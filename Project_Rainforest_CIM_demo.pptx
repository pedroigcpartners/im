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sales</c:v>
                </c:pt>
              </c:strCache>
            </c:strRef>
          </c:tx>
          <c:spPr>
            <a:solidFill>
              <a:srgbClr val="232F3E"/>
            </a:solidFill>
            <a:effectLst/>
          </c:spPr>
          <c:invertIfNegative val="0"/>
          <c:dLbls>
            <c:numFmt formatCode="#,##0" sourceLinked="0"/>
            <c:txPr>
              <a:bodyPr/>
              <a:lstStyle/>
              <a:p>
                <a:pPr>
                  <a:defRPr b="0" i="0" strike="noStrike" sz="900" u="none">
                    <a:solidFill>
                      <a:srgbClr val="232F3E"/>
                    </a:solidFill>
                    <a:latin typeface="Poppins SemiBold"/>
                  </a:defRPr>
                </a:pPr>
              </a:p>
            </c:txPr>
            <c:showLegendKey val="0"/>
            <c:showVal val="1"/>
            <c:showCatName val="0"/>
            <c:showSerName val="0"/>
            <c:showPercent val="0"/>
            <c:showBubbleSize val="0"/>
            <c:showLeaderLines val="0"/>
          </c:dLbls>
          <c:cat>
            <c:multiLvlStrRef>
              <c:f>Sheet1!$A$2:$A$4</c:f>
              <c:multiLvlStrCache>
                <c:ptCount val="3"/>
                <c:lvl>
                  <c:pt idx="0">
                    <c:v>2022</c:v>
                  </c:pt>
                  <c:pt idx="1">
                    <c:v>2023</c:v>
                  </c:pt>
                  <c:pt idx="2">
                    <c:v>2024</c:v>
                  </c:pt>
                </c:lvl>
              </c:multiLvlStrCache>
            </c:multiLvlStrRef>
          </c:cat>
          <c:val>
            <c:numRef>
              <c:f>Sheet1!$B$2:$B$4</c:f>
              <c:numCache>
                <c:formatCode>General</c:formatCode>
                <c:ptCount val="3"/>
                <c:pt idx="0">
                  <c:v>514</c:v>
                </c:pt>
                <c:pt idx="1">
                  <c:v>574.8</c:v>
                </c:pt>
                <c:pt idx="2">
                  <c:v>638</c:v>
                </c:pt>
              </c:numCache>
            </c:numRef>
          </c:val>
        </c:ser>
        <c:dLbls>
          <c:numFmt formatCode="#,##0" sourceLinked="0"/>
          <c:txPr>
            <a:bodyPr/>
            <a:lstStyle/>
            <a:p>
              <a:pPr>
                <a:defRPr b="0" i="0" strike="noStrike" sz="900" u="none">
                  <a:solidFill>
                    <a:srgbClr val="232F3E"/>
                  </a:solidFill>
                  <a:latin typeface="Poppins SemiBold"/>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C7683"/>
                </a:solidFill>
                <a:latin typeface="Poppins"/>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A22"/>
        </a:solidFill>
      </p:bgPr>
    </p:bg>
    <p:spTree>
      <p:nvGrpSpPr>
        <p:cNvPr id="1" name=""/>
        <p:cNvGrpSpPr/>
        <p:nvPr/>
      </p:nvGrpSpPr>
      <p:grpSpPr>
        <a:xfrm>
          <a:off x="0" y="0"/>
          <a:ext cx="0" cy="0"/>
          <a:chOff x="0" y="0"/>
          <a:chExt cx="0" cy="0"/>
        </a:xfrm>
      </p:grpSpPr>
      <p:pic>
        <p:nvPicPr>
          <p:cNvPr id="2" name="Image 0" descr="assets/demo_amz/smile.png">    </p:cNvPr>
          <p:cNvPicPr>
            <a:picLocks noChangeAspect="1"/>
          </p:cNvPicPr>
          <p:nvPr/>
        </p:nvPicPr>
        <p:blipFill>
          <a:blip r:embed="rId1">
            <a:alphaModFix amt="78000"/>
          </a:blip>
          <a:stretch>
            <a:fillRect/>
          </a:stretch>
        </p:blipFill>
        <p:spPr>
          <a:xfrm>
            <a:off x="1097280" y="2011680"/>
            <a:ext cx="6583680" cy="3291840"/>
          </a:xfrm>
          <a:prstGeom prst="rect">
            <a:avLst/>
          </a:prstGeom>
        </p:spPr>
      </p:pic>
      <p:sp>
        <p:nvSpPr>
          <p:cNvPr id="3" name="Shape 0"/>
          <p:cNvSpPr/>
          <p:nvPr/>
        </p:nvSpPr>
        <p:spPr>
          <a:xfrm>
            <a:off x="7863840" y="0"/>
            <a:ext cx="45720" cy="6858000"/>
          </a:xfrm>
          <a:prstGeom prst="rect">
            <a:avLst/>
          </a:prstGeom>
          <a:solidFill>
            <a:srgbClr val="FF9900"/>
          </a:solidFill>
          <a:ln/>
        </p:spPr>
      </p:sp>
      <p:pic>
        <p:nvPicPr>
          <p:cNvPr id="4" name="Image 1" descr="assets/demo_amz/amz_white.png">    </p:cNvPr>
          <p:cNvPicPr>
            <a:picLocks noChangeAspect="1"/>
          </p:cNvPicPr>
          <p:nvPr/>
        </p:nvPicPr>
        <p:blipFill>
          <a:blip r:embed="rId2"/>
          <a:stretch>
            <a:fillRect/>
          </a:stretch>
        </p:blipFill>
        <p:spPr>
          <a:xfrm>
            <a:off x="8183880" y="1554480"/>
            <a:ext cx="3108960" cy="880872"/>
          </a:xfrm>
          <a:prstGeom prst="rect">
            <a:avLst/>
          </a:prstGeom>
        </p:spPr>
      </p:pic>
      <p:sp>
        <p:nvSpPr>
          <p:cNvPr id="5" name="Shape 1"/>
          <p:cNvSpPr/>
          <p:nvPr/>
        </p:nvSpPr>
        <p:spPr>
          <a:xfrm>
            <a:off x="8202168" y="2834640"/>
            <a:ext cx="3072384" cy="786384"/>
          </a:xfrm>
          <a:prstGeom prst="roundRect">
            <a:avLst>
              <a:gd name="adj" fmla="val 6977"/>
            </a:avLst>
          </a:prstGeom>
          <a:ln w="19050">
            <a:solidFill>
              <a:srgbClr val="FF9900"/>
            </a:solidFill>
            <a:prstDash val="solid"/>
          </a:ln>
        </p:spPr>
      </p:sp>
      <p:sp>
        <p:nvSpPr>
          <p:cNvPr id="6" name="Text 2"/>
          <p:cNvSpPr/>
          <p:nvPr/>
        </p:nvSpPr>
        <p:spPr>
          <a:xfrm>
            <a:off x="8202168" y="2834640"/>
            <a:ext cx="3072384" cy="786384"/>
          </a:xfrm>
          <a:prstGeom prst="rect">
            <a:avLst/>
          </a:prstGeom>
          <a:noFill/>
          <a:ln/>
        </p:spPr>
        <p:txBody>
          <a:bodyPr wrap="square" lIns="0" tIns="0" rIns="0" bIns="0" rtlCol="0" anchor="ctr"/>
          <a:lstStyle/>
          <a:p>
            <a:pPr algn="ctr" indent="0" marL="0">
              <a:buNone/>
            </a:pPr>
            <a:r>
              <a:rPr lang="en-US" sz="1800" spc="150" kern="0" dirty="0">
                <a:solidFill>
                  <a:srgbClr val="FFFFFF"/>
                </a:solidFill>
                <a:latin typeface="Poppins SemiBold" pitchFamily="34" charset="0"/>
                <a:ea typeface="Poppins SemiBold" pitchFamily="34" charset="-122"/>
                <a:cs typeface="Poppins SemiBold" pitchFamily="34" charset="-120"/>
              </a:rPr>
              <a:t>PROJECT RAINFOREST</a:t>
            </a:r>
            <a:endParaRPr lang="en-US" sz="1800" dirty="0"/>
          </a:p>
        </p:txBody>
      </p:sp>
      <p:sp>
        <p:nvSpPr>
          <p:cNvPr id="7" name="Text 3"/>
          <p:cNvSpPr/>
          <p:nvPr/>
        </p:nvSpPr>
        <p:spPr>
          <a:xfrm>
            <a:off x="8202168" y="3803904"/>
            <a:ext cx="3072384" cy="292608"/>
          </a:xfrm>
          <a:prstGeom prst="rect">
            <a:avLst/>
          </a:prstGeom>
          <a:noFill/>
          <a:ln/>
        </p:spPr>
        <p:txBody>
          <a:bodyPr wrap="square" lIns="0" tIns="0" rIns="0" bIns="0" rtlCol="0" anchor="ctr"/>
          <a:lstStyle/>
          <a:p>
            <a:pPr algn="ctr" indent="0" marL="0">
              <a:buNone/>
            </a:pPr>
            <a:r>
              <a:rPr lang="en-US" sz="1050" dirty="0">
                <a:solidFill>
                  <a:srgbClr val="C7CDD6"/>
                </a:solidFill>
                <a:latin typeface="Poppins" pitchFamily="34" charset="0"/>
                <a:ea typeface="Poppins" pitchFamily="34" charset="-122"/>
                <a:cs typeface="Poppins" pitchFamily="34" charset="-120"/>
              </a:rPr>
              <a:t>Confidential Information Memorandum</a:t>
            </a:r>
            <a:endParaRPr lang="en-US" sz="1050" dirty="0"/>
          </a:p>
        </p:txBody>
      </p:sp>
      <p:sp>
        <p:nvSpPr>
          <p:cNvPr id="8" name="Text 4"/>
          <p:cNvSpPr/>
          <p:nvPr/>
        </p:nvSpPr>
        <p:spPr>
          <a:xfrm>
            <a:off x="8202168" y="4133088"/>
            <a:ext cx="3072384" cy="274320"/>
          </a:xfrm>
          <a:prstGeom prst="rect">
            <a:avLst/>
          </a:prstGeom>
          <a:noFill/>
          <a:ln/>
        </p:spPr>
        <p:txBody>
          <a:bodyPr wrap="square" lIns="0" tIns="0" rIns="0" bIns="0" rtlCol="0" anchor="ctr"/>
          <a:lstStyle/>
          <a:p>
            <a:pPr algn="ctr" indent="0" marL="0">
              <a:buNone/>
            </a:pPr>
            <a:r>
              <a:rPr lang="en-US" sz="900" spc="100" kern="0" dirty="0">
                <a:solidFill>
                  <a:srgbClr val="FF9900"/>
                </a:solidFill>
                <a:latin typeface="Poppins Medium" pitchFamily="34" charset="0"/>
                <a:ea typeface="Poppins Medium" pitchFamily="34" charset="-122"/>
                <a:cs typeface="Poppins Medium" pitchFamily="34" charset="-120"/>
              </a:rPr>
              <a:t>São Paulo  ·  2026  ·  Demonstração</a:t>
            </a:r>
            <a:endParaRPr lang="en-US" sz="900" dirty="0"/>
          </a:p>
        </p:txBody>
      </p:sp>
      <p:pic>
        <p:nvPicPr>
          <p:cNvPr id="9" name="Image 2" descr="assets/igc_white.png">    </p:cNvPr>
          <p:cNvPicPr>
            <a:picLocks noChangeAspect="1"/>
          </p:cNvPicPr>
          <p:nvPr/>
        </p:nvPicPr>
        <p:blipFill>
          <a:blip r:embed="rId3"/>
          <a:stretch>
            <a:fillRect/>
          </a:stretch>
        </p:blipFill>
        <p:spPr>
          <a:xfrm>
            <a:off x="10929823" y="384048"/>
            <a:ext cx="530352" cy="458460"/>
          </a:xfrm>
          <a:prstGeom prst="rect">
            <a:avLst/>
          </a:prstGeom>
        </p:spPr>
      </p:pic>
      <p:sp>
        <p:nvSpPr>
          <p:cNvPr id="10" name="Text 5"/>
          <p:cNvSpPr/>
          <p:nvPr/>
        </p:nvSpPr>
        <p:spPr>
          <a:xfrm>
            <a:off x="731520" y="6291072"/>
            <a:ext cx="6400800" cy="274320"/>
          </a:xfrm>
          <a:prstGeom prst="rect">
            <a:avLst/>
          </a:prstGeom>
          <a:noFill/>
          <a:ln/>
        </p:spPr>
        <p:txBody>
          <a:bodyPr wrap="square" lIns="0" tIns="0" rIns="0" bIns="0" rtlCol="0" anchor="ctr"/>
          <a:lstStyle/>
          <a:p>
            <a:pPr indent="0" marL="0">
              <a:buNone/>
            </a:pPr>
            <a:r>
              <a:rPr lang="en-US" sz="1000" dirty="0">
                <a:solidFill>
                  <a:srgbClr val="E8ECF1"/>
                </a:solidFill>
                <a:latin typeface="Poppins Medium" pitchFamily="34" charset="0"/>
                <a:ea typeface="Poppins Medium" pitchFamily="34" charset="-122"/>
                <a:cs typeface="Poppins Medium" pitchFamily="34" charset="-120"/>
              </a:rPr>
              <a:t>E-commerce &amp; cloud platform  ·  Brasil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7315200" cy="548640"/>
          </a:xfrm>
          <a:prstGeom prst="rect">
            <a:avLst/>
          </a:prstGeom>
          <a:noFill/>
          <a:ln/>
        </p:spPr>
        <p:txBody>
          <a:bodyPr wrap="square" lIns="0" tIns="0" rIns="0" bIns="0" rtlCol="0" anchor="ctr"/>
          <a:lstStyle/>
          <a:p>
            <a:pPr indent="0" marL="0">
              <a:buNone/>
            </a:pPr>
            <a:r>
              <a:rPr lang="en-US" sz="2400" dirty="0">
                <a:solidFill>
                  <a:srgbClr val="131A22"/>
                </a:solidFill>
                <a:latin typeface="Poppins SemiBold" pitchFamily="34" charset="0"/>
                <a:ea typeface="Poppins SemiBold" pitchFamily="34" charset="-122"/>
                <a:cs typeface="Poppins SemiBold" pitchFamily="34" charset="-120"/>
              </a:rPr>
              <a:t>Disclaimer</a:t>
            </a:r>
            <a:endParaRPr lang="en-US" sz="2400" dirty="0"/>
          </a:p>
        </p:txBody>
      </p:sp>
      <p:sp>
        <p:nvSpPr>
          <p:cNvPr id="3" name="Text 1"/>
          <p:cNvSpPr/>
          <p:nvPr/>
        </p:nvSpPr>
        <p:spPr>
          <a:xfrm>
            <a:off x="731520" y="969264"/>
            <a:ext cx="7315200" cy="256032"/>
          </a:xfrm>
          <a:prstGeom prst="rect">
            <a:avLst/>
          </a:prstGeom>
          <a:noFill/>
          <a:ln/>
        </p:spPr>
        <p:txBody>
          <a:bodyPr wrap="square" lIns="0" tIns="0" rIns="0" bIns="0" rtlCol="0" anchor="ctr"/>
          <a:lstStyle/>
          <a:p>
            <a:pPr indent="0" marL="0">
              <a:buNone/>
            </a:pPr>
            <a:r>
              <a:rPr lang="en-US" sz="900" dirty="0">
                <a:solidFill>
                  <a:srgbClr val="CC7A00"/>
                </a:solidFill>
                <a:latin typeface="Poppins Medium" pitchFamily="34" charset="0"/>
                <a:ea typeface="Poppins Medium" pitchFamily="34" charset="-122"/>
                <a:cs typeface="Poppins Medium" pitchFamily="34" charset="-120"/>
              </a:rPr>
              <a:t>Project Rainforest — demonstração</a:t>
            </a:r>
            <a:endParaRPr lang="en-US" sz="900" dirty="0"/>
          </a:p>
        </p:txBody>
      </p:sp>
      <p:sp>
        <p:nvSpPr>
          <p:cNvPr id="4" name="Shape 2"/>
          <p:cNvSpPr/>
          <p:nvPr/>
        </p:nvSpPr>
        <p:spPr>
          <a:xfrm>
            <a:off x="731520" y="1298448"/>
            <a:ext cx="822960" cy="27432"/>
          </a:xfrm>
          <a:prstGeom prst="rect">
            <a:avLst/>
          </a:prstGeom>
          <a:solidFill>
            <a:srgbClr val="FF9900"/>
          </a:solidFill>
          <a:ln/>
        </p:spPr>
      </p:sp>
      <p:sp>
        <p:nvSpPr>
          <p:cNvPr id="5" name="Text 3"/>
          <p:cNvSpPr/>
          <p:nvPr/>
        </p:nvSpPr>
        <p:spPr>
          <a:xfrm>
            <a:off x="731520" y="1481328"/>
            <a:ext cx="5029200" cy="3200400"/>
          </a:xfrm>
          <a:prstGeom prst="rect">
            <a:avLst/>
          </a:prstGeom>
          <a:noFill/>
          <a:ln/>
        </p:spPr>
        <p:txBody>
          <a:bodyPr wrap="square" lIns="0" tIns="0" rIns="0" bIns="0" rtlCol="0" anchor="t"/>
          <a:lstStyle/>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IGC has been retained by Amazon Brasil ("Company"), on an exclusive basis, to advise the Company in its M&amp;A process ("Transaction"). This material ("Information Memorandum") describes and summarizes the Company, its assets, market and economic and financial indicators and has been prepared exclusively to assist the recipient in deciding whether it wishes to proceed with a further investigation of a possible Transaction with the Company. In no event shall the recipient use any of this information for any commercial purposes or for purposes other than the one for which this memorandum is furnished.</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All information contained in this Information Memorandum has been prepared based on the documents and/or information provided by the Company or obtained directly by IGC through legal sources and/or through independent research. IGC has not investigated, verified or audited the documents and information used for its preparation. This Information Memorandum contains statements, estimates and projections concerning anticipated future performance, which may or may not prove to be correct. No representations, expressed or implied, are made as to their accuracy.</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This Memorandum of Information is not intended to form any part of the basis of any investment decision or other evaluation, or any decision to participate in the Transaction process, and should not be considered a recommendation by the Company or IGC to any reader. Each reader must make its own valuation of the Transaction. No liability is or shall be attributed to the members of IGC, including its partners, directors or employees, in connection with the accuracy or completeness of the information contained herein.</a:t>
            </a:r>
            <a:endParaRPr lang="en-US" sz="750" dirty="0"/>
          </a:p>
        </p:txBody>
      </p:sp>
      <p:sp>
        <p:nvSpPr>
          <p:cNvPr id="6" name="Text 4"/>
          <p:cNvSpPr/>
          <p:nvPr/>
        </p:nvSpPr>
        <p:spPr>
          <a:xfrm>
            <a:off x="6053328" y="1481328"/>
            <a:ext cx="5029200" cy="3200400"/>
          </a:xfrm>
          <a:prstGeom prst="rect">
            <a:avLst/>
          </a:prstGeom>
          <a:noFill/>
          <a:ln/>
        </p:spPr>
        <p:txBody>
          <a:bodyPr wrap="square" lIns="0" tIns="0" rIns="0" bIns="0" rtlCol="0" anchor="t"/>
          <a:lstStyle/>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This material belongs to IGC and shall not be copied, reproduced, distributed and/or disclosed, in whole or in part, including by digital media, to any third party without the express and prior written consent of IGC. By accepting this material, the recipient agrees to return it as soon as requested by IGC, and to maintain strict confidentiality over all information contained herein.</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Since the existence of the Transaction is not publicly disclosed, the recipient agrees not to approach or contact any officer, employee, client, supplier or representative of the Company without the express written permission of IGC. In furnishing this material, IGC undertakes no obligation to provide access to additional information, to update it, or to correct any inaccuracies which may become apparent.</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Material de demonstração: este documento foi gerado como exemplo de design; os dados são públicos e ilustrativos e não representam qualquer mandato real.</a:t>
            </a:r>
            <a:endParaRPr lang="en-US" sz="750" dirty="0"/>
          </a:p>
        </p:txBody>
      </p:sp>
      <p:sp>
        <p:nvSpPr>
          <p:cNvPr id="7" name="Shape 5"/>
          <p:cNvSpPr/>
          <p:nvPr/>
        </p:nvSpPr>
        <p:spPr>
          <a:xfrm>
            <a:off x="6053328" y="4828032"/>
            <a:ext cx="4315968" cy="1207008"/>
          </a:xfrm>
          <a:prstGeom prst="roundRect">
            <a:avLst>
              <a:gd name="adj" fmla="val 7576"/>
            </a:avLst>
          </a:prstGeom>
          <a:solidFill>
            <a:srgbClr val="131A22"/>
          </a:solidFill>
          <a:ln/>
        </p:spPr>
      </p:sp>
      <p:sp>
        <p:nvSpPr>
          <p:cNvPr id="8" name="Shape 6"/>
          <p:cNvSpPr/>
          <p:nvPr/>
        </p:nvSpPr>
        <p:spPr>
          <a:xfrm>
            <a:off x="6053328" y="5047488"/>
            <a:ext cx="50292" cy="768096"/>
          </a:xfrm>
          <a:prstGeom prst="rect">
            <a:avLst/>
          </a:prstGeom>
          <a:solidFill>
            <a:srgbClr val="FF9900"/>
          </a:solidFill>
          <a:ln/>
        </p:spPr>
      </p:sp>
      <p:sp>
        <p:nvSpPr>
          <p:cNvPr id="9" name="Text 7"/>
          <p:cNvSpPr/>
          <p:nvPr/>
        </p:nvSpPr>
        <p:spPr>
          <a:xfrm>
            <a:off x="6291072" y="4956048"/>
            <a:ext cx="3291840" cy="274320"/>
          </a:xfrm>
          <a:prstGeom prst="rect">
            <a:avLst/>
          </a:prstGeom>
          <a:noFill/>
          <a:ln/>
        </p:spPr>
        <p:txBody>
          <a:bodyPr wrap="square" lIns="0" tIns="0" rIns="0" bIns="0" rtlCol="0" anchor="ctr"/>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[Deal team — TBC]</a:t>
            </a:r>
            <a:endParaRPr lang="en-US" sz="1200" dirty="0"/>
          </a:p>
        </p:txBody>
      </p:sp>
      <p:sp>
        <p:nvSpPr>
          <p:cNvPr id="10" name="Text 8"/>
          <p:cNvSpPr/>
          <p:nvPr/>
        </p:nvSpPr>
        <p:spPr>
          <a:xfrm>
            <a:off x="6291072" y="5212080"/>
            <a:ext cx="3291840" cy="219456"/>
          </a:xfrm>
          <a:prstGeom prst="rect">
            <a:avLst/>
          </a:prstGeom>
          <a:noFill/>
          <a:ln/>
        </p:spPr>
        <p:txBody>
          <a:bodyPr wrap="square" lIns="0" tIns="0" rIns="0" bIns="0" rtlCol="0" anchor="ctr"/>
          <a:lstStyle/>
          <a:p>
            <a:pPr indent="0" marL="0">
              <a:buNone/>
            </a:pPr>
            <a:r>
              <a:rPr lang="en-US" sz="900" dirty="0">
                <a:solidFill>
                  <a:srgbClr val="FF9900"/>
                </a:solidFill>
                <a:latin typeface="Poppins Medium" pitchFamily="34" charset="0"/>
                <a:ea typeface="Poppins Medium" pitchFamily="34" charset="-122"/>
                <a:cs typeface="Poppins Medium" pitchFamily="34" charset="-120"/>
              </a:rPr>
              <a:t>IGC Partners</a:t>
            </a:r>
            <a:endParaRPr lang="en-US" sz="900" dirty="0"/>
          </a:p>
        </p:txBody>
      </p:sp>
      <p:sp>
        <p:nvSpPr>
          <p:cNvPr id="11" name="Text 9"/>
          <p:cNvSpPr/>
          <p:nvPr/>
        </p:nvSpPr>
        <p:spPr>
          <a:xfrm>
            <a:off x="6291072" y="5431536"/>
            <a:ext cx="3840480" cy="566928"/>
          </a:xfrm>
          <a:prstGeom prst="rect">
            <a:avLst/>
          </a:prstGeom>
          <a:noFill/>
          <a:ln/>
        </p:spPr>
        <p:txBody>
          <a:bodyPr wrap="square" lIns="0" tIns="0" rIns="0" bIns="0" rtlCol="0" anchor="t"/>
          <a:lstStyle/>
          <a:p>
            <a:pPr indent="0" marL="0">
              <a:lnSpc>
                <a:spcPct val="120000"/>
              </a:lnSpc>
              <a:buNone/>
            </a:pPr>
            <a:r>
              <a:rPr lang="en-US" sz="750" dirty="0">
                <a:solidFill>
                  <a:srgbClr val="C7CDD6"/>
                </a:solidFill>
                <a:latin typeface="Poppins" pitchFamily="34" charset="0"/>
                <a:ea typeface="Poppins" pitchFamily="34" charset="-122"/>
                <a:cs typeface="Poppins" pitchFamily="34" charset="-120"/>
              </a:rPr>
              <a:t>Av. Brigadeiro Faria Lima, 2277 — 6th floor</a:t>
            </a:r>
            <a:endParaRPr lang="en-US" sz="750" dirty="0"/>
          </a:p>
          <a:p>
            <a:pPr indent="0" marL="0">
              <a:lnSpc>
                <a:spcPct val="120000"/>
              </a:lnSpc>
              <a:buNone/>
            </a:pPr>
            <a:r>
              <a:rPr lang="en-US" sz="750" dirty="0">
                <a:solidFill>
                  <a:srgbClr val="C7CDD6"/>
                </a:solidFill>
                <a:latin typeface="Poppins" pitchFamily="34" charset="0"/>
                <a:ea typeface="Poppins" pitchFamily="34" charset="-122"/>
                <a:cs typeface="Poppins" pitchFamily="34" charset="-120"/>
              </a:rPr>
              <a:t>01452-000  São Paulo – SP    Tel: (55 11) 3815-3533</a:t>
            </a:r>
            <a:endParaRPr lang="en-US" sz="750" dirty="0"/>
          </a:p>
        </p:txBody>
      </p:sp>
      <p:pic>
        <p:nvPicPr>
          <p:cNvPr id="12" name="Image 0" descr="assets/igc_navy.png">    </p:cNvPr>
          <p:cNvPicPr>
            <a:picLocks noChangeAspect="1"/>
          </p:cNvPicPr>
          <p:nvPr/>
        </p:nvPicPr>
        <p:blipFill>
          <a:blip r:embed="rId1"/>
          <a:stretch>
            <a:fillRect/>
          </a:stretch>
        </p:blipFill>
        <p:spPr>
          <a:xfrm>
            <a:off x="731520" y="6492240"/>
            <a:ext cx="274320" cy="237134"/>
          </a:xfrm>
          <a:prstGeom prst="rect">
            <a:avLst/>
          </a:prstGeom>
        </p:spPr>
      </p:pic>
      <p:sp>
        <p:nvSpPr>
          <p:cNvPr id="13" name="Text 10"/>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A22"/>
        </a:solidFill>
      </p:bgPr>
    </p:bg>
    <p:spTree>
      <p:nvGrpSpPr>
        <p:cNvPr id="1" name=""/>
        <p:cNvGrpSpPr/>
        <p:nvPr/>
      </p:nvGrpSpPr>
      <p:grpSpPr>
        <a:xfrm>
          <a:off x="0" y="0"/>
          <a:ext cx="0" cy="0"/>
          <a:chOff x="0" y="0"/>
          <a:chExt cx="0" cy="0"/>
        </a:xfrm>
      </p:grpSpPr>
      <p:pic>
        <p:nvPicPr>
          <p:cNvPr id="2" name="Image 0" descr="assets/demo_amz/toc_panel.png">    </p:cNvPr>
          <p:cNvPicPr>
            <a:picLocks noChangeAspect="1"/>
          </p:cNvPicPr>
          <p:nvPr/>
        </p:nvPicPr>
        <p:blipFill>
          <a:blip r:embed="rId1"/>
          <a:srcRect l="0" r="0" t="0" b="0"/>
          <a:stretch/>
        </p:blipFill>
        <p:spPr>
          <a:xfrm>
            <a:off x="6858000" y="0"/>
            <a:ext cx="5333695" cy="6858000"/>
          </a:xfrm>
          <a:prstGeom prst="rect">
            <a:avLst/>
          </a:prstGeom>
        </p:spPr>
      </p:pic>
      <p:sp>
        <p:nvSpPr>
          <p:cNvPr id="3" name="Shape 0"/>
          <p:cNvSpPr/>
          <p:nvPr/>
        </p:nvSpPr>
        <p:spPr>
          <a:xfrm>
            <a:off x="6858000" y="0"/>
            <a:ext cx="5333695" cy="6858000"/>
          </a:xfrm>
          <a:prstGeom prst="rect">
            <a:avLst/>
          </a:prstGeom>
          <a:solidFill>
            <a:srgbClr val="131A22">
              <a:alpha val="42000"/>
            </a:srgbClr>
          </a:solidFill>
          <a:ln/>
        </p:spPr>
      </p:sp>
      <p:sp>
        <p:nvSpPr>
          <p:cNvPr id="4" name="Shape 1"/>
          <p:cNvSpPr/>
          <p:nvPr/>
        </p:nvSpPr>
        <p:spPr>
          <a:xfrm>
            <a:off x="6858000" y="0"/>
            <a:ext cx="41148" cy="6858000"/>
          </a:xfrm>
          <a:prstGeom prst="rect">
            <a:avLst/>
          </a:prstGeom>
          <a:solidFill>
            <a:srgbClr val="FF9900"/>
          </a:solidFill>
          <a:ln/>
        </p:spPr>
      </p:sp>
      <p:sp>
        <p:nvSpPr>
          <p:cNvPr id="5"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6"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F9900"/>
                </a:solidFill>
                <a:latin typeface="Poppins SemiBold" pitchFamily="34" charset="0"/>
                <a:ea typeface="Poppins SemiBold" pitchFamily="34" charset="-122"/>
                <a:cs typeface="Poppins SemiBold" pitchFamily="34" charset="-120"/>
              </a:rPr>
              <a:t>Summary</a:t>
            </a:r>
            <a:endParaRPr lang="en-US" sz="3200" dirty="0"/>
          </a:p>
        </p:txBody>
      </p:sp>
      <p:sp>
        <p:nvSpPr>
          <p:cNvPr id="7" name="Shape 4"/>
          <p:cNvSpPr/>
          <p:nvPr/>
        </p:nvSpPr>
        <p:spPr>
          <a:xfrm>
            <a:off x="731520" y="2395728"/>
            <a:ext cx="1371600" cy="32004"/>
          </a:xfrm>
          <a:prstGeom prst="rect">
            <a:avLst/>
          </a:prstGeom>
          <a:solidFill>
            <a:srgbClr val="FF9900"/>
          </a:solidFill>
          <a:ln/>
        </p:spPr>
      </p:sp>
      <p:sp>
        <p:nvSpPr>
          <p:cNvPr id="8" name="Shape 5"/>
          <p:cNvSpPr/>
          <p:nvPr/>
        </p:nvSpPr>
        <p:spPr>
          <a:xfrm rot="5400000">
            <a:off x="749808" y="2871216"/>
            <a:ext cx="173736" cy="173736"/>
          </a:xfrm>
          <a:prstGeom prst="triangle">
            <a:avLst/>
          </a:prstGeom>
          <a:solidFill>
            <a:srgbClr val="FF9900"/>
          </a:solidFill>
          <a:ln/>
        </p:spPr>
      </p:sp>
      <p:sp>
        <p:nvSpPr>
          <p:cNvPr id="9"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INTRODUCTION</a:t>
            </a:r>
            <a:endParaRPr lang="en-US" sz="1100" dirty="0"/>
          </a:p>
        </p:txBody>
      </p:sp>
      <p:sp>
        <p:nvSpPr>
          <p:cNvPr id="10"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FF9900"/>
                </a:solidFill>
                <a:latin typeface="Poppins Medium" pitchFamily="34" charset="0"/>
                <a:ea typeface="Poppins Medium" pitchFamily="34" charset="-122"/>
                <a:cs typeface="Poppins Medium" pitchFamily="34" charset="-120"/>
              </a:rPr>
              <a:t>04</a:t>
            </a:r>
            <a:endParaRPr lang="en-US" sz="1200" dirty="0"/>
          </a:p>
        </p:txBody>
      </p:sp>
      <p:sp>
        <p:nvSpPr>
          <p:cNvPr id="11" name="Shape 8"/>
          <p:cNvSpPr/>
          <p:nvPr/>
        </p:nvSpPr>
        <p:spPr>
          <a:xfrm rot="5400000">
            <a:off x="749808" y="3593592"/>
            <a:ext cx="173736" cy="173736"/>
          </a:xfrm>
          <a:prstGeom prst="triangle">
            <a:avLst/>
          </a:prstGeom>
          <a:solidFill>
            <a:srgbClr val="4A5563"/>
          </a:solidFill>
          <a:ln/>
        </p:spPr>
      </p:sp>
      <p:sp>
        <p:nvSpPr>
          <p:cNvPr id="12"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INVESTMENT THESIS</a:t>
            </a:r>
            <a:endParaRPr lang="en-US" sz="1100" dirty="0"/>
          </a:p>
        </p:txBody>
      </p:sp>
      <p:sp>
        <p:nvSpPr>
          <p:cNvPr id="13"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08</a:t>
            </a:r>
            <a:endParaRPr lang="en-US" sz="1200" dirty="0"/>
          </a:p>
        </p:txBody>
      </p:sp>
      <p:sp>
        <p:nvSpPr>
          <p:cNvPr id="14" name="Shape 11"/>
          <p:cNvSpPr/>
          <p:nvPr/>
        </p:nvSpPr>
        <p:spPr>
          <a:xfrm rot="5400000">
            <a:off x="749808" y="4315968"/>
            <a:ext cx="173736" cy="173736"/>
          </a:xfrm>
          <a:prstGeom prst="triangle">
            <a:avLst/>
          </a:prstGeom>
          <a:solidFill>
            <a:srgbClr val="4A5563"/>
          </a:solidFill>
          <a:ln/>
        </p:spPr>
      </p:sp>
      <p:sp>
        <p:nvSpPr>
          <p:cNvPr id="15"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COMPANY OVERVIEW</a:t>
            </a:r>
            <a:endParaRPr lang="en-US" sz="1100" dirty="0"/>
          </a:p>
        </p:txBody>
      </p:sp>
      <p:sp>
        <p:nvSpPr>
          <p:cNvPr id="16"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13</a:t>
            </a:r>
            <a:endParaRPr lang="en-US" sz="1200" dirty="0"/>
          </a:p>
        </p:txBody>
      </p:sp>
      <p:sp>
        <p:nvSpPr>
          <p:cNvPr id="17" name="Shape 14"/>
          <p:cNvSpPr/>
          <p:nvPr/>
        </p:nvSpPr>
        <p:spPr>
          <a:xfrm rot="5400000">
            <a:off x="749808" y="5038344"/>
            <a:ext cx="173736" cy="173736"/>
          </a:xfrm>
          <a:prstGeom prst="triangle">
            <a:avLst/>
          </a:prstGeom>
          <a:solidFill>
            <a:srgbClr val="4A5563"/>
          </a:solidFill>
          <a:ln/>
        </p:spPr>
      </p:sp>
      <p:sp>
        <p:nvSpPr>
          <p:cNvPr id="18"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FINANCIAL HIGHLIGHTS</a:t>
            </a:r>
            <a:endParaRPr lang="en-US" sz="1100" dirty="0"/>
          </a:p>
        </p:txBody>
      </p:sp>
      <p:sp>
        <p:nvSpPr>
          <p:cNvPr id="19"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16</a:t>
            </a:r>
            <a:endParaRPr lang="en-US" sz="1200" dirty="0"/>
          </a:p>
        </p:txBody>
      </p:sp>
      <p:pic>
        <p:nvPicPr>
          <p:cNvPr id="20" name="Image 1" descr="assets/igc_white.png">    </p:cNvPr>
          <p:cNvPicPr>
            <a:picLocks noChangeAspect="1"/>
          </p:cNvPicPr>
          <p:nvPr/>
        </p:nvPicPr>
        <p:blipFill>
          <a:blip r:embed="rId2"/>
          <a:stretch>
            <a:fillRect/>
          </a:stretch>
        </p:blipFill>
        <p:spPr>
          <a:xfrm>
            <a:off x="10957255" y="384048"/>
            <a:ext cx="502920" cy="434746"/>
          </a:xfrm>
          <a:prstGeom prst="rect">
            <a:avLst/>
          </a:prstGeom>
        </p:spPr>
      </p:pic>
      <p:sp>
        <p:nvSpPr>
          <p:cNvPr id="21"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325880" cy="310896"/>
          </a:xfrm>
          <a:prstGeom prst="roundRect">
            <a:avLst>
              <a:gd name="adj" fmla="val 25000"/>
            </a:avLst>
          </a:prstGeom>
          <a:solidFill>
            <a:srgbClr val="FFF0D6"/>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Amazon Brasil at a glance</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Plataforma de e-commerce, logística e serviços digitais operando no Brasil desde 2012, apoiada na infraestrutura global da Amazon</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relatórios anuais Amazon.com Inc. (10-K 2024); imprensa. Demonstração ilustrativa — fontes públicas (relatórios anuais, imprensa); dados Brasil não divulgados marcados [TBC].</a:t>
            </a:r>
            <a:endParaRPr lang="en-US" sz="700" dirty="0"/>
          </a:p>
        </p:txBody>
      </p:sp>
      <p:sp>
        <p:nvSpPr>
          <p:cNvPr id="8" name="Shape 5"/>
          <p:cNvSpPr/>
          <p:nvPr/>
        </p:nvSpPr>
        <p:spPr>
          <a:xfrm>
            <a:off x="731520" y="1783080"/>
            <a:ext cx="3611880" cy="1298448"/>
          </a:xfrm>
          <a:prstGeom prst="roundRect">
            <a:avLst>
              <a:gd name="adj" fmla="val 5634"/>
            </a:avLst>
          </a:prstGeom>
          <a:solidFill>
            <a:srgbClr val="F4F6F8"/>
          </a:solidFill>
          <a:ln w="12700">
            <a:solidFill>
              <a:srgbClr val="E2E6EB"/>
            </a:solidFill>
            <a:prstDash val="solid"/>
          </a:ln>
        </p:spPr>
      </p:sp>
      <p:sp>
        <p:nvSpPr>
          <p:cNvPr id="9" name="Shape 6"/>
          <p:cNvSpPr/>
          <p:nvPr/>
        </p:nvSpPr>
        <p:spPr>
          <a:xfrm>
            <a:off x="731520" y="1783080"/>
            <a:ext cx="45720" cy="1298448"/>
          </a:xfrm>
          <a:prstGeom prst="rect">
            <a:avLst/>
          </a:prstGeom>
          <a:solidFill>
            <a:srgbClr val="FF9900"/>
          </a:solidFill>
          <a:ln/>
        </p:spPr>
      </p:sp>
      <p:sp>
        <p:nvSpPr>
          <p:cNvPr id="10" name="Text 7"/>
          <p:cNvSpPr/>
          <p:nvPr/>
        </p:nvSpPr>
        <p:spPr>
          <a:xfrm>
            <a:off x="950976" y="1929384"/>
            <a:ext cx="3209544" cy="310896"/>
          </a:xfrm>
          <a:prstGeom prst="rect">
            <a:avLst/>
          </a:prstGeom>
          <a:noFill/>
          <a:ln/>
        </p:spPr>
        <p:txBody>
          <a:bodyPr wrap="square" lIns="0" tIns="0" rIns="0" bIns="0" rtlCol="0" anchor="ctr"/>
          <a:lstStyle/>
          <a:p>
            <a:pPr indent="0" marL="0">
              <a:buNone/>
            </a:pPr>
            <a:r>
              <a:rPr lang="en-US" sz="1050" dirty="0">
                <a:solidFill>
                  <a:srgbClr val="131A22"/>
                </a:solidFill>
                <a:latin typeface="Poppins SemiBold" pitchFamily="34" charset="0"/>
                <a:ea typeface="Poppins SemiBold" pitchFamily="34" charset="-122"/>
                <a:cs typeface="Poppins SemiBold" pitchFamily="34" charset="-120"/>
              </a:rPr>
              <a:t>Everything store + Prime</a:t>
            </a:r>
            <a:endParaRPr lang="en-US" sz="1050" dirty="0"/>
          </a:p>
        </p:txBody>
      </p:sp>
      <p:sp>
        <p:nvSpPr>
          <p:cNvPr id="11" name="Text 8"/>
          <p:cNvSpPr/>
          <p:nvPr/>
        </p:nvSpPr>
        <p:spPr>
          <a:xfrm>
            <a:off x="950976" y="2276856"/>
            <a:ext cx="3172968"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Seleção ampla com entrega rápida e assinatura Prime — frete, vídeo, música e ofertas em um programa único de fidelidade</a:t>
            </a:r>
            <a:endParaRPr lang="en-US" sz="800" dirty="0"/>
          </a:p>
        </p:txBody>
      </p:sp>
      <p:sp>
        <p:nvSpPr>
          <p:cNvPr id="12" name="Shape 9"/>
          <p:cNvSpPr/>
          <p:nvPr/>
        </p:nvSpPr>
        <p:spPr>
          <a:xfrm>
            <a:off x="4599432" y="1783080"/>
            <a:ext cx="3611880" cy="1298448"/>
          </a:xfrm>
          <a:prstGeom prst="roundRect">
            <a:avLst>
              <a:gd name="adj" fmla="val 5634"/>
            </a:avLst>
          </a:prstGeom>
          <a:solidFill>
            <a:srgbClr val="F4F6F8"/>
          </a:solidFill>
          <a:ln w="12700">
            <a:solidFill>
              <a:srgbClr val="E2E6EB"/>
            </a:solidFill>
            <a:prstDash val="solid"/>
          </a:ln>
        </p:spPr>
      </p:sp>
      <p:sp>
        <p:nvSpPr>
          <p:cNvPr id="13" name="Shape 10"/>
          <p:cNvSpPr/>
          <p:nvPr/>
        </p:nvSpPr>
        <p:spPr>
          <a:xfrm>
            <a:off x="4599432" y="1783080"/>
            <a:ext cx="45720" cy="1298448"/>
          </a:xfrm>
          <a:prstGeom prst="rect">
            <a:avLst/>
          </a:prstGeom>
          <a:solidFill>
            <a:srgbClr val="FF9900"/>
          </a:solidFill>
          <a:ln/>
        </p:spPr>
      </p:sp>
      <p:sp>
        <p:nvSpPr>
          <p:cNvPr id="14" name="Text 11"/>
          <p:cNvSpPr/>
          <p:nvPr/>
        </p:nvSpPr>
        <p:spPr>
          <a:xfrm>
            <a:off x="4818888" y="1929384"/>
            <a:ext cx="3209544" cy="310896"/>
          </a:xfrm>
          <a:prstGeom prst="rect">
            <a:avLst/>
          </a:prstGeom>
          <a:noFill/>
          <a:ln/>
        </p:spPr>
        <p:txBody>
          <a:bodyPr wrap="square" lIns="0" tIns="0" rIns="0" bIns="0" rtlCol="0" anchor="ctr"/>
          <a:lstStyle/>
          <a:p>
            <a:pPr indent="0" marL="0">
              <a:buNone/>
            </a:pPr>
            <a:r>
              <a:rPr lang="en-US" sz="1050" dirty="0">
                <a:solidFill>
                  <a:srgbClr val="131A22"/>
                </a:solidFill>
                <a:latin typeface="Poppins SemiBold" pitchFamily="34" charset="0"/>
                <a:ea typeface="Poppins SemiBold" pitchFamily="34" charset="-122"/>
                <a:cs typeface="Poppins SemiBold" pitchFamily="34" charset="-120"/>
              </a:rPr>
              <a:t>Logística própria</a:t>
            </a:r>
            <a:endParaRPr lang="en-US" sz="1050" dirty="0"/>
          </a:p>
        </p:txBody>
      </p:sp>
      <p:sp>
        <p:nvSpPr>
          <p:cNvPr id="15" name="Text 12"/>
          <p:cNvSpPr/>
          <p:nvPr/>
        </p:nvSpPr>
        <p:spPr>
          <a:xfrm>
            <a:off x="4818888" y="2276856"/>
            <a:ext cx="3172968"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Rede de centros de distribuição e estações de entrega própria, com same-day nas principais capitais [escopo — TBC]</a:t>
            </a:r>
            <a:endParaRPr lang="en-US" sz="800" dirty="0"/>
          </a:p>
        </p:txBody>
      </p:sp>
      <p:sp>
        <p:nvSpPr>
          <p:cNvPr id="16" name="Shape 13"/>
          <p:cNvSpPr/>
          <p:nvPr/>
        </p:nvSpPr>
        <p:spPr>
          <a:xfrm>
            <a:off x="731520" y="3300984"/>
            <a:ext cx="3611880" cy="1298448"/>
          </a:xfrm>
          <a:prstGeom prst="roundRect">
            <a:avLst>
              <a:gd name="adj" fmla="val 5634"/>
            </a:avLst>
          </a:prstGeom>
          <a:solidFill>
            <a:srgbClr val="F4F6F8"/>
          </a:solidFill>
          <a:ln w="12700">
            <a:solidFill>
              <a:srgbClr val="E2E6EB"/>
            </a:solidFill>
            <a:prstDash val="solid"/>
          </a:ln>
        </p:spPr>
      </p:sp>
      <p:sp>
        <p:nvSpPr>
          <p:cNvPr id="17" name="Shape 14"/>
          <p:cNvSpPr/>
          <p:nvPr/>
        </p:nvSpPr>
        <p:spPr>
          <a:xfrm>
            <a:off x="731520" y="3300984"/>
            <a:ext cx="45720" cy="1298448"/>
          </a:xfrm>
          <a:prstGeom prst="rect">
            <a:avLst/>
          </a:prstGeom>
          <a:solidFill>
            <a:srgbClr val="FF9900"/>
          </a:solidFill>
          <a:ln/>
        </p:spPr>
      </p:sp>
      <p:sp>
        <p:nvSpPr>
          <p:cNvPr id="18" name="Text 15"/>
          <p:cNvSpPr/>
          <p:nvPr/>
        </p:nvSpPr>
        <p:spPr>
          <a:xfrm>
            <a:off x="950976" y="3447288"/>
            <a:ext cx="3209544" cy="310896"/>
          </a:xfrm>
          <a:prstGeom prst="rect">
            <a:avLst/>
          </a:prstGeom>
          <a:noFill/>
          <a:ln/>
        </p:spPr>
        <p:txBody>
          <a:bodyPr wrap="square" lIns="0" tIns="0" rIns="0" bIns="0" rtlCol="0" anchor="ctr"/>
          <a:lstStyle/>
          <a:p>
            <a:pPr indent="0" marL="0">
              <a:buNone/>
            </a:pPr>
            <a:r>
              <a:rPr lang="en-US" sz="1050" dirty="0">
                <a:solidFill>
                  <a:srgbClr val="131A22"/>
                </a:solidFill>
                <a:latin typeface="Poppins SemiBold" pitchFamily="34" charset="0"/>
                <a:ea typeface="Poppins SemiBold" pitchFamily="34" charset="-122"/>
                <a:cs typeface="Poppins SemiBold" pitchFamily="34" charset="-120"/>
              </a:rPr>
              <a:t>Marketplace + FBA</a:t>
            </a:r>
            <a:endParaRPr lang="en-US" sz="1050" dirty="0"/>
          </a:p>
        </p:txBody>
      </p:sp>
      <p:sp>
        <p:nvSpPr>
          <p:cNvPr id="19" name="Text 16"/>
          <p:cNvSpPr/>
          <p:nvPr/>
        </p:nvSpPr>
        <p:spPr>
          <a:xfrm>
            <a:off x="950976" y="3794760"/>
            <a:ext cx="3172968"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Vendedores terceiros vendem na plataforma e contratam a logística como serviço (Logística da Amazon), gerando receita de take-rate</a:t>
            </a:r>
            <a:endParaRPr lang="en-US" sz="800" dirty="0"/>
          </a:p>
        </p:txBody>
      </p:sp>
      <p:sp>
        <p:nvSpPr>
          <p:cNvPr id="20" name="Shape 17"/>
          <p:cNvSpPr/>
          <p:nvPr/>
        </p:nvSpPr>
        <p:spPr>
          <a:xfrm>
            <a:off x="4599432" y="3300984"/>
            <a:ext cx="3611880" cy="1298448"/>
          </a:xfrm>
          <a:prstGeom prst="roundRect">
            <a:avLst>
              <a:gd name="adj" fmla="val 5634"/>
            </a:avLst>
          </a:prstGeom>
          <a:solidFill>
            <a:srgbClr val="F4F6F8"/>
          </a:solidFill>
          <a:ln w="12700">
            <a:solidFill>
              <a:srgbClr val="E2E6EB"/>
            </a:solidFill>
            <a:prstDash val="solid"/>
          </a:ln>
        </p:spPr>
      </p:sp>
      <p:sp>
        <p:nvSpPr>
          <p:cNvPr id="21" name="Shape 18"/>
          <p:cNvSpPr/>
          <p:nvPr/>
        </p:nvSpPr>
        <p:spPr>
          <a:xfrm>
            <a:off x="4599432" y="3300984"/>
            <a:ext cx="45720" cy="1298448"/>
          </a:xfrm>
          <a:prstGeom prst="rect">
            <a:avLst/>
          </a:prstGeom>
          <a:solidFill>
            <a:srgbClr val="FF9900"/>
          </a:solidFill>
          <a:ln/>
        </p:spPr>
      </p:sp>
      <p:sp>
        <p:nvSpPr>
          <p:cNvPr id="22" name="Text 19"/>
          <p:cNvSpPr/>
          <p:nvPr/>
        </p:nvSpPr>
        <p:spPr>
          <a:xfrm>
            <a:off x="4818888" y="3447288"/>
            <a:ext cx="3209544" cy="310896"/>
          </a:xfrm>
          <a:prstGeom prst="rect">
            <a:avLst/>
          </a:prstGeom>
          <a:noFill/>
          <a:ln/>
        </p:spPr>
        <p:txBody>
          <a:bodyPr wrap="square" lIns="0" tIns="0" rIns="0" bIns="0" rtlCol="0" anchor="ctr"/>
          <a:lstStyle/>
          <a:p>
            <a:pPr indent="0" marL="0">
              <a:buNone/>
            </a:pPr>
            <a:r>
              <a:rPr lang="en-US" sz="1050" dirty="0">
                <a:solidFill>
                  <a:srgbClr val="131A22"/>
                </a:solidFill>
                <a:latin typeface="Poppins SemiBold" pitchFamily="34" charset="0"/>
                <a:ea typeface="Poppins SemiBold" pitchFamily="34" charset="-122"/>
                <a:cs typeface="Poppins SemiBold" pitchFamily="34" charset="-120"/>
              </a:rPr>
              <a:t>AWS + Ads</a:t>
            </a:r>
            <a:endParaRPr lang="en-US" sz="1050" dirty="0"/>
          </a:p>
        </p:txBody>
      </p:sp>
      <p:sp>
        <p:nvSpPr>
          <p:cNvPr id="23" name="Text 20"/>
          <p:cNvSpPr/>
          <p:nvPr/>
        </p:nvSpPr>
        <p:spPr>
          <a:xfrm>
            <a:off x="4818888" y="3794760"/>
            <a:ext cx="3172968"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Nuvem AWS (região São Paulo desde 2011) e retail media — motores globais de margem presentes no país</a:t>
            </a:r>
            <a:endParaRPr lang="en-US" sz="800" dirty="0"/>
          </a:p>
        </p:txBody>
      </p:sp>
      <p:sp>
        <p:nvSpPr>
          <p:cNvPr id="24" name="Shape 21"/>
          <p:cNvSpPr/>
          <p:nvPr/>
        </p:nvSpPr>
        <p:spPr>
          <a:xfrm>
            <a:off x="8467344" y="1783080"/>
            <a:ext cx="2992831" cy="2816352"/>
          </a:xfrm>
          <a:prstGeom prst="roundRect">
            <a:avLst>
              <a:gd name="adj" fmla="val 3247"/>
            </a:avLst>
          </a:prstGeom>
          <a:solidFill>
            <a:srgbClr val="131A22"/>
          </a:solidFill>
          <a:ln/>
        </p:spPr>
      </p:sp>
      <p:sp>
        <p:nvSpPr>
          <p:cNvPr id="25" name="Text 22"/>
          <p:cNvSpPr/>
          <p:nvPr/>
        </p:nvSpPr>
        <p:spPr>
          <a:xfrm>
            <a:off x="8723376" y="1965960"/>
            <a:ext cx="2480767" cy="219456"/>
          </a:xfrm>
          <a:prstGeom prst="rect">
            <a:avLst/>
          </a:prstGeom>
          <a:noFill/>
          <a:ln/>
        </p:spPr>
        <p:txBody>
          <a:bodyPr wrap="square" lIns="0" tIns="0" rIns="0" bIns="0" rtlCol="0" anchor="ctr"/>
          <a:lstStyle/>
          <a:p>
            <a:pPr indent="0" marL="0">
              <a:buNone/>
            </a:pPr>
            <a:r>
              <a:rPr lang="en-US" sz="800" spc="150" kern="0" dirty="0">
                <a:solidFill>
                  <a:srgbClr val="FF9900"/>
                </a:solidFill>
                <a:latin typeface="Poppins SemiBold" pitchFamily="34" charset="0"/>
                <a:ea typeface="Poppins SemiBold" pitchFamily="34" charset="-122"/>
                <a:cs typeface="Poppins SemiBold" pitchFamily="34" charset="-120"/>
              </a:rPr>
              <a:t>REFERÊNCIAS GLOBAIS</a:t>
            </a:r>
            <a:endParaRPr lang="en-US" sz="800" dirty="0"/>
          </a:p>
        </p:txBody>
      </p:sp>
      <p:sp>
        <p:nvSpPr>
          <p:cNvPr id="26" name="Text 23"/>
          <p:cNvSpPr/>
          <p:nvPr/>
        </p:nvSpPr>
        <p:spPr>
          <a:xfrm>
            <a:off x="8723376" y="2295144"/>
            <a:ext cx="2480767" cy="27432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US$ 638 bn</a:t>
            </a:r>
            <a:endParaRPr lang="en-US" sz="1500" dirty="0"/>
          </a:p>
        </p:txBody>
      </p:sp>
      <p:sp>
        <p:nvSpPr>
          <p:cNvPr id="27" name="Text 24"/>
          <p:cNvSpPr/>
          <p:nvPr/>
        </p:nvSpPr>
        <p:spPr>
          <a:xfrm>
            <a:off x="8723376" y="2551176"/>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Net sales globais 2024 (+11%)</a:t>
            </a:r>
            <a:endParaRPr lang="en-US" sz="800" dirty="0"/>
          </a:p>
        </p:txBody>
      </p:sp>
      <p:sp>
        <p:nvSpPr>
          <p:cNvPr id="28" name="Shape 25"/>
          <p:cNvSpPr/>
          <p:nvPr/>
        </p:nvSpPr>
        <p:spPr>
          <a:xfrm>
            <a:off x="8723376" y="2798064"/>
            <a:ext cx="2480767" cy="10973"/>
          </a:xfrm>
          <a:prstGeom prst="rect">
            <a:avLst/>
          </a:prstGeom>
          <a:solidFill>
            <a:srgbClr val="3A4A5E"/>
          </a:solidFill>
          <a:ln/>
        </p:spPr>
      </p:sp>
      <p:sp>
        <p:nvSpPr>
          <p:cNvPr id="29" name="Text 26"/>
          <p:cNvSpPr/>
          <p:nvPr/>
        </p:nvSpPr>
        <p:spPr>
          <a:xfrm>
            <a:off x="8723376" y="2871216"/>
            <a:ext cx="2480767" cy="27432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+200 Mn</a:t>
            </a:r>
            <a:endParaRPr lang="en-US" sz="1500" dirty="0"/>
          </a:p>
        </p:txBody>
      </p:sp>
      <p:sp>
        <p:nvSpPr>
          <p:cNvPr id="30" name="Text 27"/>
          <p:cNvSpPr/>
          <p:nvPr/>
        </p:nvSpPr>
        <p:spPr>
          <a:xfrm>
            <a:off x="8723376" y="3127248"/>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Membros Prime no mundo</a:t>
            </a:r>
            <a:endParaRPr lang="en-US" sz="800" dirty="0"/>
          </a:p>
        </p:txBody>
      </p:sp>
      <p:sp>
        <p:nvSpPr>
          <p:cNvPr id="31" name="Shape 28"/>
          <p:cNvSpPr/>
          <p:nvPr/>
        </p:nvSpPr>
        <p:spPr>
          <a:xfrm>
            <a:off x="8723376" y="3374136"/>
            <a:ext cx="2480767" cy="10973"/>
          </a:xfrm>
          <a:prstGeom prst="rect">
            <a:avLst/>
          </a:prstGeom>
          <a:solidFill>
            <a:srgbClr val="3A4A5E"/>
          </a:solidFill>
          <a:ln/>
        </p:spPr>
      </p:sp>
      <p:sp>
        <p:nvSpPr>
          <p:cNvPr id="32" name="Text 29"/>
          <p:cNvSpPr/>
          <p:nvPr/>
        </p:nvSpPr>
        <p:spPr>
          <a:xfrm>
            <a:off x="8723376" y="3447288"/>
            <a:ext cx="2480767" cy="27432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2012</a:t>
            </a:r>
            <a:endParaRPr lang="en-US" sz="1500" dirty="0"/>
          </a:p>
        </p:txBody>
      </p:sp>
      <p:sp>
        <p:nvSpPr>
          <p:cNvPr id="33" name="Text 30"/>
          <p:cNvSpPr/>
          <p:nvPr/>
        </p:nvSpPr>
        <p:spPr>
          <a:xfrm>
            <a:off x="8723376" y="3703320"/>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Início das operações no Brasil</a:t>
            </a:r>
            <a:endParaRPr lang="en-US" sz="800" dirty="0"/>
          </a:p>
        </p:txBody>
      </p:sp>
      <p:sp>
        <p:nvSpPr>
          <p:cNvPr id="34" name="Shape 31"/>
          <p:cNvSpPr/>
          <p:nvPr/>
        </p:nvSpPr>
        <p:spPr>
          <a:xfrm>
            <a:off x="8723376" y="3950208"/>
            <a:ext cx="2480767" cy="10973"/>
          </a:xfrm>
          <a:prstGeom prst="rect">
            <a:avLst/>
          </a:prstGeom>
          <a:solidFill>
            <a:srgbClr val="3A4A5E"/>
          </a:solidFill>
          <a:ln/>
        </p:spPr>
      </p:sp>
      <p:sp>
        <p:nvSpPr>
          <p:cNvPr id="35" name="Text 32"/>
          <p:cNvSpPr/>
          <p:nvPr/>
        </p:nvSpPr>
        <p:spPr>
          <a:xfrm>
            <a:off x="8723376" y="4023360"/>
            <a:ext cx="2480767" cy="274320"/>
          </a:xfrm>
          <a:prstGeom prst="rect">
            <a:avLst/>
          </a:prstGeom>
          <a:noFill/>
          <a:ln/>
        </p:spPr>
        <p:txBody>
          <a:bodyPr wrap="square" lIns="0" tIns="0" rIns="0" bIns="0" rtlCol="0" anchor="ctr"/>
          <a:lstStyle/>
          <a:p>
            <a:pPr indent="0" marL="0">
              <a:buNone/>
            </a:pPr>
            <a:r>
              <a:rPr lang="en-US" sz="1500" dirty="0">
                <a:solidFill>
                  <a:srgbClr val="8B95A5"/>
                </a:solidFill>
                <a:latin typeface="Poppins SemiBold" pitchFamily="34" charset="0"/>
                <a:ea typeface="Poppins SemiBold" pitchFamily="34" charset="-122"/>
                <a:cs typeface="Poppins SemiBold" pitchFamily="34" charset="-120"/>
              </a:rPr>
              <a:t>[TBC]</a:t>
            </a:r>
            <a:endParaRPr lang="en-US" sz="1500" dirty="0"/>
          </a:p>
        </p:txBody>
      </p:sp>
      <p:sp>
        <p:nvSpPr>
          <p:cNvPr id="36" name="Text 33"/>
          <p:cNvSpPr/>
          <p:nvPr/>
        </p:nvSpPr>
        <p:spPr>
          <a:xfrm>
            <a:off x="8723376" y="4279392"/>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Receita Brasil (não divulgada)</a:t>
            </a:r>
            <a:endParaRPr lang="en-US" sz="800" dirty="0"/>
          </a:p>
        </p:txBody>
      </p:sp>
      <p:sp>
        <p:nvSpPr>
          <p:cNvPr id="37" name="Shape 34"/>
          <p:cNvSpPr/>
          <p:nvPr/>
        </p:nvSpPr>
        <p:spPr>
          <a:xfrm>
            <a:off x="731520" y="4837176"/>
            <a:ext cx="2514600" cy="786384"/>
          </a:xfrm>
          <a:prstGeom prst="roundRect">
            <a:avLst>
              <a:gd name="adj" fmla="val 8140"/>
            </a:avLst>
          </a:prstGeom>
          <a:solidFill>
            <a:srgbClr val="F4F6F8"/>
          </a:solidFill>
          <a:ln w="12700">
            <a:solidFill>
              <a:srgbClr val="E2E6EB"/>
            </a:solidFill>
            <a:prstDash val="solid"/>
          </a:ln>
        </p:spPr>
      </p:sp>
      <p:sp>
        <p:nvSpPr>
          <p:cNvPr id="38" name="Shape 35"/>
          <p:cNvSpPr/>
          <p:nvPr/>
        </p:nvSpPr>
        <p:spPr>
          <a:xfrm>
            <a:off x="731520" y="5025908"/>
            <a:ext cx="50292" cy="408920"/>
          </a:xfrm>
          <a:prstGeom prst="rect">
            <a:avLst/>
          </a:prstGeom>
          <a:solidFill>
            <a:srgbClr val="FF9900"/>
          </a:solidFill>
          <a:ln/>
        </p:spPr>
      </p:sp>
      <p:sp>
        <p:nvSpPr>
          <p:cNvPr id="39" name="Text 36"/>
          <p:cNvSpPr/>
          <p:nvPr/>
        </p:nvSpPr>
        <p:spPr>
          <a:xfrm>
            <a:off x="950976" y="4962997"/>
            <a:ext cx="2148840" cy="330281"/>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US$ 107,6 bn</a:t>
            </a:r>
            <a:endParaRPr lang="en-US" sz="1800" dirty="0"/>
          </a:p>
        </p:txBody>
      </p:sp>
      <p:sp>
        <p:nvSpPr>
          <p:cNvPr id="40" name="Text 37"/>
          <p:cNvSpPr/>
          <p:nvPr/>
        </p:nvSpPr>
        <p:spPr>
          <a:xfrm>
            <a:off x="950976" y="5277551"/>
            <a:ext cx="2148840"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AWS — receita global 2024</a:t>
            </a:r>
            <a:endParaRPr lang="en-US" sz="800" dirty="0"/>
          </a:p>
        </p:txBody>
      </p:sp>
      <p:sp>
        <p:nvSpPr>
          <p:cNvPr id="41" name="Shape 38"/>
          <p:cNvSpPr/>
          <p:nvPr/>
        </p:nvSpPr>
        <p:spPr>
          <a:xfrm>
            <a:off x="3429000" y="4837176"/>
            <a:ext cx="2514600" cy="786384"/>
          </a:xfrm>
          <a:prstGeom prst="roundRect">
            <a:avLst>
              <a:gd name="adj" fmla="val 8140"/>
            </a:avLst>
          </a:prstGeom>
          <a:solidFill>
            <a:srgbClr val="F4F6F8"/>
          </a:solidFill>
          <a:ln w="12700">
            <a:solidFill>
              <a:srgbClr val="E2E6EB"/>
            </a:solidFill>
            <a:prstDash val="solid"/>
          </a:ln>
        </p:spPr>
      </p:sp>
      <p:sp>
        <p:nvSpPr>
          <p:cNvPr id="42" name="Shape 39"/>
          <p:cNvSpPr/>
          <p:nvPr/>
        </p:nvSpPr>
        <p:spPr>
          <a:xfrm>
            <a:off x="3429000" y="5025908"/>
            <a:ext cx="50292" cy="408920"/>
          </a:xfrm>
          <a:prstGeom prst="rect">
            <a:avLst/>
          </a:prstGeom>
          <a:solidFill>
            <a:srgbClr val="FF9900"/>
          </a:solidFill>
          <a:ln/>
        </p:spPr>
      </p:sp>
      <p:sp>
        <p:nvSpPr>
          <p:cNvPr id="43" name="Text 40"/>
          <p:cNvSpPr/>
          <p:nvPr/>
        </p:nvSpPr>
        <p:spPr>
          <a:xfrm>
            <a:off x="3648456" y="4962997"/>
            <a:ext cx="2148840" cy="330281"/>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US$ 56,2 bn</a:t>
            </a:r>
            <a:endParaRPr lang="en-US" sz="1800" dirty="0"/>
          </a:p>
        </p:txBody>
      </p:sp>
      <p:sp>
        <p:nvSpPr>
          <p:cNvPr id="44" name="Text 41"/>
          <p:cNvSpPr/>
          <p:nvPr/>
        </p:nvSpPr>
        <p:spPr>
          <a:xfrm>
            <a:off x="3648456" y="5277551"/>
            <a:ext cx="2148840"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Advertising — receita global 2024</a:t>
            </a:r>
            <a:endParaRPr lang="en-US" sz="800" dirty="0"/>
          </a:p>
        </p:txBody>
      </p:sp>
      <p:sp>
        <p:nvSpPr>
          <p:cNvPr id="45" name="Text 42"/>
          <p:cNvSpPr/>
          <p:nvPr/>
        </p:nvSpPr>
        <p:spPr>
          <a:xfrm>
            <a:off x="6172200" y="4946904"/>
            <a:ext cx="5425135" cy="603504"/>
          </a:xfrm>
          <a:prstGeom prst="rect">
            <a:avLst/>
          </a:prstGeom>
          <a:noFill/>
          <a:ln/>
        </p:spPr>
        <p:txBody>
          <a:bodyPr wrap="square" lIns="0" tIns="0" rIns="0" bIns="0" rtlCol="0" anchor="ctr"/>
          <a:lstStyle/>
          <a:p>
            <a:pPr indent="0" marL="0">
              <a:lnSpc>
                <a:spcPct val="115000"/>
              </a:lnSpc>
              <a:buNone/>
            </a:pPr>
            <a:r>
              <a:rPr lang="en-US" sz="850" i="1" dirty="0">
                <a:solidFill>
                  <a:srgbClr val="6C7683"/>
                </a:solidFill>
                <a:latin typeface="Poppins" pitchFamily="34" charset="0"/>
                <a:ea typeface="Poppins" pitchFamily="34" charset="-122"/>
                <a:cs typeface="Poppins" pitchFamily="34" charset="-120"/>
              </a:rPr>
              <a:t>Aberturas por país não são divulgadas pela companhia; métricas Brasil a construir com a gestão.</a:t>
            </a:r>
            <a:endParaRPr lang="en-US" sz="850" dirty="0"/>
          </a:p>
        </p:txBody>
      </p:sp>
      <p:sp>
        <p:nvSpPr>
          <p:cNvPr id="46" name="Shape 43"/>
          <p:cNvSpPr/>
          <p:nvPr/>
        </p:nvSpPr>
        <p:spPr>
          <a:xfrm>
            <a:off x="0" y="6172200"/>
            <a:ext cx="12191695" cy="685800"/>
          </a:xfrm>
          <a:prstGeom prst="rect">
            <a:avLst/>
          </a:prstGeom>
          <a:solidFill>
            <a:srgbClr val="131A22"/>
          </a:solidFill>
          <a:ln/>
        </p:spPr>
      </p:sp>
      <p:sp>
        <p:nvSpPr>
          <p:cNvPr id="47" name="Shape 44"/>
          <p:cNvSpPr/>
          <p:nvPr/>
        </p:nvSpPr>
        <p:spPr>
          <a:xfrm>
            <a:off x="0" y="6172200"/>
            <a:ext cx="118872" cy="685800"/>
          </a:xfrm>
          <a:prstGeom prst="rect">
            <a:avLst/>
          </a:prstGeom>
          <a:solidFill>
            <a:srgbClr val="FF9900"/>
          </a:solidFill>
          <a:ln/>
        </p:spPr>
      </p:sp>
      <p:sp>
        <p:nvSpPr>
          <p:cNvPr id="48" name="Text 45"/>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Escala global, operação local — e um </a:t>
            </a:r>
            <a:pPr algn="ctr" indent="0" marL="0">
              <a:buNone/>
            </a:pPr>
            <a:r>
              <a:rPr lang="en-US" sz="1200" dirty="0">
                <a:solidFill>
                  <a:srgbClr val="FF9900"/>
                </a:solidFill>
                <a:latin typeface="Poppins SemiBold" pitchFamily="34" charset="0"/>
                <a:ea typeface="Poppins SemiBold" pitchFamily="34" charset="-122"/>
                <a:cs typeface="Poppins SemiBold" pitchFamily="34" charset="-120"/>
              </a:rPr>
              <a:t>flywheel de crescimento</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rodando no Brasil desde 2012</a:t>
            </a:r>
            <a:endParaRPr lang="en-US" sz="1200" dirty="0"/>
          </a:p>
        </p:txBody>
      </p:sp>
      <p:pic>
        <p:nvPicPr>
          <p:cNvPr id="49"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50" name="Text 46"/>
          <p:cNvSpPr/>
          <p:nvPr/>
        </p:nvSpPr>
        <p:spPr>
          <a:xfrm>
            <a:off x="1097280" y="6405372"/>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4</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325880" cy="310896"/>
          </a:xfrm>
          <a:prstGeom prst="roundRect">
            <a:avLst>
              <a:gd name="adj" fmla="val 25000"/>
            </a:avLst>
          </a:prstGeom>
          <a:solidFill>
            <a:srgbClr val="FFF0D6"/>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O flywheel que sustenta o modelo</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O ciclo virtuoso clássico da Amazon: mais seleção melhora a experiência, que traz tráfego, que atrai vendedores — reduzindo custos e preços</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framework público da companhia (flywheel). Demonstração ilustrativa — fontes públicas (relatórios anuais, imprensa); dados Brasil não divulgados marcados [TBC].</a:t>
            </a:r>
            <a:endParaRPr lang="en-US" sz="700" dirty="0"/>
          </a:p>
        </p:txBody>
      </p:sp>
      <p:sp>
        <p:nvSpPr>
          <p:cNvPr id="8" name="Shape 5"/>
          <p:cNvSpPr/>
          <p:nvPr/>
        </p:nvSpPr>
        <p:spPr>
          <a:xfrm>
            <a:off x="2221992" y="2221992"/>
            <a:ext cx="2962656" cy="2962656"/>
          </a:xfrm>
          <a:prstGeom prst="ellipse">
            <a:avLst/>
          </a:prstGeom>
          <a:ln w="31750">
            <a:solidFill>
              <a:srgbClr val="FF9900"/>
            </a:solidFill>
            <a:prstDash val="dash"/>
          </a:ln>
        </p:spPr>
      </p:sp>
      <p:sp>
        <p:nvSpPr>
          <p:cNvPr id="9" name="Shape 6"/>
          <p:cNvSpPr/>
          <p:nvPr/>
        </p:nvSpPr>
        <p:spPr>
          <a:xfrm>
            <a:off x="3136392" y="3136392"/>
            <a:ext cx="1133856" cy="1133856"/>
          </a:xfrm>
          <a:prstGeom prst="ellipse">
            <a:avLst/>
          </a:prstGeom>
          <a:solidFill>
            <a:srgbClr val="131A22"/>
          </a:solidFill>
          <a:ln/>
        </p:spPr>
      </p:sp>
      <p:sp>
        <p:nvSpPr>
          <p:cNvPr id="10" name="Text 7"/>
          <p:cNvSpPr/>
          <p:nvPr/>
        </p:nvSpPr>
        <p:spPr>
          <a:xfrm>
            <a:off x="3136392" y="3136392"/>
            <a:ext cx="1133856" cy="1133856"/>
          </a:xfrm>
          <a:prstGeom prst="rect">
            <a:avLst/>
          </a:prstGeom>
          <a:noFill/>
          <a:ln/>
        </p:spPr>
        <p:txBody>
          <a:bodyPr wrap="square" lIns="0" tIns="0" rIns="0" bIns="0" rtlCol="0" anchor="ctr"/>
          <a:lstStyle/>
          <a:p>
            <a:pPr algn="ctr" indent="0" marL="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Cresci-</a:t>
            </a:r>
            <a:endParaRPr lang="en-US" sz="1100" dirty="0"/>
          </a:p>
          <a:p>
            <a:pPr algn="ctr" indent="0" marL="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mento</a:t>
            </a:r>
            <a:endParaRPr lang="en-US" sz="1100" dirty="0"/>
          </a:p>
        </p:txBody>
      </p:sp>
      <p:sp>
        <p:nvSpPr>
          <p:cNvPr id="11" name="Shape 8"/>
          <p:cNvSpPr/>
          <p:nvPr/>
        </p:nvSpPr>
        <p:spPr>
          <a:xfrm>
            <a:off x="3374136" y="1892808"/>
            <a:ext cx="658368" cy="658368"/>
          </a:xfrm>
          <a:prstGeom prst="ellipse">
            <a:avLst/>
          </a:prstGeom>
          <a:solidFill>
            <a:srgbClr val="FF9900"/>
          </a:solidFill>
          <a:ln w="25400">
            <a:solidFill>
              <a:srgbClr val="FFFFFF"/>
            </a:solidFill>
            <a:prstDash val="solid"/>
          </a:ln>
        </p:spPr>
      </p:sp>
      <p:sp>
        <p:nvSpPr>
          <p:cNvPr id="12" name="Text 9"/>
          <p:cNvSpPr/>
          <p:nvPr/>
        </p:nvSpPr>
        <p:spPr>
          <a:xfrm>
            <a:off x="2926080" y="1271016"/>
            <a:ext cx="1371600" cy="548640"/>
          </a:xfrm>
          <a:prstGeom prst="rect">
            <a:avLst/>
          </a:prstGeom>
          <a:noFill/>
          <a:ln/>
        </p:spPr>
        <p:txBody>
          <a:bodyPr wrap="square" lIns="0" tIns="0" rIns="0" bIns="0" rtlCol="0" anchor="ctr"/>
          <a:lstStyle/>
          <a:p>
            <a:pPr algn="ctr" indent="0" marL="0">
              <a:lnSpc>
                <a:spcPct val="95000"/>
              </a:lnSpc>
              <a:buNone/>
            </a:pPr>
            <a:r>
              <a:rPr lang="en-US" sz="900" dirty="0">
                <a:solidFill>
                  <a:srgbClr val="131A22"/>
                </a:solidFill>
                <a:latin typeface="Poppins SemiBold" pitchFamily="34" charset="0"/>
                <a:ea typeface="Poppins SemiBold" pitchFamily="34" charset="-122"/>
                <a:cs typeface="Poppins SemiBold" pitchFamily="34" charset="-120"/>
              </a:rPr>
              <a:t>Seleção</a:t>
            </a:r>
            <a:endParaRPr lang="en-US" sz="900" dirty="0"/>
          </a:p>
        </p:txBody>
      </p:sp>
      <p:sp>
        <p:nvSpPr>
          <p:cNvPr id="13" name="Shape 10"/>
          <p:cNvSpPr/>
          <p:nvPr/>
        </p:nvSpPr>
        <p:spPr>
          <a:xfrm>
            <a:off x="4855464" y="3374136"/>
            <a:ext cx="658368" cy="658368"/>
          </a:xfrm>
          <a:prstGeom prst="ellipse">
            <a:avLst/>
          </a:prstGeom>
          <a:solidFill>
            <a:srgbClr val="FF9900"/>
          </a:solidFill>
          <a:ln w="25400">
            <a:solidFill>
              <a:srgbClr val="FFFFFF"/>
            </a:solidFill>
            <a:prstDash val="solid"/>
          </a:ln>
        </p:spPr>
      </p:sp>
      <p:sp>
        <p:nvSpPr>
          <p:cNvPr id="14" name="Text 11"/>
          <p:cNvSpPr/>
          <p:nvPr/>
        </p:nvSpPr>
        <p:spPr>
          <a:xfrm>
            <a:off x="5623560" y="3429000"/>
            <a:ext cx="1371600" cy="548640"/>
          </a:xfrm>
          <a:prstGeom prst="rect">
            <a:avLst/>
          </a:prstGeom>
          <a:noFill/>
          <a:ln/>
        </p:spPr>
        <p:txBody>
          <a:bodyPr wrap="square" lIns="0" tIns="0" rIns="0" bIns="0" rtlCol="0" anchor="ctr"/>
          <a:lstStyle/>
          <a:p>
            <a:pPr algn="l" indent="0" marL="0">
              <a:lnSpc>
                <a:spcPct val="95000"/>
              </a:lnSpc>
              <a:buNone/>
            </a:pPr>
            <a:r>
              <a:rPr lang="en-US" sz="900" dirty="0">
                <a:solidFill>
                  <a:srgbClr val="131A22"/>
                </a:solidFill>
                <a:latin typeface="Poppins SemiBold" pitchFamily="34" charset="0"/>
                <a:ea typeface="Poppins SemiBold" pitchFamily="34" charset="-122"/>
                <a:cs typeface="Poppins SemiBold" pitchFamily="34" charset="-120"/>
              </a:rPr>
              <a:t>Experiência</a:t>
            </a:r>
            <a:endParaRPr lang="en-US" sz="900" dirty="0"/>
          </a:p>
          <a:p>
            <a:pPr algn="l" indent="0" marL="0">
              <a:lnSpc>
                <a:spcPct val="95000"/>
              </a:lnSpc>
              <a:buNone/>
            </a:pPr>
            <a:r>
              <a:rPr lang="en-US" sz="900" dirty="0">
                <a:solidFill>
                  <a:srgbClr val="131A22"/>
                </a:solidFill>
                <a:latin typeface="Poppins SemiBold" pitchFamily="34" charset="0"/>
                <a:ea typeface="Poppins SemiBold" pitchFamily="34" charset="-122"/>
                <a:cs typeface="Poppins SemiBold" pitchFamily="34" charset="-120"/>
              </a:rPr>
              <a:t>do cliente</a:t>
            </a:r>
            <a:endParaRPr lang="en-US" sz="900" dirty="0"/>
          </a:p>
        </p:txBody>
      </p:sp>
      <p:sp>
        <p:nvSpPr>
          <p:cNvPr id="15" name="Shape 12"/>
          <p:cNvSpPr/>
          <p:nvPr/>
        </p:nvSpPr>
        <p:spPr>
          <a:xfrm>
            <a:off x="3374136" y="4855464"/>
            <a:ext cx="658368" cy="658368"/>
          </a:xfrm>
          <a:prstGeom prst="ellipse">
            <a:avLst/>
          </a:prstGeom>
          <a:solidFill>
            <a:srgbClr val="FF9900"/>
          </a:solidFill>
          <a:ln w="25400">
            <a:solidFill>
              <a:srgbClr val="FFFFFF"/>
            </a:solidFill>
            <a:prstDash val="solid"/>
          </a:ln>
        </p:spPr>
      </p:sp>
      <p:sp>
        <p:nvSpPr>
          <p:cNvPr id="16" name="Text 13"/>
          <p:cNvSpPr/>
          <p:nvPr/>
        </p:nvSpPr>
        <p:spPr>
          <a:xfrm>
            <a:off x="2926080" y="5586984"/>
            <a:ext cx="1371600" cy="548640"/>
          </a:xfrm>
          <a:prstGeom prst="rect">
            <a:avLst/>
          </a:prstGeom>
          <a:noFill/>
          <a:ln/>
        </p:spPr>
        <p:txBody>
          <a:bodyPr wrap="square" lIns="0" tIns="0" rIns="0" bIns="0" rtlCol="0" anchor="ctr"/>
          <a:lstStyle/>
          <a:p>
            <a:pPr algn="ctr" indent="0" marL="0">
              <a:lnSpc>
                <a:spcPct val="95000"/>
              </a:lnSpc>
              <a:buNone/>
            </a:pPr>
            <a:r>
              <a:rPr lang="en-US" sz="900" dirty="0">
                <a:solidFill>
                  <a:srgbClr val="131A22"/>
                </a:solidFill>
                <a:latin typeface="Poppins SemiBold" pitchFamily="34" charset="0"/>
                <a:ea typeface="Poppins SemiBold" pitchFamily="34" charset="-122"/>
                <a:cs typeface="Poppins SemiBold" pitchFamily="34" charset="-120"/>
              </a:rPr>
              <a:t>Tráfego</a:t>
            </a:r>
            <a:endParaRPr lang="en-US" sz="900" dirty="0"/>
          </a:p>
        </p:txBody>
      </p:sp>
      <p:sp>
        <p:nvSpPr>
          <p:cNvPr id="17" name="Shape 14"/>
          <p:cNvSpPr/>
          <p:nvPr/>
        </p:nvSpPr>
        <p:spPr>
          <a:xfrm>
            <a:off x="1892808" y="3374136"/>
            <a:ext cx="658368" cy="658368"/>
          </a:xfrm>
          <a:prstGeom prst="ellipse">
            <a:avLst/>
          </a:prstGeom>
          <a:solidFill>
            <a:srgbClr val="FF9900"/>
          </a:solidFill>
          <a:ln w="25400">
            <a:solidFill>
              <a:srgbClr val="FFFFFF"/>
            </a:solidFill>
            <a:prstDash val="solid"/>
          </a:ln>
        </p:spPr>
      </p:sp>
      <p:sp>
        <p:nvSpPr>
          <p:cNvPr id="18" name="Text 15"/>
          <p:cNvSpPr/>
          <p:nvPr/>
        </p:nvSpPr>
        <p:spPr>
          <a:xfrm>
            <a:off x="411480" y="3429000"/>
            <a:ext cx="1371600" cy="548640"/>
          </a:xfrm>
          <a:prstGeom prst="rect">
            <a:avLst/>
          </a:prstGeom>
          <a:noFill/>
          <a:ln/>
        </p:spPr>
        <p:txBody>
          <a:bodyPr wrap="square" lIns="0" tIns="0" rIns="0" bIns="0" rtlCol="0" anchor="ctr"/>
          <a:lstStyle/>
          <a:p>
            <a:pPr algn="r" indent="0" marL="0">
              <a:lnSpc>
                <a:spcPct val="95000"/>
              </a:lnSpc>
              <a:buNone/>
            </a:pPr>
            <a:r>
              <a:rPr lang="en-US" sz="900" dirty="0">
                <a:solidFill>
                  <a:srgbClr val="131A22"/>
                </a:solidFill>
                <a:latin typeface="Poppins SemiBold" pitchFamily="34" charset="0"/>
                <a:ea typeface="Poppins SemiBold" pitchFamily="34" charset="-122"/>
                <a:cs typeface="Poppins SemiBold" pitchFamily="34" charset="-120"/>
              </a:rPr>
              <a:t>Vendedores</a:t>
            </a:r>
            <a:endParaRPr lang="en-US" sz="900" dirty="0"/>
          </a:p>
        </p:txBody>
      </p:sp>
      <p:sp>
        <p:nvSpPr>
          <p:cNvPr id="19" name="Shape 16"/>
          <p:cNvSpPr/>
          <p:nvPr/>
        </p:nvSpPr>
        <p:spPr>
          <a:xfrm>
            <a:off x="7452360" y="1810512"/>
            <a:ext cx="4007815" cy="841248"/>
          </a:xfrm>
          <a:prstGeom prst="roundRect">
            <a:avLst>
              <a:gd name="adj" fmla="val 8696"/>
            </a:avLst>
          </a:prstGeom>
          <a:solidFill>
            <a:srgbClr val="F4F6F8"/>
          </a:solidFill>
          <a:ln w="12700">
            <a:solidFill>
              <a:srgbClr val="E2E6EB"/>
            </a:solidFill>
            <a:prstDash val="solid"/>
          </a:ln>
        </p:spPr>
      </p:sp>
      <p:sp>
        <p:nvSpPr>
          <p:cNvPr id="20" name="Shape 17"/>
          <p:cNvSpPr/>
          <p:nvPr/>
        </p:nvSpPr>
        <p:spPr>
          <a:xfrm rot="5400000">
            <a:off x="7635240" y="1975104"/>
            <a:ext cx="137160" cy="137160"/>
          </a:xfrm>
          <a:prstGeom prst="triangle">
            <a:avLst/>
          </a:prstGeom>
          <a:solidFill>
            <a:srgbClr val="FF9900"/>
          </a:solidFill>
          <a:ln/>
        </p:spPr>
      </p:sp>
      <p:sp>
        <p:nvSpPr>
          <p:cNvPr id="21" name="Text 18"/>
          <p:cNvSpPr/>
          <p:nvPr/>
        </p:nvSpPr>
        <p:spPr>
          <a:xfrm>
            <a:off x="7891272" y="1883664"/>
            <a:ext cx="3386023" cy="274320"/>
          </a:xfrm>
          <a:prstGeom prst="rect">
            <a:avLst/>
          </a:prstGeom>
          <a:noFill/>
          <a:ln/>
        </p:spPr>
        <p:txBody>
          <a:bodyPr wrap="square" lIns="0" tIns="0" rIns="0" bIns="0" rtlCol="0" anchor="ctr"/>
          <a:lstStyle/>
          <a:p>
            <a:pPr indent="0" marL="0">
              <a:buNone/>
            </a:pPr>
            <a:r>
              <a:rPr lang="en-US" sz="1000" dirty="0">
                <a:solidFill>
                  <a:srgbClr val="131A22"/>
                </a:solidFill>
                <a:latin typeface="Poppins SemiBold" pitchFamily="34" charset="0"/>
                <a:ea typeface="Poppins SemiBold" pitchFamily="34" charset="-122"/>
                <a:cs typeface="Poppins SemiBold" pitchFamily="34" charset="-120"/>
              </a:rPr>
              <a:t>Mais seleção</a:t>
            </a:r>
            <a:endParaRPr lang="en-US" sz="1000" dirty="0"/>
          </a:p>
        </p:txBody>
      </p:sp>
      <p:sp>
        <p:nvSpPr>
          <p:cNvPr id="22" name="Text 19"/>
          <p:cNvSpPr/>
          <p:nvPr/>
        </p:nvSpPr>
        <p:spPr>
          <a:xfrm>
            <a:off x="7891272" y="2157984"/>
            <a:ext cx="3386023" cy="438912"/>
          </a:xfrm>
          <a:prstGeom prst="rect">
            <a:avLst/>
          </a:prstGeom>
          <a:noFill/>
          <a:ln/>
        </p:spPr>
        <p:txBody>
          <a:bodyPr wrap="square" lIns="0" tIns="0" rIns="0" bIns="0" rtlCol="0" anchor="t"/>
          <a:lstStyle/>
          <a:p>
            <a:pPr indent="0" marL="0">
              <a:lnSpc>
                <a:spcPct val="112000"/>
              </a:lnSpc>
              <a:buNone/>
            </a:pPr>
            <a:r>
              <a:rPr lang="en-US" sz="800" dirty="0">
                <a:solidFill>
                  <a:srgbClr val="6C7683"/>
                </a:solidFill>
                <a:latin typeface="Poppins" pitchFamily="34" charset="0"/>
                <a:ea typeface="Poppins" pitchFamily="34" charset="-122"/>
                <a:cs typeface="Poppins" pitchFamily="34" charset="-120"/>
              </a:rPr>
              <a:t>Marketplace amplia o sortimento sem capital próprio em estoque</a:t>
            </a:r>
            <a:endParaRPr lang="en-US" sz="800" dirty="0"/>
          </a:p>
        </p:txBody>
      </p:sp>
      <p:sp>
        <p:nvSpPr>
          <p:cNvPr id="23" name="Shape 20"/>
          <p:cNvSpPr/>
          <p:nvPr/>
        </p:nvSpPr>
        <p:spPr>
          <a:xfrm>
            <a:off x="7452360" y="2779776"/>
            <a:ext cx="4007815" cy="841248"/>
          </a:xfrm>
          <a:prstGeom prst="roundRect">
            <a:avLst>
              <a:gd name="adj" fmla="val 8696"/>
            </a:avLst>
          </a:prstGeom>
          <a:solidFill>
            <a:srgbClr val="FFF0D6"/>
          </a:solidFill>
          <a:ln/>
        </p:spPr>
      </p:sp>
      <p:sp>
        <p:nvSpPr>
          <p:cNvPr id="24" name="Shape 21"/>
          <p:cNvSpPr/>
          <p:nvPr/>
        </p:nvSpPr>
        <p:spPr>
          <a:xfrm rot="5400000">
            <a:off x="7635240" y="2944368"/>
            <a:ext cx="137160" cy="137160"/>
          </a:xfrm>
          <a:prstGeom prst="triangle">
            <a:avLst/>
          </a:prstGeom>
          <a:solidFill>
            <a:srgbClr val="FF9900"/>
          </a:solidFill>
          <a:ln/>
        </p:spPr>
      </p:sp>
      <p:sp>
        <p:nvSpPr>
          <p:cNvPr id="25" name="Text 22"/>
          <p:cNvSpPr/>
          <p:nvPr/>
        </p:nvSpPr>
        <p:spPr>
          <a:xfrm>
            <a:off x="7891272" y="2852928"/>
            <a:ext cx="3386023" cy="274320"/>
          </a:xfrm>
          <a:prstGeom prst="rect">
            <a:avLst/>
          </a:prstGeom>
          <a:noFill/>
          <a:ln/>
        </p:spPr>
        <p:txBody>
          <a:bodyPr wrap="square" lIns="0" tIns="0" rIns="0" bIns="0" rtlCol="0" anchor="ctr"/>
          <a:lstStyle/>
          <a:p>
            <a:pPr indent="0" marL="0">
              <a:buNone/>
            </a:pPr>
            <a:r>
              <a:rPr lang="en-US" sz="1000" dirty="0">
                <a:solidFill>
                  <a:srgbClr val="131A22"/>
                </a:solidFill>
                <a:latin typeface="Poppins SemiBold" pitchFamily="34" charset="0"/>
                <a:ea typeface="Poppins SemiBold" pitchFamily="34" charset="-122"/>
                <a:cs typeface="Poppins SemiBold" pitchFamily="34" charset="-120"/>
              </a:rPr>
              <a:t>Melhor experiência</a:t>
            </a:r>
            <a:endParaRPr lang="en-US" sz="1000" dirty="0"/>
          </a:p>
        </p:txBody>
      </p:sp>
      <p:sp>
        <p:nvSpPr>
          <p:cNvPr id="26" name="Text 23"/>
          <p:cNvSpPr/>
          <p:nvPr/>
        </p:nvSpPr>
        <p:spPr>
          <a:xfrm>
            <a:off x="7891272" y="3127248"/>
            <a:ext cx="3386023" cy="438912"/>
          </a:xfrm>
          <a:prstGeom prst="rect">
            <a:avLst/>
          </a:prstGeom>
          <a:noFill/>
          <a:ln/>
        </p:spPr>
        <p:txBody>
          <a:bodyPr wrap="square" lIns="0" tIns="0" rIns="0" bIns="0" rtlCol="0" anchor="t"/>
          <a:lstStyle/>
          <a:p>
            <a:pPr indent="0" marL="0">
              <a:lnSpc>
                <a:spcPct val="112000"/>
              </a:lnSpc>
              <a:buNone/>
            </a:pPr>
            <a:r>
              <a:rPr lang="en-US" sz="800" dirty="0">
                <a:solidFill>
                  <a:srgbClr val="6C7683"/>
                </a:solidFill>
                <a:latin typeface="Poppins" pitchFamily="34" charset="0"/>
                <a:ea typeface="Poppins" pitchFamily="34" charset="-122"/>
                <a:cs typeface="Poppins" pitchFamily="34" charset="-120"/>
              </a:rPr>
              <a:t>Entrega rápida e confiável eleva conversão e recompra</a:t>
            </a:r>
            <a:endParaRPr lang="en-US" sz="800" dirty="0"/>
          </a:p>
        </p:txBody>
      </p:sp>
      <p:sp>
        <p:nvSpPr>
          <p:cNvPr id="27" name="Shape 24"/>
          <p:cNvSpPr/>
          <p:nvPr/>
        </p:nvSpPr>
        <p:spPr>
          <a:xfrm>
            <a:off x="7452360" y="3749040"/>
            <a:ext cx="4007815" cy="841248"/>
          </a:xfrm>
          <a:prstGeom prst="roundRect">
            <a:avLst>
              <a:gd name="adj" fmla="val 8696"/>
            </a:avLst>
          </a:prstGeom>
          <a:solidFill>
            <a:srgbClr val="F4F6F8"/>
          </a:solidFill>
          <a:ln w="12700">
            <a:solidFill>
              <a:srgbClr val="E2E6EB"/>
            </a:solidFill>
            <a:prstDash val="solid"/>
          </a:ln>
        </p:spPr>
      </p:sp>
      <p:sp>
        <p:nvSpPr>
          <p:cNvPr id="28" name="Shape 25"/>
          <p:cNvSpPr/>
          <p:nvPr/>
        </p:nvSpPr>
        <p:spPr>
          <a:xfrm rot="5400000">
            <a:off x="7635240" y="3913632"/>
            <a:ext cx="137160" cy="137160"/>
          </a:xfrm>
          <a:prstGeom prst="triangle">
            <a:avLst/>
          </a:prstGeom>
          <a:solidFill>
            <a:srgbClr val="FF9900"/>
          </a:solidFill>
          <a:ln/>
        </p:spPr>
      </p:sp>
      <p:sp>
        <p:nvSpPr>
          <p:cNvPr id="29" name="Text 26"/>
          <p:cNvSpPr/>
          <p:nvPr/>
        </p:nvSpPr>
        <p:spPr>
          <a:xfrm>
            <a:off x="7891272" y="3822192"/>
            <a:ext cx="3386023" cy="274320"/>
          </a:xfrm>
          <a:prstGeom prst="rect">
            <a:avLst/>
          </a:prstGeom>
          <a:noFill/>
          <a:ln/>
        </p:spPr>
        <p:txBody>
          <a:bodyPr wrap="square" lIns="0" tIns="0" rIns="0" bIns="0" rtlCol="0" anchor="ctr"/>
          <a:lstStyle/>
          <a:p>
            <a:pPr indent="0" marL="0">
              <a:buNone/>
            </a:pPr>
            <a:r>
              <a:rPr lang="en-US" sz="1000" dirty="0">
                <a:solidFill>
                  <a:srgbClr val="131A22"/>
                </a:solidFill>
                <a:latin typeface="Poppins SemiBold" pitchFamily="34" charset="0"/>
                <a:ea typeface="Poppins SemiBold" pitchFamily="34" charset="-122"/>
                <a:cs typeface="Poppins SemiBold" pitchFamily="34" charset="-120"/>
              </a:rPr>
              <a:t>Mais tráfego</a:t>
            </a:r>
            <a:endParaRPr lang="en-US" sz="1000" dirty="0"/>
          </a:p>
        </p:txBody>
      </p:sp>
      <p:sp>
        <p:nvSpPr>
          <p:cNvPr id="30" name="Text 27"/>
          <p:cNvSpPr/>
          <p:nvPr/>
        </p:nvSpPr>
        <p:spPr>
          <a:xfrm>
            <a:off x="7891272" y="4096512"/>
            <a:ext cx="3386023" cy="438912"/>
          </a:xfrm>
          <a:prstGeom prst="rect">
            <a:avLst/>
          </a:prstGeom>
          <a:noFill/>
          <a:ln/>
        </p:spPr>
        <p:txBody>
          <a:bodyPr wrap="square" lIns="0" tIns="0" rIns="0" bIns="0" rtlCol="0" anchor="t"/>
          <a:lstStyle/>
          <a:p>
            <a:pPr indent="0" marL="0">
              <a:lnSpc>
                <a:spcPct val="112000"/>
              </a:lnSpc>
              <a:buNone/>
            </a:pPr>
            <a:r>
              <a:rPr lang="en-US" sz="800" dirty="0">
                <a:solidFill>
                  <a:srgbClr val="6C7683"/>
                </a:solidFill>
                <a:latin typeface="Poppins" pitchFamily="34" charset="0"/>
                <a:ea typeface="Poppins" pitchFamily="34" charset="-122"/>
                <a:cs typeface="Poppins" pitchFamily="34" charset="-120"/>
              </a:rPr>
              <a:t>Clientes recorrentes atraem mais vendedores à plataforma</a:t>
            </a:r>
            <a:endParaRPr lang="en-US" sz="800" dirty="0"/>
          </a:p>
        </p:txBody>
      </p:sp>
      <p:sp>
        <p:nvSpPr>
          <p:cNvPr id="31" name="Shape 28"/>
          <p:cNvSpPr/>
          <p:nvPr/>
        </p:nvSpPr>
        <p:spPr>
          <a:xfrm>
            <a:off x="7452360" y="4718304"/>
            <a:ext cx="4007815" cy="841248"/>
          </a:xfrm>
          <a:prstGeom prst="roundRect">
            <a:avLst>
              <a:gd name="adj" fmla="val 8696"/>
            </a:avLst>
          </a:prstGeom>
          <a:solidFill>
            <a:srgbClr val="FFF0D6"/>
          </a:solidFill>
          <a:ln/>
        </p:spPr>
      </p:sp>
      <p:sp>
        <p:nvSpPr>
          <p:cNvPr id="32" name="Shape 29"/>
          <p:cNvSpPr/>
          <p:nvPr/>
        </p:nvSpPr>
        <p:spPr>
          <a:xfrm rot="5400000">
            <a:off x="7635240" y="4882896"/>
            <a:ext cx="137160" cy="137160"/>
          </a:xfrm>
          <a:prstGeom prst="triangle">
            <a:avLst/>
          </a:prstGeom>
          <a:solidFill>
            <a:srgbClr val="FF9900"/>
          </a:solidFill>
          <a:ln/>
        </p:spPr>
      </p:sp>
      <p:sp>
        <p:nvSpPr>
          <p:cNvPr id="33" name="Text 30"/>
          <p:cNvSpPr/>
          <p:nvPr/>
        </p:nvSpPr>
        <p:spPr>
          <a:xfrm>
            <a:off x="7891272" y="4791456"/>
            <a:ext cx="3386023" cy="274320"/>
          </a:xfrm>
          <a:prstGeom prst="rect">
            <a:avLst/>
          </a:prstGeom>
          <a:noFill/>
          <a:ln/>
        </p:spPr>
        <p:txBody>
          <a:bodyPr wrap="square" lIns="0" tIns="0" rIns="0" bIns="0" rtlCol="0" anchor="ctr"/>
          <a:lstStyle/>
          <a:p>
            <a:pPr indent="0" marL="0">
              <a:buNone/>
            </a:pPr>
            <a:r>
              <a:rPr lang="en-US" sz="1000" dirty="0">
                <a:solidFill>
                  <a:srgbClr val="131A22"/>
                </a:solidFill>
                <a:latin typeface="Poppins SemiBold" pitchFamily="34" charset="0"/>
                <a:ea typeface="Poppins SemiBold" pitchFamily="34" charset="-122"/>
                <a:cs typeface="Poppins SemiBold" pitchFamily="34" charset="-120"/>
              </a:rPr>
              <a:t>Custos menores</a:t>
            </a:r>
            <a:endParaRPr lang="en-US" sz="1000" dirty="0"/>
          </a:p>
        </p:txBody>
      </p:sp>
      <p:sp>
        <p:nvSpPr>
          <p:cNvPr id="34" name="Text 31"/>
          <p:cNvSpPr/>
          <p:nvPr/>
        </p:nvSpPr>
        <p:spPr>
          <a:xfrm>
            <a:off x="7891272" y="5065776"/>
            <a:ext cx="3386023" cy="438912"/>
          </a:xfrm>
          <a:prstGeom prst="rect">
            <a:avLst/>
          </a:prstGeom>
          <a:noFill/>
          <a:ln/>
        </p:spPr>
        <p:txBody>
          <a:bodyPr wrap="square" lIns="0" tIns="0" rIns="0" bIns="0" rtlCol="0" anchor="t"/>
          <a:lstStyle/>
          <a:p>
            <a:pPr indent="0" marL="0">
              <a:lnSpc>
                <a:spcPct val="112000"/>
              </a:lnSpc>
              <a:buNone/>
            </a:pPr>
            <a:r>
              <a:rPr lang="en-US" sz="800" dirty="0">
                <a:solidFill>
                  <a:srgbClr val="6C7683"/>
                </a:solidFill>
                <a:latin typeface="Poppins" pitchFamily="34" charset="0"/>
                <a:ea typeface="Poppins" pitchFamily="34" charset="-122"/>
                <a:cs typeface="Poppins" pitchFamily="34" charset="-120"/>
              </a:rPr>
              <a:t>Escala dilui custo fixo e permite preços menores — girando o ciclo</a:t>
            </a:r>
            <a:endParaRPr lang="en-US" sz="800" dirty="0"/>
          </a:p>
        </p:txBody>
      </p:sp>
      <p:sp>
        <p:nvSpPr>
          <p:cNvPr id="35" name="Shape 32"/>
          <p:cNvSpPr/>
          <p:nvPr/>
        </p:nvSpPr>
        <p:spPr>
          <a:xfrm>
            <a:off x="0" y="6172200"/>
            <a:ext cx="12191695" cy="685800"/>
          </a:xfrm>
          <a:prstGeom prst="rect">
            <a:avLst/>
          </a:prstGeom>
          <a:solidFill>
            <a:srgbClr val="131A22"/>
          </a:solidFill>
          <a:ln/>
        </p:spPr>
      </p:sp>
      <p:sp>
        <p:nvSpPr>
          <p:cNvPr id="36" name="Shape 33"/>
          <p:cNvSpPr/>
          <p:nvPr/>
        </p:nvSpPr>
        <p:spPr>
          <a:xfrm>
            <a:off x="0" y="6172200"/>
            <a:ext cx="118872" cy="685800"/>
          </a:xfrm>
          <a:prstGeom prst="rect">
            <a:avLst/>
          </a:prstGeom>
          <a:solidFill>
            <a:srgbClr val="FF9900"/>
          </a:solidFill>
          <a:ln/>
        </p:spPr>
      </p:sp>
      <p:sp>
        <p:nvSpPr>
          <p:cNvPr id="37" name="Text 34"/>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Cada volta do ciclo </a:t>
            </a:r>
            <a:pPr algn="ctr" indent="0" marL="0">
              <a:buNone/>
            </a:pPr>
            <a:r>
              <a:rPr lang="en-US" sz="1200" dirty="0">
                <a:solidFill>
                  <a:srgbClr val="FF9900"/>
                </a:solidFill>
                <a:latin typeface="Poppins SemiBold" pitchFamily="34" charset="0"/>
                <a:ea typeface="Poppins SemiBold" pitchFamily="34" charset="-122"/>
                <a:cs typeface="Poppins SemiBold" pitchFamily="34" charset="-120"/>
              </a:rPr>
              <a:t>reforça a próxima</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 o modelo compõe vantagem com escala</a:t>
            </a:r>
            <a:endParaRPr lang="en-US" sz="1200" dirty="0"/>
          </a:p>
        </p:txBody>
      </p:sp>
      <p:pic>
        <p:nvPicPr>
          <p:cNvPr id="38"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39" name="Text 35"/>
          <p:cNvSpPr/>
          <p:nvPr/>
        </p:nvSpPr>
        <p:spPr>
          <a:xfrm>
            <a:off x="1097280" y="6405372"/>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5</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325880" cy="310896"/>
          </a:xfrm>
          <a:prstGeom prst="roundRect">
            <a:avLst>
              <a:gd name="adj" fmla="val 25000"/>
            </a:avLst>
          </a:prstGeom>
          <a:solidFill>
            <a:srgbClr val="FFF0D6"/>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Um mercado estrutural para o e-commerce brasileiro</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Drivers de longo prazo sustentam a digitalização do varejo no Brasil</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imprensa e dados setoriais públicos; dimensionamento a desenvolver. Demonstração ilustrativa — fontes públicas (relatórios anuais, imprensa); dados Brasil não divulgados marcados [TBC].</a:t>
            </a:r>
            <a:endParaRPr lang="en-US" sz="700" dirty="0"/>
          </a:p>
        </p:txBody>
      </p:sp>
      <p:sp>
        <p:nvSpPr>
          <p:cNvPr id="8" name="Shape 5"/>
          <p:cNvSpPr/>
          <p:nvPr/>
        </p:nvSpPr>
        <p:spPr>
          <a:xfrm>
            <a:off x="731520" y="1828800"/>
            <a:ext cx="2517572" cy="3127248"/>
          </a:xfrm>
          <a:prstGeom prst="roundRect">
            <a:avLst>
              <a:gd name="adj" fmla="val 3269"/>
            </a:avLst>
          </a:prstGeom>
          <a:solidFill>
            <a:srgbClr val="F4F6F8"/>
          </a:solidFill>
          <a:ln w="12700">
            <a:solidFill>
              <a:srgbClr val="E2E6EB"/>
            </a:solidFill>
            <a:prstDash val="solid"/>
          </a:ln>
        </p:spPr>
      </p:sp>
      <p:sp>
        <p:nvSpPr>
          <p:cNvPr id="9" name="Shape 6"/>
          <p:cNvSpPr/>
          <p:nvPr/>
        </p:nvSpPr>
        <p:spPr>
          <a:xfrm>
            <a:off x="731520" y="1828800"/>
            <a:ext cx="2517572" cy="41148"/>
          </a:xfrm>
          <a:prstGeom prst="rect">
            <a:avLst/>
          </a:prstGeom>
          <a:solidFill>
            <a:srgbClr val="FF9900"/>
          </a:solidFill>
          <a:ln/>
        </p:spPr>
      </p:sp>
      <p:sp>
        <p:nvSpPr>
          <p:cNvPr id="10" name="Text 7"/>
          <p:cNvSpPr/>
          <p:nvPr/>
        </p:nvSpPr>
        <p:spPr>
          <a:xfrm>
            <a:off x="932688" y="2029968"/>
            <a:ext cx="914400" cy="365760"/>
          </a:xfrm>
          <a:prstGeom prst="rect">
            <a:avLst/>
          </a:prstGeom>
          <a:noFill/>
          <a:ln/>
        </p:spPr>
        <p:txBody>
          <a:bodyPr wrap="square" lIns="0" tIns="0" rIns="0" bIns="0" rtlCol="0" anchor="ctr"/>
          <a:lstStyle/>
          <a:p>
            <a:pPr indent="0" marL="0">
              <a:buNone/>
            </a:pPr>
            <a:r>
              <a:rPr lang="en-US" sz="2000" dirty="0">
                <a:solidFill>
                  <a:srgbClr val="FF9900"/>
                </a:solidFill>
                <a:latin typeface="Poppins SemiBold" pitchFamily="34" charset="0"/>
                <a:ea typeface="Poppins SemiBold" pitchFamily="34" charset="-122"/>
                <a:cs typeface="Poppins SemiBold" pitchFamily="34" charset="-120"/>
              </a:rPr>
              <a:t>01</a:t>
            </a:r>
            <a:endParaRPr lang="en-US" sz="2000" dirty="0"/>
          </a:p>
        </p:txBody>
      </p:sp>
      <p:sp>
        <p:nvSpPr>
          <p:cNvPr id="11" name="Text 8"/>
          <p:cNvSpPr/>
          <p:nvPr/>
        </p:nvSpPr>
        <p:spPr>
          <a:xfrm>
            <a:off x="932688" y="2487168"/>
            <a:ext cx="2115236" cy="566928"/>
          </a:xfrm>
          <a:prstGeom prst="rect">
            <a:avLst/>
          </a:prstGeom>
          <a:noFill/>
          <a:ln/>
        </p:spPr>
        <p:txBody>
          <a:bodyPr wrap="square" lIns="0" tIns="0" rIns="0" bIns="0" rtlCol="0" anchor="t"/>
          <a:lstStyle/>
          <a:p>
            <a:pPr indent="0" marL="0">
              <a:lnSpc>
                <a:spcPct val="110000"/>
              </a:lnSpc>
              <a:buNone/>
            </a:pPr>
            <a:r>
              <a:rPr lang="en-US" sz="1000" dirty="0">
                <a:solidFill>
                  <a:srgbClr val="131A22"/>
                </a:solidFill>
                <a:latin typeface="Poppins SemiBold" pitchFamily="34" charset="0"/>
                <a:ea typeface="Poppins SemiBold" pitchFamily="34" charset="-122"/>
                <a:cs typeface="Poppins SemiBold" pitchFamily="34" charset="-120"/>
              </a:rPr>
              <a:t>Penetração digital em expansão</a:t>
            </a:r>
            <a:endParaRPr lang="en-US" sz="1000" dirty="0"/>
          </a:p>
        </p:txBody>
      </p:sp>
      <p:sp>
        <p:nvSpPr>
          <p:cNvPr id="12" name="Text 9"/>
          <p:cNvSpPr/>
          <p:nvPr/>
        </p:nvSpPr>
        <p:spPr>
          <a:xfrm>
            <a:off x="932688" y="3108960"/>
            <a:ext cx="2115236" cy="1700784"/>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O e-commerce ainda responde por fração minoritária do varejo total brasileiro, com espaço estrutural de conversão do físico para o digital</a:t>
            </a:r>
            <a:endParaRPr lang="en-US" sz="800" dirty="0"/>
          </a:p>
        </p:txBody>
      </p:sp>
      <p:sp>
        <p:nvSpPr>
          <p:cNvPr id="13" name="Shape 10"/>
          <p:cNvSpPr/>
          <p:nvPr/>
        </p:nvSpPr>
        <p:spPr>
          <a:xfrm>
            <a:off x="3468548" y="1828800"/>
            <a:ext cx="2517572" cy="3127248"/>
          </a:xfrm>
          <a:prstGeom prst="roundRect">
            <a:avLst>
              <a:gd name="adj" fmla="val 3269"/>
            </a:avLst>
          </a:prstGeom>
          <a:solidFill>
            <a:srgbClr val="F4F6F8"/>
          </a:solidFill>
          <a:ln w="12700">
            <a:solidFill>
              <a:srgbClr val="E2E6EB"/>
            </a:solidFill>
            <a:prstDash val="solid"/>
          </a:ln>
        </p:spPr>
      </p:sp>
      <p:sp>
        <p:nvSpPr>
          <p:cNvPr id="14" name="Shape 11"/>
          <p:cNvSpPr/>
          <p:nvPr/>
        </p:nvSpPr>
        <p:spPr>
          <a:xfrm>
            <a:off x="3468548" y="1828800"/>
            <a:ext cx="2517572" cy="41148"/>
          </a:xfrm>
          <a:prstGeom prst="rect">
            <a:avLst/>
          </a:prstGeom>
          <a:solidFill>
            <a:srgbClr val="FF9900"/>
          </a:solidFill>
          <a:ln/>
        </p:spPr>
      </p:sp>
      <p:sp>
        <p:nvSpPr>
          <p:cNvPr id="15" name="Text 12"/>
          <p:cNvSpPr/>
          <p:nvPr/>
        </p:nvSpPr>
        <p:spPr>
          <a:xfrm>
            <a:off x="3669716" y="2029968"/>
            <a:ext cx="914400" cy="365760"/>
          </a:xfrm>
          <a:prstGeom prst="rect">
            <a:avLst/>
          </a:prstGeom>
          <a:noFill/>
          <a:ln/>
        </p:spPr>
        <p:txBody>
          <a:bodyPr wrap="square" lIns="0" tIns="0" rIns="0" bIns="0" rtlCol="0" anchor="ctr"/>
          <a:lstStyle/>
          <a:p>
            <a:pPr indent="0" marL="0">
              <a:buNone/>
            </a:pPr>
            <a:r>
              <a:rPr lang="en-US" sz="2000" dirty="0">
                <a:solidFill>
                  <a:srgbClr val="FF9900"/>
                </a:solidFill>
                <a:latin typeface="Poppins SemiBold" pitchFamily="34" charset="0"/>
                <a:ea typeface="Poppins SemiBold" pitchFamily="34" charset="-122"/>
                <a:cs typeface="Poppins SemiBold" pitchFamily="34" charset="-120"/>
              </a:rPr>
              <a:t>02</a:t>
            </a:r>
            <a:endParaRPr lang="en-US" sz="2000" dirty="0"/>
          </a:p>
        </p:txBody>
      </p:sp>
      <p:sp>
        <p:nvSpPr>
          <p:cNvPr id="16" name="Text 13"/>
          <p:cNvSpPr/>
          <p:nvPr/>
        </p:nvSpPr>
        <p:spPr>
          <a:xfrm>
            <a:off x="3669716" y="2487168"/>
            <a:ext cx="2115236" cy="566928"/>
          </a:xfrm>
          <a:prstGeom prst="rect">
            <a:avLst/>
          </a:prstGeom>
          <a:noFill/>
          <a:ln/>
        </p:spPr>
        <p:txBody>
          <a:bodyPr wrap="square" lIns="0" tIns="0" rIns="0" bIns="0" rtlCol="0" anchor="t"/>
          <a:lstStyle/>
          <a:p>
            <a:pPr indent="0" marL="0">
              <a:lnSpc>
                <a:spcPct val="110000"/>
              </a:lnSpc>
              <a:buNone/>
            </a:pPr>
            <a:r>
              <a:rPr lang="en-US" sz="1000" dirty="0">
                <a:solidFill>
                  <a:srgbClr val="131A22"/>
                </a:solidFill>
                <a:latin typeface="Poppins SemiBold" pitchFamily="34" charset="0"/>
                <a:ea typeface="Poppins SemiBold" pitchFamily="34" charset="-122"/>
                <a:cs typeface="Poppins SemiBold" pitchFamily="34" charset="-120"/>
              </a:rPr>
              <a:t>Logística continental</a:t>
            </a:r>
            <a:endParaRPr lang="en-US" sz="1000" dirty="0"/>
          </a:p>
        </p:txBody>
      </p:sp>
      <p:sp>
        <p:nvSpPr>
          <p:cNvPr id="17" name="Text 14"/>
          <p:cNvSpPr/>
          <p:nvPr/>
        </p:nvSpPr>
        <p:spPr>
          <a:xfrm>
            <a:off x="3669716" y="3108960"/>
            <a:ext cx="2115236" cy="1700784"/>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Dimensão territorial e malha complexa favorecem quem tem rede própria de distribuição e densidade de entrega</a:t>
            </a:r>
            <a:endParaRPr lang="en-US" sz="800" dirty="0"/>
          </a:p>
        </p:txBody>
      </p:sp>
      <p:sp>
        <p:nvSpPr>
          <p:cNvPr id="18" name="Shape 15"/>
          <p:cNvSpPr/>
          <p:nvPr/>
        </p:nvSpPr>
        <p:spPr>
          <a:xfrm>
            <a:off x="6205576" y="1828800"/>
            <a:ext cx="2517572" cy="3127248"/>
          </a:xfrm>
          <a:prstGeom prst="roundRect">
            <a:avLst>
              <a:gd name="adj" fmla="val 3269"/>
            </a:avLst>
          </a:prstGeom>
          <a:solidFill>
            <a:srgbClr val="F4F6F8"/>
          </a:solidFill>
          <a:ln w="12700">
            <a:solidFill>
              <a:srgbClr val="E2E6EB"/>
            </a:solidFill>
            <a:prstDash val="solid"/>
          </a:ln>
        </p:spPr>
      </p:sp>
      <p:sp>
        <p:nvSpPr>
          <p:cNvPr id="19" name="Shape 16"/>
          <p:cNvSpPr/>
          <p:nvPr/>
        </p:nvSpPr>
        <p:spPr>
          <a:xfrm>
            <a:off x="6205576" y="1828800"/>
            <a:ext cx="2517572" cy="41148"/>
          </a:xfrm>
          <a:prstGeom prst="rect">
            <a:avLst/>
          </a:prstGeom>
          <a:solidFill>
            <a:srgbClr val="FF9900"/>
          </a:solidFill>
          <a:ln/>
        </p:spPr>
      </p:sp>
      <p:sp>
        <p:nvSpPr>
          <p:cNvPr id="20" name="Text 17"/>
          <p:cNvSpPr/>
          <p:nvPr/>
        </p:nvSpPr>
        <p:spPr>
          <a:xfrm>
            <a:off x="6406744" y="2029968"/>
            <a:ext cx="914400" cy="365760"/>
          </a:xfrm>
          <a:prstGeom prst="rect">
            <a:avLst/>
          </a:prstGeom>
          <a:noFill/>
          <a:ln/>
        </p:spPr>
        <p:txBody>
          <a:bodyPr wrap="square" lIns="0" tIns="0" rIns="0" bIns="0" rtlCol="0" anchor="ctr"/>
          <a:lstStyle/>
          <a:p>
            <a:pPr indent="0" marL="0">
              <a:buNone/>
            </a:pPr>
            <a:r>
              <a:rPr lang="en-US" sz="2000" dirty="0">
                <a:solidFill>
                  <a:srgbClr val="FF9900"/>
                </a:solidFill>
                <a:latin typeface="Poppins SemiBold" pitchFamily="34" charset="0"/>
                <a:ea typeface="Poppins SemiBold" pitchFamily="34" charset="-122"/>
                <a:cs typeface="Poppins SemiBold" pitchFamily="34" charset="-120"/>
              </a:rPr>
              <a:t>03</a:t>
            </a:r>
            <a:endParaRPr lang="en-US" sz="2000" dirty="0"/>
          </a:p>
        </p:txBody>
      </p:sp>
      <p:sp>
        <p:nvSpPr>
          <p:cNvPr id="21" name="Text 18"/>
          <p:cNvSpPr/>
          <p:nvPr/>
        </p:nvSpPr>
        <p:spPr>
          <a:xfrm>
            <a:off x="6406744" y="2487168"/>
            <a:ext cx="2115236" cy="566928"/>
          </a:xfrm>
          <a:prstGeom prst="rect">
            <a:avLst/>
          </a:prstGeom>
          <a:noFill/>
          <a:ln/>
        </p:spPr>
        <p:txBody>
          <a:bodyPr wrap="square" lIns="0" tIns="0" rIns="0" bIns="0" rtlCol="0" anchor="t"/>
          <a:lstStyle/>
          <a:p>
            <a:pPr indent="0" marL="0">
              <a:lnSpc>
                <a:spcPct val="110000"/>
              </a:lnSpc>
              <a:buNone/>
            </a:pPr>
            <a:r>
              <a:rPr lang="en-US" sz="1000" dirty="0">
                <a:solidFill>
                  <a:srgbClr val="131A22"/>
                </a:solidFill>
                <a:latin typeface="Poppins SemiBold" pitchFamily="34" charset="0"/>
                <a:ea typeface="Poppins SemiBold" pitchFamily="34" charset="-122"/>
                <a:cs typeface="Poppins SemiBold" pitchFamily="34" charset="-120"/>
              </a:rPr>
              <a:t>Pagamentos instantâneos</a:t>
            </a:r>
            <a:endParaRPr lang="en-US" sz="1000" dirty="0"/>
          </a:p>
        </p:txBody>
      </p:sp>
      <p:sp>
        <p:nvSpPr>
          <p:cNvPr id="22" name="Text 19"/>
          <p:cNvSpPr/>
          <p:nvPr/>
        </p:nvSpPr>
        <p:spPr>
          <a:xfrm>
            <a:off x="6406744" y="3108960"/>
            <a:ext cx="2115236" cy="1700784"/>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Pix e parcelamento ampliaram o acesso à compra online em todas as classes de renda</a:t>
            </a:r>
            <a:endParaRPr lang="en-US" sz="800" dirty="0"/>
          </a:p>
        </p:txBody>
      </p:sp>
      <p:sp>
        <p:nvSpPr>
          <p:cNvPr id="23" name="Shape 20"/>
          <p:cNvSpPr/>
          <p:nvPr/>
        </p:nvSpPr>
        <p:spPr>
          <a:xfrm>
            <a:off x="8942603" y="1828800"/>
            <a:ext cx="2517572" cy="3127248"/>
          </a:xfrm>
          <a:prstGeom prst="roundRect">
            <a:avLst>
              <a:gd name="adj" fmla="val 3269"/>
            </a:avLst>
          </a:prstGeom>
          <a:solidFill>
            <a:srgbClr val="F4F6F8"/>
          </a:solidFill>
          <a:ln w="12700">
            <a:solidFill>
              <a:srgbClr val="E2E6EB"/>
            </a:solidFill>
            <a:prstDash val="solid"/>
          </a:ln>
        </p:spPr>
      </p:sp>
      <p:sp>
        <p:nvSpPr>
          <p:cNvPr id="24" name="Shape 21"/>
          <p:cNvSpPr/>
          <p:nvPr/>
        </p:nvSpPr>
        <p:spPr>
          <a:xfrm>
            <a:off x="8942603" y="1828800"/>
            <a:ext cx="2517572" cy="41148"/>
          </a:xfrm>
          <a:prstGeom prst="rect">
            <a:avLst/>
          </a:prstGeom>
          <a:solidFill>
            <a:srgbClr val="FF9900"/>
          </a:solidFill>
          <a:ln/>
        </p:spPr>
      </p:sp>
      <p:sp>
        <p:nvSpPr>
          <p:cNvPr id="25" name="Text 22"/>
          <p:cNvSpPr/>
          <p:nvPr/>
        </p:nvSpPr>
        <p:spPr>
          <a:xfrm>
            <a:off x="9143771" y="2029968"/>
            <a:ext cx="914400" cy="365760"/>
          </a:xfrm>
          <a:prstGeom prst="rect">
            <a:avLst/>
          </a:prstGeom>
          <a:noFill/>
          <a:ln/>
        </p:spPr>
        <p:txBody>
          <a:bodyPr wrap="square" lIns="0" tIns="0" rIns="0" bIns="0" rtlCol="0" anchor="ctr"/>
          <a:lstStyle/>
          <a:p>
            <a:pPr indent="0" marL="0">
              <a:buNone/>
            </a:pPr>
            <a:r>
              <a:rPr lang="en-US" sz="2000" dirty="0">
                <a:solidFill>
                  <a:srgbClr val="FF9900"/>
                </a:solidFill>
                <a:latin typeface="Poppins SemiBold" pitchFamily="34" charset="0"/>
                <a:ea typeface="Poppins SemiBold" pitchFamily="34" charset="-122"/>
                <a:cs typeface="Poppins SemiBold" pitchFamily="34" charset="-120"/>
              </a:rPr>
              <a:t>04</a:t>
            </a:r>
            <a:endParaRPr lang="en-US" sz="2000" dirty="0"/>
          </a:p>
        </p:txBody>
      </p:sp>
      <p:sp>
        <p:nvSpPr>
          <p:cNvPr id="26" name="Text 23"/>
          <p:cNvSpPr/>
          <p:nvPr/>
        </p:nvSpPr>
        <p:spPr>
          <a:xfrm>
            <a:off x="9143771" y="2487168"/>
            <a:ext cx="2115236" cy="566928"/>
          </a:xfrm>
          <a:prstGeom prst="rect">
            <a:avLst/>
          </a:prstGeom>
          <a:noFill/>
          <a:ln/>
        </p:spPr>
        <p:txBody>
          <a:bodyPr wrap="square" lIns="0" tIns="0" rIns="0" bIns="0" rtlCol="0" anchor="t"/>
          <a:lstStyle/>
          <a:p>
            <a:pPr indent="0" marL="0">
              <a:lnSpc>
                <a:spcPct val="110000"/>
              </a:lnSpc>
              <a:buNone/>
            </a:pPr>
            <a:r>
              <a:rPr lang="en-US" sz="1000" dirty="0">
                <a:solidFill>
                  <a:srgbClr val="131A22"/>
                </a:solidFill>
                <a:latin typeface="Poppins SemiBold" pitchFamily="34" charset="0"/>
                <a:ea typeface="Poppins SemiBold" pitchFamily="34" charset="-122"/>
                <a:cs typeface="Poppins SemiBold" pitchFamily="34" charset="-120"/>
              </a:rPr>
              <a:t>Consumo fora das capitais</a:t>
            </a:r>
            <a:endParaRPr lang="en-US" sz="1000" dirty="0"/>
          </a:p>
        </p:txBody>
      </p:sp>
      <p:sp>
        <p:nvSpPr>
          <p:cNvPr id="27" name="Text 24"/>
          <p:cNvSpPr/>
          <p:nvPr/>
        </p:nvSpPr>
        <p:spPr>
          <a:xfrm>
            <a:off x="9143771" y="3108960"/>
            <a:ext cx="2115236" cy="1700784"/>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A interiorização da demanda premia plataformas com alcance nacional e promessa de prazo confiável</a:t>
            </a:r>
            <a:endParaRPr lang="en-US" sz="800" dirty="0"/>
          </a:p>
        </p:txBody>
      </p:sp>
      <p:sp>
        <p:nvSpPr>
          <p:cNvPr id="28" name="Text 25"/>
          <p:cNvSpPr/>
          <p:nvPr/>
        </p:nvSpPr>
        <p:spPr>
          <a:xfrm>
            <a:off x="731520" y="5230368"/>
            <a:ext cx="10728655" cy="274320"/>
          </a:xfrm>
          <a:prstGeom prst="rect">
            <a:avLst/>
          </a:prstGeom>
          <a:noFill/>
          <a:ln/>
        </p:spPr>
        <p:txBody>
          <a:bodyPr wrap="square" lIns="0" tIns="0" rIns="0" bIns="0" rtlCol="0" anchor="ctr"/>
          <a:lstStyle/>
          <a:p>
            <a:pPr algn="ctr" indent="0" marL="0">
              <a:buNone/>
            </a:pPr>
            <a:r>
              <a:rPr lang="en-US" sz="900" i="1" dirty="0">
                <a:solidFill>
                  <a:srgbClr val="9AA3AD"/>
                </a:solidFill>
                <a:latin typeface="Poppins" pitchFamily="34" charset="0"/>
                <a:ea typeface="Poppins" pitchFamily="34" charset="-122"/>
                <a:cs typeface="Poppins" pitchFamily="34" charset="-120"/>
              </a:rPr>
              <a:t>[Dimensionamento de mercado — TAM, penetração e share por categoria — a desenvolver com dados setoriais]</a:t>
            </a:r>
            <a:endParaRPr lang="en-US" sz="900" dirty="0"/>
          </a:p>
        </p:txBody>
      </p:sp>
      <p:sp>
        <p:nvSpPr>
          <p:cNvPr id="29" name="Shape 26"/>
          <p:cNvSpPr/>
          <p:nvPr/>
        </p:nvSpPr>
        <p:spPr>
          <a:xfrm>
            <a:off x="0" y="6172200"/>
            <a:ext cx="12191695" cy="685800"/>
          </a:xfrm>
          <a:prstGeom prst="rect">
            <a:avLst/>
          </a:prstGeom>
          <a:solidFill>
            <a:srgbClr val="131A22"/>
          </a:solidFill>
          <a:ln/>
        </p:spPr>
      </p:sp>
      <p:sp>
        <p:nvSpPr>
          <p:cNvPr id="30" name="Shape 27"/>
          <p:cNvSpPr/>
          <p:nvPr/>
        </p:nvSpPr>
        <p:spPr>
          <a:xfrm>
            <a:off x="0" y="6172200"/>
            <a:ext cx="118872" cy="685800"/>
          </a:xfrm>
          <a:prstGeom prst="rect">
            <a:avLst/>
          </a:prstGeom>
          <a:solidFill>
            <a:srgbClr val="FF9900"/>
          </a:solidFill>
          <a:ln/>
        </p:spPr>
      </p:sp>
      <p:sp>
        <p:nvSpPr>
          <p:cNvPr id="31" name="Text 28"/>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Drivers </a:t>
            </a:r>
            <a:pPr algn="ctr" indent="0" marL="0">
              <a:buNone/>
            </a:pPr>
            <a:r>
              <a:rPr lang="en-US" sz="1200" dirty="0">
                <a:solidFill>
                  <a:srgbClr val="FF9900"/>
                </a:solidFill>
                <a:latin typeface="Poppins SemiBold" pitchFamily="34" charset="0"/>
                <a:ea typeface="Poppins SemiBold" pitchFamily="34" charset="-122"/>
                <a:cs typeface="Poppins SemiBold" pitchFamily="34" charset="-120"/>
              </a:rPr>
              <a:t>estruturais, não cíclicos</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 digitalização, logística e pagamentos</a:t>
            </a:r>
            <a:endParaRPr lang="en-US" sz="1200" dirty="0"/>
          </a:p>
        </p:txBody>
      </p:sp>
      <p:pic>
        <p:nvPicPr>
          <p:cNvPr id="32"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33" name="Text 29"/>
          <p:cNvSpPr/>
          <p:nvPr/>
        </p:nvSpPr>
        <p:spPr>
          <a:xfrm>
            <a:off x="1097280" y="6405372"/>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6</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A22"/>
        </a:solidFill>
      </p:bgPr>
    </p:bg>
    <p:spTree>
      <p:nvGrpSpPr>
        <p:cNvPr id="1" name=""/>
        <p:cNvGrpSpPr/>
        <p:nvPr/>
      </p:nvGrpSpPr>
      <p:grpSpPr>
        <a:xfrm>
          <a:off x="0" y="0"/>
          <a:ext cx="0" cy="0"/>
          <a:chOff x="0" y="0"/>
          <a:chExt cx="0" cy="0"/>
        </a:xfrm>
      </p:grpSpPr>
      <p:pic>
        <p:nvPicPr>
          <p:cNvPr id="2" name="Image 0" descr="assets/demo_amz/toc_panel.png">    </p:cNvPr>
          <p:cNvPicPr>
            <a:picLocks noChangeAspect="1"/>
          </p:cNvPicPr>
          <p:nvPr/>
        </p:nvPicPr>
        <p:blipFill>
          <a:blip r:embed="rId1"/>
          <a:srcRect l="0" r="0" t="0" b="0"/>
          <a:stretch/>
        </p:blipFill>
        <p:spPr>
          <a:xfrm>
            <a:off x="6858000" y="0"/>
            <a:ext cx="5333695" cy="6858000"/>
          </a:xfrm>
          <a:prstGeom prst="rect">
            <a:avLst/>
          </a:prstGeom>
        </p:spPr>
      </p:pic>
      <p:sp>
        <p:nvSpPr>
          <p:cNvPr id="3" name="Shape 0"/>
          <p:cNvSpPr/>
          <p:nvPr/>
        </p:nvSpPr>
        <p:spPr>
          <a:xfrm>
            <a:off x="6858000" y="0"/>
            <a:ext cx="5333695" cy="6858000"/>
          </a:xfrm>
          <a:prstGeom prst="rect">
            <a:avLst/>
          </a:prstGeom>
          <a:solidFill>
            <a:srgbClr val="131A22">
              <a:alpha val="42000"/>
            </a:srgbClr>
          </a:solidFill>
          <a:ln/>
        </p:spPr>
      </p:sp>
      <p:sp>
        <p:nvSpPr>
          <p:cNvPr id="4" name="Shape 1"/>
          <p:cNvSpPr/>
          <p:nvPr/>
        </p:nvSpPr>
        <p:spPr>
          <a:xfrm>
            <a:off x="6858000" y="0"/>
            <a:ext cx="41148" cy="6858000"/>
          </a:xfrm>
          <a:prstGeom prst="rect">
            <a:avLst/>
          </a:prstGeom>
          <a:solidFill>
            <a:srgbClr val="FF9900"/>
          </a:solidFill>
          <a:ln/>
        </p:spPr>
      </p:sp>
      <p:sp>
        <p:nvSpPr>
          <p:cNvPr id="5"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6"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F9900"/>
                </a:solidFill>
                <a:latin typeface="Poppins SemiBold" pitchFamily="34" charset="0"/>
                <a:ea typeface="Poppins SemiBold" pitchFamily="34" charset="-122"/>
                <a:cs typeface="Poppins SemiBold" pitchFamily="34" charset="-120"/>
              </a:rPr>
              <a:t>Summary</a:t>
            </a:r>
            <a:endParaRPr lang="en-US" sz="3200" dirty="0"/>
          </a:p>
        </p:txBody>
      </p:sp>
      <p:sp>
        <p:nvSpPr>
          <p:cNvPr id="7" name="Shape 4"/>
          <p:cNvSpPr/>
          <p:nvPr/>
        </p:nvSpPr>
        <p:spPr>
          <a:xfrm>
            <a:off x="731520" y="2395728"/>
            <a:ext cx="1371600" cy="32004"/>
          </a:xfrm>
          <a:prstGeom prst="rect">
            <a:avLst/>
          </a:prstGeom>
          <a:solidFill>
            <a:srgbClr val="FF9900"/>
          </a:solidFill>
          <a:ln/>
        </p:spPr>
      </p:sp>
      <p:sp>
        <p:nvSpPr>
          <p:cNvPr id="8" name="Shape 5"/>
          <p:cNvSpPr/>
          <p:nvPr/>
        </p:nvSpPr>
        <p:spPr>
          <a:xfrm rot="5400000">
            <a:off x="749808" y="2871216"/>
            <a:ext cx="173736" cy="173736"/>
          </a:xfrm>
          <a:prstGeom prst="triangle">
            <a:avLst/>
          </a:prstGeom>
          <a:solidFill>
            <a:srgbClr val="4A5563"/>
          </a:solidFill>
          <a:ln/>
        </p:spPr>
      </p:sp>
      <p:sp>
        <p:nvSpPr>
          <p:cNvPr id="9"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INTRODUCTION</a:t>
            </a:r>
            <a:endParaRPr lang="en-US" sz="1100" dirty="0"/>
          </a:p>
        </p:txBody>
      </p:sp>
      <p:sp>
        <p:nvSpPr>
          <p:cNvPr id="10"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04</a:t>
            </a:r>
            <a:endParaRPr lang="en-US" sz="1200" dirty="0"/>
          </a:p>
        </p:txBody>
      </p:sp>
      <p:sp>
        <p:nvSpPr>
          <p:cNvPr id="11" name="Shape 8"/>
          <p:cNvSpPr/>
          <p:nvPr/>
        </p:nvSpPr>
        <p:spPr>
          <a:xfrm rot="5400000">
            <a:off x="749808" y="3593592"/>
            <a:ext cx="173736" cy="173736"/>
          </a:xfrm>
          <a:prstGeom prst="triangle">
            <a:avLst/>
          </a:prstGeom>
          <a:solidFill>
            <a:srgbClr val="FF9900"/>
          </a:solidFill>
          <a:ln/>
        </p:spPr>
      </p:sp>
      <p:sp>
        <p:nvSpPr>
          <p:cNvPr id="12"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INVESTMENT THESIS</a:t>
            </a:r>
            <a:endParaRPr lang="en-US" sz="1100" dirty="0"/>
          </a:p>
        </p:txBody>
      </p:sp>
      <p:sp>
        <p:nvSpPr>
          <p:cNvPr id="13"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FF9900"/>
                </a:solidFill>
                <a:latin typeface="Poppins Medium" pitchFamily="34" charset="0"/>
                <a:ea typeface="Poppins Medium" pitchFamily="34" charset="-122"/>
                <a:cs typeface="Poppins Medium" pitchFamily="34" charset="-120"/>
              </a:rPr>
              <a:t>08</a:t>
            </a:r>
            <a:endParaRPr lang="en-US" sz="1200" dirty="0"/>
          </a:p>
        </p:txBody>
      </p:sp>
      <p:sp>
        <p:nvSpPr>
          <p:cNvPr id="14" name="Shape 11"/>
          <p:cNvSpPr/>
          <p:nvPr/>
        </p:nvSpPr>
        <p:spPr>
          <a:xfrm rot="5400000">
            <a:off x="749808" y="4315968"/>
            <a:ext cx="173736" cy="173736"/>
          </a:xfrm>
          <a:prstGeom prst="triangle">
            <a:avLst/>
          </a:prstGeom>
          <a:solidFill>
            <a:srgbClr val="4A5563"/>
          </a:solidFill>
          <a:ln/>
        </p:spPr>
      </p:sp>
      <p:sp>
        <p:nvSpPr>
          <p:cNvPr id="15"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COMPANY OVERVIEW</a:t>
            </a:r>
            <a:endParaRPr lang="en-US" sz="1100" dirty="0"/>
          </a:p>
        </p:txBody>
      </p:sp>
      <p:sp>
        <p:nvSpPr>
          <p:cNvPr id="16"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13</a:t>
            </a:r>
            <a:endParaRPr lang="en-US" sz="1200" dirty="0"/>
          </a:p>
        </p:txBody>
      </p:sp>
      <p:sp>
        <p:nvSpPr>
          <p:cNvPr id="17" name="Shape 14"/>
          <p:cNvSpPr/>
          <p:nvPr/>
        </p:nvSpPr>
        <p:spPr>
          <a:xfrm rot="5400000">
            <a:off x="749808" y="5038344"/>
            <a:ext cx="173736" cy="173736"/>
          </a:xfrm>
          <a:prstGeom prst="triangle">
            <a:avLst/>
          </a:prstGeom>
          <a:solidFill>
            <a:srgbClr val="4A5563"/>
          </a:solidFill>
          <a:ln/>
        </p:spPr>
      </p:sp>
      <p:sp>
        <p:nvSpPr>
          <p:cNvPr id="18"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FINANCIAL HIGHLIGHTS</a:t>
            </a:r>
            <a:endParaRPr lang="en-US" sz="1100" dirty="0"/>
          </a:p>
        </p:txBody>
      </p:sp>
      <p:sp>
        <p:nvSpPr>
          <p:cNvPr id="19"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16</a:t>
            </a:r>
            <a:endParaRPr lang="en-US" sz="1200" dirty="0"/>
          </a:p>
        </p:txBody>
      </p:sp>
      <p:pic>
        <p:nvPicPr>
          <p:cNvPr id="20" name="Image 1" descr="assets/igc_white.png">    </p:cNvPr>
          <p:cNvPicPr>
            <a:picLocks noChangeAspect="1"/>
          </p:cNvPicPr>
          <p:nvPr/>
        </p:nvPicPr>
        <p:blipFill>
          <a:blip r:embed="rId2"/>
          <a:stretch>
            <a:fillRect/>
          </a:stretch>
        </p:blipFill>
        <p:spPr>
          <a:xfrm>
            <a:off x="10957255" y="384048"/>
            <a:ext cx="502920" cy="434746"/>
          </a:xfrm>
          <a:prstGeom prst="rect">
            <a:avLst/>
          </a:prstGeom>
        </p:spPr>
      </p:pic>
      <p:sp>
        <p:nvSpPr>
          <p:cNvPr id="21"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548994" cy="310896"/>
          </a:xfrm>
          <a:prstGeom prst="roundRect">
            <a:avLst>
              <a:gd name="adj" fmla="val 25000"/>
            </a:avLst>
          </a:prstGeom>
          <a:solidFill>
            <a:srgbClr val="FFF0D6"/>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Investment Thesis</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Por que Amazon Brasil</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Cinco pilares sustentam a tese de investimento</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framework ilustrativo sobre fontes públicas. Demonstração ilustrativa — fontes públicas (relatórios anuais, imprensa); dados Brasil não divulgados marcados [TBC].</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8</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810512"/>
            <a:ext cx="420624" cy="420624"/>
          </a:xfrm>
          <a:prstGeom prst="ellipse">
            <a:avLst/>
          </a:prstGeom>
          <a:solidFill>
            <a:srgbClr val="FF9900"/>
          </a:solidFill>
          <a:ln/>
        </p:spPr>
      </p:sp>
      <p:sp>
        <p:nvSpPr>
          <p:cNvPr id="11" name="Text 7"/>
          <p:cNvSpPr/>
          <p:nvPr/>
        </p:nvSpPr>
        <p:spPr>
          <a:xfrm>
            <a:off x="731520" y="181051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1</a:t>
            </a:r>
            <a:endParaRPr lang="en-US" sz="1400" dirty="0"/>
          </a:p>
        </p:txBody>
      </p:sp>
      <p:sp>
        <p:nvSpPr>
          <p:cNvPr id="12" name="Text 8"/>
          <p:cNvSpPr/>
          <p:nvPr/>
        </p:nvSpPr>
        <p:spPr>
          <a:xfrm>
            <a:off x="1335024" y="1737360"/>
            <a:ext cx="6949440" cy="676656"/>
          </a:xfrm>
          <a:prstGeom prst="rect">
            <a:avLst/>
          </a:prstGeom>
          <a:noFill/>
          <a:ln/>
        </p:spPr>
        <p:txBody>
          <a:bodyPr wrap="square" lIns="0" tIns="0" rIns="0" bIns="0" rtlCol="0" anchor="ctr"/>
          <a:lstStyle/>
          <a:p>
            <a:pPr indent="0" marL="0">
              <a:lnSpc>
                <a:spcPct val="116000"/>
              </a:lnSpc>
              <a:buNone/>
            </a:pPr>
            <a:r>
              <a:rPr lang="en-US" sz="900" dirty="0">
                <a:solidFill>
                  <a:srgbClr val="131A22"/>
                </a:solidFill>
                <a:latin typeface="Poppins SemiBold" pitchFamily="34" charset="0"/>
                <a:ea typeface="Poppins SemiBold" pitchFamily="34" charset="-122"/>
                <a:cs typeface="Poppins SemiBold" pitchFamily="34" charset="-120"/>
              </a:rPr>
              <a:t>Marca e escala globais a serviço da operação local</a:t>
            </a:r>
            <a:pPr indent="0" marL="0">
              <a:lnSpc>
                <a:spcPct val="116000"/>
              </a:lnSpc>
              <a:buNone/>
            </a:pPr>
            <a:r>
              <a:rPr lang="en-US" sz="900" dirty="0">
                <a:solidFill>
                  <a:srgbClr val="FF9900"/>
                </a:solidFill>
                <a:latin typeface="Poppins" pitchFamily="34" charset="0"/>
                <a:ea typeface="Poppins" pitchFamily="34" charset="-122"/>
                <a:cs typeface="Poppins" pitchFamily="34" charset="-120"/>
              </a:rPr>
              <a:t>  —  </a:t>
            </a:r>
            <a:pPr indent="0" marL="0">
              <a:lnSpc>
                <a:spcPct val="116000"/>
              </a:lnSpc>
              <a:buNone/>
            </a:pPr>
            <a:r>
              <a:rPr lang="en-US" sz="900" dirty="0">
                <a:solidFill>
                  <a:srgbClr val="6C7683"/>
                </a:solidFill>
                <a:latin typeface="Poppins" pitchFamily="34" charset="0"/>
                <a:ea typeface="Poppins" pitchFamily="34" charset="-122"/>
                <a:cs typeface="Poppins" pitchFamily="34" charset="-120"/>
              </a:rPr>
              <a:t>Infraestrutura, tecnologia e poder de compra globais aplicados ao varejo brasileiro</a:t>
            </a:r>
            <a:endParaRPr lang="en-US" sz="900" dirty="0"/>
          </a:p>
        </p:txBody>
      </p:sp>
      <p:sp>
        <p:nvSpPr>
          <p:cNvPr id="13" name="Shape 9"/>
          <p:cNvSpPr/>
          <p:nvPr/>
        </p:nvSpPr>
        <p:spPr>
          <a:xfrm>
            <a:off x="1335024" y="2450592"/>
            <a:ext cx="6949440" cy="9144"/>
          </a:xfrm>
          <a:prstGeom prst="rect">
            <a:avLst/>
          </a:prstGeom>
          <a:solidFill>
            <a:srgbClr val="E2E6EB"/>
          </a:solidFill>
          <a:ln/>
        </p:spPr>
      </p:sp>
      <p:sp>
        <p:nvSpPr>
          <p:cNvPr id="14" name="Shape 10"/>
          <p:cNvSpPr/>
          <p:nvPr/>
        </p:nvSpPr>
        <p:spPr>
          <a:xfrm>
            <a:off x="731520" y="2578608"/>
            <a:ext cx="420624" cy="420624"/>
          </a:xfrm>
          <a:prstGeom prst="ellipse">
            <a:avLst/>
          </a:prstGeom>
          <a:solidFill>
            <a:srgbClr val="FF9900"/>
          </a:solidFill>
          <a:ln/>
        </p:spPr>
      </p:sp>
      <p:sp>
        <p:nvSpPr>
          <p:cNvPr id="15" name="Text 11"/>
          <p:cNvSpPr/>
          <p:nvPr/>
        </p:nvSpPr>
        <p:spPr>
          <a:xfrm>
            <a:off x="731520" y="257860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2</a:t>
            </a:r>
            <a:endParaRPr lang="en-US" sz="1400" dirty="0"/>
          </a:p>
        </p:txBody>
      </p:sp>
      <p:sp>
        <p:nvSpPr>
          <p:cNvPr id="16" name="Text 12"/>
          <p:cNvSpPr/>
          <p:nvPr/>
        </p:nvSpPr>
        <p:spPr>
          <a:xfrm>
            <a:off x="1335024" y="2505456"/>
            <a:ext cx="6949440" cy="676656"/>
          </a:xfrm>
          <a:prstGeom prst="rect">
            <a:avLst/>
          </a:prstGeom>
          <a:noFill/>
          <a:ln/>
        </p:spPr>
        <p:txBody>
          <a:bodyPr wrap="square" lIns="0" tIns="0" rIns="0" bIns="0" rtlCol="0" anchor="ctr"/>
          <a:lstStyle/>
          <a:p>
            <a:pPr indent="0" marL="0">
              <a:lnSpc>
                <a:spcPct val="116000"/>
              </a:lnSpc>
              <a:buNone/>
            </a:pPr>
            <a:r>
              <a:rPr lang="en-US" sz="900" dirty="0">
                <a:solidFill>
                  <a:srgbClr val="131A22"/>
                </a:solidFill>
                <a:latin typeface="Poppins SemiBold" pitchFamily="34" charset="0"/>
                <a:ea typeface="Poppins SemiBold" pitchFamily="34" charset="-122"/>
                <a:cs typeface="Poppins SemiBold" pitchFamily="34" charset="-120"/>
              </a:rPr>
              <a:t>Receita recorrente ancorada no Prime</a:t>
            </a:r>
            <a:pPr indent="0" marL="0">
              <a:lnSpc>
                <a:spcPct val="116000"/>
              </a:lnSpc>
              <a:buNone/>
            </a:pPr>
            <a:r>
              <a:rPr lang="en-US" sz="900" dirty="0">
                <a:solidFill>
                  <a:srgbClr val="FF9900"/>
                </a:solidFill>
                <a:latin typeface="Poppins" pitchFamily="34" charset="0"/>
                <a:ea typeface="Poppins" pitchFamily="34" charset="-122"/>
                <a:cs typeface="Poppins" pitchFamily="34" charset="-120"/>
              </a:rPr>
              <a:t>  —  </a:t>
            </a:r>
            <a:pPr indent="0" marL="0">
              <a:lnSpc>
                <a:spcPct val="116000"/>
              </a:lnSpc>
              <a:buNone/>
            </a:pPr>
            <a:r>
              <a:rPr lang="en-US" sz="900" dirty="0">
                <a:solidFill>
                  <a:srgbClr val="6C7683"/>
                </a:solidFill>
                <a:latin typeface="Poppins" pitchFamily="34" charset="0"/>
                <a:ea typeface="Poppins" pitchFamily="34" charset="-122"/>
                <a:cs typeface="Poppins" pitchFamily="34" charset="-120"/>
              </a:rPr>
              <a:t>Assinatura consolida frete, vídeo e ofertas — elevando frequência e retenção</a:t>
            </a:r>
            <a:endParaRPr lang="en-US" sz="900" dirty="0"/>
          </a:p>
        </p:txBody>
      </p:sp>
      <p:sp>
        <p:nvSpPr>
          <p:cNvPr id="17" name="Shape 13"/>
          <p:cNvSpPr/>
          <p:nvPr/>
        </p:nvSpPr>
        <p:spPr>
          <a:xfrm>
            <a:off x="1335024" y="3218688"/>
            <a:ext cx="6949440" cy="9144"/>
          </a:xfrm>
          <a:prstGeom prst="rect">
            <a:avLst/>
          </a:prstGeom>
          <a:solidFill>
            <a:srgbClr val="E2E6EB"/>
          </a:solidFill>
          <a:ln/>
        </p:spPr>
      </p:sp>
      <p:sp>
        <p:nvSpPr>
          <p:cNvPr id="18" name="Shape 14"/>
          <p:cNvSpPr/>
          <p:nvPr/>
        </p:nvSpPr>
        <p:spPr>
          <a:xfrm>
            <a:off x="731520" y="3346704"/>
            <a:ext cx="420624" cy="420624"/>
          </a:xfrm>
          <a:prstGeom prst="ellipse">
            <a:avLst/>
          </a:prstGeom>
          <a:solidFill>
            <a:srgbClr val="FF9900"/>
          </a:solidFill>
          <a:ln/>
        </p:spPr>
      </p:sp>
      <p:sp>
        <p:nvSpPr>
          <p:cNvPr id="19" name="Text 15"/>
          <p:cNvSpPr/>
          <p:nvPr/>
        </p:nvSpPr>
        <p:spPr>
          <a:xfrm>
            <a:off x="731520" y="3346704"/>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3</a:t>
            </a:r>
            <a:endParaRPr lang="en-US" sz="1400" dirty="0"/>
          </a:p>
        </p:txBody>
      </p:sp>
      <p:sp>
        <p:nvSpPr>
          <p:cNvPr id="20" name="Text 16"/>
          <p:cNvSpPr/>
          <p:nvPr/>
        </p:nvSpPr>
        <p:spPr>
          <a:xfrm>
            <a:off x="1335024" y="3273552"/>
            <a:ext cx="6949440" cy="676656"/>
          </a:xfrm>
          <a:prstGeom prst="rect">
            <a:avLst/>
          </a:prstGeom>
          <a:noFill/>
          <a:ln/>
        </p:spPr>
        <p:txBody>
          <a:bodyPr wrap="square" lIns="0" tIns="0" rIns="0" bIns="0" rtlCol="0" anchor="ctr"/>
          <a:lstStyle/>
          <a:p>
            <a:pPr indent="0" marL="0">
              <a:lnSpc>
                <a:spcPct val="116000"/>
              </a:lnSpc>
              <a:buNone/>
            </a:pPr>
            <a:r>
              <a:rPr lang="en-US" sz="900" dirty="0">
                <a:solidFill>
                  <a:srgbClr val="131A22"/>
                </a:solidFill>
                <a:latin typeface="Poppins SemiBold" pitchFamily="34" charset="0"/>
                <a:ea typeface="Poppins SemiBold" pitchFamily="34" charset="-122"/>
                <a:cs typeface="Poppins SemiBold" pitchFamily="34" charset="-120"/>
              </a:rPr>
              <a:t>Rede logística própria difícil de replicar</a:t>
            </a:r>
            <a:pPr indent="0" marL="0">
              <a:lnSpc>
                <a:spcPct val="116000"/>
              </a:lnSpc>
              <a:buNone/>
            </a:pPr>
            <a:r>
              <a:rPr lang="en-US" sz="900" dirty="0">
                <a:solidFill>
                  <a:srgbClr val="FF9900"/>
                </a:solidFill>
                <a:latin typeface="Poppins" pitchFamily="34" charset="0"/>
                <a:ea typeface="Poppins" pitchFamily="34" charset="-122"/>
                <a:cs typeface="Poppins" pitchFamily="34" charset="-120"/>
              </a:rPr>
              <a:t>  —  </a:t>
            </a:r>
            <a:pPr indent="0" marL="0">
              <a:lnSpc>
                <a:spcPct val="116000"/>
              </a:lnSpc>
              <a:buNone/>
            </a:pPr>
            <a:r>
              <a:rPr lang="en-US" sz="900" dirty="0">
                <a:solidFill>
                  <a:srgbClr val="6C7683"/>
                </a:solidFill>
                <a:latin typeface="Poppins" pitchFamily="34" charset="0"/>
                <a:ea typeface="Poppins" pitchFamily="34" charset="-122"/>
                <a:cs typeface="Poppins" pitchFamily="34" charset="-120"/>
              </a:rPr>
              <a:t>Centros de distribuição e estações de entrega com densidade crescente e same-day nas capitais</a:t>
            </a:r>
            <a:endParaRPr lang="en-US" sz="900" dirty="0"/>
          </a:p>
        </p:txBody>
      </p:sp>
      <p:sp>
        <p:nvSpPr>
          <p:cNvPr id="21" name="Shape 17"/>
          <p:cNvSpPr/>
          <p:nvPr/>
        </p:nvSpPr>
        <p:spPr>
          <a:xfrm>
            <a:off x="1335024" y="3986784"/>
            <a:ext cx="6949440" cy="9144"/>
          </a:xfrm>
          <a:prstGeom prst="rect">
            <a:avLst/>
          </a:prstGeom>
          <a:solidFill>
            <a:srgbClr val="E2E6EB"/>
          </a:solidFill>
          <a:ln/>
        </p:spPr>
      </p:sp>
      <p:sp>
        <p:nvSpPr>
          <p:cNvPr id="22" name="Shape 18"/>
          <p:cNvSpPr/>
          <p:nvPr/>
        </p:nvSpPr>
        <p:spPr>
          <a:xfrm>
            <a:off x="731520" y="4114800"/>
            <a:ext cx="420624" cy="420624"/>
          </a:xfrm>
          <a:prstGeom prst="ellipse">
            <a:avLst/>
          </a:prstGeom>
          <a:solidFill>
            <a:srgbClr val="FF9900"/>
          </a:solidFill>
          <a:ln/>
        </p:spPr>
      </p:sp>
      <p:sp>
        <p:nvSpPr>
          <p:cNvPr id="23" name="Text 19"/>
          <p:cNvSpPr/>
          <p:nvPr/>
        </p:nvSpPr>
        <p:spPr>
          <a:xfrm>
            <a:off x="731520" y="4114800"/>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4</a:t>
            </a:r>
            <a:endParaRPr lang="en-US" sz="1400" dirty="0"/>
          </a:p>
        </p:txBody>
      </p:sp>
      <p:sp>
        <p:nvSpPr>
          <p:cNvPr id="24" name="Text 20"/>
          <p:cNvSpPr/>
          <p:nvPr/>
        </p:nvSpPr>
        <p:spPr>
          <a:xfrm>
            <a:off x="1335024" y="4041648"/>
            <a:ext cx="6949440" cy="676656"/>
          </a:xfrm>
          <a:prstGeom prst="rect">
            <a:avLst/>
          </a:prstGeom>
          <a:noFill/>
          <a:ln/>
        </p:spPr>
        <p:txBody>
          <a:bodyPr wrap="square" lIns="0" tIns="0" rIns="0" bIns="0" rtlCol="0" anchor="ctr"/>
          <a:lstStyle/>
          <a:p>
            <a:pPr indent="0" marL="0">
              <a:lnSpc>
                <a:spcPct val="116000"/>
              </a:lnSpc>
              <a:buNone/>
            </a:pPr>
            <a:r>
              <a:rPr lang="en-US" sz="900" dirty="0">
                <a:solidFill>
                  <a:srgbClr val="131A22"/>
                </a:solidFill>
                <a:latin typeface="Poppins SemiBold" pitchFamily="34" charset="0"/>
                <a:ea typeface="Poppins SemiBold" pitchFamily="34" charset="-122"/>
                <a:cs typeface="Poppins SemiBold" pitchFamily="34" charset="-120"/>
              </a:rPr>
              <a:t>Economia de plataforma no marketplace</a:t>
            </a:r>
            <a:pPr indent="0" marL="0">
              <a:lnSpc>
                <a:spcPct val="116000"/>
              </a:lnSpc>
              <a:buNone/>
            </a:pPr>
            <a:r>
              <a:rPr lang="en-US" sz="900" dirty="0">
                <a:solidFill>
                  <a:srgbClr val="FF9900"/>
                </a:solidFill>
                <a:latin typeface="Poppins" pitchFamily="34" charset="0"/>
                <a:ea typeface="Poppins" pitchFamily="34" charset="-122"/>
                <a:cs typeface="Poppins" pitchFamily="34" charset="-120"/>
              </a:rPr>
              <a:t>  —  </a:t>
            </a:r>
            <a:pPr indent="0" marL="0">
              <a:lnSpc>
                <a:spcPct val="116000"/>
              </a:lnSpc>
              <a:buNone/>
            </a:pPr>
            <a:r>
              <a:rPr lang="en-US" sz="900" dirty="0">
                <a:solidFill>
                  <a:srgbClr val="6C7683"/>
                </a:solidFill>
                <a:latin typeface="Poppins" pitchFamily="34" charset="0"/>
                <a:ea typeface="Poppins" pitchFamily="34" charset="-122"/>
                <a:cs typeface="Poppins" pitchFamily="34" charset="-120"/>
              </a:rPr>
              <a:t>Take-rate + FBA transformam vendedores em clientes de serviços logísticos</a:t>
            </a:r>
            <a:endParaRPr lang="en-US" sz="900" dirty="0"/>
          </a:p>
        </p:txBody>
      </p:sp>
      <p:sp>
        <p:nvSpPr>
          <p:cNvPr id="25" name="Shape 21"/>
          <p:cNvSpPr/>
          <p:nvPr/>
        </p:nvSpPr>
        <p:spPr>
          <a:xfrm>
            <a:off x="1335024" y="4754880"/>
            <a:ext cx="6949440" cy="9144"/>
          </a:xfrm>
          <a:prstGeom prst="rect">
            <a:avLst/>
          </a:prstGeom>
          <a:solidFill>
            <a:srgbClr val="E2E6EB"/>
          </a:solidFill>
          <a:ln/>
        </p:spPr>
      </p:sp>
      <p:sp>
        <p:nvSpPr>
          <p:cNvPr id="26" name="Shape 22"/>
          <p:cNvSpPr/>
          <p:nvPr/>
        </p:nvSpPr>
        <p:spPr>
          <a:xfrm>
            <a:off x="731520" y="4882896"/>
            <a:ext cx="420624" cy="420624"/>
          </a:xfrm>
          <a:prstGeom prst="ellipse">
            <a:avLst/>
          </a:prstGeom>
          <a:solidFill>
            <a:srgbClr val="FF9900"/>
          </a:solidFill>
          <a:ln/>
        </p:spPr>
      </p:sp>
      <p:sp>
        <p:nvSpPr>
          <p:cNvPr id="27" name="Text 23"/>
          <p:cNvSpPr/>
          <p:nvPr/>
        </p:nvSpPr>
        <p:spPr>
          <a:xfrm>
            <a:off x="731520" y="4882896"/>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5</a:t>
            </a:r>
            <a:endParaRPr lang="en-US" sz="1400" dirty="0"/>
          </a:p>
        </p:txBody>
      </p:sp>
      <p:sp>
        <p:nvSpPr>
          <p:cNvPr id="28" name="Text 24"/>
          <p:cNvSpPr/>
          <p:nvPr/>
        </p:nvSpPr>
        <p:spPr>
          <a:xfrm>
            <a:off x="1335024" y="4809744"/>
            <a:ext cx="6949440" cy="676656"/>
          </a:xfrm>
          <a:prstGeom prst="rect">
            <a:avLst/>
          </a:prstGeom>
          <a:noFill/>
          <a:ln/>
        </p:spPr>
        <p:txBody>
          <a:bodyPr wrap="square" lIns="0" tIns="0" rIns="0" bIns="0" rtlCol="0" anchor="ctr"/>
          <a:lstStyle/>
          <a:p>
            <a:pPr indent="0" marL="0">
              <a:lnSpc>
                <a:spcPct val="116000"/>
              </a:lnSpc>
              <a:buNone/>
            </a:pPr>
            <a:r>
              <a:rPr lang="en-US" sz="900" dirty="0">
                <a:solidFill>
                  <a:srgbClr val="131A22"/>
                </a:solidFill>
                <a:latin typeface="Poppins SemiBold" pitchFamily="34" charset="0"/>
                <a:ea typeface="Poppins SemiBold" pitchFamily="34" charset="-122"/>
                <a:cs typeface="Poppins SemiBold" pitchFamily="34" charset="-120"/>
              </a:rPr>
              <a:t>Múltiplas avenidas de crescimento</a:t>
            </a:r>
            <a:pPr indent="0" marL="0">
              <a:lnSpc>
                <a:spcPct val="116000"/>
              </a:lnSpc>
              <a:buNone/>
            </a:pPr>
            <a:r>
              <a:rPr lang="en-US" sz="900" dirty="0">
                <a:solidFill>
                  <a:srgbClr val="FF9900"/>
                </a:solidFill>
                <a:latin typeface="Poppins" pitchFamily="34" charset="0"/>
                <a:ea typeface="Poppins" pitchFamily="34" charset="-122"/>
                <a:cs typeface="Poppins" pitchFamily="34" charset="-120"/>
              </a:rPr>
              <a:t>  —  </a:t>
            </a:r>
            <a:pPr indent="0" marL="0">
              <a:lnSpc>
                <a:spcPct val="116000"/>
              </a:lnSpc>
              <a:buNone/>
            </a:pPr>
            <a:r>
              <a:rPr lang="en-US" sz="900" dirty="0">
                <a:solidFill>
                  <a:srgbClr val="6C7683"/>
                </a:solidFill>
                <a:latin typeface="Poppins" pitchFamily="34" charset="0"/>
                <a:ea typeface="Poppins" pitchFamily="34" charset="-122"/>
                <a:cs typeface="Poppins" pitchFamily="34" charset="-120"/>
              </a:rPr>
              <a:t>Retail media, novas categorias e interiorização — além de AWS no negócio corporativo</a:t>
            </a:r>
            <a:endParaRPr lang="en-US" sz="900" dirty="0"/>
          </a:p>
        </p:txBody>
      </p:sp>
      <p:sp>
        <p:nvSpPr>
          <p:cNvPr id="29" name="Shape 25"/>
          <p:cNvSpPr/>
          <p:nvPr/>
        </p:nvSpPr>
        <p:spPr>
          <a:xfrm>
            <a:off x="8549640" y="1783080"/>
            <a:ext cx="2910535" cy="3931920"/>
          </a:xfrm>
          <a:prstGeom prst="roundRect">
            <a:avLst>
              <a:gd name="adj" fmla="val 3142"/>
            </a:avLst>
          </a:prstGeom>
          <a:solidFill>
            <a:srgbClr val="131A22"/>
          </a:solidFill>
          <a:ln/>
        </p:spPr>
      </p:sp>
      <p:pic>
        <p:nvPicPr>
          <p:cNvPr id="30" name="Image 2" descr="assets/demo_amz/smile.png">    </p:cNvPr>
          <p:cNvPicPr>
            <a:picLocks noChangeAspect="1"/>
          </p:cNvPicPr>
          <p:nvPr/>
        </p:nvPicPr>
        <p:blipFill>
          <a:blip r:embed="rId3">
            <a:alphaModFix amt="65000"/>
          </a:blip>
          <a:stretch>
            <a:fillRect/>
          </a:stretch>
        </p:blipFill>
        <p:spPr>
          <a:xfrm>
            <a:off x="8823960" y="4297680"/>
            <a:ext cx="2361895" cy="1180948"/>
          </a:xfrm>
          <a:prstGeom prst="rect">
            <a:avLst/>
          </a:prstGeom>
        </p:spPr>
      </p:pic>
      <p:sp>
        <p:nvSpPr>
          <p:cNvPr id="31" name="Text 26"/>
          <p:cNvSpPr/>
          <p:nvPr/>
        </p:nvSpPr>
        <p:spPr>
          <a:xfrm>
            <a:off x="8787384" y="1975104"/>
            <a:ext cx="2435047" cy="219456"/>
          </a:xfrm>
          <a:prstGeom prst="rect">
            <a:avLst/>
          </a:prstGeom>
          <a:noFill/>
          <a:ln/>
        </p:spPr>
        <p:txBody>
          <a:bodyPr wrap="square" lIns="0" tIns="0" rIns="0" bIns="0" rtlCol="0" anchor="ctr"/>
          <a:lstStyle/>
          <a:p>
            <a:pPr indent="0" marL="0">
              <a:buNone/>
            </a:pPr>
            <a:r>
              <a:rPr lang="en-US" sz="800" spc="140" kern="0" dirty="0">
                <a:solidFill>
                  <a:srgbClr val="FF9900"/>
                </a:solidFill>
                <a:latin typeface="Poppins SemiBold" pitchFamily="34" charset="0"/>
                <a:ea typeface="Poppins SemiBold" pitchFamily="34" charset="-122"/>
                <a:cs typeface="Poppins SemiBold" pitchFamily="34" charset="-120"/>
              </a:rPr>
              <a:t>O QUE JÁ É PÚBLICO</a:t>
            </a:r>
            <a:endParaRPr lang="en-US" sz="800" dirty="0"/>
          </a:p>
        </p:txBody>
      </p:sp>
      <p:sp>
        <p:nvSpPr>
          <p:cNvPr id="32" name="Text 27"/>
          <p:cNvSpPr/>
          <p:nvPr/>
        </p:nvSpPr>
        <p:spPr>
          <a:xfrm>
            <a:off x="8787384" y="2286000"/>
            <a:ext cx="2435047" cy="274320"/>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+30 anos</a:t>
            </a:r>
            <a:endParaRPr lang="en-US" sz="1400" dirty="0"/>
          </a:p>
        </p:txBody>
      </p:sp>
      <p:sp>
        <p:nvSpPr>
          <p:cNvPr id="33" name="Text 28"/>
          <p:cNvSpPr/>
          <p:nvPr/>
        </p:nvSpPr>
        <p:spPr>
          <a:xfrm>
            <a:off x="8787384" y="2542032"/>
            <a:ext cx="243504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de operação global</a:t>
            </a:r>
            <a:endParaRPr lang="en-US" sz="800" dirty="0"/>
          </a:p>
        </p:txBody>
      </p:sp>
      <p:sp>
        <p:nvSpPr>
          <p:cNvPr id="34" name="Text 29"/>
          <p:cNvSpPr/>
          <p:nvPr/>
        </p:nvSpPr>
        <p:spPr>
          <a:xfrm>
            <a:off x="8787384" y="2944368"/>
            <a:ext cx="2435047" cy="274320"/>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14 anos</a:t>
            </a:r>
            <a:endParaRPr lang="en-US" sz="1400" dirty="0"/>
          </a:p>
        </p:txBody>
      </p:sp>
      <p:sp>
        <p:nvSpPr>
          <p:cNvPr id="35" name="Text 30"/>
          <p:cNvSpPr/>
          <p:nvPr/>
        </p:nvSpPr>
        <p:spPr>
          <a:xfrm>
            <a:off x="8787384" y="3200400"/>
            <a:ext cx="243504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de Brasil (desde 2012)</a:t>
            </a:r>
            <a:endParaRPr lang="en-US" sz="800" dirty="0"/>
          </a:p>
        </p:txBody>
      </p:sp>
      <p:sp>
        <p:nvSpPr>
          <p:cNvPr id="36" name="Text 31"/>
          <p:cNvSpPr/>
          <p:nvPr/>
        </p:nvSpPr>
        <p:spPr>
          <a:xfrm>
            <a:off x="8787384" y="3602736"/>
            <a:ext cx="2435047" cy="274320"/>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+200 Mn</a:t>
            </a:r>
            <a:endParaRPr lang="en-US" sz="1400" dirty="0"/>
          </a:p>
        </p:txBody>
      </p:sp>
      <p:sp>
        <p:nvSpPr>
          <p:cNvPr id="37" name="Text 32"/>
          <p:cNvSpPr/>
          <p:nvPr/>
        </p:nvSpPr>
        <p:spPr>
          <a:xfrm>
            <a:off x="8787384" y="3858768"/>
            <a:ext cx="243504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membros Prime no mundo</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548994" cy="310896"/>
          </a:xfrm>
          <a:prstGeom prst="roundRect">
            <a:avLst>
              <a:gd name="adj" fmla="val 25000"/>
            </a:avLst>
          </a:prstGeom>
          <a:solidFill>
            <a:srgbClr val="FFF0D6"/>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F9900"/>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3</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Uma rede logística própria difícil de replicar</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Da entrada do pedido à porta do cliente, a malha própria encurta prazos e protege a experiência</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divulgações públicas; contagens e cobertura por praça a confirmar. Demonstração ilustrativa — fontes públicas (relatórios anuais, imprensa); dados Brasil não divulgados marcados [TBC].</a:t>
            </a:r>
            <a:endParaRPr lang="en-US" sz="700" dirty="0"/>
          </a:p>
        </p:txBody>
      </p:sp>
      <p:sp>
        <p:nvSpPr>
          <p:cNvPr id="10" name="Shape 7"/>
          <p:cNvSpPr/>
          <p:nvPr/>
        </p:nvSpPr>
        <p:spPr>
          <a:xfrm>
            <a:off x="731520" y="1874520"/>
            <a:ext cx="2395728" cy="2194560"/>
          </a:xfrm>
          <a:prstGeom prst="roundRect">
            <a:avLst>
              <a:gd name="adj" fmla="val 3333"/>
            </a:avLst>
          </a:prstGeom>
          <a:solidFill>
            <a:srgbClr val="F4F6F8"/>
          </a:solidFill>
          <a:ln w="12700">
            <a:solidFill>
              <a:srgbClr val="E2E6EB"/>
            </a:solidFill>
            <a:prstDash val="solid"/>
          </a:ln>
        </p:spPr>
      </p:sp>
      <p:sp>
        <p:nvSpPr>
          <p:cNvPr id="11" name="Shape 8"/>
          <p:cNvSpPr/>
          <p:nvPr/>
        </p:nvSpPr>
        <p:spPr>
          <a:xfrm>
            <a:off x="731520" y="1874520"/>
            <a:ext cx="2395728" cy="41148"/>
          </a:xfrm>
          <a:prstGeom prst="rect">
            <a:avLst/>
          </a:prstGeom>
          <a:solidFill>
            <a:srgbClr val="FF9900"/>
          </a:solidFill>
          <a:ln/>
        </p:spPr>
      </p:sp>
      <p:sp>
        <p:nvSpPr>
          <p:cNvPr id="12" name="Text 9"/>
          <p:cNvSpPr/>
          <p:nvPr/>
        </p:nvSpPr>
        <p:spPr>
          <a:xfrm>
            <a:off x="914400" y="2057400"/>
            <a:ext cx="914400" cy="329184"/>
          </a:xfrm>
          <a:prstGeom prst="rect">
            <a:avLst/>
          </a:prstGeom>
          <a:noFill/>
          <a:ln/>
        </p:spPr>
        <p:txBody>
          <a:bodyPr wrap="square" lIns="0" tIns="0" rIns="0" bIns="0" rtlCol="0" anchor="ctr"/>
          <a:lstStyle/>
          <a:p>
            <a:pPr indent="0" marL="0">
              <a:buNone/>
            </a:pPr>
            <a:r>
              <a:rPr lang="en-US" sz="1600" dirty="0">
                <a:solidFill>
                  <a:srgbClr val="FF9900"/>
                </a:solidFill>
                <a:latin typeface="Poppins SemiBold" pitchFamily="34" charset="0"/>
                <a:ea typeface="Poppins SemiBold" pitchFamily="34" charset="-122"/>
                <a:cs typeface="Poppins SemiBold" pitchFamily="34" charset="-120"/>
              </a:rPr>
              <a:t>01</a:t>
            </a:r>
            <a:endParaRPr lang="en-US" sz="1600" dirty="0"/>
          </a:p>
        </p:txBody>
      </p:sp>
      <p:sp>
        <p:nvSpPr>
          <p:cNvPr id="13" name="Text 10"/>
          <p:cNvSpPr/>
          <p:nvPr/>
        </p:nvSpPr>
        <p:spPr>
          <a:xfrm>
            <a:off x="914400" y="2459736"/>
            <a:ext cx="2029968" cy="512064"/>
          </a:xfrm>
          <a:prstGeom prst="rect">
            <a:avLst/>
          </a:prstGeom>
          <a:noFill/>
          <a:ln/>
        </p:spPr>
        <p:txBody>
          <a:bodyPr wrap="square" lIns="0" tIns="0" rIns="0" bIns="0" rtlCol="0" anchor="t"/>
          <a:lstStyle/>
          <a:p>
            <a:pPr indent="0" marL="0">
              <a:lnSpc>
                <a:spcPct val="108000"/>
              </a:lnSpc>
              <a:buNone/>
            </a:pPr>
            <a:r>
              <a:rPr lang="en-US" sz="1000" dirty="0">
                <a:solidFill>
                  <a:srgbClr val="131A22"/>
                </a:solidFill>
                <a:latin typeface="Poppins SemiBold" pitchFamily="34" charset="0"/>
                <a:ea typeface="Poppins SemiBold" pitchFamily="34" charset="-122"/>
                <a:cs typeface="Poppins SemiBold" pitchFamily="34" charset="-120"/>
              </a:rPr>
              <a:t>Centros de distribuição</a:t>
            </a:r>
            <a:endParaRPr lang="en-US" sz="1000" dirty="0"/>
          </a:p>
        </p:txBody>
      </p:sp>
      <p:sp>
        <p:nvSpPr>
          <p:cNvPr id="14" name="Text 11"/>
          <p:cNvSpPr/>
          <p:nvPr/>
        </p:nvSpPr>
        <p:spPr>
          <a:xfrm>
            <a:off x="914400" y="3008376"/>
            <a:ext cx="2029968" cy="91440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Estoque posicionado perto da demanda; CDs em múltiplos estados [contagem — TBC]</a:t>
            </a:r>
            <a:endParaRPr lang="en-US" sz="800" dirty="0"/>
          </a:p>
        </p:txBody>
      </p:sp>
      <p:sp>
        <p:nvSpPr>
          <p:cNvPr id="15" name="Shape 12"/>
          <p:cNvSpPr/>
          <p:nvPr/>
        </p:nvSpPr>
        <p:spPr>
          <a:xfrm rot="5400000">
            <a:off x="3168396" y="2903220"/>
            <a:ext cx="137160" cy="137160"/>
          </a:xfrm>
          <a:prstGeom prst="triangle">
            <a:avLst/>
          </a:prstGeom>
          <a:solidFill>
            <a:srgbClr val="FF9900"/>
          </a:solidFill>
          <a:ln/>
        </p:spPr>
      </p:sp>
      <p:sp>
        <p:nvSpPr>
          <p:cNvPr id="16" name="Shape 13"/>
          <p:cNvSpPr/>
          <p:nvPr/>
        </p:nvSpPr>
        <p:spPr>
          <a:xfrm>
            <a:off x="3346704" y="1874520"/>
            <a:ext cx="2395728" cy="2194560"/>
          </a:xfrm>
          <a:prstGeom prst="roundRect">
            <a:avLst>
              <a:gd name="adj" fmla="val 3333"/>
            </a:avLst>
          </a:prstGeom>
          <a:solidFill>
            <a:srgbClr val="F4F6F8"/>
          </a:solidFill>
          <a:ln w="12700">
            <a:solidFill>
              <a:srgbClr val="E2E6EB"/>
            </a:solidFill>
            <a:prstDash val="solid"/>
          </a:ln>
        </p:spPr>
      </p:sp>
      <p:sp>
        <p:nvSpPr>
          <p:cNvPr id="17" name="Shape 14"/>
          <p:cNvSpPr/>
          <p:nvPr/>
        </p:nvSpPr>
        <p:spPr>
          <a:xfrm>
            <a:off x="3346704" y="1874520"/>
            <a:ext cx="2395728" cy="41148"/>
          </a:xfrm>
          <a:prstGeom prst="rect">
            <a:avLst/>
          </a:prstGeom>
          <a:solidFill>
            <a:srgbClr val="FF9900"/>
          </a:solidFill>
          <a:ln/>
        </p:spPr>
      </p:sp>
      <p:sp>
        <p:nvSpPr>
          <p:cNvPr id="18" name="Text 15"/>
          <p:cNvSpPr/>
          <p:nvPr/>
        </p:nvSpPr>
        <p:spPr>
          <a:xfrm>
            <a:off x="3529584" y="2057400"/>
            <a:ext cx="914400" cy="329184"/>
          </a:xfrm>
          <a:prstGeom prst="rect">
            <a:avLst/>
          </a:prstGeom>
          <a:noFill/>
          <a:ln/>
        </p:spPr>
        <p:txBody>
          <a:bodyPr wrap="square" lIns="0" tIns="0" rIns="0" bIns="0" rtlCol="0" anchor="ctr"/>
          <a:lstStyle/>
          <a:p>
            <a:pPr indent="0" marL="0">
              <a:buNone/>
            </a:pPr>
            <a:r>
              <a:rPr lang="en-US" sz="1600" dirty="0">
                <a:solidFill>
                  <a:srgbClr val="FF9900"/>
                </a:solidFill>
                <a:latin typeface="Poppins SemiBold" pitchFamily="34" charset="0"/>
                <a:ea typeface="Poppins SemiBold" pitchFamily="34" charset="-122"/>
                <a:cs typeface="Poppins SemiBold" pitchFamily="34" charset="-120"/>
              </a:rPr>
              <a:t>02</a:t>
            </a:r>
            <a:endParaRPr lang="en-US" sz="1600" dirty="0"/>
          </a:p>
        </p:txBody>
      </p:sp>
      <p:sp>
        <p:nvSpPr>
          <p:cNvPr id="19" name="Text 16"/>
          <p:cNvSpPr/>
          <p:nvPr/>
        </p:nvSpPr>
        <p:spPr>
          <a:xfrm>
            <a:off x="3529584" y="2459736"/>
            <a:ext cx="2029968" cy="512064"/>
          </a:xfrm>
          <a:prstGeom prst="rect">
            <a:avLst/>
          </a:prstGeom>
          <a:noFill/>
          <a:ln/>
        </p:spPr>
        <p:txBody>
          <a:bodyPr wrap="square" lIns="0" tIns="0" rIns="0" bIns="0" rtlCol="0" anchor="t"/>
          <a:lstStyle/>
          <a:p>
            <a:pPr indent="0" marL="0">
              <a:lnSpc>
                <a:spcPct val="108000"/>
              </a:lnSpc>
              <a:buNone/>
            </a:pPr>
            <a:r>
              <a:rPr lang="en-US" sz="1000" dirty="0">
                <a:solidFill>
                  <a:srgbClr val="131A22"/>
                </a:solidFill>
                <a:latin typeface="Poppins SemiBold" pitchFamily="34" charset="0"/>
                <a:ea typeface="Poppins SemiBold" pitchFamily="34" charset="-122"/>
                <a:cs typeface="Poppins SemiBold" pitchFamily="34" charset="-120"/>
              </a:rPr>
              <a:t>Estações de entrega</a:t>
            </a:r>
            <a:endParaRPr lang="en-US" sz="1000" dirty="0"/>
          </a:p>
        </p:txBody>
      </p:sp>
      <p:sp>
        <p:nvSpPr>
          <p:cNvPr id="20" name="Text 17"/>
          <p:cNvSpPr/>
          <p:nvPr/>
        </p:nvSpPr>
        <p:spPr>
          <a:xfrm>
            <a:off x="3529584" y="3008376"/>
            <a:ext cx="2029968" cy="91440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Pontos avançados de last mile nas regiões metropolitanas [rede — TBC]</a:t>
            </a:r>
            <a:endParaRPr lang="en-US" sz="800" dirty="0"/>
          </a:p>
        </p:txBody>
      </p:sp>
      <p:sp>
        <p:nvSpPr>
          <p:cNvPr id="21" name="Shape 18"/>
          <p:cNvSpPr/>
          <p:nvPr/>
        </p:nvSpPr>
        <p:spPr>
          <a:xfrm rot="5400000">
            <a:off x="5783580" y="2903220"/>
            <a:ext cx="137160" cy="137160"/>
          </a:xfrm>
          <a:prstGeom prst="triangle">
            <a:avLst/>
          </a:prstGeom>
          <a:solidFill>
            <a:srgbClr val="FF9900"/>
          </a:solidFill>
          <a:ln/>
        </p:spPr>
      </p:sp>
      <p:sp>
        <p:nvSpPr>
          <p:cNvPr id="22" name="Shape 19"/>
          <p:cNvSpPr/>
          <p:nvPr/>
        </p:nvSpPr>
        <p:spPr>
          <a:xfrm>
            <a:off x="5961888" y="1874520"/>
            <a:ext cx="2395728" cy="2194560"/>
          </a:xfrm>
          <a:prstGeom prst="roundRect">
            <a:avLst>
              <a:gd name="adj" fmla="val 3333"/>
            </a:avLst>
          </a:prstGeom>
          <a:solidFill>
            <a:srgbClr val="F4F6F8"/>
          </a:solidFill>
          <a:ln w="12700">
            <a:solidFill>
              <a:srgbClr val="E2E6EB"/>
            </a:solidFill>
            <a:prstDash val="solid"/>
          </a:ln>
        </p:spPr>
      </p:sp>
      <p:sp>
        <p:nvSpPr>
          <p:cNvPr id="23" name="Shape 20"/>
          <p:cNvSpPr/>
          <p:nvPr/>
        </p:nvSpPr>
        <p:spPr>
          <a:xfrm>
            <a:off x="5961888" y="1874520"/>
            <a:ext cx="2395728" cy="41148"/>
          </a:xfrm>
          <a:prstGeom prst="rect">
            <a:avLst/>
          </a:prstGeom>
          <a:solidFill>
            <a:srgbClr val="FF9900"/>
          </a:solidFill>
          <a:ln/>
        </p:spPr>
      </p:sp>
      <p:sp>
        <p:nvSpPr>
          <p:cNvPr id="24" name="Text 21"/>
          <p:cNvSpPr/>
          <p:nvPr/>
        </p:nvSpPr>
        <p:spPr>
          <a:xfrm>
            <a:off x="6144768" y="2057400"/>
            <a:ext cx="914400" cy="329184"/>
          </a:xfrm>
          <a:prstGeom prst="rect">
            <a:avLst/>
          </a:prstGeom>
          <a:noFill/>
          <a:ln/>
        </p:spPr>
        <p:txBody>
          <a:bodyPr wrap="square" lIns="0" tIns="0" rIns="0" bIns="0" rtlCol="0" anchor="ctr"/>
          <a:lstStyle/>
          <a:p>
            <a:pPr indent="0" marL="0">
              <a:buNone/>
            </a:pPr>
            <a:r>
              <a:rPr lang="en-US" sz="1600" dirty="0">
                <a:solidFill>
                  <a:srgbClr val="FF9900"/>
                </a:solidFill>
                <a:latin typeface="Poppins SemiBold" pitchFamily="34" charset="0"/>
                <a:ea typeface="Poppins SemiBold" pitchFamily="34" charset="-122"/>
                <a:cs typeface="Poppins SemiBold" pitchFamily="34" charset="-120"/>
              </a:rPr>
              <a:t>03</a:t>
            </a:r>
            <a:endParaRPr lang="en-US" sz="1600" dirty="0"/>
          </a:p>
        </p:txBody>
      </p:sp>
      <p:sp>
        <p:nvSpPr>
          <p:cNvPr id="25" name="Text 22"/>
          <p:cNvSpPr/>
          <p:nvPr/>
        </p:nvSpPr>
        <p:spPr>
          <a:xfrm>
            <a:off x="6144768" y="2459736"/>
            <a:ext cx="2029968" cy="512064"/>
          </a:xfrm>
          <a:prstGeom prst="rect">
            <a:avLst/>
          </a:prstGeom>
          <a:noFill/>
          <a:ln/>
        </p:spPr>
        <p:txBody>
          <a:bodyPr wrap="square" lIns="0" tIns="0" rIns="0" bIns="0" rtlCol="0" anchor="t"/>
          <a:lstStyle/>
          <a:p>
            <a:pPr indent="0" marL="0">
              <a:lnSpc>
                <a:spcPct val="108000"/>
              </a:lnSpc>
              <a:buNone/>
            </a:pPr>
            <a:r>
              <a:rPr lang="en-US" sz="1000" dirty="0">
                <a:solidFill>
                  <a:srgbClr val="131A22"/>
                </a:solidFill>
                <a:latin typeface="Poppins SemiBold" pitchFamily="34" charset="0"/>
                <a:ea typeface="Poppins SemiBold" pitchFamily="34" charset="-122"/>
                <a:cs typeface="Poppins SemiBold" pitchFamily="34" charset="-120"/>
              </a:rPr>
              <a:t>Last mile &amp; same-day</a:t>
            </a:r>
            <a:endParaRPr lang="en-US" sz="1000" dirty="0"/>
          </a:p>
        </p:txBody>
      </p:sp>
      <p:sp>
        <p:nvSpPr>
          <p:cNvPr id="26" name="Text 23"/>
          <p:cNvSpPr/>
          <p:nvPr/>
        </p:nvSpPr>
        <p:spPr>
          <a:xfrm>
            <a:off x="6144768" y="3008376"/>
            <a:ext cx="2029968" cy="91440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Entrega no mesmo dia nas principais capitais [cobertura — TBC]</a:t>
            </a:r>
            <a:endParaRPr lang="en-US" sz="800" dirty="0"/>
          </a:p>
        </p:txBody>
      </p:sp>
      <p:sp>
        <p:nvSpPr>
          <p:cNvPr id="27" name="Shape 24"/>
          <p:cNvSpPr/>
          <p:nvPr/>
        </p:nvSpPr>
        <p:spPr>
          <a:xfrm rot="5400000">
            <a:off x="8398764" y="2903220"/>
            <a:ext cx="137160" cy="137160"/>
          </a:xfrm>
          <a:prstGeom prst="triangle">
            <a:avLst/>
          </a:prstGeom>
          <a:solidFill>
            <a:srgbClr val="FF9900"/>
          </a:solidFill>
          <a:ln/>
        </p:spPr>
      </p:sp>
      <p:sp>
        <p:nvSpPr>
          <p:cNvPr id="28" name="Shape 25"/>
          <p:cNvSpPr/>
          <p:nvPr/>
        </p:nvSpPr>
        <p:spPr>
          <a:xfrm>
            <a:off x="8577072" y="1874520"/>
            <a:ext cx="2395728" cy="2194560"/>
          </a:xfrm>
          <a:prstGeom prst="roundRect">
            <a:avLst>
              <a:gd name="adj" fmla="val 3333"/>
            </a:avLst>
          </a:prstGeom>
          <a:solidFill>
            <a:srgbClr val="F4F6F8"/>
          </a:solidFill>
          <a:ln w="12700">
            <a:solidFill>
              <a:srgbClr val="E2E6EB"/>
            </a:solidFill>
            <a:prstDash val="solid"/>
          </a:ln>
        </p:spPr>
      </p:sp>
      <p:sp>
        <p:nvSpPr>
          <p:cNvPr id="29" name="Shape 26"/>
          <p:cNvSpPr/>
          <p:nvPr/>
        </p:nvSpPr>
        <p:spPr>
          <a:xfrm>
            <a:off x="8577072" y="1874520"/>
            <a:ext cx="2395728" cy="41148"/>
          </a:xfrm>
          <a:prstGeom prst="rect">
            <a:avLst/>
          </a:prstGeom>
          <a:solidFill>
            <a:srgbClr val="FF9900"/>
          </a:solidFill>
          <a:ln/>
        </p:spPr>
      </p:sp>
      <p:sp>
        <p:nvSpPr>
          <p:cNvPr id="30" name="Text 27"/>
          <p:cNvSpPr/>
          <p:nvPr/>
        </p:nvSpPr>
        <p:spPr>
          <a:xfrm>
            <a:off x="8759952" y="2057400"/>
            <a:ext cx="914400" cy="329184"/>
          </a:xfrm>
          <a:prstGeom prst="rect">
            <a:avLst/>
          </a:prstGeom>
          <a:noFill/>
          <a:ln/>
        </p:spPr>
        <p:txBody>
          <a:bodyPr wrap="square" lIns="0" tIns="0" rIns="0" bIns="0" rtlCol="0" anchor="ctr"/>
          <a:lstStyle/>
          <a:p>
            <a:pPr indent="0" marL="0">
              <a:buNone/>
            </a:pPr>
            <a:r>
              <a:rPr lang="en-US" sz="1600" dirty="0">
                <a:solidFill>
                  <a:srgbClr val="FF9900"/>
                </a:solidFill>
                <a:latin typeface="Poppins SemiBold" pitchFamily="34" charset="0"/>
                <a:ea typeface="Poppins SemiBold" pitchFamily="34" charset="-122"/>
                <a:cs typeface="Poppins SemiBold" pitchFamily="34" charset="-120"/>
              </a:rPr>
              <a:t>04</a:t>
            </a:r>
            <a:endParaRPr lang="en-US" sz="1600" dirty="0"/>
          </a:p>
        </p:txBody>
      </p:sp>
      <p:sp>
        <p:nvSpPr>
          <p:cNvPr id="31" name="Text 28"/>
          <p:cNvSpPr/>
          <p:nvPr/>
        </p:nvSpPr>
        <p:spPr>
          <a:xfrm>
            <a:off x="8759952" y="2459736"/>
            <a:ext cx="2029968" cy="512064"/>
          </a:xfrm>
          <a:prstGeom prst="rect">
            <a:avLst/>
          </a:prstGeom>
          <a:noFill/>
          <a:ln/>
        </p:spPr>
        <p:txBody>
          <a:bodyPr wrap="square" lIns="0" tIns="0" rIns="0" bIns="0" rtlCol="0" anchor="t"/>
          <a:lstStyle/>
          <a:p>
            <a:pPr indent="0" marL="0">
              <a:lnSpc>
                <a:spcPct val="108000"/>
              </a:lnSpc>
              <a:buNone/>
            </a:pPr>
            <a:r>
              <a:rPr lang="en-US" sz="1000" dirty="0">
                <a:solidFill>
                  <a:srgbClr val="131A22"/>
                </a:solidFill>
                <a:latin typeface="Poppins SemiBold" pitchFamily="34" charset="0"/>
                <a:ea typeface="Poppins SemiBold" pitchFamily="34" charset="-122"/>
                <a:cs typeface="Poppins SemiBold" pitchFamily="34" charset="-120"/>
              </a:rPr>
              <a:t>Devolução &amp; atendimento</a:t>
            </a:r>
            <a:endParaRPr lang="en-US" sz="1000" dirty="0"/>
          </a:p>
        </p:txBody>
      </p:sp>
      <p:sp>
        <p:nvSpPr>
          <p:cNvPr id="32" name="Text 29"/>
          <p:cNvSpPr/>
          <p:nvPr/>
        </p:nvSpPr>
        <p:spPr>
          <a:xfrm>
            <a:off x="8759952" y="3008376"/>
            <a:ext cx="2029968" cy="91440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Logística reversa integrada à promessa de confiança da marca</a:t>
            </a:r>
            <a:endParaRPr lang="en-US" sz="800" dirty="0"/>
          </a:p>
        </p:txBody>
      </p:sp>
      <p:sp>
        <p:nvSpPr>
          <p:cNvPr id="33" name="Shape 30"/>
          <p:cNvSpPr/>
          <p:nvPr/>
        </p:nvSpPr>
        <p:spPr>
          <a:xfrm rot="5400000">
            <a:off x="731520" y="4425696"/>
            <a:ext cx="137160" cy="137160"/>
          </a:xfrm>
          <a:prstGeom prst="triangle">
            <a:avLst/>
          </a:prstGeom>
          <a:solidFill>
            <a:srgbClr val="FF9900"/>
          </a:solidFill>
          <a:ln/>
        </p:spPr>
      </p:sp>
      <p:sp>
        <p:nvSpPr>
          <p:cNvPr id="34" name="Text 31"/>
          <p:cNvSpPr/>
          <p:nvPr/>
        </p:nvSpPr>
        <p:spPr>
          <a:xfrm>
            <a:off x="969264" y="4361688"/>
            <a:ext cx="3149498" cy="256032"/>
          </a:xfrm>
          <a:prstGeom prst="rect">
            <a:avLst/>
          </a:prstGeom>
          <a:noFill/>
          <a:ln/>
        </p:spPr>
        <p:txBody>
          <a:bodyPr wrap="square" lIns="0" tIns="0" rIns="0" bIns="0" rtlCol="0" anchor="ctr"/>
          <a:lstStyle/>
          <a:p>
            <a:pPr indent="0" marL="0">
              <a:buNone/>
            </a:pPr>
            <a:r>
              <a:rPr lang="en-US" sz="1000" dirty="0">
                <a:solidFill>
                  <a:srgbClr val="CC7A00"/>
                </a:solidFill>
                <a:latin typeface="Poppins SemiBold" pitchFamily="34" charset="0"/>
                <a:ea typeface="Poppins SemiBold" pitchFamily="34" charset="-122"/>
                <a:cs typeface="Poppins SemiBold" pitchFamily="34" charset="-120"/>
              </a:rPr>
              <a:t>Densidade composta</a:t>
            </a:r>
            <a:endParaRPr lang="en-US" sz="1000" dirty="0"/>
          </a:p>
        </p:txBody>
      </p:sp>
      <p:sp>
        <p:nvSpPr>
          <p:cNvPr id="35" name="Text 32"/>
          <p:cNvSpPr/>
          <p:nvPr/>
        </p:nvSpPr>
        <p:spPr>
          <a:xfrm>
            <a:off x="969264" y="4636008"/>
            <a:ext cx="3149498" cy="658368"/>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Cada novo CD e estação encurta o prazo médio e barateia a entrega seguinte — a vantagem cresce com a rede</a:t>
            </a:r>
            <a:endParaRPr lang="en-US" sz="800" dirty="0"/>
          </a:p>
        </p:txBody>
      </p:sp>
      <p:sp>
        <p:nvSpPr>
          <p:cNvPr id="36" name="Shape 33"/>
          <p:cNvSpPr/>
          <p:nvPr/>
        </p:nvSpPr>
        <p:spPr>
          <a:xfrm rot="5400000">
            <a:off x="4383938" y="4425696"/>
            <a:ext cx="137160" cy="137160"/>
          </a:xfrm>
          <a:prstGeom prst="triangle">
            <a:avLst/>
          </a:prstGeom>
          <a:solidFill>
            <a:srgbClr val="FF9900"/>
          </a:solidFill>
          <a:ln/>
        </p:spPr>
      </p:sp>
      <p:sp>
        <p:nvSpPr>
          <p:cNvPr id="37" name="Text 34"/>
          <p:cNvSpPr/>
          <p:nvPr/>
        </p:nvSpPr>
        <p:spPr>
          <a:xfrm>
            <a:off x="4621682" y="4361688"/>
            <a:ext cx="3149498" cy="256032"/>
          </a:xfrm>
          <a:prstGeom prst="rect">
            <a:avLst/>
          </a:prstGeom>
          <a:noFill/>
          <a:ln/>
        </p:spPr>
        <p:txBody>
          <a:bodyPr wrap="square" lIns="0" tIns="0" rIns="0" bIns="0" rtlCol="0" anchor="ctr"/>
          <a:lstStyle/>
          <a:p>
            <a:pPr indent="0" marL="0">
              <a:buNone/>
            </a:pPr>
            <a:r>
              <a:rPr lang="en-US" sz="1000" dirty="0">
                <a:solidFill>
                  <a:srgbClr val="CC7A00"/>
                </a:solidFill>
                <a:latin typeface="Poppins SemiBold" pitchFamily="34" charset="0"/>
                <a:ea typeface="Poppins SemiBold" pitchFamily="34" charset="-122"/>
                <a:cs typeface="Poppins SemiBold" pitchFamily="34" charset="-120"/>
              </a:rPr>
              <a:t>Promessa como produto</a:t>
            </a:r>
            <a:endParaRPr lang="en-US" sz="1000" dirty="0"/>
          </a:p>
        </p:txBody>
      </p:sp>
      <p:sp>
        <p:nvSpPr>
          <p:cNvPr id="38" name="Text 35"/>
          <p:cNvSpPr/>
          <p:nvPr/>
        </p:nvSpPr>
        <p:spPr>
          <a:xfrm>
            <a:off x="4621682" y="4636008"/>
            <a:ext cx="3149498" cy="658368"/>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Prazo confiável é o que o cliente compra; a malha própria protege essa promessa do gargalo de terceiros</a:t>
            </a:r>
            <a:endParaRPr lang="en-US" sz="800" dirty="0"/>
          </a:p>
        </p:txBody>
      </p:sp>
      <p:sp>
        <p:nvSpPr>
          <p:cNvPr id="39" name="Shape 36"/>
          <p:cNvSpPr/>
          <p:nvPr/>
        </p:nvSpPr>
        <p:spPr>
          <a:xfrm rot="5400000">
            <a:off x="8036357" y="4425696"/>
            <a:ext cx="137160" cy="137160"/>
          </a:xfrm>
          <a:prstGeom prst="triangle">
            <a:avLst/>
          </a:prstGeom>
          <a:solidFill>
            <a:srgbClr val="FF9900"/>
          </a:solidFill>
          <a:ln/>
        </p:spPr>
      </p:sp>
      <p:sp>
        <p:nvSpPr>
          <p:cNvPr id="40" name="Text 37"/>
          <p:cNvSpPr/>
          <p:nvPr/>
        </p:nvSpPr>
        <p:spPr>
          <a:xfrm>
            <a:off x="8274101" y="4361688"/>
            <a:ext cx="3149498" cy="256032"/>
          </a:xfrm>
          <a:prstGeom prst="rect">
            <a:avLst/>
          </a:prstGeom>
          <a:noFill/>
          <a:ln/>
        </p:spPr>
        <p:txBody>
          <a:bodyPr wrap="square" lIns="0" tIns="0" rIns="0" bIns="0" rtlCol="0" anchor="ctr"/>
          <a:lstStyle/>
          <a:p>
            <a:pPr indent="0" marL="0">
              <a:buNone/>
            </a:pPr>
            <a:r>
              <a:rPr lang="en-US" sz="1000" dirty="0">
                <a:solidFill>
                  <a:srgbClr val="CC7A00"/>
                </a:solidFill>
                <a:latin typeface="Poppins SemiBold" pitchFamily="34" charset="0"/>
                <a:ea typeface="Poppins SemiBold" pitchFamily="34" charset="-122"/>
                <a:cs typeface="Poppins SemiBold" pitchFamily="34" charset="-120"/>
              </a:rPr>
              <a:t>Barreira de capital</a:t>
            </a:r>
            <a:endParaRPr lang="en-US" sz="1000" dirty="0"/>
          </a:p>
        </p:txBody>
      </p:sp>
      <p:sp>
        <p:nvSpPr>
          <p:cNvPr id="41" name="Text 38"/>
          <p:cNvSpPr/>
          <p:nvPr/>
        </p:nvSpPr>
        <p:spPr>
          <a:xfrm>
            <a:off x="8274101" y="4636008"/>
            <a:ext cx="3149498" cy="658368"/>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Replicar a rede exige anos de investimento e volume — proteção estrutural da posição</a:t>
            </a:r>
            <a:endParaRPr lang="en-US" sz="800" dirty="0"/>
          </a:p>
        </p:txBody>
      </p:sp>
      <p:sp>
        <p:nvSpPr>
          <p:cNvPr id="42" name="Shape 39"/>
          <p:cNvSpPr/>
          <p:nvPr/>
        </p:nvSpPr>
        <p:spPr>
          <a:xfrm>
            <a:off x="0" y="6172200"/>
            <a:ext cx="12191695" cy="685800"/>
          </a:xfrm>
          <a:prstGeom prst="rect">
            <a:avLst/>
          </a:prstGeom>
          <a:solidFill>
            <a:srgbClr val="131A22"/>
          </a:solidFill>
          <a:ln/>
        </p:spPr>
      </p:sp>
      <p:sp>
        <p:nvSpPr>
          <p:cNvPr id="43" name="Shape 40"/>
          <p:cNvSpPr/>
          <p:nvPr/>
        </p:nvSpPr>
        <p:spPr>
          <a:xfrm>
            <a:off x="0" y="6172200"/>
            <a:ext cx="118872" cy="685800"/>
          </a:xfrm>
          <a:prstGeom prst="rect">
            <a:avLst/>
          </a:prstGeom>
          <a:solidFill>
            <a:srgbClr val="FF9900"/>
          </a:solidFill>
          <a:ln/>
        </p:spPr>
      </p:sp>
      <p:sp>
        <p:nvSpPr>
          <p:cNvPr id="44" name="Text 41"/>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Logística própria é </a:t>
            </a:r>
            <a:pPr algn="ctr" indent="0" marL="0">
              <a:buNone/>
            </a:pPr>
            <a:r>
              <a:rPr lang="en-US" sz="1200" dirty="0">
                <a:solidFill>
                  <a:srgbClr val="FF9900"/>
                </a:solidFill>
                <a:latin typeface="Poppins SemiBold" pitchFamily="34" charset="0"/>
                <a:ea typeface="Poppins SemiBold" pitchFamily="34" charset="-122"/>
                <a:cs typeface="Poppins SemiBold" pitchFamily="34" charset="-120"/>
              </a:rPr>
              <a:t>vantagem que compõe</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 cada nó da rede barateia o próximo</a:t>
            </a:r>
            <a:endParaRPr lang="en-US" sz="1200" dirty="0"/>
          </a:p>
        </p:txBody>
      </p:sp>
      <p:pic>
        <p:nvPicPr>
          <p:cNvPr id="45"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46" name="Text 42"/>
          <p:cNvSpPr/>
          <p:nvPr/>
        </p:nvSpPr>
        <p:spPr>
          <a:xfrm>
            <a:off x="1097280" y="6405372"/>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9</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548994" cy="310896"/>
          </a:xfrm>
          <a:prstGeom prst="roundRect">
            <a:avLst>
              <a:gd name="adj" fmla="val 25000"/>
            </a:avLst>
          </a:prstGeom>
          <a:solidFill>
            <a:srgbClr val="FFF0D6"/>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F9900"/>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2</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Prime e marketplace: receita recorrente e economia de plataforma</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Assinatura de um lado, take-rate e serviços logísticos do outro — dois motores que se reforçam</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modelo público da companhia; métricas Brasil a confirmar. Demonstração ilustrativa — fontes públicas (relatórios anuais, imprensa); dados Brasil não divulgados marcados [TBC].</a:t>
            </a:r>
            <a:endParaRPr lang="en-US" sz="700" dirty="0"/>
          </a:p>
        </p:txBody>
      </p:sp>
      <p:sp>
        <p:nvSpPr>
          <p:cNvPr id="10" name="Text 7"/>
          <p:cNvSpPr/>
          <p:nvPr/>
        </p:nvSpPr>
        <p:spPr>
          <a:xfrm>
            <a:off x="731520" y="1755648"/>
            <a:ext cx="5486400" cy="219456"/>
          </a:xfrm>
          <a:prstGeom prst="rect">
            <a:avLst/>
          </a:prstGeom>
          <a:noFill/>
          <a:ln/>
        </p:spPr>
        <p:txBody>
          <a:bodyPr wrap="square" lIns="0" tIns="0" rIns="0" bIns="0" rtlCol="0" anchor="ctr"/>
          <a:lstStyle/>
          <a:p>
            <a:pPr indent="0" marL="0">
              <a:buNone/>
            </a:pPr>
            <a:r>
              <a:rPr lang="en-US" sz="800" spc="140" kern="0" dirty="0">
                <a:solidFill>
                  <a:srgbClr val="FF9900"/>
                </a:solidFill>
                <a:latin typeface="Poppins SemiBold" pitchFamily="34" charset="0"/>
                <a:ea typeface="Poppins SemiBold" pitchFamily="34" charset="-122"/>
                <a:cs typeface="Poppins SemiBold" pitchFamily="34" charset="-120"/>
              </a:rPr>
              <a:t>TRÊS MOTORES DE RECEITA</a:t>
            </a:r>
            <a:endParaRPr lang="en-US" sz="800" dirty="0"/>
          </a:p>
        </p:txBody>
      </p:sp>
      <p:sp>
        <p:nvSpPr>
          <p:cNvPr id="11" name="Shape 8"/>
          <p:cNvSpPr/>
          <p:nvPr/>
        </p:nvSpPr>
        <p:spPr>
          <a:xfrm>
            <a:off x="731520" y="2048256"/>
            <a:ext cx="2164080" cy="1627632"/>
          </a:xfrm>
          <a:prstGeom prst="roundRect">
            <a:avLst>
              <a:gd name="adj" fmla="val 4494"/>
            </a:avLst>
          </a:prstGeom>
          <a:solidFill>
            <a:srgbClr val="F4F6F8"/>
          </a:solidFill>
          <a:ln w="12700">
            <a:solidFill>
              <a:srgbClr val="E2E6EB"/>
            </a:solidFill>
            <a:prstDash val="solid"/>
          </a:ln>
        </p:spPr>
      </p:sp>
      <p:sp>
        <p:nvSpPr>
          <p:cNvPr id="12" name="Shape 9"/>
          <p:cNvSpPr/>
          <p:nvPr/>
        </p:nvSpPr>
        <p:spPr>
          <a:xfrm>
            <a:off x="731520" y="2048256"/>
            <a:ext cx="2164080" cy="36576"/>
          </a:xfrm>
          <a:prstGeom prst="rect">
            <a:avLst/>
          </a:prstGeom>
          <a:solidFill>
            <a:srgbClr val="FF9900"/>
          </a:solidFill>
          <a:ln/>
        </p:spPr>
      </p:sp>
      <p:sp>
        <p:nvSpPr>
          <p:cNvPr id="13" name="Text 10"/>
          <p:cNvSpPr/>
          <p:nvPr/>
        </p:nvSpPr>
        <p:spPr>
          <a:xfrm>
            <a:off x="859536" y="2212848"/>
            <a:ext cx="1908048" cy="512064"/>
          </a:xfrm>
          <a:prstGeom prst="rect">
            <a:avLst/>
          </a:prstGeom>
          <a:noFill/>
          <a:ln/>
        </p:spPr>
        <p:txBody>
          <a:bodyPr wrap="square" lIns="0" tIns="0" rIns="0" bIns="0" rtlCol="0" anchor="ctr"/>
          <a:lstStyle/>
          <a:p>
            <a:pPr algn="ctr" indent="0" marL="0">
              <a:lnSpc>
                <a:spcPct val="105000"/>
              </a:lnSpc>
              <a:buNone/>
            </a:pPr>
            <a:r>
              <a:rPr lang="en-US" sz="1000" dirty="0">
                <a:solidFill>
                  <a:srgbClr val="131A22"/>
                </a:solidFill>
                <a:latin typeface="Poppins SemiBold" pitchFamily="34" charset="0"/>
                <a:ea typeface="Poppins SemiBold" pitchFamily="34" charset="-122"/>
                <a:cs typeface="Poppins SemiBold" pitchFamily="34" charset="-120"/>
              </a:rPr>
              <a:t>Assinatura Prime</a:t>
            </a:r>
            <a:endParaRPr lang="en-US" sz="1000" dirty="0"/>
          </a:p>
        </p:txBody>
      </p:sp>
      <p:sp>
        <p:nvSpPr>
          <p:cNvPr id="14" name="Text 11"/>
          <p:cNvSpPr/>
          <p:nvPr/>
        </p:nvSpPr>
        <p:spPr>
          <a:xfrm>
            <a:off x="877824" y="2761488"/>
            <a:ext cx="1871472" cy="822960"/>
          </a:xfrm>
          <a:prstGeom prst="rect">
            <a:avLst/>
          </a:prstGeom>
          <a:noFill/>
          <a:ln/>
        </p:spPr>
        <p:txBody>
          <a:bodyPr wrap="square" lIns="0" tIns="0" rIns="0" bIns="0" rtlCol="0" anchor="t"/>
          <a:lstStyle/>
          <a:p>
            <a:pPr algn="ctr" indent="0" marL="0">
              <a:lnSpc>
                <a:spcPct val="115000"/>
              </a:lnSpc>
              <a:buNone/>
            </a:pPr>
            <a:r>
              <a:rPr lang="en-US" sz="800" dirty="0">
                <a:solidFill>
                  <a:srgbClr val="6C7683"/>
                </a:solidFill>
                <a:latin typeface="Poppins" pitchFamily="34" charset="0"/>
                <a:ea typeface="Poppins" pitchFamily="34" charset="-122"/>
                <a:cs typeface="Poppins" pitchFamily="34" charset="-120"/>
              </a:rPr>
              <a:t>Receita recorrente mensal/anual que consolida frete, vídeo, música e ofertas</a:t>
            </a:r>
            <a:endParaRPr lang="en-US" sz="800" dirty="0"/>
          </a:p>
        </p:txBody>
      </p:sp>
      <p:sp>
        <p:nvSpPr>
          <p:cNvPr id="15" name="Shape 12"/>
          <p:cNvSpPr/>
          <p:nvPr/>
        </p:nvSpPr>
        <p:spPr>
          <a:xfrm>
            <a:off x="3078480" y="2048256"/>
            <a:ext cx="2164080" cy="1627632"/>
          </a:xfrm>
          <a:prstGeom prst="roundRect">
            <a:avLst>
              <a:gd name="adj" fmla="val 4494"/>
            </a:avLst>
          </a:prstGeom>
          <a:solidFill>
            <a:srgbClr val="F4F6F8"/>
          </a:solidFill>
          <a:ln w="12700">
            <a:solidFill>
              <a:srgbClr val="E2E6EB"/>
            </a:solidFill>
            <a:prstDash val="solid"/>
          </a:ln>
        </p:spPr>
      </p:sp>
      <p:sp>
        <p:nvSpPr>
          <p:cNvPr id="16" name="Shape 13"/>
          <p:cNvSpPr/>
          <p:nvPr/>
        </p:nvSpPr>
        <p:spPr>
          <a:xfrm>
            <a:off x="3078480" y="2048256"/>
            <a:ext cx="2164080" cy="36576"/>
          </a:xfrm>
          <a:prstGeom prst="rect">
            <a:avLst/>
          </a:prstGeom>
          <a:solidFill>
            <a:srgbClr val="FF9900"/>
          </a:solidFill>
          <a:ln/>
        </p:spPr>
      </p:sp>
      <p:sp>
        <p:nvSpPr>
          <p:cNvPr id="17" name="Text 14"/>
          <p:cNvSpPr/>
          <p:nvPr/>
        </p:nvSpPr>
        <p:spPr>
          <a:xfrm>
            <a:off x="3206496" y="2212848"/>
            <a:ext cx="1908048" cy="512064"/>
          </a:xfrm>
          <a:prstGeom prst="rect">
            <a:avLst/>
          </a:prstGeom>
          <a:noFill/>
          <a:ln/>
        </p:spPr>
        <p:txBody>
          <a:bodyPr wrap="square" lIns="0" tIns="0" rIns="0" bIns="0" rtlCol="0" anchor="ctr"/>
          <a:lstStyle/>
          <a:p>
            <a:pPr algn="ctr" indent="0" marL="0">
              <a:lnSpc>
                <a:spcPct val="105000"/>
              </a:lnSpc>
              <a:buNone/>
            </a:pPr>
            <a:r>
              <a:rPr lang="en-US" sz="1000" dirty="0">
                <a:solidFill>
                  <a:srgbClr val="131A22"/>
                </a:solidFill>
                <a:latin typeface="Poppins SemiBold" pitchFamily="34" charset="0"/>
                <a:ea typeface="Poppins SemiBold" pitchFamily="34" charset="-122"/>
                <a:cs typeface="Poppins SemiBold" pitchFamily="34" charset="-120"/>
              </a:rPr>
              <a:t>Take-rate do marketplace</a:t>
            </a:r>
            <a:endParaRPr lang="en-US" sz="1000" dirty="0"/>
          </a:p>
        </p:txBody>
      </p:sp>
      <p:sp>
        <p:nvSpPr>
          <p:cNvPr id="18" name="Text 15"/>
          <p:cNvSpPr/>
          <p:nvPr/>
        </p:nvSpPr>
        <p:spPr>
          <a:xfrm>
            <a:off x="3224784" y="2761488"/>
            <a:ext cx="1871472" cy="822960"/>
          </a:xfrm>
          <a:prstGeom prst="rect">
            <a:avLst/>
          </a:prstGeom>
          <a:noFill/>
          <a:ln/>
        </p:spPr>
        <p:txBody>
          <a:bodyPr wrap="square" lIns="0" tIns="0" rIns="0" bIns="0" rtlCol="0" anchor="t"/>
          <a:lstStyle/>
          <a:p>
            <a:pPr algn="ctr" indent="0" marL="0">
              <a:lnSpc>
                <a:spcPct val="115000"/>
              </a:lnSpc>
              <a:buNone/>
            </a:pPr>
            <a:r>
              <a:rPr lang="en-US" sz="800" dirty="0">
                <a:solidFill>
                  <a:srgbClr val="6C7683"/>
                </a:solidFill>
                <a:latin typeface="Poppins" pitchFamily="34" charset="0"/>
                <a:ea typeface="Poppins" pitchFamily="34" charset="-122"/>
                <a:cs typeface="Poppins" pitchFamily="34" charset="-120"/>
              </a:rPr>
              <a:t>Comissão sobre vendas de terceiros — cresce sem capital próprio em estoque</a:t>
            </a:r>
            <a:endParaRPr lang="en-US" sz="800" dirty="0"/>
          </a:p>
        </p:txBody>
      </p:sp>
      <p:sp>
        <p:nvSpPr>
          <p:cNvPr id="19" name="Shape 16"/>
          <p:cNvSpPr/>
          <p:nvPr/>
        </p:nvSpPr>
        <p:spPr>
          <a:xfrm>
            <a:off x="5425440" y="2048256"/>
            <a:ext cx="2164080" cy="1627632"/>
          </a:xfrm>
          <a:prstGeom prst="roundRect">
            <a:avLst>
              <a:gd name="adj" fmla="val 4494"/>
            </a:avLst>
          </a:prstGeom>
          <a:solidFill>
            <a:srgbClr val="F4F6F8"/>
          </a:solidFill>
          <a:ln w="12700">
            <a:solidFill>
              <a:srgbClr val="E2E6EB"/>
            </a:solidFill>
            <a:prstDash val="solid"/>
          </a:ln>
        </p:spPr>
      </p:sp>
      <p:sp>
        <p:nvSpPr>
          <p:cNvPr id="20" name="Shape 17"/>
          <p:cNvSpPr/>
          <p:nvPr/>
        </p:nvSpPr>
        <p:spPr>
          <a:xfrm>
            <a:off x="5425440" y="2048256"/>
            <a:ext cx="2164080" cy="36576"/>
          </a:xfrm>
          <a:prstGeom prst="rect">
            <a:avLst/>
          </a:prstGeom>
          <a:solidFill>
            <a:srgbClr val="FF9900"/>
          </a:solidFill>
          <a:ln/>
        </p:spPr>
      </p:sp>
      <p:sp>
        <p:nvSpPr>
          <p:cNvPr id="21" name="Text 18"/>
          <p:cNvSpPr/>
          <p:nvPr/>
        </p:nvSpPr>
        <p:spPr>
          <a:xfrm>
            <a:off x="5553456" y="2212848"/>
            <a:ext cx="1908048" cy="512064"/>
          </a:xfrm>
          <a:prstGeom prst="rect">
            <a:avLst/>
          </a:prstGeom>
          <a:noFill/>
          <a:ln/>
        </p:spPr>
        <p:txBody>
          <a:bodyPr wrap="square" lIns="0" tIns="0" rIns="0" bIns="0" rtlCol="0" anchor="ctr"/>
          <a:lstStyle/>
          <a:p>
            <a:pPr algn="ctr" indent="0" marL="0">
              <a:lnSpc>
                <a:spcPct val="105000"/>
              </a:lnSpc>
              <a:buNone/>
            </a:pPr>
            <a:r>
              <a:rPr lang="en-US" sz="1000" dirty="0">
                <a:solidFill>
                  <a:srgbClr val="131A22"/>
                </a:solidFill>
                <a:latin typeface="Poppins SemiBold" pitchFamily="34" charset="0"/>
                <a:ea typeface="Poppins SemiBold" pitchFamily="34" charset="-122"/>
                <a:cs typeface="Poppins SemiBold" pitchFamily="34" charset="-120"/>
              </a:rPr>
              <a:t>FBA / Logística da Amazon</a:t>
            </a:r>
            <a:endParaRPr lang="en-US" sz="1000" dirty="0"/>
          </a:p>
        </p:txBody>
      </p:sp>
      <p:sp>
        <p:nvSpPr>
          <p:cNvPr id="22" name="Text 19"/>
          <p:cNvSpPr/>
          <p:nvPr/>
        </p:nvSpPr>
        <p:spPr>
          <a:xfrm>
            <a:off x="5571744" y="2761488"/>
            <a:ext cx="1871472" cy="822960"/>
          </a:xfrm>
          <a:prstGeom prst="rect">
            <a:avLst/>
          </a:prstGeom>
          <a:noFill/>
          <a:ln/>
        </p:spPr>
        <p:txBody>
          <a:bodyPr wrap="square" lIns="0" tIns="0" rIns="0" bIns="0" rtlCol="0" anchor="t"/>
          <a:lstStyle/>
          <a:p>
            <a:pPr algn="ctr" indent="0" marL="0">
              <a:lnSpc>
                <a:spcPct val="115000"/>
              </a:lnSpc>
              <a:buNone/>
            </a:pPr>
            <a:r>
              <a:rPr lang="en-US" sz="800" dirty="0">
                <a:solidFill>
                  <a:srgbClr val="6C7683"/>
                </a:solidFill>
                <a:latin typeface="Poppins" pitchFamily="34" charset="0"/>
                <a:ea typeface="Poppins" pitchFamily="34" charset="-122"/>
                <a:cs typeface="Poppins" pitchFamily="34" charset="-120"/>
              </a:rPr>
              <a:t>O vendedor contrata a malha logística como serviço, monetizando a rede duas vezes</a:t>
            </a:r>
            <a:endParaRPr lang="en-US" sz="800" dirty="0"/>
          </a:p>
        </p:txBody>
      </p:sp>
      <p:sp>
        <p:nvSpPr>
          <p:cNvPr id="23" name="Text 20"/>
          <p:cNvSpPr/>
          <p:nvPr/>
        </p:nvSpPr>
        <p:spPr>
          <a:xfrm>
            <a:off x="731520" y="3840480"/>
            <a:ext cx="5486400" cy="219456"/>
          </a:xfrm>
          <a:prstGeom prst="rect">
            <a:avLst/>
          </a:prstGeom>
          <a:noFill/>
          <a:ln/>
        </p:spPr>
        <p:txBody>
          <a:bodyPr wrap="square" lIns="0" tIns="0" rIns="0" bIns="0" rtlCol="0" anchor="ctr"/>
          <a:lstStyle/>
          <a:p>
            <a:pPr indent="0" marL="0">
              <a:buNone/>
            </a:pPr>
            <a:r>
              <a:rPr lang="en-US" sz="800" spc="140" kern="0" dirty="0">
                <a:solidFill>
                  <a:srgbClr val="FF9900"/>
                </a:solidFill>
                <a:latin typeface="Poppins SemiBold" pitchFamily="34" charset="0"/>
                <a:ea typeface="Poppins SemiBold" pitchFamily="34" charset="-122"/>
                <a:cs typeface="Poppins SemiBold" pitchFamily="34" charset="-120"/>
              </a:rPr>
              <a:t>POR QUE O CLIENTE FICA</a:t>
            </a:r>
            <a:endParaRPr lang="en-US" sz="800" dirty="0"/>
          </a:p>
        </p:txBody>
      </p:sp>
      <p:sp>
        <p:nvSpPr>
          <p:cNvPr id="24" name="Shape 21"/>
          <p:cNvSpPr/>
          <p:nvPr/>
        </p:nvSpPr>
        <p:spPr>
          <a:xfrm rot="5400000">
            <a:off x="731520" y="4197096"/>
            <a:ext cx="137160" cy="137160"/>
          </a:xfrm>
          <a:prstGeom prst="triangle">
            <a:avLst/>
          </a:prstGeom>
          <a:solidFill>
            <a:srgbClr val="FF9900"/>
          </a:solidFill>
          <a:ln/>
        </p:spPr>
      </p:sp>
      <p:sp>
        <p:nvSpPr>
          <p:cNvPr id="25" name="Text 22"/>
          <p:cNvSpPr/>
          <p:nvPr/>
        </p:nvSpPr>
        <p:spPr>
          <a:xfrm>
            <a:off x="969264" y="4133088"/>
            <a:ext cx="6583680" cy="475488"/>
          </a:xfrm>
          <a:prstGeom prst="rect">
            <a:avLst/>
          </a:prstGeom>
          <a:noFill/>
          <a:ln/>
        </p:spPr>
        <p:txBody>
          <a:bodyPr wrap="square" lIns="0" tIns="0" rIns="0" bIns="0" rtlCol="0" anchor="t"/>
          <a:lstStyle/>
          <a:p>
            <a:pPr indent="0" marL="0">
              <a:lnSpc>
                <a:spcPct val="114000"/>
              </a:lnSpc>
              <a:buNone/>
            </a:pPr>
            <a:r>
              <a:rPr lang="en-US" sz="850" dirty="0">
                <a:solidFill>
                  <a:srgbClr val="131A22"/>
                </a:solidFill>
                <a:latin typeface="Poppins SemiBold" pitchFamily="34" charset="0"/>
                <a:ea typeface="Poppins SemiBold" pitchFamily="34" charset="-122"/>
                <a:cs typeface="Poppins SemiBold" pitchFamily="34" charset="-120"/>
              </a:rPr>
              <a:t>Custo de troca crescente  —  </a:t>
            </a:r>
            <a:pPr indent="0" marL="0">
              <a:lnSpc>
                <a:spcPct val="114000"/>
              </a:lnSpc>
              <a:buNone/>
            </a:pPr>
            <a:r>
              <a:rPr lang="en-US" sz="850" dirty="0">
                <a:solidFill>
                  <a:srgbClr val="6C7683"/>
                </a:solidFill>
                <a:latin typeface="Poppins" pitchFamily="34" charset="0"/>
                <a:ea typeface="Poppins" pitchFamily="34" charset="-122"/>
                <a:cs typeface="Poppins" pitchFamily="34" charset="-120"/>
              </a:rPr>
              <a:t>Quanto mais serviços na assinatura, mais cara fica a saída para o cliente</a:t>
            </a:r>
            <a:endParaRPr lang="en-US" sz="850" dirty="0"/>
          </a:p>
        </p:txBody>
      </p:sp>
      <p:sp>
        <p:nvSpPr>
          <p:cNvPr id="26" name="Shape 23"/>
          <p:cNvSpPr/>
          <p:nvPr/>
        </p:nvSpPr>
        <p:spPr>
          <a:xfrm rot="5400000">
            <a:off x="731520" y="4727448"/>
            <a:ext cx="137160" cy="137160"/>
          </a:xfrm>
          <a:prstGeom prst="triangle">
            <a:avLst/>
          </a:prstGeom>
          <a:solidFill>
            <a:srgbClr val="FF9900"/>
          </a:solidFill>
          <a:ln/>
        </p:spPr>
      </p:sp>
      <p:sp>
        <p:nvSpPr>
          <p:cNvPr id="27" name="Text 24"/>
          <p:cNvSpPr/>
          <p:nvPr/>
        </p:nvSpPr>
        <p:spPr>
          <a:xfrm>
            <a:off x="969264" y="4663440"/>
            <a:ext cx="6583680" cy="475488"/>
          </a:xfrm>
          <a:prstGeom prst="rect">
            <a:avLst/>
          </a:prstGeom>
          <a:noFill/>
          <a:ln/>
        </p:spPr>
        <p:txBody>
          <a:bodyPr wrap="square" lIns="0" tIns="0" rIns="0" bIns="0" rtlCol="0" anchor="t"/>
          <a:lstStyle/>
          <a:p>
            <a:pPr indent="0" marL="0">
              <a:lnSpc>
                <a:spcPct val="114000"/>
              </a:lnSpc>
              <a:buNone/>
            </a:pPr>
            <a:r>
              <a:rPr lang="en-US" sz="850" dirty="0">
                <a:solidFill>
                  <a:srgbClr val="131A22"/>
                </a:solidFill>
                <a:latin typeface="Poppins SemiBold" pitchFamily="34" charset="0"/>
                <a:ea typeface="Poppins SemiBold" pitchFamily="34" charset="-122"/>
                <a:cs typeface="Poppins SemiBold" pitchFamily="34" charset="-120"/>
              </a:rPr>
              <a:t>Hábito de frequência  —  </a:t>
            </a:r>
            <a:pPr indent="0" marL="0">
              <a:lnSpc>
                <a:spcPct val="114000"/>
              </a:lnSpc>
              <a:buNone/>
            </a:pPr>
            <a:r>
              <a:rPr lang="en-US" sz="850" dirty="0">
                <a:solidFill>
                  <a:srgbClr val="6C7683"/>
                </a:solidFill>
                <a:latin typeface="Poppins" pitchFamily="34" charset="0"/>
                <a:ea typeface="Poppins" pitchFamily="34" charset="-122"/>
                <a:cs typeface="Poppins" pitchFamily="34" charset="-120"/>
              </a:rPr>
              <a:t>Frete incluído muda o comportamento: compras menores e mais frequentes</a:t>
            </a:r>
            <a:endParaRPr lang="en-US" sz="850" dirty="0"/>
          </a:p>
        </p:txBody>
      </p:sp>
      <p:sp>
        <p:nvSpPr>
          <p:cNvPr id="28" name="Shape 25"/>
          <p:cNvSpPr/>
          <p:nvPr/>
        </p:nvSpPr>
        <p:spPr>
          <a:xfrm rot="5400000">
            <a:off x="731520" y="5257800"/>
            <a:ext cx="137160" cy="137160"/>
          </a:xfrm>
          <a:prstGeom prst="triangle">
            <a:avLst/>
          </a:prstGeom>
          <a:solidFill>
            <a:srgbClr val="FF9900"/>
          </a:solidFill>
          <a:ln/>
        </p:spPr>
      </p:sp>
      <p:sp>
        <p:nvSpPr>
          <p:cNvPr id="29" name="Text 26"/>
          <p:cNvSpPr/>
          <p:nvPr/>
        </p:nvSpPr>
        <p:spPr>
          <a:xfrm>
            <a:off x="969264" y="5193792"/>
            <a:ext cx="6583680" cy="475488"/>
          </a:xfrm>
          <a:prstGeom prst="rect">
            <a:avLst/>
          </a:prstGeom>
          <a:noFill/>
          <a:ln/>
        </p:spPr>
        <p:txBody>
          <a:bodyPr wrap="square" lIns="0" tIns="0" rIns="0" bIns="0" rtlCol="0" anchor="t"/>
          <a:lstStyle/>
          <a:p>
            <a:pPr indent="0" marL="0">
              <a:lnSpc>
                <a:spcPct val="114000"/>
              </a:lnSpc>
              <a:buNone/>
            </a:pPr>
            <a:r>
              <a:rPr lang="en-US" sz="850" dirty="0">
                <a:solidFill>
                  <a:srgbClr val="131A22"/>
                </a:solidFill>
                <a:latin typeface="Poppins SemiBold" pitchFamily="34" charset="0"/>
                <a:ea typeface="Poppins SemiBold" pitchFamily="34" charset="-122"/>
                <a:cs typeface="Poppins SemiBold" pitchFamily="34" charset="-120"/>
              </a:rPr>
              <a:t>Confiança na promessa  —  </a:t>
            </a:r>
            <a:pPr indent="0" marL="0">
              <a:lnSpc>
                <a:spcPct val="114000"/>
              </a:lnSpc>
              <a:buNone/>
            </a:pPr>
            <a:r>
              <a:rPr lang="en-US" sz="850" dirty="0">
                <a:solidFill>
                  <a:srgbClr val="6C7683"/>
                </a:solidFill>
                <a:latin typeface="Poppins" pitchFamily="34" charset="0"/>
                <a:ea typeface="Poppins" pitchFamily="34" charset="-122"/>
                <a:cs typeface="Poppins" pitchFamily="34" charset="-120"/>
              </a:rPr>
              <a:t>Prazo cumprido repetidamente vira o padrão contra o qual concorrentes são medidos</a:t>
            </a:r>
            <a:endParaRPr lang="en-US" sz="850" dirty="0"/>
          </a:p>
        </p:txBody>
      </p:sp>
      <p:sp>
        <p:nvSpPr>
          <p:cNvPr id="30" name="Shape 27"/>
          <p:cNvSpPr/>
          <p:nvPr/>
        </p:nvSpPr>
        <p:spPr>
          <a:xfrm>
            <a:off x="7772400" y="1755648"/>
            <a:ext cx="3687775" cy="3968496"/>
          </a:xfrm>
          <a:prstGeom prst="roundRect">
            <a:avLst>
              <a:gd name="adj" fmla="val 2480"/>
            </a:avLst>
          </a:prstGeom>
          <a:solidFill>
            <a:srgbClr val="131A22"/>
          </a:solidFill>
          <a:ln/>
        </p:spPr>
      </p:sp>
      <p:sp>
        <p:nvSpPr>
          <p:cNvPr id="31" name="Text 28"/>
          <p:cNvSpPr/>
          <p:nvPr/>
        </p:nvSpPr>
        <p:spPr>
          <a:xfrm>
            <a:off x="8028432" y="1956816"/>
            <a:ext cx="3175711" cy="219456"/>
          </a:xfrm>
          <a:prstGeom prst="rect">
            <a:avLst/>
          </a:prstGeom>
          <a:noFill/>
          <a:ln/>
        </p:spPr>
        <p:txBody>
          <a:bodyPr wrap="square" lIns="0" tIns="0" rIns="0" bIns="0" rtlCol="0" anchor="ctr"/>
          <a:lstStyle/>
          <a:p>
            <a:pPr indent="0" marL="0">
              <a:buNone/>
            </a:pPr>
            <a:r>
              <a:rPr lang="en-US" sz="800" spc="140" kern="0" dirty="0">
                <a:solidFill>
                  <a:srgbClr val="FF9900"/>
                </a:solidFill>
                <a:latin typeface="Poppins SemiBold" pitchFamily="34" charset="0"/>
                <a:ea typeface="Poppins SemiBold" pitchFamily="34" charset="-122"/>
                <a:cs typeface="Poppins SemiBold" pitchFamily="34" charset="-120"/>
              </a:rPr>
              <a:t>PERFIL DO MODELO</a:t>
            </a:r>
            <a:endParaRPr lang="en-US" sz="800" dirty="0"/>
          </a:p>
        </p:txBody>
      </p:sp>
      <p:sp>
        <p:nvSpPr>
          <p:cNvPr id="32" name="Text 29"/>
          <p:cNvSpPr/>
          <p:nvPr/>
        </p:nvSpPr>
        <p:spPr>
          <a:xfrm>
            <a:off x="8028432" y="2304288"/>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Recorrente</a:t>
            </a:r>
            <a:endParaRPr lang="en-US" sz="1400" dirty="0"/>
          </a:p>
        </p:txBody>
      </p:sp>
      <p:sp>
        <p:nvSpPr>
          <p:cNvPr id="33" name="Text 30"/>
          <p:cNvSpPr/>
          <p:nvPr/>
        </p:nvSpPr>
        <p:spPr>
          <a:xfrm>
            <a:off x="8028432" y="2578608"/>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Assinatura + reposição frequente</a:t>
            </a:r>
            <a:endParaRPr lang="en-US" sz="800" dirty="0"/>
          </a:p>
        </p:txBody>
      </p:sp>
      <p:sp>
        <p:nvSpPr>
          <p:cNvPr id="34" name="Shape 31"/>
          <p:cNvSpPr/>
          <p:nvPr/>
        </p:nvSpPr>
        <p:spPr>
          <a:xfrm>
            <a:off x="8028432" y="2852928"/>
            <a:ext cx="3175711" cy="10973"/>
          </a:xfrm>
          <a:prstGeom prst="rect">
            <a:avLst/>
          </a:prstGeom>
          <a:solidFill>
            <a:srgbClr val="3A4A5E"/>
          </a:solidFill>
          <a:ln/>
        </p:spPr>
      </p:sp>
      <p:sp>
        <p:nvSpPr>
          <p:cNvPr id="35" name="Text 32"/>
          <p:cNvSpPr/>
          <p:nvPr/>
        </p:nvSpPr>
        <p:spPr>
          <a:xfrm>
            <a:off x="8028432" y="2971800"/>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Two-sided</a:t>
            </a:r>
            <a:endParaRPr lang="en-US" sz="1400" dirty="0"/>
          </a:p>
        </p:txBody>
      </p:sp>
      <p:sp>
        <p:nvSpPr>
          <p:cNvPr id="36" name="Text 33"/>
          <p:cNvSpPr/>
          <p:nvPr/>
        </p:nvSpPr>
        <p:spPr>
          <a:xfrm>
            <a:off x="8028432" y="3246120"/>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Clientes e vendedores na mesma rede</a:t>
            </a:r>
            <a:endParaRPr lang="en-US" sz="800" dirty="0"/>
          </a:p>
        </p:txBody>
      </p:sp>
      <p:sp>
        <p:nvSpPr>
          <p:cNvPr id="37" name="Shape 34"/>
          <p:cNvSpPr/>
          <p:nvPr/>
        </p:nvSpPr>
        <p:spPr>
          <a:xfrm>
            <a:off x="8028432" y="3520440"/>
            <a:ext cx="3175711" cy="10973"/>
          </a:xfrm>
          <a:prstGeom prst="rect">
            <a:avLst/>
          </a:prstGeom>
          <a:solidFill>
            <a:srgbClr val="3A4A5E"/>
          </a:solidFill>
          <a:ln/>
        </p:spPr>
      </p:sp>
      <p:sp>
        <p:nvSpPr>
          <p:cNvPr id="38" name="Text 35"/>
          <p:cNvSpPr/>
          <p:nvPr/>
        </p:nvSpPr>
        <p:spPr>
          <a:xfrm>
            <a:off x="8028432" y="3639312"/>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Asset-light</a:t>
            </a:r>
            <a:endParaRPr lang="en-US" sz="1400" dirty="0"/>
          </a:p>
        </p:txBody>
      </p:sp>
      <p:sp>
        <p:nvSpPr>
          <p:cNvPr id="39" name="Text 36"/>
          <p:cNvSpPr/>
          <p:nvPr/>
        </p:nvSpPr>
        <p:spPr>
          <a:xfrm>
            <a:off x="8028432" y="3913632"/>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Marketplace cresce sem estoque próprio</a:t>
            </a:r>
            <a:endParaRPr lang="en-US" sz="800" dirty="0"/>
          </a:p>
        </p:txBody>
      </p:sp>
      <p:sp>
        <p:nvSpPr>
          <p:cNvPr id="40" name="Shape 37"/>
          <p:cNvSpPr/>
          <p:nvPr/>
        </p:nvSpPr>
        <p:spPr>
          <a:xfrm>
            <a:off x="8028432" y="4187952"/>
            <a:ext cx="3175711" cy="10973"/>
          </a:xfrm>
          <a:prstGeom prst="rect">
            <a:avLst/>
          </a:prstGeom>
          <a:solidFill>
            <a:srgbClr val="3A4A5E"/>
          </a:solidFill>
          <a:ln/>
        </p:spPr>
      </p:sp>
      <p:sp>
        <p:nvSpPr>
          <p:cNvPr id="41" name="Text 38"/>
          <p:cNvSpPr/>
          <p:nvPr/>
        </p:nvSpPr>
        <p:spPr>
          <a:xfrm>
            <a:off x="8028432" y="4306824"/>
            <a:ext cx="3175711" cy="292608"/>
          </a:xfrm>
          <a:prstGeom prst="rect">
            <a:avLst/>
          </a:prstGeom>
          <a:noFill/>
          <a:ln/>
        </p:spPr>
        <p:txBody>
          <a:bodyPr wrap="square" lIns="0" tIns="0" rIns="0" bIns="0" rtlCol="0" anchor="ctr"/>
          <a:lstStyle/>
          <a:p>
            <a:pPr indent="0" marL="0">
              <a:buNone/>
            </a:pPr>
            <a:r>
              <a:rPr lang="en-US" sz="1400" dirty="0">
                <a:solidFill>
                  <a:srgbClr val="8B95A5"/>
                </a:solidFill>
                <a:latin typeface="Poppins SemiBold" pitchFamily="34" charset="0"/>
                <a:ea typeface="Poppins SemiBold" pitchFamily="34" charset="-122"/>
                <a:cs typeface="Poppins SemiBold" pitchFamily="34" charset="-120"/>
              </a:rPr>
              <a:t>[TBC]</a:t>
            </a:r>
            <a:endParaRPr lang="en-US" sz="1400" dirty="0"/>
          </a:p>
        </p:txBody>
      </p:sp>
      <p:sp>
        <p:nvSpPr>
          <p:cNvPr id="42" name="Text 39"/>
          <p:cNvSpPr/>
          <p:nvPr/>
        </p:nvSpPr>
        <p:spPr>
          <a:xfrm>
            <a:off x="8028432" y="4581144"/>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Membros Prime no Brasil</a:t>
            </a:r>
            <a:endParaRPr lang="en-US" sz="800" dirty="0"/>
          </a:p>
        </p:txBody>
      </p:sp>
      <p:sp>
        <p:nvSpPr>
          <p:cNvPr id="43" name="Shape 40"/>
          <p:cNvSpPr/>
          <p:nvPr/>
        </p:nvSpPr>
        <p:spPr>
          <a:xfrm>
            <a:off x="8028432" y="4855464"/>
            <a:ext cx="3175711" cy="10973"/>
          </a:xfrm>
          <a:prstGeom prst="rect">
            <a:avLst/>
          </a:prstGeom>
          <a:solidFill>
            <a:srgbClr val="3A4A5E"/>
          </a:solidFill>
          <a:ln/>
        </p:spPr>
      </p:sp>
      <p:sp>
        <p:nvSpPr>
          <p:cNvPr id="44" name="Text 41"/>
          <p:cNvSpPr/>
          <p:nvPr/>
        </p:nvSpPr>
        <p:spPr>
          <a:xfrm>
            <a:off x="8028432" y="4974336"/>
            <a:ext cx="3175711" cy="292608"/>
          </a:xfrm>
          <a:prstGeom prst="rect">
            <a:avLst/>
          </a:prstGeom>
          <a:noFill/>
          <a:ln/>
        </p:spPr>
        <p:txBody>
          <a:bodyPr wrap="square" lIns="0" tIns="0" rIns="0" bIns="0" rtlCol="0" anchor="ctr"/>
          <a:lstStyle/>
          <a:p>
            <a:pPr indent="0" marL="0">
              <a:buNone/>
            </a:pPr>
            <a:r>
              <a:rPr lang="en-US" sz="1400" dirty="0">
                <a:solidFill>
                  <a:srgbClr val="8B95A5"/>
                </a:solidFill>
                <a:latin typeface="Poppins SemiBold" pitchFamily="34" charset="0"/>
                <a:ea typeface="Poppins SemiBold" pitchFamily="34" charset="-122"/>
                <a:cs typeface="Poppins SemiBold" pitchFamily="34" charset="-120"/>
              </a:rPr>
              <a:t>[TBC]</a:t>
            </a:r>
            <a:endParaRPr lang="en-US" sz="1400" dirty="0"/>
          </a:p>
        </p:txBody>
      </p:sp>
      <p:sp>
        <p:nvSpPr>
          <p:cNvPr id="45" name="Text 42"/>
          <p:cNvSpPr/>
          <p:nvPr/>
        </p:nvSpPr>
        <p:spPr>
          <a:xfrm>
            <a:off x="8028432" y="5248656"/>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GMV / take-rate Brasil</a:t>
            </a:r>
            <a:endParaRPr lang="en-US" sz="800" dirty="0"/>
          </a:p>
        </p:txBody>
      </p:sp>
      <p:sp>
        <p:nvSpPr>
          <p:cNvPr id="46" name="Shape 43"/>
          <p:cNvSpPr/>
          <p:nvPr/>
        </p:nvSpPr>
        <p:spPr>
          <a:xfrm>
            <a:off x="0" y="6172200"/>
            <a:ext cx="12191695" cy="685800"/>
          </a:xfrm>
          <a:prstGeom prst="rect">
            <a:avLst/>
          </a:prstGeom>
          <a:solidFill>
            <a:srgbClr val="131A22"/>
          </a:solidFill>
          <a:ln/>
        </p:spPr>
      </p:sp>
      <p:sp>
        <p:nvSpPr>
          <p:cNvPr id="47" name="Shape 44"/>
          <p:cNvSpPr/>
          <p:nvPr/>
        </p:nvSpPr>
        <p:spPr>
          <a:xfrm>
            <a:off x="0" y="6172200"/>
            <a:ext cx="118872" cy="685800"/>
          </a:xfrm>
          <a:prstGeom prst="rect">
            <a:avLst/>
          </a:prstGeom>
          <a:solidFill>
            <a:srgbClr val="FF9900"/>
          </a:solidFill>
          <a:ln/>
        </p:spPr>
      </p:sp>
      <p:sp>
        <p:nvSpPr>
          <p:cNvPr id="48" name="Text 45"/>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Assinatura de um lado, </a:t>
            </a:r>
            <a:pPr algn="ctr" indent="0" marL="0">
              <a:buNone/>
            </a:pPr>
            <a:r>
              <a:rPr lang="en-US" sz="1200" dirty="0">
                <a:solidFill>
                  <a:srgbClr val="FF9900"/>
                </a:solidFill>
                <a:latin typeface="Poppins SemiBold" pitchFamily="34" charset="0"/>
                <a:ea typeface="Poppins SemiBold" pitchFamily="34" charset="-122"/>
                <a:cs typeface="Poppins SemiBold" pitchFamily="34" charset="-120"/>
              </a:rPr>
              <a:t>plataforma do outro</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 os dois motores giram o mesmo flywheel</a:t>
            </a:r>
            <a:endParaRPr lang="en-US" sz="1200" dirty="0"/>
          </a:p>
        </p:txBody>
      </p:sp>
      <p:pic>
        <p:nvPicPr>
          <p:cNvPr id="49"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50" name="Text 46"/>
          <p:cNvSpPr/>
          <p:nvPr/>
        </p:nvSpPr>
        <p:spPr>
          <a:xfrm>
            <a:off x="1097280" y="6405372"/>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10</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548994" cy="310896"/>
          </a:xfrm>
          <a:prstGeom prst="roundRect">
            <a:avLst>
              <a:gd name="adj" fmla="val 25000"/>
            </a:avLst>
          </a:prstGeom>
          <a:solidFill>
            <a:srgbClr val="FFF0D6"/>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F9900"/>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5</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Avenidas de crescimento</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Retail media, novas categorias e interiorização ampliam o mercado endereçável</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direções públicas da companhia; priorização a validar. Demonstração ilustrativa — fontes públicas (relatórios anuais, imprensa); dados Brasil não divulgados marcados [TBC].</a:t>
            </a:r>
            <a:endParaRPr lang="en-US" sz="700" dirty="0"/>
          </a:p>
        </p:txBody>
      </p:sp>
      <p:sp>
        <p:nvSpPr>
          <p:cNvPr id="10" name="Shape 7"/>
          <p:cNvSpPr/>
          <p:nvPr/>
        </p:nvSpPr>
        <p:spPr>
          <a:xfrm>
            <a:off x="731520" y="1783080"/>
            <a:ext cx="3405530" cy="3566160"/>
          </a:xfrm>
          <a:prstGeom prst="roundRect">
            <a:avLst>
              <a:gd name="adj" fmla="val 2685"/>
            </a:avLst>
          </a:prstGeom>
          <a:solidFill>
            <a:srgbClr val="F4F6F8"/>
          </a:solidFill>
          <a:ln w="12700">
            <a:solidFill>
              <a:srgbClr val="E2E6EB"/>
            </a:solidFill>
            <a:prstDash val="solid"/>
          </a:ln>
        </p:spPr>
      </p:sp>
      <p:sp>
        <p:nvSpPr>
          <p:cNvPr id="11" name="Shape 8"/>
          <p:cNvSpPr/>
          <p:nvPr/>
        </p:nvSpPr>
        <p:spPr>
          <a:xfrm>
            <a:off x="731520" y="1783080"/>
            <a:ext cx="3405530" cy="45720"/>
          </a:xfrm>
          <a:prstGeom prst="rect">
            <a:avLst/>
          </a:prstGeom>
          <a:solidFill>
            <a:srgbClr val="FF9900"/>
          </a:solidFill>
          <a:ln/>
        </p:spPr>
      </p:sp>
      <p:sp>
        <p:nvSpPr>
          <p:cNvPr id="12" name="Text 9"/>
          <p:cNvSpPr/>
          <p:nvPr/>
        </p:nvSpPr>
        <p:spPr>
          <a:xfrm>
            <a:off x="3478682" y="2002536"/>
            <a:ext cx="457200" cy="457200"/>
          </a:xfrm>
          <a:prstGeom prst="rect">
            <a:avLst/>
          </a:prstGeom>
          <a:noFill/>
          <a:ln/>
        </p:spPr>
        <p:txBody>
          <a:bodyPr wrap="square" lIns="0" tIns="0" rIns="0" bIns="0" rtlCol="0" anchor="ctr"/>
          <a:lstStyle/>
          <a:p>
            <a:pPr algn="r" indent="0" marL="0">
              <a:buNone/>
            </a:pPr>
            <a:r>
              <a:rPr lang="en-US" sz="2000" dirty="0">
                <a:solidFill>
                  <a:srgbClr val="FFE2AD"/>
                </a:solidFill>
                <a:latin typeface="Poppins SemiBold" pitchFamily="34" charset="0"/>
                <a:ea typeface="Poppins SemiBold" pitchFamily="34" charset="-122"/>
                <a:cs typeface="Poppins SemiBold" pitchFamily="34" charset="-120"/>
              </a:rPr>
              <a:t>A</a:t>
            </a:r>
            <a:endParaRPr lang="en-US" sz="2000" dirty="0"/>
          </a:p>
        </p:txBody>
      </p:sp>
      <p:sp>
        <p:nvSpPr>
          <p:cNvPr id="13" name="Text 10"/>
          <p:cNvSpPr/>
          <p:nvPr/>
        </p:nvSpPr>
        <p:spPr>
          <a:xfrm>
            <a:off x="987552" y="2057400"/>
            <a:ext cx="2491130" cy="603504"/>
          </a:xfrm>
          <a:prstGeom prst="rect">
            <a:avLst/>
          </a:prstGeom>
          <a:noFill/>
          <a:ln/>
        </p:spPr>
        <p:txBody>
          <a:bodyPr wrap="square" lIns="0" tIns="0" rIns="0" bIns="0" rtlCol="0" anchor="ctr"/>
          <a:lstStyle/>
          <a:p>
            <a:pPr indent="0" marL="0">
              <a:lnSpc>
                <a:spcPct val="105000"/>
              </a:lnSpc>
              <a:buNone/>
            </a:pPr>
            <a:r>
              <a:rPr lang="en-US" sz="1100" dirty="0">
                <a:solidFill>
                  <a:srgbClr val="131A22"/>
                </a:solidFill>
                <a:latin typeface="Poppins SemiBold" pitchFamily="34" charset="0"/>
                <a:ea typeface="Poppins SemiBold" pitchFamily="34" charset="-122"/>
                <a:cs typeface="Poppins SemiBold" pitchFamily="34" charset="-120"/>
              </a:rPr>
              <a:t>Retail media &amp; Ads</a:t>
            </a:r>
            <a:endParaRPr lang="en-US" sz="1100" dirty="0"/>
          </a:p>
        </p:txBody>
      </p:sp>
      <p:sp>
        <p:nvSpPr>
          <p:cNvPr id="14" name="Shape 11"/>
          <p:cNvSpPr/>
          <p:nvPr/>
        </p:nvSpPr>
        <p:spPr>
          <a:xfrm rot="5400000">
            <a:off x="1005840" y="2889504"/>
            <a:ext cx="118872" cy="118872"/>
          </a:xfrm>
          <a:prstGeom prst="triangle">
            <a:avLst/>
          </a:prstGeom>
          <a:solidFill>
            <a:srgbClr val="FF9900"/>
          </a:solidFill>
          <a:ln/>
        </p:spPr>
      </p:sp>
      <p:sp>
        <p:nvSpPr>
          <p:cNvPr id="15" name="Text 12"/>
          <p:cNvSpPr/>
          <p:nvPr/>
        </p:nvSpPr>
        <p:spPr>
          <a:xfrm>
            <a:off x="1243584" y="2816352"/>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Publicidade sobre a intenção de compra — o inventário mais próximo da conversão</a:t>
            </a:r>
            <a:endParaRPr lang="en-US" sz="800" dirty="0"/>
          </a:p>
        </p:txBody>
      </p:sp>
      <p:sp>
        <p:nvSpPr>
          <p:cNvPr id="16" name="Shape 13"/>
          <p:cNvSpPr/>
          <p:nvPr/>
        </p:nvSpPr>
        <p:spPr>
          <a:xfrm rot="5400000">
            <a:off x="1005840" y="3675888"/>
            <a:ext cx="118872" cy="118872"/>
          </a:xfrm>
          <a:prstGeom prst="triangle">
            <a:avLst/>
          </a:prstGeom>
          <a:solidFill>
            <a:srgbClr val="FF9900"/>
          </a:solidFill>
          <a:ln/>
        </p:spPr>
      </p:sp>
      <p:sp>
        <p:nvSpPr>
          <p:cNvPr id="17" name="Text 14"/>
          <p:cNvSpPr/>
          <p:nvPr/>
        </p:nvSpPr>
        <p:spPr>
          <a:xfrm>
            <a:off x="1243584" y="3602736"/>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Referência global: US$ 56,2 bn de receita de ads em 2024</a:t>
            </a:r>
            <a:endParaRPr lang="en-US" sz="800" dirty="0"/>
          </a:p>
        </p:txBody>
      </p:sp>
      <p:sp>
        <p:nvSpPr>
          <p:cNvPr id="18" name="Shape 15"/>
          <p:cNvSpPr/>
          <p:nvPr/>
        </p:nvSpPr>
        <p:spPr>
          <a:xfrm rot="5400000">
            <a:off x="1005840" y="4462272"/>
            <a:ext cx="118872" cy="118872"/>
          </a:xfrm>
          <a:prstGeom prst="triangle">
            <a:avLst/>
          </a:prstGeom>
          <a:solidFill>
            <a:srgbClr val="FF9900"/>
          </a:solidFill>
          <a:ln/>
        </p:spPr>
      </p:sp>
      <p:sp>
        <p:nvSpPr>
          <p:cNvPr id="19" name="Text 16"/>
          <p:cNvSpPr/>
          <p:nvPr/>
        </p:nvSpPr>
        <p:spPr>
          <a:xfrm>
            <a:off x="1243584" y="4389120"/>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Espaço de crescimento no inventário brasileiro [dimensão — TBC]</a:t>
            </a:r>
            <a:endParaRPr lang="en-US" sz="800" dirty="0"/>
          </a:p>
        </p:txBody>
      </p:sp>
      <p:sp>
        <p:nvSpPr>
          <p:cNvPr id="20" name="Shape 17"/>
          <p:cNvSpPr/>
          <p:nvPr/>
        </p:nvSpPr>
        <p:spPr>
          <a:xfrm>
            <a:off x="4393082" y="1783080"/>
            <a:ext cx="3405530" cy="3566160"/>
          </a:xfrm>
          <a:prstGeom prst="roundRect">
            <a:avLst>
              <a:gd name="adj" fmla="val 2685"/>
            </a:avLst>
          </a:prstGeom>
          <a:solidFill>
            <a:srgbClr val="F4F6F8"/>
          </a:solidFill>
          <a:ln w="12700">
            <a:solidFill>
              <a:srgbClr val="E2E6EB"/>
            </a:solidFill>
            <a:prstDash val="solid"/>
          </a:ln>
        </p:spPr>
      </p:sp>
      <p:sp>
        <p:nvSpPr>
          <p:cNvPr id="21" name="Shape 18"/>
          <p:cNvSpPr/>
          <p:nvPr/>
        </p:nvSpPr>
        <p:spPr>
          <a:xfrm>
            <a:off x="4393082" y="1783080"/>
            <a:ext cx="3405530" cy="45720"/>
          </a:xfrm>
          <a:prstGeom prst="rect">
            <a:avLst/>
          </a:prstGeom>
          <a:solidFill>
            <a:srgbClr val="FF9900"/>
          </a:solidFill>
          <a:ln/>
        </p:spPr>
      </p:sp>
      <p:sp>
        <p:nvSpPr>
          <p:cNvPr id="22" name="Text 19"/>
          <p:cNvSpPr/>
          <p:nvPr/>
        </p:nvSpPr>
        <p:spPr>
          <a:xfrm>
            <a:off x="7140245" y="2002536"/>
            <a:ext cx="457200" cy="457200"/>
          </a:xfrm>
          <a:prstGeom prst="rect">
            <a:avLst/>
          </a:prstGeom>
          <a:noFill/>
          <a:ln/>
        </p:spPr>
        <p:txBody>
          <a:bodyPr wrap="square" lIns="0" tIns="0" rIns="0" bIns="0" rtlCol="0" anchor="ctr"/>
          <a:lstStyle/>
          <a:p>
            <a:pPr algn="r" indent="0" marL="0">
              <a:buNone/>
            </a:pPr>
            <a:r>
              <a:rPr lang="en-US" sz="2000" dirty="0">
                <a:solidFill>
                  <a:srgbClr val="FFE2AD"/>
                </a:solidFill>
                <a:latin typeface="Poppins SemiBold" pitchFamily="34" charset="0"/>
                <a:ea typeface="Poppins SemiBold" pitchFamily="34" charset="-122"/>
                <a:cs typeface="Poppins SemiBold" pitchFamily="34" charset="-120"/>
              </a:rPr>
              <a:t>B</a:t>
            </a:r>
            <a:endParaRPr lang="en-US" sz="2000" dirty="0"/>
          </a:p>
        </p:txBody>
      </p:sp>
      <p:sp>
        <p:nvSpPr>
          <p:cNvPr id="23" name="Text 20"/>
          <p:cNvSpPr/>
          <p:nvPr/>
        </p:nvSpPr>
        <p:spPr>
          <a:xfrm>
            <a:off x="4649114" y="2057400"/>
            <a:ext cx="2491130" cy="603504"/>
          </a:xfrm>
          <a:prstGeom prst="rect">
            <a:avLst/>
          </a:prstGeom>
          <a:noFill/>
          <a:ln/>
        </p:spPr>
        <p:txBody>
          <a:bodyPr wrap="square" lIns="0" tIns="0" rIns="0" bIns="0" rtlCol="0" anchor="ctr"/>
          <a:lstStyle/>
          <a:p>
            <a:pPr indent="0" marL="0">
              <a:lnSpc>
                <a:spcPct val="105000"/>
              </a:lnSpc>
              <a:buNone/>
            </a:pPr>
            <a:r>
              <a:rPr lang="en-US" sz="1100" dirty="0">
                <a:solidFill>
                  <a:srgbClr val="131A22"/>
                </a:solidFill>
                <a:latin typeface="Poppins SemiBold" pitchFamily="34" charset="0"/>
                <a:ea typeface="Poppins SemiBold" pitchFamily="34" charset="-122"/>
                <a:cs typeface="Poppins SemiBold" pitchFamily="34" charset="-120"/>
              </a:rPr>
              <a:t>Novas categorias</a:t>
            </a:r>
            <a:endParaRPr lang="en-US" sz="1100" dirty="0"/>
          </a:p>
        </p:txBody>
      </p:sp>
      <p:sp>
        <p:nvSpPr>
          <p:cNvPr id="24" name="Shape 21"/>
          <p:cNvSpPr/>
          <p:nvPr/>
        </p:nvSpPr>
        <p:spPr>
          <a:xfrm rot="5400000">
            <a:off x="4667402" y="2889504"/>
            <a:ext cx="118872" cy="118872"/>
          </a:xfrm>
          <a:prstGeom prst="triangle">
            <a:avLst/>
          </a:prstGeom>
          <a:solidFill>
            <a:srgbClr val="FF9900"/>
          </a:solidFill>
          <a:ln/>
        </p:spPr>
      </p:sp>
      <p:sp>
        <p:nvSpPr>
          <p:cNvPr id="25" name="Text 22"/>
          <p:cNvSpPr/>
          <p:nvPr/>
        </p:nvSpPr>
        <p:spPr>
          <a:xfrm>
            <a:off x="4905146" y="2816352"/>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Expansão em grocery, farmácia e recorrência de consumíveis</a:t>
            </a:r>
            <a:endParaRPr lang="en-US" sz="800" dirty="0"/>
          </a:p>
        </p:txBody>
      </p:sp>
      <p:sp>
        <p:nvSpPr>
          <p:cNvPr id="26" name="Shape 23"/>
          <p:cNvSpPr/>
          <p:nvPr/>
        </p:nvSpPr>
        <p:spPr>
          <a:xfrm rot="5400000">
            <a:off x="4667402" y="3675888"/>
            <a:ext cx="118872" cy="118872"/>
          </a:xfrm>
          <a:prstGeom prst="triangle">
            <a:avLst/>
          </a:prstGeom>
          <a:solidFill>
            <a:srgbClr val="FF9900"/>
          </a:solidFill>
          <a:ln/>
        </p:spPr>
      </p:sp>
      <p:sp>
        <p:nvSpPr>
          <p:cNvPr id="27" name="Text 24"/>
          <p:cNvSpPr/>
          <p:nvPr/>
        </p:nvSpPr>
        <p:spPr>
          <a:xfrm>
            <a:off x="4905146" y="3602736"/>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Categorias de reposição elevam a frequência e alimentam o Prime</a:t>
            </a:r>
            <a:endParaRPr lang="en-US" sz="800" dirty="0"/>
          </a:p>
        </p:txBody>
      </p:sp>
      <p:sp>
        <p:nvSpPr>
          <p:cNvPr id="28" name="Shape 25"/>
          <p:cNvSpPr/>
          <p:nvPr/>
        </p:nvSpPr>
        <p:spPr>
          <a:xfrm rot="5400000">
            <a:off x="4667402" y="4462272"/>
            <a:ext cx="118872" cy="118872"/>
          </a:xfrm>
          <a:prstGeom prst="triangle">
            <a:avLst/>
          </a:prstGeom>
          <a:solidFill>
            <a:srgbClr val="FF9900"/>
          </a:solidFill>
          <a:ln/>
        </p:spPr>
      </p:sp>
      <p:sp>
        <p:nvSpPr>
          <p:cNvPr id="29" name="Text 26"/>
          <p:cNvSpPr/>
          <p:nvPr/>
        </p:nvSpPr>
        <p:spPr>
          <a:xfrm>
            <a:off x="4905146" y="4389120"/>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Parcerias e modelos híbridos de estoque [estratégia — TBC]</a:t>
            </a:r>
            <a:endParaRPr lang="en-US" sz="800" dirty="0"/>
          </a:p>
        </p:txBody>
      </p:sp>
      <p:sp>
        <p:nvSpPr>
          <p:cNvPr id="30" name="Shape 27"/>
          <p:cNvSpPr/>
          <p:nvPr/>
        </p:nvSpPr>
        <p:spPr>
          <a:xfrm>
            <a:off x="8054645" y="1783080"/>
            <a:ext cx="3405530" cy="3566160"/>
          </a:xfrm>
          <a:prstGeom prst="roundRect">
            <a:avLst>
              <a:gd name="adj" fmla="val 2685"/>
            </a:avLst>
          </a:prstGeom>
          <a:solidFill>
            <a:srgbClr val="F4F6F8"/>
          </a:solidFill>
          <a:ln w="12700">
            <a:solidFill>
              <a:srgbClr val="E2E6EB"/>
            </a:solidFill>
            <a:prstDash val="solid"/>
          </a:ln>
        </p:spPr>
      </p:sp>
      <p:sp>
        <p:nvSpPr>
          <p:cNvPr id="31" name="Shape 28"/>
          <p:cNvSpPr/>
          <p:nvPr/>
        </p:nvSpPr>
        <p:spPr>
          <a:xfrm>
            <a:off x="8054645" y="1783080"/>
            <a:ext cx="3405530" cy="45720"/>
          </a:xfrm>
          <a:prstGeom prst="rect">
            <a:avLst/>
          </a:prstGeom>
          <a:solidFill>
            <a:srgbClr val="FF9900"/>
          </a:solidFill>
          <a:ln/>
        </p:spPr>
      </p:sp>
      <p:sp>
        <p:nvSpPr>
          <p:cNvPr id="32" name="Text 29"/>
          <p:cNvSpPr/>
          <p:nvPr/>
        </p:nvSpPr>
        <p:spPr>
          <a:xfrm>
            <a:off x="10801807" y="2002536"/>
            <a:ext cx="457200" cy="457200"/>
          </a:xfrm>
          <a:prstGeom prst="rect">
            <a:avLst/>
          </a:prstGeom>
          <a:noFill/>
          <a:ln/>
        </p:spPr>
        <p:txBody>
          <a:bodyPr wrap="square" lIns="0" tIns="0" rIns="0" bIns="0" rtlCol="0" anchor="ctr"/>
          <a:lstStyle/>
          <a:p>
            <a:pPr algn="r" indent="0" marL="0">
              <a:buNone/>
            </a:pPr>
            <a:r>
              <a:rPr lang="en-US" sz="2000" dirty="0">
                <a:solidFill>
                  <a:srgbClr val="FFE2AD"/>
                </a:solidFill>
                <a:latin typeface="Poppins SemiBold" pitchFamily="34" charset="0"/>
                <a:ea typeface="Poppins SemiBold" pitchFamily="34" charset="-122"/>
                <a:cs typeface="Poppins SemiBold" pitchFamily="34" charset="-120"/>
              </a:rPr>
              <a:t>C</a:t>
            </a:r>
            <a:endParaRPr lang="en-US" sz="2000" dirty="0"/>
          </a:p>
        </p:txBody>
      </p:sp>
      <p:sp>
        <p:nvSpPr>
          <p:cNvPr id="33" name="Text 30"/>
          <p:cNvSpPr/>
          <p:nvPr/>
        </p:nvSpPr>
        <p:spPr>
          <a:xfrm>
            <a:off x="8310677" y="2057400"/>
            <a:ext cx="2491130" cy="603504"/>
          </a:xfrm>
          <a:prstGeom prst="rect">
            <a:avLst/>
          </a:prstGeom>
          <a:noFill/>
          <a:ln/>
        </p:spPr>
        <p:txBody>
          <a:bodyPr wrap="square" lIns="0" tIns="0" rIns="0" bIns="0" rtlCol="0" anchor="ctr"/>
          <a:lstStyle/>
          <a:p>
            <a:pPr indent="0" marL="0">
              <a:lnSpc>
                <a:spcPct val="105000"/>
              </a:lnSpc>
              <a:buNone/>
            </a:pPr>
            <a:r>
              <a:rPr lang="en-US" sz="1100" dirty="0">
                <a:solidFill>
                  <a:srgbClr val="131A22"/>
                </a:solidFill>
                <a:latin typeface="Poppins SemiBold" pitchFamily="34" charset="0"/>
                <a:ea typeface="Poppins SemiBold" pitchFamily="34" charset="-122"/>
                <a:cs typeface="Poppins SemiBold" pitchFamily="34" charset="-120"/>
              </a:rPr>
              <a:t>Interiorização &amp; prazo</a:t>
            </a:r>
            <a:endParaRPr lang="en-US" sz="1100" dirty="0"/>
          </a:p>
        </p:txBody>
      </p:sp>
      <p:sp>
        <p:nvSpPr>
          <p:cNvPr id="34" name="Shape 31"/>
          <p:cNvSpPr/>
          <p:nvPr/>
        </p:nvSpPr>
        <p:spPr>
          <a:xfrm rot="5400000">
            <a:off x="8328965" y="2889504"/>
            <a:ext cx="118872" cy="118872"/>
          </a:xfrm>
          <a:prstGeom prst="triangle">
            <a:avLst/>
          </a:prstGeom>
          <a:solidFill>
            <a:srgbClr val="FF9900"/>
          </a:solidFill>
          <a:ln/>
        </p:spPr>
      </p:sp>
      <p:sp>
        <p:nvSpPr>
          <p:cNvPr id="35" name="Text 32"/>
          <p:cNvSpPr/>
          <p:nvPr/>
        </p:nvSpPr>
        <p:spPr>
          <a:xfrm>
            <a:off x="8566709" y="2816352"/>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Levar a promessa de entrega rápida para além das capitais</a:t>
            </a:r>
            <a:endParaRPr lang="en-US" sz="800" dirty="0"/>
          </a:p>
        </p:txBody>
      </p:sp>
      <p:sp>
        <p:nvSpPr>
          <p:cNvPr id="36" name="Shape 33"/>
          <p:cNvSpPr/>
          <p:nvPr/>
        </p:nvSpPr>
        <p:spPr>
          <a:xfrm rot="5400000">
            <a:off x="8328965" y="3675888"/>
            <a:ext cx="118872" cy="118872"/>
          </a:xfrm>
          <a:prstGeom prst="triangle">
            <a:avLst/>
          </a:prstGeom>
          <a:solidFill>
            <a:srgbClr val="FF9900"/>
          </a:solidFill>
          <a:ln/>
        </p:spPr>
      </p:sp>
      <p:sp>
        <p:nvSpPr>
          <p:cNvPr id="37" name="Text 34"/>
          <p:cNvSpPr/>
          <p:nvPr/>
        </p:nvSpPr>
        <p:spPr>
          <a:xfrm>
            <a:off x="8566709" y="3602736"/>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Cada avanço de malha converte demanda reprimida do interior</a:t>
            </a:r>
            <a:endParaRPr lang="en-US" sz="800" dirty="0"/>
          </a:p>
        </p:txBody>
      </p:sp>
      <p:sp>
        <p:nvSpPr>
          <p:cNvPr id="38" name="Shape 35"/>
          <p:cNvSpPr/>
          <p:nvPr/>
        </p:nvSpPr>
        <p:spPr>
          <a:xfrm rot="5400000">
            <a:off x="8328965" y="4462272"/>
            <a:ext cx="118872" cy="118872"/>
          </a:xfrm>
          <a:prstGeom prst="triangle">
            <a:avLst/>
          </a:prstGeom>
          <a:solidFill>
            <a:srgbClr val="FF9900"/>
          </a:solidFill>
          <a:ln/>
        </p:spPr>
      </p:sp>
      <p:sp>
        <p:nvSpPr>
          <p:cNvPr id="39" name="Text 36"/>
          <p:cNvSpPr/>
          <p:nvPr/>
        </p:nvSpPr>
        <p:spPr>
          <a:xfrm>
            <a:off x="8566709" y="4389120"/>
            <a:ext cx="2619146" cy="731520"/>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Sequência de praças e investimento [plano — TBC]</a:t>
            </a:r>
            <a:endParaRPr lang="en-US" sz="800" dirty="0"/>
          </a:p>
        </p:txBody>
      </p:sp>
      <p:sp>
        <p:nvSpPr>
          <p:cNvPr id="40" name="Shape 37"/>
          <p:cNvSpPr/>
          <p:nvPr/>
        </p:nvSpPr>
        <p:spPr>
          <a:xfrm>
            <a:off x="0" y="6172200"/>
            <a:ext cx="12191695" cy="685800"/>
          </a:xfrm>
          <a:prstGeom prst="rect">
            <a:avLst/>
          </a:prstGeom>
          <a:solidFill>
            <a:srgbClr val="131A22"/>
          </a:solidFill>
          <a:ln/>
        </p:spPr>
      </p:sp>
      <p:sp>
        <p:nvSpPr>
          <p:cNvPr id="41" name="Shape 38"/>
          <p:cNvSpPr/>
          <p:nvPr/>
        </p:nvSpPr>
        <p:spPr>
          <a:xfrm>
            <a:off x="0" y="6172200"/>
            <a:ext cx="118872" cy="685800"/>
          </a:xfrm>
          <a:prstGeom prst="rect">
            <a:avLst/>
          </a:prstGeom>
          <a:solidFill>
            <a:srgbClr val="FF9900"/>
          </a:solidFill>
          <a:ln/>
        </p:spPr>
      </p:sp>
      <p:sp>
        <p:nvSpPr>
          <p:cNvPr id="42" name="Text 39"/>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Um caminho </a:t>
            </a:r>
            <a:pPr algn="ctr" indent="0" marL="0">
              <a:buNone/>
            </a:pPr>
            <a:r>
              <a:rPr lang="en-US" sz="1200" dirty="0">
                <a:solidFill>
                  <a:srgbClr val="FF9900"/>
                </a:solidFill>
                <a:latin typeface="Poppins SemiBold" pitchFamily="34" charset="0"/>
                <a:ea typeface="Poppins SemiBold" pitchFamily="34" charset="-122"/>
                <a:cs typeface="Poppins SemiBold" pitchFamily="34" charset="-120"/>
              </a:rPr>
              <a:t>claro e executável</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de criação de valor além do varejo core</a:t>
            </a:r>
            <a:endParaRPr lang="en-US" sz="1200" dirty="0"/>
          </a:p>
        </p:txBody>
      </p:sp>
      <p:pic>
        <p:nvPicPr>
          <p:cNvPr id="43"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44" name="Text 40"/>
          <p:cNvSpPr/>
          <p:nvPr/>
        </p:nvSpPr>
        <p:spPr>
          <a:xfrm>
            <a:off x="1097280" y="6405372"/>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11</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A22"/>
        </a:solidFill>
      </p:bgPr>
    </p:bg>
    <p:spTree>
      <p:nvGrpSpPr>
        <p:cNvPr id="1" name=""/>
        <p:cNvGrpSpPr/>
        <p:nvPr/>
      </p:nvGrpSpPr>
      <p:grpSpPr>
        <a:xfrm>
          <a:off x="0" y="0"/>
          <a:ext cx="0" cy="0"/>
          <a:chOff x="0" y="0"/>
          <a:chExt cx="0" cy="0"/>
        </a:xfrm>
      </p:grpSpPr>
      <p:pic>
        <p:nvPicPr>
          <p:cNvPr id="2" name="Image 0" descr="assets/demo_amz/toc_panel.png">    </p:cNvPr>
          <p:cNvPicPr>
            <a:picLocks noChangeAspect="1"/>
          </p:cNvPicPr>
          <p:nvPr/>
        </p:nvPicPr>
        <p:blipFill>
          <a:blip r:embed="rId1"/>
          <a:srcRect l="0" r="0" t="0" b="0"/>
          <a:stretch/>
        </p:blipFill>
        <p:spPr>
          <a:xfrm>
            <a:off x="6858000" y="0"/>
            <a:ext cx="5333695" cy="6858000"/>
          </a:xfrm>
          <a:prstGeom prst="rect">
            <a:avLst/>
          </a:prstGeom>
        </p:spPr>
      </p:pic>
      <p:sp>
        <p:nvSpPr>
          <p:cNvPr id="3" name="Shape 0"/>
          <p:cNvSpPr/>
          <p:nvPr/>
        </p:nvSpPr>
        <p:spPr>
          <a:xfrm>
            <a:off x="6858000" y="0"/>
            <a:ext cx="5333695" cy="6858000"/>
          </a:xfrm>
          <a:prstGeom prst="rect">
            <a:avLst/>
          </a:prstGeom>
          <a:solidFill>
            <a:srgbClr val="131A22">
              <a:alpha val="42000"/>
            </a:srgbClr>
          </a:solidFill>
          <a:ln/>
        </p:spPr>
      </p:sp>
      <p:sp>
        <p:nvSpPr>
          <p:cNvPr id="4" name="Shape 1"/>
          <p:cNvSpPr/>
          <p:nvPr/>
        </p:nvSpPr>
        <p:spPr>
          <a:xfrm>
            <a:off x="6858000" y="0"/>
            <a:ext cx="41148" cy="6858000"/>
          </a:xfrm>
          <a:prstGeom prst="rect">
            <a:avLst/>
          </a:prstGeom>
          <a:solidFill>
            <a:srgbClr val="FF9900"/>
          </a:solidFill>
          <a:ln/>
        </p:spPr>
      </p:sp>
      <p:sp>
        <p:nvSpPr>
          <p:cNvPr id="5"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6"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F9900"/>
                </a:solidFill>
                <a:latin typeface="Poppins SemiBold" pitchFamily="34" charset="0"/>
                <a:ea typeface="Poppins SemiBold" pitchFamily="34" charset="-122"/>
                <a:cs typeface="Poppins SemiBold" pitchFamily="34" charset="-120"/>
              </a:rPr>
              <a:t>Summary</a:t>
            </a:r>
            <a:endParaRPr lang="en-US" sz="3200" dirty="0"/>
          </a:p>
        </p:txBody>
      </p:sp>
      <p:sp>
        <p:nvSpPr>
          <p:cNvPr id="7" name="Shape 4"/>
          <p:cNvSpPr/>
          <p:nvPr/>
        </p:nvSpPr>
        <p:spPr>
          <a:xfrm>
            <a:off x="731520" y="2395728"/>
            <a:ext cx="1371600" cy="32004"/>
          </a:xfrm>
          <a:prstGeom prst="rect">
            <a:avLst/>
          </a:prstGeom>
          <a:solidFill>
            <a:srgbClr val="FF9900"/>
          </a:solidFill>
          <a:ln/>
        </p:spPr>
      </p:sp>
      <p:sp>
        <p:nvSpPr>
          <p:cNvPr id="8" name="Shape 5"/>
          <p:cNvSpPr/>
          <p:nvPr/>
        </p:nvSpPr>
        <p:spPr>
          <a:xfrm rot="5400000">
            <a:off x="749808" y="2871216"/>
            <a:ext cx="173736" cy="173736"/>
          </a:xfrm>
          <a:prstGeom prst="triangle">
            <a:avLst/>
          </a:prstGeom>
          <a:solidFill>
            <a:srgbClr val="4A5563"/>
          </a:solidFill>
          <a:ln/>
        </p:spPr>
      </p:sp>
      <p:sp>
        <p:nvSpPr>
          <p:cNvPr id="9"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INTRODUCTION</a:t>
            </a:r>
            <a:endParaRPr lang="en-US" sz="1100" dirty="0"/>
          </a:p>
        </p:txBody>
      </p:sp>
      <p:sp>
        <p:nvSpPr>
          <p:cNvPr id="10"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04</a:t>
            </a:r>
            <a:endParaRPr lang="en-US" sz="1200" dirty="0"/>
          </a:p>
        </p:txBody>
      </p:sp>
      <p:sp>
        <p:nvSpPr>
          <p:cNvPr id="11" name="Shape 8"/>
          <p:cNvSpPr/>
          <p:nvPr/>
        </p:nvSpPr>
        <p:spPr>
          <a:xfrm rot="5400000">
            <a:off x="749808" y="3593592"/>
            <a:ext cx="173736" cy="173736"/>
          </a:xfrm>
          <a:prstGeom prst="triangle">
            <a:avLst/>
          </a:prstGeom>
          <a:solidFill>
            <a:srgbClr val="4A5563"/>
          </a:solidFill>
          <a:ln/>
        </p:spPr>
      </p:sp>
      <p:sp>
        <p:nvSpPr>
          <p:cNvPr id="12"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INVESTMENT THESIS</a:t>
            </a:r>
            <a:endParaRPr lang="en-US" sz="1100" dirty="0"/>
          </a:p>
        </p:txBody>
      </p:sp>
      <p:sp>
        <p:nvSpPr>
          <p:cNvPr id="13"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08</a:t>
            </a:r>
            <a:endParaRPr lang="en-US" sz="1200" dirty="0"/>
          </a:p>
        </p:txBody>
      </p:sp>
      <p:sp>
        <p:nvSpPr>
          <p:cNvPr id="14" name="Shape 11"/>
          <p:cNvSpPr/>
          <p:nvPr/>
        </p:nvSpPr>
        <p:spPr>
          <a:xfrm rot="5400000">
            <a:off x="749808" y="4315968"/>
            <a:ext cx="173736" cy="173736"/>
          </a:xfrm>
          <a:prstGeom prst="triangle">
            <a:avLst/>
          </a:prstGeom>
          <a:solidFill>
            <a:srgbClr val="FF9900"/>
          </a:solidFill>
          <a:ln/>
        </p:spPr>
      </p:sp>
      <p:sp>
        <p:nvSpPr>
          <p:cNvPr id="15"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COMPANY OVERVIEW</a:t>
            </a:r>
            <a:endParaRPr lang="en-US" sz="1100" dirty="0"/>
          </a:p>
        </p:txBody>
      </p:sp>
      <p:sp>
        <p:nvSpPr>
          <p:cNvPr id="16"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FF9900"/>
                </a:solidFill>
                <a:latin typeface="Poppins Medium" pitchFamily="34" charset="0"/>
                <a:ea typeface="Poppins Medium" pitchFamily="34" charset="-122"/>
                <a:cs typeface="Poppins Medium" pitchFamily="34" charset="-120"/>
              </a:rPr>
              <a:t>13</a:t>
            </a:r>
            <a:endParaRPr lang="en-US" sz="1200" dirty="0"/>
          </a:p>
        </p:txBody>
      </p:sp>
      <p:sp>
        <p:nvSpPr>
          <p:cNvPr id="17" name="Shape 14"/>
          <p:cNvSpPr/>
          <p:nvPr/>
        </p:nvSpPr>
        <p:spPr>
          <a:xfrm rot="5400000">
            <a:off x="749808" y="5038344"/>
            <a:ext cx="173736" cy="173736"/>
          </a:xfrm>
          <a:prstGeom prst="triangle">
            <a:avLst/>
          </a:prstGeom>
          <a:solidFill>
            <a:srgbClr val="4A5563"/>
          </a:solidFill>
          <a:ln/>
        </p:spPr>
      </p:sp>
      <p:sp>
        <p:nvSpPr>
          <p:cNvPr id="18"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FINANCIAL HIGHLIGHTS</a:t>
            </a:r>
            <a:endParaRPr lang="en-US" sz="1100" dirty="0"/>
          </a:p>
        </p:txBody>
      </p:sp>
      <p:sp>
        <p:nvSpPr>
          <p:cNvPr id="19"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16</a:t>
            </a:r>
            <a:endParaRPr lang="en-US" sz="1200" dirty="0"/>
          </a:p>
        </p:txBody>
      </p:sp>
      <p:pic>
        <p:nvPicPr>
          <p:cNvPr id="20" name="Image 1" descr="assets/igc_white.png">    </p:cNvPr>
          <p:cNvPicPr>
            <a:picLocks noChangeAspect="1"/>
          </p:cNvPicPr>
          <p:nvPr/>
        </p:nvPicPr>
        <p:blipFill>
          <a:blip r:embed="rId2"/>
          <a:stretch>
            <a:fillRect/>
          </a:stretch>
        </p:blipFill>
        <p:spPr>
          <a:xfrm>
            <a:off x="10957255" y="384048"/>
            <a:ext cx="502920" cy="434746"/>
          </a:xfrm>
          <a:prstGeom prst="rect">
            <a:avLst/>
          </a:prstGeom>
        </p:spPr>
      </p:pic>
      <p:sp>
        <p:nvSpPr>
          <p:cNvPr id="21"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474013" cy="310896"/>
          </a:xfrm>
          <a:prstGeom prst="roundRect">
            <a:avLst>
              <a:gd name="adj" fmla="val 25000"/>
            </a:avLst>
          </a:prstGeom>
          <a:solidFill>
            <a:srgbClr val="FFF0D6"/>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Três décadas de plataforma, catorze anos de Brasil</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Da livraria online global à operação logística nacional</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divulgações públicas e imprensa; marcos Brasil detalhados a confirmar. Demonstração ilustrativa — fontes públicas (relatórios anuais, imprensa); dados Brasil não divulgados marcados [TBC].</a:t>
            </a:r>
            <a:endParaRPr lang="en-US" sz="700" dirty="0"/>
          </a:p>
        </p:txBody>
      </p:sp>
      <p:sp>
        <p:nvSpPr>
          <p:cNvPr id="8" name="Shape 5"/>
          <p:cNvSpPr/>
          <p:nvPr/>
        </p:nvSpPr>
        <p:spPr>
          <a:xfrm>
            <a:off x="731520" y="1965960"/>
            <a:ext cx="1955536" cy="1965960"/>
          </a:xfrm>
          <a:prstGeom prst="roundRect">
            <a:avLst>
              <a:gd name="adj" fmla="val 4676"/>
            </a:avLst>
          </a:prstGeom>
          <a:solidFill>
            <a:srgbClr val="FFF0D6"/>
          </a:solidFill>
          <a:ln/>
        </p:spPr>
      </p:sp>
      <p:sp>
        <p:nvSpPr>
          <p:cNvPr id="9" name="Text 6"/>
          <p:cNvSpPr/>
          <p:nvPr/>
        </p:nvSpPr>
        <p:spPr>
          <a:xfrm>
            <a:off x="950976" y="2221992"/>
            <a:ext cx="1516624" cy="384048"/>
          </a:xfrm>
          <a:prstGeom prst="rect">
            <a:avLst/>
          </a:prstGeom>
          <a:noFill/>
          <a:ln/>
        </p:spPr>
        <p:txBody>
          <a:bodyPr wrap="square" lIns="0" tIns="0" rIns="0" bIns="0" rtlCol="0" anchor="ctr"/>
          <a:lstStyle/>
          <a:p>
            <a:pPr indent="0" marL="0">
              <a:buNone/>
            </a:pPr>
            <a:r>
              <a:rPr lang="en-US" sz="1600" dirty="0">
                <a:solidFill>
                  <a:srgbClr val="CC7A00"/>
                </a:solidFill>
                <a:latin typeface="Poppins SemiBold" pitchFamily="34" charset="0"/>
                <a:ea typeface="Poppins SemiBold" pitchFamily="34" charset="-122"/>
                <a:cs typeface="Poppins SemiBold" pitchFamily="34" charset="-120"/>
              </a:rPr>
              <a:t>1994</a:t>
            </a:r>
            <a:endParaRPr lang="en-US" sz="1600" dirty="0"/>
          </a:p>
        </p:txBody>
      </p:sp>
      <p:sp>
        <p:nvSpPr>
          <p:cNvPr id="10" name="Shape 7"/>
          <p:cNvSpPr/>
          <p:nvPr/>
        </p:nvSpPr>
        <p:spPr>
          <a:xfrm>
            <a:off x="950976" y="2679192"/>
            <a:ext cx="640080" cy="27432"/>
          </a:xfrm>
          <a:prstGeom prst="rect">
            <a:avLst/>
          </a:prstGeom>
          <a:solidFill>
            <a:srgbClr val="FF9900"/>
          </a:solidFill>
          <a:ln/>
        </p:spPr>
      </p:sp>
      <p:sp>
        <p:nvSpPr>
          <p:cNvPr id="11" name="Text 8"/>
          <p:cNvSpPr/>
          <p:nvPr/>
        </p:nvSpPr>
        <p:spPr>
          <a:xfrm>
            <a:off x="950976" y="2825496"/>
            <a:ext cx="1516624" cy="960120"/>
          </a:xfrm>
          <a:prstGeom prst="rect">
            <a:avLst/>
          </a:prstGeom>
          <a:noFill/>
          <a:ln/>
        </p:spPr>
        <p:txBody>
          <a:bodyPr wrap="square" lIns="0" tIns="0" rIns="0" bIns="0" rtlCol="0" anchor="t"/>
          <a:lstStyle/>
          <a:p>
            <a:pPr indent="0" marL="0">
              <a:lnSpc>
                <a:spcPct val="116000"/>
              </a:lnSpc>
              <a:buNone/>
            </a:pPr>
            <a:r>
              <a:rPr lang="en-US" sz="900" dirty="0">
                <a:solidFill>
                  <a:srgbClr val="2B333E"/>
                </a:solidFill>
                <a:latin typeface="Poppins" pitchFamily="34" charset="0"/>
                <a:ea typeface="Poppins" pitchFamily="34" charset="-122"/>
                <a:cs typeface="Poppins" pitchFamily="34" charset="-120"/>
              </a:rPr>
              <a:t>Fundação da Amazon (Seattle)</a:t>
            </a:r>
            <a:endParaRPr lang="en-US" sz="900" dirty="0"/>
          </a:p>
        </p:txBody>
      </p:sp>
      <p:sp>
        <p:nvSpPr>
          <p:cNvPr id="12" name="Shape 9"/>
          <p:cNvSpPr/>
          <p:nvPr/>
        </p:nvSpPr>
        <p:spPr>
          <a:xfrm rot="5400000">
            <a:off x="2737348" y="2880360"/>
            <a:ext cx="137160" cy="137160"/>
          </a:xfrm>
          <a:prstGeom prst="triangle">
            <a:avLst/>
          </a:prstGeom>
          <a:solidFill>
            <a:srgbClr val="FF9900"/>
          </a:solidFill>
          <a:ln/>
        </p:spPr>
      </p:sp>
      <p:sp>
        <p:nvSpPr>
          <p:cNvPr id="13" name="Shape 10"/>
          <p:cNvSpPr/>
          <p:nvPr/>
        </p:nvSpPr>
        <p:spPr>
          <a:xfrm>
            <a:off x="2924800" y="1965960"/>
            <a:ext cx="1955536" cy="1965960"/>
          </a:xfrm>
          <a:prstGeom prst="roundRect">
            <a:avLst>
              <a:gd name="adj" fmla="val 4676"/>
            </a:avLst>
          </a:prstGeom>
          <a:solidFill>
            <a:srgbClr val="FFF0D6"/>
          </a:solidFill>
          <a:ln/>
        </p:spPr>
      </p:sp>
      <p:sp>
        <p:nvSpPr>
          <p:cNvPr id="14" name="Text 11"/>
          <p:cNvSpPr/>
          <p:nvPr/>
        </p:nvSpPr>
        <p:spPr>
          <a:xfrm>
            <a:off x="3144256" y="2221992"/>
            <a:ext cx="1516624" cy="384048"/>
          </a:xfrm>
          <a:prstGeom prst="rect">
            <a:avLst/>
          </a:prstGeom>
          <a:noFill/>
          <a:ln/>
        </p:spPr>
        <p:txBody>
          <a:bodyPr wrap="square" lIns="0" tIns="0" rIns="0" bIns="0" rtlCol="0" anchor="ctr"/>
          <a:lstStyle/>
          <a:p>
            <a:pPr indent="0" marL="0">
              <a:buNone/>
            </a:pPr>
            <a:r>
              <a:rPr lang="en-US" sz="1600" dirty="0">
                <a:solidFill>
                  <a:srgbClr val="CC7A00"/>
                </a:solidFill>
                <a:latin typeface="Poppins SemiBold" pitchFamily="34" charset="0"/>
                <a:ea typeface="Poppins SemiBold" pitchFamily="34" charset="-122"/>
                <a:cs typeface="Poppins SemiBold" pitchFamily="34" charset="-120"/>
              </a:rPr>
              <a:t>2012</a:t>
            </a:r>
            <a:endParaRPr lang="en-US" sz="1600" dirty="0"/>
          </a:p>
        </p:txBody>
      </p:sp>
      <p:sp>
        <p:nvSpPr>
          <p:cNvPr id="15" name="Shape 12"/>
          <p:cNvSpPr/>
          <p:nvPr/>
        </p:nvSpPr>
        <p:spPr>
          <a:xfrm>
            <a:off x="3144256" y="2679192"/>
            <a:ext cx="640080" cy="27432"/>
          </a:xfrm>
          <a:prstGeom prst="rect">
            <a:avLst/>
          </a:prstGeom>
          <a:solidFill>
            <a:srgbClr val="FF9900"/>
          </a:solidFill>
          <a:ln/>
        </p:spPr>
      </p:sp>
      <p:sp>
        <p:nvSpPr>
          <p:cNvPr id="16" name="Text 13"/>
          <p:cNvSpPr/>
          <p:nvPr/>
        </p:nvSpPr>
        <p:spPr>
          <a:xfrm>
            <a:off x="3144256" y="2825496"/>
            <a:ext cx="1516624" cy="960120"/>
          </a:xfrm>
          <a:prstGeom prst="rect">
            <a:avLst/>
          </a:prstGeom>
          <a:noFill/>
          <a:ln/>
        </p:spPr>
        <p:txBody>
          <a:bodyPr wrap="square" lIns="0" tIns="0" rIns="0" bIns="0" rtlCol="0" anchor="t"/>
          <a:lstStyle/>
          <a:p>
            <a:pPr indent="0" marL="0">
              <a:lnSpc>
                <a:spcPct val="116000"/>
              </a:lnSpc>
              <a:buNone/>
            </a:pPr>
            <a:r>
              <a:rPr lang="en-US" sz="900" dirty="0">
                <a:solidFill>
                  <a:srgbClr val="2B333E"/>
                </a:solidFill>
                <a:latin typeface="Poppins" pitchFamily="34" charset="0"/>
                <a:ea typeface="Poppins" pitchFamily="34" charset="-122"/>
                <a:cs typeface="Poppins" pitchFamily="34" charset="-120"/>
              </a:rPr>
              <a:t>Entrada no Brasil — loja de livros digitais</a:t>
            </a:r>
            <a:endParaRPr lang="en-US" sz="900" dirty="0"/>
          </a:p>
        </p:txBody>
      </p:sp>
      <p:sp>
        <p:nvSpPr>
          <p:cNvPr id="17" name="Shape 14"/>
          <p:cNvSpPr/>
          <p:nvPr/>
        </p:nvSpPr>
        <p:spPr>
          <a:xfrm rot="5400000">
            <a:off x="4930628" y="2880360"/>
            <a:ext cx="137160" cy="137160"/>
          </a:xfrm>
          <a:prstGeom prst="triangle">
            <a:avLst/>
          </a:prstGeom>
          <a:solidFill>
            <a:srgbClr val="FF9900"/>
          </a:solidFill>
          <a:ln/>
        </p:spPr>
      </p:sp>
      <p:sp>
        <p:nvSpPr>
          <p:cNvPr id="18" name="Shape 15"/>
          <p:cNvSpPr/>
          <p:nvPr/>
        </p:nvSpPr>
        <p:spPr>
          <a:xfrm>
            <a:off x="5118080" y="1965960"/>
            <a:ext cx="1955536" cy="1965960"/>
          </a:xfrm>
          <a:prstGeom prst="roundRect">
            <a:avLst>
              <a:gd name="adj" fmla="val 4676"/>
            </a:avLst>
          </a:prstGeom>
          <a:solidFill>
            <a:srgbClr val="FFF0D6"/>
          </a:solidFill>
          <a:ln/>
        </p:spPr>
      </p:sp>
      <p:sp>
        <p:nvSpPr>
          <p:cNvPr id="19" name="Text 16"/>
          <p:cNvSpPr/>
          <p:nvPr/>
        </p:nvSpPr>
        <p:spPr>
          <a:xfrm>
            <a:off x="5337536" y="2221992"/>
            <a:ext cx="1516624" cy="384048"/>
          </a:xfrm>
          <a:prstGeom prst="rect">
            <a:avLst/>
          </a:prstGeom>
          <a:noFill/>
          <a:ln/>
        </p:spPr>
        <p:txBody>
          <a:bodyPr wrap="square" lIns="0" tIns="0" rIns="0" bIns="0" rtlCol="0" anchor="ctr"/>
          <a:lstStyle/>
          <a:p>
            <a:pPr indent="0" marL="0">
              <a:buNone/>
            </a:pPr>
            <a:r>
              <a:rPr lang="en-US" sz="1600" dirty="0">
                <a:solidFill>
                  <a:srgbClr val="CC7A00"/>
                </a:solidFill>
                <a:latin typeface="Poppins SemiBold" pitchFamily="34" charset="0"/>
                <a:ea typeface="Poppins SemiBold" pitchFamily="34" charset="-122"/>
                <a:cs typeface="Poppins SemiBold" pitchFamily="34" charset="-120"/>
              </a:rPr>
              <a:t>2017</a:t>
            </a:r>
            <a:endParaRPr lang="en-US" sz="1600" dirty="0"/>
          </a:p>
        </p:txBody>
      </p:sp>
      <p:sp>
        <p:nvSpPr>
          <p:cNvPr id="20" name="Shape 17"/>
          <p:cNvSpPr/>
          <p:nvPr/>
        </p:nvSpPr>
        <p:spPr>
          <a:xfrm>
            <a:off x="5337536" y="2679192"/>
            <a:ext cx="640080" cy="27432"/>
          </a:xfrm>
          <a:prstGeom prst="rect">
            <a:avLst/>
          </a:prstGeom>
          <a:solidFill>
            <a:srgbClr val="FF9900"/>
          </a:solidFill>
          <a:ln/>
        </p:spPr>
      </p:sp>
      <p:sp>
        <p:nvSpPr>
          <p:cNvPr id="21" name="Text 18"/>
          <p:cNvSpPr/>
          <p:nvPr/>
        </p:nvSpPr>
        <p:spPr>
          <a:xfrm>
            <a:off x="5337536" y="2825496"/>
            <a:ext cx="1516624" cy="960120"/>
          </a:xfrm>
          <a:prstGeom prst="rect">
            <a:avLst/>
          </a:prstGeom>
          <a:noFill/>
          <a:ln/>
        </p:spPr>
        <p:txBody>
          <a:bodyPr wrap="square" lIns="0" tIns="0" rIns="0" bIns="0" rtlCol="0" anchor="t"/>
          <a:lstStyle/>
          <a:p>
            <a:pPr indent="0" marL="0">
              <a:lnSpc>
                <a:spcPct val="116000"/>
              </a:lnSpc>
              <a:buNone/>
            </a:pPr>
            <a:r>
              <a:rPr lang="en-US" sz="900" dirty="0">
                <a:solidFill>
                  <a:srgbClr val="2B333E"/>
                </a:solidFill>
                <a:latin typeface="Poppins" pitchFamily="34" charset="0"/>
                <a:ea typeface="Poppins" pitchFamily="34" charset="-122"/>
                <a:cs typeface="Poppins" pitchFamily="34" charset="-120"/>
              </a:rPr>
              <a:t>Marketplace aberto a vendedores brasileiros</a:t>
            </a:r>
            <a:endParaRPr lang="en-US" sz="900" dirty="0"/>
          </a:p>
        </p:txBody>
      </p:sp>
      <p:sp>
        <p:nvSpPr>
          <p:cNvPr id="22" name="Shape 19"/>
          <p:cNvSpPr/>
          <p:nvPr/>
        </p:nvSpPr>
        <p:spPr>
          <a:xfrm rot="5400000">
            <a:off x="7123908" y="2880360"/>
            <a:ext cx="137160" cy="137160"/>
          </a:xfrm>
          <a:prstGeom prst="triangle">
            <a:avLst/>
          </a:prstGeom>
          <a:solidFill>
            <a:srgbClr val="FF9900"/>
          </a:solidFill>
          <a:ln/>
        </p:spPr>
      </p:sp>
      <p:sp>
        <p:nvSpPr>
          <p:cNvPr id="23" name="Shape 20"/>
          <p:cNvSpPr/>
          <p:nvPr/>
        </p:nvSpPr>
        <p:spPr>
          <a:xfrm>
            <a:off x="7311360" y="1965960"/>
            <a:ext cx="1955536" cy="1965960"/>
          </a:xfrm>
          <a:prstGeom prst="roundRect">
            <a:avLst>
              <a:gd name="adj" fmla="val 4676"/>
            </a:avLst>
          </a:prstGeom>
          <a:solidFill>
            <a:srgbClr val="FF9900"/>
          </a:solidFill>
          <a:ln/>
        </p:spPr>
      </p:sp>
      <p:sp>
        <p:nvSpPr>
          <p:cNvPr id="24" name="Text 21"/>
          <p:cNvSpPr/>
          <p:nvPr/>
        </p:nvSpPr>
        <p:spPr>
          <a:xfrm>
            <a:off x="7530816" y="2221992"/>
            <a:ext cx="1516624" cy="384048"/>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2019</a:t>
            </a:r>
            <a:endParaRPr lang="en-US" sz="1600" dirty="0"/>
          </a:p>
        </p:txBody>
      </p:sp>
      <p:sp>
        <p:nvSpPr>
          <p:cNvPr id="25" name="Shape 22"/>
          <p:cNvSpPr/>
          <p:nvPr/>
        </p:nvSpPr>
        <p:spPr>
          <a:xfrm>
            <a:off x="7530816" y="2679192"/>
            <a:ext cx="640080" cy="27432"/>
          </a:xfrm>
          <a:prstGeom prst="rect">
            <a:avLst/>
          </a:prstGeom>
          <a:solidFill>
            <a:srgbClr val="FFFFFF"/>
          </a:solidFill>
          <a:ln/>
        </p:spPr>
      </p:sp>
      <p:sp>
        <p:nvSpPr>
          <p:cNvPr id="26" name="Text 23"/>
          <p:cNvSpPr/>
          <p:nvPr/>
        </p:nvSpPr>
        <p:spPr>
          <a:xfrm>
            <a:off x="7530816" y="2825496"/>
            <a:ext cx="1516624" cy="960120"/>
          </a:xfrm>
          <a:prstGeom prst="rect">
            <a:avLst/>
          </a:prstGeom>
          <a:noFill/>
          <a:ln/>
        </p:spPr>
        <p:txBody>
          <a:bodyPr wrap="square" lIns="0" tIns="0" rIns="0" bIns="0" rtlCol="0" anchor="t"/>
          <a:lstStyle/>
          <a:p>
            <a:pPr indent="0" marL="0">
              <a:lnSpc>
                <a:spcPct val="116000"/>
              </a:lnSpc>
              <a:buNone/>
            </a:pPr>
            <a:r>
              <a:rPr lang="en-US" sz="900" dirty="0">
                <a:solidFill>
                  <a:srgbClr val="FFFFFF"/>
                </a:solidFill>
                <a:latin typeface="Poppins" pitchFamily="34" charset="0"/>
                <a:ea typeface="Poppins" pitchFamily="34" charset="-122"/>
                <a:cs typeface="Poppins" pitchFamily="34" charset="-120"/>
              </a:rPr>
              <a:t>Prime no Brasil + Logística da Amazon (FBA)</a:t>
            </a:r>
            <a:endParaRPr lang="en-US" sz="900" dirty="0"/>
          </a:p>
        </p:txBody>
      </p:sp>
      <p:sp>
        <p:nvSpPr>
          <p:cNvPr id="27" name="Shape 24"/>
          <p:cNvSpPr/>
          <p:nvPr/>
        </p:nvSpPr>
        <p:spPr>
          <a:xfrm rot="5400000">
            <a:off x="9317187" y="2880360"/>
            <a:ext cx="137160" cy="137160"/>
          </a:xfrm>
          <a:prstGeom prst="triangle">
            <a:avLst/>
          </a:prstGeom>
          <a:solidFill>
            <a:srgbClr val="FF9900"/>
          </a:solidFill>
          <a:ln/>
        </p:spPr>
      </p:sp>
      <p:sp>
        <p:nvSpPr>
          <p:cNvPr id="28" name="Shape 25"/>
          <p:cNvSpPr/>
          <p:nvPr/>
        </p:nvSpPr>
        <p:spPr>
          <a:xfrm>
            <a:off x="9504639" y="1965960"/>
            <a:ext cx="1955536" cy="1965960"/>
          </a:xfrm>
          <a:prstGeom prst="roundRect">
            <a:avLst>
              <a:gd name="adj" fmla="val 4676"/>
            </a:avLst>
          </a:prstGeom>
          <a:solidFill>
            <a:srgbClr val="131A22"/>
          </a:solidFill>
          <a:ln/>
        </p:spPr>
      </p:sp>
      <p:sp>
        <p:nvSpPr>
          <p:cNvPr id="29" name="Text 26"/>
          <p:cNvSpPr/>
          <p:nvPr/>
        </p:nvSpPr>
        <p:spPr>
          <a:xfrm>
            <a:off x="9724095" y="2221992"/>
            <a:ext cx="1516624" cy="384048"/>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2026E</a:t>
            </a:r>
            <a:endParaRPr lang="en-US" sz="1600" dirty="0"/>
          </a:p>
        </p:txBody>
      </p:sp>
      <p:sp>
        <p:nvSpPr>
          <p:cNvPr id="30" name="Shape 27"/>
          <p:cNvSpPr/>
          <p:nvPr/>
        </p:nvSpPr>
        <p:spPr>
          <a:xfrm>
            <a:off x="9724095" y="2679192"/>
            <a:ext cx="640080" cy="27432"/>
          </a:xfrm>
          <a:prstGeom prst="rect">
            <a:avLst/>
          </a:prstGeom>
          <a:solidFill>
            <a:srgbClr val="FF9900"/>
          </a:solidFill>
          <a:ln/>
        </p:spPr>
      </p:sp>
      <p:sp>
        <p:nvSpPr>
          <p:cNvPr id="31" name="Text 28"/>
          <p:cNvSpPr/>
          <p:nvPr/>
        </p:nvSpPr>
        <p:spPr>
          <a:xfrm>
            <a:off x="9724095" y="2825496"/>
            <a:ext cx="1516624" cy="960120"/>
          </a:xfrm>
          <a:prstGeom prst="rect">
            <a:avLst/>
          </a:prstGeom>
          <a:noFill/>
          <a:ln/>
        </p:spPr>
        <p:txBody>
          <a:bodyPr wrap="square" lIns="0" tIns="0" rIns="0" bIns="0" rtlCol="0" anchor="t"/>
          <a:lstStyle/>
          <a:p>
            <a:pPr indent="0" marL="0">
              <a:lnSpc>
                <a:spcPct val="116000"/>
              </a:lnSpc>
              <a:buNone/>
            </a:pPr>
            <a:r>
              <a:rPr lang="en-US" sz="900" dirty="0">
                <a:solidFill>
                  <a:srgbClr val="C7CDD6"/>
                </a:solidFill>
                <a:latin typeface="Poppins" pitchFamily="34" charset="0"/>
                <a:ea typeface="Poppins" pitchFamily="34" charset="-122"/>
                <a:cs typeface="Poppins" pitchFamily="34" charset="-120"/>
              </a:rPr>
              <a:t>Expansão contínua de malha e categorias</a:t>
            </a:r>
            <a:endParaRPr lang="en-US" sz="900" dirty="0"/>
          </a:p>
        </p:txBody>
      </p:sp>
      <p:sp>
        <p:nvSpPr>
          <p:cNvPr id="32" name="Shape 29"/>
          <p:cNvSpPr/>
          <p:nvPr/>
        </p:nvSpPr>
        <p:spPr>
          <a:xfrm>
            <a:off x="731520" y="4343400"/>
            <a:ext cx="1955536" cy="749808"/>
          </a:xfrm>
          <a:prstGeom prst="roundRect">
            <a:avLst>
              <a:gd name="adj" fmla="val 8537"/>
            </a:avLst>
          </a:prstGeom>
          <a:solidFill>
            <a:srgbClr val="F4F6F8"/>
          </a:solidFill>
          <a:ln w="12700">
            <a:solidFill>
              <a:srgbClr val="E2E6EB"/>
            </a:solidFill>
            <a:prstDash val="solid"/>
          </a:ln>
        </p:spPr>
      </p:sp>
      <p:sp>
        <p:nvSpPr>
          <p:cNvPr id="33" name="Text 30"/>
          <p:cNvSpPr/>
          <p:nvPr/>
        </p:nvSpPr>
        <p:spPr>
          <a:xfrm>
            <a:off x="914400" y="4434840"/>
            <a:ext cx="1589776" cy="329184"/>
          </a:xfrm>
          <a:prstGeom prst="rect">
            <a:avLst/>
          </a:prstGeom>
          <a:noFill/>
          <a:ln/>
        </p:spPr>
        <p:txBody>
          <a:bodyPr wrap="square" lIns="0" tIns="0" rIns="0" bIns="0" rtlCol="0" anchor="ctr"/>
          <a:lstStyle/>
          <a:p>
            <a:pPr indent="0" marL="0">
              <a:buNone/>
            </a:pPr>
            <a:r>
              <a:rPr lang="en-US" sz="1600" dirty="0">
                <a:solidFill>
                  <a:srgbClr val="131A22"/>
                </a:solidFill>
                <a:latin typeface="Poppins SemiBold" pitchFamily="34" charset="0"/>
                <a:ea typeface="Poppins SemiBold" pitchFamily="34" charset="-122"/>
                <a:cs typeface="Poppins SemiBold" pitchFamily="34" charset="-120"/>
              </a:rPr>
              <a:t>+30</a:t>
            </a:r>
            <a:endParaRPr lang="en-US" sz="1600" dirty="0"/>
          </a:p>
        </p:txBody>
      </p:sp>
      <p:sp>
        <p:nvSpPr>
          <p:cNvPr id="34" name="Text 31"/>
          <p:cNvSpPr/>
          <p:nvPr/>
        </p:nvSpPr>
        <p:spPr>
          <a:xfrm>
            <a:off x="91440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anos de operação global</a:t>
            </a:r>
            <a:endParaRPr lang="en-US" sz="800" dirty="0"/>
          </a:p>
        </p:txBody>
      </p:sp>
      <p:sp>
        <p:nvSpPr>
          <p:cNvPr id="35" name="Shape 32"/>
          <p:cNvSpPr/>
          <p:nvPr/>
        </p:nvSpPr>
        <p:spPr>
          <a:xfrm>
            <a:off x="2924800" y="4343400"/>
            <a:ext cx="1955536" cy="749808"/>
          </a:xfrm>
          <a:prstGeom prst="roundRect">
            <a:avLst>
              <a:gd name="adj" fmla="val 8537"/>
            </a:avLst>
          </a:prstGeom>
          <a:solidFill>
            <a:srgbClr val="F4F6F8"/>
          </a:solidFill>
          <a:ln w="12700">
            <a:solidFill>
              <a:srgbClr val="E2E6EB"/>
            </a:solidFill>
            <a:prstDash val="solid"/>
          </a:ln>
        </p:spPr>
      </p:sp>
      <p:sp>
        <p:nvSpPr>
          <p:cNvPr id="36" name="Text 33"/>
          <p:cNvSpPr/>
          <p:nvPr/>
        </p:nvSpPr>
        <p:spPr>
          <a:xfrm>
            <a:off x="3107680" y="4434840"/>
            <a:ext cx="1589776" cy="329184"/>
          </a:xfrm>
          <a:prstGeom prst="rect">
            <a:avLst/>
          </a:prstGeom>
          <a:noFill/>
          <a:ln/>
        </p:spPr>
        <p:txBody>
          <a:bodyPr wrap="square" lIns="0" tIns="0" rIns="0" bIns="0" rtlCol="0" anchor="ctr"/>
          <a:lstStyle/>
          <a:p>
            <a:pPr indent="0" marL="0">
              <a:buNone/>
            </a:pPr>
            <a:r>
              <a:rPr lang="en-US" sz="1600" dirty="0">
                <a:solidFill>
                  <a:srgbClr val="131A22"/>
                </a:solidFill>
                <a:latin typeface="Poppins SemiBold" pitchFamily="34" charset="0"/>
                <a:ea typeface="Poppins SemiBold" pitchFamily="34" charset="-122"/>
                <a:cs typeface="Poppins SemiBold" pitchFamily="34" charset="-120"/>
              </a:rPr>
              <a:t>14</a:t>
            </a:r>
            <a:endParaRPr lang="en-US" sz="1600" dirty="0"/>
          </a:p>
        </p:txBody>
      </p:sp>
      <p:sp>
        <p:nvSpPr>
          <p:cNvPr id="37" name="Text 34"/>
          <p:cNvSpPr/>
          <p:nvPr/>
        </p:nvSpPr>
        <p:spPr>
          <a:xfrm>
            <a:off x="310768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anos de Brasil</a:t>
            </a:r>
            <a:endParaRPr lang="en-US" sz="800" dirty="0"/>
          </a:p>
        </p:txBody>
      </p:sp>
      <p:sp>
        <p:nvSpPr>
          <p:cNvPr id="38" name="Shape 35"/>
          <p:cNvSpPr/>
          <p:nvPr/>
        </p:nvSpPr>
        <p:spPr>
          <a:xfrm>
            <a:off x="5118080" y="4343400"/>
            <a:ext cx="1955536" cy="749808"/>
          </a:xfrm>
          <a:prstGeom prst="roundRect">
            <a:avLst>
              <a:gd name="adj" fmla="val 8537"/>
            </a:avLst>
          </a:prstGeom>
          <a:solidFill>
            <a:srgbClr val="F4F6F8"/>
          </a:solidFill>
          <a:ln w="12700">
            <a:solidFill>
              <a:srgbClr val="E2E6EB"/>
            </a:solidFill>
            <a:prstDash val="solid"/>
          </a:ln>
        </p:spPr>
      </p:sp>
      <p:sp>
        <p:nvSpPr>
          <p:cNvPr id="39" name="Text 36"/>
          <p:cNvSpPr/>
          <p:nvPr/>
        </p:nvSpPr>
        <p:spPr>
          <a:xfrm>
            <a:off x="5300960" y="4434840"/>
            <a:ext cx="1589776" cy="329184"/>
          </a:xfrm>
          <a:prstGeom prst="rect">
            <a:avLst/>
          </a:prstGeom>
          <a:noFill/>
          <a:ln/>
        </p:spPr>
        <p:txBody>
          <a:bodyPr wrap="square" lIns="0" tIns="0" rIns="0" bIns="0" rtlCol="0" anchor="ctr"/>
          <a:lstStyle/>
          <a:p>
            <a:pPr indent="0" marL="0">
              <a:buNone/>
            </a:pPr>
            <a:r>
              <a:rPr lang="en-US" sz="1600" dirty="0">
                <a:solidFill>
                  <a:srgbClr val="9AA3AD"/>
                </a:solidFill>
                <a:latin typeface="Poppins SemiBold" pitchFamily="34" charset="0"/>
                <a:ea typeface="Poppins SemiBold" pitchFamily="34" charset="-122"/>
                <a:cs typeface="Poppins SemiBold" pitchFamily="34" charset="-120"/>
              </a:rPr>
              <a:t>[TBC]</a:t>
            </a:r>
            <a:endParaRPr lang="en-US" sz="1600" dirty="0"/>
          </a:p>
        </p:txBody>
      </p:sp>
      <p:sp>
        <p:nvSpPr>
          <p:cNvPr id="40" name="Text 37"/>
          <p:cNvSpPr/>
          <p:nvPr/>
        </p:nvSpPr>
        <p:spPr>
          <a:xfrm>
            <a:off x="530096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CDs no país</a:t>
            </a:r>
            <a:endParaRPr lang="en-US" sz="800" dirty="0"/>
          </a:p>
        </p:txBody>
      </p:sp>
      <p:sp>
        <p:nvSpPr>
          <p:cNvPr id="41" name="Shape 38"/>
          <p:cNvSpPr/>
          <p:nvPr/>
        </p:nvSpPr>
        <p:spPr>
          <a:xfrm>
            <a:off x="7311360" y="4343400"/>
            <a:ext cx="1955536" cy="749808"/>
          </a:xfrm>
          <a:prstGeom prst="roundRect">
            <a:avLst>
              <a:gd name="adj" fmla="val 8537"/>
            </a:avLst>
          </a:prstGeom>
          <a:solidFill>
            <a:srgbClr val="F4F6F8"/>
          </a:solidFill>
          <a:ln w="12700">
            <a:solidFill>
              <a:srgbClr val="E2E6EB"/>
            </a:solidFill>
            <a:prstDash val="solid"/>
          </a:ln>
        </p:spPr>
      </p:sp>
      <p:sp>
        <p:nvSpPr>
          <p:cNvPr id="42" name="Text 39"/>
          <p:cNvSpPr/>
          <p:nvPr/>
        </p:nvSpPr>
        <p:spPr>
          <a:xfrm>
            <a:off x="7494240" y="4434840"/>
            <a:ext cx="1589776" cy="329184"/>
          </a:xfrm>
          <a:prstGeom prst="rect">
            <a:avLst/>
          </a:prstGeom>
          <a:noFill/>
          <a:ln/>
        </p:spPr>
        <p:txBody>
          <a:bodyPr wrap="square" lIns="0" tIns="0" rIns="0" bIns="0" rtlCol="0" anchor="ctr"/>
          <a:lstStyle/>
          <a:p>
            <a:pPr indent="0" marL="0">
              <a:buNone/>
            </a:pPr>
            <a:r>
              <a:rPr lang="en-US" sz="1600" dirty="0">
                <a:solidFill>
                  <a:srgbClr val="9AA3AD"/>
                </a:solidFill>
                <a:latin typeface="Poppins SemiBold" pitchFamily="34" charset="0"/>
                <a:ea typeface="Poppins SemiBold" pitchFamily="34" charset="-122"/>
                <a:cs typeface="Poppins SemiBold" pitchFamily="34" charset="-120"/>
              </a:rPr>
              <a:t>[TBC]</a:t>
            </a:r>
            <a:endParaRPr lang="en-US" sz="1600" dirty="0"/>
          </a:p>
        </p:txBody>
      </p:sp>
      <p:sp>
        <p:nvSpPr>
          <p:cNvPr id="43" name="Text 40"/>
          <p:cNvSpPr/>
          <p:nvPr/>
        </p:nvSpPr>
        <p:spPr>
          <a:xfrm>
            <a:off x="749424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colaboradores no Brasil</a:t>
            </a:r>
            <a:endParaRPr lang="en-US" sz="800" dirty="0"/>
          </a:p>
        </p:txBody>
      </p:sp>
      <p:sp>
        <p:nvSpPr>
          <p:cNvPr id="44" name="Shape 41"/>
          <p:cNvSpPr/>
          <p:nvPr/>
        </p:nvSpPr>
        <p:spPr>
          <a:xfrm>
            <a:off x="9504639" y="4343400"/>
            <a:ext cx="1955536" cy="749808"/>
          </a:xfrm>
          <a:prstGeom prst="roundRect">
            <a:avLst>
              <a:gd name="adj" fmla="val 8537"/>
            </a:avLst>
          </a:prstGeom>
          <a:solidFill>
            <a:srgbClr val="F4F6F8"/>
          </a:solidFill>
          <a:ln w="12700">
            <a:solidFill>
              <a:srgbClr val="E2E6EB"/>
            </a:solidFill>
            <a:prstDash val="solid"/>
          </a:ln>
        </p:spPr>
      </p:sp>
      <p:sp>
        <p:nvSpPr>
          <p:cNvPr id="45" name="Text 42"/>
          <p:cNvSpPr/>
          <p:nvPr/>
        </p:nvSpPr>
        <p:spPr>
          <a:xfrm>
            <a:off x="9687519" y="4434840"/>
            <a:ext cx="1589776" cy="329184"/>
          </a:xfrm>
          <a:prstGeom prst="rect">
            <a:avLst/>
          </a:prstGeom>
          <a:noFill/>
          <a:ln/>
        </p:spPr>
        <p:txBody>
          <a:bodyPr wrap="square" lIns="0" tIns="0" rIns="0" bIns="0" rtlCol="0" anchor="ctr"/>
          <a:lstStyle/>
          <a:p>
            <a:pPr indent="0" marL="0">
              <a:buNone/>
            </a:pPr>
            <a:r>
              <a:rPr lang="en-US" sz="1600" dirty="0">
                <a:solidFill>
                  <a:srgbClr val="131A22"/>
                </a:solidFill>
                <a:latin typeface="Poppins SemiBold" pitchFamily="34" charset="0"/>
                <a:ea typeface="Poppins SemiBold" pitchFamily="34" charset="-122"/>
                <a:cs typeface="Poppins SemiBold" pitchFamily="34" charset="-120"/>
              </a:rPr>
              <a:t>24/7</a:t>
            </a:r>
            <a:endParaRPr lang="en-US" sz="1600" dirty="0"/>
          </a:p>
        </p:txBody>
      </p:sp>
      <p:sp>
        <p:nvSpPr>
          <p:cNvPr id="46" name="Text 43"/>
          <p:cNvSpPr/>
          <p:nvPr/>
        </p:nvSpPr>
        <p:spPr>
          <a:xfrm>
            <a:off x="9687519"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operação nacional</a:t>
            </a:r>
            <a:endParaRPr lang="en-US" sz="800" dirty="0"/>
          </a:p>
        </p:txBody>
      </p:sp>
      <p:sp>
        <p:nvSpPr>
          <p:cNvPr id="47" name="Shape 44"/>
          <p:cNvSpPr/>
          <p:nvPr/>
        </p:nvSpPr>
        <p:spPr>
          <a:xfrm>
            <a:off x="0" y="6172200"/>
            <a:ext cx="12191695" cy="685800"/>
          </a:xfrm>
          <a:prstGeom prst="rect">
            <a:avLst/>
          </a:prstGeom>
          <a:solidFill>
            <a:srgbClr val="131A22"/>
          </a:solidFill>
          <a:ln/>
        </p:spPr>
      </p:sp>
      <p:sp>
        <p:nvSpPr>
          <p:cNvPr id="48" name="Shape 45"/>
          <p:cNvSpPr/>
          <p:nvPr/>
        </p:nvSpPr>
        <p:spPr>
          <a:xfrm>
            <a:off x="0" y="6172200"/>
            <a:ext cx="118872" cy="685800"/>
          </a:xfrm>
          <a:prstGeom prst="rect">
            <a:avLst/>
          </a:prstGeom>
          <a:solidFill>
            <a:srgbClr val="FF9900"/>
          </a:solidFill>
          <a:ln/>
        </p:spPr>
      </p:sp>
      <p:sp>
        <p:nvSpPr>
          <p:cNvPr id="49" name="Text 46"/>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Mais de </a:t>
            </a:r>
            <a:pPr algn="ctr" indent="0" marL="0">
              <a:buNone/>
            </a:pPr>
            <a:r>
              <a:rPr lang="en-US" sz="1200" dirty="0">
                <a:solidFill>
                  <a:srgbClr val="FF9900"/>
                </a:solidFill>
                <a:latin typeface="Poppins SemiBold" pitchFamily="34" charset="0"/>
                <a:ea typeface="Poppins SemiBold" pitchFamily="34" charset="-122"/>
                <a:cs typeface="Poppins SemiBold" pitchFamily="34" charset="-120"/>
              </a:rPr>
              <a:t>uma década de infraestrutura</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construída no país — pronta para a próxima fase</a:t>
            </a:r>
            <a:endParaRPr lang="en-US" sz="1200" dirty="0"/>
          </a:p>
        </p:txBody>
      </p:sp>
      <p:pic>
        <p:nvPicPr>
          <p:cNvPr id="50"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51" name="Text 47"/>
          <p:cNvSpPr/>
          <p:nvPr/>
        </p:nvSpPr>
        <p:spPr>
          <a:xfrm>
            <a:off x="1097280" y="6405372"/>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13</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474013" cy="310896"/>
          </a:xfrm>
          <a:prstGeom prst="roundRect">
            <a:avLst>
              <a:gd name="adj" fmla="val 25000"/>
            </a:avLst>
          </a:prstGeom>
          <a:solidFill>
            <a:srgbClr val="FFF0D6"/>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Presença nacional apoiada em malha própria</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Escritório central em São Paulo e centros de distribuição em múltiplos estados, segundo divulgações públicas</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divulgações públicas e imprensa; contagens e endereços a confirmar com a gestão. Demonstração ilustrativa — fontes públicas (relatórios anuais, imprensa); dados Brasil não divulgados marcados [TBC].</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14</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783080"/>
            <a:ext cx="10728655" cy="841248"/>
          </a:xfrm>
          <a:prstGeom prst="roundRect">
            <a:avLst>
              <a:gd name="adj" fmla="val 9783"/>
            </a:avLst>
          </a:prstGeom>
          <a:solidFill>
            <a:srgbClr val="131A22"/>
          </a:solidFill>
          <a:ln/>
        </p:spPr>
      </p:sp>
      <p:sp>
        <p:nvSpPr>
          <p:cNvPr id="11" name="Shape 7"/>
          <p:cNvSpPr/>
          <p:nvPr/>
        </p:nvSpPr>
        <p:spPr>
          <a:xfrm>
            <a:off x="731520" y="1783080"/>
            <a:ext cx="50292" cy="841248"/>
          </a:xfrm>
          <a:prstGeom prst="rect">
            <a:avLst/>
          </a:prstGeom>
          <a:solidFill>
            <a:srgbClr val="FF9900"/>
          </a:solidFill>
          <a:ln/>
        </p:spPr>
      </p:sp>
      <p:sp>
        <p:nvSpPr>
          <p:cNvPr id="12" name="Text 8"/>
          <p:cNvSpPr/>
          <p:nvPr/>
        </p:nvSpPr>
        <p:spPr>
          <a:xfrm>
            <a:off x="1005840" y="1901952"/>
            <a:ext cx="7315200" cy="274320"/>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São Paulo — SP · Escritório central</a:t>
            </a:r>
            <a:endParaRPr lang="en-US" sz="1100" dirty="0"/>
          </a:p>
        </p:txBody>
      </p:sp>
      <p:sp>
        <p:nvSpPr>
          <p:cNvPr id="13" name="Text 9"/>
          <p:cNvSpPr/>
          <p:nvPr/>
        </p:nvSpPr>
        <p:spPr>
          <a:xfrm>
            <a:off x="1005840" y="2176272"/>
            <a:ext cx="10180015" cy="365760"/>
          </a:xfrm>
          <a:prstGeom prst="rect">
            <a:avLst/>
          </a:prstGeom>
          <a:noFill/>
          <a:ln/>
        </p:spPr>
        <p:txBody>
          <a:bodyPr wrap="square" lIns="0" tIns="0" rIns="0" bIns="0" rtlCol="0" anchor="t"/>
          <a:lstStyle/>
          <a:p>
            <a:pPr indent="0" marL="0">
              <a:buNone/>
            </a:pPr>
            <a:r>
              <a:rPr lang="en-US" sz="800" dirty="0">
                <a:solidFill>
                  <a:srgbClr val="8B95A5"/>
                </a:solidFill>
                <a:latin typeface="Poppins" pitchFamily="34" charset="0"/>
                <a:ea typeface="Poppins" pitchFamily="34" charset="-122"/>
                <a:cs typeface="Poppins" pitchFamily="34" charset="-120"/>
              </a:rPr>
              <a:t>Sede administrativa e de tecnologia da operação brasileira; região AWS São Paulo em operação desde 2011</a:t>
            </a:r>
            <a:endParaRPr lang="en-US" sz="800" dirty="0"/>
          </a:p>
        </p:txBody>
      </p:sp>
      <p:sp>
        <p:nvSpPr>
          <p:cNvPr id="14" name="Text 10"/>
          <p:cNvSpPr/>
          <p:nvPr/>
        </p:nvSpPr>
        <p:spPr>
          <a:xfrm>
            <a:off x="731520" y="2834640"/>
            <a:ext cx="5486400" cy="219456"/>
          </a:xfrm>
          <a:prstGeom prst="rect">
            <a:avLst/>
          </a:prstGeom>
          <a:noFill/>
          <a:ln/>
        </p:spPr>
        <p:txBody>
          <a:bodyPr wrap="square" lIns="0" tIns="0" rIns="0" bIns="0" rtlCol="0" anchor="ctr"/>
          <a:lstStyle/>
          <a:p>
            <a:pPr indent="0" marL="0">
              <a:buNone/>
            </a:pPr>
            <a:r>
              <a:rPr lang="en-US" sz="800" spc="140" kern="0" dirty="0">
                <a:solidFill>
                  <a:srgbClr val="FF9900"/>
                </a:solidFill>
                <a:latin typeface="Poppins SemiBold" pitchFamily="34" charset="0"/>
                <a:ea typeface="Poppins SemiBold" pitchFamily="34" charset="-122"/>
                <a:cs typeface="Poppins SemiBold" pitchFamily="34" charset="-120"/>
              </a:rPr>
              <a:t>REDE LOGÍSTICA — DIVULGAÇÕES PÚBLICAS</a:t>
            </a:r>
            <a:endParaRPr lang="en-US" sz="800" dirty="0"/>
          </a:p>
        </p:txBody>
      </p:sp>
      <p:sp>
        <p:nvSpPr>
          <p:cNvPr id="15" name="Shape 11"/>
          <p:cNvSpPr/>
          <p:nvPr/>
        </p:nvSpPr>
        <p:spPr>
          <a:xfrm>
            <a:off x="731520" y="3127248"/>
            <a:ext cx="2517572" cy="1554480"/>
          </a:xfrm>
          <a:prstGeom prst="roundRect">
            <a:avLst>
              <a:gd name="adj" fmla="val 4706"/>
            </a:avLst>
          </a:prstGeom>
          <a:solidFill>
            <a:srgbClr val="F4F6F8"/>
          </a:solidFill>
          <a:ln w="12700">
            <a:solidFill>
              <a:srgbClr val="E2E6EB"/>
            </a:solidFill>
            <a:prstDash val="solid"/>
          </a:ln>
        </p:spPr>
      </p:sp>
      <p:sp>
        <p:nvSpPr>
          <p:cNvPr id="16" name="Shape 12"/>
          <p:cNvSpPr/>
          <p:nvPr/>
        </p:nvSpPr>
        <p:spPr>
          <a:xfrm>
            <a:off x="731520" y="3127248"/>
            <a:ext cx="2517572" cy="36576"/>
          </a:xfrm>
          <a:prstGeom prst="rect">
            <a:avLst/>
          </a:prstGeom>
          <a:solidFill>
            <a:srgbClr val="FF9900"/>
          </a:solidFill>
          <a:ln/>
        </p:spPr>
      </p:sp>
      <p:sp>
        <p:nvSpPr>
          <p:cNvPr id="17" name="Text 13"/>
          <p:cNvSpPr/>
          <p:nvPr/>
        </p:nvSpPr>
        <p:spPr>
          <a:xfrm>
            <a:off x="914400" y="3273552"/>
            <a:ext cx="2151812" cy="475488"/>
          </a:xfrm>
          <a:prstGeom prst="rect">
            <a:avLst/>
          </a:prstGeom>
          <a:noFill/>
          <a:ln/>
        </p:spPr>
        <p:txBody>
          <a:bodyPr wrap="square" lIns="0" tIns="0" rIns="0" bIns="0" rtlCol="0" anchor="t"/>
          <a:lstStyle/>
          <a:p>
            <a:pPr indent="0" marL="0">
              <a:lnSpc>
                <a:spcPct val="108000"/>
              </a:lnSpc>
              <a:buNone/>
            </a:pPr>
            <a:r>
              <a:rPr lang="en-US" sz="950" dirty="0">
                <a:solidFill>
                  <a:srgbClr val="131A22"/>
                </a:solidFill>
                <a:latin typeface="Poppins SemiBold" pitchFamily="34" charset="0"/>
                <a:ea typeface="Poppins SemiBold" pitchFamily="34" charset="-122"/>
                <a:cs typeface="Poppins SemiBold" pitchFamily="34" charset="-120"/>
              </a:rPr>
              <a:t>Estado de São Paulo</a:t>
            </a:r>
            <a:endParaRPr lang="en-US" sz="950" dirty="0"/>
          </a:p>
        </p:txBody>
      </p:sp>
      <p:sp>
        <p:nvSpPr>
          <p:cNvPr id="18" name="Text 14"/>
          <p:cNvSpPr/>
          <p:nvPr/>
        </p:nvSpPr>
        <p:spPr>
          <a:xfrm>
            <a:off x="914400" y="3785616"/>
            <a:ext cx="2151812" cy="786384"/>
          </a:xfrm>
          <a:prstGeom prst="rect">
            <a:avLst/>
          </a:prstGeom>
          <a:noFill/>
          <a:ln/>
        </p:spPr>
        <p:txBody>
          <a:bodyPr wrap="square" lIns="0" tIns="0" rIns="0" bIns="0" rtlCol="0" anchor="t"/>
          <a:lstStyle/>
          <a:p>
            <a:pPr indent="0" marL="0">
              <a:lnSpc>
                <a:spcPct val="115000"/>
              </a:lnSpc>
              <a:buNone/>
            </a:pPr>
            <a:r>
              <a:rPr lang="en-US" sz="800" dirty="0">
                <a:solidFill>
                  <a:srgbClr val="6C7683"/>
                </a:solidFill>
                <a:latin typeface="Poppins" pitchFamily="34" charset="0"/>
                <a:ea typeface="Poppins" pitchFamily="34" charset="-122"/>
                <a:cs typeface="Poppins" pitchFamily="34" charset="-120"/>
              </a:rPr>
              <a:t>Concentração da malha de CDs e estações na maior praça consumidora</a:t>
            </a:r>
            <a:endParaRPr lang="en-US" sz="800" dirty="0"/>
          </a:p>
        </p:txBody>
      </p:sp>
      <p:sp>
        <p:nvSpPr>
          <p:cNvPr id="19" name="Shape 15"/>
          <p:cNvSpPr/>
          <p:nvPr/>
        </p:nvSpPr>
        <p:spPr>
          <a:xfrm>
            <a:off x="3468548" y="3127248"/>
            <a:ext cx="2517572" cy="1554480"/>
          </a:xfrm>
          <a:prstGeom prst="roundRect">
            <a:avLst>
              <a:gd name="adj" fmla="val 4706"/>
            </a:avLst>
          </a:prstGeom>
          <a:solidFill>
            <a:srgbClr val="F4F6F8"/>
          </a:solidFill>
          <a:ln w="12700">
            <a:solidFill>
              <a:srgbClr val="E2E6EB"/>
            </a:solidFill>
            <a:prstDash val="solid"/>
          </a:ln>
        </p:spPr>
      </p:sp>
      <p:sp>
        <p:nvSpPr>
          <p:cNvPr id="20" name="Shape 16"/>
          <p:cNvSpPr/>
          <p:nvPr/>
        </p:nvSpPr>
        <p:spPr>
          <a:xfrm>
            <a:off x="3468548" y="3127248"/>
            <a:ext cx="2517572" cy="36576"/>
          </a:xfrm>
          <a:prstGeom prst="rect">
            <a:avLst/>
          </a:prstGeom>
          <a:solidFill>
            <a:srgbClr val="FF9900"/>
          </a:solidFill>
          <a:ln/>
        </p:spPr>
      </p:sp>
      <p:sp>
        <p:nvSpPr>
          <p:cNvPr id="21" name="Text 17"/>
          <p:cNvSpPr/>
          <p:nvPr/>
        </p:nvSpPr>
        <p:spPr>
          <a:xfrm>
            <a:off x="3651428" y="3273552"/>
            <a:ext cx="2151812" cy="475488"/>
          </a:xfrm>
          <a:prstGeom prst="rect">
            <a:avLst/>
          </a:prstGeom>
          <a:noFill/>
          <a:ln/>
        </p:spPr>
        <p:txBody>
          <a:bodyPr wrap="square" lIns="0" tIns="0" rIns="0" bIns="0" rtlCol="0" anchor="t"/>
          <a:lstStyle/>
          <a:p>
            <a:pPr indent="0" marL="0">
              <a:lnSpc>
                <a:spcPct val="108000"/>
              </a:lnSpc>
              <a:buNone/>
            </a:pPr>
            <a:r>
              <a:rPr lang="en-US" sz="950" dirty="0">
                <a:solidFill>
                  <a:srgbClr val="131A22"/>
                </a:solidFill>
                <a:latin typeface="Poppins SemiBold" pitchFamily="34" charset="0"/>
                <a:ea typeface="Poppins SemiBold" pitchFamily="34" charset="-122"/>
                <a:cs typeface="Poppins SemiBold" pitchFamily="34" charset="-120"/>
              </a:rPr>
              <a:t>Pernambuco &amp; Nordeste</a:t>
            </a:r>
            <a:endParaRPr lang="en-US" sz="950" dirty="0"/>
          </a:p>
        </p:txBody>
      </p:sp>
      <p:sp>
        <p:nvSpPr>
          <p:cNvPr id="22" name="Text 18"/>
          <p:cNvSpPr/>
          <p:nvPr/>
        </p:nvSpPr>
        <p:spPr>
          <a:xfrm>
            <a:off x="3651428" y="3785616"/>
            <a:ext cx="2151812" cy="786384"/>
          </a:xfrm>
          <a:prstGeom prst="rect">
            <a:avLst/>
          </a:prstGeom>
          <a:noFill/>
          <a:ln/>
        </p:spPr>
        <p:txBody>
          <a:bodyPr wrap="square" lIns="0" tIns="0" rIns="0" bIns="0" rtlCol="0" anchor="t"/>
          <a:lstStyle/>
          <a:p>
            <a:pPr indent="0" marL="0">
              <a:lnSpc>
                <a:spcPct val="115000"/>
              </a:lnSpc>
              <a:buNone/>
            </a:pPr>
            <a:r>
              <a:rPr lang="en-US" sz="800" dirty="0">
                <a:solidFill>
                  <a:srgbClr val="6C7683"/>
                </a:solidFill>
                <a:latin typeface="Poppins" pitchFamily="34" charset="0"/>
                <a:ea typeface="Poppins" pitchFamily="34" charset="-122"/>
                <a:cs typeface="Poppins" pitchFamily="34" charset="-120"/>
              </a:rPr>
              <a:t>CDs regionais aproximando estoque da demanda do Nordeste</a:t>
            </a:r>
            <a:endParaRPr lang="en-US" sz="800" dirty="0"/>
          </a:p>
        </p:txBody>
      </p:sp>
      <p:sp>
        <p:nvSpPr>
          <p:cNvPr id="23" name="Shape 19"/>
          <p:cNvSpPr/>
          <p:nvPr/>
        </p:nvSpPr>
        <p:spPr>
          <a:xfrm>
            <a:off x="6205576" y="3127248"/>
            <a:ext cx="2517572" cy="1554480"/>
          </a:xfrm>
          <a:prstGeom prst="roundRect">
            <a:avLst>
              <a:gd name="adj" fmla="val 4706"/>
            </a:avLst>
          </a:prstGeom>
          <a:solidFill>
            <a:srgbClr val="F4F6F8"/>
          </a:solidFill>
          <a:ln w="12700">
            <a:solidFill>
              <a:srgbClr val="E2E6EB"/>
            </a:solidFill>
            <a:prstDash val="solid"/>
          </a:ln>
        </p:spPr>
      </p:sp>
      <p:sp>
        <p:nvSpPr>
          <p:cNvPr id="24" name="Shape 20"/>
          <p:cNvSpPr/>
          <p:nvPr/>
        </p:nvSpPr>
        <p:spPr>
          <a:xfrm>
            <a:off x="6205576" y="3127248"/>
            <a:ext cx="2517572" cy="36576"/>
          </a:xfrm>
          <a:prstGeom prst="rect">
            <a:avLst/>
          </a:prstGeom>
          <a:solidFill>
            <a:srgbClr val="FF9900"/>
          </a:solidFill>
          <a:ln/>
        </p:spPr>
      </p:sp>
      <p:sp>
        <p:nvSpPr>
          <p:cNvPr id="25" name="Text 21"/>
          <p:cNvSpPr/>
          <p:nvPr/>
        </p:nvSpPr>
        <p:spPr>
          <a:xfrm>
            <a:off x="6388456" y="3273552"/>
            <a:ext cx="2151812" cy="475488"/>
          </a:xfrm>
          <a:prstGeom prst="rect">
            <a:avLst/>
          </a:prstGeom>
          <a:noFill/>
          <a:ln/>
        </p:spPr>
        <p:txBody>
          <a:bodyPr wrap="square" lIns="0" tIns="0" rIns="0" bIns="0" rtlCol="0" anchor="t"/>
          <a:lstStyle/>
          <a:p>
            <a:pPr indent="0" marL="0">
              <a:lnSpc>
                <a:spcPct val="108000"/>
              </a:lnSpc>
              <a:buNone/>
            </a:pPr>
            <a:r>
              <a:rPr lang="en-US" sz="950" dirty="0">
                <a:solidFill>
                  <a:srgbClr val="131A22"/>
                </a:solidFill>
                <a:latin typeface="Poppins SemiBold" pitchFamily="34" charset="0"/>
                <a:ea typeface="Poppins SemiBold" pitchFamily="34" charset="-122"/>
                <a:cs typeface="Poppins SemiBold" pitchFamily="34" charset="-120"/>
              </a:rPr>
              <a:t>Minas Gerais &amp; Sul</a:t>
            </a:r>
            <a:endParaRPr lang="en-US" sz="950" dirty="0"/>
          </a:p>
        </p:txBody>
      </p:sp>
      <p:sp>
        <p:nvSpPr>
          <p:cNvPr id="26" name="Text 22"/>
          <p:cNvSpPr/>
          <p:nvPr/>
        </p:nvSpPr>
        <p:spPr>
          <a:xfrm>
            <a:off x="6388456" y="3785616"/>
            <a:ext cx="2151812" cy="786384"/>
          </a:xfrm>
          <a:prstGeom prst="rect">
            <a:avLst/>
          </a:prstGeom>
          <a:noFill/>
          <a:ln/>
        </p:spPr>
        <p:txBody>
          <a:bodyPr wrap="square" lIns="0" tIns="0" rIns="0" bIns="0" rtlCol="0" anchor="t"/>
          <a:lstStyle/>
          <a:p>
            <a:pPr indent="0" marL="0">
              <a:lnSpc>
                <a:spcPct val="115000"/>
              </a:lnSpc>
              <a:buNone/>
            </a:pPr>
            <a:r>
              <a:rPr lang="en-US" sz="800" dirty="0">
                <a:solidFill>
                  <a:srgbClr val="6C7683"/>
                </a:solidFill>
                <a:latin typeface="Poppins" pitchFamily="34" charset="0"/>
                <a:ea typeface="Poppins" pitchFamily="34" charset="-122"/>
                <a:cs typeface="Poppins" pitchFamily="34" charset="-120"/>
              </a:rPr>
              <a:t>Cobertura do Sudeste expandido e da região Sul [detalhe — TBC]</a:t>
            </a:r>
            <a:endParaRPr lang="en-US" sz="800" dirty="0"/>
          </a:p>
        </p:txBody>
      </p:sp>
      <p:sp>
        <p:nvSpPr>
          <p:cNvPr id="27" name="Shape 23"/>
          <p:cNvSpPr/>
          <p:nvPr/>
        </p:nvSpPr>
        <p:spPr>
          <a:xfrm>
            <a:off x="8942603" y="3127248"/>
            <a:ext cx="2517572" cy="1554480"/>
          </a:xfrm>
          <a:prstGeom prst="roundRect">
            <a:avLst>
              <a:gd name="adj" fmla="val 4706"/>
            </a:avLst>
          </a:prstGeom>
          <a:solidFill>
            <a:srgbClr val="F4F6F8"/>
          </a:solidFill>
          <a:ln w="12700">
            <a:solidFill>
              <a:srgbClr val="E2E6EB"/>
            </a:solidFill>
            <a:prstDash val="solid"/>
          </a:ln>
        </p:spPr>
      </p:sp>
      <p:sp>
        <p:nvSpPr>
          <p:cNvPr id="28" name="Shape 24"/>
          <p:cNvSpPr/>
          <p:nvPr/>
        </p:nvSpPr>
        <p:spPr>
          <a:xfrm>
            <a:off x="8942603" y="3127248"/>
            <a:ext cx="2517572" cy="36576"/>
          </a:xfrm>
          <a:prstGeom prst="rect">
            <a:avLst/>
          </a:prstGeom>
          <a:solidFill>
            <a:srgbClr val="FF9900"/>
          </a:solidFill>
          <a:ln/>
        </p:spPr>
      </p:sp>
      <p:sp>
        <p:nvSpPr>
          <p:cNvPr id="29" name="Text 25"/>
          <p:cNvSpPr/>
          <p:nvPr/>
        </p:nvSpPr>
        <p:spPr>
          <a:xfrm>
            <a:off x="9125483" y="3273552"/>
            <a:ext cx="2151812" cy="475488"/>
          </a:xfrm>
          <a:prstGeom prst="rect">
            <a:avLst/>
          </a:prstGeom>
          <a:noFill/>
          <a:ln/>
        </p:spPr>
        <p:txBody>
          <a:bodyPr wrap="square" lIns="0" tIns="0" rIns="0" bIns="0" rtlCol="0" anchor="t"/>
          <a:lstStyle/>
          <a:p>
            <a:pPr indent="0" marL="0">
              <a:lnSpc>
                <a:spcPct val="108000"/>
              </a:lnSpc>
              <a:buNone/>
            </a:pPr>
            <a:r>
              <a:rPr lang="en-US" sz="950" dirty="0">
                <a:solidFill>
                  <a:srgbClr val="131A22"/>
                </a:solidFill>
                <a:latin typeface="Poppins SemiBold" pitchFamily="34" charset="0"/>
                <a:ea typeface="Poppins SemiBold" pitchFamily="34" charset="-122"/>
                <a:cs typeface="Poppins SemiBold" pitchFamily="34" charset="-120"/>
              </a:rPr>
              <a:t>Distrito Federal &amp; outros</a:t>
            </a:r>
            <a:endParaRPr lang="en-US" sz="950" dirty="0"/>
          </a:p>
        </p:txBody>
      </p:sp>
      <p:sp>
        <p:nvSpPr>
          <p:cNvPr id="30" name="Text 26"/>
          <p:cNvSpPr/>
          <p:nvPr/>
        </p:nvSpPr>
        <p:spPr>
          <a:xfrm>
            <a:off x="9125483" y="3785616"/>
            <a:ext cx="2151812" cy="786384"/>
          </a:xfrm>
          <a:prstGeom prst="rect">
            <a:avLst/>
          </a:prstGeom>
          <a:noFill/>
          <a:ln/>
        </p:spPr>
        <p:txBody>
          <a:bodyPr wrap="square" lIns="0" tIns="0" rIns="0" bIns="0" rtlCol="0" anchor="t"/>
          <a:lstStyle/>
          <a:p>
            <a:pPr indent="0" marL="0">
              <a:lnSpc>
                <a:spcPct val="115000"/>
              </a:lnSpc>
              <a:buNone/>
            </a:pPr>
            <a:r>
              <a:rPr lang="en-US" sz="800" dirty="0">
                <a:solidFill>
                  <a:srgbClr val="6C7683"/>
                </a:solidFill>
                <a:latin typeface="Poppins" pitchFamily="34" charset="0"/>
                <a:ea typeface="Poppins" pitchFamily="34" charset="-122"/>
                <a:cs typeface="Poppins" pitchFamily="34" charset="-120"/>
              </a:rPr>
              <a:t>Presença em praças adicionais conforme divulgações [lista — TBC]</a:t>
            </a:r>
            <a:endParaRPr lang="en-US" sz="800" dirty="0"/>
          </a:p>
        </p:txBody>
      </p:sp>
      <p:sp>
        <p:nvSpPr>
          <p:cNvPr id="31" name="Shape 27"/>
          <p:cNvSpPr/>
          <p:nvPr/>
        </p:nvSpPr>
        <p:spPr>
          <a:xfrm>
            <a:off x="731520" y="4937760"/>
            <a:ext cx="2517572" cy="786384"/>
          </a:xfrm>
          <a:prstGeom prst="roundRect">
            <a:avLst>
              <a:gd name="adj" fmla="val 8140"/>
            </a:avLst>
          </a:prstGeom>
          <a:solidFill>
            <a:srgbClr val="F4F6F8"/>
          </a:solidFill>
          <a:ln w="12700">
            <a:solidFill>
              <a:srgbClr val="E2E6EB"/>
            </a:solidFill>
            <a:prstDash val="solid"/>
          </a:ln>
        </p:spPr>
      </p:sp>
      <p:sp>
        <p:nvSpPr>
          <p:cNvPr id="32" name="Shape 28"/>
          <p:cNvSpPr/>
          <p:nvPr/>
        </p:nvSpPr>
        <p:spPr>
          <a:xfrm>
            <a:off x="731520" y="5126492"/>
            <a:ext cx="50292" cy="408920"/>
          </a:xfrm>
          <a:prstGeom prst="rect">
            <a:avLst/>
          </a:prstGeom>
          <a:solidFill>
            <a:srgbClr val="FF9900"/>
          </a:solidFill>
          <a:ln/>
        </p:spPr>
      </p:sp>
      <p:sp>
        <p:nvSpPr>
          <p:cNvPr id="33" name="Text 29"/>
          <p:cNvSpPr/>
          <p:nvPr/>
        </p:nvSpPr>
        <p:spPr>
          <a:xfrm>
            <a:off x="950976" y="5063581"/>
            <a:ext cx="2151812" cy="330281"/>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1</a:t>
            </a:r>
            <a:endParaRPr lang="en-US" sz="1800" dirty="0"/>
          </a:p>
        </p:txBody>
      </p:sp>
      <p:sp>
        <p:nvSpPr>
          <p:cNvPr id="34" name="Text 30"/>
          <p:cNvSpPr/>
          <p:nvPr/>
        </p:nvSpPr>
        <p:spPr>
          <a:xfrm>
            <a:off x="950976" y="5378135"/>
            <a:ext cx="2151812"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Escritório central (SP)</a:t>
            </a:r>
            <a:endParaRPr lang="en-US" sz="800" dirty="0"/>
          </a:p>
        </p:txBody>
      </p:sp>
      <p:sp>
        <p:nvSpPr>
          <p:cNvPr id="35" name="Shape 31"/>
          <p:cNvSpPr/>
          <p:nvPr/>
        </p:nvSpPr>
        <p:spPr>
          <a:xfrm>
            <a:off x="3468548" y="4937760"/>
            <a:ext cx="2517572" cy="786384"/>
          </a:xfrm>
          <a:prstGeom prst="roundRect">
            <a:avLst>
              <a:gd name="adj" fmla="val 8140"/>
            </a:avLst>
          </a:prstGeom>
          <a:solidFill>
            <a:srgbClr val="F4F6F8"/>
          </a:solidFill>
          <a:ln w="12700">
            <a:solidFill>
              <a:srgbClr val="E2E6EB"/>
            </a:solidFill>
            <a:prstDash val="solid"/>
          </a:ln>
        </p:spPr>
      </p:sp>
      <p:sp>
        <p:nvSpPr>
          <p:cNvPr id="36" name="Shape 32"/>
          <p:cNvSpPr/>
          <p:nvPr/>
        </p:nvSpPr>
        <p:spPr>
          <a:xfrm>
            <a:off x="3468548" y="5126492"/>
            <a:ext cx="50292" cy="408920"/>
          </a:xfrm>
          <a:prstGeom prst="rect">
            <a:avLst/>
          </a:prstGeom>
          <a:solidFill>
            <a:srgbClr val="FF9900"/>
          </a:solidFill>
          <a:ln/>
        </p:spPr>
      </p:sp>
      <p:sp>
        <p:nvSpPr>
          <p:cNvPr id="37" name="Text 33"/>
          <p:cNvSpPr/>
          <p:nvPr/>
        </p:nvSpPr>
        <p:spPr>
          <a:xfrm>
            <a:off x="3688004" y="5063581"/>
            <a:ext cx="2151812" cy="330281"/>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[TBC]</a:t>
            </a:r>
            <a:endParaRPr lang="en-US" sz="1800" dirty="0"/>
          </a:p>
        </p:txBody>
      </p:sp>
      <p:sp>
        <p:nvSpPr>
          <p:cNvPr id="38" name="Text 34"/>
          <p:cNvSpPr/>
          <p:nvPr/>
        </p:nvSpPr>
        <p:spPr>
          <a:xfrm>
            <a:off x="3688004" y="5378135"/>
            <a:ext cx="2151812"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Centros de distribuição</a:t>
            </a:r>
            <a:endParaRPr lang="en-US" sz="800" dirty="0"/>
          </a:p>
        </p:txBody>
      </p:sp>
      <p:sp>
        <p:nvSpPr>
          <p:cNvPr id="39" name="Shape 35"/>
          <p:cNvSpPr/>
          <p:nvPr/>
        </p:nvSpPr>
        <p:spPr>
          <a:xfrm>
            <a:off x="6205576" y="4937760"/>
            <a:ext cx="2517572" cy="786384"/>
          </a:xfrm>
          <a:prstGeom prst="roundRect">
            <a:avLst>
              <a:gd name="adj" fmla="val 8140"/>
            </a:avLst>
          </a:prstGeom>
          <a:solidFill>
            <a:srgbClr val="F4F6F8"/>
          </a:solidFill>
          <a:ln w="12700">
            <a:solidFill>
              <a:srgbClr val="E2E6EB"/>
            </a:solidFill>
            <a:prstDash val="solid"/>
          </a:ln>
        </p:spPr>
      </p:sp>
      <p:sp>
        <p:nvSpPr>
          <p:cNvPr id="40" name="Shape 36"/>
          <p:cNvSpPr/>
          <p:nvPr/>
        </p:nvSpPr>
        <p:spPr>
          <a:xfrm>
            <a:off x="6205576" y="5126492"/>
            <a:ext cx="50292" cy="408920"/>
          </a:xfrm>
          <a:prstGeom prst="rect">
            <a:avLst/>
          </a:prstGeom>
          <a:solidFill>
            <a:srgbClr val="FF9900"/>
          </a:solidFill>
          <a:ln/>
        </p:spPr>
      </p:sp>
      <p:sp>
        <p:nvSpPr>
          <p:cNvPr id="41" name="Text 37"/>
          <p:cNvSpPr/>
          <p:nvPr/>
        </p:nvSpPr>
        <p:spPr>
          <a:xfrm>
            <a:off x="6425032" y="5063581"/>
            <a:ext cx="2151812" cy="330281"/>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[TBC]</a:t>
            </a:r>
            <a:endParaRPr lang="en-US" sz="1800" dirty="0"/>
          </a:p>
        </p:txBody>
      </p:sp>
      <p:sp>
        <p:nvSpPr>
          <p:cNvPr id="42" name="Text 38"/>
          <p:cNvSpPr/>
          <p:nvPr/>
        </p:nvSpPr>
        <p:spPr>
          <a:xfrm>
            <a:off x="6425032" y="5378135"/>
            <a:ext cx="2151812"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Estações de entrega</a:t>
            </a:r>
            <a:endParaRPr lang="en-US" sz="800" dirty="0"/>
          </a:p>
        </p:txBody>
      </p:sp>
      <p:sp>
        <p:nvSpPr>
          <p:cNvPr id="43" name="Shape 39"/>
          <p:cNvSpPr/>
          <p:nvPr/>
        </p:nvSpPr>
        <p:spPr>
          <a:xfrm>
            <a:off x="8942603" y="4937760"/>
            <a:ext cx="2517572" cy="786384"/>
          </a:xfrm>
          <a:prstGeom prst="roundRect">
            <a:avLst>
              <a:gd name="adj" fmla="val 8140"/>
            </a:avLst>
          </a:prstGeom>
          <a:solidFill>
            <a:srgbClr val="F4F6F8"/>
          </a:solidFill>
          <a:ln w="12700">
            <a:solidFill>
              <a:srgbClr val="E2E6EB"/>
            </a:solidFill>
            <a:prstDash val="solid"/>
          </a:ln>
        </p:spPr>
      </p:sp>
      <p:sp>
        <p:nvSpPr>
          <p:cNvPr id="44" name="Shape 40"/>
          <p:cNvSpPr/>
          <p:nvPr/>
        </p:nvSpPr>
        <p:spPr>
          <a:xfrm>
            <a:off x="8942603" y="5126492"/>
            <a:ext cx="50292" cy="408920"/>
          </a:xfrm>
          <a:prstGeom prst="rect">
            <a:avLst/>
          </a:prstGeom>
          <a:solidFill>
            <a:srgbClr val="FF9900"/>
          </a:solidFill>
          <a:ln/>
        </p:spPr>
      </p:sp>
      <p:sp>
        <p:nvSpPr>
          <p:cNvPr id="45" name="Text 41"/>
          <p:cNvSpPr/>
          <p:nvPr/>
        </p:nvSpPr>
        <p:spPr>
          <a:xfrm>
            <a:off x="9162059" y="5063581"/>
            <a:ext cx="2151812" cy="330281"/>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1</a:t>
            </a:r>
            <a:endParaRPr lang="en-US" sz="1800" dirty="0"/>
          </a:p>
        </p:txBody>
      </p:sp>
      <p:sp>
        <p:nvSpPr>
          <p:cNvPr id="46" name="Text 42"/>
          <p:cNvSpPr/>
          <p:nvPr/>
        </p:nvSpPr>
        <p:spPr>
          <a:xfrm>
            <a:off x="9162059" y="5378135"/>
            <a:ext cx="2151812"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Região AWS (São Paulo)</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A22"/>
        </a:solidFill>
      </p:bgPr>
    </p:bg>
    <p:spTree>
      <p:nvGrpSpPr>
        <p:cNvPr id="1" name=""/>
        <p:cNvGrpSpPr/>
        <p:nvPr/>
      </p:nvGrpSpPr>
      <p:grpSpPr>
        <a:xfrm>
          <a:off x="0" y="0"/>
          <a:ext cx="0" cy="0"/>
          <a:chOff x="0" y="0"/>
          <a:chExt cx="0" cy="0"/>
        </a:xfrm>
      </p:grpSpPr>
      <p:pic>
        <p:nvPicPr>
          <p:cNvPr id="2" name="Image 0" descr="assets/demo_amz/toc_panel.png">    </p:cNvPr>
          <p:cNvPicPr>
            <a:picLocks noChangeAspect="1"/>
          </p:cNvPicPr>
          <p:nvPr/>
        </p:nvPicPr>
        <p:blipFill>
          <a:blip r:embed="rId1"/>
          <a:srcRect l="0" r="0" t="0" b="0"/>
          <a:stretch/>
        </p:blipFill>
        <p:spPr>
          <a:xfrm>
            <a:off x="6858000" y="0"/>
            <a:ext cx="5333695" cy="6858000"/>
          </a:xfrm>
          <a:prstGeom prst="rect">
            <a:avLst/>
          </a:prstGeom>
        </p:spPr>
      </p:pic>
      <p:sp>
        <p:nvSpPr>
          <p:cNvPr id="3" name="Shape 0"/>
          <p:cNvSpPr/>
          <p:nvPr/>
        </p:nvSpPr>
        <p:spPr>
          <a:xfrm>
            <a:off x="6858000" y="0"/>
            <a:ext cx="5333695" cy="6858000"/>
          </a:xfrm>
          <a:prstGeom prst="rect">
            <a:avLst/>
          </a:prstGeom>
          <a:solidFill>
            <a:srgbClr val="131A22">
              <a:alpha val="42000"/>
            </a:srgbClr>
          </a:solidFill>
          <a:ln/>
        </p:spPr>
      </p:sp>
      <p:sp>
        <p:nvSpPr>
          <p:cNvPr id="4" name="Shape 1"/>
          <p:cNvSpPr/>
          <p:nvPr/>
        </p:nvSpPr>
        <p:spPr>
          <a:xfrm>
            <a:off x="6858000" y="0"/>
            <a:ext cx="41148" cy="6858000"/>
          </a:xfrm>
          <a:prstGeom prst="rect">
            <a:avLst/>
          </a:prstGeom>
          <a:solidFill>
            <a:srgbClr val="FF9900"/>
          </a:solidFill>
          <a:ln/>
        </p:spPr>
      </p:sp>
      <p:sp>
        <p:nvSpPr>
          <p:cNvPr id="5"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6"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F9900"/>
                </a:solidFill>
                <a:latin typeface="Poppins SemiBold" pitchFamily="34" charset="0"/>
                <a:ea typeface="Poppins SemiBold" pitchFamily="34" charset="-122"/>
                <a:cs typeface="Poppins SemiBold" pitchFamily="34" charset="-120"/>
              </a:rPr>
              <a:t>Summary</a:t>
            </a:r>
            <a:endParaRPr lang="en-US" sz="3200" dirty="0"/>
          </a:p>
        </p:txBody>
      </p:sp>
      <p:sp>
        <p:nvSpPr>
          <p:cNvPr id="7" name="Shape 4"/>
          <p:cNvSpPr/>
          <p:nvPr/>
        </p:nvSpPr>
        <p:spPr>
          <a:xfrm>
            <a:off x="731520" y="2395728"/>
            <a:ext cx="1371600" cy="32004"/>
          </a:xfrm>
          <a:prstGeom prst="rect">
            <a:avLst/>
          </a:prstGeom>
          <a:solidFill>
            <a:srgbClr val="FF9900"/>
          </a:solidFill>
          <a:ln/>
        </p:spPr>
      </p:sp>
      <p:sp>
        <p:nvSpPr>
          <p:cNvPr id="8" name="Shape 5"/>
          <p:cNvSpPr/>
          <p:nvPr/>
        </p:nvSpPr>
        <p:spPr>
          <a:xfrm rot="5400000">
            <a:off x="749808" y="2871216"/>
            <a:ext cx="173736" cy="173736"/>
          </a:xfrm>
          <a:prstGeom prst="triangle">
            <a:avLst/>
          </a:prstGeom>
          <a:solidFill>
            <a:srgbClr val="4A5563"/>
          </a:solidFill>
          <a:ln/>
        </p:spPr>
      </p:sp>
      <p:sp>
        <p:nvSpPr>
          <p:cNvPr id="9"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INTRODUCTION</a:t>
            </a:r>
            <a:endParaRPr lang="en-US" sz="1100" dirty="0"/>
          </a:p>
        </p:txBody>
      </p:sp>
      <p:sp>
        <p:nvSpPr>
          <p:cNvPr id="10"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04</a:t>
            </a:r>
            <a:endParaRPr lang="en-US" sz="1200" dirty="0"/>
          </a:p>
        </p:txBody>
      </p:sp>
      <p:sp>
        <p:nvSpPr>
          <p:cNvPr id="11" name="Shape 8"/>
          <p:cNvSpPr/>
          <p:nvPr/>
        </p:nvSpPr>
        <p:spPr>
          <a:xfrm rot="5400000">
            <a:off x="749808" y="3593592"/>
            <a:ext cx="173736" cy="173736"/>
          </a:xfrm>
          <a:prstGeom prst="triangle">
            <a:avLst/>
          </a:prstGeom>
          <a:solidFill>
            <a:srgbClr val="4A5563"/>
          </a:solidFill>
          <a:ln/>
        </p:spPr>
      </p:sp>
      <p:sp>
        <p:nvSpPr>
          <p:cNvPr id="12"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INVESTMENT THESIS</a:t>
            </a:r>
            <a:endParaRPr lang="en-US" sz="1100" dirty="0"/>
          </a:p>
        </p:txBody>
      </p:sp>
      <p:sp>
        <p:nvSpPr>
          <p:cNvPr id="13"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08</a:t>
            </a:r>
            <a:endParaRPr lang="en-US" sz="1200" dirty="0"/>
          </a:p>
        </p:txBody>
      </p:sp>
      <p:sp>
        <p:nvSpPr>
          <p:cNvPr id="14" name="Shape 11"/>
          <p:cNvSpPr/>
          <p:nvPr/>
        </p:nvSpPr>
        <p:spPr>
          <a:xfrm rot="5400000">
            <a:off x="749808" y="4315968"/>
            <a:ext cx="173736" cy="173736"/>
          </a:xfrm>
          <a:prstGeom prst="triangle">
            <a:avLst/>
          </a:prstGeom>
          <a:solidFill>
            <a:srgbClr val="4A5563"/>
          </a:solidFill>
          <a:ln/>
        </p:spPr>
      </p:sp>
      <p:sp>
        <p:nvSpPr>
          <p:cNvPr id="15"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COMPANY OVERVIEW</a:t>
            </a:r>
            <a:endParaRPr lang="en-US" sz="1100" dirty="0"/>
          </a:p>
        </p:txBody>
      </p:sp>
      <p:sp>
        <p:nvSpPr>
          <p:cNvPr id="16"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13</a:t>
            </a:r>
            <a:endParaRPr lang="en-US" sz="1200" dirty="0"/>
          </a:p>
        </p:txBody>
      </p:sp>
      <p:sp>
        <p:nvSpPr>
          <p:cNvPr id="17" name="Shape 14"/>
          <p:cNvSpPr/>
          <p:nvPr/>
        </p:nvSpPr>
        <p:spPr>
          <a:xfrm rot="5400000">
            <a:off x="749808" y="5038344"/>
            <a:ext cx="173736" cy="173736"/>
          </a:xfrm>
          <a:prstGeom prst="triangle">
            <a:avLst/>
          </a:prstGeom>
          <a:solidFill>
            <a:srgbClr val="FF9900"/>
          </a:solidFill>
          <a:ln/>
        </p:spPr>
      </p:sp>
      <p:sp>
        <p:nvSpPr>
          <p:cNvPr id="18"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FINANCIAL HIGHLIGHTS</a:t>
            </a:r>
            <a:endParaRPr lang="en-US" sz="1100" dirty="0"/>
          </a:p>
        </p:txBody>
      </p:sp>
      <p:sp>
        <p:nvSpPr>
          <p:cNvPr id="19"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FF9900"/>
                </a:solidFill>
                <a:latin typeface="Poppins Medium" pitchFamily="34" charset="0"/>
                <a:ea typeface="Poppins Medium" pitchFamily="34" charset="-122"/>
                <a:cs typeface="Poppins Medium" pitchFamily="34" charset="-120"/>
              </a:rPr>
              <a:t>16</a:t>
            </a:r>
            <a:endParaRPr lang="en-US" sz="1200" dirty="0"/>
          </a:p>
        </p:txBody>
      </p:sp>
      <p:pic>
        <p:nvPicPr>
          <p:cNvPr id="20" name="Image 1" descr="assets/igc_white.png">    </p:cNvPr>
          <p:cNvPicPr>
            <a:picLocks noChangeAspect="1"/>
          </p:cNvPicPr>
          <p:nvPr/>
        </p:nvPicPr>
        <p:blipFill>
          <a:blip r:embed="rId2"/>
          <a:stretch>
            <a:fillRect/>
          </a:stretch>
        </p:blipFill>
        <p:spPr>
          <a:xfrm>
            <a:off x="10957255" y="384048"/>
            <a:ext cx="502920" cy="434746"/>
          </a:xfrm>
          <a:prstGeom prst="rect">
            <a:avLst/>
          </a:prstGeom>
        </p:spPr>
      </p:pic>
      <p:sp>
        <p:nvSpPr>
          <p:cNvPr id="21"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773936" cy="310896"/>
          </a:xfrm>
          <a:prstGeom prst="roundRect">
            <a:avLst>
              <a:gd name="adj" fmla="val 25000"/>
            </a:avLst>
          </a:prstGeom>
          <a:solidFill>
            <a:srgbClr val="FFF0D6"/>
          </a:solidFill>
          <a:ln/>
        </p:spPr>
      </p:sp>
      <p:sp>
        <p:nvSpPr>
          <p:cNvPr id="4" name="Text 1"/>
          <p:cNvSpPr/>
          <p:nvPr/>
        </p:nvSpPr>
        <p:spPr>
          <a:xfrm>
            <a:off x="731520" y="310896"/>
            <a:ext cx="1773936"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Financial Highlights</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Referências financeiras globais</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A companhia não divulga aberturas por país — os números abaixo são globais e públicos; a visão Brasil é a construir com a gestão</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Amazon.com Inc. 10-K (FY2022–FY2024). Net sales globais; câmbio não aplicado. Demonstração ilustrativa — fontes públicas (relatórios anuais, imprensa); dados Brasil não divulgados marcados [TBC].</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16</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810512"/>
            <a:ext cx="2490140" cy="841248"/>
          </a:xfrm>
          <a:prstGeom prst="roundRect">
            <a:avLst>
              <a:gd name="adj" fmla="val 7609"/>
            </a:avLst>
          </a:prstGeom>
          <a:solidFill>
            <a:srgbClr val="F4F6F8"/>
          </a:solidFill>
          <a:ln w="12700">
            <a:solidFill>
              <a:srgbClr val="E2E6EB"/>
            </a:solidFill>
            <a:prstDash val="solid"/>
          </a:ln>
        </p:spPr>
      </p:sp>
      <p:sp>
        <p:nvSpPr>
          <p:cNvPr id="11" name="Shape 7"/>
          <p:cNvSpPr/>
          <p:nvPr/>
        </p:nvSpPr>
        <p:spPr>
          <a:xfrm>
            <a:off x="731520" y="2012412"/>
            <a:ext cx="50292" cy="437449"/>
          </a:xfrm>
          <a:prstGeom prst="rect">
            <a:avLst/>
          </a:prstGeom>
          <a:solidFill>
            <a:srgbClr val="FF9900"/>
          </a:solidFill>
          <a:ln/>
        </p:spPr>
      </p:sp>
      <p:sp>
        <p:nvSpPr>
          <p:cNvPr id="12" name="Text 8"/>
          <p:cNvSpPr/>
          <p:nvPr/>
        </p:nvSpPr>
        <p:spPr>
          <a:xfrm>
            <a:off x="950976" y="1945112"/>
            <a:ext cx="2124380" cy="353324"/>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US$ 638,0 bn</a:t>
            </a:r>
            <a:endParaRPr lang="en-US" sz="1800" dirty="0"/>
          </a:p>
        </p:txBody>
      </p:sp>
      <p:sp>
        <p:nvSpPr>
          <p:cNvPr id="13" name="Text 9"/>
          <p:cNvSpPr/>
          <p:nvPr/>
        </p:nvSpPr>
        <p:spPr>
          <a:xfrm>
            <a:off x="950976" y="2281611"/>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Net sales 2024 (+11% YoY)</a:t>
            </a:r>
            <a:endParaRPr lang="en-US" sz="800" dirty="0"/>
          </a:p>
        </p:txBody>
      </p:sp>
      <p:sp>
        <p:nvSpPr>
          <p:cNvPr id="14" name="Shape 10"/>
          <p:cNvSpPr/>
          <p:nvPr/>
        </p:nvSpPr>
        <p:spPr>
          <a:xfrm>
            <a:off x="3477692" y="1810512"/>
            <a:ext cx="2490140" cy="841248"/>
          </a:xfrm>
          <a:prstGeom prst="roundRect">
            <a:avLst>
              <a:gd name="adj" fmla="val 7609"/>
            </a:avLst>
          </a:prstGeom>
          <a:solidFill>
            <a:srgbClr val="F4F6F8"/>
          </a:solidFill>
          <a:ln w="12700">
            <a:solidFill>
              <a:srgbClr val="E2E6EB"/>
            </a:solidFill>
            <a:prstDash val="solid"/>
          </a:ln>
        </p:spPr>
      </p:sp>
      <p:sp>
        <p:nvSpPr>
          <p:cNvPr id="15" name="Shape 11"/>
          <p:cNvSpPr/>
          <p:nvPr/>
        </p:nvSpPr>
        <p:spPr>
          <a:xfrm>
            <a:off x="3477692" y="2012412"/>
            <a:ext cx="50292" cy="437449"/>
          </a:xfrm>
          <a:prstGeom prst="rect">
            <a:avLst/>
          </a:prstGeom>
          <a:solidFill>
            <a:srgbClr val="FF9900"/>
          </a:solidFill>
          <a:ln/>
        </p:spPr>
      </p:sp>
      <p:sp>
        <p:nvSpPr>
          <p:cNvPr id="16" name="Text 12"/>
          <p:cNvSpPr/>
          <p:nvPr/>
        </p:nvSpPr>
        <p:spPr>
          <a:xfrm>
            <a:off x="3697148" y="1945112"/>
            <a:ext cx="2124380" cy="353324"/>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US$ 107,6 bn</a:t>
            </a:r>
            <a:endParaRPr lang="en-US" sz="1800" dirty="0"/>
          </a:p>
        </p:txBody>
      </p:sp>
      <p:sp>
        <p:nvSpPr>
          <p:cNvPr id="17" name="Text 13"/>
          <p:cNvSpPr/>
          <p:nvPr/>
        </p:nvSpPr>
        <p:spPr>
          <a:xfrm>
            <a:off x="3697148" y="2281611"/>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AWS 2024</a:t>
            </a:r>
            <a:endParaRPr lang="en-US" sz="800" dirty="0"/>
          </a:p>
        </p:txBody>
      </p:sp>
      <p:sp>
        <p:nvSpPr>
          <p:cNvPr id="18" name="Shape 14"/>
          <p:cNvSpPr/>
          <p:nvPr/>
        </p:nvSpPr>
        <p:spPr>
          <a:xfrm>
            <a:off x="6223864" y="1810512"/>
            <a:ext cx="2490140" cy="841248"/>
          </a:xfrm>
          <a:prstGeom prst="roundRect">
            <a:avLst>
              <a:gd name="adj" fmla="val 7609"/>
            </a:avLst>
          </a:prstGeom>
          <a:solidFill>
            <a:srgbClr val="F4F6F8"/>
          </a:solidFill>
          <a:ln w="12700">
            <a:solidFill>
              <a:srgbClr val="E2E6EB"/>
            </a:solidFill>
            <a:prstDash val="solid"/>
          </a:ln>
        </p:spPr>
      </p:sp>
      <p:sp>
        <p:nvSpPr>
          <p:cNvPr id="19" name="Shape 15"/>
          <p:cNvSpPr/>
          <p:nvPr/>
        </p:nvSpPr>
        <p:spPr>
          <a:xfrm>
            <a:off x="6223864" y="2012412"/>
            <a:ext cx="50292" cy="437449"/>
          </a:xfrm>
          <a:prstGeom prst="rect">
            <a:avLst/>
          </a:prstGeom>
          <a:solidFill>
            <a:srgbClr val="FF9900"/>
          </a:solidFill>
          <a:ln/>
        </p:spPr>
      </p:sp>
      <p:sp>
        <p:nvSpPr>
          <p:cNvPr id="20" name="Text 16"/>
          <p:cNvSpPr/>
          <p:nvPr/>
        </p:nvSpPr>
        <p:spPr>
          <a:xfrm>
            <a:off x="6443320" y="1945112"/>
            <a:ext cx="2124380" cy="353324"/>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US$ 56,2 bn</a:t>
            </a:r>
            <a:endParaRPr lang="en-US" sz="1800" dirty="0"/>
          </a:p>
        </p:txBody>
      </p:sp>
      <p:sp>
        <p:nvSpPr>
          <p:cNvPr id="21" name="Text 17"/>
          <p:cNvSpPr/>
          <p:nvPr/>
        </p:nvSpPr>
        <p:spPr>
          <a:xfrm>
            <a:off x="6443320" y="2281611"/>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Advertising 2024</a:t>
            </a:r>
            <a:endParaRPr lang="en-US" sz="800" dirty="0"/>
          </a:p>
        </p:txBody>
      </p:sp>
      <p:sp>
        <p:nvSpPr>
          <p:cNvPr id="22" name="Shape 18"/>
          <p:cNvSpPr/>
          <p:nvPr/>
        </p:nvSpPr>
        <p:spPr>
          <a:xfrm>
            <a:off x="8970035" y="1810512"/>
            <a:ext cx="2490140" cy="841248"/>
          </a:xfrm>
          <a:prstGeom prst="roundRect">
            <a:avLst>
              <a:gd name="adj" fmla="val 7609"/>
            </a:avLst>
          </a:prstGeom>
          <a:solidFill>
            <a:srgbClr val="F4F6F8"/>
          </a:solidFill>
          <a:ln w="12700">
            <a:solidFill>
              <a:srgbClr val="E2E6EB"/>
            </a:solidFill>
            <a:prstDash val="solid"/>
          </a:ln>
        </p:spPr>
      </p:sp>
      <p:sp>
        <p:nvSpPr>
          <p:cNvPr id="23" name="Shape 19"/>
          <p:cNvSpPr/>
          <p:nvPr/>
        </p:nvSpPr>
        <p:spPr>
          <a:xfrm>
            <a:off x="8970035" y="2012412"/>
            <a:ext cx="50292" cy="437449"/>
          </a:xfrm>
          <a:prstGeom prst="rect">
            <a:avLst/>
          </a:prstGeom>
          <a:solidFill>
            <a:srgbClr val="FF9900"/>
          </a:solidFill>
          <a:ln/>
        </p:spPr>
      </p:sp>
      <p:sp>
        <p:nvSpPr>
          <p:cNvPr id="24" name="Text 20"/>
          <p:cNvSpPr/>
          <p:nvPr/>
        </p:nvSpPr>
        <p:spPr>
          <a:xfrm>
            <a:off x="9189491" y="1945112"/>
            <a:ext cx="2124380" cy="353324"/>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+200 Mn</a:t>
            </a:r>
            <a:endParaRPr lang="en-US" sz="1800" dirty="0"/>
          </a:p>
        </p:txBody>
      </p:sp>
      <p:sp>
        <p:nvSpPr>
          <p:cNvPr id="25" name="Text 21"/>
          <p:cNvSpPr/>
          <p:nvPr/>
        </p:nvSpPr>
        <p:spPr>
          <a:xfrm>
            <a:off x="9189491" y="2281611"/>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Membros Prime (global)</a:t>
            </a:r>
            <a:endParaRPr lang="en-US" sz="800" dirty="0"/>
          </a:p>
        </p:txBody>
      </p:sp>
      <p:sp>
        <p:nvSpPr>
          <p:cNvPr id="26" name="Shape 22"/>
          <p:cNvSpPr/>
          <p:nvPr/>
        </p:nvSpPr>
        <p:spPr>
          <a:xfrm>
            <a:off x="731520" y="2852928"/>
            <a:ext cx="10728655" cy="2926080"/>
          </a:xfrm>
          <a:prstGeom prst="roundRect">
            <a:avLst>
              <a:gd name="adj" fmla="val 2813"/>
            </a:avLst>
          </a:prstGeom>
          <a:solidFill>
            <a:srgbClr val="F4F6F8"/>
          </a:solidFill>
          <a:ln w="12700">
            <a:solidFill>
              <a:srgbClr val="E2E6EB"/>
            </a:solidFill>
            <a:prstDash val="solid"/>
          </a:ln>
        </p:spPr>
      </p:sp>
      <p:sp>
        <p:nvSpPr>
          <p:cNvPr id="27" name="Text 23"/>
          <p:cNvSpPr/>
          <p:nvPr/>
        </p:nvSpPr>
        <p:spPr>
          <a:xfrm>
            <a:off x="1024128" y="3017520"/>
            <a:ext cx="5486400" cy="274320"/>
          </a:xfrm>
          <a:prstGeom prst="rect">
            <a:avLst/>
          </a:prstGeom>
          <a:noFill/>
          <a:ln/>
        </p:spPr>
        <p:txBody>
          <a:bodyPr wrap="square" lIns="0" tIns="0" rIns="0" bIns="0" rtlCol="0" anchor="ctr"/>
          <a:lstStyle/>
          <a:p>
            <a:pPr indent="0" marL="0">
              <a:buNone/>
            </a:pPr>
            <a:r>
              <a:rPr lang="en-US" sz="1000" dirty="0">
                <a:solidFill>
                  <a:srgbClr val="131A22"/>
                </a:solidFill>
                <a:latin typeface="Poppins SemiBold" pitchFamily="34" charset="0"/>
                <a:ea typeface="Poppins SemiBold" pitchFamily="34" charset="-122"/>
                <a:cs typeface="Poppins SemiBold" pitchFamily="34" charset="-120"/>
              </a:rPr>
              <a:t>Net sales globais — US$ bn</a:t>
            </a:r>
            <a:endParaRPr lang="en-US" sz="1000" dirty="0"/>
          </a:p>
        </p:txBody>
      </p:sp>
      <p:graphicFrame>
        <p:nvGraphicFramePr>
          <p:cNvPr id="28" name="Chart 0" descr=""/>
          <p:cNvGraphicFramePr/>
          <p:nvPr/>
        </p:nvGraphicFramePr>
        <p:xfrm>
          <a:off x="1005840" y="3383280"/>
          <a:ext cx="10180015" cy="2194560"/>
        </p:xfrm>
        <a:graphic xmlns:a="http://schemas.openxmlformats.org/drawingml/2006/main">
          <a:graphicData uri="http://schemas.openxmlformats.org/drawingml/2006/chart">
            <c:chart xmlns:c="http://schemas.openxmlformats.org/drawingml/2006/chart" r:id="rId3"/>
          </a:graphicData>
        </a:graphic>
      </p:graphicFrame>
      <p:sp>
        <p:nvSpPr>
          <p:cNvPr id="29" name="Text 24"/>
          <p:cNvSpPr/>
          <p:nvPr/>
        </p:nvSpPr>
        <p:spPr>
          <a:xfrm>
            <a:off x="731520" y="5870448"/>
            <a:ext cx="10728655" cy="256032"/>
          </a:xfrm>
          <a:prstGeom prst="rect">
            <a:avLst/>
          </a:prstGeom>
          <a:noFill/>
          <a:ln/>
        </p:spPr>
        <p:txBody>
          <a:bodyPr wrap="square" lIns="0" tIns="0" rIns="0" bIns="0" rtlCol="0" anchor="ctr"/>
          <a:lstStyle/>
          <a:p>
            <a:pPr algn="ctr" indent="0" marL="0">
              <a:buNone/>
            </a:pPr>
            <a:r>
              <a:rPr lang="en-US" sz="900" i="1" dirty="0">
                <a:solidFill>
                  <a:srgbClr val="9AA3AD"/>
                </a:solidFill>
                <a:latin typeface="Poppins" pitchFamily="34" charset="0"/>
                <a:ea typeface="Poppins" pitchFamily="34" charset="-122"/>
                <a:cs typeface="Poppins" pitchFamily="34" charset="-120"/>
              </a:rPr>
              <a:t>Visão Brasil (R$): receita, GMV e margens [TBC — dados não públicos]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ssets/demo_amz/amz_dark.png">    </p:cNvPr>
          <p:cNvPicPr>
            <a:picLocks noChangeAspect="1"/>
          </p:cNvPicPr>
          <p:nvPr/>
        </p:nvPicPr>
        <p:blipFill>
          <a:blip r:embed="rId1"/>
          <a:stretch>
            <a:fillRect/>
          </a:stretch>
        </p:blipFill>
        <p:spPr>
          <a:xfrm>
            <a:off x="10591495" y="310896"/>
            <a:ext cx="868680" cy="246126"/>
          </a:xfrm>
          <a:prstGeom prst="rect">
            <a:avLst/>
          </a:prstGeom>
        </p:spPr>
      </p:pic>
      <p:sp>
        <p:nvSpPr>
          <p:cNvPr id="3" name="Shape 0"/>
          <p:cNvSpPr/>
          <p:nvPr/>
        </p:nvSpPr>
        <p:spPr>
          <a:xfrm>
            <a:off x="731520" y="310896"/>
            <a:ext cx="1773936" cy="310896"/>
          </a:xfrm>
          <a:prstGeom prst="roundRect">
            <a:avLst>
              <a:gd name="adj" fmla="val 25000"/>
            </a:avLst>
          </a:prstGeom>
          <a:solidFill>
            <a:srgbClr val="FFF0D6"/>
          </a:solidFill>
          <a:ln/>
        </p:spPr>
      </p:sp>
      <p:sp>
        <p:nvSpPr>
          <p:cNvPr id="4" name="Text 1"/>
          <p:cNvSpPr/>
          <p:nvPr/>
        </p:nvSpPr>
        <p:spPr>
          <a:xfrm>
            <a:off x="731520" y="310896"/>
            <a:ext cx="1773936" cy="310896"/>
          </a:xfrm>
          <a:prstGeom prst="rect">
            <a:avLst/>
          </a:prstGeom>
          <a:noFill/>
          <a:ln/>
        </p:spPr>
        <p:txBody>
          <a:bodyPr wrap="square" lIns="0" tIns="0" rIns="0" bIns="0" rtlCol="0" anchor="ctr"/>
          <a:lstStyle/>
          <a:p>
            <a:pPr algn="ctr" indent="0" marL="0">
              <a:buNone/>
            </a:pPr>
            <a:r>
              <a:rPr lang="en-US" sz="900" dirty="0">
                <a:solidFill>
                  <a:srgbClr val="CC7A00"/>
                </a:solidFill>
                <a:latin typeface="Poppins Medium" pitchFamily="34" charset="0"/>
                <a:ea typeface="Poppins Medium" pitchFamily="34" charset="-122"/>
                <a:cs typeface="Poppins Medium" pitchFamily="34" charset="-120"/>
              </a:rPr>
              <a:t>Financial Highlights</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31A22"/>
                </a:solidFill>
                <a:latin typeface="Poppins SemiBold" pitchFamily="34" charset="0"/>
                <a:ea typeface="Poppins SemiBold" pitchFamily="34" charset="-122"/>
                <a:cs typeface="Poppins SemiBold" pitchFamily="34" charset="-120"/>
              </a:rPr>
              <a:t>Demonstração de resultados — Brasil</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Estrutura ilustrativa; todas as linhas a preencher com dados da gestão</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estrutura ilustrativa. Nenhum valor Brasil é público. Demonstração ilustrativa — fontes públicas (relatórios anuais, imprensa); dados Brasil não divulgados marcados [TBC].</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17</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783080"/>
            <a:ext cx="10728655" cy="384048"/>
          </a:xfrm>
          <a:prstGeom prst="roundRect">
            <a:avLst>
              <a:gd name="adj" fmla="val 11905"/>
            </a:avLst>
          </a:prstGeom>
          <a:solidFill>
            <a:srgbClr val="131A22"/>
          </a:solidFill>
          <a:ln/>
        </p:spPr>
      </p:sp>
      <p:sp>
        <p:nvSpPr>
          <p:cNvPr id="11" name="Text 7"/>
          <p:cNvSpPr/>
          <p:nvPr/>
        </p:nvSpPr>
        <p:spPr>
          <a:xfrm>
            <a:off x="914400" y="1783080"/>
            <a:ext cx="3657600" cy="384048"/>
          </a:xfrm>
          <a:prstGeom prst="rect">
            <a:avLst/>
          </a:prstGeom>
          <a:noFill/>
          <a:ln/>
        </p:spPr>
        <p:txBody>
          <a:bodyPr wrap="square" lIns="0" tIns="0" rIns="0" bIns="0" rtlCol="0" anchor="ctr"/>
          <a:lstStyle/>
          <a:p>
            <a:pPr indent="0" marL="0">
              <a:buNone/>
            </a:pPr>
            <a:r>
              <a:rPr lang="en-US" sz="850" dirty="0">
                <a:solidFill>
                  <a:srgbClr val="FFFFFF"/>
                </a:solidFill>
                <a:latin typeface="Poppins SemiBold" pitchFamily="34" charset="0"/>
                <a:ea typeface="Poppins SemiBold" pitchFamily="34" charset="-122"/>
                <a:cs typeface="Poppins SemiBold" pitchFamily="34" charset="-120"/>
              </a:rPr>
              <a:t>BRL Mn</a:t>
            </a:r>
            <a:endParaRPr lang="en-US" sz="850" dirty="0"/>
          </a:p>
        </p:txBody>
      </p:sp>
      <p:sp>
        <p:nvSpPr>
          <p:cNvPr id="12" name="Text 8"/>
          <p:cNvSpPr/>
          <p:nvPr/>
        </p:nvSpPr>
        <p:spPr>
          <a:xfrm>
            <a:off x="4389120"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2022</a:t>
            </a:r>
            <a:endParaRPr lang="en-US" sz="850" dirty="0"/>
          </a:p>
        </p:txBody>
      </p:sp>
      <p:sp>
        <p:nvSpPr>
          <p:cNvPr id="13" name="Text 9"/>
          <p:cNvSpPr/>
          <p:nvPr/>
        </p:nvSpPr>
        <p:spPr>
          <a:xfrm>
            <a:off x="5803331"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2023</a:t>
            </a:r>
            <a:endParaRPr lang="en-US" sz="850" dirty="0"/>
          </a:p>
        </p:txBody>
      </p:sp>
      <p:sp>
        <p:nvSpPr>
          <p:cNvPr id="14" name="Text 10"/>
          <p:cNvSpPr/>
          <p:nvPr/>
        </p:nvSpPr>
        <p:spPr>
          <a:xfrm>
            <a:off x="7217542"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2024</a:t>
            </a:r>
            <a:endParaRPr lang="en-US" sz="850" dirty="0"/>
          </a:p>
        </p:txBody>
      </p:sp>
      <p:sp>
        <p:nvSpPr>
          <p:cNvPr id="15" name="Text 11"/>
          <p:cNvSpPr/>
          <p:nvPr/>
        </p:nvSpPr>
        <p:spPr>
          <a:xfrm>
            <a:off x="8631753"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2025</a:t>
            </a:r>
            <a:endParaRPr lang="en-US" sz="850" dirty="0"/>
          </a:p>
        </p:txBody>
      </p:sp>
      <p:sp>
        <p:nvSpPr>
          <p:cNvPr id="16" name="Text 12"/>
          <p:cNvSpPr/>
          <p:nvPr/>
        </p:nvSpPr>
        <p:spPr>
          <a:xfrm>
            <a:off x="10045964"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2026E</a:t>
            </a:r>
            <a:endParaRPr lang="en-US" sz="850" dirty="0"/>
          </a:p>
        </p:txBody>
      </p:sp>
      <p:sp>
        <p:nvSpPr>
          <p:cNvPr id="17" name="Text 13"/>
          <p:cNvSpPr/>
          <p:nvPr/>
        </p:nvSpPr>
        <p:spPr>
          <a:xfrm>
            <a:off x="914400" y="216712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Receita bruta</a:t>
            </a:r>
            <a:endParaRPr lang="en-US" sz="800" dirty="0"/>
          </a:p>
        </p:txBody>
      </p:sp>
      <p:sp>
        <p:nvSpPr>
          <p:cNvPr id="18" name="Text 14"/>
          <p:cNvSpPr/>
          <p:nvPr/>
        </p:nvSpPr>
        <p:spPr>
          <a:xfrm>
            <a:off x="4389120"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9" name="Text 15"/>
          <p:cNvSpPr/>
          <p:nvPr/>
        </p:nvSpPr>
        <p:spPr>
          <a:xfrm>
            <a:off x="5803331"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0" name="Text 16"/>
          <p:cNvSpPr/>
          <p:nvPr/>
        </p:nvSpPr>
        <p:spPr>
          <a:xfrm>
            <a:off x="7217542"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1" name="Text 17"/>
          <p:cNvSpPr/>
          <p:nvPr/>
        </p:nvSpPr>
        <p:spPr>
          <a:xfrm>
            <a:off x="8631753"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2" name="Text 18"/>
          <p:cNvSpPr/>
          <p:nvPr/>
        </p:nvSpPr>
        <p:spPr>
          <a:xfrm>
            <a:off x="10045964"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3" name="Shape 19"/>
          <p:cNvSpPr/>
          <p:nvPr/>
        </p:nvSpPr>
        <p:spPr>
          <a:xfrm>
            <a:off x="731520" y="2423160"/>
            <a:ext cx="10728655" cy="256032"/>
          </a:xfrm>
          <a:prstGeom prst="rect">
            <a:avLst/>
          </a:prstGeom>
          <a:solidFill>
            <a:srgbClr val="F4F6F8"/>
          </a:solidFill>
          <a:ln/>
        </p:spPr>
      </p:sp>
      <p:sp>
        <p:nvSpPr>
          <p:cNvPr id="24" name="Text 20"/>
          <p:cNvSpPr/>
          <p:nvPr/>
        </p:nvSpPr>
        <p:spPr>
          <a:xfrm>
            <a:off x="914400" y="2423160"/>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Impostos</a:t>
            </a:r>
            <a:endParaRPr lang="en-US" sz="800" dirty="0"/>
          </a:p>
        </p:txBody>
      </p:sp>
      <p:sp>
        <p:nvSpPr>
          <p:cNvPr id="25" name="Text 21"/>
          <p:cNvSpPr/>
          <p:nvPr/>
        </p:nvSpPr>
        <p:spPr>
          <a:xfrm>
            <a:off x="4389120"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6" name="Text 22"/>
          <p:cNvSpPr/>
          <p:nvPr/>
        </p:nvSpPr>
        <p:spPr>
          <a:xfrm>
            <a:off x="5803331"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7" name="Text 23"/>
          <p:cNvSpPr/>
          <p:nvPr/>
        </p:nvSpPr>
        <p:spPr>
          <a:xfrm>
            <a:off x="7217542"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8" name="Text 24"/>
          <p:cNvSpPr/>
          <p:nvPr/>
        </p:nvSpPr>
        <p:spPr>
          <a:xfrm>
            <a:off x="8631753"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9" name="Text 25"/>
          <p:cNvSpPr/>
          <p:nvPr/>
        </p:nvSpPr>
        <p:spPr>
          <a:xfrm>
            <a:off x="10045964"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30" name="Shape 26"/>
          <p:cNvSpPr/>
          <p:nvPr/>
        </p:nvSpPr>
        <p:spPr>
          <a:xfrm>
            <a:off x="731520" y="2679192"/>
            <a:ext cx="10728655" cy="256032"/>
          </a:xfrm>
          <a:prstGeom prst="rect">
            <a:avLst/>
          </a:prstGeom>
          <a:solidFill>
            <a:srgbClr val="FFF0D6"/>
          </a:solidFill>
          <a:ln/>
        </p:spPr>
      </p:sp>
      <p:sp>
        <p:nvSpPr>
          <p:cNvPr id="31" name="Text 27"/>
          <p:cNvSpPr/>
          <p:nvPr/>
        </p:nvSpPr>
        <p:spPr>
          <a:xfrm>
            <a:off x="914400" y="2679192"/>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Receita líquida</a:t>
            </a:r>
            <a:endParaRPr lang="en-US" sz="800" dirty="0"/>
          </a:p>
        </p:txBody>
      </p:sp>
      <p:sp>
        <p:nvSpPr>
          <p:cNvPr id="32" name="Text 28"/>
          <p:cNvSpPr/>
          <p:nvPr/>
        </p:nvSpPr>
        <p:spPr>
          <a:xfrm>
            <a:off x="4389120"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3" name="Text 29"/>
          <p:cNvSpPr/>
          <p:nvPr/>
        </p:nvSpPr>
        <p:spPr>
          <a:xfrm>
            <a:off x="5803331"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4" name="Text 30"/>
          <p:cNvSpPr/>
          <p:nvPr/>
        </p:nvSpPr>
        <p:spPr>
          <a:xfrm>
            <a:off x="7217542"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5" name="Text 31"/>
          <p:cNvSpPr/>
          <p:nvPr/>
        </p:nvSpPr>
        <p:spPr>
          <a:xfrm>
            <a:off x="8631753"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6" name="Text 32"/>
          <p:cNvSpPr/>
          <p:nvPr/>
        </p:nvSpPr>
        <p:spPr>
          <a:xfrm>
            <a:off x="10045964"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7" name="Shape 33"/>
          <p:cNvSpPr/>
          <p:nvPr/>
        </p:nvSpPr>
        <p:spPr>
          <a:xfrm>
            <a:off x="731520" y="2935224"/>
            <a:ext cx="10728655" cy="256032"/>
          </a:xfrm>
          <a:prstGeom prst="rect">
            <a:avLst/>
          </a:prstGeom>
          <a:solidFill>
            <a:srgbClr val="F4F6F8"/>
          </a:solidFill>
          <a:ln/>
        </p:spPr>
      </p:sp>
      <p:sp>
        <p:nvSpPr>
          <p:cNvPr id="38" name="Text 34"/>
          <p:cNvSpPr/>
          <p:nvPr/>
        </p:nvSpPr>
        <p:spPr>
          <a:xfrm>
            <a:off x="914400" y="2935224"/>
            <a:ext cx="3474720" cy="256032"/>
          </a:xfrm>
          <a:prstGeom prst="rect">
            <a:avLst/>
          </a:prstGeom>
          <a:noFill/>
          <a:ln/>
        </p:spPr>
        <p:txBody>
          <a:bodyPr wrap="square" lIns="0" tIns="0" rIns="0" bIns="0" rtlCol="0" anchor="ctr"/>
          <a:lstStyle/>
          <a:p>
            <a:pPr indent="0" marL="0">
              <a:buNone/>
            </a:pPr>
            <a:r>
              <a:rPr lang="en-US" sz="800" i="1" dirty="0">
                <a:solidFill>
                  <a:srgbClr val="6C7683"/>
                </a:solidFill>
                <a:latin typeface="Poppins" pitchFamily="34" charset="0"/>
                <a:ea typeface="Poppins" pitchFamily="34" charset="-122"/>
                <a:cs typeface="Poppins" pitchFamily="34" charset="-120"/>
              </a:rPr>
              <a:t>crescimento %</a:t>
            </a:r>
            <a:endParaRPr lang="en-US" sz="800" dirty="0"/>
          </a:p>
        </p:txBody>
      </p:sp>
      <p:sp>
        <p:nvSpPr>
          <p:cNvPr id="39" name="Text 35"/>
          <p:cNvSpPr/>
          <p:nvPr/>
        </p:nvSpPr>
        <p:spPr>
          <a:xfrm>
            <a:off x="4389120"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0" name="Text 36"/>
          <p:cNvSpPr/>
          <p:nvPr/>
        </p:nvSpPr>
        <p:spPr>
          <a:xfrm>
            <a:off x="5803331"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1" name="Text 37"/>
          <p:cNvSpPr/>
          <p:nvPr/>
        </p:nvSpPr>
        <p:spPr>
          <a:xfrm>
            <a:off x="7217542"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2" name="Text 38"/>
          <p:cNvSpPr/>
          <p:nvPr/>
        </p:nvSpPr>
        <p:spPr>
          <a:xfrm>
            <a:off x="8631753"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3" name="Text 39"/>
          <p:cNvSpPr/>
          <p:nvPr/>
        </p:nvSpPr>
        <p:spPr>
          <a:xfrm>
            <a:off x="10045964"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4" name="Text 40"/>
          <p:cNvSpPr/>
          <p:nvPr/>
        </p:nvSpPr>
        <p:spPr>
          <a:xfrm>
            <a:off x="914400" y="3191256"/>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CPV / custo de serviços</a:t>
            </a:r>
            <a:endParaRPr lang="en-US" sz="800" dirty="0"/>
          </a:p>
        </p:txBody>
      </p:sp>
      <p:sp>
        <p:nvSpPr>
          <p:cNvPr id="45" name="Text 41"/>
          <p:cNvSpPr/>
          <p:nvPr/>
        </p:nvSpPr>
        <p:spPr>
          <a:xfrm>
            <a:off x="4389120"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6" name="Text 42"/>
          <p:cNvSpPr/>
          <p:nvPr/>
        </p:nvSpPr>
        <p:spPr>
          <a:xfrm>
            <a:off x="5803331"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7" name="Text 43"/>
          <p:cNvSpPr/>
          <p:nvPr/>
        </p:nvSpPr>
        <p:spPr>
          <a:xfrm>
            <a:off x="7217542"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8" name="Text 44"/>
          <p:cNvSpPr/>
          <p:nvPr/>
        </p:nvSpPr>
        <p:spPr>
          <a:xfrm>
            <a:off x="8631753"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9" name="Text 45"/>
          <p:cNvSpPr/>
          <p:nvPr/>
        </p:nvSpPr>
        <p:spPr>
          <a:xfrm>
            <a:off x="10045964"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50" name="Shape 46"/>
          <p:cNvSpPr/>
          <p:nvPr/>
        </p:nvSpPr>
        <p:spPr>
          <a:xfrm>
            <a:off x="731520" y="3447288"/>
            <a:ext cx="10728655" cy="256032"/>
          </a:xfrm>
          <a:prstGeom prst="rect">
            <a:avLst/>
          </a:prstGeom>
          <a:solidFill>
            <a:srgbClr val="FFF0D6"/>
          </a:solidFill>
          <a:ln/>
        </p:spPr>
      </p:sp>
      <p:sp>
        <p:nvSpPr>
          <p:cNvPr id="51" name="Text 47"/>
          <p:cNvSpPr/>
          <p:nvPr/>
        </p:nvSpPr>
        <p:spPr>
          <a:xfrm>
            <a:off x="914400" y="344728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Lucro bruto</a:t>
            </a:r>
            <a:endParaRPr lang="en-US" sz="800" dirty="0"/>
          </a:p>
        </p:txBody>
      </p:sp>
      <p:sp>
        <p:nvSpPr>
          <p:cNvPr id="52" name="Text 48"/>
          <p:cNvSpPr/>
          <p:nvPr/>
        </p:nvSpPr>
        <p:spPr>
          <a:xfrm>
            <a:off x="4389120"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3" name="Text 49"/>
          <p:cNvSpPr/>
          <p:nvPr/>
        </p:nvSpPr>
        <p:spPr>
          <a:xfrm>
            <a:off x="5803331"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4" name="Text 50"/>
          <p:cNvSpPr/>
          <p:nvPr/>
        </p:nvSpPr>
        <p:spPr>
          <a:xfrm>
            <a:off x="7217542"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5" name="Text 51"/>
          <p:cNvSpPr/>
          <p:nvPr/>
        </p:nvSpPr>
        <p:spPr>
          <a:xfrm>
            <a:off x="8631753"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6" name="Text 52"/>
          <p:cNvSpPr/>
          <p:nvPr/>
        </p:nvSpPr>
        <p:spPr>
          <a:xfrm>
            <a:off x="10045964"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7" name="Text 53"/>
          <p:cNvSpPr/>
          <p:nvPr/>
        </p:nvSpPr>
        <p:spPr>
          <a:xfrm>
            <a:off x="914400" y="3703320"/>
            <a:ext cx="3474720" cy="256032"/>
          </a:xfrm>
          <a:prstGeom prst="rect">
            <a:avLst/>
          </a:prstGeom>
          <a:noFill/>
          <a:ln/>
        </p:spPr>
        <p:txBody>
          <a:bodyPr wrap="square" lIns="0" tIns="0" rIns="0" bIns="0" rtlCol="0" anchor="ctr"/>
          <a:lstStyle/>
          <a:p>
            <a:pPr indent="0" marL="0">
              <a:buNone/>
            </a:pPr>
            <a:r>
              <a:rPr lang="en-US" sz="800" i="1" dirty="0">
                <a:solidFill>
                  <a:srgbClr val="6C7683"/>
                </a:solidFill>
                <a:latin typeface="Poppins" pitchFamily="34" charset="0"/>
                <a:ea typeface="Poppins" pitchFamily="34" charset="-122"/>
                <a:cs typeface="Poppins" pitchFamily="34" charset="-120"/>
              </a:rPr>
              <a:t>margem bruta %</a:t>
            </a:r>
            <a:endParaRPr lang="en-US" sz="800" dirty="0"/>
          </a:p>
        </p:txBody>
      </p:sp>
      <p:sp>
        <p:nvSpPr>
          <p:cNvPr id="58" name="Text 54"/>
          <p:cNvSpPr/>
          <p:nvPr/>
        </p:nvSpPr>
        <p:spPr>
          <a:xfrm>
            <a:off x="4389120"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59" name="Text 55"/>
          <p:cNvSpPr/>
          <p:nvPr/>
        </p:nvSpPr>
        <p:spPr>
          <a:xfrm>
            <a:off x="5803331"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0" name="Text 56"/>
          <p:cNvSpPr/>
          <p:nvPr/>
        </p:nvSpPr>
        <p:spPr>
          <a:xfrm>
            <a:off x="7217542"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1" name="Text 57"/>
          <p:cNvSpPr/>
          <p:nvPr/>
        </p:nvSpPr>
        <p:spPr>
          <a:xfrm>
            <a:off x="8631753"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2" name="Text 58"/>
          <p:cNvSpPr/>
          <p:nvPr/>
        </p:nvSpPr>
        <p:spPr>
          <a:xfrm>
            <a:off x="10045964"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3" name="Shape 59"/>
          <p:cNvSpPr/>
          <p:nvPr/>
        </p:nvSpPr>
        <p:spPr>
          <a:xfrm>
            <a:off x="731520" y="3959352"/>
            <a:ext cx="10728655" cy="256032"/>
          </a:xfrm>
          <a:prstGeom prst="rect">
            <a:avLst/>
          </a:prstGeom>
          <a:solidFill>
            <a:srgbClr val="F4F6F8"/>
          </a:solidFill>
          <a:ln/>
        </p:spPr>
      </p:sp>
      <p:sp>
        <p:nvSpPr>
          <p:cNvPr id="64" name="Text 60"/>
          <p:cNvSpPr/>
          <p:nvPr/>
        </p:nvSpPr>
        <p:spPr>
          <a:xfrm>
            <a:off x="914400" y="3959352"/>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Despesas com pessoal</a:t>
            </a:r>
            <a:endParaRPr lang="en-US" sz="800" dirty="0"/>
          </a:p>
        </p:txBody>
      </p:sp>
      <p:sp>
        <p:nvSpPr>
          <p:cNvPr id="65" name="Text 61"/>
          <p:cNvSpPr/>
          <p:nvPr/>
        </p:nvSpPr>
        <p:spPr>
          <a:xfrm>
            <a:off x="4389120"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6" name="Text 62"/>
          <p:cNvSpPr/>
          <p:nvPr/>
        </p:nvSpPr>
        <p:spPr>
          <a:xfrm>
            <a:off x="5803331"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7" name="Text 63"/>
          <p:cNvSpPr/>
          <p:nvPr/>
        </p:nvSpPr>
        <p:spPr>
          <a:xfrm>
            <a:off x="7217542"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8" name="Text 64"/>
          <p:cNvSpPr/>
          <p:nvPr/>
        </p:nvSpPr>
        <p:spPr>
          <a:xfrm>
            <a:off x="8631753"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9" name="Text 65"/>
          <p:cNvSpPr/>
          <p:nvPr/>
        </p:nvSpPr>
        <p:spPr>
          <a:xfrm>
            <a:off x="10045964"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0" name="Text 66"/>
          <p:cNvSpPr/>
          <p:nvPr/>
        </p:nvSpPr>
        <p:spPr>
          <a:xfrm>
            <a:off x="914400" y="4215384"/>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Logística e fulfillment</a:t>
            </a:r>
            <a:endParaRPr lang="en-US" sz="800" dirty="0"/>
          </a:p>
        </p:txBody>
      </p:sp>
      <p:sp>
        <p:nvSpPr>
          <p:cNvPr id="71" name="Text 67"/>
          <p:cNvSpPr/>
          <p:nvPr/>
        </p:nvSpPr>
        <p:spPr>
          <a:xfrm>
            <a:off x="4389120"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2" name="Text 68"/>
          <p:cNvSpPr/>
          <p:nvPr/>
        </p:nvSpPr>
        <p:spPr>
          <a:xfrm>
            <a:off x="5803331"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3" name="Text 69"/>
          <p:cNvSpPr/>
          <p:nvPr/>
        </p:nvSpPr>
        <p:spPr>
          <a:xfrm>
            <a:off x="7217542"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4" name="Text 70"/>
          <p:cNvSpPr/>
          <p:nvPr/>
        </p:nvSpPr>
        <p:spPr>
          <a:xfrm>
            <a:off x="8631753"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5" name="Text 71"/>
          <p:cNvSpPr/>
          <p:nvPr/>
        </p:nvSpPr>
        <p:spPr>
          <a:xfrm>
            <a:off x="10045964"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6" name="Shape 72"/>
          <p:cNvSpPr/>
          <p:nvPr/>
        </p:nvSpPr>
        <p:spPr>
          <a:xfrm>
            <a:off x="731520" y="4471416"/>
            <a:ext cx="10728655" cy="256032"/>
          </a:xfrm>
          <a:prstGeom prst="rect">
            <a:avLst/>
          </a:prstGeom>
          <a:solidFill>
            <a:srgbClr val="F4F6F8"/>
          </a:solidFill>
          <a:ln/>
        </p:spPr>
      </p:sp>
      <p:sp>
        <p:nvSpPr>
          <p:cNvPr id="77" name="Text 73"/>
          <p:cNvSpPr/>
          <p:nvPr/>
        </p:nvSpPr>
        <p:spPr>
          <a:xfrm>
            <a:off x="914400" y="4471416"/>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Marketing e vendas</a:t>
            </a:r>
            <a:endParaRPr lang="en-US" sz="800" dirty="0"/>
          </a:p>
        </p:txBody>
      </p:sp>
      <p:sp>
        <p:nvSpPr>
          <p:cNvPr id="78" name="Text 74"/>
          <p:cNvSpPr/>
          <p:nvPr/>
        </p:nvSpPr>
        <p:spPr>
          <a:xfrm>
            <a:off x="4389120"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9" name="Text 75"/>
          <p:cNvSpPr/>
          <p:nvPr/>
        </p:nvSpPr>
        <p:spPr>
          <a:xfrm>
            <a:off x="5803331"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0" name="Text 76"/>
          <p:cNvSpPr/>
          <p:nvPr/>
        </p:nvSpPr>
        <p:spPr>
          <a:xfrm>
            <a:off x="7217542"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1" name="Text 77"/>
          <p:cNvSpPr/>
          <p:nvPr/>
        </p:nvSpPr>
        <p:spPr>
          <a:xfrm>
            <a:off x="8631753"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2" name="Text 78"/>
          <p:cNvSpPr/>
          <p:nvPr/>
        </p:nvSpPr>
        <p:spPr>
          <a:xfrm>
            <a:off x="10045964"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3" name="Shape 79"/>
          <p:cNvSpPr/>
          <p:nvPr/>
        </p:nvSpPr>
        <p:spPr>
          <a:xfrm>
            <a:off x="731520" y="4727448"/>
            <a:ext cx="10728655" cy="256032"/>
          </a:xfrm>
          <a:prstGeom prst="rect">
            <a:avLst/>
          </a:prstGeom>
          <a:solidFill>
            <a:srgbClr val="FFF0D6"/>
          </a:solidFill>
          <a:ln/>
        </p:spPr>
      </p:sp>
      <p:sp>
        <p:nvSpPr>
          <p:cNvPr id="84" name="Text 80"/>
          <p:cNvSpPr/>
          <p:nvPr/>
        </p:nvSpPr>
        <p:spPr>
          <a:xfrm>
            <a:off x="914400" y="472744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EBITDA</a:t>
            </a:r>
            <a:endParaRPr lang="en-US" sz="800" dirty="0"/>
          </a:p>
        </p:txBody>
      </p:sp>
      <p:sp>
        <p:nvSpPr>
          <p:cNvPr id="85" name="Text 81"/>
          <p:cNvSpPr/>
          <p:nvPr/>
        </p:nvSpPr>
        <p:spPr>
          <a:xfrm>
            <a:off x="4389120"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86" name="Text 82"/>
          <p:cNvSpPr/>
          <p:nvPr/>
        </p:nvSpPr>
        <p:spPr>
          <a:xfrm>
            <a:off x="5803331"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87" name="Text 83"/>
          <p:cNvSpPr/>
          <p:nvPr/>
        </p:nvSpPr>
        <p:spPr>
          <a:xfrm>
            <a:off x="7217542"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88" name="Text 84"/>
          <p:cNvSpPr/>
          <p:nvPr/>
        </p:nvSpPr>
        <p:spPr>
          <a:xfrm>
            <a:off x="8631753"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89" name="Text 85"/>
          <p:cNvSpPr/>
          <p:nvPr/>
        </p:nvSpPr>
        <p:spPr>
          <a:xfrm>
            <a:off x="10045964"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90" name="Shape 86"/>
          <p:cNvSpPr/>
          <p:nvPr/>
        </p:nvSpPr>
        <p:spPr>
          <a:xfrm>
            <a:off x="731520" y="4983480"/>
            <a:ext cx="10728655" cy="256032"/>
          </a:xfrm>
          <a:prstGeom prst="rect">
            <a:avLst/>
          </a:prstGeom>
          <a:solidFill>
            <a:srgbClr val="F4F6F8"/>
          </a:solidFill>
          <a:ln/>
        </p:spPr>
      </p:sp>
      <p:sp>
        <p:nvSpPr>
          <p:cNvPr id="91" name="Text 87"/>
          <p:cNvSpPr/>
          <p:nvPr/>
        </p:nvSpPr>
        <p:spPr>
          <a:xfrm>
            <a:off x="914400" y="4983480"/>
            <a:ext cx="3474720" cy="256032"/>
          </a:xfrm>
          <a:prstGeom prst="rect">
            <a:avLst/>
          </a:prstGeom>
          <a:noFill/>
          <a:ln/>
        </p:spPr>
        <p:txBody>
          <a:bodyPr wrap="square" lIns="0" tIns="0" rIns="0" bIns="0" rtlCol="0" anchor="ctr"/>
          <a:lstStyle/>
          <a:p>
            <a:pPr indent="0" marL="0">
              <a:buNone/>
            </a:pPr>
            <a:r>
              <a:rPr lang="en-US" sz="800" i="1" dirty="0">
                <a:solidFill>
                  <a:srgbClr val="6C7683"/>
                </a:solidFill>
                <a:latin typeface="Poppins" pitchFamily="34" charset="0"/>
                <a:ea typeface="Poppins" pitchFamily="34" charset="-122"/>
                <a:cs typeface="Poppins" pitchFamily="34" charset="-120"/>
              </a:rPr>
              <a:t>margem EBITDA %</a:t>
            </a:r>
            <a:endParaRPr lang="en-US" sz="800" dirty="0"/>
          </a:p>
        </p:txBody>
      </p:sp>
      <p:sp>
        <p:nvSpPr>
          <p:cNvPr id="92" name="Text 88"/>
          <p:cNvSpPr/>
          <p:nvPr/>
        </p:nvSpPr>
        <p:spPr>
          <a:xfrm>
            <a:off x="4389120"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3" name="Text 89"/>
          <p:cNvSpPr/>
          <p:nvPr/>
        </p:nvSpPr>
        <p:spPr>
          <a:xfrm>
            <a:off x="5803331"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4" name="Text 90"/>
          <p:cNvSpPr/>
          <p:nvPr/>
        </p:nvSpPr>
        <p:spPr>
          <a:xfrm>
            <a:off x="7217542"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5" name="Text 91"/>
          <p:cNvSpPr/>
          <p:nvPr/>
        </p:nvSpPr>
        <p:spPr>
          <a:xfrm>
            <a:off x="8631753"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6" name="Text 92"/>
          <p:cNvSpPr/>
          <p:nvPr/>
        </p:nvSpPr>
        <p:spPr>
          <a:xfrm>
            <a:off x="10045964"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7" name="Text 93"/>
          <p:cNvSpPr/>
          <p:nvPr/>
        </p:nvSpPr>
        <p:spPr>
          <a:xfrm>
            <a:off x="914400" y="5239512"/>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D&amp;A</a:t>
            </a:r>
            <a:endParaRPr lang="en-US" sz="800" dirty="0"/>
          </a:p>
        </p:txBody>
      </p:sp>
      <p:sp>
        <p:nvSpPr>
          <p:cNvPr id="98" name="Text 94"/>
          <p:cNvSpPr/>
          <p:nvPr/>
        </p:nvSpPr>
        <p:spPr>
          <a:xfrm>
            <a:off x="4389120"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99" name="Text 95"/>
          <p:cNvSpPr/>
          <p:nvPr/>
        </p:nvSpPr>
        <p:spPr>
          <a:xfrm>
            <a:off x="5803331"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0" name="Text 96"/>
          <p:cNvSpPr/>
          <p:nvPr/>
        </p:nvSpPr>
        <p:spPr>
          <a:xfrm>
            <a:off x="7217542"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1" name="Text 97"/>
          <p:cNvSpPr/>
          <p:nvPr/>
        </p:nvSpPr>
        <p:spPr>
          <a:xfrm>
            <a:off x="8631753"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2" name="Text 98"/>
          <p:cNvSpPr/>
          <p:nvPr/>
        </p:nvSpPr>
        <p:spPr>
          <a:xfrm>
            <a:off x="10045964"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3" name="Shape 99"/>
          <p:cNvSpPr/>
          <p:nvPr/>
        </p:nvSpPr>
        <p:spPr>
          <a:xfrm>
            <a:off x="731520" y="5495544"/>
            <a:ext cx="10728655" cy="256032"/>
          </a:xfrm>
          <a:prstGeom prst="rect">
            <a:avLst/>
          </a:prstGeom>
          <a:solidFill>
            <a:srgbClr val="F4F6F8"/>
          </a:solidFill>
          <a:ln/>
        </p:spPr>
      </p:sp>
      <p:sp>
        <p:nvSpPr>
          <p:cNvPr id="104" name="Text 100"/>
          <p:cNvSpPr/>
          <p:nvPr/>
        </p:nvSpPr>
        <p:spPr>
          <a:xfrm>
            <a:off x="914400" y="5495544"/>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Resultado financeiro</a:t>
            </a:r>
            <a:endParaRPr lang="en-US" sz="800" dirty="0"/>
          </a:p>
        </p:txBody>
      </p:sp>
      <p:sp>
        <p:nvSpPr>
          <p:cNvPr id="105" name="Text 101"/>
          <p:cNvSpPr/>
          <p:nvPr/>
        </p:nvSpPr>
        <p:spPr>
          <a:xfrm>
            <a:off x="4389120"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6" name="Text 102"/>
          <p:cNvSpPr/>
          <p:nvPr/>
        </p:nvSpPr>
        <p:spPr>
          <a:xfrm>
            <a:off x="5803331"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7" name="Text 103"/>
          <p:cNvSpPr/>
          <p:nvPr/>
        </p:nvSpPr>
        <p:spPr>
          <a:xfrm>
            <a:off x="7217542"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8" name="Text 104"/>
          <p:cNvSpPr/>
          <p:nvPr/>
        </p:nvSpPr>
        <p:spPr>
          <a:xfrm>
            <a:off x="8631753"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9" name="Text 105"/>
          <p:cNvSpPr/>
          <p:nvPr/>
        </p:nvSpPr>
        <p:spPr>
          <a:xfrm>
            <a:off x="10045964"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10" name="Shape 106"/>
          <p:cNvSpPr/>
          <p:nvPr/>
        </p:nvSpPr>
        <p:spPr>
          <a:xfrm>
            <a:off x="731520" y="5751576"/>
            <a:ext cx="10728655" cy="256032"/>
          </a:xfrm>
          <a:prstGeom prst="rect">
            <a:avLst/>
          </a:prstGeom>
          <a:solidFill>
            <a:srgbClr val="FFF0D6"/>
          </a:solidFill>
          <a:ln/>
        </p:spPr>
      </p:sp>
      <p:sp>
        <p:nvSpPr>
          <p:cNvPr id="111" name="Text 107"/>
          <p:cNvSpPr/>
          <p:nvPr/>
        </p:nvSpPr>
        <p:spPr>
          <a:xfrm>
            <a:off x="914400" y="5751576"/>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EBT</a:t>
            </a:r>
            <a:endParaRPr lang="en-US" sz="800" dirty="0"/>
          </a:p>
        </p:txBody>
      </p:sp>
      <p:sp>
        <p:nvSpPr>
          <p:cNvPr id="112" name="Text 108"/>
          <p:cNvSpPr/>
          <p:nvPr/>
        </p:nvSpPr>
        <p:spPr>
          <a:xfrm>
            <a:off x="4389120"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3" name="Text 109"/>
          <p:cNvSpPr/>
          <p:nvPr/>
        </p:nvSpPr>
        <p:spPr>
          <a:xfrm>
            <a:off x="5803331"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4" name="Text 110"/>
          <p:cNvSpPr/>
          <p:nvPr/>
        </p:nvSpPr>
        <p:spPr>
          <a:xfrm>
            <a:off x="7217542"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5" name="Text 111"/>
          <p:cNvSpPr/>
          <p:nvPr/>
        </p:nvSpPr>
        <p:spPr>
          <a:xfrm>
            <a:off x="8631753"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6" name="Text 112"/>
          <p:cNvSpPr/>
          <p:nvPr/>
        </p:nvSpPr>
        <p:spPr>
          <a:xfrm>
            <a:off x="10045964"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7" name="Shape 113"/>
          <p:cNvSpPr/>
          <p:nvPr/>
        </p:nvSpPr>
        <p:spPr>
          <a:xfrm>
            <a:off x="731520" y="6007608"/>
            <a:ext cx="10728655" cy="256032"/>
          </a:xfrm>
          <a:prstGeom prst="rect">
            <a:avLst/>
          </a:prstGeom>
          <a:solidFill>
            <a:srgbClr val="FFF0D6"/>
          </a:solidFill>
          <a:ln/>
        </p:spPr>
      </p:sp>
      <p:sp>
        <p:nvSpPr>
          <p:cNvPr id="118" name="Text 114"/>
          <p:cNvSpPr/>
          <p:nvPr/>
        </p:nvSpPr>
        <p:spPr>
          <a:xfrm>
            <a:off x="914400" y="600760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Lucro líquido</a:t>
            </a:r>
            <a:endParaRPr lang="en-US" sz="800" dirty="0"/>
          </a:p>
        </p:txBody>
      </p:sp>
      <p:sp>
        <p:nvSpPr>
          <p:cNvPr id="119" name="Text 115"/>
          <p:cNvSpPr/>
          <p:nvPr/>
        </p:nvSpPr>
        <p:spPr>
          <a:xfrm>
            <a:off x="4389120"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0" name="Text 116"/>
          <p:cNvSpPr/>
          <p:nvPr/>
        </p:nvSpPr>
        <p:spPr>
          <a:xfrm>
            <a:off x="5803331"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1" name="Text 117"/>
          <p:cNvSpPr/>
          <p:nvPr/>
        </p:nvSpPr>
        <p:spPr>
          <a:xfrm>
            <a:off x="7217542"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2" name="Text 118"/>
          <p:cNvSpPr/>
          <p:nvPr/>
        </p:nvSpPr>
        <p:spPr>
          <a:xfrm>
            <a:off x="8631753"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3" name="Text 119"/>
          <p:cNvSpPr/>
          <p:nvPr/>
        </p:nvSpPr>
        <p:spPr>
          <a:xfrm>
            <a:off x="10045964"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1A22"/>
        </a:solidFill>
      </p:bgPr>
    </p:bg>
    <p:spTree>
      <p:nvGrpSpPr>
        <p:cNvPr id="1" name=""/>
        <p:cNvGrpSpPr/>
        <p:nvPr/>
      </p:nvGrpSpPr>
      <p:grpSpPr>
        <a:xfrm>
          <a:off x="0" y="0"/>
          <a:ext cx="0" cy="0"/>
          <a:chOff x="0" y="0"/>
          <a:chExt cx="0" cy="0"/>
        </a:xfrm>
      </p:grpSpPr>
      <p:pic>
        <p:nvPicPr>
          <p:cNvPr id="2" name="Image 0" descr="assets/demo_amz/smile.png">    </p:cNvPr>
          <p:cNvPicPr>
            <a:picLocks noChangeAspect="1"/>
          </p:cNvPicPr>
          <p:nvPr/>
        </p:nvPicPr>
        <p:blipFill>
          <a:blip r:embed="rId1">
            <a:alphaModFix amt="70000"/>
          </a:blip>
          <a:stretch>
            <a:fillRect/>
          </a:stretch>
        </p:blipFill>
        <p:spPr>
          <a:xfrm>
            <a:off x="548640" y="4206240"/>
            <a:ext cx="4937760" cy="2468880"/>
          </a:xfrm>
          <a:prstGeom prst="rect">
            <a:avLst/>
          </a:prstGeom>
        </p:spPr>
      </p:pic>
      <p:sp>
        <p:nvSpPr>
          <p:cNvPr id="3" name="Shape 0"/>
          <p:cNvSpPr/>
          <p:nvPr/>
        </p:nvSpPr>
        <p:spPr>
          <a:xfrm>
            <a:off x="5486400" y="0"/>
            <a:ext cx="45720" cy="6858000"/>
          </a:xfrm>
          <a:prstGeom prst="rect">
            <a:avLst/>
          </a:prstGeom>
          <a:solidFill>
            <a:srgbClr val="FF9900"/>
          </a:solidFill>
          <a:ln/>
        </p:spPr>
      </p:sp>
      <p:pic>
        <p:nvPicPr>
          <p:cNvPr id="4" name="Image 1" descr="assets/demo_amz/amz_white.png">    </p:cNvPr>
          <p:cNvPicPr>
            <a:picLocks noChangeAspect="1"/>
          </p:cNvPicPr>
          <p:nvPr/>
        </p:nvPicPr>
        <p:blipFill>
          <a:blip r:embed="rId2"/>
          <a:stretch>
            <a:fillRect/>
          </a:stretch>
        </p:blipFill>
        <p:spPr>
          <a:xfrm>
            <a:off x="5989320" y="1234440"/>
            <a:ext cx="2834640" cy="803148"/>
          </a:xfrm>
          <a:prstGeom prst="rect">
            <a:avLst/>
          </a:prstGeom>
        </p:spPr>
      </p:pic>
      <p:sp>
        <p:nvSpPr>
          <p:cNvPr id="5" name="Text 1"/>
          <p:cNvSpPr/>
          <p:nvPr/>
        </p:nvSpPr>
        <p:spPr>
          <a:xfrm>
            <a:off x="5989320" y="2377440"/>
            <a:ext cx="4114800" cy="457200"/>
          </a:xfrm>
          <a:prstGeom prst="rect">
            <a:avLst/>
          </a:prstGeom>
          <a:noFill/>
          <a:ln/>
        </p:spPr>
        <p:txBody>
          <a:bodyPr wrap="square" lIns="0" tIns="0" rIns="0" bIns="0" rtlCol="0" anchor="ctr"/>
          <a:lstStyle/>
          <a:p>
            <a:pPr indent="0" marL="0">
              <a:buNone/>
            </a:pPr>
            <a:r>
              <a:rPr lang="en-US" sz="2400" dirty="0">
                <a:solidFill>
                  <a:srgbClr val="FFFFFF"/>
                </a:solidFill>
                <a:latin typeface="Poppins SemiBold" pitchFamily="34" charset="0"/>
                <a:ea typeface="Poppins SemiBold" pitchFamily="34" charset="-122"/>
                <a:cs typeface="Poppins SemiBold" pitchFamily="34" charset="-120"/>
              </a:rPr>
              <a:t>Deal team</a:t>
            </a:r>
            <a:endParaRPr lang="en-US" sz="2400" dirty="0"/>
          </a:p>
        </p:txBody>
      </p:sp>
      <p:sp>
        <p:nvSpPr>
          <p:cNvPr id="6" name="Shape 2"/>
          <p:cNvSpPr/>
          <p:nvPr/>
        </p:nvSpPr>
        <p:spPr>
          <a:xfrm>
            <a:off x="6007608" y="2926080"/>
            <a:ext cx="914400" cy="32004"/>
          </a:xfrm>
          <a:prstGeom prst="rect">
            <a:avLst/>
          </a:prstGeom>
          <a:solidFill>
            <a:srgbClr val="FF9900"/>
          </a:solidFill>
          <a:ln/>
        </p:spPr>
      </p:sp>
      <p:sp>
        <p:nvSpPr>
          <p:cNvPr id="7" name="Shape 3"/>
          <p:cNvSpPr/>
          <p:nvPr/>
        </p:nvSpPr>
        <p:spPr>
          <a:xfrm rot="5400000">
            <a:off x="6007608" y="3346704"/>
            <a:ext cx="137160" cy="137160"/>
          </a:xfrm>
          <a:prstGeom prst="triangle">
            <a:avLst/>
          </a:prstGeom>
          <a:solidFill>
            <a:srgbClr val="FF9900"/>
          </a:solidFill>
          <a:ln/>
        </p:spPr>
      </p:sp>
      <p:sp>
        <p:nvSpPr>
          <p:cNvPr id="8" name="Text 4"/>
          <p:cNvSpPr/>
          <p:nvPr/>
        </p:nvSpPr>
        <p:spPr>
          <a:xfrm>
            <a:off x="6263640" y="3273552"/>
            <a:ext cx="3840480" cy="256032"/>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[Banker — TBC]</a:t>
            </a:r>
            <a:endParaRPr lang="en-US" sz="1100" dirty="0"/>
          </a:p>
        </p:txBody>
      </p:sp>
      <p:sp>
        <p:nvSpPr>
          <p:cNvPr id="9" name="Text 5"/>
          <p:cNvSpPr/>
          <p:nvPr/>
        </p:nvSpPr>
        <p:spPr>
          <a:xfrm>
            <a:off x="6263640" y="3529584"/>
            <a:ext cx="3840480" cy="219456"/>
          </a:xfrm>
          <a:prstGeom prst="rect">
            <a:avLst/>
          </a:prstGeom>
          <a:noFill/>
          <a:ln/>
        </p:spPr>
        <p:txBody>
          <a:bodyPr wrap="square" lIns="0" tIns="0" rIns="0" bIns="0" rtlCol="0" anchor="ctr"/>
          <a:lstStyle/>
          <a:p>
            <a:pPr indent="0" marL="0">
              <a:buNone/>
            </a:pPr>
            <a:r>
              <a:rPr lang="en-US" sz="900" dirty="0">
                <a:solidFill>
                  <a:srgbClr val="FF9900"/>
                </a:solidFill>
                <a:latin typeface="Poppins Medium" pitchFamily="34" charset="0"/>
                <a:ea typeface="Poppins Medium" pitchFamily="34" charset="-122"/>
                <a:cs typeface="Poppins Medium" pitchFamily="34" charset="-120"/>
              </a:rPr>
              <a:t>[email — TBC]</a:t>
            </a:r>
            <a:endParaRPr lang="en-US" sz="900" dirty="0"/>
          </a:p>
        </p:txBody>
      </p:sp>
      <p:sp>
        <p:nvSpPr>
          <p:cNvPr id="10" name="Text 6"/>
          <p:cNvSpPr/>
          <p:nvPr/>
        </p:nvSpPr>
        <p:spPr>
          <a:xfrm>
            <a:off x="6263640" y="3730752"/>
            <a:ext cx="3840480" cy="219456"/>
          </a:xfrm>
          <a:prstGeom prst="rect">
            <a:avLst/>
          </a:prstGeom>
          <a:noFill/>
          <a:ln/>
        </p:spPr>
        <p:txBody>
          <a:bodyPr wrap="square" lIns="0" tIns="0" rIns="0" bIns="0" rtlCol="0" anchor="ctr"/>
          <a:lstStyle/>
          <a:p>
            <a:pPr indent="0" marL="0">
              <a:buNone/>
            </a:pPr>
            <a:r>
              <a:rPr lang="en-US" sz="850" dirty="0">
                <a:solidFill>
                  <a:srgbClr val="8B95A5"/>
                </a:solidFill>
                <a:latin typeface="Poppins" pitchFamily="34" charset="0"/>
                <a:ea typeface="Poppins" pitchFamily="34" charset="-122"/>
                <a:cs typeface="Poppins" pitchFamily="34" charset="-120"/>
              </a:rPr>
              <a:t>+55 11 3815-3533</a:t>
            </a:r>
            <a:endParaRPr lang="en-US" sz="850" dirty="0"/>
          </a:p>
        </p:txBody>
      </p:sp>
      <p:sp>
        <p:nvSpPr>
          <p:cNvPr id="11" name="Shape 7"/>
          <p:cNvSpPr/>
          <p:nvPr/>
        </p:nvSpPr>
        <p:spPr>
          <a:xfrm rot="5400000">
            <a:off x="6007608" y="4133088"/>
            <a:ext cx="137160" cy="137160"/>
          </a:xfrm>
          <a:prstGeom prst="triangle">
            <a:avLst/>
          </a:prstGeom>
          <a:solidFill>
            <a:srgbClr val="FF9900"/>
          </a:solidFill>
          <a:ln/>
        </p:spPr>
      </p:sp>
      <p:sp>
        <p:nvSpPr>
          <p:cNvPr id="12" name="Text 8"/>
          <p:cNvSpPr/>
          <p:nvPr/>
        </p:nvSpPr>
        <p:spPr>
          <a:xfrm>
            <a:off x="6263640" y="4059936"/>
            <a:ext cx="3840480" cy="256032"/>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[Banker — TBC]</a:t>
            </a:r>
            <a:endParaRPr lang="en-US" sz="1100" dirty="0"/>
          </a:p>
        </p:txBody>
      </p:sp>
      <p:sp>
        <p:nvSpPr>
          <p:cNvPr id="13" name="Text 9"/>
          <p:cNvSpPr/>
          <p:nvPr/>
        </p:nvSpPr>
        <p:spPr>
          <a:xfrm>
            <a:off x="6263640" y="4315968"/>
            <a:ext cx="3840480" cy="219456"/>
          </a:xfrm>
          <a:prstGeom prst="rect">
            <a:avLst/>
          </a:prstGeom>
          <a:noFill/>
          <a:ln/>
        </p:spPr>
        <p:txBody>
          <a:bodyPr wrap="square" lIns="0" tIns="0" rIns="0" bIns="0" rtlCol="0" anchor="ctr"/>
          <a:lstStyle/>
          <a:p>
            <a:pPr indent="0" marL="0">
              <a:buNone/>
            </a:pPr>
            <a:r>
              <a:rPr lang="en-US" sz="900" dirty="0">
                <a:solidFill>
                  <a:srgbClr val="FF9900"/>
                </a:solidFill>
                <a:latin typeface="Poppins Medium" pitchFamily="34" charset="0"/>
                <a:ea typeface="Poppins Medium" pitchFamily="34" charset="-122"/>
                <a:cs typeface="Poppins Medium" pitchFamily="34" charset="-120"/>
              </a:rPr>
              <a:t>[email — TBC]</a:t>
            </a:r>
            <a:endParaRPr lang="en-US" sz="900" dirty="0"/>
          </a:p>
        </p:txBody>
      </p:sp>
      <p:sp>
        <p:nvSpPr>
          <p:cNvPr id="14" name="Text 10"/>
          <p:cNvSpPr/>
          <p:nvPr/>
        </p:nvSpPr>
        <p:spPr>
          <a:xfrm>
            <a:off x="6263640" y="4517136"/>
            <a:ext cx="3840480" cy="219456"/>
          </a:xfrm>
          <a:prstGeom prst="rect">
            <a:avLst/>
          </a:prstGeom>
          <a:noFill/>
          <a:ln/>
        </p:spPr>
        <p:txBody>
          <a:bodyPr wrap="square" lIns="0" tIns="0" rIns="0" bIns="0" rtlCol="0" anchor="ctr"/>
          <a:lstStyle/>
          <a:p>
            <a:pPr indent="0" marL="0">
              <a:buNone/>
            </a:pPr>
            <a:r>
              <a:rPr lang="en-US" sz="850" dirty="0">
                <a:solidFill>
                  <a:srgbClr val="8B95A5"/>
                </a:solidFill>
                <a:latin typeface="Poppins" pitchFamily="34" charset="0"/>
                <a:ea typeface="Poppins" pitchFamily="34" charset="-122"/>
                <a:cs typeface="Poppins" pitchFamily="34" charset="-120"/>
              </a:rPr>
              <a:t>+55 11 3815-3533</a:t>
            </a:r>
            <a:endParaRPr lang="en-US" sz="850" dirty="0"/>
          </a:p>
        </p:txBody>
      </p:sp>
      <p:sp>
        <p:nvSpPr>
          <p:cNvPr id="15" name="Shape 11"/>
          <p:cNvSpPr/>
          <p:nvPr/>
        </p:nvSpPr>
        <p:spPr>
          <a:xfrm>
            <a:off x="6007608" y="5029200"/>
            <a:ext cx="3931920" cy="13716"/>
          </a:xfrm>
          <a:prstGeom prst="rect">
            <a:avLst/>
          </a:prstGeom>
          <a:solidFill>
            <a:srgbClr val="3A4A5E"/>
          </a:solidFill>
          <a:ln/>
        </p:spPr>
      </p:sp>
      <p:sp>
        <p:nvSpPr>
          <p:cNvPr id="16" name="Text 12"/>
          <p:cNvSpPr/>
          <p:nvPr/>
        </p:nvSpPr>
        <p:spPr>
          <a:xfrm>
            <a:off x="6007608" y="5193792"/>
            <a:ext cx="4206240" cy="731520"/>
          </a:xfrm>
          <a:prstGeom prst="rect">
            <a:avLst/>
          </a:prstGeom>
          <a:noFill/>
          <a:ln/>
        </p:spPr>
        <p:txBody>
          <a:bodyPr wrap="square" lIns="0" tIns="0" rIns="0" bIns="0" rtlCol="0" anchor="t"/>
          <a:lstStyle/>
          <a:p>
            <a:pPr indent="0" marL="0">
              <a:lnSpc>
                <a:spcPct val="124000"/>
              </a:lnSpc>
              <a:buNone/>
            </a:pPr>
            <a:r>
              <a:rPr lang="en-US" sz="850" dirty="0">
                <a:solidFill>
                  <a:srgbClr val="C7CDD6"/>
                </a:solidFill>
                <a:latin typeface="Poppins" pitchFamily="34" charset="0"/>
                <a:ea typeface="Poppins" pitchFamily="34" charset="-122"/>
                <a:cs typeface="Poppins" pitchFamily="34" charset="-120"/>
              </a:rPr>
              <a:t>Av. Brigadeiro Faria Lima, 2277 — 6th floor</a:t>
            </a:r>
            <a:endParaRPr lang="en-US" sz="850" dirty="0"/>
          </a:p>
          <a:p>
            <a:pPr indent="0" marL="0">
              <a:lnSpc>
                <a:spcPct val="124000"/>
              </a:lnSpc>
              <a:buNone/>
            </a:pPr>
            <a:r>
              <a:rPr lang="en-US" sz="850" dirty="0">
                <a:solidFill>
                  <a:srgbClr val="C7CDD6"/>
                </a:solidFill>
                <a:latin typeface="Poppins" pitchFamily="34" charset="0"/>
                <a:ea typeface="Poppins" pitchFamily="34" charset="-122"/>
                <a:cs typeface="Poppins" pitchFamily="34" charset="-120"/>
              </a:rPr>
              <a:t>01452-000  Jardim Paulistano, São Paulo – SP</a:t>
            </a:r>
            <a:endParaRPr lang="en-US" sz="850" dirty="0"/>
          </a:p>
          <a:p>
            <a:pPr indent="0" marL="0">
              <a:lnSpc>
                <a:spcPct val="124000"/>
              </a:lnSpc>
              <a:buNone/>
            </a:pPr>
            <a:r>
              <a:rPr lang="en-US" sz="850" dirty="0">
                <a:solidFill>
                  <a:srgbClr val="C7CDD6"/>
                </a:solidFill>
                <a:latin typeface="Poppins" pitchFamily="34" charset="0"/>
                <a:ea typeface="Poppins" pitchFamily="34" charset="-122"/>
                <a:cs typeface="Poppins" pitchFamily="34" charset="-120"/>
              </a:rPr>
              <a:t>+55 11 3815-3533</a:t>
            </a:r>
            <a:endParaRPr lang="en-US" sz="850" dirty="0"/>
          </a:p>
        </p:txBody>
      </p:sp>
      <p:pic>
        <p:nvPicPr>
          <p:cNvPr id="17" name="Image 2" descr="assets/igc_white.png">    </p:cNvPr>
          <p:cNvPicPr>
            <a:picLocks noChangeAspect="1"/>
          </p:cNvPicPr>
          <p:nvPr/>
        </p:nvPicPr>
        <p:blipFill>
          <a:blip r:embed="rId3"/>
          <a:stretch>
            <a:fillRect/>
          </a:stretch>
        </p:blipFill>
        <p:spPr>
          <a:xfrm>
            <a:off x="5989320" y="5897880"/>
            <a:ext cx="566928" cy="490078"/>
          </a:xfrm>
          <a:prstGeom prst="rect">
            <a:avLst/>
          </a:prstGeom>
        </p:spPr>
      </p:pic>
      <p:sp>
        <p:nvSpPr>
          <p:cNvPr id="18" name="Text 13"/>
          <p:cNvSpPr/>
          <p:nvPr/>
        </p:nvSpPr>
        <p:spPr>
          <a:xfrm>
            <a:off x="731520" y="6291072"/>
            <a:ext cx="5029200" cy="274320"/>
          </a:xfrm>
          <a:prstGeom prst="rect">
            <a:avLst/>
          </a:prstGeom>
          <a:noFill/>
          <a:ln/>
        </p:spPr>
        <p:txBody>
          <a:bodyPr wrap="square" lIns="0" tIns="0" rIns="0" bIns="0" rtlCol="0" anchor="ctr"/>
          <a:lstStyle/>
          <a:p>
            <a:pPr indent="0" marL="0">
              <a:buNone/>
            </a:pPr>
            <a:r>
              <a:rPr lang="en-US" sz="900" dirty="0">
                <a:solidFill>
                  <a:srgbClr val="E8ECF1"/>
                </a:solidFill>
                <a:latin typeface="Poppins Medium" pitchFamily="34" charset="0"/>
                <a:ea typeface="Poppins Medium" pitchFamily="34" charset="-122"/>
                <a:cs typeface="Poppins Medium" pitchFamily="34" charset="-120"/>
              </a:rPr>
              <a:t>Confidential Information Memorandum — demonstração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IGC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Rainforest — Confidential Information Memorandum (demo)</dc:title>
  <dc:subject>PptxGenJS Presentation</dc:subject>
  <dc:creator>IGC Partners</dc:creator>
  <cp:lastModifiedBy>IGC Partners</cp:lastModifiedBy>
  <cp:revision>1</cp:revision>
  <dcterms:created xsi:type="dcterms:W3CDTF">2026-08-14T00:00:20Z</dcterms:created>
  <dcterms:modified xsi:type="dcterms:W3CDTF">2026-08-14T00:00:20Z</dcterms:modified>
</cp:coreProperties>
</file>
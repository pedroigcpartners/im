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8" r:id="rId4"/>
    <p:sldMasterId id="2147483724" r:id="rId5"/>
    <p:sldMasterId id="2147483771" r:id="rId6"/>
    <p:sldMasterId id="2147483808" r:id="rId7"/>
    <p:sldMasterId id="2147483798" r:id="rId8"/>
    <p:sldMasterId id="2147483832" r:id="rId9"/>
  </p:sldMasterIdLst>
  <p:notesMasterIdLst>
    <p:notesMasterId r:id="rId33"/>
  </p:notesMasterIdLst>
  <p:handoutMasterIdLst>
    <p:handoutMasterId r:id="rId34"/>
  </p:handoutMasterIdLst>
  <p:sldIdLst>
    <p:sldId id="397" r:id="rId10"/>
    <p:sldId id="410" r:id="rId11"/>
    <p:sldId id="398" r:id="rId12"/>
    <p:sldId id="502" r:id="rId13"/>
    <p:sldId id="439" r:id="rId14"/>
    <p:sldId id="454" r:id="rId15"/>
    <p:sldId id="465" r:id="rId16"/>
    <p:sldId id="506" r:id="rId17"/>
    <p:sldId id="469" r:id="rId18"/>
    <p:sldId id="478" r:id="rId19"/>
    <p:sldId id="495" r:id="rId20"/>
    <p:sldId id="509" r:id="rId21"/>
    <p:sldId id="440" r:id="rId22"/>
    <p:sldId id="507" r:id="rId23"/>
    <p:sldId id="481" r:id="rId24"/>
    <p:sldId id="516" r:id="rId25"/>
    <p:sldId id="508" r:id="rId26"/>
    <p:sldId id="510" r:id="rId27"/>
    <p:sldId id="511" r:id="rId28"/>
    <p:sldId id="517" r:id="rId29"/>
    <p:sldId id="518" r:id="rId30"/>
    <p:sldId id="519" r:id="rId31"/>
    <p:sldId id="442" r:id="rId32"/>
  </p:sldIdLst>
  <p:sldSz cx="12192000" cy="6858000"/>
  <p:notesSz cx="6858000" cy="9144000"/>
  <p:custDataLst>
    <p:tags r:id="rId35"/>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61" userDrawn="1">
          <p15:clr>
            <a:srgbClr val="A4A3A4"/>
          </p15:clr>
        </p15:guide>
        <p15:guide id="6" pos="4180" userDrawn="1">
          <p15:clr>
            <a:srgbClr val="A4A3A4"/>
          </p15:clr>
        </p15:guide>
        <p15:guide id="7" pos="5223" userDrawn="1">
          <p15:clr>
            <a:srgbClr val="A4A3A4"/>
          </p15:clr>
        </p15:guide>
        <p15:guide id="8" orient="horz" pos="14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17B60D-6077-ACAD-980D-9A60F9821340}" name="Anne Suyama" initials="AS" userId="S::anne.suyama@igcp.com.br::47f21aa0-0471-42ab-a3d8-ed160750af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FFFFFF"/>
    <a:srgbClr val="F2F2F2"/>
    <a:srgbClr val="000000"/>
    <a:srgbClr val="EBEBEB"/>
    <a:srgbClr val="FFA3A4"/>
    <a:srgbClr val="BF0002"/>
    <a:srgbClr val="B1AEAE"/>
    <a:srgbClr val="B2B2B2"/>
    <a:srgbClr val="FFCC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081" autoAdjust="0"/>
  </p:normalViewPr>
  <p:slideViewPr>
    <p:cSldViewPr snapToGrid="0" showGuides="1">
      <p:cViewPr varScale="1">
        <p:scale>
          <a:sx n="10" d="100"/>
          <a:sy n="10" d="100"/>
        </p:scale>
        <p:origin x="-84" y="12"/>
      </p:cViewPr>
      <p:guideLst>
        <p:guide pos="461"/>
        <p:guide pos="4180"/>
        <p:guide pos="5223"/>
        <p:guide orient="horz" pos="1434"/>
      </p:guideLst>
    </p:cSldViewPr>
  </p:slideViewPr>
  <p:notesTextViewPr>
    <p:cViewPr>
      <p:scale>
        <a:sx n="3" d="2"/>
        <a:sy n="3" d="2"/>
      </p:scale>
      <p:origin x="0" y="0"/>
    </p:cViewPr>
  </p:notesTextViewPr>
  <p:notesViewPr>
    <p:cSldViewPr snapToGrid="0" showGuides="1">
      <p:cViewPr varScale="1">
        <p:scale>
          <a:sx n="80" d="100"/>
          <a:sy n="80" d="100"/>
        </p:scale>
        <p:origin x="4002"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tableStyles" Target="tableStyles.xml"/><Relationship Id="rId21" Type="http://schemas.openxmlformats.org/officeDocument/2006/relationships/slide" Target="slides/slide12.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presProps" Target="pres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tags" Target="tags/tag1.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D:\Box\1-%20M&amp;A\C&#233;lulas%20-%20Projetos%20Ativos\C&#233;lula%20Generalista\Bruno%20Iervolino\Infrabrasil\02.%20Prepara&#231;&#227;o\08.%20Memorando%20de%20Informa&#231;&#245;es%20Base\Gold%20Mine%20-%20Filler%20CIM%20(Master).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Box\1-%20M&amp;A\C&#233;lulas%20-%20Projetos%20Ativos\C&#233;lula%20Generalista\Bruno%20Iervolino\Infrabrasil\02.%20Prepara&#231;&#227;o\08.%20Memorando%20de%20Informa&#231;&#245;es%20Base\Gold%20Mine%20-%20Filler%20CIM%20(Master).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Box\1-%20M&amp;A\C&#233;lulas%20-%20Projetos%20Ativos\C&#233;lula%20Generalista\Bruno%20Iervolino\Infrabrasil\02.%20Prepara&#231;&#227;o\08.%20Memorando%20de%20Informa&#231;&#245;es%20Base\Suporte%20-%20Dados%20do%20CIM_v2.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527178204721355E-2"/>
          <c:y val="0.16962576919689526"/>
          <c:w val="0.94291313608835281"/>
          <c:h val="0.69955619205893949"/>
        </c:manualLayout>
      </c:layout>
      <c:barChart>
        <c:barDir val="col"/>
        <c:grouping val="clustered"/>
        <c:varyColors val="0"/>
        <c:ser>
          <c:idx val="0"/>
          <c:order val="0"/>
          <c:tx>
            <c:strRef>
              <c:f>'1. Companhia'!$B$39</c:f>
              <c:strCache>
                <c:ptCount val="1"/>
                <c:pt idx="0">
                  <c:v>AGM Caetano</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Poppins" panose="00000500000000000000" pitchFamily="2" charset="0"/>
                    <a:ea typeface="+mn-ea"/>
                    <a:cs typeface="Poppins" panose="00000500000000000000" pitchFamily="2"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 Companhia'!$C$38:$D$38</c:f>
              <c:strCache>
                <c:ptCount val="2"/>
                <c:pt idx="0">
                  <c:v>1Q2025</c:v>
                </c:pt>
                <c:pt idx="1">
                  <c:v>1Q2026</c:v>
                </c:pt>
              </c:strCache>
            </c:strRef>
          </c:cat>
          <c:val>
            <c:numRef>
              <c:f>'1. Companhia'!$C$39:$D$39</c:f>
              <c:numCache>
                <c:formatCode>#,##0.0</c:formatCode>
                <c:ptCount val="2"/>
                <c:pt idx="0">
                  <c:v>26.62</c:v>
                </c:pt>
                <c:pt idx="1">
                  <c:v>36.22</c:v>
                </c:pt>
              </c:numCache>
            </c:numRef>
          </c:val>
          <c:extLst>
            <c:ext xmlns:c16="http://schemas.microsoft.com/office/drawing/2014/chart" uri="{C3380CC4-5D6E-409C-BE32-E72D297353CC}">
              <c16:uniqueId val="{00000000-6CC0-4398-B79B-655AC0D7A7C0}"/>
            </c:ext>
          </c:extLst>
        </c:ser>
        <c:dLbls>
          <c:showLegendKey val="0"/>
          <c:showVal val="0"/>
          <c:showCatName val="0"/>
          <c:showSerName val="0"/>
          <c:showPercent val="0"/>
          <c:showBubbleSize val="0"/>
        </c:dLbls>
        <c:gapWidth val="40"/>
        <c:overlap val="-27"/>
        <c:axId val="595197647"/>
        <c:axId val="595199087"/>
      </c:barChart>
      <c:lineChart>
        <c:grouping val="standard"/>
        <c:varyColors val="0"/>
        <c:ser>
          <c:idx val="1"/>
          <c:order val="1"/>
          <c:tx>
            <c:strRef>
              <c:f>'1. Companhia'!$B$40</c:f>
              <c:strCache>
                <c:ptCount val="1"/>
                <c:pt idx="0">
                  <c:v>AGM Alpha</c:v>
                </c:pt>
              </c:strCache>
            </c:strRef>
          </c:tx>
          <c:spPr>
            <a:ln w="28575" cap="rnd">
              <a:solidFill>
                <a:schemeClr val="accent1"/>
              </a:solidFill>
              <a:round/>
            </a:ln>
            <a:effectLst/>
          </c:spPr>
          <c:marker>
            <c:symbol val="circle"/>
            <c:size val="20"/>
            <c:spPr>
              <a:solidFill>
                <a:schemeClr val="accent1"/>
              </a:solidFill>
              <a:ln w="9525">
                <a:solidFill>
                  <a:schemeClr val="accent1"/>
                </a:solidFill>
              </a:ln>
              <a:effectLst/>
            </c:spPr>
          </c:marker>
          <c:dLbls>
            <c:dLbl>
              <c:idx val="1"/>
              <c:layout>
                <c:manualLayout>
                  <c:x val="-4.6509922749585743E-2"/>
                  <c:y val="-4.7094108119172572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CC0-4398-B79B-655AC0D7A7C0}"/>
                </c:ext>
              </c:extLst>
            </c:dLbl>
            <c:spPr>
              <a:noFill/>
              <a:ln>
                <a:noFill/>
              </a:ln>
              <a:effectLst/>
            </c:spPr>
            <c:txPr>
              <a:bodyPr rot="0" spcFirstLastPara="1" vertOverflow="ellipsis" vert="horz" wrap="square" anchor="ctr" anchorCtr="1"/>
              <a:lstStyle/>
              <a:p>
                <a:pPr>
                  <a:defRPr sz="900" b="1" i="0" u="none" strike="noStrike" kern="1200" baseline="0">
                    <a:solidFill>
                      <a:schemeClr val="bg1"/>
                    </a:solidFill>
                    <a:latin typeface="Poppins" panose="00000500000000000000" pitchFamily="2" charset="0"/>
                    <a:ea typeface="+mn-ea"/>
                    <a:cs typeface="Poppins" panose="00000500000000000000" pitchFamily="2"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 Companhia'!$C$38:$D$38</c:f>
              <c:strCache>
                <c:ptCount val="2"/>
                <c:pt idx="0">
                  <c:v>1Q2025</c:v>
                </c:pt>
                <c:pt idx="1">
                  <c:v>1Q2026</c:v>
                </c:pt>
              </c:strCache>
            </c:strRef>
          </c:cat>
          <c:val>
            <c:numRef>
              <c:f>'1. Companhia'!$C$40:$D$40</c:f>
              <c:numCache>
                <c:formatCode>#,##0.0</c:formatCode>
                <c:ptCount val="2"/>
                <c:pt idx="0">
                  <c:v>4.16</c:v>
                </c:pt>
                <c:pt idx="1">
                  <c:v>7.25</c:v>
                </c:pt>
              </c:numCache>
            </c:numRef>
          </c:val>
          <c:smooth val="0"/>
          <c:extLst>
            <c:ext xmlns:c16="http://schemas.microsoft.com/office/drawing/2014/chart" uri="{C3380CC4-5D6E-409C-BE32-E72D297353CC}">
              <c16:uniqueId val="{00000001-6CC0-4398-B79B-655AC0D7A7C0}"/>
            </c:ext>
          </c:extLst>
        </c:ser>
        <c:dLbls>
          <c:showLegendKey val="0"/>
          <c:showVal val="0"/>
          <c:showCatName val="0"/>
          <c:showSerName val="0"/>
          <c:showPercent val="0"/>
          <c:showBubbleSize val="0"/>
        </c:dLbls>
        <c:marker val="1"/>
        <c:smooth val="0"/>
        <c:axId val="607893023"/>
        <c:axId val="607891103"/>
      </c:lineChart>
      <c:catAx>
        <c:axId val="595197647"/>
        <c:scaling>
          <c:orientation val="minMax"/>
        </c:scaling>
        <c:delete val="0"/>
        <c:axPos val="b"/>
        <c:numFmt formatCode="General" sourceLinked="1"/>
        <c:majorTickMark val="none"/>
        <c:minorTickMark val="none"/>
        <c:tickLblPos val="nextTo"/>
        <c:spPr>
          <a:noFill/>
          <a:ln w="6350" cap="flat" cmpd="sng" algn="ctr">
            <a:solidFill>
              <a:schemeClr val="bg1">
                <a:lumMod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Light" panose="00000400000000000000" pitchFamily="2" charset="0"/>
                <a:ea typeface="+mn-ea"/>
                <a:cs typeface="Poppins Light" panose="00000400000000000000" pitchFamily="2" charset="0"/>
              </a:defRPr>
            </a:pPr>
            <a:endParaRPr lang="pt-BR"/>
          </a:p>
        </c:txPr>
        <c:crossAx val="595199087"/>
        <c:crosses val="autoZero"/>
        <c:auto val="1"/>
        <c:lblAlgn val="ctr"/>
        <c:lblOffset val="100"/>
        <c:noMultiLvlLbl val="0"/>
      </c:catAx>
      <c:valAx>
        <c:axId val="595199087"/>
        <c:scaling>
          <c:orientation val="minMax"/>
          <c:max val="45"/>
          <c:min val="0"/>
        </c:scaling>
        <c:delete val="0"/>
        <c:axPos val="l"/>
        <c:majorGridlines>
          <c:spPr>
            <a:ln w="9525" cap="flat" cmpd="sng" algn="ctr">
              <a:noFill/>
              <a:round/>
            </a:ln>
            <a:effectLst/>
          </c:spPr>
        </c:majorGridlines>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crossAx val="595197647"/>
        <c:crosses val="autoZero"/>
        <c:crossBetween val="between"/>
      </c:valAx>
      <c:valAx>
        <c:axId val="607891103"/>
        <c:scaling>
          <c:orientation val="minMax"/>
          <c:max val="10"/>
          <c:min val="0"/>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crossAx val="607893023"/>
        <c:crosses val="max"/>
        <c:crossBetween val="between"/>
      </c:valAx>
      <c:catAx>
        <c:axId val="607893023"/>
        <c:scaling>
          <c:orientation val="minMax"/>
        </c:scaling>
        <c:delete val="1"/>
        <c:axPos val="b"/>
        <c:numFmt formatCode="General" sourceLinked="1"/>
        <c:majorTickMark val="out"/>
        <c:minorTickMark val="none"/>
        <c:tickLblPos val="nextTo"/>
        <c:crossAx val="607891103"/>
        <c:crosses val="autoZero"/>
        <c:auto val="1"/>
        <c:lblAlgn val="ctr"/>
        <c:lblOffset val="100"/>
        <c:noMultiLvlLbl val="0"/>
      </c:catAx>
      <c:spPr>
        <a:noFill/>
        <a:ln>
          <a:noFill/>
        </a:ln>
        <a:effectLst/>
      </c:spPr>
    </c:plotArea>
    <c:legend>
      <c:legendPos val="t"/>
      <c:layout>
        <c:manualLayout>
          <c:xMode val="edge"/>
          <c:yMode val="edge"/>
          <c:x val="0"/>
          <c:y val="8.8037863441943112E-3"/>
          <c:w val="0.42501298219363504"/>
          <c:h val="9.119755496290318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Poppins Light" panose="00000400000000000000" pitchFamily="2" charset="0"/>
              <a:ea typeface="+mn-ea"/>
              <a:cs typeface="Poppins Light" panose="000004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latin typeface="Poppins" panose="00000500000000000000" pitchFamily="2" charset="0"/>
          <a:cs typeface="Poppins" panose="00000500000000000000" pitchFamily="2"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60688622148453"/>
          <c:y val="0.18439511617465273"/>
          <c:w val="0.85511547881707584"/>
          <c:h val="0.77820216903617456"/>
        </c:manualLayout>
      </c:layout>
      <c:barChart>
        <c:barDir val="bar"/>
        <c:grouping val="stacked"/>
        <c:varyColors val="0"/>
        <c:ser>
          <c:idx val="0"/>
          <c:order val="0"/>
          <c:tx>
            <c:strRef>
              <c:f>'1. Companhia'!$B$26</c:f>
              <c:strCache>
                <c:ptCount val="1"/>
                <c:pt idx="0">
                  <c:v>[Service line A]</c:v>
                </c:pt>
              </c:strCache>
            </c:strRef>
          </c:tx>
          <c:spPr>
            <a:solidFill>
              <a:schemeClr val="accent1"/>
            </a:solidFill>
            <a:ln>
              <a:noFill/>
            </a:ln>
            <a:effectLst/>
          </c:spPr>
          <c:invertIfNegative val="0"/>
          <c:cat>
            <c:numRef>
              <c:f>'1. Companhia'!$C$25:$G$25</c:f>
              <c:numCache>
                <c:formatCode>General</c:formatCode>
                <c:ptCount val="5"/>
                <c:pt idx="0">
                  <c:v>2021</c:v>
                </c:pt>
                <c:pt idx="1">
                  <c:v>2022</c:v>
                </c:pt>
                <c:pt idx="2">
                  <c:v>2023</c:v>
                </c:pt>
                <c:pt idx="3">
                  <c:v>2024</c:v>
                </c:pt>
                <c:pt idx="4">
                  <c:v>2025</c:v>
                </c:pt>
              </c:numCache>
            </c:numRef>
          </c:cat>
          <c:val>
            <c:numRef>
              <c:f>'1. Companhia'!$C$26:$G$26</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00-FFF6-46D6-A73C-DD06C3AC7D84}"/>
            </c:ext>
          </c:extLst>
        </c:ser>
        <c:ser>
          <c:idx val="1"/>
          <c:order val="1"/>
          <c:tx>
            <c:strRef>
              <c:f>'1. Companhia'!$B$27</c:f>
              <c:strCache>
                <c:ptCount val="1"/>
                <c:pt idx="0">
                  <c:v>[Service line B]</c:v>
                </c:pt>
              </c:strCache>
            </c:strRef>
          </c:tx>
          <c:spPr>
            <a:solidFill>
              <a:schemeClr val="tx1"/>
            </a:solidFill>
            <a:ln>
              <a:noFill/>
            </a:ln>
            <a:effectLst/>
          </c:spPr>
          <c:invertIfNegative val="0"/>
          <c:cat>
            <c:numRef>
              <c:f>'1. Companhia'!$C$25:$G$25</c:f>
              <c:numCache>
                <c:formatCode>General</c:formatCode>
                <c:ptCount val="5"/>
                <c:pt idx="0">
                  <c:v>2021</c:v>
                </c:pt>
                <c:pt idx="1">
                  <c:v>2022</c:v>
                </c:pt>
                <c:pt idx="2">
                  <c:v>2023</c:v>
                </c:pt>
                <c:pt idx="3">
                  <c:v>2024</c:v>
                </c:pt>
                <c:pt idx="4">
                  <c:v>2025</c:v>
                </c:pt>
              </c:numCache>
            </c:numRef>
          </c:cat>
          <c:val>
            <c:numRef>
              <c:f>'1. Companhia'!$C$27:$G$27</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01-FFF6-46D6-A73C-DD06C3AC7D84}"/>
            </c:ext>
          </c:extLst>
        </c:ser>
        <c:ser>
          <c:idx val="2"/>
          <c:order val="2"/>
          <c:tx>
            <c:strRef>
              <c:f>'1. Companhia'!$B$28</c:f>
              <c:strCache>
                <c:ptCount val="1"/>
                <c:pt idx="0">
                  <c:v>[Service line C]</c:v>
                </c:pt>
              </c:strCache>
            </c:strRef>
          </c:tx>
          <c:spPr>
            <a:solidFill>
              <a:schemeClr val="accent3">
                <a:lumMod val="40000"/>
                <a:lumOff val="60000"/>
              </a:schemeClr>
            </a:solidFill>
            <a:ln>
              <a:noFill/>
            </a:ln>
            <a:effectLst/>
          </c:spPr>
          <c:invertIfNegative val="0"/>
          <c:cat>
            <c:numRef>
              <c:f>'1. Companhia'!$C$25:$G$25</c:f>
              <c:numCache>
                <c:formatCode>General</c:formatCode>
                <c:ptCount val="5"/>
                <c:pt idx="0">
                  <c:v>2021</c:v>
                </c:pt>
                <c:pt idx="1">
                  <c:v>2022</c:v>
                </c:pt>
                <c:pt idx="2">
                  <c:v>2023</c:v>
                </c:pt>
                <c:pt idx="3">
                  <c:v>2024</c:v>
                </c:pt>
                <c:pt idx="4">
                  <c:v>2025</c:v>
                </c:pt>
              </c:numCache>
            </c:numRef>
          </c:cat>
          <c:val>
            <c:numRef>
              <c:f>'1. Companhia'!$C$28:$G$28</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02-FFF6-46D6-A73C-DD06C3AC7D84}"/>
            </c:ext>
          </c:extLst>
        </c:ser>
        <c:ser>
          <c:idx val="3"/>
          <c:order val="3"/>
          <c:tx>
            <c:strRef>
              <c:f>'1. Companhia'!$B$29</c:f>
              <c:strCache>
                <c:ptCount val="1"/>
                <c:pt idx="0">
                  <c:v>[Service line D]</c:v>
                </c:pt>
              </c:strCache>
            </c:strRef>
          </c:tx>
          <c:spPr>
            <a:solidFill>
              <a:schemeClr val="accent5">
                <a:lumMod val="60000"/>
                <a:lumOff val="40000"/>
              </a:schemeClr>
            </a:solidFill>
            <a:ln>
              <a:noFill/>
            </a:ln>
            <a:effectLst/>
          </c:spPr>
          <c:invertIfNegative val="0"/>
          <c:cat>
            <c:numRef>
              <c:f>'1. Companhia'!$C$25:$G$25</c:f>
              <c:numCache>
                <c:formatCode>General</c:formatCode>
                <c:ptCount val="5"/>
                <c:pt idx="0">
                  <c:v>2021</c:v>
                </c:pt>
                <c:pt idx="1">
                  <c:v>2022</c:v>
                </c:pt>
                <c:pt idx="2">
                  <c:v>2023</c:v>
                </c:pt>
                <c:pt idx="3">
                  <c:v>2024</c:v>
                </c:pt>
                <c:pt idx="4">
                  <c:v>2025</c:v>
                </c:pt>
              </c:numCache>
            </c:numRef>
          </c:cat>
          <c:val>
            <c:numRef>
              <c:f>'1. Companhia'!$C$29:$G$29</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03-FFF6-46D6-A73C-DD06C3AC7D84}"/>
            </c:ext>
          </c:extLst>
        </c:ser>
        <c:dLbls>
          <c:showLegendKey val="0"/>
          <c:showVal val="0"/>
          <c:showCatName val="0"/>
          <c:showSerName val="0"/>
          <c:showPercent val="0"/>
          <c:showBubbleSize val="0"/>
        </c:dLbls>
        <c:gapWidth val="75"/>
        <c:overlap val="100"/>
        <c:axId val="196265408"/>
        <c:axId val="196267328"/>
      </c:barChart>
      <c:catAx>
        <c:axId val="19626540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crossAx val="196267328"/>
        <c:crosses val="autoZero"/>
        <c:auto val="1"/>
        <c:lblAlgn val="ctr"/>
        <c:lblOffset val="100"/>
        <c:noMultiLvlLbl val="0"/>
      </c:catAx>
      <c:valAx>
        <c:axId val="196267328"/>
        <c:scaling>
          <c:orientation val="minMax"/>
        </c:scaling>
        <c:delete val="0"/>
        <c:axPos val="t"/>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crossAx val="196265408"/>
        <c:crosses val="autoZero"/>
        <c:crossBetween val="between"/>
      </c:valAx>
      <c:spPr>
        <a:noFill/>
        <a:ln>
          <a:noFill/>
        </a:ln>
        <a:effectLst/>
      </c:spPr>
    </c:plotArea>
    <c:legend>
      <c:legendPos val="t"/>
      <c:layout>
        <c:manualLayout>
          <c:xMode val="edge"/>
          <c:yMode val="edge"/>
          <c:x val="4.694654170799345E-2"/>
          <c:y val="2.0409296554259687E-2"/>
          <c:w val="0.5402870271036172"/>
          <c:h val="0.1265408539652901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latin typeface="Poppins" panose="00000500000000000000" pitchFamily="2" charset="0"/>
          <a:cs typeface="Poppins" panose="00000500000000000000" pitchFamily="2"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734649698241931"/>
          <c:w val="0.98606874421546242"/>
          <c:h val="0.66000655995801627"/>
        </c:manualLayout>
      </c:layout>
      <c:barChart>
        <c:barDir val="col"/>
        <c:grouping val="clustered"/>
        <c:varyColors val="0"/>
        <c:ser>
          <c:idx val="0"/>
          <c:order val="0"/>
          <c:tx>
            <c:strRef>
              <c:f>'2. Faturamento histórico'!$B$21</c:f>
              <c:strCache>
                <c:ptCount val="1"/>
                <c:pt idx="0">
                  <c:v>Receita bruta</c:v>
                </c:pt>
              </c:strCache>
            </c:strRef>
          </c:tx>
          <c:spPr>
            <a:solidFill>
              <a:schemeClr val="bg2"/>
            </a:solidFill>
            <a:ln>
              <a:noFill/>
            </a:ln>
            <a:effectLst/>
          </c:spPr>
          <c:invertIfNegative val="0"/>
          <c:cat>
            <c:strRef>
              <c:f>'2. Faturamento histórico'!$C$20:$K$20</c:f>
              <c:strCache>
                <c:ptCount val="9"/>
                <c:pt idx="0">
                  <c:v>2016</c:v>
                </c:pt>
                <c:pt idx="1">
                  <c:v>2017-19</c:v>
                </c:pt>
                <c:pt idx="2">
                  <c:v>2020</c:v>
                </c:pt>
                <c:pt idx="3">
                  <c:v>2021</c:v>
                </c:pt>
                <c:pt idx="4">
                  <c:v>2022</c:v>
                </c:pt>
                <c:pt idx="5">
                  <c:v>2023</c:v>
                </c:pt>
                <c:pt idx="6">
                  <c:v>2024</c:v>
                </c:pt>
                <c:pt idx="7">
                  <c:v>2025</c:v>
                </c:pt>
                <c:pt idx="8">
                  <c:v>2026E</c:v>
                </c:pt>
              </c:strCache>
            </c:strRef>
          </c:cat>
          <c:val>
            <c:numRef>
              <c:f>'2. Faturamento histórico'!$C$21:$K$21</c:f>
              <c:numCache>
                <c:formatCode>General</c:formatCode>
                <c:ptCount val="9"/>
                <c:pt idx="0" formatCode="#,##0;\(#,##0\);\-">
                  <c:v>0</c:v>
                </c:pt>
                <c:pt idx="2" formatCode="#,##0;\(#,##0\);\-">
                  <c:v>0</c:v>
                </c:pt>
                <c:pt idx="3" formatCode="#,##0;\(#,##0\);\-">
                  <c:v>0</c:v>
                </c:pt>
                <c:pt idx="4" formatCode="#,##0;\(#,##0\);\-">
                  <c:v>0</c:v>
                </c:pt>
                <c:pt idx="5" formatCode="#,##0;\(#,##0\);\-">
                  <c:v>0</c:v>
                </c:pt>
                <c:pt idx="6" formatCode="#,##0;\(#,##0\);\-">
                  <c:v>0</c:v>
                </c:pt>
                <c:pt idx="7" formatCode="#,##0;\(#,##0\);\-">
                  <c:v>0</c:v>
                </c:pt>
                <c:pt idx="8" formatCode="#,##0;\(#,##0\);\-">
                  <c:v>0</c:v>
                </c:pt>
              </c:numCache>
            </c:numRef>
          </c:val>
          <c:extLst>
            <c:ext xmlns:c16="http://schemas.microsoft.com/office/drawing/2014/chart" uri="{C3380CC4-5D6E-409C-BE32-E72D297353CC}">
              <c16:uniqueId val="{00000000-0435-4BAB-B227-FF753A929FF9}"/>
            </c:ext>
          </c:extLst>
        </c:ser>
        <c:dLbls>
          <c:showLegendKey val="0"/>
          <c:showVal val="0"/>
          <c:showCatName val="0"/>
          <c:showSerName val="0"/>
          <c:showPercent val="0"/>
          <c:showBubbleSize val="0"/>
        </c:dLbls>
        <c:gapWidth val="40"/>
        <c:overlap val="-27"/>
        <c:axId val="1650730799"/>
        <c:axId val="1650734159"/>
      </c:barChart>
      <c:catAx>
        <c:axId val="16507307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crossAx val="1650734159"/>
        <c:crosses val="autoZero"/>
        <c:auto val="1"/>
        <c:lblAlgn val="ctr"/>
        <c:lblOffset val="100"/>
        <c:noMultiLvlLbl val="0"/>
      </c:catAx>
      <c:valAx>
        <c:axId val="1650734159"/>
        <c:scaling>
          <c:orientation val="minMax"/>
          <c:max val="600"/>
          <c:min val="0"/>
        </c:scaling>
        <c:delete val="0"/>
        <c:axPos val="l"/>
        <c:majorGridlines>
          <c:spPr>
            <a:ln w="9525" cap="flat" cmpd="sng" algn="ctr">
              <a:noFill/>
              <a:round/>
            </a:ln>
            <a:effectLst/>
          </c:spPr>
        </c:majorGridlines>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pt-BR"/>
          </a:p>
        </c:txPr>
        <c:crossAx val="1650730799"/>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latin typeface="Poppins" panose="00000500000000000000" pitchFamily="2" charset="0"/>
          <a:cs typeface="Poppins" panose="00000500000000000000" pitchFamily="2"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5C4D93D8-57DF-14E8-FB91-C79BE8A800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E13D4A2C-29E7-7ED6-3325-711F3DB909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F75C8D-8D66-49BA-A745-64E25C71E08B}" type="datetimeFigureOut">
              <a:rPr lang="pt-BR" smtClean="0"/>
              <a:t>10/08/2026</a:t>
            </a:fld>
            <a:endParaRPr lang="pt-BR" dirty="0"/>
          </a:p>
        </p:txBody>
      </p:sp>
      <p:sp>
        <p:nvSpPr>
          <p:cNvPr id="4" name="Espaço Reservado para Rodapé 3">
            <a:extLst>
              <a:ext uri="{FF2B5EF4-FFF2-40B4-BE49-F238E27FC236}">
                <a16:creationId xmlns:a16="http://schemas.microsoft.com/office/drawing/2014/main" id="{ED53AAFE-367D-05B1-F167-E3C14713BF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3F5AEE7F-D123-65EF-01F6-C890C7912A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C8EDF9-D690-45C9-AACF-0F85A01CDDB7}" type="slidenum">
              <a:rPr lang="pt-BR" smtClean="0"/>
              <a:t>‹#›</a:t>
            </a:fld>
            <a:endParaRPr lang="pt-BR" dirty="0"/>
          </a:p>
        </p:txBody>
      </p:sp>
    </p:spTree>
    <p:extLst>
      <p:ext uri="{BB962C8B-B14F-4D97-AF65-F5344CB8AC3E}">
        <p14:creationId xmlns:p14="http://schemas.microsoft.com/office/powerpoint/2010/main" val="210437458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EC49B-3E4C-4B5C-892F-BC2D139BADF6}" type="datetimeFigureOut">
              <a:rPr lang="pt-BR" smtClean="0"/>
              <a:t>10/08/2026</a:t>
            </a:fld>
            <a:endParaRPr lang="pt-BR" dirty="0"/>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3FFAA1-1EF5-4DC6-9FCC-7AAEF85B571D}" type="slidenum">
              <a:rPr lang="pt-BR" smtClean="0"/>
              <a:t>‹#›</a:t>
            </a:fld>
            <a:endParaRPr lang="pt-BR" dirty="0"/>
          </a:p>
        </p:txBody>
      </p:sp>
    </p:spTree>
    <p:extLst>
      <p:ext uri="{BB962C8B-B14F-4D97-AF65-F5344CB8AC3E}">
        <p14:creationId xmlns:p14="http://schemas.microsoft.com/office/powerpoint/2010/main" val="358036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dirty="0"/>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1</a:t>
            </a:fld>
            <a:endParaRPr lang="pt-BR" dirty="0"/>
          </a:p>
        </p:txBody>
      </p:sp>
    </p:spTree>
    <p:extLst>
      <p:ext uri="{BB962C8B-B14F-4D97-AF65-F5344CB8AC3E}">
        <p14:creationId xmlns:p14="http://schemas.microsoft.com/office/powerpoint/2010/main" val="3622285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dirty="0"/>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2</a:t>
            </a:fld>
            <a:endParaRPr lang="pt-BR" dirty="0"/>
          </a:p>
        </p:txBody>
      </p:sp>
    </p:spTree>
    <p:extLst>
      <p:ext uri="{BB962C8B-B14F-4D97-AF65-F5344CB8AC3E}">
        <p14:creationId xmlns:p14="http://schemas.microsoft.com/office/powerpoint/2010/main" val="81768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dirty="0"/>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3</a:t>
            </a:fld>
            <a:endParaRPr lang="pt-BR" dirty="0"/>
          </a:p>
        </p:txBody>
      </p:sp>
    </p:spTree>
    <p:extLst>
      <p:ext uri="{BB962C8B-B14F-4D97-AF65-F5344CB8AC3E}">
        <p14:creationId xmlns:p14="http://schemas.microsoft.com/office/powerpoint/2010/main" val="3721053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49B11-FD01-BDB2-CB73-BBBB13CA1B0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77AA458-2F5A-4C8B-FC0A-53669B7CDAEF}"/>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8B9617CC-4AF4-7C76-4410-25F646341C3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CAD05AD-C765-D527-5ADA-1ABDE71489C5}"/>
              </a:ext>
            </a:extLst>
          </p:cNvPr>
          <p:cNvSpPr>
            <a:spLocks noGrp="1"/>
          </p:cNvSpPr>
          <p:nvPr>
            <p:ph type="sldNum" sz="quarter" idx="5"/>
          </p:nvPr>
        </p:nvSpPr>
        <p:spPr/>
        <p:txBody>
          <a:bodyPr/>
          <a:lstStyle/>
          <a:p>
            <a:fld id="{2C3FFAA1-1EF5-4DC6-9FCC-7AAEF85B571D}" type="slidenum">
              <a:rPr lang="pt-BR" smtClean="0"/>
              <a:t>4</a:t>
            </a:fld>
            <a:endParaRPr lang="pt-BR" dirty="0"/>
          </a:p>
        </p:txBody>
      </p:sp>
    </p:spTree>
    <p:extLst>
      <p:ext uri="{BB962C8B-B14F-4D97-AF65-F5344CB8AC3E}">
        <p14:creationId xmlns:p14="http://schemas.microsoft.com/office/powerpoint/2010/main" val="59074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00F4-645E-BAB0-0DFF-BB1FAD56A0B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7ED865-4264-84FB-8887-80CE6F0B870A}"/>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5C34F9DE-B5E9-1561-0AE3-0352DEFBB0A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584EB94-919D-76F1-20CB-3EA1EB510047}"/>
              </a:ext>
            </a:extLst>
          </p:cNvPr>
          <p:cNvSpPr>
            <a:spLocks noGrp="1"/>
          </p:cNvSpPr>
          <p:nvPr>
            <p:ph type="sldNum" sz="quarter" idx="5"/>
          </p:nvPr>
        </p:nvSpPr>
        <p:spPr/>
        <p:txBody>
          <a:bodyPr/>
          <a:lstStyle/>
          <a:p>
            <a:fld id="{2C3FFAA1-1EF5-4DC6-9FCC-7AAEF85B571D}" type="slidenum">
              <a:rPr lang="pt-BR" smtClean="0"/>
              <a:t>5</a:t>
            </a:fld>
            <a:endParaRPr lang="pt-BR" dirty="0"/>
          </a:p>
        </p:txBody>
      </p:sp>
    </p:spTree>
    <p:extLst>
      <p:ext uri="{BB962C8B-B14F-4D97-AF65-F5344CB8AC3E}">
        <p14:creationId xmlns:p14="http://schemas.microsoft.com/office/powerpoint/2010/main" val="105951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821A6-B256-51AB-B41E-8C14E3F6FAD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FE80767-22AF-B567-B303-6CC61FCF64CE}"/>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4B714EA6-0DFF-FA91-2A88-0C79AEB6EB26}"/>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703B12A5-14BE-F9E0-82FC-46A039139E43}"/>
              </a:ext>
            </a:extLst>
          </p:cNvPr>
          <p:cNvSpPr>
            <a:spLocks noGrp="1"/>
          </p:cNvSpPr>
          <p:nvPr>
            <p:ph type="sldNum" sz="quarter" idx="5"/>
          </p:nvPr>
        </p:nvSpPr>
        <p:spPr/>
        <p:txBody>
          <a:bodyPr/>
          <a:lstStyle/>
          <a:p>
            <a:fld id="{2C3FFAA1-1EF5-4DC6-9FCC-7AAEF85B571D}" type="slidenum">
              <a:rPr lang="pt-BR" smtClean="0"/>
              <a:t>8</a:t>
            </a:fld>
            <a:endParaRPr lang="pt-BR" dirty="0"/>
          </a:p>
        </p:txBody>
      </p:sp>
    </p:spTree>
    <p:extLst>
      <p:ext uri="{BB962C8B-B14F-4D97-AF65-F5344CB8AC3E}">
        <p14:creationId xmlns:p14="http://schemas.microsoft.com/office/powerpoint/2010/main" val="1949375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4FD3F-4701-E065-DA36-0C2746289A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09B9C62-E304-1DC1-6567-16325C7F1ABE}"/>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6C5E6B96-0814-4C87-1B6D-304003A92398}"/>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4558EB66-B4B0-7A94-7D66-1A580D54ED0E}"/>
              </a:ext>
            </a:extLst>
          </p:cNvPr>
          <p:cNvSpPr>
            <a:spLocks noGrp="1"/>
          </p:cNvSpPr>
          <p:nvPr>
            <p:ph type="sldNum" sz="quarter" idx="5"/>
          </p:nvPr>
        </p:nvSpPr>
        <p:spPr/>
        <p:txBody>
          <a:bodyPr/>
          <a:lstStyle/>
          <a:p>
            <a:fld id="{2C3FFAA1-1EF5-4DC6-9FCC-7AAEF85B571D}" type="slidenum">
              <a:rPr lang="pt-BR" smtClean="0"/>
              <a:t>9</a:t>
            </a:fld>
            <a:endParaRPr lang="pt-BR" dirty="0"/>
          </a:p>
        </p:txBody>
      </p:sp>
    </p:spTree>
    <p:extLst>
      <p:ext uri="{BB962C8B-B14F-4D97-AF65-F5344CB8AC3E}">
        <p14:creationId xmlns:p14="http://schemas.microsoft.com/office/powerpoint/2010/main" val="1967321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8058B-1AA9-6F94-CB93-2AA0B651255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55C0DD-8228-C93A-498B-E6968E567077}"/>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06AEAC1A-ACF7-2EBA-4BD6-3799F178D836}"/>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AE011E3B-74AA-DB1B-566A-617AC04636D7}"/>
              </a:ext>
            </a:extLst>
          </p:cNvPr>
          <p:cNvSpPr>
            <a:spLocks noGrp="1"/>
          </p:cNvSpPr>
          <p:nvPr>
            <p:ph type="sldNum" sz="quarter" idx="5"/>
          </p:nvPr>
        </p:nvSpPr>
        <p:spPr/>
        <p:txBody>
          <a:bodyPr/>
          <a:lstStyle/>
          <a:p>
            <a:fld id="{2C3FFAA1-1EF5-4DC6-9FCC-7AAEF85B571D}" type="slidenum">
              <a:rPr lang="pt-BR" smtClean="0"/>
              <a:t>10</a:t>
            </a:fld>
            <a:endParaRPr lang="pt-BR" dirty="0"/>
          </a:p>
        </p:txBody>
      </p:sp>
    </p:spTree>
    <p:extLst>
      <p:ext uri="{BB962C8B-B14F-4D97-AF65-F5344CB8AC3E}">
        <p14:creationId xmlns:p14="http://schemas.microsoft.com/office/powerpoint/2010/main" val="586323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1E85F-DC6F-E96E-DB8C-BD61032406D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62BE8A0-0602-17BC-9077-8772F6E56168}"/>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EE30F45B-C13B-4F7E-B616-8C0D1D70BA6D}"/>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64162716-7B8F-3BFC-2076-E2572440398D}"/>
              </a:ext>
            </a:extLst>
          </p:cNvPr>
          <p:cNvSpPr>
            <a:spLocks noGrp="1"/>
          </p:cNvSpPr>
          <p:nvPr>
            <p:ph type="sldNum" sz="quarter" idx="5"/>
          </p:nvPr>
        </p:nvSpPr>
        <p:spPr/>
        <p:txBody>
          <a:bodyPr/>
          <a:lstStyle/>
          <a:p>
            <a:fld id="{2C3FFAA1-1EF5-4DC6-9FCC-7AAEF85B571D}" type="slidenum">
              <a:rPr lang="pt-BR" smtClean="0"/>
              <a:t>11</a:t>
            </a:fld>
            <a:endParaRPr lang="pt-BR" dirty="0"/>
          </a:p>
        </p:txBody>
      </p:sp>
    </p:spTree>
    <p:extLst>
      <p:ext uri="{BB962C8B-B14F-4D97-AF65-F5344CB8AC3E}">
        <p14:creationId xmlns:p14="http://schemas.microsoft.com/office/powerpoint/2010/main" val="3875862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D655F-D8BC-FAFE-6EED-B72153B4DDC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A2B5C22-FF6F-2AC7-4B68-460B9F58B986}"/>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70E0A511-C0EC-E150-0DF6-1349CF9FEAC8}"/>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B60170E8-FCDC-B567-28A1-C6AC970F3397}"/>
              </a:ext>
            </a:extLst>
          </p:cNvPr>
          <p:cNvSpPr>
            <a:spLocks noGrp="1"/>
          </p:cNvSpPr>
          <p:nvPr>
            <p:ph type="sldNum" sz="quarter" idx="5"/>
          </p:nvPr>
        </p:nvSpPr>
        <p:spPr/>
        <p:txBody>
          <a:bodyPr/>
          <a:lstStyle/>
          <a:p>
            <a:fld id="{2C3FFAA1-1EF5-4DC6-9FCC-7AAEF85B571D}" type="slidenum">
              <a:rPr lang="pt-BR" smtClean="0"/>
              <a:t>12</a:t>
            </a:fld>
            <a:endParaRPr lang="pt-BR" dirty="0"/>
          </a:p>
        </p:txBody>
      </p:sp>
    </p:spTree>
    <p:extLst>
      <p:ext uri="{BB962C8B-B14F-4D97-AF65-F5344CB8AC3E}">
        <p14:creationId xmlns:p14="http://schemas.microsoft.com/office/powerpoint/2010/main" val="1272924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ACAAF-F95E-98A7-D504-3F25EEE784A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464F053-58B7-DA69-D237-6BE3FD419B87}"/>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68C38C00-CFDB-618A-F935-5C26A1823E9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670D931-D0F0-866E-753F-FA0009F20AAE}"/>
              </a:ext>
            </a:extLst>
          </p:cNvPr>
          <p:cNvSpPr>
            <a:spLocks noGrp="1"/>
          </p:cNvSpPr>
          <p:nvPr>
            <p:ph type="sldNum" sz="quarter" idx="5"/>
          </p:nvPr>
        </p:nvSpPr>
        <p:spPr/>
        <p:txBody>
          <a:bodyPr/>
          <a:lstStyle/>
          <a:p>
            <a:fld id="{2C3FFAA1-1EF5-4DC6-9FCC-7AAEF85B571D}" type="slidenum">
              <a:rPr lang="pt-BR" smtClean="0"/>
              <a:t>13</a:t>
            </a:fld>
            <a:endParaRPr lang="pt-BR" dirty="0"/>
          </a:p>
        </p:txBody>
      </p:sp>
    </p:spTree>
    <p:extLst>
      <p:ext uri="{BB962C8B-B14F-4D97-AF65-F5344CB8AC3E}">
        <p14:creationId xmlns:p14="http://schemas.microsoft.com/office/powerpoint/2010/main" val="3228123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132A6-7D39-44AE-8041-973B040D692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86FE6A0-6489-D18D-9909-3C9793CA9DA9}"/>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A418727D-D219-1C07-25DA-63BF1B1FBCB6}"/>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07D75091-3E34-3690-4F08-46993CDAFBB7}"/>
              </a:ext>
            </a:extLst>
          </p:cNvPr>
          <p:cNvSpPr>
            <a:spLocks noGrp="1"/>
          </p:cNvSpPr>
          <p:nvPr>
            <p:ph type="sldNum" sz="quarter" idx="5"/>
          </p:nvPr>
        </p:nvSpPr>
        <p:spPr/>
        <p:txBody>
          <a:bodyPr/>
          <a:lstStyle/>
          <a:p>
            <a:fld id="{2C3FFAA1-1EF5-4DC6-9FCC-7AAEF85B571D}" type="slidenum">
              <a:rPr lang="pt-BR" smtClean="0"/>
              <a:t>14</a:t>
            </a:fld>
            <a:endParaRPr lang="pt-BR" dirty="0"/>
          </a:p>
        </p:txBody>
      </p:sp>
    </p:spTree>
    <p:extLst>
      <p:ext uri="{BB962C8B-B14F-4D97-AF65-F5344CB8AC3E}">
        <p14:creationId xmlns:p14="http://schemas.microsoft.com/office/powerpoint/2010/main" val="1656854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3789-D5FB-6430-164D-64B03C1B4D8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8A20429-9C79-A5CD-FFBF-1E13AA7A03EE}"/>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EC9A3F12-3459-8D5C-15B5-4CC6739C4FAE}"/>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DBF30B10-EE53-C203-A3AF-2139AC6DB9C9}"/>
              </a:ext>
            </a:extLst>
          </p:cNvPr>
          <p:cNvSpPr>
            <a:spLocks noGrp="1"/>
          </p:cNvSpPr>
          <p:nvPr>
            <p:ph type="sldNum" sz="quarter" idx="5"/>
          </p:nvPr>
        </p:nvSpPr>
        <p:spPr/>
        <p:txBody>
          <a:bodyPr/>
          <a:lstStyle/>
          <a:p>
            <a:fld id="{2C3FFAA1-1EF5-4DC6-9FCC-7AAEF85B571D}" type="slidenum">
              <a:rPr lang="pt-BR" smtClean="0"/>
              <a:t>15</a:t>
            </a:fld>
            <a:endParaRPr lang="pt-BR" dirty="0"/>
          </a:p>
        </p:txBody>
      </p:sp>
    </p:spTree>
    <p:extLst>
      <p:ext uri="{BB962C8B-B14F-4D97-AF65-F5344CB8AC3E}">
        <p14:creationId xmlns:p14="http://schemas.microsoft.com/office/powerpoint/2010/main" val="4263081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77F50-545E-2419-408E-638B61F37C2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4BE522-52DC-6E37-B1DA-35A0CDC7CA21}"/>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52D5064A-14D9-8C7B-BBA0-C51611528F86}"/>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25E5BE75-4EDB-2F2A-F9C3-CE97ED30DE11}"/>
              </a:ext>
            </a:extLst>
          </p:cNvPr>
          <p:cNvSpPr>
            <a:spLocks noGrp="1"/>
          </p:cNvSpPr>
          <p:nvPr>
            <p:ph type="sldNum" sz="quarter" idx="5"/>
          </p:nvPr>
        </p:nvSpPr>
        <p:spPr/>
        <p:txBody>
          <a:bodyPr/>
          <a:lstStyle/>
          <a:p>
            <a:fld id="{2C3FFAA1-1EF5-4DC6-9FCC-7AAEF85B571D}" type="slidenum">
              <a:rPr lang="pt-BR" smtClean="0"/>
              <a:t>16</a:t>
            </a:fld>
            <a:endParaRPr lang="pt-BR" dirty="0"/>
          </a:p>
        </p:txBody>
      </p:sp>
    </p:spTree>
    <p:extLst>
      <p:ext uri="{BB962C8B-B14F-4D97-AF65-F5344CB8AC3E}">
        <p14:creationId xmlns:p14="http://schemas.microsoft.com/office/powerpoint/2010/main" val="4144845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78DB-B145-4225-7C79-8B8A77C8785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8860478-CA4E-37F3-62D9-E84453A2BFA2}"/>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76FD87E8-0B90-145A-1572-7F1C566EFB12}"/>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DEF48281-8517-9DD2-93C0-D02F89D4105E}"/>
              </a:ext>
            </a:extLst>
          </p:cNvPr>
          <p:cNvSpPr>
            <a:spLocks noGrp="1"/>
          </p:cNvSpPr>
          <p:nvPr>
            <p:ph type="sldNum" sz="quarter" idx="5"/>
          </p:nvPr>
        </p:nvSpPr>
        <p:spPr/>
        <p:txBody>
          <a:bodyPr/>
          <a:lstStyle/>
          <a:p>
            <a:fld id="{2C3FFAA1-1EF5-4DC6-9FCC-7AAEF85B571D}" type="slidenum">
              <a:rPr lang="pt-BR" smtClean="0"/>
              <a:t>17</a:t>
            </a:fld>
            <a:endParaRPr lang="pt-BR" dirty="0"/>
          </a:p>
        </p:txBody>
      </p:sp>
    </p:spTree>
    <p:extLst>
      <p:ext uri="{BB962C8B-B14F-4D97-AF65-F5344CB8AC3E}">
        <p14:creationId xmlns:p14="http://schemas.microsoft.com/office/powerpoint/2010/main" val="3501132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25E4-D21E-4A7D-9613-32A8CEF1615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DE8EF41-11A3-D847-5A2C-B8E346D2D4B1}"/>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2750782E-9F50-88C6-3559-E80716850E63}"/>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92229FD2-5D7E-D0C2-406D-27D6CCE34A1A}"/>
              </a:ext>
            </a:extLst>
          </p:cNvPr>
          <p:cNvSpPr>
            <a:spLocks noGrp="1"/>
          </p:cNvSpPr>
          <p:nvPr>
            <p:ph type="sldNum" sz="quarter" idx="5"/>
          </p:nvPr>
        </p:nvSpPr>
        <p:spPr/>
        <p:txBody>
          <a:bodyPr/>
          <a:lstStyle/>
          <a:p>
            <a:fld id="{2C3FFAA1-1EF5-4DC6-9FCC-7AAEF85B571D}" type="slidenum">
              <a:rPr lang="pt-BR" smtClean="0"/>
              <a:t>18</a:t>
            </a:fld>
            <a:endParaRPr lang="pt-BR" dirty="0"/>
          </a:p>
        </p:txBody>
      </p:sp>
    </p:spTree>
    <p:extLst>
      <p:ext uri="{BB962C8B-B14F-4D97-AF65-F5344CB8AC3E}">
        <p14:creationId xmlns:p14="http://schemas.microsoft.com/office/powerpoint/2010/main" val="2101776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0E32F-34E9-9F4A-BAE3-19265777D6A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E15054E-6544-CDF4-4C18-FFD081503B77}"/>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7E7D9F88-456F-8E62-C5F3-7417A87B56EF}"/>
              </a:ext>
            </a:extLst>
          </p:cNvPr>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a:extLst>
              <a:ext uri="{FF2B5EF4-FFF2-40B4-BE49-F238E27FC236}">
                <a16:creationId xmlns:a16="http://schemas.microsoft.com/office/drawing/2014/main" id="{72416BA7-F7B7-617C-4C68-9003E8ABD95E}"/>
              </a:ext>
            </a:extLst>
          </p:cNvPr>
          <p:cNvSpPr>
            <a:spLocks noGrp="1"/>
          </p:cNvSpPr>
          <p:nvPr>
            <p:ph type="sldNum" sz="quarter" idx="5"/>
          </p:nvPr>
        </p:nvSpPr>
        <p:spPr/>
        <p:txBody>
          <a:bodyPr/>
          <a:lstStyle/>
          <a:p>
            <a:fld id="{2C3FFAA1-1EF5-4DC6-9FCC-7AAEF85B571D}" type="slidenum">
              <a:rPr lang="pt-BR" smtClean="0"/>
              <a:t>19</a:t>
            </a:fld>
            <a:endParaRPr lang="pt-BR" dirty="0"/>
          </a:p>
        </p:txBody>
      </p:sp>
    </p:spTree>
    <p:extLst>
      <p:ext uri="{BB962C8B-B14F-4D97-AF65-F5344CB8AC3E}">
        <p14:creationId xmlns:p14="http://schemas.microsoft.com/office/powerpoint/2010/main" val="2916221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95E2-7D1B-9039-3362-DA53F2B478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1015895-D440-C57A-38FC-C96BB77A3FD6}"/>
              </a:ext>
            </a:extLst>
          </p:cNvPr>
          <p:cNvSpPr>
            <a:spLocks noGrp="1" noRot="1" noChangeAspect="1"/>
          </p:cNvSpPr>
          <p:nvPr>
            <p:ph type="sldImg"/>
          </p:nvPr>
        </p:nvSpPr>
        <p:spPr/>
        <p:txBody>
          <a:bodyPr/>
          <a:lstStyle/>
          <a:p>
            <a:endParaRPr lang="pt-BR" dirty="0"/>
          </a:p>
        </p:txBody>
      </p:sp>
      <p:sp>
        <p:nvSpPr>
          <p:cNvPr id="3" name="Espaço Reservado para Anotações 2">
            <a:extLst>
              <a:ext uri="{FF2B5EF4-FFF2-40B4-BE49-F238E27FC236}">
                <a16:creationId xmlns:a16="http://schemas.microsoft.com/office/drawing/2014/main" id="{8E8BE018-7644-71FB-F793-8746D7728EE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1799380-B35E-A633-E667-2A31D5548141}"/>
              </a:ext>
            </a:extLst>
          </p:cNvPr>
          <p:cNvSpPr>
            <a:spLocks noGrp="1"/>
          </p:cNvSpPr>
          <p:nvPr>
            <p:ph type="sldNum" sz="quarter" idx="5"/>
          </p:nvPr>
        </p:nvSpPr>
        <p:spPr/>
        <p:txBody>
          <a:bodyPr/>
          <a:lstStyle/>
          <a:p>
            <a:fld id="{2C3FFAA1-1EF5-4DC6-9FCC-7AAEF85B571D}" type="slidenum">
              <a:rPr lang="pt-BR" smtClean="0"/>
              <a:t>23</a:t>
            </a:fld>
            <a:endParaRPr lang="pt-BR" dirty="0"/>
          </a:p>
        </p:txBody>
      </p:sp>
    </p:spTree>
    <p:extLst>
      <p:ext uri="{BB962C8B-B14F-4D97-AF65-F5344CB8AC3E}">
        <p14:creationId xmlns:p14="http://schemas.microsoft.com/office/powerpoint/2010/main" val="2332023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15503"/>
          </a:xfrm>
        </p:spPr>
        <p:txBody>
          <a:bodyPr tIns="36000">
            <a:spAutoFit/>
          </a:bodyPr>
          <a:lstStyle>
            <a:lvl1pPr>
              <a:defRPr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10" name="Text Placeholder 9">
            <a:extLst>
              <a:ext uri="{FF2B5EF4-FFF2-40B4-BE49-F238E27FC236}">
                <a16:creationId xmlns:a16="http://schemas.microsoft.com/office/drawing/2014/main" id="{B9905E8E-005A-2CB8-D13C-50AD91C5419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D27B66C1-FD75-A0EF-8B95-8066D79B290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20375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tx1"/>
                </a:solidFill>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dirty="0">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0">
                <a:solidFill>
                  <a:schemeClr val="bg1">
                    <a:lumMod val="50000"/>
                  </a:schemeClr>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en-US" dirty="0"/>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06C657C2-7A1C-3045-846F-BF9040A9799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780078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7AE02BAD-169B-9600-190D-055B98A3F39B}"/>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49670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A974C4B8-0593-F4C6-AB5E-BB1F2F5CDF8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3BC16C1E-EFFE-E361-7E26-D57CFE14225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096080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9608DCF1-B21B-1CFD-921B-C6DF7663BD5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5" name="Slide Number Placeholder 5">
            <a:extLst>
              <a:ext uri="{FF2B5EF4-FFF2-40B4-BE49-F238E27FC236}">
                <a16:creationId xmlns:a16="http://schemas.microsoft.com/office/drawing/2014/main" id="{0051F108-462F-A688-07F5-2E4F69F334BA}"/>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24801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223F91DE-2EEB-6145-9C43-8C9F772377C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ED9E8F05-18E7-EAE8-2563-B0ECC9333F4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682828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6B35D23A-A5BA-807E-44EA-BB20A7B36AC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64554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dirty="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615D51FA-83B7-3D9C-02F7-3DCAFF876BF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99920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69173FFD-53DB-8FE7-70C0-0D77DB87303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514505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Text Placeholder 9">
            <a:extLst>
              <a:ext uri="{FF2B5EF4-FFF2-40B4-BE49-F238E27FC236}">
                <a16:creationId xmlns:a16="http://schemas.microsoft.com/office/drawing/2014/main" id="{11FB7138-AE4E-A89F-D9E1-862BA5C28391}"/>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2975E6D8-C1B5-A21A-3ACD-A37F03D4D9D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52726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178ED541-AFAE-FE15-53C6-8C0FA55BF36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543442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hasCustomPrompt="1"/>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7" name="Text Placeholder 9">
            <a:extLst>
              <a:ext uri="{FF2B5EF4-FFF2-40B4-BE49-F238E27FC236}">
                <a16:creationId xmlns:a16="http://schemas.microsoft.com/office/drawing/2014/main" id="{44A0BD1B-A7E0-E3B2-D28F-4B86FE4438F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74DF2D33-CDFD-5893-D88E-BBBA47CEEAFC}"/>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631108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4A9C5472-B66D-EA75-0E3A-1C5C5B7AC9E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5628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9" name="Text Placeholder 9">
            <a:extLst>
              <a:ext uri="{FF2B5EF4-FFF2-40B4-BE49-F238E27FC236}">
                <a16:creationId xmlns:a16="http://schemas.microsoft.com/office/drawing/2014/main" id="{C7787170-0E7B-063E-C6DD-4ABC63D5BC7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54D3FC43-3EE0-8BB2-95A7-F774DC676B8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775006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F226F1CA-1F49-9F45-E01D-D000AD2FB778}"/>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2" name="Slide Number Placeholder 5">
            <a:extLst>
              <a:ext uri="{FF2B5EF4-FFF2-40B4-BE49-F238E27FC236}">
                <a16:creationId xmlns:a16="http://schemas.microsoft.com/office/drawing/2014/main" id="{684645BD-7C07-8209-C144-3D3CA781DCB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41005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Em Branco">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76DA3269-2FA9-85F4-2CAE-0998A886C34C}"/>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7" name="Título 1">
            <a:extLst>
              <a:ext uri="{FF2B5EF4-FFF2-40B4-BE49-F238E27FC236}">
                <a16:creationId xmlns:a16="http://schemas.microsoft.com/office/drawing/2014/main" id="{664230EE-BFB0-16DC-8CC9-E557B69BA5DF}"/>
              </a:ext>
            </a:extLst>
          </p:cNvPr>
          <p:cNvSpPr>
            <a:spLocks noGrp="1"/>
          </p:cNvSpPr>
          <p:nvPr>
            <p:ph type="title" hasCustomPrompt="1"/>
          </p:nvPr>
        </p:nvSpPr>
        <p:spPr>
          <a:xfrm>
            <a:off x="6974958" y="3224354"/>
            <a:ext cx="4860395" cy="341632"/>
          </a:xfrm>
          <a:prstGeom prst="rect">
            <a:avLst/>
          </a:prstGeom>
        </p:spPr>
        <p:txBody>
          <a:bodyPr lIns="0" tIns="0" rIns="0" bIns="0" anchor="b" anchorCtr="0">
            <a:spAutoFit/>
          </a:bodyPr>
          <a:lstStyle>
            <a:lvl1pPr algn="r">
              <a:defRPr>
                <a:latin typeface="Source Serif Pro Black" panose="02040903050405020204" pitchFamily="18" charset="0"/>
                <a:ea typeface="Source Serif Pro Black" panose="02040903050405020204" pitchFamily="18" charset="0"/>
              </a:defRPr>
            </a:lvl1pPr>
          </a:lstStyle>
          <a:p>
            <a:r>
              <a:rPr lang="pt-BR" dirty="0"/>
              <a:t>Clique para editar o título</a:t>
            </a:r>
          </a:p>
        </p:txBody>
      </p:sp>
      <p:sp>
        <p:nvSpPr>
          <p:cNvPr id="9" name="Espaço Reservado para Texto 3">
            <a:extLst>
              <a:ext uri="{FF2B5EF4-FFF2-40B4-BE49-F238E27FC236}">
                <a16:creationId xmlns:a16="http://schemas.microsoft.com/office/drawing/2014/main" id="{9C0BEE34-7884-3D95-996B-284610609C47}"/>
              </a:ext>
            </a:extLst>
          </p:cNvPr>
          <p:cNvSpPr>
            <a:spLocks noGrp="1"/>
          </p:cNvSpPr>
          <p:nvPr>
            <p:ph type="body" sz="half" idx="2" hasCustomPrompt="1"/>
          </p:nvPr>
        </p:nvSpPr>
        <p:spPr>
          <a:xfrm>
            <a:off x="6971243" y="3593694"/>
            <a:ext cx="4860395" cy="406829"/>
          </a:xfrm>
          <a:prstGeom prst="rect">
            <a:avLst/>
          </a:prstGeom>
        </p:spPr>
        <p:txBody>
          <a:bodyPr lIns="0" tIns="108000" rIns="0" bIns="0">
            <a:spAutoFit/>
          </a:bodyPr>
          <a:lstStyle>
            <a:lvl1pPr marL="0" indent="0" algn="r">
              <a:buNone/>
              <a:defRPr sz="1800">
                <a:latin typeface="Source Serif Pro Light" panose="02040303050405020204" pitchFamily="18" charset="0"/>
                <a:ea typeface="Source Serif Pro Light" panose="020403030504050202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dirty="0"/>
              <a:t>Clique para editar os estilos de texto Mestres</a:t>
            </a:r>
          </a:p>
        </p:txBody>
      </p:sp>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0" y="0"/>
            <a:ext cx="6719888" cy="6858000"/>
          </a:xfrm>
          <a:prstGeom prst="rect">
            <a:avLst/>
          </a:prstGeom>
        </p:spPr>
        <p:txBody>
          <a:bodyPr anchor="ctr"/>
          <a:lstStyle>
            <a:lvl1pPr marL="0" indent="0" algn="ctr">
              <a:buNone/>
              <a:defRPr/>
            </a:lvl1pPr>
          </a:lstStyle>
          <a:p>
            <a:r>
              <a:rPr lang="pt-BR" dirty="0"/>
              <a:t>Clique aqui para adicionar a imagem</a:t>
            </a:r>
          </a:p>
        </p:txBody>
      </p:sp>
    </p:spTree>
    <p:extLst>
      <p:ext uri="{BB962C8B-B14F-4D97-AF65-F5344CB8AC3E}">
        <p14:creationId xmlns:p14="http://schemas.microsoft.com/office/powerpoint/2010/main" val="2332798495"/>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5" pos="7453" userDrawn="1">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9F1A43C5-D886-9238-2803-13919482425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1" y="0"/>
            <a:ext cx="7836195" cy="6858000"/>
          </a:xfrm>
          <a:prstGeom prst="rect">
            <a:avLst/>
          </a:prstGeom>
        </p:spPr>
        <p:txBody>
          <a:bodyPr anchor="ctr"/>
          <a:lstStyle>
            <a:lvl1pPr marL="0" indent="0" algn="ctr">
              <a:buNone/>
              <a:defRPr/>
            </a:lvl1pPr>
          </a:lstStyle>
          <a:p>
            <a:r>
              <a:rPr lang="pt-BR" dirty="0"/>
              <a:t>Clique aqui para adicionar a imagem</a:t>
            </a:r>
          </a:p>
        </p:txBody>
      </p:sp>
    </p:spTree>
    <p:extLst>
      <p:ext uri="{BB962C8B-B14F-4D97-AF65-F5344CB8AC3E}">
        <p14:creationId xmlns:p14="http://schemas.microsoft.com/office/powerpoint/2010/main" val="3411061493"/>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5" pos="7453" userDrawn="1">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Em Branco">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447DCFE5-A8C6-62CC-8066-FE02B0987572}"/>
              </a:ext>
            </a:extLst>
          </p:cNvPr>
          <p:cNvPicPr>
            <a:picLocks noChangeAspect="1"/>
          </p:cNvPicPr>
          <p:nvPr userDrawn="1"/>
        </p:nvPicPr>
        <p:blipFill>
          <a:blip r:embed="rId2"/>
          <a:stretch>
            <a:fillRect/>
          </a:stretch>
        </p:blipFill>
        <p:spPr>
          <a:xfrm>
            <a:off x="616609" y="6122764"/>
            <a:ext cx="1456730" cy="496612"/>
          </a:xfrm>
          <a:prstGeom prst="rect">
            <a:avLst/>
          </a:prstGeom>
        </p:spPr>
      </p:pic>
      <p:grpSp>
        <p:nvGrpSpPr>
          <p:cNvPr id="3" name="Agrupar 2">
            <a:extLst>
              <a:ext uri="{FF2B5EF4-FFF2-40B4-BE49-F238E27FC236}">
                <a16:creationId xmlns:a16="http://schemas.microsoft.com/office/drawing/2014/main" id="{40E8B2BC-27DC-C684-05B2-85725AFD006F}"/>
              </a:ext>
            </a:extLst>
          </p:cNvPr>
          <p:cNvGrpSpPr/>
          <p:nvPr userDrawn="1"/>
        </p:nvGrpSpPr>
        <p:grpSpPr>
          <a:xfrm rot="5400000">
            <a:off x="3385901" y="6142343"/>
            <a:ext cx="256309" cy="1175008"/>
            <a:chOff x="11935692" y="2841497"/>
            <a:chExt cx="256309" cy="1175008"/>
          </a:xfrm>
        </p:grpSpPr>
        <p:sp>
          <p:nvSpPr>
            <p:cNvPr id="6" name="CaixaDeTexto 5">
              <a:extLst>
                <a:ext uri="{FF2B5EF4-FFF2-40B4-BE49-F238E27FC236}">
                  <a16:creationId xmlns:a16="http://schemas.microsoft.com/office/drawing/2014/main" id="{F9804874-54C1-0301-524E-A2EB68FF4D73}"/>
                </a:ext>
              </a:extLst>
            </p:cNvPr>
            <p:cNvSpPr txBox="1"/>
            <p:nvPr userDrawn="1"/>
          </p:nvSpPr>
          <p:spPr>
            <a:xfrm rot="16200000">
              <a:off x="11463604" y="3313585"/>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lumMod val="75000"/>
                    </a:schemeClr>
                  </a:solidFill>
                  <a:latin typeface="Source Serif Pro" panose="02040603050405020204" pitchFamily="18" charset="0"/>
                  <a:ea typeface="Source Serif Pro" panose="02040603050405020204" pitchFamily="18" charset="0"/>
                  <a:cs typeface="Arial" panose="020B0604020202020204" pitchFamily="34" charset="0"/>
                </a:rPr>
                <a:t>Confidencial </a:t>
              </a:r>
            </a:p>
          </p:txBody>
        </p:sp>
        <p:sp>
          <p:nvSpPr>
            <p:cNvPr id="8" name="Retângulo: Cantos Arredondados 7">
              <a:extLst>
                <a:ext uri="{FF2B5EF4-FFF2-40B4-BE49-F238E27FC236}">
                  <a16:creationId xmlns:a16="http://schemas.microsoft.com/office/drawing/2014/main" id="{72216AEC-219B-FD9B-8587-EE6AE50EB23F}"/>
                </a:ext>
              </a:extLst>
            </p:cNvPr>
            <p:cNvSpPr/>
            <p:nvPr userDrawn="1"/>
          </p:nvSpPr>
          <p:spPr>
            <a:xfrm>
              <a:off x="11935693" y="2878796"/>
              <a:ext cx="256308" cy="1100408"/>
            </a:xfrm>
            <a:prstGeom prst="roundRect">
              <a:avLst>
                <a:gd name="adj" fmla="val 6251"/>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4355805" y="0"/>
            <a:ext cx="7836195" cy="6858000"/>
          </a:xfrm>
          <a:prstGeom prst="rect">
            <a:avLst/>
          </a:prstGeom>
        </p:spPr>
        <p:txBody>
          <a:bodyPr anchor="ctr"/>
          <a:lstStyle>
            <a:lvl1pPr marL="0" indent="0" algn="ctr">
              <a:buNone/>
              <a:defRPr/>
            </a:lvl1pPr>
          </a:lstStyle>
          <a:p>
            <a:r>
              <a:rPr lang="pt-BR" dirty="0"/>
              <a:t>Clique aqui para adicionar a imagem</a:t>
            </a:r>
          </a:p>
        </p:txBody>
      </p:sp>
    </p:spTree>
    <p:extLst>
      <p:ext uri="{BB962C8B-B14F-4D97-AF65-F5344CB8AC3E}">
        <p14:creationId xmlns:p14="http://schemas.microsoft.com/office/powerpoint/2010/main" val="4107097676"/>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2740" userDrawn="1">
          <p15:clr>
            <a:srgbClr val="F26B43"/>
          </p15:clr>
        </p15:guide>
        <p15:guide id="5" pos="7453" userDrawn="1">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0440510-38A9-4A02-4487-6BC8B1AE1246}"/>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80D6AC8-E4AE-CD51-55DF-804E8731480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129238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3" name="Text Placeholder 9">
            <a:extLst>
              <a:ext uri="{FF2B5EF4-FFF2-40B4-BE49-F238E27FC236}">
                <a16:creationId xmlns:a16="http://schemas.microsoft.com/office/drawing/2014/main" id="{E6DA0707-99DC-C24B-BA3F-2772F1735AFA}"/>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Picture Placeholder 8">
            <a:extLst>
              <a:ext uri="{FF2B5EF4-FFF2-40B4-BE49-F238E27FC236}">
                <a16:creationId xmlns:a16="http://schemas.microsoft.com/office/drawing/2014/main" id="{2C0CB545-C86A-3D11-62FE-0D2053AC56DE}"/>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5" name="Slide Number Placeholder 5">
            <a:extLst>
              <a:ext uri="{FF2B5EF4-FFF2-40B4-BE49-F238E27FC236}">
                <a16:creationId xmlns:a16="http://schemas.microsoft.com/office/drawing/2014/main" id="{B5D1F5AD-6E2A-418C-C565-7D5F82216B91}"/>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874905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0440510-38A9-4A02-4487-6BC8B1AE1246}"/>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80D6AC8-E4AE-CD51-55DF-804E8731480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963688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388BF154-F4A2-4EC2-5E14-459D576E1FB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4640634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74413573-19A6-2AA6-F1E2-B3A4DDA7EDB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01950F05-8B72-30A7-31D4-6D9BAA42601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38474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152B27D2-2EAA-4423-1B85-C1474B005848}"/>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251AC689-18B7-CC33-107F-70C8FF9B9F1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00238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6"/>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EBCD0441-4FEB-AE96-90B4-4EB7D9A3FC1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437336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A5883D3-8332-303A-4BB6-8AD942B7A6D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6942381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dirty="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965F806B-906D-BE52-B8BD-1B674B71BFBC}"/>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8847579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AE0DA839-1BCF-2D6A-D4D3-1ACA7EC255F8}"/>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805861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8A53A76C-01D0-6204-1DE0-96B349D508F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B2E67901-E557-A25C-929B-2E01FF5E441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117007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FFA52A5B-FFCA-C052-CC91-1053E6A8D85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3988431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2710B361-38E0-B068-AD6A-B026D54970A4}"/>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9E766824-99D2-423E-C619-7A7B577C1BD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5229862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E93455EB-15D9-E625-8AA8-FB477F3532F8}"/>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9910470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1B85A6B2-A13E-C879-9FD4-42467385C171}"/>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6CF51037-E01B-028D-BA18-C95D5EA7D48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2942520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1D40385C-4D9E-235C-51CE-46248B810F2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B9E3E5D8-D8D5-B004-F5CB-256BC0B5A20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560800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3" name="Text Placeholder 9">
            <a:extLst>
              <a:ext uri="{FF2B5EF4-FFF2-40B4-BE49-F238E27FC236}">
                <a16:creationId xmlns:a16="http://schemas.microsoft.com/office/drawing/2014/main" id="{95259ACB-ED64-535C-3E57-DADB2B32BB9D}"/>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Picture Placeholder 8">
            <a:extLst>
              <a:ext uri="{FF2B5EF4-FFF2-40B4-BE49-F238E27FC236}">
                <a16:creationId xmlns:a16="http://schemas.microsoft.com/office/drawing/2014/main" id="{D427F522-C03C-99D5-1E6D-0E7F858C0597}"/>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5" name="Slide Number Placeholder 5">
            <a:extLst>
              <a:ext uri="{FF2B5EF4-FFF2-40B4-BE49-F238E27FC236}">
                <a16:creationId xmlns:a16="http://schemas.microsoft.com/office/drawing/2014/main" id="{87E4CE12-F149-95D7-0501-D4E117B4A8A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5463795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EACFA0E5-6E7B-8E11-21D4-72CAAB2A61C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FF702EF-B083-4FC6-5D82-1479326E67E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6438451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84D49EF5-F096-7FB9-174B-ECDCD2BA365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44200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EF0A7909-6DFB-D0D5-5DFF-2015EAEC046D}"/>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B47B9B41-3530-E883-2545-F5A5818D0591}"/>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2095540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DCFE2EDF-8C48-3BD1-6F14-5204780FBE56}"/>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BE33A9E2-E658-85E1-90A6-6BAC3BA7709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879938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41F61319-0589-6FF0-DBEA-45CFECEFE615}"/>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D7317D95-05FE-E101-89BF-43C08D4BF6C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1002477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65E3CECC-DB82-DE5E-88CD-D37E38E24C9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3057415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dirty="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A7534DA6-46A0-D70B-D69F-3D1F04F6C9FC}"/>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0831743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AD4217BF-893B-5A0C-A67A-13A43D3EC51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856838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1557A35C-ED69-D84B-2376-728B37FD9D0E}"/>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813FC05C-9EB0-91E8-A059-0098B27DB72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7892475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C916E856-EED2-E0B4-8503-A8D74BBB582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9936564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EFB5C7FA-FA21-5D6B-ED9C-229EEA611B8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ABA551FD-1CE3-2167-A3A8-EA15338BFB5A}"/>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9984967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1EF3912F-CD58-CF0F-1D96-1E92ED87A45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5295813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C9BAE278-82BE-B410-C93D-5D5050227AE5}"/>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5" name="Slide Number Placeholder 5">
            <a:extLst>
              <a:ext uri="{FF2B5EF4-FFF2-40B4-BE49-F238E27FC236}">
                <a16:creationId xmlns:a16="http://schemas.microsoft.com/office/drawing/2014/main" id="{2390EB8F-8E80-C0C3-CF4D-E7CB3C133881}"/>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314552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F32EA934-73E7-F42B-AE43-761DE4604EC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A4926DB3-CBA5-D4E8-D60D-FDF21AC00E7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4677896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3" name="Text Placeholder 9">
            <a:extLst>
              <a:ext uri="{FF2B5EF4-FFF2-40B4-BE49-F238E27FC236}">
                <a16:creationId xmlns:a16="http://schemas.microsoft.com/office/drawing/2014/main" id="{9D7BFA1C-42AF-E218-5F54-B32365C3860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Picture Placeholder 8">
            <a:extLst>
              <a:ext uri="{FF2B5EF4-FFF2-40B4-BE49-F238E27FC236}">
                <a16:creationId xmlns:a16="http://schemas.microsoft.com/office/drawing/2014/main" id="{ECC40FAE-122E-C116-1572-5FE0D3D12979}"/>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5" name="Slide Number Placeholder 5">
            <a:extLst>
              <a:ext uri="{FF2B5EF4-FFF2-40B4-BE49-F238E27FC236}">
                <a16:creationId xmlns:a16="http://schemas.microsoft.com/office/drawing/2014/main" id="{51443632-1681-0E28-4EF9-BBBA10CE59E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469860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E7E00651-9D98-D3B9-7FFA-79A63DD7788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799F8263-E068-BD7A-E15A-35DE0E6AFAA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3679964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13FEFAAF-ECA7-2D59-3D9A-8F2C27F9DA9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3530795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6274D4FE-ABA0-119A-DFC7-7D820378C78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69CB54E6-C758-077D-B897-B0C573D86A0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0994856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7B174C37-CDD2-C46A-0CD4-E1802477A41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EC985698-A893-DFB9-19DB-059AFE85144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7215624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1172F50C-B44C-8112-40A2-77C275C0A88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3B331CDC-8B55-4CB0-C222-B29BEE8097E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8790795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7D47583A-61BA-F195-7C58-704E27BC03D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9440585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dirty="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9B75077D-E2F7-5905-B6A0-277F3C5846C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5697252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4D69A500-BD65-D613-4987-57029D6E6DA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931879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25D049CF-18E6-5269-399A-94D4365E1E6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A7C755A4-0D8B-602E-E5DF-2551E227487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85008002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CB3A9A97-270C-15D0-C9AC-64196F4590D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6671251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57760116-9E59-33FC-6BC7-49E0ECA300FD}"/>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A33C1D1A-A222-ABAE-C671-A5BA30CC913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8609551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324B260D-9419-4765-5BA6-B9CED0E18A54}"/>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5887909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2F1DE075-A5E1-000B-46FA-B32E12F4D165}"/>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FF0C8B24-CD3B-BE29-3EBE-A6351AC4C74B}"/>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561550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0CEB7816-3878-A81B-1BD9-712AECF6A51A}"/>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B526B270-0FAA-B824-642A-B407D2B68C9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2457561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22609D6E-6566-73A1-3287-69F24E735DB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5BBB4323-1AB9-BF74-8A28-0D2C1F56059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39420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2.xml"/><Relationship Id="rId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image" Target="../media/image1.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image" Target="../media/image2.svg"/><Relationship Id="rId2" Type="http://schemas.openxmlformats.org/officeDocument/2006/relationships/slideLayout" Target="../slideLayouts/slideLayout21.xml"/><Relationship Id="rId16" Type="http://schemas.openxmlformats.org/officeDocument/2006/relationships/theme" Target="../theme/theme3.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image" Target="../media/image1.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image" Target="../media/image2.svg"/><Relationship Id="rId2" Type="http://schemas.openxmlformats.org/officeDocument/2006/relationships/slideLayout" Target="../slideLayouts/slideLayout36.xml"/><Relationship Id="rId16" Type="http://schemas.openxmlformats.org/officeDocument/2006/relationships/theme" Target="../theme/theme4.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image" Target="../media/image1.pn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image" Target="../media/image2.svg"/><Relationship Id="rId2" Type="http://schemas.openxmlformats.org/officeDocument/2006/relationships/slideLayout" Target="../slideLayouts/slideLayout51.xml"/><Relationship Id="rId16" Type="http://schemas.openxmlformats.org/officeDocument/2006/relationships/theme" Target="../theme/theme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6.xml"/><Relationship Id="rId1" Type="http://schemas.openxmlformats.org/officeDocument/2006/relationships/slideLayout" Target="../slideLayouts/slideLayout65.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BD9374BB-2F6F-BCCF-3AF9-A8D73D65F247}"/>
              </a:ext>
            </a:extLst>
          </p:cNvPr>
          <p:cNvPicPr>
            <a:picLocks noChangeAspect="1"/>
          </p:cNvPicPr>
          <p:nvPr userDrawn="1"/>
        </p:nvPicPr>
        <p:blipFill>
          <a:blip r:embed="rId17"/>
          <a:stretch>
            <a:fillRect/>
          </a:stretch>
        </p:blipFill>
        <p:spPr>
          <a:xfrm>
            <a:off x="10775561" y="6179422"/>
            <a:ext cx="1079890" cy="345903"/>
          </a:xfrm>
          <a:prstGeom prst="rect">
            <a:avLst/>
          </a:prstGeom>
        </p:spPr>
      </p:pic>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dirty="0">
              <a:latin typeface="Poppins Light" panose="00000400000000000000" pitchFamily="2" charset="0"/>
              <a:cs typeface="Poppins Light" panose="00000400000000000000" pitchFamily="2" charset="0"/>
            </a:endParaRPr>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481969" y="307275"/>
            <a:ext cx="354839" cy="303818"/>
          </a:xfrm>
          <a:prstGeom prst="rect">
            <a:avLst/>
          </a:prstGeom>
        </p:spPr>
      </p:pic>
      <p:sp>
        <p:nvSpPr>
          <p:cNvPr id="22" name="CaixaDeTexto 18">
            <a:extLst>
              <a:ext uri="{FF2B5EF4-FFF2-40B4-BE49-F238E27FC236}">
                <a16:creationId xmlns:a16="http://schemas.microsoft.com/office/drawing/2014/main" id="{39452A7E-8FC8-CAF9-7963-10B359F32A27}"/>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150373" cy="153888"/>
          </a:xfrm>
          <a:prstGeom prst="rect">
            <a:avLst/>
          </a:prstGeom>
          <a:noFill/>
        </p:spPr>
        <p:txBody>
          <a:bodyPr wrap="square" lIns="0" tIns="0" rIns="0" bIns="0">
            <a:spAutoFit/>
          </a:bodyPr>
          <a:lstStyle/>
          <a:p>
            <a:r>
              <a:rPr lang="pt-BR" sz="1000" dirty="0">
                <a:solidFill>
                  <a:srgbClr val="222F44"/>
                </a:solidFill>
                <a:latin typeface="Poppins Light" panose="00000400000000000000" pitchFamily="2" charset="0"/>
                <a:ea typeface="Source Serif Pro" panose="02040603050405020204" pitchFamily="18" charset="0"/>
                <a:cs typeface="Poppins Light" panose="00000400000000000000" pitchFamily="2" charset="0"/>
              </a:rPr>
              <a:t>Introduction</a:t>
            </a:r>
          </a:p>
        </p:txBody>
      </p:sp>
    </p:spTree>
    <p:extLst>
      <p:ext uri="{BB962C8B-B14F-4D97-AF65-F5344CB8AC3E}">
        <p14:creationId xmlns:p14="http://schemas.microsoft.com/office/powerpoint/2010/main" val="3733399639"/>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869" r:id="rId3"/>
    <p:sldLayoutId id="2147483791" r:id="rId4"/>
    <p:sldLayoutId id="2147483792" r:id="rId5"/>
    <p:sldLayoutId id="2147483793" r:id="rId6"/>
    <p:sldLayoutId id="2147483849" r:id="rId7"/>
    <p:sldLayoutId id="2147483850" r:id="rId8"/>
    <p:sldLayoutId id="2147483851" r:id="rId9"/>
    <p:sldLayoutId id="2147483794" r:id="rId10"/>
    <p:sldLayoutId id="2147483834" r:id="rId11"/>
    <p:sldLayoutId id="2147483795" r:id="rId12"/>
    <p:sldLayoutId id="2147483852" r:id="rId13"/>
    <p:sldLayoutId id="2147483796" r:id="rId14"/>
    <p:sldLayoutId id="2147483797" r:id="rId15"/>
  </p:sldLayoutIdLst>
  <p:txStyles>
    <p:title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2"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B079893-B9E4-1176-99FF-1624625BEE55}"/>
              </a:ext>
            </a:extLst>
          </p:cNvPr>
          <p:cNvSpPr>
            <a:spLocks noGrp="1"/>
          </p:cNvSpPr>
          <p:nvPr>
            <p:ph type="title"/>
          </p:nvPr>
        </p:nvSpPr>
        <p:spPr>
          <a:xfrm>
            <a:off x="719229" y="886455"/>
            <a:ext cx="11124471" cy="650809"/>
          </a:xfrm>
          <a:prstGeom prst="rect">
            <a:avLst/>
          </a:prstGeom>
        </p:spPr>
        <p:txBody>
          <a:bodyPr vert="horz" lIns="0" tIns="0" rIns="0" bIns="0" rtlCol="0" anchor="t" anchorCtr="0">
            <a:noAutofit/>
          </a:bodyPr>
          <a:lstStyle/>
          <a:p>
            <a:pPr lvl="0"/>
            <a:r>
              <a:rPr lang="pt-BR" dirty="0"/>
              <a:t>Clique para editar o título Mestre</a:t>
            </a:r>
          </a:p>
        </p:txBody>
      </p:sp>
      <p:sp>
        <p:nvSpPr>
          <p:cNvPr id="3" name="Espaço Reservado para Texto 2">
            <a:extLst>
              <a:ext uri="{FF2B5EF4-FFF2-40B4-BE49-F238E27FC236}">
                <a16:creationId xmlns:a16="http://schemas.microsoft.com/office/drawing/2014/main" id="{69FF693B-2A9F-D90C-4F61-F18B8D466A34}"/>
              </a:ext>
            </a:extLst>
          </p:cNvPr>
          <p:cNvSpPr>
            <a:spLocks noGrp="1"/>
          </p:cNvSpPr>
          <p:nvPr>
            <p:ph type="body" idx="1"/>
          </p:nvPr>
        </p:nvSpPr>
        <p:spPr>
          <a:xfrm>
            <a:off x="719138" y="1657026"/>
            <a:ext cx="11112500" cy="4361187"/>
          </a:xfrm>
          <a:prstGeom prst="rect">
            <a:avLst/>
          </a:prstGeom>
        </p:spPr>
        <p:txBody>
          <a:bodyPr vert="horz" lIns="0" tIns="0" rIns="0" bIns="0" rtlCol="0">
            <a:noAutofit/>
          </a:bodyPr>
          <a:lstStyle/>
          <a:p>
            <a:pPr lvl="0"/>
            <a:r>
              <a:rPr lang="pt-BR" dirty="0"/>
              <a:t>Clique para editar os estilos de texto Mestres</a:t>
            </a:r>
          </a:p>
          <a:p>
            <a:pPr lvl="1"/>
            <a:r>
              <a:rPr lang="pt-BR" dirty="0"/>
              <a:t>Segundo nível</a:t>
            </a:r>
          </a:p>
          <a:p>
            <a:pPr marL="0" lvl="2" indent="0">
              <a:buFont typeface="Source Sans Pro" panose="020B0503030403020204" pitchFamily="34" charset="0"/>
              <a:buNone/>
            </a:pPr>
            <a:r>
              <a:rPr lang="pt-BR" dirty="0"/>
              <a:t>Terceiro nível</a:t>
            </a:r>
          </a:p>
        </p:txBody>
      </p:sp>
      <p:sp>
        <p:nvSpPr>
          <p:cNvPr id="5" name="Footer Placeholder 4">
            <a:extLst>
              <a:ext uri="{FF2B5EF4-FFF2-40B4-BE49-F238E27FC236}">
                <a16:creationId xmlns:a16="http://schemas.microsoft.com/office/drawing/2014/main" id="{F532EEEA-C6F7-CA57-75F6-325390A70D1F}"/>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pt-BR" dirty="0"/>
          </a:p>
        </p:txBody>
      </p:sp>
    </p:spTree>
    <p:extLst>
      <p:ext uri="{BB962C8B-B14F-4D97-AF65-F5344CB8AC3E}">
        <p14:creationId xmlns:p14="http://schemas.microsoft.com/office/powerpoint/2010/main" val="90961787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874" r:id="rId4"/>
  </p:sldLayoutIdLst>
  <p:hf hdr="0" dt="0"/>
  <p:txStyles>
    <p:titleStyle>
      <a:lvl1pPr algn="l" defTabSz="914400" rtl="0" eaLnBrk="1" latinLnBrk="0" hangingPunct="1">
        <a:lnSpc>
          <a:spcPct val="90000"/>
        </a:lnSpc>
        <a:spcBef>
          <a:spcPct val="0"/>
        </a:spcBef>
        <a:buNone/>
        <a:defRPr lang="pt-BR"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lang="pt-BR"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pt-BR"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erif Pro" panose="02040603050405020204" pitchFamily="18" charset="0"/>
        <a:buChar char="−"/>
        <a:defRPr lang="pt-BR"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453" userDrawn="1">
          <p15:clr>
            <a:srgbClr val="F26B43"/>
          </p15:clr>
        </p15:guide>
        <p15:guide id="4" orient="horz" pos="235" userDrawn="1">
          <p15:clr>
            <a:srgbClr val="F26B43"/>
          </p15:clr>
        </p15:guide>
        <p15:guide id="5" orient="horz" pos="4088" userDrawn="1">
          <p15:clr>
            <a:srgbClr val="F26B43"/>
          </p15:clr>
        </p15:guide>
        <p15:guide id="6" pos="7453" userDrawn="1">
          <p15:clr>
            <a:srgbClr val="F26B43"/>
          </p15:clr>
        </p15:guide>
        <p15:guide id="7" orient="horz" pos="377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pt-BR" dirty="0"/>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t>Investment Thesis</a:t>
            </a:r>
          </a:p>
        </p:txBody>
      </p:sp>
      <p:sp>
        <p:nvSpPr>
          <p:cNvPr id="9" name="CaixaDeTexto 18">
            <a:extLst>
              <a:ext uri="{FF2B5EF4-FFF2-40B4-BE49-F238E27FC236}">
                <a16:creationId xmlns:a16="http://schemas.microsoft.com/office/drawing/2014/main" id="{119E97E0-AA8A-8FEB-CAE4-CDB39635132F}"/>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sp>
        <p:nvSpPr>
          <p:cNvPr id="10" name="Slide Number Placeholder 5">
            <a:extLst>
              <a:ext uri="{FF2B5EF4-FFF2-40B4-BE49-F238E27FC236}">
                <a16:creationId xmlns:a16="http://schemas.microsoft.com/office/drawing/2014/main" id="{398FDFC5-304C-1663-EBC8-C4EF6E916F9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0FC98BEC-DA0F-7611-DCDC-67D26FE871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468AC536-FC02-4BA4-19F0-9BB7897FD658}"/>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0215547"/>
      </p:ext>
    </p:extLst>
  </p:cSld>
  <p:clrMap bg1="lt1" tx1="dk1" bg2="lt2" tx2="dk2" accent1="accent1" accent2="accent2" accent3="accent3" accent4="accent4" accent5="accent5" accent6="accent6" hlink="hlink" folHlink="folHlink"/>
  <p:sldLayoutIdLst>
    <p:sldLayoutId id="2147483783" r:id="rId1"/>
    <p:sldLayoutId id="2147483775" r:id="rId2"/>
    <p:sldLayoutId id="2147483870" r:id="rId3"/>
    <p:sldLayoutId id="2147483784" r:id="rId4"/>
    <p:sldLayoutId id="2147483785" r:id="rId5"/>
    <p:sldLayoutId id="2147483786" r:id="rId6"/>
    <p:sldLayoutId id="2147483853" r:id="rId7"/>
    <p:sldLayoutId id="2147483854" r:id="rId8"/>
    <p:sldLayoutId id="2147483855" r:id="rId9"/>
    <p:sldLayoutId id="2147483787" r:id="rId10"/>
    <p:sldLayoutId id="2147483835" r:id="rId11"/>
    <p:sldLayoutId id="2147483777" r:id="rId12"/>
    <p:sldLayoutId id="2147483856" r:id="rId13"/>
    <p:sldLayoutId id="2147483773" r:id="rId14"/>
    <p:sldLayoutId id="2147483778"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4" userDrawn="1">
          <p15:clr>
            <a:srgbClr val="F26B43"/>
          </p15:clr>
        </p15:guide>
        <p15:guide id="2" pos="3953" userDrawn="1">
          <p15:clr>
            <a:srgbClr val="F26B43"/>
          </p15:clr>
        </p15:guide>
        <p15:guide id="3" orient="horz" pos="232" userDrawn="1">
          <p15:clr>
            <a:srgbClr val="F26B43"/>
          </p15:clr>
        </p15:guide>
        <p15:guide id="4" orient="horz" pos="481" userDrawn="1">
          <p15:clr>
            <a:srgbClr val="F26B43"/>
          </p15:clr>
        </p15:guide>
        <p15:guide id="5" pos="461" userDrawn="1">
          <p15:clr>
            <a:srgbClr val="F26B43"/>
          </p15:clr>
        </p15:guide>
        <p15:guide id="6" orient="horz" pos="4088" userDrawn="1">
          <p15:clr>
            <a:srgbClr val="F26B43"/>
          </p15:clr>
        </p15:guide>
        <p15:guide id="7" pos="7455" userDrawn="1">
          <p15:clr>
            <a:srgbClr val="F26B43"/>
          </p15:clr>
        </p15:guide>
        <p15:guide id="9" orient="horz" pos="914" userDrawn="1">
          <p15:clr>
            <a:srgbClr val="F26B43"/>
          </p15:clr>
        </p15:guide>
        <p15:guide id="10" orient="horz" pos="377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dirty="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t>Company Overview</a:t>
            </a:r>
          </a:p>
        </p:txBody>
      </p:sp>
      <p:sp>
        <p:nvSpPr>
          <p:cNvPr id="9" name="CaixaDeTexto 18">
            <a:extLst>
              <a:ext uri="{FF2B5EF4-FFF2-40B4-BE49-F238E27FC236}">
                <a16:creationId xmlns:a16="http://schemas.microsoft.com/office/drawing/2014/main" id="{5B9EC76B-997A-6705-CEA5-B395C651E602}"/>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sp>
        <p:nvSpPr>
          <p:cNvPr id="10" name="Slide Number Placeholder 5">
            <a:extLst>
              <a:ext uri="{FF2B5EF4-FFF2-40B4-BE49-F238E27FC236}">
                <a16:creationId xmlns:a16="http://schemas.microsoft.com/office/drawing/2014/main" id="{9DF4F0E6-D413-1D3C-F107-50761DAECBA8}"/>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A6F744FF-1BEE-F10D-2560-36FE38492B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7B9D4318-5DBB-B0ED-19AD-E52D669E85FC}"/>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128438514"/>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71" r:id="rId3"/>
    <p:sldLayoutId id="2147483811" r:id="rId4"/>
    <p:sldLayoutId id="2147483812" r:id="rId5"/>
    <p:sldLayoutId id="2147483813" r:id="rId6"/>
    <p:sldLayoutId id="2147483857" r:id="rId7"/>
    <p:sldLayoutId id="2147483858" r:id="rId8"/>
    <p:sldLayoutId id="2147483859" r:id="rId9"/>
    <p:sldLayoutId id="2147483814" r:id="rId10"/>
    <p:sldLayoutId id="2147483836" r:id="rId11"/>
    <p:sldLayoutId id="2147483815" r:id="rId12"/>
    <p:sldLayoutId id="2147483860" r:id="rId13"/>
    <p:sldLayoutId id="2147483816" r:id="rId14"/>
    <p:sldLayoutId id="2147483817"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0" userDrawn="1">
          <p15:clr>
            <a:srgbClr val="F26B43"/>
          </p15:clr>
        </p15:guide>
        <p15:guide id="9" orient="horz" pos="91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dirty="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t>Financial Information</a:t>
            </a:r>
          </a:p>
        </p:txBody>
      </p:sp>
      <p:sp>
        <p:nvSpPr>
          <p:cNvPr id="9" name="CaixaDeTexto 18">
            <a:extLst>
              <a:ext uri="{FF2B5EF4-FFF2-40B4-BE49-F238E27FC236}">
                <a16:creationId xmlns:a16="http://schemas.microsoft.com/office/drawing/2014/main" id="{C38150DE-339C-26F4-9A5C-7E0522D820DD}"/>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sp>
        <p:nvSpPr>
          <p:cNvPr id="10" name="Slide Number Placeholder 5">
            <a:extLst>
              <a:ext uri="{FF2B5EF4-FFF2-40B4-BE49-F238E27FC236}">
                <a16:creationId xmlns:a16="http://schemas.microsoft.com/office/drawing/2014/main" id="{C20BB81C-D310-86AD-46B2-24AFEC724E8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0DCB3415-D703-8016-E64F-0C597C13D2F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9866F8FD-31B8-BDBF-8FB9-82D1E147E979}"/>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1526012034"/>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72" r:id="rId3"/>
    <p:sldLayoutId id="2147483801" r:id="rId4"/>
    <p:sldLayoutId id="2147483802" r:id="rId5"/>
    <p:sldLayoutId id="2147483803" r:id="rId6"/>
    <p:sldLayoutId id="2147483861" r:id="rId7"/>
    <p:sldLayoutId id="2147483862" r:id="rId8"/>
    <p:sldLayoutId id="2147483863" r:id="rId9"/>
    <p:sldLayoutId id="2147483804" r:id="rId10"/>
    <p:sldLayoutId id="2147483837" r:id="rId11"/>
    <p:sldLayoutId id="2147483805" r:id="rId12"/>
    <p:sldLayoutId id="2147483864" r:id="rId13"/>
    <p:sldLayoutId id="2147483806" r:id="rId14"/>
    <p:sldLayoutId id="2147483807"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dirty="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9" name="CaixaDeTexto 18">
            <a:extLst>
              <a:ext uri="{FF2B5EF4-FFF2-40B4-BE49-F238E27FC236}">
                <a16:creationId xmlns:a16="http://schemas.microsoft.com/office/drawing/2014/main" id="{F75C951C-54BB-F68C-30DE-23175CE689EC}"/>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sp>
        <p:nvSpPr>
          <p:cNvPr id="10" name="Slide Number Placeholder 5">
            <a:extLst>
              <a:ext uri="{FF2B5EF4-FFF2-40B4-BE49-F238E27FC236}">
                <a16:creationId xmlns:a16="http://schemas.microsoft.com/office/drawing/2014/main" id="{C434FA5D-04B7-54C5-5052-EDD0B098C46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F4992392-B76B-2298-5C54-C350D092533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0DAECF39-5BEC-0FC1-97E1-CA6EDBBC6391}"/>
              </a:ext>
            </a:extLst>
          </p:cNvPr>
          <p:cNvPicPr>
            <a:picLocks noChangeAspect="1"/>
          </p:cNvPicPr>
          <p:nvPr userDrawn="1"/>
        </p:nvPicPr>
        <p:blipFill>
          <a:blip r:embed="rId4"/>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675289825"/>
      </p:ext>
    </p:extLst>
  </p:cSld>
  <p:clrMap bg1="lt1" tx1="dk1" bg2="lt2" tx2="dk2" accent1="accent1" accent2="accent2" accent3="accent3" accent4="accent4" accent5="accent5" accent6="accent6" hlink="hlink" folHlink="folHlink"/>
  <p:sldLayoutIdLst>
    <p:sldLayoutId id="2147483833" r:id="rId1"/>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5.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notesSlide" Target="../notesSlides/notesSlide4.xml"/><Relationship Id="rId7" Type="http://schemas.openxmlformats.org/officeDocument/2006/relationships/image" Target="../media/image9.svg"/><Relationship Id="rId12" Type="http://schemas.openxmlformats.org/officeDocument/2006/relationships/image" Target="../media/image11.sv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8.png"/><Relationship Id="rId11" Type="http://schemas.microsoft.com/office/2007/relationships/hdphoto" Target="../media/hdphoto1.wdp"/><Relationship Id="rId5" Type="http://schemas.openxmlformats.org/officeDocument/2006/relationships/image" Target="../media/image7.sv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6.xml"/><Relationship Id="rId7" Type="http://schemas.openxmlformats.org/officeDocument/2006/relationships/image" Target="../media/image14.png"/><Relationship Id="rId12" Type="http://schemas.openxmlformats.org/officeDocument/2006/relationships/image" Target="../media/image17.png"/><Relationship Id="rId2" Type="http://schemas.openxmlformats.org/officeDocument/2006/relationships/slideLayout" Target="../slideLayouts/slideLayout21.xml"/><Relationship Id="rId1" Type="http://schemas.openxmlformats.org/officeDocument/2006/relationships/tags" Target="../tags/tag5.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chart" Target="../charts/chart2.xml"/><Relationship Id="rId10" Type="http://schemas.microsoft.com/office/2007/relationships/hdphoto" Target="../media/hdphoto1.wdp"/><Relationship Id="rId4" Type="http://schemas.openxmlformats.org/officeDocument/2006/relationships/image" Target="../media/image12.png"/><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21" Type="http://schemas.openxmlformats.org/officeDocument/2006/relationships/image" Target="../media/image36.jp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7.xml"/><Relationship Id="rId16" Type="http://schemas.openxmlformats.org/officeDocument/2006/relationships/image" Target="../media/image31.jpeg"/><Relationship Id="rId20" Type="http://schemas.openxmlformats.org/officeDocument/2006/relationships/image" Target="../media/image35.png"/><Relationship Id="rId1" Type="http://schemas.openxmlformats.org/officeDocument/2006/relationships/slideLayout" Target="../slideLayouts/slideLayout21.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9.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sv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jpe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5.svg"/><Relationship Id="rId5" Type="http://schemas.microsoft.com/office/2007/relationships/hdphoto" Target="../media/hdphoto1.wdp"/><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5.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35.xml"/><Relationship Id="rId6" Type="http://schemas.openxmlformats.org/officeDocument/2006/relationships/image" Target="../media/image55.png"/><Relationship Id="rId5" Type="http://schemas.openxmlformats.org/officeDocument/2006/relationships/image" Target="../media/image54.jpe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35.xml"/><Relationship Id="rId5" Type="http://schemas.openxmlformats.org/officeDocument/2006/relationships/image" Target="../media/image5.svg"/><Relationship Id="rId4" Type="http://schemas.openxmlformats.org/officeDocument/2006/relationships/image" Target="../media/image56.jpe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35.xml"/><Relationship Id="rId5" Type="http://schemas.openxmlformats.org/officeDocument/2006/relationships/image" Target="../media/image5.svg"/><Relationship Id="rId4" Type="http://schemas.openxmlformats.org/officeDocument/2006/relationships/image" Target="../media/image58.jpe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35.xml"/><Relationship Id="rId5" Type="http://schemas.openxmlformats.org/officeDocument/2006/relationships/image" Target="../media/image60.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5.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35B1A"/>
            </a:gs>
            <a:gs pos="72000">
              <a:srgbClr val="000000"/>
            </a:gs>
          </a:gsLst>
          <a:lin ang="0" scaled="1"/>
          <a:tileRect/>
        </a:gradFill>
        <a:effectLst/>
      </p:bgPr>
    </p:bg>
    <p:spTree>
      <p:nvGrpSpPr>
        <p:cNvPr id="1" name="">
          <a:extLst>
            <a:ext uri="{FF2B5EF4-FFF2-40B4-BE49-F238E27FC236}">
              <a16:creationId xmlns:a16="http://schemas.microsoft.com/office/drawing/2014/main" id="{9EE4885D-A58B-71EF-FC35-9A6123B724A9}"/>
            </a:ext>
          </a:extLst>
        </p:cNvPr>
        <p:cNvGrpSpPr/>
        <p:nvPr/>
      </p:nvGrpSpPr>
      <p:grpSpPr>
        <a:xfrm>
          <a:off x="0" y="0"/>
          <a:ext cx="0" cy="0"/>
          <a:chOff x="0" y="0"/>
          <a:chExt cx="0" cy="0"/>
        </a:xfrm>
      </p:grpSpPr>
      <p:grpSp>
        <p:nvGrpSpPr>
          <p:cNvPr id="17" name="Agrupar 16">
            <a:extLst>
              <a:ext uri="{FF2B5EF4-FFF2-40B4-BE49-F238E27FC236}">
                <a16:creationId xmlns:a16="http://schemas.microsoft.com/office/drawing/2014/main" id="{AB20C39D-F369-BEEA-6F06-AC939A8C9CAC}"/>
              </a:ext>
            </a:extLst>
          </p:cNvPr>
          <p:cNvGrpSpPr>
            <a:grpSpLocks noGrp="1" noUngrp="1" noRot="1" noMove="1" noResize="1"/>
          </p:cNvGrpSpPr>
          <p:nvPr/>
        </p:nvGrpSpPr>
        <p:grpSpPr>
          <a:xfrm>
            <a:off x="0" y="0"/>
            <a:ext cx="12192000" cy="6858000"/>
            <a:chOff x="0" y="0"/>
            <a:chExt cx="12192000" cy="6858000"/>
          </a:xfrm>
        </p:grpSpPr>
        <p:pic>
          <p:nvPicPr>
            <p:cNvPr id="12" name="Imagem 11">
              <a:extLst>
                <a:ext uri="{FF2B5EF4-FFF2-40B4-BE49-F238E27FC236}">
                  <a16:creationId xmlns:a16="http://schemas.microsoft.com/office/drawing/2014/main" id="{37E1394C-1564-2DAE-451C-26DAE925B24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801" t="8382" r="2160" b="9741"/>
            <a:stretch>
              <a:fillRect/>
            </a:stretch>
          </p:blipFill>
          <p:spPr>
            <a:xfrm flipH="1">
              <a:off x="0" y="0"/>
              <a:ext cx="12192000" cy="6858000"/>
            </a:xfrm>
            <a:prstGeom prst="rect">
              <a:avLst/>
            </a:prstGeom>
          </p:spPr>
        </p:pic>
        <p:sp>
          <p:nvSpPr>
            <p:cNvPr id="13" name="Retângulo 12">
              <a:extLst>
                <a:ext uri="{FF2B5EF4-FFF2-40B4-BE49-F238E27FC236}">
                  <a16:creationId xmlns:a16="http://schemas.microsoft.com/office/drawing/2014/main" id="{0B7160FF-AF36-6B05-5FB4-590BFB36BBDA}"/>
                </a:ext>
              </a:extLst>
            </p:cNvPr>
            <p:cNvSpPr>
              <a:spLocks/>
            </p:cNvSpPr>
            <p:nvPr/>
          </p:nvSpPr>
          <p:spPr>
            <a:xfrm>
              <a:off x="0" y="0"/>
              <a:ext cx="12192000" cy="6858000"/>
            </a:xfrm>
            <a:prstGeom prst="rect">
              <a:avLst/>
            </a:prstGeom>
            <a:gradFill>
              <a:gsLst>
                <a:gs pos="0">
                  <a:srgbClr val="F35B1A">
                    <a:alpha val="35000"/>
                  </a:srgbClr>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grpSp>
      <p:sp>
        <p:nvSpPr>
          <p:cNvPr id="4" name="Título 5">
            <a:extLst>
              <a:ext uri="{FF2B5EF4-FFF2-40B4-BE49-F238E27FC236}">
                <a16:creationId xmlns:a16="http://schemas.microsoft.com/office/drawing/2014/main" id="{844E2823-549F-8C91-F222-C8E782F6C12B}"/>
              </a:ext>
            </a:extLst>
          </p:cNvPr>
          <p:cNvSpPr>
            <a:spLocks noGrp="1"/>
          </p:cNvSpPr>
          <p:nvPr>
            <p:ph type="title"/>
          </p:nvPr>
        </p:nvSpPr>
        <p:spPr>
          <a:xfrm>
            <a:off x="6664175" y="2590374"/>
            <a:ext cx="5167463" cy="587084"/>
          </a:xfrm>
        </p:spPr>
        <p:txBody>
          <a:bodyPr/>
          <a:lstStyle/>
          <a:p>
            <a:pPr algn="ctr"/>
            <a:r>
              <a:rPr lang="pt-BR" sz="4200" dirty="0">
                <a:solidFill>
                  <a:schemeClr val="bg1"/>
                </a:solidFill>
                <a:latin typeface="Poppins" panose="00000500000000000000" pitchFamily="2" charset="0"/>
                <a:cs typeface="Poppins" panose="00000500000000000000" pitchFamily="2" charset="0"/>
              </a:rPr>
              <a:t>Project Compass</a:t>
            </a:r>
          </a:p>
        </p:txBody>
      </p:sp>
      <p:sp>
        <p:nvSpPr>
          <p:cNvPr id="5" name="Text Placeholder 4">
            <a:extLst>
              <a:ext uri="{FF2B5EF4-FFF2-40B4-BE49-F238E27FC236}">
                <a16:creationId xmlns:a16="http://schemas.microsoft.com/office/drawing/2014/main" id="{FB974D84-39A8-5D6E-F1D4-E6E9392E777F}"/>
              </a:ext>
            </a:extLst>
          </p:cNvPr>
          <p:cNvSpPr>
            <a:spLocks noGrp="1"/>
          </p:cNvSpPr>
          <p:nvPr>
            <p:ph type="body" sz="half" idx="2"/>
          </p:nvPr>
        </p:nvSpPr>
        <p:spPr>
          <a:xfrm>
            <a:off x="6876519" y="3202504"/>
            <a:ext cx="4742775" cy="369639"/>
          </a:xfrm>
        </p:spPr>
        <p:txBody>
          <a:bodyPr vert="horz" wrap="square" lIns="0" tIns="108000" rIns="0" bIns="0" rtlCol="0">
            <a:spAutoFit/>
          </a:bodyPr>
          <a:lstStyle/>
          <a:p>
            <a:pPr algn="ctr"/>
            <a:r>
              <a:rPr lang="pt-BR" sz="16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a:t>
            </a:r>
            <a:r>
              <a:rPr lang="en-US" sz="16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onfidential Information Memorandum</a:t>
            </a:r>
          </a:p>
        </p:txBody>
      </p:sp>
      <p:pic>
        <p:nvPicPr>
          <p:cNvPr id="14" name="Imagem 13">
            <a:extLst>
              <a:ext uri="{FF2B5EF4-FFF2-40B4-BE49-F238E27FC236}">
                <a16:creationId xmlns:a16="http://schemas.microsoft.com/office/drawing/2014/main" id="{F9D88C23-43B2-4388-9053-3F9F72FAF3FD}"/>
              </a:ext>
            </a:extLst>
          </p:cNvPr>
          <p:cNvPicPr>
            <a:picLocks noChangeAspect="1"/>
          </p:cNvPicPr>
          <p:nvPr/>
        </p:nvPicPr>
        <p:blipFill>
          <a:blip r:embed="rId4"/>
          <a:stretch>
            <a:fillRect/>
          </a:stretch>
        </p:blipFill>
        <p:spPr>
          <a:xfrm>
            <a:off x="8267705" y="3835818"/>
            <a:ext cx="1960402" cy="627941"/>
          </a:xfrm>
          <a:prstGeom prst="rect">
            <a:avLst/>
          </a:prstGeom>
        </p:spPr>
      </p:pic>
      <p:pic>
        <p:nvPicPr>
          <p:cNvPr id="15" name="Gráfico 14">
            <a:extLst>
              <a:ext uri="{FF2B5EF4-FFF2-40B4-BE49-F238E27FC236}">
                <a16:creationId xmlns:a16="http://schemas.microsoft.com/office/drawing/2014/main" id="{ACC720D5-FB8D-BC6A-EE5A-1D1F8BD40C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2720804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35B1A"/>
            </a:gs>
            <a:gs pos="72000">
              <a:srgbClr val="000000"/>
            </a:gs>
          </a:gsLst>
          <a:lin ang="0" scaled="1"/>
        </a:gradFill>
        <a:effectLst/>
      </p:bgPr>
    </p:bg>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id="{721F92E8-BC05-F9B3-D1B8-BC40BC7F71A2}"/>
              </a:ext>
            </a:extLst>
          </p:cNvPr>
          <p:cNvSpPr txBox="1"/>
          <p:nvPr/>
        </p:nvSpPr>
        <p:spPr>
          <a:xfrm>
            <a:off x="731838" y="1450977"/>
            <a:ext cx="11102975" cy="4354062"/>
          </a:xfrm>
          <a:prstGeom prst="rect">
            <a:avLst/>
          </a:prstGeom>
          <a:noFill/>
        </p:spPr>
        <p:txBody>
          <a:bodyPr wrap="square" lIns="0" tIns="0" rIns="0" bIns="0" numCol="2" spcCol="720000" rtlCol="0">
            <a:noAutofit/>
          </a:bodyPr>
          <a:lstStyle/>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IGC has been retained by </a:t>
            </a:r>
            <a:r>
              <a:rPr lang="pt-BR" sz="800"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MOBI </a:t>
            </a: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(“Company”; “</a:t>
            </a:r>
            <a:r>
              <a:rPr lang="en-US" sz="800" dirty="0" err="1">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Mobi</a:t>
            </a: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 on an exclusive basis, to advise the Company in its’ M&amp;A process (“Transaction”).This material (“Information Memorandum”) describes and summarizes the Company, its assets, market and economic and financial indicators and has been prepared exclusively to assist the recipient in deciding whether he/she/it wishes to proceed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with a further investigation of a possible Transaction with the Company. In no event, the recipient shall use any of this information for any commercial purposes or for other purposes than the one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for which this memorandum is furnished. </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All information contained in this Information Memorandum has been prepared based on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the documents and/or information provided by Company or obtained directly by IGC through legal sources and/or through independent researches. IGC has not investigated, verified or audited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the documents and information used for the preparation of this Information Memorandum.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This Information Memorandum contains statements, estimates and projections provided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by the Client concerning anticipated future performance. Such statements, estimates and projections reflect assumptions by our Client concerning anticipated results, which may or may not prove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to be correct. No representations, expressed or implied are made as to the accuracy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of such statements, estimates and projections. No representations, expressed or implied are made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as to the accuracy of such statements, estimates and projections.</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This Memorandum of Information is not intended to form any part of the basis of any investment decision or other evaluation or any decision to participate in Transaction process and should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not be considered as a recommendation by the Company or IGC to any reader of this material.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Each reader must make his/her/its own valuation of the Transaction presented in order to determine whether to continue or not with its participation in the process.</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No liability is or shall be attributed to the members of IGC, including its partners, directors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or employees, in connection with the accuracy or completeness of the information contained herein. </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This material belongs to IGC and shall not be copied, reproduced, distributed and/or disclosed,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in whole or in part, including by digital media, to any third party without the express and prior consent, in writing, of IGC. By accepting this material, the recipient agrees to return it as soon as requested by IGC. The recipient of this material shall maintain in strict confidentiality and absolute secrecy all information contained in this material, and shall not disclose it to any third party, either directly or indirectly, without the prior authorization of IGC, and shall not use them for any purposes other than for the valuation of a possible consummation of Transaction </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Furthermore, since the existence of the Transaction described herein is not publicly disclosed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and may not be known by the members of the Company and other third parties, the recipient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of this Memorandum of Information agrees not to approach or contact any officer or employee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of the Company, its clients, suppliers and/or representatives of any nature without the express permission, in writing, of IGC, and shall keep confidential any information contained herein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or otherwise made available in connection with the Company. In furnishing this material,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IGC undertakes no obligation to provide the recipient with access to any additional information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or to update this material or additional information or to correct any inaccuracies therein which may become apparent, and reserve the right, at any time, without advance notice, to change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the procedure for the conduction of the Transaction or terminate negotiations at any time prior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to the execution of any binding agreement</a:t>
            </a:r>
          </a:p>
        </p:txBody>
      </p:sp>
      <p:sp>
        <p:nvSpPr>
          <p:cNvPr id="9" name="Fluxograma: Conector 8">
            <a:extLst>
              <a:ext uri="{FF2B5EF4-FFF2-40B4-BE49-F238E27FC236}">
                <a16:creationId xmlns:a16="http://schemas.microsoft.com/office/drawing/2014/main" id="{C1029E04-1664-E297-E0B7-71155F6BC600}"/>
              </a:ext>
            </a:extLst>
          </p:cNvPr>
          <p:cNvSpPr/>
          <p:nvPr/>
        </p:nvSpPr>
        <p:spPr>
          <a:xfrm>
            <a:off x="6608123" y="3565138"/>
            <a:ext cx="3617346" cy="3617346"/>
          </a:xfrm>
          <a:prstGeom prst="flowChartConnector">
            <a:avLst/>
          </a:prstGeom>
          <a:gradFill>
            <a:gsLst>
              <a:gs pos="0">
                <a:srgbClr val="F35B1A"/>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8" name="Retângulo: Cantos Arredondados 7">
            <a:extLst>
              <a:ext uri="{FF2B5EF4-FFF2-40B4-BE49-F238E27FC236}">
                <a16:creationId xmlns:a16="http://schemas.microsoft.com/office/drawing/2014/main" id="{8DAAE429-EA32-BED8-AA04-C00EA0828929}"/>
              </a:ext>
            </a:extLst>
          </p:cNvPr>
          <p:cNvSpPr/>
          <p:nvPr/>
        </p:nvSpPr>
        <p:spPr>
          <a:xfrm>
            <a:off x="7946136" y="3858768"/>
            <a:ext cx="3888677" cy="3323716"/>
          </a:xfrm>
          <a:prstGeom prst="roundRect">
            <a:avLst>
              <a:gd name="adj" fmla="val 6351"/>
            </a:avLst>
          </a:prstGeom>
          <a:solidFill>
            <a:schemeClr val="tx2"/>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3" name="Título 2">
            <a:extLst>
              <a:ext uri="{FF2B5EF4-FFF2-40B4-BE49-F238E27FC236}">
                <a16:creationId xmlns:a16="http://schemas.microsoft.com/office/drawing/2014/main" id="{2F857A60-89E8-97AE-64C4-DDEF804EB826}"/>
              </a:ext>
            </a:extLst>
          </p:cNvPr>
          <p:cNvSpPr>
            <a:spLocks noGrp="1"/>
          </p:cNvSpPr>
          <p:nvPr>
            <p:ph type="title"/>
          </p:nvPr>
        </p:nvSpPr>
        <p:spPr/>
        <p:txBody>
          <a:bodyPr/>
          <a:lstStyle/>
          <a:p>
            <a:r>
              <a:rPr lang="pt-BR" dirty="0">
                <a:solidFill>
                  <a:schemeClr val="bg1"/>
                </a:solidFill>
              </a:rPr>
              <a:t>Disclaimer</a:t>
            </a:r>
          </a:p>
        </p:txBody>
      </p:sp>
      <p:sp>
        <p:nvSpPr>
          <p:cNvPr id="4" name="Espaço Reservado para Conteúdo 3">
            <a:extLst>
              <a:ext uri="{FF2B5EF4-FFF2-40B4-BE49-F238E27FC236}">
                <a16:creationId xmlns:a16="http://schemas.microsoft.com/office/drawing/2014/main" id="{F8A90FCE-3BB5-598C-7A36-242923D52557}"/>
              </a:ext>
            </a:extLst>
          </p:cNvPr>
          <p:cNvSpPr>
            <a:spLocks noGrp="1"/>
          </p:cNvSpPr>
          <p:nvPr>
            <p:ph sz="quarter" idx="13"/>
          </p:nvPr>
        </p:nvSpPr>
        <p:spPr>
          <a:xfrm>
            <a:off x="731838" y="1052961"/>
            <a:ext cx="11102975" cy="215503"/>
          </a:xfrm>
        </p:spPr>
        <p:txBody>
          <a:bodyPr/>
          <a:lstStyle/>
          <a:p>
            <a:r>
              <a:rPr lang="pt-BR" dirty="0">
                <a:solidFill>
                  <a:schemeClr val="bg1"/>
                </a:solidFill>
              </a:rPr>
              <a:t>Project Compass</a:t>
            </a:r>
          </a:p>
        </p:txBody>
      </p:sp>
      <p:sp>
        <p:nvSpPr>
          <p:cNvPr id="5" name="Espaço Reservado para Texto 4">
            <a:extLst>
              <a:ext uri="{FF2B5EF4-FFF2-40B4-BE49-F238E27FC236}">
                <a16:creationId xmlns:a16="http://schemas.microsoft.com/office/drawing/2014/main" id="{E8786FCB-B07B-D9FB-B3A2-53D964B9593C}"/>
              </a:ext>
            </a:extLst>
          </p:cNvPr>
          <p:cNvSpPr>
            <a:spLocks noGrp="1"/>
          </p:cNvSpPr>
          <p:nvPr>
            <p:ph type="body" sz="quarter" idx="36"/>
          </p:nvPr>
        </p:nvSpPr>
        <p:spPr/>
        <p:txBody>
          <a:bodyPr/>
          <a:lstStyle/>
          <a:p>
            <a:endParaRPr lang="pt-BR" dirty="0"/>
          </a:p>
        </p:txBody>
      </p:sp>
      <p:sp>
        <p:nvSpPr>
          <p:cNvPr id="6" name="Slide Number Placeholder 5">
            <a:extLst>
              <a:ext uri="{FF2B5EF4-FFF2-40B4-BE49-F238E27FC236}">
                <a16:creationId xmlns:a16="http://schemas.microsoft.com/office/drawing/2014/main" id="{D4E6D193-B5A5-FED9-D936-400955A0C4F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2</a:t>
            </a:fld>
            <a:endParaRPr lang="en-US" dirty="0">
              <a:latin typeface="Poppins Light" panose="00000400000000000000" pitchFamily="2" charset="0"/>
              <a:cs typeface="Poppins Light" panose="00000400000000000000" pitchFamily="2" charset="0"/>
            </a:endParaRPr>
          </a:p>
        </p:txBody>
      </p:sp>
      <p:sp>
        <p:nvSpPr>
          <p:cNvPr id="11" name="CaixaDeTexto 10">
            <a:extLst>
              <a:ext uri="{FF2B5EF4-FFF2-40B4-BE49-F238E27FC236}">
                <a16:creationId xmlns:a16="http://schemas.microsoft.com/office/drawing/2014/main" id="{20D5987D-999B-F908-A094-20C596707F7C}"/>
              </a:ext>
            </a:extLst>
          </p:cNvPr>
          <p:cNvSpPr txBox="1"/>
          <p:nvPr/>
        </p:nvSpPr>
        <p:spPr>
          <a:xfrm>
            <a:off x="8416796" y="4135499"/>
            <a:ext cx="3043366" cy="1733551"/>
          </a:xfrm>
          <a:prstGeom prst="rect">
            <a:avLst/>
          </a:prstGeom>
          <a:noFill/>
        </p:spPr>
        <p:txBody>
          <a:bodyPr wrap="square">
            <a:spAutoFit/>
          </a:bodyPr>
          <a:lstStyle/>
          <a:p>
            <a:pPr marL="0" marR="0" lvl="0" indent="0" algn="r" defTabSz="914400" rtl="0" eaLnBrk="1" fontAlgn="auto" latinLnBrk="0" hangingPunct="1">
              <a:lnSpc>
                <a:spcPct val="110000"/>
              </a:lnSpc>
              <a:spcBef>
                <a:spcPts val="0"/>
              </a:spcBef>
              <a:spcAft>
                <a:spcPts val="1600"/>
              </a:spcAft>
              <a:buClrTx/>
              <a:buSzTx/>
              <a:buFont typeface="Arial" panose="020B0604020202020204" pitchFamily="34" charset="0"/>
              <a:buNone/>
              <a:tabLst/>
              <a:defRPr/>
            </a:pPr>
            <a:r>
              <a:rPr kumimoji="0" lang="en-US" sz="1050" b="0" i="0" u="none" strike="noStrike" kern="1200" cap="none" spc="0" normalizeH="0" baseline="0" noProof="0" dirty="0">
                <a:ln>
                  <a:noFill/>
                </a:ln>
                <a:solidFill>
                  <a:schemeClr val="bg1"/>
                </a:solidFill>
                <a:effectLst/>
                <a:uLnTx/>
                <a:uFillTx/>
                <a:latin typeface="Poppins Medium" panose="00000600000000000000" pitchFamily="2" charset="0"/>
                <a:ea typeface="Source Serif Pro SemiBold" panose="02040703050405020204" pitchFamily="18" charset="0"/>
                <a:cs typeface="Poppins Medium" panose="00000600000000000000" pitchFamily="2" charset="0"/>
              </a:rPr>
              <a:t>All communications, questions, and/or requests regarding this material shall be directly addressed to the Company.</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Poppins SemiBold" panose="00000700000000000000" pitchFamily="2" charset="0"/>
                <a:ea typeface="Source Serif Pro Black" panose="02040903050405020204" pitchFamily="18" charset="0"/>
                <a:cs typeface="Poppins SemiBold" panose="00000700000000000000" pitchFamily="2" charset="0"/>
              </a:rPr>
              <a:t>Bruno Iervolino</a:t>
            </a:r>
            <a:endParaRPr kumimoji="0" lang="en-US" sz="1050" b="1" i="0" u="none" strike="noStrike" kern="1200" cap="none" spc="0" normalizeH="0" baseline="0" noProof="0" dirty="0">
              <a:ln>
                <a:noFill/>
              </a:ln>
              <a:solidFill>
                <a:schemeClr val="bg1"/>
              </a:solidFill>
              <a:effectLst/>
              <a:uLnTx/>
              <a:uFillTx/>
              <a:latin typeface="Poppins SemiBold" panose="00000700000000000000" pitchFamily="2" charset="0"/>
              <a:ea typeface="Source Serif Pro" panose="02040603050405020204" pitchFamily="18" charset="0"/>
              <a:cs typeface="Poppins SemiBold" panose="00000700000000000000" pitchFamily="2" charset="0"/>
            </a:endParaRP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Av. Brigadeiro Faria Lima, 2277  - 6th floor</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Zip Code 01452-000 São Paulo – SP</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Tel: (55 11) 3815-3533</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E-mail: bruno.iervolino@igcp.com.br</a:t>
            </a:r>
          </a:p>
        </p:txBody>
      </p:sp>
      <p:pic>
        <p:nvPicPr>
          <p:cNvPr id="12" name="Gráfico 14">
            <a:extLst>
              <a:ext uri="{FF2B5EF4-FFF2-40B4-BE49-F238E27FC236}">
                <a16:creationId xmlns:a16="http://schemas.microsoft.com/office/drawing/2014/main" id="{12402CC7-668F-5274-6917-EE9A129F83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3491715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35B1A"/>
            </a:gs>
            <a:gs pos="72000">
              <a:srgbClr val="000000"/>
            </a:gs>
          </a:gsLst>
          <a:lin ang="0" scaled="1"/>
        </a:gradFill>
        <a:effectLst/>
      </p:bgPr>
    </p:bg>
    <p:spTree>
      <p:nvGrpSpPr>
        <p:cNvPr id="1" name="">
          <a:extLst>
            <a:ext uri="{FF2B5EF4-FFF2-40B4-BE49-F238E27FC236}">
              <a16:creationId xmlns:a16="http://schemas.microsoft.com/office/drawing/2014/main" id="{BB776707-82CB-72D9-C44E-4EA71E7FF442}"/>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CB0AB240-2C40-DEA6-79CC-23ACDD30978A}"/>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900" name="Retângulo: Cantos Arredondados 1">
            <a:extLst>
              <a:ext uri="{FF2B5EF4-FFF2-40B4-BE49-F238E27FC236}">
                <a16:creationId xmlns:a16="http://schemas.microsoft.com/office/drawing/2014/main" id="{72FC2ABE-4E21-AB44-954E-D597F8016B1C}"/>
              </a:ext>
            </a:extLst>
          </p:cNvPr>
          <p:cNvSpPr/>
          <p:nvPr/>
        </p:nvSpPr>
        <p:spPr>
          <a:xfrm>
            <a:off x="1172922" y="2582830"/>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a:solidFill>
                <a:schemeClr val="tx1"/>
              </a:solidFill>
              <a:latin typeface="Source Serif Pro" panose="02040603050405020204" pitchFamily="18" charset="0"/>
              <a:ea typeface="Source Serif Pro" panose="02040603050405020204" pitchFamily="18" charset="0"/>
            </a:endParaRPr>
          </a:p>
        </p:txBody>
      </p:sp>
      <p:sp>
        <p:nvSpPr>
          <p:cNvPr id="901" name="CaixaDeTexto 25">
            <a:extLst>
              <a:ext uri="{FF2B5EF4-FFF2-40B4-BE49-F238E27FC236}">
                <a16:creationId xmlns:a16="http://schemas.microsoft.com/office/drawing/2014/main" id="{BC3552FB-F24F-9979-6760-4E7417A8FCDF}"/>
              </a:ext>
            </a:extLst>
          </p:cNvPr>
          <p:cNvSpPr txBox="1"/>
          <p:nvPr/>
        </p:nvSpPr>
        <p:spPr>
          <a:xfrm>
            <a:off x="2139121" y="2711760"/>
            <a:ext cx="1397757"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Introduction</a:t>
            </a:r>
          </a:p>
        </p:txBody>
      </p:sp>
      <p:sp>
        <p:nvSpPr>
          <p:cNvPr id="902" name="CaixaDeTexto 27">
            <a:extLst>
              <a:ext uri="{FF2B5EF4-FFF2-40B4-BE49-F238E27FC236}">
                <a16:creationId xmlns:a16="http://schemas.microsoft.com/office/drawing/2014/main" id="{7FCACCD0-1070-893D-F907-3A2251B4E01A}"/>
              </a:ext>
            </a:extLst>
          </p:cNvPr>
          <p:cNvSpPr txBox="1"/>
          <p:nvPr/>
        </p:nvSpPr>
        <p:spPr>
          <a:xfrm>
            <a:off x="1564869" y="2711760"/>
            <a:ext cx="428448"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01</a:t>
            </a:r>
          </a:p>
        </p:txBody>
      </p:sp>
      <p:sp>
        <p:nvSpPr>
          <p:cNvPr id="903" name="Retângulo: Cantos Arredondados 38">
            <a:extLst>
              <a:ext uri="{FF2B5EF4-FFF2-40B4-BE49-F238E27FC236}">
                <a16:creationId xmlns:a16="http://schemas.microsoft.com/office/drawing/2014/main" id="{C6C07B56-20A2-7B0C-637A-6E82DB7EE9B6}"/>
              </a:ext>
            </a:extLst>
          </p:cNvPr>
          <p:cNvSpPr/>
          <p:nvPr/>
        </p:nvSpPr>
        <p:spPr>
          <a:xfrm>
            <a:off x="1172922" y="3214518"/>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4" name="CaixaDeTexto 39">
            <a:extLst>
              <a:ext uri="{FF2B5EF4-FFF2-40B4-BE49-F238E27FC236}">
                <a16:creationId xmlns:a16="http://schemas.microsoft.com/office/drawing/2014/main" id="{8897FDF1-8AF3-603D-5C15-83FC17C1CCB8}"/>
              </a:ext>
            </a:extLst>
          </p:cNvPr>
          <p:cNvSpPr txBox="1"/>
          <p:nvPr/>
        </p:nvSpPr>
        <p:spPr>
          <a:xfrm>
            <a:off x="2139121" y="3343448"/>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905" name="CaixaDeTexto 40">
            <a:extLst>
              <a:ext uri="{FF2B5EF4-FFF2-40B4-BE49-F238E27FC236}">
                <a16:creationId xmlns:a16="http://schemas.microsoft.com/office/drawing/2014/main" id="{E733CCCD-386A-018A-FA97-3D4D45490E51}"/>
              </a:ext>
            </a:extLst>
          </p:cNvPr>
          <p:cNvSpPr txBox="1"/>
          <p:nvPr/>
        </p:nvSpPr>
        <p:spPr>
          <a:xfrm>
            <a:off x="1564869" y="3343448"/>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02</a:t>
            </a:r>
          </a:p>
        </p:txBody>
      </p:sp>
      <p:sp>
        <p:nvSpPr>
          <p:cNvPr id="906" name="Retângulo: Cantos Arredondados 38">
            <a:extLst>
              <a:ext uri="{FF2B5EF4-FFF2-40B4-BE49-F238E27FC236}">
                <a16:creationId xmlns:a16="http://schemas.microsoft.com/office/drawing/2014/main" id="{C6C07B56-20A2-7B0C-637A-6E82DB7EE9B6}"/>
              </a:ext>
            </a:extLst>
          </p:cNvPr>
          <p:cNvSpPr/>
          <p:nvPr/>
        </p:nvSpPr>
        <p:spPr>
          <a:xfrm>
            <a:off x="1172922" y="3846206"/>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7" name="CaixaDeTexto 39">
            <a:extLst>
              <a:ext uri="{FF2B5EF4-FFF2-40B4-BE49-F238E27FC236}">
                <a16:creationId xmlns:a16="http://schemas.microsoft.com/office/drawing/2014/main" id="{8897FDF1-8AF3-603D-5C15-83FC17C1CCB8}"/>
              </a:ext>
            </a:extLst>
          </p:cNvPr>
          <p:cNvSpPr txBox="1"/>
          <p:nvPr/>
        </p:nvSpPr>
        <p:spPr>
          <a:xfrm>
            <a:off x="2139121" y="3975136"/>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908" name="CaixaDeTexto 40">
            <a:extLst>
              <a:ext uri="{FF2B5EF4-FFF2-40B4-BE49-F238E27FC236}">
                <a16:creationId xmlns:a16="http://schemas.microsoft.com/office/drawing/2014/main" id="{E733CCCD-386A-018A-FA97-3D4D45490E51}"/>
              </a:ext>
            </a:extLst>
          </p:cNvPr>
          <p:cNvSpPr txBox="1"/>
          <p:nvPr/>
        </p:nvSpPr>
        <p:spPr>
          <a:xfrm>
            <a:off x="1564869" y="3975136"/>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03</a:t>
            </a:r>
          </a:p>
        </p:txBody>
      </p:sp>
      <p:sp>
        <p:nvSpPr>
          <p:cNvPr id="909" name="Retângulo: Cantos Arredondados 38">
            <a:extLst>
              <a:ext uri="{FF2B5EF4-FFF2-40B4-BE49-F238E27FC236}">
                <a16:creationId xmlns:a16="http://schemas.microsoft.com/office/drawing/2014/main" id="{C6C07B56-20A2-7B0C-637A-6E82DB7EE9B6}"/>
              </a:ext>
            </a:extLst>
          </p:cNvPr>
          <p:cNvSpPr/>
          <p:nvPr/>
        </p:nvSpPr>
        <p:spPr>
          <a:xfrm>
            <a:off x="1172922" y="4477894"/>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10" name="CaixaDeTexto 39">
            <a:extLst>
              <a:ext uri="{FF2B5EF4-FFF2-40B4-BE49-F238E27FC236}">
                <a16:creationId xmlns:a16="http://schemas.microsoft.com/office/drawing/2014/main" id="{8897FDF1-8AF3-603D-5C15-83FC17C1CCB8}"/>
              </a:ext>
            </a:extLst>
          </p:cNvPr>
          <p:cNvSpPr txBox="1"/>
          <p:nvPr/>
        </p:nvSpPr>
        <p:spPr>
          <a:xfrm>
            <a:off x="2139121" y="4606824"/>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Financial Highlights</a:t>
            </a:r>
          </a:p>
        </p:txBody>
      </p:sp>
      <p:sp>
        <p:nvSpPr>
          <p:cNvPr id="911" name="CaixaDeTexto 40">
            <a:extLst>
              <a:ext uri="{FF2B5EF4-FFF2-40B4-BE49-F238E27FC236}">
                <a16:creationId xmlns:a16="http://schemas.microsoft.com/office/drawing/2014/main" id="{E733CCCD-386A-018A-FA97-3D4D45490E51}"/>
              </a:ext>
            </a:extLst>
          </p:cNvPr>
          <p:cNvSpPr txBox="1"/>
          <p:nvPr/>
        </p:nvSpPr>
        <p:spPr>
          <a:xfrm>
            <a:off x="1564869" y="4606824"/>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04</a:t>
            </a:r>
          </a:p>
        </p:txBody>
      </p:sp>
      <p:pic>
        <p:nvPicPr>
          <p:cNvPr id="4" name="Imagem 3">
            <a:extLst>
              <a:ext uri="{FF2B5EF4-FFF2-40B4-BE49-F238E27FC236}">
                <a16:creationId xmlns:a16="http://schemas.microsoft.com/office/drawing/2014/main" id="{5B9D4E3F-3869-05FE-6395-6301CD3A3589}"/>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1815627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243AD-32DF-A351-11C8-5E4E28AC763A}"/>
            </a:ext>
          </a:extLst>
        </p:cNvPr>
        <p:cNvGrpSpPr/>
        <p:nvPr/>
      </p:nvGrpSpPr>
      <p:grpSpPr>
        <a:xfrm>
          <a:off x="0" y="0"/>
          <a:ext cx="0" cy="0"/>
          <a:chOff x="0" y="0"/>
          <a:chExt cx="0" cy="0"/>
        </a:xfrm>
      </p:grpSpPr>
      <p:sp>
        <p:nvSpPr>
          <p:cNvPr id="31" name="Retângulo: Cantos Superiores Arredondados 30">
            <a:extLst>
              <a:ext uri="{FF2B5EF4-FFF2-40B4-BE49-F238E27FC236}">
                <a16:creationId xmlns:a16="http://schemas.microsoft.com/office/drawing/2014/main" id="{CCDCC39F-96F2-0880-8D4D-710976188A00}"/>
              </a:ext>
            </a:extLst>
          </p:cNvPr>
          <p:cNvSpPr>
            <a:spLocks noGrp="1" noRot="1" noMove="1" noResize="1" noEditPoints="1" noAdjustHandles="1" noChangeArrowheads="1" noChangeShapeType="1"/>
          </p:cNvSpPr>
          <p:nvPr/>
        </p:nvSpPr>
        <p:spPr>
          <a:xfrm>
            <a:off x="0" y="4824247"/>
            <a:ext cx="12192000" cy="2033753"/>
          </a:xfrm>
          <a:prstGeom prst="round2SameRect">
            <a:avLst>
              <a:gd name="adj1" fmla="val 0"/>
              <a:gd name="adj2" fmla="val 0"/>
            </a:avLst>
          </a:prstGeom>
          <a:solidFill>
            <a:schemeClr val="tx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3" name="Retângulo: Cantos Superiores Arredondados 2">
            <a:extLst>
              <a:ext uri="{FF2B5EF4-FFF2-40B4-BE49-F238E27FC236}">
                <a16:creationId xmlns:a16="http://schemas.microsoft.com/office/drawing/2014/main" id="{07A2D1DD-7E18-629D-4105-4971053917AE}"/>
              </a:ext>
            </a:extLst>
          </p:cNvPr>
          <p:cNvSpPr/>
          <p:nvPr/>
        </p:nvSpPr>
        <p:spPr>
          <a:xfrm>
            <a:off x="428626" y="1543050"/>
            <a:ext cx="5448299" cy="5314950"/>
          </a:xfrm>
          <a:prstGeom prst="round2SameRect">
            <a:avLst>
              <a:gd name="adj1" fmla="val 4330"/>
              <a:gd name="adj2" fmla="val 0"/>
            </a:avLst>
          </a:prstGeom>
          <a:solidFill>
            <a:schemeClr val="bg1"/>
          </a:solidFill>
          <a:ln w="635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C6164D0B-3D9E-7EB5-275B-5B10B5954C74}"/>
              </a:ext>
            </a:extLst>
          </p:cNvPr>
          <p:cNvSpPr>
            <a:spLocks noGrp="1"/>
          </p:cNvSpPr>
          <p:nvPr>
            <p:ph type="title"/>
          </p:nvPr>
        </p:nvSpPr>
        <p:spPr/>
        <p:txBody>
          <a:bodyPr/>
          <a:lstStyle/>
          <a:p>
            <a:r>
              <a:rPr lang="en-US" sz="1800" dirty="0">
                <a:solidFill>
                  <a:schemeClr val="accent1"/>
                </a:solidFill>
              </a:rPr>
              <a:t>Mobi at a glance</a:t>
            </a:r>
          </a:p>
        </p:txBody>
      </p:sp>
      <p:sp>
        <p:nvSpPr>
          <p:cNvPr id="18" name="Content Placeholder 17">
            <a:extLst>
              <a:ext uri="{FF2B5EF4-FFF2-40B4-BE49-F238E27FC236}">
                <a16:creationId xmlns:a16="http://schemas.microsoft.com/office/drawing/2014/main" id="{BFFC3B95-F967-45C3-FB02-382D8C7DBF4F}"/>
              </a:ext>
            </a:extLst>
          </p:cNvPr>
          <p:cNvSpPr>
            <a:spLocks noGrp="1"/>
          </p:cNvSpPr>
          <p:nvPr>
            <p:ph sz="quarter" idx="13"/>
          </p:nvPr>
        </p:nvSpPr>
        <p:spPr>
          <a:xfrm>
            <a:off x="731838" y="1052961"/>
            <a:ext cx="11102975" cy="215503"/>
          </a:xfrm>
        </p:spPr>
        <p:txBody>
          <a:bodyPr/>
          <a:lstStyle/>
          <a:p>
            <a:r>
              <a:rPr lang="en-US" dirty="0"/>
              <a:t>Mobi is a leading platform in corporate employee transportation (fretamento), reaching BRL 140 Mn of net revenue in 2025</a:t>
            </a:r>
            <a:endParaRPr lang="pt-BR" dirty="0"/>
          </a:p>
        </p:txBody>
      </p:sp>
      <p:sp>
        <p:nvSpPr>
          <p:cNvPr id="23" name="Text Placeholder 22">
            <a:extLst>
              <a:ext uri="{FF2B5EF4-FFF2-40B4-BE49-F238E27FC236}">
                <a16:creationId xmlns:a16="http://schemas.microsoft.com/office/drawing/2014/main" id="{3EB6C5C8-269D-59C8-E594-ADA3876C7BB6}"/>
              </a:ext>
            </a:extLst>
          </p:cNvPr>
          <p:cNvSpPr>
            <a:spLocks noGrp="1"/>
          </p:cNvSpPr>
          <p:nvPr>
            <p:ph type="body" sz="quarter" idx="36"/>
          </p:nvPr>
        </p:nvSpPr>
        <p:spPr/>
        <p:txBody>
          <a:bodyPr/>
          <a:lstStyle/>
          <a:p>
            <a:r>
              <a:rPr lang="en-US" dirty="0"/>
              <a:t>Source: Company; Jan-2026 fleet register. (1) Considers owned assets; average fleet age of 4 years per Company materials vs. ~6 years based on chassis manufacture year per fleet register — to reconcile with management; (2) Considers owned assets; (3) To be confirmed with Company. </a:t>
            </a:r>
            <a:endParaRPr lang="pt-BR" dirty="0"/>
          </a:p>
        </p:txBody>
      </p:sp>
      <p:sp>
        <p:nvSpPr>
          <p:cNvPr id="11" name="Slide Number Placeholder 5">
            <a:extLst>
              <a:ext uri="{FF2B5EF4-FFF2-40B4-BE49-F238E27FC236}">
                <a16:creationId xmlns:a16="http://schemas.microsoft.com/office/drawing/2014/main" id="{CD597F2F-CC83-0FC1-2A5B-1EACFF448EAE}"/>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4</a:t>
            </a:fld>
            <a:endParaRPr lang="en-US" dirty="0">
              <a:latin typeface="Poppins Light" panose="00000400000000000000" pitchFamily="2" charset="0"/>
              <a:cs typeface="Poppins Light" panose="00000400000000000000" pitchFamily="2" charset="0"/>
            </a:endParaRPr>
          </a:p>
        </p:txBody>
      </p:sp>
      <p:pic>
        <p:nvPicPr>
          <p:cNvPr id="4" name="Imagem 3">
            <a:extLst>
              <a:ext uri="{FF2B5EF4-FFF2-40B4-BE49-F238E27FC236}">
                <a16:creationId xmlns:a16="http://schemas.microsoft.com/office/drawing/2014/main" id="{E8C944DB-7D9A-D97E-A1D9-07E4ADA29442}"/>
              </a:ext>
            </a:extLst>
          </p:cNvPr>
          <p:cNvPicPr>
            <a:picLocks noChangeAspect="1"/>
          </p:cNvPicPr>
          <p:nvPr/>
        </p:nvPicPr>
        <p:blipFill>
          <a:blip r:embed="rId4"/>
          <a:stretch>
            <a:fillRect/>
          </a:stretch>
        </p:blipFill>
        <p:spPr>
          <a:xfrm>
            <a:off x="2294931" y="1895573"/>
            <a:ext cx="1715689" cy="549558"/>
          </a:xfrm>
          <a:prstGeom prst="rect">
            <a:avLst/>
          </a:prstGeom>
        </p:spPr>
      </p:pic>
      <p:pic>
        <p:nvPicPr>
          <p:cNvPr id="25" name="Graphic 220">
            <a:extLst>
              <a:ext uri="{FF2B5EF4-FFF2-40B4-BE49-F238E27FC236}">
                <a16:creationId xmlns:a16="http://schemas.microsoft.com/office/drawing/2014/main" id="{13B294B1-8FE9-7849-1D0A-E35CFEFEC486}"/>
              </a:ext>
            </a:extLst>
          </p:cNvPr>
          <p:cNvPicPr>
            <a:picLocks noChangeAspect="1"/>
          </p:cNvPicPr>
          <p:nvPr/>
        </p:nvPicPr>
        <p:blipFill>
          <a:blip>
            <a:extLst>
              <a:ext uri="{96DAC541-7B7A-43D3-8B79-37D633B846F1}">
                <asvg:svgBlip xmlns:asvg="http://schemas.microsoft.com/office/drawing/2016/SVG/main" r:embed="rId5"/>
              </a:ext>
            </a:extLst>
          </a:blip>
          <a:srcRect t="11912" b="25311"/>
          <a:stretch>
            <a:fillRect/>
          </a:stretch>
        </p:blipFill>
        <p:spPr>
          <a:xfrm>
            <a:off x="784749" y="3863851"/>
            <a:ext cx="624947" cy="481493"/>
          </a:xfrm>
          <a:prstGeom prst="rect">
            <a:avLst/>
          </a:prstGeom>
        </p:spPr>
      </p:pic>
      <p:pic>
        <p:nvPicPr>
          <p:cNvPr id="24" name="Imagem 23">
            <a:extLst>
              <a:ext uri="{FF2B5EF4-FFF2-40B4-BE49-F238E27FC236}">
                <a16:creationId xmlns:a16="http://schemas.microsoft.com/office/drawing/2014/main" id="{273882E6-9829-8210-EB7D-4A91AFC64C03}"/>
              </a:ext>
            </a:extLst>
          </p:cNvPr>
          <p:cNvPicPr>
            <a:picLocks noChangeAspect="1"/>
          </p:cNvPicPr>
          <p:nvPr/>
        </p:nvPicPr>
        <p:blipFill>
          <a:blip r:embed="rId6"/>
          <a:srcRect t="35306"/>
          <a:stretch>
            <a:fillRect/>
          </a:stretch>
        </p:blipFill>
        <p:spPr>
          <a:xfrm>
            <a:off x="812879" y="3165116"/>
            <a:ext cx="568686" cy="423931"/>
          </a:xfrm>
          <a:prstGeom prst="rect">
            <a:avLst/>
          </a:prstGeom>
        </p:spPr>
      </p:pic>
      <p:sp>
        <p:nvSpPr>
          <p:cNvPr id="5" name="TextBox 184">
            <a:extLst>
              <a:ext uri="{FF2B5EF4-FFF2-40B4-BE49-F238E27FC236}">
                <a16:creationId xmlns:a16="http://schemas.microsoft.com/office/drawing/2014/main" id="{B24C4E4F-3362-895D-08B9-5451A12D0D3D}"/>
              </a:ext>
            </a:extLst>
          </p:cNvPr>
          <p:cNvSpPr txBox="1"/>
          <p:nvPr/>
        </p:nvSpPr>
        <p:spPr>
          <a:xfrm>
            <a:off x="1592206" y="2500101"/>
            <a:ext cx="3770370" cy="451277"/>
          </a:xfrm>
          <a:prstGeom prst="rect">
            <a:avLst/>
          </a:prstGeom>
          <a:noFill/>
        </p:spPr>
        <p:txBody>
          <a:bodyPr wrap="square" lIns="0" tIns="0" rIns="0" bIns="0" rtlCol="0">
            <a:spAutoFit/>
          </a:bodyPr>
          <a:lstStyle/>
          <a:p>
            <a:pPr>
              <a:lnSpc>
                <a:spcPct val="110000"/>
              </a:lnSpc>
              <a:spcAft>
                <a:spcPts val="800"/>
              </a:spcAft>
            </a:pPr>
            <a:r>
              <a:rPr lang="en-US" sz="900" dirty="0">
                <a:latin typeface="Poppins" panose="00000500000000000000" pitchFamily="2" charset="0"/>
                <a:ea typeface="Source Serif Pro" panose="02040603050405020204" pitchFamily="18" charset="0"/>
                <a:cs typeface="Poppins" panose="00000500000000000000" pitchFamily="2" charset="0"/>
              </a:rPr>
              <a:t>With +20 years of experience in corporate employee transportation, </a:t>
            </a:r>
            <a:r>
              <a:rPr lang="en-US" sz="900" b="1" dirty="0">
                <a:latin typeface="Poppins" panose="00000500000000000000" pitchFamily="2" charset="0"/>
                <a:ea typeface="Source Serif Pro" panose="02040603050405020204" pitchFamily="18" charset="0"/>
                <a:cs typeface="Poppins" panose="00000500000000000000" pitchFamily="2" charset="0"/>
              </a:rPr>
              <a:t>Mobi is one of the leading platforms in corporate mobility, serving industrial, agribusiness and consumer goods clients across the Midwest and Southeast of Brazil</a:t>
            </a:r>
            <a:endParaRPr lang="pt-BR" sz="900" b="1" spc="-30" dirty="0">
              <a:latin typeface="Poppins" panose="00000500000000000000" pitchFamily="2" charset="0"/>
              <a:ea typeface="Source Serif Pro" panose="02040603050405020204" pitchFamily="18" charset="0"/>
              <a:cs typeface="Poppins" panose="00000500000000000000" pitchFamily="2" charset="0"/>
            </a:endParaRPr>
          </a:p>
        </p:txBody>
      </p:sp>
      <p:pic>
        <p:nvPicPr>
          <p:cNvPr id="6" name="Graphic 218">
            <a:extLst>
              <a:ext uri="{FF2B5EF4-FFF2-40B4-BE49-F238E27FC236}">
                <a16:creationId xmlns:a16="http://schemas.microsoft.com/office/drawing/2014/main" id="{E2159A3F-3602-13FD-B031-8C44B8430B92}"/>
              </a:ext>
            </a:extLst>
          </p:cNvPr>
          <p:cNvPicPr>
            <a:picLocks noChangeAspect="1"/>
          </p:cNvPicPr>
          <p:nvPr/>
        </p:nvPicPr>
        <p:blipFill>
          <a:blip>
            <a:extLst>
              <a:ext uri="{96DAC541-7B7A-43D3-8B79-37D633B846F1}">
                <asvg:svgBlip xmlns:asvg="http://schemas.microsoft.com/office/drawing/2016/SVG/main" r:embed="rId7"/>
              </a:ext>
            </a:extLst>
          </a:blip>
          <a:srcRect t="9767" b="17086"/>
          <a:stretch>
            <a:fillRect/>
          </a:stretch>
        </p:blipFill>
        <p:spPr>
          <a:xfrm>
            <a:off x="877377" y="2528381"/>
            <a:ext cx="439690" cy="394717"/>
          </a:xfrm>
          <a:prstGeom prst="rect">
            <a:avLst/>
          </a:prstGeom>
        </p:spPr>
      </p:pic>
      <p:sp>
        <p:nvSpPr>
          <p:cNvPr id="9" name="TextBox 184">
            <a:extLst>
              <a:ext uri="{FF2B5EF4-FFF2-40B4-BE49-F238E27FC236}">
                <a16:creationId xmlns:a16="http://schemas.microsoft.com/office/drawing/2014/main" id="{76712E1D-4117-0289-8B5E-CED87B74856E}"/>
              </a:ext>
            </a:extLst>
          </p:cNvPr>
          <p:cNvSpPr txBox="1"/>
          <p:nvPr/>
        </p:nvSpPr>
        <p:spPr>
          <a:xfrm>
            <a:off x="1592206" y="3151443"/>
            <a:ext cx="3675119" cy="451277"/>
          </a:xfrm>
          <a:prstGeom prst="rect">
            <a:avLst/>
          </a:prstGeom>
          <a:noFill/>
        </p:spPr>
        <p:txBody>
          <a:bodyPr wrap="square" lIns="0" tIns="0" rIns="0" bIns="0" rtlCol="0">
            <a:spAutoFit/>
          </a:bodyPr>
          <a:lstStyle/>
          <a:p>
            <a:pPr>
              <a:lnSpc>
                <a:spcPct val="110000"/>
              </a:lnSpc>
              <a:spcAft>
                <a:spcPts val="800"/>
              </a:spcAft>
            </a:pPr>
            <a:r>
              <a:rPr lang="en-US" sz="900" dirty="0">
                <a:latin typeface="Poppins" panose="00000500000000000000" pitchFamily="2" charset="0"/>
                <a:ea typeface="Source Serif Pro" panose="02040603050405020204" pitchFamily="18" charset="0"/>
                <a:cs typeface="Poppins" panose="00000500000000000000" pitchFamily="2" charset="0"/>
              </a:rPr>
              <a:t>With </a:t>
            </a:r>
            <a:r>
              <a:rPr lang="en-US" sz="900" b="1" dirty="0">
                <a:latin typeface="Poppins" panose="00000500000000000000" pitchFamily="2" charset="0"/>
                <a:ea typeface="Source Serif Pro" panose="02040603050405020204" pitchFamily="18" charset="0"/>
                <a:cs typeface="Poppins" panose="00000500000000000000" pitchFamily="2" charset="0"/>
              </a:rPr>
              <a:t>[XXX] contracts executed</a:t>
            </a:r>
            <a:r>
              <a:rPr lang="en-US" sz="900" dirty="0">
                <a:latin typeface="Poppins" panose="00000500000000000000" pitchFamily="2" charset="0"/>
                <a:ea typeface="Source Serif Pro" panose="02040603050405020204" pitchFamily="18" charset="0"/>
                <a:cs typeface="Poppins" panose="00000500000000000000" pitchFamily="2" charset="0"/>
              </a:rPr>
              <a:t> in recent years, Mobi has built a </a:t>
            </a:r>
            <a:r>
              <a:rPr lang="en-US" sz="900" b="1" dirty="0">
                <a:latin typeface="Poppins" panose="00000500000000000000" pitchFamily="2" charset="0"/>
                <a:ea typeface="Source Serif Pro" panose="02040603050405020204" pitchFamily="18" charset="0"/>
                <a:cs typeface="Poppins" panose="00000500000000000000" pitchFamily="2" charset="0"/>
              </a:rPr>
              <a:t>strong portfolio of recurring revenue contracts with blue-chip clients, </a:t>
            </a:r>
            <a:r>
              <a:rPr lang="en-US" sz="900" dirty="0">
                <a:latin typeface="Poppins" panose="00000500000000000000" pitchFamily="2" charset="0"/>
                <a:ea typeface="Source Serif Pro" panose="02040603050405020204" pitchFamily="18" charset="0"/>
                <a:cs typeface="Poppins" panose="00000500000000000000" pitchFamily="2" charset="0"/>
              </a:rPr>
              <a:t>reflecting trusted and long-term partnerships</a:t>
            </a:r>
            <a:endParaRPr lang="pt-BR" sz="900" b="1" spc="-30" dirty="0">
              <a:latin typeface="Poppins" panose="00000500000000000000" pitchFamily="2" charset="0"/>
              <a:ea typeface="Source Serif Pro" panose="02040603050405020204" pitchFamily="18" charset="0"/>
              <a:cs typeface="Poppins" panose="00000500000000000000" pitchFamily="2" charset="0"/>
            </a:endParaRPr>
          </a:p>
        </p:txBody>
      </p:sp>
      <p:sp>
        <p:nvSpPr>
          <p:cNvPr id="16" name="TextBox 184">
            <a:extLst>
              <a:ext uri="{FF2B5EF4-FFF2-40B4-BE49-F238E27FC236}">
                <a16:creationId xmlns:a16="http://schemas.microsoft.com/office/drawing/2014/main" id="{2CB9D472-6AED-3E5D-1BB7-2704FF5017D9}"/>
              </a:ext>
            </a:extLst>
          </p:cNvPr>
          <p:cNvSpPr txBox="1"/>
          <p:nvPr/>
        </p:nvSpPr>
        <p:spPr>
          <a:xfrm>
            <a:off x="1592206" y="3802784"/>
            <a:ext cx="3770370" cy="603627"/>
          </a:xfrm>
          <a:prstGeom prst="rect">
            <a:avLst/>
          </a:prstGeom>
          <a:noFill/>
        </p:spPr>
        <p:txBody>
          <a:bodyPr wrap="square" lIns="0" tIns="0" rIns="0" bIns="0" rtlCol="0">
            <a:spAutoFit/>
          </a:bodyPr>
          <a:lstStyle/>
          <a:p>
            <a:pPr>
              <a:lnSpc>
                <a:spcPct val="110000"/>
              </a:lnSpc>
              <a:spcAft>
                <a:spcPts val="800"/>
              </a:spcAft>
            </a:pPr>
            <a:r>
              <a:rPr lang="en-US" sz="900" dirty="0">
                <a:latin typeface="Poppins" panose="00000500000000000000" pitchFamily="2" charset="0"/>
                <a:ea typeface="Source Serif Pro" panose="02040603050405020204" pitchFamily="18" charset="0"/>
                <a:cs typeface="Poppins" panose="00000500000000000000" pitchFamily="2" charset="0"/>
              </a:rPr>
              <a:t>Operational strength underpinned by a modern fleet of </a:t>
            </a:r>
            <a:r>
              <a:rPr lang="en-US" sz="900" b="1" dirty="0">
                <a:latin typeface="Poppins" panose="00000500000000000000" pitchFamily="2" charset="0"/>
                <a:ea typeface="Source Serif Pro" panose="02040603050405020204" pitchFamily="18" charset="0"/>
                <a:cs typeface="Poppins" panose="00000500000000000000" pitchFamily="2" charset="0"/>
              </a:rPr>
              <a:t>373 vehicles</a:t>
            </a:r>
            <a:r>
              <a:rPr lang="en-US" sz="900" b="1" baseline="30000" dirty="0">
                <a:latin typeface="Poppins" panose="00000500000000000000" pitchFamily="2" charset="0"/>
                <a:ea typeface="Source Serif Pro" panose="02040603050405020204" pitchFamily="18" charset="0"/>
                <a:cs typeface="Poppins" panose="00000500000000000000" pitchFamily="2" charset="0"/>
              </a:rPr>
              <a:t>(1)</a:t>
            </a:r>
            <a:r>
              <a:rPr lang="en-US" sz="900" dirty="0">
                <a:latin typeface="Poppins" panose="00000500000000000000" pitchFamily="2" charset="0"/>
                <a:ea typeface="Source Serif Pro" panose="02040603050405020204" pitchFamily="18" charset="0"/>
                <a:cs typeface="Poppins" panose="00000500000000000000" pitchFamily="2" charset="0"/>
              </a:rPr>
              <a:t> with an average age of </a:t>
            </a:r>
            <a:r>
              <a:rPr lang="en-US" sz="900" b="1" dirty="0">
                <a:latin typeface="Poppins" panose="00000500000000000000" pitchFamily="2" charset="0"/>
                <a:ea typeface="Source Serif Pro" panose="02040603050405020204" pitchFamily="18" charset="0"/>
                <a:cs typeface="Poppins" panose="00000500000000000000" pitchFamily="2" charset="0"/>
              </a:rPr>
              <a:t>~6 years(1)</a:t>
            </a:r>
            <a:r>
              <a:rPr lang="en-US" sz="900" dirty="0">
                <a:latin typeface="Poppins" panose="00000500000000000000" pitchFamily="2" charset="0"/>
                <a:ea typeface="Source Serif Pro" panose="02040603050405020204" pitchFamily="18" charset="0"/>
                <a:cs typeface="Poppins" panose="00000500000000000000" pitchFamily="2" charset="0"/>
              </a:rPr>
              <a:t>, enabling a </a:t>
            </a:r>
            <a:r>
              <a:rPr lang="en-US" sz="900" b="1" dirty="0">
                <a:latin typeface="Poppins" panose="00000500000000000000" pitchFamily="2" charset="0"/>
                <a:ea typeface="Source Serif Pro" panose="02040603050405020204" pitchFamily="18" charset="0"/>
                <a:cs typeface="Poppins" panose="00000500000000000000" pitchFamily="2" charset="0"/>
              </a:rPr>
              <a:t>full and flexible service offering across buses, micro-buses and vans, tailored to client needs</a:t>
            </a:r>
            <a:endParaRPr lang="pt-BR" sz="900" b="1" spc="-30" dirty="0">
              <a:latin typeface="Poppins" panose="00000500000000000000" pitchFamily="2" charset="0"/>
              <a:ea typeface="Source Serif Pro" panose="02040603050405020204" pitchFamily="18" charset="0"/>
              <a:cs typeface="Poppins" panose="00000500000000000000" pitchFamily="2" charset="0"/>
            </a:endParaRPr>
          </a:p>
        </p:txBody>
      </p:sp>
      <p:sp>
        <p:nvSpPr>
          <p:cNvPr id="20" name="TextBox 184">
            <a:extLst>
              <a:ext uri="{FF2B5EF4-FFF2-40B4-BE49-F238E27FC236}">
                <a16:creationId xmlns:a16="http://schemas.microsoft.com/office/drawing/2014/main" id="{A733ABB6-09A3-1A65-5A7C-4401A315AE45}"/>
              </a:ext>
            </a:extLst>
          </p:cNvPr>
          <p:cNvSpPr txBox="1"/>
          <p:nvPr/>
        </p:nvSpPr>
        <p:spPr>
          <a:xfrm>
            <a:off x="1592206" y="4606475"/>
            <a:ext cx="3770370" cy="603627"/>
          </a:xfrm>
          <a:prstGeom prst="rect">
            <a:avLst/>
          </a:prstGeom>
          <a:noFill/>
        </p:spPr>
        <p:txBody>
          <a:bodyPr wrap="square" lIns="0" tIns="0" rIns="0" bIns="0" rtlCol="0">
            <a:spAutoFit/>
          </a:bodyPr>
          <a:lstStyle/>
          <a:p>
            <a:pPr>
              <a:lnSpc>
                <a:spcPct val="110000"/>
              </a:lnSpc>
              <a:spcAft>
                <a:spcPts val="800"/>
              </a:spcAft>
            </a:pPr>
            <a:r>
              <a:rPr lang="en-US" sz="900" dirty="0">
                <a:latin typeface="Poppins" panose="00000500000000000000" pitchFamily="2" charset="0"/>
                <a:ea typeface="Source Serif Pro" panose="02040603050405020204" pitchFamily="18" charset="0"/>
                <a:cs typeface="Poppins" panose="00000500000000000000" pitchFamily="2" charset="0"/>
              </a:rPr>
              <a:t>Strong emphasis on operational reliability, supported by </a:t>
            </a:r>
            <a:r>
              <a:rPr lang="en-US" sz="900" b="1" dirty="0">
                <a:latin typeface="Poppins" panose="00000500000000000000" pitchFamily="2" charset="0"/>
                <a:ea typeface="Source Serif Pro" panose="02040603050405020204" pitchFamily="18" charset="0"/>
                <a:cs typeface="Poppins" panose="00000500000000000000" pitchFamily="2" charset="0"/>
              </a:rPr>
              <a:t>GPS-based telemetry and driver monitoring systems[; in-house maintenance capabilities to be confirmed with management]</a:t>
            </a:r>
            <a:r>
              <a:rPr lang="en-US" sz="900" dirty="0">
                <a:latin typeface="Poppins" panose="00000500000000000000" pitchFamily="2" charset="0"/>
                <a:ea typeface="Source Serif Pro" panose="02040603050405020204" pitchFamily="18" charset="0"/>
                <a:cs typeface="Poppins" panose="00000500000000000000" pitchFamily="2" charset="0"/>
              </a:rPr>
              <a:t>, ensuring consistently high performance</a:t>
            </a:r>
            <a:endParaRPr lang="pt-BR" sz="900" b="1" spc="-30" dirty="0">
              <a:latin typeface="Poppins" panose="00000500000000000000" pitchFamily="2" charset="0"/>
              <a:ea typeface="Source Serif Pro" panose="02040603050405020204" pitchFamily="18" charset="0"/>
              <a:cs typeface="Poppins" panose="00000500000000000000" pitchFamily="2" charset="0"/>
            </a:endParaRPr>
          </a:p>
        </p:txBody>
      </p:sp>
      <p:pic>
        <p:nvPicPr>
          <p:cNvPr id="26" name="Graphic 224">
            <a:extLst>
              <a:ext uri="{FF2B5EF4-FFF2-40B4-BE49-F238E27FC236}">
                <a16:creationId xmlns:a16="http://schemas.microsoft.com/office/drawing/2014/main" id="{E40224B9-5046-4D28-173D-EF7F382B7971}"/>
              </a:ext>
            </a:extLst>
          </p:cNvPr>
          <p:cNvPicPr>
            <a:picLocks noChangeAspect="1"/>
          </p:cNvPicPr>
          <p:nvPr/>
        </p:nvPicPr>
        <p:blipFill>
          <a:blip>
            <a:extLst>
              <a:ext uri="{96DAC541-7B7A-43D3-8B79-37D633B846F1}">
                <asvg:svgBlip xmlns:asvg="http://schemas.microsoft.com/office/drawing/2016/SVG/main" r:embed="rId8"/>
              </a:ext>
            </a:extLst>
          </a:blip>
          <a:srcRect b="18424"/>
          <a:stretch>
            <a:fillRect/>
          </a:stretch>
        </p:blipFill>
        <p:spPr>
          <a:xfrm>
            <a:off x="849085" y="4659864"/>
            <a:ext cx="496274" cy="496849"/>
          </a:xfrm>
          <a:prstGeom prst="rect">
            <a:avLst/>
          </a:prstGeom>
        </p:spPr>
      </p:pic>
      <p:grpSp>
        <p:nvGrpSpPr>
          <p:cNvPr id="27" name="Group 12">
            <a:extLst>
              <a:ext uri="{FF2B5EF4-FFF2-40B4-BE49-F238E27FC236}">
                <a16:creationId xmlns:a16="http://schemas.microsoft.com/office/drawing/2014/main" id="{79498A1B-EFDD-E70C-00A3-DCAB700D420F}"/>
              </a:ext>
            </a:extLst>
          </p:cNvPr>
          <p:cNvGrpSpPr/>
          <p:nvPr/>
        </p:nvGrpSpPr>
        <p:grpSpPr>
          <a:xfrm>
            <a:off x="6286083" y="1648530"/>
            <a:ext cx="4738967" cy="333938"/>
            <a:chOff x="7145065" y="3867598"/>
            <a:chExt cx="5543550" cy="333938"/>
          </a:xfrm>
        </p:grpSpPr>
        <p:sp>
          <p:nvSpPr>
            <p:cNvPr id="28" name="Título 1">
              <a:extLst>
                <a:ext uri="{FF2B5EF4-FFF2-40B4-BE49-F238E27FC236}">
                  <a16:creationId xmlns:a16="http://schemas.microsoft.com/office/drawing/2014/main" id="{91AB15A4-28CA-7EC3-B557-37A5477BF31D}"/>
                </a:ext>
              </a:extLst>
            </p:cNvPr>
            <p:cNvSpPr txBox="1">
              <a:spLocks/>
            </p:cNvSpPr>
            <p:nvPr/>
          </p:nvSpPr>
          <p:spPr>
            <a:xfrm>
              <a:off x="7145065" y="3867598"/>
              <a:ext cx="5543550" cy="333938"/>
            </a:xfrm>
            <a:prstGeom prst="rect">
              <a:avLst/>
            </a:prstGeom>
          </p:spPr>
          <p:txBody>
            <a:bodyPr vert="horz"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latin typeface="Poppins SemiBold" panose="00000700000000000000" pitchFamily="2" charset="0"/>
                  <a:cs typeface="Poppins SemiBold" panose="00000700000000000000" pitchFamily="2" charset="0"/>
                </a:rPr>
                <a:t>Gross revenue by entity — 1Q2025 vs. 1Q2026</a:t>
              </a:r>
              <a:endParaRPr lang="pt-BR" sz="1200" dirty="0">
                <a:latin typeface="Poppins SemiBold" panose="00000700000000000000" pitchFamily="2" charset="0"/>
                <a:cs typeface="Poppins SemiBold" panose="00000700000000000000" pitchFamily="2" charset="0"/>
              </a:endParaRPr>
            </a:p>
          </p:txBody>
        </p:sp>
        <p:sp>
          <p:nvSpPr>
            <p:cNvPr id="29" name="TextBox 14">
              <a:extLst>
                <a:ext uri="{FF2B5EF4-FFF2-40B4-BE49-F238E27FC236}">
                  <a16:creationId xmlns:a16="http://schemas.microsoft.com/office/drawing/2014/main" id="{F6926AD8-5765-2117-545C-709BCA7F7630}"/>
                </a:ext>
              </a:extLst>
            </p:cNvPr>
            <p:cNvSpPr txBox="1"/>
            <p:nvPr/>
          </p:nvSpPr>
          <p:spPr>
            <a:xfrm>
              <a:off x="7145065" y="4035336"/>
              <a:ext cx="935644" cy="162865"/>
            </a:xfrm>
            <a:prstGeom prst="rect">
              <a:avLst/>
            </a:prstGeom>
            <a:noFill/>
          </p:spPr>
          <p:txBody>
            <a:bodyPr wrap="square" lIns="0" tIns="0" rIns="0" bIns="0" rtlCol="0">
              <a:spAutoFit/>
            </a:bodyPr>
            <a:lstStyle/>
            <a:p>
              <a:pPr algn="l">
                <a:lnSpc>
                  <a:spcPct val="110000"/>
                </a:lnSpc>
                <a:spcAft>
                  <a:spcPts val="800"/>
                </a:spcAft>
              </a:pPr>
              <a:r>
                <a:rPr lang="pt-BR" sz="1000" dirty="0">
                  <a:solidFill>
                    <a:schemeClr val="accent6">
                      <a:lumMod val="50000"/>
                    </a:schemeClr>
                  </a:solidFill>
                  <a:latin typeface="Poppins Light" panose="00000400000000000000" pitchFamily="2" charset="0"/>
                  <a:ea typeface="Source Serif Pro" panose="02040603050405020204" pitchFamily="18" charset="0"/>
                  <a:cs typeface="Poppins Light" panose="00000400000000000000" pitchFamily="2" charset="0"/>
                </a:rPr>
                <a:t>BRL Mn</a:t>
              </a:r>
            </a:p>
          </p:txBody>
        </p:sp>
      </p:grpSp>
      <p:graphicFrame>
        <p:nvGraphicFramePr>
          <p:cNvPr id="30" name="Chart 21">
            <a:extLst>
              <a:ext uri="{FF2B5EF4-FFF2-40B4-BE49-F238E27FC236}">
                <a16:creationId xmlns:a16="http://schemas.microsoft.com/office/drawing/2014/main" id="{2FE7CA96-F83D-49CC-95A8-2FF95945B304}"/>
              </a:ext>
            </a:extLst>
          </p:cNvPr>
          <p:cNvGraphicFramePr>
            <a:graphicFrameLocks/>
          </p:cNvGraphicFramePr>
          <p:nvPr>
            <p:custDataLst>
              <p:tags r:id="rId1"/>
            </p:custDataLst>
            <p:extLst>
              <p:ext uri="{D42A27DB-BD31-4B8C-83A1-F6EECF244321}">
                <p14:modId xmlns:p14="http://schemas.microsoft.com/office/powerpoint/2010/main" val="2564416932"/>
              </p:ext>
            </p:extLst>
          </p:nvPr>
        </p:nvGraphicFramePr>
        <p:xfrm>
          <a:off x="6110481" y="2102044"/>
          <a:ext cx="5690994" cy="2534612"/>
        </p:xfrm>
        <a:graphic>
          <a:graphicData uri="http://schemas.openxmlformats.org/drawingml/2006/chart">
            <c:chart xmlns:c="http://schemas.openxmlformats.org/drawingml/2006/chart" xmlns:r="http://schemas.openxmlformats.org/officeDocument/2006/relationships" r:id="rId9"/>
          </a:graphicData>
        </a:graphic>
      </p:graphicFrame>
      <p:sp>
        <p:nvSpPr>
          <p:cNvPr id="33" name="Título 1">
            <a:extLst>
              <a:ext uri="{FF2B5EF4-FFF2-40B4-BE49-F238E27FC236}">
                <a16:creationId xmlns:a16="http://schemas.microsoft.com/office/drawing/2014/main" id="{C43E4CC0-884F-72EF-018C-9457B08D7249}"/>
              </a:ext>
            </a:extLst>
          </p:cNvPr>
          <p:cNvSpPr txBox="1">
            <a:spLocks/>
          </p:cNvSpPr>
          <p:nvPr/>
        </p:nvSpPr>
        <p:spPr>
          <a:xfrm>
            <a:off x="6288088" y="5005523"/>
            <a:ext cx="1500000" cy="14677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bg1"/>
                </a:solidFill>
                <a:latin typeface="Poppins SemiBold" panose="00000700000000000000" pitchFamily="2" charset="0"/>
                <a:cs typeface="Poppins SemiBold" panose="00000700000000000000" pitchFamily="2" charset="0"/>
              </a:rPr>
              <a:t>Highlights</a:t>
            </a:r>
          </a:p>
        </p:txBody>
      </p:sp>
      <p:pic>
        <p:nvPicPr>
          <p:cNvPr id="50" name="Imagem 49">
            <a:extLst>
              <a:ext uri="{FF2B5EF4-FFF2-40B4-BE49-F238E27FC236}">
                <a16:creationId xmlns:a16="http://schemas.microsoft.com/office/drawing/2014/main" id="{742EDCDF-CE24-5E66-DB0A-6A93EE9D3067}"/>
              </a:ext>
            </a:extLst>
          </p:cNvPr>
          <p:cNvPicPr>
            <a:picLocks noChangeAspect="1"/>
          </p:cNvPicPr>
          <p:nvPr/>
        </p:nvPicPr>
        <p:blipFill>
          <a:blip r:embed="rId10">
            <a:biLevel thresh="7500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10775561" y="6179422"/>
            <a:ext cx="1079890" cy="345903"/>
          </a:xfrm>
          <a:prstGeom prst="rect">
            <a:avLst/>
          </a:prstGeom>
        </p:spPr>
      </p:pic>
      <p:sp>
        <p:nvSpPr>
          <p:cNvPr id="13" name="TextBox 184">
            <a:extLst>
              <a:ext uri="{FF2B5EF4-FFF2-40B4-BE49-F238E27FC236}">
                <a16:creationId xmlns:a16="http://schemas.microsoft.com/office/drawing/2014/main" id="{B20181CA-F70D-EBC6-F885-4BC94143DD14}"/>
              </a:ext>
            </a:extLst>
          </p:cNvPr>
          <p:cNvSpPr txBox="1"/>
          <p:nvPr/>
        </p:nvSpPr>
        <p:spPr>
          <a:xfrm>
            <a:off x="1592206" y="5410167"/>
            <a:ext cx="3770370" cy="451277"/>
          </a:xfrm>
          <a:prstGeom prst="rect">
            <a:avLst/>
          </a:prstGeom>
          <a:noFill/>
        </p:spPr>
        <p:txBody>
          <a:bodyPr wrap="square" lIns="0" tIns="0" rIns="0" bIns="0" rtlCol="0">
            <a:spAutoFit/>
          </a:bodyPr>
          <a:lstStyle/>
          <a:p>
            <a:pPr>
              <a:lnSpc>
                <a:spcPct val="110000"/>
              </a:lnSpc>
              <a:spcAft>
                <a:spcPts val="800"/>
              </a:spcAft>
            </a:pPr>
            <a:r>
              <a:rPr lang="en-US" sz="900" dirty="0">
                <a:latin typeface="Poppins" panose="00000500000000000000" pitchFamily="2" charset="0"/>
                <a:ea typeface="Source Serif Pro" panose="02040603050405020204" pitchFamily="18" charset="0"/>
                <a:cs typeface="Poppins" panose="00000500000000000000" pitchFamily="2" charset="0"/>
              </a:rPr>
              <a:t>Experienced and scalable workforce, with </a:t>
            </a:r>
            <a:r>
              <a:rPr lang="en-US" sz="900" b="1" dirty="0">
                <a:latin typeface="Poppins" panose="00000500000000000000" pitchFamily="2" charset="0"/>
                <a:ea typeface="Source Serif Pro" panose="02040603050405020204" pitchFamily="18" charset="0"/>
                <a:cs typeface="Poppins" panose="00000500000000000000" pitchFamily="2" charset="0"/>
              </a:rPr>
              <a:t>[XXX] employees</a:t>
            </a:r>
            <a:r>
              <a:rPr lang="en-US" sz="900" dirty="0">
                <a:latin typeface="Poppins" panose="00000500000000000000" pitchFamily="2" charset="0"/>
                <a:ea typeface="Source Serif Pro" panose="02040603050405020204" pitchFamily="18" charset="0"/>
                <a:cs typeface="Poppins" panose="00000500000000000000" pitchFamily="2" charset="0"/>
              </a:rPr>
              <a:t>, a </a:t>
            </a:r>
            <a:r>
              <a:rPr lang="en-US" sz="900" b="1" dirty="0">
                <a:latin typeface="Poppins" panose="00000500000000000000" pitchFamily="2" charset="0"/>
                <a:ea typeface="Source Serif Pro" panose="02040603050405020204" pitchFamily="18" charset="0"/>
                <a:cs typeface="Poppins" panose="00000500000000000000" pitchFamily="2" charset="0"/>
              </a:rPr>
              <a:t>seasoned management team</a:t>
            </a:r>
            <a:r>
              <a:rPr lang="en-US" sz="900" dirty="0">
                <a:latin typeface="Poppins" panose="00000500000000000000" pitchFamily="2" charset="0"/>
                <a:ea typeface="Source Serif Pro" panose="02040603050405020204" pitchFamily="18" charset="0"/>
                <a:cs typeface="Poppins" panose="00000500000000000000" pitchFamily="2" charset="0"/>
              </a:rPr>
              <a:t>, and a </a:t>
            </a:r>
            <a:r>
              <a:rPr lang="en-US" sz="900" b="1" dirty="0">
                <a:latin typeface="Poppins" panose="00000500000000000000" pitchFamily="2" charset="0"/>
                <a:ea typeface="Source Serif Pro" panose="02040603050405020204" pitchFamily="18" charset="0"/>
                <a:cs typeface="Poppins" panose="00000500000000000000" pitchFamily="2" charset="0"/>
              </a:rPr>
              <a:t>strong commitment to </a:t>
            </a:r>
            <a:r>
              <a:rPr lang="en-US" sz="900" b="1">
                <a:latin typeface="Poppins" panose="00000500000000000000" pitchFamily="2" charset="0"/>
                <a:ea typeface="Source Serif Pro" panose="02040603050405020204" pitchFamily="18" charset="0"/>
                <a:cs typeface="Poppins" panose="00000500000000000000" pitchFamily="2" charset="0"/>
              </a:rPr>
              <a:t>operational safety</a:t>
            </a:r>
            <a:endParaRPr lang="pt-BR" sz="900" b="1" spc="-30" dirty="0">
              <a:latin typeface="Poppins" panose="00000500000000000000" pitchFamily="2" charset="0"/>
              <a:ea typeface="Source Serif Pro" panose="02040603050405020204" pitchFamily="18" charset="0"/>
              <a:cs typeface="Poppins" panose="00000500000000000000" pitchFamily="2" charset="0"/>
            </a:endParaRPr>
          </a:p>
        </p:txBody>
      </p:sp>
      <p:pic>
        <p:nvPicPr>
          <p:cNvPr id="17" name="Graphic 16" descr="Hierarchy with solid fill">
            <a:extLst>
              <a:ext uri="{FF2B5EF4-FFF2-40B4-BE49-F238E27FC236}">
                <a16:creationId xmlns:a16="http://schemas.microsoft.com/office/drawing/2014/main" id="{295FF532-4A3C-B618-2FDB-9B5DBC4B3F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03325" y="5441908"/>
            <a:ext cx="387795" cy="387795"/>
          </a:xfrm>
          <a:prstGeom prst="rect">
            <a:avLst/>
          </a:prstGeom>
        </p:spPr>
      </p:pic>
      <p:sp>
        <p:nvSpPr>
          <p:cNvPr id="8" name="Retângulo: Cantos Arredondados 34">
            <a:extLst>
              <a:ext uri="{FF2B5EF4-FFF2-40B4-BE49-F238E27FC236}">
                <a16:creationId xmlns:a16="http://schemas.microsoft.com/office/drawing/2014/main" id="{8FF8938D-F9DB-3B26-A3B9-90860B60B07D}"/>
              </a:ext>
            </a:extLst>
          </p:cNvPr>
          <p:cNvSpPr/>
          <p:nvPr/>
        </p:nvSpPr>
        <p:spPr>
          <a:xfrm>
            <a:off x="6288087" y="5248191"/>
            <a:ext cx="1267200" cy="751444"/>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0" name="TextBox 193">
            <a:extLst>
              <a:ext uri="{FF2B5EF4-FFF2-40B4-BE49-F238E27FC236}">
                <a16:creationId xmlns:a16="http://schemas.microsoft.com/office/drawing/2014/main" id="{B06C8302-B7AB-E4FC-0671-4A49CB2A4966}"/>
              </a:ext>
            </a:extLst>
          </p:cNvPr>
          <p:cNvSpPr txBox="1"/>
          <p:nvPr/>
        </p:nvSpPr>
        <p:spPr>
          <a:xfrm>
            <a:off x="6346209" y="5457842"/>
            <a:ext cx="1150956" cy="332142"/>
          </a:xfrm>
          <a:prstGeom prst="rect">
            <a:avLst/>
          </a:prstGeom>
          <a:noFill/>
        </p:spPr>
        <p:txBody>
          <a:bodyPr wrap="none" lIns="0" tIns="0" rIns="0" bIns="0" rtlCol="0">
            <a:spAutoFit/>
          </a:bodyPr>
          <a:lstStyle/>
          <a:p>
            <a:pPr algn="ctr">
              <a:lnSpc>
                <a:spcPct val="110000"/>
              </a:lnSpc>
              <a:spcAft>
                <a:spcPts val="800"/>
              </a:spcAft>
            </a:pP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Strong growth, with </a:t>
            </a:r>
            <a:b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b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+41.3% </a:t>
            </a:r>
            <a:r>
              <a:rPr lang="en-US" sz="1000" noProof="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1Q gross revenue (YoY)</a:t>
            </a:r>
          </a:p>
        </p:txBody>
      </p:sp>
      <p:sp>
        <p:nvSpPr>
          <p:cNvPr id="12" name="Retângulo: Cantos Arredondados 40">
            <a:extLst>
              <a:ext uri="{FF2B5EF4-FFF2-40B4-BE49-F238E27FC236}">
                <a16:creationId xmlns:a16="http://schemas.microsoft.com/office/drawing/2014/main" id="{32FEA66F-2663-1809-9FCC-84F4630FCF62}"/>
              </a:ext>
            </a:extLst>
          </p:cNvPr>
          <p:cNvSpPr/>
          <p:nvPr/>
        </p:nvSpPr>
        <p:spPr>
          <a:xfrm>
            <a:off x="7698481" y="5248191"/>
            <a:ext cx="1267200" cy="751444"/>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4" name="TextBox 193">
            <a:extLst>
              <a:ext uri="{FF2B5EF4-FFF2-40B4-BE49-F238E27FC236}">
                <a16:creationId xmlns:a16="http://schemas.microsoft.com/office/drawing/2014/main" id="{9433B50C-16DA-5FA5-A48F-0831545C9BEF}"/>
              </a:ext>
            </a:extLst>
          </p:cNvPr>
          <p:cNvSpPr txBox="1"/>
          <p:nvPr/>
        </p:nvSpPr>
        <p:spPr>
          <a:xfrm>
            <a:off x="7750401" y="5373204"/>
            <a:ext cx="1163361" cy="501419"/>
          </a:xfrm>
          <a:prstGeom prst="rect">
            <a:avLst/>
          </a:prstGeom>
          <a:noFill/>
        </p:spPr>
        <p:txBody>
          <a:bodyPr wrap="square" lIns="0" tIns="0" rIns="0" bIns="0" rtlCol="0">
            <a:spAutoFit/>
          </a:bodyPr>
          <a:lstStyle/>
          <a:p>
            <a:pPr algn="ctr">
              <a:lnSpc>
                <a:spcPct val="110000"/>
              </a:lnSpc>
              <a:spcAft>
                <a:spcPts val="800"/>
              </a:spcAft>
            </a:pP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High quality fleet of </a:t>
            </a: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~BRL 198 Mn</a:t>
            </a: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 in</a:t>
            </a: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 </a:t>
            </a: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value</a:t>
            </a:r>
            <a:r>
              <a:rPr lang="en-US" sz="1000" baseline="30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(2)</a:t>
            </a:r>
          </a:p>
        </p:txBody>
      </p:sp>
      <p:sp>
        <p:nvSpPr>
          <p:cNvPr id="15" name="Retângulo: Cantos Arredondados 42">
            <a:extLst>
              <a:ext uri="{FF2B5EF4-FFF2-40B4-BE49-F238E27FC236}">
                <a16:creationId xmlns:a16="http://schemas.microsoft.com/office/drawing/2014/main" id="{168E9420-C193-AF62-C1A9-83F7C3C56DAB}"/>
              </a:ext>
            </a:extLst>
          </p:cNvPr>
          <p:cNvSpPr/>
          <p:nvPr/>
        </p:nvSpPr>
        <p:spPr>
          <a:xfrm>
            <a:off x="9107239" y="5248191"/>
            <a:ext cx="1266093" cy="751444"/>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9" name="TextBox 193">
            <a:extLst>
              <a:ext uri="{FF2B5EF4-FFF2-40B4-BE49-F238E27FC236}">
                <a16:creationId xmlns:a16="http://schemas.microsoft.com/office/drawing/2014/main" id="{C1D37C67-5546-8FBC-4E85-195744DAC293}"/>
              </a:ext>
            </a:extLst>
          </p:cNvPr>
          <p:cNvSpPr txBox="1"/>
          <p:nvPr/>
        </p:nvSpPr>
        <p:spPr>
          <a:xfrm>
            <a:off x="9124270" y="5288565"/>
            <a:ext cx="1232030" cy="670696"/>
          </a:xfrm>
          <a:prstGeom prst="rect">
            <a:avLst/>
          </a:prstGeom>
          <a:noFill/>
        </p:spPr>
        <p:txBody>
          <a:bodyPr wrap="square" lIns="0" tIns="0" rIns="0" bIns="0" rtlCol="0">
            <a:spAutoFit/>
          </a:bodyPr>
          <a:lstStyle/>
          <a:p>
            <a:pPr algn="ctr">
              <a:lnSpc>
                <a:spcPct val="110000"/>
              </a:lnSpc>
              <a:spcAft>
                <a:spcPts val="800"/>
              </a:spcAft>
            </a:pP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Strong revenue visibility, backed by </a:t>
            </a: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[XXX] </a:t>
            </a: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of contract backlog</a:t>
            </a:r>
            <a:r>
              <a:rPr lang="en-US" sz="1000" baseline="30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(3)</a:t>
            </a:r>
          </a:p>
        </p:txBody>
      </p:sp>
      <p:sp>
        <p:nvSpPr>
          <p:cNvPr id="21" name="Retângulo: Cantos Arredondados 42">
            <a:extLst>
              <a:ext uri="{FF2B5EF4-FFF2-40B4-BE49-F238E27FC236}">
                <a16:creationId xmlns:a16="http://schemas.microsoft.com/office/drawing/2014/main" id="{64F771BC-43CA-EB53-ED30-61351468369B}"/>
              </a:ext>
            </a:extLst>
          </p:cNvPr>
          <p:cNvSpPr/>
          <p:nvPr/>
        </p:nvSpPr>
        <p:spPr>
          <a:xfrm>
            <a:off x="10518157" y="5248191"/>
            <a:ext cx="1266093" cy="751444"/>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2" name="TextBox 193">
            <a:extLst>
              <a:ext uri="{FF2B5EF4-FFF2-40B4-BE49-F238E27FC236}">
                <a16:creationId xmlns:a16="http://schemas.microsoft.com/office/drawing/2014/main" id="{56879F49-3FE2-D734-390E-58B8872D3804}"/>
              </a:ext>
            </a:extLst>
          </p:cNvPr>
          <p:cNvSpPr txBox="1"/>
          <p:nvPr/>
        </p:nvSpPr>
        <p:spPr>
          <a:xfrm>
            <a:off x="10535188" y="5288565"/>
            <a:ext cx="1232030" cy="670696"/>
          </a:xfrm>
          <a:prstGeom prst="rect">
            <a:avLst/>
          </a:prstGeom>
          <a:noFill/>
        </p:spPr>
        <p:txBody>
          <a:bodyPr wrap="square" lIns="0" tIns="0" rIns="0" bIns="0" rtlCol="0">
            <a:spAutoFit/>
          </a:bodyPr>
          <a:lstStyle/>
          <a:p>
            <a:pPr algn="ctr">
              <a:lnSpc>
                <a:spcPct val="110000"/>
              </a:lnSpc>
              <a:spcAft>
                <a:spcPts val="800"/>
              </a:spcAft>
            </a:pP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a:t>
            </a: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BRL 140 Mn</a:t>
            </a: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 of </a:t>
            </a: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net revenue 2025</a:t>
            </a: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 with </a:t>
            </a:r>
            <a:r>
              <a:rPr lang="en-US" sz="1000" b="1"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~BRL 36 Mn</a:t>
            </a:r>
            <a:r>
              <a:rPr lang="en-US" sz="100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t> of EBITDA (~26% margin)</a:t>
            </a:r>
            <a:endParaRPr lang="en-US" sz="1000" baseline="30000" dirty="0">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Tree>
    <p:extLst>
      <p:ext uri="{BB962C8B-B14F-4D97-AF65-F5344CB8AC3E}">
        <p14:creationId xmlns:p14="http://schemas.microsoft.com/office/powerpoint/2010/main" val="3299354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35B1A"/>
            </a:gs>
            <a:gs pos="72000">
              <a:srgbClr val="000000"/>
            </a:gs>
          </a:gsLst>
          <a:lin ang="0" scaled="1"/>
        </a:gradFill>
        <a:effectLst/>
      </p:bgPr>
    </p:bg>
    <p:spTree>
      <p:nvGrpSpPr>
        <p:cNvPr id="1" name="">
          <a:extLst>
            <a:ext uri="{FF2B5EF4-FFF2-40B4-BE49-F238E27FC236}">
              <a16:creationId xmlns:a16="http://schemas.microsoft.com/office/drawing/2014/main" id="{63B999DB-1A1B-110F-891E-08D917D78B2A}"/>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66664008-C139-A265-840D-30FEC4527CB4}"/>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900" name="Retângulo: Cantos Arredondados 38">
            <a:extLst>
              <a:ext uri="{FF2B5EF4-FFF2-40B4-BE49-F238E27FC236}">
                <a16:creationId xmlns:a16="http://schemas.microsoft.com/office/drawing/2014/main" id="{C6C07B56-20A2-7B0C-637A-6E82DB7EE9B6}"/>
              </a:ext>
            </a:extLst>
          </p:cNvPr>
          <p:cNvSpPr/>
          <p:nvPr/>
        </p:nvSpPr>
        <p:spPr>
          <a:xfrm>
            <a:off x="1172922" y="2582830"/>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1" name="CaixaDeTexto 39">
            <a:extLst>
              <a:ext uri="{FF2B5EF4-FFF2-40B4-BE49-F238E27FC236}">
                <a16:creationId xmlns:a16="http://schemas.microsoft.com/office/drawing/2014/main" id="{8897FDF1-8AF3-603D-5C15-83FC17C1CCB8}"/>
              </a:ext>
            </a:extLst>
          </p:cNvPr>
          <p:cNvSpPr txBox="1"/>
          <p:nvPr/>
        </p:nvSpPr>
        <p:spPr>
          <a:xfrm>
            <a:off x="2139121" y="2711760"/>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Introduction</a:t>
            </a:r>
          </a:p>
        </p:txBody>
      </p:sp>
      <p:sp>
        <p:nvSpPr>
          <p:cNvPr id="902" name="CaixaDeTexto 40">
            <a:extLst>
              <a:ext uri="{FF2B5EF4-FFF2-40B4-BE49-F238E27FC236}">
                <a16:creationId xmlns:a16="http://schemas.microsoft.com/office/drawing/2014/main" id="{E733CCCD-386A-018A-FA97-3D4D45490E51}"/>
              </a:ext>
            </a:extLst>
          </p:cNvPr>
          <p:cNvSpPr txBox="1"/>
          <p:nvPr/>
        </p:nvSpPr>
        <p:spPr>
          <a:xfrm>
            <a:off x="1564869" y="2711760"/>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01</a:t>
            </a:r>
          </a:p>
        </p:txBody>
      </p:sp>
      <p:sp>
        <p:nvSpPr>
          <p:cNvPr id="903" name="Retângulo: Cantos Arredondados 1">
            <a:extLst>
              <a:ext uri="{FF2B5EF4-FFF2-40B4-BE49-F238E27FC236}">
                <a16:creationId xmlns:a16="http://schemas.microsoft.com/office/drawing/2014/main" id="{72FC2ABE-4E21-AB44-954E-D597F8016B1C}"/>
              </a:ext>
            </a:extLst>
          </p:cNvPr>
          <p:cNvSpPr/>
          <p:nvPr/>
        </p:nvSpPr>
        <p:spPr>
          <a:xfrm>
            <a:off x="1172922" y="3214518"/>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a:solidFill>
                <a:schemeClr val="tx1"/>
              </a:solidFill>
              <a:latin typeface="Source Serif Pro" panose="02040603050405020204" pitchFamily="18" charset="0"/>
              <a:ea typeface="Source Serif Pro" panose="02040603050405020204" pitchFamily="18" charset="0"/>
            </a:endParaRPr>
          </a:p>
        </p:txBody>
      </p:sp>
      <p:sp>
        <p:nvSpPr>
          <p:cNvPr id="904" name="CaixaDeTexto 25">
            <a:extLst>
              <a:ext uri="{FF2B5EF4-FFF2-40B4-BE49-F238E27FC236}">
                <a16:creationId xmlns:a16="http://schemas.microsoft.com/office/drawing/2014/main" id="{BC3552FB-F24F-9979-6760-4E7417A8FCDF}"/>
              </a:ext>
            </a:extLst>
          </p:cNvPr>
          <p:cNvSpPr txBox="1"/>
          <p:nvPr/>
        </p:nvSpPr>
        <p:spPr>
          <a:xfrm>
            <a:off x="2139121" y="3343448"/>
            <a:ext cx="1397757"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905" name="CaixaDeTexto 27">
            <a:extLst>
              <a:ext uri="{FF2B5EF4-FFF2-40B4-BE49-F238E27FC236}">
                <a16:creationId xmlns:a16="http://schemas.microsoft.com/office/drawing/2014/main" id="{7FCACCD0-1070-893D-F907-3A2251B4E01A}"/>
              </a:ext>
            </a:extLst>
          </p:cNvPr>
          <p:cNvSpPr txBox="1"/>
          <p:nvPr/>
        </p:nvSpPr>
        <p:spPr>
          <a:xfrm>
            <a:off x="1564869" y="3343448"/>
            <a:ext cx="428448"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02</a:t>
            </a:r>
          </a:p>
        </p:txBody>
      </p:sp>
      <p:sp>
        <p:nvSpPr>
          <p:cNvPr id="906" name="Retângulo: Cantos Arredondados 38">
            <a:extLst>
              <a:ext uri="{FF2B5EF4-FFF2-40B4-BE49-F238E27FC236}">
                <a16:creationId xmlns:a16="http://schemas.microsoft.com/office/drawing/2014/main" id="{C6C07B56-20A2-7B0C-637A-6E82DB7EE9B6}"/>
              </a:ext>
            </a:extLst>
          </p:cNvPr>
          <p:cNvSpPr/>
          <p:nvPr/>
        </p:nvSpPr>
        <p:spPr>
          <a:xfrm>
            <a:off x="1172922" y="3846206"/>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7" name="CaixaDeTexto 39">
            <a:extLst>
              <a:ext uri="{FF2B5EF4-FFF2-40B4-BE49-F238E27FC236}">
                <a16:creationId xmlns:a16="http://schemas.microsoft.com/office/drawing/2014/main" id="{8897FDF1-8AF3-603D-5C15-83FC17C1CCB8}"/>
              </a:ext>
            </a:extLst>
          </p:cNvPr>
          <p:cNvSpPr txBox="1"/>
          <p:nvPr/>
        </p:nvSpPr>
        <p:spPr>
          <a:xfrm>
            <a:off x="2139121" y="3975136"/>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908" name="CaixaDeTexto 40">
            <a:extLst>
              <a:ext uri="{FF2B5EF4-FFF2-40B4-BE49-F238E27FC236}">
                <a16:creationId xmlns:a16="http://schemas.microsoft.com/office/drawing/2014/main" id="{E733CCCD-386A-018A-FA97-3D4D45490E51}"/>
              </a:ext>
            </a:extLst>
          </p:cNvPr>
          <p:cNvSpPr txBox="1"/>
          <p:nvPr/>
        </p:nvSpPr>
        <p:spPr>
          <a:xfrm>
            <a:off x="1564869" y="3975136"/>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03</a:t>
            </a:r>
          </a:p>
        </p:txBody>
      </p:sp>
      <p:sp>
        <p:nvSpPr>
          <p:cNvPr id="909" name="Retângulo: Cantos Arredondados 38">
            <a:extLst>
              <a:ext uri="{FF2B5EF4-FFF2-40B4-BE49-F238E27FC236}">
                <a16:creationId xmlns:a16="http://schemas.microsoft.com/office/drawing/2014/main" id="{C6C07B56-20A2-7B0C-637A-6E82DB7EE9B6}"/>
              </a:ext>
            </a:extLst>
          </p:cNvPr>
          <p:cNvSpPr/>
          <p:nvPr/>
        </p:nvSpPr>
        <p:spPr>
          <a:xfrm>
            <a:off x="1172922" y="4477894"/>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10" name="CaixaDeTexto 39">
            <a:extLst>
              <a:ext uri="{FF2B5EF4-FFF2-40B4-BE49-F238E27FC236}">
                <a16:creationId xmlns:a16="http://schemas.microsoft.com/office/drawing/2014/main" id="{8897FDF1-8AF3-603D-5C15-83FC17C1CCB8}"/>
              </a:ext>
            </a:extLst>
          </p:cNvPr>
          <p:cNvSpPr txBox="1"/>
          <p:nvPr/>
        </p:nvSpPr>
        <p:spPr>
          <a:xfrm>
            <a:off x="2139121" y="4606824"/>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Financial Highlights</a:t>
            </a:r>
          </a:p>
        </p:txBody>
      </p:sp>
      <p:sp>
        <p:nvSpPr>
          <p:cNvPr id="911" name="CaixaDeTexto 40">
            <a:extLst>
              <a:ext uri="{FF2B5EF4-FFF2-40B4-BE49-F238E27FC236}">
                <a16:creationId xmlns:a16="http://schemas.microsoft.com/office/drawing/2014/main" id="{E733CCCD-386A-018A-FA97-3D4D45490E51}"/>
              </a:ext>
            </a:extLst>
          </p:cNvPr>
          <p:cNvSpPr txBox="1"/>
          <p:nvPr/>
        </p:nvSpPr>
        <p:spPr>
          <a:xfrm>
            <a:off x="1564869" y="4606824"/>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04</a:t>
            </a:r>
          </a:p>
        </p:txBody>
      </p:sp>
      <p:pic>
        <p:nvPicPr>
          <p:cNvPr id="4" name="Imagem 3">
            <a:extLst>
              <a:ext uri="{FF2B5EF4-FFF2-40B4-BE49-F238E27FC236}">
                <a16:creationId xmlns:a16="http://schemas.microsoft.com/office/drawing/2014/main" id="{6D355EEF-BA8F-CA32-F6DA-AE29FDAEAE05}"/>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2607441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BA378-35A8-3144-A1EB-D157C3AE4116}"/>
            </a:ext>
          </a:extLst>
        </p:cNvPr>
        <p:cNvGrpSpPr/>
        <p:nvPr/>
      </p:nvGrpSpPr>
      <p:grpSpPr>
        <a:xfrm>
          <a:off x="0" y="0"/>
          <a:ext cx="0" cy="0"/>
          <a:chOff x="0" y="0"/>
          <a:chExt cx="0" cy="0"/>
        </a:xfrm>
      </p:grpSpPr>
      <p:sp>
        <p:nvSpPr>
          <p:cNvPr id="3" name="Retângulo: Cantos Arredondados 2">
            <a:extLst>
              <a:ext uri="{FF2B5EF4-FFF2-40B4-BE49-F238E27FC236}">
                <a16:creationId xmlns:a16="http://schemas.microsoft.com/office/drawing/2014/main" id="{CAA2A23B-78E5-F1F9-7110-CC8B602CD1E7}"/>
              </a:ext>
            </a:extLst>
          </p:cNvPr>
          <p:cNvSpPr/>
          <p:nvPr/>
        </p:nvSpPr>
        <p:spPr>
          <a:xfrm>
            <a:off x="533400" y="1670151"/>
            <a:ext cx="11314113" cy="5493743"/>
          </a:xfrm>
          <a:prstGeom prst="roundRect">
            <a:avLst>
              <a:gd name="adj" fmla="val 3696"/>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6" name="Retângulo 25">
            <a:extLst>
              <a:ext uri="{FF2B5EF4-FFF2-40B4-BE49-F238E27FC236}">
                <a16:creationId xmlns:a16="http://schemas.microsoft.com/office/drawing/2014/main" id="{8400FA8E-9FA2-4BAD-95C5-B4B28D56BE8C}"/>
              </a:ext>
            </a:extLst>
          </p:cNvPr>
          <p:cNvSpPr>
            <a:spLocks noGrp="1" noRot="1" noMove="1" noResize="1" noEditPoints="1" noAdjustHandles="1" noChangeArrowheads="1" noChangeShapeType="1"/>
          </p:cNvSpPr>
          <p:nvPr/>
        </p:nvSpPr>
        <p:spPr>
          <a:xfrm>
            <a:off x="0" y="1"/>
            <a:ext cx="12192000" cy="14554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bg1"/>
              </a:solidFill>
              <a:latin typeface="Source Serif Pro" panose="02040603050405020204" pitchFamily="18" charset="0"/>
              <a:ea typeface="Source Serif Pro" panose="02040603050405020204" pitchFamily="18" charset="0"/>
            </a:endParaRPr>
          </a:p>
        </p:txBody>
      </p:sp>
      <p:sp>
        <p:nvSpPr>
          <p:cNvPr id="22" name="Retângulo 21">
            <a:extLst>
              <a:ext uri="{FF2B5EF4-FFF2-40B4-BE49-F238E27FC236}">
                <a16:creationId xmlns:a16="http://schemas.microsoft.com/office/drawing/2014/main" id="{CDA0A295-AB7B-6C29-E905-8914B56A76AD}"/>
              </a:ext>
            </a:extLst>
          </p:cNvPr>
          <p:cNvSpPr>
            <a:spLocks noGrp="1" noRot="1" noMove="1" noResize="1" noEditPoints="1" noAdjustHandles="1" noChangeArrowheads="1" noChangeShapeType="1"/>
          </p:cNvSpPr>
          <p:nvPr/>
        </p:nvSpPr>
        <p:spPr>
          <a:xfrm>
            <a:off x="10114672" y="6112741"/>
            <a:ext cx="1720141" cy="66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2C979BBB-542B-FFC8-72AC-C5A8A3C7E9D4}"/>
              </a:ext>
            </a:extLst>
          </p:cNvPr>
          <p:cNvSpPr>
            <a:spLocks noGrp="1"/>
          </p:cNvSpPr>
          <p:nvPr>
            <p:ph type="title"/>
          </p:nvPr>
        </p:nvSpPr>
        <p:spPr/>
        <p:txBody>
          <a:bodyPr/>
          <a:lstStyle/>
          <a:p>
            <a:r>
              <a:rPr lang="en-US" dirty="0">
                <a:solidFill>
                  <a:schemeClr val="bg1"/>
                </a:solidFill>
              </a:rPr>
              <a:t>Investment thesis</a:t>
            </a:r>
            <a:endParaRPr lang="pt-BR" dirty="0">
              <a:solidFill>
                <a:schemeClr val="bg1"/>
              </a:solidFill>
            </a:endParaRPr>
          </a:p>
        </p:txBody>
      </p:sp>
      <p:sp>
        <p:nvSpPr>
          <p:cNvPr id="16" name="Content Placeholder 15">
            <a:extLst>
              <a:ext uri="{FF2B5EF4-FFF2-40B4-BE49-F238E27FC236}">
                <a16:creationId xmlns:a16="http://schemas.microsoft.com/office/drawing/2014/main" id="{D5F60FB2-F1D1-5D7E-24EC-CCA7D991EEA0}"/>
              </a:ext>
            </a:extLst>
          </p:cNvPr>
          <p:cNvSpPr>
            <a:spLocks noGrp="1"/>
          </p:cNvSpPr>
          <p:nvPr>
            <p:ph sz="quarter" idx="13"/>
          </p:nvPr>
        </p:nvSpPr>
        <p:spPr>
          <a:xfrm>
            <a:off x="731838" y="1052961"/>
            <a:ext cx="11102975" cy="215503"/>
          </a:xfrm>
        </p:spPr>
        <p:txBody>
          <a:bodyPr/>
          <a:lstStyle/>
          <a:p>
            <a:r>
              <a:rPr lang="en-US" dirty="0">
                <a:solidFill>
                  <a:schemeClr val="bg1"/>
                </a:solidFill>
              </a:rPr>
              <a:t>Mobi is well positioned for continued growth, supported by strong value drivers</a:t>
            </a:r>
            <a:endParaRPr lang="pt-BR" dirty="0">
              <a:solidFill>
                <a:schemeClr val="bg1"/>
              </a:solidFill>
            </a:endParaRPr>
          </a:p>
        </p:txBody>
      </p:sp>
      <p:sp>
        <p:nvSpPr>
          <p:cNvPr id="47" name="Text Placeholder 46">
            <a:extLst>
              <a:ext uri="{FF2B5EF4-FFF2-40B4-BE49-F238E27FC236}">
                <a16:creationId xmlns:a16="http://schemas.microsoft.com/office/drawing/2014/main" id="{C5012A7C-B9EC-29C4-8596-A34C406A52AA}"/>
              </a:ext>
            </a:extLst>
          </p:cNvPr>
          <p:cNvSpPr>
            <a:spLocks noGrp="1"/>
          </p:cNvSpPr>
          <p:nvPr>
            <p:ph type="body" sz="quarter" idx="36"/>
          </p:nvPr>
        </p:nvSpPr>
        <p:spPr/>
        <p:txBody>
          <a:bodyPr/>
          <a:lstStyle/>
          <a:p>
            <a:endParaRPr lang="pt-BR" dirty="0"/>
          </a:p>
        </p:txBody>
      </p:sp>
      <p:sp>
        <p:nvSpPr>
          <p:cNvPr id="11" name="Slide Number Placeholder 5">
            <a:extLst>
              <a:ext uri="{FF2B5EF4-FFF2-40B4-BE49-F238E27FC236}">
                <a16:creationId xmlns:a16="http://schemas.microsoft.com/office/drawing/2014/main" id="{D53D47B0-7C00-3B76-8C5D-DDCB8A16B747}"/>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6</a:t>
            </a:fld>
            <a:endParaRPr lang="en-US" dirty="0">
              <a:latin typeface="Poppins Light" panose="00000400000000000000" pitchFamily="2" charset="0"/>
              <a:cs typeface="Poppins Light" panose="00000400000000000000" pitchFamily="2" charset="0"/>
            </a:endParaRPr>
          </a:p>
        </p:txBody>
      </p:sp>
      <p:sp>
        <p:nvSpPr>
          <p:cNvPr id="24" name="Título 1">
            <a:extLst>
              <a:ext uri="{FF2B5EF4-FFF2-40B4-BE49-F238E27FC236}">
                <a16:creationId xmlns:a16="http://schemas.microsoft.com/office/drawing/2014/main" id="{B4AA2045-21F2-D87F-1478-F0CE6081A5E2}"/>
              </a:ext>
            </a:extLst>
          </p:cNvPr>
          <p:cNvSpPr txBox="1">
            <a:spLocks/>
          </p:cNvSpPr>
          <p:nvPr/>
        </p:nvSpPr>
        <p:spPr>
          <a:xfrm>
            <a:off x="1013320" y="2132441"/>
            <a:ext cx="4313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01.</a:t>
            </a:r>
          </a:p>
        </p:txBody>
      </p:sp>
      <p:sp>
        <p:nvSpPr>
          <p:cNvPr id="45" name="CaixaDeTexto 3">
            <a:extLst>
              <a:ext uri="{FF2B5EF4-FFF2-40B4-BE49-F238E27FC236}">
                <a16:creationId xmlns:a16="http://schemas.microsoft.com/office/drawing/2014/main" id="{76DDE97C-EB57-8787-EDEE-095E29E288E1}"/>
              </a:ext>
            </a:extLst>
          </p:cNvPr>
          <p:cNvSpPr txBox="1"/>
          <p:nvPr/>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solidFill>
                  <a:schemeClr val="bg1"/>
                </a:solidFill>
              </a:rPr>
              <a:t>Investment Thesis</a:t>
            </a:r>
          </a:p>
        </p:txBody>
      </p:sp>
      <p:pic>
        <p:nvPicPr>
          <p:cNvPr id="46" name="Gráfico 14">
            <a:extLst>
              <a:ext uri="{FF2B5EF4-FFF2-40B4-BE49-F238E27FC236}">
                <a16:creationId xmlns:a16="http://schemas.microsoft.com/office/drawing/2014/main" id="{1A208FBE-B8BE-5C02-1ACC-786B9854C7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81969" y="307275"/>
            <a:ext cx="354839" cy="303818"/>
          </a:xfrm>
          <a:prstGeom prst="rect">
            <a:avLst/>
          </a:prstGeom>
        </p:spPr>
      </p:pic>
      <p:sp>
        <p:nvSpPr>
          <p:cNvPr id="7" name="Título 1">
            <a:extLst>
              <a:ext uri="{FF2B5EF4-FFF2-40B4-BE49-F238E27FC236}">
                <a16:creationId xmlns:a16="http://schemas.microsoft.com/office/drawing/2014/main" id="{C9249DA0-9C53-3F77-FF29-7E086B4D1324}"/>
              </a:ext>
            </a:extLst>
          </p:cNvPr>
          <p:cNvSpPr txBox="1">
            <a:spLocks/>
          </p:cNvSpPr>
          <p:nvPr/>
        </p:nvSpPr>
        <p:spPr>
          <a:xfrm>
            <a:off x="1013320" y="3687995"/>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03.</a:t>
            </a:r>
          </a:p>
        </p:txBody>
      </p:sp>
      <p:sp>
        <p:nvSpPr>
          <p:cNvPr id="10" name="Título 1">
            <a:extLst>
              <a:ext uri="{FF2B5EF4-FFF2-40B4-BE49-F238E27FC236}">
                <a16:creationId xmlns:a16="http://schemas.microsoft.com/office/drawing/2014/main" id="{BE433C8B-7B9B-CC8C-5E3C-A40FB8378B62}"/>
              </a:ext>
            </a:extLst>
          </p:cNvPr>
          <p:cNvSpPr txBox="1">
            <a:spLocks/>
          </p:cNvSpPr>
          <p:nvPr/>
        </p:nvSpPr>
        <p:spPr>
          <a:xfrm>
            <a:off x="1013320" y="4499280"/>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04.</a:t>
            </a:r>
          </a:p>
        </p:txBody>
      </p:sp>
      <p:sp>
        <p:nvSpPr>
          <p:cNvPr id="17" name="Título 1">
            <a:extLst>
              <a:ext uri="{FF2B5EF4-FFF2-40B4-BE49-F238E27FC236}">
                <a16:creationId xmlns:a16="http://schemas.microsoft.com/office/drawing/2014/main" id="{D5C7A7AB-5548-9D1B-F20A-52C27F3F3BC0}"/>
              </a:ext>
            </a:extLst>
          </p:cNvPr>
          <p:cNvSpPr txBox="1">
            <a:spLocks/>
          </p:cNvSpPr>
          <p:nvPr/>
        </p:nvSpPr>
        <p:spPr>
          <a:xfrm>
            <a:off x="1013320" y="5339141"/>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05.</a:t>
            </a:r>
          </a:p>
        </p:txBody>
      </p:sp>
      <p:sp>
        <p:nvSpPr>
          <p:cNvPr id="21" name="Título 1">
            <a:extLst>
              <a:ext uri="{FF2B5EF4-FFF2-40B4-BE49-F238E27FC236}">
                <a16:creationId xmlns:a16="http://schemas.microsoft.com/office/drawing/2014/main" id="{05DCBF02-91A9-6DAA-CC8E-27846C585B4A}"/>
              </a:ext>
            </a:extLst>
          </p:cNvPr>
          <p:cNvSpPr txBox="1">
            <a:spLocks/>
          </p:cNvSpPr>
          <p:nvPr/>
        </p:nvSpPr>
        <p:spPr>
          <a:xfrm>
            <a:off x="1013320" y="2876710"/>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02.</a:t>
            </a:r>
          </a:p>
        </p:txBody>
      </p:sp>
      <p:grpSp>
        <p:nvGrpSpPr>
          <p:cNvPr id="13" name="Agrupar 12">
            <a:extLst>
              <a:ext uri="{FF2B5EF4-FFF2-40B4-BE49-F238E27FC236}">
                <a16:creationId xmlns:a16="http://schemas.microsoft.com/office/drawing/2014/main" id="{F4377933-B1FF-B1AA-B7C7-ABD41FFF87DD}"/>
              </a:ext>
            </a:extLst>
          </p:cNvPr>
          <p:cNvGrpSpPr/>
          <p:nvPr/>
        </p:nvGrpSpPr>
        <p:grpSpPr>
          <a:xfrm>
            <a:off x="1721564" y="2018928"/>
            <a:ext cx="9419511" cy="436863"/>
            <a:chOff x="1721564" y="2018928"/>
            <a:chExt cx="9419511" cy="436863"/>
          </a:xfrm>
        </p:grpSpPr>
        <p:sp>
          <p:nvSpPr>
            <p:cNvPr id="25" name="Espaço Reservado para Conteúdo 4">
              <a:extLst>
                <a:ext uri="{FF2B5EF4-FFF2-40B4-BE49-F238E27FC236}">
                  <a16:creationId xmlns:a16="http://schemas.microsoft.com/office/drawing/2014/main" id="{67852D0A-1880-3ABB-85F5-79E7AC9DE8EF}"/>
                </a:ext>
              </a:extLst>
            </p:cNvPr>
            <p:cNvSpPr txBox="1">
              <a:spLocks/>
            </p:cNvSpPr>
            <p:nvPr/>
          </p:nvSpPr>
          <p:spPr>
            <a:xfrm>
              <a:off x="1721564" y="2069728"/>
              <a:ext cx="9419511" cy="386063"/>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US" sz="1200" b="1" dirty="0">
                  <a:solidFill>
                    <a:schemeClr val="bg2"/>
                  </a:solidFill>
                </a:rPr>
              </a:br>
              <a:r>
                <a:rPr lang="en-US" sz="900" dirty="0">
                  <a:solidFill>
                    <a:schemeClr val="bg2"/>
                  </a:solidFill>
                </a:rPr>
                <a:t>Structural demand for corporate employee transportation is supported by clients’ operational needs, a national shortage of professional drivers, and labor regulations (NR-31) requiring compliant transport in areas without adequate public transit</a:t>
              </a:r>
            </a:p>
          </p:txBody>
        </p:sp>
        <p:sp>
          <p:nvSpPr>
            <p:cNvPr id="29" name="Espaço Reservado para Conteúdo 4">
              <a:extLst>
                <a:ext uri="{FF2B5EF4-FFF2-40B4-BE49-F238E27FC236}">
                  <a16:creationId xmlns:a16="http://schemas.microsoft.com/office/drawing/2014/main" id="{B3BFD5B9-DAE8-0ADA-2B0D-45189FF4EA17}"/>
                </a:ext>
              </a:extLst>
            </p:cNvPr>
            <p:cNvSpPr txBox="1">
              <a:spLocks/>
            </p:cNvSpPr>
            <p:nvPr/>
          </p:nvSpPr>
          <p:spPr>
            <a:xfrm>
              <a:off x="1721564" y="2018928"/>
              <a:ext cx="4090667" cy="23179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tx1">
                      <a:lumMod val="65000"/>
                      <a:lumOff val="35000"/>
                    </a:schemeClr>
                  </a:solidFill>
                  <a:latin typeface="Poppins SemiBold" panose="00000700000000000000" pitchFamily="2" charset="0"/>
                  <a:cs typeface="Poppins SemiBold" panose="00000700000000000000" pitchFamily="2" charset="0"/>
                </a:rPr>
                <a:t>Exposure to a large and structurally growing corporate mobility market</a:t>
              </a:r>
              <a:endParaRPr lang="en-US" sz="1000" dirty="0">
                <a:solidFill>
                  <a:schemeClr val="tx1">
                    <a:lumMod val="65000"/>
                    <a:lumOff val="35000"/>
                  </a:schemeClr>
                </a:solidFill>
                <a:latin typeface="Poppins SemiBold" panose="00000700000000000000" pitchFamily="2" charset="0"/>
                <a:cs typeface="Poppins SemiBold" panose="00000700000000000000" pitchFamily="2" charset="0"/>
              </a:endParaRPr>
            </a:p>
          </p:txBody>
        </p:sp>
      </p:grpSp>
      <p:grpSp>
        <p:nvGrpSpPr>
          <p:cNvPr id="6" name="Agrupar 5">
            <a:extLst>
              <a:ext uri="{FF2B5EF4-FFF2-40B4-BE49-F238E27FC236}">
                <a16:creationId xmlns:a16="http://schemas.microsoft.com/office/drawing/2014/main" id="{A250417E-503F-D0E8-D24B-B0580C5ECC8C}"/>
              </a:ext>
            </a:extLst>
          </p:cNvPr>
          <p:cNvGrpSpPr/>
          <p:nvPr/>
        </p:nvGrpSpPr>
        <p:grpSpPr>
          <a:xfrm>
            <a:off x="1721564" y="3517463"/>
            <a:ext cx="9419511" cy="589212"/>
            <a:chOff x="1721564" y="3517463"/>
            <a:chExt cx="9419511" cy="589212"/>
          </a:xfrm>
        </p:grpSpPr>
        <p:sp>
          <p:nvSpPr>
            <p:cNvPr id="8" name="Espaço Reservado para Conteúdo 4">
              <a:extLst>
                <a:ext uri="{FF2B5EF4-FFF2-40B4-BE49-F238E27FC236}">
                  <a16:creationId xmlns:a16="http://schemas.microsoft.com/office/drawing/2014/main" id="{8F7835A7-29AD-6FDD-20CA-234D0E280740}"/>
                </a:ext>
              </a:extLst>
            </p:cNvPr>
            <p:cNvSpPr txBox="1">
              <a:spLocks/>
            </p:cNvSpPr>
            <p:nvPr/>
          </p:nvSpPr>
          <p:spPr>
            <a:xfrm>
              <a:off x="1721564" y="3568263"/>
              <a:ext cx="9419511" cy="53841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US" sz="1200" b="1" dirty="0">
                  <a:solidFill>
                    <a:schemeClr val="bg2"/>
                  </a:solidFill>
                </a:rPr>
              </a:br>
              <a:r>
                <a:rPr lang="en-US" sz="900" dirty="0">
                  <a:solidFill>
                    <a:schemeClr val="bg2"/>
                  </a:solidFill>
                </a:rPr>
                <a:t>A modern, fully-owned fleet of 373 vehicles segregated across buses, micro-buses and vans creates operational flexibility, service quality control, and barriers that are hard for competitors to replicate</a:t>
              </a:r>
            </a:p>
          </p:txBody>
        </p:sp>
        <p:sp>
          <p:nvSpPr>
            <p:cNvPr id="30" name="Espaço Reservado para Conteúdo 4">
              <a:extLst>
                <a:ext uri="{FF2B5EF4-FFF2-40B4-BE49-F238E27FC236}">
                  <a16:creationId xmlns:a16="http://schemas.microsoft.com/office/drawing/2014/main" id="{3F8A0317-26C8-3073-E40B-104B45EF298B}"/>
                </a:ext>
              </a:extLst>
            </p:cNvPr>
            <p:cNvSpPr txBox="1">
              <a:spLocks/>
            </p:cNvSpPr>
            <p:nvPr/>
          </p:nvSpPr>
          <p:spPr>
            <a:xfrm>
              <a:off x="1721564" y="3517463"/>
              <a:ext cx="4090667" cy="23179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tx1">
                      <a:lumMod val="65000"/>
                      <a:lumOff val="35000"/>
                    </a:schemeClr>
                  </a:solidFill>
                  <a:latin typeface="Poppins SemiBold" panose="00000700000000000000" pitchFamily="2" charset="0"/>
                  <a:cs typeface="Poppins SemiBold" panose="00000700000000000000" pitchFamily="2" charset="0"/>
                </a:rPr>
                <a:t>Asset base that compounds competitive advantage</a:t>
              </a:r>
              <a:endParaRPr lang="en-US" sz="1000" dirty="0">
                <a:solidFill>
                  <a:schemeClr val="tx1">
                    <a:lumMod val="65000"/>
                    <a:lumOff val="35000"/>
                  </a:schemeClr>
                </a:solidFill>
                <a:latin typeface="Poppins SemiBold" panose="00000700000000000000" pitchFamily="2" charset="0"/>
                <a:cs typeface="Poppins SemiBold" panose="00000700000000000000" pitchFamily="2" charset="0"/>
              </a:endParaRPr>
            </a:p>
          </p:txBody>
        </p:sp>
      </p:grpSp>
      <p:grpSp>
        <p:nvGrpSpPr>
          <p:cNvPr id="5" name="Agrupar 4">
            <a:extLst>
              <a:ext uri="{FF2B5EF4-FFF2-40B4-BE49-F238E27FC236}">
                <a16:creationId xmlns:a16="http://schemas.microsoft.com/office/drawing/2014/main" id="{04AD9E19-99BC-E263-3527-60013C6C30A6}"/>
              </a:ext>
            </a:extLst>
          </p:cNvPr>
          <p:cNvGrpSpPr/>
          <p:nvPr/>
        </p:nvGrpSpPr>
        <p:grpSpPr>
          <a:xfrm>
            <a:off x="1721564" y="4338273"/>
            <a:ext cx="9419511" cy="589212"/>
            <a:chOff x="1721564" y="4338273"/>
            <a:chExt cx="9419511" cy="589212"/>
          </a:xfrm>
        </p:grpSpPr>
        <p:sp>
          <p:nvSpPr>
            <p:cNvPr id="12" name="Espaço Reservado para Conteúdo 4">
              <a:extLst>
                <a:ext uri="{FF2B5EF4-FFF2-40B4-BE49-F238E27FC236}">
                  <a16:creationId xmlns:a16="http://schemas.microsoft.com/office/drawing/2014/main" id="{DA9ED546-C5C8-8699-76DE-EEB3EB84094E}"/>
                </a:ext>
              </a:extLst>
            </p:cNvPr>
            <p:cNvSpPr txBox="1">
              <a:spLocks/>
            </p:cNvSpPr>
            <p:nvPr/>
          </p:nvSpPr>
          <p:spPr>
            <a:xfrm>
              <a:off x="1721564" y="4389073"/>
              <a:ext cx="9419511" cy="53841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US" sz="1200" b="1" dirty="0">
                  <a:solidFill>
                    <a:schemeClr val="bg2"/>
                  </a:solidFill>
                </a:rPr>
              </a:br>
              <a:r>
                <a:rPr lang="en-US" sz="900" dirty="0">
                  <a:solidFill>
                    <a:schemeClr val="bg2"/>
                  </a:solidFill>
                </a:rPr>
                <a:t>GPS-based telemetry and driver monitoring systems[, combined with in-house maintenance capabilities to be confirmed with management,] position Mobi as a reliable, high-uptime operator across its network of operational bases in the Midwest and Southeast of Brazil</a:t>
              </a:r>
            </a:p>
          </p:txBody>
        </p:sp>
        <p:sp>
          <p:nvSpPr>
            <p:cNvPr id="31" name="Espaço Reservado para Conteúdo 4">
              <a:extLst>
                <a:ext uri="{FF2B5EF4-FFF2-40B4-BE49-F238E27FC236}">
                  <a16:creationId xmlns:a16="http://schemas.microsoft.com/office/drawing/2014/main" id="{F9BBC033-C477-632E-C1A3-005938F2D254}"/>
                </a:ext>
              </a:extLst>
            </p:cNvPr>
            <p:cNvSpPr txBox="1">
              <a:spLocks/>
            </p:cNvSpPr>
            <p:nvPr/>
          </p:nvSpPr>
          <p:spPr>
            <a:xfrm>
              <a:off x="1721564" y="4338273"/>
              <a:ext cx="4229326" cy="23179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tx1">
                      <a:lumMod val="65000"/>
                      <a:lumOff val="35000"/>
                    </a:schemeClr>
                  </a:solidFill>
                  <a:latin typeface="Poppins SemiBold" panose="00000700000000000000" pitchFamily="2" charset="0"/>
                  <a:cs typeface="Poppins SemiBold" panose="00000700000000000000" pitchFamily="2" charset="0"/>
                </a:rPr>
                <a:t>Integrated capabilities that deliver a full-service edge</a:t>
              </a:r>
              <a:endParaRPr lang="en-US" sz="1000" dirty="0">
                <a:solidFill>
                  <a:schemeClr val="tx1">
                    <a:lumMod val="65000"/>
                    <a:lumOff val="35000"/>
                  </a:schemeClr>
                </a:solidFill>
                <a:latin typeface="Poppins SemiBold" panose="00000700000000000000" pitchFamily="2" charset="0"/>
                <a:cs typeface="Poppins SemiBold" panose="00000700000000000000" pitchFamily="2" charset="0"/>
              </a:endParaRPr>
            </a:p>
          </p:txBody>
        </p:sp>
      </p:grpSp>
      <p:grpSp>
        <p:nvGrpSpPr>
          <p:cNvPr id="4" name="Agrupar 3">
            <a:extLst>
              <a:ext uri="{FF2B5EF4-FFF2-40B4-BE49-F238E27FC236}">
                <a16:creationId xmlns:a16="http://schemas.microsoft.com/office/drawing/2014/main" id="{DC7140F6-0A88-859C-25D2-F43B9644A89E}"/>
              </a:ext>
            </a:extLst>
          </p:cNvPr>
          <p:cNvGrpSpPr/>
          <p:nvPr/>
        </p:nvGrpSpPr>
        <p:grpSpPr>
          <a:xfrm>
            <a:off x="1721564" y="5168609"/>
            <a:ext cx="9143286" cy="589212"/>
            <a:chOff x="1721564" y="5168609"/>
            <a:chExt cx="9143286" cy="589212"/>
          </a:xfrm>
        </p:grpSpPr>
        <p:sp>
          <p:nvSpPr>
            <p:cNvPr id="18" name="Espaço Reservado para Conteúdo 4">
              <a:extLst>
                <a:ext uri="{FF2B5EF4-FFF2-40B4-BE49-F238E27FC236}">
                  <a16:creationId xmlns:a16="http://schemas.microsoft.com/office/drawing/2014/main" id="{92759FE3-B6B2-CE94-7D4A-86ADF9B39D9A}"/>
                </a:ext>
              </a:extLst>
            </p:cNvPr>
            <p:cNvSpPr txBox="1">
              <a:spLocks/>
            </p:cNvSpPr>
            <p:nvPr/>
          </p:nvSpPr>
          <p:spPr>
            <a:xfrm>
              <a:off x="1721564" y="5219409"/>
              <a:ext cx="9143286" cy="53841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US" sz="1200" b="1" dirty="0">
                  <a:solidFill>
                    <a:schemeClr val="bg2"/>
                  </a:solidFill>
                </a:rPr>
              </a:br>
              <a:r>
                <a:rPr lang="en-US" sz="900" dirty="0">
                  <a:solidFill>
                    <a:schemeClr val="bg2"/>
                  </a:solidFill>
                </a:rPr>
                <a:t>Geographic expansion, fleet electrification, technology-enabled services, and consolidation opportunities in a fragmented market create a clear and executable path for continued value creation</a:t>
              </a:r>
            </a:p>
          </p:txBody>
        </p:sp>
        <p:sp>
          <p:nvSpPr>
            <p:cNvPr id="32" name="Espaço Reservado para Conteúdo 4">
              <a:extLst>
                <a:ext uri="{FF2B5EF4-FFF2-40B4-BE49-F238E27FC236}">
                  <a16:creationId xmlns:a16="http://schemas.microsoft.com/office/drawing/2014/main" id="{FF96E8DF-FD34-CD9B-BF57-E88ABF3A2D86}"/>
                </a:ext>
              </a:extLst>
            </p:cNvPr>
            <p:cNvSpPr txBox="1">
              <a:spLocks/>
            </p:cNvSpPr>
            <p:nvPr/>
          </p:nvSpPr>
          <p:spPr>
            <a:xfrm>
              <a:off x="1721564" y="5168609"/>
              <a:ext cx="1947946" cy="23179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tx1">
                      <a:lumMod val="65000"/>
                      <a:lumOff val="35000"/>
                    </a:schemeClr>
                  </a:solidFill>
                  <a:latin typeface="Poppins SemiBold" panose="00000700000000000000" pitchFamily="2" charset="0"/>
                  <a:cs typeface="Poppins SemiBold" panose="00000700000000000000" pitchFamily="2" charset="0"/>
                </a:rPr>
                <a:t>Multiple growth avenues</a:t>
              </a:r>
              <a:endParaRPr lang="en-US" sz="1000" dirty="0">
                <a:solidFill>
                  <a:schemeClr val="tx1">
                    <a:lumMod val="65000"/>
                    <a:lumOff val="35000"/>
                  </a:schemeClr>
                </a:solidFill>
                <a:latin typeface="Poppins SemiBold" panose="00000700000000000000" pitchFamily="2" charset="0"/>
                <a:cs typeface="Poppins SemiBold" panose="00000700000000000000" pitchFamily="2" charset="0"/>
              </a:endParaRPr>
            </a:p>
          </p:txBody>
        </p:sp>
      </p:grpSp>
      <p:grpSp>
        <p:nvGrpSpPr>
          <p:cNvPr id="9" name="Agrupar 8">
            <a:extLst>
              <a:ext uri="{FF2B5EF4-FFF2-40B4-BE49-F238E27FC236}">
                <a16:creationId xmlns:a16="http://schemas.microsoft.com/office/drawing/2014/main" id="{A17F8C44-E066-D5A6-79E8-4A31E18D9605}"/>
              </a:ext>
            </a:extLst>
          </p:cNvPr>
          <p:cNvGrpSpPr/>
          <p:nvPr/>
        </p:nvGrpSpPr>
        <p:grpSpPr>
          <a:xfrm>
            <a:off x="1721564" y="2696653"/>
            <a:ext cx="9501566" cy="589212"/>
            <a:chOff x="1721564" y="2696653"/>
            <a:chExt cx="9501566" cy="589212"/>
          </a:xfrm>
        </p:grpSpPr>
        <p:sp>
          <p:nvSpPr>
            <p:cNvPr id="23" name="Espaço Reservado para Conteúdo 4">
              <a:extLst>
                <a:ext uri="{FF2B5EF4-FFF2-40B4-BE49-F238E27FC236}">
                  <a16:creationId xmlns:a16="http://schemas.microsoft.com/office/drawing/2014/main" id="{AA9B5B54-4C45-8E11-334F-EDA729B153AD}"/>
                </a:ext>
              </a:extLst>
            </p:cNvPr>
            <p:cNvSpPr txBox="1">
              <a:spLocks/>
            </p:cNvSpPr>
            <p:nvPr/>
          </p:nvSpPr>
          <p:spPr>
            <a:xfrm>
              <a:off x="1721564" y="2747453"/>
              <a:ext cx="9501566" cy="53841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US" sz="1200" b="1">
                  <a:solidFill>
                    <a:schemeClr val="bg2"/>
                  </a:solidFill>
                </a:rPr>
              </a:br>
              <a:r>
                <a:rPr lang="en-US" sz="900">
                  <a:solidFill>
                    <a:schemeClr val="bg2"/>
                  </a:solidFill>
                </a:rPr>
                <a:t>Long-term contracts (3-5 years) with built-in annual price adjustment mechanisms (IPCA, collective bargaining agreement, and diesel price variation) protect margin and reinforce client retention</a:t>
              </a:r>
              <a:endParaRPr lang="en-US" sz="900" dirty="0">
                <a:solidFill>
                  <a:schemeClr val="bg2"/>
                </a:solidFill>
              </a:endParaRPr>
            </a:p>
          </p:txBody>
        </p:sp>
        <p:sp>
          <p:nvSpPr>
            <p:cNvPr id="33" name="Espaço Reservado para Conteúdo 4">
              <a:extLst>
                <a:ext uri="{FF2B5EF4-FFF2-40B4-BE49-F238E27FC236}">
                  <a16:creationId xmlns:a16="http://schemas.microsoft.com/office/drawing/2014/main" id="{498F192C-3268-6D89-11D3-F98021E6519F}"/>
                </a:ext>
              </a:extLst>
            </p:cNvPr>
            <p:cNvSpPr txBox="1">
              <a:spLocks/>
            </p:cNvSpPr>
            <p:nvPr/>
          </p:nvSpPr>
          <p:spPr>
            <a:xfrm>
              <a:off x="1721564" y="2696653"/>
              <a:ext cx="7289086" cy="23179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tx1">
                      <a:lumMod val="65000"/>
                      <a:lumOff val="35000"/>
                    </a:schemeClr>
                  </a:solidFill>
                  <a:latin typeface="Poppins SemiBold" panose="00000700000000000000" pitchFamily="2" charset="0"/>
                  <a:cs typeface="Poppins SemiBold" panose="00000700000000000000" pitchFamily="2" charset="0"/>
                </a:rPr>
                <a:t>Solid revenue model aligned with client demand, supporting strong customer stickiness</a:t>
              </a:r>
              <a:endParaRPr lang="en-US" sz="1000" dirty="0">
                <a:solidFill>
                  <a:schemeClr val="tx1">
                    <a:lumMod val="65000"/>
                    <a:lumOff val="35000"/>
                  </a:schemeClr>
                </a:solidFill>
                <a:latin typeface="Poppins SemiBold" panose="00000700000000000000" pitchFamily="2" charset="0"/>
                <a:cs typeface="Poppins SemiBold" panose="00000700000000000000" pitchFamily="2" charset="0"/>
              </a:endParaRPr>
            </a:p>
          </p:txBody>
        </p:sp>
      </p:grpSp>
    </p:spTree>
    <p:extLst>
      <p:ext uri="{BB962C8B-B14F-4D97-AF65-F5344CB8AC3E}">
        <p14:creationId xmlns:p14="http://schemas.microsoft.com/office/powerpoint/2010/main" val="235520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3624-3A8D-8050-9D6B-41570B15CC51}"/>
              </a:ext>
            </a:extLst>
          </p:cNvPr>
          <p:cNvSpPr>
            <a:spLocks noGrp="1"/>
          </p:cNvSpPr>
          <p:nvPr>
            <p:ph type="title"/>
          </p:nvPr>
        </p:nvSpPr>
        <p:spPr/>
        <p:txBody>
          <a:bodyPr/>
          <a:lstStyle/>
          <a:p>
            <a:endParaRPr lang="pt-BR"/>
          </a:p>
        </p:txBody>
      </p:sp>
      <p:sp>
        <p:nvSpPr>
          <p:cNvPr id="3" name="Content Placeholder 2">
            <a:extLst>
              <a:ext uri="{FF2B5EF4-FFF2-40B4-BE49-F238E27FC236}">
                <a16:creationId xmlns:a16="http://schemas.microsoft.com/office/drawing/2014/main" id="{9EDAA096-251B-8A35-FA5D-2589EAFD8E9E}"/>
              </a:ext>
            </a:extLst>
          </p:cNvPr>
          <p:cNvSpPr>
            <a:spLocks noGrp="1"/>
          </p:cNvSpPr>
          <p:nvPr>
            <p:ph sz="quarter" idx="13"/>
          </p:nvPr>
        </p:nvSpPr>
        <p:spPr/>
        <p:txBody>
          <a:bodyPr/>
          <a:lstStyle/>
          <a:p>
            <a:endParaRPr lang="pt-BR"/>
          </a:p>
        </p:txBody>
      </p:sp>
      <p:sp>
        <p:nvSpPr>
          <p:cNvPr id="4" name="Content Placeholder 3">
            <a:extLst>
              <a:ext uri="{FF2B5EF4-FFF2-40B4-BE49-F238E27FC236}">
                <a16:creationId xmlns:a16="http://schemas.microsoft.com/office/drawing/2014/main" id="{0E9CC79E-3D0E-A79B-6CED-0923623449CE}"/>
              </a:ext>
            </a:extLst>
          </p:cNvPr>
          <p:cNvSpPr>
            <a:spLocks noGrp="1"/>
          </p:cNvSpPr>
          <p:nvPr>
            <p:ph sz="quarter" idx="14"/>
          </p:nvPr>
        </p:nvSpPr>
        <p:spPr/>
        <p:txBody>
          <a:bodyPr/>
          <a:lstStyle/>
          <a:p>
            <a:endParaRPr lang="pt-BR"/>
          </a:p>
        </p:txBody>
      </p:sp>
      <p:sp>
        <p:nvSpPr>
          <p:cNvPr id="5" name="Picture Placeholder 4">
            <a:extLst>
              <a:ext uri="{FF2B5EF4-FFF2-40B4-BE49-F238E27FC236}">
                <a16:creationId xmlns:a16="http://schemas.microsoft.com/office/drawing/2014/main" id="{3C628C99-5034-0166-9A60-18D46C47E1BE}"/>
              </a:ext>
            </a:extLst>
          </p:cNvPr>
          <p:cNvSpPr>
            <a:spLocks noGrp="1"/>
          </p:cNvSpPr>
          <p:nvPr>
            <p:ph type="pic" sz="quarter" idx="15"/>
          </p:nvPr>
        </p:nvSpPr>
        <p:spPr/>
        <p:txBody>
          <a:bodyPr/>
          <a:lstStyle/>
          <a:p>
            <a:endParaRPr lang="pt-BR"/>
          </a:p>
        </p:txBody>
      </p:sp>
      <p:sp>
        <p:nvSpPr>
          <p:cNvPr id="6" name="Text Placeholder 5">
            <a:extLst>
              <a:ext uri="{FF2B5EF4-FFF2-40B4-BE49-F238E27FC236}">
                <a16:creationId xmlns:a16="http://schemas.microsoft.com/office/drawing/2014/main" id="{165570D6-2D4A-C48E-71CB-F9229701015F}"/>
              </a:ext>
            </a:extLst>
          </p:cNvPr>
          <p:cNvSpPr>
            <a:spLocks noGrp="1"/>
          </p:cNvSpPr>
          <p:nvPr>
            <p:ph type="body" sz="quarter" idx="36"/>
          </p:nvPr>
        </p:nvSpPr>
        <p:spPr/>
        <p:txBody>
          <a:bodyPr/>
          <a:lstStyle/>
          <a:p>
            <a:endParaRPr lang="pt-B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CEE7-9209-E920-FEAA-23A86DFEEB75}"/>
            </a:ext>
          </a:extLst>
        </p:cNvPr>
        <p:cNvGrpSpPr/>
        <p:nvPr/>
      </p:nvGrpSpPr>
      <p:grpSpPr>
        <a:xfrm>
          <a:off x="0" y="0"/>
          <a:ext cx="0" cy="0"/>
          <a:chOff x="0" y="0"/>
          <a:chExt cx="0" cy="0"/>
        </a:xfrm>
      </p:grpSpPr>
      <p:sp>
        <p:nvSpPr>
          <p:cNvPr id="63" name="Retângulo: Cantos Superiores Arredondados 62">
            <a:extLst>
              <a:ext uri="{FF2B5EF4-FFF2-40B4-BE49-F238E27FC236}">
                <a16:creationId xmlns:a16="http://schemas.microsoft.com/office/drawing/2014/main" id="{024EE18A-8F0D-EE60-7159-C07698A9E07C}"/>
              </a:ext>
            </a:extLst>
          </p:cNvPr>
          <p:cNvSpPr/>
          <p:nvPr/>
        </p:nvSpPr>
        <p:spPr>
          <a:xfrm>
            <a:off x="7518401" y="1450975"/>
            <a:ext cx="4430712" cy="3841234"/>
          </a:xfrm>
          <a:prstGeom prst="round2SameRect">
            <a:avLst>
              <a:gd name="adj1" fmla="val 4525"/>
              <a:gd name="adj2" fmla="val 0"/>
            </a:avLst>
          </a:prstGeom>
          <a:solidFill>
            <a:schemeClr val="bg1"/>
          </a:solidFill>
          <a:ln w="635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2"/>
              </a:solidFill>
              <a:latin typeface="Source Serif Pro" panose="02040603050405020204" pitchFamily="18" charset="0"/>
              <a:ea typeface="Source Serif Pro" panose="02040603050405020204" pitchFamily="18" charset="0"/>
            </a:endParaRPr>
          </a:p>
        </p:txBody>
      </p:sp>
      <p:sp>
        <p:nvSpPr>
          <p:cNvPr id="31" name="TextBox 14">
            <a:extLst>
              <a:ext uri="{FF2B5EF4-FFF2-40B4-BE49-F238E27FC236}">
                <a16:creationId xmlns:a16="http://schemas.microsoft.com/office/drawing/2014/main" id="{50080949-0869-145B-C905-36E4B497CB7F}"/>
              </a:ext>
            </a:extLst>
          </p:cNvPr>
          <p:cNvSpPr txBox="1"/>
          <p:nvPr/>
        </p:nvSpPr>
        <p:spPr>
          <a:xfrm>
            <a:off x="10941597" y="4249755"/>
            <a:ext cx="1116000"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[XXX] </a:t>
            </a: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client’s revenue</a:t>
            </a:r>
            <a:r>
              <a:rPr lang="en-US" sz="7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rPr>
              <a:t>(1)</a:t>
            </a:r>
            <a:endParaRPr lang="en-US" sz="9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33" name="TextBox 18">
            <a:extLst>
              <a:ext uri="{FF2B5EF4-FFF2-40B4-BE49-F238E27FC236}">
                <a16:creationId xmlns:a16="http://schemas.microsoft.com/office/drawing/2014/main" id="{EDAB0A00-5ABC-CD6D-AF51-B1D692100443}"/>
              </a:ext>
            </a:extLst>
          </p:cNvPr>
          <p:cNvSpPr txBox="1"/>
          <p:nvPr/>
        </p:nvSpPr>
        <p:spPr>
          <a:xfrm>
            <a:off x="10941598" y="4686645"/>
            <a:ext cx="89395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years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of relationship</a:t>
            </a:r>
            <a:endParaRPr lang="en-US" sz="9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36" name="TextBox 2">
            <a:extLst>
              <a:ext uri="{FF2B5EF4-FFF2-40B4-BE49-F238E27FC236}">
                <a16:creationId xmlns:a16="http://schemas.microsoft.com/office/drawing/2014/main" id="{0221A2E7-28AE-0E99-27C9-9B3F708E656B}"/>
              </a:ext>
            </a:extLst>
          </p:cNvPr>
          <p:cNvSpPr txBox="1"/>
          <p:nvPr/>
        </p:nvSpPr>
        <p:spPr>
          <a:xfrm>
            <a:off x="9938500" y="4686645"/>
            <a:ext cx="116833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contracts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delivered</a:t>
            </a:r>
          </a:p>
        </p:txBody>
      </p:sp>
      <p:pic>
        <p:nvPicPr>
          <p:cNvPr id="39" name="Picture 44" descr="Ficheiro:Logotipo Vale.svg – Wikipédia, a enciclopédia livre">
            <a:extLst>
              <a:ext uri="{FF2B5EF4-FFF2-40B4-BE49-F238E27FC236}">
                <a16:creationId xmlns:a16="http://schemas.microsoft.com/office/drawing/2014/main" id="{16FF6E98-3BF5-ADE6-C42D-EE7E7D9B08C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34606" y="4283487"/>
            <a:ext cx="547814" cy="213038"/>
          </a:xfrm>
          <a:prstGeom prst="rect">
            <a:avLst/>
          </a:prstGeom>
        </p:spPr>
      </p:pic>
      <p:graphicFrame>
        <p:nvGraphicFramePr>
          <p:cNvPr id="34" name="Chart 127">
            <a:extLst>
              <a:ext uri="{FF2B5EF4-FFF2-40B4-BE49-F238E27FC236}">
                <a16:creationId xmlns:a16="http://schemas.microsoft.com/office/drawing/2014/main" id="{642C25CE-EE94-B2CA-74F9-866635FE067B}"/>
              </a:ext>
            </a:extLst>
          </p:cNvPr>
          <p:cNvGraphicFramePr>
            <a:graphicFrameLocks/>
          </p:cNvGraphicFramePr>
          <p:nvPr>
            <p:custDataLst>
              <p:tags r:id="rId1"/>
            </p:custDataLst>
            <p:extLst>
              <p:ext uri="{D42A27DB-BD31-4B8C-83A1-F6EECF244321}">
                <p14:modId xmlns:p14="http://schemas.microsoft.com/office/powerpoint/2010/main" val="296252682"/>
              </p:ext>
            </p:extLst>
          </p:nvPr>
        </p:nvGraphicFramePr>
        <p:xfrm>
          <a:off x="558801" y="2040443"/>
          <a:ext cx="4940300" cy="3133376"/>
        </p:xfrm>
        <a:graphic>
          <a:graphicData uri="http://schemas.openxmlformats.org/drawingml/2006/chart">
            <c:chart xmlns:c="http://schemas.openxmlformats.org/drawingml/2006/chart" xmlns:r="http://schemas.openxmlformats.org/officeDocument/2006/relationships" r:id="rId5"/>
          </a:graphicData>
        </a:graphic>
      </p:graphicFrame>
      <p:sp>
        <p:nvSpPr>
          <p:cNvPr id="38" name="Retângulo 37">
            <a:extLst>
              <a:ext uri="{FF2B5EF4-FFF2-40B4-BE49-F238E27FC236}">
                <a16:creationId xmlns:a16="http://schemas.microsoft.com/office/drawing/2014/main" id="{E67E0660-6CF0-07F3-7AB1-3E4EBD227D39}"/>
              </a:ext>
            </a:extLst>
          </p:cNvPr>
          <p:cNvSpPr>
            <a:spLocks noGrp="1" noRot="1" noMove="1" noResize="1" noEditPoints="1" noAdjustHandles="1" noChangeArrowheads="1" noChangeShapeType="1"/>
          </p:cNvSpPr>
          <p:nvPr/>
        </p:nvSpPr>
        <p:spPr>
          <a:xfrm>
            <a:off x="0" y="5292209"/>
            <a:ext cx="12192000" cy="15657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35" name="Retângulo: Cantos Arredondados 34">
            <a:extLst>
              <a:ext uri="{FF2B5EF4-FFF2-40B4-BE49-F238E27FC236}">
                <a16:creationId xmlns:a16="http://schemas.microsoft.com/office/drawing/2014/main" id="{CFB3836F-8C8A-D678-FD4D-310DDD822027}"/>
              </a:ext>
            </a:extLst>
          </p:cNvPr>
          <p:cNvSpPr/>
          <p:nvPr/>
        </p:nvSpPr>
        <p:spPr>
          <a:xfrm>
            <a:off x="731837" y="2100975"/>
            <a:ext cx="2836863" cy="191983"/>
          </a:xfrm>
          <a:prstGeom prst="roundRect">
            <a:avLst>
              <a:gd name="adj" fmla="val 50000"/>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0" name="Espaço Reservado para Texto 9">
            <a:extLst>
              <a:ext uri="{FF2B5EF4-FFF2-40B4-BE49-F238E27FC236}">
                <a16:creationId xmlns:a16="http://schemas.microsoft.com/office/drawing/2014/main" id="{D15B84F9-2501-C518-0F16-88236444B817}"/>
              </a:ext>
            </a:extLst>
          </p:cNvPr>
          <p:cNvSpPr>
            <a:spLocks noGrp="1"/>
          </p:cNvSpPr>
          <p:nvPr>
            <p:ph type="body" sz="quarter" idx="36"/>
          </p:nvPr>
        </p:nvSpPr>
        <p:spPr/>
        <p:txBody>
          <a:bodyPr/>
          <a:lstStyle/>
          <a:p>
            <a:r>
              <a:rPr lang="en-US" dirty="0">
                <a:solidFill>
                  <a:schemeClr val="bg1"/>
                </a:solidFill>
              </a:rPr>
              <a:t>Source: Company. Client relationship metrics (contracts delivered, years of relationship, client revenue) to be confirmed with management. (1) Average contract term based on current portfolio structure.</a:t>
            </a:r>
          </a:p>
        </p:txBody>
      </p:sp>
      <p:sp>
        <p:nvSpPr>
          <p:cNvPr id="11" name="Slide Number Placeholder 5">
            <a:extLst>
              <a:ext uri="{FF2B5EF4-FFF2-40B4-BE49-F238E27FC236}">
                <a16:creationId xmlns:a16="http://schemas.microsoft.com/office/drawing/2014/main" id="{E0809850-B544-7D89-F60F-37BC67CB70F4}"/>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solidFill>
                  <a:schemeClr val="bg1"/>
                </a:solidFill>
              </a:rPr>
              <a:pPr algn="ctr"/>
              <a:t>8</a:t>
            </a:fld>
            <a:endParaRPr lang="en-US" dirty="0">
              <a:solidFill>
                <a:schemeClr val="bg1"/>
              </a:solidFill>
              <a:latin typeface="Poppins Light" panose="00000400000000000000" pitchFamily="2" charset="0"/>
              <a:cs typeface="Poppins Light" panose="00000400000000000000" pitchFamily="2" charset="0"/>
            </a:endParaRPr>
          </a:p>
        </p:txBody>
      </p:sp>
      <p:sp>
        <p:nvSpPr>
          <p:cNvPr id="20" name="Espaço Reservado para Conteúdo 4">
            <a:extLst>
              <a:ext uri="{FF2B5EF4-FFF2-40B4-BE49-F238E27FC236}">
                <a16:creationId xmlns:a16="http://schemas.microsoft.com/office/drawing/2014/main" id="{B718661A-F5FC-B558-756D-A41886BB231E}"/>
              </a:ext>
            </a:extLst>
          </p:cNvPr>
          <p:cNvSpPr txBox="1">
            <a:spLocks/>
          </p:cNvSpPr>
          <p:nvPr/>
        </p:nvSpPr>
        <p:spPr>
          <a:xfrm>
            <a:off x="731838" y="1052961"/>
            <a:ext cx="11102975" cy="215503"/>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rPr>
              <a:t>Mobi has consistently focused on long-term contracts with blue-chip clients across industrial, agribusiness and consumer goods sectors</a:t>
            </a:r>
          </a:p>
        </p:txBody>
      </p:sp>
      <p:sp>
        <p:nvSpPr>
          <p:cNvPr id="24" name="Título 3">
            <a:extLst>
              <a:ext uri="{FF2B5EF4-FFF2-40B4-BE49-F238E27FC236}">
                <a16:creationId xmlns:a16="http://schemas.microsoft.com/office/drawing/2014/main" id="{AF345B6C-2DB6-FB73-B3A7-CF8F29AE124E}"/>
              </a:ext>
            </a:extLst>
          </p:cNvPr>
          <p:cNvSpPr>
            <a:spLocks noGrp="1"/>
          </p:cNvSpPr>
          <p:nvPr>
            <p:ph type="title"/>
          </p:nvPr>
        </p:nvSpPr>
        <p:spPr>
          <a:xfrm>
            <a:off x="846137" y="735734"/>
            <a:ext cx="11102975" cy="284693"/>
          </a:xfrm>
          <a:noFill/>
          <a:ln>
            <a:noFill/>
          </a:ln>
        </p:spPr>
        <p:style>
          <a:lnRef idx="2">
            <a:schemeClr val="accent1"/>
          </a:lnRef>
          <a:fillRef idx="1">
            <a:schemeClr val="lt1"/>
          </a:fillRef>
          <a:effectRef idx="0">
            <a:schemeClr val="accent1"/>
          </a:effectRef>
          <a:fontRef idx="minor">
            <a:schemeClr val="dk1"/>
          </a:fontRef>
        </p:style>
        <p:txBody>
          <a:bodyPr vert="horz" lIns="360000" tIns="0" rIns="0" bIns="0" rtlCol="0" anchor="t" anchorCtr="0">
            <a:noAutofit/>
          </a:bodyPr>
          <a:lstStyle/>
          <a:p>
            <a:r>
              <a:rPr lang="en-US" spc="-60" dirty="0">
                <a:solidFill>
                  <a:schemeClr val="accent1"/>
                </a:solidFill>
                <a:latin typeface="Poppins" panose="00000500000000000000" pitchFamily="2" charset="0"/>
                <a:ea typeface="Source Serif Pro" panose="02040603050405020204" pitchFamily="18" charset="0"/>
                <a:cs typeface="Poppins" panose="00000500000000000000" pitchFamily="2" charset="0"/>
              </a:rPr>
              <a:t>Solid track record with blue-chip companies, backed by long-term contracts</a:t>
            </a:r>
            <a:endParaRPr lang="pt-BR" sz="1800" spc="-6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6" name="Rectangle: Rounded Corners 27">
            <a:extLst>
              <a:ext uri="{FF2B5EF4-FFF2-40B4-BE49-F238E27FC236}">
                <a16:creationId xmlns:a16="http://schemas.microsoft.com/office/drawing/2014/main" id="{62E58E29-0BEB-B0B2-65DD-D3A5AC5A1419}"/>
              </a:ext>
            </a:extLst>
          </p:cNvPr>
          <p:cNvSpPr/>
          <p:nvPr/>
        </p:nvSpPr>
        <p:spPr>
          <a:xfrm>
            <a:off x="731837" y="722250"/>
            <a:ext cx="324000" cy="24740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2</a:t>
            </a:r>
          </a:p>
        </p:txBody>
      </p:sp>
      <p:sp>
        <p:nvSpPr>
          <p:cNvPr id="30" name="Título 1">
            <a:extLst>
              <a:ext uri="{FF2B5EF4-FFF2-40B4-BE49-F238E27FC236}">
                <a16:creationId xmlns:a16="http://schemas.microsoft.com/office/drawing/2014/main" id="{EBC550EF-93B9-9913-D1C2-D7D51F257760}"/>
              </a:ext>
            </a:extLst>
          </p:cNvPr>
          <p:cNvSpPr txBox="1">
            <a:spLocks/>
          </p:cNvSpPr>
          <p:nvPr/>
        </p:nvSpPr>
        <p:spPr>
          <a:xfrm>
            <a:off x="731838" y="1596552"/>
            <a:ext cx="2436925" cy="17892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latin typeface="Poppins SemiBold" panose="00000700000000000000" pitchFamily="2" charset="0"/>
                <a:cs typeface="Poppins SemiBold" panose="00000700000000000000" pitchFamily="2" charset="0"/>
              </a:rPr>
              <a:t>Evolution of number of contracts [pending Company data] </a:t>
            </a:r>
            <a:endParaRPr lang="en-US" sz="1050" baseline="30000" dirty="0">
              <a:latin typeface="Poppins SemiBold" panose="00000700000000000000" pitchFamily="2" charset="0"/>
              <a:cs typeface="Poppins SemiBold" panose="00000700000000000000" pitchFamily="2" charset="0"/>
            </a:endParaRPr>
          </a:p>
        </p:txBody>
      </p:sp>
      <p:sp>
        <p:nvSpPr>
          <p:cNvPr id="32" name="TextBox 132">
            <a:extLst>
              <a:ext uri="{FF2B5EF4-FFF2-40B4-BE49-F238E27FC236}">
                <a16:creationId xmlns:a16="http://schemas.microsoft.com/office/drawing/2014/main" id="{BAAAB3CC-83F2-686E-CEE0-451CB2CBBEE5}"/>
              </a:ext>
            </a:extLst>
          </p:cNvPr>
          <p:cNvSpPr txBox="1"/>
          <p:nvPr/>
        </p:nvSpPr>
        <p:spPr>
          <a:xfrm>
            <a:off x="731838" y="1775474"/>
            <a:ext cx="935644" cy="146579"/>
          </a:xfrm>
          <a:prstGeom prst="rect">
            <a:avLst/>
          </a:prstGeom>
          <a:noFill/>
        </p:spPr>
        <p:txBody>
          <a:bodyPr wrap="square" lIns="0" tIns="0" rIns="0" bIns="0" rtlCol="0">
            <a:spAutoFit/>
          </a:bodyPr>
          <a:lstStyle/>
          <a:p>
            <a:pPr algn="l">
              <a:lnSpc>
                <a:spcPct val="110000"/>
              </a:lnSpc>
              <a:spcAft>
                <a:spcPts val="800"/>
              </a:spcAft>
            </a:pPr>
            <a:r>
              <a:rPr lang="en-US" sz="900" dirty="0">
                <a:latin typeface="Poppins Light" panose="00000400000000000000" pitchFamily="2" charset="0"/>
                <a:ea typeface="Source Serif Pro" panose="02040603050405020204" pitchFamily="18" charset="0"/>
                <a:cs typeface="Poppins Light" panose="00000400000000000000" pitchFamily="2" charset="0"/>
              </a:rPr>
              <a:t>#</a:t>
            </a:r>
          </a:p>
        </p:txBody>
      </p:sp>
      <p:sp>
        <p:nvSpPr>
          <p:cNvPr id="37" name="TextBox 28">
            <a:extLst>
              <a:ext uri="{FF2B5EF4-FFF2-40B4-BE49-F238E27FC236}">
                <a16:creationId xmlns:a16="http://schemas.microsoft.com/office/drawing/2014/main" id="{127C2E52-1865-C85A-B064-F75B19A31949}"/>
              </a:ext>
            </a:extLst>
          </p:cNvPr>
          <p:cNvSpPr txBox="1"/>
          <p:nvPr/>
        </p:nvSpPr>
        <p:spPr>
          <a:xfrm>
            <a:off x="3667692" y="2088540"/>
            <a:ext cx="1013684" cy="265714"/>
          </a:xfrm>
          <a:prstGeom prst="rect">
            <a:avLst/>
          </a:prstGeom>
          <a:noFill/>
        </p:spPr>
        <p:txBody>
          <a:bodyPr wrap="square" lIns="0" tIns="0" rIns="0" bIns="0" rtlCol="0">
            <a:spAutoFit/>
          </a:bodyPr>
          <a:lstStyle/>
          <a:p>
            <a:pPr algn="l">
              <a:lnSpc>
                <a:spcPct val="110000"/>
              </a:lnSpc>
              <a:spcAft>
                <a:spcPts val="800"/>
              </a:spcAft>
            </a:pPr>
            <a:endParaRPr lang="pt-BR" sz="80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43" name="Título 1">
            <a:extLst>
              <a:ext uri="{FF2B5EF4-FFF2-40B4-BE49-F238E27FC236}">
                <a16:creationId xmlns:a16="http://schemas.microsoft.com/office/drawing/2014/main" id="{DDE8A27C-6120-4684-32FA-36E19C626BA6}"/>
              </a:ext>
            </a:extLst>
          </p:cNvPr>
          <p:cNvSpPr txBox="1">
            <a:spLocks/>
          </p:cNvSpPr>
          <p:nvPr/>
        </p:nvSpPr>
        <p:spPr>
          <a:xfrm>
            <a:off x="5094568" y="1596552"/>
            <a:ext cx="2053226" cy="17892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latin typeface="Poppins SemiBold" panose="00000700000000000000" pitchFamily="2" charset="0"/>
                <a:cs typeface="Poppins SemiBold" panose="00000700000000000000" pitchFamily="2" charset="0"/>
              </a:rPr>
              <a:t>Average revenue per contract [pending Company data]</a:t>
            </a:r>
          </a:p>
        </p:txBody>
      </p:sp>
      <p:sp>
        <p:nvSpPr>
          <p:cNvPr id="47" name="TextBox 132">
            <a:extLst>
              <a:ext uri="{FF2B5EF4-FFF2-40B4-BE49-F238E27FC236}">
                <a16:creationId xmlns:a16="http://schemas.microsoft.com/office/drawing/2014/main" id="{1CC0C44A-AE95-0E3B-108F-553680F2952C}"/>
              </a:ext>
            </a:extLst>
          </p:cNvPr>
          <p:cNvSpPr txBox="1"/>
          <p:nvPr/>
        </p:nvSpPr>
        <p:spPr>
          <a:xfrm>
            <a:off x="5094567" y="1775474"/>
            <a:ext cx="935644" cy="146579"/>
          </a:xfrm>
          <a:prstGeom prst="rect">
            <a:avLst/>
          </a:prstGeom>
          <a:noFill/>
        </p:spPr>
        <p:txBody>
          <a:bodyPr wrap="square" lIns="0" tIns="0" rIns="0" bIns="0" rtlCol="0">
            <a:spAutoFit/>
          </a:bodyPr>
          <a:lstStyle/>
          <a:p>
            <a:pPr algn="l">
              <a:lnSpc>
                <a:spcPct val="110000"/>
              </a:lnSpc>
              <a:spcAft>
                <a:spcPts val="800"/>
              </a:spcAft>
            </a:pPr>
            <a:r>
              <a:rPr lang="en-US" sz="900" dirty="0">
                <a:latin typeface="Poppins Light" panose="00000400000000000000" pitchFamily="2" charset="0"/>
                <a:ea typeface="Source Serif Pro" panose="02040603050405020204" pitchFamily="18" charset="0"/>
                <a:cs typeface="Poppins Light" panose="00000400000000000000" pitchFamily="2" charset="0"/>
              </a:rPr>
              <a:t>BRL Mn / #</a:t>
            </a:r>
          </a:p>
        </p:txBody>
      </p:sp>
      <p:sp>
        <p:nvSpPr>
          <p:cNvPr id="48" name="Rectangle: Rounded Corners 137">
            <a:extLst>
              <a:ext uri="{FF2B5EF4-FFF2-40B4-BE49-F238E27FC236}">
                <a16:creationId xmlns:a16="http://schemas.microsoft.com/office/drawing/2014/main" id="{3F72A323-DAB3-9C08-1F1E-AA9985AF3C44}"/>
              </a:ext>
            </a:extLst>
          </p:cNvPr>
          <p:cNvSpPr/>
          <p:nvPr/>
        </p:nvSpPr>
        <p:spPr>
          <a:xfrm>
            <a:off x="5237441" y="4651520"/>
            <a:ext cx="588463" cy="320678"/>
          </a:xfrm>
          <a:prstGeom prst="roundRect">
            <a:avLst>
              <a:gd name="adj" fmla="val 50000"/>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0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[X]</a:t>
            </a:r>
          </a:p>
        </p:txBody>
      </p:sp>
      <p:sp>
        <p:nvSpPr>
          <p:cNvPr id="51" name="Rectangle: Rounded Corners 138">
            <a:extLst>
              <a:ext uri="{FF2B5EF4-FFF2-40B4-BE49-F238E27FC236}">
                <a16:creationId xmlns:a16="http://schemas.microsoft.com/office/drawing/2014/main" id="{26DD5339-4D66-4D76-6737-41BCFB0EDAF1}"/>
              </a:ext>
            </a:extLst>
          </p:cNvPr>
          <p:cNvSpPr/>
          <p:nvPr/>
        </p:nvSpPr>
        <p:spPr>
          <a:xfrm>
            <a:off x="5237441" y="4163822"/>
            <a:ext cx="588463" cy="320678"/>
          </a:xfrm>
          <a:prstGeom prst="roundRect">
            <a:avLst>
              <a:gd name="adj" fmla="val 50000"/>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0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[X]</a:t>
            </a:r>
          </a:p>
        </p:txBody>
      </p:sp>
      <p:sp>
        <p:nvSpPr>
          <p:cNvPr id="52" name="Rectangle: Rounded Corners 139">
            <a:extLst>
              <a:ext uri="{FF2B5EF4-FFF2-40B4-BE49-F238E27FC236}">
                <a16:creationId xmlns:a16="http://schemas.microsoft.com/office/drawing/2014/main" id="{22B4A8FD-6A25-6593-5CDD-DC8E9FEAC68C}"/>
              </a:ext>
            </a:extLst>
          </p:cNvPr>
          <p:cNvSpPr/>
          <p:nvPr/>
        </p:nvSpPr>
        <p:spPr>
          <a:xfrm>
            <a:off x="5237441" y="3676125"/>
            <a:ext cx="588463" cy="320678"/>
          </a:xfrm>
          <a:prstGeom prst="roundRect">
            <a:avLst>
              <a:gd name="adj" fmla="val 50000"/>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0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[X]</a:t>
            </a:r>
          </a:p>
        </p:txBody>
      </p:sp>
      <p:sp>
        <p:nvSpPr>
          <p:cNvPr id="53" name="Rectangle: Rounded Corners 140">
            <a:extLst>
              <a:ext uri="{FF2B5EF4-FFF2-40B4-BE49-F238E27FC236}">
                <a16:creationId xmlns:a16="http://schemas.microsoft.com/office/drawing/2014/main" id="{87E21B52-92F9-50CC-14D9-4DB7F941804C}"/>
              </a:ext>
            </a:extLst>
          </p:cNvPr>
          <p:cNvSpPr/>
          <p:nvPr/>
        </p:nvSpPr>
        <p:spPr>
          <a:xfrm>
            <a:off x="5237441" y="3188428"/>
            <a:ext cx="588463" cy="320678"/>
          </a:xfrm>
          <a:prstGeom prst="roundRect">
            <a:avLst>
              <a:gd name="adj" fmla="val 50000"/>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0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[X]</a:t>
            </a:r>
          </a:p>
        </p:txBody>
      </p:sp>
      <p:sp>
        <p:nvSpPr>
          <p:cNvPr id="54" name="Rectangle: Rounded Corners 141">
            <a:extLst>
              <a:ext uri="{FF2B5EF4-FFF2-40B4-BE49-F238E27FC236}">
                <a16:creationId xmlns:a16="http://schemas.microsoft.com/office/drawing/2014/main" id="{11B33B74-12C7-F734-B049-5343F0357530}"/>
              </a:ext>
            </a:extLst>
          </p:cNvPr>
          <p:cNvSpPr/>
          <p:nvPr/>
        </p:nvSpPr>
        <p:spPr>
          <a:xfrm>
            <a:off x="5237441" y="2700730"/>
            <a:ext cx="588463" cy="320678"/>
          </a:xfrm>
          <a:prstGeom prst="roundRect">
            <a:avLst>
              <a:gd name="adj" fmla="val 50000"/>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0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[X]</a:t>
            </a:r>
          </a:p>
        </p:txBody>
      </p:sp>
      <p:sp>
        <p:nvSpPr>
          <p:cNvPr id="66" name="TextBox 153">
            <a:extLst>
              <a:ext uri="{FF2B5EF4-FFF2-40B4-BE49-F238E27FC236}">
                <a16:creationId xmlns:a16="http://schemas.microsoft.com/office/drawing/2014/main" id="{934946D4-EAF2-CA57-BBC8-C9539F022202}"/>
              </a:ext>
            </a:extLst>
          </p:cNvPr>
          <p:cNvSpPr txBox="1"/>
          <p:nvPr/>
        </p:nvSpPr>
        <p:spPr>
          <a:xfrm>
            <a:off x="731838" y="5605562"/>
            <a:ext cx="996950" cy="228011"/>
          </a:xfrm>
          <a:prstGeom prst="rect">
            <a:avLst/>
          </a:prstGeom>
          <a:noFill/>
        </p:spPr>
        <p:txBody>
          <a:bodyPr wrap="square" lIns="0" tIns="0" rIns="0" bIns="0" rtlCol="0">
            <a:spAutoFit/>
          </a:bodyPr>
          <a:lstStyle/>
          <a:p>
            <a:pPr algn="l">
              <a:lnSpc>
                <a:spcPct val="110000"/>
              </a:lnSpc>
            </a:pPr>
            <a:r>
              <a:rPr lang="en-US" sz="1400" b="1"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Highlights</a:t>
            </a:r>
          </a:p>
        </p:txBody>
      </p:sp>
      <p:sp>
        <p:nvSpPr>
          <p:cNvPr id="67" name="Título 1">
            <a:extLst>
              <a:ext uri="{FF2B5EF4-FFF2-40B4-BE49-F238E27FC236}">
                <a16:creationId xmlns:a16="http://schemas.microsoft.com/office/drawing/2014/main" id="{6EB5F642-4557-3A76-4DF9-82CFB0593787}"/>
              </a:ext>
            </a:extLst>
          </p:cNvPr>
          <p:cNvSpPr txBox="1">
            <a:spLocks/>
          </p:cNvSpPr>
          <p:nvPr/>
        </p:nvSpPr>
        <p:spPr>
          <a:xfrm>
            <a:off x="7831778" y="1647352"/>
            <a:ext cx="1212056" cy="12812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latin typeface="Poppins SemiBold" panose="00000700000000000000" pitchFamily="2" charset="0"/>
                <a:cs typeface="Poppins SemiBold" panose="00000700000000000000" pitchFamily="2" charset="0"/>
              </a:rPr>
              <a:t>Selected clients</a:t>
            </a:r>
            <a:endParaRPr lang="en-US" sz="1050" baseline="30000" dirty="0">
              <a:latin typeface="Poppins SemiBold" panose="00000700000000000000" pitchFamily="2" charset="0"/>
              <a:cs typeface="Poppins SemiBold" panose="00000700000000000000" pitchFamily="2" charset="0"/>
            </a:endParaRPr>
          </a:p>
        </p:txBody>
      </p:sp>
      <p:pic>
        <p:nvPicPr>
          <p:cNvPr id="69" name="Picture 58">
            <a:extLst>
              <a:ext uri="{FF2B5EF4-FFF2-40B4-BE49-F238E27FC236}">
                <a16:creationId xmlns:a16="http://schemas.microsoft.com/office/drawing/2014/main" id="{AF6539EA-B44E-FC80-9A8B-0BAD242273BD}"/>
              </a:ext>
            </a:extLst>
          </p:cNvPr>
          <p:cNvPicPr>
            <a:picLocks noChangeAspect="1"/>
          </p:cNvPicPr>
          <p:nvPr/>
        </p:nvPicPr>
        <p:blipFill>
          <a:blip r:embed="rId6"/>
          <a:stretch>
            <a:fillRect/>
          </a:stretch>
        </p:blipFill>
        <p:spPr>
          <a:xfrm>
            <a:off x="7831778" y="2051678"/>
            <a:ext cx="856991" cy="249064"/>
          </a:xfrm>
          <a:prstGeom prst="rect">
            <a:avLst/>
          </a:prstGeom>
        </p:spPr>
      </p:pic>
      <p:sp>
        <p:nvSpPr>
          <p:cNvPr id="70" name="TextBox 14">
            <a:extLst>
              <a:ext uri="{FF2B5EF4-FFF2-40B4-BE49-F238E27FC236}">
                <a16:creationId xmlns:a16="http://schemas.microsoft.com/office/drawing/2014/main" id="{2E894ACD-338F-E89B-7528-20CE4F6E79F9}"/>
              </a:ext>
            </a:extLst>
          </p:cNvPr>
          <p:cNvSpPr txBox="1"/>
          <p:nvPr/>
        </p:nvSpPr>
        <p:spPr>
          <a:xfrm>
            <a:off x="8834876" y="2047678"/>
            <a:ext cx="1115758"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[XXX] </a:t>
            </a: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client’s revenue</a:t>
            </a:r>
            <a:r>
              <a:rPr lang="en-US" sz="7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rPr>
              <a:t>(1)</a:t>
            </a:r>
            <a:endParaRPr lang="en-US" sz="9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71" name="TextBox 18">
            <a:extLst>
              <a:ext uri="{FF2B5EF4-FFF2-40B4-BE49-F238E27FC236}">
                <a16:creationId xmlns:a16="http://schemas.microsoft.com/office/drawing/2014/main" id="{D0753A03-0D2A-521C-0815-57C8FB9E9B1A}"/>
              </a:ext>
            </a:extLst>
          </p:cNvPr>
          <p:cNvSpPr txBox="1"/>
          <p:nvPr/>
        </p:nvSpPr>
        <p:spPr>
          <a:xfrm>
            <a:off x="8834876" y="2484568"/>
            <a:ext cx="89395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years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of relationship</a:t>
            </a:r>
            <a:endParaRPr lang="en-US" sz="9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72" name="TextBox 2">
            <a:extLst>
              <a:ext uri="{FF2B5EF4-FFF2-40B4-BE49-F238E27FC236}">
                <a16:creationId xmlns:a16="http://schemas.microsoft.com/office/drawing/2014/main" id="{AC1C1C72-EF8A-FBB0-578F-BBBEFA2DAABA}"/>
              </a:ext>
            </a:extLst>
          </p:cNvPr>
          <p:cNvSpPr txBox="1"/>
          <p:nvPr/>
        </p:nvSpPr>
        <p:spPr>
          <a:xfrm>
            <a:off x="7831778" y="2484568"/>
            <a:ext cx="116833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contracts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delivered</a:t>
            </a:r>
          </a:p>
        </p:txBody>
      </p:sp>
      <p:pic>
        <p:nvPicPr>
          <p:cNvPr id="112" name="Picture 22" descr="Votorantim Cimentos solidifica estratégia global com nova marca - NeoFeed">
            <a:extLst>
              <a:ext uri="{FF2B5EF4-FFF2-40B4-BE49-F238E27FC236}">
                <a16:creationId xmlns:a16="http://schemas.microsoft.com/office/drawing/2014/main" id="{7E7F0433-160F-411E-BCAC-61924DF98D3A}"/>
              </a:ext>
            </a:extLst>
          </p:cNvPr>
          <p:cNvPicPr>
            <a:picLocks noChangeAspect="1"/>
          </p:cNvPicPr>
          <p:nvPr/>
        </p:nvPicPr>
        <p:blipFill>
          <a:blip r:embed="rId7">
            <a:clrChange>
              <a:clrFrom>
                <a:srgbClr val="FFFFFF"/>
              </a:clrFrom>
              <a:clrTo>
                <a:srgbClr val="FFFFFF">
                  <a:alpha val="0"/>
                </a:srgbClr>
              </a:clrTo>
            </a:clrChange>
          </a:blip>
          <a:srcRect t="30329" b="21514"/>
          <a:stretch>
            <a:fillRect/>
          </a:stretch>
        </p:blipFill>
        <p:spPr>
          <a:xfrm>
            <a:off x="9947552" y="2078294"/>
            <a:ext cx="856992" cy="231888"/>
          </a:xfrm>
          <a:prstGeom prst="rect">
            <a:avLst/>
          </a:prstGeom>
        </p:spPr>
      </p:pic>
      <p:sp>
        <p:nvSpPr>
          <p:cNvPr id="82" name="TextBox 14">
            <a:extLst>
              <a:ext uri="{FF2B5EF4-FFF2-40B4-BE49-F238E27FC236}">
                <a16:creationId xmlns:a16="http://schemas.microsoft.com/office/drawing/2014/main" id="{020C7389-2D31-3F26-B7F1-1DD87C1FDC9C}"/>
              </a:ext>
            </a:extLst>
          </p:cNvPr>
          <p:cNvSpPr txBox="1"/>
          <p:nvPr/>
        </p:nvSpPr>
        <p:spPr>
          <a:xfrm>
            <a:off x="10941597" y="2047678"/>
            <a:ext cx="1116000"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[XXX] </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client’s revenue</a:t>
            </a:r>
            <a:r>
              <a:rPr lang="en-US" sz="7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rPr>
              <a:t>(1)</a:t>
            </a:r>
            <a:endPar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83" name="TextBox 18">
            <a:extLst>
              <a:ext uri="{FF2B5EF4-FFF2-40B4-BE49-F238E27FC236}">
                <a16:creationId xmlns:a16="http://schemas.microsoft.com/office/drawing/2014/main" id="{53A840C9-94C9-9203-FEB1-81F25125D101}"/>
              </a:ext>
            </a:extLst>
          </p:cNvPr>
          <p:cNvSpPr txBox="1"/>
          <p:nvPr/>
        </p:nvSpPr>
        <p:spPr>
          <a:xfrm>
            <a:off x="10941598" y="2484568"/>
            <a:ext cx="89395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years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of relationship</a:t>
            </a:r>
            <a:endParaRPr lang="en-US" sz="9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84" name="TextBox 2">
            <a:extLst>
              <a:ext uri="{FF2B5EF4-FFF2-40B4-BE49-F238E27FC236}">
                <a16:creationId xmlns:a16="http://schemas.microsoft.com/office/drawing/2014/main" id="{2E042590-6D4B-C6D2-F771-A1C42A04F771}"/>
              </a:ext>
            </a:extLst>
          </p:cNvPr>
          <p:cNvSpPr txBox="1"/>
          <p:nvPr/>
        </p:nvSpPr>
        <p:spPr>
          <a:xfrm>
            <a:off x="9938500" y="2484568"/>
            <a:ext cx="116833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contracts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delivered</a:t>
            </a:r>
          </a:p>
        </p:txBody>
      </p:sp>
      <p:cxnSp>
        <p:nvCxnSpPr>
          <p:cNvPr id="110" name="Conector reto 109">
            <a:extLst>
              <a:ext uri="{FF2B5EF4-FFF2-40B4-BE49-F238E27FC236}">
                <a16:creationId xmlns:a16="http://schemas.microsoft.com/office/drawing/2014/main" id="{58E76A8F-00E1-2389-7C26-598740A0DDE6}"/>
              </a:ext>
            </a:extLst>
          </p:cNvPr>
          <p:cNvCxnSpPr/>
          <p:nvPr/>
        </p:nvCxnSpPr>
        <p:spPr>
          <a:xfrm>
            <a:off x="7831778" y="2958521"/>
            <a:ext cx="38429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1" name="Conector reto 110">
            <a:extLst>
              <a:ext uri="{FF2B5EF4-FFF2-40B4-BE49-F238E27FC236}">
                <a16:creationId xmlns:a16="http://schemas.microsoft.com/office/drawing/2014/main" id="{1DA5F6F0-805F-9EB3-5AA7-D392610BCE20}"/>
              </a:ext>
            </a:extLst>
          </p:cNvPr>
          <p:cNvCxnSpPr/>
          <p:nvPr/>
        </p:nvCxnSpPr>
        <p:spPr>
          <a:xfrm>
            <a:off x="7831778" y="4050497"/>
            <a:ext cx="38429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6" name="TextBox 14">
            <a:extLst>
              <a:ext uri="{FF2B5EF4-FFF2-40B4-BE49-F238E27FC236}">
                <a16:creationId xmlns:a16="http://schemas.microsoft.com/office/drawing/2014/main" id="{C0DF42AF-7ED2-276F-9800-61245D70757D}"/>
              </a:ext>
            </a:extLst>
          </p:cNvPr>
          <p:cNvSpPr txBox="1"/>
          <p:nvPr/>
        </p:nvSpPr>
        <p:spPr>
          <a:xfrm>
            <a:off x="8834876" y="4249755"/>
            <a:ext cx="1116000"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[XXX] </a:t>
            </a: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client’s revenue</a:t>
            </a:r>
            <a:r>
              <a:rPr lang="en-US" sz="7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rPr>
              <a:t>(1)</a:t>
            </a:r>
            <a:endParaRPr lang="en-US" sz="9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98" name="TextBox 18">
            <a:extLst>
              <a:ext uri="{FF2B5EF4-FFF2-40B4-BE49-F238E27FC236}">
                <a16:creationId xmlns:a16="http://schemas.microsoft.com/office/drawing/2014/main" id="{F25ECB11-9A42-D53F-0D90-8FDAE45CA274}"/>
              </a:ext>
            </a:extLst>
          </p:cNvPr>
          <p:cNvSpPr txBox="1"/>
          <p:nvPr/>
        </p:nvSpPr>
        <p:spPr>
          <a:xfrm>
            <a:off x="8834876" y="4686645"/>
            <a:ext cx="89395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years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of relationship</a:t>
            </a:r>
            <a:endParaRPr lang="en-US" sz="9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99" name="TextBox 2">
            <a:extLst>
              <a:ext uri="{FF2B5EF4-FFF2-40B4-BE49-F238E27FC236}">
                <a16:creationId xmlns:a16="http://schemas.microsoft.com/office/drawing/2014/main" id="{6066FD9B-08F2-BE83-F782-FE59D3AF0149}"/>
              </a:ext>
            </a:extLst>
          </p:cNvPr>
          <p:cNvSpPr txBox="1"/>
          <p:nvPr/>
        </p:nvSpPr>
        <p:spPr>
          <a:xfrm>
            <a:off x="7831778" y="4686645"/>
            <a:ext cx="116833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contracts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delivered</a:t>
            </a:r>
          </a:p>
        </p:txBody>
      </p:sp>
      <p:pic>
        <p:nvPicPr>
          <p:cNvPr id="114" name="Picture 61" descr="Ero Copper to Release Fourth Quarter and Full Year 2024 Operating and  Financial Results on March 6, 2025">
            <a:extLst>
              <a:ext uri="{FF2B5EF4-FFF2-40B4-BE49-F238E27FC236}">
                <a16:creationId xmlns:a16="http://schemas.microsoft.com/office/drawing/2014/main" id="{10182055-226C-6CBB-26ED-68E61769745F}"/>
              </a:ext>
            </a:extLst>
          </p:cNvPr>
          <p:cNvPicPr>
            <a:picLocks noChangeAspect="1"/>
          </p:cNvPicPr>
          <p:nvPr/>
        </p:nvPicPr>
        <p:blipFill>
          <a:blip r:embed="rId8">
            <a:clrChange>
              <a:clrFrom>
                <a:srgbClr val="FFFFFF"/>
              </a:clrFrom>
              <a:clrTo>
                <a:srgbClr val="FFFFFF">
                  <a:alpha val="0"/>
                </a:srgbClr>
              </a:clrTo>
            </a:clrChange>
          </a:blip>
          <a:srcRect l="9021" t="18140" r="7240" b="16987"/>
          <a:stretch>
            <a:fillRect/>
          </a:stretch>
        </p:blipFill>
        <p:spPr>
          <a:xfrm>
            <a:off x="7782921" y="4305641"/>
            <a:ext cx="637961" cy="205936"/>
          </a:xfrm>
          <a:prstGeom prst="rect">
            <a:avLst/>
          </a:prstGeom>
        </p:spPr>
      </p:pic>
      <p:sp>
        <p:nvSpPr>
          <p:cNvPr id="125" name="Retângulo: Cantos Arredondados 124">
            <a:extLst>
              <a:ext uri="{FF2B5EF4-FFF2-40B4-BE49-F238E27FC236}">
                <a16:creationId xmlns:a16="http://schemas.microsoft.com/office/drawing/2014/main" id="{259410C6-A578-B6A6-C651-DFFCE9483EBE}"/>
              </a:ext>
            </a:extLst>
          </p:cNvPr>
          <p:cNvSpPr/>
          <p:nvPr/>
        </p:nvSpPr>
        <p:spPr>
          <a:xfrm>
            <a:off x="1920348" y="5491280"/>
            <a:ext cx="2301909" cy="493873"/>
          </a:xfrm>
          <a:prstGeom prst="roundRect">
            <a:avLst>
              <a:gd name="adj" fmla="val 50000"/>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20" name="TextBox 167">
            <a:extLst>
              <a:ext uri="{FF2B5EF4-FFF2-40B4-BE49-F238E27FC236}">
                <a16:creationId xmlns:a16="http://schemas.microsoft.com/office/drawing/2014/main" id="{49F229E2-9A92-E49C-EC55-8407E16851B3}"/>
              </a:ext>
            </a:extLst>
          </p:cNvPr>
          <p:cNvSpPr txBox="1"/>
          <p:nvPr/>
        </p:nvSpPr>
        <p:spPr>
          <a:xfrm>
            <a:off x="2351553" y="5557502"/>
            <a:ext cx="1439497" cy="349711"/>
          </a:xfrm>
          <a:prstGeom prst="rect">
            <a:avLst/>
          </a:prstGeom>
          <a:noFill/>
        </p:spPr>
        <p:txBody>
          <a:bodyPr wrap="none" lIns="0" tIns="0" rIns="0" bIns="0" rtlCol="0">
            <a:spAutoFit/>
          </a:bodyPr>
          <a:lstStyle/>
          <a:p>
            <a:pPr algn="ctr">
              <a:lnSpc>
                <a:spcPct val="110000"/>
              </a:lnSpc>
              <a:spcAft>
                <a:spcPts val="800"/>
              </a:spcAft>
            </a:pPr>
            <a:r>
              <a:rPr lang="en-US" sz="1200" b="1" noProof="0" dirty="0">
                <a:solidFill>
                  <a:schemeClr val="bg1"/>
                </a:solidFill>
                <a:latin typeface="Poppins SemiBold" panose="00000700000000000000" pitchFamily="2" charset="0"/>
                <a:ea typeface="Source Serif Pro Black" panose="02040903050405020204" pitchFamily="18" charset="0"/>
                <a:cs typeface="Poppins SemiBold" panose="00000700000000000000" pitchFamily="2" charset="0"/>
              </a:rPr>
              <a:t>Recurring revenue</a:t>
            </a:r>
            <a:br>
              <a:rPr lang="en-US" sz="1100" noProof="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br>
            <a:r>
              <a:rPr lang="en-US" sz="90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rPr>
              <a:t>c</a:t>
            </a:r>
            <a:r>
              <a:rPr lang="en-US" sz="900" noProof="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rPr>
              <a:t>ontract model</a:t>
            </a:r>
          </a:p>
        </p:txBody>
      </p:sp>
      <p:sp>
        <p:nvSpPr>
          <p:cNvPr id="122" name="TextBox 167">
            <a:extLst>
              <a:ext uri="{FF2B5EF4-FFF2-40B4-BE49-F238E27FC236}">
                <a16:creationId xmlns:a16="http://schemas.microsoft.com/office/drawing/2014/main" id="{1D209490-F188-74CA-1E71-3B1FFB0EFA58}"/>
              </a:ext>
            </a:extLst>
          </p:cNvPr>
          <p:cNvSpPr txBox="1"/>
          <p:nvPr/>
        </p:nvSpPr>
        <p:spPr>
          <a:xfrm>
            <a:off x="4870639" y="5557502"/>
            <a:ext cx="1476365" cy="349711"/>
          </a:xfrm>
          <a:prstGeom prst="rect">
            <a:avLst/>
          </a:prstGeom>
          <a:noFill/>
        </p:spPr>
        <p:txBody>
          <a:bodyPr wrap="none" lIns="0" tIns="0" rIns="0" bIns="0" rtlCol="0">
            <a:spAutoFit/>
          </a:bodyPr>
          <a:lstStyle/>
          <a:p>
            <a:pPr algn="ctr">
              <a:lnSpc>
                <a:spcPct val="110000"/>
              </a:lnSpc>
              <a:spcAft>
                <a:spcPts val="800"/>
              </a:spcAft>
            </a:pPr>
            <a:r>
              <a:rPr lang="en-US" sz="1200" b="1" dirty="0">
                <a:solidFill>
                  <a:schemeClr val="bg1"/>
                </a:solidFill>
                <a:latin typeface="Poppins SemiBold" panose="00000700000000000000" pitchFamily="2" charset="0"/>
                <a:ea typeface="Source Serif Pro Black" panose="02040903050405020204" pitchFamily="18" charset="0"/>
                <a:cs typeface="Poppins SemiBold" panose="00000700000000000000" pitchFamily="2" charset="0"/>
              </a:rPr>
              <a:t>3-5</a:t>
            </a:r>
            <a:r>
              <a:rPr lang="en-US" sz="1200" b="1" noProof="0" dirty="0">
                <a:solidFill>
                  <a:schemeClr val="bg1"/>
                </a:solidFill>
                <a:latin typeface="Poppins SemiBold" panose="00000700000000000000" pitchFamily="2" charset="0"/>
                <a:ea typeface="Source Serif Pro Black" panose="02040903050405020204" pitchFamily="18" charset="0"/>
                <a:cs typeface="Poppins SemiBold" panose="00000700000000000000" pitchFamily="2" charset="0"/>
              </a:rPr>
              <a:t> years</a:t>
            </a:r>
            <a:br>
              <a:rPr lang="en-US" sz="1100" noProof="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br>
            <a:r>
              <a:rPr lang="en-US" sz="90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rPr>
              <a:t>average contract term</a:t>
            </a:r>
            <a:r>
              <a:rPr lang="en-US" sz="900" baseline="3000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rPr>
              <a:t>(2)</a:t>
            </a:r>
            <a:endParaRPr lang="en-US" sz="900" baseline="30000" noProof="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endParaRPr>
          </a:p>
        </p:txBody>
      </p:sp>
      <p:sp>
        <p:nvSpPr>
          <p:cNvPr id="123" name="TextBox 167">
            <a:extLst>
              <a:ext uri="{FF2B5EF4-FFF2-40B4-BE49-F238E27FC236}">
                <a16:creationId xmlns:a16="http://schemas.microsoft.com/office/drawing/2014/main" id="{D8C27AEA-3AF0-A6CA-60CC-EA3DA3A78E11}"/>
              </a:ext>
            </a:extLst>
          </p:cNvPr>
          <p:cNvSpPr txBox="1"/>
          <p:nvPr/>
        </p:nvSpPr>
        <p:spPr>
          <a:xfrm>
            <a:off x="7470675" y="5557502"/>
            <a:ext cx="1351331" cy="349711"/>
          </a:xfrm>
          <a:prstGeom prst="rect">
            <a:avLst/>
          </a:prstGeom>
          <a:noFill/>
        </p:spPr>
        <p:txBody>
          <a:bodyPr wrap="none" lIns="0" tIns="0" rIns="0" bIns="0" rtlCol="0">
            <a:spAutoFit/>
          </a:bodyPr>
          <a:lstStyle/>
          <a:p>
            <a:pPr algn="ctr">
              <a:lnSpc>
                <a:spcPct val="110000"/>
              </a:lnSpc>
              <a:spcAft>
                <a:spcPts val="800"/>
              </a:spcAft>
            </a:pPr>
            <a:r>
              <a:rPr lang="en-US" sz="1200" b="1" noProof="0" dirty="0">
                <a:solidFill>
                  <a:schemeClr val="bg1"/>
                </a:solidFill>
                <a:latin typeface="Poppins SemiBold" panose="00000700000000000000" pitchFamily="2" charset="0"/>
                <a:ea typeface="Source Serif Pro Black" panose="02040903050405020204" pitchFamily="18" charset="0"/>
                <a:cs typeface="Poppins SemiBold" panose="00000700000000000000" pitchFamily="2" charset="0"/>
              </a:rPr>
              <a:t>[XXX] contracts</a:t>
            </a:r>
            <a:br>
              <a:rPr lang="en-US" sz="1100" noProof="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br>
            <a:r>
              <a:rPr lang="en-US" sz="90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rPr>
              <a:t>executed in recent years</a:t>
            </a:r>
            <a:endParaRPr lang="en-US" sz="900" noProof="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endParaRPr>
          </a:p>
        </p:txBody>
      </p:sp>
      <p:sp>
        <p:nvSpPr>
          <p:cNvPr id="127" name="Retângulo: Cantos Arredondados 126">
            <a:extLst>
              <a:ext uri="{FF2B5EF4-FFF2-40B4-BE49-F238E27FC236}">
                <a16:creationId xmlns:a16="http://schemas.microsoft.com/office/drawing/2014/main" id="{5640AF5F-F946-92E2-9178-68A6A2328E43}"/>
              </a:ext>
            </a:extLst>
          </p:cNvPr>
          <p:cNvSpPr/>
          <p:nvPr/>
        </p:nvSpPr>
        <p:spPr>
          <a:xfrm>
            <a:off x="4457867" y="5491280"/>
            <a:ext cx="2301909" cy="493873"/>
          </a:xfrm>
          <a:prstGeom prst="roundRect">
            <a:avLst>
              <a:gd name="adj" fmla="val 50000"/>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31" name="Retângulo: Cantos Arredondados 130">
            <a:extLst>
              <a:ext uri="{FF2B5EF4-FFF2-40B4-BE49-F238E27FC236}">
                <a16:creationId xmlns:a16="http://schemas.microsoft.com/office/drawing/2014/main" id="{BE0B57DF-5B67-9890-A70F-C45729A56B9A}"/>
              </a:ext>
            </a:extLst>
          </p:cNvPr>
          <p:cNvSpPr/>
          <p:nvPr/>
        </p:nvSpPr>
        <p:spPr>
          <a:xfrm>
            <a:off x="6995386" y="5491280"/>
            <a:ext cx="2301909" cy="493873"/>
          </a:xfrm>
          <a:prstGeom prst="roundRect">
            <a:avLst>
              <a:gd name="adj" fmla="val 50000"/>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pic>
        <p:nvPicPr>
          <p:cNvPr id="2" name="Imagem 1">
            <a:extLst>
              <a:ext uri="{FF2B5EF4-FFF2-40B4-BE49-F238E27FC236}">
                <a16:creationId xmlns:a16="http://schemas.microsoft.com/office/drawing/2014/main" id="{3FDCAC84-8556-E0F5-35C7-37E83E3438AB}"/>
              </a:ext>
            </a:extLst>
          </p:cNvPr>
          <p:cNvPicPr>
            <a:picLocks noChangeAspect="1"/>
          </p:cNvPicPr>
          <p:nvPr/>
        </p:nvPicPr>
        <p:blipFill>
          <a:blip r:embed="rId9">
            <a:biLevel thresh="75000"/>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10775561" y="6179422"/>
            <a:ext cx="1079890" cy="345903"/>
          </a:xfrm>
          <a:prstGeom prst="rect">
            <a:avLst/>
          </a:prstGeom>
        </p:spPr>
      </p:pic>
      <p:sp>
        <p:nvSpPr>
          <p:cNvPr id="3" name="CaixaDeTexto 18">
            <a:extLst>
              <a:ext uri="{FF2B5EF4-FFF2-40B4-BE49-F238E27FC236}">
                <a16:creationId xmlns:a16="http://schemas.microsoft.com/office/drawing/2014/main" id="{AE9CBB85-B620-D4F9-9572-3A51446ED979}"/>
              </a:ext>
            </a:extLst>
          </p:cNvPr>
          <p:cNvSpPr txBox="1"/>
          <p:nvPr/>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cxnSp>
        <p:nvCxnSpPr>
          <p:cNvPr id="4" name="Connector: Elbow 3">
            <a:extLst>
              <a:ext uri="{FF2B5EF4-FFF2-40B4-BE49-F238E27FC236}">
                <a16:creationId xmlns:a16="http://schemas.microsoft.com/office/drawing/2014/main" id="{D1CC85DB-14A2-A7FA-6D7D-AD53FDBC8721}"/>
              </a:ext>
            </a:extLst>
          </p:cNvPr>
          <p:cNvCxnSpPr>
            <a:cxnSpLocks/>
            <a:stCxn id="54" idx="3"/>
            <a:endCxn id="48" idx="3"/>
          </p:cNvCxnSpPr>
          <p:nvPr/>
        </p:nvCxnSpPr>
        <p:spPr>
          <a:xfrm>
            <a:off x="5825904" y="2861069"/>
            <a:ext cx="12700" cy="1950790"/>
          </a:xfrm>
          <a:prstGeom prst="bentConnector3">
            <a:avLst>
              <a:gd name="adj1" fmla="val 5951346"/>
            </a:avLst>
          </a:prstGeom>
          <a:ln>
            <a:solidFill>
              <a:srgbClr val="F35B1A"/>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45E1515C-1678-7BA7-52E9-CC84E1F65074}"/>
              </a:ext>
            </a:extLst>
          </p:cNvPr>
          <p:cNvSpPr/>
          <p:nvPr/>
        </p:nvSpPr>
        <p:spPr>
          <a:xfrm>
            <a:off x="6380534" y="3653406"/>
            <a:ext cx="374817" cy="39600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a:t>
            </a:r>
          </a:p>
        </p:txBody>
      </p:sp>
      <p:pic>
        <p:nvPicPr>
          <p:cNvPr id="41" name="Picture 96" descr="Download State Grid Corporation of China (SGCC) Logo in SVG Vector or PNG  File Format - Logo.wine">
            <a:extLst>
              <a:ext uri="{FF2B5EF4-FFF2-40B4-BE49-F238E27FC236}">
                <a16:creationId xmlns:a16="http://schemas.microsoft.com/office/drawing/2014/main" id="{24408635-CC10-D296-73D0-5AB16D391D5B}"/>
              </a:ext>
            </a:extLst>
          </p:cNvPr>
          <p:cNvPicPr>
            <a:picLocks noChangeAspect="1"/>
          </p:cNvPicPr>
          <p:nvPr/>
        </p:nvPicPr>
        <p:blipFill>
          <a:blip r:embed="rId11">
            <a:clrChange>
              <a:clrFrom>
                <a:srgbClr val="FFFFFF"/>
              </a:clrFrom>
              <a:clrTo>
                <a:srgbClr val="FFFFFF">
                  <a:alpha val="0"/>
                </a:srgbClr>
              </a:clrTo>
            </a:clrChange>
          </a:blip>
          <a:srcRect l="11198" t="36202" r="10136" b="35130"/>
          <a:stretch>
            <a:fillRect/>
          </a:stretch>
        </p:blipFill>
        <p:spPr>
          <a:xfrm>
            <a:off x="7831778" y="3216583"/>
            <a:ext cx="869938" cy="210972"/>
          </a:xfrm>
          <a:prstGeom prst="rect">
            <a:avLst/>
          </a:prstGeom>
        </p:spPr>
      </p:pic>
      <p:sp>
        <p:nvSpPr>
          <p:cNvPr id="42" name="TextBox 14">
            <a:extLst>
              <a:ext uri="{FF2B5EF4-FFF2-40B4-BE49-F238E27FC236}">
                <a16:creationId xmlns:a16="http://schemas.microsoft.com/office/drawing/2014/main" id="{248CF6D7-2848-A490-1F49-ACEAC82606F2}"/>
              </a:ext>
            </a:extLst>
          </p:cNvPr>
          <p:cNvSpPr txBox="1"/>
          <p:nvPr/>
        </p:nvSpPr>
        <p:spPr>
          <a:xfrm>
            <a:off x="8834876" y="3148716"/>
            <a:ext cx="1116000"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[XXX] </a:t>
            </a: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client’s revenue</a:t>
            </a:r>
            <a:r>
              <a:rPr lang="en-US" sz="7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rPr>
              <a:t>(1)</a:t>
            </a:r>
            <a:endParaRPr lang="en-US" sz="9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44" name="TextBox 18">
            <a:extLst>
              <a:ext uri="{FF2B5EF4-FFF2-40B4-BE49-F238E27FC236}">
                <a16:creationId xmlns:a16="http://schemas.microsoft.com/office/drawing/2014/main" id="{05A3FAAC-5929-5F33-BA40-210C5FE57CE9}"/>
              </a:ext>
            </a:extLst>
          </p:cNvPr>
          <p:cNvSpPr txBox="1"/>
          <p:nvPr/>
        </p:nvSpPr>
        <p:spPr>
          <a:xfrm>
            <a:off x="8834876" y="3585606"/>
            <a:ext cx="89395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years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of relationship</a:t>
            </a:r>
            <a:endParaRPr lang="en-US" sz="9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45" name="TextBox 2">
            <a:extLst>
              <a:ext uri="{FF2B5EF4-FFF2-40B4-BE49-F238E27FC236}">
                <a16:creationId xmlns:a16="http://schemas.microsoft.com/office/drawing/2014/main" id="{FC1EFB9E-BC3E-F8E8-F958-CBC9E85DF0CC}"/>
              </a:ext>
            </a:extLst>
          </p:cNvPr>
          <p:cNvSpPr txBox="1"/>
          <p:nvPr/>
        </p:nvSpPr>
        <p:spPr>
          <a:xfrm>
            <a:off x="7831778" y="3585606"/>
            <a:ext cx="116833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contracts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delivered</a:t>
            </a:r>
          </a:p>
        </p:txBody>
      </p:sp>
      <p:sp>
        <p:nvSpPr>
          <p:cNvPr id="60" name="TextBox 14">
            <a:extLst>
              <a:ext uri="{FF2B5EF4-FFF2-40B4-BE49-F238E27FC236}">
                <a16:creationId xmlns:a16="http://schemas.microsoft.com/office/drawing/2014/main" id="{E17EB503-B159-7E43-F74C-0B2AE1E25D1F}"/>
              </a:ext>
            </a:extLst>
          </p:cNvPr>
          <p:cNvSpPr txBox="1"/>
          <p:nvPr/>
        </p:nvSpPr>
        <p:spPr>
          <a:xfrm>
            <a:off x="10941597" y="3148716"/>
            <a:ext cx="1116000"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[XXX] </a:t>
            </a: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client’s revenue</a:t>
            </a:r>
            <a:r>
              <a:rPr lang="en-US" sz="7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rPr>
              <a:t>(1)</a:t>
            </a:r>
            <a:endParaRPr lang="en-US" sz="900" baseline="300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61" name="TextBox 18">
            <a:extLst>
              <a:ext uri="{FF2B5EF4-FFF2-40B4-BE49-F238E27FC236}">
                <a16:creationId xmlns:a16="http://schemas.microsoft.com/office/drawing/2014/main" id="{AD419F77-2C9B-FDF2-0646-7CC19775CD22}"/>
              </a:ext>
            </a:extLst>
          </p:cNvPr>
          <p:cNvSpPr txBox="1"/>
          <p:nvPr/>
        </p:nvSpPr>
        <p:spPr>
          <a:xfrm>
            <a:off x="10941598" y="3585606"/>
            <a:ext cx="89395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years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of relationship</a:t>
            </a:r>
            <a:endParaRPr lang="en-US" sz="900" dirty="0">
              <a:solidFill>
                <a:schemeClr val="tx2"/>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62" name="TextBox 2">
            <a:extLst>
              <a:ext uri="{FF2B5EF4-FFF2-40B4-BE49-F238E27FC236}">
                <a16:creationId xmlns:a16="http://schemas.microsoft.com/office/drawing/2014/main" id="{EF55AB0A-430E-7153-E95D-66EE21D7EEF2}"/>
              </a:ext>
            </a:extLst>
          </p:cNvPr>
          <p:cNvSpPr txBox="1"/>
          <p:nvPr/>
        </p:nvSpPr>
        <p:spPr>
          <a:xfrm>
            <a:off x="9938500" y="3585606"/>
            <a:ext cx="1168339" cy="266355"/>
          </a:xfrm>
          <a:prstGeom prst="rect">
            <a:avLst/>
          </a:prstGeom>
          <a:noFill/>
        </p:spPr>
        <p:txBody>
          <a:bodyPr wrap="square" lIns="0" tIns="0" rIns="0" bIns="0" rtlCol="0">
            <a:spAutoFit/>
          </a:bodyPr>
          <a:lstStyle/>
          <a:p>
            <a:pPr>
              <a:lnSpc>
                <a:spcPct val="110000"/>
              </a:lnSpc>
              <a:spcAft>
                <a:spcPts val="800"/>
              </a:spcAft>
            </a:pPr>
            <a: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t>[X] contracts</a:t>
            </a:r>
            <a:br>
              <a:rPr lang="en-US" sz="900" b="1" dirty="0">
                <a:solidFill>
                  <a:schemeClr val="tx2"/>
                </a:solidFill>
                <a:latin typeface="Poppins SemiBold" panose="00000700000000000000" pitchFamily="2" charset="0"/>
                <a:ea typeface="Source Serif Pro" panose="02040603050405020204" pitchFamily="18" charset="0"/>
                <a:cs typeface="Poppins SemiBold" panose="00000700000000000000" pitchFamily="2" charset="0"/>
              </a:rPr>
            </a:br>
            <a:r>
              <a:rPr lang="en-US" sz="700" dirty="0">
                <a:solidFill>
                  <a:schemeClr val="tx2"/>
                </a:solidFill>
                <a:latin typeface="Poppins" panose="00000500000000000000" pitchFamily="2" charset="0"/>
                <a:ea typeface="Source Serif Pro" panose="02040603050405020204" pitchFamily="18" charset="0"/>
                <a:cs typeface="Poppins" panose="00000500000000000000" pitchFamily="2" charset="0"/>
              </a:rPr>
              <a:t>delivered</a:t>
            </a:r>
          </a:p>
        </p:txBody>
      </p:sp>
      <p:pic>
        <p:nvPicPr>
          <p:cNvPr id="64" name="Picture 30" descr="Equinox Gold | The Premier Americas Gold Producer">
            <a:extLst>
              <a:ext uri="{FF2B5EF4-FFF2-40B4-BE49-F238E27FC236}">
                <a16:creationId xmlns:a16="http://schemas.microsoft.com/office/drawing/2014/main" id="{5AC45238-76AE-AE6E-D703-9E4BAFA858FC}"/>
              </a:ext>
            </a:extLst>
          </p:cNvPr>
          <p:cNvPicPr>
            <a:picLocks noChangeAspect="1"/>
          </p:cNvPicPr>
          <p:nvPr/>
        </p:nvPicPr>
        <p:blipFill>
          <a:blip r:embed="rId12">
            <a:clrChange>
              <a:clrFrom>
                <a:srgbClr val="FFFFFF"/>
              </a:clrFrom>
              <a:clrTo>
                <a:srgbClr val="FFFFFF">
                  <a:alpha val="0"/>
                </a:srgbClr>
              </a:clrTo>
            </a:clrChange>
          </a:blip>
          <a:srcRect b="14492"/>
          <a:stretch>
            <a:fillRect/>
          </a:stretch>
        </p:blipFill>
        <p:spPr>
          <a:xfrm>
            <a:off x="9930979" y="3208016"/>
            <a:ext cx="743171" cy="191106"/>
          </a:xfrm>
          <a:prstGeom prst="rect">
            <a:avLst/>
          </a:prstGeom>
        </p:spPr>
      </p:pic>
      <p:cxnSp>
        <p:nvCxnSpPr>
          <p:cNvPr id="6" name="Connector: Elbow 5">
            <a:extLst>
              <a:ext uri="{FF2B5EF4-FFF2-40B4-BE49-F238E27FC236}">
                <a16:creationId xmlns:a16="http://schemas.microsoft.com/office/drawing/2014/main" id="{F8F121B5-158B-45FC-82E7-DC9BBAD09C08}"/>
              </a:ext>
            </a:extLst>
          </p:cNvPr>
          <p:cNvCxnSpPr>
            <a:cxnSpLocks/>
            <a:stCxn id="37" idx="3"/>
            <a:endCxn id="5" idx="3"/>
          </p:cNvCxnSpPr>
          <p:nvPr/>
        </p:nvCxnSpPr>
        <p:spPr>
          <a:xfrm>
            <a:off x="4681376" y="2221397"/>
            <a:ext cx="2073975" cy="1630009"/>
          </a:xfrm>
          <a:prstGeom prst="bentConnector3">
            <a:avLst>
              <a:gd name="adj1" fmla="val 111022"/>
            </a:avLst>
          </a:prstGeom>
          <a:ln>
            <a:solidFill>
              <a:schemeClr val="accent6"/>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3" name="Retângulo: Cantos Arredondados 130">
            <a:extLst>
              <a:ext uri="{FF2B5EF4-FFF2-40B4-BE49-F238E27FC236}">
                <a16:creationId xmlns:a16="http://schemas.microsoft.com/office/drawing/2014/main" id="{346C775C-1C45-9A96-7E3E-E0682A5FA4EC}"/>
              </a:ext>
            </a:extLst>
          </p:cNvPr>
          <p:cNvSpPr/>
          <p:nvPr/>
        </p:nvSpPr>
        <p:spPr>
          <a:xfrm>
            <a:off x="9532904" y="5491280"/>
            <a:ext cx="2301909" cy="493873"/>
          </a:xfrm>
          <a:prstGeom prst="roundRect">
            <a:avLst>
              <a:gd name="adj" fmla="val 50000"/>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4" name="TextBox 167">
            <a:extLst>
              <a:ext uri="{FF2B5EF4-FFF2-40B4-BE49-F238E27FC236}">
                <a16:creationId xmlns:a16="http://schemas.microsoft.com/office/drawing/2014/main" id="{30EF9B72-95D4-FF48-A57A-96C1C3DC9A17}"/>
              </a:ext>
            </a:extLst>
          </p:cNvPr>
          <p:cNvSpPr txBox="1"/>
          <p:nvPr/>
        </p:nvSpPr>
        <p:spPr>
          <a:xfrm>
            <a:off x="10119602" y="5557502"/>
            <a:ext cx="1128515" cy="349711"/>
          </a:xfrm>
          <a:prstGeom prst="rect">
            <a:avLst/>
          </a:prstGeom>
          <a:noFill/>
        </p:spPr>
        <p:txBody>
          <a:bodyPr wrap="none" lIns="0" tIns="0" rIns="0" bIns="0" rtlCol="0">
            <a:spAutoFit/>
          </a:bodyPr>
          <a:lstStyle/>
          <a:p>
            <a:pPr algn="ctr">
              <a:lnSpc>
                <a:spcPct val="110000"/>
              </a:lnSpc>
              <a:spcAft>
                <a:spcPts val="800"/>
              </a:spcAft>
            </a:pPr>
            <a:r>
              <a:rPr lang="en-US" sz="1200" b="1" noProof="0" dirty="0">
                <a:solidFill>
                  <a:schemeClr val="bg1"/>
                </a:solidFill>
                <a:latin typeface="Poppins SemiBold" panose="00000700000000000000" pitchFamily="2" charset="0"/>
                <a:ea typeface="Source Serif Pro Black" panose="02040903050405020204" pitchFamily="18" charset="0"/>
                <a:cs typeface="Poppins SemiBold" panose="00000700000000000000" pitchFamily="2" charset="0"/>
              </a:rPr>
              <a:t>[XXX] </a:t>
            </a:r>
            <a:br>
              <a:rPr lang="en-US" sz="1100" noProof="0" dirty="0">
                <a:solidFill>
                  <a:schemeClr val="bg1"/>
                </a:solidFill>
                <a:latin typeface="Poppins" panose="00000500000000000000" pitchFamily="2" charset="0"/>
                <a:ea typeface="Source Serif Pro Black" panose="02040903050405020204" pitchFamily="18" charset="0"/>
                <a:cs typeface="Poppins" panose="00000500000000000000" pitchFamily="2" charset="0"/>
              </a:rPr>
            </a:br>
            <a:r>
              <a:rPr lang="en-US" sz="90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rPr>
              <a:t>of contract backlog</a:t>
            </a:r>
            <a:endParaRPr lang="en-US" sz="900" noProof="0" dirty="0">
              <a:solidFill>
                <a:schemeClr val="bg1"/>
              </a:solidFill>
              <a:latin typeface="Poppins Light" panose="00000400000000000000" pitchFamily="2" charset="0"/>
              <a:ea typeface="Source Serif Pro Black" panose="02040903050405020204" pitchFamily="18" charset="0"/>
              <a:cs typeface="Poppins Light" panose="00000400000000000000" pitchFamily="2" charset="0"/>
            </a:endParaRPr>
          </a:p>
        </p:txBody>
      </p:sp>
    </p:spTree>
    <p:extLst>
      <p:ext uri="{BB962C8B-B14F-4D97-AF65-F5344CB8AC3E}">
        <p14:creationId xmlns:p14="http://schemas.microsoft.com/office/powerpoint/2010/main" val="2835570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88ED-A395-8C08-2F9F-9205F591646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96CD7D4-2809-BFEF-3FE7-9573FBBC9BDD}"/>
              </a:ext>
            </a:extLst>
          </p:cNvPr>
          <p:cNvSpPr/>
          <p:nvPr/>
        </p:nvSpPr>
        <p:spPr>
          <a:xfrm>
            <a:off x="317501" y="1450974"/>
            <a:ext cx="2701934" cy="4710491"/>
          </a:xfrm>
          <a:prstGeom prst="roundRect">
            <a:avLst>
              <a:gd name="adj" fmla="val 446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000" dirty="0">
              <a:solidFill>
                <a:schemeClr val="tx1"/>
              </a:solidFill>
              <a:latin typeface="Source Serif Pro" panose="02040603050405020204" pitchFamily="18" charset="0"/>
              <a:ea typeface="Source Serif Pro" panose="02040603050405020204" pitchFamily="18" charset="0"/>
            </a:endParaRPr>
          </a:p>
        </p:txBody>
      </p:sp>
      <p:grpSp>
        <p:nvGrpSpPr>
          <p:cNvPr id="278" name="Agrupar 277">
            <a:extLst>
              <a:ext uri="{FF2B5EF4-FFF2-40B4-BE49-F238E27FC236}">
                <a16:creationId xmlns:a16="http://schemas.microsoft.com/office/drawing/2014/main" id="{48B0468F-444E-B804-6554-84B0110D263D}"/>
              </a:ext>
            </a:extLst>
          </p:cNvPr>
          <p:cNvGrpSpPr/>
          <p:nvPr/>
        </p:nvGrpSpPr>
        <p:grpSpPr>
          <a:xfrm>
            <a:off x="10318853" y="5634441"/>
            <a:ext cx="1051920" cy="153813"/>
            <a:chOff x="10523214" y="5667016"/>
            <a:chExt cx="1051920" cy="153813"/>
          </a:xfrm>
        </p:grpSpPr>
        <p:pic>
          <p:nvPicPr>
            <p:cNvPr id="276" name="Picture 42" descr="Logotipo CAT PNG transparente - StickPNG">
              <a:extLst>
                <a:ext uri="{FF2B5EF4-FFF2-40B4-BE49-F238E27FC236}">
                  <a16:creationId xmlns:a16="http://schemas.microsoft.com/office/drawing/2014/main" id="{FF0E5C56-C89E-813E-E925-2473FD24EF9E}"/>
                </a:ext>
              </a:extLst>
            </p:cNvPr>
            <p:cNvPicPr>
              <a:picLocks noChangeAspect="1"/>
            </p:cNvPicPr>
            <p:nvPr/>
          </p:nvPicPr>
          <p:blipFill>
            <a:blip r:embed="rId3">
              <a:clrChange>
                <a:clrFrom>
                  <a:srgbClr val="FFFFFF"/>
                </a:clrFrom>
                <a:clrTo>
                  <a:srgbClr val="FFFFFF">
                    <a:alpha val="0"/>
                  </a:srgbClr>
                </a:clrTo>
              </a:clrChange>
            </a:blip>
            <a:srcRect l="13248" t="18568" r="9918" b="18866"/>
            <a:stretch>
              <a:fillRect/>
            </a:stretch>
          </p:blipFill>
          <p:spPr>
            <a:xfrm>
              <a:off x="10523214" y="5667016"/>
              <a:ext cx="261077" cy="153813"/>
            </a:xfrm>
            <a:prstGeom prst="rect">
              <a:avLst/>
            </a:prstGeom>
          </p:spPr>
        </p:pic>
        <p:pic>
          <p:nvPicPr>
            <p:cNvPr id="277" name="Picture 43" descr="Ficheiro:Komatsu company logos.svg – Wikipédia, a enciclopédia livre">
              <a:extLst>
                <a:ext uri="{FF2B5EF4-FFF2-40B4-BE49-F238E27FC236}">
                  <a16:creationId xmlns:a16="http://schemas.microsoft.com/office/drawing/2014/main" id="{39698F63-9F9B-3D3F-6420-7E41E99DD96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894443" y="5671768"/>
              <a:ext cx="680691" cy="135326"/>
            </a:xfrm>
            <a:prstGeom prst="rect">
              <a:avLst/>
            </a:prstGeom>
          </p:spPr>
        </p:pic>
      </p:grpSp>
      <p:pic>
        <p:nvPicPr>
          <p:cNvPr id="260" name="Picture 106">
            <a:extLst>
              <a:ext uri="{FF2B5EF4-FFF2-40B4-BE49-F238E27FC236}">
                <a16:creationId xmlns:a16="http://schemas.microsoft.com/office/drawing/2014/main" id="{56EC62F0-891E-6810-E818-1FB77524204D}"/>
              </a:ext>
            </a:extLst>
          </p:cNvPr>
          <p:cNvPicPr>
            <a:picLocks noChangeAspect="1"/>
          </p:cNvPicPr>
          <p:nvPr/>
        </p:nvPicPr>
        <p:blipFill>
          <a:blip r:embed="rId5">
            <a:clrChange>
              <a:clrFrom>
                <a:srgbClr val="FFFFFF"/>
              </a:clrFrom>
              <a:clrTo>
                <a:srgbClr val="FFFFFF">
                  <a:alpha val="0"/>
                </a:srgbClr>
              </a:clrTo>
            </a:clrChange>
          </a:blip>
          <a:srcRect t="28783" b="25441"/>
          <a:stretch>
            <a:fillRect/>
          </a:stretch>
        </p:blipFill>
        <p:spPr>
          <a:xfrm>
            <a:off x="3691396" y="4531439"/>
            <a:ext cx="1375832" cy="629798"/>
          </a:xfrm>
          <a:prstGeom prst="rect">
            <a:avLst/>
          </a:prstGeom>
        </p:spPr>
      </p:pic>
      <p:sp>
        <p:nvSpPr>
          <p:cNvPr id="50" name="Retângulo 49">
            <a:extLst>
              <a:ext uri="{FF2B5EF4-FFF2-40B4-BE49-F238E27FC236}">
                <a16:creationId xmlns:a16="http://schemas.microsoft.com/office/drawing/2014/main" id="{76D84A5D-9C21-B628-A606-F3E6B2ED2814}"/>
              </a:ext>
            </a:extLst>
          </p:cNvPr>
          <p:cNvSpPr/>
          <p:nvPr/>
        </p:nvSpPr>
        <p:spPr>
          <a:xfrm>
            <a:off x="3019435" y="1547930"/>
            <a:ext cx="9172565" cy="3015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25200" rtlCol="0" anchor="ctr"/>
          <a:lstStyle/>
          <a:p>
            <a:pPr algn="ctr">
              <a:lnSpc>
                <a:spcPct val="112000"/>
              </a:lnSpc>
              <a:spcAft>
                <a:spcPts val="800"/>
              </a:spcAft>
            </a:pPr>
            <a:r>
              <a:rPr lang="pt-BR" sz="11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Fleet composition</a:t>
            </a:r>
            <a:endParaRPr lang="pt-BR" sz="20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11" name="Slide Number Placeholder 5">
            <a:extLst>
              <a:ext uri="{FF2B5EF4-FFF2-40B4-BE49-F238E27FC236}">
                <a16:creationId xmlns:a16="http://schemas.microsoft.com/office/drawing/2014/main" id="{9B976D09-2BED-7EE7-F7BD-BAB644AC8992}"/>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solidFill>
                  <a:schemeClr val="bg1"/>
                </a:solidFill>
              </a:rPr>
              <a:pPr algn="ctr"/>
              <a:t>9</a:t>
            </a:fld>
            <a:endParaRPr lang="en-US" dirty="0">
              <a:solidFill>
                <a:schemeClr val="bg1"/>
              </a:solidFill>
              <a:latin typeface="Poppins Light" panose="00000400000000000000" pitchFamily="2" charset="0"/>
              <a:cs typeface="Poppins Light" panose="00000400000000000000" pitchFamily="2" charset="0"/>
            </a:endParaRPr>
          </a:p>
        </p:txBody>
      </p:sp>
      <p:sp>
        <p:nvSpPr>
          <p:cNvPr id="41" name="Espaço Reservado para Texto 9">
            <a:extLst>
              <a:ext uri="{FF2B5EF4-FFF2-40B4-BE49-F238E27FC236}">
                <a16:creationId xmlns:a16="http://schemas.microsoft.com/office/drawing/2014/main" id="{3A567182-4016-1C7F-A9ED-AC2A164DD5B7}"/>
              </a:ext>
            </a:extLst>
          </p:cNvPr>
          <p:cNvSpPr>
            <a:spLocks noGrp="1"/>
          </p:cNvSpPr>
          <p:nvPr>
            <p:ph type="body" sz="quarter" idx="36"/>
          </p:nvPr>
        </p:nvSpPr>
        <p:spPr>
          <a:xfrm>
            <a:off x="731838" y="6198700"/>
            <a:ext cx="9275946" cy="132344"/>
          </a:xfrm>
        </p:spPr>
        <p:txBody>
          <a:bodyPr/>
          <a:lstStyle/>
          <a:p>
            <a:r>
              <a:rPr lang="en-US" dirty="0">
                <a:solidFill>
                  <a:srgbClr val="A5A5A5"/>
                </a:solidFill>
              </a:rPr>
              <a:t>Source: Company; Jan-2026 fleet register. (1) Based on chassis manufacture year; Company materials cite 4 years — to reconcile with management; (2) Considers 373 owned assets (100% of fleet); (3) Considers owned assets.</a:t>
            </a:r>
          </a:p>
        </p:txBody>
      </p:sp>
      <p:sp>
        <p:nvSpPr>
          <p:cNvPr id="45" name="Espaço Reservado para Conteúdo 4">
            <a:extLst>
              <a:ext uri="{FF2B5EF4-FFF2-40B4-BE49-F238E27FC236}">
                <a16:creationId xmlns:a16="http://schemas.microsoft.com/office/drawing/2014/main" id="{862986A1-B69D-914D-2E64-A0FF1C1072BB}"/>
              </a:ext>
            </a:extLst>
          </p:cNvPr>
          <p:cNvSpPr txBox="1">
            <a:spLocks/>
          </p:cNvSpPr>
          <p:nvPr/>
        </p:nvSpPr>
        <p:spPr>
          <a:xfrm>
            <a:off x="731838" y="1052961"/>
            <a:ext cx="11102975" cy="215503"/>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rPr>
              <a:t>Fleet composition and leading chassis brands</a:t>
            </a:r>
          </a:p>
        </p:txBody>
      </p:sp>
      <p:sp>
        <p:nvSpPr>
          <p:cNvPr id="47" name="Título 3">
            <a:extLst>
              <a:ext uri="{FF2B5EF4-FFF2-40B4-BE49-F238E27FC236}">
                <a16:creationId xmlns:a16="http://schemas.microsoft.com/office/drawing/2014/main" id="{114A61AB-2BE6-28C6-24B1-0D28C56CAC8C}"/>
              </a:ext>
            </a:extLst>
          </p:cNvPr>
          <p:cNvSpPr>
            <a:spLocks noGrp="1"/>
          </p:cNvSpPr>
          <p:nvPr>
            <p:ph type="title"/>
          </p:nvPr>
        </p:nvSpPr>
        <p:spPr>
          <a:xfrm>
            <a:off x="846137" y="735734"/>
            <a:ext cx="11102975" cy="284693"/>
          </a:xfrm>
          <a:noFill/>
          <a:ln>
            <a:noFill/>
          </a:ln>
        </p:spPr>
        <p:style>
          <a:lnRef idx="2">
            <a:schemeClr val="accent1"/>
          </a:lnRef>
          <a:fillRef idx="1">
            <a:schemeClr val="lt1"/>
          </a:fillRef>
          <a:effectRef idx="0">
            <a:schemeClr val="accent1"/>
          </a:effectRef>
          <a:fontRef idx="minor">
            <a:schemeClr val="dk1"/>
          </a:fontRef>
        </p:style>
        <p:txBody>
          <a:bodyPr vert="horz" lIns="360000" tIns="0" rIns="0" bIns="0" rtlCol="0" anchor="t" anchorCtr="0">
            <a:noAutofit/>
          </a:bodyPr>
          <a:lstStyle/>
          <a:p>
            <a:r>
              <a:rPr lang="en-US" dirty="0">
                <a:solidFill>
                  <a:schemeClr val="accent1"/>
                </a:solidFill>
                <a:latin typeface="Poppins" panose="00000500000000000000" pitchFamily="2" charset="0"/>
                <a:ea typeface="Source Serif Pro" panose="02040603050405020204" pitchFamily="18" charset="0"/>
                <a:cs typeface="Poppins" panose="00000500000000000000" pitchFamily="2" charset="0"/>
              </a:rPr>
              <a:t>Modern, fully-owned fleet tailored to client needs</a:t>
            </a:r>
            <a:endParaRPr lang="pt-BR" sz="180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48" name="Rectangle: Rounded Corners 27">
            <a:extLst>
              <a:ext uri="{FF2B5EF4-FFF2-40B4-BE49-F238E27FC236}">
                <a16:creationId xmlns:a16="http://schemas.microsoft.com/office/drawing/2014/main" id="{F910316C-007D-2765-E24E-3627B4EDCC02}"/>
              </a:ext>
            </a:extLst>
          </p:cNvPr>
          <p:cNvSpPr/>
          <p:nvPr/>
        </p:nvSpPr>
        <p:spPr>
          <a:xfrm>
            <a:off x="731837" y="722250"/>
            <a:ext cx="324000" cy="24740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3</a:t>
            </a:r>
          </a:p>
        </p:txBody>
      </p:sp>
      <p:sp>
        <p:nvSpPr>
          <p:cNvPr id="53" name="Título 1">
            <a:extLst>
              <a:ext uri="{FF2B5EF4-FFF2-40B4-BE49-F238E27FC236}">
                <a16:creationId xmlns:a16="http://schemas.microsoft.com/office/drawing/2014/main" id="{A25FCA74-FF4D-6961-4765-B80E49D398B2}"/>
              </a:ext>
            </a:extLst>
          </p:cNvPr>
          <p:cNvSpPr txBox="1">
            <a:spLocks/>
          </p:cNvSpPr>
          <p:nvPr/>
        </p:nvSpPr>
        <p:spPr>
          <a:xfrm>
            <a:off x="744536" y="1869232"/>
            <a:ext cx="1866900" cy="21715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bg1"/>
                </a:solidFill>
                <a:latin typeface="Poppins SemiBold" panose="00000700000000000000" pitchFamily="2" charset="0"/>
                <a:cs typeface="Poppins SemiBold" panose="00000700000000000000" pitchFamily="2" charset="0"/>
              </a:rPr>
              <a:t>Highlights</a:t>
            </a:r>
          </a:p>
        </p:txBody>
      </p:sp>
      <p:sp>
        <p:nvSpPr>
          <p:cNvPr id="56" name="Retângulo: Cantos Arredondados 55">
            <a:extLst>
              <a:ext uri="{FF2B5EF4-FFF2-40B4-BE49-F238E27FC236}">
                <a16:creationId xmlns:a16="http://schemas.microsoft.com/office/drawing/2014/main" id="{19EAC27B-E338-9CDB-574C-13F971E7992C}"/>
              </a:ext>
            </a:extLst>
          </p:cNvPr>
          <p:cNvSpPr/>
          <p:nvPr/>
        </p:nvSpPr>
        <p:spPr>
          <a:xfrm>
            <a:off x="744537" y="2488357"/>
            <a:ext cx="1960563" cy="871140"/>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57" name="Título 1">
            <a:extLst>
              <a:ext uri="{FF2B5EF4-FFF2-40B4-BE49-F238E27FC236}">
                <a16:creationId xmlns:a16="http://schemas.microsoft.com/office/drawing/2014/main" id="{99CB53F0-5675-C03C-D87A-AA574CA2CD5D}"/>
              </a:ext>
            </a:extLst>
          </p:cNvPr>
          <p:cNvSpPr txBox="1">
            <a:spLocks/>
          </p:cNvSpPr>
          <p:nvPr/>
        </p:nvSpPr>
        <p:spPr>
          <a:xfrm>
            <a:off x="1009650" y="2985377"/>
            <a:ext cx="1430337" cy="20015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b="0" dirty="0">
                <a:solidFill>
                  <a:schemeClr val="bg1"/>
                </a:solidFill>
                <a:latin typeface="Poppins Light" panose="00000400000000000000" pitchFamily="2" charset="0"/>
                <a:cs typeface="Poppins Light" panose="00000400000000000000" pitchFamily="2" charset="0"/>
              </a:rPr>
              <a:t>Average fleet age</a:t>
            </a:r>
            <a:r>
              <a:rPr lang="en-US" sz="1000" b="0" baseline="30000" dirty="0">
                <a:solidFill>
                  <a:schemeClr val="bg1"/>
                </a:solidFill>
                <a:latin typeface="Poppins Light" panose="00000400000000000000" pitchFamily="2" charset="0"/>
                <a:cs typeface="Poppins Light" panose="00000400000000000000" pitchFamily="2" charset="0"/>
              </a:rPr>
              <a:t>(1)</a:t>
            </a:r>
            <a:r>
              <a:rPr lang="en-US" sz="1000" b="0" dirty="0">
                <a:solidFill>
                  <a:schemeClr val="bg1"/>
                </a:solidFill>
                <a:latin typeface="Poppins Light" panose="00000400000000000000" pitchFamily="2" charset="0"/>
                <a:cs typeface="Poppins Light" panose="00000400000000000000" pitchFamily="2" charset="0"/>
              </a:rPr>
              <a:t> </a:t>
            </a:r>
          </a:p>
        </p:txBody>
      </p:sp>
      <p:sp>
        <p:nvSpPr>
          <p:cNvPr id="58" name="Título 1">
            <a:extLst>
              <a:ext uri="{FF2B5EF4-FFF2-40B4-BE49-F238E27FC236}">
                <a16:creationId xmlns:a16="http://schemas.microsoft.com/office/drawing/2014/main" id="{0E820F6C-6855-2784-5E16-8D51969B373B}"/>
              </a:ext>
            </a:extLst>
          </p:cNvPr>
          <p:cNvSpPr txBox="1">
            <a:spLocks/>
          </p:cNvSpPr>
          <p:nvPr/>
        </p:nvSpPr>
        <p:spPr>
          <a:xfrm>
            <a:off x="1009650" y="2696111"/>
            <a:ext cx="1430337" cy="24867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400" dirty="0">
                <a:solidFill>
                  <a:schemeClr val="bg1"/>
                </a:solidFill>
              </a:rPr>
              <a:t>~6 years</a:t>
            </a:r>
          </a:p>
        </p:txBody>
      </p:sp>
      <p:sp>
        <p:nvSpPr>
          <p:cNvPr id="86" name="Retângulo: Cantos Arredondados 85">
            <a:extLst>
              <a:ext uri="{FF2B5EF4-FFF2-40B4-BE49-F238E27FC236}">
                <a16:creationId xmlns:a16="http://schemas.microsoft.com/office/drawing/2014/main" id="{0111A45A-3303-9B92-3C0F-6E35CAC578B3}"/>
              </a:ext>
            </a:extLst>
          </p:cNvPr>
          <p:cNvSpPr/>
          <p:nvPr/>
        </p:nvSpPr>
        <p:spPr>
          <a:xfrm>
            <a:off x="744537" y="3670871"/>
            <a:ext cx="1960563" cy="871140"/>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87" name="Título 1">
            <a:extLst>
              <a:ext uri="{FF2B5EF4-FFF2-40B4-BE49-F238E27FC236}">
                <a16:creationId xmlns:a16="http://schemas.microsoft.com/office/drawing/2014/main" id="{924CED21-D9CC-98DE-02EF-C2D853FDF821}"/>
              </a:ext>
            </a:extLst>
          </p:cNvPr>
          <p:cNvSpPr txBox="1">
            <a:spLocks/>
          </p:cNvSpPr>
          <p:nvPr/>
        </p:nvSpPr>
        <p:spPr>
          <a:xfrm>
            <a:off x="1009650" y="4167891"/>
            <a:ext cx="1430337" cy="20015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b="0" dirty="0">
                <a:solidFill>
                  <a:schemeClr val="bg1"/>
                </a:solidFill>
                <a:latin typeface="Poppins Light" panose="00000400000000000000" pitchFamily="2" charset="0"/>
                <a:cs typeface="Poppins Light" panose="00000400000000000000" pitchFamily="2" charset="0"/>
              </a:rPr>
              <a:t>Total fleet</a:t>
            </a:r>
            <a:r>
              <a:rPr lang="en-US" sz="1000" b="0" baseline="30000" dirty="0">
                <a:solidFill>
                  <a:schemeClr val="bg1"/>
                </a:solidFill>
                <a:latin typeface="Poppins Light" panose="00000400000000000000" pitchFamily="2" charset="0"/>
                <a:cs typeface="Poppins Light" panose="00000400000000000000" pitchFamily="2" charset="0"/>
              </a:rPr>
              <a:t>(2)</a:t>
            </a:r>
          </a:p>
        </p:txBody>
      </p:sp>
      <p:sp>
        <p:nvSpPr>
          <p:cNvPr id="88" name="Título 1">
            <a:extLst>
              <a:ext uri="{FF2B5EF4-FFF2-40B4-BE49-F238E27FC236}">
                <a16:creationId xmlns:a16="http://schemas.microsoft.com/office/drawing/2014/main" id="{D997C9AD-99AE-E3FB-4E9D-2C9EFB6E6C33}"/>
              </a:ext>
            </a:extLst>
          </p:cNvPr>
          <p:cNvSpPr txBox="1">
            <a:spLocks/>
          </p:cNvSpPr>
          <p:nvPr/>
        </p:nvSpPr>
        <p:spPr>
          <a:xfrm>
            <a:off x="1009650" y="3878625"/>
            <a:ext cx="1430337" cy="24867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400" dirty="0">
                <a:solidFill>
                  <a:schemeClr val="bg1"/>
                </a:solidFill>
              </a:rPr>
              <a:t>373</a:t>
            </a:r>
          </a:p>
        </p:txBody>
      </p:sp>
      <p:sp>
        <p:nvSpPr>
          <p:cNvPr id="105" name="Retângulo: Cantos Arredondados 104">
            <a:extLst>
              <a:ext uri="{FF2B5EF4-FFF2-40B4-BE49-F238E27FC236}">
                <a16:creationId xmlns:a16="http://schemas.microsoft.com/office/drawing/2014/main" id="{A67F517F-4F39-25D2-5D4E-EFE502AFA62C}"/>
              </a:ext>
            </a:extLst>
          </p:cNvPr>
          <p:cNvSpPr/>
          <p:nvPr/>
        </p:nvSpPr>
        <p:spPr>
          <a:xfrm>
            <a:off x="744537" y="4853385"/>
            <a:ext cx="1960563" cy="871140"/>
          </a:xfrm>
          <a:prstGeom prst="roundRect">
            <a:avLst>
              <a:gd name="adj" fmla="val 8283"/>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06" name="Título 1">
            <a:extLst>
              <a:ext uri="{FF2B5EF4-FFF2-40B4-BE49-F238E27FC236}">
                <a16:creationId xmlns:a16="http://schemas.microsoft.com/office/drawing/2014/main" id="{9F47DB84-CB1A-25F7-48E5-8E6A5E921CF3}"/>
              </a:ext>
            </a:extLst>
          </p:cNvPr>
          <p:cNvSpPr txBox="1">
            <a:spLocks/>
          </p:cNvSpPr>
          <p:nvPr/>
        </p:nvSpPr>
        <p:spPr>
          <a:xfrm>
            <a:off x="938133" y="5350405"/>
            <a:ext cx="1573371" cy="20015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b="0" dirty="0">
                <a:solidFill>
                  <a:schemeClr val="bg1"/>
                </a:solidFill>
                <a:latin typeface="Poppins Light" panose="00000400000000000000" pitchFamily="2" charset="0"/>
                <a:cs typeface="Poppins Light" panose="00000400000000000000" pitchFamily="2" charset="0"/>
              </a:rPr>
              <a:t>Total equipment value</a:t>
            </a:r>
            <a:r>
              <a:rPr lang="en-US" sz="1000" b="0" baseline="30000" dirty="0">
                <a:solidFill>
                  <a:schemeClr val="bg1"/>
                </a:solidFill>
                <a:latin typeface="Poppins Light" panose="00000400000000000000" pitchFamily="2" charset="0"/>
                <a:cs typeface="Poppins Light" panose="00000400000000000000" pitchFamily="2" charset="0"/>
              </a:rPr>
              <a:t>(3)</a:t>
            </a:r>
            <a:r>
              <a:rPr lang="en-US" sz="1000" b="0" dirty="0">
                <a:solidFill>
                  <a:schemeClr val="bg1"/>
                </a:solidFill>
                <a:latin typeface="Poppins Light" panose="00000400000000000000" pitchFamily="2" charset="0"/>
                <a:cs typeface="Poppins Light" panose="00000400000000000000" pitchFamily="2" charset="0"/>
              </a:rPr>
              <a:t> </a:t>
            </a:r>
          </a:p>
        </p:txBody>
      </p:sp>
      <p:sp>
        <p:nvSpPr>
          <p:cNvPr id="108" name="Título 1">
            <a:extLst>
              <a:ext uri="{FF2B5EF4-FFF2-40B4-BE49-F238E27FC236}">
                <a16:creationId xmlns:a16="http://schemas.microsoft.com/office/drawing/2014/main" id="{88322C8D-8DB8-2AE0-6071-D024D3A598A5}"/>
              </a:ext>
            </a:extLst>
          </p:cNvPr>
          <p:cNvSpPr txBox="1">
            <a:spLocks/>
          </p:cNvSpPr>
          <p:nvPr/>
        </p:nvSpPr>
        <p:spPr>
          <a:xfrm>
            <a:off x="1009650" y="5061139"/>
            <a:ext cx="1430337" cy="24867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400" dirty="0">
                <a:solidFill>
                  <a:schemeClr val="bg1"/>
                </a:solidFill>
              </a:rPr>
              <a:t>~BRL 198 Mn</a:t>
            </a:r>
          </a:p>
        </p:txBody>
      </p:sp>
      <p:grpSp>
        <p:nvGrpSpPr>
          <p:cNvPr id="218" name="Agrupar 217">
            <a:extLst>
              <a:ext uri="{FF2B5EF4-FFF2-40B4-BE49-F238E27FC236}">
                <a16:creationId xmlns:a16="http://schemas.microsoft.com/office/drawing/2014/main" id="{E1CBCF88-ED8E-5789-98AB-8EF63DA48E7E}"/>
              </a:ext>
            </a:extLst>
          </p:cNvPr>
          <p:cNvGrpSpPr/>
          <p:nvPr/>
        </p:nvGrpSpPr>
        <p:grpSpPr>
          <a:xfrm>
            <a:off x="8082526" y="3483841"/>
            <a:ext cx="1214241" cy="297957"/>
            <a:chOff x="6524312" y="3581622"/>
            <a:chExt cx="1531116" cy="375714"/>
          </a:xfrm>
        </p:grpSpPr>
        <p:pic>
          <p:nvPicPr>
            <p:cNvPr id="213" name="Picture 7" descr="Logotipo CAT PNG transparente - StickPNG">
              <a:extLst>
                <a:ext uri="{FF2B5EF4-FFF2-40B4-BE49-F238E27FC236}">
                  <a16:creationId xmlns:a16="http://schemas.microsoft.com/office/drawing/2014/main" id="{562FD495-592A-026F-CAB2-4D591542E319}"/>
                </a:ext>
              </a:extLst>
            </p:cNvPr>
            <p:cNvPicPr>
              <a:picLocks noChangeAspect="1"/>
            </p:cNvPicPr>
            <p:nvPr/>
          </p:nvPicPr>
          <p:blipFill>
            <a:blip r:embed="rId3">
              <a:clrChange>
                <a:clrFrom>
                  <a:srgbClr val="FFFFFF"/>
                </a:clrFrom>
                <a:clrTo>
                  <a:srgbClr val="FFFFFF">
                    <a:alpha val="0"/>
                  </a:srgbClr>
                </a:clrTo>
              </a:clrChange>
            </a:blip>
            <a:srcRect l="13248" t="18568" r="9918" b="18866"/>
            <a:stretch>
              <a:fillRect/>
            </a:stretch>
          </p:blipFill>
          <p:spPr>
            <a:xfrm>
              <a:off x="6524312" y="3594074"/>
              <a:ext cx="215766" cy="127118"/>
            </a:xfrm>
            <a:prstGeom prst="rect">
              <a:avLst/>
            </a:prstGeom>
          </p:spPr>
        </p:pic>
        <p:pic>
          <p:nvPicPr>
            <p:cNvPr id="214" name="Picture 8" descr="What Does the Hyundai Logo Mean? | Hyundai Meaning | Hyundai Saipan">
              <a:extLst>
                <a:ext uri="{FF2B5EF4-FFF2-40B4-BE49-F238E27FC236}">
                  <a16:creationId xmlns:a16="http://schemas.microsoft.com/office/drawing/2014/main" id="{768C43B1-25D2-A2AA-F213-265E72966C2C}"/>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806942" y="3783270"/>
              <a:ext cx="270769" cy="174066"/>
            </a:xfrm>
            <a:prstGeom prst="rect">
              <a:avLst/>
            </a:prstGeom>
          </p:spPr>
        </p:pic>
        <p:pic>
          <p:nvPicPr>
            <p:cNvPr id="215" name="Picture 12" descr="Sunward Logo PNG Vector (AI) Free Download">
              <a:extLst>
                <a:ext uri="{FF2B5EF4-FFF2-40B4-BE49-F238E27FC236}">
                  <a16:creationId xmlns:a16="http://schemas.microsoft.com/office/drawing/2014/main" id="{7AB016FC-02DF-32EF-2635-6220CF62228C}"/>
                </a:ext>
              </a:extLst>
            </p:cNvPr>
            <p:cNvPicPr>
              <a:picLocks noChangeAspect="1"/>
            </p:cNvPicPr>
            <p:nvPr/>
          </p:nvPicPr>
          <p:blipFill>
            <a:blip r:embed="rId7">
              <a:clrChange>
                <a:clrFrom>
                  <a:srgbClr val="FFFFFF"/>
                </a:clrFrom>
                <a:clrTo>
                  <a:srgbClr val="FFFFFF">
                    <a:alpha val="0"/>
                  </a:srgbClr>
                </a:clrTo>
              </a:clrChange>
            </a:blip>
            <a:srcRect t="37799" b="39567"/>
            <a:stretch>
              <a:fillRect/>
            </a:stretch>
          </p:blipFill>
          <p:spPr>
            <a:xfrm>
              <a:off x="7334310" y="3800049"/>
              <a:ext cx="620787" cy="140509"/>
            </a:xfrm>
            <a:prstGeom prst="rect">
              <a:avLst/>
            </a:prstGeom>
          </p:spPr>
        </p:pic>
        <p:pic>
          <p:nvPicPr>
            <p:cNvPr id="216" name="Picture 16" descr="File:Liebherr-Logo.svg - Wikimedia Commons">
              <a:extLst>
                <a:ext uri="{FF2B5EF4-FFF2-40B4-BE49-F238E27FC236}">
                  <a16:creationId xmlns:a16="http://schemas.microsoft.com/office/drawing/2014/main" id="{58E3E771-7176-7920-04AD-518AAFD94625}"/>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6856037" y="3618276"/>
              <a:ext cx="638241" cy="78715"/>
            </a:xfrm>
            <a:prstGeom prst="rect">
              <a:avLst/>
            </a:prstGeom>
          </p:spPr>
        </p:pic>
        <p:pic>
          <p:nvPicPr>
            <p:cNvPr id="217" name="Picture 18">
              <a:extLst>
                <a:ext uri="{FF2B5EF4-FFF2-40B4-BE49-F238E27FC236}">
                  <a16:creationId xmlns:a16="http://schemas.microsoft.com/office/drawing/2014/main" id="{6095B831-A083-4937-6891-CC857ACA59E9}"/>
                </a:ext>
              </a:extLst>
            </p:cNvPr>
            <p:cNvPicPr>
              <a:picLocks noChangeAspect="1"/>
            </p:cNvPicPr>
            <p:nvPr/>
          </p:nvPicPr>
          <p:blipFill>
            <a:blip r:embed="rId9">
              <a:clrChange>
                <a:clrFrom>
                  <a:srgbClr val="FFFFFF"/>
                </a:clrFrom>
                <a:clrTo>
                  <a:srgbClr val="FFFFFF">
                    <a:alpha val="0"/>
                  </a:srgbClr>
                </a:clrTo>
              </a:clrChange>
            </a:blip>
            <a:srcRect l="9204" t="24139" r="9605" b="26064"/>
            <a:stretch>
              <a:fillRect/>
            </a:stretch>
          </p:blipFill>
          <p:spPr>
            <a:xfrm>
              <a:off x="7581121" y="3581622"/>
              <a:ext cx="474307" cy="152022"/>
            </a:xfrm>
            <a:prstGeom prst="rect">
              <a:avLst/>
            </a:prstGeom>
          </p:spPr>
        </p:pic>
      </p:grpSp>
      <p:pic>
        <p:nvPicPr>
          <p:cNvPr id="211" name="Picture 26">
            <a:extLst>
              <a:ext uri="{FF2B5EF4-FFF2-40B4-BE49-F238E27FC236}">
                <a16:creationId xmlns:a16="http://schemas.microsoft.com/office/drawing/2014/main" id="{7F57F2DD-1DE2-CC0E-D602-126968AF6028}"/>
              </a:ext>
            </a:extLst>
          </p:cNvPr>
          <p:cNvPicPr>
            <a:picLocks noChangeAspect="1"/>
          </p:cNvPicPr>
          <p:nvPr/>
        </p:nvPicPr>
        <p:blipFill>
          <a:blip r:embed="rId10">
            <a:clrChange>
              <a:clrFrom>
                <a:srgbClr val="FFFFFF"/>
              </a:clrFrom>
              <a:clrTo>
                <a:srgbClr val="FFFFFF">
                  <a:alpha val="0"/>
                </a:srgbClr>
              </a:clrTo>
            </a:clrChange>
          </a:blip>
          <a:srcRect t="17057" b="15489"/>
          <a:stretch>
            <a:fillRect/>
          </a:stretch>
        </p:blipFill>
        <p:spPr>
          <a:xfrm>
            <a:off x="8168772" y="2401978"/>
            <a:ext cx="1041748" cy="702705"/>
          </a:xfrm>
          <a:prstGeom prst="rect">
            <a:avLst/>
          </a:prstGeom>
        </p:spPr>
      </p:pic>
      <p:sp>
        <p:nvSpPr>
          <p:cNvPr id="118" name="Retângulo: Cantos Arredondados 117">
            <a:extLst>
              <a:ext uri="{FF2B5EF4-FFF2-40B4-BE49-F238E27FC236}">
                <a16:creationId xmlns:a16="http://schemas.microsoft.com/office/drawing/2014/main" id="{E543E2C6-A61B-E560-85A9-9799960404F6}"/>
              </a:ext>
            </a:extLst>
          </p:cNvPr>
          <p:cNvSpPr/>
          <p:nvPr/>
        </p:nvSpPr>
        <p:spPr>
          <a:xfrm>
            <a:off x="3389312" y="2197430"/>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14" name="Título 1">
            <a:extLst>
              <a:ext uri="{FF2B5EF4-FFF2-40B4-BE49-F238E27FC236}">
                <a16:creationId xmlns:a16="http://schemas.microsoft.com/office/drawing/2014/main" id="{F6683995-4860-66F9-9A22-DE8252FF11BC}"/>
              </a:ext>
            </a:extLst>
          </p:cNvPr>
          <p:cNvSpPr txBox="1">
            <a:spLocks/>
          </p:cNvSpPr>
          <p:nvPr/>
        </p:nvSpPr>
        <p:spPr>
          <a:xfrm>
            <a:off x="3771226" y="2137915"/>
            <a:ext cx="1216172"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Bus</a:t>
            </a:r>
          </a:p>
        </p:txBody>
      </p:sp>
      <p:pic>
        <p:nvPicPr>
          <p:cNvPr id="115" name="Picture 15">
            <a:extLst>
              <a:ext uri="{FF2B5EF4-FFF2-40B4-BE49-F238E27FC236}">
                <a16:creationId xmlns:a16="http://schemas.microsoft.com/office/drawing/2014/main" id="{76604437-359A-E074-06B7-08DD4F5F94DD}"/>
              </a:ext>
            </a:extLst>
          </p:cNvPr>
          <p:cNvPicPr>
            <a:picLocks noChangeAspect="1"/>
          </p:cNvPicPr>
          <p:nvPr/>
        </p:nvPicPr>
        <p:blipFill>
          <a:blip r:embed="rId11"/>
          <a:srcRect t="12805" b="14134"/>
          <a:stretch>
            <a:fillRect/>
          </a:stretch>
        </p:blipFill>
        <p:spPr>
          <a:xfrm>
            <a:off x="10355934" y="2396151"/>
            <a:ext cx="977759" cy="714359"/>
          </a:xfrm>
          <a:prstGeom prst="rect">
            <a:avLst/>
          </a:prstGeom>
        </p:spPr>
      </p:pic>
      <p:sp>
        <p:nvSpPr>
          <p:cNvPr id="143" name="Retângulo: Cantos Arredondados 142">
            <a:extLst>
              <a:ext uri="{FF2B5EF4-FFF2-40B4-BE49-F238E27FC236}">
                <a16:creationId xmlns:a16="http://schemas.microsoft.com/office/drawing/2014/main" id="{043C9284-161C-9A17-12C2-552A46E816E6}"/>
              </a:ext>
            </a:extLst>
          </p:cNvPr>
          <p:cNvSpPr/>
          <p:nvPr/>
        </p:nvSpPr>
        <p:spPr>
          <a:xfrm>
            <a:off x="5544479" y="2197430"/>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44" name="Título 1">
            <a:extLst>
              <a:ext uri="{FF2B5EF4-FFF2-40B4-BE49-F238E27FC236}">
                <a16:creationId xmlns:a16="http://schemas.microsoft.com/office/drawing/2014/main" id="{FFB4AC77-945B-4606-5ED2-ED3D9CDE9703}"/>
              </a:ext>
            </a:extLst>
          </p:cNvPr>
          <p:cNvSpPr txBox="1">
            <a:spLocks/>
          </p:cNvSpPr>
          <p:nvPr/>
        </p:nvSpPr>
        <p:spPr>
          <a:xfrm>
            <a:off x="6266884" y="2137915"/>
            <a:ext cx="535190"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Microbus</a:t>
            </a:r>
          </a:p>
        </p:txBody>
      </p:sp>
      <p:sp>
        <p:nvSpPr>
          <p:cNvPr id="150" name="Retângulo: Cantos Arredondados 149">
            <a:extLst>
              <a:ext uri="{FF2B5EF4-FFF2-40B4-BE49-F238E27FC236}">
                <a16:creationId xmlns:a16="http://schemas.microsoft.com/office/drawing/2014/main" id="{7890AEC4-7511-F4D4-9178-7117EA8C7D63}"/>
              </a:ext>
            </a:extLst>
          </p:cNvPr>
          <p:cNvSpPr/>
          <p:nvPr/>
        </p:nvSpPr>
        <p:spPr>
          <a:xfrm>
            <a:off x="7699646" y="2197430"/>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51" name="Título 1">
            <a:extLst>
              <a:ext uri="{FF2B5EF4-FFF2-40B4-BE49-F238E27FC236}">
                <a16:creationId xmlns:a16="http://schemas.microsoft.com/office/drawing/2014/main" id="{01FF75BB-1417-1548-9184-46B919F64186}"/>
              </a:ext>
            </a:extLst>
          </p:cNvPr>
          <p:cNvSpPr txBox="1">
            <a:spLocks/>
          </p:cNvSpPr>
          <p:nvPr/>
        </p:nvSpPr>
        <p:spPr>
          <a:xfrm>
            <a:off x="8283911" y="2137915"/>
            <a:ext cx="811471"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Van</a:t>
            </a:r>
          </a:p>
        </p:txBody>
      </p:sp>
      <p:sp>
        <p:nvSpPr>
          <p:cNvPr id="165" name="Retângulo: Cantos Arredondados 164">
            <a:extLst>
              <a:ext uri="{FF2B5EF4-FFF2-40B4-BE49-F238E27FC236}">
                <a16:creationId xmlns:a16="http://schemas.microsoft.com/office/drawing/2014/main" id="{025BE6E2-1967-862B-90DB-BB8964188EF1}"/>
              </a:ext>
            </a:extLst>
          </p:cNvPr>
          <p:cNvSpPr/>
          <p:nvPr/>
        </p:nvSpPr>
        <p:spPr>
          <a:xfrm>
            <a:off x="9854813" y="2197430"/>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66" name="Título 1">
            <a:extLst>
              <a:ext uri="{FF2B5EF4-FFF2-40B4-BE49-F238E27FC236}">
                <a16:creationId xmlns:a16="http://schemas.microsoft.com/office/drawing/2014/main" id="{9E0C6740-3D2F-F93D-8419-2CC75C121E20}"/>
              </a:ext>
            </a:extLst>
          </p:cNvPr>
          <p:cNvSpPr txBox="1">
            <a:spLocks/>
          </p:cNvSpPr>
          <p:nvPr/>
        </p:nvSpPr>
        <p:spPr>
          <a:xfrm>
            <a:off x="10166370" y="2137915"/>
            <a:ext cx="1356887"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a:solidFill>
                  <a:schemeClr val="tx1">
                    <a:lumMod val="65000"/>
                    <a:lumOff val="35000"/>
                  </a:schemeClr>
                </a:solidFill>
                <a:latin typeface="Poppins SemiBold" panose="00000700000000000000" pitchFamily="2" charset="0"/>
                <a:cs typeface="Poppins SemiBold" panose="00000700000000000000" pitchFamily="2" charset="0"/>
              </a:rPr>
              <a:t>Support </a:t>
            </a: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vehicle</a:t>
            </a:r>
          </a:p>
        </p:txBody>
      </p:sp>
      <p:sp>
        <p:nvSpPr>
          <p:cNvPr id="119" name="Rectangle: Rounded Corners 35">
            <a:extLst>
              <a:ext uri="{FF2B5EF4-FFF2-40B4-BE49-F238E27FC236}">
                <a16:creationId xmlns:a16="http://schemas.microsoft.com/office/drawing/2014/main" id="{52A70E82-87C2-C6FB-EAB2-76E481D68E4F}"/>
              </a:ext>
            </a:extLst>
          </p:cNvPr>
          <p:cNvSpPr/>
          <p:nvPr/>
        </p:nvSpPr>
        <p:spPr>
          <a:xfrm>
            <a:off x="4922625" y="3145092"/>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223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42" name="Rectangle: Rounded Corners 35">
            <a:extLst>
              <a:ext uri="{FF2B5EF4-FFF2-40B4-BE49-F238E27FC236}">
                <a16:creationId xmlns:a16="http://schemas.microsoft.com/office/drawing/2014/main" id="{F791A143-8CF9-F6E4-5723-B8E9FB6CA6BE}"/>
              </a:ext>
            </a:extLst>
          </p:cNvPr>
          <p:cNvSpPr/>
          <p:nvPr/>
        </p:nvSpPr>
        <p:spPr>
          <a:xfrm>
            <a:off x="7077792" y="3145092"/>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74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49" name="Rectangle: Rounded Corners 35">
            <a:extLst>
              <a:ext uri="{FF2B5EF4-FFF2-40B4-BE49-F238E27FC236}">
                <a16:creationId xmlns:a16="http://schemas.microsoft.com/office/drawing/2014/main" id="{C5793C4F-311D-D585-0FE9-093EB316B897}"/>
              </a:ext>
            </a:extLst>
          </p:cNvPr>
          <p:cNvSpPr/>
          <p:nvPr/>
        </p:nvSpPr>
        <p:spPr>
          <a:xfrm>
            <a:off x="9232959" y="3145092"/>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55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64" name="Rectangle: Rounded Corners 35">
            <a:extLst>
              <a:ext uri="{FF2B5EF4-FFF2-40B4-BE49-F238E27FC236}">
                <a16:creationId xmlns:a16="http://schemas.microsoft.com/office/drawing/2014/main" id="{37E8B91D-C897-24FC-D4D4-3735959DEEFD}"/>
              </a:ext>
            </a:extLst>
          </p:cNvPr>
          <p:cNvSpPr/>
          <p:nvPr/>
        </p:nvSpPr>
        <p:spPr>
          <a:xfrm>
            <a:off x="11396549" y="3145092"/>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17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pic>
        <p:nvPicPr>
          <p:cNvPr id="205" name="Picture 74">
            <a:extLst>
              <a:ext uri="{FF2B5EF4-FFF2-40B4-BE49-F238E27FC236}">
                <a16:creationId xmlns:a16="http://schemas.microsoft.com/office/drawing/2014/main" id="{113E9A26-B270-DE29-3E6D-6AA87396A930}"/>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6112356" y="2331207"/>
            <a:ext cx="844247" cy="844247"/>
          </a:xfrm>
          <a:prstGeom prst="rect">
            <a:avLst/>
          </a:prstGeom>
        </p:spPr>
      </p:pic>
      <p:grpSp>
        <p:nvGrpSpPr>
          <p:cNvPr id="210" name="Agrupar 209">
            <a:extLst>
              <a:ext uri="{FF2B5EF4-FFF2-40B4-BE49-F238E27FC236}">
                <a16:creationId xmlns:a16="http://schemas.microsoft.com/office/drawing/2014/main" id="{366D9FC1-A04B-9A20-6FE1-8E6FE73A153C}"/>
              </a:ext>
            </a:extLst>
          </p:cNvPr>
          <p:cNvGrpSpPr/>
          <p:nvPr/>
        </p:nvGrpSpPr>
        <p:grpSpPr>
          <a:xfrm>
            <a:off x="5918995" y="3547096"/>
            <a:ext cx="1230969" cy="218358"/>
            <a:chOff x="4680078" y="3637378"/>
            <a:chExt cx="1484178" cy="263274"/>
          </a:xfrm>
        </p:grpSpPr>
        <p:pic>
          <p:nvPicPr>
            <p:cNvPr id="206" name="Picture 158" descr="Ficheiro:Mercedes-Benz logo 2.svg – Wikipédia, a enciclopédia livre">
              <a:extLst>
                <a:ext uri="{FF2B5EF4-FFF2-40B4-BE49-F238E27FC236}">
                  <a16:creationId xmlns:a16="http://schemas.microsoft.com/office/drawing/2014/main" id="{460DDFAC-2628-EB20-1C26-783D03D5B81A}"/>
                </a:ext>
              </a:extLst>
            </p:cNvPr>
            <p:cNvPicPr>
              <a:picLocks noChangeAspect="1"/>
            </p:cNvPicPr>
            <p:nvPr/>
          </p:nvPicPr>
          <p:blipFill>
            <a:blip r:embed="rId13"/>
            <a:srcRect l="24069" r="23725" b="29229"/>
            <a:stretch>
              <a:fillRect/>
            </a:stretch>
          </p:blipFill>
          <p:spPr>
            <a:xfrm>
              <a:off x="5912796" y="3645713"/>
              <a:ext cx="251460" cy="246605"/>
            </a:xfrm>
            <a:prstGeom prst="rect">
              <a:avLst/>
            </a:prstGeom>
          </p:spPr>
        </p:pic>
        <p:pic>
          <p:nvPicPr>
            <p:cNvPr id="207" name="Picture 159" descr="Volkswagen Logo and symbol, meaning, history, PNG, brand">
              <a:extLst>
                <a:ext uri="{FF2B5EF4-FFF2-40B4-BE49-F238E27FC236}">
                  <a16:creationId xmlns:a16="http://schemas.microsoft.com/office/drawing/2014/main" id="{B8E52B0F-FF68-6CDA-4F46-973AF690ABFA}"/>
                </a:ext>
              </a:extLst>
            </p:cNvPr>
            <p:cNvPicPr>
              <a:picLocks noChangeAspect="1"/>
            </p:cNvPicPr>
            <p:nvPr/>
          </p:nvPicPr>
          <p:blipFill>
            <a:blip r:embed="rId14"/>
            <a:srcRect l="18965" r="19537"/>
            <a:stretch>
              <a:fillRect/>
            </a:stretch>
          </p:blipFill>
          <p:spPr>
            <a:xfrm>
              <a:off x="5535897" y="3648638"/>
              <a:ext cx="263220" cy="240755"/>
            </a:xfrm>
            <a:prstGeom prst="rect">
              <a:avLst/>
            </a:prstGeom>
          </p:spPr>
        </p:pic>
        <p:pic>
          <p:nvPicPr>
            <p:cNvPr id="208" name="Picture 1" descr="Adesivo Scania Logo Dragão Caminhão Capo Cromado - Generico">
              <a:extLst>
                <a:ext uri="{FF2B5EF4-FFF2-40B4-BE49-F238E27FC236}">
                  <a16:creationId xmlns:a16="http://schemas.microsoft.com/office/drawing/2014/main" id="{A95185FE-E986-4F33-D3C5-B7E7DD65E8D0}"/>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5159969" y="3637378"/>
              <a:ext cx="263274" cy="263274"/>
            </a:xfrm>
            <a:prstGeom prst="rect">
              <a:avLst/>
            </a:prstGeom>
          </p:spPr>
        </p:pic>
        <p:pic>
          <p:nvPicPr>
            <p:cNvPr id="209" name="Picture 6" descr="Use of Logo | Ford New Zealand">
              <a:extLst>
                <a:ext uri="{FF2B5EF4-FFF2-40B4-BE49-F238E27FC236}">
                  <a16:creationId xmlns:a16="http://schemas.microsoft.com/office/drawing/2014/main" id="{75565E43-285D-ACD3-82D7-1A6F07F44597}"/>
                </a:ext>
              </a:extLst>
            </p:cNvPr>
            <p:cNvPicPr>
              <a:picLocks noChangeAspect="1"/>
            </p:cNvPicPr>
            <p:nvPr/>
          </p:nvPicPr>
          <p:blipFill>
            <a:blip r:embed="rId16">
              <a:clrChange>
                <a:clrFrom>
                  <a:srgbClr val="FFFFFF"/>
                </a:clrFrom>
                <a:clrTo>
                  <a:srgbClr val="FFFFFF">
                    <a:alpha val="0"/>
                  </a:srgbClr>
                </a:clrTo>
              </a:clrChange>
            </a:blip>
            <a:srcRect l="8219" t="23656" r="6967" b="28215"/>
            <a:stretch>
              <a:fillRect/>
            </a:stretch>
          </p:blipFill>
          <p:spPr>
            <a:xfrm>
              <a:off x="4680078" y="3687805"/>
              <a:ext cx="377120" cy="162421"/>
            </a:xfrm>
            <a:prstGeom prst="rect">
              <a:avLst/>
            </a:prstGeom>
          </p:spPr>
        </p:pic>
      </p:grpSp>
      <p:sp>
        <p:nvSpPr>
          <p:cNvPr id="227" name="Retângulo: Cantos Arredondados 226">
            <a:extLst>
              <a:ext uri="{FF2B5EF4-FFF2-40B4-BE49-F238E27FC236}">
                <a16:creationId xmlns:a16="http://schemas.microsoft.com/office/drawing/2014/main" id="{579663D6-8A94-C3A8-E7D2-F31C2F1571FB}"/>
              </a:ext>
            </a:extLst>
          </p:cNvPr>
          <p:cNvSpPr/>
          <p:nvPr/>
        </p:nvSpPr>
        <p:spPr>
          <a:xfrm>
            <a:off x="3389312" y="4290438"/>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28" name="Título 1">
            <a:extLst>
              <a:ext uri="{FF2B5EF4-FFF2-40B4-BE49-F238E27FC236}">
                <a16:creationId xmlns:a16="http://schemas.microsoft.com/office/drawing/2014/main" id="{E02B10DD-0F7A-C555-1177-6079D5CFE2B9}"/>
              </a:ext>
            </a:extLst>
          </p:cNvPr>
          <p:cNvSpPr txBox="1">
            <a:spLocks/>
          </p:cNvSpPr>
          <p:nvPr/>
        </p:nvSpPr>
        <p:spPr>
          <a:xfrm>
            <a:off x="3856017" y="4230923"/>
            <a:ext cx="1046590"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Truck</a:t>
            </a:r>
          </a:p>
        </p:txBody>
      </p:sp>
      <p:sp>
        <p:nvSpPr>
          <p:cNvPr id="231" name="Retângulo: Cantos Arredondados 230">
            <a:extLst>
              <a:ext uri="{FF2B5EF4-FFF2-40B4-BE49-F238E27FC236}">
                <a16:creationId xmlns:a16="http://schemas.microsoft.com/office/drawing/2014/main" id="{8AAA1EAD-9FFC-15BE-6E66-7CA4885F80C1}"/>
              </a:ext>
            </a:extLst>
          </p:cNvPr>
          <p:cNvSpPr/>
          <p:nvPr/>
        </p:nvSpPr>
        <p:spPr>
          <a:xfrm>
            <a:off x="5544479" y="4290438"/>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32" name="Título 1">
            <a:extLst>
              <a:ext uri="{FF2B5EF4-FFF2-40B4-BE49-F238E27FC236}">
                <a16:creationId xmlns:a16="http://schemas.microsoft.com/office/drawing/2014/main" id="{0E4C8BD5-F79B-1C91-23A2-AC102EB86642}"/>
              </a:ext>
            </a:extLst>
          </p:cNvPr>
          <p:cNvSpPr txBox="1">
            <a:spLocks/>
          </p:cNvSpPr>
          <p:nvPr/>
        </p:nvSpPr>
        <p:spPr>
          <a:xfrm>
            <a:off x="6027688" y="4230923"/>
            <a:ext cx="1013582"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Pickup truck</a:t>
            </a:r>
          </a:p>
        </p:txBody>
      </p:sp>
      <p:sp>
        <p:nvSpPr>
          <p:cNvPr id="235" name="Retângulo: Cantos Arredondados 234">
            <a:extLst>
              <a:ext uri="{FF2B5EF4-FFF2-40B4-BE49-F238E27FC236}">
                <a16:creationId xmlns:a16="http://schemas.microsoft.com/office/drawing/2014/main" id="{3937C861-066B-0F90-35BD-6DF4B2F68DA9}"/>
              </a:ext>
            </a:extLst>
          </p:cNvPr>
          <p:cNvSpPr/>
          <p:nvPr/>
        </p:nvSpPr>
        <p:spPr>
          <a:xfrm>
            <a:off x="7699646" y="4290438"/>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36" name="Título 1">
            <a:extLst>
              <a:ext uri="{FF2B5EF4-FFF2-40B4-BE49-F238E27FC236}">
                <a16:creationId xmlns:a16="http://schemas.microsoft.com/office/drawing/2014/main" id="{106A7F1F-69B2-0502-E4BF-47F6F8759ED2}"/>
              </a:ext>
            </a:extLst>
          </p:cNvPr>
          <p:cNvSpPr txBox="1">
            <a:spLocks/>
          </p:cNvSpPr>
          <p:nvPr/>
        </p:nvSpPr>
        <p:spPr>
          <a:xfrm>
            <a:off x="8371609" y="4230923"/>
            <a:ext cx="723773"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Owned fleet</a:t>
            </a:r>
          </a:p>
        </p:txBody>
      </p:sp>
      <p:sp>
        <p:nvSpPr>
          <p:cNvPr id="237" name="Retângulo: Cantos Arredondados 236">
            <a:extLst>
              <a:ext uri="{FF2B5EF4-FFF2-40B4-BE49-F238E27FC236}">
                <a16:creationId xmlns:a16="http://schemas.microsoft.com/office/drawing/2014/main" id="{AAB80CDD-DC36-CFED-437E-74EFCB47BD57}"/>
              </a:ext>
            </a:extLst>
          </p:cNvPr>
          <p:cNvSpPr/>
          <p:nvPr/>
        </p:nvSpPr>
        <p:spPr>
          <a:xfrm>
            <a:off x="9854813" y="4290438"/>
            <a:ext cx="1980000" cy="1111800"/>
          </a:xfrm>
          <a:prstGeom prst="roundRect">
            <a:avLst>
              <a:gd name="adj" fmla="val 5446"/>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38" name="Título 1">
            <a:extLst>
              <a:ext uri="{FF2B5EF4-FFF2-40B4-BE49-F238E27FC236}">
                <a16:creationId xmlns:a16="http://schemas.microsoft.com/office/drawing/2014/main" id="{97056DF9-156B-C69C-EAA1-36BB7C23EE92}"/>
              </a:ext>
            </a:extLst>
          </p:cNvPr>
          <p:cNvSpPr txBox="1">
            <a:spLocks/>
          </p:cNvSpPr>
          <p:nvPr/>
        </p:nvSpPr>
        <p:spPr>
          <a:xfrm>
            <a:off x="10166370" y="4230923"/>
            <a:ext cx="1356887" cy="145777"/>
          </a:xfrm>
          <a:prstGeom prst="rect">
            <a:avLst/>
          </a:prstGeom>
          <a:solidFill>
            <a:schemeClr val="bg1"/>
          </a:solidFill>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tx1">
                    <a:lumMod val="65000"/>
                    <a:lumOff val="35000"/>
                  </a:schemeClr>
                </a:solidFill>
                <a:latin typeface="Poppins SemiBold" panose="00000700000000000000" pitchFamily="2" charset="0"/>
                <a:cs typeface="Poppins SemiBold" panose="00000700000000000000" pitchFamily="2" charset="0"/>
              </a:rPr>
              <a:t>% owned</a:t>
            </a:r>
          </a:p>
        </p:txBody>
      </p:sp>
      <p:sp>
        <p:nvSpPr>
          <p:cNvPr id="239" name="Rectangle: Rounded Corners 35">
            <a:extLst>
              <a:ext uri="{FF2B5EF4-FFF2-40B4-BE49-F238E27FC236}">
                <a16:creationId xmlns:a16="http://schemas.microsoft.com/office/drawing/2014/main" id="{2BCCB9B3-60F4-8D0B-2D09-5B392471FE35}"/>
              </a:ext>
            </a:extLst>
          </p:cNvPr>
          <p:cNvSpPr/>
          <p:nvPr/>
        </p:nvSpPr>
        <p:spPr>
          <a:xfrm>
            <a:off x="4922625" y="5238100"/>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2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40" name="Rectangle: Rounded Corners 35">
            <a:extLst>
              <a:ext uri="{FF2B5EF4-FFF2-40B4-BE49-F238E27FC236}">
                <a16:creationId xmlns:a16="http://schemas.microsoft.com/office/drawing/2014/main" id="{24E3BF06-4B8B-7400-2104-8352C60A3017}"/>
              </a:ext>
            </a:extLst>
          </p:cNvPr>
          <p:cNvSpPr/>
          <p:nvPr/>
        </p:nvSpPr>
        <p:spPr>
          <a:xfrm>
            <a:off x="7077792" y="5238100"/>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2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42" name="Rectangle: Rounded Corners 35">
            <a:extLst>
              <a:ext uri="{FF2B5EF4-FFF2-40B4-BE49-F238E27FC236}">
                <a16:creationId xmlns:a16="http://schemas.microsoft.com/office/drawing/2014/main" id="{6D785D41-7147-7536-AB82-6EB057BAD132}"/>
              </a:ext>
            </a:extLst>
          </p:cNvPr>
          <p:cNvSpPr/>
          <p:nvPr/>
        </p:nvSpPr>
        <p:spPr>
          <a:xfrm>
            <a:off x="9232959" y="5238100"/>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373 </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un.</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43" name="Rectangle: Rounded Corners 35">
            <a:extLst>
              <a:ext uri="{FF2B5EF4-FFF2-40B4-BE49-F238E27FC236}">
                <a16:creationId xmlns:a16="http://schemas.microsoft.com/office/drawing/2014/main" id="{C1A545D4-7978-2929-C30F-FAEB7AABFA3A}"/>
              </a:ext>
            </a:extLst>
          </p:cNvPr>
          <p:cNvSpPr/>
          <p:nvPr/>
        </p:nvSpPr>
        <p:spPr>
          <a:xfrm>
            <a:off x="11396549" y="5238100"/>
            <a:ext cx="446687" cy="164138"/>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100</a:t>
            </a:r>
            <a:r>
              <a:rPr lang="pt-BR" sz="7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a:t>
            </a:r>
            <a:endParaRPr lang="pt-BR" sz="8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pic>
        <p:nvPicPr>
          <p:cNvPr id="262" name="Picture 108">
            <a:extLst>
              <a:ext uri="{FF2B5EF4-FFF2-40B4-BE49-F238E27FC236}">
                <a16:creationId xmlns:a16="http://schemas.microsoft.com/office/drawing/2014/main" id="{DFEF75F5-A1FA-E024-E151-763B7CEA8EFA}"/>
              </a:ext>
            </a:extLst>
          </p:cNvPr>
          <p:cNvPicPr>
            <a:picLocks noChangeAspect="1"/>
          </p:cNvPicPr>
          <p:nvPr/>
        </p:nvPicPr>
        <p:blipFill>
          <a:blip r:embed="rId17">
            <a:clrChange>
              <a:clrFrom>
                <a:srgbClr val="FFFFFF"/>
              </a:clrFrom>
              <a:clrTo>
                <a:srgbClr val="FFFFFF">
                  <a:alpha val="0"/>
                </a:srgbClr>
              </a:clrTo>
            </a:clrChange>
          </a:blip>
          <a:srcRect t="18139" b="16017"/>
          <a:stretch>
            <a:fillRect/>
          </a:stretch>
        </p:blipFill>
        <p:spPr>
          <a:xfrm>
            <a:off x="6027689" y="4512649"/>
            <a:ext cx="1013581" cy="667378"/>
          </a:xfrm>
          <a:prstGeom prst="rect">
            <a:avLst/>
          </a:prstGeom>
        </p:spPr>
      </p:pic>
      <p:grpSp>
        <p:nvGrpSpPr>
          <p:cNvPr id="268" name="Agrupar 267">
            <a:extLst>
              <a:ext uri="{FF2B5EF4-FFF2-40B4-BE49-F238E27FC236}">
                <a16:creationId xmlns:a16="http://schemas.microsoft.com/office/drawing/2014/main" id="{D5A1FF2F-5C0A-326D-3D27-9E49CD474CE4}"/>
              </a:ext>
            </a:extLst>
          </p:cNvPr>
          <p:cNvGrpSpPr/>
          <p:nvPr/>
        </p:nvGrpSpPr>
        <p:grpSpPr>
          <a:xfrm>
            <a:off x="5903956" y="5593837"/>
            <a:ext cx="1261046" cy="235021"/>
            <a:chOff x="5254579" y="5593837"/>
            <a:chExt cx="1261046" cy="235021"/>
          </a:xfrm>
        </p:grpSpPr>
        <p:pic>
          <p:nvPicPr>
            <p:cNvPr id="264" name="Picture 31" descr="Logotipo CAT PNG transparente - StickPNG">
              <a:extLst>
                <a:ext uri="{FF2B5EF4-FFF2-40B4-BE49-F238E27FC236}">
                  <a16:creationId xmlns:a16="http://schemas.microsoft.com/office/drawing/2014/main" id="{BB903BEC-B11F-8A3D-DCC9-BB6462D123DD}"/>
                </a:ext>
              </a:extLst>
            </p:cNvPr>
            <p:cNvPicPr>
              <a:picLocks noChangeAspect="1"/>
            </p:cNvPicPr>
            <p:nvPr/>
          </p:nvPicPr>
          <p:blipFill>
            <a:blip r:embed="rId3">
              <a:clrChange>
                <a:clrFrom>
                  <a:srgbClr val="FFFFFF"/>
                </a:clrFrom>
                <a:clrTo>
                  <a:srgbClr val="FFFFFF">
                    <a:alpha val="0"/>
                  </a:srgbClr>
                </a:clrTo>
              </a:clrChange>
            </a:blip>
            <a:srcRect l="13248" t="18568" r="9918" b="18866"/>
            <a:stretch>
              <a:fillRect/>
            </a:stretch>
          </p:blipFill>
          <p:spPr>
            <a:xfrm>
              <a:off x="5254579" y="5619971"/>
              <a:ext cx="310202" cy="182753"/>
            </a:xfrm>
            <a:prstGeom prst="rect">
              <a:avLst/>
            </a:prstGeom>
          </p:spPr>
        </p:pic>
        <p:pic>
          <p:nvPicPr>
            <p:cNvPr id="265" name="Picture 32" descr="What Does the Hyundai Logo Mean? | Hyundai Meaning | Hyundai Saipan">
              <a:extLst>
                <a:ext uri="{FF2B5EF4-FFF2-40B4-BE49-F238E27FC236}">
                  <a16:creationId xmlns:a16="http://schemas.microsoft.com/office/drawing/2014/main" id="{B81ABD1F-F140-1880-D200-8E701A7B230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5771839" y="5617339"/>
              <a:ext cx="292471" cy="188018"/>
            </a:xfrm>
            <a:prstGeom prst="rect">
              <a:avLst/>
            </a:prstGeom>
          </p:spPr>
        </p:pic>
        <p:pic>
          <p:nvPicPr>
            <p:cNvPr id="266" name="Picture 34" descr="Volvo Cars – Wikipédia, a enciclopédia livre">
              <a:extLst>
                <a:ext uri="{FF2B5EF4-FFF2-40B4-BE49-F238E27FC236}">
                  <a16:creationId xmlns:a16="http://schemas.microsoft.com/office/drawing/2014/main" id="{2F7F97E6-B56E-277E-E6D3-25A1BAF6F8F9}"/>
                </a:ext>
              </a:extLst>
            </p:cNvPr>
            <p:cNvPicPr>
              <a:picLocks noChangeAspect="1"/>
            </p:cNvPicPr>
            <p:nvPr/>
          </p:nvPicPr>
          <p:blipFill>
            <a:blip r:embed="rId18">
              <a:clrChange>
                <a:clrFrom>
                  <a:srgbClr val="FFFFFF"/>
                </a:clrFrom>
                <a:clrTo>
                  <a:srgbClr val="FFFFFF">
                    <a:alpha val="0"/>
                  </a:srgbClr>
                </a:clrTo>
              </a:clrChange>
            </a:blip>
            <a:stretch>
              <a:fillRect/>
            </a:stretch>
          </p:blipFill>
          <p:spPr>
            <a:xfrm>
              <a:off x="6280604" y="5593837"/>
              <a:ext cx="235021" cy="235021"/>
            </a:xfrm>
            <a:prstGeom prst="rect">
              <a:avLst/>
            </a:prstGeom>
          </p:spPr>
        </p:pic>
      </p:grpSp>
      <p:pic>
        <p:nvPicPr>
          <p:cNvPr id="275" name="Picture 115">
            <a:extLst>
              <a:ext uri="{FF2B5EF4-FFF2-40B4-BE49-F238E27FC236}">
                <a16:creationId xmlns:a16="http://schemas.microsoft.com/office/drawing/2014/main" id="{982F7B4F-D2A1-A191-FC65-CB9A798F6A4A}"/>
              </a:ext>
            </a:extLst>
          </p:cNvPr>
          <p:cNvPicPr>
            <a:picLocks noChangeAspect="1"/>
          </p:cNvPicPr>
          <p:nvPr/>
        </p:nvPicPr>
        <p:blipFill>
          <a:blip r:embed="rId19">
            <a:clrChange>
              <a:clrFrom>
                <a:srgbClr val="FFFFFF"/>
              </a:clrFrom>
              <a:clrTo>
                <a:srgbClr val="FFFFFF">
                  <a:alpha val="0"/>
                </a:srgbClr>
              </a:clrTo>
            </a:clrChange>
          </a:blip>
          <a:srcRect t="10886" b="11384"/>
          <a:stretch>
            <a:fillRect/>
          </a:stretch>
        </p:blipFill>
        <p:spPr>
          <a:xfrm>
            <a:off x="10366361" y="4474432"/>
            <a:ext cx="956905" cy="743812"/>
          </a:xfrm>
          <a:prstGeom prst="rect">
            <a:avLst/>
          </a:prstGeom>
        </p:spPr>
      </p:pic>
      <p:sp>
        <p:nvSpPr>
          <p:cNvPr id="2" name="CaixaDeTexto 18">
            <a:extLst>
              <a:ext uri="{FF2B5EF4-FFF2-40B4-BE49-F238E27FC236}">
                <a16:creationId xmlns:a16="http://schemas.microsoft.com/office/drawing/2014/main" id="{25CE5944-26A6-A033-4274-8FC702ED4C11}"/>
              </a:ext>
            </a:extLst>
          </p:cNvPr>
          <p:cNvSpPr txBox="1"/>
          <p:nvPr/>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pic>
        <p:nvPicPr>
          <p:cNvPr id="4" name="Picture 3" descr="Tracbel | Atendimento Online">
            <a:extLst>
              <a:ext uri="{FF2B5EF4-FFF2-40B4-BE49-F238E27FC236}">
                <a16:creationId xmlns:a16="http://schemas.microsoft.com/office/drawing/2014/main" id="{0780CC47-7DCC-83A7-048C-0CCF4E8E2F3B}"/>
              </a:ext>
            </a:extLst>
          </p:cNvPr>
          <p:cNvPicPr>
            <a:picLocks noChangeAspect="1"/>
          </p:cNvPicPr>
          <p:nvPr/>
        </p:nvPicPr>
        <p:blipFill>
          <a:blip r:embed="rId20">
            <a:clrChange>
              <a:clrFrom>
                <a:srgbClr val="FFFFFF"/>
              </a:clrFrom>
              <a:clrTo>
                <a:srgbClr val="FFFFFF">
                  <a:alpha val="0"/>
                </a:srgbClr>
              </a:clrTo>
            </a:clrChange>
          </a:blip>
          <a:srcRect l="3504" t="18084" r="2595" b="20335"/>
          <a:stretch>
            <a:fillRect/>
          </a:stretch>
        </p:blipFill>
        <p:spPr>
          <a:xfrm>
            <a:off x="3918155" y="2450898"/>
            <a:ext cx="922314" cy="604865"/>
          </a:xfrm>
          <a:prstGeom prst="rect">
            <a:avLst/>
          </a:prstGeom>
        </p:spPr>
      </p:pic>
      <p:pic>
        <p:nvPicPr>
          <p:cNvPr id="5" name="Picture 4" descr="CA250-II • Dynapac - Fayat Group">
            <a:extLst>
              <a:ext uri="{FF2B5EF4-FFF2-40B4-BE49-F238E27FC236}">
                <a16:creationId xmlns:a16="http://schemas.microsoft.com/office/drawing/2014/main" id="{625A0A0F-C5B4-9791-010F-CBFD5F8980F4}"/>
              </a:ext>
            </a:extLst>
          </p:cNvPr>
          <p:cNvPicPr>
            <a:picLocks noChangeAspect="1"/>
          </p:cNvPicPr>
          <p:nvPr/>
        </p:nvPicPr>
        <p:blipFill>
          <a:blip r:embed="rId21">
            <a:clrChange>
              <a:clrFrom>
                <a:srgbClr val="FFFFFF"/>
              </a:clrFrom>
              <a:clrTo>
                <a:srgbClr val="FFFFFF">
                  <a:alpha val="0"/>
                </a:srgbClr>
              </a:clrTo>
            </a:clrChange>
          </a:blip>
          <a:srcRect t="2973" b="4536"/>
          <a:stretch>
            <a:fillRect/>
          </a:stretch>
        </p:blipFill>
        <p:spPr>
          <a:xfrm>
            <a:off x="8182374" y="4522353"/>
            <a:ext cx="1014545" cy="647970"/>
          </a:xfrm>
          <a:prstGeom prst="rect">
            <a:avLst/>
          </a:prstGeom>
        </p:spPr>
      </p:pic>
      <p:pic>
        <p:nvPicPr>
          <p:cNvPr id="8" name="Picture 120">
            <a:extLst>
              <a:ext uri="{FF2B5EF4-FFF2-40B4-BE49-F238E27FC236}">
                <a16:creationId xmlns:a16="http://schemas.microsoft.com/office/drawing/2014/main" id="{6976EC23-5E5C-0F0E-407C-A0D0010C4713}"/>
              </a:ext>
            </a:extLst>
          </p:cNvPr>
          <p:cNvPicPr>
            <a:picLocks noChangeAspect="1"/>
          </p:cNvPicPr>
          <p:nvPr/>
        </p:nvPicPr>
        <p:blipFill>
          <a:blip r:embed="rId9">
            <a:clrChange>
              <a:clrFrom>
                <a:srgbClr val="FFFFFF"/>
              </a:clrFrom>
              <a:clrTo>
                <a:srgbClr val="FFFFFF">
                  <a:alpha val="0"/>
                </a:srgbClr>
              </a:clrTo>
            </a:clrChange>
          </a:blip>
          <a:srcRect t="26119" b="26065"/>
          <a:stretch>
            <a:fillRect/>
          </a:stretch>
        </p:blipFill>
        <p:spPr>
          <a:xfrm>
            <a:off x="10461538" y="3543695"/>
            <a:ext cx="766550" cy="191544"/>
          </a:xfrm>
          <a:prstGeom prst="rect">
            <a:avLst/>
          </a:prstGeom>
        </p:spPr>
      </p:pic>
      <p:grpSp>
        <p:nvGrpSpPr>
          <p:cNvPr id="30" name="Group 29">
            <a:extLst>
              <a:ext uri="{FF2B5EF4-FFF2-40B4-BE49-F238E27FC236}">
                <a16:creationId xmlns:a16="http://schemas.microsoft.com/office/drawing/2014/main" id="{F07AF4CC-D324-2C09-E1AA-1797F41FD932}"/>
              </a:ext>
            </a:extLst>
          </p:cNvPr>
          <p:cNvGrpSpPr/>
          <p:nvPr/>
        </p:nvGrpSpPr>
        <p:grpSpPr>
          <a:xfrm>
            <a:off x="8049693" y="5604275"/>
            <a:ext cx="1279906" cy="214144"/>
            <a:chOff x="8049693" y="5604275"/>
            <a:chExt cx="1279906" cy="214144"/>
          </a:xfrm>
        </p:grpSpPr>
        <p:pic>
          <p:nvPicPr>
            <p:cNvPr id="19" name="Picture 18">
              <a:extLst>
                <a:ext uri="{FF2B5EF4-FFF2-40B4-BE49-F238E27FC236}">
                  <a16:creationId xmlns:a16="http://schemas.microsoft.com/office/drawing/2014/main" id="{43A3D587-8588-4631-005D-65F61EF680C1}"/>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8049693" y="5604275"/>
              <a:ext cx="688690" cy="214144"/>
            </a:xfrm>
            <a:prstGeom prst="rect">
              <a:avLst/>
            </a:prstGeom>
          </p:spPr>
        </p:pic>
        <p:pic>
          <p:nvPicPr>
            <p:cNvPr id="24" name="Graphic 23" descr="CASE Construction Equipment">
              <a:extLst>
                <a:ext uri="{FF2B5EF4-FFF2-40B4-BE49-F238E27FC236}">
                  <a16:creationId xmlns:a16="http://schemas.microsoft.com/office/drawing/2014/main" id="{001803E1-D159-2429-6DC3-664155FA157A}"/>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888922" y="5639738"/>
              <a:ext cx="440677" cy="143219"/>
            </a:xfrm>
            <a:prstGeom prst="rect">
              <a:avLst/>
            </a:prstGeom>
          </p:spPr>
        </p:pic>
      </p:grpSp>
      <p:grpSp>
        <p:nvGrpSpPr>
          <p:cNvPr id="27" name="Group 26">
            <a:extLst>
              <a:ext uri="{FF2B5EF4-FFF2-40B4-BE49-F238E27FC236}">
                <a16:creationId xmlns:a16="http://schemas.microsoft.com/office/drawing/2014/main" id="{75E16DB2-B5F3-AAAA-17D2-C0FD8387568C}"/>
              </a:ext>
            </a:extLst>
          </p:cNvPr>
          <p:cNvGrpSpPr/>
          <p:nvPr/>
        </p:nvGrpSpPr>
        <p:grpSpPr>
          <a:xfrm>
            <a:off x="3954549" y="3549288"/>
            <a:ext cx="849526" cy="213974"/>
            <a:chOff x="3991964" y="3535373"/>
            <a:chExt cx="933086" cy="235021"/>
          </a:xfrm>
        </p:grpSpPr>
        <p:pic>
          <p:nvPicPr>
            <p:cNvPr id="17" name="Picture 34" descr="Volvo Cars – Wikipédia, a enciclopédia livre">
              <a:extLst>
                <a:ext uri="{FF2B5EF4-FFF2-40B4-BE49-F238E27FC236}">
                  <a16:creationId xmlns:a16="http://schemas.microsoft.com/office/drawing/2014/main" id="{31BD033E-00E7-2EAB-E05A-D6124C604927}"/>
                </a:ext>
              </a:extLst>
            </p:cNvPr>
            <p:cNvPicPr>
              <a:picLocks noChangeAspect="1"/>
            </p:cNvPicPr>
            <p:nvPr/>
          </p:nvPicPr>
          <p:blipFill>
            <a:blip r:embed="rId18">
              <a:clrChange>
                <a:clrFrom>
                  <a:srgbClr val="FFFFFF"/>
                </a:clrFrom>
                <a:clrTo>
                  <a:srgbClr val="FFFFFF">
                    <a:alpha val="0"/>
                  </a:srgbClr>
                </a:clrTo>
              </a:clrChange>
            </a:blip>
            <a:stretch>
              <a:fillRect/>
            </a:stretch>
          </p:blipFill>
          <p:spPr>
            <a:xfrm>
              <a:off x="3991964" y="3535373"/>
              <a:ext cx="235021" cy="235021"/>
            </a:xfrm>
            <a:prstGeom prst="rect">
              <a:avLst/>
            </a:prstGeom>
          </p:spPr>
        </p:pic>
        <p:pic>
          <p:nvPicPr>
            <p:cNvPr id="26" name="Picture 25" descr="Heavy equipment, manufacturing &amp; support | Bell Equipment">
              <a:extLst>
                <a:ext uri="{FF2B5EF4-FFF2-40B4-BE49-F238E27FC236}">
                  <a16:creationId xmlns:a16="http://schemas.microsoft.com/office/drawing/2014/main" id="{6B3BCD1B-748D-346C-3421-9AD06294F29D}"/>
                </a:ext>
              </a:extLst>
            </p:cNvPr>
            <p:cNvPicPr>
              <a:picLocks noChangeAspect="1"/>
            </p:cNvPicPr>
            <p:nvPr/>
          </p:nvPicPr>
          <p:blipFill>
            <a:blip r:embed="rId24">
              <a:clrChange>
                <a:clrFrom>
                  <a:srgbClr val="FFFFFF"/>
                </a:clrFrom>
                <a:clrTo>
                  <a:srgbClr val="FFFFFF">
                    <a:alpha val="0"/>
                  </a:srgbClr>
                </a:clrTo>
              </a:clrChange>
            </a:blip>
            <a:stretch>
              <a:fillRect/>
            </a:stretch>
          </p:blipFill>
          <p:spPr>
            <a:xfrm>
              <a:off x="4295855" y="3555545"/>
              <a:ext cx="629195" cy="194676"/>
            </a:xfrm>
            <a:prstGeom prst="rect">
              <a:avLst/>
            </a:prstGeom>
          </p:spPr>
        </p:pic>
      </p:grpSp>
      <p:grpSp>
        <p:nvGrpSpPr>
          <p:cNvPr id="29" name="Group 28">
            <a:extLst>
              <a:ext uri="{FF2B5EF4-FFF2-40B4-BE49-F238E27FC236}">
                <a16:creationId xmlns:a16="http://schemas.microsoft.com/office/drawing/2014/main" id="{74C62337-55BD-0DDE-7CF2-349164352083}"/>
              </a:ext>
            </a:extLst>
          </p:cNvPr>
          <p:cNvGrpSpPr/>
          <p:nvPr/>
        </p:nvGrpSpPr>
        <p:grpSpPr>
          <a:xfrm>
            <a:off x="3975128" y="5619971"/>
            <a:ext cx="808369" cy="182753"/>
            <a:chOff x="4011874" y="5619971"/>
            <a:chExt cx="808369" cy="182753"/>
          </a:xfrm>
        </p:grpSpPr>
        <p:pic>
          <p:nvPicPr>
            <p:cNvPr id="267" name="Picture 31" descr="Logotipo CAT PNG transparente - StickPNG">
              <a:extLst>
                <a:ext uri="{FF2B5EF4-FFF2-40B4-BE49-F238E27FC236}">
                  <a16:creationId xmlns:a16="http://schemas.microsoft.com/office/drawing/2014/main" id="{DB2A561A-D2BD-93F9-6AB3-4F8A86DAE5C5}"/>
                </a:ext>
              </a:extLst>
            </p:cNvPr>
            <p:cNvPicPr>
              <a:picLocks noChangeAspect="1"/>
            </p:cNvPicPr>
            <p:nvPr/>
          </p:nvPicPr>
          <p:blipFill>
            <a:blip r:embed="rId3">
              <a:clrChange>
                <a:clrFrom>
                  <a:srgbClr val="FFFFFF"/>
                </a:clrFrom>
                <a:clrTo>
                  <a:srgbClr val="FFFFFF">
                    <a:alpha val="0"/>
                  </a:srgbClr>
                </a:clrTo>
              </a:clrChange>
            </a:blip>
            <a:srcRect l="13248" t="18568" r="9918" b="18866"/>
            <a:stretch>
              <a:fillRect/>
            </a:stretch>
          </p:blipFill>
          <p:spPr>
            <a:xfrm>
              <a:off x="4011874" y="5619971"/>
              <a:ext cx="310202" cy="182753"/>
            </a:xfrm>
            <a:prstGeom prst="rect">
              <a:avLst/>
            </a:prstGeom>
          </p:spPr>
        </p:pic>
        <p:pic>
          <p:nvPicPr>
            <p:cNvPr id="28" name="Graphic 27" descr="CASE Construction Equipment">
              <a:extLst>
                <a:ext uri="{FF2B5EF4-FFF2-40B4-BE49-F238E27FC236}">
                  <a16:creationId xmlns:a16="http://schemas.microsoft.com/office/drawing/2014/main" id="{7D8034F7-5834-66C2-FA6F-6DE17CE128FC}"/>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4379566" y="5639737"/>
              <a:ext cx="440677" cy="143219"/>
            </a:xfrm>
            <a:prstGeom prst="rect">
              <a:avLst/>
            </a:prstGeom>
          </p:spPr>
        </p:pic>
      </p:grpSp>
    </p:spTree>
    <p:extLst>
      <p:ext uri="{BB962C8B-B14F-4D97-AF65-F5344CB8AC3E}">
        <p14:creationId xmlns:p14="http://schemas.microsoft.com/office/powerpoint/2010/main" val="2488417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E41F-3A3E-E72F-59E5-5BC9667FD760}"/>
            </a:ext>
          </a:extLst>
        </p:cNvPr>
        <p:cNvGrpSpPr/>
        <p:nvPr/>
      </p:nvGrpSpPr>
      <p:grpSpPr>
        <a:xfrm>
          <a:off x="0" y="0"/>
          <a:ext cx="0" cy="0"/>
          <a:chOff x="0" y="0"/>
          <a:chExt cx="0" cy="0"/>
        </a:xfrm>
      </p:grpSpPr>
      <p:sp>
        <p:nvSpPr>
          <p:cNvPr id="196" name="Retângulo: Cantos Arredondados 195">
            <a:extLst>
              <a:ext uri="{FF2B5EF4-FFF2-40B4-BE49-F238E27FC236}">
                <a16:creationId xmlns:a16="http://schemas.microsoft.com/office/drawing/2014/main" id="{D8B46443-4A9B-9BD6-B103-37C3D08D2700}"/>
              </a:ext>
            </a:extLst>
          </p:cNvPr>
          <p:cNvSpPr/>
          <p:nvPr/>
        </p:nvSpPr>
        <p:spPr>
          <a:xfrm>
            <a:off x="9937933" y="1652724"/>
            <a:ext cx="2476207" cy="4152315"/>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20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0" name="Espaço Reservado para Texto 9">
            <a:extLst>
              <a:ext uri="{FF2B5EF4-FFF2-40B4-BE49-F238E27FC236}">
                <a16:creationId xmlns:a16="http://schemas.microsoft.com/office/drawing/2014/main" id="{22344DF0-7F0A-65EE-24EC-D32E463F16CF}"/>
              </a:ext>
            </a:extLst>
          </p:cNvPr>
          <p:cNvSpPr>
            <a:spLocks noGrp="1"/>
          </p:cNvSpPr>
          <p:nvPr>
            <p:ph type="body" sz="quarter" idx="36"/>
          </p:nvPr>
        </p:nvSpPr>
        <p:spPr/>
        <p:txBody>
          <a:bodyPr/>
          <a:lstStyle/>
          <a:p>
            <a:r>
              <a:rPr lang="en-US" dirty="0">
                <a:latin typeface="Poppins" panose="00000500000000000000" pitchFamily="2" charset="0"/>
                <a:cs typeface="Poppins" panose="00000500000000000000" pitchFamily="2" charset="0"/>
              </a:rPr>
              <a:t>Source: Company; Jan-2026 fleet register</a:t>
            </a:r>
          </a:p>
        </p:txBody>
      </p:sp>
      <p:sp>
        <p:nvSpPr>
          <p:cNvPr id="11" name="Slide Number Placeholder 5">
            <a:extLst>
              <a:ext uri="{FF2B5EF4-FFF2-40B4-BE49-F238E27FC236}">
                <a16:creationId xmlns:a16="http://schemas.microsoft.com/office/drawing/2014/main" id="{0089595C-46BB-C7A9-AD5C-2A61FC71FCC0}"/>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latin typeface="Poppins" panose="00000500000000000000" pitchFamily="2" charset="0"/>
                <a:cs typeface="Poppins" panose="00000500000000000000" pitchFamily="2" charset="0"/>
              </a:rPr>
              <a:pPr algn="ctr"/>
              <a:t>10</a:t>
            </a:fld>
            <a:endParaRPr lang="en-US" dirty="0">
              <a:latin typeface="Poppins" panose="00000500000000000000" pitchFamily="2" charset="0"/>
              <a:cs typeface="Poppins" panose="00000500000000000000" pitchFamily="2" charset="0"/>
            </a:endParaRPr>
          </a:p>
        </p:txBody>
      </p:sp>
      <p:sp>
        <p:nvSpPr>
          <p:cNvPr id="21" name="Espaço Reservado para Conteúdo 4">
            <a:extLst>
              <a:ext uri="{FF2B5EF4-FFF2-40B4-BE49-F238E27FC236}">
                <a16:creationId xmlns:a16="http://schemas.microsoft.com/office/drawing/2014/main" id="{C2168E3F-CD9D-DD0A-7FE0-252B1894751C}"/>
              </a:ext>
            </a:extLst>
          </p:cNvPr>
          <p:cNvSpPr txBox="1">
            <a:spLocks/>
          </p:cNvSpPr>
          <p:nvPr/>
        </p:nvSpPr>
        <p:spPr>
          <a:xfrm>
            <a:off x="731838" y="1052961"/>
            <a:ext cx="11102975" cy="215503"/>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rPr>
              <a:t>From its headquarters to 10 operational bases across Goiás, the Federal District and Minas Gerais, Mobi is positioned close to its clients’ sites</a:t>
            </a:r>
          </a:p>
        </p:txBody>
      </p:sp>
      <p:sp>
        <p:nvSpPr>
          <p:cNvPr id="22" name="Título 3">
            <a:extLst>
              <a:ext uri="{FF2B5EF4-FFF2-40B4-BE49-F238E27FC236}">
                <a16:creationId xmlns:a16="http://schemas.microsoft.com/office/drawing/2014/main" id="{7EA22FE4-71D6-4EB3-133B-8FE024D19B6D}"/>
              </a:ext>
            </a:extLst>
          </p:cNvPr>
          <p:cNvSpPr>
            <a:spLocks noGrp="1"/>
          </p:cNvSpPr>
          <p:nvPr>
            <p:ph type="title"/>
          </p:nvPr>
        </p:nvSpPr>
        <p:spPr>
          <a:xfrm>
            <a:off x="846137" y="735734"/>
            <a:ext cx="11102975" cy="284693"/>
          </a:xfrm>
          <a:noFill/>
          <a:ln>
            <a:noFill/>
          </a:ln>
        </p:spPr>
        <p:style>
          <a:lnRef idx="2">
            <a:schemeClr val="accent1"/>
          </a:lnRef>
          <a:fillRef idx="1">
            <a:schemeClr val="lt1"/>
          </a:fillRef>
          <a:effectRef idx="0">
            <a:schemeClr val="accent1"/>
          </a:effectRef>
          <a:fontRef idx="minor">
            <a:schemeClr val="dk1"/>
          </a:fontRef>
        </p:style>
        <p:txBody>
          <a:bodyPr vert="horz" lIns="360000" tIns="0" rIns="0" bIns="0" rtlCol="0" anchor="t" anchorCtr="0">
            <a:noAutofit/>
          </a:bodyPr>
          <a:lstStyle/>
          <a:p>
            <a:r>
              <a:rPr lang="en-US" dirty="0">
                <a:solidFill>
                  <a:schemeClr val="accent1"/>
                </a:solidFill>
                <a:latin typeface="Poppins" panose="00000500000000000000" pitchFamily="2" charset="0"/>
                <a:ea typeface="Source Serif Pro" panose="02040603050405020204" pitchFamily="18" charset="0"/>
                <a:cs typeface="Poppins" panose="00000500000000000000" pitchFamily="2" charset="0"/>
              </a:rPr>
              <a:t>Strategically positioned across the Midwest and Southeast of Brazil</a:t>
            </a:r>
            <a:endParaRPr lang="pt-BR" sz="180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3" name="Rectangle: Rounded Corners 27">
            <a:extLst>
              <a:ext uri="{FF2B5EF4-FFF2-40B4-BE49-F238E27FC236}">
                <a16:creationId xmlns:a16="http://schemas.microsoft.com/office/drawing/2014/main" id="{508323AF-D867-9967-2540-8F4F978ED0FE}"/>
              </a:ext>
            </a:extLst>
          </p:cNvPr>
          <p:cNvSpPr/>
          <p:nvPr/>
        </p:nvSpPr>
        <p:spPr>
          <a:xfrm>
            <a:off x="731837" y="722250"/>
            <a:ext cx="324000" cy="24740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4</a:t>
            </a:r>
          </a:p>
        </p:txBody>
      </p:sp>
      <p:grpSp>
        <p:nvGrpSpPr>
          <p:cNvPr id="37" name="Group 36">
            <a:extLst>
              <a:ext uri="{FF2B5EF4-FFF2-40B4-BE49-F238E27FC236}">
                <a16:creationId xmlns:a16="http://schemas.microsoft.com/office/drawing/2014/main" id="{6BBFF4BC-0357-D813-D738-759ADA8872E9}"/>
              </a:ext>
            </a:extLst>
          </p:cNvPr>
          <p:cNvGrpSpPr/>
          <p:nvPr/>
        </p:nvGrpSpPr>
        <p:grpSpPr>
          <a:xfrm>
            <a:off x="727076" y="1464155"/>
            <a:ext cx="4416424" cy="865985"/>
            <a:chOff x="727076" y="1464155"/>
            <a:chExt cx="4416424" cy="865985"/>
          </a:xfrm>
        </p:grpSpPr>
        <p:sp>
          <p:nvSpPr>
            <p:cNvPr id="29" name="Espaço Reservado para Conteúdo 4">
              <a:extLst>
                <a:ext uri="{FF2B5EF4-FFF2-40B4-BE49-F238E27FC236}">
                  <a16:creationId xmlns:a16="http://schemas.microsoft.com/office/drawing/2014/main" id="{ACCDDD0E-EEEE-0ED9-7BA0-D4200F584A1D}"/>
                </a:ext>
              </a:extLst>
            </p:cNvPr>
            <p:cNvSpPr txBox="1">
              <a:spLocks/>
            </p:cNvSpPr>
            <p:nvPr/>
          </p:nvSpPr>
          <p:spPr>
            <a:xfrm>
              <a:off x="727076" y="1878290"/>
              <a:ext cx="4416424" cy="45185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b="1" dirty="0">
                  <a:solidFill>
                    <a:schemeClr val="bg2"/>
                  </a:solidFill>
                  <a:latin typeface="Poppins" panose="00000500000000000000" pitchFamily="2" charset="0"/>
                  <a:cs typeface="Poppins" panose="00000500000000000000" pitchFamily="2" charset="0"/>
                </a:rPr>
                <a:t>Corporate headquarters</a:t>
              </a:r>
              <a:r>
                <a:rPr lang="en-US" sz="900" dirty="0">
                  <a:solidFill>
                    <a:schemeClr val="bg2"/>
                  </a:solidFill>
                  <a:latin typeface="Poppins" panose="00000500000000000000" pitchFamily="2" charset="0"/>
                  <a:cs typeface="Poppins" panose="00000500000000000000" pitchFamily="2" charset="0"/>
                </a:rPr>
                <a:t> (Garagem Central) centralizing fleet management, monitoring infrastructure, and administrative functions</a:t>
              </a:r>
            </a:p>
          </p:txBody>
        </p:sp>
        <p:grpSp>
          <p:nvGrpSpPr>
            <p:cNvPr id="12" name="Group 11">
              <a:extLst>
                <a:ext uri="{FF2B5EF4-FFF2-40B4-BE49-F238E27FC236}">
                  <a16:creationId xmlns:a16="http://schemas.microsoft.com/office/drawing/2014/main" id="{4DE60962-163C-27D1-F32C-3E3684789293}"/>
                </a:ext>
              </a:extLst>
            </p:cNvPr>
            <p:cNvGrpSpPr/>
            <p:nvPr/>
          </p:nvGrpSpPr>
          <p:grpSpPr>
            <a:xfrm>
              <a:off x="727076" y="1464155"/>
              <a:ext cx="2500312" cy="414135"/>
              <a:chOff x="727076" y="1464155"/>
              <a:chExt cx="2500312" cy="414135"/>
            </a:xfrm>
          </p:grpSpPr>
          <p:sp>
            <p:nvSpPr>
              <p:cNvPr id="24" name="Título 1">
                <a:extLst>
                  <a:ext uri="{FF2B5EF4-FFF2-40B4-BE49-F238E27FC236}">
                    <a16:creationId xmlns:a16="http://schemas.microsoft.com/office/drawing/2014/main" id="{E28C3E5A-377D-450E-571D-33615B25FD80}"/>
                  </a:ext>
                </a:extLst>
              </p:cNvPr>
              <p:cNvSpPr txBox="1">
                <a:spLocks/>
              </p:cNvSpPr>
              <p:nvPr/>
            </p:nvSpPr>
            <p:spPr>
              <a:xfrm>
                <a:off x="727076" y="1464155"/>
                <a:ext cx="713846" cy="125804"/>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spc="-10" dirty="0">
                    <a:solidFill>
                      <a:schemeClr val="tx1">
                        <a:lumMod val="65000"/>
                        <a:lumOff val="35000"/>
                      </a:schemeClr>
                    </a:solidFill>
                    <a:latin typeface="Poppins SemiBold" panose="00000700000000000000" pitchFamily="2" charset="0"/>
                    <a:cs typeface="Poppins SemiBold" panose="00000700000000000000" pitchFamily="2" charset="0"/>
                  </a:rPr>
                  <a:t>Goiânia – GO</a:t>
                </a:r>
              </a:p>
            </p:txBody>
          </p:sp>
          <p:sp>
            <p:nvSpPr>
              <p:cNvPr id="26" name="Retângulo: Cantos Arredondados 25">
                <a:extLst>
                  <a:ext uri="{FF2B5EF4-FFF2-40B4-BE49-F238E27FC236}">
                    <a16:creationId xmlns:a16="http://schemas.microsoft.com/office/drawing/2014/main" id="{F4DF9945-6C8B-FD65-BE7E-D1B1FD3839CD}"/>
                  </a:ext>
                </a:extLst>
              </p:cNvPr>
              <p:cNvSpPr/>
              <p:nvPr/>
            </p:nvSpPr>
            <p:spPr>
              <a:xfrm>
                <a:off x="727076" y="1677527"/>
                <a:ext cx="2500312" cy="200763"/>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nSpc>
                    <a:spcPct val="112000"/>
                  </a:lnSpc>
                  <a:spcAft>
                    <a:spcPts val="800"/>
                  </a:spcAft>
                </a:pPr>
                <a:endParaRPr lang="pt-BR" sz="1100" dirty="0">
                  <a:solidFill>
                    <a:schemeClr val="tx1"/>
                  </a:solidFill>
                  <a:latin typeface="Source Serif Pro" panose="02040603050405020204" pitchFamily="18" charset="0"/>
                  <a:ea typeface="Source Serif Pro" panose="02040603050405020204" pitchFamily="18" charset="0"/>
                </a:endParaRPr>
              </a:p>
            </p:txBody>
          </p:sp>
          <p:sp>
            <p:nvSpPr>
              <p:cNvPr id="25" name="Espaço Reservado para Conteúdo 4">
                <a:extLst>
                  <a:ext uri="{FF2B5EF4-FFF2-40B4-BE49-F238E27FC236}">
                    <a16:creationId xmlns:a16="http://schemas.microsoft.com/office/drawing/2014/main" id="{E18B4F52-9ADE-3347-C1D2-25C3D20F49BD}"/>
                  </a:ext>
                </a:extLst>
              </p:cNvPr>
              <p:cNvSpPr txBox="1">
                <a:spLocks/>
              </p:cNvSpPr>
              <p:nvPr/>
            </p:nvSpPr>
            <p:spPr>
              <a:xfrm>
                <a:off x="1552738" y="1698177"/>
                <a:ext cx="848989" cy="15946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800" spc="-10" dirty="0">
                    <a:solidFill>
                      <a:schemeClr val="bg1"/>
                    </a:solidFill>
                    <a:latin typeface="Poppins Medium" panose="00000600000000000000" pitchFamily="2" charset="0"/>
                    <a:cs typeface="Poppins Medium" panose="00000600000000000000" pitchFamily="2" charset="0"/>
                  </a:rPr>
                  <a:t>Headquarters</a:t>
                </a:r>
              </a:p>
            </p:txBody>
          </p:sp>
        </p:grpSp>
      </p:grpSp>
      <p:grpSp>
        <p:nvGrpSpPr>
          <p:cNvPr id="36" name="Group 35">
            <a:extLst>
              <a:ext uri="{FF2B5EF4-FFF2-40B4-BE49-F238E27FC236}">
                <a16:creationId xmlns:a16="http://schemas.microsoft.com/office/drawing/2014/main" id="{92E0769D-D427-F683-0E31-1B84DAF530E3}"/>
              </a:ext>
            </a:extLst>
          </p:cNvPr>
          <p:cNvGrpSpPr/>
          <p:nvPr/>
        </p:nvGrpSpPr>
        <p:grpSpPr>
          <a:xfrm>
            <a:off x="727076" y="2476443"/>
            <a:ext cx="4415348" cy="727485"/>
            <a:chOff x="727076" y="2371693"/>
            <a:chExt cx="4415348" cy="727485"/>
          </a:xfrm>
        </p:grpSpPr>
        <p:sp>
          <p:nvSpPr>
            <p:cNvPr id="87" name="Espaço Reservado para Conteúdo 4">
              <a:extLst>
                <a:ext uri="{FF2B5EF4-FFF2-40B4-BE49-F238E27FC236}">
                  <a16:creationId xmlns:a16="http://schemas.microsoft.com/office/drawing/2014/main" id="{AAAD1787-5153-CE6E-B823-8F92D1ACD065}"/>
                </a:ext>
              </a:extLst>
            </p:cNvPr>
            <p:cNvSpPr txBox="1">
              <a:spLocks/>
            </p:cNvSpPr>
            <p:nvPr/>
          </p:nvSpPr>
          <p:spPr>
            <a:xfrm>
              <a:off x="727076" y="2785828"/>
              <a:ext cx="4415348" cy="31335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dirty="0">
                  <a:solidFill>
                    <a:schemeClr val="bg2"/>
                  </a:solidFill>
                  <a:latin typeface="Poppins" panose="00000500000000000000" pitchFamily="2" charset="0"/>
                  <a:cs typeface="Poppins" panose="00000500000000000000" pitchFamily="2" charset="0"/>
                </a:rPr>
                <a:t>Largest </a:t>
              </a:r>
              <a:r>
                <a:rPr lang="en-US" sz="900" b="1" dirty="0">
                  <a:solidFill>
                    <a:schemeClr val="bg2"/>
                  </a:solidFill>
                  <a:latin typeface="Poppins" panose="00000500000000000000" pitchFamily="2" charset="0"/>
                  <a:cs typeface="Poppins" panose="00000500000000000000" pitchFamily="2" charset="0"/>
                </a:rPr>
                <a:t>operational base outside headquarters</a:t>
              </a:r>
              <a:r>
                <a:rPr lang="en-US" sz="900" dirty="0">
                  <a:solidFill>
                    <a:schemeClr val="bg2"/>
                  </a:solidFill>
                  <a:latin typeface="Poppins" panose="00000500000000000000" pitchFamily="2" charset="0"/>
                  <a:cs typeface="Poppins" panose="00000500000000000000" pitchFamily="2" charset="0"/>
                </a:rPr>
                <a:t> supporting fleet availability across the Goiás corridor</a:t>
              </a:r>
            </a:p>
          </p:txBody>
        </p:sp>
        <p:grpSp>
          <p:nvGrpSpPr>
            <p:cNvPr id="13" name="Group 12">
              <a:extLst>
                <a:ext uri="{FF2B5EF4-FFF2-40B4-BE49-F238E27FC236}">
                  <a16:creationId xmlns:a16="http://schemas.microsoft.com/office/drawing/2014/main" id="{92AD6794-B608-0D0B-99B8-3C408230AB6F}"/>
                </a:ext>
              </a:extLst>
            </p:cNvPr>
            <p:cNvGrpSpPr/>
            <p:nvPr/>
          </p:nvGrpSpPr>
          <p:grpSpPr>
            <a:xfrm>
              <a:off x="727076" y="2371693"/>
              <a:ext cx="2500312" cy="414135"/>
              <a:chOff x="727076" y="2466818"/>
              <a:chExt cx="2500312" cy="414135"/>
            </a:xfrm>
          </p:grpSpPr>
          <p:sp>
            <p:nvSpPr>
              <p:cNvPr id="86" name="Título 1">
                <a:extLst>
                  <a:ext uri="{FF2B5EF4-FFF2-40B4-BE49-F238E27FC236}">
                    <a16:creationId xmlns:a16="http://schemas.microsoft.com/office/drawing/2014/main" id="{FFD4F4FE-6DB8-6433-2403-A8007733B89E}"/>
                  </a:ext>
                </a:extLst>
              </p:cNvPr>
              <p:cNvSpPr txBox="1">
                <a:spLocks/>
              </p:cNvSpPr>
              <p:nvPr/>
            </p:nvSpPr>
            <p:spPr>
              <a:xfrm>
                <a:off x="727076" y="2466818"/>
                <a:ext cx="1324490" cy="125804"/>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spc="-10" dirty="0">
                    <a:solidFill>
                      <a:schemeClr val="tx1">
                        <a:lumMod val="65000"/>
                        <a:lumOff val="35000"/>
                      </a:schemeClr>
                    </a:solidFill>
                    <a:latin typeface="Poppins SemiBold" panose="00000700000000000000" pitchFamily="2" charset="0"/>
                    <a:cs typeface="Poppins SemiBold" panose="00000700000000000000" pitchFamily="2" charset="0"/>
                  </a:rPr>
                  <a:t>Anápolis – GO</a:t>
                </a:r>
              </a:p>
            </p:txBody>
          </p:sp>
          <p:grpSp>
            <p:nvGrpSpPr>
              <p:cNvPr id="6" name="Group 5">
                <a:extLst>
                  <a:ext uri="{FF2B5EF4-FFF2-40B4-BE49-F238E27FC236}">
                    <a16:creationId xmlns:a16="http://schemas.microsoft.com/office/drawing/2014/main" id="{BF003A77-F445-A19D-9518-E6F3051FA9D0}"/>
                  </a:ext>
                </a:extLst>
              </p:cNvPr>
              <p:cNvGrpSpPr/>
              <p:nvPr/>
            </p:nvGrpSpPr>
            <p:grpSpPr>
              <a:xfrm>
                <a:off x="727076" y="2680190"/>
                <a:ext cx="2500312" cy="200763"/>
                <a:chOff x="727076" y="2680190"/>
                <a:chExt cx="2500312" cy="200763"/>
              </a:xfrm>
            </p:grpSpPr>
            <p:sp>
              <p:nvSpPr>
                <p:cNvPr id="89" name="Retângulo: Cantos Arredondados 88">
                  <a:extLst>
                    <a:ext uri="{FF2B5EF4-FFF2-40B4-BE49-F238E27FC236}">
                      <a16:creationId xmlns:a16="http://schemas.microsoft.com/office/drawing/2014/main" id="{59D04E7B-FE18-9469-1EED-C9865A28CBD0}"/>
                    </a:ext>
                  </a:extLst>
                </p:cNvPr>
                <p:cNvSpPr/>
                <p:nvPr/>
              </p:nvSpPr>
              <p:spPr>
                <a:xfrm>
                  <a:off x="727076" y="2680190"/>
                  <a:ext cx="2500312" cy="200763"/>
                </a:xfrm>
                <a:prstGeom prst="roundRect">
                  <a:avLst>
                    <a:gd name="adj" fmla="val 50000"/>
                  </a:avLst>
                </a:prstGeom>
                <a:solidFill>
                  <a:schemeClr val="accent1">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nSpc>
                      <a:spcPct val="112000"/>
                    </a:lnSpc>
                    <a:spcAft>
                      <a:spcPts val="800"/>
                    </a:spcAft>
                  </a:pPr>
                  <a:endParaRPr lang="pt-BR" sz="1100" dirty="0">
                    <a:solidFill>
                      <a:schemeClr val="tx1"/>
                    </a:solidFill>
                    <a:latin typeface="Source Serif Pro" panose="02040603050405020204" pitchFamily="18" charset="0"/>
                    <a:ea typeface="Source Serif Pro" panose="02040603050405020204" pitchFamily="18" charset="0"/>
                  </a:endParaRPr>
                </a:p>
              </p:txBody>
            </p:sp>
            <p:sp>
              <p:nvSpPr>
                <p:cNvPr id="90" name="Espaço Reservado para Conteúdo 4">
                  <a:extLst>
                    <a:ext uri="{FF2B5EF4-FFF2-40B4-BE49-F238E27FC236}">
                      <a16:creationId xmlns:a16="http://schemas.microsoft.com/office/drawing/2014/main" id="{1B1EB35B-223F-6ACA-B10C-9DB06668C664}"/>
                    </a:ext>
                  </a:extLst>
                </p:cNvPr>
                <p:cNvSpPr txBox="1">
                  <a:spLocks/>
                </p:cNvSpPr>
                <p:nvPr/>
              </p:nvSpPr>
              <p:spPr>
                <a:xfrm>
                  <a:off x="1382647" y="2700840"/>
                  <a:ext cx="1189170" cy="15946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800" spc="-10" dirty="0">
                      <a:solidFill>
                        <a:schemeClr val="bg1"/>
                      </a:solidFill>
                      <a:latin typeface="Poppins Medium" panose="00000600000000000000" pitchFamily="2" charset="0"/>
                      <a:cs typeface="Poppins Medium" panose="00000600000000000000" pitchFamily="2" charset="0"/>
                    </a:rPr>
                    <a:t>Operational base</a:t>
                  </a:r>
                </a:p>
              </p:txBody>
            </p:sp>
          </p:grpSp>
        </p:grpSp>
      </p:grpSp>
      <p:grpSp>
        <p:nvGrpSpPr>
          <p:cNvPr id="35" name="Group 34">
            <a:extLst>
              <a:ext uri="{FF2B5EF4-FFF2-40B4-BE49-F238E27FC236}">
                <a16:creationId xmlns:a16="http://schemas.microsoft.com/office/drawing/2014/main" id="{28C03ED4-EFE7-98FA-200B-737BA89766E7}"/>
              </a:ext>
            </a:extLst>
          </p:cNvPr>
          <p:cNvGrpSpPr/>
          <p:nvPr/>
        </p:nvGrpSpPr>
        <p:grpSpPr>
          <a:xfrm>
            <a:off x="727076" y="3350231"/>
            <a:ext cx="4415348" cy="588985"/>
            <a:chOff x="727076" y="3280981"/>
            <a:chExt cx="4415348" cy="588985"/>
          </a:xfrm>
        </p:grpSpPr>
        <p:sp>
          <p:nvSpPr>
            <p:cNvPr id="93" name="Espaço Reservado para Conteúdo 4">
              <a:extLst>
                <a:ext uri="{FF2B5EF4-FFF2-40B4-BE49-F238E27FC236}">
                  <a16:creationId xmlns:a16="http://schemas.microsoft.com/office/drawing/2014/main" id="{46FBDFD3-3C56-7B42-93BE-8DFD8414D062}"/>
                </a:ext>
              </a:extLst>
            </p:cNvPr>
            <p:cNvSpPr txBox="1">
              <a:spLocks/>
            </p:cNvSpPr>
            <p:nvPr/>
          </p:nvSpPr>
          <p:spPr>
            <a:xfrm>
              <a:off x="727076" y="3695115"/>
              <a:ext cx="4415348" cy="174851"/>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dirty="0">
                  <a:solidFill>
                    <a:schemeClr val="bg2"/>
                  </a:solidFill>
                  <a:latin typeface="Poppins" panose="00000500000000000000" pitchFamily="2" charset="0"/>
                  <a:cs typeface="Poppins" panose="00000500000000000000" pitchFamily="2" charset="0"/>
                </a:rPr>
                <a:t>Garagem BSB supporting operations across the </a:t>
              </a:r>
              <a:r>
                <a:rPr lang="en-US" sz="900" b="1" dirty="0">
                  <a:solidFill>
                    <a:schemeClr val="bg2"/>
                  </a:solidFill>
                  <a:latin typeface="Poppins" panose="00000500000000000000" pitchFamily="2" charset="0"/>
                  <a:cs typeface="Poppins" panose="00000500000000000000" pitchFamily="2" charset="0"/>
                </a:rPr>
                <a:t>Federal District</a:t>
              </a:r>
            </a:p>
          </p:txBody>
        </p:sp>
        <p:grpSp>
          <p:nvGrpSpPr>
            <p:cNvPr id="14" name="Group 13">
              <a:extLst>
                <a:ext uri="{FF2B5EF4-FFF2-40B4-BE49-F238E27FC236}">
                  <a16:creationId xmlns:a16="http://schemas.microsoft.com/office/drawing/2014/main" id="{97FD3862-14C0-852D-876D-49DFAAFB39CA}"/>
                </a:ext>
              </a:extLst>
            </p:cNvPr>
            <p:cNvGrpSpPr/>
            <p:nvPr/>
          </p:nvGrpSpPr>
          <p:grpSpPr>
            <a:xfrm>
              <a:off x="727076" y="3280981"/>
              <a:ext cx="2500312" cy="414135"/>
              <a:chOff x="727076" y="3343814"/>
              <a:chExt cx="2500312" cy="414135"/>
            </a:xfrm>
          </p:grpSpPr>
          <p:sp>
            <p:nvSpPr>
              <p:cNvPr id="92" name="Título 1">
                <a:extLst>
                  <a:ext uri="{FF2B5EF4-FFF2-40B4-BE49-F238E27FC236}">
                    <a16:creationId xmlns:a16="http://schemas.microsoft.com/office/drawing/2014/main" id="{AB7F62FA-E1D5-7CF7-2633-46E602AAB358}"/>
                  </a:ext>
                </a:extLst>
              </p:cNvPr>
              <p:cNvSpPr txBox="1">
                <a:spLocks/>
              </p:cNvSpPr>
              <p:nvPr/>
            </p:nvSpPr>
            <p:spPr>
              <a:xfrm>
                <a:off x="727076" y="3343814"/>
                <a:ext cx="1073668" cy="125804"/>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spc="-10" dirty="0">
                    <a:solidFill>
                      <a:schemeClr val="tx1">
                        <a:lumMod val="65000"/>
                        <a:lumOff val="35000"/>
                      </a:schemeClr>
                    </a:solidFill>
                    <a:latin typeface="Poppins SemiBold" panose="00000700000000000000" pitchFamily="2" charset="0"/>
                    <a:cs typeface="Poppins SemiBold" panose="00000700000000000000" pitchFamily="2" charset="0"/>
                  </a:rPr>
                  <a:t>Brasília – DF</a:t>
                </a:r>
              </a:p>
            </p:txBody>
          </p:sp>
          <p:grpSp>
            <p:nvGrpSpPr>
              <p:cNvPr id="5" name="Group 4">
                <a:extLst>
                  <a:ext uri="{FF2B5EF4-FFF2-40B4-BE49-F238E27FC236}">
                    <a16:creationId xmlns:a16="http://schemas.microsoft.com/office/drawing/2014/main" id="{F20A739E-F012-20DC-5391-3D465C6C2F84}"/>
                  </a:ext>
                </a:extLst>
              </p:cNvPr>
              <p:cNvGrpSpPr/>
              <p:nvPr/>
            </p:nvGrpSpPr>
            <p:grpSpPr>
              <a:xfrm>
                <a:off x="727076" y="3557186"/>
                <a:ext cx="2500312" cy="200763"/>
                <a:chOff x="727076" y="3557186"/>
                <a:chExt cx="2500312" cy="200763"/>
              </a:xfrm>
            </p:grpSpPr>
            <p:sp>
              <p:nvSpPr>
                <p:cNvPr id="95" name="Retângulo: Cantos Arredondados 94">
                  <a:extLst>
                    <a:ext uri="{FF2B5EF4-FFF2-40B4-BE49-F238E27FC236}">
                      <a16:creationId xmlns:a16="http://schemas.microsoft.com/office/drawing/2014/main" id="{A967A7B3-79A4-8133-EAF1-46EE12815203}"/>
                    </a:ext>
                  </a:extLst>
                </p:cNvPr>
                <p:cNvSpPr/>
                <p:nvPr/>
              </p:nvSpPr>
              <p:spPr>
                <a:xfrm>
                  <a:off x="727076" y="3557186"/>
                  <a:ext cx="2500312" cy="200763"/>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nSpc>
                      <a:spcPct val="112000"/>
                    </a:lnSpc>
                    <a:spcAft>
                      <a:spcPts val="800"/>
                    </a:spcAft>
                  </a:pPr>
                  <a:endParaRPr lang="pt-BR" sz="1100" dirty="0">
                    <a:solidFill>
                      <a:schemeClr val="tx1"/>
                    </a:solidFill>
                    <a:latin typeface="Source Serif Pro" panose="02040603050405020204" pitchFamily="18" charset="0"/>
                    <a:ea typeface="Source Serif Pro" panose="02040603050405020204" pitchFamily="18" charset="0"/>
                  </a:endParaRPr>
                </a:p>
              </p:txBody>
            </p:sp>
            <p:sp>
              <p:nvSpPr>
                <p:cNvPr id="96" name="Espaço Reservado para Conteúdo 4">
                  <a:extLst>
                    <a:ext uri="{FF2B5EF4-FFF2-40B4-BE49-F238E27FC236}">
                      <a16:creationId xmlns:a16="http://schemas.microsoft.com/office/drawing/2014/main" id="{4B4A1556-9478-4E77-06B2-DC4D9603294D}"/>
                    </a:ext>
                  </a:extLst>
                </p:cNvPr>
                <p:cNvSpPr txBox="1">
                  <a:spLocks/>
                </p:cNvSpPr>
                <p:nvPr/>
              </p:nvSpPr>
              <p:spPr>
                <a:xfrm>
                  <a:off x="1439529" y="3577836"/>
                  <a:ext cx="1075406" cy="15946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800" spc="-10" dirty="0">
                      <a:solidFill>
                        <a:schemeClr val="bg1"/>
                      </a:solidFill>
                      <a:latin typeface="Poppins Medium" panose="00000600000000000000" pitchFamily="2" charset="0"/>
                      <a:cs typeface="Poppins Medium" panose="00000600000000000000" pitchFamily="2" charset="0"/>
                    </a:rPr>
                    <a:t>Operational base</a:t>
                  </a:r>
                </a:p>
              </p:txBody>
            </p:sp>
          </p:grpSp>
        </p:grpSp>
      </p:grpSp>
      <p:grpSp>
        <p:nvGrpSpPr>
          <p:cNvPr id="38" name="Group 37">
            <a:extLst>
              <a:ext uri="{FF2B5EF4-FFF2-40B4-BE49-F238E27FC236}">
                <a16:creationId xmlns:a16="http://schemas.microsoft.com/office/drawing/2014/main" id="{CC161AEF-1C55-8258-371A-156EFE2CEAC7}"/>
              </a:ext>
            </a:extLst>
          </p:cNvPr>
          <p:cNvGrpSpPr/>
          <p:nvPr/>
        </p:nvGrpSpPr>
        <p:grpSpPr>
          <a:xfrm>
            <a:off x="727076" y="4085518"/>
            <a:ext cx="4415348" cy="865985"/>
            <a:chOff x="727076" y="4190268"/>
            <a:chExt cx="4415348" cy="865985"/>
          </a:xfrm>
        </p:grpSpPr>
        <p:sp>
          <p:nvSpPr>
            <p:cNvPr id="99" name="Espaço Reservado para Conteúdo 4">
              <a:extLst>
                <a:ext uri="{FF2B5EF4-FFF2-40B4-BE49-F238E27FC236}">
                  <a16:creationId xmlns:a16="http://schemas.microsoft.com/office/drawing/2014/main" id="{9DDBE479-2016-9377-BFBB-3135245ED0BB}"/>
                </a:ext>
              </a:extLst>
            </p:cNvPr>
            <p:cNvSpPr txBox="1">
              <a:spLocks/>
            </p:cNvSpPr>
            <p:nvPr/>
          </p:nvSpPr>
          <p:spPr>
            <a:xfrm>
              <a:off x="727076" y="4604403"/>
              <a:ext cx="4415348" cy="45185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dirty="0">
                  <a:solidFill>
                    <a:schemeClr val="bg2"/>
                  </a:solidFill>
                  <a:latin typeface="Poppins" panose="00000500000000000000" pitchFamily="2" charset="0"/>
                  <a:cs typeface="Poppins" panose="00000500000000000000" pitchFamily="2" charset="0"/>
                </a:rPr>
                <a:t>Operational support base close to client sites in the </a:t>
              </a:r>
              <a:r>
                <a:rPr lang="en-US" sz="900" b="1" dirty="0">
                  <a:solidFill>
                    <a:schemeClr val="bg2"/>
                  </a:solidFill>
                  <a:latin typeface="Poppins" panose="00000500000000000000" pitchFamily="2" charset="0"/>
                  <a:cs typeface="Poppins" panose="00000500000000000000" pitchFamily="2" charset="0"/>
                </a:rPr>
                <a:t>Senador Canedo region</a:t>
              </a:r>
              <a:r>
                <a:rPr lang="en-US" sz="900" dirty="0">
                  <a:solidFill>
                    <a:schemeClr val="bg2"/>
                  </a:solidFill>
                  <a:latin typeface="Poppins" panose="00000500000000000000" pitchFamily="2" charset="0"/>
                  <a:cs typeface="Poppins" panose="00000500000000000000" pitchFamily="2" charset="0"/>
                </a:rPr>
                <a:t>, enabling faster response times and greater service reliability</a:t>
              </a:r>
            </a:p>
          </p:txBody>
        </p:sp>
        <p:grpSp>
          <p:nvGrpSpPr>
            <p:cNvPr id="15" name="Group 14">
              <a:extLst>
                <a:ext uri="{FF2B5EF4-FFF2-40B4-BE49-F238E27FC236}">
                  <a16:creationId xmlns:a16="http://schemas.microsoft.com/office/drawing/2014/main" id="{895C2DE8-EBC5-0983-B268-FD3773DC5F68}"/>
                </a:ext>
              </a:extLst>
            </p:cNvPr>
            <p:cNvGrpSpPr/>
            <p:nvPr/>
          </p:nvGrpSpPr>
          <p:grpSpPr>
            <a:xfrm>
              <a:off x="727076" y="4190268"/>
              <a:ext cx="2500312" cy="414135"/>
              <a:chOff x="727076" y="4220810"/>
              <a:chExt cx="2500312" cy="414135"/>
            </a:xfrm>
          </p:grpSpPr>
          <p:sp>
            <p:nvSpPr>
              <p:cNvPr id="98" name="Título 1">
                <a:extLst>
                  <a:ext uri="{FF2B5EF4-FFF2-40B4-BE49-F238E27FC236}">
                    <a16:creationId xmlns:a16="http://schemas.microsoft.com/office/drawing/2014/main" id="{9A2BA873-12BC-8A6D-3976-634201771164}"/>
                  </a:ext>
                </a:extLst>
              </p:cNvPr>
              <p:cNvSpPr txBox="1">
                <a:spLocks/>
              </p:cNvSpPr>
              <p:nvPr/>
            </p:nvSpPr>
            <p:spPr>
              <a:xfrm>
                <a:off x="727076" y="4220810"/>
                <a:ext cx="1265226" cy="125804"/>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spc="-10" dirty="0">
                    <a:solidFill>
                      <a:schemeClr val="tx1">
                        <a:lumMod val="65000"/>
                        <a:lumOff val="35000"/>
                      </a:schemeClr>
                    </a:solidFill>
                    <a:latin typeface="Poppins SemiBold" panose="00000700000000000000" pitchFamily="2" charset="0"/>
                    <a:cs typeface="Poppins SemiBold" panose="00000700000000000000" pitchFamily="2" charset="0"/>
                  </a:rPr>
                  <a:t>Senador Canedo – GO</a:t>
                </a:r>
              </a:p>
            </p:txBody>
          </p:sp>
          <p:grpSp>
            <p:nvGrpSpPr>
              <p:cNvPr id="4" name="Group 3">
                <a:extLst>
                  <a:ext uri="{FF2B5EF4-FFF2-40B4-BE49-F238E27FC236}">
                    <a16:creationId xmlns:a16="http://schemas.microsoft.com/office/drawing/2014/main" id="{7FBE932D-469E-E9CE-2A79-9DA16B442593}"/>
                  </a:ext>
                </a:extLst>
              </p:cNvPr>
              <p:cNvGrpSpPr/>
              <p:nvPr/>
            </p:nvGrpSpPr>
            <p:grpSpPr>
              <a:xfrm>
                <a:off x="727076" y="4434182"/>
                <a:ext cx="2500312" cy="200763"/>
                <a:chOff x="727076" y="4434182"/>
                <a:chExt cx="2500312" cy="200763"/>
              </a:xfrm>
            </p:grpSpPr>
            <p:sp>
              <p:nvSpPr>
                <p:cNvPr id="101" name="Retângulo: Cantos Arredondados 100">
                  <a:extLst>
                    <a:ext uri="{FF2B5EF4-FFF2-40B4-BE49-F238E27FC236}">
                      <a16:creationId xmlns:a16="http://schemas.microsoft.com/office/drawing/2014/main" id="{DD61D89C-1DAC-63A8-3EC3-E82DEF042FF2}"/>
                    </a:ext>
                  </a:extLst>
                </p:cNvPr>
                <p:cNvSpPr/>
                <p:nvPr/>
              </p:nvSpPr>
              <p:spPr>
                <a:xfrm>
                  <a:off x="727076" y="4434182"/>
                  <a:ext cx="2500312" cy="200763"/>
                </a:xfrm>
                <a:prstGeom prst="roundRect">
                  <a:avLst>
                    <a:gd name="adj" fmla="val 50000"/>
                  </a:avLst>
                </a:prstGeom>
                <a:solidFill>
                  <a:schemeClr val="tx1">
                    <a:lumMod val="50000"/>
                    <a:lumOff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nSpc>
                      <a:spcPct val="112000"/>
                    </a:lnSpc>
                    <a:spcAft>
                      <a:spcPts val="800"/>
                    </a:spcAft>
                  </a:pPr>
                  <a:endParaRPr lang="pt-BR" sz="1100" dirty="0">
                    <a:solidFill>
                      <a:schemeClr val="tx1"/>
                    </a:solidFill>
                    <a:latin typeface="Source Serif Pro" panose="02040603050405020204" pitchFamily="18" charset="0"/>
                    <a:ea typeface="Source Serif Pro" panose="02040603050405020204" pitchFamily="18" charset="0"/>
                  </a:endParaRPr>
                </a:p>
              </p:txBody>
            </p:sp>
            <p:sp>
              <p:nvSpPr>
                <p:cNvPr id="102" name="Espaço Reservado para Conteúdo 4">
                  <a:extLst>
                    <a:ext uri="{FF2B5EF4-FFF2-40B4-BE49-F238E27FC236}">
                      <a16:creationId xmlns:a16="http://schemas.microsoft.com/office/drawing/2014/main" id="{5FC996D8-32C9-9837-F75A-852373128D05}"/>
                    </a:ext>
                  </a:extLst>
                </p:cNvPr>
                <p:cNvSpPr txBox="1">
                  <a:spLocks/>
                </p:cNvSpPr>
                <p:nvPr/>
              </p:nvSpPr>
              <p:spPr>
                <a:xfrm>
                  <a:off x="785522" y="4454832"/>
                  <a:ext cx="2383421" cy="15946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800" spc="-10" dirty="0">
                      <a:solidFill>
                        <a:schemeClr val="bg1"/>
                      </a:solidFill>
                      <a:latin typeface="Poppins Medium" panose="00000600000000000000" pitchFamily="2" charset="0"/>
                      <a:cs typeface="Poppins Medium" panose="00000600000000000000" pitchFamily="2" charset="0"/>
                    </a:rPr>
                    <a:t>Operational base</a:t>
                  </a:r>
                </a:p>
              </p:txBody>
            </p:sp>
          </p:grpSp>
        </p:grpSp>
      </p:grpSp>
      <p:grpSp>
        <p:nvGrpSpPr>
          <p:cNvPr id="39" name="Group 38">
            <a:extLst>
              <a:ext uri="{FF2B5EF4-FFF2-40B4-BE49-F238E27FC236}">
                <a16:creationId xmlns:a16="http://schemas.microsoft.com/office/drawing/2014/main" id="{AFA008C8-2999-A81D-036F-163762D9804C}"/>
              </a:ext>
            </a:extLst>
          </p:cNvPr>
          <p:cNvGrpSpPr/>
          <p:nvPr/>
        </p:nvGrpSpPr>
        <p:grpSpPr>
          <a:xfrm>
            <a:off x="727076" y="5097805"/>
            <a:ext cx="4415348" cy="865985"/>
            <a:chOff x="727076" y="5097805"/>
            <a:chExt cx="4415348" cy="865985"/>
          </a:xfrm>
        </p:grpSpPr>
        <p:sp>
          <p:nvSpPr>
            <p:cNvPr id="111" name="Espaço Reservado para Conteúdo 4">
              <a:extLst>
                <a:ext uri="{FF2B5EF4-FFF2-40B4-BE49-F238E27FC236}">
                  <a16:creationId xmlns:a16="http://schemas.microsoft.com/office/drawing/2014/main" id="{EB40F97A-8D83-71E2-7B6B-49CBF952F0CA}"/>
                </a:ext>
              </a:extLst>
            </p:cNvPr>
            <p:cNvSpPr txBox="1">
              <a:spLocks/>
            </p:cNvSpPr>
            <p:nvPr/>
          </p:nvSpPr>
          <p:spPr>
            <a:xfrm>
              <a:off x="727076" y="5511940"/>
              <a:ext cx="4415348" cy="45185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dirty="0">
                  <a:solidFill>
                    <a:schemeClr val="bg2"/>
                  </a:solidFill>
                  <a:latin typeface="Poppins" panose="00000500000000000000" pitchFamily="2" charset="0"/>
                  <a:cs typeface="Poppins" panose="00000500000000000000" pitchFamily="2" charset="0"/>
                </a:rPr>
                <a:t>Operational support base serving the </a:t>
              </a:r>
              <a:r>
                <a:rPr lang="en-US" sz="900" b="1" dirty="0">
                  <a:solidFill>
                    <a:schemeClr val="bg2"/>
                  </a:solidFill>
                  <a:latin typeface="Poppins" panose="00000500000000000000" pitchFamily="2" charset="0"/>
                  <a:cs typeface="Poppins" panose="00000500000000000000" pitchFamily="2" charset="0"/>
                </a:rPr>
                <a:t>Triângulo Mineiro region</a:t>
              </a:r>
              <a:r>
                <a:rPr lang="en-US" sz="900" dirty="0">
                  <a:solidFill>
                    <a:schemeClr val="bg2"/>
                  </a:solidFill>
                  <a:latin typeface="Poppins" panose="00000500000000000000" pitchFamily="2" charset="0"/>
                  <a:cs typeface="Poppins" panose="00000500000000000000" pitchFamily="2" charset="0"/>
                </a:rPr>
                <a:t>, enabling faster response times and greater service reliability</a:t>
              </a:r>
            </a:p>
          </p:txBody>
        </p:sp>
        <p:grpSp>
          <p:nvGrpSpPr>
            <p:cNvPr id="16" name="Group 15">
              <a:extLst>
                <a:ext uri="{FF2B5EF4-FFF2-40B4-BE49-F238E27FC236}">
                  <a16:creationId xmlns:a16="http://schemas.microsoft.com/office/drawing/2014/main" id="{624F9B16-AE4F-3AD3-26D7-9FEE5A33A20C}"/>
                </a:ext>
              </a:extLst>
            </p:cNvPr>
            <p:cNvGrpSpPr/>
            <p:nvPr/>
          </p:nvGrpSpPr>
          <p:grpSpPr>
            <a:xfrm>
              <a:off x="727076" y="5097805"/>
              <a:ext cx="2500312" cy="414135"/>
              <a:chOff x="727076" y="5097805"/>
              <a:chExt cx="2500312" cy="414135"/>
            </a:xfrm>
          </p:grpSpPr>
          <p:sp>
            <p:nvSpPr>
              <p:cNvPr id="110" name="Título 1">
                <a:extLst>
                  <a:ext uri="{FF2B5EF4-FFF2-40B4-BE49-F238E27FC236}">
                    <a16:creationId xmlns:a16="http://schemas.microsoft.com/office/drawing/2014/main" id="{46FE0AE0-B794-2494-BDB8-561919608EBE}"/>
                  </a:ext>
                </a:extLst>
              </p:cNvPr>
              <p:cNvSpPr txBox="1">
                <a:spLocks/>
              </p:cNvSpPr>
              <p:nvPr/>
            </p:nvSpPr>
            <p:spPr>
              <a:xfrm>
                <a:off x="727076" y="5097805"/>
                <a:ext cx="1324490" cy="125804"/>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spc="-10" dirty="0">
                    <a:solidFill>
                      <a:schemeClr val="tx1">
                        <a:lumMod val="65000"/>
                        <a:lumOff val="35000"/>
                      </a:schemeClr>
                    </a:solidFill>
                    <a:latin typeface="Poppins SemiBold" panose="00000700000000000000" pitchFamily="2" charset="0"/>
                    <a:cs typeface="Poppins SemiBold" panose="00000700000000000000" pitchFamily="2" charset="0"/>
                  </a:rPr>
                  <a:t>Uberlândia – MG</a:t>
                </a:r>
              </a:p>
            </p:txBody>
          </p:sp>
          <p:grpSp>
            <p:nvGrpSpPr>
              <p:cNvPr id="3" name="Group 2">
                <a:extLst>
                  <a:ext uri="{FF2B5EF4-FFF2-40B4-BE49-F238E27FC236}">
                    <a16:creationId xmlns:a16="http://schemas.microsoft.com/office/drawing/2014/main" id="{88DBE612-2BF7-04F5-A822-16519437BF01}"/>
                  </a:ext>
                </a:extLst>
              </p:cNvPr>
              <p:cNvGrpSpPr/>
              <p:nvPr/>
            </p:nvGrpSpPr>
            <p:grpSpPr>
              <a:xfrm>
                <a:off x="727076" y="5311177"/>
                <a:ext cx="2500312" cy="200763"/>
                <a:chOff x="727076" y="5311177"/>
                <a:chExt cx="2500312" cy="200763"/>
              </a:xfrm>
            </p:grpSpPr>
            <p:sp>
              <p:nvSpPr>
                <p:cNvPr id="113" name="Retângulo: Cantos Arredondados 112">
                  <a:extLst>
                    <a:ext uri="{FF2B5EF4-FFF2-40B4-BE49-F238E27FC236}">
                      <a16:creationId xmlns:a16="http://schemas.microsoft.com/office/drawing/2014/main" id="{32EBE9DF-1B9D-3EE1-70B1-43822BD9835B}"/>
                    </a:ext>
                  </a:extLst>
                </p:cNvPr>
                <p:cNvSpPr/>
                <p:nvPr/>
              </p:nvSpPr>
              <p:spPr>
                <a:xfrm>
                  <a:off x="727076" y="5311177"/>
                  <a:ext cx="2500312" cy="200763"/>
                </a:xfrm>
                <a:prstGeom prst="roundRect">
                  <a:avLst>
                    <a:gd name="adj" fmla="val 50000"/>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nSpc>
                      <a:spcPct val="112000"/>
                    </a:lnSpc>
                    <a:spcAft>
                      <a:spcPts val="800"/>
                    </a:spcAft>
                  </a:pPr>
                  <a:endParaRPr lang="pt-BR" sz="1100" dirty="0">
                    <a:solidFill>
                      <a:schemeClr val="tx1"/>
                    </a:solidFill>
                    <a:latin typeface="Source Serif Pro" panose="02040603050405020204" pitchFamily="18" charset="0"/>
                    <a:ea typeface="Source Serif Pro" panose="02040603050405020204" pitchFamily="18" charset="0"/>
                  </a:endParaRPr>
                </a:p>
              </p:txBody>
            </p:sp>
            <p:sp>
              <p:nvSpPr>
                <p:cNvPr id="114" name="Espaço Reservado para Conteúdo 4">
                  <a:extLst>
                    <a:ext uri="{FF2B5EF4-FFF2-40B4-BE49-F238E27FC236}">
                      <a16:creationId xmlns:a16="http://schemas.microsoft.com/office/drawing/2014/main" id="{812A4ECB-C4AC-11B3-E869-AED68EC82179}"/>
                    </a:ext>
                  </a:extLst>
                </p:cNvPr>
                <p:cNvSpPr txBox="1">
                  <a:spLocks/>
                </p:cNvSpPr>
                <p:nvPr/>
              </p:nvSpPr>
              <p:spPr>
                <a:xfrm>
                  <a:off x="849106" y="5331827"/>
                  <a:ext cx="2256253" cy="15946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800" spc="-10" dirty="0">
                      <a:solidFill>
                        <a:schemeClr val="bg2"/>
                      </a:solidFill>
                      <a:latin typeface="Poppins Medium" panose="00000600000000000000" pitchFamily="2" charset="0"/>
                      <a:cs typeface="Poppins Medium" panose="00000600000000000000" pitchFamily="2" charset="0"/>
                    </a:rPr>
                    <a:t>Operational base</a:t>
                  </a:r>
                </a:p>
              </p:txBody>
            </p:sp>
          </p:grpSp>
        </p:grpSp>
      </p:grpSp>
      <p:sp>
        <p:nvSpPr>
          <p:cNvPr id="194" name="Fluxograma: Conector 193">
            <a:extLst>
              <a:ext uri="{FF2B5EF4-FFF2-40B4-BE49-F238E27FC236}">
                <a16:creationId xmlns:a16="http://schemas.microsoft.com/office/drawing/2014/main" id="{D9D7E4CA-22B1-EDAA-8B25-8460BA00784C}"/>
              </a:ext>
            </a:extLst>
          </p:cNvPr>
          <p:cNvSpPr/>
          <p:nvPr/>
        </p:nvSpPr>
        <p:spPr>
          <a:xfrm>
            <a:off x="5797995" y="2515775"/>
            <a:ext cx="3284048" cy="3284048"/>
          </a:xfrm>
          <a:prstGeom prst="flowChartConnector">
            <a:avLst/>
          </a:prstGeom>
          <a:gradFill>
            <a:gsLst>
              <a:gs pos="0">
                <a:srgbClr val="F35B1A"/>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grpSp>
        <p:nvGrpSpPr>
          <p:cNvPr id="115" name="Agrupar 114">
            <a:extLst>
              <a:ext uri="{FF2B5EF4-FFF2-40B4-BE49-F238E27FC236}">
                <a16:creationId xmlns:a16="http://schemas.microsoft.com/office/drawing/2014/main" id="{F48BE871-CBFB-9195-3FEE-D769FB729A0A}"/>
              </a:ext>
            </a:extLst>
          </p:cNvPr>
          <p:cNvGrpSpPr/>
          <p:nvPr/>
        </p:nvGrpSpPr>
        <p:grpSpPr>
          <a:xfrm>
            <a:off x="5549213" y="1530350"/>
            <a:ext cx="4060901" cy="4071289"/>
            <a:chOff x="4974448" y="1839637"/>
            <a:chExt cx="4009339" cy="4019595"/>
          </a:xfrm>
        </p:grpSpPr>
        <p:sp>
          <p:nvSpPr>
            <p:cNvPr id="116" name="Freeform 4">
              <a:extLst>
                <a:ext uri="{FF2B5EF4-FFF2-40B4-BE49-F238E27FC236}">
                  <a16:creationId xmlns:a16="http://schemas.microsoft.com/office/drawing/2014/main" id="{665CC27F-8AEB-6736-D96A-75C46D18BCFD}"/>
                </a:ext>
              </a:extLst>
            </p:cNvPr>
            <p:cNvSpPr>
              <a:spLocks noChangeAspect="1"/>
            </p:cNvSpPr>
            <p:nvPr/>
          </p:nvSpPr>
          <p:spPr bwMode="auto">
            <a:xfrm>
              <a:off x="6937208" y="1947866"/>
              <a:ext cx="519211" cy="584203"/>
            </a:xfrm>
            <a:custGeom>
              <a:avLst/>
              <a:gdLst/>
              <a:ahLst/>
              <a:cxnLst>
                <a:cxn ang="0">
                  <a:pos x="474" y="92"/>
                </a:cxn>
                <a:cxn ang="0">
                  <a:pos x="456" y="60"/>
                </a:cxn>
                <a:cxn ang="0">
                  <a:pos x="422" y="23"/>
                </a:cxn>
                <a:cxn ang="0">
                  <a:pos x="376" y="69"/>
                </a:cxn>
                <a:cxn ang="0">
                  <a:pos x="349" y="132"/>
                </a:cxn>
                <a:cxn ang="0">
                  <a:pos x="307" y="205"/>
                </a:cxn>
                <a:cxn ang="0">
                  <a:pos x="278" y="255"/>
                </a:cxn>
                <a:cxn ang="0">
                  <a:pos x="232" y="280"/>
                </a:cxn>
                <a:cxn ang="0">
                  <a:pos x="184" y="263"/>
                </a:cxn>
                <a:cxn ang="0">
                  <a:pos x="151" y="257"/>
                </a:cxn>
                <a:cxn ang="0">
                  <a:pos x="73" y="267"/>
                </a:cxn>
                <a:cxn ang="0">
                  <a:pos x="30" y="253"/>
                </a:cxn>
                <a:cxn ang="0">
                  <a:pos x="2" y="269"/>
                </a:cxn>
                <a:cxn ang="0">
                  <a:pos x="13" y="315"/>
                </a:cxn>
                <a:cxn ang="0">
                  <a:pos x="50" y="326"/>
                </a:cxn>
                <a:cxn ang="0">
                  <a:pos x="82" y="344"/>
                </a:cxn>
                <a:cxn ang="0">
                  <a:pos x="109" y="357"/>
                </a:cxn>
                <a:cxn ang="0">
                  <a:pos x="134" y="374"/>
                </a:cxn>
                <a:cxn ang="0">
                  <a:pos x="161" y="393"/>
                </a:cxn>
                <a:cxn ang="0">
                  <a:pos x="176" y="420"/>
                </a:cxn>
                <a:cxn ang="0">
                  <a:pos x="188" y="453"/>
                </a:cxn>
                <a:cxn ang="0">
                  <a:pos x="218" y="470"/>
                </a:cxn>
                <a:cxn ang="0">
                  <a:pos x="222" y="507"/>
                </a:cxn>
                <a:cxn ang="0">
                  <a:pos x="232" y="539"/>
                </a:cxn>
                <a:cxn ang="0">
                  <a:pos x="245" y="564"/>
                </a:cxn>
                <a:cxn ang="0">
                  <a:pos x="257" y="593"/>
                </a:cxn>
                <a:cxn ang="0">
                  <a:pos x="274" y="628"/>
                </a:cxn>
                <a:cxn ang="0">
                  <a:pos x="291" y="654"/>
                </a:cxn>
                <a:cxn ang="0">
                  <a:pos x="307" y="676"/>
                </a:cxn>
                <a:cxn ang="0">
                  <a:pos x="339" y="697"/>
                </a:cxn>
                <a:cxn ang="0">
                  <a:pos x="358" y="716"/>
                </a:cxn>
                <a:cxn ang="0">
                  <a:pos x="364" y="695"/>
                </a:cxn>
                <a:cxn ang="0">
                  <a:pos x="378" y="687"/>
                </a:cxn>
                <a:cxn ang="0">
                  <a:pos x="389" y="664"/>
                </a:cxn>
                <a:cxn ang="0">
                  <a:pos x="433" y="591"/>
                </a:cxn>
                <a:cxn ang="0">
                  <a:pos x="497" y="535"/>
                </a:cxn>
                <a:cxn ang="0">
                  <a:pos x="539" y="511"/>
                </a:cxn>
                <a:cxn ang="0">
                  <a:pos x="579" y="468"/>
                </a:cxn>
                <a:cxn ang="0">
                  <a:pos x="619" y="426"/>
                </a:cxn>
                <a:cxn ang="0">
                  <a:pos x="635" y="380"/>
                </a:cxn>
                <a:cxn ang="0">
                  <a:pos x="614" y="345"/>
                </a:cxn>
                <a:cxn ang="0">
                  <a:pos x="547" y="315"/>
                </a:cxn>
                <a:cxn ang="0">
                  <a:pos x="525" y="263"/>
                </a:cxn>
                <a:cxn ang="0">
                  <a:pos x="510" y="221"/>
                </a:cxn>
                <a:cxn ang="0">
                  <a:pos x="504" y="198"/>
                </a:cxn>
                <a:cxn ang="0">
                  <a:pos x="481" y="140"/>
                </a:cxn>
              </a:cxnLst>
              <a:rect l="0" t="0" r="r" b="b"/>
              <a:pathLst>
                <a:path w="635" h="716">
                  <a:moveTo>
                    <a:pt x="481" y="140"/>
                  </a:moveTo>
                  <a:lnTo>
                    <a:pt x="483" y="117"/>
                  </a:lnTo>
                  <a:lnTo>
                    <a:pt x="474" y="92"/>
                  </a:lnTo>
                  <a:lnTo>
                    <a:pt x="447" y="107"/>
                  </a:lnTo>
                  <a:lnTo>
                    <a:pt x="456" y="86"/>
                  </a:lnTo>
                  <a:lnTo>
                    <a:pt x="456" y="60"/>
                  </a:lnTo>
                  <a:lnTo>
                    <a:pt x="441" y="27"/>
                  </a:lnTo>
                  <a:lnTo>
                    <a:pt x="416" y="0"/>
                  </a:lnTo>
                  <a:lnTo>
                    <a:pt x="422" y="23"/>
                  </a:lnTo>
                  <a:lnTo>
                    <a:pt x="422" y="42"/>
                  </a:lnTo>
                  <a:lnTo>
                    <a:pt x="399" y="48"/>
                  </a:lnTo>
                  <a:lnTo>
                    <a:pt x="376" y="69"/>
                  </a:lnTo>
                  <a:lnTo>
                    <a:pt x="341" y="92"/>
                  </a:lnTo>
                  <a:lnTo>
                    <a:pt x="349" y="107"/>
                  </a:lnTo>
                  <a:lnTo>
                    <a:pt x="349" y="132"/>
                  </a:lnTo>
                  <a:lnTo>
                    <a:pt x="324" y="150"/>
                  </a:lnTo>
                  <a:lnTo>
                    <a:pt x="316" y="173"/>
                  </a:lnTo>
                  <a:lnTo>
                    <a:pt x="307" y="205"/>
                  </a:lnTo>
                  <a:lnTo>
                    <a:pt x="307" y="225"/>
                  </a:lnTo>
                  <a:lnTo>
                    <a:pt x="286" y="238"/>
                  </a:lnTo>
                  <a:lnTo>
                    <a:pt x="278" y="255"/>
                  </a:lnTo>
                  <a:lnTo>
                    <a:pt x="268" y="267"/>
                  </a:lnTo>
                  <a:lnTo>
                    <a:pt x="253" y="278"/>
                  </a:lnTo>
                  <a:lnTo>
                    <a:pt x="232" y="280"/>
                  </a:lnTo>
                  <a:lnTo>
                    <a:pt x="211" y="280"/>
                  </a:lnTo>
                  <a:lnTo>
                    <a:pt x="205" y="263"/>
                  </a:lnTo>
                  <a:lnTo>
                    <a:pt x="184" y="263"/>
                  </a:lnTo>
                  <a:lnTo>
                    <a:pt x="170" y="263"/>
                  </a:lnTo>
                  <a:lnTo>
                    <a:pt x="163" y="246"/>
                  </a:lnTo>
                  <a:lnTo>
                    <a:pt x="151" y="257"/>
                  </a:lnTo>
                  <a:lnTo>
                    <a:pt x="126" y="267"/>
                  </a:lnTo>
                  <a:lnTo>
                    <a:pt x="101" y="267"/>
                  </a:lnTo>
                  <a:lnTo>
                    <a:pt x="73" y="267"/>
                  </a:lnTo>
                  <a:lnTo>
                    <a:pt x="57" y="253"/>
                  </a:lnTo>
                  <a:lnTo>
                    <a:pt x="44" y="246"/>
                  </a:lnTo>
                  <a:lnTo>
                    <a:pt x="30" y="253"/>
                  </a:lnTo>
                  <a:lnTo>
                    <a:pt x="11" y="250"/>
                  </a:lnTo>
                  <a:lnTo>
                    <a:pt x="5" y="257"/>
                  </a:lnTo>
                  <a:lnTo>
                    <a:pt x="2" y="269"/>
                  </a:lnTo>
                  <a:lnTo>
                    <a:pt x="0" y="282"/>
                  </a:lnTo>
                  <a:lnTo>
                    <a:pt x="2" y="301"/>
                  </a:lnTo>
                  <a:lnTo>
                    <a:pt x="13" y="315"/>
                  </a:lnTo>
                  <a:lnTo>
                    <a:pt x="27" y="324"/>
                  </a:lnTo>
                  <a:lnTo>
                    <a:pt x="40" y="326"/>
                  </a:lnTo>
                  <a:lnTo>
                    <a:pt x="50" y="326"/>
                  </a:lnTo>
                  <a:lnTo>
                    <a:pt x="63" y="328"/>
                  </a:lnTo>
                  <a:lnTo>
                    <a:pt x="75" y="336"/>
                  </a:lnTo>
                  <a:lnTo>
                    <a:pt x="82" y="344"/>
                  </a:lnTo>
                  <a:lnTo>
                    <a:pt x="92" y="347"/>
                  </a:lnTo>
                  <a:lnTo>
                    <a:pt x="101" y="351"/>
                  </a:lnTo>
                  <a:lnTo>
                    <a:pt x="109" y="357"/>
                  </a:lnTo>
                  <a:lnTo>
                    <a:pt x="115" y="367"/>
                  </a:lnTo>
                  <a:lnTo>
                    <a:pt x="122" y="374"/>
                  </a:lnTo>
                  <a:lnTo>
                    <a:pt x="134" y="374"/>
                  </a:lnTo>
                  <a:lnTo>
                    <a:pt x="147" y="374"/>
                  </a:lnTo>
                  <a:lnTo>
                    <a:pt x="157" y="382"/>
                  </a:lnTo>
                  <a:lnTo>
                    <a:pt x="161" y="393"/>
                  </a:lnTo>
                  <a:lnTo>
                    <a:pt x="161" y="407"/>
                  </a:lnTo>
                  <a:lnTo>
                    <a:pt x="169" y="416"/>
                  </a:lnTo>
                  <a:lnTo>
                    <a:pt x="176" y="420"/>
                  </a:lnTo>
                  <a:lnTo>
                    <a:pt x="182" y="432"/>
                  </a:lnTo>
                  <a:lnTo>
                    <a:pt x="186" y="441"/>
                  </a:lnTo>
                  <a:lnTo>
                    <a:pt x="188" y="453"/>
                  </a:lnTo>
                  <a:lnTo>
                    <a:pt x="199" y="459"/>
                  </a:lnTo>
                  <a:lnTo>
                    <a:pt x="207" y="464"/>
                  </a:lnTo>
                  <a:lnTo>
                    <a:pt x="218" y="470"/>
                  </a:lnTo>
                  <a:lnTo>
                    <a:pt x="222" y="486"/>
                  </a:lnTo>
                  <a:lnTo>
                    <a:pt x="220" y="493"/>
                  </a:lnTo>
                  <a:lnTo>
                    <a:pt x="222" y="507"/>
                  </a:lnTo>
                  <a:lnTo>
                    <a:pt x="232" y="511"/>
                  </a:lnTo>
                  <a:lnTo>
                    <a:pt x="232" y="524"/>
                  </a:lnTo>
                  <a:lnTo>
                    <a:pt x="232" y="539"/>
                  </a:lnTo>
                  <a:lnTo>
                    <a:pt x="236" y="547"/>
                  </a:lnTo>
                  <a:lnTo>
                    <a:pt x="236" y="560"/>
                  </a:lnTo>
                  <a:lnTo>
                    <a:pt x="245" y="564"/>
                  </a:lnTo>
                  <a:lnTo>
                    <a:pt x="251" y="574"/>
                  </a:lnTo>
                  <a:lnTo>
                    <a:pt x="251" y="585"/>
                  </a:lnTo>
                  <a:lnTo>
                    <a:pt x="257" y="593"/>
                  </a:lnTo>
                  <a:lnTo>
                    <a:pt x="264" y="603"/>
                  </a:lnTo>
                  <a:lnTo>
                    <a:pt x="274" y="612"/>
                  </a:lnTo>
                  <a:lnTo>
                    <a:pt x="274" y="628"/>
                  </a:lnTo>
                  <a:lnTo>
                    <a:pt x="274" y="643"/>
                  </a:lnTo>
                  <a:lnTo>
                    <a:pt x="282" y="654"/>
                  </a:lnTo>
                  <a:lnTo>
                    <a:pt x="291" y="654"/>
                  </a:lnTo>
                  <a:lnTo>
                    <a:pt x="299" y="662"/>
                  </a:lnTo>
                  <a:lnTo>
                    <a:pt x="299" y="674"/>
                  </a:lnTo>
                  <a:lnTo>
                    <a:pt x="307" y="676"/>
                  </a:lnTo>
                  <a:lnTo>
                    <a:pt x="318" y="679"/>
                  </a:lnTo>
                  <a:lnTo>
                    <a:pt x="328" y="691"/>
                  </a:lnTo>
                  <a:lnTo>
                    <a:pt x="339" y="697"/>
                  </a:lnTo>
                  <a:lnTo>
                    <a:pt x="345" y="708"/>
                  </a:lnTo>
                  <a:lnTo>
                    <a:pt x="357" y="716"/>
                  </a:lnTo>
                  <a:lnTo>
                    <a:pt x="358" y="716"/>
                  </a:lnTo>
                  <a:lnTo>
                    <a:pt x="358" y="708"/>
                  </a:lnTo>
                  <a:lnTo>
                    <a:pt x="360" y="701"/>
                  </a:lnTo>
                  <a:lnTo>
                    <a:pt x="364" y="695"/>
                  </a:lnTo>
                  <a:lnTo>
                    <a:pt x="368" y="693"/>
                  </a:lnTo>
                  <a:lnTo>
                    <a:pt x="374" y="691"/>
                  </a:lnTo>
                  <a:lnTo>
                    <a:pt x="378" y="687"/>
                  </a:lnTo>
                  <a:lnTo>
                    <a:pt x="382" y="681"/>
                  </a:lnTo>
                  <a:lnTo>
                    <a:pt x="385" y="676"/>
                  </a:lnTo>
                  <a:lnTo>
                    <a:pt x="389" y="664"/>
                  </a:lnTo>
                  <a:lnTo>
                    <a:pt x="391" y="658"/>
                  </a:lnTo>
                  <a:lnTo>
                    <a:pt x="408" y="624"/>
                  </a:lnTo>
                  <a:lnTo>
                    <a:pt x="433" y="591"/>
                  </a:lnTo>
                  <a:lnTo>
                    <a:pt x="456" y="572"/>
                  </a:lnTo>
                  <a:lnTo>
                    <a:pt x="476" y="551"/>
                  </a:lnTo>
                  <a:lnTo>
                    <a:pt x="497" y="535"/>
                  </a:lnTo>
                  <a:lnTo>
                    <a:pt x="512" y="530"/>
                  </a:lnTo>
                  <a:lnTo>
                    <a:pt x="525" y="530"/>
                  </a:lnTo>
                  <a:lnTo>
                    <a:pt x="539" y="511"/>
                  </a:lnTo>
                  <a:lnTo>
                    <a:pt x="548" y="493"/>
                  </a:lnTo>
                  <a:lnTo>
                    <a:pt x="564" y="480"/>
                  </a:lnTo>
                  <a:lnTo>
                    <a:pt x="579" y="468"/>
                  </a:lnTo>
                  <a:lnTo>
                    <a:pt x="589" y="453"/>
                  </a:lnTo>
                  <a:lnTo>
                    <a:pt x="604" y="440"/>
                  </a:lnTo>
                  <a:lnTo>
                    <a:pt x="619" y="426"/>
                  </a:lnTo>
                  <a:lnTo>
                    <a:pt x="604" y="401"/>
                  </a:lnTo>
                  <a:lnTo>
                    <a:pt x="627" y="397"/>
                  </a:lnTo>
                  <a:lnTo>
                    <a:pt x="635" y="380"/>
                  </a:lnTo>
                  <a:lnTo>
                    <a:pt x="635" y="363"/>
                  </a:lnTo>
                  <a:lnTo>
                    <a:pt x="627" y="349"/>
                  </a:lnTo>
                  <a:lnTo>
                    <a:pt x="614" y="345"/>
                  </a:lnTo>
                  <a:lnTo>
                    <a:pt x="587" y="344"/>
                  </a:lnTo>
                  <a:lnTo>
                    <a:pt x="570" y="332"/>
                  </a:lnTo>
                  <a:lnTo>
                    <a:pt x="547" y="315"/>
                  </a:lnTo>
                  <a:lnTo>
                    <a:pt x="529" y="292"/>
                  </a:lnTo>
                  <a:lnTo>
                    <a:pt x="516" y="280"/>
                  </a:lnTo>
                  <a:lnTo>
                    <a:pt x="525" y="263"/>
                  </a:lnTo>
                  <a:lnTo>
                    <a:pt x="516" y="240"/>
                  </a:lnTo>
                  <a:lnTo>
                    <a:pt x="512" y="230"/>
                  </a:lnTo>
                  <a:lnTo>
                    <a:pt x="510" y="221"/>
                  </a:lnTo>
                  <a:lnTo>
                    <a:pt x="510" y="213"/>
                  </a:lnTo>
                  <a:lnTo>
                    <a:pt x="512" y="209"/>
                  </a:lnTo>
                  <a:lnTo>
                    <a:pt x="504" y="198"/>
                  </a:lnTo>
                  <a:lnTo>
                    <a:pt x="497" y="182"/>
                  </a:lnTo>
                  <a:lnTo>
                    <a:pt x="493" y="163"/>
                  </a:lnTo>
                  <a:lnTo>
                    <a:pt x="481" y="140"/>
                  </a:lnTo>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17" name="Freeform 5">
              <a:extLst>
                <a:ext uri="{FF2B5EF4-FFF2-40B4-BE49-F238E27FC236}">
                  <a16:creationId xmlns:a16="http://schemas.microsoft.com/office/drawing/2014/main" id="{BC9E3C63-247F-3BDB-12DB-955118469C6E}"/>
                </a:ext>
              </a:extLst>
            </p:cNvPr>
            <p:cNvSpPr>
              <a:spLocks noChangeAspect="1"/>
            </p:cNvSpPr>
            <p:nvPr/>
          </p:nvSpPr>
          <p:spPr bwMode="auto">
            <a:xfrm>
              <a:off x="7457584" y="5234298"/>
              <a:ext cx="23283" cy="36077"/>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18" name="Freeform 6">
              <a:extLst>
                <a:ext uri="{FF2B5EF4-FFF2-40B4-BE49-F238E27FC236}">
                  <a16:creationId xmlns:a16="http://schemas.microsoft.com/office/drawing/2014/main" id="{DF67B8D4-C8B9-44B7-D98E-529D30A50837}"/>
                </a:ext>
              </a:extLst>
            </p:cNvPr>
            <p:cNvSpPr>
              <a:spLocks noChangeAspect="1"/>
            </p:cNvSpPr>
            <p:nvPr/>
          </p:nvSpPr>
          <p:spPr bwMode="auto">
            <a:xfrm>
              <a:off x="7457584" y="5234298"/>
              <a:ext cx="23283" cy="36077"/>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19" name="Freeform 7">
              <a:extLst>
                <a:ext uri="{FF2B5EF4-FFF2-40B4-BE49-F238E27FC236}">
                  <a16:creationId xmlns:a16="http://schemas.microsoft.com/office/drawing/2014/main" id="{F3D77D27-F24D-BE2E-DE61-F8204BCE2B65}"/>
                </a:ext>
              </a:extLst>
            </p:cNvPr>
            <p:cNvSpPr>
              <a:spLocks noChangeAspect="1"/>
            </p:cNvSpPr>
            <p:nvPr/>
          </p:nvSpPr>
          <p:spPr bwMode="auto">
            <a:xfrm>
              <a:off x="6617066" y="5178437"/>
              <a:ext cx="720610" cy="680795"/>
            </a:xfrm>
            <a:custGeom>
              <a:avLst/>
              <a:gdLst/>
              <a:ahLst/>
              <a:cxnLst>
                <a:cxn ang="0">
                  <a:pos x="463" y="743"/>
                </a:cxn>
                <a:cxn ang="0">
                  <a:pos x="403" y="628"/>
                </a:cxn>
                <a:cxn ang="0">
                  <a:pos x="298" y="519"/>
                </a:cxn>
                <a:cxn ang="0">
                  <a:pos x="202" y="453"/>
                </a:cxn>
                <a:cxn ang="0">
                  <a:pos x="69" y="352"/>
                </a:cxn>
                <a:cxn ang="0">
                  <a:pos x="18" y="365"/>
                </a:cxn>
                <a:cxn ang="0">
                  <a:pos x="142" y="237"/>
                </a:cxn>
                <a:cxn ang="0">
                  <a:pos x="234" y="135"/>
                </a:cxn>
                <a:cxn ang="0">
                  <a:pos x="300" y="66"/>
                </a:cxn>
                <a:cxn ang="0">
                  <a:pos x="403" y="6"/>
                </a:cxn>
                <a:cxn ang="0">
                  <a:pos x="520" y="4"/>
                </a:cxn>
                <a:cxn ang="0">
                  <a:pos x="632" y="37"/>
                </a:cxn>
                <a:cxn ang="0">
                  <a:pos x="739" y="110"/>
                </a:cxn>
                <a:cxn ang="0">
                  <a:pos x="823" y="171"/>
                </a:cxn>
                <a:cxn ang="0">
                  <a:pos x="864" y="231"/>
                </a:cxn>
                <a:cxn ang="0">
                  <a:pos x="839" y="292"/>
                </a:cxn>
                <a:cxn ang="0">
                  <a:pos x="883" y="292"/>
                </a:cxn>
                <a:cxn ang="0">
                  <a:pos x="820" y="390"/>
                </a:cxn>
                <a:cxn ang="0">
                  <a:pos x="754" y="496"/>
                </a:cxn>
                <a:cxn ang="0">
                  <a:pos x="678" y="580"/>
                </a:cxn>
                <a:cxn ang="0">
                  <a:pos x="603" y="632"/>
                </a:cxn>
                <a:cxn ang="0">
                  <a:pos x="624" y="603"/>
                </a:cxn>
                <a:cxn ang="0">
                  <a:pos x="641" y="570"/>
                </a:cxn>
                <a:cxn ang="0">
                  <a:pos x="691" y="538"/>
                </a:cxn>
                <a:cxn ang="0">
                  <a:pos x="726" y="492"/>
                </a:cxn>
                <a:cxn ang="0">
                  <a:pos x="745" y="450"/>
                </a:cxn>
                <a:cxn ang="0">
                  <a:pos x="770" y="457"/>
                </a:cxn>
                <a:cxn ang="0">
                  <a:pos x="770" y="419"/>
                </a:cxn>
                <a:cxn ang="0">
                  <a:pos x="729" y="430"/>
                </a:cxn>
                <a:cxn ang="0">
                  <a:pos x="693" y="375"/>
                </a:cxn>
                <a:cxn ang="0">
                  <a:pos x="691" y="423"/>
                </a:cxn>
                <a:cxn ang="0">
                  <a:pos x="681" y="453"/>
                </a:cxn>
                <a:cxn ang="0">
                  <a:pos x="666" y="511"/>
                </a:cxn>
                <a:cxn ang="0">
                  <a:pos x="639" y="546"/>
                </a:cxn>
                <a:cxn ang="0">
                  <a:pos x="610" y="576"/>
                </a:cxn>
                <a:cxn ang="0">
                  <a:pos x="580" y="607"/>
                </a:cxn>
                <a:cxn ang="0">
                  <a:pos x="568" y="613"/>
                </a:cxn>
                <a:cxn ang="0">
                  <a:pos x="582" y="647"/>
                </a:cxn>
                <a:cxn ang="0">
                  <a:pos x="561" y="699"/>
                </a:cxn>
                <a:cxn ang="0">
                  <a:pos x="536" y="743"/>
                </a:cxn>
                <a:cxn ang="0">
                  <a:pos x="536" y="711"/>
                </a:cxn>
                <a:cxn ang="0">
                  <a:pos x="539" y="684"/>
                </a:cxn>
                <a:cxn ang="0">
                  <a:pos x="516" y="665"/>
                </a:cxn>
                <a:cxn ang="0">
                  <a:pos x="495" y="701"/>
                </a:cxn>
                <a:cxn ang="0">
                  <a:pos x="499" y="718"/>
                </a:cxn>
                <a:cxn ang="0">
                  <a:pos x="511" y="747"/>
                </a:cxn>
                <a:cxn ang="0">
                  <a:pos x="514" y="764"/>
                </a:cxn>
                <a:cxn ang="0">
                  <a:pos x="491" y="797"/>
                </a:cxn>
              </a:cxnLst>
              <a:rect l="0" t="0" r="r" b="b"/>
              <a:pathLst>
                <a:path w="883" h="833">
                  <a:moveTo>
                    <a:pt x="463" y="833"/>
                  </a:moveTo>
                  <a:lnTo>
                    <a:pt x="447" y="816"/>
                  </a:lnTo>
                  <a:lnTo>
                    <a:pt x="447" y="760"/>
                  </a:lnTo>
                  <a:lnTo>
                    <a:pt x="463" y="743"/>
                  </a:lnTo>
                  <a:lnTo>
                    <a:pt x="476" y="739"/>
                  </a:lnTo>
                  <a:lnTo>
                    <a:pt x="488" y="716"/>
                  </a:lnTo>
                  <a:lnTo>
                    <a:pt x="455" y="672"/>
                  </a:lnTo>
                  <a:lnTo>
                    <a:pt x="403" y="628"/>
                  </a:lnTo>
                  <a:lnTo>
                    <a:pt x="397" y="601"/>
                  </a:lnTo>
                  <a:lnTo>
                    <a:pt x="355" y="563"/>
                  </a:lnTo>
                  <a:lnTo>
                    <a:pt x="328" y="561"/>
                  </a:lnTo>
                  <a:lnTo>
                    <a:pt x="298" y="519"/>
                  </a:lnTo>
                  <a:lnTo>
                    <a:pt x="273" y="509"/>
                  </a:lnTo>
                  <a:lnTo>
                    <a:pt x="257" y="509"/>
                  </a:lnTo>
                  <a:lnTo>
                    <a:pt x="244" y="486"/>
                  </a:lnTo>
                  <a:lnTo>
                    <a:pt x="202" y="453"/>
                  </a:lnTo>
                  <a:lnTo>
                    <a:pt x="175" y="453"/>
                  </a:lnTo>
                  <a:lnTo>
                    <a:pt x="133" y="415"/>
                  </a:lnTo>
                  <a:lnTo>
                    <a:pt x="100" y="392"/>
                  </a:lnTo>
                  <a:lnTo>
                    <a:pt x="69" y="352"/>
                  </a:lnTo>
                  <a:lnTo>
                    <a:pt x="52" y="365"/>
                  </a:lnTo>
                  <a:lnTo>
                    <a:pt x="23" y="394"/>
                  </a:lnTo>
                  <a:lnTo>
                    <a:pt x="0" y="398"/>
                  </a:lnTo>
                  <a:lnTo>
                    <a:pt x="18" y="365"/>
                  </a:lnTo>
                  <a:lnTo>
                    <a:pt x="25" y="344"/>
                  </a:lnTo>
                  <a:lnTo>
                    <a:pt x="108" y="273"/>
                  </a:lnTo>
                  <a:lnTo>
                    <a:pt x="113" y="256"/>
                  </a:lnTo>
                  <a:lnTo>
                    <a:pt x="142" y="237"/>
                  </a:lnTo>
                  <a:lnTo>
                    <a:pt x="146" y="212"/>
                  </a:lnTo>
                  <a:lnTo>
                    <a:pt x="196" y="156"/>
                  </a:lnTo>
                  <a:lnTo>
                    <a:pt x="231" y="154"/>
                  </a:lnTo>
                  <a:lnTo>
                    <a:pt x="234" y="135"/>
                  </a:lnTo>
                  <a:lnTo>
                    <a:pt x="223" y="127"/>
                  </a:lnTo>
                  <a:lnTo>
                    <a:pt x="231" y="112"/>
                  </a:lnTo>
                  <a:lnTo>
                    <a:pt x="246" y="112"/>
                  </a:lnTo>
                  <a:lnTo>
                    <a:pt x="300" y="66"/>
                  </a:lnTo>
                  <a:lnTo>
                    <a:pt x="319" y="45"/>
                  </a:lnTo>
                  <a:lnTo>
                    <a:pt x="338" y="37"/>
                  </a:lnTo>
                  <a:lnTo>
                    <a:pt x="367" y="29"/>
                  </a:lnTo>
                  <a:lnTo>
                    <a:pt x="403" y="6"/>
                  </a:lnTo>
                  <a:lnTo>
                    <a:pt x="455" y="0"/>
                  </a:lnTo>
                  <a:lnTo>
                    <a:pt x="467" y="2"/>
                  </a:lnTo>
                  <a:lnTo>
                    <a:pt x="499" y="4"/>
                  </a:lnTo>
                  <a:lnTo>
                    <a:pt x="520" y="4"/>
                  </a:lnTo>
                  <a:lnTo>
                    <a:pt x="549" y="14"/>
                  </a:lnTo>
                  <a:lnTo>
                    <a:pt x="578" y="18"/>
                  </a:lnTo>
                  <a:lnTo>
                    <a:pt x="612" y="27"/>
                  </a:lnTo>
                  <a:lnTo>
                    <a:pt x="632" y="37"/>
                  </a:lnTo>
                  <a:lnTo>
                    <a:pt x="656" y="52"/>
                  </a:lnTo>
                  <a:lnTo>
                    <a:pt x="697" y="60"/>
                  </a:lnTo>
                  <a:lnTo>
                    <a:pt x="720" y="85"/>
                  </a:lnTo>
                  <a:lnTo>
                    <a:pt x="739" y="110"/>
                  </a:lnTo>
                  <a:lnTo>
                    <a:pt x="766" y="137"/>
                  </a:lnTo>
                  <a:lnTo>
                    <a:pt x="770" y="158"/>
                  </a:lnTo>
                  <a:lnTo>
                    <a:pt x="798" y="173"/>
                  </a:lnTo>
                  <a:lnTo>
                    <a:pt x="823" y="171"/>
                  </a:lnTo>
                  <a:lnTo>
                    <a:pt x="866" y="173"/>
                  </a:lnTo>
                  <a:lnTo>
                    <a:pt x="883" y="192"/>
                  </a:lnTo>
                  <a:lnTo>
                    <a:pt x="871" y="210"/>
                  </a:lnTo>
                  <a:lnTo>
                    <a:pt x="864" y="231"/>
                  </a:lnTo>
                  <a:lnTo>
                    <a:pt x="843" y="246"/>
                  </a:lnTo>
                  <a:lnTo>
                    <a:pt x="839" y="263"/>
                  </a:lnTo>
                  <a:lnTo>
                    <a:pt x="829" y="283"/>
                  </a:lnTo>
                  <a:lnTo>
                    <a:pt x="839" y="292"/>
                  </a:lnTo>
                  <a:lnTo>
                    <a:pt x="848" y="286"/>
                  </a:lnTo>
                  <a:lnTo>
                    <a:pt x="858" y="273"/>
                  </a:lnTo>
                  <a:lnTo>
                    <a:pt x="873" y="279"/>
                  </a:lnTo>
                  <a:lnTo>
                    <a:pt x="883" y="292"/>
                  </a:lnTo>
                  <a:lnTo>
                    <a:pt x="862" y="321"/>
                  </a:lnTo>
                  <a:lnTo>
                    <a:pt x="843" y="350"/>
                  </a:lnTo>
                  <a:lnTo>
                    <a:pt x="825" y="365"/>
                  </a:lnTo>
                  <a:lnTo>
                    <a:pt x="820" y="390"/>
                  </a:lnTo>
                  <a:lnTo>
                    <a:pt x="812" y="415"/>
                  </a:lnTo>
                  <a:lnTo>
                    <a:pt x="797" y="450"/>
                  </a:lnTo>
                  <a:lnTo>
                    <a:pt x="774" y="475"/>
                  </a:lnTo>
                  <a:lnTo>
                    <a:pt x="754" y="496"/>
                  </a:lnTo>
                  <a:lnTo>
                    <a:pt x="735" y="522"/>
                  </a:lnTo>
                  <a:lnTo>
                    <a:pt x="720" y="547"/>
                  </a:lnTo>
                  <a:lnTo>
                    <a:pt x="697" y="569"/>
                  </a:lnTo>
                  <a:lnTo>
                    <a:pt x="678" y="580"/>
                  </a:lnTo>
                  <a:lnTo>
                    <a:pt x="651" y="594"/>
                  </a:lnTo>
                  <a:lnTo>
                    <a:pt x="632" y="609"/>
                  </a:lnTo>
                  <a:lnTo>
                    <a:pt x="614" y="626"/>
                  </a:lnTo>
                  <a:lnTo>
                    <a:pt x="603" y="632"/>
                  </a:lnTo>
                  <a:lnTo>
                    <a:pt x="597" y="618"/>
                  </a:lnTo>
                  <a:lnTo>
                    <a:pt x="589" y="605"/>
                  </a:lnTo>
                  <a:lnTo>
                    <a:pt x="601" y="603"/>
                  </a:lnTo>
                  <a:lnTo>
                    <a:pt x="624" y="603"/>
                  </a:lnTo>
                  <a:lnTo>
                    <a:pt x="632" y="597"/>
                  </a:lnTo>
                  <a:lnTo>
                    <a:pt x="626" y="588"/>
                  </a:lnTo>
                  <a:lnTo>
                    <a:pt x="633" y="580"/>
                  </a:lnTo>
                  <a:lnTo>
                    <a:pt x="641" y="570"/>
                  </a:lnTo>
                  <a:lnTo>
                    <a:pt x="666" y="576"/>
                  </a:lnTo>
                  <a:lnTo>
                    <a:pt x="679" y="567"/>
                  </a:lnTo>
                  <a:lnTo>
                    <a:pt x="689" y="551"/>
                  </a:lnTo>
                  <a:lnTo>
                    <a:pt x="691" y="538"/>
                  </a:lnTo>
                  <a:lnTo>
                    <a:pt x="691" y="517"/>
                  </a:lnTo>
                  <a:lnTo>
                    <a:pt x="701" y="513"/>
                  </a:lnTo>
                  <a:lnTo>
                    <a:pt x="716" y="507"/>
                  </a:lnTo>
                  <a:lnTo>
                    <a:pt x="726" y="492"/>
                  </a:lnTo>
                  <a:lnTo>
                    <a:pt x="726" y="475"/>
                  </a:lnTo>
                  <a:lnTo>
                    <a:pt x="743" y="473"/>
                  </a:lnTo>
                  <a:lnTo>
                    <a:pt x="745" y="463"/>
                  </a:lnTo>
                  <a:lnTo>
                    <a:pt x="745" y="450"/>
                  </a:lnTo>
                  <a:lnTo>
                    <a:pt x="754" y="450"/>
                  </a:lnTo>
                  <a:lnTo>
                    <a:pt x="760" y="463"/>
                  </a:lnTo>
                  <a:lnTo>
                    <a:pt x="768" y="465"/>
                  </a:lnTo>
                  <a:lnTo>
                    <a:pt x="770" y="457"/>
                  </a:lnTo>
                  <a:lnTo>
                    <a:pt x="777" y="451"/>
                  </a:lnTo>
                  <a:lnTo>
                    <a:pt x="777" y="442"/>
                  </a:lnTo>
                  <a:lnTo>
                    <a:pt x="777" y="427"/>
                  </a:lnTo>
                  <a:lnTo>
                    <a:pt x="770" y="419"/>
                  </a:lnTo>
                  <a:lnTo>
                    <a:pt x="760" y="419"/>
                  </a:lnTo>
                  <a:lnTo>
                    <a:pt x="750" y="425"/>
                  </a:lnTo>
                  <a:lnTo>
                    <a:pt x="745" y="434"/>
                  </a:lnTo>
                  <a:lnTo>
                    <a:pt x="729" y="430"/>
                  </a:lnTo>
                  <a:lnTo>
                    <a:pt x="724" y="415"/>
                  </a:lnTo>
                  <a:lnTo>
                    <a:pt x="710" y="400"/>
                  </a:lnTo>
                  <a:lnTo>
                    <a:pt x="703" y="384"/>
                  </a:lnTo>
                  <a:lnTo>
                    <a:pt x="693" y="375"/>
                  </a:lnTo>
                  <a:lnTo>
                    <a:pt x="693" y="386"/>
                  </a:lnTo>
                  <a:lnTo>
                    <a:pt x="697" y="400"/>
                  </a:lnTo>
                  <a:lnTo>
                    <a:pt x="697" y="413"/>
                  </a:lnTo>
                  <a:lnTo>
                    <a:pt x="691" y="423"/>
                  </a:lnTo>
                  <a:lnTo>
                    <a:pt x="695" y="428"/>
                  </a:lnTo>
                  <a:lnTo>
                    <a:pt x="697" y="440"/>
                  </a:lnTo>
                  <a:lnTo>
                    <a:pt x="689" y="450"/>
                  </a:lnTo>
                  <a:lnTo>
                    <a:pt x="681" y="453"/>
                  </a:lnTo>
                  <a:lnTo>
                    <a:pt x="670" y="459"/>
                  </a:lnTo>
                  <a:lnTo>
                    <a:pt x="672" y="480"/>
                  </a:lnTo>
                  <a:lnTo>
                    <a:pt x="676" y="503"/>
                  </a:lnTo>
                  <a:lnTo>
                    <a:pt x="666" y="511"/>
                  </a:lnTo>
                  <a:lnTo>
                    <a:pt x="664" y="522"/>
                  </a:lnTo>
                  <a:lnTo>
                    <a:pt x="656" y="528"/>
                  </a:lnTo>
                  <a:lnTo>
                    <a:pt x="643" y="534"/>
                  </a:lnTo>
                  <a:lnTo>
                    <a:pt x="639" y="546"/>
                  </a:lnTo>
                  <a:lnTo>
                    <a:pt x="628" y="547"/>
                  </a:lnTo>
                  <a:lnTo>
                    <a:pt x="614" y="551"/>
                  </a:lnTo>
                  <a:lnTo>
                    <a:pt x="612" y="563"/>
                  </a:lnTo>
                  <a:lnTo>
                    <a:pt x="610" y="576"/>
                  </a:lnTo>
                  <a:lnTo>
                    <a:pt x="597" y="580"/>
                  </a:lnTo>
                  <a:lnTo>
                    <a:pt x="587" y="588"/>
                  </a:lnTo>
                  <a:lnTo>
                    <a:pt x="580" y="592"/>
                  </a:lnTo>
                  <a:lnTo>
                    <a:pt x="580" y="607"/>
                  </a:lnTo>
                  <a:lnTo>
                    <a:pt x="578" y="607"/>
                  </a:lnTo>
                  <a:lnTo>
                    <a:pt x="574" y="607"/>
                  </a:lnTo>
                  <a:lnTo>
                    <a:pt x="570" y="609"/>
                  </a:lnTo>
                  <a:lnTo>
                    <a:pt x="568" y="613"/>
                  </a:lnTo>
                  <a:lnTo>
                    <a:pt x="568" y="622"/>
                  </a:lnTo>
                  <a:lnTo>
                    <a:pt x="568" y="626"/>
                  </a:lnTo>
                  <a:lnTo>
                    <a:pt x="580" y="628"/>
                  </a:lnTo>
                  <a:lnTo>
                    <a:pt x="582" y="647"/>
                  </a:lnTo>
                  <a:lnTo>
                    <a:pt x="580" y="657"/>
                  </a:lnTo>
                  <a:lnTo>
                    <a:pt x="572" y="672"/>
                  </a:lnTo>
                  <a:lnTo>
                    <a:pt x="564" y="688"/>
                  </a:lnTo>
                  <a:lnTo>
                    <a:pt x="561" y="699"/>
                  </a:lnTo>
                  <a:lnTo>
                    <a:pt x="561" y="716"/>
                  </a:lnTo>
                  <a:lnTo>
                    <a:pt x="549" y="736"/>
                  </a:lnTo>
                  <a:lnTo>
                    <a:pt x="536" y="751"/>
                  </a:lnTo>
                  <a:lnTo>
                    <a:pt x="536" y="743"/>
                  </a:lnTo>
                  <a:lnTo>
                    <a:pt x="543" y="730"/>
                  </a:lnTo>
                  <a:lnTo>
                    <a:pt x="536" y="728"/>
                  </a:lnTo>
                  <a:lnTo>
                    <a:pt x="530" y="722"/>
                  </a:lnTo>
                  <a:lnTo>
                    <a:pt x="536" y="711"/>
                  </a:lnTo>
                  <a:lnTo>
                    <a:pt x="538" y="709"/>
                  </a:lnTo>
                  <a:lnTo>
                    <a:pt x="539" y="699"/>
                  </a:lnTo>
                  <a:lnTo>
                    <a:pt x="539" y="688"/>
                  </a:lnTo>
                  <a:lnTo>
                    <a:pt x="539" y="684"/>
                  </a:lnTo>
                  <a:lnTo>
                    <a:pt x="539" y="661"/>
                  </a:lnTo>
                  <a:lnTo>
                    <a:pt x="532" y="651"/>
                  </a:lnTo>
                  <a:lnTo>
                    <a:pt x="524" y="655"/>
                  </a:lnTo>
                  <a:lnTo>
                    <a:pt x="516" y="665"/>
                  </a:lnTo>
                  <a:lnTo>
                    <a:pt x="513" y="680"/>
                  </a:lnTo>
                  <a:lnTo>
                    <a:pt x="509" y="689"/>
                  </a:lnTo>
                  <a:lnTo>
                    <a:pt x="501" y="699"/>
                  </a:lnTo>
                  <a:lnTo>
                    <a:pt x="495" y="701"/>
                  </a:lnTo>
                  <a:lnTo>
                    <a:pt x="501" y="711"/>
                  </a:lnTo>
                  <a:lnTo>
                    <a:pt x="501" y="712"/>
                  </a:lnTo>
                  <a:lnTo>
                    <a:pt x="499" y="714"/>
                  </a:lnTo>
                  <a:lnTo>
                    <a:pt x="499" y="718"/>
                  </a:lnTo>
                  <a:lnTo>
                    <a:pt x="503" y="720"/>
                  </a:lnTo>
                  <a:lnTo>
                    <a:pt x="513" y="724"/>
                  </a:lnTo>
                  <a:lnTo>
                    <a:pt x="514" y="728"/>
                  </a:lnTo>
                  <a:lnTo>
                    <a:pt x="511" y="747"/>
                  </a:lnTo>
                  <a:lnTo>
                    <a:pt x="501" y="766"/>
                  </a:lnTo>
                  <a:lnTo>
                    <a:pt x="488" y="780"/>
                  </a:lnTo>
                  <a:lnTo>
                    <a:pt x="495" y="778"/>
                  </a:lnTo>
                  <a:lnTo>
                    <a:pt x="514" y="764"/>
                  </a:lnTo>
                  <a:lnTo>
                    <a:pt x="528" y="755"/>
                  </a:lnTo>
                  <a:lnTo>
                    <a:pt x="524" y="764"/>
                  </a:lnTo>
                  <a:lnTo>
                    <a:pt x="509" y="784"/>
                  </a:lnTo>
                  <a:lnTo>
                    <a:pt x="491" y="797"/>
                  </a:lnTo>
                  <a:lnTo>
                    <a:pt x="480" y="818"/>
                  </a:lnTo>
                  <a:lnTo>
                    <a:pt x="463" y="833"/>
                  </a:lnTo>
                  <a:close/>
                </a:path>
              </a:pathLst>
            </a:custGeom>
            <a:solidFill>
              <a:srgbClr val="F2F2F2"/>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0" name="Freeform 8">
              <a:extLst>
                <a:ext uri="{FF2B5EF4-FFF2-40B4-BE49-F238E27FC236}">
                  <a16:creationId xmlns:a16="http://schemas.microsoft.com/office/drawing/2014/main" id="{8763CCF3-B6D9-95FA-9462-8269583141C0}"/>
                </a:ext>
              </a:extLst>
            </p:cNvPr>
            <p:cNvSpPr>
              <a:spLocks noChangeAspect="1"/>
            </p:cNvSpPr>
            <p:nvPr/>
          </p:nvSpPr>
          <p:spPr bwMode="auto">
            <a:xfrm>
              <a:off x="6988431" y="5072537"/>
              <a:ext cx="476138" cy="344470"/>
            </a:xfrm>
            <a:custGeom>
              <a:avLst/>
              <a:gdLst/>
              <a:ahLst/>
              <a:cxnLst>
                <a:cxn ang="0">
                  <a:pos x="4" y="59"/>
                </a:cxn>
                <a:cxn ang="0">
                  <a:pos x="0" y="98"/>
                </a:cxn>
                <a:cxn ang="0">
                  <a:pos x="12" y="132"/>
                </a:cxn>
                <a:cxn ang="0">
                  <a:pos x="94" y="144"/>
                </a:cxn>
                <a:cxn ang="0">
                  <a:pos x="177" y="167"/>
                </a:cxn>
                <a:cxn ang="0">
                  <a:pos x="265" y="215"/>
                </a:cxn>
                <a:cxn ang="0">
                  <a:pos x="315" y="288"/>
                </a:cxn>
                <a:cxn ang="0">
                  <a:pos x="411" y="303"/>
                </a:cxn>
                <a:cxn ang="0">
                  <a:pos x="409" y="361"/>
                </a:cxn>
                <a:cxn ang="0">
                  <a:pos x="374" y="413"/>
                </a:cxn>
                <a:cxn ang="0">
                  <a:pos x="403" y="403"/>
                </a:cxn>
                <a:cxn ang="0">
                  <a:pos x="437" y="409"/>
                </a:cxn>
                <a:cxn ang="0">
                  <a:pos x="468" y="378"/>
                </a:cxn>
                <a:cxn ang="0">
                  <a:pos x="503" y="351"/>
                </a:cxn>
                <a:cxn ang="0">
                  <a:pos x="531" y="334"/>
                </a:cxn>
                <a:cxn ang="0">
                  <a:pos x="516" y="307"/>
                </a:cxn>
                <a:cxn ang="0">
                  <a:pos x="541" y="313"/>
                </a:cxn>
                <a:cxn ang="0">
                  <a:pos x="554" y="319"/>
                </a:cxn>
                <a:cxn ang="0">
                  <a:pos x="562" y="313"/>
                </a:cxn>
                <a:cxn ang="0">
                  <a:pos x="564" y="280"/>
                </a:cxn>
                <a:cxn ang="0">
                  <a:pos x="568" y="244"/>
                </a:cxn>
                <a:cxn ang="0">
                  <a:pos x="579" y="205"/>
                </a:cxn>
                <a:cxn ang="0">
                  <a:pos x="568" y="157"/>
                </a:cxn>
                <a:cxn ang="0">
                  <a:pos x="554" y="130"/>
                </a:cxn>
                <a:cxn ang="0">
                  <a:pos x="566" y="88"/>
                </a:cxn>
                <a:cxn ang="0">
                  <a:pos x="574" y="56"/>
                </a:cxn>
                <a:cxn ang="0">
                  <a:pos x="576" y="35"/>
                </a:cxn>
                <a:cxn ang="0">
                  <a:pos x="539" y="11"/>
                </a:cxn>
                <a:cxn ang="0">
                  <a:pos x="489" y="19"/>
                </a:cxn>
                <a:cxn ang="0">
                  <a:pos x="445" y="31"/>
                </a:cxn>
                <a:cxn ang="0">
                  <a:pos x="414" y="2"/>
                </a:cxn>
                <a:cxn ang="0">
                  <a:pos x="384" y="13"/>
                </a:cxn>
                <a:cxn ang="0">
                  <a:pos x="349" y="4"/>
                </a:cxn>
                <a:cxn ang="0">
                  <a:pos x="319" y="27"/>
                </a:cxn>
                <a:cxn ang="0">
                  <a:pos x="295" y="29"/>
                </a:cxn>
                <a:cxn ang="0">
                  <a:pos x="276" y="52"/>
                </a:cxn>
                <a:cxn ang="0">
                  <a:pos x="265" y="81"/>
                </a:cxn>
                <a:cxn ang="0">
                  <a:pos x="242" y="77"/>
                </a:cxn>
                <a:cxn ang="0">
                  <a:pos x="228" y="79"/>
                </a:cxn>
                <a:cxn ang="0">
                  <a:pos x="213" y="77"/>
                </a:cxn>
                <a:cxn ang="0">
                  <a:pos x="178" y="67"/>
                </a:cxn>
                <a:cxn ang="0">
                  <a:pos x="152" y="48"/>
                </a:cxn>
                <a:cxn ang="0">
                  <a:pos x="113" y="42"/>
                </a:cxn>
                <a:cxn ang="0">
                  <a:pos x="79" y="35"/>
                </a:cxn>
                <a:cxn ang="0">
                  <a:pos x="46" y="23"/>
                </a:cxn>
                <a:cxn ang="0">
                  <a:pos x="0" y="29"/>
                </a:cxn>
              </a:cxnLst>
              <a:rect l="0" t="0" r="r" b="b"/>
              <a:pathLst>
                <a:path w="583" h="422">
                  <a:moveTo>
                    <a:pt x="0" y="29"/>
                  </a:moveTo>
                  <a:lnTo>
                    <a:pt x="0" y="42"/>
                  </a:lnTo>
                  <a:lnTo>
                    <a:pt x="4" y="59"/>
                  </a:lnTo>
                  <a:lnTo>
                    <a:pt x="13" y="73"/>
                  </a:lnTo>
                  <a:lnTo>
                    <a:pt x="6" y="82"/>
                  </a:lnTo>
                  <a:lnTo>
                    <a:pt x="0" y="98"/>
                  </a:lnTo>
                  <a:lnTo>
                    <a:pt x="0" y="121"/>
                  </a:lnTo>
                  <a:lnTo>
                    <a:pt x="2" y="130"/>
                  </a:lnTo>
                  <a:lnTo>
                    <a:pt x="12" y="132"/>
                  </a:lnTo>
                  <a:lnTo>
                    <a:pt x="44" y="134"/>
                  </a:lnTo>
                  <a:lnTo>
                    <a:pt x="65" y="134"/>
                  </a:lnTo>
                  <a:lnTo>
                    <a:pt x="94" y="144"/>
                  </a:lnTo>
                  <a:lnTo>
                    <a:pt x="123" y="148"/>
                  </a:lnTo>
                  <a:lnTo>
                    <a:pt x="157" y="157"/>
                  </a:lnTo>
                  <a:lnTo>
                    <a:pt x="177" y="167"/>
                  </a:lnTo>
                  <a:lnTo>
                    <a:pt x="201" y="182"/>
                  </a:lnTo>
                  <a:lnTo>
                    <a:pt x="242" y="190"/>
                  </a:lnTo>
                  <a:lnTo>
                    <a:pt x="265" y="215"/>
                  </a:lnTo>
                  <a:lnTo>
                    <a:pt x="284" y="240"/>
                  </a:lnTo>
                  <a:lnTo>
                    <a:pt x="311" y="267"/>
                  </a:lnTo>
                  <a:lnTo>
                    <a:pt x="315" y="288"/>
                  </a:lnTo>
                  <a:lnTo>
                    <a:pt x="343" y="303"/>
                  </a:lnTo>
                  <a:lnTo>
                    <a:pt x="368" y="301"/>
                  </a:lnTo>
                  <a:lnTo>
                    <a:pt x="411" y="303"/>
                  </a:lnTo>
                  <a:lnTo>
                    <a:pt x="428" y="322"/>
                  </a:lnTo>
                  <a:lnTo>
                    <a:pt x="416" y="340"/>
                  </a:lnTo>
                  <a:lnTo>
                    <a:pt x="409" y="361"/>
                  </a:lnTo>
                  <a:lnTo>
                    <a:pt x="388" y="376"/>
                  </a:lnTo>
                  <a:lnTo>
                    <a:pt x="384" y="393"/>
                  </a:lnTo>
                  <a:lnTo>
                    <a:pt x="374" y="413"/>
                  </a:lnTo>
                  <a:lnTo>
                    <a:pt x="384" y="422"/>
                  </a:lnTo>
                  <a:lnTo>
                    <a:pt x="393" y="416"/>
                  </a:lnTo>
                  <a:lnTo>
                    <a:pt x="403" y="403"/>
                  </a:lnTo>
                  <a:lnTo>
                    <a:pt x="418" y="409"/>
                  </a:lnTo>
                  <a:lnTo>
                    <a:pt x="426" y="420"/>
                  </a:lnTo>
                  <a:lnTo>
                    <a:pt x="437" y="409"/>
                  </a:lnTo>
                  <a:lnTo>
                    <a:pt x="447" y="397"/>
                  </a:lnTo>
                  <a:lnTo>
                    <a:pt x="457" y="388"/>
                  </a:lnTo>
                  <a:lnTo>
                    <a:pt x="468" y="378"/>
                  </a:lnTo>
                  <a:lnTo>
                    <a:pt x="482" y="368"/>
                  </a:lnTo>
                  <a:lnTo>
                    <a:pt x="493" y="357"/>
                  </a:lnTo>
                  <a:lnTo>
                    <a:pt x="503" y="351"/>
                  </a:lnTo>
                  <a:lnTo>
                    <a:pt x="520" y="347"/>
                  </a:lnTo>
                  <a:lnTo>
                    <a:pt x="531" y="345"/>
                  </a:lnTo>
                  <a:lnTo>
                    <a:pt x="531" y="334"/>
                  </a:lnTo>
                  <a:lnTo>
                    <a:pt x="524" y="326"/>
                  </a:lnTo>
                  <a:lnTo>
                    <a:pt x="516" y="315"/>
                  </a:lnTo>
                  <a:lnTo>
                    <a:pt x="516" y="307"/>
                  </a:lnTo>
                  <a:lnTo>
                    <a:pt x="531" y="305"/>
                  </a:lnTo>
                  <a:lnTo>
                    <a:pt x="537" y="294"/>
                  </a:lnTo>
                  <a:lnTo>
                    <a:pt x="541" y="313"/>
                  </a:lnTo>
                  <a:lnTo>
                    <a:pt x="543" y="315"/>
                  </a:lnTo>
                  <a:lnTo>
                    <a:pt x="551" y="319"/>
                  </a:lnTo>
                  <a:lnTo>
                    <a:pt x="554" y="319"/>
                  </a:lnTo>
                  <a:lnTo>
                    <a:pt x="558" y="319"/>
                  </a:lnTo>
                  <a:lnTo>
                    <a:pt x="560" y="317"/>
                  </a:lnTo>
                  <a:lnTo>
                    <a:pt x="562" y="313"/>
                  </a:lnTo>
                  <a:lnTo>
                    <a:pt x="564" y="301"/>
                  </a:lnTo>
                  <a:lnTo>
                    <a:pt x="564" y="297"/>
                  </a:lnTo>
                  <a:lnTo>
                    <a:pt x="564" y="280"/>
                  </a:lnTo>
                  <a:lnTo>
                    <a:pt x="566" y="265"/>
                  </a:lnTo>
                  <a:lnTo>
                    <a:pt x="572" y="255"/>
                  </a:lnTo>
                  <a:lnTo>
                    <a:pt x="568" y="244"/>
                  </a:lnTo>
                  <a:lnTo>
                    <a:pt x="568" y="230"/>
                  </a:lnTo>
                  <a:lnTo>
                    <a:pt x="574" y="221"/>
                  </a:lnTo>
                  <a:lnTo>
                    <a:pt x="579" y="205"/>
                  </a:lnTo>
                  <a:lnTo>
                    <a:pt x="583" y="186"/>
                  </a:lnTo>
                  <a:lnTo>
                    <a:pt x="576" y="171"/>
                  </a:lnTo>
                  <a:lnTo>
                    <a:pt x="568" y="157"/>
                  </a:lnTo>
                  <a:lnTo>
                    <a:pt x="562" y="152"/>
                  </a:lnTo>
                  <a:lnTo>
                    <a:pt x="560" y="144"/>
                  </a:lnTo>
                  <a:lnTo>
                    <a:pt x="554" y="130"/>
                  </a:lnTo>
                  <a:lnTo>
                    <a:pt x="554" y="115"/>
                  </a:lnTo>
                  <a:lnTo>
                    <a:pt x="556" y="102"/>
                  </a:lnTo>
                  <a:lnTo>
                    <a:pt x="566" y="88"/>
                  </a:lnTo>
                  <a:lnTo>
                    <a:pt x="566" y="77"/>
                  </a:lnTo>
                  <a:lnTo>
                    <a:pt x="568" y="63"/>
                  </a:lnTo>
                  <a:lnTo>
                    <a:pt x="574" y="56"/>
                  </a:lnTo>
                  <a:lnTo>
                    <a:pt x="566" y="48"/>
                  </a:lnTo>
                  <a:lnTo>
                    <a:pt x="578" y="42"/>
                  </a:lnTo>
                  <a:lnTo>
                    <a:pt x="576" y="35"/>
                  </a:lnTo>
                  <a:lnTo>
                    <a:pt x="576" y="23"/>
                  </a:lnTo>
                  <a:lnTo>
                    <a:pt x="560" y="10"/>
                  </a:lnTo>
                  <a:lnTo>
                    <a:pt x="539" y="11"/>
                  </a:lnTo>
                  <a:lnTo>
                    <a:pt x="512" y="4"/>
                  </a:lnTo>
                  <a:lnTo>
                    <a:pt x="503" y="8"/>
                  </a:lnTo>
                  <a:lnTo>
                    <a:pt x="489" y="19"/>
                  </a:lnTo>
                  <a:lnTo>
                    <a:pt x="476" y="29"/>
                  </a:lnTo>
                  <a:lnTo>
                    <a:pt x="464" y="29"/>
                  </a:lnTo>
                  <a:lnTo>
                    <a:pt x="445" y="31"/>
                  </a:lnTo>
                  <a:lnTo>
                    <a:pt x="432" y="21"/>
                  </a:lnTo>
                  <a:lnTo>
                    <a:pt x="424" y="8"/>
                  </a:lnTo>
                  <a:lnTo>
                    <a:pt x="414" y="2"/>
                  </a:lnTo>
                  <a:lnTo>
                    <a:pt x="399" y="4"/>
                  </a:lnTo>
                  <a:lnTo>
                    <a:pt x="393" y="11"/>
                  </a:lnTo>
                  <a:lnTo>
                    <a:pt x="384" y="13"/>
                  </a:lnTo>
                  <a:lnTo>
                    <a:pt x="370" y="10"/>
                  </a:lnTo>
                  <a:lnTo>
                    <a:pt x="363" y="0"/>
                  </a:lnTo>
                  <a:lnTo>
                    <a:pt x="349" y="4"/>
                  </a:lnTo>
                  <a:lnTo>
                    <a:pt x="340" y="17"/>
                  </a:lnTo>
                  <a:lnTo>
                    <a:pt x="334" y="25"/>
                  </a:lnTo>
                  <a:lnTo>
                    <a:pt x="319" y="27"/>
                  </a:lnTo>
                  <a:lnTo>
                    <a:pt x="319" y="38"/>
                  </a:lnTo>
                  <a:lnTo>
                    <a:pt x="309" y="42"/>
                  </a:lnTo>
                  <a:lnTo>
                    <a:pt x="295" y="29"/>
                  </a:lnTo>
                  <a:lnTo>
                    <a:pt x="284" y="29"/>
                  </a:lnTo>
                  <a:lnTo>
                    <a:pt x="276" y="36"/>
                  </a:lnTo>
                  <a:lnTo>
                    <a:pt x="276" y="52"/>
                  </a:lnTo>
                  <a:lnTo>
                    <a:pt x="274" y="65"/>
                  </a:lnTo>
                  <a:lnTo>
                    <a:pt x="274" y="77"/>
                  </a:lnTo>
                  <a:lnTo>
                    <a:pt x="265" y="81"/>
                  </a:lnTo>
                  <a:lnTo>
                    <a:pt x="259" y="86"/>
                  </a:lnTo>
                  <a:lnTo>
                    <a:pt x="248" y="82"/>
                  </a:lnTo>
                  <a:lnTo>
                    <a:pt x="242" y="77"/>
                  </a:lnTo>
                  <a:lnTo>
                    <a:pt x="230" y="77"/>
                  </a:lnTo>
                  <a:lnTo>
                    <a:pt x="230" y="77"/>
                  </a:lnTo>
                  <a:lnTo>
                    <a:pt x="228" y="79"/>
                  </a:lnTo>
                  <a:lnTo>
                    <a:pt x="226" y="81"/>
                  </a:lnTo>
                  <a:lnTo>
                    <a:pt x="223" y="81"/>
                  </a:lnTo>
                  <a:lnTo>
                    <a:pt x="213" y="77"/>
                  </a:lnTo>
                  <a:lnTo>
                    <a:pt x="209" y="75"/>
                  </a:lnTo>
                  <a:lnTo>
                    <a:pt x="196" y="69"/>
                  </a:lnTo>
                  <a:lnTo>
                    <a:pt x="178" y="67"/>
                  </a:lnTo>
                  <a:lnTo>
                    <a:pt x="173" y="56"/>
                  </a:lnTo>
                  <a:lnTo>
                    <a:pt x="163" y="48"/>
                  </a:lnTo>
                  <a:lnTo>
                    <a:pt x="152" y="48"/>
                  </a:lnTo>
                  <a:lnTo>
                    <a:pt x="142" y="50"/>
                  </a:lnTo>
                  <a:lnTo>
                    <a:pt x="127" y="48"/>
                  </a:lnTo>
                  <a:lnTo>
                    <a:pt x="113" y="42"/>
                  </a:lnTo>
                  <a:lnTo>
                    <a:pt x="100" y="44"/>
                  </a:lnTo>
                  <a:lnTo>
                    <a:pt x="90" y="40"/>
                  </a:lnTo>
                  <a:lnTo>
                    <a:pt x="79" y="35"/>
                  </a:lnTo>
                  <a:lnTo>
                    <a:pt x="69" y="29"/>
                  </a:lnTo>
                  <a:lnTo>
                    <a:pt x="58" y="31"/>
                  </a:lnTo>
                  <a:lnTo>
                    <a:pt x="46" y="23"/>
                  </a:lnTo>
                  <a:lnTo>
                    <a:pt x="31" y="25"/>
                  </a:lnTo>
                  <a:lnTo>
                    <a:pt x="13" y="27"/>
                  </a:lnTo>
                  <a:lnTo>
                    <a:pt x="0" y="29"/>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1" name="Freeform 9">
              <a:extLst>
                <a:ext uri="{FF2B5EF4-FFF2-40B4-BE49-F238E27FC236}">
                  <a16:creationId xmlns:a16="http://schemas.microsoft.com/office/drawing/2014/main" id="{5F327479-17EC-9DB0-5604-BA37A19083BE}"/>
                </a:ext>
              </a:extLst>
            </p:cNvPr>
            <p:cNvSpPr>
              <a:spLocks noChangeAspect="1"/>
            </p:cNvSpPr>
            <p:nvPr/>
          </p:nvSpPr>
          <p:spPr bwMode="auto">
            <a:xfrm>
              <a:off x="6916254" y="4703628"/>
              <a:ext cx="600702" cy="438733"/>
            </a:xfrm>
            <a:custGeom>
              <a:avLst/>
              <a:gdLst/>
              <a:ahLst/>
              <a:cxnLst>
                <a:cxn ang="0">
                  <a:pos x="9" y="347"/>
                </a:cxn>
                <a:cxn ang="0">
                  <a:pos x="29" y="278"/>
                </a:cxn>
                <a:cxn ang="0">
                  <a:pos x="36" y="215"/>
                </a:cxn>
                <a:cxn ang="0">
                  <a:pos x="65" y="155"/>
                </a:cxn>
                <a:cxn ang="0">
                  <a:pos x="94" y="102"/>
                </a:cxn>
                <a:cxn ang="0">
                  <a:pos x="123" y="42"/>
                </a:cxn>
                <a:cxn ang="0">
                  <a:pos x="172" y="17"/>
                </a:cxn>
                <a:cxn ang="0">
                  <a:pos x="226" y="11"/>
                </a:cxn>
                <a:cxn ang="0">
                  <a:pos x="274" y="10"/>
                </a:cxn>
                <a:cxn ang="0">
                  <a:pos x="303" y="8"/>
                </a:cxn>
                <a:cxn ang="0">
                  <a:pos x="337" y="15"/>
                </a:cxn>
                <a:cxn ang="0">
                  <a:pos x="387" y="27"/>
                </a:cxn>
                <a:cxn ang="0">
                  <a:pos x="433" y="61"/>
                </a:cxn>
                <a:cxn ang="0">
                  <a:pos x="483" y="77"/>
                </a:cxn>
                <a:cxn ang="0">
                  <a:pos x="537" y="77"/>
                </a:cxn>
                <a:cxn ang="0">
                  <a:pos x="566" y="117"/>
                </a:cxn>
                <a:cxn ang="0">
                  <a:pos x="575" y="163"/>
                </a:cxn>
                <a:cxn ang="0">
                  <a:pos x="573" y="215"/>
                </a:cxn>
                <a:cxn ang="0">
                  <a:pos x="587" y="225"/>
                </a:cxn>
                <a:cxn ang="0">
                  <a:pos x="598" y="232"/>
                </a:cxn>
                <a:cxn ang="0">
                  <a:pos x="602" y="278"/>
                </a:cxn>
                <a:cxn ang="0">
                  <a:pos x="631" y="294"/>
                </a:cxn>
                <a:cxn ang="0">
                  <a:pos x="687" y="296"/>
                </a:cxn>
                <a:cxn ang="0">
                  <a:pos x="687" y="338"/>
                </a:cxn>
                <a:cxn ang="0">
                  <a:pos x="727" y="363"/>
                </a:cxn>
                <a:cxn ang="0">
                  <a:pos x="721" y="391"/>
                </a:cxn>
                <a:cxn ang="0">
                  <a:pos x="683" y="424"/>
                </a:cxn>
                <a:cxn ang="0">
                  <a:pos x="669" y="472"/>
                </a:cxn>
                <a:cxn ang="0">
                  <a:pos x="648" y="461"/>
                </a:cxn>
                <a:cxn ang="0">
                  <a:pos x="591" y="459"/>
                </a:cxn>
                <a:cxn ang="0">
                  <a:pos x="552" y="480"/>
                </a:cxn>
                <a:cxn ang="0">
                  <a:pos x="512" y="459"/>
                </a:cxn>
                <a:cxn ang="0">
                  <a:pos x="481" y="462"/>
                </a:cxn>
                <a:cxn ang="0">
                  <a:pos x="451" y="451"/>
                </a:cxn>
                <a:cxn ang="0">
                  <a:pos x="422" y="476"/>
                </a:cxn>
                <a:cxn ang="0">
                  <a:pos x="397" y="493"/>
                </a:cxn>
                <a:cxn ang="0">
                  <a:pos x="364" y="487"/>
                </a:cxn>
                <a:cxn ang="0">
                  <a:pos x="362" y="528"/>
                </a:cxn>
                <a:cxn ang="0">
                  <a:pos x="336" y="533"/>
                </a:cxn>
                <a:cxn ang="0">
                  <a:pos x="318" y="528"/>
                </a:cxn>
                <a:cxn ang="0">
                  <a:pos x="311" y="532"/>
                </a:cxn>
                <a:cxn ang="0">
                  <a:pos x="284" y="520"/>
                </a:cxn>
                <a:cxn ang="0">
                  <a:pos x="251" y="499"/>
                </a:cxn>
                <a:cxn ang="0">
                  <a:pos x="215" y="499"/>
                </a:cxn>
                <a:cxn ang="0">
                  <a:pos x="178" y="491"/>
                </a:cxn>
                <a:cxn ang="0">
                  <a:pos x="146" y="482"/>
                </a:cxn>
                <a:cxn ang="0">
                  <a:pos x="101" y="478"/>
                </a:cxn>
                <a:cxn ang="0">
                  <a:pos x="82" y="455"/>
                </a:cxn>
                <a:cxn ang="0">
                  <a:pos x="71" y="415"/>
                </a:cxn>
                <a:cxn ang="0">
                  <a:pos x="36" y="384"/>
                </a:cxn>
                <a:cxn ang="0">
                  <a:pos x="2" y="391"/>
                </a:cxn>
              </a:cxnLst>
              <a:rect l="0" t="0" r="r" b="b"/>
              <a:pathLst>
                <a:path w="735" h="537">
                  <a:moveTo>
                    <a:pt x="2" y="391"/>
                  </a:moveTo>
                  <a:lnTo>
                    <a:pt x="0" y="365"/>
                  </a:lnTo>
                  <a:lnTo>
                    <a:pt x="9" y="347"/>
                  </a:lnTo>
                  <a:lnTo>
                    <a:pt x="17" y="328"/>
                  </a:lnTo>
                  <a:lnTo>
                    <a:pt x="19" y="296"/>
                  </a:lnTo>
                  <a:lnTo>
                    <a:pt x="29" y="278"/>
                  </a:lnTo>
                  <a:lnTo>
                    <a:pt x="36" y="253"/>
                  </a:lnTo>
                  <a:lnTo>
                    <a:pt x="40" y="230"/>
                  </a:lnTo>
                  <a:lnTo>
                    <a:pt x="36" y="215"/>
                  </a:lnTo>
                  <a:lnTo>
                    <a:pt x="40" y="188"/>
                  </a:lnTo>
                  <a:lnTo>
                    <a:pt x="52" y="163"/>
                  </a:lnTo>
                  <a:lnTo>
                    <a:pt x="65" y="155"/>
                  </a:lnTo>
                  <a:lnTo>
                    <a:pt x="75" y="134"/>
                  </a:lnTo>
                  <a:lnTo>
                    <a:pt x="80" y="117"/>
                  </a:lnTo>
                  <a:lnTo>
                    <a:pt x="94" y="102"/>
                  </a:lnTo>
                  <a:lnTo>
                    <a:pt x="98" y="82"/>
                  </a:lnTo>
                  <a:lnTo>
                    <a:pt x="109" y="58"/>
                  </a:lnTo>
                  <a:lnTo>
                    <a:pt x="123" y="42"/>
                  </a:lnTo>
                  <a:lnTo>
                    <a:pt x="140" y="40"/>
                  </a:lnTo>
                  <a:lnTo>
                    <a:pt x="153" y="23"/>
                  </a:lnTo>
                  <a:lnTo>
                    <a:pt x="172" y="17"/>
                  </a:lnTo>
                  <a:lnTo>
                    <a:pt x="186" y="10"/>
                  </a:lnTo>
                  <a:lnTo>
                    <a:pt x="201" y="8"/>
                  </a:lnTo>
                  <a:lnTo>
                    <a:pt x="226" y="11"/>
                  </a:lnTo>
                  <a:lnTo>
                    <a:pt x="245" y="11"/>
                  </a:lnTo>
                  <a:lnTo>
                    <a:pt x="261" y="13"/>
                  </a:lnTo>
                  <a:lnTo>
                    <a:pt x="274" y="10"/>
                  </a:lnTo>
                  <a:lnTo>
                    <a:pt x="284" y="0"/>
                  </a:lnTo>
                  <a:lnTo>
                    <a:pt x="295" y="2"/>
                  </a:lnTo>
                  <a:lnTo>
                    <a:pt x="303" y="8"/>
                  </a:lnTo>
                  <a:lnTo>
                    <a:pt x="309" y="15"/>
                  </a:lnTo>
                  <a:lnTo>
                    <a:pt x="320" y="13"/>
                  </a:lnTo>
                  <a:lnTo>
                    <a:pt x="337" y="15"/>
                  </a:lnTo>
                  <a:lnTo>
                    <a:pt x="353" y="21"/>
                  </a:lnTo>
                  <a:lnTo>
                    <a:pt x="370" y="21"/>
                  </a:lnTo>
                  <a:lnTo>
                    <a:pt x="387" y="27"/>
                  </a:lnTo>
                  <a:lnTo>
                    <a:pt x="407" y="38"/>
                  </a:lnTo>
                  <a:lnTo>
                    <a:pt x="418" y="48"/>
                  </a:lnTo>
                  <a:lnTo>
                    <a:pt x="433" y="61"/>
                  </a:lnTo>
                  <a:lnTo>
                    <a:pt x="443" y="67"/>
                  </a:lnTo>
                  <a:lnTo>
                    <a:pt x="456" y="75"/>
                  </a:lnTo>
                  <a:lnTo>
                    <a:pt x="483" y="77"/>
                  </a:lnTo>
                  <a:lnTo>
                    <a:pt x="497" y="75"/>
                  </a:lnTo>
                  <a:lnTo>
                    <a:pt x="514" y="75"/>
                  </a:lnTo>
                  <a:lnTo>
                    <a:pt x="537" y="77"/>
                  </a:lnTo>
                  <a:lnTo>
                    <a:pt x="550" y="90"/>
                  </a:lnTo>
                  <a:lnTo>
                    <a:pt x="556" y="102"/>
                  </a:lnTo>
                  <a:lnTo>
                    <a:pt x="566" y="117"/>
                  </a:lnTo>
                  <a:lnTo>
                    <a:pt x="575" y="130"/>
                  </a:lnTo>
                  <a:lnTo>
                    <a:pt x="575" y="144"/>
                  </a:lnTo>
                  <a:lnTo>
                    <a:pt x="575" y="163"/>
                  </a:lnTo>
                  <a:lnTo>
                    <a:pt x="572" y="180"/>
                  </a:lnTo>
                  <a:lnTo>
                    <a:pt x="573" y="200"/>
                  </a:lnTo>
                  <a:lnTo>
                    <a:pt x="573" y="215"/>
                  </a:lnTo>
                  <a:lnTo>
                    <a:pt x="573" y="223"/>
                  </a:lnTo>
                  <a:lnTo>
                    <a:pt x="585" y="225"/>
                  </a:lnTo>
                  <a:lnTo>
                    <a:pt x="587" y="225"/>
                  </a:lnTo>
                  <a:lnTo>
                    <a:pt x="591" y="226"/>
                  </a:lnTo>
                  <a:lnTo>
                    <a:pt x="596" y="228"/>
                  </a:lnTo>
                  <a:lnTo>
                    <a:pt x="598" y="232"/>
                  </a:lnTo>
                  <a:lnTo>
                    <a:pt x="600" y="244"/>
                  </a:lnTo>
                  <a:lnTo>
                    <a:pt x="600" y="253"/>
                  </a:lnTo>
                  <a:lnTo>
                    <a:pt x="602" y="278"/>
                  </a:lnTo>
                  <a:lnTo>
                    <a:pt x="608" y="290"/>
                  </a:lnTo>
                  <a:lnTo>
                    <a:pt x="619" y="292"/>
                  </a:lnTo>
                  <a:lnTo>
                    <a:pt x="631" y="294"/>
                  </a:lnTo>
                  <a:lnTo>
                    <a:pt x="648" y="296"/>
                  </a:lnTo>
                  <a:lnTo>
                    <a:pt x="669" y="296"/>
                  </a:lnTo>
                  <a:lnTo>
                    <a:pt x="687" y="296"/>
                  </a:lnTo>
                  <a:lnTo>
                    <a:pt x="698" y="313"/>
                  </a:lnTo>
                  <a:lnTo>
                    <a:pt x="689" y="322"/>
                  </a:lnTo>
                  <a:lnTo>
                    <a:pt x="687" y="338"/>
                  </a:lnTo>
                  <a:lnTo>
                    <a:pt x="702" y="347"/>
                  </a:lnTo>
                  <a:lnTo>
                    <a:pt x="717" y="345"/>
                  </a:lnTo>
                  <a:lnTo>
                    <a:pt x="727" y="363"/>
                  </a:lnTo>
                  <a:lnTo>
                    <a:pt x="735" y="370"/>
                  </a:lnTo>
                  <a:lnTo>
                    <a:pt x="733" y="384"/>
                  </a:lnTo>
                  <a:lnTo>
                    <a:pt x="721" y="391"/>
                  </a:lnTo>
                  <a:lnTo>
                    <a:pt x="708" y="401"/>
                  </a:lnTo>
                  <a:lnTo>
                    <a:pt x="696" y="416"/>
                  </a:lnTo>
                  <a:lnTo>
                    <a:pt x="683" y="424"/>
                  </a:lnTo>
                  <a:lnTo>
                    <a:pt x="669" y="439"/>
                  </a:lnTo>
                  <a:lnTo>
                    <a:pt x="671" y="455"/>
                  </a:lnTo>
                  <a:lnTo>
                    <a:pt x="669" y="472"/>
                  </a:lnTo>
                  <a:lnTo>
                    <a:pt x="664" y="476"/>
                  </a:lnTo>
                  <a:lnTo>
                    <a:pt x="664" y="474"/>
                  </a:lnTo>
                  <a:lnTo>
                    <a:pt x="648" y="461"/>
                  </a:lnTo>
                  <a:lnTo>
                    <a:pt x="627" y="462"/>
                  </a:lnTo>
                  <a:lnTo>
                    <a:pt x="600" y="455"/>
                  </a:lnTo>
                  <a:lnTo>
                    <a:pt x="591" y="459"/>
                  </a:lnTo>
                  <a:lnTo>
                    <a:pt x="577" y="470"/>
                  </a:lnTo>
                  <a:lnTo>
                    <a:pt x="564" y="480"/>
                  </a:lnTo>
                  <a:lnTo>
                    <a:pt x="552" y="480"/>
                  </a:lnTo>
                  <a:lnTo>
                    <a:pt x="533" y="482"/>
                  </a:lnTo>
                  <a:lnTo>
                    <a:pt x="520" y="472"/>
                  </a:lnTo>
                  <a:lnTo>
                    <a:pt x="512" y="459"/>
                  </a:lnTo>
                  <a:lnTo>
                    <a:pt x="502" y="453"/>
                  </a:lnTo>
                  <a:lnTo>
                    <a:pt x="487" y="455"/>
                  </a:lnTo>
                  <a:lnTo>
                    <a:pt x="481" y="462"/>
                  </a:lnTo>
                  <a:lnTo>
                    <a:pt x="472" y="464"/>
                  </a:lnTo>
                  <a:lnTo>
                    <a:pt x="458" y="461"/>
                  </a:lnTo>
                  <a:lnTo>
                    <a:pt x="451" y="451"/>
                  </a:lnTo>
                  <a:lnTo>
                    <a:pt x="437" y="455"/>
                  </a:lnTo>
                  <a:lnTo>
                    <a:pt x="428" y="468"/>
                  </a:lnTo>
                  <a:lnTo>
                    <a:pt x="422" y="476"/>
                  </a:lnTo>
                  <a:lnTo>
                    <a:pt x="407" y="478"/>
                  </a:lnTo>
                  <a:lnTo>
                    <a:pt x="407" y="489"/>
                  </a:lnTo>
                  <a:lnTo>
                    <a:pt x="397" y="493"/>
                  </a:lnTo>
                  <a:lnTo>
                    <a:pt x="383" y="480"/>
                  </a:lnTo>
                  <a:lnTo>
                    <a:pt x="372" y="480"/>
                  </a:lnTo>
                  <a:lnTo>
                    <a:pt x="364" y="487"/>
                  </a:lnTo>
                  <a:lnTo>
                    <a:pt x="364" y="503"/>
                  </a:lnTo>
                  <a:lnTo>
                    <a:pt x="362" y="516"/>
                  </a:lnTo>
                  <a:lnTo>
                    <a:pt x="362" y="528"/>
                  </a:lnTo>
                  <a:lnTo>
                    <a:pt x="353" y="532"/>
                  </a:lnTo>
                  <a:lnTo>
                    <a:pt x="347" y="537"/>
                  </a:lnTo>
                  <a:lnTo>
                    <a:pt x="336" y="533"/>
                  </a:lnTo>
                  <a:lnTo>
                    <a:pt x="330" y="528"/>
                  </a:lnTo>
                  <a:lnTo>
                    <a:pt x="318" y="528"/>
                  </a:lnTo>
                  <a:lnTo>
                    <a:pt x="318" y="528"/>
                  </a:lnTo>
                  <a:lnTo>
                    <a:pt x="316" y="530"/>
                  </a:lnTo>
                  <a:lnTo>
                    <a:pt x="314" y="532"/>
                  </a:lnTo>
                  <a:lnTo>
                    <a:pt x="311" y="532"/>
                  </a:lnTo>
                  <a:lnTo>
                    <a:pt x="301" y="528"/>
                  </a:lnTo>
                  <a:lnTo>
                    <a:pt x="297" y="526"/>
                  </a:lnTo>
                  <a:lnTo>
                    <a:pt x="284" y="520"/>
                  </a:lnTo>
                  <a:lnTo>
                    <a:pt x="266" y="518"/>
                  </a:lnTo>
                  <a:lnTo>
                    <a:pt x="261" y="507"/>
                  </a:lnTo>
                  <a:lnTo>
                    <a:pt x="251" y="499"/>
                  </a:lnTo>
                  <a:lnTo>
                    <a:pt x="240" y="499"/>
                  </a:lnTo>
                  <a:lnTo>
                    <a:pt x="230" y="501"/>
                  </a:lnTo>
                  <a:lnTo>
                    <a:pt x="215" y="499"/>
                  </a:lnTo>
                  <a:lnTo>
                    <a:pt x="201" y="493"/>
                  </a:lnTo>
                  <a:lnTo>
                    <a:pt x="188" y="495"/>
                  </a:lnTo>
                  <a:lnTo>
                    <a:pt x="178" y="491"/>
                  </a:lnTo>
                  <a:lnTo>
                    <a:pt x="167" y="486"/>
                  </a:lnTo>
                  <a:lnTo>
                    <a:pt x="157" y="480"/>
                  </a:lnTo>
                  <a:lnTo>
                    <a:pt x="146" y="482"/>
                  </a:lnTo>
                  <a:lnTo>
                    <a:pt x="134" y="474"/>
                  </a:lnTo>
                  <a:lnTo>
                    <a:pt x="119" y="476"/>
                  </a:lnTo>
                  <a:lnTo>
                    <a:pt x="101" y="478"/>
                  </a:lnTo>
                  <a:lnTo>
                    <a:pt x="88" y="480"/>
                  </a:lnTo>
                  <a:lnTo>
                    <a:pt x="84" y="470"/>
                  </a:lnTo>
                  <a:lnTo>
                    <a:pt x="82" y="455"/>
                  </a:lnTo>
                  <a:lnTo>
                    <a:pt x="75" y="445"/>
                  </a:lnTo>
                  <a:lnTo>
                    <a:pt x="73" y="426"/>
                  </a:lnTo>
                  <a:lnTo>
                    <a:pt x="71" y="415"/>
                  </a:lnTo>
                  <a:lnTo>
                    <a:pt x="57" y="405"/>
                  </a:lnTo>
                  <a:lnTo>
                    <a:pt x="52" y="393"/>
                  </a:lnTo>
                  <a:lnTo>
                    <a:pt x="36" y="384"/>
                  </a:lnTo>
                  <a:lnTo>
                    <a:pt x="25" y="386"/>
                  </a:lnTo>
                  <a:lnTo>
                    <a:pt x="13" y="386"/>
                  </a:lnTo>
                  <a:lnTo>
                    <a:pt x="2" y="391"/>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2" name="Freeform 10">
              <a:extLst>
                <a:ext uri="{FF2B5EF4-FFF2-40B4-BE49-F238E27FC236}">
                  <a16:creationId xmlns:a16="http://schemas.microsoft.com/office/drawing/2014/main" id="{7D111534-625A-E8B7-F598-3E17A1B4E4C9}"/>
                </a:ext>
              </a:extLst>
            </p:cNvPr>
            <p:cNvSpPr>
              <a:spLocks noChangeAspect="1"/>
            </p:cNvSpPr>
            <p:nvPr/>
          </p:nvSpPr>
          <p:spPr bwMode="auto">
            <a:xfrm>
              <a:off x="8138613" y="4332392"/>
              <a:ext cx="245636" cy="330505"/>
            </a:xfrm>
            <a:custGeom>
              <a:avLst/>
              <a:gdLst/>
              <a:ahLst/>
              <a:cxnLst>
                <a:cxn ang="0">
                  <a:pos x="277" y="205"/>
                </a:cxn>
                <a:cxn ang="0">
                  <a:pos x="271" y="217"/>
                </a:cxn>
                <a:cxn ang="0">
                  <a:pos x="252" y="232"/>
                </a:cxn>
                <a:cxn ang="0">
                  <a:pos x="229" y="250"/>
                </a:cxn>
                <a:cxn ang="0">
                  <a:pos x="211" y="278"/>
                </a:cxn>
                <a:cxn ang="0">
                  <a:pos x="196" y="300"/>
                </a:cxn>
                <a:cxn ang="0">
                  <a:pos x="188" y="330"/>
                </a:cxn>
                <a:cxn ang="0">
                  <a:pos x="169" y="351"/>
                </a:cxn>
                <a:cxn ang="0">
                  <a:pos x="156" y="374"/>
                </a:cxn>
                <a:cxn ang="0">
                  <a:pos x="133" y="371"/>
                </a:cxn>
                <a:cxn ang="0">
                  <a:pos x="119" y="390"/>
                </a:cxn>
                <a:cxn ang="0">
                  <a:pos x="106" y="405"/>
                </a:cxn>
                <a:cxn ang="0">
                  <a:pos x="96" y="397"/>
                </a:cxn>
                <a:cxn ang="0">
                  <a:pos x="79" y="384"/>
                </a:cxn>
                <a:cxn ang="0">
                  <a:pos x="41" y="380"/>
                </a:cxn>
                <a:cxn ang="0">
                  <a:pos x="25" y="372"/>
                </a:cxn>
                <a:cxn ang="0">
                  <a:pos x="25" y="346"/>
                </a:cxn>
                <a:cxn ang="0">
                  <a:pos x="0" y="338"/>
                </a:cxn>
                <a:cxn ang="0">
                  <a:pos x="6" y="319"/>
                </a:cxn>
                <a:cxn ang="0">
                  <a:pos x="12" y="290"/>
                </a:cxn>
                <a:cxn ang="0">
                  <a:pos x="29" y="271"/>
                </a:cxn>
                <a:cxn ang="0">
                  <a:pos x="62" y="267"/>
                </a:cxn>
                <a:cxn ang="0">
                  <a:pos x="85" y="242"/>
                </a:cxn>
                <a:cxn ang="0">
                  <a:pos x="104" y="217"/>
                </a:cxn>
                <a:cxn ang="0">
                  <a:pos x="127" y="204"/>
                </a:cxn>
                <a:cxn ang="0">
                  <a:pos x="140" y="186"/>
                </a:cxn>
                <a:cxn ang="0">
                  <a:pos x="133" y="157"/>
                </a:cxn>
                <a:cxn ang="0">
                  <a:pos x="115" y="136"/>
                </a:cxn>
                <a:cxn ang="0">
                  <a:pos x="125" y="113"/>
                </a:cxn>
                <a:cxn ang="0">
                  <a:pos x="135" y="88"/>
                </a:cxn>
                <a:cxn ang="0">
                  <a:pos x="123" y="69"/>
                </a:cxn>
                <a:cxn ang="0">
                  <a:pos x="110" y="50"/>
                </a:cxn>
                <a:cxn ang="0">
                  <a:pos x="119" y="29"/>
                </a:cxn>
                <a:cxn ang="0">
                  <a:pos x="142" y="21"/>
                </a:cxn>
                <a:cxn ang="0">
                  <a:pos x="148" y="4"/>
                </a:cxn>
                <a:cxn ang="0">
                  <a:pos x="192" y="6"/>
                </a:cxn>
                <a:cxn ang="0">
                  <a:pos x="225" y="4"/>
                </a:cxn>
                <a:cxn ang="0">
                  <a:pos x="252" y="33"/>
                </a:cxn>
                <a:cxn ang="0">
                  <a:pos x="284" y="60"/>
                </a:cxn>
                <a:cxn ang="0">
                  <a:pos x="300" y="83"/>
                </a:cxn>
                <a:cxn ang="0">
                  <a:pos x="288" y="125"/>
                </a:cxn>
                <a:cxn ang="0">
                  <a:pos x="286" y="154"/>
                </a:cxn>
                <a:cxn ang="0">
                  <a:pos x="294" y="186"/>
                </a:cxn>
                <a:cxn ang="0">
                  <a:pos x="286" y="205"/>
                </a:cxn>
              </a:cxnLst>
              <a:rect l="0" t="0" r="r" b="b"/>
              <a:pathLst>
                <a:path w="300" h="405">
                  <a:moveTo>
                    <a:pt x="286" y="205"/>
                  </a:moveTo>
                  <a:lnTo>
                    <a:pt x="277" y="205"/>
                  </a:lnTo>
                  <a:lnTo>
                    <a:pt x="261" y="207"/>
                  </a:lnTo>
                  <a:lnTo>
                    <a:pt x="271" y="217"/>
                  </a:lnTo>
                  <a:lnTo>
                    <a:pt x="259" y="223"/>
                  </a:lnTo>
                  <a:lnTo>
                    <a:pt x="252" y="232"/>
                  </a:lnTo>
                  <a:lnTo>
                    <a:pt x="238" y="232"/>
                  </a:lnTo>
                  <a:lnTo>
                    <a:pt x="229" y="250"/>
                  </a:lnTo>
                  <a:lnTo>
                    <a:pt x="221" y="265"/>
                  </a:lnTo>
                  <a:lnTo>
                    <a:pt x="211" y="278"/>
                  </a:lnTo>
                  <a:lnTo>
                    <a:pt x="202" y="284"/>
                  </a:lnTo>
                  <a:lnTo>
                    <a:pt x="196" y="300"/>
                  </a:lnTo>
                  <a:lnTo>
                    <a:pt x="196" y="317"/>
                  </a:lnTo>
                  <a:lnTo>
                    <a:pt x="188" y="330"/>
                  </a:lnTo>
                  <a:lnTo>
                    <a:pt x="175" y="338"/>
                  </a:lnTo>
                  <a:lnTo>
                    <a:pt x="169" y="351"/>
                  </a:lnTo>
                  <a:lnTo>
                    <a:pt x="156" y="361"/>
                  </a:lnTo>
                  <a:lnTo>
                    <a:pt x="156" y="374"/>
                  </a:lnTo>
                  <a:lnTo>
                    <a:pt x="144" y="374"/>
                  </a:lnTo>
                  <a:lnTo>
                    <a:pt x="133" y="371"/>
                  </a:lnTo>
                  <a:lnTo>
                    <a:pt x="117" y="378"/>
                  </a:lnTo>
                  <a:lnTo>
                    <a:pt x="119" y="390"/>
                  </a:lnTo>
                  <a:lnTo>
                    <a:pt x="110" y="403"/>
                  </a:lnTo>
                  <a:lnTo>
                    <a:pt x="106" y="405"/>
                  </a:lnTo>
                  <a:lnTo>
                    <a:pt x="106" y="403"/>
                  </a:lnTo>
                  <a:lnTo>
                    <a:pt x="96" y="397"/>
                  </a:lnTo>
                  <a:lnTo>
                    <a:pt x="87" y="395"/>
                  </a:lnTo>
                  <a:lnTo>
                    <a:pt x="79" y="384"/>
                  </a:lnTo>
                  <a:lnTo>
                    <a:pt x="60" y="382"/>
                  </a:lnTo>
                  <a:lnTo>
                    <a:pt x="41" y="380"/>
                  </a:lnTo>
                  <a:lnTo>
                    <a:pt x="31" y="378"/>
                  </a:lnTo>
                  <a:lnTo>
                    <a:pt x="25" y="372"/>
                  </a:lnTo>
                  <a:lnTo>
                    <a:pt x="25" y="363"/>
                  </a:lnTo>
                  <a:lnTo>
                    <a:pt x="25" y="346"/>
                  </a:lnTo>
                  <a:lnTo>
                    <a:pt x="8" y="340"/>
                  </a:lnTo>
                  <a:lnTo>
                    <a:pt x="0" y="338"/>
                  </a:lnTo>
                  <a:lnTo>
                    <a:pt x="2" y="334"/>
                  </a:lnTo>
                  <a:lnTo>
                    <a:pt x="6" y="319"/>
                  </a:lnTo>
                  <a:lnTo>
                    <a:pt x="12" y="305"/>
                  </a:lnTo>
                  <a:lnTo>
                    <a:pt x="12" y="290"/>
                  </a:lnTo>
                  <a:lnTo>
                    <a:pt x="21" y="280"/>
                  </a:lnTo>
                  <a:lnTo>
                    <a:pt x="29" y="271"/>
                  </a:lnTo>
                  <a:lnTo>
                    <a:pt x="46" y="271"/>
                  </a:lnTo>
                  <a:lnTo>
                    <a:pt x="62" y="267"/>
                  </a:lnTo>
                  <a:lnTo>
                    <a:pt x="73" y="255"/>
                  </a:lnTo>
                  <a:lnTo>
                    <a:pt x="85" y="242"/>
                  </a:lnTo>
                  <a:lnTo>
                    <a:pt x="92" y="230"/>
                  </a:lnTo>
                  <a:lnTo>
                    <a:pt x="104" y="217"/>
                  </a:lnTo>
                  <a:lnTo>
                    <a:pt x="121" y="217"/>
                  </a:lnTo>
                  <a:lnTo>
                    <a:pt x="127" y="204"/>
                  </a:lnTo>
                  <a:lnTo>
                    <a:pt x="127" y="192"/>
                  </a:lnTo>
                  <a:lnTo>
                    <a:pt x="140" y="186"/>
                  </a:lnTo>
                  <a:lnTo>
                    <a:pt x="140" y="169"/>
                  </a:lnTo>
                  <a:lnTo>
                    <a:pt x="133" y="157"/>
                  </a:lnTo>
                  <a:lnTo>
                    <a:pt x="131" y="148"/>
                  </a:lnTo>
                  <a:lnTo>
                    <a:pt x="115" y="136"/>
                  </a:lnTo>
                  <a:lnTo>
                    <a:pt x="117" y="123"/>
                  </a:lnTo>
                  <a:lnTo>
                    <a:pt x="125" y="113"/>
                  </a:lnTo>
                  <a:lnTo>
                    <a:pt x="135" y="110"/>
                  </a:lnTo>
                  <a:lnTo>
                    <a:pt x="135" y="88"/>
                  </a:lnTo>
                  <a:lnTo>
                    <a:pt x="123" y="81"/>
                  </a:lnTo>
                  <a:lnTo>
                    <a:pt x="123" y="69"/>
                  </a:lnTo>
                  <a:lnTo>
                    <a:pt x="110" y="63"/>
                  </a:lnTo>
                  <a:lnTo>
                    <a:pt x="110" y="50"/>
                  </a:lnTo>
                  <a:lnTo>
                    <a:pt x="119" y="44"/>
                  </a:lnTo>
                  <a:lnTo>
                    <a:pt x="119" y="29"/>
                  </a:lnTo>
                  <a:lnTo>
                    <a:pt x="131" y="21"/>
                  </a:lnTo>
                  <a:lnTo>
                    <a:pt x="142" y="21"/>
                  </a:lnTo>
                  <a:lnTo>
                    <a:pt x="142" y="10"/>
                  </a:lnTo>
                  <a:lnTo>
                    <a:pt x="148" y="4"/>
                  </a:lnTo>
                  <a:lnTo>
                    <a:pt x="169" y="4"/>
                  </a:lnTo>
                  <a:lnTo>
                    <a:pt x="192" y="6"/>
                  </a:lnTo>
                  <a:lnTo>
                    <a:pt x="211" y="0"/>
                  </a:lnTo>
                  <a:lnTo>
                    <a:pt x="225" y="4"/>
                  </a:lnTo>
                  <a:lnTo>
                    <a:pt x="232" y="21"/>
                  </a:lnTo>
                  <a:lnTo>
                    <a:pt x="252" y="33"/>
                  </a:lnTo>
                  <a:lnTo>
                    <a:pt x="271" y="44"/>
                  </a:lnTo>
                  <a:lnTo>
                    <a:pt x="284" y="60"/>
                  </a:lnTo>
                  <a:lnTo>
                    <a:pt x="300" y="65"/>
                  </a:lnTo>
                  <a:lnTo>
                    <a:pt x="300" y="83"/>
                  </a:lnTo>
                  <a:lnTo>
                    <a:pt x="292" y="104"/>
                  </a:lnTo>
                  <a:lnTo>
                    <a:pt x="288" y="125"/>
                  </a:lnTo>
                  <a:lnTo>
                    <a:pt x="292" y="142"/>
                  </a:lnTo>
                  <a:lnTo>
                    <a:pt x="286" y="154"/>
                  </a:lnTo>
                  <a:lnTo>
                    <a:pt x="286" y="175"/>
                  </a:lnTo>
                  <a:lnTo>
                    <a:pt x="294" y="186"/>
                  </a:lnTo>
                  <a:lnTo>
                    <a:pt x="292" y="198"/>
                  </a:lnTo>
                  <a:lnTo>
                    <a:pt x="286" y="205"/>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4" name="Freeform 11">
              <a:extLst>
                <a:ext uri="{FF2B5EF4-FFF2-40B4-BE49-F238E27FC236}">
                  <a16:creationId xmlns:a16="http://schemas.microsoft.com/office/drawing/2014/main" id="{708A0CA5-9AFB-1586-FC49-D525A27C54AA}"/>
                </a:ext>
              </a:extLst>
            </p:cNvPr>
            <p:cNvSpPr>
              <a:spLocks noChangeAspect="1"/>
            </p:cNvSpPr>
            <p:nvPr/>
          </p:nvSpPr>
          <p:spPr bwMode="auto">
            <a:xfrm>
              <a:off x="8601944" y="3417684"/>
              <a:ext cx="311992" cy="299084"/>
            </a:xfrm>
            <a:custGeom>
              <a:avLst/>
              <a:gdLst/>
              <a:ahLst/>
              <a:cxnLst>
                <a:cxn ang="0">
                  <a:pos x="311" y="133"/>
                </a:cxn>
                <a:cxn ang="0">
                  <a:pos x="340" y="123"/>
                </a:cxn>
                <a:cxn ang="0">
                  <a:pos x="367" y="98"/>
                </a:cxn>
                <a:cxn ang="0">
                  <a:pos x="371" y="62"/>
                </a:cxn>
                <a:cxn ang="0">
                  <a:pos x="372" y="41"/>
                </a:cxn>
                <a:cxn ang="0">
                  <a:pos x="325" y="25"/>
                </a:cxn>
                <a:cxn ang="0">
                  <a:pos x="275" y="33"/>
                </a:cxn>
                <a:cxn ang="0">
                  <a:pos x="259" y="62"/>
                </a:cxn>
                <a:cxn ang="0">
                  <a:pos x="225" y="67"/>
                </a:cxn>
                <a:cxn ang="0">
                  <a:pos x="206" y="83"/>
                </a:cxn>
                <a:cxn ang="0">
                  <a:pos x="175" y="73"/>
                </a:cxn>
                <a:cxn ang="0">
                  <a:pos x="158" y="85"/>
                </a:cxn>
                <a:cxn ang="0">
                  <a:pos x="117" y="58"/>
                </a:cxn>
                <a:cxn ang="0">
                  <a:pos x="90" y="27"/>
                </a:cxn>
                <a:cxn ang="0">
                  <a:pos x="71" y="0"/>
                </a:cxn>
                <a:cxn ang="0">
                  <a:pos x="50" y="25"/>
                </a:cxn>
                <a:cxn ang="0">
                  <a:pos x="16" y="44"/>
                </a:cxn>
                <a:cxn ang="0">
                  <a:pos x="12" y="69"/>
                </a:cxn>
                <a:cxn ang="0">
                  <a:pos x="27" y="112"/>
                </a:cxn>
                <a:cxn ang="0">
                  <a:pos x="48" y="138"/>
                </a:cxn>
                <a:cxn ang="0">
                  <a:pos x="62" y="169"/>
                </a:cxn>
                <a:cxn ang="0">
                  <a:pos x="52" y="192"/>
                </a:cxn>
                <a:cxn ang="0">
                  <a:pos x="60" y="231"/>
                </a:cxn>
                <a:cxn ang="0">
                  <a:pos x="39" y="246"/>
                </a:cxn>
                <a:cxn ang="0">
                  <a:pos x="6" y="246"/>
                </a:cxn>
                <a:cxn ang="0">
                  <a:pos x="6" y="275"/>
                </a:cxn>
                <a:cxn ang="0">
                  <a:pos x="12" y="309"/>
                </a:cxn>
                <a:cxn ang="0">
                  <a:pos x="29" y="328"/>
                </a:cxn>
                <a:cxn ang="0">
                  <a:pos x="44" y="351"/>
                </a:cxn>
                <a:cxn ang="0">
                  <a:pos x="62" y="365"/>
                </a:cxn>
                <a:cxn ang="0">
                  <a:pos x="64" y="351"/>
                </a:cxn>
                <a:cxn ang="0">
                  <a:pos x="69" y="326"/>
                </a:cxn>
                <a:cxn ang="0">
                  <a:pos x="100" y="326"/>
                </a:cxn>
                <a:cxn ang="0">
                  <a:pos x="115" y="284"/>
                </a:cxn>
                <a:cxn ang="0">
                  <a:pos x="133" y="255"/>
                </a:cxn>
                <a:cxn ang="0">
                  <a:pos x="138" y="279"/>
                </a:cxn>
                <a:cxn ang="0">
                  <a:pos x="175" y="259"/>
                </a:cxn>
                <a:cxn ang="0">
                  <a:pos x="202" y="236"/>
                </a:cxn>
                <a:cxn ang="0">
                  <a:pos x="240" y="215"/>
                </a:cxn>
                <a:cxn ang="0">
                  <a:pos x="271" y="184"/>
                </a:cxn>
                <a:cxn ang="0">
                  <a:pos x="292" y="150"/>
                </a:cxn>
              </a:cxnLst>
              <a:rect l="0" t="0" r="r" b="b"/>
              <a:pathLst>
                <a:path w="382" h="365">
                  <a:moveTo>
                    <a:pt x="309" y="144"/>
                  </a:moveTo>
                  <a:lnTo>
                    <a:pt x="311" y="133"/>
                  </a:lnTo>
                  <a:lnTo>
                    <a:pt x="323" y="123"/>
                  </a:lnTo>
                  <a:lnTo>
                    <a:pt x="340" y="123"/>
                  </a:lnTo>
                  <a:lnTo>
                    <a:pt x="342" y="108"/>
                  </a:lnTo>
                  <a:lnTo>
                    <a:pt x="367" y="98"/>
                  </a:lnTo>
                  <a:lnTo>
                    <a:pt x="367" y="81"/>
                  </a:lnTo>
                  <a:lnTo>
                    <a:pt x="371" y="62"/>
                  </a:lnTo>
                  <a:lnTo>
                    <a:pt x="382" y="52"/>
                  </a:lnTo>
                  <a:lnTo>
                    <a:pt x="372" y="41"/>
                  </a:lnTo>
                  <a:lnTo>
                    <a:pt x="351" y="31"/>
                  </a:lnTo>
                  <a:lnTo>
                    <a:pt x="325" y="25"/>
                  </a:lnTo>
                  <a:lnTo>
                    <a:pt x="294" y="27"/>
                  </a:lnTo>
                  <a:lnTo>
                    <a:pt x="275" y="33"/>
                  </a:lnTo>
                  <a:lnTo>
                    <a:pt x="269" y="48"/>
                  </a:lnTo>
                  <a:lnTo>
                    <a:pt x="259" y="62"/>
                  </a:lnTo>
                  <a:lnTo>
                    <a:pt x="238" y="64"/>
                  </a:lnTo>
                  <a:lnTo>
                    <a:pt x="225" y="67"/>
                  </a:lnTo>
                  <a:lnTo>
                    <a:pt x="225" y="83"/>
                  </a:lnTo>
                  <a:lnTo>
                    <a:pt x="206" y="83"/>
                  </a:lnTo>
                  <a:lnTo>
                    <a:pt x="196" y="73"/>
                  </a:lnTo>
                  <a:lnTo>
                    <a:pt x="175" y="73"/>
                  </a:lnTo>
                  <a:lnTo>
                    <a:pt x="173" y="89"/>
                  </a:lnTo>
                  <a:lnTo>
                    <a:pt x="158" y="85"/>
                  </a:lnTo>
                  <a:lnTo>
                    <a:pt x="136" y="65"/>
                  </a:lnTo>
                  <a:lnTo>
                    <a:pt x="117" y="58"/>
                  </a:lnTo>
                  <a:lnTo>
                    <a:pt x="113" y="41"/>
                  </a:lnTo>
                  <a:lnTo>
                    <a:pt x="90" y="27"/>
                  </a:lnTo>
                  <a:lnTo>
                    <a:pt x="73" y="17"/>
                  </a:lnTo>
                  <a:lnTo>
                    <a:pt x="71" y="0"/>
                  </a:lnTo>
                  <a:lnTo>
                    <a:pt x="60" y="12"/>
                  </a:lnTo>
                  <a:lnTo>
                    <a:pt x="50" y="25"/>
                  </a:lnTo>
                  <a:lnTo>
                    <a:pt x="35" y="39"/>
                  </a:lnTo>
                  <a:lnTo>
                    <a:pt x="16" y="44"/>
                  </a:lnTo>
                  <a:lnTo>
                    <a:pt x="6" y="60"/>
                  </a:lnTo>
                  <a:lnTo>
                    <a:pt x="12" y="69"/>
                  </a:lnTo>
                  <a:lnTo>
                    <a:pt x="25" y="92"/>
                  </a:lnTo>
                  <a:lnTo>
                    <a:pt x="27" y="112"/>
                  </a:lnTo>
                  <a:lnTo>
                    <a:pt x="39" y="131"/>
                  </a:lnTo>
                  <a:lnTo>
                    <a:pt x="48" y="138"/>
                  </a:lnTo>
                  <a:lnTo>
                    <a:pt x="58" y="158"/>
                  </a:lnTo>
                  <a:lnTo>
                    <a:pt x="62" y="169"/>
                  </a:lnTo>
                  <a:lnTo>
                    <a:pt x="58" y="181"/>
                  </a:lnTo>
                  <a:lnTo>
                    <a:pt x="52" y="192"/>
                  </a:lnTo>
                  <a:lnTo>
                    <a:pt x="54" y="213"/>
                  </a:lnTo>
                  <a:lnTo>
                    <a:pt x="60" y="231"/>
                  </a:lnTo>
                  <a:lnTo>
                    <a:pt x="50" y="240"/>
                  </a:lnTo>
                  <a:lnTo>
                    <a:pt x="39" y="246"/>
                  </a:lnTo>
                  <a:lnTo>
                    <a:pt x="23" y="246"/>
                  </a:lnTo>
                  <a:lnTo>
                    <a:pt x="6" y="246"/>
                  </a:lnTo>
                  <a:lnTo>
                    <a:pt x="0" y="255"/>
                  </a:lnTo>
                  <a:lnTo>
                    <a:pt x="6" y="275"/>
                  </a:lnTo>
                  <a:lnTo>
                    <a:pt x="6" y="294"/>
                  </a:lnTo>
                  <a:lnTo>
                    <a:pt x="12" y="309"/>
                  </a:lnTo>
                  <a:lnTo>
                    <a:pt x="23" y="313"/>
                  </a:lnTo>
                  <a:lnTo>
                    <a:pt x="29" y="328"/>
                  </a:lnTo>
                  <a:lnTo>
                    <a:pt x="31" y="346"/>
                  </a:lnTo>
                  <a:lnTo>
                    <a:pt x="44" y="351"/>
                  </a:lnTo>
                  <a:lnTo>
                    <a:pt x="60" y="359"/>
                  </a:lnTo>
                  <a:lnTo>
                    <a:pt x="62" y="365"/>
                  </a:lnTo>
                  <a:lnTo>
                    <a:pt x="62" y="365"/>
                  </a:lnTo>
                  <a:lnTo>
                    <a:pt x="64" y="351"/>
                  </a:lnTo>
                  <a:lnTo>
                    <a:pt x="65" y="338"/>
                  </a:lnTo>
                  <a:lnTo>
                    <a:pt x="69" y="326"/>
                  </a:lnTo>
                  <a:lnTo>
                    <a:pt x="85" y="326"/>
                  </a:lnTo>
                  <a:lnTo>
                    <a:pt x="100" y="326"/>
                  </a:lnTo>
                  <a:lnTo>
                    <a:pt x="100" y="305"/>
                  </a:lnTo>
                  <a:lnTo>
                    <a:pt x="115" y="284"/>
                  </a:lnTo>
                  <a:lnTo>
                    <a:pt x="121" y="271"/>
                  </a:lnTo>
                  <a:lnTo>
                    <a:pt x="133" y="255"/>
                  </a:lnTo>
                  <a:lnTo>
                    <a:pt x="146" y="263"/>
                  </a:lnTo>
                  <a:lnTo>
                    <a:pt x="138" y="279"/>
                  </a:lnTo>
                  <a:lnTo>
                    <a:pt x="160" y="261"/>
                  </a:lnTo>
                  <a:lnTo>
                    <a:pt x="175" y="259"/>
                  </a:lnTo>
                  <a:lnTo>
                    <a:pt x="192" y="252"/>
                  </a:lnTo>
                  <a:lnTo>
                    <a:pt x="202" y="236"/>
                  </a:lnTo>
                  <a:lnTo>
                    <a:pt x="221" y="231"/>
                  </a:lnTo>
                  <a:lnTo>
                    <a:pt x="240" y="215"/>
                  </a:lnTo>
                  <a:lnTo>
                    <a:pt x="255" y="204"/>
                  </a:lnTo>
                  <a:lnTo>
                    <a:pt x="271" y="184"/>
                  </a:lnTo>
                  <a:lnTo>
                    <a:pt x="278" y="163"/>
                  </a:lnTo>
                  <a:lnTo>
                    <a:pt x="292" y="150"/>
                  </a:lnTo>
                  <a:lnTo>
                    <a:pt x="309" y="144"/>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6" name="Freeform 12">
              <a:extLst>
                <a:ext uri="{FF2B5EF4-FFF2-40B4-BE49-F238E27FC236}">
                  <a16:creationId xmlns:a16="http://schemas.microsoft.com/office/drawing/2014/main" id="{A8B117C3-ACF9-A5FE-4C6A-3A09E4616DC5}"/>
                </a:ext>
              </a:extLst>
            </p:cNvPr>
            <p:cNvSpPr>
              <a:spLocks noChangeAspect="1"/>
            </p:cNvSpPr>
            <p:nvPr/>
          </p:nvSpPr>
          <p:spPr bwMode="auto">
            <a:xfrm>
              <a:off x="8308579" y="3227992"/>
              <a:ext cx="657747" cy="263008"/>
            </a:xfrm>
            <a:custGeom>
              <a:avLst/>
              <a:gdLst/>
              <a:ahLst/>
              <a:cxnLst>
                <a:cxn ang="0">
                  <a:pos x="793" y="182"/>
                </a:cxn>
                <a:cxn ang="0">
                  <a:pos x="806" y="144"/>
                </a:cxn>
                <a:cxn ang="0">
                  <a:pos x="770" y="109"/>
                </a:cxn>
                <a:cxn ang="0">
                  <a:pos x="724" y="94"/>
                </a:cxn>
                <a:cxn ang="0">
                  <a:pos x="689" y="134"/>
                </a:cxn>
                <a:cxn ang="0">
                  <a:pos x="639" y="123"/>
                </a:cxn>
                <a:cxn ang="0">
                  <a:pos x="584" y="131"/>
                </a:cxn>
                <a:cxn ang="0">
                  <a:pos x="547" y="171"/>
                </a:cxn>
                <a:cxn ang="0">
                  <a:pos x="499" y="150"/>
                </a:cxn>
                <a:cxn ang="0">
                  <a:pos x="497" y="111"/>
                </a:cxn>
                <a:cxn ang="0">
                  <a:pos x="520" y="69"/>
                </a:cxn>
                <a:cxn ang="0">
                  <a:pos x="488" y="36"/>
                </a:cxn>
                <a:cxn ang="0">
                  <a:pos x="438" y="63"/>
                </a:cxn>
                <a:cxn ang="0">
                  <a:pos x="388" y="75"/>
                </a:cxn>
                <a:cxn ang="0">
                  <a:pos x="325" y="63"/>
                </a:cxn>
                <a:cxn ang="0">
                  <a:pos x="275" y="69"/>
                </a:cxn>
                <a:cxn ang="0">
                  <a:pos x="217" y="25"/>
                </a:cxn>
                <a:cxn ang="0">
                  <a:pos x="167" y="13"/>
                </a:cxn>
                <a:cxn ang="0">
                  <a:pos x="102" y="0"/>
                </a:cxn>
                <a:cxn ang="0">
                  <a:pos x="71" y="42"/>
                </a:cxn>
                <a:cxn ang="0">
                  <a:pos x="89" y="96"/>
                </a:cxn>
                <a:cxn ang="0">
                  <a:pos x="52" y="136"/>
                </a:cxn>
                <a:cxn ang="0">
                  <a:pos x="4" y="163"/>
                </a:cxn>
                <a:cxn ang="0">
                  <a:pos x="16" y="182"/>
                </a:cxn>
                <a:cxn ang="0">
                  <a:pos x="48" y="232"/>
                </a:cxn>
                <a:cxn ang="0">
                  <a:pos x="66" y="267"/>
                </a:cxn>
                <a:cxn ang="0">
                  <a:pos x="100" y="253"/>
                </a:cxn>
                <a:cxn ang="0">
                  <a:pos x="123" y="223"/>
                </a:cxn>
                <a:cxn ang="0">
                  <a:pos x="156" y="225"/>
                </a:cxn>
                <a:cxn ang="0">
                  <a:pos x="185" y="182"/>
                </a:cxn>
                <a:cxn ang="0">
                  <a:pos x="225" y="180"/>
                </a:cxn>
                <a:cxn ang="0">
                  <a:pos x="271" y="207"/>
                </a:cxn>
                <a:cxn ang="0">
                  <a:pos x="313" y="221"/>
                </a:cxn>
                <a:cxn ang="0">
                  <a:pos x="336" y="234"/>
                </a:cxn>
                <a:cxn ang="0">
                  <a:pos x="355" y="273"/>
                </a:cxn>
                <a:cxn ang="0">
                  <a:pos x="375" y="276"/>
                </a:cxn>
                <a:cxn ang="0">
                  <a:pos x="419" y="244"/>
                </a:cxn>
                <a:cxn ang="0">
                  <a:pos x="449" y="259"/>
                </a:cxn>
                <a:cxn ang="0">
                  <a:pos x="495" y="297"/>
                </a:cxn>
                <a:cxn ang="0">
                  <a:pos x="534" y="305"/>
                </a:cxn>
                <a:cxn ang="0">
                  <a:pos x="584" y="315"/>
                </a:cxn>
                <a:cxn ang="0">
                  <a:pos x="618" y="294"/>
                </a:cxn>
                <a:cxn ang="0">
                  <a:pos x="653" y="259"/>
                </a:cxn>
                <a:cxn ang="0">
                  <a:pos x="731" y="273"/>
                </a:cxn>
                <a:cxn ang="0">
                  <a:pos x="754" y="265"/>
                </a:cxn>
                <a:cxn ang="0">
                  <a:pos x="776" y="232"/>
                </a:cxn>
              </a:cxnLst>
              <a:rect l="0" t="0" r="r" b="b"/>
              <a:pathLst>
                <a:path w="806" h="321">
                  <a:moveTo>
                    <a:pt x="783" y="225"/>
                  </a:moveTo>
                  <a:lnTo>
                    <a:pt x="781" y="205"/>
                  </a:lnTo>
                  <a:lnTo>
                    <a:pt x="793" y="182"/>
                  </a:lnTo>
                  <a:lnTo>
                    <a:pt x="795" y="165"/>
                  </a:lnTo>
                  <a:lnTo>
                    <a:pt x="804" y="152"/>
                  </a:lnTo>
                  <a:lnTo>
                    <a:pt x="806" y="144"/>
                  </a:lnTo>
                  <a:lnTo>
                    <a:pt x="806" y="131"/>
                  </a:lnTo>
                  <a:lnTo>
                    <a:pt x="793" y="123"/>
                  </a:lnTo>
                  <a:lnTo>
                    <a:pt x="770" y="109"/>
                  </a:lnTo>
                  <a:lnTo>
                    <a:pt x="756" y="96"/>
                  </a:lnTo>
                  <a:lnTo>
                    <a:pt x="739" y="92"/>
                  </a:lnTo>
                  <a:lnTo>
                    <a:pt x="724" y="94"/>
                  </a:lnTo>
                  <a:lnTo>
                    <a:pt x="705" y="106"/>
                  </a:lnTo>
                  <a:lnTo>
                    <a:pt x="699" y="121"/>
                  </a:lnTo>
                  <a:lnTo>
                    <a:pt x="689" y="134"/>
                  </a:lnTo>
                  <a:lnTo>
                    <a:pt x="670" y="134"/>
                  </a:lnTo>
                  <a:lnTo>
                    <a:pt x="657" y="125"/>
                  </a:lnTo>
                  <a:lnTo>
                    <a:pt x="639" y="123"/>
                  </a:lnTo>
                  <a:lnTo>
                    <a:pt x="620" y="125"/>
                  </a:lnTo>
                  <a:lnTo>
                    <a:pt x="603" y="121"/>
                  </a:lnTo>
                  <a:lnTo>
                    <a:pt x="584" y="131"/>
                  </a:lnTo>
                  <a:lnTo>
                    <a:pt x="576" y="146"/>
                  </a:lnTo>
                  <a:lnTo>
                    <a:pt x="563" y="155"/>
                  </a:lnTo>
                  <a:lnTo>
                    <a:pt x="547" y="171"/>
                  </a:lnTo>
                  <a:lnTo>
                    <a:pt x="532" y="178"/>
                  </a:lnTo>
                  <a:lnTo>
                    <a:pt x="515" y="169"/>
                  </a:lnTo>
                  <a:lnTo>
                    <a:pt x="499" y="150"/>
                  </a:lnTo>
                  <a:lnTo>
                    <a:pt x="503" y="129"/>
                  </a:lnTo>
                  <a:lnTo>
                    <a:pt x="490" y="123"/>
                  </a:lnTo>
                  <a:lnTo>
                    <a:pt x="497" y="111"/>
                  </a:lnTo>
                  <a:lnTo>
                    <a:pt x="507" y="106"/>
                  </a:lnTo>
                  <a:lnTo>
                    <a:pt x="509" y="79"/>
                  </a:lnTo>
                  <a:lnTo>
                    <a:pt x="520" y="69"/>
                  </a:lnTo>
                  <a:lnTo>
                    <a:pt x="528" y="56"/>
                  </a:lnTo>
                  <a:lnTo>
                    <a:pt x="507" y="46"/>
                  </a:lnTo>
                  <a:lnTo>
                    <a:pt x="488" y="36"/>
                  </a:lnTo>
                  <a:lnTo>
                    <a:pt x="472" y="42"/>
                  </a:lnTo>
                  <a:lnTo>
                    <a:pt x="455" y="52"/>
                  </a:lnTo>
                  <a:lnTo>
                    <a:pt x="438" y="63"/>
                  </a:lnTo>
                  <a:lnTo>
                    <a:pt x="423" y="73"/>
                  </a:lnTo>
                  <a:lnTo>
                    <a:pt x="405" y="79"/>
                  </a:lnTo>
                  <a:lnTo>
                    <a:pt x="388" y="75"/>
                  </a:lnTo>
                  <a:lnTo>
                    <a:pt x="361" y="75"/>
                  </a:lnTo>
                  <a:lnTo>
                    <a:pt x="344" y="69"/>
                  </a:lnTo>
                  <a:lnTo>
                    <a:pt x="325" y="63"/>
                  </a:lnTo>
                  <a:lnTo>
                    <a:pt x="307" y="63"/>
                  </a:lnTo>
                  <a:lnTo>
                    <a:pt x="294" y="77"/>
                  </a:lnTo>
                  <a:lnTo>
                    <a:pt x="275" y="69"/>
                  </a:lnTo>
                  <a:lnTo>
                    <a:pt x="254" y="56"/>
                  </a:lnTo>
                  <a:lnTo>
                    <a:pt x="233" y="42"/>
                  </a:lnTo>
                  <a:lnTo>
                    <a:pt x="217" y="25"/>
                  </a:lnTo>
                  <a:lnTo>
                    <a:pt x="202" y="12"/>
                  </a:lnTo>
                  <a:lnTo>
                    <a:pt x="187" y="13"/>
                  </a:lnTo>
                  <a:lnTo>
                    <a:pt x="167" y="13"/>
                  </a:lnTo>
                  <a:lnTo>
                    <a:pt x="146" y="0"/>
                  </a:lnTo>
                  <a:lnTo>
                    <a:pt x="125" y="0"/>
                  </a:lnTo>
                  <a:lnTo>
                    <a:pt x="102" y="0"/>
                  </a:lnTo>
                  <a:lnTo>
                    <a:pt x="85" y="0"/>
                  </a:lnTo>
                  <a:lnTo>
                    <a:pt x="71" y="15"/>
                  </a:lnTo>
                  <a:lnTo>
                    <a:pt x="71" y="42"/>
                  </a:lnTo>
                  <a:lnTo>
                    <a:pt x="73" y="61"/>
                  </a:lnTo>
                  <a:lnTo>
                    <a:pt x="87" y="79"/>
                  </a:lnTo>
                  <a:lnTo>
                    <a:pt x="89" y="96"/>
                  </a:lnTo>
                  <a:lnTo>
                    <a:pt x="75" y="107"/>
                  </a:lnTo>
                  <a:lnTo>
                    <a:pt x="71" y="125"/>
                  </a:lnTo>
                  <a:lnTo>
                    <a:pt x="52" y="136"/>
                  </a:lnTo>
                  <a:lnTo>
                    <a:pt x="35" y="138"/>
                  </a:lnTo>
                  <a:lnTo>
                    <a:pt x="22" y="152"/>
                  </a:lnTo>
                  <a:lnTo>
                    <a:pt x="4" y="163"/>
                  </a:lnTo>
                  <a:lnTo>
                    <a:pt x="0" y="177"/>
                  </a:lnTo>
                  <a:lnTo>
                    <a:pt x="2" y="177"/>
                  </a:lnTo>
                  <a:lnTo>
                    <a:pt x="16" y="182"/>
                  </a:lnTo>
                  <a:lnTo>
                    <a:pt x="33" y="196"/>
                  </a:lnTo>
                  <a:lnTo>
                    <a:pt x="39" y="217"/>
                  </a:lnTo>
                  <a:lnTo>
                    <a:pt x="48" y="232"/>
                  </a:lnTo>
                  <a:lnTo>
                    <a:pt x="50" y="248"/>
                  </a:lnTo>
                  <a:lnTo>
                    <a:pt x="52" y="259"/>
                  </a:lnTo>
                  <a:lnTo>
                    <a:pt x="66" y="267"/>
                  </a:lnTo>
                  <a:lnTo>
                    <a:pt x="83" y="267"/>
                  </a:lnTo>
                  <a:lnTo>
                    <a:pt x="85" y="253"/>
                  </a:lnTo>
                  <a:lnTo>
                    <a:pt x="100" y="253"/>
                  </a:lnTo>
                  <a:lnTo>
                    <a:pt x="112" y="246"/>
                  </a:lnTo>
                  <a:lnTo>
                    <a:pt x="119" y="236"/>
                  </a:lnTo>
                  <a:lnTo>
                    <a:pt x="123" y="223"/>
                  </a:lnTo>
                  <a:lnTo>
                    <a:pt x="137" y="221"/>
                  </a:lnTo>
                  <a:lnTo>
                    <a:pt x="146" y="223"/>
                  </a:lnTo>
                  <a:lnTo>
                    <a:pt x="156" y="225"/>
                  </a:lnTo>
                  <a:lnTo>
                    <a:pt x="162" y="211"/>
                  </a:lnTo>
                  <a:lnTo>
                    <a:pt x="173" y="196"/>
                  </a:lnTo>
                  <a:lnTo>
                    <a:pt x="185" y="182"/>
                  </a:lnTo>
                  <a:lnTo>
                    <a:pt x="198" y="177"/>
                  </a:lnTo>
                  <a:lnTo>
                    <a:pt x="212" y="171"/>
                  </a:lnTo>
                  <a:lnTo>
                    <a:pt x="225" y="180"/>
                  </a:lnTo>
                  <a:lnTo>
                    <a:pt x="244" y="186"/>
                  </a:lnTo>
                  <a:lnTo>
                    <a:pt x="258" y="196"/>
                  </a:lnTo>
                  <a:lnTo>
                    <a:pt x="271" y="207"/>
                  </a:lnTo>
                  <a:lnTo>
                    <a:pt x="286" y="213"/>
                  </a:lnTo>
                  <a:lnTo>
                    <a:pt x="300" y="219"/>
                  </a:lnTo>
                  <a:lnTo>
                    <a:pt x="313" y="221"/>
                  </a:lnTo>
                  <a:lnTo>
                    <a:pt x="319" y="211"/>
                  </a:lnTo>
                  <a:lnTo>
                    <a:pt x="332" y="215"/>
                  </a:lnTo>
                  <a:lnTo>
                    <a:pt x="336" y="234"/>
                  </a:lnTo>
                  <a:lnTo>
                    <a:pt x="330" y="246"/>
                  </a:lnTo>
                  <a:lnTo>
                    <a:pt x="344" y="253"/>
                  </a:lnTo>
                  <a:lnTo>
                    <a:pt x="355" y="273"/>
                  </a:lnTo>
                  <a:lnTo>
                    <a:pt x="359" y="284"/>
                  </a:lnTo>
                  <a:lnTo>
                    <a:pt x="365" y="292"/>
                  </a:lnTo>
                  <a:lnTo>
                    <a:pt x="375" y="276"/>
                  </a:lnTo>
                  <a:lnTo>
                    <a:pt x="394" y="271"/>
                  </a:lnTo>
                  <a:lnTo>
                    <a:pt x="409" y="257"/>
                  </a:lnTo>
                  <a:lnTo>
                    <a:pt x="419" y="244"/>
                  </a:lnTo>
                  <a:lnTo>
                    <a:pt x="430" y="232"/>
                  </a:lnTo>
                  <a:lnTo>
                    <a:pt x="432" y="249"/>
                  </a:lnTo>
                  <a:lnTo>
                    <a:pt x="449" y="259"/>
                  </a:lnTo>
                  <a:lnTo>
                    <a:pt x="472" y="273"/>
                  </a:lnTo>
                  <a:lnTo>
                    <a:pt x="476" y="290"/>
                  </a:lnTo>
                  <a:lnTo>
                    <a:pt x="495" y="297"/>
                  </a:lnTo>
                  <a:lnTo>
                    <a:pt x="517" y="317"/>
                  </a:lnTo>
                  <a:lnTo>
                    <a:pt x="532" y="321"/>
                  </a:lnTo>
                  <a:lnTo>
                    <a:pt x="534" y="305"/>
                  </a:lnTo>
                  <a:lnTo>
                    <a:pt x="555" y="305"/>
                  </a:lnTo>
                  <a:lnTo>
                    <a:pt x="565" y="315"/>
                  </a:lnTo>
                  <a:lnTo>
                    <a:pt x="584" y="315"/>
                  </a:lnTo>
                  <a:lnTo>
                    <a:pt x="584" y="299"/>
                  </a:lnTo>
                  <a:lnTo>
                    <a:pt x="597" y="296"/>
                  </a:lnTo>
                  <a:lnTo>
                    <a:pt x="618" y="294"/>
                  </a:lnTo>
                  <a:lnTo>
                    <a:pt x="628" y="280"/>
                  </a:lnTo>
                  <a:lnTo>
                    <a:pt x="634" y="265"/>
                  </a:lnTo>
                  <a:lnTo>
                    <a:pt x="653" y="259"/>
                  </a:lnTo>
                  <a:lnTo>
                    <a:pt x="684" y="257"/>
                  </a:lnTo>
                  <a:lnTo>
                    <a:pt x="710" y="263"/>
                  </a:lnTo>
                  <a:lnTo>
                    <a:pt x="731" y="273"/>
                  </a:lnTo>
                  <a:lnTo>
                    <a:pt x="741" y="284"/>
                  </a:lnTo>
                  <a:lnTo>
                    <a:pt x="741" y="274"/>
                  </a:lnTo>
                  <a:lnTo>
                    <a:pt x="754" y="265"/>
                  </a:lnTo>
                  <a:lnTo>
                    <a:pt x="762" y="251"/>
                  </a:lnTo>
                  <a:lnTo>
                    <a:pt x="776" y="246"/>
                  </a:lnTo>
                  <a:lnTo>
                    <a:pt x="776" y="232"/>
                  </a:lnTo>
                  <a:lnTo>
                    <a:pt x="783" y="225"/>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7" name="Freeform 13">
              <a:extLst>
                <a:ext uri="{FF2B5EF4-FFF2-40B4-BE49-F238E27FC236}">
                  <a16:creationId xmlns:a16="http://schemas.microsoft.com/office/drawing/2014/main" id="{E4EAA66A-71F1-B230-82D5-32834685440A}"/>
                </a:ext>
              </a:extLst>
            </p:cNvPr>
            <p:cNvSpPr>
              <a:spLocks noChangeAspect="1"/>
            </p:cNvSpPr>
            <p:nvPr/>
          </p:nvSpPr>
          <p:spPr bwMode="auto">
            <a:xfrm>
              <a:off x="8567020" y="3140710"/>
              <a:ext cx="416767" cy="232750"/>
            </a:xfrm>
            <a:custGeom>
              <a:avLst/>
              <a:gdLst/>
              <a:ahLst/>
              <a:cxnLst>
                <a:cxn ang="0">
                  <a:pos x="507" y="184"/>
                </a:cxn>
                <a:cxn ang="0">
                  <a:pos x="503" y="149"/>
                </a:cxn>
                <a:cxn ang="0">
                  <a:pos x="484" y="124"/>
                </a:cxn>
                <a:cxn ang="0">
                  <a:pos x="480" y="92"/>
                </a:cxn>
                <a:cxn ang="0">
                  <a:pos x="436" y="84"/>
                </a:cxn>
                <a:cxn ang="0">
                  <a:pos x="403" y="76"/>
                </a:cxn>
                <a:cxn ang="0">
                  <a:pos x="372" y="67"/>
                </a:cxn>
                <a:cxn ang="0">
                  <a:pos x="345" y="57"/>
                </a:cxn>
                <a:cxn ang="0">
                  <a:pos x="315" y="30"/>
                </a:cxn>
                <a:cxn ang="0">
                  <a:pos x="290" y="51"/>
                </a:cxn>
                <a:cxn ang="0">
                  <a:pos x="307" y="80"/>
                </a:cxn>
                <a:cxn ang="0">
                  <a:pos x="267" y="101"/>
                </a:cxn>
                <a:cxn ang="0">
                  <a:pos x="232" y="86"/>
                </a:cxn>
                <a:cxn ang="0">
                  <a:pos x="211" y="84"/>
                </a:cxn>
                <a:cxn ang="0">
                  <a:pos x="177" y="80"/>
                </a:cxn>
                <a:cxn ang="0">
                  <a:pos x="155" y="57"/>
                </a:cxn>
                <a:cxn ang="0">
                  <a:pos x="178" y="40"/>
                </a:cxn>
                <a:cxn ang="0">
                  <a:pos x="192" y="28"/>
                </a:cxn>
                <a:cxn ang="0">
                  <a:pos x="203" y="3"/>
                </a:cxn>
                <a:cxn ang="0">
                  <a:pos x="190" y="0"/>
                </a:cxn>
                <a:cxn ang="0">
                  <a:pos x="150" y="5"/>
                </a:cxn>
                <a:cxn ang="0">
                  <a:pos x="113" y="24"/>
                </a:cxn>
                <a:cxn ang="0">
                  <a:pos x="84" y="32"/>
                </a:cxn>
                <a:cxn ang="0">
                  <a:pos x="56" y="40"/>
                </a:cxn>
                <a:cxn ang="0">
                  <a:pos x="27" y="9"/>
                </a:cxn>
                <a:cxn ang="0">
                  <a:pos x="25" y="53"/>
                </a:cxn>
                <a:cxn ang="0">
                  <a:pos x="13" y="84"/>
                </a:cxn>
                <a:cxn ang="0">
                  <a:pos x="23" y="119"/>
                </a:cxn>
                <a:cxn ang="0">
                  <a:pos x="19" y="149"/>
                </a:cxn>
                <a:cxn ang="0">
                  <a:pos x="0" y="165"/>
                </a:cxn>
                <a:cxn ang="0">
                  <a:pos x="8" y="170"/>
                </a:cxn>
                <a:cxn ang="0">
                  <a:pos x="44" y="182"/>
                </a:cxn>
                <a:cxn ang="0">
                  <a:pos x="88" y="186"/>
                </a:cxn>
                <a:cxn ang="0">
                  <a:pos x="121" y="170"/>
                </a:cxn>
                <a:cxn ang="0">
                  <a:pos x="155" y="149"/>
                </a:cxn>
                <a:cxn ang="0">
                  <a:pos x="190" y="153"/>
                </a:cxn>
                <a:cxn ang="0">
                  <a:pos x="203" y="176"/>
                </a:cxn>
                <a:cxn ang="0">
                  <a:pos x="190" y="213"/>
                </a:cxn>
                <a:cxn ang="0">
                  <a:pos x="173" y="230"/>
                </a:cxn>
                <a:cxn ang="0">
                  <a:pos x="182" y="257"/>
                </a:cxn>
                <a:cxn ang="0">
                  <a:pos x="215" y="285"/>
                </a:cxn>
                <a:cxn ang="0">
                  <a:pos x="246" y="262"/>
                </a:cxn>
                <a:cxn ang="0">
                  <a:pos x="267" y="238"/>
                </a:cxn>
                <a:cxn ang="0">
                  <a:pos x="303" y="232"/>
                </a:cxn>
                <a:cxn ang="0">
                  <a:pos x="340" y="232"/>
                </a:cxn>
                <a:cxn ang="0">
                  <a:pos x="372" y="241"/>
                </a:cxn>
                <a:cxn ang="0">
                  <a:pos x="388" y="213"/>
                </a:cxn>
                <a:cxn ang="0">
                  <a:pos x="422" y="199"/>
                </a:cxn>
                <a:cxn ang="0">
                  <a:pos x="453" y="216"/>
                </a:cxn>
                <a:cxn ang="0">
                  <a:pos x="487" y="238"/>
                </a:cxn>
                <a:cxn ang="0">
                  <a:pos x="493" y="222"/>
                </a:cxn>
                <a:cxn ang="0">
                  <a:pos x="501" y="193"/>
                </a:cxn>
              </a:cxnLst>
              <a:rect l="0" t="0" r="r" b="b"/>
              <a:pathLst>
                <a:path w="510" h="285">
                  <a:moveTo>
                    <a:pt x="501" y="193"/>
                  </a:moveTo>
                  <a:lnTo>
                    <a:pt x="507" y="184"/>
                  </a:lnTo>
                  <a:lnTo>
                    <a:pt x="510" y="163"/>
                  </a:lnTo>
                  <a:lnTo>
                    <a:pt x="503" y="149"/>
                  </a:lnTo>
                  <a:lnTo>
                    <a:pt x="484" y="140"/>
                  </a:lnTo>
                  <a:lnTo>
                    <a:pt x="484" y="124"/>
                  </a:lnTo>
                  <a:lnTo>
                    <a:pt x="474" y="111"/>
                  </a:lnTo>
                  <a:lnTo>
                    <a:pt x="480" y="92"/>
                  </a:lnTo>
                  <a:lnTo>
                    <a:pt x="464" y="86"/>
                  </a:lnTo>
                  <a:lnTo>
                    <a:pt x="436" y="84"/>
                  </a:lnTo>
                  <a:lnTo>
                    <a:pt x="418" y="69"/>
                  </a:lnTo>
                  <a:lnTo>
                    <a:pt x="403" y="76"/>
                  </a:lnTo>
                  <a:lnTo>
                    <a:pt x="391" y="80"/>
                  </a:lnTo>
                  <a:lnTo>
                    <a:pt x="372" y="67"/>
                  </a:lnTo>
                  <a:lnTo>
                    <a:pt x="357" y="53"/>
                  </a:lnTo>
                  <a:lnTo>
                    <a:pt x="345" y="57"/>
                  </a:lnTo>
                  <a:lnTo>
                    <a:pt x="328" y="44"/>
                  </a:lnTo>
                  <a:lnTo>
                    <a:pt x="315" y="30"/>
                  </a:lnTo>
                  <a:lnTo>
                    <a:pt x="299" y="40"/>
                  </a:lnTo>
                  <a:lnTo>
                    <a:pt x="290" y="51"/>
                  </a:lnTo>
                  <a:lnTo>
                    <a:pt x="307" y="63"/>
                  </a:lnTo>
                  <a:lnTo>
                    <a:pt x="307" y="80"/>
                  </a:lnTo>
                  <a:lnTo>
                    <a:pt x="288" y="94"/>
                  </a:lnTo>
                  <a:lnTo>
                    <a:pt x="267" y="101"/>
                  </a:lnTo>
                  <a:lnTo>
                    <a:pt x="249" y="97"/>
                  </a:lnTo>
                  <a:lnTo>
                    <a:pt x="232" y="86"/>
                  </a:lnTo>
                  <a:lnTo>
                    <a:pt x="217" y="72"/>
                  </a:lnTo>
                  <a:lnTo>
                    <a:pt x="211" y="84"/>
                  </a:lnTo>
                  <a:lnTo>
                    <a:pt x="196" y="86"/>
                  </a:lnTo>
                  <a:lnTo>
                    <a:pt x="177" y="80"/>
                  </a:lnTo>
                  <a:lnTo>
                    <a:pt x="163" y="69"/>
                  </a:lnTo>
                  <a:lnTo>
                    <a:pt x="155" y="57"/>
                  </a:lnTo>
                  <a:lnTo>
                    <a:pt x="165" y="51"/>
                  </a:lnTo>
                  <a:lnTo>
                    <a:pt x="178" y="40"/>
                  </a:lnTo>
                  <a:lnTo>
                    <a:pt x="177" y="30"/>
                  </a:lnTo>
                  <a:lnTo>
                    <a:pt x="192" y="28"/>
                  </a:lnTo>
                  <a:lnTo>
                    <a:pt x="202" y="19"/>
                  </a:lnTo>
                  <a:lnTo>
                    <a:pt x="203" y="3"/>
                  </a:lnTo>
                  <a:lnTo>
                    <a:pt x="213" y="1"/>
                  </a:lnTo>
                  <a:lnTo>
                    <a:pt x="190" y="0"/>
                  </a:lnTo>
                  <a:lnTo>
                    <a:pt x="165" y="0"/>
                  </a:lnTo>
                  <a:lnTo>
                    <a:pt x="150" y="5"/>
                  </a:lnTo>
                  <a:lnTo>
                    <a:pt x="129" y="13"/>
                  </a:lnTo>
                  <a:lnTo>
                    <a:pt x="113" y="24"/>
                  </a:lnTo>
                  <a:lnTo>
                    <a:pt x="98" y="26"/>
                  </a:lnTo>
                  <a:lnTo>
                    <a:pt x="84" y="32"/>
                  </a:lnTo>
                  <a:lnTo>
                    <a:pt x="73" y="40"/>
                  </a:lnTo>
                  <a:lnTo>
                    <a:pt x="56" y="40"/>
                  </a:lnTo>
                  <a:lnTo>
                    <a:pt x="40" y="21"/>
                  </a:lnTo>
                  <a:lnTo>
                    <a:pt x="27" y="9"/>
                  </a:lnTo>
                  <a:lnTo>
                    <a:pt x="25" y="26"/>
                  </a:lnTo>
                  <a:lnTo>
                    <a:pt x="25" y="53"/>
                  </a:lnTo>
                  <a:lnTo>
                    <a:pt x="19" y="67"/>
                  </a:lnTo>
                  <a:lnTo>
                    <a:pt x="13" y="84"/>
                  </a:lnTo>
                  <a:lnTo>
                    <a:pt x="23" y="99"/>
                  </a:lnTo>
                  <a:lnTo>
                    <a:pt x="23" y="119"/>
                  </a:lnTo>
                  <a:lnTo>
                    <a:pt x="19" y="134"/>
                  </a:lnTo>
                  <a:lnTo>
                    <a:pt x="19" y="149"/>
                  </a:lnTo>
                  <a:lnTo>
                    <a:pt x="10" y="155"/>
                  </a:lnTo>
                  <a:lnTo>
                    <a:pt x="0" y="165"/>
                  </a:lnTo>
                  <a:lnTo>
                    <a:pt x="0" y="170"/>
                  </a:lnTo>
                  <a:lnTo>
                    <a:pt x="8" y="170"/>
                  </a:lnTo>
                  <a:lnTo>
                    <a:pt x="27" y="176"/>
                  </a:lnTo>
                  <a:lnTo>
                    <a:pt x="44" y="182"/>
                  </a:lnTo>
                  <a:lnTo>
                    <a:pt x="71" y="182"/>
                  </a:lnTo>
                  <a:lnTo>
                    <a:pt x="88" y="186"/>
                  </a:lnTo>
                  <a:lnTo>
                    <a:pt x="106" y="180"/>
                  </a:lnTo>
                  <a:lnTo>
                    <a:pt x="121" y="170"/>
                  </a:lnTo>
                  <a:lnTo>
                    <a:pt x="138" y="159"/>
                  </a:lnTo>
                  <a:lnTo>
                    <a:pt x="155" y="149"/>
                  </a:lnTo>
                  <a:lnTo>
                    <a:pt x="171" y="143"/>
                  </a:lnTo>
                  <a:lnTo>
                    <a:pt x="190" y="153"/>
                  </a:lnTo>
                  <a:lnTo>
                    <a:pt x="211" y="163"/>
                  </a:lnTo>
                  <a:lnTo>
                    <a:pt x="203" y="176"/>
                  </a:lnTo>
                  <a:lnTo>
                    <a:pt x="192" y="186"/>
                  </a:lnTo>
                  <a:lnTo>
                    <a:pt x="190" y="213"/>
                  </a:lnTo>
                  <a:lnTo>
                    <a:pt x="180" y="218"/>
                  </a:lnTo>
                  <a:lnTo>
                    <a:pt x="173" y="230"/>
                  </a:lnTo>
                  <a:lnTo>
                    <a:pt x="186" y="236"/>
                  </a:lnTo>
                  <a:lnTo>
                    <a:pt x="182" y="257"/>
                  </a:lnTo>
                  <a:lnTo>
                    <a:pt x="198" y="276"/>
                  </a:lnTo>
                  <a:lnTo>
                    <a:pt x="215" y="285"/>
                  </a:lnTo>
                  <a:lnTo>
                    <a:pt x="230" y="278"/>
                  </a:lnTo>
                  <a:lnTo>
                    <a:pt x="246" y="262"/>
                  </a:lnTo>
                  <a:lnTo>
                    <a:pt x="259" y="253"/>
                  </a:lnTo>
                  <a:lnTo>
                    <a:pt x="267" y="238"/>
                  </a:lnTo>
                  <a:lnTo>
                    <a:pt x="286" y="228"/>
                  </a:lnTo>
                  <a:lnTo>
                    <a:pt x="303" y="232"/>
                  </a:lnTo>
                  <a:lnTo>
                    <a:pt x="322" y="230"/>
                  </a:lnTo>
                  <a:lnTo>
                    <a:pt x="340" y="232"/>
                  </a:lnTo>
                  <a:lnTo>
                    <a:pt x="353" y="241"/>
                  </a:lnTo>
                  <a:lnTo>
                    <a:pt x="372" y="241"/>
                  </a:lnTo>
                  <a:lnTo>
                    <a:pt x="382" y="228"/>
                  </a:lnTo>
                  <a:lnTo>
                    <a:pt x="388" y="213"/>
                  </a:lnTo>
                  <a:lnTo>
                    <a:pt x="407" y="201"/>
                  </a:lnTo>
                  <a:lnTo>
                    <a:pt x="422" y="199"/>
                  </a:lnTo>
                  <a:lnTo>
                    <a:pt x="439" y="203"/>
                  </a:lnTo>
                  <a:lnTo>
                    <a:pt x="453" y="216"/>
                  </a:lnTo>
                  <a:lnTo>
                    <a:pt x="476" y="230"/>
                  </a:lnTo>
                  <a:lnTo>
                    <a:pt x="487" y="238"/>
                  </a:lnTo>
                  <a:lnTo>
                    <a:pt x="491" y="234"/>
                  </a:lnTo>
                  <a:lnTo>
                    <a:pt x="493" y="222"/>
                  </a:lnTo>
                  <a:lnTo>
                    <a:pt x="501" y="213"/>
                  </a:lnTo>
                  <a:lnTo>
                    <a:pt x="501" y="193"/>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28" name="Freeform 14">
              <a:extLst>
                <a:ext uri="{FF2B5EF4-FFF2-40B4-BE49-F238E27FC236}">
                  <a16:creationId xmlns:a16="http://schemas.microsoft.com/office/drawing/2014/main" id="{33D975F0-9565-ECA5-1E41-123D44A2A964}"/>
                </a:ext>
              </a:extLst>
            </p:cNvPr>
            <p:cNvSpPr>
              <a:spLocks noChangeAspect="1" noEditPoints="1"/>
            </p:cNvSpPr>
            <p:nvPr/>
          </p:nvSpPr>
          <p:spPr bwMode="auto">
            <a:xfrm>
              <a:off x="8592632" y="3005715"/>
              <a:ext cx="370201" cy="217621"/>
            </a:xfrm>
            <a:custGeom>
              <a:avLst/>
              <a:gdLst/>
              <a:ahLst/>
              <a:cxnLst>
                <a:cxn ang="0">
                  <a:pos x="311" y="47"/>
                </a:cxn>
                <a:cxn ang="0">
                  <a:pos x="276" y="43"/>
                </a:cxn>
                <a:cxn ang="0">
                  <a:pos x="253" y="39"/>
                </a:cxn>
                <a:cxn ang="0">
                  <a:pos x="215" y="18"/>
                </a:cxn>
                <a:cxn ang="0">
                  <a:pos x="180" y="10"/>
                </a:cxn>
                <a:cxn ang="0">
                  <a:pos x="144" y="0"/>
                </a:cxn>
                <a:cxn ang="0">
                  <a:pos x="109" y="35"/>
                </a:cxn>
                <a:cxn ang="0">
                  <a:pos x="84" y="62"/>
                </a:cxn>
                <a:cxn ang="0">
                  <a:pos x="78" y="96"/>
                </a:cxn>
                <a:cxn ang="0">
                  <a:pos x="40" y="129"/>
                </a:cxn>
                <a:cxn ang="0">
                  <a:pos x="17" y="154"/>
                </a:cxn>
                <a:cxn ang="0">
                  <a:pos x="0" y="179"/>
                </a:cxn>
                <a:cxn ang="0">
                  <a:pos x="25" y="206"/>
                </a:cxn>
                <a:cxn ang="0">
                  <a:pos x="53" y="198"/>
                </a:cxn>
                <a:cxn ang="0">
                  <a:pos x="82" y="190"/>
                </a:cxn>
                <a:cxn ang="0">
                  <a:pos x="119" y="171"/>
                </a:cxn>
                <a:cxn ang="0">
                  <a:pos x="159" y="166"/>
                </a:cxn>
                <a:cxn ang="0">
                  <a:pos x="172" y="169"/>
                </a:cxn>
                <a:cxn ang="0">
                  <a:pos x="161" y="194"/>
                </a:cxn>
                <a:cxn ang="0">
                  <a:pos x="147" y="206"/>
                </a:cxn>
                <a:cxn ang="0">
                  <a:pos x="124" y="223"/>
                </a:cxn>
                <a:cxn ang="0">
                  <a:pos x="146" y="246"/>
                </a:cxn>
                <a:cxn ang="0">
                  <a:pos x="180" y="250"/>
                </a:cxn>
                <a:cxn ang="0">
                  <a:pos x="201" y="252"/>
                </a:cxn>
                <a:cxn ang="0">
                  <a:pos x="236" y="267"/>
                </a:cxn>
                <a:cxn ang="0">
                  <a:pos x="276" y="246"/>
                </a:cxn>
                <a:cxn ang="0">
                  <a:pos x="259" y="217"/>
                </a:cxn>
                <a:cxn ang="0">
                  <a:pos x="284" y="196"/>
                </a:cxn>
                <a:cxn ang="0">
                  <a:pos x="314" y="223"/>
                </a:cxn>
                <a:cxn ang="0">
                  <a:pos x="341" y="233"/>
                </a:cxn>
                <a:cxn ang="0">
                  <a:pos x="372" y="242"/>
                </a:cxn>
                <a:cxn ang="0">
                  <a:pos x="405" y="250"/>
                </a:cxn>
                <a:cxn ang="0">
                  <a:pos x="449" y="258"/>
                </a:cxn>
                <a:cxn ang="0">
                  <a:pos x="449" y="233"/>
                </a:cxn>
                <a:cxn ang="0">
                  <a:pos x="449" y="210"/>
                </a:cxn>
                <a:cxn ang="0">
                  <a:pos x="435" y="183"/>
                </a:cxn>
                <a:cxn ang="0">
                  <a:pos x="426" y="166"/>
                </a:cxn>
                <a:cxn ang="0">
                  <a:pos x="424" y="141"/>
                </a:cxn>
                <a:cxn ang="0">
                  <a:pos x="422" y="118"/>
                </a:cxn>
                <a:cxn ang="0">
                  <a:pos x="418" y="85"/>
                </a:cxn>
                <a:cxn ang="0">
                  <a:pos x="387" y="56"/>
                </a:cxn>
                <a:cxn ang="0">
                  <a:pos x="359" y="45"/>
                </a:cxn>
                <a:cxn ang="0">
                  <a:pos x="328" y="37"/>
                </a:cxn>
                <a:cxn ang="0">
                  <a:pos x="449" y="260"/>
                </a:cxn>
                <a:cxn ang="0">
                  <a:pos x="449" y="261"/>
                </a:cxn>
              </a:cxnLst>
              <a:rect l="0" t="0" r="r" b="b"/>
              <a:pathLst>
                <a:path w="453" h="267">
                  <a:moveTo>
                    <a:pt x="328" y="37"/>
                  </a:moveTo>
                  <a:lnTo>
                    <a:pt x="311" y="47"/>
                  </a:lnTo>
                  <a:lnTo>
                    <a:pt x="284" y="47"/>
                  </a:lnTo>
                  <a:lnTo>
                    <a:pt x="276" y="43"/>
                  </a:lnTo>
                  <a:lnTo>
                    <a:pt x="268" y="35"/>
                  </a:lnTo>
                  <a:lnTo>
                    <a:pt x="253" y="39"/>
                  </a:lnTo>
                  <a:lnTo>
                    <a:pt x="234" y="29"/>
                  </a:lnTo>
                  <a:lnTo>
                    <a:pt x="215" y="18"/>
                  </a:lnTo>
                  <a:lnTo>
                    <a:pt x="201" y="8"/>
                  </a:lnTo>
                  <a:lnTo>
                    <a:pt x="180" y="10"/>
                  </a:lnTo>
                  <a:lnTo>
                    <a:pt x="171" y="0"/>
                  </a:lnTo>
                  <a:lnTo>
                    <a:pt x="144" y="0"/>
                  </a:lnTo>
                  <a:lnTo>
                    <a:pt x="121" y="12"/>
                  </a:lnTo>
                  <a:lnTo>
                    <a:pt x="109" y="35"/>
                  </a:lnTo>
                  <a:lnTo>
                    <a:pt x="92" y="41"/>
                  </a:lnTo>
                  <a:lnTo>
                    <a:pt x="84" y="62"/>
                  </a:lnTo>
                  <a:lnTo>
                    <a:pt x="84" y="83"/>
                  </a:lnTo>
                  <a:lnTo>
                    <a:pt x="78" y="96"/>
                  </a:lnTo>
                  <a:lnTo>
                    <a:pt x="61" y="110"/>
                  </a:lnTo>
                  <a:lnTo>
                    <a:pt x="40" y="129"/>
                  </a:lnTo>
                  <a:lnTo>
                    <a:pt x="36" y="142"/>
                  </a:lnTo>
                  <a:lnTo>
                    <a:pt x="17" y="154"/>
                  </a:lnTo>
                  <a:lnTo>
                    <a:pt x="0" y="167"/>
                  </a:lnTo>
                  <a:lnTo>
                    <a:pt x="0" y="179"/>
                  </a:lnTo>
                  <a:lnTo>
                    <a:pt x="9" y="187"/>
                  </a:lnTo>
                  <a:lnTo>
                    <a:pt x="25" y="206"/>
                  </a:lnTo>
                  <a:lnTo>
                    <a:pt x="42" y="206"/>
                  </a:lnTo>
                  <a:lnTo>
                    <a:pt x="53" y="198"/>
                  </a:lnTo>
                  <a:lnTo>
                    <a:pt x="67" y="192"/>
                  </a:lnTo>
                  <a:lnTo>
                    <a:pt x="82" y="190"/>
                  </a:lnTo>
                  <a:lnTo>
                    <a:pt x="98" y="179"/>
                  </a:lnTo>
                  <a:lnTo>
                    <a:pt x="119" y="171"/>
                  </a:lnTo>
                  <a:lnTo>
                    <a:pt x="134" y="166"/>
                  </a:lnTo>
                  <a:lnTo>
                    <a:pt x="159" y="166"/>
                  </a:lnTo>
                  <a:lnTo>
                    <a:pt x="182" y="167"/>
                  </a:lnTo>
                  <a:lnTo>
                    <a:pt x="172" y="169"/>
                  </a:lnTo>
                  <a:lnTo>
                    <a:pt x="171" y="185"/>
                  </a:lnTo>
                  <a:lnTo>
                    <a:pt x="161" y="194"/>
                  </a:lnTo>
                  <a:lnTo>
                    <a:pt x="146" y="196"/>
                  </a:lnTo>
                  <a:lnTo>
                    <a:pt x="147" y="206"/>
                  </a:lnTo>
                  <a:lnTo>
                    <a:pt x="134" y="217"/>
                  </a:lnTo>
                  <a:lnTo>
                    <a:pt x="124" y="223"/>
                  </a:lnTo>
                  <a:lnTo>
                    <a:pt x="132" y="235"/>
                  </a:lnTo>
                  <a:lnTo>
                    <a:pt x="146" y="246"/>
                  </a:lnTo>
                  <a:lnTo>
                    <a:pt x="165" y="252"/>
                  </a:lnTo>
                  <a:lnTo>
                    <a:pt x="180" y="250"/>
                  </a:lnTo>
                  <a:lnTo>
                    <a:pt x="186" y="238"/>
                  </a:lnTo>
                  <a:lnTo>
                    <a:pt x="201" y="252"/>
                  </a:lnTo>
                  <a:lnTo>
                    <a:pt x="218" y="263"/>
                  </a:lnTo>
                  <a:lnTo>
                    <a:pt x="236" y="267"/>
                  </a:lnTo>
                  <a:lnTo>
                    <a:pt x="257" y="260"/>
                  </a:lnTo>
                  <a:lnTo>
                    <a:pt x="276" y="246"/>
                  </a:lnTo>
                  <a:lnTo>
                    <a:pt x="276" y="229"/>
                  </a:lnTo>
                  <a:lnTo>
                    <a:pt x="259" y="217"/>
                  </a:lnTo>
                  <a:lnTo>
                    <a:pt x="268" y="206"/>
                  </a:lnTo>
                  <a:lnTo>
                    <a:pt x="284" y="196"/>
                  </a:lnTo>
                  <a:lnTo>
                    <a:pt x="297" y="210"/>
                  </a:lnTo>
                  <a:lnTo>
                    <a:pt x="314" y="223"/>
                  </a:lnTo>
                  <a:lnTo>
                    <a:pt x="326" y="219"/>
                  </a:lnTo>
                  <a:lnTo>
                    <a:pt x="341" y="233"/>
                  </a:lnTo>
                  <a:lnTo>
                    <a:pt x="360" y="246"/>
                  </a:lnTo>
                  <a:lnTo>
                    <a:pt x="372" y="242"/>
                  </a:lnTo>
                  <a:lnTo>
                    <a:pt x="387" y="235"/>
                  </a:lnTo>
                  <a:lnTo>
                    <a:pt x="405" y="250"/>
                  </a:lnTo>
                  <a:lnTo>
                    <a:pt x="433" y="252"/>
                  </a:lnTo>
                  <a:lnTo>
                    <a:pt x="449" y="258"/>
                  </a:lnTo>
                  <a:lnTo>
                    <a:pt x="449" y="246"/>
                  </a:lnTo>
                  <a:lnTo>
                    <a:pt x="449" y="233"/>
                  </a:lnTo>
                  <a:lnTo>
                    <a:pt x="453" y="219"/>
                  </a:lnTo>
                  <a:lnTo>
                    <a:pt x="449" y="210"/>
                  </a:lnTo>
                  <a:lnTo>
                    <a:pt x="439" y="198"/>
                  </a:lnTo>
                  <a:lnTo>
                    <a:pt x="435" y="183"/>
                  </a:lnTo>
                  <a:lnTo>
                    <a:pt x="426" y="179"/>
                  </a:lnTo>
                  <a:lnTo>
                    <a:pt x="426" y="166"/>
                  </a:lnTo>
                  <a:lnTo>
                    <a:pt x="430" y="154"/>
                  </a:lnTo>
                  <a:lnTo>
                    <a:pt x="424" y="141"/>
                  </a:lnTo>
                  <a:lnTo>
                    <a:pt x="424" y="135"/>
                  </a:lnTo>
                  <a:lnTo>
                    <a:pt x="422" y="118"/>
                  </a:lnTo>
                  <a:lnTo>
                    <a:pt x="422" y="96"/>
                  </a:lnTo>
                  <a:lnTo>
                    <a:pt x="418" y="85"/>
                  </a:lnTo>
                  <a:lnTo>
                    <a:pt x="405" y="70"/>
                  </a:lnTo>
                  <a:lnTo>
                    <a:pt x="387" y="56"/>
                  </a:lnTo>
                  <a:lnTo>
                    <a:pt x="372" y="56"/>
                  </a:lnTo>
                  <a:lnTo>
                    <a:pt x="359" y="45"/>
                  </a:lnTo>
                  <a:lnTo>
                    <a:pt x="337" y="47"/>
                  </a:lnTo>
                  <a:lnTo>
                    <a:pt x="328" y="37"/>
                  </a:lnTo>
                  <a:close/>
                  <a:moveTo>
                    <a:pt x="449" y="261"/>
                  </a:moveTo>
                  <a:lnTo>
                    <a:pt x="449" y="260"/>
                  </a:lnTo>
                  <a:lnTo>
                    <a:pt x="449" y="258"/>
                  </a:lnTo>
                  <a:lnTo>
                    <a:pt x="449" y="261"/>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0" name="Freeform 15">
              <a:extLst>
                <a:ext uri="{FF2B5EF4-FFF2-40B4-BE49-F238E27FC236}">
                  <a16:creationId xmlns:a16="http://schemas.microsoft.com/office/drawing/2014/main" id="{C130D545-3D0D-C4D3-D97A-3DFB43AC1832}"/>
                </a:ext>
              </a:extLst>
            </p:cNvPr>
            <p:cNvSpPr>
              <a:spLocks noChangeAspect="1"/>
            </p:cNvSpPr>
            <p:nvPr/>
          </p:nvSpPr>
          <p:spPr bwMode="auto">
            <a:xfrm>
              <a:off x="8959340" y="3216354"/>
              <a:ext cx="1164" cy="2328"/>
            </a:xfrm>
            <a:custGeom>
              <a:avLst/>
              <a:gdLst/>
              <a:ahLst/>
              <a:cxnLst>
                <a:cxn ang="0">
                  <a:pos x="0" y="3"/>
                </a:cxn>
                <a:cxn ang="0">
                  <a:pos x="0" y="2"/>
                </a:cxn>
                <a:cxn ang="0">
                  <a:pos x="0" y="0"/>
                </a:cxn>
                <a:cxn ang="0">
                  <a:pos x="0" y="3"/>
                </a:cxn>
              </a:cxnLst>
              <a:rect l="0" t="0" r="r" b="b"/>
              <a:pathLst>
                <a:path h="3">
                  <a:moveTo>
                    <a:pt x="0" y="3"/>
                  </a:moveTo>
                  <a:lnTo>
                    <a:pt x="0" y="2"/>
                  </a:lnTo>
                  <a:lnTo>
                    <a:pt x="0" y="0"/>
                  </a:lnTo>
                  <a:lnTo>
                    <a:pt x="0" y="3"/>
                  </a:lnTo>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1" name="Freeform 16">
              <a:extLst>
                <a:ext uri="{FF2B5EF4-FFF2-40B4-BE49-F238E27FC236}">
                  <a16:creationId xmlns:a16="http://schemas.microsoft.com/office/drawing/2014/main" id="{AE7A39C2-0681-95F0-1B8C-D7A2FCA5CBAB}"/>
                </a:ext>
              </a:extLst>
            </p:cNvPr>
            <p:cNvSpPr>
              <a:spLocks noChangeAspect="1"/>
            </p:cNvSpPr>
            <p:nvPr/>
          </p:nvSpPr>
          <p:spPr bwMode="auto">
            <a:xfrm>
              <a:off x="8319057" y="2757836"/>
              <a:ext cx="413274" cy="534161"/>
            </a:xfrm>
            <a:custGeom>
              <a:avLst/>
              <a:gdLst/>
              <a:ahLst/>
              <a:cxnLst>
                <a:cxn ang="0">
                  <a:pos x="240" y="46"/>
                </a:cxn>
                <a:cxn ang="0">
                  <a:pos x="215" y="31"/>
                </a:cxn>
                <a:cxn ang="0">
                  <a:pos x="180" y="19"/>
                </a:cxn>
                <a:cxn ang="0">
                  <a:pos x="148" y="12"/>
                </a:cxn>
                <a:cxn ang="0">
                  <a:pos x="125" y="4"/>
                </a:cxn>
                <a:cxn ang="0">
                  <a:pos x="88" y="10"/>
                </a:cxn>
                <a:cxn ang="0">
                  <a:pos x="56" y="4"/>
                </a:cxn>
                <a:cxn ang="0">
                  <a:pos x="40" y="14"/>
                </a:cxn>
                <a:cxn ang="0">
                  <a:pos x="17" y="19"/>
                </a:cxn>
                <a:cxn ang="0">
                  <a:pos x="11" y="71"/>
                </a:cxn>
                <a:cxn ang="0">
                  <a:pos x="11" y="112"/>
                </a:cxn>
                <a:cxn ang="0">
                  <a:pos x="25" y="144"/>
                </a:cxn>
                <a:cxn ang="0">
                  <a:pos x="42" y="177"/>
                </a:cxn>
                <a:cxn ang="0">
                  <a:pos x="27" y="198"/>
                </a:cxn>
                <a:cxn ang="0">
                  <a:pos x="15" y="231"/>
                </a:cxn>
                <a:cxn ang="0">
                  <a:pos x="29" y="265"/>
                </a:cxn>
                <a:cxn ang="0">
                  <a:pos x="23" y="303"/>
                </a:cxn>
                <a:cxn ang="0">
                  <a:pos x="19" y="336"/>
                </a:cxn>
                <a:cxn ang="0">
                  <a:pos x="34" y="355"/>
                </a:cxn>
                <a:cxn ang="0">
                  <a:pos x="33" y="382"/>
                </a:cxn>
                <a:cxn ang="0">
                  <a:pos x="52" y="401"/>
                </a:cxn>
                <a:cxn ang="0">
                  <a:pos x="63" y="438"/>
                </a:cxn>
                <a:cxn ang="0">
                  <a:pos x="54" y="472"/>
                </a:cxn>
                <a:cxn ang="0">
                  <a:pos x="79" y="495"/>
                </a:cxn>
                <a:cxn ang="0">
                  <a:pos x="82" y="530"/>
                </a:cxn>
                <a:cxn ang="0">
                  <a:pos x="67" y="545"/>
                </a:cxn>
                <a:cxn ang="0">
                  <a:pos x="67" y="572"/>
                </a:cxn>
                <a:cxn ang="0">
                  <a:pos x="71" y="576"/>
                </a:cxn>
                <a:cxn ang="0">
                  <a:pos x="111" y="576"/>
                </a:cxn>
                <a:cxn ang="0">
                  <a:pos x="153" y="589"/>
                </a:cxn>
                <a:cxn ang="0">
                  <a:pos x="188" y="588"/>
                </a:cxn>
                <a:cxn ang="0">
                  <a:pos x="219" y="618"/>
                </a:cxn>
                <a:cxn ang="0">
                  <a:pos x="261" y="645"/>
                </a:cxn>
                <a:cxn ang="0">
                  <a:pos x="293" y="639"/>
                </a:cxn>
                <a:cxn ang="0">
                  <a:pos x="303" y="634"/>
                </a:cxn>
                <a:cxn ang="0">
                  <a:pos x="322" y="618"/>
                </a:cxn>
                <a:cxn ang="0">
                  <a:pos x="326" y="588"/>
                </a:cxn>
                <a:cxn ang="0">
                  <a:pos x="316" y="553"/>
                </a:cxn>
                <a:cxn ang="0">
                  <a:pos x="328" y="522"/>
                </a:cxn>
                <a:cxn ang="0">
                  <a:pos x="330" y="478"/>
                </a:cxn>
                <a:cxn ang="0">
                  <a:pos x="334" y="470"/>
                </a:cxn>
                <a:cxn ang="0">
                  <a:pos x="370" y="445"/>
                </a:cxn>
                <a:cxn ang="0">
                  <a:pos x="395" y="413"/>
                </a:cxn>
                <a:cxn ang="0">
                  <a:pos x="418" y="386"/>
                </a:cxn>
                <a:cxn ang="0">
                  <a:pos x="426" y="344"/>
                </a:cxn>
                <a:cxn ang="0">
                  <a:pos x="455" y="315"/>
                </a:cxn>
                <a:cxn ang="0">
                  <a:pos x="505" y="303"/>
                </a:cxn>
                <a:cxn ang="0">
                  <a:pos x="501" y="294"/>
                </a:cxn>
                <a:cxn ang="0">
                  <a:pos x="489" y="275"/>
                </a:cxn>
                <a:cxn ang="0">
                  <a:pos x="466" y="267"/>
                </a:cxn>
                <a:cxn ang="0">
                  <a:pos x="462" y="255"/>
                </a:cxn>
                <a:cxn ang="0">
                  <a:pos x="468" y="246"/>
                </a:cxn>
                <a:cxn ang="0">
                  <a:pos x="437" y="242"/>
                </a:cxn>
                <a:cxn ang="0">
                  <a:pos x="412" y="211"/>
                </a:cxn>
                <a:cxn ang="0">
                  <a:pos x="397" y="186"/>
                </a:cxn>
                <a:cxn ang="0">
                  <a:pos x="372" y="169"/>
                </a:cxn>
                <a:cxn ang="0">
                  <a:pos x="355" y="142"/>
                </a:cxn>
                <a:cxn ang="0">
                  <a:pos x="341" y="129"/>
                </a:cxn>
                <a:cxn ang="0">
                  <a:pos x="320" y="112"/>
                </a:cxn>
                <a:cxn ang="0">
                  <a:pos x="284" y="94"/>
                </a:cxn>
                <a:cxn ang="0">
                  <a:pos x="269" y="75"/>
                </a:cxn>
                <a:cxn ang="0">
                  <a:pos x="259" y="60"/>
                </a:cxn>
              </a:cxnLst>
              <a:rect l="0" t="0" r="r" b="b"/>
              <a:pathLst>
                <a:path w="505" h="653">
                  <a:moveTo>
                    <a:pt x="244" y="60"/>
                  </a:moveTo>
                  <a:lnTo>
                    <a:pt x="240" y="46"/>
                  </a:lnTo>
                  <a:lnTo>
                    <a:pt x="228" y="37"/>
                  </a:lnTo>
                  <a:lnTo>
                    <a:pt x="215" y="31"/>
                  </a:lnTo>
                  <a:lnTo>
                    <a:pt x="192" y="18"/>
                  </a:lnTo>
                  <a:lnTo>
                    <a:pt x="180" y="19"/>
                  </a:lnTo>
                  <a:lnTo>
                    <a:pt x="176" y="12"/>
                  </a:lnTo>
                  <a:lnTo>
                    <a:pt x="148" y="12"/>
                  </a:lnTo>
                  <a:lnTo>
                    <a:pt x="142" y="2"/>
                  </a:lnTo>
                  <a:lnTo>
                    <a:pt x="125" y="4"/>
                  </a:lnTo>
                  <a:lnTo>
                    <a:pt x="98" y="4"/>
                  </a:lnTo>
                  <a:lnTo>
                    <a:pt x="88" y="10"/>
                  </a:lnTo>
                  <a:lnTo>
                    <a:pt x="71" y="10"/>
                  </a:lnTo>
                  <a:lnTo>
                    <a:pt x="56" y="4"/>
                  </a:lnTo>
                  <a:lnTo>
                    <a:pt x="44" y="0"/>
                  </a:lnTo>
                  <a:lnTo>
                    <a:pt x="40" y="14"/>
                  </a:lnTo>
                  <a:lnTo>
                    <a:pt x="27" y="18"/>
                  </a:lnTo>
                  <a:lnTo>
                    <a:pt x="17" y="19"/>
                  </a:lnTo>
                  <a:lnTo>
                    <a:pt x="21" y="52"/>
                  </a:lnTo>
                  <a:lnTo>
                    <a:pt x="11" y="71"/>
                  </a:lnTo>
                  <a:lnTo>
                    <a:pt x="0" y="90"/>
                  </a:lnTo>
                  <a:lnTo>
                    <a:pt x="11" y="112"/>
                  </a:lnTo>
                  <a:lnTo>
                    <a:pt x="17" y="131"/>
                  </a:lnTo>
                  <a:lnTo>
                    <a:pt x="25" y="144"/>
                  </a:lnTo>
                  <a:lnTo>
                    <a:pt x="36" y="160"/>
                  </a:lnTo>
                  <a:lnTo>
                    <a:pt x="42" y="177"/>
                  </a:lnTo>
                  <a:lnTo>
                    <a:pt x="42" y="190"/>
                  </a:lnTo>
                  <a:lnTo>
                    <a:pt x="27" y="198"/>
                  </a:lnTo>
                  <a:lnTo>
                    <a:pt x="23" y="215"/>
                  </a:lnTo>
                  <a:lnTo>
                    <a:pt x="15" y="231"/>
                  </a:lnTo>
                  <a:lnTo>
                    <a:pt x="17" y="248"/>
                  </a:lnTo>
                  <a:lnTo>
                    <a:pt x="29" y="265"/>
                  </a:lnTo>
                  <a:lnTo>
                    <a:pt x="25" y="284"/>
                  </a:lnTo>
                  <a:lnTo>
                    <a:pt x="23" y="303"/>
                  </a:lnTo>
                  <a:lnTo>
                    <a:pt x="15" y="317"/>
                  </a:lnTo>
                  <a:lnTo>
                    <a:pt x="19" y="336"/>
                  </a:lnTo>
                  <a:lnTo>
                    <a:pt x="31" y="338"/>
                  </a:lnTo>
                  <a:lnTo>
                    <a:pt x="34" y="355"/>
                  </a:lnTo>
                  <a:lnTo>
                    <a:pt x="29" y="365"/>
                  </a:lnTo>
                  <a:lnTo>
                    <a:pt x="33" y="382"/>
                  </a:lnTo>
                  <a:lnTo>
                    <a:pt x="44" y="392"/>
                  </a:lnTo>
                  <a:lnTo>
                    <a:pt x="52" y="401"/>
                  </a:lnTo>
                  <a:lnTo>
                    <a:pt x="61" y="417"/>
                  </a:lnTo>
                  <a:lnTo>
                    <a:pt x="63" y="438"/>
                  </a:lnTo>
                  <a:lnTo>
                    <a:pt x="54" y="455"/>
                  </a:lnTo>
                  <a:lnTo>
                    <a:pt x="54" y="472"/>
                  </a:lnTo>
                  <a:lnTo>
                    <a:pt x="67" y="486"/>
                  </a:lnTo>
                  <a:lnTo>
                    <a:pt x="79" y="495"/>
                  </a:lnTo>
                  <a:lnTo>
                    <a:pt x="82" y="513"/>
                  </a:lnTo>
                  <a:lnTo>
                    <a:pt x="82" y="530"/>
                  </a:lnTo>
                  <a:lnTo>
                    <a:pt x="77" y="540"/>
                  </a:lnTo>
                  <a:lnTo>
                    <a:pt x="67" y="545"/>
                  </a:lnTo>
                  <a:lnTo>
                    <a:pt x="61" y="561"/>
                  </a:lnTo>
                  <a:lnTo>
                    <a:pt x="67" y="572"/>
                  </a:lnTo>
                  <a:lnTo>
                    <a:pt x="69" y="580"/>
                  </a:lnTo>
                  <a:lnTo>
                    <a:pt x="71" y="576"/>
                  </a:lnTo>
                  <a:lnTo>
                    <a:pt x="88" y="576"/>
                  </a:lnTo>
                  <a:lnTo>
                    <a:pt x="111" y="576"/>
                  </a:lnTo>
                  <a:lnTo>
                    <a:pt x="132" y="576"/>
                  </a:lnTo>
                  <a:lnTo>
                    <a:pt x="153" y="589"/>
                  </a:lnTo>
                  <a:lnTo>
                    <a:pt x="173" y="589"/>
                  </a:lnTo>
                  <a:lnTo>
                    <a:pt x="188" y="588"/>
                  </a:lnTo>
                  <a:lnTo>
                    <a:pt x="203" y="601"/>
                  </a:lnTo>
                  <a:lnTo>
                    <a:pt x="219" y="618"/>
                  </a:lnTo>
                  <a:lnTo>
                    <a:pt x="240" y="632"/>
                  </a:lnTo>
                  <a:lnTo>
                    <a:pt x="261" y="645"/>
                  </a:lnTo>
                  <a:lnTo>
                    <a:pt x="280" y="653"/>
                  </a:lnTo>
                  <a:lnTo>
                    <a:pt x="293" y="639"/>
                  </a:lnTo>
                  <a:lnTo>
                    <a:pt x="303" y="639"/>
                  </a:lnTo>
                  <a:lnTo>
                    <a:pt x="303" y="634"/>
                  </a:lnTo>
                  <a:lnTo>
                    <a:pt x="313" y="624"/>
                  </a:lnTo>
                  <a:lnTo>
                    <a:pt x="322" y="618"/>
                  </a:lnTo>
                  <a:lnTo>
                    <a:pt x="322" y="603"/>
                  </a:lnTo>
                  <a:lnTo>
                    <a:pt x="326" y="588"/>
                  </a:lnTo>
                  <a:lnTo>
                    <a:pt x="326" y="568"/>
                  </a:lnTo>
                  <a:lnTo>
                    <a:pt x="316" y="553"/>
                  </a:lnTo>
                  <a:lnTo>
                    <a:pt x="322" y="536"/>
                  </a:lnTo>
                  <a:lnTo>
                    <a:pt x="328" y="522"/>
                  </a:lnTo>
                  <a:lnTo>
                    <a:pt x="328" y="495"/>
                  </a:lnTo>
                  <a:lnTo>
                    <a:pt x="330" y="478"/>
                  </a:lnTo>
                  <a:lnTo>
                    <a:pt x="334" y="482"/>
                  </a:lnTo>
                  <a:lnTo>
                    <a:pt x="334" y="470"/>
                  </a:lnTo>
                  <a:lnTo>
                    <a:pt x="351" y="457"/>
                  </a:lnTo>
                  <a:lnTo>
                    <a:pt x="370" y="445"/>
                  </a:lnTo>
                  <a:lnTo>
                    <a:pt x="374" y="432"/>
                  </a:lnTo>
                  <a:lnTo>
                    <a:pt x="395" y="413"/>
                  </a:lnTo>
                  <a:lnTo>
                    <a:pt x="412" y="399"/>
                  </a:lnTo>
                  <a:lnTo>
                    <a:pt x="418" y="386"/>
                  </a:lnTo>
                  <a:lnTo>
                    <a:pt x="418" y="365"/>
                  </a:lnTo>
                  <a:lnTo>
                    <a:pt x="426" y="344"/>
                  </a:lnTo>
                  <a:lnTo>
                    <a:pt x="443" y="338"/>
                  </a:lnTo>
                  <a:lnTo>
                    <a:pt x="455" y="315"/>
                  </a:lnTo>
                  <a:lnTo>
                    <a:pt x="478" y="303"/>
                  </a:lnTo>
                  <a:lnTo>
                    <a:pt x="505" y="303"/>
                  </a:lnTo>
                  <a:lnTo>
                    <a:pt x="505" y="302"/>
                  </a:lnTo>
                  <a:lnTo>
                    <a:pt x="501" y="294"/>
                  </a:lnTo>
                  <a:lnTo>
                    <a:pt x="497" y="284"/>
                  </a:lnTo>
                  <a:lnTo>
                    <a:pt x="489" y="275"/>
                  </a:lnTo>
                  <a:lnTo>
                    <a:pt x="478" y="267"/>
                  </a:lnTo>
                  <a:lnTo>
                    <a:pt x="466" y="267"/>
                  </a:lnTo>
                  <a:lnTo>
                    <a:pt x="462" y="261"/>
                  </a:lnTo>
                  <a:lnTo>
                    <a:pt x="462" y="255"/>
                  </a:lnTo>
                  <a:lnTo>
                    <a:pt x="468" y="252"/>
                  </a:lnTo>
                  <a:lnTo>
                    <a:pt x="468" y="246"/>
                  </a:lnTo>
                  <a:lnTo>
                    <a:pt x="457" y="244"/>
                  </a:lnTo>
                  <a:lnTo>
                    <a:pt x="437" y="242"/>
                  </a:lnTo>
                  <a:lnTo>
                    <a:pt x="424" y="225"/>
                  </a:lnTo>
                  <a:lnTo>
                    <a:pt x="412" y="211"/>
                  </a:lnTo>
                  <a:lnTo>
                    <a:pt x="395" y="200"/>
                  </a:lnTo>
                  <a:lnTo>
                    <a:pt x="397" y="186"/>
                  </a:lnTo>
                  <a:lnTo>
                    <a:pt x="384" y="173"/>
                  </a:lnTo>
                  <a:lnTo>
                    <a:pt x="372" y="169"/>
                  </a:lnTo>
                  <a:lnTo>
                    <a:pt x="366" y="156"/>
                  </a:lnTo>
                  <a:lnTo>
                    <a:pt x="355" y="142"/>
                  </a:lnTo>
                  <a:lnTo>
                    <a:pt x="345" y="142"/>
                  </a:lnTo>
                  <a:lnTo>
                    <a:pt x="341" y="129"/>
                  </a:lnTo>
                  <a:lnTo>
                    <a:pt x="332" y="117"/>
                  </a:lnTo>
                  <a:lnTo>
                    <a:pt x="320" y="112"/>
                  </a:lnTo>
                  <a:lnTo>
                    <a:pt x="305" y="98"/>
                  </a:lnTo>
                  <a:lnTo>
                    <a:pt x="284" y="94"/>
                  </a:lnTo>
                  <a:lnTo>
                    <a:pt x="274" y="87"/>
                  </a:lnTo>
                  <a:lnTo>
                    <a:pt x="269" y="75"/>
                  </a:lnTo>
                  <a:lnTo>
                    <a:pt x="267" y="65"/>
                  </a:lnTo>
                  <a:lnTo>
                    <a:pt x="259" y="60"/>
                  </a:lnTo>
                  <a:lnTo>
                    <a:pt x="244" y="6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2" name="Freeform 17">
              <a:extLst>
                <a:ext uri="{FF2B5EF4-FFF2-40B4-BE49-F238E27FC236}">
                  <a16:creationId xmlns:a16="http://schemas.microsoft.com/office/drawing/2014/main" id="{7A907F4A-25E6-B5FF-1678-DA88BD7A79DD}"/>
                </a:ext>
              </a:extLst>
            </p:cNvPr>
            <p:cNvSpPr>
              <a:spLocks noChangeAspect="1"/>
            </p:cNvSpPr>
            <p:nvPr/>
          </p:nvSpPr>
          <p:spPr bwMode="auto">
            <a:xfrm>
              <a:off x="7823127" y="2748526"/>
              <a:ext cx="563450" cy="806480"/>
            </a:xfrm>
            <a:custGeom>
              <a:avLst/>
              <a:gdLst/>
              <a:ahLst/>
              <a:cxnLst>
                <a:cxn ang="0">
                  <a:pos x="541" y="34"/>
                </a:cxn>
                <a:cxn ang="0">
                  <a:pos x="506" y="63"/>
                </a:cxn>
                <a:cxn ang="0">
                  <a:pos x="466" y="84"/>
                </a:cxn>
                <a:cxn ang="0">
                  <a:pos x="437" y="121"/>
                </a:cxn>
                <a:cxn ang="0">
                  <a:pos x="416" y="174"/>
                </a:cxn>
                <a:cxn ang="0">
                  <a:pos x="414" y="220"/>
                </a:cxn>
                <a:cxn ang="0">
                  <a:pos x="437" y="272"/>
                </a:cxn>
                <a:cxn ang="0">
                  <a:pos x="426" y="324"/>
                </a:cxn>
                <a:cxn ang="0">
                  <a:pos x="408" y="339"/>
                </a:cxn>
                <a:cxn ang="0">
                  <a:pos x="399" y="409"/>
                </a:cxn>
                <a:cxn ang="0">
                  <a:pos x="429" y="451"/>
                </a:cxn>
                <a:cxn ang="0">
                  <a:pos x="378" y="487"/>
                </a:cxn>
                <a:cxn ang="0">
                  <a:pos x="305" y="478"/>
                </a:cxn>
                <a:cxn ang="0">
                  <a:pos x="236" y="504"/>
                </a:cxn>
                <a:cxn ang="0">
                  <a:pos x="193" y="551"/>
                </a:cxn>
                <a:cxn ang="0">
                  <a:pos x="136" y="558"/>
                </a:cxn>
                <a:cxn ang="0">
                  <a:pos x="88" y="579"/>
                </a:cxn>
                <a:cxn ang="0">
                  <a:pos x="73" y="629"/>
                </a:cxn>
                <a:cxn ang="0">
                  <a:pos x="53" y="673"/>
                </a:cxn>
                <a:cxn ang="0">
                  <a:pos x="27" y="716"/>
                </a:cxn>
                <a:cxn ang="0">
                  <a:pos x="17" y="765"/>
                </a:cxn>
                <a:cxn ang="0">
                  <a:pos x="32" y="810"/>
                </a:cxn>
                <a:cxn ang="0">
                  <a:pos x="17" y="867"/>
                </a:cxn>
                <a:cxn ang="0">
                  <a:pos x="0" y="900"/>
                </a:cxn>
                <a:cxn ang="0">
                  <a:pos x="28" y="921"/>
                </a:cxn>
                <a:cxn ang="0">
                  <a:pos x="61" y="952"/>
                </a:cxn>
                <a:cxn ang="0">
                  <a:pos x="126" y="986"/>
                </a:cxn>
                <a:cxn ang="0">
                  <a:pos x="186" y="961"/>
                </a:cxn>
                <a:cxn ang="0">
                  <a:pos x="257" y="934"/>
                </a:cxn>
                <a:cxn ang="0">
                  <a:pos x="303" y="902"/>
                </a:cxn>
                <a:cxn ang="0">
                  <a:pos x="307" y="815"/>
                </a:cxn>
                <a:cxn ang="0">
                  <a:pos x="368" y="823"/>
                </a:cxn>
                <a:cxn ang="0">
                  <a:pos x="431" y="833"/>
                </a:cxn>
                <a:cxn ang="0">
                  <a:pos x="502" y="810"/>
                </a:cxn>
                <a:cxn ang="0">
                  <a:pos x="562" y="773"/>
                </a:cxn>
                <a:cxn ang="0">
                  <a:pos x="616" y="739"/>
                </a:cxn>
                <a:cxn ang="0">
                  <a:pos x="669" y="694"/>
                </a:cxn>
                <a:cxn ang="0">
                  <a:pos x="665" y="629"/>
                </a:cxn>
                <a:cxn ang="0">
                  <a:pos x="675" y="583"/>
                </a:cxn>
                <a:cxn ang="0">
                  <a:pos x="690" y="541"/>
                </a:cxn>
                <a:cxn ang="0">
                  <a:pos x="662" y="483"/>
                </a:cxn>
                <a:cxn ang="0">
                  <a:pos x="660" y="412"/>
                </a:cxn>
                <a:cxn ang="0">
                  <a:pos x="642" y="366"/>
                </a:cxn>
                <a:cxn ang="0">
                  <a:pos x="631" y="314"/>
                </a:cxn>
                <a:cxn ang="0">
                  <a:pos x="623" y="242"/>
                </a:cxn>
                <a:cxn ang="0">
                  <a:pos x="650" y="188"/>
                </a:cxn>
                <a:cxn ang="0">
                  <a:pos x="619" y="123"/>
                </a:cxn>
                <a:cxn ang="0">
                  <a:pos x="625" y="32"/>
                </a:cxn>
                <a:cxn ang="0">
                  <a:pos x="598" y="11"/>
                </a:cxn>
                <a:cxn ang="0">
                  <a:pos x="556" y="0"/>
                </a:cxn>
              </a:cxnLst>
              <a:rect l="0" t="0" r="r" b="b"/>
              <a:pathLst>
                <a:path w="690" h="986">
                  <a:moveTo>
                    <a:pt x="556" y="0"/>
                  </a:moveTo>
                  <a:lnTo>
                    <a:pt x="556" y="15"/>
                  </a:lnTo>
                  <a:lnTo>
                    <a:pt x="556" y="29"/>
                  </a:lnTo>
                  <a:lnTo>
                    <a:pt x="541" y="34"/>
                  </a:lnTo>
                  <a:lnTo>
                    <a:pt x="543" y="50"/>
                  </a:lnTo>
                  <a:lnTo>
                    <a:pt x="533" y="55"/>
                  </a:lnTo>
                  <a:lnTo>
                    <a:pt x="520" y="55"/>
                  </a:lnTo>
                  <a:lnTo>
                    <a:pt x="506" y="63"/>
                  </a:lnTo>
                  <a:lnTo>
                    <a:pt x="502" y="73"/>
                  </a:lnTo>
                  <a:lnTo>
                    <a:pt x="487" y="75"/>
                  </a:lnTo>
                  <a:lnTo>
                    <a:pt x="470" y="75"/>
                  </a:lnTo>
                  <a:lnTo>
                    <a:pt x="466" y="84"/>
                  </a:lnTo>
                  <a:lnTo>
                    <a:pt x="456" y="96"/>
                  </a:lnTo>
                  <a:lnTo>
                    <a:pt x="456" y="109"/>
                  </a:lnTo>
                  <a:lnTo>
                    <a:pt x="445" y="117"/>
                  </a:lnTo>
                  <a:lnTo>
                    <a:pt x="437" y="121"/>
                  </a:lnTo>
                  <a:lnTo>
                    <a:pt x="437" y="136"/>
                  </a:lnTo>
                  <a:lnTo>
                    <a:pt x="426" y="149"/>
                  </a:lnTo>
                  <a:lnTo>
                    <a:pt x="416" y="157"/>
                  </a:lnTo>
                  <a:lnTo>
                    <a:pt x="416" y="174"/>
                  </a:lnTo>
                  <a:lnTo>
                    <a:pt x="424" y="182"/>
                  </a:lnTo>
                  <a:lnTo>
                    <a:pt x="426" y="190"/>
                  </a:lnTo>
                  <a:lnTo>
                    <a:pt x="420" y="205"/>
                  </a:lnTo>
                  <a:lnTo>
                    <a:pt x="414" y="220"/>
                  </a:lnTo>
                  <a:lnTo>
                    <a:pt x="414" y="234"/>
                  </a:lnTo>
                  <a:lnTo>
                    <a:pt x="424" y="245"/>
                  </a:lnTo>
                  <a:lnTo>
                    <a:pt x="433" y="257"/>
                  </a:lnTo>
                  <a:lnTo>
                    <a:pt x="437" y="272"/>
                  </a:lnTo>
                  <a:lnTo>
                    <a:pt x="437" y="288"/>
                  </a:lnTo>
                  <a:lnTo>
                    <a:pt x="431" y="305"/>
                  </a:lnTo>
                  <a:lnTo>
                    <a:pt x="426" y="324"/>
                  </a:lnTo>
                  <a:lnTo>
                    <a:pt x="426" y="324"/>
                  </a:lnTo>
                  <a:lnTo>
                    <a:pt x="422" y="324"/>
                  </a:lnTo>
                  <a:lnTo>
                    <a:pt x="418" y="324"/>
                  </a:lnTo>
                  <a:lnTo>
                    <a:pt x="414" y="328"/>
                  </a:lnTo>
                  <a:lnTo>
                    <a:pt x="408" y="339"/>
                  </a:lnTo>
                  <a:lnTo>
                    <a:pt x="406" y="345"/>
                  </a:lnTo>
                  <a:lnTo>
                    <a:pt x="393" y="364"/>
                  </a:lnTo>
                  <a:lnTo>
                    <a:pt x="391" y="385"/>
                  </a:lnTo>
                  <a:lnTo>
                    <a:pt x="399" y="409"/>
                  </a:lnTo>
                  <a:lnTo>
                    <a:pt x="414" y="426"/>
                  </a:lnTo>
                  <a:lnTo>
                    <a:pt x="422" y="430"/>
                  </a:lnTo>
                  <a:lnTo>
                    <a:pt x="431" y="441"/>
                  </a:lnTo>
                  <a:lnTo>
                    <a:pt x="429" y="451"/>
                  </a:lnTo>
                  <a:lnTo>
                    <a:pt x="412" y="462"/>
                  </a:lnTo>
                  <a:lnTo>
                    <a:pt x="416" y="478"/>
                  </a:lnTo>
                  <a:lnTo>
                    <a:pt x="397" y="485"/>
                  </a:lnTo>
                  <a:lnTo>
                    <a:pt x="378" y="487"/>
                  </a:lnTo>
                  <a:lnTo>
                    <a:pt x="353" y="491"/>
                  </a:lnTo>
                  <a:lnTo>
                    <a:pt x="337" y="487"/>
                  </a:lnTo>
                  <a:lnTo>
                    <a:pt x="322" y="483"/>
                  </a:lnTo>
                  <a:lnTo>
                    <a:pt x="305" y="478"/>
                  </a:lnTo>
                  <a:lnTo>
                    <a:pt x="286" y="478"/>
                  </a:lnTo>
                  <a:lnTo>
                    <a:pt x="268" y="485"/>
                  </a:lnTo>
                  <a:lnTo>
                    <a:pt x="253" y="493"/>
                  </a:lnTo>
                  <a:lnTo>
                    <a:pt x="236" y="504"/>
                  </a:lnTo>
                  <a:lnTo>
                    <a:pt x="222" y="510"/>
                  </a:lnTo>
                  <a:lnTo>
                    <a:pt x="207" y="524"/>
                  </a:lnTo>
                  <a:lnTo>
                    <a:pt x="199" y="535"/>
                  </a:lnTo>
                  <a:lnTo>
                    <a:pt x="193" y="551"/>
                  </a:lnTo>
                  <a:lnTo>
                    <a:pt x="182" y="554"/>
                  </a:lnTo>
                  <a:lnTo>
                    <a:pt x="167" y="552"/>
                  </a:lnTo>
                  <a:lnTo>
                    <a:pt x="149" y="554"/>
                  </a:lnTo>
                  <a:lnTo>
                    <a:pt x="136" y="558"/>
                  </a:lnTo>
                  <a:lnTo>
                    <a:pt x="124" y="562"/>
                  </a:lnTo>
                  <a:lnTo>
                    <a:pt x="111" y="566"/>
                  </a:lnTo>
                  <a:lnTo>
                    <a:pt x="99" y="570"/>
                  </a:lnTo>
                  <a:lnTo>
                    <a:pt x="88" y="579"/>
                  </a:lnTo>
                  <a:lnTo>
                    <a:pt x="80" y="593"/>
                  </a:lnTo>
                  <a:lnTo>
                    <a:pt x="75" y="604"/>
                  </a:lnTo>
                  <a:lnTo>
                    <a:pt x="73" y="620"/>
                  </a:lnTo>
                  <a:lnTo>
                    <a:pt x="73" y="629"/>
                  </a:lnTo>
                  <a:lnTo>
                    <a:pt x="73" y="641"/>
                  </a:lnTo>
                  <a:lnTo>
                    <a:pt x="67" y="650"/>
                  </a:lnTo>
                  <a:lnTo>
                    <a:pt x="55" y="658"/>
                  </a:lnTo>
                  <a:lnTo>
                    <a:pt x="53" y="673"/>
                  </a:lnTo>
                  <a:lnTo>
                    <a:pt x="42" y="681"/>
                  </a:lnTo>
                  <a:lnTo>
                    <a:pt x="32" y="691"/>
                  </a:lnTo>
                  <a:lnTo>
                    <a:pt x="27" y="702"/>
                  </a:lnTo>
                  <a:lnTo>
                    <a:pt x="27" y="716"/>
                  </a:lnTo>
                  <a:lnTo>
                    <a:pt x="23" y="725"/>
                  </a:lnTo>
                  <a:lnTo>
                    <a:pt x="17" y="737"/>
                  </a:lnTo>
                  <a:lnTo>
                    <a:pt x="17" y="752"/>
                  </a:lnTo>
                  <a:lnTo>
                    <a:pt x="17" y="765"/>
                  </a:lnTo>
                  <a:lnTo>
                    <a:pt x="17" y="771"/>
                  </a:lnTo>
                  <a:lnTo>
                    <a:pt x="23" y="787"/>
                  </a:lnTo>
                  <a:lnTo>
                    <a:pt x="27" y="798"/>
                  </a:lnTo>
                  <a:lnTo>
                    <a:pt x="32" y="810"/>
                  </a:lnTo>
                  <a:lnTo>
                    <a:pt x="30" y="827"/>
                  </a:lnTo>
                  <a:lnTo>
                    <a:pt x="28" y="840"/>
                  </a:lnTo>
                  <a:lnTo>
                    <a:pt x="23" y="850"/>
                  </a:lnTo>
                  <a:lnTo>
                    <a:pt x="17" y="867"/>
                  </a:lnTo>
                  <a:lnTo>
                    <a:pt x="13" y="877"/>
                  </a:lnTo>
                  <a:lnTo>
                    <a:pt x="0" y="877"/>
                  </a:lnTo>
                  <a:lnTo>
                    <a:pt x="0" y="890"/>
                  </a:lnTo>
                  <a:lnTo>
                    <a:pt x="0" y="900"/>
                  </a:lnTo>
                  <a:lnTo>
                    <a:pt x="13" y="906"/>
                  </a:lnTo>
                  <a:lnTo>
                    <a:pt x="19" y="906"/>
                  </a:lnTo>
                  <a:lnTo>
                    <a:pt x="28" y="919"/>
                  </a:lnTo>
                  <a:lnTo>
                    <a:pt x="28" y="921"/>
                  </a:lnTo>
                  <a:lnTo>
                    <a:pt x="30" y="919"/>
                  </a:lnTo>
                  <a:lnTo>
                    <a:pt x="46" y="921"/>
                  </a:lnTo>
                  <a:lnTo>
                    <a:pt x="53" y="934"/>
                  </a:lnTo>
                  <a:lnTo>
                    <a:pt x="61" y="952"/>
                  </a:lnTo>
                  <a:lnTo>
                    <a:pt x="76" y="969"/>
                  </a:lnTo>
                  <a:lnTo>
                    <a:pt x="86" y="980"/>
                  </a:lnTo>
                  <a:lnTo>
                    <a:pt x="101" y="986"/>
                  </a:lnTo>
                  <a:lnTo>
                    <a:pt x="126" y="986"/>
                  </a:lnTo>
                  <a:lnTo>
                    <a:pt x="146" y="982"/>
                  </a:lnTo>
                  <a:lnTo>
                    <a:pt x="159" y="982"/>
                  </a:lnTo>
                  <a:lnTo>
                    <a:pt x="172" y="975"/>
                  </a:lnTo>
                  <a:lnTo>
                    <a:pt x="186" y="961"/>
                  </a:lnTo>
                  <a:lnTo>
                    <a:pt x="197" y="955"/>
                  </a:lnTo>
                  <a:lnTo>
                    <a:pt x="230" y="957"/>
                  </a:lnTo>
                  <a:lnTo>
                    <a:pt x="249" y="954"/>
                  </a:lnTo>
                  <a:lnTo>
                    <a:pt x="257" y="934"/>
                  </a:lnTo>
                  <a:lnTo>
                    <a:pt x="278" y="931"/>
                  </a:lnTo>
                  <a:lnTo>
                    <a:pt x="289" y="919"/>
                  </a:lnTo>
                  <a:lnTo>
                    <a:pt x="289" y="911"/>
                  </a:lnTo>
                  <a:lnTo>
                    <a:pt x="303" y="902"/>
                  </a:lnTo>
                  <a:lnTo>
                    <a:pt x="305" y="848"/>
                  </a:lnTo>
                  <a:lnTo>
                    <a:pt x="297" y="835"/>
                  </a:lnTo>
                  <a:lnTo>
                    <a:pt x="288" y="821"/>
                  </a:lnTo>
                  <a:lnTo>
                    <a:pt x="307" y="815"/>
                  </a:lnTo>
                  <a:lnTo>
                    <a:pt x="330" y="802"/>
                  </a:lnTo>
                  <a:lnTo>
                    <a:pt x="339" y="813"/>
                  </a:lnTo>
                  <a:lnTo>
                    <a:pt x="345" y="821"/>
                  </a:lnTo>
                  <a:lnTo>
                    <a:pt x="368" y="823"/>
                  </a:lnTo>
                  <a:lnTo>
                    <a:pt x="380" y="829"/>
                  </a:lnTo>
                  <a:lnTo>
                    <a:pt x="393" y="836"/>
                  </a:lnTo>
                  <a:lnTo>
                    <a:pt x="410" y="838"/>
                  </a:lnTo>
                  <a:lnTo>
                    <a:pt x="431" y="833"/>
                  </a:lnTo>
                  <a:lnTo>
                    <a:pt x="447" y="829"/>
                  </a:lnTo>
                  <a:lnTo>
                    <a:pt x="460" y="823"/>
                  </a:lnTo>
                  <a:lnTo>
                    <a:pt x="476" y="808"/>
                  </a:lnTo>
                  <a:lnTo>
                    <a:pt x="502" y="810"/>
                  </a:lnTo>
                  <a:lnTo>
                    <a:pt x="516" y="808"/>
                  </a:lnTo>
                  <a:lnTo>
                    <a:pt x="533" y="798"/>
                  </a:lnTo>
                  <a:lnTo>
                    <a:pt x="552" y="781"/>
                  </a:lnTo>
                  <a:lnTo>
                    <a:pt x="562" y="773"/>
                  </a:lnTo>
                  <a:lnTo>
                    <a:pt x="581" y="764"/>
                  </a:lnTo>
                  <a:lnTo>
                    <a:pt x="594" y="764"/>
                  </a:lnTo>
                  <a:lnTo>
                    <a:pt x="598" y="750"/>
                  </a:lnTo>
                  <a:lnTo>
                    <a:pt x="616" y="739"/>
                  </a:lnTo>
                  <a:lnTo>
                    <a:pt x="629" y="725"/>
                  </a:lnTo>
                  <a:lnTo>
                    <a:pt x="646" y="723"/>
                  </a:lnTo>
                  <a:lnTo>
                    <a:pt x="665" y="712"/>
                  </a:lnTo>
                  <a:lnTo>
                    <a:pt x="669" y="694"/>
                  </a:lnTo>
                  <a:lnTo>
                    <a:pt x="683" y="683"/>
                  </a:lnTo>
                  <a:lnTo>
                    <a:pt x="681" y="666"/>
                  </a:lnTo>
                  <a:lnTo>
                    <a:pt x="667" y="648"/>
                  </a:lnTo>
                  <a:lnTo>
                    <a:pt x="665" y="629"/>
                  </a:lnTo>
                  <a:lnTo>
                    <a:pt x="665" y="602"/>
                  </a:lnTo>
                  <a:lnTo>
                    <a:pt x="679" y="587"/>
                  </a:lnTo>
                  <a:lnTo>
                    <a:pt x="677" y="591"/>
                  </a:lnTo>
                  <a:lnTo>
                    <a:pt x="675" y="583"/>
                  </a:lnTo>
                  <a:lnTo>
                    <a:pt x="669" y="572"/>
                  </a:lnTo>
                  <a:lnTo>
                    <a:pt x="675" y="556"/>
                  </a:lnTo>
                  <a:lnTo>
                    <a:pt x="685" y="551"/>
                  </a:lnTo>
                  <a:lnTo>
                    <a:pt x="690" y="541"/>
                  </a:lnTo>
                  <a:lnTo>
                    <a:pt x="690" y="524"/>
                  </a:lnTo>
                  <a:lnTo>
                    <a:pt x="687" y="506"/>
                  </a:lnTo>
                  <a:lnTo>
                    <a:pt x="675" y="497"/>
                  </a:lnTo>
                  <a:lnTo>
                    <a:pt x="662" y="483"/>
                  </a:lnTo>
                  <a:lnTo>
                    <a:pt x="662" y="466"/>
                  </a:lnTo>
                  <a:lnTo>
                    <a:pt x="671" y="449"/>
                  </a:lnTo>
                  <a:lnTo>
                    <a:pt x="669" y="428"/>
                  </a:lnTo>
                  <a:lnTo>
                    <a:pt x="660" y="412"/>
                  </a:lnTo>
                  <a:lnTo>
                    <a:pt x="652" y="403"/>
                  </a:lnTo>
                  <a:lnTo>
                    <a:pt x="641" y="393"/>
                  </a:lnTo>
                  <a:lnTo>
                    <a:pt x="637" y="376"/>
                  </a:lnTo>
                  <a:lnTo>
                    <a:pt x="642" y="366"/>
                  </a:lnTo>
                  <a:lnTo>
                    <a:pt x="639" y="349"/>
                  </a:lnTo>
                  <a:lnTo>
                    <a:pt x="627" y="347"/>
                  </a:lnTo>
                  <a:lnTo>
                    <a:pt x="623" y="328"/>
                  </a:lnTo>
                  <a:lnTo>
                    <a:pt x="631" y="314"/>
                  </a:lnTo>
                  <a:lnTo>
                    <a:pt x="633" y="295"/>
                  </a:lnTo>
                  <a:lnTo>
                    <a:pt x="637" y="276"/>
                  </a:lnTo>
                  <a:lnTo>
                    <a:pt x="625" y="259"/>
                  </a:lnTo>
                  <a:lnTo>
                    <a:pt x="623" y="242"/>
                  </a:lnTo>
                  <a:lnTo>
                    <a:pt x="631" y="226"/>
                  </a:lnTo>
                  <a:lnTo>
                    <a:pt x="635" y="209"/>
                  </a:lnTo>
                  <a:lnTo>
                    <a:pt x="650" y="201"/>
                  </a:lnTo>
                  <a:lnTo>
                    <a:pt x="650" y="188"/>
                  </a:lnTo>
                  <a:lnTo>
                    <a:pt x="644" y="171"/>
                  </a:lnTo>
                  <a:lnTo>
                    <a:pt x="633" y="155"/>
                  </a:lnTo>
                  <a:lnTo>
                    <a:pt x="625" y="142"/>
                  </a:lnTo>
                  <a:lnTo>
                    <a:pt x="619" y="123"/>
                  </a:lnTo>
                  <a:lnTo>
                    <a:pt x="608" y="101"/>
                  </a:lnTo>
                  <a:lnTo>
                    <a:pt x="619" y="82"/>
                  </a:lnTo>
                  <a:lnTo>
                    <a:pt x="629" y="63"/>
                  </a:lnTo>
                  <a:lnTo>
                    <a:pt x="625" y="32"/>
                  </a:lnTo>
                  <a:lnTo>
                    <a:pt x="625" y="30"/>
                  </a:lnTo>
                  <a:lnTo>
                    <a:pt x="614" y="25"/>
                  </a:lnTo>
                  <a:lnTo>
                    <a:pt x="602" y="19"/>
                  </a:lnTo>
                  <a:lnTo>
                    <a:pt x="598" y="11"/>
                  </a:lnTo>
                  <a:lnTo>
                    <a:pt x="589" y="11"/>
                  </a:lnTo>
                  <a:lnTo>
                    <a:pt x="579" y="2"/>
                  </a:lnTo>
                  <a:lnTo>
                    <a:pt x="566" y="2"/>
                  </a:lnTo>
                  <a:lnTo>
                    <a:pt x="556" y="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3" name="Freeform 18">
              <a:extLst>
                <a:ext uri="{FF2B5EF4-FFF2-40B4-BE49-F238E27FC236}">
                  <a16:creationId xmlns:a16="http://schemas.microsoft.com/office/drawing/2014/main" id="{D4B395DD-1D9A-A743-C22E-4711ABF92CF2}"/>
                </a:ext>
              </a:extLst>
            </p:cNvPr>
            <p:cNvSpPr>
              <a:spLocks noChangeAspect="1"/>
            </p:cNvSpPr>
            <p:nvPr/>
          </p:nvSpPr>
          <p:spPr bwMode="auto">
            <a:xfrm>
              <a:off x="7567015" y="2548361"/>
              <a:ext cx="710133" cy="931001"/>
            </a:xfrm>
            <a:custGeom>
              <a:avLst/>
              <a:gdLst/>
              <a:ahLst/>
              <a:cxnLst>
                <a:cxn ang="0">
                  <a:pos x="685" y="192"/>
                </a:cxn>
                <a:cxn ang="0">
                  <a:pos x="625" y="192"/>
                </a:cxn>
                <a:cxn ang="0">
                  <a:pos x="572" y="223"/>
                </a:cxn>
                <a:cxn ang="0">
                  <a:pos x="560" y="186"/>
                </a:cxn>
                <a:cxn ang="0">
                  <a:pos x="530" y="267"/>
                </a:cxn>
                <a:cxn ang="0">
                  <a:pos x="518" y="198"/>
                </a:cxn>
                <a:cxn ang="0">
                  <a:pos x="539" y="131"/>
                </a:cxn>
                <a:cxn ang="0">
                  <a:pos x="482" y="159"/>
                </a:cxn>
                <a:cxn ang="0">
                  <a:pos x="518" y="125"/>
                </a:cxn>
                <a:cxn ang="0">
                  <a:pos x="537" y="100"/>
                </a:cxn>
                <a:cxn ang="0">
                  <a:pos x="480" y="61"/>
                </a:cxn>
                <a:cxn ang="0">
                  <a:pos x="443" y="73"/>
                </a:cxn>
                <a:cxn ang="0">
                  <a:pos x="403" y="23"/>
                </a:cxn>
                <a:cxn ang="0">
                  <a:pos x="343" y="8"/>
                </a:cxn>
                <a:cxn ang="0">
                  <a:pos x="322" y="98"/>
                </a:cxn>
                <a:cxn ang="0">
                  <a:pos x="297" y="171"/>
                </a:cxn>
                <a:cxn ang="0">
                  <a:pos x="244" y="228"/>
                </a:cxn>
                <a:cxn ang="0">
                  <a:pos x="209" y="322"/>
                </a:cxn>
                <a:cxn ang="0">
                  <a:pos x="157" y="392"/>
                </a:cxn>
                <a:cxn ang="0">
                  <a:pos x="71" y="434"/>
                </a:cxn>
                <a:cxn ang="0">
                  <a:pos x="0" y="491"/>
                </a:cxn>
                <a:cxn ang="0">
                  <a:pos x="73" y="501"/>
                </a:cxn>
                <a:cxn ang="0">
                  <a:pos x="130" y="528"/>
                </a:cxn>
                <a:cxn ang="0">
                  <a:pos x="159" y="614"/>
                </a:cxn>
                <a:cxn ang="0">
                  <a:pos x="146" y="681"/>
                </a:cxn>
                <a:cxn ang="0">
                  <a:pos x="113" y="737"/>
                </a:cxn>
                <a:cxn ang="0">
                  <a:pos x="161" y="793"/>
                </a:cxn>
                <a:cxn ang="0">
                  <a:pos x="196" y="839"/>
                </a:cxn>
                <a:cxn ang="0">
                  <a:pos x="238" y="860"/>
                </a:cxn>
                <a:cxn ang="0">
                  <a:pos x="240" y="910"/>
                </a:cxn>
                <a:cxn ang="0">
                  <a:pos x="209" y="967"/>
                </a:cxn>
                <a:cxn ang="0">
                  <a:pos x="215" y="1011"/>
                </a:cxn>
                <a:cxn ang="0">
                  <a:pos x="251" y="1046"/>
                </a:cxn>
                <a:cxn ang="0">
                  <a:pos x="263" y="1106"/>
                </a:cxn>
                <a:cxn ang="0">
                  <a:pos x="313" y="1140"/>
                </a:cxn>
                <a:cxn ang="0">
                  <a:pos x="336" y="1096"/>
                </a:cxn>
                <a:cxn ang="0">
                  <a:pos x="336" y="1033"/>
                </a:cxn>
                <a:cxn ang="0">
                  <a:pos x="336" y="971"/>
                </a:cxn>
                <a:cxn ang="0">
                  <a:pos x="366" y="919"/>
                </a:cxn>
                <a:cxn ang="0">
                  <a:pos x="386" y="866"/>
                </a:cxn>
                <a:cxn ang="0">
                  <a:pos x="424" y="812"/>
                </a:cxn>
                <a:cxn ang="0">
                  <a:pos x="495" y="800"/>
                </a:cxn>
                <a:cxn ang="0">
                  <a:pos x="549" y="750"/>
                </a:cxn>
                <a:cxn ang="0">
                  <a:pos x="635" y="729"/>
                </a:cxn>
                <a:cxn ang="0">
                  <a:pos x="729" y="724"/>
                </a:cxn>
                <a:cxn ang="0">
                  <a:pos x="727" y="672"/>
                </a:cxn>
                <a:cxn ang="0">
                  <a:pos x="721" y="585"/>
                </a:cxn>
                <a:cxn ang="0">
                  <a:pos x="739" y="570"/>
                </a:cxn>
                <a:cxn ang="0">
                  <a:pos x="737" y="491"/>
                </a:cxn>
                <a:cxn ang="0">
                  <a:pos x="737" y="428"/>
                </a:cxn>
                <a:cxn ang="0">
                  <a:pos x="750" y="367"/>
                </a:cxn>
                <a:cxn ang="0">
                  <a:pos x="783" y="321"/>
                </a:cxn>
                <a:cxn ang="0">
                  <a:pos x="846" y="301"/>
                </a:cxn>
                <a:cxn ang="0">
                  <a:pos x="869" y="250"/>
                </a:cxn>
                <a:cxn ang="0">
                  <a:pos x="812" y="236"/>
                </a:cxn>
                <a:cxn ang="0">
                  <a:pos x="773" y="209"/>
                </a:cxn>
                <a:cxn ang="0">
                  <a:pos x="719" y="182"/>
                </a:cxn>
              </a:cxnLst>
              <a:rect l="0" t="0" r="r" b="b"/>
              <a:pathLst>
                <a:path w="869" h="1140">
                  <a:moveTo>
                    <a:pt x="712" y="171"/>
                  </a:moveTo>
                  <a:lnTo>
                    <a:pt x="698" y="171"/>
                  </a:lnTo>
                  <a:lnTo>
                    <a:pt x="681" y="171"/>
                  </a:lnTo>
                  <a:lnTo>
                    <a:pt x="677" y="180"/>
                  </a:lnTo>
                  <a:lnTo>
                    <a:pt x="685" y="192"/>
                  </a:lnTo>
                  <a:lnTo>
                    <a:pt x="673" y="196"/>
                  </a:lnTo>
                  <a:lnTo>
                    <a:pt x="662" y="202"/>
                  </a:lnTo>
                  <a:lnTo>
                    <a:pt x="660" y="190"/>
                  </a:lnTo>
                  <a:lnTo>
                    <a:pt x="637" y="188"/>
                  </a:lnTo>
                  <a:lnTo>
                    <a:pt x="625" y="192"/>
                  </a:lnTo>
                  <a:lnTo>
                    <a:pt x="620" y="184"/>
                  </a:lnTo>
                  <a:lnTo>
                    <a:pt x="601" y="184"/>
                  </a:lnTo>
                  <a:lnTo>
                    <a:pt x="591" y="196"/>
                  </a:lnTo>
                  <a:lnTo>
                    <a:pt x="577" y="209"/>
                  </a:lnTo>
                  <a:lnTo>
                    <a:pt x="572" y="223"/>
                  </a:lnTo>
                  <a:lnTo>
                    <a:pt x="554" y="223"/>
                  </a:lnTo>
                  <a:lnTo>
                    <a:pt x="553" y="209"/>
                  </a:lnTo>
                  <a:lnTo>
                    <a:pt x="577" y="184"/>
                  </a:lnTo>
                  <a:lnTo>
                    <a:pt x="570" y="171"/>
                  </a:lnTo>
                  <a:lnTo>
                    <a:pt x="560" y="186"/>
                  </a:lnTo>
                  <a:lnTo>
                    <a:pt x="549" y="194"/>
                  </a:lnTo>
                  <a:lnTo>
                    <a:pt x="531" y="209"/>
                  </a:lnTo>
                  <a:lnTo>
                    <a:pt x="528" y="228"/>
                  </a:lnTo>
                  <a:lnTo>
                    <a:pt x="537" y="251"/>
                  </a:lnTo>
                  <a:lnTo>
                    <a:pt x="530" y="267"/>
                  </a:lnTo>
                  <a:lnTo>
                    <a:pt x="514" y="271"/>
                  </a:lnTo>
                  <a:lnTo>
                    <a:pt x="510" y="253"/>
                  </a:lnTo>
                  <a:lnTo>
                    <a:pt x="518" y="234"/>
                  </a:lnTo>
                  <a:lnTo>
                    <a:pt x="514" y="219"/>
                  </a:lnTo>
                  <a:lnTo>
                    <a:pt x="518" y="198"/>
                  </a:lnTo>
                  <a:lnTo>
                    <a:pt x="533" y="184"/>
                  </a:lnTo>
                  <a:lnTo>
                    <a:pt x="547" y="169"/>
                  </a:lnTo>
                  <a:lnTo>
                    <a:pt x="556" y="154"/>
                  </a:lnTo>
                  <a:lnTo>
                    <a:pt x="554" y="138"/>
                  </a:lnTo>
                  <a:lnTo>
                    <a:pt x="539" y="131"/>
                  </a:lnTo>
                  <a:lnTo>
                    <a:pt x="531" y="146"/>
                  </a:lnTo>
                  <a:lnTo>
                    <a:pt x="514" y="156"/>
                  </a:lnTo>
                  <a:lnTo>
                    <a:pt x="499" y="169"/>
                  </a:lnTo>
                  <a:lnTo>
                    <a:pt x="493" y="159"/>
                  </a:lnTo>
                  <a:lnTo>
                    <a:pt x="482" y="159"/>
                  </a:lnTo>
                  <a:lnTo>
                    <a:pt x="485" y="146"/>
                  </a:lnTo>
                  <a:lnTo>
                    <a:pt x="505" y="146"/>
                  </a:lnTo>
                  <a:lnTo>
                    <a:pt x="518" y="131"/>
                  </a:lnTo>
                  <a:lnTo>
                    <a:pt x="518" y="129"/>
                  </a:lnTo>
                  <a:lnTo>
                    <a:pt x="518" y="125"/>
                  </a:lnTo>
                  <a:lnTo>
                    <a:pt x="520" y="119"/>
                  </a:lnTo>
                  <a:lnTo>
                    <a:pt x="526" y="115"/>
                  </a:lnTo>
                  <a:lnTo>
                    <a:pt x="537" y="111"/>
                  </a:lnTo>
                  <a:lnTo>
                    <a:pt x="541" y="109"/>
                  </a:lnTo>
                  <a:lnTo>
                    <a:pt x="537" y="100"/>
                  </a:lnTo>
                  <a:lnTo>
                    <a:pt x="522" y="88"/>
                  </a:lnTo>
                  <a:lnTo>
                    <a:pt x="506" y="77"/>
                  </a:lnTo>
                  <a:lnTo>
                    <a:pt x="497" y="83"/>
                  </a:lnTo>
                  <a:lnTo>
                    <a:pt x="493" y="69"/>
                  </a:lnTo>
                  <a:lnTo>
                    <a:pt x="480" y="61"/>
                  </a:lnTo>
                  <a:lnTo>
                    <a:pt x="468" y="56"/>
                  </a:lnTo>
                  <a:lnTo>
                    <a:pt x="464" y="44"/>
                  </a:lnTo>
                  <a:lnTo>
                    <a:pt x="451" y="46"/>
                  </a:lnTo>
                  <a:lnTo>
                    <a:pt x="451" y="61"/>
                  </a:lnTo>
                  <a:lnTo>
                    <a:pt x="443" y="73"/>
                  </a:lnTo>
                  <a:lnTo>
                    <a:pt x="432" y="61"/>
                  </a:lnTo>
                  <a:lnTo>
                    <a:pt x="424" y="46"/>
                  </a:lnTo>
                  <a:lnTo>
                    <a:pt x="414" y="37"/>
                  </a:lnTo>
                  <a:lnTo>
                    <a:pt x="414" y="25"/>
                  </a:lnTo>
                  <a:lnTo>
                    <a:pt x="403" y="23"/>
                  </a:lnTo>
                  <a:lnTo>
                    <a:pt x="389" y="14"/>
                  </a:lnTo>
                  <a:lnTo>
                    <a:pt x="384" y="2"/>
                  </a:lnTo>
                  <a:lnTo>
                    <a:pt x="372" y="0"/>
                  </a:lnTo>
                  <a:lnTo>
                    <a:pt x="357" y="2"/>
                  </a:lnTo>
                  <a:lnTo>
                    <a:pt x="343" y="8"/>
                  </a:lnTo>
                  <a:lnTo>
                    <a:pt x="340" y="31"/>
                  </a:lnTo>
                  <a:lnTo>
                    <a:pt x="326" y="44"/>
                  </a:lnTo>
                  <a:lnTo>
                    <a:pt x="322" y="65"/>
                  </a:lnTo>
                  <a:lnTo>
                    <a:pt x="311" y="79"/>
                  </a:lnTo>
                  <a:lnTo>
                    <a:pt x="322" y="98"/>
                  </a:lnTo>
                  <a:lnTo>
                    <a:pt x="324" y="111"/>
                  </a:lnTo>
                  <a:lnTo>
                    <a:pt x="317" y="123"/>
                  </a:lnTo>
                  <a:lnTo>
                    <a:pt x="295" y="134"/>
                  </a:lnTo>
                  <a:lnTo>
                    <a:pt x="297" y="150"/>
                  </a:lnTo>
                  <a:lnTo>
                    <a:pt x="297" y="171"/>
                  </a:lnTo>
                  <a:lnTo>
                    <a:pt x="280" y="173"/>
                  </a:lnTo>
                  <a:lnTo>
                    <a:pt x="271" y="190"/>
                  </a:lnTo>
                  <a:lnTo>
                    <a:pt x="269" y="213"/>
                  </a:lnTo>
                  <a:lnTo>
                    <a:pt x="263" y="225"/>
                  </a:lnTo>
                  <a:lnTo>
                    <a:pt x="244" y="228"/>
                  </a:lnTo>
                  <a:lnTo>
                    <a:pt x="244" y="246"/>
                  </a:lnTo>
                  <a:lnTo>
                    <a:pt x="240" y="263"/>
                  </a:lnTo>
                  <a:lnTo>
                    <a:pt x="219" y="276"/>
                  </a:lnTo>
                  <a:lnTo>
                    <a:pt x="215" y="303"/>
                  </a:lnTo>
                  <a:lnTo>
                    <a:pt x="209" y="322"/>
                  </a:lnTo>
                  <a:lnTo>
                    <a:pt x="196" y="336"/>
                  </a:lnTo>
                  <a:lnTo>
                    <a:pt x="188" y="351"/>
                  </a:lnTo>
                  <a:lnTo>
                    <a:pt x="186" y="374"/>
                  </a:lnTo>
                  <a:lnTo>
                    <a:pt x="173" y="376"/>
                  </a:lnTo>
                  <a:lnTo>
                    <a:pt x="157" y="392"/>
                  </a:lnTo>
                  <a:lnTo>
                    <a:pt x="144" y="399"/>
                  </a:lnTo>
                  <a:lnTo>
                    <a:pt x="129" y="405"/>
                  </a:lnTo>
                  <a:lnTo>
                    <a:pt x="111" y="407"/>
                  </a:lnTo>
                  <a:lnTo>
                    <a:pt x="92" y="430"/>
                  </a:lnTo>
                  <a:lnTo>
                    <a:pt x="71" y="434"/>
                  </a:lnTo>
                  <a:lnTo>
                    <a:pt x="56" y="451"/>
                  </a:lnTo>
                  <a:lnTo>
                    <a:pt x="40" y="466"/>
                  </a:lnTo>
                  <a:lnTo>
                    <a:pt x="21" y="466"/>
                  </a:lnTo>
                  <a:lnTo>
                    <a:pt x="11" y="489"/>
                  </a:lnTo>
                  <a:lnTo>
                    <a:pt x="0" y="491"/>
                  </a:lnTo>
                  <a:lnTo>
                    <a:pt x="13" y="495"/>
                  </a:lnTo>
                  <a:lnTo>
                    <a:pt x="31" y="497"/>
                  </a:lnTo>
                  <a:lnTo>
                    <a:pt x="44" y="491"/>
                  </a:lnTo>
                  <a:lnTo>
                    <a:pt x="58" y="497"/>
                  </a:lnTo>
                  <a:lnTo>
                    <a:pt x="73" y="501"/>
                  </a:lnTo>
                  <a:lnTo>
                    <a:pt x="82" y="501"/>
                  </a:lnTo>
                  <a:lnTo>
                    <a:pt x="100" y="501"/>
                  </a:lnTo>
                  <a:lnTo>
                    <a:pt x="107" y="516"/>
                  </a:lnTo>
                  <a:lnTo>
                    <a:pt x="119" y="518"/>
                  </a:lnTo>
                  <a:lnTo>
                    <a:pt x="130" y="528"/>
                  </a:lnTo>
                  <a:lnTo>
                    <a:pt x="138" y="537"/>
                  </a:lnTo>
                  <a:lnTo>
                    <a:pt x="150" y="541"/>
                  </a:lnTo>
                  <a:lnTo>
                    <a:pt x="159" y="560"/>
                  </a:lnTo>
                  <a:lnTo>
                    <a:pt x="152" y="591"/>
                  </a:lnTo>
                  <a:lnTo>
                    <a:pt x="159" y="614"/>
                  </a:lnTo>
                  <a:lnTo>
                    <a:pt x="152" y="630"/>
                  </a:lnTo>
                  <a:lnTo>
                    <a:pt x="152" y="647"/>
                  </a:lnTo>
                  <a:lnTo>
                    <a:pt x="144" y="655"/>
                  </a:lnTo>
                  <a:lnTo>
                    <a:pt x="144" y="672"/>
                  </a:lnTo>
                  <a:lnTo>
                    <a:pt x="146" y="681"/>
                  </a:lnTo>
                  <a:lnTo>
                    <a:pt x="140" y="695"/>
                  </a:lnTo>
                  <a:lnTo>
                    <a:pt x="134" y="708"/>
                  </a:lnTo>
                  <a:lnTo>
                    <a:pt x="129" y="718"/>
                  </a:lnTo>
                  <a:lnTo>
                    <a:pt x="119" y="726"/>
                  </a:lnTo>
                  <a:lnTo>
                    <a:pt x="113" y="737"/>
                  </a:lnTo>
                  <a:lnTo>
                    <a:pt x="119" y="752"/>
                  </a:lnTo>
                  <a:lnTo>
                    <a:pt x="132" y="756"/>
                  </a:lnTo>
                  <a:lnTo>
                    <a:pt x="140" y="770"/>
                  </a:lnTo>
                  <a:lnTo>
                    <a:pt x="152" y="777"/>
                  </a:lnTo>
                  <a:lnTo>
                    <a:pt x="161" y="793"/>
                  </a:lnTo>
                  <a:lnTo>
                    <a:pt x="175" y="802"/>
                  </a:lnTo>
                  <a:lnTo>
                    <a:pt x="178" y="812"/>
                  </a:lnTo>
                  <a:lnTo>
                    <a:pt x="180" y="825"/>
                  </a:lnTo>
                  <a:lnTo>
                    <a:pt x="190" y="827"/>
                  </a:lnTo>
                  <a:lnTo>
                    <a:pt x="196" y="839"/>
                  </a:lnTo>
                  <a:lnTo>
                    <a:pt x="198" y="845"/>
                  </a:lnTo>
                  <a:lnTo>
                    <a:pt x="205" y="848"/>
                  </a:lnTo>
                  <a:lnTo>
                    <a:pt x="219" y="848"/>
                  </a:lnTo>
                  <a:lnTo>
                    <a:pt x="221" y="860"/>
                  </a:lnTo>
                  <a:lnTo>
                    <a:pt x="238" y="860"/>
                  </a:lnTo>
                  <a:lnTo>
                    <a:pt x="267" y="860"/>
                  </a:lnTo>
                  <a:lnTo>
                    <a:pt x="267" y="877"/>
                  </a:lnTo>
                  <a:lnTo>
                    <a:pt x="265" y="898"/>
                  </a:lnTo>
                  <a:lnTo>
                    <a:pt x="253" y="906"/>
                  </a:lnTo>
                  <a:lnTo>
                    <a:pt x="240" y="910"/>
                  </a:lnTo>
                  <a:lnTo>
                    <a:pt x="234" y="923"/>
                  </a:lnTo>
                  <a:lnTo>
                    <a:pt x="219" y="925"/>
                  </a:lnTo>
                  <a:lnTo>
                    <a:pt x="217" y="940"/>
                  </a:lnTo>
                  <a:lnTo>
                    <a:pt x="215" y="958"/>
                  </a:lnTo>
                  <a:lnTo>
                    <a:pt x="209" y="967"/>
                  </a:lnTo>
                  <a:lnTo>
                    <a:pt x="196" y="975"/>
                  </a:lnTo>
                  <a:lnTo>
                    <a:pt x="186" y="987"/>
                  </a:lnTo>
                  <a:lnTo>
                    <a:pt x="200" y="994"/>
                  </a:lnTo>
                  <a:lnTo>
                    <a:pt x="205" y="1008"/>
                  </a:lnTo>
                  <a:lnTo>
                    <a:pt x="215" y="1011"/>
                  </a:lnTo>
                  <a:lnTo>
                    <a:pt x="217" y="1023"/>
                  </a:lnTo>
                  <a:lnTo>
                    <a:pt x="226" y="1031"/>
                  </a:lnTo>
                  <a:lnTo>
                    <a:pt x="234" y="1040"/>
                  </a:lnTo>
                  <a:lnTo>
                    <a:pt x="236" y="1046"/>
                  </a:lnTo>
                  <a:lnTo>
                    <a:pt x="251" y="1046"/>
                  </a:lnTo>
                  <a:lnTo>
                    <a:pt x="253" y="1058"/>
                  </a:lnTo>
                  <a:lnTo>
                    <a:pt x="246" y="1063"/>
                  </a:lnTo>
                  <a:lnTo>
                    <a:pt x="244" y="1079"/>
                  </a:lnTo>
                  <a:lnTo>
                    <a:pt x="253" y="1096"/>
                  </a:lnTo>
                  <a:lnTo>
                    <a:pt x="263" y="1106"/>
                  </a:lnTo>
                  <a:lnTo>
                    <a:pt x="267" y="1119"/>
                  </a:lnTo>
                  <a:lnTo>
                    <a:pt x="276" y="1130"/>
                  </a:lnTo>
                  <a:lnTo>
                    <a:pt x="284" y="1138"/>
                  </a:lnTo>
                  <a:lnTo>
                    <a:pt x="295" y="1140"/>
                  </a:lnTo>
                  <a:lnTo>
                    <a:pt x="313" y="1140"/>
                  </a:lnTo>
                  <a:lnTo>
                    <a:pt x="313" y="1136"/>
                  </a:lnTo>
                  <a:lnTo>
                    <a:pt x="313" y="1123"/>
                  </a:lnTo>
                  <a:lnTo>
                    <a:pt x="326" y="1123"/>
                  </a:lnTo>
                  <a:lnTo>
                    <a:pt x="330" y="1113"/>
                  </a:lnTo>
                  <a:lnTo>
                    <a:pt x="336" y="1096"/>
                  </a:lnTo>
                  <a:lnTo>
                    <a:pt x="341" y="1086"/>
                  </a:lnTo>
                  <a:lnTo>
                    <a:pt x="343" y="1073"/>
                  </a:lnTo>
                  <a:lnTo>
                    <a:pt x="345" y="1056"/>
                  </a:lnTo>
                  <a:lnTo>
                    <a:pt x="340" y="1044"/>
                  </a:lnTo>
                  <a:lnTo>
                    <a:pt x="336" y="1033"/>
                  </a:lnTo>
                  <a:lnTo>
                    <a:pt x="330" y="1017"/>
                  </a:lnTo>
                  <a:lnTo>
                    <a:pt x="330" y="1011"/>
                  </a:lnTo>
                  <a:lnTo>
                    <a:pt x="330" y="998"/>
                  </a:lnTo>
                  <a:lnTo>
                    <a:pt x="330" y="983"/>
                  </a:lnTo>
                  <a:lnTo>
                    <a:pt x="336" y="971"/>
                  </a:lnTo>
                  <a:lnTo>
                    <a:pt x="340" y="962"/>
                  </a:lnTo>
                  <a:lnTo>
                    <a:pt x="340" y="948"/>
                  </a:lnTo>
                  <a:lnTo>
                    <a:pt x="345" y="937"/>
                  </a:lnTo>
                  <a:lnTo>
                    <a:pt x="355" y="927"/>
                  </a:lnTo>
                  <a:lnTo>
                    <a:pt x="366" y="919"/>
                  </a:lnTo>
                  <a:lnTo>
                    <a:pt x="368" y="904"/>
                  </a:lnTo>
                  <a:lnTo>
                    <a:pt x="380" y="896"/>
                  </a:lnTo>
                  <a:lnTo>
                    <a:pt x="386" y="887"/>
                  </a:lnTo>
                  <a:lnTo>
                    <a:pt x="386" y="875"/>
                  </a:lnTo>
                  <a:lnTo>
                    <a:pt x="386" y="866"/>
                  </a:lnTo>
                  <a:lnTo>
                    <a:pt x="388" y="850"/>
                  </a:lnTo>
                  <a:lnTo>
                    <a:pt x="393" y="839"/>
                  </a:lnTo>
                  <a:lnTo>
                    <a:pt x="401" y="825"/>
                  </a:lnTo>
                  <a:lnTo>
                    <a:pt x="412" y="816"/>
                  </a:lnTo>
                  <a:lnTo>
                    <a:pt x="424" y="812"/>
                  </a:lnTo>
                  <a:lnTo>
                    <a:pt x="437" y="808"/>
                  </a:lnTo>
                  <a:lnTo>
                    <a:pt x="449" y="804"/>
                  </a:lnTo>
                  <a:lnTo>
                    <a:pt x="462" y="800"/>
                  </a:lnTo>
                  <a:lnTo>
                    <a:pt x="480" y="798"/>
                  </a:lnTo>
                  <a:lnTo>
                    <a:pt x="495" y="800"/>
                  </a:lnTo>
                  <a:lnTo>
                    <a:pt x="506" y="797"/>
                  </a:lnTo>
                  <a:lnTo>
                    <a:pt x="512" y="781"/>
                  </a:lnTo>
                  <a:lnTo>
                    <a:pt x="520" y="770"/>
                  </a:lnTo>
                  <a:lnTo>
                    <a:pt x="535" y="756"/>
                  </a:lnTo>
                  <a:lnTo>
                    <a:pt x="549" y="750"/>
                  </a:lnTo>
                  <a:lnTo>
                    <a:pt x="566" y="739"/>
                  </a:lnTo>
                  <a:lnTo>
                    <a:pt x="581" y="731"/>
                  </a:lnTo>
                  <a:lnTo>
                    <a:pt x="599" y="724"/>
                  </a:lnTo>
                  <a:lnTo>
                    <a:pt x="618" y="724"/>
                  </a:lnTo>
                  <a:lnTo>
                    <a:pt x="635" y="729"/>
                  </a:lnTo>
                  <a:lnTo>
                    <a:pt x="650" y="733"/>
                  </a:lnTo>
                  <a:lnTo>
                    <a:pt x="666" y="737"/>
                  </a:lnTo>
                  <a:lnTo>
                    <a:pt x="691" y="733"/>
                  </a:lnTo>
                  <a:lnTo>
                    <a:pt x="710" y="731"/>
                  </a:lnTo>
                  <a:lnTo>
                    <a:pt x="729" y="724"/>
                  </a:lnTo>
                  <a:lnTo>
                    <a:pt x="725" y="708"/>
                  </a:lnTo>
                  <a:lnTo>
                    <a:pt x="742" y="697"/>
                  </a:lnTo>
                  <a:lnTo>
                    <a:pt x="744" y="687"/>
                  </a:lnTo>
                  <a:lnTo>
                    <a:pt x="735" y="676"/>
                  </a:lnTo>
                  <a:lnTo>
                    <a:pt x="727" y="672"/>
                  </a:lnTo>
                  <a:lnTo>
                    <a:pt x="712" y="655"/>
                  </a:lnTo>
                  <a:lnTo>
                    <a:pt x="704" y="631"/>
                  </a:lnTo>
                  <a:lnTo>
                    <a:pt x="706" y="610"/>
                  </a:lnTo>
                  <a:lnTo>
                    <a:pt x="719" y="591"/>
                  </a:lnTo>
                  <a:lnTo>
                    <a:pt x="721" y="585"/>
                  </a:lnTo>
                  <a:lnTo>
                    <a:pt x="727" y="574"/>
                  </a:lnTo>
                  <a:lnTo>
                    <a:pt x="731" y="570"/>
                  </a:lnTo>
                  <a:lnTo>
                    <a:pt x="735" y="570"/>
                  </a:lnTo>
                  <a:lnTo>
                    <a:pt x="739" y="570"/>
                  </a:lnTo>
                  <a:lnTo>
                    <a:pt x="739" y="570"/>
                  </a:lnTo>
                  <a:lnTo>
                    <a:pt x="744" y="551"/>
                  </a:lnTo>
                  <a:lnTo>
                    <a:pt x="750" y="534"/>
                  </a:lnTo>
                  <a:lnTo>
                    <a:pt x="750" y="518"/>
                  </a:lnTo>
                  <a:lnTo>
                    <a:pt x="746" y="503"/>
                  </a:lnTo>
                  <a:lnTo>
                    <a:pt x="737" y="491"/>
                  </a:lnTo>
                  <a:lnTo>
                    <a:pt x="727" y="480"/>
                  </a:lnTo>
                  <a:lnTo>
                    <a:pt x="727" y="466"/>
                  </a:lnTo>
                  <a:lnTo>
                    <a:pt x="733" y="451"/>
                  </a:lnTo>
                  <a:lnTo>
                    <a:pt x="739" y="436"/>
                  </a:lnTo>
                  <a:lnTo>
                    <a:pt x="737" y="428"/>
                  </a:lnTo>
                  <a:lnTo>
                    <a:pt x="729" y="420"/>
                  </a:lnTo>
                  <a:lnTo>
                    <a:pt x="729" y="403"/>
                  </a:lnTo>
                  <a:lnTo>
                    <a:pt x="739" y="395"/>
                  </a:lnTo>
                  <a:lnTo>
                    <a:pt x="750" y="382"/>
                  </a:lnTo>
                  <a:lnTo>
                    <a:pt x="750" y="367"/>
                  </a:lnTo>
                  <a:lnTo>
                    <a:pt x="758" y="363"/>
                  </a:lnTo>
                  <a:lnTo>
                    <a:pt x="769" y="355"/>
                  </a:lnTo>
                  <a:lnTo>
                    <a:pt x="769" y="342"/>
                  </a:lnTo>
                  <a:lnTo>
                    <a:pt x="779" y="330"/>
                  </a:lnTo>
                  <a:lnTo>
                    <a:pt x="783" y="321"/>
                  </a:lnTo>
                  <a:lnTo>
                    <a:pt x="800" y="321"/>
                  </a:lnTo>
                  <a:lnTo>
                    <a:pt x="815" y="319"/>
                  </a:lnTo>
                  <a:lnTo>
                    <a:pt x="819" y="309"/>
                  </a:lnTo>
                  <a:lnTo>
                    <a:pt x="833" y="301"/>
                  </a:lnTo>
                  <a:lnTo>
                    <a:pt x="846" y="301"/>
                  </a:lnTo>
                  <a:lnTo>
                    <a:pt x="856" y="296"/>
                  </a:lnTo>
                  <a:lnTo>
                    <a:pt x="854" y="280"/>
                  </a:lnTo>
                  <a:lnTo>
                    <a:pt x="869" y="275"/>
                  </a:lnTo>
                  <a:lnTo>
                    <a:pt x="869" y="261"/>
                  </a:lnTo>
                  <a:lnTo>
                    <a:pt x="869" y="250"/>
                  </a:lnTo>
                  <a:lnTo>
                    <a:pt x="867" y="248"/>
                  </a:lnTo>
                  <a:lnTo>
                    <a:pt x="854" y="250"/>
                  </a:lnTo>
                  <a:lnTo>
                    <a:pt x="835" y="250"/>
                  </a:lnTo>
                  <a:lnTo>
                    <a:pt x="821" y="248"/>
                  </a:lnTo>
                  <a:lnTo>
                    <a:pt x="812" y="236"/>
                  </a:lnTo>
                  <a:lnTo>
                    <a:pt x="800" y="236"/>
                  </a:lnTo>
                  <a:lnTo>
                    <a:pt x="800" y="228"/>
                  </a:lnTo>
                  <a:lnTo>
                    <a:pt x="792" y="223"/>
                  </a:lnTo>
                  <a:lnTo>
                    <a:pt x="785" y="215"/>
                  </a:lnTo>
                  <a:lnTo>
                    <a:pt x="773" y="209"/>
                  </a:lnTo>
                  <a:lnTo>
                    <a:pt x="760" y="207"/>
                  </a:lnTo>
                  <a:lnTo>
                    <a:pt x="752" y="202"/>
                  </a:lnTo>
                  <a:lnTo>
                    <a:pt x="735" y="204"/>
                  </a:lnTo>
                  <a:lnTo>
                    <a:pt x="727" y="190"/>
                  </a:lnTo>
                  <a:lnTo>
                    <a:pt x="719" y="182"/>
                  </a:lnTo>
                  <a:lnTo>
                    <a:pt x="712" y="171"/>
                  </a:lnTo>
                  <a:close/>
                </a:path>
              </a:pathLst>
            </a:custGeom>
            <a:solidFill>
              <a:srgbClr val="FFCCCD"/>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4" name="Freeform 19">
              <a:extLst>
                <a:ext uri="{FF2B5EF4-FFF2-40B4-BE49-F238E27FC236}">
                  <a16:creationId xmlns:a16="http://schemas.microsoft.com/office/drawing/2014/main" id="{1495C5BA-171B-A396-79DC-5F40ADA240FE}"/>
                </a:ext>
              </a:extLst>
            </p:cNvPr>
            <p:cNvSpPr>
              <a:spLocks noChangeAspect="1" noEditPoints="1"/>
            </p:cNvSpPr>
            <p:nvPr/>
          </p:nvSpPr>
          <p:spPr bwMode="auto">
            <a:xfrm>
              <a:off x="6508800" y="2124756"/>
              <a:ext cx="1338775" cy="1287108"/>
            </a:xfrm>
            <a:custGeom>
              <a:avLst/>
              <a:gdLst/>
              <a:ahLst/>
              <a:cxnLst>
                <a:cxn ang="0">
                  <a:pos x="493" y="23"/>
                </a:cxn>
                <a:cxn ang="0">
                  <a:pos x="389" y="0"/>
                </a:cxn>
                <a:cxn ang="0">
                  <a:pos x="378" y="80"/>
                </a:cxn>
                <a:cxn ang="0">
                  <a:pos x="288" y="90"/>
                </a:cxn>
                <a:cxn ang="0">
                  <a:pos x="192" y="86"/>
                </a:cxn>
                <a:cxn ang="0">
                  <a:pos x="115" y="115"/>
                </a:cxn>
                <a:cxn ang="0">
                  <a:pos x="57" y="148"/>
                </a:cxn>
                <a:cxn ang="0">
                  <a:pos x="21" y="153"/>
                </a:cxn>
                <a:cxn ang="0">
                  <a:pos x="36" y="420"/>
                </a:cxn>
                <a:cxn ang="0">
                  <a:pos x="67" y="501"/>
                </a:cxn>
                <a:cxn ang="0">
                  <a:pos x="169" y="526"/>
                </a:cxn>
                <a:cxn ang="0">
                  <a:pos x="224" y="560"/>
                </a:cxn>
                <a:cxn ang="0">
                  <a:pos x="297" y="589"/>
                </a:cxn>
                <a:cxn ang="0">
                  <a:pos x="341" y="608"/>
                </a:cxn>
                <a:cxn ang="0">
                  <a:pos x="96" y="1209"/>
                </a:cxn>
                <a:cxn ang="0">
                  <a:pos x="132" y="1305"/>
                </a:cxn>
                <a:cxn ang="0">
                  <a:pos x="161" y="1407"/>
                </a:cxn>
                <a:cxn ang="0">
                  <a:pos x="224" y="1464"/>
                </a:cxn>
                <a:cxn ang="0">
                  <a:pos x="1094" y="1553"/>
                </a:cxn>
                <a:cxn ang="0">
                  <a:pos x="1145" y="1485"/>
                </a:cxn>
                <a:cxn ang="0">
                  <a:pos x="1197" y="1397"/>
                </a:cxn>
                <a:cxn ang="0">
                  <a:pos x="1203" y="1309"/>
                </a:cxn>
                <a:cxn ang="0">
                  <a:pos x="1251" y="1224"/>
                </a:cxn>
                <a:cxn ang="0">
                  <a:pos x="1312" y="1180"/>
                </a:cxn>
                <a:cxn ang="0">
                  <a:pos x="1335" y="1092"/>
                </a:cxn>
                <a:cxn ang="0">
                  <a:pos x="1308" y="1013"/>
                </a:cxn>
                <a:cxn ang="0">
                  <a:pos x="1351" y="969"/>
                </a:cxn>
                <a:cxn ang="0">
                  <a:pos x="1439" y="917"/>
                </a:cxn>
                <a:cxn ang="0">
                  <a:pos x="1491" y="854"/>
                </a:cxn>
                <a:cxn ang="0">
                  <a:pos x="1539" y="764"/>
                </a:cxn>
                <a:cxn ang="0">
                  <a:pos x="1575" y="691"/>
                </a:cxn>
                <a:cxn ang="0">
                  <a:pos x="1619" y="629"/>
                </a:cxn>
                <a:cxn ang="0">
                  <a:pos x="1635" y="549"/>
                </a:cxn>
                <a:cxn ang="0">
                  <a:pos x="1606" y="501"/>
                </a:cxn>
                <a:cxn ang="0">
                  <a:pos x="1546" y="451"/>
                </a:cxn>
                <a:cxn ang="0">
                  <a:pos x="1473" y="434"/>
                </a:cxn>
                <a:cxn ang="0">
                  <a:pos x="1356" y="457"/>
                </a:cxn>
                <a:cxn ang="0">
                  <a:pos x="1424" y="556"/>
                </a:cxn>
                <a:cxn ang="0">
                  <a:pos x="1318" y="560"/>
                </a:cxn>
                <a:cxn ang="0">
                  <a:pos x="1262" y="568"/>
                </a:cxn>
                <a:cxn ang="0">
                  <a:pos x="1222" y="589"/>
                </a:cxn>
                <a:cxn ang="0">
                  <a:pos x="1097" y="593"/>
                </a:cxn>
                <a:cxn ang="0">
                  <a:pos x="1021" y="622"/>
                </a:cxn>
                <a:cxn ang="0">
                  <a:pos x="1040" y="583"/>
                </a:cxn>
                <a:cxn ang="0">
                  <a:pos x="1017" y="485"/>
                </a:cxn>
                <a:cxn ang="0">
                  <a:pos x="896" y="543"/>
                </a:cxn>
                <a:cxn ang="0">
                  <a:pos x="869" y="491"/>
                </a:cxn>
                <a:cxn ang="0">
                  <a:pos x="823" y="457"/>
                </a:cxn>
                <a:cxn ang="0">
                  <a:pos x="798" y="411"/>
                </a:cxn>
                <a:cxn ang="0">
                  <a:pos x="775" y="357"/>
                </a:cxn>
                <a:cxn ang="0">
                  <a:pos x="756" y="307"/>
                </a:cxn>
                <a:cxn ang="0">
                  <a:pos x="742" y="253"/>
                </a:cxn>
                <a:cxn ang="0">
                  <a:pos x="706" y="215"/>
                </a:cxn>
                <a:cxn ang="0">
                  <a:pos x="681" y="165"/>
                </a:cxn>
                <a:cxn ang="0">
                  <a:pos x="633" y="140"/>
                </a:cxn>
                <a:cxn ang="0">
                  <a:pos x="587" y="111"/>
                </a:cxn>
                <a:cxn ang="0">
                  <a:pos x="526" y="84"/>
                </a:cxn>
                <a:cxn ang="0">
                  <a:pos x="886" y="480"/>
                </a:cxn>
                <a:cxn ang="0">
                  <a:pos x="888" y="478"/>
                </a:cxn>
                <a:cxn ang="0">
                  <a:pos x="890" y="478"/>
                </a:cxn>
              </a:cxnLst>
              <a:rect l="0" t="0" r="r" b="b"/>
              <a:pathLst>
                <a:path w="1638" h="1576">
                  <a:moveTo>
                    <a:pt x="535" y="33"/>
                  </a:moveTo>
                  <a:lnTo>
                    <a:pt x="531" y="33"/>
                  </a:lnTo>
                  <a:lnTo>
                    <a:pt x="522" y="15"/>
                  </a:lnTo>
                  <a:lnTo>
                    <a:pt x="506" y="15"/>
                  </a:lnTo>
                  <a:lnTo>
                    <a:pt x="493" y="23"/>
                  </a:lnTo>
                  <a:lnTo>
                    <a:pt x="472" y="31"/>
                  </a:lnTo>
                  <a:lnTo>
                    <a:pt x="449" y="31"/>
                  </a:lnTo>
                  <a:lnTo>
                    <a:pt x="430" y="29"/>
                  </a:lnTo>
                  <a:lnTo>
                    <a:pt x="416" y="15"/>
                  </a:lnTo>
                  <a:lnTo>
                    <a:pt x="389" y="0"/>
                  </a:lnTo>
                  <a:lnTo>
                    <a:pt x="378" y="21"/>
                  </a:lnTo>
                  <a:lnTo>
                    <a:pt x="361" y="34"/>
                  </a:lnTo>
                  <a:lnTo>
                    <a:pt x="357" y="40"/>
                  </a:lnTo>
                  <a:lnTo>
                    <a:pt x="378" y="61"/>
                  </a:lnTo>
                  <a:lnTo>
                    <a:pt x="378" y="80"/>
                  </a:lnTo>
                  <a:lnTo>
                    <a:pt x="374" y="94"/>
                  </a:lnTo>
                  <a:lnTo>
                    <a:pt x="351" y="98"/>
                  </a:lnTo>
                  <a:lnTo>
                    <a:pt x="326" y="86"/>
                  </a:lnTo>
                  <a:lnTo>
                    <a:pt x="305" y="88"/>
                  </a:lnTo>
                  <a:lnTo>
                    <a:pt x="288" y="90"/>
                  </a:lnTo>
                  <a:lnTo>
                    <a:pt x="263" y="79"/>
                  </a:lnTo>
                  <a:lnTo>
                    <a:pt x="242" y="65"/>
                  </a:lnTo>
                  <a:lnTo>
                    <a:pt x="219" y="75"/>
                  </a:lnTo>
                  <a:lnTo>
                    <a:pt x="199" y="63"/>
                  </a:lnTo>
                  <a:lnTo>
                    <a:pt x="192" y="86"/>
                  </a:lnTo>
                  <a:lnTo>
                    <a:pt x="176" y="98"/>
                  </a:lnTo>
                  <a:lnTo>
                    <a:pt x="161" y="105"/>
                  </a:lnTo>
                  <a:lnTo>
                    <a:pt x="150" y="98"/>
                  </a:lnTo>
                  <a:lnTo>
                    <a:pt x="125" y="98"/>
                  </a:lnTo>
                  <a:lnTo>
                    <a:pt x="115" y="115"/>
                  </a:lnTo>
                  <a:lnTo>
                    <a:pt x="102" y="123"/>
                  </a:lnTo>
                  <a:lnTo>
                    <a:pt x="84" y="115"/>
                  </a:lnTo>
                  <a:lnTo>
                    <a:pt x="61" y="121"/>
                  </a:lnTo>
                  <a:lnTo>
                    <a:pt x="54" y="132"/>
                  </a:lnTo>
                  <a:lnTo>
                    <a:pt x="57" y="148"/>
                  </a:lnTo>
                  <a:lnTo>
                    <a:pt x="38" y="153"/>
                  </a:lnTo>
                  <a:lnTo>
                    <a:pt x="38" y="152"/>
                  </a:lnTo>
                  <a:lnTo>
                    <a:pt x="34" y="150"/>
                  </a:lnTo>
                  <a:lnTo>
                    <a:pt x="29" y="150"/>
                  </a:lnTo>
                  <a:lnTo>
                    <a:pt x="21" y="153"/>
                  </a:lnTo>
                  <a:lnTo>
                    <a:pt x="6" y="161"/>
                  </a:lnTo>
                  <a:lnTo>
                    <a:pt x="0" y="163"/>
                  </a:lnTo>
                  <a:lnTo>
                    <a:pt x="10" y="376"/>
                  </a:lnTo>
                  <a:lnTo>
                    <a:pt x="27" y="399"/>
                  </a:lnTo>
                  <a:lnTo>
                    <a:pt x="36" y="420"/>
                  </a:lnTo>
                  <a:lnTo>
                    <a:pt x="52" y="434"/>
                  </a:lnTo>
                  <a:lnTo>
                    <a:pt x="67" y="449"/>
                  </a:lnTo>
                  <a:lnTo>
                    <a:pt x="57" y="460"/>
                  </a:lnTo>
                  <a:lnTo>
                    <a:pt x="52" y="476"/>
                  </a:lnTo>
                  <a:lnTo>
                    <a:pt x="67" y="501"/>
                  </a:lnTo>
                  <a:lnTo>
                    <a:pt x="84" y="514"/>
                  </a:lnTo>
                  <a:lnTo>
                    <a:pt x="100" y="524"/>
                  </a:lnTo>
                  <a:lnTo>
                    <a:pt x="125" y="524"/>
                  </a:lnTo>
                  <a:lnTo>
                    <a:pt x="151" y="524"/>
                  </a:lnTo>
                  <a:lnTo>
                    <a:pt x="169" y="526"/>
                  </a:lnTo>
                  <a:lnTo>
                    <a:pt x="182" y="518"/>
                  </a:lnTo>
                  <a:lnTo>
                    <a:pt x="203" y="516"/>
                  </a:lnTo>
                  <a:lnTo>
                    <a:pt x="215" y="518"/>
                  </a:lnTo>
                  <a:lnTo>
                    <a:pt x="222" y="541"/>
                  </a:lnTo>
                  <a:lnTo>
                    <a:pt x="224" y="560"/>
                  </a:lnTo>
                  <a:lnTo>
                    <a:pt x="244" y="560"/>
                  </a:lnTo>
                  <a:lnTo>
                    <a:pt x="259" y="564"/>
                  </a:lnTo>
                  <a:lnTo>
                    <a:pt x="274" y="576"/>
                  </a:lnTo>
                  <a:lnTo>
                    <a:pt x="282" y="591"/>
                  </a:lnTo>
                  <a:lnTo>
                    <a:pt x="297" y="589"/>
                  </a:lnTo>
                  <a:lnTo>
                    <a:pt x="315" y="583"/>
                  </a:lnTo>
                  <a:lnTo>
                    <a:pt x="330" y="579"/>
                  </a:lnTo>
                  <a:lnTo>
                    <a:pt x="351" y="566"/>
                  </a:lnTo>
                  <a:lnTo>
                    <a:pt x="370" y="572"/>
                  </a:lnTo>
                  <a:lnTo>
                    <a:pt x="341" y="608"/>
                  </a:lnTo>
                  <a:lnTo>
                    <a:pt x="288" y="666"/>
                  </a:lnTo>
                  <a:lnTo>
                    <a:pt x="71" y="1155"/>
                  </a:lnTo>
                  <a:lnTo>
                    <a:pt x="75" y="1176"/>
                  </a:lnTo>
                  <a:lnTo>
                    <a:pt x="82" y="1199"/>
                  </a:lnTo>
                  <a:lnTo>
                    <a:pt x="96" y="1209"/>
                  </a:lnTo>
                  <a:lnTo>
                    <a:pt x="96" y="1232"/>
                  </a:lnTo>
                  <a:lnTo>
                    <a:pt x="102" y="1257"/>
                  </a:lnTo>
                  <a:lnTo>
                    <a:pt x="117" y="1257"/>
                  </a:lnTo>
                  <a:lnTo>
                    <a:pt x="119" y="1276"/>
                  </a:lnTo>
                  <a:lnTo>
                    <a:pt x="132" y="1305"/>
                  </a:lnTo>
                  <a:lnTo>
                    <a:pt x="144" y="1324"/>
                  </a:lnTo>
                  <a:lnTo>
                    <a:pt x="151" y="1347"/>
                  </a:lnTo>
                  <a:lnTo>
                    <a:pt x="151" y="1366"/>
                  </a:lnTo>
                  <a:lnTo>
                    <a:pt x="161" y="1386"/>
                  </a:lnTo>
                  <a:lnTo>
                    <a:pt x="161" y="1407"/>
                  </a:lnTo>
                  <a:lnTo>
                    <a:pt x="182" y="1422"/>
                  </a:lnTo>
                  <a:lnTo>
                    <a:pt x="194" y="1428"/>
                  </a:lnTo>
                  <a:lnTo>
                    <a:pt x="201" y="1445"/>
                  </a:lnTo>
                  <a:lnTo>
                    <a:pt x="215" y="1445"/>
                  </a:lnTo>
                  <a:lnTo>
                    <a:pt x="224" y="1464"/>
                  </a:lnTo>
                  <a:lnTo>
                    <a:pt x="244" y="1482"/>
                  </a:lnTo>
                  <a:lnTo>
                    <a:pt x="274" y="1493"/>
                  </a:lnTo>
                  <a:lnTo>
                    <a:pt x="320" y="1497"/>
                  </a:lnTo>
                  <a:lnTo>
                    <a:pt x="1090" y="1576"/>
                  </a:lnTo>
                  <a:lnTo>
                    <a:pt x="1094" y="1553"/>
                  </a:lnTo>
                  <a:lnTo>
                    <a:pt x="1101" y="1535"/>
                  </a:lnTo>
                  <a:lnTo>
                    <a:pt x="1115" y="1526"/>
                  </a:lnTo>
                  <a:lnTo>
                    <a:pt x="1136" y="1520"/>
                  </a:lnTo>
                  <a:lnTo>
                    <a:pt x="1136" y="1505"/>
                  </a:lnTo>
                  <a:lnTo>
                    <a:pt x="1145" y="1485"/>
                  </a:lnTo>
                  <a:lnTo>
                    <a:pt x="1159" y="1480"/>
                  </a:lnTo>
                  <a:lnTo>
                    <a:pt x="1161" y="1455"/>
                  </a:lnTo>
                  <a:lnTo>
                    <a:pt x="1176" y="1441"/>
                  </a:lnTo>
                  <a:lnTo>
                    <a:pt x="1188" y="1422"/>
                  </a:lnTo>
                  <a:lnTo>
                    <a:pt x="1197" y="1397"/>
                  </a:lnTo>
                  <a:lnTo>
                    <a:pt x="1216" y="1391"/>
                  </a:lnTo>
                  <a:lnTo>
                    <a:pt x="1222" y="1363"/>
                  </a:lnTo>
                  <a:lnTo>
                    <a:pt x="1216" y="1341"/>
                  </a:lnTo>
                  <a:lnTo>
                    <a:pt x="1203" y="1330"/>
                  </a:lnTo>
                  <a:lnTo>
                    <a:pt x="1203" y="1309"/>
                  </a:lnTo>
                  <a:lnTo>
                    <a:pt x="1211" y="1288"/>
                  </a:lnTo>
                  <a:lnTo>
                    <a:pt x="1220" y="1265"/>
                  </a:lnTo>
                  <a:lnTo>
                    <a:pt x="1230" y="1247"/>
                  </a:lnTo>
                  <a:lnTo>
                    <a:pt x="1234" y="1232"/>
                  </a:lnTo>
                  <a:lnTo>
                    <a:pt x="1251" y="1224"/>
                  </a:lnTo>
                  <a:lnTo>
                    <a:pt x="1266" y="1215"/>
                  </a:lnTo>
                  <a:lnTo>
                    <a:pt x="1283" y="1215"/>
                  </a:lnTo>
                  <a:lnTo>
                    <a:pt x="1283" y="1197"/>
                  </a:lnTo>
                  <a:lnTo>
                    <a:pt x="1295" y="1186"/>
                  </a:lnTo>
                  <a:lnTo>
                    <a:pt x="1312" y="1180"/>
                  </a:lnTo>
                  <a:lnTo>
                    <a:pt x="1320" y="1167"/>
                  </a:lnTo>
                  <a:lnTo>
                    <a:pt x="1320" y="1149"/>
                  </a:lnTo>
                  <a:lnTo>
                    <a:pt x="1328" y="1136"/>
                  </a:lnTo>
                  <a:lnTo>
                    <a:pt x="1337" y="1117"/>
                  </a:lnTo>
                  <a:lnTo>
                    <a:pt x="1335" y="1092"/>
                  </a:lnTo>
                  <a:lnTo>
                    <a:pt x="1335" y="1069"/>
                  </a:lnTo>
                  <a:lnTo>
                    <a:pt x="1320" y="1044"/>
                  </a:lnTo>
                  <a:lnTo>
                    <a:pt x="1303" y="1017"/>
                  </a:lnTo>
                  <a:lnTo>
                    <a:pt x="1308" y="1013"/>
                  </a:lnTo>
                  <a:lnTo>
                    <a:pt x="1308" y="1013"/>
                  </a:lnTo>
                  <a:lnTo>
                    <a:pt x="1295" y="1009"/>
                  </a:lnTo>
                  <a:lnTo>
                    <a:pt x="1306" y="1007"/>
                  </a:lnTo>
                  <a:lnTo>
                    <a:pt x="1316" y="984"/>
                  </a:lnTo>
                  <a:lnTo>
                    <a:pt x="1335" y="984"/>
                  </a:lnTo>
                  <a:lnTo>
                    <a:pt x="1351" y="969"/>
                  </a:lnTo>
                  <a:lnTo>
                    <a:pt x="1366" y="952"/>
                  </a:lnTo>
                  <a:lnTo>
                    <a:pt x="1387" y="948"/>
                  </a:lnTo>
                  <a:lnTo>
                    <a:pt x="1406" y="925"/>
                  </a:lnTo>
                  <a:lnTo>
                    <a:pt x="1424" y="923"/>
                  </a:lnTo>
                  <a:lnTo>
                    <a:pt x="1439" y="917"/>
                  </a:lnTo>
                  <a:lnTo>
                    <a:pt x="1452" y="910"/>
                  </a:lnTo>
                  <a:lnTo>
                    <a:pt x="1468" y="894"/>
                  </a:lnTo>
                  <a:lnTo>
                    <a:pt x="1481" y="892"/>
                  </a:lnTo>
                  <a:lnTo>
                    <a:pt x="1483" y="869"/>
                  </a:lnTo>
                  <a:lnTo>
                    <a:pt x="1491" y="854"/>
                  </a:lnTo>
                  <a:lnTo>
                    <a:pt x="1504" y="840"/>
                  </a:lnTo>
                  <a:lnTo>
                    <a:pt x="1510" y="821"/>
                  </a:lnTo>
                  <a:lnTo>
                    <a:pt x="1514" y="794"/>
                  </a:lnTo>
                  <a:lnTo>
                    <a:pt x="1535" y="781"/>
                  </a:lnTo>
                  <a:lnTo>
                    <a:pt x="1539" y="764"/>
                  </a:lnTo>
                  <a:lnTo>
                    <a:pt x="1539" y="746"/>
                  </a:lnTo>
                  <a:lnTo>
                    <a:pt x="1558" y="743"/>
                  </a:lnTo>
                  <a:lnTo>
                    <a:pt x="1564" y="731"/>
                  </a:lnTo>
                  <a:lnTo>
                    <a:pt x="1566" y="708"/>
                  </a:lnTo>
                  <a:lnTo>
                    <a:pt x="1575" y="691"/>
                  </a:lnTo>
                  <a:lnTo>
                    <a:pt x="1592" y="689"/>
                  </a:lnTo>
                  <a:lnTo>
                    <a:pt x="1592" y="668"/>
                  </a:lnTo>
                  <a:lnTo>
                    <a:pt x="1590" y="652"/>
                  </a:lnTo>
                  <a:lnTo>
                    <a:pt x="1612" y="641"/>
                  </a:lnTo>
                  <a:lnTo>
                    <a:pt x="1619" y="629"/>
                  </a:lnTo>
                  <a:lnTo>
                    <a:pt x="1617" y="616"/>
                  </a:lnTo>
                  <a:lnTo>
                    <a:pt x="1606" y="597"/>
                  </a:lnTo>
                  <a:lnTo>
                    <a:pt x="1617" y="583"/>
                  </a:lnTo>
                  <a:lnTo>
                    <a:pt x="1621" y="562"/>
                  </a:lnTo>
                  <a:lnTo>
                    <a:pt x="1635" y="549"/>
                  </a:lnTo>
                  <a:lnTo>
                    <a:pt x="1638" y="528"/>
                  </a:lnTo>
                  <a:lnTo>
                    <a:pt x="1636" y="526"/>
                  </a:lnTo>
                  <a:lnTo>
                    <a:pt x="1625" y="514"/>
                  </a:lnTo>
                  <a:lnTo>
                    <a:pt x="1621" y="501"/>
                  </a:lnTo>
                  <a:lnTo>
                    <a:pt x="1606" y="501"/>
                  </a:lnTo>
                  <a:lnTo>
                    <a:pt x="1589" y="497"/>
                  </a:lnTo>
                  <a:lnTo>
                    <a:pt x="1571" y="497"/>
                  </a:lnTo>
                  <a:lnTo>
                    <a:pt x="1567" y="482"/>
                  </a:lnTo>
                  <a:lnTo>
                    <a:pt x="1550" y="468"/>
                  </a:lnTo>
                  <a:lnTo>
                    <a:pt x="1546" y="451"/>
                  </a:lnTo>
                  <a:lnTo>
                    <a:pt x="1529" y="453"/>
                  </a:lnTo>
                  <a:lnTo>
                    <a:pt x="1506" y="453"/>
                  </a:lnTo>
                  <a:lnTo>
                    <a:pt x="1504" y="441"/>
                  </a:lnTo>
                  <a:lnTo>
                    <a:pt x="1485" y="441"/>
                  </a:lnTo>
                  <a:lnTo>
                    <a:pt x="1473" y="434"/>
                  </a:lnTo>
                  <a:lnTo>
                    <a:pt x="1456" y="445"/>
                  </a:lnTo>
                  <a:lnTo>
                    <a:pt x="1427" y="449"/>
                  </a:lnTo>
                  <a:lnTo>
                    <a:pt x="1416" y="434"/>
                  </a:lnTo>
                  <a:lnTo>
                    <a:pt x="1385" y="436"/>
                  </a:lnTo>
                  <a:lnTo>
                    <a:pt x="1356" y="457"/>
                  </a:lnTo>
                  <a:lnTo>
                    <a:pt x="1349" y="489"/>
                  </a:lnTo>
                  <a:lnTo>
                    <a:pt x="1349" y="514"/>
                  </a:lnTo>
                  <a:lnTo>
                    <a:pt x="1362" y="543"/>
                  </a:lnTo>
                  <a:lnTo>
                    <a:pt x="1399" y="551"/>
                  </a:lnTo>
                  <a:lnTo>
                    <a:pt x="1424" y="556"/>
                  </a:lnTo>
                  <a:lnTo>
                    <a:pt x="1408" y="564"/>
                  </a:lnTo>
                  <a:lnTo>
                    <a:pt x="1368" y="556"/>
                  </a:lnTo>
                  <a:lnTo>
                    <a:pt x="1343" y="551"/>
                  </a:lnTo>
                  <a:lnTo>
                    <a:pt x="1343" y="568"/>
                  </a:lnTo>
                  <a:lnTo>
                    <a:pt x="1318" y="560"/>
                  </a:lnTo>
                  <a:lnTo>
                    <a:pt x="1299" y="535"/>
                  </a:lnTo>
                  <a:lnTo>
                    <a:pt x="1293" y="560"/>
                  </a:lnTo>
                  <a:lnTo>
                    <a:pt x="1293" y="579"/>
                  </a:lnTo>
                  <a:lnTo>
                    <a:pt x="1276" y="579"/>
                  </a:lnTo>
                  <a:lnTo>
                    <a:pt x="1262" y="568"/>
                  </a:lnTo>
                  <a:lnTo>
                    <a:pt x="1251" y="589"/>
                  </a:lnTo>
                  <a:lnTo>
                    <a:pt x="1241" y="608"/>
                  </a:lnTo>
                  <a:lnTo>
                    <a:pt x="1216" y="633"/>
                  </a:lnTo>
                  <a:lnTo>
                    <a:pt x="1212" y="608"/>
                  </a:lnTo>
                  <a:lnTo>
                    <a:pt x="1222" y="589"/>
                  </a:lnTo>
                  <a:lnTo>
                    <a:pt x="1193" y="591"/>
                  </a:lnTo>
                  <a:lnTo>
                    <a:pt x="1159" y="593"/>
                  </a:lnTo>
                  <a:lnTo>
                    <a:pt x="1161" y="612"/>
                  </a:lnTo>
                  <a:lnTo>
                    <a:pt x="1128" y="591"/>
                  </a:lnTo>
                  <a:lnTo>
                    <a:pt x="1097" y="593"/>
                  </a:lnTo>
                  <a:lnTo>
                    <a:pt x="1071" y="593"/>
                  </a:lnTo>
                  <a:lnTo>
                    <a:pt x="1049" y="585"/>
                  </a:lnTo>
                  <a:lnTo>
                    <a:pt x="1038" y="593"/>
                  </a:lnTo>
                  <a:lnTo>
                    <a:pt x="1038" y="612"/>
                  </a:lnTo>
                  <a:lnTo>
                    <a:pt x="1021" y="622"/>
                  </a:lnTo>
                  <a:lnTo>
                    <a:pt x="1021" y="650"/>
                  </a:lnTo>
                  <a:lnTo>
                    <a:pt x="1005" y="629"/>
                  </a:lnTo>
                  <a:lnTo>
                    <a:pt x="1007" y="599"/>
                  </a:lnTo>
                  <a:lnTo>
                    <a:pt x="1003" y="583"/>
                  </a:lnTo>
                  <a:lnTo>
                    <a:pt x="1040" y="583"/>
                  </a:lnTo>
                  <a:lnTo>
                    <a:pt x="1072" y="574"/>
                  </a:lnTo>
                  <a:lnTo>
                    <a:pt x="1071" y="556"/>
                  </a:lnTo>
                  <a:lnTo>
                    <a:pt x="1047" y="533"/>
                  </a:lnTo>
                  <a:lnTo>
                    <a:pt x="1032" y="507"/>
                  </a:lnTo>
                  <a:lnTo>
                    <a:pt x="1017" y="485"/>
                  </a:lnTo>
                  <a:lnTo>
                    <a:pt x="990" y="489"/>
                  </a:lnTo>
                  <a:lnTo>
                    <a:pt x="973" y="507"/>
                  </a:lnTo>
                  <a:lnTo>
                    <a:pt x="934" y="516"/>
                  </a:lnTo>
                  <a:lnTo>
                    <a:pt x="915" y="533"/>
                  </a:lnTo>
                  <a:lnTo>
                    <a:pt x="896" y="543"/>
                  </a:lnTo>
                  <a:lnTo>
                    <a:pt x="882" y="514"/>
                  </a:lnTo>
                  <a:lnTo>
                    <a:pt x="882" y="508"/>
                  </a:lnTo>
                  <a:lnTo>
                    <a:pt x="882" y="499"/>
                  </a:lnTo>
                  <a:lnTo>
                    <a:pt x="881" y="499"/>
                  </a:lnTo>
                  <a:lnTo>
                    <a:pt x="869" y="491"/>
                  </a:lnTo>
                  <a:lnTo>
                    <a:pt x="863" y="480"/>
                  </a:lnTo>
                  <a:lnTo>
                    <a:pt x="852" y="474"/>
                  </a:lnTo>
                  <a:lnTo>
                    <a:pt x="842" y="462"/>
                  </a:lnTo>
                  <a:lnTo>
                    <a:pt x="831" y="459"/>
                  </a:lnTo>
                  <a:lnTo>
                    <a:pt x="823" y="457"/>
                  </a:lnTo>
                  <a:lnTo>
                    <a:pt x="823" y="445"/>
                  </a:lnTo>
                  <a:lnTo>
                    <a:pt x="815" y="437"/>
                  </a:lnTo>
                  <a:lnTo>
                    <a:pt x="806" y="437"/>
                  </a:lnTo>
                  <a:lnTo>
                    <a:pt x="798" y="426"/>
                  </a:lnTo>
                  <a:lnTo>
                    <a:pt x="798" y="411"/>
                  </a:lnTo>
                  <a:lnTo>
                    <a:pt x="798" y="395"/>
                  </a:lnTo>
                  <a:lnTo>
                    <a:pt x="788" y="386"/>
                  </a:lnTo>
                  <a:lnTo>
                    <a:pt x="781" y="376"/>
                  </a:lnTo>
                  <a:lnTo>
                    <a:pt x="775" y="368"/>
                  </a:lnTo>
                  <a:lnTo>
                    <a:pt x="775" y="357"/>
                  </a:lnTo>
                  <a:lnTo>
                    <a:pt x="769" y="347"/>
                  </a:lnTo>
                  <a:lnTo>
                    <a:pt x="760" y="343"/>
                  </a:lnTo>
                  <a:lnTo>
                    <a:pt x="760" y="330"/>
                  </a:lnTo>
                  <a:lnTo>
                    <a:pt x="756" y="322"/>
                  </a:lnTo>
                  <a:lnTo>
                    <a:pt x="756" y="307"/>
                  </a:lnTo>
                  <a:lnTo>
                    <a:pt x="756" y="294"/>
                  </a:lnTo>
                  <a:lnTo>
                    <a:pt x="746" y="290"/>
                  </a:lnTo>
                  <a:lnTo>
                    <a:pt x="744" y="276"/>
                  </a:lnTo>
                  <a:lnTo>
                    <a:pt x="746" y="269"/>
                  </a:lnTo>
                  <a:lnTo>
                    <a:pt x="742" y="253"/>
                  </a:lnTo>
                  <a:lnTo>
                    <a:pt x="731" y="247"/>
                  </a:lnTo>
                  <a:lnTo>
                    <a:pt x="723" y="242"/>
                  </a:lnTo>
                  <a:lnTo>
                    <a:pt x="712" y="236"/>
                  </a:lnTo>
                  <a:lnTo>
                    <a:pt x="710" y="224"/>
                  </a:lnTo>
                  <a:lnTo>
                    <a:pt x="706" y="215"/>
                  </a:lnTo>
                  <a:lnTo>
                    <a:pt x="700" y="203"/>
                  </a:lnTo>
                  <a:lnTo>
                    <a:pt x="693" y="199"/>
                  </a:lnTo>
                  <a:lnTo>
                    <a:pt x="685" y="190"/>
                  </a:lnTo>
                  <a:lnTo>
                    <a:pt x="685" y="176"/>
                  </a:lnTo>
                  <a:lnTo>
                    <a:pt x="681" y="165"/>
                  </a:lnTo>
                  <a:lnTo>
                    <a:pt x="671" y="157"/>
                  </a:lnTo>
                  <a:lnTo>
                    <a:pt x="658" y="157"/>
                  </a:lnTo>
                  <a:lnTo>
                    <a:pt x="646" y="157"/>
                  </a:lnTo>
                  <a:lnTo>
                    <a:pt x="639" y="150"/>
                  </a:lnTo>
                  <a:lnTo>
                    <a:pt x="633" y="140"/>
                  </a:lnTo>
                  <a:lnTo>
                    <a:pt x="625" y="134"/>
                  </a:lnTo>
                  <a:lnTo>
                    <a:pt x="616" y="130"/>
                  </a:lnTo>
                  <a:lnTo>
                    <a:pt x="606" y="127"/>
                  </a:lnTo>
                  <a:lnTo>
                    <a:pt x="599" y="119"/>
                  </a:lnTo>
                  <a:lnTo>
                    <a:pt x="587" y="111"/>
                  </a:lnTo>
                  <a:lnTo>
                    <a:pt x="574" y="109"/>
                  </a:lnTo>
                  <a:lnTo>
                    <a:pt x="564" y="109"/>
                  </a:lnTo>
                  <a:lnTo>
                    <a:pt x="551" y="107"/>
                  </a:lnTo>
                  <a:lnTo>
                    <a:pt x="537" y="98"/>
                  </a:lnTo>
                  <a:lnTo>
                    <a:pt x="526" y="84"/>
                  </a:lnTo>
                  <a:lnTo>
                    <a:pt x="524" y="65"/>
                  </a:lnTo>
                  <a:lnTo>
                    <a:pt x="526" y="52"/>
                  </a:lnTo>
                  <a:lnTo>
                    <a:pt x="529" y="40"/>
                  </a:lnTo>
                  <a:lnTo>
                    <a:pt x="535" y="33"/>
                  </a:lnTo>
                  <a:close/>
                  <a:moveTo>
                    <a:pt x="886" y="480"/>
                  </a:moveTo>
                  <a:lnTo>
                    <a:pt x="888" y="480"/>
                  </a:lnTo>
                  <a:lnTo>
                    <a:pt x="888" y="478"/>
                  </a:lnTo>
                  <a:lnTo>
                    <a:pt x="888" y="480"/>
                  </a:lnTo>
                  <a:lnTo>
                    <a:pt x="886" y="480"/>
                  </a:lnTo>
                  <a:close/>
                  <a:moveTo>
                    <a:pt x="888" y="478"/>
                  </a:moveTo>
                  <a:lnTo>
                    <a:pt x="888" y="478"/>
                  </a:lnTo>
                  <a:lnTo>
                    <a:pt x="888" y="478"/>
                  </a:lnTo>
                  <a:lnTo>
                    <a:pt x="888" y="478"/>
                  </a:lnTo>
                  <a:lnTo>
                    <a:pt x="888" y="478"/>
                  </a:lnTo>
                  <a:close/>
                  <a:moveTo>
                    <a:pt x="890" y="478"/>
                  </a:moveTo>
                  <a:lnTo>
                    <a:pt x="890" y="476"/>
                  </a:lnTo>
                  <a:lnTo>
                    <a:pt x="890" y="476"/>
                  </a:lnTo>
                  <a:lnTo>
                    <a:pt x="890" y="478"/>
                  </a:lnTo>
                  <a:close/>
                </a:path>
              </a:pathLst>
            </a:custGeom>
            <a:solidFill>
              <a:srgbClr val="FFCCCD"/>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5" name="Freeform 20">
              <a:extLst>
                <a:ext uri="{FF2B5EF4-FFF2-40B4-BE49-F238E27FC236}">
                  <a16:creationId xmlns:a16="http://schemas.microsoft.com/office/drawing/2014/main" id="{AC801E37-074A-DD1A-BD8E-396B44C3100B}"/>
                </a:ext>
              </a:extLst>
            </p:cNvPr>
            <p:cNvSpPr>
              <a:spLocks noChangeAspect="1"/>
            </p:cNvSpPr>
            <p:nvPr/>
          </p:nvSpPr>
          <p:spPr bwMode="auto">
            <a:xfrm>
              <a:off x="5916247" y="1839637"/>
              <a:ext cx="597210" cy="699414"/>
            </a:xfrm>
            <a:custGeom>
              <a:avLst/>
              <a:gdLst/>
              <a:ahLst/>
              <a:cxnLst>
                <a:cxn ang="0">
                  <a:pos x="489" y="25"/>
                </a:cxn>
                <a:cxn ang="0">
                  <a:pos x="485" y="53"/>
                </a:cxn>
                <a:cxn ang="0">
                  <a:pos x="472" y="84"/>
                </a:cxn>
                <a:cxn ang="0">
                  <a:pos x="451" y="109"/>
                </a:cxn>
                <a:cxn ang="0">
                  <a:pos x="420" y="111"/>
                </a:cxn>
                <a:cxn ang="0">
                  <a:pos x="395" y="121"/>
                </a:cxn>
                <a:cxn ang="0">
                  <a:pos x="360" y="142"/>
                </a:cxn>
                <a:cxn ang="0">
                  <a:pos x="335" y="157"/>
                </a:cxn>
                <a:cxn ang="0">
                  <a:pos x="309" y="153"/>
                </a:cxn>
                <a:cxn ang="0">
                  <a:pos x="270" y="149"/>
                </a:cxn>
                <a:cxn ang="0">
                  <a:pos x="236" y="157"/>
                </a:cxn>
                <a:cxn ang="0">
                  <a:pos x="228" y="168"/>
                </a:cxn>
                <a:cxn ang="0">
                  <a:pos x="226" y="184"/>
                </a:cxn>
                <a:cxn ang="0">
                  <a:pos x="215" y="209"/>
                </a:cxn>
                <a:cxn ang="0">
                  <a:pos x="192" y="180"/>
                </a:cxn>
                <a:cxn ang="0">
                  <a:pos x="142" y="180"/>
                </a:cxn>
                <a:cxn ang="0">
                  <a:pos x="111" y="170"/>
                </a:cxn>
                <a:cxn ang="0">
                  <a:pos x="67" y="163"/>
                </a:cxn>
                <a:cxn ang="0">
                  <a:pos x="19" y="155"/>
                </a:cxn>
                <a:cxn ang="0">
                  <a:pos x="2" y="180"/>
                </a:cxn>
                <a:cxn ang="0">
                  <a:pos x="32" y="192"/>
                </a:cxn>
                <a:cxn ang="0">
                  <a:pos x="53" y="230"/>
                </a:cxn>
                <a:cxn ang="0">
                  <a:pos x="25" y="291"/>
                </a:cxn>
                <a:cxn ang="0">
                  <a:pos x="38" y="332"/>
                </a:cxn>
                <a:cxn ang="0">
                  <a:pos x="67" y="372"/>
                </a:cxn>
                <a:cxn ang="0">
                  <a:pos x="105" y="378"/>
                </a:cxn>
                <a:cxn ang="0">
                  <a:pos x="144" y="378"/>
                </a:cxn>
                <a:cxn ang="0">
                  <a:pos x="165" y="405"/>
                </a:cxn>
                <a:cxn ang="0">
                  <a:pos x="207" y="433"/>
                </a:cxn>
                <a:cxn ang="0">
                  <a:pos x="224" y="481"/>
                </a:cxn>
                <a:cxn ang="0">
                  <a:pos x="261" y="547"/>
                </a:cxn>
                <a:cxn ang="0">
                  <a:pos x="278" y="694"/>
                </a:cxn>
                <a:cxn ang="0">
                  <a:pos x="284" y="735"/>
                </a:cxn>
                <a:cxn ang="0">
                  <a:pos x="272" y="767"/>
                </a:cxn>
                <a:cxn ang="0">
                  <a:pos x="309" y="798"/>
                </a:cxn>
                <a:cxn ang="0">
                  <a:pos x="349" y="829"/>
                </a:cxn>
                <a:cxn ang="0">
                  <a:pos x="383" y="856"/>
                </a:cxn>
                <a:cxn ang="0">
                  <a:pos x="393" y="821"/>
                </a:cxn>
                <a:cxn ang="0">
                  <a:pos x="393" y="779"/>
                </a:cxn>
                <a:cxn ang="0">
                  <a:pos x="410" y="742"/>
                </a:cxn>
                <a:cxn ang="0">
                  <a:pos x="468" y="733"/>
                </a:cxn>
                <a:cxn ang="0">
                  <a:pos x="497" y="771"/>
                </a:cxn>
                <a:cxn ang="0">
                  <a:pos x="552" y="740"/>
                </a:cxn>
                <a:cxn ang="0">
                  <a:pos x="554" y="698"/>
                </a:cxn>
                <a:cxn ang="0">
                  <a:pos x="585" y="643"/>
                </a:cxn>
                <a:cxn ang="0">
                  <a:pos x="727" y="512"/>
                </a:cxn>
                <a:cxn ang="0">
                  <a:pos x="696" y="477"/>
                </a:cxn>
                <a:cxn ang="0">
                  <a:pos x="639" y="437"/>
                </a:cxn>
                <a:cxn ang="0">
                  <a:pos x="608" y="410"/>
                </a:cxn>
                <a:cxn ang="0">
                  <a:pos x="596" y="362"/>
                </a:cxn>
                <a:cxn ang="0">
                  <a:pos x="587" y="318"/>
                </a:cxn>
                <a:cxn ang="0">
                  <a:pos x="594" y="263"/>
                </a:cxn>
                <a:cxn ang="0">
                  <a:pos x="600" y="220"/>
                </a:cxn>
                <a:cxn ang="0">
                  <a:pos x="639" y="180"/>
                </a:cxn>
                <a:cxn ang="0">
                  <a:pos x="617" y="145"/>
                </a:cxn>
                <a:cxn ang="0">
                  <a:pos x="608" y="109"/>
                </a:cxn>
                <a:cxn ang="0">
                  <a:pos x="575" y="99"/>
                </a:cxn>
                <a:cxn ang="0">
                  <a:pos x="560" y="80"/>
                </a:cxn>
                <a:cxn ang="0">
                  <a:pos x="571" y="38"/>
                </a:cxn>
                <a:cxn ang="0">
                  <a:pos x="562" y="2"/>
                </a:cxn>
                <a:cxn ang="0">
                  <a:pos x="529" y="13"/>
                </a:cxn>
                <a:cxn ang="0">
                  <a:pos x="489" y="2"/>
                </a:cxn>
              </a:cxnLst>
              <a:rect l="0" t="0" r="r" b="b"/>
              <a:pathLst>
                <a:path w="731" h="856">
                  <a:moveTo>
                    <a:pt x="477" y="7"/>
                  </a:moveTo>
                  <a:lnTo>
                    <a:pt x="479" y="17"/>
                  </a:lnTo>
                  <a:lnTo>
                    <a:pt x="489" y="25"/>
                  </a:lnTo>
                  <a:lnTo>
                    <a:pt x="493" y="34"/>
                  </a:lnTo>
                  <a:lnTo>
                    <a:pt x="495" y="44"/>
                  </a:lnTo>
                  <a:lnTo>
                    <a:pt x="485" y="53"/>
                  </a:lnTo>
                  <a:lnTo>
                    <a:pt x="485" y="69"/>
                  </a:lnTo>
                  <a:lnTo>
                    <a:pt x="477" y="78"/>
                  </a:lnTo>
                  <a:lnTo>
                    <a:pt x="472" y="84"/>
                  </a:lnTo>
                  <a:lnTo>
                    <a:pt x="472" y="96"/>
                  </a:lnTo>
                  <a:lnTo>
                    <a:pt x="464" y="109"/>
                  </a:lnTo>
                  <a:lnTo>
                    <a:pt x="451" y="109"/>
                  </a:lnTo>
                  <a:lnTo>
                    <a:pt x="439" y="109"/>
                  </a:lnTo>
                  <a:lnTo>
                    <a:pt x="429" y="115"/>
                  </a:lnTo>
                  <a:lnTo>
                    <a:pt x="420" y="111"/>
                  </a:lnTo>
                  <a:lnTo>
                    <a:pt x="410" y="109"/>
                  </a:lnTo>
                  <a:lnTo>
                    <a:pt x="408" y="121"/>
                  </a:lnTo>
                  <a:lnTo>
                    <a:pt x="395" y="121"/>
                  </a:lnTo>
                  <a:lnTo>
                    <a:pt x="387" y="134"/>
                  </a:lnTo>
                  <a:lnTo>
                    <a:pt x="376" y="142"/>
                  </a:lnTo>
                  <a:lnTo>
                    <a:pt x="360" y="142"/>
                  </a:lnTo>
                  <a:lnTo>
                    <a:pt x="351" y="138"/>
                  </a:lnTo>
                  <a:lnTo>
                    <a:pt x="339" y="147"/>
                  </a:lnTo>
                  <a:lnTo>
                    <a:pt x="335" y="157"/>
                  </a:lnTo>
                  <a:lnTo>
                    <a:pt x="326" y="157"/>
                  </a:lnTo>
                  <a:lnTo>
                    <a:pt x="314" y="149"/>
                  </a:lnTo>
                  <a:lnTo>
                    <a:pt x="309" y="153"/>
                  </a:lnTo>
                  <a:lnTo>
                    <a:pt x="299" y="157"/>
                  </a:lnTo>
                  <a:lnTo>
                    <a:pt x="284" y="149"/>
                  </a:lnTo>
                  <a:lnTo>
                    <a:pt x="270" y="149"/>
                  </a:lnTo>
                  <a:lnTo>
                    <a:pt x="261" y="155"/>
                  </a:lnTo>
                  <a:lnTo>
                    <a:pt x="253" y="165"/>
                  </a:lnTo>
                  <a:lnTo>
                    <a:pt x="236" y="157"/>
                  </a:lnTo>
                  <a:lnTo>
                    <a:pt x="234" y="159"/>
                  </a:lnTo>
                  <a:lnTo>
                    <a:pt x="230" y="163"/>
                  </a:lnTo>
                  <a:lnTo>
                    <a:pt x="228" y="168"/>
                  </a:lnTo>
                  <a:lnTo>
                    <a:pt x="228" y="174"/>
                  </a:lnTo>
                  <a:lnTo>
                    <a:pt x="228" y="182"/>
                  </a:lnTo>
                  <a:lnTo>
                    <a:pt x="226" y="184"/>
                  </a:lnTo>
                  <a:lnTo>
                    <a:pt x="234" y="195"/>
                  </a:lnTo>
                  <a:lnTo>
                    <a:pt x="230" y="209"/>
                  </a:lnTo>
                  <a:lnTo>
                    <a:pt x="215" y="209"/>
                  </a:lnTo>
                  <a:lnTo>
                    <a:pt x="205" y="203"/>
                  </a:lnTo>
                  <a:lnTo>
                    <a:pt x="197" y="192"/>
                  </a:lnTo>
                  <a:lnTo>
                    <a:pt x="192" y="180"/>
                  </a:lnTo>
                  <a:lnTo>
                    <a:pt x="174" y="182"/>
                  </a:lnTo>
                  <a:lnTo>
                    <a:pt x="159" y="184"/>
                  </a:lnTo>
                  <a:lnTo>
                    <a:pt x="142" y="180"/>
                  </a:lnTo>
                  <a:lnTo>
                    <a:pt x="132" y="176"/>
                  </a:lnTo>
                  <a:lnTo>
                    <a:pt x="119" y="176"/>
                  </a:lnTo>
                  <a:lnTo>
                    <a:pt x="111" y="170"/>
                  </a:lnTo>
                  <a:lnTo>
                    <a:pt x="90" y="174"/>
                  </a:lnTo>
                  <a:lnTo>
                    <a:pt x="78" y="176"/>
                  </a:lnTo>
                  <a:lnTo>
                    <a:pt x="67" y="163"/>
                  </a:lnTo>
                  <a:lnTo>
                    <a:pt x="55" y="153"/>
                  </a:lnTo>
                  <a:lnTo>
                    <a:pt x="38" y="153"/>
                  </a:lnTo>
                  <a:lnTo>
                    <a:pt x="19" y="155"/>
                  </a:lnTo>
                  <a:lnTo>
                    <a:pt x="4" y="157"/>
                  </a:lnTo>
                  <a:lnTo>
                    <a:pt x="0" y="168"/>
                  </a:lnTo>
                  <a:lnTo>
                    <a:pt x="2" y="180"/>
                  </a:lnTo>
                  <a:lnTo>
                    <a:pt x="9" y="186"/>
                  </a:lnTo>
                  <a:lnTo>
                    <a:pt x="19" y="184"/>
                  </a:lnTo>
                  <a:lnTo>
                    <a:pt x="32" y="192"/>
                  </a:lnTo>
                  <a:lnTo>
                    <a:pt x="42" y="205"/>
                  </a:lnTo>
                  <a:lnTo>
                    <a:pt x="51" y="209"/>
                  </a:lnTo>
                  <a:lnTo>
                    <a:pt x="53" y="230"/>
                  </a:lnTo>
                  <a:lnTo>
                    <a:pt x="50" y="253"/>
                  </a:lnTo>
                  <a:lnTo>
                    <a:pt x="30" y="270"/>
                  </a:lnTo>
                  <a:lnTo>
                    <a:pt x="25" y="291"/>
                  </a:lnTo>
                  <a:lnTo>
                    <a:pt x="38" y="303"/>
                  </a:lnTo>
                  <a:lnTo>
                    <a:pt x="46" y="320"/>
                  </a:lnTo>
                  <a:lnTo>
                    <a:pt x="38" y="332"/>
                  </a:lnTo>
                  <a:lnTo>
                    <a:pt x="36" y="349"/>
                  </a:lnTo>
                  <a:lnTo>
                    <a:pt x="50" y="362"/>
                  </a:lnTo>
                  <a:lnTo>
                    <a:pt x="67" y="372"/>
                  </a:lnTo>
                  <a:lnTo>
                    <a:pt x="76" y="380"/>
                  </a:lnTo>
                  <a:lnTo>
                    <a:pt x="88" y="382"/>
                  </a:lnTo>
                  <a:lnTo>
                    <a:pt x="105" y="378"/>
                  </a:lnTo>
                  <a:lnTo>
                    <a:pt x="119" y="372"/>
                  </a:lnTo>
                  <a:lnTo>
                    <a:pt x="132" y="372"/>
                  </a:lnTo>
                  <a:lnTo>
                    <a:pt x="144" y="378"/>
                  </a:lnTo>
                  <a:lnTo>
                    <a:pt x="145" y="389"/>
                  </a:lnTo>
                  <a:lnTo>
                    <a:pt x="147" y="401"/>
                  </a:lnTo>
                  <a:lnTo>
                    <a:pt x="165" y="405"/>
                  </a:lnTo>
                  <a:lnTo>
                    <a:pt x="180" y="408"/>
                  </a:lnTo>
                  <a:lnTo>
                    <a:pt x="197" y="414"/>
                  </a:lnTo>
                  <a:lnTo>
                    <a:pt x="207" y="433"/>
                  </a:lnTo>
                  <a:lnTo>
                    <a:pt x="213" y="449"/>
                  </a:lnTo>
                  <a:lnTo>
                    <a:pt x="215" y="468"/>
                  </a:lnTo>
                  <a:lnTo>
                    <a:pt x="224" y="481"/>
                  </a:lnTo>
                  <a:lnTo>
                    <a:pt x="228" y="497"/>
                  </a:lnTo>
                  <a:lnTo>
                    <a:pt x="243" y="522"/>
                  </a:lnTo>
                  <a:lnTo>
                    <a:pt x="261" y="547"/>
                  </a:lnTo>
                  <a:lnTo>
                    <a:pt x="272" y="568"/>
                  </a:lnTo>
                  <a:lnTo>
                    <a:pt x="276" y="579"/>
                  </a:lnTo>
                  <a:lnTo>
                    <a:pt x="278" y="694"/>
                  </a:lnTo>
                  <a:lnTo>
                    <a:pt x="280" y="714"/>
                  </a:lnTo>
                  <a:lnTo>
                    <a:pt x="280" y="727"/>
                  </a:lnTo>
                  <a:lnTo>
                    <a:pt x="284" y="735"/>
                  </a:lnTo>
                  <a:lnTo>
                    <a:pt x="284" y="748"/>
                  </a:lnTo>
                  <a:lnTo>
                    <a:pt x="276" y="754"/>
                  </a:lnTo>
                  <a:lnTo>
                    <a:pt x="272" y="767"/>
                  </a:lnTo>
                  <a:lnTo>
                    <a:pt x="289" y="785"/>
                  </a:lnTo>
                  <a:lnTo>
                    <a:pt x="299" y="792"/>
                  </a:lnTo>
                  <a:lnTo>
                    <a:pt x="309" y="798"/>
                  </a:lnTo>
                  <a:lnTo>
                    <a:pt x="318" y="808"/>
                  </a:lnTo>
                  <a:lnTo>
                    <a:pt x="337" y="817"/>
                  </a:lnTo>
                  <a:lnTo>
                    <a:pt x="349" y="829"/>
                  </a:lnTo>
                  <a:lnTo>
                    <a:pt x="358" y="840"/>
                  </a:lnTo>
                  <a:lnTo>
                    <a:pt x="370" y="842"/>
                  </a:lnTo>
                  <a:lnTo>
                    <a:pt x="383" y="856"/>
                  </a:lnTo>
                  <a:lnTo>
                    <a:pt x="385" y="842"/>
                  </a:lnTo>
                  <a:lnTo>
                    <a:pt x="385" y="827"/>
                  </a:lnTo>
                  <a:lnTo>
                    <a:pt x="393" y="821"/>
                  </a:lnTo>
                  <a:lnTo>
                    <a:pt x="380" y="806"/>
                  </a:lnTo>
                  <a:lnTo>
                    <a:pt x="393" y="792"/>
                  </a:lnTo>
                  <a:lnTo>
                    <a:pt x="393" y="779"/>
                  </a:lnTo>
                  <a:lnTo>
                    <a:pt x="389" y="765"/>
                  </a:lnTo>
                  <a:lnTo>
                    <a:pt x="391" y="748"/>
                  </a:lnTo>
                  <a:lnTo>
                    <a:pt x="410" y="742"/>
                  </a:lnTo>
                  <a:lnTo>
                    <a:pt x="431" y="727"/>
                  </a:lnTo>
                  <a:lnTo>
                    <a:pt x="447" y="723"/>
                  </a:lnTo>
                  <a:lnTo>
                    <a:pt x="468" y="733"/>
                  </a:lnTo>
                  <a:lnTo>
                    <a:pt x="477" y="746"/>
                  </a:lnTo>
                  <a:lnTo>
                    <a:pt x="491" y="758"/>
                  </a:lnTo>
                  <a:lnTo>
                    <a:pt x="497" y="771"/>
                  </a:lnTo>
                  <a:lnTo>
                    <a:pt x="512" y="767"/>
                  </a:lnTo>
                  <a:lnTo>
                    <a:pt x="525" y="756"/>
                  </a:lnTo>
                  <a:lnTo>
                    <a:pt x="552" y="740"/>
                  </a:lnTo>
                  <a:lnTo>
                    <a:pt x="539" y="729"/>
                  </a:lnTo>
                  <a:lnTo>
                    <a:pt x="541" y="719"/>
                  </a:lnTo>
                  <a:lnTo>
                    <a:pt x="554" y="698"/>
                  </a:lnTo>
                  <a:lnTo>
                    <a:pt x="575" y="673"/>
                  </a:lnTo>
                  <a:lnTo>
                    <a:pt x="575" y="652"/>
                  </a:lnTo>
                  <a:lnTo>
                    <a:pt x="585" y="643"/>
                  </a:lnTo>
                  <a:lnTo>
                    <a:pt x="731" y="639"/>
                  </a:lnTo>
                  <a:lnTo>
                    <a:pt x="725" y="512"/>
                  </a:lnTo>
                  <a:lnTo>
                    <a:pt x="727" y="512"/>
                  </a:lnTo>
                  <a:lnTo>
                    <a:pt x="731" y="510"/>
                  </a:lnTo>
                  <a:lnTo>
                    <a:pt x="725" y="502"/>
                  </a:lnTo>
                  <a:lnTo>
                    <a:pt x="696" y="477"/>
                  </a:lnTo>
                  <a:lnTo>
                    <a:pt x="667" y="456"/>
                  </a:lnTo>
                  <a:lnTo>
                    <a:pt x="654" y="447"/>
                  </a:lnTo>
                  <a:lnTo>
                    <a:pt x="639" y="437"/>
                  </a:lnTo>
                  <a:lnTo>
                    <a:pt x="627" y="422"/>
                  </a:lnTo>
                  <a:lnTo>
                    <a:pt x="623" y="412"/>
                  </a:lnTo>
                  <a:lnTo>
                    <a:pt x="608" y="410"/>
                  </a:lnTo>
                  <a:lnTo>
                    <a:pt x="608" y="389"/>
                  </a:lnTo>
                  <a:lnTo>
                    <a:pt x="608" y="376"/>
                  </a:lnTo>
                  <a:lnTo>
                    <a:pt x="596" y="362"/>
                  </a:lnTo>
                  <a:lnTo>
                    <a:pt x="587" y="349"/>
                  </a:lnTo>
                  <a:lnTo>
                    <a:pt x="587" y="334"/>
                  </a:lnTo>
                  <a:lnTo>
                    <a:pt x="587" y="318"/>
                  </a:lnTo>
                  <a:lnTo>
                    <a:pt x="591" y="307"/>
                  </a:lnTo>
                  <a:lnTo>
                    <a:pt x="587" y="287"/>
                  </a:lnTo>
                  <a:lnTo>
                    <a:pt x="594" y="263"/>
                  </a:lnTo>
                  <a:lnTo>
                    <a:pt x="596" y="249"/>
                  </a:lnTo>
                  <a:lnTo>
                    <a:pt x="604" y="241"/>
                  </a:lnTo>
                  <a:lnTo>
                    <a:pt x="600" y="220"/>
                  </a:lnTo>
                  <a:lnTo>
                    <a:pt x="614" y="209"/>
                  </a:lnTo>
                  <a:lnTo>
                    <a:pt x="623" y="186"/>
                  </a:lnTo>
                  <a:lnTo>
                    <a:pt x="639" y="180"/>
                  </a:lnTo>
                  <a:lnTo>
                    <a:pt x="639" y="167"/>
                  </a:lnTo>
                  <a:lnTo>
                    <a:pt x="631" y="159"/>
                  </a:lnTo>
                  <a:lnTo>
                    <a:pt x="617" y="145"/>
                  </a:lnTo>
                  <a:lnTo>
                    <a:pt x="619" y="134"/>
                  </a:lnTo>
                  <a:lnTo>
                    <a:pt x="616" y="121"/>
                  </a:lnTo>
                  <a:lnTo>
                    <a:pt x="608" y="109"/>
                  </a:lnTo>
                  <a:lnTo>
                    <a:pt x="596" y="105"/>
                  </a:lnTo>
                  <a:lnTo>
                    <a:pt x="589" y="105"/>
                  </a:lnTo>
                  <a:lnTo>
                    <a:pt x="575" y="99"/>
                  </a:lnTo>
                  <a:lnTo>
                    <a:pt x="570" y="92"/>
                  </a:lnTo>
                  <a:lnTo>
                    <a:pt x="562" y="92"/>
                  </a:lnTo>
                  <a:lnTo>
                    <a:pt x="560" y="80"/>
                  </a:lnTo>
                  <a:lnTo>
                    <a:pt x="568" y="69"/>
                  </a:lnTo>
                  <a:lnTo>
                    <a:pt x="571" y="49"/>
                  </a:lnTo>
                  <a:lnTo>
                    <a:pt x="571" y="38"/>
                  </a:lnTo>
                  <a:lnTo>
                    <a:pt x="575" y="23"/>
                  </a:lnTo>
                  <a:lnTo>
                    <a:pt x="575" y="7"/>
                  </a:lnTo>
                  <a:lnTo>
                    <a:pt x="562" y="2"/>
                  </a:lnTo>
                  <a:lnTo>
                    <a:pt x="546" y="5"/>
                  </a:lnTo>
                  <a:lnTo>
                    <a:pt x="546" y="15"/>
                  </a:lnTo>
                  <a:lnTo>
                    <a:pt x="529" y="13"/>
                  </a:lnTo>
                  <a:lnTo>
                    <a:pt x="512" y="9"/>
                  </a:lnTo>
                  <a:lnTo>
                    <a:pt x="504" y="0"/>
                  </a:lnTo>
                  <a:lnTo>
                    <a:pt x="489" y="2"/>
                  </a:lnTo>
                  <a:lnTo>
                    <a:pt x="477" y="7"/>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6" name="Freeform 21">
              <a:extLst>
                <a:ext uri="{FF2B5EF4-FFF2-40B4-BE49-F238E27FC236}">
                  <a16:creationId xmlns:a16="http://schemas.microsoft.com/office/drawing/2014/main" id="{77C951B3-6324-1FC2-2896-C853B1D2E9D0}"/>
                </a:ext>
              </a:extLst>
            </p:cNvPr>
            <p:cNvSpPr>
              <a:spLocks noChangeAspect="1"/>
            </p:cNvSpPr>
            <p:nvPr/>
          </p:nvSpPr>
          <p:spPr bwMode="auto">
            <a:xfrm>
              <a:off x="4984926" y="2165485"/>
              <a:ext cx="1826554" cy="1244048"/>
            </a:xfrm>
            <a:custGeom>
              <a:avLst/>
              <a:gdLst/>
              <a:ahLst/>
              <a:cxnLst>
                <a:cxn ang="0">
                  <a:pos x="507" y="169"/>
                </a:cxn>
                <a:cxn ang="0">
                  <a:pos x="564" y="192"/>
                </a:cxn>
                <a:cxn ang="0">
                  <a:pos x="501" y="222"/>
                </a:cxn>
                <a:cxn ang="0">
                  <a:pos x="436" y="276"/>
                </a:cxn>
                <a:cxn ang="0">
                  <a:pos x="460" y="351"/>
                </a:cxn>
                <a:cxn ang="0">
                  <a:pos x="516" y="403"/>
                </a:cxn>
                <a:cxn ang="0">
                  <a:pos x="531" y="485"/>
                </a:cxn>
                <a:cxn ang="0">
                  <a:pos x="432" y="850"/>
                </a:cxn>
                <a:cxn ang="0">
                  <a:pos x="359" y="837"/>
                </a:cxn>
                <a:cxn ang="0">
                  <a:pos x="315" y="865"/>
                </a:cxn>
                <a:cxn ang="0">
                  <a:pos x="251" y="873"/>
                </a:cxn>
                <a:cxn ang="0">
                  <a:pos x="177" y="909"/>
                </a:cxn>
                <a:cxn ang="0">
                  <a:pos x="102" y="979"/>
                </a:cxn>
                <a:cxn ang="0">
                  <a:pos x="69" y="1086"/>
                </a:cxn>
                <a:cxn ang="0">
                  <a:pos x="31" y="1165"/>
                </a:cxn>
                <a:cxn ang="0">
                  <a:pos x="10" y="1245"/>
                </a:cxn>
                <a:cxn ang="0">
                  <a:pos x="376" y="1326"/>
                </a:cxn>
                <a:cxn ang="0">
                  <a:pos x="706" y="1455"/>
                </a:cxn>
                <a:cxn ang="0">
                  <a:pos x="927" y="1497"/>
                </a:cxn>
                <a:cxn ang="0">
                  <a:pos x="973" y="1462"/>
                </a:cxn>
                <a:cxn ang="0">
                  <a:pos x="1055" y="1466"/>
                </a:cxn>
                <a:cxn ang="0">
                  <a:pos x="1097" y="1443"/>
                </a:cxn>
                <a:cxn ang="0">
                  <a:pos x="1170" y="1393"/>
                </a:cxn>
                <a:cxn ang="0">
                  <a:pos x="1236" y="1318"/>
                </a:cxn>
                <a:cxn ang="0">
                  <a:pos x="1368" y="1280"/>
                </a:cxn>
                <a:cxn ang="0">
                  <a:pos x="1571" y="1378"/>
                </a:cxn>
                <a:cxn ang="0">
                  <a:pos x="1930" y="1305"/>
                </a:cxn>
                <a:cxn ang="0">
                  <a:pos x="1963" y="1188"/>
                </a:cxn>
                <a:cxn ang="0">
                  <a:pos x="1947" y="1149"/>
                </a:cxn>
                <a:cxn ang="0">
                  <a:pos x="2206" y="558"/>
                </a:cxn>
                <a:cxn ang="0">
                  <a:pos x="2180" y="533"/>
                </a:cxn>
                <a:cxn ang="0">
                  <a:pos x="2124" y="514"/>
                </a:cxn>
                <a:cxn ang="0">
                  <a:pos x="2080" y="468"/>
                </a:cxn>
                <a:cxn ang="0">
                  <a:pos x="2016" y="474"/>
                </a:cxn>
                <a:cxn ang="0">
                  <a:pos x="1932" y="451"/>
                </a:cxn>
                <a:cxn ang="0">
                  <a:pos x="1917" y="384"/>
                </a:cxn>
                <a:cxn ang="0">
                  <a:pos x="1867" y="178"/>
                </a:cxn>
                <a:cxn ang="0">
                  <a:pos x="1715" y="274"/>
                </a:cxn>
                <a:cxn ang="0">
                  <a:pos x="1692" y="341"/>
                </a:cxn>
                <a:cxn ang="0">
                  <a:pos x="1631" y="359"/>
                </a:cxn>
                <a:cxn ang="0">
                  <a:pos x="1571" y="328"/>
                </a:cxn>
                <a:cxn ang="0">
                  <a:pos x="1533" y="380"/>
                </a:cxn>
                <a:cxn ang="0">
                  <a:pos x="1525" y="428"/>
                </a:cxn>
                <a:cxn ang="0">
                  <a:pos x="1498" y="441"/>
                </a:cxn>
                <a:cxn ang="0">
                  <a:pos x="1449" y="399"/>
                </a:cxn>
                <a:cxn ang="0">
                  <a:pos x="1416" y="355"/>
                </a:cxn>
                <a:cxn ang="0">
                  <a:pos x="1420" y="315"/>
                </a:cxn>
                <a:cxn ang="0">
                  <a:pos x="1401" y="148"/>
                </a:cxn>
                <a:cxn ang="0">
                  <a:pos x="1355" y="69"/>
                </a:cxn>
                <a:cxn ang="0">
                  <a:pos x="1320" y="9"/>
                </a:cxn>
                <a:cxn ang="0">
                  <a:pos x="1285" y="2"/>
                </a:cxn>
                <a:cxn ang="0">
                  <a:pos x="1205" y="21"/>
                </a:cxn>
                <a:cxn ang="0">
                  <a:pos x="1167" y="90"/>
                </a:cxn>
                <a:cxn ang="0">
                  <a:pos x="1076" y="130"/>
                </a:cxn>
                <a:cxn ang="0">
                  <a:pos x="988" y="178"/>
                </a:cxn>
                <a:cxn ang="0">
                  <a:pos x="948" y="182"/>
                </a:cxn>
                <a:cxn ang="0">
                  <a:pos x="821" y="146"/>
                </a:cxn>
                <a:cxn ang="0">
                  <a:pos x="792" y="71"/>
                </a:cxn>
                <a:cxn ang="0">
                  <a:pos x="750" y="44"/>
                </a:cxn>
                <a:cxn ang="0">
                  <a:pos x="693" y="63"/>
                </a:cxn>
                <a:cxn ang="0">
                  <a:pos x="660" y="59"/>
                </a:cxn>
              </a:cxnLst>
              <a:rect l="0" t="0" r="r" b="b"/>
              <a:pathLst>
                <a:path w="2235" h="1522">
                  <a:moveTo>
                    <a:pt x="472" y="75"/>
                  </a:moveTo>
                  <a:lnTo>
                    <a:pt x="472" y="169"/>
                  </a:lnTo>
                  <a:lnTo>
                    <a:pt x="489" y="169"/>
                  </a:lnTo>
                  <a:lnTo>
                    <a:pt x="507" y="169"/>
                  </a:lnTo>
                  <a:lnTo>
                    <a:pt x="520" y="171"/>
                  </a:lnTo>
                  <a:lnTo>
                    <a:pt x="537" y="174"/>
                  </a:lnTo>
                  <a:lnTo>
                    <a:pt x="551" y="174"/>
                  </a:lnTo>
                  <a:lnTo>
                    <a:pt x="564" y="192"/>
                  </a:lnTo>
                  <a:lnTo>
                    <a:pt x="564" y="242"/>
                  </a:lnTo>
                  <a:lnTo>
                    <a:pt x="543" y="226"/>
                  </a:lnTo>
                  <a:lnTo>
                    <a:pt x="520" y="217"/>
                  </a:lnTo>
                  <a:lnTo>
                    <a:pt x="501" y="222"/>
                  </a:lnTo>
                  <a:lnTo>
                    <a:pt x="476" y="230"/>
                  </a:lnTo>
                  <a:lnTo>
                    <a:pt x="455" y="238"/>
                  </a:lnTo>
                  <a:lnTo>
                    <a:pt x="443" y="253"/>
                  </a:lnTo>
                  <a:lnTo>
                    <a:pt x="436" y="276"/>
                  </a:lnTo>
                  <a:lnTo>
                    <a:pt x="436" y="303"/>
                  </a:lnTo>
                  <a:lnTo>
                    <a:pt x="441" y="315"/>
                  </a:lnTo>
                  <a:lnTo>
                    <a:pt x="451" y="336"/>
                  </a:lnTo>
                  <a:lnTo>
                    <a:pt x="460" y="351"/>
                  </a:lnTo>
                  <a:lnTo>
                    <a:pt x="476" y="364"/>
                  </a:lnTo>
                  <a:lnTo>
                    <a:pt x="495" y="364"/>
                  </a:lnTo>
                  <a:lnTo>
                    <a:pt x="507" y="378"/>
                  </a:lnTo>
                  <a:lnTo>
                    <a:pt x="516" y="403"/>
                  </a:lnTo>
                  <a:lnTo>
                    <a:pt x="528" y="428"/>
                  </a:lnTo>
                  <a:lnTo>
                    <a:pt x="530" y="443"/>
                  </a:lnTo>
                  <a:lnTo>
                    <a:pt x="531" y="458"/>
                  </a:lnTo>
                  <a:lnTo>
                    <a:pt x="531" y="485"/>
                  </a:lnTo>
                  <a:lnTo>
                    <a:pt x="472" y="821"/>
                  </a:lnTo>
                  <a:lnTo>
                    <a:pt x="470" y="844"/>
                  </a:lnTo>
                  <a:lnTo>
                    <a:pt x="451" y="848"/>
                  </a:lnTo>
                  <a:lnTo>
                    <a:pt x="432" y="850"/>
                  </a:lnTo>
                  <a:lnTo>
                    <a:pt x="424" y="838"/>
                  </a:lnTo>
                  <a:lnTo>
                    <a:pt x="403" y="823"/>
                  </a:lnTo>
                  <a:lnTo>
                    <a:pt x="372" y="825"/>
                  </a:lnTo>
                  <a:lnTo>
                    <a:pt x="359" y="837"/>
                  </a:lnTo>
                  <a:lnTo>
                    <a:pt x="343" y="844"/>
                  </a:lnTo>
                  <a:lnTo>
                    <a:pt x="332" y="862"/>
                  </a:lnTo>
                  <a:lnTo>
                    <a:pt x="320" y="862"/>
                  </a:lnTo>
                  <a:lnTo>
                    <a:pt x="315" y="865"/>
                  </a:lnTo>
                  <a:lnTo>
                    <a:pt x="311" y="867"/>
                  </a:lnTo>
                  <a:lnTo>
                    <a:pt x="309" y="869"/>
                  </a:lnTo>
                  <a:lnTo>
                    <a:pt x="297" y="873"/>
                  </a:lnTo>
                  <a:lnTo>
                    <a:pt x="251" y="873"/>
                  </a:lnTo>
                  <a:lnTo>
                    <a:pt x="249" y="862"/>
                  </a:lnTo>
                  <a:lnTo>
                    <a:pt x="228" y="879"/>
                  </a:lnTo>
                  <a:lnTo>
                    <a:pt x="198" y="892"/>
                  </a:lnTo>
                  <a:lnTo>
                    <a:pt x="177" y="909"/>
                  </a:lnTo>
                  <a:lnTo>
                    <a:pt x="155" y="919"/>
                  </a:lnTo>
                  <a:lnTo>
                    <a:pt x="138" y="934"/>
                  </a:lnTo>
                  <a:lnTo>
                    <a:pt x="119" y="967"/>
                  </a:lnTo>
                  <a:lnTo>
                    <a:pt x="102" y="979"/>
                  </a:lnTo>
                  <a:lnTo>
                    <a:pt x="96" y="1013"/>
                  </a:lnTo>
                  <a:lnTo>
                    <a:pt x="84" y="1036"/>
                  </a:lnTo>
                  <a:lnTo>
                    <a:pt x="67" y="1057"/>
                  </a:lnTo>
                  <a:lnTo>
                    <a:pt x="69" y="1086"/>
                  </a:lnTo>
                  <a:lnTo>
                    <a:pt x="69" y="1115"/>
                  </a:lnTo>
                  <a:lnTo>
                    <a:pt x="67" y="1146"/>
                  </a:lnTo>
                  <a:lnTo>
                    <a:pt x="50" y="1153"/>
                  </a:lnTo>
                  <a:lnTo>
                    <a:pt x="31" y="1165"/>
                  </a:lnTo>
                  <a:lnTo>
                    <a:pt x="19" y="1188"/>
                  </a:lnTo>
                  <a:lnTo>
                    <a:pt x="8" y="1207"/>
                  </a:lnTo>
                  <a:lnTo>
                    <a:pt x="0" y="1230"/>
                  </a:lnTo>
                  <a:lnTo>
                    <a:pt x="10" y="1245"/>
                  </a:lnTo>
                  <a:lnTo>
                    <a:pt x="192" y="1295"/>
                  </a:lnTo>
                  <a:lnTo>
                    <a:pt x="240" y="1303"/>
                  </a:lnTo>
                  <a:lnTo>
                    <a:pt x="303" y="1307"/>
                  </a:lnTo>
                  <a:lnTo>
                    <a:pt x="376" y="1326"/>
                  </a:lnTo>
                  <a:lnTo>
                    <a:pt x="466" y="1353"/>
                  </a:lnTo>
                  <a:lnTo>
                    <a:pt x="549" y="1391"/>
                  </a:lnTo>
                  <a:lnTo>
                    <a:pt x="614" y="1426"/>
                  </a:lnTo>
                  <a:lnTo>
                    <a:pt x="706" y="1455"/>
                  </a:lnTo>
                  <a:lnTo>
                    <a:pt x="892" y="1522"/>
                  </a:lnTo>
                  <a:lnTo>
                    <a:pt x="898" y="1508"/>
                  </a:lnTo>
                  <a:lnTo>
                    <a:pt x="911" y="1497"/>
                  </a:lnTo>
                  <a:lnTo>
                    <a:pt x="927" y="1497"/>
                  </a:lnTo>
                  <a:lnTo>
                    <a:pt x="929" y="1478"/>
                  </a:lnTo>
                  <a:lnTo>
                    <a:pt x="950" y="1478"/>
                  </a:lnTo>
                  <a:lnTo>
                    <a:pt x="967" y="1474"/>
                  </a:lnTo>
                  <a:lnTo>
                    <a:pt x="973" y="1462"/>
                  </a:lnTo>
                  <a:lnTo>
                    <a:pt x="986" y="1466"/>
                  </a:lnTo>
                  <a:lnTo>
                    <a:pt x="1003" y="1472"/>
                  </a:lnTo>
                  <a:lnTo>
                    <a:pt x="1034" y="1468"/>
                  </a:lnTo>
                  <a:lnTo>
                    <a:pt x="1055" y="1466"/>
                  </a:lnTo>
                  <a:lnTo>
                    <a:pt x="1082" y="1462"/>
                  </a:lnTo>
                  <a:lnTo>
                    <a:pt x="1097" y="1474"/>
                  </a:lnTo>
                  <a:lnTo>
                    <a:pt x="1105" y="1456"/>
                  </a:lnTo>
                  <a:lnTo>
                    <a:pt x="1097" y="1443"/>
                  </a:lnTo>
                  <a:lnTo>
                    <a:pt x="1117" y="1437"/>
                  </a:lnTo>
                  <a:lnTo>
                    <a:pt x="1119" y="1414"/>
                  </a:lnTo>
                  <a:lnTo>
                    <a:pt x="1153" y="1407"/>
                  </a:lnTo>
                  <a:lnTo>
                    <a:pt x="1170" y="1393"/>
                  </a:lnTo>
                  <a:lnTo>
                    <a:pt x="1188" y="1387"/>
                  </a:lnTo>
                  <a:lnTo>
                    <a:pt x="1207" y="1378"/>
                  </a:lnTo>
                  <a:lnTo>
                    <a:pt x="1226" y="1355"/>
                  </a:lnTo>
                  <a:lnTo>
                    <a:pt x="1236" y="1318"/>
                  </a:lnTo>
                  <a:lnTo>
                    <a:pt x="1251" y="1297"/>
                  </a:lnTo>
                  <a:lnTo>
                    <a:pt x="1268" y="1297"/>
                  </a:lnTo>
                  <a:lnTo>
                    <a:pt x="1278" y="1282"/>
                  </a:lnTo>
                  <a:lnTo>
                    <a:pt x="1368" y="1280"/>
                  </a:lnTo>
                  <a:lnTo>
                    <a:pt x="1429" y="1345"/>
                  </a:lnTo>
                  <a:lnTo>
                    <a:pt x="1498" y="1366"/>
                  </a:lnTo>
                  <a:lnTo>
                    <a:pt x="1550" y="1368"/>
                  </a:lnTo>
                  <a:lnTo>
                    <a:pt x="1571" y="1378"/>
                  </a:lnTo>
                  <a:lnTo>
                    <a:pt x="1913" y="1372"/>
                  </a:lnTo>
                  <a:lnTo>
                    <a:pt x="1917" y="1341"/>
                  </a:lnTo>
                  <a:lnTo>
                    <a:pt x="1932" y="1336"/>
                  </a:lnTo>
                  <a:lnTo>
                    <a:pt x="1930" y="1305"/>
                  </a:lnTo>
                  <a:lnTo>
                    <a:pt x="1938" y="1272"/>
                  </a:lnTo>
                  <a:lnTo>
                    <a:pt x="1945" y="1251"/>
                  </a:lnTo>
                  <a:lnTo>
                    <a:pt x="1957" y="1222"/>
                  </a:lnTo>
                  <a:lnTo>
                    <a:pt x="1963" y="1188"/>
                  </a:lnTo>
                  <a:lnTo>
                    <a:pt x="1963" y="1188"/>
                  </a:lnTo>
                  <a:lnTo>
                    <a:pt x="1961" y="1182"/>
                  </a:lnTo>
                  <a:lnTo>
                    <a:pt x="1961" y="1159"/>
                  </a:lnTo>
                  <a:lnTo>
                    <a:pt x="1947" y="1149"/>
                  </a:lnTo>
                  <a:lnTo>
                    <a:pt x="1940" y="1126"/>
                  </a:lnTo>
                  <a:lnTo>
                    <a:pt x="1936" y="1105"/>
                  </a:lnTo>
                  <a:lnTo>
                    <a:pt x="2153" y="616"/>
                  </a:lnTo>
                  <a:lnTo>
                    <a:pt x="2206" y="558"/>
                  </a:lnTo>
                  <a:lnTo>
                    <a:pt x="2235" y="522"/>
                  </a:lnTo>
                  <a:lnTo>
                    <a:pt x="2216" y="516"/>
                  </a:lnTo>
                  <a:lnTo>
                    <a:pt x="2195" y="529"/>
                  </a:lnTo>
                  <a:lnTo>
                    <a:pt x="2180" y="533"/>
                  </a:lnTo>
                  <a:lnTo>
                    <a:pt x="2162" y="539"/>
                  </a:lnTo>
                  <a:lnTo>
                    <a:pt x="2147" y="541"/>
                  </a:lnTo>
                  <a:lnTo>
                    <a:pt x="2139" y="526"/>
                  </a:lnTo>
                  <a:lnTo>
                    <a:pt x="2124" y="514"/>
                  </a:lnTo>
                  <a:lnTo>
                    <a:pt x="2109" y="510"/>
                  </a:lnTo>
                  <a:lnTo>
                    <a:pt x="2089" y="510"/>
                  </a:lnTo>
                  <a:lnTo>
                    <a:pt x="2087" y="491"/>
                  </a:lnTo>
                  <a:lnTo>
                    <a:pt x="2080" y="468"/>
                  </a:lnTo>
                  <a:lnTo>
                    <a:pt x="2068" y="466"/>
                  </a:lnTo>
                  <a:lnTo>
                    <a:pt x="2047" y="468"/>
                  </a:lnTo>
                  <a:lnTo>
                    <a:pt x="2034" y="476"/>
                  </a:lnTo>
                  <a:lnTo>
                    <a:pt x="2016" y="474"/>
                  </a:lnTo>
                  <a:lnTo>
                    <a:pt x="1990" y="474"/>
                  </a:lnTo>
                  <a:lnTo>
                    <a:pt x="1965" y="474"/>
                  </a:lnTo>
                  <a:lnTo>
                    <a:pt x="1949" y="464"/>
                  </a:lnTo>
                  <a:lnTo>
                    <a:pt x="1932" y="451"/>
                  </a:lnTo>
                  <a:lnTo>
                    <a:pt x="1917" y="426"/>
                  </a:lnTo>
                  <a:lnTo>
                    <a:pt x="1922" y="410"/>
                  </a:lnTo>
                  <a:lnTo>
                    <a:pt x="1932" y="399"/>
                  </a:lnTo>
                  <a:lnTo>
                    <a:pt x="1917" y="384"/>
                  </a:lnTo>
                  <a:lnTo>
                    <a:pt x="1901" y="370"/>
                  </a:lnTo>
                  <a:lnTo>
                    <a:pt x="1892" y="349"/>
                  </a:lnTo>
                  <a:lnTo>
                    <a:pt x="1875" y="326"/>
                  </a:lnTo>
                  <a:lnTo>
                    <a:pt x="1867" y="178"/>
                  </a:lnTo>
                  <a:lnTo>
                    <a:pt x="1871" y="240"/>
                  </a:lnTo>
                  <a:lnTo>
                    <a:pt x="1725" y="244"/>
                  </a:lnTo>
                  <a:lnTo>
                    <a:pt x="1715" y="253"/>
                  </a:lnTo>
                  <a:lnTo>
                    <a:pt x="1715" y="274"/>
                  </a:lnTo>
                  <a:lnTo>
                    <a:pt x="1694" y="299"/>
                  </a:lnTo>
                  <a:lnTo>
                    <a:pt x="1681" y="320"/>
                  </a:lnTo>
                  <a:lnTo>
                    <a:pt x="1679" y="330"/>
                  </a:lnTo>
                  <a:lnTo>
                    <a:pt x="1692" y="341"/>
                  </a:lnTo>
                  <a:lnTo>
                    <a:pt x="1665" y="357"/>
                  </a:lnTo>
                  <a:lnTo>
                    <a:pt x="1652" y="368"/>
                  </a:lnTo>
                  <a:lnTo>
                    <a:pt x="1637" y="372"/>
                  </a:lnTo>
                  <a:lnTo>
                    <a:pt x="1631" y="359"/>
                  </a:lnTo>
                  <a:lnTo>
                    <a:pt x="1617" y="347"/>
                  </a:lnTo>
                  <a:lnTo>
                    <a:pt x="1608" y="334"/>
                  </a:lnTo>
                  <a:lnTo>
                    <a:pt x="1587" y="324"/>
                  </a:lnTo>
                  <a:lnTo>
                    <a:pt x="1571" y="328"/>
                  </a:lnTo>
                  <a:lnTo>
                    <a:pt x="1550" y="343"/>
                  </a:lnTo>
                  <a:lnTo>
                    <a:pt x="1531" y="349"/>
                  </a:lnTo>
                  <a:lnTo>
                    <a:pt x="1529" y="366"/>
                  </a:lnTo>
                  <a:lnTo>
                    <a:pt x="1533" y="380"/>
                  </a:lnTo>
                  <a:lnTo>
                    <a:pt x="1533" y="393"/>
                  </a:lnTo>
                  <a:lnTo>
                    <a:pt x="1520" y="407"/>
                  </a:lnTo>
                  <a:lnTo>
                    <a:pt x="1533" y="422"/>
                  </a:lnTo>
                  <a:lnTo>
                    <a:pt x="1525" y="428"/>
                  </a:lnTo>
                  <a:lnTo>
                    <a:pt x="1525" y="443"/>
                  </a:lnTo>
                  <a:lnTo>
                    <a:pt x="1523" y="457"/>
                  </a:lnTo>
                  <a:lnTo>
                    <a:pt x="1510" y="443"/>
                  </a:lnTo>
                  <a:lnTo>
                    <a:pt x="1498" y="441"/>
                  </a:lnTo>
                  <a:lnTo>
                    <a:pt x="1489" y="430"/>
                  </a:lnTo>
                  <a:lnTo>
                    <a:pt x="1477" y="418"/>
                  </a:lnTo>
                  <a:lnTo>
                    <a:pt x="1458" y="409"/>
                  </a:lnTo>
                  <a:lnTo>
                    <a:pt x="1449" y="399"/>
                  </a:lnTo>
                  <a:lnTo>
                    <a:pt x="1439" y="393"/>
                  </a:lnTo>
                  <a:lnTo>
                    <a:pt x="1429" y="386"/>
                  </a:lnTo>
                  <a:lnTo>
                    <a:pt x="1412" y="368"/>
                  </a:lnTo>
                  <a:lnTo>
                    <a:pt x="1416" y="355"/>
                  </a:lnTo>
                  <a:lnTo>
                    <a:pt x="1424" y="349"/>
                  </a:lnTo>
                  <a:lnTo>
                    <a:pt x="1424" y="336"/>
                  </a:lnTo>
                  <a:lnTo>
                    <a:pt x="1420" y="328"/>
                  </a:lnTo>
                  <a:lnTo>
                    <a:pt x="1420" y="315"/>
                  </a:lnTo>
                  <a:lnTo>
                    <a:pt x="1418" y="295"/>
                  </a:lnTo>
                  <a:lnTo>
                    <a:pt x="1416" y="180"/>
                  </a:lnTo>
                  <a:lnTo>
                    <a:pt x="1412" y="169"/>
                  </a:lnTo>
                  <a:lnTo>
                    <a:pt x="1401" y="148"/>
                  </a:lnTo>
                  <a:lnTo>
                    <a:pt x="1383" y="123"/>
                  </a:lnTo>
                  <a:lnTo>
                    <a:pt x="1368" y="98"/>
                  </a:lnTo>
                  <a:lnTo>
                    <a:pt x="1364" y="82"/>
                  </a:lnTo>
                  <a:lnTo>
                    <a:pt x="1355" y="69"/>
                  </a:lnTo>
                  <a:lnTo>
                    <a:pt x="1353" y="50"/>
                  </a:lnTo>
                  <a:lnTo>
                    <a:pt x="1347" y="34"/>
                  </a:lnTo>
                  <a:lnTo>
                    <a:pt x="1337" y="15"/>
                  </a:lnTo>
                  <a:lnTo>
                    <a:pt x="1320" y="9"/>
                  </a:lnTo>
                  <a:lnTo>
                    <a:pt x="1305" y="6"/>
                  </a:lnTo>
                  <a:lnTo>
                    <a:pt x="1287" y="2"/>
                  </a:lnTo>
                  <a:lnTo>
                    <a:pt x="1287" y="0"/>
                  </a:lnTo>
                  <a:lnTo>
                    <a:pt x="1285" y="2"/>
                  </a:lnTo>
                  <a:lnTo>
                    <a:pt x="1268" y="4"/>
                  </a:lnTo>
                  <a:lnTo>
                    <a:pt x="1257" y="11"/>
                  </a:lnTo>
                  <a:lnTo>
                    <a:pt x="1243" y="21"/>
                  </a:lnTo>
                  <a:lnTo>
                    <a:pt x="1205" y="21"/>
                  </a:lnTo>
                  <a:lnTo>
                    <a:pt x="1207" y="40"/>
                  </a:lnTo>
                  <a:lnTo>
                    <a:pt x="1203" y="59"/>
                  </a:lnTo>
                  <a:lnTo>
                    <a:pt x="1184" y="82"/>
                  </a:lnTo>
                  <a:lnTo>
                    <a:pt x="1167" y="90"/>
                  </a:lnTo>
                  <a:lnTo>
                    <a:pt x="1144" y="98"/>
                  </a:lnTo>
                  <a:lnTo>
                    <a:pt x="1122" y="113"/>
                  </a:lnTo>
                  <a:lnTo>
                    <a:pt x="1103" y="125"/>
                  </a:lnTo>
                  <a:lnTo>
                    <a:pt x="1076" y="130"/>
                  </a:lnTo>
                  <a:lnTo>
                    <a:pt x="1067" y="146"/>
                  </a:lnTo>
                  <a:lnTo>
                    <a:pt x="1034" y="165"/>
                  </a:lnTo>
                  <a:lnTo>
                    <a:pt x="998" y="190"/>
                  </a:lnTo>
                  <a:lnTo>
                    <a:pt x="988" y="178"/>
                  </a:lnTo>
                  <a:lnTo>
                    <a:pt x="992" y="161"/>
                  </a:lnTo>
                  <a:lnTo>
                    <a:pt x="971" y="153"/>
                  </a:lnTo>
                  <a:lnTo>
                    <a:pt x="952" y="167"/>
                  </a:lnTo>
                  <a:lnTo>
                    <a:pt x="948" y="182"/>
                  </a:lnTo>
                  <a:lnTo>
                    <a:pt x="919" y="190"/>
                  </a:lnTo>
                  <a:lnTo>
                    <a:pt x="894" y="169"/>
                  </a:lnTo>
                  <a:lnTo>
                    <a:pt x="850" y="138"/>
                  </a:lnTo>
                  <a:lnTo>
                    <a:pt x="821" y="146"/>
                  </a:lnTo>
                  <a:lnTo>
                    <a:pt x="810" y="132"/>
                  </a:lnTo>
                  <a:lnTo>
                    <a:pt x="810" y="113"/>
                  </a:lnTo>
                  <a:lnTo>
                    <a:pt x="810" y="94"/>
                  </a:lnTo>
                  <a:lnTo>
                    <a:pt x="792" y="71"/>
                  </a:lnTo>
                  <a:lnTo>
                    <a:pt x="794" y="57"/>
                  </a:lnTo>
                  <a:lnTo>
                    <a:pt x="777" y="38"/>
                  </a:lnTo>
                  <a:lnTo>
                    <a:pt x="758" y="29"/>
                  </a:lnTo>
                  <a:lnTo>
                    <a:pt x="750" y="44"/>
                  </a:lnTo>
                  <a:lnTo>
                    <a:pt x="741" y="63"/>
                  </a:lnTo>
                  <a:lnTo>
                    <a:pt x="725" y="73"/>
                  </a:lnTo>
                  <a:lnTo>
                    <a:pt x="708" y="80"/>
                  </a:lnTo>
                  <a:lnTo>
                    <a:pt x="693" y="63"/>
                  </a:lnTo>
                  <a:lnTo>
                    <a:pt x="687" y="48"/>
                  </a:lnTo>
                  <a:lnTo>
                    <a:pt x="672" y="34"/>
                  </a:lnTo>
                  <a:lnTo>
                    <a:pt x="664" y="52"/>
                  </a:lnTo>
                  <a:lnTo>
                    <a:pt x="660" y="59"/>
                  </a:lnTo>
                  <a:lnTo>
                    <a:pt x="662" y="73"/>
                  </a:lnTo>
                  <a:lnTo>
                    <a:pt x="472" y="75"/>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7" name="Freeform 22">
              <a:extLst>
                <a:ext uri="{FF2B5EF4-FFF2-40B4-BE49-F238E27FC236}">
                  <a16:creationId xmlns:a16="http://schemas.microsoft.com/office/drawing/2014/main" id="{E9E68618-CC52-4077-9151-1280EDA62FB1}"/>
                </a:ext>
              </a:extLst>
            </p:cNvPr>
            <p:cNvSpPr>
              <a:spLocks noChangeAspect="1"/>
            </p:cNvSpPr>
            <p:nvPr/>
          </p:nvSpPr>
          <p:spPr bwMode="auto">
            <a:xfrm>
              <a:off x="4974448" y="3182604"/>
              <a:ext cx="747384" cy="370072"/>
            </a:xfrm>
            <a:custGeom>
              <a:avLst/>
              <a:gdLst/>
              <a:ahLst/>
              <a:cxnLst>
                <a:cxn ang="0">
                  <a:pos x="191" y="273"/>
                </a:cxn>
                <a:cxn ang="0">
                  <a:pos x="205" y="302"/>
                </a:cxn>
                <a:cxn ang="0">
                  <a:pos x="224" y="327"/>
                </a:cxn>
                <a:cxn ang="0">
                  <a:pos x="297" y="329"/>
                </a:cxn>
                <a:cxn ang="0">
                  <a:pos x="404" y="261"/>
                </a:cxn>
                <a:cxn ang="0">
                  <a:pos x="433" y="275"/>
                </a:cxn>
                <a:cxn ang="0">
                  <a:pos x="426" y="444"/>
                </a:cxn>
                <a:cxn ang="0">
                  <a:pos x="483" y="453"/>
                </a:cxn>
                <a:cxn ang="0">
                  <a:pos x="525" y="434"/>
                </a:cxn>
                <a:cxn ang="0">
                  <a:pos x="556" y="430"/>
                </a:cxn>
                <a:cxn ang="0">
                  <a:pos x="650" y="432"/>
                </a:cxn>
                <a:cxn ang="0">
                  <a:pos x="681" y="436"/>
                </a:cxn>
                <a:cxn ang="0">
                  <a:pos x="713" y="448"/>
                </a:cxn>
                <a:cxn ang="0">
                  <a:pos x="731" y="419"/>
                </a:cxn>
                <a:cxn ang="0">
                  <a:pos x="756" y="400"/>
                </a:cxn>
                <a:cxn ang="0">
                  <a:pos x="782" y="390"/>
                </a:cxn>
                <a:cxn ang="0">
                  <a:pos x="807" y="401"/>
                </a:cxn>
                <a:cxn ang="0">
                  <a:pos x="851" y="375"/>
                </a:cxn>
                <a:cxn ang="0">
                  <a:pos x="876" y="340"/>
                </a:cxn>
                <a:cxn ang="0">
                  <a:pos x="907" y="307"/>
                </a:cxn>
                <a:cxn ang="0">
                  <a:pos x="911" y="284"/>
                </a:cxn>
                <a:cxn ang="0">
                  <a:pos x="905" y="277"/>
                </a:cxn>
                <a:cxn ang="0">
                  <a:pos x="627" y="181"/>
                </a:cxn>
                <a:cxn ang="0">
                  <a:pos x="479" y="108"/>
                </a:cxn>
                <a:cxn ang="0">
                  <a:pos x="316" y="62"/>
                </a:cxn>
                <a:cxn ang="0">
                  <a:pos x="205" y="50"/>
                </a:cxn>
                <a:cxn ang="0">
                  <a:pos x="21" y="0"/>
                </a:cxn>
                <a:cxn ang="0">
                  <a:pos x="23" y="10"/>
                </a:cxn>
                <a:cxn ang="0">
                  <a:pos x="0" y="31"/>
                </a:cxn>
                <a:cxn ang="0">
                  <a:pos x="3" y="69"/>
                </a:cxn>
                <a:cxn ang="0">
                  <a:pos x="17" y="87"/>
                </a:cxn>
                <a:cxn ang="0">
                  <a:pos x="28" y="114"/>
                </a:cxn>
                <a:cxn ang="0">
                  <a:pos x="65" y="146"/>
                </a:cxn>
                <a:cxn ang="0">
                  <a:pos x="101" y="169"/>
                </a:cxn>
                <a:cxn ang="0">
                  <a:pos x="117" y="217"/>
                </a:cxn>
                <a:cxn ang="0">
                  <a:pos x="101" y="254"/>
                </a:cxn>
              </a:cxnLst>
              <a:rect l="0" t="0" r="r" b="b"/>
              <a:pathLst>
                <a:path w="915" h="453">
                  <a:moveTo>
                    <a:pt x="99" y="269"/>
                  </a:moveTo>
                  <a:lnTo>
                    <a:pt x="191" y="273"/>
                  </a:lnTo>
                  <a:lnTo>
                    <a:pt x="199" y="284"/>
                  </a:lnTo>
                  <a:lnTo>
                    <a:pt x="205" y="302"/>
                  </a:lnTo>
                  <a:lnTo>
                    <a:pt x="224" y="307"/>
                  </a:lnTo>
                  <a:lnTo>
                    <a:pt x="224" y="327"/>
                  </a:lnTo>
                  <a:lnTo>
                    <a:pt x="270" y="334"/>
                  </a:lnTo>
                  <a:lnTo>
                    <a:pt x="297" y="329"/>
                  </a:lnTo>
                  <a:lnTo>
                    <a:pt x="339" y="325"/>
                  </a:lnTo>
                  <a:lnTo>
                    <a:pt x="404" y="261"/>
                  </a:lnTo>
                  <a:lnTo>
                    <a:pt x="422" y="256"/>
                  </a:lnTo>
                  <a:lnTo>
                    <a:pt x="433" y="275"/>
                  </a:lnTo>
                  <a:lnTo>
                    <a:pt x="427" y="290"/>
                  </a:lnTo>
                  <a:lnTo>
                    <a:pt x="426" y="444"/>
                  </a:lnTo>
                  <a:lnTo>
                    <a:pt x="470" y="444"/>
                  </a:lnTo>
                  <a:lnTo>
                    <a:pt x="483" y="453"/>
                  </a:lnTo>
                  <a:lnTo>
                    <a:pt x="498" y="449"/>
                  </a:lnTo>
                  <a:lnTo>
                    <a:pt x="525" y="434"/>
                  </a:lnTo>
                  <a:lnTo>
                    <a:pt x="543" y="423"/>
                  </a:lnTo>
                  <a:lnTo>
                    <a:pt x="556" y="430"/>
                  </a:lnTo>
                  <a:lnTo>
                    <a:pt x="568" y="436"/>
                  </a:lnTo>
                  <a:lnTo>
                    <a:pt x="650" y="432"/>
                  </a:lnTo>
                  <a:lnTo>
                    <a:pt x="665" y="424"/>
                  </a:lnTo>
                  <a:lnTo>
                    <a:pt x="681" y="436"/>
                  </a:lnTo>
                  <a:lnTo>
                    <a:pt x="690" y="448"/>
                  </a:lnTo>
                  <a:lnTo>
                    <a:pt x="713" y="448"/>
                  </a:lnTo>
                  <a:lnTo>
                    <a:pt x="717" y="432"/>
                  </a:lnTo>
                  <a:lnTo>
                    <a:pt x="731" y="419"/>
                  </a:lnTo>
                  <a:lnTo>
                    <a:pt x="738" y="403"/>
                  </a:lnTo>
                  <a:lnTo>
                    <a:pt x="756" y="400"/>
                  </a:lnTo>
                  <a:lnTo>
                    <a:pt x="769" y="390"/>
                  </a:lnTo>
                  <a:lnTo>
                    <a:pt x="782" y="390"/>
                  </a:lnTo>
                  <a:lnTo>
                    <a:pt x="798" y="403"/>
                  </a:lnTo>
                  <a:lnTo>
                    <a:pt x="807" y="401"/>
                  </a:lnTo>
                  <a:lnTo>
                    <a:pt x="832" y="375"/>
                  </a:lnTo>
                  <a:lnTo>
                    <a:pt x="851" y="375"/>
                  </a:lnTo>
                  <a:lnTo>
                    <a:pt x="863" y="363"/>
                  </a:lnTo>
                  <a:lnTo>
                    <a:pt x="876" y="340"/>
                  </a:lnTo>
                  <a:lnTo>
                    <a:pt x="890" y="329"/>
                  </a:lnTo>
                  <a:lnTo>
                    <a:pt x="907" y="307"/>
                  </a:lnTo>
                  <a:lnTo>
                    <a:pt x="915" y="294"/>
                  </a:lnTo>
                  <a:lnTo>
                    <a:pt x="911" y="284"/>
                  </a:lnTo>
                  <a:lnTo>
                    <a:pt x="905" y="277"/>
                  </a:lnTo>
                  <a:lnTo>
                    <a:pt x="905" y="277"/>
                  </a:lnTo>
                  <a:lnTo>
                    <a:pt x="719" y="210"/>
                  </a:lnTo>
                  <a:lnTo>
                    <a:pt x="627" y="181"/>
                  </a:lnTo>
                  <a:lnTo>
                    <a:pt x="562" y="146"/>
                  </a:lnTo>
                  <a:lnTo>
                    <a:pt x="479" y="108"/>
                  </a:lnTo>
                  <a:lnTo>
                    <a:pt x="389" y="81"/>
                  </a:lnTo>
                  <a:lnTo>
                    <a:pt x="316" y="62"/>
                  </a:lnTo>
                  <a:lnTo>
                    <a:pt x="253" y="58"/>
                  </a:lnTo>
                  <a:lnTo>
                    <a:pt x="205" y="50"/>
                  </a:lnTo>
                  <a:lnTo>
                    <a:pt x="23" y="0"/>
                  </a:lnTo>
                  <a:lnTo>
                    <a:pt x="21" y="0"/>
                  </a:lnTo>
                  <a:lnTo>
                    <a:pt x="21" y="0"/>
                  </a:lnTo>
                  <a:lnTo>
                    <a:pt x="23" y="10"/>
                  </a:lnTo>
                  <a:lnTo>
                    <a:pt x="11" y="20"/>
                  </a:lnTo>
                  <a:lnTo>
                    <a:pt x="0" y="31"/>
                  </a:lnTo>
                  <a:lnTo>
                    <a:pt x="3" y="48"/>
                  </a:lnTo>
                  <a:lnTo>
                    <a:pt x="3" y="69"/>
                  </a:lnTo>
                  <a:lnTo>
                    <a:pt x="15" y="71"/>
                  </a:lnTo>
                  <a:lnTo>
                    <a:pt x="17" y="87"/>
                  </a:lnTo>
                  <a:lnTo>
                    <a:pt x="15" y="102"/>
                  </a:lnTo>
                  <a:lnTo>
                    <a:pt x="28" y="114"/>
                  </a:lnTo>
                  <a:lnTo>
                    <a:pt x="46" y="133"/>
                  </a:lnTo>
                  <a:lnTo>
                    <a:pt x="65" y="146"/>
                  </a:lnTo>
                  <a:lnTo>
                    <a:pt x="76" y="165"/>
                  </a:lnTo>
                  <a:lnTo>
                    <a:pt x="101" y="169"/>
                  </a:lnTo>
                  <a:lnTo>
                    <a:pt x="101" y="192"/>
                  </a:lnTo>
                  <a:lnTo>
                    <a:pt x="117" y="217"/>
                  </a:lnTo>
                  <a:lnTo>
                    <a:pt x="122" y="233"/>
                  </a:lnTo>
                  <a:lnTo>
                    <a:pt x="101" y="254"/>
                  </a:lnTo>
                  <a:lnTo>
                    <a:pt x="99" y="269"/>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8" name="Freeform 23">
              <a:extLst>
                <a:ext uri="{FF2B5EF4-FFF2-40B4-BE49-F238E27FC236}">
                  <a16:creationId xmlns:a16="http://schemas.microsoft.com/office/drawing/2014/main" id="{CF242546-6A9F-D7F3-7C9B-A0BB0BD74AB5}"/>
                </a:ext>
              </a:extLst>
            </p:cNvPr>
            <p:cNvSpPr>
              <a:spLocks noChangeAspect="1"/>
            </p:cNvSpPr>
            <p:nvPr/>
          </p:nvSpPr>
          <p:spPr bwMode="auto">
            <a:xfrm>
              <a:off x="5713684" y="3211698"/>
              <a:ext cx="694998" cy="593513"/>
            </a:xfrm>
            <a:custGeom>
              <a:avLst/>
              <a:gdLst/>
              <a:ahLst/>
              <a:cxnLst>
                <a:cxn ang="0">
                  <a:pos x="284" y="547"/>
                </a:cxn>
                <a:cxn ang="0">
                  <a:pos x="225" y="516"/>
                </a:cxn>
                <a:cxn ang="0">
                  <a:pos x="200" y="468"/>
                </a:cxn>
                <a:cxn ang="0">
                  <a:pos x="167" y="365"/>
                </a:cxn>
                <a:cxn ang="0">
                  <a:pos x="163" y="313"/>
                </a:cxn>
                <a:cxn ang="0">
                  <a:pos x="173" y="234"/>
                </a:cxn>
                <a:cxn ang="0">
                  <a:pos x="152" y="223"/>
                </a:cxn>
                <a:cxn ang="0">
                  <a:pos x="125" y="223"/>
                </a:cxn>
                <a:cxn ang="0">
                  <a:pos x="79" y="236"/>
                </a:cxn>
                <a:cxn ang="0">
                  <a:pos x="35" y="246"/>
                </a:cxn>
                <a:cxn ang="0">
                  <a:pos x="6" y="249"/>
                </a:cxn>
                <a:cxn ang="0">
                  <a:pos x="19" y="217"/>
                </a:cxn>
                <a:cxn ang="0">
                  <a:pos x="58" y="198"/>
                </a:cxn>
                <a:cxn ang="0">
                  <a:pos x="94" y="186"/>
                </a:cxn>
                <a:cxn ang="0">
                  <a:pos x="163" y="186"/>
                </a:cxn>
                <a:cxn ang="0">
                  <a:pos x="213" y="176"/>
                </a:cxn>
                <a:cxn ang="0">
                  <a:pos x="227" y="134"/>
                </a:cxn>
                <a:cxn ang="0">
                  <a:pos x="296" y="107"/>
                </a:cxn>
                <a:cxn ang="0">
                  <a:pos x="344" y="38"/>
                </a:cxn>
                <a:cxn ang="0">
                  <a:pos x="386" y="2"/>
                </a:cxn>
                <a:cxn ang="0">
                  <a:pos x="606" y="86"/>
                </a:cxn>
                <a:cxn ang="0">
                  <a:pos x="674" y="102"/>
                </a:cxn>
                <a:cxn ang="0">
                  <a:pos x="656" y="132"/>
                </a:cxn>
                <a:cxn ang="0">
                  <a:pos x="677" y="163"/>
                </a:cxn>
                <a:cxn ang="0">
                  <a:pos x="683" y="211"/>
                </a:cxn>
                <a:cxn ang="0">
                  <a:pos x="664" y="251"/>
                </a:cxn>
                <a:cxn ang="0">
                  <a:pos x="654" y="297"/>
                </a:cxn>
                <a:cxn ang="0">
                  <a:pos x="700" y="345"/>
                </a:cxn>
                <a:cxn ang="0">
                  <a:pos x="743" y="374"/>
                </a:cxn>
                <a:cxn ang="0">
                  <a:pos x="775" y="357"/>
                </a:cxn>
                <a:cxn ang="0">
                  <a:pos x="816" y="395"/>
                </a:cxn>
                <a:cxn ang="0">
                  <a:pos x="848" y="413"/>
                </a:cxn>
                <a:cxn ang="0">
                  <a:pos x="833" y="449"/>
                </a:cxn>
                <a:cxn ang="0">
                  <a:pos x="850" y="493"/>
                </a:cxn>
                <a:cxn ang="0">
                  <a:pos x="842" y="539"/>
                </a:cxn>
                <a:cxn ang="0">
                  <a:pos x="831" y="583"/>
                </a:cxn>
                <a:cxn ang="0">
                  <a:pos x="818" y="627"/>
                </a:cxn>
                <a:cxn ang="0">
                  <a:pos x="800" y="668"/>
                </a:cxn>
                <a:cxn ang="0">
                  <a:pos x="768" y="702"/>
                </a:cxn>
                <a:cxn ang="0">
                  <a:pos x="745" y="714"/>
                </a:cxn>
                <a:cxn ang="0">
                  <a:pos x="704" y="695"/>
                </a:cxn>
                <a:cxn ang="0">
                  <a:pos x="595" y="672"/>
                </a:cxn>
                <a:cxn ang="0">
                  <a:pos x="553" y="643"/>
                </a:cxn>
                <a:cxn ang="0">
                  <a:pos x="522" y="622"/>
                </a:cxn>
                <a:cxn ang="0">
                  <a:pos x="488" y="610"/>
                </a:cxn>
                <a:cxn ang="0">
                  <a:pos x="451" y="581"/>
                </a:cxn>
                <a:cxn ang="0">
                  <a:pos x="420" y="589"/>
                </a:cxn>
                <a:cxn ang="0">
                  <a:pos x="392" y="562"/>
                </a:cxn>
                <a:cxn ang="0">
                  <a:pos x="353" y="568"/>
                </a:cxn>
              </a:cxnLst>
              <a:rect l="0" t="0" r="r" b="b"/>
              <a:pathLst>
                <a:path w="850" h="727">
                  <a:moveTo>
                    <a:pt x="309" y="576"/>
                  </a:moveTo>
                  <a:lnTo>
                    <a:pt x="294" y="564"/>
                  </a:lnTo>
                  <a:lnTo>
                    <a:pt x="284" y="547"/>
                  </a:lnTo>
                  <a:lnTo>
                    <a:pt x="269" y="539"/>
                  </a:lnTo>
                  <a:lnTo>
                    <a:pt x="257" y="524"/>
                  </a:lnTo>
                  <a:lnTo>
                    <a:pt x="225" y="516"/>
                  </a:lnTo>
                  <a:lnTo>
                    <a:pt x="219" y="501"/>
                  </a:lnTo>
                  <a:lnTo>
                    <a:pt x="198" y="480"/>
                  </a:lnTo>
                  <a:lnTo>
                    <a:pt x="200" y="468"/>
                  </a:lnTo>
                  <a:lnTo>
                    <a:pt x="179" y="449"/>
                  </a:lnTo>
                  <a:lnTo>
                    <a:pt x="179" y="378"/>
                  </a:lnTo>
                  <a:lnTo>
                    <a:pt x="167" y="365"/>
                  </a:lnTo>
                  <a:lnTo>
                    <a:pt x="165" y="336"/>
                  </a:lnTo>
                  <a:lnTo>
                    <a:pt x="154" y="326"/>
                  </a:lnTo>
                  <a:lnTo>
                    <a:pt x="163" y="313"/>
                  </a:lnTo>
                  <a:lnTo>
                    <a:pt x="175" y="297"/>
                  </a:lnTo>
                  <a:lnTo>
                    <a:pt x="171" y="251"/>
                  </a:lnTo>
                  <a:lnTo>
                    <a:pt x="173" y="234"/>
                  </a:lnTo>
                  <a:lnTo>
                    <a:pt x="177" y="223"/>
                  </a:lnTo>
                  <a:lnTo>
                    <a:pt x="163" y="213"/>
                  </a:lnTo>
                  <a:lnTo>
                    <a:pt x="152" y="223"/>
                  </a:lnTo>
                  <a:lnTo>
                    <a:pt x="150" y="236"/>
                  </a:lnTo>
                  <a:lnTo>
                    <a:pt x="136" y="236"/>
                  </a:lnTo>
                  <a:lnTo>
                    <a:pt x="125" y="223"/>
                  </a:lnTo>
                  <a:lnTo>
                    <a:pt x="113" y="230"/>
                  </a:lnTo>
                  <a:lnTo>
                    <a:pt x="94" y="230"/>
                  </a:lnTo>
                  <a:lnTo>
                    <a:pt x="79" y="236"/>
                  </a:lnTo>
                  <a:lnTo>
                    <a:pt x="60" y="236"/>
                  </a:lnTo>
                  <a:lnTo>
                    <a:pt x="50" y="246"/>
                  </a:lnTo>
                  <a:lnTo>
                    <a:pt x="35" y="246"/>
                  </a:lnTo>
                  <a:lnTo>
                    <a:pt x="25" y="257"/>
                  </a:lnTo>
                  <a:lnTo>
                    <a:pt x="10" y="257"/>
                  </a:lnTo>
                  <a:lnTo>
                    <a:pt x="6" y="249"/>
                  </a:lnTo>
                  <a:lnTo>
                    <a:pt x="0" y="242"/>
                  </a:lnTo>
                  <a:lnTo>
                    <a:pt x="6" y="228"/>
                  </a:lnTo>
                  <a:lnTo>
                    <a:pt x="19" y="217"/>
                  </a:lnTo>
                  <a:lnTo>
                    <a:pt x="35" y="217"/>
                  </a:lnTo>
                  <a:lnTo>
                    <a:pt x="37" y="198"/>
                  </a:lnTo>
                  <a:lnTo>
                    <a:pt x="58" y="198"/>
                  </a:lnTo>
                  <a:lnTo>
                    <a:pt x="75" y="194"/>
                  </a:lnTo>
                  <a:lnTo>
                    <a:pt x="81" y="182"/>
                  </a:lnTo>
                  <a:lnTo>
                    <a:pt x="94" y="186"/>
                  </a:lnTo>
                  <a:lnTo>
                    <a:pt x="111" y="192"/>
                  </a:lnTo>
                  <a:lnTo>
                    <a:pt x="142" y="188"/>
                  </a:lnTo>
                  <a:lnTo>
                    <a:pt x="163" y="186"/>
                  </a:lnTo>
                  <a:lnTo>
                    <a:pt x="190" y="182"/>
                  </a:lnTo>
                  <a:lnTo>
                    <a:pt x="205" y="194"/>
                  </a:lnTo>
                  <a:lnTo>
                    <a:pt x="213" y="176"/>
                  </a:lnTo>
                  <a:lnTo>
                    <a:pt x="205" y="163"/>
                  </a:lnTo>
                  <a:lnTo>
                    <a:pt x="225" y="157"/>
                  </a:lnTo>
                  <a:lnTo>
                    <a:pt x="227" y="134"/>
                  </a:lnTo>
                  <a:lnTo>
                    <a:pt x="261" y="127"/>
                  </a:lnTo>
                  <a:lnTo>
                    <a:pt x="278" y="113"/>
                  </a:lnTo>
                  <a:lnTo>
                    <a:pt x="296" y="107"/>
                  </a:lnTo>
                  <a:lnTo>
                    <a:pt x="315" y="98"/>
                  </a:lnTo>
                  <a:lnTo>
                    <a:pt x="334" y="75"/>
                  </a:lnTo>
                  <a:lnTo>
                    <a:pt x="344" y="38"/>
                  </a:lnTo>
                  <a:lnTo>
                    <a:pt x="359" y="17"/>
                  </a:lnTo>
                  <a:lnTo>
                    <a:pt x="376" y="17"/>
                  </a:lnTo>
                  <a:lnTo>
                    <a:pt x="386" y="2"/>
                  </a:lnTo>
                  <a:lnTo>
                    <a:pt x="476" y="0"/>
                  </a:lnTo>
                  <a:lnTo>
                    <a:pt x="537" y="65"/>
                  </a:lnTo>
                  <a:lnTo>
                    <a:pt x="606" y="86"/>
                  </a:lnTo>
                  <a:lnTo>
                    <a:pt x="658" y="88"/>
                  </a:lnTo>
                  <a:lnTo>
                    <a:pt x="676" y="96"/>
                  </a:lnTo>
                  <a:lnTo>
                    <a:pt x="674" y="102"/>
                  </a:lnTo>
                  <a:lnTo>
                    <a:pt x="674" y="113"/>
                  </a:lnTo>
                  <a:lnTo>
                    <a:pt x="664" y="121"/>
                  </a:lnTo>
                  <a:lnTo>
                    <a:pt x="656" y="132"/>
                  </a:lnTo>
                  <a:lnTo>
                    <a:pt x="660" y="142"/>
                  </a:lnTo>
                  <a:lnTo>
                    <a:pt x="668" y="152"/>
                  </a:lnTo>
                  <a:lnTo>
                    <a:pt x="677" y="163"/>
                  </a:lnTo>
                  <a:lnTo>
                    <a:pt x="677" y="180"/>
                  </a:lnTo>
                  <a:lnTo>
                    <a:pt x="683" y="190"/>
                  </a:lnTo>
                  <a:lnTo>
                    <a:pt x="683" y="211"/>
                  </a:lnTo>
                  <a:lnTo>
                    <a:pt x="677" y="224"/>
                  </a:lnTo>
                  <a:lnTo>
                    <a:pt x="668" y="238"/>
                  </a:lnTo>
                  <a:lnTo>
                    <a:pt x="664" y="251"/>
                  </a:lnTo>
                  <a:lnTo>
                    <a:pt x="656" y="265"/>
                  </a:lnTo>
                  <a:lnTo>
                    <a:pt x="654" y="278"/>
                  </a:lnTo>
                  <a:lnTo>
                    <a:pt x="654" y="297"/>
                  </a:lnTo>
                  <a:lnTo>
                    <a:pt x="662" y="313"/>
                  </a:lnTo>
                  <a:lnTo>
                    <a:pt x="681" y="328"/>
                  </a:lnTo>
                  <a:lnTo>
                    <a:pt x="700" y="345"/>
                  </a:lnTo>
                  <a:lnTo>
                    <a:pt x="714" y="359"/>
                  </a:lnTo>
                  <a:lnTo>
                    <a:pt x="729" y="370"/>
                  </a:lnTo>
                  <a:lnTo>
                    <a:pt x="743" y="374"/>
                  </a:lnTo>
                  <a:lnTo>
                    <a:pt x="752" y="366"/>
                  </a:lnTo>
                  <a:lnTo>
                    <a:pt x="762" y="357"/>
                  </a:lnTo>
                  <a:lnTo>
                    <a:pt x="775" y="357"/>
                  </a:lnTo>
                  <a:lnTo>
                    <a:pt x="789" y="370"/>
                  </a:lnTo>
                  <a:lnTo>
                    <a:pt x="804" y="384"/>
                  </a:lnTo>
                  <a:lnTo>
                    <a:pt x="816" y="395"/>
                  </a:lnTo>
                  <a:lnTo>
                    <a:pt x="831" y="399"/>
                  </a:lnTo>
                  <a:lnTo>
                    <a:pt x="844" y="401"/>
                  </a:lnTo>
                  <a:lnTo>
                    <a:pt x="848" y="413"/>
                  </a:lnTo>
                  <a:lnTo>
                    <a:pt x="848" y="428"/>
                  </a:lnTo>
                  <a:lnTo>
                    <a:pt x="839" y="437"/>
                  </a:lnTo>
                  <a:lnTo>
                    <a:pt x="833" y="449"/>
                  </a:lnTo>
                  <a:lnTo>
                    <a:pt x="841" y="464"/>
                  </a:lnTo>
                  <a:lnTo>
                    <a:pt x="848" y="478"/>
                  </a:lnTo>
                  <a:lnTo>
                    <a:pt x="850" y="493"/>
                  </a:lnTo>
                  <a:lnTo>
                    <a:pt x="848" y="510"/>
                  </a:lnTo>
                  <a:lnTo>
                    <a:pt x="842" y="522"/>
                  </a:lnTo>
                  <a:lnTo>
                    <a:pt x="842" y="539"/>
                  </a:lnTo>
                  <a:lnTo>
                    <a:pt x="841" y="555"/>
                  </a:lnTo>
                  <a:lnTo>
                    <a:pt x="839" y="570"/>
                  </a:lnTo>
                  <a:lnTo>
                    <a:pt x="831" y="583"/>
                  </a:lnTo>
                  <a:lnTo>
                    <a:pt x="827" y="601"/>
                  </a:lnTo>
                  <a:lnTo>
                    <a:pt x="825" y="618"/>
                  </a:lnTo>
                  <a:lnTo>
                    <a:pt x="818" y="627"/>
                  </a:lnTo>
                  <a:lnTo>
                    <a:pt x="818" y="645"/>
                  </a:lnTo>
                  <a:lnTo>
                    <a:pt x="812" y="658"/>
                  </a:lnTo>
                  <a:lnTo>
                    <a:pt x="800" y="668"/>
                  </a:lnTo>
                  <a:lnTo>
                    <a:pt x="791" y="685"/>
                  </a:lnTo>
                  <a:lnTo>
                    <a:pt x="779" y="691"/>
                  </a:lnTo>
                  <a:lnTo>
                    <a:pt x="768" y="702"/>
                  </a:lnTo>
                  <a:lnTo>
                    <a:pt x="758" y="716"/>
                  </a:lnTo>
                  <a:lnTo>
                    <a:pt x="754" y="727"/>
                  </a:lnTo>
                  <a:lnTo>
                    <a:pt x="745" y="714"/>
                  </a:lnTo>
                  <a:lnTo>
                    <a:pt x="733" y="708"/>
                  </a:lnTo>
                  <a:lnTo>
                    <a:pt x="714" y="704"/>
                  </a:lnTo>
                  <a:lnTo>
                    <a:pt x="704" y="695"/>
                  </a:lnTo>
                  <a:lnTo>
                    <a:pt x="614" y="695"/>
                  </a:lnTo>
                  <a:lnTo>
                    <a:pt x="606" y="685"/>
                  </a:lnTo>
                  <a:lnTo>
                    <a:pt x="595" y="672"/>
                  </a:lnTo>
                  <a:lnTo>
                    <a:pt x="589" y="662"/>
                  </a:lnTo>
                  <a:lnTo>
                    <a:pt x="583" y="647"/>
                  </a:lnTo>
                  <a:lnTo>
                    <a:pt x="553" y="643"/>
                  </a:lnTo>
                  <a:lnTo>
                    <a:pt x="545" y="631"/>
                  </a:lnTo>
                  <a:lnTo>
                    <a:pt x="535" y="626"/>
                  </a:lnTo>
                  <a:lnTo>
                    <a:pt x="522" y="622"/>
                  </a:lnTo>
                  <a:lnTo>
                    <a:pt x="509" y="620"/>
                  </a:lnTo>
                  <a:lnTo>
                    <a:pt x="493" y="620"/>
                  </a:lnTo>
                  <a:lnTo>
                    <a:pt x="488" y="610"/>
                  </a:lnTo>
                  <a:lnTo>
                    <a:pt x="472" y="604"/>
                  </a:lnTo>
                  <a:lnTo>
                    <a:pt x="461" y="593"/>
                  </a:lnTo>
                  <a:lnTo>
                    <a:pt x="451" y="581"/>
                  </a:lnTo>
                  <a:lnTo>
                    <a:pt x="440" y="578"/>
                  </a:lnTo>
                  <a:lnTo>
                    <a:pt x="428" y="583"/>
                  </a:lnTo>
                  <a:lnTo>
                    <a:pt x="420" y="589"/>
                  </a:lnTo>
                  <a:lnTo>
                    <a:pt x="409" y="583"/>
                  </a:lnTo>
                  <a:lnTo>
                    <a:pt x="409" y="570"/>
                  </a:lnTo>
                  <a:lnTo>
                    <a:pt x="392" y="562"/>
                  </a:lnTo>
                  <a:lnTo>
                    <a:pt x="380" y="556"/>
                  </a:lnTo>
                  <a:lnTo>
                    <a:pt x="365" y="562"/>
                  </a:lnTo>
                  <a:lnTo>
                    <a:pt x="353" y="568"/>
                  </a:lnTo>
                  <a:lnTo>
                    <a:pt x="351" y="578"/>
                  </a:lnTo>
                  <a:lnTo>
                    <a:pt x="309" y="576"/>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39" name="Freeform 24">
              <a:extLst>
                <a:ext uri="{FF2B5EF4-FFF2-40B4-BE49-F238E27FC236}">
                  <a16:creationId xmlns:a16="http://schemas.microsoft.com/office/drawing/2014/main" id="{471C4F62-AA60-3C21-5ED4-A53AC58D1312}"/>
                </a:ext>
              </a:extLst>
            </p:cNvPr>
            <p:cNvSpPr>
              <a:spLocks noChangeAspect="1"/>
            </p:cNvSpPr>
            <p:nvPr/>
          </p:nvSpPr>
          <p:spPr bwMode="auto">
            <a:xfrm>
              <a:off x="6248030" y="3131399"/>
              <a:ext cx="1151346" cy="1105564"/>
            </a:xfrm>
            <a:custGeom>
              <a:avLst/>
              <a:gdLst/>
              <a:ahLst/>
              <a:cxnLst>
                <a:cxn ang="0">
                  <a:pos x="156" y="1042"/>
                </a:cxn>
                <a:cxn ang="0">
                  <a:pos x="140" y="921"/>
                </a:cxn>
                <a:cxn ang="0">
                  <a:pos x="127" y="844"/>
                </a:cxn>
                <a:cxn ang="0">
                  <a:pos x="114" y="800"/>
                </a:cxn>
                <a:cxn ang="0">
                  <a:pos x="158" y="756"/>
                </a:cxn>
                <a:cxn ang="0">
                  <a:pos x="173" y="699"/>
                </a:cxn>
                <a:cxn ang="0">
                  <a:pos x="188" y="637"/>
                </a:cxn>
                <a:cxn ang="0">
                  <a:pos x="194" y="576"/>
                </a:cxn>
                <a:cxn ang="0">
                  <a:pos x="194" y="526"/>
                </a:cxn>
                <a:cxn ang="0">
                  <a:pos x="162" y="493"/>
                </a:cxn>
                <a:cxn ang="0">
                  <a:pos x="108" y="455"/>
                </a:cxn>
                <a:cxn ang="0">
                  <a:pos x="60" y="457"/>
                </a:cxn>
                <a:cxn ang="0">
                  <a:pos x="0" y="395"/>
                </a:cxn>
                <a:cxn ang="0">
                  <a:pos x="14" y="336"/>
                </a:cxn>
                <a:cxn ang="0">
                  <a:pos x="23" y="278"/>
                </a:cxn>
                <a:cxn ang="0">
                  <a:pos x="2" y="230"/>
                </a:cxn>
                <a:cxn ang="0">
                  <a:pos x="22" y="194"/>
                </a:cxn>
                <a:cxn ang="0">
                  <a:pos x="386" y="154"/>
                </a:cxn>
                <a:cxn ang="0">
                  <a:pos x="411" y="40"/>
                </a:cxn>
                <a:cxn ang="0">
                  <a:pos x="421" y="25"/>
                </a:cxn>
                <a:cxn ang="0">
                  <a:pos x="463" y="92"/>
                </a:cxn>
                <a:cxn ang="0">
                  <a:pos x="480" y="175"/>
                </a:cxn>
                <a:cxn ang="0">
                  <a:pos x="534" y="213"/>
                </a:cxn>
                <a:cxn ang="0">
                  <a:pos x="639" y="265"/>
                </a:cxn>
                <a:cxn ang="0">
                  <a:pos x="1397" y="393"/>
                </a:cxn>
                <a:cxn ang="0">
                  <a:pos x="1368" y="461"/>
                </a:cxn>
                <a:cxn ang="0">
                  <a:pos x="1368" y="526"/>
                </a:cxn>
                <a:cxn ang="0">
                  <a:pos x="1359" y="591"/>
                </a:cxn>
                <a:cxn ang="0">
                  <a:pos x="1343" y="677"/>
                </a:cxn>
                <a:cxn ang="0">
                  <a:pos x="1332" y="798"/>
                </a:cxn>
                <a:cxn ang="0">
                  <a:pos x="1297" y="906"/>
                </a:cxn>
                <a:cxn ang="0">
                  <a:pos x="1282" y="969"/>
                </a:cxn>
                <a:cxn ang="0">
                  <a:pos x="1217" y="1010"/>
                </a:cxn>
                <a:cxn ang="0">
                  <a:pos x="1167" y="1096"/>
                </a:cxn>
                <a:cxn ang="0">
                  <a:pos x="1096" y="1144"/>
                </a:cxn>
                <a:cxn ang="0">
                  <a:pos x="1067" y="1207"/>
                </a:cxn>
                <a:cxn ang="0">
                  <a:pos x="1015" y="1257"/>
                </a:cxn>
                <a:cxn ang="0">
                  <a:pos x="1010" y="1338"/>
                </a:cxn>
                <a:cxn ang="0">
                  <a:pos x="977" y="1284"/>
                </a:cxn>
                <a:cxn ang="0">
                  <a:pos x="921" y="1297"/>
                </a:cxn>
                <a:cxn ang="0">
                  <a:pos x="710" y="1282"/>
                </a:cxn>
                <a:cxn ang="0">
                  <a:pos x="649" y="1247"/>
                </a:cxn>
                <a:cxn ang="0">
                  <a:pos x="563" y="1271"/>
                </a:cxn>
                <a:cxn ang="0">
                  <a:pos x="524" y="1322"/>
                </a:cxn>
                <a:cxn ang="0">
                  <a:pos x="463" y="1301"/>
                </a:cxn>
                <a:cxn ang="0">
                  <a:pos x="398" y="1272"/>
                </a:cxn>
                <a:cxn ang="0">
                  <a:pos x="369" y="1188"/>
                </a:cxn>
                <a:cxn ang="0">
                  <a:pos x="353" y="1144"/>
                </a:cxn>
                <a:cxn ang="0">
                  <a:pos x="162" y="1138"/>
                </a:cxn>
              </a:cxnLst>
              <a:rect l="0" t="0" r="r" b="b"/>
              <a:pathLst>
                <a:path w="1409" h="1353">
                  <a:moveTo>
                    <a:pt x="162" y="1138"/>
                  </a:moveTo>
                  <a:lnTo>
                    <a:pt x="162" y="1105"/>
                  </a:lnTo>
                  <a:lnTo>
                    <a:pt x="152" y="1079"/>
                  </a:lnTo>
                  <a:lnTo>
                    <a:pt x="156" y="1042"/>
                  </a:lnTo>
                  <a:lnTo>
                    <a:pt x="119" y="988"/>
                  </a:lnTo>
                  <a:lnTo>
                    <a:pt x="129" y="965"/>
                  </a:lnTo>
                  <a:lnTo>
                    <a:pt x="137" y="940"/>
                  </a:lnTo>
                  <a:lnTo>
                    <a:pt x="140" y="921"/>
                  </a:lnTo>
                  <a:lnTo>
                    <a:pt x="117" y="891"/>
                  </a:lnTo>
                  <a:lnTo>
                    <a:pt x="108" y="871"/>
                  </a:lnTo>
                  <a:lnTo>
                    <a:pt x="119" y="856"/>
                  </a:lnTo>
                  <a:lnTo>
                    <a:pt x="127" y="844"/>
                  </a:lnTo>
                  <a:lnTo>
                    <a:pt x="106" y="835"/>
                  </a:lnTo>
                  <a:lnTo>
                    <a:pt x="100" y="821"/>
                  </a:lnTo>
                  <a:lnTo>
                    <a:pt x="104" y="814"/>
                  </a:lnTo>
                  <a:lnTo>
                    <a:pt x="114" y="800"/>
                  </a:lnTo>
                  <a:lnTo>
                    <a:pt x="125" y="789"/>
                  </a:lnTo>
                  <a:lnTo>
                    <a:pt x="137" y="783"/>
                  </a:lnTo>
                  <a:lnTo>
                    <a:pt x="146" y="766"/>
                  </a:lnTo>
                  <a:lnTo>
                    <a:pt x="158" y="756"/>
                  </a:lnTo>
                  <a:lnTo>
                    <a:pt x="164" y="743"/>
                  </a:lnTo>
                  <a:lnTo>
                    <a:pt x="164" y="725"/>
                  </a:lnTo>
                  <a:lnTo>
                    <a:pt x="171" y="716"/>
                  </a:lnTo>
                  <a:lnTo>
                    <a:pt x="173" y="699"/>
                  </a:lnTo>
                  <a:lnTo>
                    <a:pt x="177" y="681"/>
                  </a:lnTo>
                  <a:lnTo>
                    <a:pt x="185" y="668"/>
                  </a:lnTo>
                  <a:lnTo>
                    <a:pt x="187" y="653"/>
                  </a:lnTo>
                  <a:lnTo>
                    <a:pt x="188" y="637"/>
                  </a:lnTo>
                  <a:lnTo>
                    <a:pt x="188" y="620"/>
                  </a:lnTo>
                  <a:lnTo>
                    <a:pt x="194" y="608"/>
                  </a:lnTo>
                  <a:lnTo>
                    <a:pt x="196" y="591"/>
                  </a:lnTo>
                  <a:lnTo>
                    <a:pt x="194" y="576"/>
                  </a:lnTo>
                  <a:lnTo>
                    <a:pt x="187" y="562"/>
                  </a:lnTo>
                  <a:lnTo>
                    <a:pt x="179" y="547"/>
                  </a:lnTo>
                  <a:lnTo>
                    <a:pt x="185" y="535"/>
                  </a:lnTo>
                  <a:lnTo>
                    <a:pt x="194" y="526"/>
                  </a:lnTo>
                  <a:lnTo>
                    <a:pt x="194" y="511"/>
                  </a:lnTo>
                  <a:lnTo>
                    <a:pt x="190" y="499"/>
                  </a:lnTo>
                  <a:lnTo>
                    <a:pt x="177" y="497"/>
                  </a:lnTo>
                  <a:lnTo>
                    <a:pt x="162" y="493"/>
                  </a:lnTo>
                  <a:lnTo>
                    <a:pt x="150" y="482"/>
                  </a:lnTo>
                  <a:lnTo>
                    <a:pt x="135" y="468"/>
                  </a:lnTo>
                  <a:lnTo>
                    <a:pt x="121" y="455"/>
                  </a:lnTo>
                  <a:lnTo>
                    <a:pt x="108" y="455"/>
                  </a:lnTo>
                  <a:lnTo>
                    <a:pt x="98" y="464"/>
                  </a:lnTo>
                  <a:lnTo>
                    <a:pt x="89" y="472"/>
                  </a:lnTo>
                  <a:lnTo>
                    <a:pt x="75" y="468"/>
                  </a:lnTo>
                  <a:lnTo>
                    <a:pt x="60" y="457"/>
                  </a:lnTo>
                  <a:lnTo>
                    <a:pt x="46" y="443"/>
                  </a:lnTo>
                  <a:lnTo>
                    <a:pt x="27" y="426"/>
                  </a:lnTo>
                  <a:lnTo>
                    <a:pt x="8" y="411"/>
                  </a:lnTo>
                  <a:lnTo>
                    <a:pt x="0" y="395"/>
                  </a:lnTo>
                  <a:lnTo>
                    <a:pt x="0" y="376"/>
                  </a:lnTo>
                  <a:lnTo>
                    <a:pt x="2" y="363"/>
                  </a:lnTo>
                  <a:lnTo>
                    <a:pt x="10" y="349"/>
                  </a:lnTo>
                  <a:lnTo>
                    <a:pt x="14" y="336"/>
                  </a:lnTo>
                  <a:lnTo>
                    <a:pt x="23" y="322"/>
                  </a:lnTo>
                  <a:lnTo>
                    <a:pt x="29" y="309"/>
                  </a:lnTo>
                  <a:lnTo>
                    <a:pt x="29" y="288"/>
                  </a:lnTo>
                  <a:lnTo>
                    <a:pt x="23" y="278"/>
                  </a:lnTo>
                  <a:lnTo>
                    <a:pt x="23" y="261"/>
                  </a:lnTo>
                  <a:lnTo>
                    <a:pt x="14" y="250"/>
                  </a:lnTo>
                  <a:lnTo>
                    <a:pt x="6" y="240"/>
                  </a:lnTo>
                  <a:lnTo>
                    <a:pt x="2" y="230"/>
                  </a:lnTo>
                  <a:lnTo>
                    <a:pt x="10" y="219"/>
                  </a:lnTo>
                  <a:lnTo>
                    <a:pt x="20" y="211"/>
                  </a:lnTo>
                  <a:lnTo>
                    <a:pt x="20" y="200"/>
                  </a:lnTo>
                  <a:lnTo>
                    <a:pt x="22" y="194"/>
                  </a:lnTo>
                  <a:lnTo>
                    <a:pt x="25" y="196"/>
                  </a:lnTo>
                  <a:lnTo>
                    <a:pt x="367" y="190"/>
                  </a:lnTo>
                  <a:lnTo>
                    <a:pt x="371" y="159"/>
                  </a:lnTo>
                  <a:lnTo>
                    <a:pt x="386" y="154"/>
                  </a:lnTo>
                  <a:lnTo>
                    <a:pt x="384" y="123"/>
                  </a:lnTo>
                  <a:lnTo>
                    <a:pt x="392" y="90"/>
                  </a:lnTo>
                  <a:lnTo>
                    <a:pt x="399" y="69"/>
                  </a:lnTo>
                  <a:lnTo>
                    <a:pt x="411" y="40"/>
                  </a:lnTo>
                  <a:lnTo>
                    <a:pt x="417" y="6"/>
                  </a:lnTo>
                  <a:lnTo>
                    <a:pt x="417" y="6"/>
                  </a:lnTo>
                  <a:lnTo>
                    <a:pt x="415" y="0"/>
                  </a:lnTo>
                  <a:lnTo>
                    <a:pt x="421" y="25"/>
                  </a:lnTo>
                  <a:lnTo>
                    <a:pt x="436" y="25"/>
                  </a:lnTo>
                  <a:lnTo>
                    <a:pt x="438" y="44"/>
                  </a:lnTo>
                  <a:lnTo>
                    <a:pt x="451" y="73"/>
                  </a:lnTo>
                  <a:lnTo>
                    <a:pt x="463" y="92"/>
                  </a:lnTo>
                  <a:lnTo>
                    <a:pt x="470" y="115"/>
                  </a:lnTo>
                  <a:lnTo>
                    <a:pt x="470" y="134"/>
                  </a:lnTo>
                  <a:lnTo>
                    <a:pt x="480" y="154"/>
                  </a:lnTo>
                  <a:lnTo>
                    <a:pt x="480" y="175"/>
                  </a:lnTo>
                  <a:lnTo>
                    <a:pt x="501" y="190"/>
                  </a:lnTo>
                  <a:lnTo>
                    <a:pt x="513" y="196"/>
                  </a:lnTo>
                  <a:lnTo>
                    <a:pt x="520" y="213"/>
                  </a:lnTo>
                  <a:lnTo>
                    <a:pt x="534" y="213"/>
                  </a:lnTo>
                  <a:lnTo>
                    <a:pt x="543" y="232"/>
                  </a:lnTo>
                  <a:lnTo>
                    <a:pt x="563" y="250"/>
                  </a:lnTo>
                  <a:lnTo>
                    <a:pt x="593" y="261"/>
                  </a:lnTo>
                  <a:lnTo>
                    <a:pt x="639" y="265"/>
                  </a:lnTo>
                  <a:lnTo>
                    <a:pt x="1405" y="342"/>
                  </a:lnTo>
                  <a:lnTo>
                    <a:pt x="1409" y="349"/>
                  </a:lnTo>
                  <a:lnTo>
                    <a:pt x="1397" y="372"/>
                  </a:lnTo>
                  <a:lnTo>
                    <a:pt x="1397" y="393"/>
                  </a:lnTo>
                  <a:lnTo>
                    <a:pt x="1393" y="411"/>
                  </a:lnTo>
                  <a:lnTo>
                    <a:pt x="1380" y="426"/>
                  </a:lnTo>
                  <a:lnTo>
                    <a:pt x="1380" y="445"/>
                  </a:lnTo>
                  <a:lnTo>
                    <a:pt x="1368" y="461"/>
                  </a:lnTo>
                  <a:lnTo>
                    <a:pt x="1361" y="472"/>
                  </a:lnTo>
                  <a:lnTo>
                    <a:pt x="1366" y="489"/>
                  </a:lnTo>
                  <a:lnTo>
                    <a:pt x="1368" y="507"/>
                  </a:lnTo>
                  <a:lnTo>
                    <a:pt x="1368" y="526"/>
                  </a:lnTo>
                  <a:lnTo>
                    <a:pt x="1355" y="543"/>
                  </a:lnTo>
                  <a:lnTo>
                    <a:pt x="1336" y="562"/>
                  </a:lnTo>
                  <a:lnTo>
                    <a:pt x="1353" y="580"/>
                  </a:lnTo>
                  <a:lnTo>
                    <a:pt x="1359" y="591"/>
                  </a:lnTo>
                  <a:lnTo>
                    <a:pt x="1353" y="612"/>
                  </a:lnTo>
                  <a:lnTo>
                    <a:pt x="1353" y="635"/>
                  </a:lnTo>
                  <a:lnTo>
                    <a:pt x="1343" y="656"/>
                  </a:lnTo>
                  <a:lnTo>
                    <a:pt x="1343" y="677"/>
                  </a:lnTo>
                  <a:lnTo>
                    <a:pt x="1351" y="697"/>
                  </a:lnTo>
                  <a:lnTo>
                    <a:pt x="1353" y="716"/>
                  </a:lnTo>
                  <a:lnTo>
                    <a:pt x="1342" y="768"/>
                  </a:lnTo>
                  <a:lnTo>
                    <a:pt x="1332" y="798"/>
                  </a:lnTo>
                  <a:lnTo>
                    <a:pt x="1320" y="833"/>
                  </a:lnTo>
                  <a:lnTo>
                    <a:pt x="1303" y="858"/>
                  </a:lnTo>
                  <a:lnTo>
                    <a:pt x="1303" y="887"/>
                  </a:lnTo>
                  <a:lnTo>
                    <a:pt x="1297" y="906"/>
                  </a:lnTo>
                  <a:lnTo>
                    <a:pt x="1297" y="931"/>
                  </a:lnTo>
                  <a:lnTo>
                    <a:pt x="1299" y="952"/>
                  </a:lnTo>
                  <a:lnTo>
                    <a:pt x="1299" y="967"/>
                  </a:lnTo>
                  <a:lnTo>
                    <a:pt x="1282" y="969"/>
                  </a:lnTo>
                  <a:lnTo>
                    <a:pt x="1269" y="979"/>
                  </a:lnTo>
                  <a:lnTo>
                    <a:pt x="1269" y="996"/>
                  </a:lnTo>
                  <a:lnTo>
                    <a:pt x="1242" y="996"/>
                  </a:lnTo>
                  <a:lnTo>
                    <a:pt x="1217" y="1010"/>
                  </a:lnTo>
                  <a:lnTo>
                    <a:pt x="1203" y="1031"/>
                  </a:lnTo>
                  <a:lnTo>
                    <a:pt x="1198" y="1059"/>
                  </a:lnTo>
                  <a:lnTo>
                    <a:pt x="1186" y="1081"/>
                  </a:lnTo>
                  <a:lnTo>
                    <a:pt x="1167" y="1096"/>
                  </a:lnTo>
                  <a:lnTo>
                    <a:pt x="1152" y="1100"/>
                  </a:lnTo>
                  <a:lnTo>
                    <a:pt x="1130" y="1105"/>
                  </a:lnTo>
                  <a:lnTo>
                    <a:pt x="1115" y="1121"/>
                  </a:lnTo>
                  <a:lnTo>
                    <a:pt x="1096" y="1144"/>
                  </a:lnTo>
                  <a:lnTo>
                    <a:pt x="1094" y="1167"/>
                  </a:lnTo>
                  <a:lnTo>
                    <a:pt x="1094" y="1186"/>
                  </a:lnTo>
                  <a:lnTo>
                    <a:pt x="1077" y="1188"/>
                  </a:lnTo>
                  <a:lnTo>
                    <a:pt x="1067" y="1207"/>
                  </a:lnTo>
                  <a:lnTo>
                    <a:pt x="1048" y="1224"/>
                  </a:lnTo>
                  <a:lnTo>
                    <a:pt x="1042" y="1244"/>
                  </a:lnTo>
                  <a:lnTo>
                    <a:pt x="1027" y="1244"/>
                  </a:lnTo>
                  <a:lnTo>
                    <a:pt x="1015" y="1257"/>
                  </a:lnTo>
                  <a:lnTo>
                    <a:pt x="1010" y="1278"/>
                  </a:lnTo>
                  <a:lnTo>
                    <a:pt x="1004" y="1294"/>
                  </a:lnTo>
                  <a:lnTo>
                    <a:pt x="1004" y="1313"/>
                  </a:lnTo>
                  <a:lnTo>
                    <a:pt x="1010" y="1338"/>
                  </a:lnTo>
                  <a:lnTo>
                    <a:pt x="1008" y="1353"/>
                  </a:lnTo>
                  <a:lnTo>
                    <a:pt x="992" y="1342"/>
                  </a:lnTo>
                  <a:lnTo>
                    <a:pt x="981" y="1336"/>
                  </a:lnTo>
                  <a:lnTo>
                    <a:pt x="977" y="1284"/>
                  </a:lnTo>
                  <a:lnTo>
                    <a:pt x="967" y="1272"/>
                  </a:lnTo>
                  <a:lnTo>
                    <a:pt x="950" y="1269"/>
                  </a:lnTo>
                  <a:lnTo>
                    <a:pt x="939" y="1280"/>
                  </a:lnTo>
                  <a:lnTo>
                    <a:pt x="921" y="1297"/>
                  </a:lnTo>
                  <a:lnTo>
                    <a:pt x="797" y="1299"/>
                  </a:lnTo>
                  <a:lnTo>
                    <a:pt x="783" y="1305"/>
                  </a:lnTo>
                  <a:lnTo>
                    <a:pt x="733" y="1303"/>
                  </a:lnTo>
                  <a:lnTo>
                    <a:pt x="710" y="1282"/>
                  </a:lnTo>
                  <a:lnTo>
                    <a:pt x="699" y="1271"/>
                  </a:lnTo>
                  <a:lnTo>
                    <a:pt x="683" y="1272"/>
                  </a:lnTo>
                  <a:lnTo>
                    <a:pt x="670" y="1259"/>
                  </a:lnTo>
                  <a:lnTo>
                    <a:pt x="649" y="1247"/>
                  </a:lnTo>
                  <a:lnTo>
                    <a:pt x="624" y="1249"/>
                  </a:lnTo>
                  <a:lnTo>
                    <a:pt x="611" y="1261"/>
                  </a:lnTo>
                  <a:lnTo>
                    <a:pt x="595" y="1272"/>
                  </a:lnTo>
                  <a:lnTo>
                    <a:pt x="563" y="1271"/>
                  </a:lnTo>
                  <a:lnTo>
                    <a:pt x="561" y="1297"/>
                  </a:lnTo>
                  <a:lnTo>
                    <a:pt x="540" y="1297"/>
                  </a:lnTo>
                  <a:lnTo>
                    <a:pt x="538" y="1313"/>
                  </a:lnTo>
                  <a:lnTo>
                    <a:pt x="524" y="1322"/>
                  </a:lnTo>
                  <a:lnTo>
                    <a:pt x="501" y="1322"/>
                  </a:lnTo>
                  <a:lnTo>
                    <a:pt x="472" y="1322"/>
                  </a:lnTo>
                  <a:lnTo>
                    <a:pt x="463" y="1320"/>
                  </a:lnTo>
                  <a:lnTo>
                    <a:pt x="463" y="1301"/>
                  </a:lnTo>
                  <a:lnTo>
                    <a:pt x="442" y="1290"/>
                  </a:lnTo>
                  <a:lnTo>
                    <a:pt x="423" y="1290"/>
                  </a:lnTo>
                  <a:lnTo>
                    <a:pt x="413" y="1272"/>
                  </a:lnTo>
                  <a:lnTo>
                    <a:pt x="398" y="1272"/>
                  </a:lnTo>
                  <a:lnTo>
                    <a:pt x="392" y="1247"/>
                  </a:lnTo>
                  <a:lnTo>
                    <a:pt x="376" y="1221"/>
                  </a:lnTo>
                  <a:lnTo>
                    <a:pt x="380" y="1200"/>
                  </a:lnTo>
                  <a:lnTo>
                    <a:pt x="369" y="1188"/>
                  </a:lnTo>
                  <a:lnTo>
                    <a:pt x="382" y="1173"/>
                  </a:lnTo>
                  <a:lnTo>
                    <a:pt x="396" y="1150"/>
                  </a:lnTo>
                  <a:lnTo>
                    <a:pt x="376" y="1138"/>
                  </a:lnTo>
                  <a:lnTo>
                    <a:pt x="353" y="1144"/>
                  </a:lnTo>
                  <a:lnTo>
                    <a:pt x="330" y="1144"/>
                  </a:lnTo>
                  <a:lnTo>
                    <a:pt x="309" y="1132"/>
                  </a:lnTo>
                  <a:lnTo>
                    <a:pt x="290" y="1138"/>
                  </a:lnTo>
                  <a:lnTo>
                    <a:pt x="162" y="1138"/>
                  </a:lnTo>
                  <a:close/>
                </a:path>
              </a:pathLst>
            </a:custGeom>
            <a:solidFill>
              <a:srgbClr val="FFCCCD"/>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0" name="Freeform 25">
              <a:extLst>
                <a:ext uri="{FF2B5EF4-FFF2-40B4-BE49-F238E27FC236}">
                  <a16:creationId xmlns:a16="http://schemas.microsoft.com/office/drawing/2014/main" id="{DEE3E7E9-8F8D-FF3A-8EAA-B6A1D9048861}"/>
                </a:ext>
              </a:extLst>
            </p:cNvPr>
            <p:cNvSpPr>
              <a:spLocks noChangeAspect="1"/>
            </p:cNvSpPr>
            <p:nvPr/>
          </p:nvSpPr>
          <p:spPr bwMode="auto">
            <a:xfrm>
              <a:off x="6573993" y="4149682"/>
              <a:ext cx="707805" cy="725016"/>
            </a:xfrm>
            <a:custGeom>
              <a:avLst/>
              <a:gdLst/>
              <a:ahLst/>
              <a:cxnLst>
                <a:cxn ang="0">
                  <a:pos x="25" y="603"/>
                </a:cxn>
                <a:cxn ang="0">
                  <a:pos x="27" y="524"/>
                </a:cxn>
                <a:cxn ang="0">
                  <a:pos x="39" y="467"/>
                </a:cxn>
                <a:cxn ang="0">
                  <a:pos x="0" y="388"/>
                </a:cxn>
                <a:cxn ang="0">
                  <a:pos x="10" y="348"/>
                </a:cxn>
                <a:cxn ang="0">
                  <a:pos x="24" y="260"/>
                </a:cxn>
                <a:cxn ang="0">
                  <a:pos x="60" y="175"/>
                </a:cxn>
                <a:cxn ang="0">
                  <a:pos x="75" y="116"/>
                </a:cxn>
                <a:cxn ang="0">
                  <a:pos x="68" y="73"/>
                </a:cxn>
                <a:cxn ang="0">
                  <a:pos x="125" y="75"/>
                </a:cxn>
                <a:cxn ang="0">
                  <a:pos x="162" y="50"/>
                </a:cxn>
                <a:cxn ang="0">
                  <a:pos x="212" y="14"/>
                </a:cxn>
                <a:cxn ang="0">
                  <a:pos x="271" y="12"/>
                </a:cxn>
                <a:cxn ang="0">
                  <a:pos x="311" y="35"/>
                </a:cxn>
                <a:cxn ang="0">
                  <a:pos x="398" y="52"/>
                </a:cxn>
                <a:cxn ang="0">
                  <a:pos x="551" y="22"/>
                </a:cxn>
                <a:cxn ang="0">
                  <a:pos x="582" y="89"/>
                </a:cxn>
                <a:cxn ang="0">
                  <a:pos x="611" y="110"/>
                </a:cxn>
                <a:cxn ang="0">
                  <a:pos x="641" y="144"/>
                </a:cxn>
                <a:cxn ang="0">
                  <a:pos x="643" y="179"/>
                </a:cxn>
                <a:cxn ang="0">
                  <a:pos x="680" y="206"/>
                </a:cxn>
                <a:cxn ang="0">
                  <a:pos x="749" y="248"/>
                </a:cxn>
                <a:cxn ang="0">
                  <a:pos x="833" y="300"/>
                </a:cxn>
                <a:cxn ang="0">
                  <a:pos x="858" y="338"/>
                </a:cxn>
                <a:cxn ang="0">
                  <a:pos x="858" y="379"/>
                </a:cxn>
                <a:cxn ang="0">
                  <a:pos x="831" y="409"/>
                </a:cxn>
                <a:cxn ang="0">
                  <a:pos x="808" y="440"/>
                </a:cxn>
                <a:cxn ang="0">
                  <a:pos x="793" y="471"/>
                </a:cxn>
                <a:cxn ang="0">
                  <a:pos x="762" y="507"/>
                </a:cxn>
                <a:cxn ang="0">
                  <a:pos x="747" y="540"/>
                </a:cxn>
                <a:cxn ang="0">
                  <a:pos x="708" y="590"/>
                </a:cxn>
                <a:cxn ang="0">
                  <a:pos x="666" y="640"/>
                </a:cxn>
                <a:cxn ang="0">
                  <a:pos x="613" y="680"/>
                </a:cxn>
                <a:cxn ang="0">
                  <a:pos x="591" y="695"/>
                </a:cxn>
                <a:cxn ang="0">
                  <a:pos x="542" y="720"/>
                </a:cxn>
                <a:cxn ang="0">
                  <a:pos x="513" y="780"/>
                </a:cxn>
                <a:cxn ang="0">
                  <a:pos x="484" y="833"/>
                </a:cxn>
                <a:cxn ang="0">
                  <a:pos x="457" y="887"/>
                </a:cxn>
                <a:cxn ang="0">
                  <a:pos x="421" y="853"/>
                </a:cxn>
                <a:cxn ang="0">
                  <a:pos x="361" y="858"/>
                </a:cxn>
                <a:cxn ang="0">
                  <a:pos x="309" y="822"/>
                </a:cxn>
                <a:cxn ang="0">
                  <a:pos x="294" y="749"/>
                </a:cxn>
                <a:cxn ang="0">
                  <a:pos x="286" y="695"/>
                </a:cxn>
                <a:cxn ang="0">
                  <a:pos x="279" y="649"/>
                </a:cxn>
                <a:cxn ang="0">
                  <a:pos x="229" y="636"/>
                </a:cxn>
                <a:cxn ang="0">
                  <a:pos x="169" y="638"/>
                </a:cxn>
                <a:cxn ang="0">
                  <a:pos x="110" y="634"/>
                </a:cxn>
                <a:cxn ang="0">
                  <a:pos x="70" y="626"/>
                </a:cxn>
                <a:cxn ang="0">
                  <a:pos x="35" y="634"/>
                </a:cxn>
              </a:cxnLst>
              <a:rect l="0" t="0" r="r" b="b"/>
              <a:pathLst>
                <a:path w="866" h="887">
                  <a:moveTo>
                    <a:pt x="35" y="634"/>
                  </a:moveTo>
                  <a:lnTo>
                    <a:pt x="37" y="615"/>
                  </a:lnTo>
                  <a:lnTo>
                    <a:pt x="25" y="603"/>
                  </a:lnTo>
                  <a:lnTo>
                    <a:pt x="41" y="594"/>
                  </a:lnTo>
                  <a:lnTo>
                    <a:pt x="45" y="538"/>
                  </a:lnTo>
                  <a:lnTo>
                    <a:pt x="27" y="524"/>
                  </a:lnTo>
                  <a:lnTo>
                    <a:pt x="43" y="511"/>
                  </a:lnTo>
                  <a:lnTo>
                    <a:pt x="43" y="490"/>
                  </a:lnTo>
                  <a:lnTo>
                    <a:pt x="39" y="467"/>
                  </a:lnTo>
                  <a:lnTo>
                    <a:pt x="22" y="448"/>
                  </a:lnTo>
                  <a:lnTo>
                    <a:pt x="22" y="421"/>
                  </a:lnTo>
                  <a:lnTo>
                    <a:pt x="0" y="388"/>
                  </a:lnTo>
                  <a:lnTo>
                    <a:pt x="18" y="380"/>
                  </a:lnTo>
                  <a:lnTo>
                    <a:pt x="31" y="361"/>
                  </a:lnTo>
                  <a:lnTo>
                    <a:pt x="10" y="348"/>
                  </a:lnTo>
                  <a:lnTo>
                    <a:pt x="6" y="327"/>
                  </a:lnTo>
                  <a:lnTo>
                    <a:pt x="8" y="308"/>
                  </a:lnTo>
                  <a:lnTo>
                    <a:pt x="24" y="260"/>
                  </a:lnTo>
                  <a:lnTo>
                    <a:pt x="48" y="227"/>
                  </a:lnTo>
                  <a:lnTo>
                    <a:pt x="56" y="198"/>
                  </a:lnTo>
                  <a:lnTo>
                    <a:pt x="60" y="175"/>
                  </a:lnTo>
                  <a:lnTo>
                    <a:pt x="73" y="154"/>
                  </a:lnTo>
                  <a:lnTo>
                    <a:pt x="81" y="133"/>
                  </a:lnTo>
                  <a:lnTo>
                    <a:pt x="75" y="116"/>
                  </a:lnTo>
                  <a:lnTo>
                    <a:pt x="70" y="95"/>
                  </a:lnTo>
                  <a:lnTo>
                    <a:pt x="66" y="79"/>
                  </a:lnTo>
                  <a:lnTo>
                    <a:pt x="68" y="73"/>
                  </a:lnTo>
                  <a:lnTo>
                    <a:pt x="73" y="75"/>
                  </a:lnTo>
                  <a:lnTo>
                    <a:pt x="102" y="75"/>
                  </a:lnTo>
                  <a:lnTo>
                    <a:pt x="125" y="75"/>
                  </a:lnTo>
                  <a:lnTo>
                    <a:pt x="139" y="66"/>
                  </a:lnTo>
                  <a:lnTo>
                    <a:pt x="141" y="50"/>
                  </a:lnTo>
                  <a:lnTo>
                    <a:pt x="162" y="50"/>
                  </a:lnTo>
                  <a:lnTo>
                    <a:pt x="164" y="24"/>
                  </a:lnTo>
                  <a:lnTo>
                    <a:pt x="196" y="25"/>
                  </a:lnTo>
                  <a:lnTo>
                    <a:pt x="212" y="14"/>
                  </a:lnTo>
                  <a:lnTo>
                    <a:pt x="225" y="2"/>
                  </a:lnTo>
                  <a:lnTo>
                    <a:pt x="250" y="0"/>
                  </a:lnTo>
                  <a:lnTo>
                    <a:pt x="271" y="12"/>
                  </a:lnTo>
                  <a:lnTo>
                    <a:pt x="284" y="25"/>
                  </a:lnTo>
                  <a:lnTo>
                    <a:pt x="300" y="24"/>
                  </a:lnTo>
                  <a:lnTo>
                    <a:pt x="311" y="35"/>
                  </a:lnTo>
                  <a:lnTo>
                    <a:pt x="334" y="56"/>
                  </a:lnTo>
                  <a:lnTo>
                    <a:pt x="384" y="58"/>
                  </a:lnTo>
                  <a:lnTo>
                    <a:pt x="398" y="52"/>
                  </a:lnTo>
                  <a:lnTo>
                    <a:pt x="522" y="50"/>
                  </a:lnTo>
                  <a:lnTo>
                    <a:pt x="540" y="33"/>
                  </a:lnTo>
                  <a:lnTo>
                    <a:pt x="551" y="22"/>
                  </a:lnTo>
                  <a:lnTo>
                    <a:pt x="568" y="25"/>
                  </a:lnTo>
                  <a:lnTo>
                    <a:pt x="578" y="37"/>
                  </a:lnTo>
                  <a:lnTo>
                    <a:pt x="582" y="89"/>
                  </a:lnTo>
                  <a:lnTo>
                    <a:pt x="593" y="95"/>
                  </a:lnTo>
                  <a:lnTo>
                    <a:pt x="609" y="106"/>
                  </a:lnTo>
                  <a:lnTo>
                    <a:pt x="611" y="110"/>
                  </a:lnTo>
                  <a:lnTo>
                    <a:pt x="616" y="119"/>
                  </a:lnTo>
                  <a:lnTo>
                    <a:pt x="616" y="141"/>
                  </a:lnTo>
                  <a:lnTo>
                    <a:pt x="641" y="144"/>
                  </a:lnTo>
                  <a:lnTo>
                    <a:pt x="662" y="152"/>
                  </a:lnTo>
                  <a:lnTo>
                    <a:pt x="659" y="167"/>
                  </a:lnTo>
                  <a:lnTo>
                    <a:pt x="643" y="179"/>
                  </a:lnTo>
                  <a:lnTo>
                    <a:pt x="645" y="198"/>
                  </a:lnTo>
                  <a:lnTo>
                    <a:pt x="668" y="198"/>
                  </a:lnTo>
                  <a:lnTo>
                    <a:pt x="680" y="206"/>
                  </a:lnTo>
                  <a:lnTo>
                    <a:pt x="710" y="215"/>
                  </a:lnTo>
                  <a:lnTo>
                    <a:pt x="735" y="237"/>
                  </a:lnTo>
                  <a:lnTo>
                    <a:pt x="749" y="248"/>
                  </a:lnTo>
                  <a:lnTo>
                    <a:pt x="774" y="273"/>
                  </a:lnTo>
                  <a:lnTo>
                    <a:pt x="799" y="283"/>
                  </a:lnTo>
                  <a:lnTo>
                    <a:pt x="833" y="300"/>
                  </a:lnTo>
                  <a:lnTo>
                    <a:pt x="850" y="308"/>
                  </a:lnTo>
                  <a:lnTo>
                    <a:pt x="866" y="325"/>
                  </a:lnTo>
                  <a:lnTo>
                    <a:pt x="858" y="338"/>
                  </a:lnTo>
                  <a:lnTo>
                    <a:pt x="858" y="357"/>
                  </a:lnTo>
                  <a:lnTo>
                    <a:pt x="860" y="379"/>
                  </a:lnTo>
                  <a:lnTo>
                    <a:pt x="858" y="379"/>
                  </a:lnTo>
                  <a:lnTo>
                    <a:pt x="847" y="390"/>
                  </a:lnTo>
                  <a:lnTo>
                    <a:pt x="847" y="402"/>
                  </a:lnTo>
                  <a:lnTo>
                    <a:pt x="831" y="409"/>
                  </a:lnTo>
                  <a:lnTo>
                    <a:pt x="822" y="415"/>
                  </a:lnTo>
                  <a:lnTo>
                    <a:pt x="814" y="428"/>
                  </a:lnTo>
                  <a:lnTo>
                    <a:pt x="808" y="440"/>
                  </a:lnTo>
                  <a:lnTo>
                    <a:pt x="806" y="453"/>
                  </a:lnTo>
                  <a:lnTo>
                    <a:pt x="802" y="461"/>
                  </a:lnTo>
                  <a:lnTo>
                    <a:pt x="793" y="471"/>
                  </a:lnTo>
                  <a:lnTo>
                    <a:pt x="783" y="480"/>
                  </a:lnTo>
                  <a:lnTo>
                    <a:pt x="768" y="492"/>
                  </a:lnTo>
                  <a:lnTo>
                    <a:pt x="762" y="507"/>
                  </a:lnTo>
                  <a:lnTo>
                    <a:pt x="755" y="521"/>
                  </a:lnTo>
                  <a:lnTo>
                    <a:pt x="747" y="523"/>
                  </a:lnTo>
                  <a:lnTo>
                    <a:pt x="747" y="540"/>
                  </a:lnTo>
                  <a:lnTo>
                    <a:pt x="737" y="557"/>
                  </a:lnTo>
                  <a:lnTo>
                    <a:pt x="724" y="574"/>
                  </a:lnTo>
                  <a:lnTo>
                    <a:pt x="708" y="590"/>
                  </a:lnTo>
                  <a:lnTo>
                    <a:pt x="699" y="607"/>
                  </a:lnTo>
                  <a:lnTo>
                    <a:pt x="685" y="624"/>
                  </a:lnTo>
                  <a:lnTo>
                    <a:pt x="666" y="640"/>
                  </a:lnTo>
                  <a:lnTo>
                    <a:pt x="649" y="657"/>
                  </a:lnTo>
                  <a:lnTo>
                    <a:pt x="626" y="665"/>
                  </a:lnTo>
                  <a:lnTo>
                    <a:pt x="613" y="680"/>
                  </a:lnTo>
                  <a:lnTo>
                    <a:pt x="591" y="691"/>
                  </a:lnTo>
                  <a:lnTo>
                    <a:pt x="591" y="695"/>
                  </a:lnTo>
                  <a:lnTo>
                    <a:pt x="591" y="695"/>
                  </a:lnTo>
                  <a:lnTo>
                    <a:pt x="572" y="701"/>
                  </a:lnTo>
                  <a:lnTo>
                    <a:pt x="559" y="718"/>
                  </a:lnTo>
                  <a:lnTo>
                    <a:pt x="542" y="720"/>
                  </a:lnTo>
                  <a:lnTo>
                    <a:pt x="528" y="736"/>
                  </a:lnTo>
                  <a:lnTo>
                    <a:pt x="517" y="760"/>
                  </a:lnTo>
                  <a:lnTo>
                    <a:pt x="513" y="780"/>
                  </a:lnTo>
                  <a:lnTo>
                    <a:pt x="499" y="795"/>
                  </a:lnTo>
                  <a:lnTo>
                    <a:pt x="494" y="812"/>
                  </a:lnTo>
                  <a:lnTo>
                    <a:pt x="484" y="833"/>
                  </a:lnTo>
                  <a:lnTo>
                    <a:pt x="471" y="841"/>
                  </a:lnTo>
                  <a:lnTo>
                    <a:pt x="459" y="866"/>
                  </a:lnTo>
                  <a:lnTo>
                    <a:pt x="457" y="887"/>
                  </a:lnTo>
                  <a:lnTo>
                    <a:pt x="449" y="881"/>
                  </a:lnTo>
                  <a:lnTo>
                    <a:pt x="434" y="868"/>
                  </a:lnTo>
                  <a:lnTo>
                    <a:pt x="421" y="853"/>
                  </a:lnTo>
                  <a:lnTo>
                    <a:pt x="403" y="843"/>
                  </a:lnTo>
                  <a:lnTo>
                    <a:pt x="380" y="847"/>
                  </a:lnTo>
                  <a:lnTo>
                    <a:pt x="361" y="858"/>
                  </a:lnTo>
                  <a:lnTo>
                    <a:pt x="330" y="855"/>
                  </a:lnTo>
                  <a:lnTo>
                    <a:pt x="315" y="843"/>
                  </a:lnTo>
                  <a:lnTo>
                    <a:pt x="309" y="822"/>
                  </a:lnTo>
                  <a:lnTo>
                    <a:pt x="307" y="797"/>
                  </a:lnTo>
                  <a:lnTo>
                    <a:pt x="294" y="774"/>
                  </a:lnTo>
                  <a:lnTo>
                    <a:pt x="294" y="749"/>
                  </a:lnTo>
                  <a:lnTo>
                    <a:pt x="294" y="728"/>
                  </a:lnTo>
                  <a:lnTo>
                    <a:pt x="286" y="714"/>
                  </a:lnTo>
                  <a:lnTo>
                    <a:pt x="286" y="695"/>
                  </a:lnTo>
                  <a:lnTo>
                    <a:pt x="286" y="672"/>
                  </a:lnTo>
                  <a:lnTo>
                    <a:pt x="279" y="670"/>
                  </a:lnTo>
                  <a:lnTo>
                    <a:pt x="279" y="649"/>
                  </a:lnTo>
                  <a:lnTo>
                    <a:pt x="261" y="634"/>
                  </a:lnTo>
                  <a:lnTo>
                    <a:pt x="246" y="641"/>
                  </a:lnTo>
                  <a:lnTo>
                    <a:pt x="229" y="636"/>
                  </a:lnTo>
                  <a:lnTo>
                    <a:pt x="213" y="618"/>
                  </a:lnTo>
                  <a:lnTo>
                    <a:pt x="198" y="624"/>
                  </a:lnTo>
                  <a:lnTo>
                    <a:pt x="169" y="638"/>
                  </a:lnTo>
                  <a:lnTo>
                    <a:pt x="148" y="657"/>
                  </a:lnTo>
                  <a:lnTo>
                    <a:pt x="127" y="645"/>
                  </a:lnTo>
                  <a:lnTo>
                    <a:pt x="110" y="634"/>
                  </a:lnTo>
                  <a:lnTo>
                    <a:pt x="96" y="640"/>
                  </a:lnTo>
                  <a:lnTo>
                    <a:pt x="79" y="640"/>
                  </a:lnTo>
                  <a:lnTo>
                    <a:pt x="70" y="626"/>
                  </a:lnTo>
                  <a:lnTo>
                    <a:pt x="54" y="628"/>
                  </a:lnTo>
                  <a:lnTo>
                    <a:pt x="43" y="628"/>
                  </a:lnTo>
                  <a:lnTo>
                    <a:pt x="35" y="634"/>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1" name="Freeform 26">
              <a:extLst>
                <a:ext uri="{FF2B5EF4-FFF2-40B4-BE49-F238E27FC236}">
                  <a16:creationId xmlns:a16="http://schemas.microsoft.com/office/drawing/2014/main" id="{251D7E27-F6E2-01FB-097A-024BC8B457F6}"/>
                </a:ext>
              </a:extLst>
            </p:cNvPr>
            <p:cNvSpPr>
              <a:spLocks noChangeAspect="1"/>
            </p:cNvSpPr>
            <p:nvPr/>
          </p:nvSpPr>
          <p:spPr bwMode="auto">
            <a:xfrm>
              <a:off x="7305081" y="2948689"/>
              <a:ext cx="542494" cy="861176"/>
            </a:xfrm>
            <a:custGeom>
              <a:avLst/>
              <a:gdLst/>
              <a:ahLst/>
              <a:cxnLst>
                <a:cxn ang="0">
                  <a:pos x="197" y="908"/>
                </a:cxn>
                <a:cxn ang="0">
                  <a:pos x="147" y="868"/>
                </a:cxn>
                <a:cxn ang="0">
                  <a:pos x="90" y="891"/>
                </a:cxn>
                <a:cxn ang="0">
                  <a:pos x="57" y="920"/>
                </a:cxn>
                <a:cxn ang="0">
                  <a:pos x="59" y="835"/>
                </a:cxn>
                <a:cxn ang="0">
                  <a:pos x="61" y="766"/>
                </a:cxn>
                <a:cxn ang="0">
                  <a:pos x="67" y="695"/>
                </a:cxn>
                <a:cxn ang="0">
                  <a:pos x="99" y="634"/>
                </a:cxn>
                <a:cxn ang="0">
                  <a:pos x="111" y="565"/>
                </a:cxn>
                <a:cxn ang="0">
                  <a:pos x="126" y="526"/>
                </a:cxn>
                <a:cxn ang="0">
                  <a:pos x="170" y="476"/>
                </a:cxn>
                <a:cxn ang="0">
                  <a:pos x="213" y="413"/>
                </a:cxn>
                <a:cxn ang="0">
                  <a:pos x="241" y="332"/>
                </a:cxn>
                <a:cxn ang="0">
                  <a:pos x="245" y="256"/>
                </a:cxn>
                <a:cxn ang="0">
                  <a:pos x="291" y="206"/>
                </a:cxn>
                <a:cxn ang="0">
                  <a:pos x="337" y="171"/>
                </a:cxn>
                <a:cxn ang="0">
                  <a:pos x="362" y="108"/>
                </a:cxn>
                <a:cxn ang="0">
                  <a:pos x="328" y="8"/>
                </a:cxn>
                <a:cxn ang="0">
                  <a:pos x="364" y="0"/>
                </a:cxn>
                <a:cxn ang="0">
                  <a:pos x="420" y="10"/>
                </a:cxn>
                <a:cxn ang="0">
                  <a:pos x="458" y="46"/>
                </a:cxn>
                <a:cxn ang="0">
                  <a:pos x="479" y="123"/>
                </a:cxn>
                <a:cxn ang="0">
                  <a:pos x="464" y="181"/>
                </a:cxn>
                <a:cxn ang="0">
                  <a:pos x="449" y="227"/>
                </a:cxn>
                <a:cxn ang="0">
                  <a:pos x="452" y="265"/>
                </a:cxn>
                <a:cxn ang="0">
                  <a:pos x="495" y="311"/>
                </a:cxn>
                <a:cxn ang="0">
                  <a:pos x="516" y="348"/>
                </a:cxn>
                <a:cxn ang="0">
                  <a:pos x="541" y="369"/>
                </a:cxn>
                <a:cxn ang="0">
                  <a:pos x="585" y="407"/>
                </a:cxn>
                <a:cxn ang="0">
                  <a:pos x="539" y="434"/>
                </a:cxn>
                <a:cxn ang="0">
                  <a:pos x="516" y="484"/>
                </a:cxn>
                <a:cxn ang="0">
                  <a:pos x="535" y="520"/>
                </a:cxn>
                <a:cxn ang="0">
                  <a:pos x="556" y="555"/>
                </a:cxn>
                <a:cxn ang="0">
                  <a:pos x="564" y="588"/>
                </a:cxn>
                <a:cxn ang="0">
                  <a:pos x="596" y="639"/>
                </a:cxn>
                <a:cxn ang="0">
                  <a:pos x="633" y="655"/>
                </a:cxn>
                <a:cxn ang="0">
                  <a:pos x="661" y="676"/>
                </a:cxn>
                <a:cxn ang="0">
                  <a:pos x="612" y="697"/>
                </a:cxn>
                <a:cxn ang="0">
                  <a:pos x="589" y="751"/>
                </a:cxn>
                <a:cxn ang="0">
                  <a:pos x="562" y="806"/>
                </a:cxn>
                <a:cxn ang="0">
                  <a:pos x="615" y="826"/>
                </a:cxn>
                <a:cxn ang="0">
                  <a:pos x="594" y="858"/>
                </a:cxn>
                <a:cxn ang="0">
                  <a:pos x="581" y="897"/>
                </a:cxn>
                <a:cxn ang="0">
                  <a:pos x="583" y="954"/>
                </a:cxn>
                <a:cxn ang="0">
                  <a:pos x="602" y="1002"/>
                </a:cxn>
                <a:cxn ang="0">
                  <a:pos x="564" y="1012"/>
                </a:cxn>
                <a:cxn ang="0">
                  <a:pos x="512" y="1052"/>
                </a:cxn>
                <a:cxn ang="0">
                  <a:pos x="452" y="1050"/>
                </a:cxn>
                <a:cxn ang="0">
                  <a:pos x="404" y="1029"/>
                </a:cxn>
                <a:cxn ang="0">
                  <a:pos x="358" y="1027"/>
                </a:cxn>
                <a:cxn ang="0">
                  <a:pos x="307" y="1014"/>
                </a:cxn>
                <a:cxn ang="0">
                  <a:pos x="287" y="973"/>
                </a:cxn>
                <a:cxn ang="0">
                  <a:pos x="251" y="931"/>
                </a:cxn>
              </a:cxnLst>
              <a:rect l="0" t="0" r="r" b="b"/>
              <a:pathLst>
                <a:path w="663" h="1054">
                  <a:moveTo>
                    <a:pt x="211" y="977"/>
                  </a:moveTo>
                  <a:lnTo>
                    <a:pt x="205" y="964"/>
                  </a:lnTo>
                  <a:lnTo>
                    <a:pt x="205" y="933"/>
                  </a:lnTo>
                  <a:lnTo>
                    <a:pt x="197" y="908"/>
                  </a:lnTo>
                  <a:lnTo>
                    <a:pt x="184" y="893"/>
                  </a:lnTo>
                  <a:lnTo>
                    <a:pt x="182" y="881"/>
                  </a:lnTo>
                  <a:lnTo>
                    <a:pt x="165" y="874"/>
                  </a:lnTo>
                  <a:lnTo>
                    <a:pt x="147" y="868"/>
                  </a:lnTo>
                  <a:lnTo>
                    <a:pt x="130" y="854"/>
                  </a:lnTo>
                  <a:lnTo>
                    <a:pt x="117" y="866"/>
                  </a:lnTo>
                  <a:lnTo>
                    <a:pt x="105" y="883"/>
                  </a:lnTo>
                  <a:lnTo>
                    <a:pt x="90" y="891"/>
                  </a:lnTo>
                  <a:lnTo>
                    <a:pt x="82" y="912"/>
                  </a:lnTo>
                  <a:lnTo>
                    <a:pt x="65" y="925"/>
                  </a:lnTo>
                  <a:lnTo>
                    <a:pt x="57" y="925"/>
                  </a:lnTo>
                  <a:lnTo>
                    <a:pt x="57" y="920"/>
                  </a:lnTo>
                  <a:lnTo>
                    <a:pt x="49" y="900"/>
                  </a:lnTo>
                  <a:lnTo>
                    <a:pt x="49" y="879"/>
                  </a:lnTo>
                  <a:lnTo>
                    <a:pt x="59" y="858"/>
                  </a:lnTo>
                  <a:lnTo>
                    <a:pt x="59" y="835"/>
                  </a:lnTo>
                  <a:lnTo>
                    <a:pt x="65" y="814"/>
                  </a:lnTo>
                  <a:lnTo>
                    <a:pt x="59" y="803"/>
                  </a:lnTo>
                  <a:lnTo>
                    <a:pt x="42" y="785"/>
                  </a:lnTo>
                  <a:lnTo>
                    <a:pt x="61" y="766"/>
                  </a:lnTo>
                  <a:lnTo>
                    <a:pt x="74" y="749"/>
                  </a:lnTo>
                  <a:lnTo>
                    <a:pt x="74" y="730"/>
                  </a:lnTo>
                  <a:lnTo>
                    <a:pt x="72" y="712"/>
                  </a:lnTo>
                  <a:lnTo>
                    <a:pt x="67" y="695"/>
                  </a:lnTo>
                  <a:lnTo>
                    <a:pt x="74" y="684"/>
                  </a:lnTo>
                  <a:lnTo>
                    <a:pt x="86" y="668"/>
                  </a:lnTo>
                  <a:lnTo>
                    <a:pt x="86" y="649"/>
                  </a:lnTo>
                  <a:lnTo>
                    <a:pt x="99" y="634"/>
                  </a:lnTo>
                  <a:lnTo>
                    <a:pt x="103" y="616"/>
                  </a:lnTo>
                  <a:lnTo>
                    <a:pt x="103" y="595"/>
                  </a:lnTo>
                  <a:lnTo>
                    <a:pt x="115" y="572"/>
                  </a:lnTo>
                  <a:lnTo>
                    <a:pt x="111" y="565"/>
                  </a:lnTo>
                  <a:lnTo>
                    <a:pt x="0" y="553"/>
                  </a:lnTo>
                  <a:lnTo>
                    <a:pt x="115" y="567"/>
                  </a:lnTo>
                  <a:lnTo>
                    <a:pt x="119" y="544"/>
                  </a:lnTo>
                  <a:lnTo>
                    <a:pt x="126" y="526"/>
                  </a:lnTo>
                  <a:lnTo>
                    <a:pt x="140" y="517"/>
                  </a:lnTo>
                  <a:lnTo>
                    <a:pt x="161" y="511"/>
                  </a:lnTo>
                  <a:lnTo>
                    <a:pt x="161" y="496"/>
                  </a:lnTo>
                  <a:lnTo>
                    <a:pt x="170" y="476"/>
                  </a:lnTo>
                  <a:lnTo>
                    <a:pt x="184" y="471"/>
                  </a:lnTo>
                  <a:lnTo>
                    <a:pt x="186" y="446"/>
                  </a:lnTo>
                  <a:lnTo>
                    <a:pt x="201" y="432"/>
                  </a:lnTo>
                  <a:lnTo>
                    <a:pt x="213" y="413"/>
                  </a:lnTo>
                  <a:lnTo>
                    <a:pt x="222" y="388"/>
                  </a:lnTo>
                  <a:lnTo>
                    <a:pt x="241" y="382"/>
                  </a:lnTo>
                  <a:lnTo>
                    <a:pt x="247" y="354"/>
                  </a:lnTo>
                  <a:lnTo>
                    <a:pt x="241" y="332"/>
                  </a:lnTo>
                  <a:lnTo>
                    <a:pt x="228" y="321"/>
                  </a:lnTo>
                  <a:lnTo>
                    <a:pt x="228" y="300"/>
                  </a:lnTo>
                  <a:lnTo>
                    <a:pt x="236" y="279"/>
                  </a:lnTo>
                  <a:lnTo>
                    <a:pt x="245" y="256"/>
                  </a:lnTo>
                  <a:lnTo>
                    <a:pt x="255" y="238"/>
                  </a:lnTo>
                  <a:lnTo>
                    <a:pt x="259" y="223"/>
                  </a:lnTo>
                  <a:lnTo>
                    <a:pt x="276" y="215"/>
                  </a:lnTo>
                  <a:lnTo>
                    <a:pt x="291" y="206"/>
                  </a:lnTo>
                  <a:lnTo>
                    <a:pt x="308" y="206"/>
                  </a:lnTo>
                  <a:lnTo>
                    <a:pt x="308" y="188"/>
                  </a:lnTo>
                  <a:lnTo>
                    <a:pt x="320" y="177"/>
                  </a:lnTo>
                  <a:lnTo>
                    <a:pt x="337" y="171"/>
                  </a:lnTo>
                  <a:lnTo>
                    <a:pt x="345" y="158"/>
                  </a:lnTo>
                  <a:lnTo>
                    <a:pt x="345" y="140"/>
                  </a:lnTo>
                  <a:lnTo>
                    <a:pt x="353" y="127"/>
                  </a:lnTo>
                  <a:lnTo>
                    <a:pt x="362" y="108"/>
                  </a:lnTo>
                  <a:lnTo>
                    <a:pt x="360" y="83"/>
                  </a:lnTo>
                  <a:lnTo>
                    <a:pt x="360" y="60"/>
                  </a:lnTo>
                  <a:lnTo>
                    <a:pt x="345" y="35"/>
                  </a:lnTo>
                  <a:lnTo>
                    <a:pt x="328" y="8"/>
                  </a:lnTo>
                  <a:lnTo>
                    <a:pt x="333" y="4"/>
                  </a:lnTo>
                  <a:lnTo>
                    <a:pt x="333" y="4"/>
                  </a:lnTo>
                  <a:lnTo>
                    <a:pt x="351" y="6"/>
                  </a:lnTo>
                  <a:lnTo>
                    <a:pt x="364" y="0"/>
                  </a:lnTo>
                  <a:lnTo>
                    <a:pt x="378" y="6"/>
                  </a:lnTo>
                  <a:lnTo>
                    <a:pt x="393" y="10"/>
                  </a:lnTo>
                  <a:lnTo>
                    <a:pt x="402" y="10"/>
                  </a:lnTo>
                  <a:lnTo>
                    <a:pt x="420" y="10"/>
                  </a:lnTo>
                  <a:lnTo>
                    <a:pt x="427" y="25"/>
                  </a:lnTo>
                  <a:lnTo>
                    <a:pt x="439" y="27"/>
                  </a:lnTo>
                  <a:lnTo>
                    <a:pt x="450" y="37"/>
                  </a:lnTo>
                  <a:lnTo>
                    <a:pt x="458" y="46"/>
                  </a:lnTo>
                  <a:lnTo>
                    <a:pt x="470" y="50"/>
                  </a:lnTo>
                  <a:lnTo>
                    <a:pt x="479" y="69"/>
                  </a:lnTo>
                  <a:lnTo>
                    <a:pt x="472" y="100"/>
                  </a:lnTo>
                  <a:lnTo>
                    <a:pt x="479" y="123"/>
                  </a:lnTo>
                  <a:lnTo>
                    <a:pt x="472" y="139"/>
                  </a:lnTo>
                  <a:lnTo>
                    <a:pt x="472" y="156"/>
                  </a:lnTo>
                  <a:lnTo>
                    <a:pt x="464" y="164"/>
                  </a:lnTo>
                  <a:lnTo>
                    <a:pt x="464" y="181"/>
                  </a:lnTo>
                  <a:lnTo>
                    <a:pt x="466" y="190"/>
                  </a:lnTo>
                  <a:lnTo>
                    <a:pt x="460" y="204"/>
                  </a:lnTo>
                  <a:lnTo>
                    <a:pt x="454" y="217"/>
                  </a:lnTo>
                  <a:lnTo>
                    <a:pt x="449" y="227"/>
                  </a:lnTo>
                  <a:lnTo>
                    <a:pt x="439" y="235"/>
                  </a:lnTo>
                  <a:lnTo>
                    <a:pt x="433" y="246"/>
                  </a:lnTo>
                  <a:lnTo>
                    <a:pt x="439" y="261"/>
                  </a:lnTo>
                  <a:lnTo>
                    <a:pt x="452" y="265"/>
                  </a:lnTo>
                  <a:lnTo>
                    <a:pt x="460" y="279"/>
                  </a:lnTo>
                  <a:lnTo>
                    <a:pt x="472" y="286"/>
                  </a:lnTo>
                  <a:lnTo>
                    <a:pt x="481" y="302"/>
                  </a:lnTo>
                  <a:lnTo>
                    <a:pt x="495" y="311"/>
                  </a:lnTo>
                  <a:lnTo>
                    <a:pt x="498" y="321"/>
                  </a:lnTo>
                  <a:lnTo>
                    <a:pt x="500" y="334"/>
                  </a:lnTo>
                  <a:lnTo>
                    <a:pt x="510" y="336"/>
                  </a:lnTo>
                  <a:lnTo>
                    <a:pt x="516" y="348"/>
                  </a:lnTo>
                  <a:lnTo>
                    <a:pt x="518" y="354"/>
                  </a:lnTo>
                  <a:lnTo>
                    <a:pt x="525" y="357"/>
                  </a:lnTo>
                  <a:lnTo>
                    <a:pt x="539" y="357"/>
                  </a:lnTo>
                  <a:lnTo>
                    <a:pt x="541" y="369"/>
                  </a:lnTo>
                  <a:lnTo>
                    <a:pt x="558" y="369"/>
                  </a:lnTo>
                  <a:lnTo>
                    <a:pt x="587" y="369"/>
                  </a:lnTo>
                  <a:lnTo>
                    <a:pt x="587" y="386"/>
                  </a:lnTo>
                  <a:lnTo>
                    <a:pt x="585" y="407"/>
                  </a:lnTo>
                  <a:lnTo>
                    <a:pt x="573" y="415"/>
                  </a:lnTo>
                  <a:lnTo>
                    <a:pt x="560" y="419"/>
                  </a:lnTo>
                  <a:lnTo>
                    <a:pt x="554" y="432"/>
                  </a:lnTo>
                  <a:lnTo>
                    <a:pt x="539" y="434"/>
                  </a:lnTo>
                  <a:lnTo>
                    <a:pt x="537" y="449"/>
                  </a:lnTo>
                  <a:lnTo>
                    <a:pt x="535" y="467"/>
                  </a:lnTo>
                  <a:lnTo>
                    <a:pt x="529" y="476"/>
                  </a:lnTo>
                  <a:lnTo>
                    <a:pt x="516" y="484"/>
                  </a:lnTo>
                  <a:lnTo>
                    <a:pt x="506" y="496"/>
                  </a:lnTo>
                  <a:lnTo>
                    <a:pt x="520" y="503"/>
                  </a:lnTo>
                  <a:lnTo>
                    <a:pt x="525" y="517"/>
                  </a:lnTo>
                  <a:lnTo>
                    <a:pt x="535" y="520"/>
                  </a:lnTo>
                  <a:lnTo>
                    <a:pt x="537" y="532"/>
                  </a:lnTo>
                  <a:lnTo>
                    <a:pt x="546" y="540"/>
                  </a:lnTo>
                  <a:lnTo>
                    <a:pt x="554" y="549"/>
                  </a:lnTo>
                  <a:lnTo>
                    <a:pt x="556" y="555"/>
                  </a:lnTo>
                  <a:lnTo>
                    <a:pt x="571" y="555"/>
                  </a:lnTo>
                  <a:lnTo>
                    <a:pt x="573" y="567"/>
                  </a:lnTo>
                  <a:lnTo>
                    <a:pt x="566" y="572"/>
                  </a:lnTo>
                  <a:lnTo>
                    <a:pt x="564" y="588"/>
                  </a:lnTo>
                  <a:lnTo>
                    <a:pt x="573" y="605"/>
                  </a:lnTo>
                  <a:lnTo>
                    <a:pt x="583" y="615"/>
                  </a:lnTo>
                  <a:lnTo>
                    <a:pt x="587" y="628"/>
                  </a:lnTo>
                  <a:lnTo>
                    <a:pt x="596" y="639"/>
                  </a:lnTo>
                  <a:lnTo>
                    <a:pt x="604" y="647"/>
                  </a:lnTo>
                  <a:lnTo>
                    <a:pt x="615" y="649"/>
                  </a:lnTo>
                  <a:lnTo>
                    <a:pt x="633" y="649"/>
                  </a:lnTo>
                  <a:lnTo>
                    <a:pt x="633" y="655"/>
                  </a:lnTo>
                  <a:lnTo>
                    <a:pt x="646" y="661"/>
                  </a:lnTo>
                  <a:lnTo>
                    <a:pt x="652" y="661"/>
                  </a:lnTo>
                  <a:lnTo>
                    <a:pt x="661" y="674"/>
                  </a:lnTo>
                  <a:lnTo>
                    <a:pt x="661" y="676"/>
                  </a:lnTo>
                  <a:lnTo>
                    <a:pt x="663" y="674"/>
                  </a:lnTo>
                  <a:lnTo>
                    <a:pt x="644" y="686"/>
                  </a:lnTo>
                  <a:lnTo>
                    <a:pt x="627" y="697"/>
                  </a:lnTo>
                  <a:lnTo>
                    <a:pt x="612" y="697"/>
                  </a:lnTo>
                  <a:lnTo>
                    <a:pt x="602" y="709"/>
                  </a:lnTo>
                  <a:lnTo>
                    <a:pt x="598" y="724"/>
                  </a:lnTo>
                  <a:lnTo>
                    <a:pt x="600" y="739"/>
                  </a:lnTo>
                  <a:lnTo>
                    <a:pt x="589" y="751"/>
                  </a:lnTo>
                  <a:lnTo>
                    <a:pt x="573" y="758"/>
                  </a:lnTo>
                  <a:lnTo>
                    <a:pt x="566" y="774"/>
                  </a:lnTo>
                  <a:lnTo>
                    <a:pt x="562" y="791"/>
                  </a:lnTo>
                  <a:lnTo>
                    <a:pt x="562" y="806"/>
                  </a:lnTo>
                  <a:lnTo>
                    <a:pt x="581" y="818"/>
                  </a:lnTo>
                  <a:lnTo>
                    <a:pt x="602" y="810"/>
                  </a:lnTo>
                  <a:lnTo>
                    <a:pt x="614" y="814"/>
                  </a:lnTo>
                  <a:lnTo>
                    <a:pt x="615" y="826"/>
                  </a:lnTo>
                  <a:lnTo>
                    <a:pt x="604" y="837"/>
                  </a:lnTo>
                  <a:lnTo>
                    <a:pt x="589" y="837"/>
                  </a:lnTo>
                  <a:lnTo>
                    <a:pt x="583" y="847"/>
                  </a:lnTo>
                  <a:lnTo>
                    <a:pt x="594" y="858"/>
                  </a:lnTo>
                  <a:lnTo>
                    <a:pt x="604" y="868"/>
                  </a:lnTo>
                  <a:lnTo>
                    <a:pt x="598" y="877"/>
                  </a:lnTo>
                  <a:lnTo>
                    <a:pt x="583" y="879"/>
                  </a:lnTo>
                  <a:lnTo>
                    <a:pt x="581" y="897"/>
                  </a:lnTo>
                  <a:lnTo>
                    <a:pt x="587" y="914"/>
                  </a:lnTo>
                  <a:lnTo>
                    <a:pt x="596" y="927"/>
                  </a:lnTo>
                  <a:lnTo>
                    <a:pt x="594" y="948"/>
                  </a:lnTo>
                  <a:lnTo>
                    <a:pt x="583" y="954"/>
                  </a:lnTo>
                  <a:lnTo>
                    <a:pt x="583" y="968"/>
                  </a:lnTo>
                  <a:lnTo>
                    <a:pt x="589" y="979"/>
                  </a:lnTo>
                  <a:lnTo>
                    <a:pt x="602" y="987"/>
                  </a:lnTo>
                  <a:lnTo>
                    <a:pt x="602" y="1002"/>
                  </a:lnTo>
                  <a:lnTo>
                    <a:pt x="583" y="1014"/>
                  </a:lnTo>
                  <a:lnTo>
                    <a:pt x="581" y="1016"/>
                  </a:lnTo>
                  <a:lnTo>
                    <a:pt x="577" y="1014"/>
                  </a:lnTo>
                  <a:lnTo>
                    <a:pt x="564" y="1012"/>
                  </a:lnTo>
                  <a:lnTo>
                    <a:pt x="550" y="1018"/>
                  </a:lnTo>
                  <a:lnTo>
                    <a:pt x="537" y="1029"/>
                  </a:lnTo>
                  <a:lnTo>
                    <a:pt x="529" y="1043"/>
                  </a:lnTo>
                  <a:lnTo>
                    <a:pt x="512" y="1052"/>
                  </a:lnTo>
                  <a:lnTo>
                    <a:pt x="493" y="1052"/>
                  </a:lnTo>
                  <a:lnTo>
                    <a:pt x="483" y="1041"/>
                  </a:lnTo>
                  <a:lnTo>
                    <a:pt x="466" y="1054"/>
                  </a:lnTo>
                  <a:lnTo>
                    <a:pt x="452" y="1050"/>
                  </a:lnTo>
                  <a:lnTo>
                    <a:pt x="435" y="1041"/>
                  </a:lnTo>
                  <a:lnTo>
                    <a:pt x="420" y="1021"/>
                  </a:lnTo>
                  <a:lnTo>
                    <a:pt x="406" y="1014"/>
                  </a:lnTo>
                  <a:lnTo>
                    <a:pt x="404" y="1029"/>
                  </a:lnTo>
                  <a:lnTo>
                    <a:pt x="402" y="1048"/>
                  </a:lnTo>
                  <a:lnTo>
                    <a:pt x="385" y="1046"/>
                  </a:lnTo>
                  <a:lnTo>
                    <a:pt x="374" y="1033"/>
                  </a:lnTo>
                  <a:lnTo>
                    <a:pt x="358" y="1027"/>
                  </a:lnTo>
                  <a:lnTo>
                    <a:pt x="356" y="1008"/>
                  </a:lnTo>
                  <a:lnTo>
                    <a:pt x="339" y="1004"/>
                  </a:lnTo>
                  <a:lnTo>
                    <a:pt x="322" y="1006"/>
                  </a:lnTo>
                  <a:lnTo>
                    <a:pt x="307" y="1014"/>
                  </a:lnTo>
                  <a:lnTo>
                    <a:pt x="299" y="1029"/>
                  </a:lnTo>
                  <a:lnTo>
                    <a:pt x="282" y="1018"/>
                  </a:lnTo>
                  <a:lnTo>
                    <a:pt x="285" y="996"/>
                  </a:lnTo>
                  <a:lnTo>
                    <a:pt x="287" y="973"/>
                  </a:lnTo>
                  <a:lnTo>
                    <a:pt x="278" y="958"/>
                  </a:lnTo>
                  <a:lnTo>
                    <a:pt x="266" y="947"/>
                  </a:lnTo>
                  <a:lnTo>
                    <a:pt x="264" y="922"/>
                  </a:lnTo>
                  <a:lnTo>
                    <a:pt x="251" y="931"/>
                  </a:lnTo>
                  <a:lnTo>
                    <a:pt x="226" y="941"/>
                  </a:lnTo>
                  <a:lnTo>
                    <a:pt x="224" y="956"/>
                  </a:lnTo>
                  <a:lnTo>
                    <a:pt x="211" y="977"/>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2" name="Freeform 27">
              <a:extLst>
                <a:ext uri="{FF2B5EF4-FFF2-40B4-BE49-F238E27FC236}">
                  <a16:creationId xmlns:a16="http://schemas.microsoft.com/office/drawing/2014/main" id="{C174E116-E3FB-B32D-F086-988E5FFFC6F9}"/>
                </a:ext>
              </a:extLst>
            </p:cNvPr>
            <p:cNvSpPr>
              <a:spLocks noChangeAspect="1"/>
            </p:cNvSpPr>
            <p:nvPr/>
          </p:nvSpPr>
          <p:spPr bwMode="auto">
            <a:xfrm>
              <a:off x="7068756" y="3646940"/>
              <a:ext cx="736909" cy="769239"/>
            </a:xfrm>
            <a:custGeom>
              <a:avLst/>
              <a:gdLst/>
              <a:ahLst/>
              <a:cxnLst>
                <a:cxn ang="0">
                  <a:pos x="412" y="830"/>
                </a:cxn>
                <a:cxn ang="0">
                  <a:pos x="476" y="828"/>
                </a:cxn>
                <a:cxn ang="0">
                  <a:pos x="527" y="812"/>
                </a:cxn>
                <a:cxn ang="0">
                  <a:pos x="600" y="820"/>
                </a:cxn>
                <a:cxn ang="0">
                  <a:pos x="637" y="812"/>
                </a:cxn>
                <a:cxn ang="0">
                  <a:pos x="689" y="791"/>
                </a:cxn>
                <a:cxn ang="0">
                  <a:pos x="687" y="759"/>
                </a:cxn>
                <a:cxn ang="0">
                  <a:pos x="698" y="711"/>
                </a:cxn>
                <a:cxn ang="0">
                  <a:pos x="691" y="663"/>
                </a:cxn>
                <a:cxn ang="0">
                  <a:pos x="717" y="616"/>
                </a:cxn>
                <a:cxn ang="0">
                  <a:pos x="708" y="561"/>
                </a:cxn>
                <a:cxn ang="0">
                  <a:pos x="756" y="521"/>
                </a:cxn>
                <a:cxn ang="0">
                  <a:pos x="785" y="488"/>
                </a:cxn>
                <a:cxn ang="0">
                  <a:pos x="785" y="411"/>
                </a:cxn>
                <a:cxn ang="0">
                  <a:pos x="819" y="398"/>
                </a:cxn>
                <a:cxn ang="0">
                  <a:pos x="838" y="373"/>
                </a:cxn>
                <a:cxn ang="0">
                  <a:pos x="871" y="392"/>
                </a:cxn>
                <a:cxn ang="0">
                  <a:pos x="902" y="355"/>
                </a:cxn>
                <a:cxn ang="0">
                  <a:pos x="890" y="315"/>
                </a:cxn>
                <a:cxn ang="0">
                  <a:pos x="867" y="269"/>
                </a:cxn>
                <a:cxn ang="0">
                  <a:pos x="877" y="227"/>
                </a:cxn>
                <a:cxn ang="0">
                  <a:pos x="875" y="187"/>
                </a:cxn>
                <a:cxn ang="0">
                  <a:pos x="867" y="160"/>
                </a:cxn>
                <a:cxn ang="0">
                  <a:pos x="827" y="175"/>
                </a:cxn>
                <a:cxn ang="0">
                  <a:pos x="783" y="198"/>
                </a:cxn>
                <a:cxn ang="0">
                  <a:pos x="742" y="196"/>
                </a:cxn>
                <a:cxn ang="0">
                  <a:pos x="696" y="160"/>
                </a:cxn>
                <a:cxn ang="0">
                  <a:pos x="675" y="192"/>
                </a:cxn>
                <a:cxn ang="0">
                  <a:pos x="646" y="154"/>
                </a:cxn>
                <a:cxn ang="0">
                  <a:pos x="597" y="160"/>
                </a:cxn>
                <a:cxn ang="0">
                  <a:pos x="575" y="142"/>
                </a:cxn>
                <a:cxn ang="0">
                  <a:pos x="556" y="93"/>
                </a:cxn>
                <a:cxn ang="0">
                  <a:pos x="516" y="87"/>
                </a:cxn>
                <a:cxn ang="0">
                  <a:pos x="495" y="110"/>
                </a:cxn>
                <a:cxn ang="0">
                  <a:pos x="474" y="39"/>
                </a:cxn>
                <a:cxn ang="0">
                  <a:pos x="437" y="14"/>
                </a:cxn>
                <a:cxn ang="0">
                  <a:pos x="395" y="29"/>
                </a:cxn>
                <a:cxn ang="0">
                  <a:pos x="355" y="71"/>
                </a:cxn>
                <a:cxn ang="0">
                  <a:pos x="349" y="85"/>
                </a:cxn>
                <a:cxn ang="0">
                  <a:pos x="316" y="202"/>
                </a:cxn>
                <a:cxn ang="0">
                  <a:pos x="293" y="275"/>
                </a:cxn>
                <a:cxn ang="0">
                  <a:pos x="295" y="336"/>
                </a:cxn>
                <a:cxn ang="0">
                  <a:pos x="265" y="365"/>
                </a:cxn>
                <a:cxn ang="0">
                  <a:pos x="199" y="400"/>
                </a:cxn>
                <a:cxn ang="0">
                  <a:pos x="163" y="465"/>
                </a:cxn>
                <a:cxn ang="0">
                  <a:pos x="111" y="490"/>
                </a:cxn>
                <a:cxn ang="0">
                  <a:pos x="90" y="555"/>
                </a:cxn>
                <a:cxn ang="0">
                  <a:pos x="44" y="593"/>
                </a:cxn>
                <a:cxn ang="0">
                  <a:pos x="11" y="626"/>
                </a:cxn>
                <a:cxn ang="0">
                  <a:pos x="0" y="682"/>
                </a:cxn>
                <a:cxn ang="0">
                  <a:pos x="6" y="726"/>
                </a:cxn>
                <a:cxn ang="0">
                  <a:pos x="36" y="760"/>
                </a:cxn>
                <a:cxn ang="0">
                  <a:pos x="38" y="795"/>
                </a:cxn>
                <a:cxn ang="0">
                  <a:pos x="75" y="822"/>
                </a:cxn>
                <a:cxn ang="0">
                  <a:pos x="144" y="864"/>
                </a:cxn>
                <a:cxn ang="0">
                  <a:pos x="228" y="916"/>
                </a:cxn>
                <a:cxn ang="0">
                  <a:pos x="272" y="935"/>
                </a:cxn>
                <a:cxn ang="0">
                  <a:pos x="295" y="897"/>
                </a:cxn>
                <a:cxn ang="0">
                  <a:pos x="345" y="854"/>
                </a:cxn>
              </a:cxnLst>
              <a:rect l="0" t="0" r="r" b="b"/>
              <a:pathLst>
                <a:path w="902" h="941">
                  <a:moveTo>
                    <a:pt x="370" y="831"/>
                  </a:moveTo>
                  <a:lnTo>
                    <a:pt x="393" y="830"/>
                  </a:lnTo>
                  <a:lnTo>
                    <a:pt x="412" y="830"/>
                  </a:lnTo>
                  <a:lnTo>
                    <a:pt x="437" y="826"/>
                  </a:lnTo>
                  <a:lnTo>
                    <a:pt x="455" y="830"/>
                  </a:lnTo>
                  <a:lnTo>
                    <a:pt x="476" y="828"/>
                  </a:lnTo>
                  <a:lnTo>
                    <a:pt x="495" y="818"/>
                  </a:lnTo>
                  <a:lnTo>
                    <a:pt x="514" y="808"/>
                  </a:lnTo>
                  <a:lnTo>
                    <a:pt x="527" y="812"/>
                  </a:lnTo>
                  <a:lnTo>
                    <a:pt x="552" y="812"/>
                  </a:lnTo>
                  <a:lnTo>
                    <a:pt x="587" y="812"/>
                  </a:lnTo>
                  <a:lnTo>
                    <a:pt x="600" y="820"/>
                  </a:lnTo>
                  <a:lnTo>
                    <a:pt x="612" y="828"/>
                  </a:lnTo>
                  <a:lnTo>
                    <a:pt x="631" y="828"/>
                  </a:lnTo>
                  <a:lnTo>
                    <a:pt x="637" y="812"/>
                  </a:lnTo>
                  <a:lnTo>
                    <a:pt x="656" y="812"/>
                  </a:lnTo>
                  <a:lnTo>
                    <a:pt x="669" y="803"/>
                  </a:lnTo>
                  <a:lnTo>
                    <a:pt x="689" y="791"/>
                  </a:lnTo>
                  <a:lnTo>
                    <a:pt x="700" y="782"/>
                  </a:lnTo>
                  <a:lnTo>
                    <a:pt x="698" y="768"/>
                  </a:lnTo>
                  <a:lnTo>
                    <a:pt x="687" y="759"/>
                  </a:lnTo>
                  <a:lnTo>
                    <a:pt x="691" y="743"/>
                  </a:lnTo>
                  <a:lnTo>
                    <a:pt x="706" y="724"/>
                  </a:lnTo>
                  <a:lnTo>
                    <a:pt x="698" y="711"/>
                  </a:lnTo>
                  <a:lnTo>
                    <a:pt x="681" y="699"/>
                  </a:lnTo>
                  <a:lnTo>
                    <a:pt x="681" y="676"/>
                  </a:lnTo>
                  <a:lnTo>
                    <a:pt x="691" y="663"/>
                  </a:lnTo>
                  <a:lnTo>
                    <a:pt x="710" y="653"/>
                  </a:lnTo>
                  <a:lnTo>
                    <a:pt x="717" y="636"/>
                  </a:lnTo>
                  <a:lnTo>
                    <a:pt x="717" y="616"/>
                  </a:lnTo>
                  <a:lnTo>
                    <a:pt x="710" y="599"/>
                  </a:lnTo>
                  <a:lnTo>
                    <a:pt x="704" y="580"/>
                  </a:lnTo>
                  <a:lnTo>
                    <a:pt x="708" y="561"/>
                  </a:lnTo>
                  <a:lnTo>
                    <a:pt x="721" y="538"/>
                  </a:lnTo>
                  <a:lnTo>
                    <a:pt x="740" y="536"/>
                  </a:lnTo>
                  <a:lnTo>
                    <a:pt x="756" y="521"/>
                  </a:lnTo>
                  <a:lnTo>
                    <a:pt x="775" y="515"/>
                  </a:lnTo>
                  <a:lnTo>
                    <a:pt x="794" y="501"/>
                  </a:lnTo>
                  <a:lnTo>
                    <a:pt x="785" y="488"/>
                  </a:lnTo>
                  <a:lnTo>
                    <a:pt x="788" y="436"/>
                  </a:lnTo>
                  <a:lnTo>
                    <a:pt x="796" y="423"/>
                  </a:lnTo>
                  <a:lnTo>
                    <a:pt x="785" y="411"/>
                  </a:lnTo>
                  <a:lnTo>
                    <a:pt x="786" y="398"/>
                  </a:lnTo>
                  <a:lnTo>
                    <a:pt x="802" y="400"/>
                  </a:lnTo>
                  <a:lnTo>
                    <a:pt x="819" y="398"/>
                  </a:lnTo>
                  <a:lnTo>
                    <a:pt x="823" y="380"/>
                  </a:lnTo>
                  <a:lnTo>
                    <a:pt x="829" y="365"/>
                  </a:lnTo>
                  <a:lnTo>
                    <a:pt x="838" y="373"/>
                  </a:lnTo>
                  <a:lnTo>
                    <a:pt x="844" y="380"/>
                  </a:lnTo>
                  <a:lnTo>
                    <a:pt x="857" y="390"/>
                  </a:lnTo>
                  <a:lnTo>
                    <a:pt x="871" y="392"/>
                  </a:lnTo>
                  <a:lnTo>
                    <a:pt x="882" y="386"/>
                  </a:lnTo>
                  <a:lnTo>
                    <a:pt x="894" y="373"/>
                  </a:lnTo>
                  <a:lnTo>
                    <a:pt x="902" y="355"/>
                  </a:lnTo>
                  <a:lnTo>
                    <a:pt x="902" y="340"/>
                  </a:lnTo>
                  <a:lnTo>
                    <a:pt x="902" y="329"/>
                  </a:lnTo>
                  <a:lnTo>
                    <a:pt x="890" y="315"/>
                  </a:lnTo>
                  <a:lnTo>
                    <a:pt x="879" y="300"/>
                  </a:lnTo>
                  <a:lnTo>
                    <a:pt x="867" y="284"/>
                  </a:lnTo>
                  <a:lnTo>
                    <a:pt x="867" y="269"/>
                  </a:lnTo>
                  <a:lnTo>
                    <a:pt x="865" y="254"/>
                  </a:lnTo>
                  <a:lnTo>
                    <a:pt x="867" y="236"/>
                  </a:lnTo>
                  <a:lnTo>
                    <a:pt x="877" y="227"/>
                  </a:lnTo>
                  <a:lnTo>
                    <a:pt x="877" y="215"/>
                  </a:lnTo>
                  <a:lnTo>
                    <a:pt x="869" y="202"/>
                  </a:lnTo>
                  <a:lnTo>
                    <a:pt x="875" y="187"/>
                  </a:lnTo>
                  <a:lnTo>
                    <a:pt x="863" y="175"/>
                  </a:lnTo>
                  <a:lnTo>
                    <a:pt x="871" y="162"/>
                  </a:lnTo>
                  <a:lnTo>
                    <a:pt x="867" y="160"/>
                  </a:lnTo>
                  <a:lnTo>
                    <a:pt x="854" y="158"/>
                  </a:lnTo>
                  <a:lnTo>
                    <a:pt x="840" y="164"/>
                  </a:lnTo>
                  <a:lnTo>
                    <a:pt x="827" y="175"/>
                  </a:lnTo>
                  <a:lnTo>
                    <a:pt x="819" y="189"/>
                  </a:lnTo>
                  <a:lnTo>
                    <a:pt x="802" y="198"/>
                  </a:lnTo>
                  <a:lnTo>
                    <a:pt x="783" y="198"/>
                  </a:lnTo>
                  <a:lnTo>
                    <a:pt x="773" y="187"/>
                  </a:lnTo>
                  <a:lnTo>
                    <a:pt x="756" y="200"/>
                  </a:lnTo>
                  <a:lnTo>
                    <a:pt x="742" y="196"/>
                  </a:lnTo>
                  <a:lnTo>
                    <a:pt x="725" y="187"/>
                  </a:lnTo>
                  <a:lnTo>
                    <a:pt x="710" y="167"/>
                  </a:lnTo>
                  <a:lnTo>
                    <a:pt x="696" y="160"/>
                  </a:lnTo>
                  <a:lnTo>
                    <a:pt x="694" y="175"/>
                  </a:lnTo>
                  <a:lnTo>
                    <a:pt x="692" y="194"/>
                  </a:lnTo>
                  <a:lnTo>
                    <a:pt x="675" y="192"/>
                  </a:lnTo>
                  <a:lnTo>
                    <a:pt x="664" y="179"/>
                  </a:lnTo>
                  <a:lnTo>
                    <a:pt x="648" y="173"/>
                  </a:lnTo>
                  <a:lnTo>
                    <a:pt x="646" y="154"/>
                  </a:lnTo>
                  <a:lnTo>
                    <a:pt x="629" y="150"/>
                  </a:lnTo>
                  <a:lnTo>
                    <a:pt x="612" y="152"/>
                  </a:lnTo>
                  <a:lnTo>
                    <a:pt x="597" y="160"/>
                  </a:lnTo>
                  <a:lnTo>
                    <a:pt x="589" y="175"/>
                  </a:lnTo>
                  <a:lnTo>
                    <a:pt x="572" y="164"/>
                  </a:lnTo>
                  <a:lnTo>
                    <a:pt x="575" y="142"/>
                  </a:lnTo>
                  <a:lnTo>
                    <a:pt x="577" y="119"/>
                  </a:lnTo>
                  <a:lnTo>
                    <a:pt x="568" y="104"/>
                  </a:lnTo>
                  <a:lnTo>
                    <a:pt x="556" y="93"/>
                  </a:lnTo>
                  <a:lnTo>
                    <a:pt x="554" y="68"/>
                  </a:lnTo>
                  <a:lnTo>
                    <a:pt x="541" y="77"/>
                  </a:lnTo>
                  <a:lnTo>
                    <a:pt x="516" y="87"/>
                  </a:lnTo>
                  <a:lnTo>
                    <a:pt x="514" y="102"/>
                  </a:lnTo>
                  <a:lnTo>
                    <a:pt x="501" y="123"/>
                  </a:lnTo>
                  <a:lnTo>
                    <a:pt x="495" y="110"/>
                  </a:lnTo>
                  <a:lnTo>
                    <a:pt x="495" y="79"/>
                  </a:lnTo>
                  <a:lnTo>
                    <a:pt x="487" y="54"/>
                  </a:lnTo>
                  <a:lnTo>
                    <a:pt x="474" y="39"/>
                  </a:lnTo>
                  <a:lnTo>
                    <a:pt x="472" y="27"/>
                  </a:lnTo>
                  <a:lnTo>
                    <a:pt x="455" y="20"/>
                  </a:lnTo>
                  <a:lnTo>
                    <a:pt x="437" y="14"/>
                  </a:lnTo>
                  <a:lnTo>
                    <a:pt x="420" y="0"/>
                  </a:lnTo>
                  <a:lnTo>
                    <a:pt x="407" y="12"/>
                  </a:lnTo>
                  <a:lnTo>
                    <a:pt x="395" y="29"/>
                  </a:lnTo>
                  <a:lnTo>
                    <a:pt x="380" y="37"/>
                  </a:lnTo>
                  <a:lnTo>
                    <a:pt x="372" y="58"/>
                  </a:lnTo>
                  <a:lnTo>
                    <a:pt x="355" y="71"/>
                  </a:lnTo>
                  <a:lnTo>
                    <a:pt x="347" y="71"/>
                  </a:lnTo>
                  <a:lnTo>
                    <a:pt x="347" y="66"/>
                  </a:lnTo>
                  <a:lnTo>
                    <a:pt x="349" y="85"/>
                  </a:lnTo>
                  <a:lnTo>
                    <a:pt x="338" y="137"/>
                  </a:lnTo>
                  <a:lnTo>
                    <a:pt x="328" y="167"/>
                  </a:lnTo>
                  <a:lnTo>
                    <a:pt x="316" y="202"/>
                  </a:lnTo>
                  <a:lnTo>
                    <a:pt x="299" y="227"/>
                  </a:lnTo>
                  <a:lnTo>
                    <a:pt x="299" y="256"/>
                  </a:lnTo>
                  <a:lnTo>
                    <a:pt x="293" y="275"/>
                  </a:lnTo>
                  <a:lnTo>
                    <a:pt x="293" y="300"/>
                  </a:lnTo>
                  <a:lnTo>
                    <a:pt x="295" y="321"/>
                  </a:lnTo>
                  <a:lnTo>
                    <a:pt x="295" y="336"/>
                  </a:lnTo>
                  <a:lnTo>
                    <a:pt x="278" y="338"/>
                  </a:lnTo>
                  <a:lnTo>
                    <a:pt x="265" y="348"/>
                  </a:lnTo>
                  <a:lnTo>
                    <a:pt x="265" y="365"/>
                  </a:lnTo>
                  <a:lnTo>
                    <a:pt x="238" y="365"/>
                  </a:lnTo>
                  <a:lnTo>
                    <a:pt x="213" y="379"/>
                  </a:lnTo>
                  <a:lnTo>
                    <a:pt x="199" y="400"/>
                  </a:lnTo>
                  <a:lnTo>
                    <a:pt x="194" y="428"/>
                  </a:lnTo>
                  <a:lnTo>
                    <a:pt x="182" y="450"/>
                  </a:lnTo>
                  <a:lnTo>
                    <a:pt x="163" y="465"/>
                  </a:lnTo>
                  <a:lnTo>
                    <a:pt x="148" y="469"/>
                  </a:lnTo>
                  <a:lnTo>
                    <a:pt x="126" y="474"/>
                  </a:lnTo>
                  <a:lnTo>
                    <a:pt x="111" y="490"/>
                  </a:lnTo>
                  <a:lnTo>
                    <a:pt x="92" y="513"/>
                  </a:lnTo>
                  <a:lnTo>
                    <a:pt x="90" y="536"/>
                  </a:lnTo>
                  <a:lnTo>
                    <a:pt x="90" y="555"/>
                  </a:lnTo>
                  <a:lnTo>
                    <a:pt x="73" y="557"/>
                  </a:lnTo>
                  <a:lnTo>
                    <a:pt x="63" y="576"/>
                  </a:lnTo>
                  <a:lnTo>
                    <a:pt x="44" y="593"/>
                  </a:lnTo>
                  <a:lnTo>
                    <a:pt x="38" y="613"/>
                  </a:lnTo>
                  <a:lnTo>
                    <a:pt x="23" y="613"/>
                  </a:lnTo>
                  <a:lnTo>
                    <a:pt x="11" y="626"/>
                  </a:lnTo>
                  <a:lnTo>
                    <a:pt x="6" y="647"/>
                  </a:lnTo>
                  <a:lnTo>
                    <a:pt x="0" y="663"/>
                  </a:lnTo>
                  <a:lnTo>
                    <a:pt x="0" y="682"/>
                  </a:lnTo>
                  <a:lnTo>
                    <a:pt x="6" y="707"/>
                  </a:lnTo>
                  <a:lnTo>
                    <a:pt x="4" y="722"/>
                  </a:lnTo>
                  <a:lnTo>
                    <a:pt x="6" y="726"/>
                  </a:lnTo>
                  <a:lnTo>
                    <a:pt x="11" y="735"/>
                  </a:lnTo>
                  <a:lnTo>
                    <a:pt x="11" y="757"/>
                  </a:lnTo>
                  <a:lnTo>
                    <a:pt x="36" y="760"/>
                  </a:lnTo>
                  <a:lnTo>
                    <a:pt x="57" y="768"/>
                  </a:lnTo>
                  <a:lnTo>
                    <a:pt x="54" y="783"/>
                  </a:lnTo>
                  <a:lnTo>
                    <a:pt x="38" y="795"/>
                  </a:lnTo>
                  <a:lnTo>
                    <a:pt x="40" y="814"/>
                  </a:lnTo>
                  <a:lnTo>
                    <a:pt x="63" y="814"/>
                  </a:lnTo>
                  <a:lnTo>
                    <a:pt x="75" y="822"/>
                  </a:lnTo>
                  <a:lnTo>
                    <a:pt x="105" y="831"/>
                  </a:lnTo>
                  <a:lnTo>
                    <a:pt x="130" y="853"/>
                  </a:lnTo>
                  <a:lnTo>
                    <a:pt x="144" y="864"/>
                  </a:lnTo>
                  <a:lnTo>
                    <a:pt x="169" y="889"/>
                  </a:lnTo>
                  <a:lnTo>
                    <a:pt x="194" y="899"/>
                  </a:lnTo>
                  <a:lnTo>
                    <a:pt x="228" y="916"/>
                  </a:lnTo>
                  <a:lnTo>
                    <a:pt x="245" y="924"/>
                  </a:lnTo>
                  <a:lnTo>
                    <a:pt x="261" y="941"/>
                  </a:lnTo>
                  <a:lnTo>
                    <a:pt x="272" y="935"/>
                  </a:lnTo>
                  <a:lnTo>
                    <a:pt x="282" y="927"/>
                  </a:lnTo>
                  <a:lnTo>
                    <a:pt x="286" y="908"/>
                  </a:lnTo>
                  <a:lnTo>
                    <a:pt x="295" y="897"/>
                  </a:lnTo>
                  <a:lnTo>
                    <a:pt x="315" y="881"/>
                  </a:lnTo>
                  <a:lnTo>
                    <a:pt x="330" y="866"/>
                  </a:lnTo>
                  <a:lnTo>
                    <a:pt x="345" y="854"/>
                  </a:lnTo>
                  <a:lnTo>
                    <a:pt x="357" y="841"/>
                  </a:lnTo>
                  <a:lnTo>
                    <a:pt x="370" y="831"/>
                  </a:lnTo>
                  <a:close/>
                </a:path>
              </a:pathLst>
            </a:custGeom>
            <a:solidFill>
              <a:srgbClr val="FFCCCD"/>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3" name="Freeform 28">
              <a:extLst>
                <a:ext uri="{FF2B5EF4-FFF2-40B4-BE49-F238E27FC236}">
                  <a16:creationId xmlns:a16="http://schemas.microsoft.com/office/drawing/2014/main" id="{F5548BB8-3688-4524-0B47-C7E0F99FE4FB}"/>
                </a:ext>
              </a:extLst>
            </p:cNvPr>
            <p:cNvSpPr>
              <a:spLocks noChangeAspect="1"/>
            </p:cNvSpPr>
            <p:nvPr/>
          </p:nvSpPr>
          <p:spPr bwMode="auto">
            <a:xfrm>
              <a:off x="7274811" y="3915768"/>
              <a:ext cx="1102451" cy="882123"/>
            </a:xfrm>
            <a:custGeom>
              <a:avLst/>
              <a:gdLst/>
              <a:ahLst/>
              <a:cxnLst>
                <a:cxn ang="0">
                  <a:pos x="735" y="1003"/>
                </a:cxn>
                <a:cxn ang="0">
                  <a:pos x="785" y="988"/>
                </a:cxn>
                <a:cxn ang="0">
                  <a:pos x="833" y="998"/>
                </a:cxn>
                <a:cxn ang="0">
                  <a:pos x="871" y="994"/>
                </a:cxn>
                <a:cxn ang="0">
                  <a:pos x="919" y="986"/>
                </a:cxn>
                <a:cxn ang="0">
                  <a:pos x="965" y="955"/>
                </a:cxn>
                <a:cxn ang="0">
                  <a:pos x="1002" y="927"/>
                </a:cxn>
                <a:cxn ang="0">
                  <a:pos x="1023" y="877"/>
                </a:cxn>
                <a:cxn ang="0">
                  <a:pos x="1065" y="850"/>
                </a:cxn>
                <a:cxn ang="0">
                  <a:pos x="1069" y="800"/>
                </a:cxn>
                <a:cxn ang="0">
                  <a:pos x="1130" y="765"/>
                </a:cxn>
                <a:cxn ang="0">
                  <a:pos x="1184" y="714"/>
                </a:cxn>
                <a:cxn ang="0">
                  <a:pos x="1188" y="658"/>
                </a:cxn>
                <a:cxn ang="0">
                  <a:pos x="1192" y="598"/>
                </a:cxn>
                <a:cxn ang="0">
                  <a:pos x="1176" y="554"/>
                </a:cxn>
                <a:cxn ang="0">
                  <a:pos x="1205" y="514"/>
                </a:cxn>
                <a:cxn ang="0">
                  <a:pos x="1276" y="512"/>
                </a:cxn>
                <a:cxn ang="0">
                  <a:pos x="1263" y="468"/>
                </a:cxn>
                <a:cxn ang="0">
                  <a:pos x="1253" y="397"/>
                </a:cxn>
                <a:cxn ang="0">
                  <a:pos x="1288" y="345"/>
                </a:cxn>
                <a:cxn ang="0">
                  <a:pos x="1349" y="293"/>
                </a:cxn>
                <a:cxn ang="0">
                  <a:pos x="1305" y="232"/>
                </a:cxn>
                <a:cxn ang="0">
                  <a:pos x="1218" y="222"/>
                </a:cxn>
                <a:cxn ang="0">
                  <a:pos x="1163" y="182"/>
                </a:cxn>
                <a:cxn ang="0">
                  <a:pos x="1117" y="140"/>
                </a:cxn>
                <a:cxn ang="0">
                  <a:pos x="1057" y="113"/>
                </a:cxn>
                <a:cxn ang="0">
                  <a:pos x="1015" y="86"/>
                </a:cxn>
                <a:cxn ang="0">
                  <a:pos x="888" y="53"/>
                </a:cxn>
                <a:cxn ang="0">
                  <a:pos x="810" y="5"/>
                </a:cxn>
                <a:cxn ang="0">
                  <a:pos x="735" y="42"/>
                </a:cxn>
                <a:cxn ang="0">
                  <a:pos x="658" y="90"/>
                </a:cxn>
                <a:cxn ang="0">
                  <a:pos x="618" y="63"/>
                </a:cxn>
                <a:cxn ang="0">
                  <a:pos x="570" y="51"/>
                </a:cxn>
                <a:cxn ang="0">
                  <a:pos x="543" y="94"/>
                </a:cxn>
                <a:cxn ang="0">
                  <a:pos x="503" y="192"/>
                </a:cxn>
                <a:cxn ang="0">
                  <a:pos x="457" y="270"/>
                </a:cxn>
                <a:cxn ang="0">
                  <a:pos x="428" y="347"/>
                </a:cxn>
                <a:cxn ang="0">
                  <a:pos x="434" y="430"/>
                </a:cxn>
                <a:cxn ang="0">
                  <a:pos x="403" y="483"/>
                </a:cxn>
                <a:cxn ang="0">
                  <a:pos x="334" y="483"/>
                </a:cxn>
                <a:cxn ang="0">
                  <a:pos x="223" y="499"/>
                </a:cxn>
                <a:cxn ang="0">
                  <a:pos x="117" y="502"/>
                </a:cxn>
                <a:cxn ang="0">
                  <a:pos x="42" y="568"/>
                </a:cxn>
                <a:cxn ang="0">
                  <a:pos x="0" y="625"/>
                </a:cxn>
                <a:cxn ang="0">
                  <a:pos x="48" y="652"/>
                </a:cxn>
                <a:cxn ang="0">
                  <a:pos x="106" y="666"/>
                </a:cxn>
                <a:cxn ang="0">
                  <a:pos x="167" y="671"/>
                </a:cxn>
                <a:cxn ang="0">
                  <a:pos x="200" y="698"/>
                </a:cxn>
                <a:cxn ang="0">
                  <a:pos x="273" y="704"/>
                </a:cxn>
                <a:cxn ang="0">
                  <a:pos x="351" y="706"/>
                </a:cxn>
                <a:cxn ang="0">
                  <a:pos x="405" y="692"/>
                </a:cxn>
                <a:cxn ang="0">
                  <a:pos x="451" y="742"/>
                </a:cxn>
                <a:cxn ang="0">
                  <a:pos x="449" y="810"/>
                </a:cxn>
                <a:cxn ang="0">
                  <a:pos x="472" y="846"/>
                </a:cxn>
                <a:cxn ang="0">
                  <a:pos x="528" y="871"/>
                </a:cxn>
                <a:cxn ang="0">
                  <a:pos x="505" y="925"/>
                </a:cxn>
                <a:cxn ang="0">
                  <a:pos x="518" y="1007"/>
                </a:cxn>
                <a:cxn ang="0">
                  <a:pos x="524" y="1044"/>
                </a:cxn>
                <a:cxn ang="0">
                  <a:pos x="580" y="1074"/>
                </a:cxn>
                <a:cxn ang="0">
                  <a:pos x="647" y="1044"/>
                </a:cxn>
              </a:cxnLst>
              <a:rect l="0" t="0" r="r" b="b"/>
              <a:pathLst>
                <a:path w="1349" h="1080">
                  <a:moveTo>
                    <a:pt x="698" y="1021"/>
                  </a:moveTo>
                  <a:lnTo>
                    <a:pt x="704" y="1015"/>
                  </a:lnTo>
                  <a:lnTo>
                    <a:pt x="716" y="1011"/>
                  </a:lnTo>
                  <a:lnTo>
                    <a:pt x="723" y="1003"/>
                  </a:lnTo>
                  <a:lnTo>
                    <a:pt x="735" y="1003"/>
                  </a:lnTo>
                  <a:lnTo>
                    <a:pt x="746" y="1003"/>
                  </a:lnTo>
                  <a:lnTo>
                    <a:pt x="760" y="1001"/>
                  </a:lnTo>
                  <a:lnTo>
                    <a:pt x="771" y="998"/>
                  </a:lnTo>
                  <a:lnTo>
                    <a:pt x="779" y="994"/>
                  </a:lnTo>
                  <a:lnTo>
                    <a:pt x="785" y="988"/>
                  </a:lnTo>
                  <a:lnTo>
                    <a:pt x="800" y="988"/>
                  </a:lnTo>
                  <a:lnTo>
                    <a:pt x="810" y="990"/>
                  </a:lnTo>
                  <a:lnTo>
                    <a:pt x="817" y="996"/>
                  </a:lnTo>
                  <a:lnTo>
                    <a:pt x="827" y="998"/>
                  </a:lnTo>
                  <a:lnTo>
                    <a:pt x="833" y="998"/>
                  </a:lnTo>
                  <a:lnTo>
                    <a:pt x="833" y="986"/>
                  </a:lnTo>
                  <a:lnTo>
                    <a:pt x="844" y="986"/>
                  </a:lnTo>
                  <a:lnTo>
                    <a:pt x="854" y="984"/>
                  </a:lnTo>
                  <a:lnTo>
                    <a:pt x="865" y="988"/>
                  </a:lnTo>
                  <a:lnTo>
                    <a:pt x="871" y="994"/>
                  </a:lnTo>
                  <a:lnTo>
                    <a:pt x="883" y="996"/>
                  </a:lnTo>
                  <a:lnTo>
                    <a:pt x="898" y="994"/>
                  </a:lnTo>
                  <a:lnTo>
                    <a:pt x="898" y="986"/>
                  </a:lnTo>
                  <a:lnTo>
                    <a:pt x="910" y="986"/>
                  </a:lnTo>
                  <a:lnTo>
                    <a:pt x="919" y="986"/>
                  </a:lnTo>
                  <a:lnTo>
                    <a:pt x="931" y="978"/>
                  </a:lnTo>
                  <a:lnTo>
                    <a:pt x="944" y="976"/>
                  </a:lnTo>
                  <a:lnTo>
                    <a:pt x="946" y="967"/>
                  </a:lnTo>
                  <a:lnTo>
                    <a:pt x="954" y="963"/>
                  </a:lnTo>
                  <a:lnTo>
                    <a:pt x="965" y="955"/>
                  </a:lnTo>
                  <a:lnTo>
                    <a:pt x="973" y="953"/>
                  </a:lnTo>
                  <a:lnTo>
                    <a:pt x="986" y="953"/>
                  </a:lnTo>
                  <a:lnTo>
                    <a:pt x="998" y="950"/>
                  </a:lnTo>
                  <a:lnTo>
                    <a:pt x="998" y="938"/>
                  </a:lnTo>
                  <a:lnTo>
                    <a:pt x="1002" y="927"/>
                  </a:lnTo>
                  <a:lnTo>
                    <a:pt x="1009" y="921"/>
                  </a:lnTo>
                  <a:lnTo>
                    <a:pt x="1011" y="909"/>
                  </a:lnTo>
                  <a:lnTo>
                    <a:pt x="1015" y="900"/>
                  </a:lnTo>
                  <a:lnTo>
                    <a:pt x="1023" y="894"/>
                  </a:lnTo>
                  <a:lnTo>
                    <a:pt x="1023" y="877"/>
                  </a:lnTo>
                  <a:lnTo>
                    <a:pt x="1030" y="871"/>
                  </a:lnTo>
                  <a:lnTo>
                    <a:pt x="1038" y="863"/>
                  </a:lnTo>
                  <a:lnTo>
                    <a:pt x="1046" y="856"/>
                  </a:lnTo>
                  <a:lnTo>
                    <a:pt x="1055" y="848"/>
                  </a:lnTo>
                  <a:lnTo>
                    <a:pt x="1065" y="850"/>
                  </a:lnTo>
                  <a:lnTo>
                    <a:pt x="1057" y="848"/>
                  </a:lnTo>
                  <a:lnTo>
                    <a:pt x="1059" y="844"/>
                  </a:lnTo>
                  <a:lnTo>
                    <a:pt x="1063" y="829"/>
                  </a:lnTo>
                  <a:lnTo>
                    <a:pt x="1069" y="815"/>
                  </a:lnTo>
                  <a:lnTo>
                    <a:pt x="1069" y="800"/>
                  </a:lnTo>
                  <a:lnTo>
                    <a:pt x="1078" y="790"/>
                  </a:lnTo>
                  <a:lnTo>
                    <a:pt x="1086" y="781"/>
                  </a:lnTo>
                  <a:lnTo>
                    <a:pt x="1103" y="781"/>
                  </a:lnTo>
                  <a:lnTo>
                    <a:pt x="1119" y="777"/>
                  </a:lnTo>
                  <a:lnTo>
                    <a:pt x="1130" y="765"/>
                  </a:lnTo>
                  <a:lnTo>
                    <a:pt x="1142" y="752"/>
                  </a:lnTo>
                  <a:lnTo>
                    <a:pt x="1149" y="740"/>
                  </a:lnTo>
                  <a:lnTo>
                    <a:pt x="1161" y="727"/>
                  </a:lnTo>
                  <a:lnTo>
                    <a:pt x="1178" y="727"/>
                  </a:lnTo>
                  <a:lnTo>
                    <a:pt x="1184" y="714"/>
                  </a:lnTo>
                  <a:lnTo>
                    <a:pt x="1184" y="702"/>
                  </a:lnTo>
                  <a:lnTo>
                    <a:pt x="1197" y="696"/>
                  </a:lnTo>
                  <a:lnTo>
                    <a:pt x="1197" y="679"/>
                  </a:lnTo>
                  <a:lnTo>
                    <a:pt x="1190" y="667"/>
                  </a:lnTo>
                  <a:lnTo>
                    <a:pt x="1188" y="658"/>
                  </a:lnTo>
                  <a:lnTo>
                    <a:pt x="1172" y="646"/>
                  </a:lnTo>
                  <a:lnTo>
                    <a:pt x="1174" y="633"/>
                  </a:lnTo>
                  <a:lnTo>
                    <a:pt x="1182" y="623"/>
                  </a:lnTo>
                  <a:lnTo>
                    <a:pt x="1192" y="620"/>
                  </a:lnTo>
                  <a:lnTo>
                    <a:pt x="1192" y="598"/>
                  </a:lnTo>
                  <a:lnTo>
                    <a:pt x="1180" y="591"/>
                  </a:lnTo>
                  <a:lnTo>
                    <a:pt x="1180" y="579"/>
                  </a:lnTo>
                  <a:lnTo>
                    <a:pt x="1167" y="573"/>
                  </a:lnTo>
                  <a:lnTo>
                    <a:pt x="1167" y="560"/>
                  </a:lnTo>
                  <a:lnTo>
                    <a:pt x="1176" y="554"/>
                  </a:lnTo>
                  <a:lnTo>
                    <a:pt x="1176" y="539"/>
                  </a:lnTo>
                  <a:lnTo>
                    <a:pt x="1188" y="531"/>
                  </a:lnTo>
                  <a:lnTo>
                    <a:pt x="1199" y="531"/>
                  </a:lnTo>
                  <a:lnTo>
                    <a:pt x="1199" y="520"/>
                  </a:lnTo>
                  <a:lnTo>
                    <a:pt x="1205" y="514"/>
                  </a:lnTo>
                  <a:lnTo>
                    <a:pt x="1226" y="514"/>
                  </a:lnTo>
                  <a:lnTo>
                    <a:pt x="1249" y="516"/>
                  </a:lnTo>
                  <a:lnTo>
                    <a:pt x="1268" y="510"/>
                  </a:lnTo>
                  <a:lnTo>
                    <a:pt x="1282" y="514"/>
                  </a:lnTo>
                  <a:lnTo>
                    <a:pt x="1276" y="512"/>
                  </a:lnTo>
                  <a:lnTo>
                    <a:pt x="1282" y="508"/>
                  </a:lnTo>
                  <a:lnTo>
                    <a:pt x="1284" y="497"/>
                  </a:lnTo>
                  <a:lnTo>
                    <a:pt x="1282" y="481"/>
                  </a:lnTo>
                  <a:lnTo>
                    <a:pt x="1270" y="479"/>
                  </a:lnTo>
                  <a:lnTo>
                    <a:pt x="1263" y="468"/>
                  </a:lnTo>
                  <a:lnTo>
                    <a:pt x="1263" y="454"/>
                  </a:lnTo>
                  <a:lnTo>
                    <a:pt x="1245" y="449"/>
                  </a:lnTo>
                  <a:lnTo>
                    <a:pt x="1243" y="430"/>
                  </a:lnTo>
                  <a:lnTo>
                    <a:pt x="1245" y="412"/>
                  </a:lnTo>
                  <a:lnTo>
                    <a:pt x="1253" y="397"/>
                  </a:lnTo>
                  <a:lnTo>
                    <a:pt x="1253" y="385"/>
                  </a:lnTo>
                  <a:lnTo>
                    <a:pt x="1266" y="387"/>
                  </a:lnTo>
                  <a:lnTo>
                    <a:pt x="1289" y="387"/>
                  </a:lnTo>
                  <a:lnTo>
                    <a:pt x="1286" y="372"/>
                  </a:lnTo>
                  <a:lnTo>
                    <a:pt x="1288" y="345"/>
                  </a:lnTo>
                  <a:lnTo>
                    <a:pt x="1307" y="345"/>
                  </a:lnTo>
                  <a:lnTo>
                    <a:pt x="1316" y="328"/>
                  </a:lnTo>
                  <a:lnTo>
                    <a:pt x="1322" y="316"/>
                  </a:lnTo>
                  <a:lnTo>
                    <a:pt x="1335" y="305"/>
                  </a:lnTo>
                  <a:lnTo>
                    <a:pt x="1349" y="293"/>
                  </a:lnTo>
                  <a:lnTo>
                    <a:pt x="1349" y="272"/>
                  </a:lnTo>
                  <a:lnTo>
                    <a:pt x="1339" y="268"/>
                  </a:lnTo>
                  <a:lnTo>
                    <a:pt x="1320" y="259"/>
                  </a:lnTo>
                  <a:lnTo>
                    <a:pt x="1305" y="243"/>
                  </a:lnTo>
                  <a:lnTo>
                    <a:pt x="1305" y="232"/>
                  </a:lnTo>
                  <a:lnTo>
                    <a:pt x="1282" y="232"/>
                  </a:lnTo>
                  <a:lnTo>
                    <a:pt x="1261" y="236"/>
                  </a:lnTo>
                  <a:lnTo>
                    <a:pt x="1249" y="226"/>
                  </a:lnTo>
                  <a:lnTo>
                    <a:pt x="1236" y="216"/>
                  </a:lnTo>
                  <a:lnTo>
                    <a:pt x="1218" y="222"/>
                  </a:lnTo>
                  <a:lnTo>
                    <a:pt x="1199" y="222"/>
                  </a:lnTo>
                  <a:lnTo>
                    <a:pt x="1186" y="222"/>
                  </a:lnTo>
                  <a:lnTo>
                    <a:pt x="1182" y="209"/>
                  </a:lnTo>
                  <a:lnTo>
                    <a:pt x="1176" y="193"/>
                  </a:lnTo>
                  <a:lnTo>
                    <a:pt x="1163" y="182"/>
                  </a:lnTo>
                  <a:lnTo>
                    <a:pt x="1159" y="167"/>
                  </a:lnTo>
                  <a:lnTo>
                    <a:pt x="1147" y="161"/>
                  </a:lnTo>
                  <a:lnTo>
                    <a:pt x="1146" y="151"/>
                  </a:lnTo>
                  <a:lnTo>
                    <a:pt x="1132" y="138"/>
                  </a:lnTo>
                  <a:lnTo>
                    <a:pt x="1117" y="140"/>
                  </a:lnTo>
                  <a:lnTo>
                    <a:pt x="1103" y="142"/>
                  </a:lnTo>
                  <a:lnTo>
                    <a:pt x="1088" y="130"/>
                  </a:lnTo>
                  <a:lnTo>
                    <a:pt x="1076" y="132"/>
                  </a:lnTo>
                  <a:lnTo>
                    <a:pt x="1063" y="126"/>
                  </a:lnTo>
                  <a:lnTo>
                    <a:pt x="1057" y="113"/>
                  </a:lnTo>
                  <a:lnTo>
                    <a:pt x="1048" y="111"/>
                  </a:lnTo>
                  <a:lnTo>
                    <a:pt x="1048" y="101"/>
                  </a:lnTo>
                  <a:lnTo>
                    <a:pt x="1038" y="96"/>
                  </a:lnTo>
                  <a:lnTo>
                    <a:pt x="1027" y="94"/>
                  </a:lnTo>
                  <a:lnTo>
                    <a:pt x="1015" y="86"/>
                  </a:lnTo>
                  <a:lnTo>
                    <a:pt x="1007" y="78"/>
                  </a:lnTo>
                  <a:lnTo>
                    <a:pt x="1007" y="69"/>
                  </a:lnTo>
                  <a:lnTo>
                    <a:pt x="981" y="69"/>
                  </a:lnTo>
                  <a:lnTo>
                    <a:pt x="890" y="69"/>
                  </a:lnTo>
                  <a:lnTo>
                    <a:pt x="888" y="53"/>
                  </a:lnTo>
                  <a:lnTo>
                    <a:pt x="890" y="32"/>
                  </a:lnTo>
                  <a:lnTo>
                    <a:pt x="898" y="17"/>
                  </a:lnTo>
                  <a:lnTo>
                    <a:pt x="902" y="5"/>
                  </a:lnTo>
                  <a:lnTo>
                    <a:pt x="823" y="0"/>
                  </a:lnTo>
                  <a:lnTo>
                    <a:pt x="810" y="5"/>
                  </a:lnTo>
                  <a:lnTo>
                    <a:pt x="796" y="5"/>
                  </a:lnTo>
                  <a:lnTo>
                    <a:pt x="785" y="15"/>
                  </a:lnTo>
                  <a:lnTo>
                    <a:pt x="783" y="25"/>
                  </a:lnTo>
                  <a:lnTo>
                    <a:pt x="760" y="38"/>
                  </a:lnTo>
                  <a:lnTo>
                    <a:pt x="735" y="42"/>
                  </a:lnTo>
                  <a:lnTo>
                    <a:pt x="727" y="51"/>
                  </a:lnTo>
                  <a:lnTo>
                    <a:pt x="708" y="57"/>
                  </a:lnTo>
                  <a:lnTo>
                    <a:pt x="695" y="76"/>
                  </a:lnTo>
                  <a:lnTo>
                    <a:pt x="674" y="82"/>
                  </a:lnTo>
                  <a:lnTo>
                    <a:pt x="658" y="90"/>
                  </a:lnTo>
                  <a:lnTo>
                    <a:pt x="639" y="94"/>
                  </a:lnTo>
                  <a:lnTo>
                    <a:pt x="624" y="94"/>
                  </a:lnTo>
                  <a:lnTo>
                    <a:pt x="616" y="80"/>
                  </a:lnTo>
                  <a:lnTo>
                    <a:pt x="616" y="63"/>
                  </a:lnTo>
                  <a:lnTo>
                    <a:pt x="618" y="63"/>
                  </a:lnTo>
                  <a:lnTo>
                    <a:pt x="604" y="61"/>
                  </a:lnTo>
                  <a:lnTo>
                    <a:pt x="591" y="51"/>
                  </a:lnTo>
                  <a:lnTo>
                    <a:pt x="585" y="44"/>
                  </a:lnTo>
                  <a:lnTo>
                    <a:pt x="576" y="36"/>
                  </a:lnTo>
                  <a:lnTo>
                    <a:pt x="570" y="51"/>
                  </a:lnTo>
                  <a:lnTo>
                    <a:pt x="566" y="69"/>
                  </a:lnTo>
                  <a:lnTo>
                    <a:pt x="549" y="71"/>
                  </a:lnTo>
                  <a:lnTo>
                    <a:pt x="533" y="69"/>
                  </a:lnTo>
                  <a:lnTo>
                    <a:pt x="532" y="82"/>
                  </a:lnTo>
                  <a:lnTo>
                    <a:pt x="543" y="94"/>
                  </a:lnTo>
                  <a:lnTo>
                    <a:pt x="535" y="107"/>
                  </a:lnTo>
                  <a:lnTo>
                    <a:pt x="532" y="159"/>
                  </a:lnTo>
                  <a:lnTo>
                    <a:pt x="541" y="172"/>
                  </a:lnTo>
                  <a:lnTo>
                    <a:pt x="522" y="186"/>
                  </a:lnTo>
                  <a:lnTo>
                    <a:pt x="503" y="192"/>
                  </a:lnTo>
                  <a:lnTo>
                    <a:pt x="487" y="207"/>
                  </a:lnTo>
                  <a:lnTo>
                    <a:pt x="468" y="209"/>
                  </a:lnTo>
                  <a:lnTo>
                    <a:pt x="455" y="232"/>
                  </a:lnTo>
                  <a:lnTo>
                    <a:pt x="451" y="251"/>
                  </a:lnTo>
                  <a:lnTo>
                    <a:pt x="457" y="270"/>
                  </a:lnTo>
                  <a:lnTo>
                    <a:pt x="464" y="287"/>
                  </a:lnTo>
                  <a:lnTo>
                    <a:pt x="464" y="307"/>
                  </a:lnTo>
                  <a:lnTo>
                    <a:pt x="457" y="324"/>
                  </a:lnTo>
                  <a:lnTo>
                    <a:pt x="438" y="334"/>
                  </a:lnTo>
                  <a:lnTo>
                    <a:pt x="428" y="347"/>
                  </a:lnTo>
                  <a:lnTo>
                    <a:pt x="428" y="370"/>
                  </a:lnTo>
                  <a:lnTo>
                    <a:pt x="445" y="382"/>
                  </a:lnTo>
                  <a:lnTo>
                    <a:pt x="453" y="395"/>
                  </a:lnTo>
                  <a:lnTo>
                    <a:pt x="438" y="414"/>
                  </a:lnTo>
                  <a:lnTo>
                    <a:pt x="434" y="430"/>
                  </a:lnTo>
                  <a:lnTo>
                    <a:pt x="445" y="439"/>
                  </a:lnTo>
                  <a:lnTo>
                    <a:pt x="447" y="453"/>
                  </a:lnTo>
                  <a:lnTo>
                    <a:pt x="436" y="462"/>
                  </a:lnTo>
                  <a:lnTo>
                    <a:pt x="416" y="474"/>
                  </a:lnTo>
                  <a:lnTo>
                    <a:pt x="403" y="483"/>
                  </a:lnTo>
                  <a:lnTo>
                    <a:pt x="384" y="483"/>
                  </a:lnTo>
                  <a:lnTo>
                    <a:pt x="378" y="499"/>
                  </a:lnTo>
                  <a:lnTo>
                    <a:pt x="359" y="499"/>
                  </a:lnTo>
                  <a:lnTo>
                    <a:pt x="347" y="491"/>
                  </a:lnTo>
                  <a:lnTo>
                    <a:pt x="334" y="483"/>
                  </a:lnTo>
                  <a:lnTo>
                    <a:pt x="299" y="483"/>
                  </a:lnTo>
                  <a:lnTo>
                    <a:pt x="274" y="483"/>
                  </a:lnTo>
                  <a:lnTo>
                    <a:pt x="261" y="479"/>
                  </a:lnTo>
                  <a:lnTo>
                    <a:pt x="242" y="489"/>
                  </a:lnTo>
                  <a:lnTo>
                    <a:pt x="223" y="499"/>
                  </a:lnTo>
                  <a:lnTo>
                    <a:pt x="202" y="501"/>
                  </a:lnTo>
                  <a:lnTo>
                    <a:pt x="184" y="497"/>
                  </a:lnTo>
                  <a:lnTo>
                    <a:pt x="159" y="501"/>
                  </a:lnTo>
                  <a:lnTo>
                    <a:pt x="140" y="501"/>
                  </a:lnTo>
                  <a:lnTo>
                    <a:pt x="117" y="502"/>
                  </a:lnTo>
                  <a:lnTo>
                    <a:pt x="104" y="512"/>
                  </a:lnTo>
                  <a:lnTo>
                    <a:pt x="92" y="525"/>
                  </a:lnTo>
                  <a:lnTo>
                    <a:pt x="77" y="537"/>
                  </a:lnTo>
                  <a:lnTo>
                    <a:pt x="62" y="552"/>
                  </a:lnTo>
                  <a:lnTo>
                    <a:pt x="42" y="568"/>
                  </a:lnTo>
                  <a:lnTo>
                    <a:pt x="33" y="579"/>
                  </a:lnTo>
                  <a:lnTo>
                    <a:pt x="29" y="598"/>
                  </a:lnTo>
                  <a:lnTo>
                    <a:pt x="19" y="606"/>
                  </a:lnTo>
                  <a:lnTo>
                    <a:pt x="8" y="612"/>
                  </a:lnTo>
                  <a:lnTo>
                    <a:pt x="0" y="625"/>
                  </a:lnTo>
                  <a:lnTo>
                    <a:pt x="0" y="644"/>
                  </a:lnTo>
                  <a:lnTo>
                    <a:pt x="2" y="666"/>
                  </a:lnTo>
                  <a:lnTo>
                    <a:pt x="14" y="662"/>
                  </a:lnTo>
                  <a:lnTo>
                    <a:pt x="33" y="654"/>
                  </a:lnTo>
                  <a:lnTo>
                    <a:pt x="48" y="652"/>
                  </a:lnTo>
                  <a:lnTo>
                    <a:pt x="52" y="652"/>
                  </a:lnTo>
                  <a:lnTo>
                    <a:pt x="63" y="656"/>
                  </a:lnTo>
                  <a:lnTo>
                    <a:pt x="81" y="662"/>
                  </a:lnTo>
                  <a:lnTo>
                    <a:pt x="98" y="658"/>
                  </a:lnTo>
                  <a:lnTo>
                    <a:pt x="106" y="666"/>
                  </a:lnTo>
                  <a:lnTo>
                    <a:pt x="117" y="669"/>
                  </a:lnTo>
                  <a:lnTo>
                    <a:pt x="134" y="669"/>
                  </a:lnTo>
                  <a:lnTo>
                    <a:pt x="142" y="666"/>
                  </a:lnTo>
                  <a:lnTo>
                    <a:pt x="152" y="662"/>
                  </a:lnTo>
                  <a:lnTo>
                    <a:pt x="167" y="671"/>
                  </a:lnTo>
                  <a:lnTo>
                    <a:pt x="175" y="666"/>
                  </a:lnTo>
                  <a:lnTo>
                    <a:pt x="190" y="673"/>
                  </a:lnTo>
                  <a:lnTo>
                    <a:pt x="202" y="677"/>
                  </a:lnTo>
                  <a:lnTo>
                    <a:pt x="202" y="689"/>
                  </a:lnTo>
                  <a:lnTo>
                    <a:pt x="200" y="698"/>
                  </a:lnTo>
                  <a:lnTo>
                    <a:pt x="205" y="712"/>
                  </a:lnTo>
                  <a:lnTo>
                    <a:pt x="225" y="715"/>
                  </a:lnTo>
                  <a:lnTo>
                    <a:pt x="244" y="712"/>
                  </a:lnTo>
                  <a:lnTo>
                    <a:pt x="257" y="708"/>
                  </a:lnTo>
                  <a:lnTo>
                    <a:pt x="273" y="704"/>
                  </a:lnTo>
                  <a:lnTo>
                    <a:pt x="286" y="702"/>
                  </a:lnTo>
                  <a:lnTo>
                    <a:pt x="301" y="708"/>
                  </a:lnTo>
                  <a:lnTo>
                    <a:pt x="319" y="712"/>
                  </a:lnTo>
                  <a:lnTo>
                    <a:pt x="336" y="706"/>
                  </a:lnTo>
                  <a:lnTo>
                    <a:pt x="351" y="706"/>
                  </a:lnTo>
                  <a:lnTo>
                    <a:pt x="361" y="706"/>
                  </a:lnTo>
                  <a:lnTo>
                    <a:pt x="374" y="706"/>
                  </a:lnTo>
                  <a:lnTo>
                    <a:pt x="380" y="698"/>
                  </a:lnTo>
                  <a:lnTo>
                    <a:pt x="392" y="692"/>
                  </a:lnTo>
                  <a:lnTo>
                    <a:pt x="405" y="692"/>
                  </a:lnTo>
                  <a:lnTo>
                    <a:pt x="413" y="698"/>
                  </a:lnTo>
                  <a:lnTo>
                    <a:pt x="424" y="710"/>
                  </a:lnTo>
                  <a:lnTo>
                    <a:pt x="439" y="714"/>
                  </a:lnTo>
                  <a:lnTo>
                    <a:pt x="439" y="727"/>
                  </a:lnTo>
                  <a:lnTo>
                    <a:pt x="451" y="742"/>
                  </a:lnTo>
                  <a:lnTo>
                    <a:pt x="459" y="752"/>
                  </a:lnTo>
                  <a:lnTo>
                    <a:pt x="466" y="765"/>
                  </a:lnTo>
                  <a:lnTo>
                    <a:pt x="468" y="779"/>
                  </a:lnTo>
                  <a:lnTo>
                    <a:pt x="459" y="794"/>
                  </a:lnTo>
                  <a:lnTo>
                    <a:pt x="449" y="810"/>
                  </a:lnTo>
                  <a:lnTo>
                    <a:pt x="449" y="819"/>
                  </a:lnTo>
                  <a:lnTo>
                    <a:pt x="455" y="821"/>
                  </a:lnTo>
                  <a:lnTo>
                    <a:pt x="468" y="831"/>
                  </a:lnTo>
                  <a:lnTo>
                    <a:pt x="464" y="840"/>
                  </a:lnTo>
                  <a:lnTo>
                    <a:pt x="472" y="846"/>
                  </a:lnTo>
                  <a:lnTo>
                    <a:pt x="478" y="856"/>
                  </a:lnTo>
                  <a:lnTo>
                    <a:pt x="486" y="865"/>
                  </a:lnTo>
                  <a:lnTo>
                    <a:pt x="497" y="865"/>
                  </a:lnTo>
                  <a:lnTo>
                    <a:pt x="512" y="861"/>
                  </a:lnTo>
                  <a:lnTo>
                    <a:pt x="528" y="871"/>
                  </a:lnTo>
                  <a:lnTo>
                    <a:pt x="528" y="884"/>
                  </a:lnTo>
                  <a:lnTo>
                    <a:pt x="528" y="894"/>
                  </a:lnTo>
                  <a:lnTo>
                    <a:pt x="514" y="894"/>
                  </a:lnTo>
                  <a:lnTo>
                    <a:pt x="503" y="904"/>
                  </a:lnTo>
                  <a:lnTo>
                    <a:pt x="505" y="925"/>
                  </a:lnTo>
                  <a:lnTo>
                    <a:pt x="503" y="953"/>
                  </a:lnTo>
                  <a:lnTo>
                    <a:pt x="503" y="967"/>
                  </a:lnTo>
                  <a:lnTo>
                    <a:pt x="509" y="978"/>
                  </a:lnTo>
                  <a:lnTo>
                    <a:pt x="509" y="992"/>
                  </a:lnTo>
                  <a:lnTo>
                    <a:pt x="518" y="1007"/>
                  </a:lnTo>
                  <a:lnTo>
                    <a:pt x="532" y="1015"/>
                  </a:lnTo>
                  <a:lnTo>
                    <a:pt x="535" y="1024"/>
                  </a:lnTo>
                  <a:lnTo>
                    <a:pt x="520" y="1032"/>
                  </a:lnTo>
                  <a:lnTo>
                    <a:pt x="514" y="1032"/>
                  </a:lnTo>
                  <a:lnTo>
                    <a:pt x="524" y="1044"/>
                  </a:lnTo>
                  <a:lnTo>
                    <a:pt x="524" y="1067"/>
                  </a:lnTo>
                  <a:lnTo>
                    <a:pt x="535" y="1071"/>
                  </a:lnTo>
                  <a:lnTo>
                    <a:pt x="549" y="1067"/>
                  </a:lnTo>
                  <a:lnTo>
                    <a:pt x="568" y="1080"/>
                  </a:lnTo>
                  <a:lnTo>
                    <a:pt x="580" y="1074"/>
                  </a:lnTo>
                  <a:lnTo>
                    <a:pt x="593" y="1069"/>
                  </a:lnTo>
                  <a:lnTo>
                    <a:pt x="601" y="1057"/>
                  </a:lnTo>
                  <a:lnTo>
                    <a:pt x="603" y="1044"/>
                  </a:lnTo>
                  <a:lnTo>
                    <a:pt x="633" y="1044"/>
                  </a:lnTo>
                  <a:lnTo>
                    <a:pt x="647" y="1044"/>
                  </a:lnTo>
                  <a:lnTo>
                    <a:pt x="656" y="1032"/>
                  </a:lnTo>
                  <a:lnTo>
                    <a:pt x="672" y="1024"/>
                  </a:lnTo>
                  <a:lnTo>
                    <a:pt x="687" y="1021"/>
                  </a:lnTo>
                  <a:lnTo>
                    <a:pt x="698" y="1021"/>
                  </a:lnTo>
                  <a:close/>
                </a:path>
              </a:pathLst>
            </a:custGeom>
            <a:solidFill>
              <a:schemeClr val="accent1">
                <a:lumMod val="20000"/>
                <a:lumOff val="80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5" name="Freeform 29">
              <a:extLst>
                <a:ext uri="{FF2B5EF4-FFF2-40B4-BE49-F238E27FC236}">
                  <a16:creationId xmlns:a16="http://schemas.microsoft.com/office/drawing/2014/main" id="{B90CDCD8-23B4-ACDD-A417-F40679BE85CF}"/>
                </a:ext>
              </a:extLst>
            </p:cNvPr>
            <p:cNvSpPr>
              <a:spLocks noChangeAspect="1"/>
            </p:cNvSpPr>
            <p:nvPr/>
          </p:nvSpPr>
          <p:spPr bwMode="auto">
            <a:xfrm>
              <a:off x="7057114" y="4448764"/>
              <a:ext cx="839352" cy="567910"/>
            </a:xfrm>
            <a:custGeom>
              <a:avLst/>
              <a:gdLst/>
              <a:ahLst/>
              <a:cxnLst>
                <a:cxn ang="0">
                  <a:pos x="164" y="156"/>
                </a:cxn>
                <a:cxn ang="0">
                  <a:pos x="133" y="209"/>
                </a:cxn>
                <a:cxn ang="0">
                  <a:pos x="75" y="275"/>
                </a:cxn>
                <a:cxn ang="0">
                  <a:pos x="0" y="326"/>
                </a:cxn>
                <a:cxn ang="0">
                  <a:pos x="29" y="321"/>
                </a:cxn>
                <a:cxn ang="0">
                  <a:pos x="102" y="323"/>
                </a:cxn>
                <a:cxn ang="0">
                  <a:pos x="137" y="328"/>
                </a:cxn>
                <a:cxn ang="0">
                  <a:pos x="198" y="334"/>
                </a:cxn>
                <a:cxn ang="0">
                  <a:pos x="261" y="374"/>
                </a:cxn>
                <a:cxn ang="0">
                  <a:pos x="325" y="388"/>
                </a:cxn>
                <a:cxn ang="0">
                  <a:pos x="384" y="415"/>
                </a:cxn>
                <a:cxn ang="0">
                  <a:pos x="403" y="476"/>
                </a:cxn>
                <a:cxn ang="0">
                  <a:pos x="401" y="536"/>
                </a:cxn>
                <a:cxn ang="0">
                  <a:pos x="424" y="541"/>
                </a:cxn>
                <a:cxn ang="0">
                  <a:pos x="430" y="591"/>
                </a:cxn>
                <a:cxn ang="0">
                  <a:pos x="476" y="609"/>
                </a:cxn>
                <a:cxn ang="0">
                  <a:pos x="517" y="635"/>
                </a:cxn>
                <a:cxn ang="0">
                  <a:pos x="555" y="676"/>
                </a:cxn>
                <a:cxn ang="0">
                  <a:pos x="576" y="676"/>
                </a:cxn>
                <a:cxn ang="0">
                  <a:pos x="616" y="637"/>
                </a:cxn>
                <a:cxn ang="0">
                  <a:pos x="676" y="612"/>
                </a:cxn>
                <a:cxn ang="0">
                  <a:pos x="720" y="568"/>
                </a:cxn>
                <a:cxn ang="0">
                  <a:pos x="787" y="545"/>
                </a:cxn>
                <a:cxn ang="0">
                  <a:pos x="835" y="522"/>
                </a:cxn>
                <a:cxn ang="0">
                  <a:pos x="883" y="532"/>
                </a:cxn>
                <a:cxn ang="0">
                  <a:pos x="898" y="513"/>
                </a:cxn>
                <a:cxn ang="0">
                  <a:pos x="925" y="490"/>
                </a:cxn>
                <a:cxn ang="0">
                  <a:pos x="971" y="488"/>
                </a:cxn>
                <a:cxn ang="0">
                  <a:pos x="992" y="447"/>
                </a:cxn>
                <a:cxn ang="0">
                  <a:pos x="1025" y="411"/>
                </a:cxn>
                <a:cxn ang="0">
                  <a:pos x="973" y="390"/>
                </a:cxn>
                <a:cxn ang="0">
                  <a:pos x="939" y="372"/>
                </a:cxn>
                <a:cxn ang="0">
                  <a:pos x="870" y="392"/>
                </a:cxn>
                <a:cxn ang="0">
                  <a:pos x="835" y="428"/>
                </a:cxn>
                <a:cxn ang="0">
                  <a:pos x="791" y="392"/>
                </a:cxn>
                <a:cxn ang="0">
                  <a:pos x="799" y="363"/>
                </a:cxn>
                <a:cxn ang="0">
                  <a:pos x="770" y="315"/>
                </a:cxn>
                <a:cxn ang="0">
                  <a:pos x="781" y="242"/>
                </a:cxn>
                <a:cxn ang="0">
                  <a:pos x="779" y="209"/>
                </a:cxn>
                <a:cxn ang="0">
                  <a:pos x="739" y="194"/>
                </a:cxn>
                <a:cxn ang="0">
                  <a:pos x="716" y="167"/>
                </a:cxn>
                <a:cxn ang="0">
                  <a:pos x="733" y="113"/>
                </a:cxn>
                <a:cxn ang="0">
                  <a:pos x="706" y="62"/>
                </a:cxn>
                <a:cxn ang="0">
                  <a:pos x="659" y="40"/>
                </a:cxn>
                <a:cxn ang="0">
                  <a:pos x="618" y="54"/>
                </a:cxn>
                <a:cxn ang="0">
                  <a:pos x="553" y="50"/>
                </a:cxn>
                <a:cxn ang="0">
                  <a:pos x="492" y="63"/>
                </a:cxn>
                <a:cxn ang="0">
                  <a:pos x="469" y="25"/>
                </a:cxn>
                <a:cxn ang="0">
                  <a:pos x="419" y="10"/>
                </a:cxn>
                <a:cxn ang="0">
                  <a:pos x="373" y="14"/>
                </a:cxn>
                <a:cxn ang="0">
                  <a:pos x="319" y="0"/>
                </a:cxn>
                <a:cxn ang="0">
                  <a:pos x="267" y="14"/>
                </a:cxn>
                <a:cxn ang="0">
                  <a:pos x="231" y="50"/>
                </a:cxn>
                <a:cxn ang="0">
                  <a:pos x="211" y="96"/>
                </a:cxn>
              </a:cxnLst>
              <a:rect l="0" t="0" r="r" b="b"/>
              <a:pathLst>
                <a:path w="1027" h="695">
                  <a:moveTo>
                    <a:pt x="192" y="115"/>
                  </a:moveTo>
                  <a:lnTo>
                    <a:pt x="177" y="127"/>
                  </a:lnTo>
                  <a:lnTo>
                    <a:pt x="171" y="142"/>
                  </a:lnTo>
                  <a:lnTo>
                    <a:pt x="164" y="156"/>
                  </a:lnTo>
                  <a:lnTo>
                    <a:pt x="156" y="158"/>
                  </a:lnTo>
                  <a:lnTo>
                    <a:pt x="156" y="175"/>
                  </a:lnTo>
                  <a:lnTo>
                    <a:pt x="146" y="192"/>
                  </a:lnTo>
                  <a:lnTo>
                    <a:pt x="133" y="209"/>
                  </a:lnTo>
                  <a:lnTo>
                    <a:pt x="117" y="225"/>
                  </a:lnTo>
                  <a:lnTo>
                    <a:pt x="108" y="242"/>
                  </a:lnTo>
                  <a:lnTo>
                    <a:pt x="94" y="259"/>
                  </a:lnTo>
                  <a:lnTo>
                    <a:pt x="75" y="275"/>
                  </a:lnTo>
                  <a:lnTo>
                    <a:pt x="58" y="292"/>
                  </a:lnTo>
                  <a:lnTo>
                    <a:pt x="35" y="300"/>
                  </a:lnTo>
                  <a:lnTo>
                    <a:pt x="22" y="315"/>
                  </a:lnTo>
                  <a:lnTo>
                    <a:pt x="0" y="326"/>
                  </a:lnTo>
                  <a:lnTo>
                    <a:pt x="0" y="330"/>
                  </a:lnTo>
                  <a:lnTo>
                    <a:pt x="0" y="330"/>
                  </a:lnTo>
                  <a:lnTo>
                    <a:pt x="14" y="323"/>
                  </a:lnTo>
                  <a:lnTo>
                    <a:pt x="29" y="321"/>
                  </a:lnTo>
                  <a:lnTo>
                    <a:pt x="54" y="324"/>
                  </a:lnTo>
                  <a:lnTo>
                    <a:pt x="73" y="324"/>
                  </a:lnTo>
                  <a:lnTo>
                    <a:pt x="89" y="326"/>
                  </a:lnTo>
                  <a:lnTo>
                    <a:pt x="102" y="323"/>
                  </a:lnTo>
                  <a:lnTo>
                    <a:pt x="112" y="313"/>
                  </a:lnTo>
                  <a:lnTo>
                    <a:pt x="123" y="315"/>
                  </a:lnTo>
                  <a:lnTo>
                    <a:pt x="131" y="321"/>
                  </a:lnTo>
                  <a:lnTo>
                    <a:pt x="137" y="328"/>
                  </a:lnTo>
                  <a:lnTo>
                    <a:pt x="148" y="326"/>
                  </a:lnTo>
                  <a:lnTo>
                    <a:pt x="165" y="328"/>
                  </a:lnTo>
                  <a:lnTo>
                    <a:pt x="181" y="334"/>
                  </a:lnTo>
                  <a:lnTo>
                    <a:pt x="198" y="334"/>
                  </a:lnTo>
                  <a:lnTo>
                    <a:pt x="215" y="340"/>
                  </a:lnTo>
                  <a:lnTo>
                    <a:pt x="235" y="351"/>
                  </a:lnTo>
                  <a:lnTo>
                    <a:pt x="246" y="361"/>
                  </a:lnTo>
                  <a:lnTo>
                    <a:pt x="261" y="374"/>
                  </a:lnTo>
                  <a:lnTo>
                    <a:pt x="271" y="380"/>
                  </a:lnTo>
                  <a:lnTo>
                    <a:pt x="284" y="388"/>
                  </a:lnTo>
                  <a:lnTo>
                    <a:pt x="311" y="390"/>
                  </a:lnTo>
                  <a:lnTo>
                    <a:pt x="325" y="388"/>
                  </a:lnTo>
                  <a:lnTo>
                    <a:pt x="342" y="388"/>
                  </a:lnTo>
                  <a:lnTo>
                    <a:pt x="365" y="390"/>
                  </a:lnTo>
                  <a:lnTo>
                    <a:pt x="378" y="403"/>
                  </a:lnTo>
                  <a:lnTo>
                    <a:pt x="384" y="415"/>
                  </a:lnTo>
                  <a:lnTo>
                    <a:pt x="394" y="430"/>
                  </a:lnTo>
                  <a:lnTo>
                    <a:pt x="403" y="443"/>
                  </a:lnTo>
                  <a:lnTo>
                    <a:pt x="403" y="457"/>
                  </a:lnTo>
                  <a:lnTo>
                    <a:pt x="403" y="476"/>
                  </a:lnTo>
                  <a:lnTo>
                    <a:pt x="400" y="493"/>
                  </a:lnTo>
                  <a:lnTo>
                    <a:pt x="401" y="513"/>
                  </a:lnTo>
                  <a:lnTo>
                    <a:pt x="401" y="528"/>
                  </a:lnTo>
                  <a:lnTo>
                    <a:pt x="401" y="536"/>
                  </a:lnTo>
                  <a:lnTo>
                    <a:pt x="413" y="538"/>
                  </a:lnTo>
                  <a:lnTo>
                    <a:pt x="415" y="538"/>
                  </a:lnTo>
                  <a:lnTo>
                    <a:pt x="419" y="539"/>
                  </a:lnTo>
                  <a:lnTo>
                    <a:pt x="424" y="541"/>
                  </a:lnTo>
                  <a:lnTo>
                    <a:pt x="426" y="545"/>
                  </a:lnTo>
                  <a:lnTo>
                    <a:pt x="428" y="557"/>
                  </a:lnTo>
                  <a:lnTo>
                    <a:pt x="428" y="566"/>
                  </a:lnTo>
                  <a:lnTo>
                    <a:pt x="430" y="591"/>
                  </a:lnTo>
                  <a:lnTo>
                    <a:pt x="436" y="603"/>
                  </a:lnTo>
                  <a:lnTo>
                    <a:pt x="447" y="605"/>
                  </a:lnTo>
                  <a:lnTo>
                    <a:pt x="459" y="607"/>
                  </a:lnTo>
                  <a:lnTo>
                    <a:pt x="476" y="609"/>
                  </a:lnTo>
                  <a:lnTo>
                    <a:pt x="497" y="609"/>
                  </a:lnTo>
                  <a:lnTo>
                    <a:pt x="515" y="609"/>
                  </a:lnTo>
                  <a:lnTo>
                    <a:pt x="526" y="626"/>
                  </a:lnTo>
                  <a:lnTo>
                    <a:pt x="517" y="635"/>
                  </a:lnTo>
                  <a:lnTo>
                    <a:pt x="515" y="651"/>
                  </a:lnTo>
                  <a:lnTo>
                    <a:pt x="530" y="660"/>
                  </a:lnTo>
                  <a:lnTo>
                    <a:pt x="545" y="658"/>
                  </a:lnTo>
                  <a:lnTo>
                    <a:pt x="555" y="676"/>
                  </a:lnTo>
                  <a:lnTo>
                    <a:pt x="563" y="683"/>
                  </a:lnTo>
                  <a:lnTo>
                    <a:pt x="561" y="695"/>
                  </a:lnTo>
                  <a:lnTo>
                    <a:pt x="570" y="685"/>
                  </a:lnTo>
                  <a:lnTo>
                    <a:pt x="576" y="676"/>
                  </a:lnTo>
                  <a:lnTo>
                    <a:pt x="574" y="662"/>
                  </a:lnTo>
                  <a:lnTo>
                    <a:pt x="586" y="655"/>
                  </a:lnTo>
                  <a:lnTo>
                    <a:pt x="603" y="651"/>
                  </a:lnTo>
                  <a:lnTo>
                    <a:pt x="616" y="637"/>
                  </a:lnTo>
                  <a:lnTo>
                    <a:pt x="628" y="630"/>
                  </a:lnTo>
                  <a:lnTo>
                    <a:pt x="643" y="616"/>
                  </a:lnTo>
                  <a:lnTo>
                    <a:pt x="660" y="610"/>
                  </a:lnTo>
                  <a:lnTo>
                    <a:pt x="676" y="612"/>
                  </a:lnTo>
                  <a:lnTo>
                    <a:pt x="687" y="605"/>
                  </a:lnTo>
                  <a:lnTo>
                    <a:pt x="693" y="589"/>
                  </a:lnTo>
                  <a:lnTo>
                    <a:pt x="706" y="578"/>
                  </a:lnTo>
                  <a:lnTo>
                    <a:pt x="720" y="568"/>
                  </a:lnTo>
                  <a:lnTo>
                    <a:pt x="731" y="559"/>
                  </a:lnTo>
                  <a:lnTo>
                    <a:pt x="741" y="551"/>
                  </a:lnTo>
                  <a:lnTo>
                    <a:pt x="772" y="551"/>
                  </a:lnTo>
                  <a:lnTo>
                    <a:pt x="787" y="545"/>
                  </a:lnTo>
                  <a:lnTo>
                    <a:pt x="791" y="536"/>
                  </a:lnTo>
                  <a:lnTo>
                    <a:pt x="806" y="532"/>
                  </a:lnTo>
                  <a:lnTo>
                    <a:pt x="814" y="518"/>
                  </a:lnTo>
                  <a:lnTo>
                    <a:pt x="835" y="522"/>
                  </a:lnTo>
                  <a:lnTo>
                    <a:pt x="848" y="526"/>
                  </a:lnTo>
                  <a:lnTo>
                    <a:pt x="854" y="532"/>
                  </a:lnTo>
                  <a:lnTo>
                    <a:pt x="875" y="536"/>
                  </a:lnTo>
                  <a:lnTo>
                    <a:pt x="883" y="532"/>
                  </a:lnTo>
                  <a:lnTo>
                    <a:pt x="877" y="524"/>
                  </a:lnTo>
                  <a:lnTo>
                    <a:pt x="877" y="516"/>
                  </a:lnTo>
                  <a:lnTo>
                    <a:pt x="885" y="513"/>
                  </a:lnTo>
                  <a:lnTo>
                    <a:pt x="898" y="513"/>
                  </a:lnTo>
                  <a:lnTo>
                    <a:pt x="910" y="509"/>
                  </a:lnTo>
                  <a:lnTo>
                    <a:pt x="914" y="501"/>
                  </a:lnTo>
                  <a:lnTo>
                    <a:pt x="927" y="501"/>
                  </a:lnTo>
                  <a:lnTo>
                    <a:pt x="925" y="490"/>
                  </a:lnTo>
                  <a:lnTo>
                    <a:pt x="931" y="484"/>
                  </a:lnTo>
                  <a:lnTo>
                    <a:pt x="942" y="484"/>
                  </a:lnTo>
                  <a:lnTo>
                    <a:pt x="956" y="482"/>
                  </a:lnTo>
                  <a:lnTo>
                    <a:pt x="971" y="488"/>
                  </a:lnTo>
                  <a:lnTo>
                    <a:pt x="954" y="468"/>
                  </a:lnTo>
                  <a:lnTo>
                    <a:pt x="960" y="457"/>
                  </a:lnTo>
                  <a:lnTo>
                    <a:pt x="973" y="447"/>
                  </a:lnTo>
                  <a:lnTo>
                    <a:pt x="992" y="447"/>
                  </a:lnTo>
                  <a:lnTo>
                    <a:pt x="1002" y="434"/>
                  </a:lnTo>
                  <a:lnTo>
                    <a:pt x="1015" y="428"/>
                  </a:lnTo>
                  <a:lnTo>
                    <a:pt x="1027" y="422"/>
                  </a:lnTo>
                  <a:lnTo>
                    <a:pt x="1025" y="411"/>
                  </a:lnTo>
                  <a:lnTo>
                    <a:pt x="1025" y="399"/>
                  </a:lnTo>
                  <a:lnTo>
                    <a:pt x="1010" y="399"/>
                  </a:lnTo>
                  <a:lnTo>
                    <a:pt x="983" y="403"/>
                  </a:lnTo>
                  <a:lnTo>
                    <a:pt x="973" y="390"/>
                  </a:lnTo>
                  <a:lnTo>
                    <a:pt x="967" y="378"/>
                  </a:lnTo>
                  <a:lnTo>
                    <a:pt x="967" y="369"/>
                  </a:lnTo>
                  <a:lnTo>
                    <a:pt x="954" y="369"/>
                  </a:lnTo>
                  <a:lnTo>
                    <a:pt x="939" y="372"/>
                  </a:lnTo>
                  <a:lnTo>
                    <a:pt x="923" y="380"/>
                  </a:lnTo>
                  <a:lnTo>
                    <a:pt x="914" y="392"/>
                  </a:lnTo>
                  <a:lnTo>
                    <a:pt x="900" y="392"/>
                  </a:lnTo>
                  <a:lnTo>
                    <a:pt x="870" y="392"/>
                  </a:lnTo>
                  <a:lnTo>
                    <a:pt x="868" y="405"/>
                  </a:lnTo>
                  <a:lnTo>
                    <a:pt x="860" y="417"/>
                  </a:lnTo>
                  <a:lnTo>
                    <a:pt x="847" y="422"/>
                  </a:lnTo>
                  <a:lnTo>
                    <a:pt x="835" y="428"/>
                  </a:lnTo>
                  <a:lnTo>
                    <a:pt x="816" y="415"/>
                  </a:lnTo>
                  <a:lnTo>
                    <a:pt x="802" y="419"/>
                  </a:lnTo>
                  <a:lnTo>
                    <a:pt x="791" y="415"/>
                  </a:lnTo>
                  <a:lnTo>
                    <a:pt x="791" y="392"/>
                  </a:lnTo>
                  <a:lnTo>
                    <a:pt x="781" y="380"/>
                  </a:lnTo>
                  <a:lnTo>
                    <a:pt x="787" y="380"/>
                  </a:lnTo>
                  <a:lnTo>
                    <a:pt x="802" y="372"/>
                  </a:lnTo>
                  <a:lnTo>
                    <a:pt x="799" y="363"/>
                  </a:lnTo>
                  <a:lnTo>
                    <a:pt x="785" y="355"/>
                  </a:lnTo>
                  <a:lnTo>
                    <a:pt x="776" y="340"/>
                  </a:lnTo>
                  <a:lnTo>
                    <a:pt x="776" y="326"/>
                  </a:lnTo>
                  <a:lnTo>
                    <a:pt x="770" y="315"/>
                  </a:lnTo>
                  <a:lnTo>
                    <a:pt x="770" y="301"/>
                  </a:lnTo>
                  <a:lnTo>
                    <a:pt x="772" y="273"/>
                  </a:lnTo>
                  <a:lnTo>
                    <a:pt x="770" y="252"/>
                  </a:lnTo>
                  <a:lnTo>
                    <a:pt x="781" y="242"/>
                  </a:lnTo>
                  <a:lnTo>
                    <a:pt x="795" y="242"/>
                  </a:lnTo>
                  <a:lnTo>
                    <a:pt x="795" y="232"/>
                  </a:lnTo>
                  <a:lnTo>
                    <a:pt x="795" y="219"/>
                  </a:lnTo>
                  <a:lnTo>
                    <a:pt x="779" y="209"/>
                  </a:lnTo>
                  <a:lnTo>
                    <a:pt x="764" y="213"/>
                  </a:lnTo>
                  <a:lnTo>
                    <a:pt x="753" y="213"/>
                  </a:lnTo>
                  <a:lnTo>
                    <a:pt x="745" y="204"/>
                  </a:lnTo>
                  <a:lnTo>
                    <a:pt x="739" y="194"/>
                  </a:lnTo>
                  <a:lnTo>
                    <a:pt x="731" y="188"/>
                  </a:lnTo>
                  <a:lnTo>
                    <a:pt x="735" y="179"/>
                  </a:lnTo>
                  <a:lnTo>
                    <a:pt x="722" y="169"/>
                  </a:lnTo>
                  <a:lnTo>
                    <a:pt x="716" y="167"/>
                  </a:lnTo>
                  <a:lnTo>
                    <a:pt x="716" y="158"/>
                  </a:lnTo>
                  <a:lnTo>
                    <a:pt x="726" y="142"/>
                  </a:lnTo>
                  <a:lnTo>
                    <a:pt x="735" y="127"/>
                  </a:lnTo>
                  <a:lnTo>
                    <a:pt x="733" y="113"/>
                  </a:lnTo>
                  <a:lnTo>
                    <a:pt x="726" y="100"/>
                  </a:lnTo>
                  <a:lnTo>
                    <a:pt x="718" y="90"/>
                  </a:lnTo>
                  <a:lnTo>
                    <a:pt x="706" y="75"/>
                  </a:lnTo>
                  <a:lnTo>
                    <a:pt x="706" y="62"/>
                  </a:lnTo>
                  <a:lnTo>
                    <a:pt x="691" y="58"/>
                  </a:lnTo>
                  <a:lnTo>
                    <a:pt x="680" y="46"/>
                  </a:lnTo>
                  <a:lnTo>
                    <a:pt x="672" y="40"/>
                  </a:lnTo>
                  <a:lnTo>
                    <a:pt x="659" y="40"/>
                  </a:lnTo>
                  <a:lnTo>
                    <a:pt x="647" y="46"/>
                  </a:lnTo>
                  <a:lnTo>
                    <a:pt x="641" y="54"/>
                  </a:lnTo>
                  <a:lnTo>
                    <a:pt x="628" y="54"/>
                  </a:lnTo>
                  <a:lnTo>
                    <a:pt x="618" y="54"/>
                  </a:lnTo>
                  <a:lnTo>
                    <a:pt x="603" y="54"/>
                  </a:lnTo>
                  <a:lnTo>
                    <a:pt x="586" y="60"/>
                  </a:lnTo>
                  <a:lnTo>
                    <a:pt x="568" y="56"/>
                  </a:lnTo>
                  <a:lnTo>
                    <a:pt x="553" y="50"/>
                  </a:lnTo>
                  <a:lnTo>
                    <a:pt x="540" y="52"/>
                  </a:lnTo>
                  <a:lnTo>
                    <a:pt x="524" y="56"/>
                  </a:lnTo>
                  <a:lnTo>
                    <a:pt x="511" y="60"/>
                  </a:lnTo>
                  <a:lnTo>
                    <a:pt x="492" y="63"/>
                  </a:lnTo>
                  <a:lnTo>
                    <a:pt x="472" y="60"/>
                  </a:lnTo>
                  <a:lnTo>
                    <a:pt x="467" y="46"/>
                  </a:lnTo>
                  <a:lnTo>
                    <a:pt x="469" y="37"/>
                  </a:lnTo>
                  <a:lnTo>
                    <a:pt x="469" y="25"/>
                  </a:lnTo>
                  <a:lnTo>
                    <a:pt x="457" y="21"/>
                  </a:lnTo>
                  <a:lnTo>
                    <a:pt x="442" y="14"/>
                  </a:lnTo>
                  <a:lnTo>
                    <a:pt x="434" y="19"/>
                  </a:lnTo>
                  <a:lnTo>
                    <a:pt x="419" y="10"/>
                  </a:lnTo>
                  <a:lnTo>
                    <a:pt x="409" y="14"/>
                  </a:lnTo>
                  <a:lnTo>
                    <a:pt x="401" y="17"/>
                  </a:lnTo>
                  <a:lnTo>
                    <a:pt x="384" y="17"/>
                  </a:lnTo>
                  <a:lnTo>
                    <a:pt x="373" y="14"/>
                  </a:lnTo>
                  <a:lnTo>
                    <a:pt x="365" y="6"/>
                  </a:lnTo>
                  <a:lnTo>
                    <a:pt x="348" y="10"/>
                  </a:lnTo>
                  <a:lnTo>
                    <a:pt x="330" y="4"/>
                  </a:lnTo>
                  <a:lnTo>
                    <a:pt x="319" y="0"/>
                  </a:lnTo>
                  <a:lnTo>
                    <a:pt x="315" y="0"/>
                  </a:lnTo>
                  <a:lnTo>
                    <a:pt x="300" y="2"/>
                  </a:lnTo>
                  <a:lnTo>
                    <a:pt x="281" y="10"/>
                  </a:lnTo>
                  <a:lnTo>
                    <a:pt x="267" y="14"/>
                  </a:lnTo>
                  <a:lnTo>
                    <a:pt x="256" y="25"/>
                  </a:lnTo>
                  <a:lnTo>
                    <a:pt x="256" y="37"/>
                  </a:lnTo>
                  <a:lnTo>
                    <a:pt x="240" y="44"/>
                  </a:lnTo>
                  <a:lnTo>
                    <a:pt x="231" y="50"/>
                  </a:lnTo>
                  <a:lnTo>
                    <a:pt x="223" y="63"/>
                  </a:lnTo>
                  <a:lnTo>
                    <a:pt x="217" y="75"/>
                  </a:lnTo>
                  <a:lnTo>
                    <a:pt x="215" y="88"/>
                  </a:lnTo>
                  <a:lnTo>
                    <a:pt x="211" y="96"/>
                  </a:lnTo>
                  <a:lnTo>
                    <a:pt x="202" y="106"/>
                  </a:lnTo>
                  <a:lnTo>
                    <a:pt x="192" y="115"/>
                  </a:lnTo>
                  <a:close/>
                </a:path>
              </a:pathLst>
            </a:custGeom>
            <a:solidFill>
              <a:schemeClr val="accent1">
                <a:lumMod val="20000"/>
                <a:lumOff val="80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6" name="Freeform 30">
              <a:extLst>
                <a:ext uri="{FF2B5EF4-FFF2-40B4-BE49-F238E27FC236}">
                  <a16:creationId xmlns:a16="http://schemas.microsoft.com/office/drawing/2014/main" id="{5EBFC354-3024-F9C2-D79C-EA65567F3FC4}"/>
                </a:ext>
              </a:extLst>
            </p:cNvPr>
            <p:cNvSpPr>
              <a:spLocks noChangeAspect="1"/>
            </p:cNvSpPr>
            <p:nvPr/>
          </p:nvSpPr>
          <p:spPr bwMode="auto">
            <a:xfrm>
              <a:off x="7782382" y="4881680"/>
              <a:ext cx="15134" cy="23275"/>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7" name="Freeform 31">
              <a:extLst>
                <a:ext uri="{FF2B5EF4-FFF2-40B4-BE49-F238E27FC236}">
                  <a16:creationId xmlns:a16="http://schemas.microsoft.com/office/drawing/2014/main" id="{6CA0443D-26D7-5CD1-9056-24D824AE45C4}"/>
                </a:ext>
              </a:extLst>
            </p:cNvPr>
            <p:cNvSpPr>
              <a:spLocks noChangeAspect="1"/>
            </p:cNvSpPr>
            <p:nvPr/>
          </p:nvSpPr>
          <p:spPr bwMode="auto">
            <a:xfrm>
              <a:off x="7782382" y="4881680"/>
              <a:ext cx="15134" cy="23275"/>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8" name="Freeform 32">
              <a:extLst>
                <a:ext uri="{FF2B5EF4-FFF2-40B4-BE49-F238E27FC236}">
                  <a16:creationId xmlns:a16="http://schemas.microsoft.com/office/drawing/2014/main" id="{307F8B8B-3BD9-B010-46BD-FB2FF7CEAD7B}"/>
                </a:ext>
              </a:extLst>
            </p:cNvPr>
            <p:cNvSpPr>
              <a:spLocks noChangeAspect="1"/>
            </p:cNvSpPr>
            <p:nvPr/>
          </p:nvSpPr>
          <p:spPr bwMode="auto">
            <a:xfrm>
              <a:off x="7837095" y="4608198"/>
              <a:ext cx="388827" cy="240896"/>
            </a:xfrm>
            <a:custGeom>
              <a:avLst/>
              <a:gdLst/>
              <a:ahLst/>
              <a:cxnLst>
                <a:cxn ang="0">
                  <a:pos x="322" y="265"/>
                </a:cxn>
                <a:cxn ang="0">
                  <a:pos x="288" y="259"/>
                </a:cxn>
                <a:cxn ang="0">
                  <a:pos x="244" y="261"/>
                </a:cxn>
                <a:cxn ang="0">
                  <a:pos x="207" y="247"/>
                </a:cxn>
                <a:cxn ang="0">
                  <a:pos x="188" y="232"/>
                </a:cxn>
                <a:cxn ang="0">
                  <a:pos x="194" y="267"/>
                </a:cxn>
                <a:cxn ang="0">
                  <a:pos x="167" y="261"/>
                </a:cxn>
                <a:cxn ang="0">
                  <a:pos x="140" y="247"/>
                </a:cxn>
                <a:cxn ang="0">
                  <a:pos x="117" y="251"/>
                </a:cxn>
                <a:cxn ang="0">
                  <a:pos x="77" y="257"/>
                </a:cxn>
                <a:cxn ang="0">
                  <a:pos x="33" y="261"/>
                </a:cxn>
                <a:cxn ang="0">
                  <a:pos x="35" y="290"/>
                </a:cxn>
                <a:cxn ang="0">
                  <a:pos x="0" y="272"/>
                </a:cxn>
                <a:cxn ang="0">
                  <a:pos x="38" y="251"/>
                </a:cxn>
                <a:cxn ang="0">
                  <a:pos x="73" y="226"/>
                </a:cxn>
                <a:cxn ang="0">
                  <a:pos x="56" y="203"/>
                </a:cxn>
                <a:cxn ang="0">
                  <a:pos x="13" y="182"/>
                </a:cxn>
                <a:cxn ang="0">
                  <a:pos x="17" y="167"/>
                </a:cxn>
                <a:cxn ang="0">
                  <a:pos x="48" y="155"/>
                </a:cxn>
                <a:cxn ang="0">
                  <a:pos x="84" y="150"/>
                </a:cxn>
                <a:cxn ang="0">
                  <a:pos x="113" y="140"/>
                </a:cxn>
                <a:cxn ang="0">
                  <a:pos x="140" y="150"/>
                </a:cxn>
                <a:cxn ang="0">
                  <a:pos x="157" y="138"/>
                </a:cxn>
                <a:cxn ang="0">
                  <a:pos x="184" y="146"/>
                </a:cxn>
                <a:cxn ang="0">
                  <a:pos x="211" y="138"/>
                </a:cxn>
                <a:cxn ang="0">
                  <a:pos x="244" y="130"/>
                </a:cxn>
                <a:cxn ang="0">
                  <a:pos x="267" y="115"/>
                </a:cxn>
                <a:cxn ang="0">
                  <a:pos x="299" y="105"/>
                </a:cxn>
                <a:cxn ang="0">
                  <a:pos x="315" y="79"/>
                </a:cxn>
                <a:cxn ang="0">
                  <a:pos x="328" y="52"/>
                </a:cxn>
                <a:cxn ang="0">
                  <a:pos x="343" y="23"/>
                </a:cxn>
                <a:cxn ang="0">
                  <a:pos x="368" y="0"/>
                </a:cxn>
                <a:cxn ang="0">
                  <a:pos x="395" y="25"/>
                </a:cxn>
                <a:cxn ang="0">
                  <a:pos x="411" y="42"/>
                </a:cxn>
                <a:cxn ang="0">
                  <a:pos x="457" y="57"/>
                </a:cxn>
                <a:cxn ang="0">
                  <a:pos x="476" y="75"/>
                </a:cxn>
                <a:cxn ang="0">
                  <a:pos x="460" y="119"/>
                </a:cxn>
                <a:cxn ang="0">
                  <a:pos x="474" y="152"/>
                </a:cxn>
                <a:cxn ang="0">
                  <a:pos x="451" y="184"/>
                </a:cxn>
                <a:cxn ang="0">
                  <a:pos x="409" y="198"/>
                </a:cxn>
                <a:cxn ang="0">
                  <a:pos x="378" y="211"/>
                </a:cxn>
                <a:cxn ang="0">
                  <a:pos x="347" y="238"/>
                </a:cxn>
              </a:cxnLst>
              <a:rect l="0" t="0" r="r" b="b"/>
              <a:pathLst>
                <a:path w="476" h="295">
                  <a:moveTo>
                    <a:pt x="343" y="263"/>
                  </a:moveTo>
                  <a:lnTo>
                    <a:pt x="332" y="259"/>
                  </a:lnTo>
                  <a:lnTo>
                    <a:pt x="322" y="265"/>
                  </a:lnTo>
                  <a:lnTo>
                    <a:pt x="309" y="265"/>
                  </a:lnTo>
                  <a:lnTo>
                    <a:pt x="292" y="265"/>
                  </a:lnTo>
                  <a:lnTo>
                    <a:pt x="288" y="259"/>
                  </a:lnTo>
                  <a:lnTo>
                    <a:pt x="274" y="263"/>
                  </a:lnTo>
                  <a:lnTo>
                    <a:pt x="255" y="263"/>
                  </a:lnTo>
                  <a:lnTo>
                    <a:pt x="244" y="261"/>
                  </a:lnTo>
                  <a:lnTo>
                    <a:pt x="226" y="263"/>
                  </a:lnTo>
                  <a:lnTo>
                    <a:pt x="215" y="257"/>
                  </a:lnTo>
                  <a:lnTo>
                    <a:pt x="207" y="247"/>
                  </a:lnTo>
                  <a:lnTo>
                    <a:pt x="211" y="240"/>
                  </a:lnTo>
                  <a:lnTo>
                    <a:pt x="203" y="232"/>
                  </a:lnTo>
                  <a:lnTo>
                    <a:pt x="188" y="232"/>
                  </a:lnTo>
                  <a:lnTo>
                    <a:pt x="200" y="244"/>
                  </a:lnTo>
                  <a:lnTo>
                    <a:pt x="194" y="257"/>
                  </a:lnTo>
                  <a:lnTo>
                    <a:pt x="194" y="267"/>
                  </a:lnTo>
                  <a:lnTo>
                    <a:pt x="184" y="265"/>
                  </a:lnTo>
                  <a:lnTo>
                    <a:pt x="173" y="267"/>
                  </a:lnTo>
                  <a:lnTo>
                    <a:pt x="167" y="261"/>
                  </a:lnTo>
                  <a:lnTo>
                    <a:pt x="155" y="261"/>
                  </a:lnTo>
                  <a:lnTo>
                    <a:pt x="146" y="257"/>
                  </a:lnTo>
                  <a:lnTo>
                    <a:pt x="140" y="247"/>
                  </a:lnTo>
                  <a:lnTo>
                    <a:pt x="129" y="240"/>
                  </a:lnTo>
                  <a:lnTo>
                    <a:pt x="119" y="244"/>
                  </a:lnTo>
                  <a:lnTo>
                    <a:pt x="117" y="251"/>
                  </a:lnTo>
                  <a:lnTo>
                    <a:pt x="106" y="253"/>
                  </a:lnTo>
                  <a:lnTo>
                    <a:pt x="92" y="255"/>
                  </a:lnTo>
                  <a:lnTo>
                    <a:pt x="77" y="257"/>
                  </a:lnTo>
                  <a:lnTo>
                    <a:pt x="58" y="257"/>
                  </a:lnTo>
                  <a:lnTo>
                    <a:pt x="46" y="259"/>
                  </a:lnTo>
                  <a:lnTo>
                    <a:pt x="33" y="261"/>
                  </a:lnTo>
                  <a:lnTo>
                    <a:pt x="27" y="267"/>
                  </a:lnTo>
                  <a:lnTo>
                    <a:pt x="33" y="276"/>
                  </a:lnTo>
                  <a:lnTo>
                    <a:pt x="35" y="290"/>
                  </a:lnTo>
                  <a:lnTo>
                    <a:pt x="27" y="295"/>
                  </a:lnTo>
                  <a:lnTo>
                    <a:pt x="13" y="288"/>
                  </a:lnTo>
                  <a:lnTo>
                    <a:pt x="0" y="272"/>
                  </a:lnTo>
                  <a:lnTo>
                    <a:pt x="6" y="261"/>
                  </a:lnTo>
                  <a:lnTo>
                    <a:pt x="19" y="251"/>
                  </a:lnTo>
                  <a:lnTo>
                    <a:pt x="38" y="251"/>
                  </a:lnTo>
                  <a:lnTo>
                    <a:pt x="48" y="238"/>
                  </a:lnTo>
                  <a:lnTo>
                    <a:pt x="61" y="232"/>
                  </a:lnTo>
                  <a:lnTo>
                    <a:pt x="73" y="226"/>
                  </a:lnTo>
                  <a:lnTo>
                    <a:pt x="71" y="215"/>
                  </a:lnTo>
                  <a:lnTo>
                    <a:pt x="71" y="203"/>
                  </a:lnTo>
                  <a:lnTo>
                    <a:pt x="56" y="203"/>
                  </a:lnTo>
                  <a:lnTo>
                    <a:pt x="29" y="207"/>
                  </a:lnTo>
                  <a:lnTo>
                    <a:pt x="19" y="194"/>
                  </a:lnTo>
                  <a:lnTo>
                    <a:pt x="13" y="182"/>
                  </a:lnTo>
                  <a:lnTo>
                    <a:pt x="13" y="173"/>
                  </a:lnTo>
                  <a:lnTo>
                    <a:pt x="11" y="173"/>
                  </a:lnTo>
                  <a:lnTo>
                    <a:pt x="17" y="167"/>
                  </a:lnTo>
                  <a:lnTo>
                    <a:pt x="29" y="163"/>
                  </a:lnTo>
                  <a:lnTo>
                    <a:pt x="36" y="155"/>
                  </a:lnTo>
                  <a:lnTo>
                    <a:pt x="48" y="155"/>
                  </a:lnTo>
                  <a:lnTo>
                    <a:pt x="59" y="155"/>
                  </a:lnTo>
                  <a:lnTo>
                    <a:pt x="73" y="153"/>
                  </a:lnTo>
                  <a:lnTo>
                    <a:pt x="84" y="150"/>
                  </a:lnTo>
                  <a:lnTo>
                    <a:pt x="92" y="146"/>
                  </a:lnTo>
                  <a:lnTo>
                    <a:pt x="98" y="140"/>
                  </a:lnTo>
                  <a:lnTo>
                    <a:pt x="113" y="140"/>
                  </a:lnTo>
                  <a:lnTo>
                    <a:pt x="123" y="142"/>
                  </a:lnTo>
                  <a:lnTo>
                    <a:pt x="130" y="148"/>
                  </a:lnTo>
                  <a:lnTo>
                    <a:pt x="140" y="150"/>
                  </a:lnTo>
                  <a:lnTo>
                    <a:pt x="146" y="150"/>
                  </a:lnTo>
                  <a:lnTo>
                    <a:pt x="146" y="138"/>
                  </a:lnTo>
                  <a:lnTo>
                    <a:pt x="157" y="138"/>
                  </a:lnTo>
                  <a:lnTo>
                    <a:pt x="167" y="136"/>
                  </a:lnTo>
                  <a:lnTo>
                    <a:pt x="178" y="140"/>
                  </a:lnTo>
                  <a:lnTo>
                    <a:pt x="184" y="146"/>
                  </a:lnTo>
                  <a:lnTo>
                    <a:pt x="196" y="148"/>
                  </a:lnTo>
                  <a:lnTo>
                    <a:pt x="211" y="146"/>
                  </a:lnTo>
                  <a:lnTo>
                    <a:pt x="211" y="138"/>
                  </a:lnTo>
                  <a:lnTo>
                    <a:pt x="223" y="138"/>
                  </a:lnTo>
                  <a:lnTo>
                    <a:pt x="232" y="138"/>
                  </a:lnTo>
                  <a:lnTo>
                    <a:pt x="244" y="130"/>
                  </a:lnTo>
                  <a:lnTo>
                    <a:pt x="257" y="128"/>
                  </a:lnTo>
                  <a:lnTo>
                    <a:pt x="259" y="119"/>
                  </a:lnTo>
                  <a:lnTo>
                    <a:pt x="267" y="115"/>
                  </a:lnTo>
                  <a:lnTo>
                    <a:pt x="278" y="107"/>
                  </a:lnTo>
                  <a:lnTo>
                    <a:pt x="286" y="105"/>
                  </a:lnTo>
                  <a:lnTo>
                    <a:pt x="299" y="105"/>
                  </a:lnTo>
                  <a:lnTo>
                    <a:pt x="311" y="102"/>
                  </a:lnTo>
                  <a:lnTo>
                    <a:pt x="311" y="90"/>
                  </a:lnTo>
                  <a:lnTo>
                    <a:pt x="315" y="79"/>
                  </a:lnTo>
                  <a:lnTo>
                    <a:pt x="322" y="73"/>
                  </a:lnTo>
                  <a:lnTo>
                    <a:pt x="324" y="61"/>
                  </a:lnTo>
                  <a:lnTo>
                    <a:pt x="328" y="52"/>
                  </a:lnTo>
                  <a:lnTo>
                    <a:pt x="336" y="46"/>
                  </a:lnTo>
                  <a:lnTo>
                    <a:pt x="336" y="29"/>
                  </a:lnTo>
                  <a:lnTo>
                    <a:pt x="343" y="23"/>
                  </a:lnTo>
                  <a:lnTo>
                    <a:pt x="351" y="15"/>
                  </a:lnTo>
                  <a:lnTo>
                    <a:pt x="359" y="8"/>
                  </a:lnTo>
                  <a:lnTo>
                    <a:pt x="368" y="0"/>
                  </a:lnTo>
                  <a:lnTo>
                    <a:pt x="378" y="2"/>
                  </a:lnTo>
                  <a:lnTo>
                    <a:pt x="395" y="8"/>
                  </a:lnTo>
                  <a:lnTo>
                    <a:pt x="395" y="25"/>
                  </a:lnTo>
                  <a:lnTo>
                    <a:pt x="395" y="34"/>
                  </a:lnTo>
                  <a:lnTo>
                    <a:pt x="401" y="40"/>
                  </a:lnTo>
                  <a:lnTo>
                    <a:pt x="411" y="42"/>
                  </a:lnTo>
                  <a:lnTo>
                    <a:pt x="430" y="44"/>
                  </a:lnTo>
                  <a:lnTo>
                    <a:pt x="449" y="46"/>
                  </a:lnTo>
                  <a:lnTo>
                    <a:pt x="457" y="57"/>
                  </a:lnTo>
                  <a:lnTo>
                    <a:pt x="466" y="59"/>
                  </a:lnTo>
                  <a:lnTo>
                    <a:pt x="476" y="65"/>
                  </a:lnTo>
                  <a:lnTo>
                    <a:pt x="476" y="75"/>
                  </a:lnTo>
                  <a:lnTo>
                    <a:pt x="466" y="90"/>
                  </a:lnTo>
                  <a:lnTo>
                    <a:pt x="459" y="105"/>
                  </a:lnTo>
                  <a:lnTo>
                    <a:pt x="460" y="119"/>
                  </a:lnTo>
                  <a:lnTo>
                    <a:pt x="459" y="134"/>
                  </a:lnTo>
                  <a:lnTo>
                    <a:pt x="466" y="144"/>
                  </a:lnTo>
                  <a:lnTo>
                    <a:pt x="474" y="152"/>
                  </a:lnTo>
                  <a:lnTo>
                    <a:pt x="472" y="169"/>
                  </a:lnTo>
                  <a:lnTo>
                    <a:pt x="464" y="175"/>
                  </a:lnTo>
                  <a:lnTo>
                    <a:pt x="451" y="184"/>
                  </a:lnTo>
                  <a:lnTo>
                    <a:pt x="439" y="192"/>
                  </a:lnTo>
                  <a:lnTo>
                    <a:pt x="424" y="198"/>
                  </a:lnTo>
                  <a:lnTo>
                    <a:pt x="409" y="198"/>
                  </a:lnTo>
                  <a:lnTo>
                    <a:pt x="399" y="211"/>
                  </a:lnTo>
                  <a:lnTo>
                    <a:pt x="391" y="211"/>
                  </a:lnTo>
                  <a:lnTo>
                    <a:pt x="378" y="211"/>
                  </a:lnTo>
                  <a:lnTo>
                    <a:pt x="365" y="219"/>
                  </a:lnTo>
                  <a:lnTo>
                    <a:pt x="353" y="232"/>
                  </a:lnTo>
                  <a:lnTo>
                    <a:pt x="347" y="238"/>
                  </a:lnTo>
                  <a:lnTo>
                    <a:pt x="340" y="244"/>
                  </a:lnTo>
                  <a:lnTo>
                    <a:pt x="343" y="263"/>
                  </a:lnTo>
                  <a:close/>
                </a:path>
              </a:pathLst>
            </a:custGeom>
            <a:solidFill>
              <a:srgbClr val="FFCCCD"/>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49" name="Freeform 33">
              <a:extLst>
                <a:ext uri="{FF2B5EF4-FFF2-40B4-BE49-F238E27FC236}">
                  <a16:creationId xmlns:a16="http://schemas.microsoft.com/office/drawing/2014/main" id="{B89E7BCB-0634-051B-3235-5CD3DED2625F}"/>
                </a:ext>
              </a:extLst>
            </p:cNvPr>
            <p:cNvSpPr>
              <a:spLocks noChangeAspect="1"/>
            </p:cNvSpPr>
            <p:nvPr/>
          </p:nvSpPr>
          <p:spPr bwMode="auto">
            <a:xfrm>
              <a:off x="7882499" y="4826984"/>
              <a:ext cx="29104" cy="11638"/>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0" name="Freeform 34">
              <a:extLst>
                <a:ext uri="{FF2B5EF4-FFF2-40B4-BE49-F238E27FC236}">
                  <a16:creationId xmlns:a16="http://schemas.microsoft.com/office/drawing/2014/main" id="{DBFD1BAB-449B-F958-3C74-D00E183B7CFF}"/>
                </a:ext>
              </a:extLst>
            </p:cNvPr>
            <p:cNvSpPr>
              <a:spLocks noChangeAspect="1"/>
            </p:cNvSpPr>
            <p:nvPr/>
          </p:nvSpPr>
          <p:spPr bwMode="auto">
            <a:xfrm>
              <a:off x="7882499" y="4826984"/>
              <a:ext cx="29104" cy="11638"/>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1" name="Freeform 35">
              <a:extLst>
                <a:ext uri="{FF2B5EF4-FFF2-40B4-BE49-F238E27FC236}">
                  <a16:creationId xmlns:a16="http://schemas.microsoft.com/office/drawing/2014/main" id="{C45FF6F8-61C5-F562-82C9-C26AF347A372}"/>
                </a:ext>
              </a:extLst>
            </p:cNvPr>
            <p:cNvSpPr>
              <a:spLocks noChangeAspect="1"/>
            </p:cNvSpPr>
            <p:nvPr/>
          </p:nvSpPr>
          <p:spPr bwMode="auto">
            <a:xfrm>
              <a:off x="7919751" y="4820000"/>
              <a:ext cx="31432" cy="1280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2" name="Freeform 36">
              <a:extLst>
                <a:ext uri="{FF2B5EF4-FFF2-40B4-BE49-F238E27FC236}">
                  <a16:creationId xmlns:a16="http://schemas.microsoft.com/office/drawing/2014/main" id="{88440B68-6A4A-4C77-EAFF-4EC77F826B56}"/>
                </a:ext>
              </a:extLst>
            </p:cNvPr>
            <p:cNvSpPr>
              <a:spLocks noChangeAspect="1"/>
            </p:cNvSpPr>
            <p:nvPr/>
          </p:nvSpPr>
          <p:spPr bwMode="auto">
            <a:xfrm>
              <a:off x="7919751" y="4820000"/>
              <a:ext cx="31432" cy="1280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3" name="Freeform 37">
              <a:extLst>
                <a:ext uri="{FF2B5EF4-FFF2-40B4-BE49-F238E27FC236}">
                  <a16:creationId xmlns:a16="http://schemas.microsoft.com/office/drawing/2014/main" id="{F4F44EC3-6FC5-AD67-36E5-79E9BD4BA42B}"/>
                </a:ext>
              </a:extLst>
            </p:cNvPr>
            <p:cNvSpPr>
              <a:spLocks noChangeAspect="1"/>
            </p:cNvSpPr>
            <p:nvPr/>
          </p:nvSpPr>
          <p:spPr bwMode="auto">
            <a:xfrm>
              <a:off x="7764920" y="3368804"/>
              <a:ext cx="888247" cy="1019446"/>
            </a:xfrm>
            <a:custGeom>
              <a:avLst/>
              <a:gdLst/>
              <a:ahLst/>
              <a:cxnLst>
                <a:cxn ang="0">
                  <a:pos x="880" y="696"/>
                </a:cxn>
                <a:cxn ang="0">
                  <a:pos x="863" y="752"/>
                </a:cxn>
                <a:cxn ang="0">
                  <a:pos x="855" y="808"/>
                </a:cxn>
                <a:cxn ang="0">
                  <a:pos x="873" y="906"/>
                </a:cxn>
                <a:cxn ang="0">
                  <a:pos x="873" y="975"/>
                </a:cxn>
                <a:cxn ang="0">
                  <a:pos x="827" y="1088"/>
                </a:cxn>
                <a:cxn ang="0">
                  <a:pos x="827" y="1171"/>
                </a:cxn>
                <a:cxn ang="0">
                  <a:pos x="765" y="1220"/>
                </a:cxn>
                <a:cxn ang="0">
                  <a:pos x="742" y="1240"/>
                </a:cxn>
                <a:cxn ang="0">
                  <a:pos x="677" y="1182"/>
                </a:cxn>
                <a:cxn ang="0">
                  <a:pos x="664" y="1138"/>
                </a:cxn>
                <a:cxn ang="0">
                  <a:pos x="654" y="1067"/>
                </a:cxn>
                <a:cxn ang="0">
                  <a:pos x="689" y="1015"/>
                </a:cxn>
                <a:cxn ang="0">
                  <a:pos x="750" y="963"/>
                </a:cxn>
                <a:cxn ang="0">
                  <a:pos x="706" y="902"/>
                </a:cxn>
                <a:cxn ang="0">
                  <a:pos x="619" y="892"/>
                </a:cxn>
                <a:cxn ang="0">
                  <a:pos x="564" y="852"/>
                </a:cxn>
                <a:cxn ang="0">
                  <a:pos x="518" y="810"/>
                </a:cxn>
                <a:cxn ang="0">
                  <a:pos x="458" y="783"/>
                </a:cxn>
                <a:cxn ang="0">
                  <a:pos x="416" y="756"/>
                </a:cxn>
                <a:cxn ang="0">
                  <a:pos x="289" y="723"/>
                </a:cxn>
                <a:cxn ang="0">
                  <a:pos x="211" y="675"/>
                </a:cxn>
                <a:cxn ang="0">
                  <a:pos x="136" y="712"/>
                </a:cxn>
                <a:cxn ang="0">
                  <a:pos x="59" y="760"/>
                </a:cxn>
                <a:cxn ang="0">
                  <a:pos x="30" y="727"/>
                </a:cxn>
                <a:cxn ang="0">
                  <a:pos x="38" y="656"/>
                </a:cxn>
                <a:cxn ang="0">
                  <a:pos x="15" y="577"/>
                </a:cxn>
                <a:cxn ang="0">
                  <a:pos x="11" y="516"/>
                </a:cxn>
                <a:cxn ang="0">
                  <a:pos x="21" y="455"/>
                </a:cxn>
                <a:cxn ang="0">
                  <a:pos x="19" y="384"/>
                </a:cxn>
                <a:cxn ang="0">
                  <a:pos x="21" y="334"/>
                </a:cxn>
                <a:cxn ang="0">
                  <a:pos x="40" y="297"/>
                </a:cxn>
                <a:cxn ang="0">
                  <a:pos x="11" y="245"/>
                </a:cxn>
                <a:cxn ang="0">
                  <a:pos x="50" y="184"/>
                </a:cxn>
                <a:cxn ang="0">
                  <a:pos x="124" y="176"/>
                </a:cxn>
                <a:cxn ang="0">
                  <a:pos x="197" y="228"/>
                </a:cxn>
                <a:cxn ang="0">
                  <a:pos x="268" y="197"/>
                </a:cxn>
                <a:cxn ang="0">
                  <a:pos x="360" y="161"/>
                </a:cxn>
                <a:cxn ang="0">
                  <a:pos x="359" y="63"/>
                </a:cxn>
                <a:cxn ang="0">
                  <a:pos x="439" y="65"/>
                </a:cxn>
                <a:cxn ang="0">
                  <a:pos x="518" y="71"/>
                </a:cxn>
                <a:cxn ang="0">
                  <a:pos x="604" y="40"/>
                </a:cxn>
                <a:cxn ang="0">
                  <a:pos x="681" y="11"/>
                </a:cxn>
                <a:cxn ang="0">
                  <a:pos x="717" y="88"/>
                </a:cxn>
                <a:cxn ang="0">
                  <a:pos x="777" y="75"/>
                </a:cxn>
                <a:cxn ang="0">
                  <a:pos x="821" y="54"/>
                </a:cxn>
                <a:cxn ang="0">
                  <a:pos x="877" y="0"/>
                </a:cxn>
                <a:cxn ang="0">
                  <a:pos x="951" y="42"/>
                </a:cxn>
                <a:cxn ang="0">
                  <a:pos x="1001" y="63"/>
                </a:cxn>
                <a:cxn ang="0">
                  <a:pos x="1036" y="130"/>
                </a:cxn>
                <a:cxn ang="0">
                  <a:pos x="1082" y="219"/>
                </a:cxn>
                <a:cxn ang="0">
                  <a:pos x="1084" y="292"/>
                </a:cxn>
                <a:cxn ang="0">
                  <a:pos x="1024" y="316"/>
                </a:cxn>
                <a:cxn ang="0">
                  <a:pos x="1053" y="389"/>
                </a:cxn>
                <a:cxn ang="0">
                  <a:pos x="1078" y="457"/>
                </a:cxn>
                <a:cxn ang="0">
                  <a:pos x="1017" y="537"/>
                </a:cxn>
                <a:cxn ang="0">
                  <a:pos x="957" y="589"/>
                </a:cxn>
                <a:cxn ang="0">
                  <a:pos x="951" y="556"/>
                </a:cxn>
                <a:cxn ang="0">
                  <a:pos x="911" y="572"/>
                </a:cxn>
                <a:cxn ang="0">
                  <a:pos x="880" y="620"/>
                </a:cxn>
              </a:cxnLst>
              <a:rect l="0" t="0" r="r" b="b"/>
              <a:pathLst>
                <a:path w="1088" h="1249">
                  <a:moveTo>
                    <a:pt x="890" y="668"/>
                  </a:moveTo>
                  <a:lnTo>
                    <a:pt x="886" y="675"/>
                  </a:lnTo>
                  <a:lnTo>
                    <a:pt x="873" y="675"/>
                  </a:lnTo>
                  <a:lnTo>
                    <a:pt x="873" y="695"/>
                  </a:lnTo>
                  <a:lnTo>
                    <a:pt x="880" y="696"/>
                  </a:lnTo>
                  <a:lnTo>
                    <a:pt x="886" y="706"/>
                  </a:lnTo>
                  <a:lnTo>
                    <a:pt x="886" y="727"/>
                  </a:lnTo>
                  <a:lnTo>
                    <a:pt x="873" y="737"/>
                  </a:lnTo>
                  <a:lnTo>
                    <a:pt x="855" y="746"/>
                  </a:lnTo>
                  <a:lnTo>
                    <a:pt x="863" y="752"/>
                  </a:lnTo>
                  <a:lnTo>
                    <a:pt x="877" y="743"/>
                  </a:lnTo>
                  <a:lnTo>
                    <a:pt x="882" y="762"/>
                  </a:lnTo>
                  <a:lnTo>
                    <a:pt x="877" y="779"/>
                  </a:lnTo>
                  <a:lnTo>
                    <a:pt x="863" y="791"/>
                  </a:lnTo>
                  <a:lnTo>
                    <a:pt x="855" y="808"/>
                  </a:lnTo>
                  <a:lnTo>
                    <a:pt x="875" y="823"/>
                  </a:lnTo>
                  <a:lnTo>
                    <a:pt x="882" y="838"/>
                  </a:lnTo>
                  <a:lnTo>
                    <a:pt x="882" y="863"/>
                  </a:lnTo>
                  <a:lnTo>
                    <a:pt x="882" y="886"/>
                  </a:lnTo>
                  <a:lnTo>
                    <a:pt x="873" y="906"/>
                  </a:lnTo>
                  <a:lnTo>
                    <a:pt x="875" y="925"/>
                  </a:lnTo>
                  <a:lnTo>
                    <a:pt x="880" y="933"/>
                  </a:lnTo>
                  <a:lnTo>
                    <a:pt x="878" y="946"/>
                  </a:lnTo>
                  <a:lnTo>
                    <a:pt x="880" y="963"/>
                  </a:lnTo>
                  <a:lnTo>
                    <a:pt x="873" y="975"/>
                  </a:lnTo>
                  <a:lnTo>
                    <a:pt x="857" y="994"/>
                  </a:lnTo>
                  <a:lnTo>
                    <a:pt x="850" y="1019"/>
                  </a:lnTo>
                  <a:lnTo>
                    <a:pt x="842" y="1044"/>
                  </a:lnTo>
                  <a:lnTo>
                    <a:pt x="832" y="1069"/>
                  </a:lnTo>
                  <a:lnTo>
                    <a:pt x="827" y="1088"/>
                  </a:lnTo>
                  <a:lnTo>
                    <a:pt x="813" y="1103"/>
                  </a:lnTo>
                  <a:lnTo>
                    <a:pt x="811" y="1124"/>
                  </a:lnTo>
                  <a:lnTo>
                    <a:pt x="815" y="1142"/>
                  </a:lnTo>
                  <a:lnTo>
                    <a:pt x="819" y="1157"/>
                  </a:lnTo>
                  <a:lnTo>
                    <a:pt x="827" y="1171"/>
                  </a:lnTo>
                  <a:lnTo>
                    <a:pt x="806" y="1172"/>
                  </a:lnTo>
                  <a:lnTo>
                    <a:pt x="800" y="1190"/>
                  </a:lnTo>
                  <a:lnTo>
                    <a:pt x="790" y="1201"/>
                  </a:lnTo>
                  <a:lnTo>
                    <a:pt x="783" y="1213"/>
                  </a:lnTo>
                  <a:lnTo>
                    <a:pt x="765" y="1220"/>
                  </a:lnTo>
                  <a:lnTo>
                    <a:pt x="763" y="1236"/>
                  </a:lnTo>
                  <a:lnTo>
                    <a:pt x="761" y="1247"/>
                  </a:lnTo>
                  <a:lnTo>
                    <a:pt x="758" y="1249"/>
                  </a:lnTo>
                  <a:lnTo>
                    <a:pt x="758" y="1245"/>
                  </a:lnTo>
                  <a:lnTo>
                    <a:pt x="742" y="1240"/>
                  </a:lnTo>
                  <a:lnTo>
                    <a:pt x="729" y="1224"/>
                  </a:lnTo>
                  <a:lnTo>
                    <a:pt x="710" y="1213"/>
                  </a:lnTo>
                  <a:lnTo>
                    <a:pt x="690" y="1201"/>
                  </a:lnTo>
                  <a:lnTo>
                    <a:pt x="683" y="1184"/>
                  </a:lnTo>
                  <a:lnTo>
                    <a:pt x="677" y="1182"/>
                  </a:lnTo>
                  <a:lnTo>
                    <a:pt x="683" y="1178"/>
                  </a:lnTo>
                  <a:lnTo>
                    <a:pt x="685" y="1167"/>
                  </a:lnTo>
                  <a:lnTo>
                    <a:pt x="683" y="1151"/>
                  </a:lnTo>
                  <a:lnTo>
                    <a:pt x="671" y="1149"/>
                  </a:lnTo>
                  <a:lnTo>
                    <a:pt x="664" y="1138"/>
                  </a:lnTo>
                  <a:lnTo>
                    <a:pt x="664" y="1124"/>
                  </a:lnTo>
                  <a:lnTo>
                    <a:pt x="646" y="1119"/>
                  </a:lnTo>
                  <a:lnTo>
                    <a:pt x="644" y="1100"/>
                  </a:lnTo>
                  <a:lnTo>
                    <a:pt x="646" y="1082"/>
                  </a:lnTo>
                  <a:lnTo>
                    <a:pt x="654" y="1067"/>
                  </a:lnTo>
                  <a:lnTo>
                    <a:pt x="654" y="1055"/>
                  </a:lnTo>
                  <a:lnTo>
                    <a:pt x="667" y="1057"/>
                  </a:lnTo>
                  <a:lnTo>
                    <a:pt x="690" y="1057"/>
                  </a:lnTo>
                  <a:lnTo>
                    <a:pt x="687" y="1042"/>
                  </a:lnTo>
                  <a:lnTo>
                    <a:pt x="689" y="1015"/>
                  </a:lnTo>
                  <a:lnTo>
                    <a:pt x="708" y="1015"/>
                  </a:lnTo>
                  <a:lnTo>
                    <a:pt x="717" y="998"/>
                  </a:lnTo>
                  <a:lnTo>
                    <a:pt x="723" y="986"/>
                  </a:lnTo>
                  <a:lnTo>
                    <a:pt x="736" y="975"/>
                  </a:lnTo>
                  <a:lnTo>
                    <a:pt x="750" y="963"/>
                  </a:lnTo>
                  <a:lnTo>
                    <a:pt x="750" y="942"/>
                  </a:lnTo>
                  <a:lnTo>
                    <a:pt x="740" y="938"/>
                  </a:lnTo>
                  <a:lnTo>
                    <a:pt x="721" y="929"/>
                  </a:lnTo>
                  <a:lnTo>
                    <a:pt x="706" y="913"/>
                  </a:lnTo>
                  <a:lnTo>
                    <a:pt x="706" y="902"/>
                  </a:lnTo>
                  <a:lnTo>
                    <a:pt x="683" y="902"/>
                  </a:lnTo>
                  <a:lnTo>
                    <a:pt x="662" y="906"/>
                  </a:lnTo>
                  <a:lnTo>
                    <a:pt x="650" y="896"/>
                  </a:lnTo>
                  <a:lnTo>
                    <a:pt x="637" y="886"/>
                  </a:lnTo>
                  <a:lnTo>
                    <a:pt x="619" y="892"/>
                  </a:lnTo>
                  <a:lnTo>
                    <a:pt x="600" y="892"/>
                  </a:lnTo>
                  <a:lnTo>
                    <a:pt x="587" y="892"/>
                  </a:lnTo>
                  <a:lnTo>
                    <a:pt x="583" y="879"/>
                  </a:lnTo>
                  <a:lnTo>
                    <a:pt x="577" y="863"/>
                  </a:lnTo>
                  <a:lnTo>
                    <a:pt x="564" y="852"/>
                  </a:lnTo>
                  <a:lnTo>
                    <a:pt x="560" y="837"/>
                  </a:lnTo>
                  <a:lnTo>
                    <a:pt x="548" y="831"/>
                  </a:lnTo>
                  <a:lnTo>
                    <a:pt x="547" y="821"/>
                  </a:lnTo>
                  <a:lnTo>
                    <a:pt x="533" y="808"/>
                  </a:lnTo>
                  <a:lnTo>
                    <a:pt x="518" y="810"/>
                  </a:lnTo>
                  <a:lnTo>
                    <a:pt x="504" y="812"/>
                  </a:lnTo>
                  <a:lnTo>
                    <a:pt x="489" y="800"/>
                  </a:lnTo>
                  <a:lnTo>
                    <a:pt x="477" y="802"/>
                  </a:lnTo>
                  <a:lnTo>
                    <a:pt x="464" y="796"/>
                  </a:lnTo>
                  <a:lnTo>
                    <a:pt x="458" y="783"/>
                  </a:lnTo>
                  <a:lnTo>
                    <a:pt x="449" y="781"/>
                  </a:lnTo>
                  <a:lnTo>
                    <a:pt x="449" y="771"/>
                  </a:lnTo>
                  <a:lnTo>
                    <a:pt x="439" y="766"/>
                  </a:lnTo>
                  <a:lnTo>
                    <a:pt x="428" y="764"/>
                  </a:lnTo>
                  <a:lnTo>
                    <a:pt x="416" y="756"/>
                  </a:lnTo>
                  <a:lnTo>
                    <a:pt x="408" y="748"/>
                  </a:lnTo>
                  <a:lnTo>
                    <a:pt x="408" y="739"/>
                  </a:lnTo>
                  <a:lnTo>
                    <a:pt x="382" y="739"/>
                  </a:lnTo>
                  <a:lnTo>
                    <a:pt x="291" y="739"/>
                  </a:lnTo>
                  <a:lnTo>
                    <a:pt x="289" y="723"/>
                  </a:lnTo>
                  <a:lnTo>
                    <a:pt x="291" y="702"/>
                  </a:lnTo>
                  <a:lnTo>
                    <a:pt x="299" y="687"/>
                  </a:lnTo>
                  <a:lnTo>
                    <a:pt x="303" y="675"/>
                  </a:lnTo>
                  <a:lnTo>
                    <a:pt x="224" y="670"/>
                  </a:lnTo>
                  <a:lnTo>
                    <a:pt x="211" y="675"/>
                  </a:lnTo>
                  <a:lnTo>
                    <a:pt x="197" y="675"/>
                  </a:lnTo>
                  <a:lnTo>
                    <a:pt x="186" y="685"/>
                  </a:lnTo>
                  <a:lnTo>
                    <a:pt x="184" y="695"/>
                  </a:lnTo>
                  <a:lnTo>
                    <a:pt x="161" y="708"/>
                  </a:lnTo>
                  <a:lnTo>
                    <a:pt x="136" y="712"/>
                  </a:lnTo>
                  <a:lnTo>
                    <a:pt x="128" y="721"/>
                  </a:lnTo>
                  <a:lnTo>
                    <a:pt x="109" y="727"/>
                  </a:lnTo>
                  <a:lnTo>
                    <a:pt x="96" y="746"/>
                  </a:lnTo>
                  <a:lnTo>
                    <a:pt x="75" y="752"/>
                  </a:lnTo>
                  <a:lnTo>
                    <a:pt x="59" y="760"/>
                  </a:lnTo>
                  <a:lnTo>
                    <a:pt x="40" y="764"/>
                  </a:lnTo>
                  <a:lnTo>
                    <a:pt x="25" y="764"/>
                  </a:lnTo>
                  <a:lnTo>
                    <a:pt x="17" y="750"/>
                  </a:lnTo>
                  <a:lnTo>
                    <a:pt x="17" y="733"/>
                  </a:lnTo>
                  <a:lnTo>
                    <a:pt x="30" y="727"/>
                  </a:lnTo>
                  <a:lnTo>
                    <a:pt x="42" y="714"/>
                  </a:lnTo>
                  <a:lnTo>
                    <a:pt x="50" y="696"/>
                  </a:lnTo>
                  <a:lnTo>
                    <a:pt x="50" y="681"/>
                  </a:lnTo>
                  <a:lnTo>
                    <a:pt x="50" y="670"/>
                  </a:lnTo>
                  <a:lnTo>
                    <a:pt x="38" y="656"/>
                  </a:lnTo>
                  <a:lnTo>
                    <a:pt x="27" y="641"/>
                  </a:lnTo>
                  <a:lnTo>
                    <a:pt x="15" y="625"/>
                  </a:lnTo>
                  <a:lnTo>
                    <a:pt x="15" y="610"/>
                  </a:lnTo>
                  <a:lnTo>
                    <a:pt x="13" y="595"/>
                  </a:lnTo>
                  <a:lnTo>
                    <a:pt x="15" y="577"/>
                  </a:lnTo>
                  <a:lnTo>
                    <a:pt x="25" y="568"/>
                  </a:lnTo>
                  <a:lnTo>
                    <a:pt x="25" y="556"/>
                  </a:lnTo>
                  <a:lnTo>
                    <a:pt x="17" y="543"/>
                  </a:lnTo>
                  <a:lnTo>
                    <a:pt x="23" y="528"/>
                  </a:lnTo>
                  <a:lnTo>
                    <a:pt x="11" y="516"/>
                  </a:lnTo>
                  <a:lnTo>
                    <a:pt x="21" y="501"/>
                  </a:lnTo>
                  <a:lnTo>
                    <a:pt x="40" y="489"/>
                  </a:lnTo>
                  <a:lnTo>
                    <a:pt x="40" y="474"/>
                  </a:lnTo>
                  <a:lnTo>
                    <a:pt x="27" y="466"/>
                  </a:lnTo>
                  <a:lnTo>
                    <a:pt x="21" y="455"/>
                  </a:lnTo>
                  <a:lnTo>
                    <a:pt x="21" y="441"/>
                  </a:lnTo>
                  <a:lnTo>
                    <a:pt x="32" y="435"/>
                  </a:lnTo>
                  <a:lnTo>
                    <a:pt x="34" y="414"/>
                  </a:lnTo>
                  <a:lnTo>
                    <a:pt x="25" y="401"/>
                  </a:lnTo>
                  <a:lnTo>
                    <a:pt x="19" y="384"/>
                  </a:lnTo>
                  <a:lnTo>
                    <a:pt x="21" y="366"/>
                  </a:lnTo>
                  <a:lnTo>
                    <a:pt x="36" y="364"/>
                  </a:lnTo>
                  <a:lnTo>
                    <a:pt x="42" y="355"/>
                  </a:lnTo>
                  <a:lnTo>
                    <a:pt x="32" y="345"/>
                  </a:lnTo>
                  <a:lnTo>
                    <a:pt x="21" y="334"/>
                  </a:lnTo>
                  <a:lnTo>
                    <a:pt x="27" y="324"/>
                  </a:lnTo>
                  <a:lnTo>
                    <a:pt x="42" y="324"/>
                  </a:lnTo>
                  <a:lnTo>
                    <a:pt x="53" y="313"/>
                  </a:lnTo>
                  <a:lnTo>
                    <a:pt x="52" y="301"/>
                  </a:lnTo>
                  <a:lnTo>
                    <a:pt x="40" y="297"/>
                  </a:lnTo>
                  <a:lnTo>
                    <a:pt x="19" y="305"/>
                  </a:lnTo>
                  <a:lnTo>
                    <a:pt x="0" y="293"/>
                  </a:lnTo>
                  <a:lnTo>
                    <a:pt x="0" y="278"/>
                  </a:lnTo>
                  <a:lnTo>
                    <a:pt x="4" y="261"/>
                  </a:lnTo>
                  <a:lnTo>
                    <a:pt x="11" y="245"/>
                  </a:lnTo>
                  <a:lnTo>
                    <a:pt x="27" y="238"/>
                  </a:lnTo>
                  <a:lnTo>
                    <a:pt x="38" y="226"/>
                  </a:lnTo>
                  <a:lnTo>
                    <a:pt x="36" y="211"/>
                  </a:lnTo>
                  <a:lnTo>
                    <a:pt x="40" y="196"/>
                  </a:lnTo>
                  <a:lnTo>
                    <a:pt x="50" y="184"/>
                  </a:lnTo>
                  <a:lnTo>
                    <a:pt x="65" y="184"/>
                  </a:lnTo>
                  <a:lnTo>
                    <a:pt x="82" y="173"/>
                  </a:lnTo>
                  <a:lnTo>
                    <a:pt x="101" y="161"/>
                  </a:lnTo>
                  <a:lnTo>
                    <a:pt x="117" y="163"/>
                  </a:lnTo>
                  <a:lnTo>
                    <a:pt x="124" y="176"/>
                  </a:lnTo>
                  <a:lnTo>
                    <a:pt x="132" y="194"/>
                  </a:lnTo>
                  <a:lnTo>
                    <a:pt x="147" y="211"/>
                  </a:lnTo>
                  <a:lnTo>
                    <a:pt x="157" y="222"/>
                  </a:lnTo>
                  <a:lnTo>
                    <a:pt x="172" y="228"/>
                  </a:lnTo>
                  <a:lnTo>
                    <a:pt x="197" y="228"/>
                  </a:lnTo>
                  <a:lnTo>
                    <a:pt x="217" y="224"/>
                  </a:lnTo>
                  <a:lnTo>
                    <a:pt x="230" y="224"/>
                  </a:lnTo>
                  <a:lnTo>
                    <a:pt x="243" y="217"/>
                  </a:lnTo>
                  <a:lnTo>
                    <a:pt x="257" y="203"/>
                  </a:lnTo>
                  <a:lnTo>
                    <a:pt x="268" y="197"/>
                  </a:lnTo>
                  <a:lnTo>
                    <a:pt x="301" y="199"/>
                  </a:lnTo>
                  <a:lnTo>
                    <a:pt x="320" y="196"/>
                  </a:lnTo>
                  <a:lnTo>
                    <a:pt x="328" y="176"/>
                  </a:lnTo>
                  <a:lnTo>
                    <a:pt x="349" y="173"/>
                  </a:lnTo>
                  <a:lnTo>
                    <a:pt x="360" y="161"/>
                  </a:lnTo>
                  <a:lnTo>
                    <a:pt x="360" y="153"/>
                  </a:lnTo>
                  <a:lnTo>
                    <a:pt x="374" y="144"/>
                  </a:lnTo>
                  <a:lnTo>
                    <a:pt x="376" y="90"/>
                  </a:lnTo>
                  <a:lnTo>
                    <a:pt x="368" y="77"/>
                  </a:lnTo>
                  <a:lnTo>
                    <a:pt x="359" y="63"/>
                  </a:lnTo>
                  <a:lnTo>
                    <a:pt x="378" y="57"/>
                  </a:lnTo>
                  <a:lnTo>
                    <a:pt x="401" y="44"/>
                  </a:lnTo>
                  <a:lnTo>
                    <a:pt x="410" y="55"/>
                  </a:lnTo>
                  <a:lnTo>
                    <a:pt x="416" y="63"/>
                  </a:lnTo>
                  <a:lnTo>
                    <a:pt x="439" y="65"/>
                  </a:lnTo>
                  <a:lnTo>
                    <a:pt x="451" y="71"/>
                  </a:lnTo>
                  <a:lnTo>
                    <a:pt x="464" y="78"/>
                  </a:lnTo>
                  <a:lnTo>
                    <a:pt x="481" y="80"/>
                  </a:lnTo>
                  <a:lnTo>
                    <a:pt x="502" y="75"/>
                  </a:lnTo>
                  <a:lnTo>
                    <a:pt x="518" y="71"/>
                  </a:lnTo>
                  <a:lnTo>
                    <a:pt x="531" y="65"/>
                  </a:lnTo>
                  <a:lnTo>
                    <a:pt x="547" y="50"/>
                  </a:lnTo>
                  <a:lnTo>
                    <a:pt x="573" y="52"/>
                  </a:lnTo>
                  <a:lnTo>
                    <a:pt x="587" y="50"/>
                  </a:lnTo>
                  <a:lnTo>
                    <a:pt x="604" y="40"/>
                  </a:lnTo>
                  <a:lnTo>
                    <a:pt x="623" y="23"/>
                  </a:lnTo>
                  <a:lnTo>
                    <a:pt x="633" y="15"/>
                  </a:lnTo>
                  <a:lnTo>
                    <a:pt x="652" y="6"/>
                  </a:lnTo>
                  <a:lnTo>
                    <a:pt x="667" y="6"/>
                  </a:lnTo>
                  <a:lnTo>
                    <a:pt x="681" y="11"/>
                  </a:lnTo>
                  <a:lnTo>
                    <a:pt x="698" y="25"/>
                  </a:lnTo>
                  <a:lnTo>
                    <a:pt x="704" y="46"/>
                  </a:lnTo>
                  <a:lnTo>
                    <a:pt x="713" y="61"/>
                  </a:lnTo>
                  <a:lnTo>
                    <a:pt x="715" y="77"/>
                  </a:lnTo>
                  <a:lnTo>
                    <a:pt x="717" y="88"/>
                  </a:lnTo>
                  <a:lnTo>
                    <a:pt x="731" y="96"/>
                  </a:lnTo>
                  <a:lnTo>
                    <a:pt x="748" y="96"/>
                  </a:lnTo>
                  <a:lnTo>
                    <a:pt x="750" y="82"/>
                  </a:lnTo>
                  <a:lnTo>
                    <a:pt x="765" y="82"/>
                  </a:lnTo>
                  <a:lnTo>
                    <a:pt x="777" y="75"/>
                  </a:lnTo>
                  <a:lnTo>
                    <a:pt x="784" y="65"/>
                  </a:lnTo>
                  <a:lnTo>
                    <a:pt x="788" y="52"/>
                  </a:lnTo>
                  <a:lnTo>
                    <a:pt x="802" y="50"/>
                  </a:lnTo>
                  <a:lnTo>
                    <a:pt x="811" y="52"/>
                  </a:lnTo>
                  <a:lnTo>
                    <a:pt x="821" y="54"/>
                  </a:lnTo>
                  <a:lnTo>
                    <a:pt x="827" y="40"/>
                  </a:lnTo>
                  <a:lnTo>
                    <a:pt x="838" y="25"/>
                  </a:lnTo>
                  <a:lnTo>
                    <a:pt x="850" y="11"/>
                  </a:lnTo>
                  <a:lnTo>
                    <a:pt x="863" y="6"/>
                  </a:lnTo>
                  <a:lnTo>
                    <a:pt x="877" y="0"/>
                  </a:lnTo>
                  <a:lnTo>
                    <a:pt x="890" y="9"/>
                  </a:lnTo>
                  <a:lnTo>
                    <a:pt x="909" y="15"/>
                  </a:lnTo>
                  <a:lnTo>
                    <a:pt x="923" y="25"/>
                  </a:lnTo>
                  <a:lnTo>
                    <a:pt x="936" y="36"/>
                  </a:lnTo>
                  <a:lnTo>
                    <a:pt x="951" y="42"/>
                  </a:lnTo>
                  <a:lnTo>
                    <a:pt x="965" y="48"/>
                  </a:lnTo>
                  <a:lnTo>
                    <a:pt x="978" y="50"/>
                  </a:lnTo>
                  <a:lnTo>
                    <a:pt x="984" y="40"/>
                  </a:lnTo>
                  <a:lnTo>
                    <a:pt x="997" y="44"/>
                  </a:lnTo>
                  <a:lnTo>
                    <a:pt x="1001" y="63"/>
                  </a:lnTo>
                  <a:lnTo>
                    <a:pt x="995" y="75"/>
                  </a:lnTo>
                  <a:lnTo>
                    <a:pt x="1009" y="82"/>
                  </a:lnTo>
                  <a:lnTo>
                    <a:pt x="1020" y="102"/>
                  </a:lnTo>
                  <a:lnTo>
                    <a:pt x="1024" y="113"/>
                  </a:lnTo>
                  <a:lnTo>
                    <a:pt x="1036" y="130"/>
                  </a:lnTo>
                  <a:lnTo>
                    <a:pt x="1049" y="153"/>
                  </a:lnTo>
                  <a:lnTo>
                    <a:pt x="1051" y="173"/>
                  </a:lnTo>
                  <a:lnTo>
                    <a:pt x="1063" y="192"/>
                  </a:lnTo>
                  <a:lnTo>
                    <a:pt x="1072" y="199"/>
                  </a:lnTo>
                  <a:lnTo>
                    <a:pt x="1082" y="219"/>
                  </a:lnTo>
                  <a:lnTo>
                    <a:pt x="1086" y="230"/>
                  </a:lnTo>
                  <a:lnTo>
                    <a:pt x="1082" y="242"/>
                  </a:lnTo>
                  <a:lnTo>
                    <a:pt x="1076" y="253"/>
                  </a:lnTo>
                  <a:lnTo>
                    <a:pt x="1078" y="274"/>
                  </a:lnTo>
                  <a:lnTo>
                    <a:pt x="1084" y="292"/>
                  </a:lnTo>
                  <a:lnTo>
                    <a:pt x="1074" y="301"/>
                  </a:lnTo>
                  <a:lnTo>
                    <a:pt x="1063" y="307"/>
                  </a:lnTo>
                  <a:lnTo>
                    <a:pt x="1047" y="307"/>
                  </a:lnTo>
                  <a:lnTo>
                    <a:pt x="1030" y="307"/>
                  </a:lnTo>
                  <a:lnTo>
                    <a:pt x="1024" y="316"/>
                  </a:lnTo>
                  <a:lnTo>
                    <a:pt x="1030" y="336"/>
                  </a:lnTo>
                  <a:lnTo>
                    <a:pt x="1030" y="355"/>
                  </a:lnTo>
                  <a:lnTo>
                    <a:pt x="1036" y="370"/>
                  </a:lnTo>
                  <a:lnTo>
                    <a:pt x="1047" y="374"/>
                  </a:lnTo>
                  <a:lnTo>
                    <a:pt x="1053" y="389"/>
                  </a:lnTo>
                  <a:lnTo>
                    <a:pt x="1055" y="407"/>
                  </a:lnTo>
                  <a:lnTo>
                    <a:pt x="1068" y="412"/>
                  </a:lnTo>
                  <a:lnTo>
                    <a:pt x="1084" y="420"/>
                  </a:lnTo>
                  <a:lnTo>
                    <a:pt x="1088" y="434"/>
                  </a:lnTo>
                  <a:lnTo>
                    <a:pt x="1078" y="457"/>
                  </a:lnTo>
                  <a:lnTo>
                    <a:pt x="1063" y="478"/>
                  </a:lnTo>
                  <a:lnTo>
                    <a:pt x="1053" y="497"/>
                  </a:lnTo>
                  <a:lnTo>
                    <a:pt x="1043" y="512"/>
                  </a:lnTo>
                  <a:lnTo>
                    <a:pt x="1034" y="531"/>
                  </a:lnTo>
                  <a:lnTo>
                    <a:pt x="1017" y="537"/>
                  </a:lnTo>
                  <a:lnTo>
                    <a:pt x="999" y="554"/>
                  </a:lnTo>
                  <a:lnTo>
                    <a:pt x="986" y="564"/>
                  </a:lnTo>
                  <a:lnTo>
                    <a:pt x="978" y="581"/>
                  </a:lnTo>
                  <a:lnTo>
                    <a:pt x="969" y="593"/>
                  </a:lnTo>
                  <a:lnTo>
                    <a:pt x="957" y="589"/>
                  </a:lnTo>
                  <a:lnTo>
                    <a:pt x="955" y="579"/>
                  </a:lnTo>
                  <a:lnTo>
                    <a:pt x="932" y="585"/>
                  </a:lnTo>
                  <a:lnTo>
                    <a:pt x="932" y="572"/>
                  </a:lnTo>
                  <a:lnTo>
                    <a:pt x="940" y="558"/>
                  </a:lnTo>
                  <a:lnTo>
                    <a:pt x="951" y="556"/>
                  </a:lnTo>
                  <a:lnTo>
                    <a:pt x="934" y="543"/>
                  </a:lnTo>
                  <a:lnTo>
                    <a:pt x="921" y="539"/>
                  </a:lnTo>
                  <a:lnTo>
                    <a:pt x="917" y="551"/>
                  </a:lnTo>
                  <a:lnTo>
                    <a:pt x="923" y="564"/>
                  </a:lnTo>
                  <a:lnTo>
                    <a:pt x="911" y="572"/>
                  </a:lnTo>
                  <a:lnTo>
                    <a:pt x="903" y="583"/>
                  </a:lnTo>
                  <a:lnTo>
                    <a:pt x="909" y="599"/>
                  </a:lnTo>
                  <a:lnTo>
                    <a:pt x="911" y="612"/>
                  </a:lnTo>
                  <a:lnTo>
                    <a:pt x="898" y="614"/>
                  </a:lnTo>
                  <a:lnTo>
                    <a:pt x="880" y="620"/>
                  </a:lnTo>
                  <a:lnTo>
                    <a:pt x="878" y="633"/>
                  </a:lnTo>
                  <a:lnTo>
                    <a:pt x="873" y="645"/>
                  </a:lnTo>
                  <a:lnTo>
                    <a:pt x="878" y="654"/>
                  </a:lnTo>
                  <a:lnTo>
                    <a:pt x="890" y="668"/>
                  </a:lnTo>
                  <a:close/>
                </a:path>
              </a:pathLst>
            </a:custGeom>
            <a:solidFill>
              <a:srgbClr val="FFCCCD"/>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4" name="Freeform 38">
              <a:extLst>
                <a:ext uri="{FF2B5EF4-FFF2-40B4-BE49-F238E27FC236}">
                  <a16:creationId xmlns:a16="http://schemas.microsoft.com/office/drawing/2014/main" id="{257F4E79-69DF-7431-D523-1D02DA72B398}"/>
                </a:ext>
              </a:extLst>
            </p:cNvPr>
            <p:cNvSpPr>
              <a:spLocks noChangeAspect="1"/>
            </p:cNvSpPr>
            <p:nvPr/>
          </p:nvSpPr>
          <p:spPr bwMode="auto">
            <a:xfrm>
              <a:off x="8497170" y="3882019"/>
              <a:ext cx="11641" cy="1280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5" name="Freeform 39">
              <a:extLst>
                <a:ext uri="{FF2B5EF4-FFF2-40B4-BE49-F238E27FC236}">
                  <a16:creationId xmlns:a16="http://schemas.microsoft.com/office/drawing/2014/main" id="{717FFF16-FC24-40E7-86E5-9E3A56A3D6E4}"/>
                </a:ext>
              </a:extLst>
            </p:cNvPr>
            <p:cNvSpPr>
              <a:spLocks noChangeAspect="1"/>
            </p:cNvSpPr>
            <p:nvPr/>
          </p:nvSpPr>
          <p:spPr bwMode="auto">
            <a:xfrm>
              <a:off x="8497170" y="3882019"/>
              <a:ext cx="11641" cy="1280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6" name="Freeform 40">
              <a:extLst>
                <a:ext uri="{FF2B5EF4-FFF2-40B4-BE49-F238E27FC236}">
                  <a16:creationId xmlns:a16="http://schemas.microsoft.com/office/drawing/2014/main" id="{4446C897-523A-555C-C54E-CB636C08427F}"/>
                </a:ext>
              </a:extLst>
            </p:cNvPr>
            <p:cNvSpPr>
              <a:spLocks noChangeAspect="1"/>
            </p:cNvSpPr>
            <p:nvPr/>
          </p:nvSpPr>
          <p:spPr bwMode="auto">
            <a:xfrm>
              <a:off x="7232902" y="2515775"/>
              <a:ext cx="1164" cy="1164"/>
            </a:xfrm>
            <a:custGeom>
              <a:avLst/>
              <a:gdLst/>
              <a:ahLst/>
              <a:cxnLst>
                <a:cxn ang="0">
                  <a:pos x="0" y="2"/>
                </a:cxn>
                <a:cxn ang="0">
                  <a:pos x="2" y="2"/>
                </a:cxn>
                <a:cxn ang="0">
                  <a:pos x="2" y="0"/>
                </a:cxn>
                <a:cxn ang="0">
                  <a:pos x="2" y="2"/>
                </a:cxn>
                <a:cxn ang="0">
                  <a:pos x="0" y="2"/>
                </a:cxn>
              </a:cxnLst>
              <a:rect l="0" t="0" r="r" b="b"/>
              <a:pathLst>
                <a:path w="2" h="2">
                  <a:moveTo>
                    <a:pt x="0" y="2"/>
                  </a:moveTo>
                  <a:lnTo>
                    <a:pt x="2" y="2"/>
                  </a:lnTo>
                  <a:lnTo>
                    <a:pt x="2" y="0"/>
                  </a:lnTo>
                  <a:lnTo>
                    <a:pt x="2" y="2"/>
                  </a:lnTo>
                  <a:lnTo>
                    <a:pt x="0" y="2"/>
                  </a:lnTo>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7" name="Rectangle 41">
              <a:extLst>
                <a:ext uri="{FF2B5EF4-FFF2-40B4-BE49-F238E27FC236}">
                  <a16:creationId xmlns:a16="http://schemas.microsoft.com/office/drawing/2014/main" id="{13A20F7C-6786-5990-6871-6A52863FC8FE}"/>
                </a:ext>
              </a:extLst>
            </p:cNvPr>
            <p:cNvSpPr>
              <a:spLocks noChangeAspect="1" noChangeArrowheads="1"/>
            </p:cNvSpPr>
            <p:nvPr/>
          </p:nvSpPr>
          <p:spPr bwMode="auto">
            <a:xfrm>
              <a:off x="7234066" y="2515775"/>
              <a:ext cx="1164" cy="0"/>
            </a:xfrm>
            <a:prstGeom prst="rect">
              <a:avLst/>
            </a:prstGeom>
            <a:solidFill>
              <a:schemeClr val="bg1">
                <a:lumMod val="95000"/>
              </a:schemeClr>
            </a:solidFill>
            <a:ln w="6350">
              <a:solidFill>
                <a:schemeClr val="bg1"/>
              </a:solidFill>
              <a:miter lim="800000"/>
              <a:headEnd/>
              <a:tailEnd/>
            </a:ln>
          </p:spPr>
          <p:txBody>
            <a:bodyPr/>
            <a:lstStyle/>
            <a:p>
              <a:endParaRPr lang="pt-BR" dirty="0">
                <a:latin typeface="Poppins" panose="00000500000000000000" pitchFamily="2" charset="0"/>
                <a:cs typeface="Poppins" panose="00000500000000000000" pitchFamily="2" charset="0"/>
              </a:endParaRPr>
            </a:p>
          </p:txBody>
        </p:sp>
        <p:sp>
          <p:nvSpPr>
            <p:cNvPr id="158" name="Freeform 42">
              <a:extLst>
                <a:ext uri="{FF2B5EF4-FFF2-40B4-BE49-F238E27FC236}">
                  <a16:creationId xmlns:a16="http://schemas.microsoft.com/office/drawing/2014/main" id="{EB64211F-7E91-492C-804C-15FE5003EEE5}"/>
                </a:ext>
              </a:extLst>
            </p:cNvPr>
            <p:cNvSpPr>
              <a:spLocks noChangeAspect="1"/>
            </p:cNvSpPr>
            <p:nvPr/>
          </p:nvSpPr>
          <p:spPr bwMode="auto">
            <a:xfrm>
              <a:off x="7236395" y="2513447"/>
              <a:ext cx="0" cy="2328"/>
            </a:xfrm>
            <a:custGeom>
              <a:avLst/>
              <a:gdLst/>
              <a:ahLst/>
              <a:cxnLst>
                <a:cxn ang="0">
                  <a:pos x="0" y="2"/>
                </a:cxn>
                <a:cxn ang="0">
                  <a:pos x="0" y="0"/>
                </a:cxn>
                <a:cxn ang="0">
                  <a:pos x="0" y="0"/>
                </a:cxn>
                <a:cxn ang="0">
                  <a:pos x="0" y="2"/>
                </a:cxn>
              </a:cxnLst>
              <a:rect l="0" t="0" r="r" b="b"/>
              <a:pathLst>
                <a:path h="2">
                  <a:moveTo>
                    <a:pt x="0" y="2"/>
                  </a:moveTo>
                  <a:lnTo>
                    <a:pt x="0" y="0"/>
                  </a:lnTo>
                  <a:lnTo>
                    <a:pt x="0" y="0"/>
                  </a:lnTo>
                  <a:lnTo>
                    <a:pt x="0" y="2"/>
                  </a:lnTo>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59" name="Freeform 43">
              <a:extLst>
                <a:ext uri="{FF2B5EF4-FFF2-40B4-BE49-F238E27FC236}">
                  <a16:creationId xmlns:a16="http://schemas.microsoft.com/office/drawing/2014/main" id="{40F1CEAC-38DC-E0CC-7FBD-A270B029CE13}"/>
                </a:ext>
              </a:extLst>
            </p:cNvPr>
            <p:cNvSpPr>
              <a:spLocks noChangeAspect="1"/>
            </p:cNvSpPr>
            <p:nvPr/>
          </p:nvSpPr>
          <p:spPr bwMode="auto">
            <a:xfrm>
              <a:off x="7365615" y="2421511"/>
              <a:ext cx="249129" cy="175726"/>
            </a:xfrm>
            <a:custGeom>
              <a:avLst/>
              <a:gdLst/>
              <a:ahLst/>
              <a:cxnLst>
                <a:cxn ang="0">
                  <a:pos x="43" y="0"/>
                </a:cxn>
                <a:cxn ang="0">
                  <a:pos x="31" y="3"/>
                </a:cxn>
                <a:cxn ang="0">
                  <a:pos x="25" y="11"/>
                </a:cxn>
                <a:cxn ang="0">
                  <a:pos x="18" y="19"/>
                </a:cxn>
                <a:cxn ang="0">
                  <a:pos x="8" y="26"/>
                </a:cxn>
                <a:cxn ang="0">
                  <a:pos x="8" y="44"/>
                </a:cxn>
                <a:cxn ang="0">
                  <a:pos x="4" y="59"/>
                </a:cxn>
                <a:cxn ang="0">
                  <a:pos x="12" y="71"/>
                </a:cxn>
                <a:cxn ang="0">
                  <a:pos x="23" y="74"/>
                </a:cxn>
                <a:cxn ang="0">
                  <a:pos x="22" y="84"/>
                </a:cxn>
                <a:cxn ang="0">
                  <a:pos x="6" y="78"/>
                </a:cxn>
                <a:cxn ang="0">
                  <a:pos x="0" y="86"/>
                </a:cxn>
                <a:cxn ang="0">
                  <a:pos x="0" y="103"/>
                </a:cxn>
                <a:cxn ang="0">
                  <a:pos x="14" y="109"/>
                </a:cxn>
                <a:cxn ang="0">
                  <a:pos x="25" y="122"/>
                </a:cxn>
                <a:cxn ang="0">
                  <a:pos x="31" y="138"/>
                </a:cxn>
                <a:cxn ang="0">
                  <a:pos x="37" y="149"/>
                </a:cxn>
                <a:cxn ang="0">
                  <a:pos x="29" y="161"/>
                </a:cxn>
                <a:cxn ang="0">
                  <a:pos x="20" y="169"/>
                </a:cxn>
                <a:cxn ang="0">
                  <a:pos x="33" y="190"/>
                </a:cxn>
                <a:cxn ang="0">
                  <a:pos x="48" y="203"/>
                </a:cxn>
                <a:cxn ang="0">
                  <a:pos x="68" y="211"/>
                </a:cxn>
                <a:cxn ang="0">
                  <a:pos x="91" y="211"/>
                </a:cxn>
                <a:cxn ang="0">
                  <a:pos x="106" y="215"/>
                </a:cxn>
                <a:cxn ang="0">
                  <a:pos x="116" y="205"/>
                </a:cxn>
                <a:cxn ang="0">
                  <a:pos x="129" y="207"/>
                </a:cxn>
                <a:cxn ang="0">
                  <a:pos x="146" y="209"/>
                </a:cxn>
                <a:cxn ang="0">
                  <a:pos x="158" y="195"/>
                </a:cxn>
                <a:cxn ang="0">
                  <a:pos x="167" y="192"/>
                </a:cxn>
                <a:cxn ang="0">
                  <a:pos x="200" y="192"/>
                </a:cxn>
                <a:cxn ang="0">
                  <a:pos x="211" y="184"/>
                </a:cxn>
                <a:cxn ang="0">
                  <a:pos x="225" y="178"/>
                </a:cxn>
                <a:cxn ang="0">
                  <a:pos x="233" y="167"/>
                </a:cxn>
                <a:cxn ang="0">
                  <a:pos x="234" y="138"/>
                </a:cxn>
                <a:cxn ang="0">
                  <a:pos x="248" y="132"/>
                </a:cxn>
                <a:cxn ang="0">
                  <a:pos x="261" y="119"/>
                </a:cxn>
                <a:cxn ang="0">
                  <a:pos x="269" y="97"/>
                </a:cxn>
                <a:cxn ang="0">
                  <a:pos x="279" y="78"/>
                </a:cxn>
                <a:cxn ang="0">
                  <a:pos x="288" y="69"/>
                </a:cxn>
                <a:cxn ang="0">
                  <a:pos x="292" y="48"/>
                </a:cxn>
                <a:cxn ang="0">
                  <a:pos x="305" y="38"/>
                </a:cxn>
                <a:cxn ang="0">
                  <a:pos x="304" y="19"/>
                </a:cxn>
                <a:cxn ang="0">
                  <a:pos x="292" y="19"/>
                </a:cxn>
                <a:cxn ang="0">
                  <a:pos x="269" y="23"/>
                </a:cxn>
                <a:cxn ang="0">
                  <a:pos x="254" y="28"/>
                </a:cxn>
                <a:cxn ang="0">
                  <a:pos x="240" y="25"/>
                </a:cxn>
                <a:cxn ang="0">
                  <a:pos x="231" y="17"/>
                </a:cxn>
                <a:cxn ang="0">
                  <a:pos x="213" y="9"/>
                </a:cxn>
                <a:cxn ang="0">
                  <a:pos x="194" y="9"/>
                </a:cxn>
                <a:cxn ang="0">
                  <a:pos x="173" y="11"/>
                </a:cxn>
                <a:cxn ang="0">
                  <a:pos x="156" y="23"/>
                </a:cxn>
                <a:cxn ang="0">
                  <a:pos x="135" y="25"/>
                </a:cxn>
                <a:cxn ang="0">
                  <a:pos x="114" y="25"/>
                </a:cxn>
                <a:cxn ang="0">
                  <a:pos x="100" y="17"/>
                </a:cxn>
                <a:cxn ang="0">
                  <a:pos x="75" y="15"/>
                </a:cxn>
                <a:cxn ang="0">
                  <a:pos x="69" y="7"/>
                </a:cxn>
                <a:cxn ang="0">
                  <a:pos x="60" y="7"/>
                </a:cxn>
                <a:cxn ang="0">
                  <a:pos x="43" y="0"/>
                </a:cxn>
              </a:cxnLst>
              <a:rect l="0" t="0" r="r" b="b"/>
              <a:pathLst>
                <a:path w="305" h="215">
                  <a:moveTo>
                    <a:pt x="43" y="0"/>
                  </a:moveTo>
                  <a:lnTo>
                    <a:pt x="31" y="3"/>
                  </a:lnTo>
                  <a:lnTo>
                    <a:pt x="25" y="11"/>
                  </a:lnTo>
                  <a:lnTo>
                    <a:pt x="18" y="19"/>
                  </a:lnTo>
                  <a:lnTo>
                    <a:pt x="8" y="26"/>
                  </a:lnTo>
                  <a:lnTo>
                    <a:pt x="8" y="44"/>
                  </a:lnTo>
                  <a:lnTo>
                    <a:pt x="4" y="59"/>
                  </a:lnTo>
                  <a:lnTo>
                    <a:pt x="12" y="71"/>
                  </a:lnTo>
                  <a:lnTo>
                    <a:pt x="23" y="74"/>
                  </a:lnTo>
                  <a:lnTo>
                    <a:pt x="22" y="84"/>
                  </a:lnTo>
                  <a:lnTo>
                    <a:pt x="6" y="78"/>
                  </a:lnTo>
                  <a:lnTo>
                    <a:pt x="0" y="86"/>
                  </a:lnTo>
                  <a:lnTo>
                    <a:pt x="0" y="103"/>
                  </a:lnTo>
                  <a:lnTo>
                    <a:pt x="14" y="109"/>
                  </a:lnTo>
                  <a:lnTo>
                    <a:pt x="25" y="122"/>
                  </a:lnTo>
                  <a:lnTo>
                    <a:pt x="31" y="138"/>
                  </a:lnTo>
                  <a:lnTo>
                    <a:pt x="37" y="149"/>
                  </a:lnTo>
                  <a:lnTo>
                    <a:pt x="29" y="161"/>
                  </a:lnTo>
                  <a:lnTo>
                    <a:pt x="20" y="169"/>
                  </a:lnTo>
                  <a:lnTo>
                    <a:pt x="33" y="190"/>
                  </a:lnTo>
                  <a:lnTo>
                    <a:pt x="48" y="203"/>
                  </a:lnTo>
                  <a:lnTo>
                    <a:pt x="68" y="211"/>
                  </a:lnTo>
                  <a:lnTo>
                    <a:pt x="91" y="211"/>
                  </a:lnTo>
                  <a:lnTo>
                    <a:pt x="106" y="215"/>
                  </a:lnTo>
                  <a:lnTo>
                    <a:pt x="116" y="205"/>
                  </a:lnTo>
                  <a:lnTo>
                    <a:pt x="129" y="207"/>
                  </a:lnTo>
                  <a:lnTo>
                    <a:pt x="146" y="209"/>
                  </a:lnTo>
                  <a:lnTo>
                    <a:pt x="158" y="195"/>
                  </a:lnTo>
                  <a:lnTo>
                    <a:pt x="167" y="192"/>
                  </a:lnTo>
                  <a:lnTo>
                    <a:pt x="200" y="192"/>
                  </a:lnTo>
                  <a:lnTo>
                    <a:pt x="211" y="184"/>
                  </a:lnTo>
                  <a:lnTo>
                    <a:pt x="225" y="178"/>
                  </a:lnTo>
                  <a:lnTo>
                    <a:pt x="233" y="167"/>
                  </a:lnTo>
                  <a:lnTo>
                    <a:pt x="234" y="138"/>
                  </a:lnTo>
                  <a:lnTo>
                    <a:pt x="248" y="132"/>
                  </a:lnTo>
                  <a:lnTo>
                    <a:pt x="261" y="119"/>
                  </a:lnTo>
                  <a:lnTo>
                    <a:pt x="269" y="97"/>
                  </a:lnTo>
                  <a:lnTo>
                    <a:pt x="279" y="78"/>
                  </a:lnTo>
                  <a:lnTo>
                    <a:pt x="288" y="69"/>
                  </a:lnTo>
                  <a:lnTo>
                    <a:pt x="292" y="48"/>
                  </a:lnTo>
                  <a:lnTo>
                    <a:pt x="305" y="38"/>
                  </a:lnTo>
                  <a:lnTo>
                    <a:pt x="304" y="19"/>
                  </a:lnTo>
                  <a:lnTo>
                    <a:pt x="292" y="19"/>
                  </a:lnTo>
                  <a:lnTo>
                    <a:pt x="269" y="23"/>
                  </a:lnTo>
                  <a:lnTo>
                    <a:pt x="254" y="28"/>
                  </a:lnTo>
                  <a:lnTo>
                    <a:pt x="240" y="25"/>
                  </a:lnTo>
                  <a:lnTo>
                    <a:pt x="231" y="17"/>
                  </a:lnTo>
                  <a:lnTo>
                    <a:pt x="213" y="9"/>
                  </a:lnTo>
                  <a:lnTo>
                    <a:pt x="194" y="9"/>
                  </a:lnTo>
                  <a:lnTo>
                    <a:pt x="173" y="11"/>
                  </a:lnTo>
                  <a:lnTo>
                    <a:pt x="156" y="23"/>
                  </a:lnTo>
                  <a:lnTo>
                    <a:pt x="135" y="25"/>
                  </a:lnTo>
                  <a:lnTo>
                    <a:pt x="114" y="25"/>
                  </a:lnTo>
                  <a:lnTo>
                    <a:pt x="100" y="17"/>
                  </a:lnTo>
                  <a:lnTo>
                    <a:pt x="75" y="15"/>
                  </a:lnTo>
                  <a:lnTo>
                    <a:pt x="69" y="7"/>
                  </a:lnTo>
                  <a:lnTo>
                    <a:pt x="60" y="7"/>
                  </a:lnTo>
                  <a:lnTo>
                    <a:pt x="43" y="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0" name="Freeform 44">
              <a:extLst>
                <a:ext uri="{FF2B5EF4-FFF2-40B4-BE49-F238E27FC236}">
                  <a16:creationId xmlns:a16="http://schemas.microsoft.com/office/drawing/2014/main" id="{F47D7083-BA3F-F673-923F-0B1B839E90B3}"/>
                </a:ext>
              </a:extLst>
            </p:cNvPr>
            <p:cNvSpPr>
              <a:spLocks noChangeAspect="1"/>
            </p:cNvSpPr>
            <p:nvPr/>
          </p:nvSpPr>
          <p:spPr bwMode="auto">
            <a:xfrm>
              <a:off x="7248036" y="2465734"/>
              <a:ext cx="62864" cy="74480"/>
            </a:xfrm>
            <a:custGeom>
              <a:avLst/>
              <a:gdLst/>
              <a:ahLst/>
              <a:cxnLst>
                <a:cxn ang="0">
                  <a:pos x="36" y="12"/>
                </a:cxn>
                <a:cxn ang="0">
                  <a:pos x="28" y="25"/>
                </a:cxn>
                <a:cxn ang="0">
                  <a:pos x="21" y="41"/>
                </a:cxn>
                <a:cxn ang="0">
                  <a:pos x="25" y="48"/>
                </a:cxn>
                <a:cxn ang="0">
                  <a:pos x="21" y="60"/>
                </a:cxn>
                <a:cxn ang="0">
                  <a:pos x="13" y="71"/>
                </a:cxn>
                <a:cxn ang="0">
                  <a:pos x="5" y="77"/>
                </a:cxn>
                <a:cxn ang="0">
                  <a:pos x="0" y="85"/>
                </a:cxn>
                <a:cxn ang="0">
                  <a:pos x="5" y="90"/>
                </a:cxn>
                <a:cxn ang="0">
                  <a:pos x="23" y="89"/>
                </a:cxn>
                <a:cxn ang="0">
                  <a:pos x="38" y="79"/>
                </a:cxn>
                <a:cxn ang="0">
                  <a:pos x="55" y="69"/>
                </a:cxn>
                <a:cxn ang="0">
                  <a:pos x="67" y="50"/>
                </a:cxn>
                <a:cxn ang="0">
                  <a:pos x="71" y="37"/>
                </a:cxn>
                <a:cxn ang="0">
                  <a:pos x="78" y="25"/>
                </a:cxn>
                <a:cxn ang="0">
                  <a:pos x="71" y="14"/>
                </a:cxn>
                <a:cxn ang="0">
                  <a:pos x="51" y="0"/>
                </a:cxn>
                <a:cxn ang="0">
                  <a:pos x="44" y="4"/>
                </a:cxn>
                <a:cxn ang="0">
                  <a:pos x="36" y="12"/>
                </a:cxn>
              </a:cxnLst>
              <a:rect l="0" t="0" r="r" b="b"/>
              <a:pathLst>
                <a:path w="78" h="90">
                  <a:moveTo>
                    <a:pt x="36" y="12"/>
                  </a:moveTo>
                  <a:lnTo>
                    <a:pt x="28" y="25"/>
                  </a:lnTo>
                  <a:lnTo>
                    <a:pt x="21" y="41"/>
                  </a:lnTo>
                  <a:lnTo>
                    <a:pt x="25" y="48"/>
                  </a:lnTo>
                  <a:lnTo>
                    <a:pt x="21" y="60"/>
                  </a:lnTo>
                  <a:lnTo>
                    <a:pt x="13" y="71"/>
                  </a:lnTo>
                  <a:lnTo>
                    <a:pt x="5" y="77"/>
                  </a:lnTo>
                  <a:lnTo>
                    <a:pt x="0" y="85"/>
                  </a:lnTo>
                  <a:lnTo>
                    <a:pt x="5" y="90"/>
                  </a:lnTo>
                  <a:lnTo>
                    <a:pt x="23" y="89"/>
                  </a:lnTo>
                  <a:lnTo>
                    <a:pt x="38" y="79"/>
                  </a:lnTo>
                  <a:lnTo>
                    <a:pt x="55" y="69"/>
                  </a:lnTo>
                  <a:lnTo>
                    <a:pt x="67" y="50"/>
                  </a:lnTo>
                  <a:lnTo>
                    <a:pt x="71" y="37"/>
                  </a:lnTo>
                  <a:lnTo>
                    <a:pt x="78" y="25"/>
                  </a:lnTo>
                  <a:lnTo>
                    <a:pt x="71" y="14"/>
                  </a:lnTo>
                  <a:lnTo>
                    <a:pt x="51" y="0"/>
                  </a:lnTo>
                  <a:lnTo>
                    <a:pt x="44" y="4"/>
                  </a:lnTo>
                  <a:lnTo>
                    <a:pt x="36" y="12"/>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1" name="Freeform 45">
              <a:extLst>
                <a:ext uri="{FF2B5EF4-FFF2-40B4-BE49-F238E27FC236}">
                  <a16:creationId xmlns:a16="http://schemas.microsoft.com/office/drawing/2014/main" id="{CF5C739C-EC74-CE5E-96B6-66059F3CCD5F}"/>
                </a:ext>
              </a:extLst>
            </p:cNvPr>
            <p:cNvSpPr>
              <a:spLocks noChangeAspect="1"/>
            </p:cNvSpPr>
            <p:nvPr/>
          </p:nvSpPr>
          <p:spPr bwMode="auto">
            <a:xfrm>
              <a:off x="7412181" y="2381944"/>
              <a:ext cx="54715" cy="34913"/>
            </a:xfrm>
            <a:custGeom>
              <a:avLst/>
              <a:gdLst/>
              <a:ahLst/>
              <a:cxnLst>
                <a:cxn ang="0">
                  <a:pos x="42" y="0"/>
                </a:cxn>
                <a:cxn ang="0">
                  <a:pos x="35" y="7"/>
                </a:cxn>
                <a:cxn ang="0">
                  <a:pos x="15" y="7"/>
                </a:cxn>
                <a:cxn ang="0">
                  <a:pos x="4" y="11"/>
                </a:cxn>
                <a:cxn ang="0">
                  <a:pos x="0" y="23"/>
                </a:cxn>
                <a:cxn ang="0">
                  <a:pos x="13" y="30"/>
                </a:cxn>
                <a:cxn ang="0">
                  <a:pos x="29" y="32"/>
                </a:cxn>
                <a:cxn ang="0">
                  <a:pos x="38" y="40"/>
                </a:cxn>
                <a:cxn ang="0">
                  <a:pos x="46" y="42"/>
                </a:cxn>
                <a:cxn ang="0">
                  <a:pos x="60" y="30"/>
                </a:cxn>
                <a:cxn ang="0">
                  <a:pos x="67" y="17"/>
                </a:cxn>
                <a:cxn ang="0">
                  <a:pos x="61" y="5"/>
                </a:cxn>
                <a:cxn ang="0">
                  <a:pos x="52" y="0"/>
                </a:cxn>
                <a:cxn ang="0">
                  <a:pos x="42" y="0"/>
                </a:cxn>
              </a:cxnLst>
              <a:rect l="0" t="0" r="r" b="b"/>
              <a:pathLst>
                <a:path w="67" h="42">
                  <a:moveTo>
                    <a:pt x="42" y="0"/>
                  </a:moveTo>
                  <a:lnTo>
                    <a:pt x="35" y="7"/>
                  </a:lnTo>
                  <a:lnTo>
                    <a:pt x="15" y="7"/>
                  </a:lnTo>
                  <a:lnTo>
                    <a:pt x="4" y="11"/>
                  </a:lnTo>
                  <a:lnTo>
                    <a:pt x="0" y="23"/>
                  </a:lnTo>
                  <a:lnTo>
                    <a:pt x="13" y="30"/>
                  </a:lnTo>
                  <a:lnTo>
                    <a:pt x="29" y="32"/>
                  </a:lnTo>
                  <a:lnTo>
                    <a:pt x="38" y="40"/>
                  </a:lnTo>
                  <a:lnTo>
                    <a:pt x="46" y="42"/>
                  </a:lnTo>
                  <a:lnTo>
                    <a:pt x="60" y="30"/>
                  </a:lnTo>
                  <a:lnTo>
                    <a:pt x="67" y="17"/>
                  </a:lnTo>
                  <a:lnTo>
                    <a:pt x="61" y="5"/>
                  </a:lnTo>
                  <a:lnTo>
                    <a:pt x="52" y="0"/>
                  </a:lnTo>
                  <a:lnTo>
                    <a:pt x="42" y="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2" name="Freeform 46">
              <a:extLst>
                <a:ext uri="{FF2B5EF4-FFF2-40B4-BE49-F238E27FC236}">
                  <a16:creationId xmlns:a16="http://schemas.microsoft.com/office/drawing/2014/main" id="{3E735E35-6AEB-8375-6E0F-68BA140CC3EB}"/>
                </a:ext>
              </a:extLst>
            </p:cNvPr>
            <p:cNvSpPr>
              <a:spLocks noChangeAspect="1"/>
            </p:cNvSpPr>
            <p:nvPr/>
          </p:nvSpPr>
          <p:spPr bwMode="auto">
            <a:xfrm>
              <a:off x="7464569" y="2399401"/>
              <a:ext cx="48894" cy="27930"/>
            </a:xfrm>
            <a:custGeom>
              <a:avLst/>
              <a:gdLst/>
              <a:ahLst/>
              <a:cxnLst>
                <a:cxn ang="0">
                  <a:pos x="14" y="9"/>
                </a:cxn>
                <a:cxn ang="0">
                  <a:pos x="6" y="15"/>
                </a:cxn>
                <a:cxn ang="0">
                  <a:pos x="0" y="25"/>
                </a:cxn>
                <a:cxn ang="0">
                  <a:pos x="4" y="32"/>
                </a:cxn>
                <a:cxn ang="0">
                  <a:pos x="14" y="34"/>
                </a:cxn>
                <a:cxn ang="0">
                  <a:pos x="31" y="34"/>
                </a:cxn>
                <a:cxn ang="0">
                  <a:pos x="46" y="27"/>
                </a:cxn>
                <a:cxn ang="0">
                  <a:pos x="60" y="15"/>
                </a:cxn>
                <a:cxn ang="0">
                  <a:pos x="60" y="2"/>
                </a:cxn>
                <a:cxn ang="0">
                  <a:pos x="48" y="0"/>
                </a:cxn>
                <a:cxn ang="0">
                  <a:pos x="37" y="2"/>
                </a:cxn>
                <a:cxn ang="0">
                  <a:pos x="25" y="0"/>
                </a:cxn>
                <a:cxn ang="0">
                  <a:pos x="14" y="9"/>
                </a:cxn>
              </a:cxnLst>
              <a:rect l="0" t="0" r="r" b="b"/>
              <a:pathLst>
                <a:path w="60" h="34">
                  <a:moveTo>
                    <a:pt x="14" y="9"/>
                  </a:moveTo>
                  <a:lnTo>
                    <a:pt x="6" y="15"/>
                  </a:lnTo>
                  <a:lnTo>
                    <a:pt x="0" y="25"/>
                  </a:lnTo>
                  <a:lnTo>
                    <a:pt x="4" y="32"/>
                  </a:lnTo>
                  <a:lnTo>
                    <a:pt x="14" y="34"/>
                  </a:lnTo>
                  <a:lnTo>
                    <a:pt x="31" y="34"/>
                  </a:lnTo>
                  <a:lnTo>
                    <a:pt x="46" y="27"/>
                  </a:lnTo>
                  <a:lnTo>
                    <a:pt x="60" y="15"/>
                  </a:lnTo>
                  <a:lnTo>
                    <a:pt x="60" y="2"/>
                  </a:lnTo>
                  <a:lnTo>
                    <a:pt x="48" y="0"/>
                  </a:lnTo>
                  <a:lnTo>
                    <a:pt x="37" y="2"/>
                  </a:lnTo>
                  <a:lnTo>
                    <a:pt x="25" y="0"/>
                  </a:lnTo>
                  <a:lnTo>
                    <a:pt x="14" y="9"/>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3" name="Freeform 47">
              <a:extLst>
                <a:ext uri="{FF2B5EF4-FFF2-40B4-BE49-F238E27FC236}">
                  <a16:creationId xmlns:a16="http://schemas.microsoft.com/office/drawing/2014/main" id="{0ED25926-B3FF-79B8-F09B-7627FD41CF3D}"/>
                </a:ext>
              </a:extLst>
            </p:cNvPr>
            <p:cNvSpPr>
              <a:spLocks noChangeAspect="1"/>
            </p:cNvSpPr>
            <p:nvPr/>
          </p:nvSpPr>
          <p:spPr bwMode="auto">
            <a:xfrm>
              <a:off x="7326035" y="2402892"/>
              <a:ext cx="36088" cy="38403"/>
            </a:xfrm>
            <a:custGeom>
              <a:avLst/>
              <a:gdLst/>
              <a:ahLst/>
              <a:cxnLst>
                <a:cxn ang="0">
                  <a:pos x="13" y="5"/>
                </a:cxn>
                <a:cxn ang="0">
                  <a:pos x="11" y="23"/>
                </a:cxn>
                <a:cxn ang="0">
                  <a:pos x="0" y="36"/>
                </a:cxn>
                <a:cxn ang="0">
                  <a:pos x="7" y="46"/>
                </a:cxn>
                <a:cxn ang="0">
                  <a:pos x="13" y="48"/>
                </a:cxn>
                <a:cxn ang="0">
                  <a:pos x="21" y="48"/>
                </a:cxn>
                <a:cxn ang="0">
                  <a:pos x="30" y="44"/>
                </a:cxn>
                <a:cxn ang="0">
                  <a:pos x="36" y="40"/>
                </a:cxn>
                <a:cxn ang="0">
                  <a:pos x="44" y="26"/>
                </a:cxn>
                <a:cxn ang="0">
                  <a:pos x="40" y="17"/>
                </a:cxn>
                <a:cxn ang="0">
                  <a:pos x="30" y="5"/>
                </a:cxn>
                <a:cxn ang="0">
                  <a:pos x="26" y="0"/>
                </a:cxn>
                <a:cxn ang="0">
                  <a:pos x="13" y="5"/>
                </a:cxn>
              </a:cxnLst>
              <a:rect l="0" t="0" r="r" b="b"/>
              <a:pathLst>
                <a:path w="44" h="48">
                  <a:moveTo>
                    <a:pt x="13" y="5"/>
                  </a:moveTo>
                  <a:lnTo>
                    <a:pt x="11" y="23"/>
                  </a:lnTo>
                  <a:lnTo>
                    <a:pt x="0" y="36"/>
                  </a:lnTo>
                  <a:lnTo>
                    <a:pt x="7" y="46"/>
                  </a:lnTo>
                  <a:lnTo>
                    <a:pt x="13" y="48"/>
                  </a:lnTo>
                  <a:lnTo>
                    <a:pt x="21" y="48"/>
                  </a:lnTo>
                  <a:lnTo>
                    <a:pt x="30" y="44"/>
                  </a:lnTo>
                  <a:lnTo>
                    <a:pt x="36" y="40"/>
                  </a:lnTo>
                  <a:lnTo>
                    <a:pt x="44" y="26"/>
                  </a:lnTo>
                  <a:lnTo>
                    <a:pt x="40" y="17"/>
                  </a:lnTo>
                  <a:lnTo>
                    <a:pt x="30" y="5"/>
                  </a:lnTo>
                  <a:lnTo>
                    <a:pt x="26" y="0"/>
                  </a:lnTo>
                  <a:lnTo>
                    <a:pt x="13" y="5"/>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4" name="Freeform 48">
              <a:extLst>
                <a:ext uri="{FF2B5EF4-FFF2-40B4-BE49-F238E27FC236}">
                  <a16:creationId xmlns:a16="http://schemas.microsoft.com/office/drawing/2014/main" id="{EE5352D6-8363-128C-2F03-9B494ED5DD87}"/>
                </a:ext>
              </a:extLst>
            </p:cNvPr>
            <p:cNvSpPr>
              <a:spLocks noChangeAspect="1"/>
            </p:cNvSpPr>
            <p:nvPr/>
          </p:nvSpPr>
          <p:spPr bwMode="auto">
            <a:xfrm>
              <a:off x="7234065" y="2513448"/>
              <a:ext cx="2328" cy="2328"/>
            </a:xfrm>
            <a:custGeom>
              <a:avLst/>
              <a:gdLst/>
              <a:ahLst/>
              <a:cxnLst>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2" y="2"/>
                </a:cxn>
                <a:cxn ang="0">
                  <a:pos x="2" y="2"/>
                </a:cxn>
                <a:cxn ang="0">
                  <a:pos x="2" y="2"/>
                </a:cxn>
                <a:cxn ang="0">
                  <a:pos x="2" y="2"/>
                </a:cxn>
                <a:cxn ang="0">
                  <a:pos x="2" y="2"/>
                </a:cxn>
                <a:cxn ang="0">
                  <a:pos x="2" y="2"/>
                </a:cxn>
                <a:cxn ang="0">
                  <a:pos x="2" y="2"/>
                </a:cxn>
                <a:cxn ang="0">
                  <a:pos x="2" y="2"/>
                </a:cxn>
                <a:cxn ang="0">
                  <a:pos x="2" y="0"/>
                </a:cxn>
                <a:cxn ang="0">
                  <a:pos x="2" y="0"/>
                </a:cxn>
                <a:cxn ang="0">
                  <a:pos x="2" y="0"/>
                </a:cxn>
                <a:cxn ang="0">
                  <a:pos x="2" y="0"/>
                </a:cxn>
                <a:cxn ang="0">
                  <a:pos x="2" y="0"/>
                </a:cxn>
                <a:cxn ang="0">
                  <a:pos x="2" y="0"/>
                </a:cxn>
                <a:cxn ang="0">
                  <a:pos x="2" y="0"/>
                </a:cxn>
                <a:cxn ang="0">
                  <a:pos x="2" y="0"/>
                </a:cxn>
                <a:cxn ang="0">
                  <a:pos x="2" y="0"/>
                </a:cxn>
              </a:cxnLst>
              <a:rect l="0" t="0" r="r" b="b"/>
              <a:pathLst>
                <a:path w="2" h="2">
                  <a:moveTo>
                    <a:pt x="0" y="2"/>
                  </a:move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2" y="2"/>
                  </a:lnTo>
                  <a:lnTo>
                    <a:pt x="2" y="2"/>
                  </a:lnTo>
                  <a:lnTo>
                    <a:pt x="2" y="2"/>
                  </a:lnTo>
                  <a:lnTo>
                    <a:pt x="2" y="2"/>
                  </a:lnTo>
                  <a:lnTo>
                    <a:pt x="2" y="2"/>
                  </a:lnTo>
                  <a:lnTo>
                    <a:pt x="2" y="2"/>
                  </a:lnTo>
                  <a:lnTo>
                    <a:pt x="2" y="2"/>
                  </a:lnTo>
                  <a:lnTo>
                    <a:pt x="2" y="2"/>
                  </a:lnTo>
                  <a:lnTo>
                    <a:pt x="2" y="0"/>
                  </a:lnTo>
                  <a:lnTo>
                    <a:pt x="2" y="0"/>
                  </a:lnTo>
                  <a:lnTo>
                    <a:pt x="2" y="0"/>
                  </a:lnTo>
                  <a:lnTo>
                    <a:pt x="2" y="0"/>
                  </a:lnTo>
                  <a:lnTo>
                    <a:pt x="2" y="0"/>
                  </a:lnTo>
                  <a:lnTo>
                    <a:pt x="2" y="0"/>
                  </a:lnTo>
                  <a:lnTo>
                    <a:pt x="2" y="0"/>
                  </a:lnTo>
                  <a:lnTo>
                    <a:pt x="2" y="0"/>
                  </a:lnTo>
                  <a:lnTo>
                    <a:pt x="2" y="0"/>
                  </a:lnTo>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5" name="Freeform 49">
              <a:extLst>
                <a:ext uri="{FF2B5EF4-FFF2-40B4-BE49-F238E27FC236}">
                  <a16:creationId xmlns:a16="http://schemas.microsoft.com/office/drawing/2014/main" id="{A297C26D-97ED-A281-F6EC-E6703F733A22}"/>
                </a:ext>
              </a:extLst>
            </p:cNvPr>
            <p:cNvSpPr>
              <a:spLocks noChangeAspect="1"/>
            </p:cNvSpPr>
            <p:nvPr/>
          </p:nvSpPr>
          <p:spPr bwMode="auto">
            <a:xfrm>
              <a:off x="7782382" y="4881680"/>
              <a:ext cx="15134" cy="23275"/>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6" name="Freeform 50">
              <a:extLst>
                <a:ext uri="{FF2B5EF4-FFF2-40B4-BE49-F238E27FC236}">
                  <a16:creationId xmlns:a16="http://schemas.microsoft.com/office/drawing/2014/main" id="{33A61E98-2CD2-C421-EF9A-9A1CC54DC1C9}"/>
                </a:ext>
              </a:extLst>
            </p:cNvPr>
            <p:cNvSpPr>
              <a:spLocks noChangeAspect="1"/>
            </p:cNvSpPr>
            <p:nvPr/>
          </p:nvSpPr>
          <p:spPr bwMode="auto">
            <a:xfrm>
              <a:off x="7782380" y="4881678"/>
              <a:ext cx="15134" cy="23275"/>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7" name="Freeform 51">
              <a:extLst>
                <a:ext uri="{FF2B5EF4-FFF2-40B4-BE49-F238E27FC236}">
                  <a16:creationId xmlns:a16="http://schemas.microsoft.com/office/drawing/2014/main" id="{A798149A-9A4C-DA14-EFFE-395BA85473DF}"/>
                </a:ext>
              </a:extLst>
            </p:cNvPr>
            <p:cNvSpPr>
              <a:spLocks noChangeAspect="1"/>
            </p:cNvSpPr>
            <p:nvPr/>
          </p:nvSpPr>
          <p:spPr bwMode="auto">
            <a:xfrm>
              <a:off x="7919749" y="4820000"/>
              <a:ext cx="31432" cy="1280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8" name="Freeform 52">
              <a:extLst>
                <a:ext uri="{FF2B5EF4-FFF2-40B4-BE49-F238E27FC236}">
                  <a16:creationId xmlns:a16="http://schemas.microsoft.com/office/drawing/2014/main" id="{A75E3ADC-93C3-A701-7925-49F4C96DDD66}"/>
                </a:ext>
              </a:extLst>
            </p:cNvPr>
            <p:cNvSpPr>
              <a:spLocks noChangeAspect="1"/>
            </p:cNvSpPr>
            <p:nvPr/>
          </p:nvSpPr>
          <p:spPr bwMode="auto">
            <a:xfrm>
              <a:off x="7919749" y="4820000"/>
              <a:ext cx="31432" cy="12801"/>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69" name="Freeform 53">
              <a:extLst>
                <a:ext uri="{FF2B5EF4-FFF2-40B4-BE49-F238E27FC236}">
                  <a16:creationId xmlns:a16="http://schemas.microsoft.com/office/drawing/2014/main" id="{C41E7FCC-068C-3BE6-F39F-8583528373F3}"/>
                </a:ext>
              </a:extLst>
            </p:cNvPr>
            <p:cNvSpPr>
              <a:spLocks noChangeAspect="1"/>
            </p:cNvSpPr>
            <p:nvPr/>
          </p:nvSpPr>
          <p:spPr bwMode="auto">
            <a:xfrm>
              <a:off x="7882495" y="4826984"/>
              <a:ext cx="29104" cy="11638"/>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70" name="Freeform 54">
              <a:extLst>
                <a:ext uri="{FF2B5EF4-FFF2-40B4-BE49-F238E27FC236}">
                  <a16:creationId xmlns:a16="http://schemas.microsoft.com/office/drawing/2014/main" id="{B0941E5E-F359-C023-46DC-2862182A189A}"/>
                </a:ext>
              </a:extLst>
            </p:cNvPr>
            <p:cNvSpPr>
              <a:spLocks noChangeAspect="1"/>
            </p:cNvSpPr>
            <p:nvPr/>
          </p:nvSpPr>
          <p:spPr bwMode="auto">
            <a:xfrm>
              <a:off x="7882498" y="4826984"/>
              <a:ext cx="29104" cy="11638"/>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71" name="Freeform 55">
              <a:extLst>
                <a:ext uri="{FF2B5EF4-FFF2-40B4-BE49-F238E27FC236}">
                  <a16:creationId xmlns:a16="http://schemas.microsoft.com/office/drawing/2014/main" id="{4841B81B-3B00-BEFD-1F24-8063EC77DE3E}"/>
                </a:ext>
              </a:extLst>
            </p:cNvPr>
            <p:cNvSpPr>
              <a:spLocks noChangeAspect="1"/>
            </p:cNvSpPr>
            <p:nvPr/>
          </p:nvSpPr>
          <p:spPr bwMode="auto">
            <a:xfrm>
              <a:off x="8497167" y="3882016"/>
              <a:ext cx="11641" cy="1280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solidFill>
              <a:schemeClr val="bg1">
                <a:lumMod val="95000"/>
              </a:schemeClr>
            </a:solidFill>
            <a:ln w="6350" cmpd="sng">
              <a:solidFill>
                <a:schemeClr val="bg1"/>
              </a:solidFill>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72" name="Freeform 56">
              <a:extLst>
                <a:ext uri="{FF2B5EF4-FFF2-40B4-BE49-F238E27FC236}">
                  <a16:creationId xmlns:a16="http://schemas.microsoft.com/office/drawing/2014/main" id="{D8EF94C0-B76C-5A00-778F-D12AA7D448BD}"/>
                </a:ext>
              </a:extLst>
            </p:cNvPr>
            <p:cNvSpPr>
              <a:spLocks noChangeAspect="1"/>
            </p:cNvSpPr>
            <p:nvPr/>
          </p:nvSpPr>
          <p:spPr bwMode="auto">
            <a:xfrm>
              <a:off x="8497163" y="3882015"/>
              <a:ext cx="11641" cy="12801"/>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solidFill>
              <a:schemeClr val="bg1">
                <a:lumMod val="95000"/>
              </a:schemeClr>
            </a:solidFill>
            <a:ln w="6350" cmpd="sng">
              <a:solidFill>
                <a:schemeClr val="bg1"/>
              </a:solidFill>
              <a:prstDash val="solid"/>
              <a:round/>
              <a:headEnd/>
              <a:tailEnd/>
            </a:ln>
          </p:spPr>
          <p:txBody>
            <a:bodyPr/>
            <a:lstStyle/>
            <a:p>
              <a:endParaRPr lang="pt-BR" dirty="0">
                <a:latin typeface="Poppins" panose="00000500000000000000" pitchFamily="2" charset="0"/>
                <a:cs typeface="Poppins" panose="00000500000000000000" pitchFamily="2" charset="0"/>
              </a:endParaRPr>
            </a:p>
          </p:txBody>
        </p:sp>
        <p:sp>
          <p:nvSpPr>
            <p:cNvPr id="173" name="Freeform 57">
              <a:extLst>
                <a:ext uri="{FF2B5EF4-FFF2-40B4-BE49-F238E27FC236}">
                  <a16:creationId xmlns:a16="http://schemas.microsoft.com/office/drawing/2014/main" id="{1B4B330C-A663-CB7E-A099-09E5FAD5D3EC}"/>
                </a:ext>
              </a:extLst>
            </p:cNvPr>
            <p:cNvSpPr>
              <a:spLocks/>
            </p:cNvSpPr>
            <p:nvPr/>
          </p:nvSpPr>
          <p:spPr bwMode="auto">
            <a:xfrm>
              <a:off x="8603099" y="3467714"/>
              <a:ext cx="188592" cy="251370"/>
            </a:xfrm>
            <a:custGeom>
              <a:avLst/>
              <a:gdLst/>
              <a:ahLst/>
              <a:cxnLst>
                <a:cxn ang="0">
                  <a:pos x="3" y="0"/>
                </a:cxn>
                <a:cxn ang="0">
                  <a:pos x="11" y="15"/>
                </a:cxn>
                <a:cxn ang="0">
                  <a:pos x="14" y="26"/>
                </a:cxn>
                <a:cxn ang="0">
                  <a:pos x="18" y="39"/>
                </a:cxn>
                <a:cxn ang="0">
                  <a:pos x="24" y="47"/>
                </a:cxn>
                <a:cxn ang="0">
                  <a:pos x="33" y="57"/>
                </a:cxn>
                <a:cxn ang="0">
                  <a:pos x="42" y="72"/>
                </a:cxn>
                <a:cxn ang="0">
                  <a:pos x="35" y="89"/>
                </a:cxn>
                <a:cxn ang="0">
                  <a:pos x="36" y="102"/>
                </a:cxn>
                <a:cxn ang="0">
                  <a:pos x="39" y="114"/>
                </a:cxn>
                <a:cxn ang="0">
                  <a:pos x="35" y="125"/>
                </a:cxn>
                <a:cxn ang="0">
                  <a:pos x="26" y="129"/>
                </a:cxn>
                <a:cxn ang="0">
                  <a:pos x="3" y="131"/>
                </a:cxn>
                <a:cxn ang="0">
                  <a:pos x="0" y="149"/>
                </a:cxn>
                <a:cxn ang="0">
                  <a:pos x="2" y="161"/>
                </a:cxn>
                <a:cxn ang="0">
                  <a:pos x="6" y="176"/>
                </a:cxn>
                <a:cxn ang="0">
                  <a:pos x="20" y="183"/>
                </a:cxn>
                <a:cxn ang="0">
                  <a:pos x="20" y="195"/>
                </a:cxn>
                <a:cxn ang="0">
                  <a:pos x="33" y="207"/>
                </a:cxn>
                <a:cxn ang="0">
                  <a:pos x="42" y="216"/>
                </a:cxn>
                <a:cxn ang="0">
                  <a:pos x="44" y="203"/>
                </a:cxn>
                <a:cxn ang="0">
                  <a:pos x="47" y="188"/>
                </a:cxn>
                <a:cxn ang="0">
                  <a:pos x="57" y="186"/>
                </a:cxn>
                <a:cxn ang="0">
                  <a:pos x="71" y="188"/>
                </a:cxn>
                <a:cxn ang="0">
                  <a:pos x="69" y="177"/>
                </a:cxn>
                <a:cxn ang="0">
                  <a:pos x="72" y="165"/>
                </a:cxn>
                <a:cxn ang="0">
                  <a:pos x="84" y="149"/>
                </a:cxn>
                <a:cxn ang="0">
                  <a:pos x="92" y="137"/>
                </a:cxn>
                <a:cxn ang="0">
                  <a:pos x="104" y="141"/>
                </a:cxn>
                <a:cxn ang="0">
                  <a:pos x="95" y="155"/>
                </a:cxn>
                <a:cxn ang="0">
                  <a:pos x="108" y="141"/>
                </a:cxn>
                <a:cxn ang="0">
                  <a:pos x="126" y="137"/>
                </a:cxn>
                <a:cxn ang="0">
                  <a:pos x="140" y="128"/>
                </a:cxn>
                <a:cxn ang="0">
                  <a:pos x="149" y="120"/>
                </a:cxn>
                <a:cxn ang="0">
                  <a:pos x="162" y="113"/>
                </a:cxn>
                <a:cxn ang="0">
                  <a:pos x="152" y="104"/>
                </a:cxn>
                <a:cxn ang="0">
                  <a:pos x="138" y="95"/>
                </a:cxn>
                <a:cxn ang="0">
                  <a:pos x="123" y="92"/>
                </a:cxn>
                <a:cxn ang="0">
                  <a:pos x="119" y="83"/>
                </a:cxn>
                <a:cxn ang="0">
                  <a:pos x="99" y="69"/>
                </a:cxn>
                <a:cxn ang="0">
                  <a:pos x="92" y="56"/>
                </a:cxn>
                <a:cxn ang="0">
                  <a:pos x="77" y="54"/>
                </a:cxn>
                <a:cxn ang="0">
                  <a:pos x="66" y="36"/>
                </a:cxn>
                <a:cxn ang="0">
                  <a:pos x="48" y="30"/>
                </a:cxn>
                <a:cxn ang="0">
                  <a:pos x="33" y="24"/>
                </a:cxn>
                <a:cxn ang="0">
                  <a:pos x="23" y="14"/>
                </a:cxn>
                <a:cxn ang="0">
                  <a:pos x="3" y="0"/>
                </a:cxn>
              </a:cxnLst>
              <a:rect l="0" t="0" r="r" b="b"/>
              <a:pathLst>
                <a:path w="162" h="216">
                  <a:moveTo>
                    <a:pt x="3" y="0"/>
                  </a:moveTo>
                  <a:lnTo>
                    <a:pt x="11" y="15"/>
                  </a:lnTo>
                  <a:lnTo>
                    <a:pt x="14" y="26"/>
                  </a:lnTo>
                  <a:lnTo>
                    <a:pt x="18" y="39"/>
                  </a:lnTo>
                  <a:lnTo>
                    <a:pt x="24" y="47"/>
                  </a:lnTo>
                  <a:lnTo>
                    <a:pt x="33" y="57"/>
                  </a:lnTo>
                  <a:lnTo>
                    <a:pt x="42" y="72"/>
                  </a:lnTo>
                  <a:lnTo>
                    <a:pt x="35" y="89"/>
                  </a:lnTo>
                  <a:lnTo>
                    <a:pt x="36" y="102"/>
                  </a:lnTo>
                  <a:lnTo>
                    <a:pt x="39" y="114"/>
                  </a:lnTo>
                  <a:lnTo>
                    <a:pt x="35" y="125"/>
                  </a:lnTo>
                  <a:lnTo>
                    <a:pt x="26" y="129"/>
                  </a:lnTo>
                  <a:lnTo>
                    <a:pt x="3" y="131"/>
                  </a:lnTo>
                  <a:lnTo>
                    <a:pt x="0" y="149"/>
                  </a:lnTo>
                  <a:lnTo>
                    <a:pt x="2" y="161"/>
                  </a:lnTo>
                  <a:lnTo>
                    <a:pt x="6" y="176"/>
                  </a:lnTo>
                  <a:lnTo>
                    <a:pt x="20" y="183"/>
                  </a:lnTo>
                  <a:lnTo>
                    <a:pt x="20" y="195"/>
                  </a:lnTo>
                  <a:lnTo>
                    <a:pt x="33" y="207"/>
                  </a:lnTo>
                  <a:lnTo>
                    <a:pt x="42" y="216"/>
                  </a:lnTo>
                  <a:lnTo>
                    <a:pt x="44" y="203"/>
                  </a:lnTo>
                  <a:lnTo>
                    <a:pt x="47" y="188"/>
                  </a:lnTo>
                  <a:lnTo>
                    <a:pt x="57" y="186"/>
                  </a:lnTo>
                  <a:lnTo>
                    <a:pt x="71" y="188"/>
                  </a:lnTo>
                  <a:lnTo>
                    <a:pt x="69" y="177"/>
                  </a:lnTo>
                  <a:lnTo>
                    <a:pt x="72" y="165"/>
                  </a:lnTo>
                  <a:lnTo>
                    <a:pt x="84" y="149"/>
                  </a:lnTo>
                  <a:lnTo>
                    <a:pt x="92" y="137"/>
                  </a:lnTo>
                  <a:lnTo>
                    <a:pt x="104" y="141"/>
                  </a:lnTo>
                  <a:lnTo>
                    <a:pt x="95" y="155"/>
                  </a:lnTo>
                  <a:lnTo>
                    <a:pt x="108" y="141"/>
                  </a:lnTo>
                  <a:lnTo>
                    <a:pt x="126" y="137"/>
                  </a:lnTo>
                  <a:lnTo>
                    <a:pt x="140" y="128"/>
                  </a:lnTo>
                  <a:lnTo>
                    <a:pt x="149" y="120"/>
                  </a:lnTo>
                  <a:lnTo>
                    <a:pt x="162" y="113"/>
                  </a:lnTo>
                  <a:lnTo>
                    <a:pt x="152" y="104"/>
                  </a:lnTo>
                  <a:lnTo>
                    <a:pt x="138" y="95"/>
                  </a:lnTo>
                  <a:lnTo>
                    <a:pt x="123" y="92"/>
                  </a:lnTo>
                  <a:lnTo>
                    <a:pt x="119" y="83"/>
                  </a:lnTo>
                  <a:lnTo>
                    <a:pt x="99" y="69"/>
                  </a:lnTo>
                  <a:lnTo>
                    <a:pt x="92" y="56"/>
                  </a:lnTo>
                  <a:lnTo>
                    <a:pt x="77" y="54"/>
                  </a:lnTo>
                  <a:lnTo>
                    <a:pt x="66" y="36"/>
                  </a:lnTo>
                  <a:lnTo>
                    <a:pt x="48" y="30"/>
                  </a:lnTo>
                  <a:lnTo>
                    <a:pt x="33" y="24"/>
                  </a:lnTo>
                  <a:lnTo>
                    <a:pt x="23" y="14"/>
                  </a:lnTo>
                  <a:lnTo>
                    <a:pt x="3" y="0"/>
                  </a:lnTo>
                  <a:close/>
                </a:path>
              </a:pathLst>
            </a:custGeom>
            <a:solidFill>
              <a:srgbClr val="FFCCCD"/>
            </a:solidFill>
            <a:ln w="6350" cmpd="sng">
              <a:solidFill>
                <a:schemeClr val="bg1"/>
              </a:solidFill>
              <a:round/>
              <a:headEnd/>
              <a:tailEnd/>
            </a:ln>
            <a:effectLst/>
          </p:spPr>
          <p:txBody>
            <a:bodyPr/>
            <a:lstStyle/>
            <a:p>
              <a:endParaRPr lang="pt-BR" dirty="0">
                <a:latin typeface="Poppins" panose="00000500000000000000" pitchFamily="2" charset="0"/>
                <a:cs typeface="Poppins" panose="00000500000000000000" pitchFamily="2" charset="0"/>
              </a:endParaRPr>
            </a:p>
          </p:txBody>
        </p:sp>
        <p:grpSp>
          <p:nvGrpSpPr>
            <p:cNvPr id="174" name="Agrupar 143">
              <a:extLst>
                <a:ext uri="{FF2B5EF4-FFF2-40B4-BE49-F238E27FC236}">
                  <a16:creationId xmlns:a16="http://schemas.microsoft.com/office/drawing/2014/main" id="{FAED5DBD-44EF-F37B-90B9-C05DCD8A3635}"/>
                </a:ext>
              </a:extLst>
            </p:cNvPr>
            <p:cNvGrpSpPr/>
            <p:nvPr/>
          </p:nvGrpSpPr>
          <p:grpSpPr>
            <a:xfrm flipH="1">
              <a:off x="7541970" y="4658967"/>
              <a:ext cx="134207" cy="190127"/>
              <a:chOff x="4778454" y="4602067"/>
              <a:chExt cx="366819" cy="519661"/>
            </a:xfrm>
          </p:grpSpPr>
          <p:sp>
            <p:nvSpPr>
              <p:cNvPr id="187" name="Freeform 956">
                <a:extLst>
                  <a:ext uri="{FF2B5EF4-FFF2-40B4-BE49-F238E27FC236}">
                    <a16:creationId xmlns:a16="http://schemas.microsoft.com/office/drawing/2014/main" id="{7A3A3C66-C2F3-3A4B-7DC5-40DFA46D1D5D}"/>
                  </a:ext>
                </a:extLst>
              </p:cNvPr>
              <p:cNvSpPr>
                <a:spLocks/>
              </p:cNvSpPr>
              <p:nvPr/>
            </p:nvSpPr>
            <p:spPr bwMode="auto">
              <a:xfrm>
                <a:off x="4778454" y="4602067"/>
                <a:ext cx="366819" cy="519661"/>
              </a:xfrm>
              <a:custGeom>
                <a:avLst/>
                <a:gdLst>
                  <a:gd name="T0" fmla="*/ 26 w 51"/>
                  <a:gd name="T1" fmla="*/ 0 h 72"/>
                  <a:gd name="T2" fmla="*/ 51 w 51"/>
                  <a:gd name="T3" fmla="*/ 25 h 72"/>
                  <a:gd name="T4" fmla="*/ 47 w 51"/>
                  <a:gd name="T5" fmla="*/ 41 h 72"/>
                  <a:gd name="T6" fmla="*/ 26 w 51"/>
                  <a:gd name="T7" fmla="*/ 72 h 72"/>
                  <a:gd name="T8" fmla="*/ 5 w 51"/>
                  <a:gd name="T9" fmla="*/ 41 h 72"/>
                  <a:gd name="T10" fmla="*/ 0 w 51"/>
                  <a:gd name="T11" fmla="*/ 25 h 72"/>
                  <a:gd name="T12" fmla="*/ 26 w 51"/>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51" h="72">
                    <a:moveTo>
                      <a:pt x="26" y="0"/>
                    </a:moveTo>
                    <a:cubicBezTo>
                      <a:pt x="40" y="0"/>
                      <a:pt x="51" y="11"/>
                      <a:pt x="51" y="25"/>
                    </a:cubicBezTo>
                    <a:cubicBezTo>
                      <a:pt x="51" y="31"/>
                      <a:pt x="50" y="36"/>
                      <a:pt x="47" y="41"/>
                    </a:cubicBezTo>
                    <a:cubicBezTo>
                      <a:pt x="43" y="47"/>
                      <a:pt x="26" y="72"/>
                      <a:pt x="26" y="72"/>
                    </a:cubicBezTo>
                    <a:cubicBezTo>
                      <a:pt x="26" y="72"/>
                      <a:pt x="8" y="47"/>
                      <a:pt x="5" y="41"/>
                    </a:cubicBezTo>
                    <a:cubicBezTo>
                      <a:pt x="1" y="36"/>
                      <a:pt x="0" y="31"/>
                      <a:pt x="0" y="25"/>
                    </a:cubicBezTo>
                    <a:cubicBezTo>
                      <a:pt x="0" y="11"/>
                      <a:pt x="12" y="0"/>
                      <a:pt x="26" y="0"/>
                    </a:cubicBezTo>
                    <a:close/>
                  </a:path>
                </a:pathLst>
              </a:custGeom>
              <a:solidFill>
                <a:srgbClr val="F35B1A"/>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sp>
            <p:nvSpPr>
              <p:cNvPr id="188" name="Freeform 955">
                <a:extLst>
                  <a:ext uri="{FF2B5EF4-FFF2-40B4-BE49-F238E27FC236}">
                    <a16:creationId xmlns:a16="http://schemas.microsoft.com/office/drawing/2014/main" id="{CC402C0E-CABA-43B8-4078-CAC9736E5ECD}"/>
                  </a:ext>
                </a:extLst>
              </p:cNvPr>
              <p:cNvSpPr>
                <a:spLocks/>
              </p:cNvSpPr>
              <p:nvPr/>
            </p:nvSpPr>
            <p:spPr bwMode="auto">
              <a:xfrm>
                <a:off x="4896027" y="4733642"/>
                <a:ext cx="135858" cy="135858"/>
              </a:xfrm>
              <a:custGeom>
                <a:avLst/>
                <a:gdLst>
                  <a:gd name="T0" fmla="*/ 10 w 19"/>
                  <a:gd name="T1" fmla="*/ 0 h 19"/>
                  <a:gd name="T2" fmla="*/ 10 w 19"/>
                  <a:gd name="T3" fmla="*/ 0 h 19"/>
                  <a:gd name="T4" fmla="*/ 10 w 19"/>
                  <a:gd name="T5" fmla="*/ 0 h 19"/>
                  <a:gd name="T6" fmla="*/ 19 w 19"/>
                  <a:gd name="T7" fmla="*/ 10 h 19"/>
                  <a:gd name="T8" fmla="*/ 10 w 19"/>
                  <a:gd name="T9" fmla="*/ 19 h 19"/>
                  <a:gd name="T10" fmla="*/ 10 w 19"/>
                  <a:gd name="T11" fmla="*/ 19 h 19"/>
                  <a:gd name="T12" fmla="*/ 10 w 19"/>
                  <a:gd name="T13" fmla="*/ 19 h 19"/>
                  <a:gd name="T14" fmla="*/ 0 w 19"/>
                  <a:gd name="T15" fmla="*/ 10 h 19"/>
                  <a:gd name="T16" fmla="*/ 10 w 19"/>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0"/>
                    </a:moveTo>
                    <a:cubicBezTo>
                      <a:pt x="10" y="0"/>
                      <a:pt x="10" y="0"/>
                      <a:pt x="10" y="0"/>
                    </a:cubicBezTo>
                    <a:cubicBezTo>
                      <a:pt x="10" y="0"/>
                      <a:pt x="10" y="0"/>
                      <a:pt x="10" y="0"/>
                    </a:cubicBezTo>
                    <a:cubicBezTo>
                      <a:pt x="15" y="0"/>
                      <a:pt x="19" y="4"/>
                      <a:pt x="19" y="10"/>
                    </a:cubicBezTo>
                    <a:cubicBezTo>
                      <a:pt x="19" y="15"/>
                      <a:pt x="15" y="19"/>
                      <a:pt x="10" y="19"/>
                    </a:cubicBezTo>
                    <a:cubicBezTo>
                      <a:pt x="10" y="19"/>
                      <a:pt x="10" y="19"/>
                      <a:pt x="10" y="19"/>
                    </a:cubicBezTo>
                    <a:cubicBezTo>
                      <a:pt x="10" y="19"/>
                      <a:pt x="10" y="19"/>
                      <a:pt x="10" y="19"/>
                    </a:cubicBezTo>
                    <a:cubicBezTo>
                      <a:pt x="5" y="19"/>
                      <a:pt x="0" y="15"/>
                      <a:pt x="0" y="10"/>
                    </a:cubicBezTo>
                    <a:cubicBezTo>
                      <a:pt x="0" y="4"/>
                      <a:pt x="5" y="0"/>
                      <a:pt x="10" y="0"/>
                    </a:cubicBezTo>
                    <a:close/>
                  </a:path>
                </a:pathLst>
              </a:custGeom>
              <a:solidFill>
                <a:schemeClr val="bg1"/>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grpSp>
        <p:grpSp>
          <p:nvGrpSpPr>
            <p:cNvPr id="175" name="Agrupar 143">
              <a:extLst>
                <a:ext uri="{FF2B5EF4-FFF2-40B4-BE49-F238E27FC236}">
                  <a16:creationId xmlns:a16="http://schemas.microsoft.com/office/drawing/2014/main" id="{F5A39035-8F64-D0B3-4376-D6611C6CDB61}"/>
                </a:ext>
              </a:extLst>
            </p:cNvPr>
            <p:cNvGrpSpPr/>
            <p:nvPr/>
          </p:nvGrpSpPr>
          <p:grpSpPr>
            <a:xfrm flipH="1">
              <a:off x="7816574" y="4311981"/>
              <a:ext cx="134207" cy="190127"/>
              <a:chOff x="4778454" y="4602067"/>
              <a:chExt cx="366819" cy="519661"/>
            </a:xfrm>
          </p:grpSpPr>
          <p:sp>
            <p:nvSpPr>
              <p:cNvPr id="185" name="Freeform 956">
                <a:extLst>
                  <a:ext uri="{FF2B5EF4-FFF2-40B4-BE49-F238E27FC236}">
                    <a16:creationId xmlns:a16="http://schemas.microsoft.com/office/drawing/2014/main" id="{4A128BA2-820C-D99E-9828-4BAD1B27FAE6}"/>
                  </a:ext>
                </a:extLst>
              </p:cNvPr>
              <p:cNvSpPr>
                <a:spLocks/>
              </p:cNvSpPr>
              <p:nvPr/>
            </p:nvSpPr>
            <p:spPr bwMode="auto">
              <a:xfrm>
                <a:off x="4778454" y="4602067"/>
                <a:ext cx="366819" cy="519661"/>
              </a:xfrm>
              <a:custGeom>
                <a:avLst/>
                <a:gdLst>
                  <a:gd name="T0" fmla="*/ 26 w 51"/>
                  <a:gd name="T1" fmla="*/ 0 h 72"/>
                  <a:gd name="T2" fmla="*/ 51 w 51"/>
                  <a:gd name="T3" fmla="*/ 25 h 72"/>
                  <a:gd name="T4" fmla="*/ 47 w 51"/>
                  <a:gd name="T5" fmla="*/ 41 h 72"/>
                  <a:gd name="T6" fmla="*/ 26 w 51"/>
                  <a:gd name="T7" fmla="*/ 72 h 72"/>
                  <a:gd name="T8" fmla="*/ 5 w 51"/>
                  <a:gd name="T9" fmla="*/ 41 h 72"/>
                  <a:gd name="T10" fmla="*/ 0 w 51"/>
                  <a:gd name="T11" fmla="*/ 25 h 72"/>
                  <a:gd name="T12" fmla="*/ 26 w 51"/>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51" h="72">
                    <a:moveTo>
                      <a:pt x="26" y="0"/>
                    </a:moveTo>
                    <a:cubicBezTo>
                      <a:pt x="40" y="0"/>
                      <a:pt x="51" y="11"/>
                      <a:pt x="51" y="25"/>
                    </a:cubicBezTo>
                    <a:cubicBezTo>
                      <a:pt x="51" y="31"/>
                      <a:pt x="50" y="36"/>
                      <a:pt x="47" y="41"/>
                    </a:cubicBezTo>
                    <a:cubicBezTo>
                      <a:pt x="43" y="47"/>
                      <a:pt x="26" y="72"/>
                      <a:pt x="26" y="72"/>
                    </a:cubicBezTo>
                    <a:cubicBezTo>
                      <a:pt x="26" y="72"/>
                      <a:pt x="8" y="47"/>
                      <a:pt x="5" y="41"/>
                    </a:cubicBezTo>
                    <a:cubicBezTo>
                      <a:pt x="1" y="36"/>
                      <a:pt x="0" y="31"/>
                      <a:pt x="0" y="25"/>
                    </a:cubicBezTo>
                    <a:cubicBezTo>
                      <a:pt x="0" y="11"/>
                      <a:pt x="12" y="0"/>
                      <a:pt x="26" y="0"/>
                    </a:cubicBezTo>
                    <a:close/>
                  </a:path>
                </a:pathLst>
              </a:custGeom>
              <a:solidFill>
                <a:schemeClr val="tx1">
                  <a:lumMod val="50000"/>
                  <a:lumOff val="50000"/>
                </a:schemeClr>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sp>
            <p:nvSpPr>
              <p:cNvPr id="186" name="Freeform 955">
                <a:extLst>
                  <a:ext uri="{FF2B5EF4-FFF2-40B4-BE49-F238E27FC236}">
                    <a16:creationId xmlns:a16="http://schemas.microsoft.com/office/drawing/2014/main" id="{9DA3DCE5-322E-9066-4AEE-99B46A9C2A7E}"/>
                  </a:ext>
                </a:extLst>
              </p:cNvPr>
              <p:cNvSpPr>
                <a:spLocks/>
              </p:cNvSpPr>
              <p:nvPr/>
            </p:nvSpPr>
            <p:spPr bwMode="auto">
              <a:xfrm>
                <a:off x="4896027" y="4733642"/>
                <a:ext cx="135858" cy="135858"/>
              </a:xfrm>
              <a:custGeom>
                <a:avLst/>
                <a:gdLst>
                  <a:gd name="T0" fmla="*/ 10 w 19"/>
                  <a:gd name="T1" fmla="*/ 0 h 19"/>
                  <a:gd name="T2" fmla="*/ 10 w 19"/>
                  <a:gd name="T3" fmla="*/ 0 h 19"/>
                  <a:gd name="T4" fmla="*/ 10 w 19"/>
                  <a:gd name="T5" fmla="*/ 0 h 19"/>
                  <a:gd name="T6" fmla="*/ 19 w 19"/>
                  <a:gd name="T7" fmla="*/ 10 h 19"/>
                  <a:gd name="T8" fmla="*/ 10 w 19"/>
                  <a:gd name="T9" fmla="*/ 19 h 19"/>
                  <a:gd name="T10" fmla="*/ 10 w 19"/>
                  <a:gd name="T11" fmla="*/ 19 h 19"/>
                  <a:gd name="T12" fmla="*/ 10 w 19"/>
                  <a:gd name="T13" fmla="*/ 19 h 19"/>
                  <a:gd name="T14" fmla="*/ 0 w 19"/>
                  <a:gd name="T15" fmla="*/ 10 h 19"/>
                  <a:gd name="T16" fmla="*/ 10 w 19"/>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0"/>
                    </a:moveTo>
                    <a:cubicBezTo>
                      <a:pt x="10" y="0"/>
                      <a:pt x="10" y="0"/>
                      <a:pt x="10" y="0"/>
                    </a:cubicBezTo>
                    <a:cubicBezTo>
                      <a:pt x="10" y="0"/>
                      <a:pt x="10" y="0"/>
                      <a:pt x="10" y="0"/>
                    </a:cubicBezTo>
                    <a:cubicBezTo>
                      <a:pt x="15" y="0"/>
                      <a:pt x="19" y="4"/>
                      <a:pt x="19" y="10"/>
                    </a:cubicBezTo>
                    <a:cubicBezTo>
                      <a:pt x="19" y="15"/>
                      <a:pt x="15" y="19"/>
                      <a:pt x="10" y="19"/>
                    </a:cubicBezTo>
                    <a:cubicBezTo>
                      <a:pt x="10" y="19"/>
                      <a:pt x="10" y="19"/>
                      <a:pt x="10" y="19"/>
                    </a:cubicBezTo>
                    <a:cubicBezTo>
                      <a:pt x="10" y="19"/>
                      <a:pt x="10" y="19"/>
                      <a:pt x="10" y="19"/>
                    </a:cubicBezTo>
                    <a:cubicBezTo>
                      <a:pt x="5" y="19"/>
                      <a:pt x="0" y="15"/>
                      <a:pt x="0" y="10"/>
                    </a:cubicBezTo>
                    <a:cubicBezTo>
                      <a:pt x="0" y="4"/>
                      <a:pt x="5" y="0"/>
                      <a:pt x="10" y="0"/>
                    </a:cubicBezTo>
                    <a:close/>
                  </a:path>
                </a:pathLst>
              </a:custGeom>
              <a:solidFill>
                <a:schemeClr val="bg1"/>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grpSp>
        <p:grpSp>
          <p:nvGrpSpPr>
            <p:cNvPr id="176" name="Agrupar 143">
              <a:extLst>
                <a:ext uri="{FF2B5EF4-FFF2-40B4-BE49-F238E27FC236}">
                  <a16:creationId xmlns:a16="http://schemas.microsoft.com/office/drawing/2014/main" id="{F9A944CB-C3AD-5403-7AFF-2105A82CE941}"/>
                </a:ext>
              </a:extLst>
            </p:cNvPr>
            <p:cNvGrpSpPr/>
            <p:nvPr/>
          </p:nvGrpSpPr>
          <p:grpSpPr>
            <a:xfrm flipH="1">
              <a:off x="7960164" y="4330516"/>
              <a:ext cx="134207" cy="190127"/>
              <a:chOff x="4778454" y="4602067"/>
              <a:chExt cx="366819" cy="519661"/>
            </a:xfrm>
          </p:grpSpPr>
          <p:sp>
            <p:nvSpPr>
              <p:cNvPr id="183" name="Freeform 956">
                <a:extLst>
                  <a:ext uri="{FF2B5EF4-FFF2-40B4-BE49-F238E27FC236}">
                    <a16:creationId xmlns:a16="http://schemas.microsoft.com/office/drawing/2014/main" id="{872A3486-EF97-BE07-A087-5A55F11D6629}"/>
                  </a:ext>
                </a:extLst>
              </p:cNvPr>
              <p:cNvSpPr>
                <a:spLocks/>
              </p:cNvSpPr>
              <p:nvPr/>
            </p:nvSpPr>
            <p:spPr bwMode="auto">
              <a:xfrm>
                <a:off x="4778454" y="4602067"/>
                <a:ext cx="366819" cy="519661"/>
              </a:xfrm>
              <a:custGeom>
                <a:avLst/>
                <a:gdLst>
                  <a:gd name="T0" fmla="*/ 26 w 51"/>
                  <a:gd name="T1" fmla="*/ 0 h 72"/>
                  <a:gd name="T2" fmla="*/ 51 w 51"/>
                  <a:gd name="T3" fmla="*/ 25 h 72"/>
                  <a:gd name="T4" fmla="*/ 47 w 51"/>
                  <a:gd name="T5" fmla="*/ 41 h 72"/>
                  <a:gd name="T6" fmla="*/ 26 w 51"/>
                  <a:gd name="T7" fmla="*/ 72 h 72"/>
                  <a:gd name="T8" fmla="*/ 5 w 51"/>
                  <a:gd name="T9" fmla="*/ 41 h 72"/>
                  <a:gd name="T10" fmla="*/ 0 w 51"/>
                  <a:gd name="T11" fmla="*/ 25 h 72"/>
                  <a:gd name="T12" fmla="*/ 26 w 51"/>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51" h="72">
                    <a:moveTo>
                      <a:pt x="26" y="0"/>
                    </a:moveTo>
                    <a:cubicBezTo>
                      <a:pt x="40" y="0"/>
                      <a:pt x="51" y="11"/>
                      <a:pt x="51" y="25"/>
                    </a:cubicBezTo>
                    <a:cubicBezTo>
                      <a:pt x="51" y="31"/>
                      <a:pt x="50" y="36"/>
                      <a:pt x="47" y="41"/>
                    </a:cubicBezTo>
                    <a:cubicBezTo>
                      <a:pt x="43" y="47"/>
                      <a:pt x="26" y="72"/>
                      <a:pt x="26" y="72"/>
                    </a:cubicBezTo>
                    <a:cubicBezTo>
                      <a:pt x="26" y="72"/>
                      <a:pt x="8" y="47"/>
                      <a:pt x="5" y="41"/>
                    </a:cubicBezTo>
                    <a:cubicBezTo>
                      <a:pt x="1" y="36"/>
                      <a:pt x="0" y="31"/>
                      <a:pt x="0" y="25"/>
                    </a:cubicBezTo>
                    <a:cubicBezTo>
                      <a:pt x="0" y="11"/>
                      <a:pt x="12" y="0"/>
                      <a:pt x="26" y="0"/>
                    </a:cubicBezTo>
                    <a:close/>
                  </a:path>
                </a:pathLst>
              </a:custGeom>
              <a:solidFill>
                <a:schemeClr val="bg1">
                  <a:lumMod val="85000"/>
                </a:schemeClr>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sp>
            <p:nvSpPr>
              <p:cNvPr id="184" name="Freeform 955">
                <a:extLst>
                  <a:ext uri="{FF2B5EF4-FFF2-40B4-BE49-F238E27FC236}">
                    <a16:creationId xmlns:a16="http://schemas.microsoft.com/office/drawing/2014/main" id="{B1BA4CCE-DE21-3589-3E9B-01A83C31135C}"/>
                  </a:ext>
                </a:extLst>
              </p:cNvPr>
              <p:cNvSpPr>
                <a:spLocks/>
              </p:cNvSpPr>
              <p:nvPr/>
            </p:nvSpPr>
            <p:spPr bwMode="auto">
              <a:xfrm>
                <a:off x="4896027" y="4733642"/>
                <a:ext cx="135858" cy="135858"/>
              </a:xfrm>
              <a:custGeom>
                <a:avLst/>
                <a:gdLst>
                  <a:gd name="T0" fmla="*/ 10 w 19"/>
                  <a:gd name="T1" fmla="*/ 0 h 19"/>
                  <a:gd name="T2" fmla="*/ 10 w 19"/>
                  <a:gd name="T3" fmla="*/ 0 h 19"/>
                  <a:gd name="T4" fmla="*/ 10 w 19"/>
                  <a:gd name="T5" fmla="*/ 0 h 19"/>
                  <a:gd name="T6" fmla="*/ 19 w 19"/>
                  <a:gd name="T7" fmla="*/ 10 h 19"/>
                  <a:gd name="T8" fmla="*/ 10 w 19"/>
                  <a:gd name="T9" fmla="*/ 19 h 19"/>
                  <a:gd name="T10" fmla="*/ 10 w 19"/>
                  <a:gd name="T11" fmla="*/ 19 h 19"/>
                  <a:gd name="T12" fmla="*/ 10 w 19"/>
                  <a:gd name="T13" fmla="*/ 19 h 19"/>
                  <a:gd name="T14" fmla="*/ 0 w 19"/>
                  <a:gd name="T15" fmla="*/ 10 h 19"/>
                  <a:gd name="T16" fmla="*/ 10 w 19"/>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0"/>
                    </a:moveTo>
                    <a:cubicBezTo>
                      <a:pt x="10" y="0"/>
                      <a:pt x="10" y="0"/>
                      <a:pt x="10" y="0"/>
                    </a:cubicBezTo>
                    <a:cubicBezTo>
                      <a:pt x="10" y="0"/>
                      <a:pt x="10" y="0"/>
                      <a:pt x="10" y="0"/>
                    </a:cubicBezTo>
                    <a:cubicBezTo>
                      <a:pt x="15" y="0"/>
                      <a:pt x="19" y="4"/>
                      <a:pt x="19" y="10"/>
                    </a:cubicBezTo>
                    <a:cubicBezTo>
                      <a:pt x="19" y="15"/>
                      <a:pt x="15" y="19"/>
                      <a:pt x="10" y="19"/>
                    </a:cubicBezTo>
                    <a:cubicBezTo>
                      <a:pt x="10" y="19"/>
                      <a:pt x="10" y="19"/>
                      <a:pt x="10" y="19"/>
                    </a:cubicBezTo>
                    <a:cubicBezTo>
                      <a:pt x="10" y="19"/>
                      <a:pt x="10" y="19"/>
                      <a:pt x="10" y="19"/>
                    </a:cubicBezTo>
                    <a:cubicBezTo>
                      <a:pt x="5" y="19"/>
                      <a:pt x="0" y="15"/>
                      <a:pt x="0" y="10"/>
                    </a:cubicBezTo>
                    <a:cubicBezTo>
                      <a:pt x="0" y="4"/>
                      <a:pt x="5" y="0"/>
                      <a:pt x="10" y="0"/>
                    </a:cubicBezTo>
                    <a:close/>
                  </a:path>
                </a:pathLst>
              </a:custGeom>
              <a:solidFill>
                <a:schemeClr val="bg1"/>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grpSp>
        <p:grpSp>
          <p:nvGrpSpPr>
            <p:cNvPr id="177" name="Agrupar 143">
              <a:extLst>
                <a:ext uri="{FF2B5EF4-FFF2-40B4-BE49-F238E27FC236}">
                  <a16:creationId xmlns:a16="http://schemas.microsoft.com/office/drawing/2014/main" id="{A70AAB02-41BB-2AEA-0328-0655F3BB0675}"/>
                </a:ext>
              </a:extLst>
            </p:cNvPr>
            <p:cNvGrpSpPr/>
            <p:nvPr/>
          </p:nvGrpSpPr>
          <p:grpSpPr>
            <a:xfrm flipH="1">
              <a:off x="7043980" y="5418899"/>
              <a:ext cx="134207" cy="190127"/>
              <a:chOff x="4778454" y="4602067"/>
              <a:chExt cx="366819" cy="519661"/>
            </a:xfrm>
          </p:grpSpPr>
          <p:sp>
            <p:nvSpPr>
              <p:cNvPr id="181" name="Freeform 956">
                <a:extLst>
                  <a:ext uri="{FF2B5EF4-FFF2-40B4-BE49-F238E27FC236}">
                    <a16:creationId xmlns:a16="http://schemas.microsoft.com/office/drawing/2014/main" id="{80399E66-3F36-8A45-54F2-7E5AC93F2FBE}"/>
                  </a:ext>
                </a:extLst>
              </p:cNvPr>
              <p:cNvSpPr>
                <a:spLocks/>
              </p:cNvSpPr>
              <p:nvPr/>
            </p:nvSpPr>
            <p:spPr bwMode="auto">
              <a:xfrm>
                <a:off x="4778454" y="4602067"/>
                <a:ext cx="366819" cy="519661"/>
              </a:xfrm>
              <a:custGeom>
                <a:avLst/>
                <a:gdLst>
                  <a:gd name="T0" fmla="*/ 26 w 51"/>
                  <a:gd name="T1" fmla="*/ 0 h 72"/>
                  <a:gd name="T2" fmla="*/ 51 w 51"/>
                  <a:gd name="T3" fmla="*/ 25 h 72"/>
                  <a:gd name="T4" fmla="*/ 47 w 51"/>
                  <a:gd name="T5" fmla="*/ 41 h 72"/>
                  <a:gd name="T6" fmla="*/ 26 w 51"/>
                  <a:gd name="T7" fmla="*/ 72 h 72"/>
                  <a:gd name="T8" fmla="*/ 5 w 51"/>
                  <a:gd name="T9" fmla="*/ 41 h 72"/>
                  <a:gd name="T10" fmla="*/ 0 w 51"/>
                  <a:gd name="T11" fmla="*/ 25 h 72"/>
                  <a:gd name="T12" fmla="*/ 26 w 51"/>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51" h="72">
                    <a:moveTo>
                      <a:pt x="26" y="0"/>
                    </a:moveTo>
                    <a:cubicBezTo>
                      <a:pt x="40" y="0"/>
                      <a:pt x="51" y="11"/>
                      <a:pt x="51" y="25"/>
                    </a:cubicBezTo>
                    <a:cubicBezTo>
                      <a:pt x="51" y="31"/>
                      <a:pt x="50" y="36"/>
                      <a:pt x="47" y="41"/>
                    </a:cubicBezTo>
                    <a:cubicBezTo>
                      <a:pt x="43" y="47"/>
                      <a:pt x="26" y="72"/>
                      <a:pt x="26" y="72"/>
                    </a:cubicBezTo>
                    <a:cubicBezTo>
                      <a:pt x="26" y="72"/>
                      <a:pt x="8" y="47"/>
                      <a:pt x="5" y="41"/>
                    </a:cubicBezTo>
                    <a:cubicBezTo>
                      <a:pt x="1" y="36"/>
                      <a:pt x="0" y="31"/>
                      <a:pt x="0" y="25"/>
                    </a:cubicBezTo>
                    <a:cubicBezTo>
                      <a:pt x="0" y="11"/>
                      <a:pt x="12" y="0"/>
                      <a:pt x="26" y="0"/>
                    </a:cubicBezTo>
                    <a:close/>
                  </a:path>
                </a:pathLst>
              </a:custGeom>
              <a:solidFill>
                <a:schemeClr val="bg2"/>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sp>
            <p:nvSpPr>
              <p:cNvPr id="182" name="Freeform 955">
                <a:extLst>
                  <a:ext uri="{FF2B5EF4-FFF2-40B4-BE49-F238E27FC236}">
                    <a16:creationId xmlns:a16="http://schemas.microsoft.com/office/drawing/2014/main" id="{25CB38DB-767F-CEBE-5AF2-8FA846FF2728}"/>
                  </a:ext>
                </a:extLst>
              </p:cNvPr>
              <p:cNvSpPr>
                <a:spLocks/>
              </p:cNvSpPr>
              <p:nvPr/>
            </p:nvSpPr>
            <p:spPr bwMode="auto">
              <a:xfrm>
                <a:off x="4896027" y="4733642"/>
                <a:ext cx="135858" cy="135858"/>
              </a:xfrm>
              <a:custGeom>
                <a:avLst/>
                <a:gdLst>
                  <a:gd name="T0" fmla="*/ 10 w 19"/>
                  <a:gd name="T1" fmla="*/ 0 h 19"/>
                  <a:gd name="T2" fmla="*/ 10 w 19"/>
                  <a:gd name="T3" fmla="*/ 0 h 19"/>
                  <a:gd name="T4" fmla="*/ 10 w 19"/>
                  <a:gd name="T5" fmla="*/ 0 h 19"/>
                  <a:gd name="T6" fmla="*/ 19 w 19"/>
                  <a:gd name="T7" fmla="*/ 10 h 19"/>
                  <a:gd name="T8" fmla="*/ 10 w 19"/>
                  <a:gd name="T9" fmla="*/ 19 h 19"/>
                  <a:gd name="T10" fmla="*/ 10 w 19"/>
                  <a:gd name="T11" fmla="*/ 19 h 19"/>
                  <a:gd name="T12" fmla="*/ 10 w 19"/>
                  <a:gd name="T13" fmla="*/ 19 h 19"/>
                  <a:gd name="T14" fmla="*/ 0 w 19"/>
                  <a:gd name="T15" fmla="*/ 10 h 19"/>
                  <a:gd name="T16" fmla="*/ 10 w 19"/>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0"/>
                    </a:moveTo>
                    <a:cubicBezTo>
                      <a:pt x="10" y="0"/>
                      <a:pt x="10" y="0"/>
                      <a:pt x="10" y="0"/>
                    </a:cubicBezTo>
                    <a:cubicBezTo>
                      <a:pt x="10" y="0"/>
                      <a:pt x="10" y="0"/>
                      <a:pt x="10" y="0"/>
                    </a:cubicBezTo>
                    <a:cubicBezTo>
                      <a:pt x="15" y="0"/>
                      <a:pt x="19" y="4"/>
                      <a:pt x="19" y="10"/>
                    </a:cubicBezTo>
                    <a:cubicBezTo>
                      <a:pt x="19" y="15"/>
                      <a:pt x="15" y="19"/>
                      <a:pt x="10" y="19"/>
                    </a:cubicBezTo>
                    <a:cubicBezTo>
                      <a:pt x="10" y="19"/>
                      <a:pt x="10" y="19"/>
                      <a:pt x="10" y="19"/>
                    </a:cubicBezTo>
                    <a:cubicBezTo>
                      <a:pt x="10" y="19"/>
                      <a:pt x="10" y="19"/>
                      <a:pt x="10" y="19"/>
                    </a:cubicBezTo>
                    <a:cubicBezTo>
                      <a:pt x="5" y="19"/>
                      <a:pt x="0" y="15"/>
                      <a:pt x="0" y="10"/>
                    </a:cubicBezTo>
                    <a:cubicBezTo>
                      <a:pt x="0" y="4"/>
                      <a:pt x="5" y="0"/>
                      <a:pt x="10" y="0"/>
                    </a:cubicBezTo>
                    <a:close/>
                  </a:path>
                </a:pathLst>
              </a:custGeom>
              <a:solidFill>
                <a:schemeClr val="bg1"/>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grpSp>
        <p:grpSp>
          <p:nvGrpSpPr>
            <p:cNvPr id="178" name="Agrupar 143">
              <a:extLst>
                <a:ext uri="{FF2B5EF4-FFF2-40B4-BE49-F238E27FC236}">
                  <a16:creationId xmlns:a16="http://schemas.microsoft.com/office/drawing/2014/main" id="{EB25CB9C-2FBF-0F7F-3B8A-0281D62CF34F}"/>
                </a:ext>
              </a:extLst>
            </p:cNvPr>
            <p:cNvGrpSpPr/>
            <p:nvPr/>
          </p:nvGrpSpPr>
          <p:grpSpPr>
            <a:xfrm flipH="1">
              <a:off x="7433969" y="4658967"/>
              <a:ext cx="134207" cy="190127"/>
              <a:chOff x="4778454" y="4602067"/>
              <a:chExt cx="366819" cy="519661"/>
            </a:xfrm>
          </p:grpSpPr>
          <p:sp>
            <p:nvSpPr>
              <p:cNvPr id="179" name="Freeform 956">
                <a:extLst>
                  <a:ext uri="{FF2B5EF4-FFF2-40B4-BE49-F238E27FC236}">
                    <a16:creationId xmlns:a16="http://schemas.microsoft.com/office/drawing/2014/main" id="{E3EF0AB7-DD26-A4AC-37F0-6E6B9316AC1F}"/>
                  </a:ext>
                </a:extLst>
              </p:cNvPr>
              <p:cNvSpPr>
                <a:spLocks/>
              </p:cNvSpPr>
              <p:nvPr/>
            </p:nvSpPr>
            <p:spPr bwMode="auto">
              <a:xfrm>
                <a:off x="4778454" y="4602067"/>
                <a:ext cx="366819" cy="519661"/>
              </a:xfrm>
              <a:custGeom>
                <a:avLst/>
                <a:gdLst>
                  <a:gd name="T0" fmla="*/ 26 w 51"/>
                  <a:gd name="T1" fmla="*/ 0 h 72"/>
                  <a:gd name="T2" fmla="*/ 51 w 51"/>
                  <a:gd name="T3" fmla="*/ 25 h 72"/>
                  <a:gd name="T4" fmla="*/ 47 w 51"/>
                  <a:gd name="T5" fmla="*/ 41 h 72"/>
                  <a:gd name="T6" fmla="*/ 26 w 51"/>
                  <a:gd name="T7" fmla="*/ 72 h 72"/>
                  <a:gd name="T8" fmla="*/ 5 w 51"/>
                  <a:gd name="T9" fmla="*/ 41 h 72"/>
                  <a:gd name="T10" fmla="*/ 0 w 51"/>
                  <a:gd name="T11" fmla="*/ 25 h 72"/>
                  <a:gd name="T12" fmla="*/ 26 w 51"/>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51" h="72">
                    <a:moveTo>
                      <a:pt x="26" y="0"/>
                    </a:moveTo>
                    <a:cubicBezTo>
                      <a:pt x="40" y="0"/>
                      <a:pt x="51" y="11"/>
                      <a:pt x="51" y="25"/>
                    </a:cubicBezTo>
                    <a:cubicBezTo>
                      <a:pt x="51" y="31"/>
                      <a:pt x="50" y="36"/>
                      <a:pt x="47" y="41"/>
                    </a:cubicBezTo>
                    <a:cubicBezTo>
                      <a:pt x="43" y="47"/>
                      <a:pt x="26" y="72"/>
                      <a:pt x="26" y="72"/>
                    </a:cubicBezTo>
                    <a:cubicBezTo>
                      <a:pt x="26" y="72"/>
                      <a:pt x="8" y="47"/>
                      <a:pt x="5" y="41"/>
                    </a:cubicBezTo>
                    <a:cubicBezTo>
                      <a:pt x="1" y="36"/>
                      <a:pt x="0" y="31"/>
                      <a:pt x="0" y="25"/>
                    </a:cubicBezTo>
                    <a:cubicBezTo>
                      <a:pt x="0" y="11"/>
                      <a:pt x="12" y="0"/>
                      <a:pt x="26" y="0"/>
                    </a:cubicBezTo>
                    <a:close/>
                  </a:path>
                </a:pathLst>
              </a:custGeom>
              <a:solidFill>
                <a:schemeClr val="accent1">
                  <a:lumMod val="50000"/>
                </a:schemeClr>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sp>
            <p:nvSpPr>
              <p:cNvPr id="180" name="Freeform 955">
                <a:extLst>
                  <a:ext uri="{FF2B5EF4-FFF2-40B4-BE49-F238E27FC236}">
                    <a16:creationId xmlns:a16="http://schemas.microsoft.com/office/drawing/2014/main" id="{A2578F1F-5D82-EAC2-D04F-E0A39E2FB315}"/>
                  </a:ext>
                </a:extLst>
              </p:cNvPr>
              <p:cNvSpPr>
                <a:spLocks/>
              </p:cNvSpPr>
              <p:nvPr/>
            </p:nvSpPr>
            <p:spPr bwMode="auto">
              <a:xfrm>
                <a:off x="4896027" y="4733642"/>
                <a:ext cx="135858" cy="135858"/>
              </a:xfrm>
              <a:custGeom>
                <a:avLst/>
                <a:gdLst>
                  <a:gd name="T0" fmla="*/ 10 w 19"/>
                  <a:gd name="T1" fmla="*/ 0 h 19"/>
                  <a:gd name="T2" fmla="*/ 10 w 19"/>
                  <a:gd name="T3" fmla="*/ 0 h 19"/>
                  <a:gd name="T4" fmla="*/ 10 w 19"/>
                  <a:gd name="T5" fmla="*/ 0 h 19"/>
                  <a:gd name="T6" fmla="*/ 19 w 19"/>
                  <a:gd name="T7" fmla="*/ 10 h 19"/>
                  <a:gd name="T8" fmla="*/ 10 w 19"/>
                  <a:gd name="T9" fmla="*/ 19 h 19"/>
                  <a:gd name="T10" fmla="*/ 10 w 19"/>
                  <a:gd name="T11" fmla="*/ 19 h 19"/>
                  <a:gd name="T12" fmla="*/ 10 w 19"/>
                  <a:gd name="T13" fmla="*/ 19 h 19"/>
                  <a:gd name="T14" fmla="*/ 0 w 19"/>
                  <a:gd name="T15" fmla="*/ 10 h 19"/>
                  <a:gd name="T16" fmla="*/ 10 w 19"/>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0"/>
                    </a:moveTo>
                    <a:cubicBezTo>
                      <a:pt x="10" y="0"/>
                      <a:pt x="10" y="0"/>
                      <a:pt x="10" y="0"/>
                    </a:cubicBezTo>
                    <a:cubicBezTo>
                      <a:pt x="10" y="0"/>
                      <a:pt x="10" y="0"/>
                      <a:pt x="10" y="0"/>
                    </a:cubicBezTo>
                    <a:cubicBezTo>
                      <a:pt x="15" y="0"/>
                      <a:pt x="19" y="4"/>
                      <a:pt x="19" y="10"/>
                    </a:cubicBezTo>
                    <a:cubicBezTo>
                      <a:pt x="19" y="15"/>
                      <a:pt x="15" y="19"/>
                      <a:pt x="10" y="19"/>
                    </a:cubicBezTo>
                    <a:cubicBezTo>
                      <a:pt x="10" y="19"/>
                      <a:pt x="10" y="19"/>
                      <a:pt x="10" y="19"/>
                    </a:cubicBezTo>
                    <a:cubicBezTo>
                      <a:pt x="10" y="19"/>
                      <a:pt x="10" y="19"/>
                      <a:pt x="10" y="19"/>
                    </a:cubicBezTo>
                    <a:cubicBezTo>
                      <a:pt x="5" y="19"/>
                      <a:pt x="0" y="15"/>
                      <a:pt x="0" y="10"/>
                    </a:cubicBezTo>
                    <a:cubicBezTo>
                      <a:pt x="0" y="4"/>
                      <a:pt x="5" y="0"/>
                      <a:pt x="10" y="0"/>
                    </a:cubicBezTo>
                    <a:close/>
                  </a:path>
                </a:pathLst>
              </a:custGeom>
              <a:solidFill>
                <a:schemeClr val="bg1"/>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latin typeface="Poppins" panose="00000500000000000000" pitchFamily="2" charset="0"/>
                  <a:cs typeface="Poppins" panose="00000500000000000000" pitchFamily="2" charset="0"/>
                </a:endParaRPr>
              </a:p>
            </p:txBody>
          </p:sp>
        </p:grpSp>
      </p:grpSp>
      <p:grpSp>
        <p:nvGrpSpPr>
          <p:cNvPr id="193" name="Agrupar 192">
            <a:extLst>
              <a:ext uri="{FF2B5EF4-FFF2-40B4-BE49-F238E27FC236}">
                <a16:creationId xmlns:a16="http://schemas.microsoft.com/office/drawing/2014/main" id="{1F5797C3-A90F-BF22-460B-4C780BCC1CCF}"/>
              </a:ext>
            </a:extLst>
          </p:cNvPr>
          <p:cNvGrpSpPr/>
          <p:nvPr/>
        </p:nvGrpSpPr>
        <p:grpSpPr>
          <a:xfrm>
            <a:off x="10295940" y="2319638"/>
            <a:ext cx="1439864" cy="2666086"/>
            <a:chOff x="10394949" y="2077102"/>
            <a:chExt cx="1439864" cy="2666086"/>
          </a:xfrm>
        </p:grpSpPr>
        <p:sp>
          <p:nvSpPr>
            <p:cNvPr id="189" name="TextBox 270">
              <a:extLst>
                <a:ext uri="{FF2B5EF4-FFF2-40B4-BE49-F238E27FC236}">
                  <a16:creationId xmlns:a16="http://schemas.microsoft.com/office/drawing/2014/main" id="{B2E82F87-4CDA-DBDF-E27C-6044AC3E634C}"/>
                </a:ext>
              </a:extLst>
            </p:cNvPr>
            <p:cNvSpPr txBox="1"/>
            <p:nvPr/>
          </p:nvSpPr>
          <p:spPr>
            <a:xfrm>
              <a:off x="10394949" y="2077102"/>
              <a:ext cx="1439864" cy="533992"/>
            </a:xfrm>
            <a:prstGeom prst="rect">
              <a:avLst/>
            </a:prstGeom>
            <a:noFill/>
          </p:spPr>
          <p:txBody>
            <a:bodyPr wrap="square" lIns="0" tIns="0" rIns="0" bIns="0" rtlCol="0">
              <a:spAutoFit/>
            </a:bodyPr>
            <a:lstStyle/>
            <a:p>
              <a:pPr algn="r">
                <a:lnSpc>
                  <a:spcPct val="110000"/>
                </a:lnSpc>
                <a:spcAft>
                  <a:spcPts val="800"/>
                </a:spcAft>
              </a:pPr>
              <a:r>
                <a:rPr lang="en-US" sz="20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10</a:t>
              </a:r>
              <a:r>
                <a:rPr lang="en-US" sz="1200" b="1" dirty="0">
                  <a:solidFill>
                    <a:schemeClr val="accent1"/>
                  </a:solidFill>
                  <a:latin typeface="Poppins" panose="00000500000000000000" pitchFamily="2" charset="0"/>
                  <a:ea typeface="Source Serif Pro" panose="02040603050405020204" pitchFamily="18" charset="0"/>
                  <a:cs typeface="Poppins" panose="00000500000000000000" pitchFamily="2" charset="0"/>
                </a:rPr>
                <a:t> </a:t>
              </a:r>
              <a:r>
                <a:rPr lang="en-US" sz="120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rPr>
                <a:t>active operational bases</a:t>
              </a:r>
              <a:endParaRPr lang="pt-BR" sz="1000" dirty="0">
                <a:solidFill>
                  <a:schemeClr val="tx2"/>
                </a:solidFill>
                <a:latin typeface="Poppins Medium" panose="00000600000000000000" pitchFamily="2" charset="0"/>
                <a:ea typeface="Source Serif Pro" panose="02040603050405020204" pitchFamily="18" charset="0"/>
                <a:cs typeface="Poppins Medium" panose="00000600000000000000" pitchFamily="2" charset="0"/>
              </a:endParaRPr>
            </a:p>
          </p:txBody>
        </p:sp>
        <p:sp>
          <p:nvSpPr>
            <p:cNvPr id="190" name="TextBox 269">
              <a:extLst>
                <a:ext uri="{FF2B5EF4-FFF2-40B4-BE49-F238E27FC236}">
                  <a16:creationId xmlns:a16="http://schemas.microsoft.com/office/drawing/2014/main" id="{F6D0F6A3-1435-0B6E-7EF8-44D0E832889E}"/>
                </a:ext>
              </a:extLst>
            </p:cNvPr>
            <p:cNvSpPr txBox="1"/>
            <p:nvPr/>
          </p:nvSpPr>
          <p:spPr>
            <a:xfrm>
              <a:off x="10394949" y="2780612"/>
              <a:ext cx="1439863" cy="1925014"/>
            </a:xfrm>
            <a:prstGeom prst="rect">
              <a:avLst/>
            </a:prstGeom>
            <a:noFill/>
          </p:spPr>
          <p:txBody>
            <a:bodyPr wrap="square" lIns="0" tIns="0" rIns="0" bIns="0" rtlCol="0">
              <a:spAutoFit/>
            </a:bodyPr>
            <a:lstStyle/>
            <a:p>
              <a:pPr algn="r">
                <a:lnSpc>
                  <a:spcPct val="110000"/>
                </a:lnSpc>
                <a:spcAft>
                  <a:spcPts val="800"/>
                </a:spcAft>
              </a:pPr>
              <a:r>
                <a:rPr lang="en-US" sz="900" dirty="0">
                  <a:latin typeface="Poppins" panose="00000500000000000000" pitchFamily="2" charset="0"/>
                  <a:ea typeface="Source Serif Pro" panose="02040603050405020204" pitchFamily="18" charset="0"/>
                  <a:cs typeface="Poppins" panose="00000500000000000000" pitchFamily="2" charset="0"/>
                </a:rPr>
                <a:t>Mobi maintains operational bases close to client sites across Goiás, the Federal District and Minas Gerais, enabling faster response times, stronger execution oversight, and greater service reliability</a:t>
              </a:r>
            </a:p>
            <a:p>
              <a:pPr algn="r">
                <a:lnSpc>
                  <a:spcPct val="110000"/>
                </a:lnSpc>
                <a:spcAft>
                  <a:spcPts val="800"/>
                </a:spcAft>
              </a:pPr>
              <a:endParaRPr lang="pt-BR" sz="900" dirty="0">
                <a:latin typeface="Poppins" panose="00000500000000000000" pitchFamily="2" charset="0"/>
                <a:ea typeface="Source Serif Pro" panose="02040603050405020204" pitchFamily="18" charset="0"/>
                <a:cs typeface="Poppins" panose="00000500000000000000" pitchFamily="2" charset="0"/>
              </a:endParaRPr>
            </a:p>
          </p:txBody>
        </p:sp>
        <p:sp>
          <p:nvSpPr>
            <p:cNvPr id="191" name="Rectangle: Rounded Corners 143">
              <a:extLst>
                <a:ext uri="{FF2B5EF4-FFF2-40B4-BE49-F238E27FC236}">
                  <a16:creationId xmlns:a16="http://schemas.microsoft.com/office/drawing/2014/main" id="{702E0D54-30FA-D729-3798-80E93616CCAD}"/>
                </a:ext>
              </a:extLst>
            </p:cNvPr>
            <p:cNvSpPr/>
            <p:nvPr/>
          </p:nvSpPr>
          <p:spPr>
            <a:xfrm>
              <a:off x="11644917" y="4535779"/>
              <a:ext cx="189895" cy="17743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r">
                <a:lnSpc>
                  <a:spcPct val="112000"/>
                </a:lnSpc>
                <a:spcAft>
                  <a:spcPts val="800"/>
                </a:spcAft>
              </a:pPr>
              <a:endParaRPr lang="pt-BR" sz="1200"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92" name="TextBox 265">
              <a:extLst>
                <a:ext uri="{FF2B5EF4-FFF2-40B4-BE49-F238E27FC236}">
                  <a16:creationId xmlns:a16="http://schemas.microsoft.com/office/drawing/2014/main" id="{43CFD5B6-B3A8-4837-7C8A-9999421A36FB}"/>
                </a:ext>
              </a:extLst>
            </p:cNvPr>
            <p:cNvSpPr txBox="1"/>
            <p:nvPr/>
          </p:nvSpPr>
          <p:spPr>
            <a:xfrm>
              <a:off x="10394949" y="4477474"/>
              <a:ext cx="1119673" cy="265714"/>
            </a:xfrm>
            <a:prstGeom prst="rect">
              <a:avLst/>
            </a:prstGeom>
            <a:noFill/>
          </p:spPr>
          <p:txBody>
            <a:bodyPr wrap="square" lIns="0" tIns="0" rIns="0" bIns="0" rtlCol="0">
              <a:spAutoFit/>
            </a:bodyPr>
            <a:lstStyle/>
            <a:p>
              <a:pPr algn="r">
                <a:lnSpc>
                  <a:spcPct val="110000"/>
                </a:lnSpc>
                <a:spcAft>
                  <a:spcPts val="800"/>
                </a:spcAft>
              </a:pPr>
              <a:r>
                <a:rPr lang="pt-BR" sz="800" dirty="0">
                  <a:latin typeface="Poppins Light" panose="00000400000000000000" pitchFamily="2" charset="0"/>
                  <a:ea typeface="Source Serif Pro" panose="02040603050405020204" pitchFamily="18" charset="0"/>
                  <a:cs typeface="Poppins Light" panose="00000400000000000000" pitchFamily="2" charset="0"/>
                </a:rPr>
                <a:t>States with </a:t>
              </a:r>
              <a:br>
                <a:rPr lang="pt-BR" sz="800" dirty="0">
                  <a:latin typeface="Poppins Light" panose="00000400000000000000" pitchFamily="2" charset="0"/>
                  <a:ea typeface="Source Serif Pro" panose="02040603050405020204" pitchFamily="18" charset="0"/>
                  <a:cs typeface="Poppins Light" panose="00000400000000000000" pitchFamily="2" charset="0"/>
                </a:rPr>
              </a:br>
              <a:r>
                <a:rPr lang="pt-BR" sz="800" dirty="0">
                  <a:latin typeface="Poppins Light" panose="00000400000000000000" pitchFamily="2" charset="0"/>
                  <a:ea typeface="Source Serif Pro" panose="02040603050405020204" pitchFamily="18" charset="0"/>
                  <a:cs typeface="Poppins Light" panose="00000400000000000000" pitchFamily="2" charset="0"/>
                </a:rPr>
                <a:t>operational bases</a:t>
              </a:r>
            </a:p>
          </p:txBody>
        </p:sp>
      </p:grpSp>
    </p:spTree>
    <p:extLst>
      <p:ext uri="{BB962C8B-B14F-4D97-AF65-F5344CB8AC3E}">
        <p14:creationId xmlns:p14="http://schemas.microsoft.com/office/powerpoint/2010/main" val="3477341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EE7F-AED5-8E62-75DB-556CB8D9E837}"/>
            </a:ext>
          </a:extLst>
        </p:cNvPr>
        <p:cNvGrpSpPr/>
        <p:nvPr/>
      </p:nvGrpSpPr>
      <p:grpSpPr>
        <a:xfrm>
          <a:off x="0" y="0"/>
          <a:ext cx="0" cy="0"/>
          <a:chOff x="0" y="0"/>
          <a:chExt cx="0" cy="0"/>
        </a:xfrm>
      </p:grpSpPr>
      <p:sp>
        <p:nvSpPr>
          <p:cNvPr id="11456" name="Retângulo 11455">
            <a:extLst>
              <a:ext uri="{FF2B5EF4-FFF2-40B4-BE49-F238E27FC236}">
                <a16:creationId xmlns:a16="http://schemas.microsoft.com/office/drawing/2014/main" id="{F4DC15F7-6575-0067-8D00-E4D31F9881EE}"/>
              </a:ext>
            </a:extLst>
          </p:cNvPr>
          <p:cNvSpPr/>
          <p:nvPr/>
        </p:nvSpPr>
        <p:spPr>
          <a:xfrm>
            <a:off x="4298949" y="1450975"/>
            <a:ext cx="7893051" cy="45338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 name="Rectangle: Rounded Corners 1">
            <a:extLst>
              <a:ext uri="{FF2B5EF4-FFF2-40B4-BE49-F238E27FC236}">
                <a16:creationId xmlns:a16="http://schemas.microsoft.com/office/drawing/2014/main" id="{09783ADE-1BC4-0465-65B1-76130BBA150D}"/>
              </a:ext>
            </a:extLst>
          </p:cNvPr>
          <p:cNvSpPr/>
          <p:nvPr/>
        </p:nvSpPr>
        <p:spPr>
          <a:xfrm>
            <a:off x="-285750" y="1450974"/>
            <a:ext cx="5876925" cy="5407025"/>
          </a:xfrm>
          <a:prstGeom prst="roundRect">
            <a:avLst>
              <a:gd name="adj" fmla="val 446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000" dirty="0">
              <a:solidFill>
                <a:schemeClr val="tx1"/>
              </a:solidFill>
              <a:latin typeface="Source Serif Pro" panose="02040603050405020204" pitchFamily="18" charset="0"/>
              <a:ea typeface="Source Serif Pro" panose="02040603050405020204" pitchFamily="18" charset="0"/>
            </a:endParaRPr>
          </a:p>
        </p:txBody>
      </p:sp>
      <p:sp>
        <p:nvSpPr>
          <p:cNvPr id="10" name="Espaço Reservado para Texto 9">
            <a:extLst>
              <a:ext uri="{FF2B5EF4-FFF2-40B4-BE49-F238E27FC236}">
                <a16:creationId xmlns:a16="http://schemas.microsoft.com/office/drawing/2014/main" id="{61689B9D-22B3-60C7-B704-852F409B1119}"/>
              </a:ext>
            </a:extLst>
          </p:cNvPr>
          <p:cNvSpPr>
            <a:spLocks noGrp="1"/>
          </p:cNvSpPr>
          <p:nvPr>
            <p:ph type="body" sz="quarter" idx="36"/>
          </p:nvPr>
        </p:nvSpPr>
        <p:spPr/>
        <p:txBody>
          <a:bodyPr/>
          <a:lstStyle/>
          <a:p>
            <a:r>
              <a:rPr lang="en-US" dirty="0">
                <a:solidFill>
                  <a:schemeClr val="bg1"/>
                </a:solidFill>
              </a:rPr>
              <a:t>Source: Company</a:t>
            </a:r>
          </a:p>
        </p:txBody>
      </p:sp>
      <p:sp>
        <p:nvSpPr>
          <p:cNvPr id="11" name="Slide Number Placeholder 5">
            <a:extLst>
              <a:ext uri="{FF2B5EF4-FFF2-40B4-BE49-F238E27FC236}">
                <a16:creationId xmlns:a16="http://schemas.microsoft.com/office/drawing/2014/main" id="{8A8C3513-1EA6-C092-83BE-38DA950BC655}"/>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solidFill>
                  <a:schemeClr val="bg1"/>
                </a:solidFill>
              </a:rPr>
              <a:pPr algn="ctr"/>
              <a:t>11</a:t>
            </a:fld>
            <a:endParaRPr lang="en-US" dirty="0">
              <a:solidFill>
                <a:schemeClr val="bg1"/>
              </a:solidFill>
              <a:latin typeface="Poppins Light" panose="00000400000000000000" pitchFamily="2" charset="0"/>
              <a:cs typeface="Poppins Light" panose="00000400000000000000" pitchFamily="2" charset="0"/>
            </a:endParaRPr>
          </a:p>
        </p:txBody>
      </p:sp>
      <p:sp>
        <p:nvSpPr>
          <p:cNvPr id="20" name="Espaço Reservado para Conteúdo 4">
            <a:extLst>
              <a:ext uri="{FF2B5EF4-FFF2-40B4-BE49-F238E27FC236}">
                <a16:creationId xmlns:a16="http://schemas.microsoft.com/office/drawing/2014/main" id="{07FC9639-4FBB-F322-8AED-4257A37947A0}"/>
              </a:ext>
            </a:extLst>
          </p:cNvPr>
          <p:cNvSpPr txBox="1">
            <a:spLocks/>
          </p:cNvSpPr>
          <p:nvPr/>
        </p:nvSpPr>
        <p:spPr>
          <a:xfrm>
            <a:off x="731838" y="1052961"/>
            <a:ext cx="11102975" cy="215503"/>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2"/>
                </a:solidFill>
              </a:rPr>
              <a:t>Mobi combines GPS-based telemetry, driver monitoring, and operational discipline to keep its fleet running reliably</a:t>
            </a:r>
          </a:p>
        </p:txBody>
      </p:sp>
      <p:sp>
        <p:nvSpPr>
          <p:cNvPr id="21" name="Título 3">
            <a:extLst>
              <a:ext uri="{FF2B5EF4-FFF2-40B4-BE49-F238E27FC236}">
                <a16:creationId xmlns:a16="http://schemas.microsoft.com/office/drawing/2014/main" id="{5560D9DF-7770-8E7B-48B1-9B7845A2A99B}"/>
              </a:ext>
            </a:extLst>
          </p:cNvPr>
          <p:cNvSpPr>
            <a:spLocks noGrp="1"/>
          </p:cNvSpPr>
          <p:nvPr>
            <p:ph type="title"/>
          </p:nvPr>
        </p:nvSpPr>
        <p:spPr>
          <a:xfrm>
            <a:off x="846137" y="735734"/>
            <a:ext cx="11102975" cy="284693"/>
          </a:xfrm>
          <a:noFill/>
          <a:ln>
            <a:noFill/>
          </a:ln>
        </p:spPr>
        <p:style>
          <a:lnRef idx="2">
            <a:schemeClr val="accent1"/>
          </a:lnRef>
          <a:fillRef idx="1">
            <a:schemeClr val="lt1"/>
          </a:fillRef>
          <a:effectRef idx="0">
            <a:schemeClr val="accent1"/>
          </a:effectRef>
          <a:fontRef idx="minor">
            <a:schemeClr val="dk1"/>
          </a:fontRef>
        </p:style>
        <p:txBody>
          <a:bodyPr vert="horz" lIns="360000" tIns="0" rIns="0" bIns="0" rtlCol="0" anchor="t" anchorCtr="0">
            <a:noAutofit/>
          </a:bodyPr>
          <a:lstStyle/>
          <a:p>
            <a:r>
              <a:rPr lang="en-US" spc="-70" dirty="0">
                <a:solidFill>
                  <a:schemeClr val="accent1"/>
                </a:solidFill>
                <a:latin typeface="Poppins" panose="00000500000000000000" pitchFamily="2" charset="0"/>
                <a:ea typeface="Source Serif Pro" panose="02040603050405020204" pitchFamily="18" charset="0"/>
                <a:cs typeface="Poppins" panose="00000500000000000000" pitchFamily="2" charset="0"/>
              </a:rPr>
              <a:t>Technology-enabled operations support high reliability</a:t>
            </a:r>
            <a:endParaRPr lang="pt-BR" sz="1800" spc="-7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2" name="Rectangle: Rounded Corners 27">
            <a:extLst>
              <a:ext uri="{FF2B5EF4-FFF2-40B4-BE49-F238E27FC236}">
                <a16:creationId xmlns:a16="http://schemas.microsoft.com/office/drawing/2014/main" id="{2703A271-C65D-114F-FDA3-713C83F07942}"/>
              </a:ext>
            </a:extLst>
          </p:cNvPr>
          <p:cNvSpPr/>
          <p:nvPr/>
        </p:nvSpPr>
        <p:spPr>
          <a:xfrm>
            <a:off x="731837" y="722250"/>
            <a:ext cx="324000" cy="24740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4</a:t>
            </a:r>
          </a:p>
        </p:txBody>
      </p:sp>
      <p:sp>
        <p:nvSpPr>
          <p:cNvPr id="24" name="Título 1">
            <a:extLst>
              <a:ext uri="{FF2B5EF4-FFF2-40B4-BE49-F238E27FC236}">
                <a16:creationId xmlns:a16="http://schemas.microsoft.com/office/drawing/2014/main" id="{B91CD668-F01B-FAF9-9E6A-79F08BB89BFB}"/>
              </a:ext>
            </a:extLst>
          </p:cNvPr>
          <p:cNvSpPr txBox="1">
            <a:spLocks/>
          </p:cNvSpPr>
          <p:nvPr/>
        </p:nvSpPr>
        <p:spPr>
          <a:xfrm>
            <a:off x="740713" y="1719014"/>
            <a:ext cx="4735598" cy="35318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solidFill>
                  <a:schemeClr val="bg1"/>
                </a:solidFill>
                <a:latin typeface="Poppins SemiBold" panose="00000700000000000000" pitchFamily="2" charset="0"/>
                <a:cs typeface="Poppins SemiBold" panose="00000700000000000000" pitchFamily="2" charset="0"/>
              </a:rPr>
              <a:t>Mobi leverages GPS-based fleet telemetry and monitoring systems to support its operations...</a:t>
            </a:r>
          </a:p>
        </p:txBody>
      </p:sp>
      <p:sp>
        <p:nvSpPr>
          <p:cNvPr id="11458" name="Título 1">
            <a:extLst>
              <a:ext uri="{FF2B5EF4-FFF2-40B4-BE49-F238E27FC236}">
                <a16:creationId xmlns:a16="http://schemas.microsoft.com/office/drawing/2014/main" id="{E7E66392-81E0-E786-702D-D7CD3820EE99}"/>
              </a:ext>
            </a:extLst>
          </p:cNvPr>
          <p:cNvSpPr txBox="1">
            <a:spLocks/>
          </p:cNvSpPr>
          <p:nvPr/>
        </p:nvSpPr>
        <p:spPr>
          <a:xfrm>
            <a:off x="5838824" y="1719014"/>
            <a:ext cx="599598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solidFill>
                  <a:schemeClr val="tx2"/>
                </a:solidFill>
                <a:latin typeface="Poppins SemiBold" panose="00000700000000000000" pitchFamily="2" charset="0"/>
                <a:cs typeface="Poppins SemiBold" panose="00000700000000000000" pitchFamily="2" charset="0"/>
              </a:rPr>
              <a:t>... in-house maintenance capabilities to be confirmed with management</a:t>
            </a:r>
          </a:p>
        </p:txBody>
      </p:sp>
      <p:sp>
        <p:nvSpPr>
          <p:cNvPr id="11459" name="TextBox 52">
            <a:extLst>
              <a:ext uri="{FF2B5EF4-FFF2-40B4-BE49-F238E27FC236}">
                <a16:creationId xmlns:a16="http://schemas.microsoft.com/office/drawing/2014/main" id="{2D5CBF21-38CE-C20A-4548-02FDEB766655}"/>
              </a:ext>
            </a:extLst>
          </p:cNvPr>
          <p:cNvSpPr txBox="1"/>
          <p:nvPr/>
        </p:nvSpPr>
        <p:spPr>
          <a:xfrm>
            <a:off x="5795475" y="2299777"/>
            <a:ext cx="2600000" cy="195438"/>
          </a:xfrm>
          <a:prstGeom prst="rect">
            <a:avLst/>
          </a:prstGeom>
          <a:noFill/>
        </p:spPr>
        <p:txBody>
          <a:bodyPr wrap="square" lIns="0" tIns="0" rIns="0" bIns="0" rtlCol="0">
            <a:spAutoFit/>
          </a:bodyPr>
          <a:lstStyle/>
          <a:p>
            <a:pPr>
              <a:lnSpc>
                <a:spcPct val="110000"/>
              </a:lnSpc>
              <a:spcAft>
                <a:spcPts val="800"/>
              </a:spcAft>
            </a:pPr>
            <a:r>
              <a:rPr lang="en-US" sz="1200" b="1" noProof="0"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In-house maintenance [TBC]</a:t>
            </a:r>
          </a:p>
        </p:txBody>
      </p:sp>
      <p:sp>
        <p:nvSpPr>
          <p:cNvPr id="11460" name="TextBox 82">
            <a:extLst>
              <a:ext uri="{FF2B5EF4-FFF2-40B4-BE49-F238E27FC236}">
                <a16:creationId xmlns:a16="http://schemas.microsoft.com/office/drawing/2014/main" id="{0982156B-36BF-08BF-A434-12A82AD3C9D0}"/>
              </a:ext>
            </a:extLst>
          </p:cNvPr>
          <p:cNvSpPr txBox="1"/>
          <p:nvPr/>
        </p:nvSpPr>
        <p:spPr>
          <a:xfrm>
            <a:off x="5703845" y="2549598"/>
            <a:ext cx="5684880" cy="400110"/>
          </a:xfrm>
          <a:prstGeom prst="rect">
            <a:avLst/>
          </a:prstGeom>
          <a:noFill/>
        </p:spPr>
        <p:txBody>
          <a:bodyPr wrap="square">
            <a:spAutoFit/>
          </a:bodyPr>
          <a:lstStyle/>
          <a:p>
            <a:r>
              <a:rPr lang="en-US" sz="1000" dirty="0">
                <a:latin typeface="Poppins" panose="00000500000000000000" pitchFamily="2" charset="0"/>
                <a:cs typeface="Poppins" panose="00000500000000000000" pitchFamily="2" charset="0"/>
              </a:rPr>
              <a:t>[To be confirmed with management: scope and structure of maintenance operations]</a:t>
            </a:r>
          </a:p>
        </p:txBody>
      </p:sp>
      <p:sp>
        <p:nvSpPr>
          <p:cNvPr id="11463" name="TextBox 52">
            <a:extLst>
              <a:ext uri="{FF2B5EF4-FFF2-40B4-BE49-F238E27FC236}">
                <a16:creationId xmlns:a16="http://schemas.microsoft.com/office/drawing/2014/main" id="{FBFB93F3-3650-D7C0-74DB-FC697C9553ED}"/>
              </a:ext>
            </a:extLst>
          </p:cNvPr>
          <p:cNvSpPr txBox="1"/>
          <p:nvPr/>
        </p:nvSpPr>
        <p:spPr>
          <a:xfrm>
            <a:off x="5795475" y="3545642"/>
            <a:ext cx="4072425" cy="195438"/>
          </a:xfrm>
          <a:prstGeom prst="rect">
            <a:avLst/>
          </a:prstGeom>
          <a:noFill/>
        </p:spPr>
        <p:txBody>
          <a:bodyPr wrap="square" lIns="0" tIns="0" rIns="0" bIns="0" rtlCol="0">
            <a:spAutoFit/>
          </a:bodyPr>
          <a:lstStyle/>
          <a:p>
            <a:pPr>
              <a:lnSpc>
                <a:spcPct val="110000"/>
              </a:lnSpc>
              <a:spcAft>
                <a:spcPts val="800"/>
              </a:spcAft>
            </a:pPr>
            <a:r>
              <a:rPr lang="en-US" sz="1200" b="1" noProof="0"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GPS Telemetry &amp; Driver Monitoring</a:t>
            </a:r>
          </a:p>
        </p:txBody>
      </p:sp>
      <p:sp>
        <p:nvSpPr>
          <p:cNvPr id="11464" name="TextBox 82">
            <a:extLst>
              <a:ext uri="{FF2B5EF4-FFF2-40B4-BE49-F238E27FC236}">
                <a16:creationId xmlns:a16="http://schemas.microsoft.com/office/drawing/2014/main" id="{2DB5BB44-68E1-6594-6399-772EB5D5BE96}"/>
              </a:ext>
            </a:extLst>
          </p:cNvPr>
          <p:cNvSpPr txBox="1"/>
          <p:nvPr/>
        </p:nvSpPr>
        <p:spPr>
          <a:xfrm>
            <a:off x="5703845" y="3795463"/>
            <a:ext cx="5684880" cy="553998"/>
          </a:xfrm>
          <a:prstGeom prst="rect">
            <a:avLst/>
          </a:prstGeom>
          <a:noFill/>
        </p:spPr>
        <p:txBody>
          <a:bodyPr wrap="square">
            <a:spAutoFit/>
          </a:bodyPr>
          <a:lstStyle/>
          <a:p>
            <a:r>
              <a:rPr lang="en-US" sz="1000" dirty="0">
                <a:latin typeface="Poppins" panose="00000500000000000000" pitchFamily="2" charset="0"/>
                <a:cs typeface="Poppins" panose="00000500000000000000" pitchFamily="2" charset="0"/>
              </a:rPr>
              <a:t>GPS-based tracking and AI-powered driver fatigue monitoring support continuous oversight of the fleet and drivers across all operational bases</a:t>
            </a:r>
          </a:p>
        </p:txBody>
      </p:sp>
      <p:sp>
        <p:nvSpPr>
          <p:cNvPr id="11475" name="CaixaDeTexto 18">
            <a:extLst>
              <a:ext uri="{FF2B5EF4-FFF2-40B4-BE49-F238E27FC236}">
                <a16:creationId xmlns:a16="http://schemas.microsoft.com/office/drawing/2014/main" id="{9B969E36-6E52-3554-0F52-E43A4C2B62C7}"/>
              </a:ext>
            </a:extLst>
          </p:cNvPr>
          <p:cNvSpPr txBox="1"/>
          <p:nvPr/>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grpSp>
        <p:nvGrpSpPr>
          <p:cNvPr id="3" name="Group 2">
            <a:extLst>
              <a:ext uri="{FF2B5EF4-FFF2-40B4-BE49-F238E27FC236}">
                <a16:creationId xmlns:a16="http://schemas.microsoft.com/office/drawing/2014/main" id="{C686388C-0CD1-267F-62F2-F3F9C8DA19D8}"/>
              </a:ext>
            </a:extLst>
          </p:cNvPr>
          <p:cNvGrpSpPr/>
          <p:nvPr/>
        </p:nvGrpSpPr>
        <p:grpSpPr>
          <a:xfrm>
            <a:off x="803275" y="2198088"/>
            <a:ext cx="913748" cy="639634"/>
            <a:chOff x="934271" y="2123946"/>
            <a:chExt cx="913748" cy="639634"/>
          </a:xfrm>
        </p:grpSpPr>
        <p:sp>
          <p:nvSpPr>
            <p:cNvPr id="4" name="Rectangle: Rounded Corners 3">
              <a:extLst>
                <a:ext uri="{FF2B5EF4-FFF2-40B4-BE49-F238E27FC236}">
                  <a16:creationId xmlns:a16="http://schemas.microsoft.com/office/drawing/2014/main" id="{12EC161D-FA34-CDEE-2E4C-EE1E118682AC}"/>
                </a:ext>
              </a:extLst>
            </p:cNvPr>
            <p:cNvSpPr/>
            <p:nvPr/>
          </p:nvSpPr>
          <p:spPr>
            <a:xfrm>
              <a:off x="934271" y="2123946"/>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5" name="Picture 4" descr="Agility Solutions – Agility Solutions">
              <a:extLst>
                <a:ext uri="{FF2B5EF4-FFF2-40B4-BE49-F238E27FC236}">
                  <a16:creationId xmlns:a16="http://schemas.microsoft.com/office/drawing/2014/main" id="{C4E3D2CA-A063-1D66-CDE5-EE278ADF59D5}"/>
                </a:ext>
              </a:extLst>
            </p:cNvPr>
            <p:cNvPicPr>
              <a:picLocks noChangeAspect="1"/>
            </p:cNvPicPr>
            <p:nvPr/>
          </p:nvPicPr>
          <p:blipFill>
            <a:blip r:embed="rId3">
              <a:clrChange>
                <a:clrFrom>
                  <a:srgbClr val="FFFFFF"/>
                </a:clrFrom>
                <a:clrTo>
                  <a:srgbClr val="FFFFFF">
                    <a:alpha val="0"/>
                  </a:srgbClr>
                </a:clrTo>
              </a:clrChange>
            </a:blip>
            <a:srcRect t="10929" b="-1"/>
            <a:stretch>
              <a:fillRect/>
            </a:stretch>
          </p:blipFill>
          <p:spPr>
            <a:xfrm>
              <a:off x="1080208" y="2318210"/>
              <a:ext cx="621875" cy="251107"/>
            </a:xfrm>
            <a:prstGeom prst="rect">
              <a:avLst/>
            </a:prstGeom>
          </p:spPr>
        </p:pic>
      </p:grpSp>
      <p:grpSp>
        <p:nvGrpSpPr>
          <p:cNvPr id="6" name="Group 5">
            <a:extLst>
              <a:ext uri="{FF2B5EF4-FFF2-40B4-BE49-F238E27FC236}">
                <a16:creationId xmlns:a16="http://schemas.microsoft.com/office/drawing/2014/main" id="{84F6DFA5-4F42-040A-B2B2-61DBE9EDF780}"/>
              </a:ext>
            </a:extLst>
          </p:cNvPr>
          <p:cNvGrpSpPr/>
          <p:nvPr/>
        </p:nvGrpSpPr>
        <p:grpSpPr>
          <a:xfrm>
            <a:off x="803275" y="2946636"/>
            <a:ext cx="913748" cy="639634"/>
            <a:chOff x="798793" y="2872494"/>
            <a:chExt cx="913748" cy="639634"/>
          </a:xfrm>
        </p:grpSpPr>
        <p:sp>
          <p:nvSpPr>
            <p:cNvPr id="7" name="Rectangle: Rounded Corners 6">
              <a:extLst>
                <a:ext uri="{FF2B5EF4-FFF2-40B4-BE49-F238E27FC236}">
                  <a16:creationId xmlns:a16="http://schemas.microsoft.com/office/drawing/2014/main" id="{078F23E7-C5F0-0CED-9AF9-D96FCBEFE7EE}"/>
                </a:ext>
              </a:extLst>
            </p:cNvPr>
            <p:cNvSpPr/>
            <p:nvPr/>
          </p:nvSpPr>
          <p:spPr>
            <a:xfrm>
              <a:off x="798793" y="2872494"/>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8" name="Picture 7">
              <a:extLst>
                <a:ext uri="{FF2B5EF4-FFF2-40B4-BE49-F238E27FC236}">
                  <a16:creationId xmlns:a16="http://schemas.microsoft.com/office/drawing/2014/main" id="{CD9AC544-0B67-AFF3-4B3E-FAEB57A479E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04421" y="3063807"/>
              <a:ext cx="702492" cy="257008"/>
            </a:xfrm>
            <a:prstGeom prst="rect">
              <a:avLst/>
            </a:prstGeom>
          </p:spPr>
        </p:pic>
      </p:grpSp>
      <p:sp>
        <p:nvSpPr>
          <p:cNvPr id="9" name="Rectangle: Rounded Corners 8">
            <a:extLst>
              <a:ext uri="{FF2B5EF4-FFF2-40B4-BE49-F238E27FC236}">
                <a16:creationId xmlns:a16="http://schemas.microsoft.com/office/drawing/2014/main" id="{19507AEC-0E26-EF25-8432-38EF0272A3DC}"/>
              </a:ext>
            </a:extLst>
          </p:cNvPr>
          <p:cNvSpPr/>
          <p:nvPr/>
        </p:nvSpPr>
        <p:spPr>
          <a:xfrm>
            <a:off x="3137552" y="2946636"/>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grpSp>
        <p:nvGrpSpPr>
          <p:cNvPr id="12" name="Group 11">
            <a:extLst>
              <a:ext uri="{FF2B5EF4-FFF2-40B4-BE49-F238E27FC236}">
                <a16:creationId xmlns:a16="http://schemas.microsoft.com/office/drawing/2014/main" id="{30A9C485-A07D-BDD3-D108-3BB65807AC16}"/>
              </a:ext>
            </a:extLst>
          </p:cNvPr>
          <p:cNvGrpSpPr/>
          <p:nvPr/>
        </p:nvGrpSpPr>
        <p:grpSpPr>
          <a:xfrm>
            <a:off x="803275" y="3695184"/>
            <a:ext cx="913748" cy="639634"/>
            <a:chOff x="798793" y="3621042"/>
            <a:chExt cx="913748" cy="639634"/>
          </a:xfrm>
        </p:grpSpPr>
        <p:sp>
          <p:nvSpPr>
            <p:cNvPr id="13" name="Rectangle: Rounded Corners 12">
              <a:extLst>
                <a:ext uri="{FF2B5EF4-FFF2-40B4-BE49-F238E27FC236}">
                  <a16:creationId xmlns:a16="http://schemas.microsoft.com/office/drawing/2014/main" id="{9EABF4A9-C539-0986-C1B9-DED376EBC30C}"/>
                </a:ext>
              </a:extLst>
            </p:cNvPr>
            <p:cNvSpPr/>
            <p:nvPr/>
          </p:nvSpPr>
          <p:spPr>
            <a:xfrm>
              <a:off x="798793" y="3621042"/>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14" name="Picture 13" descr="LOGO_NOVO.png">
              <a:extLst>
                <a:ext uri="{FF2B5EF4-FFF2-40B4-BE49-F238E27FC236}">
                  <a16:creationId xmlns:a16="http://schemas.microsoft.com/office/drawing/2014/main" id="{92A9A744-D0A2-D66D-41B9-BD09291CC4D6}"/>
                </a:ext>
              </a:extLst>
            </p:cNvPr>
            <p:cNvPicPr>
              <a:picLocks noChangeAspect="1"/>
            </p:cNvPicPr>
            <p:nvPr/>
          </p:nvPicPr>
          <p:blipFill>
            <a:blip r:embed="rId5"/>
            <a:stretch>
              <a:fillRect/>
            </a:stretch>
          </p:blipFill>
          <p:spPr>
            <a:xfrm>
              <a:off x="826175" y="3703441"/>
              <a:ext cx="858984" cy="210589"/>
            </a:xfrm>
            <a:prstGeom prst="rect">
              <a:avLst/>
            </a:prstGeom>
          </p:spPr>
        </p:pic>
        <p:pic>
          <p:nvPicPr>
            <p:cNvPr id="15" name="Picture 14" descr="Rastreador Ituran Com Seguro é na Novo Tempo Seguros">
              <a:extLst>
                <a:ext uri="{FF2B5EF4-FFF2-40B4-BE49-F238E27FC236}">
                  <a16:creationId xmlns:a16="http://schemas.microsoft.com/office/drawing/2014/main" id="{2E8DB9F8-2640-05F3-1113-EFCCF7283A7B}"/>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971284" y="3936240"/>
              <a:ext cx="568767" cy="260400"/>
            </a:xfrm>
            <a:prstGeom prst="rect">
              <a:avLst/>
            </a:prstGeom>
          </p:spPr>
        </p:pic>
      </p:grpSp>
      <p:sp>
        <p:nvSpPr>
          <p:cNvPr id="16" name="Rectangle: Rounded Corners 15">
            <a:extLst>
              <a:ext uri="{FF2B5EF4-FFF2-40B4-BE49-F238E27FC236}">
                <a16:creationId xmlns:a16="http://schemas.microsoft.com/office/drawing/2014/main" id="{B78FFF42-3BE8-23C1-3733-2D07F0A4E7C2}"/>
              </a:ext>
            </a:extLst>
          </p:cNvPr>
          <p:cNvSpPr/>
          <p:nvPr/>
        </p:nvSpPr>
        <p:spPr>
          <a:xfrm>
            <a:off x="3137552" y="3695184"/>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grpSp>
        <p:nvGrpSpPr>
          <p:cNvPr id="17" name="Group 16">
            <a:extLst>
              <a:ext uri="{FF2B5EF4-FFF2-40B4-BE49-F238E27FC236}">
                <a16:creationId xmlns:a16="http://schemas.microsoft.com/office/drawing/2014/main" id="{9CD0913B-E264-0052-CD44-FE3ACD87C594}"/>
              </a:ext>
            </a:extLst>
          </p:cNvPr>
          <p:cNvGrpSpPr/>
          <p:nvPr/>
        </p:nvGrpSpPr>
        <p:grpSpPr>
          <a:xfrm>
            <a:off x="803275" y="4443732"/>
            <a:ext cx="913748" cy="639634"/>
            <a:chOff x="798793" y="4369590"/>
            <a:chExt cx="913748" cy="639634"/>
          </a:xfrm>
        </p:grpSpPr>
        <p:sp>
          <p:nvSpPr>
            <p:cNvPr id="18" name="Rectangle: Rounded Corners 17">
              <a:extLst>
                <a:ext uri="{FF2B5EF4-FFF2-40B4-BE49-F238E27FC236}">
                  <a16:creationId xmlns:a16="http://schemas.microsoft.com/office/drawing/2014/main" id="{EC2AEBA6-C4D7-BB48-553D-1F52B3543B4B}"/>
                </a:ext>
              </a:extLst>
            </p:cNvPr>
            <p:cNvSpPr/>
            <p:nvPr/>
          </p:nvSpPr>
          <p:spPr>
            <a:xfrm>
              <a:off x="798793" y="4369590"/>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19" name="Picture 18" descr="FAQ">
              <a:extLst>
                <a:ext uri="{FF2B5EF4-FFF2-40B4-BE49-F238E27FC236}">
                  <a16:creationId xmlns:a16="http://schemas.microsoft.com/office/drawing/2014/main" id="{C59B987B-5222-5826-A3D5-25986C27F71D}"/>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895733" y="4565032"/>
              <a:ext cx="719868" cy="248750"/>
            </a:xfrm>
            <a:prstGeom prst="rect">
              <a:avLst/>
            </a:prstGeom>
          </p:spPr>
        </p:pic>
      </p:grpSp>
      <p:sp>
        <p:nvSpPr>
          <p:cNvPr id="27" name="Rectangle: Rounded Corners 26">
            <a:extLst>
              <a:ext uri="{FF2B5EF4-FFF2-40B4-BE49-F238E27FC236}">
                <a16:creationId xmlns:a16="http://schemas.microsoft.com/office/drawing/2014/main" id="{A44E4927-AA41-F98A-6498-7E44FBA7F174}"/>
              </a:ext>
            </a:extLst>
          </p:cNvPr>
          <p:cNvSpPr/>
          <p:nvPr/>
        </p:nvSpPr>
        <p:spPr>
          <a:xfrm>
            <a:off x="3137552" y="5192279"/>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28" name="Imagem 10">
            <a:extLst>
              <a:ext uri="{FF2B5EF4-FFF2-40B4-BE49-F238E27FC236}">
                <a16:creationId xmlns:a16="http://schemas.microsoft.com/office/drawing/2014/main" id="{AF7E9CF8-489A-8E93-0F21-403775939E2C}"/>
              </a:ext>
            </a:extLst>
          </p:cNvPr>
          <p:cNvPicPr>
            <a:picLocks noChangeAspect="1"/>
          </p:cNvPicPr>
          <p:nvPr/>
        </p:nvPicPr>
        <p:blipFill>
          <a:blip r:embed="rId8">
            <a:clrChange>
              <a:clrFrom>
                <a:srgbClr val="FFFFFF"/>
              </a:clrFrom>
              <a:clrTo>
                <a:srgbClr val="FFFFFF">
                  <a:alpha val="0"/>
                </a:srgbClr>
              </a:clrTo>
            </a:clrChange>
          </a:blip>
          <a:srcRect t="23562" b="20213"/>
          <a:stretch>
            <a:fillRect/>
          </a:stretch>
        </p:blipFill>
        <p:spPr>
          <a:xfrm>
            <a:off x="3267561" y="3083131"/>
            <a:ext cx="653730" cy="366645"/>
          </a:xfrm>
          <a:prstGeom prst="rect">
            <a:avLst/>
          </a:prstGeom>
        </p:spPr>
      </p:pic>
      <p:sp>
        <p:nvSpPr>
          <p:cNvPr id="30" name="TextBox 29">
            <a:extLst>
              <a:ext uri="{FF2B5EF4-FFF2-40B4-BE49-F238E27FC236}">
                <a16:creationId xmlns:a16="http://schemas.microsoft.com/office/drawing/2014/main" id="{8B10B99D-5398-8791-3755-E6BE663A28F2}"/>
              </a:ext>
            </a:extLst>
          </p:cNvPr>
          <p:cNvSpPr txBox="1"/>
          <p:nvPr/>
        </p:nvSpPr>
        <p:spPr>
          <a:xfrm>
            <a:off x="1712541" y="2322499"/>
            <a:ext cx="1430831" cy="390813"/>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ERP used by the Company]</a:t>
            </a:r>
            <a:endParaRPr lang="pt-BR" sz="900" dirty="0">
              <a:solidFill>
                <a:schemeClr val="bg1"/>
              </a:solidFill>
            </a:endParaRPr>
          </a:p>
        </p:txBody>
      </p:sp>
      <p:sp>
        <p:nvSpPr>
          <p:cNvPr id="31" name="TextBox 30">
            <a:extLst>
              <a:ext uri="{FF2B5EF4-FFF2-40B4-BE49-F238E27FC236}">
                <a16:creationId xmlns:a16="http://schemas.microsoft.com/office/drawing/2014/main" id="{526E956A-9D5B-15E5-DBC8-85666877C350}"/>
              </a:ext>
            </a:extLst>
          </p:cNvPr>
          <p:cNvSpPr txBox="1"/>
          <p:nvPr/>
        </p:nvSpPr>
        <p:spPr>
          <a:xfrm>
            <a:off x="1712541" y="2994872"/>
            <a:ext cx="1430831" cy="543162"/>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AI-powered telemetry for driver fatigue monitoring</a:t>
            </a:r>
            <a:endParaRPr lang="pt-BR" sz="900" dirty="0">
              <a:solidFill>
                <a:schemeClr val="bg1"/>
              </a:solidFill>
            </a:endParaRPr>
          </a:p>
        </p:txBody>
      </p:sp>
      <p:pic>
        <p:nvPicPr>
          <p:cNvPr id="33" name="Picture 32" descr="Home - Open System">
            <a:extLst>
              <a:ext uri="{FF2B5EF4-FFF2-40B4-BE49-F238E27FC236}">
                <a16:creationId xmlns:a16="http://schemas.microsoft.com/office/drawing/2014/main" id="{C482BDF6-69CF-4B42-4CA0-5F953E6564AE}"/>
              </a:ext>
            </a:extLst>
          </p:cNvPr>
          <p:cNvPicPr>
            <a:picLocks noChangeAspect="1"/>
          </p:cNvPicPr>
          <p:nvPr/>
        </p:nvPicPr>
        <p:blipFill>
          <a:blip r:embed="rId9"/>
          <a:stretch>
            <a:fillRect/>
          </a:stretch>
        </p:blipFill>
        <p:spPr>
          <a:xfrm>
            <a:off x="3256043" y="3893239"/>
            <a:ext cx="676767" cy="243524"/>
          </a:xfrm>
          <a:prstGeom prst="rect">
            <a:avLst/>
          </a:prstGeom>
        </p:spPr>
      </p:pic>
      <p:sp>
        <p:nvSpPr>
          <p:cNvPr id="34" name="TextBox 33">
            <a:extLst>
              <a:ext uri="{FF2B5EF4-FFF2-40B4-BE49-F238E27FC236}">
                <a16:creationId xmlns:a16="http://schemas.microsoft.com/office/drawing/2014/main" id="{42672CC6-36D5-D86E-D225-F4B412C5A9C4}"/>
              </a:ext>
            </a:extLst>
          </p:cNvPr>
          <p:cNvSpPr txBox="1"/>
          <p:nvPr/>
        </p:nvSpPr>
        <p:spPr>
          <a:xfrm>
            <a:off x="1712541" y="3819595"/>
            <a:ext cx="1430831" cy="390813"/>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Vehicle tracking / GPS software</a:t>
            </a:r>
            <a:endParaRPr lang="pt-BR" sz="900" dirty="0">
              <a:solidFill>
                <a:schemeClr val="bg1"/>
              </a:solidFill>
            </a:endParaRPr>
          </a:p>
        </p:txBody>
      </p:sp>
      <p:sp>
        <p:nvSpPr>
          <p:cNvPr id="35" name="TextBox 34">
            <a:extLst>
              <a:ext uri="{FF2B5EF4-FFF2-40B4-BE49-F238E27FC236}">
                <a16:creationId xmlns:a16="http://schemas.microsoft.com/office/drawing/2014/main" id="{A2BDBFD7-3C13-A2FC-B53F-56752492F970}"/>
              </a:ext>
            </a:extLst>
          </p:cNvPr>
          <p:cNvSpPr txBox="1"/>
          <p:nvPr/>
        </p:nvSpPr>
        <p:spPr>
          <a:xfrm>
            <a:off x="1712541" y="4491968"/>
            <a:ext cx="1430831" cy="543162"/>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route tracking software]</a:t>
            </a:r>
            <a:endParaRPr lang="pt-BR" sz="900" dirty="0">
              <a:solidFill>
                <a:schemeClr val="bg1"/>
              </a:solidFill>
            </a:endParaRPr>
          </a:p>
        </p:txBody>
      </p:sp>
      <p:grpSp>
        <p:nvGrpSpPr>
          <p:cNvPr id="36" name="Group 35">
            <a:extLst>
              <a:ext uri="{FF2B5EF4-FFF2-40B4-BE49-F238E27FC236}">
                <a16:creationId xmlns:a16="http://schemas.microsoft.com/office/drawing/2014/main" id="{99D0AFB3-A568-706C-1225-0A25B7BE42F4}"/>
              </a:ext>
            </a:extLst>
          </p:cNvPr>
          <p:cNvGrpSpPr/>
          <p:nvPr/>
        </p:nvGrpSpPr>
        <p:grpSpPr>
          <a:xfrm>
            <a:off x="803275" y="5192279"/>
            <a:ext cx="913748" cy="639634"/>
            <a:chOff x="798793" y="5118137"/>
            <a:chExt cx="913748" cy="639634"/>
          </a:xfrm>
        </p:grpSpPr>
        <p:sp>
          <p:nvSpPr>
            <p:cNvPr id="37" name="Rectangle: Rounded Corners 36">
              <a:extLst>
                <a:ext uri="{FF2B5EF4-FFF2-40B4-BE49-F238E27FC236}">
                  <a16:creationId xmlns:a16="http://schemas.microsoft.com/office/drawing/2014/main" id="{8B6CC083-058F-8720-50C7-8B130282293D}"/>
                </a:ext>
              </a:extLst>
            </p:cNvPr>
            <p:cNvSpPr/>
            <p:nvPr/>
          </p:nvSpPr>
          <p:spPr>
            <a:xfrm>
              <a:off x="798793" y="5118137"/>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39" name="Picture 38">
              <a:extLst>
                <a:ext uri="{FF2B5EF4-FFF2-40B4-BE49-F238E27FC236}">
                  <a16:creationId xmlns:a16="http://schemas.microsoft.com/office/drawing/2014/main" id="{403EEDA9-1A1F-C19B-99F9-5CA0674F6F55}"/>
                </a:ext>
              </a:extLst>
            </p:cNvPr>
            <p:cNvPicPr>
              <a:picLocks noChangeAspect="1"/>
            </p:cNvPicPr>
            <p:nvPr/>
          </p:nvPicPr>
          <p:blipFill>
            <a:blip r:embed="rId10"/>
            <a:stretch>
              <a:fillRect/>
            </a:stretch>
          </p:blipFill>
          <p:spPr>
            <a:xfrm>
              <a:off x="916501" y="5221792"/>
              <a:ext cx="678333" cy="432324"/>
            </a:xfrm>
            <a:prstGeom prst="rect">
              <a:avLst/>
            </a:prstGeom>
          </p:spPr>
        </p:pic>
      </p:grpSp>
      <p:sp>
        <p:nvSpPr>
          <p:cNvPr id="40" name="TextBox 39">
            <a:extLst>
              <a:ext uri="{FF2B5EF4-FFF2-40B4-BE49-F238E27FC236}">
                <a16:creationId xmlns:a16="http://schemas.microsoft.com/office/drawing/2014/main" id="{DFE87892-4F05-788F-1165-B2AC0BEBDE95}"/>
              </a:ext>
            </a:extLst>
          </p:cNvPr>
          <p:cNvSpPr txBox="1"/>
          <p:nvPr/>
        </p:nvSpPr>
        <p:spPr>
          <a:xfrm>
            <a:off x="1712541" y="5316690"/>
            <a:ext cx="1430831" cy="390813"/>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fleet documentation </a:t>
            </a:r>
            <a:r>
              <a:rPr lang="en-US"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m</a:t>
            </a: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anagement software]</a:t>
            </a:r>
            <a:endParaRPr lang="pt-BR" sz="900" dirty="0">
              <a:solidFill>
                <a:schemeClr val="bg1"/>
              </a:solidFill>
            </a:endParaRPr>
          </a:p>
        </p:txBody>
      </p:sp>
      <p:sp>
        <p:nvSpPr>
          <p:cNvPr id="41" name="Rectangle: Rounded Corners 40">
            <a:extLst>
              <a:ext uri="{FF2B5EF4-FFF2-40B4-BE49-F238E27FC236}">
                <a16:creationId xmlns:a16="http://schemas.microsoft.com/office/drawing/2014/main" id="{F7DBE0FB-97AE-7376-9690-C9B02F52BB87}"/>
              </a:ext>
            </a:extLst>
          </p:cNvPr>
          <p:cNvSpPr/>
          <p:nvPr/>
        </p:nvSpPr>
        <p:spPr>
          <a:xfrm>
            <a:off x="3137552" y="4443732"/>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grpSp>
        <p:nvGrpSpPr>
          <p:cNvPr id="42" name="Group 41">
            <a:extLst>
              <a:ext uri="{FF2B5EF4-FFF2-40B4-BE49-F238E27FC236}">
                <a16:creationId xmlns:a16="http://schemas.microsoft.com/office/drawing/2014/main" id="{0F22B490-7244-44F4-94FE-7AB2C5BDBA70}"/>
              </a:ext>
            </a:extLst>
          </p:cNvPr>
          <p:cNvGrpSpPr/>
          <p:nvPr/>
        </p:nvGrpSpPr>
        <p:grpSpPr>
          <a:xfrm>
            <a:off x="3137552" y="2198088"/>
            <a:ext cx="913748" cy="639634"/>
            <a:chOff x="3137552" y="4369590"/>
            <a:chExt cx="913748" cy="639634"/>
          </a:xfrm>
        </p:grpSpPr>
        <p:sp>
          <p:nvSpPr>
            <p:cNvPr id="43" name="Rectangle: Rounded Corners 42">
              <a:extLst>
                <a:ext uri="{FF2B5EF4-FFF2-40B4-BE49-F238E27FC236}">
                  <a16:creationId xmlns:a16="http://schemas.microsoft.com/office/drawing/2014/main" id="{6EFB1400-DB74-1679-3191-7976E5CBF139}"/>
                </a:ext>
              </a:extLst>
            </p:cNvPr>
            <p:cNvSpPr/>
            <p:nvPr/>
          </p:nvSpPr>
          <p:spPr>
            <a:xfrm>
              <a:off x="3137552" y="4369590"/>
              <a:ext cx="913748" cy="639634"/>
            </a:xfrm>
            <a:prstGeom prst="roundRect">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dirty="0">
                <a:ln>
                  <a:noFill/>
                </a:ln>
                <a:solidFill>
                  <a:schemeClr val="tx1"/>
                </a:solidFill>
                <a:effectLst/>
                <a:uLnTx/>
                <a:uFillTx/>
                <a:latin typeface="+mj-lt"/>
                <a:ea typeface="Source Serif Pro" panose="02040603050405020204" pitchFamily="18" charset="0"/>
                <a:cs typeface="Roboto" panose="02000000000000000000" pitchFamily="2" charset="0"/>
              </a:endParaRPr>
            </a:p>
          </p:txBody>
        </p:sp>
        <p:pic>
          <p:nvPicPr>
            <p:cNvPr id="44" name="Imagem 12">
              <a:extLst>
                <a:ext uri="{FF2B5EF4-FFF2-40B4-BE49-F238E27FC236}">
                  <a16:creationId xmlns:a16="http://schemas.microsoft.com/office/drawing/2014/main" id="{647322CC-6F98-8643-9DE6-327B594C4B23}"/>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3281395" y="4481099"/>
              <a:ext cx="626062" cy="416616"/>
            </a:xfrm>
            <a:prstGeom prst="rect">
              <a:avLst/>
            </a:prstGeom>
          </p:spPr>
        </p:pic>
      </p:grpSp>
      <p:pic>
        <p:nvPicPr>
          <p:cNvPr id="45" name="Imagem 11">
            <a:extLst>
              <a:ext uri="{FF2B5EF4-FFF2-40B4-BE49-F238E27FC236}">
                <a16:creationId xmlns:a16="http://schemas.microsoft.com/office/drawing/2014/main" id="{D967B109-7773-50D5-D52A-C6433E5B2D98}"/>
              </a:ext>
            </a:extLst>
          </p:cNvPr>
          <p:cNvPicPr>
            <a:picLocks noChangeAspect="1"/>
          </p:cNvPicPr>
          <p:nvPr/>
        </p:nvPicPr>
        <p:blipFill>
          <a:blip r:embed="rId12">
            <a:clrChange>
              <a:clrFrom>
                <a:srgbClr val="FFFFFF"/>
              </a:clrFrom>
              <a:clrTo>
                <a:srgbClr val="FFFFFF">
                  <a:alpha val="0"/>
                </a:srgbClr>
              </a:clrTo>
            </a:clrChange>
          </a:blip>
          <a:srcRect r="1119"/>
          <a:stretch>
            <a:fillRect/>
          </a:stretch>
        </p:blipFill>
        <p:spPr>
          <a:xfrm>
            <a:off x="3250915" y="4650718"/>
            <a:ext cx="687023" cy="225663"/>
          </a:xfrm>
          <a:prstGeom prst="rect">
            <a:avLst/>
          </a:prstGeom>
        </p:spPr>
      </p:pic>
      <p:pic>
        <p:nvPicPr>
          <p:cNvPr id="46" name="Imagem 51">
            <a:extLst>
              <a:ext uri="{FF2B5EF4-FFF2-40B4-BE49-F238E27FC236}">
                <a16:creationId xmlns:a16="http://schemas.microsoft.com/office/drawing/2014/main" id="{1A7345D3-D1C7-FAFD-CE71-61C808775438}"/>
              </a:ext>
            </a:extLst>
          </p:cNvPr>
          <p:cNvPicPr>
            <a:picLocks noChangeAspect="1"/>
          </p:cNvPicPr>
          <p:nvPr/>
        </p:nvPicPr>
        <p:blipFill>
          <a:blip r:embed="rId13">
            <a:clrChange>
              <a:clrFrom>
                <a:srgbClr val="FFFFFF"/>
              </a:clrFrom>
              <a:clrTo>
                <a:srgbClr val="FFFFFF">
                  <a:alpha val="0"/>
                </a:srgbClr>
              </a:clrTo>
            </a:clrChange>
          </a:blip>
          <a:srcRect t="40710" b="37903"/>
          <a:stretch>
            <a:fillRect/>
          </a:stretch>
        </p:blipFill>
        <p:spPr>
          <a:xfrm>
            <a:off x="3188594" y="5425301"/>
            <a:ext cx="811665" cy="173590"/>
          </a:xfrm>
          <a:prstGeom prst="rect">
            <a:avLst/>
          </a:prstGeom>
        </p:spPr>
      </p:pic>
      <p:sp>
        <p:nvSpPr>
          <p:cNvPr id="47" name="TextBox 46">
            <a:extLst>
              <a:ext uri="{FF2B5EF4-FFF2-40B4-BE49-F238E27FC236}">
                <a16:creationId xmlns:a16="http://schemas.microsoft.com/office/drawing/2014/main" id="{7231C324-5987-4531-11E1-CABC753E55D9}"/>
              </a:ext>
            </a:extLst>
          </p:cNvPr>
          <p:cNvSpPr txBox="1"/>
          <p:nvPr/>
        </p:nvSpPr>
        <p:spPr>
          <a:xfrm>
            <a:off x="4045480" y="2246324"/>
            <a:ext cx="1430831" cy="543162"/>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fleet maintenance </a:t>
            </a:r>
            <a:r>
              <a:rPr lang="en-US"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m</a:t>
            </a: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anagement software]</a:t>
            </a:r>
            <a:endParaRPr lang="pt-BR" sz="900" dirty="0">
              <a:solidFill>
                <a:schemeClr val="bg1"/>
              </a:solidFill>
            </a:endParaRPr>
          </a:p>
        </p:txBody>
      </p:sp>
      <p:sp>
        <p:nvSpPr>
          <p:cNvPr id="48" name="TextBox 47">
            <a:extLst>
              <a:ext uri="{FF2B5EF4-FFF2-40B4-BE49-F238E27FC236}">
                <a16:creationId xmlns:a16="http://schemas.microsoft.com/office/drawing/2014/main" id="{62F5CA92-11AB-9524-9E37-4156A7ED44BD}"/>
              </a:ext>
            </a:extLst>
          </p:cNvPr>
          <p:cNvSpPr txBox="1"/>
          <p:nvPr/>
        </p:nvSpPr>
        <p:spPr>
          <a:xfrm>
            <a:off x="4045480" y="3071047"/>
            <a:ext cx="1430831" cy="390813"/>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warehouse management system]</a:t>
            </a:r>
            <a:endParaRPr lang="pt-BR" sz="900" dirty="0">
              <a:solidFill>
                <a:schemeClr val="bg1"/>
              </a:solidFill>
            </a:endParaRPr>
          </a:p>
        </p:txBody>
      </p:sp>
      <p:sp>
        <p:nvSpPr>
          <p:cNvPr id="49" name="TextBox 48">
            <a:extLst>
              <a:ext uri="{FF2B5EF4-FFF2-40B4-BE49-F238E27FC236}">
                <a16:creationId xmlns:a16="http://schemas.microsoft.com/office/drawing/2014/main" id="{73D2F32C-5F7A-2EA2-CA28-0977E4ABE524}"/>
              </a:ext>
            </a:extLst>
          </p:cNvPr>
          <p:cNvSpPr txBox="1"/>
          <p:nvPr/>
        </p:nvSpPr>
        <p:spPr>
          <a:xfrm>
            <a:off x="4045480" y="3743420"/>
            <a:ext cx="1430831" cy="543162"/>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tool crib management </a:t>
            </a:r>
            <a:r>
              <a:rPr lang="en-US"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s</a:t>
            </a: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oftware]</a:t>
            </a:r>
            <a:endParaRPr lang="pt-BR" sz="900" dirty="0">
              <a:solidFill>
                <a:schemeClr val="bg1"/>
              </a:solidFill>
            </a:endParaRPr>
          </a:p>
        </p:txBody>
      </p:sp>
      <p:sp>
        <p:nvSpPr>
          <p:cNvPr id="50" name="TextBox 49">
            <a:extLst>
              <a:ext uri="{FF2B5EF4-FFF2-40B4-BE49-F238E27FC236}">
                <a16:creationId xmlns:a16="http://schemas.microsoft.com/office/drawing/2014/main" id="{9AB119F8-52E6-ED58-9FAF-27FDB933B147}"/>
              </a:ext>
            </a:extLst>
          </p:cNvPr>
          <p:cNvSpPr txBox="1"/>
          <p:nvPr/>
        </p:nvSpPr>
        <p:spPr>
          <a:xfrm>
            <a:off x="4045480" y="4568143"/>
            <a:ext cx="1430831" cy="390813"/>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PPE management software]</a:t>
            </a:r>
            <a:endParaRPr lang="pt-BR" sz="900" dirty="0">
              <a:solidFill>
                <a:schemeClr val="bg1"/>
              </a:solidFill>
            </a:endParaRPr>
          </a:p>
        </p:txBody>
      </p:sp>
      <p:sp>
        <p:nvSpPr>
          <p:cNvPr id="51" name="TextBox 50">
            <a:extLst>
              <a:ext uri="{FF2B5EF4-FFF2-40B4-BE49-F238E27FC236}">
                <a16:creationId xmlns:a16="http://schemas.microsoft.com/office/drawing/2014/main" id="{C4471448-D22F-C775-932F-5AC9B15662C3}"/>
              </a:ext>
            </a:extLst>
          </p:cNvPr>
          <p:cNvSpPr txBox="1"/>
          <p:nvPr/>
        </p:nvSpPr>
        <p:spPr>
          <a:xfrm>
            <a:off x="4045480" y="5316690"/>
            <a:ext cx="1430831" cy="390813"/>
          </a:xfrm>
          <a:prstGeom prst="rect">
            <a:avLst/>
          </a:prstGeom>
          <a:noFill/>
        </p:spPr>
        <p:txBody>
          <a:bodyPr wrap="square">
            <a:spAutoFit/>
          </a:bodyPr>
          <a:lstStyle/>
          <a:p>
            <a:pPr algn="l">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[XXX — digital checklist and inspection </a:t>
            </a:r>
            <a:r>
              <a:rPr lang="en-US"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s</a:t>
            </a: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oftware]</a:t>
            </a:r>
            <a:endParaRPr lang="pt-BR" sz="900" dirty="0">
              <a:solidFill>
                <a:schemeClr val="bg1"/>
              </a:solidFill>
            </a:endParaRPr>
          </a:p>
        </p:txBody>
      </p:sp>
      <p:grpSp>
        <p:nvGrpSpPr>
          <p:cNvPr id="53" name="Group 52">
            <a:extLst>
              <a:ext uri="{FF2B5EF4-FFF2-40B4-BE49-F238E27FC236}">
                <a16:creationId xmlns:a16="http://schemas.microsoft.com/office/drawing/2014/main" id="{6FC43A7E-F63E-A8FD-F80B-B7C3D1D2C940}"/>
              </a:ext>
            </a:extLst>
          </p:cNvPr>
          <p:cNvGrpSpPr/>
          <p:nvPr/>
        </p:nvGrpSpPr>
        <p:grpSpPr>
          <a:xfrm>
            <a:off x="6310497" y="4795201"/>
            <a:ext cx="4576405" cy="772904"/>
            <a:chOff x="6856403" y="4795201"/>
            <a:chExt cx="4576405" cy="772904"/>
          </a:xfrm>
        </p:grpSpPr>
        <p:grpSp>
          <p:nvGrpSpPr>
            <p:cNvPr id="54" name="Group 53">
              <a:extLst>
                <a:ext uri="{FF2B5EF4-FFF2-40B4-BE49-F238E27FC236}">
                  <a16:creationId xmlns:a16="http://schemas.microsoft.com/office/drawing/2014/main" id="{43159D0A-FB03-0869-8515-492C0731BC8E}"/>
                </a:ext>
              </a:extLst>
            </p:cNvPr>
            <p:cNvGrpSpPr/>
            <p:nvPr/>
          </p:nvGrpSpPr>
          <p:grpSpPr>
            <a:xfrm>
              <a:off x="6856403" y="4795201"/>
              <a:ext cx="2108700" cy="772904"/>
              <a:chOff x="6856403" y="5015135"/>
              <a:chExt cx="2108700" cy="772904"/>
            </a:xfrm>
          </p:grpSpPr>
          <p:pic>
            <p:nvPicPr>
              <p:cNvPr id="62" name="Picture 61" descr="Excavation ">
                <a:extLst>
                  <a:ext uri="{FF2B5EF4-FFF2-40B4-BE49-F238E27FC236}">
                    <a16:creationId xmlns:a16="http://schemas.microsoft.com/office/drawing/2014/main" id="{09CFBCE4-C662-B21C-EB5D-FB55C6D6DD65}"/>
                  </a:ext>
                </a:extLst>
              </p:cNvPr>
              <p:cNvPicPr>
                <a:picLocks noChangeAspect="1"/>
              </p:cNvPicPr>
              <p:nvPr/>
            </p:nvPicPr>
            <p:blipFill>
              <a:blip r:embed="rId14"/>
              <a:stretch>
                <a:fillRect/>
              </a:stretch>
            </p:blipFill>
            <p:spPr>
              <a:xfrm>
                <a:off x="6856403" y="5230994"/>
                <a:ext cx="374400" cy="374400"/>
              </a:xfrm>
              <a:prstGeom prst="rect">
                <a:avLst/>
              </a:prstGeom>
            </p:spPr>
          </p:pic>
          <p:sp>
            <p:nvSpPr>
              <p:cNvPr id="11457" name="TextBox 11456">
                <a:extLst>
                  <a:ext uri="{FF2B5EF4-FFF2-40B4-BE49-F238E27FC236}">
                    <a16:creationId xmlns:a16="http://schemas.microsoft.com/office/drawing/2014/main" id="{6AC66A4F-D73A-F180-E587-837C57D59051}"/>
                  </a:ext>
                </a:extLst>
              </p:cNvPr>
              <p:cNvSpPr txBox="1"/>
              <p:nvPr/>
            </p:nvSpPr>
            <p:spPr>
              <a:xfrm>
                <a:off x="7345103" y="5015135"/>
                <a:ext cx="1620000" cy="772904"/>
              </a:xfrm>
              <a:prstGeom prst="rect">
                <a:avLst/>
              </a:prstGeom>
              <a:noFill/>
            </p:spPr>
            <p:txBody>
              <a:bodyPr wrap="square" lIns="0" tIns="0" rIns="0" bIns="0" rtlCol="0">
                <a:spAutoFit/>
              </a:bodyPr>
              <a:lstStyle/>
              <a:p>
                <a:pPr>
                  <a:lnSpc>
                    <a:spcPct val="110000"/>
                  </a:lnSpc>
                  <a:spcAft>
                    <a:spcPts val="800"/>
                  </a:spcAft>
                </a:pPr>
                <a:r>
                  <a:rPr lang="pt-BR" sz="2400" b="1" dirty="0">
                    <a:solidFill>
                      <a:schemeClr val="tx1">
                        <a:lumMod val="65000"/>
                        <a:lumOff val="35000"/>
                      </a:schemeClr>
                    </a:solidFill>
                    <a:latin typeface="Poppins" panose="00000500000000000000" pitchFamily="2" charset="0"/>
                    <a:ea typeface="Source Serif Pro" panose="02040603050405020204" pitchFamily="18" charset="0"/>
                    <a:cs typeface="Poppins" panose="00000500000000000000" pitchFamily="2" charset="0"/>
                  </a:rPr>
                  <a:t>[</a:t>
                </a:r>
                <a:r>
                  <a:rPr lang="pt-BR" sz="1000" b="1" dirty="0">
                    <a:solidFill>
                      <a:schemeClr val="tx1">
                        <a:lumMod val="65000"/>
                        <a:lumOff val="35000"/>
                      </a:schemeClr>
                    </a:solidFill>
                    <a:latin typeface="Poppins" panose="00000500000000000000" pitchFamily="2" charset="0"/>
                    <a:ea typeface="Source Serif Pro" panose="02040603050405020204" pitchFamily="18" charset="0"/>
                    <a:cs typeface="Poppins" panose="00000500000000000000" pitchFamily="2" charset="0"/>
                  </a:rPr>
                  <a:t>XXX</a:t>
                </a:r>
                <a:r>
                  <a:rPr lang="pt-BR" sz="2400" b="1" dirty="0">
                    <a:solidFill>
                      <a:schemeClr val="tx1">
                        <a:lumMod val="65000"/>
                        <a:lumOff val="35000"/>
                      </a:schemeClr>
                    </a:solidFill>
                    <a:latin typeface="Poppins" panose="00000500000000000000" pitchFamily="2" charset="0"/>
                    <a:ea typeface="Source Serif Pro" panose="02040603050405020204" pitchFamily="18" charset="0"/>
                    <a:cs typeface="Poppins" panose="00000500000000000000" pitchFamily="2" charset="0"/>
                  </a:rPr>
                  <a:t>%</a:t>
                </a:r>
                <a:br>
                  <a:rPr lang="pt-BR" sz="2400" b="1" dirty="0">
                    <a:latin typeface="Poppins" panose="00000500000000000000" pitchFamily="2" charset="0"/>
                    <a:ea typeface="Source Serif Pro" panose="02040603050405020204" pitchFamily="18" charset="0"/>
                    <a:cs typeface="Poppins" panose="00000500000000000000" pitchFamily="2" charset="0"/>
                  </a:rPr>
                </a:br>
                <a:r>
                  <a:rPr lang="pt-BR" sz="900" dirty="0" err="1">
                    <a:latin typeface="Poppins" panose="00000500000000000000" pitchFamily="2" charset="0"/>
                    <a:ea typeface="Source Serif Pro" panose="02040603050405020204" pitchFamily="18" charset="0"/>
                    <a:cs typeface="Poppins" panose="00000500000000000000" pitchFamily="2" charset="0"/>
                  </a:rPr>
                  <a:t>annual</a:t>
                </a:r>
                <a:r>
                  <a:rPr lang="pt-BR" sz="900" dirty="0">
                    <a:latin typeface="Poppins" panose="00000500000000000000" pitchFamily="2" charset="0"/>
                    <a:ea typeface="Source Serif Pro" panose="02040603050405020204" pitchFamily="18" charset="0"/>
                    <a:cs typeface="Poppins" panose="00000500000000000000" pitchFamily="2" charset="0"/>
                  </a:rPr>
                  <a:t> </a:t>
                </a:r>
                <a:r>
                  <a:rPr lang="pt-BR" sz="900" dirty="0" err="1">
                    <a:latin typeface="Poppins" panose="00000500000000000000" pitchFamily="2" charset="0"/>
                    <a:ea typeface="Source Serif Pro" panose="02040603050405020204" pitchFamily="18" charset="0"/>
                    <a:cs typeface="Poppins" panose="00000500000000000000" pitchFamily="2" charset="0"/>
                  </a:rPr>
                  <a:t>fleet</a:t>
                </a:r>
                <a:r>
                  <a:rPr lang="pt-BR" sz="900" dirty="0">
                    <a:latin typeface="Poppins" panose="00000500000000000000" pitchFamily="2" charset="0"/>
                    <a:ea typeface="Source Serif Pro" panose="02040603050405020204" pitchFamily="18" charset="0"/>
                    <a:cs typeface="Poppins" panose="00000500000000000000" pitchFamily="2" charset="0"/>
                  </a:rPr>
                  <a:t> </a:t>
                </a:r>
                <a:br>
                  <a:rPr lang="pt-BR" sz="900" dirty="0">
                    <a:latin typeface="Poppins" panose="00000500000000000000" pitchFamily="2" charset="0"/>
                    <a:ea typeface="Source Serif Pro" panose="02040603050405020204" pitchFamily="18" charset="0"/>
                    <a:cs typeface="Poppins" panose="00000500000000000000" pitchFamily="2" charset="0"/>
                  </a:rPr>
                </a:br>
                <a:r>
                  <a:rPr lang="pt-BR" sz="900" dirty="0" err="1">
                    <a:latin typeface="Poppins" panose="00000500000000000000" pitchFamily="2" charset="0"/>
                    <a:ea typeface="Source Serif Pro" panose="02040603050405020204" pitchFamily="18" charset="0"/>
                    <a:cs typeface="Poppins" panose="00000500000000000000" pitchFamily="2" charset="0"/>
                  </a:rPr>
                  <a:t>availability]</a:t>
                </a:r>
                <a:endParaRPr lang="pt-BR" sz="900" dirty="0">
                  <a:latin typeface="Poppins" panose="00000500000000000000" pitchFamily="2" charset="0"/>
                  <a:ea typeface="Source Serif Pro" panose="02040603050405020204" pitchFamily="18" charset="0"/>
                  <a:cs typeface="Poppins" panose="00000500000000000000" pitchFamily="2" charset="0"/>
                </a:endParaRPr>
              </a:p>
            </p:txBody>
          </p:sp>
        </p:grpSp>
        <p:grpSp>
          <p:nvGrpSpPr>
            <p:cNvPr id="56" name="Group 55">
              <a:extLst>
                <a:ext uri="{FF2B5EF4-FFF2-40B4-BE49-F238E27FC236}">
                  <a16:creationId xmlns:a16="http://schemas.microsoft.com/office/drawing/2014/main" id="{A52E67B9-76D1-1738-6670-20A8A92689CF}"/>
                </a:ext>
              </a:extLst>
            </p:cNvPr>
            <p:cNvGrpSpPr/>
            <p:nvPr/>
          </p:nvGrpSpPr>
          <p:grpSpPr>
            <a:xfrm>
              <a:off x="9341442" y="4795201"/>
              <a:ext cx="2091366" cy="772904"/>
              <a:chOff x="9341442" y="5015135"/>
              <a:chExt cx="2091366" cy="772904"/>
            </a:xfrm>
          </p:grpSpPr>
          <p:sp>
            <p:nvSpPr>
              <p:cNvPr id="58" name="TextBox 57">
                <a:extLst>
                  <a:ext uri="{FF2B5EF4-FFF2-40B4-BE49-F238E27FC236}">
                    <a16:creationId xmlns:a16="http://schemas.microsoft.com/office/drawing/2014/main" id="{27164F46-88C1-4A17-EFEB-10DB8A5DB57D}"/>
                  </a:ext>
                </a:extLst>
              </p:cNvPr>
              <p:cNvSpPr txBox="1"/>
              <p:nvPr/>
            </p:nvSpPr>
            <p:spPr>
              <a:xfrm>
                <a:off x="9812808" y="5015135"/>
                <a:ext cx="1620000" cy="772904"/>
              </a:xfrm>
              <a:prstGeom prst="rect">
                <a:avLst/>
              </a:prstGeom>
              <a:noFill/>
            </p:spPr>
            <p:txBody>
              <a:bodyPr wrap="square" lIns="0" tIns="0" rIns="0" bIns="0" rtlCol="0">
                <a:spAutoFit/>
              </a:bodyPr>
              <a:lstStyle/>
              <a:p>
                <a:pPr>
                  <a:lnSpc>
                    <a:spcPct val="110000"/>
                  </a:lnSpc>
                  <a:spcAft>
                    <a:spcPts val="800"/>
                  </a:spcAft>
                </a:pPr>
                <a:r>
                  <a:rPr lang="pt-BR" sz="2400" b="1" dirty="0">
                    <a:solidFill>
                      <a:schemeClr val="tx1">
                        <a:lumMod val="65000"/>
                        <a:lumOff val="35000"/>
                      </a:schemeClr>
                    </a:solidFill>
                    <a:latin typeface="Poppins" panose="00000500000000000000" pitchFamily="2" charset="0"/>
                    <a:ea typeface="Source Serif Pro" panose="02040603050405020204" pitchFamily="18" charset="0"/>
                    <a:cs typeface="Poppins" panose="00000500000000000000" pitchFamily="2" charset="0"/>
                  </a:rPr>
                  <a:t>[</a:t>
                </a:r>
                <a:r>
                  <a:rPr lang="pt-BR" sz="1000" b="1" dirty="0">
                    <a:solidFill>
                      <a:schemeClr val="tx1">
                        <a:lumMod val="65000"/>
                        <a:lumOff val="35000"/>
                      </a:schemeClr>
                    </a:solidFill>
                    <a:latin typeface="Poppins" panose="00000500000000000000" pitchFamily="2" charset="0"/>
                    <a:ea typeface="Source Serif Pro" panose="02040603050405020204" pitchFamily="18" charset="0"/>
                    <a:cs typeface="Poppins" panose="00000500000000000000" pitchFamily="2" charset="0"/>
                  </a:rPr>
                  <a:t>XXX</a:t>
                </a:r>
                <a:r>
                  <a:rPr lang="pt-BR" sz="2400" b="1" dirty="0">
                    <a:latin typeface="Poppins" panose="00000500000000000000" pitchFamily="2" charset="0"/>
                    <a:ea typeface="Source Serif Pro" panose="02040603050405020204" pitchFamily="18" charset="0"/>
                    <a:cs typeface="Poppins" panose="00000500000000000000" pitchFamily="2" charset="0"/>
                  </a:rPr>
                  <a:t> </a:t>
                </a:r>
                <a:br>
                  <a:rPr lang="pt-BR" sz="2400" b="1" dirty="0">
                    <a:latin typeface="Poppins" panose="00000500000000000000" pitchFamily="2" charset="0"/>
                    <a:ea typeface="Source Serif Pro" panose="02040603050405020204" pitchFamily="18" charset="0"/>
                    <a:cs typeface="Poppins" panose="00000500000000000000" pitchFamily="2" charset="0"/>
                  </a:rPr>
                </a:br>
                <a:r>
                  <a:rPr lang="pt-BR" sz="900" dirty="0">
                    <a:latin typeface="Poppins" panose="00000500000000000000" pitchFamily="2" charset="0"/>
                    <a:ea typeface="Source Serif Pro" panose="02040603050405020204" pitchFamily="18" charset="0"/>
                    <a:cs typeface="Poppins" panose="00000500000000000000" pitchFamily="2" charset="0"/>
                  </a:rPr>
                  <a:t>preventive maintenance services per year]</a:t>
                </a:r>
              </a:p>
            </p:txBody>
          </p:sp>
          <p:pic>
            <p:nvPicPr>
              <p:cNvPr id="60" name="Picture 59" descr="Tools ">
                <a:extLst>
                  <a:ext uri="{FF2B5EF4-FFF2-40B4-BE49-F238E27FC236}">
                    <a16:creationId xmlns:a16="http://schemas.microsoft.com/office/drawing/2014/main" id="{D293C9A1-C57B-CB55-39BF-9D92F062C4D8}"/>
                  </a:ext>
                </a:extLst>
              </p:cNvPr>
              <p:cNvPicPr>
                <a:picLocks noChangeAspect="1"/>
              </p:cNvPicPr>
              <p:nvPr/>
            </p:nvPicPr>
            <p:blipFill>
              <a:blip r:embed="rId15"/>
              <a:stretch>
                <a:fillRect/>
              </a:stretch>
            </p:blipFill>
            <p:spPr>
              <a:xfrm>
                <a:off x="9341442" y="5264146"/>
                <a:ext cx="308097" cy="308097"/>
              </a:xfrm>
              <a:prstGeom prst="rect">
                <a:avLst/>
              </a:prstGeom>
            </p:spPr>
          </p:pic>
        </p:grpSp>
      </p:grpSp>
    </p:spTree>
    <p:extLst>
      <p:ext uri="{BB962C8B-B14F-4D97-AF65-F5344CB8AC3E}">
        <p14:creationId xmlns:p14="http://schemas.microsoft.com/office/powerpoint/2010/main" val="2560194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D36F9B-A21B-9D94-EDA5-F744471712E1}"/>
            </a:ext>
          </a:extLst>
        </p:cNvPr>
        <p:cNvGrpSpPr/>
        <p:nvPr/>
      </p:nvGrpSpPr>
      <p:grpSpPr>
        <a:xfrm>
          <a:off x="0" y="0"/>
          <a:ext cx="0" cy="0"/>
          <a:chOff x="0" y="0"/>
          <a:chExt cx="0" cy="0"/>
        </a:xfrm>
      </p:grpSpPr>
      <p:pic>
        <p:nvPicPr>
          <p:cNvPr id="87" name="Imagem 86">
            <a:extLst>
              <a:ext uri="{FF2B5EF4-FFF2-40B4-BE49-F238E27FC236}">
                <a16:creationId xmlns:a16="http://schemas.microsoft.com/office/drawing/2014/main" id="{8484442A-3341-B80B-19D8-E21B15603214}"/>
              </a:ext>
            </a:extLst>
          </p:cNvPr>
          <p:cNvPicPr>
            <a:picLocks noGrp="1" noRot="1" noMove="1" noResize="1" noEditPoints="1" noAdjustHandles="1" noChangeArrowheads="1" noChangeShapeType="1" noCrop="1"/>
          </p:cNvPicPr>
          <p:nvPr/>
        </p:nvPicPr>
        <p:blipFill>
          <a:blip r:embed="rId3">
            <a:alphaModFix amt="35000"/>
            <a:extLst>
              <a:ext uri="{28A0092B-C50C-407E-A947-70E740481C1C}">
                <a14:useLocalDpi xmlns:a14="http://schemas.microsoft.com/office/drawing/2010/main" val="0"/>
              </a:ext>
            </a:extLst>
          </a:blip>
          <a:srcRect l="801" t="8382" r="2160" b="9741"/>
          <a:stretch>
            <a:fillRect/>
          </a:stretch>
        </p:blipFill>
        <p:spPr>
          <a:xfrm flipH="1">
            <a:off x="0" y="0"/>
            <a:ext cx="12192000" cy="6858000"/>
          </a:xfrm>
          <a:prstGeom prst="rect">
            <a:avLst/>
          </a:prstGeom>
        </p:spPr>
      </p:pic>
      <p:sp>
        <p:nvSpPr>
          <p:cNvPr id="89" name="Retângulo 88">
            <a:extLst>
              <a:ext uri="{FF2B5EF4-FFF2-40B4-BE49-F238E27FC236}">
                <a16:creationId xmlns:a16="http://schemas.microsoft.com/office/drawing/2014/main" id="{0BCB79B0-A88D-D30A-F5F9-5AD42E095EF9}"/>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rgbClr val="F35B1A">
                  <a:alpha val="35000"/>
                </a:srgbClr>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400" dirty="0">
              <a:solidFill>
                <a:schemeClr val="tx1"/>
              </a:solidFill>
              <a:latin typeface="Source Serif Pro" panose="02040603050405020204" pitchFamily="18" charset="0"/>
              <a:ea typeface="Source Serif Pro" panose="02040603050405020204" pitchFamily="18" charset="0"/>
            </a:endParaRPr>
          </a:p>
        </p:txBody>
      </p:sp>
      <p:sp>
        <p:nvSpPr>
          <p:cNvPr id="10" name="Espaço Reservado para Texto 9">
            <a:extLst>
              <a:ext uri="{FF2B5EF4-FFF2-40B4-BE49-F238E27FC236}">
                <a16:creationId xmlns:a16="http://schemas.microsoft.com/office/drawing/2014/main" id="{9F02C853-005A-6D7E-7351-9A6EE782A66B}"/>
              </a:ext>
            </a:extLst>
          </p:cNvPr>
          <p:cNvSpPr>
            <a:spLocks noGrp="1"/>
          </p:cNvSpPr>
          <p:nvPr>
            <p:ph type="body" sz="quarter" idx="36"/>
          </p:nvPr>
        </p:nvSpPr>
        <p:spPr/>
        <p:txBody>
          <a:bodyPr/>
          <a:lstStyle/>
          <a:p>
            <a:r>
              <a:rPr lang="en-US" dirty="0">
                <a:solidFill>
                  <a:schemeClr val="bg1"/>
                </a:solidFill>
              </a:rPr>
              <a:t>Source: Company; press research (see Pillar 1 sources)</a:t>
            </a:r>
          </a:p>
        </p:txBody>
      </p:sp>
      <p:sp>
        <p:nvSpPr>
          <p:cNvPr id="11" name="Slide Number Placeholder 5">
            <a:extLst>
              <a:ext uri="{FF2B5EF4-FFF2-40B4-BE49-F238E27FC236}">
                <a16:creationId xmlns:a16="http://schemas.microsoft.com/office/drawing/2014/main" id="{177A889A-BF8D-C20C-49CE-D36627CE9EEC}"/>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solidFill>
                  <a:schemeClr val="bg1"/>
                </a:solidFill>
              </a:rPr>
              <a:pPr algn="ctr"/>
              <a:t>12</a:t>
            </a:fld>
            <a:endParaRPr lang="en-US" dirty="0">
              <a:solidFill>
                <a:schemeClr val="bg1"/>
              </a:solidFill>
              <a:latin typeface="Poppins Light" panose="00000400000000000000" pitchFamily="2" charset="0"/>
              <a:cs typeface="Poppins Light" panose="00000400000000000000" pitchFamily="2" charset="0"/>
            </a:endParaRPr>
          </a:p>
        </p:txBody>
      </p:sp>
      <p:sp>
        <p:nvSpPr>
          <p:cNvPr id="114" name="CaixaDeTexto 3">
            <a:extLst>
              <a:ext uri="{FF2B5EF4-FFF2-40B4-BE49-F238E27FC236}">
                <a16:creationId xmlns:a16="http://schemas.microsoft.com/office/drawing/2014/main" id="{1F3EABCC-3C6A-7B5B-CC68-8EA70DDA2543}"/>
              </a:ext>
            </a:extLst>
          </p:cNvPr>
          <p:cNvSpPr txBox="1"/>
          <p:nvPr/>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solidFill>
                  <a:schemeClr val="bg1"/>
                </a:solidFill>
              </a:rPr>
              <a:t>Investment Thesis</a:t>
            </a:r>
          </a:p>
        </p:txBody>
      </p:sp>
      <p:sp>
        <p:nvSpPr>
          <p:cNvPr id="115" name="CaixaDeTexto 18">
            <a:extLst>
              <a:ext uri="{FF2B5EF4-FFF2-40B4-BE49-F238E27FC236}">
                <a16:creationId xmlns:a16="http://schemas.microsoft.com/office/drawing/2014/main" id="{F937F7DA-9CB3-8761-A7E7-DC2B97BE29F2}"/>
              </a:ext>
            </a:extLst>
          </p:cNvPr>
          <p:cNvSpPr txBox="1"/>
          <p:nvPr/>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pic>
        <p:nvPicPr>
          <p:cNvPr id="116" name="Imagem 115">
            <a:extLst>
              <a:ext uri="{FF2B5EF4-FFF2-40B4-BE49-F238E27FC236}">
                <a16:creationId xmlns:a16="http://schemas.microsoft.com/office/drawing/2014/main" id="{E4835E06-D9A2-3B3F-DD29-C01D547F233A}"/>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731837" y="1652353"/>
            <a:ext cx="2068373" cy="662527"/>
          </a:xfrm>
          <a:prstGeom prst="rect">
            <a:avLst/>
          </a:prstGeom>
        </p:spPr>
      </p:pic>
      <p:pic>
        <p:nvPicPr>
          <p:cNvPr id="117" name="Gráfico 14">
            <a:extLst>
              <a:ext uri="{FF2B5EF4-FFF2-40B4-BE49-F238E27FC236}">
                <a16:creationId xmlns:a16="http://schemas.microsoft.com/office/drawing/2014/main" id="{899EF827-3226-8BD7-C2E0-0F16D44415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81969" y="307275"/>
            <a:ext cx="354839" cy="303818"/>
          </a:xfrm>
          <a:prstGeom prst="rect">
            <a:avLst/>
          </a:prstGeom>
        </p:spPr>
      </p:pic>
      <p:sp>
        <p:nvSpPr>
          <p:cNvPr id="4" name="Espaço Reservado para Conteúdo 4">
            <a:extLst>
              <a:ext uri="{FF2B5EF4-FFF2-40B4-BE49-F238E27FC236}">
                <a16:creationId xmlns:a16="http://schemas.microsoft.com/office/drawing/2014/main" id="{56317004-7614-4C0E-93B2-7E6676CDF268}"/>
              </a:ext>
            </a:extLst>
          </p:cNvPr>
          <p:cNvSpPr txBox="1">
            <a:spLocks/>
          </p:cNvSpPr>
          <p:nvPr/>
        </p:nvSpPr>
        <p:spPr>
          <a:xfrm>
            <a:off x="731838" y="1052961"/>
            <a:ext cx="11102975" cy="215503"/>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Geographic expansion, consolidation opportunities, and fleet electrification position Mobi for a continued value creation trajectory</a:t>
            </a:r>
          </a:p>
        </p:txBody>
      </p:sp>
      <p:sp>
        <p:nvSpPr>
          <p:cNvPr id="5" name="Título 3">
            <a:extLst>
              <a:ext uri="{FF2B5EF4-FFF2-40B4-BE49-F238E27FC236}">
                <a16:creationId xmlns:a16="http://schemas.microsoft.com/office/drawing/2014/main" id="{E06E01C1-FAD8-ADE6-9336-AB48CFA3F4E2}"/>
              </a:ext>
            </a:extLst>
          </p:cNvPr>
          <p:cNvSpPr>
            <a:spLocks noGrp="1"/>
          </p:cNvSpPr>
          <p:nvPr>
            <p:ph type="title"/>
          </p:nvPr>
        </p:nvSpPr>
        <p:spPr>
          <a:xfrm>
            <a:off x="846137" y="735734"/>
            <a:ext cx="11102975" cy="284693"/>
          </a:xfrm>
          <a:noFill/>
          <a:ln>
            <a:noFill/>
          </a:ln>
        </p:spPr>
        <p:style>
          <a:lnRef idx="2">
            <a:schemeClr val="accent1"/>
          </a:lnRef>
          <a:fillRef idx="1">
            <a:schemeClr val="lt1"/>
          </a:fillRef>
          <a:effectRef idx="0">
            <a:schemeClr val="accent1"/>
          </a:effectRef>
          <a:fontRef idx="minor">
            <a:schemeClr val="dk1"/>
          </a:fontRef>
        </p:style>
        <p:txBody>
          <a:bodyPr vert="horz" lIns="360000" tIns="0" rIns="0" bIns="0" rtlCol="0" anchor="t" anchorCtr="0">
            <a:noAutofit/>
          </a:bodyPr>
          <a:lstStyle/>
          <a:p>
            <a:r>
              <a:rPr lang="en-US" dirty="0">
                <a:solidFill>
                  <a:schemeClr val="bg1"/>
                </a:solidFill>
                <a:latin typeface="Poppins" panose="00000500000000000000" pitchFamily="2" charset="0"/>
                <a:ea typeface="Source Serif Pro" panose="02040603050405020204" pitchFamily="18" charset="0"/>
                <a:cs typeface="Poppins" panose="00000500000000000000" pitchFamily="2" charset="0"/>
              </a:rPr>
              <a:t>Growth avenues</a:t>
            </a:r>
            <a:endParaRPr lang="pt-BR" sz="180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6" name="Rectangle: Rounded Corners 27">
            <a:extLst>
              <a:ext uri="{FF2B5EF4-FFF2-40B4-BE49-F238E27FC236}">
                <a16:creationId xmlns:a16="http://schemas.microsoft.com/office/drawing/2014/main" id="{02EC5B1B-CFF8-9A73-6408-63935CC6BBD1}"/>
              </a:ext>
            </a:extLst>
          </p:cNvPr>
          <p:cNvSpPr/>
          <p:nvPr/>
        </p:nvSpPr>
        <p:spPr>
          <a:xfrm>
            <a:off x="731837" y="722250"/>
            <a:ext cx="324000" cy="24740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5</a:t>
            </a:r>
          </a:p>
        </p:txBody>
      </p:sp>
      <p:cxnSp>
        <p:nvCxnSpPr>
          <p:cNvPr id="8" name="Conector reto 7">
            <a:extLst>
              <a:ext uri="{FF2B5EF4-FFF2-40B4-BE49-F238E27FC236}">
                <a16:creationId xmlns:a16="http://schemas.microsoft.com/office/drawing/2014/main" id="{BA30A4D9-8F47-B176-793A-D336989F1A47}"/>
              </a:ext>
            </a:extLst>
          </p:cNvPr>
          <p:cNvCxnSpPr/>
          <p:nvPr/>
        </p:nvCxnSpPr>
        <p:spPr>
          <a:xfrm>
            <a:off x="0" y="572426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tângulo: Cantos Arredondados 14">
            <a:extLst>
              <a:ext uri="{FF2B5EF4-FFF2-40B4-BE49-F238E27FC236}">
                <a16:creationId xmlns:a16="http://schemas.microsoft.com/office/drawing/2014/main" id="{C03DD681-2A3D-C55A-A4DE-57B2AAB4CB6D}"/>
              </a:ext>
            </a:extLst>
          </p:cNvPr>
          <p:cNvSpPr/>
          <p:nvPr/>
        </p:nvSpPr>
        <p:spPr>
          <a:xfrm>
            <a:off x="3259666" y="1678465"/>
            <a:ext cx="8378977" cy="493873"/>
          </a:xfrm>
          <a:prstGeom prst="roundRect">
            <a:avLst>
              <a:gd name="adj" fmla="val 50000"/>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6" name="Título 1">
            <a:extLst>
              <a:ext uri="{FF2B5EF4-FFF2-40B4-BE49-F238E27FC236}">
                <a16:creationId xmlns:a16="http://schemas.microsoft.com/office/drawing/2014/main" id="{A90C189D-C496-2D56-E651-829816D855F1}"/>
              </a:ext>
            </a:extLst>
          </p:cNvPr>
          <p:cNvSpPr txBox="1">
            <a:spLocks/>
          </p:cNvSpPr>
          <p:nvPr/>
        </p:nvSpPr>
        <p:spPr>
          <a:xfrm>
            <a:off x="4245579" y="1821813"/>
            <a:ext cx="6407150" cy="18260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400" dirty="0">
                <a:solidFill>
                  <a:schemeClr val="bg1"/>
                </a:solidFill>
                <a:latin typeface="Poppins SemiBold" panose="00000700000000000000" pitchFamily="2" charset="0"/>
                <a:cs typeface="Poppins SemiBold" panose="00000700000000000000" pitchFamily="2" charset="0"/>
              </a:rPr>
              <a:t>Mobi’s growth is expected to be driven by 3 main avenues, to be validated with management</a:t>
            </a:r>
          </a:p>
        </p:txBody>
      </p:sp>
      <p:sp>
        <p:nvSpPr>
          <p:cNvPr id="9" name="Retângulo: Cantos Superiores Arredondados 8">
            <a:extLst>
              <a:ext uri="{FF2B5EF4-FFF2-40B4-BE49-F238E27FC236}">
                <a16:creationId xmlns:a16="http://schemas.microsoft.com/office/drawing/2014/main" id="{511AB43F-D79B-2914-A862-1C3D3DF948E2}"/>
              </a:ext>
            </a:extLst>
          </p:cNvPr>
          <p:cNvSpPr/>
          <p:nvPr/>
        </p:nvSpPr>
        <p:spPr>
          <a:xfrm>
            <a:off x="731838" y="2582339"/>
            <a:ext cx="3435016" cy="3141930"/>
          </a:xfrm>
          <a:prstGeom prst="round2SameRect">
            <a:avLst>
              <a:gd name="adj1" fmla="val 5225"/>
              <a:gd name="adj2" fmla="val 0"/>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7" name="Título 1">
            <a:extLst>
              <a:ext uri="{FF2B5EF4-FFF2-40B4-BE49-F238E27FC236}">
                <a16:creationId xmlns:a16="http://schemas.microsoft.com/office/drawing/2014/main" id="{8ED46840-A121-9747-04B3-70368DFBC5F8}"/>
              </a:ext>
            </a:extLst>
          </p:cNvPr>
          <p:cNvSpPr txBox="1">
            <a:spLocks/>
          </p:cNvSpPr>
          <p:nvPr/>
        </p:nvSpPr>
        <p:spPr>
          <a:xfrm>
            <a:off x="1722022" y="2875920"/>
            <a:ext cx="2026193" cy="30525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solidFill>
                  <a:schemeClr val="bg1"/>
                </a:solidFill>
                <a:latin typeface="Poppins SemiBold" panose="00000700000000000000" pitchFamily="2" charset="0"/>
                <a:cs typeface="Poppins SemiBold" panose="00000700000000000000" pitchFamily="2" charset="0"/>
              </a:rPr>
              <a:t>Deepening client wallet share and geographic expansion</a:t>
            </a:r>
          </a:p>
        </p:txBody>
      </p:sp>
      <p:sp>
        <p:nvSpPr>
          <p:cNvPr id="18" name="Fluxograma: Conector 19">
            <a:extLst>
              <a:ext uri="{FF2B5EF4-FFF2-40B4-BE49-F238E27FC236}">
                <a16:creationId xmlns:a16="http://schemas.microsoft.com/office/drawing/2014/main" id="{ED4F477B-D26B-05AA-5C2C-EF2B1598115E}"/>
              </a:ext>
            </a:extLst>
          </p:cNvPr>
          <p:cNvSpPr/>
          <p:nvPr/>
        </p:nvSpPr>
        <p:spPr>
          <a:xfrm>
            <a:off x="1098759" y="2821248"/>
            <a:ext cx="414599" cy="414599"/>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b="1"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A</a:t>
            </a:r>
          </a:p>
        </p:txBody>
      </p:sp>
      <p:sp>
        <p:nvSpPr>
          <p:cNvPr id="19" name="TextBox 82">
            <a:extLst>
              <a:ext uri="{FF2B5EF4-FFF2-40B4-BE49-F238E27FC236}">
                <a16:creationId xmlns:a16="http://schemas.microsoft.com/office/drawing/2014/main" id="{BB7C462B-E288-B460-D5A5-0145DD12C01F}"/>
              </a:ext>
            </a:extLst>
          </p:cNvPr>
          <p:cNvSpPr txBox="1"/>
          <p:nvPr/>
        </p:nvSpPr>
        <p:spPr>
          <a:xfrm>
            <a:off x="1006613" y="3471147"/>
            <a:ext cx="2672751" cy="1323439"/>
          </a:xfrm>
          <a:prstGeom prst="rect">
            <a:avLst/>
          </a:prstGeom>
          <a:noFill/>
        </p:spPr>
        <p:txBody>
          <a:bodyPr wrap="square">
            <a:spAutoFit/>
          </a:bodyPr>
          <a:lstStyle/>
          <a:p>
            <a:pPr marL="171450" indent="-171450">
              <a:lnSpc>
                <a:spcPct val="100000"/>
              </a:lnSpc>
              <a:buFont typeface="Arial" panose="020B0604020202020204" pitchFamily="34" charset="0"/>
              <a:buChar char="•"/>
            </a:pPr>
            <a:r>
              <a:rPr lang="en-US" sz="1000" dirty="0">
                <a:solidFill>
                  <a:schemeClr val="bg1"/>
                </a:solidFill>
                <a:latin typeface="Poppins" panose="00000500000000000000" pitchFamily="2" charset="0"/>
                <a:cs typeface="Poppins" panose="00000500000000000000" pitchFamily="2" charset="0"/>
              </a:rPr>
              <a:t>Well-positioned to deepen wallet share with existing clients while capturing contracts with new clients</a:t>
            </a:r>
          </a:p>
          <a:p>
            <a:pPr marL="171450" indent="-171450">
              <a:lnSpc>
                <a:spcPct val="100000"/>
              </a:lnSpc>
              <a:buFont typeface="Arial" panose="020B0604020202020204" pitchFamily="34" charset="0"/>
              <a:buChar char="•"/>
            </a:pPr>
            <a:r>
              <a:rPr lang="en-US" sz="1000" dirty="0">
                <a:solidFill>
                  <a:schemeClr val="bg1"/>
                </a:solidFill>
                <a:latin typeface="Poppins" panose="00000500000000000000" pitchFamily="2" charset="0"/>
                <a:cs typeface="Poppins" panose="00000500000000000000" pitchFamily="2" charset="0"/>
              </a:rPr>
              <a:t>Expansion within the existing Goiás-DF-Minas Gerais corridor, and selectively into adjacent regions, leverages existing operational bases and client relationships</a:t>
            </a:r>
          </a:p>
        </p:txBody>
      </p:sp>
      <p:sp>
        <p:nvSpPr>
          <p:cNvPr id="37" name="Retângulo: Cantos Superiores Arredondados 36">
            <a:extLst>
              <a:ext uri="{FF2B5EF4-FFF2-40B4-BE49-F238E27FC236}">
                <a16:creationId xmlns:a16="http://schemas.microsoft.com/office/drawing/2014/main" id="{7B548047-9071-042B-74A8-C288E9510039}"/>
              </a:ext>
            </a:extLst>
          </p:cNvPr>
          <p:cNvSpPr/>
          <p:nvPr/>
        </p:nvSpPr>
        <p:spPr>
          <a:xfrm>
            <a:off x="4467733" y="2582339"/>
            <a:ext cx="3435016" cy="3141930"/>
          </a:xfrm>
          <a:prstGeom prst="round2SameRect">
            <a:avLst>
              <a:gd name="adj1" fmla="val 5225"/>
              <a:gd name="adj2" fmla="val 0"/>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38" name="Título 1">
            <a:extLst>
              <a:ext uri="{FF2B5EF4-FFF2-40B4-BE49-F238E27FC236}">
                <a16:creationId xmlns:a16="http://schemas.microsoft.com/office/drawing/2014/main" id="{8098A3FD-D1D2-8CC2-2843-AED669E81B8C}"/>
              </a:ext>
            </a:extLst>
          </p:cNvPr>
          <p:cNvSpPr txBox="1">
            <a:spLocks/>
          </p:cNvSpPr>
          <p:nvPr/>
        </p:nvSpPr>
        <p:spPr>
          <a:xfrm>
            <a:off x="5457918" y="2938274"/>
            <a:ext cx="2084882" cy="20783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solidFill>
                  <a:schemeClr val="bg1"/>
                </a:solidFill>
                <a:latin typeface="Poppins SemiBold" panose="00000700000000000000" pitchFamily="2" charset="0"/>
                <a:cs typeface="Poppins SemiBold" panose="00000700000000000000" pitchFamily="2" charset="0"/>
              </a:rPr>
              <a:t>Consolidation of a fragmented market</a:t>
            </a:r>
          </a:p>
        </p:txBody>
      </p:sp>
      <p:sp>
        <p:nvSpPr>
          <p:cNvPr id="39" name="Fluxograma: Conector 19">
            <a:extLst>
              <a:ext uri="{FF2B5EF4-FFF2-40B4-BE49-F238E27FC236}">
                <a16:creationId xmlns:a16="http://schemas.microsoft.com/office/drawing/2014/main" id="{0D1A2A1F-355B-F768-6824-B027D2E329D3}"/>
              </a:ext>
            </a:extLst>
          </p:cNvPr>
          <p:cNvSpPr/>
          <p:nvPr/>
        </p:nvSpPr>
        <p:spPr>
          <a:xfrm>
            <a:off x="4834654" y="2821248"/>
            <a:ext cx="414599" cy="414599"/>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b="1"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B</a:t>
            </a:r>
          </a:p>
        </p:txBody>
      </p:sp>
      <p:sp>
        <p:nvSpPr>
          <p:cNvPr id="40" name="TextBox 82">
            <a:extLst>
              <a:ext uri="{FF2B5EF4-FFF2-40B4-BE49-F238E27FC236}">
                <a16:creationId xmlns:a16="http://schemas.microsoft.com/office/drawing/2014/main" id="{47B2737E-06D2-C196-637F-8F3CD2459927}"/>
              </a:ext>
            </a:extLst>
          </p:cNvPr>
          <p:cNvSpPr txBox="1"/>
          <p:nvPr/>
        </p:nvSpPr>
        <p:spPr>
          <a:xfrm>
            <a:off x="4742508" y="3471147"/>
            <a:ext cx="2672751" cy="1477328"/>
          </a:xfrm>
          <a:prstGeom prst="rect">
            <a:avLst/>
          </a:prstGeom>
          <a:noFill/>
        </p:spPr>
        <p:txBody>
          <a:bodyPr wrap="square">
            <a:spAutoFit/>
          </a:bodyPr>
          <a:lstStyle/>
          <a:p>
            <a:pPr marL="171450" indent="-171450">
              <a:lnSpc>
                <a:spcPct val="100000"/>
              </a:lnSpc>
              <a:buFont typeface="Arial" panose="020B0604020202020204" pitchFamily="34" charset="0"/>
              <a:buChar char="•"/>
            </a:pPr>
            <a:r>
              <a:rPr lang="en-US" sz="1000" dirty="0">
                <a:solidFill>
                  <a:schemeClr val="bg1"/>
                </a:solidFill>
                <a:latin typeface="Poppins" panose="00000500000000000000" pitchFamily="2" charset="0"/>
                <a:cs typeface="Poppins" panose="00000500000000000000" pitchFamily="2" charset="0"/>
              </a:rPr>
              <a:t>The Brazilian corporate transportation market remains fragmented, with consolidation already underway among larger operators in adjacent segments</a:t>
            </a:r>
          </a:p>
          <a:p>
            <a:pPr marL="171450" indent="-171450">
              <a:lnSpc>
                <a:spcPct val="100000"/>
              </a:lnSpc>
              <a:buFont typeface="Arial" panose="020B0604020202020204" pitchFamily="34" charset="0"/>
              <a:buChar char="•"/>
            </a:pPr>
            <a:r>
              <a:rPr lang="en-US" sz="1000" dirty="0">
                <a:solidFill>
                  <a:schemeClr val="bg1"/>
                </a:solidFill>
                <a:latin typeface="Poppins" panose="00000500000000000000" pitchFamily="2" charset="0"/>
                <a:cs typeface="Poppins" panose="00000500000000000000" pitchFamily="2" charset="0"/>
              </a:rPr>
              <a:t>Mobi’s scale and operational track record position it as a natural consolidation platform for smaller regional fretamento operators</a:t>
            </a:r>
          </a:p>
        </p:txBody>
      </p:sp>
      <p:sp>
        <p:nvSpPr>
          <p:cNvPr id="54" name="Retângulo: Cantos Superiores Arredondados 53">
            <a:extLst>
              <a:ext uri="{FF2B5EF4-FFF2-40B4-BE49-F238E27FC236}">
                <a16:creationId xmlns:a16="http://schemas.microsoft.com/office/drawing/2014/main" id="{13051AF5-B6AF-4380-8861-B1EF802B11B8}"/>
              </a:ext>
            </a:extLst>
          </p:cNvPr>
          <p:cNvSpPr/>
          <p:nvPr/>
        </p:nvSpPr>
        <p:spPr>
          <a:xfrm>
            <a:off x="8203628" y="2582339"/>
            <a:ext cx="3435016" cy="3141930"/>
          </a:xfrm>
          <a:prstGeom prst="round2SameRect">
            <a:avLst>
              <a:gd name="adj1" fmla="val 5225"/>
              <a:gd name="adj2" fmla="val 0"/>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55" name="Título 1">
            <a:extLst>
              <a:ext uri="{FF2B5EF4-FFF2-40B4-BE49-F238E27FC236}">
                <a16:creationId xmlns:a16="http://schemas.microsoft.com/office/drawing/2014/main" id="{4E8EB5B8-2BF0-A0EE-88A1-33D03C5562F1}"/>
              </a:ext>
            </a:extLst>
          </p:cNvPr>
          <p:cNvSpPr txBox="1">
            <a:spLocks/>
          </p:cNvSpPr>
          <p:nvPr/>
        </p:nvSpPr>
        <p:spPr>
          <a:xfrm>
            <a:off x="9193812" y="2875920"/>
            <a:ext cx="2174403" cy="30525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solidFill>
                  <a:schemeClr val="bg1"/>
                </a:solidFill>
                <a:latin typeface="Poppins SemiBold" panose="00000700000000000000" pitchFamily="2" charset="0"/>
                <a:cs typeface="Poppins SemiBold" panose="00000700000000000000" pitchFamily="2" charset="0"/>
              </a:rPr>
              <a:t>Fleet electrification and technology-enabled services</a:t>
            </a:r>
          </a:p>
        </p:txBody>
      </p:sp>
      <p:sp>
        <p:nvSpPr>
          <p:cNvPr id="57" name="Fluxograma: Conector 19">
            <a:extLst>
              <a:ext uri="{FF2B5EF4-FFF2-40B4-BE49-F238E27FC236}">
                <a16:creationId xmlns:a16="http://schemas.microsoft.com/office/drawing/2014/main" id="{5380B6CB-11DB-85E8-C9A0-CB174AA7D120}"/>
              </a:ext>
            </a:extLst>
          </p:cNvPr>
          <p:cNvSpPr/>
          <p:nvPr/>
        </p:nvSpPr>
        <p:spPr>
          <a:xfrm>
            <a:off x="8570549" y="2821248"/>
            <a:ext cx="414599" cy="414599"/>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en-US" b="1"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C</a:t>
            </a:r>
          </a:p>
        </p:txBody>
      </p:sp>
      <p:sp>
        <p:nvSpPr>
          <p:cNvPr id="59" name="TextBox 82">
            <a:extLst>
              <a:ext uri="{FF2B5EF4-FFF2-40B4-BE49-F238E27FC236}">
                <a16:creationId xmlns:a16="http://schemas.microsoft.com/office/drawing/2014/main" id="{FB7F89E1-C450-1AAE-7D99-81FD8A5468B9}"/>
              </a:ext>
            </a:extLst>
          </p:cNvPr>
          <p:cNvSpPr txBox="1"/>
          <p:nvPr/>
        </p:nvSpPr>
        <p:spPr>
          <a:xfrm>
            <a:off x="8478403" y="3471147"/>
            <a:ext cx="2672751" cy="1785104"/>
          </a:xfrm>
          <a:prstGeom prst="rect">
            <a:avLst/>
          </a:prstGeom>
          <a:noFill/>
        </p:spPr>
        <p:txBody>
          <a:bodyPr wrap="square">
            <a:spAutoFit/>
          </a:bodyPr>
          <a:lstStyle/>
          <a:p>
            <a:pPr marL="171450" indent="-171450">
              <a:lnSpc>
                <a:spcPct val="100000"/>
              </a:lnSpc>
              <a:buFont typeface="Arial" panose="020B0604020202020204" pitchFamily="34" charset="0"/>
              <a:buChar char="•"/>
            </a:pPr>
            <a:r>
              <a:rPr lang="en-US" sz="1000" dirty="0">
                <a:solidFill>
                  <a:schemeClr val="bg1"/>
                </a:solidFill>
                <a:latin typeface="Poppins" panose="00000500000000000000" pitchFamily="2" charset="0"/>
                <a:cs typeface="Poppins" panose="00000500000000000000" pitchFamily="2" charset="0"/>
              </a:rPr>
              <a:t>Gradual fleet electrification responds to clients’ ESG and Scope-3 emission-reduction commitments, while a technology layer (route optimization, booking apps, carbon dashboards) can strengthen client stickiness</a:t>
            </a:r>
          </a:p>
          <a:p>
            <a:pPr marL="171450" indent="-171450">
              <a:lnSpc>
                <a:spcPct val="100000"/>
              </a:lnSpc>
              <a:buFont typeface="Arial" panose="020B0604020202020204" pitchFamily="34" charset="0"/>
              <a:buChar char="•"/>
            </a:pPr>
            <a:r>
              <a:rPr lang="en-US" sz="1000" dirty="0">
                <a:solidFill>
                  <a:schemeClr val="bg1"/>
                </a:solidFill>
                <a:latin typeface="Poppins" panose="00000500000000000000" pitchFamily="2" charset="0"/>
                <a:cs typeface="Poppins" panose="00000500000000000000" pitchFamily="2" charset="0"/>
              </a:rPr>
              <a:t>Formal driver capacitation and retention programs address the sector’s structural driver shortage, supporting fleet growth without a labor bottleneck</a:t>
            </a:r>
          </a:p>
        </p:txBody>
      </p:sp>
      <p:pic>
        <p:nvPicPr>
          <p:cNvPr id="86" name="Imagem 85">
            <a:extLst>
              <a:ext uri="{FF2B5EF4-FFF2-40B4-BE49-F238E27FC236}">
                <a16:creationId xmlns:a16="http://schemas.microsoft.com/office/drawing/2014/main" id="{7E80FC81-DFCC-411F-5374-22E43E03DC13}"/>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971801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35B1A"/>
            </a:gs>
            <a:gs pos="72000">
              <a:srgbClr val="000000"/>
            </a:gs>
          </a:gsLst>
          <a:lin ang="0" scaled="1"/>
        </a:gradFill>
        <a:effectLst/>
      </p:bgPr>
    </p:bg>
    <p:spTree>
      <p:nvGrpSpPr>
        <p:cNvPr id="1" name="">
          <a:extLst>
            <a:ext uri="{FF2B5EF4-FFF2-40B4-BE49-F238E27FC236}">
              <a16:creationId xmlns:a16="http://schemas.microsoft.com/office/drawing/2014/main" id="{4BF23651-4378-0F3D-705C-673287C274EC}"/>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B9EF6EEC-0BC6-880D-E6F5-193C5E827370}"/>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900" name="Retângulo: Cantos Arredondados 38">
            <a:extLst>
              <a:ext uri="{FF2B5EF4-FFF2-40B4-BE49-F238E27FC236}">
                <a16:creationId xmlns:a16="http://schemas.microsoft.com/office/drawing/2014/main" id="{C6C07B56-20A2-7B0C-637A-6E82DB7EE9B6}"/>
              </a:ext>
            </a:extLst>
          </p:cNvPr>
          <p:cNvSpPr/>
          <p:nvPr/>
        </p:nvSpPr>
        <p:spPr>
          <a:xfrm>
            <a:off x="1172922" y="2582830"/>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1" name="CaixaDeTexto 39">
            <a:extLst>
              <a:ext uri="{FF2B5EF4-FFF2-40B4-BE49-F238E27FC236}">
                <a16:creationId xmlns:a16="http://schemas.microsoft.com/office/drawing/2014/main" id="{8897FDF1-8AF3-603D-5C15-83FC17C1CCB8}"/>
              </a:ext>
            </a:extLst>
          </p:cNvPr>
          <p:cNvSpPr txBox="1"/>
          <p:nvPr/>
        </p:nvSpPr>
        <p:spPr>
          <a:xfrm>
            <a:off x="2139121" y="2711760"/>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Introduction</a:t>
            </a:r>
          </a:p>
        </p:txBody>
      </p:sp>
      <p:sp>
        <p:nvSpPr>
          <p:cNvPr id="902" name="CaixaDeTexto 40">
            <a:extLst>
              <a:ext uri="{FF2B5EF4-FFF2-40B4-BE49-F238E27FC236}">
                <a16:creationId xmlns:a16="http://schemas.microsoft.com/office/drawing/2014/main" id="{E733CCCD-386A-018A-FA97-3D4D45490E51}"/>
              </a:ext>
            </a:extLst>
          </p:cNvPr>
          <p:cNvSpPr txBox="1"/>
          <p:nvPr/>
        </p:nvSpPr>
        <p:spPr>
          <a:xfrm>
            <a:off x="1564869" y="2711760"/>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01</a:t>
            </a:r>
          </a:p>
        </p:txBody>
      </p:sp>
      <p:sp>
        <p:nvSpPr>
          <p:cNvPr id="903" name="Retângulo: Cantos Arredondados 38">
            <a:extLst>
              <a:ext uri="{FF2B5EF4-FFF2-40B4-BE49-F238E27FC236}">
                <a16:creationId xmlns:a16="http://schemas.microsoft.com/office/drawing/2014/main" id="{C6C07B56-20A2-7B0C-637A-6E82DB7EE9B6}"/>
              </a:ext>
            </a:extLst>
          </p:cNvPr>
          <p:cNvSpPr/>
          <p:nvPr/>
        </p:nvSpPr>
        <p:spPr>
          <a:xfrm>
            <a:off x="1172922" y="3214518"/>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4" name="CaixaDeTexto 39">
            <a:extLst>
              <a:ext uri="{FF2B5EF4-FFF2-40B4-BE49-F238E27FC236}">
                <a16:creationId xmlns:a16="http://schemas.microsoft.com/office/drawing/2014/main" id="{8897FDF1-8AF3-603D-5C15-83FC17C1CCB8}"/>
              </a:ext>
            </a:extLst>
          </p:cNvPr>
          <p:cNvSpPr txBox="1"/>
          <p:nvPr/>
        </p:nvSpPr>
        <p:spPr>
          <a:xfrm>
            <a:off x="2139121" y="3343448"/>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905" name="CaixaDeTexto 40">
            <a:extLst>
              <a:ext uri="{FF2B5EF4-FFF2-40B4-BE49-F238E27FC236}">
                <a16:creationId xmlns:a16="http://schemas.microsoft.com/office/drawing/2014/main" id="{E733CCCD-386A-018A-FA97-3D4D45490E51}"/>
              </a:ext>
            </a:extLst>
          </p:cNvPr>
          <p:cNvSpPr txBox="1"/>
          <p:nvPr/>
        </p:nvSpPr>
        <p:spPr>
          <a:xfrm>
            <a:off x="1564869" y="3343448"/>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02</a:t>
            </a:r>
          </a:p>
        </p:txBody>
      </p:sp>
      <p:sp>
        <p:nvSpPr>
          <p:cNvPr id="906" name="Retângulo: Cantos Arredondados 1">
            <a:extLst>
              <a:ext uri="{FF2B5EF4-FFF2-40B4-BE49-F238E27FC236}">
                <a16:creationId xmlns:a16="http://schemas.microsoft.com/office/drawing/2014/main" id="{72FC2ABE-4E21-AB44-954E-D597F8016B1C}"/>
              </a:ext>
            </a:extLst>
          </p:cNvPr>
          <p:cNvSpPr/>
          <p:nvPr/>
        </p:nvSpPr>
        <p:spPr>
          <a:xfrm>
            <a:off x="1172922" y="3846206"/>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a:solidFill>
                <a:schemeClr val="tx1"/>
              </a:solidFill>
              <a:latin typeface="Source Serif Pro" panose="02040603050405020204" pitchFamily="18" charset="0"/>
              <a:ea typeface="Source Serif Pro" panose="02040603050405020204" pitchFamily="18" charset="0"/>
            </a:endParaRPr>
          </a:p>
        </p:txBody>
      </p:sp>
      <p:sp>
        <p:nvSpPr>
          <p:cNvPr id="907" name="CaixaDeTexto 25">
            <a:extLst>
              <a:ext uri="{FF2B5EF4-FFF2-40B4-BE49-F238E27FC236}">
                <a16:creationId xmlns:a16="http://schemas.microsoft.com/office/drawing/2014/main" id="{BC3552FB-F24F-9979-6760-4E7417A8FCDF}"/>
              </a:ext>
            </a:extLst>
          </p:cNvPr>
          <p:cNvSpPr txBox="1"/>
          <p:nvPr/>
        </p:nvSpPr>
        <p:spPr>
          <a:xfrm>
            <a:off x="2139121" y="3975136"/>
            <a:ext cx="1397757"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908" name="CaixaDeTexto 27">
            <a:extLst>
              <a:ext uri="{FF2B5EF4-FFF2-40B4-BE49-F238E27FC236}">
                <a16:creationId xmlns:a16="http://schemas.microsoft.com/office/drawing/2014/main" id="{7FCACCD0-1070-893D-F907-3A2251B4E01A}"/>
              </a:ext>
            </a:extLst>
          </p:cNvPr>
          <p:cNvSpPr txBox="1"/>
          <p:nvPr/>
        </p:nvSpPr>
        <p:spPr>
          <a:xfrm>
            <a:off x="1564869" y="3975136"/>
            <a:ext cx="428448"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03</a:t>
            </a:r>
          </a:p>
        </p:txBody>
      </p:sp>
      <p:sp>
        <p:nvSpPr>
          <p:cNvPr id="909" name="Retângulo: Cantos Arredondados 38">
            <a:extLst>
              <a:ext uri="{FF2B5EF4-FFF2-40B4-BE49-F238E27FC236}">
                <a16:creationId xmlns:a16="http://schemas.microsoft.com/office/drawing/2014/main" id="{C6C07B56-20A2-7B0C-637A-6E82DB7EE9B6}"/>
              </a:ext>
            </a:extLst>
          </p:cNvPr>
          <p:cNvSpPr/>
          <p:nvPr/>
        </p:nvSpPr>
        <p:spPr>
          <a:xfrm>
            <a:off x="1172922" y="4477894"/>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10" name="CaixaDeTexto 39">
            <a:extLst>
              <a:ext uri="{FF2B5EF4-FFF2-40B4-BE49-F238E27FC236}">
                <a16:creationId xmlns:a16="http://schemas.microsoft.com/office/drawing/2014/main" id="{8897FDF1-8AF3-603D-5C15-83FC17C1CCB8}"/>
              </a:ext>
            </a:extLst>
          </p:cNvPr>
          <p:cNvSpPr txBox="1"/>
          <p:nvPr/>
        </p:nvSpPr>
        <p:spPr>
          <a:xfrm>
            <a:off x="2139121" y="4606824"/>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Financial Highlights</a:t>
            </a:r>
          </a:p>
        </p:txBody>
      </p:sp>
      <p:sp>
        <p:nvSpPr>
          <p:cNvPr id="911" name="CaixaDeTexto 40">
            <a:extLst>
              <a:ext uri="{FF2B5EF4-FFF2-40B4-BE49-F238E27FC236}">
                <a16:creationId xmlns:a16="http://schemas.microsoft.com/office/drawing/2014/main" id="{E733CCCD-386A-018A-FA97-3D4D45490E51}"/>
              </a:ext>
            </a:extLst>
          </p:cNvPr>
          <p:cNvSpPr txBox="1"/>
          <p:nvPr/>
        </p:nvSpPr>
        <p:spPr>
          <a:xfrm>
            <a:off x="1564869" y="4606824"/>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04</a:t>
            </a:r>
          </a:p>
        </p:txBody>
      </p:sp>
      <p:pic>
        <p:nvPicPr>
          <p:cNvPr id="4" name="Imagem 3">
            <a:extLst>
              <a:ext uri="{FF2B5EF4-FFF2-40B4-BE49-F238E27FC236}">
                <a16:creationId xmlns:a16="http://schemas.microsoft.com/office/drawing/2014/main" id="{3A753F93-41C1-A48D-2F31-83F7E2E08C50}"/>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3100939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F48A1-1DD3-2A4B-F000-ADE83729F480}"/>
            </a:ext>
          </a:extLst>
        </p:cNvPr>
        <p:cNvGrpSpPr/>
        <p:nvPr/>
      </p:nvGrpSpPr>
      <p:grpSpPr>
        <a:xfrm>
          <a:off x="0" y="0"/>
          <a:ext cx="0" cy="0"/>
          <a:chOff x="0" y="0"/>
          <a:chExt cx="0" cy="0"/>
        </a:xfrm>
      </p:grpSpPr>
      <p:sp>
        <p:nvSpPr>
          <p:cNvPr id="223" name="Retângulo 222">
            <a:extLst>
              <a:ext uri="{FF2B5EF4-FFF2-40B4-BE49-F238E27FC236}">
                <a16:creationId xmlns:a16="http://schemas.microsoft.com/office/drawing/2014/main" id="{6276582D-9ADF-5821-37E6-1BA2FFAD32F8}"/>
              </a:ext>
            </a:extLst>
          </p:cNvPr>
          <p:cNvSpPr>
            <a:spLocks noGrp="1" noRot="1" noMove="1" noResize="1" noEditPoints="1" noAdjustHandles="1" noChangeArrowheads="1" noChangeShapeType="1"/>
          </p:cNvSpPr>
          <p:nvPr/>
        </p:nvSpPr>
        <p:spPr>
          <a:xfrm>
            <a:off x="1" y="4057272"/>
            <a:ext cx="12192000" cy="28007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cxnSp>
        <p:nvCxnSpPr>
          <p:cNvPr id="46" name="Conector reto 45">
            <a:extLst>
              <a:ext uri="{FF2B5EF4-FFF2-40B4-BE49-F238E27FC236}">
                <a16:creationId xmlns:a16="http://schemas.microsoft.com/office/drawing/2014/main" id="{F614221F-A70F-C008-EBE4-AE6C6B9FAA41}"/>
              </a:ext>
            </a:extLst>
          </p:cNvPr>
          <p:cNvCxnSpPr>
            <a:cxnSpLocks/>
          </p:cNvCxnSpPr>
          <p:nvPr/>
        </p:nvCxnSpPr>
        <p:spPr>
          <a:xfrm>
            <a:off x="0" y="2639174"/>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ítulo 3">
            <a:extLst>
              <a:ext uri="{FF2B5EF4-FFF2-40B4-BE49-F238E27FC236}">
                <a16:creationId xmlns:a16="http://schemas.microsoft.com/office/drawing/2014/main" id="{F8F2D215-69E4-4754-DCA8-3ADEC36F8CA5}"/>
              </a:ext>
            </a:extLst>
          </p:cNvPr>
          <p:cNvSpPr>
            <a:spLocks noGrp="1"/>
          </p:cNvSpPr>
          <p:nvPr>
            <p:ph type="title"/>
          </p:nvPr>
        </p:nvSpPr>
        <p:spPr>
          <a:noFill/>
          <a:ln>
            <a:noFill/>
          </a:ln>
        </p:spPr>
        <p:style>
          <a:lnRef idx="2">
            <a:schemeClr val="accent1"/>
          </a:lnRef>
          <a:fillRef idx="1">
            <a:schemeClr val="lt1"/>
          </a:fillRef>
          <a:effectRef idx="0">
            <a:schemeClr val="accent1"/>
          </a:effectRef>
          <a:fontRef idx="minor">
            <a:schemeClr val="dk1"/>
          </a:fontRef>
        </p:style>
        <p:txBody>
          <a:bodyPr vert="horz" lIns="0" tIns="0" rIns="0" bIns="0" rtlCol="0" anchor="t" anchorCtr="0">
            <a:noAutofit/>
          </a:bodyPr>
          <a:lstStyle/>
          <a:p>
            <a:r>
              <a:rPr lang="pt-BR" dirty="0">
                <a:solidFill>
                  <a:schemeClr val="accent1"/>
                </a:solidFill>
                <a:latin typeface="Poppins" panose="00000500000000000000" pitchFamily="2" charset="0"/>
                <a:ea typeface="Source Serif Pro" panose="02040603050405020204" pitchFamily="18" charset="0"/>
                <a:cs typeface="Poppins" panose="00000500000000000000" pitchFamily="2" charset="0"/>
              </a:rPr>
              <a:t>Timeline</a:t>
            </a:r>
            <a:endParaRPr lang="pt-BR" sz="180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 name="Espaço Reservado para Conteúdo 4">
            <a:extLst>
              <a:ext uri="{FF2B5EF4-FFF2-40B4-BE49-F238E27FC236}">
                <a16:creationId xmlns:a16="http://schemas.microsoft.com/office/drawing/2014/main" id="{AC8E41CD-D489-0546-0698-E648618B9258}"/>
              </a:ext>
            </a:extLst>
          </p:cNvPr>
          <p:cNvSpPr>
            <a:spLocks noGrp="1"/>
          </p:cNvSpPr>
          <p:nvPr>
            <p:ph sz="quarter" idx="13"/>
          </p:nvPr>
        </p:nvSpPr>
        <p:spPr>
          <a:xfrm>
            <a:off x="731838" y="1052961"/>
            <a:ext cx="11102975" cy="215503"/>
          </a:xfrm>
        </p:spPr>
        <p:txBody>
          <a:bodyPr/>
          <a:lstStyle/>
          <a:p>
            <a:r>
              <a:rPr lang="en-US" dirty="0">
                <a:solidFill>
                  <a:schemeClr val="bg2"/>
                </a:solidFill>
              </a:rPr>
              <a:t>Mobi has +20 years of experience in corporate employee transportation</a:t>
            </a:r>
          </a:p>
        </p:txBody>
      </p:sp>
      <p:sp>
        <p:nvSpPr>
          <p:cNvPr id="10" name="Espaço Reservado para Texto 9">
            <a:extLst>
              <a:ext uri="{FF2B5EF4-FFF2-40B4-BE49-F238E27FC236}">
                <a16:creationId xmlns:a16="http://schemas.microsoft.com/office/drawing/2014/main" id="{B32DD28D-702B-FD83-7C92-F061A180FEE3}"/>
              </a:ext>
            </a:extLst>
          </p:cNvPr>
          <p:cNvSpPr>
            <a:spLocks noGrp="1"/>
          </p:cNvSpPr>
          <p:nvPr>
            <p:ph type="body" sz="quarter" idx="36"/>
          </p:nvPr>
        </p:nvSpPr>
        <p:spPr/>
        <p:txBody>
          <a:bodyPr/>
          <a:lstStyle/>
          <a:p>
            <a:r>
              <a:rPr lang="en-US" dirty="0">
                <a:latin typeface="Poppins" panose="00000500000000000000" pitchFamily="2" charset="0"/>
                <a:cs typeface="Poppins" panose="00000500000000000000" pitchFamily="2" charset="0"/>
              </a:rPr>
              <a:t>Source: Company — milestone dates and descriptions below to be confirmed with management</a:t>
            </a:r>
            <a:endParaRPr lang="en-US" dirty="0">
              <a:solidFill>
                <a:schemeClr val="bg1"/>
              </a:solidFill>
            </a:endParaRPr>
          </a:p>
        </p:txBody>
      </p:sp>
      <p:sp>
        <p:nvSpPr>
          <p:cNvPr id="11" name="Slide Number Placeholder 5">
            <a:extLst>
              <a:ext uri="{FF2B5EF4-FFF2-40B4-BE49-F238E27FC236}">
                <a16:creationId xmlns:a16="http://schemas.microsoft.com/office/drawing/2014/main" id="{AD368427-1239-0CC9-E758-125DA5FACAD9}"/>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solidFill>
                  <a:schemeClr val="bg1"/>
                </a:solidFill>
              </a:rPr>
              <a:pPr algn="ctr"/>
              <a:t>14</a:t>
            </a:fld>
            <a:endParaRPr lang="en-US" dirty="0">
              <a:solidFill>
                <a:schemeClr val="bg1"/>
              </a:solidFill>
              <a:latin typeface="Poppins Light" panose="00000400000000000000" pitchFamily="2" charset="0"/>
              <a:cs typeface="Poppins Light" panose="00000400000000000000" pitchFamily="2" charset="0"/>
            </a:endParaRPr>
          </a:p>
        </p:txBody>
      </p:sp>
      <p:cxnSp>
        <p:nvCxnSpPr>
          <p:cNvPr id="50" name="Conector reto 49">
            <a:extLst>
              <a:ext uri="{FF2B5EF4-FFF2-40B4-BE49-F238E27FC236}">
                <a16:creationId xmlns:a16="http://schemas.microsoft.com/office/drawing/2014/main" id="{DEC378EE-796E-3575-06A7-E783FFDDAEC0}"/>
              </a:ext>
            </a:extLst>
          </p:cNvPr>
          <p:cNvCxnSpPr>
            <a:cxnSpLocks/>
            <a:stCxn id="16" idx="2"/>
            <a:endCxn id="48" idx="0"/>
          </p:cNvCxnSpPr>
          <p:nvPr/>
        </p:nvCxnSpPr>
        <p:spPr>
          <a:xfrm flipH="1">
            <a:off x="1294102" y="2399245"/>
            <a:ext cx="1" cy="114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Conector reto 98">
            <a:extLst>
              <a:ext uri="{FF2B5EF4-FFF2-40B4-BE49-F238E27FC236}">
                <a16:creationId xmlns:a16="http://schemas.microsoft.com/office/drawing/2014/main" id="{F9C5CFF9-221D-00D1-813C-4929A30C1BB7}"/>
              </a:ext>
            </a:extLst>
          </p:cNvPr>
          <p:cNvCxnSpPr>
            <a:cxnSpLocks/>
            <a:stCxn id="97" idx="2"/>
            <a:endCxn id="98" idx="2"/>
          </p:cNvCxnSpPr>
          <p:nvPr/>
        </p:nvCxnSpPr>
        <p:spPr>
          <a:xfrm flipH="1" flipV="1">
            <a:off x="2400012" y="2764718"/>
            <a:ext cx="1" cy="114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Conector reto 142">
            <a:extLst>
              <a:ext uri="{FF2B5EF4-FFF2-40B4-BE49-F238E27FC236}">
                <a16:creationId xmlns:a16="http://schemas.microsoft.com/office/drawing/2014/main" id="{E64F8836-955C-BD43-5B1F-6D42416165C3}"/>
              </a:ext>
            </a:extLst>
          </p:cNvPr>
          <p:cNvCxnSpPr>
            <a:cxnSpLocks/>
            <a:stCxn id="141" idx="2"/>
            <a:endCxn id="142" idx="0"/>
          </p:cNvCxnSpPr>
          <p:nvPr/>
        </p:nvCxnSpPr>
        <p:spPr>
          <a:xfrm flipH="1">
            <a:off x="3501214" y="2399245"/>
            <a:ext cx="1" cy="114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Conector reto 147">
            <a:extLst>
              <a:ext uri="{FF2B5EF4-FFF2-40B4-BE49-F238E27FC236}">
                <a16:creationId xmlns:a16="http://schemas.microsoft.com/office/drawing/2014/main" id="{E426747F-1BDD-ADE6-B668-3A6D07E5B925}"/>
              </a:ext>
            </a:extLst>
          </p:cNvPr>
          <p:cNvCxnSpPr>
            <a:cxnSpLocks/>
            <a:stCxn id="146" idx="2"/>
            <a:endCxn id="147" idx="2"/>
          </p:cNvCxnSpPr>
          <p:nvPr/>
        </p:nvCxnSpPr>
        <p:spPr>
          <a:xfrm flipH="1" flipV="1">
            <a:off x="4602416" y="2764718"/>
            <a:ext cx="1" cy="114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Conector reto 152">
            <a:extLst>
              <a:ext uri="{FF2B5EF4-FFF2-40B4-BE49-F238E27FC236}">
                <a16:creationId xmlns:a16="http://schemas.microsoft.com/office/drawing/2014/main" id="{2EF1CFC2-1429-F2D1-2796-004122768D19}"/>
              </a:ext>
            </a:extLst>
          </p:cNvPr>
          <p:cNvCxnSpPr>
            <a:cxnSpLocks/>
            <a:stCxn id="151" idx="2"/>
            <a:endCxn id="152" idx="0"/>
          </p:cNvCxnSpPr>
          <p:nvPr/>
        </p:nvCxnSpPr>
        <p:spPr>
          <a:xfrm flipH="1">
            <a:off x="5703618" y="2399245"/>
            <a:ext cx="1" cy="114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Conector reto 157">
            <a:extLst>
              <a:ext uri="{FF2B5EF4-FFF2-40B4-BE49-F238E27FC236}">
                <a16:creationId xmlns:a16="http://schemas.microsoft.com/office/drawing/2014/main" id="{182D67EA-BF6F-CD22-5C7E-31CB96BD084D}"/>
              </a:ext>
            </a:extLst>
          </p:cNvPr>
          <p:cNvCxnSpPr>
            <a:cxnSpLocks/>
            <a:stCxn id="156" idx="2"/>
            <a:endCxn id="157" idx="2"/>
          </p:cNvCxnSpPr>
          <p:nvPr/>
        </p:nvCxnSpPr>
        <p:spPr>
          <a:xfrm flipH="1" flipV="1">
            <a:off x="6804820" y="2764718"/>
            <a:ext cx="1" cy="114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Conector reto 162">
            <a:extLst>
              <a:ext uri="{FF2B5EF4-FFF2-40B4-BE49-F238E27FC236}">
                <a16:creationId xmlns:a16="http://schemas.microsoft.com/office/drawing/2014/main" id="{344F9C5A-EF9C-1292-D81C-2210545688B7}"/>
              </a:ext>
            </a:extLst>
          </p:cNvPr>
          <p:cNvCxnSpPr>
            <a:cxnSpLocks/>
            <a:stCxn id="161" idx="2"/>
            <a:endCxn id="162" idx="0"/>
          </p:cNvCxnSpPr>
          <p:nvPr/>
        </p:nvCxnSpPr>
        <p:spPr>
          <a:xfrm flipH="1">
            <a:off x="7906022" y="2399245"/>
            <a:ext cx="1" cy="114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Conector reto 167">
            <a:extLst>
              <a:ext uri="{FF2B5EF4-FFF2-40B4-BE49-F238E27FC236}">
                <a16:creationId xmlns:a16="http://schemas.microsoft.com/office/drawing/2014/main" id="{8065E6F6-B38B-5594-D9BC-523F29C2F386}"/>
              </a:ext>
            </a:extLst>
          </p:cNvPr>
          <p:cNvCxnSpPr>
            <a:cxnSpLocks/>
            <a:stCxn id="166" idx="2"/>
            <a:endCxn id="167" idx="2"/>
          </p:cNvCxnSpPr>
          <p:nvPr/>
        </p:nvCxnSpPr>
        <p:spPr>
          <a:xfrm flipH="1" flipV="1">
            <a:off x="9007224" y="2764718"/>
            <a:ext cx="1" cy="114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Conector reto 172">
            <a:extLst>
              <a:ext uri="{FF2B5EF4-FFF2-40B4-BE49-F238E27FC236}">
                <a16:creationId xmlns:a16="http://schemas.microsoft.com/office/drawing/2014/main" id="{C86526ED-B997-2AFD-BAF2-84DC70BEAD2E}"/>
              </a:ext>
            </a:extLst>
          </p:cNvPr>
          <p:cNvCxnSpPr>
            <a:cxnSpLocks/>
            <a:stCxn id="171" idx="2"/>
            <a:endCxn id="172" idx="0"/>
          </p:cNvCxnSpPr>
          <p:nvPr/>
        </p:nvCxnSpPr>
        <p:spPr>
          <a:xfrm flipH="1">
            <a:off x="10108426" y="2399245"/>
            <a:ext cx="1" cy="114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Conector reto 177">
            <a:extLst>
              <a:ext uri="{FF2B5EF4-FFF2-40B4-BE49-F238E27FC236}">
                <a16:creationId xmlns:a16="http://schemas.microsoft.com/office/drawing/2014/main" id="{20F0D443-8EC3-1617-9150-41B15CFC3B63}"/>
              </a:ext>
            </a:extLst>
          </p:cNvPr>
          <p:cNvCxnSpPr>
            <a:cxnSpLocks/>
            <a:stCxn id="176" idx="2"/>
            <a:endCxn id="7" idx="2"/>
          </p:cNvCxnSpPr>
          <p:nvPr/>
        </p:nvCxnSpPr>
        <p:spPr>
          <a:xfrm flipV="1">
            <a:off x="11209336" y="2764719"/>
            <a:ext cx="1" cy="114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Retângulo: Cantos Arredondados 96">
            <a:extLst>
              <a:ext uri="{FF2B5EF4-FFF2-40B4-BE49-F238E27FC236}">
                <a16:creationId xmlns:a16="http://schemas.microsoft.com/office/drawing/2014/main" id="{1E3ABFDC-6AE9-8AC6-96FA-BA947AF20590}"/>
              </a:ext>
            </a:extLst>
          </p:cNvPr>
          <p:cNvSpPr/>
          <p:nvPr/>
        </p:nvSpPr>
        <p:spPr>
          <a:xfrm flipV="1">
            <a:off x="1785855" y="2879103"/>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00" name="TextBox 82">
            <a:extLst>
              <a:ext uri="{FF2B5EF4-FFF2-40B4-BE49-F238E27FC236}">
                <a16:creationId xmlns:a16="http://schemas.microsoft.com/office/drawing/2014/main" id="{98948496-2538-1E94-3EEF-6183F0524ACF}"/>
              </a:ext>
            </a:extLst>
          </p:cNvPr>
          <p:cNvSpPr txBox="1"/>
          <p:nvPr/>
        </p:nvSpPr>
        <p:spPr>
          <a:xfrm>
            <a:off x="1838675" y="2932574"/>
            <a:ext cx="1175495" cy="707886"/>
          </a:xfrm>
          <a:prstGeom prst="rect">
            <a:avLst/>
          </a:prstGeom>
          <a:noFill/>
        </p:spPr>
        <p:txBody>
          <a:bodyPr wrap="square">
            <a:spAutoFit/>
          </a:bodyPr>
          <a:lstStyle/>
          <a:p>
            <a:pPr algn="ctr"/>
            <a:r>
              <a:rPr lang="en-US" sz="800" b="1" dirty="0">
                <a:latin typeface="Poppins" panose="00000500000000000000" pitchFamily="2" charset="0"/>
                <a:cs typeface="Poppins" panose="00000500000000000000" pitchFamily="2" charset="0"/>
              </a:rPr>
              <a:t>[Milestone</a:t>
            </a:r>
            <a:r>
              <a:rPr lang="en-US" sz="800" dirty="0">
                <a:latin typeface="Poppins" panose="00000500000000000000" pitchFamily="2" charset="0"/>
                <a:cs typeface="Poppins" panose="00000500000000000000" pitchFamily="2" charset="0"/>
              </a:rPr>
              <a:t> — </a:t>
            </a:r>
            <a:r>
              <a:rPr lang="en-US" sz="800" b="1" dirty="0">
                <a:latin typeface="Poppins" panose="00000500000000000000" pitchFamily="2" charset="0"/>
                <a:cs typeface="Poppins" panose="00000500000000000000" pitchFamily="2" charset="0"/>
              </a:rPr>
              <a:t>TBC</a:t>
            </a:r>
            <a:r>
              <a:rPr lang="en-US" sz="800" dirty="0">
                <a:latin typeface="Poppins" panose="00000500000000000000" pitchFamily="2" charset="0"/>
                <a:cs typeface="Poppins" panose="00000500000000000000" pitchFamily="2" charset="0"/>
              </a:rPr>
              <a:t>]</a:t>
            </a:r>
          </a:p>
        </p:txBody>
      </p:sp>
      <p:sp>
        <p:nvSpPr>
          <p:cNvPr id="146" name="Retângulo: Cantos Arredondados 145">
            <a:extLst>
              <a:ext uri="{FF2B5EF4-FFF2-40B4-BE49-F238E27FC236}">
                <a16:creationId xmlns:a16="http://schemas.microsoft.com/office/drawing/2014/main" id="{042B0528-7FC1-A220-49F0-805D52E75AE3}"/>
              </a:ext>
            </a:extLst>
          </p:cNvPr>
          <p:cNvSpPr/>
          <p:nvPr/>
        </p:nvSpPr>
        <p:spPr>
          <a:xfrm flipV="1">
            <a:off x="3988259" y="2879103"/>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49" name="TextBox 82">
            <a:extLst>
              <a:ext uri="{FF2B5EF4-FFF2-40B4-BE49-F238E27FC236}">
                <a16:creationId xmlns:a16="http://schemas.microsoft.com/office/drawing/2014/main" id="{EA1034E3-28ED-1D20-5456-B60F935718D0}"/>
              </a:ext>
            </a:extLst>
          </p:cNvPr>
          <p:cNvSpPr txBox="1"/>
          <p:nvPr/>
        </p:nvSpPr>
        <p:spPr>
          <a:xfrm>
            <a:off x="3994978" y="2932574"/>
            <a:ext cx="1214877" cy="707886"/>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156" name="Retângulo: Cantos Arredondados 155">
            <a:extLst>
              <a:ext uri="{FF2B5EF4-FFF2-40B4-BE49-F238E27FC236}">
                <a16:creationId xmlns:a16="http://schemas.microsoft.com/office/drawing/2014/main" id="{60D78CA1-84C8-EC43-225C-0A7B37264D44}"/>
              </a:ext>
            </a:extLst>
          </p:cNvPr>
          <p:cNvSpPr/>
          <p:nvPr/>
        </p:nvSpPr>
        <p:spPr>
          <a:xfrm flipV="1">
            <a:off x="6190663" y="2879103"/>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59" name="TextBox 82">
            <a:extLst>
              <a:ext uri="{FF2B5EF4-FFF2-40B4-BE49-F238E27FC236}">
                <a16:creationId xmlns:a16="http://schemas.microsoft.com/office/drawing/2014/main" id="{766F8966-9DD0-036F-F73E-E417EBD4189B}"/>
              </a:ext>
            </a:extLst>
          </p:cNvPr>
          <p:cNvSpPr txBox="1"/>
          <p:nvPr/>
        </p:nvSpPr>
        <p:spPr>
          <a:xfrm>
            <a:off x="6265161" y="2908791"/>
            <a:ext cx="1079318" cy="830997"/>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166" name="Retângulo: Cantos Arredondados 165">
            <a:extLst>
              <a:ext uri="{FF2B5EF4-FFF2-40B4-BE49-F238E27FC236}">
                <a16:creationId xmlns:a16="http://schemas.microsoft.com/office/drawing/2014/main" id="{BB67223A-7FB8-FF45-DAF8-BDCCCDF29910}"/>
              </a:ext>
            </a:extLst>
          </p:cNvPr>
          <p:cNvSpPr/>
          <p:nvPr/>
        </p:nvSpPr>
        <p:spPr>
          <a:xfrm flipV="1">
            <a:off x="8393067" y="2879103"/>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69" name="TextBox 82">
            <a:extLst>
              <a:ext uri="{FF2B5EF4-FFF2-40B4-BE49-F238E27FC236}">
                <a16:creationId xmlns:a16="http://schemas.microsoft.com/office/drawing/2014/main" id="{FE60A759-8CDD-4575-32F9-EA765C58B944}"/>
              </a:ext>
            </a:extLst>
          </p:cNvPr>
          <p:cNvSpPr txBox="1"/>
          <p:nvPr/>
        </p:nvSpPr>
        <p:spPr>
          <a:xfrm>
            <a:off x="8433395" y="2884027"/>
            <a:ext cx="1147658" cy="830997"/>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176" name="Retângulo: Cantos Arredondados 175">
            <a:extLst>
              <a:ext uri="{FF2B5EF4-FFF2-40B4-BE49-F238E27FC236}">
                <a16:creationId xmlns:a16="http://schemas.microsoft.com/office/drawing/2014/main" id="{133A151A-77D3-38E3-FE26-2BC033482CD9}"/>
              </a:ext>
            </a:extLst>
          </p:cNvPr>
          <p:cNvSpPr/>
          <p:nvPr/>
        </p:nvSpPr>
        <p:spPr>
          <a:xfrm flipV="1">
            <a:off x="10595269" y="2879103"/>
            <a:ext cx="1228134"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79" name="TextBox 82">
            <a:extLst>
              <a:ext uri="{FF2B5EF4-FFF2-40B4-BE49-F238E27FC236}">
                <a16:creationId xmlns:a16="http://schemas.microsoft.com/office/drawing/2014/main" id="{C111ADDD-076B-E756-1B5A-3CA6DDC07E63}"/>
              </a:ext>
            </a:extLst>
          </p:cNvPr>
          <p:cNvSpPr txBox="1"/>
          <p:nvPr/>
        </p:nvSpPr>
        <p:spPr>
          <a:xfrm>
            <a:off x="10752959" y="2994130"/>
            <a:ext cx="912755" cy="584775"/>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Positioned for </a:t>
            </a:r>
            <a:r>
              <a:rPr lang="en-US" sz="800" b="1" dirty="0">
                <a:latin typeface="Poppins" panose="00000500000000000000" pitchFamily="2" charset="0"/>
                <a:cs typeface="Poppins" panose="00000500000000000000" pitchFamily="2" charset="0"/>
              </a:rPr>
              <a:t>continued growth</a:t>
            </a:r>
          </a:p>
        </p:txBody>
      </p:sp>
      <p:sp>
        <p:nvSpPr>
          <p:cNvPr id="16" name="Retângulo: Cantos Arredondados 15">
            <a:extLst>
              <a:ext uri="{FF2B5EF4-FFF2-40B4-BE49-F238E27FC236}">
                <a16:creationId xmlns:a16="http://schemas.microsoft.com/office/drawing/2014/main" id="{F5B60B7E-3221-7EBB-B8E2-8AB0EE6C2715}"/>
              </a:ext>
            </a:extLst>
          </p:cNvPr>
          <p:cNvSpPr/>
          <p:nvPr/>
        </p:nvSpPr>
        <p:spPr>
          <a:xfrm>
            <a:off x="679945" y="1584417"/>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7" name="TextBox 82">
            <a:extLst>
              <a:ext uri="{FF2B5EF4-FFF2-40B4-BE49-F238E27FC236}">
                <a16:creationId xmlns:a16="http://schemas.microsoft.com/office/drawing/2014/main" id="{6396E165-6A3F-C02A-4CA5-54770E4233C2}"/>
              </a:ext>
            </a:extLst>
          </p:cNvPr>
          <p:cNvSpPr txBox="1"/>
          <p:nvPr/>
        </p:nvSpPr>
        <p:spPr>
          <a:xfrm>
            <a:off x="741885" y="1637888"/>
            <a:ext cx="1104434" cy="707886"/>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Foundation of Mobi [year TBC]</a:t>
            </a:r>
          </a:p>
        </p:txBody>
      </p:sp>
      <p:sp>
        <p:nvSpPr>
          <p:cNvPr id="141" name="Retângulo: Cantos Arredondados 140">
            <a:extLst>
              <a:ext uri="{FF2B5EF4-FFF2-40B4-BE49-F238E27FC236}">
                <a16:creationId xmlns:a16="http://schemas.microsoft.com/office/drawing/2014/main" id="{15133EDC-30F1-B4E4-2B1A-371DBDA7FE4D}"/>
              </a:ext>
            </a:extLst>
          </p:cNvPr>
          <p:cNvSpPr/>
          <p:nvPr/>
        </p:nvSpPr>
        <p:spPr>
          <a:xfrm>
            <a:off x="2887057" y="1584417"/>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44" name="TextBox 82">
            <a:extLst>
              <a:ext uri="{FF2B5EF4-FFF2-40B4-BE49-F238E27FC236}">
                <a16:creationId xmlns:a16="http://schemas.microsoft.com/office/drawing/2014/main" id="{512C7988-8EB9-BD70-8B42-596674791421}"/>
              </a:ext>
            </a:extLst>
          </p:cNvPr>
          <p:cNvSpPr txBox="1"/>
          <p:nvPr/>
        </p:nvSpPr>
        <p:spPr>
          <a:xfrm>
            <a:off x="2999199" y="1760999"/>
            <a:ext cx="1004031" cy="461665"/>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151" name="Retângulo: Cantos Arredondados 150">
            <a:extLst>
              <a:ext uri="{FF2B5EF4-FFF2-40B4-BE49-F238E27FC236}">
                <a16:creationId xmlns:a16="http://schemas.microsoft.com/office/drawing/2014/main" id="{2DFC3C3E-F854-1688-2A79-850B49C55997}"/>
              </a:ext>
            </a:extLst>
          </p:cNvPr>
          <p:cNvSpPr/>
          <p:nvPr/>
        </p:nvSpPr>
        <p:spPr>
          <a:xfrm>
            <a:off x="5089461" y="1584417"/>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54" name="TextBox 82">
            <a:extLst>
              <a:ext uri="{FF2B5EF4-FFF2-40B4-BE49-F238E27FC236}">
                <a16:creationId xmlns:a16="http://schemas.microsoft.com/office/drawing/2014/main" id="{E9993D39-8CD8-A58D-3BE0-B123634CBFD8}"/>
              </a:ext>
            </a:extLst>
          </p:cNvPr>
          <p:cNvSpPr txBox="1"/>
          <p:nvPr/>
        </p:nvSpPr>
        <p:spPr>
          <a:xfrm>
            <a:off x="5151401" y="1699444"/>
            <a:ext cx="1104434" cy="584775"/>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161" name="Retângulo: Cantos Arredondados 160">
            <a:extLst>
              <a:ext uri="{FF2B5EF4-FFF2-40B4-BE49-F238E27FC236}">
                <a16:creationId xmlns:a16="http://schemas.microsoft.com/office/drawing/2014/main" id="{47DE5412-51D0-F75B-B92B-DCDC0CECF618}"/>
              </a:ext>
            </a:extLst>
          </p:cNvPr>
          <p:cNvSpPr/>
          <p:nvPr/>
        </p:nvSpPr>
        <p:spPr>
          <a:xfrm>
            <a:off x="7291865" y="1584417"/>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64" name="TextBox 82">
            <a:extLst>
              <a:ext uri="{FF2B5EF4-FFF2-40B4-BE49-F238E27FC236}">
                <a16:creationId xmlns:a16="http://schemas.microsoft.com/office/drawing/2014/main" id="{89935E9A-5A3D-DBC3-2F24-B7F730A65B9C}"/>
              </a:ext>
            </a:extLst>
          </p:cNvPr>
          <p:cNvSpPr txBox="1"/>
          <p:nvPr/>
        </p:nvSpPr>
        <p:spPr>
          <a:xfrm>
            <a:off x="7453717" y="1760999"/>
            <a:ext cx="904611" cy="461665"/>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171" name="Retângulo: Cantos Arredondados 170">
            <a:extLst>
              <a:ext uri="{FF2B5EF4-FFF2-40B4-BE49-F238E27FC236}">
                <a16:creationId xmlns:a16="http://schemas.microsoft.com/office/drawing/2014/main" id="{B7AF2658-51F6-93D9-A2C9-3CEF3348126E}"/>
              </a:ext>
            </a:extLst>
          </p:cNvPr>
          <p:cNvSpPr/>
          <p:nvPr/>
        </p:nvSpPr>
        <p:spPr>
          <a:xfrm>
            <a:off x="9494269" y="1584417"/>
            <a:ext cx="1228315" cy="814828"/>
          </a:xfrm>
          <a:prstGeom prst="roundRect">
            <a:avLst>
              <a:gd name="adj" fmla="val 4658"/>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19" name="Título 1">
            <a:extLst>
              <a:ext uri="{FF2B5EF4-FFF2-40B4-BE49-F238E27FC236}">
                <a16:creationId xmlns:a16="http://schemas.microsoft.com/office/drawing/2014/main" id="{B5B125B3-78F4-AAA5-F546-4C629D23B9AE}"/>
              </a:ext>
            </a:extLst>
          </p:cNvPr>
          <p:cNvSpPr txBox="1">
            <a:spLocks/>
          </p:cNvSpPr>
          <p:nvPr/>
        </p:nvSpPr>
        <p:spPr>
          <a:xfrm>
            <a:off x="731838" y="4267316"/>
            <a:ext cx="3400000" cy="16286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200" dirty="0">
                <a:solidFill>
                  <a:schemeClr val="tx1"/>
                </a:solidFill>
                <a:latin typeface="Poppins SemiBold" panose="00000700000000000000" pitchFamily="2" charset="0"/>
                <a:cs typeface="Poppins SemiBold" panose="00000700000000000000" pitchFamily="2" charset="0"/>
              </a:rPr>
              <a:t>Gross revenue evolution [pending data]</a:t>
            </a:r>
          </a:p>
        </p:txBody>
      </p:sp>
      <p:sp>
        <p:nvSpPr>
          <p:cNvPr id="220" name="TextBox 6">
            <a:extLst>
              <a:ext uri="{FF2B5EF4-FFF2-40B4-BE49-F238E27FC236}">
                <a16:creationId xmlns:a16="http://schemas.microsoft.com/office/drawing/2014/main" id="{8C09EB9C-77D2-6CF8-C7B2-50B2B5267E14}"/>
              </a:ext>
            </a:extLst>
          </p:cNvPr>
          <p:cNvSpPr txBox="1"/>
          <p:nvPr/>
        </p:nvSpPr>
        <p:spPr>
          <a:xfrm>
            <a:off x="731838" y="4700000"/>
            <a:ext cx="935644" cy="162865"/>
          </a:xfrm>
          <a:prstGeom prst="rect">
            <a:avLst/>
          </a:prstGeom>
          <a:noFill/>
        </p:spPr>
        <p:txBody>
          <a:bodyPr wrap="square" lIns="0" tIns="0" rIns="0" bIns="0" rtlCol="0">
            <a:spAutoFit/>
          </a:bodyPr>
          <a:lstStyle/>
          <a:p>
            <a:pPr algn="l">
              <a:lnSpc>
                <a:spcPct val="110000"/>
              </a:lnSpc>
              <a:spcAft>
                <a:spcPts val="800"/>
              </a:spcAft>
            </a:pPr>
            <a:r>
              <a:rPr lang="pt-BR" sz="1000" dirty="0">
                <a:latin typeface="Poppins Light" panose="00000400000000000000" pitchFamily="2" charset="0"/>
                <a:ea typeface="Source Serif Pro" panose="02040603050405020204" pitchFamily="18" charset="0"/>
                <a:cs typeface="Poppins Light" panose="00000400000000000000" pitchFamily="2" charset="0"/>
              </a:rPr>
              <a:t>BRL Mn</a:t>
            </a:r>
          </a:p>
        </p:txBody>
      </p:sp>
      <p:sp>
        <p:nvSpPr>
          <p:cNvPr id="222" name="TextBox 82">
            <a:extLst>
              <a:ext uri="{FF2B5EF4-FFF2-40B4-BE49-F238E27FC236}">
                <a16:creationId xmlns:a16="http://schemas.microsoft.com/office/drawing/2014/main" id="{0706D8D9-7B92-EF9A-136E-3D73F4205EF1}"/>
              </a:ext>
            </a:extLst>
          </p:cNvPr>
          <p:cNvSpPr txBox="1"/>
          <p:nvPr/>
        </p:nvSpPr>
        <p:spPr>
          <a:xfrm>
            <a:off x="9494269" y="1637888"/>
            <a:ext cx="1204037" cy="707886"/>
          </a:xfrm>
          <a:prstGeom prst="rect">
            <a:avLst/>
          </a:prstGeom>
          <a:noFill/>
        </p:spPr>
        <p:txBody>
          <a:bodyPr wrap="square">
            <a:spAutoFit/>
          </a:bodyPr>
          <a:lstStyle/>
          <a:p>
            <a:pPr algn="ctr"/>
            <a:r>
              <a:rPr lang="en-US" sz="800" dirty="0">
                <a:latin typeface="Poppins" panose="00000500000000000000" pitchFamily="2" charset="0"/>
                <a:cs typeface="Poppins" panose="00000500000000000000" pitchFamily="2" charset="0"/>
              </a:rPr>
              <a:t>[Milestone — TBC]</a:t>
            </a:r>
          </a:p>
        </p:txBody>
      </p:sp>
      <p:sp>
        <p:nvSpPr>
          <p:cNvPr id="224" name="Retângulo: Cantos Arredondados 223">
            <a:extLst>
              <a:ext uri="{FF2B5EF4-FFF2-40B4-BE49-F238E27FC236}">
                <a16:creationId xmlns:a16="http://schemas.microsoft.com/office/drawing/2014/main" id="{10364301-783F-D0D7-7EEB-B9461A098D5D}"/>
              </a:ext>
            </a:extLst>
          </p:cNvPr>
          <p:cNvSpPr/>
          <p:nvPr/>
        </p:nvSpPr>
        <p:spPr>
          <a:xfrm>
            <a:off x="8803389" y="4285675"/>
            <a:ext cx="2897188" cy="237586"/>
          </a:xfrm>
          <a:prstGeom prst="roundRect">
            <a:avLst>
              <a:gd name="adj" fmla="val 50000"/>
            </a:avLst>
          </a:prstGeom>
          <a:no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100" dirty="0">
                <a:solidFill>
                  <a:schemeClr val="tx1"/>
                </a:solidFill>
                <a:latin typeface="Poppins SemiBold" panose="00000700000000000000" pitchFamily="2" charset="0"/>
                <a:ea typeface="Source Serif Pro" panose="02040603050405020204" pitchFamily="18" charset="0"/>
                <a:cs typeface="Poppins SemiBold" panose="00000700000000000000" pitchFamily="2" charset="0"/>
              </a:rPr>
              <a:t>CAGR [XX]</a:t>
            </a:r>
          </a:p>
        </p:txBody>
      </p:sp>
      <p:sp>
        <p:nvSpPr>
          <p:cNvPr id="226" name="CaixaDeTexto 18">
            <a:extLst>
              <a:ext uri="{FF2B5EF4-FFF2-40B4-BE49-F238E27FC236}">
                <a16:creationId xmlns:a16="http://schemas.microsoft.com/office/drawing/2014/main" id="{96589AE5-7860-1030-E0C7-CBF69CBBAE0C}"/>
              </a:ext>
            </a:extLst>
          </p:cNvPr>
          <p:cNvSpPr txBox="1"/>
          <p:nvPr/>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Confidential </a:t>
            </a:r>
          </a:p>
        </p:txBody>
      </p:sp>
      <p:pic>
        <p:nvPicPr>
          <p:cNvPr id="2" name="Imagem 6">
            <a:extLst>
              <a:ext uri="{FF2B5EF4-FFF2-40B4-BE49-F238E27FC236}">
                <a16:creationId xmlns:a16="http://schemas.microsoft.com/office/drawing/2014/main" id="{6ADD5F6F-DB89-CEC4-9AAE-507399CB2AF1}"/>
              </a:ext>
            </a:extLst>
          </p:cNvPr>
          <p:cNvPicPr>
            <a:picLocks noChangeAspect="1"/>
          </p:cNvPicPr>
          <p:nvPr/>
        </p:nvPicPr>
        <p:blipFill>
          <a:blip r:embed="rId3"/>
          <a:stretch>
            <a:fillRect/>
          </a:stretch>
        </p:blipFill>
        <p:spPr>
          <a:xfrm>
            <a:off x="10775561" y="6179422"/>
            <a:ext cx="1079890" cy="345903"/>
          </a:xfrm>
          <a:prstGeom prst="rect">
            <a:avLst/>
          </a:prstGeom>
        </p:spPr>
      </p:pic>
      <p:pic>
        <p:nvPicPr>
          <p:cNvPr id="3" name="Imagem 6">
            <a:extLst>
              <a:ext uri="{FF2B5EF4-FFF2-40B4-BE49-F238E27FC236}">
                <a16:creationId xmlns:a16="http://schemas.microsoft.com/office/drawing/2014/main" id="{C554E5A0-3CF6-93AE-0265-C9B6AA5BA0F0}"/>
              </a:ext>
            </a:extLst>
          </p:cNvPr>
          <p:cNvPicPr>
            <a:picLocks noChangeAspect="1"/>
          </p:cNvPicPr>
          <p:nvPr/>
        </p:nvPicPr>
        <p:blipFill>
          <a:blip r:embed="rId3"/>
          <a:stretch>
            <a:fillRect/>
          </a:stretch>
        </p:blipFill>
        <p:spPr>
          <a:xfrm>
            <a:off x="928297" y="5048230"/>
            <a:ext cx="1079890" cy="345903"/>
          </a:xfrm>
          <a:prstGeom prst="rect">
            <a:avLst/>
          </a:prstGeom>
        </p:spPr>
      </p:pic>
      <p:sp>
        <p:nvSpPr>
          <p:cNvPr id="48" name="Retângulo: Cantos Arredondados 47">
            <a:extLst>
              <a:ext uri="{FF2B5EF4-FFF2-40B4-BE49-F238E27FC236}">
                <a16:creationId xmlns:a16="http://schemas.microsoft.com/office/drawing/2014/main" id="{784DACCD-9364-D101-D99B-D5C37C1761C6}"/>
              </a:ext>
            </a:extLst>
          </p:cNvPr>
          <p:cNvSpPr/>
          <p:nvPr/>
        </p:nvSpPr>
        <p:spPr>
          <a:xfrm>
            <a:off x="901702" y="2513631"/>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98" name="Retângulo: Cantos Arredondados 97">
            <a:extLst>
              <a:ext uri="{FF2B5EF4-FFF2-40B4-BE49-F238E27FC236}">
                <a16:creationId xmlns:a16="http://schemas.microsoft.com/office/drawing/2014/main" id="{21861213-9F3B-CE21-8364-72F42D09D95F}"/>
              </a:ext>
            </a:extLst>
          </p:cNvPr>
          <p:cNvSpPr/>
          <p:nvPr/>
        </p:nvSpPr>
        <p:spPr>
          <a:xfrm>
            <a:off x="2007612" y="2513630"/>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42" name="Retângulo: Cantos Arredondados 141">
            <a:extLst>
              <a:ext uri="{FF2B5EF4-FFF2-40B4-BE49-F238E27FC236}">
                <a16:creationId xmlns:a16="http://schemas.microsoft.com/office/drawing/2014/main" id="{D094F8DF-22DA-783D-61EF-EF1B92E0EAE2}"/>
              </a:ext>
            </a:extLst>
          </p:cNvPr>
          <p:cNvSpPr/>
          <p:nvPr/>
        </p:nvSpPr>
        <p:spPr>
          <a:xfrm>
            <a:off x="3108814" y="2513631"/>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47" name="Retângulo: Cantos Arredondados 146">
            <a:extLst>
              <a:ext uri="{FF2B5EF4-FFF2-40B4-BE49-F238E27FC236}">
                <a16:creationId xmlns:a16="http://schemas.microsoft.com/office/drawing/2014/main" id="{631CD918-18AC-371F-5DC1-F1E0DAEBF27A}"/>
              </a:ext>
            </a:extLst>
          </p:cNvPr>
          <p:cNvSpPr/>
          <p:nvPr/>
        </p:nvSpPr>
        <p:spPr>
          <a:xfrm>
            <a:off x="4210016" y="2513630"/>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52" name="Retângulo: Cantos Arredondados 151">
            <a:extLst>
              <a:ext uri="{FF2B5EF4-FFF2-40B4-BE49-F238E27FC236}">
                <a16:creationId xmlns:a16="http://schemas.microsoft.com/office/drawing/2014/main" id="{C9A1BBAF-D2E5-3B86-839F-1065BEE89AD4}"/>
              </a:ext>
            </a:extLst>
          </p:cNvPr>
          <p:cNvSpPr/>
          <p:nvPr/>
        </p:nvSpPr>
        <p:spPr>
          <a:xfrm>
            <a:off x="5311218" y="2513631"/>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57" name="Retângulo: Cantos Arredondados 156">
            <a:extLst>
              <a:ext uri="{FF2B5EF4-FFF2-40B4-BE49-F238E27FC236}">
                <a16:creationId xmlns:a16="http://schemas.microsoft.com/office/drawing/2014/main" id="{03A8A540-47D8-5796-7692-6418C22B9A5A}"/>
              </a:ext>
            </a:extLst>
          </p:cNvPr>
          <p:cNvSpPr/>
          <p:nvPr/>
        </p:nvSpPr>
        <p:spPr>
          <a:xfrm>
            <a:off x="6412420" y="2513630"/>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62" name="Retângulo: Cantos Arredondados 161">
            <a:extLst>
              <a:ext uri="{FF2B5EF4-FFF2-40B4-BE49-F238E27FC236}">
                <a16:creationId xmlns:a16="http://schemas.microsoft.com/office/drawing/2014/main" id="{6FE7452F-17B5-1FC9-DA9F-F7ED5B7778CE}"/>
              </a:ext>
            </a:extLst>
          </p:cNvPr>
          <p:cNvSpPr/>
          <p:nvPr/>
        </p:nvSpPr>
        <p:spPr>
          <a:xfrm>
            <a:off x="7513622" y="2513631"/>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67" name="Retângulo: Cantos Arredondados 166">
            <a:extLst>
              <a:ext uri="{FF2B5EF4-FFF2-40B4-BE49-F238E27FC236}">
                <a16:creationId xmlns:a16="http://schemas.microsoft.com/office/drawing/2014/main" id="{CB6C44F3-9EF8-5DBB-2528-318437DE550D}"/>
              </a:ext>
            </a:extLst>
          </p:cNvPr>
          <p:cNvSpPr/>
          <p:nvPr/>
        </p:nvSpPr>
        <p:spPr>
          <a:xfrm>
            <a:off x="8614824" y="2513630"/>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[XXXX]</a:t>
            </a:r>
          </a:p>
        </p:txBody>
      </p:sp>
      <p:sp>
        <p:nvSpPr>
          <p:cNvPr id="172" name="Retângulo: Cantos Arredondados 171">
            <a:extLst>
              <a:ext uri="{FF2B5EF4-FFF2-40B4-BE49-F238E27FC236}">
                <a16:creationId xmlns:a16="http://schemas.microsoft.com/office/drawing/2014/main" id="{172A3C20-DCFC-5681-4BC4-846A85D08A7E}"/>
              </a:ext>
            </a:extLst>
          </p:cNvPr>
          <p:cNvSpPr/>
          <p:nvPr/>
        </p:nvSpPr>
        <p:spPr>
          <a:xfrm>
            <a:off x="9716026" y="2513631"/>
            <a:ext cx="784800"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2025</a:t>
            </a:r>
          </a:p>
        </p:txBody>
      </p:sp>
      <p:sp>
        <p:nvSpPr>
          <p:cNvPr id="7" name="Retângulo: Cantos Arredondados 176">
            <a:extLst>
              <a:ext uri="{FF2B5EF4-FFF2-40B4-BE49-F238E27FC236}">
                <a16:creationId xmlns:a16="http://schemas.microsoft.com/office/drawing/2014/main" id="{94374528-7994-9E1D-8C1A-F9619A3270C8}"/>
              </a:ext>
            </a:extLst>
          </p:cNvPr>
          <p:cNvSpPr/>
          <p:nvPr/>
        </p:nvSpPr>
        <p:spPr>
          <a:xfrm>
            <a:off x="10817225" y="2513631"/>
            <a:ext cx="784223" cy="251088"/>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r>
              <a:rPr lang="pt-BR" sz="10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2026</a:t>
            </a:r>
          </a:p>
        </p:txBody>
      </p:sp>
      <p:graphicFrame>
        <p:nvGraphicFramePr>
          <p:cNvPr id="8" name="Chart 7">
            <a:extLst>
              <a:ext uri="{FF2B5EF4-FFF2-40B4-BE49-F238E27FC236}">
                <a16:creationId xmlns:a16="http://schemas.microsoft.com/office/drawing/2014/main" id="{2EDD4803-5AF7-9E9A-43ED-B278D4BEF9EF}"/>
              </a:ext>
            </a:extLst>
          </p:cNvPr>
          <p:cNvGraphicFramePr>
            <a:graphicFrameLocks/>
          </p:cNvGraphicFramePr>
          <p:nvPr>
            <p:extLst>
              <p:ext uri="{D42A27DB-BD31-4B8C-83A1-F6EECF244321}">
                <p14:modId xmlns:p14="http://schemas.microsoft.com/office/powerpoint/2010/main" val="3447418536"/>
              </p:ext>
            </p:extLst>
          </p:nvPr>
        </p:nvGraphicFramePr>
        <p:xfrm>
          <a:off x="1856413" y="4460416"/>
          <a:ext cx="10029600" cy="1524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0324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FCBDF-3548-72CB-9E29-6EBFF1220F86}"/>
            </a:ext>
          </a:extLst>
        </p:cNvPr>
        <p:cNvGrpSpPr/>
        <p:nvPr/>
      </p:nvGrpSpPr>
      <p:grpSpPr>
        <a:xfrm>
          <a:off x="0" y="0"/>
          <a:ext cx="0" cy="0"/>
          <a:chOff x="0" y="0"/>
          <a:chExt cx="0" cy="0"/>
        </a:xfrm>
      </p:grpSpPr>
      <p:sp>
        <p:nvSpPr>
          <p:cNvPr id="90" name="Retângulo 89">
            <a:extLst>
              <a:ext uri="{FF2B5EF4-FFF2-40B4-BE49-F238E27FC236}">
                <a16:creationId xmlns:a16="http://schemas.microsoft.com/office/drawing/2014/main" id="{78AD0E54-7084-C1EE-DEAA-B5F879F6F9F6}"/>
              </a:ext>
            </a:extLst>
          </p:cNvPr>
          <p:cNvSpPr/>
          <p:nvPr/>
        </p:nvSpPr>
        <p:spPr>
          <a:xfrm>
            <a:off x="0" y="0"/>
            <a:ext cx="12192000" cy="2406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4" name="Título 3">
            <a:extLst>
              <a:ext uri="{FF2B5EF4-FFF2-40B4-BE49-F238E27FC236}">
                <a16:creationId xmlns:a16="http://schemas.microsoft.com/office/drawing/2014/main" id="{29CD22CA-3BA3-69D0-A512-5196B76F6D92}"/>
              </a:ext>
            </a:extLst>
          </p:cNvPr>
          <p:cNvSpPr>
            <a:spLocks noGrp="1"/>
          </p:cNvSpPr>
          <p:nvPr>
            <p:ph type="title"/>
          </p:nvPr>
        </p:nvSpPr>
        <p:spPr>
          <a:noFill/>
          <a:ln>
            <a:noFill/>
          </a:ln>
        </p:spPr>
        <p:style>
          <a:lnRef idx="2">
            <a:schemeClr val="accent1"/>
          </a:lnRef>
          <a:fillRef idx="1">
            <a:schemeClr val="lt1"/>
          </a:fillRef>
          <a:effectRef idx="0">
            <a:schemeClr val="accent1"/>
          </a:effectRef>
          <a:fontRef idx="minor">
            <a:schemeClr val="dk1"/>
          </a:fontRef>
        </p:style>
        <p:txBody>
          <a:bodyPr vert="horz" lIns="0" tIns="0" rIns="0" bIns="0" rtlCol="0" anchor="t" anchorCtr="0">
            <a:noAutofit/>
          </a:bodyPr>
          <a:lstStyle/>
          <a:p>
            <a:r>
              <a:rPr lang="en-US"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Key management</a:t>
            </a:r>
            <a:endParaRPr lang="en-US" sz="18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 name="Espaço Reservado para Conteúdo 4">
            <a:extLst>
              <a:ext uri="{FF2B5EF4-FFF2-40B4-BE49-F238E27FC236}">
                <a16:creationId xmlns:a16="http://schemas.microsoft.com/office/drawing/2014/main" id="{75C4D63E-CA8E-9327-6678-148D786CEE0A}"/>
              </a:ext>
            </a:extLst>
          </p:cNvPr>
          <p:cNvSpPr>
            <a:spLocks noGrp="1"/>
          </p:cNvSpPr>
          <p:nvPr>
            <p:ph sz="quarter" idx="13"/>
          </p:nvPr>
        </p:nvSpPr>
        <p:spPr>
          <a:xfrm>
            <a:off x="731838" y="1052961"/>
            <a:ext cx="11102975" cy="215503"/>
          </a:xfrm>
        </p:spPr>
        <p:txBody>
          <a:bodyPr/>
          <a:lstStyle/>
          <a:p>
            <a:r>
              <a:rPr lang="en-US" noProof="0" dirty="0">
                <a:solidFill>
                  <a:schemeClr val="bg1"/>
                </a:solidFill>
                <a:latin typeface="Poppins" panose="00000500000000000000" pitchFamily="2" charset="0"/>
                <a:cs typeface="Poppins" panose="00000500000000000000" pitchFamily="2" charset="0"/>
              </a:rPr>
              <a:t>Management team overview — to be confirmed with Company</a:t>
            </a:r>
          </a:p>
        </p:txBody>
      </p:sp>
      <p:sp>
        <p:nvSpPr>
          <p:cNvPr id="10" name="Espaço Reservado para Texto 9">
            <a:extLst>
              <a:ext uri="{FF2B5EF4-FFF2-40B4-BE49-F238E27FC236}">
                <a16:creationId xmlns:a16="http://schemas.microsoft.com/office/drawing/2014/main" id="{EB7A06E7-CEA4-A44F-B051-7E1D72894B88}"/>
              </a:ext>
            </a:extLst>
          </p:cNvPr>
          <p:cNvSpPr>
            <a:spLocks noGrp="1"/>
          </p:cNvSpPr>
          <p:nvPr>
            <p:ph type="body" sz="quarter" idx="36"/>
          </p:nvPr>
        </p:nvSpPr>
        <p:spPr/>
        <p:txBody>
          <a:bodyPr/>
          <a:lstStyle/>
          <a:p>
            <a:r>
              <a:rPr lang="en-US" noProof="0" dirty="0">
                <a:latin typeface="Poppins" panose="00000500000000000000" pitchFamily="2" charset="0"/>
                <a:cs typeface="Poppins" panose="00000500000000000000" pitchFamily="2" charset="0"/>
              </a:rPr>
              <a:t>Source: Company</a:t>
            </a:r>
          </a:p>
        </p:txBody>
      </p:sp>
      <p:sp>
        <p:nvSpPr>
          <p:cNvPr id="11" name="Slide Number Placeholder 5">
            <a:extLst>
              <a:ext uri="{FF2B5EF4-FFF2-40B4-BE49-F238E27FC236}">
                <a16:creationId xmlns:a16="http://schemas.microsoft.com/office/drawing/2014/main" id="{C6DCA343-3A14-262F-8043-0342C99069F7}"/>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noProof="0" smtClean="0"/>
              <a:pPr algn="ctr"/>
              <a:t>15</a:t>
            </a:fld>
            <a:endParaRPr lang="en-US" noProof="0" dirty="0">
              <a:latin typeface="Poppins Light" panose="00000400000000000000" pitchFamily="2" charset="0"/>
              <a:cs typeface="Poppins Light" panose="00000400000000000000" pitchFamily="2" charset="0"/>
            </a:endParaRPr>
          </a:p>
        </p:txBody>
      </p:sp>
      <p:pic>
        <p:nvPicPr>
          <p:cNvPr id="6" name="Imagem 5">
            <a:extLst>
              <a:ext uri="{FF2B5EF4-FFF2-40B4-BE49-F238E27FC236}">
                <a16:creationId xmlns:a16="http://schemas.microsoft.com/office/drawing/2014/main" id="{AFC76BC7-3C6D-D8AE-5A37-8CAD7A696554}"/>
              </a:ext>
            </a:extLst>
          </p:cNvPr>
          <p:cNvPicPr>
            <a:picLocks/>
          </p:cNvPicPr>
          <p:nvPr/>
        </p:nvPicPr>
        <p:blipFill>
          <a:blip r:embed="rId3"/>
          <a:stretch>
            <a:fillRect/>
          </a:stretch>
        </p:blipFill>
        <p:spPr>
          <a:xfrm>
            <a:off x="974126" y="1628363"/>
            <a:ext cx="1370146" cy="1371600"/>
          </a:xfrm>
          <a:prstGeom prst="rect">
            <a:avLst/>
          </a:prstGeom>
        </p:spPr>
      </p:pic>
      <p:sp>
        <p:nvSpPr>
          <p:cNvPr id="7" name="TextBox 52">
            <a:extLst>
              <a:ext uri="{FF2B5EF4-FFF2-40B4-BE49-F238E27FC236}">
                <a16:creationId xmlns:a16="http://schemas.microsoft.com/office/drawing/2014/main" id="{6A5ADD0A-62DC-F17C-CB23-98995CAF46EC}"/>
              </a:ext>
            </a:extLst>
          </p:cNvPr>
          <p:cNvSpPr txBox="1"/>
          <p:nvPr/>
        </p:nvSpPr>
        <p:spPr>
          <a:xfrm>
            <a:off x="904531" y="3140900"/>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Antônio Gabriel</a:t>
            </a:r>
          </a:p>
        </p:txBody>
      </p:sp>
      <p:sp>
        <p:nvSpPr>
          <p:cNvPr id="8" name="Retângulo: Cantos Arredondados 7">
            <a:extLst>
              <a:ext uri="{FF2B5EF4-FFF2-40B4-BE49-F238E27FC236}">
                <a16:creationId xmlns:a16="http://schemas.microsoft.com/office/drawing/2014/main" id="{53A60773-DFE2-0432-C3EC-BA1B1B84C060}"/>
              </a:ext>
            </a:extLst>
          </p:cNvPr>
          <p:cNvSpPr/>
          <p:nvPr/>
        </p:nvSpPr>
        <p:spPr>
          <a:xfrm>
            <a:off x="695218" y="3435294"/>
            <a:ext cx="1927963" cy="271951"/>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0000"/>
              </a:lnSpc>
              <a:spcAft>
                <a:spcPts val="800"/>
              </a:spcAft>
            </a:pPr>
            <a:r>
              <a:rPr lang="en-US" sz="10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[Role — TBC]</a:t>
            </a:r>
          </a:p>
        </p:txBody>
      </p:sp>
      <p:grpSp>
        <p:nvGrpSpPr>
          <p:cNvPr id="126" name="Agrupar 125">
            <a:extLst>
              <a:ext uri="{FF2B5EF4-FFF2-40B4-BE49-F238E27FC236}">
                <a16:creationId xmlns:a16="http://schemas.microsoft.com/office/drawing/2014/main" id="{829B4C91-1C33-450B-9444-C583CC1E5F09}"/>
              </a:ext>
            </a:extLst>
          </p:cNvPr>
          <p:cNvGrpSpPr/>
          <p:nvPr/>
        </p:nvGrpSpPr>
        <p:grpSpPr>
          <a:xfrm>
            <a:off x="659866" y="3984545"/>
            <a:ext cx="1998667" cy="1813330"/>
            <a:chOff x="659866" y="3984545"/>
            <a:chExt cx="1998667" cy="1813330"/>
          </a:xfrm>
        </p:grpSpPr>
        <p:sp>
          <p:nvSpPr>
            <p:cNvPr id="15" name="Retângulo: Cantos Arredondados 14">
              <a:extLst>
                <a:ext uri="{FF2B5EF4-FFF2-40B4-BE49-F238E27FC236}">
                  <a16:creationId xmlns:a16="http://schemas.microsoft.com/office/drawing/2014/main" id="{7B730C43-6502-A524-9711-ACA9EBCF30D1}"/>
                </a:ext>
              </a:extLst>
            </p:cNvPr>
            <p:cNvSpPr/>
            <p:nvPr/>
          </p:nvSpPr>
          <p:spPr>
            <a:xfrm>
              <a:off x="659866" y="3984545"/>
              <a:ext cx="1998667" cy="1813330"/>
            </a:xfrm>
            <a:prstGeom prst="roundRect">
              <a:avLst>
                <a:gd name="adj" fmla="val 7662"/>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49" name="TextBox 44">
              <a:extLst>
                <a:ext uri="{FF2B5EF4-FFF2-40B4-BE49-F238E27FC236}">
                  <a16:creationId xmlns:a16="http://schemas.microsoft.com/office/drawing/2014/main" id="{9AFF3661-0623-D021-3653-A8E652E27698}"/>
                </a:ext>
              </a:extLst>
            </p:cNvPr>
            <p:cNvSpPr txBox="1"/>
            <p:nvPr/>
          </p:nvSpPr>
          <p:spPr>
            <a:xfrm>
              <a:off x="837640" y="4212084"/>
              <a:ext cx="1647980"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50" name="TextBox 44">
              <a:extLst>
                <a:ext uri="{FF2B5EF4-FFF2-40B4-BE49-F238E27FC236}">
                  <a16:creationId xmlns:a16="http://schemas.microsoft.com/office/drawing/2014/main" id="{97600153-C92B-0B91-AE45-E105D87A9C6B}"/>
                </a:ext>
              </a:extLst>
            </p:cNvPr>
            <p:cNvSpPr txBox="1"/>
            <p:nvPr/>
          </p:nvSpPr>
          <p:spPr>
            <a:xfrm>
              <a:off x="837640" y="4698300"/>
              <a:ext cx="1647980"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54" name="TextBox 44">
              <a:extLst>
                <a:ext uri="{FF2B5EF4-FFF2-40B4-BE49-F238E27FC236}">
                  <a16:creationId xmlns:a16="http://schemas.microsoft.com/office/drawing/2014/main" id="{19B45C0D-9277-6377-51F3-8A87E5DCC506}"/>
                </a:ext>
              </a:extLst>
            </p:cNvPr>
            <p:cNvSpPr txBox="1"/>
            <p:nvPr/>
          </p:nvSpPr>
          <p:spPr>
            <a:xfrm>
              <a:off x="837640" y="5184517"/>
              <a:ext cx="1477181"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grpSp>
      <p:sp>
        <p:nvSpPr>
          <p:cNvPr id="59" name="TextBox 52">
            <a:extLst>
              <a:ext uri="{FF2B5EF4-FFF2-40B4-BE49-F238E27FC236}">
                <a16:creationId xmlns:a16="http://schemas.microsoft.com/office/drawing/2014/main" id="{9A247E1C-A12C-4EA8-8406-EEBBDDB276BB}"/>
              </a:ext>
            </a:extLst>
          </p:cNvPr>
          <p:cNvSpPr txBox="1"/>
          <p:nvPr/>
        </p:nvSpPr>
        <p:spPr>
          <a:xfrm>
            <a:off x="3140076" y="3140900"/>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Morgana</a:t>
            </a:r>
          </a:p>
        </p:txBody>
      </p:sp>
      <p:sp>
        <p:nvSpPr>
          <p:cNvPr id="60" name="Retângulo: Cantos Arredondados 59">
            <a:extLst>
              <a:ext uri="{FF2B5EF4-FFF2-40B4-BE49-F238E27FC236}">
                <a16:creationId xmlns:a16="http://schemas.microsoft.com/office/drawing/2014/main" id="{61FFFA10-B97F-C1BD-B126-E4BF37F755F8}"/>
              </a:ext>
            </a:extLst>
          </p:cNvPr>
          <p:cNvSpPr/>
          <p:nvPr/>
        </p:nvSpPr>
        <p:spPr>
          <a:xfrm>
            <a:off x="2930763" y="3435294"/>
            <a:ext cx="1927963" cy="271951"/>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0000"/>
              </a:lnSpc>
              <a:spcAft>
                <a:spcPts val="800"/>
              </a:spcAft>
            </a:pPr>
            <a:r>
              <a:rPr lang="en-US" sz="10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[Role — TBC]</a:t>
            </a:r>
          </a:p>
        </p:txBody>
      </p:sp>
      <p:grpSp>
        <p:nvGrpSpPr>
          <p:cNvPr id="128" name="Agrupar 127">
            <a:extLst>
              <a:ext uri="{FF2B5EF4-FFF2-40B4-BE49-F238E27FC236}">
                <a16:creationId xmlns:a16="http://schemas.microsoft.com/office/drawing/2014/main" id="{C9645B83-CAD5-8F7F-A37D-78558C5F26CD}"/>
              </a:ext>
            </a:extLst>
          </p:cNvPr>
          <p:cNvGrpSpPr/>
          <p:nvPr/>
        </p:nvGrpSpPr>
        <p:grpSpPr>
          <a:xfrm>
            <a:off x="2895411" y="3984545"/>
            <a:ext cx="1998667" cy="1813330"/>
            <a:chOff x="2895411" y="3984545"/>
            <a:chExt cx="1998667" cy="1813330"/>
          </a:xfrm>
        </p:grpSpPr>
        <p:sp>
          <p:nvSpPr>
            <p:cNvPr id="61" name="Retângulo: Cantos Arredondados 60">
              <a:extLst>
                <a:ext uri="{FF2B5EF4-FFF2-40B4-BE49-F238E27FC236}">
                  <a16:creationId xmlns:a16="http://schemas.microsoft.com/office/drawing/2014/main" id="{F21175B9-2953-736F-413F-98BCC59B68AF}"/>
                </a:ext>
              </a:extLst>
            </p:cNvPr>
            <p:cNvSpPr/>
            <p:nvPr/>
          </p:nvSpPr>
          <p:spPr>
            <a:xfrm>
              <a:off x="2895411" y="3984545"/>
              <a:ext cx="1998667" cy="1813330"/>
            </a:xfrm>
            <a:prstGeom prst="roundRect">
              <a:avLst>
                <a:gd name="adj" fmla="val 7662"/>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62" name="TextBox 44">
              <a:extLst>
                <a:ext uri="{FF2B5EF4-FFF2-40B4-BE49-F238E27FC236}">
                  <a16:creationId xmlns:a16="http://schemas.microsoft.com/office/drawing/2014/main" id="{7319F6DE-DB4D-9112-18D5-C37361AA87B2}"/>
                </a:ext>
              </a:extLst>
            </p:cNvPr>
            <p:cNvSpPr txBox="1"/>
            <p:nvPr/>
          </p:nvSpPr>
          <p:spPr>
            <a:xfrm>
              <a:off x="3073185" y="4212084"/>
              <a:ext cx="1608256"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63" name="TextBox 44">
              <a:extLst>
                <a:ext uri="{FF2B5EF4-FFF2-40B4-BE49-F238E27FC236}">
                  <a16:creationId xmlns:a16="http://schemas.microsoft.com/office/drawing/2014/main" id="{516F5B0B-6C41-9871-C42E-3E54883A2119}"/>
                </a:ext>
              </a:extLst>
            </p:cNvPr>
            <p:cNvSpPr txBox="1"/>
            <p:nvPr/>
          </p:nvSpPr>
          <p:spPr>
            <a:xfrm>
              <a:off x="3073185" y="4737663"/>
              <a:ext cx="1477182" cy="603627"/>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grpSp>
      <p:sp>
        <p:nvSpPr>
          <p:cNvPr id="68" name="TextBox 52">
            <a:extLst>
              <a:ext uri="{FF2B5EF4-FFF2-40B4-BE49-F238E27FC236}">
                <a16:creationId xmlns:a16="http://schemas.microsoft.com/office/drawing/2014/main" id="{40610624-EFB3-07EA-9FE5-7D98E86B0E7B}"/>
              </a:ext>
            </a:extLst>
          </p:cNvPr>
          <p:cNvSpPr txBox="1"/>
          <p:nvPr/>
        </p:nvSpPr>
        <p:spPr>
          <a:xfrm>
            <a:off x="5375621" y="3140900"/>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Pedro</a:t>
            </a:r>
          </a:p>
        </p:txBody>
      </p:sp>
      <p:sp>
        <p:nvSpPr>
          <p:cNvPr id="69" name="Retângulo: Cantos Arredondados 68">
            <a:extLst>
              <a:ext uri="{FF2B5EF4-FFF2-40B4-BE49-F238E27FC236}">
                <a16:creationId xmlns:a16="http://schemas.microsoft.com/office/drawing/2014/main" id="{6C4EF534-72B2-F591-C413-7BAE8475D692}"/>
              </a:ext>
            </a:extLst>
          </p:cNvPr>
          <p:cNvSpPr/>
          <p:nvPr/>
        </p:nvSpPr>
        <p:spPr>
          <a:xfrm>
            <a:off x="5166308" y="3435294"/>
            <a:ext cx="1927963" cy="271951"/>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0000"/>
              </a:lnSpc>
              <a:spcAft>
                <a:spcPts val="800"/>
              </a:spcAft>
            </a:pPr>
            <a:r>
              <a:rPr lang="en-US" sz="10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[Role — TBC]</a:t>
            </a:r>
          </a:p>
        </p:txBody>
      </p:sp>
      <p:grpSp>
        <p:nvGrpSpPr>
          <p:cNvPr id="130" name="Agrupar 129">
            <a:extLst>
              <a:ext uri="{FF2B5EF4-FFF2-40B4-BE49-F238E27FC236}">
                <a16:creationId xmlns:a16="http://schemas.microsoft.com/office/drawing/2014/main" id="{782ED6F4-CD06-AD9B-9E89-1106B8A31304}"/>
              </a:ext>
            </a:extLst>
          </p:cNvPr>
          <p:cNvGrpSpPr/>
          <p:nvPr/>
        </p:nvGrpSpPr>
        <p:grpSpPr>
          <a:xfrm>
            <a:off x="5130956" y="3984545"/>
            <a:ext cx="1998667" cy="1813330"/>
            <a:chOff x="5130956" y="3984545"/>
            <a:chExt cx="1998667" cy="1813330"/>
          </a:xfrm>
        </p:grpSpPr>
        <p:sp>
          <p:nvSpPr>
            <p:cNvPr id="70" name="Retângulo: Cantos Arredondados 69">
              <a:extLst>
                <a:ext uri="{FF2B5EF4-FFF2-40B4-BE49-F238E27FC236}">
                  <a16:creationId xmlns:a16="http://schemas.microsoft.com/office/drawing/2014/main" id="{1A8B75AA-D82D-BB9D-3395-CB1EE51BE346}"/>
                </a:ext>
              </a:extLst>
            </p:cNvPr>
            <p:cNvSpPr/>
            <p:nvPr/>
          </p:nvSpPr>
          <p:spPr>
            <a:xfrm>
              <a:off x="5130956" y="3984545"/>
              <a:ext cx="1998667" cy="1813330"/>
            </a:xfrm>
            <a:prstGeom prst="roundRect">
              <a:avLst>
                <a:gd name="adj" fmla="val 7662"/>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71" name="TextBox 44">
              <a:extLst>
                <a:ext uri="{FF2B5EF4-FFF2-40B4-BE49-F238E27FC236}">
                  <a16:creationId xmlns:a16="http://schemas.microsoft.com/office/drawing/2014/main" id="{9603E855-4D1E-EE32-AB7B-341ED84B1D6A}"/>
                </a:ext>
              </a:extLst>
            </p:cNvPr>
            <p:cNvSpPr txBox="1"/>
            <p:nvPr/>
          </p:nvSpPr>
          <p:spPr>
            <a:xfrm>
              <a:off x="5308730" y="4212084"/>
              <a:ext cx="1361276"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72" name="TextBox 44">
              <a:extLst>
                <a:ext uri="{FF2B5EF4-FFF2-40B4-BE49-F238E27FC236}">
                  <a16:creationId xmlns:a16="http://schemas.microsoft.com/office/drawing/2014/main" id="{3FDCD068-BC89-6200-1C50-D33CF83D75F2}"/>
                </a:ext>
              </a:extLst>
            </p:cNvPr>
            <p:cNvSpPr txBox="1"/>
            <p:nvPr/>
          </p:nvSpPr>
          <p:spPr>
            <a:xfrm>
              <a:off x="5308730" y="4737663"/>
              <a:ext cx="1526170" cy="603627"/>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grpSp>
      <p:sp>
        <p:nvSpPr>
          <p:cNvPr id="76" name="TextBox 52">
            <a:extLst>
              <a:ext uri="{FF2B5EF4-FFF2-40B4-BE49-F238E27FC236}">
                <a16:creationId xmlns:a16="http://schemas.microsoft.com/office/drawing/2014/main" id="{E07CDE0B-8B88-1DE4-C7B1-02D2E013CA64}"/>
              </a:ext>
            </a:extLst>
          </p:cNvPr>
          <p:cNvSpPr txBox="1"/>
          <p:nvPr/>
        </p:nvSpPr>
        <p:spPr>
          <a:xfrm>
            <a:off x="7611166" y="3140900"/>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Gabriela</a:t>
            </a:r>
          </a:p>
        </p:txBody>
      </p:sp>
      <p:sp>
        <p:nvSpPr>
          <p:cNvPr id="77" name="Retângulo: Cantos Arredondados 76">
            <a:extLst>
              <a:ext uri="{FF2B5EF4-FFF2-40B4-BE49-F238E27FC236}">
                <a16:creationId xmlns:a16="http://schemas.microsoft.com/office/drawing/2014/main" id="{36806910-A2AE-4444-3847-D9ECCEAFCFA3}"/>
              </a:ext>
            </a:extLst>
          </p:cNvPr>
          <p:cNvSpPr/>
          <p:nvPr/>
        </p:nvSpPr>
        <p:spPr>
          <a:xfrm>
            <a:off x="7401853" y="3435294"/>
            <a:ext cx="1927963" cy="271951"/>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0000"/>
              </a:lnSpc>
              <a:spcAft>
                <a:spcPts val="800"/>
              </a:spcAft>
            </a:pPr>
            <a:r>
              <a:rPr lang="en-US" sz="10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[Role — TBC]</a:t>
            </a:r>
          </a:p>
        </p:txBody>
      </p:sp>
      <p:grpSp>
        <p:nvGrpSpPr>
          <p:cNvPr id="125" name="Agrupar 124">
            <a:extLst>
              <a:ext uri="{FF2B5EF4-FFF2-40B4-BE49-F238E27FC236}">
                <a16:creationId xmlns:a16="http://schemas.microsoft.com/office/drawing/2014/main" id="{262114B2-2A35-798F-D34E-F1DF5950880B}"/>
              </a:ext>
            </a:extLst>
          </p:cNvPr>
          <p:cNvGrpSpPr/>
          <p:nvPr/>
        </p:nvGrpSpPr>
        <p:grpSpPr>
          <a:xfrm>
            <a:off x="7366501" y="3984545"/>
            <a:ext cx="1998667" cy="1813330"/>
            <a:chOff x="7366501" y="3984545"/>
            <a:chExt cx="1998667" cy="1813330"/>
          </a:xfrm>
        </p:grpSpPr>
        <p:sp>
          <p:nvSpPr>
            <p:cNvPr id="78" name="Retângulo: Cantos Arredondados 77">
              <a:extLst>
                <a:ext uri="{FF2B5EF4-FFF2-40B4-BE49-F238E27FC236}">
                  <a16:creationId xmlns:a16="http://schemas.microsoft.com/office/drawing/2014/main" id="{20EF4EA4-803C-C2B5-4487-4FC1D8ECCE3E}"/>
                </a:ext>
              </a:extLst>
            </p:cNvPr>
            <p:cNvSpPr/>
            <p:nvPr/>
          </p:nvSpPr>
          <p:spPr>
            <a:xfrm>
              <a:off x="7366501" y="3984545"/>
              <a:ext cx="1998667" cy="1813330"/>
            </a:xfrm>
            <a:prstGeom prst="roundRect">
              <a:avLst>
                <a:gd name="adj" fmla="val 7662"/>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79" name="TextBox 44">
              <a:extLst>
                <a:ext uri="{FF2B5EF4-FFF2-40B4-BE49-F238E27FC236}">
                  <a16:creationId xmlns:a16="http://schemas.microsoft.com/office/drawing/2014/main" id="{A5BDDD78-F759-B6C7-E0EA-B59BFB6DC87C}"/>
                </a:ext>
              </a:extLst>
            </p:cNvPr>
            <p:cNvSpPr txBox="1"/>
            <p:nvPr/>
          </p:nvSpPr>
          <p:spPr>
            <a:xfrm>
              <a:off x="7544276" y="4212059"/>
              <a:ext cx="1612851" cy="146579"/>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80" name="TextBox 44">
              <a:extLst>
                <a:ext uri="{FF2B5EF4-FFF2-40B4-BE49-F238E27FC236}">
                  <a16:creationId xmlns:a16="http://schemas.microsoft.com/office/drawing/2014/main" id="{ED91996A-EC87-BB34-84CD-DC4DFE5825B4}"/>
                </a:ext>
              </a:extLst>
            </p:cNvPr>
            <p:cNvSpPr txBox="1"/>
            <p:nvPr/>
          </p:nvSpPr>
          <p:spPr>
            <a:xfrm>
              <a:off x="7544276" y="4590616"/>
              <a:ext cx="1612851"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81" name="TextBox 44">
              <a:extLst>
                <a:ext uri="{FF2B5EF4-FFF2-40B4-BE49-F238E27FC236}">
                  <a16:creationId xmlns:a16="http://schemas.microsoft.com/office/drawing/2014/main" id="{41F31A03-C668-0E39-FB62-5D6B4D8EF2AF}"/>
                </a:ext>
              </a:extLst>
            </p:cNvPr>
            <p:cNvSpPr txBox="1"/>
            <p:nvPr/>
          </p:nvSpPr>
          <p:spPr>
            <a:xfrm>
              <a:off x="7544276" y="5072222"/>
              <a:ext cx="1612851"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grpSp>
      <p:sp>
        <p:nvSpPr>
          <p:cNvPr id="84" name="TextBox 52">
            <a:extLst>
              <a:ext uri="{FF2B5EF4-FFF2-40B4-BE49-F238E27FC236}">
                <a16:creationId xmlns:a16="http://schemas.microsoft.com/office/drawing/2014/main" id="{1DD7AA2D-4F94-0F5B-AE6D-CE67C141C89C}"/>
              </a:ext>
            </a:extLst>
          </p:cNvPr>
          <p:cNvSpPr txBox="1"/>
          <p:nvPr/>
        </p:nvSpPr>
        <p:spPr>
          <a:xfrm>
            <a:off x="9846712" y="3140900"/>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[Name — TBC]</a:t>
            </a:r>
          </a:p>
        </p:txBody>
      </p:sp>
      <p:sp>
        <p:nvSpPr>
          <p:cNvPr id="85" name="Retângulo: Cantos Arredondados 84">
            <a:extLst>
              <a:ext uri="{FF2B5EF4-FFF2-40B4-BE49-F238E27FC236}">
                <a16:creationId xmlns:a16="http://schemas.microsoft.com/office/drawing/2014/main" id="{71A7BB0C-0CE1-A853-22C9-F97ED56B4370}"/>
              </a:ext>
            </a:extLst>
          </p:cNvPr>
          <p:cNvSpPr/>
          <p:nvPr/>
        </p:nvSpPr>
        <p:spPr>
          <a:xfrm>
            <a:off x="9637399" y="3435294"/>
            <a:ext cx="1927963" cy="271951"/>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0000"/>
              </a:lnSpc>
              <a:spcAft>
                <a:spcPts val="800"/>
              </a:spcAft>
            </a:pPr>
            <a:r>
              <a:rPr lang="en-US" sz="100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[Role — TBC]</a:t>
            </a:r>
          </a:p>
        </p:txBody>
      </p:sp>
      <p:grpSp>
        <p:nvGrpSpPr>
          <p:cNvPr id="132" name="Agrupar 131">
            <a:extLst>
              <a:ext uri="{FF2B5EF4-FFF2-40B4-BE49-F238E27FC236}">
                <a16:creationId xmlns:a16="http://schemas.microsoft.com/office/drawing/2014/main" id="{3AF4383A-F13F-8911-1FAC-CAB4E2D84B53}"/>
              </a:ext>
            </a:extLst>
          </p:cNvPr>
          <p:cNvGrpSpPr/>
          <p:nvPr/>
        </p:nvGrpSpPr>
        <p:grpSpPr>
          <a:xfrm>
            <a:off x="9602047" y="3984545"/>
            <a:ext cx="1998667" cy="1813330"/>
            <a:chOff x="9602047" y="3984545"/>
            <a:chExt cx="1998667" cy="1813330"/>
          </a:xfrm>
        </p:grpSpPr>
        <p:sp>
          <p:nvSpPr>
            <p:cNvPr id="86" name="Retângulo: Cantos Arredondados 85">
              <a:extLst>
                <a:ext uri="{FF2B5EF4-FFF2-40B4-BE49-F238E27FC236}">
                  <a16:creationId xmlns:a16="http://schemas.microsoft.com/office/drawing/2014/main" id="{2725AD55-91D3-CC91-FE2B-663A5DAADCC3}"/>
                </a:ext>
              </a:extLst>
            </p:cNvPr>
            <p:cNvSpPr/>
            <p:nvPr/>
          </p:nvSpPr>
          <p:spPr>
            <a:xfrm>
              <a:off x="9602047" y="3984545"/>
              <a:ext cx="1998667" cy="1813330"/>
            </a:xfrm>
            <a:prstGeom prst="roundRect">
              <a:avLst>
                <a:gd name="adj" fmla="val 7662"/>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87" name="TextBox 44">
              <a:extLst>
                <a:ext uri="{FF2B5EF4-FFF2-40B4-BE49-F238E27FC236}">
                  <a16:creationId xmlns:a16="http://schemas.microsoft.com/office/drawing/2014/main" id="{34899587-CB90-9425-320D-1A9F77B11BDC}"/>
                </a:ext>
              </a:extLst>
            </p:cNvPr>
            <p:cNvSpPr txBox="1"/>
            <p:nvPr/>
          </p:nvSpPr>
          <p:spPr>
            <a:xfrm>
              <a:off x="9779822" y="4212084"/>
              <a:ext cx="1676311" cy="298928"/>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88" name="TextBox 44">
              <a:extLst>
                <a:ext uri="{FF2B5EF4-FFF2-40B4-BE49-F238E27FC236}">
                  <a16:creationId xmlns:a16="http://schemas.microsoft.com/office/drawing/2014/main" id="{100D8D75-F8C6-DC53-3928-B3BE4D431F5E}"/>
                </a:ext>
              </a:extLst>
            </p:cNvPr>
            <p:cNvSpPr txBox="1"/>
            <p:nvPr/>
          </p:nvSpPr>
          <p:spPr>
            <a:xfrm>
              <a:off x="9779822" y="4740548"/>
              <a:ext cx="1361276" cy="146579"/>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sp>
          <p:nvSpPr>
            <p:cNvPr id="89" name="TextBox 44">
              <a:extLst>
                <a:ext uri="{FF2B5EF4-FFF2-40B4-BE49-F238E27FC236}">
                  <a16:creationId xmlns:a16="http://schemas.microsoft.com/office/drawing/2014/main" id="{F675AE9A-41A0-E78D-0D59-127A871BD34E}"/>
                </a:ext>
              </a:extLst>
            </p:cNvPr>
            <p:cNvSpPr txBox="1"/>
            <p:nvPr/>
          </p:nvSpPr>
          <p:spPr>
            <a:xfrm>
              <a:off x="9779822" y="5116663"/>
              <a:ext cx="1361276" cy="146579"/>
            </a:xfrm>
            <a:prstGeom prst="rect">
              <a:avLst/>
            </a:prstGeom>
            <a:noFill/>
          </p:spPr>
          <p:txBody>
            <a:bodyPr wrap="square" lIns="0" tIns="0" rIns="0" bIns="0" rtlCol="0">
              <a:spAutoFit/>
            </a:bodyPr>
            <a:lstStyle/>
            <a:p>
              <a:pPr marL="72000" indent="-72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[Background — TBC]</a:t>
              </a:r>
            </a:p>
          </p:txBody>
        </p:sp>
      </p:grpSp>
      <p:sp>
        <p:nvSpPr>
          <p:cNvPr id="91" name="CaixaDeTexto 3">
            <a:extLst>
              <a:ext uri="{FF2B5EF4-FFF2-40B4-BE49-F238E27FC236}">
                <a16:creationId xmlns:a16="http://schemas.microsoft.com/office/drawing/2014/main" id="{061B0A84-BAAA-01CD-99A7-E5CB71D85C66}"/>
              </a:ext>
            </a:extLst>
          </p:cNvPr>
          <p:cNvSpPr txBox="1"/>
          <p:nvPr/>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solidFill>
                  <a:schemeClr val="bg1"/>
                </a:solidFill>
              </a:rPr>
              <a:t>Company Overview</a:t>
            </a:r>
          </a:p>
        </p:txBody>
      </p:sp>
      <p:pic>
        <p:nvPicPr>
          <p:cNvPr id="92" name="Gráfico 14">
            <a:extLst>
              <a:ext uri="{FF2B5EF4-FFF2-40B4-BE49-F238E27FC236}">
                <a16:creationId xmlns:a16="http://schemas.microsoft.com/office/drawing/2014/main" id="{E83255C7-5414-3EB7-9463-B4378D6D93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1969" y="307275"/>
            <a:ext cx="354839" cy="303818"/>
          </a:xfrm>
          <a:prstGeom prst="rect">
            <a:avLst/>
          </a:prstGeom>
        </p:spPr>
      </p:pic>
      <p:pic>
        <p:nvPicPr>
          <p:cNvPr id="9" name="Imagem 74">
            <a:extLst>
              <a:ext uri="{FF2B5EF4-FFF2-40B4-BE49-F238E27FC236}">
                <a16:creationId xmlns:a16="http://schemas.microsoft.com/office/drawing/2014/main" id="{42635AC7-3D17-4953-D21B-EAAC844FE27F}"/>
              </a:ext>
            </a:extLst>
          </p:cNvPr>
          <p:cNvPicPr>
            <a:picLocks noChangeAspect="1"/>
          </p:cNvPicPr>
          <p:nvPr/>
        </p:nvPicPr>
        <p:blipFill>
          <a:blip r:embed="rId5">
            <a:extLst>
              <a:ext uri="{28A0092B-C50C-407E-A947-70E740481C1C}">
                <a14:useLocalDpi xmlns:a14="http://schemas.microsoft.com/office/drawing/2010/main" val="0"/>
              </a:ext>
            </a:extLst>
          </a:blip>
          <a:srcRect l="13693" t="169" r="19695" b="33220"/>
          <a:stretch>
            <a:fillRect/>
          </a:stretch>
        </p:blipFill>
        <p:spPr>
          <a:xfrm>
            <a:off x="7680761" y="1629223"/>
            <a:ext cx="1371600" cy="1371600"/>
          </a:xfrm>
          <a:prstGeom prst="ellipse">
            <a:avLst/>
          </a:prstGeom>
        </p:spPr>
      </p:pic>
      <p:pic>
        <p:nvPicPr>
          <p:cNvPr id="16" name="Picture 15">
            <a:extLst>
              <a:ext uri="{FF2B5EF4-FFF2-40B4-BE49-F238E27FC236}">
                <a16:creationId xmlns:a16="http://schemas.microsoft.com/office/drawing/2014/main" id="{84C011DF-F954-A963-0D49-C371A4F6E8DF}"/>
              </a:ext>
            </a:extLst>
          </p:cNvPr>
          <p:cNvPicPr>
            <a:picLocks noChangeAspect="1"/>
          </p:cNvPicPr>
          <p:nvPr/>
        </p:nvPicPr>
        <p:blipFill>
          <a:blip r:embed="rId5">
            <a:extLst>
              <a:ext uri="{28A0092B-C50C-407E-A947-70E740481C1C}">
                <a14:useLocalDpi xmlns:a14="http://schemas.microsoft.com/office/drawing/2010/main" val="0"/>
              </a:ext>
            </a:extLst>
          </a:blip>
          <a:srcRect l="6764" t="17494" r="3813" b="32319"/>
          <a:stretch>
            <a:fillRect/>
          </a:stretch>
        </p:blipFill>
        <p:spPr>
          <a:xfrm>
            <a:off x="5444489" y="1630677"/>
            <a:ext cx="1371600" cy="1371600"/>
          </a:xfrm>
          <a:prstGeom prst="ellipse">
            <a:avLst/>
          </a:prstGeom>
          <a:blipFill>
            <a:blip r:embed="rId6"/>
            <a:stretch>
              <a:fillRect/>
            </a:stretch>
          </a:blipFill>
          <a:ln w="12700">
            <a:noFill/>
          </a:ln>
        </p:spPr>
      </p:pic>
      <p:pic>
        <p:nvPicPr>
          <p:cNvPr id="19" name="Imagem 57">
            <a:extLst>
              <a:ext uri="{FF2B5EF4-FFF2-40B4-BE49-F238E27FC236}">
                <a16:creationId xmlns:a16="http://schemas.microsoft.com/office/drawing/2014/main" id="{1CE3AAB3-541B-BE3D-BC9C-F107AABE7D35}"/>
              </a:ext>
            </a:extLst>
          </p:cNvPr>
          <p:cNvPicPr>
            <a:picLocks noChangeAspect="1"/>
          </p:cNvPicPr>
          <p:nvPr/>
        </p:nvPicPr>
        <p:blipFill>
          <a:blip r:embed="rId5">
            <a:extLst>
              <a:ext uri="{28A0092B-C50C-407E-A947-70E740481C1C}">
                <a14:useLocalDpi xmlns:a14="http://schemas.microsoft.com/office/drawing/2010/main" val="0"/>
              </a:ext>
            </a:extLst>
          </a:blip>
          <a:srcRect l="4739" t="1" r="6748" b="28767"/>
          <a:stretch>
            <a:fillRect/>
          </a:stretch>
        </p:blipFill>
        <p:spPr>
          <a:xfrm>
            <a:off x="3208944" y="1630677"/>
            <a:ext cx="1371600" cy="1370145"/>
          </a:xfrm>
          <a:prstGeom prst="ellipse">
            <a:avLst/>
          </a:prstGeom>
        </p:spPr>
      </p:pic>
      <p:pic>
        <p:nvPicPr>
          <p:cNvPr id="21" name="Picture 20">
            <a:extLst>
              <a:ext uri="{FF2B5EF4-FFF2-40B4-BE49-F238E27FC236}">
                <a16:creationId xmlns:a16="http://schemas.microsoft.com/office/drawing/2014/main" id="{BBE22908-7605-0EC4-F928-43B2C0874021}"/>
              </a:ext>
            </a:extLst>
          </p:cNvPr>
          <p:cNvPicPr>
            <a:picLocks noChangeAspect="1"/>
          </p:cNvPicPr>
          <p:nvPr/>
        </p:nvPicPr>
        <p:blipFill>
          <a:blip r:embed="rId3"/>
          <a:stretch>
            <a:fillRect/>
          </a:stretch>
        </p:blipFill>
        <p:spPr>
          <a:xfrm>
            <a:off x="9914853" y="1629223"/>
            <a:ext cx="1371600" cy="1371600"/>
          </a:xfrm>
          <a:prstGeom prst="ellipse">
            <a:avLst/>
          </a:prstGeom>
        </p:spPr>
      </p:pic>
    </p:spTree>
    <p:extLst>
      <p:ext uri="{BB962C8B-B14F-4D97-AF65-F5344CB8AC3E}">
        <p14:creationId xmlns:p14="http://schemas.microsoft.com/office/powerpoint/2010/main" val="3589684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955F8-FF39-4DA6-9178-E7E63F3BF327}"/>
            </a:ext>
          </a:extLst>
        </p:cNvPr>
        <p:cNvGrpSpPr/>
        <p:nvPr/>
      </p:nvGrpSpPr>
      <p:grpSpPr>
        <a:xfrm>
          <a:off x="0" y="0"/>
          <a:ext cx="0" cy="0"/>
          <a:chOff x="0" y="0"/>
          <a:chExt cx="0" cy="0"/>
        </a:xfrm>
      </p:grpSpPr>
      <p:cxnSp>
        <p:nvCxnSpPr>
          <p:cNvPr id="159" name="Conector reto 158">
            <a:extLst>
              <a:ext uri="{FF2B5EF4-FFF2-40B4-BE49-F238E27FC236}">
                <a16:creationId xmlns:a16="http://schemas.microsoft.com/office/drawing/2014/main" id="{159B8072-893C-1435-A375-26F374DE6B03}"/>
              </a:ext>
            </a:extLst>
          </p:cNvPr>
          <p:cNvCxnSpPr>
            <a:cxnSpLocks/>
            <a:endCxn id="129" idx="0"/>
          </p:cNvCxnSpPr>
          <p:nvPr/>
        </p:nvCxnSpPr>
        <p:spPr>
          <a:xfrm>
            <a:off x="4253587" y="3302839"/>
            <a:ext cx="0" cy="187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Conector: Angulado 149">
            <a:extLst>
              <a:ext uri="{FF2B5EF4-FFF2-40B4-BE49-F238E27FC236}">
                <a16:creationId xmlns:a16="http://schemas.microsoft.com/office/drawing/2014/main" id="{C62D1B8B-AFB4-5DE0-10BF-C398C20ACD6D}"/>
              </a:ext>
            </a:extLst>
          </p:cNvPr>
          <p:cNvCxnSpPr>
            <a:cxnSpLocks noGrp="1" noRot="1" noMove="1" noResize="1" noEditPoints="1" noAdjustHandles="1" noChangeArrowheads="1" noChangeShapeType="1"/>
            <a:stCxn id="30" idx="2"/>
            <a:endCxn id="138" idx="2"/>
          </p:cNvCxnSpPr>
          <p:nvPr/>
        </p:nvCxnSpPr>
        <p:spPr>
          <a:xfrm rot="16200000" flipH="1">
            <a:off x="7722340" y="1652447"/>
            <a:ext cx="1748483" cy="4836063"/>
          </a:xfrm>
          <a:prstGeom prst="bentConnector3">
            <a:avLst>
              <a:gd name="adj1" fmla="val 6138"/>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3" name="Retângulo: Cantos Arredondados 202">
            <a:extLst>
              <a:ext uri="{FF2B5EF4-FFF2-40B4-BE49-F238E27FC236}">
                <a16:creationId xmlns:a16="http://schemas.microsoft.com/office/drawing/2014/main" id="{3A956F30-7C57-79C6-E3E3-5E599ED29D27}"/>
              </a:ext>
            </a:extLst>
          </p:cNvPr>
          <p:cNvSpPr/>
          <p:nvPr/>
        </p:nvSpPr>
        <p:spPr>
          <a:xfrm>
            <a:off x="6863938" y="1734402"/>
            <a:ext cx="1905989" cy="507834"/>
          </a:xfrm>
          <a:prstGeom prst="roundRect">
            <a:avLst>
              <a:gd name="adj" fmla="val 50000"/>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02" name="Retângulo: Cantos Arredondados 201">
            <a:extLst>
              <a:ext uri="{FF2B5EF4-FFF2-40B4-BE49-F238E27FC236}">
                <a16:creationId xmlns:a16="http://schemas.microsoft.com/office/drawing/2014/main" id="{A61104AD-0EA0-7E39-18E0-230AE0EFB579}"/>
              </a:ext>
            </a:extLst>
          </p:cNvPr>
          <p:cNvSpPr/>
          <p:nvPr/>
        </p:nvSpPr>
        <p:spPr>
          <a:xfrm>
            <a:off x="755469" y="2008221"/>
            <a:ext cx="2107288" cy="855109"/>
          </a:xfrm>
          <a:prstGeom prst="roundRect">
            <a:avLst>
              <a:gd name="adj" fmla="val 6536"/>
            </a:avLst>
          </a:prstGeom>
          <a:solidFill>
            <a:schemeClr val="bg1"/>
          </a:solidFill>
          <a:ln>
            <a:noFill/>
          </a:ln>
          <a:effectLst>
            <a:outerShdw blurRad="63500" algn="ctr"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800"/>
              </a:spcAft>
            </a:pPr>
            <a:endParaRPr lang="en-US" sz="1600" b="1"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4" name="Título 3">
            <a:extLst>
              <a:ext uri="{FF2B5EF4-FFF2-40B4-BE49-F238E27FC236}">
                <a16:creationId xmlns:a16="http://schemas.microsoft.com/office/drawing/2014/main" id="{3CB8F456-1255-EF91-D1CB-BA0A0D77C251}"/>
              </a:ext>
            </a:extLst>
          </p:cNvPr>
          <p:cNvSpPr>
            <a:spLocks noGrp="1"/>
          </p:cNvSpPr>
          <p:nvPr>
            <p:ph type="title"/>
          </p:nvPr>
        </p:nvSpPr>
        <p:spPr>
          <a:ln>
            <a:noFill/>
          </a:ln>
        </p:spPr>
        <p:style>
          <a:lnRef idx="2">
            <a:schemeClr val="accent1"/>
          </a:lnRef>
          <a:fillRef idx="1">
            <a:schemeClr val="lt1"/>
          </a:fillRef>
          <a:effectRef idx="0">
            <a:schemeClr val="accent1"/>
          </a:effectRef>
          <a:fontRef idx="minor">
            <a:schemeClr val="dk1"/>
          </a:fontRef>
        </p:style>
        <p:txBody>
          <a:bodyPr vert="horz" lIns="0" tIns="0" rIns="0" bIns="0" rtlCol="0" anchor="t" anchorCtr="0">
            <a:noAutofit/>
          </a:bodyPr>
          <a:lstStyle/>
          <a:p>
            <a:r>
              <a:rPr lang="pt-BR" dirty="0">
                <a:solidFill>
                  <a:schemeClr val="accent1"/>
                </a:solidFill>
                <a:latin typeface="Poppins" panose="00000500000000000000" pitchFamily="2" charset="0"/>
                <a:ea typeface="Source Serif Pro" panose="02040603050405020204" pitchFamily="18" charset="0"/>
                <a:cs typeface="Poppins" panose="00000500000000000000" pitchFamily="2" charset="0"/>
              </a:rPr>
              <a:t>Organization chart</a:t>
            </a:r>
            <a:endParaRPr lang="pt-BR" sz="1800" dirty="0">
              <a:solidFill>
                <a:schemeClr val="accent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 name="Espaço Reservado para Conteúdo 4">
            <a:extLst>
              <a:ext uri="{FF2B5EF4-FFF2-40B4-BE49-F238E27FC236}">
                <a16:creationId xmlns:a16="http://schemas.microsoft.com/office/drawing/2014/main" id="{F9A25AE7-5F23-FA47-7427-CDC9C959C598}"/>
              </a:ext>
            </a:extLst>
          </p:cNvPr>
          <p:cNvSpPr>
            <a:spLocks noGrp="1"/>
          </p:cNvSpPr>
          <p:nvPr>
            <p:ph sz="quarter" idx="13"/>
          </p:nvPr>
        </p:nvSpPr>
        <p:spPr>
          <a:xfrm>
            <a:off x="731838" y="1052961"/>
            <a:ext cx="11102975" cy="215503"/>
          </a:xfrm>
        </p:spPr>
        <p:txBody>
          <a:bodyPr vert="horz" lIns="0" tIns="36000" rIns="0" bIns="0" rtlCol="0">
            <a:spAutoFit/>
          </a:bodyPr>
          <a:lstStyle/>
          <a:p>
            <a:r>
              <a:rPr lang="en-US" dirty="0">
                <a:solidFill>
                  <a:schemeClr val="bg2"/>
                </a:solidFill>
              </a:rPr>
              <a:t>Mobi operates under a multi-entity corporate structure (Grupo AGM Caetano / AGM Alpha) — simplified representation, to be confirmed with Company</a:t>
            </a:r>
          </a:p>
        </p:txBody>
      </p:sp>
      <p:sp>
        <p:nvSpPr>
          <p:cNvPr id="13" name="Text Placeholder 12">
            <a:extLst>
              <a:ext uri="{FF2B5EF4-FFF2-40B4-BE49-F238E27FC236}">
                <a16:creationId xmlns:a16="http://schemas.microsoft.com/office/drawing/2014/main" id="{6FD0D556-F1B5-81B5-BB5C-3797EA4FC161}"/>
              </a:ext>
            </a:extLst>
          </p:cNvPr>
          <p:cNvSpPr>
            <a:spLocks noGrp="1"/>
          </p:cNvSpPr>
          <p:nvPr>
            <p:ph type="body" sz="quarter" idx="36"/>
          </p:nvPr>
        </p:nvSpPr>
        <p:spPr/>
        <p:txBody>
          <a:bodyPr/>
          <a:lstStyle/>
          <a:p>
            <a:r>
              <a:rPr lang="pt-BR" dirty="0">
                <a:latin typeface="Poppins" panose="00000500000000000000" pitchFamily="2" charset="0"/>
                <a:cs typeface="Poppins" panose="00000500000000000000" pitchFamily="2" charset="0"/>
              </a:rPr>
              <a:t>Source: Company</a:t>
            </a:r>
          </a:p>
        </p:txBody>
      </p:sp>
      <p:sp>
        <p:nvSpPr>
          <p:cNvPr id="11" name="Slide Number Placeholder 5">
            <a:extLst>
              <a:ext uri="{FF2B5EF4-FFF2-40B4-BE49-F238E27FC236}">
                <a16:creationId xmlns:a16="http://schemas.microsoft.com/office/drawing/2014/main" id="{33D5BF8B-EAE3-72AF-C66F-EB93A3D5CC19}"/>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latin typeface="Poppins" panose="00000500000000000000" pitchFamily="2" charset="0"/>
                <a:cs typeface="Poppins" panose="00000500000000000000" pitchFamily="2" charset="0"/>
              </a:rPr>
              <a:pPr algn="ctr"/>
              <a:t>16</a:t>
            </a:fld>
            <a:endParaRPr lang="en-US" dirty="0">
              <a:latin typeface="Poppins" panose="00000500000000000000" pitchFamily="2" charset="0"/>
              <a:cs typeface="Poppins" panose="00000500000000000000" pitchFamily="2" charset="0"/>
            </a:endParaRPr>
          </a:p>
        </p:txBody>
      </p:sp>
      <p:sp>
        <p:nvSpPr>
          <p:cNvPr id="2" name="Retângulo: Cantos Arredondados 1">
            <a:extLst>
              <a:ext uri="{FF2B5EF4-FFF2-40B4-BE49-F238E27FC236}">
                <a16:creationId xmlns:a16="http://schemas.microsoft.com/office/drawing/2014/main" id="{994EF2D4-9891-1D84-F29C-54572775F664}"/>
              </a:ext>
            </a:extLst>
          </p:cNvPr>
          <p:cNvSpPr/>
          <p:nvPr/>
        </p:nvSpPr>
        <p:spPr>
          <a:xfrm>
            <a:off x="5003800" y="1633487"/>
            <a:ext cx="2349500" cy="709664"/>
          </a:xfrm>
          <a:prstGeom prst="roundRect">
            <a:avLst>
              <a:gd name="adj" fmla="val 1201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7" name="TextBox 52">
            <a:extLst>
              <a:ext uri="{FF2B5EF4-FFF2-40B4-BE49-F238E27FC236}">
                <a16:creationId xmlns:a16="http://schemas.microsoft.com/office/drawing/2014/main" id="{61D2C943-7B98-5C98-7115-A6839559F792}"/>
              </a:ext>
            </a:extLst>
          </p:cNvPr>
          <p:cNvSpPr txBox="1"/>
          <p:nvPr/>
        </p:nvSpPr>
        <p:spPr>
          <a:xfrm>
            <a:off x="5423882" y="1769300"/>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Family Shareholders</a:t>
            </a:r>
          </a:p>
        </p:txBody>
      </p:sp>
      <p:sp>
        <p:nvSpPr>
          <p:cNvPr id="9" name="TextBox 52">
            <a:extLst>
              <a:ext uri="{FF2B5EF4-FFF2-40B4-BE49-F238E27FC236}">
                <a16:creationId xmlns:a16="http://schemas.microsoft.com/office/drawing/2014/main" id="{7AEE515C-D56F-408B-05C2-F97CDD0C04F3}"/>
              </a:ext>
            </a:extLst>
          </p:cNvPr>
          <p:cNvSpPr txBox="1"/>
          <p:nvPr/>
        </p:nvSpPr>
        <p:spPr>
          <a:xfrm>
            <a:off x="5423882" y="2005301"/>
            <a:ext cx="1509337" cy="146579"/>
          </a:xfrm>
          <a:prstGeom prst="rect">
            <a:avLst/>
          </a:prstGeom>
          <a:noFill/>
        </p:spPr>
        <p:txBody>
          <a:bodyPr wrap="square" lIns="0" tIns="0" rIns="0" bIns="0" rtlCol="0">
            <a:spAutoFit/>
          </a:bodyPr>
          <a:lstStyle/>
          <a:p>
            <a:pPr algn="ctr">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Family shareholders</a:t>
            </a:r>
          </a:p>
        </p:txBody>
      </p:sp>
      <p:sp>
        <p:nvSpPr>
          <p:cNvPr id="30" name="Retângulo: Cantos Arredondados 29">
            <a:extLst>
              <a:ext uri="{FF2B5EF4-FFF2-40B4-BE49-F238E27FC236}">
                <a16:creationId xmlns:a16="http://schemas.microsoft.com/office/drawing/2014/main" id="{5F5A2BC6-C856-FD33-908D-C174CEC129B1}"/>
              </a:ext>
            </a:extLst>
          </p:cNvPr>
          <p:cNvSpPr/>
          <p:nvPr/>
        </p:nvSpPr>
        <p:spPr>
          <a:xfrm>
            <a:off x="5003800" y="2486574"/>
            <a:ext cx="2349500" cy="709664"/>
          </a:xfrm>
          <a:prstGeom prst="roundRect">
            <a:avLst>
              <a:gd name="adj" fmla="val 1201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33" name="TextBox 52">
            <a:extLst>
              <a:ext uri="{FF2B5EF4-FFF2-40B4-BE49-F238E27FC236}">
                <a16:creationId xmlns:a16="http://schemas.microsoft.com/office/drawing/2014/main" id="{6F91509B-F31D-E75B-BD5D-B648E0C1A588}"/>
              </a:ext>
            </a:extLst>
          </p:cNvPr>
          <p:cNvSpPr txBox="1"/>
          <p:nvPr/>
        </p:nvSpPr>
        <p:spPr>
          <a:xfrm>
            <a:off x="5423882" y="2622387"/>
            <a:ext cx="1509337" cy="195438"/>
          </a:xfrm>
          <a:prstGeom prst="rect">
            <a:avLst/>
          </a:prstGeom>
          <a:noFill/>
        </p:spPr>
        <p:txBody>
          <a:bodyPr wrap="square" lIns="0" tIns="0" rIns="0" bIns="0" rtlCol="0">
            <a:spAutoFit/>
          </a:bodyPr>
          <a:lstStyle/>
          <a:p>
            <a:pPr algn="ctr">
              <a:lnSpc>
                <a:spcPct val="110000"/>
              </a:lnSpc>
              <a:spcAft>
                <a:spcPts val="800"/>
              </a:spcAft>
            </a:pPr>
            <a:r>
              <a:rPr lang="en-US" sz="1200" b="1" noProof="0"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AGM Caetano Part.</a:t>
            </a:r>
          </a:p>
        </p:txBody>
      </p:sp>
      <p:sp>
        <p:nvSpPr>
          <p:cNvPr id="34" name="TextBox 52">
            <a:extLst>
              <a:ext uri="{FF2B5EF4-FFF2-40B4-BE49-F238E27FC236}">
                <a16:creationId xmlns:a16="http://schemas.microsoft.com/office/drawing/2014/main" id="{1258A981-67E6-A398-79C0-06AB5145B69F}"/>
              </a:ext>
            </a:extLst>
          </p:cNvPr>
          <p:cNvSpPr txBox="1"/>
          <p:nvPr/>
        </p:nvSpPr>
        <p:spPr>
          <a:xfrm>
            <a:off x="5423882" y="2858388"/>
            <a:ext cx="1509337" cy="146579"/>
          </a:xfrm>
          <a:prstGeom prst="rect">
            <a:avLst/>
          </a:prstGeom>
          <a:noFill/>
        </p:spPr>
        <p:txBody>
          <a:bodyPr wrap="square" lIns="0" tIns="0" rIns="0" bIns="0" rtlCol="0">
            <a:spAutoFit/>
          </a:bodyPr>
          <a:lstStyle/>
          <a:p>
            <a:pPr algn="ctr">
              <a:lnSpc>
                <a:spcPct val="110000"/>
              </a:lnSpc>
              <a:spcAft>
                <a:spcPts val="800"/>
              </a:spcAft>
            </a:pPr>
            <a:r>
              <a:rPr lang="en-US" sz="9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Holding company</a:t>
            </a:r>
          </a:p>
        </p:txBody>
      </p:sp>
      <p:cxnSp>
        <p:nvCxnSpPr>
          <p:cNvPr id="149" name="Conector: Angulado 148">
            <a:extLst>
              <a:ext uri="{FF2B5EF4-FFF2-40B4-BE49-F238E27FC236}">
                <a16:creationId xmlns:a16="http://schemas.microsoft.com/office/drawing/2014/main" id="{2A802FC6-71AA-D215-F176-06E19DD82B0C}"/>
              </a:ext>
            </a:extLst>
          </p:cNvPr>
          <p:cNvCxnSpPr>
            <a:stCxn id="35" idx="0"/>
            <a:endCxn id="30" idx="2"/>
          </p:cNvCxnSpPr>
          <p:nvPr/>
        </p:nvCxnSpPr>
        <p:spPr>
          <a:xfrm rot="5400000" flipH="1" flipV="1">
            <a:off x="3757789" y="988679"/>
            <a:ext cx="213202" cy="4628320"/>
          </a:xfrm>
          <a:prstGeom prst="bentConnector3">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Retângulo: Cantos Arredondados 124">
            <a:extLst>
              <a:ext uri="{FF2B5EF4-FFF2-40B4-BE49-F238E27FC236}">
                <a16:creationId xmlns:a16="http://schemas.microsoft.com/office/drawing/2014/main" id="{07BABCA8-41A1-49BB-0F97-BF721ABBFC44}"/>
              </a:ext>
            </a:extLst>
          </p:cNvPr>
          <p:cNvSpPr/>
          <p:nvPr/>
        </p:nvSpPr>
        <p:spPr>
          <a:xfrm>
            <a:off x="3725488"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90" name="Retângulo: Cantos Arredondados 189">
            <a:extLst>
              <a:ext uri="{FF2B5EF4-FFF2-40B4-BE49-F238E27FC236}">
                <a16:creationId xmlns:a16="http://schemas.microsoft.com/office/drawing/2014/main" id="{645B9E27-60D6-9B1E-D400-000A2D0316A2}"/>
              </a:ext>
            </a:extLst>
          </p:cNvPr>
          <p:cNvSpPr/>
          <p:nvPr/>
        </p:nvSpPr>
        <p:spPr>
          <a:xfrm>
            <a:off x="3522243"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900" b="1"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129" name="Retângulo: Cantos Arredondados 128">
            <a:extLst>
              <a:ext uri="{FF2B5EF4-FFF2-40B4-BE49-F238E27FC236}">
                <a16:creationId xmlns:a16="http://schemas.microsoft.com/office/drawing/2014/main" id="{759DC2EE-DCE0-955A-03D1-201C65D8AA41}"/>
              </a:ext>
            </a:extLst>
          </p:cNvPr>
          <p:cNvSpPr/>
          <p:nvPr/>
        </p:nvSpPr>
        <p:spPr>
          <a:xfrm>
            <a:off x="3725488" y="5181513"/>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95" name="Retângulo: Cantos Arredondados 194">
            <a:extLst>
              <a:ext uri="{FF2B5EF4-FFF2-40B4-BE49-F238E27FC236}">
                <a16:creationId xmlns:a16="http://schemas.microsoft.com/office/drawing/2014/main" id="{B0F2FF22-787C-0F92-D486-82225FE41312}"/>
              </a:ext>
            </a:extLst>
          </p:cNvPr>
          <p:cNvSpPr/>
          <p:nvPr/>
        </p:nvSpPr>
        <p:spPr>
          <a:xfrm>
            <a:off x="3522243" y="5069841"/>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56" name="Retângulo: Cantos Arredondados 55">
            <a:extLst>
              <a:ext uri="{FF2B5EF4-FFF2-40B4-BE49-F238E27FC236}">
                <a16:creationId xmlns:a16="http://schemas.microsoft.com/office/drawing/2014/main" id="{6BBFC2F5-047D-6004-588C-E000F72E1CEB}"/>
              </a:ext>
            </a:extLst>
          </p:cNvPr>
          <p:cNvSpPr/>
          <p:nvPr/>
        </p:nvSpPr>
        <p:spPr>
          <a:xfrm>
            <a:off x="3725181" y="3409440"/>
            <a:ext cx="1056505" cy="684054"/>
          </a:xfrm>
          <a:prstGeom prst="roundRect">
            <a:avLst>
              <a:gd name="adj" fmla="val 12016"/>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58" name="TextBox 52">
            <a:extLst>
              <a:ext uri="{FF2B5EF4-FFF2-40B4-BE49-F238E27FC236}">
                <a16:creationId xmlns:a16="http://schemas.microsoft.com/office/drawing/2014/main" id="{DAE35F21-D454-F486-E6F6-485CCB452AA0}"/>
              </a:ext>
            </a:extLst>
          </p:cNvPr>
          <p:cNvSpPr txBox="1"/>
          <p:nvPr/>
        </p:nvSpPr>
        <p:spPr>
          <a:xfrm>
            <a:off x="3756586" y="3589954"/>
            <a:ext cx="993695" cy="130292"/>
          </a:xfrm>
          <a:prstGeom prst="rect">
            <a:avLst/>
          </a:prstGeom>
          <a:noFill/>
        </p:spPr>
        <p:txBody>
          <a:bodyPr wrap="square" lIns="0" tIns="0" rIns="0" bIns="0" rtlCol="0">
            <a:spAutoFit/>
          </a:bodyPr>
          <a:lstStyle/>
          <a:p>
            <a:pPr algn="ctr">
              <a:lnSpc>
                <a:spcPct val="110000"/>
              </a:lnSpc>
              <a:spcAft>
                <a:spcPts val="800"/>
              </a:spcAft>
            </a:pPr>
            <a:r>
              <a:rPr lang="en-US" sz="8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AGM Alpha</a:t>
            </a:r>
          </a:p>
        </p:txBody>
      </p:sp>
      <p:sp>
        <p:nvSpPr>
          <p:cNvPr id="59" name="TextBox 52">
            <a:extLst>
              <a:ext uri="{FF2B5EF4-FFF2-40B4-BE49-F238E27FC236}">
                <a16:creationId xmlns:a16="http://schemas.microsoft.com/office/drawing/2014/main" id="{48402F47-A0B4-7DC7-5443-09AD7118B9B6}"/>
              </a:ext>
            </a:extLst>
          </p:cNvPr>
          <p:cNvSpPr txBox="1"/>
          <p:nvPr/>
        </p:nvSpPr>
        <p:spPr>
          <a:xfrm>
            <a:off x="3813961" y="3772267"/>
            <a:ext cx="878944" cy="265714"/>
          </a:xfrm>
          <a:prstGeom prst="rect">
            <a:avLst/>
          </a:prstGeom>
          <a:noFill/>
        </p:spPr>
        <p:txBody>
          <a:bodyPr wrap="square" lIns="0" tIns="0" rIns="0" bIns="0" rtlCol="0">
            <a:spAutoFit/>
          </a:bodyPr>
          <a:lstStyle/>
          <a:p>
            <a:pPr algn="ctr">
              <a:lnSpc>
                <a:spcPct val="110000"/>
              </a:lnSpc>
              <a:spcAft>
                <a:spcPts val="800"/>
              </a:spcAft>
            </a:pPr>
            <a:r>
              <a:rPr lang="en-US" sz="800" noProof="0" dirty="0">
                <a:latin typeface="Poppins" panose="00000500000000000000" pitchFamily="2" charset="0"/>
                <a:ea typeface="Source Serif Pro" panose="02040603050405020204" pitchFamily="18" charset="0"/>
                <a:cs typeface="Poppins" panose="00000500000000000000" pitchFamily="2" charset="0"/>
              </a:rPr>
              <a:t>[Entity — TBC]</a:t>
            </a:r>
          </a:p>
        </p:txBody>
      </p:sp>
      <p:sp>
        <p:nvSpPr>
          <p:cNvPr id="169" name="TextBox 52">
            <a:extLst>
              <a:ext uri="{FF2B5EF4-FFF2-40B4-BE49-F238E27FC236}">
                <a16:creationId xmlns:a16="http://schemas.microsoft.com/office/drawing/2014/main" id="{B5C3E790-E5D2-72C2-3E7D-6CFC8F1DCE1E}"/>
              </a:ext>
            </a:extLst>
          </p:cNvPr>
          <p:cNvSpPr txBox="1"/>
          <p:nvPr/>
        </p:nvSpPr>
        <p:spPr>
          <a:xfrm>
            <a:off x="3810681" y="4596908"/>
            <a:ext cx="885813" cy="130292"/>
          </a:xfrm>
          <a:prstGeom prst="rect">
            <a:avLst/>
          </a:prstGeom>
          <a:noFill/>
        </p:spPr>
        <p:txBody>
          <a:bodyPr wrap="square" lIns="0" tIns="0" rIns="0" bIns="0" rtlCol="0">
            <a:spAutoFit/>
          </a:bodyPr>
          <a:lstStyle/>
          <a:p>
            <a:pPr algn="ctr">
              <a:lnSpc>
                <a:spcPct val="110000"/>
              </a:lnSpc>
              <a:spcAft>
                <a:spcPts val="800"/>
              </a:spcAft>
            </a:pPr>
            <a:r>
              <a:rPr lang="en-US" sz="800" b="1" spc="-4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Alexânia</a:t>
            </a:r>
            <a:endPar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173" name="TextBox 52">
            <a:extLst>
              <a:ext uri="{FF2B5EF4-FFF2-40B4-BE49-F238E27FC236}">
                <a16:creationId xmlns:a16="http://schemas.microsoft.com/office/drawing/2014/main" id="{94C2BF26-E723-546F-2CF6-FCBAB641C54E}"/>
              </a:ext>
            </a:extLst>
          </p:cNvPr>
          <p:cNvSpPr txBox="1"/>
          <p:nvPr/>
        </p:nvSpPr>
        <p:spPr>
          <a:xfrm>
            <a:off x="3737266" y="5399034"/>
            <a:ext cx="1032643" cy="130292"/>
          </a:xfrm>
          <a:prstGeom prst="rect">
            <a:avLst/>
          </a:prstGeom>
          <a:noFill/>
        </p:spPr>
        <p:txBody>
          <a:bodyPr wrap="square" lIns="0" tIns="0" rIns="0" bIns="0" rtlCol="0">
            <a:spAutoFit/>
          </a:bodyPr>
          <a:lstStyle/>
          <a:p>
            <a:pPr algn="ctr">
              <a:lnSpc>
                <a:spcPct val="110000"/>
              </a:lnSpc>
              <a:spcAft>
                <a:spcPts val="800"/>
              </a:spcAft>
            </a:pPr>
            <a:r>
              <a:rPr lang="en-US" sz="800" b="1" spc="-4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Itumbiara</a:t>
            </a:r>
            <a:endPar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cxnSp>
        <p:nvCxnSpPr>
          <p:cNvPr id="144" name="Conector reto 143">
            <a:extLst>
              <a:ext uri="{FF2B5EF4-FFF2-40B4-BE49-F238E27FC236}">
                <a16:creationId xmlns:a16="http://schemas.microsoft.com/office/drawing/2014/main" id="{7AFC61ED-7188-71DE-00FA-41992D5DB982}"/>
              </a:ext>
            </a:extLst>
          </p:cNvPr>
          <p:cNvCxnSpPr>
            <a:stCxn id="35" idx="2"/>
            <a:endCxn id="71" idx="0"/>
          </p:cNvCxnSpPr>
          <p:nvPr/>
        </p:nvCxnSpPr>
        <p:spPr>
          <a:xfrm>
            <a:off x="1550230" y="4093494"/>
            <a:ext cx="153" cy="108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Retângulo: Cantos Arredondados 59">
            <a:extLst>
              <a:ext uri="{FF2B5EF4-FFF2-40B4-BE49-F238E27FC236}">
                <a16:creationId xmlns:a16="http://schemas.microsoft.com/office/drawing/2014/main" id="{4D657E4C-D6F8-23C1-BA23-84C62FF5C2B4}"/>
              </a:ext>
            </a:extLst>
          </p:cNvPr>
          <p:cNvSpPr/>
          <p:nvPr/>
        </p:nvSpPr>
        <p:spPr>
          <a:xfrm>
            <a:off x="1022284"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92" name="Retângulo: Cantos Arredondados 191">
            <a:extLst>
              <a:ext uri="{FF2B5EF4-FFF2-40B4-BE49-F238E27FC236}">
                <a16:creationId xmlns:a16="http://schemas.microsoft.com/office/drawing/2014/main" id="{43500C55-C408-183B-0A3C-8BAAE134799E}"/>
              </a:ext>
            </a:extLst>
          </p:cNvPr>
          <p:cNvSpPr/>
          <p:nvPr/>
        </p:nvSpPr>
        <p:spPr>
          <a:xfrm>
            <a:off x="814387"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71" name="Retângulo: Cantos Arredondados 70">
            <a:extLst>
              <a:ext uri="{FF2B5EF4-FFF2-40B4-BE49-F238E27FC236}">
                <a16:creationId xmlns:a16="http://schemas.microsoft.com/office/drawing/2014/main" id="{DF9AB0F1-7EF7-E94A-C1C8-C6D687C677CE}"/>
              </a:ext>
            </a:extLst>
          </p:cNvPr>
          <p:cNvSpPr/>
          <p:nvPr/>
        </p:nvSpPr>
        <p:spPr>
          <a:xfrm>
            <a:off x="1022284" y="5181513"/>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97" name="Retângulo: Cantos Arredondados 196">
            <a:extLst>
              <a:ext uri="{FF2B5EF4-FFF2-40B4-BE49-F238E27FC236}">
                <a16:creationId xmlns:a16="http://schemas.microsoft.com/office/drawing/2014/main" id="{A3F7BD6D-F223-066F-AD49-75993DD40C97}"/>
              </a:ext>
            </a:extLst>
          </p:cNvPr>
          <p:cNvSpPr/>
          <p:nvPr/>
        </p:nvSpPr>
        <p:spPr>
          <a:xfrm>
            <a:off x="814387" y="5069841"/>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35" name="Retângulo: Cantos Arredondados 34">
            <a:extLst>
              <a:ext uri="{FF2B5EF4-FFF2-40B4-BE49-F238E27FC236}">
                <a16:creationId xmlns:a16="http://schemas.microsoft.com/office/drawing/2014/main" id="{026B4742-0290-5EF2-E32A-63DEE28CC7B4}"/>
              </a:ext>
            </a:extLst>
          </p:cNvPr>
          <p:cNvSpPr/>
          <p:nvPr/>
        </p:nvSpPr>
        <p:spPr>
          <a:xfrm>
            <a:off x="1021977" y="3409440"/>
            <a:ext cx="1056505" cy="684054"/>
          </a:xfrm>
          <a:prstGeom prst="roundRect">
            <a:avLst>
              <a:gd name="adj" fmla="val 12016"/>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37" name="TextBox 52">
            <a:extLst>
              <a:ext uri="{FF2B5EF4-FFF2-40B4-BE49-F238E27FC236}">
                <a16:creationId xmlns:a16="http://schemas.microsoft.com/office/drawing/2014/main" id="{599F6D2B-6686-B3C8-A3EB-9CF7BA27F9B8}"/>
              </a:ext>
            </a:extLst>
          </p:cNvPr>
          <p:cNvSpPr txBox="1"/>
          <p:nvPr/>
        </p:nvSpPr>
        <p:spPr>
          <a:xfrm>
            <a:off x="1053382" y="3589954"/>
            <a:ext cx="993695" cy="130292"/>
          </a:xfrm>
          <a:prstGeom prst="rect">
            <a:avLst/>
          </a:prstGeom>
          <a:noFill/>
        </p:spPr>
        <p:txBody>
          <a:bodyPr wrap="square" lIns="0" tIns="0" rIns="0" bIns="0" rtlCol="0">
            <a:spAutoFit/>
          </a:bodyPr>
          <a:lstStyle/>
          <a:p>
            <a:pPr algn="ctr">
              <a:lnSpc>
                <a:spcPct val="110000"/>
              </a:lnSpc>
              <a:spcAft>
                <a:spcPts val="800"/>
              </a:spcAft>
            </a:pPr>
            <a:r>
              <a:rPr lang="en-US" sz="8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AGM Caetano LTDA </a:t>
            </a:r>
          </a:p>
        </p:txBody>
      </p:sp>
      <p:sp>
        <p:nvSpPr>
          <p:cNvPr id="39" name="TextBox 52">
            <a:extLst>
              <a:ext uri="{FF2B5EF4-FFF2-40B4-BE49-F238E27FC236}">
                <a16:creationId xmlns:a16="http://schemas.microsoft.com/office/drawing/2014/main" id="{754293E2-F1E6-3C15-2860-C83D6E958CA5}"/>
              </a:ext>
            </a:extLst>
          </p:cNvPr>
          <p:cNvSpPr txBox="1"/>
          <p:nvPr/>
        </p:nvSpPr>
        <p:spPr>
          <a:xfrm>
            <a:off x="1053382" y="3772267"/>
            <a:ext cx="993695" cy="130292"/>
          </a:xfrm>
          <a:prstGeom prst="rect">
            <a:avLst/>
          </a:prstGeom>
          <a:noFill/>
        </p:spPr>
        <p:txBody>
          <a:bodyPr wrap="square" lIns="0" tIns="0" rIns="0" bIns="0" rtlCol="0">
            <a:spAutoFit/>
          </a:bodyPr>
          <a:lstStyle/>
          <a:p>
            <a:pPr algn="ctr">
              <a:lnSpc>
                <a:spcPct val="110000"/>
              </a:lnSpc>
              <a:spcAft>
                <a:spcPts val="800"/>
              </a:spcAft>
            </a:pPr>
            <a:r>
              <a:rPr lang="en-US" sz="800" noProof="0" dirty="0">
                <a:latin typeface="Poppins" panose="00000500000000000000" pitchFamily="2" charset="0"/>
                <a:ea typeface="Source Serif Pro" panose="02040603050405020204" pitchFamily="18" charset="0"/>
                <a:cs typeface="Poppins" panose="00000500000000000000" pitchFamily="2" charset="0"/>
              </a:rPr>
              <a:t>(Matriz Brasília)</a:t>
            </a:r>
          </a:p>
        </p:txBody>
      </p:sp>
      <p:sp>
        <p:nvSpPr>
          <p:cNvPr id="61" name="TextBox 52">
            <a:extLst>
              <a:ext uri="{FF2B5EF4-FFF2-40B4-BE49-F238E27FC236}">
                <a16:creationId xmlns:a16="http://schemas.microsoft.com/office/drawing/2014/main" id="{78F5AFD4-33FE-259F-7EA6-3D0470592EBC}"/>
              </a:ext>
            </a:extLst>
          </p:cNvPr>
          <p:cNvSpPr txBox="1"/>
          <p:nvPr/>
        </p:nvSpPr>
        <p:spPr>
          <a:xfrm>
            <a:off x="1107323" y="4529197"/>
            <a:ext cx="885813" cy="265714"/>
          </a:xfrm>
          <a:prstGeom prst="rect">
            <a:avLst/>
          </a:prstGeom>
          <a:noFill/>
        </p:spPr>
        <p:txBody>
          <a:bodyPr wrap="square" lIns="0" tIns="0" rIns="0" bIns="0" rtlCol="0">
            <a:spAutoFit/>
          </a:bodyPr>
          <a:lstStyle/>
          <a:p>
            <a:pPr algn="ctr">
              <a:lnSpc>
                <a:spcPct val="110000"/>
              </a:lnSpc>
              <a:spcAft>
                <a:spcPts val="800"/>
              </a:spcAft>
            </a:pPr>
            <a:r>
              <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Goiânia</a:t>
            </a:r>
          </a:p>
        </p:txBody>
      </p:sp>
      <p:sp>
        <p:nvSpPr>
          <p:cNvPr id="72" name="TextBox 52">
            <a:extLst>
              <a:ext uri="{FF2B5EF4-FFF2-40B4-BE49-F238E27FC236}">
                <a16:creationId xmlns:a16="http://schemas.microsoft.com/office/drawing/2014/main" id="{93D87D4F-675E-D933-2493-B6666AC925E2}"/>
              </a:ext>
            </a:extLst>
          </p:cNvPr>
          <p:cNvSpPr txBox="1"/>
          <p:nvPr/>
        </p:nvSpPr>
        <p:spPr>
          <a:xfrm>
            <a:off x="1179131" y="5399034"/>
            <a:ext cx="742505" cy="130292"/>
          </a:xfrm>
          <a:prstGeom prst="rect">
            <a:avLst/>
          </a:prstGeom>
          <a:noFill/>
        </p:spPr>
        <p:txBody>
          <a:bodyPr wrap="square" lIns="0" tIns="0" rIns="0" bIns="0" rtlCol="0">
            <a:spAutoFit/>
          </a:bodyPr>
          <a:lstStyle/>
          <a:p>
            <a:pPr algn="ctr">
              <a:lnSpc>
                <a:spcPct val="110000"/>
              </a:lnSpc>
              <a:spcAft>
                <a:spcPts val="800"/>
              </a:spcAft>
            </a:pPr>
            <a:r>
              <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Anápolis</a:t>
            </a:r>
          </a:p>
        </p:txBody>
      </p:sp>
      <p:sp>
        <p:nvSpPr>
          <p:cNvPr id="199" name="Retângulo: Cantos Arredondados 45">
            <a:extLst>
              <a:ext uri="{FF2B5EF4-FFF2-40B4-BE49-F238E27FC236}">
                <a16:creationId xmlns:a16="http://schemas.microsoft.com/office/drawing/2014/main" id="{4FF578FB-8336-1785-3469-86EFBA2D4B29}"/>
              </a:ext>
            </a:extLst>
          </p:cNvPr>
          <p:cNvSpPr/>
          <p:nvPr/>
        </p:nvSpPr>
        <p:spPr>
          <a:xfrm>
            <a:off x="731837" y="1638146"/>
            <a:ext cx="417195" cy="158545"/>
          </a:xfrm>
          <a:prstGeom prst="roundRect">
            <a:avLst>
              <a:gd name="adj" fmla="val 50000"/>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dirty="0">
              <a:ln>
                <a:noFill/>
              </a:ln>
              <a:solidFill>
                <a:schemeClr val="tx1"/>
              </a:solidFill>
              <a:effectLst/>
              <a:uLnTx/>
              <a:uFillTx/>
              <a:latin typeface="Poppins" panose="00000500000000000000" pitchFamily="2" charset="0"/>
              <a:ea typeface="Source Serif Pro Light" panose="02040303050405020204" pitchFamily="18" charset="0"/>
              <a:cs typeface="Poppins" panose="00000500000000000000" pitchFamily="2" charset="0"/>
            </a:endParaRPr>
          </a:p>
        </p:txBody>
      </p:sp>
      <p:sp>
        <p:nvSpPr>
          <p:cNvPr id="200" name="Espaço Reservado para Conteúdo 4">
            <a:extLst>
              <a:ext uri="{FF2B5EF4-FFF2-40B4-BE49-F238E27FC236}">
                <a16:creationId xmlns:a16="http://schemas.microsoft.com/office/drawing/2014/main" id="{4F4C26B5-0A2F-2ADD-AF6C-FE65CB024CB1}"/>
              </a:ext>
            </a:extLst>
          </p:cNvPr>
          <p:cNvSpPr txBox="1">
            <a:spLocks/>
          </p:cNvSpPr>
          <p:nvPr/>
        </p:nvSpPr>
        <p:spPr>
          <a:xfrm>
            <a:off x="1260725" y="1612828"/>
            <a:ext cx="1676150" cy="16664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2"/>
                </a:solidFill>
              </a:rPr>
              <a:t>Corporate structure by entity</a:t>
            </a:r>
          </a:p>
        </p:txBody>
      </p:sp>
      <p:sp>
        <p:nvSpPr>
          <p:cNvPr id="201" name="Espaço Reservado para Conteúdo 4">
            <a:extLst>
              <a:ext uri="{FF2B5EF4-FFF2-40B4-BE49-F238E27FC236}">
                <a16:creationId xmlns:a16="http://schemas.microsoft.com/office/drawing/2014/main" id="{175215F8-56EC-A4EE-393C-9B0505DB9139}"/>
              </a:ext>
            </a:extLst>
          </p:cNvPr>
          <p:cNvSpPr txBox="1">
            <a:spLocks/>
          </p:cNvSpPr>
          <p:nvPr/>
        </p:nvSpPr>
        <p:spPr>
          <a:xfrm>
            <a:off x="1003571" y="2127679"/>
            <a:ext cx="1668464" cy="56521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dirty="0">
                <a:solidFill>
                  <a:schemeClr val="accent6"/>
                </a:solidFill>
                <a:latin typeface="Poppins SemiBold" panose="00000700000000000000" pitchFamily="2" charset="0"/>
                <a:cs typeface="Poppins SemiBold" panose="00000700000000000000" pitchFamily="2" charset="0"/>
              </a:rPr>
              <a:t>Total fleet: </a:t>
            </a:r>
            <a:r>
              <a:rPr lang="en-US" sz="2000" b="1" dirty="0">
                <a:solidFill>
                  <a:schemeClr val="accent1"/>
                </a:solidFill>
                <a:latin typeface="Poppins" panose="00000500000000000000" pitchFamily="2" charset="0"/>
                <a:cs typeface="Poppins" panose="00000500000000000000" pitchFamily="2" charset="0"/>
              </a:rPr>
              <a:t>373 vehicles</a:t>
            </a:r>
          </a:p>
        </p:txBody>
      </p:sp>
      <p:sp>
        <p:nvSpPr>
          <p:cNvPr id="204" name="Rectangle: Rounded Corners 5">
            <a:extLst>
              <a:ext uri="{FF2B5EF4-FFF2-40B4-BE49-F238E27FC236}">
                <a16:creationId xmlns:a16="http://schemas.microsoft.com/office/drawing/2014/main" id="{C708D357-5E9E-B2D7-551D-091BF76D981A}"/>
              </a:ext>
            </a:extLst>
          </p:cNvPr>
          <p:cNvSpPr/>
          <p:nvPr/>
        </p:nvSpPr>
        <p:spPr>
          <a:xfrm>
            <a:off x="7507175" y="1796035"/>
            <a:ext cx="1122101" cy="33612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nSpc>
                <a:spcPct val="112000"/>
              </a:lnSpc>
              <a:spcAft>
                <a:spcPts val="800"/>
              </a:spcAft>
            </a:pPr>
            <a:r>
              <a:rPr lang="en-US" sz="900" dirty="0">
                <a:solidFill>
                  <a:schemeClr val="tx1">
                    <a:lumMod val="65000"/>
                    <a:lumOff val="35000"/>
                  </a:schemeClr>
                </a:solidFill>
                <a:latin typeface="Poppins Medium" panose="00000600000000000000" pitchFamily="2" charset="0"/>
                <a:ea typeface="Source Serif Pro" panose="02040603050405020204" pitchFamily="18" charset="0"/>
                <a:cs typeface="Poppins Medium" panose="00000600000000000000" pitchFamily="2" charset="0"/>
              </a:rPr>
              <a:t>Family shareholders</a:t>
            </a:r>
          </a:p>
        </p:txBody>
      </p:sp>
      <p:cxnSp>
        <p:nvCxnSpPr>
          <p:cNvPr id="156" name="Conector reto 155">
            <a:extLst>
              <a:ext uri="{FF2B5EF4-FFF2-40B4-BE49-F238E27FC236}">
                <a16:creationId xmlns:a16="http://schemas.microsoft.com/office/drawing/2014/main" id="{AE8B4BAB-1F75-6318-6FB9-5B06A4F5CEDC}"/>
              </a:ext>
            </a:extLst>
          </p:cNvPr>
          <p:cNvCxnSpPr>
            <a:cxnSpLocks/>
            <a:endCxn id="117" idx="2"/>
          </p:cNvCxnSpPr>
          <p:nvPr/>
        </p:nvCxnSpPr>
        <p:spPr>
          <a:xfrm>
            <a:off x="2902590" y="3302839"/>
            <a:ext cx="0" cy="1641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7" name="Retângulo: Cantos Arredondados 116">
            <a:extLst>
              <a:ext uri="{FF2B5EF4-FFF2-40B4-BE49-F238E27FC236}">
                <a16:creationId xmlns:a16="http://schemas.microsoft.com/office/drawing/2014/main" id="{15DF9DD4-350B-4BC0-217B-C5117AA47675}"/>
              </a:ext>
            </a:extLst>
          </p:cNvPr>
          <p:cNvSpPr/>
          <p:nvPr/>
        </p:nvSpPr>
        <p:spPr>
          <a:xfrm>
            <a:off x="2374491"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91" name="Retângulo: Cantos Arredondados 190">
            <a:extLst>
              <a:ext uri="{FF2B5EF4-FFF2-40B4-BE49-F238E27FC236}">
                <a16:creationId xmlns:a16="http://schemas.microsoft.com/office/drawing/2014/main" id="{DD906837-50DC-C697-B480-3BF494D75525}"/>
              </a:ext>
            </a:extLst>
          </p:cNvPr>
          <p:cNvSpPr/>
          <p:nvPr/>
        </p:nvSpPr>
        <p:spPr>
          <a:xfrm>
            <a:off x="2170036"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168" name="TextBox 52">
            <a:extLst>
              <a:ext uri="{FF2B5EF4-FFF2-40B4-BE49-F238E27FC236}">
                <a16:creationId xmlns:a16="http://schemas.microsoft.com/office/drawing/2014/main" id="{38C7D234-3BB6-A08B-09FB-DDE7C75FB8A5}"/>
              </a:ext>
            </a:extLst>
          </p:cNvPr>
          <p:cNvSpPr txBox="1"/>
          <p:nvPr/>
        </p:nvSpPr>
        <p:spPr>
          <a:xfrm>
            <a:off x="2459684" y="4596908"/>
            <a:ext cx="885813" cy="130292"/>
          </a:xfrm>
          <a:prstGeom prst="rect">
            <a:avLst/>
          </a:prstGeom>
          <a:noFill/>
        </p:spPr>
        <p:txBody>
          <a:bodyPr wrap="square" lIns="0" tIns="0" rIns="0" bIns="0" rtlCol="0">
            <a:spAutoFit/>
          </a:bodyPr>
          <a:lstStyle/>
          <a:p>
            <a:pPr algn="ctr">
              <a:lnSpc>
                <a:spcPct val="110000"/>
              </a:lnSpc>
              <a:spcAft>
                <a:spcPts val="800"/>
              </a:spcAft>
            </a:pPr>
            <a:r>
              <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Senador Canedo</a:t>
            </a:r>
          </a:p>
        </p:txBody>
      </p:sp>
      <p:sp>
        <p:nvSpPr>
          <p:cNvPr id="6" name="Retângulo: Cantos Arredondados 49">
            <a:extLst>
              <a:ext uri="{FF2B5EF4-FFF2-40B4-BE49-F238E27FC236}">
                <a16:creationId xmlns:a16="http://schemas.microsoft.com/office/drawing/2014/main" id="{21E0FFFC-E911-2480-79F5-18D1121AEE43}"/>
              </a:ext>
            </a:extLst>
          </p:cNvPr>
          <p:cNvSpPr/>
          <p:nvPr/>
        </p:nvSpPr>
        <p:spPr>
          <a:xfrm>
            <a:off x="2374184" y="3409440"/>
            <a:ext cx="1056505" cy="684054"/>
          </a:xfrm>
          <a:prstGeom prst="roundRect">
            <a:avLst>
              <a:gd name="adj" fmla="val 12016"/>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0" name="TextBox 52">
            <a:extLst>
              <a:ext uri="{FF2B5EF4-FFF2-40B4-BE49-F238E27FC236}">
                <a16:creationId xmlns:a16="http://schemas.microsoft.com/office/drawing/2014/main" id="{1B1B96B5-AB9A-B39B-2B91-28BB96CDDC5E}"/>
              </a:ext>
            </a:extLst>
          </p:cNvPr>
          <p:cNvSpPr txBox="1"/>
          <p:nvPr/>
        </p:nvSpPr>
        <p:spPr>
          <a:xfrm>
            <a:off x="2405589" y="3589954"/>
            <a:ext cx="993695" cy="130292"/>
          </a:xfrm>
          <a:prstGeom prst="rect">
            <a:avLst/>
          </a:prstGeom>
          <a:noFill/>
        </p:spPr>
        <p:txBody>
          <a:bodyPr wrap="square" lIns="0" tIns="0" rIns="0" bIns="0" rtlCol="0">
            <a:spAutoFit/>
          </a:bodyPr>
          <a:lstStyle/>
          <a:p>
            <a:pPr algn="ctr">
              <a:lnSpc>
                <a:spcPct val="110000"/>
              </a:lnSpc>
              <a:spcAft>
                <a:spcPts val="800"/>
              </a:spcAft>
            </a:pPr>
            <a:r>
              <a:rPr lang="en-US" sz="8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MOBI X</a:t>
            </a:r>
          </a:p>
        </p:txBody>
      </p:sp>
      <p:sp>
        <p:nvSpPr>
          <p:cNvPr id="12" name="TextBox 52">
            <a:extLst>
              <a:ext uri="{FF2B5EF4-FFF2-40B4-BE49-F238E27FC236}">
                <a16:creationId xmlns:a16="http://schemas.microsoft.com/office/drawing/2014/main" id="{24EF6F96-EA66-D927-F5BE-0CB6F6F731AF}"/>
              </a:ext>
            </a:extLst>
          </p:cNvPr>
          <p:cNvSpPr txBox="1"/>
          <p:nvPr/>
        </p:nvSpPr>
        <p:spPr>
          <a:xfrm>
            <a:off x="2521745" y="3772267"/>
            <a:ext cx="761382" cy="265714"/>
          </a:xfrm>
          <a:prstGeom prst="rect">
            <a:avLst/>
          </a:prstGeom>
          <a:noFill/>
        </p:spPr>
        <p:txBody>
          <a:bodyPr wrap="square" lIns="0" tIns="0" rIns="0" bIns="0" rtlCol="0">
            <a:spAutoFit/>
          </a:bodyPr>
          <a:lstStyle/>
          <a:p>
            <a:pPr algn="ctr">
              <a:lnSpc>
                <a:spcPct val="110000"/>
              </a:lnSpc>
              <a:spcAft>
                <a:spcPts val="800"/>
              </a:spcAft>
            </a:pPr>
            <a:r>
              <a:rPr lang="en-US" sz="800" noProof="0" dirty="0">
                <a:latin typeface="Poppins" panose="00000500000000000000" pitchFamily="2" charset="0"/>
                <a:ea typeface="Source Serif Pro" panose="02040603050405020204" pitchFamily="18" charset="0"/>
                <a:cs typeface="Poppins" panose="00000500000000000000" pitchFamily="2" charset="0"/>
              </a:rPr>
              <a:t>[Pedro — 100% direct ownership]</a:t>
            </a:r>
          </a:p>
        </p:txBody>
      </p:sp>
      <p:sp>
        <p:nvSpPr>
          <p:cNvPr id="138" name="Retângulo: Cantos Arredondados 137">
            <a:extLst>
              <a:ext uri="{FF2B5EF4-FFF2-40B4-BE49-F238E27FC236}">
                <a16:creationId xmlns:a16="http://schemas.microsoft.com/office/drawing/2014/main" id="{F810BC60-D3F8-0B25-37BF-5BB12DAECD85}"/>
              </a:ext>
            </a:extLst>
          </p:cNvPr>
          <p:cNvSpPr/>
          <p:nvPr/>
        </p:nvSpPr>
        <p:spPr>
          <a:xfrm>
            <a:off x="10486514"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88" name="Retângulo: Cantos Arredondados 187">
            <a:extLst>
              <a:ext uri="{FF2B5EF4-FFF2-40B4-BE49-F238E27FC236}">
                <a16:creationId xmlns:a16="http://schemas.microsoft.com/office/drawing/2014/main" id="{84DA774D-971A-4FAF-37E1-513224CECAD5}"/>
              </a:ext>
            </a:extLst>
          </p:cNvPr>
          <p:cNvSpPr/>
          <p:nvPr/>
        </p:nvSpPr>
        <p:spPr>
          <a:xfrm>
            <a:off x="10282061"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171" name="TextBox 52">
            <a:extLst>
              <a:ext uri="{FF2B5EF4-FFF2-40B4-BE49-F238E27FC236}">
                <a16:creationId xmlns:a16="http://schemas.microsoft.com/office/drawing/2014/main" id="{EFE27BF7-4CAC-3AC8-1D36-AA1D6248597E}"/>
              </a:ext>
            </a:extLst>
          </p:cNvPr>
          <p:cNvSpPr txBox="1"/>
          <p:nvPr/>
        </p:nvSpPr>
        <p:spPr>
          <a:xfrm>
            <a:off x="10577362" y="4596908"/>
            <a:ext cx="874502" cy="130292"/>
          </a:xfrm>
          <a:prstGeom prst="rect">
            <a:avLst/>
          </a:prstGeom>
          <a:noFill/>
        </p:spPr>
        <p:txBody>
          <a:bodyPr wrap="square" lIns="0" tIns="0" rIns="0" bIns="0" rtlCol="0">
            <a:spAutoFit/>
          </a:bodyPr>
          <a:lstStyle/>
          <a:p>
            <a:pPr algn="ctr">
              <a:lnSpc>
                <a:spcPct val="110000"/>
              </a:lnSpc>
              <a:spcAft>
                <a:spcPts val="800"/>
              </a:spcAft>
            </a:pPr>
            <a:r>
              <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Pires do Rio</a:t>
            </a:r>
          </a:p>
        </p:txBody>
      </p:sp>
      <p:sp>
        <p:nvSpPr>
          <p:cNvPr id="19" name="Retângulo: Cantos Arredondados 55">
            <a:extLst>
              <a:ext uri="{FF2B5EF4-FFF2-40B4-BE49-F238E27FC236}">
                <a16:creationId xmlns:a16="http://schemas.microsoft.com/office/drawing/2014/main" id="{4DC8D892-73C1-4574-2396-738A1160D25B}"/>
              </a:ext>
            </a:extLst>
          </p:cNvPr>
          <p:cNvSpPr/>
          <p:nvPr/>
        </p:nvSpPr>
        <p:spPr>
          <a:xfrm>
            <a:off x="10486207" y="3409440"/>
            <a:ext cx="1056505" cy="684054"/>
          </a:xfrm>
          <a:prstGeom prst="roundRect">
            <a:avLst>
              <a:gd name="adj" fmla="val 12016"/>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2" name="TextBox 52">
            <a:extLst>
              <a:ext uri="{FF2B5EF4-FFF2-40B4-BE49-F238E27FC236}">
                <a16:creationId xmlns:a16="http://schemas.microsoft.com/office/drawing/2014/main" id="{304CAECB-65E2-F0D7-F207-E979829960D8}"/>
              </a:ext>
            </a:extLst>
          </p:cNvPr>
          <p:cNvSpPr txBox="1"/>
          <p:nvPr/>
        </p:nvSpPr>
        <p:spPr>
          <a:xfrm>
            <a:off x="10517612" y="3589954"/>
            <a:ext cx="993695" cy="130292"/>
          </a:xfrm>
          <a:prstGeom prst="rect">
            <a:avLst/>
          </a:prstGeom>
          <a:noFill/>
        </p:spPr>
        <p:txBody>
          <a:bodyPr wrap="square" lIns="0" tIns="0" rIns="0" bIns="0" rtlCol="0">
            <a:spAutoFit/>
          </a:bodyPr>
          <a:lstStyle/>
          <a:p>
            <a:pPr algn="ctr">
              <a:lnSpc>
                <a:spcPct val="110000"/>
              </a:lnSpc>
              <a:spcAft>
                <a:spcPts val="800"/>
              </a:spcAft>
            </a:pPr>
            <a:r>
              <a:rPr lang="en-US" sz="8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MOBI Alpha</a:t>
            </a:r>
          </a:p>
        </p:txBody>
      </p:sp>
      <p:sp>
        <p:nvSpPr>
          <p:cNvPr id="23" name="TextBox 52">
            <a:extLst>
              <a:ext uri="{FF2B5EF4-FFF2-40B4-BE49-F238E27FC236}">
                <a16:creationId xmlns:a16="http://schemas.microsoft.com/office/drawing/2014/main" id="{C622404C-2F31-D7E5-286B-E05C512ECE29}"/>
              </a:ext>
            </a:extLst>
          </p:cNvPr>
          <p:cNvSpPr txBox="1"/>
          <p:nvPr/>
        </p:nvSpPr>
        <p:spPr>
          <a:xfrm>
            <a:off x="10544704" y="3772267"/>
            <a:ext cx="939511" cy="265714"/>
          </a:xfrm>
          <a:prstGeom prst="rect">
            <a:avLst/>
          </a:prstGeom>
          <a:noFill/>
        </p:spPr>
        <p:txBody>
          <a:bodyPr wrap="square" lIns="0" tIns="0" rIns="0" bIns="0" rtlCol="0">
            <a:spAutoFit/>
          </a:bodyPr>
          <a:lstStyle/>
          <a:p>
            <a:pPr algn="ctr">
              <a:lnSpc>
                <a:spcPct val="110000"/>
              </a:lnSpc>
              <a:spcAft>
                <a:spcPts val="800"/>
              </a:spcAft>
            </a:pPr>
            <a:r>
              <a:rPr lang="en-US" sz="800" noProof="0" dirty="0">
                <a:latin typeface="Poppins" panose="00000500000000000000" pitchFamily="2" charset="0"/>
                <a:ea typeface="Source Serif Pro" panose="02040603050405020204" pitchFamily="18" charset="0"/>
                <a:cs typeface="Poppins" panose="00000500000000000000" pitchFamily="2" charset="0"/>
              </a:rPr>
              <a:t>[Pedro — 100% direct ownership]</a:t>
            </a:r>
          </a:p>
        </p:txBody>
      </p:sp>
      <p:cxnSp>
        <p:nvCxnSpPr>
          <p:cNvPr id="162" name="Conector reto 161">
            <a:extLst>
              <a:ext uri="{FF2B5EF4-FFF2-40B4-BE49-F238E27FC236}">
                <a16:creationId xmlns:a16="http://schemas.microsoft.com/office/drawing/2014/main" id="{D327CBA6-4010-8BD7-FDFE-0151A8D1C33B}"/>
              </a:ext>
            </a:extLst>
          </p:cNvPr>
          <p:cNvCxnSpPr>
            <a:cxnSpLocks/>
            <a:endCxn id="132" idx="2"/>
          </p:cNvCxnSpPr>
          <p:nvPr/>
        </p:nvCxnSpPr>
        <p:spPr>
          <a:xfrm>
            <a:off x="6957999" y="3302839"/>
            <a:ext cx="0" cy="1641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2" name="Retângulo: Cantos Arredondados 131">
            <a:extLst>
              <a:ext uri="{FF2B5EF4-FFF2-40B4-BE49-F238E27FC236}">
                <a16:creationId xmlns:a16="http://schemas.microsoft.com/office/drawing/2014/main" id="{FF1CDB9E-5859-7366-949F-A80E5367580F}"/>
              </a:ext>
            </a:extLst>
          </p:cNvPr>
          <p:cNvSpPr/>
          <p:nvPr/>
        </p:nvSpPr>
        <p:spPr>
          <a:xfrm>
            <a:off x="6429900"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89" name="Retângulo: Cantos Arredondados 188">
            <a:extLst>
              <a:ext uri="{FF2B5EF4-FFF2-40B4-BE49-F238E27FC236}">
                <a16:creationId xmlns:a16="http://schemas.microsoft.com/office/drawing/2014/main" id="{3865C601-8BAF-8100-4A6D-3B37998658ED}"/>
              </a:ext>
            </a:extLst>
          </p:cNvPr>
          <p:cNvSpPr/>
          <p:nvPr/>
        </p:nvSpPr>
        <p:spPr>
          <a:xfrm>
            <a:off x="6225446"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170" name="TextBox 52">
            <a:extLst>
              <a:ext uri="{FF2B5EF4-FFF2-40B4-BE49-F238E27FC236}">
                <a16:creationId xmlns:a16="http://schemas.microsoft.com/office/drawing/2014/main" id="{7CD679E4-77AB-0CA6-29AD-16340D7CB306}"/>
              </a:ext>
            </a:extLst>
          </p:cNvPr>
          <p:cNvSpPr txBox="1"/>
          <p:nvPr/>
        </p:nvSpPr>
        <p:spPr>
          <a:xfrm>
            <a:off x="6468851" y="4596908"/>
            <a:ext cx="978296" cy="130292"/>
          </a:xfrm>
          <a:prstGeom prst="rect">
            <a:avLst/>
          </a:prstGeom>
          <a:noFill/>
        </p:spPr>
        <p:txBody>
          <a:bodyPr wrap="square" lIns="0" tIns="0" rIns="0" bIns="0" rtlCol="0">
            <a:spAutoFit/>
          </a:bodyPr>
          <a:lstStyle/>
          <a:p>
            <a:pPr algn="ctr">
              <a:lnSpc>
                <a:spcPct val="110000"/>
              </a:lnSpc>
              <a:spcAft>
                <a:spcPts val="800"/>
              </a:spcAft>
            </a:pPr>
            <a:r>
              <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Uberlândia</a:t>
            </a:r>
          </a:p>
        </p:txBody>
      </p:sp>
      <p:sp>
        <p:nvSpPr>
          <p:cNvPr id="3" name="Retângulo: Cantos Arredondados 55">
            <a:extLst>
              <a:ext uri="{FF2B5EF4-FFF2-40B4-BE49-F238E27FC236}">
                <a16:creationId xmlns:a16="http://schemas.microsoft.com/office/drawing/2014/main" id="{E86E7B58-4C16-3CC2-6ED9-95AA7484D35A}"/>
              </a:ext>
            </a:extLst>
          </p:cNvPr>
          <p:cNvSpPr/>
          <p:nvPr/>
        </p:nvSpPr>
        <p:spPr>
          <a:xfrm>
            <a:off x="6429592" y="3409440"/>
            <a:ext cx="1056505" cy="684054"/>
          </a:xfrm>
          <a:prstGeom prst="roundRect">
            <a:avLst>
              <a:gd name="adj" fmla="val 12016"/>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4" name="TextBox 52">
            <a:extLst>
              <a:ext uri="{FF2B5EF4-FFF2-40B4-BE49-F238E27FC236}">
                <a16:creationId xmlns:a16="http://schemas.microsoft.com/office/drawing/2014/main" id="{1275A0D0-616C-F8B6-8F04-C9A9ADC6185D}"/>
              </a:ext>
            </a:extLst>
          </p:cNvPr>
          <p:cNvSpPr txBox="1"/>
          <p:nvPr/>
        </p:nvSpPr>
        <p:spPr>
          <a:xfrm>
            <a:off x="6460997" y="3589954"/>
            <a:ext cx="993695" cy="130292"/>
          </a:xfrm>
          <a:prstGeom prst="rect">
            <a:avLst/>
          </a:prstGeom>
          <a:noFill/>
        </p:spPr>
        <p:txBody>
          <a:bodyPr wrap="square" lIns="0" tIns="0" rIns="0" bIns="0" rtlCol="0">
            <a:spAutoFit/>
          </a:bodyPr>
          <a:lstStyle/>
          <a:p>
            <a:pPr algn="ctr">
              <a:lnSpc>
                <a:spcPct val="110000"/>
              </a:lnSpc>
              <a:spcAft>
                <a:spcPts val="800"/>
              </a:spcAft>
            </a:pPr>
            <a:r>
              <a:rPr lang="en-US" sz="8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[Related party]</a:t>
            </a:r>
          </a:p>
        </p:txBody>
      </p:sp>
      <p:sp>
        <p:nvSpPr>
          <p:cNvPr id="8" name="TextBox 52">
            <a:extLst>
              <a:ext uri="{FF2B5EF4-FFF2-40B4-BE49-F238E27FC236}">
                <a16:creationId xmlns:a16="http://schemas.microsoft.com/office/drawing/2014/main" id="{CA3B8EAE-E10A-2CFD-451C-D5865004CE2C}"/>
              </a:ext>
            </a:extLst>
          </p:cNvPr>
          <p:cNvSpPr txBox="1"/>
          <p:nvPr/>
        </p:nvSpPr>
        <p:spPr>
          <a:xfrm>
            <a:off x="6526556" y="3772267"/>
            <a:ext cx="862576" cy="265714"/>
          </a:xfrm>
          <a:prstGeom prst="rect">
            <a:avLst/>
          </a:prstGeom>
          <a:noFill/>
        </p:spPr>
        <p:txBody>
          <a:bodyPr wrap="square" lIns="0" tIns="0" rIns="0" bIns="0" rtlCol="0">
            <a:spAutoFit/>
          </a:bodyPr>
          <a:lstStyle/>
          <a:p>
            <a:pPr algn="ctr">
              <a:lnSpc>
                <a:spcPct val="110000"/>
              </a:lnSpc>
              <a:spcAft>
                <a:spcPts val="800"/>
              </a:spcAft>
            </a:pPr>
            <a:r>
              <a:rPr lang="en-US" sz="800" noProof="0" dirty="0">
                <a:latin typeface="Poppins" panose="00000500000000000000" pitchFamily="2" charset="0"/>
                <a:ea typeface="Source Serif Pro" panose="02040603050405020204" pitchFamily="18" charset="0"/>
                <a:cs typeface="Poppins" panose="00000500000000000000" pitchFamily="2" charset="0"/>
              </a:rPr>
              <a:t>Moura e Carrilho Participações</a:t>
            </a:r>
          </a:p>
        </p:txBody>
      </p:sp>
      <p:cxnSp>
        <p:nvCxnSpPr>
          <p:cNvPr id="126" name="Conector reto 161">
            <a:extLst>
              <a:ext uri="{FF2B5EF4-FFF2-40B4-BE49-F238E27FC236}">
                <a16:creationId xmlns:a16="http://schemas.microsoft.com/office/drawing/2014/main" id="{82FEB570-1ABE-6E3F-BCB8-8C4D4DDA60BF}"/>
              </a:ext>
            </a:extLst>
          </p:cNvPr>
          <p:cNvCxnSpPr>
            <a:cxnSpLocks/>
            <a:endCxn id="140" idx="2"/>
          </p:cNvCxnSpPr>
          <p:nvPr/>
        </p:nvCxnSpPr>
        <p:spPr>
          <a:xfrm>
            <a:off x="9662411" y="3302839"/>
            <a:ext cx="0" cy="1641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0" name="Retângulo: Cantos Arredondados 131">
            <a:extLst>
              <a:ext uri="{FF2B5EF4-FFF2-40B4-BE49-F238E27FC236}">
                <a16:creationId xmlns:a16="http://schemas.microsoft.com/office/drawing/2014/main" id="{2662D4A6-E133-CE5B-9806-CFB2438A54B4}"/>
              </a:ext>
            </a:extLst>
          </p:cNvPr>
          <p:cNvSpPr/>
          <p:nvPr/>
        </p:nvSpPr>
        <p:spPr>
          <a:xfrm>
            <a:off x="9134312"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142" name="Retângulo: Cantos Arredondados 188">
            <a:extLst>
              <a:ext uri="{FF2B5EF4-FFF2-40B4-BE49-F238E27FC236}">
                <a16:creationId xmlns:a16="http://schemas.microsoft.com/office/drawing/2014/main" id="{7AD8D880-715A-5354-2453-8ED2148935E2}"/>
              </a:ext>
            </a:extLst>
          </p:cNvPr>
          <p:cNvSpPr/>
          <p:nvPr/>
        </p:nvSpPr>
        <p:spPr>
          <a:xfrm>
            <a:off x="8929858"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130" name="TextBox 52">
            <a:extLst>
              <a:ext uri="{FF2B5EF4-FFF2-40B4-BE49-F238E27FC236}">
                <a16:creationId xmlns:a16="http://schemas.microsoft.com/office/drawing/2014/main" id="{CE1BE605-1308-59D0-BD9F-E49E4AF4DF2A}"/>
              </a:ext>
            </a:extLst>
          </p:cNvPr>
          <p:cNvSpPr txBox="1"/>
          <p:nvPr/>
        </p:nvSpPr>
        <p:spPr>
          <a:xfrm>
            <a:off x="9173263" y="4596908"/>
            <a:ext cx="978296" cy="130292"/>
          </a:xfrm>
          <a:prstGeom prst="rect">
            <a:avLst/>
          </a:prstGeom>
          <a:noFill/>
        </p:spPr>
        <p:txBody>
          <a:bodyPr wrap="square" lIns="0" tIns="0" rIns="0" bIns="0" rtlCol="0">
            <a:spAutoFit/>
          </a:bodyPr>
          <a:lstStyle/>
          <a:p>
            <a:pPr algn="ctr">
              <a:lnSpc>
                <a:spcPct val="110000"/>
              </a:lnSpc>
              <a:spcAft>
                <a:spcPts val="800"/>
              </a:spcAft>
            </a:pPr>
            <a:r>
              <a:rPr lang="en-US" sz="800" b="1" spc="-4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Rio Verde</a:t>
            </a:r>
            <a:endPar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133" name="Retângulo: Cantos Arredondados 55">
            <a:extLst>
              <a:ext uri="{FF2B5EF4-FFF2-40B4-BE49-F238E27FC236}">
                <a16:creationId xmlns:a16="http://schemas.microsoft.com/office/drawing/2014/main" id="{F03AF5A7-4F87-52BE-D66F-7359E0FAC812}"/>
              </a:ext>
            </a:extLst>
          </p:cNvPr>
          <p:cNvSpPr/>
          <p:nvPr/>
        </p:nvSpPr>
        <p:spPr>
          <a:xfrm>
            <a:off x="9134004" y="3409440"/>
            <a:ext cx="1056505" cy="684054"/>
          </a:xfrm>
          <a:prstGeom prst="roundRect">
            <a:avLst>
              <a:gd name="adj" fmla="val 12016"/>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134" name="TextBox 52">
            <a:extLst>
              <a:ext uri="{FF2B5EF4-FFF2-40B4-BE49-F238E27FC236}">
                <a16:creationId xmlns:a16="http://schemas.microsoft.com/office/drawing/2014/main" id="{8AA4C853-E538-CB22-8743-B18B785B7355}"/>
              </a:ext>
            </a:extLst>
          </p:cNvPr>
          <p:cNvSpPr txBox="1"/>
          <p:nvPr/>
        </p:nvSpPr>
        <p:spPr>
          <a:xfrm>
            <a:off x="9165409" y="3589954"/>
            <a:ext cx="993695" cy="130292"/>
          </a:xfrm>
          <a:prstGeom prst="rect">
            <a:avLst/>
          </a:prstGeom>
          <a:noFill/>
        </p:spPr>
        <p:txBody>
          <a:bodyPr wrap="square" lIns="0" tIns="0" rIns="0" bIns="0" rtlCol="0">
            <a:spAutoFit/>
          </a:bodyPr>
          <a:lstStyle/>
          <a:p>
            <a:pPr algn="ctr">
              <a:lnSpc>
                <a:spcPct val="110000"/>
              </a:lnSpc>
              <a:spcAft>
                <a:spcPts val="800"/>
              </a:spcAft>
            </a:pPr>
            <a:endParaRPr/>
          </a:p>
        </p:txBody>
      </p:sp>
      <p:sp>
        <p:nvSpPr>
          <p:cNvPr id="136" name="TextBox 52">
            <a:extLst>
              <a:ext uri="{FF2B5EF4-FFF2-40B4-BE49-F238E27FC236}">
                <a16:creationId xmlns:a16="http://schemas.microsoft.com/office/drawing/2014/main" id="{14CC4BC3-79DA-B4FE-EEEE-0C432DB15F60}"/>
              </a:ext>
            </a:extLst>
          </p:cNvPr>
          <p:cNvSpPr txBox="1"/>
          <p:nvPr/>
        </p:nvSpPr>
        <p:spPr>
          <a:xfrm>
            <a:off x="9230968" y="3772267"/>
            <a:ext cx="862576" cy="265714"/>
          </a:xfrm>
          <a:prstGeom prst="rect">
            <a:avLst/>
          </a:prstGeom>
          <a:noFill/>
        </p:spPr>
        <p:txBody>
          <a:bodyPr wrap="square" lIns="0" tIns="0" rIns="0" bIns="0" rtlCol="0">
            <a:spAutoFit/>
          </a:bodyPr>
          <a:lstStyle/>
          <a:p>
            <a:pPr algn="ctr">
              <a:lnSpc>
                <a:spcPct val="110000"/>
              </a:lnSpc>
              <a:spcAft>
                <a:spcPts val="800"/>
              </a:spcAft>
            </a:pPr>
            <a:endParaRPr/>
          </a:p>
        </p:txBody>
      </p:sp>
      <p:cxnSp>
        <p:nvCxnSpPr>
          <p:cNvPr id="186" name="Conector reto 161">
            <a:extLst>
              <a:ext uri="{FF2B5EF4-FFF2-40B4-BE49-F238E27FC236}">
                <a16:creationId xmlns:a16="http://schemas.microsoft.com/office/drawing/2014/main" id="{F67975C1-6B5C-A253-6509-B788ABB50BB6}"/>
              </a:ext>
            </a:extLst>
          </p:cNvPr>
          <p:cNvCxnSpPr>
            <a:cxnSpLocks/>
            <a:endCxn id="213" idx="2"/>
          </p:cNvCxnSpPr>
          <p:nvPr/>
        </p:nvCxnSpPr>
        <p:spPr>
          <a:xfrm>
            <a:off x="5605793" y="3302839"/>
            <a:ext cx="0" cy="164188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3" name="Retângulo: Cantos Arredondados 131">
            <a:extLst>
              <a:ext uri="{FF2B5EF4-FFF2-40B4-BE49-F238E27FC236}">
                <a16:creationId xmlns:a16="http://schemas.microsoft.com/office/drawing/2014/main" id="{AA1933EB-1B4F-3A12-6F57-50807AB48392}"/>
              </a:ext>
            </a:extLst>
          </p:cNvPr>
          <p:cNvSpPr/>
          <p:nvPr/>
        </p:nvSpPr>
        <p:spPr>
          <a:xfrm>
            <a:off x="5077694"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214" name="Retângulo: Cantos Arredondados 188">
            <a:extLst>
              <a:ext uri="{FF2B5EF4-FFF2-40B4-BE49-F238E27FC236}">
                <a16:creationId xmlns:a16="http://schemas.microsoft.com/office/drawing/2014/main" id="{47082743-D0AD-213E-A91F-D4AFD1AD6B8D}"/>
              </a:ext>
            </a:extLst>
          </p:cNvPr>
          <p:cNvSpPr/>
          <p:nvPr/>
        </p:nvSpPr>
        <p:spPr>
          <a:xfrm>
            <a:off x="4873240"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206" name="TextBox 52">
            <a:extLst>
              <a:ext uri="{FF2B5EF4-FFF2-40B4-BE49-F238E27FC236}">
                <a16:creationId xmlns:a16="http://schemas.microsoft.com/office/drawing/2014/main" id="{4C62E277-3C83-ECAA-9542-A6B46ED84579}"/>
              </a:ext>
            </a:extLst>
          </p:cNvPr>
          <p:cNvSpPr txBox="1"/>
          <p:nvPr/>
        </p:nvSpPr>
        <p:spPr>
          <a:xfrm>
            <a:off x="5116645" y="4529197"/>
            <a:ext cx="978296" cy="265714"/>
          </a:xfrm>
          <a:prstGeom prst="rect">
            <a:avLst/>
          </a:prstGeom>
          <a:noFill/>
        </p:spPr>
        <p:txBody>
          <a:bodyPr wrap="square" lIns="0" tIns="0" rIns="0" bIns="0" rtlCol="0">
            <a:spAutoFit/>
          </a:bodyPr>
          <a:lstStyle/>
          <a:p>
            <a:pPr algn="ctr">
              <a:lnSpc>
                <a:spcPct val="110000"/>
              </a:lnSpc>
              <a:spcAft>
                <a:spcPts val="800"/>
              </a:spcAft>
            </a:pPr>
            <a:r>
              <a:rPr lang="en-US" sz="800" b="1" spc="-40"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rPr>
              <a:t>Filial Nerópolis</a:t>
            </a:r>
          </a:p>
        </p:txBody>
      </p:sp>
      <p:sp>
        <p:nvSpPr>
          <p:cNvPr id="208" name="Retângulo: Cantos Arredondados 55">
            <a:extLst>
              <a:ext uri="{FF2B5EF4-FFF2-40B4-BE49-F238E27FC236}">
                <a16:creationId xmlns:a16="http://schemas.microsoft.com/office/drawing/2014/main" id="{B47E9EF6-7DD4-4F49-2C2B-96265B7B3FA4}"/>
              </a:ext>
            </a:extLst>
          </p:cNvPr>
          <p:cNvSpPr/>
          <p:nvPr/>
        </p:nvSpPr>
        <p:spPr>
          <a:xfrm>
            <a:off x="5077386" y="3409440"/>
            <a:ext cx="1056505" cy="684054"/>
          </a:xfrm>
          <a:prstGeom prst="roundRect">
            <a:avLst>
              <a:gd name="adj" fmla="val 12016"/>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09" name="TextBox 52">
            <a:extLst>
              <a:ext uri="{FF2B5EF4-FFF2-40B4-BE49-F238E27FC236}">
                <a16:creationId xmlns:a16="http://schemas.microsoft.com/office/drawing/2014/main" id="{73C89642-F241-C47A-7B59-E7187ACE774C}"/>
              </a:ext>
            </a:extLst>
          </p:cNvPr>
          <p:cNvSpPr txBox="1"/>
          <p:nvPr/>
        </p:nvSpPr>
        <p:spPr>
          <a:xfrm>
            <a:off x="5108791" y="3589954"/>
            <a:ext cx="993695" cy="130292"/>
          </a:xfrm>
          <a:prstGeom prst="rect">
            <a:avLst/>
          </a:prstGeom>
          <a:noFill/>
        </p:spPr>
        <p:txBody>
          <a:bodyPr wrap="square" lIns="0" tIns="0" rIns="0" bIns="0" rtlCol="0">
            <a:spAutoFit/>
          </a:bodyPr>
          <a:lstStyle/>
          <a:p>
            <a:pPr algn="ctr">
              <a:lnSpc>
                <a:spcPct val="110000"/>
              </a:lnSpc>
              <a:spcAft>
                <a:spcPts val="800"/>
              </a:spcAft>
            </a:pPr>
            <a:endParaRPr/>
          </a:p>
        </p:txBody>
      </p:sp>
      <p:sp>
        <p:nvSpPr>
          <p:cNvPr id="210" name="TextBox 52">
            <a:extLst>
              <a:ext uri="{FF2B5EF4-FFF2-40B4-BE49-F238E27FC236}">
                <a16:creationId xmlns:a16="http://schemas.microsoft.com/office/drawing/2014/main" id="{940BCCBF-22F5-820A-89A2-CD8E1C818445}"/>
              </a:ext>
            </a:extLst>
          </p:cNvPr>
          <p:cNvSpPr txBox="1"/>
          <p:nvPr/>
        </p:nvSpPr>
        <p:spPr>
          <a:xfrm>
            <a:off x="5174350" y="3772267"/>
            <a:ext cx="862576" cy="130292"/>
          </a:xfrm>
          <a:prstGeom prst="rect">
            <a:avLst/>
          </a:prstGeom>
          <a:noFill/>
        </p:spPr>
        <p:txBody>
          <a:bodyPr wrap="square" lIns="0" tIns="0" rIns="0" bIns="0" rtlCol="0">
            <a:spAutoFit/>
          </a:bodyPr>
          <a:lstStyle/>
          <a:p>
            <a:pPr algn="ctr">
              <a:lnSpc>
                <a:spcPct val="110000"/>
              </a:lnSpc>
              <a:spcAft>
                <a:spcPts val="800"/>
              </a:spcAft>
            </a:pPr>
            <a:endParaRPr/>
          </a:p>
        </p:txBody>
      </p:sp>
      <p:cxnSp>
        <p:nvCxnSpPr>
          <p:cNvPr id="216" name="Conector reto 161">
            <a:extLst>
              <a:ext uri="{FF2B5EF4-FFF2-40B4-BE49-F238E27FC236}">
                <a16:creationId xmlns:a16="http://schemas.microsoft.com/office/drawing/2014/main" id="{487CB4AB-91D1-D30A-D763-EC3234DDA6E3}"/>
              </a:ext>
            </a:extLst>
          </p:cNvPr>
          <p:cNvCxnSpPr>
            <a:cxnSpLocks/>
            <a:endCxn id="224" idx="0"/>
          </p:cNvCxnSpPr>
          <p:nvPr/>
        </p:nvCxnSpPr>
        <p:spPr>
          <a:xfrm>
            <a:off x="8310205" y="3302839"/>
            <a:ext cx="0" cy="187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6" name="Retângulo: Cantos Arredondados 131">
            <a:extLst>
              <a:ext uri="{FF2B5EF4-FFF2-40B4-BE49-F238E27FC236}">
                <a16:creationId xmlns:a16="http://schemas.microsoft.com/office/drawing/2014/main" id="{AD119B94-6EEC-7861-543C-0863FF71032C}"/>
              </a:ext>
            </a:extLst>
          </p:cNvPr>
          <p:cNvSpPr/>
          <p:nvPr/>
        </p:nvSpPr>
        <p:spPr>
          <a:xfrm>
            <a:off x="7782106" y="4379387"/>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227" name="Retângulo: Cantos Arredondados 188">
            <a:extLst>
              <a:ext uri="{FF2B5EF4-FFF2-40B4-BE49-F238E27FC236}">
                <a16:creationId xmlns:a16="http://schemas.microsoft.com/office/drawing/2014/main" id="{2061ED2B-2BD6-B341-0715-5CE2C0BB896F}"/>
              </a:ext>
            </a:extLst>
          </p:cNvPr>
          <p:cNvSpPr/>
          <p:nvPr/>
        </p:nvSpPr>
        <p:spPr>
          <a:xfrm>
            <a:off x="7577652" y="4266042"/>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224" name="Retângulo: Cantos Arredondados 134">
            <a:extLst>
              <a:ext uri="{FF2B5EF4-FFF2-40B4-BE49-F238E27FC236}">
                <a16:creationId xmlns:a16="http://schemas.microsoft.com/office/drawing/2014/main" id="{2D37BE20-0EA7-E927-23B1-793F70E7FF66}"/>
              </a:ext>
            </a:extLst>
          </p:cNvPr>
          <p:cNvSpPr/>
          <p:nvPr/>
        </p:nvSpPr>
        <p:spPr>
          <a:xfrm>
            <a:off x="7782106" y="5181513"/>
            <a:ext cx="1056198" cy="565334"/>
          </a:xfrm>
          <a:prstGeom prst="roundRect">
            <a:avLst>
              <a:gd name="adj" fmla="val 12016"/>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100" spc="-40" dirty="0">
              <a:solidFill>
                <a:schemeClr val="tx1"/>
              </a:solidFill>
              <a:latin typeface="Source Serif Pro" panose="02040603050405020204" pitchFamily="18" charset="0"/>
              <a:ea typeface="Source Serif Pro" panose="02040603050405020204" pitchFamily="18" charset="0"/>
            </a:endParaRPr>
          </a:p>
        </p:txBody>
      </p:sp>
      <p:sp>
        <p:nvSpPr>
          <p:cNvPr id="225" name="Retângulo: Cantos Arredondados 193">
            <a:extLst>
              <a:ext uri="{FF2B5EF4-FFF2-40B4-BE49-F238E27FC236}">
                <a16:creationId xmlns:a16="http://schemas.microsoft.com/office/drawing/2014/main" id="{F20E7AB5-D18D-8818-698E-4FD7E10F5B39}"/>
              </a:ext>
            </a:extLst>
          </p:cNvPr>
          <p:cNvSpPr/>
          <p:nvPr/>
        </p:nvSpPr>
        <p:spPr>
          <a:xfrm>
            <a:off x="7577652" y="5069841"/>
            <a:ext cx="41337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a:p>
        </p:txBody>
      </p:sp>
      <p:sp>
        <p:nvSpPr>
          <p:cNvPr id="219" name="TextBox 52">
            <a:extLst>
              <a:ext uri="{FF2B5EF4-FFF2-40B4-BE49-F238E27FC236}">
                <a16:creationId xmlns:a16="http://schemas.microsoft.com/office/drawing/2014/main" id="{8079E12C-8EE7-A2C2-9338-60C2E2391AB5}"/>
              </a:ext>
            </a:extLst>
          </p:cNvPr>
          <p:cNvSpPr txBox="1"/>
          <p:nvPr/>
        </p:nvSpPr>
        <p:spPr>
          <a:xfrm>
            <a:off x="7821057" y="4596908"/>
            <a:ext cx="978296" cy="130292"/>
          </a:xfrm>
          <a:prstGeom prst="rect">
            <a:avLst/>
          </a:prstGeom>
          <a:noFill/>
        </p:spPr>
        <p:txBody>
          <a:bodyPr wrap="square" lIns="0" tIns="0" rIns="0" bIns="0" rtlCol="0">
            <a:spAutoFit/>
          </a:bodyPr>
          <a:lstStyle/>
          <a:p>
            <a:pPr algn="ctr">
              <a:lnSpc>
                <a:spcPct val="110000"/>
              </a:lnSpc>
              <a:spcAft>
                <a:spcPts val="800"/>
              </a:spcAft>
            </a:pPr>
            <a:endParaRPr/>
          </a:p>
        </p:txBody>
      </p:sp>
      <p:sp>
        <p:nvSpPr>
          <p:cNvPr id="220" name="TextBox 52">
            <a:extLst>
              <a:ext uri="{FF2B5EF4-FFF2-40B4-BE49-F238E27FC236}">
                <a16:creationId xmlns:a16="http://schemas.microsoft.com/office/drawing/2014/main" id="{F1E7521B-77C7-2D82-FE57-675976803DAC}"/>
              </a:ext>
            </a:extLst>
          </p:cNvPr>
          <p:cNvSpPr txBox="1"/>
          <p:nvPr/>
        </p:nvSpPr>
        <p:spPr>
          <a:xfrm>
            <a:off x="7853759" y="5331323"/>
            <a:ext cx="912893" cy="265714"/>
          </a:xfrm>
          <a:prstGeom prst="rect">
            <a:avLst/>
          </a:prstGeom>
          <a:noFill/>
        </p:spPr>
        <p:txBody>
          <a:bodyPr wrap="square" lIns="0" tIns="0" rIns="0" bIns="0" rtlCol="0">
            <a:spAutoFit/>
          </a:bodyPr>
          <a:lstStyle/>
          <a:p>
            <a:pPr algn="ctr">
              <a:lnSpc>
                <a:spcPct val="110000"/>
              </a:lnSpc>
              <a:spcAft>
                <a:spcPts val="800"/>
              </a:spcAft>
            </a:pPr>
            <a:endParaRPr/>
          </a:p>
        </p:txBody>
      </p:sp>
      <p:sp>
        <p:nvSpPr>
          <p:cNvPr id="221" name="Retângulo: Cantos Arredondados 55">
            <a:extLst>
              <a:ext uri="{FF2B5EF4-FFF2-40B4-BE49-F238E27FC236}">
                <a16:creationId xmlns:a16="http://schemas.microsoft.com/office/drawing/2014/main" id="{13298F9A-FCE7-4914-DD71-ED3AB8487A7A}"/>
              </a:ext>
            </a:extLst>
          </p:cNvPr>
          <p:cNvSpPr/>
          <p:nvPr/>
        </p:nvSpPr>
        <p:spPr>
          <a:xfrm>
            <a:off x="7781798" y="3409440"/>
            <a:ext cx="1056505" cy="684054"/>
          </a:xfrm>
          <a:prstGeom prst="roundRect">
            <a:avLst>
              <a:gd name="adj" fmla="val 12016"/>
            </a:avLst>
          </a:prstGeom>
          <a:solidFill>
            <a:srgbClr val="FFFFFF"/>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sp>
        <p:nvSpPr>
          <p:cNvPr id="222" name="TextBox 52">
            <a:extLst>
              <a:ext uri="{FF2B5EF4-FFF2-40B4-BE49-F238E27FC236}">
                <a16:creationId xmlns:a16="http://schemas.microsoft.com/office/drawing/2014/main" id="{D8BACA3F-FE13-5282-3805-F59F6349F3D5}"/>
              </a:ext>
            </a:extLst>
          </p:cNvPr>
          <p:cNvSpPr txBox="1"/>
          <p:nvPr/>
        </p:nvSpPr>
        <p:spPr>
          <a:xfrm>
            <a:off x="7813203" y="3589954"/>
            <a:ext cx="993695" cy="130292"/>
          </a:xfrm>
          <a:prstGeom prst="rect">
            <a:avLst/>
          </a:prstGeom>
          <a:noFill/>
        </p:spPr>
        <p:txBody>
          <a:bodyPr wrap="square" lIns="0" tIns="0" rIns="0" bIns="0" rtlCol="0">
            <a:spAutoFit/>
          </a:bodyPr>
          <a:lstStyle/>
          <a:p>
            <a:pPr algn="ctr">
              <a:lnSpc>
                <a:spcPct val="110000"/>
              </a:lnSpc>
              <a:spcAft>
                <a:spcPts val="800"/>
              </a:spcAft>
            </a:pPr>
            <a:endParaRPr lang="en-US" sz="800" b="1" noProof="0" dirty="0">
              <a:solidFill>
                <a:schemeClr val="bg2"/>
              </a:solidFill>
              <a:latin typeface="Poppins SemiBold" panose="00000700000000000000" pitchFamily="2" charset="0"/>
              <a:ea typeface="Source Serif Pro" panose="02040603050405020204" pitchFamily="18" charset="0"/>
              <a:cs typeface="Poppins SemiBold" panose="00000700000000000000" pitchFamily="2" charset="0"/>
            </a:endParaRPr>
          </a:p>
        </p:txBody>
      </p:sp>
      <p:sp>
        <p:nvSpPr>
          <p:cNvPr id="223" name="TextBox 52">
            <a:extLst>
              <a:ext uri="{FF2B5EF4-FFF2-40B4-BE49-F238E27FC236}">
                <a16:creationId xmlns:a16="http://schemas.microsoft.com/office/drawing/2014/main" id="{71E207D2-FE4E-E98B-6F0E-29B145436768}"/>
              </a:ext>
            </a:extLst>
          </p:cNvPr>
          <p:cNvSpPr txBox="1"/>
          <p:nvPr/>
        </p:nvSpPr>
        <p:spPr>
          <a:xfrm>
            <a:off x="7835633" y="3772267"/>
            <a:ext cx="948834" cy="265714"/>
          </a:xfrm>
          <a:prstGeom prst="rect">
            <a:avLst/>
          </a:prstGeom>
          <a:noFill/>
        </p:spPr>
        <p:txBody>
          <a:bodyPr wrap="square" lIns="0" tIns="0" rIns="0" bIns="0" rtlCol="0">
            <a:spAutoFit/>
          </a:bodyPr>
          <a:lstStyle/>
          <a:p>
            <a:pPr algn="ctr">
              <a:lnSpc>
                <a:spcPct val="110000"/>
              </a:lnSpc>
              <a:spcAft>
                <a:spcPts val="800"/>
              </a:spcAft>
            </a:pPr>
            <a:endParaRPr/>
          </a:p>
        </p:txBody>
      </p:sp>
    </p:spTree>
    <p:extLst>
      <p:ext uri="{BB962C8B-B14F-4D97-AF65-F5344CB8AC3E}">
        <p14:creationId xmlns:p14="http://schemas.microsoft.com/office/powerpoint/2010/main" val="603088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5D4EB-7548-EFCA-E3FB-81EDD64F83FD}"/>
            </a:ext>
          </a:extLst>
        </p:cNvPr>
        <p:cNvGrpSpPr/>
        <p:nvPr/>
      </p:nvGrpSpPr>
      <p:grpSpPr>
        <a:xfrm>
          <a:off x="0" y="0"/>
          <a:ext cx="0" cy="0"/>
          <a:chOff x="0" y="0"/>
          <a:chExt cx="0" cy="0"/>
        </a:xfrm>
      </p:grpSpPr>
      <p:sp>
        <p:nvSpPr>
          <p:cNvPr id="71" name="Retângulo 70">
            <a:extLst>
              <a:ext uri="{FF2B5EF4-FFF2-40B4-BE49-F238E27FC236}">
                <a16:creationId xmlns:a16="http://schemas.microsoft.com/office/drawing/2014/main" id="{02BB1FD4-1E37-2A52-CBBE-AD695227804F}"/>
              </a:ext>
            </a:extLst>
          </p:cNvPr>
          <p:cNvSpPr>
            <a:spLocks noGrp="1" noRot="1" noMove="1" noResize="1" noEditPoints="1" noAdjustHandles="1" noChangeArrowheads="1" noChangeShapeType="1"/>
          </p:cNvSpPr>
          <p:nvPr/>
        </p:nvSpPr>
        <p:spPr>
          <a:xfrm>
            <a:off x="0" y="0"/>
            <a:ext cx="12192000" cy="17692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cxnSp>
        <p:nvCxnSpPr>
          <p:cNvPr id="64" name="Conector reto 63">
            <a:extLst>
              <a:ext uri="{FF2B5EF4-FFF2-40B4-BE49-F238E27FC236}">
                <a16:creationId xmlns:a16="http://schemas.microsoft.com/office/drawing/2014/main" id="{7E996BE9-3BAB-B83B-3A70-C75CFB0D028E}"/>
              </a:ext>
            </a:extLst>
          </p:cNvPr>
          <p:cNvCxnSpPr>
            <a:cxnSpLocks/>
            <a:stCxn id="59" idx="2"/>
            <a:endCxn id="62" idx="0"/>
          </p:cNvCxnSpPr>
          <p:nvPr/>
        </p:nvCxnSpPr>
        <p:spPr>
          <a:xfrm>
            <a:off x="1428682" y="3792000"/>
            <a:ext cx="0" cy="16183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ítulo 3">
            <a:extLst>
              <a:ext uri="{FF2B5EF4-FFF2-40B4-BE49-F238E27FC236}">
                <a16:creationId xmlns:a16="http://schemas.microsoft.com/office/drawing/2014/main" id="{13188D3F-C829-DD78-D7AF-73C3F688A23F}"/>
              </a:ext>
            </a:extLst>
          </p:cNvPr>
          <p:cNvSpPr>
            <a:spLocks noGrp="1"/>
          </p:cNvSpPr>
          <p:nvPr>
            <p:ph type="title"/>
          </p:nvPr>
        </p:nvSpPr>
        <p:spPr>
          <a:noFill/>
          <a:ln>
            <a:noFill/>
          </a:ln>
        </p:spPr>
        <p:style>
          <a:lnRef idx="2">
            <a:schemeClr val="accent1"/>
          </a:lnRef>
          <a:fillRef idx="1">
            <a:schemeClr val="lt1"/>
          </a:fillRef>
          <a:effectRef idx="0">
            <a:schemeClr val="accent1"/>
          </a:effectRef>
          <a:fontRef idx="minor">
            <a:schemeClr val="dk1"/>
          </a:fontRef>
        </p:style>
        <p:txBody>
          <a:bodyPr vert="horz" lIns="0" tIns="0" rIns="0" bIns="0" rtlCol="0" anchor="t" anchorCtr="0">
            <a:noAutofit/>
          </a:bodyPr>
          <a:lstStyle/>
          <a:p>
            <a:r>
              <a:rPr lang="en-US"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Success case: Cargill operation</a:t>
            </a:r>
            <a:endParaRPr lang="en-US" sz="18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 name="Espaço Reservado para Conteúdo 4">
            <a:extLst>
              <a:ext uri="{FF2B5EF4-FFF2-40B4-BE49-F238E27FC236}">
                <a16:creationId xmlns:a16="http://schemas.microsoft.com/office/drawing/2014/main" id="{FB562783-A620-894A-A80D-0DE758AE2C9C}"/>
              </a:ext>
            </a:extLst>
          </p:cNvPr>
          <p:cNvSpPr>
            <a:spLocks noGrp="1"/>
          </p:cNvSpPr>
          <p:nvPr>
            <p:ph sz="quarter" idx="13"/>
          </p:nvPr>
        </p:nvSpPr>
        <p:spPr>
          <a:xfrm>
            <a:off x="731838" y="1052961"/>
            <a:ext cx="11102975" cy="215503"/>
          </a:xfrm>
        </p:spPr>
        <p:txBody>
          <a:bodyPr/>
          <a:lstStyle/>
          <a:p>
            <a:r>
              <a:rPr lang="en-US" noProof="0" dirty="0">
                <a:solidFill>
                  <a:schemeClr val="bg1"/>
                </a:solidFill>
                <a:latin typeface="Poppins" panose="00000500000000000000" pitchFamily="2" charset="0"/>
                <a:cs typeface="Poppins" panose="00000500000000000000" pitchFamily="2" charset="0"/>
              </a:rPr>
              <a:t>Long-term relationship example — details to be confirmed with Company</a:t>
            </a:r>
          </a:p>
        </p:txBody>
      </p:sp>
      <p:sp>
        <p:nvSpPr>
          <p:cNvPr id="10" name="Espaço Reservado para Texto 9">
            <a:extLst>
              <a:ext uri="{FF2B5EF4-FFF2-40B4-BE49-F238E27FC236}">
                <a16:creationId xmlns:a16="http://schemas.microsoft.com/office/drawing/2014/main" id="{F8FF8FD2-36AA-B2FE-3C5A-7058122B0597}"/>
              </a:ext>
            </a:extLst>
          </p:cNvPr>
          <p:cNvSpPr>
            <a:spLocks noGrp="1"/>
          </p:cNvSpPr>
          <p:nvPr>
            <p:ph type="body" sz="quarter" idx="36"/>
          </p:nvPr>
        </p:nvSpPr>
        <p:spPr/>
        <p:txBody>
          <a:bodyPr/>
          <a:lstStyle/>
          <a:p>
            <a:r>
              <a:rPr lang="en-US" noProof="0" dirty="0"/>
              <a:t>Source: Company — to be confirmed</a:t>
            </a:r>
          </a:p>
        </p:txBody>
      </p:sp>
      <p:sp>
        <p:nvSpPr>
          <p:cNvPr id="11" name="Slide Number Placeholder 5">
            <a:extLst>
              <a:ext uri="{FF2B5EF4-FFF2-40B4-BE49-F238E27FC236}">
                <a16:creationId xmlns:a16="http://schemas.microsoft.com/office/drawing/2014/main" id="{8FAA9AA8-6F0D-F5B3-ACB5-BAB11CBC5717}"/>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noProof="0" smtClean="0"/>
              <a:pPr algn="ctr"/>
              <a:t>17</a:t>
            </a:fld>
            <a:endParaRPr lang="en-US" noProof="0" dirty="0">
              <a:latin typeface="Poppins Light" panose="00000400000000000000" pitchFamily="2" charset="0"/>
              <a:cs typeface="Poppins Light" panose="00000400000000000000" pitchFamily="2" charset="0"/>
            </a:endParaRPr>
          </a:p>
        </p:txBody>
      </p:sp>
      <p:pic>
        <p:nvPicPr>
          <p:cNvPr id="3" name="Picture 20">
            <a:extLst>
              <a:ext uri="{FF2B5EF4-FFF2-40B4-BE49-F238E27FC236}">
                <a16:creationId xmlns:a16="http://schemas.microsoft.com/office/drawing/2014/main" id="{8C8CFF2C-AEBF-9BC3-DB4D-2F181DD30856}"/>
              </a:ext>
            </a:extLst>
          </p:cNvPr>
          <p:cNvPicPr>
            <a:picLocks noChangeAspect="1"/>
          </p:cNvPicPr>
          <p:nvPr/>
        </p:nvPicPr>
        <p:blipFill>
          <a:blip r:embed="rId3"/>
          <a:srcRect l="23629" r="19926"/>
          <a:stretch>
            <a:fillRect/>
          </a:stretch>
        </p:blipFill>
        <p:spPr>
          <a:xfrm>
            <a:off x="8423685" y="1452337"/>
            <a:ext cx="3411127" cy="4532400"/>
          </a:xfrm>
          <a:prstGeom prst="roundRect">
            <a:avLst>
              <a:gd name="adj" fmla="val 2913"/>
            </a:avLst>
          </a:prstGeom>
        </p:spPr>
      </p:pic>
      <p:sp>
        <p:nvSpPr>
          <p:cNvPr id="6" name="Rectangle 16">
            <a:extLst>
              <a:ext uri="{FF2B5EF4-FFF2-40B4-BE49-F238E27FC236}">
                <a16:creationId xmlns:a16="http://schemas.microsoft.com/office/drawing/2014/main" id="{859D8E87-38B4-CA7E-42F3-C6C4D0C100A5}"/>
              </a:ext>
            </a:extLst>
          </p:cNvPr>
          <p:cNvSpPr/>
          <p:nvPr/>
        </p:nvSpPr>
        <p:spPr>
          <a:xfrm>
            <a:off x="8423685" y="1798522"/>
            <a:ext cx="3412800" cy="98912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pic>
        <p:nvPicPr>
          <p:cNvPr id="16" name="Picture 11" descr="Votorantim Cimentos cria nova marca corporativa para se alinhar à era  digital e de sustentabilidade | Empresas | Valor Econômico">
            <a:extLst>
              <a:ext uri="{FF2B5EF4-FFF2-40B4-BE49-F238E27FC236}">
                <a16:creationId xmlns:a16="http://schemas.microsoft.com/office/drawing/2014/main" id="{BFDB5BD1-C2C9-7B6B-DD4F-5D025FEFD69D}"/>
              </a:ext>
            </a:extLst>
          </p:cNvPr>
          <p:cNvPicPr>
            <a:picLocks noChangeAspect="1"/>
          </p:cNvPicPr>
          <p:nvPr/>
        </p:nvPicPr>
        <p:blipFill>
          <a:blip r:embed="rId4">
            <a:clrChange>
              <a:clrFrom>
                <a:srgbClr val="FDFEFF"/>
              </a:clrFrom>
              <a:clrTo>
                <a:srgbClr val="FDFEFF">
                  <a:alpha val="0"/>
                </a:srgbClr>
              </a:clrTo>
            </a:clrChange>
          </a:blip>
          <a:srcRect l="5682" t="14771" r="5224" b="12082"/>
          <a:stretch>
            <a:fillRect/>
          </a:stretch>
        </p:blipFill>
        <p:spPr>
          <a:xfrm>
            <a:off x="9277242" y="2101931"/>
            <a:ext cx="1705687" cy="425610"/>
          </a:xfrm>
          <a:prstGeom prst="rect">
            <a:avLst/>
          </a:prstGeom>
        </p:spPr>
      </p:pic>
      <p:sp>
        <p:nvSpPr>
          <p:cNvPr id="23" name="Retângulo: Cantos Arredondados 22">
            <a:extLst>
              <a:ext uri="{FF2B5EF4-FFF2-40B4-BE49-F238E27FC236}">
                <a16:creationId xmlns:a16="http://schemas.microsoft.com/office/drawing/2014/main" id="{B1AD877D-3826-9A5F-EE3D-696D0208B22A}"/>
              </a:ext>
            </a:extLst>
          </p:cNvPr>
          <p:cNvSpPr/>
          <p:nvPr/>
        </p:nvSpPr>
        <p:spPr>
          <a:xfrm>
            <a:off x="8642242" y="1678988"/>
            <a:ext cx="170568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[City — State]</a:t>
            </a:r>
          </a:p>
        </p:txBody>
      </p:sp>
      <p:sp>
        <p:nvSpPr>
          <p:cNvPr id="24" name="Retângulo: Cantos Arredondados 23">
            <a:extLst>
              <a:ext uri="{FF2B5EF4-FFF2-40B4-BE49-F238E27FC236}">
                <a16:creationId xmlns:a16="http://schemas.microsoft.com/office/drawing/2014/main" id="{3BF970AA-BCAC-F57A-9890-77105C7F6D90}"/>
              </a:ext>
            </a:extLst>
          </p:cNvPr>
          <p:cNvSpPr/>
          <p:nvPr/>
        </p:nvSpPr>
        <p:spPr>
          <a:xfrm>
            <a:off x="731837" y="1647238"/>
            <a:ext cx="3360415" cy="239070"/>
          </a:xfrm>
          <a:prstGeom prst="roundRect">
            <a:avLst>
              <a:gd name="adj" fmla="val 50000"/>
            </a:avLst>
          </a:prstGeom>
          <a:solidFill>
            <a:schemeClr val="l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Start of contract</a:t>
            </a:r>
          </a:p>
        </p:txBody>
      </p:sp>
      <p:sp>
        <p:nvSpPr>
          <p:cNvPr id="27" name="Retângulo: Cantos Arredondados 26">
            <a:extLst>
              <a:ext uri="{FF2B5EF4-FFF2-40B4-BE49-F238E27FC236}">
                <a16:creationId xmlns:a16="http://schemas.microsoft.com/office/drawing/2014/main" id="{B99EE559-7361-1056-AC45-C1D08A00C396}"/>
              </a:ext>
            </a:extLst>
          </p:cNvPr>
          <p:cNvSpPr/>
          <p:nvPr/>
        </p:nvSpPr>
        <p:spPr>
          <a:xfrm>
            <a:off x="4577761" y="1647238"/>
            <a:ext cx="3360415" cy="239070"/>
          </a:xfrm>
          <a:prstGeom prst="roundRect">
            <a:avLst>
              <a:gd name="adj" fmla="val 50000"/>
            </a:avLst>
          </a:prstGeom>
          <a:solidFill>
            <a:schemeClr val="l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Current contract</a:t>
            </a:r>
          </a:p>
        </p:txBody>
      </p:sp>
      <p:grpSp>
        <p:nvGrpSpPr>
          <p:cNvPr id="74" name="Agrupar 73">
            <a:extLst>
              <a:ext uri="{FF2B5EF4-FFF2-40B4-BE49-F238E27FC236}">
                <a16:creationId xmlns:a16="http://schemas.microsoft.com/office/drawing/2014/main" id="{AD1A4F77-591B-D88F-7AFF-89169EC63633}"/>
              </a:ext>
            </a:extLst>
          </p:cNvPr>
          <p:cNvGrpSpPr/>
          <p:nvPr/>
        </p:nvGrpSpPr>
        <p:grpSpPr>
          <a:xfrm>
            <a:off x="634250" y="2134359"/>
            <a:ext cx="3435677" cy="452700"/>
            <a:chOff x="634250" y="2134359"/>
            <a:chExt cx="3435677" cy="452700"/>
          </a:xfrm>
        </p:grpSpPr>
        <p:sp>
          <p:nvSpPr>
            <p:cNvPr id="29" name="Título 1">
              <a:extLst>
                <a:ext uri="{FF2B5EF4-FFF2-40B4-BE49-F238E27FC236}">
                  <a16:creationId xmlns:a16="http://schemas.microsoft.com/office/drawing/2014/main" id="{39DD21D3-4175-3EF9-B110-F4BBE96C29CB}"/>
                </a:ext>
              </a:extLst>
            </p:cNvPr>
            <p:cNvSpPr txBox="1">
              <a:spLocks/>
            </p:cNvSpPr>
            <p:nvPr/>
          </p:nvSpPr>
          <p:spPr>
            <a:xfrm>
              <a:off x="731837" y="2134359"/>
              <a:ext cx="838730"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BRL </a:t>
              </a:r>
              <a:r>
                <a:rPr lang="en-US" sz="1400" dirty="0">
                  <a:solidFill>
                    <a:schemeClr val="accent1"/>
                  </a:solidFill>
                </a:rPr>
                <a:t>[XXX]</a:t>
              </a:r>
              <a:r>
                <a:rPr lang="en-US" sz="1050" dirty="0">
                  <a:solidFill>
                    <a:schemeClr val="accent1"/>
                  </a:solidFill>
                </a:rPr>
                <a:t>k</a:t>
              </a:r>
              <a:endParaRPr lang="en-US" sz="1400" dirty="0">
                <a:solidFill>
                  <a:schemeClr val="accent1"/>
                </a:solidFill>
              </a:endParaRPr>
            </a:p>
          </p:txBody>
        </p:sp>
        <p:sp>
          <p:nvSpPr>
            <p:cNvPr id="37" name="TextBox 82">
              <a:extLst>
                <a:ext uri="{FF2B5EF4-FFF2-40B4-BE49-F238E27FC236}">
                  <a16:creationId xmlns:a16="http://schemas.microsoft.com/office/drawing/2014/main" id="{6C3DA90C-1843-9FDB-FCC0-9609BF0E442A}"/>
                </a:ext>
              </a:extLst>
            </p:cNvPr>
            <p:cNvSpPr txBox="1"/>
            <p:nvPr/>
          </p:nvSpPr>
          <p:spPr>
            <a:xfrm>
              <a:off x="634250"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value</a:t>
              </a:r>
            </a:p>
          </p:txBody>
        </p:sp>
        <p:sp>
          <p:nvSpPr>
            <p:cNvPr id="45" name="Título 1">
              <a:extLst>
                <a:ext uri="{FF2B5EF4-FFF2-40B4-BE49-F238E27FC236}">
                  <a16:creationId xmlns:a16="http://schemas.microsoft.com/office/drawing/2014/main" id="{7A36AB11-E8E2-E711-425E-17FCAE2B015C}"/>
                </a:ext>
              </a:extLst>
            </p:cNvPr>
            <p:cNvSpPr txBox="1">
              <a:spLocks/>
            </p:cNvSpPr>
            <p:nvPr/>
          </p:nvSpPr>
          <p:spPr>
            <a:xfrm>
              <a:off x="1799172" y="2134359"/>
              <a:ext cx="838730"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accent1"/>
                  </a:solidFill>
                </a:rPr>
                <a:t>[X] </a:t>
              </a:r>
              <a:r>
                <a:rPr lang="en-US" sz="1050" dirty="0">
                  <a:solidFill>
                    <a:schemeClr val="accent1"/>
                  </a:solidFill>
                </a:rPr>
                <a:t>months</a:t>
              </a:r>
              <a:endParaRPr lang="en-US" sz="1400" dirty="0">
                <a:solidFill>
                  <a:schemeClr val="accent1"/>
                </a:solidFill>
              </a:endParaRPr>
            </a:p>
          </p:txBody>
        </p:sp>
        <p:sp>
          <p:nvSpPr>
            <p:cNvPr id="46" name="TextBox 82">
              <a:extLst>
                <a:ext uri="{FF2B5EF4-FFF2-40B4-BE49-F238E27FC236}">
                  <a16:creationId xmlns:a16="http://schemas.microsoft.com/office/drawing/2014/main" id="{D06D95BF-B108-90DD-9A5B-C0D87D14DFB4}"/>
                </a:ext>
              </a:extLst>
            </p:cNvPr>
            <p:cNvSpPr txBox="1"/>
            <p:nvPr/>
          </p:nvSpPr>
          <p:spPr>
            <a:xfrm>
              <a:off x="1701585"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term</a:t>
              </a:r>
            </a:p>
          </p:txBody>
        </p:sp>
        <p:sp>
          <p:nvSpPr>
            <p:cNvPr id="48" name="Título 1">
              <a:extLst>
                <a:ext uri="{FF2B5EF4-FFF2-40B4-BE49-F238E27FC236}">
                  <a16:creationId xmlns:a16="http://schemas.microsoft.com/office/drawing/2014/main" id="{41882EC2-3E9A-2BDF-E7FE-EA69106D04C7}"/>
                </a:ext>
              </a:extLst>
            </p:cNvPr>
            <p:cNvSpPr txBox="1">
              <a:spLocks/>
            </p:cNvSpPr>
            <p:nvPr/>
          </p:nvSpPr>
          <p:spPr>
            <a:xfrm>
              <a:off x="2871584" y="2180226"/>
              <a:ext cx="1198343"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[Service scope — TBC]</a:t>
              </a:r>
            </a:p>
          </p:txBody>
        </p:sp>
        <p:sp>
          <p:nvSpPr>
            <p:cNvPr id="49" name="TextBox 82">
              <a:extLst>
                <a:ext uri="{FF2B5EF4-FFF2-40B4-BE49-F238E27FC236}">
                  <a16:creationId xmlns:a16="http://schemas.microsoft.com/office/drawing/2014/main" id="{574E4933-8539-0385-7455-790333B495A6}"/>
                </a:ext>
              </a:extLst>
            </p:cNvPr>
            <p:cNvSpPr txBox="1"/>
            <p:nvPr/>
          </p:nvSpPr>
          <p:spPr>
            <a:xfrm>
              <a:off x="2773998"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service scope </a:t>
              </a:r>
            </a:p>
          </p:txBody>
        </p:sp>
      </p:grpSp>
      <p:grpSp>
        <p:nvGrpSpPr>
          <p:cNvPr id="75" name="Agrupar 74">
            <a:extLst>
              <a:ext uri="{FF2B5EF4-FFF2-40B4-BE49-F238E27FC236}">
                <a16:creationId xmlns:a16="http://schemas.microsoft.com/office/drawing/2014/main" id="{8D875453-89BF-1A47-C545-D875F05A4323}"/>
              </a:ext>
            </a:extLst>
          </p:cNvPr>
          <p:cNvGrpSpPr/>
          <p:nvPr/>
        </p:nvGrpSpPr>
        <p:grpSpPr>
          <a:xfrm>
            <a:off x="4487259" y="2134359"/>
            <a:ext cx="3435677" cy="452700"/>
            <a:chOff x="4487259" y="2134359"/>
            <a:chExt cx="3435677" cy="452700"/>
          </a:xfrm>
        </p:grpSpPr>
        <p:sp>
          <p:nvSpPr>
            <p:cNvPr id="52" name="Título 1">
              <a:extLst>
                <a:ext uri="{FF2B5EF4-FFF2-40B4-BE49-F238E27FC236}">
                  <a16:creationId xmlns:a16="http://schemas.microsoft.com/office/drawing/2014/main" id="{4F8CE3C2-C210-913C-E9E0-1E41260C30A6}"/>
                </a:ext>
              </a:extLst>
            </p:cNvPr>
            <p:cNvSpPr txBox="1">
              <a:spLocks/>
            </p:cNvSpPr>
            <p:nvPr/>
          </p:nvSpPr>
          <p:spPr>
            <a:xfrm>
              <a:off x="4584845" y="2134359"/>
              <a:ext cx="93123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BRL </a:t>
              </a:r>
              <a:r>
                <a:rPr lang="en-US" sz="1400" dirty="0">
                  <a:solidFill>
                    <a:schemeClr val="accent1"/>
                  </a:solidFill>
                </a:rPr>
                <a:t>[XXX]</a:t>
              </a:r>
              <a:r>
                <a:rPr lang="en-US" sz="1050" dirty="0">
                  <a:solidFill>
                    <a:schemeClr val="accent1"/>
                  </a:solidFill>
                </a:rPr>
                <a:t>Mn</a:t>
              </a:r>
              <a:endParaRPr lang="en-US" sz="1400" dirty="0">
                <a:solidFill>
                  <a:schemeClr val="accent1"/>
                </a:solidFill>
              </a:endParaRPr>
            </a:p>
          </p:txBody>
        </p:sp>
        <p:sp>
          <p:nvSpPr>
            <p:cNvPr id="53" name="TextBox 82">
              <a:extLst>
                <a:ext uri="{FF2B5EF4-FFF2-40B4-BE49-F238E27FC236}">
                  <a16:creationId xmlns:a16="http://schemas.microsoft.com/office/drawing/2014/main" id="{0D54680D-5CA0-C902-320C-6B18FBB8CE44}"/>
                </a:ext>
              </a:extLst>
            </p:cNvPr>
            <p:cNvSpPr txBox="1"/>
            <p:nvPr/>
          </p:nvSpPr>
          <p:spPr>
            <a:xfrm>
              <a:off x="4487259"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value</a:t>
              </a:r>
            </a:p>
          </p:txBody>
        </p:sp>
        <p:sp>
          <p:nvSpPr>
            <p:cNvPr id="54" name="Título 1">
              <a:extLst>
                <a:ext uri="{FF2B5EF4-FFF2-40B4-BE49-F238E27FC236}">
                  <a16:creationId xmlns:a16="http://schemas.microsoft.com/office/drawing/2014/main" id="{EC1A376A-F35B-A97B-A99D-D03670A1701D}"/>
                </a:ext>
              </a:extLst>
            </p:cNvPr>
            <p:cNvSpPr txBox="1">
              <a:spLocks/>
            </p:cNvSpPr>
            <p:nvPr/>
          </p:nvSpPr>
          <p:spPr>
            <a:xfrm>
              <a:off x="5687741" y="2134359"/>
              <a:ext cx="82481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accent1"/>
                  </a:solidFill>
                </a:rPr>
                <a:t>[X] </a:t>
              </a:r>
              <a:r>
                <a:rPr lang="en-US" sz="1050" dirty="0">
                  <a:solidFill>
                    <a:schemeClr val="accent1"/>
                  </a:solidFill>
                </a:rPr>
                <a:t>years</a:t>
              </a:r>
              <a:endParaRPr lang="en-US" sz="1400" dirty="0">
                <a:solidFill>
                  <a:schemeClr val="accent1"/>
                </a:solidFill>
              </a:endParaRPr>
            </a:p>
          </p:txBody>
        </p:sp>
        <p:sp>
          <p:nvSpPr>
            <p:cNvPr id="55" name="TextBox 82">
              <a:extLst>
                <a:ext uri="{FF2B5EF4-FFF2-40B4-BE49-F238E27FC236}">
                  <a16:creationId xmlns:a16="http://schemas.microsoft.com/office/drawing/2014/main" id="{19B57FA7-6480-F6DE-FFF7-B197011ACC2A}"/>
                </a:ext>
              </a:extLst>
            </p:cNvPr>
            <p:cNvSpPr txBox="1"/>
            <p:nvPr/>
          </p:nvSpPr>
          <p:spPr>
            <a:xfrm>
              <a:off x="5590154"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term</a:t>
              </a:r>
            </a:p>
          </p:txBody>
        </p:sp>
        <p:sp>
          <p:nvSpPr>
            <p:cNvPr id="56" name="Título 1">
              <a:extLst>
                <a:ext uri="{FF2B5EF4-FFF2-40B4-BE49-F238E27FC236}">
                  <a16:creationId xmlns:a16="http://schemas.microsoft.com/office/drawing/2014/main" id="{5F99B90B-0DB8-E920-F5D4-77EFDBF2B138}"/>
                </a:ext>
              </a:extLst>
            </p:cNvPr>
            <p:cNvSpPr txBox="1">
              <a:spLocks/>
            </p:cNvSpPr>
            <p:nvPr/>
          </p:nvSpPr>
          <p:spPr>
            <a:xfrm>
              <a:off x="6724593" y="2180226"/>
              <a:ext cx="1198343"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[Service scope — TBC]</a:t>
              </a:r>
            </a:p>
          </p:txBody>
        </p:sp>
        <p:sp>
          <p:nvSpPr>
            <p:cNvPr id="57" name="TextBox 82">
              <a:extLst>
                <a:ext uri="{FF2B5EF4-FFF2-40B4-BE49-F238E27FC236}">
                  <a16:creationId xmlns:a16="http://schemas.microsoft.com/office/drawing/2014/main" id="{F53CD246-61F5-D0DF-538D-9C16939C42C1}"/>
                </a:ext>
              </a:extLst>
            </p:cNvPr>
            <p:cNvSpPr txBox="1"/>
            <p:nvPr/>
          </p:nvSpPr>
          <p:spPr>
            <a:xfrm>
              <a:off x="6627007"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service scope </a:t>
              </a:r>
            </a:p>
          </p:txBody>
        </p:sp>
      </p:grpSp>
      <p:sp>
        <p:nvSpPr>
          <p:cNvPr id="58" name="Retângulo: Cantos Arredondados 57">
            <a:extLst>
              <a:ext uri="{FF2B5EF4-FFF2-40B4-BE49-F238E27FC236}">
                <a16:creationId xmlns:a16="http://schemas.microsoft.com/office/drawing/2014/main" id="{BAB55EEB-2462-8B6F-C462-212FE9D4E7BB}"/>
              </a:ext>
            </a:extLst>
          </p:cNvPr>
          <p:cNvSpPr/>
          <p:nvPr/>
        </p:nvSpPr>
        <p:spPr>
          <a:xfrm>
            <a:off x="731837" y="2856324"/>
            <a:ext cx="7206339" cy="239070"/>
          </a:xfrm>
          <a:prstGeom prst="roundRect">
            <a:avLst>
              <a:gd name="adj" fmla="val 50000"/>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Timeline</a:t>
            </a:r>
          </a:p>
        </p:txBody>
      </p:sp>
      <p:sp>
        <p:nvSpPr>
          <p:cNvPr id="59" name="Retângulo: Cantos Arredondados 58">
            <a:extLst>
              <a:ext uri="{FF2B5EF4-FFF2-40B4-BE49-F238E27FC236}">
                <a16:creationId xmlns:a16="http://schemas.microsoft.com/office/drawing/2014/main" id="{9902E418-847A-F9BE-B402-1DF15E3867F1}"/>
              </a:ext>
            </a:extLst>
          </p:cNvPr>
          <p:cNvSpPr/>
          <p:nvPr/>
        </p:nvSpPr>
        <p:spPr>
          <a:xfrm>
            <a:off x="731837" y="3426875"/>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0" name="Retângulo: Cantos Arredondados 59">
            <a:extLst>
              <a:ext uri="{FF2B5EF4-FFF2-40B4-BE49-F238E27FC236}">
                <a16:creationId xmlns:a16="http://schemas.microsoft.com/office/drawing/2014/main" id="{0503F28B-A75C-9EEB-7652-A0F588738312}"/>
              </a:ext>
            </a:extLst>
          </p:cNvPr>
          <p:cNvSpPr/>
          <p:nvPr/>
        </p:nvSpPr>
        <p:spPr>
          <a:xfrm>
            <a:off x="731837" y="4088039"/>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1" name="Retângulo: Cantos Arredondados 60">
            <a:extLst>
              <a:ext uri="{FF2B5EF4-FFF2-40B4-BE49-F238E27FC236}">
                <a16:creationId xmlns:a16="http://schemas.microsoft.com/office/drawing/2014/main" id="{5A060692-769B-C53C-B7B0-ADE05BC01224}"/>
              </a:ext>
            </a:extLst>
          </p:cNvPr>
          <p:cNvSpPr/>
          <p:nvPr/>
        </p:nvSpPr>
        <p:spPr>
          <a:xfrm>
            <a:off x="731837" y="4749203"/>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2" name="Retângulo: Cantos Arredondados 61">
            <a:extLst>
              <a:ext uri="{FF2B5EF4-FFF2-40B4-BE49-F238E27FC236}">
                <a16:creationId xmlns:a16="http://schemas.microsoft.com/office/drawing/2014/main" id="{A015B2D1-77D7-1BC2-584B-D37ED9672B1A}"/>
              </a:ext>
            </a:extLst>
          </p:cNvPr>
          <p:cNvSpPr/>
          <p:nvPr/>
        </p:nvSpPr>
        <p:spPr>
          <a:xfrm>
            <a:off x="731837" y="5410368"/>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6" name="TextBox 44">
            <a:extLst>
              <a:ext uri="{FF2B5EF4-FFF2-40B4-BE49-F238E27FC236}">
                <a16:creationId xmlns:a16="http://schemas.microsoft.com/office/drawing/2014/main" id="{D49A04C9-C920-F339-6D01-DBCE53D2AEFF}"/>
              </a:ext>
            </a:extLst>
          </p:cNvPr>
          <p:cNvSpPr txBox="1"/>
          <p:nvPr/>
        </p:nvSpPr>
        <p:spPr>
          <a:xfrm>
            <a:off x="2352654" y="3536148"/>
            <a:ext cx="4901161" cy="146579"/>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67" name="TextBox 44">
            <a:extLst>
              <a:ext uri="{FF2B5EF4-FFF2-40B4-BE49-F238E27FC236}">
                <a16:creationId xmlns:a16="http://schemas.microsoft.com/office/drawing/2014/main" id="{BAAE1371-0244-A469-BA88-A74CF1C4A03B}"/>
              </a:ext>
            </a:extLst>
          </p:cNvPr>
          <p:cNvSpPr txBox="1"/>
          <p:nvPr/>
        </p:nvSpPr>
        <p:spPr>
          <a:xfrm>
            <a:off x="2352654" y="4121137"/>
            <a:ext cx="5671055" cy="298928"/>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69" name="TextBox 44">
            <a:extLst>
              <a:ext uri="{FF2B5EF4-FFF2-40B4-BE49-F238E27FC236}">
                <a16:creationId xmlns:a16="http://schemas.microsoft.com/office/drawing/2014/main" id="{00C3A998-4741-C57D-C7EA-2F8BEDAE351A}"/>
              </a:ext>
            </a:extLst>
          </p:cNvPr>
          <p:cNvSpPr txBox="1"/>
          <p:nvPr/>
        </p:nvSpPr>
        <p:spPr>
          <a:xfrm>
            <a:off x="2352654" y="4782301"/>
            <a:ext cx="5520555" cy="298928"/>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70" name="TextBox 44">
            <a:extLst>
              <a:ext uri="{FF2B5EF4-FFF2-40B4-BE49-F238E27FC236}">
                <a16:creationId xmlns:a16="http://schemas.microsoft.com/office/drawing/2014/main" id="{9823AE35-1718-2661-4D43-EB91E0707ED6}"/>
              </a:ext>
            </a:extLst>
          </p:cNvPr>
          <p:cNvSpPr txBox="1"/>
          <p:nvPr/>
        </p:nvSpPr>
        <p:spPr>
          <a:xfrm>
            <a:off x="2352653" y="5519641"/>
            <a:ext cx="5520555" cy="146579"/>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72" name="CaixaDeTexto 3">
            <a:extLst>
              <a:ext uri="{FF2B5EF4-FFF2-40B4-BE49-F238E27FC236}">
                <a16:creationId xmlns:a16="http://schemas.microsoft.com/office/drawing/2014/main" id="{D64DFA97-B603-7863-6065-84FC36D9BEBD}"/>
              </a:ext>
            </a:extLst>
          </p:cNvPr>
          <p:cNvSpPr txBox="1"/>
          <p:nvPr/>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solidFill>
                  <a:schemeClr val="bg1"/>
                </a:solidFill>
              </a:rPr>
              <a:t>Company Overview</a:t>
            </a:r>
          </a:p>
        </p:txBody>
      </p:sp>
      <p:pic>
        <p:nvPicPr>
          <p:cNvPr id="73" name="Gráfico 14">
            <a:extLst>
              <a:ext uri="{FF2B5EF4-FFF2-40B4-BE49-F238E27FC236}">
                <a16:creationId xmlns:a16="http://schemas.microsoft.com/office/drawing/2014/main" id="{948E2861-906E-B871-603F-22A13640C6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802477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468FD-F487-584A-4E95-FCF4EE8C6466}"/>
            </a:ext>
          </a:extLst>
        </p:cNvPr>
        <p:cNvGrpSpPr/>
        <p:nvPr/>
      </p:nvGrpSpPr>
      <p:grpSpPr>
        <a:xfrm>
          <a:off x="0" y="0"/>
          <a:ext cx="0" cy="0"/>
          <a:chOff x="0" y="0"/>
          <a:chExt cx="0" cy="0"/>
        </a:xfrm>
      </p:grpSpPr>
      <p:sp>
        <p:nvSpPr>
          <p:cNvPr id="71" name="Retângulo 70">
            <a:extLst>
              <a:ext uri="{FF2B5EF4-FFF2-40B4-BE49-F238E27FC236}">
                <a16:creationId xmlns:a16="http://schemas.microsoft.com/office/drawing/2014/main" id="{141E9B65-D7F0-E669-1D94-DED9C5989222}"/>
              </a:ext>
            </a:extLst>
          </p:cNvPr>
          <p:cNvSpPr>
            <a:spLocks noGrp="1" noRot="1" noMove="1" noResize="1" noEditPoints="1" noAdjustHandles="1" noChangeArrowheads="1" noChangeShapeType="1"/>
          </p:cNvSpPr>
          <p:nvPr/>
        </p:nvSpPr>
        <p:spPr>
          <a:xfrm>
            <a:off x="0" y="0"/>
            <a:ext cx="12192000" cy="17692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cxnSp>
        <p:nvCxnSpPr>
          <p:cNvPr id="64" name="Conector reto 63">
            <a:extLst>
              <a:ext uri="{FF2B5EF4-FFF2-40B4-BE49-F238E27FC236}">
                <a16:creationId xmlns:a16="http://schemas.microsoft.com/office/drawing/2014/main" id="{B169AB40-5272-A320-388C-3DCE35E2C73B}"/>
              </a:ext>
            </a:extLst>
          </p:cNvPr>
          <p:cNvCxnSpPr>
            <a:cxnSpLocks/>
            <a:stCxn id="59" idx="2"/>
            <a:endCxn id="62" idx="0"/>
          </p:cNvCxnSpPr>
          <p:nvPr/>
        </p:nvCxnSpPr>
        <p:spPr>
          <a:xfrm>
            <a:off x="1428682" y="3792000"/>
            <a:ext cx="0" cy="16183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ítulo 3">
            <a:extLst>
              <a:ext uri="{FF2B5EF4-FFF2-40B4-BE49-F238E27FC236}">
                <a16:creationId xmlns:a16="http://schemas.microsoft.com/office/drawing/2014/main" id="{91D0E542-6F13-9F4E-E122-C507635F31CB}"/>
              </a:ext>
            </a:extLst>
          </p:cNvPr>
          <p:cNvSpPr>
            <a:spLocks noGrp="1"/>
          </p:cNvSpPr>
          <p:nvPr>
            <p:ph type="title"/>
          </p:nvPr>
        </p:nvSpPr>
        <p:spPr>
          <a:noFill/>
          <a:ln>
            <a:noFill/>
          </a:ln>
        </p:spPr>
        <p:style>
          <a:lnRef idx="2">
            <a:schemeClr val="accent1"/>
          </a:lnRef>
          <a:fillRef idx="1">
            <a:schemeClr val="lt1"/>
          </a:fillRef>
          <a:effectRef idx="0">
            <a:schemeClr val="accent1"/>
          </a:effectRef>
          <a:fontRef idx="minor">
            <a:schemeClr val="dk1"/>
          </a:fontRef>
        </p:style>
        <p:txBody>
          <a:bodyPr vert="horz" lIns="0" tIns="0" rIns="0" bIns="0" rtlCol="0" anchor="t" anchorCtr="0">
            <a:noAutofit/>
          </a:bodyPr>
          <a:lstStyle/>
          <a:p>
            <a:r>
              <a:rPr lang="en-US" dirty="0">
                <a:solidFill>
                  <a:schemeClr val="bg1"/>
                </a:solidFill>
                <a:latin typeface="Poppins" panose="00000500000000000000" pitchFamily="2" charset="0"/>
                <a:ea typeface="Source Serif Pro" panose="02040603050405020204" pitchFamily="18" charset="0"/>
                <a:cs typeface="Poppins" panose="00000500000000000000" pitchFamily="2" charset="0"/>
              </a:rPr>
              <a:t>Success case:</a:t>
            </a:r>
            <a:r>
              <a:rPr lang="en-US"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 JBS operation</a:t>
            </a:r>
            <a:endParaRPr lang="en-US" sz="18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 name="Espaço Reservado para Conteúdo 4">
            <a:extLst>
              <a:ext uri="{FF2B5EF4-FFF2-40B4-BE49-F238E27FC236}">
                <a16:creationId xmlns:a16="http://schemas.microsoft.com/office/drawing/2014/main" id="{B48CEC0E-492B-38A6-E7F0-9ADBB21DC6C3}"/>
              </a:ext>
            </a:extLst>
          </p:cNvPr>
          <p:cNvSpPr>
            <a:spLocks noGrp="1"/>
          </p:cNvSpPr>
          <p:nvPr>
            <p:ph sz="quarter" idx="13"/>
          </p:nvPr>
        </p:nvSpPr>
        <p:spPr>
          <a:xfrm>
            <a:off x="731838" y="1052961"/>
            <a:ext cx="11102975" cy="215503"/>
          </a:xfrm>
        </p:spPr>
        <p:txBody>
          <a:bodyPr/>
          <a:lstStyle/>
          <a:p>
            <a:r>
              <a:rPr lang="en-US" noProof="0" dirty="0">
                <a:solidFill>
                  <a:schemeClr val="bg1"/>
                </a:solidFill>
                <a:latin typeface="Poppins" panose="00000500000000000000" pitchFamily="2" charset="0"/>
                <a:cs typeface="Poppins" panose="00000500000000000000" pitchFamily="2" charset="0"/>
              </a:rPr>
              <a:t>Long-term relationship example — details to be confirmed with Company</a:t>
            </a:r>
          </a:p>
        </p:txBody>
      </p:sp>
      <p:sp>
        <p:nvSpPr>
          <p:cNvPr id="10" name="Espaço Reservado para Texto 9">
            <a:extLst>
              <a:ext uri="{FF2B5EF4-FFF2-40B4-BE49-F238E27FC236}">
                <a16:creationId xmlns:a16="http://schemas.microsoft.com/office/drawing/2014/main" id="{914F4D92-D5A8-F88E-37B4-AA7D868A4C10}"/>
              </a:ext>
            </a:extLst>
          </p:cNvPr>
          <p:cNvSpPr>
            <a:spLocks noGrp="1"/>
          </p:cNvSpPr>
          <p:nvPr>
            <p:ph type="body" sz="quarter" idx="36"/>
          </p:nvPr>
        </p:nvSpPr>
        <p:spPr/>
        <p:txBody>
          <a:bodyPr/>
          <a:lstStyle/>
          <a:p>
            <a:r>
              <a:rPr lang="en-US" noProof="0" dirty="0"/>
              <a:t>Source: Company — to be confirmed</a:t>
            </a:r>
          </a:p>
        </p:txBody>
      </p:sp>
      <p:sp>
        <p:nvSpPr>
          <p:cNvPr id="11" name="Slide Number Placeholder 5">
            <a:extLst>
              <a:ext uri="{FF2B5EF4-FFF2-40B4-BE49-F238E27FC236}">
                <a16:creationId xmlns:a16="http://schemas.microsoft.com/office/drawing/2014/main" id="{AB2CD481-D24C-660F-8E0D-68410D6268CD}"/>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noProof="0" smtClean="0"/>
              <a:pPr algn="ctr"/>
              <a:t>18</a:t>
            </a:fld>
            <a:endParaRPr lang="en-US" noProof="0" dirty="0">
              <a:latin typeface="Poppins Light" panose="00000400000000000000" pitchFamily="2" charset="0"/>
              <a:cs typeface="Poppins Light" panose="00000400000000000000" pitchFamily="2" charset="0"/>
            </a:endParaRPr>
          </a:p>
        </p:txBody>
      </p:sp>
      <p:pic>
        <p:nvPicPr>
          <p:cNvPr id="3" name="Picture 20">
            <a:extLst>
              <a:ext uri="{FF2B5EF4-FFF2-40B4-BE49-F238E27FC236}">
                <a16:creationId xmlns:a16="http://schemas.microsoft.com/office/drawing/2014/main" id="{A3078D56-149B-8216-1E55-3CD5CDD07FBA}"/>
              </a:ext>
            </a:extLst>
          </p:cNvPr>
          <p:cNvPicPr>
            <a:picLocks noChangeAspect="1"/>
          </p:cNvPicPr>
          <p:nvPr/>
        </p:nvPicPr>
        <p:blipFill>
          <a:blip r:embed="rId3">
            <a:extLst>
              <a:ext uri="{28A0092B-C50C-407E-A947-70E740481C1C}">
                <a14:useLocalDpi xmlns:a14="http://schemas.microsoft.com/office/drawing/2010/main" val="0"/>
              </a:ext>
            </a:extLst>
          </a:blip>
          <a:srcRect t="84" b="84"/>
          <a:stretch/>
        </p:blipFill>
        <p:spPr>
          <a:xfrm>
            <a:off x="8423685" y="1471191"/>
            <a:ext cx="3411127" cy="4532400"/>
          </a:xfrm>
          <a:prstGeom prst="roundRect">
            <a:avLst>
              <a:gd name="adj" fmla="val 2913"/>
            </a:avLst>
          </a:prstGeom>
        </p:spPr>
      </p:pic>
      <p:sp>
        <p:nvSpPr>
          <p:cNvPr id="6" name="Rectangle 16">
            <a:extLst>
              <a:ext uri="{FF2B5EF4-FFF2-40B4-BE49-F238E27FC236}">
                <a16:creationId xmlns:a16="http://schemas.microsoft.com/office/drawing/2014/main" id="{B3564598-5C9D-34D6-7F8B-0F88F9046F8D}"/>
              </a:ext>
            </a:extLst>
          </p:cNvPr>
          <p:cNvSpPr/>
          <p:nvPr/>
        </p:nvSpPr>
        <p:spPr>
          <a:xfrm>
            <a:off x="8423685" y="1798522"/>
            <a:ext cx="3412800" cy="98912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pic>
        <p:nvPicPr>
          <p:cNvPr id="16" name="Picture 11" descr="Votorantim Cimentos cria nova marca corporativa para se alinhar à era  digital e de sustentabilidade | Empresas | Valor Econômico">
            <a:extLst>
              <a:ext uri="{FF2B5EF4-FFF2-40B4-BE49-F238E27FC236}">
                <a16:creationId xmlns:a16="http://schemas.microsoft.com/office/drawing/2014/main" id="{19F23BDE-D5B7-54CB-FFD0-4B982957E5B9}"/>
              </a:ext>
            </a:extLst>
          </p:cNvPr>
          <p:cNvPicPr>
            <a:picLocks noChangeAspect="1"/>
          </p:cNvPicPr>
          <p:nvPr/>
        </p:nvPicPr>
        <p:blipFill>
          <a:blip r:embed="rId4">
            <a:clrChange>
              <a:clrFrom>
                <a:srgbClr val="FDFEFF"/>
              </a:clrFrom>
              <a:clrTo>
                <a:srgbClr val="FDFEFF">
                  <a:alpha val="0"/>
                </a:srgbClr>
              </a:clrTo>
            </a:clrChange>
          </a:blip>
          <a:srcRect l="5682" t="14771" r="5224" b="12082"/>
          <a:stretch>
            <a:fillRect/>
          </a:stretch>
        </p:blipFill>
        <p:spPr>
          <a:xfrm>
            <a:off x="9277242" y="2101931"/>
            <a:ext cx="1705687" cy="425610"/>
          </a:xfrm>
          <a:prstGeom prst="rect">
            <a:avLst/>
          </a:prstGeom>
        </p:spPr>
      </p:pic>
      <p:sp>
        <p:nvSpPr>
          <p:cNvPr id="23" name="Retângulo: Cantos Arredondados 22">
            <a:extLst>
              <a:ext uri="{FF2B5EF4-FFF2-40B4-BE49-F238E27FC236}">
                <a16:creationId xmlns:a16="http://schemas.microsoft.com/office/drawing/2014/main" id="{68375476-45E3-7B96-2842-6252E8CCA54B}"/>
              </a:ext>
            </a:extLst>
          </p:cNvPr>
          <p:cNvSpPr/>
          <p:nvPr/>
        </p:nvSpPr>
        <p:spPr>
          <a:xfrm>
            <a:off x="8642242" y="1678988"/>
            <a:ext cx="170568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[City — State]</a:t>
            </a:r>
          </a:p>
        </p:txBody>
      </p:sp>
      <p:sp>
        <p:nvSpPr>
          <p:cNvPr id="24" name="Retângulo: Cantos Arredondados 23">
            <a:extLst>
              <a:ext uri="{FF2B5EF4-FFF2-40B4-BE49-F238E27FC236}">
                <a16:creationId xmlns:a16="http://schemas.microsoft.com/office/drawing/2014/main" id="{CC5F52D4-3985-CE88-72E2-CC402166CF4D}"/>
              </a:ext>
            </a:extLst>
          </p:cNvPr>
          <p:cNvSpPr/>
          <p:nvPr/>
        </p:nvSpPr>
        <p:spPr>
          <a:xfrm>
            <a:off x="731837" y="1647238"/>
            <a:ext cx="3360415" cy="239070"/>
          </a:xfrm>
          <a:prstGeom prst="roundRect">
            <a:avLst>
              <a:gd name="adj" fmla="val 50000"/>
            </a:avLst>
          </a:prstGeom>
          <a:solidFill>
            <a:schemeClr val="l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Start of contract</a:t>
            </a:r>
          </a:p>
        </p:txBody>
      </p:sp>
      <p:sp>
        <p:nvSpPr>
          <p:cNvPr id="27" name="Retângulo: Cantos Arredondados 26">
            <a:extLst>
              <a:ext uri="{FF2B5EF4-FFF2-40B4-BE49-F238E27FC236}">
                <a16:creationId xmlns:a16="http://schemas.microsoft.com/office/drawing/2014/main" id="{ECF3F2AA-E5BD-B9FC-C647-55D31FB192F9}"/>
              </a:ext>
            </a:extLst>
          </p:cNvPr>
          <p:cNvSpPr/>
          <p:nvPr/>
        </p:nvSpPr>
        <p:spPr>
          <a:xfrm>
            <a:off x="4577761" y="1647238"/>
            <a:ext cx="3360415" cy="239070"/>
          </a:xfrm>
          <a:prstGeom prst="roundRect">
            <a:avLst>
              <a:gd name="adj" fmla="val 50000"/>
            </a:avLst>
          </a:prstGeom>
          <a:solidFill>
            <a:schemeClr val="l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Current contract</a:t>
            </a:r>
          </a:p>
        </p:txBody>
      </p:sp>
      <p:grpSp>
        <p:nvGrpSpPr>
          <p:cNvPr id="2" name="Agrupar 1">
            <a:extLst>
              <a:ext uri="{FF2B5EF4-FFF2-40B4-BE49-F238E27FC236}">
                <a16:creationId xmlns:a16="http://schemas.microsoft.com/office/drawing/2014/main" id="{DF9DD412-5146-1B16-0364-21C198C7065A}"/>
              </a:ext>
            </a:extLst>
          </p:cNvPr>
          <p:cNvGrpSpPr/>
          <p:nvPr/>
        </p:nvGrpSpPr>
        <p:grpSpPr>
          <a:xfrm>
            <a:off x="634250" y="2134359"/>
            <a:ext cx="3531497" cy="452700"/>
            <a:chOff x="634250" y="2134359"/>
            <a:chExt cx="3531497" cy="452700"/>
          </a:xfrm>
        </p:grpSpPr>
        <p:sp>
          <p:nvSpPr>
            <p:cNvPr id="29" name="Título 1">
              <a:extLst>
                <a:ext uri="{FF2B5EF4-FFF2-40B4-BE49-F238E27FC236}">
                  <a16:creationId xmlns:a16="http://schemas.microsoft.com/office/drawing/2014/main" id="{9FB6A43A-B27C-6C06-EBBF-97355117028E}"/>
                </a:ext>
              </a:extLst>
            </p:cNvPr>
            <p:cNvSpPr txBox="1">
              <a:spLocks/>
            </p:cNvSpPr>
            <p:nvPr/>
          </p:nvSpPr>
          <p:spPr>
            <a:xfrm>
              <a:off x="731837" y="2134359"/>
              <a:ext cx="838730"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BRL </a:t>
              </a:r>
              <a:r>
                <a:rPr lang="en-US" sz="1400" dirty="0">
                  <a:solidFill>
                    <a:schemeClr val="accent1"/>
                  </a:solidFill>
                </a:rPr>
                <a:t>[XXX]</a:t>
              </a:r>
              <a:r>
                <a:rPr lang="en-US" sz="1050" dirty="0">
                  <a:solidFill>
                    <a:schemeClr val="accent1"/>
                  </a:solidFill>
                </a:rPr>
                <a:t>k</a:t>
              </a:r>
              <a:endParaRPr lang="en-US" sz="1400" dirty="0">
                <a:solidFill>
                  <a:schemeClr val="accent1"/>
                </a:solidFill>
              </a:endParaRPr>
            </a:p>
          </p:txBody>
        </p:sp>
        <p:sp>
          <p:nvSpPr>
            <p:cNvPr id="37" name="TextBox 82">
              <a:extLst>
                <a:ext uri="{FF2B5EF4-FFF2-40B4-BE49-F238E27FC236}">
                  <a16:creationId xmlns:a16="http://schemas.microsoft.com/office/drawing/2014/main" id="{D81EF759-43AF-DD0D-6A82-7E19AE87519A}"/>
                </a:ext>
              </a:extLst>
            </p:cNvPr>
            <p:cNvSpPr txBox="1"/>
            <p:nvPr/>
          </p:nvSpPr>
          <p:spPr>
            <a:xfrm>
              <a:off x="634250"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value</a:t>
              </a:r>
            </a:p>
          </p:txBody>
        </p:sp>
        <p:sp>
          <p:nvSpPr>
            <p:cNvPr id="45" name="Título 1">
              <a:extLst>
                <a:ext uri="{FF2B5EF4-FFF2-40B4-BE49-F238E27FC236}">
                  <a16:creationId xmlns:a16="http://schemas.microsoft.com/office/drawing/2014/main" id="{B2463BBE-D1C9-5364-222D-072EF54305DB}"/>
                </a:ext>
              </a:extLst>
            </p:cNvPr>
            <p:cNvSpPr txBox="1">
              <a:spLocks/>
            </p:cNvSpPr>
            <p:nvPr/>
          </p:nvSpPr>
          <p:spPr>
            <a:xfrm>
              <a:off x="1799172" y="2134359"/>
              <a:ext cx="838730"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accent1"/>
                  </a:solidFill>
                </a:rPr>
                <a:t>[X] </a:t>
              </a:r>
              <a:r>
                <a:rPr lang="en-US" sz="1050" dirty="0">
                  <a:solidFill>
                    <a:schemeClr val="accent1"/>
                  </a:solidFill>
                </a:rPr>
                <a:t>years</a:t>
              </a:r>
              <a:endParaRPr lang="en-US" sz="1400" dirty="0">
                <a:solidFill>
                  <a:schemeClr val="accent1"/>
                </a:solidFill>
              </a:endParaRPr>
            </a:p>
          </p:txBody>
        </p:sp>
        <p:sp>
          <p:nvSpPr>
            <p:cNvPr id="46" name="TextBox 82">
              <a:extLst>
                <a:ext uri="{FF2B5EF4-FFF2-40B4-BE49-F238E27FC236}">
                  <a16:creationId xmlns:a16="http://schemas.microsoft.com/office/drawing/2014/main" id="{2945EFCC-842C-3671-F954-053BFFEC8CB7}"/>
                </a:ext>
              </a:extLst>
            </p:cNvPr>
            <p:cNvSpPr txBox="1"/>
            <p:nvPr/>
          </p:nvSpPr>
          <p:spPr>
            <a:xfrm>
              <a:off x="1701585"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term</a:t>
              </a:r>
            </a:p>
          </p:txBody>
        </p:sp>
        <p:sp>
          <p:nvSpPr>
            <p:cNvPr id="48" name="Título 1">
              <a:extLst>
                <a:ext uri="{FF2B5EF4-FFF2-40B4-BE49-F238E27FC236}">
                  <a16:creationId xmlns:a16="http://schemas.microsoft.com/office/drawing/2014/main" id="{E56C4477-B910-0830-D460-39302460158E}"/>
                </a:ext>
              </a:extLst>
            </p:cNvPr>
            <p:cNvSpPr txBox="1">
              <a:spLocks/>
            </p:cNvSpPr>
            <p:nvPr/>
          </p:nvSpPr>
          <p:spPr>
            <a:xfrm>
              <a:off x="2871584" y="2180227"/>
              <a:ext cx="1294163" cy="1726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[Service scope — TBC]</a:t>
              </a:r>
            </a:p>
          </p:txBody>
        </p:sp>
        <p:sp>
          <p:nvSpPr>
            <p:cNvPr id="49" name="TextBox 82">
              <a:extLst>
                <a:ext uri="{FF2B5EF4-FFF2-40B4-BE49-F238E27FC236}">
                  <a16:creationId xmlns:a16="http://schemas.microsoft.com/office/drawing/2014/main" id="{71BBC140-CDBA-761F-7954-50C85079A5C1}"/>
                </a:ext>
              </a:extLst>
            </p:cNvPr>
            <p:cNvSpPr txBox="1"/>
            <p:nvPr/>
          </p:nvSpPr>
          <p:spPr>
            <a:xfrm>
              <a:off x="2773998"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service scope </a:t>
              </a:r>
            </a:p>
          </p:txBody>
        </p:sp>
      </p:grpSp>
      <p:grpSp>
        <p:nvGrpSpPr>
          <p:cNvPr id="4" name="Agrupar 3">
            <a:extLst>
              <a:ext uri="{FF2B5EF4-FFF2-40B4-BE49-F238E27FC236}">
                <a16:creationId xmlns:a16="http://schemas.microsoft.com/office/drawing/2014/main" id="{6ECADBED-F066-598D-079C-76A513AF74D6}"/>
              </a:ext>
            </a:extLst>
          </p:cNvPr>
          <p:cNvGrpSpPr/>
          <p:nvPr/>
        </p:nvGrpSpPr>
        <p:grpSpPr>
          <a:xfrm>
            <a:off x="4487259" y="2134359"/>
            <a:ext cx="3579238" cy="452700"/>
            <a:chOff x="4487259" y="2134359"/>
            <a:chExt cx="3579238" cy="452700"/>
          </a:xfrm>
        </p:grpSpPr>
        <p:sp>
          <p:nvSpPr>
            <p:cNvPr id="52" name="Título 1">
              <a:extLst>
                <a:ext uri="{FF2B5EF4-FFF2-40B4-BE49-F238E27FC236}">
                  <a16:creationId xmlns:a16="http://schemas.microsoft.com/office/drawing/2014/main" id="{12CBF93E-B740-6269-BE82-F1E75ED9C17D}"/>
                </a:ext>
              </a:extLst>
            </p:cNvPr>
            <p:cNvSpPr txBox="1">
              <a:spLocks/>
            </p:cNvSpPr>
            <p:nvPr/>
          </p:nvSpPr>
          <p:spPr>
            <a:xfrm>
              <a:off x="4584845" y="2134359"/>
              <a:ext cx="93123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BRL </a:t>
              </a:r>
              <a:r>
                <a:rPr lang="en-US" sz="1400" dirty="0">
                  <a:solidFill>
                    <a:schemeClr val="accent1"/>
                  </a:solidFill>
                </a:rPr>
                <a:t>[XXX]</a:t>
              </a:r>
              <a:r>
                <a:rPr lang="en-US" sz="1050" dirty="0">
                  <a:solidFill>
                    <a:schemeClr val="accent1"/>
                  </a:solidFill>
                </a:rPr>
                <a:t>Mn</a:t>
              </a:r>
              <a:endParaRPr lang="en-US" sz="1400" dirty="0">
                <a:solidFill>
                  <a:schemeClr val="accent1"/>
                </a:solidFill>
              </a:endParaRPr>
            </a:p>
          </p:txBody>
        </p:sp>
        <p:sp>
          <p:nvSpPr>
            <p:cNvPr id="53" name="TextBox 82">
              <a:extLst>
                <a:ext uri="{FF2B5EF4-FFF2-40B4-BE49-F238E27FC236}">
                  <a16:creationId xmlns:a16="http://schemas.microsoft.com/office/drawing/2014/main" id="{4B108D23-B8C8-CC54-D3EB-1BEA7BF2BD5C}"/>
                </a:ext>
              </a:extLst>
            </p:cNvPr>
            <p:cNvSpPr txBox="1"/>
            <p:nvPr/>
          </p:nvSpPr>
          <p:spPr>
            <a:xfrm>
              <a:off x="4487259"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value</a:t>
              </a:r>
            </a:p>
          </p:txBody>
        </p:sp>
        <p:sp>
          <p:nvSpPr>
            <p:cNvPr id="54" name="Título 1">
              <a:extLst>
                <a:ext uri="{FF2B5EF4-FFF2-40B4-BE49-F238E27FC236}">
                  <a16:creationId xmlns:a16="http://schemas.microsoft.com/office/drawing/2014/main" id="{0E1B5BA7-6406-511C-F622-59091E33B832}"/>
                </a:ext>
              </a:extLst>
            </p:cNvPr>
            <p:cNvSpPr txBox="1">
              <a:spLocks/>
            </p:cNvSpPr>
            <p:nvPr/>
          </p:nvSpPr>
          <p:spPr>
            <a:xfrm>
              <a:off x="5687741" y="2134359"/>
              <a:ext cx="82481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accent1"/>
                  </a:solidFill>
                </a:rPr>
                <a:t>[X] </a:t>
              </a:r>
              <a:r>
                <a:rPr lang="en-US" sz="1050" dirty="0">
                  <a:solidFill>
                    <a:schemeClr val="accent1"/>
                  </a:solidFill>
                </a:rPr>
                <a:t>years</a:t>
              </a:r>
              <a:endParaRPr lang="en-US" sz="1400" dirty="0">
                <a:solidFill>
                  <a:schemeClr val="accent1"/>
                </a:solidFill>
              </a:endParaRPr>
            </a:p>
          </p:txBody>
        </p:sp>
        <p:sp>
          <p:nvSpPr>
            <p:cNvPr id="55" name="TextBox 82">
              <a:extLst>
                <a:ext uri="{FF2B5EF4-FFF2-40B4-BE49-F238E27FC236}">
                  <a16:creationId xmlns:a16="http://schemas.microsoft.com/office/drawing/2014/main" id="{840E76E7-2894-BE46-EA47-351E0B23CC04}"/>
                </a:ext>
              </a:extLst>
            </p:cNvPr>
            <p:cNvSpPr txBox="1"/>
            <p:nvPr/>
          </p:nvSpPr>
          <p:spPr>
            <a:xfrm>
              <a:off x="5590154"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term</a:t>
              </a:r>
            </a:p>
          </p:txBody>
        </p:sp>
        <p:sp>
          <p:nvSpPr>
            <p:cNvPr id="56" name="Título 1">
              <a:extLst>
                <a:ext uri="{FF2B5EF4-FFF2-40B4-BE49-F238E27FC236}">
                  <a16:creationId xmlns:a16="http://schemas.microsoft.com/office/drawing/2014/main" id="{B8937B04-5698-9278-D0CC-7A02B84951B0}"/>
                </a:ext>
              </a:extLst>
            </p:cNvPr>
            <p:cNvSpPr txBox="1">
              <a:spLocks/>
            </p:cNvSpPr>
            <p:nvPr/>
          </p:nvSpPr>
          <p:spPr>
            <a:xfrm>
              <a:off x="6724593" y="2180226"/>
              <a:ext cx="1341904" cy="15077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[Service scope — TBC]</a:t>
              </a:r>
            </a:p>
          </p:txBody>
        </p:sp>
        <p:sp>
          <p:nvSpPr>
            <p:cNvPr id="57" name="TextBox 82">
              <a:extLst>
                <a:ext uri="{FF2B5EF4-FFF2-40B4-BE49-F238E27FC236}">
                  <a16:creationId xmlns:a16="http://schemas.microsoft.com/office/drawing/2014/main" id="{0E22D4ED-1F3E-AC8A-17C2-9C10B9E7B894}"/>
                </a:ext>
              </a:extLst>
            </p:cNvPr>
            <p:cNvSpPr txBox="1"/>
            <p:nvPr/>
          </p:nvSpPr>
          <p:spPr>
            <a:xfrm>
              <a:off x="6627007"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service scope </a:t>
              </a:r>
            </a:p>
          </p:txBody>
        </p:sp>
      </p:grpSp>
      <p:sp>
        <p:nvSpPr>
          <p:cNvPr id="58" name="Retângulo: Cantos Arredondados 57">
            <a:extLst>
              <a:ext uri="{FF2B5EF4-FFF2-40B4-BE49-F238E27FC236}">
                <a16:creationId xmlns:a16="http://schemas.microsoft.com/office/drawing/2014/main" id="{DBA3FDE4-1BCE-2D6B-F328-68B943CBEE5F}"/>
              </a:ext>
            </a:extLst>
          </p:cNvPr>
          <p:cNvSpPr/>
          <p:nvPr/>
        </p:nvSpPr>
        <p:spPr>
          <a:xfrm>
            <a:off x="731837" y="2856324"/>
            <a:ext cx="7206339" cy="239070"/>
          </a:xfrm>
          <a:prstGeom prst="roundRect">
            <a:avLst>
              <a:gd name="adj" fmla="val 50000"/>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Timeline</a:t>
            </a:r>
          </a:p>
        </p:txBody>
      </p:sp>
      <p:sp>
        <p:nvSpPr>
          <p:cNvPr id="59" name="Retângulo: Cantos Arredondados 58">
            <a:extLst>
              <a:ext uri="{FF2B5EF4-FFF2-40B4-BE49-F238E27FC236}">
                <a16:creationId xmlns:a16="http://schemas.microsoft.com/office/drawing/2014/main" id="{9A1563E4-A99F-9752-0A7A-21A0D9A0869C}"/>
              </a:ext>
            </a:extLst>
          </p:cNvPr>
          <p:cNvSpPr/>
          <p:nvPr/>
        </p:nvSpPr>
        <p:spPr>
          <a:xfrm>
            <a:off x="731837" y="3426875"/>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0" name="Retângulo: Cantos Arredondados 59">
            <a:extLst>
              <a:ext uri="{FF2B5EF4-FFF2-40B4-BE49-F238E27FC236}">
                <a16:creationId xmlns:a16="http://schemas.microsoft.com/office/drawing/2014/main" id="{DFA941EB-DD37-E314-97C5-90F2BDE91C52}"/>
              </a:ext>
            </a:extLst>
          </p:cNvPr>
          <p:cNvSpPr/>
          <p:nvPr/>
        </p:nvSpPr>
        <p:spPr>
          <a:xfrm>
            <a:off x="731837" y="4088039"/>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1" name="Retângulo: Cantos Arredondados 60">
            <a:extLst>
              <a:ext uri="{FF2B5EF4-FFF2-40B4-BE49-F238E27FC236}">
                <a16:creationId xmlns:a16="http://schemas.microsoft.com/office/drawing/2014/main" id="{CCD01F26-D550-DA64-7842-D4DF073C45B6}"/>
              </a:ext>
            </a:extLst>
          </p:cNvPr>
          <p:cNvSpPr/>
          <p:nvPr/>
        </p:nvSpPr>
        <p:spPr>
          <a:xfrm>
            <a:off x="731837" y="4749203"/>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2" name="Retângulo: Cantos Arredondados 61">
            <a:extLst>
              <a:ext uri="{FF2B5EF4-FFF2-40B4-BE49-F238E27FC236}">
                <a16:creationId xmlns:a16="http://schemas.microsoft.com/office/drawing/2014/main" id="{47137E48-A7B3-06F2-1CF3-D81313B9E6D0}"/>
              </a:ext>
            </a:extLst>
          </p:cNvPr>
          <p:cNvSpPr/>
          <p:nvPr/>
        </p:nvSpPr>
        <p:spPr>
          <a:xfrm>
            <a:off x="731837" y="5410368"/>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6" name="TextBox 44">
            <a:extLst>
              <a:ext uri="{FF2B5EF4-FFF2-40B4-BE49-F238E27FC236}">
                <a16:creationId xmlns:a16="http://schemas.microsoft.com/office/drawing/2014/main" id="{89EA4304-462E-33C6-6839-9A90E76DA94A}"/>
              </a:ext>
            </a:extLst>
          </p:cNvPr>
          <p:cNvSpPr txBox="1"/>
          <p:nvPr/>
        </p:nvSpPr>
        <p:spPr>
          <a:xfrm>
            <a:off x="2352654" y="3459973"/>
            <a:ext cx="4901161" cy="298928"/>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67" name="TextBox 44">
            <a:extLst>
              <a:ext uri="{FF2B5EF4-FFF2-40B4-BE49-F238E27FC236}">
                <a16:creationId xmlns:a16="http://schemas.microsoft.com/office/drawing/2014/main" id="{779B7DA5-342D-138A-FD15-726FDFF80B60}"/>
              </a:ext>
            </a:extLst>
          </p:cNvPr>
          <p:cNvSpPr txBox="1"/>
          <p:nvPr/>
        </p:nvSpPr>
        <p:spPr>
          <a:xfrm>
            <a:off x="2352654" y="4036467"/>
            <a:ext cx="5663039" cy="451277"/>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69" name="TextBox 44">
            <a:extLst>
              <a:ext uri="{FF2B5EF4-FFF2-40B4-BE49-F238E27FC236}">
                <a16:creationId xmlns:a16="http://schemas.microsoft.com/office/drawing/2014/main" id="{A338ACF7-8B0A-C87C-EE7A-D6A29809668E}"/>
              </a:ext>
            </a:extLst>
          </p:cNvPr>
          <p:cNvSpPr txBox="1"/>
          <p:nvPr/>
        </p:nvSpPr>
        <p:spPr>
          <a:xfrm>
            <a:off x="2352654" y="4723032"/>
            <a:ext cx="5663039" cy="451277"/>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70" name="TextBox 44">
            <a:extLst>
              <a:ext uri="{FF2B5EF4-FFF2-40B4-BE49-F238E27FC236}">
                <a16:creationId xmlns:a16="http://schemas.microsoft.com/office/drawing/2014/main" id="{3D402DA4-E0EC-CB93-A7CC-A1B3C2E93829}"/>
              </a:ext>
            </a:extLst>
          </p:cNvPr>
          <p:cNvSpPr txBox="1"/>
          <p:nvPr/>
        </p:nvSpPr>
        <p:spPr>
          <a:xfrm>
            <a:off x="2352654" y="5443466"/>
            <a:ext cx="5311416" cy="298928"/>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72" name="CaixaDeTexto 3">
            <a:extLst>
              <a:ext uri="{FF2B5EF4-FFF2-40B4-BE49-F238E27FC236}">
                <a16:creationId xmlns:a16="http://schemas.microsoft.com/office/drawing/2014/main" id="{A69D8714-47C2-0A59-7043-F1D65AA29BD5}"/>
              </a:ext>
            </a:extLst>
          </p:cNvPr>
          <p:cNvSpPr txBox="1"/>
          <p:nvPr/>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solidFill>
                  <a:schemeClr val="bg1"/>
                </a:solidFill>
              </a:rPr>
              <a:t>Company Overview</a:t>
            </a:r>
          </a:p>
        </p:txBody>
      </p:sp>
      <p:pic>
        <p:nvPicPr>
          <p:cNvPr id="73" name="Gráfico 14">
            <a:extLst>
              <a:ext uri="{FF2B5EF4-FFF2-40B4-BE49-F238E27FC236}">
                <a16:creationId xmlns:a16="http://schemas.microsoft.com/office/drawing/2014/main" id="{4C0B2CAF-366B-CDD2-F942-084B6CCCB0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1269471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75B08-0361-0FAC-286B-180004D990B5}"/>
            </a:ext>
          </a:extLst>
        </p:cNvPr>
        <p:cNvGrpSpPr/>
        <p:nvPr/>
      </p:nvGrpSpPr>
      <p:grpSpPr>
        <a:xfrm>
          <a:off x="0" y="0"/>
          <a:ext cx="0" cy="0"/>
          <a:chOff x="0" y="0"/>
          <a:chExt cx="0" cy="0"/>
        </a:xfrm>
      </p:grpSpPr>
      <p:sp>
        <p:nvSpPr>
          <p:cNvPr id="71" name="Retângulo 70">
            <a:extLst>
              <a:ext uri="{FF2B5EF4-FFF2-40B4-BE49-F238E27FC236}">
                <a16:creationId xmlns:a16="http://schemas.microsoft.com/office/drawing/2014/main" id="{0C1DE1C8-1F73-63CF-75DD-97B35717447E}"/>
              </a:ext>
            </a:extLst>
          </p:cNvPr>
          <p:cNvSpPr>
            <a:spLocks noGrp="1" noRot="1" noMove="1" noResize="1" noEditPoints="1" noAdjustHandles="1" noChangeArrowheads="1" noChangeShapeType="1"/>
          </p:cNvSpPr>
          <p:nvPr/>
        </p:nvSpPr>
        <p:spPr>
          <a:xfrm>
            <a:off x="0" y="0"/>
            <a:ext cx="12192000" cy="17692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cxnSp>
        <p:nvCxnSpPr>
          <p:cNvPr id="64" name="Conector reto 63">
            <a:extLst>
              <a:ext uri="{FF2B5EF4-FFF2-40B4-BE49-F238E27FC236}">
                <a16:creationId xmlns:a16="http://schemas.microsoft.com/office/drawing/2014/main" id="{D84EE018-1020-7FEE-78E3-F3715521F290}"/>
              </a:ext>
            </a:extLst>
          </p:cNvPr>
          <p:cNvCxnSpPr>
            <a:cxnSpLocks/>
            <a:stCxn id="59" idx="2"/>
            <a:endCxn id="61" idx="0"/>
          </p:cNvCxnSpPr>
          <p:nvPr/>
        </p:nvCxnSpPr>
        <p:spPr>
          <a:xfrm>
            <a:off x="1428682" y="3792000"/>
            <a:ext cx="0" cy="9572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ítulo 3">
            <a:extLst>
              <a:ext uri="{FF2B5EF4-FFF2-40B4-BE49-F238E27FC236}">
                <a16:creationId xmlns:a16="http://schemas.microsoft.com/office/drawing/2014/main" id="{EC54D3A6-B99E-DB26-7977-21A14FC02657}"/>
              </a:ext>
            </a:extLst>
          </p:cNvPr>
          <p:cNvSpPr>
            <a:spLocks noGrp="1"/>
          </p:cNvSpPr>
          <p:nvPr>
            <p:ph type="title"/>
          </p:nvPr>
        </p:nvSpPr>
        <p:spPr>
          <a:noFill/>
          <a:ln>
            <a:noFill/>
          </a:ln>
        </p:spPr>
        <p:style>
          <a:lnRef idx="2">
            <a:schemeClr val="accent1"/>
          </a:lnRef>
          <a:fillRef idx="1">
            <a:schemeClr val="lt1"/>
          </a:fillRef>
          <a:effectRef idx="0">
            <a:schemeClr val="accent1"/>
          </a:effectRef>
          <a:fontRef idx="minor">
            <a:schemeClr val="dk1"/>
          </a:fontRef>
        </p:style>
        <p:txBody>
          <a:bodyPr vert="horz" lIns="0" tIns="0" rIns="0" bIns="0" rtlCol="0" anchor="t" anchorCtr="0">
            <a:noAutofit/>
          </a:bodyPr>
          <a:lstStyle/>
          <a:p>
            <a:r>
              <a:rPr lang="en-US" dirty="0">
                <a:solidFill>
                  <a:schemeClr val="bg1"/>
                </a:solidFill>
                <a:latin typeface="Poppins" panose="00000500000000000000" pitchFamily="2" charset="0"/>
                <a:ea typeface="Source Serif Pro" panose="02040603050405020204" pitchFamily="18" charset="0"/>
                <a:cs typeface="Poppins" panose="00000500000000000000" pitchFamily="2" charset="0"/>
              </a:rPr>
              <a:t>Success case:</a:t>
            </a:r>
            <a:r>
              <a:rPr lang="en-US" noProof="0" dirty="0">
                <a:solidFill>
                  <a:schemeClr val="bg1"/>
                </a:solidFill>
                <a:latin typeface="Poppins" panose="00000500000000000000" pitchFamily="2" charset="0"/>
                <a:ea typeface="Source Serif Pro" panose="02040603050405020204" pitchFamily="18" charset="0"/>
                <a:cs typeface="Poppins" panose="00000500000000000000" pitchFamily="2" charset="0"/>
              </a:rPr>
              <a:t> Votorantim Cimentos operation</a:t>
            </a:r>
            <a:endParaRPr lang="en-US" sz="1800" noProof="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5" name="Espaço Reservado para Conteúdo 4">
            <a:extLst>
              <a:ext uri="{FF2B5EF4-FFF2-40B4-BE49-F238E27FC236}">
                <a16:creationId xmlns:a16="http://schemas.microsoft.com/office/drawing/2014/main" id="{BF685CBF-B897-05D5-940F-0C6D87D7614C}"/>
              </a:ext>
            </a:extLst>
          </p:cNvPr>
          <p:cNvSpPr>
            <a:spLocks noGrp="1"/>
          </p:cNvSpPr>
          <p:nvPr>
            <p:ph sz="quarter" idx="13"/>
          </p:nvPr>
        </p:nvSpPr>
        <p:spPr>
          <a:xfrm>
            <a:off x="731838" y="1052961"/>
            <a:ext cx="11102975" cy="215503"/>
          </a:xfrm>
        </p:spPr>
        <p:txBody>
          <a:bodyPr/>
          <a:lstStyle/>
          <a:p>
            <a:r>
              <a:rPr lang="en-US" noProof="0" dirty="0">
                <a:solidFill>
                  <a:schemeClr val="bg1"/>
                </a:solidFill>
                <a:latin typeface="Poppins" panose="00000500000000000000" pitchFamily="2" charset="0"/>
                <a:cs typeface="Poppins" panose="00000500000000000000" pitchFamily="2" charset="0"/>
              </a:rPr>
              <a:t>Long-term relationship example — details to be confirmed with Company</a:t>
            </a:r>
          </a:p>
        </p:txBody>
      </p:sp>
      <p:sp>
        <p:nvSpPr>
          <p:cNvPr id="10" name="Espaço Reservado para Texto 9">
            <a:extLst>
              <a:ext uri="{FF2B5EF4-FFF2-40B4-BE49-F238E27FC236}">
                <a16:creationId xmlns:a16="http://schemas.microsoft.com/office/drawing/2014/main" id="{D43C29DE-1268-7712-991D-07F8CDC54DDF}"/>
              </a:ext>
            </a:extLst>
          </p:cNvPr>
          <p:cNvSpPr>
            <a:spLocks noGrp="1"/>
          </p:cNvSpPr>
          <p:nvPr>
            <p:ph type="body" sz="quarter" idx="36"/>
          </p:nvPr>
        </p:nvSpPr>
        <p:spPr/>
        <p:txBody>
          <a:bodyPr/>
          <a:lstStyle/>
          <a:p>
            <a:r>
              <a:rPr lang="en-US" noProof="0" dirty="0"/>
              <a:t>Source: Company — to be confirmed</a:t>
            </a:r>
          </a:p>
        </p:txBody>
      </p:sp>
      <p:sp>
        <p:nvSpPr>
          <p:cNvPr id="11" name="Slide Number Placeholder 5">
            <a:extLst>
              <a:ext uri="{FF2B5EF4-FFF2-40B4-BE49-F238E27FC236}">
                <a16:creationId xmlns:a16="http://schemas.microsoft.com/office/drawing/2014/main" id="{245909C5-DA46-E6D8-6EF6-976C0C9EC056}"/>
              </a:ext>
            </a:extLst>
          </p:cNvPr>
          <p:cNvSpPr>
            <a:spLocks noGrp="1" noRot="1" noMove="1" noResize="1" noEditPoints="1" noAdjustHandles="1" noChangeArrowheads="1" noChangeShapeType="1"/>
          </p:cNvSpPr>
          <p:nvPr>
            <p:ph type="sldNum" sz="quarter" idx="4"/>
          </p:nvPr>
        </p:nvSpPr>
        <p:spPr>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noProof="0" smtClean="0"/>
              <a:pPr algn="ctr"/>
              <a:t>19</a:t>
            </a:fld>
            <a:endParaRPr lang="en-US" noProof="0" dirty="0">
              <a:latin typeface="Poppins Light" panose="00000400000000000000" pitchFamily="2" charset="0"/>
              <a:cs typeface="Poppins Light" panose="00000400000000000000" pitchFamily="2" charset="0"/>
            </a:endParaRPr>
          </a:p>
        </p:txBody>
      </p:sp>
      <p:pic>
        <p:nvPicPr>
          <p:cNvPr id="3" name="Picture 20">
            <a:extLst>
              <a:ext uri="{FF2B5EF4-FFF2-40B4-BE49-F238E27FC236}">
                <a16:creationId xmlns:a16="http://schemas.microsoft.com/office/drawing/2014/main" id="{D7BF13E0-2B0A-A0B5-6A65-3164F45519A1}"/>
              </a:ext>
            </a:extLst>
          </p:cNvPr>
          <p:cNvPicPr>
            <a:picLocks noChangeAspect="1"/>
          </p:cNvPicPr>
          <p:nvPr/>
        </p:nvPicPr>
        <p:blipFill>
          <a:blip r:embed="rId3">
            <a:alphaModFix/>
            <a:extLst>
              <a:ext uri="{28A0092B-C50C-407E-A947-70E740481C1C}">
                <a14:useLocalDpi xmlns:a14="http://schemas.microsoft.com/office/drawing/2010/main" val="0"/>
              </a:ext>
            </a:extLst>
          </a:blip>
          <a:srcRect l="5569" t="5643" r="4987" b="5063"/>
          <a:stretch>
            <a:fillRect/>
          </a:stretch>
        </p:blipFill>
        <p:spPr>
          <a:xfrm>
            <a:off x="8423685" y="1452337"/>
            <a:ext cx="3411127" cy="4532400"/>
          </a:xfrm>
          <a:prstGeom prst="roundRect">
            <a:avLst>
              <a:gd name="adj" fmla="val 2913"/>
            </a:avLst>
          </a:prstGeom>
        </p:spPr>
      </p:pic>
      <p:sp>
        <p:nvSpPr>
          <p:cNvPr id="6" name="Rectangle 16">
            <a:extLst>
              <a:ext uri="{FF2B5EF4-FFF2-40B4-BE49-F238E27FC236}">
                <a16:creationId xmlns:a16="http://schemas.microsoft.com/office/drawing/2014/main" id="{ECB1B3F9-4187-D1E3-AC0B-86A6375890F6}"/>
              </a:ext>
            </a:extLst>
          </p:cNvPr>
          <p:cNvSpPr/>
          <p:nvPr/>
        </p:nvSpPr>
        <p:spPr>
          <a:xfrm>
            <a:off x="8423685" y="1798522"/>
            <a:ext cx="3412800" cy="98912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en-US" sz="1200" noProof="0" dirty="0">
              <a:solidFill>
                <a:schemeClr val="tx1"/>
              </a:solidFill>
              <a:latin typeface="Poppins" panose="00000500000000000000" pitchFamily="2" charset="0"/>
              <a:ea typeface="Source Serif Pro" panose="02040603050405020204" pitchFamily="18" charset="0"/>
              <a:cs typeface="Poppins" panose="00000500000000000000" pitchFamily="2" charset="0"/>
            </a:endParaRPr>
          </a:p>
        </p:txBody>
      </p:sp>
      <p:sp>
        <p:nvSpPr>
          <p:cNvPr id="23" name="Retângulo: Cantos Arredondados 22">
            <a:extLst>
              <a:ext uri="{FF2B5EF4-FFF2-40B4-BE49-F238E27FC236}">
                <a16:creationId xmlns:a16="http://schemas.microsoft.com/office/drawing/2014/main" id="{2A9463D3-E2B1-56F0-AB33-31AEE3796BD1}"/>
              </a:ext>
            </a:extLst>
          </p:cNvPr>
          <p:cNvSpPr/>
          <p:nvPr/>
        </p:nvSpPr>
        <p:spPr>
          <a:xfrm>
            <a:off x="8642242" y="1678988"/>
            <a:ext cx="1705687" cy="2390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050" b="1"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[City — State]</a:t>
            </a:r>
          </a:p>
        </p:txBody>
      </p:sp>
      <p:sp>
        <p:nvSpPr>
          <p:cNvPr id="24" name="Retângulo: Cantos Arredondados 23">
            <a:extLst>
              <a:ext uri="{FF2B5EF4-FFF2-40B4-BE49-F238E27FC236}">
                <a16:creationId xmlns:a16="http://schemas.microsoft.com/office/drawing/2014/main" id="{6B615DA9-25F8-418E-E7FF-4C1C08F048CA}"/>
              </a:ext>
            </a:extLst>
          </p:cNvPr>
          <p:cNvSpPr/>
          <p:nvPr/>
        </p:nvSpPr>
        <p:spPr>
          <a:xfrm>
            <a:off x="731837" y="1647238"/>
            <a:ext cx="3360415" cy="239070"/>
          </a:xfrm>
          <a:prstGeom prst="roundRect">
            <a:avLst>
              <a:gd name="adj" fmla="val 50000"/>
            </a:avLst>
          </a:prstGeom>
          <a:solidFill>
            <a:schemeClr val="l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Start of contract</a:t>
            </a:r>
          </a:p>
        </p:txBody>
      </p:sp>
      <p:sp>
        <p:nvSpPr>
          <p:cNvPr id="27" name="Retângulo: Cantos Arredondados 26">
            <a:extLst>
              <a:ext uri="{FF2B5EF4-FFF2-40B4-BE49-F238E27FC236}">
                <a16:creationId xmlns:a16="http://schemas.microsoft.com/office/drawing/2014/main" id="{73231640-E6E4-C3D6-4C26-07ABF9267C51}"/>
              </a:ext>
            </a:extLst>
          </p:cNvPr>
          <p:cNvSpPr/>
          <p:nvPr/>
        </p:nvSpPr>
        <p:spPr>
          <a:xfrm>
            <a:off x="4577761" y="1647238"/>
            <a:ext cx="3360415" cy="239070"/>
          </a:xfrm>
          <a:prstGeom prst="roundRect">
            <a:avLst>
              <a:gd name="adj" fmla="val 50000"/>
            </a:avLst>
          </a:prstGeom>
          <a:solidFill>
            <a:schemeClr val="l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Current contract</a:t>
            </a:r>
          </a:p>
        </p:txBody>
      </p:sp>
      <p:grpSp>
        <p:nvGrpSpPr>
          <p:cNvPr id="7" name="Agrupar 6">
            <a:extLst>
              <a:ext uri="{FF2B5EF4-FFF2-40B4-BE49-F238E27FC236}">
                <a16:creationId xmlns:a16="http://schemas.microsoft.com/office/drawing/2014/main" id="{AF8A513F-D334-1426-1A89-931B64BE200C}"/>
              </a:ext>
            </a:extLst>
          </p:cNvPr>
          <p:cNvGrpSpPr/>
          <p:nvPr/>
        </p:nvGrpSpPr>
        <p:grpSpPr>
          <a:xfrm>
            <a:off x="634250" y="2134359"/>
            <a:ext cx="3531497" cy="452700"/>
            <a:chOff x="634250" y="2134359"/>
            <a:chExt cx="3531497" cy="452700"/>
          </a:xfrm>
        </p:grpSpPr>
        <p:sp>
          <p:nvSpPr>
            <p:cNvPr id="29" name="Título 1">
              <a:extLst>
                <a:ext uri="{FF2B5EF4-FFF2-40B4-BE49-F238E27FC236}">
                  <a16:creationId xmlns:a16="http://schemas.microsoft.com/office/drawing/2014/main" id="{52DBCCDC-B4D7-733F-A325-EEF0B418B545}"/>
                </a:ext>
              </a:extLst>
            </p:cNvPr>
            <p:cNvSpPr txBox="1">
              <a:spLocks/>
            </p:cNvSpPr>
            <p:nvPr/>
          </p:nvSpPr>
          <p:spPr>
            <a:xfrm>
              <a:off x="731837" y="2134359"/>
              <a:ext cx="838730"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BRL </a:t>
              </a:r>
              <a:r>
                <a:rPr lang="en-US" sz="1400" dirty="0">
                  <a:solidFill>
                    <a:schemeClr val="accent1"/>
                  </a:solidFill>
                </a:rPr>
                <a:t>[XXX]</a:t>
              </a:r>
              <a:r>
                <a:rPr lang="en-US" sz="1050" dirty="0">
                  <a:solidFill>
                    <a:schemeClr val="accent1"/>
                  </a:solidFill>
                </a:rPr>
                <a:t>Mn</a:t>
              </a:r>
              <a:endParaRPr lang="en-US" sz="1400" dirty="0">
                <a:solidFill>
                  <a:schemeClr val="accent1"/>
                </a:solidFill>
              </a:endParaRPr>
            </a:p>
          </p:txBody>
        </p:sp>
        <p:sp>
          <p:nvSpPr>
            <p:cNvPr id="37" name="TextBox 82">
              <a:extLst>
                <a:ext uri="{FF2B5EF4-FFF2-40B4-BE49-F238E27FC236}">
                  <a16:creationId xmlns:a16="http://schemas.microsoft.com/office/drawing/2014/main" id="{78AF7D31-6319-3C8F-34DE-D1B726E1947B}"/>
                </a:ext>
              </a:extLst>
            </p:cNvPr>
            <p:cNvSpPr txBox="1"/>
            <p:nvPr/>
          </p:nvSpPr>
          <p:spPr>
            <a:xfrm>
              <a:off x="634250"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value</a:t>
              </a:r>
            </a:p>
          </p:txBody>
        </p:sp>
        <p:sp>
          <p:nvSpPr>
            <p:cNvPr id="45" name="Título 1">
              <a:extLst>
                <a:ext uri="{FF2B5EF4-FFF2-40B4-BE49-F238E27FC236}">
                  <a16:creationId xmlns:a16="http://schemas.microsoft.com/office/drawing/2014/main" id="{FE919C1C-58AE-2BDE-55E0-76E520AB1028}"/>
                </a:ext>
              </a:extLst>
            </p:cNvPr>
            <p:cNvSpPr txBox="1">
              <a:spLocks/>
            </p:cNvSpPr>
            <p:nvPr/>
          </p:nvSpPr>
          <p:spPr>
            <a:xfrm>
              <a:off x="1799172" y="2134359"/>
              <a:ext cx="838730"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accent1"/>
                  </a:solidFill>
                </a:rPr>
                <a:t>[X] </a:t>
              </a:r>
              <a:r>
                <a:rPr lang="en-US" sz="1050" dirty="0">
                  <a:solidFill>
                    <a:schemeClr val="accent1"/>
                  </a:solidFill>
                </a:rPr>
                <a:t>months</a:t>
              </a:r>
              <a:endParaRPr lang="en-US" sz="1400" dirty="0">
                <a:solidFill>
                  <a:schemeClr val="accent1"/>
                </a:solidFill>
              </a:endParaRPr>
            </a:p>
          </p:txBody>
        </p:sp>
        <p:sp>
          <p:nvSpPr>
            <p:cNvPr id="46" name="TextBox 82">
              <a:extLst>
                <a:ext uri="{FF2B5EF4-FFF2-40B4-BE49-F238E27FC236}">
                  <a16:creationId xmlns:a16="http://schemas.microsoft.com/office/drawing/2014/main" id="{65C27883-970C-8650-6C1F-D19127A83EC6}"/>
                </a:ext>
              </a:extLst>
            </p:cNvPr>
            <p:cNvSpPr txBox="1"/>
            <p:nvPr/>
          </p:nvSpPr>
          <p:spPr>
            <a:xfrm>
              <a:off x="1701585"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term</a:t>
              </a:r>
            </a:p>
          </p:txBody>
        </p:sp>
        <p:sp>
          <p:nvSpPr>
            <p:cNvPr id="48" name="Título 1">
              <a:extLst>
                <a:ext uri="{FF2B5EF4-FFF2-40B4-BE49-F238E27FC236}">
                  <a16:creationId xmlns:a16="http://schemas.microsoft.com/office/drawing/2014/main" id="{0DF7BC91-3331-5991-AB55-B6952743C2E8}"/>
                </a:ext>
              </a:extLst>
            </p:cNvPr>
            <p:cNvSpPr txBox="1">
              <a:spLocks/>
            </p:cNvSpPr>
            <p:nvPr/>
          </p:nvSpPr>
          <p:spPr>
            <a:xfrm>
              <a:off x="2871584" y="2180227"/>
              <a:ext cx="1294163" cy="1726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[Service scope — TBC]</a:t>
              </a:r>
            </a:p>
          </p:txBody>
        </p:sp>
        <p:sp>
          <p:nvSpPr>
            <p:cNvPr id="49" name="TextBox 82">
              <a:extLst>
                <a:ext uri="{FF2B5EF4-FFF2-40B4-BE49-F238E27FC236}">
                  <a16:creationId xmlns:a16="http://schemas.microsoft.com/office/drawing/2014/main" id="{689EAD3F-BEEF-39DF-9495-A4F70BCA0958}"/>
                </a:ext>
              </a:extLst>
            </p:cNvPr>
            <p:cNvSpPr txBox="1"/>
            <p:nvPr/>
          </p:nvSpPr>
          <p:spPr>
            <a:xfrm>
              <a:off x="2773998"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service scope </a:t>
              </a:r>
            </a:p>
          </p:txBody>
        </p:sp>
      </p:grpSp>
      <p:grpSp>
        <p:nvGrpSpPr>
          <p:cNvPr id="8" name="Agrupar 7">
            <a:extLst>
              <a:ext uri="{FF2B5EF4-FFF2-40B4-BE49-F238E27FC236}">
                <a16:creationId xmlns:a16="http://schemas.microsoft.com/office/drawing/2014/main" id="{51E388CE-7B71-55C3-EEA6-20EB14B3DF5C}"/>
              </a:ext>
            </a:extLst>
          </p:cNvPr>
          <p:cNvGrpSpPr/>
          <p:nvPr/>
        </p:nvGrpSpPr>
        <p:grpSpPr>
          <a:xfrm>
            <a:off x="4487259" y="2134359"/>
            <a:ext cx="3579238" cy="452700"/>
            <a:chOff x="4487259" y="2134359"/>
            <a:chExt cx="3579238" cy="452700"/>
          </a:xfrm>
        </p:grpSpPr>
        <p:sp>
          <p:nvSpPr>
            <p:cNvPr id="52" name="Título 1">
              <a:extLst>
                <a:ext uri="{FF2B5EF4-FFF2-40B4-BE49-F238E27FC236}">
                  <a16:creationId xmlns:a16="http://schemas.microsoft.com/office/drawing/2014/main" id="{DCA237CF-A7C3-EAF8-5715-FD1A7B048A4A}"/>
                </a:ext>
              </a:extLst>
            </p:cNvPr>
            <p:cNvSpPr txBox="1">
              <a:spLocks/>
            </p:cNvSpPr>
            <p:nvPr/>
          </p:nvSpPr>
          <p:spPr>
            <a:xfrm>
              <a:off x="4584845" y="2134359"/>
              <a:ext cx="93123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BRL </a:t>
              </a:r>
              <a:r>
                <a:rPr lang="en-US" sz="1400" dirty="0">
                  <a:solidFill>
                    <a:schemeClr val="accent1"/>
                  </a:solidFill>
                </a:rPr>
                <a:t>[XXX]</a:t>
              </a:r>
              <a:r>
                <a:rPr lang="en-US" sz="1050" dirty="0">
                  <a:solidFill>
                    <a:schemeClr val="accent1"/>
                  </a:solidFill>
                </a:rPr>
                <a:t>Mn</a:t>
              </a:r>
              <a:endParaRPr lang="en-US" sz="1400" dirty="0">
                <a:solidFill>
                  <a:schemeClr val="accent1"/>
                </a:solidFill>
              </a:endParaRPr>
            </a:p>
          </p:txBody>
        </p:sp>
        <p:sp>
          <p:nvSpPr>
            <p:cNvPr id="53" name="TextBox 82">
              <a:extLst>
                <a:ext uri="{FF2B5EF4-FFF2-40B4-BE49-F238E27FC236}">
                  <a16:creationId xmlns:a16="http://schemas.microsoft.com/office/drawing/2014/main" id="{1FAD3868-F3EA-9F7E-5F4B-311CD0DDA161}"/>
                </a:ext>
              </a:extLst>
            </p:cNvPr>
            <p:cNvSpPr txBox="1"/>
            <p:nvPr/>
          </p:nvSpPr>
          <p:spPr>
            <a:xfrm>
              <a:off x="4487259"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value</a:t>
              </a:r>
            </a:p>
          </p:txBody>
        </p:sp>
        <p:sp>
          <p:nvSpPr>
            <p:cNvPr id="54" name="Título 1">
              <a:extLst>
                <a:ext uri="{FF2B5EF4-FFF2-40B4-BE49-F238E27FC236}">
                  <a16:creationId xmlns:a16="http://schemas.microsoft.com/office/drawing/2014/main" id="{5FE9C627-470D-E68B-2792-4CEA19E4D6F2}"/>
                </a:ext>
              </a:extLst>
            </p:cNvPr>
            <p:cNvSpPr txBox="1">
              <a:spLocks/>
            </p:cNvSpPr>
            <p:nvPr/>
          </p:nvSpPr>
          <p:spPr>
            <a:xfrm>
              <a:off x="5687741" y="2134359"/>
              <a:ext cx="824819" cy="2314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accent1"/>
                  </a:solidFill>
                </a:rPr>
                <a:t>[X] </a:t>
              </a:r>
              <a:r>
                <a:rPr lang="en-US" sz="1050" dirty="0">
                  <a:solidFill>
                    <a:schemeClr val="accent1"/>
                  </a:solidFill>
                </a:rPr>
                <a:t>years</a:t>
              </a:r>
              <a:endParaRPr lang="en-US" sz="1400" dirty="0">
                <a:solidFill>
                  <a:schemeClr val="accent1"/>
                </a:solidFill>
              </a:endParaRPr>
            </a:p>
          </p:txBody>
        </p:sp>
        <p:sp>
          <p:nvSpPr>
            <p:cNvPr id="55" name="TextBox 82">
              <a:extLst>
                <a:ext uri="{FF2B5EF4-FFF2-40B4-BE49-F238E27FC236}">
                  <a16:creationId xmlns:a16="http://schemas.microsoft.com/office/drawing/2014/main" id="{626ED384-0860-4D30-BF2C-395272D947E3}"/>
                </a:ext>
              </a:extLst>
            </p:cNvPr>
            <p:cNvSpPr txBox="1"/>
            <p:nvPr/>
          </p:nvSpPr>
          <p:spPr>
            <a:xfrm>
              <a:off x="5590154"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of total term</a:t>
              </a:r>
            </a:p>
          </p:txBody>
        </p:sp>
        <p:sp>
          <p:nvSpPr>
            <p:cNvPr id="56" name="Título 1">
              <a:extLst>
                <a:ext uri="{FF2B5EF4-FFF2-40B4-BE49-F238E27FC236}">
                  <a16:creationId xmlns:a16="http://schemas.microsoft.com/office/drawing/2014/main" id="{9E3A0B98-CC73-1FDC-A734-DA7FABCC3DCF}"/>
                </a:ext>
              </a:extLst>
            </p:cNvPr>
            <p:cNvSpPr txBox="1">
              <a:spLocks/>
            </p:cNvSpPr>
            <p:nvPr/>
          </p:nvSpPr>
          <p:spPr>
            <a:xfrm>
              <a:off x="6724593" y="2180226"/>
              <a:ext cx="1341904" cy="15077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50" dirty="0">
                  <a:solidFill>
                    <a:schemeClr val="accent1"/>
                  </a:solidFill>
                </a:rPr>
                <a:t>[Service scope — TBC]</a:t>
              </a:r>
            </a:p>
          </p:txBody>
        </p:sp>
        <p:sp>
          <p:nvSpPr>
            <p:cNvPr id="57" name="TextBox 82">
              <a:extLst>
                <a:ext uri="{FF2B5EF4-FFF2-40B4-BE49-F238E27FC236}">
                  <a16:creationId xmlns:a16="http://schemas.microsoft.com/office/drawing/2014/main" id="{FAE3AF10-592D-B839-61A5-1B3342D324BE}"/>
                </a:ext>
              </a:extLst>
            </p:cNvPr>
            <p:cNvSpPr txBox="1"/>
            <p:nvPr/>
          </p:nvSpPr>
          <p:spPr>
            <a:xfrm>
              <a:off x="6627007" y="2356227"/>
              <a:ext cx="974417" cy="230832"/>
            </a:xfrm>
            <a:prstGeom prst="rect">
              <a:avLst/>
            </a:prstGeom>
            <a:noFill/>
          </p:spPr>
          <p:txBody>
            <a:bodyPr wrap="square">
              <a:spAutoFit/>
            </a:bodyPr>
            <a:lstStyle/>
            <a:p>
              <a:r>
                <a:rPr lang="en-US" sz="900" dirty="0">
                  <a:latin typeface="Poppins" panose="00000500000000000000" pitchFamily="2" charset="0"/>
                  <a:cs typeface="Poppins" panose="00000500000000000000" pitchFamily="2" charset="0"/>
                </a:rPr>
                <a:t>service scope </a:t>
              </a:r>
            </a:p>
          </p:txBody>
        </p:sp>
      </p:grpSp>
      <p:sp>
        <p:nvSpPr>
          <p:cNvPr id="58" name="Retângulo: Cantos Arredondados 57">
            <a:extLst>
              <a:ext uri="{FF2B5EF4-FFF2-40B4-BE49-F238E27FC236}">
                <a16:creationId xmlns:a16="http://schemas.microsoft.com/office/drawing/2014/main" id="{5F991463-4E96-543D-56D7-AEF4D96F9F5D}"/>
              </a:ext>
            </a:extLst>
          </p:cNvPr>
          <p:cNvSpPr/>
          <p:nvPr/>
        </p:nvSpPr>
        <p:spPr>
          <a:xfrm>
            <a:off x="731837" y="2856324"/>
            <a:ext cx="7206339" cy="239070"/>
          </a:xfrm>
          <a:prstGeom prst="roundRect">
            <a:avLst>
              <a:gd name="adj" fmla="val 50000"/>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tx1">
                    <a:lumMod val="65000"/>
                    <a:lumOff val="35000"/>
                  </a:schemeClr>
                </a:solidFill>
                <a:latin typeface="Poppins SemiBold" panose="00000700000000000000" pitchFamily="2" charset="0"/>
                <a:ea typeface="Source Serif Pro" panose="02040603050405020204" pitchFamily="18" charset="0"/>
                <a:cs typeface="Poppins SemiBold" panose="00000700000000000000" pitchFamily="2" charset="0"/>
              </a:rPr>
              <a:t>Timeline</a:t>
            </a:r>
          </a:p>
        </p:txBody>
      </p:sp>
      <p:sp>
        <p:nvSpPr>
          <p:cNvPr id="59" name="Retângulo: Cantos Arredondados 58">
            <a:extLst>
              <a:ext uri="{FF2B5EF4-FFF2-40B4-BE49-F238E27FC236}">
                <a16:creationId xmlns:a16="http://schemas.microsoft.com/office/drawing/2014/main" id="{638688C8-6DFD-AD0E-5304-C73002F366DB}"/>
              </a:ext>
            </a:extLst>
          </p:cNvPr>
          <p:cNvSpPr/>
          <p:nvPr/>
        </p:nvSpPr>
        <p:spPr>
          <a:xfrm>
            <a:off x="731837" y="3426875"/>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0" name="Retângulo: Cantos Arredondados 59">
            <a:extLst>
              <a:ext uri="{FF2B5EF4-FFF2-40B4-BE49-F238E27FC236}">
                <a16:creationId xmlns:a16="http://schemas.microsoft.com/office/drawing/2014/main" id="{50F4C85A-AEEA-8F31-079A-9CEBD04459B4}"/>
              </a:ext>
            </a:extLst>
          </p:cNvPr>
          <p:cNvSpPr/>
          <p:nvPr/>
        </p:nvSpPr>
        <p:spPr>
          <a:xfrm>
            <a:off x="731837" y="4088039"/>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1" name="Retângulo: Cantos Arredondados 60">
            <a:extLst>
              <a:ext uri="{FF2B5EF4-FFF2-40B4-BE49-F238E27FC236}">
                <a16:creationId xmlns:a16="http://schemas.microsoft.com/office/drawing/2014/main" id="{5F03448B-B222-B551-07C3-8B2BB9E2152A}"/>
              </a:ext>
            </a:extLst>
          </p:cNvPr>
          <p:cNvSpPr/>
          <p:nvPr/>
        </p:nvSpPr>
        <p:spPr>
          <a:xfrm>
            <a:off x="731837" y="4749203"/>
            <a:ext cx="1393689" cy="365125"/>
          </a:xfrm>
          <a:prstGeom prst="roundRect">
            <a:avLst>
              <a:gd name="adj" fmla="val 5000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18000" rtlCol="0" anchor="ctr"/>
          <a:lstStyle/>
          <a:p>
            <a:pPr algn="ctr">
              <a:lnSpc>
                <a:spcPct val="112000"/>
              </a:lnSpc>
              <a:spcAft>
                <a:spcPts val="800"/>
              </a:spcAft>
            </a:pPr>
            <a:r>
              <a:rPr lang="pt-BR" sz="1050" b="1" dirty="0">
                <a:solidFill>
                  <a:schemeClr val="bg1"/>
                </a:solidFill>
                <a:latin typeface="Poppins" panose="00000500000000000000" pitchFamily="2" charset="0"/>
                <a:ea typeface="Source Serif Pro" panose="02040603050405020204" pitchFamily="18" charset="0"/>
                <a:cs typeface="Poppins" panose="00000500000000000000" pitchFamily="2" charset="0"/>
              </a:rPr>
              <a:t>[Mon-YY]</a:t>
            </a:r>
          </a:p>
        </p:txBody>
      </p:sp>
      <p:sp>
        <p:nvSpPr>
          <p:cNvPr id="66" name="TextBox 44">
            <a:extLst>
              <a:ext uri="{FF2B5EF4-FFF2-40B4-BE49-F238E27FC236}">
                <a16:creationId xmlns:a16="http://schemas.microsoft.com/office/drawing/2014/main" id="{9F10D402-7189-BF23-7541-0A2B57E2A13A}"/>
              </a:ext>
            </a:extLst>
          </p:cNvPr>
          <p:cNvSpPr txBox="1"/>
          <p:nvPr/>
        </p:nvSpPr>
        <p:spPr>
          <a:xfrm>
            <a:off x="2352654" y="3459973"/>
            <a:ext cx="5520554" cy="298928"/>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67" name="TextBox 44">
            <a:extLst>
              <a:ext uri="{FF2B5EF4-FFF2-40B4-BE49-F238E27FC236}">
                <a16:creationId xmlns:a16="http://schemas.microsoft.com/office/drawing/2014/main" id="{921E54F9-BB2E-4218-49C7-051BD9AE9D27}"/>
              </a:ext>
            </a:extLst>
          </p:cNvPr>
          <p:cNvSpPr txBox="1"/>
          <p:nvPr/>
        </p:nvSpPr>
        <p:spPr>
          <a:xfrm>
            <a:off x="2352655" y="4121137"/>
            <a:ext cx="5471218" cy="298928"/>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69" name="TextBox 44">
            <a:extLst>
              <a:ext uri="{FF2B5EF4-FFF2-40B4-BE49-F238E27FC236}">
                <a16:creationId xmlns:a16="http://schemas.microsoft.com/office/drawing/2014/main" id="{A32EDECB-3D19-662D-6413-7FC2F6DEC205}"/>
              </a:ext>
            </a:extLst>
          </p:cNvPr>
          <p:cNvSpPr txBox="1"/>
          <p:nvPr/>
        </p:nvSpPr>
        <p:spPr>
          <a:xfrm>
            <a:off x="2352654" y="4858476"/>
            <a:ext cx="5663039" cy="146579"/>
          </a:xfrm>
          <a:prstGeom prst="rect">
            <a:avLst/>
          </a:prstGeom>
          <a:noFill/>
        </p:spPr>
        <p:txBody>
          <a:bodyPr wrap="square" lIns="0" tIns="0" rIns="0" bIns="0" rtlCol="0">
            <a:spAutoFit/>
          </a:bodyPr>
          <a:lstStyle/>
          <a:p>
            <a:pPr marL="144000" indent="-144000" algn="l">
              <a:lnSpc>
                <a:spcPct val="110000"/>
              </a:lnSpc>
              <a:spcAft>
                <a:spcPts val="800"/>
              </a:spcAft>
              <a:buClr>
                <a:schemeClr val="accent1"/>
              </a:buClr>
              <a:buFont typeface="Arial" panose="020B0604020202020204" pitchFamily="34" charset="0"/>
              <a:buChar char="•"/>
            </a:pPr>
            <a:r>
              <a:rPr lang="en-US" sz="900" noProof="0" dirty="0">
                <a:latin typeface="Poppins" panose="00000500000000000000" pitchFamily="2" charset="0"/>
                <a:ea typeface="Source Serif Pro" panose="02040603050405020204" pitchFamily="18" charset="0"/>
                <a:cs typeface="Poppins" panose="00000500000000000000" pitchFamily="2" charset="0"/>
              </a:rPr>
              <a:t>[Milestone — TBC]</a:t>
            </a:r>
          </a:p>
        </p:txBody>
      </p:sp>
      <p:sp>
        <p:nvSpPr>
          <p:cNvPr id="72" name="CaixaDeTexto 3">
            <a:extLst>
              <a:ext uri="{FF2B5EF4-FFF2-40B4-BE49-F238E27FC236}">
                <a16:creationId xmlns:a16="http://schemas.microsoft.com/office/drawing/2014/main" id="{084CA4F4-7D19-F938-482E-615F87651B68}"/>
              </a:ext>
            </a:extLst>
          </p:cNvPr>
          <p:cNvSpPr txBox="1"/>
          <p:nvPr/>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a:solidFill>
                  <a:schemeClr val="bg1"/>
                </a:solidFill>
              </a:rPr>
              <a:t>Company Overview</a:t>
            </a:r>
          </a:p>
        </p:txBody>
      </p:sp>
      <p:pic>
        <p:nvPicPr>
          <p:cNvPr id="73" name="Gráfico 14">
            <a:extLst>
              <a:ext uri="{FF2B5EF4-FFF2-40B4-BE49-F238E27FC236}">
                <a16:creationId xmlns:a16="http://schemas.microsoft.com/office/drawing/2014/main" id="{CC5FC8F1-A7D7-534A-444C-C7409ED41B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1969" y="307275"/>
            <a:ext cx="354839" cy="303818"/>
          </a:xfrm>
          <a:prstGeom prst="rect">
            <a:avLst/>
          </a:prstGeom>
        </p:spPr>
      </p:pic>
      <p:pic>
        <p:nvPicPr>
          <p:cNvPr id="4" name="Picture 35" descr="Dia do meio ambiente - AngloGold Ashanti Brasil">
            <a:extLst>
              <a:ext uri="{FF2B5EF4-FFF2-40B4-BE49-F238E27FC236}">
                <a16:creationId xmlns:a16="http://schemas.microsoft.com/office/drawing/2014/main" id="{B7EFBD2A-5A2F-4FB1-5837-F75F2C78A7C7}"/>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412310" y="2048884"/>
            <a:ext cx="1435551" cy="491010"/>
          </a:xfrm>
          <a:prstGeom prst="rect">
            <a:avLst/>
          </a:prstGeom>
        </p:spPr>
      </p:pic>
    </p:spTree>
    <p:extLst>
      <p:ext uri="{BB962C8B-B14F-4D97-AF65-F5344CB8AC3E}">
        <p14:creationId xmlns:p14="http://schemas.microsoft.com/office/powerpoint/2010/main" val="3851891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35B1A"/>
            </a:gs>
            <a:gs pos="72000">
              <a:srgbClr val="000000"/>
            </a:gs>
          </a:gsLst>
          <a:lin ang="0" scaled="1"/>
        </a:gradFill>
        <a:effectLst/>
      </p:bgPr>
    </p:bg>
    <p:spTree>
      <p:nvGrpSpPr>
        <p:cNvPr id="1" name="">
          <a:extLst>
            <a:ext uri="{FF2B5EF4-FFF2-40B4-BE49-F238E27FC236}">
              <a16:creationId xmlns:a16="http://schemas.microsoft.com/office/drawing/2014/main" id="{4BF23651-4378-0F3D-705C-673287C274EC}"/>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B9EF6EEC-0BC6-880D-E6F5-193C5E827370}"/>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900" name="Retângulo: Cantos Arredondados 38">
            <a:extLst>
              <a:ext uri="{FF2B5EF4-FFF2-40B4-BE49-F238E27FC236}">
                <a16:creationId xmlns:a16="http://schemas.microsoft.com/office/drawing/2014/main" id="{C6C07B56-20A2-7B0C-637A-6E82DB7EE9B6}"/>
              </a:ext>
            </a:extLst>
          </p:cNvPr>
          <p:cNvSpPr/>
          <p:nvPr/>
        </p:nvSpPr>
        <p:spPr>
          <a:xfrm>
            <a:off x="1172922" y="2582830"/>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1" name="CaixaDeTexto 39">
            <a:extLst>
              <a:ext uri="{FF2B5EF4-FFF2-40B4-BE49-F238E27FC236}">
                <a16:creationId xmlns:a16="http://schemas.microsoft.com/office/drawing/2014/main" id="{8897FDF1-8AF3-603D-5C15-83FC17C1CCB8}"/>
              </a:ext>
            </a:extLst>
          </p:cNvPr>
          <p:cNvSpPr txBox="1"/>
          <p:nvPr/>
        </p:nvSpPr>
        <p:spPr>
          <a:xfrm>
            <a:off x="2139121" y="2711760"/>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Introduction</a:t>
            </a:r>
          </a:p>
        </p:txBody>
      </p:sp>
      <p:sp>
        <p:nvSpPr>
          <p:cNvPr id="902" name="CaixaDeTexto 40">
            <a:extLst>
              <a:ext uri="{FF2B5EF4-FFF2-40B4-BE49-F238E27FC236}">
                <a16:creationId xmlns:a16="http://schemas.microsoft.com/office/drawing/2014/main" id="{E733CCCD-386A-018A-FA97-3D4D45490E51}"/>
              </a:ext>
            </a:extLst>
          </p:cNvPr>
          <p:cNvSpPr txBox="1"/>
          <p:nvPr/>
        </p:nvSpPr>
        <p:spPr>
          <a:xfrm>
            <a:off x="1564869" y="2711760"/>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01</a:t>
            </a:r>
          </a:p>
        </p:txBody>
      </p:sp>
      <p:sp>
        <p:nvSpPr>
          <p:cNvPr id="903" name="Retângulo: Cantos Arredondados 38">
            <a:extLst>
              <a:ext uri="{FF2B5EF4-FFF2-40B4-BE49-F238E27FC236}">
                <a16:creationId xmlns:a16="http://schemas.microsoft.com/office/drawing/2014/main" id="{C6C07B56-20A2-7B0C-637A-6E82DB7EE9B6}"/>
              </a:ext>
            </a:extLst>
          </p:cNvPr>
          <p:cNvSpPr/>
          <p:nvPr/>
        </p:nvSpPr>
        <p:spPr>
          <a:xfrm>
            <a:off x="1172922" y="3214518"/>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4" name="CaixaDeTexto 39">
            <a:extLst>
              <a:ext uri="{FF2B5EF4-FFF2-40B4-BE49-F238E27FC236}">
                <a16:creationId xmlns:a16="http://schemas.microsoft.com/office/drawing/2014/main" id="{8897FDF1-8AF3-603D-5C15-83FC17C1CCB8}"/>
              </a:ext>
            </a:extLst>
          </p:cNvPr>
          <p:cNvSpPr txBox="1"/>
          <p:nvPr/>
        </p:nvSpPr>
        <p:spPr>
          <a:xfrm>
            <a:off x="2139121" y="3343448"/>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905" name="CaixaDeTexto 40">
            <a:extLst>
              <a:ext uri="{FF2B5EF4-FFF2-40B4-BE49-F238E27FC236}">
                <a16:creationId xmlns:a16="http://schemas.microsoft.com/office/drawing/2014/main" id="{E733CCCD-386A-018A-FA97-3D4D45490E51}"/>
              </a:ext>
            </a:extLst>
          </p:cNvPr>
          <p:cNvSpPr txBox="1"/>
          <p:nvPr/>
        </p:nvSpPr>
        <p:spPr>
          <a:xfrm>
            <a:off x="1564869" y="3343448"/>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02</a:t>
            </a:r>
          </a:p>
        </p:txBody>
      </p:sp>
      <p:sp>
        <p:nvSpPr>
          <p:cNvPr id="906" name="Retângulo: Cantos Arredondados 38">
            <a:extLst>
              <a:ext uri="{FF2B5EF4-FFF2-40B4-BE49-F238E27FC236}">
                <a16:creationId xmlns:a16="http://schemas.microsoft.com/office/drawing/2014/main" id="{C6C07B56-20A2-7B0C-637A-6E82DB7EE9B6}"/>
              </a:ext>
            </a:extLst>
          </p:cNvPr>
          <p:cNvSpPr/>
          <p:nvPr/>
        </p:nvSpPr>
        <p:spPr>
          <a:xfrm>
            <a:off x="1172922" y="3846206"/>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907" name="CaixaDeTexto 39">
            <a:extLst>
              <a:ext uri="{FF2B5EF4-FFF2-40B4-BE49-F238E27FC236}">
                <a16:creationId xmlns:a16="http://schemas.microsoft.com/office/drawing/2014/main" id="{8897FDF1-8AF3-603D-5C15-83FC17C1CCB8}"/>
              </a:ext>
            </a:extLst>
          </p:cNvPr>
          <p:cNvSpPr txBox="1"/>
          <p:nvPr/>
        </p:nvSpPr>
        <p:spPr>
          <a:xfrm>
            <a:off x="2139121" y="3975136"/>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908" name="CaixaDeTexto 40">
            <a:extLst>
              <a:ext uri="{FF2B5EF4-FFF2-40B4-BE49-F238E27FC236}">
                <a16:creationId xmlns:a16="http://schemas.microsoft.com/office/drawing/2014/main" id="{E733CCCD-386A-018A-FA97-3D4D45490E51}"/>
              </a:ext>
            </a:extLst>
          </p:cNvPr>
          <p:cNvSpPr txBox="1"/>
          <p:nvPr/>
        </p:nvSpPr>
        <p:spPr>
          <a:xfrm>
            <a:off x="1564869" y="3975136"/>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03</a:t>
            </a:r>
          </a:p>
        </p:txBody>
      </p:sp>
      <p:sp>
        <p:nvSpPr>
          <p:cNvPr id="909" name="Retângulo: Cantos Arredondados 1">
            <a:extLst>
              <a:ext uri="{FF2B5EF4-FFF2-40B4-BE49-F238E27FC236}">
                <a16:creationId xmlns:a16="http://schemas.microsoft.com/office/drawing/2014/main" id="{72FC2ABE-4E21-AB44-954E-D597F8016B1C}"/>
              </a:ext>
            </a:extLst>
          </p:cNvPr>
          <p:cNvSpPr/>
          <p:nvPr/>
        </p:nvSpPr>
        <p:spPr>
          <a:xfrm>
            <a:off x="1172922" y="4477894"/>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a:solidFill>
                <a:schemeClr val="tx1"/>
              </a:solidFill>
              <a:latin typeface="Source Serif Pro" panose="02040603050405020204" pitchFamily="18" charset="0"/>
              <a:ea typeface="Source Serif Pro" panose="02040603050405020204" pitchFamily="18" charset="0"/>
            </a:endParaRPr>
          </a:p>
        </p:txBody>
      </p:sp>
      <p:sp>
        <p:nvSpPr>
          <p:cNvPr id="910" name="CaixaDeTexto 25">
            <a:extLst>
              <a:ext uri="{FF2B5EF4-FFF2-40B4-BE49-F238E27FC236}">
                <a16:creationId xmlns:a16="http://schemas.microsoft.com/office/drawing/2014/main" id="{BC3552FB-F24F-9979-6760-4E7417A8FCDF}"/>
              </a:ext>
            </a:extLst>
          </p:cNvPr>
          <p:cNvSpPr txBox="1"/>
          <p:nvPr/>
        </p:nvSpPr>
        <p:spPr>
          <a:xfrm>
            <a:off x="2139121" y="4606824"/>
            <a:ext cx="1397757"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Financial Highlights</a:t>
            </a:r>
          </a:p>
        </p:txBody>
      </p:sp>
      <p:sp>
        <p:nvSpPr>
          <p:cNvPr id="911" name="CaixaDeTexto 27">
            <a:extLst>
              <a:ext uri="{FF2B5EF4-FFF2-40B4-BE49-F238E27FC236}">
                <a16:creationId xmlns:a16="http://schemas.microsoft.com/office/drawing/2014/main" id="{7FCACCD0-1070-893D-F907-3A2251B4E01A}"/>
              </a:ext>
            </a:extLst>
          </p:cNvPr>
          <p:cNvSpPr txBox="1"/>
          <p:nvPr/>
        </p:nvSpPr>
        <p:spPr>
          <a:xfrm>
            <a:off x="1564869" y="4606824"/>
            <a:ext cx="428448"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04</a:t>
            </a:r>
          </a:p>
        </p:txBody>
      </p:sp>
      <p:pic>
        <p:nvPicPr>
          <p:cNvPr id="4" name="Imagem 3">
            <a:extLst>
              <a:ext uri="{FF2B5EF4-FFF2-40B4-BE49-F238E27FC236}">
                <a16:creationId xmlns:a16="http://schemas.microsoft.com/office/drawing/2014/main" id="{3A753F93-41C1-A48D-2F31-83F7E2E08C50}"/>
              </a:ext>
            </a:extLst>
          </p:cNvPr>
          <p:cNvPicPr>
            <a:picLocks noChangeAspect="1"/>
          </p:cNvPicPr>
          <p:nvPr/>
        </p:nvPicPr>
        <p:blipFill>
          <a:blip r:embed="rId2"/>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3100939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243AD-32DF-A351-11C8-5E4E28AC763A}"/>
            </a:ext>
          </a:extLst>
        </p:cNvPr>
        <p:cNvGrpSpPr/>
        <p:nvPr/>
      </p:nvGrpSpPr>
      <p:grpSpPr>
        <a:xfrm>
          <a:off x="0" y="0"/>
          <a:ext cx="0" cy="0"/>
          <a:chOff x="0" y="0"/>
          <a:chExt cx="0" cy="0"/>
        </a:xfrm>
      </p:grpSpPr>
    </p:spTree>
    <p:extLst>
      <p:ext uri="{BB962C8B-B14F-4D97-AF65-F5344CB8AC3E}">
        <p14:creationId xmlns:p14="http://schemas.microsoft.com/office/powerpoint/2010/main" val="3299354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243AD-32DF-A351-11C8-5E4E28AC763A}"/>
            </a:ext>
          </a:extLst>
        </p:cNvPr>
        <p:cNvGrpSpPr/>
        <p:nvPr/>
      </p:nvGrpSpPr>
      <p:grpSpPr>
        <a:xfrm>
          <a:off x="0" y="0"/>
          <a:ext cx="0" cy="0"/>
          <a:chOff x="0" y="0"/>
          <a:chExt cx="0" cy="0"/>
        </a:xfrm>
      </p:grpSpPr>
    </p:spTree>
    <p:extLst>
      <p:ext uri="{BB962C8B-B14F-4D97-AF65-F5344CB8AC3E}">
        <p14:creationId xmlns:p14="http://schemas.microsoft.com/office/powerpoint/2010/main" val="3299354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35B1A"/>
            </a:gs>
            <a:gs pos="72000">
              <a:srgbClr val="000000"/>
            </a:gs>
          </a:gsLst>
          <a:lin ang="0" scaled="1"/>
          <a:tileRect/>
        </a:gradFill>
        <a:effectLst/>
      </p:bgPr>
    </p:bg>
    <p:spTree>
      <p:nvGrpSpPr>
        <p:cNvPr id="1" name="">
          <a:extLst>
            <a:ext uri="{FF2B5EF4-FFF2-40B4-BE49-F238E27FC236}">
              <a16:creationId xmlns:a16="http://schemas.microsoft.com/office/drawing/2014/main" id="{6930BF8F-F28E-8794-97F5-0B1C9B332F0F}"/>
            </a:ext>
          </a:extLst>
        </p:cNvPr>
        <p:cNvGrpSpPr/>
        <p:nvPr/>
      </p:nvGrpSpPr>
      <p:grpSpPr>
        <a:xfrm>
          <a:off x="0" y="0"/>
          <a:ext cx="0" cy="0"/>
          <a:chOff x="0" y="0"/>
          <a:chExt cx="0" cy="0"/>
        </a:xfrm>
      </p:grpSpPr>
      <p:grpSp>
        <p:nvGrpSpPr>
          <p:cNvPr id="18" name="Agrupar 17">
            <a:extLst>
              <a:ext uri="{FF2B5EF4-FFF2-40B4-BE49-F238E27FC236}">
                <a16:creationId xmlns:a16="http://schemas.microsoft.com/office/drawing/2014/main" id="{E9171E0A-B01D-81B7-B203-CE6BC99D3D61}"/>
              </a:ext>
            </a:extLst>
          </p:cNvPr>
          <p:cNvGrpSpPr>
            <a:grpSpLocks noGrp="1" noUngrp="1" noRot="1" noMove="1" noResize="1"/>
          </p:cNvGrpSpPr>
          <p:nvPr/>
        </p:nvGrpSpPr>
        <p:grpSpPr>
          <a:xfrm>
            <a:off x="0" y="0"/>
            <a:ext cx="12192000" cy="6858000"/>
            <a:chOff x="0" y="0"/>
            <a:chExt cx="12192000" cy="6858000"/>
          </a:xfrm>
        </p:grpSpPr>
        <p:pic>
          <p:nvPicPr>
            <p:cNvPr id="19" name="Imagem 18">
              <a:extLst>
                <a:ext uri="{FF2B5EF4-FFF2-40B4-BE49-F238E27FC236}">
                  <a16:creationId xmlns:a16="http://schemas.microsoft.com/office/drawing/2014/main" id="{E42EFC16-79A2-C9A8-32FA-1043043A7A2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801" t="8382" r="2160" b="9741"/>
            <a:stretch>
              <a:fillRect/>
            </a:stretch>
          </p:blipFill>
          <p:spPr>
            <a:xfrm flipH="1">
              <a:off x="0" y="0"/>
              <a:ext cx="12192000" cy="6858000"/>
            </a:xfrm>
            <a:prstGeom prst="rect">
              <a:avLst/>
            </a:prstGeom>
          </p:spPr>
        </p:pic>
        <p:sp>
          <p:nvSpPr>
            <p:cNvPr id="20" name="Retângulo 19">
              <a:extLst>
                <a:ext uri="{FF2B5EF4-FFF2-40B4-BE49-F238E27FC236}">
                  <a16:creationId xmlns:a16="http://schemas.microsoft.com/office/drawing/2014/main" id="{F93F3B31-79BB-552B-D595-F244924DF10E}"/>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rgbClr val="F35B1A">
                    <a:alpha val="35000"/>
                  </a:srgbClr>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a:solidFill>
                  <a:schemeClr val="tx1"/>
                </a:solidFill>
                <a:latin typeface="Source Serif Pro" panose="02040603050405020204" pitchFamily="18" charset="0"/>
                <a:ea typeface="Source Serif Pro" panose="02040603050405020204" pitchFamily="18" charset="0"/>
              </a:endParaRPr>
            </a:p>
          </p:txBody>
        </p:sp>
      </p:grpSp>
      <p:grpSp>
        <p:nvGrpSpPr>
          <p:cNvPr id="16" name="Agrupar 15">
            <a:extLst>
              <a:ext uri="{FF2B5EF4-FFF2-40B4-BE49-F238E27FC236}">
                <a16:creationId xmlns:a16="http://schemas.microsoft.com/office/drawing/2014/main" id="{A8E4D6AE-88B2-DFBD-0F07-DD6BE338F210}"/>
              </a:ext>
            </a:extLst>
          </p:cNvPr>
          <p:cNvGrpSpPr/>
          <p:nvPr/>
        </p:nvGrpSpPr>
        <p:grpSpPr>
          <a:xfrm>
            <a:off x="5941619" y="3287972"/>
            <a:ext cx="5832763" cy="415498"/>
            <a:chOff x="5959433" y="2967335"/>
            <a:chExt cx="5832763" cy="415498"/>
          </a:xfrm>
        </p:grpSpPr>
        <p:sp>
          <p:nvSpPr>
            <p:cNvPr id="8" name="Text Placeholder 2">
              <a:extLst>
                <a:ext uri="{FF2B5EF4-FFF2-40B4-BE49-F238E27FC236}">
                  <a16:creationId xmlns:a16="http://schemas.microsoft.com/office/drawing/2014/main" id="{C2456279-03C7-2D08-437E-7669100F8932}"/>
                </a:ext>
              </a:extLst>
            </p:cNvPr>
            <p:cNvSpPr txBox="1">
              <a:spLocks noChangeArrowheads="1"/>
            </p:cNvSpPr>
            <p:nvPr/>
          </p:nvSpPr>
          <p:spPr>
            <a:xfrm>
              <a:off x="5959433" y="2967335"/>
              <a:ext cx="1753695" cy="4154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Bruno Iervolino</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bruno.iervolino@igcp.com.br</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rPr>
                <a:t>11 3815 3533</a:t>
              </a:r>
            </a:p>
          </p:txBody>
        </p:sp>
        <p:sp>
          <p:nvSpPr>
            <p:cNvPr id="9" name="Text Placeholder 2">
              <a:extLst>
                <a:ext uri="{FF2B5EF4-FFF2-40B4-BE49-F238E27FC236}">
                  <a16:creationId xmlns:a16="http://schemas.microsoft.com/office/drawing/2014/main" id="{11608889-27DC-C014-2D91-C2803FD77DC1}"/>
                </a:ext>
              </a:extLst>
            </p:cNvPr>
            <p:cNvSpPr txBox="1">
              <a:spLocks noChangeArrowheads="1"/>
            </p:cNvSpPr>
            <p:nvPr/>
          </p:nvSpPr>
          <p:spPr>
            <a:xfrm>
              <a:off x="7998967" y="2967335"/>
              <a:ext cx="1753695" cy="4154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Gabriel Brito</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gabriel.brito@igcp.com.br </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rPr>
                <a:t>11 3815 3533</a:t>
              </a:r>
            </a:p>
          </p:txBody>
        </p:sp>
        <p:sp>
          <p:nvSpPr>
            <p:cNvPr id="10" name="Text Placeholder 2">
              <a:extLst>
                <a:ext uri="{FF2B5EF4-FFF2-40B4-BE49-F238E27FC236}">
                  <a16:creationId xmlns:a16="http://schemas.microsoft.com/office/drawing/2014/main" id="{B48409AB-628B-D83F-6107-62BFC6D4B06D}"/>
                </a:ext>
              </a:extLst>
            </p:cNvPr>
            <p:cNvSpPr txBox="1">
              <a:spLocks noChangeArrowheads="1"/>
            </p:cNvSpPr>
            <p:nvPr/>
          </p:nvSpPr>
          <p:spPr>
            <a:xfrm>
              <a:off x="10038501" y="2967335"/>
              <a:ext cx="1753695" cy="4154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[Team member — TBC]</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[email — TBC] </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rPr>
                <a:t>11 3815 3533</a:t>
              </a:r>
            </a:p>
          </p:txBody>
        </p:sp>
      </p:grpSp>
      <p:grpSp>
        <p:nvGrpSpPr>
          <p:cNvPr id="15" name="Agrupar 14">
            <a:extLst>
              <a:ext uri="{FF2B5EF4-FFF2-40B4-BE49-F238E27FC236}">
                <a16:creationId xmlns:a16="http://schemas.microsoft.com/office/drawing/2014/main" id="{06D62C14-A9E0-2839-D52C-E5894E112AC8}"/>
              </a:ext>
            </a:extLst>
          </p:cNvPr>
          <p:cNvGrpSpPr/>
          <p:nvPr/>
        </p:nvGrpSpPr>
        <p:grpSpPr>
          <a:xfrm>
            <a:off x="7371341" y="2245374"/>
            <a:ext cx="2973318" cy="633033"/>
            <a:chOff x="6096000" y="1924737"/>
            <a:chExt cx="2973318" cy="633033"/>
          </a:xfrm>
        </p:grpSpPr>
        <p:pic>
          <p:nvPicPr>
            <p:cNvPr id="14" name="Imagem 13">
              <a:extLst>
                <a:ext uri="{FF2B5EF4-FFF2-40B4-BE49-F238E27FC236}">
                  <a16:creationId xmlns:a16="http://schemas.microsoft.com/office/drawing/2014/main" id="{95AD8CDB-03C5-E4D7-7912-968298596F2E}"/>
                </a:ext>
              </a:extLst>
            </p:cNvPr>
            <p:cNvPicPr>
              <a:picLocks noChangeAspect="1"/>
            </p:cNvPicPr>
            <p:nvPr/>
          </p:nvPicPr>
          <p:blipFill>
            <a:blip r:embed="rId4"/>
            <a:stretch>
              <a:fillRect/>
            </a:stretch>
          </p:blipFill>
          <p:spPr>
            <a:xfrm>
              <a:off x="6096000" y="1929829"/>
              <a:ext cx="1960402" cy="627941"/>
            </a:xfrm>
            <a:prstGeom prst="rect">
              <a:avLst/>
            </a:prstGeom>
          </p:spPr>
        </p:pic>
        <p:pic>
          <p:nvPicPr>
            <p:cNvPr id="11" name="Gráfico 14">
              <a:extLst>
                <a:ext uri="{FF2B5EF4-FFF2-40B4-BE49-F238E27FC236}">
                  <a16:creationId xmlns:a16="http://schemas.microsoft.com/office/drawing/2014/main" id="{9EEE0E50-47DF-2B4A-9AD6-C1419DF4A1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50331" y="1924737"/>
              <a:ext cx="618987" cy="529985"/>
            </a:xfrm>
            <a:prstGeom prst="rect">
              <a:avLst/>
            </a:prstGeom>
          </p:spPr>
        </p:pic>
      </p:grpSp>
      <p:sp>
        <p:nvSpPr>
          <p:cNvPr id="17" name="CaixaDeTexto 14">
            <a:extLst>
              <a:ext uri="{FF2B5EF4-FFF2-40B4-BE49-F238E27FC236}">
                <a16:creationId xmlns:a16="http://schemas.microsoft.com/office/drawing/2014/main" id="{BA9B7F75-7D1B-48A6-A074-A459CBB1CBCB}"/>
              </a:ext>
            </a:extLst>
          </p:cNvPr>
          <p:cNvSpPr txBox="1"/>
          <p:nvPr/>
        </p:nvSpPr>
        <p:spPr>
          <a:xfrm>
            <a:off x="7638086" y="4084540"/>
            <a:ext cx="2439829" cy="461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400">
                <a:solidFill>
                  <a:srgbClr val="222F44"/>
                </a:solidFill>
                <a:latin typeface="Poppins Medium"/>
                <a:ea typeface="Poppins Medium"/>
                <a:cs typeface="Poppins Medium"/>
                <a:sym typeface="Poppins Medium"/>
              </a:defRPr>
            </a:pP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Medium"/>
              </a:rPr>
              <a:t>+55 11 3815-3533</a:t>
            </a:r>
          </a:p>
          <a:p>
            <a:pPr marL="0" marR="0" lvl="0" indent="0" algn="ctr" defTabSz="914400" rtl="0" eaLnBrk="1" fontAlgn="auto" latinLnBrk="0" hangingPunct="0">
              <a:lnSpc>
                <a:spcPct val="100000"/>
              </a:lnSpc>
              <a:spcBef>
                <a:spcPts val="0"/>
              </a:spcBef>
              <a:spcAft>
                <a:spcPts val="0"/>
              </a:spcAft>
              <a:buClrTx/>
              <a:buSzTx/>
              <a:buFontTx/>
              <a:buNone/>
              <a:tabLst/>
              <a:defRPr sz="1000">
                <a:solidFill>
                  <a:srgbClr val="D3A93D"/>
                </a:solidFill>
                <a:latin typeface="Poppins Regular"/>
                <a:ea typeface="Poppins Regular"/>
                <a:cs typeface="Poppins Regular"/>
                <a:sym typeface="Poppins Regular"/>
              </a:defRPr>
            </a:pP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Regular"/>
              </a:rPr>
              <a:t>Av. Brigadeiro Faria Lima, 2277  - 6th </a:t>
            </a:r>
            <a:r>
              <a:rPr kumimoji="0" lang="pt-BR" sz="800" b="0" i="0" u="none" strike="noStrike" kern="0" cap="none" spc="0" normalizeH="0" baseline="0" noProof="0" dirty="0" err="1">
                <a:ln>
                  <a:noFill/>
                </a:ln>
                <a:solidFill>
                  <a:schemeClr val="bg1"/>
                </a:solidFill>
                <a:effectLst/>
                <a:uLnTx/>
                <a:uFillTx/>
                <a:latin typeface="Poppins Light" panose="00000400000000000000" pitchFamily="2" charset="0"/>
                <a:cs typeface="Poppins Light" panose="00000400000000000000" pitchFamily="2" charset="0"/>
                <a:sym typeface="Poppins Regular"/>
              </a:rPr>
              <a:t>floor</a:t>
            </a:r>
            <a:endPar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Regular"/>
            </a:endParaRPr>
          </a:p>
          <a:p>
            <a:pPr marL="0" marR="0" lvl="0" indent="0" algn="ctr" defTabSz="914400" rtl="0" eaLnBrk="1" fontAlgn="auto" latinLnBrk="0" hangingPunct="0">
              <a:lnSpc>
                <a:spcPct val="100000"/>
              </a:lnSpc>
              <a:spcBef>
                <a:spcPts val="0"/>
              </a:spcBef>
              <a:spcAft>
                <a:spcPts val="0"/>
              </a:spcAft>
              <a:buClrTx/>
              <a:buSzTx/>
              <a:buFontTx/>
              <a:buNone/>
              <a:tabLst/>
              <a:defRPr sz="1000">
                <a:solidFill>
                  <a:srgbClr val="D3A93D"/>
                </a:solidFill>
                <a:latin typeface="Poppins Regular"/>
                <a:ea typeface="Poppins Regular"/>
                <a:cs typeface="Poppins Regular"/>
                <a:sym typeface="Poppins Regular"/>
              </a:defRPr>
            </a:pP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Regular"/>
              </a:rPr>
              <a:t>São Paulo, SP, </a:t>
            </a:r>
            <a:r>
              <a:rPr kumimoji="0" lang="pt-BR" sz="800" b="0" i="0" u="none" strike="noStrike" kern="0" cap="none" spc="0" normalizeH="0" baseline="0" noProof="0" dirty="0" err="1">
                <a:ln>
                  <a:noFill/>
                </a:ln>
                <a:solidFill>
                  <a:schemeClr val="bg1"/>
                </a:solidFill>
                <a:effectLst/>
                <a:uLnTx/>
                <a:uFillTx/>
                <a:latin typeface="Poppins Light" panose="00000400000000000000" pitchFamily="2" charset="0"/>
                <a:cs typeface="Poppins Light" panose="00000400000000000000" pitchFamily="2" charset="0"/>
                <a:sym typeface="Poppins Regular"/>
              </a:rPr>
              <a:t>Brazil</a:t>
            </a: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Regular"/>
              </a:rPr>
              <a:t> - 01452-000</a:t>
            </a:r>
            <a:endParaRPr kumimoji="0" lang="pt-BR" sz="800" b="1"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Medium"/>
            </a:endParaRPr>
          </a:p>
        </p:txBody>
      </p:sp>
    </p:spTree>
    <p:extLst>
      <p:ext uri="{BB962C8B-B14F-4D97-AF65-F5344CB8AC3E}">
        <p14:creationId xmlns:p14="http://schemas.microsoft.com/office/powerpoint/2010/main" val="2694882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BF575639_71DF_4986_A202_162F9C1D4858&quot;,&quot;SourceFullNameMaxLengthReached&quot;:false,&quot;SourceFullName&quot;:&quot;D:\\Box\\1- M&amp;A\\Células - Projetos Ativos\\Célula Generalista\\Bruno Iervolino\\Infrabrasil\\02. Preparação\\08. Memorando de Informações Base\\Gold Mine - Filler CIM (Master).xlsx&quot;,&quot;LastUpdate&quot;:&quot;2026-05-12 11:30 AM&quot;,&quot;UpdatedBy&quot;:&quot;AnneSuyama&quot;,&quot;IsLinked&quot;:false,&quot;IsBrokenLink&quot;:false,&quot;Type&quot;:1,&quot;ShapeId&quot;:0,&quot;WorksheetName&quot;:null}"/>
</p:tagLst>
</file>

<file path=ppt/tags/tag5.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123A0661_6FE0_46B5_90B5_AF33BCCBD6DE&quot;,&quot;SourceFullNameMaxLengthReached&quot;:false,&quot;SourceFullName&quot;:&quot;D:\\Box\\1- M&amp;A\\Células - Projetos Ativos\\Célula Generalista\\Bruno Iervolino\\Infrabrasil\\02. Preparação\\08. Memorando de Informações Base\\Gold Mine - Filler CIM (Master).xlsx&quot;,&quot;LastUpdate&quot;:&quot;2026-05-12 5:32 PM&quot;,&quot;UpdatedBy&quot;:&quot;AnneSuyama&quot;,&quot;IsLinked&quot;:false,&quot;IsBrokenLink&quot;:false,&quot;Type&quot;:1,&quot;ShapeId&quot;:0,&quot;WorksheetName&quot;:null}"/>
</p:tagLst>
</file>

<file path=ppt/theme/theme1.xml><?xml version="1.0" encoding="utf-8"?>
<a:theme xmlns:a="http://schemas.openxmlformats.org/drawingml/2006/main" name="Introduction">
  <a:themeElements>
    <a:clrScheme name="InfraBrasil">
      <a:dk1>
        <a:srgbClr val="000000"/>
      </a:dk1>
      <a:lt1>
        <a:srgbClr val="FFFFFF"/>
      </a:lt1>
      <a:dk2>
        <a:srgbClr val="000000"/>
      </a:dk2>
      <a:lt2>
        <a:srgbClr val="000000"/>
      </a:lt2>
      <a:accent1>
        <a:srgbClr val="F35B1A"/>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Capas">
  <a:themeElements>
    <a:clrScheme name="InfraBrasil">
      <a:dk1>
        <a:srgbClr val="000000"/>
      </a:dk1>
      <a:lt1>
        <a:srgbClr val="FFFFFF"/>
      </a:lt1>
      <a:dk2>
        <a:srgbClr val="000000"/>
      </a:dk2>
      <a:lt2>
        <a:srgbClr val="000000"/>
      </a:lt2>
      <a:accent1>
        <a:srgbClr val="F35B1A"/>
      </a:accent1>
      <a:accent2>
        <a:srgbClr val="B1AEAE"/>
      </a:accent2>
      <a:accent3>
        <a:srgbClr val="D8D8D8"/>
      </a:accent3>
      <a:accent4>
        <a:srgbClr val="BFBFBF"/>
      </a:accent4>
      <a:accent5>
        <a:srgbClr val="A5A5A5"/>
      </a:accent5>
      <a:accent6>
        <a:srgbClr val="7F7F7F"/>
      </a:accent6>
      <a:hlink>
        <a:srgbClr val="525252"/>
      </a:hlink>
      <a:folHlink>
        <a:srgbClr val="6C727D"/>
      </a:folHlink>
    </a:clrScheme>
    <a:fontScheme name="Personalizada 1">
      <a:majorFont>
        <a:latin typeface="Source Serif Pro"/>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vestment Thesis">
  <a:themeElements>
    <a:clrScheme name="InfraBrasil">
      <a:dk1>
        <a:srgbClr val="000000"/>
      </a:dk1>
      <a:lt1>
        <a:srgbClr val="FFFFFF"/>
      </a:lt1>
      <a:dk2>
        <a:srgbClr val="000000"/>
      </a:dk2>
      <a:lt2>
        <a:srgbClr val="000000"/>
      </a:lt2>
      <a:accent1>
        <a:srgbClr val="F35B1A"/>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Company Overview">
  <a:themeElements>
    <a:clrScheme name="InfraBrasil">
      <a:dk1>
        <a:srgbClr val="000000"/>
      </a:dk1>
      <a:lt1>
        <a:srgbClr val="FFFFFF"/>
      </a:lt1>
      <a:dk2>
        <a:srgbClr val="000000"/>
      </a:dk2>
      <a:lt2>
        <a:srgbClr val="000000"/>
      </a:lt2>
      <a:accent1>
        <a:srgbClr val="F35B1A"/>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Financial Information">
  <a:themeElements>
    <a:clrScheme name="InfraBrasil">
      <a:dk1>
        <a:srgbClr val="000000"/>
      </a:dk1>
      <a:lt1>
        <a:srgbClr val="FFFFFF"/>
      </a:lt1>
      <a:dk2>
        <a:srgbClr val="000000"/>
      </a:dk2>
      <a:lt2>
        <a:srgbClr val="000000"/>
      </a:lt2>
      <a:accent1>
        <a:srgbClr val="F35B1A"/>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6.xml><?xml version="1.0" encoding="utf-8"?>
<a:theme xmlns:a="http://schemas.openxmlformats.org/drawingml/2006/main" name="Disclaimer">
  <a:themeElements>
    <a:clrScheme name="InfraBrasil">
      <a:dk1>
        <a:srgbClr val="000000"/>
      </a:dk1>
      <a:lt1>
        <a:srgbClr val="FFFFFF"/>
      </a:lt1>
      <a:dk2>
        <a:srgbClr val="000000"/>
      </a:dk2>
      <a:lt2>
        <a:srgbClr val="000000"/>
      </a:lt2>
      <a:accent1>
        <a:srgbClr val="F35B1A"/>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7.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1e9bfca-b15d-42a1-8dcf-95c0c272d15d">
      <Terms xmlns="http://schemas.microsoft.com/office/infopath/2007/PartnerControls"/>
    </lcf76f155ced4ddcb4097134ff3c332f>
    <TaxCatchAll xmlns="e0fe94fd-770b-4845-a80c-675d8764887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9F65D74D3F636646A8B0DBA7B90C3472" ma:contentTypeVersion="15" ma:contentTypeDescription="Crie um novo documento." ma:contentTypeScope="" ma:versionID="0f284fed690633c9884de595f769fb09">
  <xsd:schema xmlns:xsd="http://www.w3.org/2001/XMLSchema" xmlns:xs="http://www.w3.org/2001/XMLSchema" xmlns:p="http://schemas.microsoft.com/office/2006/metadata/properties" xmlns:ns2="41e9bfca-b15d-42a1-8dcf-95c0c272d15d" xmlns:ns3="e0fe94fd-770b-4845-a80c-675d8764887f" targetNamespace="http://schemas.microsoft.com/office/2006/metadata/properties" ma:root="true" ma:fieldsID="8d0a3e35247f31691ff616978b1fe65f" ns2:_="" ns3:_="">
    <xsd:import namespace="41e9bfca-b15d-42a1-8dcf-95c0c272d15d"/>
    <xsd:import namespace="e0fe94fd-770b-4845-a80c-675d8764887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e9bfca-b15d-42a1-8dcf-95c0c272d1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Marcações de imagem" ma:readOnly="false" ma:fieldId="{5cf76f15-5ced-4ddc-b409-7134ff3c332f}" ma:taxonomyMulti="true" ma:sspId="c7d46ea2-efa8-4cae-a764-a25d3811283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0fe94fd-770b-4845-a80c-675d8764887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1c4ccec-714b-4c13-a97a-9137f379a04f}" ma:internalName="TaxCatchAll" ma:showField="CatchAllData" ma:web="e0fe94fd-770b-4845-a80c-675d8764887f">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E15495-F71B-42C1-A584-56DA3CB09276}">
  <ds:schemaRefs>
    <ds:schemaRef ds:uri="http://schemas.microsoft.com/sharepoint/v3/contenttype/forms"/>
  </ds:schemaRefs>
</ds:datastoreItem>
</file>

<file path=customXml/itemProps2.xml><?xml version="1.0" encoding="utf-8"?>
<ds:datastoreItem xmlns:ds="http://schemas.openxmlformats.org/officeDocument/2006/customXml" ds:itemID="{A70E0CF9-88BA-45C1-B7F5-FA131B7A9D74}">
  <ds:schemaRefs>
    <ds:schemaRef ds:uri="http://www.w3.org/XML/1998/namespace"/>
    <ds:schemaRef ds:uri="http://schemas.microsoft.com/office/2006/documentManagement/types"/>
    <ds:schemaRef ds:uri="http://purl.org/dc/elements/1.1/"/>
    <ds:schemaRef ds:uri="http://purl.org/dc/terms/"/>
    <ds:schemaRef ds:uri="e0fe94fd-770b-4845-a80c-675d8764887f"/>
    <ds:schemaRef ds:uri="http://schemas.microsoft.com/office/infopath/2007/PartnerControls"/>
    <ds:schemaRef ds:uri="http://purl.org/dc/dcmitype/"/>
    <ds:schemaRef ds:uri="http://schemas.openxmlformats.org/package/2006/metadata/core-properties"/>
    <ds:schemaRef ds:uri="41e9bfca-b15d-42a1-8dcf-95c0c272d15d"/>
    <ds:schemaRef ds:uri="http://schemas.microsoft.com/office/2006/metadata/properties"/>
  </ds:schemaRefs>
</ds:datastoreItem>
</file>

<file path=customXml/itemProps3.xml><?xml version="1.0" encoding="utf-8"?>
<ds:datastoreItem xmlns:ds="http://schemas.openxmlformats.org/officeDocument/2006/customXml" ds:itemID="{398768F9-1012-4368-9CD0-CDCA1DF38022}">
  <ds:schemaRefs>
    <ds:schemaRef ds:uri="41e9bfca-b15d-42a1-8dcf-95c0c272d15d"/>
    <ds:schemaRef ds:uri="e0fe94fd-770b-4845-a80c-675d876488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39168ec-16d4-4a2c-9ce2-09cc4ca9bfe8}" enabled="1" method="Standard" siteId="{9a6e48f1-2427-4aa1-b4c9-ee7623d0c265}" removed="0"/>
</clbl:labelList>
</file>

<file path=docProps/app.xml><?xml version="1.0" encoding="utf-8"?>
<Properties xmlns="http://schemas.openxmlformats.org/officeDocument/2006/extended-properties" xmlns:vt="http://schemas.openxmlformats.org/officeDocument/2006/docPropsVTypes">
  <TotalTime>10442</TotalTime>
  <Words>3522</Words>
  <Application>Microsoft Office PowerPoint</Application>
  <PresentationFormat>Widescreen</PresentationFormat>
  <Paragraphs>449</Paragraphs>
  <Slides>23</Slides>
  <Notes>18</Notes>
  <HiddenSlides>0</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23</vt:i4>
      </vt:variant>
    </vt:vector>
  </HeadingPairs>
  <TitlesOfParts>
    <vt:vector size="41" baseType="lpstr">
      <vt:lpstr>Aptos</vt:lpstr>
      <vt:lpstr>Arial</vt:lpstr>
      <vt:lpstr>Calibri</vt:lpstr>
      <vt:lpstr>Calibri Light</vt:lpstr>
      <vt:lpstr>Poppins</vt:lpstr>
      <vt:lpstr>Poppins Light</vt:lpstr>
      <vt:lpstr>Poppins Medium</vt:lpstr>
      <vt:lpstr>Poppins SemiBold</vt:lpstr>
      <vt:lpstr>Source Sans Pro</vt:lpstr>
      <vt:lpstr>Source Serif Pro</vt:lpstr>
      <vt:lpstr>Source Serif Pro Black</vt:lpstr>
      <vt:lpstr>Source Serif Pro Light</vt:lpstr>
      <vt:lpstr>Introduction</vt:lpstr>
      <vt:lpstr>Capas</vt:lpstr>
      <vt:lpstr>Investment Thesis</vt:lpstr>
      <vt:lpstr>Company Overview</vt:lpstr>
      <vt:lpstr>Financial Information</vt:lpstr>
      <vt:lpstr>Disclaimer</vt:lpstr>
      <vt:lpstr>Project Compass</vt:lpstr>
      <vt:lpstr>Disclaimer</vt:lpstr>
      <vt:lpstr>PowerPoint Presentation</vt:lpstr>
      <vt:lpstr>Mobi at a glance</vt:lpstr>
      <vt:lpstr>PowerPoint Presentation</vt:lpstr>
      <vt:lpstr>Investment thesis</vt:lpstr>
      <vt:lpstr>PowerPoint Presentation</vt:lpstr>
      <vt:lpstr>Solid track record with blue-chip companies, backed by long-term contracts</vt:lpstr>
      <vt:lpstr>Modern, fully-owned fleet tailored to client needs</vt:lpstr>
      <vt:lpstr>Strategically positioned across the Midwest and Southeast of Brazil</vt:lpstr>
      <vt:lpstr>Technology-enabled operations support high reliability</vt:lpstr>
      <vt:lpstr>Growth avenues</vt:lpstr>
      <vt:lpstr>PowerPoint Presentation</vt:lpstr>
      <vt:lpstr>Timeline</vt:lpstr>
      <vt:lpstr>Key management</vt:lpstr>
      <vt:lpstr>Organization chart</vt:lpstr>
      <vt:lpstr>Success case: Cargill operation</vt:lpstr>
      <vt:lpstr>Success case: JBS operation</vt:lpstr>
      <vt:lpstr>Success case: Votorantim Cimentos operation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Taiane Bezerra</dc:creator>
  <cp:lastModifiedBy>Gabriel Brito</cp:lastModifiedBy>
  <cp:revision>139</cp:revision>
  <dcterms:created xsi:type="dcterms:W3CDTF">2022-12-01T15:58:43Z</dcterms:created>
  <dcterms:modified xsi:type="dcterms:W3CDTF">2026-08-10T16:53:45Z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81400.0000000000</vt:lpwstr>
  </property>
  <property fmtid="{D5CDD505-2E9C-101B-9397-08002B2CF9AE}" pid="3" name="ContentTypeId">
    <vt:lpwstr>0x0101009F65D74D3F636646A8B0DBA7B90C3472</vt:lpwstr>
  </property>
  <property fmtid="{D5CDD505-2E9C-101B-9397-08002B2CF9AE}" pid="4" name="MediaServiceImageTags">
    <vt:lpwstr/>
  </property>
</Properties>
</file>
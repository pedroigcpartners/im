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7557200" cy="9874800"/>
  <p:notesSz cx="9874800" cy="175572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slideLayout" Target="../slideLayouts/slideLayout1.xml"/><Relationship Id="rId11"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IM/yellow/gen/hatch_g_3391x98.png">    </p:cNvPr>
          <p:cNvPicPr>
            <a:picLocks noChangeAspect="1"/>
          </p:cNvPicPr>
          <p:nvPr/>
        </p:nvPicPr>
        <p:blipFill>
          <a:blip r:embed="rId1"/>
          <a:stretch>
            <a:fillRect/>
          </a:stretch>
        </p:blipFill>
        <p:spPr>
          <a:xfrm>
            <a:off x="0" y="0"/>
            <a:ext cx="15501600" cy="450000"/>
          </a:xfrm>
          <a:prstGeom prst="rect">
            <a:avLst/>
          </a:prstGeom>
        </p:spPr>
      </p:pic>
      <p:sp>
        <p:nvSpPr>
          <p:cNvPr id="3" name="Shape 0"/>
          <p:cNvSpPr/>
          <p:nvPr/>
        </p:nvSpPr>
        <p:spPr>
          <a:xfrm flipV="1">
            <a:off x="-21600" y="637200"/>
            <a:ext cx="4536000" cy="511200"/>
          </a:xfrm>
          <a:prstGeom prst="round1Rect">
            <a:avLst>
              <a:gd name="adj" fmla="val 19676"/>
            </a:avLst>
          </a:prstGeom>
          <a:solidFill>
            <a:srgbClr val="F2F2F2"/>
          </a:solidFill>
          <a:ln/>
        </p:spPr>
      </p:sp>
      <p:sp>
        <p:nvSpPr>
          <p:cNvPr id="4" name="Shape 1"/>
          <p:cNvSpPr/>
          <p:nvPr/>
        </p:nvSpPr>
        <p:spPr>
          <a:xfrm>
            <a:off x="-21600" y="637200"/>
            <a:ext cx="309600" cy="511200"/>
          </a:xfrm>
          <a:prstGeom prst="rect">
            <a:avLst/>
          </a:prstGeom>
          <a:solidFill>
            <a:srgbClr val="FDBA12"/>
          </a:solidFill>
          <a:ln/>
        </p:spPr>
      </p:sp>
      <p:sp>
        <p:nvSpPr>
          <p:cNvPr id="5" name="Text 2"/>
          <p:cNvSpPr txBox="1"/>
          <p:nvPr/>
        </p:nvSpPr>
        <p:spPr>
          <a:xfrm>
            <a:off x="396000" y="637200"/>
            <a:ext cx="4104000" cy="511200"/>
          </a:xfrm>
          <a:prstGeom prst="rect">
            <a:avLst/>
          </a:prstGeom>
          <a:noFill/>
          <a:ln/>
        </p:spPr>
        <p:txBody>
          <a:bodyPr wrap="square" lIns="0" tIns="0" rIns="0" bIns="0" rtlCol="0" anchor="ctr"/>
          <a:lstStyle/>
          <a:p>
            <a:pPr indent="0" marL="0">
              <a:buNone/>
            </a:pPr>
            <a:r>
              <a:rPr lang="en-US" sz="1400" spc="60" kern="0" dirty="0">
                <a:solidFill>
                  <a:srgbClr val="000000"/>
                </a:solidFill>
                <a:latin typeface="Century Gothic" pitchFamily="34" charset="0"/>
                <a:ea typeface="Century Gothic" pitchFamily="34" charset="-122"/>
                <a:cs typeface="Century Gothic" pitchFamily="34" charset="-120"/>
              </a:rPr>
              <a:t>PROJECT YELLOW  ·  MANAGEMENT MEETING</a:t>
            </a:r>
            <a:endParaRPr lang="en-US" sz="1400" dirty="0"/>
          </a:p>
        </p:txBody>
      </p:sp>
      <p:pic>
        <p:nvPicPr>
          <p:cNvPr id="6" name="Image 1" descr="/home/user/IM/yellow/assets/tracbel_logo.png">    </p:cNvPr>
          <p:cNvPicPr>
            <a:picLocks noChangeAspect="1"/>
          </p:cNvPicPr>
          <p:nvPr/>
        </p:nvPicPr>
        <p:blipFill>
          <a:blip r:embed="rId2"/>
          <a:stretch>
            <a:fillRect/>
          </a:stretch>
        </p:blipFill>
        <p:spPr>
          <a:xfrm>
            <a:off x="15670800" y="349200"/>
            <a:ext cx="1537200" cy="299714"/>
          </a:xfrm>
          <a:prstGeom prst="rect">
            <a:avLst/>
          </a:prstGeom>
        </p:spPr>
      </p:pic>
      <p:sp>
        <p:nvSpPr>
          <p:cNvPr id="7" name="Text 3"/>
          <p:cNvSpPr txBox="1"/>
          <p:nvPr/>
        </p:nvSpPr>
        <p:spPr>
          <a:xfrm>
            <a:off x="568800" y="1148400"/>
            <a:ext cx="16272000" cy="432000"/>
          </a:xfrm>
          <a:prstGeom prst="rect">
            <a:avLst/>
          </a:prstGeom>
          <a:noFill/>
          <a:ln/>
        </p:spPr>
        <p:txBody>
          <a:bodyPr wrap="square" lIns="0" tIns="0" rIns="0" bIns="0" rtlCol="0" anchor="ctr"/>
          <a:lstStyle/>
          <a:p>
            <a:pPr indent="0" marL="0">
              <a:buNone/>
            </a:pPr>
            <a:r>
              <a:rPr lang="en-US" sz="2400" b="1" dirty="0">
                <a:solidFill>
                  <a:srgbClr val="000000"/>
                </a:solidFill>
                <a:latin typeface="Century Gothic" pitchFamily="34" charset="0"/>
                <a:ea typeface="Century Gothic" pitchFamily="34" charset="-122"/>
                <a:cs typeface="Century Gothic" pitchFamily="34" charset="-120"/>
              </a:rPr>
              <a:t>Welcome to Brazil — Invitation and Practical Guide</a:t>
            </a:r>
            <a:endParaRPr lang="en-US" sz="2400" dirty="0"/>
          </a:p>
        </p:txBody>
      </p:sp>
      <p:sp>
        <p:nvSpPr>
          <p:cNvPr id="8" name="Text 4"/>
          <p:cNvSpPr txBox="1"/>
          <p:nvPr/>
        </p:nvSpPr>
        <p:spPr>
          <a:xfrm>
            <a:off x="568800" y="1602000"/>
            <a:ext cx="16272000" cy="288000"/>
          </a:xfrm>
          <a:prstGeom prst="rect">
            <a:avLst/>
          </a:prstGeom>
          <a:noFill/>
          <a:ln/>
        </p:spPr>
        <p:txBody>
          <a:bodyPr wrap="square" lIns="0" tIns="0" rIns="0" bIns="0" rtlCol="0" anchor="ctr"/>
          <a:lstStyle/>
          <a:p>
            <a:pPr indent="0" marL="0">
              <a:buNone/>
            </a:pPr>
            <a:r>
              <a:rPr lang="en-US" sz="1250" dirty="0">
                <a:solidFill>
                  <a:srgbClr val="595959"/>
                </a:solidFill>
                <a:latin typeface="Century Gothic" pitchFamily="34" charset="0"/>
                <a:ea typeface="Century Gothic" pitchFamily="34" charset="-122"/>
                <a:cs typeface="Century Gothic" pitchFamily="34" charset="-120"/>
              </a:rPr>
              <a:t>Prepared for Lars Corneliusson and Henrik Carlborg, Ferronordic   ·   Mon 21 – Fri 25 September 2026   ·   São Paulo  ·  Sumaré  ·  Belo Horizonte / Contagem  ·  Curitiba</a:t>
            </a:r>
            <a:endParaRPr lang="en-US" sz="1250" dirty="0"/>
          </a:p>
        </p:txBody>
      </p:sp>
      <p:sp>
        <p:nvSpPr>
          <p:cNvPr id="9" name="Shape 5"/>
          <p:cNvSpPr/>
          <p:nvPr/>
        </p:nvSpPr>
        <p:spPr>
          <a:xfrm>
            <a:off x="568800" y="2070000"/>
            <a:ext cx="4824000" cy="4752000"/>
          </a:xfrm>
          <a:prstGeom prst="round1Rect">
            <a:avLst>
              <a:gd name="adj" fmla="val 6735"/>
            </a:avLst>
          </a:prstGeom>
          <a:solidFill>
            <a:srgbClr val="1B1B1B"/>
          </a:solidFill>
          <a:ln/>
        </p:spPr>
      </p:sp>
      <p:pic>
        <p:nvPicPr>
          <p:cNvPr id="10" name="Image 2" descr="/home/user/IM/yellow/gen/hatch_w_205x83.png">    </p:cNvPr>
          <p:cNvPicPr>
            <a:picLocks noChangeAspect="1"/>
          </p:cNvPicPr>
          <p:nvPr/>
        </p:nvPicPr>
        <p:blipFill>
          <a:blip r:embed="rId3"/>
          <a:stretch>
            <a:fillRect/>
          </a:stretch>
        </p:blipFill>
        <p:spPr>
          <a:xfrm>
            <a:off x="4456800" y="6444000"/>
            <a:ext cx="936000" cy="378000"/>
          </a:xfrm>
          <a:prstGeom prst="rect">
            <a:avLst/>
          </a:prstGeom>
        </p:spPr>
      </p:pic>
      <p:sp>
        <p:nvSpPr>
          <p:cNvPr id="11" name="Text 6"/>
          <p:cNvSpPr txBox="1"/>
          <p:nvPr/>
        </p:nvSpPr>
        <p:spPr>
          <a:xfrm>
            <a:off x="856800" y="2358000"/>
            <a:ext cx="4248000" cy="180000"/>
          </a:xfrm>
          <a:prstGeom prst="rect">
            <a:avLst/>
          </a:prstGeom>
          <a:noFill/>
          <a:ln/>
        </p:spPr>
        <p:txBody>
          <a:bodyPr wrap="square" lIns="0" tIns="0" rIns="0" bIns="0" rtlCol="0" anchor="ctr"/>
          <a:lstStyle/>
          <a:p>
            <a:pPr indent="0" marL="0">
              <a:buNone/>
            </a:pPr>
            <a:r>
              <a:rPr lang="en-US" sz="950" b="1" spc="120" kern="0" dirty="0">
                <a:solidFill>
                  <a:srgbClr val="FDBA12"/>
                </a:solidFill>
                <a:latin typeface="Century Gothic" pitchFamily="34" charset="0"/>
                <a:ea typeface="Century Gothic" pitchFamily="34" charset="-122"/>
                <a:cs typeface="Century Gothic" pitchFamily="34" charset="-120"/>
              </a:rPr>
              <a:t>INVITATION</a:t>
            </a:r>
            <a:endParaRPr lang="en-US" sz="950" dirty="0"/>
          </a:p>
        </p:txBody>
      </p:sp>
      <p:sp>
        <p:nvSpPr>
          <p:cNvPr id="12" name="Text 7"/>
          <p:cNvSpPr txBox="1"/>
          <p:nvPr/>
        </p:nvSpPr>
        <p:spPr>
          <a:xfrm>
            <a:off x="856800" y="2592000"/>
            <a:ext cx="4248000" cy="198000"/>
          </a:xfrm>
          <a:prstGeom prst="rect">
            <a:avLst/>
          </a:prstGeom>
          <a:noFill/>
          <a:ln/>
        </p:spPr>
        <p:txBody>
          <a:bodyPr wrap="square" lIns="0" tIns="0" rIns="0" bIns="0" rtlCol="0" anchor="t"/>
          <a:lstStyle/>
          <a:p>
            <a:pPr indent="0" marL="0">
              <a:buNone/>
            </a:pPr>
            <a:r>
              <a:rPr lang="en-US" sz="1200" b="1" dirty="0">
                <a:solidFill>
                  <a:srgbClr val="FFFFFF"/>
                </a:solidFill>
                <a:latin typeface="Century Gothic" pitchFamily="34" charset="0"/>
                <a:ea typeface="Century Gothic" pitchFamily="34" charset="-122"/>
                <a:cs typeface="Century Gothic" pitchFamily="34" charset="-120"/>
              </a:rPr>
              <a:t>Dear Lars and Henrik,</a:t>
            </a:r>
            <a:endParaRPr lang="en-US" sz="1200" dirty="0"/>
          </a:p>
        </p:txBody>
      </p:sp>
      <p:sp>
        <p:nvSpPr>
          <p:cNvPr id="13" name="Text 8"/>
          <p:cNvSpPr txBox="1"/>
          <p:nvPr/>
        </p:nvSpPr>
        <p:spPr>
          <a:xfrm>
            <a:off x="856800" y="2844000"/>
            <a:ext cx="4248000" cy="1224000"/>
          </a:xfrm>
          <a:prstGeom prst="rect">
            <a:avLst/>
          </a:prstGeom>
          <a:noFill/>
          <a:ln/>
        </p:spPr>
        <p:txBody>
          <a:bodyPr wrap="square" lIns="0" tIns="0" rIns="0" bIns="0" rtlCol="0" anchor="t"/>
          <a:lstStyle/>
          <a:p>
            <a:pPr indent="0" marL="0">
              <a:lnSpc>
                <a:spcPct val="110000"/>
              </a:lnSpc>
              <a:buNone/>
            </a:pPr>
            <a:r>
              <a:rPr lang="en-US" sz="1050" dirty="0">
                <a:solidFill>
                  <a:srgbClr val="E8E8E8"/>
                </a:solidFill>
                <a:latin typeface="Century Gothic" pitchFamily="34" charset="0"/>
                <a:ea typeface="Century Gothic" pitchFamily="34" charset="-122"/>
                <a:cs typeface="Century Gothic" pitchFamily="34" charset="-120"/>
              </a:rPr>
              <a:t>It is our great pleasure to welcome you to Brazil. Over the coming days you will meet the management team, walk through our operations in Sumaré and Contagem and see at first hand the people and the operating model presented in the Information Memorandum. This page gathers the programme, travel arrangements and practical notes; the IGC team will accompany you throughout.</a:t>
            </a:r>
            <a:endParaRPr lang="en-US" sz="1050" dirty="0"/>
          </a:p>
        </p:txBody>
      </p:sp>
      <p:sp>
        <p:nvSpPr>
          <p:cNvPr id="14" name="Text 9"/>
          <p:cNvSpPr txBox="1"/>
          <p:nvPr/>
        </p:nvSpPr>
        <p:spPr>
          <a:xfrm>
            <a:off x="856800" y="4140000"/>
            <a:ext cx="2052000" cy="162000"/>
          </a:xfrm>
          <a:prstGeom prst="rect">
            <a:avLst/>
          </a:prstGeom>
          <a:noFill/>
          <a:ln/>
        </p:spPr>
        <p:txBody>
          <a:bodyPr wrap="square" lIns="0" tIns="0" rIns="0" bIns="0" rtlCol="0" anchor="t"/>
          <a:lstStyle/>
          <a:p>
            <a:pPr indent="0" marL="0">
              <a:buNone/>
            </a:pPr>
            <a:r>
              <a:rPr lang="en-US" sz="1050" b="1" dirty="0">
                <a:solidFill>
                  <a:srgbClr val="FFFFFF"/>
                </a:solidFill>
                <a:latin typeface="Century Gothic" pitchFamily="34" charset="0"/>
                <a:ea typeface="Century Gothic" pitchFamily="34" charset="-122"/>
                <a:cs typeface="Century Gothic" pitchFamily="34" charset="-120"/>
              </a:rPr>
              <a:t>Luiz Gustavo Rocha</a:t>
            </a:r>
            <a:endParaRPr lang="en-US" sz="1050" dirty="0"/>
          </a:p>
        </p:txBody>
      </p:sp>
      <p:sp>
        <p:nvSpPr>
          <p:cNvPr id="15" name="Text 10"/>
          <p:cNvSpPr txBox="1"/>
          <p:nvPr/>
        </p:nvSpPr>
        <p:spPr>
          <a:xfrm>
            <a:off x="856800" y="4302000"/>
            <a:ext cx="2052000" cy="144000"/>
          </a:xfrm>
          <a:prstGeom prst="rect">
            <a:avLst/>
          </a:prstGeom>
          <a:noFill/>
          <a:ln/>
        </p:spPr>
        <p:txBody>
          <a:bodyPr wrap="square" lIns="0" tIns="0" rIns="0" bIns="0" rtlCol="0" anchor="t"/>
          <a:lstStyle/>
          <a:p>
            <a:pPr indent="0" marL="0">
              <a:buNone/>
            </a:pPr>
            <a:r>
              <a:rPr lang="en-US" sz="850" dirty="0">
                <a:solidFill>
                  <a:srgbClr val="B1B3B5"/>
                </a:solidFill>
                <a:latin typeface="Century Gothic" pitchFamily="34" charset="0"/>
                <a:ea typeface="Century Gothic" pitchFamily="34" charset="-122"/>
                <a:cs typeface="Century Gothic" pitchFamily="34" charset="-120"/>
              </a:rPr>
              <a:t>Chairman of the Board  ·  Tracbel</a:t>
            </a:r>
            <a:endParaRPr lang="en-US" sz="850" dirty="0"/>
          </a:p>
        </p:txBody>
      </p:sp>
      <p:sp>
        <p:nvSpPr>
          <p:cNvPr id="16" name="Text 11"/>
          <p:cNvSpPr txBox="1"/>
          <p:nvPr/>
        </p:nvSpPr>
        <p:spPr>
          <a:xfrm>
            <a:off x="2980800" y="4140000"/>
            <a:ext cx="2052000" cy="162000"/>
          </a:xfrm>
          <a:prstGeom prst="rect">
            <a:avLst/>
          </a:prstGeom>
          <a:noFill/>
          <a:ln/>
        </p:spPr>
        <p:txBody>
          <a:bodyPr wrap="square" lIns="0" tIns="0" rIns="0" bIns="0" rtlCol="0" anchor="t"/>
          <a:lstStyle/>
          <a:p>
            <a:pPr indent="0" marL="0">
              <a:buNone/>
            </a:pPr>
            <a:r>
              <a:rPr lang="en-US" sz="1050" b="1" dirty="0">
                <a:solidFill>
                  <a:srgbClr val="FFFFFF"/>
                </a:solidFill>
                <a:latin typeface="Century Gothic" pitchFamily="34" charset="0"/>
                <a:ea typeface="Century Gothic" pitchFamily="34" charset="-122"/>
                <a:cs typeface="Century Gothic" pitchFamily="34" charset="-120"/>
              </a:rPr>
              <a:t>Bruno Iervolino</a:t>
            </a:r>
            <a:endParaRPr lang="en-US" sz="1050" dirty="0"/>
          </a:p>
        </p:txBody>
      </p:sp>
      <p:sp>
        <p:nvSpPr>
          <p:cNvPr id="17" name="Text 12"/>
          <p:cNvSpPr txBox="1"/>
          <p:nvPr/>
        </p:nvSpPr>
        <p:spPr>
          <a:xfrm>
            <a:off x="2980800" y="4302000"/>
            <a:ext cx="2052000" cy="144000"/>
          </a:xfrm>
          <a:prstGeom prst="rect">
            <a:avLst/>
          </a:prstGeom>
          <a:noFill/>
          <a:ln/>
        </p:spPr>
        <p:txBody>
          <a:bodyPr wrap="square" lIns="0" tIns="0" rIns="0" bIns="0" rtlCol="0" anchor="t"/>
          <a:lstStyle/>
          <a:p>
            <a:pPr indent="0" marL="0">
              <a:buNone/>
            </a:pPr>
            <a:r>
              <a:rPr lang="en-US" sz="850" dirty="0">
                <a:solidFill>
                  <a:srgbClr val="B1B3B5"/>
                </a:solidFill>
                <a:latin typeface="Century Gothic" pitchFamily="34" charset="0"/>
                <a:ea typeface="Century Gothic" pitchFamily="34" charset="-122"/>
                <a:cs typeface="Century Gothic" pitchFamily="34" charset="-120"/>
              </a:rPr>
              <a:t>IGC Partners</a:t>
            </a:r>
            <a:endParaRPr lang="en-US" sz="850" dirty="0"/>
          </a:p>
        </p:txBody>
      </p:sp>
      <p:sp>
        <p:nvSpPr>
          <p:cNvPr id="18" name="Shape 13"/>
          <p:cNvSpPr/>
          <p:nvPr/>
        </p:nvSpPr>
        <p:spPr>
          <a:xfrm>
            <a:off x="856800" y="4500000"/>
            <a:ext cx="4248000" cy="0"/>
          </a:xfrm>
          <a:prstGeom prst="line">
            <a:avLst/>
          </a:prstGeom>
          <a:noFill/>
          <a:ln w="9525">
            <a:solidFill>
              <a:srgbClr val="3A3A3A"/>
            </a:solidFill>
            <a:prstDash val="solid"/>
          </a:ln>
        </p:spPr>
      </p:sp>
      <p:sp>
        <p:nvSpPr>
          <p:cNvPr id="19" name="Text 14"/>
          <p:cNvSpPr txBox="1"/>
          <p:nvPr/>
        </p:nvSpPr>
        <p:spPr>
          <a:xfrm>
            <a:off x="856800" y="4579200"/>
            <a:ext cx="4248000" cy="180000"/>
          </a:xfrm>
          <a:prstGeom prst="rect">
            <a:avLst/>
          </a:prstGeom>
          <a:noFill/>
          <a:ln/>
        </p:spPr>
        <p:txBody>
          <a:bodyPr wrap="square" lIns="0" tIns="0" rIns="0" bIns="0" rtlCol="0" anchor="ctr"/>
          <a:lstStyle/>
          <a:p>
            <a:pPr indent="0" marL="0">
              <a:buNone/>
            </a:pPr>
            <a:r>
              <a:rPr lang="en-US" sz="950" b="1" spc="120" kern="0" dirty="0">
                <a:solidFill>
                  <a:srgbClr val="FDBA12"/>
                </a:solidFill>
                <a:latin typeface="Century Gothic" pitchFamily="34" charset="0"/>
                <a:ea typeface="Century Gothic" pitchFamily="34" charset="-122"/>
                <a:cs typeface="Century Gothic" pitchFamily="34" charset="-120"/>
              </a:rPr>
              <a:t>PURPOSE OF THE WEEK</a:t>
            </a:r>
            <a:endParaRPr lang="en-US" sz="950" dirty="0"/>
          </a:p>
        </p:txBody>
      </p:sp>
      <p:sp>
        <p:nvSpPr>
          <p:cNvPr id="20" name="Shape 15"/>
          <p:cNvSpPr/>
          <p:nvPr/>
        </p:nvSpPr>
        <p:spPr>
          <a:xfrm>
            <a:off x="856800" y="4834800"/>
            <a:ext cx="79200" cy="79200"/>
          </a:xfrm>
          <a:prstGeom prst="rect">
            <a:avLst/>
          </a:prstGeom>
          <a:solidFill>
            <a:srgbClr val="FDBA12"/>
          </a:solidFill>
          <a:ln/>
        </p:spPr>
      </p:sp>
      <p:sp>
        <p:nvSpPr>
          <p:cNvPr id="21" name="Text 16"/>
          <p:cNvSpPr txBox="1"/>
          <p:nvPr/>
        </p:nvSpPr>
        <p:spPr>
          <a:xfrm>
            <a:off x="1018800" y="4777200"/>
            <a:ext cx="4086000" cy="172800"/>
          </a:xfrm>
          <a:prstGeom prst="rect">
            <a:avLst/>
          </a:prstGeom>
          <a:noFill/>
          <a:ln/>
        </p:spPr>
        <p:txBody>
          <a:bodyPr wrap="square" lIns="0" tIns="0" rIns="0" bIns="0" rtlCol="0" anchor="ctr"/>
          <a:lstStyle/>
          <a:p>
            <a:pPr indent="0" marL="0">
              <a:buNone/>
            </a:pPr>
            <a:r>
              <a:rPr lang="en-US" sz="950" dirty="0">
                <a:solidFill>
                  <a:srgbClr val="E8E8E8"/>
                </a:solidFill>
                <a:latin typeface="Century Gothic" pitchFamily="34" charset="0"/>
                <a:ea typeface="Century Gothic" pitchFamily="34" charset="-122"/>
                <a:cs typeface="Century Gothic" pitchFamily="34" charset="-120"/>
              </a:rPr>
              <a:t>Management sessions on strategy and the 2026–2030 plan</a:t>
            </a:r>
            <a:endParaRPr lang="en-US" sz="950" dirty="0"/>
          </a:p>
        </p:txBody>
      </p:sp>
      <p:sp>
        <p:nvSpPr>
          <p:cNvPr id="22" name="Shape 17"/>
          <p:cNvSpPr/>
          <p:nvPr/>
        </p:nvSpPr>
        <p:spPr>
          <a:xfrm>
            <a:off x="856800" y="5007600"/>
            <a:ext cx="79200" cy="79200"/>
          </a:xfrm>
          <a:prstGeom prst="rect">
            <a:avLst/>
          </a:prstGeom>
          <a:solidFill>
            <a:srgbClr val="FDBA12"/>
          </a:solidFill>
          <a:ln/>
        </p:spPr>
      </p:sp>
      <p:sp>
        <p:nvSpPr>
          <p:cNvPr id="23" name="Text 18"/>
          <p:cNvSpPr txBox="1"/>
          <p:nvPr/>
        </p:nvSpPr>
        <p:spPr>
          <a:xfrm>
            <a:off x="1018800" y="4950000"/>
            <a:ext cx="4086000" cy="172800"/>
          </a:xfrm>
          <a:prstGeom prst="rect">
            <a:avLst/>
          </a:prstGeom>
          <a:noFill/>
          <a:ln/>
        </p:spPr>
        <p:txBody>
          <a:bodyPr wrap="square" lIns="0" tIns="0" rIns="0" bIns="0" rtlCol="0" anchor="ctr"/>
          <a:lstStyle/>
          <a:p>
            <a:pPr indent="0" marL="0">
              <a:buNone/>
            </a:pPr>
            <a:r>
              <a:rPr lang="en-US" sz="950" dirty="0">
                <a:solidFill>
                  <a:srgbClr val="E8E8E8"/>
                </a:solidFill>
                <a:latin typeface="Century Gothic" pitchFamily="34" charset="0"/>
                <a:ea typeface="Century Gothic" pitchFamily="34" charset="-122"/>
                <a:cs typeface="Century Gothic" pitchFamily="34" charset="-120"/>
              </a:rPr>
              <a:t>Sumaré: visit to the LEAN / TPS pilot unit</a:t>
            </a:r>
            <a:endParaRPr lang="en-US" sz="950" dirty="0"/>
          </a:p>
        </p:txBody>
      </p:sp>
      <p:sp>
        <p:nvSpPr>
          <p:cNvPr id="24" name="Shape 19"/>
          <p:cNvSpPr/>
          <p:nvPr/>
        </p:nvSpPr>
        <p:spPr>
          <a:xfrm>
            <a:off x="856800" y="5180400"/>
            <a:ext cx="79200" cy="79200"/>
          </a:xfrm>
          <a:prstGeom prst="rect">
            <a:avLst/>
          </a:prstGeom>
          <a:solidFill>
            <a:srgbClr val="FDBA12"/>
          </a:solidFill>
          <a:ln/>
        </p:spPr>
      </p:sp>
      <p:sp>
        <p:nvSpPr>
          <p:cNvPr id="25" name="Text 20"/>
          <p:cNvSpPr txBox="1"/>
          <p:nvPr/>
        </p:nvSpPr>
        <p:spPr>
          <a:xfrm>
            <a:off x="1018800" y="5122800"/>
            <a:ext cx="4086000" cy="172800"/>
          </a:xfrm>
          <a:prstGeom prst="rect">
            <a:avLst/>
          </a:prstGeom>
          <a:noFill/>
          <a:ln/>
        </p:spPr>
        <p:txBody>
          <a:bodyPr wrap="square" lIns="0" tIns="0" rIns="0" bIns="0" rtlCol="0" anchor="ctr"/>
          <a:lstStyle/>
          <a:p>
            <a:pPr indent="0" marL="0">
              <a:buNone/>
            </a:pPr>
            <a:r>
              <a:rPr lang="en-US" sz="950" dirty="0">
                <a:solidFill>
                  <a:srgbClr val="E8E8E8"/>
                </a:solidFill>
                <a:latin typeface="Century Gothic" pitchFamily="34" charset="0"/>
                <a:ea typeface="Century Gothic" pitchFamily="34" charset="-122"/>
                <a:cs typeface="Century Gothic" pitchFamily="34" charset="-120"/>
              </a:rPr>
              <a:t>Contagem: headquarters and operations tour</a:t>
            </a:r>
            <a:endParaRPr lang="en-US" sz="950" dirty="0"/>
          </a:p>
        </p:txBody>
      </p:sp>
      <p:sp>
        <p:nvSpPr>
          <p:cNvPr id="26" name="Shape 21"/>
          <p:cNvSpPr/>
          <p:nvPr/>
        </p:nvSpPr>
        <p:spPr>
          <a:xfrm>
            <a:off x="856800" y="5353200"/>
            <a:ext cx="79200" cy="79200"/>
          </a:xfrm>
          <a:prstGeom prst="rect">
            <a:avLst/>
          </a:prstGeom>
          <a:solidFill>
            <a:srgbClr val="FDBA12"/>
          </a:solidFill>
          <a:ln/>
        </p:spPr>
      </p:sp>
      <p:sp>
        <p:nvSpPr>
          <p:cNvPr id="27" name="Text 22"/>
          <p:cNvSpPr txBox="1"/>
          <p:nvPr/>
        </p:nvSpPr>
        <p:spPr>
          <a:xfrm>
            <a:off x="1018800" y="5295600"/>
            <a:ext cx="4086000" cy="172800"/>
          </a:xfrm>
          <a:prstGeom prst="rect">
            <a:avLst/>
          </a:prstGeom>
          <a:noFill/>
          <a:ln/>
        </p:spPr>
        <p:txBody>
          <a:bodyPr wrap="square" lIns="0" tIns="0" rIns="0" bIns="0" rtlCol="0" anchor="ctr"/>
          <a:lstStyle/>
          <a:p>
            <a:pPr indent="0" marL="0">
              <a:buNone/>
            </a:pPr>
            <a:r>
              <a:rPr lang="en-US" sz="950" dirty="0">
                <a:solidFill>
                  <a:srgbClr val="E8E8E8"/>
                </a:solidFill>
                <a:latin typeface="Century Gothic" pitchFamily="34" charset="0"/>
                <a:ea typeface="Century Gothic" pitchFamily="34" charset="-122"/>
                <a:cs typeface="Century Gothic" pitchFamily="34" charset="-120"/>
              </a:rPr>
              <a:t>Curitiba: programme [TBC]</a:t>
            </a:r>
            <a:endParaRPr lang="en-US" sz="950" dirty="0"/>
          </a:p>
        </p:txBody>
      </p:sp>
      <p:sp>
        <p:nvSpPr>
          <p:cNvPr id="28" name="Shape 23"/>
          <p:cNvSpPr/>
          <p:nvPr/>
        </p:nvSpPr>
        <p:spPr>
          <a:xfrm>
            <a:off x="856800" y="5511600"/>
            <a:ext cx="4248000" cy="0"/>
          </a:xfrm>
          <a:prstGeom prst="line">
            <a:avLst/>
          </a:prstGeom>
          <a:noFill/>
          <a:ln w="9525">
            <a:solidFill>
              <a:srgbClr val="3A3A3A"/>
            </a:solidFill>
            <a:prstDash val="solid"/>
          </a:ln>
        </p:spPr>
      </p:sp>
      <p:sp>
        <p:nvSpPr>
          <p:cNvPr id="29" name="Text 24"/>
          <p:cNvSpPr txBox="1"/>
          <p:nvPr/>
        </p:nvSpPr>
        <p:spPr>
          <a:xfrm>
            <a:off x="856800" y="5590800"/>
            <a:ext cx="4248000" cy="180000"/>
          </a:xfrm>
          <a:prstGeom prst="rect">
            <a:avLst/>
          </a:prstGeom>
          <a:noFill/>
          <a:ln/>
        </p:spPr>
        <p:txBody>
          <a:bodyPr wrap="square" lIns="0" tIns="0" rIns="0" bIns="0" rtlCol="0" anchor="ctr"/>
          <a:lstStyle/>
          <a:p>
            <a:pPr indent="0" marL="0">
              <a:buNone/>
            </a:pPr>
            <a:r>
              <a:rPr lang="en-US" sz="950" b="1" spc="120" kern="0" dirty="0">
                <a:solidFill>
                  <a:srgbClr val="FDBA12"/>
                </a:solidFill>
                <a:latin typeface="Century Gothic" pitchFamily="34" charset="0"/>
                <a:ea typeface="Century Gothic" pitchFamily="34" charset="-122"/>
                <a:cs typeface="Century Gothic" pitchFamily="34" charset="-120"/>
              </a:rPr>
              <a:t>BEFORE YOU TRAVEL  —  PLEASE SEND BY [DATE — TBC]</a:t>
            </a:r>
            <a:endParaRPr lang="en-US" sz="950" dirty="0"/>
          </a:p>
        </p:txBody>
      </p:sp>
      <p:sp>
        <p:nvSpPr>
          <p:cNvPr id="30" name="Shape 25"/>
          <p:cNvSpPr/>
          <p:nvPr/>
        </p:nvSpPr>
        <p:spPr>
          <a:xfrm>
            <a:off x="856800" y="5846400"/>
            <a:ext cx="79200" cy="79200"/>
          </a:xfrm>
          <a:prstGeom prst="rect">
            <a:avLst/>
          </a:prstGeom>
          <a:solidFill>
            <a:srgbClr val="FDBA12"/>
          </a:solidFill>
          <a:ln/>
        </p:spPr>
      </p:sp>
      <p:sp>
        <p:nvSpPr>
          <p:cNvPr id="31" name="Text 26"/>
          <p:cNvSpPr txBox="1"/>
          <p:nvPr/>
        </p:nvSpPr>
        <p:spPr>
          <a:xfrm>
            <a:off x="1018800" y="5788800"/>
            <a:ext cx="4086000" cy="172800"/>
          </a:xfrm>
          <a:prstGeom prst="rect">
            <a:avLst/>
          </a:prstGeom>
          <a:noFill/>
          <a:ln/>
        </p:spPr>
        <p:txBody>
          <a:bodyPr wrap="square" lIns="0" tIns="0" rIns="0" bIns="0" rtlCol="0" anchor="ctr"/>
          <a:lstStyle/>
          <a:p>
            <a:pPr indent="0" marL="0">
              <a:buNone/>
            </a:pPr>
            <a:r>
              <a:rPr lang="en-US" sz="950" dirty="0">
                <a:solidFill>
                  <a:srgbClr val="E8E8E8"/>
                </a:solidFill>
                <a:latin typeface="Century Gothic" pitchFamily="34" charset="0"/>
                <a:ea typeface="Century Gothic" pitchFamily="34" charset="-122"/>
                <a:cs typeface="Century Gothic" pitchFamily="34" charset="-120"/>
              </a:rPr>
              <a:t>Priority questions for management (single IGC Q&amp;A log)</a:t>
            </a:r>
            <a:endParaRPr lang="en-US" sz="950" dirty="0"/>
          </a:p>
        </p:txBody>
      </p:sp>
      <p:sp>
        <p:nvSpPr>
          <p:cNvPr id="32" name="Shape 27"/>
          <p:cNvSpPr/>
          <p:nvPr/>
        </p:nvSpPr>
        <p:spPr>
          <a:xfrm>
            <a:off x="856800" y="6019200"/>
            <a:ext cx="79200" cy="79200"/>
          </a:xfrm>
          <a:prstGeom prst="rect">
            <a:avLst/>
          </a:prstGeom>
          <a:solidFill>
            <a:srgbClr val="FDBA12"/>
          </a:solidFill>
          <a:ln/>
        </p:spPr>
      </p:sp>
      <p:sp>
        <p:nvSpPr>
          <p:cNvPr id="33" name="Text 28"/>
          <p:cNvSpPr txBox="1"/>
          <p:nvPr/>
        </p:nvSpPr>
        <p:spPr>
          <a:xfrm>
            <a:off x="1018800" y="5961600"/>
            <a:ext cx="4086000" cy="172800"/>
          </a:xfrm>
          <a:prstGeom prst="rect">
            <a:avLst/>
          </a:prstGeom>
          <a:noFill/>
          <a:ln/>
        </p:spPr>
        <p:txBody>
          <a:bodyPr wrap="square" lIns="0" tIns="0" rIns="0" bIns="0" rtlCol="0" anchor="ctr"/>
          <a:lstStyle/>
          <a:p>
            <a:pPr indent="0" marL="0">
              <a:buNone/>
            </a:pPr>
            <a:r>
              <a:rPr lang="en-US" sz="950" dirty="0">
                <a:solidFill>
                  <a:srgbClr val="E8E8E8"/>
                </a:solidFill>
                <a:latin typeface="Century Gothic" pitchFamily="34" charset="0"/>
                <a:ea typeface="Century Gothic" pitchFamily="34" charset="-122"/>
                <a:cs typeface="Century Gothic" pitchFamily="34" charset="-120"/>
              </a:rPr>
              <a:t>Henrik: return flight and nights in Curitiba</a:t>
            </a:r>
            <a:endParaRPr lang="en-US" sz="950" dirty="0"/>
          </a:p>
        </p:txBody>
      </p:sp>
      <p:sp>
        <p:nvSpPr>
          <p:cNvPr id="34" name="Shape 29"/>
          <p:cNvSpPr/>
          <p:nvPr/>
        </p:nvSpPr>
        <p:spPr>
          <a:xfrm>
            <a:off x="856800" y="6192000"/>
            <a:ext cx="79200" cy="79200"/>
          </a:xfrm>
          <a:prstGeom prst="rect">
            <a:avLst/>
          </a:prstGeom>
          <a:solidFill>
            <a:srgbClr val="FDBA12"/>
          </a:solidFill>
          <a:ln/>
        </p:spPr>
      </p:sp>
      <p:sp>
        <p:nvSpPr>
          <p:cNvPr id="35" name="Text 30"/>
          <p:cNvSpPr txBox="1"/>
          <p:nvPr/>
        </p:nvSpPr>
        <p:spPr>
          <a:xfrm>
            <a:off x="1018800" y="6134400"/>
            <a:ext cx="4086000" cy="172800"/>
          </a:xfrm>
          <a:prstGeom prst="rect">
            <a:avLst/>
          </a:prstGeom>
          <a:noFill/>
          <a:ln/>
        </p:spPr>
        <p:txBody>
          <a:bodyPr wrap="square" lIns="0" tIns="0" rIns="0" bIns="0" rtlCol="0" anchor="ctr"/>
          <a:lstStyle/>
          <a:p>
            <a:pPr indent="0" marL="0">
              <a:buNone/>
            </a:pPr>
            <a:r>
              <a:rPr lang="en-US" sz="950" dirty="0">
                <a:solidFill>
                  <a:srgbClr val="E8E8E8"/>
                </a:solidFill>
                <a:latin typeface="Century Gothic" pitchFamily="34" charset="0"/>
                <a:ea typeface="Century Gothic" pitchFamily="34" charset="-122"/>
                <a:cs typeface="Century Gothic" pitchFamily="34" charset="-120"/>
              </a:rPr>
              <a:t>Passport names (private flights), shoe sizes, diet</a:t>
            </a:r>
            <a:endParaRPr lang="en-US" sz="950" dirty="0"/>
          </a:p>
        </p:txBody>
      </p:sp>
      <p:sp>
        <p:nvSpPr>
          <p:cNvPr id="36" name="Shape 31"/>
          <p:cNvSpPr/>
          <p:nvPr/>
        </p:nvSpPr>
        <p:spPr>
          <a:xfrm>
            <a:off x="856800" y="6364800"/>
            <a:ext cx="79200" cy="79200"/>
          </a:xfrm>
          <a:prstGeom prst="rect">
            <a:avLst/>
          </a:prstGeom>
          <a:solidFill>
            <a:srgbClr val="FDBA12"/>
          </a:solidFill>
          <a:ln/>
        </p:spPr>
      </p:sp>
      <p:sp>
        <p:nvSpPr>
          <p:cNvPr id="37" name="Text 32"/>
          <p:cNvSpPr txBox="1"/>
          <p:nvPr/>
        </p:nvSpPr>
        <p:spPr>
          <a:xfrm>
            <a:off x="1018800" y="6307200"/>
            <a:ext cx="4086000" cy="172800"/>
          </a:xfrm>
          <a:prstGeom prst="rect">
            <a:avLst/>
          </a:prstGeom>
          <a:noFill/>
          <a:ln/>
        </p:spPr>
        <p:txBody>
          <a:bodyPr wrap="square" lIns="0" tIns="0" rIns="0" bIns="0" rtlCol="0" anchor="ctr"/>
          <a:lstStyle/>
          <a:p>
            <a:pPr indent="0" marL="0">
              <a:buNone/>
            </a:pPr>
            <a:r>
              <a:rPr lang="en-US" sz="950" dirty="0">
                <a:solidFill>
                  <a:srgbClr val="E8E8E8"/>
                </a:solidFill>
                <a:latin typeface="Century Gothic" pitchFamily="34" charset="0"/>
                <a:ea typeface="Century Gothic" pitchFamily="34" charset="-122"/>
                <a:cs typeface="Century Gothic" pitchFamily="34" charset="-120"/>
              </a:rPr>
              <a:t>Pre-read: IM sections The Company and Business Plan</a:t>
            </a:r>
            <a:endParaRPr lang="en-US" sz="950" dirty="0"/>
          </a:p>
        </p:txBody>
      </p:sp>
      <p:sp>
        <p:nvSpPr>
          <p:cNvPr id="38" name="Shape 33"/>
          <p:cNvSpPr/>
          <p:nvPr/>
        </p:nvSpPr>
        <p:spPr>
          <a:xfrm>
            <a:off x="5644800" y="2070000"/>
            <a:ext cx="11343600" cy="306000"/>
          </a:xfrm>
          <a:prstGeom prst="roundRect">
            <a:avLst>
              <a:gd name="adj" fmla="val 23906"/>
            </a:avLst>
          </a:prstGeom>
          <a:solidFill>
            <a:srgbClr val="FDBA12"/>
          </a:solidFill>
          <a:ln/>
        </p:spPr>
      </p:sp>
      <p:sp>
        <p:nvSpPr>
          <p:cNvPr id="39" name="Text 34"/>
          <p:cNvSpPr txBox="1"/>
          <p:nvPr/>
        </p:nvSpPr>
        <p:spPr>
          <a:xfrm>
            <a:off x="5788800" y="2070000"/>
            <a:ext cx="11055600" cy="306000"/>
          </a:xfrm>
          <a:prstGeom prst="rect">
            <a:avLst/>
          </a:prstGeom>
          <a:noFill/>
          <a:ln/>
        </p:spPr>
        <p:txBody>
          <a:bodyPr wrap="square" lIns="0" tIns="0" rIns="0" bIns="0" rtlCol="0" anchor="ctr"/>
          <a:lstStyle/>
          <a:p>
            <a:pPr indent="0" marL="0">
              <a:buNone/>
            </a:pPr>
            <a:r>
              <a:rPr lang="en-US" sz="1250" b="1" dirty="0">
                <a:solidFill>
                  <a:srgbClr val="000000"/>
                </a:solidFill>
                <a:latin typeface="Century Gothic" pitchFamily="34" charset="0"/>
                <a:ea typeface="Century Gothic" pitchFamily="34" charset="-122"/>
                <a:cs typeface="Century Gothic" pitchFamily="34" charset="-120"/>
              </a:rPr>
              <a:t>Programme  ·  21–25 September 2026</a:t>
            </a:r>
            <a:endParaRPr lang="en-US" sz="1250" dirty="0"/>
          </a:p>
        </p:txBody>
      </p:sp>
      <p:sp>
        <p:nvSpPr>
          <p:cNvPr id="40" name="Text 35"/>
          <p:cNvSpPr txBox="1"/>
          <p:nvPr/>
        </p:nvSpPr>
        <p:spPr>
          <a:xfrm>
            <a:off x="5752800" y="2448000"/>
            <a:ext cx="1260000" cy="180000"/>
          </a:xfrm>
          <a:prstGeom prst="rect">
            <a:avLst/>
          </a:prstGeom>
          <a:noFill/>
          <a:ln/>
        </p:spPr>
        <p:txBody>
          <a:bodyPr wrap="square" lIns="0" tIns="0" rIns="0" bIns="0" rtlCol="0" anchor="ctr"/>
          <a:lstStyle/>
          <a:p>
            <a:pPr indent="0" marL="0">
              <a:buNone/>
            </a:pPr>
            <a:r>
              <a:rPr lang="en-US" sz="850" b="1" spc="100" kern="0" dirty="0">
                <a:solidFill>
                  <a:srgbClr val="595959"/>
                </a:solidFill>
                <a:latin typeface="Century Gothic" pitchFamily="34" charset="0"/>
                <a:ea typeface="Century Gothic" pitchFamily="34" charset="-122"/>
                <a:cs typeface="Century Gothic" pitchFamily="34" charset="-120"/>
              </a:rPr>
              <a:t>DAY</a:t>
            </a:r>
            <a:endParaRPr lang="en-US" sz="850" dirty="0"/>
          </a:p>
        </p:txBody>
      </p:sp>
      <p:sp>
        <p:nvSpPr>
          <p:cNvPr id="41" name="Text 36"/>
          <p:cNvSpPr txBox="1"/>
          <p:nvPr/>
        </p:nvSpPr>
        <p:spPr>
          <a:xfrm>
            <a:off x="7156800" y="2448000"/>
            <a:ext cx="5544000" cy="180000"/>
          </a:xfrm>
          <a:prstGeom prst="rect">
            <a:avLst/>
          </a:prstGeom>
          <a:noFill/>
          <a:ln/>
        </p:spPr>
        <p:txBody>
          <a:bodyPr wrap="square" lIns="0" tIns="0" rIns="0" bIns="0" rtlCol="0" anchor="ctr"/>
          <a:lstStyle/>
          <a:p>
            <a:pPr indent="0" marL="0">
              <a:buNone/>
            </a:pPr>
            <a:r>
              <a:rPr lang="en-US" sz="850" b="1" spc="100" kern="0" dirty="0">
                <a:solidFill>
                  <a:srgbClr val="595959"/>
                </a:solidFill>
                <a:latin typeface="Century Gothic" pitchFamily="34" charset="0"/>
                <a:ea typeface="Century Gothic" pitchFamily="34" charset="-122"/>
                <a:cs typeface="Century Gothic" pitchFamily="34" charset="-120"/>
              </a:rPr>
              <a:t>PROGRAMME</a:t>
            </a:r>
            <a:endParaRPr lang="en-US" sz="850" dirty="0"/>
          </a:p>
        </p:txBody>
      </p:sp>
      <p:sp>
        <p:nvSpPr>
          <p:cNvPr id="42" name="Text 37"/>
          <p:cNvSpPr txBox="1"/>
          <p:nvPr/>
        </p:nvSpPr>
        <p:spPr>
          <a:xfrm>
            <a:off x="12844800" y="2448000"/>
            <a:ext cx="2592000" cy="180000"/>
          </a:xfrm>
          <a:prstGeom prst="rect">
            <a:avLst/>
          </a:prstGeom>
          <a:noFill/>
          <a:ln/>
        </p:spPr>
        <p:txBody>
          <a:bodyPr wrap="square" lIns="0" tIns="0" rIns="0" bIns="0" rtlCol="0" anchor="ctr"/>
          <a:lstStyle/>
          <a:p>
            <a:pPr indent="0" marL="0">
              <a:buNone/>
            </a:pPr>
            <a:r>
              <a:rPr lang="en-US" sz="850" b="1" spc="100" kern="0" dirty="0">
                <a:solidFill>
                  <a:srgbClr val="595959"/>
                </a:solidFill>
                <a:latin typeface="Century Gothic" pitchFamily="34" charset="0"/>
                <a:ea typeface="Century Gothic" pitchFamily="34" charset="-122"/>
                <a:cs typeface="Century Gothic" pitchFamily="34" charset="-120"/>
              </a:rPr>
              <a:t>TRAVEL &amp; ACCOMMODATION</a:t>
            </a:r>
            <a:endParaRPr lang="en-US" sz="850" dirty="0"/>
          </a:p>
        </p:txBody>
      </p:sp>
      <p:sp>
        <p:nvSpPr>
          <p:cNvPr id="43" name="Text 38"/>
          <p:cNvSpPr txBox="1"/>
          <p:nvPr/>
        </p:nvSpPr>
        <p:spPr>
          <a:xfrm>
            <a:off x="15580800" y="2448000"/>
            <a:ext cx="1371600" cy="180000"/>
          </a:xfrm>
          <a:prstGeom prst="rect">
            <a:avLst/>
          </a:prstGeom>
          <a:noFill/>
          <a:ln/>
        </p:spPr>
        <p:txBody>
          <a:bodyPr wrap="square" lIns="0" tIns="0" rIns="0" bIns="0" rtlCol="0" anchor="ctr"/>
          <a:lstStyle/>
          <a:p>
            <a:pPr indent="0" marL="0">
              <a:buNone/>
            </a:pPr>
            <a:r>
              <a:rPr lang="en-US" sz="850" b="1" spc="100" kern="0" dirty="0">
                <a:solidFill>
                  <a:srgbClr val="595959"/>
                </a:solidFill>
                <a:latin typeface="Century Gothic" pitchFamily="34" charset="0"/>
                <a:ea typeface="Century Gothic" pitchFamily="34" charset="-122"/>
                <a:cs typeface="Century Gothic" pitchFamily="34" charset="-120"/>
              </a:rPr>
              <a:t>ARRANGED BY</a:t>
            </a:r>
            <a:endParaRPr lang="en-US" sz="850" dirty="0"/>
          </a:p>
        </p:txBody>
      </p:sp>
      <p:sp>
        <p:nvSpPr>
          <p:cNvPr id="44" name="Shape 39"/>
          <p:cNvSpPr/>
          <p:nvPr/>
        </p:nvSpPr>
        <p:spPr>
          <a:xfrm>
            <a:off x="5644800" y="2646000"/>
            <a:ext cx="11343600" cy="0"/>
          </a:xfrm>
          <a:prstGeom prst="line">
            <a:avLst/>
          </a:prstGeom>
          <a:noFill/>
          <a:ln w="12700">
            <a:solidFill>
              <a:srgbClr val="000000"/>
            </a:solidFill>
            <a:prstDash val="solid"/>
          </a:ln>
        </p:spPr>
      </p:sp>
      <p:sp>
        <p:nvSpPr>
          <p:cNvPr id="45" name="Shape 40"/>
          <p:cNvSpPr/>
          <p:nvPr/>
        </p:nvSpPr>
        <p:spPr>
          <a:xfrm>
            <a:off x="5752800" y="2772000"/>
            <a:ext cx="378000" cy="378000"/>
          </a:xfrm>
          <a:prstGeom prst="rect">
            <a:avLst/>
          </a:prstGeom>
          <a:solidFill>
            <a:srgbClr val="FDBA12"/>
          </a:solidFill>
          <a:ln/>
        </p:spPr>
      </p:sp>
      <p:sp>
        <p:nvSpPr>
          <p:cNvPr id="46" name="Text 41"/>
          <p:cNvSpPr txBox="1"/>
          <p:nvPr/>
        </p:nvSpPr>
        <p:spPr>
          <a:xfrm>
            <a:off x="5752800" y="2772000"/>
            <a:ext cx="378000" cy="378000"/>
          </a:xfrm>
          <a:prstGeom prst="rect">
            <a:avLst/>
          </a:prstGeom>
          <a:noFill/>
          <a:ln/>
        </p:spPr>
        <p:txBody>
          <a:bodyPr wrap="square" lIns="0" tIns="0" rIns="0" bIns="0" rtlCol="0" anchor="ctr"/>
          <a:lstStyle/>
          <a:p>
            <a:pPr algn="ctr" indent="0" marL="0">
              <a:buNone/>
            </a:pPr>
            <a:r>
              <a:rPr lang="en-US" sz="1300" b="1" dirty="0">
                <a:solidFill>
                  <a:srgbClr val="000000"/>
                </a:solidFill>
                <a:latin typeface="Century Gothic" pitchFamily="34" charset="0"/>
                <a:ea typeface="Century Gothic" pitchFamily="34" charset="-122"/>
                <a:cs typeface="Century Gothic" pitchFamily="34" charset="-120"/>
              </a:rPr>
              <a:t>21</a:t>
            </a:r>
            <a:endParaRPr lang="en-US" sz="1300" dirty="0"/>
          </a:p>
        </p:txBody>
      </p:sp>
      <p:sp>
        <p:nvSpPr>
          <p:cNvPr id="47" name="Text 42"/>
          <p:cNvSpPr txBox="1"/>
          <p:nvPr/>
        </p:nvSpPr>
        <p:spPr>
          <a:xfrm>
            <a:off x="6202800" y="2772000"/>
            <a:ext cx="792000" cy="180000"/>
          </a:xfrm>
          <a:prstGeom prst="rect">
            <a:avLst/>
          </a:prstGeom>
          <a:noFill/>
          <a:ln/>
        </p:spPr>
        <p:txBody>
          <a:bodyPr wrap="square" lIns="0" tIns="0" rIns="0" bIns="0" rtlCol="0" anchor="ctr"/>
          <a:lstStyle/>
          <a:p>
            <a:pPr indent="0" marL="0">
              <a:buNone/>
            </a:pPr>
            <a:r>
              <a:rPr lang="en-US" sz="1100" b="1" dirty="0">
                <a:solidFill>
                  <a:srgbClr val="000000"/>
                </a:solidFill>
                <a:latin typeface="Century Gothic" pitchFamily="34" charset="0"/>
                <a:ea typeface="Century Gothic" pitchFamily="34" charset="-122"/>
                <a:cs typeface="Century Gothic" pitchFamily="34" charset="-120"/>
              </a:rPr>
              <a:t>Mon</a:t>
            </a:r>
            <a:endParaRPr lang="en-US" sz="1100" dirty="0"/>
          </a:p>
        </p:txBody>
      </p:sp>
      <p:sp>
        <p:nvSpPr>
          <p:cNvPr id="48" name="Text 43"/>
          <p:cNvSpPr txBox="1"/>
          <p:nvPr/>
        </p:nvSpPr>
        <p:spPr>
          <a:xfrm>
            <a:off x="6202800" y="2952000"/>
            <a:ext cx="792000" cy="180000"/>
          </a:xfrm>
          <a:prstGeom prst="rect">
            <a:avLst/>
          </a:prstGeom>
          <a:noFill/>
          <a:ln/>
        </p:spPr>
        <p:txBody>
          <a:bodyPr wrap="square" lIns="0" tIns="0" rIns="0" bIns="0" rtlCol="0" anchor="ctr"/>
          <a:lstStyle/>
          <a:p>
            <a:pPr indent="0" marL="0">
              <a:buNone/>
            </a:pPr>
            <a:r>
              <a:rPr lang="en-US" sz="850" dirty="0">
                <a:solidFill>
                  <a:srgbClr val="595959"/>
                </a:solidFill>
                <a:latin typeface="Century Gothic" pitchFamily="34" charset="0"/>
                <a:ea typeface="Century Gothic" pitchFamily="34" charset="-122"/>
                <a:cs typeface="Century Gothic" pitchFamily="34" charset="-120"/>
              </a:rPr>
              <a:t>Sep 2026</a:t>
            </a:r>
            <a:endParaRPr lang="en-US" sz="850" dirty="0"/>
          </a:p>
        </p:txBody>
      </p:sp>
      <p:sp>
        <p:nvSpPr>
          <p:cNvPr id="49" name="Text 44"/>
          <p:cNvSpPr txBox="1"/>
          <p:nvPr/>
        </p:nvSpPr>
        <p:spPr>
          <a:xfrm>
            <a:off x="7156800" y="2736000"/>
            <a:ext cx="5508000" cy="180000"/>
          </a:xfrm>
          <a:prstGeom prst="rect">
            <a:avLst/>
          </a:prstGeom>
          <a:noFill/>
          <a:ln/>
        </p:spPr>
        <p:txBody>
          <a:bodyPr wrap="square" lIns="0" tIns="0" rIns="0" bIns="0" rtlCol="0" anchor="ctr"/>
          <a:lstStyle/>
          <a:p>
            <a:pPr indent="0" marL="0">
              <a:buNone/>
            </a:pPr>
            <a:r>
              <a:rPr lang="en-US" sz="1150" b="1" dirty="0">
                <a:solidFill>
                  <a:srgbClr val="000000"/>
                </a:solidFill>
                <a:latin typeface="Century Gothic" pitchFamily="34" charset="0"/>
                <a:ea typeface="Century Gothic" pitchFamily="34" charset="-122"/>
                <a:cs typeface="Century Gothic" pitchFamily="34" charset="-120"/>
              </a:rPr>
              <a:t>Arrival in São Paulo</a:t>
            </a:r>
            <a:endParaRPr lang="en-US" sz="1150" dirty="0"/>
          </a:p>
        </p:txBody>
      </p:sp>
      <p:sp>
        <p:nvSpPr>
          <p:cNvPr id="50" name="Text 45"/>
          <p:cNvSpPr txBox="1"/>
          <p:nvPr/>
        </p:nvSpPr>
        <p:spPr>
          <a:xfrm>
            <a:off x="7156800" y="2926800"/>
            <a:ext cx="5508000" cy="529200"/>
          </a:xfrm>
          <a:prstGeom prst="rect">
            <a:avLst/>
          </a:prstGeom>
          <a:noFill/>
          <a:ln/>
        </p:spPr>
        <p:txBody>
          <a:bodyPr wrap="square" lIns="0" tIns="0" rIns="0" bIns="0" rtlCol="0" anchor="t"/>
          <a:lstStyle/>
          <a:p>
            <a:pPr indent="0" marL="0">
              <a:lnSpc>
                <a:spcPct val="106000"/>
              </a:lnSpc>
              <a:buNone/>
            </a:pPr>
            <a:r>
              <a:rPr lang="en-US" sz="1000" dirty="0">
                <a:solidFill>
                  <a:srgbClr val="1B1B1B"/>
                </a:solidFill>
                <a:latin typeface="Century Gothic" pitchFamily="34" charset="0"/>
                <a:ea typeface="Century Gothic" pitchFamily="34" charset="-122"/>
                <a:cs typeface="Century Gothic" pitchFamily="34" charset="-120"/>
              </a:rPr>
              <a:t>LX 092 from Zürich lands at GRU Terminal 3 at 05:25. Clearance through Terminal BTG Pactual — met at the aircraft, private immigration and customs, driver waiting at the terminal exit. Day to recover; [welcome dinner — TBC].</a:t>
            </a:r>
            <a:endParaRPr lang="en-US" sz="1000" dirty="0"/>
          </a:p>
        </p:txBody>
      </p:sp>
      <p:sp>
        <p:nvSpPr>
          <p:cNvPr id="51" name="Text 46"/>
          <p:cNvSpPr txBox="1"/>
          <p:nvPr/>
        </p:nvSpPr>
        <p:spPr>
          <a:xfrm>
            <a:off x="12844800" y="2754000"/>
            <a:ext cx="2556000" cy="691200"/>
          </a:xfrm>
          <a:prstGeom prst="rect">
            <a:avLst/>
          </a:prstGeom>
          <a:noFill/>
          <a:ln/>
        </p:spPr>
        <p:txBody>
          <a:bodyPr wrap="square" lIns="0" tIns="0" rIns="0" bIns="0" rtlCol="0" anchor="t"/>
          <a:lstStyle/>
          <a:p>
            <a:pPr indent="0" marL="0">
              <a:lnSpc>
                <a:spcPct val="110000"/>
              </a:lnSpc>
              <a:buNone/>
            </a:pPr>
            <a:r>
              <a:rPr lang="en-US" sz="1000" dirty="0">
                <a:solidFill>
                  <a:srgbClr val="1B1B1B"/>
                </a:solidFill>
                <a:latin typeface="Century Gothic" pitchFamily="34" charset="0"/>
                <a:ea typeface="Century Gothic" pitchFamily="34" charset="-122"/>
                <a:cs typeface="Century Gothic" pitchFamily="34" charset="-120"/>
              </a:rPr>
              <a:t>Hotel in São Paulo [name — TBC]</a:t>
            </a:r>
            <a:endParaRPr lang="en-US" sz="1000" dirty="0"/>
          </a:p>
        </p:txBody>
      </p:sp>
      <p:sp>
        <p:nvSpPr>
          <p:cNvPr id="52" name="Text 47"/>
          <p:cNvSpPr txBox="1"/>
          <p:nvPr/>
        </p:nvSpPr>
        <p:spPr>
          <a:xfrm>
            <a:off x="15580800" y="2754000"/>
            <a:ext cx="1371600" cy="691200"/>
          </a:xfrm>
          <a:prstGeom prst="rect">
            <a:avLst/>
          </a:prstGeom>
          <a:noFill/>
          <a:ln/>
        </p:spPr>
        <p:txBody>
          <a:bodyPr wrap="square" lIns="0" tIns="0" rIns="0" bIns="0" rtlCol="0" anchor="t"/>
          <a:lstStyle/>
          <a:p>
            <a:pPr indent="0" marL="0">
              <a:lnSpc>
                <a:spcPct val="110000"/>
              </a:lnSpc>
              <a:buNone/>
            </a:pPr>
            <a:r>
              <a:rPr lang="en-US" sz="950" dirty="0">
                <a:solidFill>
                  <a:srgbClr val="595959"/>
                </a:solidFill>
                <a:latin typeface="Century Gothic" pitchFamily="34" charset="0"/>
                <a:ea typeface="Century Gothic" pitchFamily="34" charset="-122"/>
                <a:cs typeface="Century Gothic" pitchFamily="34" charset="-120"/>
              </a:rPr>
              <a:t>Intl. flight: Ferronordic</a:t>
            </a:r>
            <a:endParaRPr lang="en-US" sz="950" dirty="0"/>
          </a:p>
          <a:p>
            <a:pPr indent="0" marL="0">
              <a:lnSpc>
                <a:spcPct val="110000"/>
              </a:lnSpc>
              <a:buNone/>
            </a:pPr>
            <a:r>
              <a:rPr lang="en-US" sz="950" dirty="0">
                <a:solidFill>
                  <a:srgbClr val="595959"/>
                </a:solidFill>
                <a:latin typeface="Century Gothic" pitchFamily="34" charset="0"/>
                <a:ea typeface="Century Gothic" pitchFamily="34" charset="-122"/>
                <a:cs typeface="Century Gothic" pitchFamily="34" charset="-120"/>
              </a:rPr>
              <a:t>Terminal, car, hotel: Tracbel</a:t>
            </a:r>
            <a:endParaRPr lang="en-US" sz="950" dirty="0"/>
          </a:p>
        </p:txBody>
      </p:sp>
      <p:sp>
        <p:nvSpPr>
          <p:cNvPr id="53" name="Shape 48"/>
          <p:cNvSpPr/>
          <p:nvPr/>
        </p:nvSpPr>
        <p:spPr>
          <a:xfrm>
            <a:off x="5644800" y="3481200"/>
            <a:ext cx="11343600" cy="0"/>
          </a:xfrm>
          <a:prstGeom prst="line">
            <a:avLst/>
          </a:prstGeom>
          <a:noFill/>
          <a:ln w="6350">
            <a:solidFill>
              <a:srgbClr val="D9D9D9"/>
            </a:solidFill>
            <a:prstDash val="solid"/>
          </a:ln>
        </p:spPr>
      </p:sp>
      <p:sp>
        <p:nvSpPr>
          <p:cNvPr id="54" name="Shape 49"/>
          <p:cNvSpPr/>
          <p:nvPr/>
        </p:nvSpPr>
        <p:spPr>
          <a:xfrm>
            <a:off x="5644800" y="3481200"/>
            <a:ext cx="11343600" cy="835200"/>
          </a:xfrm>
          <a:prstGeom prst="rect">
            <a:avLst/>
          </a:prstGeom>
          <a:solidFill>
            <a:srgbClr val="F2F2F2"/>
          </a:solidFill>
          <a:ln/>
        </p:spPr>
      </p:sp>
      <p:sp>
        <p:nvSpPr>
          <p:cNvPr id="55" name="Shape 50"/>
          <p:cNvSpPr/>
          <p:nvPr/>
        </p:nvSpPr>
        <p:spPr>
          <a:xfrm>
            <a:off x="5752800" y="3607200"/>
            <a:ext cx="378000" cy="378000"/>
          </a:xfrm>
          <a:prstGeom prst="rect">
            <a:avLst/>
          </a:prstGeom>
          <a:solidFill>
            <a:srgbClr val="FDBA12"/>
          </a:solidFill>
          <a:ln/>
        </p:spPr>
      </p:sp>
      <p:sp>
        <p:nvSpPr>
          <p:cNvPr id="56" name="Text 51"/>
          <p:cNvSpPr txBox="1"/>
          <p:nvPr/>
        </p:nvSpPr>
        <p:spPr>
          <a:xfrm>
            <a:off x="5752800" y="3607200"/>
            <a:ext cx="378000" cy="378000"/>
          </a:xfrm>
          <a:prstGeom prst="rect">
            <a:avLst/>
          </a:prstGeom>
          <a:noFill/>
          <a:ln/>
        </p:spPr>
        <p:txBody>
          <a:bodyPr wrap="square" lIns="0" tIns="0" rIns="0" bIns="0" rtlCol="0" anchor="ctr"/>
          <a:lstStyle/>
          <a:p>
            <a:pPr algn="ctr" indent="0" marL="0">
              <a:buNone/>
            </a:pPr>
            <a:r>
              <a:rPr lang="en-US" sz="1300" b="1" dirty="0">
                <a:solidFill>
                  <a:srgbClr val="000000"/>
                </a:solidFill>
                <a:latin typeface="Century Gothic" pitchFamily="34" charset="0"/>
                <a:ea typeface="Century Gothic" pitchFamily="34" charset="-122"/>
                <a:cs typeface="Century Gothic" pitchFamily="34" charset="-120"/>
              </a:rPr>
              <a:t>22</a:t>
            </a:r>
            <a:endParaRPr lang="en-US" sz="1300" dirty="0"/>
          </a:p>
        </p:txBody>
      </p:sp>
      <p:sp>
        <p:nvSpPr>
          <p:cNvPr id="57" name="Text 52"/>
          <p:cNvSpPr txBox="1"/>
          <p:nvPr/>
        </p:nvSpPr>
        <p:spPr>
          <a:xfrm>
            <a:off x="6202800" y="3607200"/>
            <a:ext cx="792000" cy="180000"/>
          </a:xfrm>
          <a:prstGeom prst="rect">
            <a:avLst/>
          </a:prstGeom>
          <a:noFill/>
          <a:ln/>
        </p:spPr>
        <p:txBody>
          <a:bodyPr wrap="square" lIns="0" tIns="0" rIns="0" bIns="0" rtlCol="0" anchor="ctr"/>
          <a:lstStyle/>
          <a:p>
            <a:pPr indent="0" marL="0">
              <a:buNone/>
            </a:pPr>
            <a:r>
              <a:rPr lang="en-US" sz="1100" b="1" dirty="0">
                <a:solidFill>
                  <a:srgbClr val="000000"/>
                </a:solidFill>
                <a:latin typeface="Century Gothic" pitchFamily="34" charset="0"/>
                <a:ea typeface="Century Gothic" pitchFamily="34" charset="-122"/>
                <a:cs typeface="Century Gothic" pitchFamily="34" charset="-120"/>
              </a:rPr>
              <a:t>Tue</a:t>
            </a:r>
            <a:endParaRPr lang="en-US" sz="1100" dirty="0"/>
          </a:p>
        </p:txBody>
      </p:sp>
      <p:sp>
        <p:nvSpPr>
          <p:cNvPr id="58" name="Text 53"/>
          <p:cNvSpPr txBox="1"/>
          <p:nvPr/>
        </p:nvSpPr>
        <p:spPr>
          <a:xfrm>
            <a:off x="6202800" y="3787200"/>
            <a:ext cx="792000" cy="180000"/>
          </a:xfrm>
          <a:prstGeom prst="rect">
            <a:avLst/>
          </a:prstGeom>
          <a:noFill/>
          <a:ln/>
        </p:spPr>
        <p:txBody>
          <a:bodyPr wrap="square" lIns="0" tIns="0" rIns="0" bIns="0" rtlCol="0" anchor="ctr"/>
          <a:lstStyle/>
          <a:p>
            <a:pPr indent="0" marL="0">
              <a:buNone/>
            </a:pPr>
            <a:r>
              <a:rPr lang="en-US" sz="850" dirty="0">
                <a:solidFill>
                  <a:srgbClr val="595959"/>
                </a:solidFill>
                <a:latin typeface="Century Gothic" pitchFamily="34" charset="0"/>
                <a:ea typeface="Century Gothic" pitchFamily="34" charset="-122"/>
                <a:cs typeface="Century Gothic" pitchFamily="34" charset="-120"/>
              </a:rPr>
              <a:t>Sep 2026</a:t>
            </a:r>
            <a:endParaRPr lang="en-US" sz="850" dirty="0"/>
          </a:p>
        </p:txBody>
      </p:sp>
      <p:sp>
        <p:nvSpPr>
          <p:cNvPr id="59" name="Text 54"/>
          <p:cNvSpPr txBox="1"/>
          <p:nvPr/>
        </p:nvSpPr>
        <p:spPr>
          <a:xfrm>
            <a:off x="7156800" y="3571200"/>
            <a:ext cx="5508000" cy="180000"/>
          </a:xfrm>
          <a:prstGeom prst="rect">
            <a:avLst/>
          </a:prstGeom>
          <a:noFill/>
          <a:ln/>
        </p:spPr>
        <p:txBody>
          <a:bodyPr wrap="square" lIns="0" tIns="0" rIns="0" bIns="0" rtlCol="0" anchor="ctr"/>
          <a:lstStyle/>
          <a:p>
            <a:pPr indent="0" marL="0">
              <a:buNone/>
            </a:pPr>
            <a:r>
              <a:rPr lang="en-US" sz="1150" b="1" dirty="0">
                <a:solidFill>
                  <a:srgbClr val="000000"/>
                </a:solidFill>
                <a:latin typeface="Century Gothic" pitchFamily="34" charset="0"/>
                <a:ea typeface="Century Gothic" pitchFamily="34" charset="-122"/>
                <a:cs typeface="Century Gothic" pitchFamily="34" charset="-120"/>
              </a:rPr>
              <a:t>Sumaré site visit</a:t>
            </a:r>
            <a:endParaRPr lang="en-US" sz="1150" dirty="0"/>
          </a:p>
        </p:txBody>
      </p:sp>
      <p:sp>
        <p:nvSpPr>
          <p:cNvPr id="60" name="Text 55"/>
          <p:cNvSpPr txBox="1"/>
          <p:nvPr/>
        </p:nvSpPr>
        <p:spPr>
          <a:xfrm>
            <a:off x="7156800" y="3762000"/>
            <a:ext cx="5508000" cy="529200"/>
          </a:xfrm>
          <a:prstGeom prst="rect">
            <a:avLst/>
          </a:prstGeom>
          <a:noFill/>
          <a:ln/>
        </p:spPr>
        <p:txBody>
          <a:bodyPr wrap="square" lIns="0" tIns="0" rIns="0" bIns="0" rtlCol="0" anchor="t"/>
          <a:lstStyle/>
          <a:p>
            <a:pPr indent="0" marL="0">
              <a:lnSpc>
                <a:spcPct val="106000"/>
              </a:lnSpc>
              <a:buNone/>
            </a:pPr>
            <a:r>
              <a:rPr lang="en-US" sz="1000" dirty="0">
                <a:solidFill>
                  <a:srgbClr val="1B1B1B"/>
                </a:solidFill>
                <a:latin typeface="Century Gothic" pitchFamily="34" charset="0"/>
                <a:ea typeface="Century Gothic" pitchFamily="34" charset="-122"/>
                <a:cs typeface="Century Gothic" pitchFamily="34" charset="-120"/>
              </a:rPr>
              <a:t>Private flight Congonhas (CGH) → Sumaré [operator &amp; landing field — TBC]. Visit to the Sumaré branch, the first LEAN / TPS unit, and management sessions [agenda — TBC]. Evening private flight Sumaré → Belo Horizonte.</a:t>
            </a:r>
            <a:endParaRPr lang="en-US" sz="1000" dirty="0"/>
          </a:p>
        </p:txBody>
      </p:sp>
      <p:sp>
        <p:nvSpPr>
          <p:cNvPr id="61" name="Text 56"/>
          <p:cNvSpPr txBox="1"/>
          <p:nvPr/>
        </p:nvSpPr>
        <p:spPr>
          <a:xfrm>
            <a:off x="12844800" y="3589200"/>
            <a:ext cx="2556000" cy="691200"/>
          </a:xfrm>
          <a:prstGeom prst="rect">
            <a:avLst/>
          </a:prstGeom>
          <a:noFill/>
          <a:ln/>
        </p:spPr>
        <p:txBody>
          <a:bodyPr wrap="square" lIns="0" tIns="0" rIns="0" bIns="0" rtlCol="0" anchor="t"/>
          <a:lstStyle/>
          <a:p>
            <a:pPr indent="0" marL="0">
              <a:lnSpc>
                <a:spcPct val="110000"/>
              </a:lnSpc>
              <a:buNone/>
            </a:pPr>
            <a:r>
              <a:rPr lang="en-US" sz="1000" dirty="0">
                <a:solidFill>
                  <a:srgbClr val="1B1B1B"/>
                </a:solidFill>
                <a:latin typeface="Century Gothic" pitchFamily="34" charset="0"/>
                <a:ea typeface="Century Gothic" pitchFamily="34" charset="-122"/>
                <a:cs typeface="Century Gothic" pitchFamily="34" charset="-120"/>
              </a:rPr>
              <a:t>Private flights CGH → Sumaré → BH</a:t>
            </a:r>
            <a:endParaRPr lang="en-US" sz="1000" dirty="0"/>
          </a:p>
          <a:p>
            <a:pPr indent="0" marL="0">
              <a:lnSpc>
                <a:spcPct val="110000"/>
              </a:lnSpc>
              <a:buNone/>
            </a:pPr>
            <a:r>
              <a:rPr lang="en-US" sz="1000" dirty="0">
                <a:solidFill>
                  <a:srgbClr val="1B1B1B"/>
                </a:solidFill>
                <a:latin typeface="Century Gothic" pitchFamily="34" charset="0"/>
                <a:ea typeface="Century Gothic" pitchFamily="34" charset="-122"/>
                <a:cs typeface="Century Gothic" pitchFamily="34" charset="-120"/>
              </a:rPr>
              <a:t>Hotel in Belo Horizonte [name — TBC]</a:t>
            </a:r>
            <a:endParaRPr lang="en-US" sz="1000" dirty="0"/>
          </a:p>
        </p:txBody>
      </p:sp>
      <p:sp>
        <p:nvSpPr>
          <p:cNvPr id="62" name="Text 57"/>
          <p:cNvSpPr txBox="1"/>
          <p:nvPr/>
        </p:nvSpPr>
        <p:spPr>
          <a:xfrm>
            <a:off x="15580800" y="3589200"/>
            <a:ext cx="1371600" cy="691200"/>
          </a:xfrm>
          <a:prstGeom prst="rect">
            <a:avLst/>
          </a:prstGeom>
          <a:noFill/>
          <a:ln/>
        </p:spPr>
        <p:txBody>
          <a:bodyPr wrap="square" lIns="0" tIns="0" rIns="0" bIns="0" rtlCol="0" anchor="t"/>
          <a:lstStyle/>
          <a:p>
            <a:pPr indent="0" marL="0">
              <a:lnSpc>
                <a:spcPct val="110000"/>
              </a:lnSpc>
              <a:buNone/>
            </a:pPr>
            <a:r>
              <a:rPr lang="en-US" sz="950" dirty="0">
                <a:solidFill>
                  <a:srgbClr val="595959"/>
                </a:solidFill>
                <a:latin typeface="Century Gothic" pitchFamily="34" charset="0"/>
                <a:ea typeface="Century Gothic" pitchFamily="34" charset="-122"/>
                <a:cs typeface="Century Gothic" pitchFamily="34" charset="-120"/>
              </a:rPr>
              <a:t>Tracbel</a:t>
            </a:r>
            <a:endParaRPr lang="en-US" sz="950" dirty="0"/>
          </a:p>
        </p:txBody>
      </p:sp>
      <p:sp>
        <p:nvSpPr>
          <p:cNvPr id="63" name="Shape 58"/>
          <p:cNvSpPr/>
          <p:nvPr/>
        </p:nvSpPr>
        <p:spPr>
          <a:xfrm>
            <a:off x="5644800" y="4316400"/>
            <a:ext cx="11343600" cy="0"/>
          </a:xfrm>
          <a:prstGeom prst="line">
            <a:avLst/>
          </a:prstGeom>
          <a:noFill/>
          <a:ln w="6350">
            <a:solidFill>
              <a:srgbClr val="D9D9D9"/>
            </a:solidFill>
            <a:prstDash val="solid"/>
          </a:ln>
        </p:spPr>
      </p:sp>
      <p:sp>
        <p:nvSpPr>
          <p:cNvPr id="64" name="Shape 59"/>
          <p:cNvSpPr/>
          <p:nvPr/>
        </p:nvSpPr>
        <p:spPr>
          <a:xfrm>
            <a:off x="5752800" y="4442400"/>
            <a:ext cx="378000" cy="378000"/>
          </a:xfrm>
          <a:prstGeom prst="rect">
            <a:avLst/>
          </a:prstGeom>
          <a:solidFill>
            <a:srgbClr val="FDBA12"/>
          </a:solidFill>
          <a:ln/>
        </p:spPr>
      </p:sp>
      <p:sp>
        <p:nvSpPr>
          <p:cNvPr id="65" name="Text 60"/>
          <p:cNvSpPr txBox="1"/>
          <p:nvPr/>
        </p:nvSpPr>
        <p:spPr>
          <a:xfrm>
            <a:off x="5752800" y="4442400"/>
            <a:ext cx="378000" cy="378000"/>
          </a:xfrm>
          <a:prstGeom prst="rect">
            <a:avLst/>
          </a:prstGeom>
          <a:noFill/>
          <a:ln/>
        </p:spPr>
        <p:txBody>
          <a:bodyPr wrap="square" lIns="0" tIns="0" rIns="0" bIns="0" rtlCol="0" anchor="ctr"/>
          <a:lstStyle/>
          <a:p>
            <a:pPr algn="ctr" indent="0" marL="0">
              <a:buNone/>
            </a:pPr>
            <a:r>
              <a:rPr lang="en-US" sz="1300" b="1" dirty="0">
                <a:solidFill>
                  <a:srgbClr val="000000"/>
                </a:solidFill>
                <a:latin typeface="Century Gothic" pitchFamily="34" charset="0"/>
                <a:ea typeface="Century Gothic" pitchFamily="34" charset="-122"/>
                <a:cs typeface="Century Gothic" pitchFamily="34" charset="-120"/>
              </a:rPr>
              <a:t>23</a:t>
            </a:r>
            <a:endParaRPr lang="en-US" sz="1300" dirty="0"/>
          </a:p>
        </p:txBody>
      </p:sp>
      <p:sp>
        <p:nvSpPr>
          <p:cNvPr id="66" name="Text 61"/>
          <p:cNvSpPr txBox="1"/>
          <p:nvPr/>
        </p:nvSpPr>
        <p:spPr>
          <a:xfrm>
            <a:off x="6202800" y="4442400"/>
            <a:ext cx="792000" cy="180000"/>
          </a:xfrm>
          <a:prstGeom prst="rect">
            <a:avLst/>
          </a:prstGeom>
          <a:noFill/>
          <a:ln/>
        </p:spPr>
        <p:txBody>
          <a:bodyPr wrap="square" lIns="0" tIns="0" rIns="0" bIns="0" rtlCol="0" anchor="ctr"/>
          <a:lstStyle/>
          <a:p>
            <a:pPr indent="0" marL="0">
              <a:buNone/>
            </a:pPr>
            <a:r>
              <a:rPr lang="en-US" sz="1100" b="1" dirty="0">
                <a:solidFill>
                  <a:srgbClr val="000000"/>
                </a:solidFill>
                <a:latin typeface="Century Gothic" pitchFamily="34" charset="0"/>
                <a:ea typeface="Century Gothic" pitchFamily="34" charset="-122"/>
                <a:cs typeface="Century Gothic" pitchFamily="34" charset="-120"/>
              </a:rPr>
              <a:t>Wed</a:t>
            </a:r>
            <a:endParaRPr lang="en-US" sz="1100" dirty="0"/>
          </a:p>
        </p:txBody>
      </p:sp>
      <p:sp>
        <p:nvSpPr>
          <p:cNvPr id="67" name="Text 62"/>
          <p:cNvSpPr txBox="1"/>
          <p:nvPr/>
        </p:nvSpPr>
        <p:spPr>
          <a:xfrm>
            <a:off x="6202800" y="4622400"/>
            <a:ext cx="792000" cy="180000"/>
          </a:xfrm>
          <a:prstGeom prst="rect">
            <a:avLst/>
          </a:prstGeom>
          <a:noFill/>
          <a:ln/>
        </p:spPr>
        <p:txBody>
          <a:bodyPr wrap="square" lIns="0" tIns="0" rIns="0" bIns="0" rtlCol="0" anchor="ctr"/>
          <a:lstStyle/>
          <a:p>
            <a:pPr indent="0" marL="0">
              <a:buNone/>
            </a:pPr>
            <a:r>
              <a:rPr lang="en-US" sz="850" dirty="0">
                <a:solidFill>
                  <a:srgbClr val="595959"/>
                </a:solidFill>
                <a:latin typeface="Century Gothic" pitchFamily="34" charset="0"/>
                <a:ea typeface="Century Gothic" pitchFamily="34" charset="-122"/>
                <a:cs typeface="Century Gothic" pitchFamily="34" charset="-120"/>
              </a:rPr>
              <a:t>Sep 2026</a:t>
            </a:r>
            <a:endParaRPr lang="en-US" sz="850" dirty="0"/>
          </a:p>
        </p:txBody>
      </p:sp>
      <p:sp>
        <p:nvSpPr>
          <p:cNvPr id="68" name="Text 63"/>
          <p:cNvSpPr txBox="1"/>
          <p:nvPr/>
        </p:nvSpPr>
        <p:spPr>
          <a:xfrm>
            <a:off x="7156800" y="4406400"/>
            <a:ext cx="5508000" cy="180000"/>
          </a:xfrm>
          <a:prstGeom prst="rect">
            <a:avLst/>
          </a:prstGeom>
          <a:noFill/>
          <a:ln/>
        </p:spPr>
        <p:txBody>
          <a:bodyPr wrap="square" lIns="0" tIns="0" rIns="0" bIns="0" rtlCol="0" anchor="ctr"/>
          <a:lstStyle/>
          <a:p>
            <a:pPr indent="0" marL="0">
              <a:buNone/>
            </a:pPr>
            <a:r>
              <a:rPr lang="en-US" sz="1150" b="1" dirty="0">
                <a:solidFill>
                  <a:srgbClr val="000000"/>
                </a:solidFill>
                <a:latin typeface="Century Gothic" pitchFamily="34" charset="0"/>
                <a:ea typeface="Century Gothic" pitchFamily="34" charset="-122"/>
                <a:cs typeface="Century Gothic" pitchFamily="34" charset="-120"/>
              </a:rPr>
              <a:t>Contagem: headquarters &amp; operations</a:t>
            </a:r>
            <a:endParaRPr lang="en-US" sz="1150" dirty="0"/>
          </a:p>
        </p:txBody>
      </p:sp>
      <p:sp>
        <p:nvSpPr>
          <p:cNvPr id="69" name="Text 64"/>
          <p:cNvSpPr txBox="1"/>
          <p:nvPr/>
        </p:nvSpPr>
        <p:spPr>
          <a:xfrm>
            <a:off x="7156800" y="4597200"/>
            <a:ext cx="5508000" cy="529200"/>
          </a:xfrm>
          <a:prstGeom prst="rect">
            <a:avLst/>
          </a:prstGeom>
          <a:noFill/>
          <a:ln/>
        </p:spPr>
        <p:txBody>
          <a:bodyPr wrap="square" lIns="0" tIns="0" rIns="0" bIns="0" rtlCol="0" anchor="t"/>
          <a:lstStyle/>
          <a:p>
            <a:pPr indent="0" marL="0">
              <a:lnSpc>
                <a:spcPct val="106000"/>
              </a:lnSpc>
              <a:buNone/>
            </a:pPr>
            <a:r>
              <a:rPr lang="en-US" sz="1000" dirty="0">
                <a:solidFill>
                  <a:srgbClr val="1B1B1B"/>
                </a:solidFill>
                <a:latin typeface="Century Gothic" pitchFamily="34" charset="0"/>
                <a:ea typeface="Century Gothic" pitchFamily="34" charset="-122"/>
                <a:cs typeface="Century Gothic" pitchFamily="34" charset="-120"/>
              </a:rPr>
              <a:t>Car from the hotel to Tracbel’s headquarters in Contagem (~30 min). Operations visit and management meeting [agenda &amp; times — TBC]. Return to Belo Horizonte for the night.</a:t>
            </a:r>
            <a:endParaRPr lang="en-US" sz="1000" dirty="0"/>
          </a:p>
        </p:txBody>
      </p:sp>
      <p:sp>
        <p:nvSpPr>
          <p:cNvPr id="70" name="Text 65"/>
          <p:cNvSpPr txBox="1"/>
          <p:nvPr/>
        </p:nvSpPr>
        <p:spPr>
          <a:xfrm>
            <a:off x="12844800" y="4424400"/>
            <a:ext cx="2556000" cy="691200"/>
          </a:xfrm>
          <a:prstGeom prst="rect">
            <a:avLst/>
          </a:prstGeom>
          <a:noFill/>
          <a:ln/>
        </p:spPr>
        <p:txBody>
          <a:bodyPr wrap="square" lIns="0" tIns="0" rIns="0" bIns="0" rtlCol="0" anchor="t"/>
          <a:lstStyle/>
          <a:p>
            <a:pPr indent="0" marL="0">
              <a:lnSpc>
                <a:spcPct val="110000"/>
              </a:lnSpc>
              <a:buNone/>
            </a:pPr>
            <a:r>
              <a:rPr lang="en-US" sz="1000" dirty="0">
                <a:solidFill>
                  <a:srgbClr val="1B1B1B"/>
                </a:solidFill>
                <a:latin typeface="Century Gothic" pitchFamily="34" charset="0"/>
                <a:ea typeface="Century Gothic" pitchFamily="34" charset="-122"/>
                <a:cs typeface="Century Gothic" pitchFamily="34" charset="-120"/>
              </a:rPr>
              <a:t>Car BH ⇄ Contagem</a:t>
            </a:r>
            <a:endParaRPr lang="en-US" sz="1000" dirty="0"/>
          </a:p>
          <a:p>
            <a:pPr indent="0" marL="0">
              <a:lnSpc>
                <a:spcPct val="110000"/>
              </a:lnSpc>
              <a:buNone/>
            </a:pPr>
            <a:r>
              <a:rPr lang="en-US" sz="1000" dirty="0">
                <a:solidFill>
                  <a:srgbClr val="1B1B1B"/>
                </a:solidFill>
                <a:latin typeface="Century Gothic" pitchFamily="34" charset="0"/>
                <a:ea typeface="Century Gothic" pitchFamily="34" charset="-122"/>
                <a:cs typeface="Century Gothic" pitchFamily="34" charset="-120"/>
              </a:rPr>
              <a:t>Hotel in Belo Horizonte</a:t>
            </a:r>
            <a:endParaRPr lang="en-US" sz="1000" dirty="0"/>
          </a:p>
        </p:txBody>
      </p:sp>
      <p:sp>
        <p:nvSpPr>
          <p:cNvPr id="71" name="Text 66"/>
          <p:cNvSpPr txBox="1"/>
          <p:nvPr/>
        </p:nvSpPr>
        <p:spPr>
          <a:xfrm>
            <a:off x="15580800" y="4424400"/>
            <a:ext cx="1371600" cy="691200"/>
          </a:xfrm>
          <a:prstGeom prst="rect">
            <a:avLst/>
          </a:prstGeom>
          <a:noFill/>
          <a:ln/>
        </p:spPr>
        <p:txBody>
          <a:bodyPr wrap="square" lIns="0" tIns="0" rIns="0" bIns="0" rtlCol="0" anchor="t"/>
          <a:lstStyle/>
          <a:p>
            <a:pPr indent="0" marL="0">
              <a:lnSpc>
                <a:spcPct val="110000"/>
              </a:lnSpc>
              <a:buNone/>
            </a:pPr>
            <a:r>
              <a:rPr lang="en-US" sz="950" dirty="0">
                <a:solidFill>
                  <a:srgbClr val="595959"/>
                </a:solidFill>
                <a:latin typeface="Century Gothic" pitchFamily="34" charset="0"/>
                <a:ea typeface="Century Gothic" pitchFamily="34" charset="-122"/>
                <a:cs typeface="Century Gothic" pitchFamily="34" charset="-120"/>
              </a:rPr>
              <a:t>Tracbel</a:t>
            </a:r>
            <a:endParaRPr lang="en-US" sz="950" dirty="0"/>
          </a:p>
        </p:txBody>
      </p:sp>
      <p:sp>
        <p:nvSpPr>
          <p:cNvPr id="72" name="Shape 67"/>
          <p:cNvSpPr/>
          <p:nvPr/>
        </p:nvSpPr>
        <p:spPr>
          <a:xfrm>
            <a:off x="5644800" y="5151600"/>
            <a:ext cx="11343600" cy="0"/>
          </a:xfrm>
          <a:prstGeom prst="line">
            <a:avLst/>
          </a:prstGeom>
          <a:noFill/>
          <a:ln w="6350">
            <a:solidFill>
              <a:srgbClr val="D9D9D9"/>
            </a:solidFill>
            <a:prstDash val="solid"/>
          </a:ln>
        </p:spPr>
      </p:sp>
      <p:sp>
        <p:nvSpPr>
          <p:cNvPr id="73" name="Shape 68"/>
          <p:cNvSpPr/>
          <p:nvPr/>
        </p:nvSpPr>
        <p:spPr>
          <a:xfrm>
            <a:off x="5644800" y="5151600"/>
            <a:ext cx="11343600" cy="835200"/>
          </a:xfrm>
          <a:prstGeom prst="rect">
            <a:avLst/>
          </a:prstGeom>
          <a:solidFill>
            <a:srgbClr val="F2F2F2"/>
          </a:solidFill>
          <a:ln/>
        </p:spPr>
      </p:sp>
      <p:sp>
        <p:nvSpPr>
          <p:cNvPr id="74" name="Shape 69"/>
          <p:cNvSpPr/>
          <p:nvPr/>
        </p:nvSpPr>
        <p:spPr>
          <a:xfrm>
            <a:off x="5752800" y="5277600"/>
            <a:ext cx="378000" cy="378000"/>
          </a:xfrm>
          <a:prstGeom prst="rect">
            <a:avLst/>
          </a:prstGeom>
          <a:solidFill>
            <a:srgbClr val="FDBA12"/>
          </a:solidFill>
          <a:ln/>
        </p:spPr>
      </p:sp>
      <p:sp>
        <p:nvSpPr>
          <p:cNvPr id="75" name="Text 70"/>
          <p:cNvSpPr txBox="1"/>
          <p:nvPr/>
        </p:nvSpPr>
        <p:spPr>
          <a:xfrm>
            <a:off x="5752800" y="5277600"/>
            <a:ext cx="378000" cy="378000"/>
          </a:xfrm>
          <a:prstGeom prst="rect">
            <a:avLst/>
          </a:prstGeom>
          <a:noFill/>
          <a:ln/>
        </p:spPr>
        <p:txBody>
          <a:bodyPr wrap="square" lIns="0" tIns="0" rIns="0" bIns="0" rtlCol="0" anchor="ctr"/>
          <a:lstStyle/>
          <a:p>
            <a:pPr algn="ctr" indent="0" marL="0">
              <a:buNone/>
            </a:pPr>
            <a:r>
              <a:rPr lang="en-US" sz="1300" b="1" dirty="0">
                <a:solidFill>
                  <a:srgbClr val="000000"/>
                </a:solidFill>
                <a:latin typeface="Century Gothic" pitchFamily="34" charset="0"/>
                <a:ea typeface="Century Gothic" pitchFamily="34" charset="-122"/>
                <a:cs typeface="Century Gothic" pitchFamily="34" charset="-120"/>
              </a:rPr>
              <a:t>24</a:t>
            </a:r>
            <a:endParaRPr lang="en-US" sz="1300" dirty="0"/>
          </a:p>
        </p:txBody>
      </p:sp>
      <p:sp>
        <p:nvSpPr>
          <p:cNvPr id="76" name="Text 71"/>
          <p:cNvSpPr txBox="1"/>
          <p:nvPr/>
        </p:nvSpPr>
        <p:spPr>
          <a:xfrm>
            <a:off x="6202800" y="5277600"/>
            <a:ext cx="792000" cy="180000"/>
          </a:xfrm>
          <a:prstGeom prst="rect">
            <a:avLst/>
          </a:prstGeom>
          <a:noFill/>
          <a:ln/>
        </p:spPr>
        <p:txBody>
          <a:bodyPr wrap="square" lIns="0" tIns="0" rIns="0" bIns="0" rtlCol="0" anchor="ctr"/>
          <a:lstStyle/>
          <a:p>
            <a:pPr indent="0" marL="0">
              <a:buNone/>
            </a:pPr>
            <a:r>
              <a:rPr lang="en-US" sz="1100" b="1" dirty="0">
                <a:solidFill>
                  <a:srgbClr val="000000"/>
                </a:solidFill>
                <a:latin typeface="Century Gothic" pitchFamily="34" charset="0"/>
                <a:ea typeface="Century Gothic" pitchFamily="34" charset="-122"/>
                <a:cs typeface="Century Gothic" pitchFamily="34" charset="-120"/>
              </a:rPr>
              <a:t>Thu</a:t>
            </a:r>
            <a:endParaRPr lang="en-US" sz="1100" dirty="0"/>
          </a:p>
        </p:txBody>
      </p:sp>
      <p:sp>
        <p:nvSpPr>
          <p:cNvPr id="77" name="Text 72"/>
          <p:cNvSpPr txBox="1"/>
          <p:nvPr/>
        </p:nvSpPr>
        <p:spPr>
          <a:xfrm>
            <a:off x="6202800" y="5457600"/>
            <a:ext cx="792000" cy="180000"/>
          </a:xfrm>
          <a:prstGeom prst="rect">
            <a:avLst/>
          </a:prstGeom>
          <a:noFill/>
          <a:ln/>
        </p:spPr>
        <p:txBody>
          <a:bodyPr wrap="square" lIns="0" tIns="0" rIns="0" bIns="0" rtlCol="0" anchor="ctr"/>
          <a:lstStyle/>
          <a:p>
            <a:pPr indent="0" marL="0">
              <a:buNone/>
            </a:pPr>
            <a:r>
              <a:rPr lang="en-US" sz="850" dirty="0">
                <a:solidFill>
                  <a:srgbClr val="595959"/>
                </a:solidFill>
                <a:latin typeface="Century Gothic" pitchFamily="34" charset="0"/>
                <a:ea typeface="Century Gothic" pitchFamily="34" charset="-122"/>
                <a:cs typeface="Century Gothic" pitchFamily="34" charset="-120"/>
              </a:rPr>
              <a:t>Sep 2026</a:t>
            </a:r>
            <a:endParaRPr lang="en-US" sz="850" dirty="0"/>
          </a:p>
        </p:txBody>
      </p:sp>
      <p:sp>
        <p:nvSpPr>
          <p:cNvPr id="78" name="Text 73"/>
          <p:cNvSpPr txBox="1"/>
          <p:nvPr/>
        </p:nvSpPr>
        <p:spPr>
          <a:xfrm>
            <a:off x="7156800" y="5241600"/>
            <a:ext cx="5508000" cy="180000"/>
          </a:xfrm>
          <a:prstGeom prst="rect">
            <a:avLst/>
          </a:prstGeom>
          <a:noFill/>
          <a:ln/>
        </p:spPr>
        <p:txBody>
          <a:bodyPr wrap="square" lIns="0" tIns="0" rIns="0" bIns="0" rtlCol="0" anchor="ctr"/>
          <a:lstStyle/>
          <a:p>
            <a:pPr indent="0" marL="0">
              <a:buNone/>
            </a:pPr>
            <a:r>
              <a:rPr lang="en-US" sz="1150" b="1" dirty="0">
                <a:solidFill>
                  <a:srgbClr val="000000"/>
                </a:solidFill>
                <a:latin typeface="Century Gothic" pitchFamily="34" charset="0"/>
                <a:ea typeface="Century Gothic" pitchFamily="34" charset="-122"/>
                <a:cs typeface="Century Gothic" pitchFamily="34" charset="-120"/>
              </a:rPr>
              <a:t>Belo Horizonte → Curitiba</a:t>
            </a:r>
            <a:endParaRPr lang="en-US" sz="1150" dirty="0"/>
          </a:p>
        </p:txBody>
      </p:sp>
      <p:sp>
        <p:nvSpPr>
          <p:cNvPr id="79" name="Text 74"/>
          <p:cNvSpPr txBox="1"/>
          <p:nvPr/>
        </p:nvSpPr>
        <p:spPr>
          <a:xfrm>
            <a:off x="7156800" y="5432400"/>
            <a:ext cx="5508000" cy="529200"/>
          </a:xfrm>
          <a:prstGeom prst="rect">
            <a:avLst/>
          </a:prstGeom>
          <a:noFill/>
          <a:ln/>
        </p:spPr>
        <p:txBody>
          <a:bodyPr wrap="square" lIns="0" tIns="0" rIns="0" bIns="0" rtlCol="0" anchor="t"/>
          <a:lstStyle/>
          <a:p>
            <a:pPr indent="0" marL="0">
              <a:lnSpc>
                <a:spcPct val="106000"/>
              </a:lnSpc>
              <a:buNone/>
            </a:pPr>
            <a:r>
              <a:rPr lang="en-US" sz="1000" dirty="0">
                <a:solidFill>
                  <a:srgbClr val="1B1B1B"/>
                </a:solidFill>
                <a:latin typeface="Century Gothic" pitchFamily="34" charset="0"/>
                <a:ea typeface="Century Gothic" pitchFamily="34" charset="-122"/>
                <a:cs typeface="Century Gothic" pitchFamily="34" charset="-120"/>
              </a:rPr>
              <a:t>Morning programme as proposed by Luiz Gustavo [details — TBC]. Evening private flight Confins (CNF) → Curitiba (CWB). Overnight in Curitiba.</a:t>
            </a:r>
            <a:endParaRPr lang="en-US" sz="1000" dirty="0"/>
          </a:p>
        </p:txBody>
      </p:sp>
      <p:sp>
        <p:nvSpPr>
          <p:cNvPr id="80" name="Text 75"/>
          <p:cNvSpPr txBox="1"/>
          <p:nvPr/>
        </p:nvSpPr>
        <p:spPr>
          <a:xfrm>
            <a:off x="12844800" y="5259600"/>
            <a:ext cx="2556000" cy="691200"/>
          </a:xfrm>
          <a:prstGeom prst="rect">
            <a:avLst/>
          </a:prstGeom>
          <a:noFill/>
          <a:ln/>
        </p:spPr>
        <p:txBody>
          <a:bodyPr wrap="square" lIns="0" tIns="0" rIns="0" bIns="0" rtlCol="0" anchor="t"/>
          <a:lstStyle/>
          <a:p>
            <a:pPr indent="0" marL="0">
              <a:lnSpc>
                <a:spcPct val="110000"/>
              </a:lnSpc>
              <a:buNone/>
            </a:pPr>
            <a:r>
              <a:rPr lang="en-US" sz="1000" dirty="0">
                <a:solidFill>
                  <a:srgbClr val="1B1B1B"/>
                </a:solidFill>
                <a:latin typeface="Century Gothic" pitchFamily="34" charset="0"/>
                <a:ea typeface="Century Gothic" pitchFamily="34" charset="-122"/>
                <a:cs typeface="Century Gothic" pitchFamily="34" charset="-120"/>
              </a:rPr>
              <a:t>Private flight CNF → CWB</a:t>
            </a:r>
            <a:endParaRPr lang="en-US" sz="1000" dirty="0"/>
          </a:p>
          <a:p>
            <a:pPr indent="0" marL="0">
              <a:lnSpc>
                <a:spcPct val="110000"/>
              </a:lnSpc>
              <a:buNone/>
            </a:pPr>
            <a:r>
              <a:rPr lang="en-US" sz="1000" dirty="0">
                <a:solidFill>
                  <a:srgbClr val="1B1B1B"/>
                </a:solidFill>
                <a:latin typeface="Century Gothic" pitchFamily="34" charset="0"/>
                <a:ea typeface="Century Gothic" pitchFamily="34" charset="-122"/>
                <a:cs typeface="Century Gothic" pitchFamily="34" charset="-120"/>
              </a:rPr>
              <a:t>Hotel in Curitiba [name — TBC]</a:t>
            </a:r>
            <a:endParaRPr lang="en-US" sz="1000" dirty="0"/>
          </a:p>
        </p:txBody>
      </p:sp>
      <p:sp>
        <p:nvSpPr>
          <p:cNvPr id="81" name="Text 76"/>
          <p:cNvSpPr txBox="1"/>
          <p:nvPr/>
        </p:nvSpPr>
        <p:spPr>
          <a:xfrm>
            <a:off x="15580800" y="5259600"/>
            <a:ext cx="1371600" cy="691200"/>
          </a:xfrm>
          <a:prstGeom prst="rect">
            <a:avLst/>
          </a:prstGeom>
          <a:noFill/>
          <a:ln/>
        </p:spPr>
        <p:txBody>
          <a:bodyPr wrap="square" lIns="0" tIns="0" rIns="0" bIns="0" rtlCol="0" anchor="t"/>
          <a:lstStyle/>
          <a:p>
            <a:pPr indent="0" marL="0">
              <a:lnSpc>
                <a:spcPct val="110000"/>
              </a:lnSpc>
              <a:buNone/>
            </a:pPr>
            <a:r>
              <a:rPr lang="en-US" sz="950" dirty="0">
                <a:solidFill>
                  <a:srgbClr val="595959"/>
                </a:solidFill>
                <a:latin typeface="Century Gothic" pitchFamily="34" charset="0"/>
                <a:ea typeface="Century Gothic" pitchFamily="34" charset="-122"/>
                <a:cs typeface="Century Gothic" pitchFamily="34" charset="-120"/>
              </a:rPr>
              <a:t>Tracbel</a:t>
            </a:r>
            <a:endParaRPr lang="en-US" sz="950" dirty="0"/>
          </a:p>
        </p:txBody>
      </p:sp>
      <p:sp>
        <p:nvSpPr>
          <p:cNvPr id="82" name="Shape 77"/>
          <p:cNvSpPr/>
          <p:nvPr/>
        </p:nvSpPr>
        <p:spPr>
          <a:xfrm>
            <a:off x="5644800" y="5986800"/>
            <a:ext cx="11343600" cy="0"/>
          </a:xfrm>
          <a:prstGeom prst="line">
            <a:avLst/>
          </a:prstGeom>
          <a:noFill/>
          <a:ln w="6350">
            <a:solidFill>
              <a:srgbClr val="D9D9D9"/>
            </a:solidFill>
            <a:prstDash val="solid"/>
          </a:ln>
        </p:spPr>
      </p:sp>
      <p:sp>
        <p:nvSpPr>
          <p:cNvPr id="83" name="Shape 78"/>
          <p:cNvSpPr/>
          <p:nvPr/>
        </p:nvSpPr>
        <p:spPr>
          <a:xfrm>
            <a:off x="5752800" y="6112800"/>
            <a:ext cx="378000" cy="378000"/>
          </a:xfrm>
          <a:prstGeom prst="rect">
            <a:avLst/>
          </a:prstGeom>
          <a:solidFill>
            <a:srgbClr val="FDBA12"/>
          </a:solidFill>
          <a:ln/>
        </p:spPr>
      </p:sp>
      <p:sp>
        <p:nvSpPr>
          <p:cNvPr id="84" name="Text 79"/>
          <p:cNvSpPr txBox="1"/>
          <p:nvPr/>
        </p:nvSpPr>
        <p:spPr>
          <a:xfrm>
            <a:off x="5752800" y="6112800"/>
            <a:ext cx="378000" cy="378000"/>
          </a:xfrm>
          <a:prstGeom prst="rect">
            <a:avLst/>
          </a:prstGeom>
          <a:noFill/>
          <a:ln/>
        </p:spPr>
        <p:txBody>
          <a:bodyPr wrap="square" lIns="0" tIns="0" rIns="0" bIns="0" rtlCol="0" anchor="ctr"/>
          <a:lstStyle/>
          <a:p>
            <a:pPr algn="ctr" indent="0" marL="0">
              <a:buNone/>
            </a:pPr>
            <a:r>
              <a:rPr lang="en-US" sz="1300" b="1" dirty="0">
                <a:solidFill>
                  <a:srgbClr val="000000"/>
                </a:solidFill>
                <a:latin typeface="Century Gothic" pitchFamily="34" charset="0"/>
                <a:ea typeface="Century Gothic" pitchFamily="34" charset="-122"/>
                <a:cs typeface="Century Gothic" pitchFamily="34" charset="-120"/>
              </a:rPr>
              <a:t>25</a:t>
            </a:r>
            <a:endParaRPr lang="en-US" sz="1300" dirty="0"/>
          </a:p>
        </p:txBody>
      </p:sp>
      <p:sp>
        <p:nvSpPr>
          <p:cNvPr id="85" name="Text 80"/>
          <p:cNvSpPr txBox="1"/>
          <p:nvPr/>
        </p:nvSpPr>
        <p:spPr>
          <a:xfrm>
            <a:off x="6202800" y="6112800"/>
            <a:ext cx="792000" cy="180000"/>
          </a:xfrm>
          <a:prstGeom prst="rect">
            <a:avLst/>
          </a:prstGeom>
          <a:noFill/>
          <a:ln/>
        </p:spPr>
        <p:txBody>
          <a:bodyPr wrap="square" lIns="0" tIns="0" rIns="0" bIns="0" rtlCol="0" anchor="ctr"/>
          <a:lstStyle/>
          <a:p>
            <a:pPr indent="0" marL="0">
              <a:buNone/>
            </a:pPr>
            <a:r>
              <a:rPr lang="en-US" sz="1100" b="1" dirty="0">
                <a:solidFill>
                  <a:srgbClr val="000000"/>
                </a:solidFill>
                <a:latin typeface="Century Gothic" pitchFamily="34" charset="0"/>
                <a:ea typeface="Century Gothic" pitchFamily="34" charset="-122"/>
                <a:cs typeface="Century Gothic" pitchFamily="34" charset="-120"/>
              </a:rPr>
              <a:t>Fri</a:t>
            </a:r>
            <a:endParaRPr lang="en-US" sz="1100" dirty="0"/>
          </a:p>
        </p:txBody>
      </p:sp>
      <p:sp>
        <p:nvSpPr>
          <p:cNvPr id="86" name="Text 81"/>
          <p:cNvSpPr txBox="1"/>
          <p:nvPr/>
        </p:nvSpPr>
        <p:spPr>
          <a:xfrm>
            <a:off x="6202800" y="6292800"/>
            <a:ext cx="792000" cy="180000"/>
          </a:xfrm>
          <a:prstGeom prst="rect">
            <a:avLst/>
          </a:prstGeom>
          <a:noFill/>
          <a:ln/>
        </p:spPr>
        <p:txBody>
          <a:bodyPr wrap="square" lIns="0" tIns="0" rIns="0" bIns="0" rtlCol="0" anchor="ctr"/>
          <a:lstStyle/>
          <a:p>
            <a:pPr indent="0" marL="0">
              <a:buNone/>
            </a:pPr>
            <a:r>
              <a:rPr lang="en-US" sz="850" dirty="0">
                <a:solidFill>
                  <a:srgbClr val="595959"/>
                </a:solidFill>
                <a:latin typeface="Century Gothic" pitchFamily="34" charset="0"/>
                <a:ea typeface="Century Gothic" pitchFamily="34" charset="-122"/>
                <a:cs typeface="Century Gothic" pitchFamily="34" charset="-120"/>
              </a:rPr>
              <a:t>Sep 2026</a:t>
            </a:r>
            <a:endParaRPr lang="en-US" sz="850" dirty="0"/>
          </a:p>
        </p:txBody>
      </p:sp>
      <p:sp>
        <p:nvSpPr>
          <p:cNvPr id="87" name="Text 82"/>
          <p:cNvSpPr txBox="1"/>
          <p:nvPr/>
        </p:nvSpPr>
        <p:spPr>
          <a:xfrm>
            <a:off x="7156800" y="6076800"/>
            <a:ext cx="5508000" cy="180000"/>
          </a:xfrm>
          <a:prstGeom prst="rect">
            <a:avLst/>
          </a:prstGeom>
          <a:noFill/>
          <a:ln/>
        </p:spPr>
        <p:txBody>
          <a:bodyPr wrap="square" lIns="0" tIns="0" rIns="0" bIns="0" rtlCol="0" anchor="ctr"/>
          <a:lstStyle/>
          <a:p>
            <a:pPr indent="0" marL="0">
              <a:buNone/>
            </a:pPr>
            <a:r>
              <a:rPr lang="en-US" sz="1150" b="1" dirty="0">
                <a:solidFill>
                  <a:srgbClr val="000000"/>
                </a:solidFill>
                <a:latin typeface="Century Gothic" pitchFamily="34" charset="0"/>
                <a:ea typeface="Century Gothic" pitchFamily="34" charset="-122"/>
                <a:cs typeface="Century Gothic" pitchFamily="34" charset="-120"/>
              </a:rPr>
              <a:t>Curitiba → departure</a:t>
            </a:r>
            <a:endParaRPr lang="en-US" sz="1150" dirty="0"/>
          </a:p>
        </p:txBody>
      </p:sp>
      <p:sp>
        <p:nvSpPr>
          <p:cNvPr id="88" name="Text 83"/>
          <p:cNvSpPr txBox="1"/>
          <p:nvPr/>
        </p:nvSpPr>
        <p:spPr>
          <a:xfrm>
            <a:off x="7156800" y="6267600"/>
            <a:ext cx="5508000" cy="529200"/>
          </a:xfrm>
          <a:prstGeom prst="rect">
            <a:avLst/>
          </a:prstGeom>
          <a:noFill/>
          <a:ln/>
        </p:spPr>
        <p:txBody>
          <a:bodyPr wrap="square" lIns="0" tIns="0" rIns="0" bIns="0" rtlCol="0" anchor="t"/>
          <a:lstStyle/>
          <a:p>
            <a:pPr indent="0" marL="0">
              <a:lnSpc>
                <a:spcPct val="106000"/>
              </a:lnSpc>
              <a:buNone/>
            </a:pPr>
            <a:r>
              <a:rPr lang="en-US" sz="1000" dirty="0">
                <a:solidFill>
                  <a:srgbClr val="1B1B1B"/>
                </a:solidFill>
                <a:latin typeface="Century Gothic" pitchFamily="34" charset="0"/>
                <a:ea typeface="Century Gothic" pitchFamily="34" charset="-122"/>
                <a:cs typeface="Century Gothic" pitchFamily="34" charset="-120"/>
              </a:rPr>
              <a:t>Curitiba programme [TBC]. Commercial flight CWB → GRU departing 11:00–13:00 [flight — TBC]; domestic arrivals use Terminal 2 — allow time to transfer to T3. LX 93 to Zürich departs T3 at 18:25. Henrik: return [TBC].</a:t>
            </a:r>
            <a:endParaRPr lang="en-US" sz="1000" dirty="0"/>
          </a:p>
        </p:txBody>
      </p:sp>
      <p:sp>
        <p:nvSpPr>
          <p:cNvPr id="89" name="Text 84"/>
          <p:cNvSpPr txBox="1"/>
          <p:nvPr/>
        </p:nvSpPr>
        <p:spPr>
          <a:xfrm>
            <a:off x="12844800" y="6094800"/>
            <a:ext cx="2556000" cy="691200"/>
          </a:xfrm>
          <a:prstGeom prst="rect">
            <a:avLst/>
          </a:prstGeom>
          <a:noFill/>
          <a:ln/>
        </p:spPr>
        <p:txBody>
          <a:bodyPr wrap="square" lIns="0" tIns="0" rIns="0" bIns="0" rtlCol="0" anchor="t"/>
          <a:lstStyle/>
          <a:p>
            <a:pPr indent="0" marL="0">
              <a:lnSpc>
                <a:spcPct val="110000"/>
              </a:lnSpc>
              <a:buNone/>
            </a:pPr>
            <a:r>
              <a:rPr lang="en-US" sz="1000" dirty="0">
                <a:solidFill>
                  <a:srgbClr val="1B1B1B"/>
                </a:solidFill>
                <a:latin typeface="Century Gothic" pitchFamily="34" charset="0"/>
                <a:ea typeface="Century Gothic" pitchFamily="34" charset="-122"/>
                <a:cs typeface="Century Gothic" pitchFamily="34" charset="-120"/>
              </a:rPr>
              <a:t>Commercial flight CWB → GRU (~1h15)</a:t>
            </a:r>
            <a:endParaRPr lang="en-US" sz="1000" dirty="0"/>
          </a:p>
        </p:txBody>
      </p:sp>
      <p:sp>
        <p:nvSpPr>
          <p:cNvPr id="90" name="Text 85"/>
          <p:cNvSpPr txBox="1"/>
          <p:nvPr/>
        </p:nvSpPr>
        <p:spPr>
          <a:xfrm>
            <a:off x="15580800" y="6094800"/>
            <a:ext cx="1371600" cy="691200"/>
          </a:xfrm>
          <a:prstGeom prst="rect">
            <a:avLst/>
          </a:prstGeom>
          <a:noFill/>
          <a:ln/>
        </p:spPr>
        <p:txBody>
          <a:bodyPr wrap="square" lIns="0" tIns="0" rIns="0" bIns="0" rtlCol="0" anchor="t"/>
          <a:lstStyle/>
          <a:p>
            <a:pPr indent="0" marL="0">
              <a:lnSpc>
                <a:spcPct val="110000"/>
              </a:lnSpc>
              <a:buNone/>
            </a:pPr>
            <a:r>
              <a:rPr lang="en-US" sz="950" dirty="0">
                <a:solidFill>
                  <a:srgbClr val="595959"/>
                </a:solidFill>
                <a:latin typeface="Century Gothic" pitchFamily="34" charset="0"/>
                <a:ea typeface="Century Gothic" pitchFamily="34" charset="-122"/>
                <a:cs typeface="Century Gothic" pitchFamily="34" charset="-120"/>
              </a:rPr>
              <a:t>CWB → GRU: Tracbel</a:t>
            </a:r>
            <a:endParaRPr lang="en-US" sz="950" dirty="0"/>
          </a:p>
          <a:p>
            <a:pPr indent="0" marL="0">
              <a:lnSpc>
                <a:spcPct val="110000"/>
              </a:lnSpc>
              <a:buNone/>
            </a:pPr>
            <a:r>
              <a:rPr lang="en-US" sz="950" dirty="0">
                <a:solidFill>
                  <a:srgbClr val="595959"/>
                </a:solidFill>
                <a:latin typeface="Century Gothic" pitchFamily="34" charset="0"/>
                <a:ea typeface="Century Gothic" pitchFamily="34" charset="-122"/>
                <a:cs typeface="Century Gothic" pitchFamily="34" charset="-120"/>
              </a:rPr>
              <a:t>Intl. flight: Ferronordic</a:t>
            </a:r>
            <a:endParaRPr lang="en-US" sz="950" dirty="0"/>
          </a:p>
        </p:txBody>
      </p:sp>
      <p:sp>
        <p:nvSpPr>
          <p:cNvPr id="91" name="Shape 86"/>
          <p:cNvSpPr/>
          <p:nvPr/>
        </p:nvSpPr>
        <p:spPr>
          <a:xfrm>
            <a:off x="5644800" y="6822000"/>
            <a:ext cx="11343600" cy="0"/>
          </a:xfrm>
          <a:prstGeom prst="line">
            <a:avLst/>
          </a:prstGeom>
          <a:noFill/>
          <a:ln w="6350">
            <a:solidFill>
              <a:srgbClr val="D9D9D9"/>
            </a:solidFill>
            <a:prstDash val="solid"/>
          </a:ln>
        </p:spPr>
      </p:sp>
      <p:sp>
        <p:nvSpPr>
          <p:cNvPr id="92" name="Shape 87"/>
          <p:cNvSpPr/>
          <p:nvPr/>
        </p:nvSpPr>
        <p:spPr>
          <a:xfrm>
            <a:off x="568800" y="6984000"/>
            <a:ext cx="16419600" cy="306000"/>
          </a:xfrm>
          <a:prstGeom prst="roundRect">
            <a:avLst>
              <a:gd name="adj" fmla="val 23906"/>
            </a:avLst>
          </a:prstGeom>
          <a:solidFill>
            <a:srgbClr val="FDBA12"/>
          </a:solidFill>
          <a:ln/>
        </p:spPr>
      </p:sp>
      <p:sp>
        <p:nvSpPr>
          <p:cNvPr id="93" name="Text 88"/>
          <p:cNvSpPr txBox="1"/>
          <p:nvPr/>
        </p:nvSpPr>
        <p:spPr>
          <a:xfrm>
            <a:off x="712800" y="6984000"/>
            <a:ext cx="7200000" cy="306000"/>
          </a:xfrm>
          <a:prstGeom prst="rect">
            <a:avLst/>
          </a:prstGeom>
          <a:noFill/>
          <a:ln/>
        </p:spPr>
        <p:txBody>
          <a:bodyPr wrap="square" lIns="0" tIns="0" rIns="0" bIns="0" rtlCol="0" anchor="ctr"/>
          <a:lstStyle/>
          <a:p>
            <a:pPr indent="0" marL="0">
              <a:buNone/>
            </a:pPr>
            <a:r>
              <a:rPr lang="en-US" sz="1250" b="1" dirty="0">
                <a:solidFill>
                  <a:srgbClr val="000000"/>
                </a:solidFill>
                <a:latin typeface="Century Gothic" pitchFamily="34" charset="0"/>
                <a:ea typeface="Century Gothic" pitchFamily="34" charset="-122"/>
                <a:cs typeface="Century Gothic" pitchFamily="34" charset="-120"/>
              </a:rPr>
              <a:t>Practical notes</a:t>
            </a:r>
            <a:endParaRPr lang="en-US" sz="1250" dirty="0"/>
          </a:p>
        </p:txBody>
      </p:sp>
      <p:sp>
        <p:nvSpPr>
          <p:cNvPr id="94" name="Shape 89"/>
          <p:cNvSpPr/>
          <p:nvPr/>
        </p:nvSpPr>
        <p:spPr>
          <a:xfrm>
            <a:off x="568800" y="7362000"/>
            <a:ext cx="3154320" cy="1584000"/>
          </a:xfrm>
          <a:prstGeom prst="rect">
            <a:avLst/>
          </a:prstGeom>
          <a:solidFill>
            <a:srgbClr val="F2F2F2"/>
          </a:solidFill>
          <a:ln/>
        </p:spPr>
      </p:sp>
      <p:sp>
        <p:nvSpPr>
          <p:cNvPr id="95" name="Shape 90"/>
          <p:cNvSpPr/>
          <p:nvPr/>
        </p:nvSpPr>
        <p:spPr>
          <a:xfrm>
            <a:off x="694800" y="7488000"/>
            <a:ext cx="342000" cy="342000"/>
          </a:xfrm>
          <a:prstGeom prst="rect">
            <a:avLst/>
          </a:prstGeom>
          <a:solidFill>
            <a:srgbClr val="FFFFFF"/>
          </a:solidFill>
          <a:ln/>
        </p:spPr>
      </p:sp>
      <p:pic>
        <p:nvPicPr>
          <p:cNvPr id="96" name="Image 3" descr="/home/user/IM/yellow/gen/icon_MdFlightLand_000000.png">    </p:cNvPr>
          <p:cNvPicPr>
            <a:picLocks noChangeAspect="1"/>
          </p:cNvPicPr>
          <p:nvPr/>
        </p:nvPicPr>
        <p:blipFill>
          <a:blip r:embed="rId4"/>
          <a:stretch>
            <a:fillRect/>
          </a:stretch>
        </p:blipFill>
        <p:spPr>
          <a:xfrm>
            <a:off x="748800" y="7542000"/>
            <a:ext cx="234000" cy="234000"/>
          </a:xfrm>
          <a:prstGeom prst="rect">
            <a:avLst/>
          </a:prstGeom>
        </p:spPr>
      </p:pic>
      <p:sp>
        <p:nvSpPr>
          <p:cNvPr id="97" name="Text 91"/>
          <p:cNvSpPr txBox="1"/>
          <p:nvPr/>
        </p:nvSpPr>
        <p:spPr>
          <a:xfrm>
            <a:off x="1108800" y="7488000"/>
            <a:ext cx="2506320" cy="342000"/>
          </a:xfrm>
          <a:prstGeom prst="rect">
            <a:avLst/>
          </a:prstGeom>
          <a:noFill/>
          <a:ln/>
        </p:spPr>
        <p:txBody>
          <a:bodyPr wrap="square" lIns="0" tIns="0" rIns="0" bIns="0" rtlCol="0" anchor="ctr"/>
          <a:lstStyle/>
          <a:p>
            <a:pPr indent="0" marL="0">
              <a:buNone/>
            </a:pPr>
            <a:r>
              <a:rPr lang="en-US" sz="1100" b="1" dirty="0">
                <a:solidFill>
                  <a:srgbClr val="000000"/>
                </a:solidFill>
                <a:latin typeface="Century Gothic" pitchFamily="34" charset="0"/>
                <a:ea typeface="Century Gothic" pitchFamily="34" charset="-122"/>
                <a:cs typeface="Century Gothic" pitchFamily="34" charset="-120"/>
              </a:rPr>
              <a:t>Flights &amp; transfers</a:t>
            </a:r>
            <a:endParaRPr lang="en-US" sz="1100" dirty="0"/>
          </a:p>
        </p:txBody>
      </p:sp>
      <p:sp>
        <p:nvSpPr>
          <p:cNvPr id="98" name="Text 92"/>
          <p:cNvSpPr txBox="1"/>
          <p:nvPr/>
        </p:nvSpPr>
        <p:spPr>
          <a:xfrm>
            <a:off x="694800" y="7902000"/>
            <a:ext cx="2902320" cy="990000"/>
          </a:xfrm>
          <a:prstGeom prst="rect">
            <a:avLst/>
          </a:prstGeom>
          <a:noFill/>
          <a:ln/>
        </p:spPr>
        <p:txBody>
          <a:bodyPr wrap="square" lIns="0" tIns="0" rIns="0" bIns="0" rtlCol="0" anchor="t"/>
          <a:lstStyle/>
          <a:p>
            <a:pPr indent="0" marL="0">
              <a:lnSpc>
                <a:spcPct val="108000"/>
              </a:lnSpc>
              <a:buNone/>
            </a:pPr>
            <a:r>
              <a:rPr lang="en-US" sz="900" dirty="0">
                <a:solidFill>
                  <a:srgbClr val="1B1B1B"/>
                </a:solidFill>
                <a:latin typeface="Century Gothic" pitchFamily="34" charset="0"/>
                <a:ea typeface="Century Gothic" pitchFamily="34" charset="-122"/>
                <a:cs typeface="Century Gothic" pitchFamily="34" charset="-120"/>
              </a:rPr>
              <a:t>Terminal BTG Pactual is a private terminal beside T3: you are met at the aircraft, immigration, customs and luggage are handled privately, and your driver waits at its exit. Private legs: passport at FBO check-in, arrive ~30 min before wheels-up, soft luggage [limit — TBC].</a:t>
            </a:r>
            <a:endParaRPr lang="en-US" sz="900" dirty="0"/>
          </a:p>
        </p:txBody>
      </p:sp>
      <p:sp>
        <p:nvSpPr>
          <p:cNvPr id="99" name="Shape 93"/>
          <p:cNvSpPr/>
          <p:nvPr/>
        </p:nvSpPr>
        <p:spPr>
          <a:xfrm>
            <a:off x="3885120" y="7362000"/>
            <a:ext cx="3154320" cy="1584000"/>
          </a:xfrm>
          <a:prstGeom prst="rect">
            <a:avLst/>
          </a:prstGeom>
          <a:solidFill>
            <a:srgbClr val="F2F2F2"/>
          </a:solidFill>
          <a:ln/>
        </p:spPr>
      </p:sp>
      <p:sp>
        <p:nvSpPr>
          <p:cNvPr id="100" name="Shape 94"/>
          <p:cNvSpPr/>
          <p:nvPr/>
        </p:nvSpPr>
        <p:spPr>
          <a:xfrm>
            <a:off x="4011120" y="7488000"/>
            <a:ext cx="342000" cy="342000"/>
          </a:xfrm>
          <a:prstGeom prst="rect">
            <a:avLst/>
          </a:prstGeom>
          <a:solidFill>
            <a:srgbClr val="FFFFFF"/>
          </a:solidFill>
          <a:ln/>
        </p:spPr>
      </p:sp>
      <p:pic>
        <p:nvPicPr>
          <p:cNvPr id="101" name="Image 4" descr="/home/user/IM/yellow/gen/icon_FiEyeOff_000000.png">    </p:cNvPr>
          <p:cNvPicPr>
            <a:picLocks noChangeAspect="1"/>
          </p:cNvPicPr>
          <p:nvPr/>
        </p:nvPicPr>
        <p:blipFill>
          <a:blip r:embed="rId5"/>
          <a:stretch>
            <a:fillRect/>
          </a:stretch>
        </p:blipFill>
        <p:spPr>
          <a:xfrm>
            <a:off x="4065120" y="7542000"/>
            <a:ext cx="234000" cy="234000"/>
          </a:xfrm>
          <a:prstGeom prst="rect">
            <a:avLst/>
          </a:prstGeom>
        </p:spPr>
      </p:pic>
      <p:sp>
        <p:nvSpPr>
          <p:cNvPr id="102" name="Text 95"/>
          <p:cNvSpPr txBox="1"/>
          <p:nvPr/>
        </p:nvSpPr>
        <p:spPr>
          <a:xfrm>
            <a:off x="4425120" y="7488000"/>
            <a:ext cx="2506320" cy="342000"/>
          </a:xfrm>
          <a:prstGeom prst="rect">
            <a:avLst/>
          </a:prstGeom>
          <a:noFill/>
          <a:ln/>
        </p:spPr>
        <p:txBody>
          <a:bodyPr wrap="square" lIns="0" tIns="0" rIns="0" bIns="0" rtlCol="0" anchor="ctr"/>
          <a:lstStyle/>
          <a:p>
            <a:pPr indent="0" marL="0">
              <a:buNone/>
            </a:pPr>
            <a:r>
              <a:rPr lang="en-US" sz="1100" b="1" dirty="0">
                <a:solidFill>
                  <a:srgbClr val="000000"/>
                </a:solidFill>
                <a:latin typeface="Century Gothic" pitchFamily="34" charset="0"/>
                <a:ea typeface="Century Gothic" pitchFamily="34" charset="-122"/>
                <a:cs typeface="Century Gothic" pitchFamily="34" charset="-120"/>
              </a:rPr>
              <a:t>Confidentiality &amp; conduct</a:t>
            </a:r>
            <a:endParaRPr lang="en-US" sz="1100" dirty="0"/>
          </a:p>
        </p:txBody>
      </p:sp>
      <p:sp>
        <p:nvSpPr>
          <p:cNvPr id="103" name="Text 96"/>
          <p:cNvSpPr txBox="1"/>
          <p:nvPr/>
        </p:nvSpPr>
        <p:spPr>
          <a:xfrm>
            <a:off x="4011120" y="7902000"/>
            <a:ext cx="2902320" cy="990000"/>
          </a:xfrm>
          <a:prstGeom prst="rect">
            <a:avLst/>
          </a:prstGeom>
          <a:noFill/>
          <a:ln/>
        </p:spPr>
        <p:txBody>
          <a:bodyPr wrap="square" lIns="0" tIns="0" rIns="0" bIns="0" rtlCol="0" anchor="t"/>
          <a:lstStyle/>
          <a:p>
            <a:pPr indent="0" marL="0">
              <a:lnSpc>
                <a:spcPct val="108000"/>
              </a:lnSpc>
              <a:buNone/>
            </a:pPr>
            <a:r>
              <a:rPr lang="en-US" sz="900" dirty="0">
                <a:solidFill>
                  <a:srgbClr val="1B1B1B"/>
                </a:solidFill>
                <a:latin typeface="Century Gothic" pitchFamily="34" charset="0"/>
                <a:ea typeface="Century Gothic" pitchFamily="34" charset="-122"/>
                <a:cs typeface="Century Gothic" pitchFamily="34" charset="-120"/>
              </a:rPr>
              <a:t>Refer to the process only as “Project Yellow”. Most Tracbel employees are unaware of it: on site you will be introduced as [agreed narrative — TBC]; first names only, no business cards on the shop floor, deal topics only in closed sessions. No photos or recordings without permission.</a:t>
            </a:r>
            <a:endParaRPr lang="en-US" sz="900" dirty="0"/>
          </a:p>
        </p:txBody>
      </p:sp>
      <p:sp>
        <p:nvSpPr>
          <p:cNvPr id="104" name="Shape 97"/>
          <p:cNvSpPr/>
          <p:nvPr/>
        </p:nvSpPr>
        <p:spPr>
          <a:xfrm>
            <a:off x="7201440" y="7362000"/>
            <a:ext cx="3154320" cy="1584000"/>
          </a:xfrm>
          <a:prstGeom prst="rect">
            <a:avLst/>
          </a:prstGeom>
          <a:solidFill>
            <a:srgbClr val="F2F2F2"/>
          </a:solidFill>
          <a:ln/>
        </p:spPr>
      </p:sp>
      <p:sp>
        <p:nvSpPr>
          <p:cNvPr id="105" name="Shape 98"/>
          <p:cNvSpPr/>
          <p:nvPr/>
        </p:nvSpPr>
        <p:spPr>
          <a:xfrm>
            <a:off x="7327440" y="7488000"/>
            <a:ext cx="342000" cy="342000"/>
          </a:xfrm>
          <a:prstGeom prst="rect">
            <a:avLst/>
          </a:prstGeom>
          <a:solidFill>
            <a:srgbClr val="FFFFFF"/>
          </a:solidFill>
          <a:ln/>
        </p:spPr>
      </p:sp>
      <p:pic>
        <p:nvPicPr>
          <p:cNvPr id="106" name="Image 5" descr="/home/user/IM/yellow/gen/icon_MdOutlineHealthAndSafety_000000.png">    </p:cNvPr>
          <p:cNvPicPr>
            <a:picLocks noChangeAspect="1"/>
          </p:cNvPicPr>
          <p:nvPr/>
        </p:nvPicPr>
        <p:blipFill>
          <a:blip r:embed="rId6"/>
          <a:stretch>
            <a:fillRect/>
          </a:stretch>
        </p:blipFill>
        <p:spPr>
          <a:xfrm>
            <a:off x="7381440" y="7542000"/>
            <a:ext cx="234000" cy="234000"/>
          </a:xfrm>
          <a:prstGeom prst="rect">
            <a:avLst/>
          </a:prstGeom>
        </p:spPr>
      </p:pic>
      <p:sp>
        <p:nvSpPr>
          <p:cNvPr id="107" name="Text 99"/>
          <p:cNvSpPr txBox="1"/>
          <p:nvPr/>
        </p:nvSpPr>
        <p:spPr>
          <a:xfrm>
            <a:off x="7741440" y="7488000"/>
            <a:ext cx="2506320" cy="342000"/>
          </a:xfrm>
          <a:prstGeom prst="rect">
            <a:avLst/>
          </a:prstGeom>
          <a:noFill/>
          <a:ln/>
        </p:spPr>
        <p:txBody>
          <a:bodyPr wrap="square" lIns="0" tIns="0" rIns="0" bIns="0" rtlCol="0" anchor="ctr"/>
          <a:lstStyle/>
          <a:p>
            <a:pPr indent="0" marL="0">
              <a:buNone/>
            </a:pPr>
            <a:r>
              <a:rPr lang="en-US" sz="1100" b="1" dirty="0">
                <a:solidFill>
                  <a:srgbClr val="000000"/>
                </a:solidFill>
                <a:latin typeface="Century Gothic" pitchFamily="34" charset="0"/>
                <a:ea typeface="Century Gothic" pitchFamily="34" charset="-122"/>
                <a:cs typeface="Century Gothic" pitchFamily="34" charset="-120"/>
              </a:rPr>
              <a:t>Dress code &amp; safety</a:t>
            </a:r>
            <a:endParaRPr lang="en-US" sz="1100" dirty="0"/>
          </a:p>
        </p:txBody>
      </p:sp>
      <p:sp>
        <p:nvSpPr>
          <p:cNvPr id="108" name="Text 100"/>
          <p:cNvSpPr txBox="1"/>
          <p:nvPr/>
        </p:nvSpPr>
        <p:spPr>
          <a:xfrm>
            <a:off x="7327440" y="7902000"/>
            <a:ext cx="2902320" cy="990000"/>
          </a:xfrm>
          <a:prstGeom prst="rect">
            <a:avLst/>
          </a:prstGeom>
          <a:noFill/>
          <a:ln/>
        </p:spPr>
        <p:txBody>
          <a:bodyPr wrap="square" lIns="0" tIns="0" rIns="0" bIns="0" rtlCol="0" anchor="t"/>
          <a:lstStyle/>
          <a:p>
            <a:pPr indent="0" marL="0">
              <a:lnSpc>
                <a:spcPct val="108000"/>
              </a:lnSpc>
              <a:buNone/>
            </a:pPr>
            <a:r>
              <a:rPr lang="en-US" sz="900" dirty="0">
                <a:solidFill>
                  <a:srgbClr val="1B1B1B"/>
                </a:solidFill>
                <a:latin typeface="Century Gothic" pitchFamily="34" charset="0"/>
                <a:ea typeface="Century Gothic" pitchFamily="34" charset="-122"/>
                <a:cs typeface="Century Gothic" pitchFamily="34" charset="-120"/>
              </a:rPr>
              <a:t>Business casual for management sessions (jacket, no tie needed). Workshops and yards: long trousers and closed, sturdy shoes — Tracbel provides high-visibility vests, safety glasses and hearing protection, with a short safety briefing on arrival.</a:t>
            </a:r>
            <a:endParaRPr lang="en-US" sz="900" dirty="0"/>
          </a:p>
        </p:txBody>
      </p:sp>
      <p:sp>
        <p:nvSpPr>
          <p:cNvPr id="109" name="Shape 101"/>
          <p:cNvSpPr/>
          <p:nvPr/>
        </p:nvSpPr>
        <p:spPr>
          <a:xfrm>
            <a:off x="10517760" y="7362000"/>
            <a:ext cx="3154320" cy="1584000"/>
          </a:xfrm>
          <a:prstGeom prst="rect">
            <a:avLst/>
          </a:prstGeom>
          <a:solidFill>
            <a:srgbClr val="F2F2F2"/>
          </a:solidFill>
          <a:ln/>
        </p:spPr>
      </p:sp>
      <p:sp>
        <p:nvSpPr>
          <p:cNvPr id="110" name="Shape 102"/>
          <p:cNvSpPr/>
          <p:nvPr/>
        </p:nvSpPr>
        <p:spPr>
          <a:xfrm>
            <a:off x="10643760" y="7488000"/>
            <a:ext cx="342000" cy="342000"/>
          </a:xfrm>
          <a:prstGeom prst="rect">
            <a:avLst/>
          </a:prstGeom>
          <a:solidFill>
            <a:srgbClr val="FFFFFF"/>
          </a:solidFill>
          <a:ln/>
        </p:spPr>
      </p:sp>
      <p:pic>
        <p:nvPicPr>
          <p:cNvPr id="111" name="Image 6" descr="/home/user/IM/yellow/gen/icon_FiSun_000000.png">    </p:cNvPr>
          <p:cNvPicPr>
            <a:picLocks noChangeAspect="1"/>
          </p:cNvPicPr>
          <p:nvPr/>
        </p:nvPicPr>
        <p:blipFill>
          <a:blip r:embed="rId7"/>
          <a:stretch>
            <a:fillRect/>
          </a:stretch>
        </p:blipFill>
        <p:spPr>
          <a:xfrm>
            <a:off x="10697760" y="7542000"/>
            <a:ext cx="234000" cy="234000"/>
          </a:xfrm>
          <a:prstGeom prst="rect">
            <a:avLst/>
          </a:prstGeom>
        </p:spPr>
      </p:pic>
      <p:sp>
        <p:nvSpPr>
          <p:cNvPr id="112" name="Text 103"/>
          <p:cNvSpPr txBox="1"/>
          <p:nvPr/>
        </p:nvSpPr>
        <p:spPr>
          <a:xfrm>
            <a:off x="11057760" y="7488000"/>
            <a:ext cx="2506320" cy="342000"/>
          </a:xfrm>
          <a:prstGeom prst="rect">
            <a:avLst/>
          </a:prstGeom>
          <a:noFill/>
          <a:ln/>
        </p:spPr>
        <p:txBody>
          <a:bodyPr wrap="square" lIns="0" tIns="0" rIns="0" bIns="0" rtlCol="0" anchor="ctr"/>
          <a:lstStyle/>
          <a:p>
            <a:pPr indent="0" marL="0">
              <a:buNone/>
            </a:pPr>
            <a:r>
              <a:rPr lang="en-US" sz="1100" b="1" dirty="0">
                <a:solidFill>
                  <a:srgbClr val="000000"/>
                </a:solidFill>
                <a:latin typeface="Century Gothic" pitchFamily="34" charset="0"/>
                <a:ea typeface="Century Gothic" pitchFamily="34" charset="-122"/>
                <a:cs typeface="Century Gothic" pitchFamily="34" charset="-120"/>
              </a:rPr>
              <a:t>Weather, time &amp; health</a:t>
            </a:r>
            <a:endParaRPr lang="en-US" sz="1100" dirty="0"/>
          </a:p>
        </p:txBody>
      </p:sp>
      <p:sp>
        <p:nvSpPr>
          <p:cNvPr id="113" name="Text 104"/>
          <p:cNvSpPr txBox="1"/>
          <p:nvPr/>
        </p:nvSpPr>
        <p:spPr>
          <a:xfrm>
            <a:off x="10643760" y="7902000"/>
            <a:ext cx="2902320" cy="990000"/>
          </a:xfrm>
          <a:prstGeom prst="rect">
            <a:avLst/>
          </a:prstGeom>
          <a:noFill/>
          <a:ln/>
        </p:spPr>
        <p:txBody>
          <a:bodyPr wrap="square" lIns="0" tIns="0" rIns="0" bIns="0" rtlCol="0" anchor="t"/>
          <a:lstStyle/>
          <a:p>
            <a:pPr indent="0" marL="0">
              <a:lnSpc>
                <a:spcPct val="108000"/>
              </a:lnSpc>
              <a:buNone/>
            </a:pPr>
            <a:r>
              <a:rPr lang="en-US" sz="900" dirty="0">
                <a:solidFill>
                  <a:srgbClr val="1B1B1B"/>
                </a:solidFill>
                <a:latin typeface="Century Gothic" pitchFamily="34" charset="0"/>
                <a:ea typeface="Century Gothic" pitchFamily="34" charset="-122"/>
                <a:cs typeface="Century Gothic" pitchFamily="34" charset="-120"/>
              </a:rPr>
              <a:t>Spring: São Paulo 15–26 °C (showers possible), Belo Horizonte 17–29 °C (dry), Curitiba 11–23 °C (cool, rainy) — pack a jacket and umbrella. Brazil is 5 h behind Zürich (UTC−3). No vaccination is required for entry; CDC/WHO recommend yellow-fever vaccination for these states — ask your travel clinic.</a:t>
            </a:r>
            <a:endParaRPr lang="en-US" sz="900" dirty="0"/>
          </a:p>
        </p:txBody>
      </p:sp>
      <p:sp>
        <p:nvSpPr>
          <p:cNvPr id="114" name="Shape 105"/>
          <p:cNvSpPr/>
          <p:nvPr/>
        </p:nvSpPr>
        <p:spPr>
          <a:xfrm>
            <a:off x="13834080" y="7362000"/>
            <a:ext cx="3154320" cy="1584000"/>
          </a:xfrm>
          <a:prstGeom prst="rect">
            <a:avLst/>
          </a:prstGeom>
          <a:solidFill>
            <a:srgbClr val="F2F2F2"/>
          </a:solidFill>
          <a:ln/>
        </p:spPr>
      </p:sp>
      <p:sp>
        <p:nvSpPr>
          <p:cNvPr id="115" name="Shape 106"/>
          <p:cNvSpPr/>
          <p:nvPr/>
        </p:nvSpPr>
        <p:spPr>
          <a:xfrm>
            <a:off x="13960080" y="7488000"/>
            <a:ext cx="342000" cy="342000"/>
          </a:xfrm>
          <a:prstGeom prst="rect">
            <a:avLst/>
          </a:prstGeom>
          <a:solidFill>
            <a:srgbClr val="FFFFFF"/>
          </a:solidFill>
          <a:ln/>
        </p:spPr>
      </p:sp>
      <p:pic>
        <p:nvPicPr>
          <p:cNvPr id="116" name="Image 7" descr="/home/user/IM/yellow/gen/icon_MdOutlinePower_000000.png">    </p:cNvPr>
          <p:cNvPicPr>
            <a:picLocks noChangeAspect="1"/>
          </p:cNvPicPr>
          <p:nvPr/>
        </p:nvPicPr>
        <p:blipFill>
          <a:blip r:embed="rId8"/>
          <a:stretch>
            <a:fillRect/>
          </a:stretch>
        </p:blipFill>
        <p:spPr>
          <a:xfrm>
            <a:off x="14014080" y="7542000"/>
            <a:ext cx="234000" cy="234000"/>
          </a:xfrm>
          <a:prstGeom prst="rect">
            <a:avLst/>
          </a:prstGeom>
        </p:spPr>
      </p:pic>
      <p:sp>
        <p:nvSpPr>
          <p:cNvPr id="117" name="Text 107"/>
          <p:cNvSpPr txBox="1"/>
          <p:nvPr/>
        </p:nvSpPr>
        <p:spPr>
          <a:xfrm>
            <a:off x="14374080" y="7488000"/>
            <a:ext cx="2506320" cy="342000"/>
          </a:xfrm>
          <a:prstGeom prst="rect">
            <a:avLst/>
          </a:prstGeom>
          <a:noFill/>
          <a:ln/>
        </p:spPr>
        <p:txBody>
          <a:bodyPr wrap="square" lIns="0" tIns="0" rIns="0" bIns="0" rtlCol="0" anchor="ctr"/>
          <a:lstStyle/>
          <a:p>
            <a:pPr indent="0" marL="0">
              <a:buNone/>
            </a:pPr>
            <a:r>
              <a:rPr lang="en-US" sz="1100" b="1" dirty="0">
                <a:solidFill>
                  <a:srgbClr val="000000"/>
                </a:solidFill>
                <a:latin typeface="Century Gothic" pitchFamily="34" charset="0"/>
                <a:ea typeface="Century Gothic" pitchFamily="34" charset="-122"/>
                <a:cs typeface="Century Gothic" pitchFamily="34" charset="-120"/>
              </a:rPr>
              <a:t>Money, power &amp; connectivity</a:t>
            </a:r>
            <a:endParaRPr lang="en-US" sz="1100" dirty="0"/>
          </a:p>
        </p:txBody>
      </p:sp>
      <p:sp>
        <p:nvSpPr>
          <p:cNvPr id="118" name="Text 108"/>
          <p:cNvSpPr txBox="1"/>
          <p:nvPr/>
        </p:nvSpPr>
        <p:spPr>
          <a:xfrm>
            <a:off x="13960080" y="7902000"/>
            <a:ext cx="2902320" cy="990000"/>
          </a:xfrm>
          <a:prstGeom prst="rect">
            <a:avLst/>
          </a:prstGeom>
          <a:noFill/>
          <a:ln/>
        </p:spPr>
        <p:txBody>
          <a:bodyPr wrap="square" lIns="0" tIns="0" rIns="0" bIns="0" rtlCol="0" anchor="t"/>
          <a:lstStyle/>
          <a:p>
            <a:pPr indent="0" marL="0">
              <a:lnSpc>
                <a:spcPct val="108000"/>
              </a:lnSpc>
              <a:buNone/>
            </a:pPr>
            <a:r>
              <a:rPr lang="en-US" sz="900" dirty="0">
                <a:solidFill>
                  <a:srgbClr val="1B1B1B"/>
                </a:solidFill>
                <a:latin typeface="Century Gothic" pitchFamily="34" charset="0"/>
                <a:ea typeface="Century Gothic" pitchFamily="34" charset="-122"/>
                <a:cs typeface="Century Gothic" pitchFamily="34" charset="-120"/>
              </a:rPr>
              <a:t>Currency BRL; cards and contactless work almost everywhere; restaurants add a 10% service charge — no further tip expected. Sockets 127 V (some 220 V), type N: Europlugs fit, Swiss 3-pin and Schuko plugs need an adapter. EU roaming or a travel eSIM works well. Portuguese on site — IGC will interpret.</a:t>
            </a:r>
            <a:endParaRPr lang="en-US" sz="900" dirty="0"/>
          </a:p>
        </p:txBody>
      </p:sp>
      <p:sp>
        <p:nvSpPr>
          <p:cNvPr id="119" name="Shape 109"/>
          <p:cNvSpPr/>
          <p:nvPr/>
        </p:nvSpPr>
        <p:spPr>
          <a:xfrm>
            <a:off x="0" y="9000000"/>
            <a:ext cx="17557200" cy="874800"/>
          </a:xfrm>
          <a:prstGeom prst="rect">
            <a:avLst/>
          </a:prstGeom>
          <a:solidFill>
            <a:srgbClr val="000000"/>
          </a:solidFill>
          <a:ln/>
        </p:spPr>
      </p:sp>
      <p:pic>
        <p:nvPicPr>
          <p:cNvPr id="120" name="Image 8" descr="/home/user/IM/yellow/assets/igc_white.png">    </p:cNvPr>
          <p:cNvPicPr>
            <a:picLocks noChangeAspect="1"/>
          </p:cNvPicPr>
          <p:nvPr/>
        </p:nvPicPr>
        <p:blipFill>
          <a:blip r:embed="rId9"/>
          <a:stretch>
            <a:fillRect/>
          </a:stretch>
        </p:blipFill>
        <p:spPr>
          <a:xfrm>
            <a:off x="568800" y="9223200"/>
            <a:ext cx="499904" cy="432000"/>
          </a:xfrm>
          <a:prstGeom prst="rect">
            <a:avLst/>
          </a:prstGeom>
        </p:spPr>
      </p:pic>
      <p:sp>
        <p:nvSpPr>
          <p:cNvPr id="121" name="Text 110"/>
          <p:cNvSpPr txBox="1"/>
          <p:nvPr/>
        </p:nvSpPr>
        <p:spPr>
          <a:xfrm>
            <a:off x="1504800" y="9108000"/>
            <a:ext cx="1080000" cy="144000"/>
          </a:xfrm>
          <a:prstGeom prst="rect">
            <a:avLst/>
          </a:prstGeom>
          <a:noFill/>
          <a:ln/>
        </p:spPr>
        <p:txBody>
          <a:bodyPr wrap="square" lIns="0" tIns="0" rIns="0" bIns="0" rtlCol="0" anchor="ctr"/>
          <a:lstStyle/>
          <a:p>
            <a:pPr indent="0" marL="0">
              <a:buNone/>
            </a:pPr>
            <a:r>
              <a:rPr lang="en-US" sz="800" b="1" spc="120" kern="0" dirty="0">
                <a:solidFill>
                  <a:srgbClr val="FDBA12"/>
                </a:solidFill>
                <a:latin typeface="Century Gothic" pitchFamily="34" charset="0"/>
                <a:ea typeface="Century Gothic" pitchFamily="34" charset="-122"/>
                <a:cs typeface="Century Gothic" pitchFamily="34" charset="-120"/>
              </a:rPr>
              <a:t>CONTACTS</a:t>
            </a:r>
            <a:endParaRPr lang="en-US" sz="800" dirty="0"/>
          </a:p>
        </p:txBody>
      </p:sp>
      <p:sp>
        <p:nvSpPr>
          <p:cNvPr id="122" name="Text 111"/>
          <p:cNvSpPr txBox="1"/>
          <p:nvPr/>
        </p:nvSpPr>
        <p:spPr>
          <a:xfrm>
            <a:off x="1504800" y="9252000"/>
            <a:ext cx="4858800" cy="162000"/>
          </a:xfrm>
          <a:prstGeom prst="rect">
            <a:avLst/>
          </a:prstGeom>
          <a:noFill/>
          <a:ln/>
        </p:spPr>
        <p:txBody>
          <a:bodyPr wrap="square" lIns="0" tIns="0" rIns="0" bIns="0" rtlCol="0" anchor="ct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Bruno Iervolino  ·  IGC Partners</a:t>
            </a:r>
            <a:endParaRPr lang="en-US" sz="950" dirty="0"/>
          </a:p>
        </p:txBody>
      </p:sp>
      <p:sp>
        <p:nvSpPr>
          <p:cNvPr id="123" name="Text 112"/>
          <p:cNvSpPr txBox="1"/>
          <p:nvPr/>
        </p:nvSpPr>
        <p:spPr>
          <a:xfrm>
            <a:off x="1504800" y="9403200"/>
            <a:ext cx="4858800" cy="151200"/>
          </a:xfrm>
          <a:prstGeom prst="rect">
            <a:avLst/>
          </a:prstGeom>
          <a:noFill/>
          <a:ln/>
        </p:spPr>
        <p:txBody>
          <a:bodyPr wrap="square" lIns="0" tIns="0" rIns="0" bIns="0" rtlCol="0" anchor="ctr"/>
          <a:lstStyle/>
          <a:p>
            <a:pPr indent="0" marL="0">
              <a:buNone/>
            </a:pPr>
            <a:r>
              <a:rPr lang="en-US" sz="850" dirty="0">
                <a:solidFill>
                  <a:srgbClr val="B1B3B5"/>
                </a:solidFill>
                <a:latin typeface="Century Gothic" pitchFamily="34" charset="0"/>
                <a:ea typeface="Century Gothic" pitchFamily="34" charset="-122"/>
                <a:cs typeface="Century Gothic" pitchFamily="34" charset="-120"/>
              </a:rPr>
              <a:t>+55 11 3815-3533   ·   bruno.iervolino@igcp.com.br</a:t>
            </a:r>
            <a:endParaRPr lang="en-US" sz="850" dirty="0"/>
          </a:p>
        </p:txBody>
      </p:sp>
      <p:sp>
        <p:nvSpPr>
          <p:cNvPr id="124" name="Text 113"/>
          <p:cNvSpPr txBox="1"/>
          <p:nvPr/>
        </p:nvSpPr>
        <p:spPr>
          <a:xfrm>
            <a:off x="6471600" y="9252000"/>
            <a:ext cx="4858800" cy="162000"/>
          </a:xfrm>
          <a:prstGeom prst="rect">
            <a:avLst/>
          </a:prstGeom>
          <a:noFill/>
          <a:ln/>
        </p:spPr>
        <p:txBody>
          <a:bodyPr wrap="square" lIns="0" tIns="0" rIns="0" bIns="0" rtlCol="0" anchor="ct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Luca Francini  ·  IGC Partners (logistics)</a:t>
            </a:r>
            <a:endParaRPr lang="en-US" sz="950" dirty="0"/>
          </a:p>
        </p:txBody>
      </p:sp>
      <p:sp>
        <p:nvSpPr>
          <p:cNvPr id="125" name="Text 114"/>
          <p:cNvSpPr txBox="1"/>
          <p:nvPr/>
        </p:nvSpPr>
        <p:spPr>
          <a:xfrm>
            <a:off x="6471600" y="9403200"/>
            <a:ext cx="4858800" cy="151200"/>
          </a:xfrm>
          <a:prstGeom prst="rect">
            <a:avLst/>
          </a:prstGeom>
          <a:noFill/>
          <a:ln/>
        </p:spPr>
        <p:txBody>
          <a:bodyPr wrap="square" lIns="0" tIns="0" rIns="0" bIns="0" rtlCol="0" anchor="ctr"/>
          <a:lstStyle/>
          <a:p>
            <a:pPr indent="0" marL="0">
              <a:buNone/>
            </a:pPr>
            <a:r>
              <a:rPr lang="en-US" sz="850" dirty="0">
                <a:solidFill>
                  <a:srgbClr val="B1B3B5"/>
                </a:solidFill>
                <a:latin typeface="Century Gothic" pitchFamily="34" charset="0"/>
                <a:ea typeface="Century Gothic" pitchFamily="34" charset="-122"/>
                <a:cs typeface="Century Gothic" pitchFamily="34" charset="-120"/>
              </a:rPr>
              <a:t>[mobile — TBC]   ·   luca.francini@igcp.com.br</a:t>
            </a:r>
            <a:endParaRPr lang="en-US" sz="850" dirty="0"/>
          </a:p>
        </p:txBody>
      </p:sp>
      <p:sp>
        <p:nvSpPr>
          <p:cNvPr id="126" name="Text 115"/>
          <p:cNvSpPr txBox="1"/>
          <p:nvPr/>
        </p:nvSpPr>
        <p:spPr>
          <a:xfrm>
            <a:off x="11438400" y="9252000"/>
            <a:ext cx="4858800" cy="162000"/>
          </a:xfrm>
          <a:prstGeom prst="rect">
            <a:avLst/>
          </a:prstGeom>
          <a:noFill/>
          <a:ln/>
        </p:spPr>
        <p:txBody>
          <a:bodyPr wrap="square" lIns="0" tIns="0" rIns="0" bIns="0" rtlCol="0" anchor="ctr"/>
          <a:lstStyle/>
          <a:p>
            <a:pPr indent="0" marL="0">
              <a:buNone/>
            </a:pPr>
            <a:r>
              <a:rPr lang="en-US" sz="950" b="1" dirty="0">
                <a:solidFill>
                  <a:srgbClr val="FFFFFF"/>
                </a:solidFill>
                <a:latin typeface="Century Gothic" pitchFamily="34" charset="0"/>
                <a:ea typeface="Century Gothic" pitchFamily="34" charset="-122"/>
                <a:cs typeface="Century Gothic" pitchFamily="34" charset="-120"/>
              </a:rPr>
              <a:t>Luiz Gustavo Rocha  ·  Tracbel</a:t>
            </a:r>
            <a:endParaRPr lang="en-US" sz="950" dirty="0"/>
          </a:p>
        </p:txBody>
      </p:sp>
      <p:sp>
        <p:nvSpPr>
          <p:cNvPr id="127" name="Text 116"/>
          <p:cNvSpPr txBox="1"/>
          <p:nvPr/>
        </p:nvSpPr>
        <p:spPr>
          <a:xfrm>
            <a:off x="11438400" y="9403200"/>
            <a:ext cx="4858800" cy="151200"/>
          </a:xfrm>
          <a:prstGeom prst="rect">
            <a:avLst/>
          </a:prstGeom>
          <a:noFill/>
          <a:ln/>
        </p:spPr>
        <p:txBody>
          <a:bodyPr wrap="square" lIns="0" tIns="0" rIns="0" bIns="0" rtlCol="0" anchor="ctr"/>
          <a:lstStyle/>
          <a:p>
            <a:pPr indent="0" marL="0">
              <a:buNone/>
            </a:pPr>
            <a:r>
              <a:rPr lang="en-US" sz="850" dirty="0">
                <a:solidFill>
                  <a:srgbClr val="B1B3B5"/>
                </a:solidFill>
                <a:latin typeface="Century Gothic" pitchFamily="34" charset="0"/>
                <a:ea typeface="Century Gothic" pitchFamily="34" charset="-122"/>
                <a:cs typeface="Century Gothic" pitchFamily="34" charset="-120"/>
              </a:rPr>
              <a:t>[mobile — TBC]   ·   Emergency: ambulance 192  ·  police 190</a:t>
            </a:r>
            <a:endParaRPr lang="en-US" sz="850" dirty="0"/>
          </a:p>
        </p:txBody>
      </p:sp>
      <p:sp>
        <p:nvSpPr>
          <p:cNvPr id="128" name="Text 117"/>
          <p:cNvSpPr txBox="1"/>
          <p:nvPr/>
        </p:nvSpPr>
        <p:spPr>
          <a:xfrm>
            <a:off x="1504800" y="9612000"/>
            <a:ext cx="14400000" cy="162000"/>
          </a:xfrm>
          <a:prstGeom prst="rect">
            <a:avLst/>
          </a:prstGeom>
          <a:noFill/>
          <a:ln/>
        </p:spPr>
        <p:txBody>
          <a:bodyPr wrap="square" lIns="0" tIns="0" rIns="0" bIns="0" rtlCol="0" anchor="ctr"/>
          <a:lstStyle/>
          <a:p>
            <a:pPr indent="0" marL="0">
              <a:buNone/>
            </a:pPr>
            <a:r>
              <a:rPr lang="en-US" sz="800" dirty="0">
                <a:solidFill>
                  <a:srgbClr val="8A8C8E"/>
                </a:solidFill>
                <a:latin typeface="Century Gothic" pitchFamily="34" charset="0"/>
                <a:ea typeface="Century Gothic" pitchFamily="34" charset="-122"/>
                <a:cs typeface="Century Gothic" pitchFamily="34" charset="-120"/>
              </a:rPr>
              <a:t>Strictly private and confidential  ·  Programme as of 4 September 2026 — items in [brackets] to be confirmed  ·  Prepared by IGC Partners</a:t>
            </a:r>
            <a:endParaRPr lang="en-US" sz="800" dirty="0"/>
          </a:p>
        </p:txBody>
      </p:sp>
      <p:sp>
        <p:nvSpPr>
          <p:cNvPr id="129" name="Text 118"/>
          <p:cNvSpPr txBox="1"/>
          <p:nvPr/>
        </p:nvSpPr>
        <p:spPr>
          <a:xfrm>
            <a:off x="16923600" y="9347400"/>
            <a:ext cx="324000" cy="183600"/>
          </a:xfrm>
          <a:prstGeom prst="rect">
            <a:avLst/>
          </a:prstGeom>
          <a:noFill/>
          <a:ln/>
        </p:spPr>
        <p:txBody>
          <a:bodyPr wrap="square" lIns="0" tIns="0" rIns="0" bIns="0" rtlCol="0" anchor="ctr"/>
          <a:lstStyle/>
          <a:p>
            <a:pPr algn="r" indent="0" marL="0">
              <a:buNone/>
            </a:pPr>
            <a:r>
              <a:rPr lang="en-US" sz="1200" dirty="0">
                <a:solidFill>
                  <a:srgbClr val="FFFFFF"/>
                </a:solidFill>
                <a:latin typeface="Century Gothic" pitchFamily="34" charset="0"/>
                <a:ea typeface="Century Gothic" pitchFamily="34" charset="-122"/>
                <a:cs typeface="Century Gothic" pitchFamily="34" charset="-120"/>
              </a:rPr>
              <a:t>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IGC Partners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Yellow — Management Meeting &amp; Site Visits · Invitation and Practical Guide</dc:title>
  <dc:subject>PptxGenJS Presentation</dc:subject>
  <dc:creator>IGC Partners</dc:creator>
  <cp:lastModifiedBy>IGC Partners</cp:lastModifiedBy>
  <cp:revision>1</cp:revision>
  <dcterms:created xsi:type="dcterms:W3CDTF">2026-09-04T11:26:01Z</dcterms:created>
  <dcterms:modified xsi:type="dcterms:W3CDTF">2026-09-04T11:26:01Z</dcterms:modified>
</cp:coreProperties>
</file>
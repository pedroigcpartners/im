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7557200" cy="9874800"/>
  <p:notesSz cx="9874800" cy="17557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IM/yellow/gen/hatch_g_3391x98.png">    </p:cNvPr>
          <p:cNvPicPr>
            <a:picLocks noChangeAspect="1"/>
          </p:cNvPicPr>
          <p:nvPr/>
        </p:nvPicPr>
        <p:blipFill>
          <a:blip r:embed="rId1"/>
          <a:stretch>
            <a:fillRect/>
          </a:stretch>
        </p:blipFill>
        <p:spPr>
          <a:xfrm>
            <a:off x="0" y="0"/>
            <a:ext cx="15501600" cy="450000"/>
          </a:xfrm>
          <a:prstGeom prst="rect">
            <a:avLst/>
          </a:prstGeom>
        </p:spPr>
      </p:pic>
      <p:sp>
        <p:nvSpPr>
          <p:cNvPr id="3" name="Shape 0"/>
          <p:cNvSpPr/>
          <p:nvPr/>
        </p:nvSpPr>
        <p:spPr>
          <a:xfrm flipV="1">
            <a:off x="-21600" y="637200"/>
            <a:ext cx="4824000" cy="511200"/>
          </a:xfrm>
          <a:prstGeom prst="round1Rect">
            <a:avLst>
              <a:gd name="adj" fmla="val 19676"/>
            </a:avLst>
          </a:prstGeom>
          <a:solidFill>
            <a:srgbClr val="F2F2F2"/>
          </a:solidFill>
          <a:ln/>
        </p:spPr>
      </p:sp>
      <p:sp>
        <p:nvSpPr>
          <p:cNvPr id="4" name="Shape 1"/>
          <p:cNvSpPr/>
          <p:nvPr/>
        </p:nvSpPr>
        <p:spPr>
          <a:xfrm>
            <a:off x="-21600" y="637200"/>
            <a:ext cx="309600" cy="511200"/>
          </a:xfrm>
          <a:prstGeom prst="rect">
            <a:avLst/>
          </a:prstGeom>
          <a:solidFill>
            <a:srgbClr val="FDBA12"/>
          </a:solidFill>
          <a:ln/>
        </p:spPr>
      </p:sp>
      <p:sp>
        <p:nvSpPr>
          <p:cNvPr id="5" name="Text 2"/>
          <p:cNvSpPr txBox="1"/>
          <p:nvPr/>
        </p:nvSpPr>
        <p:spPr>
          <a:xfrm>
            <a:off x="396000" y="637200"/>
            <a:ext cx="4392000" cy="511200"/>
          </a:xfrm>
          <a:prstGeom prst="rect">
            <a:avLst/>
          </a:prstGeom>
          <a:noFill/>
          <a:ln/>
        </p:spPr>
        <p:txBody>
          <a:bodyPr wrap="none" lIns="0" tIns="0" rIns="0" bIns="0" rtlCol="0" anchor="ctr"/>
          <a:lstStyle/>
          <a:p>
            <a:pPr indent="0" marL="0">
              <a:buNone/>
            </a:pPr>
            <a:r>
              <a:rPr lang="en-US" sz="1400" spc="60" kern="0" dirty="0">
                <a:solidFill>
                  <a:srgbClr val="000000"/>
                </a:solidFill>
                <a:latin typeface="Century Gothic" pitchFamily="34" charset="0"/>
                <a:ea typeface="Century Gothic" pitchFamily="34" charset="-122"/>
                <a:cs typeface="Century Gothic" pitchFamily="34" charset="-120"/>
              </a:rPr>
              <a:t>PROJECT YELLOW  ·  MANAGEMENT MEETING</a:t>
            </a:r>
            <a:endParaRPr lang="en-US" sz="1400" dirty="0"/>
          </a:p>
        </p:txBody>
      </p:sp>
      <p:pic>
        <p:nvPicPr>
          <p:cNvPr id="6" name="Image 1" descr="/home/user/IM/yellow/assets/tracbel_logo.png">    </p:cNvPr>
          <p:cNvPicPr>
            <a:picLocks noChangeAspect="1"/>
          </p:cNvPicPr>
          <p:nvPr/>
        </p:nvPicPr>
        <p:blipFill>
          <a:blip r:embed="rId2"/>
          <a:stretch>
            <a:fillRect/>
          </a:stretch>
        </p:blipFill>
        <p:spPr>
          <a:xfrm>
            <a:off x="15670800" y="349200"/>
            <a:ext cx="1537200" cy="299714"/>
          </a:xfrm>
          <a:prstGeom prst="rect">
            <a:avLst/>
          </a:prstGeom>
        </p:spPr>
      </p:pic>
      <p:sp>
        <p:nvSpPr>
          <p:cNvPr id="7" name="Text 3"/>
          <p:cNvSpPr txBox="1"/>
          <p:nvPr/>
        </p:nvSpPr>
        <p:spPr>
          <a:xfrm>
            <a:off x="568800" y="1134000"/>
            <a:ext cx="16272000" cy="432000"/>
          </a:xfrm>
          <a:prstGeom prst="rect">
            <a:avLst/>
          </a:prstGeom>
          <a:noFill/>
          <a:ln/>
        </p:spPr>
        <p:txBody>
          <a:bodyPr wrap="square" lIns="0" tIns="0" rIns="0" bIns="0" rtlCol="0" anchor="ctr"/>
          <a:lstStyle/>
          <a:p>
            <a:pPr indent="0" marL="0">
              <a:buNone/>
            </a:pPr>
            <a:r>
              <a:rPr lang="en-US" sz="2400" b="1" dirty="0">
                <a:solidFill>
                  <a:srgbClr val="000000"/>
                </a:solidFill>
                <a:highlight>
                  <a:srgbClr val="FDBA12"/>
                </a:highlight>
                <a:latin typeface="Century Gothic" pitchFamily="34" charset="0"/>
                <a:ea typeface="Century Gothic" pitchFamily="34" charset="-122"/>
                <a:cs typeface="Century Gothic" pitchFamily="34" charset="-120"/>
              </a:rPr>
              <a:t>Welcome to Brazil</a:t>
            </a:r>
            <a:pPr indent="0" marL="0">
              <a:buNone/>
            </a:pPr>
            <a:r>
              <a:rPr lang="en-US" sz="2400" b="1" dirty="0">
                <a:solidFill>
                  <a:srgbClr val="000000"/>
                </a:solidFill>
                <a:latin typeface="Century Gothic" pitchFamily="34" charset="0"/>
                <a:ea typeface="Century Gothic" pitchFamily="34" charset="-122"/>
                <a:cs typeface="Century Gothic" pitchFamily="34" charset="-120"/>
              </a:rPr>
              <a:t> — Invitation and Practical Guide</a:t>
            </a:r>
            <a:endParaRPr lang="en-US" sz="2400" dirty="0"/>
          </a:p>
        </p:txBody>
      </p:sp>
      <p:sp>
        <p:nvSpPr>
          <p:cNvPr id="8" name="Text 4"/>
          <p:cNvSpPr txBox="1"/>
          <p:nvPr/>
        </p:nvSpPr>
        <p:spPr>
          <a:xfrm>
            <a:off x="568800" y="1591200"/>
            <a:ext cx="16272000" cy="288000"/>
          </a:xfrm>
          <a:prstGeom prst="rect">
            <a:avLst/>
          </a:prstGeom>
          <a:noFill/>
          <a:ln/>
        </p:spPr>
        <p:txBody>
          <a:bodyPr wrap="square" lIns="0" tIns="0" rIns="0" bIns="0" rtlCol="0" anchor="ctr"/>
          <a:lstStyle/>
          <a:p>
            <a:pPr indent="0" marL="0">
              <a:buNone/>
            </a:pPr>
            <a:r>
              <a:rPr lang="en-US" sz="1250" dirty="0">
                <a:solidFill>
                  <a:srgbClr val="595959"/>
                </a:solidFill>
                <a:latin typeface="Century Gothic" pitchFamily="34" charset="0"/>
                <a:ea typeface="Century Gothic" pitchFamily="34" charset="-122"/>
                <a:cs typeface="Century Gothic" pitchFamily="34" charset="-120"/>
              </a:rPr>
              <a:t>Prepared for Lars and Henrik  ·  Ferronordic   |   Mon 21 – Fri 25 September 2026   |   São Paulo  ·  Sumaré  ·  Belo Horizonte / Contagem  ·  Curitiba</a:t>
            </a:r>
            <a:endParaRPr lang="en-US" sz="1250" dirty="0"/>
          </a:p>
        </p:txBody>
      </p:sp>
      <p:sp>
        <p:nvSpPr>
          <p:cNvPr id="9" name="Shape 5"/>
          <p:cNvSpPr/>
          <p:nvPr/>
        </p:nvSpPr>
        <p:spPr>
          <a:xfrm>
            <a:off x="568800" y="2016000"/>
            <a:ext cx="4824000" cy="4723200"/>
          </a:xfrm>
          <a:prstGeom prst="round1Rect">
            <a:avLst>
              <a:gd name="adj" fmla="val 6776"/>
            </a:avLst>
          </a:prstGeom>
          <a:solidFill>
            <a:srgbClr val="1B1B1B"/>
          </a:solidFill>
          <a:ln/>
        </p:spPr>
      </p:sp>
      <p:sp>
        <p:nvSpPr>
          <p:cNvPr id="10" name="Text 6"/>
          <p:cNvSpPr txBox="1"/>
          <p:nvPr/>
        </p:nvSpPr>
        <p:spPr>
          <a:xfrm>
            <a:off x="849600" y="2296800"/>
            <a:ext cx="4262400" cy="180000"/>
          </a:xfrm>
          <a:prstGeom prst="rect">
            <a:avLst/>
          </a:prstGeom>
          <a:noFill/>
          <a:ln/>
        </p:spPr>
        <p:txBody>
          <a:bodyPr wrap="square" lIns="0" tIns="0" rIns="0" bIns="0" rtlCol="0" anchor="ctr"/>
          <a:lstStyle/>
          <a:p>
            <a:pPr indent="0" marL="0">
              <a:buNone/>
            </a:pPr>
            <a:r>
              <a:rPr lang="en-US" sz="950" b="1" spc="100" kern="0" dirty="0">
                <a:solidFill>
                  <a:srgbClr val="FDBA12"/>
                </a:solidFill>
                <a:latin typeface="Century Gothic" pitchFamily="34" charset="0"/>
                <a:ea typeface="Century Gothic" pitchFamily="34" charset="-122"/>
                <a:cs typeface="Century Gothic" pitchFamily="34" charset="-120"/>
              </a:rPr>
              <a:t>INVITATION</a:t>
            </a:r>
            <a:endParaRPr lang="en-US" sz="950" dirty="0"/>
          </a:p>
        </p:txBody>
      </p:sp>
      <p:sp>
        <p:nvSpPr>
          <p:cNvPr id="11" name="Text 7"/>
          <p:cNvSpPr txBox="1"/>
          <p:nvPr/>
        </p:nvSpPr>
        <p:spPr>
          <a:xfrm>
            <a:off x="849600" y="2512800"/>
            <a:ext cx="4262400" cy="198000"/>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Dear Lars and Henrik,</a:t>
            </a:r>
            <a:endParaRPr lang="en-US" sz="1200" dirty="0"/>
          </a:p>
        </p:txBody>
      </p:sp>
      <p:sp>
        <p:nvSpPr>
          <p:cNvPr id="12" name="Text 8"/>
          <p:cNvSpPr txBox="1"/>
          <p:nvPr/>
        </p:nvSpPr>
        <p:spPr>
          <a:xfrm>
            <a:off x="849600" y="2757600"/>
            <a:ext cx="4262400" cy="1350000"/>
          </a:xfrm>
          <a:prstGeom prst="rect">
            <a:avLst/>
          </a:prstGeom>
          <a:noFill/>
          <a:ln/>
        </p:spPr>
        <p:txBody>
          <a:bodyPr wrap="square" lIns="0" tIns="0" rIns="0" bIns="0" rtlCol="0" anchor="t"/>
          <a:lstStyle/>
          <a:p>
            <a:pPr indent="0" marL="0">
              <a:lnSpc>
                <a:spcPct val="110000"/>
              </a:lnSpc>
              <a:buNone/>
            </a:pPr>
            <a:r>
              <a:rPr lang="en-US" sz="1050" dirty="0">
                <a:solidFill>
                  <a:srgbClr val="E8E8E8"/>
                </a:solidFill>
                <a:latin typeface="Century Gothic" pitchFamily="34" charset="0"/>
                <a:ea typeface="Century Gothic" pitchFamily="34" charset="-122"/>
                <a:cs typeface="Century Gothic" pitchFamily="34" charset="-120"/>
              </a:rPr>
              <a:t>It is our great pleasure to welcome you to Brazil. Over the coming days you will meet the management team, walk through our operations in Sumaré and Contagem and see at first hand the people and the operating model presented in the Information Memorandum. The IGC team will accompany you throughout and interpret on site; the sessions themselves are expected to be in English [to be confirmed].</a:t>
            </a:r>
            <a:endParaRPr lang="en-US" sz="1050" dirty="0"/>
          </a:p>
        </p:txBody>
      </p:sp>
      <p:sp>
        <p:nvSpPr>
          <p:cNvPr id="13" name="Text 9"/>
          <p:cNvSpPr txBox="1"/>
          <p:nvPr/>
        </p:nvSpPr>
        <p:spPr>
          <a:xfrm>
            <a:off x="849600" y="4132800"/>
            <a:ext cx="2059200" cy="162000"/>
          </a:xfrm>
          <a:prstGeom prst="rect">
            <a:avLst/>
          </a:prstGeom>
          <a:noFill/>
          <a:ln/>
        </p:spPr>
        <p:txBody>
          <a:bodyPr wrap="square" lIns="0" tIns="0" rIns="0" bIns="0" rtlCol="0" anchor="t"/>
          <a:lstStyle/>
          <a:p>
            <a:pPr indent="0" marL="0">
              <a:buNone/>
            </a:pPr>
            <a:r>
              <a:rPr lang="en-US" sz="1050" b="1" dirty="0">
                <a:solidFill>
                  <a:srgbClr val="FFFFFF"/>
                </a:solidFill>
                <a:latin typeface="Century Gothic" pitchFamily="34" charset="0"/>
                <a:ea typeface="Century Gothic" pitchFamily="34" charset="-122"/>
                <a:cs typeface="Century Gothic" pitchFamily="34" charset="-120"/>
              </a:rPr>
              <a:t>The Tracbel management team</a:t>
            </a:r>
            <a:endParaRPr lang="en-US" sz="1050" dirty="0"/>
          </a:p>
        </p:txBody>
      </p:sp>
      <p:sp>
        <p:nvSpPr>
          <p:cNvPr id="14" name="Text 10"/>
          <p:cNvSpPr txBox="1"/>
          <p:nvPr/>
        </p:nvSpPr>
        <p:spPr>
          <a:xfrm>
            <a:off x="849600" y="4291200"/>
            <a:ext cx="2059200" cy="144000"/>
          </a:xfrm>
          <a:prstGeom prst="rect">
            <a:avLst/>
          </a:prstGeom>
          <a:noFill/>
          <a:ln/>
        </p:spPr>
        <p:txBody>
          <a:bodyPr wrap="square" lIns="0" tIns="0" rIns="0" bIns="0" rtlCol="0" anchor="t"/>
          <a:lstStyle/>
          <a:p>
            <a:pPr indent="0" marL="0">
              <a:buNone/>
            </a:pPr>
            <a:r>
              <a:rPr lang="en-US" sz="850" dirty="0">
                <a:solidFill>
                  <a:srgbClr val="B1B3B5"/>
                </a:solidFill>
                <a:latin typeface="Century Gothic" pitchFamily="34" charset="0"/>
                <a:ea typeface="Century Gothic" pitchFamily="34" charset="-122"/>
                <a:cs typeface="Century Gothic" pitchFamily="34" charset="-120"/>
              </a:rPr>
              <a:t>Contagem  ·  Minas Gerais</a:t>
            </a:r>
            <a:endParaRPr lang="en-US" sz="850" dirty="0"/>
          </a:p>
        </p:txBody>
      </p:sp>
      <p:sp>
        <p:nvSpPr>
          <p:cNvPr id="15" name="Text 11"/>
          <p:cNvSpPr txBox="1"/>
          <p:nvPr/>
        </p:nvSpPr>
        <p:spPr>
          <a:xfrm>
            <a:off x="2980800" y="4132800"/>
            <a:ext cx="2059200" cy="162000"/>
          </a:xfrm>
          <a:prstGeom prst="rect">
            <a:avLst/>
          </a:prstGeom>
          <a:noFill/>
          <a:ln/>
        </p:spPr>
        <p:txBody>
          <a:bodyPr wrap="square" lIns="0" tIns="0" rIns="0" bIns="0" rtlCol="0" anchor="t"/>
          <a:lstStyle/>
          <a:p>
            <a:pPr indent="0" marL="0">
              <a:buNone/>
            </a:pPr>
            <a:r>
              <a:rPr lang="en-US" sz="1050" b="1" dirty="0">
                <a:solidFill>
                  <a:srgbClr val="FFFFFF"/>
                </a:solidFill>
                <a:latin typeface="Century Gothic" pitchFamily="34" charset="0"/>
                <a:ea typeface="Century Gothic" pitchFamily="34" charset="-122"/>
                <a:cs typeface="Century Gothic" pitchFamily="34" charset="-120"/>
              </a:rPr>
              <a:t>Bruno Iervolino</a:t>
            </a:r>
            <a:endParaRPr lang="en-US" sz="1050" dirty="0"/>
          </a:p>
        </p:txBody>
      </p:sp>
      <p:sp>
        <p:nvSpPr>
          <p:cNvPr id="16" name="Text 12"/>
          <p:cNvSpPr txBox="1"/>
          <p:nvPr/>
        </p:nvSpPr>
        <p:spPr>
          <a:xfrm>
            <a:off x="2980800" y="4291200"/>
            <a:ext cx="2059200" cy="144000"/>
          </a:xfrm>
          <a:prstGeom prst="rect">
            <a:avLst/>
          </a:prstGeom>
          <a:noFill/>
          <a:ln/>
        </p:spPr>
        <p:txBody>
          <a:bodyPr wrap="square" lIns="0" tIns="0" rIns="0" bIns="0" rtlCol="0" anchor="t"/>
          <a:lstStyle/>
          <a:p>
            <a:pPr indent="0" marL="0">
              <a:buNone/>
            </a:pPr>
            <a:r>
              <a:rPr lang="en-US" sz="850" dirty="0">
                <a:solidFill>
                  <a:srgbClr val="B1B3B5"/>
                </a:solidFill>
                <a:latin typeface="Century Gothic" pitchFamily="34" charset="0"/>
                <a:ea typeface="Century Gothic" pitchFamily="34" charset="-122"/>
                <a:cs typeface="Century Gothic" pitchFamily="34" charset="-120"/>
              </a:rPr>
              <a:t>IGC Partners  ·  São Paulo</a:t>
            </a:r>
            <a:endParaRPr lang="en-US" sz="850" dirty="0"/>
          </a:p>
        </p:txBody>
      </p:sp>
      <p:sp>
        <p:nvSpPr>
          <p:cNvPr id="17" name="Shape 13"/>
          <p:cNvSpPr/>
          <p:nvPr/>
        </p:nvSpPr>
        <p:spPr>
          <a:xfrm>
            <a:off x="849600" y="4492800"/>
            <a:ext cx="4262400" cy="0"/>
          </a:xfrm>
          <a:prstGeom prst="line">
            <a:avLst/>
          </a:prstGeom>
          <a:noFill/>
          <a:ln w="9525">
            <a:solidFill>
              <a:srgbClr val="3A3A3A"/>
            </a:solidFill>
            <a:prstDash val="solid"/>
          </a:ln>
        </p:spPr>
      </p:sp>
      <p:sp>
        <p:nvSpPr>
          <p:cNvPr id="18" name="Text 14"/>
          <p:cNvSpPr txBox="1"/>
          <p:nvPr/>
        </p:nvSpPr>
        <p:spPr>
          <a:xfrm>
            <a:off x="849600" y="4579200"/>
            <a:ext cx="4262400" cy="180000"/>
          </a:xfrm>
          <a:prstGeom prst="rect">
            <a:avLst/>
          </a:prstGeom>
          <a:noFill/>
          <a:ln/>
        </p:spPr>
        <p:txBody>
          <a:bodyPr wrap="square" lIns="0" tIns="0" rIns="0" bIns="0" rtlCol="0" anchor="ctr"/>
          <a:lstStyle/>
          <a:p>
            <a:pPr indent="0" marL="0">
              <a:buNone/>
            </a:pPr>
            <a:r>
              <a:rPr lang="en-US" sz="950" b="1" spc="100" kern="0" dirty="0">
                <a:solidFill>
                  <a:srgbClr val="FDBA12"/>
                </a:solidFill>
                <a:latin typeface="Century Gothic" pitchFamily="34" charset="0"/>
                <a:ea typeface="Century Gothic" pitchFamily="34" charset="-122"/>
                <a:cs typeface="Century Gothic" pitchFamily="34" charset="-120"/>
              </a:rPr>
              <a:t>WHAT YOU WILL SEE</a:t>
            </a:r>
            <a:endParaRPr lang="en-US" sz="950" dirty="0"/>
          </a:p>
        </p:txBody>
      </p:sp>
      <p:sp>
        <p:nvSpPr>
          <p:cNvPr id="19" name="Shape 15"/>
          <p:cNvSpPr/>
          <p:nvPr/>
        </p:nvSpPr>
        <p:spPr>
          <a:xfrm>
            <a:off x="849600" y="4831200"/>
            <a:ext cx="79200" cy="79200"/>
          </a:xfrm>
          <a:prstGeom prst="rect">
            <a:avLst/>
          </a:prstGeom>
          <a:solidFill>
            <a:srgbClr val="FDBA12"/>
          </a:solidFill>
          <a:ln/>
        </p:spPr>
      </p:sp>
      <p:sp>
        <p:nvSpPr>
          <p:cNvPr id="20" name="Text 16"/>
          <p:cNvSpPr txBox="1"/>
          <p:nvPr/>
        </p:nvSpPr>
        <p:spPr>
          <a:xfrm>
            <a:off x="1011600" y="4777200"/>
            <a:ext cx="4100400" cy="306000"/>
          </a:xfrm>
          <a:prstGeom prst="rect">
            <a:avLst/>
          </a:prstGeom>
          <a:noFill/>
          <a:ln/>
        </p:spPr>
        <p:txBody>
          <a:bodyPr wrap="square" lIns="0" tIns="0" rIns="0" bIns="0" rtlCol="0" anchor="t"/>
          <a:lstStyle/>
          <a:p>
            <a:pPr indent="0" marL="0">
              <a:lnSpc>
                <a:spcPct val="105000"/>
              </a:lnSpc>
              <a:buNone/>
            </a:pPr>
            <a:r>
              <a:rPr lang="en-US" sz="950" dirty="0">
                <a:solidFill>
                  <a:srgbClr val="E8E8E8"/>
                </a:solidFill>
                <a:latin typeface="Century Gothic" pitchFamily="34" charset="0"/>
                <a:ea typeface="Century Gothic" pitchFamily="34" charset="-122"/>
                <a:cs typeface="Century Gothic" pitchFamily="34" charset="-120"/>
              </a:rPr>
              <a:t>Sumaré (SP) — the branch where the LEAN / Tracbel Performance System began (IM p. 26)</a:t>
            </a:r>
            <a:endParaRPr lang="en-US" sz="950" dirty="0"/>
          </a:p>
        </p:txBody>
      </p:sp>
      <p:sp>
        <p:nvSpPr>
          <p:cNvPr id="21" name="Shape 17"/>
          <p:cNvSpPr/>
          <p:nvPr/>
        </p:nvSpPr>
        <p:spPr>
          <a:xfrm>
            <a:off x="849600" y="5137200"/>
            <a:ext cx="79200" cy="79200"/>
          </a:xfrm>
          <a:prstGeom prst="rect">
            <a:avLst/>
          </a:prstGeom>
          <a:solidFill>
            <a:srgbClr val="FDBA12"/>
          </a:solidFill>
          <a:ln/>
        </p:spPr>
      </p:sp>
      <p:sp>
        <p:nvSpPr>
          <p:cNvPr id="22" name="Text 18"/>
          <p:cNvSpPr txBox="1"/>
          <p:nvPr/>
        </p:nvSpPr>
        <p:spPr>
          <a:xfrm>
            <a:off x="1011600" y="5083200"/>
            <a:ext cx="4100400" cy="306000"/>
          </a:xfrm>
          <a:prstGeom prst="rect">
            <a:avLst/>
          </a:prstGeom>
          <a:noFill/>
          <a:ln/>
        </p:spPr>
        <p:txBody>
          <a:bodyPr wrap="square" lIns="0" tIns="0" rIns="0" bIns="0" rtlCol="0" anchor="t"/>
          <a:lstStyle/>
          <a:p>
            <a:pPr indent="0" marL="0">
              <a:lnSpc>
                <a:spcPct val="105000"/>
              </a:lnSpc>
              <a:buNone/>
            </a:pPr>
            <a:r>
              <a:rPr lang="en-US" sz="950" dirty="0">
                <a:solidFill>
                  <a:srgbClr val="E8E8E8"/>
                </a:solidFill>
                <a:latin typeface="Century Gothic" pitchFamily="34" charset="0"/>
                <a:ea typeface="Century Gothic" pitchFamily="34" charset="-122"/>
                <a:cs typeface="Century Gothic" pitchFamily="34" charset="-120"/>
              </a:rPr>
              <a:t>Contagem (MG) — headquarters and operations: after-sales, parts e-commerce (IM pp. 13, 25, 28)</a:t>
            </a:r>
            <a:endParaRPr lang="en-US" sz="950" dirty="0"/>
          </a:p>
        </p:txBody>
      </p:sp>
      <p:sp>
        <p:nvSpPr>
          <p:cNvPr id="23" name="Shape 19"/>
          <p:cNvSpPr/>
          <p:nvPr/>
        </p:nvSpPr>
        <p:spPr>
          <a:xfrm>
            <a:off x="849600" y="5443200"/>
            <a:ext cx="79200" cy="79200"/>
          </a:xfrm>
          <a:prstGeom prst="rect">
            <a:avLst/>
          </a:prstGeom>
          <a:solidFill>
            <a:srgbClr val="FDBA12"/>
          </a:solidFill>
          <a:ln/>
        </p:spPr>
      </p:sp>
      <p:sp>
        <p:nvSpPr>
          <p:cNvPr id="24" name="Text 20"/>
          <p:cNvSpPr txBox="1"/>
          <p:nvPr/>
        </p:nvSpPr>
        <p:spPr>
          <a:xfrm>
            <a:off x="1011600" y="5389200"/>
            <a:ext cx="4100400" cy="180000"/>
          </a:xfrm>
          <a:prstGeom prst="rect">
            <a:avLst/>
          </a:prstGeom>
          <a:noFill/>
          <a:ln/>
        </p:spPr>
        <p:txBody>
          <a:bodyPr wrap="square" lIns="0" tIns="0" rIns="0" bIns="0" rtlCol="0" anchor="t"/>
          <a:lstStyle/>
          <a:p>
            <a:pPr indent="0" marL="0">
              <a:lnSpc>
                <a:spcPct val="105000"/>
              </a:lnSpc>
              <a:buNone/>
            </a:pPr>
            <a:r>
              <a:rPr lang="en-US" sz="950" dirty="0">
                <a:solidFill>
                  <a:srgbClr val="E8E8E8"/>
                </a:solidFill>
                <a:latin typeface="Century Gothic" pitchFamily="34" charset="0"/>
                <a:ea typeface="Century Gothic" pitchFamily="34" charset="-122"/>
                <a:cs typeface="Century Gothic" pitchFamily="34" charset="-120"/>
              </a:rPr>
              <a:t>Curitiba (PR) — programme [TBC]</a:t>
            </a:r>
            <a:endParaRPr lang="en-US" sz="950" dirty="0"/>
          </a:p>
        </p:txBody>
      </p:sp>
      <p:sp>
        <p:nvSpPr>
          <p:cNvPr id="25" name="Shape 21"/>
          <p:cNvSpPr/>
          <p:nvPr/>
        </p:nvSpPr>
        <p:spPr>
          <a:xfrm>
            <a:off x="849600" y="5619600"/>
            <a:ext cx="4262400" cy="0"/>
          </a:xfrm>
          <a:prstGeom prst="line">
            <a:avLst/>
          </a:prstGeom>
          <a:noFill/>
          <a:ln w="9525">
            <a:solidFill>
              <a:srgbClr val="3A3A3A"/>
            </a:solidFill>
            <a:prstDash val="solid"/>
          </a:ln>
        </p:spPr>
      </p:sp>
      <p:sp>
        <p:nvSpPr>
          <p:cNvPr id="26" name="Text 22"/>
          <p:cNvSpPr txBox="1"/>
          <p:nvPr/>
        </p:nvSpPr>
        <p:spPr>
          <a:xfrm>
            <a:off x="849600" y="5706000"/>
            <a:ext cx="4262400" cy="180000"/>
          </a:xfrm>
          <a:prstGeom prst="rect">
            <a:avLst/>
          </a:prstGeom>
          <a:noFill/>
          <a:ln/>
        </p:spPr>
        <p:txBody>
          <a:bodyPr wrap="square" lIns="0" tIns="0" rIns="0" bIns="0" rtlCol="0" anchor="ctr"/>
          <a:lstStyle/>
          <a:p>
            <a:pPr indent="0" marL="0">
              <a:buNone/>
            </a:pPr>
            <a:r>
              <a:rPr lang="en-US" sz="950" b="1" spc="100" kern="0" dirty="0">
                <a:solidFill>
                  <a:srgbClr val="FDBA12"/>
                </a:solidFill>
                <a:latin typeface="Century Gothic" pitchFamily="34" charset="0"/>
                <a:ea typeface="Century Gothic" pitchFamily="34" charset="-122"/>
                <a:cs typeface="Century Gothic" pitchFamily="34" charset="-120"/>
              </a:rPr>
              <a:t>BEFORE YOU TRAVEL  ·  PLEASE SEND BY [DATE — TBC]</a:t>
            </a:r>
            <a:endParaRPr lang="en-US" sz="950" dirty="0"/>
          </a:p>
        </p:txBody>
      </p:sp>
      <p:sp>
        <p:nvSpPr>
          <p:cNvPr id="27" name="Shape 23"/>
          <p:cNvSpPr/>
          <p:nvPr/>
        </p:nvSpPr>
        <p:spPr>
          <a:xfrm>
            <a:off x="849600" y="5958000"/>
            <a:ext cx="79200" cy="79200"/>
          </a:xfrm>
          <a:prstGeom prst="rect">
            <a:avLst/>
          </a:prstGeom>
          <a:solidFill>
            <a:srgbClr val="FDBA12"/>
          </a:solidFill>
          <a:ln/>
        </p:spPr>
      </p:sp>
      <p:sp>
        <p:nvSpPr>
          <p:cNvPr id="28" name="Text 24"/>
          <p:cNvSpPr txBox="1"/>
          <p:nvPr/>
        </p:nvSpPr>
        <p:spPr>
          <a:xfrm>
            <a:off x="1011600" y="5904000"/>
            <a:ext cx="4100400" cy="180000"/>
          </a:xfrm>
          <a:prstGeom prst="rect">
            <a:avLst/>
          </a:prstGeom>
          <a:noFill/>
          <a:ln/>
        </p:spPr>
        <p:txBody>
          <a:bodyPr wrap="square" lIns="0" tIns="0" rIns="0" bIns="0" rtlCol="0" anchor="t"/>
          <a:lstStyle/>
          <a:p>
            <a:pPr indent="0" marL="0">
              <a:lnSpc>
                <a:spcPct val="105000"/>
              </a:lnSpc>
              <a:buNone/>
            </a:pPr>
            <a:r>
              <a:rPr lang="en-US" sz="950" dirty="0">
                <a:solidFill>
                  <a:srgbClr val="E8E8E8"/>
                </a:solidFill>
                <a:latin typeface="Century Gothic" pitchFamily="34" charset="0"/>
                <a:ea typeface="Century Gothic" pitchFamily="34" charset="-122"/>
                <a:cs typeface="Century Gothic" pitchFamily="34" charset="-120"/>
              </a:rPr>
              <a:t>Priority questions for management — IGC keeps one Q&amp;A log</a:t>
            </a:r>
            <a:endParaRPr lang="en-US" sz="950" dirty="0"/>
          </a:p>
        </p:txBody>
      </p:sp>
      <p:sp>
        <p:nvSpPr>
          <p:cNvPr id="29" name="Shape 25"/>
          <p:cNvSpPr/>
          <p:nvPr/>
        </p:nvSpPr>
        <p:spPr>
          <a:xfrm>
            <a:off x="849600" y="6138000"/>
            <a:ext cx="79200" cy="79200"/>
          </a:xfrm>
          <a:prstGeom prst="rect">
            <a:avLst/>
          </a:prstGeom>
          <a:solidFill>
            <a:srgbClr val="FDBA12"/>
          </a:solidFill>
          <a:ln/>
        </p:spPr>
      </p:sp>
      <p:sp>
        <p:nvSpPr>
          <p:cNvPr id="30" name="Text 26"/>
          <p:cNvSpPr txBox="1"/>
          <p:nvPr/>
        </p:nvSpPr>
        <p:spPr>
          <a:xfrm>
            <a:off x="1011600" y="6084000"/>
            <a:ext cx="4100400" cy="180000"/>
          </a:xfrm>
          <a:prstGeom prst="rect">
            <a:avLst/>
          </a:prstGeom>
          <a:noFill/>
          <a:ln/>
        </p:spPr>
        <p:txBody>
          <a:bodyPr wrap="square" lIns="0" tIns="0" rIns="0" bIns="0" rtlCol="0" anchor="t"/>
          <a:lstStyle/>
          <a:p>
            <a:pPr indent="0" marL="0">
              <a:lnSpc>
                <a:spcPct val="105000"/>
              </a:lnSpc>
              <a:buNone/>
            </a:pPr>
            <a:r>
              <a:rPr lang="en-US" sz="950" dirty="0">
                <a:solidFill>
                  <a:srgbClr val="E8E8E8"/>
                </a:solidFill>
                <a:latin typeface="Century Gothic" pitchFamily="34" charset="0"/>
                <a:ea typeface="Century Gothic" pitchFamily="34" charset="-122"/>
                <a:cs typeface="Century Gothic" pitchFamily="34" charset="-120"/>
              </a:rPr>
              <a:t>Henrik: return flight and number of nights in Curitiba</a:t>
            </a:r>
            <a:endParaRPr lang="en-US" sz="950" dirty="0"/>
          </a:p>
        </p:txBody>
      </p:sp>
      <p:sp>
        <p:nvSpPr>
          <p:cNvPr id="31" name="Shape 27"/>
          <p:cNvSpPr/>
          <p:nvPr/>
        </p:nvSpPr>
        <p:spPr>
          <a:xfrm>
            <a:off x="849600" y="6318000"/>
            <a:ext cx="79200" cy="79200"/>
          </a:xfrm>
          <a:prstGeom prst="rect">
            <a:avLst/>
          </a:prstGeom>
          <a:solidFill>
            <a:srgbClr val="FDBA12"/>
          </a:solidFill>
          <a:ln/>
        </p:spPr>
      </p:sp>
      <p:sp>
        <p:nvSpPr>
          <p:cNvPr id="32" name="Text 28"/>
          <p:cNvSpPr txBox="1"/>
          <p:nvPr/>
        </p:nvSpPr>
        <p:spPr>
          <a:xfrm>
            <a:off x="1011600" y="6264000"/>
            <a:ext cx="4100400" cy="180000"/>
          </a:xfrm>
          <a:prstGeom prst="rect">
            <a:avLst/>
          </a:prstGeom>
          <a:noFill/>
          <a:ln/>
        </p:spPr>
        <p:txBody>
          <a:bodyPr wrap="square" lIns="0" tIns="0" rIns="0" bIns="0" rtlCol="0" anchor="t"/>
          <a:lstStyle/>
          <a:p>
            <a:pPr indent="0" marL="0">
              <a:lnSpc>
                <a:spcPct val="105000"/>
              </a:lnSpc>
              <a:buNone/>
            </a:pPr>
            <a:r>
              <a:rPr lang="en-US" sz="950" dirty="0">
                <a:solidFill>
                  <a:srgbClr val="E8E8E8"/>
                </a:solidFill>
                <a:latin typeface="Century Gothic" pitchFamily="34" charset="0"/>
                <a:ea typeface="Century Gothic" pitchFamily="34" charset="-122"/>
                <a:cs typeface="Century Gothic" pitchFamily="34" charset="-120"/>
              </a:rPr>
              <a:t>Passport names for the private flights; dietary requirements</a:t>
            </a:r>
            <a:endParaRPr lang="en-US" sz="950" dirty="0"/>
          </a:p>
        </p:txBody>
      </p:sp>
      <p:sp>
        <p:nvSpPr>
          <p:cNvPr id="33" name="Shape 29"/>
          <p:cNvSpPr/>
          <p:nvPr/>
        </p:nvSpPr>
        <p:spPr>
          <a:xfrm>
            <a:off x="849600" y="6498000"/>
            <a:ext cx="79200" cy="79200"/>
          </a:xfrm>
          <a:prstGeom prst="rect">
            <a:avLst/>
          </a:prstGeom>
          <a:solidFill>
            <a:srgbClr val="FDBA12"/>
          </a:solidFill>
          <a:ln/>
        </p:spPr>
      </p:sp>
      <p:sp>
        <p:nvSpPr>
          <p:cNvPr id="34" name="Text 30"/>
          <p:cNvSpPr txBox="1"/>
          <p:nvPr/>
        </p:nvSpPr>
        <p:spPr>
          <a:xfrm>
            <a:off x="1011600" y="6444000"/>
            <a:ext cx="4100400" cy="180000"/>
          </a:xfrm>
          <a:prstGeom prst="rect">
            <a:avLst/>
          </a:prstGeom>
          <a:noFill/>
          <a:ln/>
        </p:spPr>
        <p:txBody>
          <a:bodyPr wrap="square" lIns="0" tIns="0" rIns="0" bIns="0" rtlCol="0" anchor="t"/>
          <a:lstStyle/>
          <a:p>
            <a:pPr indent="0" marL="0">
              <a:lnSpc>
                <a:spcPct val="105000"/>
              </a:lnSpc>
              <a:buNone/>
            </a:pPr>
            <a:r>
              <a:rPr lang="en-US" sz="950" dirty="0">
                <a:solidFill>
                  <a:srgbClr val="E8E8E8"/>
                </a:solidFill>
                <a:latin typeface="Century Gothic" pitchFamily="34" charset="0"/>
                <a:ea typeface="Century Gothic" pitchFamily="34" charset="-122"/>
                <a:cs typeface="Century Gothic" pitchFamily="34" charset="-120"/>
              </a:rPr>
              <a:t>Pre-read: IM sections “The Company” and “Business Plan”</a:t>
            </a:r>
            <a:endParaRPr lang="en-US" sz="950" dirty="0"/>
          </a:p>
        </p:txBody>
      </p:sp>
      <p:sp>
        <p:nvSpPr>
          <p:cNvPr id="35" name="Shape 31"/>
          <p:cNvSpPr/>
          <p:nvPr/>
        </p:nvSpPr>
        <p:spPr>
          <a:xfrm>
            <a:off x="5644800" y="2016000"/>
            <a:ext cx="11343600" cy="295200"/>
          </a:xfrm>
          <a:prstGeom prst="roundRect">
            <a:avLst>
              <a:gd name="adj" fmla="val 24780"/>
            </a:avLst>
          </a:prstGeom>
          <a:solidFill>
            <a:srgbClr val="FDBA12"/>
          </a:solidFill>
          <a:ln/>
        </p:spPr>
      </p:sp>
      <p:sp>
        <p:nvSpPr>
          <p:cNvPr id="36" name="Text 32"/>
          <p:cNvSpPr txBox="1"/>
          <p:nvPr/>
        </p:nvSpPr>
        <p:spPr>
          <a:xfrm>
            <a:off x="5788800" y="2016000"/>
            <a:ext cx="11055600" cy="295200"/>
          </a:xfrm>
          <a:prstGeom prst="rect">
            <a:avLst/>
          </a:prstGeom>
          <a:noFill/>
          <a:ln/>
        </p:spPr>
        <p:txBody>
          <a:bodyPr wrap="square" lIns="0" tIns="0" rIns="0" bIns="0" rtlCol="0" anchor="ctr"/>
          <a:lstStyle/>
          <a:p>
            <a:pPr indent="0" marL="0">
              <a:buNone/>
            </a:pPr>
            <a:r>
              <a:rPr lang="en-US" sz="1250" b="1" dirty="0">
                <a:solidFill>
                  <a:srgbClr val="000000"/>
                </a:solidFill>
                <a:latin typeface="Century Gothic" pitchFamily="34" charset="0"/>
                <a:ea typeface="Century Gothic" pitchFamily="34" charset="-122"/>
                <a:cs typeface="Century Gothic" pitchFamily="34" charset="-120"/>
              </a:rPr>
              <a:t>Programme  ·  21–25 September 2026</a:t>
            </a:r>
            <a:endParaRPr lang="en-US" sz="1250" dirty="0"/>
          </a:p>
        </p:txBody>
      </p:sp>
      <p:sp>
        <p:nvSpPr>
          <p:cNvPr id="37" name="Text 33"/>
          <p:cNvSpPr txBox="1"/>
          <p:nvPr/>
        </p:nvSpPr>
        <p:spPr>
          <a:xfrm>
            <a:off x="6508800" y="2340000"/>
            <a:ext cx="1973520" cy="162000"/>
          </a:xfrm>
          <a:prstGeom prst="rect">
            <a:avLst/>
          </a:prstGeom>
          <a:noFill/>
          <a:ln/>
        </p:spPr>
        <p:txBody>
          <a:bodyPr wrap="square" lIns="0" tIns="0" rIns="0" bIns="0" rtlCol="0" anchor="ctr"/>
          <a:lstStyle/>
          <a:p>
            <a:pPr indent="0" marL="0">
              <a:buNone/>
            </a:pPr>
            <a:r>
              <a:rPr lang="en-US" sz="1150" b="1" dirty="0">
                <a:solidFill>
                  <a:srgbClr val="000000"/>
                </a:solidFill>
                <a:latin typeface="Century Gothic" pitchFamily="34" charset="0"/>
                <a:ea typeface="Century Gothic" pitchFamily="34" charset="-122"/>
                <a:cs typeface="Century Gothic" pitchFamily="34" charset="-120"/>
              </a:rPr>
              <a:t>Mon 21</a:t>
            </a:r>
            <a:endParaRPr lang="en-US" sz="1150" dirty="0"/>
          </a:p>
        </p:txBody>
      </p:sp>
      <p:sp>
        <p:nvSpPr>
          <p:cNvPr id="38" name="Text 34"/>
          <p:cNvSpPr txBox="1"/>
          <p:nvPr/>
        </p:nvSpPr>
        <p:spPr>
          <a:xfrm>
            <a:off x="6508800" y="2491200"/>
            <a:ext cx="1973520" cy="144000"/>
          </a:xfrm>
          <a:prstGeom prst="rect">
            <a:avLst/>
          </a:prstGeom>
          <a:noFill/>
          <a:ln/>
        </p:spPr>
        <p:txBody>
          <a:bodyPr wrap="square" lIns="0" tIns="0" rIns="0" bIns="0" rtlCol="0" anchor="ctr"/>
          <a:lstStyle/>
          <a:p>
            <a:pPr indent="0" marL="0">
              <a:buNone/>
            </a:pPr>
            <a:r>
              <a:rPr lang="en-US" sz="850" dirty="0">
                <a:solidFill>
                  <a:srgbClr val="595959"/>
                </a:solidFill>
                <a:latin typeface="Century Gothic" pitchFamily="34" charset="0"/>
                <a:ea typeface="Century Gothic" pitchFamily="34" charset="-122"/>
                <a:cs typeface="Century Gothic" pitchFamily="34" charset="-120"/>
              </a:rPr>
              <a:t>São Paulo</a:t>
            </a:r>
            <a:endParaRPr lang="en-US" sz="850" dirty="0"/>
          </a:p>
        </p:txBody>
      </p:sp>
      <p:sp>
        <p:nvSpPr>
          <p:cNvPr id="39" name="Text 35"/>
          <p:cNvSpPr txBox="1"/>
          <p:nvPr/>
        </p:nvSpPr>
        <p:spPr>
          <a:xfrm>
            <a:off x="8626320" y="2340000"/>
            <a:ext cx="1973520" cy="162000"/>
          </a:xfrm>
          <a:prstGeom prst="rect">
            <a:avLst/>
          </a:prstGeom>
          <a:noFill/>
          <a:ln/>
        </p:spPr>
        <p:txBody>
          <a:bodyPr wrap="square" lIns="0" tIns="0" rIns="0" bIns="0" rtlCol="0" anchor="ctr"/>
          <a:lstStyle/>
          <a:p>
            <a:pPr indent="0" marL="0">
              <a:buNone/>
            </a:pPr>
            <a:r>
              <a:rPr lang="en-US" sz="1150" b="1" dirty="0">
                <a:solidFill>
                  <a:srgbClr val="000000"/>
                </a:solidFill>
                <a:latin typeface="Century Gothic" pitchFamily="34" charset="0"/>
                <a:ea typeface="Century Gothic" pitchFamily="34" charset="-122"/>
                <a:cs typeface="Century Gothic" pitchFamily="34" charset="-120"/>
              </a:rPr>
              <a:t>Tue 22</a:t>
            </a:r>
            <a:endParaRPr lang="en-US" sz="1150" dirty="0"/>
          </a:p>
        </p:txBody>
      </p:sp>
      <p:sp>
        <p:nvSpPr>
          <p:cNvPr id="40" name="Text 36"/>
          <p:cNvSpPr txBox="1"/>
          <p:nvPr/>
        </p:nvSpPr>
        <p:spPr>
          <a:xfrm>
            <a:off x="8626320" y="2491200"/>
            <a:ext cx="1973520" cy="144000"/>
          </a:xfrm>
          <a:prstGeom prst="rect">
            <a:avLst/>
          </a:prstGeom>
          <a:noFill/>
          <a:ln/>
        </p:spPr>
        <p:txBody>
          <a:bodyPr wrap="square" lIns="0" tIns="0" rIns="0" bIns="0" rtlCol="0" anchor="ctr"/>
          <a:lstStyle/>
          <a:p>
            <a:pPr indent="0" marL="0">
              <a:buNone/>
            </a:pPr>
            <a:r>
              <a:rPr lang="en-US" sz="850" dirty="0">
                <a:solidFill>
                  <a:srgbClr val="595959"/>
                </a:solidFill>
                <a:latin typeface="Century Gothic" pitchFamily="34" charset="0"/>
                <a:ea typeface="Century Gothic" pitchFamily="34" charset="-122"/>
                <a:cs typeface="Century Gothic" pitchFamily="34" charset="-120"/>
              </a:rPr>
              <a:t>Sumaré</a:t>
            </a:r>
            <a:endParaRPr lang="en-US" sz="850" dirty="0"/>
          </a:p>
        </p:txBody>
      </p:sp>
      <p:sp>
        <p:nvSpPr>
          <p:cNvPr id="41" name="Text 37"/>
          <p:cNvSpPr txBox="1"/>
          <p:nvPr/>
        </p:nvSpPr>
        <p:spPr>
          <a:xfrm>
            <a:off x="10743840" y="2340000"/>
            <a:ext cx="1973520" cy="162000"/>
          </a:xfrm>
          <a:prstGeom prst="rect">
            <a:avLst/>
          </a:prstGeom>
          <a:noFill/>
          <a:ln/>
        </p:spPr>
        <p:txBody>
          <a:bodyPr wrap="square" lIns="0" tIns="0" rIns="0" bIns="0" rtlCol="0" anchor="ctr"/>
          <a:lstStyle/>
          <a:p>
            <a:pPr indent="0" marL="0">
              <a:buNone/>
            </a:pPr>
            <a:r>
              <a:rPr lang="en-US" sz="1150" b="1" dirty="0">
                <a:solidFill>
                  <a:srgbClr val="000000"/>
                </a:solidFill>
                <a:latin typeface="Century Gothic" pitchFamily="34" charset="0"/>
                <a:ea typeface="Century Gothic" pitchFamily="34" charset="-122"/>
                <a:cs typeface="Century Gothic" pitchFamily="34" charset="-120"/>
              </a:rPr>
              <a:t>Wed 23</a:t>
            </a:r>
            <a:endParaRPr lang="en-US" sz="1150" dirty="0"/>
          </a:p>
        </p:txBody>
      </p:sp>
      <p:sp>
        <p:nvSpPr>
          <p:cNvPr id="42" name="Text 38"/>
          <p:cNvSpPr txBox="1"/>
          <p:nvPr/>
        </p:nvSpPr>
        <p:spPr>
          <a:xfrm>
            <a:off x="10743840" y="2491200"/>
            <a:ext cx="1973520" cy="144000"/>
          </a:xfrm>
          <a:prstGeom prst="rect">
            <a:avLst/>
          </a:prstGeom>
          <a:noFill/>
          <a:ln/>
        </p:spPr>
        <p:txBody>
          <a:bodyPr wrap="square" lIns="0" tIns="0" rIns="0" bIns="0" rtlCol="0" anchor="ctr"/>
          <a:lstStyle/>
          <a:p>
            <a:pPr indent="0" marL="0">
              <a:buNone/>
            </a:pPr>
            <a:r>
              <a:rPr lang="en-US" sz="850" dirty="0">
                <a:solidFill>
                  <a:srgbClr val="595959"/>
                </a:solidFill>
                <a:latin typeface="Century Gothic" pitchFamily="34" charset="0"/>
                <a:ea typeface="Century Gothic" pitchFamily="34" charset="-122"/>
                <a:cs typeface="Century Gothic" pitchFamily="34" charset="-120"/>
              </a:rPr>
              <a:t>Contagem</a:t>
            </a:r>
            <a:endParaRPr lang="en-US" sz="850" dirty="0"/>
          </a:p>
        </p:txBody>
      </p:sp>
      <p:sp>
        <p:nvSpPr>
          <p:cNvPr id="43" name="Text 39"/>
          <p:cNvSpPr txBox="1"/>
          <p:nvPr/>
        </p:nvSpPr>
        <p:spPr>
          <a:xfrm>
            <a:off x="12861360" y="2340000"/>
            <a:ext cx="1973520" cy="162000"/>
          </a:xfrm>
          <a:prstGeom prst="rect">
            <a:avLst/>
          </a:prstGeom>
          <a:noFill/>
          <a:ln/>
        </p:spPr>
        <p:txBody>
          <a:bodyPr wrap="square" lIns="0" tIns="0" rIns="0" bIns="0" rtlCol="0" anchor="ctr"/>
          <a:lstStyle/>
          <a:p>
            <a:pPr indent="0" marL="0">
              <a:buNone/>
            </a:pPr>
            <a:r>
              <a:rPr lang="en-US" sz="1150" b="1" dirty="0">
                <a:solidFill>
                  <a:srgbClr val="000000"/>
                </a:solidFill>
                <a:latin typeface="Century Gothic" pitchFamily="34" charset="0"/>
                <a:ea typeface="Century Gothic" pitchFamily="34" charset="-122"/>
                <a:cs typeface="Century Gothic" pitchFamily="34" charset="-120"/>
              </a:rPr>
              <a:t>Thu 24</a:t>
            </a:r>
            <a:endParaRPr lang="en-US" sz="1150" dirty="0"/>
          </a:p>
        </p:txBody>
      </p:sp>
      <p:sp>
        <p:nvSpPr>
          <p:cNvPr id="44" name="Text 40"/>
          <p:cNvSpPr txBox="1"/>
          <p:nvPr/>
        </p:nvSpPr>
        <p:spPr>
          <a:xfrm>
            <a:off x="12861360" y="2491200"/>
            <a:ext cx="1973520" cy="144000"/>
          </a:xfrm>
          <a:prstGeom prst="rect">
            <a:avLst/>
          </a:prstGeom>
          <a:noFill/>
          <a:ln/>
        </p:spPr>
        <p:txBody>
          <a:bodyPr wrap="square" lIns="0" tIns="0" rIns="0" bIns="0" rtlCol="0" anchor="ctr"/>
          <a:lstStyle/>
          <a:p>
            <a:pPr indent="0" marL="0">
              <a:buNone/>
            </a:pPr>
            <a:r>
              <a:rPr lang="en-US" sz="850" dirty="0">
                <a:solidFill>
                  <a:srgbClr val="595959"/>
                </a:solidFill>
                <a:latin typeface="Century Gothic" pitchFamily="34" charset="0"/>
                <a:ea typeface="Century Gothic" pitchFamily="34" charset="-122"/>
                <a:cs typeface="Century Gothic" pitchFamily="34" charset="-120"/>
              </a:rPr>
              <a:t>Belo Horizonte → Curitiba</a:t>
            </a:r>
            <a:endParaRPr lang="en-US" sz="850" dirty="0"/>
          </a:p>
        </p:txBody>
      </p:sp>
      <p:sp>
        <p:nvSpPr>
          <p:cNvPr id="45" name="Text 41"/>
          <p:cNvSpPr txBox="1"/>
          <p:nvPr/>
        </p:nvSpPr>
        <p:spPr>
          <a:xfrm>
            <a:off x="14978880" y="2340000"/>
            <a:ext cx="1973520" cy="162000"/>
          </a:xfrm>
          <a:prstGeom prst="rect">
            <a:avLst/>
          </a:prstGeom>
          <a:noFill/>
          <a:ln/>
        </p:spPr>
        <p:txBody>
          <a:bodyPr wrap="square" lIns="0" tIns="0" rIns="0" bIns="0" rtlCol="0" anchor="ctr"/>
          <a:lstStyle/>
          <a:p>
            <a:pPr indent="0" marL="0">
              <a:buNone/>
            </a:pPr>
            <a:r>
              <a:rPr lang="en-US" sz="1150" b="1" dirty="0">
                <a:solidFill>
                  <a:srgbClr val="000000"/>
                </a:solidFill>
                <a:latin typeface="Century Gothic" pitchFamily="34" charset="0"/>
                <a:ea typeface="Century Gothic" pitchFamily="34" charset="-122"/>
                <a:cs typeface="Century Gothic" pitchFamily="34" charset="-120"/>
              </a:rPr>
              <a:t>Fri 25</a:t>
            </a:r>
            <a:endParaRPr lang="en-US" sz="1150" dirty="0"/>
          </a:p>
        </p:txBody>
      </p:sp>
      <p:sp>
        <p:nvSpPr>
          <p:cNvPr id="46" name="Text 42"/>
          <p:cNvSpPr txBox="1"/>
          <p:nvPr/>
        </p:nvSpPr>
        <p:spPr>
          <a:xfrm>
            <a:off x="14978880" y="2491200"/>
            <a:ext cx="1973520" cy="144000"/>
          </a:xfrm>
          <a:prstGeom prst="rect">
            <a:avLst/>
          </a:prstGeom>
          <a:noFill/>
          <a:ln/>
        </p:spPr>
        <p:txBody>
          <a:bodyPr wrap="square" lIns="0" tIns="0" rIns="0" bIns="0" rtlCol="0" anchor="ctr"/>
          <a:lstStyle/>
          <a:p>
            <a:pPr indent="0" marL="0">
              <a:buNone/>
            </a:pPr>
            <a:r>
              <a:rPr lang="en-US" sz="850" dirty="0">
                <a:solidFill>
                  <a:srgbClr val="595959"/>
                </a:solidFill>
                <a:latin typeface="Century Gothic" pitchFamily="34" charset="0"/>
                <a:ea typeface="Century Gothic" pitchFamily="34" charset="-122"/>
                <a:cs typeface="Century Gothic" pitchFamily="34" charset="-120"/>
              </a:rPr>
              <a:t>Curitiba → departure</a:t>
            </a:r>
            <a:endParaRPr lang="en-US" sz="850" dirty="0"/>
          </a:p>
        </p:txBody>
      </p:sp>
      <p:sp>
        <p:nvSpPr>
          <p:cNvPr id="47" name="Shape 43"/>
          <p:cNvSpPr/>
          <p:nvPr/>
        </p:nvSpPr>
        <p:spPr>
          <a:xfrm>
            <a:off x="5644800" y="2653200"/>
            <a:ext cx="11343600" cy="0"/>
          </a:xfrm>
          <a:prstGeom prst="line">
            <a:avLst/>
          </a:prstGeom>
          <a:noFill/>
          <a:ln w="12700">
            <a:solidFill>
              <a:srgbClr val="000000"/>
            </a:solidFill>
            <a:prstDash val="solid"/>
          </a:ln>
        </p:spPr>
      </p:sp>
      <p:sp>
        <p:nvSpPr>
          <p:cNvPr id="48" name="Text 44"/>
          <p:cNvSpPr txBox="1"/>
          <p:nvPr/>
        </p:nvSpPr>
        <p:spPr>
          <a:xfrm>
            <a:off x="5716800" y="2653200"/>
            <a:ext cx="576000" cy="414000"/>
          </a:xfrm>
          <a:prstGeom prst="rect">
            <a:avLst/>
          </a:prstGeom>
          <a:noFill/>
          <a:ln/>
        </p:spPr>
        <p:txBody>
          <a:bodyPr wrap="square" lIns="0" tIns="0" rIns="0" bIns="0" rtlCol="0" anchor="ctr"/>
          <a:lstStyle/>
          <a:p>
            <a:pPr algn="r" indent="0" marL="0">
              <a:buNone/>
            </a:pPr>
            <a:r>
              <a:rPr lang="en-US" sz="1000" b="1" dirty="0">
                <a:solidFill>
                  <a:srgbClr val="595959"/>
                </a:solidFill>
                <a:latin typeface="Century Gothic" pitchFamily="34" charset="0"/>
                <a:ea typeface="Century Gothic" pitchFamily="34" charset="-122"/>
                <a:cs typeface="Century Gothic" pitchFamily="34" charset="-120"/>
              </a:rPr>
              <a:t>06:00</a:t>
            </a:r>
            <a:endParaRPr lang="en-US" sz="1000" dirty="0"/>
          </a:p>
        </p:txBody>
      </p:sp>
      <p:sp>
        <p:nvSpPr>
          <p:cNvPr id="49" name="Text 45"/>
          <p:cNvSpPr txBox="1"/>
          <p:nvPr/>
        </p:nvSpPr>
        <p:spPr>
          <a:xfrm>
            <a:off x="6508800" y="2682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LX 92 lands 05:25 · GRU T3</a:t>
            </a:r>
            <a:endParaRPr lang="en-US" sz="900" dirty="0"/>
          </a:p>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BTG Pactual · car to the hotel</a:t>
            </a:r>
            <a:endParaRPr lang="en-US" sz="900" dirty="0"/>
          </a:p>
        </p:txBody>
      </p:sp>
      <p:sp>
        <p:nvSpPr>
          <p:cNvPr id="50" name="Text 46"/>
          <p:cNvSpPr txBox="1"/>
          <p:nvPr/>
        </p:nvSpPr>
        <p:spPr>
          <a:xfrm>
            <a:off x="8626320" y="2653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51" name="Text 47"/>
          <p:cNvSpPr txBox="1"/>
          <p:nvPr/>
        </p:nvSpPr>
        <p:spPr>
          <a:xfrm>
            <a:off x="10743840" y="2653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52" name="Text 48"/>
          <p:cNvSpPr txBox="1"/>
          <p:nvPr/>
        </p:nvSpPr>
        <p:spPr>
          <a:xfrm>
            <a:off x="12861360" y="2653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53" name="Text 49"/>
          <p:cNvSpPr txBox="1"/>
          <p:nvPr/>
        </p:nvSpPr>
        <p:spPr>
          <a:xfrm>
            <a:off x="14978880" y="2653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54" name="Shape 50"/>
          <p:cNvSpPr/>
          <p:nvPr/>
        </p:nvSpPr>
        <p:spPr>
          <a:xfrm>
            <a:off x="5644800" y="3067200"/>
            <a:ext cx="11343600" cy="0"/>
          </a:xfrm>
          <a:prstGeom prst="line">
            <a:avLst/>
          </a:prstGeom>
          <a:noFill/>
          <a:ln w="6350">
            <a:solidFill>
              <a:srgbClr val="D9D9D9"/>
            </a:solidFill>
            <a:prstDash val="solid"/>
          </a:ln>
        </p:spPr>
      </p:sp>
      <p:sp>
        <p:nvSpPr>
          <p:cNvPr id="55" name="Shape 51"/>
          <p:cNvSpPr/>
          <p:nvPr/>
        </p:nvSpPr>
        <p:spPr>
          <a:xfrm>
            <a:off x="5644800" y="3067200"/>
            <a:ext cx="11343600" cy="414000"/>
          </a:xfrm>
          <a:prstGeom prst="rect">
            <a:avLst/>
          </a:prstGeom>
          <a:solidFill>
            <a:srgbClr val="F2F2F2"/>
          </a:solidFill>
          <a:ln/>
        </p:spPr>
      </p:sp>
      <p:sp>
        <p:nvSpPr>
          <p:cNvPr id="56" name="Text 52"/>
          <p:cNvSpPr txBox="1"/>
          <p:nvPr/>
        </p:nvSpPr>
        <p:spPr>
          <a:xfrm>
            <a:off x="5716800" y="3067200"/>
            <a:ext cx="576000" cy="414000"/>
          </a:xfrm>
          <a:prstGeom prst="rect">
            <a:avLst/>
          </a:prstGeom>
          <a:noFill/>
          <a:ln/>
        </p:spPr>
        <p:txBody>
          <a:bodyPr wrap="square" lIns="0" tIns="0" rIns="0" bIns="0" rtlCol="0" anchor="ctr"/>
          <a:lstStyle/>
          <a:p>
            <a:pPr algn="r" indent="0" marL="0">
              <a:buNone/>
            </a:pPr>
            <a:r>
              <a:rPr lang="en-US" sz="1000" b="1" dirty="0">
                <a:solidFill>
                  <a:srgbClr val="595959"/>
                </a:solidFill>
                <a:latin typeface="Century Gothic" pitchFamily="34" charset="0"/>
                <a:ea typeface="Century Gothic" pitchFamily="34" charset="-122"/>
                <a:cs typeface="Century Gothic" pitchFamily="34" charset="-120"/>
              </a:rPr>
              <a:t>08:00</a:t>
            </a:r>
            <a:endParaRPr lang="en-US" sz="1000" dirty="0"/>
          </a:p>
        </p:txBody>
      </p:sp>
      <p:sp>
        <p:nvSpPr>
          <p:cNvPr id="57" name="Text 53"/>
          <p:cNvSpPr txBox="1"/>
          <p:nvPr/>
        </p:nvSpPr>
        <p:spPr>
          <a:xfrm>
            <a:off x="6508800" y="3096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Hotel check-in  [early check-in — TBC]</a:t>
            </a:r>
            <a:endParaRPr lang="en-US" sz="900" dirty="0"/>
          </a:p>
        </p:txBody>
      </p:sp>
      <p:sp>
        <p:nvSpPr>
          <p:cNvPr id="58" name="Text 54"/>
          <p:cNvSpPr txBox="1"/>
          <p:nvPr/>
        </p:nvSpPr>
        <p:spPr>
          <a:xfrm>
            <a:off x="8626320" y="3096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Private flight Congonhas (CGH) → Sumaré  [time — TBC]</a:t>
            </a:r>
            <a:endParaRPr lang="en-US" sz="900" dirty="0"/>
          </a:p>
        </p:txBody>
      </p:sp>
      <p:sp>
        <p:nvSpPr>
          <p:cNvPr id="59" name="Text 55"/>
          <p:cNvSpPr txBox="1"/>
          <p:nvPr/>
        </p:nvSpPr>
        <p:spPr>
          <a:xfrm>
            <a:off x="10743840" y="3096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Car to Contagem  [departure — TBC]</a:t>
            </a:r>
            <a:endParaRPr lang="en-US" sz="900" dirty="0"/>
          </a:p>
        </p:txBody>
      </p:sp>
      <p:sp>
        <p:nvSpPr>
          <p:cNvPr id="60" name="Text 56"/>
          <p:cNvSpPr txBox="1"/>
          <p:nvPr/>
        </p:nvSpPr>
        <p:spPr>
          <a:xfrm>
            <a:off x="12861360" y="3096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Morning programme proposed by Luiz Gustavo  [details — TBC]</a:t>
            </a:r>
            <a:endParaRPr lang="en-US" sz="900" dirty="0"/>
          </a:p>
        </p:txBody>
      </p:sp>
      <p:sp>
        <p:nvSpPr>
          <p:cNvPr id="61" name="Text 57"/>
          <p:cNvSpPr txBox="1"/>
          <p:nvPr/>
        </p:nvSpPr>
        <p:spPr>
          <a:xfrm>
            <a:off x="14978880" y="3096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Curitiba programme  [TBC]</a:t>
            </a:r>
            <a:endParaRPr lang="en-US" sz="900" dirty="0"/>
          </a:p>
        </p:txBody>
      </p:sp>
      <p:sp>
        <p:nvSpPr>
          <p:cNvPr id="62" name="Shape 58"/>
          <p:cNvSpPr/>
          <p:nvPr/>
        </p:nvSpPr>
        <p:spPr>
          <a:xfrm>
            <a:off x="5644800" y="3481200"/>
            <a:ext cx="11343600" cy="0"/>
          </a:xfrm>
          <a:prstGeom prst="line">
            <a:avLst/>
          </a:prstGeom>
          <a:noFill/>
          <a:ln w="6350">
            <a:solidFill>
              <a:srgbClr val="D9D9D9"/>
            </a:solidFill>
            <a:prstDash val="solid"/>
          </a:ln>
        </p:spPr>
      </p:sp>
      <p:sp>
        <p:nvSpPr>
          <p:cNvPr id="63" name="Text 59"/>
          <p:cNvSpPr txBox="1"/>
          <p:nvPr/>
        </p:nvSpPr>
        <p:spPr>
          <a:xfrm>
            <a:off x="5716800" y="3481200"/>
            <a:ext cx="576000" cy="414000"/>
          </a:xfrm>
          <a:prstGeom prst="rect">
            <a:avLst/>
          </a:prstGeom>
          <a:noFill/>
          <a:ln/>
        </p:spPr>
        <p:txBody>
          <a:bodyPr wrap="square" lIns="0" tIns="0" rIns="0" bIns="0" rtlCol="0" anchor="ctr"/>
          <a:lstStyle/>
          <a:p>
            <a:pPr algn="r" indent="0" marL="0">
              <a:buNone/>
            </a:pPr>
            <a:r>
              <a:rPr lang="en-US" sz="1000" b="1" dirty="0">
                <a:solidFill>
                  <a:srgbClr val="595959"/>
                </a:solidFill>
                <a:latin typeface="Century Gothic" pitchFamily="34" charset="0"/>
                <a:ea typeface="Century Gothic" pitchFamily="34" charset="-122"/>
                <a:cs typeface="Century Gothic" pitchFamily="34" charset="-120"/>
              </a:rPr>
              <a:t>09:30</a:t>
            </a:r>
            <a:endParaRPr lang="en-US" sz="1000" dirty="0"/>
          </a:p>
        </p:txBody>
      </p:sp>
      <p:sp>
        <p:nvSpPr>
          <p:cNvPr id="64" name="Text 60"/>
          <p:cNvSpPr txBox="1"/>
          <p:nvPr/>
        </p:nvSpPr>
        <p:spPr>
          <a:xfrm>
            <a:off x="6508800" y="3481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65" name="Text 61"/>
          <p:cNvSpPr txBox="1"/>
          <p:nvPr/>
        </p:nvSpPr>
        <p:spPr>
          <a:xfrm>
            <a:off x="8626320" y="3510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Sumaré — site visit</a:t>
            </a:r>
            <a:endParaRPr lang="en-US" sz="900" dirty="0"/>
          </a:p>
        </p:txBody>
      </p:sp>
      <p:sp>
        <p:nvSpPr>
          <p:cNvPr id="66" name="Text 62"/>
          <p:cNvSpPr txBox="1"/>
          <p:nvPr/>
        </p:nvSpPr>
        <p:spPr>
          <a:xfrm>
            <a:off x="10743840" y="3510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Contagem — operations visit</a:t>
            </a:r>
            <a:endParaRPr lang="en-US" sz="900" dirty="0"/>
          </a:p>
        </p:txBody>
      </p:sp>
      <p:sp>
        <p:nvSpPr>
          <p:cNvPr id="67" name="Text 63"/>
          <p:cNvSpPr txBox="1"/>
          <p:nvPr/>
        </p:nvSpPr>
        <p:spPr>
          <a:xfrm>
            <a:off x="12861360" y="3481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68" name="Text 64"/>
          <p:cNvSpPr txBox="1"/>
          <p:nvPr/>
        </p:nvSpPr>
        <p:spPr>
          <a:xfrm>
            <a:off x="14978880" y="3481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69" name="Shape 65"/>
          <p:cNvSpPr/>
          <p:nvPr/>
        </p:nvSpPr>
        <p:spPr>
          <a:xfrm>
            <a:off x="5644800" y="3895200"/>
            <a:ext cx="11343600" cy="0"/>
          </a:xfrm>
          <a:prstGeom prst="line">
            <a:avLst/>
          </a:prstGeom>
          <a:noFill/>
          <a:ln w="6350">
            <a:solidFill>
              <a:srgbClr val="D9D9D9"/>
            </a:solidFill>
            <a:prstDash val="solid"/>
          </a:ln>
        </p:spPr>
      </p:sp>
      <p:sp>
        <p:nvSpPr>
          <p:cNvPr id="70" name="Shape 66"/>
          <p:cNvSpPr/>
          <p:nvPr/>
        </p:nvSpPr>
        <p:spPr>
          <a:xfrm>
            <a:off x="5644800" y="3895200"/>
            <a:ext cx="11343600" cy="414000"/>
          </a:xfrm>
          <a:prstGeom prst="rect">
            <a:avLst/>
          </a:prstGeom>
          <a:solidFill>
            <a:srgbClr val="F2F2F2"/>
          </a:solidFill>
          <a:ln/>
        </p:spPr>
      </p:sp>
      <p:sp>
        <p:nvSpPr>
          <p:cNvPr id="71" name="Text 67"/>
          <p:cNvSpPr txBox="1"/>
          <p:nvPr/>
        </p:nvSpPr>
        <p:spPr>
          <a:xfrm>
            <a:off x="5716800" y="3895200"/>
            <a:ext cx="576000" cy="414000"/>
          </a:xfrm>
          <a:prstGeom prst="rect">
            <a:avLst/>
          </a:prstGeom>
          <a:noFill/>
          <a:ln/>
        </p:spPr>
        <p:txBody>
          <a:bodyPr wrap="square" lIns="0" tIns="0" rIns="0" bIns="0" rtlCol="0" anchor="ctr"/>
          <a:lstStyle/>
          <a:p>
            <a:pPr algn="r" indent="0" marL="0">
              <a:buNone/>
            </a:pPr>
            <a:r>
              <a:rPr lang="en-US" sz="1000" b="1" dirty="0">
                <a:solidFill>
                  <a:srgbClr val="595959"/>
                </a:solidFill>
                <a:latin typeface="Century Gothic" pitchFamily="34" charset="0"/>
                <a:ea typeface="Century Gothic" pitchFamily="34" charset="-122"/>
                <a:cs typeface="Century Gothic" pitchFamily="34" charset="-120"/>
              </a:rPr>
              <a:t>11:00</a:t>
            </a:r>
            <a:endParaRPr lang="en-US" sz="1000" dirty="0"/>
          </a:p>
        </p:txBody>
      </p:sp>
      <p:sp>
        <p:nvSpPr>
          <p:cNvPr id="72" name="Text 68"/>
          <p:cNvSpPr txBox="1"/>
          <p:nvPr/>
        </p:nvSpPr>
        <p:spPr>
          <a:xfrm>
            <a:off x="6508800" y="3895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73" name="Text 69"/>
          <p:cNvSpPr txBox="1"/>
          <p:nvPr/>
        </p:nvSpPr>
        <p:spPr>
          <a:xfrm>
            <a:off x="8626320" y="3895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74" name="Text 70"/>
          <p:cNvSpPr txBox="1"/>
          <p:nvPr/>
        </p:nvSpPr>
        <p:spPr>
          <a:xfrm>
            <a:off x="10743840" y="3895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75" name="Text 71"/>
          <p:cNvSpPr txBox="1"/>
          <p:nvPr/>
        </p:nvSpPr>
        <p:spPr>
          <a:xfrm>
            <a:off x="12861360" y="3895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76" name="Text 72"/>
          <p:cNvSpPr txBox="1"/>
          <p:nvPr/>
        </p:nvSpPr>
        <p:spPr>
          <a:xfrm>
            <a:off x="14978880" y="3924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Commercial flight CWB → GRU  [flight — TBC]</a:t>
            </a:r>
            <a:endParaRPr lang="en-US" sz="900" dirty="0"/>
          </a:p>
        </p:txBody>
      </p:sp>
      <p:sp>
        <p:nvSpPr>
          <p:cNvPr id="77" name="Shape 73"/>
          <p:cNvSpPr/>
          <p:nvPr/>
        </p:nvSpPr>
        <p:spPr>
          <a:xfrm>
            <a:off x="5644800" y="4309200"/>
            <a:ext cx="11343600" cy="0"/>
          </a:xfrm>
          <a:prstGeom prst="line">
            <a:avLst/>
          </a:prstGeom>
          <a:noFill/>
          <a:ln w="6350">
            <a:solidFill>
              <a:srgbClr val="D9D9D9"/>
            </a:solidFill>
            <a:prstDash val="solid"/>
          </a:ln>
        </p:spPr>
      </p:sp>
      <p:sp>
        <p:nvSpPr>
          <p:cNvPr id="78" name="Text 74"/>
          <p:cNvSpPr txBox="1"/>
          <p:nvPr/>
        </p:nvSpPr>
        <p:spPr>
          <a:xfrm>
            <a:off x="5716800" y="4309200"/>
            <a:ext cx="576000" cy="414000"/>
          </a:xfrm>
          <a:prstGeom prst="rect">
            <a:avLst/>
          </a:prstGeom>
          <a:noFill/>
          <a:ln/>
        </p:spPr>
        <p:txBody>
          <a:bodyPr wrap="square" lIns="0" tIns="0" rIns="0" bIns="0" rtlCol="0" anchor="ctr"/>
          <a:lstStyle/>
          <a:p>
            <a:pPr algn="r" indent="0" marL="0">
              <a:buNone/>
            </a:pPr>
            <a:r>
              <a:rPr lang="en-US" sz="1000" b="1" dirty="0">
                <a:solidFill>
                  <a:srgbClr val="595959"/>
                </a:solidFill>
                <a:latin typeface="Century Gothic" pitchFamily="34" charset="0"/>
                <a:ea typeface="Century Gothic" pitchFamily="34" charset="-122"/>
                <a:cs typeface="Century Gothic" pitchFamily="34" charset="-120"/>
              </a:rPr>
              <a:t>12:30</a:t>
            </a:r>
            <a:endParaRPr lang="en-US" sz="1000" dirty="0"/>
          </a:p>
        </p:txBody>
      </p:sp>
      <p:sp>
        <p:nvSpPr>
          <p:cNvPr id="79" name="Text 75"/>
          <p:cNvSpPr txBox="1"/>
          <p:nvPr/>
        </p:nvSpPr>
        <p:spPr>
          <a:xfrm>
            <a:off x="6508800" y="4309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80" name="Text 76"/>
          <p:cNvSpPr txBox="1"/>
          <p:nvPr/>
        </p:nvSpPr>
        <p:spPr>
          <a:xfrm>
            <a:off x="8626320" y="4309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81" name="Text 77"/>
          <p:cNvSpPr txBox="1"/>
          <p:nvPr/>
        </p:nvSpPr>
        <p:spPr>
          <a:xfrm>
            <a:off x="10743840" y="4309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82" name="Text 78"/>
          <p:cNvSpPr txBox="1"/>
          <p:nvPr/>
        </p:nvSpPr>
        <p:spPr>
          <a:xfrm>
            <a:off x="12861360" y="4309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83" name="Text 79"/>
          <p:cNvSpPr txBox="1"/>
          <p:nvPr/>
        </p:nvSpPr>
        <p:spPr>
          <a:xfrm>
            <a:off x="14978880" y="4338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Arrive GRU · transfer T1 / T2 → T3</a:t>
            </a:r>
            <a:endParaRPr lang="en-US" sz="900" dirty="0"/>
          </a:p>
        </p:txBody>
      </p:sp>
      <p:sp>
        <p:nvSpPr>
          <p:cNvPr id="84" name="Shape 80"/>
          <p:cNvSpPr/>
          <p:nvPr/>
        </p:nvSpPr>
        <p:spPr>
          <a:xfrm>
            <a:off x="5644800" y="4723200"/>
            <a:ext cx="11343600" cy="0"/>
          </a:xfrm>
          <a:prstGeom prst="line">
            <a:avLst/>
          </a:prstGeom>
          <a:noFill/>
          <a:ln w="6350">
            <a:solidFill>
              <a:srgbClr val="D9D9D9"/>
            </a:solidFill>
            <a:prstDash val="solid"/>
          </a:ln>
        </p:spPr>
      </p:sp>
      <p:sp>
        <p:nvSpPr>
          <p:cNvPr id="85" name="Shape 81"/>
          <p:cNvSpPr/>
          <p:nvPr/>
        </p:nvSpPr>
        <p:spPr>
          <a:xfrm>
            <a:off x="5644800" y="4723200"/>
            <a:ext cx="11343600" cy="414000"/>
          </a:xfrm>
          <a:prstGeom prst="rect">
            <a:avLst/>
          </a:prstGeom>
          <a:solidFill>
            <a:srgbClr val="F2F2F2"/>
          </a:solidFill>
          <a:ln/>
        </p:spPr>
      </p:sp>
      <p:sp>
        <p:nvSpPr>
          <p:cNvPr id="86" name="Text 82"/>
          <p:cNvSpPr txBox="1"/>
          <p:nvPr/>
        </p:nvSpPr>
        <p:spPr>
          <a:xfrm>
            <a:off x="5716800" y="4723200"/>
            <a:ext cx="576000" cy="414000"/>
          </a:xfrm>
          <a:prstGeom prst="rect">
            <a:avLst/>
          </a:prstGeom>
          <a:noFill/>
          <a:ln/>
        </p:spPr>
        <p:txBody>
          <a:bodyPr wrap="square" lIns="0" tIns="0" rIns="0" bIns="0" rtlCol="0" anchor="ctr"/>
          <a:lstStyle/>
          <a:p>
            <a:pPr algn="r" indent="0" marL="0">
              <a:buNone/>
            </a:pPr>
            <a:r>
              <a:rPr lang="en-US" sz="1000" b="1" dirty="0">
                <a:solidFill>
                  <a:srgbClr val="595959"/>
                </a:solidFill>
                <a:latin typeface="Century Gothic" pitchFamily="34" charset="0"/>
                <a:ea typeface="Century Gothic" pitchFamily="34" charset="-122"/>
                <a:cs typeface="Century Gothic" pitchFamily="34" charset="-120"/>
              </a:rPr>
              <a:t>14:00</a:t>
            </a:r>
            <a:endParaRPr lang="en-US" sz="1000" dirty="0"/>
          </a:p>
        </p:txBody>
      </p:sp>
      <p:sp>
        <p:nvSpPr>
          <p:cNvPr id="87" name="Text 83"/>
          <p:cNvSpPr txBox="1"/>
          <p:nvPr/>
        </p:nvSpPr>
        <p:spPr>
          <a:xfrm>
            <a:off x="6508800" y="4723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88" name="Text 84"/>
          <p:cNvSpPr txBox="1"/>
          <p:nvPr/>
        </p:nvSpPr>
        <p:spPr>
          <a:xfrm>
            <a:off x="8626320" y="4723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89" name="Text 85"/>
          <p:cNvSpPr txBox="1"/>
          <p:nvPr/>
        </p:nvSpPr>
        <p:spPr>
          <a:xfrm>
            <a:off x="10743840" y="4723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90" name="Text 86"/>
          <p:cNvSpPr txBox="1"/>
          <p:nvPr/>
        </p:nvSpPr>
        <p:spPr>
          <a:xfrm>
            <a:off x="12861360" y="4723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91" name="Text 87"/>
          <p:cNvSpPr txBox="1"/>
          <p:nvPr/>
        </p:nvSpPr>
        <p:spPr>
          <a:xfrm>
            <a:off x="14978880" y="4723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92" name="Shape 88"/>
          <p:cNvSpPr/>
          <p:nvPr/>
        </p:nvSpPr>
        <p:spPr>
          <a:xfrm>
            <a:off x="5644800" y="5137200"/>
            <a:ext cx="11343600" cy="0"/>
          </a:xfrm>
          <a:prstGeom prst="line">
            <a:avLst/>
          </a:prstGeom>
          <a:noFill/>
          <a:ln w="6350">
            <a:solidFill>
              <a:srgbClr val="D9D9D9"/>
            </a:solidFill>
            <a:prstDash val="solid"/>
          </a:ln>
        </p:spPr>
      </p:sp>
      <p:sp>
        <p:nvSpPr>
          <p:cNvPr id="93" name="Text 89"/>
          <p:cNvSpPr txBox="1"/>
          <p:nvPr/>
        </p:nvSpPr>
        <p:spPr>
          <a:xfrm>
            <a:off x="5716800" y="5137200"/>
            <a:ext cx="576000" cy="414000"/>
          </a:xfrm>
          <a:prstGeom prst="rect">
            <a:avLst/>
          </a:prstGeom>
          <a:noFill/>
          <a:ln/>
        </p:spPr>
        <p:txBody>
          <a:bodyPr wrap="square" lIns="0" tIns="0" rIns="0" bIns="0" rtlCol="0" anchor="ctr"/>
          <a:lstStyle/>
          <a:p>
            <a:pPr algn="r" indent="0" marL="0">
              <a:buNone/>
            </a:pPr>
            <a:r>
              <a:rPr lang="en-US" sz="1000" b="1" dirty="0">
                <a:solidFill>
                  <a:srgbClr val="595959"/>
                </a:solidFill>
                <a:latin typeface="Century Gothic" pitchFamily="34" charset="0"/>
                <a:ea typeface="Century Gothic" pitchFamily="34" charset="-122"/>
                <a:cs typeface="Century Gothic" pitchFamily="34" charset="-120"/>
              </a:rPr>
              <a:t>16:00</a:t>
            </a:r>
            <a:endParaRPr lang="en-US" sz="1000" dirty="0"/>
          </a:p>
        </p:txBody>
      </p:sp>
      <p:sp>
        <p:nvSpPr>
          <p:cNvPr id="94" name="Text 90"/>
          <p:cNvSpPr txBox="1"/>
          <p:nvPr/>
        </p:nvSpPr>
        <p:spPr>
          <a:xfrm>
            <a:off x="6508800" y="5137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95" name="Text 91"/>
          <p:cNvSpPr txBox="1"/>
          <p:nvPr/>
        </p:nvSpPr>
        <p:spPr>
          <a:xfrm>
            <a:off x="8626320" y="5137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96" name="Text 92"/>
          <p:cNvSpPr txBox="1"/>
          <p:nvPr/>
        </p:nvSpPr>
        <p:spPr>
          <a:xfrm>
            <a:off x="10743840" y="5137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97" name="Text 93"/>
          <p:cNvSpPr txBox="1"/>
          <p:nvPr/>
        </p:nvSpPr>
        <p:spPr>
          <a:xfrm>
            <a:off x="12861360" y="5137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98" name="Text 94"/>
          <p:cNvSpPr txBox="1"/>
          <p:nvPr/>
        </p:nvSpPr>
        <p:spPr>
          <a:xfrm>
            <a:off x="14978880" y="5137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99" name="Shape 95"/>
          <p:cNvSpPr/>
          <p:nvPr/>
        </p:nvSpPr>
        <p:spPr>
          <a:xfrm>
            <a:off x="5644800" y="5551200"/>
            <a:ext cx="11343600" cy="0"/>
          </a:xfrm>
          <a:prstGeom prst="line">
            <a:avLst/>
          </a:prstGeom>
          <a:noFill/>
          <a:ln w="6350">
            <a:solidFill>
              <a:srgbClr val="D9D9D9"/>
            </a:solidFill>
            <a:prstDash val="solid"/>
          </a:ln>
        </p:spPr>
      </p:sp>
      <p:sp>
        <p:nvSpPr>
          <p:cNvPr id="100" name="Shape 96"/>
          <p:cNvSpPr/>
          <p:nvPr/>
        </p:nvSpPr>
        <p:spPr>
          <a:xfrm>
            <a:off x="5644800" y="5551200"/>
            <a:ext cx="11343600" cy="414000"/>
          </a:xfrm>
          <a:prstGeom prst="rect">
            <a:avLst/>
          </a:prstGeom>
          <a:solidFill>
            <a:srgbClr val="F2F2F2"/>
          </a:solidFill>
          <a:ln/>
        </p:spPr>
      </p:sp>
      <p:sp>
        <p:nvSpPr>
          <p:cNvPr id="101" name="Text 97"/>
          <p:cNvSpPr txBox="1"/>
          <p:nvPr/>
        </p:nvSpPr>
        <p:spPr>
          <a:xfrm>
            <a:off x="5716800" y="5551200"/>
            <a:ext cx="576000" cy="414000"/>
          </a:xfrm>
          <a:prstGeom prst="rect">
            <a:avLst/>
          </a:prstGeom>
          <a:noFill/>
          <a:ln/>
        </p:spPr>
        <p:txBody>
          <a:bodyPr wrap="square" lIns="0" tIns="0" rIns="0" bIns="0" rtlCol="0" anchor="ctr"/>
          <a:lstStyle/>
          <a:p>
            <a:pPr algn="r" indent="0" marL="0">
              <a:buNone/>
            </a:pPr>
            <a:r>
              <a:rPr lang="en-US" sz="1000" b="1" dirty="0">
                <a:solidFill>
                  <a:srgbClr val="595959"/>
                </a:solidFill>
                <a:latin typeface="Century Gothic" pitchFamily="34" charset="0"/>
                <a:ea typeface="Century Gothic" pitchFamily="34" charset="-122"/>
                <a:cs typeface="Century Gothic" pitchFamily="34" charset="-120"/>
              </a:rPr>
              <a:t>18:00</a:t>
            </a:r>
            <a:endParaRPr lang="en-US" sz="1000" dirty="0"/>
          </a:p>
        </p:txBody>
      </p:sp>
      <p:sp>
        <p:nvSpPr>
          <p:cNvPr id="102" name="Text 98"/>
          <p:cNvSpPr txBox="1"/>
          <p:nvPr/>
        </p:nvSpPr>
        <p:spPr>
          <a:xfrm>
            <a:off x="6508800" y="5551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103" name="Text 99"/>
          <p:cNvSpPr txBox="1"/>
          <p:nvPr/>
        </p:nvSpPr>
        <p:spPr>
          <a:xfrm>
            <a:off x="8626320" y="5580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Private flight Sumaré → Belo Horizonte  (evening)</a:t>
            </a:r>
            <a:endParaRPr lang="en-US" sz="900" dirty="0"/>
          </a:p>
        </p:txBody>
      </p:sp>
      <p:sp>
        <p:nvSpPr>
          <p:cNvPr id="104" name="Text 100"/>
          <p:cNvSpPr txBox="1"/>
          <p:nvPr/>
        </p:nvSpPr>
        <p:spPr>
          <a:xfrm>
            <a:off x="10743840" y="5580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Return to Belo Horizonte</a:t>
            </a:r>
            <a:endParaRPr lang="en-US" sz="900" dirty="0"/>
          </a:p>
        </p:txBody>
      </p:sp>
      <p:sp>
        <p:nvSpPr>
          <p:cNvPr id="105" name="Text 101"/>
          <p:cNvSpPr txBox="1"/>
          <p:nvPr/>
        </p:nvSpPr>
        <p:spPr>
          <a:xfrm>
            <a:off x="12861360" y="5580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Private flight Confins (CNF) → Curitiba (CWB)  (evening)</a:t>
            </a:r>
            <a:endParaRPr lang="en-US" sz="900" dirty="0"/>
          </a:p>
        </p:txBody>
      </p:sp>
      <p:sp>
        <p:nvSpPr>
          <p:cNvPr id="106" name="Text 102"/>
          <p:cNvSpPr txBox="1"/>
          <p:nvPr/>
        </p:nvSpPr>
        <p:spPr>
          <a:xfrm>
            <a:off x="14978880" y="5580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LX 93 to Zürich departs 18:25 · GRU T3</a:t>
            </a:r>
            <a:endParaRPr lang="en-US" sz="900" dirty="0"/>
          </a:p>
        </p:txBody>
      </p:sp>
      <p:sp>
        <p:nvSpPr>
          <p:cNvPr id="107" name="Shape 103"/>
          <p:cNvSpPr/>
          <p:nvPr/>
        </p:nvSpPr>
        <p:spPr>
          <a:xfrm>
            <a:off x="5644800" y="5965200"/>
            <a:ext cx="11343600" cy="0"/>
          </a:xfrm>
          <a:prstGeom prst="line">
            <a:avLst/>
          </a:prstGeom>
          <a:noFill/>
          <a:ln w="6350">
            <a:solidFill>
              <a:srgbClr val="D9D9D9"/>
            </a:solidFill>
            <a:prstDash val="solid"/>
          </a:ln>
        </p:spPr>
      </p:sp>
      <p:sp>
        <p:nvSpPr>
          <p:cNvPr id="108" name="Text 104"/>
          <p:cNvSpPr txBox="1"/>
          <p:nvPr/>
        </p:nvSpPr>
        <p:spPr>
          <a:xfrm>
            <a:off x="5716800" y="5965200"/>
            <a:ext cx="576000" cy="414000"/>
          </a:xfrm>
          <a:prstGeom prst="rect">
            <a:avLst/>
          </a:prstGeom>
          <a:noFill/>
          <a:ln/>
        </p:spPr>
        <p:txBody>
          <a:bodyPr wrap="square" lIns="0" tIns="0" rIns="0" bIns="0" rtlCol="0" anchor="ctr"/>
          <a:lstStyle/>
          <a:p>
            <a:pPr algn="r" indent="0" marL="0">
              <a:buNone/>
            </a:pPr>
            <a:r>
              <a:rPr lang="en-US" sz="1000" b="1" dirty="0">
                <a:solidFill>
                  <a:srgbClr val="595959"/>
                </a:solidFill>
                <a:latin typeface="Century Gothic" pitchFamily="34" charset="0"/>
                <a:ea typeface="Century Gothic" pitchFamily="34" charset="-122"/>
                <a:cs typeface="Century Gothic" pitchFamily="34" charset="-120"/>
              </a:rPr>
              <a:t>20:00</a:t>
            </a:r>
            <a:endParaRPr lang="en-US" sz="1000" dirty="0"/>
          </a:p>
        </p:txBody>
      </p:sp>
      <p:sp>
        <p:nvSpPr>
          <p:cNvPr id="109" name="Text 105"/>
          <p:cNvSpPr txBox="1"/>
          <p:nvPr/>
        </p:nvSpPr>
        <p:spPr>
          <a:xfrm>
            <a:off x="6508800" y="5994000"/>
            <a:ext cx="1955520" cy="356400"/>
          </a:xfrm>
          <a:prstGeom prst="rect">
            <a:avLst/>
          </a:prstGeom>
          <a:noFill/>
          <a:ln/>
        </p:spPr>
        <p:txBody>
          <a:bodyPr wrap="square" lIns="0" tIns="0" rIns="0" bIns="0" rtlCol="0" anchor="ctr"/>
          <a:lstStyle/>
          <a:p>
            <a:pPr indent="0" marL="0">
              <a:lnSpc>
                <a:spcPct val="105000"/>
              </a:lnSpc>
              <a:buNone/>
            </a:pPr>
            <a:r>
              <a:rPr lang="en-US" sz="900" dirty="0">
                <a:solidFill>
                  <a:srgbClr val="1B1B1B"/>
                </a:solidFill>
                <a:latin typeface="Century Gothic" pitchFamily="34" charset="0"/>
                <a:ea typeface="Century Gothic" pitchFamily="34" charset="-122"/>
                <a:cs typeface="Century Gothic" pitchFamily="34" charset="-120"/>
              </a:rPr>
              <a:t>Welcome dinner  [TBC]</a:t>
            </a:r>
            <a:endParaRPr lang="en-US" sz="900" dirty="0"/>
          </a:p>
        </p:txBody>
      </p:sp>
      <p:sp>
        <p:nvSpPr>
          <p:cNvPr id="110" name="Text 106"/>
          <p:cNvSpPr txBox="1"/>
          <p:nvPr/>
        </p:nvSpPr>
        <p:spPr>
          <a:xfrm>
            <a:off x="8626320" y="5965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111" name="Text 107"/>
          <p:cNvSpPr txBox="1"/>
          <p:nvPr/>
        </p:nvSpPr>
        <p:spPr>
          <a:xfrm>
            <a:off x="10743840" y="5965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112" name="Text 108"/>
          <p:cNvSpPr txBox="1"/>
          <p:nvPr/>
        </p:nvSpPr>
        <p:spPr>
          <a:xfrm>
            <a:off x="12861360" y="5965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113" name="Text 109"/>
          <p:cNvSpPr txBox="1"/>
          <p:nvPr/>
        </p:nvSpPr>
        <p:spPr>
          <a:xfrm>
            <a:off x="14978880" y="5965200"/>
            <a:ext cx="1955520" cy="4140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    ]</a:t>
            </a:r>
            <a:endParaRPr lang="en-US" sz="900" dirty="0"/>
          </a:p>
        </p:txBody>
      </p:sp>
      <p:sp>
        <p:nvSpPr>
          <p:cNvPr id="114" name="Shape 110"/>
          <p:cNvSpPr/>
          <p:nvPr/>
        </p:nvSpPr>
        <p:spPr>
          <a:xfrm>
            <a:off x="5644800" y="6379200"/>
            <a:ext cx="11343600" cy="0"/>
          </a:xfrm>
          <a:prstGeom prst="line">
            <a:avLst/>
          </a:prstGeom>
          <a:noFill/>
          <a:ln w="6350">
            <a:solidFill>
              <a:srgbClr val="D9D9D9"/>
            </a:solidFill>
            <a:prstDash val="solid"/>
          </a:ln>
        </p:spPr>
      </p:sp>
      <p:sp>
        <p:nvSpPr>
          <p:cNvPr id="115" name="Shape 111"/>
          <p:cNvSpPr/>
          <p:nvPr/>
        </p:nvSpPr>
        <p:spPr>
          <a:xfrm>
            <a:off x="5644800" y="6379200"/>
            <a:ext cx="11343600" cy="360000"/>
          </a:xfrm>
          <a:prstGeom prst="rect">
            <a:avLst/>
          </a:prstGeom>
          <a:solidFill>
            <a:srgbClr val="1B1B1B"/>
          </a:solidFill>
          <a:ln/>
        </p:spPr>
      </p:sp>
      <p:sp>
        <p:nvSpPr>
          <p:cNvPr id="116" name="Text 112"/>
          <p:cNvSpPr txBox="1"/>
          <p:nvPr/>
        </p:nvSpPr>
        <p:spPr>
          <a:xfrm>
            <a:off x="5716800" y="6379200"/>
            <a:ext cx="576000" cy="360000"/>
          </a:xfrm>
          <a:prstGeom prst="rect">
            <a:avLst/>
          </a:prstGeom>
          <a:noFill/>
          <a:ln/>
        </p:spPr>
        <p:txBody>
          <a:bodyPr wrap="square" lIns="0" tIns="0" rIns="0" bIns="0" rtlCol="0" anchor="ctr"/>
          <a:lstStyle/>
          <a:p>
            <a:pPr algn="r" indent="0" marL="0">
              <a:buNone/>
            </a:pPr>
            <a:r>
              <a:rPr lang="en-US" sz="850" b="1" spc="100" kern="0" dirty="0">
                <a:solidFill>
                  <a:srgbClr val="FDBA12"/>
                </a:solidFill>
                <a:latin typeface="Century Gothic" pitchFamily="34" charset="0"/>
                <a:ea typeface="Century Gothic" pitchFamily="34" charset="-122"/>
                <a:cs typeface="Century Gothic" pitchFamily="34" charset="-120"/>
              </a:rPr>
              <a:t>NIGHT</a:t>
            </a:r>
            <a:endParaRPr lang="en-US" sz="850" dirty="0"/>
          </a:p>
        </p:txBody>
      </p:sp>
      <p:sp>
        <p:nvSpPr>
          <p:cNvPr id="117" name="Text 113"/>
          <p:cNvSpPr txBox="1"/>
          <p:nvPr/>
        </p:nvSpPr>
        <p:spPr>
          <a:xfrm>
            <a:off x="6508800" y="6379200"/>
            <a:ext cx="1955520" cy="360000"/>
          </a:xfrm>
          <a:prstGeom prst="rect">
            <a:avLst/>
          </a:prstGeom>
          <a:noFill/>
          <a:ln/>
        </p:spPr>
        <p:txBody>
          <a:bodyPr wrap="square" lIns="0" tIns="0" rIns="0" bIns="0" rtlCol="0" anchor="ctr"/>
          <a:lstStyle/>
          <a:p>
            <a:pPr indent="0" marL="0">
              <a:buNone/>
            </a:pPr>
            <a:r>
              <a:rPr lang="en-US" sz="900" dirty="0">
                <a:solidFill>
                  <a:srgbClr val="E8E8E8"/>
                </a:solidFill>
                <a:latin typeface="Century Gothic" pitchFamily="34" charset="0"/>
                <a:ea typeface="Century Gothic" pitchFamily="34" charset="-122"/>
                <a:cs typeface="Century Gothic" pitchFamily="34" charset="-120"/>
              </a:rPr>
              <a:t>São Paulo  [hotel — TBC]</a:t>
            </a:r>
            <a:endParaRPr lang="en-US" sz="900" dirty="0"/>
          </a:p>
        </p:txBody>
      </p:sp>
      <p:sp>
        <p:nvSpPr>
          <p:cNvPr id="118" name="Text 114"/>
          <p:cNvSpPr txBox="1"/>
          <p:nvPr/>
        </p:nvSpPr>
        <p:spPr>
          <a:xfrm>
            <a:off x="8626320" y="6379200"/>
            <a:ext cx="1955520" cy="360000"/>
          </a:xfrm>
          <a:prstGeom prst="rect">
            <a:avLst/>
          </a:prstGeom>
          <a:noFill/>
          <a:ln/>
        </p:spPr>
        <p:txBody>
          <a:bodyPr wrap="square" lIns="0" tIns="0" rIns="0" bIns="0" rtlCol="0" anchor="ctr"/>
          <a:lstStyle/>
          <a:p>
            <a:pPr indent="0" marL="0">
              <a:buNone/>
            </a:pPr>
            <a:r>
              <a:rPr lang="en-US" sz="900" dirty="0">
                <a:solidFill>
                  <a:srgbClr val="E8E8E8"/>
                </a:solidFill>
                <a:latin typeface="Century Gothic" pitchFamily="34" charset="0"/>
                <a:ea typeface="Century Gothic" pitchFamily="34" charset="-122"/>
                <a:cs typeface="Century Gothic" pitchFamily="34" charset="-120"/>
              </a:rPr>
              <a:t>Belo Horizonte  [hotel — TBC]</a:t>
            </a:r>
            <a:endParaRPr lang="en-US" sz="900" dirty="0"/>
          </a:p>
        </p:txBody>
      </p:sp>
      <p:sp>
        <p:nvSpPr>
          <p:cNvPr id="119" name="Text 115"/>
          <p:cNvSpPr txBox="1"/>
          <p:nvPr/>
        </p:nvSpPr>
        <p:spPr>
          <a:xfrm>
            <a:off x="10743840" y="6379200"/>
            <a:ext cx="1955520" cy="360000"/>
          </a:xfrm>
          <a:prstGeom prst="rect">
            <a:avLst/>
          </a:prstGeom>
          <a:noFill/>
          <a:ln/>
        </p:spPr>
        <p:txBody>
          <a:bodyPr wrap="square" lIns="0" tIns="0" rIns="0" bIns="0" rtlCol="0" anchor="ctr"/>
          <a:lstStyle/>
          <a:p>
            <a:pPr indent="0" marL="0">
              <a:buNone/>
            </a:pPr>
            <a:r>
              <a:rPr lang="en-US" sz="900" dirty="0">
                <a:solidFill>
                  <a:srgbClr val="E8E8E8"/>
                </a:solidFill>
                <a:latin typeface="Century Gothic" pitchFamily="34" charset="0"/>
                <a:ea typeface="Century Gothic" pitchFamily="34" charset="-122"/>
                <a:cs typeface="Century Gothic" pitchFamily="34" charset="-120"/>
              </a:rPr>
              <a:t>Belo Horizonte  (same hotel)</a:t>
            </a:r>
            <a:endParaRPr lang="en-US" sz="900" dirty="0"/>
          </a:p>
        </p:txBody>
      </p:sp>
      <p:sp>
        <p:nvSpPr>
          <p:cNvPr id="120" name="Text 116"/>
          <p:cNvSpPr txBox="1"/>
          <p:nvPr/>
        </p:nvSpPr>
        <p:spPr>
          <a:xfrm>
            <a:off x="12861360" y="6379200"/>
            <a:ext cx="1955520" cy="360000"/>
          </a:xfrm>
          <a:prstGeom prst="rect">
            <a:avLst/>
          </a:prstGeom>
          <a:noFill/>
          <a:ln/>
        </p:spPr>
        <p:txBody>
          <a:bodyPr wrap="square" lIns="0" tIns="0" rIns="0" bIns="0" rtlCol="0" anchor="ctr"/>
          <a:lstStyle/>
          <a:p>
            <a:pPr indent="0" marL="0">
              <a:buNone/>
            </a:pPr>
            <a:r>
              <a:rPr lang="en-US" sz="900" dirty="0">
                <a:solidFill>
                  <a:srgbClr val="E8E8E8"/>
                </a:solidFill>
                <a:latin typeface="Century Gothic" pitchFamily="34" charset="0"/>
                <a:ea typeface="Century Gothic" pitchFamily="34" charset="-122"/>
                <a:cs typeface="Century Gothic" pitchFamily="34" charset="-120"/>
              </a:rPr>
              <a:t>Curitiba  [hotel — TBC]</a:t>
            </a:r>
            <a:endParaRPr lang="en-US" sz="900" dirty="0"/>
          </a:p>
        </p:txBody>
      </p:sp>
      <p:sp>
        <p:nvSpPr>
          <p:cNvPr id="121" name="Text 117"/>
          <p:cNvSpPr txBox="1"/>
          <p:nvPr/>
        </p:nvSpPr>
        <p:spPr>
          <a:xfrm>
            <a:off x="14978880" y="6379200"/>
            <a:ext cx="1955520" cy="360000"/>
          </a:xfrm>
          <a:prstGeom prst="rect">
            <a:avLst/>
          </a:prstGeom>
          <a:noFill/>
          <a:ln/>
        </p:spPr>
        <p:txBody>
          <a:bodyPr wrap="square" lIns="0" tIns="0" rIns="0" bIns="0" rtlCol="0" anchor="ctr"/>
          <a:lstStyle/>
          <a:p>
            <a:pPr indent="0" marL="0">
              <a:buNone/>
            </a:pPr>
            <a:r>
              <a:rPr lang="en-US" sz="900" dirty="0">
                <a:solidFill>
                  <a:srgbClr val="E8E8E8"/>
                </a:solidFill>
                <a:latin typeface="Century Gothic" pitchFamily="34" charset="0"/>
                <a:ea typeface="Century Gothic" pitchFamily="34" charset="-122"/>
                <a:cs typeface="Century Gothic" pitchFamily="34" charset="-120"/>
              </a:rPr>
              <a:t>— departure</a:t>
            </a:r>
            <a:endParaRPr lang="en-US" sz="900" dirty="0"/>
          </a:p>
        </p:txBody>
      </p:sp>
      <p:sp>
        <p:nvSpPr>
          <p:cNvPr id="122" name="Shape 118"/>
          <p:cNvSpPr/>
          <p:nvPr/>
        </p:nvSpPr>
        <p:spPr>
          <a:xfrm>
            <a:off x="568800" y="6894000"/>
            <a:ext cx="16419600" cy="295200"/>
          </a:xfrm>
          <a:prstGeom prst="roundRect">
            <a:avLst>
              <a:gd name="adj" fmla="val 24780"/>
            </a:avLst>
          </a:prstGeom>
          <a:solidFill>
            <a:srgbClr val="FDBA12"/>
          </a:solidFill>
          <a:ln/>
        </p:spPr>
      </p:sp>
      <p:sp>
        <p:nvSpPr>
          <p:cNvPr id="123" name="Text 119"/>
          <p:cNvSpPr txBox="1"/>
          <p:nvPr/>
        </p:nvSpPr>
        <p:spPr>
          <a:xfrm>
            <a:off x="712800" y="6894000"/>
            <a:ext cx="7200000" cy="295200"/>
          </a:xfrm>
          <a:prstGeom prst="rect">
            <a:avLst/>
          </a:prstGeom>
          <a:noFill/>
          <a:ln/>
        </p:spPr>
        <p:txBody>
          <a:bodyPr wrap="square" lIns="0" tIns="0" rIns="0" bIns="0" rtlCol="0" anchor="ctr"/>
          <a:lstStyle/>
          <a:p>
            <a:pPr indent="0" marL="0">
              <a:buNone/>
            </a:pPr>
            <a:r>
              <a:rPr lang="en-US" sz="1250" b="1" dirty="0">
                <a:solidFill>
                  <a:srgbClr val="000000"/>
                </a:solidFill>
                <a:latin typeface="Century Gothic" pitchFamily="34" charset="0"/>
                <a:ea typeface="Century Gothic" pitchFamily="34" charset="-122"/>
                <a:cs typeface="Century Gothic" pitchFamily="34" charset="-120"/>
              </a:rPr>
              <a:t>Practical notes</a:t>
            </a:r>
            <a:endParaRPr lang="en-US" sz="1250" dirty="0"/>
          </a:p>
        </p:txBody>
      </p:sp>
      <p:sp>
        <p:nvSpPr>
          <p:cNvPr id="124" name="Shape 120"/>
          <p:cNvSpPr/>
          <p:nvPr/>
        </p:nvSpPr>
        <p:spPr>
          <a:xfrm>
            <a:off x="568800" y="7261200"/>
            <a:ext cx="3154320" cy="1594800"/>
          </a:xfrm>
          <a:prstGeom prst="rect">
            <a:avLst/>
          </a:prstGeom>
          <a:solidFill>
            <a:srgbClr val="F2F2F2"/>
          </a:solidFill>
          <a:ln/>
        </p:spPr>
      </p:sp>
      <p:sp>
        <p:nvSpPr>
          <p:cNvPr id="125" name="Shape 121"/>
          <p:cNvSpPr/>
          <p:nvPr/>
        </p:nvSpPr>
        <p:spPr>
          <a:xfrm>
            <a:off x="694800" y="7376400"/>
            <a:ext cx="331200" cy="331200"/>
          </a:xfrm>
          <a:prstGeom prst="rect">
            <a:avLst/>
          </a:prstGeom>
          <a:solidFill>
            <a:srgbClr val="B1B3B5"/>
          </a:solidFill>
          <a:ln/>
        </p:spPr>
      </p:sp>
      <p:pic>
        <p:nvPicPr>
          <p:cNvPr id="126" name="Image 2" descr="/home/user/IM/yellow/gen/icon_MdFlightLand_000000.png">    </p:cNvPr>
          <p:cNvPicPr>
            <a:picLocks noChangeAspect="1"/>
          </p:cNvPicPr>
          <p:nvPr/>
        </p:nvPicPr>
        <p:blipFill>
          <a:blip r:embed="rId3"/>
          <a:stretch>
            <a:fillRect/>
          </a:stretch>
        </p:blipFill>
        <p:spPr>
          <a:xfrm>
            <a:off x="748800" y="7430400"/>
            <a:ext cx="223200" cy="223200"/>
          </a:xfrm>
          <a:prstGeom prst="rect">
            <a:avLst/>
          </a:prstGeom>
        </p:spPr>
      </p:pic>
      <p:sp>
        <p:nvSpPr>
          <p:cNvPr id="127" name="Text 122"/>
          <p:cNvSpPr txBox="1"/>
          <p:nvPr/>
        </p:nvSpPr>
        <p:spPr>
          <a:xfrm>
            <a:off x="1090800" y="7376400"/>
            <a:ext cx="2524320" cy="331200"/>
          </a:xfrm>
          <a:prstGeom prst="rect">
            <a:avLst/>
          </a:prstGeom>
          <a:noFill/>
          <a:ln/>
        </p:spPr>
        <p:txBody>
          <a:bodyPr wrap="square" lIns="0" tIns="0" rIns="0" bIns="0" rtlCol="0" anchor="ctr"/>
          <a:lstStyle/>
          <a:p>
            <a:pPr indent="0" marL="0">
              <a:buNone/>
            </a:pPr>
            <a:r>
              <a:rPr lang="en-US" sz="1100" b="1" dirty="0">
                <a:solidFill>
                  <a:srgbClr val="000000"/>
                </a:solidFill>
                <a:latin typeface="Century Gothic" pitchFamily="34" charset="0"/>
                <a:ea typeface="Century Gothic" pitchFamily="34" charset="-122"/>
                <a:cs typeface="Century Gothic" pitchFamily="34" charset="-120"/>
              </a:rPr>
              <a:t>Travel &amp; who arranges what</a:t>
            </a:r>
            <a:endParaRPr lang="en-US" sz="1100" dirty="0"/>
          </a:p>
        </p:txBody>
      </p:sp>
      <p:sp>
        <p:nvSpPr>
          <p:cNvPr id="128" name="Text 123"/>
          <p:cNvSpPr txBox="1"/>
          <p:nvPr/>
        </p:nvSpPr>
        <p:spPr>
          <a:xfrm>
            <a:off x="694800" y="7772400"/>
            <a:ext cx="2902320" cy="1018800"/>
          </a:xfrm>
          <a:prstGeom prst="rect">
            <a:avLst/>
          </a:prstGeom>
          <a:noFill/>
          <a:ln/>
        </p:spPr>
        <p:txBody>
          <a:bodyPr wrap="square" lIns="0" tIns="0" rIns="0" bIns="0" rtlCol="0" anchor="t"/>
          <a:lstStyle/>
          <a:p>
            <a:pPr indent="0" marL="0">
              <a:lnSpc>
                <a:spcPct val="106000"/>
              </a:lnSpc>
              <a:buNone/>
            </a:pPr>
            <a:r>
              <a:rPr lang="en-US" sz="1000" dirty="0">
                <a:solidFill>
                  <a:srgbClr val="1B1B1B"/>
                </a:solidFill>
                <a:latin typeface="Century Gothic" pitchFamily="34" charset="0"/>
                <a:ea typeface="Century Gothic" pitchFamily="34" charset="-122"/>
                <a:cs typeface="Century Gothic" pitchFamily="34" charset="-120"/>
              </a:rPr>
              <a:t>International flights: Ferronordic. Everything in Brazil — BTG Pactual terminal, cars, private flights, hotels and the CWB → GRU flight: Tracbel. On the private legs carry your passport for FBO check-in and arrive about 30 minutes before wheels-up.</a:t>
            </a:r>
            <a:endParaRPr lang="en-US" sz="1000" dirty="0"/>
          </a:p>
        </p:txBody>
      </p:sp>
      <p:sp>
        <p:nvSpPr>
          <p:cNvPr id="129" name="Shape 124"/>
          <p:cNvSpPr/>
          <p:nvPr/>
        </p:nvSpPr>
        <p:spPr>
          <a:xfrm>
            <a:off x="3885120" y="7261200"/>
            <a:ext cx="3154320" cy="1594800"/>
          </a:xfrm>
          <a:prstGeom prst="rect">
            <a:avLst/>
          </a:prstGeom>
          <a:solidFill>
            <a:srgbClr val="F2F2F2"/>
          </a:solidFill>
          <a:ln/>
        </p:spPr>
      </p:sp>
      <p:sp>
        <p:nvSpPr>
          <p:cNvPr id="130" name="Shape 125"/>
          <p:cNvSpPr/>
          <p:nvPr/>
        </p:nvSpPr>
        <p:spPr>
          <a:xfrm>
            <a:off x="4011120" y="7376400"/>
            <a:ext cx="331200" cy="331200"/>
          </a:xfrm>
          <a:prstGeom prst="rect">
            <a:avLst/>
          </a:prstGeom>
          <a:solidFill>
            <a:srgbClr val="B1B3B5"/>
          </a:solidFill>
          <a:ln/>
        </p:spPr>
      </p:sp>
      <p:pic>
        <p:nvPicPr>
          <p:cNvPr id="131" name="Image 3" descr="/home/user/IM/yellow/gen/icon_FiEyeOff_000000.png">    </p:cNvPr>
          <p:cNvPicPr>
            <a:picLocks noChangeAspect="1"/>
          </p:cNvPicPr>
          <p:nvPr/>
        </p:nvPicPr>
        <p:blipFill>
          <a:blip r:embed="rId4"/>
          <a:stretch>
            <a:fillRect/>
          </a:stretch>
        </p:blipFill>
        <p:spPr>
          <a:xfrm>
            <a:off x="4065120" y="7430400"/>
            <a:ext cx="223200" cy="223200"/>
          </a:xfrm>
          <a:prstGeom prst="rect">
            <a:avLst/>
          </a:prstGeom>
        </p:spPr>
      </p:pic>
      <p:sp>
        <p:nvSpPr>
          <p:cNvPr id="132" name="Text 126"/>
          <p:cNvSpPr txBox="1"/>
          <p:nvPr/>
        </p:nvSpPr>
        <p:spPr>
          <a:xfrm>
            <a:off x="4407120" y="7376400"/>
            <a:ext cx="2524320" cy="331200"/>
          </a:xfrm>
          <a:prstGeom prst="rect">
            <a:avLst/>
          </a:prstGeom>
          <a:noFill/>
          <a:ln/>
        </p:spPr>
        <p:txBody>
          <a:bodyPr wrap="square" lIns="0" tIns="0" rIns="0" bIns="0" rtlCol="0" anchor="ctr"/>
          <a:lstStyle/>
          <a:p>
            <a:pPr indent="0" marL="0">
              <a:buNone/>
            </a:pPr>
            <a:r>
              <a:rPr lang="en-US" sz="1100" b="1" dirty="0">
                <a:solidFill>
                  <a:srgbClr val="000000"/>
                </a:solidFill>
                <a:latin typeface="Century Gothic" pitchFamily="34" charset="0"/>
                <a:ea typeface="Century Gothic" pitchFamily="34" charset="-122"/>
                <a:cs typeface="Century Gothic" pitchFamily="34" charset="-120"/>
              </a:rPr>
              <a:t>Confidentiality &amp; conduct</a:t>
            </a:r>
            <a:endParaRPr lang="en-US" sz="1100" dirty="0"/>
          </a:p>
        </p:txBody>
      </p:sp>
      <p:sp>
        <p:nvSpPr>
          <p:cNvPr id="133" name="Text 127"/>
          <p:cNvSpPr txBox="1"/>
          <p:nvPr/>
        </p:nvSpPr>
        <p:spPr>
          <a:xfrm>
            <a:off x="4011120" y="7772400"/>
            <a:ext cx="2902320" cy="1018800"/>
          </a:xfrm>
          <a:prstGeom prst="rect">
            <a:avLst/>
          </a:prstGeom>
          <a:noFill/>
          <a:ln/>
        </p:spPr>
        <p:txBody>
          <a:bodyPr wrap="square" lIns="0" tIns="0" rIns="0" bIns="0" rtlCol="0" anchor="t"/>
          <a:lstStyle/>
          <a:p>
            <a:pPr indent="0" marL="0">
              <a:lnSpc>
                <a:spcPct val="106000"/>
              </a:lnSpc>
              <a:buNone/>
            </a:pPr>
            <a:r>
              <a:rPr lang="en-US" sz="1000" dirty="0">
                <a:solidFill>
                  <a:srgbClr val="1B1B1B"/>
                </a:solidFill>
                <a:latin typeface="Century Gothic" pitchFamily="34" charset="0"/>
                <a:ea typeface="Century Gothic" pitchFamily="34" charset="-122"/>
                <a:cs typeface="Century Gothic" pitchFamily="34" charset="-120"/>
              </a:rPr>
              <a:t>Refer to the process only as “Project Yellow”. Most Tracbel employees are unaware of it: on site you will be introduced as [agreed narrative — TBC]; first names only, no business cards on the shop floor, deal topics only in closed sessions, no photographs.</a:t>
            </a:r>
            <a:endParaRPr lang="en-US" sz="1000" dirty="0"/>
          </a:p>
        </p:txBody>
      </p:sp>
      <p:sp>
        <p:nvSpPr>
          <p:cNvPr id="134" name="Shape 128"/>
          <p:cNvSpPr/>
          <p:nvPr/>
        </p:nvSpPr>
        <p:spPr>
          <a:xfrm>
            <a:off x="7201440" y="7261200"/>
            <a:ext cx="3154320" cy="1594800"/>
          </a:xfrm>
          <a:prstGeom prst="rect">
            <a:avLst/>
          </a:prstGeom>
          <a:solidFill>
            <a:srgbClr val="F2F2F2"/>
          </a:solidFill>
          <a:ln/>
        </p:spPr>
      </p:sp>
      <p:sp>
        <p:nvSpPr>
          <p:cNvPr id="135" name="Shape 129"/>
          <p:cNvSpPr/>
          <p:nvPr/>
        </p:nvSpPr>
        <p:spPr>
          <a:xfrm>
            <a:off x="7327440" y="7376400"/>
            <a:ext cx="331200" cy="331200"/>
          </a:xfrm>
          <a:prstGeom prst="rect">
            <a:avLst/>
          </a:prstGeom>
          <a:solidFill>
            <a:srgbClr val="B1B3B5"/>
          </a:solidFill>
          <a:ln/>
        </p:spPr>
      </p:sp>
      <p:pic>
        <p:nvPicPr>
          <p:cNvPr id="136" name="Image 4" descr="/home/user/IM/yellow/gen/icon_MdOutlineHealthAndSafety_000000.png">    </p:cNvPr>
          <p:cNvPicPr>
            <a:picLocks noChangeAspect="1"/>
          </p:cNvPicPr>
          <p:nvPr/>
        </p:nvPicPr>
        <p:blipFill>
          <a:blip r:embed="rId5"/>
          <a:stretch>
            <a:fillRect/>
          </a:stretch>
        </p:blipFill>
        <p:spPr>
          <a:xfrm>
            <a:off x="7381440" y="7430400"/>
            <a:ext cx="223200" cy="223200"/>
          </a:xfrm>
          <a:prstGeom prst="rect">
            <a:avLst/>
          </a:prstGeom>
        </p:spPr>
      </p:pic>
      <p:sp>
        <p:nvSpPr>
          <p:cNvPr id="137" name="Text 130"/>
          <p:cNvSpPr txBox="1"/>
          <p:nvPr/>
        </p:nvSpPr>
        <p:spPr>
          <a:xfrm>
            <a:off x="7723440" y="7376400"/>
            <a:ext cx="2524320" cy="331200"/>
          </a:xfrm>
          <a:prstGeom prst="rect">
            <a:avLst/>
          </a:prstGeom>
          <a:noFill/>
          <a:ln/>
        </p:spPr>
        <p:txBody>
          <a:bodyPr wrap="square" lIns="0" tIns="0" rIns="0" bIns="0" rtlCol="0" anchor="ctr"/>
          <a:lstStyle/>
          <a:p>
            <a:pPr indent="0" marL="0">
              <a:buNone/>
            </a:pPr>
            <a:r>
              <a:rPr lang="en-US" sz="1100" b="1" dirty="0">
                <a:solidFill>
                  <a:srgbClr val="000000"/>
                </a:solidFill>
                <a:latin typeface="Century Gothic" pitchFamily="34" charset="0"/>
                <a:ea typeface="Century Gothic" pitchFamily="34" charset="-122"/>
                <a:cs typeface="Century Gothic" pitchFamily="34" charset="-120"/>
              </a:rPr>
              <a:t>Dress code &amp; safety</a:t>
            </a:r>
            <a:endParaRPr lang="en-US" sz="1100" dirty="0"/>
          </a:p>
        </p:txBody>
      </p:sp>
      <p:sp>
        <p:nvSpPr>
          <p:cNvPr id="138" name="Text 131"/>
          <p:cNvSpPr txBox="1"/>
          <p:nvPr/>
        </p:nvSpPr>
        <p:spPr>
          <a:xfrm>
            <a:off x="7327440" y="7772400"/>
            <a:ext cx="2902320" cy="1018800"/>
          </a:xfrm>
          <a:prstGeom prst="rect">
            <a:avLst/>
          </a:prstGeom>
          <a:noFill/>
          <a:ln/>
        </p:spPr>
        <p:txBody>
          <a:bodyPr wrap="square" lIns="0" tIns="0" rIns="0" bIns="0" rtlCol="0" anchor="t"/>
          <a:lstStyle/>
          <a:p>
            <a:pPr indent="0" marL="0">
              <a:lnSpc>
                <a:spcPct val="106000"/>
              </a:lnSpc>
              <a:buNone/>
            </a:pPr>
            <a:r>
              <a:rPr lang="en-US" sz="1000" dirty="0">
                <a:solidFill>
                  <a:srgbClr val="1B1B1B"/>
                </a:solidFill>
                <a:latin typeface="Century Gothic" pitchFamily="34" charset="0"/>
                <a:ea typeface="Century Gothic" pitchFamily="34" charset="-122"/>
                <a:cs typeface="Century Gothic" pitchFamily="34" charset="-120"/>
              </a:rPr>
              <a:t>Business casual for the management sessions — a jacket is enough, no tie needed. In workshops and yards: long trousers and closed, sturdy shoes. Site PPE and a safety briefing [to be provided by Tracbel — TBC].</a:t>
            </a:r>
            <a:endParaRPr lang="en-US" sz="1000" dirty="0"/>
          </a:p>
        </p:txBody>
      </p:sp>
      <p:sp>
        <p:nvSpPr>
          <p:cNvPr id="139" name="Shape 132"/>
          <p:cNvSpPr/>
          <p:nvPr/>
        </p:nvSpPr>
        <p:spPr>
          <a:xfrm>
            <a:off x="10517760" y="7261200"/>
            <a:ext cx="3154320" cy="1594800"/>
          </a:xfrm>
          <a:prstGeom prst="rect">
            <a:avLst/>
          </a:prstGeom>
          <a:solidFill>
            <a:srgbClr val="F2F2F2"/>
          </a:solidFill>
          <a:ln/>
        </p:spPr>
      </p:sp>
      <p:sp>
        <p:nvSpPr>
          <p:cNvPr id="140" name="Shape 133"/>
          <p:cNvSpPr/>
          <p:nvPr/>
        </p:nvSpPr>
        <p:spPr>
          <a:xfrm>
            <a:off x="10643760" y="7376400"/>
            <a:ext cx="331200" cy="331200"/>
          </a:xfrm>
          <a:prstGeom prst="rect">
            <a:avLst/>
          </a:prstGeom>
          <a:solidFill>
            <a:srgbClr val="B1B3B5"/>
          </a:solidFill>
          <a:ln/>
        </p:spPr>
      </p:sp>
      <p:pic>
        <p:nvPicPr>
          <p:cNvPr id="141" name="Image 5" descr="/home/user/IM/yellow/gen/icon_FiSun_000000.png">    </p:cNvPr>
          <p:cNvPicPr>
            <a:picLocks noChangeAspect="1"/>
          </p:cNvPicPr>
          <p:nvPr/>
        </p:nvPicPr>
        <p:blipFill>
          <a:blip r:embed="rId6"/>
          <a:stretch>
            <a:fillRect/>
          </a:stretch>
        </p:blipFill>
        <p:spPr>
          <a:xfrm>
            <a:off x="10697760" y="7430400"/>
            <a:ext cx="223200" cy="223200"/>
          </a:xfrm>
          <a:prstGeom prst="rect">
            <a:avLst/>
          </a:prstGeom>
        </p:spPr>
      </p:pic>
      <p:sp>
        <p:nvSpPr>
          <p:cNvPr id="142" name="Text 134"/>
          <p:cNvSpPr txBox="1"/>
          <p:nvPr/>
        </p:nvSpPr>
        <p:spPr>
          <a:xfrm>
            <a:off x="11039760" y="7376400"/>
            <a:ext cx="2524320" cy="331200"/>
          </a:xfrm>
          <a:prstGeom prst="rect">
            <a:avLst/>
          </a:prstGeom>
          <a:noFill/>
          <a:ln/>
        </p:spPr>
        <p:txBody>
          <a:bodyPr wrap="square" lIns="0" tIns="0" rIns="0" bIns="0" rtlCol="0" anchor="ctr"/>
          <a:lstStyle/>
          <a:p>
            <a:pPr indent="0" marL="0">
              <a:buNone/>
            </a:pPr>
            <a:r>
              <a:rPr lang="en-US" sz="1100" b="1" dirty="0">
                <a:solidFill>
                  <a:srgbClr val="000000"/>
                </a:solidFill>
                <a:latin typeface="Century Gothic" pitchFamily="34" charset="0"/>
                <a:ea typeface="Century Gothic" pitchFamily="34" charset="-122"/>
                <a:cs typeface="Century Gothic" pitchFamily="34" charset="-120"/>
              </a:rPr>
              <a:t>Weather, time &amp; health</a:t>
            </a:r>
            <a:endParaRPr lang="en-US" sz="1100" dirty="0"/>
          </a:p>
        </p:txBody>
      </p:sp>
      <p:sp>
        <p:nvSpPr>
          <p:cNvPr id="143" name="Text 135"/>
          <p:cNvSpPr txBox="1"/>
          <p:nvPr/>
        </p:nvSpPr>
        <p:spPr>
          <a:xfrm>
            <a:off x="10643760" y="7772400"/>
            <a:ext cx="2902320" cy="1018800"/>
          </a:xfrm>
          <a:prstGeom prst="rect">
            <a:avLst/>
          </a:prstGeom>
          <a:noFill/>
          <a:ln/>
        </p:spPr>
        <p:txBody>
          <a:bodyPr wrap="square" lIns="0" tIns="0" rIns="0" bIns="0" rtlCol="0" anchor="t"/>
          <a:lstStyle/>
          <a:p>
            <a:pPr indent="0" marL="0">
              <a:lnSpc>
                <a:spcPct val="106000"/>
              </a:lnSpc>
              <a:buNone/>
            </a:pPr>
            <a:r>
              <a:rPr lang="en-US" sz="1000" dirty="0">
                <a:solidFill>
                  <a:srgbClr val="1B1B1B"/>
                </a:solidFill>
                <a:latin typeface="Century Gothic" pitchFamily="34" charset="0"/>
                <a:ea typeface="Century Gothic" pitchFamily="34" charset="-122"/>
                <a:cs typeface="Century Gothic" pitchFamily="34" charset="-120"/>
              </a:rPr>
              <a:t>Spring: São Paulo 15–26 °C (showers), Belo Horizonte 17–29 °C (dry), Curitiba 11–23 °C (cool, rainy) — bring a jacket and an umbrella. Brazil (UTC−3) is 5 h behind Zürich. No vaccination is required to enter; CDC and WHO recommend yellow fever for these states.</a:t>
            </a:r>
            <a:endParaRPr lang="en-US" sz="1000" dirty="0"/>
          </a:p>
        </p:txBody>
      </p:sp>
      <p:sp>
        <p:nvSpPr>
          <p:cNvPr id="144" name="Shape 136"/>
          <p:cNvSpPr/>
          <p:nvPr/>
        </p:nvSpPr>
        <p:spPr>
          <a:xfrm>
            <a:off x="13834080" y="7261200"/>
            <a:ext cx="3154320" cy="1594800"/>
          </a:xfrm>
          <a:prstGeom prst="rect">
            <a:avLst/>
          </a:prstGeom>
          <a:solidFill>
            <a:srgbClr val="F2F2F2"/>
          </a:solidFill>
          <a:ln/>
        </p:spPr>
      </p:sp>
      <p:sp>
        <p:nvSpPr>
          <p:cNvPr id="145" name="Shape 137"/>
          <p:cNvSpPr/>
          <p:nvPr/>
        </p:nvSpPr>
        <p:spPr>
          <a:xfrm>
            <a:off x="13960080" y="7376400"/>
            <a:ext cx="331200" cy="331200"/>
          </a:xfrm>
          <a:prstGeom prst="rect">
            <a:avLst/>
          </a:prstGeom>
          <a:solidFill>
            <a:srgbClr val="B1B3B5"/>
          </a:solidFill>
          <a:ln/>
        </p:spPr>
      </p:sp>
      <p:pic>
        <p:nvPicPr>
          <p:cNvPr id="146" name="Image 6" descr="/home/user/IM/yellow/gen/icon_MdOutlinePower_000000.png">    </p:cNvPr>
          <p:cNvPicPr>
            <a:picLocks noChangeAspect="1"/>
          </p:cNvPicPr>
          <p:nvPr/>
        </p:nvPicPr>
        <p:blipFill>
          <a:blip r:embed="rId7"/>
          <a:stretch>
            <a:fillRect/>
          </a:stretch>
        </p:blipFill>
        <p:spPr>
          <a:xfrm>
            <a:off x="14014080" y="7430400"/>
            <a:ext cx="223200" cy="223200"/>
          </a:xfrm>
          <a:prstGeom prst="rect">
            <a:avLst/>
          </a:prstGeom>
        </p:spPr>
      </p:pic>
      <p:sp>
        <p:nvSpPr>
          <p:cNvPr id="147" name="Text 138"/>
          <p:cNvSpPr txBox="1"/>
          <p:nvPr/>
        </p:nvSpPr>
        <p:spPr>
          <a:xfrm>
            <a:off x="14356080" y="7376400"/>
            <a:ext cx="2524320" cy="331200"/>
          </a:xfrm>
          <a:prstGeom prst="rect">
            <a:avLst/>
          </a:prstGeom>
          <a:noFill/>
          <a:ln/>
        </p:spPr>
        <p:txBody>
          <a:bodyPr wrap="square" lIns="0" tIns="0" rIns="0" bIns="0" rtlCol="0" anchor="ctr"/>
          <a:lstStyle/>
          <a:p>
            <a:pPr indent="0" marL="0">
              <a:buNone/>
            </a:pPr>
            <a:r>
              <a:rPr lang="en-US" sz="1100" b="1" dirty="0">
                <a:solidFill>
                  <a:srgbClr val="000000"/>
                </a:solidFill>
                <a:latin typeface="Century Gothic" pitchFamily="34" charset="0"/>
                <a:ea typeface="Century Gothic" pitchFamily="34" charset="-122"/>
                <a:cs typeface="Century Gothic" pitchFamily="34" charset="-120"/>
              </a:rPr>
              <a:t>Money &amp; connectivity</a:t>
            </a:r>
            <a:endParaRPr lang="en-US" sz="1100" dirty="0"/>
          </a:p>
        </p:txBody>
      </p:sp>
      <p:sp>
        <p:nvSpPr>
          <p:cNvPr id="148" name="Text 139"/>
          <p:cNvSpPr txBox="1"/>
          <p:nvPr/>
        </p:nvSpPr>
        <p:spPr>
          <a:xfrm>
            <a:off x="13960080" y="7772400"/>
            <a:ext cx="2902320" cy="1018800"/>
          </a:xfrm>
          <a:prstGeom prst="rect">
            <a:avLst/>
          </a:prstGeom>
          <a:noFill/>
          <a:ln/>
        </p:spPr>
        <p:txBody>
          <a:bodyPr wrap="square" lIns="0" tIns="0" rIns="0" bIns="0" rtlCol="0" anchor="t"/>
          <a:lstStyle/>
          <a:p>
            <a:pPr indent="0" marL="0">
              <a:lnSpc>
                <a:spcPct val="106000"/>
              </a:lnSpc>
              <a:buNone/>
            </a:pPr>
            <a:r>
              <a:rPr lang="en-US" sz="1000" dirty="0">
                <a:solidFill>
                  <a:srgbClr val="1B1B1B"/>
                </a:solidFill>
                <a:latin typeface="Century Gothic" pitchFamily="34" charset="0"/>
                <a:ea typeface="Century Gothic" pitchFamily="34" charset="-122"/>
                <a:cs typeface="Century Gothic" pitchFamily="34" charset="-120"/>
              </a:rPr>
              <a:t>Currency BRL; cards and contactless work almost everywhere and restaurants add a 10% service charge, so little cash is needed. Sockets 127 V, type N: Europlugs fit, Swiss and Schuko plugs need an adapter. Roaming or a travel eSIM works well.</a:t>
            </a:r>
            <a:endParaRPr lang="en-US" sz="1000" dirty="0"/>
          </a:p>
        </p:txBody>
      </p:sp>
      <p:sp>
        <p:nvSpPr>
          <p:cNvPr id="149" name="Shape 140"/>
          <p:cNvSpPr/>
          <p:nvPr/>
        </p:nvSpPr>
        <p:spPr>
          <a:xfrm>
            <a:off x="0" y="9000000"/>
            <a:ext cx="17557200" cy="874800"/>
          </a:xfrm>
          <a:prstGeom prst="rect">
            <a:avLst/>
          </a:prstGeom>
          <a:solidFill>
            <a:srgbClr val="000000"/>
          </a:solidFill>
          <a:ln/>
        </p:spPr>
      </p:sp>
      <p:pic>
        <p:nvPicPr>
          <p:cNvPr id="150" name="Image 7" descr="/home/user/IM/yellow/assets/igc_white.png">    </p:cNvPr>
          <p:cNvPicPr>
            <a:picLocks noChangeAspect="1"/>
          </p:cNvPicPr>
          <p:nvPr/>
        </p:nvPicPr>
        <p:blipFill>
          <a:blip r:embed="rId8"/>
          <a:stretch>
            <a:fillRect/>
          </a:stretch>
        </p:blipFill>
        <p:spPr>
          <a:xfrm>
            <a:off x="568800" y="9216000"/>
            <a:ext cx="479074" cy="414000"/>
          </a:xfrm>
          <a:prstGeom prst="rect">
            <a:avLst/>
          </a:prstGeom>
        </p:spPr>
      </p:pic>
      <p:sp>
        <p:nvSpPr>
          <p:cNvPr id="151" name="Shape 141"/>
          <p:cNvSpPr/>
          <p:nvPr/>
        </p:nvSpPr>
        <p:spPr>
          <a:xfrm>
            <a:off x="1126800" y="9432000"/>
            <a:ext cx="180000" cy="180000"/>
          </a:xfrm>
          <a:prstGeom prst="rect">
            <a:avLst/>
          </a:prstGeom>
          <a:solidFill>
            <a:srgbClr val="FDBA12"/>
          </a:solidFill>
          <a:ln/>
        </p:spPr>
      </p:sp>
      <p:sp>
        <p:nvSpPr>
          <p:cNvPr id="152" name="Text 142"/>
          <p:cNvSpPr txBox="1"/>
          <p:nvPr/>
        </p:nvSpPr>
        <p:spPr>
          <a:xfrm>
            <a:off x="1612800" y="9093600"/>
            <a:ext cx="1440000" cy="144000"/>
          </a:xfrm>
          <a:prstGeom prst="rect">
            <a:avLst/>
          </a:prstGeom>
          <a:noFill/>
          <a:ln/>
        </p:spPr>
        <p:txBody>
          <a:bodyPr wrap="square" lIns="0" tIns="0" rIns="0" bIns="0" rtlCol="0" anchor="ctr"/>
          <a:lstStyle/>
          <a:p>
            <a:pPr indent="0" marL="0">
              <a:buNone/>
            </a:pPr>
            <a:r>
              <a:rPr lang="en-US" sz="850" b="1" spc="120" kern="0" dirty="0">
                <a:solidFill>
                  <a:srgbClr val="FDBA12"/>
                </a:solidFill>
                <a:latin typeface="Century Gothic" pitchFamily="34" charset="0"/>
                <a:ea typeface="Century Gothic" pitchFamily="34" charset="-122"/>
                <a:cs typeface="Century Gothic" pitchFamily="34" charset="-120"/>
              </a:rPr>
              <a:t>CONTACTS</a:t>
            </a:r>
            <a:endParaRPr lang="en-US" sz="850" dirty="0"/>
          </a:p>
        </p:txBody>
      </p:sp>
      <p:sp>
        <p:nvSpPr>
          <p:cNvPr id="153" name="Text 143"/>
          <p:cNvSpPr txBox="1"/>
          <p:nvPr/>
        </p:nvSpPr>
        <p:spPr>
          <a:xfrm>
            <a:off x="1612800" y="9244800"/>
            <a:ext cx="4798800" cy="162000"/>
          </a:xfrm>
          <a:prstGeom prst="rect">
            <a:avLst/>
          </a:prstGeom>
          <a:noFill/>
          <a:ln/>
        </p:spPr>
        <p:txBody>
          <a:bodyPr wrap="square" lIns="0" tIns="0" rIns="0" bIns="0" rtlCol="0" anchor="ct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Bruno Iervolino  ·  IGC Partners</a:t>
            </a:r>
            <a:endParaRPr lang="en-US" sz="950" dirty="0"/>
          </a:p>
        </p:txBody>
      </p:sp>
      <p:sp>
        <p:nvSpPr>
          <p:cNvPr id="154" name="Text 144"/>
          <p:cNvSpPr txBox="1"/>
          <p:nvPr/>
        </p:nvSpPr>
        <p:spPr>
          <a:xfrm>
            <a:off x="1612800" y="9403200"/>
            <a:ext cx="4798800" cy="1512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+55 11 3815-3533 (office)   ·   [mobile — TBC]   ·   bruno.iervolino@igcp.com.br</a:t>
            </a:r>
            <a:endParaRPr lang="en-US" sz="900" dirty="0"/>
          </a:p>
        </p:txBody>
      </p:sp>
      <p:sp>
        <p:nvSpPr>
          <p:cNvPr id="155" name="Text 145"/>
          <p:cNvSpPr txBox="1"/>
          <p:nvPr/>
        </p:nvSpPr>
        <p:spPr>
          <a:xfrm>
            <a:off x="6519600" y="9244800"/>
            <a:ext cx="4798800" cy="162000"/>
          </a:xfrm>
          <a:prstGeom prst="rect">
            <a:avLst/>
          </a:prstGeom>
          <a:noFill/>
          <a:ln/>
        </p:spPr>
        <p:txBody>
          <a:bodyPr wrap="square" lIns="0" tIns="0" rIns="0" bIns="0" rtlCol="0" anchor="ct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Luca Francini  ·  IGC Partners  ·  24h during the week</a:t>
            </a:r>
            <a:endParaRPr lang="en-US" sz="950" dirty="0"/>
          </a:p>
        </p:txBody>
      </p:sp>
      <p:sp>
        <p:nvSpPr>
          <p:cNvPr id="156" name="Text 146"/>
          <p:cNvSpPr txBox="1"/>
          <p:nvPr/>
        </p:nvSpPr>
        <p:spPr>
          <a:xfrm>
            <a:off x="6519600" y="9403200"/>
            <a:ext cx="4798800" cy="1512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[mobile / WhatsApp — TBC]   ·   luca.francini@igcp.com.br</a:t>
            </a:r>
            <a:endParaRPr lang="en-US" sz="900" dirty="0"/>
          </a:p>
        </p:txBody>
      </p:sp>
      <p:sp>
        <p:nvSpPr>
          <p:cNvPr id="157" name="Text 147"/>
          <p:cNvSpPr txBox="1"/>
          <p:nvPr/>
        </p:nvSpPr>
        <p:spPr>
          <a:xfrm>
            <a:off x="11426400" y="9244800"/>
            <a:ext cx="4798800" cy="162000"/>
          </a:xfrm>
          <a:prstGeom prst="rect">
            <a:avLst/>
          </a:prstGeom>
          <a:noFill/>
          <a:ln/>
        </p:spPr>
        <p:txBody>
          <a:bodyPr wrap="square" lIns="0" tIns="0" rIns="0" bIns="0" rtlCol="0" anchor="ct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Luiz Gustavo Rocha  ·  Tracbel host  [title — TBC]</a:t>
            </a:r>
            <a:endParaRPr lang="en-US" sz="950" dirty="0"/>
          </a:p>
        </p:txBody>
      </p:sp>
      <p:sp>
        <p:nvSpPr>
          <p:cNvPr id="158" name="Text 148"/>
          <p:cNvSpPr txBox="1"/>
          <p:nvPr/>
        </p:nvSpPr>
        <p:spPr>
          <a:xfrm>
            <a:off x="11426400" y="9403200"/>
            <a:ext cx="4798800" cy="151200"/>
          </a:xfrm>
          <a:prstGeom prst="rect">
            <a:avLst/>
          </a:prstGeom>
          <a:noFill/>
          <a:ln/>
        </p:spPr>
        <p:txBody>
          <a:bodyPr wrap="square" lIns="0" tIns="0" rIns="0" bIns="0" rtlCol="0" anchor="ctr"/>
          <a:lstStyle/>
          <a:p>
            <a:pPr indent="0" marL="0">
              <a:buNone/>
            </a:pPr>
            <a:r>
              <a:rPr lang="en-US" sz="900" dirty="0">
                <a:solidFill>
                  <a:srgbClr val="B1B3B5"/>
                </a:solidFill>
                <a:latin typeface="Century Gothic" pitchFamily="34" charset="0"/>
                <a:ea typeface="Century Gothic" pitchFamily="34" charset="-122"/>
                <a:cs typeface="Century Gothic" pitchFamily="34" charset="-120"/>
              </a:rPr>
              <a:t>[mobile — TBC]   ·   [e-mail — TBC]</a:t>
            </a:r>
            <a:endParaRPr lang="en-US" sz="900" dirty="0"/>
          </a:p>
        </p:txBody>
      </p:sp>
      <p:sp>
        <p:nvSpPr>
          <p:cNvPr id="159" name="Text 149"/>
          <p:cNvSpPr txBox="1"/>
          <p:nvPr/>
        </p:nvSpPr>
        <p:spPr>
          <a:xfrm>
            <a:off x="1612800" y="9576000"/>
            <a:ext cx="15120000" cy="162000"/>
          </a:xfrm>
          <a:prstGeom prst="rect">
            <a:avLst/>
          </a:prstGeom>
          <a:noFill/>
          <a:ln/>
        </p:spPr>
        <p:txBody>
          <a:bodyPr wrap="square" lIns="0" tIns="0" rIns="0" bIns="0" rtlCol="0" anchor="ctr"/>
          <a:lstStyle/>
          <a:p>
            <a:pPr indent="0" marL="0">
              <a:buNone/>
            </a:pPr>
            <a:r>
              <a:rPr lang="en-US" sz="850" dirty="0">
                <a:solidFill>
                  <a:srgbClr val="8A8C8E"/>
                </a:solidFill>
                <a:latin typeface="Century Gothic" pitchFamily="34" charset="0"/>
                <a:ea typeface="Century Gothic" pitchFamily="34" charset="-122"/>
                <a:cs typeface="Century Gothic" pitchFamily="34" charset="-120"/>
              </a:rPr>
              <a:t>Strictly private and confidential  ·  Programme as of 8 September 2026 — items in [brackets] to be confirmed  ·  Emergency: 192 ambulance  ·  190 police  ·  193 fire  ·  Prepared by IGC Partners</a:t>
            </a:r>
            <a:endParaRPr lang="en-US" sz="850" dirty="0"/>
          </a:p>
        </p:txBody>
      </p:sp>
      <p:sp>
        <p:nvSpPr>
          <p:cNvPr id="160" name="Text 150"/>
          <p:cNvSpPr txBox="1"/>
          <p:nvPr/>
        </p:nvSpPr>
        <p:spPr>
          <a:xfrm>
            <a:off x="16923600" y="9347400"/>
            <a:ext cx="324000" cy="183600"/>
          </a:xfrm>
          <a:prstGeom prst="rect">
            <a:avLst/>
          </a:prstGeom>
          <a:noFill/>
          <a:ln/>
        </p:spPr>
        <p:txBody>
          <a:bodyPr wrap="square" lIns="0" tIns="0" rIns="0" bIns="0" rtlCol="0" anchor="ctr"/>
          <a:lstStyle/>
          <a:p>
            <a:pPr algn="r" indent="0" marL="0">
              <a:buNone/>
            </a:pPr>
            <a:r>
              <a:rPr lang="en-US" sz="1200" dirty="0">
                <a:solidFill>
                  <a:srgbClr val="FFFFFF"/>
                </a:solidFill>
                <a:latin typeface="Century Gothic" pitchFamily="34" charset="0"/>
                <a:ea typeface="Century Gothic" pitchFamily="34" charset="-122"/>
                <a:cs typeface="Century Gothic" pitchFamily="34" charset="-120"/>
              </a:rPr>
              <a:t>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IGC Partners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Yellow — Management Meeting &amp; Site Visits · Invitation and Practical Guide</dc:title>
  <dc:subject>PptxGenJS Presentation</dc:subject>
  <dc:creator>IGC Partners</dc:creator>
  <cp:lastModifiedBy>IGC Partners</cp:lastModifiedBy>
  <cp:revision>1</cp:revision>
  <dcterms:created xsi:type="dcterms:W3CDTF">2026-09-08T10:51:04Z</dcterms:created>
  <dcterms:modified xsi:type="dcterms:W3CDTF">2026-09-08T10:51:04Z</dcterms:modified>
</cp:coreProperties>
</file>
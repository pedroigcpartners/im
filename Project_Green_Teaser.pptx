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6858000" cy="9905970"/>
  <p:notesSz cx="9905970"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360274" y="360274"/>
            <a:ext cx="364846" cy="315468"/>
          </a:xfrm>
          <a:prstGeom prst="rect">
            <a:avLst/>
          </a:prstGeom>
        </p:spPr>
      </p:pic>
      <p:sp>
        <p:nvSpPr>
          <p:cNvPr id="3" name="Shape 0"/>
          <p:cNvSpPr/>
          <p:nvPr/>
        </p:nvSpPr>
        <p:spPr>
          <a:xfrm>
            <a:off x="360274" y="739750"/>
            <a:ext cx="5950915" cy="0"/>
          </a:xfrm>
          <a:prstGeom prst="line">
            <a:avLst/>
          </a:prstGeom>
          <a:noFill/>
          <a:ln w="9525">
            <a:solidFill>
              <a:srgbClr val="111721"/>
            </a:solidFill>
            <a:prstDash val="solid"/>
          </a:ln>
        </p:spPr>
      </p:sp>
      <p:sp>
        <p:nvSpPr>
          <p:cNvPr id="4" name="Text 1"/>
          <p:cNvSpPr/>
          <p:nvPr/>
        </p:nvSpPr>
        <p:spPr>
          <a:xfrm>
            <a:off x="360274" y="827532"/>
            <a:ext cx="5954573" cy="288036"/>
          </a:xfrm>
          <a:prstGeom prst="rect">
            <a:avLst/>
          </a:prstGeom>
          <a:noFill/>
          <a:ln/>
        </p:spPr>
        <p:txBody>
          <a:bodyPr wrap="square" lIns="0" tIns="0" rIns="0" bIns="0" rtlCol="0" anchor="t"/>
          <a:lstStyle/>
          <a:p>
            <a:pPr indent="0" marL="0">
              <a:lnSpc>
                <a:spcPct val="110000"/>
              </a:lnSpc>
              <a:buNone/>
            </a:pPr>
            <a:r>
              <a:rPr lang="en-US" sz="2400" b="1" dirty="0">
                <a:solidFill>
                  <a:srgbClr val="222F44"/>
                </a:solidFill>
                <a:latin typeface="Poppins" pitchFamily="34" charset="0"/>
                <a:ea typeface="Poppins" pitchFamily="34" charset="-122"/>
                <a:cs typeface="Poppins" pitchFamily="34" charset="-120"/>
              </a:rPr>
              <a:t>Project Green</a:t>
            </a:r>
            <a:endParaRPr lang="en-US" sz="2400" dirty="0"/>
          </a:p>
        </p:txBody>
      </p:sp>
      <p:sp>
        <p:nvSpPr>
          <p:cNvPr id="5" name="Text 2"/>
          <p:cNvSpPr/>
          <p:nvPr/>
        </p:nvSpPr>
        <p:spPr>
          <a:xfrm>
            <a:off x="360274" y="1279246"/>
            <a:ext cx="1800454" cy="456286"/>
          </a:xfrm>
          <a:prstGeom prst="rect">
            <a:avLst/>
          </a:prstGeom>
          <a:noFill/>
          <a:ln/>
        </p:spPr>
        <p:txBody>
          <a:bodyPr wrap="square" lIns="0" tIns="0" rIns="0" bIns="0" rtlCol="0" anchor="b"/>
          <a:lstStyle/>
          <a:p>
            <a:pPr algn="l" indent="0" marL="0">
              <a:lnSpc>
                <a:spcPct val="110000"/>
              </a:lnSpc>
              <a:buNone/>
            </a:pPr>
            <a:r>
              <a:rPr lang="en-US" sz="2800" b="1" dirty="0">
                <a:solidFill>
                  <a:srgbClr val="D3A93D"/>
                </a:solidFill>
                <a:latin typeface="Poppins" pitchFamily="34" charset="0"/>
                <a:ea typeface="Poppins" pitchFamily="34" charset="-122"/>
                <a:cs typeface="Poppins" pitchFamily="34" charset="-120"/>
              </a:rPr>
              <a:t>01.</a:t>
            </a:r>
            <a:endParaRPr lang="en-US" sz="2800" dirty="0"/>
          </a:p>
        </p:txBody>
      </p:sp>
      <p:sp>
        <p:nvSpPr>
          <p:cNvPr id="6" name="Text 3"/>
          <p:cNvSpPr/>
          <p:nvPr/>
        </p:nvSpPr>
        <p:spPr>
          <a:xfrm>
            <a:off x="360274" y="1644091"/>
            <a:ext cx="1800454" cy="1293876"/>
          </a:xfrm>
          <a:prstGeom prst="rect">
            <a:avLst/>
          </a:prstGeom>
          <a:noFill/>
          <a:ln/>
        </p:spPr>
        <p:txBody>
          <a:bodyPr wrap="square" lIns="0" tIns="0" rIns="0" bIns="0" rtlCol="0" anchor="t"/>
          <a:lstStyle/>
          <a:p>
            <a:pPr algn="l" indent="0" marL="0">
              <a:lnSpc>
                <a:spcPct val="110000"/>
              </a:lnSpc>
              <a:spcAft>
                <a:spcPts val="800"/>
              </a:spcAft>
              <a:buNone/>
            </a:pPr>
            <a:r>
              <a:rPr lang="en-US" sz="1000" b="1" dirty="0">
                <a:solidFill>
                  <a:srgbClr val="222F44"/>
                </a:solidFill>
                <a:latin typeface="Poppins" pitchFamily="34" charset="0"/>
                <a:ea typeface="Poppins" pitchFamily="34" charset="-122"/>
                <a:cs typeface="Poppins" pitchFamily="34" charset="-120"/>
              </a:rPr>
              <a:t>Leading agricultural dealership</a:t>
            </a:r>
            <a:endParaRPr lang="en-US" sz="1000" dirty="0"/>
          </a:p>
          <a:p>
            <a:pPr algn="l" indent="0" marL="0">
              <a:lnSpc>
                <a:spcPct val="110000"/>
              </a:lnSpc>
              <a:buNone/>
            </a:pPr>
            <a:r>
              <a:rPr lang="en-US" sz="1000" dirty="0">
                <a:solidFill>
                  <a:srgbClr val="222F44"/>
                </a:solidFill>
                <a:latin typeface="Poppins" pitchFamily="34" charset="0"/>
                <a:ea typeface="Poppins" pitchFamily="34" charset="-122"/>
                <a:cs typeface="Poppins" pitchFamily="34" charset="-120"/>
              </a:rPr>
              <a:t>Authorised dealer for a global agricultural machinery OEM across ~35% of Brazil’s sugarcane area</a:t>
            </a:r>
            <a:endParaRPr lang="en-US" sz="1000" dirty="0"/>
          </a:p>
        </p:txBody>
      </p:sp>
      <p:sp>
        <p:nvSpPr>
          <p:cNvPr id="7" name="Text 4"/>
          <p:cNvSpPr/>
          <p:nvPr/>
        </p:nvSpPr>
        <p:spPr>
          <a:xfrm>
            <a:off x="2434133" y="1279246"/>
            <a:ext cx="1800454" cy="456286"/>
          </a:xfrm>
          <a:prstGeom prst="rect">
            <a:avLst/>
          </a:prstGeom>
          <a:noFill/>
          <a:ln/>
        </p:spPr>
        <p:txBody>
          <a:bodyPr wrap="square" lIns="0" tIns="0" rIns="0" bIns="0" rtlCol="0" anchor="b"/>
          <a:lstStyle/>
          <a:p>
            <a:pPr algn="l" indent="0" marL="0">
              <a:lnSpc>
                <a:spcPct val="110000"/>
              </a:lnSpc>
              <a:buNone/>
            </a:pPr>
            <a:r>
              <a:rPr lang="en-US" sz="2800" b="1" dirty="0">
                <a:solidFill>
                  <a:srgbClr val="D3A93D"/>
                </a:solidFill>
                <a:latin typeface="Poppins" pitchFamily="34" charset="0"/>
                <a:ea typeface="Poppins" pitchFamily="34" charset="-122"/>
                <a:cs typeface="Poppins" pitchFamily="34" charset="-120"/>
              </a:rPr>
              <a:t>02.</a:t>
            </a:r>
            <a:endParaRPr lang="en-US" sz="2800" dirty="0"/>
          </a:p>
        </p:txBody>
      </p:sp>
      <p:sp>
        <p:nvSpPr>
          <p:cNvPr id="8" name="Text 5"/>
          <p:cNvSpPr/>
          <p:nvPr/>
        </p:nvSpPr>
        <p:spPr>
          <a:xfrm>
            <a:off x="2434133" y="1644091"/>
            <a:ext cx="1800454" cy="1293876"/>
          </a:xfrm>
          <a:prstGeom prst="rect">
            <a:avLst/>
          </a:prstGeom>
          <a:noFill/>
          <a:ln/>
        </p:spPr>
        <p:txBody>
          <a:bodyPr wrap="square" lIns="0" tIns="0" rIns="0" bIns="0" rtlCol="0" anchor="t"/>
          <a:lstStyle/>
          <a:p>
            <a:pPr algn="l" indent="0" marL="0">
              <a:lnSpc>
                <a:spcPct val="110000"/>
              </a:lnSpc>
              <a:spcAft>
                <a:spcPts val="800"/>
              </a:spcAft>
              <a:buNone/>
            </a:pPr>
            <a:r>
              <a:rPr lang="en-US" sz="1000" b="1" dirty="0">
                <a:solidFill>
                  <a:srgbClr val="222F44"/>
                </a:solidFill>
                <a:latin typeface="Poppins" pitchFamily="34" charset="0"/>
                <a:ea typeface="Poppins" pitchFamily="34" charset="-122"/>
                <a:cs typeface="Poppins" pitchFamily="34" charset="-120"/>
              </a:rPr>
              <a:t>Aftermarket-led service platform</a:t>
            </a:r>
            <a:endParaRPr lang="en-US" sz="1000" dirty="0"/>
          </a:p>
          <a:p>
            <a:pPr algn="l" indent="0" marL="0">
              <a:lnSpc>
                <a:spcPct val="110000"/>
              </a:lnSpc>
              <a:buNone/>
            </a:pPr>
            <a:r>
              <a:rPr lang="en-US" sz="1000" dirty="0">
                <a:solidFill>
                  <a:srgbClr val="222F44"/>
                </a:solidFill>
                <a:latin typeface="Poppins" pitchFamily="34" charset="0"/>
                <a:ea typeface="Poppins" pitchFamily="34" charset="-122"/>
                <a:cs typeface="Poppins" pitchFamily="34" charset="-120"/>
              </a:rPr>
              <a:t>70% of the workforce dedicated to after-sales and technology, with +88% immediate parts availability</a:t>
            </a:r>
            <a:endParaRPr lang="en-US" sz="1000" dirty="0"/>
          </a:p>
        </p:txBody>
      </p:sp>
      <p:sp>
        <p:nvSpPr>
          <p:cNvPr id="9" name="Text 6"/>
          <p:cNvSpPr/>
          <p:nvPr/>
        </p:nvSpPr>
        <p:spPr>
          <a:xfrm>
            <a:off x="4508906" y="1279246"/>
            <a:ext cx="1800454" cy="456286"/>
          </a:xfrm>
          <a:prstGeom prst="rect">
            <a:avLst/>
          </a:prstGeom>
          <a:noFill/>
          <a:ln/>
        </p:spPr>
        <p:txBody>
          <a:bodyPr wrap="square" lIns="0" tIns="0" rIns="0" bIns="0" rtlCol="0" anchor="b"/>
          <a:lstStyle/>
          <a:p>
            <a:pPr algn="l" indent="0" marL="0">
              <a:lnSpc>
                <a:spcPct val="110000"/>
              </a:lnSpc>
              <a:buNone/>
            </a:pPr>
            <a:r>
              <a:rPr lang="en-US" sz="2800" b="1" dirty="0">
                <a:solidFill>
                  <a:srgbClr val="D3A93D"/>
                </a:solidFill>
                <a:latin typeface="Poppins" pitchFamily="34" charset="0"/>
                <a:ea typeface="Poppins" pitchFamily="34" charset="-122"/>
                <a:cs typeface="Poppins" pitchFamily="34" charset="-120"/>
              </a:rPr>
              <a:t>03.</a:t>
            </a:r>
            <a:endParaRPr lang="en-US" sz="2800" dirty="0"/>
          </a:p>
        </p:txBody>
      </p:sp>
      <p:sp>
        <p:nvSpPr>
          <p:cNvPr id="10" name="Text 7"/>
          <p:cNvSpPr/>
          <p:nvPr/>
        </p:nvSpPr>
        <p:spPr>
          <a:xfrm>
            <a:off x="4508906" y="1644091"/>
            <a:ext cx="1920240" cy="1293876"/>
          </a:xfrm>
          <a:prstGeom prst="rect">
            <a:avLst/>
          </a:prstGeom>
          <a:noFill/>
          <a:ln/>
        </p:spPr>
        <p:txBody>
          <a:bodyPr wrap="square" lIns="0" tIns="0" rIns="0" bIns="0" rtlCol="0" anchor="t"/>
          <a:lstStyle/>
          <a:p>
            <a:pPr algn="l" indent="0" marL="0">
              <a:lnSpc>
                <a:spcPct val="110000"/>
              </a:lnSpc>
              <a:spcAft>
                <a:spcPts val="800"/>
              </a:spcAft>
              <a:buNone/>
            </a:pPr>
            <a:r>
              <a:rPr lang="en-US" sz="1000" b="1" dirty="0">
                <a:solidFill>
                  <a:srgbClr val="222F44"/>
                </a:solidFill>
                <a:latin typeface="Poppins" pitchFamily="34" charset="0"/>
                <a:ea typeface="Poppins" pitchFamily="34" charset="-122"/>
                <a:cs typeface="Poppins" pitchFamily="34" charset="-120"/>
              </a:rPr>
              <a:t>Technology-driven recurrence</a:t>
            </a:r>
            <a:endParaRPr lang="en-US" sz="1000" dirty="0"/>
          </a:p>
          <a:p>
            <a:pPr algn="l" indent="0" marL="0">
              <a:lnSpc>
                <a:spcPct val="110000"/>
              </a:lnSpc>
              <a:buNone/>
            </a:pPr>
            <a:r>
              <a:rPr lang="en-US" sz="1000" dirty="0">
                <a:solidFill>
                  <a:srgbClr val="222F44"/>
                </a:solidFill>
                <a:latin typeface="Poppins" pitchFamily="34" charset="0"/>
                <a:ea typeface="Poppins" pitchFamily="34" charset="-122"/>
                <a:cs typeface="Poppins" pitchFamily="34" charset="-120"/>
              </a:rPr>
              <a:t>4.1k connected machines and 6.1 Mn hours of machine data feeding proactive service demand</a:t>
            </a:r>
            <a:endParaRPr lang="en-US" sz="1000" dirty="0"/>
          </a:p>
        </p:txBody>
      </p:sp>
      <p:sp>
        <p:nvSpPr>
          <p:cNvPr id="11" name="Shape 8"/>
          <p:cNvSpPr/>
          <p:nvPr/>
        </p:nvSpPr>
        <p:spPr>
          <a:xfrm>
            <a:off x="2279599" y="1277417"/>
            <a:ext cx="0" cy="1610258"/>
          </a:xfrm>
          <a:prstGeom prst="line">
            <a:avLst/>
          </a:prstGeom>
          <a:noFill/>
          <a:ln w="9525">
            <a:solidFill>
              <a:srgbClr val="222F44"/>
            </a:solidFill>
            <a:prstDash val="solid"/>
          </a:ln>
        </p:spPr>
      </p:sp>
      <p:sp>
        <p:nvSpPr>
          <p:cNvPr id="12" name="Shape 9"/>
          <p:cNvSpPr/>
          <p:nvPr/>
        </p:nvSpPr>
        <p:spPr>
          <a:xfrm>
            <a:off x="4308653" y="1277417"/>
            <a:ext cx="0" cy="1610258"/>
          </a:xfrm>
          <a:prstGeom prst="line">
            <a:avLst/>
          </a:prstGeom>
          <a:noFill/>
          <a:ln w="9525">
            <a:solidFill>
              <a:srgbClr val="222F44"/>
            </a:solidFill>
            <a:prstDash val="solid"/>
          </a:ln>
        </p:spPr>
      </p:sp>
      <p:sp>
        <p:nvSpPr>
          <p:cNvPr id="13" name="Shape 10"/>
          <p:cNvSpPr/>
          <p:nvPr/>
        </p:nvSpPr>
        <p:spPr>
          <a:xfrm>
            <a:off x="0" y="3087654"/>
            <a:ext cx="6858000" cy="709026"/>
          </a:xfrm>
          <a:prstGeom prst="rect">
            <a:avLst/>
          </a:prstGeom>
          <a:solidFill>
            <a:srgbClr val="222F44"/>
          </a:solidFill>
          <a:ln/>
        </p:spPr>
      </p:sp>
      <p:sp>
        <p:nvSpPr>
          <p:cNvPr id="14" name="Text 11"/>
          <p:cNvSpPr/>
          <p:nvPr/>
        </p:nvSpPr>
        <p:spPr>
          <a:xfrm>
            <a:off x="182880" y="3087654"/>
            <a:ext cx="6492240" cy="709026"/>
          </a:xfrm>
          <a:prstGeom prst="rect">
            <a:avLst/>
          </a:prstGeom>
          <a:noFill/>
          <a:ln/>
        </p:spPr>
        <p:txBody>
          <a:bodyPr wrap="square" lIns="0" tIns="0" rIns="0" bIns="0" rtlCol="0" anchor="ctr"/>
          <a:lstStyle/>
          <a:p>
            <a:pPr algn="ctr" indent="0" marL="0">
              <a:lnSpc>
                <a:spcPct val="110000"/>
              </a:lnSpc>
              <a:buNone/>
            </a:pPr>
            <a:r>
              <a:rPr lang="en-US" sz="1200" dirty="0">
                <a:solidFill>
                  <a:srgbClr val="FFFFFF"/>
                </a:solidFill>
                <a:latin typeface="Poppins" pitchFamily="34" charset="0"/>
                <a:ea typeface="Poppins" pitchFamily="34" charset="-122"/>
                <a:cs typeface="Poppins" pitchFamily="34" charset="-120"/>
              </a:rPr>
              <a:t>The Company operates at the core of Brazil’s sugarcane belt,</a:t>
            </a:r>
            <a:endParaRPr lang="en-US" sz="1200" dirty="0"/>
          </a:p>
          <a:p>
            <a:pPr algn="ctr" indent="0" marL="0">
              <a:lnSpc>
                <a:spcPct val="110000"/>
              </a:lnSpc>
              <a:buNone/>
            </a:pPr>
            <a:r>
              <a:rPr lang="en-US" sz="1200" dirty="0">
                <a:solidFill>
                  <a:srgbClr val="D3A93D"/>
                </a:solidFill>
                <a:latin typeface="Poppins" pitchFamily="34" charset="0"/>
                <a:ea typeface="Poppins" pitchFamily="34" charset="-122"/>
                <a:cs typeface="Poppins" pitchFamily="34" charset="-120"/>
              </a:rPr>
              <a:t>combining OEM-backed scale, 13 branches and aftermarket recurrence</a:t>
            </a:r>
            <a:endParaRPr lang="en-US" sz="1200" dirty="0"/>
          </a:p>
        </p:txBody>
      </p:sp>
      <p:sp>
        <p:nvSpPr>
          <p:cNvPr id="15" name="Text 12"/>
          <p:cNvSpPr/>
          <p:nvPr/>
        </p:nvSpPr>
        <p:spPr>
          <a:xfrm>
            <a:off x="364846" y="3831336"/>
            <a:ext cx="2003450" cy="320040"/>
          </a:xfrm>
          <a:prstGeom prst="rect">
            <a:avLst/>
          </a:prstGeom>
          <a:noFill/>
          <a:ln/>
        </p:spPr>
        <p:txBody>
          <a:bodyPr wrap="square" lIns="0" tIns="0" rIns="0" bIns="0" rtlCol="0" anchor="t"/>
          <a:lstStyle/>
          <a:p>
            <a:pPr indent="0" marL="0">
              <a:buNone/>
            </a:pPr>
            <a:r>
              <a:rPr lang="en-US" sz="1400" b="1" dirty="0">
                <a:solidFill>
                  <a:srgbClr val="222F44"/>
                </a:solidFill>
                <a:latin typeface="Poppins" pitchFamily="34" charset="0"/>
                <a:ea typeface="Poppins" pitchFamily="34" charset="-122"/>
                <a:cs typeface="Poppins" pitchFamily="34" charset="-120"/>
              </a:rPr>
              <a:t>Business Overview</a:t>
            </a:r>
            <a:endParaRPr lang="en-US" sz="1400" dirty="0"/>
          </a:p>
        </p:txBody>
      </p:sp>
      <p:sp>
        <p:nvSpPr>
          <p:cNvPr id="16" name="Text 13"/>
          <p:cNvSpPr/>
          <p:nvPr/>
        </p:nvSpPr>
        <p:spPr>
          <a:xfrm>
            <a:off x="364846" y="4114800"/>
            <a:ext cx="2546604" cy="1609344"/>
          </a:xfrm>
          <a:prstGeom prst="rect">
            <a:avLst/>
          </a:prstGeom>
          <a:noFill/>
          <a:ln/>
        </p:spPr>
        <p:txBody>
          <a:bodyPr wrap="square" lIns="0" tIns="0" rIns="0" bIns="0" rtlCol="0" anchor="t"/>
          <a:lstStyle/>
          <a:p>
            <a:pPr indent="0" marL="0">
              <a:lnSpc>
                <a:spcPct val="110000"/>
              </a:lnSpc>
              <a:buNone/>
            </a:pPr>
            <a:r>
              <a:rPr lang="en-US" sz="1000" dirty="0">
                <a:solidFill>
                  <a:srgbClr val="222F44"/>
                </a:solidFill>
                <a:latin typeface="Poppins" pitchFamily="34" charset="0"/>
                <a:ea typeface="Poppins" pitchFamily="34" charset="-122"/>
                <a:cs typeface="Poppins" pitchFamily="34" charset="-120"/>
              </a:rPr>
              <a:t>Agricultural machinery dealership with 13 branches across Brazil’s Center-South, distributing and servicing equipment for sugarcane, grain, citrus and coffee producers across a 3.7 Mn hectare area, supported by +600 employees and a connected-support structure that keeps client fleets running</a:t>
            </a:r>
            <a:endParaRPr lang="en-US" sz="1000" dirty="0"/>
          </a:p>
        </p:txBody>
      </p:sp>
      <p:pic>
        <p:nvPicPr>
          <p:cNvPr id="17" name="Image 1" descr="assets/green/map_brazil_gray.png">    </p:cNvPr>
          <p:cNvPicPr>
            <a:picLocks noChangeAspect="1"/>
          </p:cNvPicPr>
          <p:nvPr/>
        </p:nvPicPr>
        <p:blipFill>
          <a:blip r:embed="rId2"/>
          <a:stretch>
            <a:fillRect/>
          </a:stretch>
        </p:blipFill>
        <p:spPr>
          <a:xfrm>
            <a:off x="2761488" y="3913632"/>
            <a:ext cx="1645920" cy="1544595"/>
          </a:xfrm>
          <a:prstGeom prst="rect">
            <a:avLst/>
          </a:prstGeom>
        </p:spPr>
      </p:pic>
      <p:sp>
        <p:nvSpPr>
          <p:cNvPr id="18" name="Shape 14"/>
          <p:cNvSpPr/>
          <p:nvPr/>
        </p:nvSpPr>
        <p:spPr>
          <a:xfrm>
            <a:off x="3615538" y="4757907"/>
            <a:ext cx="365760" cy="365760"/>
          </a:xfrm>
          <a:prstGeom prst="ellipse">
            <a:avLst/>
          </a:prstGeom>
          <a:ln w="19050">
            <a:solidFill>
              <a:srgbClr val="D3A93D"/>
            </a:solidFill>
            <a:prstDash val="dash"/>
          </a:ln>
        </p:spPr>
      </p:sp>
      <p:sp>
        <p:nvSpPr>
          <p:cNvPr id="19" name="Text 15"/>
          <p:cNvSpPr/>
          <p:nvPr/>
        </p:nvSpPr>
        <p:spPr>
          <a:xfrm>
            <a:off x="3341218" y="5173959"/>
            <a:ext cx="914400" cy="331927"/>
          </a:xfrm>
          <a:prstGeom prst="rect">
            <a:avLst/>
          </a:prstGeom>
          <a:noFill/>
          <a:ln/>
        </p:spPr>
        <p:txBody>
          <a:bodyPr wrap="square" lIns="0" tIns="0" rIns="0" bIns="0" rtlCol="0" anchor="t"/>
          <a:lstStyle/>
          <a:p>
            <a:pPr algn="ctr" indent="0" marL="0">
              <a:lnSpc>
                <a:spcPct val="110000"/>
              </a:lnSpc>
              <a:buNone/>
            </a:pPr>
            <a:r>
              <a:rPr lang="en-US" sz="1000" dirty="0">
                <a:solidFill>
                  <a:srgbClr val="222F44"/>
                </a:solidFill>
                <a:latin typeface="Poppins" pitchFamily="34" charset="0"/>
                <a:ea typeface="Poppins" pitchFamily="34" charset="-122"/>
                <a:cs typeface="Poppins" pitchFamily="34" charset="-120"/>
              </a:rPr>
              <a:t>Focus of operation</a:t>
            </a:r>
            <a:endParaRPr lang="en-US" sz="1000" dirty="0"/>
          </a:p>
        </p:txBody>
      </p:sp>
      <p:sp>
        <p:nvSpPr>
          <p:cNvPr id="20" name="Text 16"/>
          <p:cNvSpPr/>
          <p:nvPr/>
        </p:nvSpPr>
        <p:spPr>
          <a:xfrm>
            <a:off x="4575658" y="3840480"/>
            <a:ext cx="2103120" cy="320040"/>
          </a:xfrm>
          <a:prstGeom prst="rect">
            <a:avLst/>
          </a:prstGeom>
          <a:noFill/>
          <a:ln/>
        </p:spPr>
        <p:txBody>
          <a:bodyPr wrap="square" lIns="0" tIns="0" rIns="0" bIns="0" rtlCol="0" anchor="t"/>
          <a:lstStyle/>
          <a:p>
            <a:pPr indent="0" marL="0">
              <a:buNone/>
            </a:pPr>
            <a:r>
              <a:rPr lang="en-US" sz="1300" b="1" dirty="0">
                <a:solidFill>
                  <a:srgbClr val="222F44"/>
                </a:solidFill>
                <a:latin typeface="Poppins" pitchFamily="34" charset="0"/>
                <a:ea typeface="Poppins" pitchFamily="34" charset="-122"/>
                <a:cs typeface="Poppins" pitchFamily="34" charset="-120"/>
              </a:rPr>
              <a:t>Technology platforms</a:t>
            </a:r>
            <a:endParaRPr lang="en-US" sz="1300" dirty="0"/>
          </a:p>
        </p:txBody>
      </p:sp>
      <p:pic>
        <p:nvPicPr>
          <p:cNvPr id="21" name="Image 2" descr="assets/icons/activity_navy.png">    </p:cNvPr>
          <p:cNvPicPr>
            <a:picLocks noChangeAspect="1"/>
          </p:cNvPicPr>
          <p:nvPr/>
        </p:nvPicPr>
        <p:blipFill>
          <a:blip r:embed="rId3"/>
          <a:stretch>
            <a:fillRect/>
          </a:stretch>
        </p:blipFill>
        <p:spPr>
          <a:xfrm>
            <a:off x="4575658" y="4297680"/>
            <a:ext cx="169164" cy="169164"/>
          </a:xfrm>
          <a:prstGeom prst="rect">
            <a:avLst/>
          </a:prstGeom>
        </p:spPr>
      </p:pic>
      <p:sp>
        <p:nvSpPr>
          <p:cNvPr id="22" name="Text 17"/>
          <p:cNvSpPr/>
          <p:nvPr/>
        </p:nvSpPr>
        <p:spPr>
          <a:xfrm>
            <a:off x="4808830" y="4229100"/>
            <a:ext cx="1688897" cy="155448"/>
          </a:xfrm>
          <a:prstGeom prst="rect">
            <a:avLst/>
          </a:prstGeom>
          <a:noFill/>
          <a:ln/>
        </p:spPr>
        <p:txBody>
          <a:bodyPr wrap="square" lIns="0" tIns="0" rIns="0" bIns="0" rtlCol="0" anchor="t"/>
          <a:lstStyle/>
          <a:p>
            <a:pPr indent="0" marL="0">
              <a:lnSpc>
                <a:spcPct val="110000"/>
              </a:lnSpc>
              <a:buNone/>
            </a:pPr>
            <a:r>
              <a:rPr lang="en-US" sz="800" b="1" dirty="0">
                <a:solidFill>
                  <a:srgbClr val="222F44"/>
                </a:solidFill>
                <a:latin typeface="Poppins" pitchFamily="34" charset="0"/>
                <a:ea typeface="Poppins" pitchFamily="34" charset="-122"/>
                <a:cs typeface="Poppins" pitchFamily="34" charset="-120"/>
              </a:rPr>
              <a:t>Connected fleet support</a:t>
            </a:r>
            <a:endParaRPr lang="en-US" sz="800" dirty="0"/>
          </a:p>
        </p:txBody>
      </p:sp>
      <p:sp>
        <p:nvSpPr>
          <p:cNvPr id="23" name="Text 18"/>
          <p:cNvSpPr/>
          <p:nvPr/>
        </p:nvSpPr>
        <p:spPr>
          <a:xfrm>
            <a:off x="4808830" y="4384548"/>
            <a:ext cx="1688897" cy="146304"/>
          </a:xfrm>
          <a:prstGeom prst="rect">
            <a:avLst/>
          </a:prstGeom>
          <a:noFill/>
          <a:ln/>
        </p:spPr>
        <p:txBody>
          <a:bodyPr wrap="square" lIns="0" tIns="0" rIns="0" bIns="0" rtlCol="0" anchor="t"/>
          <a:lstStyle/>
          <a:p>
            <a:pPr indent="0" marL="0">
              <a:lnSpc>
                <a:spcPct val="110000"/>
              </a:lnSpc>
              <a:buNone/>
            </a:pPr>
            <a:r>
              <a:rPr lang="en-US" sz="700" dirty="0">
                <a:solidFill>
                  <a:srgbClr val="222F44"/>
                </a:solidFill>
                <a:latin typeface="Poppins" pitchFamily="34" charset="0"/>
                <a:ea typeface="Poppins" pitchFamily="34" charset="-122"/>
                <a:cs typeface="Poppins" pitchFamily="34" charset="-120"/>
              </a:rPr>
              <a:t>4.1k machines · 2 control centres</a:t>
            </a:r>
            <a:endParaRPr lang="en-US" sz="700" dirty="0"/>
          </a:p>
        </p:txBody>
      </p:sp>
      <p:sp>
        <p:nvSpPr>
          <p:cNvPr id="24" name="Shape 19"/>
          <p:cNvSpPr/>
          <p:nvPr/>
        </p:nvSpPr>
        <p:spPr>
          <a:xfrm>
            <a:off x="4575658" y="4556455"/>
            <a:ext cx="1922069" cy="5486"/>
          </a:xfrm>
          <a:prstGeom prst="rect">
            <a:avLst/>
          </a:prstGeom>
          <a:solidFill>
            <a:srgbClr val="E4E7EC"/>
          </a:solidFill>
          <a:ln/>
        </p:spPr>
      </p:sp>
      <p:pic>
        <p:nvPicPr>
          <p:cNvPr id="25" name="Image 3" descr="assets/icons/target_navy.png">    </p:cNvPr>
          <p:cNvPicPr>
            <a:picLocks noChangeAspect="1"/>
          </p:cNvPicPr>
          <p:nvPr/>
        </p:nvPicPr>
        <p:blipFill>
          <a:blip r:embed="rId4"/>
          <a:stretch>
            <a:fillRect/>
          </a:stretch>
        </p:blipFill>
        <p:spPr>
          <a:xfrm>
            <a:off x="4575658" y="4658868"/>
            <a:ext cx="169164" cy="169164"/>
          </a:xfrm>
          <a:prstGeom prst="rect">
            <a:avLst/>
          </a:prstGeom>
        </p:spPr>
      </p:pic>
      <p:sp>
        <p:nvSpPr>
          <p:cNvPr id="26" name="Text 20"/>
          <p:cNvSpPr/>
          <p:nvPr/>
        </p:nvSpPr>
        <p:spPr>
          <a:xfrm>
            <a:off x="4808830" y="4590288"/>
            <a:ext cx="1688897" cy="155448"/>
          </a:xfrm>
          <a:prstGeom prst="rect">
            <a:avLst/>
          </a:prstGeom>
          <a:noFill/>
          <a:ln/>
        </p:spPr>
        <p:txBody>
          <a:bodyPr wrap="square" lIns="0" tIns="0" rIns="0" bIns="0" rtlCol="0" anchor="t"/>
          <a:lstStyle/>
          <a:p>
            <a:pPr indent="0" marL="0">
              <a:lnSpc>
                <a:spcPct val="110000"/>
              </a:lnSpc>
              <a:buNone/>
            </a:pPr>
            <a:r>
              <a:rPr lang="en-US" sz="800" b="1" dirty="0">
                <a:solidFill>
                  <a:srgbClr val="222F44"/>
                </a:solidFill>
                <a:latin typeface="Poppins" pitchFamily="34" charset="0"/>
                <a:ea typeface="Poppins" pitchFamily="34" charset="-122"/>
                <a:cs typeface="Poppins" pitchFamily="34" charset="-120"/>
              </a:rPr>
              <a:t>Harvest monitoring</a:t>
            </a:r>
            <a:endParaRPr lang="en-US" sz="800" dirty="0"/>
          </a:p>
        </p:txBody>
      </p:sp>
      <p:sp>
        <p:nvSpPr>
          <p:cNvPr id="27" name="Text 21"/>
          <p:cNvSpPr/>
          <p:nvPr/>
        </p:nvSpPr>
        <p:spPr>
          <a:xfrm>
            <a:off x="4808830" y="4745736"/>
            <a:ext cx="1688897" cy="146304"/>
          </a:xfrm>
          <a:prstGeom prst="rect">
            <a:avLst/>
          </a:prstGeom>
          <a:noFill/>
          <a:ln/>
        </p:spPr>
        <p:txBody>
          <a:bodyPr wrap="square" lIns="0" tIns="0" rIns="0" bIns="0" rtlCol="0" anchor="t"/>
          <a:lstStyle/>
          <a:p>
            <a:pPr indent="0" marL="0">
              <a:lnSpc>
                <a:spcPct val="110000"/>
              </a:lnSpc>
              <a:buNone/>
            </a:pPr>
            <a:r>
              <a:rPr lang="en-US" sz="700" dirty="0">
                <a:solidFill>
                  <a:srgbClr val="222F44"/>
                </a:solidFill>
                <a:latin typeface="Poppins" pitchFamily="34" charset="0"/>
                <a:ea typeface="Poppins" pitchFamily="34" charset="-122"/>
                <a:cs typeface="Poppins" pitchFamily="34" charset="-120"/>
              </a:rPr>
              <a:t>Full field monitoring of harvesters</a:t>
            </a:r>
            <a:endParaRPr lang="en-US" sz="700" dirty="0"/>
          </a:p>
        </p:txBody>
      </p:sp>
      <p:sp>
        <p:nvSpPr>
          <p:cNvPr id="28" name="Shape 22"/>
          <p:cNvSpPr/>
          <p:nvPr/>
        </p:nvSpPr>
        <p:spPr>
          <a:xfrm>
            <a:off x="4575658" y="4917643"/>
            <a:ext cx="1922069" cy="5486"/>
          </a:xfrm>
          <a:prstGeom prst="rect">
            <a:avLst/>
          </a:prstGeom>
          <a:solidFill>
            <a:srgbClr val="E4E7EC"/>
          </a:solidFill>
          <a:ln/>
        </p:spPr>
      </p:sp>
      <p:pic>
        <p:nvPicPr>
          <p:cNvPr id="29" name="Image 4" descr="assets/icons/layers_navy.png">    </p:cNvPr>
          <p:cNvPicPr>
            <a:picLocks noChangeAspect="1"/>
          </p:cNvPicPr>
          <p:nvPr/>
        </p:nvPicPr>
        <p:blipFill>
          <a:blip r:embed="rId5"/>
          <a:stretch>
            <a:fillRect/>
          </a:stretch>
        </p:blipFill>
        <p:spPr>
          <a:xfrm>
            <a:off x="4575658" y="5020056"/>
            <a:ext cx="169164" cy="169164"/>
          </a:xfrm>
          <a:prstGeom prst="rect">
            <a:avLst/>
          </a:prstGeom>
        </p:spPr>
      </p:pic>
      <p:sp>
        <p:nvSpPr>
          <p:cNvPr id="30" name="Text 23"/>
          <p:cNvSpPr/>
          <p:nvPr/>
        </p:nvSpPr>
        <p:spPr>
          <a:xfrm>
            <a:off x="4808830" y="4951476"/>
            <a:ext cx="1688897" cy="155448"/>
          </a:xfrm>
          <a:prstGeom prst="rect">
            <a:avLst/>
          </a:prstGeom>
          <a:noFill/>
          <a:ln/>
        </p:spPr>
        <p:txBody>
          <a:bodyPr wrap="square" lIns="0" tIns="0" rIns="0" bIns="0" rtlCol="0" anchor="t"/>
          <a:lstStyle/>
          <a:p>
            <a:pPr indent="0" marL="0">
              <a:lnSpc>
                <a:spcPct val="110000"/>
              </a:lnSpc>
              <a:buNone/>
            </a:pPr>
            <a:r>
              <a:rPr lang="en-US" sz="800" b="1" dirty="0">
                <a:solidFill>
                  <a:srgbClr val="222F44"/>
                </a:solidFill>
                <a:latin typeface="Poppins" pitchFamily="34" charset="0"/>
                <a:ea typeface="Poppins" pitchFamily="34" charset="-122"/>
                <a:cs typeface="Poppins" pitchFamily="34" charset="-120"/>
              </a:rPr>
              <a:t>Agronomic intelligence</a:t>
            </a:r>
            <a:endParaRPr lang="en-US" sz="800" dirty="0"/>
          </a:p>
        </p:txBody>
      </p:sp>
      <p:sp>
        <p:nvSpPr>
          <p:cNvPr id="31" name="Text 24"/>
          <p:cNvSpPr/>
          <p:nvPr/>
        </p:nvSpPr>
        <p:spPr>
          <a:xfrm>
            <a:off x="4808830" y="5106924"/>
            <a:ext cx="1688897" cy="146304"/>
          </a:xfrm>
          <a:prstGeom prst="rect">
            <a:avLst/>
          </a:prstGeom>
          <a:noFill/>
          <a:ln/>
        </p:spPr>
        <p:txBody>
          <a:bodyPr wrap="square" lIns="0" tIns="0" rIns="0" bIns="0" rtlCol="0" anchor="t"/>
          <a:lstStyle/>
          <a:p>
            <a:pPr indent="0" marL="0">
              <a:lnSpc>
                <a:spcPct val="110000"/>
              </a:lnSpc>
              <a:buNone/>
            </a:pPr>
            <a:r>
              <a:rPr lang="en-US" sz="700" dirty="0">
                <a:solidFill>
                  <a:srgbClr val="222F44"/>
                </a:solidFill>
                <a:latin typeface="Poppins" pitchFamily="34" charset="0"/>
                <a:ea typeface="Poppins" pitchFamily="34" charset="-122"/>
                <a:cs typeface="Poppins" pitchFamily="34" charset="-120"/>
              </a:rPr>
              <a:t>Satellite, climate and soil data</a:t>
            </a:r>
            <a:endParaRPr lang="en-US" sz="700" dirty="0"/>
          </a:p>
        </p:txBody>
      </p:sp>
      <p:sp>
        <p:nvSpPr>
          <p:cNvPr id="32" name="Shape 25"/>
          <p:cNvSpPr/>
          <p:nvPr/>
        </p:nvSpPr>
        <p:spPr>
          <a:xfrm>
            <a:off x="4575658" y="5278831"/>
            <a:ext cx="1922069" cy="5486"/>
          </a:xfrm>
          <a:prstGeom prst="rect">
            <a:avLst/>
          </a:prstGeom>
          <a:solidFill>
            <a:srgbClr val="E4E7EC"/>
          </a:solidFill>
          <a:ln/>
        </p:spPr>
      </p:sp>
      <p:pic>
        <p:nvPicPr>
          <p:cNvPr id="33" name="Image 5" descr="assets/icons/clock_navy.png">    </p:cNvPr>
          <p:cNvPicPr>
            <a:picLocks noChangeAspect="1"/>
          </p:cNvPicPr>
          <p:nvPr/>
        </p:nvPicPr>
        <p:blipFill>
          <a:blip r:embed="rId6"/>
          <a:stretch>
            <a:fillRect/>
          </a:stretch>
        </p:blipFill>
        <p:spPr>
          <a:xfrm>
            <a:off x="4575658" y="5381244"/>
            <a:ext cx="169164" cy="169164"/>
          </a:xfrm>
          <a:prstGeom prst="rect">
            <a:avLst/>
          </a:prstGeom>
        </p:spPr>
      </p:pic>
      <p:sp>
        <p:nvSpPr>
          <p:cNvPr id="34" name="Text 26"/>
          <p:cNvSpPr/>
          <p:nvPr/>
        </p:nvSpPr>
        <p:spPr>
          <a:xfrm>
            <a:off x="4808830" y="5312664"/>
            <a:ext cx="1688897" cy="155448"/>
          </a:xfrm>
          <a:prstGeom prst="rect">
            <a:avLst/>
          </a:prstGeom>
          <a:noFill/>
          <a:ln/>
        </p:spPr>
        <p:txBody>
          <a:bodyPr wrap="square" lIns="0" tIns="0" rIns="0" bIns="0" rtlCol="0" anchor="t"/>
          <a:lstStyle/>
          <a:p>
            <a:pPr indent="0" marL="0">
              <a:lnSpc>
                <a:spcPct val="110000"/>
              </a:lnSpc>
              <a:buNone/>
            </a:pPr>
            <a:r>
              <a:rPr lang="en-US" sz="800" b="1" dirty="0">
                <a:solidFill>
                  <a:srgbClr val="222F44"/>
                </a:solidFill>
                <a:latin typeface="Poppins" pitchFamily="34" charset="0"/>
                <a:ea typeface="Poppins" pitchFamily="34" charset="-122"/>
                <a:cs typeface="Poppins" pitchFamily="34" charset="-120"/>
              </a:rPr>
              <a:t>Autonomous parts store</a:t>
            </a:r>
            <a:endParaRPr lang="en-US" sz="800" dirty="0"/>
          </a:p>
        </p:txBody>
      </p:sp>
      <p:sp>
        <p:nvSpPr>
          <p:cNvPr id="35" name="Text 27"/>
          <p:cNvSpPr/>
          <p:nvPr/>
        </p:nvSpPr>
        <p:spPr>
          <a:xfrm>
            <a:off x="4808830" y="5468112"/>
            <a:ext cx="1688897" cy="146304"/>
          </a:xfrm>
          <a:prstGeom prst="rect">
            <a:avLst/>
          </a:prstGeom>
          <a:noFill/>
          <a:ln/>
        </p:spPr>
        <p:txBody>
          <a:bodyPr wrap="square" lIns="0" tIns="0" rIns="0" bIns="0" rtlCol="0" anchor="t"/>
          <a:lstStyle/>
          <a:p>
            <a:pPr indent="0" marL="0">
              <a:lnSpc>
                <a:spcPct val="110000"/>
              </a:lnSpc>
              <a:buNone/>
            </a:pPr>
            <a:r>
              <a:rPr lang="en-US" sz="700" dirty="0">
                <a:solidFill>
                  <a:srgbClr val="222F44"/>
                </a:solidFill>
                <a:latin typeface="Poppins" pitchFamily="34" charset="0"/>
                <a:ea typeface="Poppins" pitchFamily="34" charset="-122"/>
                <a:cs typeface="Poppins" pitchFamily="34" charset="-120"/>
              </a:rPr>
              <a:t>24/7 self-service parts and tools</a:t>
            </a:r>
            <a:endParaRPr lang="en-US" sz="700" dirty="0"/>
          </a:p>
        </p:txBody>
      </p:sp>
      <p:sp>
        <p:nvSpPr>
          <p:cNvPr id="36" name="Shape 28"/>
          <p:cNvSpPr/>
          <p:nvPr/>
        </p:nvSpPr>
        <p:spPr>
          <a:xfrm>
            <a:off x="0" y="5698541"/>
            <a:ext cx="6858000" cy="1523390"/>
          </a:xfrm>
          <a:prstGeom prst="rect">
            <a:avLst/>
          </a:prstGeom>
          <a:solidFill>
            <a:srgbClr val="F8F8F8"/>
          </a:solidFill>
          <a:ln/>
        </p:spPr>
      </p:sp>
      <p:sp>
        <p:nvSpPr>
          <p:cNvPr id="37" name="Text 29"/>
          <p:cNvSpPr/>
          <p:nvPr/>
        </p:nvSpPr>
        <p:spPr>
          <a:xfrm>
            <a:off x="360274" y="5741518"/>
            <a:ext cx="1933042" cy="198425"/>
          </a:xfrm>
          <a:prstGeom prst="rect">
            <a:avLst/>
          </a:prstGeom>
          <a:noFill/>
          <a:ln/>
        </p:spPr>
        <p:txBody>
          <a:bodyPr wrap="square" lIns="0" tIns="0" rIns="0" bIns="0" rtlCol="0" anchor="t"/>
          <a:lstStyle/>
          <a:p>
            <a:pPr indent="0" marL="0">
              <a:buNone/>
            </a:pPr>
            <a:r>
              <a:rPr lang="en-US" sz="1200" b="1" dirty="0">
                <a:solidFill>
                  <a:srgbClr val="D3A93D"/>
                </a:solidFill>
                <a:latin typeface="Poppins" pitchFamily="34" charset="0"/>
                <a:ea typeface="Poppins" pitchFamily="34" charset="-122"/>
                <a:cs typeface="Poppins" pitchFamily="34" charset="-120"/>
              </a:rPr>
              <a:t>Key Highlights</a:t>
            </a:r>
            <a:endParaRPr lang="en-US" sz="1200" dirty="0"/>
          </a:p>
        </p:txBody>
      </p:sp>
      <p:sp>
        <p:nvSpPr>
          <p:cNvPr id="38" name="Text 30"/>
          <p:cNvSpPr/>
          <p:nvPr/>
        </p:nvSpPr>
        <p:spPr>
          <a:xfrm>
            <a:off x="410566" y="5933542"/>
            <a:ext cx="1979676" cy="461772"/>
          </a:xfrm>
          <a:prstGeom prst="rect">
            <a:avLst/>
          </a:prstGeom>
          <a:noFill/>
          <a:ln/>
        </p:spPr>
        <p:txBody>
          <a:bodyPr wrap="square" lIns="0" tIns="0" rIns="0" bIns="0" rtlCol="0" anchor="t"/>
          <a:lstStyle/>
          <a:p>
            <a:pPr algn="l" indent="0" marL="0">
              <a:lnSpc>
                <a:spcPct val="110000"/>
              </a:lnSpc>
              <a:buNone/>
            </a:pPr>
            <a:r>
              <a:rPr lang="en-US" sz="2000" b="1" dirty="0">
                <a:solidFill>
                  <a:srgbClr val="222F44"/>
                </a:solidFill>
                <a:latin typeface="Poppins" pitchFamily="34" charset="0"/>
                <a:ea typeface="Poppins" pitchFamily="34" charset="-122"/>
                <a:cs typeface="Poppins" pitchFamily="34" charset="-120"/>
              </a:rPr>
              <a:t>BRL 1.4 Bn</a:t>
            </a:r>
            <a:endParaRPr lang="en-US" sz="2000" dirty="0"/>
          </a:p>
          <a:p>
            <a:pPr algn="l" indent="0" marL="0">
              <a:lnSpc>
                <a:spcPct val="110000"/>
              </a:lnSpc>
              <a:buNone/>
            </a:pPr>
            <a:r>
              <a:rPr lang="en-US" sz="1000" b="1" dirty="0">
                <a:solidFill>
                  <a:srgbClr val="222F44"/>
                </a:solidFill>
                <a:latin typeface="Poppins" pitchFamily="34" charset="0"/>
                <a:ea typeface="Poppins" pitchFamily="34" charset="-122"/>
                <a:cs typeface="Poppins" pitchFamily="34" charset="-120"/>
              </a:rPr>
              <a:t>Net revenues 2025⁽¹⁾</a:t>
            </a:r>
            <a:endParaRPr lang="en-US" sz="2000" dirty="0"/>
          </a:p>
        </p:txBody>
      </p:sp>
      <p:sp>
        <p:nvSpPr>
          <p:cNvPr id="39" name="Text 31"/>
          <p:cNvSpPr/>
          <p:nvPr/>
        </p:nvSpPr>
        <p:spPr>
          <a:xfrm>
            <a:off x="2518258" y="5933542"/>
            <a:ext cx="1979676" cy="461772"/>
          </a:xfrm>
          <a:prstGeom prst="rect">
            <a:avLst/>
          </a:prstGeom>
          <a:noFill/>
          <a:ln/>
        </p:spPr>
        <p:txBody>
          <a:bodyPr wrap="square" lIns="0" tIns="0" rIns="0" bIns="0" rtlCol="0" anchor="t"/>
          <a:lstStyle/>
          <a:p>
            <a:pPr algn="l" indent="0" marL="0">
              <a:lnSpc>
                <a:spcPct val="110000"/>
              </a:lnSpc>
              <a:buNone/>
            </a:pPr>
            <a:r>
              <a:rPr lang="en-US" sz="2000" b="1" dirty="0">
                <a:solidFill>
                  <a:srgbClr val="222F44"/>
                </a:solidFill>
                <a:latin typeface="Poppins" pitchFamily="34" charset="0"/>
                <a:ea typeface="Poppins" pitchFamily="34" charset="-122"/>
                <a:cs typeface="Poppins" pitchFamily="34" charset="-120"/>
              </a:rPr>
              <a:t>BRL 58 Mn</a:t>
            </a:r>
            <a:endParaRPr lang="en-US" sz="2000" dirty="0"/>
          </a:p>
          <a:p>
            <a:pPr algn="l" indent="0" marL="0">
              <a:lnSpc>
                <a:spcPct val="110000"/>
              </a:lnSpc>
              <a:buNone/>
            </a:pPr>
            <a:r>
              <a:rPr lang="en-US" sz="1000" b="1" dirty="0">
                <a:solidFill>
                  <a:srgbClr val="222F44"/>
                </a:solidFill>
                <a:latin typeface="Poppins" pitchFamily="34" charset="0"/>
                <a:ea typeface="Poppins" pitchFamily="34" charset="-122"/>
                <a:cs typeface="Poppins" pitchFamily="34" charset="-120"/>
              </a:rPr>
              <a:t>EBITDA 2025⁽¹⁾</a:t>
            </a:r>
            <a:endParaRPr lang="en-US" sz="2000" dirty="0"/>
          </a:p>
        </p:txBody>
      </p:sp>
      <p:sp>
        <p:nvSpPr>
          <p:cNvPr id="40" name="Text 32"/>
          <p:cNvSpPr/>
          <p:nvPr/>
        </p:nvSpPr>
        <p:spPr>
          <a:xfrm>
            <a:off x="4626864" y="5933542"/>
            <a:ext cx="1979676" cy="461772"/>
          </a:xfrm>
          <a:prstGeom prst="rect">
            <a:avLst/>
          </a:prstGeom>
          <a:noFill/>
          <a:ln/>
        </p:spPr>
        <p:txBody>
          <a:bodyPr wrap="square" lIns="0" tIns="0" rIns="0" bIns="0" rtlCol="0" anchor="t"/>
          <a:lstStyle/>
          <a:p>
            <a:pPr algn="l" indent="0" marL="0">
              <a:lnSpc>
                <a:spcPct val="110000"/>
              </a:lnSpc>
              <a:buNone/>
            </a:pPr>
            <a:r>
              <a:rPr lang="en-US" sz="2000" b="1" dirty="0">
                <a:solidFill>
                  <a:srgbClr val="222F44"/>
                </a:solidFill>
                <a:latin typeface="Poppins" pitchFamily="34" charset="0"/>
                <a:ea typeface="Poppins" pitchFamily="34" charset="-122"/>
                <a:cs typeface="Poppins" pitchFamily="34" charset="-120"/>
              </a:rPr>
              <a:t>1,513</a:t>
            </a:r>
            <a:endParaRPr lang="en-US" sz="2000" dirty="0"/>
          </a:p>
          <a:p>
            <a:pPr algn="l" indent="0" marL="0">
              <a:lnSpc>
                <a:spcPct val="110000"/>
              </a:lnSpc>
              <a:buNone/>
            </a:pPr>
            <a:r>
              <a:rPr lang="en-US" sz="1000" b="1" dirty="0">
                <a:solidFill>
                  <a:srgbClr val="222F44"/>
                </a:solidFill>
                <a:latin typeface="Poppins" pitchFamily="34" charset="0"/>
                <a:ea typeface="Poppins" pitchFamily="34" charset="-122"/>
                <a:cs typeface="Poppins" pitchFamily="34" charset="-120"/>
              </a:rPr>
              <a:t>Machines sold in 2025</a:t>
            </a:r>
            <a:endParaRPr lang="en-US" sz="2000" dirty="0"/>
          </a:p>
        </p:txBody>
      </p:sp>
      <p:sp>
        <p:nvSpPr>
          <p:cNvPr id="41" name="Text 33"/>
          <p:cNvSpPr/>
          <p:nvPr/>
        </p:nvSpPr>
        <p:spPr>
          <a:xfrm>
            <a:off x="410566" y="6575450"/>
            <a:ext cx="1979676" cy="461772"/>
          </a:xfrm>
          <a:prstGeom prst="rect">
            <a:avLst/>
          </a:prstGeom>
          <a:noFill/>
          <a:ln/>
        </p:spPr>
        <p:txBody>
          <a:bodyPr wrap="square" lIns="0" tIns="0" rIns="0" bIns="0" rtlCol="0" anchor="t"/>
          <a:lstStyle/>
          <a:p>
            <a:pPr algn="l" indent="0" marL="0">
              <a:lnSpc>
                <a:spcPct val="110000"/>
              </a:lnSpc>
              <a:buNone/>
            </a:pPr>
            <a:r>
              <a:rPr lang="en-US" sz="2000" b="1" dirty="0">
                <a:solidFill>
                  <a:srgbClr val="222F44"/>
                </a:solidFill>
                <a:latin typeface="Poppins" pitchFamily="34" charset="0"/>
                <a:ea typeface="Poppins" pitchFamily="34" charset="-122"/>
                <a:cs typeface="Poppins" pitchFamily="34" charset="-120"/>
              </a:rPr>
              <a:t>~35%</a:t>
            </a:r>
            <a:endParaRPr lang="en-US" sz="2000" dirty="0"/>
          </a:p>
          <a:p>
            <a:pPr algn="l" indent="0" marL="0">
              <a:lnSpc>
                <a:spcPct val="110000"/>
              </a:lnSpc>
              <a:buNone/>
            </a:pPr>
            <a:r>
              <a:rPr lang="en-US" sz="1000" b="1" dirty="0">
                <a:solidFill>
                  <a:srgbClr val="222F44"/>
                </a:solidFill>
                <a:latin typeface="Poppins" pitchFamily="34" charset="0"/>
                <a:ea typeface="Poppins" pitchFamily="34" charset="-122"/>
                <a:cs typeface="Poppins" pitchFamily="34" charset="-120"/>
              </a:rPr>
              <a:t>Of Brazil’s sugarcane area</a:t>
            </a:r>
            <a:endParaRPr lang="en-US" sz="2000" dirty="0"/>
          </a:p>
        </p:txBody>
      </p:sp>
      <p:sp>
        <p:nvSpPr>
          <p:cNvPr id="42" name="Text 34"/>
          <p:cNvSpPr/>
          <p:nvPr/>
        </p:nvSpPr>
        <p:spPr>
          <a:xfrm>
            <a:off x="2518258" y="6575450"/>
            <a:ext cx="1979676" cy="461772"/>
          </a:xfrm>
          <a:prstGeom prst="rect">
            <a:avLst/>
          </a:prstGeom>
          <a:noFill/>
          <a:ln/>
        </p:spPr>
        <p:txBody>
          <a:bodyPr wrap="square" lIns="0" tIns="0" rIns="0" bIns="0" rtlCol="0" anchor="t"/>
          <a:lstStyle/>
          <a:p>
            <a:pPr algn="l" indent="0" marL="0">
              <a:lnSpc>
                <a:spcPct val="110000"/>
              </a:lnSpc>
              <a:buNone/>
            </a:pPr>
            <a:r>
              <a:rPr lang="en-US" sz="2000" b="1" dirty="0">
                <a:solidFill>
                  <a:srgbClr val="222F44"/>
                </a:solidFill>
                <a:latin typeface="Poppins" pitchFamily="34" charset="0"/>
                <a:ea typeface="Poppins" pitchFamily="34" charset="-122"/>
                <a:cs typeface="Poppins" pitchFamily="34" charset="-120"/>
              </a:rPr>
              <a:t>13</a:t>
            </a:r>
            <a:endParaRPr lang="en-US" sz="2000" dirty="0"/>
          </a:p>
          <a:p>
            <a:pPr algn="l" indent="0" marL="0">
              <a:lnSpc>
                <a:spcPct val="110000"/>
              </a:lnSpc>
              <a:buNone/>
            </a:pPr>
            <a:r>
              <a:rPr lang="en-US" sz="1000" b="1" dirty="0">
                <a:solidFill>
                  <a:srgbClr val="222F44"/>
                </a:solidFill>
                <a:latin typeface="Poppins" pitchFamily="34" charset="0"/>
                <a:ea typeface="Poppins" pitchFamily="34" charset="-122"/>
                <a:cs typeface="Poppins" pitchFamily="34" charset="-120"/>
              </a:rPr>
              <a:t>Branches</a:t>
            </a:r>
            <a:endParaRPr lang="en-US" sz="2000" dirty="0"/>
          </a:p>
        </p:txBody>
      </p:sp>
      <p:sp>
        <p:nvSpPr>
          <p:cNvPr id="43" name="Text 35"/>
          <p:cNvSpPr/>
          <p:nvPr/>
        </p:nvSpPr>
        <p:spPr>
          <a:xfrm>
            <a:off x="4626864" y="6575450"/>
            <a:ext cx="1979676" cy="461772"/>
          </a:xfrm>
          <a:prstGeom prst="rect">
            <a:avLst/>
          </a:prstGeom>
          <a:noFill/>
          <a:ln/>
        </p:spPr>
        <p:txBody>
          <a:bodyPr wrap="square" lIns="0" tIns="0" rIns="0" bIns="0" rtlCol="0" anchor="t"/>
          <a:lstStyle/>
          <a:p>
            <a:pPr algn="l" indent="0" marL="0">
              <a:lnSpc>
                <a:spcPct val="110000"/>
              </a:lnSpc>
              <a:buNone/>
            </a:pPr>
            <a:r>
              <a:rPr lang="en-US" sz="2000" b="1" dirty="0">
                <a:solidFill>
                  <a:srgbClr val="222F44"/>
                </a:solidFill>
                <a:latin typeface="Poppins" pitchFamily="34" charset="0"/>
                <a:ea typeface="Poppins" pitchFamily="34" charset="-122"/>
                <a:cs typeface="Poppins" pitchFamily="34" charset="-120"/>
              </a:rPr>
              <a:t>+600</a:t>
            </a:r>
            <a:endParaRPr lang="en-US" sz="2000" dirty="0"/>
          </a:p>
          <a:p>
            <a:pPr algn="l" indent="0" marL="0">
              <a:lnSpc>
                <a:spcPct val="110000"/>
              </a:lnSpc>
              <a:buNone/>
            </a:pPr>
            <a:r>
              <a:rPr lang="en-US" sz="1000" b="1" dirty="0">
                <a:solidFill>
                  <a:srgbClr val="222F44"/>
                </a:solidFill>
                <a:latin typeface="Poppins" pitchFamily="34" charset="0"/>
                <a:ea typeface="Poppins" pitchFamily="34" charset="-122"/>
                <a:cs typeface="Poppins" pitchFamily="34" charset="-120"/>
              </a:rPr>
              <a:t>Employees</a:t>
            </a:r>
            <a:endParaRPr lang="en-US" sz="2000" dirty="0"/>
          </a:p>
        </p:txBody>
      </p:sp>
      <p:sp>
        <p:nvSpPr>
          <p:cNvPr id="44" name="Text 36"/>
          <p:cNvSpPr/>
          <p:nvPr/>
        </p:nvSpPr>
        <p:spPr>
          <a:xfrm>
            <a:off x="362102" y="7272223"/>
            <a:ext cx="5767121" cy="162763"/>
          </a:xfrm>
          <a:prstGeom prst="rect">
            <a:avLst/>
          </a:prstGeom>
          <a:noFill/>
          <a:ln/>
        </p:spPr>
        <p:txBody>
          <a:bodyPr wrap="square" lIns="0" tIns="0" rIns="0" bIns="0" rtlCol="0" anchor="t"/>
          <a:lstStyle/>
          <a:p>
            <a:pPr indent="0" marL="0">
              <a:buNone/>
            </a:pPr>
            <a:r>
              <a:rPr lang="en-US" sz="1000" u="sng" dirty="0">
                <a:solidFill>
                  <a:srgbClr val="222F44"/>
                </a:solidFill>
                <a:latin typeface="Poppins" pitchFamily="34" charset="0"/>
                <a:ea typeface="Poppins" pitchFamily="34" charset="-122"/>
                <a:cs typeface="Poppins" pitchFamily="34" charset="-120"/>
              </a:rPr>
              <a:t>For any further questions please contact:</a:t>
            </a:r>
            <a:endParaRPr lang="en-US" sz="1000" dirty="0"/>
          </a:p>
        </p:txBody>
      </p:sp>
      <p:sp>
        <p:nvSpPr>
          <p:cNvPr id="45" name="Text 37"/>
          <p:cNvSpPr/>
          <p:nvPr/>
        </p:nvSpPr>
        <p:spPr>
          <a:xfrm>
            <a:off x="360274" y="7488022"/>
            <a:ext cx="1871777" cy="615391"/>
          </a:xfrm>
          <a:prstGeom prst="rect">
            <a:avLst/>
          </a:prstGeom>
          <a:noFill/>
          <a:ln/>
        </p:spPr>
        <p:txBody>
          <a:bodyPr wrap="square" lIns="0" tIns="0" rIns="0" bIns="0" rtlCol="0" anchor="t"/>
          <a:lstStyle/>
          <a:p>
            <a:pPr indent="0" marL="0">
              <a:lnSpc>
                <a:spcPct val="110000"/>
              </a:lnSpc>
              <a:buNone/>
            </a:pPr>
            <a:r>
              <a:rPr lang="en-US" sz="1000" b="1" dirty="0">
                <a:solidFill>
                  <a:srgbClr val="222F44"/>
                </a:solidFill>
                <a:latin typeface="Poppins" pitchFamily="34" charset="0"/>
                <a:ea typeface="Poppins" pitchFamily="34" charset="-122"/>
                <a:cs typeface="Poppins" pitchFamily="34" charset="-120"/>
              </a:rPr>
              <a:t>Bruno Iervolino</a:t>
            </a:r>
            <a:endParaRPr lang="en-US" sz="1000" dirty="0"/>
          </a:p>
          <a:p>
            <a:pPr indent="0" marL="0">
              <a:lnSpc>
                <a:spcPct val="110000"/>
              </a:lnSpc>
              <a:buNone/>
            </a:pPr>
            <a:r>
              <a:rPr lang="en-US" sz="1000" dirty="0">
                <a:solidFill>
                  <a:srgbClr val="222F44"/>
                </a:solidFill>
                <a:latin typeface="Poppins" pitchFamily="34" charset="0"/>
                <a:ea typeface="Poppins" pitchFamily="34" charset="-122"/>
                <a:cs typeface="Poppins" pitchFamily="34" charset="-120"/>
              </a:rPr>
              <a:t>Bruno.iervolino@igcp.com.br</a:t>
            </a:r>
            <a:endParaRPr lang="en-US" sz="1000" dirty="0"/>
          </a:p>
          <a:p>
            <a:pPr indent="0" marL="0">
              <a:lnSpc>
                <a:spcPct val="110000"/>
              </a:lnSpc>
              <a:buNone/>
            </a:pPr>
            <a:r>
              <a:rPr lang="en-US" sz="1000" dirty="0">
                <a:solidFill>
                  <a:srgbClr val="222F44"/>
                </a:solidFill>
                <a:latin typeface="Poppins" pitchFamily="34" charset="0"/>
                <a:ea typeface="Poppins" pitchFamily="34" charset="-122"/>
                <a:cs typeface="Poppins" pitchFamily="34" charset="-120"/>
              </a:rPr>
              <a:t>+55 11 3815 3533</a:t>
            </a:r>
            <a:endParaRPr lang="en-US" sz="1000" dirty="0"/>
          </a:p>
        </p:txBody>
      </p:sp>
      <p:sp>
        <p:nvSpPr>
          <p:cNvPr id="46" name="Text 38"/>
          <p:cNvSpPr/>
          <p:nvPr/>
        </p:nvSpPr>
        <p:spPr>
          <a:xfrm>
            <a:off x="2399386" y="7488022"/>
            <a:ext cx="1871777" cy="615391"/>
          </a:xfrm>
          <a:prstGeom prst="rect">
            <a:avLst/>
          </a:prstGeom>
          <a:noFill/>
          <a:ln/>
        </p:spPr>
        <p:txBody>
          <a:bodyPr wrap="square" lIns="0" tIns="0" rIns="0" bIns="0" rtlCol="0" anchor="t"/>
          <a:lstStyle/>
          <a:p>
            <a:pPr indent="0" marL="0">
              <a:lnSpc>
                <a:spcPct val="110000"/>
              </a:lnSpc>
              <a:buNone/>
            </a:pPr>
            <a:r>
              <a:rPr lang="en-US" sz="1000" b="1" dirty="0">
                <a:solidFill>
                  <a:srgbClr val="222F44"/>
                </a:solidFill>
                <a:latin typeface="Poppins" pitchFamily="34" charset="0"/>
                <a:ea typeface="Poppins" pitchFamily="34" charset="-122"/>
                <a:cs typeface="Poppins" pitchFamily="34" charset="-120"/>
              </a:rPr>
              <a:t>Gabriel Brito</a:t>
            </a:r>
            <a:endParaRPr lang="en-US" sz="1000" dirty="0"/>
          </a:p>
          <a:p>
            <a:pPr indent="0" marL="0">
              <a:lnSpc>
                <a:spcPct val="110000"/>
              </a:lnSpc>
              <a:buNone/>
            </a:pPr>
            <a:r>
              <a:rPr lang="en-US" sz="1000" dirty="0">
                <a:solidFill>
                  <a:srgbClr val="222F44"/>
                </a:solidFill>
                <a:latin typeface="Poppins" pitchFamily="34" charset="0"/>
                <a:ea typeface="Poppins" pitchFamily="34" charset="-122"/>
                <a:cs typeface="Poppins" pitchFamily="34" charset="-120"/>
              </a:rPr>
              <a:t>Gabriel.brito@igcp.com.br</a:t>
            </a:r>
            <a:endParaRPr lang="en-US" sz="1000" dirty="0"/>
          </a:p>
          <a:p>
            <a:pPr indent="0" marL="0">
              <a:lnSpc>
                <a:spcPct val="110000"/>
              </a:lnSpc>
              <a:buNone/>
            </a:pPr>
            <a:r>
              <a:rPr lang="en-US" sz="1000" dirty="0">
                <a:solidFill>
                  <a:srgbClr val="222F44"/>
                </a:solidFill>
                <a:latin typeface="Poppins" pitchFamily="34" charset="0"/>
                <a:ea typeface="Poppins" pitchFamily="34" charset="-122"/>
                <a:cs typeface="Poppins" pitchFamily="34" charset="-120"/>
              </a:rPr>
              <a:t>+55 11 3815 3533</a:t>
            </a:r>
            <a:endParaRPr lang="en-US" sz="1000" dirty="0"/>
          </a:p>
        </p:txBody>
      </p:sp>
      <p:sp>
        <p:nvSpPr>
          <p:cNvPr id="47" name="Text 39"/>
          <p:cNvSpPr/>
          <p:nvPr/>
        </p:nvSpPr>
        <p:spPr>
          <a:xfrm>
            <a:off x="4438498" y="7488022"/>
            <a:ext cx="1871777" cy="615391"/>
          </a:xfrm>
          <a:prstGeom prst="rect">
            <a:avLst/>
          </a:prstGeom>
          <a:noFill/>
          <a:ln/>
        </p:spPr>
        <p:txBody>
          <a:bodyPr wrap="square" lIns="0" tIns="0" rIns="0" bIns="0" rtlCol="0" anchor="t"/>
          <a:lstStyle/>
          <a:p>
            <a:pPr indent="0" marL="0">
              <a:lnSpc>
                <a:spcPct val="110000"/>
              </a:lnSpc>
              <a:buNone/>
            </a:pPr>
            <a:r>
              <a:rPr lang="en-US" sz="1000" b="1" dirty="0">
                <a:solidFill>
                  <a:srgbClr val="222F44"/>
                </a:solidFill>
                <a:latin typeface="Poppins" pitchFamily="34" charset="0"/>
                <a:ea typeface="Poppins" pitchFamily="34" charset="-122"/>
                <a:cs typeface="Poppins" pitchFamily="34" charset="-120"/>
              </a:rPr>
              <a:t>Pedro Grando</a:t>
            </a:r>
            <a:endParaRPr lang="en-US" sz="1000" dirty="0"/>
          </a:p>
          <a:p>
            <a:pPr indent="0" marL="0">
              <a:lnSpc>
                <a:spcPct val="110000"/>
              </a:lnSpc>
              <a:buNone/>
            </a:pPr>
            <a:r>
              <a:rPr lang="en-US" sz="1000" dirty="0">
                <a:solidFill>
                  <a:srgbClr val="222F44"/>
                </a:solidFill>
                <a:latin typeface="Poppins" pitchFamily="34" charset="0"/>
                <a:ea typeface="Poppins" pitchFamily="34" charset="-122"/>
                <a:cs typeface="Poppins" pitchFamily="34" charset="-120"/>
              </a:rPr>
              <a:t>Pedro.grando@igcp.com.br</a:t>
            </a:r>
            <a:endParaRPr lang="en-US" sz="1000" dirty="0"/>
          </a:p>
          <a:p>
            <a:pPr indent="0" marL="0">
              <a:lnSpc>
                <a:spcPct val="110000"/>
              </a:lnSpc>
              <a:buNone/>
            </a:pPr>
            <a:r>
              <a:rPr lang="en-US" sz="1000" dirty="0">
                <a:solidFill>
                  <a:srgbClr val="222F44"/>
                </a:solidFill>
                <a:latin typeface="Poppins" pitchFamily="34" charset="0"/>
                <a:ea typeface="Poppins" pitchFamily="34" charset="-122"/>
                <a:cs typeface="Poppins" pitchFamily="34" charset="-120"/>
              </a:rPr>
              <a:t>+55 11 3815 3533</a:t>
            </a:r>
            <a:endParaRPr lang="en-US" sz="1000" dirty="0"/>
          </a:p>
        </p:txBody>
      </p:sp>
      <p:pic>
        <p:nvPicPr>
          <p:cNvPr id="48" name="Image 6" descr="assets/green/hero_cane_aerial.png">    </p:cNvPr>
          <p:cNvPicPr>
            <a:picLocks noChangeAspect="1"/>
          </p:cNvPicPr>
          <p:nvPr/>
        </p:nvPicPr>
        <p:blipFill>
          <a:blip r:embed="rId7"/>
          <a:srcRect l="0" r="0" t="0" b="0"/>
          <a:stretch/>
        </p:blipFill>
        <p:spPr>
          <a:xfrm>
            <a:off x="-274" y="8012613"/>
            <a:ext cx="6885889" cy="756209"/>
          </a:xfrm>
          <a:prstGeom prst="rect">
            <a:avLst/>
          </a:prstGeom>
        </p:spPr>
      </p:pic>
      <p:sp>
        <p:nvSpPr>
          <p:cNvPr id="49" name="Text 40"/>
          <p:cNvSpPr/>
          <p:nvPr/>
        </p:nvSpPr>
        <p:spPr>
          <a:xfrm>
            <a:off x="360274" y="8789213"/>
            <a:ext cx="5954573" cy="173736"/>
          </a:xfrm>
          <a:prstGeom prst="rect">
            <a:avLst/>
          </a:prstGeom>
          <a:noFill/>
          <a:ln/>
        </p:spPr>
        <p:txBody>
          <a:bodyPr wrap="square" lIns="0" tIns="0" rIns="0" bIns="0" rtlCol="0" anchor="t"/>
          <a:lstStyle/>
          <a:p>
            <a:pPr indent="0" marL="0">
              <a:lnSpc>
                <a:spcPct val="110000"/>
              </a:lnSpc>
              <a:buNone/>
            </a:pPr>
            <a:r>
              <a:rPr lang="en-US" sz="500" b="1" dirty="0">
                <a:solidFill>
                  <a:srgbClr val="222F44"/>
                </a:solidFill>
                <a:latin typeface="Poppins" pitchFamily="34" charset="0"/>
                <a:ea typeface="Poppins" pitchFamily="34" charset="-122"/>
                <a:cs typeface="Poppins" pitchFamily="34" charset="-120"/>
              </a:rPr>
              <a:t>Source: </a:t>
            </a:r>
            <a:pPr indent="0" marL="0">
              <a:lnSpc>
                <a:spcPct val="110000"/>
              </a:lnSpc>
              <a:buNone/>
            </a:pPr>
            <a:r>
              <a:rPr lang="en-US" sz="500" dirty="0">
                <a:solidFill>
                  <a:srgbClr val="222F44"/>
                </a:solidFill>
                <a:latin typeface="Poppins" pitchFamily="34" charset="0"/>
                <a:ea typeface="Poppins" pitchFamily="34" charset="-122"/>
                <a:cs typeface="Poppins" pitchFamily="34" charset="-120"/>
              </a:rPr>
              <a:t>Company management information; Company presentation (2026). (1) 2025 net revenues of BRL 1,360 Mn and EBITDA of BRL 58 Mn (4.2% margin); area of operation = 3.7 Mn ha of crop area, of which ~75% sugarcane — state coverage to be confirmed with management.</a:t>
            </a:r>
            <a:endParaRPr lang="en-US" sz="500" dirty="0"/>
          </a:p>
        </p:txBody>
      </p:sp>
      <p:sp>
        <p:nvSpPr>
          <p:cNvPr id="50" name="Text 41"/>
          <p:cNvSpPr/>
          <p:nvPr/>
        </p:nvSpPr>
        <p:spPr>
          <a:xfrm>
            <a:off x="362102" y="8970264"/>
            <a:ext cx="5767121" cy="123444"/>
          </a:xfrm>
          <a:prstGeom prst="rect">
            <a:avLst/>
          </a:prstGeom>
          <a:noFill/>
          <a:ln/>
        </p:spPr>
        <p:txBody>
          <a:bodyPr wrap="square" lIns="0" tIns="0" rIns="0" bIns="0" rtlCol="0" anchor="t"/>
          <a:lstStyle/>
          <a:p>
            <a:pPr indent="0" marL="0">
              <a:buNone/>
            </a:pPr>
            <a:r>
              <a:rPr lang="en-US" sz="800" b="1" spc="30" kern="0" dirty="0">
                <a:solidFill>
                  <a:srgbClr val="D3A93D"/>
                </a:solidFill>
                <a:latin typeface="Poppins" pitchFamily="34" charset="0"/>
                <a:ea typeface="Poppins" pitchFamily="34" charset="-122"/>
                <a:cs typeface="Poppins" pitchFamily="34" charset="-120"/>
              </a:rPr>
              <a:t>Disclaimer:</a:t>
            </a:r>
            <a:endParaRPr lang="en-US" sz="800" dirty="0"/>
          </a:p>
        </p:txBody>
      </p:sp>
      <p:sp>
        <p:nvSpPr>
          <p:cNvPr id="51" name="Text 42"/>
          <p:cNvSpPr/>
          <p:nvPr/>
        </p:nvSpPr>
        <p:spPr>
          <a:xfrm>
            <a:off x="360274" y="9154973"/>
            <a:ext cx="5954573" cy="607162"/>
          </a:xfrm>
          <a:prstGeom prst="rect">
            <a:avLst/>
          </a:prstGeom>
          <a:noFill/>
          <a:ln/>
        </p:spPr>
        <p:txBody>
          <a:bodyPr wrap="square" lIns="0" tIns="0" rIns="0" bIns="0" rtlCol="0" anchor="t"/>
          <a:lstStyle/>
          <a:p>
            <a:pPr algn="just" indent="0" marL="0">
              <a:lnSpc>
                <a:spcPct val="110000"/>
              </a:lnSpc>
              <a:buNone/>
            </a:pPr>
            <a:r>
              <a:rPr lang="en-US" sz="600" dirty="0">
                <a:solidFill>
                  <a:srgbClr val="222F44"/>
                </a:solidFill>
                <a:latin typeface="Poppins" pitchFamily="34" charset="0"/>
                <a:ea typeface="Poppins" pitchFamily="34" charset="-122"/>
                <a:cs typeface="Poppins" pitchFamily="34" charset="-120"/>
              </a:rPr>
              <a:t>All information contained in this material has been prepared based on the documents and/or information provided by the Company or obtained directly by IGC through legal sources and/or through independent researches. No liability is or shall be attributed to the members of IGC, including its partners, directors, employees, agents or advisers, in connection with the accuracy or completeness of the information contained herein or in connection with any other written or oral information made available to the recipient or its advisor. In particular, no representation or warranty is given as to the achievement or reasonableness of any future projections, management estimates, prospects or returns. This material belongs to IGC and shall not be copied, reproduced and/or distributed or disclosed to any third party without the prior consent of IGC. By receiving this material, the recipient agrees to return it as soon as requested by IGC, without retaining any copies.</a:t>
            </a:r>
            <a:endParaRPr lang="en-US" sz="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Green — Teaser</dc:title>
  <dc:subject>PptxGenJS Presentation</dc:subject>
  <dc:creator>IGC Partners</dc:creator>
  <cp:lastModifiedBy>IGC Partners</cp:lastModifiedBy>
  <cp:revision>1</cp:revision>
  <dcterms:created xsi:type="dcterms:W3CDTF">2026-08-20T17:55:08Z</dcterms:created>
  <dcterms:modified xsi:type="dcterms:W3CDTF">2026-08-20T17:55:08Z</dcterms:modified>
</cp:coreProperties>
</file>
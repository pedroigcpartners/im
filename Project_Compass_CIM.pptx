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1Q25</c:v>
                </c:pt>
              </c:strCache>
            </c:strRef>
          </c:tx>
          <c:spPr>
            <a:solidFill>
              <a:srgbClr val="2C3B54">
                <a:alpha val="100000"/>
              </a:srgbClr>
            </a:solidFill>
            <a:effectLst/>
          </c:spPr>
          <c:invertIfNegative val="0"/>
          <c:dLbls>
            <c:numFmt formatCode="0.0" sourceLinked="0"/>
            <c:txPr>
              <a:bodyPr/>
              <a:lstStyle/>
              <a:p>
                <a:pPr>
                  <a:defRPr b="0" i="0" strike="noStrike" sz="900" u="none">
                    <a:solidFill>
                      <a:srgbClr val="222F44"/>
                    </a:solidFill>
                    <a:latin typeface="Poppins SemiBold"/>
                  </a:defRPr>
                </a:pPr>
              </a:p>
            </c:txPr>
            <c:showLegendKey val="0"/>
            <c:showVal val="1"/>
            <c:showCatName val="0"/>
            <c:showSerName val="0"/>
            <c:showPercent val="0"/>
            <c:showBubbleSize val="0"/>
            <c:showLeaderLines val="0"/>
          </c:dLbls>
          <c:cat>
            <c:multiLvlStrRef>
              <c:f>Sheet1!$A$2:$A$3</c:f>
              <c:multiLvlStrCache>
                <c:ptCount val="2"/>
                <c:lvl>
                  <c:pt idx="0">
                    <c:v>AGM Caetano</c:v>
                  </c:pt>
                  <c:pt idx="1">
                    <c:v>AGM Alpha</c:v>
                  </c:pt>
                </c:lvl>
              </c:multiLvlStrCache>
            </c:multiLvlStrRef>
          </c:cat>
          <c:val>
            <c:numRef>
              <c:f>Sheet1!$B$2:$B$3</c:f>
              <c:numCache>
                <c:formatCode>General</c:formatCode>
                <c:ptCount val="2"/>
                <c:pt idx="0">
                  <c:v>26.62</c:v>
                </c:pt>
                <c:pt idx="1">
                  <c:v>4.16</c:v>
                </c:pt>
              </c:numCache>
            </c:numRef>
          </c:val>
        </c:ser>
        <c:ser>
          <c:idx val="1"/>
          <c:order val="1"/>
          <c:tx>
            <c:strRef>
              <c:f>Sheet1!$C$1</c:f>
              <c:strCache>
                <c:ptCount val="1"/>
                <c:pt idx="0">
                  <c:v>1Q26</c:v>
                </c:pt>
              </c:strCache>
            </c:strRef>
          </c:tx>
          <c:spPr>
            <a:solidFill>
              <a:srgbClr val="F35B1A">
                <a:alpha val="100000"/>
              </a:srgbClr>
            </a:solidFill>
            <a:effectLst/>
          </c:spPr>
          <c:invertIfNegative val="0"/>
          <c:dLbls>
            <c:numFmt formatCode="0.0" sourceLinked="0"/>
            <c:txPr>
              <a:bodyPr/>
              <a:lstStyle/>
              <a:p>
                <a:pPr>
                  <a:defRPr b="0" i="0" strike="noStrike" sz="900" u="none">
                    <a:solidFill>
                      <a:srgbClr val="222F44"/>
                    </a:solidFill>
                    <a:latin typeface="Poppins SemiBold"/>
                  </a:defRPr>
                </a:pPr>
              </a:p>
            </c:txPr>
            <c:showLegendKey val="0"/>
            <c:showVal val="1"/>
            <c:showCatName val="0"/>
            <c:showSerName val="0"/>
            <c:showPercent val="0"/>
            <c:showBubbleSize val="0"/>
            <c:showLeaderLines val="0"/>
          </c:dLbls>
          <c:cat>
            <c:multiLvlStrRef>
              <c:f>Sheet1!$A$2:$A$3</c:f>
              <c:multiLvlStrCache>
                <c:ptCount val="2"/>
                <c:lvl>
                  <c:pt idx="0">
                    <c:v>AGM Caetano</c:v>
                  </c:pt>
                  <c:pt idx="1">
                    <c:v>AGM Alpha</c:v>
                  </c:pt>
                </c:lvl>
              </c:multiLvlStrCache>
            </c:multiLvlStrRef>
          </c:cat>
          <c:val>
            <c:numRef>
              <c:f>Sheet1!$C$2:$C$3</c:f>
              <c:numCache>
                <c:formatCode>General</c:formatCode>
                <c:ptCount val="2"/>
                <c:pt idx="0">
                  <c:v>36.22</c:v>
                </c:pt>
                <c:pt idx="1">
                  <c:v>7.25</c:v>
                </c:pt>
              </c:numCache>
            </c:numRef>
          </c:val>
        </c:ser>
        <c:dLbls>
          <c:numFmt formatCode="0.0" sourceLinked="0"/>
          <c:txPr>
            <a:bodyPr/>
            <a:lstStyle/>
            <a:p>
              <a:pPr>
                <a:defRPr b="0" i="0" strike="noStrike" sz="900" u="none">
                  <a:solidFill>
                    <a:srgbClr val="222F44"/>
                  </a:solidFill>
                  <a:latin typeface="Poppins SemiBold"/>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A3342"/>
                </a:solidFill>
                <a:latin typeface="Poppins Medium"/>
              </a:defRPr>
            </a:pPr>
            <a:endParaRPr lang="en-US"/>
          </a:p>
        </c:txPr>
        <c:crossAx val="2094734552"/>
        <c:crosses val="autoZero"/>
        <c:auto val="1"/>
        <c:lblAlgn val="ctr"/>
        <c:noMultiLvlLbl val="1"/>
      </c:catAx>
      <c:valAx>
        <c:axId val="2094734552"/>
        <c:scaling>
          <c:orientation val="minMax"/>
          <c:max val="4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6B7686"/>
              </a:solidFill>
              <a:latin typeface="Poppins"/>
              <a:cs typeface="Poppins"/>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Net revenue</c:v>
                </c:pt>
              </c:strCache>
            </c:strRef>
          </c:tx>
          <c:spPr>
            <a:solidFill>
              <a:srgbClr val="2C3B54"/>
            </a:solidFill>
            <a:effectLst/>
          </c:spPr>
          <c:invertIfNegative val="0"/>
          <c:dLbls>
            <c:numFmt formatCode="#,##0" sourceLinked="0"/>
            <c:txPr>
              <a:bodyPr/>
              <a:lstStyle/>
              <a:p>
                <a:pPr>
                  <a:defRPr b="0" i="0" strike="noStrike" sz="1000" u="none">
                    <a:solidFill>
                      <a:srgbClr val="222F44"/>
                    </a:solidFill>
                    <a:latin typeface="Poppins SemiBold"/>
                  </a:defRPr>
                </a:pPr>
              </a:p>
            </c:txPr>
            <c:showLegendKey val="0"/>
            <c:showVal val="1"/>
            <c:showCatName val="0"/>
            <c:showSerName val="0"/>
            <c:showPercent val="0"/>
            <c:showBubbleSize val="0"/>
            <c:showLeaderLines val="0"/>
          </c:dLbls>
          <c:cat>
            <c:multiLvlStrRef>
              <c:f>Sheet1!$A$2:$A$6</c:f>
              <c:multiLvlStrCache>
                <c:ptCount val="5"/>
                <c:lvl>
                  <c:pt idx="0">
                    <c:v>2022</c:v>
                  </c:pt>
                  <c:pt idx="1">
                    <c:v>2023</c:v>
                  </c:pt>
                  <c:pt idx="2">
                    <c:v>2024</c:v>
                  </c:pt>
                  <c:pt idx="3">
                    <c:v>2025</c:v>
                  </c:pt>
                  <c:pt idx="4">
                    <c:v>2026E</c:v>
                  </c:pt>
                </c:lvl>
              </c:multiLvlStrCache>
            </c:multiLvlStrRef>
          </c:cat>
          <c:val>
            <c:numRef>
              <c:f>Sheet1!$B$2:$B$6</c:f>
              <c:numCache>
                <c:formatCode>General</c:formatCode>
                <c:ptCount val="5"/>
                <c:pt idx="0">
                  <c:v/>
                </c:pt>
                <c:pt idx="1">
                  <c:v/>
                </c:pt>
                <c:pt idx="2">
                  <c:v/>
                </c:pt>
                <c:pt idx="3">
                  <c:v>140</c:v>
                </c:pt>
                <c:pt idx="4">
                  <c:v/>
                </c:pt>
              </c:numCache>
            </c:numRef>
          </c:val>
        </c:ser>
        <c:ser>
          <c:idx val="1"/>
          <c:order val="1"/>
          <c:tx>
            <c:strRef>
              <c:f>Sheet1!$C$1</c:f>
              <c:strCache>
                <c:ptCount val="1"/>
                <c:pt idx="0">
                  <c:v>EBITDA</c:v>
                </c:pt>
              </c:strCache>
            </c:strRef>
          </c:tx>
          <c:spPr>
            <a:solidFill>
              <a:srgbClr val="F35B1A"/>
            </a:solidFill>
            <a:effectLst/>
          </c:spPr>
          <c:invertIfNegative val="0"/>
          <c:dLbls>
            <c:numFmt formatCode="#,##0" sourceLinked="0"/>
            <c:txPr>
              <a:bodyPr/>
              <a:lstStyle/>
              <a:p>
                <a:pPr>
                  <a:defRPr b="0" i="0" strike="noStrike" sz="1000" u="none">
                    <a:solidFill>
                      <a:srgbClr val="222F44"/>
                    </a:solidFill>
                    <a:latin typeface="Poppins SemiBold"/>
                  </a:defRPr>
                </a:pPr>
              </a:p>
            </c:txPr>
            <c:showLegendKey val="0"/>
            <c:showVal val="1"/>
            <c:showCatName val="0"/>
            <c:showSerName val="0"/>
            <c:showPercent val="0"/>
            <c:showBubbleSize val="0"/>
            <c:showLeaderLines val="0"/>
          </c:dLbls>
          <c:cat>
            <c:multiLvlStrRef>
              <c:f>Sheet1!$A$2:$A$6</c:f>
              <c:multiLvlStrCache>
                <c:ptCount val="5"/>
                <c:lvl>
                  <c:pt idx="0">
                    <c:v>2022</c:v>
                  </c:pt>
                  <c:pt idx="1">
                    <c:v>2023</c:v>
                  </c:pt>
                  <c:pt idx="2">
                    <c:v>2024</c:v>
                  </c:pt>
                  <c:pt idx="3">
                    <c:v>2025</c:v>
                  </c:pt>
                  <c:pt idx="4">
                    <c:v>2026E</c:v>
                  </c:pt>
                </c:lvl>
              </c:multiLvlStrCache>
            </c:multiLvlStrRef>
          </c:cat>
          <c:val>
            <c:numRef>
              <c:f>Sheet1!$C$2:$C$6</c:f>
              <c:numCache>
                <c:formatCode>General</c:formatCode>
                <c:ptCount val="5"/>
                <c:pt idx="0">
                  <c:v/>
                </c:pt>
                <c:pt idx="1">
                  <c:v/>
                </c:pt>
                <c:pt idx="2">
                  <c:v/>
                </c:pt>
                <c:pt idx="3">
                  <c:v>36</c:v>
                </c:pt>
                <c:pt idx="4">
                  <c:v/>
                </c:pt>
              </c:numCache>
            </c:numRef>
          </c:val>
        </c:ser>
        <c:dLbls>
          <c:numFmt formatCode="#,##0" sourceLinked="0"/>
          <c:txPr>
            <a:bodyPr/>
            <a:lstStyle/>
            <a:p>
              <a:pPr>
                <a:defRPr b="0" i="0" strike="noStrike" sz="1000" u="none">
                  <a:solidFill>
                    <a:srgbClr val="222F44"/>
                  </a:solidFill>
                  <a:latin typeface="Poppins SemiBold"/>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A3342"/>
                </a:solidFill>
                <a:latin typeface="Poppins Medium"/>
              </a:defRPr>
            </a:pPr>
            <a:endParaRPr lang="en-US"/>
          </a:p>
        </c:txPr>
        <c:crossAx val="2094734552"/>
        <c:crosses val="autoZero"/>
        <c:auto val="1"/>
        <c:lblAlgn val="ctr"/>
        <c:noMultiLvlLbl val="1"/>
      </c:catAx>
      <c:valAx>
        <c:axId val="2094734552"/>
        <c:scaling>
          <c:orientation val="minMax"/>
          <c:max val="17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1.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6" Type="http://schemas.openxmlformats.org/officeDocument/2006/relationships/chart" Target="/ppt/charts/chart1.xml"/><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slideLayout" Target="../slideLayouts/slideLayout1.xml"/><Relationship Id="rId1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slideLayout" Target="../slideLayouts/slideLayout1.xml"/><Relationship Id="rId1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4.png"/><Relationship Id="rId6" Type="http://schemas.openxmlformats.org/officeDocument/2006/relationships/image" Target="../media/image-10-4.png"/><Relationship Id="rId7" Type="http://schemas.openxmlformats.org/officeDocument/2006/relationships/image" Target="../media/image-10-4.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image" Target="../media/image-11-14.png"/><Relationship Id="rId15" Type="http://schemas.openxmlformats.org/officeDocument/2006/relationships/image" Target="../media/image-11-15.png"/><Relationship Id="rId16" Type="http://schemas.openxmlformats.org/officeDocument/2006/relationships/slideLayout" Target="../slideLayouts/slideLayout1.xml"/><Relationship Id="rId1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21-1.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22F44"/>
        </a:solidFill>
      </p:bgPr>
    </p:bg>
    <p:spTree>
      <p:nvGrpSpPr>
        <p:cNvPr id="1" name=""/>
        <p:cNvGrpSpPr/>
        <p:nvPr/>
      </p:nvGrpSpPr>
      <p:grpSpPr>
        <a:xfrm>
          <a:off x="0" y="0"/>
          <a:ext cx="0" cy="0"/>
          <a:chOff x="0" y="0"/>
          <a:chExt cx="0" cy="0"/>
        </a:xfrm>
      </p:grpSpPr>
      <p:pic>
        <p:nvPicPr>
          <p:cNvPr id="2" name="Image 0" descr="assets/cover_buses.jpe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1A2230">
              <a:alpha val="62000"/>
            </a:srgbClr>
          </a:solidFill>
          <a:ln/>
        </p:spPr>
      </p:sp>
      <p:sp>
        <p:nvSpPr>
          <p:cNvPr id="4" name="Shape 1"/>
          <p:cNvSpPr/>
          <p:nvPr/>
        </p:nvSpPr>
        <p:spPr>
          <a:xfrm>
            <a:off x="0" y="0"/>
            <a:ext cx="6035040" cy="6858000"/>
          </a:xfrm>
          <a:prstGeom prst="rect">
            <a:avLst/>
          </a:prstGeom>
          <a:solidFill>
            <a:srgbClr val="1A2230">
              <a:alpha val="86000"/>
            </a:srgbClr>
          </a:solidFill>
          <a:ln/>
        </p:spPr>
      </p:sp>
      <p:sp>
        <p:nvSpPr>
          <p:cNvPr id="5" name="Shape 2"/>
          <p:cNvSpPr/>
          <p:nvPr/>
        </p:nvSpPr>
        <p:spPr>
          <a:xfrm>
            <a:off x="0" y="4480560"/>
            <a:ext cx="12191695" cy="2377440"/>
          </a:xfrm>
          <a:prstGeom prst="rect">
            <a:avLst/>
          </a:prstGeom>
          <a:solidFill>
            <a:srgbClr val="1A2230">
              <a:alpha val="70000"/>
            </a:srgbClr>
          </a:solidFill>
          <a:ln/>
        </p:spPr>
      </p:sp>
      <p:pic>
        <p:nvPicPr>
          <p:cNvPr id="6" name="Image 1" descr="assets/igc_white.png">    </p:cNvPr>
          <p:cNvPicPr>
            <a:picLocks noChangeAspect="1"/>
          </p:cNvPicPr>
          <p:nvPr/>
        </p:nvPicPr>
        <p:blipFill>
          <a:blip r:embed="rId2"/>
          <a:stretch>
            <a:fillRect/>
          </a:stretch>
        </p:blipFill>
        <p:spPr>
          <a:xfrm>
            <a:off x="10984687" y="457200"/>
            <a:ext cx="658368" cy="569123"/>
          </a:xfrm>
          <a:prstGeom prst="rect">
            <a:avLst/>
          </a:prstGeom>
        </p:spPr>
      </p:pic>
      <p:sp>
        <p:nvSpPr>
          <p:cNvPr id="7" name="Text 3"/>
          <p:cNvSpPr/>
          <p:nvPr/>
        </p:nvSpPr>
        <p:spPr>
          <a:xfrm>
            <a:off x="502920" y="2148840"/>
            <a:ext cx="7315200" cy="365760"/>
          </a:xfrm>
          <a:prstGeom prst="rect">
            <a:avLst/>
          </a:prstGeom>
          <a:noFill/>
          <a:ln/>
        </p:spPr>
        <p:txBody>
          <a:bodyPr wrap="square" rtlCol="0" anchor="ctr"/>
          <a:lstStyle/>
          <a:p>
            <a:pPr indent="0" marL="0">
              <a:buNone/>
            </a:pPr>
            <a:r>
              <a:rPr lang="en-US" sz="1500" spc="800" kern="0" dirty="0">
                <a:solidFill>
                  <a:srgbClr val="E6EAF0"/>
                </a:solidFill>
                <a:latin typeface="Poppins SemiBold" pitchFamily="34" charset="0"/>
                <a:ea typeface="Poppins SemiBold" pitchFamily="34" charset="-122"/>
                <a:cs typeface="Poppins SemiBold" pitchFamily="34" charset="-120"/>
              </a:rPr>
              <a:t>PROJECT</a:t>
            </a:r>
            <a:endParaRPr lang="en-US" sz="1500" dirty="0"/>
          </a:p>
        </p:txBody>
      </p:sp>
      <p:sp>
        <p:nvSpPr>
          <p:cNvPr id="8" name="Text 4"/>
          <p:cNvSpPr/>
          <p:nvPr/>
        </p:nvSpPr>
        <p:spPr>
          <a:xfrm>
            <a:off x="466344" y="2450592"/>
            <a:ext cx="8229600" cy="1188720"/>
          </a:xfrm>
          <a:prstGeom prst="rect">
            <a:avLst/>
          </a:prstGeom>
          <a:noFill/>
          <a:ln/>
        </p:spPr>
        <p:txBody>
          <a:bodyPr wrap="square" lIns="0" tIns="0" rIns="0" bIns="0" rtlCol="0" anchor="ctr"/>
          <a:lstStyle/>
          <a:p>
            <a:pPr indent="0" marL="0">
              <a:buNone/>
            </a:pPr>
            <a:r>
              <a:rPr lang="en-US" sz="6600" dirty="0">
                <a:solidFill>
                  <a:srgbClr val="FFFFFF"/>
                </a:solidFill>
                <a:latin typeface="Source Serif Pro Black" pitchFamily="34" charset="0"/>
                <a:ea typeface="Source Serif Pro Black" pitchFamily="34" charset="-122"/>
                <a:cs typeface="Source Serif Pro Black" pitchFamily="34" charset="-120"/>
              </a:rPr>
              <a:t>Compass</a:t>
            </a:r>
            <a:endParaRPr lang="en-US" sz="6600" dirty="0"/>
          </a:p>
        </p:txBody>
      </p:sp>
      <p:sp>
        <p:nvSpPr>
          <p:cNvPr id="9" name="Shape 5"/>
          <p:cNvSpPr/>
          <p:nvPr/>
        </p:nvSpPr>
        <p:spPr>
          <a:xfrm>
            <a:off x="521208" y="3712464"/>
            <a:ext cx="822960" cy="45720"/>
          </a:xfrm>
          <a:prstGeom prst="rect">
            <a:avLst/>
          </a:prstGeom>
          <a:solidFill>
            <a:srgbClr val="F35B1A"/>
          </a:solidFill>
          <a:ln/>
        </p:spPr>
      </p:sp>
      <p:sp>
        <p:nvSpPr>
          <p:cNvPr id="10" name="Text 6"/>
          <p:cNvSpPr/>
          <p:nvPr/>
        </p:nvSpPr>
        <p:spPr>
          <a:xfrm>
            <a:off x="502920" y="3840480"/>
            <a:ext cx="8229600" cy="457200"/>
          </a:xfrm>
          <a:prstGeom prst="rect">
            <a:avLst/>
          </a:prstGeom>
          <a:noFill/>
          <a:ln/>
        </p:spPr>
        <p:txBody>
          <a:bodyPr wrap="square" rtlCol="0" anchor="ctr"/>
          <a:lstStyle/>
          <a:p>
            <a:pPr indent="0" marL="0">
              <a:buNone/>
            </a:pPr>
            <a:r>
              <a:rPr lang="en-US" sz="1600" dirty="0">
                <a:solidFill>
                  <a:srgbClr val="E6EAF0"/>
                </a:solidFill>
                <a:latin typeface="Poppins" pitchFamily="34" charset="0"/>
                <a:ea typeface="Poppins" pitchFamily="34" charset="-122"/>
                <a:cs typeface="Poppins" pitchFamily="34" charset="-120"/>
              </a:rPr>
              <a:t>Confidential Information Memorandum</a:t>
            </a:r>
            <a:endParaRPr lang="en-US" sz="1600" dirty="0"/>
          </a:p>
        </p:txBody>
      </p:sp>
      <p:pic>
        <p:nvPicPr>
          <p:cNvPr id="11" name="Image 2" descr="assets/mobi_logo_black.png">    </p:cNvPr>
          <p:cNvPicPr>
            <a:picLocks noChangeAspect="1"/>
          </p:cNvPicPr>
          <p:nvPr/>
        </p:nvPicPr>
        <p:blipFill>
          <a:blip r:embed="rId3"/>
          <a:stretch>
            <a:fillRect/>
          </a:stretch>
        </p:blipFill>
        <p:spPr>
          <a:xfrm>
            <a:off x="502920" y="5806440"/>
            <a:ext cx="1920240" cy="615077"/>
          </a:xfrm>
          <a:prstGeom prst="rect">
            <a:avLst/>
          </a:prstGeom>
        </p:spPr>
      </p:pic>
      <p:sp>
        <p:nvSpPr>
          <p:cNvPr id="12" name="Text 7"/>
          <p:cNvSpPr/>
          <p:nvPr/>
        </p:nvSpPr>
        <p:spPr>
          <a:xfrm>
            <a:off x="9357055" y="6291072"/>
            <a:ext cx="2331720" cy="274320"/>
          </a:xfrm>
          <a:prstGeom prst="rect">
            <a:avLst/>
          </a:prstGeom>
          <a:noFill/>
          <a:ln/>
        </p:spPr>
        <p:txBody>
          <a:bodyPr wrap="square" rtlCol="0" anchor="ctr"/>
          <a:lstStyle/>
          <a:p>
            <a:pPr algn="r" indent="0" marL="0">
              <a:buNone/>
            </a:pPr>
            <a:r>
              <a:rPr lang="en-US" sz="1100" dirty="0">
                <a:solidFill>
                  <a:srgbClr val="D6DCE5"/>
                </a:solidFill>
                <a:latin typeface="Poppins Medium" pitchFamily="34" charset="0"/>
                <a:ea typeface="Poppins Medium" pitchFamily="34" charset="-122"/>
                <a:cs typeface="Poppins Medium" pitchFamily="34" charset="-120"/>
              </a:rPr>
              <a:t>August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22F44"/>
        </a:solidFill>
      </p:bgPr>
    </p:bg>
    <p:spTree>
      <p:nvGrpSpPr>
        <p:cNvPr id="1" name=""/>
        <p:cNvGrpSpPr/>
        <p:nvPr/>
      </p:nvGrpSpPr>
      <p:grpSpPr>
        <a:xfrm>
          <a:off x="0" y="0"/>
          <a:ext cx="0" cy="0"/>
          <a:chOff x="0" y="0"/>
          <a:chExt cx="0" cy="0"/>
        </a:xfrm>
      </p:grpSpPr>
      <p:pic>
        <p:nvPicPr>
          <p:cNvPr id="2" name="Image 0" descr="assets/igc_white.png">    </p:cNvPr>
          <p:cNvPicPr>
            <a:picLocks noChangeAspect="1"/>
          </p:cNvPicPr>
          <p:nvPr/>
        </p:nvPicPr>
        <p:blipFill>
          <a:blip r:embed="rId1"/>
          <a:stretch>
            <a:fillRect/>
          </a:stretch>
        </p:blipFill>
        <p:spPr>
          <a:xfrm>
            <a:off x="11140135" y="310896"/>
            <a:ext cx="548640" cy="474269"/>
          </a:xfrm>
          <a:prstGeom prst="rect">
            <a:avLst/>
          </a:prstGeom>
        </p:spPr>
      </p:pic>
      <p:sp>
        <p:nvSpPr>
          <p:cNvPr id="3" name="Text 0"/>
          <p:cNvSpPr/>
          <p:nvPr/>
        </p:nvSpPr>
        <p:spPr>
          <a:xfrm>
            <a:off x="502920" y="457200"/>
            <a:ext cx="7315200" cy="548640"/>
          </a:xfrm>
          <a:prstGeom prst="rect">
            <a:avLst/>
          </a:prstGeom>
          <a:noFill/>
          <a:ln/>
        </p:spPr>
        <p:txBody>
          <a:bodyPr wrap="square" rtlCol="0" anchor="ctr"/>
          <a:lstStyle/>
          <a:p>
            <a:pPr indent="0" marL="0">
              <a:buNone/>
            </a:pPr>
            <a:r>
              <a:rPr lang="en-US" sz="2600" dirty="0">
                <a:solidFill>
                  <a:srgbClr val="FFFFFF"/>
                </a:solidFill>
                <a:latin typeface="Source Serif Pro SemiBold" pitchFamily="34" charset="0"/>
                <a:ea typeface="Source Serif Pro SemiBold" pitchFamily="34" charset="-122"/>
                <a:cs typeface="Source Serif Pro SemiBold" pitchFamily="34" charset="-120"/>
              </a:rPr>
              <a:t>Disclaimer</a:t>
            </a:r>
            <a:endParaRPr lang="en-US" sz="2600" dirty="0"/>
          </a:p>
        </p:txBody>
      </p:sp>
      <p:sp>
        <p:nvSpPr>
          <p:cNvPr id="4" name="Text 1"/>
          <p:cNvSpPr/>
          <p:nvPr/>
        </p:nvSpPr>
        <p:spPr>
          <a:xfrm>
            <a:off x="502920" y="987552"/>
            <a:ext cx="7315200" cy="320040"/>
          </a:xfrm>
          <a:prstGeom prst="rect">
            <a:avLst/>
          </a:prstGeom>
          <a:noFill/>
          <a:ln/>
        </p:spPr>
        <p:txBody>
          <a:bodyPr wrap="square" rtlCol="0" anchor="ctr"/>
          <a:lstStyle/>
          <a:p>
            <a:pPr indent="0" marL="0">
              <a:buNone/>
            </a:pPr>
            <a:r>
              <a:rPr lang="en-US" sz="1200" dirty="0">
                <a:solidFill>
                  <a:srgbClr val="F35B1A"/>
                </a:solidFill>
                <a:latin typeface="Poppins Medium" pitchFamily="34" charset="0"/>
                <a:ea typeface="Poppins Medium" pitchFamily="34" charset="-122"/>
                <a:cs typeface="Poppins Medium" pitchFamily="34" charset="-120"/>
              </a:rPr>
              <a:t>Project Compass</a:t>
            </a:r>
            <a:endParaRPr lang="en-US" sz="1200" dirty="0"/>
          </a:p>
        </p:txBody>
      </p:sp>
      <p:sp>
        <p:nvSpPr>
          <p:cNvPr id="5" name="Text 2"/>
          <p:cNvSpPr/>
          <p:nvPr/>
        </p:nvSpPr>
        <p:spPr>
          <a:xfrm>
            <a:off x="502920" y="1481328"/>
            <a:ext cx="6903720" cy="4937760"/>
          </a:xfrm>
          <a:prstGeom prst="rect">
            <a:avLst/>
          </a:prstGeom>
          <a:noFill/>
          <a:ln/>
        </p:spPr>
        <p:txBody>
          <a:bodyPr wrap="square" rtlCol="0" anchor="t"/>
          <a:lstStyle/>
          <a:p>
            <a:pPr algn="just" indent="0" marL="0">
              <a:lnSpc>
                <a:spcPct val="102000"/>
              </a:lnSpc>
              <a:spcAft>
                <a:spcPts val="600"/>
              </a:spcAft>
              <a:buNone/>
            </a:pPr>
            <a:r>
              <a:rPr lang="en-US" sz="840" dirty="0">
                <a:solidFill>
                  <a:srgbClr val="C4CCD6"/>
                </a:solidFill>
                <a:latin typeface="Poppins" pitchFamily="34" charset="0"/>
                <a:ea typeface="Poppins" pitchFamily="34" charset="-122"/>
                <a:cs typeface="Poppins" pitchFamily="34" charset="-120"/>
              </a:rPr>
              <a:t>IGC has been retained by MOBI (“Company”; “Mobi”), on an exclusive basis, to advise the Company in its M&amp;A process (“Transaction”). This material (“Information Memorandum”) describes and summarizes the Company, its assets, market and economic and financial indicators and has been prepared exclusively to assist the recipient in deciding whether it wishes to proceed with a further investigation of a possible Transaction with the Company. In no event shall the recipient use any of this information for any commercial purposes or for purposes other than the one for which this memorandum is furnished.</a:t>
            </a:r>
            <a:endParaRPr lang="en-US" sz="840" dirty="0"/>
          </a:p>
          <a:p>
            <a:pPr algn="just" indent="0" marL="0">
              <a:lnSpc>
                <a:spcPct val="102000"/>
              </a:lnSpc>
              <a:spcAft>
                <a:spcPts val="600"/>
              </a:spcAft>
              <a:buNone/>
            </a:pPr>
            <a:r>
              <a:rPr lang="en-US" sz="840" dirty="0">
                <a:solidFill>
                  <a:srgbClr val="C4CCD6"/>
                </a:solidFill>
                <a:latin typeface="Poppins" pitchFamily="34" charset="0"/>
                <a:ea typeface="Poppins" pitchFamily="34" charset="-122"/>
                <a:cs typeface="Poppins" pitchFamily="34" charset="-120"/>
              </a:rPr>
              <a:t>All information contained in this Information Memorandum has been prepared based on documents and/or information provided by the Company or obtained directly by IGC through legal sources and/or independent research. IGC has not investigated, verified or audited the documents and information used for the preparation of this Information Memorandum. This Information Memorandum contains statements, estimates and projections provided by the Client concerning anticipated future performance, which may or may not prove to be correct. No representations, expressed or implied, are made as to the accuracy of such statements, estimates and projections.</a:t>
            </a:r>
            <a:endParaRPr lang="en-US" sz="840" dirty="0"/>
          </a:p>
          <a:p>
            <a:pPr algn="just" indent="0" marL="0">
              <a:lnSpc>
                <a:spcPct val="102000"/>
              </a:lnSpc>
              <a:spcAft>
                <a:spcPts val="600"/>
              </a:spcAft>
              <a:buNone/>
            </a:pPr>
            <a:r>
              <a:rPr lang="en-US" sz="840" dirty="0">
                <a:solidFill>
                  <a:srgbClr val="C4CCD6"/>
                </a:solidFill>
                <a:latin typeface="Poppins" pitchFamily="34" charset="0"/>
                <a:ea typeface="Poppins" pitchFamily="34" charset="-122"/>
                <a:cs typeface="Poppins" pitchFamily="34" charset="-120"/>
              </a:rPr>
              <a:t>This Memorandum of Information is not intended to form any part of the basis of any investment decision and should not be considered as a recommendation by the Company or IGC to any reader. Each reader must make its own valuation of the Transaction in order to determine whether to continue with its participation in the process. No liability is or shall be attributed to the members of IGC, including its partners, directors or employees, in connection with the accuracy or completeness of the information contained herein.</a:t>
            </a:r>
            <a:endParaRPr lang="en-US" sz="840" dirty="0"/>
          </a:p>
          <a:p>
            <a:pPr algn="just" indent="0" marL="0">
              <a:lnSpc>
                <a:spcPct val="102000"/>
              </a:lnSpc>
              <a:spcAft>
                <a:spcPts val="600"/>
              </a:spcAft>
              <a:buNone/>
            </a:pPr>
            <a:r>
              <a:rPr lang="en-US" sz="840" dirty="0">
                <a:solidFill>
                  <a:srgbClr val="C4CCD6"/>
                </a:solidFill>
                <a:latin typeface="Poppins" pitchFamily="34" charset="0"/>
                <a:ea typeface="Poppins" pitchFamily="34" charset="-122"/>
                <a:cs typeface="Poppins" pitchFamily="34" charset="-120"/>
              </a:rPr>
              <a:t>This material belongs to IGC and shall not be copied, reproduced, distributed and/or disclosed, in whole or in part, including by digital media, to any third party without the express and prior written consent of IGC. By accepting this material, the recipient agrees to return it as soon as requested by IGC and to maintain in strict confidentiality all information contained herein. Since the existence of the Transaction is not publicly disclosed, the recipient agrees not to approach or contact any officer, employee, client, supplier or representative of the Company without the express written permission of IGC.</a:t>
            </a:r>
            <a:endParaRPr lang="en-US" sz="840" dirty="0"/>
          </a:p>
        </p:txBody>
      </p:sp>
      <p:sp>
        <p:nvSpPr>
          <p:cNvPr id="6" name="Shape 3"/>
          <p:cNvSpPr/>
          <p:nvPr/>
        </p:nvSpPr>
        <p:spPr>
          <a:xfrm>
            <a:off x="7818120" y="1481328"/>
            <a:ext cx="3870655" cy="4590288"/>
          </a:xfrm>
          <a:prstGeom prst="roundRect">
            <a:avLst>
              <a:gd name="adj" fmla="val 2362"/>
            </a:avLst>
          </a:prstGeom>
          <a:solidFill>
            <a:srgbClr val="2C3B54"/>
          </a:solidFill>
          <a:ln/>
        </p:spPr>
      </p:sp>
      <p:sp>
        <p:nvSpPr>
          <p:cNvPr id="7" name="Text 4"/>
          <p:cNvSpPr/>
          <p:nvPr/>
        </p:nvSpPr>
        <p:spPr>
          <a:xfrm>
            <a:off x="8138160" y="1783080"/>
            <a:ext cx="3230575" cy="822960"/>
          </a:xfrm>
          <a:prstGeom prst="rect">
            <a:avLst/>
          </a:prstGeom>
          <a:noFill/>
          <a:ln/>
        </p:spPr>
        <p:txBody>
          <a:bodyPr wrap="square" rtlCol="0" anchor="t"/>
          <a:lstStyle/>
          <a:p>
            <a:pPr indent="0" marL="0">
              <a:lnSpc>
                <a:spcPct val="105000"/>
              </a:lnSpc>
              <a:buNone/>
            </a:pPr>
            <a:r>
              <a:rPr lang="en-US" sz="1050" dirty="0">
                <a:solidFill>
                  <a:srgbClr val="D6DCE5"/>
                </a:solidFill>
                <a:latin typeface="Poppins" pitchFamily="34" charset="0"/>
                <a:ea typeface="Poppins" pitchFamily="34" charset="-122"/>
                <a:cs typeface="Poppins" pitchFamily="34" charset="-120"/>
              </a:rPr>
              <a:t>All communications, questions and/or requests regarding this material shall be addressed directly to IGC.</a:t>
            </a:r>
            <a:endParaRPr lang="en-US" sz="1050" dirty="0"/>
          </a:p>
        </p:txBody>
      </p:sp>
      <p:sp>
        <p:nvSpPr>
          <p:cNvPr id="8" name="Shape 5"/>
          <p:cNvSpPr/>
          <p:nvPr/>
        </p:nvSpPr>
        <p:spPr>
          <a:xfrm>
            <a:off x="8138160" y="2743200"/>
            <a:ext cx="3230575" cy="0"/>
          </a:xfrm>
          <a:prstGeom prst="line">
            <a:avLst/>
          </a:prstGeom>
          <a:noFill/>
          <a:ln w="12700">
            <a:solidFill>
              <a:srgbClr val="49597A"/>
            </a:solidFill>
            <a:prstDash val="solid"/>
          </a:ln>
        </p:spPr>
      </p:sp>
      <p:sp>
        <p:nvSpPr>
          <p:cNvPr id="9" name="Text 6"/>
          <p:cNvSpPr/>
          <p:nvPr/>
        </p:nvSpPr>
        <p:spPr>
          <a:xfrm>
            <a:off x="8138160" y="2880360"/>
            <a:ext cx="3230575" cy="320040"/>
          </a:xfrm>
          <a:prstGeom prst="rect">
            <a:avLst/>
          </a:prstGeom>
          <a:noFill/>
          <a:ln/>
        </p:spPr>
        <p:txBody>
          <a:bodyPr wrap="square" rtlCol="0" anchor="ctr"/>
          <a:lstStyle/>
          <a:p>
            <a:pPr indent="0" marL="0">
              <a:buNone/>
            </a:pPr>
            <a:r>
              <a:rPr lang="en-US" sz="1500" dirty="0">
                <a:solidFill>
                  <a:srgbClr val="FFFFFF"/>
                </a:solidFill>
                <a:latin typeface="Source Serif Pro SemiBold" pitchFamily="34" charset="0"/>
                <a:ea typeface="Source Serif Pro SemiBold" pitchFamily="34" charset="-122"/>
                <a:cs typeface="Source Serif Pro SemiBold" pitchFamily="34" charset="-120"/>
              </a:rPr>
              <a:t>Bruno Iervolino</a:t>
            </a:r>
            <a:endParaRPr lang="en-US" sz="1500" dirty="0"/>
          </a:p>
        </p:txBody>
      </p:sp>
      <p:sp>
        <p:nvSpPr>
          <p:cNvPr id="10" name="Text 7"/>
          <p:cNvSpPr/>
          <p:nvPr/>
        </p:nvSpPr>
        <p:spPr>
          <a:xfrm>
            <a:off x="8138160" y="3246120"/>
            <a:ext cx="3230575" cy="1554480"/>
          </a:xfrm>
          <a:prstGeom prst="rect">
            <a:avLst/>
          </a:prstGeom>
          <a:noFill/>
          <a:ln/>
        </p:spPr>
        <p:txBody>
          <a:bodyPr wrap="square" rtlCol="0" anchor="t"/>
          <a:lstStyle/>
          <a:p>
            <a:pPr indent="0" marL="0">
              <a:lnSpc>
                <a:spcPct val="125000"/>
              </a:lnSpc>
              <a:buNone/>
            </a:pPr>
            <a:r>
              <a:rPr lang="en-US" sz="1050" dirty="0">
                <a:solidFill>
                  <a:srgbClr val="C4CCD6"/>
                </a:solidFill>
                <a:latin typeface="Poppins" pitchFamily="34" charset="0"/>
                <a:ea typeface="Poppins" pitchFamily="34" charset="-122"/>
                <a:cs typeface="Poppins" pitchFamily="34" charset="-120"/>
              </a:rPr>
              <a:t>Av. Brigadeiro Faria Lima, 2277 – 6th floor</a:t>
            </a:r>
            <a:endParaRPr lang="en-US" sz="1050" dirty="0"/>
          </a:p>
          <a:p>
            <a:pPr indent="0" marL="0">
              <a:lnSpc>
                <a:spcPct val="125000"/>
              </a:lnSpc>
              <a:buNone/>
            </a:pPr>
            <a:r>
              <a:rPr lang="en-US" sz="1050" dirty="0">
                <a:solidFill>
                  <a:srgbClr val="C4CCD6"/>
                </a:solidFill>
                <a:latin typeface="Poppins" pitchFamily="34" charset="0"/>
                <a:ea typeface="Poppins" pitchFamily="34" charset="-122"/>
                <a:cs typeface="Poppins" pitchFamily="34" charset="-120"/>
              </a:rPr>
              <a:t>Zip Code 01452-000 – São Paulo, SP</a:t>
            </a:r>
            <a:endParaRPr lang="en-US" sz="1050" dirty="0"/>
          </a:p>
          <a:p>
            <a:pPr indent="0" marL="0">
              <a:lnSpc>
                <a:spcPct val="125000"/>
              </a:lnSpc>
              <a:buNone/>
            </a:pPr>
            <a:r>
              <a:rPr lang="en-US" sz="1050" dirty="0">
                <a:solidFill>
                  <a:srgbClr val="C4CCD6"/>
                </a:solidFill>
                <a:latin typeface="Poppins" pitchFamily="34" charset="0"/>
                <a:ea typeface="Poppins" pitchFamily="34" charset="-122"/>
                <a:cs typeface="Poppins" pitchFamily="34" charset="-120"/>
              </a:rPr>
              <a:t>Tel: (55 11) 3815-3533</a:t>
            </a:r>
            <a:endParaRPr lang="en-US" sz="1050" dirty="0"/>
          </a:p>
          <a:p>
            <a:pPr indent="0" marL="0">
              <a:lnSpc>
                <a:spcPct val="125000"/>
              </a:lnSpc>
              <a:buNone/>
            </a:pPr>
            <a:r>
              <a:rPr lang="en-US" sz="1050" dirty="0">
                <a:solidFill>
                  <a:srgbClr val="F35B1A"/>
                </a:solidFill>
                <a:latin typeface="Poppins" pitchFamily="34" charset="0"/>
                <a:ea typeface="Poppins" pitchFamily="34" charset="-122"/>
                <a:cs typeface="Poppins" pitchFamily="34" charset="-120"/>
              </a:rPr>
              <a:t>bruno.iervolino@igcp.com.br</a:t>
            </a:r>
            <a:endParaRPr lang="en-US" sz="1050" dirty="0"/>
          </a:p>
        </p:txBody>
      </p:sp>
      <p:pic>
        <p:nvPicPr>
          <p:cNvPr id="11" name="Image 1" descr="assets/igc_white.png">    </p:cNvPr>
          <p:cNvPicPr>
            <a:picLocks noChangeAspect="1"/>
          </p:cNvPicPr>
          <p:nvPr/>
        </p:nvPicPr>
        <p:blipFill>
          <a:blip r:embed="rId2"/>
          <a:stretch>
            <a:fillRect/>
          </a:stretch>
        </p:blipFill>
        <p:spPr>
          <a:xfrm>
            <a:off x="8138160" y="5212080"/>
            <a:ext cx="640080" cy="55331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22F44"/>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22F44"/>
          </a:solidFill>
          <a:ln/>
        </p:spPr>
      </p:sp>
      <p:sp>
        <p:nvSpPr>
          <p:cNvPr id="3" name="Text 1"/>
          <p:cNvSpPr/>
          <p:nvPr/>
        </p:nvSpPr>
        <p:spPr>
          <a:xfrm>
            <a:off x="4206240" y="4343400"/>
            <a:ext cx="7665415" cy="1737360"/>
          </a:xfrm>
          <a:prstGeom prst="rect">
            <a:avLst/>
          </a:prstGeom>
          <a:noFill/>
          <a:ln/>
        </p:spPr>
        <p:txBody>
          <a:bodyPr wrap="square" lIns="0" tIns="0" rIns="0" bIns="0" rtlCol="0" anchor="ctr"/>
          <a:lstStyle/>
          <a:p>
            <a:pPr algn="r" indent="0" marL="0">
              <a:buNone/>
            </a:pPr>
            <a:r>
              <a:rPr lang="en-US" sz="6200" dirty="0">
                <a:solidFill>
                  <a:srgbClr val="2C3B54"/>
                </a:solidFill>
                <a:latin typeface="Source Serif Pro Black" pitchFamily="34" charset="0"/>
                <a:ea typeface="Source Serif Pro Black" pitchFamily="34" charset="-122"/>
                <a:cs typeface="Source Serif Pro Black" pitchFamily="34" charset="-120"/>
              </a:rPr>
              <a:t>Compass</a:t>
            </a:r>
            <a:endParaRPr lang="en-US" sz="6200" dirty="0"/>
          </a:p>
        </p:txBody>
      </p:sp>
      <p:pic>
        <p:nvPicPr>
          <p:cNvPr id="4" name="Image 0" descr="assets/igc_white.png">    </p:cNvPr>
          <p:cNvPicPr>
            <a:picLocks noChangeAspect="1"/>
          </p:cNvPicPr>
          <p:nvPr/>
        </p:nvPicPr>
        <p:blipFill>
          <a:blip r:embed="rId1"/>
          <a:stretch>
            <a:fillRect/>
          </a:stretch>
        </p:blipFill>
        <p:spPr>
          <a:xfrm>
            <a:off x="11121847" y="310896"/>
            <a:ext cx="566928" cy="490078"/>
          </a:xfrm>
          <a:prstGeom prst="rect">
            <a:avLst/>
          </a:prstGeom>
        </p:spPr>
      </p:pic>
      <p:sp>
        <p:nvSpPr>
          <p:cNvPr id="5" name="Text 2"/>
          <p:cNvSpPr/>
          <p:nvPr/>
        </p:nvSpPr>
        <p:spPr>
          <a:xfrm>
            <a:off x="502920" y="777240"/>
            <a:ext cx="7315200" cy="731520"/>
          </a:xfrm>
          <a:prstGeom prst="rect">
            <a:avLst/>
          </a:prstGeom>
          <a:noFill/>
          <a:ln/>
        </p:spPr>
        <p:txBody>
          <a:bodyPr wrap="square" rtlCol="0" anchor="ctr"/>
          <a:lstStyle/>
          <a:p>
            <a:pPr indent="0" marL="0">
              <a:buNone/>
            </a:pPr>
            <a:r>
              <a:rPr lang="en-US" sz="3400" dirty="0">
                <a:solidFill>
                  <a:srgbClr val="FFFFFF"/>
                </a:solidFill>
                <a:latin typeface="Source Serif Pro SemiBold" pitchFamily="34" charset="0"/>
                <a:ea typeface="Source Serif Pro SemiBold" pitchFamily="34" charset="-122"/>
                <a:cs typeface="Source Serif Pro SemiBold" pitchFamily="34" charset="-120"/>
              </a:rPr>
              <a:t>Executive Summary</a:t>
            </a:r>
            <a:endParaRPr lang="en-US" sz="3400" dirty="0"/>
          </a:p>
        </p:txBody>
      </p:sp>
      <p:sp>
        <p:nvSpPr>
          <p:cNvPr id="6" name="Shape 3"/>
          <p:cNvSpPr/>
          <p:nvPr/>
        </p:nvSpPr>
        <p:spPr>
          <a:xfrm>
            <a:off x="521208" y="1554480"/>
            <a:ext cx="822960" cy="45720"/>
          </a:xfrm>
          <a:prstGeom prst="rect">
            <a:avLst/>
          </a:prstGeom>
          <a:solidFill>
            <a:srgbClr val="F35B1A"/>
          </a:solidFill>
          <a:ln/>
        </p:spPr>
      </p:sp>
      <p:sp>
        <p:nvSpPr>
          <p:cNvPr id="7" name="Text 4"/>
          <p:cNvSpPr/>
          <p:nvPr/>
        </p:nvSpPr>
        <p:spPr>
          <a:xfrm>
            <a:off x="502920" y="2286000"/>
            <a:ext cx="822960" cy="640080"/>
          </a:xfrm>
          <a:prstGeom prst="rect">
            <a:avLst/>
          </a:prstGeom>
          <a:noFill/>
          <a:ln/>
        </p:spPr>
        <p:txBody>
          <a:bodyPr wrap="square" lIns="0" tIns="0" rIns="0" bIns="0" rtlCol="0" anchor="ctr"/>
          <a:lstStyle/>
          <a:p>
            <a:pPr indent="0" marL="0">
              <a:buNone/>
            </a:pPr>
            <a:r>
              <a:rPr lang="en-US" sz="3000" dirty="0">
                <a:solidFill>
                  <a:srgbClr val="F35B1A"/>
                </a:solidFill>
                <a:latin typeface="Source Serif Pro Black" pitchFamily="34" charset="0"/>
                <a:ea typeface="Source Serif Pro Black" pitchFamily="34" charset="-122"/>
                <a:cs typeface="Source Serif Pro Black" pitchFamily="34" charset="-120"/>
              </a:rPr>
              <a:t>01</a:t>
            </a:r>
            <a:endParaRPr lang="en-US" sz="3000" dirty="0"/>
          </a:p>
        </p:txBody>
      </p:sp>
      <p:sp>
        <p:nvSpPr>
          <p:cNvPr id="8" name="Text 5"/>
          <p:cNvSpPr/>
          <p:nvPr/>
        </p:nvSpPr>
        <p:spPr>
          <a:xfrm>
            <a:off x="1417320" y="2267712"/>
            <a:ext cx="6035040" cy="384048"/>
          </a:xfrm>
          <a:prstGeom prst="rect">
            <a:avLst/>
          </a:prstGeom>
          <a:noFill/>
          <a:ln/>
        </p:spPr>
        <p:txBody>
          <a:bodyPr wrap="square" lIns="0" tIns="0" rIns="0" bIns="0" rtlCol="0" anchor="ctr"/>
          <a:lstStyle/>
          <a:p>
            <a:pPr indent="0" marL="0">
              <a:buNone/>
            </a:pPr>
            <a:r>
              <a:rPr lang="en-US" sz="1900" dirty="0">
                <a:solidFill>
                  <a:srgbClr val="FFFFFF"/>
                </a:solidFill>
                <a:latin typeface="Source Serif Pro SemiBold" pitchFamily="34" charset="0"/>
                <a:ea typeface="Source Serif Pro SemiBold" pitchFamily="34" charset="-122"/>
                <a:cs typeface="Source Serif Pro SemiBold" pitchFamily="34" charset="-120"/>
              </a:rPr>
              <a:t>Introduction</a:t>
            </a:r>
            <a:endParaRPr lang="en-US" sz="1900" dirty="0"/>
          </a:p>
        </p:txBody>
      </p:sp>
      <p:sp>
        <p:nvSpPr>
          <p:cNvPr id="9" name="Text 6"/>
          <p:cNvSpPr/>
          <p:nvPr/>
        </p:nvSpPr>
        <p:spPr>
          <a:xfrm>
            <a:off x="1435608" y="2633472"/>
            <a:ext cx="6217920" cy="320040"/>
          </a:xfrm>
          <a:prstGeom prst="rect">
            <a:avLst/>
          </a:prstGeom>
          <a:noFill/>
          <a:ln/>
        </p:spPr>
        <p:txBody>
          <a:bodyPr wrap="square" lIns="0" tIns="0" rIns="0" bIns="0" rtlCol="0" anchor="t"/>
          <a:lstStyle/>
          <a:p>
            <a:pPr indent="0" marL="0">
              <a:buNone/>
            </a:pPr>
            <a:r>
              <a:rPr lang="en-US" sz="1050" dirty="0">
                <a:solidFill>
                  <a:srgbClr val="AEB7C4"/>
                </a:solidFill>
                <a:latin typeface="Poppins" pitchFamily="34" charset="0"/>
                <a:ea typeface="Poppins" pitchFamily="34" charset="-122"/>
                <a:cs typeface="Poppins" pitchFamily="34" charset="-120"/>
              </a:rPr>
              <a:t>Company snapshot, market context and the platform at a glance</a:t>
            </a:r>
            <a:endParaRPr lang="en-US" sz="1050" dirty="0"/>
          </a:p>
        </p:txBody>
      </p:sp>
      <p:sp>
        <p:nvSpPr>
          <p:cNvPr id="10" name="Shape 7"/>
          <p:cNvSpPr/>
          <p:nvPr/>
        </p:nvSpPr>
        <p:spPr>
          <a:xfrm>
            <a:off x="1417320" y="3035808"/>
            <a:ext cx="6035040" cy="0"/>
          </a:xfrm>
          <a:prstGeom prst="line">
            <a:avLst/>
          </a:prstGeom>
          <a:noFill/>
          <a:ln w="12700">
            <a:solidFill>
              <a:srgbClr val="2C3B54"/>
            </a:solidFill>
            <a:prstDash val="solid"/>
          </a:ln>
        </p:spPr>
      </p:sp>
      <p:sp>
        <p:nvSpPr>
          <p:cNvPr id="11" name="Text 8"/>
          <p:cNvSpPr/>
          <p:nvPr/>
        </p:nvSpPr>
        <p:spPr>
          <a:xfrm>
            <a:off x="502920" y="3246120"/>
            <a:ext cx="822960" cy="640080"/>
          </a:xfrm>
          <a:prstGeom prst="rect">
            <a:avLst/>
          </a:prstGeom>
          <a:noFill/>
          <a:ln/>
        </p:spPr>
        <p:txBody>
          <a:bodyPr wrap="square" lIns="0" tIns="0" rIns="0" bIns="0" rtlCol="0" anchor="ctr"/>
          <a:lstStyle/>
          <a:p>
            <a:pPr indent="0" marL="0">
              <a:buNone/>
            </a:pPr>
            <a:r>
              <a:rPr lang="en-US" sz="3000" dirty="0">
                <a:solidFill>
                  <a:srgbClr val="F35B1A"/>
                </a:solidFill>
                <a:latin typeface="Source Serif Pro Black" pitchFamily="34" charset="0"/>
                <a:ea typeface="Source Serif Pro Black" pitchFamily="34" charset="-122"/>
                <a:cs typeface="Source Serif Pro Black" pitchFamily="34" charset="-120"/>
              </a:rPr>
              <a:t>02</a:t>
            </a:r>
            <a:endParaRPr lang="en-US" sz="3000" dirty="0"/>
          </a:p>
        </p:txBody>
      </p:sp>
      <p:sp>
        <p:nvSpPr>
          <p:cNvPr id="12" name="Text 9"/>
          <p:cNvSpPr/>
          <p:nvPr/>
        </p:nvSpPr>
        <p:spPr>
          <a:xfrm>
            <a:off x="1417320" y="3227832"/>
            <a:ext cx="6035040" cy="384048"/>
          </a:xfrm>
          <a:prstGeom prst="rect">
            <a:avLst/>
          </a:prstGeom>
          <a:noFill/>
          <a:ln/>
        </p:spPr>
        <p:txBody>
          <a:bodyPr wrap="square" lIns="0" tIns="0" rIns="0" bIns="0" rtlCol="0" anchor="ctr"/>
          <a:lstStyle/>
          <a:p>
            <a:pPr indent="0" marL="0">
              <a:buNone/>
            </a:pPr>
            <a:r>
              <a:rPr lang="en-US" sz="1900" dirty="0">
                <a:solidFill>
                  <a:srgbClr val="FFFFFF"/>
                </a:solidFill>
                <a:latin typeface="Source Serif Pro SemiBold" pitchFamily="34" charset="0"/>
                <a:ea typeface="Source Serif Pro SemiBold" pitchFamily="34" charset="-122"/>
                <a:cs typeface="Source Serif Pro SemiBold" pitchFamily="34" charset="-120"/>
              </a:rPr>
              <a:t>Investment Thesis</a:t>
            </a:r>
            <a:endParaRPr lang="en-US" sz="1900" dirty="0"/>
          </a:p>
        </p:txBody>
      </p:sp>
      <p:sp>
        <p:nvSpPr>
          <p:cNvPr id="13" name="Text 10"/>
          <p:cNvSpPr/>
          <p:nvPr/>
        </p:nvSpPr>
        <p:spPr>
          <a:xfrm>
            <a:off x="1435608" y="3593592"/>
            <a:ext cx="6217920" cy="320040"/>
          </a:xfrm>
          <a:prstGeom prst="rect">
            <a:avLst/>
          </a:prstGeom>
          <a:noFill/>
          <a:ln/>
        </p:spPr>
        <p:txBody>
          <a:bodyPr wrap="square" lIns="0" tIns="0" rIns="0" bIns="0" rtlCol="0" anchor="t"/>
          <a:lstStyle/>
          <a:p>
            <a:pPr indent="0" marL="0">
              <a:buNone/>
            </a:pPr>
            <a:r>
              <a:rPr lang="en-US" sz="1050" dirty="0">
                <a:solidFill>
                  <a:srgbClr val="AEB7C4"/>
                </a:solidFill>
                <a:latin typeface="Poppins" pitchFamily="34" charset="0"/>
                <a:ea typeface="Poppins" pitchFamily="34" charset="-122"/>
                <a:cs typeface="Poppins" pitchFamily="34" charset="-120"/>
              </a:rPr>
              <a:t>Value drivers underpinning Mobi’s growth and resilience</a:t>
            </a:r>
            <a:endParaRPr lang="en-US" sz="1050" dirty="0"/>
          </a:p>
        </p:txBody>
      </p:sp>
      <p:sp>
        <p:nvSpPr>
          <p:cNvPr id="14" name="Shape 11"/>
          <p:cNvSpPr/>
          <p:nvPr/>
        </p:nvSpPr>
        <p:spPr>
          <a:xfrm>
            <a:off x="1417320" y="3995928"/>
            <a:ext cx="6035040" cy="0"/>
          </a:xfrm>
          <a:prstGeom prst="line">
            <a:avLst/>
          </a:prstGeom>
          <a:noFill/>
          <a:ln w="12700">
            <a:solidFill>
              <a:srgbClr val="2C3B54"/>
            </a:solidFill>
            <a:prstDash val="solid"/>
          </a:ln>
        </p:spPr>
      </p:sp>
      <p:sp>
        <p:nvSpPr>
          <p:cNvPr id="15" name="Text 12"/>
          <p:cNvSpPr/>
          <p:nvPr/>
        </p:nvSpPr>
        <p:spPr>
          <a:xfrm>
            <a:off x="502920" y="4206240"/>
            <a:ext cx="822960" cy="640080"/>
          </a:xfrm>
          <a:prstGeom prst="rect">
            <a:avLst/>
          </a:prstGeom>
          <a:noFill/>
          <a:ln/>
        </p:spPr>
        <p:txBody>
          <a:bodyPr wrap="square" lIns="0" tIns="0" rIns="0" bIns="0" rtlCol="0" anchor="ctr"/>
          <a:lstStyle/>
          <a:p>
            <a:pPr indent="0" marL="0">
              <a:buNone/>
            </a:pPr>
            <a:r>
              <a:rPr lang="en-US" sz="3000" dirty="0">
                <a:solidFill>
                  <a:srgbClr val="F35B1A"/>
                </a:solidFill>
                <a:latin typeface="Source Serif Pro Black" pitchFamily="34" charset="0"/>
                <a:ea typeface="Source Serif Pro Black" pitchFamily="34" charset="-122"/>
                <a:cs typeface="Source Serif Pro Black" pitchFamily="34" charset="-120"/>
              </a:rPr>
              <a:t>03</a:t>
            </a:r>
            <a:endParaRPr lang="en-US" sz="3000" dirty="0"/>
          </a:p>
        </p:txBody>
      </p:sp>
      <p:sp>
        <p:nvSpPr>
          <p:cNvPr id="16" name="Text 13"/>
          <p:cNvSpPr/>
          <p:nvPr/>
        </p:nvSpPr>
        <p:spPr>
          <a:xfrm>
            <a:off x="1417320" y="4187952"/>
            <a:ext cx="6035040" cy="384048"/>
          </a:xfrm>
          <a:prstGeom prst="rect">
            <a:avLst/>
          </a:prstGeom>
          <a:noFill/>
          <a:ln/>
        </p:spPr>
        <p:txBody>
          <a:bodyPr wrap="square" lIns="0" tIns="0" rIns="0" bIns="0" rtlCol="0" anchor="ctr"/>
          <a:lstStyle/>
          <a:p>
            <a:pPr indent="0" marL="0">
              <a:buNone/>
            </a:pPr>
            <a:r>
              <a:rPr lang="en-US" sz="1900" dirty="0">
                <a:solidFill>
                  <a:srgbClr val="FFFFFF"/>
                </a:solidFill>
                <a:latin typeface="Source Serif Pro SemiBold" pitchFamily="34" charset="0"/>
                <a:ea typeface="Source Serif Pro SemiBold" pitchFamily="34" charset="-122"/>
                <a:cs typeface="Source Serif Pro SemiBold" pitchFamily="34" charset="-120"/>
              </a:rPr>
              <a:t>Company Overview</a:t>
            </a:r>
            <a:endParaRPr lang="en-US" sz="1900" dirty="0"/>
          </a:p>
        </p:txBody>
      </p:sp>
      <p:sp>
        <p:nvSpPr>
          <p:cNvPr id="17" name="Text 14"/>
          <p:cNvSpPr/>
          <p:nvPr/>
        </p:nvSpPr>
        <p:spPr>
          <a:xfrm>
            <a:off x="1435608" y="4553712"/>
            <a:ext cx="6217920" cy="320040"/>
          </a:xfrm>
          <a:prstGeom prst="rect">
            <a:avLst/>
          </a:prstGeom>
          <a:noFill/>
          <a:ln/>
        </p:spPr>
        <p:txBody>
          <a:bodyPr wrap="square" lIns="0" tIns="0" rIns="0" bIns="0" rtlCol="0" anchor="t"/>
          <a:lstStyle/>
          <a:p>
            <a:pPr indent="0" marL="0">
              <a:buNone/>
            </a:pPr>
            <a:r>
              <a:rPr lang="en-US" sz="1050" dirty="0">
                <a:solidFill>
                  <a:srgbClr val="AEB7C4"/>
                </a:solidFill>
                <a:latin typeface="Poppins" pitchFamily="34" charset="0"/>
                <a:ea typeface="Poppins" pitchFamily="34" charset="-122"/>
                <a:cs typeface="Poppins" pitchFamily="34" charset="-120"/>
              </a:rPr>
              <a:t>Fleet, footprint, technology, clients, history and structure</a:t>
            </a:r>
            <a:endParaRPr lang="en-US" sz="1050" dirty="0"/>
          </a:p>
        </p:txBody>
      </p:sp>
      <p:sp>
        <p:nvSpPr>
          <p:cNvPr id="18" name="Shape 15"/>
          <p:cNvSpPr/>
          <p:nvPr/>
        </p:nvSpPr>
        <p:spPr>
          <a:xfrm>
            <a:off x="1417320" y="4956048"/>
            <a:ext cx="6035040" cy="0"/>
          </a:xfrm>
          <a:prstGeom prst="line">
            <a:avLst/>
          </a:prstGeom>
          <a:noFill/>
          <a:ln w="12700">
            <a:solidFill>
              <a:srgbClr val="2C3B54"/>
            </a:solidFill>
            <a:prstDash val="solid"/>
          </a:ln>
        </p:spPr>
      </p:sp>
      <p:sp>
        <p:nvSpPr>
          <p:cNvPr id="19" name="Text 16"/>
          <p:cNvSpPr/>
          <p:nvPr/>
        </p:nvSpPr>
        <p:spPr>
          <a:xfrm>
            <a:off x="502920" y="5166360"/>
            <a:ext cx="822960" cy="640080"/>
          </a:xfrm>
          <a:prstGeom prst="rect">
            <a:avLst/>
          </a:prstGeom>
          <a:noFill/>
          <a:ln/>
        </p:spPr>
        <p:txBody>
          <a:bodyPr wrap="square" lIns="0" tIns="0" rIns="0" bIns="0" rtlCol="0" anchor="ctr"/>
          <a:lstStyle/>
          <a:p>
            <a:pPr indent="0" marL="0">
              <a:buNone/>
            </a:pPr>
            <a:r>
              <a:rPr lang="en-US" sz="3000" dirty="0">
                <a:solidFill>
                  <a:srgbClr val="F35B1A"/>
                </a:solidFill>
                <a:latin typeface="Source Serif Pro Black" pitchFamily="34" charset="0"/>
                <a:ea typeface="Source Serif Pro Black" pitchFamily="34" charset="-122"/>
                <a:cs typeface="Source Serif Pro Black" pitchFamily="34" charset="-120"/>
              </a:rPr>
              <a:t>04</a:t>
            </a:r>
            <a:endParaRPr lang="en-US" sz="3000" dirty="0"/>
          </a:p>
        </p:txBody>
      </p:sp>
      <p:sp>
        <p:nvSpPr>
          <p:cNvPr id="20" name="Text 17"/>
          <p:cNvSpPr/>
          <p:nvPr/>
        </p:nvSpPr>
        <p:spPr>
          <a:xfrm>
            <a:off x="1417320" y="5148072"/>
            <a:ext cx="6035040" cy="384048"/>
          </a:xfrm>
          <a:prstGeom prst="rect">
            <a:avLst/>
          </a:prstGeom>
          <a:noFill/>
          <a:ln/>
        </p:spPr>
        <p:txBody>
          <a:bodyPr wrap="square" lIns="0" tIns="0" rIns="0" bIns="0" rtlCol="0" anchor="ctr"/>
          <a:lstStyle/>
          <a:p>
            <a:pPr indent="0" marL="0">
              <a:buNone/>
            </a:pPr>
            <a:r>
              <a:rPr lang="en-US" sz="1900" dirty="0">
                <a:solidFill>
                  <a:srgbClr val="FFFFFF"/>
                </a:solidFill>
                <a:latin typeface="Source Serif Pro SemiBold" pitchFamily="34" charset="0"/>
                <a:ea typeface="Source Serif Pro SemiBold" pitchFamily="34" charset="-122"/>
                <a:cs typeface="Source Serif Pro SemiBold" pitchFamily="34" charset="-120"/>
              </a:rPr>
              <a:t>Financial Highlights</a:t>
            </a:r>
            <a:endParaRPr lang="en-US" sz="1900" dirty="0"/>
          </a:p>
        </p:txBody>
      </p:sp>
      <p:sp>
        <p:nvSpPr>
          <p:cNvPr id="21" name="Text 18"/>
          <p:cNvSpPr/>
          <p:nvPr/>
        </p:nvSpPr>
        <p:spPr>
          <a:xfrm>
            <a:off x="1435608" y="5513832"/>
            <a:ext cx="6217920" cy="320040"/>
          </a:xfrm>
          <a:prstGeom prst="rect">
            <a:avLst/>
          </a:prstGeom>
          <a:noFill/>
          <a:ln/>
        </p:spPr>
        <p:txBody>
          <a:bodyPr wrap="square" lIns="0" tIns="0" rIns="0" bIns="0" rtlCol="0" anchor="t"/>
          <a:lstStyle/>
          <a:p>
            <a:pPr indent="0" marL="0">
              <a:buNone/>
            </a:pPr>
            <a:r>
              <a:rPr lang="en-US" sz="1050" dirty="0">
                <a:solidFill>
                  <a:srgbClr val="AEB7C4"/>
                </a:solidFill>
                <a:latin typeface="Poppins" pitchFamily="34" charset="0"/>
                <a:ea typeface="Poppins" pitchFamily="34" charset="-122"/>
                <a:cs typeface="Poppins" pitchFamily="34" charset="-120"/>
              </a:rPr>
              <a:t>Revenue, profitability and cash-generation profile</a:t>
            </a:r>
            <a:endParaRPr lang="en-US" sz="1050" dirty="0"/>
          </a:p>
        </p:txBody>
      </p:sp>
      <p:pic>
        <p:nvPicPr>
          <p:cNvPr id="22" name="Image 1" descr="assets/mobi_logo_black.png">    </p:cNvPr>
          <p:cNvPicPr>
            <a:picLocks noChangeAspect="1"/>
          </p:cNvPicPr>
          <p:nvPr/>
        </p:nvPicPr>
        <p:blipFill>
          <a:blip r:embed="rId2"/>
          <a:stretch>
            <a:fillRect/>
          </a:stretch>
        </p:blipFill>
        <p:spPr>
          <a:xfrm>
            <a:off x="502920" y="5989320"/>
            <a:ext cx="1371600" cy="439341"/>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22F44"/>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22F44"/>
          </a:solidFill>
          <a:ln/>
        </p:spPr>
      </p:sp>
      <p:sp>
        <p:nvSpPr>
          <p:cNvPr id="3" name="Text 1"/>
          <p:cNvSpPr/>
          <p:nvPr/>
        </p:nvSpPr>
        <p:spPr>
          <a:xfrm>
            <a:off x="7071055" y="-457200"/>
            <a:ext cx="4937760" cy="7772400"/>
          </a:xfrm>
          <a:prstGeom prst="rect">
            <a:avLst/>
          </a:prstGeom>
          <a:noFill/>
          <a:ln/>
        </p:spPr>
        <p:txBody>
          <a:bodyPr wrap="square" lIns="0" tIns="0" rIns="0" bIns="0" rtlCol="0" anchor="ctr"/>
          <a:lstStyle/>
          <a:p>
            <a:pPr algn="r" indent="0" marL="0">
              <a:buNone/>
            </a:pPr>
            <a:r>
              <a:rPr lang="en-US" sz="30000" dirty="0">
                <a:solidFill>
                  <a:srgbClr val="2C3B54"/>
                </a:solidFill>
                <a:latin typeface="Source Serif Pro Black" pitchFamily="34" charset="0"/>
                <a:ea typeface="Source Serif Pro Black" pitchFamily="34" charset="-122"/>
                <a:cs typeface="Source Serif Pro Black" pitchFamily="34" charset="-120"/>
              </a:rPr>
              <a:t>01</a:t>
            </a:r>
            <a:endParaRPr lang="en-US" sz="30000" dirty="0"/>
          </a:p>
        </p:txBody>
      </p:sp>
      <p:pic>
        <p:nvPicPr>
          <p:cNvPr id="4" name="Image 0" descr="assets/igc_white.png">    </p:cNvPr>
          <p:cNvPicPr>
            <a:picLocks noChangeAspect="1"/>
          </p:cNvPicPr>
          <p:nvPr/>
        </p:nvPicPr>
        <p:blipFill>
          <a:blip r:embed="rId1"/>
          <a:stretch>
            <a:fillRect/>
          </a:stretch>
        </p:blipFill>
        <p:spPr>
          <a:xfrm>
            <a:off x="11121847" y="310896"/>
            <a:ext cx="566928" cy="490078"/>
          </a:xfrm>
          <a:prstGeom prst="rect">
            <a:avLst/>
          </a:prstGeom>
        </p:spPr>
      </p:pic>
      <p:sp>
        <p:nvSpPr>
          <p:cNvPr id="5" name="Text 2"/>
          <p:cNvSpPr/>
          <p:nvPr/>
        </p:nvSpPr>
        <p:spPr>
          <a:xfrm>
            <a:off x="502920" y="1280160"/>
            <a:ext cx="7315200" cy="274320"/>
          </a:xfrm>
          <a:prstGeom prst="rect">
            <a:avLst/>
          </a:prstGeom>
          <a:noFill/>
          <a:ln/>
        </p:spPr>
        <p:txBody>
          <a:bodyPr wrap="square" rtlCol="0" anchor="ctr"/>
          <a:lstStyle/>
          <a:p>
            <a:pPr indent="0" marL="0">
              <a:buNone/>
            </a:pPr>
            <a:r>
              <a:rPr lang="en-US" sz="1100" spc="300" kern="0" dirty="0">
                <a:solidFill>
                  <a:srgbClr val="F35B1A"/>
                </a:solidFill>
                <a:latin typeface="Poppins SemiBold" pitchFamily="34" charset="0"/>
                <a:ea typeface="Poppins SemiBold" pitchFamily="34" charset="-122"/>
                <a:cs typeface="Poppins SemiBold" pitchFamily="34" charset="-120"/>
              </a:rPr>
              <a:t>EXECUTIVE SUMMARY</a:t>
            </a:r>
            <a:endParaRPr lang="en-US" sz="1100" dirty="0"/>
          </a:p>
        </p:txBody>
      </p:sp>
      <p:sp>
        <p:nvSpPr>
          <p:cNvPr id="6" name="Shape 3"/>
          <p:cNvSpPr/>
          <p:nvPr/>
        </p:nvSpPr>
        <p:spPr>
          <a:xfrm>
            <a:off x="374904" y="2176272"/>
            <a:ext cx="6035040" cy="658368"/>
          </a:xfrm>
          <a:prstGeom prst="roundRect">
            <a:avLst>
              <a:gd name="adj" fmla="val 11111"/>
            </a:avLst>
          </a:prstGeom>
          <a:solidFill>
            <a:srgbClr val="F35B1A"/>
          </a:solidFill>
          <a:ln/>
        </p:spPr>
      </p:sp>
      <p:sp>
        <p:nvSpPr>
          <p:cNvPr id="7" name="Text 4"/>
          <p:cNvSpPr/>
          <p:nvPr/>
        </p:nvSpPr>
        <p:spPr>
          <a:xfrm>
            <a:off x="502920" y="2240280"/>
            <a:ext cx="640080" cy="548640"/>
          </a:xfrm>
          <a:prstGeom prst="rect">
            <a:avLst/>
          </a:prstGeom>
          <a:noFill/>
          <a:ln/>
        </p:spPr>
        <p:txBody>
          <a:bodyPr wrap="square" lIns="0" tIns="0" rIns="0" bIns="0" rtlCol="0" anchor="ctr"/>
          <a:lstStyle/>
          <a:p>
            <a:pPr indent="0" marL="0">
              <a:buNone/>
            </a:pPr>
            <a:r>
              <a:rPr lang="en-US" sz="2200" dirty="0">
                <a:solidFill>
                  <a:srgbClr val="FFFFFF"/>
                </a:solidFill>
                <a:latin typeface="Source Serif Pro Black" pitchFamily="34" charset="0"/>
                <a:ea typeface="Source Serif Pro Black" pitchFamily="34" charset="-122"/>
                <a:cs typeface="Source Serif Pro Black" pitchFamily="34" charset="-120"/>
              </a:rPr>
              <a:t>01</a:t>
            </a:r>
            <a:endParaRPr lang="en-US" sz="2200" dirty="0"/>
          </a:p>
        </p:txBody>
      </p:sp>
      <p:sp>
        <p:nvSpPr>
          <p:cNvPr id="8" name="Text 5"/>
          <p:cNvSpPr/>
          <p:nvPr/>
        </p:nvSpPr>
        <p:spPr>
          <a:xfrm>
            <a:off x="1188720" y="2240280"/>
            <a:ext cx="5120640" cy="548640"/>
          </a:xfrm>
          <a:prstGeom prst="rect">
            <a:avLst/>
          </a:prstGeom>
          <a:noFill/>
          <a:ln/>
        </p:spPr>
        <p:txBody>
          <a:bodyPr wrap="square" lIns="0" tIns="0" rIns="0" bIns="0" rtlCol="0" anchor="ctr"/>
          <a:lstStyle/>
          <a:p>
            <a:pPr indent="0" marL="0">
              <a:buNone/>
            </a:pPr>
            <a:r>
              <a:rPr lang="en-US" sz="2100" dirty="0">
                <a:solidFill>
                  <a:srgbClr val="FFFFFF"/>
                </a:solidFill>
                <a:latin typeface="Source Serif Pro SemiBold" pitchFamily="34" charset="0"/>
                <a:ea typeface="Source Serif Pro SemiBold" pitchFamily="34" charset="-122"/>
                <a:cs typeface="Source Serif Pro SemiBold" pitchFamily="34" charset="-120"/>
              </a:rPr>
              <a:t>Introduction</a:t>
            </a:r>
            <a:endParaRPr lang="en-US" sz="2100" dirty="0"/>
          </a:p>
        </p:txBody>
      </p:sp>
      <p:sp>
        <p:nvSpPr>
          <p:cNvPr id="9" name="Text 6"/>
          <p:cNvSpPr/>
          <p:nvPr/>
        </p:nvSpPr>
        <p:spPr>
          <a:xfrm>
            <a:off x="502920" y="3081528"/>
            <a:ext cx="640080" cy="548640"/>
          </a:xfrm>
          <a:prstGeom prst="rect">
            <a:avLst/>
          </a:prstGeom>
          <a:noFill/>
          <a:ln/>
        </p:spPr>
        <p:txBody>
          <a:bodyPr wrap="square" lIns="0" tIns="0" rIns="0" bIns="0" rtlCol="0" anchor="ctr"/>
          <a:lstStyle/>
          <a:p>
            <a:pPr indent="0" marL="0">
              <a:buNone/>
            </a:pPr>
            <a:r>
              <a:rPr lang="en-US" sz="2200" dirty="0">
                <a:solidFill>
                  <a:srgbClr val="97A0AD"/>
                </a:solidFill>
                <a:latin typeface="Source Serif Pro Black" pitchFamily="34" charset="0"/>
                <a:ea typeface="Source Serif Pro Black" pitchFamily="34" charset="-122"/>
                <a:cs typeface="Source Serif Pro Black" pitchFamily="34" charset="-120"/>
              </a:rPr>
              <a:t>02</a:t>
            </a:r>
            <a:endParaRPr lang="en-US" sz="2200" dirty="0"/>
          </a:p>
        </p:txBody>
      </p:sp>
      <p:sp>
        <p:nvSpPr>
          <p:cNvPr id="10" name="Text 7"/>
          <p:cNvSpPr/>
          <p:nvPr/>
        </p:nvSpPr>
        <p:spPr>
          <a:xfrm>
            <a:off x="1188720" y="3081528"/>
            <a:ext cx="5120640" cy="548640"/>
          </a:xfrm>
          <a:prstGeom prst="rect">
            <a:avLst/>
          </a:prstGeom>
          <a:noFill/>
          <a:ln/>
        </p:spPr>
        <p:txBody>
          <a:bodyPr wrap="square" lIns="0" tIns="0" rIns="0" bIns="0" rtlCol="0" anchor="ctr"/>
          <a:lstStyle/>
          <a:p>
            <a:pPr indent="0" marL="0">
              <a:buNone/>
            </a:pPr>
            <a:r>
              <a:rPr lang="en-US" sz="2100" dirty="0">
                <a:solidFill>
                  <a:srgbClr val="AEB7C4"/>
                </a:solidFill>
                <a:latin typeface="Source Serif Pro" pitchFamily="34" charset="0"/>
                <a:ea typeface="Source Serif Pro" pitchFamily="34" charset="-122"/>
                <a:cs typeface="Source Serif Pro" pitchFamily="34" charset="-120"/>
              </a:rPr>
              <a:t>Investment Thesis</a:t>
            </a:r>
            <a:endParaRPr lang="en-US" sz="2100" dirty="0"/>
          </a:p>
        </p:txBody>
      </p:sp>
      <p:sp>
        <p:nvSpPr>
          <p:cNvPr id="11" name="Text 8"/>
          <p:cNvSpPr/>
          <p:nvPr/>
        </p:nvSpPr>
        <p:spPr>
          <a:xfrm>
            <a:off x="502920" y="3922776"/>
            <a:ext cx="640080" cy="548640"/>
          </a:xfrm>
          <a:prstGeom prst="rect">
            <a:avLst/>
          </a:prstGeom>
          <a:noFill/>
          <a:ln/>
        </p:spPr>
        <p:txBody>
          <a:bodyPr wrap="square" lIns="0" tIns="0" rIns="0" bIns="0" rtlCol="0" anchor="ctr"/>
          <a:lstStyle/>
          <a:p>
            <a:pPr indent="0" marL="0">
              <a:buNone/>
            </a:pPr>
            <a:r>
              <a:rPr lang="en-US" sz="2200" dirty="0">
                <a:solidFill>
                  <a:srgbClr val="97A0AD"/>
                </a:solidFill>
                <a:latin typeface="Source Serif Pro Black" pitchFamily="34" charset="0"/>
                <a:ea typeface="Source Serif Pro Black" pitchFamily="34" charset="-122"/>
                <a:cs typeface="Source Serif Pro Black" pitchFamily="34" charset="-120"/>
              </a:rPr>
              <a:t>03</a:t>
            </a:r>
            <a:endParaRPr lang="en-US" sz="2200" dirty="0"/>
          </a:p>
        </p:txBody>
      </p:sp>
      <p:sp>
        <p:nvSpPr>
          <p:cNvPr id="12" name="Text 9"/>
          <p:cNvSpPr/>
          <p:nvPr/>
        </p:nvSpPr>
        <p:spPr>
          <a:xfrm>
            <a:off x="1188720" y="3922776"/>
            <a:ext cx="5120640" cy="548640"/>
          </a:xfrm>
          <a:prstGeom prst="rect">
            <a:avLst/>
          </a:prstGeom>
          <a:noFill/>
          <a:ln/>
        </p:spPr>
        <p:txBody>
          <a:bodyPr wrap="square" lIns="0" tIns="0" rIns="0" bIns="0" rtlCol="0" anchor="ctr"/>
          <a:lstStyle/>
          <a:p>
            <a:pPr indent="0" marL="0">
              <a:buNone/>
            </a:pPr>
            <a:r>
              <a:rPr lang="en-US" sz="2100" dirty="0">
                <a:solidFill>
                  <a:srgbClr val="AEB7C4"/>
                </a:solidFill>
                <a:latin typeface="Source Serif Pro" pitchFamily="34" charset="0"/>
                <a:ea typeface="Source Serif Pro" pitchFamily="34" charset="-122"/>
                <a:cs typeface="Source Serif Pro" pitchFamily="34" charset="-120"/>
              </a:rPr>
              <a:t>Company Overview</a:t>
            </a:r>
            <a:endParaRPr lang="en-US" sz="2100" dirty="0"/>
          </a:p>
        </p:txBody>
      </p:sp>
      <p:sp>
        <p:nvSpPr>
          <p:cNvPr id="13" name="Text 10"/>
          <p:cNvSpPr/>
          <p:nvPr/>
        </p:nvSpPr>
        <p:spPr>
          <a:xfrm>
            <a:off x="502920" y="4764024"/>
            <a:ext cx="640080" cy="548640"/>
          </a:xfrm>
          <a:prstGeom prst="rect">
            <a:avLst/>
          </a:prstGeom>
          <a:noFill/>
          <a:ln/>
        </p:spPr>
        <p:txBody>
          <a:bodyPr wrap="square" lIns="0" tIns="0" rIns="0" bIns="0" rtlCol="0" anchor="ctr"/>
          <a:lstStyle/>
          <a:p>
            <a:pPr indent="0" marL="0">
              <a:buNone/>
            </a:pPr>
            <a:r>
              <a:rPr lang="en-US" sz="2200" dirty="0">
                <a:solidFill>
                  <a:srgbClr val="97A0AD"/>
                </a:solidFill>
                <a:latin typeface="Source Serif Pro Black" pitchFamily="34" charset="0"/>
                <a:ea typeface="Source Serif Pro Black" pitchFamily="34" charset="-122"/>
                <a:cs typeface="Source Serif Pro Black" pitchFamily="34" charset="-120"/>
              </a:rPr>
              <a:t>04</a:t>
            </a:r>
            <a:endParaRPr lang="en-US" sz="2200" dirty="0"/>
          </a:p>
        </p:txBody>
      </p:sp>
      <p:sp>
        <p:nvSpPr>
          <p:cNvPr id="14" name="Text 11"/>
          <p:cNvSpPr/>
          <p:nvPr/>
        </p:nvSpPr>
        <p:spPr>
          <a:xfrm>
            <a:off x="1188720" y="4764024"/>
            <a:ext cx="5120640" cy="548640"/>
          </a:xfrm>
          <a:prstGeom prst="rect">
            <a:avLst/>
          </a:prstGeom>
          <a:noFill/>
          <a:ln/>
        </p:spPr>
        <p:txBody>
          <a:bodyPr wrap="square" lIns="0" tIns="0" rIns="0" bIns="0" rtlCol="0" anchor="ctr"/>
          <a:lstStyle/>
          <a:p>
            <a:pPr indent="0" marL="0">
              <a:buNone/>
            </a:pPr>
            <a:r>
              <a:rPr lang="en-US" sz="2100" dirty="0">
                <a:solidFill>
                  <a:srgbClr val="AEB7C4"/>
                </a:solidFill>
                <a:latin typeface="Source Serif Pro" pitchFamily="34" charset="0"/>
                <a:ea typeface="Source Serif Pro" pitchFamily="34" charset="-122"/>
                <a:cs typeface="Source Serif Pro" pitchFamily="34" charset="-120"/>
              </a:rPr>
              <a:t>Financial Highlights</a:t>
            </a:r>
            <a:endParaRPr lang="en-US" sz="2100" dirty="0"/>
          </a:p>
        </p:txBody>
      </p:sp>
      <p:pic>
        <p:nvPicPr>
          <p:cNvPr id="15" name="Image 1" descr="assets/mobi_logo_black.png">    </p:cNvPr>
          <p:cNvPicPr>
            <a:picLocks noChangeAspect="1"/>
          </p:cNvPicPr>
          <p:nvPr/>
        </p:nvPicPr>
        <p:blipFill>
          <a:blip r:embed="rId2"/>
          <a:stretch>
            <a:fillRect/>
          </a:stretch>
        </p:blipFill>
        <p:spPr>
          <a:xfrm>
            <a:off x="502920" y="5897880"/>
            <a:ext cx="1554480" cy="49791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assets/igc_navy.png">    </p:cNvPr>
          <p:cNvPicPr>
            <a:picLocks noChangeAspect="1"/>
          </p:cNvPicPr>
          <p:nvPr/>
        </p:nvPicPr>
        <p:blipFill>
          <a:blip r:embed="rId1"/>
          <a:stretch>
            <a:fillRect/>
          </a:stretch>
        </p:blipFill>
        <p:spPr>
          <a:xfrm>
            <a:off x="11121847" y="310896"/>
            <a:ext cx="566928" cy="490078"/>
          </a:xfrm>
          <a:prstGeom prst="rect">
            <a:avLst/>
          </a:prstGeom>
        </p:spPr>
      </p:pic>
      <p:sp>
        <p:nvSpPr>
          <p:cNvPr id="3" name="Text 0"/>
          <p:cNvSpPr/>
          <p:nvPr/>
        </p:nvSpPr>
        <p:spPr>
          <a:xfrm>
            <a:off x="502920" y="384048"/>
            <a:ext cx="7315200" cy="256032"/>
          </a:xfrm>
          <a:prstGeom prst="rect">
            <a:avLst/>
          </a:prstGeom>
          <a:noFill/>
          <a:ln/>
        </p:spPr>
        <p:txBody>
          <a:bodyPr wrap="square" rtlCol="0" anchor="ctr"/>
          <a:lstStyle/>
          <a:p>
            <a:pPr algn="l" indent="0" marL="0">
              <a:buNone/>
            </a:pPr>
            <a:r>
              <a:rPr lang="en-US" sz="1050" spc="200" kern="0" dirty="0">
                <a:solidFill>
                  <a:srgbClr val="F35B1A"/>
                </a:solidFill>
                <a:latin typeface="Poppins SemiBold" pitchFamily="34" charset="0"/>
                <a:ea typeface="Poppins SemiBold" pitchFamily="34" charset="-122"/>
                <a:cs typeface="Poppins SemiBold" pitchFamily="34" charset="-120"/>
              </a:rPr>
              <a:t>INTRODUCTION</a:t>
            </a:r>
            <a:endParaRPr lang="en-US" sz="1050" dirty="0"/>
          </a:p>
        </p:txBody>
      </p:sp>
      <p:sp>
        <p:nvSpPr>
          <p:cNvPr id="4" name="Text 1"/>
          <p:cNvSpPr/>
          <p:nvPr/>
        </p:nvSpPr>
        <p:spPr>
          <a:xfrm>
            <a:off x="502920" y="603504"/>
            <a:ext cx="10408615" cy="640080"/>
          </a:xfrm>
          <a:prstGeom prst="rect">
            <a:avLst/>
          </a:prstGeom>
          <a:noFill/>
          <a:ln/>
        </p:spPr>
        <p:txBody>
          <a:bodyPr wrap="square" rtlCol="0" anchor="t"/>
          <a:lstStyle/>
          <a:p>
            <a:pPr algn="l" indent="0" marL="0">
              <a:buNone/>
            </a:pPr>
            <a:r>
              <a:rPr lang="en-US" sz="2500" dirty="0">
                <a:solidFill>
                  <a:srgbClr val="222F44"/>
                </a:solidFill>
                <a:latin typeface="Source Serif Pro SemiBold" pitchFamily="34" charset="0"/>
                <a:ea typeface="Source Serif Pro SemiBold" pitchFamily="34" charset="-122"/>
                <a:cs typeface="Source Serif Pro SemiBold" pitchFamily="34" charset="-120"/>
              </a:rPr>
              <a:t>Mobi at a glance</a:t>
            </a:r>
            <a:endParaRPr lang="en-US" sz="2500" dirty="0"/>
          </a:p>
        </p:txBody>
      </p:sp>
      <p:sp>
        <p:nvSpPr>
          <p:cNvPr id="5" name="Text 2"/>
          <p:cNvSpPr/>
          <p:nvPr/>
        </p:nvSpPr>
        <p:spPr>
          <a:xfrm>
            <a:off x="502920" y="1225296"/>
            <a:ext cx="10408615" cy="457200"/>
          </a:xfrm>
          <a:prstGeom prst="rect">
            <a:avLst/>
          </a:prstGeom>
          <a:noFill/>
          <a:ln/>
        </p:spPr>
        <p:txBody>
          <a:bodyPr wrap="square" rtlCol="0" anchor="t"/>
          <a:lstStyle/>
          <a:p>
            <a:pPr algn="l" indent="0" marL="0">
              <a:buNone/>
            </a:pPr>
            <a:r>
              <a:rPr lang="en-US" sz="1250" dirty="0">
                <a:solidFill>
                  <a:srgbClr val="6B7686"/>
                </a:solidFill>
                <a:latin typeface="Poppins" pitchFamily="34" charset="0"/>
                <a:ea typeface="Poppins" pitchFamily="34" charset="-122"/>
                <a:cs typeface="Poppins" pitchFamily="34" charset="-120"/>
              </a:rPr>
              <a:t>A leading platform in corporate employee transportation (fretamento), reaching ~BRL 140 Mn of net revenue in 2025</a:t>
            </a:r>
            <a:endParaRPr lang="en-US" sz="1250" dirty="0"/>
          </a:p>
        </p:txBody>
      </p:sp>
      <p:sp>
        <p:nvSpPr>
          <p:cNvPr id="6" name="Text 3"/>
          <p:cNvSpPr/>
          <p:nvPr/>
        </p:nvSpPr>
        <p:spPr>
          <a:xfrm>
            <a:off x="502920" y="6547104"/>
            <a:ext cx="10180015" cy="237744"/>
          </a:xfrm>
          <a:prstGeom prst="rect">
            <a:avLst/>
          </a:prstGeom>
          <a:noFill/>
          <a:ln/>
        </p:spPr>
        <p:txBody>
          <a:bodyPr wrap="square" rtlCol="0" anchor="ctr"/>
          <a:lstStyle/>
          <a:p>
            <a:pPr algn="l" indent="0" marL="0">
              <a:buNone/>
            </a:pPr>
            <a:r>
              <a:rPr lang="en-US" sz="700" dirty="0">
                <a:solidFill>
                  <a:srgbClr val="97A0AD"/>
                </a:solidFill>
                <a:latin typeface="Poppins" pitchFamily="34" charset="0"/>
                <a:ea typeface="Poppins" pitchFamily="34" charset="-122"/>
                <a:cs typeface="Poppins" pitchFamily="34" charset="-120"/>
              </a:rPr>
              <a:t>Source: Company; Jan-2026 fleet register. (1) Owned assets; avg fleet age of 4 years per Company materials vs. ~6 years per chassis manufacture year – to reconcile. (2) Owned assets. (3) To be confirmed with Company.</a:t>
            </a:r>
            <a:endParaRPr lang="en-US" sz="700" dirty="0"/>
          </a:p>
        </p:txBody>
      </p:sp>
      <p:sp>
        <p:nvSpPr>
          <p:cNvPr id="7" name="Text 4"/>
          <p:cNvSpPr/>
          <p:nvPr/>
        </p:nvSpPr>
        <p:spPr>
          <a:xfrm>
            <a:off x="10728655" y="6547104"/>
            <a:ext cx="960120" cy="237744"/>
          </a:xfrm>
          <a:prstGeom prst="rect">
            <a:avLst/>
          </a:prstGeom>
          <a:noFill/>
          <a:ln/>
        </p:spPr>
        <p:txBody>
          <a:bodyPr wrap="square" rtlCol="0" anchor="ctr"/>
          <a:lstStyle/>
          <a:p>
            <a:pPr algn="r" indent="0" marL="0">
              <a:buNone/>
            </a:pPr>
            <a:r>
              <a:rPr lang="en-US" sz="850" dirty="0">
                <a:solidFill>
                  <a:srgbClr val="97A0AD"/>
                </a:solidFill>
                <a:latin typeface="Poppins Medium" pitchFamily="34" charset="0"/>
                <a:ea typeface="Poppins Medium" pitchFamily="34" charset="-122"/>
                <a:cs typeface="Poppins Medium" pitchFamily="34" charset="-120"/>
              </a:rPr>
              <a:t>Confidential   </a:t>
            </a:r>
            <a:pPr algn="r" indent="0" marL="0">
              <a:buNone/>
            </a:pPr>
            <a:r>
              <a:rPr lang="en-US" sz="850" b="1" dirty="0">
                <a:solidFill>
                  <a:srgbClr val="222F44"/>
                </a:solidFill>
                <a:latin typeface="Poppins Medium" pitchFamily="34" charset="0"/>
                <a:ea typeface="Poppins Medium" pitchFamily="34" charset="-122"/>
                <a:cs typeface="Poppins Medium" pitchFamily="34" charset="-120"/>
              </a:rPr>
              <a:t>5</a:t>
            </a:r>
            <a:endParaRPr lang="en-US" sz="850" dirty="0"/>
          </a:p>
        </p:txBody>
      </p:sp>
      <p:sp>
        <p:nvSpPr>
          <p:cNvPr id="8" name="Shape 5"/>
          <p:cNvSpPr/>
          <p:nvPr/>
        </p:nvSpPr>
        <p:spPr>
          <a:xfrm>
            <a:off x="502920" y="1828800"/>
            <a:ext cx="566928" cy="566928"/>
          </a:xfrm>
          <a:prstGeom prst="ellipse">
            <a:avLst/>
          </a:prstGeom>
          <a:solidFill>
            <a:srgbClr val="F5F7F9"/>
          </a:solidFill>
          <a:ln/>
        </p:spPr>
      </p:sp>
      <p:pic>
        <p:nvPicPr>
          <p:cNvPr id="9" name="Image 1" descr="assets/icons/award_orange.png">    </p:cNvPr>
          <p:cNvPicPr>
            <a:picLocks noChangeAspect="1"/>
          </p:cNvPicPr>
          <p:nvPr/>
        </p:nvPicPr>
        <p:blipFill>
          <a:blip r:embed="rId2"/>
          <a:stretch>
            <a:fillRect/>
          </a:stretch>
        </p:blipFill>
        <p:spPr>
          <a:xfrm>
            <a:off x="650321" y="1976201"/>
            <a:ext cx="272125" cy="272125"/>
          </a:xfrm>
          <a:prstGeom prst="rect">
            <a:avLst/>
          </a:prstGeom>
        </p:spPr>
      </p:pic>
      <p:sp>
        <p:nvSpPr>
          <p:cNvPr id="10" name="Text 6"/>
          <p:cNvSpPr/>
          <p:nvPr/>
        </p:nvSpPr>
        <p:spPr>
          <a:xfrm>
            <a:off x="1252728" y="1792224"/>
            <a:ext cx="4480560" cy="292608"/>
          </a:xfrm>
          <a:prstGeom prst="rect">
            <a:avLst/>
          </a:prstGeom>
          <a:noFill/>
          <a:ln/>
        </p:spPr>
        <p:txBody>
          <a:bodyPr wrap="square" lIns="0" tIns="0" rIns="0" bIns="0" rtlCol="0" anchor="t"/>
          <a:lstStyle/>
          <a:p>
            <a:pPr indent="0" marL="0">
              <a:buNone/>
            </a:pPr>
            <a:r>
              <a:rPr lang="en-US" sz="1250" dirty="0">
                <a:solidFill>
                  <a:srgbClr val="222F44"/>
                </a:solidFill>
                <a:latin typeface="Poppins SemiBold" pitchFamily="34" charset="0"/>
                <a:ea typeface="Poppins SemiBold" pitchFamily="34" charset="-122"/>
                <a:cs typeface="Poppins SemiBold" pitchFamily="34" charset="-120"/>
              </a:rPr>
              <a:t>+20 years of experience</a:t>
            </a:r>
            <a:endParaRPr lang="en-US" sz="1250" dirty="0"/>
          </a:p>
        </p:txBody>
      </p:sp>
      <p:sp>
        <p:nvSpPr>
          <p:cNvPr id="11" name="Text 7"/>
          <p:cNvSpPr/>
          <p:nvPr/>
        </p:nvSpPr>
        <p:spPr>
          <a:xfrm>
            <a:off x="1252728" y="2084832"/>
            <a:ext cx="4526280" cy="822960"/>
          </a:xfrm>
          <a:prstGeom prst="rect">
            <a:avLst/>
          </a:prstGeom>
          <a:noFill/>
          <a:ln/>
        </p:spPr>
        <p:txBody>
          <a:bodyPr wrap="square" lIns="0" tIns="0" rIns="0" bIns="0" rtlCol="0" anchor="t"/>
          <a:lstStyle/>
          <a:p>
            <a:pPr indent="0" marL="0">
              <a:lnSpc>
                <a:spcPct val="102000"/>
              </a:lnSpc>
              <a:buNone/>
            </a:pPr>
            <a:r>
              <a:rPr lang="en-US" sz="960" dirty="0">
                <a:solidFill>
                  <a:srgbClr val="6B7686"/>
                </a:solidFill>
                <a:latin typeface="Poppins" pitchFamily="34" charset="0"/>
                <a:ea typeface="Poppins" pitchFamily="34" charset="-122"/>
                <a:cs typeface="Poppins" pitchFamily="34" charset="-120"/>
              </a:rPr>
              <a:t>One of the leading platforms in corporate mobility, serving industrial, agribusiness and consumer-goods clients across the Midwest and Southeast of Brazil</a:t>
            </a:r>
            <a:endParaRPr lang="en-US" sz="960" dirty="0"/>
          </a:p>
        </p:txBody>
      </p:sp>
      <p:sp>
        <p:nvSpPr>
          <p:cNvPr id="12" name="Shape 8"/>
          <p:cNvSpPr/>
          <p:nvPr/>
        </p:nvSpPr>
        <p:spPr>
          <a:xfrm>
            <a:off x="502920" y="2944368"/>
            <a:ext cx="566928" cy="566928"/>
          </a:xfrm>
          <a:prstGeom prst="ellipse">
            <a:avLst/>
          </a:prstGeom>
          <a:solidFill>
            <a:srgbClr val="F5F7F9"/>
          </a:solidFill>
          <a:ln/>
        </p:spPr>
      </p:sp>
      <p:pic>
        <p:nvPicPr>
          <p:cNvPr id="13" name="Image 2" descr="assets/icons/contract_orange.png">    </p:cNvPr>
          <p:cNvPicPr>
            <a:picLocks noChangeAspect="1"/>
          </p:cNvPicPr>
          <p:nvPr/>
        </p:nvPicPr>
        <p:blipFill>
          <a:blip r:embed="rId3"/>
          <a:stretch>
            <a:fillRect/>
          </a:stretch>
        </p:blipFill>
        <p:spPr>
          <a:xfrm>
            <a:off x="650321" y="3091769"/>
            <a:ext cx="272125" cy="272125"/>
          </a:xfrm>
          <a:prstGeom prst="rect">
            <a:avLst/>
          </a:prstGeom>
        </p:spPr>
      </p:pic>
      <p:sp>
        <p:nvSpPr>
          <p:cNvPr id="14" name="Text 9"/>
          <p:cNvSpPr/>
          <p:nvPr/>
        </p:nvSpPr>
        <p:spPr>
          <a:xfrm>
            <a:off x="1252728" y="2907792"/>
            <a:ext cx="4480560" cy="292608"/>
          </a:xfrm>
          <a:prstGeom prst="rect">
            <a:avLst/>
          </a:prstGeom>
          <a:noFill/>
          <a:ln/>
        </p:spPr>
        <p:txBody>
          <a:bodyPr wrap="square" lIns="0" tIns="0" rIns="0" bIns="0" rtlCol="0" anchor="t"/>
          <a:lstStyle/>
          <a:p>
            <a:pPr indent="0" marL="0">
              <a:buNone/>
            </a:pPr>
            <a:r>
              <a:rPr lang="en-US" sz="1250" dirty="0">
                <a:solidFill>
                  <a:srgbClr val="222F44"/>
                </a:solidFill>
                <a:latin typeface="Poppins SemiBold" pitchFamily="34" charset="0"/>
                <a:ea typeface="Poppins SemiBold" pitchFamily="34" charset="-122"/>
                <a:cs typeface="Poppins SemiBold" pitchFamily="34" charset="-120"/>
              </a:rPr>
              <a:t>Recurring, blue-chip portfolio</a:t>
            </a:r>
            <a:endParaRPr lang="en-US" sz="1250" dirty="0"/>
          </a:p>
        </p:txBody>
      </p:sp>
      <p:sp>
        <p:nvSpPr>
          <p:cNvPr id="15" name="Text 10"/>
          <p:cNvSpPr/>
          <p:nvPr/>
        </p:nvSpPr>
        <p:spPr>
          <a:xfrm>
            <a:off x="1252728" y="3200400"/>
            <a:ext cx="4526280" cy="822960"/>
          </a:xfrm>
          <a:prstGeom prst="rect">
            <a:avLst/>
          </a:prstGeom>
          <a:noFill/>
          <a:ln/>
        </p:spPr>
        <p:txBody>
          <a:bodyPr wrap="square" lIns="0" tIns="0" rIns="0" bIns="0" rtlCol="0" anchor="t"/>
          <a:lstStyle/>
          <a:p>
            <a:pPr indent="0" marL="0">
              <a:lnSpc>
                <a:spcPct val="102000"/>
              </a:lnSpc>
              <a:buNone/>
            </a:pPr>
            <a:r>
              <a:rPr lang="en-US" sz="960" dirty="0">
                <a:solidFill>
                  <a:srgbClr val="6B7686"/>
                </a:solidFill>
                <a:latin typeface="Poppins" pitchFamily="34" charset="0"/>
                <a:ea typeface="Poppins" pitchFamily="34" charset="-122"/>
                <a:cs typeface="Poppins" pitchFamily="34" charset="-120"/>
              </a:rPr>
              <a:t>A strong base of long-term recurring-revenue contracts with blue-chip clients, reflecting trusted, long-standing partnerships</a:t>
            </a:r>
            <a:endParaRPr lang="en-US" sz="960" dirty="0"/>
          </a:p>
        </p:txBody>
      </p:sp>
      <p:sp>
        <p:nvSpPr>
          <p:cNvPr id="16" name="Shape 11"/>
          <p:cNvSpPr/>
          <p:nvPr/>
        </p:nvSpPr>
        <p:spPr>
          <a:xfrm>
            <a:off x="502920" y="4059936"/>
            <a:ext cx="566928" cy="566928"/>
          </a:xfrm>
          <a:prstGeom prst="ellipse">
            <a:avLst/>
          </a:prstGeom>
          <a:solidFill>
            <a:srgbClr val="F5F7F9"/>
          </a:solidFill>
          <a:ln/>
        </p:spPr>
      </p:sp>
      <p:pic>
        <p:nvPicPr>
          <p:cNvPr id="17" name="Image 3" descr="assets/icons/truck_orange.png">    </p:cNvPr>
          <p:cNvPicPr>
            <a:picLocks noChangeAspect="1"/>
          </p:cNvPicPr>
          <p:nvPr/>
        </p:nvPicPr>
        <p:blipFill>
          <a:blip r:embed="rId4"/>
          <a:stretch>
            <a:fillRect/>
          </a:stretch>
        </p:blipFill>
        <p:spPr>
          <a:xfrm>
            <a:off x="650321" y="4207337"/>
            <a:ext cx="272125" cy="272125"/>
          </a:xfrm>
          <a:prstGeom prst="rect">
            <a:avLst/>
          </a:prstGeom>
        </p:spPr>
      </p:pic>
      <p:sp>
        <p:nvSpPr>
          <p:cNvPr id="18" name="Text 12"/>
          <p:cNvSpPr/>
          <p:nvPr/>
        </p:nvSpPr>
        <p:spPr>
          <a:xfrm>
            <a:off x="1252728" y="4023360"/>
            <a:ext cx="4480560" cy="292608"/>
          </a:xfrm>
          <a:prstGeom prst="rect">
            <a:avLst/>
          </a:prstGeom>
          <a:noFill/>
          <a:ln/>
        </p:spPr>
        <p:txBody>
          <a:bodyPr wrap="square" lIns="0" tIns="0" rIns="0" bIns="0" rtlCol="0" anchor="t"/>
          <a:lstStyle/>
          <a:p>
            <a:pPr indent="0" marL="0">
              <a:buNone/>
            </a:pPr>
            <a:r>
              <a:rPr lang="en-US" sz="1250" dirty="0">
                <a:solidFill>
                  <a:srgbClr val="222F44"/>
                </a:solidFill>
                <a:latin typeface="Poppins SemiBold" pitchFamily="34" charset="0"/>
                <a:ea typeface="Poppins SemiBold" pitchFamily="34" charset="-122"/>
                <a:cs typeface="Poppins SemiBold" pitchFamily="34" charset="-120"/>
              </a:rPr>
              <a:t>Modern, fully-owned fleet</a:t>
            </a:r>
            <a:endParaRPr lang="en-US" sz="1250" dirty="0"/>
          </a:p>
        </p:txBody>
      </p:sp>
      <p:sp>
        <p:nvSpPr>
          <p:cNvPr id="19" name="Text 13"/>
          <p:cNvSpPr/>
          <p:nvPr/>
        </p:nvSpPr>
        <p:spPr>
          <a:xfrm>
            <a:off x="1252728" y="4315968"/>
            <a:ext cx="4526280" cy="822960"/>
          </a:xfrm>
          <a:prstGeom prst="rect">
            <a:avLst/>
          </a:prstGeom>
          <a:noFill/>
          <a:ln/>
        </p:spPr>
        <p:txBody>
          <a:bodyPr wrap="square" lIns="0" tIns="0" rIns="0" bIns="0" rtlCol="0" anchor="t"/>
          <a:lstStyle/>
          <a:p>
            <a:pPr indent="0" marL="0">
              <a:lnSpc>
                <a:spcPct val="102000"/>
              </a:lnSpc>
              <a:buNone/>
            </a:pPr>
            <a:r>
              <a:rPr lang="en-US" sz="960" dirty="0">
                <a:solidFill>
                  <a:srgbClr val="6B7686"/>
                </a:solidFill>
                <a:latin typeface="Poppins" pitchFamily="34" charset="0"/>
                <a:ea typeface="Poppins" pitchFamily="34" charset="-122"/>
                <a:cs typeface="Poppins" pitchFamily="34" charset="-120"/>
              </a:rPr>
              <a:t>373 vehicles with an average age of ~6 years¹, spanning buses, micro-buses and vans for a flexible, tailored service offering</a:t>
            </a:r>
            <a:endParaRPr lang="en-US" sz="960" dirty="0"/>
          </a:p>
        </p:txBody>
      </p:sp>
      <p:sp>
        <p:nvSpPr>
          <p:cNvPr id="20" name="Shape 14"/>
          <p:cNvSpPr/>
          <p:nvPr/>
        </p:nvSpPr>
        <p:spPr>
          <a:xfrm>
            <a:off x="502920" y="5175504"/>
            <a:ext cx="566928" cy="566928"/>
          </a:xfrm>
          <a:prstGeom prst="ellipse">
            <a:avLst/>
          </a:prstGeom>
          <a:solidFill>
            <a:srgbClr val="F5F7F9"/>
          </a:solidFill>
          <a:ln/>
        </p:spPr>
      </p:sp>
      <p:pic>
        <p:nvPicPr>
          <p:cNvPr id="21" name="Image 4" descr="assets/icons/shield_orange.png">    </p:cNvPr>
          <p:cNvPicPr>
            <a:picLocks noChangeAspect="1"/>
          </p:cNvPicPr>
          <p:nvPr/>
        </p:nvPicPr>
        <p:blipFill>
          <a:blip r:embed="rId5"/>
          <a:stretch>
            <a:fillRect/>
          </a:stretch>
        </p:blipFill>
        <p:spPr>
          <a:xfrm>
            <a:off x="650321" y="5322905"/>
            <a:ext cx="272125" cy="272125"/>
          </a:xfrm>
          <a:prstGeom prst="rect">
            <a:avLst/>
          </a:prstGeom>
        </p:spPr>
      </p:pic>
      <p:sp>
        <p:nvSpPr>
          <p:cNvPr id="22" name="Text 15"/>
          <p:cNvSpPr/>
          <p:nvPr/>
        </p:nvSpPr>
        <p:spPr>
          <a:xfrm>
            <a:off x="1252728" y="5138928"/>
            <a:ext cx="4480560" cy="292608"/>
          </a:xfrm>
          <a:prstGeom prst="rect">
            <a:avLst/>
          </a:prstGeom>
          <a:noFill/>
          <a:ln/>
        </p:spPr>
        <p:txBody>
          <a:bodyPr wrap="square" lIns="0" tIns="0" rIns="0" bIns="0" rtlCol="0" anchor="t"/>
          <a:lstStyle/>
          <a:p>
            <a:pPr indent="0" marL="0">
              <a:buNone/>
            </a:pPr>
            <a:r>
              <a:rPr lang="en-US" sz="1250" dirty="0">
                <a:solidFill>
                  <a:srgbClr val="222F44"/>
                </a:solidFill>
                <a:latin typeface="Poppins SemiBold" pitchFamily="34" charset="0"/>
                <a:ea typeface="Poppins SemiBold" pitchFamily="34" charset="-122"/>
                <a:cs typeface="Poppins SemiBold" pitchFamily="34" charset="-120"/>
              </a:rPr>
              <a:t>Reliable, technology-enabled ops</a:t>
            </a:r>
            <a:endParaRPr lang="en-US" sz="1250" dirty="0"/>
          </a:p>
        </p:txBody>
      </p:sp>
      <p:sp>
        <p:nvSpPr>
          <p:cNvPr id="23" name="Text 16"/>
          <p:cNvSpPr/>
          <p:nvPr/>
        </p:nvSpPr>
        <p:spPr>
          <a:xfrm>
            <a:off x="1252728" y="5431536"/>
            <a:ext cx="4526280" cy="822960"/>
          </a:xfrm>
          <a:prstGeom prst="rect">
            <a:avLst/>
          </a:prstGeom>
          <a:noFill/>
          <a:ln/>
        </p:spPr>
        <p:txBody>
          <a:bodyPr wrap="square" lIns="0" tIns="0" rIns="0" bIns="0" rtlCol="0" anchor="t"/>
          <a:lstStyle/>
          <a:p>
            <a:pPr indent="0" marL="0">
              <a:lnSpc>
                <a:spcPct val="102000"/>
              </a:lnSpc>
              <a:buNone/>
            </a:pPr>
            <a:r>
              <a:rPr lang="en-US" sz="960" dirty="0">
                <a:solidFill>
                  <a:srgbClr val="6B7686"/>
                </a:solidFill>
                <a:latin typeface="Poppins" pitchFamily="34" charset="0"/>
                <a:ea typeface="Poppins" pitchFamily="34" charset="-122"/>
                <a:cs typeface="Poppins" pitchFamily="34" charset="-120"/>
              </a:rPr>
              <a:t>GPS-based telemetry and driver-monitoring systems, with in-house maintenance capabilities [to be confirmed], ensuring high performance</a:t>
            </a:r>
            <a:endParaRPr lang="en-US" sz="960" dirty="0"/>
          </a:p>
        </p:txBody>
      </p:sp>
      <p:sp>
        <p:nvSpPr>
          <p:cNvPr id="24" name="Shape 17"/>
          <p:cNvSpPr/>
          <p:nvPr/>
        </p:nvSpPr>
        <p:spPr>
          <a:xfrm>
            <a:off x="6355080" y="1828800"/>
            <a:ext cx="5333695" cy="2331720"/>
          </a:xfrm>
          <a:prstGeom prst="roundRect">
            <a:avLst>
              <a:gd name="adj" fmla="val 3922"/>
            </a:avLst>
          </a:prstGeom>
          <a:solidFill>
            <a:srgbClr val="FFFFFF"/>
          </a:solidFill>
          <a:ln w="12700">
            <a:solidFill>
              <a:srgbClr val="D9DEE5"/>
            </a:solidFill>
            <a:prstDash val="solid"/>
          </a:ln>
          <a:effectLst>
            <a:outerShdw sx="100000" sy="100000" kx="0" ky="0" algn="bl" rotWithShape="0" blurRad="88900" dist="25400" dir="5400000">
              <a:srgbClr val="9AA6B4">
                <a:alpha val="28000"/>
              </a:srgbClr>
            </a:outerShdw>
          </a:effectLst>
        </p:spPr>
      </p:sp>
      <p:sp>
        <p:nvSpPr>
          <p:cNvPr id="25" name="Text 18"/>
          <p:cNvSpPr/>
          <p:nvPr/>
        </p:nvSpPr>
        <p:spPr>
          <a:xfrm>
            <a:off x="6611112" y="1975104"/>
            <a:ext cx="3870655" cy="274320"/>
          </a:xfrm>
          <a:prstGeom prst="rect">
            <a:avLst/>
          </a:prstGeom>
          <a:noFill/>
          <a:ln/>
        </p:spPr>
        <p:txBody>
          <a:bodyPr wrap="square" lIns="0" tIns="0" rIns="0" bIns="0" rtlCol="0" anchor="ctr"/>
          <a:lstStyle/>
          <a:p>
            <a:pPr indent="0" marL="0">
              <a:buNone/>
            </a:pPr>
            <a:r>
              <a:rPr lang="en-US" sz="1100" dirty="0">
                <a:solidFill>
                  <a:srgbClr val="222F44"/>
                </a:solidFill>
                <a:latin typeface="Poppins SemiBold" pitchFamily="34" charset="0"/>
                <a:ea typeface="Poppins SemiBold" pitchFamily="34" charset="-122"/>
                <a:cs typeface="Poppins SemiBold" pitchFamily="34" charset="-120"/>
              </a:rPr>
              <a:t>Gross revenue by entity — 1Q25 vs. 1Q26</a:t>
            </a:r>
            <a:endParaRPr lang="en-US" sz="1100" dirty="0"/>
          </a:p>
        </p:txBody>
      </p:sp>
      <p:sp>
        <p:nvSpPr>
          <p:cNvPr id="26" name="Text 19"/>
          <p:cNvSpPr/>
          <p:nvPr/>
        </p:nvSpPr>
        <p:spPr>
          <a:xfrm>
            <a:off x="6611112" y="2231136"/>
            <a:ext cx="1828800" cy="219456"/>
          </a:xfrm>
          <a:prstGeom prst="rect">
            <a:avLst/>
          </a:prstGeom>
          <a:noFill/>
          <a:ln/>
        </p:spPr>
        <p:txBody>
          <a:bodyPr wrap="square" lIns="0" tIns="0" rIns="0" bIns="0" rtlCol="0" anchor="ctr"/>
          <a:lstStyle/>
          <a:p>
            <a:pPr indent="0" marL="0">
              <a:buNone/>
            </a:pPr>
            <a:r>
              <a:rPr lang="en-US" sz="850" dirty="0">
                <a:solidFill>
                  <a:srgbClr val="6B7686"/>
                </a:solidFill>
                <a:latin typeface="Poppins" pitchFamily="34" charset="0"/>
                <a:ea typeface="Poppins" pitchFamily="34" charset="-122"/>
                <a:cs typeface="Poppins" pitchFamily="34" charset="-120"/>
              </a:rPr>
              <a:t>BRL Mn</a:t>
            </a:r>
            <a:endParaRPr lang="en-US" sz="850" dirty="0"/>
          </a:p>
        </p:txBody>
      </p:sp>
      <p:sp>
        <p:nvSpPr>
          <p:cNvPr id="27" name="Shape 20"/>
          <p:cNvSpPr/>
          <p:nvPr/>
        </p:nvSpPr>
        <p:spPr>
          <a:xfrm>
            <a:off x="10271455" y="1956816"/>
            <a:ext cx="1188720" cy="384048"/>
          </a:xfrm>
          <a:prstGeom prst="roundRect">
            <a:avLst>
              <a:gd name="adj" fmla="val 14286"/>
            </a:avLst>
          </a:prstGeom>
          <a:solidFill>
            <a:srgbClr val="FDE7DD"/>
          </a:solidFill>
          <a:ln/>
        </p:spPr>
      </p:sp>
      <p:sp>
        <p:nvSpPr>
          <p:cNvPr id="28" name="Text 21"/>
          <p:cNvSpPr/>
          <p:nvPr/>
        </p:nvSpPr>
        <p:spPr>
          <a:xfrm>
            <a:off x="10271455" y="1956816"/>
            <a:ext cx="1188720" cy="384048"/>
          </a:xfrm>
          <a:prstGeom prst="rect">
            <a:avLst/>
          </a:prstGeom>
          <a:noFill/>
          <a:ln/>
        </p:spPr>
        <p:txBody>
          <a:bodyPr wrap="square" lIns="0" tIns="0" rIns="0" bIns="0" rtlCol="0" anchor="ctr"/>
          <a:lstStyle/>
          <a:p>
            <a:pPr algn="ctr" indent="0" marL="0">
              <a:buNone/>
            </a:pPr>
            <a:r>
              <a:rPr lang="en-US" sz="1050" dirty="0">
                <a:solidFill>
                  <a:srgbClr val="C6470F"/>
                </a:solidFill>
                <a:latin typeface="Poppins SemiBold" pitchFamily="34" charset="0"/>
                <a:ea typeface="Poppins SemiBold" pitchFamily="34" charset="-122"/>
                <a:cs typeface="Poppins SemiBold" pitchFamily="34" charset="-120"/>
              </a:rPr>
              <a:t>+41.3% YoY</a:t>
            </a:r>
            <a:endParaRPr lang="en-US" sz="1050" dirty="0"/>
          </a:p>
        </p:txBody>
      </p:sp>
      <p:graphicFrame>
        <p:nvGraphicFramePr>
          <p:cNvPr id="29" name="Chart 0" descr=""/>
          <p:cNvGraphicFramePr/>
          <p:nvPr/>
        </p:nvGraphicFramePr>
        <p:xfrm>
          <a:off x="6492240" y="2468880"/>
          <a:ext cx="5059375" cy="1600200"/>
        </p:xfrm>
        <a:graphic xmlns:a="http://schemas.openxmlformats.org/drawingml/2006/main">
          <a:graphicData uri="http://schemas.openxmlformats.org/drawingml/2006/chart">
            <c:chart xmlns:c="http://schemas.openxmlformats.org/drawingml/2006/chart" r:id="rId6"/>
          </a:graphicData>
        </a:graphic>
      </p:graphicFrame>
      <p:sp>
        <p:nvSpPr>
          <p:cNvPr id="30" name="Text 22"/>
          <p:cNvSpPr/>
          <p:nvPr/>
        </p:nvSpPr>
        <p:spPr>
          <a:xfrm>
            <a:off x="6355080" y="4315968"/>
            <a:ext cx="3657600" cy="237744"/>
          </a:xfrm>
          <a:prstGeom prst="rect">
            <a:avLst/>
          </a:prstGeom>
          <a:noFill/>
          <a:ln/>
        </p:spPr>
        <p:txBody>
          <a:bodyPr wrap="square" rtlCol="0" anchor="ctr"/>
          <a:lstStyle/>
          <a:p>
            <a:pPr indent="0" marL="0">
              <a:buNone/>
            </a:pPr>
            <a:r>
              <a:rPr lang="en-US" sz="1000" spc="200" kern="0" dirty="0">
                <a:solidFill>
                  <a:srgbClr val="F35B1A"/>
                </a:solidFill>
                <a:latin typeface="Poppins SemiBold" pitchFamily="34" charset="0"/>
                <a:ea typeface="Poppins SemiBold" pitchFamily="34" charset="-122"/>
                <a:cs typeface="Poppins SemiBold" pitchFamily="34" charset="-120"/>
              </a:rPr>
              <a:t>HIGHLIGHTS</a:t>
            </a:r>
            <a:endParaRPr lang="en-US" sz="1000" dirty="0"/>
          </a:p>
        </p:txBody>
      </p:sp>
      <p:sp>
        <p:nvSpPr>
          <p:cNvPr id="31" name="Shape 23"/>
          <p:cNvSpPr/>
          <p:nvPr/>
        </p:nvSpPr>
        <p:spPr>
          <a:xfrm>
            <a:off x="6355080" y="4626864"/>
            <a:ext cx="2529688" cy="896112"/>
          </a:xfrm>
          <a:prstGeom prst="roundRect">
            <a:avLst>
              <a:gd name="adj" fmla="val 10204"/>
            </a:avLst>
          </a:prstGeom>
          <a:solidFill>
            <a:srgbClr val="F5F7F9"/>
          </a:solidFill>
          <a:ln w="12700">
            <a:solidFill>
              <a:srgbClr val="D9DEE5"/>
            </a:solidFill>
            <a:prstDash val="solid"/>
          </a:ln>
        </p:spPr>
      </p:sp>
      <p:sp>
        <p:nvSpPr>
          <p:cNvPr id="32" name="Text 24"/>
          <p:cNvSpPr/>
          <p:nvPr/>
        </p:nvSpPr>
        <p:spPr>
          <a:xfrm>
            <a:off x="6556248" y="4736592"/>
            <a:ext cx="2163928" cy="402336"/>
          </a:xfrm>
          <a:prstGeom prst="rect">
            <a:avLst/>
          </a:prstGeom>
          <a:noFill/>
          <a:ln/>
        </p:spPr>
        <p:txBody>
          <a:bodyPr wrap="square" lIns="0" tIns="0" rIns="0" bIns="0" rtlCol="0" anchor="ctr"/>
          <a:lstStyle/>
          <a:p>
            <a:pPr indent="0" marL="0">
              <a:buNone/>
            </a:pPr>
            <a:r>
              <a:rPr lang="en-US" sz="1900" dirty="0">
                <a:solidFill>
                  <a:srgbClr val="F35B1A"/>
                </a:solidFill>
                <a:latin typeface="Source Serif Pro Black" pitchFamily="34" charset="0"/>
                <a:ea typeface="Source Serif Pro Black" pitchFamily="34" charset="-122"/>
                <a:cs typeface="Source Serif Pro Black" pitchFamily="34" charset="-120"/>
              </a:rPr>
              <a:t>~BRL 140 Mn</a:t>
            </a:r>
            <a:endParaRPr lang="en-US" sz="1900" dirty="0"/>
          </a:p>
        </p:txBody>
      </p:sp>
      <p:sp>
        <p:nvSpPr>
          <p:cNvPr id="33" name="Text 25"/>
          <p:cNvSpPr/>
          <p:nvPr/>
        </p:nvSpPr>
        <p:spPr>
          <a:xfrm>
            <a:off x="6556248" y="5138928"/>
            <a:ext cx="2163928" cy="310896"/>
          </a:xfrm>
          <a:prstGeom prst="rect">
            <a:avLst/>
          </a:prstGeom>
          <a:noFill/>
          <a:ln/>
        </p:spPr>
        <p:txBody>
          <a:bodyPr wrap="square" lIns="0" tIns="0" rIns="0" bIns="0" rtlCol="0" anchor="t"/>
          <a:lstStyle/>
          <a:p>
            <a:pPr indent="0" marL="0">
              <a:buNone/>
            </a:pPr>
            <a:r>
              <a:rPr lang="en-US" sz="900" dirty="0">
                <a:solidFill>
                  <a:srgbClr val="6B7686"/>
                </a:solidFill>
                <a:latin typeface="Poppins" pitchFamily="34" charset="0"/>
                <a:ea typeface="Poppins" pitchFamily="34" charset="-122"/>
                <a:cs typeface="Poppins" pitchFamily="34" charset="-120"/>
              </a:rPr>
              <a:t>Net revenue 2025</a:t>
            </a:r>
            <a:endParaRPr lang="en-US" sz="900" dirty="0"/>
          </a:p>
        </p:txBody>
      </p:sp>
      <p:sp>
        <p:nvSpPr>
          <p:cNvPr id="34" name="Shape 26"/>
          <p:cNvSpPr/>
          <p:nvPr/>
        </p:nvSpPr>
        <p:spPr>
          <a:xfrm>
            <a:off x="9159088" y="4626864"/>
            <a:ext cx="2529688" cy="896112"/>
          </a:xfrm>
          <a:prstGeom prst="roundRect">
            <a:avLst>
              <a:gd name="adj" fmla="val 10204"/>
            </a:avLst>
          </a:prstGeom>
          <a:solidFill>
            <a:srgbClr val="F5F7F9"/>
          </a:solidFill>
          <a:ln w="12700">
            <a:solidFill>
              <a:srgbClr val="D9DEE5"/>
            </a:solidFill>
            <a:prstDash val="solid"/>
          </a:ln>
        </p:spPr>
      </p:sp>
      <p:sp>
        <p:nvSpPr>
          <p:cNvPr id="35" name="Text 27"/>
          <p:cNvSpPr/>
          <p:nvPr/>
        </p:nvSpPr>
        <p:spPr>
          <a:xfrm>
            <a:off x="9360256" y="4736592"/>
            <a:ext cx="2163928" cy="402336"/>
          </a:xfrm>
          <a:prstGeom prst="rect">
            <a:avLst/>
          </a:prstGeom>
          <a:noFill/>
          <a:ln/>
        </p:spPr>
        <p:txBody>
          <a:bodyPr wrap="square" lIns="0" tIns="0" rIns="0" bIns="0" rtlCol="0" anchor="ctr"/>
          <a:lstStyle/>
          <a:p>
            <a:pPr indent="0" marL="0">
              <a:buNone/>
            </a:pPr>
            <a:r>
              <a:rPr lang="en-US" sz="1900" dirty="0">
                <a:solidFill>
                  <a:srgbClr val="F35B1A"/>
                </a:solidFill>
                <a:latin typeface="Source Serif Pro Black" pitchFamily="34" charset="0"/>
                <a:ea typeface="Source Serif Pro Black" pitchFamily="34" charset="-122"/>
                <a:cs typeface="Source Serif Pro Black" pitchFamily="34" charset="-120"/>
              </a:rPr>
              <a:t>~BRL 36 Mn</a:t>
            </a:r>
            <a:endParaRPr lang="en-US" sz="1900" dirty="0"/>
          </a:p>
        </p:txBody>
      </p:sp>
      <p:sp>
        <p:nvSpPr>
          <p:cNvPr id="36" name="Text 28"/>
          <p:cNvSpPr/>
          <p:nvPr/>
        </p:nvSpPr>
        <p:spPr>
          <a:xfrm>
            <a:off x="9360256" y="5138928"/>
            <a:ext cx="2163928" cy="310896"/>
          </a:xfrm>
          <a:prstGeom prst="rect">
            <a:avLst/>
          </a:prstGeom>
          <a:noFill/>
          <a:ln/>
        </p:spPr>
        <p:txBody>
          <a:bodyPr wrap="square" lIns="0" tIns="0" rIns="0" bIns="0" rtlCol="0" anchor="t"/>
          <a:lstStyle/>
          <a:p>
            <a:pPr indent="0" marL="0">
              <a:buNone/>
            </a:pPr>
            <a:r>
              <a:rPr lang="en-US" sz="900" dirty="0">
                <a:solidFill>
                  <a:srgbClr val="6B7686"/>
                </a:solidFill>
                <a:latin typeface="Poppins" pitchFamily="34" charset="0"/>
                <a:ea typeface="Poppins" pitchFamily="34" charset="-122"/>
                <a:cs typeface="Poppins" pitchFamily="34" charset="-120"/>
              </a:rPr>
              <a:t>EBITDA 2025 (~26% margin)</a:t>
            </a:r>
            <a:endParaRPr lang="en-US" sz="900" dirty="0"/>
          </a:p>
        </p:txBody>
      </p:sp>
      <p:sp>
        <p:nvSpPr>
          <p:cNvPr id="37" name="Shape 29"/>
          <p:cNvSpPr/>
          <p:nvPr/>
        </p:nvSpPr>
        <p:spPr>
          <a:xfrm>
            <a:off x="6355080" y="5687568"/>
            <a:ext cx="2529688" cy="896112"/>
          </a:xfrm>
          <a:prstGeom prst="roundRect">
            <a:avLst>
              <a:gd name="adj" fmla="val 10204"/>
            </a:avLst>
          </a:prstGeom>
          <a:solidFill>
            <a:srgbClr val="F5F7F9"/>
          </a:solidFill>
          <a:ln w="12700">
            <a:solidFill>
              <a:srgbClr val="D9DEE5"/>
            </a:solidFill>
            <a:prstDash val="solid"/>
          </a:ln>
        </p:spPr>
      </p:sp>
      <p:sp>
        <p:nvSpPr>
          <p:cNvPr id="38" name="Text 30"/>
          <p:cNvSpPr/>
          <p:nvPr/>
        </p:nvSpPr>
        <p:spPr>
          <a:xfrm>
            <a:off x="6556248" y="5797296"/>
            <a:ext cx="2163928" cy="402336"/>
          </a:xfrm>
          <a:prstGeom prst="rect">
            <a:avLst/>
          </a:prstGeom>
          <a:noFill/>
          <a:ln/>
        </p:spPr>
        <p:txBody>
          <a:bodyPr wrap="square" lIns="0" tIns="0" rIns="0" bIns="0" rtlCol="0" anchor="ctr"/>
          <a:lstStyle/>
          <a:p>
            <a:pPr indent="0" marL="0">
              <a:buNone/>
            </a:pPr>
            <a:r>
              <a:rPr lang="en-US" sz="1900" dirty="0">
                <a:solidFill>
                  <a:srgbClr val="F35B1A"/>
                </a:solidFill>
                <a:latin typeface="Source Serif Pro Black" pitchFamily="34" charset="0"/>
                <a:ea typeface="Source Serif Pro Black" pitchFamily="34" charset="-122"/>
                <a:cs typeface="Source Serif Pro Black" pitchFamily="34" charset="-120"/>
              </a:rPr>
              <a:t>~BRL 198 Mn</a:t>
            </a:r>
            <a:endParaRPr lang="en-US" sz="1900" dirty="0"/>
          </a:p>
        </p:txBody>
      </p:sp>
      <p:sp>
        <p:nvSpPr>
          <p:cNvPr id="39" name="Text 31"/>
          <p:cNvSpPr/>
          <p:nvPr/>
        </p:nvSpPr>
        <p:spPr>
          <a:xfrm>
            <a:off x="6556248" y="6199632"/>
            <a:ext cx="2163928" cy="310896"/>
          </a:xfrm>
          <a:prstGeom prst="rect">
            <a:avLst/>
          </a:prstGeom>
          <a:noFill/>
          <a:ln/>
        </p:spPr>
        <p:txBody>
          <a:bodyPr wrap="square" lIns="0" tIns="0" rIns="0" bIns="0" rtlCol="0" anchor="t"/>
          <a:lstStyle/>
          <a:p>
            <a:pPr indent="0" marL="0">
              <a:buNone/>
            </a:pPr>
            <a:r>
              <a:rPr lang="en-US" sz="900" dirty="0">
                <a:solidFill>
                  <a:srgbClr val="6B7686"/>
                </a:solidFill>
                <a:latin typeface="Poppins" pitchFamily="34" charset="0"/>
                <a:ea typeface="Poppins" pitchFamily="34" charset="-122"/>
                <a:cs typeface="Poppins" pitchFamily="34" charset="-120"/>
              </a:rPr>
              <a:t>Fleet value²</a:t>
            </a:r>
            <a:endParaRPr lang="en-US" sz="900" dirty="0"/>
          </a:p>
        </p:txBody>
      </p:sp>
      <p:sp>
        <p:nvSpPr>
          <p:cNvPr id="40" name="Shape 32"/>
          <p:cNvSpPr/>
          <p:nvPr/>
        </p:nvSpPr>
        <p:spPr>
          <a:xfrm>
            <a:off x="9159088" y="5687568"/>
            <a:ext cx="2529688" cy="896112"/>
          </a:xfrm>
          <a:prstGeom prst="roundRect">
            <a:avLst>
              <a:gd name="adj" fmla="val 10204"/>
            </a:avLst>
          </a:prstGeom>
          <a:solidFill>
            <a:srgbClr val="F5F7F9"/>
          </a:solidFill>
          <a:ln w="12700">
            <a:solidFill>
              <a:srgbClr val="D9DEE5"/>
            </a:solidFill>
            <a:prstDash val="solid"/>
          </a:ln>
        </p:spPr>
      </p:sp>
      <p:sp>
        <p:nvSpPr>
          <p:cNvPr id="41" name="Text 33"/>
          <p:cNvSpPr/>
          <p:nvPr/>
        </p:nvSpPr>
        <p:spPr>
          <a:xfrm>
            <a:off x="9360256" y="5797296"/>
            <a:ext cx="2163928" cy="402336"/>
          </a:xfrm>
          <a:prstGeom prst="rect">
            <a:avLst/>
          </a:prstGeom>
          <a:noFill/>
          <a:ln/>
        </p:spPr>
        <p:txBody>
          <a:bodyPr wrap="square" lIns="0" tIns="0" rIns="0" bIns="0" rtlCol="0" anchor="ctr"/>
          <a:lstStyle/>
          <a:p>
            <a:pPr indent="0" marL="0">
              <a:buNone/>
            </a:pPr>
            <a:r>
              <a:rPr lang="en-US" sz="1900" dirty="0">
                <a:solidFill>
                  <a:srgbClr val="F35B1A"/>
                </a:solidFill>
                <a:latin typeface="Source Serif Pro Black" pitchFamily="34" charset="0"/>
                <a:ea typeface="Source Serif Pro Black" pitchFamily="34" charset="-122"/>
                <a:cs typeface="Source Serif Pro Black" pitchFamily="34" charset="-120"/>
              </a:rPr>
              <a:t>373</a:t>
            </a:r>
            <a:endParaRPr lang="en-US" sz="1900" dirty="0"/>
          </a:p>
        </p:txBody>
      </p:sp>
      <p:sp>
        <p:nvSpPr>
          <p:cNvPr id="42" name="Text 34"/>
          <p:cNvSpPr/>
          <p:nvPr/>
        </p:nvSpPr>
        <p:spPr>
          <a:xfrm>
            <a:off x="9360256" y="6199632"/>
            <a:ext cx="2163928" cy="310896"/>
          </a:xfrm>
          <a:prstGeom prst="rect">
            <a:avLst/>
          </a:prstGeom>
          <a:noFill/>
          <a:ln/>
        </p:spPr>
        <p:txBody>
          <a:bodyPr wrap="square" lIns="0" tIns="0" rIns="0" bIns="0" rtlCol="0" anchor="t"/>
          <a:lstStyle/>
          <a:p>
            <a:pPr indent="0" marL="0">
              <a:buNone/>
            </a:pPr>
            <a:r>
              <a:rPr lang="en-US" sz="900" dirty="0">
                <a:solidFill>
                  <a:srgbClr val="6B7686"/>
                </a:solidFill>
                <a:latin typeface="Poppins" pitchFamily="34" charset="0"/>
                <a:ea typeface="Poppins" pitchFamily="34" charset="-122"/>
                <a:cs typeface="Poppins" pitchFamily="34" charset="-120"/>
              </a:rPr>
              <a:t>Vehicles · 100% owned</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22F44"/>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22F44"/>
          </a:solidFill>
          <a:ln/>
        </p:spPr>
      </p:sp>
      <p:sp>
        <p:nvSpPr>
          <p:cNvPr id="3" name="Text 1"/>
          <p:cNvSpPr/>
          <p:nvPr/>
        </p:nvSpPr>
        <p:spPr>
          <a:xfrm>
            <a:off x="7071055" y="-457200"/>
            <a:ext cx="4937760" cy="7772400"/>
          </a:xfrm>
          <a:prstGeom prst="rect">
            <a:avLst/>
          </a:prstGeom>
          <a:noFill/>
          <a:ln/>
        </p:spPr>
        <p:txBody>
          <a:bodyPr wrap="square" lIns="0" tIns="0" rIns="0" bIns="0" rtlCol="0" anchor="ctr"/>
          <a:lstStyle/>
          <a:p>
            <a:pPr algn="r" indent="0" marL="0">
              <a:buNone/>
            </a:pPr>
            <a:r>
              <a:rPr lang="en-US" sz="30000" dirty="0">
                <a:solidFill>
                  <a:srgbClr val="2C3B54"/>
                </a:solidFill>
                <a:latin typeface="Source Serif Pro Black" pitchFamily="34" charset="0"/>
                <a:ea typeface="Source Serif Pro Black" pitchFamily="34" charset="-122"/>
                <a:cs typeface="Source Serif Pro Black" pitchFamily="34" charset="-120"/>
              </a:rPr>
              <a:t>02</a:t>
            </a:r>
            <a:endParaRPr lang="en-US" sz="30000" dirty="0"/>
          </a:p>
        </p:txBody>
      </p:sp>
      <p:pic>
        <p:nvPicPr>
          <p:cNvPr id="4" name="Image 0" descr="assets/igc_white.png">    </p:cNvPr>
          <p:cNvPicPr>
            <a:picLocks noChangeAspect="1"/>
          </p:cNvPicPr>
          <p:nvPr/>
        </p:nvPicPr>
        <p:blipFill>
          <a:blip r:embed="rId1"/>
          <a:stretch>
            <a:fillRect/>
          </a:stretch>
        </p:blipFill>
        <p:spPr>
          <a:xfrm>
            <a:off x="11121847" y="310896"/>
            <a:ext cx="566928" cy="490078"/>
          </a:xfrm>
          <a:prstGeom prst="rect">
            <a:avLst/>
          </a:prstGeom>
        </p:spPr>
      </p:pic>
      <p:sp>
        <p:nvSpPr>
          <p:cNvPr id="5" name="Text 2"/>
          <p:cNvSpPr/>
          <p:nvPr/>
        </p:nvSpPr>
        <p:spPr>
          <a:xfrm>
            <a:off x="502920" y="1280160"/>
            <a:ext cx="7315200" cy="274320"/>
          </a:xfrm>
          <a:prstGeom prst="rect">
            <a:avLst/>
          </a:prstGeom>
          <a:noFill/>
          <a:ln/>
        </p:spPr>
        <p:txBody>
          <a:bodyPr wrap="square" rtlCol="0" anchor="ctr"/>
          <a:lstStyle/>
          <a:p>
            <a:pPr indent="0" marL="0">
              <a:buNone/>
            </a:pPr>
            <a:r>
              <a:rPr lang="en-US" sz="1100" spc="300" kern="0" dirty="0">
                <a:solidFill>
                  <a:srgbClr val="F35B1A"/>
                </a:solidFill>
                <a:latin typeface="Poppins SemiBold" pitchFamily="34" charset="0"/>
                <a:ea typeface="Poppins SemiBold" pitchFamily="34" charset="-122"/>
                <a:cs typeface="Poppins SemiBold" pitchFamily="34" charset="-120"/>
              </a:rPr>
              <a:t>EXECUTIVE SUMMARY</a:t>
            </a:r>
            <a:endParaRPr lang="en-US" sz="1100" dirty="0"/>
          </a:p>
        </p:txBody>
      </p:sp>
      <p:sp>
        <p:nvSpPr>
          <p:cNvPr id="6" name="Text 3"/>
          <p:cNvSpPr/>
          <p:nvPr/>
        </p:nvSpPr>
        <p:spPr>
          <a:xfrm>
            <a:off x="502920" y="2240280"/>
            <a:ext cx="640080" cy="548640"/>
          </a:xfrm>
          <a:prstGeom prst="rect">
            <a:avLst/>
          </a:prstGeom>
          <a:noFill/>
          <a:ln/>
        </p:spPr>
        <p:txBody>
          <a:bodyPr wrap="square" lIns="0" tIns="0" rIns="0" bIns="0" rtlCol="0" anchor="ctr"/>
          <a:lstStyle/>
          <a:p>
            <a:pPr indent="0" marL="0">
              <a:buNone/>
            </a:pPr>
            <a:r>
              <a:rPr lang="en-US" sz="2200" dirty="0">
                <a:solidFill>
                  <a:srgbClr val="97A0AD"/>
                </a:solidFill>
                <a:latin typeface="Source Serif Pro Black" pitchFamily="34" charset="0"/>
                <a:ea typeface="Source Serif Pro Black" pitchFamily="34" charset="-122"/>
                <a:cs typeface="Source Serif Pro Black" pitchFamily="34" charset="-120"/>
              </a:rPr>
              <a:t>01</a:t>
            </a:r>
            <a:endParaRPr lang="en-US" sz="2200" dirty="0"/>
          </a:p>
        </p:txBody>
      </p:sp>
      <p:sp>
        <p:nvSpPr>
          <p:cNvPr id="7" name="Text 4"/>
          <p:cNvSpPr/>
          <p:nvPr/>
        </p:nvSpPr>
        <p:spPr>
          <a:xfrm>
            <a:off x="1188720" y="2240280"/>
            <a:ext cx="5120640" cy="548640"/>
          </a:xfrm>
          <a:prstGeom prst="rect">
            <a:avLst/>
          </a:prstGeom>
          <a:noFill/>
          <a:ln/>
        </p:spPr>
        <p:txBody>
          <a:bodyPr wrap="square" lIns="0" tIns="0" rIns="0" bIns="0" rtlCol="0" anchor="ctr"/>
          <a:lstStyle/>
          <a:p>
            <a:pPr indent="0" marL="0">
              <a:buNone/>
            </a:pPr>
            <a:r>
              <a:rPr lang="en-US" sz="2100" dirty="0">
                <a:solidFill>
                  <a:srgbClr val="AEB7C4"/>
                </a:solidFill>
                <a:latin typeface="Source Serif Pro" pitchFamily="34" charset="0"/>
                <a:ea typeface="Source Serif Pro" pitchFamily="34" charset="-122"/>
                <a:cs typeface="Source Serif Pro" pitchFamily="34" charset="-120"/>
              </a:rPr>
              <a:t>Introduction</a:t>
            </a:r>
            <a:endParaRPr lang="en-US" sz="2100" dirty="0"/>
          </a:p>
        </p:txBody>
      </p:sp>
      <p:sp>
        <p:nvSpPr>
          <p:cNvPr id="8" name="Shape 5"/>
          <p:cNvSpPr/>
          <p:nvPr/>
        </p:nvSpPr>
        <p:spPr>
          <a:xfrm>
            <a:off x="374904" y="3017520"/>
            <a:ext cx="6035040" cy="658368"/>
          </a:xfrm>
          <a:prstGeom prst="roundRect">
            <a:avLst>
              <a:gd name="adj" fmla="val 11111"/>
            </a:avLst>
          </a:prstGeom>
          <a:solidFill>
            <a:srgbClr val="F35B1A"/>
          </a:solidFill>
          <a:ln/>
        </p:spPr>
      </p:sp>
      <p:sp>
        <p:nvSpPr>
          <p:cNvPr id="9" name="Text 6"/>
          <p:cNvSpPr/>
          <p:nvPr/>
        </p:nvSpPr>
        <p:spPr>
          <a:xfrm>
            <a:off x="502920" y="3081528"/>
            <a:ext cx="640080" cy="548640"/>
          </a:xfrm>
          <a:prstGeom prst="rect">
            <a:avLst/>
          </a:prstGeom>
          <a:noFill/>
          <a:ln/>
        </p:spPr>
        <p:txBody>
          <a:bodyPr wrap="square" lIns="0" tIns="0" rIns="0" bIns="0" rtlCol="0" anchor="ctr"/>
          <a:lstStyle/>
          <a:p>
            <a:pPr indent="0" marL="0">
              <a:buNone/>
            </a:pPr>
            <a:r>
              <a:rPr lang="en-US" sz="2200" dirty="0">
                <a:solidFill>
                  <a:srgbClr val="FFFFFF"/>
                </a:solidFill>
                <a:latin typeface="Source Serif Pro Black" pitchFamily="34" charset="0"/>
                <a:ea typeface="Source Serif Pro Black" pitchFamily="34" charset="-122"/>
                <a:cs typeface="Source Serif Pro Black" pitchFamily="34" charset="-120"/>
              </a:rPr>
              <a:t>02</a:t>
            </a:r>
            <a:endParaRPr lang="en-US" sz="2200" dirty="0"/>
          </a:p>
        </p:txBody>
      </p:sp>
      <p:sp>
        <p:nvSpPr>
          <p:cNvPr id="10" name="Text 7"/>
          <p:cNvSpPr/>
          <p:nvPr/>
        </p:nvSpPr>
        <p:spPr>
          <a:xfrm>
            <a:off x="1188720" y="3081528"/>
            <a:ext cx="5120640" cy="548640"/>
          </a:xfrm>
          <a:prstGeom prst="rect">
            <a:avLst/>
          </a:prstGeom>
          <a:noFill/>
          <a:ln/>
        </p:spPr>
        <p:txBody>
          <a:bodyPr wrap="square" lIns="0" tIns="0" rIns="0" bIns="0" rtlCol="0" anchor="ctr"/>
          <a:lstStyle/>
          <a:p>
            <a:pPr indent="0" marL="0">
              <a:buNone/>
            </a:pPr>
            <a:r>
              <a:rPr lang="en-US" sz="2100" dirty="0">
                <a:solidFill>
                  <a:srgbClr val="FFFFFF"/>
                </a:solidFill>
                <a:latin typeface="Source Serif Pro SemiBold" pitchFamily="34" charset="0"/>
                <a:ea typeface="Source Serif Pro SemiBold" pitchFamily="34" charset="-122"/>
                <a:cs typeface="Source Serif Pro SemiBold" pitchFamily="34" charset="-120"/>
              </a:rPr>
              <a:t>Investment Thesis</a:t>
            </a:r>
            <a:endParaRPr lang="en-US" sz="2100" dirty="0"/>
          </a:p>
        </p:txBody>
      </p:sp>
      <p:sp>
        <p:nvSpPr>
          <p:cNvPr id="11" name="Text 8"/>
          <p:cNvSpPr/>
          <p:nvPr/>
        </p:nvSpPr>
        <p:spPr>
          <a:xfrm>
            <a:off x="502920" y="3922776"/>
            <a:ext cx="640080" cy="548640"/>
          </a:xfrm>
          <a:prstGeom prst="rect">
            <a:avLst/>
          </a:prstGeom>
          <a:noFill/>
          <a:ln/>
        </p:spPr>
        <p:txBody>
          <a:bodyPr wrap="square" lIns="0" tIns="0" rIns="0" bIns="0" rtlCol="0" anchor="ctr"/>
          <a:lstStyle/>
          <a:p>
            <a:pPr indent="0" marL="0">
              <a:buNone/>
            </a:pPr>
            <a:r>
              <a:rPr lang="en-US" sz="2200" dirty="0">
                <a:solidFill>
                  <a:srgbClr val="97A0AD"/>
                </a:solidFill>
                <a:latin typeface="Source Serif Pro Black" pitchFamily="34" charset="0"/>
                <a:ea typeface="Source Serif Pro Black" pitchFamily="34" charset="-122"/>
                <a:cs typeface="Source Serif Pro Black" pitchFamily="34" charset="-120"/>
              </a:rPr>
              <a:t>03</a:t>
            </a:r>
            <a:endParaRPr lang="en-US" sz="2200" dirty="0"/>
          </a:p>
        </p:txBody>
      </p:sp>
      <p:sp>
        <p:nvSpPr>
          <p:cNvPr id="12" name="Text 9"/>
          <p:cNvSpPr/>
          <p:nvPr/>
        </p:nvSpPr>
        <p:spPr>
          <a:xfrm>
            <a:off x="1188720" y="3922776"/>
            <a:ext cx="5120640" cy="548640"/>
          </a:xfrm>
          <a:prstGeom prst="rect">
            <a:avLst/>
          </a:prstGeom>
          <a:noFill/>
          <a:ln/>
        </p:spPr>
        <p:txBody>
          <a:bodyPr wrap="square" lIns="0" tIns="0" rIns="0" bIns="0" rtlCol="0" anchor="ctr"/>
          <a:lstStyle/>
          <a:p>
            <a:pPr indent="0" marL="0">
              <a:buNone/>
            </a:pPr>
            <a:r>
              <a:rPr lang="en-US" sz="2100" dirty="0">
                <a:solidFill>
                  <a:srgbClr val="AEB7C4"/>
                </a:solidFill>
                <a:latin typeface="Source Serif Pro" pitchFamily="34" charset="0"/>
                <a:ea typeface="Source Serif Pro" pitchFamily="34" charset="-122"/>
                <a:cs typeface="Source Serif Pro" pitchFamily="34" charset="-120"/>
              </a:rPr>
              <a:t>Company Overview</a:t>
            </a:r>
            <a:endParaRPr lang="en-US" sz="2100" dirty="0"/>
          </a:p>
        </p:txBody>
      </p:sp>
      <p:sp>
        <p:nvSpPr>
          <p:cNvPr id="13" name="Text 10"/>
          <p:cNvSpPr/>
          <p:nvPr/>
        </p:nvSpPr>
        <p:spPr>
          <a:xfrm>
            <a:off x="502920" y="4764024"/>
            <a:ext cx="640080" cy="548640"/>
          </a:xfrm>
          <a:prstGeom prst="rect">
            <a:avLst/>
          </a:prstGeom>
          <a:noFill/>
          <a:ln/>
        </p:spPr>
        <p:txBody>
          <a:bodyPr wrap="square" lIns="0" tIns="0" rIns="0" bIns="0" rtlCol="0" anchor="ctr"/>
          <a:lstStyle/>
          <a:p>
            <a:pPr indent="0" marL="0">
              <a:buNone/>
            </a:pPr>
            <a:r>
              <a:rPr lang="en-US" sz="2200" dirty="0">
                <a:solidFill>
                  <a:srgbClr val="97A0AD"/>
                </a:solidFill>
                <a:latin typeface="Source Serif Pro Black" pitchFamily="34" charset="0"/>
                <a:ea typeface="Source Serif Pro Black" pitchFamily="34" charset="-122"/>
                <a:cs typeface="Source Serif Pro Black" pitchFamily="34" charset="-120"/>
              </a:rPr>
              <a:t>04</a:t>
            </a:r>
            <a:endParaRPr lang="en-US" sz="2200" dirty="0"/>
          </a:p>
        </p:txBody>
      </p:sp>
      <p:sp>
        <p:nvSpPr>
          <p:cNvPr id="14" name="Text 11"/>
          <p:cNvSpPr/>
          <p:nvPr/>
        </p:nvSpPr>
        <p:spPr>
          <a:xfrm>
            <a:off x="1188720" y="4764024"/>
            <a:ext cx="5120640" cy="548640"/>
          </a:xfrm>
          <a:prstGeom prst="rect">
            <a:avLst/>
          </a:prstGeom>
          <a:noFill/>
          <a:ln/>
        </p:spPr>
        <p:txBody>
          <a:bodyPr wrap="square" lIns="0" tIns="0" rIns="0" bIns="0" rtlCol="0" anchor="ctr"/>
          <a:lstStyle/>
          <a:p>
            <a:pPr indent="0" marL="0">
              <a:buNone/>
            </a:pPr>
            <a:r>
              <a:rPr lang="en-US" sz="2100" dirty="0">
                <a:solidFill>
                  <a:srgbClr val="AEB7C4"/>
                </a:solidFill>
                <a:latin typeface="Source Serif Pro" pitchFamily="34" charset="0"/>
                <a:ea typeface="Source Serif Pro" pitchFamily="34" charset="-122"/>
                <a:cs typeface="Source Serif Pro" pitchFamily="34" charset="-120"/>
              </a:rPr>
              <a:t>Financial Highlights</a:t>
            </a:r>
            <a:endParaRPr lang="en-US" sz="2100" dirty="0"/>
          </a:p>
        </p:txBody>
      </p:sp>
      <p:pic>
        <p:nvPicPr>
          <p:cNvPr id="15" name="Image 1" descr="assets/mobi_logo_black.png">    </p:cNvPr>
          <p:cNvPicPr>
            <a:picLocks noChangeAspect="1"/>
          </p:cNvPicPr>
          <p:nvPr/>
        </p:nvPicPr>
        <p:blipFill>
          <a:blip r:embed="rId2"/>
          <a:stretch>
            <a:fillRect/>
          </a:stretch>
        </p:blipFill>
        <p:spPr>
          <a:xfrm>
            <a:off x="502920" y="5897880"/>
            <a:ext cx="1554480" cy="49791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assets/igc_navy.png">    </p:cNvPr>
          <p:cNvPicPr>
            <a:picLocks noChangeAspect="1"/>
          </p:cNvPicPr>
          <p:nvPr/>
        </p:nvPicPr>
        <p:blipFill>
          <a:blip r:embed="rId1"/>
          <a:stretch>
            <a:fillRect/>
          </a:stretch>
        </p:blipFill>
        <p:spPr>
          <a:xfrm>
            <a:off x="11121847" y="310896"/>
            <a:ext cx="566928" cy="490078"/>
          </a:xfrm>
          <a:prstGeom prst="rect">
            <a:avLst/>
          </a:prstGeom>
        </p:spPr>
      </p:pic>
      <p:sp>
        <p:nvSpPr>
          <p:cNvPr id="3" name="Text 0"/>
          <p:cNvSpPr/>
          <p:nvPr/>
        </p:nvSpPr>
        <p:spPr>
          <a:xfrm>
            <a:off x="502920" y="384048"/>
            <a:ext cx="7315200" cy="256032"/>
          </a:xfrm>
          <a:prstGeom prst="rect">
            <a:avLst/>
          </a:prstGeom>
          <a:noFill/>
          <a:ln/>
        </p:spPr>
        <p:txBody>
          <a:bodyPr wrap="square" rtlCol="0" anchor="ctr"/>
          <a:lstStyle/>
          <a:p>
            <a:pPr algn="l" indent="0" marL="0">
              <a:buNone/>
            </a:pPr>
            <a:r>
              <a:rPr lang="en-US" sz="1050" spc="200" kern="0" dirty="0">
                <a:solidFill>
                  <a:srgbClr val="F35B1A"/>
                </a:solidFill>
                <a:latin typeface="Poppins SemiBold" pitchFamily="34" charset="0"/>
                <a:ea typeface="Poppins SemiBold" pitchFamily="34" charset="-122"/>
                <a:cs typeface="Poppins SemiBold" pitchFamily="34" charset="-120"/>
              </a:rPr>
              <a:t>INVESTMENT THESIS</a:t>
            </a:r>
            <a:endParaRPr lang="en-US" sz="1050" dirty="0"/>
          </a:p>
        </p:txBody>
      </p:sp>
      <p:sp>
        <p:nvSpPr>
          <p:cNvPr id="4" name="Text 1"/>
          <p:cNvSpPr/>
          <p:nvPr/>
        </p:nvSpPr>
        <p:spPr>
          <a:xfrm>
            <a:off x="502920" y="603504"/>
            <a:ext cx="10408615" cy="640080"/>
          </a:xfrm>
          <a:prstGeom prst="rect">
            <a:avLst/>
          </a:prstGeom>
          <a:noFill/>
          <a:ln/>
        </p:spPr>
        <p:txBody>
          <a:bodyPr wrap="square" rtlCol="0" anchor="t"/>
          <a:lstStyle/>
          <a:p>
            <a:pPr algn="l" indent="0" marL="0">
              <a:buNone/>
            </a:pPr>
            <a:r>
              <a:rPr lang="en-US" sz="2500" dirty="0">
                <a:solidFill>
                  <a:srgbClr val="222F44"/>
                </a:solidFill>
                <a:latin typeface="Source Serif Pro SemiBold" pitchFamily="34" charset="0"/>
                <a:ea typeface="Source Serif Pro SemiBold" pitchFamily="34" charset="-122"/>
                <a:cs typeface="Source Serif Pro SemiBold" pitchFamily="34" charset="-120"/>
              </a:rPr>
              <a:t>Mobi is well positioned for continued growth</a:t>
            </a:r>
            <a:endParaRPr lang="en-US" sz="2500" dirty="0"/>
          </a:p>
        </p:txBody>
      </p:sp>
      <p:sp>
        <p:nvSpPr>
          <p:cNvPr id="5" name="Text 2"/>
          <p:cNvSpPr/>
          <p:nvPr/>
        </p:nvSpPr>
        <p:spPr>
          <a:xfrm>
            <a:off x="502920" y="1225296"/>
            <a:ext cx="10408615" cy="457200"/>
          </a:xfrm>
          <a:prstGeom prst="rect">
            <a:avLst/>
          </a:prstGeom>
          <a:noFill/>
          <a:ln/>
        </p:spPr>
        <p:txBody>
          <a:bodyPr wrap="square" rtlCol="0" anchor="t"/>
          <a:lstStyle/>
          <a:p>
            <a:pPr algn="l" indent="0" marL="0">
              <a:buNone/>
            </a:pPr>
            <a:r>
              <a:rPr lang="en-US" sz="1250" dirty="0">
                <a:solidFill>
                  <a:srgbClr val="6B7686"/>
                </a:solidFill>
                <a:latin typeface="Poppins" pitchFamily="34" charset="0"/>
                <a:ea typeface="Poppins" pitchFamily="34" charset="-122"/>
                <a:cs typeface="Poppins" pitchFamily="34" charset="-120"/>
              </a:rPr>
              <a:t>A resilient, contracted business model supported by strong structural value drivers</a:t>
            </a:r>
            <a:endParaRPr lang="en-US" sz="1250" dirty="0"/>
          </a:p>
        </p:txBody>
      </p:sp>
      <p:sp>
        <p:nvSpPr>
          <p:cNvPr id="6" name="Text 3"/>
          <p:cNvSpPr/>
          <p:nvPr/>
        </p:nvSpPr>
        <p:spPr>
          <a:xfrm>
            <a:off x="502920" y="6547104"/>
            <a:ext cx="10180015" cy="237744"/>
          </a:xfrm>
          <a:prstGeom prst="rect">
            <a:avLst/>
          </a:prstGeom>
          <a:noFill/>
          <a:ln/>
        </p:spPr>
        <p:txBody>
          <a:bodyPr wrap="square" rtlCol="0" anchor="ctr"/>
          <a:lstStyle/>
          <a:p>
            <a:pPr algn="l" indent="0" marL="0">
              <a:buNone/>
            </a:pPr>
            <a:r>
              <a:rPr lang="en-US" sz="700" dirty="0">
                <a:solidFill>
                  <a:srgbClr val="97A0AD"/>
                </a:solidFill>
                <a:latin typeface="Poppins" pitchFamily="34" charset="0"/>
                <a:ea typeface="Poppins" pitchFamily="34" charset="-122"/>
                <a:cs typeface="Poppins" pitchFamily="34" charset="-120"/>
              </a:rPr>
              <a:t>Source: Company; press research. NR-31 refers to Brazilian rural-labor safety regulation on worker transport.</a:t>
            </a:r>
            <a:endParaRPr lang="en-US" sz="700" dirty="0"/>
          </a:p>
        </p:txBody>
      </p:sp>
      <p:sp>
        <p:nvSpPr>
          <p:cNvPr id="7" name="Text 4"/>
          <p:cNvSpPr/>
          <p:nvPr/>
        </p:nvSpPr>
        <p:spPr>
          <a:xfrm>
            <a:off x="10728655" y="6547104"/>
            <a:ext cx="960120" cy="237744"/>
          </a:xfrm>
          <a:prstGeom prst="rect">
            <a:avLst/>
          </a:prstGeom>
          <a:noFill/>
          <a:ln/>
        </p:spPr>
        <p:txBody>
          <a:bodyPr wrap="square" rtlCol="0" anchor="ctr"/>
          <a:lstStyle/>
          <a:p>
            <a:pPr algn="r" indent="0" marL="0">
              <a:buNone/>
            </a:pPr>
            <a:r>
              <a:rPr lang="en-US" sz="850" dirty="0">
                <a:solidFill>
                  <a:srgbClr val="97A0AD"/>
                </a:solidFill>
                <a:latin typeface="Poppins Medium" pitchFamily="34" charset="0"/>
                <a:ea typeface="Poppins Medium" pitchFamily="34" charset="-122"/>
                <a:cs typeface="Poppins Medium" pitchFamily="34" charset="-120"/>
              </a:rPr>
              <a:t>Confidential   </a:t>
            </a:r>
            <a:pPr algn="r" indent="0" marL="0">
              <a:buNone/>
            </a:pPr>
            <a:r>
              <a:rPr lang="en-US" sz="850" b="1" dirty="0">
                <a:solidFill>
                  <a:srgbClr val="222F44"/>
                </a:solidFill>
                <a:latin typeface="Poppins Medium" pitchFamily="34" charset="0"/>
                <a:ea typeface="Poppins Medium" pitchFamily="34" charset="-122"/>
                <a:cs typeface="Poppins Medium" pitchFamily="34" charset="-120"/>
              </a:rPr>
              <a:t>7</a:t>
            </a:r>
            <a:endParaRPr lang="en-US" sz="850" dirty="0"/>
          </a:p>
        </p:txBody>
      </p:sp>
      <p:sp>
        <p:nvSpPr>
          <p:cNvPr id="8" name="Shape 5"/>
          <p:cNvSpPr/>
          <p:nvPr/>
        </p:nvSpPr>
        <p:spPr>
          <a:xfrm>
            <a:off x="502920" y="1828800"/>
            <a:ext cx="5410048" cy="1463040"/>
          </a:xfrm>
          <a:prstGeom prst="roundRect">
            <a:avLst>
              <a:gd name="adj" fmla="val 6250"/>
            </a:avLst>
          </a:prstGeom>
          <a:solidFill>
            <a:srgbClr val="FFFFFF"/>
          </a:solidFill>
          <a:ln w="12700">
            <a:solidFill>
              <a:srgbClr val="D9DEE5"/>
            </a:solidFill>
            <a:prstDash val="solid"/>
          </a:ln>
          <a:effectLst>
            <a:outerShdw sx="100000" sy="100000" kx="0" ky="0" algn="bl" rotWithShape="0" blurRad="88900" dist="25400" dir="5400000">
              <a:srgbClr val="9AA6B4">
                <a:alpha val="28000"/>
              </a:srgbClr>
            </a:outerShdw>
          </a:effectLst>
        </p:spPr>
      </p:sp>
      <p:sp>
        <p:nvSpPr>
          <p:cNvPr id="9" name="Text 6"/>
          <p:cNvSpPr/>
          <p:nvPr/>
        </p:nvSpPr>
        <p:spPr>
          <a:xfrm>
            <a:off x="704088" y="1993392"/>
            <a:ext cx="868680" cy="822960"/>
          </a:xfrm>
          <a:prstGeom prst="rect">
            <a:avLst/>
          </a:prstGeom>
          <a:noFill/>
          <a:ln/>
        </p:spPr>
        <p:txBody>
          <a:bodyPr wrap="square" lIns="0" tIns="0" rIns="0" bIns="0" rtlCol="0" anchor="t"/>
          <a:lstStyle/>
          <a:p>
            <a:pPr indent="0" marL="0">
              <a:buNone/>
            </a:pPr>
            <a:r>
              <a:rPr lang="en-US" sz="4000" dirty="0">
                <a:solidFill>
                  <a:srgbClr val="E9DCC9"/>
                </a:solidFill>
                <a:latin typeface="Source Serif Pro Black" pitchFamily="34" charset="0"/>
                <a:ea typeface="Source Serif Pro Black" pitchFamily="34" charset="-122"/>
                <a:cs typeface="Source Serif Pro Black" pitchFamily="34" charset="-120"/>
              </a:rPr>
              <a:t>01</a:t>
            </a:r>
            <a:endParaRPr lang="en-US" sz="4000" dirty="0"/>
          </a:p>
        </p:txBody>
      </p:sp>
      <p:pic>
        <p:nvPicPr>
          <p:cNvPr id="10" name="Image 1" descr="assets/icons/trendup_orange.png">    </p:cNvPr>
          <p:cNvPicPr>
            <a:picLocks noChangeAspect="1"/>
          </p:cNvPicPr>
          <p:nvPr/>
        </p:nvPicPr>
        <p:blipFill>
          <a:blip r:embed="rId2"/>
          <a:stretch>
            <a:fillRect/>
          </a:stretch>
        </p:blipFill>
        <p:spPr>
          <a:xfrm>
            <a:off x="758952" y="2761488"/>
            <a:ext cx="310896" cy="310896"/>
          </a:xfrm>
          <a:prstGeom prst="rect">
            <a:avLst/>
          </a:prstGeom>
        </p:spPr>
      </p:pic>
      <p:sp>
        <p:nvSpPr>
          <p:cNvPr id="11" name="Text 7"/>
          <p:cNvSpPr/>
          <p:nvPr/>
        </p:nvSpPr>
        <p:spPr>
          <a:xfrm>
            <a:off x="1554480" y="2011680"/>
            <a:ext cx="4175608" cy="457200"/>
          </a:xfrm>
          <a:prstGeom prst="rect">
            <a:avLst/>
          </a:prstGeom>
          <a:noFill/>
          <a:ln/>
        </p:spPr>
        <p:txBody>
          <a:bodyPr wrap="square" lIns="0" tIns="0" rIns="0" bIns="0" rtlCol="0" anchor="t"/>
          <a:lstStyle/>
          <a:p>
            <a:pPr indent="0" marL="0">
              <a:lnSpc>
                <a:spcPct val="98000"/>
              </a:lnSpc>
              <a:buNone/>
            </a:pPr>
            <a:r>
              <a:rPr lang="en-US" sz="1200" dirty="0">
                <a:solidFill>
                  <a:srgbClr val="222F44"/>
                </a:solidFill>
                <a:latin typeface="Poppins SemiBold" pitchFamily="34" charset="0"/>
                <a:ea typeface="Poppins SemiBold" pitchFamily="34" charset="-122"/>
                <a:cs typeface="Poppins SemiBold" pitchFamily="34" charset="-120"/>
              </a:rPr>
              <a:t>Exposure to a large, structurally growing market</a:t>
            </a:r>
            <a:endParaRPr lang="en-US" sz="1200" dirty="0"/>
          </a:p>
        </p:txBody>
      </p:sp>
      <p:sp>
        <p:nvSpPr>
          <p:cNvPr id="12" name="Text 8"/>
          <p:cNvSpPr/>
          <p:nvPr/>
        </p:nvSpPr>
        <p:spPr>
          <a:xfrm>
            <a:off x="1554480" y="2432304"/>
            <a:ext cx="4175608" cy="777240"/>
          </a:xfrm>
          <a:prstGeom prst="rect">
            <a:avLst/>
          </a:prstGeom>
          <a:noFill/>
          <a:ln/>
        </p:spPr>
        <p:txBody>
          <a:bodyPr wrap="square" lIns="0" tIns="0" rIns="0" bIns="0" rtlCol="0" anchor="t"/>
          <a:lstStyle/>
          <a:p>
            <a:pPr indent="0" marL="0">
              <a:lnSpc>
                <a:spcPct val="100000"/>
              </a:lnSpc>
              <a:buNone/>
            </a:pPr>
            <a:r>
              <a:rPr lang="en-US" sz="900" dirty="0">
                <a:solidFill>
                  <a:srgbClr val="6B7686"/>
                </a:solidFill>
                <a:latin typeface="Poppins" pitchFamily="34" charset="0"/>
                <a:ea typeface="Poppins" pitchFamily="34" charset="-122"/>
                <a:cs typeface="Poppins" pitchFamily="34" charset="-120"/>
              </a:rPr>
              <a:t>Structural demand for corporate employee transportation is driven by clients’ operational needs, a national shortage of professional drivers, and labor regulations (NR-31) requiring compliant transport where public transit is inadequate.</a:t>
            </a:r>
            <a:endParaRPr lang="en-US" sz="900" dirty="0"/>
          </a:p>
        </p:txBody>
      </p:sp>
      <p:sp>
        <p:nvSpPr>
          <p:cNvPr id="13" name="Shape 9"/>
          <p:cNvSpPr/>
          <p:nvPr/>
        </p:nvSpPr>
        <p:spPr>
          <a:xfrm>
            <a:off x="502920" y="3429000"/>
            <a:ext cx="5410048" cy="1463040"/>
          </a:xfrm>
          <a:prstGeom prst="roundRect">
            <a:avLst>
              <a:gd name="adj" fmla="val 6250"/>
            </a:avLst>
          </a:prstGeom>
          <a:solidFill>
            <a:srgbClr val="FFFFFF"/>
          </a:solidFill>
          <a:ln w="12700">
            <a:solidFill>
              <a:srgbClr val="D9DEE5"/>
            </a:solidFill>
            <a:prstDash val="solid"/>
          </a:ln>
          <a:effectLst>
            <a:outerShdw sx="100000" sy="100000" kx="0" ky="0" algn="bl" rotWithShape="0" blurRad="88900" dist="25400" dir="5400000">
              <a:srgbClr val="9AA6B4">
                <a:alpha val="28000"/>
              </a:srgbClr>
            </a:outerShdw>
          </a:effectLst>
        </p:spPr>
      </p:sp>
      <p:sp>
        <p:nvSpPr>
          <p:cNvPr id="14" name="Text 10"/>
          <p:cNvSpPr/>
          <p:nvPr/>
        </p:nvSpPr>
        <p:spPr>
          <a:xfrm>
            <a:off x="704088" y="3593592"/>
            <a:ext cx="868680" cy="822960"/>
          </a:xfrm>
          <a:prstGeom prst="rect">
            <a:avLst/>
          </a:prstGeom>
          <a:noFill/>
          <a:ln/>
        </p:spPr>
        <p:txBody>
          <a:bodyPr wrap="square" lIns="0" tIns="0" rIns="0" bIns="0" rtlCol="0" anchor="t"/>
          <a:lstStyle/>
          <a:p>
            <a:pPr indent="0" marL="0">
              <a:buNone/>
            </a:pPr>
            <a:r>
              <a:rPr lang="en-US" sz="4000" dirty="0">
                <a:solidFill>
                  <a:srgbClr val="E9DCC9"/>
                </a:solidFill>
                <a:latin typeface="Source Serif Pro Black" pitchFamily="34" charset="0"/>
                <a:ea typeface="Source Serif Pro Black" pitchFamily="34" charset="-122"/>
                <a:cs typeface="Source Serif Pro Black" pitchFamily="34" charset="-120"/>
              </a:rPr>
              <a:t>02</a:t>
            </a:r>
            <a:endParaRPr lang="en-US" sz="4000" dirty="0"/>
          </a:p>
        </p:txBody>
      </p:sp>
      <p:pic>
        <p:nvPicPr>
          <p:cNvPr id="15" name="Image 2" descr="assets/icons/repeat_orange.png">    </p:cNvPr>
          <p:cNvPicPr>
            <a:picLocks noChangeAspect="1"/>
          </p:cNvPicPr>
          <p:nvPr/>
        </p:nvPicPr>
        <p:blipFill>
          <a:blip r:embed="rId3"/>
          <a:stretch>
            <a:fillRect/>
          </a:stretch>
        </p:blipFill>
        <p:spPr>
          <a:xfrm>
            <a:off x="758952" y="4361688"/>
            <a:ext cx="310896" cy="310896"/>
          </a:xfrm>
          <a:prstGeom prst="rect">
            <a:avLst/>
          </a:prstGeom>
        </p:spPr>
      </p:pic>
      <p:sp>
        <p:nvSpPr>
          <p:cNvPr id="16" name="Text 11"/>
          <p:cNvSpPr/>
          <p:nvPr/>
        </p:nvSpPr>
        <p:spPr>
          <a:xfrm>
            <a:off x="1554480" y="3611880"/>
            <a:ext cx="4175608" cy="457200"/>
          </a:xfrm>
          <a:prstGeom prst="rect">
            <a:avLst/>
          </a:prstGeom>
          <a:noFill/>
          <a:ln/>
        </p:spPr>
        <p:txBody>
          <a:bodyPr wrap="square" lIns="0" tIns="0" rIns="0" bIns="0" rtlCol="0" anchor="t"/>
          <a:lstStyle/>
          <a:p>
            <a:pPr indent="0" marL="0">
              <a:lnSpc>
                <a:spcPct val="98000"/>
              </a:lnSpc>
              <a:buNone/>
            </a:pPr>
            <a:r>
              <a:rPr lang="en-US" sz="1200" dirty="0">
                <a:solidFill>
                  <a:srgbClr val="222F44"/>
                </a:solidFill>
                <a:latin typeface="Poppins SemiBold" pitchFamily="34" charset="0"/>
                <a:ea typeface="Poppins SemiBold" pitchFamily="34" charset="-122"/>
                <a:cs typeface="Poppins SemiBold" pitchFamily="34" charset="-120"/>
              </a:rPr>
              <a:t>Solid, contracted revenue model with high stickiness</a:t>
            </a:r>
            <a:endParaRPr lang="en-US" sz="1200" dirty="0"/>
          </a:p>
        </p:txBody>
      </p:sp>
      <p:sp>
        <p:nvSpPr>
          <p:cNvPr id="17" name="Text 12"/>
          <p:cNvSpPr/>
          <p:nvPr/>
        </p:nvSpPr>
        <p:spPr>
          <a:xfrm>
            <a:off x="1554480" y="4032504"/>
            <a:ext cx="4175608" cy="777240"/>
          </a:xfrm>
          <a:prstGeom prst="rect">
            <a:avLst/>
          </a:prstGeom>
          <a:noFill/>
          <a:ln/>
        </p:spPr>
        <p:txBody>
          <a:bodyPr wrap="square" lIns="0" tIns="0" rIns="0" bIns="0" rtlCol="0" anchor="t"/>
          <a:lstStyle/>
          <a:p>
            <a:pPr indent="0" marL="0">
              <a:lnSpc>
                <a:spcPct val="100000"/>
              </a:lnSpc>
              <a:buNone/>
            </a:pPr>
            <a:r>
              <a:rPr lang="en-US" sz="900" dirty="0">
                <a:solidFill>
                  <a:srgbClr val="6B7686"/>
                </a:solidFill>
                <a:latin typeface="Poppins" pitchFamily="34" charset="0"/>
                <a:ea typeface="Poppins" pitchFamily="34" charset="-122"/>
                <a:cs typeface="Poppins" pitchFamily="34" charset="-120"/>
              </a:rPr>
              <a:t>Long-term contracts (3–5 years) with built-in annual adjustment mechanisms (IPCA, collective-bargaining agreements and diesel-price pass-through) protect margins and reinforce client retention.</a:t>
            </a:r>
            <a:endParaRPr lang="en-US" sz="900" dirty="0"/>
          </a:p>
        </p:txBody>
      </p:sp>
      <p:sp>
        <p:nvSpPr>
          <p:cNvPr id="18" name="Shape 13"/>
          <p:cNvSpPr/>
          <p:nvPr/>
        </p:nvSpPr>
        <p:spPr>
          <a:xfrm>
            <a:off x="502920" y="5029200"/>
            <a:ext cx="5410048" cy="1463040"/>
          </a:xfrm>
          <a:prstGeom prst="roundRect">
            <a:avLst>
              <a:gd name="adj" fmla="val 6250"/>
            </a:avLst>
          </a:prstGeom>
          <a:solidFill>
            <a:srgbClr val="FFFFFF"/>
          </a:solidFill>
          <a:ln w="12700">
            <a:solidFill>
              <a:srgbClr val="D9DEE5"/>
            </a:solidFill>
            <a:prstDash val="solid"/>
          </a:ln>
          <a:effectLst>
            <a:outerShdw sx="100000" sy="100000" kx="0" ky="0" algn="bl" rotWithShape="0" blurRad="88900" dist="25400" dir="5400000">
              <a:srgbClr val="9AA6B4">
                <a:alpha val="28000"/>
              </a:srgbClr>
            </a:outerShdw>
          </a:effectLst>
        </p:spPr>
      </p:sp>
      <p:sp>
        <p:nvSpPr>
          <p:cNvPr id="19" name="Text 14"/>
          <p:cNvSpPr/>
          <p:nvPr/>
        </p:nvSpPr>
        <p:spPr>
          <a:xfrm>
            <a:off x="704088" y="5193792"/>
            <a:ext cx="868680" cy="822960"/>
          </a:xfrm>
          <a:prstGeom prst="rect">
            <a:avLst/>
          </a:prstGeom>
          <a:noFill/>
          <a:ln/>
        </p:spPr>
        <p:txBody>
          <a:bodyPr wrap="square" lIns="0" tIns="0" rIns="0" bIns="0" rtlCol="0" anchor="t"/>
          <a:lstStyle/>
          <a:p>
            <a:pPr indent="0" marL="0">
              <a:buNone/>
            </a:pPr>
            <a:r>
              <a:rPr lang="en-US" sz="4000" dirty="0">
                <a:solidFill>
                  <a:srgbClr val="E9DCC9"/>
                </a:solidFill>
                <a:latin typeface="Source Serif Pro Black" pitchFamily="34" charset="0"/>
                <a:ea typeface="Source Serif Pro Black" pitchFamily="34" charset="-122"/>
                <a:cs typeface="Source Serif Pro Black" pitchFamily="34" charset="-120"/>
              </a:rPr>
              <a:t>03</a:t>
            </a:r>
            <a:endParaRPr lang="en-US" sz="4000" dirty="0"/>
          </a:p>
        </p:txBody>
      </p:sp>
      <p:pic>
        <p:nvPicPr>
          <p:cNvPr id="20" name="Image 3" descr="assets/icons/truck_orange.png">    </p:cNvPr>
          <p:cNvPicPr>
            <a:picLocks noChangeAspect="1"/>
          </p:cNvPicPr>
          <p:nvPr/>
        </p:nvPicPr>
        <p:blipFill>
          <a:blip r:embed="rId4"/>
          <a:stretch>
            <a:fillRect/>
          </a:stretch>
        </p:blipFill>
        <p:spPr>
          <a:xfrm>
            <a:off x="758952" y="5961888"/>
            <a:ext cx="310896" cy="310896"/>
          </a:xfrm>
          <a:prstGeom prst="rect">
            <a:avLst/>
          </a:prstGeom>
        </p:spPr>
      </p:pic>
      <p:sp>
        <p:nvSpPr>
          <p:cNvPr id="21" name="Text 15"/>
          <p:cNvSpPr/>
          <p:nvPr/>
        </p:nvSpPr>
        <p:spPr>
          <a:xfrm>
            <a:off x="1554480" y="5212080"/>
            <a:ext cx="4175608" cy="457200"/>
          </a:xfrm>
          <a:prstGeom prst="rect">
            <a:avLst/>
          </a:prstGeom>
          <a:noFill/>
          <a:ln/>
        </p:spPr>
        <p:txBody>
          <a:bodyPr wrap="square" lIns="0" tIns="0" rIns="0" bIns="0" rtlCol="0" anchor="t"/>
          <a:lstStyle/>
          <a:p>
            <a:pPr indent="0" marL="0">
              <a:lnSpc>
                <a:spcPct val="98000"/>
              </a:lnSpc>
              <a:buNone/>
            </a:pPr>
            <a:r>
              <a:rPr lang="en-US" sz="1200" dirty="0">
                <a:solidFill>
                  <a:srgbClr val="222F44"/>
                </a:solidFill>
                <a:latin typeface="Poppins SemiBold" pitchFamily="34" charset="0"/>
                <a:ea typeface="Poppins SemiBold" pitchFamily="34" charset="-122"/>
                <a:cs typeface="Poppins SemiBold" pitchFamily="34" charset="-120"/>
              </a:rPr>
              <a:t>An asset base that compounds competitive advantage</a:t>
            </a:r>
            <a:endParaRPr lang="en-US" sz="1200" dirty="0"/>
          </a:p>
        </p:txBody>
      </p:sp>
      <p:sp>
        <p:nvSpPr>
          <p:cNvPr id="22" name="Text 16"/>
          <p:cNvSpPr/>
          <p:nvPr/>
        </p:nvSpPr>
        <p:spPr>
          <a:xfrm>
            <a:off x="1554480" y="5632704"/>
            <a:ext cx="4175608" cy="777240"/>
          </a:xfrm>
          <a:prstGeom prst="rect">
            <a:avLst/>
          </a:prstGeom>
          <a:noFill/>
          <a:ln/>
        </p:spPr>
        <p:txBody>
          <a:bodyPr wrap="square" lIns="0" tIns="0" rIns="0" bIns="0" rtlCol="0" anchor="t"/>
          <a:lstStyle/>
          <a:p>
            <a:pPr indent="0" marL="0">
              <a:lnSpc>
                <a:spcPct val="100000"/>
              </a:lnSpc>
              <a:buNone/>
            </a:pPr>
            <a:r>
              <a:rPr lang="en-US" sz="900" dirty="0">
                <a:solidFill>
                  <a:srgbClr val="6B7686"/>
                </a:solidFill>
                <a:latin typeface="Poppins" pitchFamily="34" charset="0"/>
                <a:ea typeface="Poppins" pitchFamily="34" charset="-122"/>
                <a:cs typeface="Poppins" pitchFamily="34" charset="-120"/>
              </a:rPr>
              <a:t>A modern, fully-owned fleet of 373 vehicles across buses, micro-buses and vans creates operational flexibility, service-quality control and barriers that are hard for competitors to replicate.</a:t>
            </a:r>
            <a:endParaRPr lang="en-US" sz="900" dirty="0"/>
          </a:p>
        </p:txBody>
      </p:sp>
      <p:sp>
        <p:nvSpPr>
          <p:cNvPr id="23" name="Shape 17"/>
          <p:cNvSpPr/>
          <p:nvPr/>
        </p:nvSpPr>
        <p:spPr>
          <a:xfrm>
            <a:off x="6278728" y="1828800"/>
            <a:ext cx="5410048" cy="1463040"/>
          </a:xfrm>
          <a:prstGeom prst="roundRect">
            <a:avLst>
              <a:gd name="adj" fmla="val 6250"/>
            </a:avLst>
          </a:prstGeom>
          <a:solidFill>
            <a:srgbClr val="FFFFFF"/>
          </a:solidFill>
          <a:ln w="12700">
            <a:solidFill>
              <a:srgbClr val="D9DEE5"/>
            </a:solidFill>
            <a:prstDash val="solid"/>
          </a:ln>
          <a:effectLst>
            <a:outerShdw sx="100000" sy="100000" kx="0" ky="0" algn="bl" rotWithShape="0" blurRad="88900" dist="25400" dir="5400000">
              <a:srgbClr val="9AA6B4">
                <a:alpha val="28000"/>
              </a:srgbClr>
            </a:outerShdw>
          </a:effectLst>
        </p:spPr>
      </p:sp>
      <p:sp>
        <p:nvSpPr>
          <p:cNvPr id="24" name="Text 18"/>
          <p:cNvSpPr/>
          <p:nvPr/>
        </p:nvSpPr>
        <p:spPr>
          <a:xfrm>
            <a:off x="6479896" y="1993392"/>
            <a:ext cx="868680" cy="822960"/>
          </a:xfrm>
          <a:prstGeom prst="rect">
            <a:avLst/>
          </a:prstGeom>
          <a:noFill/>
          <a:ln/>
        </p:spPr>
        <p:txBody>
          <a:bodyPr wrap="square" lIns="0" tIns="0" rIns="0" bIns="0" rtlCol="0" anchor="t"/>
          <a:lstStyle/>
          <a:p>
            <a:pPr indent="0" marL="0">
              <a:buNone/>
            </a:pPr>
            <a:r>
              <a:rPr lang="en-US" sz="4000" dirty="0">
                <a:solidFill>
                  <a:srgbClr val="E9DCC9"/>
                </a:solidFill>
                <a:latin typeface="Source Serif Pro Black" pitchFamily="34" charset="0"/>
                <a:ea typeface="Source Serif Pro Black" pitchFamily="34" charset="-122"/>
                <a:cs typeface="Source Serif Pro Black" pitchFamily="34" charset="-120"/>
              </a:rPr>
              <a:t>04</a:t>
            </a:r>
            <a:endParaRPr lang="en-US" sz="4000" dirty="0"/>
          </a:p>
        </p:txBody>
      </p:sp>
      <p:pic>
        <p:nvPicPr>
          <p:cNvPr id="25" name="Image 4" descr="assets/icons/shield_orange.png">    </p:cNvPr>
          <p:cNvPicPr>
            <a:picLocks noChangeAspect="1"/>
          </p:cNvPicPr>
          <p:nvPr/>
        </p:nvPicPr>
        <p:blipFill>
          <a:blip r:embed="rId5"/>
          <a:stretch>
            <a:fillRect/>
          </a:stretch>
        </p:blipFill>
        <p:spPr>
          <a:xfrm>
            <a:off x="6534760" y="2761488"/>
            <a:ext cx="310896" cy="310896"/>
          </a:xfrm>
          <a:prstGeom prst="rect">
            <a:avLst/>
          </a:prstGeom>
        </p:spPr>
      </p:pic>
      <p:sp>
        <p:nvSpPr>
          <p:cNvPr id="26" name="Text 19"/>
          <p:cNvSpPr/>
          <p:nvPr/>
        </p:nvSpPr>
        <p:spPr>
          <a:xfrm>
            <a:off x="7330288" y="2011680"/>
            <a:ext cx="4175608" cy="457200"/>
          </a:xfrm>
          <a:prstGeom prst="rect">
            <a:avLst/>
          </a:prstGeom>
          <a:noFill/>
          <a:ln/>
        </p:spPr>
        <p:txBody>
          <a:bodyPr wrap="square" lIns="0" tIns="0" rIns="0" bIns="0" rtlCol="0" anchor="t"/>
          <a:lstStyle/>
          <a:p>
            <a:pPr indent="0" marL="0">
              <a:lnSpc>
                <a:spcPct val="98000"/>
              </a:lnSpc>
              <a:buNone/>
            </a:pPr>
            <a:r>
              <a:rPr lang="en-US" sz="1200" dirty="0">
                <a:solidFill>
                  <a:srgbClr val="222F44"/>
                </a:solidFill>
                <a:latin typeface="Poppins SemiBold" pitchFamily="34" charset="0"/>
                <a:ea typeface="Poppins SemiBold" pitchFamily="34" charset="-122"/>
                <a:cs typeface="Poppins SemiBold" pitchFamily="34" charset="-120"/>
              </a:rPr>
              <a:t>Integrated capabilities that deliver a full-service edge</a:t>
            </a:r>
            <a:endParaRPr lang="en-US" sz="1200" dirty="0"/>
          </a:p>
        </p:txBody>
      </p:sp>
      <p:sp>
        <p:nvSpPr>
          <p:cNvPr id="27" name="Text 20"/>
          <p:cNvSpPr/>
          <p:nvPr/>
        </p:nvSpPr>
        <p:spPr>
          <a:xfrm>
            <a:off x="7330288" y="2432304"/>
            <a:ext cx="4175608" cy="777240"/>
          </a:xfrm>
          <a:prstGeom prst="rect">
            <a:avLst/>
          </a:prstGeom>
          <a:noFill/>
          <a:ln/>
        </p:spPr>
        <p:txBody>
          <a:bodyPr wrap="square" lIns="0" tIns="0" rIns="0" bIns="0" rtlCol="0" anchor="t"/>
          <a:lstStyle/>
          <a:p>
            <a:pPr indent="0" marL="0">
              <a:lnSpc>
                <a:spcPct val="100000"/>
              </a:lnSpc>
              <a:buNone/>
            </a:pPr>
            <a:r>
              <a:rPr lang="en-US" sz="900" dirty="0">
                <a:solidFill>
                  <a:srgbClr val="6B7686"/>
                </a:solidFill>
                <a:latin typeface="Poppins" pitchFamily="34" charset="0"/>
                <a:ea typeface="Poppins" pitchFamily="34" charset="-122"/>
                <a:cs typeface="Poppins" pitchFamily="34" charset="-120"/>
              </a:rPr>
              <a:t>GPS-based telemetry and driver-monitoring systems — combined with in-house maintenance capabilities [to be confirmed] — position Mobi as a reliable, high-uptime operator across its network of bases.</a:t>
            </a:r>
            <a:endParaRPr lang="en-US" sz="900" dirty="0"/>
          </a:p>
        </p:txBody>
      </p:sp>
      <p:sp>
        <p:nvSpPr>
          <p:cNvPr id="28" name="Shape 21"/>
          <p:cNvSpPr/>
          <p:nvPr/>
        </p:nvSpPr>
        <p:spPr>
          <a:xfrm>
            <a:off x="6278728" y="5029200"/>
            <a:ext cx="5410048" cy="1463040"/>
          </a:xfrm>
          <a:prstGeom prst="roundRect">
            <a:avLst>
              <a:gd name="adj" fmla="val 6250"/>
            </a:avLst>
          </a:prstGeom>
          <a:solidFill>
            <a:srgbClr val="FFFFFF"/>
          </a:solidFill>
          <a:ln w="12700">
            <a:solidFill>
              <a:srgbClr val="D9DEE5"/>
            </a:solidFill>
            <a:prstDash val="solid"/>
          </a:ln>
          <a:effectLst>
            <a:outerShdw sx="100000" sy="100000" kx="0" ky="0" algn="bl" rotWithShape="0" blurRad="88900" dist="25400" dir="5400000">
              <a:srgbClr val="9AA6B4">
                <a:alpha val="28000"/>
              </a:srgbClr>
            </a:outerShdw>
          </a:effectLst>
        </p:spPr>
      </p:sp>
      <p:sp>
        <p:nvSpPr>
          <p:cNvPr id="29" name="Text 22"/>
          <p:cNvSpPr/>
          <p:nvPr/>
        </p:nvSpPr>
        <p:spPr>
          <a:xfrm>
            <a:off x="6479896" y="5193792"/>
            <a:ext cx="868680" cy="822960"/>
          </a:xfrm>
          <a:prstGeom prst="rect">
            <a:avLst/>
          </a:prstGeom>
          <a:noFill/>
          <a:ln/>
        </p:spPr>
        <p:txBody>
          <a:bodyPr wrap="square" lIns="0" tIns="0" rIns="0" bIns="0" rtlCol="0" anchor="t"/>
          <a:lstStyle/>
          <a:p>
            <a:pPr indent="0" marL="0">
              <a:buNone/>
            </a:pPr>
            <a:r>
              <a:rPr lang="en-US" sz="4000" dirty="0">
                <a:solidFill>
                  <a:srgbClr val="E9DCC9"/>
                </a:solidFill>
                <a:latin typeface="Source Serif Pro Black" pitchFamily="34" charset="0"/>
                <a:ea typeface="Source Serif Pro Black" pitchFamily="34" charset="-122"/>
                <a:cs typeface="Source Serif Pro Black" pitchFamily="34" charset="-120"/>
              </a:rPr>
              <a:t>05</a:t>
            </a:r>
            <a:endParaRPr lang="en-US" sz="4000" dirty="0"/>
          </a:p>
        </p:txBody>
      </p:sp>
      <p:pic>
        <p:nvPicPr>
          <p:cNvPr id="30" name="Image 5" descr="assets/icons/target_orange.png">    </p:cNvPr>
          <p:cNvPicPr>
            <a:picLocks noChangeAspect="1"/>
          </p:cNvPicPr>
          <p:nvPr/>
        </p:nvPicPr>
        <p:blipFill>
          <a:blip r:embed="rId6"/>
          <a:stretch>
            <a:fillRect/>
          </a:stretch>
        </p:blipFill>
        <p:spPr>
          <a:xfrm>
            <a:off x="6534760" y="5961888"/>
            <a:ext cx="310896" cy="310896"/>
          </a:xfrm>
          <a:prstGeom prst="rect">
            <a:avLst/>
          </a:prstGeom>
        </p:spPr>
      </p:pic>
      <p:sp>
        <p:nvSpPr>
          <p:cNvPr id="31" name="Text 23"/>
          <p:cNvSpPr/>
          <p:nvPr/>
        </p:nvSpPr>
        <p:spPr>
          <a:xfrm>
            <a:off x="7330288" y="5212080"/>
            <a:ext cx="4175608" cy="457200"/>
          </a:xfrm>
          <a:prstGeom prst="rect">
            <a:avLst/>
          </a:prstGeom>
          <a:noFill/>
          <a:ln/>
        </p:spPr>
        <p:txBody>
          <a:bodyPr wrap="square" lIns="0" tIns="0" rIns="0" bIns="0" rtlCol="0" anchor="t"/>
          <a:lstStyle/>
          <a:p>
            <a:pPr indent="0" marL="0">
              <a:lnSpc>
                <a:spcPct val="98000"/>
              </a:lnSpc>
              <a:buNone/>
            </a:pPr>
            <a:r>
              <a:rPr lang="en-US" sz="1200" dirty="0">
                <a:solidFill>
                  <a:srgbClr val="222F44"/>
                </a:solidFill>
                <a:latin typeface="Poppins SemiBold" pitchFamily="34" charset="0"/>
                <a:ea typeface="Poppins SemiBold" pitchFamily="34" charset="-122"/>
                <a:cs typeface="Poppins SemiBold" pitchFamily="34" charset="-120"/>
              </a:rPr>
              <a:t>Multiple, executable growth avenues</a:t>
            </a:r>
            <a:endParaRPr lang="en-US" sz="1200" dirty="0"/>
          </a:p>
        </p:txBody>
      </p:sp>
      <p:sp>
        <p:nvSpPr>
          <p:cNvPr id="32" name="Text 24"/>
          <p:cNvSpPr/>
          <p:nvPr/>
        </p:nvSpPr>
        <p:spPr>
          <a:xfrm>
            <a:off x="7330288" y="5632704"/>
            <a:ext cx="4175608" cy="777240"/>
          </a:xfrm>
          <a:prstGeom prst="rect">
            <a:avLst/>
          </a:prstGeom>
          <a:noFill/>
          <a:ln/>
        </p:spPr>
        <p:txBody>
          <a:bodyPr wrap="square" lIns="0" tIns="0" rIns="0" bIns="0" rtlCol="0" anchor="t"/>
          <a:lstStyle/>
          <a:p>
            <a:pPr indent="0" marL="0">
              <a:lnSpc>
                <a:spcPct val="100000"/>
              </a:lnSpc>
              <a:buNone/>
            </a:pPr>
            <a:r>
              <a:rPr lang="en-US" sz="900" dirty="0">
                <a:solidFill>
                  <a:srgbClr val="6B7686"/>
                </a:solidFill>
                <a:latin typeface="Poppins" pitchFamily="34" charset="0"/>
                <a:ea typeface="Poppins" pitchFamily="34" charset="-122"/>
                <a:cs typeface="Poppins" pitchFamily="34" charset="-120"/>
              </a:rPr>
              <a:t>Geographic expansion, fleet electrification, technology-enabled services and consolidation of a fragmented market create a clear and executable path for continued value creation.</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assets/igc_navy.png">    </p:cNvPr>
          <p:cNvPicPr>
            <a:picLocks noChangeAspect="1"/>
          </p:cNvPicPr>
          <p:nvPr/>
        </p:nvPicPr>
        <p:blipFill>
          <a:blip r:embed="rId1"/>
          <a:stretch>
            <a:fillRect/>
          </a:stretch>
        </p:blipFill>
        <p:spPr>
          <a:xfrm>
            <a:off x="11121847" y="310896"/>
            <a:ext cx="566928" cy="490078"/>
          </a:xfrm>
          <a:prstGeom prst="rect">
            <a:avLst/>
          </a:prstGeom>
        </p:spPr>
      </p:pic>
      <p:sp>
        <p:nvSpPr>
          <p:cNvPr id="3" name="Text 0"/>
          <p:cNvSpPr/>
          <p:nvPr/>
        </p:nvSpPr>
        <p:spPr>
          <a:xfrm>
            <a:off x="502920" y="384048"/>
            <a:ext cx="7315200" cy="256032"/>
          </a:xfrm>
          <a:prstGeom prst="rect">
            <a:avLst/>
          </a:prstGeom>
          <a:noFill/>
          <a:ln/>
        </p:spPr>
        <p:txBody>
          <a:bodyPr wrap="square" rtlCol="0" anchor="ctr"/>
          <a:lstStyle/>
          <a:p>
            <a:pPr algn="l" indent="0" marL="0">
              <a:buNone/>
            </a:pPr>
            <a:r>
              <a:rPr lang="en-US" sz="1050" spc="200" kern="0" dirty="0">
                <a:solidFill>
                  <a:srgbClr val="F35B1A"/>
                </a:solidFill>
                <a:latin typeface="Poppins SemiBold" pitchFamily="34" charset="0"/>
                <a:ea typeface="Poppins SemiBold" pitchFamily="34" charset="-122"/>
                <a:cs typeface="Poppins SemiBold" pitchFamily="34" charset="-120"/>
              </a:rPr>
              <a:t>INVESTMENT THESIS</a:t>
            </a:r>
            <a:endParaRPr lang="en-US" sz="1050" dirty="0"/>
          </a:p>
        </p:txBody>
      </p:sp>
      <p:sp>
        <p:nvSpPr>
          <p:cNvPr id="4" name="Text 1"/>
          <p:cNvSpPr/>
          <p:nvPr/>
        </p:nvSpPr>
        <p:spPr>
          <a:xfrm>
            <a:off x="502920" y="603504"/>
            <a:ext cx="10408615" cy="640080"/>
          </a:xfrm>
          <a:prstGeom prst="rect">
            <a:avLst/>
          </a:prstGeom>
          <a:noFill/>
          <a:ln/>
        </p:spPr>
        <p:txBody>
          <a:bodyPr wrap="square" rtlCol="0" anchor="t"/>
          <a:lstStyle/>
          <a:p>
            <a:pPr algn="l" indent="0" marL="0">
              <a:buNone/>
            </a:pPr>
            <a:r>
              <a:rPr lang="en-US" sz="2500" dirty="0">
                <a:solidFill>
                  <a:srgbClr val="222F44"/>
                </a:solidFill>
                <a:latin typeface="Source Serif Pro SemiBold" pitchFamily="34" charset="0"/>
                <a:ea typeface="Source Serif Pro SemiBold" pitchFamily="34" charset="-122"/>
                <a:cs typeface="Source Serif Pro SemiBold" pitchFamily="34" charset="-120"/>
              </a:rPr>
              <a:t>A solid track record with blue-chip clients</a:t>
            </a:r>
            <a:endParaRPr lang="en-US" sz="2500" dirty="0"/>
          </a:p>
        </p:txBody>
      </p:sp>
      <p:sp>
        <p:nvSpPr>
          <p:cNvPr id="5" name="Text 2"/>
          <p:cNvSpPr/>
          <p:nvPr/>
        </p:nvSpPr>
        <p:spPr>
          <a:xfrm>
            <a:off x="502920" y="1225296"/>
            <a:ext cx="10408615" cy="457200"/>
          </a:xfrm>
          <a:prstGeom prst="rect">
            <a:avLst/>
          </a:prstGeom>
          <a:noFill/>
          <a:ln/>
        </p:spPr>
        <p:txBody>
          <a:bodyPr wrap="square" rtlCol="0" anchor="t"/>
          <a:lstStyle/>
          <a:p>
            <a:pPr algn="l" indent="0" marL="0">
              <a:buNone/>
            </a:pPr>
            <a:r>
              <a:rPr lang="en-US" sz="1250" dirty="0">
                <a:solidFill>
                  <a:srgbClr val="6B7686"/>
                </a:solidFill>
                <a:latin typeface="Poppins" pitchFamily="34" charset="0"/>
                <a:ea typeface="Poppins" pitchFamily="34" charset="-122"/>
                <a:cs typeface="Poppins" pitchFamily="34" charset="-120"/>
              </a:rPr>
              <a:t>Mobi has consistently focused on long-term contracts across industrial, agribusiness and consumer-goods sectors</a:t>
            </a:r>
            <a:endParaRPr lang="en-US" sz="1250" dirty="0"/>
          </a:p>
        </p:txBody>
      </p:sp>
      <p:sp>
        <p:nvSpPr>
          <p:cNvPr id="6" name="Text 3"/>
          <p:cNvSpPr/>
          <p:nvPr/>
        </p:nvSpPr>
        <p:spPr>
          <a:xfrm>
            <a:off x="502920" y="6547104"/>
            <a:ext cx="10180015" cy="237744"/>
          </a:xfrm>
          <a:prstGeom prst="rect">
            <a:avLst/>
          </a:prstGeom>
          <a:noFill/>
          <a:ln/>
        </p:spPr>
        <p:txBody>
          <a:bodyPr wrap="square" rtlCol="0" anchor="ctr"/>
          <a:lstStyle/>
          <a:p>
            <a:pPr algn="l" indent="0" marL="0">
              <a:buNone/>
            </a:pPr>
            <a:r>
              <a:rPr lang="en-US" sz="700" dirty="0">
                <a:solidFill>
                  <a:srgbClr val="97A0AD"/>
                </a:solidFill>
                <a:latin typeface="Poppins" pitchFamily="34" charset="0"/>
                <a:ea typeface="Poppins" pitchFamily="34" charset="-122"/>
                <a:cs typeface="Poppins" pitchFamily="34" charset="-120"/>
              </a:rPr>
              <a:t>Source: Company. Client relationship metrics (contracts delivered, years, share of revenue) to be confirmed with management.</a:t>
            </a:r>
            <a:endParaRPr lang="en-US" sz="700" dirty="0"/>
          </a:p>
        </p:txBody>
      </p:sp>
      <p:sp>
        <p:nvSpPr>
          <p:cNvPr id="7" name="Text 4"/>
          <p:cNvSpPr/>
          <p:nvPr/>
        </p:nvSpPr>
        <p:spPr>
          <a:xfrm>
            <a:off x="10728655" y="6547104"/>
            <a:ext cx="960120" cy="237744"/>
          </a:xfrm>
          <a:prstGeom prst="rect">
            <a:avLst/>
          </a:prstGeom>
          <a:noFill/>
          <a:ln/>
        </p:spPr>
        <p:txBody>
          <a:bodyPr wrap="square" rtlCol="0" anchor="ctr"/>
          <a:lstStyle/>
          <a:p>
            <a:pPr algn="r" indent="0" marL="0">
              <a:buNone/>
            </a:pPr>
            <a:r>
              <a:rPr lang="en-US" sz="850" dirty="0">
                <a:solidFill>
                  <a:srgbClr val="97A0AD"/>
                </a:solidFill>
                <a:latin typeface="Poppins Medium" pitchFamily="34" charset="0"/>
                <a:ea typeface="Poppins Medium" pitchFamily="34" charset="-122"/>
                <a:cs typeface="Poppins Medium" pitchFamily="34" charset="-120"/>
              </a:rPr>
              <a:t>Confidential   </a:t>
            </a:r>
            <a:pPr algn="r" indent="0" marL="0">
              <a:buNone/>
            </a:pPr>
            <a:r>
              <a:rPr lang="en-US" sz="850" b="1" dirty="0">
                <a:solidFill>
                  <a:srgbClr val="222F44"/>
                </a:solidFill>
                <a:latin typeface="Poppins Medium" pitchFamily="34" charset="0"/>
                <a:ea typeface="Poppins Medium" pitchFamily="34" charset="-122"/>
                <a:cs typeface="Poppins Medium" pitchFamily="34" charset="-120"/>
              </a:rPr>
              <a:t>8</a:t>
            </a:r>
            <a:endParaRPr lang="en-US" sz="850" dirty="0"/>
          </a:p>
        </p:txBody>
      </p:sp>
      <p:sp>
        <p:nvSpPr>
          <p:cNvPr id="8" name="Text 5"/>
          <p:cNvSpPr/>
          <p:nvPr/>
        </p:nvSpPr>
        <p:spPr>
          <a:xfrm>
            <a:off x="502920" y="1828800"/>
            <a:ext cx="4572000" cy="237744"/>
          </a:xfrm>
          <a:prstGeom prst="rect">
            <a:avLst/>
          </a:prstGeom>
          <a:noFill/>
          <a:ln/>
        </p:spPr>
        <p:txBody>
          <a:bodyPr wrap="square" rtlCol="0" anchor="ctr"/>
          <a:lstStyle/>
          <a:p>
            <a:pPr indent="0" marL="0">
              <a:buNone/>
            </a:pPr>
            <a:r>
              <a:rPr lang="en-US" sz="1000" spc="200" kern="0" dirty="0">
                <a:solidFill>
                  <a:srgbClr val="F35B1A"/>
                </a:solidFill>
                <a:latin typeface="Poppins SemiBold" pitchFamily="34" charset="0"/>
                <a:ea typeface="Poppins SemiBold" pitchFamily="34" charset="-122"/>
                <a:cs typeface="Poppins SemiBold" pitchFamily="34" charset="-120"/>
              </a:rPr>
              <a:t>SELECTED CLIENTS</a:t>
            </a:r>
            <a:endParaRPr lang="en-US" sz="1000" dirty="0"/>
          </a:p>
        </p:txBody>
      </p:sp>
      <p:sp>
        <p:nvSpPr>
          <p:cNvPr id="9" name="Shape 6"/>
          <p:cNvSpPr/>
          <p:nvPr/>
        </p:nvSpPr>
        <p:spPr>
          <a:xfrm>
            <a:off x="502920" y="2212848"/>
            <a:ext cx="3291840" cy="960120"/>
          </a:xfrm>
          <a:prstGeom prst="roundRect">
            <a:avLst>
              <a:gd name="adj" fmla="val 9524"/>
            </a:avLst>
          </a:prstGeom>
          <a:solidFill>
            <a:srgbClr val="FFFFFF"/>
          </a:solidFill>
          <a:ln w="12700">
            <a:solidFill>
              <a:srgbClr val="D9DEE5"/>
            </a:solidFill>
            <a:prstDash val="solid"/>
          </a:ln>
        </p:spPr>
      </p:sp>
      <p:pic>
        <p:nvPicPr>
          <p:cNvPr id="10" name="Image 1" descr="assets/cli_votorantim.png">    </p:cNvPr>
          <p:cNvPicPr>
            <a:picLocks noChangeAspect="1"/>
          </p:cNvPicPr>
          <p:nvPr/>
        </p:nvPicPr>
        <p:blipFill>
          <a:blip r:embed="rId2"/>
          <a:srcRect l="0" r="0" t="0" b="0"/>
          <a:stretch/>
        </p:blipFill>
        <p:spPr>
          <a:xfrm>
            <a:off x="822960" y="2404872"/>
            <a:ext cx="2651760" cy="576072"/>
          </a:xfrm>
          <a:prstGeom prst="rect">
            <a:avLst/>
          </a:prstGeom>
        </p:spPr>
      </p:pic>
      <p:sp>
        <p:nvSpPr>
          <p:cNvPr id="11" name="Shape 7"/>
          <p:cNvSpPr/>
          <p:nvPr/>
        </p:nvSpPr>
        <p:spPr>
          <a:xfrm>
            <a:off x="4069080" y="2212848"/>
            <a:ext cx="3291840" cy="960120"/>
          </a:xfrm>
          <a:prstGeom prst="roundRect">
            <a:avLst>
              <a:gd name="adj" fmla="val 9524"/>
            </a:avLst>
          </a:prstGeom>
          <a:solidFill>
            <a:srgbClr val="FFFFFF"/>
          </a:solidFill>
          <a:ln w="12700">
            <a:solidFill>
              <a:srgbClr val="D9DEE5"/>
            </a:solidFill>
            <a:prstDash val="solid"/>
          </a:ln>
        </p:spPr>
      </p:sp>
      <p:pic>
        <p:nvPicPr>
          <p:cNvPr id="12" name="Image 2" descr="assets/cli_cargill.png">    </p:cNvPr>
          <p:cNvPicPr>
            <a:picLocks noChangeAspect="1"/>
          </p:cNvPicPr>
          <p:nvPr/>
        </p:nvPicPr>
        <p:blipFill>
          <a:blip r:embed="rId3"/>
          <a:srcRect l="0" r="0" t="0" b="0"/>
          <a:stretch/>
        </p:blipFill>
        <p:spPr>
          <a:xfrm>
            <a:off x="4389120" y="2404872"/>
            <a:ext cx="2651760" cy="576072"/>
          </a:xfrm>
          <a:prstGeom prst="rect">
            <a:avLst/>
          </a:prstGeom>
        </p:spPr>
      </p:pic>
      <p:sp>
        <p:nvSpPr>
          <p:cNvPr id="13" name="Shape 8"/>
          <p:cNvSpPr/>
          <p:nvPr/>
        </p:nvSpPr>
        <p:spPr>
          <a:xfrm>
            <a:off x="502920" y="3355848"/>
            <a:ext cx="3291840" cy="960120"/>
          </a:xfrm>
          <a:prstGeom prst="roundRect">
            <a:avLst>
              <a:gd name="adj" fmla="val 9524"/>
            </a:avLst>
          </a:prstGeom>
          <a:solidFill>
            <a:srgbClr val="FFFFFF"/>
          </a:solidFill>
          <a:ln w="12700">
            <a:solidFill>
              <a:srgbClr val="D9DEE5"/>
            </a:solidFill>
            <a:prstDash val="solid"/>
          </a:ln>
        </p:spPr>
      </p:sp>
      <p:pic>
        <p:nvPicPr>
          <p:cNvPr id="14" name="Image 3" descr="assets/cli_jbs.png">    </p:cNvPr>
          <p:cNvPicPr>
            <a:picLocks noChangeAspect="1"/>
          </p:cNvPicPr>
          <p:nvPr/>
        </p:nvPicPr>
        <p:blipFill>
          <a:blip r:embed="rId4"/>
          <a:srcRect l="0" r="0" t="0" b="0"/>
          <a:stretch/>
        </p:blipFill>
        <p:spPr>
          <a:xfrm>
            <a:off x="822960" y="3547872"/>
            <a:ext cx="2651760" cy="576072"/>
          </a:xfrm>
          <a:prstGeom prst="rect">
            <a:avLst/>
          </a:prstGeom>
        </p:spPr>
      </p:pic>
      <p:sp>
        <p:nvSpPr>
          <p:cNvPr id="15" name="Shape 9"/>
          <p:cNvSpPr/>
          <p:nvPr/>
        </p:nvSpPr>
        <p:spPr>
          <a:xfrm>
            <a:off x="4069080" y="3355848"/>
            <a:ext cx="3291840" cy="960120"/>
          </a:xfrm>
          <a:prstGeom prst="roundRect">
            <a:avLst>
              <a:gd name="adj" fmla="val 9524"/>
            </a:avLst>
          </a:prstGeom>
          <a:solidFill>
            <a:srgbClr val="FFFFFF"/>
          </a:solidFill>
          <a:ln w="12700">
            <a:solidFill>
              <a:srgbClr val="D9DEE5"/>
            </a:solidFill>
            <a:prstDash val="solid"/>
          </a:ln>
        </p:spPr>
      </p:sp>
      <p:pic>
        <p:nvPicPr>
          <p:cNvPr id="16" name="Image 4" descr="assets/cli_kraftheinz.png">    </p:cNvPr>
          <p:cNvPicPr>
            <a:picLocks noChangeAspect="1"/>
          </p:cNvPicPr>
          <p:nvPr/>
        </p:nvPicPr>
        <p:blipFill>
          <a:blip r:embed="rId5"/>
          <a:srcRect l="0" r="0" t="0" b="0"/>
          <a:stretch/>
        </p:blipFill>
        <p:spPr>
          <a:xfrm>
            <a:off x="4389120" y="3547872"/>
            <a:ext cx="2651760" cy="576072"/>
          </a:xfrm>
          <a:prstGeom prst="rect">
            <a:avLst/>
          </a:prstGeom>
        </p:spPr>
      </p:pic>
      <p:sp>
        <p:nvSpPr>
          <p:cNvPr id="17" name="Shape 10"/>
          <p:cNvSpPr/>
          <p:nvPr/>
        </p:nvSpPr>
        <p:spPr>
          <a:xfrm>
            <a:off x="502920" y="4498848"/>
            <a:ext cx="3291840" cy="960120"/>
          </a:xfrm>
          <a:prstGeom prst="roundRect">
            <a:avLst>
              <a:gd name="adj" fmla="val 9524"/>
            </a:avLst>
          </a:prstGeom>
          <a:solidFill>
            <a:srgbClr val="FFFFFF"/>
          </a:solidFill>
          <a:ln w="12700">
            <a:solidFill>
              <a:srgbClr val="D9DEE5"/>
            </a:solidFill>
            <a:prstDash val="solid"/>
          </a:ln>
        </p:spPr>
      </p:sp>
      <p:pic>
        <p:nvPicPr>
          <p:cNvPr id="18" name="Image 5" descr="assets/cli_mbrf.png">    </p:cNvPr>
          <p:cNvPicPr>
            <a:picLocks noChangeAspect="1"/>
          </p:cNvPicPr>
          <p:nvPr/>
        </p:nvPicPr>
        <p:blipFill>
          <a:blip r:embed="rId6"/>
          <a:srcRect l="0" r="0" t="0" b="0"/>
          <a:stretch/>
        </p:blipFill>
        <p:spPr>
          <a:xfrm>
            <a:off x="822960" y="4690872"/>
            <a:ext cx="2651760" cy="576072"/>
          </a:xfrm>
          <a:prstGeom prst="rect">
            <a:avLst/>
          </a:prstGeom>
        </p:spPr>
      </p:pic>
      <p:sp>
        <p:nvSpPr>
          <p:cNvPr id="19" name="Shape 11"/>
          <p:cNvSpPr/>
          <p:nvPr/>
        </p:nvSpPr>
        <p:spPr>
          <a:xfrm>
            <a:off x="4069080" y="4498848"/>
            <a:ext cx="3291840" cy="960120"/>
          </a:xfrm>
          <a:prstGeom prst="roundRect">
            <a:avLst>
              <a:gd name="adj" fmla="val 9524"/>
            </a:avLst>
          </a:prstGeom>
          <a:solidFill>
            <a:srgbClr val="FFFFFF"/>
          </a:solidFill>
          <a:ln w="12700">
            <a:solidFill>
              <a:srgbClr val="D9DEE5"/>
            </a:solidFill>
            <a:prstDash val="solid"/>
          </a:ln>
        </p:spPr>
      </p:sp>
      <p:pic>
        <p:nvPicPr>
          <p:cNvPr id="20" name="Image 6" descr="assets/cli_heineken.png">    </p:cNvPr>
          <p:cNvPicPr>
            <a:picLocks noChangeAspect="1"/>
          </p:cNvPicPr>
          <p:nvPr/>
        </p:nvPicPr>
        <p:blipFill>
          <a:blip r:embed="rId7"/>
          <a:srcRect l="0" r="0" t="0" b="0"/>
          <a:stretch/>
        </p:blipFill>
        <p:spPr>
          <a:xfrm>
            <a:off x="4389120" y="4690872"/>
            <a:ext cx="2651760" cy="576072"/>
          </a:xfrm>
          <a:prstGeom prst="rect">
            <a:avLst/>
          </a:prstGeom>
        </p:spPr>
      </p:pic>
      <p:sp>
        <p:nvSpPr>
          <p:cNvPr id="21" name="Text 12"/>
          <p:cNvSpPr/>
          <p:nvPr/>
        </p:nvSpPr>
        <p:spPr>
          <a:xfrm>
            <a:off x="7680960" y="1828800"/>
            <a:ext cx="4007815" cy="237744"/>
          </a:xfrm>
          <a:prstGeom prst="rect">
            <a:avLst/>
          </a:prstGeom>
          <a:noFill/>
          <a:ln/>
        </p:spPr>
        <p:txBody>
          <a:bodyPr wrap="square" rtlCol="0" anchor="ctr"/>
          <a:lstStyle/>
          <a:p>
            <a:pPr indent="0" marL="0">
              <a:buNone/>
            </a:pPr>
            <a:r>
              <a:rPr lang="en-US" sz="1000" spc="150" kern="0" dirty="0">
                <a:solidFill>
                  <a:srgbClr val="F35B1A"/>
                </a:solidFill>
                <a:latin typeface="Poppins SemiBold" pitchFamily="34" charset="0"/>
                <a:ea typeface="Poppins SemiBold" pitchFamily="34" charset="-122"/>
                <a:cs typeface="Poppins SemiBold" pitchFamily="34" charset="-120"/>
              </a:rPr>
              <a:t>PORTFOLIO CHARACTERISTICS</a:t>
            </a:r>
            <a:endParaRPr lang="en-US" sz="1000" dirty="0"/>
          </a:p>
        </p:txBody>
      </p:sp>
      <p:sp>
        <p:nvSpPr>
          <p:cNvPr id="22" name="Shape 13"/>
          <p:cNvSpPr/>
          <p:nvPr/>
        </p:nvSpPr>
        <p:spPr>
          <a:xfrm>
            <a:off x="7680960" y="2212848"/>
            <a:ext cx="4007815" cy="713232"/>
          </a:xfrm>
          <a:prstGeom prst="roundRect">
            <a:avLst>
              <a:gd name="adj" fmla="val 12821"/>
            </a:avLst>
          </a:prstGeom>
          <a:solidFill>
            <a:srgbClr val="F5F7F9"/>
          </a:solidFill>
          <a:ln w="12700">
            <a:solidFill>
              <a:srgbClr val="D9DEE5"/>
            </a:solidFill>
            <a:prstDash val="solid"/>
          </a:ln>
        </p:spPr>
      </p:sp>
      <p:sp>
        <p:nvSpPr>
          <p:cNvPr id="23" name="Shape 14"/>
          <p:cNvSpPr/>
          <p:nvPr/>
        </p:nvSpPr>
        <p:spPr>
          <a:xfrm>
            <a:off x="7827264" y="2340864"/>
            <a:ext cx="457200" cy="457200"/>
          </a:xfrm>
          <a:prstGeom prst="ellipse">
            <a:avLst/>
          </a:prstGeom>
          <a:solidFill>
            <a:srgbClr val="FFFFFF"/>
          </a:solidFill>
          <a:ln/>
        </p:spPr>
      </p:sp>
      <p:pic>
        <p:nvPicPr>
          <p:cNvPr id="24" name="Image 7" descr="assets/icons/repeat_orange.png">    </p:cNvPr>
          <p:cNvPicPr>
            <a:picLocks noChangeAspect="1"/>
          </p:cNvPicPr>
          <p:nvPr/>
        </p:nvPicPr>
        <p:blipFill>
          <a:blip r:embed="rId8"/>
          <a:stretch>
            <a:fillRect/>
          </a:stretch>
        </p:blipFill>
        <p:spPr>
          <a:xfrm>
            <a:off x="7946136" y="2459736"/>
            <a:ext cx="219456" cy="219456"/>
          </a:xfrm>
          <a:prstGeom prst="rect">
            <a:avLst/>
          </a:prstGeom>
        </p:spPr>
      </p:pic>
      <p:sp>
        <p:nvSpPr>
          <p:cNvPr id="25" name="Text 15"/>
          <p:cNvSpPr/>
          <p:nvPr/>
        </p:nvSpPr>
        <p:spPr>
          <a:xfrm>
            <a:off x="8412480" y="2304288"/>
            <a:ext cx="3139135" cy="329184"/>
          </a:xfrm>
          <a:prstGeom prst="rect">
            <a:avLst/>
          </a:prstGeom>
          <a:noFill/>
          <a:ln/>
        </p:spPr>
        <p:txBody>
          <a:bodyPr wrap="square" lIns="0" tIns="0" rIns="0" bIns="0" rtlCol="0" anchor="ctr"/>
          <a:lstStyle/>
          <a:p>
            <a:pPr indent="0" marL="0">
              <a:buNone/>
            </a:pPr>
            <a:r>
              <a:rPr lang="en-US" sz="1600" dirty="0">
                <a:solidFill>
                  <a:srgbClr val="222F44"/>
                </a:solidFill>
                <a:latin typeface="Source Serif Pro Black" pitchFamily="34" charset="0"/>
                <a:ea typeface="Source Serif Pro Black" pitchFamily="34" charset="-122"/>
                <a:cs typeface="Source Serif Pro Black" pitchFamily="34" charset="-120"/>
              </a:rPr>
              <a:t>Recurring</a:t>
            </a:r>
            <a:endParaRPr lang="en-US" sz="1600" dirty="0"/>
          </a:p>
        </p:txBody>
      </p:sp>
      <p:sp>
        <p:nvSpPr>
          <p:cNvPr id="26" name="Text 16"/>
          <p:cNvSpPr/>
          <p:nvPr/>
        </p:nvSpPr>
        <p:spPr>
          <a:xfrm>
            <a:off x="8412480" y="2615184"/>
            <a:ext cx="3139135" cy="256032"/>
          </a:xfrm>
          <a:prstGeom prst="rect">
            <a:avLst/>
          </a:prstGeom>
          <a:noFill/>
          <a:ln/>
        </p:spPr>
        <p:txBody>
          <a:bodyPr wrap="square" lIns="0" tIns="0" rIns="0" bIns="0" rtlCol="0" anchor="t"/>
          <a:lstStyle/>
          <a:p>
            <a:pPr indent="0" marL="0">
              <a:buNone/>
            </a:pPr>
            <a:r>
              <a:rPr lang="en-US" sz="900" dirty="0">
                <a:solidFill>
                  <a:srgbClr val="6B7686"/>
                </a:solidFill>
                <a:latin typeface="Poppins" pitchFamily="34" charset="0"/>
                <a:ea typeface="Poppins" pitchFamily="34" charset="-122"/>
                <a:cs typeface="Poppins" pitchFamily="34" charset="-120"/>
              </a:rPr>
              <a:t>revenue contract model</a:t>
            </a:r>
            <a:endParaRPr lang="en-US" sz="900" dirty="0"/>
          </a:p>
        </p:txBody>
      </p:sp>
      <p:sp>
        <p:nvSpPr>
          <p:cNvPr id="27" name="Shape 17"/>
          <p:cNvSpPr/>
          <p:nvPr/>
        </p:nvSpPr>
        <p:spPr>
          <a:xfrm>
            <a:off x="7680960" y="3035808"/>
            <a:ext cx="4007815" cy="713232"/>
          </a:xfrm>
          <a:prstGeom prst="roundRect">
            <a:avLst>
              <a:gd name="adj" fmla="val 12821"/>
            </a:avLst>
          </a:prstGeom>
          <a:solidFill>
            <a:srgbClr val="F5F7F9"/>
          </a:solidFill>
          <a:ln w="12700">
            <a:solidFill>
              <a:srgbClr val="D9DEE5"/>
            </a:solidFill>
            <a:prstDash val="solid"/>
          </a:ln>
        </p:spPr>
      </p:sp>
      <p:sp>
        <p:nvSpPr>
          <p:cNvPr id="28" name="Shape 18"/>
          <p:cNvSpPr/>
          <p:nvPr/>
        </p:nvSpPr>
        <p:spPr>
          <a:xfrm>
            <a:off x="7827264" y="3163824"/>
            <a:ext cx="457200" cy="457200"/>
          </a:xfrm>
          <a:prstGeom prst="ellipse">
            <a:avLst/>
          </a:prstGeom>
          <a:solidFill>
            <a:srgbClr val="FFFFFF"/>
          </a:solidFill>
          <a:ln/>
        </p:spPr>
      </p:sp>
      <p:pic>
        <p:nvPicPr>
          <p:cNvPr id="29" name="Image 8" descr="assets/icons/clock_orange.png">    </p:cNvPr>
          <p:cNvPicPr>
            <a:picLocks noChangeAspect="1"/>
          </p:cNvPicPr>
          <p:nvPr/>
        </p:nvPicPr>
        <p:blipFill>
          <a:blip r:embed="rId9"/>
          <a:stretch>
            <a:fillRect/>
          </a:stretch>
        </p:blipFill>
        <p:spPr>
          <a:xfrm>
            <a:off x="7946136" y="3282696"/>
            <a:ext cx="219456" cy="219456"/>
          </a:xfrm>
          <a:prstGeom prst="rect">
            <a:avLst/>
          </a:prstGeom>
        </p:spPr>
      </p:pic>
      <p:sp>
        <p:nvSpPr>
          <p:cNvPr id="30" name="Text 19"/>
          <p:cNvSpPr/>
          <p:nvPr/>
        </p:nvSpPr>
        <p:spPr>
          <a:xfrm>
            <a:off x="8412480" y="3127248"/>
            <a:ext cx="3139135" cy="329184"/>
          </a:xfrm>
          <a:prstGeom prst="rect">
            <a:avLst/>
          </a:prstGeom>
          <a:noFill/>
          <a:ln/>
        </p:spPr>
        <p:txBody>
          <a:bodyPr wrap="square" lIns="0" tIns="0" rIns="0" bIns="0" rtlCol="0" anchor="ctr"/>
          <a:lstStyle/>
          <a:p>
            <a:pPr indent="0" marL="0">
              <a:buNone/>
            </a:pPr>
            <a:r>
              <a:rPr lang="en-US" sz="1600" dirty="0">
                <a:solidFill>
                  <a:srgbClr val="222F44"/>
                </a:solidFill>
                <a:latin typeface="Source Serif Pro Black" pitchFamily="34" charset="0"/>
                <a:ea typeface="Source Serif Pro Black" pitchFamily="34" charset="-122"/>
                <a:cs typeface="Source Serif Pro Black" pitchFamily="34" charset="-120"/>
              </a:rPr>
              <a:t>3–5 years</a:t>
            </a:r>
            <a:endParaRPr lang="en-US" sz="1600" dirty="0"/>
          </a:p>
        </p:txBody>
      </p:sp>
      <p:sp>
        <p:nvSpPr>
          <p:cNvPr id="31" name="Text 20"/>
          <p:cNvSpPr/>
          <p:nvPr/>
        </p:nvSpPr>
        <p:spPr>
          <a:xfrm>
            <a:off x="8412480" y="3438144"/>
            <a:ext cx="3139135" cy="256032"/>
          </a:xfrm>
          <a:prstGeom prst="rect">
            <a:avLst/>
          </a:prstGeom>
          <a:noFill/>
          <a:ln/>
        </p:spPr>
        <p:txBody>
          <a:bodyPr wrap="square" lIns="0" tIns="0" rIns="0" bIns="0" rtlCol="0" anchor="t"/>
          <a:lstStyle/>
          <a:p>
            <a:pPr indent="0" marL="0">
              <a:buNone/>
            </a:pPr>
            <a:r>
              <a:rPr lang="en-US" sz="900" dirty="0">
                <a:solidFill>
                  <a:srgbClr val="6B7686"/>
                </a:solidFill>
                <a:latin typeface="Poppins" pitchFamily="34" charset="0"/>
                <a:ea typeface="Poppins" pitchFamily="34" charset="-122"/>
                <a:cs typeface="Poppins" pitchFamily="34" charset="-120"/>
              </a:rPr>
              <a:t>average contract term</a:t>
            </a:r>
            <a:endParaRPr lang="en-US" sz="900" dirty="0"/>
          </a:p>
        </p:txBody>
      </p:sp>
      <p:sp>
        <p:nvSpPr>
          <p:cNvPr id="32" name="Shape 21"/>
          <p:cNvSpPr/>
          <p:nvPr/>
        </p:nvSpPr>
        <p:spPr>
          <a:xfrm>
            <a:off x="7680960" y="3858768"/>
            <a:ext cx="4007815" cy="713232"/>
          </a:xfrm>
          <a:prstGeom prst="roundRect">
            <a:avLst>
              <a:gd name="adj" fmla="val 12821"/>
            </a:avLst>
          </a:prstGeom>
          <a:solidFill>
            <a:srgbClr val="F5F7F9"/>
          </a:solidFill>
          <a:ln w="12700">
            <a:solidFill>
              <a:srgbClr val="D9DEE5"/>
            </a:solidFill>
            <a:prstDash val="solid"/>
          </a:ln>
        </p:spPr>
      </p:sp>
      <p:sp>
        <p:nvSpPr>
          <p:cNvPr id="33" name="Shape 22"/>
          <p:cNvSpPr/>
          <p:nvPr/>
        </p:nvSpPr>
        <p:spPr>
          <a:xfrm>
            <a:off x="7827264" y="3986784"/>
            <a:ext cx="457200" cy="457200"/>
          </a:xfrm>
          <a:prstGeom prst="ellipse">
            <a:avLst/>
          </a:prstGeom>
          <a:solidFill>
            <a:srgbClr val="FFFFFF"/>
          </a:solidFill>
          <a:ln/>
        </p:spPr>
      </p:sp>
      <p:pic>
        <p:nvPicPr>
          <p:cNvPr id="34" name="Image 9" descr="assets/icons/contract_orange.png">    </p:cNvPr>
          <p:cNvPicPr>
            <a:picLocks noChangeAspect="1"/>
          </p:cNvPicPr>
          <p:nvPr/>
        </p:nvPicPr>
        <p:blipFill>
          <a:blip r:embed="rId10"/>
          <a:stretch>
            <a:fillRect/>
          </a:stretch>
        </p:blipFill>
        <p:spPr>
          <a:xfrm>
            <a:off x="7946136" y="4105656"/>
            <a:ext cx="219456" cy="219456"/>
          </a:xfrm>
          <a:prstGeom prst="rect">
            <a:avLst/>
          </a:prstGeom>
        </p:spPr>
      </p:pic>
      <p:sp>
        <p:nvSpPr>
          <p:cNvPr id="35" name="Text 23"/>
          <p:cNvSpPr/>
          <p:nvPr/>
        </p:nvSpPr>
        <p:spPr>
          <a:xfrm>
            <a:off x="8412480" y="3950208"/>
            <a:ext cx="3139135" cy="329184"/>
          </a:xfrm>
          <a:prstGeom prst="rect">
            <a:avLst/>
          </a:prstGeom>
          <a:noFill/>
          <a:ln/>
        </p:spPr>
        <p:txBody>
          <a:bodyPr wrap="square" lIns="0" tIns="0" rIns="0" bIns="0" rtlCol="0" anchor="ctr"/>
          <a:lstStyle/>
          <a:p>
            <a:pPr indent="0" marL="0">
              <a:buNone/>
            </a:pPr>
            <a:r>
              <a:rPr lang="en-US" sz="1600" dirty="0">
                <a:solidFill>
                  <a:srgbClr val="222F44"/>
                </a:solidFill>
                <a:latin typeface="Source Serif Pro Black" pitchFamily="34" charset="0"/>
                <a:ea typeface="Source Serif Pro Black" pitchFamily="34" charset="-122"/>
                <a:cs typeface="Source Serif Pro Black" pitchFamily="34" charset="-120"/>
              </a:rPr>
              <a:t>[XXX]</a:t>
            </a:r>
            <a:endParaRPr lang="en-US" sz="1600" dirty="0"/>
          </a:p>
        </p:txBody>
      </p:sp>
      <p:sp>
        <p:nvSpPr>
          <p:cNvPr id="36" name="Text 24"/>
          <p:cNvSpPr/>
          <p:nvPr/>
        </p:nvSpPr>
        <p:spPr>
          <a:xfrm>
            <a:off x="8412480" y="4261104"/>
            <a:ext cx="3139135" cy="256032"/>
          </a:xfrm>
          <a:prstGeom prst="rect">
            <a:avLst/>
          </a:prstGeom>
          <a:noFill/>
          <a:ln/>
        </p:spPr>
        <p:txBody>
          <a:bodyPr wrap="square" lIns="0" tIns="0" rIns="0" bIns="0" rtlCol="0" anchor="t"/>
          <a:lstStyle/>
          <a:p>
            <a:pPr indent="0" marL="0">
              <a:buNone/>
            </a:pPr>
            <a:r>
              <a:rPr lang="en-US" sz="900" dirty="0">
                <a:solidFill>
                  <a:srgbClr val="6B7686"/>
                </a:solidFill>
                <a:latin typeface="Poppins" pitchFamily="34" charset="0"/>
                <a:ea typeface="Poppins" pitchFamily="34" charset="-122"/>
                <a:cs typeface="Poppins" pitchFamily="34" charset="-120"/>
              </a:rPr>
              <a:t>contracts executed</a:t>
            </a:r>
            <a:endParaRPr lang="en-US" sz="900" dirty="0"/>
          </a:p>
        </p:txBody>
      </p:sp>
      <p:sp>
        <p:nvSpPr>
          <p:cNvPr id="37" name="Shape 25"/>
          <p:cNvSpPr/>
          <p:nvPr/>
        </p:nvSpPr>
        <p:spPr>
          <a:xfrm>
            <a:off x="7680960" y="4681728"/>
            <a:ext cx="4007815" cy="713232"/>
          </a:xfrm>
          <a:prstGeom prst="roundRect">
            <a:avLst>
              <a:gd name="adj" fmla="val 12821"/>
            </a:avLst>
          </a:prstGeom>
          <a:solidFill>
            <a:srgbClr val="F5F7F9"/>
          </a:solidFill>
          <a:ln w="12700">
            <a:solidFill>
              <a:srgbClr val="D9DEE5"/>
            </a:solidFill>
            <a:prstDash val="solid"/>
          </a:ln>
        </p:spPr>
      </p:sp>
      <p:sp>
        <p:nvSpPr>
          <p:cNvPr id="38" name="Shape 26"/>
          <p:cNvSpPr/>
          <p:nvPr/>
        </p:nvSpPr>
        <p:spPr>
          <a:xfrm>
            <a:off x="7827264" y="4809744"/>
            <a:ext cx="457200" cy="457200"/>
          </a:xfrm>
          <a:prstGeom prst="ellipse">
            <a:avLst/>
          </a:prstGeom>
          <a:solidFill>
            <a:srgbClr val="FFFFFF"/>
          </a:solidFill>
          <a:ln/>
        </p:spPr>
      </p:sp>
      <p:pic>
        <p:nvPicPr>
          <p:cNvPr id="39" name="Image 10" descr="assets/icons/barchart_orange.png">    </p:cNvPr>
          <p:cNvPicPr>
            <a:picLocks noChangeAspect="1"/>
          </p:cNvPicPr>
          <p:nvPr/>
        </p:nvPicPr>
        <p:blipFill>
          <a:blip r:embed="rId11"/>
          <a:stretch>
            <a:fillRect/>
          </a:stretch>
        </p:blipFill>
        <p:spPr>
          <a:xfrm>
            <a:off x="7946136" y="4928616"/>
            <a:ext cx="219456" cy="219456"/>
          </a:xfrm>
          <a:prstGeom prst="rect">
            <a:avLst/>
          </a:prstGeom>
        </p:spPr>
      </p:pic>
      <p:sp>
        <p:nvSpPr>
          <p:cNvPr id="40" name="Text 27"/>
          <p:cNvSpPr/>
          <p:nvPr/>
        </p:nvSpPr>
        <p:spPr>
          <a:xfrm>
            <a:off x="8412480" y="4773168"/>
            <a:ext cx="3139135" cy="329184"/>
          </a:xfrm>
          <a:prstGeom prst="rect">
            <a:avLst/>
          </a:prstGeom>
          <a:noFill/>
          <a:ln/>
        </p:spPr>
        <p:txBody>
          <a:bodyPr wrap="square" lIns="0" tIns="0" rIns="0" bIns="0" rtlCol="0" anchor="ctr"/>
          <a:lstStyle/>
          <a:p>
            <a:pPr indent="0" marL="0">
              <a:buNone/>
            </a:pPr>
            <a:r>
              <a:rPr lang="en-US" sz="1600" dirty="0">
                <a:solidFill>
                  <a:srgbClr val="222F44"/>
                </a:solidFill>
                <a:latin typeface="Source Serif Pro Black" pitchFamily="34" charset="0"/>
                <a:ea typeface="Source Serif Pro Black" pitchFamily="34" charset="-122"/>
                <a:cs typeface="Source Serif Pro Black" pitchFamily="34" charset="-120"/>
              </a:rPr>
              <a:t>[XXX]</a:t>
            </a:r>
            <a:endParaRPr lang="en-US" sz="1600" dirty="0"/>
          </a:p>
        </p:txBody>
      </p:sp>
      <p:sp>
        <p:nvSpPr>
          <p:cNvPr id="41" name="Text 28"/>
          <p:cNvSpPr/>
          <p:nvPr/>
        </p:nvSpPr>
        <p:spPr>
          <a:xfrm>
            <a:off x="8412480" y="5084064"/>
            <a:ext cx="3139135" cy="256032"/>
          </a:xfrm>
          <a:prstGeom prst="rect">
            <a:avLst/>
          </a:prstGeom>
          <a:noFill/>
          <a:ln/>
        </p:spPr>
        <p:txBody>
          <a:bodyPr wrap="square" lIns="0" tIns="0" rIns="0" bIns="0" rtlCol="0" anchor="t"/>
          <a:lstStyle/>
          <a:p>
            <a:pPr indent="0" marL="0">
              <a:buNone/>
            </a:pPr>
            <a:r>
              <a:rPr lang="en-US" sz="900" dirty="0">
                <a:solidFill>
                  <a:srgbClr val="6B7686"/>
                </a:solidFill>
                <a:latin typeface="Poppins" pitchFamily="34" charset="0"/>
                <a:ea typeface="Poppins" pitchFamily="34" charset="-122"/>
                <a:cs typeface="Poppins" pitchFamily="34" charset="-120"/>
              </a:rPr>
              <a:t>of contract backlog</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assets/igc_navy.png">    </p:cNvPr>
          <p:cNvPicPr>
            <a:picLocks noChangeAspect="1"/>
          </p:cNvPicPr>
          <p:nvPr/>
        </p:nvPicPr>
        <p:blipFill>
          <a:blip r:embed="rId1"/>
          <a:stretch>
            <a:fillRect/>
          </a:stretch>
        </p:blipFill>
        <p:spPr>
          <a:xfrm>
            <a:off x="11121847" y="310896"/>
            <a:ext cx="566928" cy="490078"/>
          </a:xfrm>
          <a:prstGeom prst="rect">
            <a:avLst/>
          </a:prstGeom>
        </p:spPr>
      </p:pic>
      <p:sp>
        <p:nvSpPr>
          <p:cNvPr id="3" name="Text 0"/>
          <p:cNvSpPr/>
          <p:nvPr/>
        </p:nvSpPr>
        <p:spPr>
          <a:xfrm>
            <a:off x="502920" y="384048"/>
            <a:ext cx="7315200" cy="256032"/>
          </a:xfrm>
          <a:prstGeom prst="rect">
            <a:avLst/>
          </a:prstGeom>
          <a:noFill/>
          <a:ln/>
        </p:spPr>
        <p:txBody>
          <a:bodyPr wrap="square" rtlCol="0" anchor="ctr"/>
          <a:lstStyle/>
          <a:p>
            <a:pPr algn="l" indent="0" marL="0">
              <a:buNone/>
            </a:pPr>
            <a:r>
              <a:rPr lang="en-US" sz="1050" spc="200" kern="0" dirty="0">
                <a:solidFill>
                  <a:srgbClr val="F35B1A"/>
                </a:solidFill>
                <a:latin typeface="Poppins SemiBold" pitchFamily="34" charset="0"/>
                <a:ea typeface="Poppins SemiBold" pitchFamily="34" charset="-122"/>
                <a:cs typeface="Poppins SemiBold" pitchFamily="34" charset="-120"/>
              </a:rPr>
              <a:t>COMPANY OVERVIEW</a:t>
            </a:r>
            <a:endParaRPr lang="en-US" sz="1050" dirty="0"/>
          </a:p>
        </p:txBody>
      </p:sp>
      <p:sp>
        <p:nvSpPr>
          <p:cNvPr id="4" name="Text 1"/>
          <p:cNvSpPr/>
          <p:nvPr/>
        </p:nvSpPr>
        <p:spPr>
          <a:xfrm>
            <a:off x="502920" y="603504"/>
            <a:ext cx="10408615" cy="640080"/>
          </a:xfrm>
          <a:prstGeom prst="rect">
            <a:avLst/>
          </a:prstGeom>
          <a:noFill/>
          <a:ln/>
        </p:spPr>
        <p:txBody>
          <a:bodyPr wrap="square" rtlCol="0" anchor="t"/>
          <a:lstStyle/>
          <a:p>
            <a:pPr algn="l" indent="0" marL="0">
              <a:buNone/>
            </a:pPr>
            <a:r>
              <a:rPr lang="en-US" sz="2500" dirty="0">
                <a:solidFill>
                  <a:srgbClr val="222F44"/>
                </a:solidFill>
                <a:latin typeface="Source Serif Pro SemiBold" pitchFamily="34" charset="0"/>
                <a:ea typeface="Source Serif Pro SemiBold" pitchFamily="34" charset="-122"/>
                <a:cs typeface="Source Serif Pro SemiBold" pitchFamily="34" charset="-120"/>
              </a:rPr>
              <a:t>A modern, fully-owned fleet tailored to client needs</a:t>
            </a:r>
            <a:endParaRPr lang="en-US" sz="2500" dirty="0"/>
          </a:p>
        </p:txBody>
      </p:sp>
      <p:sp>
        <p:nvSpPr>
          <p:cNvPr id="5" name="Text 2"/>
          <p:cNvSpPr/>
          <p:nvPr/>
        </p:nvSpPr>
        <p:spPr>
          <a:xfrm>
            <a:off x="502920" y="1225296"/>
            <a:ext cx="10408615" cy="457200"/>
          </a:xfrm>
          <a:prstGeom prst="rect">
            <a:avLst/>
          </a:prstGeom>
          <a:noFill/>
          <a:ln/>
        </p:spPr>
        <p:txBody>
          <a:bodyPr wrap="square" rtlCol="0" anchor="t"/>
          <a:lstStyle/>
          <a:p>
            <a:pPr algn="l" indent="0" marL="0">
              <a:buNone/>
            </a:pPr>
            <a:r>
              <a:rPr lang="en-US" sz="1250" dirty="0">
                <a:solidFill>
                  <a:srgbClr val="6B7686"/>
                </a:solidFill>
                <a:latin typeface="Poppins" pitchFamily="34" charset="0"/>
                <a:ea typeface="Poppins" pitchFamily="34" charset="-122"/>
                <a:cs typeface="Poppins" pitchFamily="34" charset="-120"/>
              </a:rPr>
              <a:t>Fleet composition and leading chassis brands across a 373-vehicle base</a:t>
            </a:r>
            <a:endParaRPr lang="en-US" sz="1250" dirty="0"/>
          </a:p>
        </p:txBody>
      </p:sp>
      <p:sp>
        <p:nvSpPr>
          <p:cNvPr id="6" name="Text 3"/>
          <p:cNvSpPr/>
          <p:nvPr/>
        </p:nvSpPr>
        <p:spPr>
          <a:xfrm>
            <a:off x="502920" y="6547104"/>
            <a:ext cx="10180015" cy="237744"/>
          </a:xfrm>
          <a:prstGeom prst="rect">
            <a:avLst/>
          </a:prstGeom>
          <a:noFill/>
          <a:ln/>
        </p:spPr>
        <p:txBody>
          <a:bodyPr wrap="square" rtlCol="0" anchor="ctr"/>
          <a:lstStyle/>
          <a:p>
            <a:pPr algn="l" indent="0" marL="0">
              <a:buNone/>
            </a:pPr>
            <a:r>
              <a:rPr lang="en-US" sz="700" dirty="0">
                <a:solidFill>
                  <a:srgbClr val="97A0AD"/>
                </a:solidFill>
                <a:latin typeface="Poppins" pitchFamily="34" charset="0"/>
                <a:ea typeface="Poppins" pitchFamily="34" charset="-122"/>
                <a:cs typeface="Poppins" pitchFamily="34" charset="-120"/>
              </a:rPr>
              <a:t>Source: Company; Jan-2026 fleet register. (1) Based on chassis manufacture year; Company materials cite 4 years – to reconcile. (2) 373 owned assets (100% of fleet). (3) Owned assets.</a:t>
            </a:r>
            <a:endParaRPr lang="en-US" sz="700" dirty="0"/>
          </a:p>
        </p:txBody>
      </p:sp>
      <p:sp>
        <p:nvSpPr>
          <p:cNvPr id="7" name="Text 4"/>
          <p:cNvSpPr/>
          <p:nvPr/>
        </p:nvSpPr>
        <p:spPr>
          <a:xfrm>
            <a:off x="10728655" y="6547104"/>
            <a:ext cx="960120" cy="237744"/>
          </a:xfrm>
          <a:prstGeom prst="rect">
            <a:avLst/>
          </a:prstGeom>
          <a:noFill/>
          <a:ln/>
        </p:spPr>
        <p:txBody>
          <a:bodyPr wrap="square" rtlCol="0" anchor="ctr"/>
          <a:lstStyle/>
          <a:p>
            <a:pPr algn="r" indent="0" marL="0">
              <a:buNone/>
            </a:pPr>
            <a:r>
              <a:rPr lang="en-US" sz="850" dirty="0">
                <a:solidFill>
                  <a:srgbClr val="97A0AD"/>
                </a:solidFill>
                <a:latin typeface="Poppins Medium" pitchFamily="34" charset="0"/>
                <a:ea typeface="Poppins Medium" pitchFamily="34" charset="-122"/>
                <a:cs typeface="Poppins Medium" pitchFamily="34" charset="-120"/>
              </a:rPr>
              <a:t>Confidential   </a:t>
            </a:r>
            <a:pPr algn="r" indent="0" marL="0">
              <a:buNone/>
            </a:pPr>
            <a:r>
              <a:rPr lang="en-US" sz="850" b="1" dirty="0">
                <a:solidFill>
                  <a:srgbClr val="222F44"/>
                </a:solidFill>
                <a:latin typeface="Poppins Medium" pitchFamily="34" charset="0"/>
                <a:ea typeface="Poppins Medium" pitchFamily="34" charset="-122"/>
                <a:cs typeface="Poppins Medium" pitchFamily="34" charset="-120"/>
              </a:rPr>
              <a:t>9</a:t>
            </a:r>
            <a:endParaRPr lang="en-US" sz="850" dirty="0"/>
          </a:p>
        </p:txBody>
      </p:sp>
      <p:sp>
        <p:nvSpPr>
          <p:cNvPr id="8" name="Shape 5"/>
          <p:cNvSpPr/>
          <p:nvPr/>
        </p:nvSpPr>
        <p:spPr>
          <a:xfrm>
            <a:off x="502920" y="1828800"/>
            <a:ext cx="2834640" cy="3703320"/>
          </a:xfrm>
          <a:prstGeom prst="roundRect">
            <a:avLst>
              <a:gd name="adj" fmla="val 3871"/>
            </a:avLst>
          </a:prstGeom>
          <a:solidFill>
            <a:srgbClr val="222F44"/>
          </a:solidFill>
          <a:ln/>
        </p:spPr>
      </p:sp>
      <p:sp>
        <p:nvSpPr>
          <p:cNvPr id="9" name="Text 6"/>
          <p:cNvSpPr/>
          <p:nvPr/>
        </p:nvSpPr>
        <p:spPr>
          <a:xfrm>
            <a:off x="777240" y="2029968"/>
            <a:ext cx="2286000" cy="274320"/>
          </a:xfrm>
          <a:prstGeom prst="rect">
            <a:avLst/>
          </a:prstGeom>
          <a:noFill/>
          <a:ln/>
        </p:spPr>
        <p:txBody>
          <a:bodyPr wrap="square" rtlCol="0" anchor="ctr"/>
          <a:lstStyle/>
          <a:p>
            <a:pPr indent="0" marL="0">
              <a:buNone/>
            </a:pPr>
            <a:r>
              <a:rPr lang="en-US" sz="1000" spc="200" kern="0" dirty="0">
                <a:solidFill>
                  <a:srgbClr val="F35B1A"/>
                </a:solidFill>
                <a:latin typeface="Poppins SemiBold" pitchFamily="34" charset="0"/>
                <a:ea typeface="Poppins SemiBold" pitchFamily="34" charset="-122"/>
                <a:cs typeface="Poppins SemiBold" pitchFamily="34" charset="-120"/>
              </a:rPr>
              <a:t>HIGHLIGHTS</a:t>
            </a:r>
            <a:endParaRPr lang="en-US" sz="1000" dirty="0"/>
          </a:p>
        </p:txBody>
      </p:sp>
      <p:sp>
        <p:nvSpPr>
          <p:cNvPr id="10" name="Text 7"/>
          <p:cNvSpPr/>
          <p:nvPr/>
        </p:nvSpPr>
        <p:spPr>
          <a:xfrm>
            <a:off x="777240" y="2395728"/>
            <a:ext cx="2286000" cy="402336"/>
          </a:xfrm>
          <a:prstGeom prst="rect">
            <a:avLst/>
          </a:prstGeom>
          <a:noFill/>
          <a:ln/>
        </p:spPr>
        <p:txBody>
          <a:bodyPr wrap="square" lIns="0" tIns="0" rIns="0" bIns="0" rtlCol="0" anchor="b"/>
          <a:lstStyle/>
          <a:p>
            <a:pPr indent="0" marL="0">
              <a:buNone/>
            </a:pPr>
            <a:r>
              <a:rPr lang="en-US" sz="2300" dirty="0">
                <a:solidFill>
                  <a:srgbClr val="FFFFFF"/>
                </a:solidFill>
                <a:latin typeface="Source Serif Pro Black" pitchFamily="34" charset="0"/>
                <a:ea typeface="Source Serif Pro Black" pitchFamily="34" charset="-122"/>
                <a:cs typeface="Source Serif Pro Black" pitchFamily="34" charset="-120"/>
              </a:rPr>
              <a:t>~6 years</a:t>
            </a:r>
            <a:endParaRPr lang="en-US" sz="2300" dirty="0"/>
          </a:p>
        </p:txBody>
      </p:sp>
      <p:sp>
        <p:nvSpPr>
          <p:cNvPr id="11" name="Text 8"/>
          <p:cNvSpPr/>
          <p:nvPr/>
        </p:nvSpPr>
        <p:spPr>
          <a:xfrm>
            <a:off x="777240" y="2816352"/>
            <a:ext cx="2286000" cy="274320"/>
          </a:xfrm>
          <a:prstGeom prst="rect">
            <a:avLst/>
          </a:prstGeom>
          <a:noFill/>
          <a:ln/>
        </p:spPr>
        <p:txBody>
          <a:bodyPr wrap="square" lIns="0" tIns="0" rIns="0" bIns="0" rtlCol="0" anchor="t"/>
          <a:lstStyle/>
          <a:p>
            <a:pPr indent="0" marL="0">
              <a:buNone/>
            </a:pPr>
            <a:r>
              <a:rPr lang="en-US" sz="950" dirty="0">
                <a:solidFill>
                  <a:srgbClr val="AEB7C4"/>
                </a:solidFill>
                <a:latin typeface="Poppins" pitchFamily="34" charset="0"/>
                <a:ea typeface="Poppins" pitchFamily="34" charset="-122"/>
                <a:cs typeface="Poppins" pitchFamily="34" charset="-120"/>
              </a:rPr>
              <a:t>Average fleet age¹</a:t>
            </a:r>
            <a:endParaRPr lang="en-US" sz="950" dirty="0"/>
          </a:p>
        </p:txBody>
      </p:sp>
      <p:sp>
        <p:nvSpPr>
          <p:cNvPr id="12" name="Shape 9"/>
          <p:cNvSpPr/>
          <p:nvPr/>
        </p:nvSpPr>
        <p:spPr>
          <a:xfrm>
            <a:off x="777240" y="3145536"/>
            <a:ext cx="2286000" cy="0"/>
          </a:xfrm>
          <a:prstGeom prst="line">
            <a:avLst/>
          </a:prstGeom>
          <a:noFill/>
          <a:ln w="12700">
            <a:solidFill>
              <a:srgbClr val="2C3B54"/>
            </a:solidFill>
            <a:prstDash val="solid"/>
          </a:ln>
        </p:spPr>
      </p:sp>
      <p:sp>
        <p:nvSpPr>
          <p:cNvPr id="13" name="Text 10"/>
          <p:cNvSpPr/>
          <p:nvPr/>
        </p:nvSpPr>
        <p:spPr>
          <a:xfrm>
            <a:off x="777240" y="3182112"/>
            <a:ext cx="2286000" cy="402336"/>
          </a:xfrm>
          <a:prstGeom prst="rect">
            <a:avLst/>
          </a:prstGeom>
          <a:noFill/>
          <a:ln/>
        </p:spPr>
        <p:txBody>
          <a:bodyPr wrap="square" lIns="0" tIns="0" rIns="0" bIns="0" rtlCol="0" anchor="b"/>
          <a:lstStyle/>
          <a:p>
            <a:pPr indent="0" marL="0">
              <a:buNone/>
            </a:pPr>
            <a:r>
              <a:rPr lang="en-US" sz="2300" dirty="0">
                <a:solidFill>
                  <a:srgbClr val="FFFFFF"/>
                </a:solidFill>
                <a:latin typeface="Source Serif Pro Black" pitchFamily="34" charset="0"/>
                <a:ea typeface="Source Serif Pro Black" pitchFamily="34" charset="-122"/>
                <a:cs typeface="Source Serif Pro Black" pitchFamily="34" charset="-120"/>
              </a:rPr>
              <a:t>373</a:t>
            </a:r>
            <a:endParaRPr lang="en-US" sz="2300" dirty="0"/>
          </a:p>
        </p:txBody>
      </p:sp>
      <p:sp>
        <p:nvSpPr>
          <p:cNvPr id="14" name="Text 11"/>
          <p:cNvSpPr/>
          <p:nvPr/>
        </p:nvSpPr>
        <p:spPr>
          <a:xfrm>
            <a:off x="777240" y="3602736"/>
            <a:ext cx="2286000" cy="274320"/>
          </a:xfrm>
          <a:prstGeom prst="rect">
            <a:avLst/>
          </a:prstGeom>
          <a:noFill/>
          <a:ln/>
        </p:spPr>
        <p:txBody>
          <a:bodyPr wrap="square" lIns="0" tIns="0" rIns="0" bIns="0" rtlCol="0" anchor="t"/>
          <a:lstStyle/>
          <a:p>
            <a:pPr indent="0" marL="0">
              <a:buNone/>
            </a:pPr>
            <a:r>
              <a:rPr lang="en-US" sz="950" dirty="0">
                <a:solidFill>
                  <a:srgbClr val="AEB7C4"/>
                </a:solidFill>
                <a:latin typeface="Poppins" pitchFamily="34" charset="0"/>
                <a:ea typeface="Poppins" pitchFamily="34" charset="-122"/>
                <a:cs typeface="Poppins" pitchFamily="34" charset="-120"/>
              </a:rPr>
              <a:t>Total fleet²</a:t>
            </a:r>
            <a:endParaRPr lang="en-US" sz="950" dirty="0"/>
          </a:p>
        </p:txBody>
      </p:sp>
      <p:sp>
        <p:nvSpPr>
          <p:cNvPr id="15" name="Shape 12"/>
          <p:cNvSpPr/>
          <p:nvPr/>
        </p:nvSpPr>
        <p:spPr>
          <a:xfrm>
            <a:off x="777240" y="3931920"/>
            <a:ext cx="2286000" cy="0"/>
          </a:xfrm>
          <a:prstGeom prst="line">
            <a:avLst/>
          </a:prstGeom>
          <a:noFill/>
          <a:ln w="12700">
            <a:solidFill>
              <a:srgbClr val="2C3B54"/>
            </a:solidFill>
            <a:prstDash val="solid"/>
          </a:ln>
        </p:spPr>
      </p:sp>
      <p:sp>
        <p:nvSpPr>
          <p:cNvPr id="16" name="Text 13"/>
          <p:cNvSpPr/>
          <p:nvPr/>
        </p:nvSpPr>
        <p:spPr>
          <a:xfrm>
            <a:off x="777240" y="3968496"/>
            <a:ext cx="2286000" cy="402336"/>
          </a:xfrm>
          <a:prstGeom prst="rect">
            <a:avLst/>
          </a:prstGeom>
          <a:noFill/>
          <a:ln/>
        </p:spPr>
        <p:txBody>
          <a:bodyPr wrap="square" lIns="0" tIns="0" rIns="0" bIns="0" rtlCol="0" anchor="b"/>
          <a:lstStyle/>
          <a:p>
            <a:pPr indent="0" marL="0">
              <a:buNone/>
            </a:pPr>
            <a:r>
              <a:rPr lang="en-US" sz="2300" dirty="0">
                <a:solidFill>
                  <a:srgbClr val="FFFFFF"/>
                </a:solidFill>
                <a:latin typeface="Source Serif Pro Black" pitchFamily="34" charset="0"/>
                <a:ea typeface="Source Serif Pro Black" pitchFamily="34" charset="-122"/>
                <a:cs typeface="Source Serif Pro Black" pitchFamily="34" charset="-120"/>
              </a:rPr>
              <a:t>~BRL 198 Mn</a:t>
            </a:r>
            <a:endParaRPr lang="en-US" sz="2300" dirty="0"/>
          </a:p>
        </p:txBody>
      </p:sp>
      <p:sp>
        <p:nvSpPr>
          <p:cNvPr id="17" name="Text 14"/>
          <p:cNvSpPr/>
          <p:nvPr/>
        </p:nvSpPr>
        <p:spPr>
          <a:xfrm>
            <a:off x="777240" y="4389120"/>
            <a:ext cx="2286000" cy="274320"/>
          </a:xfrm>
          <a:prstGeom prst="rect">
            <a:avLst/>
          </a:prstGeom>
          <a:noFill/>
          <a:ln/>
        </p:spPr>
        <p:txBody>
          <a:bodyPr wrap="square" lIns="0" tIns="0" rIns="0" bIns="0" rtlCol="0" anchor="t"/>
          <a:lstStyle/>
          <a:p>
            <a:pPr indent="0" marL="0">
              <a:buNone/>
            </a:pPr>
            <a:r>
              <a:rPr lang="en-US" sz="950" dirty="0">
                <a:solidFill>
                  <a:srgbClr val="AEB7C4"/>
                </a:solidFill>
                <a:latin typeface="Poppins" pitchFamily="34" charset="0"/>
                <a:ea typeface="Poppins" pitchFamily="34" charset="-122"/>
                <a:cs typeface="Poppins" pitchFamily="34" charset="-120"/>
              </a:rPr>
              <a:t>Total equipment value³</a:t>
            </a:r>
            <a:endParaRPr lang="en-US" sz="950" dirty="0"/>
          </a:p>
        </p:txBody>
      </p:sp>
      <p:sp>
        <p:nvSpPr>
          <p:cNvPr id="18" name="Shape 15"/>
          <p:cNvSpPr/>
          <p:nvPr/>
        </p:nvSpPr>
        <p:spPr>
          <a:xfrm>
            <a:off x="777240" y="4718304"/>
            <a:ext cx="2286000" cy="0"/>
          </a:xfrm>
          <a:prstGeom prst="line">
            <a:avLst/>
          </a:prstGeom>
          <a:noFill/>
          <a:ln w="12700">
            <a:solidFill>
              <a:srgbClr val="2C3B54"/>
            </a:solidFill>
            <a:prstDash val="solid"/>
          </a:ln>
        </p:spPr>
      </p:sp>
      <p:sp>
        <p:nvSpPr>
          <p:cNvPr id="19" name="Text 16"/>
          <p:cNvSpPr/>
          <p:nvPr/>
        </p:nvSpPr>
        <p:spPr>
          <a:xfrm>
            <a:off x="777240" y="4754880"/>
            <a:ext cx="2286000" cy="402336"/>
          </a:xfrm>
          <a:prstGeom prst="rect">
            <a:avLst/>
          </a:prstGeom>
          <a:noFill/>
          <a:ln/>
        </p:spPr>
        <p:txBody>
          <a:bodyPr wrap="square" lIns="0" tIns="0" rIns="0" bIns="0" rtlCol="0" anchor="b"/>
          <a:lstStyle/>
          <a:p>
            <a:pPr indent="0" marL="0">
              <a:buNone/>
            </a:pPr>
            <a:r>
              <a:rPr lang="en-US" sz="2300" dirty="0">
                <a:solidFill>
                  <a:srgbClr val="FFFFFF"/>
                </a:solidFill>
                <a:latin typeface="Source Serif Pro Black" pitchFamily="34" charset="0"/>
                <a:ea typeface="Source Serif Pro Black" pitchFamily="34" charset="-122"/>
                <a:cs typeface="Source Serif Pro Black" pitchFamily="34" charset="-120"/>
              </a:rPr>
              <a:t>100%</a:t>
            </a:r>
            <a:endParaRPr lang="en-US" sz="2300" dirty="0"/>
          </a:p>
        </p:txBody>
      </p:sp>
      <p:sp>
        <p:nvSpPr>
          <p:cNvPr id="20" name="Text 17"/>
          <p:cNvSpPr/>
          <p:nvPr/>
        </p:nvSpPr>
        <p:spPr>
          <a:xfrm>
            <a:off x="777240" y="5175504"/>
            <a:ext cx="2286000" cy="274320"/>
          </a:xfrm>
          <a:prstGeom prst="rect">
            <a:avLst/>
          </a:prstGeom>
          <a:noFill/>
          <a:ln/>
        </p:spPr>
        <p:txBody>
          <a:bodyPr wrap="square" lIns="0" tIns="0" rIns="0" bIns="0" rtlCol="0" anchor="t"/>
          <a:lstStyle/>
          <a:p>
            <a:pPr indent="0" marL="0">
              <a:buNone/>
            </a:pPr>
            <a:r>
              <a:rPr lang="en-US" sz="950" dirty="0">
                <a:solidFill>
                  <a:srgbClr val="AEB7C4"/>
                </a:solidFill>
                <a:latin typeface="Poppins" pitchFamily="34" charset="0"/>
                <a:ea typeface="Poppins" pitchFamily="34" charset="-122"/>
                <a:cs typeface="Poppins" pitchFamily="34" charset="-120"/>
              </a:rPr>
              <a:t>Owned fleet</a:t>
            </a:r>
            <a:endParaRPr lang="en-US" sz="950" dirty="0"/>
          </a:p>
        </p:txBody>
      </p:sp>
      <p:sp>
        <p:nvSpPr>
          <p:cNvPr id="21" name="Text 18"/>
          <p:cNvSpPr/>
          <p:nvPr/>
        </p:nvSpPr>
        <p:spPr>
          <a:xfrm>
            <a:off x="3611880" y="1828800"/>
            <a:ext cx="3977640" cy="237744"/>
          </a:xfrm>
          <a:prstGeom prst="rect">
            <a:avLst/>
          </a:prstGeom>
          <a:noFill/>
          <a:ln/>
        </p:spPr>
        <p:txBody>
          <a:bodyPr wrap="square" rtlCol="0" anchor="ctr"/>
          <a:lstStyle/>
          <a:p>
            <a:pPr indent="0" marL="0">
              <a:buNone/>
            </a:pPr>
            <a:r>
              <a:rPr lang="en-US" sz="1000" spc="150" kern="0" dirty="0">
                <a:solidFill>
                  <a:srgbClr val="F35B1A"/>
                </a:solidFill>
                <a:latin typeface="Poppins SemiBold" pitchFamily="34" charset="0"/>
                <a:ea typeface="Poppins SemiBold" pitchFamily="34" charset="-122"/>
                <a:cs typeface="Poppins SemiBold" pitchFamily="34" charset="-120"/>
              </a:rPr>
              <a:t>FLEET COMPOSITION</a:t>
            </a:r>
            <a:endParaRPr lang="en-US" sz="1000" dirty="0"/>
          </a:p>
        </p:txBody>
      </p:sp>
      <p:sp>
        <p:nvSpPr>
          <p:cNvPr id="22" name="Text 19"/>
          <p:cNvSpPr/>
          <p:nvPr/>
        </p:nvSpPr>
        <p:spPr>
          <a:xfrm>
            <a:off x="3611880" y="2231136"/>
            <a:ext cx="1828800" cy="274320"/>
          </a:xfrm>
          <a:prstGeom prst="rect">
            <a:avLst/>
          </a:prstGeom>
          <a:noFill/>
          <a:ln/>
        </p:spPr>
        <p:txBody>
          <a:bodyPr wrap="square" lIns="0" tIns="0" rIns="0" bIns="0" rtlCol="0" anchor="ctr"/>
          <a:lstStyle/>
          <a:p>
            <a:pPr indent="0" marL="0">
              <a:buNone/>
            </a:pPr>
            <a:r>
              <a:rPr lang="en-US" sz="1050" dirty="0">
                <a:solidFill>
                  <a:srgbClr val="2A3342"/>
                </a:solidFill>
                <a:latin typeface="Poppins Medium" pitchFamily="34" charset="0"/>
                <a:ea typeface="Poppins Medium" pitchFamily="34" charset="-122"/>
                <a:cs typeface="Poppins Medium" pitchFamily="34" charset="-120"/>
              </a:rPr>
              <a:t>Bus</a:t>
            </a:r>
            <a:endParaRPr lang="en-US" sz="1050" dirty="0"/>
          </a:p>
        </p:txBody>
      </p:sp>
      <p:sp>
        <p:nvSpPr>
          <p:cNvPr id="23" name="Text 20"/>
          <p:cNvSpPr/>
          <p:nvPr/>
        </p:nvSpPr>
        <p:spPr>
          <a:xfrm>
            <a:off x="6675120" y="2231136"/>
            <a:ext cx="914400" cy="274320"/>
          </a:xfrm>
          <a:prstGeom prst="rect">
            <a:avLst/>
          </a:prstGeom>
          <a:noFill/>
          <a:ln/>
        </p:spPr>
        <p:txBody>
          <a:bodyPr wrap="square" lIns="0" tIns="0" rIns="0" bIns="0" rtlCol="0" anchor="ctr"/>
          <a:lstStyle/>
          <a:p>
            <a:pPr algn="r" indent="0" marL="0">
              <a:buNone/>
            </a:pPr>
            <a:r>
              <a:rPr lang="en-US" sz="1050" dirty="0">
                <a:solidFill>
                  <a:srgbClr val="222F44"/>
                </a:solidFill>
                <a:latin typeface="Poppins SemiBold" pitchFamily="34" charset="0"/>
                <a:ea typeface="Poppins SemiBold" pitchFamily="34" charset="-122"/>
                <a:cs typeface="Poppins SemiBold" pitchFamily="34" charset="-120"/>
              </a:rPr>
              <a:t>223 un.</a:t>
            </a:r>
            <a:endParaRPr lang="en-US" sz="1050" dirty="0"/>
          </a:p>
        </p:txBody>
      </p:sp>
      <p:sp>
        <p:nvSpPr>
          <p:cNvPr id="24" name="Shape 21"/>
          <p:cNvSpPr/>
          <p:nvPr/>
        </p:nvSpPr>
        <p:spPr>
          <a:xfrm>
            <a:off x="3611880" y="2523744"/>
            <a:ext cx="3977640" cy="128016"/>
          </a:xfrm>
          <a:prstGeom prst="roundRect">
            <a:avLst>
              <a:gd name="adj" fmla="val 50000"/>
            </a:avLst>
          </a:prstGeom>
          <a:solidFill>
            <a:srgbClr val="EEF1F5"/>
          </a:solidFill>
          <a:ln/>
        </p:spPr>
      </p:sp>
      <p:sp>
        <p:nvSpPr>
          <p:cNvPr id="25" name="Shape 22"/>
          <p:cNvSpPr/>
          <p:nvPr/>
        </p:nvSpPr>
        <p:spPr>
          <a:xfrm>
            <a:off x="3611880" y="2523744"/>
            <a:ext cx="3977640" cy="128016"/>
          </a:xfrm>
          <a:prstGeom prst="roundRect">
            <a:avLst>
              <a:gd name="adj" fmla="val 50000"/>
            </a:avLst>
          </a:prstGeom>
          <a:solidFill>
            <a:srgbClr val="F35B1A"/>
          </a:solidFill>
          <a:ln/>
        </p:spPr>
      </p:sp>
      <p:sp>
        <p:nvSpPr>
          <p:cNvPr id="26" name="Text 23"/>
          <p:cNvSpPr/>
          <p:nvPr/>
        </p:nvSpPr>
        <p:spPr>
          <a:xfrm>
            <a:off x="3611880" y="2779776"/>
            <a:ext cx="1828800" cy="274320"/>
          </a:xfrm>
          <a:prstGeom prst="rect">
            <a:avLst/>
          </a:prstGeom>
          <a:noFill/>
          <a:ln/>
        </p:spPr>
        <p:txBody>
          <a:bodyPr wrap="square" lIns="0" tIns="0" rIns="0" bIns="0" rtlCol="0" anchor="ctr"/>
          <a:lstStyle/>
          <a:p>
            <a:pPr indent="0" marL="0">
              <a:buNone/>
            </a:pPr>
            <a:r>
              <a:rPr lang="en-US" sz="1050" dirty="0">
                <a:solidFill>
                  <a:srgbClr val="2A3342"/>
                </a:solidFill>
                <a:latin typeface="Poppins Medium" pitchFamily="34" charset="0"/>
                <a:ea typeface="Poppins Medium" pitchFamily="34" charset="-122"/>
                <a:cs typeface="Poppins Medium" pitchFamily="34" charset="-120"/>
              </a:rPr>
              <a:t>Micro-bus</a:t>
            </a:r>
            <a:endParaRPr lang="en-US" sz="1050" dirty="0"/>
          </a:p>
        </p:txBody>
      </p:sp>
      <p:sp>
        <p:nvSpPr>
          <p:cNvPr id="27" name="Text 24"/>
          <p:cNvSpPr/>
          <p:nvPr/>
        </p:nvSpPr>
        <p:spPr>
          <a:xfrm>
            <a:off x="6675120" y="2779776"/>
            <a:ext cx="914400" cy="274320"/>
          </a:xfrm>
          <a:prstGeom prst="rect">
            <a:avLst/>
          </a:prstGeom>
          <a:noFill/>
          <a:ln/>
        </p:spPr>
        <p:txBody>
          <a:bodyPr wrap="square" lIns="0" tIns="0" rIns="0" bIns="0" rtlCol="0" anchor="ctr"/>
          <a:lstStyle/>
          <a:p>
            <a:pPr algn="r" indent="0" marL="0">
              <a:buNone/>
            </a:pPr>
            <a:r>
              <a:rPr lang="en-US" sz="1050" dirty="0">
                <a:solidFill>
                  <a:srgbClr val="222F44"/>
                </a:solidFill>
                <a:latin typeface="Poppins SemiBold" pitchFamily="34" charset="0"/>
                <a:ea typeface="Poppins SemiBold" pitchFamily="34" charset="-122"/>
                <a:cs typeface="Poppins SemiBold" pitchFamily="34" charset="-120"/>
              </a:rPr>
              <a:t>74 un.</a:t>
            </a:r>
            <a:endParaRPr lang="en-US" sz="1050" dirty="0"/>
          </a:p>
        </p:txBody>
      </p:sp>
      <p:sp>
        <p:nvSpPr>
          <p:cNvPr id="28" name="Shape 25"/>
          <p:cNvSpPr/>
          <p:nvPr/>
        </p:nvSpPr>
        <p:spPr>
          <a:xfrm>
            <a:off x="3611880" y="3072384"/>
            <a:ext cx="3977640" cy="128016"/>
          </a:xfrm>
          <a:prstGeom prst="roundRect">
            <a:avLst>
              <a:gd name="adj" fmla="val 50000"/>
            </a:avLst>
          </a:prstGeom>
          <a:solidFill>
            <a:srgbClr val="EEF1F5"/>
          </a:solidFill>
          <a:ln/>
        </p:spPr>
      </p:sp>
      <p:sp>
        <p:nvSpPr>
          <p:cNvPr id="29" name="Shape 26"/>
          <p:cNvSpPr/>
          <p:nvPr/>
        </p:nvSpPr>
        <p:spPr>
          <a:xfrm>
            <a:off x="3611880" y="3072384"/>
            <a:ext cx="1319934" cy="128016"/>
          </a:xfrm>
          <a:prstGeom prst="roundRect">
            <a:avLst>
              <a:gd name="adj" fmla="val 50000"/>
            </a:avLst>
          </a:prstGeom>
          <a:solidFill>
            <a:srgbClr val="F35B1A"/>
          </a:solidFill>
          <a:ln/>
        </p:spPr>
      </p:sp>
      <p:sp>
        <p:nvSpPr>
          <p:cNvPr id="30" name="Text 27"/>
          <p:cNvSpPr/>
          <p:nvPr/>
        </p:nvSpPr>
        <p:spPr>
          <a:xfrm>
            <a:off x="3611880" y="3328416"/>
            <a:ext cx="1828800" cy="274320"/>
          </a:xfrm>
          <a:prstGeom prst="rect">
            <a:avLst/>
          </a:prstGeom>
          <a:noFill/>
          <a:ln/>
        </p:spPr>
        <p:txBody>
          <a:bodyPr wrap="square" lIns="0" tIns="0" rIns="0" bIns="0" rtlCol="0" anchor="ctr"/>
          <a:lstStyle/>
          <a:p>
            <a:pPr indent="0" marL="0">
              <a:buNone/>
            </a:pPr>
            <a:r>
              <a:rPr lang="en-US" sz="1050" dirty="0">
                <a:solidFill>
                  <a:srgbClr val="2A3342"/>
                </a:solidFill>
                <a:latin typeface="Poppins Medium" pitchFamily="34" charset="0"/>
                <a:ea typeface="Poppins Medium" pitchFamily="34" charset="-122"/>
                <a:cs typeface="Poppins Medium" pitchFamily="34" charset="-120"/>
              </a:rPr>
              <a:t>Van</a:t>
            </a:r>
            <a:endParaRPr lang="en-US" sz="1050" dirty="0"/>
          </a:p>
        </p:txBody>
      </p:sp>
      <p:sp>
        <p:nvSpPr>
          <p:cNvPr id="31" name="Text 28"/>
          <p:cNvSpPr/>
          <p:nvPr/>
        </p:nvSpPr>
        <p:spPr>
          <a:xfrm>
            <a:off x="6675120" y="3328416"/>
            <a:ext cx="914400" cy="274320"/>
          </a:xfrm>
          <a:prstGeom prst="rect">
            <a:avLst/>
          </a:prstGeom>
          <a:noFill/>
          <a:ln/>
        </p:spPr>
        <p:txBody>
          <a:bodyPr wrap="square" lIns="0" tIns="0" rIns="0" bIns="0" rtlCol="0" anchor="ctr"/>
          <a:lstStyle/>
          <a:p>
            <a:pPr algn="r" indent="0" marL="0">
              <a:buNone/>
            </a:pPr>
            <a:r>
              <a:rPr lang="en-US" sz="1050" dirty="0">
                <a:solidFill>
                  <a:srgbClr val="222F44"/>
                </a:solidFill>
                <a:latin typeface="Poppins SemiBold" pitchFamily="34" charset="0"/>
                <a:ea typeface="Poppins SemiBold" pitchFamily="34" charset="-122"/>
                <a:cs typeface="Poppins SemiBold" pitchFamily="34" charset="-120"/>
              </a:rPr>
              <a:t>55 un.</a:t>
            </a:r>
            <a:endParaRPr lang="en-US" sz="1050" dirty="0"/>
          </a:p>
        </p:txBody>
      </p:sp>
      <p:sp>
        <p:nvSpPr>
          <p:cNvPr id="32" name="Shape 29"/>
          <p:cNvSpPr/>
          <p:nvPr/>
        </p:nvSpPr>
        <p:spPr>
          <a:xfrm>
            <a:off x="3611880" y="3621024"/>
            <a:ext cx="3977640" cy="128016"/>
          </a:xfrm>
          <a:prstGeom prst="roundRect">
            <a:avLst>
              <a:gd name="adj" fmla="val 50000"/>
            </a:avLst>
          </a:prstGeom>
          <a:solidFill>
            <a:srgbClr val="EEF1F5"/>
          </a:solidFill>
          <a:ln/>
        </p:spPr>
      </p:sp>
      <p:sp>
        <p:nvSpPr>
          <p:cNvPr id="33" name="Shape 30"/>
          <p:cNvSpPr/>
          <p:nvPr/>
        </p:nvSpPr>
        <p:spPr>
          <a:xfrm>
            <a:off x="3611880" y="3621024"/>
            <a:ext cx="981032" cy="128016"/>
          </a:xfrm>
          <a:prstGeom prst="roundRect">
            <a:avLst>
              <a:gd name="adj" fmla="val 50000"/>
            </a:avLst>
          </a:prstGeom>
          <a:solidFill>
            <a:srgbClr val="F35B1A"/>
          </a:solidFill>
          <a:ln/>
        </p:spPr>
      </p:sp>
      <p:sp>
        <p:nvSpPr>
          <p:cNvPr id="34" name="Text 31"/>
          <p:cNvSpPr/>
          <p:nvPr/>
        </p:nvSpPr>
        <p:spPr>
          <a:xfrm>
            <a:off x="3611880" y="3877056"/>
            <a:ext cx="1828800" cy="274320"/>
          </a:xfrm>
          <a:prstGeom prst="rect">
            <a:avLst/>
          </a:prstGeom>
          <a:noFill/>
          <a:ln/>
        </p:spPr>
        <p:txBody>
          <a:bodyPr wrap="square" lIns="0" tIns="0" rIns="0" bIns="0" rtlCol="0" anchor="ctr"/>
          <a:lstStyle/>
          <a:p>
            <a:pPr indent="0" marL="0">
              <a:buNone/>
            </a:pPr>
            <a:r>
              <a:rPr lang="en-US" sz="1050" dirty="0">
                <a:solidFill>
                  <a:srgbClr val="2A3342"/>
                </a:solidFill>
                <a:latin typeface="Poppins Medium" pitchFamily="34" charset="0"/>
                <a:ea typeface="Poppins Medium" pitchFamily="34" charset="-122"/>
                <a:cs typeface="Poppins Medium" pitchFamily="34" charset="-120"/>
              </a:rPr>
              <a:t>Support vehicle</a:t>
            </a:r>
            <a:endParaRPr lang="en-US" sz="1050" dirty="0"/>
          </a:p>
        </p:txBody>
      </p:sp>
      <p:sp>
        <p:nvSpPr>
          <p:cNvPr id="35" name="Text 32"/>
          <p:cNvSpPr/>
          <p:nvPr/>
        </p:nvSpPr>
        <p:spPr>
          <a:xfrm>
            <a:off x="6675120" y="3877056"/>
            <a:ext cx="914400" cy="274320"/>
          </a:xfrm>
          <a:prstGeom prst="rect">
            <a:avLst/>
          </a:prstGeom>
          <a:noFill/>
          <a:ln/>
        </p:spPr>
        <p:txBody>
          <a:bodyPr wrap="square" lIns="0" tIns="0" rIns="0" bIns="0" rtlCol="0" anchor="ctr"/>
          <a:lstStyle/>
          <a:p>
            <a:pPr algn="r" indent="0" marL="0">
              <a:buNone/>
            </a:pPr>
            <a:r>
              <a:rPr lang="en-US" sz="1050" dirty="0">
                <a:solidFill>
                  <a:srgbClr val="222F44"/>
                </a:solidFill>
                <a:latin typeface="Poppins SemiBold" pitchFamily="34" charset="0"/>
                <a:ea typeface="Poppins SemiBold" pitchFamily="34" charset="-122"/>
                <a:cs typeface="Poppins SemiBold" pitchFamily="34" charset="-120"/>
              </a:rPr>
              <a:t>17 un.</a:t>
            </a:r>
            <a:endParaRPr lang="en-US" sz="1050" dirty="0"/>
          </a:p>
        </p:txBody>
      </p:sp>
      <p:sp>
        <p:nvSpPr>
          <p:cNvPr id="36" name="Shape 33"/>
          <p:cNvSpPr/>
          <p:nvPr/>
        </p:nvSpPr>
        <p:spPr>
          <a:xfrm>
            <a:off x="3611880" y="4169664"/>
            <a:ext cx="3977640" cy="128016"/>
          </a:xfrm>
          <a:prstGeom prst="roundRect">
            <a:avLst>
              <a:gd name="adj" fmla="val 50000"/>
            </a:avLst>
          </a:prstGeom>
          <a:solidFill>
            <a:srgbClr val="EEF1F5"/>
          </a:solidFill>
          <a:ln/>
        </p:spPr>
      </p:sp>
      <p:sp>
        <p:nvSpPr>
          <p:cNvPr id="37" name="Shape 34"/>
          <p:cNvSpPr/>
          <p:nvPr/>
        </p:nvSpPr>
        <p:spPr>
          <a:xfrm>
            <a:off x="3611880" y="4169664"/>
            <a:ext cx="303228" cy="128016"/>
          </a:xfrm>
          <a:prstGeom prst="roundRect">
            <a:avLst>
              <a:gd name="adj" fmla="val 50000"/>
            </a:avLst>
          </a:prstGeom>
          <a:solidFill>
            <a:srgbClr val="F35B1A"/>
          </a:solidFill>
          <a:ln/>
        </p:spPr>
      </p:sp>
      <p:sp>
        <p:nvSpPr>
          <p:cNvPr id="38" name="Text 35"/>
          <p:cNvSpPr/>
          <p:nvPr/>
        </p:nvSpPr>
        <p:spPr>
          <a:xfrm>
            <a:off x="3611880" y="4425696"/>
            <a:ext cx="1828800" cy="274320"/>
          </a:xfrm>
          <a:prstGeom prst="rect">
            <a:avLst/>
          </a:prstGeom>
          <a:noFill/>
          <a:ln/>
        </p:spPr>
        <p:txBody>
          <a:bodyPr wrap="square" lIns="0" tIns="0" rIns="0" bIns="0" rtlCol="0" anchor="ctr"/>
          <a:lstStyle/>
          <a:p>
            <a:pPr indent="0" marL="0">
              <a:buNone/>
            </a:pPr>
            <a:r>
              <a:rPr lang="en-US" sz="1050" dirty="0">
                <a:solidFill>
                  <a:srgbClr val="2A3342"/>
                </a:solidFill>
                <a:latin typeface="Poppins Medium" pitchFamily="34" charset="0"/>
                <a:ea typeface="Poppins Medium" pitchFamily="34" charset="-122"/>
                <a:cs typeface="Poppins Medium" pitchFamily="34" charset="-120"/>
              </a:rPr>
              <a:t>Truck</a:t>
            </a:r>
            <a:endParaRPr lang="en-US" sz="1050" dirty="0"/>
          </a:p>
        </p:txBody>
      </p:sp>
      <p:sp>
        <p:nvSpPr>
          <p:cNvPr id="39" name="Text 36"/>
          <p:cNvSpPr/>
          <p:nvPr/>
        </p:nvSpPr>
        <p:spPr>
          <a:xfrm>
            <a:off x="6675120" y="4425696"/>
            <a:ext cx="914400" cy="274320"/>
          </a:xfrm>
          <a:prstGeom prst="rect">
            <a:avLst/>
          </a:prstGeom>
          <a:noFill/>
          <a:ln/>
        </p:spPr>
        <p:txBody>
          <a:bodyPr wrap="square" lIns="0" tIns="0" rIns="0" bIns="0" rtlCol="0" anchor="ctr"/>
          <a:lstStyle/>
          <a:p>
            <a:pPr algn="r" indent="0" marL="0">
              <a:buNone/>
            </a:pPr>
            <a:r>
              <a:rPr lang="en-US" sz="1050" dirty="0">
                <a:solidFill>
                  <a:srgbClr val="222F44"/>
                </a:solidFill>
                <a:latin typeface="Poppins SemiBold" pitchFamily="34" charset="0"/>
                <a:ea typeface="Poppins SemiBold" pitchFamily="34" charset="-122"/>
                <a:cs typeface="Poppins SemiBold" pitchFamily="34" charset="-120"/>
              </a:rPr>
              <a:t>2 un.</a:t>
            </a:r>
            <a:endParaRPr lang="en-US" sz="1050" dirty="0"/>
          </a:p>
        </p:txBody>
      </p:sp>
      <p:sp>
        <p:nvSpPr>
          <p:cNvPr id="40" name="Shape 37"/>
          <p:cNvSpPr/>
          <p:nvPr/>
        </p:nvSpPr>
        <p:spPr>
          <a:xfrm>
            <a:off x="3611880" y="4718304"/>
            <a:ext cx="3977640" cy="128016"/>
          </a:xfrm>
          <a:prstGeom prst="roundRect">
            <a:avLst>
              <a:gd name="adj" fmla="val 50000"/>
            </a:avLst>
          </a:prstGeom>
          <a:solidFill>
            <a:srgbClr val="EEF1F5"/>
          </a:solidFill>
          <a:ln/>
        </p:spPr>
      </p:sp>
      <p:sp>
        <p:nvSpPr>
          <p:cNvPr id="41" name="Shape 38"/>
          <p:cNvSpPr/>
          <p:nvPr/>
        </p:nvSpPr>
        <p:spPr>
          <a:xfrm>
            <a:off x="3611880" y="4718304"/>
            <a:ext cx="146304" cy="128016"/>
          </a:xfrm>
          <a:prstGeom prst="roundRect">
            <a:avLst>
              <a:gd name="adj" fmla="val 50000"/>
            </a:avLst>
          </a:prstGeom>
          <a:solidFill>
            <a:srgbClr val="F35B1A"/>
          </a:solidFill>
          <a:ln/>
        </p:spPr>
      </p:sp>
      <p:sp>
        <p:nvSpPr>
          <p:cNvPr id="42" name="Text 39"/>
          <p:cNvSpPr/>
          <p:nvPr/>
        </p:nvSpPr>
        <p:spPr>
          <a:xfrm>
            <a:off x="3611880" y="4974336"/>
            <a:ext cx="1828800" cy="274320"/>
          </a:xfrm>
          <a:prstGeom prst="rect">
            <a:avLst/>
          </a:prstGeom>
          <a:noFill/>
          <a:ln/>
        </p:spPr>
        <p:txBody>
          <a:bodyPr wrap="square" lIns="0" tIns="0" rIns="0" bIns="0" rtlCol="0" anchor="ctr"/>
          <a:lstStyle/>
          <a:p>
            <a:pPr indent="0" marL="0">
              <a:buNone/>
            </a:pPr>
            <a:r>
              <a:rPr lang="en-US" sz="1050" dirty="0">
                <a:solidFill>
                  <a:srgbClr val="2A3342"/>
                </a:solidFill>
                <a:latin typeface="Poppins Medium" pitchFamily="34" charset="0"/>
                <a:ea typeface="Poppins Medium" pitchFamily="34" charset="-122"/>
                <a:cs typeface="Poppins Medium" pitchFamily="34" charset="-120"/>
              </a:rPr>
              <a:t>Pickup truck</a:t>
            </a:r>
            <a:endParaRPr lang="en-US" sz="1050" dirty="0"/>
          </a:p>
        </p:txBody>
      </p:sp>
      <p:sp>
        <p:nvSpPr>
          <p:cNvPr id="43" name="Text 40"/>
          <p:cNvSpPr/>
          <p:nvPr/>
        </p:nvSpPr>
        <p:spPr>
          <a:xfrm>
            <a:off x="6675120" y="4974336"/>
            <a:ext cx="914400" cy="274320"/>
          </a:xfrm>
          <a:prstGeom prst="rect">
            <a:avLst/>
          </a:prstGeom>
          <a:noFill/>
          <a:ln/>
        </p:spPr>
        <p:txBody>
          <a:bodyPr wrap="square" lIns="0" tIns="0" rIns="0" bIns="0" rtlCol="0" anchor="ctr"/>
          <a:lstStyle/>
          <a:p>
            <a:pPr algn="r" indent="0" marL="0">
              <a:buNone/>
            </a:pPr>
            <a:r>
              <a:rPr lang="en-US" sz="1050" dirty="0">
                <a:solidFill>
                  <a:srgbClr val="222F44"/>
                </a:solidFill>
                <a:latin typeface="Poppins SemiBold" pitchFamily="34" charset="0"/>
                <a:ea typeface="Poppins SemiBold" pitchFamily="34" charset="-122"/>
                <a:cs typeface="Poppins SemiBold" pitchFamily="34" charset="-120"/>
              </a:rPr>
              <a:t>2 un.</a:t>
            </a:r>
            <a:endParaRPr lang="en-US" sz="1050" dirty="0"/>
          </a:p>
        </p:txBody>
      </p:sp>
      <p:sp>
        <p:nvSpPr>
          <p:cNvPr id="44" name="Shape 41"/>
          <p:cNvSpPr/>
          <p:nvPr/>
        </p:nvSpPr>
        <p:spPr>
          <a:xfrm>
            <a:off x="3611880" y="5266944"/>
            <a:ext cx="3977640" cy="128016"/>
          </a:xfrm>
          <a:prstGeom prst="roundRect">
            <a:avLst>
              <a:gd name="adj" fmla="val 50000"/>
            </a:avLst>
          </a:prstGeom>
          <a:solidFill>
            <a:srgbClr val="EEF1F5"/>
          </a:solidFill>
          <a:ln/>
        </p:spPr>
      </p:sp>
      <p:sp>
        <p:nvSpPr>
          <p:cNvPr id="45" name="Shape 42"/>
          <p:cNvSpPr/>
          <p:nvPr/>
        </p:nvSpPr>
        <p:spPr>
          <a:xfrm>
            <a:off x="3611880" y="5266944"/>
            <a:ext cx="146304" cy="128016"/>
          </a:xfrm>
          <a:prstGeom prst="roundRect">
            <a:avLst>
              <a:gd name="adj" fmla="val 50000"/>
            </a:avLst>
          </a:prstGeom>
          <a:solidFill>
            <a:srgbClr val="F35B1A"/>
          </a:solidFill>
          <a:ln/>
        </p:spPr>
      </p:sp>
      <p:pic>
        <p:nvPicPr>
          <p:cNvPr id="46" name="Image 1" descr="assets/mobi_microbus.png">    </p:cNvPr>
          <p:cNvPicPr>
            <a:picLocks noChangeAspect="1"/>
          </p:cNvPicPr>
          <p:nvPr/>
        </p:nvPicPr>
        <p:blipFill>
          <a:blip r:embed="rId2"/>
          <a:srcRect l="0" r="0" t="0" b="0"/>
          <a:stretch/>
        </p:blipFill>
        <p:spPr>
          <a:xfrm>
            <a:off x="7818120" y="1828800"/>
            <a:ext cx="3870655" cy="1691640"/>
          </a:xfrm>
          <a:prstGeom prst="ellipse">
            <a:avLst/>
          </a:prstGeom>
        </p:spPr>
      </p:pic>
      <p:sp>
        <p:nvSpPr>
          <p:cNvPr id="47" name="Text 43"/>
          <p:cNvSpPr/>
          <p:nvPr/>
        </p:nvSpPr>
        <p:spPr>
          <a:xfrm>
            <a:off x="7818120" y="3639312"/>
            <a:ext cx="3870655" cy="237744"/>
          </a:xfrm>
          <a:prstGeom prst="rect">
            <a:avLst/>
          </a:prstGeom>
          <a:noFill/>
          <a:ln/>
        </p:spPr>
        <p:txBody>
          <a:bodyPr wrap="square" rtlCol="0" anchor="ctr"/>
          <a:lstStyle/>
          <a:p>
            <a:pPr indent="0" marL="0">
              <a:buNone/>
            </a:pPr>
            <a:r>
              <a:rPr lang="en-US" sz="900" spc="100" kern="0" dirty="0">
                <a:solidFill>
                  <a:srgbClr val="F35B1A"/>
                </a:solidFill>
                <a:latin typeface="Poppins SemiBold" pitchFamily="34" charset="0"/>
                <a:ea typeface="Poppins SemiBold" pitchFamily="34" charset="-122"/>
                <a:cs typeface="Poppins SemiBold" pitchFamily="34" charset="-120"/>
              </a:rPr>
              <a:t>LEADING CHASSIS &amp; EQUIPMENT BRANDS</a:t>
            </a:r>
            <a:endParaRPr lang="en-US" sz="900" dirty="0"/>
          </a:p>
        </p:txBody>
      </p:sp>
      <p:sp>
        <p:nvSpPr>
          <p:cNvPr id="48" name="Shape 44"/>
          <p:cNvSpPr/>
          <p:nvPr/>
        </p:nvSpPr>
        <p:spPr>
          <a:xfrm>
            <a:off x="7818120" y="3931920"/>
            <a:ext cx="1843888" cy="457200"/>
          </a:xfrm>
          <a:prstGeom prst="roundRect">
            <a:avLst>
              <a:gd name="adj" fmla="val 12000"/>
            </a:avLst>
          </a:prstGeom>
          <a:solidFill>
            <a:srgbClr val="FFFFFF"/>
          </a:solidFill>
          <a:ln w="12700">
            <a:solidFill>
              <a:srgbClr val="D9DEE5"/>
            </a:solidFill>
            <a:prstDash val="solid"/>
          </a:ln>
        </p:spPr>
      </p:sp>
      <p:pic>
        <p:nvPicPr>
          <p:cNvPr id="49" name="Image 2" descr="assets/br_mercedes.png">    </p:cNvPr>
          <p:cNvPicPr>
            <a:picLocks noChangeAspect="1"/>
          </p:cNvPicPr>
          <p:nvPr/>
        </p:nvPicPr>
        <p:blipFill>
          <a:blip r:embed="rId3"/>
          <a:srcRect l="0" r="0" t="0" b="0"/>
          <a:stretch/>
        </p:blipFill>
        <p:spPr>
          <a:xfrm>
            <a:off x="7982712" y="4005072"/>
            <a:ext cx="1514704" cy="310896"/>
          </a:xfrm>
          <a:prstGeom prst="rect">
            <a:avLst/>
          </a:prstGeom>
        </p:spPr>
      </p:pic>
      <p:sp>
        <p:nvSpPr>
          <p:cNvPr id="50" name="Shape 45"/>
          <p:cNvSpPr/>
          <p:nvPr/>
        </p:nvSpPr>
        <p:spPr>
          <a:xfrm>
            <a:off x="9844888" y="3931920"/>
            <a:ext cx="1843888" cy="457200"/>
          </a:xfrm>
          <a:prstGeom prst="roundRect">
            <a:avLst>
              <a:gd name="adj" fmla="val 12000"/>
            </a:avLst>
          </a:prstGeom>
          <a:solidFill>
            <a:srgbClr val="FFFFFF"/>
          </a:solidFill>
          <a:ln w="12700">
            <a:solidFill>
              <a:srgbClr val="D9DEE5"/>
            </a:solidFill>
            <a:prstDash val="solid"/>
          </a:ln>
        </p:spPr>
      </p:sp>
      <p:pic>
        <p:nvPicPr>
          <p:cNvPr id="51" name="Image 3" descr="assets/br_volvo.png">    </p:cNvPr>
          <p:cNvPicPr>
            <a:picLocks noChangeAspect="1"/>
          </p:cNvPicPr>
          <p:nvPr/>
        </p:nvPicPr>
        <p:blipFill>
          <a:blip r:embed="rId4"/>
          <a:srcRect l="0" r="0" t="0" b="0"/>
          <a:stretch/>
        </p:blipFill>
        <p:spPr>
          <a:xfrm>
            <a:off x="10009480" y="4005072"/>
            <a:ext cx="1514704" cy="310896"/>
          </a:xfrm>
          <a:prstGeom prst="rect">
            <a:avLst/>
          </a:prstGeom>
        </p:spPr>
      </p:pic>
      <p:sp>
        <p:nvSpPr>
          <p:cNvPr id="52" name="Shape 46"/>
          <p:cNvSpPr/>
          <p:nvPr/>
        </p:nvSpPr>
        <p:spPr>
          <a:xfrm>
            <a:off x="7818120" y="4498848"/>
            <a:ext cx="1843888" cy="457200"/>
          </a:xfrm>
          <a:prstGeom prst="roundRect">
            <a:avLst>
              <a:gd name="adj" fmla="val 12000"/>
            </a:avLst>
          </a:prstGeom>
          <a:solidFill>
            <a:srgbClr val="FFFFFF"/>
          </a:solidFill>
          <a:ln w="12700">
            <a:solidFill>
              <a:srgbClr val="D9DEE5"/>
            </a:solidFill>
            <a:prstDash val="solid"/>
          </a:ln>
        </p:spPr>
      </p:sp>
      <p:pic>
        <p:nvPicPr>
          <p:cNvPr id="53" name="Image 4" descr="assets/br_scania.png">    </p:cNvPr>
          <p:cNvPicPr>
            <a:picLocks noChangeAspect="1"/>
          </p:cNvPicPr>
          <p:nvPr/>
        </p:nvPicPr>
        <p:blipFill>
          <a:blip r:embed="rId5"/>
          <a:srcRect l="0" r="0" t="0" b="0"/>
          <a:stretch/>
        </p:blipFill>
        <p:spPr>
          <a:xfrm>
            <a:off x="7982712" y="4572000"/>
            <a:ext cx="1514704" cy="310896"/>
          </a:xfrm>
          <a:prstGeom prst="rect">
            <a:avLst/>
          </a:prstGeom>
        </p:spPr>
      </p:pic>
      <p:sp>
        <p:nvSpPr>
          <p:cNvPr id="54" name="Shape 47"/>
          <p:cNvSpPr/>
          <p:nvPr/>
        </p:nvSpPr>
        <p:spPr>
          <a:xfrm>
            <a:off x="9844888" y="4498848"/>
            <a:ext cx="1843888" cy="457200"/>
          </a:xfrm>
          <a:prstGeom prst="roundRect">
            <a:avLst>
              <a:gd name="adj" fmla="val 12000"/>
            </a:avLst>
          </a:prstGeom>
          <a:solidFill>
            <a:srgbClr val="FFFFFF"/>
          </a:solidFill>
          <a:ln w="12700">
            <a:solidFill>
              <a:srgbClr val="D9DEE5"/>
            </a:solidFill>
            <a:prstDash val="solid"/>
          </a:ln>
        </p:spPr>
      </p:sp>
      <p:pic>
        <p:nvPicPr>
          <p:cNvPr id="55" name="Image 5" descr="assets/br_ford.png">    </p:cNvPr>
          <p:cNvPicPr>
            <a:picLocks noChangeAspect="1"/>
          </p:cNvPicPr>
          <p:nvPr/>
        </p:nvPicPr>
        <p:blipFill>
          <a:blip r:embed="rId6"/>
          <a:srcRect l="0" r="0" t="0" b="0"/>
          <a:stretch/>
        </p:blipFill>
        <p:spPr>
          <a:xfrm>
            <a:off x="10009480" y="4572000"/>
            <a:ext cx="1514704" cy="310896"/>
          </a:xfrm>
          <a:prstGeom prst="rect">
            <a:avLst/>
          </a:prstGeom>
        </p:spPr>
      </p:pic>
      <p:sp>
        <p:nvSpPr>
          <p:cNvPr id="56" name="Shape 48"/>
          <p:cNvSpPr/>
          <p:nvPr/>
        </p:nvSpPr>
        <p:spPr>
          <a:xfrm>
            <a:off x="7818120" y="5065776"/>
            <a:ext cx="1843888" cy="457200"/>
          </a:xfrm>
          <a:prstGeom prst="roundRect">
            <a:avLst>
              <a:gd name="adj" fmla="val 12000"/>
            </a:avLst>
          </a:prstGeom>
          <a:solidFill>
            <a:srgbClr val="FFFFFF"/>
          </a:solidFill>
          <a:ln w="12700">
            <a:solidFill>
              <a:srgbClr val="D9DEE5"/>
            </a:solidFill>
            <a:prstDash val="solid"/>
          </a:ln>
        </p:spPr>
      </p:sp>
      <p:pic>
        <p:nvPicPr>
          <p:cNvPr id="57" name="Image 6" descr="assets/br_hyundai.png">    </p:cNvPr>
          <p:cNvPicPr>
            <a:picLocks noChangeAspect="1"/>
          </p:cNvPicPr>
          <p:nvPr/>
        </p:nvPicPr>
        <p:blipFill>
          <a:blip r:embed="rId7"/>
          <a:srcRect l="0" r="0" t="0" b="0"/>
          <a:stretch/>
        </p:blipFill>
        <p:spPr>
          <a:xfrm>
            <a:off x="7982712" y="5138928"/>
            <a:ext cx="1514704" cy="310896"/>
          </a:xfrm>
          <a:prstGeom prst="rect">
            <a:avLst/>
          </a:prstGeom>
        </p:spPr>
      </p:pic>
      <p:sp>
        <p:nvSpPr>
          <p:cNvPr id="58" name="Shape 49"/>
          <p:cNvSpPr/>
          <p:nvPr/>
        </p:nvSpPr>
        <p:spPr>
          <a:xfrm>
            <a:off x="9844888" y="5065776"/>
            <a:ext cx="1843888" cy="457200"/>
          </a:xfrm>
          <a:prstGeom prst="roundRect">
            <a:avLst>
              <a:gd name="adj" fmla="val 12000"/>
            </a:avLst>
          </a:prstGeom>
          <a:solidFill>
            <a:srgbClr val="FFFFFF"/>
          </a:solidFill>
          <a:ln w="12700">
            <a:solidFill>
              <a:srgbClr val="D9DEE5"/>
            </a:solidFill>
            <a:prstDash val="solid"/>
          </a:ln>
        </p:spPr>
      </p:sp>
      <p:pic>
        <p:nvPicPr>
          <p:cNvPr id="59" name="Image 7" descr="assets/br_cat.png">    </p:cNvPr>
          <p:cNvPicPr>
            <a:picLocks noChangeAspect="1"/>
          </p:cNvPicPr>
          <p:nvPr/>
        </p:nvPicPr>
        <p:blipFill>
          <a:blip r:embed="rId8"/>
          <a:srcRect l="0" r="0" t="0" b="0"/>
          <a:stretch/>
        </p:blipFill>
        <p:spPr>
          <a:xfrm>
            <a:off x="10009480" y="5138928"/>
            <a:ext cx="1514704" cy="310896"/>
          </a:xfrm>
          <a:prstGeom prst="rect">
            <a:avLst/>
          </a:prstGeom>
        </p:spPr>
      </p:pic>
      <p:sp>
        <p:nvSpPr>
          <p:cNvPr id="60" name="Shape 50"/>
          <p:cNvSpPr/>
          <p:nvPr/>
        </p:nvSpPr>
        <p:spPr>
          <a:xfrm>
            <a:off x="7818120" y="5632704"/>
            <a:ext cx="1843888" cy="457200"/>
          </a:xfrm>
          <a:prstGeom prst="roundRect">
            <a:avLst>
              <a:gd name="adj" fmla="val 12000"/>
            </a:avLst>
          </a:prstGeom>
          <a:solidFill>
            <a:srgbClr val="FFFFFF"/>
          </a:solidFill>
          <a:ln w="12700">
            <a:solidFill>
              <a:srgbClr val="D9DEE5"/>
            </a:solidFill>
            <a:prstDash val="solid"/>
          </a:ln>
        </p:spPr>
      </p:sp>
      <p:pic>
        <p:nvPicPr>
          <p:cNvPr id="61" name="Image 8" descr="assets/br_komatsu.png">    </p:cNvPr>
          <p:cNvPicPr>
            <a:picLocks noChangeAspect="1"/>
          </p:cNvPicPr>
          <p:nvPr/>
        </p:nvPicPr>
        <p:blipFill>
          <a:blip r:embed="rId9"/>
          <a:srcRect l="0" r="0" t="0" b="0"/>
          <a:stretch/>
        </p:blipFill>
        <p:spPr>
          <a:xfrm>
            <a:off x="7982712" y="5705856"/>
            <a:ext cx="1514704" cy="310896"/>
          </a:xfrm>
          <a:prstGeom prst="rect">
            <a:avLst/>
          </a:prstGeom>
        </p:spPr>
      </p:pic>
      <p:sp>
        <p:nvSpPr>
          <p:cNvPr id="62" name="Shape 51"/>
          <p:cNvSpPr/>
          <p:nvPr/>
        </p:nvSpPr>
        <p:spPr>
          <a:xfrm>
            <a:off x="9844888" y="5632704"/>
            <a:ext cx="1843888" cy="457200"/>
          </a:xfrm>
          <a:prstGeom prst="roundRect">
            <a:avLst>
              <a:gd name="adj" fmla="val 12000"/>
            </a:avLst>
          </a:prstGeom>
          <a:solidFill>
            <a:srgbClr val="FFFFFF"/>
          </a:solidFill>
          <a:ln w="12700">
            <a:solidFill>
              <a:srgbClr val="D9DEE5"/>
            </a:solidFill>
            <a:prstDash val="solid"/>
          </a:ln>
        </p:spPr>
      </p:sp>
      <p:pic>
        <p:nvPicPr>
          <p:cNvPr id="63" name="Image 9" descr="assets/br_liebherr.png">    </p:cNvPr>
          <p:cNvPicPr>
            <a:picLocks noChangeAspect="1"/>
          </p:cNvPicPr>
          <p:nvPr/>
        </p:nvPicPr>
        <p:blipFill>
          <a:blip r:embed="rId10"/>
          <a:srcRect l="0" r="0" t="0" b="0"/>
          <a:stretch/>
        </p:blipFill>
        <p:spPr>
          <a:xfrm>
            <a:off x="10009480" y="5705856"/>
            <a:ext cx="1514704" cy="31089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assets/igc_navy.png">    </p:cNvPr>
          <p:cNvPicPr>
            <a:picLocks noChangeAspect="1"/>
          </p:cNvPicPr>
          <p:nvPr/>
        </p:nvPicPr>
        <p:blipFill>
          <a:blip r:embed="rId1"/>
          <a:stretch>
            <a:fillRect/>
          </a:stretch>
        </p:blipFill>
        <p:spPr>
          <a:xfrm>
            <a:off x="11121847" y="310896"/>
            <a:ext cx="566928" cy="490078"/>
          </a:xfrm>
          <a:prstGeom prst="rect">
            <a:avLst/>
          </a:prstGeom>
        </p:spPr>
      </p:pic>
      <p:sp>
        <p:nvSpPr>
          <p:cNvPr id="3" name="Text 0"/>
          <p:cNvSpPr/>
          <p:nvPr/>
        </p:nvSpPr>
        <p:spPr>
          <a:xfrm>
            <a:off x="502920" y="384048"/>
            <a:ext cx="7315200" cy="256032"/>
          </a:xfrm>
          <a:prstGeom prst="rect">
            <a:avLst/>
          </a:prstGeom>
          <a:noFill/>
          <a:ln/>
        </p:spPr>
        <p:txBody>
          <a:bodyPr wrap="square" rtlCol="0" anchor="ctr"/>
          <a:lstStyle/>
          <a:p>
            <a:pPr algn="l" indent="0" marL="0">
              <a:buNone/>
            </a:pPr>
            <a:r>
              <a:rPr lang="en-US" sz="1050" spc="200" kern="0" dirty="0">
                <a:solidFill>
                  <a:srgbClr val="F35B1A"/>
                </a:solidFill>
                <a:latin typeface="Poppins SemiBold" pitchFamily="34" charset="0"/>
                <a:ea typeface="Poppins SemiBold" pitchFamily="34" charset="-122"/>
                <a:cs typeface="Poppins SemiBold" pitchFamily="34" charset="-120"/>
              </a:rPr>
              <a:t>COMPANY OVERVIEW</a:t>
            </a:r>
            <a:endParaRPr lang="en-US" sz="1050" dirty="0"/>
          </a:p>
        </p:txBody>
      </p:sp>
      <p:sp>
        <p:nvSpPr>
          <p:cNvPr id="4" name="Text 1"/>
          <p:cNvSpPr/>
          <p:nvPr/>
        </p:nvSpPr>
        <p:spPr>
          <a:xfrm>
            <a:off x="502920" y="603504"/>
            <a:ext cx="10408615" cy="640080"/>
          </a:xfrm>
          <a:prstGeom prst="rect">
            <a:avLst/>
          </a:prstGeom>
          <a:noFill/>
          <a:ln/>
        </p:spPr>
        <p:txBody>
          <a:bodyPr wrap="square" rtlCol="0" anchor="t"/>
          <a:lstStyle/>
          <a:p>
            <a:pPr algn="l" indent="0" marL="0">
              <a:buNone/>
            </a:pPr>
            <a:r>
              <a:rPr lang="en-US" sz="2500" dirty="0">
                <a:solidFill>
                  <a:srgbClr val="222F44"/>
                </a:solidFill>
                <a:latin typeface="Source Serif Pro SemiBold" pitchFamily="34" charset="0"/>
                <a:ea typeface="Source Serif Pro SemiBold" pitchFamily="34" charset="-122"/>
                <a:cs typeface="Source Serif Pro SemiBold" pitchFamily="34" charset="-120"/>
              </a:rPr>
              <a:t>Strategically positioned across the Midwest and Southeast</a:t>
            </a:r>
            <a:endParaRPr lang="en-US" sz="2500" dirty="0"/>
          </a:p>
        </p:txBody>
      </p:sp>
      <p:sp>
        <p:nvSpPr>
          <p:cNvPr id="5" name="Text 2"/>
          <p:cNvSpPr/>
          <p:nvPr/>
        </p:nvSpPr>
        <p:spPr>
          <a:xfrm>
            <a:off x="502920" y="1225296"/>
            <a:ext cx="10408615" cy="457200"/>
          </a:xfrm>
          <a:prstGeom prst="rect">
            <a:avLst/>
          </a:prstGeom>
          <a:noFill/>
          <a:ln/>
        </p:spPr>
        <p:txBody>
          <a:bodyPr wrap="square" rtlCol="0" anchor="t"/>
          <a:lstStyle/>
          <a:p>
            <a:pPr algn="l" indent="0" marL="0">
              <a:buNone/>
            </a:pPr>
            <a:r>
              <a:rPr lang="en-US" sz="1250" dirty="0">
                <a:solidFill>
                  <a:srgbClr val="6B7686"/>
                </a:solidFill>
                <a:latin typeface="Poppins" pitchFamily="34" charset="0"/>
                <a:ea typeface="Poppins" pitchFamily="34" charset="-122"/>
                <a:cs typeface="Poppins" pitchFamily="34" charset="-120"/>
              </a:rPr>
              <a:t>From its Goiânia headquarters to 10 operational bases across Goiás, the Federal District and Minas Gerais</a:t>
            </a:r>
            <a:endParaRPr lang="en-US" sz="1250" dirty="0"/>
          </a:p>
        </p:txBody>
      </p:sp>
      <p:sp>
        <p:nvSpPr>
          <p:cNvPr id="6" name="Text 3"/>
          <p:cNvSpPr/>
          <p:nvPr/>
        </p:nvSpPr>
        <p:spPr>
          <a:xfrm>
            <a:off x="502920" y="6547104"/>
            <a:ext cx="10180015" cy="237744"/>
          </a:xfrm>
          <a:prstGeom prst="rect">
            <a:avLst/>
          </a:prstGeom>
          <a:noFill/>
          <a:ln/>
        </p:spPr>
        <p:txBody>
          <a:bodyPr wrap="square" rtlCol="0" anchor="ctr"/>
          <a:lstStyle/>
          <a:p>
            <a:pPr algn="l" indent="0" marL="0">
              <a:buNone/>
            </a:pPr>
            <a:r>
              <a:rPr lang="en-US" sz="700" dirty="0">
                <a:solidFill>
                  <a:srgbClr val="97A0AD"/>
                </a:solidFill>
                <a:latin typeface="Poppins" pitchFamily="34" charset="0"/>
                <a:ea typeface="Poppins" pitchFamily="34" charset="-122"/>
                <a:cs typeface="Poppins" pitchFamily="34" charset="-120"/>
              </a:rPr>
              <a:t>Source: Company; Jan-2026 fleet register.</a:t>
            </a:r>
            <a:endParaRPr lang="en-US" sz="700" dirty="0"/>
          </a:p>
        </p:txBody>
      </p:sp>
      <p:sp>
        <p:nvSpPr>
          <p:cNvPr id="7" name="Text 4"/>
          <p:cNvSpPr/>
          <p:nvPr/>
        </p:nvSpPr>
        <p:spPr>
          <a:xfrm>
            <a:off x="10728655" y="6547104"/>
            <a:ext cx="960120" cy="237744"/>
          </a:xfrm>
          <a:prstGeom prst="rect">
            <a:avLst/>
          </a:prstGeom>
          <a:noFill/>
          <a:ln/>
        </p:spPr>
        <p:txBody>
          <a:bodyPr wrap="square" rtlCol="0" anchor="ctr"/>
          <a:lstStyle/>
          <a:p>
            <a:pPr algn="r" indent="0" marL="0">
              <a:buNone/>
            </a:pPr>
            <a:r>
              <a:rPr lang="en-US" sz="850" dirty="0">
                <a:solidFill>
                  <a:srgbClr val="97A0AD"/>
                </a:solidFill>
                <a:latin typeface="Poppins Medium" pitchFamily="34" charset="0"/>
                <a:ea typeface="Poppins Medium" pitchFamily="34" charset="-122"/>
                <a:cs typeface="Poppins Medium" pitchFamily="34" charset="-120"/>
              </a:rPr>
              <a:t>Confidential   </a:t>
            </a:r>
            <a:pPr algn="r" indent="0" marL="0">
              <a:buNone/>
            </a:pPr>
            <a:r>
              <a:rPr lang="en-US" sz="850" b="1" dirty="0">
                <a:solidFill>
                  <a:srgbClr val="222F44"/>
                </a:solidFill>
                <a:latin typeface="Poppins Medium" pitchFamily="34" charset="0"/>
                <a:ea typeface="Poppins Medium" pitchFamily="34" charset="-122"/>
                <a:cs typeface="Poppins Medium" pitchFamily="34" charset="-120"/>
              </a:rPr>
              <a:t>10</a:t>
            </a:r>
            <a:endParaRPr lang="en-US" sz="850" dirty="0"/>
          </a:p>
        </p:txBody>
      </p:sp>
      <p:pic>
        <p:nvPicPr>
          <p:cNvPr id="8" name="Image 1" descr="assets/brazil_map.png">    </p:cNvPr>
          <p:cNvPicPr>
            <a:picLocks noChangeAspect="1"/>
          </p:cNvPicPr>
          <p:nvPr/>
        </p:nvPicPr>
        <p:blipFill>
          <a:blip r:embed="rId2"/>
          <a:stretch>
            <a:fillRect/>
          </a:stretch>
        </p:blipFill>
        <p:spPr>
          <a:xfrm>
            <a:off x="411480" y="1965960"/>
            <a:ext cx="3895208" cy="3657600"/>
          </a:xfrm>
          <a:prstGeom prst="rect">
            <a:avLst/>
          </a:prstGeom>
        </p:spPr>
      </p:pic>
      <p:sp>
        <p:nvSpPr>
          <p:cNvPr id="9" name="Shape 5"/>
          <p:cNvSpPr/>
          <p:nvPr/>
        </p:nvSpPr>
        <p:spPr>
          <a:xfrm>
            <a:off x="685800" y="5715000"/>
            <a:ext cx="164592" cy="164592"/>
          </a:xfrm>
          <a:prstGeom prst="rect">
            <a:avLst/>
          </a:prstGeom>
          <a:solidFill>
            <a:srgbClr val="F35B1A"/>
          </a:solidFill>
          <a:ln/>
        </p:spPr>
      </p:sp>
      <p:sp>
        <p:nvSpPr>
          <p:cNvPr id="10" name="Text 6"/>
          <p:cNvSpPr/>
          <p:nvPr/>
        </p:nvSpPr>
        <p:spPr>
          <a:xfrm>
            <a:off x="914400" y="5650992"/>
            <a:ext cx="3291840" cy="292608"/>
          </a:xfrm>
          <a:prstGeom prst="rect">
            <a:avLst/>
          </a:prstGeom>
          <a:noFill/>
          <a:ln/>
        </p:spPr>
        <p:txBody>
          <a:bodyPr wrap="square" lIns="0" tIns="0" rIns="0" bIns="0" rtlCol="0" anchor="ctr"/>
          <a:lstStyle/>
          <a:p>
            <a:pPr indent="0" marL="0">
              <a:buNone/>
            </a:pPr>
            <a:r>
              <a:rPr lang="en-US" sz="900" dirty="0">
                <a:solidFill>
                  <a:srgbClr val="6B7686"/>
                </a:solidFill>
                <a:latin typeface="Poppins" pitchFamily="34" charset="0"/>
                <a:ea typeface="Poppins" pitchFamily="34" charset="-122"/>
                <a:cs typeface="Poppins" pitchFamily="34" charset="-120"/>
              </a:rPr>
              <a:t>States with operational bases</a:t>
            </a:r>
            <a:endParaRPr lang="en-US" sz="900" dirty="0"/>
          </a:p>
        </p:txBody>
      </p:sp>
      <p:sp>
        <p:nvSpPr>
          <p:cNvPr id="11" name="Shape 7"/>
          <p:cNvSpPr/>
          <p:nvPr/>
        </p:nvSpPr>
        <p:spPr>
          <a:xfrm>
            <a:off x="4937760" y="1828800"/>
            <a:ext cx="6751015" cy="932688"/>
          </a:xfrm>
          <a:prstGeom prst="roundRect">
            <a:avLst>
              <a:gd name="adj" fmla="val 9804"/>
            </a:avLst>
          </a:prstGeom>
          <a:solidFill>
            <a:srgbClr val="222F44"/>
          </a:solidFill>
          <a:ln/>
          <a:effectLst>
            <a:outerShdw sx="100000" sy="100000" kx="0" ky="0" algn="bl" rotWithShape="0" blurRad="88900" dist="25400" dir="5400000">
              <a:srgbClr val="9AA6B4">
                <a:alpha val="28000"/>
              </a:srgbClr>
            </a:outerShdw>
          </a:effectLst>
        </p:spPr>
      </p:sp>
      <p:sp>
        <p:nvSpPr>
          <p:cNvPr id="12" name="Shape 8"/>
          <p:cNvSpPr/>
          <p:nvPr/>
        </p:nvSpPr>
        <p:spPr>
          <a:xfrm>
            <a:off x="5175504" y="2011680"/>
            <a:ext cx="512064" cy="512064"/>
          </a:xfrm>
          <a:prstGeom prst="ellipse">
            <a:avLst/>
          </a:prstGeom>
          <a:solidFill>
            <a:srgbClr val="2C3B54"/>
          </a:solidFill>
          <a:ln/>
        </p:spPr>
      </p:sp>
      <p:pic>
        <p:nvPicPr>
          <p:cNvPr id="13" name="Image 2" descr="assets/icons/home_orange.png">    </p:cNvPr>
          <p:cNvPicPr>
            <a:picLocks noChangeAspect="1"/>
          </p:cNvPicPr>
          <p:nvPr/>
        </p:nvPicPr>
        <p:blipFill>
          <a:blip r:embed="rId3"/>
          <a:stretch>
            <a:fillRect/>
          </a:stretch>
        </p:blipFill>
        <p:spPr>
          <a:xfrm>
            <a:off x="5308641" y="2144817"/>
            <a:ext cx="245791" cy="245791"/>
          </a:xfrm>
          <a:prstGeom prst="rect">
            <a:avLst/>
          </a:prstGeom>
        </p:spPr>
      </p:pic>
      <p:sp>
        <p:nvSpPr>
          <p:cNvPr id="14" name="Text 9"/>
          <p:cNvSpPr/>
          <p:nvPr/>
        </p:nvSpPr>
        <p:spPr>
          <a:xfrm>
            <a:off x="5852160" y="1956816"/>
            <a:ext cx="5608015" cy="292608"/>
          </a:xfrm>
          <a:prstGeom prst="rect">
            <a:avLst/>
          </a:prstGeom>
          <a:noFill/>
          <a:ln/>
        </p:spPr>
        <p:txBody>
          <a:bodyPr wrap="square" lIns="0" tIns="0" rIns="0" bIns="0" rtlCol="0" anchor="t"/>
          <a:lstStyle/>
          <a:p>
            <a:pPr indent="0" marL="0">
              <a:buNone/>
            </a:pPr>
            <a:r>
              <a:rPr lang="en-US" sz="1300" dirty="0">
                <a:solidFill>
                  <a:srgbClr val="FFFFFF"/>
                </a:solidFill>
                <a:latin typeface="Poppins SemiBold" pitchFamily="34" charset="0"/>
                <a:ea typeface="Poppins SemiBold" pitchFamily="34" charset="-122"/>
                <a:cs typeface="Poppins SemiBold" pitchFamily="34" charset="-120"/>
              </a:rPr>
              <a:t>Headquarters — Goiânia, GO</a:t>
            </a:r>
            <a:endParaRPr lang="en-US" sz="1300" dirty="0"/>
          </a:p>
        </p:txBody>
      </p:sp>
      <p:sp>
        <p:nvSpPr>
          <p:cNvPr id="15" name="Text 10"/>
          <p:cNvSpPr/>
          <p:nvPr/>
        </p:nvSpPr>
        <p:spPr>
          <a:xfrm>
            <a:off x="5852160" y="2249424"/>
            <a:ext cx="5608015" cy="457200"/>
          </a:xfrm>
          <a:prstGeom prst="rect">
            <a:avLst/>
          </a:prstGeom>
          <a:noFill/>
          <a:ln/>
        </p:spPr>
        <p:txBody>
          <a:bodyPr wrap="square" lIns="0" tIns="0" rIns="0" bIns="0" rtlCol="0" anchor="t"/>
          <a:lstStyle/>
          <a:p>
            <a:pPr indent="0" marL="0">
              <a:lnSpc>
                <a:spcPct val="100000"/>
              </a:lnSpc>
              <a:buNone/>
            </a:pPr>
            <a:r>
              <a:rPr lang="en-US" sz="920" dirty="0">
                <a:solidFill>
                  <a:srgbClr val="C4CCD6"/>
                </a:solidFill>
                <a:latin typeface="Poppins" pitchFamily="34" charset="0"/>
                <a:ea typeface="Poppins" pitchFamily="34" charset="-122"/>
                <a:cs typeface="Poppins" pitchFamily="34" charset="-120"/>
              </a:rPr>
              <a:t>Corporate HQ (Garagem Central) centralizing fleet management, monitoring infrastructure and administrative functions</a:t>
            </a:r>
            <a:endParaRPr lang="en-US" sz="920" dirty="0"/>
          </a:p>
        </p:txBody>
      </p:sp>
      <p:sp>
        <p:nvSpPr>
          <p:cNvPr id="16" name="Text 11"/>
          <p:cNvSpPr/>
          <p:nvPr/>
        </p:nvSpPr>
        <p:spPr>
          <a:xfrm>
            <a:off x="4937760" y="2871216"/>
            <a:ext cx="6751015" cy="237744"/>
          </a:xfrm>
          <a:prstGeom prst="rect">
            <a:avLst/>
          </a:prstGeom>
          <a:noFill/>
          <a:ln/>
        </p:spPr>
        <p:txBody>
          <a:bodyPr wrap="square" rtlCol="0" anchor="ctr"/>
          <a:lstStyle/>
          <a:p>
            <a:pPr indent="0" marL="0">
              <a:buNone/>
            </a:pPr>
            <a:r>
              <a:rPr lang="en-US" sz="1000" spc="150" kern="0" dirty="0">
                <a:solidFill>
                  <a:srgbClr val="F35B1A"/>
                </a:solidFill>
                <a:latin typeface="Poppins SemiBold" pitchFamily="34" charset="0"/>
                <a:ea typeface="Poppins SemiBold" pitchFamily="34" charset="-122"/>
                <a:cs typeface="Poppins SemiBold" pitchFamily="34" charset="-120"/>
              </a:rPr>
              <a:t>10 ACTIVE OPERATIONAL BASES</a:t>
            </a:r>
            <a:endParaRPr lang="en-US" sz="1000" dirty="0"/>
          </a:p>
        </p:txBody>
      </p:sp>
      <p:sp>
        <p:nvSpPr>
          <p:cNvPr id="17" name="Shape 12"/>
          <p:cNvSpPr/>
          <p:nvPr/>
        </p:nvSpPr>
        <p:spPr>
          <a:xfrm>
            <a:off x="4937760" y="3163824"/>
            <a:ext cx="384048" cy="384048"/>
          </a:xfrm>
          <a:prstGeom prst="ellipse">
            <a:avLst/>
          </a:prstGeom>
          <a:solidFill>
            <a:srgbClr val="F5F7F9"/>
          </a:solidFill>
          <a:ln/>
        </p:spPr>
      </p:sp>
      <p:pic>
        <p:nvPicPr>
          <p:cNvPr id="18" name="Image 3" descr="assets/icons/mappin_orange.png">    </p:cNvPr>
          <p:cNvPicPr>
            <a:picLocks noChangeAspect="1"/>
          </p:cNvPicPr>
          <p:nvPr/>
        </p:nvPicPr>
        <p:blipFill>
          <a:blip r:embed="rId4"/>
          <a:stretch>
            <a:fillRect/>
          </a:stretch>
        </p:blipFill>
        <p:spPr>
          <a:xfrm>
            <a:off x="5037612" y="3263676"/>
            <a:ext cx="184343" cy="184343"/>
          </a:xfrm>
          <a:prstGeom prst="rect">
            <a:avLst/>
          </a:prstGeom>
        </p:spPr>
      </p:pic>
      <p:sp>
        <p:nvSpPr>
          <p:cNvPr id="19" name="Text 13"/>
          <p:cNvSpPr/>
          <p:nvPr/>
        </p:nvSpPr>
        <p:spPr>
          <a:xfrm>
            <a:off x="5486400" y="3108960"/>
            <a:ext cx="6202375" cy="274320"/>
          </a:xfrm>
          <a:prstGeom prst="rect">
            <a:avLst/>
          </a:prstGeom>
          <a:noFill/>
          <a:ln/>
        </p:spPr>
        <p:txBody>
          <a:bodyPr wrap="square" lIns="0" tIns="0" rIns="0" bIns="0" rtlCol="0" anchor="t"/>
          <a:lstStyle/>
          <a:p>
            <a:pPr indent="0" marL="0">
              <a:buNone/>
            </a:pPr>
            <a:r>
              <a:rPr lang="en-US" sz="1100" dirty="0">
                <a:solidFill>
                  <a:srgbClr val="222F44"/>
                </a:solidFill>
                <a:latin typeface="Poppins SemiBold" pitchFamily="34" charset="0"/>
                <a:ea typeface="Poppins SemiBold" pitchFamily="34" charset="-122"/>
                <a:cs typeface="Poppins SemiBold" pitchFamily="34" charset="-120"/>
              </a:rPr>
              <a:t>Anápolis – GO</a:t>
            </a:r>
            <a:endParaRPr lang="en-US" sz="1100" dirty="0"/>
          </a:p>
        </p:txBody>
      </p:sp>
      <p:sp>
        <p:nvSpPr>
          <p:cNvPr id="20" name="Text 14"/>
          <p:cNvSpPr/>
          <p:nvPr/>
        </p:nvSpPr>
        <p:spPr>
          <a:xfrm>
            <a:off x="5486400" y="3383280"/>
            <a:ext cx="6202375" cy="329184"/>
          </a:xfrm>
          <a:prstGeom prst="rect">
            <a:avLst/>
          </a:prstGeom>
          <a:noFill/>
          <a:ln/>
        </p:spPr>
        <p:txBody>
          <a:bodyPr wrap="square" lIns="0" tIns="0" rIns="0" bIns="0" rtlCol="0" anchor="t"/>
          <a:lstStyle/>
          <a:p>
            <a:pPr indent="0" marL="0">
              <a:lnSpc>
                <a:spcPct val="98000"/>
              </a:lnSpc>
              <a:buNone/>
            </a:pPr>
            <a:r>
              <a:rPr lang="en-US" sz="880" dirty="0">
                <a:solidFill>
                  <a:srgbClr val="6B7686"/>
                </a:solidFill>
                <a:latin typeface="Poppins" pitchFamily="34" charset="0"/>
                <a:ea typeface="Poppins" pitchFamily="34" charset="-122"/>
                <a:cs typeface="Poppins" pitchFamily="34" charset="-120"/>
              </a:rPr>
              <a:t>Largest base outside HQ, supporting fleet availability across the Goiás corridor</a:t>
            </a:r>
            <a:endParaRPr lang="en-US" sz="880" dirty="0"/>
          </a:p>
        </p:txBody>
      </p:sp>
      <p:sp>
        <p:nvSpPr>
          <p:cNvPr id="21" name="Shape 15"/>
          <p:cNvSpPr/>
          <p:nvPr/>
        </p:nvSpPr>
        <p:spPr>
          <a:xfrm>
            <a:off x="4937760" y="3785616"/>
            <a:ext cx="384048" cy="384048"/>
          </a:xfrm>
          <a:prstGeom prst="ellipse">
            <a:avLst/>
          </a:prstGeom>
          <a:solidFill>
            <a:srgbClr val="F5F7F9"/>
          </a:solidFill>
          <a:ln/>
        </p:spPr>
      </p:sp>
      <p:pic>
        <p:nvPicPr>
          <p:cNvPr id="22" name="Image 4" descr="assets/icons/mappin_orange.png">    </p:cNvPr>
          <p:cNvPicPr>
            <a:picLocks noChangeAspect="1"/>
          </p:cNvPicPr>
          <p:nvPr/>
        </p:nvPicPr>
        <p:blipFill>
          <a:blip r:embed="rId5"/>
          <a:stretch>
            <a:fillRect/>
          </a:stretch>
        </p:blipFill>
        <p:spPr>
          <a:xfrm>
            <a:off x="5037612" y="3885468"/>
            <a:ext cx="184343" cy="184343"/>
          </a:xfrm>
          <a:prstGeom prst="rect">
            <a:avLst/>
          </a:prstGeom>
        </p:spPr>
      </p:pic>
      <p:sp>
        <p:nvSpPr>
          <p:cNvPr id="23" name="Text 16"/>
          <p:cNvSpPr/>
          <p:nvPr/>
        </p:nvSpPr>
        <p:spPr>
          <a:xfrm>
            <a:off x="5486400" y="3730752"/>
            <a:ext cx="6202375" cy="274320"/>
          </a:xfrm>
          <a:prstGeom prst="rect">
            <a:avLst/>
          </a:prstGeom>
          <a:noFill/>
          <a:ln/>
        </p:spPr>
        <p:txBody>
          <a:bodyPr wrap="square" lIns="0" tIns="0" rIns="0" bIns="0" rtlCol="0" anchor="t"/>
          <a:lstStyle/>
          <a:p>
            <a:pPr indent="0" marL="0">
              <a:buNone/>
            </a:pPr>
            <a:r>
              <a:rPr lang="en-US" sz="1100" dirty="0">
                <a:solidFill>
                  <a:srgbClr val="222F44"/>
                </a:solidFill>
                <a:latin typeface="Poppins SemiBold" pitchFamily="34" charset="0"/>
                <a:ea typeface="Poppins SemiBold" pitchFamily="34" charset="-122"/>
                <a:cs typeface="Poppins SemiBold" pitchFamily="34" charset="-120"/>
              </a:rPr>
              <a:t>Brasília – DF</a:t>
            </a:r>
            <a:endParaRPr lang="en-US" sz="1100" dirty="0"/>
          </a:p>
        </p:txBody>
      </p:sp>
      <p:sp>
        <p:nvSpPr>
          <p:cNvPr id="24" name="Text 17"/>
          <p:cNvSpPr/>
          <p:nvPr/>
        </p:nvSpPr>
        <p:spPr>
          <a:xfrm>
            <a:off x="5486400" y="4005072"/>
            <a:ext cx="6202375" cy="329184"/>
          </a:xfrm>
          <a:prstGeom prst="rect">
            <a:avLst/>
          </a:prstGeom>
          <a:noFill/>
          <a:ln/>
        </p:spPr>
        <p:txBody>
          <a:bodyPr wrap="square" lIns="0" tIns="0" rIns="0" bIns="0" rtlCol="0" anchor="t"/>
          <a:lstStyle/>
          <a:p>
            <a:pPr indent="0" marL="0">
              <a:lnSpc>
                <a:spcPct val="98000"/>
              </a:lnSpc>
              <a:buNone/>
            </a:pPr>
            <a:r>
              <a:rPr lang="en-US" sz="880" dirty="0">
                <a:solidFill>
                  <a:srgbClr val="6B7686"/>
                </a:solidFill>
                <a:latin typeface="Poppins" pitchFamily="34" charset="0"/>
                <a:ea typeface="Poppins" pitchFamily="34" charset="-122"/>
                <a:cs typeface="Poppins" pitchFamily="34" charset="-120"/>
              </a:rPr>
              <a:t>Garagem BSB supporting operations across the Federal District</a:t>
            </a:r>
            <a:endParaRPr lang="en-US" sz="880" dirty="0"/>
          </a:p>
        </p:txBody>
      </p:sp>
      <p:sp>
        <p:nvSpPr>
          <p:cNvPr id="25" name="Shape 18"/>
          <p:cNvSpPr/>
          <p:nvPr/>
        </p:nvSpPr>
        <p:spPr>
          <a:xfrm>
            <a:off x="4937760" y="4407408"/>
            <a:ext cx="384048" cy="384048"/>
          </a:xfrm>
          <a:prstGeom prst="ellipse">
            <a:avLst/>
          </a:prstGeom>
          <a:solidFill>
            <a:srgbClr val="F5F7F9"/>
          </a:solidFill>
          <a:ln/>
        </p:spPr>
      </p:sp>
      <p:pic>
        <p:nvPicPr>
          <p:cNvPr id="26" name="Image 5" descr="assets/icons/mappin_orange.png">    </p:cNvPr>
          <p:cNvPicPr>
            <a:picLocks noChangeAspect="1"/>
          </p:cNvPicPr>
          <p:nvPr/>
        </p:nvPicPr>
        <p:blipFill>
          <a:blip r:embed="rId6"/>
          <a:stretch>
            <a:fillRect/>
          </a:stretch>
        </p:blipFill>
        <p:spPr>
          <a:xfrm>
            <a:off x="5037612" y="4507260"/>
            <a:ext cx="184343" cy="184343"/>
          </a:xfrm>
          <a:prstGeom prst="rect">
            <a:avLst/>
          </a:prstGeom>
        </p:spPr>
      </p:pic>
      <p:sp>
        <p:nvSpPr>
          <p:cNvPr id="27" name="Text 19"/>
          <p:cNvSpPr/>
          <p:nvPr/>
        </p:nvSpPr>
        <p:spPr>
          <a:xfrm>
            <a:off x="5486400" y="4352544"/>
            <a:ext cx="6202375" cy="274320"/>
          </a:xfrm>
          <a:prstGeom prst="rect">
            <a:avLst/>
          </a:prstGeom>
          <a:noFill/>
          <a:ln/>
        </p:spPr>
        <p:txBody>
          <a:bodyPr wrap="square" lIns="0" tIns="0" rIns="0" bIns="0" rtlCol="0" anchor="t"/>
          <a:lstStyle/>
          <a:p>
            <a:pPr indent="0" marL="0">
              <a:buNone/>
            </a:pPr>
            <a:r>
              <a:rPr lang="en-US" sz="1100" dirty="0">
                <a:solidFill>
                  <a:srgbClr val="222F44"/>
                </a:solidFill>
                <a:latin typeface="Poppins SemiBold" pitchFamily="34" charset="0"/>
                <a:ea typeface="Poppins SemiBold" pitchFamily="34" charset="-122"/>
                <a:cs typeface="Poppins SemiBold" pitchFamily="34" charset="-120"/>
              </a:rPr>
              <a:t>Senador Canedo – GO</a:t>
            </a:r>
            <a:endParaRPr lang="en-US" sz="1100" dirty="0"/>
          </a:p>
        </p:txBody>
      </p:sp>
      <p:sp>
        <p:nvSpPr>
          <p:cNvPr id="28" name="Text 20"/>
          <p:cNvSpPr/>
          <p:nvPr/>
        </p:nvSpPr>
        <p:spPr>
          <a:xfrm>
            <a:off x="5486400" y="4626864"/>
            <a:ext cx="6202375" cy="329184"/>
          </a:xfrm>
          <a:prstGeom prst="rect">
            <a:avLst/>
          </a:prstGeom>
          <a:noFill/>
          <a:ln/>
        </p:spPr>
        <p:txBody>
          <a:bodyPr wrap="square" lIns="0" tIns="0" rIns="0" bIns="0" rtlCol="0" anchor="t"/>
          <a:lstStyle/>
          <a:p>
            <a:pPr indent="0" marL="0">
              <a:lnSpc>
                <a:spcPct val="98000"/>
              </a:lnSpc>
              <a:buNone/>
            </a:pPr>
            <a:r>
              <a:rPr lang="en-US" sz="880" dirty="0">
                <a:solidFill>
                  <a:srgbClr val="6B7686"/>
                </a:solidFill>
                <a:latin typeface="Poppins" pitchFamily="34" charset="0"/>
                <a:ea typeface="Poppins" pitchFamily="34" charset="-122"/>
                <a:cs typeface="Poppins" pitchFamily="34" charset="-120"/>
              </a:rPr>
              <a:t>Support base close to client sites, enabling faster response times</a:t>
            </a:r>
            <a:endParaRPr lang="en-US" sz="880" dirty="0"/>
          </a:p>
        </p:txBody>
      </p:sp>
      <p:sp>
        <p:nvSpPr>
          <p:cNvPr id="29" name="Shape 21"/>
          <p:cNvSpPr/>
          <p:nvPr/>
        </p:nvSpPr>
        <p:spPr>
          <a:xfrm>
            <a:off x="4937760" y="5029200"/>
            <a:ext cx="384048" cy="384048"/>
          </a:xfrm>
          <a:prstGeom prst="ellipse">
            <a:avLst/>
          </a:prstGeom>
          <a:solidFill>
            <a:srgbClr val="F5F7F9"/>
          </a:solidFill>
          <a:ln/>
        </p:spPr>
      </p:sp>
      <p:pic>
        <p:nvPicPr>
          <p:cNvPr id="30" name="Image 6" descr="assets/icons/mappin_orange.png">    </p:cNvPr>
          <p:cNvPicPr>
            <a:picLocks noChangeAspect="1"/>
          </p:cNvPicPr>
          <p:nvPr/>
        </p:nvPicPr>
        <p:blipFill>
          <a:blip r:embed="rId7"/>
          <a:stretch>
            <a:fillRect/>
          </a:stretch>
        </p:blipFill>
        <p:spPr>
          <a:xfrm>
            <a:off x="5037612" y="5129052"/>
            <a:ext cx="184343" cy="184343"/>
          </a:xfrm>
          <a:prstGeom prst="rect">
            <a:avLst/>
          </a:prstGeom>
        </p:spPr>
      </p:pic>
      <p:sp>
        <p:nvSpPr>
          <p:cNvPr id="31" name="Text 22"/>
          <p:cNvSpPr/>
          <p:nvPr/>
        </p:nvSpPr>
        <p:spPr>
          <a:xfrm>
            <a:off x="5486400" y="4974336"/>
            <a:ext cx="6202375" cy="274320"/>
          </a:xfrm>
          <a:prstGeom prst="rect">
            <a:avLst/>
          </a:prstGeom>
          <a:noFill/>
          <a:ln/>
        </p:spPr>
        <p:txBody>
          <a:bodyPr wrap="square" lIns="0" tIns="0" rIns="0" bIns="0" rtlCol="0" anchor="t"/>
          <a:lstStyle/>
          <a:p>
            <a:pPr indent="0" marL="0">
              <a:buNone/>
            </a:pPr>
            <a:r>
              <a:rPr lang="en-US" sz="1100" dirty="0">
                <a:solidFill>
                  <a:srgbClr val="222F44"/>
                </a:solidFill>
                <a:latin typeface="Poppins SemiBold" pitchFamily="34" charset="0"/>
                <a:ea typeface="Poppins SemiBold" pitchFamily="34" charset="-122"/>
                <a:cs typeface="Poppins SemiBold" pitchFamily="34" charset="-120"/>
              </a:rPr>
              <a:t>Uberlândia – MG</a:t>
            </a:r>
            <a:endParaRPr lang="en-US" sz="1100" dirty="0"/>
          </a:p>
        </p:txBody>
      </p:sp>
      <p:sp>
        <p:nvSpPr>
          <p:cNvPr id="32" name="Text 23"/>
          <p:cNvSpPr/>
          <p:nvPr/>
        </p:nvSpPr>
        <p:spPr>
          <a:xfrm>
            <a:off x="5486400" y="5248656"/>
            <a:ext cx="6202375" cy="329184"/>
          </a:xfrm>
          <a:prstGeom prst="rect">
            <a:avLst/>
          </a:prstGeom>
          <a:noFill/>
          <a:ln/>
        </p:spPr>
        <p:txBody>
          <a:bodyPr wrap="square" lIns="0" tIns="0" rIns="0" bIns="0" rtlCol="0" anchor="t"/>
          <a:lstStyle/>
          <a:p>
            <a:pPr indent="0" marL="0">
              <a:lnSpc>
                <a:spcPct val="98000"/>
              </a:lnSpc>
              <a:buNone/>
            </a:pPr>
            <a:r>
              <a:rPr lang="en-US" sz="880" dirty="0">
                <a:solidFill>
                  <a:srgbClr val="6B7686"/>
                </a:solidFill>
                <a:latin typeface="Poppins" pitchFamily="34" charset="0"/>
                <a:ea typeface="Poppins" pitchFamily="34" charset="-122"/>
                <a:cs typeface="Poppins" pitchFamily="34" charset="-120"/>
              </a:rPr>
              <a:t>Serving the Triângulo Mineiro region with strong execution oversight</a:t>
            </a:r>
            <a:endParaRPr lang="en-US" sz="880" dirty="0"/>
          </a:p>
        </p:txBody>
      </p:sp>
      <p:sp>
        <p:nvSpPr>
          <p:cNvPr id="33" name="Text 24"/>
          <p:cNvSpPr/>
          <p:nvPr/>
        </p:nvSpPr>
        <p:spPr>
          <a:xfrm>
            <a:off x="685800" y="5806440"/>
            <a:ext cx="2522144" cy="384048"/>
          </a:xfrm>
          <a:prstGeom prst="rect">
            <a:avLst/>
          </a:prstGeom>
          <a:noFill/>
          <a:ln/>
        </p:spPr>
        <p:txBody>
          <a:bodyPr wrap="square" lIns="0" tIns="0" rIns="0" bIns="0" rtlCol="0" anchor="b"/>
          <a:lstStyle/>
          <a:p>
            <a:pPr indent="0" marL="0">
              <a:buNone/>
            </a:pPr>
            <a:r>
              <a:rPr lang="en-US" sz="2200" dirty="0">
                <a:solidFill>
                  <a:srgbClr val="F35B1A"/>
                </a:solidFill>
                <a:latin typeface="Source Serif Pro Black" pitchFamily="34" charset="0"/>
                <a:ea typeface="Source Serif Pro Black" pitchFamily="34" charset="-122"/>
                <a:cs typeface="Source Serif Pro Black" pitchFamily="34" charset="-120"/>
              </a:rPr>
              <a:t>1</a:t>
            </a:r>
            <a:endParaRPr lang="en-US" sz="2200" dirty="0"/>
          </a:p>
        </p:txBody>
      </p:sp>
      <p:sp>
        <p:nvSpPr>
          <p:cNvPr id="34" name="Text 25"/>
          <p:cNvSpPr/>
          <p:nvPr/>
        </p:nvSpPr>
        <p:spPr>
          <a:xfrm>
            <a:off x="685800" y="6208776"/>
            <a:ext cx="2522144" cy="237744"/>
          </a:xfrm>
          <a:prstGeom prst="rect">
            <a:avLst/>
          </a:prstGeom>
          <a:noFill/>
          <a:ln/>
        </p:spPr>
        <p:txBody>
          <a:bodyPr wrap="square" lIns="0" tIns="0" rIns="0" bIns="0" rtlCol="0" anchor="t"/>
          <a:lstStyle/>
          <a:p>
            <a:pPr indent="0" marL="0">
              <a:buNone/>
            </a:pPr>
            <a:r>
              <a:rPr lang="en-US" sz="900" dirty="0">
                <a:solidFill>
                  <a:srgbClr val="6B7686"/>
                </a:solidFill>
                <a:latin typeface="Poppins" pitchFamily="34" charset="0"/>
                <a:ea typeface="Poppins" pitchFamily="34" charset="-122"/>
                <a:cs typeface="Poppins" pitchFamily="34" charset="-120"/>
              </a:rPr>
              <a:t>Headquarters</a:t>
            </a:r>
            <a:endParaRPr lang="en-US" sz="900" dirty="0"/>
          </a:p>
        </p:txBody>
      </p:sp>
      <p:sp>
        <p:nvSpPr>
          <p:cNvPr id="35" name="Shape 26"/>
          <p:cNvSpPr/>
          <p:nvPr/>
        </p:nvSpPr>
        <p:spPr>
          <a:xfrm>
            <a:off x="3299384" y="5852160"/>
            <a:ext cx="0" cy="502920"/>
          </a:xfrm>
          <a:prstGeom prst="line">
            <a:avLst/>
          </a:prstGeom>
          <a:noFill/>
          <a:ln w="12700">
            <a:solidFill>
              <a:srgbClr val="D9DEE5"/>
            </a:solidFill>
            <a:prstDash val="solid"/>
          </a:ln>
        </p:spPr>
      </p:sp>
      <p:sp>
        <p:nvSpPr>
          <p:cNvPr id="36" name="Text 27"/>
          <p:cNvSpPr/>
          <p:nvPr/>
        </p:nvSpPr>
        <p:spPr>
          <a:xfrm>
            <a:off x="3482264" y="5806440"/>
            <a:ext cx="2522144" cy="384048"/>
          </a:xfrm>
          <a:prstGeom prst="rect">
            <a:avLst/>
          </a:prstGeom>
          <a:noFill/>
          <a:ln/>
        </p:spPr>
        <p:txBody>
          <a:bodyPr wrap="square" lIns="0" tIns="0" rIns="0" bIns="0" rtlCol="0" anchor="b"/>
          <a:lstStyle/>
          <a:p>
            <a:pPr indent="0" marL="0">
              <a:buNone/>
            </a:pPr>
            <a:r>
              <a:rPr lang="en-US" sz="2200" dirty="0">
                <a:solidFill>
                  <a:srgbClr val="F35B1A"/>
                </a:solidFill>
                <a:latin typeface="Source Serif Pro Black" pitchFamily="34" charset="0"/>
                <a:ea typeface="Source Serif Pro Black" pitchFamily="34" charset="-122"/>
                <a:cs typeface="Source Serif Pro Black" pitchFamily="34" charset="-120"/>
              </a:rPr>
              <a:t>10</a:t>
            </a:r>
            <a:endParaRPr lang="en-US" sz="2200" dirty="0"/>
          </a:p>
        </p:txBody>
      </p:sp>
      <p:sp>
        <p:nvSpPr>
          <p:cNvPr id="37" name="Text 28"/>
          <p:cNvSpPr/>
          <p:nvPr/>
        </p:nvSpPr>
        <p:spPr>
          <a:xfrm>
            <a:off x="3482264" y="6208776"/>
            <a:ext cx="2522144" cy="237744"/>
          </a:xfrm>
          <a:prstGeom prst="rect">
            <a:avLst/>
          </a:prstGeom>
          <a:noFill/>
          <a:ln/>
        </p:spPr>
        <p:txBody>
          <a:bodyPr wrap="square" lIns="0" tIns="0" rIns="0" bIns="0" rtlCol="0" anchor="t"/>
          <a:lstStyle/>
          <a:p>
            <a:pPr indent="0" marL="0">
              <a:buNone/>
            </a:pPr>
            <a:r>
              <a:rPr lang="en-US" sz="900" dirty="0">
                <a:solidFill>
                  <a:srgbClr val="6B7686"/>
                </a:solidFill>
                <a:latin typeface="Poppins" pitchFamily="34" charset="0"/>
                <a:ea typeface="Poppins" pitchFamily="34" charset="-122"/>
                <a:cs typeface="Poppins" pitchFamily="34" charset="-120"/>
              </a:rPr>
              <a:t>Operational bases</a:t>
            </a:r>
            <a:endParaRPr lang="en-US" sz="900" dirty="0"/>
          </a:p>
        </p:txBody>
      </p:sp>
      <p:sp>
        <p:nvSpPr>
          <p:cNvPr id="38" name="Shape 29"/>
          <p:cNvSpPr/>
          <p:nvPr/>
        </p:nvSpPr>
        <p:spPr>
          <a:xfrm>
            <a:off x="6095848" y="5852160"/>
            <a:ext cx="0" cy="502920"/>
          </a:xfrm>
          <a:prstGeom prst="line">
            <a:avLst/>
          </a:prstGeom>
          <a:noFill/>
          <a:ln w="12700">
            <a:solidFill>
              <a:srgbClr val="D9DEE5"/>
            </a:solidFill>
            <a:prstDash val="solid"/>
          </a:ln>
        </p:spPr>
      </p:sp>
      <p:sp>
        <p:nvSpPr>
          <p:cNvPr id="39" name="Text 30"/>
          <p:cNvSpPr/>
          <p:nvPr/>
        </p:nvSpPr>
        <p:spPr>
          <a:xfrm>
            <a:off x="6278728" y="5806440"/>
            <a:ext cx="2522144" cy="384048"/>
          </a:xfrm>
          <a:prstGeom prst="rect">
            <a:avLst/>
          </a:prstGeom>
          <a:noFill/>
          <a:ln/>
        </p:spPr>
        <p:txBody>
          <a:bodyPr wrap="square" lIns="0" tIns="0" rIns="0" bIns="0" rtlCol="0" anchor="b"/>
          <a:lstStyle/>
          <a:p>
            <a:pPr indent="0" marL="0">
              <a:buNone/>
            </a:pPr>
            <a:r>
              <a:rPr lang="en-US" sz="2200" dirty="0">
                <a:solidFill>
                  <a:srgbClr val="F35B1A"/>
                </a:solidFill>
                <a:latin typeface="Source Serif Pro Black" pitchFamily="34" charset="0"/>
                <a:ea typeface="Source Serif Pro Black" pitchFamily="34" charset="-122"/>
                <a:cs typeface="Source Serif Pro Black" pitchFamily="34" charset="-120"/>
              </a:rPr>
              <a:t>3</a:t>
            </a:r>
            <a:endParaRPr lang="en-US" sz="2200" dirty="0"/>
          </a:p>
        </p:txBody>
      </p:sp>
      <p:sp>
        <p:nvSpPr>
          <p:cNvPr id="40" name="Text 31"/>
          <p:cNvSpPr/>
          <p:nvPr/>
        </p:nvSpPr>
        <p:spPr>
          <a:xfrm>
            <a:off x="6278728" y="6208776"/>
            <a:ext cx="2522144" cy="237744"/>
          </a:xfrm>
          <a:prstGeom prst="rect">
            <a:avLst/>
          </a:prstGeom>
          <a:noFill/>
          <a:ln/>
        </p:spPr>
        <p:txBody>
          <a:bodyPr wrap="square" lIns="0" tIns="0" rIns="0" bIns="0" rtlCol="0" anchor="t"/>
          <a:lstStyle/>
          <a:p>
            <a:pPr indent="0" marL="0">
              <a:buNone/>
            </a:pPr>
            <a:r>
              <a:rPr lang="en-US" sz="900" dirty="0">
                <a:solidFill>
                  <a:srgbClr val="6B7686"/>
                </a:solidFill>
                <a:latin typeface="Poppins" pitchFamily="34" charset="0"/>
                <a:ea typeface="Poppins" pitchFamily="34" charset="-122"/>
                <a:cs typeface="Poppins" pitchFamily="34" charset="-120"/>
              </a:rPr>
              <a:t>States covered</a:t>
            </a:r>
            <a:endParaRPr lang="en-US" sz="900" dirty="0"/>
          </a:p>
        </p:txBody>
      </p:sp>
      <p:sp>
        <p:nvSpPr>
          <p:cNvPr id="41" name="Shape 32"/>
          <p:cNvSpPr/>
          <p:nvPr/>
        </p:nvSpPr>
        <p:spPr>
          <a:xfrm>
            <a:off x="8892311" y="5852160"/>
            <a:ext cx="0" cy="502920"/>
          </a:xfrm>
          <a:prstGeom prst="line">
            <a:avLst/>
          </a:prstGeom>
          <a:noFill/>
          <a:ln w="12700">
            <a:solidFill>
              <a:srgbClr val="D9DEE5"/>
            </a:solidFill>
            <a:prstDash val="solid"/>
          </a:ln>
        </p:spPr>
      </p:sp>
      <p:sp>
        <p:nvSpPr>
          <p:cNvPr id="42" name="Text 33"/>
          <p:cNvSpPr/>
          <p:nvPr/>
        </p:nvSpPr>
        <p:spPr>
          <a:xfrm>
            <a:off x="9075191" y="5806440"/>
            <a:ext cx="2522144" cy="384048"/>
          </a:xfrm>
          <a:prstGeom prst="rect">
            <a:avLst/>
          </a:prstGeom>
          <a:noFill/>
          <a:ln/>
        </p:spPr>
        <p:txBody>
          <a:bodyPr wrap="square" lIns="0" tIns="0" rIns="0" bIns="0" rtlCol="0" anchor="b"/>
          <a:lstStyle/>
          <a:p>
            <a:pPr indent="0" marL="0">
              <a:buNone/>
            </a:pPr>
            <a:r>
              <a:rPr lang="en-US" sz="2200" dirty="0">
                <a:solidFill>
                  <a:srgbClr val="F35B1A"/>
                </a:solidFill>
                <a:latin typeface="Source Serif Pro Black" pitchFamily="34" charset="0"/>
                <a:ea typeface="Source Serif Pro Black" pitchFamily="34" charset="-122"/>
                <a:cs typeface="Source Serif Pro Black" pitchFamily="34" charset="-120"/>
              </a:rPr>
              <a:t>373</a:t>
            </a:r>
            <a:endParaRPr lang="en-US" sz="2200" dirty="0"/>
          </a:p>
        </p:txBody>
      </p:sp>
      <p:sp>
        <p:nvSpPr>
          <p:cNvPr id="43" name="Text 34"/>
          <p:cNvSpPr/>
          <p:nvPr/>
        </p:nvSpPr>
        <p:spPr>
          <a:xfrm>
            <a:off x="9075191" y="6208776"/>
            <a:ext cx="2522144" cy="237744"/>
          </a:xfrm>
          <a:prstGeom prst="rect">
            <a:avLst/>
          </a:prstGeom>
          <a:noFill/>
          <a:ln/>
        </p:spPr>
        <p:txBody>
          <a:bodyPr wrap="square" lIns="0" tIns="0" rIns="0" bIns="0" rtlCol="0" anchor="t"/>
          <a:lstStyle/>
          <a:p>
            <a:pPr indent="0" marL="0">
              <a:buNone/>
            </a:pPr>
            <a:r>
              <a:rPr lang="en-US" sz="900" dirty="0">
                <a:solidFill>
                  <a:srgbClr val="6B7686"/>
                </a:solidFill>
                <a:latin typeface="Poppins" pitchFamily="34" charset="0"/>
                <a:ea typeface="Poppins" pitchFamily="34" charset="-122"/>
                <a:cs typeface="Poppins" pitchFamily="34" charset="-120"/>
              </a:rPr>
              <a:t>Vehicles deployed</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assets/igc_navy.png">    </p:cNvPr>
          <p:cNvPicPr>
            <a:picLocks noChangeAspect="1"/>
          </p:cNvPicPr>
          <p:nvPr/>
        </p:nvPicPr>
        <p:blipFill>
          <a:blip r:embed="rId1"/>
          <a:stretch>
            <a:fillRect/>
          </a:stretch>
        </p:blipFill>
        <p:spPr>
          <a:xfrm>
            <a:off x="11121847" y="310896"/>
            <a:ext cx="566928" cy="490078"/>
          </a:xfrm>
          <a:prstGeom prst="rect">
            <a:avLst/>
          </a:prstGeom>
        </p:spPr>
      </p:pic>
      <p:sp>
        <p:nvSpPr>
          <p:cNvPr id="3" name="Text 0"/>
          <p:cNvSpPr/>
          <p:nvPr/>
        </p:nvSpPr>
        <p:spPr>
          <a:xfrm>
            <a:off x="502920" y="384048"/>
            <a:ext cx="7315200" cy="256032"/>
          </a:xfrm>
          <a:prstGeom prst="rect">
            <a:avLst/>
          </a:prstGeom>
          <a:noFill/>
          <a:ln/>
        </p:spPr>
        <p:txBody>
          <a:bodyPr wrap="square" rtlCol="0" anchor="ctr"/>
          <a:lstStyle/>
          <a:p>
            <a:pPr algn="l" indent="0" marL="0">
              <a:buNone/>
            </a:pPr>
            <a:r>
              <a:rPr lang="en-US" sz="1050" spc="200" kern="0" dirty="0">
                <a:solidFill>
                  <a:srgbClr val="F35B1A"/>
                </a:solidFill>
                <a:latin typeface="Poppins SemiBold" pitchFamily="34" charset="0"/>
                <a:ea typeface="Poppins SemiBold" pitchFamily="34" charset="-122"/>
                <a:cs typeface="Poppins SemiBold" pitchFamily="34" charset="-120"/>
              </a:rPr>
              <a:t>COMPANY OVERVIEW</a:t>
            </a:r>
            <a:endParaRPr lang="en-US" sz="1050" dirty="0"/>
          </a:p>
        </p:txBody>
      </p:sp>
      <p:sp>
        <p:nvSpPr>
          <p:cNvPr id="4" name="Text 1"/>
          <p:cNvSpPr/>
          <p:nvPr/>
        </p:nvSpPr>
        <p:spPr>
          <a:xfrm>
            <a:off x="502920" y="603504"/>
            <a:ext cx="10408615" cy="640080"/>
          </a:xfrm>
          <a:prstGeom prst="rect">
            <a:avLst/>
          </a:prstGeom>
          <a:noFill/>
          <a:ln/>
        </p:spPr>
        <p:txBody>
          <a:bodyPr wrap="square" rtlCol="0" anchor="t"/>
          <a:lstStyle/>
          <a:p>
            <a:pPr algn="l" indent="0" marL="0">
              <a:buNone/>
            </a:pPr>
            <a:r>
              <a:rPr lang="en-US" sz="2500" dirty="0">
                <a:solidFill>
                  <a:srgbClr val="222F44"/>
                </a:solidFill>
                <a:latin typeface="Source Serif Pro SemiBold" pitchFamily="34" charset="0"/>
                <a:ea typeface="Source Serif Pro SemiBold" pitchFamily="34" charset="-122"/>
                <a:cs typeface="Source Serif Pro SemiBold" pitchFamily="34" charset="-120"/>
              </a:rPr>
              <a:t>Technology-enabled operations support high reliability</a:t>
            </a:r>
            <a:endParaRPr lang="en-US" sz="2500" dirty="0"/>
          </a:p>
        </p:txBody>
      </p:sp>
      <p:sp>
        <p:nvSpPr>
          <p:cNvPr id="5" name="Text 2"/>
          <p:cNvSpPr/>
          <p:nvPr/>
        </p:nvSpPr>
        <p:spPr>
          <a:xfrm>
            <a:off x="502920" y="1225296"/>
            <a:ext cx="10408615" cy="457200"/>
          </a:xfrm>
          <a:prstGeom prst="rect">
            <a:avLst/>
          </a:prstGeom>
          <a:noFill/>
          <a:ln/>
        </p:spPr>
        <p:txBody>
          <a:bodyPr wrap="square" rtlCol="0" anchor="t"/>
          <a:lstStyle/>
          <a:p>
            <a:pPr algn="l" indent="0" marL="0">
              <a:buNone/>
            </a:pPr>
            <a:r>
              <a:rPr lang="en-US" sz="1250" dirty="0">
                <a:solidFill>
                  <a:srgbClr val="6B7686"/>
                </a:solidFill>
                <a:latin typeface="Poppins" pitchFamily="34" charset="0"/>
                <a:ea typeface="Poppins" pitchFamily="34" charset="-122"/>
                <a:cs typeface="Poppins" pitchFamily="34" charset="-120"/>
              </a:rPr>
              <a:t>GPS-based telemetry, driver monitoring and operational discipline keep the fleet running reliably</a:t>
            </a:r>
            <a:endParaRPr lang="en-US" sz="1250" dirty="0"/>
          </a:p>
        </p:txBody>
      </p:sp>
      <p:sp>
        <p:nvSpPr>
          <p:cNvPr id="6" name="Text 3"/>
          <p:cNvSpPr/>
          <p:nvPr/>
        </p:nvSpPr>
        <p:spPr>
          <a:xfrm>
            <a:off x="502920" y="6547104"/>
            <a:ext cx="10180015" cy="237744"/>
          </a:xfrm>
          <a:prstGeom prst="rect">
            <a:avLst/>
          </a:prstGeom>
          <a:noFill/>
          <a:ln/>
        </p:spPr>
        <p:txBody>
          <a:bodyPr wrap="square" rtlCol="0" anchor="ctr"/>
          <a:lstStyle/>
          <a:p>
            <a:pPr algn="l" indent="0" marL="0">
              <a:buNone/>
            </a:pPr>
            <a:r>
              <a:rPr lang="en-US" sz="700" dirty="0">
                <a:solidFill>
                  <a:srgbClr val="97A0AD"/>
                </a:solidFill>
                <a:latin typeface="Poppins" pitchFamily="34" charset="0"/>
                <a:ea typeface="Poppins" pitchFamily="34" charset="-122"/>
                <a:cs typeface="Poppins" pitchFamily="34" charset="-120"/>
              </a:rPr>
              <a:t>Source: Company. Availability and preventive-maintenance metrics, and scope of in-house maintenance, to be confirmed with management.</a:t>
            </a:r>
            <a:endParaRPr lang="en-US" sz="700" dirty="0"/>
          </a:p>
        </p:txBody>
      </p:sp>
      <p:sp>
        <p:nvSpPr>
          <p:cNvPr id="7" name="Text 4"/>
          <p:cNvSpPr/>
          <p:nvPr/>
        </p:nvSpPr>
        <p:spPr>
          <a:xfrm>
            <a:off x="10728655" y="6547104"/>
            <a:ext cx="960120" cy="237744"/>
          </a:xfrm>
          <a:prstGeom prst="rect">
            <a:avLst/>
          </a:prstGeom>
          <a:noFill/>
          <a:ln/>
        </p:spPr>
        <p:txBody>
          <a:bodyPr wrap="square" rtlCol="0" anchor="ctr"/>
          <a:lstStyle/>
          <a:p>
            <a:pPr algn="r" indent="0" marL="0">
              <a:buNone/>
            </a:pPr>
            <a:r>
              <a:rPr lang="en-US" sz="850" dirty="0">
                <a:solidFill>
                  <a:srgbClr val="97A0AD"/>
                </a:solidFill>
                <a:latin typeface="Poppins Medium" pitchFamily="34" charset="0"/>
                <a:ea typeface="Poppins Medium" pitchFamily="34" charset="-122"/>
                <a:cs typeface="Poppins Medium" pitchFamily="34" charset="-120"/>
              </a:rPr>
              <a:t>Confidential   </a:t>
            </a:r>
            <a:pPr algn="r" indent="0" marL="0">
              <a:buNone/>
            </a:pPr>
            <a:r>
              <a:rPr lang="en-US" sz="850" b="1" dirty="0">
                <a:solidFill>
                  <a:srgbClr val="222F44"/>
                </a:solidFill>
                <a:latin typeface="Poppins Medium" pitchFamily="34" charset="0"/>
                <a:ea typeface="Poppins Medium" pitchFamily="34" charset="-122"/>
                <a:cs typeface="Poppins Medium" pitchFamily="34" charset="-120"/>
              </a:rPr>
              <a:t>11</a:t>
            </a:r>
            <a:endParaRPr lang="en-US" sz="850" dirty="0"/>
          </a:p>
        </p:txBody>
      </p:sp>
      <p:sp>
        <p:nvSpPr>
          <p:cNvPr id="8" name="Shape 5"/>
          <p:cNvSpPr/>
          <p:nvPr/>
        </p:nvSpPr>
        <p:spPr>
          <a:xfrm>
            <a:off x="502920" y="1874520"/>
            <a:ext cx="5410048" cy="1737360"/>
          </a:xfrm>
          <a:prstGeom prst="roundRect">
            <a:avLst>
              <a:gd name="adj" fmla="val 5263"/>
            </a:avLst>
          </a:prstGeom>
          <a:solidFill>
            <a:srgbClr val="FFFFFF"/>
          </a:solidFill>
          <a:ln w="12700">
            <a:solidFill>
              <a:srgbClr val="D9DEE5"/>
            </a:solidFill>
            <a:prstDash val="solid"/>
          </a:ln>
          <a:effectLst>
            <a:outerShdw sx="100000" sy="100000" kx="0" ky="0" algn="bl" rotWithShape="0" blurRad="88900" dist="25400" dir="5400000">
              <a:srgbClr val="9AA6B4">
                <a:alpha val="28000"/>
              </a:srgbClr>
            </a:outerShdw>
          </a:effectLst>
        </p:spPr>
      </p:sp>
      <p:sp>
        <p:nvSpPr>
          <p:cNvPr id="9" name="Shape 6"/>
          <p:cNvSpPr/>
          <p:nvPr/>
        </p:nvSpPr>
        <p:spPr>
          <a:xfrm>
            <a:off x="722376" y="2075688"/>
            <a:ext cx="457200" cy="457200"/>
          </a:xfrm>
          <a:prstGeom prst="ellipse">
            <a:avLst/>
          </a:prstGeom>
          <a:solidFill>
            <a:srgbClr val="F5F7F9"/>
          </a:solidFill>
          <a:ln/>
        </p:spPr>
      </p:sp>
      <p:pic>
        <p:nvPicPr>
          <p:cNvPr id="10" name="Image 1" descr="assets/icons/activity_orange.png">    </p:cNvPr>
          <p:cNvPicPr>
            <a:picLocks noChangeAspect="1"/>
          </p:cNvPicPr>
          <p:nvPr/>
        </p:nvPicPr>
        <p:blipFill>
          <a:blip r:embed="rId2"/>
          <a:stretch>
            <a:fillRect/>
          </a:stretch>
        </p:blipFill>
        <p:spPr>
          <a:xfrm>
            <a:off x="841248" y="2194560"/>
            <a:ext cx="219456" cy="219456"/>
          </a:xfrm>
          <a:prstGeom prst="rect">
            <a:avLst/>
          </a:prstGeom>
        </p:spPr>
      </p:pic>
      <p:sp>
        <p:nvSpPr>
          <p:cNvPr id="11" name="Text 7"/>
          <p:cNvSpPr/>
          <p:nvPr/>
        </p:nvSpPr>
        <p:spPr>
          <a:xfrm>
            <a:off x="1289304" y="2112264"/>
            <a:ext cx="4449928" cy="384048"/>
          </a:xfrm>
          <a:prstGeom prst="rect">
            <a:avLst/>
          </a:prstGeom>
          <a:noFill/>
          <a:ln/>
        </p:spPr>
        <p:txBody>
          <a:bodyPr wrap="square" lIns="0" tIns="0" rIns="0" bIns="0" rtlCol="0" anchor="ctr"/>
          <a:lstStyle/>
          <a:p>
            <a:pPr indent="0" marL="0">
              <a:lnSpc>
                <a:spcPct val="95000"/>
              </a:lnSpc>
              <a:buNone/>
            </a:pPr>
            <a:r>
              <a:rPr lang="en-US" sz="1050" spc="50" kern="0" dirty="0">
                <a:solidFill>
                  <a:srgbClr val="222F44"/>
                </a:solidFill>
                <a:latin typeface="Poppins SemiBold" pitchFamily="34" charset="0"/>
                <a:ea typeface="Poppins SemiBold" pitchFamily="34" charset="-122"/>
                <a:cs typeface="Poppins SemiBold" pitchFamily="34" charset="-120"/>
              </a:rPr>
              <a:t>GPS TELEMETRY &amp; DRIVER MONITORING</a:t>
            </a:r>
            <a:endParaRPr lang="en-US" sz="1050" dirty="0"/>
          </a:p>
        </p:txBody>
      </p:sp>
      <p:sp>
        <p:nvSpPr>
          <p:cNvPr id="12" name="Text 8"/>
          <p:cNvSpPr/>
          <p:nvPr/>
        </p:nvSpPr>
        <p:spPr>
          <a:xfrm>
            <a:off x="722376" y="2624328"/>
            <a:ext cx="4971136" cy="457200"/>
          </a:xfrm>
          <a:prstGeom prst="rect">
            <a:avLst/>
          </a:prstGeom>
          <a:noFill/>
          <a:ln/>
        </p:spPr>
        <p:txBody>
          <a:bodyPr wrap="square" lIns="0" tIns="0" rIns="0" bIns="0" rtlCol="0" anchor="t"/>
          <a:lstStyle/>
          <a:p>
            <a:pPr indent="0" marL="0">
              <a:lnSpc>
                <a:spcPct val="100000"/>
              </a:lnSpc>
              <a:buNone/>
            </a:pPr>
            <a:r>
              <a:rPr lang="en-US" sz="880" dirty="0">
                <a:solidFill>
                  <a:srgbClr val="6B7686"/>
                </a:solidFill>
                <a:latin typeface="Poppins" pitchFamily="34" charset="0"/>
                <a:ea typeface="Poppins" pitchFamily="34" charset="-122"/>
                <a:cs typeface="Poppins" pitchFamily="34" charset="-120"/>
              </a:rPr>
              <a:t>GPS-based tracking and AI-powered driver-fatigue monitoring provide continuous oversight of fleet and drivers across all bases</a:t>
            </a:r>
            <a:endParaRPr lang="en-US" sz="880" dirty="0"/>
          </a:p>
        </p:txBody>
      </p:sp>
      <p:pic>
        <p:nvPicPr>
          <p:cNvPr id="13" name="Image 2" descr="assets/sw_ituran.png">    </p:cNvPr>
          <p:cNvPicPr>
            <a:picLocks noChangeAspect="1"/>
          </p:cNvPicPr>
          <p:nvPr/>
        </p:nvPicPr>
        <p:blipFill>
          <a:blip r:embed="rId3"/>
          <a:srcRect l="0" r="0" t="0" b="0"/>
          <a:stretch/>
        </p:blipFill>
        <p:spPr>
          <a:xfrm>
            <a:off x="1891208" y="3118104"/>
            <a:ext cx="1234440" cy="384048"/>
          </a:xfrm>
          <a:prstGeom prst="rect">
            <a:avLst/>
          </a:prstGeom>
        </p:spPr>
      </p:pic>
      <p:pic>
        <p:nvPicPr>
          <p:cNvPr id="14" name="Image 3" descr="assets/sw_vtraxx.png">    </p:cNvPr>
          <p:cNvPicPr>
            <a:picLocks noChangeAspect="1"/>
          </p:cNvPicPr>
          <p:nvPr/>
        </p:nvPicPr>
        <p:blipFill>
          <a:blip r:embed="rId4"/>
          <a:srcRect l="0" r="0" t="0" b="0"/>
          <a:stretch/>
        </p:blipFill>
        <p:spPr>
          <a:xfrm>
            <a:off x="3290240" y="3118104"/>
            <a:ext cx="1234440" cy="384048"/>
          </a:xfrm>
          <a:prstGeom prst="rect">
            <a:avLst/>
          </a:prstGeom>
        </p:spPr>
      </p:pic>
      <p:sp>
        <p:nvSpPr>
          <p:cNvPr id="15" name="Shape 9"/>
          <p:cNvSpPr/>
          <p:nvPr/>
        </p:nvSpPr>
        <p:spPr>
          <a:xfrm>
            <a:off x="6278728" y="1874520"/>
            <a:ext cx="5410048" cy="1737360"/>
          </a:xfrm>
          <a:prstGeom prst="roundRect">
            <a:avLst>
              <a:gd name="adj" fmla="val 5263"/>
            </a:avLst>
          </a:prstGeom>
          <a:solidFill>
            <a:srgbClr val="FFFFFF"/>
          </a:solidFill>
          <a:ln w="12700">
            <a:solidFill>
              <a:srgbClr val="D9DEE5"/>
            </a:solidFill>
            <a:prstDash val="solid"/>
          </a:ln>
          <a:effectLst>
            <a:outerShdw sx="100000" sy="100000" kx="0" ky="0" algn="bl" rotWithShape="0" blurRad="88900" dist="25400" dir="5400000">
              <a:srgbClr val="9AA6B4">
                <a:alpha val="28000"/>
              </a:srgbClr>
            </a:outerShdw>
          </a:effectLst>
        </p:spPr>
      </p:sp>
      <p:sp>
        <p:nvSpPr>
          <p:cNvPr id="16" name="Shape 10"/>
          <p:cNvSpPr/>
          <p:nvPr/>
        </p:nvSpPr>
        <p:spPr>
          <a:xfrm>
            <a:off x="6498184" y="2075688"/>
            <a:ext cx="457200" cy="457200"/>
          </a:xfrm>
          <a:prstGeom prst="ellipse">
            <a:avLst/>
          </a:prstGeom>
          <a:solidFill>
            <a:srgbClr val="F5F7F9"/>
          </a:solidFill>
          <a:ln/>
        </p:spPr>
      </p:sp>
      <p:pic>
        <p:nvPicPr>
          <p:cNvPr id="17" name="Image 4" descr="assets/icons/cpu_orange.png">    </p:cNvPr>
          <p:cNvPicPr>
            <a:picLocks noChangeAspect="1"/>
          </p:cNvPicPr>
          <p:nvPr/>
        </p:nvPicPr>
        <p:blipFill>
          <a:blip r:embed="rId5"/>
          <a:stretch>
            <a:fillRect/>
          </a:stretch>
        </p:blipFill>
        <p:spPr>
          <a:xfrm>
            <a:off x="6617056" y="2194560"/>
            <a:ext cx="219456" cy="219456"/>
          </a:xfrm>
          <a:prstGeom prst="rect">
            <a:avLst/>
          </a:prstGeom>
        </p:spPr>
      </p:pic>
      <p:sp>
        <p:nvSpPr>
          <p:cNvPr id="18" name="Text 11"/>
          <p:cNvSpPr/>
          <p:nvPr/>
        </p:nvSpPr>
        <p:spPr>
          <a:xfrm>
            <a:off x="7065112" y="2112264"/>
            <a:ext cx="4449928" cy="384048"/>
          </a:xfrm>
          <a:prstGeom prst="rect">
            <a:avLst/>
          </a:prstGeom>
          <a:noFill/>
          <a:ln/>
        </p:spPr>
        <p:txBody>
          <a:bodyPr wrap="square" lIns="0" tIns="0" rIns="0" bIns="0" rtlCol="0" anchor="ctr"/>
          <a:lstStyle/>
          <a:p>
            <a:pPr indent="0" marL="0">
              <a:lnSpc>
                <a:spcPct val="95000"/>
              </a:lnSpc>
              <a:buNone/>
            </a:pPr>
            <a:r>
              <a:rPr lang="en-US" sz="1050" spc="50" kern="0" dirty="0">
                <a:solidFill>
                  <a:srgbClr val="222F44"/>
                </a:solidFill>
                <a:latin typeface="Poppins SemiBold" pitchFamily="34" charset="0"/>
                <a:ea typeface="Poppins SemiBold" pitchFamily="34" charset="-122"/>
                <a:cs typeface="Poppins SemiBold" pitchFamily="34" charset="-120"/>
              </a:rPr>
              <a:t>ERP &amp; MANAGEMENT</a:t>
            </a:r>
            <a:endParaRPr lang="en-US" sz="1050" dirty="0"/>
          </a:p>
        </p:txBody>
      </p:sp>
      <p:sp>
        <p:nvSpPr>
          <p:cNvPr id="19" name="Text 12"/>
          <p:cNvSpPr/>
          <p:nvPr/>
        </p:nvSpPr>
        <p:spPr>
          <a:xfrm>
            <a:off x="6498184" y="2624328"/>
            <a:ext cx="4971136" cy="457200"/>
          </a:xfrm>
          <a:prstGeom prst="rect">
            <a:avLst/>
          </a:prstGeom>
          <a:noFill/>
          <a:ln/>
        </p:spPr>
        <p:txBody>
          <a:bodyPr wrap="square" lIns="0" tIns="0" rIns="0" bIns="0" rtlCol="0" anchor="t"/>
          <a:lstStyle/>
          <a:p>
            <a:pPr indent="0" marL="0">
              <a:lnSpc>
                <a:spcPct val="100000"/>
              </a:lnSpc>
              <a:buNone/>
            </a:pPr>
            <a:r>
              <a:rPr lang="en-US" sz="880" dirty="0">
                <a:solidFill>
                  <a:srgbClr val="6B7686"/>
                </a:solidFill>
                <a:latin typeface="Poppins" pitchFamily="34" charset="0"/>
                <a:ea typeface="Poppins" pitchFamily="34" charset="-122"/>
                <a:cs typeface="Poppins" pitchFamily="34" charset="-120"/>
              </a:rPr>
              <a:t>TOTVS Protheus underpins enterprise resource planning and back-office control</a:t>
            </a:r>
            <a:endParaRPr lang="en-US" sz="880" dirty="0"/>
          </a:p>
        </p:txBody>
      </p:sp>
      <p:pic>
        <p:nvPicPr>
          <p:cNvPr id="20" name="Image 5" descr="assets/sw_totvs.png">    </p:cNvPr>
          <p:cNvPicPr>
            <a:picLocks noChangeAspect="1"/>
          </p:cNvPicPr>
          <p:nvPr/>
        </p:nvPicPr>
        <p:blipFill>
          <a:blip r:embed="rId6"/>
          <a:srcRect l="0" r="0" t="0" b="0"/>
          <a:stretch/>
        </p:blipFill>
        <p:spPr>
          <a:xfrm>
            <a:off x="8366531" y="3118104"/>
            <a:ext cx="1234440" cy="384048"/>
          </a:xfrm>
          <a:prstGeom prst="rect">
            <a:avLst/>
          </a:prstGeom>
        </p:spPr>
      </p:pic>
      <p:sp>
        <p:nvSpPr>
          <p:cNvPr id="21" name="Shape 13"/>
          <p:cNvSpPr/>
          <p:nvPr/>
        </p:nvSpPr>
        <p:spPr>
          <a:xfrm>
            <a:off x="502920" y="3794760"/>
            <a:ext cx="5410048" cy="1737360"/>
          </a:xfrm>
          <a:prstGeom prst="roundRect">
            <a:avLst>
              <a:gd name="adj" fmla="val 5263"/>
            </a:avLst>
          </a:prstGeom>
          <a:solidFill>
            <a:srgbClr val="FFFFFF"/>
          </a:solidFill>
          <a:ln w="12700">
            <a:solidFill>
              <a:srgbClr val="D9DEE5"/>
            </a:solidFill>
            <a:prstDash val="solid"/>
          </a:ln>
          <a:effectLst>
            <a:outerShdw sx="100000" sy="100000" kx="0" ky="0" algn="bl" rotWithShape="0" blurRad="88900" dist="25400" dir="5400000">
              <a:srgbClr val="9AA6B4">
                <a:alpha val="28000"/>
              </a:srgbClr>
            </a:outerShdw>
          </a:effectLst>
        </p:spPr>
      </p:sp>
      <p:sp>
        <p:nvSpPr>
          <p:cNvPr id="22" name="Shape 14"/>
          <p:cNvSpPr/>
          <p:nvPr/>
        </p:nvSpPr>
        <p:spPr>
          <a:xfrm>
            <a:off x="722376" y="3995928"/>
            <a:ext cx="457200" cy="457200"/>
          </a:xfrm>
          <a:prstGeom prst="ellipse">
            <a:avLst/>
          </a:prstGeom>
          <a:solidFill>
            <a:srgbClr val="F5F7F9"/>
          </a:solidFill>
          <a:ln/>
        </p:spPr>
      </p:sp>
      <p:pic>
        <p:nvPicPr>
          <p:cNvPr id="23" name="Image 6" descr="assets/icons/tool_orange.png">    </p:cNvPr>
          <p:cNvPicPr>
            <a:picLocks noChangeAspect="1"/>
          </p:cNvPicPr>
          <p:nvPr/>
        </p:nvPicPr>
        <p:blipFill>
          <a:blip r:embed="rId7"/>
          <a:stretch>
            <a:fillRect/>
          </a:stretch>
        </p:blipFill>
        <p:spPr>
          <a:xfrm>
            <a:off x="841248" y="4114800"/>
            <a:ext cx="219456" cy="219456"/>
          </a:xfrm>
          <a:prstGeom prst="rect">
            <a:avLst/>
          </a:prstGeom>
        </p:spPr>
      </p:pic>
      <p:sp>
        <p:nvSpPr>
          <p:cNvPr id="24" name="Text 15"/>
          <p:cNvSpPr/>
          <p:nvPr/>
        </p:nvSpPr>
        <p:spPr>
          <a:xfrm>
            <a:off x="1289304" y="4032504"/>
            <a:ext cx="4449928" cy="384048"/>
          </a:xfrm>
          <a:prstGeom prst="rect">
            <a:avLst/>
          </a:prstGeom>
          <a:noFill/>
          <a:ln/>
        </p:spPr>
        <p:txBody>
          <a:bodyPr wrap="square" lIns="0" tIns="0" rIns="0" bIns="0" rtlCol="0" anchor="ctr"/>
          <a:lstStyle/>
          <a:p>
            <a:pPr indent="0" marL="0">
              <a:lnSpc>
                <a:spcPct val="95000"/>
              </a:lnSpc>
              <a:buNone/>
            </a:pPr>
            <a:r>
              <a:rPr lang="en-US" sz="1050" spc="50" kern="0" dirty="0">
                <a:solidFill>
                  <a:srgbClr val="222F44"/>
                </a:solidFill>
                <a:latin typeface="Poppins SemiBold" pitchFamily="34" charset="0"/>
                <a:ea typeface="Poppins SemiBold" pitchFamily="34" charset="-122"/>
                <a:cs typeface="Poppins SemiBold" pitchFamily="34" charset="-120"/>
              </a:rPr>
              <a:t>FLEET &amp; MAINTENANCE MANAGEMENT</a:t>
            </a:r>
            <a:endParaRPr lang="en-US" sz="1050" dirty="0"/>
          </a:p>
        </p:txBody>
      </p:sp>
      <p:sp>
        <p:nvSpPr>
          <p:cNvPr id="25" name="Text 16"/>
          <p:cNvSpPr/>
          <p:nvPr/>
        </p:nvSpPr>
        <p:spPr>
          <a:xfrm>
            <a:off x="722376" y="4544568"/>
            <a:ext cx="4971136" cy="457200"/>
          </a:xfrm>
          <a:prstGeom prst="rect">
            <a:avLst/>
          </a:prstGeom>
          <a:noFill/>
          <a:ln/>
        </p:spPr>
        <p:txBody>
          <a:bodyPr wrap="square" lIns="0" tIns="0" rIns="0" bIns="0" rtlCol="0" anchor="t"/>
          <a:lstStyle/>
          <a:p>
            <a:pPr indent="0" marL="0">
              <a:lnSpc>
                <a:spcPct val="100000"/>
              </a:lnSpc>
              <a:buNone/>
            </a:pPr>
            <a:r>
              <a:rPr lang="en-US" sz="880" dirty="0">
                <a:solidFill>
                  <a:srgbClr val="6B7686"/>
                </a:solidFill>
                <a:latin typeface="Poppins" pitchFamily="34" charset="0"/>
                <a:ea typeface="Poppins" pitchFamily="34" charset="-122"/>
                <a:cs typeface="Poppins" pitchFamily="34" charset="-120"/>
              </a:rPr>
              <a:t>Specialized systems manage maintenance workflows, parts and fleet operations</a:t>
            </a:r>
            <a:endParaRPr lang="en-US" sz="880" dirty="0"/>
          </a:p>
        </p:txBody>
      </p:sp>
      <p:pic>
        <p:nvPicPr>
          <p:cNvPr id="26" name="Image 7" descr="assets/sw_truckscontrol.png">    </p:cNvPr>
          <p:cNvPicPr>
            <a:picLocks noChangeAspect="1"/>
          </p:cNvPicPr>
          <p:nvPr/>
        </p:nvPicPr>
        <p:blipFill>
          <a:blip r:embed="rId8"/>
          <a:srcRect l="0" r="0" t="0" b="0"/>
          <a:stretch/>
        </p:blipFill>
        <p:spPr>
          <a:xfrm>
            <a:off x="722376" y="5038344"/>
            <a:ext cx="1119340" cy="384048"/>
          </a:xfrm>
          <a:prstGeom prst="rect">
            <a:avLst/>
          </a:prstGeom>
        </p:spPr>
      </p:pic>
      <p:pic>
        <p:nvPicPr>
          <p:cNvPr id="27" name="Image 8" descr="assets/sw_zion.png">    </p:cNvPr>
          <p:cNvPicPr>
            <a:picLocks noChangeAspect="1"/>
          </p:cNvPicPr>
          <p:nvPr/>
        </p:nvPicPr>
        <p:blipFill>
          <a:blip r:embed="rId9"/>
          <a:srcRect l="0" r="0" t="0" b="0"/>
          <a:stretch/>
        </p:blipFill>
        <p:spPr>
          <a:xfrm>
            <a:off x="2006308" y="5038344"/>
            <a:ext cx="1119340" cy="384048"/>
          </a:xfrm>
          <a:prstGeom prst="rect">
            <a:avLst/>
          </a:prstGeom>
        </p:spPr>
      </p:pic>
      <p:pic>
        <p:nvPicPr>
          <p:cNvPr id="28" name="Image 9" descr="assets/sw_opensystem.png">    </p:cNvPr>
          <p:cNvPicPr>
            <a:picLocks noChangeAspect="1"/>
          </p:cNvPicPr>
          <p:nvPr/>
        </p:nvPicPr>
        <p:blipFill>
          <a:blip r:embed="rId10"/>
          <a:srcRect l="0" r="0" t="0" b="0"/>
          <a:stretch/>
        </p:blipFill>
        <p:spPr>
          <a:xfrm>
            <a:off x="3290240" y="5038344"/>
            <a:ext cx="1119340" cy="384048"/>
          </a:xfrm>
          <a:prstGeom prst="rect">
            <a:avLst/>
          </a:prstGeom>
        </p:spPr>
      </p:pic>
      <p:pic>
        <p:nvPicPr>
          <p:cNvPr id="29" name="Image 10" descr="assets/sw_monaco.png">    </p:cNvPr>
          <p:cNvPicPr>
            <a:picLocks noChangeAspect="1"/>
          </p:cNvPicPr>
          <p:nvPr/>
        </p:nvPicPr>
        <p:blipFill>
          <a:blip r:embed="rId11"/>
          <a:srcRect l="0" r="0" t="0" b="0"/>
          <a:stretch/>
        </p:blipFill>
        <p:spPr>
          <a:xfrm>
            <a:off x="4574172" y="5038344"/>
            <a:ext cx="1119340" cy="384048"/>
          </a:xfrm>
          <a:prstGeom prst="rect">
            <a:avLst/>
          </a:prstGeom>
        </p:spPr>
      </p:pic>
      <p:sp>
        <p:nvSpPr>
          <p:cNvPr id="30" name="Shape 17"/>
          <p:cNvSpPr/>
          <p:nvPr/>
        </p:nvSpPr>
        <p:spPr>
          <a:xfrm>
            <a:off x="6278728" y="3794760"/>
            <a:ext cx="5410048" cy="1737360"/>
          </a:xfrm>
          <a:prstGeom prst="roundRect">
            <a:avLst>
              <a:gd name="adj" fmla="val 5263"/>
            </a:avLst>
          </a:prstGeom>
          <a:solidFill>
            <a:srgbClr val="FFFFFF"/>
          </a:solidFill>
          <a:ln w="12700">
            <a:solidFill>
              <a:srgbClr val="D9DEE5"/>
            </a:solidFill>
            <a:prstDash val="solid"/>
          </a:ln>
          <a:effectLst>
            <a:outerShdw sx="100000" sy="100000" kx="0" ky="0" algn="bl" rotWithShape="0" blurRad="88900" dist="25400" dir="5400000">
              <a:srgbClr val="9AA6B4">
                <a:alpha val="28000"/>
              </a:srgbClr>
            </a:outerShdw>
          </a:effectLst>
        </p:spPr>
      </p:sp>
      <p:sp>
        <p:nvSpPr>
          <p:cNvPr id="31" name="Shape 18"/>
          <p:cNvSpPr/>
          <p:nvPr/>
        </p:nvSpPr>
        <p:spPr>
          <a:xfrm>
            <a:off x="6498184" y="3995928"/>
            <a:ext cx="457200" cy="457200"/>
          </a:xfrm>
          <a:prstGeom prst="ellipse">
            <a:avLst/>
          </a:prstGeom>
          <a:solidFill>
            <a:srgbClr val="F5F7F9"/>
          </a:solidFill>
          <a:ln/>
        </p:spPr>
      </p:sp>
      <p:pic>
        <p:nvPicPr>
          <p:cNvPr id="32" name="Image 11" descr="assets/icons/shield_orange.png">    </p:cNvPr>
          <p:cNvPicPr>
            <a:picLocks noChangeAspect="1"/>
          </p:cNvPicPr>
          <p:nvPr/>
        </p:nvPicPr>
        <p:blipFill>
          <a:blip r:embed="rId12"/>
          <a:stretch>
            <a:fillRect/>
          </a:stretch>
        </p:blipFill>
        <p:spPr>
          <a:xfrm>
            <a:off x="6617056" y="4114800"/>
            <a:ext cx="219456" cy="219456"/>
          </a:xfrm>
          <a:prstGeom prst="rect">
            <a:avLst/>
          </a:prstGeom>
        </p:spPr>
      </p:pic>
      <p:sp>
        <p:nvSpPr>
          <p:cNvPr id="33" name="Text 19"/>
          <p:cNvSpPr/>
          <p:nvPr/>
        </p:nvSpPr>
        <p:spPr>
          <a:xfrm>
            <a:off x="7065112" y="4032504"/>
            <a:ext cx="4449928" cy="384048"/>
          </a:xfrm>
          <a:prstGeom prst="rect">
            <a:avLst/>
          </a:prstGeom>
          <a:noFill/>
          <a:ln/>
        </p:spPr>
        <p:txBody>
          <a:bodyPr wrap="square" lIns="0" tIns="0" rIns="0" bIns="0" rtlCol="0" anchor="ctr"/>
          <a:lstStyle/>
          <a:p>
            <a:pPr indent="0" marL="0">
              <a:lnSpc>
                <a:spcPct val="95000"/>
              </a:lnSpc>
              <a:buNone/>
            </a:pPr>
            <a:r>
              <a:rPr lang="en-US" sz="1050" spc="50" kern="0" dirty="0">
                <a:solidFill>
                  <a:srgbClr val="222F44"/>
                </a:solidFill>
                <a:latin typeface="Poppins SemiBold" pitchFamily="34" charset="0"/>
                <a:ea typeface="Poppins SemiBold" pitchFamily="34" charset="-122"/>
                <a:cs typeface="Poppins SemiBold" pitchFamily="34" charset="-120"/>
              </a:rPr>
              <a:t>SAFETY, PPE &amp; INSPECTION</a:t>
            </a:r>
            <a:endParaRPr lang="en-US" sz="1050" dirty="0"/>
          </a:p>
        </p:txBody>
      </p:sp>
      <p:sp>
        <p:nvSpPr>
          <p:cNvPr id="34" name="Text 20"/>
          <p:cNvSpPr/>
          <p:nvPr/>
        </p:nvSpPr>
        <p:spPr>
          <a:xfrm>
            <a:off x="6498184" y="4544568"/>
            <a:ext cx="4971136" cy="457200"/>
          </a:xfrm>
          <a:prstGeom prst="rect">
            <a:avLst/>
          </a:prstGeom>
          <a:noFill/>
          <a:ln/>
        </p:spPr>
        <p:txBody>
          <a:bodyPr wrap="square" lIns="0" tIns="0" rIns="0" bIns="0" rtlCol="0" anchor="t"/>
          <a:lstStyle/>
          <a:p>
            <a:pPr indent="0" marL="0">
              <a:lnSpc>
                <a:spcPct val="100000"/>
              </a:lnSpc>
              <a:buNone/>
            </a:pPr>
            <a:r>
              <a:rPr lang="en-US" sz="880" dirty="0">
                <a:solidFill>
                  <a:srgbClr val="6B7686"/>
                </a:solidFill>
                <a:latin typeface="Poppins" pitchFamily="34" charset="0"/>
                <a:ea typeface="Poppins" pitchFamily="34" charset="-122"/>
                <a:cs typeface="Poppins" pitchFamily="34" charset="-120"/>
              </a:rPr>
              <a:t>Digital checklists, PPE control and safety management reinforce operational discipline</a:t>
            </a:r>
            <a:endParaRPr lang="en-US" sz="880" dirty="0"/>
          </a:p>
        </p:txBody>
      </p:sp>
      <p:pic>
        <p:nvPicPr>
          <p:cNvPr id="35" name="Image 12" descr="assets/sw_sisma.png">    </p:cNvPr>
          <p:cNvPicPr>
            <a:picLocks noChangeAspect="1"/>
          </p:cNvPicPr>
          <p:nvPr/>
        </p:nvPicPr>
        <p:blipFill>
          <a:blip r:embed="rId13"/>
          <a:srcRect l="0" r="0" t="0" b="0"/>
          <a:stretch/>
        </p:blipFill>
        <p:spPr>
          <a:xfrm>
            <a:off x="6967499" y="5038344"/>
            <a:ext cx="1234440" cy="384048"/>
          </a:xfrm>
          <a:prstGeom prst="rect">
            <a:avLst/>
          </a:prstGeom>
        </p:spPr>
      </p:pic>
      <p:pic>
        <p:nvPicPr>
          <p:cNvPr id="36" name="Image 13" descr="assets/sw_onsafety.png">    </p:cNvPr>
          <p:cNvPicPr>
            <a:picLocks noChangeAspect="1"/>
          </p:cNvPicPr>
          <p:nvPr/>
        </p:nvPicPr>
        <p:blipFill>
          <a:blip r:embed="rId14"/>
          <a:srcRect l="0" r="0" t="0" b="0"/>
          <a:stretch/>
        </p:blipFill>
        <p:spPr>
          <a:xfrm>
            <a:off x="8366531" y="5038344"/>
            <a:ext cx="1234440" cy="384048"/>
          </a:xfrm>
          <a:prstGeom prst="rect">
            <a:avLst/>
          </a:prstGeom>
        </p:spPr>
      </p:pic>
      <p:pic>
        <p:nvPicPr>
          <p:cNvPr id="37" name="Image 14" descr="assets/sw_checklistfacil.png">    </p:cNvPr>
          <p:cNvPicPr>
            <a:picLocks noChangeAspect="1"/>
          </p:cNvPicPr>
          <p:nvPr/>
        </p:nvPicPr>
        <p:blipFill>
          <a:blip r:embed="rId15"/>
          <a:srcRect l="0" r="0" t="0" b="0"/>
          <a:stretch/>
        </p:blipFill>
        <p:spPr>
          <a:xfrm>
            <a:off x="9765563" y="5038344"/>
            <a:ext cx="1234440" cy="384048"/>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assets/igc_navy.png">    </p:cNvPr>
          <p:cNvPicPr>
            <a:picLocks noChangeAspect="1"/>
          </p:cNvPicPr>
          <p:nvPr/>
        </p:nvPicPr>
        <p:blipFill>
          <a:blip r:embed="rId1"/>
          <a:stretch>
            <a:fillRect/>
          </a:stretch>
        </p:blipFill>
        <p:spPr>
          <a:xfrm>
            <a:off x="11121847" y="310896"/>
            <a:ext cx="566928" cy="490078"/>
          </a:xfrm>
          <a:prstGeom prst="rect">
            <a:avLst/>
          </a:prstGeom>
        </p:spPr>
      </p:pic>
      <p:sp>
        <p:nvSpPr>
          <p:cNvPr id="3" name="Text 0"/>
          <p:cNvSpPr/>
          <p:nvPr/>
        </p:nvSpPr>
        <p:spPr>
          <a:xfrm>
            <a:off x="502920" y="384048"/>
            <a:ext cx="7315200" cy="256032"/>
          </a:xfrm>
          <a:prstGeom prst="rect">
            <a:avLst/>
          </a:prstGeom>
          <a:noFill/>
          <a:ln/>
        </p:spPr>
        <p:txBody>
          <a:bodyPr wrap="square" rtlCol="0" anchor="ctr"/>
          <a:lstStyle/>
          <a:p>
            <a:pPr algn="l" indent="0" marL="0">
              <a:buNone/>
            </a:pPr>
            <a:r>
              <a:rPr lang="en-US" sz="1050" spc="200" kern="0" dirty="0">
                <a:solidFill>
                  <a:srgbClr val="F35B1A"/>
                </a:solidFill>
                <a:latin typeface="Poppins SemiBold" pitchFamily="34" charset="0"/>
                <a:ea typeface="Poppins SemiBold" pitchFamily="34" charset="-122"/>
                <a:cs typeface="Poppins SemiBold" pitchFamily="34" charset="-120"/>
              </a:rPr>
              <a:t>INVESTMENT THESIS</a:t>
            </a:r>
            <a:endParaRPr lang="en-US" sz="1050" dirty="0"/>
          </a:p>
        </p:txBody>
      </p:sp>
      <p:sp>
        <p:nvSpPr>
          <p:cNvPr id="4" name="Text 1"/>
          <p:cNvSpPr/>
          <p:nvPr/>
        </p:nvSpPr>
        <p:spPr>
          <a:xfrm>
            <a:off x="502920" y="603504"/>
            <a:ext cx="10408615" cy="640080"/>
          </a:xfrm>
          <a:prstGeom prst="rect">
            <a:avLst/>
          </a:prstGeom>
          <a:noFill/>
          <a:ln/>
        </p:spPr>
        <p:txBody>
          <a:bodyPr wrap="square" rtlCol="0" anchor="t"/>
          <a:lstStyle/>
          <a:p>
            <a:pPr algn="l" indent="0" marL="0">
              <a:buNone/>
            </a:pPr>
            <a:r>
              <a:rPr lang="en-US" sz="2500" dirty="0">
                <a:solidFill>
                  <a:srgbClr val="222F44"/>
                </a:solidFill>
                <a:latin typeface="Source Serif Pro SemiBold" pitchFamily="34" charset="0"/>
                <a:ea typeface="Source Serif Pro SemiBold" pitchFamily="34" charset="-122"/>
                <a:cs typeface="Source Serif Pro SemiBold" pitchFamily="34" charset="-120"/>
              </a:rPr>
              <a:t>Multiple avenues for continued value creation</a:t>
            </a:r>
            <a:endParaRPr lang="en-US" sz="2500" dirty="0"/>
          </a:p>
        </p:txBody>
      </p:sp>
      <p:sp>
        <p:nvSpPr>
          <p:cNvPr id="5" name="Text 2"/>
          <p:cNvSpPr/>
          <p:nvPr/>
        </p:nvSpPr>
        <p:spPr>
          <a:xfrm>
            <a:off x="502920" y="1225296"/>
            <a:ext cx="10408615" cy="457200"/>
          </a:xfrm>
          <a:prstGeom prst="rect">
            <a:avLst/>
          </a:prstGeom>
          <a:noFill/>
          <a:ln/>
        </p:spPr>
        <p:txBody>
          <a:bodyPr wrap="square" rtlCol="0" anchor="t"/>
          <a:lstStyle/>
          <a:p>
            <a:pPr algn="l" indent="0" marL="0">
              <a:buNone/>
            </a:pPr>
            <a:r>
              <a:rPr lang="en-US" sz="1250" dirty="0">
                <a:solidFill>
                  <a:srgbClr val="6B7686"/>
                </a:solidFill>
                <a:latin typeface="Poppins" pitchFamily="34" charset="0"/>
                <a:ea typeface="Poppins" pitchFamily="34" charset="-122"/>
                <a:cs typeface="Poppins" pitchFamily="34" charset="-120"/>
              </a:rPr>
              <a:t>Geographic expansion, consolidation and fleet electrification position Mobi for a sustained growth trajectory</a:t>
            </a:r>
            <a:endParaRPr lang="en-US" sz="1250" dirty="0"/>
          </a:p>
        </p:txBody>
      </p:sp>
      <p:sp>
        <p:nvSpPr>
          <p:cNvPr id="6" name="Text 3"/>
          <p:cNvSpPr/>
          <p:nvPr/>
        </p:nvSpPr>
        <p:spPr>
          <a:xfrm>
            <a:off x="502920" y="6547104"/>
            <a:ext cx="10180015" cy="237744"/>
          </a:xfrm>
          <a:prstGeom prst="rect">
            <a:avLst/>
          </a:prstGeom>
          <a:noFill/>
          <a:ln/>
        </p:spPr>
        <p:txBody>
          <a:bodyPr wrap="square" rtlCol="0" anchor="ctr"/>
          <a:lstStyle/>
          <a:p>
            <a:pPr algn="l" indent="0" marL="0">
              <a:buNone/>
            </a:pPr>
            <a:r>
              <a:rPr lang="en-US" sz="700" dirty="0">
                <a:solidFill>
                  <a:srgbClr val="97A0AD"/>
                </a:solidFill>
                <a:latin typeface="Poppins" pitchFamily="34" charset="0"/>
                <a:ea typeface="Poppins" pitchFamily="34" charset="-122"/>
                <a:cs typeface="Poppins" pitchFamily="34" charset="-120"/>
              </a:rPr>
              <a:t>Source: Company; press research. Growth avenues to be validated with management.</a:t>
            </a:r>
            <a:endParaRPr lang="en-US" sz="700" dirty="0"/>
          </a:p>
        </p:txBody>
      </p:sp>
      <p:sp>
        <p:nvSpPr>
          <p:cNvPr id="7" name="Text 4"/>
          <p:cNvSpPr/>
          <p:nvPr/>
        </p:nvSpPr>
        <p:spPr>
          <a:xfrm>
            <a:off x="10728655" y="6547104"/>
            <a:ext cx="960120" cy="237744"/>
          </a:xfrm>
          <a:prstGeom prst="rect">
            <a:avLst/>
          </a:prstGeom>
          <a:noFill/>
          <a:ln/>
        </p:spPr>
        <p:txBody>
          <a:bodyPr wrap="square" rtlCol="0" anchor="ctr"/>
          <a:lstStyle/>
          <a:p>
            <a:pPr algn="r" indent="0" marL="0">
              <a:buNone/>
            </a:pPr>
            <a:r>
              <a:rPr lang="en-US" sz="850" dirty="0">
                <a:solidFill>
                  <a:srgbClr val="97A0AD"/>
                </a:solidFill>
                <a:latin typeface="Poppins Medium" pitchFamily="34" charset="0"/>
                <a:ea typeface="Poppins Medium" pitchFamily="34" charset="-122"/>
                <a:cs typeface="Poppins Medium" pitchFamily="34" charset="-120"/>
              </a:rPr>
              <a:t>Confidential   </a:t>
            </a:r>
            <a:pPr algn="r" indent="0" marL="0">
              <a:buNone/>
            </a:pPr>
            <a:r>
              <a:rPr lang="en-US" sz="850" b="1" dirty="0">
                <a:solidFill>
                  <a:srgbClr val="222F44"/>
                </a:solidFill>
                <a:latin typeface="Poppins Medium" pitchFamily="34" charset="0"/>
                <a:ea typeface="Poppins Medium" pitchFamily="34" charset="-122"/>
                <a:cs typeface="Poppins Medium" pitchFamily="34" charset="-120"/>
              </a:rPr>
              <a:t>12</a:t>
            </a:r>
            <a:endParaRPr lang="en-US" sz="850" dirty="0"/>
          </a:p>
        </p:txBody>
      </p:sp>
      <p:sp>
        <p:nvSpPr>
          <p:cNvPr id="8" name="Shape 5"/>
          <p:cNvSpPr/>
          <p:nvPr/>
        </p:nvSpPr>
        <p:spPr>
          <a:xfrm>
            <a:off x="502920" y="1965960"/>
            <a:ext cx="3484778" cy="3794760"/>
          </a:xfrm>
          <a:prstGeom prst="roundRect">
            <a:avLst>
              <a:gd name="adj" fmla="val 2624"/>
            </a:avLst>
          </a:prstGeom>
          <a:solidFill>
            <a:srgbClr val="FFFFFF"/>
          </a:solidFill>
          <a:ln w="12700">
            <a:solidFill>
              <a:srgbClr val="D9DEE5"/>
            </a:solidFill>
            <a:prstDash val="solid"/>
          </a:ln>
          <a:effectLst>
            <a:outerShdw sx="100000" sy="100000" kx="0" ky="0" algn="bl" rotWithShape="0" blurRad="88900" dist="25400" dir="5400000">
              <a:srgbClr val="9AA6B4">
                <a:alpha val="28000"/>
              </a:srgbClr>
            </a:outerShdw>
          </a:effectLst>
        </p:spPr>
      </p:sp>
      <p:sp>
        <p:nvSpPr>
          <p:cNvPr id="9" name="Shape 6"/>
          <p:cNvSpPr/>
          <p:nvPr/>
        </p:nvSpPr>
        <p:spPr>
          <a:xfrm>
            <a:off x="502920" y="1965960"/>
            <a:ext cx="3484778" cy="1051560"/>
          </a:xfrm>
          <a:prstGeom prst="roundRect">
            <a:avLst>
              <a:gd name="adj" fmla="val 8696"/>
            </a:avLst>
          </a:prstGeom>
          <a:solidFill>
            <a:srgbClr val="222F44"/>
          </a:solidFill>
          <a:ln/>
        </p:spPr>
      </p:sp>
      <p:sp>
        <p:nvSpPr>
          <p:cNvPr id="10" name="Shape 7"/>
          <p:cNvSpPr/>
          <p:nvPr/>
        </p:nvSpPr>
        <p:spPr>
          <a:xfrm>
            <a:off x="502920" y="2514600"/>
            <a:ext cx="3484778" cy="502920"/>
          </a:xfrm>
          <a:prstGeom prst="rect">
            <a:avLst/>
          </a:prstGeom>
          <a:solidFill>
            <a:srgbClr val="222F44"/>
          </a:solidFill>
          <a:ln/>
        </p:spPr>
      </p:sp>
      <p:sp>
        <p:nvSpPr>
          <p:cNvPr id="11" name="Shape 8"/>
          <p:cNvSpPr/>
          <p:nvPr/>
        </p:nvSpPr>
        <p:spPr>
          <a:xfrm>
            <a:off x="758952" y="2221992"/>
            <a:ext cx="548640" cy="548640"/>
          </a:xfrm>
          <a:prstGeom prst="ellipse">
            <a:avLst/>
          </a:prstGeom>
          <a:solidFill>
            <a:srgbClr val="F35B1A"/>
          </a:solidFill>
          <a:ln/>
        </p:spPr>
      </p:sp>
      <p:sp>
        <p:nvSpPr>
          <p:cNvPr id="12" name="Text 9"/>
          <p:cNvSpPr/>
          <p:nvPr/>
        </p:nvSpPr>
        <p:spPr>
          <a:xfrm>
            <a:off x="758952" y="2221992"/>
            <a:ext cx="548640" cy="548640"/>
          </a:xfrm>
          <a:prstGeom prst="rect">
            <a:avLst/>
          </a:prstGeom>
          <a:noFill/>
          <a:ln/>
        </p:spPr>
        <p:txBody>
          <a:bodyPr wrap="square" lIns="0" tIns="0" rIns="0" bIns="0" rtlCol="0" anchor="ctr"/>
          <a:lstStyle/>
          <a:p>
            <a:pPr algn="ctr" indent="0" marL="0">
              <a:buNone/>
            </a:pPr>
            <a:r>
              <a:rPr lang="en-US" sz="2200" dirty="0">
                <a:solidFill>
                  <a:srgbClr val="FFFFFF"/>
                </a:solidFill>
                <a:latin typeface="Source Serif Pro Black" pitchFamily="34" charset="0"/>
                <a:ea typeface="Source Serif Pro Black" pitchFamily="34" charset="-122"/>
                <a:cs typeface="Source Serif Pro Black" pitchFamily="34" charset="-120"/>
              </a:rPr>
              <a:t>A</a:t>
            </a:r>
            <a:endParaRPr lang="en-US" sz="2200" dirty="0"/>
          </a:p>
        </p:txBody>
      </p:sp>
      <p:pic>
        <p:nvPicPr>
          <p:cNvPr id="13" name="Image 1" descr="assets/icons/mappin_white.png">    </p:cNvPr>
          <p:cNvPicPr>
            <a:picLocks noChangeAspect="1"/>
          </p:cNvPicPr>
          <p:nvPr/>
        </p:nvPicPr>
        <p:blipFill>
          <a:blip r:embed="rId2"/>
          <a:stretch>
            <a:fillRect/>
          </a:stretch>
        </p:blipFill>
        <p:spPr>
          <a:xfrm>
            <a:off x="3201314" y="2295144"/>
            <a:ext cx="402336" cy="402336"/>
          </a:xfrm>
          <a:prstGeom prst="rect">
            <a:avLst/>
          </a:prstGeom>
        </p:spPr>
      </p:pic>
      <p:sp>
        <p:nvSpPr>
          <p:cNvPr id="14" name="Text 10"/>
          <p:cNvSpPr/>
          <p:nvPr/>
        </p:nvSpPr>
        <p:spPr>
          <a:xfrm>
            <a:off x="758952" y="3172968"/>
            <a:ext cx="2972714" cy="777240"/>
          </a:xfrm>
          <a:prstGeom prst="rect">
            <a:avLst/>
          </a:prstGeom>
          <a:noFill/>
          <a:ln/>
        </p:spPr>
        <p:txBody>
          <a:bodyPr wrap="square" lIns="0" tIns="0" rIns="0" bIns="0" rtlCol="0" anchor="t"/>
          <a:lstStyle/>
          <a:p>
            <a:pPr indent="0" marL="0">
              <a:lnSpc>
                <a:spcPct val="100000"/>
              </a:lnSpc>
              <a:buNone/>
            </a:pPr>
            <a:r>
              <a:rPr lang="en-US" sz="1300" dirty="0">
                <a:solidFill>
                  <a:srgbClr val="222F44"/>
                </a:solidFill>
                <a:latin typeface="Poppins SemiBold" pitchFamily="34" charset="0"/>
                <a:ea typeface="Poppins SemiBold" pitchFamily="34" charset="-122"/>
                <a:cs typeface="Poppins SemiBold" pitchFamily="34" charset="-120"/>
              </a:rPr>
              <a:t>Deepen wallet share &amp; expand geographically</a:t>
            </a:r>
            <a:endParaRPr lang="en-US" sz="1300" dirty="0"/>
          </a:p>
        </p:txBody>
      </p:sp>
      <p:sp>
        <p:nvSpPr>
          <p:cNvPr id="15" name="Shape 11"/>
          <p:cNvSpPr/>
          <p:nvPr/>
        </p:nvSpPr>
        <p:spPr>
          <a:xfrm>
            <a:off x="777240" y="4087368"/>
            <a:ext cx="91440" cy="91440"/>
          </a:xfrm>
          <a:prstGeom prst="ellipse">
            <a:avLst/>
          </a:prstGeom>
          <a:solidFill>
            <a:srgbClr val="F35B1A"/>
          </a:solidFill>
          <a:ln/>
        </p:spPr>
      </p:sp>
      <p:sp>
        <p:nvSpPr>
          <p:cNvPr id="16" name="Text 12"/>
          <p:cNvSpPr/>
          <p:nvPr/>
        </p:nvSpPr>
        <p:spPr>
          <a:xfrm>
            <a:off x="978408" y="3986784"/>
            <a:ext cx="2771546" cy="777240"/>
          </a:xfrm>
          <a:prstGeom prst="rect">
            <a:avLst/>
          </a:prstGeom>
          <a:noFill/>
          <a:ln/>
        </p:spPr>
        <p:txBody>
          <a:bodyPr wrap="square" lIns="0" tIns="0" rIns="0" bIns="0" rtlCol="0" anchor="t"/>
          <a:lstStyle/>
          <a:p>
            <a:pPr indent="0" marL="0">
              <a:lnSpc>
                <a:spcPct val="102000"/>
              </a:lnSpc>
              <a:buNone/>
            </a:pPr>
            <a:r>
              <a:rPr lang="en-US" sz="930" dirty="0">
                <a:solidFill>
                  <a:srgbClr val="6B7686"/>
                </a:solidFill>
                <a:latin typeface="Poppins" pitchFamily="34" charset="0"/>
                <a:ea typeface="Poppins" pitchFamily="34" charset="-122"/>
                <a:cs typeface="Poppins" pitchFamily="34" charset="-120"/>
              </a:rPr>
              <a:t>Well positioned to grow share with existing clients while winning new logos</a:t>
            </a:r>
            <a:endParaRPr lang="en-US" sz="930" dirty="0"/>
          </a:p>
        </p:txBody>
      </p:sp>
      <p:sp>
        <p:nvSpPr>
          <p:cNvPr id="17" name="Shape 13"/>
          <p:cNvSpPr/>
          <p:nvPr/>
        </p:nvSpPr>
        <p:spPr>
          <a:xfrm>
            <a:off x="777240" y="4983480"/>
            <a:ext cx="91440" cy="91440"/>
          </a:xfrm>
          <a:prstGeom prst="ellipse">
            <a:avLst/>
          </a:prstGeom>
          <a:solidFill>
            <a:srgbClr val="F35B1A"/>
          </a:solidFill>
          <a:ln/>
        </p:spPr>
      </p:sp>
      <p:sp>
        <p:nvSpPr>
          <p:cNvPr id="18" name="Text 14"/>
          <p:cNvSpPr/>
          <p:nvPr/>
        </p:nvSpPr>
        <p:spPr>
          <a:xfrm>
            <a:off x="978408" y="4882896"/>
            <a:ext cx="2771546" cy="777240"/>
          </a:xfrm>
          <a:prstGeom prst="rect">
            <a:avLst/>
          </a:prstGeom>
          <a:noFill/>
          <a:ln/>
        </p:spPr>
        <p:txBody>
          <a:bodyPr wrap="square" lIns="0" tIns="0" rIns="0" bIns="0" rtlCol="0" anchor="t"/>
          <a:lstStyle/>
          <a:p>
            <a:pPr indent="0" marL="0">
              <a:lnSpc>
                <a:spcPct val="102000"/>
              </a:lnSpc>
              <a:buNone/>
            </a:pPr>
            <a:r>
              <a:rPr lang="en-US" sz="930" dirty="0">
                <a:solidFill>
                  <a:srgbClr val="6B7686"/>
                </a:solidFill>
                <a:latin typeface="Poppins" pitchFamily="34" charset="0"/>
                <a:ea typeface="Poppins" pitchFamily="34" charset="-122"/>
                <a:cs typeface="Poppins" pitchFamily="34" charset="-120"/>
              </a:rPr>
              <a:t>Expansion within the Goiás–DF–Minas Gerais corridor and selectively into adjacent regions leverages existing bases and relationships</a:t>
            </a:r>
            <a:endParaRPr lang="en-US" sz="930" dirty="0"/>
          </a:p>
        </p:txBody>
      </p:sp>
      <p:sp>
        <p:nvSpPr>
          <p:cNvPr id="19" name="Shape 15"/>
          <p:cNvSpPr/>
          <p:nvPr/>
        </p:nvSpPr>
        <p:spPr>
          <a:xfrm>
            <a:off x="4353458" y="1965960"/>
            <a:ext cx="3484778" cy="3794760"/>
          </a:xfrm>
          <a:prstGeom prst="roundRect">
            <a:avLst>
              <a:gd name="adj" fmla="val 2624"/>
            </a:avLst>
          </a:prstGeom>
          <a:solidFill>
            <a:srgbClr val="FFFFFF"/>
          </a:solidFill>
          <a:ln w="12700">
            <a:solidFill>
              <a:srgbClr val="D9DEE5"/>
            </a:solidFill>
            <a:prstDash val="solid"/>
          </a:ln>
          <a:effectLst>
            <a:outerShdw sx="100000" sy="100000" kx="0" ky="0" algn="bl" rotWithShape="0" blurRad="88900" dist="25400" dir="5400000">
              <a:srgbClr val="9AA6B4">
                <a:alpha val="28000"/>
              </a:srgbClr>
            </a:outerShdw>
          </a:effectLst>
        </p:spPr>
      </p:sp>
      <p:sp>
        <p:nvSpPr>
          <p:cNvPr id="20" name="Shape 16"/>
          <p:cNvSpPr/>
          <p:nvPr/>
        </p:nvSpPr>
        <p:spPr>
          <a:xfrm>
            <a:off x="4353458" y="1965960"/>
            <a:ext cx="3484778" cy="1051560"/>
          </a:xfrm>
          <a:prstGeom prst="roundRect">
            <a:avLst>
              <a:gd name="adj" fmla="val 8696"/>
            </a:avLst>
          </a:prstGeom>
          <a:solidFill>
            <a:srgbClr val="222F44"/>
          </a:solidFill>
          <a:ln/>
        </p:spPr>
      </p:sp>
      <p:sp>
        <p:nvSpPr>
          <p:cNvPr id="21" name="Shape 17"/>
          <p:cNvSpPr/>
          <p:nvPr/>
        </p:nvSpPr>
        <p:spPr>
          <a:xfrm>
            <a:off x="4353458" y="2514600"/>
            <a:ext cx="3484778" cy="502920"/>
          </a:xfrm>
          <a:prstGeom prst="rect">
            <a:avLst/>
          </a:prstGeom>
          <a:solidFill>
            <a:srgbClr val="222F44"/>
          </a:solidFill>
          <a:ln/>
        </p:spPr>
      </p:sp>
      <p:sp>
        <p:nvSpPr>
          <p:cNvPr id="22" name="Shape 18"/>
          <p:cNvSpPr/>
          <p:nvPr/>
        </p:nvSpPr>
        <p:spPr>
          <a:xfrm>
            <a:off x="4609490" y="2221992"/>
            <a:ext cx="548640" cy="548640"/>
          </a:xfrm>
          <a:prstGeom prst="ellipse">
            <a:avLst/>
          </a:prstGeom>
          <a:solidFill>
            <a:srgbClr val="F35B1A"/>
          </a:solidFill>
          <a:ln/>
        </p:spPr>
      </p:sp>
      <p:sp>
        <p:nvSpPr>
          <p:cNvPr id="23" name="Text 19"/>
          <p:cNvSpPr/>
          <p:nvPr/>
        </p:nvSpPr>
        <p:spPr>
          <a:xfrm>
            <a:off x="4609490" y="2221992"/>
            <a:ext cx="548640" cy="548640"/>
          </a:xfrm>
          <a:prstGeom prst="rect">
            <a:avLst/>
          </a:prstGeom>
          <a:noFill/>
          <a:ln/>
        </p:spPr>
        <p:txBody>
          <a:bodyPr wrap="square" lIns="0" tIns="0" rIns="0" bIns="0" rtlCol="0" anchor="ctr"/>
          <a:lstStyle/>
          <a:p>
            <a:pPr algn="ctr" indent="0" marL="0">
              <a:buNone/>
            </a:pPr>
            <a:r>
              <a:rPr lang="en-US" sz="2200" dirty="0">
                <a:solidFill>
                  <a:srgbClr val="FFFFFF"/>
                </a:solidFill>
                <a:latin typeface="Source Serif Pro Black" pitchFamily="34" charset="0"/>
                <a:ea typeface="Source Serif Pro Black" pitchFamily="34" charset="-122"/>
                <a:cs typeface="Source Serif Pro Black" pitchFamily="34" charset="-120"/>
              </a:rPr>
              <a:t>B</a:t>
            </a:r>
            <a:endParaRPr lang="en-US" sz="2200" dirty="0"/>
          </a:p>
        </p:txBody>
      </p:sp>
      <p:pic>
        <p:nvPicPr>
          <p:cNvPr id="24" name="Image 2" descr="assets/icons/zap_white.png">    </p:cNvPr>
          <p:cNvPicPr>
            <a:picLocks noChangeAspect="1"/>
          </p:cNvPicPr>
          <p:nvPr/>
        </p:nvPicPr>
        <p:blipFill>
          <a:blip r:embed="rId3"/>
          <a:stretch>
            <a:fillRect/>
          </a:stretch>
        </p:blipFill>
        <p:spPr>
          <a:xfrm>
            <a:off x="7051853" y="2295144"/>
            <a:ext cx="402336" cy="402336"/>
          </a:xfrm>
          <a:prstGeom prst="rect">
            <a:avLst/>
          </a:prstGeom>
        </p:spPr>
      </p:pic>
      <p:sp>
        <p:nvSpPr>
          <p:cNvPr id="25" name="Text 20"/>
          <p:cNvSpPr/>
          <p:nvPr/>
        </p:nvSpPr>
        <p:spPr>
          <a:xfrm>
            <a:off x="4609490" y="3172968"/>
            <a:ext cx="2972714" cy="777240"/>
          </a:xfrm>
          <a:prstGeom prst="rect">
            <a:avLst/>
          </a:prstGeom>
          <a:noFill/>
          <a:ln/>
        </p:spPr>
        <p:txBody>
          <a:bodyPr wrap="square" lIns="0" tIns="0" rIns="0" bIns="0" rtlCol="0" anchor="t"/>
          <a:lstStyle/>
          <a:p>
            <a:pPr indent="0" marL="0">
              <a:lnSpc>
                <a:spcPct val="100000"/>
              </a:lnSpc>
              <a:buNone/>
            </a:pPr>
            <a:r>
              <a:rPr lang="en-US" sz="1300" dirty="0">
                <a:solidFill>
                  <a:srgbClr val="222F44"/>
                </a:solidFill>
                <a:latin typeface="Poppins SemiBold" pitchFamily="34" charset="0"/>
                <a:ea typeface="Poppins SemiBold" pitchFamily="34" charset="-122"/>
                <a:cs typeface="Poppins SemiBold" pitchFamily="34" charset="-120"/>
              </a:rPr>
              <a:t>Fleet electrification &amp; tech-enabled services</a:t>
            </a:r>
            <a:endParaRPr lang="en-US" sz="1300" dirty="0"/>
          </a:p>
        </p:txBody>
      </p:sp>
      <p:sp>
        <p:nvSpPr>
          <p:cNvPr id="26" name="Shape 21"/>
          <p:cNvSpPr/>
          <p:nvPr/>
        </p:nvSpPr>
        <p:spPr>
          <a:xfrm>
            <a:off x="4627778" y="4087368"/>
            <a:ext cx="91440" cy="91440"/>
          </a:xfrm>
          <a:prstGeom prst="ellipse">
            <a:avLst/>
          </a:prstGeom>
          <a:solidFill>
            <a:srgbClr val="F35B1A"/>
          </a:solidFill>
          <a:ln/>
        </p:spPr>
      </p:sp>
      <p:sp>
        <p:nvSpPr>
          <p:cNvPr id="27" name="Text 22"/>
          <p:cNvSpPr/>
          <p:nvPr/>
        </p:nvSpPr>
        <p:spPr>
          <a:xfrm>
            <a:off x="4828946" y="3986784"/>
            <a:ext cx="2771546" cy="777240"/>
          </a:xfrm>
          <a:prstGeom prst="rect">
            <a:avLst/>
          </a:prstGeom>
          <a:noFill/>
          <a:ln/>
        </p:spPr>
        <p:txBody>
          <a:bodyPr wrap="square" lIns="0" tIns="0" rIns="0" bIns="0" rtlCol="0" anchor="t"/>
          <a:lstStyle/>
          <a:p>
            <a:pPr indent="0" marL="0">
              <a:lnSpc>
                <a:spcPct val="102000"/>
              </a:lnSpc>
              <a:buNone/>
            </a:pPr>
            <a:r>
              <a:rPr lang="en-US" sz="930" dirty="0">
                <a:solidFill>
                  <a:srgbClr val="6B7686"/>
                </a:solidFill>
                <a:latin typeface="Poppins" pitchFamily="34" charset="0"/>
                <a:ea typeface="Poppins" pitchFamily="34" charset="-122"/>
                <a:cs typeface="Poppins" pitchFamily="34" charset="-120"/>
              </a:rPr>
              <a:t>Gradual electrification responds to clients’ ESG and Scope-3 commitments</a:t>
            </a:r>
            <a:endParaRPr lang="en-US" sz="930" dirty="0"/>
          </a:p>
        </p:txBody>
      </p:sp>
      <p:sp>
        <p:nvSpPr>
          <p:cNvPr id="28" name="Shape 23"/>
          <p:cNvSpPr/>
          <p:nvPr/>
        </p:nvSpPr>
        <p:spPr>
          <a:xfrm>
            <a:off x="4627778" y="4983480"/>
            <a:ext cx="91440" cy="91440"/>
          </a:xfrm>
          <a:prstGeom prst="ellipse">
            <a:avLst/>
          </a:prstGeom>
          <a:solidFill>
            <a:srgbClr val="F35B1A"/>
          </a:solidFill>
          <a:ln/>
        </p:spPr>
      </p:sp>
      <p:sp>
        <p:nvSpPr>
          <p:cNvPr id="29" name="Text 24"/>
          <p:cNvSpPr/>
          <p:nvPr/>
        </p:nvSpPr>
        <p:spPr>
          <a:xfrm>
            <a:off x="4828946" y="4882896"/>
            <a:ext cx="2771546" cy="777240"/>
          </a:xfrm>
          <a:prstGeom prst="rect">
            <a:avLst/>
          </a:prstGeom>
          <a:noFill/>
          <a:ln/>
        </p:spPr>
        <p:txBody>
          <a:bodyPr wrap="square" lIns="0" tIns="0" rIns="0" bIns="0" rtlCol="0" anchor="t"/>
          <a:lstStyle/>
          <a:p>
            <a:pPr indent="0" marL="0">
              <a:lnSpc>
                <a:spcPct val="102000"/>
              </a:lnSpc>
              <a:buNone/>
            </a:pPr>
            <a:r>
              <a:rPr lang="en-US" sz="930" dirty="0">
                <a:solidFill>
                  <a:srgbClr val="6B7686"/>
                </a:solidFill>
                <a:latin typeface="Poppins" pitchFamily="34" charset="0"/>
                <a:ea typeface="Poppins" pitchFamily="34" charset="-122"/>
                <a:cs typeface="Poppins" pitchFamily="34" charset="-120"/>
              </a:rPr>
              <a:t>A technology layer (route optimization, booking apps, carbon dashboards) can further strengthen client stickiness</a:t>
            </a:r>
            <a:endParaRPr lang="en-US" sz="930" dirty="0"/>
          </a:p>
        </p:txBody>
      </p:sp>
      <p:sp>
        <p:nvSpPr>
          <p:cNvPr id="30" name="Shape 25"/>
          <p:cNvSpPr/>
          <p:nvPr/>
        </p:nvSpPr>
        <p:spPr>
          <a:xfrm>
            <a:off x="8203997" y="1965960"/>
            <a:ext cx="3484778" cy="3794760"/>
          </a:xfrm>
          <a:prstGeom prst="roundRect">
            <a:avLst>
              <a:gd name="adj" fmla="val 2624"/>
            </a:avLst>
          </a:prstGeom>
          <a:solidFill>
            <a:srgbClr val="FFFFFF"/>
          </a:solidFill>
          <a:ln w="12700">
            <a:solidFill>
              <a:srgbClr val="D9DEE5"/>
            </a:solidFill>
            <a:prstDash val="solid"/>
          </a:ln>
          <a:effectLst>
            <a:outerShdw sx="100000" sy="100000" kx="0" ky="0" algn="bl" rotWithShape="0" blurRad="88900" dist="25400" dir="5400000">
              <a:srgbClr val="9AA6B4">
                <a:alpha val="28000"/>
              </a:srgbClr>
            </a:outerShdw>
          </a:effectLst>
        </p:spPr>
      </p:sp>
      <p:sp>
        <p:nvSpPr>
          <p:cNvPr id="31" name="Shape 26"/>
          <p:cNvSpPr/>
          <p:nvPr/>
        </p:nvSpPr>
        <p:spPr>
          <a:xfrm>
            <a:off x="8203997" y="1965960"/>
            <a:ext cx="3484778" cy="1051560"/>
          </a:xfrm>
          <a:prstGeom prst="roundRect">
            <a:avLst>
              <a:gd name="adj" fmla="val 8696"/>
            </a:avLst>
          </a:prstGeom>
          <a:solidFill>
            <a:srgbClr val="222F44"/>
          </a:solidFill>
          <a:ln/>
        </p:spPr>
      </p:sp>
      <p:sp>
        <p:nvSpPr>
          <p:cNvPr id="32" name="Shape 27"/>
          <p:cNvSpPr/>
          <p:nvPr/>
        </p:nvSpPr>
        <p:spPr>
          <a:xfrm>
            <a:off x="8203997" y="2514600"/>
            <a:ext cx="3484778" cy="502920"/>
          </a:xfrm>
          <a:prstGeom prst="rect">
            <a:avLst/>
          </a:prstGeom>
          <a:solidFill>
            <a:srgbClr val="222F44"/>
          </a:solidFill>
          <a:ln/>
        </p:spPr>
      </p:sp>
      <p:sp>
        <p:nvSpPr>
          <p:cNvPr id="33" name="Shape 28"/>
          <p:cNvSpPr/>
          <p:nvPr/>
        </p:nvSpPr>
        <p:spPr>
          <a:xfrm>
            <a:off x="8460029" y="2221992"/>
            <a:ext cx="548640" cy="548640"/>
          </a:xfrm>
          <a:prstGeom prst="ellipse">
            <a:avLst/>
          </a:prstGeom>
          <a:solidFill>
            <a:srgbClr val="F35B1A"/>
          </a:solidFill>
          <a:ln/>
        </p:spPr>
      </p:sp>
      <p:sp>
        <p:nvSpPr>
          <p:cNvPr id="34" name="Text 29"/>
          <p:cNvSpPr/>
          <p:nvPr/>
        </p:nvSpPr>
        <p:spPr>
          <a:xfrm>
            <a:off x="8460029" y="2221992"/>
            <a:ext cx="548640" cy="548640"/>
          </a:xfrm>
          <a:prstGeom prst="rect">
            <a:avLst/>
          </a:prstGeom>
          <a:noFill/>
          <a:ln/>
        </p:spPr>
        <p:txBody>
          <a:bodyPr wrap="square" lIns="0" tIns="0" rIns="0" bIns="0" rtlCol="0" anchor="ctr"/>
          <a:lstStyle/>
          <a:p>
            <a:pPr algn="ctr" indent="0" marL="0">
              <a:buNone/>
            </a:pPr>
            <a:r>
              <a:rPr lang="en-US" sz="2200" dirty="0">
                <a:solidFill>
                  <a:srgbClr val="FFFFFF"/>
                </a:solidFill>
                <a:latin typeface="Source Serif Pro Black" pitchFamily="34" charset="0"/>
                <a:ea typeface="Source Serif Pro Black" pitchFamily="34" charset="-122"/>
                <a:cs typeface="Source Serif Pro Black" pitchFamily="34" charset="-120"/>
              </a:rPr>
              <a:t>C</a:t>
            </a:r>
            <a:endParaRPr lang="en-US" sz="2200" dirty="0"/>
          </a:p>
        </p:txBody>
      </p:sp>
      <p:pic>
        <p:nvPicPr>
          <p:cNvPr id="35" name="Image 3" descr="assets/icons/layers_white.png">    </p:cNvPr>
          <p:cNvPicPr>
            <a:picLocks noChangeAspect="1"/>
          </p:cNvPicPr>
          <p:nvPr/>
        </p:nvPicPr>
        <p:blipFill>
          <a:blip r:embed="rId4"/>
          <a:stretch>
            <a:fillRect/>
          </a:stretch>
        </p:blipFill>
        <p:spPr>
          <a:xfrm>
            <a:off x="10902391" y="2295144"/>
            <a:ext cx="402336" cy="402336"/>
          </a:xfrm>
          <a:prstGeom prst="rect">
            <a:avLst/>
          </a:prstGeom>
        </p:spPr>
      </p:pic>
      <p:sp>
        <p:nvSpPr>
          <p:cNvPr id="36" name="Text 30"/>
          <p:cNvSpPr/>
          <p:nvPr/>
        </p:nvSpPr>
        <p:spPr>
          <a:xfrm>
            <a:off x="8460029" y="3172968"/>
            <a:ext cx="2972714" cy="777240"/>
          </a:xfrm>
          <a:prstGeom prst="rect">
            <a:avLst/>
          </a:prstGeom>
          <a:noFill/>
          <a:ln/>
        </p:spPr>
        <p:txBody>
          <a:bodyPr wrap="square" lIns="0" tIns="0" rIns="0" bIns="0" rtlCol="0" anchor="t"/>
          <a:lstStyle/>
          <a:p>
            <a:pPr indent="0" marL="0">
              <a:lnSpc>
                <a:spcPct val="100000"/>
              </a:lnSpc>
              <a:buNone/>
            </a:pPr>
            <a:r>
              <a:rPr lang="en-US" sz="1300" dirty="0">
                <a:solidFill>
                  <a:srgbClr val="222F44"/>
                </a:solidFill>
                <a:latin typeface="Poppins SemiBold" pitchFamily="34" charset="0"/>
                <a:ea typeface="Poppins SemiBold" pitchFamily="34" charset="-122"/>
                <a:cs typeface="Poppins SemiBold" pitchFamily="34" charset="-120"/>
              </a:rPr>
              <a:t>Consolidate a fragmented market</a:t>
            </a:r>
            <a:endParaRPr lang="en-US" sz="1300" dirty="0"/>
          </a:p>
        </p:txBody>
      </p:sp>
      <p:sp>
        <p:nvSpPr>
          <p:cNvPr id="37" name="Shape 31"/>
          <p:cNvSpPr/>
          <p:nvPr/>
        </p:nvSpPr>
        <p:spPr>
          <a:xfrm>
            <a:off x="8478317" y="4087368"/>
            <a:ext cx="91440" cy="91440"/>
          </a:xfrm>
          <a:prstGeom prst="ellipse">
            <a:avLst/>
          </a:prstGeom>
          <a:solidFill>
            <a:srgbClr val="F35B1A"/>
          </a:solidFill>
          <a:ln/>
        </p:spPr>
      </p:sp>
      <p:sp>
        <p:nvSpPr>
          <p:cNvPr id="38" name="Text 32"/>
          <p:cNvSpPr/>
          <p:nvPr/>
        </p:nvSpPr>
        <p:spPr>
          <a:xfrm>
            <a:off x="8679485" y="3986784"/>
            <a:ext cx="2771546" cy="777240"/>
          </a:xfrm>
          <a:prstGeom prst="rect">
            <a:avLst/>
          </a:prstGeom>
          <a:noFill/>
          <a:ln/>
        </p:spPr>
        <p:txBody>
          <a:bodyPr wrap="square" lIns="0" tIns="0" rIns="0" bIns="0" rtlCol="0" anchor="t"/>
          <a:lstStyle/>
          <a:p>
            <a:pPr indent="0" marL="0">
              <a:lnSpc>
                <a:spcPct val="102000"/>
              </a:lnSpc>
              <a:buNone/>
            </a:pPr>
            <a:r>
              <a:rPr lang="en-US" sz="930" dirty="0">
                <a:solidFill>
                  <a:srgbClr val="6B7686"/>
                </a:solidFill>
                <a:latin typeface="Poppins" pitchFamily="34" charset="0"/>
                <a:ea typeface="Poppins" pitchFamily="34" charset="-122"/>
                <a:cs typeface="Poppins" pitchFamily="34" charset="-120"/>
              </a:rPr>
              <a:t>The Brazilian corporate-transportation market remains highly fragmented, with consolidation already underway</a:t>
            </a:r>
            <a:endParaRPr lang="en-US" sz="930" dirty="0"/>
          </a:p>
        </p:txBody>
      </p:sp>
      <p:sp>
        <p:nvSpPr>
          <p:cNvPr id="39" name="Shape 33"/>
          <p:cNvSpPr/>
          <p:nvPr/>
        </p:nvSpPr>
        <p:spPr>
          <a:xfrm>
            <a:off x="8478317" y="4983480"/>
            <a:ext cx="91440" cy="91440"/>
          </a:xfrm>
          <a:prstGeom prst="ellipse">
            <a:avLst/>
          </a:prstGeom>
          <a:solidFill>
            <a:srgbClr val="F35B1A"/>
          </a:solidFill>
          <a:ln/>
        </p:spPr>
      </p:sp>
      <p:sp>
        <p:nvSpPr>
          <p:cNvPr id="40" name="Text 34"/>
          <p:cNvSpPr/>
          <p:nvPr/>
        </p:nvSpPr>
        <p:spPr>
          <a:xfrm>
            <a:off x="8679485" y="4882896"/>
            <a:ext cx="2771546" cy="777240"/>
          </a:xfrm>
          <a:prstGeom prst="rect">
            <a:avLst/>
          </a:prstGeom>
          <a:noFill/>
          <a:ln/>
        </p:spPr>
        <p:txBody>
          <a:bodyPr wrap="square" lIns="0" tIns="0" rIns="0" bIns="0" rtlCol="0" anchor="t"/>
          <a:lstStyle/>
          <a:p>
            <a:pPr indent="0" marL="0">
              <a:lnSpc>
                <a:spcPct val="102000"/>
              </a:lnSpc>
              <a:buNone/>
            </a:pPr>
            <a:r>
              <a:rPr lang="en-US" sz="930" dirty="0">
                <a:solidFill>
                  <a:srgbClr val="6B7686"/>
                </a:solidFill>
                <a:latin typeface="Poppins" pitchFamily="34" charset="0"/>
                <a:ea typeface="Poppins" pitchFamily="34" charset="-122"/>
                <a:cs typeface="Poppins" pitchFamily="34" charset="-120"/>
              </a:rPr>
              <a:t>Mobi’s scale and track record position it as a natural consolidation platform for smaller regional operators</a:t>
            </a:r>
            <a:endParaRPr lang="en-US" sz="93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22F44"/>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22F44"/>
          </a:solidFill>
          <a:ln/>
        </p:spPr>
      </p:sp>
      <p:sp>
        <p:nvSpPr>
          <p:cNvPr id="3" name="Text 1"/>
          <p:cNvSpPr/>
          <p:nvPr/>
        </p:nvSpPr>
        <p:spPr>
          <a:xfrm>
            <a:off x="7071055" y="-457200"/>
            <a:ext cx="4937760" cy="7772400"/>
          </a:xfrm>
          <a:prstGeom prst="rect">
            <a:avLst/>
          </a:prstGeom>
          <a:noFill/>
          <a:ln/>
        </p:spPr>
        <p:txBody>
          <a:bodyPr wrap="square" lIns="0" tIns="0" rIns="0" bIns="0" rtlCol="0" anchor="ctr"/>
          <a:lstStyle/>
          <a:p>
            <a:pPr algn="r" indent="0" marL="0">
              <a:buNone/>
            </a:pPr>
            <a:r>
              <a:rPr lang="en-US" sz="30000" dirty="0">
                <a:solidFill>
                  <a:srgbClr val="2C3B54"/>
                </a:solidFill>
                <a:latin typeface="Source Serif Pro Black" pitchFamily="34" charset="0"/>
                <a:ea typeface="Source Serif Pro Black" pitchFamily="34" charset="-122"/>
                <a:cs typeface="Source Serif Pro Black" pitchFamily="34" charset="-120"/>
              </a:rPr>
              <a:t>03</a:t>
            </a:r>
            <a:endParaRPr lang="en-US" sz="30000" dirty="0"/>
          </a:p>
        </p:txBody>
      </p:sp>
      <p:pic>
        <p:nvPicPr>
          <p:cNvPr id="4" name="Image 0" descr="assets/igc_white.png">    </p:cNvPr>
          <p:cNvPicPr>
            <a:picLocks noChangeAspect="1"/>
          </p:cNvPicPr>
          <p:nvPr/>
        </p:nvPicPr>
        <p:blipFill>
          <a:blip r:embed="rId1"/>
          <a:stretch>
            <a:fillRect/>
          </a:stretch>
        </p:blipFill>
        <p:spPr>
          <a:xfrm>
            <a:off x="11121847" y="310896"/>
            <a:ext cx="566928" cy="490078"/>
          </a:xfrm>
          <a:prstGeom prst="rect">
            <a:avLst/>
          </a:prstGeom>
        </p:spPr>
      </p:pic>
      <p:sp>
        <p:nvSpPr>
          <p:cNvPr id="5" name="Text 2"/>
          <p:cNvSpPr/>
          <p:nvPr/>
        </p:nvSpPr>
        <p:spPr>
          <a:xfrm>
            <a:off x="502920" y="1280160"/>
            <a:ext cx="7315200" cy="274320"/>
          </a:xfrm>
          <a:prstGeom prst="rect">
            <a:avLst/>
          </a:prstGeom>
          <a:noFill/>
          <a:ln/>
        </p:spPr>
        <p:txBody>
          <a:bodyPr wrap="square" rtlCol="0" anchor="ctr"/>
          <a:lstStyle/>
          <a:p>
            <a:pPr indent="0" marL="0">
              <a:buNone/>
            </a:pPr>
            <a:r>
              <a:rPr lang="en-US" sz="1100" spc="300" kern="0" dirty="0">
                <a:solidFill>
                  <a:srgbClr val="F35B1A"/>
                </a:solidFill>
                <a:latin typeface="Poppins SemiBold" pitchFamily="34" charset="0"/>
                <a:ea typeface="Poppins SemiBold" pitchFamily="34" charset="-122"/>
                <a:cs typeface="Poppins SemiBold" pitchFamily="34" charset="-120"/>
              </a:rPr>
              <a:t>EXECUTIVE SUMMARY</a:t>
            </a:r>
            <a:endParaRPr lang="en-US" sz="1100" dirty="0"/>
          </a:p>
        </p:txBody>
      </p:sp>
      <p:sp>
        <p:nvSpPr>
          <p:cNvPr id="6" name="Text 3"/>
          <p:cNvSpPr/>
          <p:nvPr/>
        </p:nvSpPr>
        <p:spPr>
          <a:xfrm>
            <a:off x="502920" y="2240280"/>
            <a:ext cx="640080" cy="548640"/>
          </a:xfrm>
          <a:prstGeom prst="rect">
            <a:avLst/>
          </a:prstGeom>
          <a:noFill/>
          <a:ln/>
        </p:spPr>
        <p:txBody>
          <a:bodyPr wrap="square" lIns="0" tIns="0" rIns="0" bIns="0" rtlCol="0" anchor="ctr"/>
          <a:lstStyle/>
          <a:p>
            <a:pPr indent="0" marL="0">
              <a:buNone/>
            </a:pPr>
            <a:r>
              <a:rPr lang="en-US" sz="2200" dirty="0">
                <a:solidFill>
                  <a:srgbClr val="97A0AD"/>
                </a:solidFill>
                <a:latin typeface="Source Serif Pro Black" pitchFamily="34" charset="0"/>
                <a:ea typeface="Source Serif Pro Black" pitchFamily="34" charset="-122"/>
                <a:cs typeface="Source Serif Pro Black" pitchFamily="34" charset="-120"/>
              </a:rPr>
              <a:t>01</a:t>
            </a:r>
            <a:endParaRPr lang="en-US" sz="2200" dirty="0"/>
          </a:p>
        </p:txBody>
      </p:sp>
      <p:sp>
        <p:nvSpPr>
          <p:cNvPr id="7" name="Text 4"/>
          <p:cNvSpPr/>
          <p:nvPr/>
        </p:nvSpPr>
        <p:spPr>
          <a:xfrm>
            <a:off x="1188720" y="2240280"/>
            <a:ext cx="5120640" cy="548640"/>
          </a:xfrm>
          <a:prstGeom prst="rect">
            <a:avLst/>
          </a:prstGeom>
          <a:noFill/>
          <a:ln/>
        </p:spPr>
        <p:txBody>
          <a:bodyPr wrap="square" lIns="0" tIns="0" rIns="0" bIns="0" rtlCol="0" anchor="ctr"/>
          <a:lstStyle/>
          <a:p>
            <a:pPr indent="0" marL="0">
              <a:buNone/>
            </a:pPr>
            <a:r>
              <a:rPr lang="en-US" sz="2100" dirty="0">
                <a:solidFill>
                  <a:srgbClr val="AEB7C4"/>
                </a:solidFill>
                <a:latin typeface="Source Serif Pro" pitchFamily="34" charset="0"/>
                <a:ea typeface="Source Serif Pro" pitchFamily="34" charset="-122"/>
                <a:cs typeface="Source Serif Pro" pitchFamily="34" charset="-120"/>
              </a:rPr>
              <a:t>Introduction</a:t>
            </a:r>
            <a:endParaRPr lang="en-US" sz="2100" dirty="0"/>
          </a:p>
        </p:txBody>
      </p:sp>
      <p:sp>
        <p:nvSpPr>
          <p:cNvPr id="8" name="Text 5"/>
          <p:cNvSpPr/>
          <p:nvPr/>
        </p:nvSpPr>
        <p:spPr>
          <a:xfrm>
            <a:off x="502920" y="3081528"/>
            <a:ext cx="640080" cy="548640"/>
          </a:xfrm>
          <a:prstGeom prst="rect">
            <a:avLst/>
          </a:prstGeom>
          <a:noFill/>
          <a:ln/>
        </p:spPr>
        <p:txBody>
          <a:bodyPr wrap="square" lIns="0" tIns="0" rIns="0" bIns="0" rtlCol="0" anchor="ctr"/>
          <a:lstStyle/>
          <a:p>
            <a:pPr indent="0" marL="0">
              <a:buNone/>
            </a:pPr>
            <a:r>
              <a:rPr lang="en-US" sz="2200" dirty="0">
                <a:solidFill>
                  <a:srgbClr val="97A0AD"/>
                </a:solidFill>
                <a:latin typeface="Source Serif Pro Black" pitchFamily="34" charset="0"/>
                <a:ea typeface="Source Serif Pro Black" pitchFamily="34" charset="-122"/>
                <a:cs typeface="Source Serif Pro Black" pitchFamily="34" charset="-120"/>
              </a:rPr>
              <a:t>02</a:t>
            </a:r>
            <a:endParaRPr lang="en-US" sz="2200" dirty="0"/>
          </a:p>
        </p:txBody>
      </p:sp>
      <p:sp>
        <p:nvSpPr>
          <p:cNvPr id="9" name="Text 6"/>
          <p:cNvSpPr/>
          <p:nvPr/>
        </p:nvSpPr>
        <p:spPr>
          <a:xfrm>
            <a:off x="1188720" y="3081528"/>
            <a:ext cx="5120640" cy="548640"/>
          </a:xfrm>
          <a:prstGeom prst="rect">
            <a:avLst/>
          </a:prstGeom>
          <a:noFill/>
          <a:ln/>
        </p:spPr>
        <p:txBody>
          <a:bodyPr wrap="square" lIns="0" tIns="0" rIns="0" bIns="0" rtlCol="0" anchor="ctr"/>
          <a:lstStyle/>
          <a:p>
            <a:pPr indent="0" marL="0">
              <a:buNone/>
            </a:pPr>
            <a:r>
              <a:rPr lang="en-US" sz="2100" dirty="0">
                <a:solidFill>
                  <a:srgbClr val="AEB7C4"/>
                </a:solidFill>
                <a:latin typeface="Source Serif Pro" pitchFamily="34" charset="0"/>
                <a:ea typeface="Source Serif Pro" pitchFamily="34" charset="-122"/>
                <a:cs typeface="Source Serif Pro" pitchFamily="34" charset="-120"/>
              </a:rPr>
              <a:t>Investment Thesis</a:t>
            </a:r>
            <a:endParaRPr lang="en-US" sz="2100" dirty="0"/>
          </a:p>
        </p:txBody>
      </p:sp>
      <p:sp>
        <p:nvSpPr>
          <p:cNvPr id="10" name="Shape 7"/>
          <p:cNvSpPr/>
          <p:nvPr/>
        </p:nvSpPr>
        <p:spPr>
          <a:xfrm>
            <a:off x="374904" y="3858768"/>
            <a:ext cx="6035040" cy="658368"/>
          </a:xfrm>
          <a:prstGeom prst="roundRect">
            <a:avLst>
              <a:gd name="adj" fmla="val 11111"/>
            </a:avLst>
          </a:prstGeom>
          <a:solidFill>
            <a:srgbClr val="F35B1A"/>
          </a:solidFill>
          <a:ln/>
        </p:spPr>
      </p:sp>
      <p:sp>
        <p:nvSpPr>
          <p:cNvPr id="11" name="Text 8"/>
          <p:cNvSpPr/>
          <p:nvPr/>
        </p:nvSpPr>
        <p:spPr>
          <a:xfrm>
            <a:off x="502920" y="3922776"/>
            <a:ext cx="640080" cy="548640"/>
          </a:xfrm>
          <a:prstGeom prst="rect">
            <a:avLst/>
          </a:prstGeom>
          <a:noFill/>
          <a:ln/>
        </p:spPr>
        <p:txBody>
          <a:bodyPr wrap="square" lIns="0" tIns="0" rIns="0" bIns="0" rtlCol="0" anchor="ctr"/>
          <a:lstStyle/>
          <a:p>
            <a:pPr indent="0" marL="0">
              <a:buNone/>
            </a:pPr>
            <a:r>
              <a:rPr lang="en-US" sz="2200" dirty="0">
                <a:solidFill>
                  <a:srgbClr val="FFFFFF"/>
                </a:solidFill>
                <a:latin typeface="Source Serif Pro Black" pitchFamily="34" charset="0"/>
                <a:ea typeface="Source Serif Pro Black" pitchFamily="34" charset="-122"/>
                <a:cs typeface="Source Serif Pro Black" pitchFamily="34" charset="-120"/>
              </a:rPr>
              <a:t>03</a:t>
            </a:r>
            <a:endParaRPr lang="en-US" sz="2200" dirty="0"/>
          </a:p>
        </p:txBody>
      </p:sp>
      <p:sp>
        <p:nvSpPr>
          <p:cNvPr id="12" name="Text 9"/>
          <p:cNvSpPr/>
          <p:nvPr/>
        </p:nvSpPr>
        <p:spPr>
          <a:xfrm>
            <a:off x="1188720" y="3922776"/>
            <a:ext cx="5120640" cy="548640"/>
          </a:xfrm>
          <a:prstGeom prst="rect">
            <a:avLst/>
          </a:prstGeom>
          <a:noFill/>
          <a:ln/>
        </p:spPr>
        <p:txBody>
          <a:bodyPr wrap="square" lIns="0" tIns="0" rIns="0" bIns="0" rtlCol="0" anchor="ctr"/>
          <a:lstStyle/>
          <a:p>
            <a:pPr indent="0" marL="0">
              <a:buNone/>
            </a:pPr>
            <a:r>
              <a:rPr lang="en-US" sz="2100" dirty="0">
                <a:solidFill>
                  <a:srgbClr val="FFFFFF"/>
                </a:solidFill>
                <a:latin typeface="Source Serif Pro SemiBold" pitchFamily="34" charset="0"/>
                <a:ea typeface="Source Serif Pro SemiBold" pitchFamily="34" charset="-122"/>
                <a:cs typeface="Source Serif Pro SemiBold" pitchFamily="34" charset="-120"/>
              </a:rPr>
              <a:t>Company Overview</a:t>
            </a:r>
            <a:endParaRPr lang="en-US" sz="2100" dirty="0"/>
          </a:p>
        </p:txBody>
      </p:sp>
      <p:sp>
        <p:nvSpPr>
          <p:cNvPr id="13" name="Text 10"/>
          <p:cNvSpPr/>
          <p:nvPr/>
        </p:nvSpPr>
        <p:spPr>
          <a:xfrm>
            <a:off x="502920" y="4764024"/>
            <a:ext cx="640080" cy="548640"/>
          </a:xfrm>
          <a:prstGeom prst="rect">
            <a:avLst/>
          </a:prstGeom>
          <a:noFill/>
          <a:ln/>
        </p:spPr>
        <p:txBody>
          <a:bodyPr wrap="square" lIns="0" tIns="0" rIns="0" bIns="0" rtlCol="0" anchor="ctr"/>
          <a:lstStyle/>
          <a:p>
            <a:pPr indent="0" marL="0">
              <a:buNone/>
            </a:pPr>
            <a:r>
              <a:rPr lang="en-US" sz="2200" dirty="0">
                <a:solidFill>
                  <a:srgbClr val="97A0AD"/>
                </a:solidFill>
                <a:latin typeface="Source Serif Pro Black" pitchFamily="34" charset="0"/>
                <a:ea typeface="Source Serif Pro Black" pitchFamily="34" charset="-122"/>
                <a:cs typeface="Source Serif Pro Black" pitchFamily="34" charset="-120"/>
              </a:rPr>
              <a:t>04</a:t>
            </a:r>
            <a:endParaRPr lang="en-US" sz="2200" dirty="0"/>
          </a:p>
        </p:txBody>
      </p:sp>
      <p:sp>
        <p:nvSpPr>
          <p:cNvPr id="14" name="Text 11"/>
          <p:cNvSpPr/>
          <p:nvPr/>
        </p:nvSpPr>
        <p:spPr>
          <a:xfrm>
            <a:off x="1188720" y="4764024"/>
            <a:ext cx="5120640" cy="548640"/>
          </a:xfrm>
          <a:prstGeom prst="rect">
            <a:avLst/>
          </a:prstGeom>
          <a:noFill/>
          <a:ln/>
        </p:spPr>
        <p:txBody>
          <a:bodyPr wrap="square" lIns="0" tIns="0" rIns="0" bIns="0" rtlCol="0" anchor="ctr"/>
          <a:lstStyle/>
          <a:p>
            <a:pPr indent="0" marL="0">
              <a:buNone/>
            </a:pPr>
            <a:r>
              <a:rPr lang="en-US" sz="2100" dirty="0">
                <a:solidFill>
                  <a:srgbClr val="AEB7C4"/>
                </a:solidFill>
                <a:latin typeface="Source Serif Pro" pitchFamily="34" charset="0"/>
                <a:ea typeface="Source Serif Pro" pitchFamily="34" charset="-122"/>
                <a:cs typeface="Source Serif Pro" pitchFamily="34" charset="-120"/>
              </a:rPr>
              <a:t>Financial Highlights</a:t>
            </a:r>
            <a:endParaRPr lang="en-US" sz="2100" dirty="0"/>
          </a:p>
        </p:txBody>
      </p:sp>
      <p:pic>
        <p:nvPicPr>
          <p:cNvPr id="15" name="Image 1" descr="assets/mobi_logo_black.png">    </p:cNvPr>
          <p:cNvPicPr>
            <a:picLocks noChangeAspect="1"/>
          </p:cNvPicPr>
          <p:nvPr/>
        </p:nvPicPr>
        <p:blipFill>
          <a:blip r:embed="rId2"/>
          <a:stretch>
            <a:fillRect/>
          </a:stretch>
        </p:blipFill>
        <p:spPr>
          <a:xfrm>
            <a:off x="502920" y="5897880"/>
            <a:ext cx="1554480" cy="49791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assets/igc_navy.png">    </p:cNvPr>
          <p:cNvPicPr>
            <a:picLocks noChangeAspect="1"/>
          </p:cNvPicPr>
          <p:nvPr/>
        </p:nvPicPr>
        <p:blipFill>
          <a:blip r:embed="rId1"/>
          <a:stretch>
            <a:fillRect/>
          </a:stretch>
        </p:blipFill>
        <p:spPr>
          <a:xfrm>
            <a:off x="11121847" y="310896"/>
            <a:ext cx="566928" cy="490078"/>
          </a:xfrm>
          <a:prstGeom prst="rect">
            <a:avLst/>
          </a:prstGeom>
        </p:spPr>
      </p:pic>
      <p:sp>
        <p:nvSpPr>
          <p:cNvPr id="3" name="Text 0"/>
          <p:cNvSpPr/>
          <p:nvPr/>
        </p:nvSpPr>
        <p:spPr>
          <a:xfrm>
            <a:off x="502920" y="384048"/>
            <a:ext cx="7315200" cy="256032"/>
          </a:xfrm>
          <a:prstGeom prst="rect">
            <a:avLst/>
          </a:prstGeom>
          <a:noFill/>
          <a:ln/>
        </p:spPr>
        <p:txBody>
          <a:bodyPr wrap="square" rtlCol="0" anchor="ctr"/>
          <a:lstStyle/>
          <a:p>
            <a:pPr algn="l" indent="0" marL="0">
              <a:buNone/>
            </a:pPr>
            <a:r>
              <a:rPr lang="en-US" sz="1050" spc="200" kern="0" dirty="0">
                <a:solidFill>
                  <a:srgbClr val="F35B1A"/>
                </a:solidFill>
                <a:latin typeface="Poppins SemiBold" pitchFamily="34" charset="0"/>
                <a:ea typeface="Poppins SemiBold" pitchFamily="34" charset="-122"/>
                <a:cs typeface="Poppins SemiBold" pitchFamily="34" charset="-120"/>
              </a:rPr>
              <a:t>COMPANY OVERVIEW</a:t>
            </a:r>
            <a:endParaRPr lang="en-US" sz="1050" dirty="0"/>
          </a:p>
        </p:txBody>
      </p:sp>
      <p:sp>
        <p:nvSpPr>
          <p:cNvPr id="4" name="Text 1"/>
          <p:cNvSpPr/>
          <p:nvPr/>
        </p:nvSpPr>
        <p:spPr>
          <a:xfrm>
            <a:off x="502920" y="603504"/>
            <a:ext cx="10408615" cy="640080"/>
          </a:xfrm>
          <a:prstGeom prst="rect">
            <a:avLst/>
          </a:prstGeom>
          <a:noFill/>
          <a:ln/>
        </p:spPr>
        <p:txBody>
          <a:bodyPr wrap="square" rtlCol="0" anchor="t"/>
          <a:lstStyle/>
          <a:p>
            <a:pPr algn="l" indent="0" marL="0">
              <a:buNone/>
            </a:pPr>
            <a:r>
              <a:rPr lang="en-US" sz="2500" dirty="0">
                <a:solidFill>
                  <a:srgbClr val="222F44"/>
                </a:solidFill>
                <a:latin typeface="Source Serif Pro SemiBold" pitchFamily="34" charset="0"/>
                <a:ea typeface="Source Serif Pro SemiBold" pitchFamily="34" charset="-122"/>
                <a:cs typeface="Source Serif Pro SemiBold" pitchFamily="34" charset="-120"/>
              </a:rPr>
              <a:t>A track record built over more than 20 years</a:t>
            </a:r>
            <a:endParaRPr lang="en-US" sz="2500" dirty="0"/>
          </a:p>
        </p:txBody>
      </p:sp>
      <p:sp>
        <p:nvSpPr>
          <p:cNvPr id="5" name="Text 2"/>
          <p:cNvSpPr/>
          <p:nvPr/>
        </p:nvSpPr>
        <p:spPr>
          <a:xfrm>
            <a:off x="502920" y="1225296"/>
            <a:ext cx="10408615" cy="457200"/>
          </a:xfrm>
          <a:prstGeom prst="rect">
            <a:avLst/>
          </a:prstGeom>
          <a:noFill/>
          <a:ln/>
        </p:spPr>
        <p:txBody>
          <a:bodyPr wrap="square" rtlCol="0" anchor="t"/>
          <a:lstStyle/>
          <a:p>
            <a:pPr algn="l" indent="0" marL="0">
              <a:buNone/>
            </a:pPr>
            <a:r>
              <a:rPr lang="en-US" sz="1250" dirty="0">
                <a:solidFill>
                  <a:srgbClr val="6B7686"/>
                </a:solidFill>
                <a:latin typeface="Poppins" pitchFamily="34" charset="0"/>
                <a:ea typeface="Poppins" pitchFamily="34" charset="-122"/>
                <a:cs typeface="Poppins" pitchFamily="34" charset="-120"/>
              </a:rPr>
              <a:t>Mobi has +20 years of experience in corporate employee transportation</a:t>
            </a:r>
            <a:endParaRPr lang="en-US" sz="1250" dirty="0"/>
          </a:p>
        </p:txBody>
      </p:sp>
      <p:sp>
        <p:nvSpPr>
          <p:cNvPr id="6" name="Text 3"/>
          <p:cNvSpPr/>
          <p:nvPr/>
        </p:nvSpPr>
        <p:spPr>
          <a:xfrm>
            <a:off x="502920" y="6547104"/>
            <a:ext cx="10180015" cy="237744"/>
          </a:xfrm>
          <a:prstGeom prst="rect">
            <a:avLst/>
          </a:prstGeom>
          <a:noFill/>
          <a:ln/>
        </p:spPr>
        <p:txBody>
          <a:bodyPr wrap="square" rtlCol="0" anchor="ctr"/>
          <a:lstStyle/>
          <a:p>
            <a:pPr algn="l" indent="0" marL="0">
              <a:buNone/>
            </a:pPr>
            <a:r>
              <a:rPr lang="en-US" sz="700" dirty="0">
                <a:solidFill>
                  <a:srgbClr val="97A0AD"/>
                </a:solidFill>
                <a:latin typeface="Poppins" pitchFamily="34" charset="0"/>
                <a:ea typeface="Poppins" pitchFamily="34" charset="-122"/>
                <a:cs typeface="Poppins" pitchFamily="34" charset="-120"/>
              </a:rPr>
              <a:t>Source: Company. Foundation year, milestone dates and revenue evolution to be confirmed with management.</a:t>
            </a:r>
            <a:endParaRPr lang="en-US" sz="700" dirty="0"/>
          </a:p>
        </p:txBody>
      </p:sp>
      <p:sp>
        <p:nvSpPr>
          <p:cNvPr id="7" name="Text 4"/>
          <p:cNvSpPr/>
          <p:nvPr/>
        </p:nvSpPr>
        <p:spPr>
          <a:xfrm>
            <a:off x="10728655" y="6547104"/>
            <a:ext cx="960120" cy="237744"/>
          </a:xfrm>
          <a:prstGeom prst="rect">
            <a:avLst/>
          </a:prstGeom>
          <a:noFill/>
          <a:ln/>
        </p:spPr>
        <p:txBody>
          <a:bodyPr wrap="square" rtlCol="0" anchor="ctr"/>
          <a:lstStyle/>
          <a:p>
            <a:pPr algn="r" indent="0" marL="0">
              <a:buNone/>
            </a:pPr>
            <a:r>
              <a:rPr lang="en-US" sz="850" dirty="0">
                <a:solidFill>
                  <a:srgbClr val="97A0AD"/>
                </a:solidFill>
                <a:latin typeface="Poppins Medium" pitchFamily="34" charset="0"/>
                <a:ea typeface="Poppins Medium" pitchFamily="34" charset="-122"/>
                <a:cs typeface="Poppins Medium" pitchFamily="34" charset="-120"/>
              </a:rPr>
              <a:t>Confidential   </a:t>
            </a:r>
            <a:pPr algn="r" indent="0" marL="0">
              <a:buNone/>
            </a:pPr>
            <a:r>
              <a:rPr lang="en-US" sz="850" b="1" dirty="0">
                <a:solidFill>
                  <a:srgbClr val="222F44"/>
                </a:solidFill>
                <a:latin typeface="Poppins Medium" pitchFamily="34" charset="0"/>
                <a:ea typeface="Poppins Medium" pitchFamily="34" charset="-122"/>
                <a:cs typeface="Poppins Medium" pitchFamily="34" charset="-120"/>
              </a:rPr>
              <a:t>14</a:t>
            </a:r>
            <a:endParaRPr lang="en-US" sz="850" dirty="0"/>
          </a:p>
        </p:txBody>
      </p:sp>
      <p:sp>
        <p:nvSpPr>
          <p:cNvPr id="8" name="Shape 5"/>
          <p:cNvSpPr/>
          <p:nvPr/>
        </p:nvSpPr>
        <p:spPr>
          <a:xfrm>
            <a:off x="685800" y="2880360"/>
            <a:ext cx="10820095" cy="0"/>
          </a:xfrm>
          <a:prstGeom prst="line">
            <a:avLst/>
          </a:prstGeom>
          <a:noFill/>
          <a:ln w="25400">
            <a:solidFill>
              <a:srgbClr val="D9DEE5"/>
            </a:solidFill>
            <a:prstDash val="solid"/>
          </a:ln>
        </p:spPr>
      </p:sp>
      <p:sp>
        <p:nvSpPr>
          <p:cNvPr id="9" name="Shape 6"/>
          <p:cNvSpPr/>
          <p:nvPr/>
        </p:nvSpPr>
        <p:spPr>
          <a:xfrm>
            <a:off x="594360" y="2788920"/>
            <a:ext cx="182880" cy="182880"/>
          </a:xfrm>
          <a:prstGeom prst="ellipse">
            <a:avLst/>
          </a:prstGeom>
          <a:solidFill>
            <a:srgbClr val="222F44"/>
          </a:solidFill>
          <a:ln w="25400">
            <a:solidFill>
              <a:srgbClr val="FFFFFF"/>
            </a:solidFill>
            <a:prstDash val="solid"/>
          </a:ln>
        </p:spPr>
      </p:sp>
      <p:sp>
        <p:nvSpPr>
          <p:cNvPr id="10" name="Text 7"/>
          <p:cNvSpPr/>
          <p:nvPr/>
        </p:nvSpPr>
        <p:spPr>
          <a:xfrm>
            <a:off x="-228600" y="1984248"/>
            <a:ext cx="1828800" cy="274320"/>
          </a:xfrm>
          <a:prstGeom prst="rect">
            <a:avLst/>
          </a:prstGeom>
          <a:noFill/>
          <a:ln/>
        </p:spPr>
        <p:txBody>
          <a:bodyPr wrap="square" lIns="0" tIns="0" rIns="0" bIns="0" rtlCol="0" anchor="ctr"/>
          <a:lstStyle/>
          <a:p>
            <a:pPr algn="ctr" indent="0" marL="0">
              <a:buNone/>
            </a:pPr>
            <a:r>
              <a:rPr lang="en-US" sz="1100" dirty="0">
                <a:solidFill>
                  <a:srgbClr val="F35B1A"/>
                </a:solidFill>
                <a:latin typeface="Poppins SemiBold" pitchFamily="34" charset="0"/>
                <a:ea typeface="Poppins SemiBold" pitchFamily="34" charset="-122"/>
                <a:cs typeface="Poppins SemiBold" pitchFamily="34" charset="-120"/>
              </a:rPr>
              <a:t>[Year TBC]</a:t>
            </a:r>
            <a:endParaRPr lang="en-US" sz="1100" dirty="0"/>
          </a:p>
        </p:txBody>
      </p:sp>
      <p:sp>
        <p:nvSpPr>
          <p:cNvPr id="11" name="Text 8"/>
          <p:cNvSpPr/>
          <p:nvPr/>
        </p:nvSpPr>
        <p:spPr>
          <a:xfrm>
            <a:off x="-228600" y="2295144"/>
            <a:ext cx="1828800" cy="384048"/>
          </a:xfrm>
          <a:prstGeom prst="rect">
            <a:avLst/>
          </a:prstGeom>
          <a:noFill/>
          <a:ln/>
        </p:spPr>
        <p:txBody>
          <a:bodyPr wrap="square" lIns="0" tIns="0" rIns="0" bIns="0" rtlCol="0" anchor="t"/>
          <a:lstStyle/>
          <a:p>
            <a:pPr algn="ctr" indent="0" marL="0">
              <a:lnSpc>
                <a:spcPct val="95000"/>
              </a:lnSpc>
              <a:buNone/>
            </a:pPr>
            <a:r>
              <a:rPr lang="en-US" sz="900" dirty="0">
                <a:solidFill>
                  <a:srgbClr val="6B7686"/>
                </a:solidFill>
                <a:latin typeface="Poppins" pitchFamily="34" charset="0"/>
                <a:ea typeface="Poppins" pitchFamily="34" charset="-122"/>
                <a:cs typeface="Poppins" pitchFamily="34" charset="-120"/>
              </a:rPr>
              <a:t>Foundation</a:t>
            </a:r>
            <a:endParaRPr lang="en-US" sz="900" dirty="0"/>
          </a:p>
        </p:txBody>
      </p:sp>
      <p:sp>
        <p:nvSpPr>
          <p:cNvPr id="12" name="Shape 9"/>
          <p:cNvSpPr/>
          <p:nvPr/>
        </p:nvSpPr>
        <p:spPr>
          <a:xfrm>
            <a:off x="2758379" y="2788920"/>
            <a:ext cx="182880" cy="182880"/>
          </a:xfrm>
          <a:prstGeom prst="ellipse">
            <a:avLst/>
          </a:prstGeom>
          <a:solidFill>
            <a:srgbClr val="222F44"/>
          </a:solidFill>
          <a:ln w="25400">
            <a:solidFill>
              <a:srgbClr val="FFFFFF"/>
            </a:solidFill>
            <a:prstDash val="solid"/>
          </a:ln>
        </p:spPr>
      </p:sp>
      <p:sp>
        <p:nvSpPr>
          <p:cNvPr id="13" name="Text 10"/>
          <p:cNvSpPr/>
          <p:nvPr/>
        </p:nvSpPr>
        <p:spPr>
          <a:xfrm>
            <a:off x="1935419" y="3081528"/>
            <a:ext cx="1828800" cy="274320"/>
          </a:xfrm>
          <a:prstGeom prst="rect">
            <a:avLst/>
          </a:prstGeom>
          <a:noFill/>
          <a:ln/>
        </p:spPr>
        <p:txBody>
          <a:bodyPr wrap="square" lIns="0" tIns="0" rIns="0" bIns="0" rtlCol="0" anchor="ctr"/>
          <a:lstStyle/>
          <a:p>
            <a:pPr algn="ctr" indent="0" marL="0">
              <a:buNone/>
            </a:pPr>
            <a:r>
              <a:rPr lang="en-US" sz="1100" dirty="0">
                <a:solidFill>
                  <a:srgbClr val="F35B1A"/>
                </a:solidFill>
                <a:latin typeface="Poppins SemiBold" pitchFamily="34" charset="0"/>
                <a:ea typeface="Poppins SemiBold" pitchFamily="34" charset="-122"/>
                <a:cs typeface="Poppins SemiBold" pitchFamily="34" charset="-120"/>
              </a:rPr>
              <a:t>[Year]</a:t>
            </a:r>
            <a:endParaRPr lang="en-US" sz="1100" dirty="0"/>
          </a:p>
        </p:txBody>
      </p:sp>
      <p:sp>
        <p:nvSpPr>
          <p:cNvPr id="14" name="Text 11"/>
          <p:cNvSpPr/>
          <p:nvPr/>
        </p:nvSpPr>
        <p:spPr>
          <a:xfrm>
            <a:off x="1935419" y="3374136"/>
            <a:ext cx="1828800" cy="384048"/>
          </a:xfrm>
          <a:prstGeom prst="rect">
            <a:avLst/>
          </a:prstGeom>
          <a:noFill/>
          <a:ln/>
        </p:spPr>
        <p:txBody>
          <a:bodyPr wrap="square" lIns="0" tIns="0" rIns="0" bIns="0" rtlCol="0" anchor="t"/>
          <a:lstStyle/>
          <a:p>
            <a:pPr algn="ctr" indent="0" marL="0">
              <a:lnSpc>
                <a:spcPct val="95000"/>
              </a:lnSpc>
              <a:buNone/>
            </a:pPr>
            <a:r>
              <a:rPr lang="en-US" sz="900" dirty="0">
                <a:solidFill>
                  <a:srgbClr val="6B7686"/>
                </a:solidFill>
                <a:latin typeface="Poppins" pitchFamily="34" charset="0"/>
                <a:ea typeface="Poppins" pitchFamily="34" charset="-122"/>
                <a:cs typeface="Poppins" pitchFamily="34" charset="-120"/>
              </a:rPr>
              <a:t>[Milestone]</a:t>
            </a:r>
            <a:endParaRPr lang="en-US" sz="900" dirty="0"/>
          </a:p>
        </p:txBody>
      </p:sp>
      <p:sp>
        <p:nvSpPr>
          <p:cNvPr id="15" name="Shape 12"/>
          <p:cNvSpPr/>
          <p:nvPr/>
        </p:nvSpPr>
        <p:spPr>
          <a:xfrm>
            <a:off x="4922398" y="2788920"/>
            <a:ext cx="182880" cy="182880"/>
          </a:xfrm>
          <a:prstGeom prst="ellipse">
            <a:avLst/>
          </a:prstGeom>
          <a:solidFill>
            <a:srgbClr val="222F44"/>
          </a:solidFill>
          <a:ln w="25400">
            <a:solidFill>
              <a:srgbClr val="FFFFFF"/>
            </a:solidFill>
            <a:prstDash val="solid"/>
          </a:ln>
        </p:spPr>
      </p:sp>
      <p:sp>
        <p:nvSpPr>
          <p:cNvPr id="16" name="Text 13"/>
          <p:cNvSpPr/>
          <p:nvPr/>
        </p:nvSpPr>
        <p:spPr>
          <a:xfrm>
            <a:off x="4099438" y="1984248"/>
            <a:ext cx="1828800" cy="274320"/>
          </a:xfrm>
          <a:prstGeom prst="rect">
            <a:avLst/>
          </a:prstGeom>
          <a:noFill/>
          <a:ln/>
        </p:spPr>
        <p:txBody>
          <a:bodyPr wrap="square" lIns="0" tIns="0" rIns="0" bIns="0" rtlCol="0" anchor="ctr"/>
          <a:lstStyle/>
          <a:p>
            <a:pPr algn="ctr" indent="0" marL="0">
              <a:buNone/>
            </a:pPr>
            <a:r>
              <a:rPr lang="en-US" sz="1100" dirty="0">
                <a:solidFill>
                  <a:srgbClr val="F35B1A"/>
                </a:solidFill>
                <a:latin typeface="Poppins SemiBold" pitchFamily="34" charset="0"/>
                <a:ea typeface="Poppins SemiBold" pitchFamily="34" charset="-122"/>
                <a:cs typeface="Poppins SemiBold" pitchFamily="34" charset="-120"/>
              </a:rPr>
              <a:t>[Year]</a:t>
            </a:r>
            <a:endParaRPr lang="en-US" sz="1100" dirty="0"/>
          </a:p>
        </p:txBody>
      </p:sp>
      <p:sp>
        <p:nvSpPr>
          <p:cNvPr id="17" name="Text 14"/>
          <p:cNvSpPr/>
          <p:nvPr/>
        </p:nvSpPr>
        <p:spPr>
          <a:xfrm>
            <a:off x="4099438" y="2295144"/>
            <a:ext cx="1828800" cy="384048"/>
          </a:xfrm>
          <a:prstGeom prst="rect">
            <a:avLst/>
          </a:prstGeom>
          <a:noFill/>
          <a:ln/>
        </p:spPr>
        <p:txBody>
          <a:bodyPr wrap="square" lIns="0" tIns="0" rIns="0" bIns="0" rtlCol="0" anchor="t"/>
          <a:lstStyle/>
          <a:p>
            <a:pPr algn="ctr" indent="0" marL="0">
              <a:lnSpc>
                <a:spcPct val="95000"/>
              </a:lnSpc>
              <a:buNone/>
            </a:pPr>
            <a:r>
              <a:rPr lang="en-US" sz="900" dirty="0">
                <a:solidFill>
                  <a:srgbClr val="6B7686"/>
                </a:solidFill>
                <a:latin typeface="Poppins" pitchFamily="34" charset="0"/>
                <a:ea typeface="Poppins" pitchFamily="34" charset="-122"/>
                <a:cs typeface="Poppins" pitchFamily="34" charset="-120"/>
              </a:rPr>
              <a:t>[Milestone]</a:t>
            </a:r>
            <a:endParaRPr lang="en-US" sz="900" dirty="0"/>
          </a:p>
        </p:txBody>
      </p:sp>
      <p:sp>
        <p:nvSpPr>
          <p:cNvPr id="18" name="Shape 15"/>
          <p:cNvSpPr/>
          <p:nvPr/>
        </p:nvSpPr>
        <p:spPr>
          <a:xfrm>
            <a:off x="7086417" y="2788920"/>
            <a:ext cx="182880" cy="182880"/>
          </a:xfrm>
          <a:prstGeom prst="ellipse">
            <a:avLst/>
          </a:prstGeom>
          <a:solidFill>
            <a:srgbClr val="222F44"/>
          </a:solidFill>
          <a:ln w="25400">
            <a:solidFill>
              <a:srgbClr val="FFFFFF"/>
            </a:solidFill>
            <a:prstDash val="solid"/>
          </a:ln>
        </p:spPr>
      </p:sp>
      <p:sp>
        <p:nvSpPr>
          <p:cNvPr id="19" name="Text 16"/>
          <p:cNvSpPr/>
          <p:nvPr/>
        </p:nvSpPr>
        <p:spPr>
          <a:xfrm>
            <a:off x="6263457" y="3081528"/>
            <a:ext cx="1828800" cy="274320"/>
          </a:xfrm>
          <a:prstGeom prst="rect">
            <a:avLst/>
          </a:prstGeom>
          <a:noFill/>
          <a:ln/>
        </p:spPr>
        <p:txBody>
          <a:bodyPr wrap="square" lIns="0" tIns="0" rIns="0" bIns="0" rtlCol="0" anchor="ctr"/>
          <a:lstStyle/>
          <a:p>
            <a:pPr algn="ctr" indent="0" marL="0">
              <a:buNone/>
            </a:pPr>
            <a:r>
              <a:rPr lang="en-US" sz="1100" dirty="0">
                <a:solidFill>
                  <a:srgbClr val="F35B1A"/>
                </a:solidFill>
                <a:latin typeface="Poppins SemiBold" pitchFamily="34" charset="0"/>
                <a:ea typeface="Poppins SemiBold" pitchFamily="34" charset="-122"/>
                <a:cs typeface="Poppins SemiBold" pitchFamily="34" charset="-120"/>
              </a:rPr>
              <a:t>[Year]</a:t>
            </a:r>
            <a:endParaRPr lang="en-US" sz="1100" dirty="0"/>
          </a:p>
        </p:txBody>
      </p:sp>
      <p:sp>
        <p:nvSpPr>
          <p:cNvPr id="20" name="Text 17"/>
          <p:cNvSpPr/>
          <p:nvPr/>
        </p:nvSpPr>
        <p:spPr>
          <a:xfrm>
            <a:off x="6263457" y="3374136"/>
            <a:ext cx="1828800" cy="384048"/>
          </a:xfrm>
          <a:prstGeom prst="rect">
            <a:avLst/>
          </a:prstGeom>
          <a:noFill/>
          <a:ln/>
        </p:spPr>
        <p:txBody>
          <a:bodyPr wrap="square" lIns="0" tIns="0" rIns="0" bIns="0" rtlCol="0" anchor="t"/>
          <a:lstStyle/>
          <a:p>
            <a:pPr algn="ctr" indent="0" marL="0">
              <a:lnSpc>
                <a:spcPct val="95000"/>
              </a:lnSpc>
              <a:buNone/>
            </a:pPr>
            <a:r>
              <a:rPr lang="en-US" sz="900" dirty="0">
                <a:solidFill>
                  <a:srgbClr val="6B7686"/>
                </a:solidFill>
                <a:latin typeface="Poppins" pitchFamily="34" charset="0"/>
                <a:ea typeface="Poppins" pitchFamily="34" charset="-122"/>
                <a:cs typeface="Poppins" pitchFamily="34" charset="-120"/>
              </a:rPr>
              <a:t>[Milestone]</a:t>
            </a:r>
            <a:endParaRPr lang="en-US" sz="900" dirty="0"/>
          </a:p>
        </p:txBody>
      </p:sp>
      <p:sp>
        <p:nvSpPr>
          <p:cNvPr id="21" name="Shape 18"/>
          <p:cNvSpPr/>
          <p:nvPr/>
        </p:nvSpPr>
        <p:spPr>
          <a:xfrm>
            <a:off x="9250436" y="2788920"/>
            <a:ext cx="182880" cy="182880"/>
          </a:xfrm>
          <a:prstGeom prst="ellipse">
            <a:avLst/>
          </a:prstGeom>
          <a:solidFill>
            <a:srgbClr val="222F44"/>
          </a:solidFill>
          <a:ln w="25400">
            <a:solidFill>
              <a:srgbClr val="FFFFFF"/>
            </a:solidFill>
            <a:prstDash val="solid"/>
          </a:ln>
        </p:spPr>
      </p:sp>
      <p:sp>
        <p:nvSpPr>
          <p:cNvPr id="22" name="Text 19"/>
          <p:cNvSpPr/>
          <p:nvPr/>
        </p:nvSpPr>
        <p:spPr>
          <a:xfrm>
            <a:off x="8427476" y="1984248"/>
            <a:ext cx="1828800" cy="274320"/>
          </a:xfrm>
          <a:prstGeom prst="rect">
            <a:avLst/>
          </a:prstGeom>
          <a:noFill/>
          <a:ln/>
        </p:spPr>
        <p:txBody>
          <a:bodyPr wrap="square" lIns="0" tIns="0" rIns="0" bIns="0" rtlCol="0" anchor="ctr"/>
          <a:lstStyle/>
          <a:p>
            <a:pPr algn="ctr" indent="0" marL="0">
              <a:buNone/>
            </a:pPr>
            <a:r>
              <a:rPr lang="en-US" sz="1100" dirty="0">
                <a:solidFill>
                  <a:srgbClr val="F35B1A"/>
                </a:solidFill>
                <a:latin typeface="Poppins SemiBold" pitchFamily="34" charset="0"/>
                <a:ea typeface="Poppins SemiBold" pitchFamily="34" charset="-122"/>
                <a:cs typeface="Poppins SemiBold" pitchFamily="34" charset="-120"/>
              </a:rPr>
              <a:t>2025</a:t>
            </a:r>
            <a:endParaRPr lang="en-US" sz="1100" dirty="0"/>
          </a:p>
        </p:txBody>
      </p:sp>
      <p:sp>
        <p:nvSpPr>
          <p:cNvPr id="23" name="Text 20"/>
          <p:cNvSpPr/>
          <p:nvPr/>
        </p:nvSpPr>
        <p:spPr>
          <a:xfrm>
            <a:off x="8427476" y="2295144"/>
            <a:ext cx="1828800" cy="384048"/>
          </a:xfrm>
          <a:prstGeom prst="rect">
            <a:avLst/>
          </a:prstGeom>
          <a:noFill/>
          <a:ln/>
        </p:spPr>
        <p:txBody>
          <a:bodyPr wrap="square" lIns="0" tIns="0" rIns="0" bIns="0" rtlCol="0" anchor="t"/>
          <a:lstStyle/>
          <a:p>
            <a:pPr algn="ctr" indent="0" marL="0">
              <a:lnSpc>
                <a:spcPct val="95000"/>
              </a:lnSpc>
              <a:buNone/>
            </a:pPr>
            <a:r>
              <a:rPr lang="en-US" sz="900" dirty="0">
                <a:solidFill>
                  <a:srgbClr val="6B7686"/>
                </a:solidFill>
                <a:latin typeface="Poppins" pitchFamily="34" charset="0"/>
                <a:ea typeface="Poppins" pitchFamily="34" charset="-122"/>
                <a:cs typeface="Poppins" pitchFamily="34" charset="-120"/>
              </a:rPr>
              <a:t>[Milestone]</a:t>
            </a:r>
            <a:endParaRPr lang="en-US" sz="900" dirty="0"/>
          </a:p>
        </p:txBody>
      </p:sp>
      <p:sp>
        <p:nvSpPr>
          <p:cNvPr id="24" name="Shape 21"/>
          <p:cNvSpPr/>
          <p:nvPr/>
        </p:nvSpPr>
        <p:spPr>
          <a:xfrm>
            <a:off x="11414455" y="2788920"/>
            <a:ext cx="182880" cy="182880"/>
          </a:xfrm>
          <a:prstGeom prst="ellipse">
            <a:avLst/>
          </a:prstGeom>
          <a:solidFill>
            <a:srgbClr val="F35B1A"/>
          </a:solidFill>
          <a:ln w="25400">
            <a:solidFill>
              <a:srgbClr val="FFFFFF"/>
            </a:solidFill>
            <a:prstDash val="solid"/>
          </a:ln>
        </p:spPr>
      </p:sp>
      <p:sp>
        <p:nvSpPr>
          <p:cNvPr id="25" name="Text 22"/>
          <p:cNvSpPr/>
          <p:nvPr/>
        </p:nvSpPr>
        <p:spPr>
          <a:xfrm>
            <a:off x="10591495" y="3081528"/>
            <a:ext cx="1828800" cy="274320"/>
          </a:xfrm>
          <a:prstGeom prst="rect">
            <a:avLst/>
          </a:prstGeom>
          <a:noFill/>
          <a:ln/>
        </p:spPr>
        <p:txBody>
          <a:bodyPr wrap="square" lIns="0" tIns="0" rIns="0" bIns="0" rtlCol="0" anchor="ctr"/>
          <a:lstStyle/>
          <a:p>
            <a:pPr algn="ctr" indent="0" marL="0">
              <a:buNone/>
            </a:pPr>
            <a:r>
              <a:rPr lang="en-US" sz="1100" dirty="0">
                <a:solidFill>
                  <a:srgbClr val="F35B1A"/>
                </a:solidFill>
                <a:latin typeface="Poppins SemiBold" pitchFamily="34" charset="0"/>
                <a:ea typeface="Poppins SemiBold" pitchFamily="34" charset="-122"/>
                <a:cs typeface="Poppins SemiBold" pitchFamily="34" charset="-120"/>
              </a:rPr>
              <a:t>2026E</a:t>
            </a:r>
            <a:endParaRPr lang="en-US" sz="1100" dirty="0"/>
          </a:p>
        </p:txBody>
      </p:sp>
      <p:sp>
        <p:nvSpPr>
          <p:cNvPr id="26" name="Text 23"/>
          <p:cNvSpPr/>
          <p:nvPr/>
        </p:nvSpPr>
        <p:spPr>
          <a:xfrm>
            <a:off x="10591495" y="3374136"/>
            <a:ext cx="1828800" cy="384048"/>
          </a:xfrm>
          <a:prstGeom prst="rect">
            <a:avLst/>
          </a:prstGeom>
          <a:noFill/>
          <a:ln/>
        </p:spPr>
        <p:txBody>
          <a:bodyPr wrap="square" lIns="0" tIns="0" rIns="0" bIns="0" rtlCol="0" anchor="t"/>
          <a:lstStyle/>
          <a:p>
            <a:pPr algn="ctr" indent="0" marL="0">
              <a:lnSpc>
                <a:spcPct val="95000"/>
              </a:lnSpc>
              <a:buNone/>
            </a:pPr>
            <a:r>
              <a:rPr lang="en-US" sz="900" dirty="0">
                <a:solidFill>
                  <a:srgbClr val="6B7686"/>
                </a:solidFill>
                <a:latin typeface="Poppins" pitchFamily="34" charset="0"/>
                <a:ea typeface="Poppins" pitchFamily="34" charset="-122"/>
                <a:cs typeface="Poppins" pitchFamily="34" charset="-120"/>
              </a:rPr>
              <a:t>Positioned for growth</a:t>
            </a:r>
            <a:endParaRPr lang="en-US" sz="900" dirty="0"/>
          </a:p>
        </p:txBody>
      </p:sp>
      <p:sp>
        <p:nvSpPr>
          <p:cNvPr id="27" name="Shape 24"/>
          <p:cNvSpPr/>
          <p:nvPr/>
        </p:nvSpPr>
        <p:spPr>
          <a:xfrm>
            <a:off x="502920" y="3977640"/>
            <a:ext cx="11185855" cy="1874520"/>
          </a:xfrm>
          <a:prstGeom prst="roundRect">
            <a:avLst>
              <a:gd name="adj" fmla="val 4878"/>
            </a:avLst>
          </a:prstGeom>
          <a:solidFill>
            <a:srgbClr val="F5F7F9"/>
          </a:solidFill>
          <a:ln w="12700">
            <a:solidFill>
              <a:srgbClr val="D9DEE5"/>
            </a:solidFill>
            <a:prstDash val="solid"/>
          </a:ln>
        </p:spPr>
      </p:sp>
      <p:sp>
        <p:nvSpPr>
          <p:cNvPr id="28" name="Text 25"/>
          <p:cNvSpPr/>
          <p:nvPr/>
        </p:nvSpPr>
        <p:spPr>
          <a:xfrm>
            <a:off x="777240" y="4114800"/>
            <a:ext cx="5486400" cy="274320"/>
          </a:xfrm>
          <a:prstGeom prst="rect">
            <a:avLst/>
          </a:prstGeom>
          <a:noFill/>
          <a:ln/>
        </p:spPr>
        <p:txBody>
          <a:bodyPr wrap="square" lIns="0" tIns="0" rIns="0" bIns="0" rtlCol="0" anchor="ctr"/>
          <a:lstStyle/>
          <a:p>
            <a:pPr indent="0" marL="0">
              <a:buNone/>
            </a:pPr>
            <a:r>
              <a:rPr lang="en-US" sz="1100" dirty="0">
                <a:solidFill>
                  <a:srgbClr val="222F44"/>
                </a:solidFill>
                <a:latin typeface="Poppins SemiBold" pitchFamily="34" charset="0"/>
                <a:ea typeface="Poppins SemiBold" pitchFamily="34" charset="-122"/>
                <a:cs typeface="Poppins SemiBold" pitchFamily="34" charset="-120"/>
              </a:rPr>
              <a:t>Gross revenue evolution  —  BRL Mn</a:t>
            </a:r>
            <a:endParaRPr lang="en-US" sz="1100" dirty="0"/>
          </a:p>
        </p:txBody>
      </p:sp>
      <p:sp>
        <p:nvSpPr>
          <p:cNvPr id="29" name="Shape 26"/>
          <p:cNvSpPr/>
          <p:nvPr/>
        </p:nvSpPr>
        <p:spPr>
          <a:xfrm>
            <a:off x="9859975" y="4096512"/>
            <a:ext cx="1554480" cy="365760"/>
          </a:xfrm>
          <a:prstGeom prst="roundRect">
            <a:avLst>
              <a:gd name="adj" fmla="val 15000"/>
            </a:avLst>
          </a:prstGeom>
          <a:solidFill>
            <a:srgbClr val="E9EDF2"/>
          </a:solidFill>
          <a:ln/>
        </p:spPr>
      </p:sp>
      <p:sp>
        <p:nvSpPr>
          <p:cNvPr id="30" name="Text 27"/>
          <p:cNvSpPr/>
          <p:nvPr/>
        </p:nvSpPr>
        <p:spPr>
          <a:xfrm>
            <a:off x="9859975" y="4096512"/>
            <a:ext cx="1554480" cy="365760"/>
          </a:xfrm>
          <a:prstGeom prst="rect">
            <a:avLst/>
          </a:prstGeom>
          <a:noFill/>
          <a:ln/>
        </p:spPr>
        <p:txBody>
          <a:bodyPr wrap="square" lIns="0" tIns="0" rIns="0" bIns="0" rtlCol="0" anchor="ctr"/>
          <a:lstStyle/>
          <a:p>
            <a:pPr algn="ctr" indent="0" marL="0">
              <a:buNone/>
            </a:pPr>
            <a:r>
              <a:rPr lang="en-US" sz="1050" dirty="0">
                <a:solidFill>
                  <a:srgbClr val="6B7686"/>
                </a:solidFill>
                <a:latin typeface="Poppins SemiBold" pitchFamily="34" charset="0"/>
                <a:ea typeface="Poppins SemiBold" pitchFamily="34" charset="-122"/>
                <a:cs typeface="Poppins SemiBold" pitchFamily="34" charset="-120"/>
              </a:rPr>
              <a:t>CAGR  [XX]%</a:t>
            </a:r>
            <a:endParaRPr lang="en-US" sz="1050" dirty="0"/>
          </a:p>
        </p:txBody>
      </p:sp>
      <p:sp>
        <p:nvSpPr>
          <p:cNvPr id="31" name="Text 28"/>
          <p:cNvSpPr/>
          <p:nvPr/>
        </p:nvSpPr>
        <p:spPr>
          <a:xfrm>
            <a:off x="777240" y="4937760"/>
            <a:ext cx="10637215" cy="457200"/>
          </a:xfrm>
          <a:prstGeom prst="rect">
            <a:avLst/>
          </a:prstGeom>
          <a:noFill/>
          <a:ln/>
        </p:spPr>
        <p:txBody>
          <a:bodyPr wrap="square" rtlCol="0" anchor="ctr"/>
          <a:lstStyle/>
          <a:p>
            <a:pPr algn="ctr" indent="0" marL="0">
              <a:buNone/>
            </a:pPr>
            <a:r>
              <a:rPr lang="en-US" sz="1100" i="1" dirty="0">
                <a:solidFill>
                  <a:srgbClr val="97A0AD"/>
                </a:solidFill>
                <a:latin typeface="Poppins" pitchFamily="34" charset="0"/>
                <a:ea typeface="Poppins" pitchFamily="34" charset="-122"/>
                <a:cs typeface="Poppins" pitchFamily="34" charset="-120"/>
              </a:rPr>
              <a:t>Revenue history and projection pending Company data</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assets/igc_navy.png">    </p:cNvPr>
          <p:cNvPicPr>
            <a:picLocks noChangeAspect="1"/>
          </p:cNvPicPr>
          <p:nvPr/>
        </p:nvPicPr>
        <p:blipFill>
          <a:blip r:embed="rId1"/>
          <a:stretch>
            <a:fillRect/>
          </a:stretch>
        </p:blipFill>
        <p:spPr>
          <a:xfrm>
            <a:off x="11121847" y="310896"/>
            <a:ext cx="566928" cy="490078"/>
          </a:xfrm>
          <a:prstGeom prst="rect">
            <a:avLst/>
          </a:prstGeom>
        </p:spPr>
      </p:pic>
      <p:sp>
        <p:nvSpPr>
          <p:cNvPr id="3" name="Text 0"/>
          <p:cNvSpPr/>
          <p:nvPr/>
        </p:nvSpPr>
        <p:spPr>
          <a:xfrm>
            <a:off x="502920" y="384048"/>
            <a:ext cx="7315200" cy="256032"/>
          </a:xfrm>
          <a:prstGeom prst="rect">
            <a:avLst/>
          </a:prstGeom>
          <a:noFill/>
          <a:ln/>
        </p:spPr>
        <p:txBody>
          <a:bodyPr wrap="square" rtlCol="0" anchor="ctr"/>
          <a:lstStyle/>
          <a:p>
            <a:pPr algn="l" indent="0" marL="0">
              <a:buNone/>
            </a:pPr>
            <a:r>
              <a:rPr lang="en-US" sz="1050" spc="200" kern="0" dirty="0">
                <a:solidFill>
                  <a:srgbClr val="F35B1A"/>
                </a:solidFill>
                <a:latin typeface="Poppins SemiBold" pitchFamily="34" charset="0"/>
                <a:ea typeface="Poppins SemiBold" pitchFamily="34" charset="-122"/>
                <a:cs typeface="Poppins SemiBold" pitchFamily="34" charset="-120"/>
              </a:rPr>
              <a:t>COMPANY OVERVIEW</a:t>
            </a:r>
            <a:endParaRPr lang="en-US" sz="1050" dirty="0"/>
          </a:p>
        </p:txBody>
      </p:sp>
      <p:sp>
        <p:nvSpPr>
          <p:cNvPr id="4" name="Text 1"/>
          <p:cNvSpPr/>
          <p:nvPr/>
        </p:nvSpPr>
        <p:spPr>
          <a:xfrm>
            <a:off x="502920" y="603504"/>
            <a:ext cx="10408615" cy="640080"/>
          </a:xfrm>
          <a:prstGeom prst="rect">
            <a:avLst/>
          </a:prstGeom>
          <a:noFill/>
          <a:ln/>
        </p:spPr>
        <p:txBody>
          <a:bodyPr wrap="square" rtlCol="0" anchor="t"/>
          <a:lstStyle/>
          <a:p>
            <a:pPr algn="l" indent="0" marL="0">
              <a:buNone/>
            </a:pPr>
            <a:r>
              <a:rPr lang="en-US" sz="2500" dirty="0">
                <a:solidFill>
                  <a:srgbClr val="222F44"/>
                </a:solidFill>
                <a:latin typeface="Source Serif Pro SemiBold" pitchFamily="34" charset="0"/>
                <a:ea typeface="Source Serif Pro SemiBold" pitchFamily="34" charset="-122"/>
                <a:cs typeface="Source Serif Pro SemiBold" pitchFamily="34" charset="-120"/>
              </a:rPr>
              <a:t>An experienced and committed management team</a:t>
            </a:r>
            <a:endParaRPr lang="en-US" sz="2500" dirty="0"/>
          </a:p>
        </p:txBody>
      </p:sp>
      <p:sp>
        <p:nvSpPr>
          <p:cNvPr id="5" name="Text 2"/>
          <p:cNvSpPr/>
          <p:nvPr/>
        </p:nvSpPr>
        <p:spPr>
          <a:xfrm>
            <a:off x="502920" y="1225296"/>
            <a:ext cx="10408615" cy="457200"/>
          </a:xfrm>
          <a:prstGeom prst="rect">
            <a:avLst/>
          </a:prstGeom>
          <a:noFill/>
          <a:ln/>
        </p:spPr>
        <p:txBody>
          <a:bodyPr wrap="square" rtlCol="0" anchor="t"/>
          <a:lstStyle/>
          <a:p>
            <a:pPr algn="l" indent="0" marL="0">
              <a:buNone/>
            </a:pPr>
            <a:r>
              <a:rPr lang="en-US" sz="1250" dirty="0">
                <a:solidFill>
                  <a:srgbClr val="6B7686"/>
                </a:solidFill>
                <a:latin typeface="Poppins" pitchFamily="34" charset="0"/>
                <a:ea typeface="Poppins" pitchFamily="34" charset="-122"/>
                <a:cs typeface="Poppins" pitchFamily="34" charset="-120"/>
              </a:rPr>
              <a:t>Management team overview — names, roles and backgrounds to be confirmed with the Company</a:t>
            </a:r>
            <a:endParaRPr lang="en-US" sz="1250" dirty="0"/>
          </a:p>
        </p:txBody>
      </p:sp>
      <p:sp>
        <p:nvSpPr>
          <p:cNvPr id="6" name="Text 3"/>
          <p:cNvSpPr/>
          <p:nvPr/>
        </p:nvSpPr>
        <p:spPr>
          <a:xfrm>
            <a:off x="502920" y="6547104"/>
            <a:ext cx="10180015" cy="237744"/>
          </a:xfrm>
          <a:prstGeom prst="rect">
            <a:avLst/>
          </a:prstGeom>
          <a:noFill/>
          <a:ln/>
        </p:spPr>
        <p:txBody>
          <a:bodyPr wrap="square" rtlCol="0" anchor="ctr"/>
          <a:lstStyle/>
          <a:p>
            <a:pPr algn="l" indent="0" marL="0">
              <a:buNone/>
            </a:pPr>
            <a:r>
              <a:rPr lang="en-US" sz="700" dirty="0">
                <a:solidFill>
                  <a:srgbClr val="97A0AD"/>
                </a:solidFill>
                <a:latin typeface="Poppins" pitchFamily="34" charset="0"/>
                <a:ea typeface="Poppins" pitchFamily="34" charset="-122"/>
                <a:cs typeface="Poppins" pitchFamily="34" charset="-120"/>
              </a:rPr>
              <a:t>Source: Company. Roles and backgrounds to be confirmed with management.</a:t>
            </a:r>
            <a:endParaRPr lang="en-US" sz="700" dirty="0"/>
          </a:p>
        </p:txBody>
      </p:sp>
      <p:sp>
        <p:nvSpPr>
          <p:cNvPr id="7" name="Text 4"/>
          <p:cNvSpPr/>
          <p:nvPr/>
        </p:nvSpPr>
        <p:spPr>
          <a:xfrm>
            <a:off x="10728655" y="6547104"/>
            <a:ext cx="960120" cy="237744"/>
          </a:xfrm>
          <a:prstGeom prst="rect">
            <a:avLst/>
          </a:prstGeom>
          <a:noFill/>
          <a:ln/>
        </p:spPr>
        <p:txBody>
          <a:bodyPr wrap="square" rtlCol="0" anchor="ctr"/>
          <a:lstStyle/>
          <a:p>
            <a:pPr algn="r" indent="0" marL="0">
              <a:buNone/>
            </a:pPr>
            <a:r>
              <a:rPr lang="en-US" sz="850" dirty="0">
                <a:solidFill>
                  <a:srgbClr val="97A0AD"/>
                </a:solidFill>
                <a:latin typeface="Poppins Medium" pitchFamily="34" charset="0"/>
                <a:ea typeface="Poppins Medium" pitchFamily="34" charset="-122"/>
                <a:cs typeface="Poppins Medium" pitchFamily="34" charset="-120"/>
              </a:rPr>
              <a:t>Confidential   </a:t>
            </a:r>
            <a:pPr algn="r" indent="0" marL="0">
              <a:buNone/>
            </a:pPr>
            <a:r>
              <a:rPr lang="en-US" sz="850" b="1" dirty="0">
                <a:solidFill>
                  <a:srgbClr val="222F44"/>
                </a:solidFill>
                <a:latin typeface="Poppins Medium" pitchFamily="34" charset="0"/>
                <a:ea typeface="Poppins Medium" pitchFamily="34" charset="-122"/>
                <a:cs typeface="Poppins Medium" pitchFamily="34" charset="-120"/>
              </a:rPr>
              <a:t>15</a:t>
            </a:r>
            <a:endParaRPr lang="en-US" sz="850" dirty="0"/>
          </a:p>
        </p:txBody>
      </p:sp>
      <p:sp>
        <p:nvSpPr>
          <p:cNvPr id="8" name="Shape 5"/>
          <p:cNvSpPr/>
          <p:nvPr/>
        </p:nvSpPr>
        <p:spPr>
          <a:xfrm>
            <a:off x="502920" y="2011680"/>
            <a:ext cx="1944563" cy="3566160"/>
          </a:xfrm>
          <a:prstGeom prst="roundRect">
            <a:avLst>
              <a:gd name="adj" fmla="val 4702"/>
            </a:avLst>
          </a:prstGeom>
          <a:solidFill>
            <a:srgbClr val="FFFFFF"/>
          </a:solidFill>
          <a:ln w="12700">
            <a:solidFill>
              <a:srgbClr val="D9DEE5"/>
            </a:solidFill>
            <a:prstDash val="solid"/>
          </a:ln>
          <a:effectLst>
            <a:outerShdw sx="100000" sy="100000" kx="0" ky="0" algn="bl" rotWithShape="0" blurRad="88900" dist="25400" dir="5400000">
              <a:srgbClr val="9AA6B4">
                <a:alpha val="28000"/>
              </a:srgbClr>
            </a:outerShdw>
          </a:effectLst>
        </p:spPr>
      </p:sp>
      <p:sp>
        <p:nvSpPr>
          <p:cNvPr id="9" name="Shape 6"/>
          <p:cNvSpPr/>
          <p:nvPr/>
        </p:nvSpPr>
        <p:spPr>
          <a:xfrm>
            <a:off x="835122" y="2331720"/>
            <a:ext cx="1280160" cy="1280160"/>
          </a:xfrm>
          <a:prstGeom prst="ellipse">
            <a:avLst/>
          </a:prstGeom>
          <a:solidFill>
            <a:srgbClr val="222F44"/>
          </a:solidFill>
          <a:ln/>
        </p:spPr>
      </p:sp>
      <p:sp>
        <p:nvSpPr>
          <p:cNvPr id="10" name="Text 7"/>
          <p:cNvSpPr/>
          <p:nvPr/>
        </p:nvSpPr>
        <p:spPr>
          <a:xfrm>
            <a:off x="835122" y="2331720"/>
            <a:ext cx="1280160" cy="1280160"/>
          </a:xfrm>
          <a:prstGeom prst="rect">
            <a:avLst/>
          </a:prstGeom>
          <a:noFill/>
          <a:ln/>
        </p:spPr>
        <p:txBody>
          <a:bodyPr wrap="square" lIns="0" tIns="0" rIns="0" bIns="0" rtlCol="0" anchor="ctr"/>
          <a:lstStyle/>
          <a:p>
            <a:pPr algn="ctr" indent="0" marL="0">
              <a:buNone/>
            </a:pPr>
            <a:r>
              <a:rPr lang="en-US" sz="3400" dirty="0">
                <a:solidFill>
                  <a:srgbClr val="FFFFFF"/>
                </a:solidFill>
                <a:latin typeface="Source Serif Pro Black" pitchFamily="34" charset="0"/>
                <a:ea typeface="Source Serif Pro Black" pitchFamily="34" charset="-122"/>
                <a:cs typeface="Source Serif Pro Black" pitchFamily="34" charset="-120"/>
              </a:rPr>
              <a:t>AG</a:t>
            </a:r>
            <a:endParaRPr lang="en-US" sz="3400" dirty="0"/>
          </a:p>
        </p:txBody>
      </p:sp>
      <p:sp>
        <p:nvSpPr>
          <p:cNvPr id="11" name="Text 8"/>
          <p:cNvSpPr/>
          <p:nvPr/>
        </p:nvSpPr>
        <p:spPr>
          <a:xfrm>
            <a:off x="594360" y="3794760"/>
            <a:ext cx="1761683" cy="320040"/>
          </a:xfrm>
          <a:prstGeom prst="rect">
            <a:avLst/>
          </a:prstGeom>
          <a:noFill/>
          <a:ln/>
        </p:spPr>
        <p:txBody>
          <a:bodyPr wrap="square" lIns="0" tIns="0" rIns="0" bIns="0" rtlCol="0" anchor="ctr"/>
          <a:lstStyle/>
          <a:p>
            <a:pPr algn="ctr" indent="0" marL="0">
              <a:buNone/>
            </a:pPr>
            <a:r>
              <a:rPr lang="en-US" sz="1250" dirty="0">
                <a:solidFill>
                  <a:srgbClr val="222F44"/>
                </a:solidFill>
                <a:latin typeface="Poppins SemiBold" pitchFamily="34" charset="0"/>
                <a:ea typeface="Poppins SemiBold" pitchFamily="34" charset="-122"/>
                <a:cs typeface="Poppins SemiBold" pitchFamily="34" charset="-120"/>
              </a:rPr>
              <a:t>Antônio Gabriel</a:t>
            </a:r>
            <a:endParaRPr lang="en-US" sz="1250" dirty="0"/>
          </a:p>
        </p:txBody>
      </p:sp>
      <p:sp>
        <p:nvSpPr>
          <p:cNvPr id="12" name="Text 9"/>
          <p:cNvSpPr/>
          <p:nvPr/>
        </p:nvSpPr>
        <p:spPr>
          <a:xfrm>
            <a:off x="594360" y="4114800"/>
            <a:ext cx="1761683" cy="274320"/>
          </a:xfrm>
          <a:prstGeom prst="rect">
            <a:avLst/>
          </a:prstGeom>
          <a:noFill/>
          <a:ln/>
        </p:spPr>
        <p:txBody>
          <a:bodyPr wrap="square" lIns="0" tIns="0" rIns="0" bIns="0" rtlCol="0" anchor="ctr"/>
          <a:lstStyle/>
          <a:p>
            <a:pPr algn="ctr" indent="0" marL="0">
              <a:buNone/>
            </a:pPr>
            <a:r>
              <a:rPr lang="en-US" sz="950" dirty="0">
                <a:solidFill>
                  <a:srgbClr val="F35B1A"/>
                </a:solidFill>
                <a:latin typeface="Poppins" pitchFamily="34" charset="0"/>
                <a:ea typeface="Poppins" pitchFamily="34" charset="-122"/>
                <a:cs typeface="Poppins" pitchFamily="34" charset="-120"/>
              </a:rPr>
              <a:t>[Role — TBC]</a:t>
            </a:r>
            <a:endParaRPr lang="en-US" sz="950" dirty="0"/>
          </a:p>
        </p:txBody>
      </p:sp>
      <p:sp>
        <p:nvSpPr>
          <p:cNvPr id="13" name="Shape 10"/>
          <p:cNvSpPr/>
          <p:nvPr/>
        </p:nvSpPr>
        <p:spPr>
          <a:xfrm>
            <a:off x="868680" y="4498848"/>
            <a:ext cx="1213043" cy="0"/>
          </a:xfrm>
          <a:prstGeom prst="line">
            <a:avLst/>
          </a:prstGeom>
          <a:noFill/>
          <a:ln w="12700">
            <a:solidFill>
              <a:srgbClr val="D9DEE5"/>
            </a:solidFill>
            <a:prstDash val="solid"/>
          </a:ln>
        </p:spPr>
      </p:sp>
      <p:sp>
        <p:nvSpPr>
          <p:cNvPr id="14" name="Text 11"/>
          <p:cNvSpPr/>
          <p:nvPr/>
        </p:nvSpPr>
        <p:spPr>
          <a:xfrm>
            <a:off x="731520" y="4617720"/>
            <a:ext cx="1487363" cy="822960"/>
          </a:xfrm>
          <a:prstGeom prst="rect">
            <a:avLst/>
          </a:prstGeom>
          <a:noFill/>
          <a:ln/>
        </p:spPr>
        <p:txBody>
          <a:bodyPr wrap="square" lIns="0" tIns="0" rIns="0" bIns="0" rtlCol="0" anchor="t"/>
          <a:lstStyle/>
          <a:p>
            <a:pPr algn="ctr" indent="0" marL="0">
              <a:lnSpc>
                <a:spcPct val="105000"/>
              </a:lnSpc>
              <a:buNone/>
            </a:pPr>
            <a:r>
              <a:rPr lang="en-US" sz="880" dirty="0">
                <a:solidFill>
                  <a:srgbClr val="6B7686"/>
                </a:solidFill>
                <a:latin typeface="Poppins" pitchFamily="34" charset="0"/>
                <a:ea typeface="Poppins" pitchFamily="34" charset="-122"/>
                <a:cs typeface="Poppins" pitchFamily="34" charset="-120"/>
              </a:rPr>
              <a:t>[Background — to be</a:t>
            </a:r>
            <a:endParaRPr lang="en-US" sz="880" dirty="0"/>
          </a:p>
          <a:p>
            <a:pPr algn="ctr" indent="0" marL="0">
              <a:lnSpc>
                <a:spcPct val="105000"/>
              </a:lnSpc>
              <a:buNone/>
            </a:pPr>
            <a:r>
              <a:rPr lang="en-US" sz="880" dirty="0">
                <a:solidFill>
                  <a:srgbClr val="6B7686"/>
                </a:solidFill>
                <a:latin typeface="Poppins" pitchFamily="34" charset="0"/>
                <a:ea typeface="Poppins" pitchFamily="34" charset="-122"/>
                <a:cs typeface="Poppins" pitchFamily="34" charset="-120"/>
              </a:rPr>
              <a:t>confirmed with the</a:t>
            </a:r>
            <a:endParaRPr lang="en-US" sz="880" dirty="0"/>
          </a:p>
          <a:p>
            <a:pPr algn="ctr" indent="0" marL="0">
              <a:lnSpc>
                <a:spcPct val="105000"/>
              </a:lnSpc>
              <a:buNone/>
            </a:pPr>
            <a:r>
              <a:rPr lang="en-US" sz="880" dirty="0">
                <a:solidFill>
                  <a:srgbClr val="6B7686"/>
                </a:solidFill>
                <a:latin typeface="Poppins" pitchFamily="34" charset="0"/>
                <a:ea typeface="Poppins" pitchFamily="34" charset="-122"/>
                <a:cs typeface="Poppins" pitchFamily="34" charset="-120"/>
              </a:rPr>
              <a:t>Company]</a:t>
            </a:r>
            <a:endParaRPr lang="en-US" sz="880" dirty="0"/>
          </a:p>
        </p:txBody>
      </p:sp>
      <p:sp>
        <p:nvSpPr>
          <p:cNvPr id="15" name="Shape 12"/>
          <p:cNvSpPr/>
          <p:nvPr/>
        </p:nvSpPr>
        <p:spPr>
          <a:xfrm>
            <a:off x="2813243" y="2011680"/>
            <a:ext cx="1944563" cy="3566160"/>
          </a:xfrm>
          <a:prstGeom prst="roundRect">
            <a:avLst>
              <a:gd name="adj" fmla="val 4702"/>
            </a:avLst>
          </a:prstGeom>
          <a:solidFill>
            <a:srgbClr val="FFFFFF"/>
          </a:solidFill>
          <a:ln w="12700">
            <a:solidFill>
              <a:srgbClr val="D9DEE5"/>
            </a:solidFill>
            <a:prstDash val="solid"/>
          </a:ln>
          <a:effectLst>
            <a:outerShdw sx="100000" sy="100000" kx="0" ky="0" algn="bl" rotWithShape="0" blurRad="88900" dist="25400" dir="5400000">
              <a:srgbClr val="9AA6B4">
                <a:alpha val="28000"/>
              </a:srgbClr>
            </a:outerShdw>
          </a:effectLst>
        </p:spPr>
      </p:sp>
      <p:sp>
        <p:nvSpPr>
          <p:cNvPr id="16" name="Shape 13"/>
          <p:cNvSpPr/>
          <p:nvPr/>
        </p:nvSpPr>
        <p:spPr>
          <a:xfrm>
            <a:off x="3145445" y="2331720"/>
            <a:ext cx="1280160" cy="1280160"/>
          </a:xfrm>
          <a:prstGeom prst="ellipse">
            <a:avLst/>
          </a:prstGeom>
          <a:solidFill>
            <a:srgbClr val="222F44"/>
          </a:solidFill>
          <a:ln/>
        </p:spPr>
      </p:sp>
      <p:sp>
        <p:nvSpPr>
          <p:cNvPr id="17" name="Text 14"/>
          <p:cNvSpPr/>
          <p:nvPr/>
        </p:nvSpPr>
        <p:spPr>
          <a:xfrm>
            <a:off x="3145445" y="2331720"/>
            <a:ext cx="1280160" cy="1280160"/>
          </a:xfrm>
          <a:prstGeom prst="rect">
            <a:avLst/>
          </a:prstGeom>
          <a:noFill/>
          <a:ln/>
        </p:spPr>
        <p:txBody>
          <a:bodyPr wrap="square" lIns="0" tIns="0" rIns="0" bIns="0" rtlCol="0" anchor="ctr"/>
          <a:lstStyle/>
          <a:p>
            <a:pPr algn="ctr" indent="0" marL="0">
              <a:buNone/>
            </a:pPr>
            <a:r>
              <a:rPr lang="en-US" sz="3400" dirty="0">
                <a:solidFill>
                  <a:srgbClr val="FFFFFF"/>
                </a:solidFill>
                <a:latin typeface="Source Serif Pro Black" pitchFamily="34" charset="0"/>
                <a:ea typeface="Source Serif Pro Black" pitchFamily="34" charset="-122"/>
                <a:cs typeface="Source Serif Pro Black" pitchFamily="34" charset="-120"/>
              </a:rPr>
              <a:t>M</a:t>
            </a:r>
            <a:endParaRPr lang="en-US" sz="3400" dirty="0"/>
          </a:p>
        </p:txBody>
      </p:sp>
      <p:sp>
        <p:nvSpPr>
          <p:cNvPr id="18" name="Text 15"/>
          <p:cNvSpPr/>
          <p:nvPr/>
        </p:nvSpPr>
        <p:spPr>
          <a:xfrm>
            <a:off x="2904683" y="3794760"/>
            <a:ext cx="1761683" cy="320040"/>
          </a:xfrm>
          <a:prstGeom prst="rect">
            <a:avLst/>
          </a:prstGeom>
          <a:noFill/>
          <a:ln/>
        </p:spPr>
        <p:txBody>
          <a:bodyPr wrap="square" lIns="0" tIns="0" rIns="0" bIns="0" rtlCol="0" anchor="ctr"/>
          <a:lstStyle/>
          <a:p>
            <a:pPr algn="ctr" indent="0" marL="0">
              <a:buNone/>
            </a:pPr>
            <a:r>
              <a:rPr lang="en-US" sz="1250" dirty="0">
                <a:solidFill>
                  <a:srgbClr val="222F44"/>
                </a:solidFill>
                <a:latin typeface="Poppins SemiBold" pitchFamily="34" charset="0"/>
                <a:ea typeface="Poppins SemiBold" pitchFamily="34" charset="-122"/>
                <a:cs typeface="Poppins SemiBold" pitchFamily="34" charset="-120"/>
              </a:rPr>
              <a:t>Morgana</a:t>
            </a:r>
            <a:endParaRPr lang="en-US" sz="1250" dirty="0"/>
          </a:p>
        </p:txBody>
      </p:sp>
      <p:sp>
        <p:nvSpPr>
          <p:cNvPr id="19" name="Text 16"/>
          <p:cNvSpPr/>
          <p:nvPr/>
        </p:nvSpPr>
        <p:spPr>
          <a:xfrm>
            <a:off x="2904683" y="4114800"/>
            <a:ext cx="1761683" cy="274320"/>
          </a:xfrm>
          <a:prstGeom prst="rect">
            <a:avLst/>
          </a:prstGeom>
          <a:noFill/>
          <a:ln/>
        </p:spPr>
        <p:txBody>
          <a:bodyPr wrap="square" lIns="0" tIns="0" rIns="0" bIns="0" rtlCol="0" anchor="ctr"/>
          <a:lstStyle/>
          <a:p>
            <a:pPr algn="ctr" indent="0" marL="0">
              <a:buNone/>
            </a:pPr>
            <a:r>
              <a:rPr lang="en-US" sz="950" dirty="0">
                <a:solidFill>
                  <a:srgbClr val="F35B1A"/>
                </a:solidFill>
                <a:latin typeface="Poppins" pitchFamily="34" charset="0"/>
                <a:ea typeface="Poppins" pitchFamily="34" charset="-122"/>
                <a:cs typeface="Poppins" pitchFamily="34" charset="-120"/>
              </a:rPr>
              <a:t>[Role — TBC]</a:t>
            </a:r>
            <a:endParaRPr lang="en-US" sz="950" dirty="0"/>
          </a:p>
        </p:txBody>
      </p:sp>
      <p:sp>
        <p:nvSpPr>
          <p:cNvPr id="20" name="Shape 17"/>
          <p:cNvSpPr/>
          <p:nvPr/>
        </p:nvSpPr>
        <p:spPr>
          <a:xfrm>
            <a:off x="3179003" y="4498848"/>
            <a:ext cx="1213043" cy="0"/>
          </a:xfrm>
          <a:prstGeom prst="line">
            <a:avLst/>
          </a:prstGeom>
          <a:noFill/>
          <a:ln w="12700">
            <a:solidFill>
              <a:srgbClr val="D9DEE5"/>
            </a:solidFill>
            <a:prstDash val="solid"/>
          </a:ln>
        </p:spPr>
      </p:sp>
      <p:sp>
        <p:nvSpPr>
          <p:cNvPr id="21" name="Text 18"/>
          <p:cNvSpPr/>
          <p:nvPr/>
        </p:nvSpPr>
        <p:spPr>
          <a:xfrm>
            <a:off x="3041843" y="4617720"/>
            <a:ext cx="1487363" cy="822960"/>
          </a:xfrm>
          <a:prstGeom prst="rect">
            <a:avLst/>
          </a:prstGeom>
          <a:noFill/>
          <a:ln/>
        </p:spPr>
        <p:txBody>
          <a:bodyPr wrap="square" lIns="0" tIns="0" rIns="0" bIns="0" rtlCol="0" anchor="t"/>
          <a:lstStyle/>
          <a:p>
            <a:pPr algn="ctr" indent="0" marL="0">
              <a:lnSpc>
                <a:spcPct val="105000"/>
              </a:lnSpc>
              <a:buNone/>
            </a:pPr>
            <a:r>
              <a:rPr lang="en-US" sz="880" dirty="0">
                <a:solidFill>
                  <a:srgbClr val="6B7686"/>
                </a:solidFill>
                <a:latin typeface="Poppins" pitchFamily="34" charset="0"/>
                <a:ea typeface="Poppins" pitchFamily="34" charset="-122"/>
                <a:cs typeface="Poppins" pitchFamily="34" charset="-120"/>
              </a:rPr>
              <a:t>[Background — to be</a:t>
            </a:r>
            <a:endParaRPr lang="en-US" sz="880" dirty="0"/>
          </a:p>
          <a:p>
            <a:pPr algn="ctr" indent="0" marL="0">
              <a:lnSpc>
                <a:spcPct val="105000"/>
              </a:lnSpc>
              <a:buNone/>
            </a:pPr>
            <a:r>
              <a:rPr lang="en-US" sz="880" dirty="0">
                <a:solidFill>
                  <a:srgbClr val="6B7686"/>
                </a:solidFill>
                <a:latin typeface="Poppins" pitchFamily="34" charset="0"/>
                <a:ea typeface="Poppins" pitchFamily="34" charset="-122"/>
                <a:cs typeface="Poppins" pitchFamily="34" charset="-120"/>
              </a:rPr>
              <a:t>confirmed with the</a:t>
            </a:r>
            <a:endParaRPr lang="en-US" sz="880" dirty="0"/>
          </a:p>
          <a:p>
            <a:pPr algn="ctr" indent="0" marL="0">
              <a:lnSpc>
                <a:spcPct val="105000"/>
              </a:lnSpc>
              <a:buNone/>
            </a:pPr>
            <a:r>
              <a:rPr lang="en-US" sz="880" dirty="0">
                <a:solidFill>
                  <a:srgbClr val="6B7686"/>
                </a:solidFill>
                <a:latin typeface="Poppins" pitchFamily="34" charset="0"/>
                <a:ea typeface="Poppins" pitchFamily="34" charset="-122"/>
                <a:cs typeface="Poppins" pitchFamily="34" charset="-120"/>
              </a:rPr>
              <a:t>Company]</a:t>
            </a:r>
            <a:endParaRPr lang="en-US" sz="880" dirty="0"/>
          </a:p>
        </p:txBody>
      </p:sp>
      <p:sp>
        <p:nvSpPr>
          <p:cNvPr id="22" name="Shape 19"/>
          <p:cNvSpPr/>
          <p:nvPr/>
        </p:nvSpPr>
        <p:spPr>
          <a:xfrm>
            <a:off x="5123566" y="2011680"/>
            <a:ext cx="1944563" cy="3566160"/>
          </a:xfrm>
          <a:prstGeom prst="roundRect">
            <a:avLst>
              <a:gd name="adj" fmla="val 4702"/>
            </a:avLst>
          </a:prstGeom>
          <a:solidFill>
            <a:srgbClr val="FFFFFF"/>
          </a:solidFill>
          <a:ln w="12700">
            <a:solidFill>
              <a:srgbClr val="D9DEE5"/>
            </a:solidFill>
            <a:prstDash val="solid"/>
          </a:ln>
          <a:effectLst>
            <a:outerShdw sx="100000" sy="100000" kx="0" ky="0" algn="bl" rotWithShape="0" blurRad="88900" dist="25400" dir="5400000">
              <a:srgbClr val="9AA6B4">
                <a:alpha val="28000"/>
              </a:srgbClr>
            </a:outerShdw>
          </a:effectLst>
        </p:spPr>
      </p:sp>
      <p:sp>
        <p:nvSpPr>
          <p:cNvPr id="23" name="Shape 20"/>
          <p:cNvSpPr/>
          <p:nvPr/>
        </p:nvSpPr>
        <p:spPr>
          <a:xfrm>
            <a:off x="5455768" y="2331720"/>
            <a:ext cx="1280160" cy="1280160"/>
          </a:xfrm>
          <a:prstGeom prst="ellipse">
            <a:avLst/>
          </a:prstGeom>
          <a:solidFill>
            <a:srgbClr val="222F44"/>
          </a:solidFill>
          <a:ln/>
        </p:spPr>
      </p:sp>
      <p:sp>
        <p:nvSpPr>
          <p:cNvPr id="24" name="Text 21"/>
          <p:cNvSpPr/>
          <p:nvPr/>
        </p:nvSpPr>
        <p:spPr>
          <a:xfrm>
            <a:off x="5455768" y="2331720"/>
            <a:ext cx="1280160" cy="1280160"/>
          </a:xfrm>
          <a:prstGeom prst="rect">
            <a:avLst/>
          </a:prstGeom>
          <a:noFill/>
          <a:ln/>
        </p:spPr>
        <p:txBody>
          <a:bodyPr wrap="square" lIns="0" tIns="0" rIns="0" bIns="0" rtlCol="0" anchor="ctr"/>
          <a:lstStyle/>
          <a:p>
            <a:pPr algn="ctr" indent="0" marL="0">
              <a:buNone/>
            </a:pPr>
            <a:r>
              <a:rPr lang="en-US" sz="3400" dirty="0">
                <a:solidFill>
                  <a:srgbClr val="FFFFFF"/>
                </a:solidFill>
                <a:latin typeface="Source Serif Pro Black" pitchFamily="34" charset="0"/>
                <a:ea typeface="Source Serif Pro Black" pitchFamily="34" charset="-122"/>
                <a:cs typeface="Source Serif Pro Black" pitchFamily="34" charset="-120"/>
              </a:rPr>
              <a:t>P</a:t>
            </a:r>
            <a:endParaRPr lang="en-US" sz="3400" dirty="0"/>
          </a:p>
        </p:txBody>
      </p:sp>
      <p:sp>
        <p:nvSpPr>
          <p:cNvPr id="25" name="Text 22"/>
          <p:cNvSpPr/>
          <p:nvPr/>
        </p:nvSpPr>
        <p:spPr>
          <a:xfrm>
            <a:off x="5215006" y="3794760"/>
            <a:ext cx="1761683" cy="320040"/>
          </a:xfrm>
          <a:prstGeom prst="rect">
            <a:avLst/>
          </a:prstGeom>
          <a:noFill/>
          <a:ln/>
        </p:spPr>
        <p:txBody>
          <a:bodyPr wrap="square" lIns="0" tIns="0" rIns="0" bIns="0" rtlCol="0" anchor="ctr"/>
          <a:lstStyle/>
          <a:p>
            <a:pPr algn="ctr" indent="0" marL="0">
              <a:buNone/>
            </a:pPr>
            <a:r>
              <a:rPr lang="en-US" sz="1250" dirty="0">
                <a:solidFill>
                  <a:srgbClr val="222F44"/>
                </a:solidFill>
                <a:latin typeface="Poppins SemiBold" pitchFamily="34" charset="0"/>
                <a:ea typeface="Poppins SemiBold" pitchFamily="34" charset="-122"/>
                <a:cs typeface="Poppins SemiBold" pitchFamily="34" charset="-120"/>
              </a:rPr>
              <a:t>Pedro</a:t>
            </a:r>
            <a:endParaRPr lang="en-US" sz="1250" dirty="0"/>
          </a:p>
        </p:txBody>
      </p:sp>
      <p:sp>
        <p:nvSpPr>
          <p:cNvPr id="26" name="Text 23"/>
          <p:cNvSpPr/>
          <p:nvPr/>
        </p:nvSpPr>
        <p:spPr>
          <a:xfrm>
            <a:off x="5215006" y="4114800"/>
            <a:ext cx="1761683" cy="274320"/>
          </a:xfrm>
          <a:prstGeom prst="rect">
            <a:avLst/>
          </a:prstGeom>
          <a:noFill/>
          <a:ln/>
        </p:spPr>
        <p:txBody>
          <a:bodyPr wrap="square" lIns="0" tIns="0" rIns="0" bIns="0" rtlCol="0" anchor="ctr"/>
          <a:lstStyle/>
          <a:p>
            <a:pPr algn="ctr" indent="0" marL="0">
              <a:buNone/>
            </a:pPr>
            <a:r>
              <a:rPr lang="en-US" sz="950" dirty="0">
                <a:solidFill>
                  <a:srgbClr val="F35B1A"/>
                </a:solidFill>
                <a:latin typeface="Poppins" pitchFamily="34" charset="0"/>
                <a:ea typeface="Poppins" pitchFamily="34" charset="-122"/>
                <a:cs typeface="Poppins" pitchFamily="34" charset="-120"/>
              </a:rPr>
              <a:t>[Role — TBC]</a:t>
            </a:r>
            <a:endParaRPr lang="en-US" sz="950" dirty="0"/>
          </a:p>
        </p:txBody>
      </p:sp>
      <p:sp>
        <p:nvSpPr>
          <p:cNvPr id="27" name="Shape 24"/>
          <p:cNvSpPr/>
          <p:nvPr/>
        </p:nvSpPr>
        <p:spPr>
          <a:xfrm>
            <a:off x="5489326" y="4498848"/>
            <a:ext cx="1213043" cy="0"/>
          </a:xfrm>
          <a:prstGeom prst="line">
            <a:avLst/>
          </a:prstGeom>
          <a:noFill/>
          <a:ln w="12700">
            <a:solidFill>
              <a:srgbClr val="D9DEE5"/>
            </a:solidFill>
            <a:prstDash val="solid"/>
          </a:ln>
        </p:spPr>
      </p:sp>
      <p:sp>
        <p:nvSpPr>
          <p:cNvPr id="28" name="Text 25"/>
          <p:cNvSpPr/>
          <p:nvPr/>
        </p:nvSpPr>
        <p:spPr>
          <a:xfrm>
            <a:off x="5352166" y="4617720"/>
            <a:ext cx="1487363" cy="822960"/>
          </a:xfrm>
          <a:prstGeom prst="rect">
            <a:avLst/>
          </a:prstGeom>
          <a:noFill/>
          <a:ln/>
        </p:spPr>
        <p:txBody>
          <a:bodyPr wrap="square" lIns="0" tIns="0" rIns="0" bIns="0" rtlCol="0" anchor="t"/>
          <a:lstStyle/>
          <a:p>
            <a:pPr algn="ctr" indent="0" marL="0">
              <a:lnSpc>
                <a:spcPct val="105000"/>
              </a:lnSpc>
              <a:buNone/>
            </a:pPr>
            <a:r>
              <a:rPr lang="en-US" sz="880" dirty="0">
                <a:solidFill>
                  <a:srgbClr val="6B7686"/>
                </a:solidFill>
                <a:latin typeface="Poppins" pitchFamily="34" charset="0"/>
                <a:ea typeface="Poppins" pitchFamily="34" charset="-122"/>
                <a:cs typeface="Poppins" pitchFamily="34" charset="-120"/>
              </a:rPr>
              <a:t>[Background — to be</a:t>
            </a:r>
            <a:endParaRPr lang="en-US" sz="880" dirty="0"/>
          </a:p>
          <a:p>
            <a:pPr algn="ctr" indent="0" marL="0">
              <a:lnSpc>
                <a:spcPct val="105000"/>
              </a:lnSpc>
              <a:buNone/>
            </a:pPr>
            <a:r>
              <a:rPr lang="en-US" sz="880" dirty="0">
                <a:solidFill>
                  <a:srgbClr val="6B7686"/>
                </a:solidFill>
                <a:latin typeface="Poppins" pitchFamily="34" charset="0"/>
                <a:ea typeface="Poppins" pitchFamily="34" charset="-122"/>
                <a:cs typeface="Poppins" pitchFamily="34" charset="-120"/>
              </a:rPr>
              <a:t>confirmed with the</a:t>
            </a:r>
            <a:endParaRPr lang="en-US" sz="880" dirty="0"/>
          </a:p>
          <a:p>
            <a:pPr algn="ctr" indent="0" marL="0">
              <a:lnSpc>
                <a:spcPct val="105000"/>
              </a:lnSpc>
              <a:buNone/>
            </a:pPr>
            <a:r>
              <a:rPr lang="en-US" sz="880" dirty="0">
                <a:solidFill>
                  <a:srgbClr val="6B7686"/>
                </a:solidFill>
                <a:latin typeface="Poppins" pitchFamily="34" charset="0"/>
                <a:ea typeface="Poppins" pitchFamily="34" charset="-122"/>
                <a:cs typeface="Poppins" pitchFamily="34" charset="-120"/>
              </a:rPr>
              <a:t>Company]</a:t>
            </a:r>
            <a:endParaRPr lang="en-US" sz="880" dirty="0"/>
          </a:p>
        </p:txBody>
      </p:sp>
      <p:sp>
        <p:nvSpPr>
          <p:cNvPr id="29" name="Shape 26"/>
          <p:cNvSpPr/>
          <p:nvPr/>
        </p:nvSpPr>
        <p:spPr>
          <a:xfrm>
            <a:off x="7433889" y="2011680"/>
            <a:ext cx="1944563" cy="3566160"/>
          </a:xfrm>
          <a:prstGeom prst="roundRect">
            <a:avLst>
              <a:gd name="adj" fmla="val 4702"/>
            </a:avLst>
          </a:prstGeom>
          <a:solidFill>
            <a:srgbClr val="FFFFFF"/>
          </a:solidFill>
          <a:ln w="12700">
            <a:solidFill>
              <a:srgbClr val="D9DEE5"/>
            </a:solidFill>
            <a:prstDash val="solid"/>
          </a:ln>
          <a:effectLst>
            <a:outerShdw sx="100000" sy="100000" kx="0" ky="0" algn="bl" rotWithShape="0" blurRad="88900" dist="25400" dir="5400000">
              <a:srgbClr val="9AA6B4">
                <a:alpha val="28000"/>
              </a:srgbClr>
            </a:outerShdw>
          </a:effectLst>
        </p:spPr>
      </p:sp>
      <p:sp>
        <p:nvSpPr>
          <p:cNvPr id="30" name="Shape 27"/>
          <p:cNvSpPr/>
          <p:nvPr/>
        </p:nvSpPr>
        <p:spPr>
          <a:xfrm>
            <a:off x="7766091" y="2331720"/>
            <a:ext cx="1280160" cy="1280160"/>
          </a:xfrm>
          <a:prstGeom prst="ellipse">
            <a:avLst/>
          </a:prstGeom>
          <a:solidFill>
            <a:srgbClr val="222F44"/>
          </a:solidFill>
          <a:ln/>
        </p:spPr>
      </p:sp>
      <p:sp>
        <p:nvSpPr>
          <p:cNvPr id="31" name="Text 28"/>
          <p:cNvSpPr/>
          <p:nvPr/>
        </p:nvSpPr>
        <p:spPr>
          <a:xfrm>
            <a:off x="7766091" y="2331720"/>
            <a:ext cx="1280160" cy="1280160"/>
          </a:xfrm>
          <a:prstGeom prst="rect">
            <a:avLst/>
          </a:prstGeom>
          <a:noFill/>
          <a:ln/>
        </p:spPr>
        <p:txBody>
          <a:bodyPr wrap="square" lIns="0" tIns="0" rIns="0" bIns="0" rtlCol="0" anchor="ctr"/>
          <a:lstStyle/>
          <a:p>
            <a:pPr algn="ctr" indent="0" marL="0">
              <a:buNone/>
            </a:pPr>
            <a:r>
              <a:rPr lang="en-US" sz="3400" dirty="0">
                <a:solidFill>
                  <a:srgbClr val="FFFFFF"/>
                </a:solidFill>
                <a:latin typeface="Source Serif Pro Black" pitchFamily="34" charset="0"/>
                <a:ea typeface="Source Serif Pro Black" pitchFamily="34" charset="-122"/>
                <a:cs typeface="Source Serif Pro Black" pitchFamily="34" charset="-120"/>
              </a:rPr>
              <a:t>G</a:t>
            </a:r>
            <a:endParaRPr lang="en-US" sz="3400" dirty="0"/>
          </a:p>
        </p:txBody>
      </p:sp>
      <p:sp>
        <p:nvSpPr>
          <p:cNvPr id="32" name="Text 29"/>
          <p:cNvSpPr/>
          <p:nvPr/>
        </p:nvSpPr>
        <p:spPr>
          <a:xfrm>
            <a:off x="7525329" y="3794760"/>
            <a:ext cx="1761683" cy="320040"/>
          </a:xfrm>
          <a:prstGeom prst="rect">
            <a:avLst/>
          </a:prstGeom>
          <a:noFill/>
          <a:ln/>
        </p:spPr>
        <p:txBody>
          <a:bodyPr wrap="square" lIns="0" tIns="0" rIns="0" bIns="0" rtlCol="0" anchor="ctr"/>
          <a:lstStyle/>
          <a:p>
            <a:pPr algn="ctr" indent="0" marL="0">
              <a:buNone/>
            </a:pPr>
            <a:r>
              <a:rPr lang="en-US" sz="1250" dirty="0">
                <a:solidFill>
                  <a:srgbClr val="222F44"/>
                </a:solidFill>
                <a:latin typeface="Poppins SemiBold" pitchFamily="34" charset="0"/>
                <a:ea typeface="Poppins SemiBold" pitchFamily="34" charset="-122"/>
                <a:cs typeface="Poppins SemiBold" pitchFamily="34" charset="-120"/>
              </a:rPr>
              <a:t>Gabriela</a:t>
            </a:r>
            <a:endParaRPr lang="en-US" sz="1250" dirty="0"/>
          </a:p>
        </p:txBody>
      </p:sp>
      <p:sp>
        <p:nvSpPr>
          <p:cNvPr id="33" name="Text 30"/>
          <p:cNvSpPr/>
          <p:nvPr/>
        </p:nvSpPr>
        <p:spPr>
          <a:xfrm>
            <a:off x="7525329" y="4114800"/>
            <a:ext cx="1761683" cy="274320"/>
          </a:xfrm>
          <a:prstGeom prst="rect">
            <a:avLst/>
          </a:prstGeom>
          <a:noFill/>
          <a:ln/>
        </p:spPr>
        <p:txBody>
          <a:bodyPr wrap="square" lIns="0" tIns="0" rIns="0" bIns="0" rtlCol="0" anchor="ctr"/>
          <a:lstStyle/>
          <a:p>
            <a:pPr algn="ctr" indent="0" marL="0">
              <a:buNone/>
            </a:pPr>
            <a:r>
              <a:rPr lang="en-US" sz="950" dirty="0">
                <a:solidFill>
                  <a:srgbClr val="F35B1A"/>
                </a:solidFill>
                <a:latin typeface="Poppins" pitchFamily="34" charset="0"/>
                <a:ea typeface="Poppins" pitchFamily="34" charset="-122"/>
                <a:cs typeface="Poppins" pitchFamily="34" charset="-120"/>
              </a:rPr>
              <a:t>[Role — TBC]</a:t>
            </a:r>
            <a:endParaRPr lang="en-US" sz="950" dirty="0"/>
          </a:p>
        </p:txBody>
      </p:sp>
      <p:sp>
        <p:nvSpPr>
          <p:cNvPr id="34" name="Shape 31"/>
          <p:cNvSpPr/>
          <p:nvPr/>
        </p:nvSpPr>
        <p:spPr>
          <a:xfrm>
            <a:off x="7799649" y="4498848"/>
            <a:ext cx="1213043" cy="0"/>
          </a:xfrm>
          <a:prstGeom prst="line">
            <a:avLst/>
          </a:prstGeom>
          <a:noFill/>
          <a:ln w="12700">
            <a:solidFill>
              <a:srgbClr val="D9DEE5"/>
            </a:solidFill>
            <a:prstDash val="solid"/>
          </a:ln>
        </p:spPr>
      </p:sp>
      <p:sp>
        <p:nvSpPr>
          <p:cNvPr id="35" name="Text 32"/>
          <p:cNvSpPr/>
          <p:nvPr/>
        </p:nvSpPr>
        <p:spPr>
          <a:xfrm>
            <a:off x="7662489" y="4617720"/>
            <a:ext cx="1487363" cy="822960"/>
          </a:xfrm>
          <a:prstGeom prst="rect">
            <a:avLst/>
          </a:prstGeom>
          <a:noFill/>
          <a:ln/>
        </p:spPr>
        <p:txBody>
          <a:bodyPr wrap="square" lIns="0" tIns="0" rIns="0" bIns="0" rtlCol="0" anchor="t"/>
          <a:lstStyle/>
          <a:p>
            <a:pPr algn="ctr" indent="0" marL="0">
              <a:lnSpc>
                <a:spcPct val="105000"/>
              </a:lnSpc>
              <a:buNone/>
            </a:pPr>
            <a:r>
              <a:rPr lang="en-US" sz="880" dirty="0">
                <a:solidFill>
                  <a:srgbClr val="6B7686"/>
                </a:solidFill>
                <a:latin typeface="Poppins" pitchFamily="34" charset="0"/>
                <a:ea typeface="Poppins" pitchFamily="34" charset="-122"/>
                <a:cs typeface="Poppins" pitchFamily="34" charset="-120"/>
              </a:rPr>
              <a:t>[Background — to be</a:t>
            </a:r>
            <a:endParaRPr lang="en-US" sz="880" dirty="0"/>
          </a:p>
          <a:p>
            <a:pPr algn="ctr" indent="0" marL="0">
              <a:lnSpc>
                <a:spcPct val="105000"/>
              </a:lnSpc>
              <a:buNone/>
            </a:pPr>
            <a:r>
              <a:rPr lang="en-US" sz="880" dirty="0">
                <a:solidFill>
                  <a:srgbClr val="6B7686"/>
                </a:solidFill>
                <a:latin typeface="Poppins" pitchFamily="34" charset="0"/>
                <a:ea typeface="Poppins" pitchFamily="34" charset="-122"/>
                <a:cs typeface="Poppins" pitchFamily="34" charset="-120"/>
              </a:rPr>
              <a:t>confirmed with the</a:t>
            </a:r>
            <a:endParaRPr lang="en-US" sz="880" dirty="0"/>
          </a:p>
          <a:p>
            <a:pPr algn="ctr" indent="0" marL="0">
              <a:lnSpc>
                <a:spcPct val="105000"/>
              </a:lnSpc>
              <a:buNone/>
            </a:pPr>
            <a:r>
              <a:rPr lang="en-US" sz="880" dirty="0">
                <a:solidFill>
                  <a:srgbClr val="6B7686"/>
                </a:solidFill>
                <a:latin typeface="Poppins" pitchFamily="34" charset="0"/>
                <a:ea typeface="Poppins" pitchFamily="34" charset="-122"/>
                <a:cs typeface="Poppins" pitchFamily="34" charset="-120"/>
              </a:rPr>
              <a:t>Company]</a:t>
            </a:r>
            <a:endParaRPr lang="en-US" sz="880" dirty="0"/>
          </a:p>
        </p:txBody>
      </p:sp>
      <p:sp>
        <p:nvSpPr>
          <p:cNvPr id="36" name="Shape 33"/>
          <p:cNvSpPr/>
          <p:nvPr/>
        </p:nvSpPr>
        <p:spPr>
          <a:xfrm>
            <a:off x="9744212" y="2011680"/>
            <a:ext cx="1944563" cy="3566160"/>
          </a:xfrm>
          <a:prstGeom prst="roundRect">
            <a:avLst>
              <a:gd name="adj" fmla="val 4702"/>
            </a:avLst>
          </a:prstGeom>
          <a:solidFill>
            <a:srgbClr val="FFFFFF"/>
          </a:solidFill>
          <a:ln w="12700">
            <a:solidFill>
              <a:srgbClr val="D9DEE5"/>
            </a:solidFill>
            <a:prstDash val="solid"/>
          </a:ln>
          <a:effectLst>
            <a:outerShdw sx="100000" sy="100000" kx="0" ky="0" algn="bl" rotWithShape="0" blurRad="88900" dist="25400" dir="5400000">
              <a:srgbClr val="9AA6B4">
                <a:alpha val="28000"/>
              </a:srgbClr>
            </a:outerShdw>
          </a:effectLst>
        </p:spPr>
      </p:sp>
      <p:sp>
        <p:nvSpPr>
          <p:cNvPr id="37" name="Shape 34"/>
          <p:cNvSpPr/>
          <p:nvPr/>
        </p:nvSpPr>
        <p:spPr>
          <a:xfrm>
            <a:off x="10076414" y="2331720"/>
            <a:ext cx="1280160" cy="1280160"/>
          </a:xfrm>
          <a:prstGeom prst="ellipse">
            <a:avLst/>
          </a:prstGeom>
          <a:solidFill>
            <a:srgbClr val="222F44"/>
          </a:solidFill>
          <a:ln/>
        </p:spPr>
      </p:sp>
      <p:sp>
        <p:nvSpPr>
          <p:cNvPr id="38" name="Text 35"/>
          <p:cNvSpPr/>
          <p:nvPr/>
        </p:nvSpPr>
        <p:spPr>
          <a:xfrm>
            <a:off x="10076414" y="2331720"/>
            <a:ext cx="1280160" cy="1280160"/>
          </a:xfrm>
          <a:prstGeom prst="rect">
            <a:avLst/>
          </a:prstGeom>
          <a:noFill/>
          <a:ln/>
        </p:spPr>
        <p:txBody>
          <a:bodyPr wrap="square" lIns="0" tIns="0" rIns="0" bIns="0" rtlCol="0" anchor="ctr"/>
          <a:lstStyle/>
          <a:p>
            <a:pPr algn="ctr" indent="0" marL="0">
              <a:buNone/>
            </a:pPr>
            <a:r>
              <a:rPr lang="en-US" sz="3400" dirty="0">
                <a:solidFill>
                  <a:srgbClr val="FFFFFF"/>
                </a:solidFill>
                <a:latin typeface="Source Serif Pro Black" pitchFamily="34" charset="0"/>
                <a:ea typeface="Source Serif Pro Black" pitchFamily="34" charset="-122"/>
                <a:cs typeface="Source Serif Pro Black" pitchFamily="34" charset="-120"/>
              </a:rPr>
              <a:t>?</a:t>
            </a:r>
            <a:endParaRPr lang="en-US" sz="3400" dirty="0"/>
          </a:p>
        </p:txBody>
      </p:sp>
      <p:sp>
        <p:nvSpPr>
          <p:cNvPr id="39" name="Text 36"/>
          <p:cNvSpPr/>
          <p:nvPr/>
        </p:nvSpPr>
        <p:spPr>
          <a:xfrm>
            <a:off x="9835652" y="3794760"/>
            <a:ext cx="1761683" cy="320040"/>
          </a:xfrm>
          <a:prstGeom prst="rect">
            <a:avLst/>
          </a:prstGeom>
          <a:noFill/>
          <a:ln/>
        </p:spPr>
        <p:txBody>
          <a:bodyPr wrap="square" lIns="0" tIns="0" rIns="0" bIns="0" rtlCol="0" anchor="ctr"/>
          <a:lstStyle/>
          <a:p>
            <a:pPr algn="ctr" indent="0" marL="0">
              <a:buNone/>
            </a:pPr>
            <a:r>
              <a:rPr lang="en-US" sz="1250" dirty="0">
                <a:solidFill>
                  <a:srgbClr val="222F44"/>
                </a:solidFill>
                <a:latin typeface="Poppins SemiBold" pitchFamily="34" charset="0"/>
                <a:ea typeface="Poppins SemiBold" pitchFamily="34" charset="-122"/>
                <a:cs typeface="Poppins SemiBold" pitchFamily="34" charset="-120"/>
              </a:rPr>
              <a:t>[Name TBC]</a:t>
            </a:r>
            <a:endParaRPr lang="en-US" sz="1250" dirty="0"/>
          </a:p>
        </p:txBody>
      </p:sp>
      <p:sp>
        <p:nvSpPr>
          <p:cNvPr id="40" name="Text 37"/>
          <p:cNvSpPr/>
          <p:nvPr/>
        </p:nvSpPr>
        <p:spPr>
          <a:xfrm>
            <a:off x="9835652" y="4114800"/>
            <a:ext cx="1761683" cy="274320"/>
          </a:xfrm>
          <a:prstGeom prst="rect">
            <a:avLst/>
          </a:prstGeom>
          <a:noFill/>
          <a:ln/>
        </p:spPr>
        <p:txBody>
          <a:bodyPr wrap="square" lIns="0" tIns="0" rIns="0" bIns="0" rtlCol="0" anchor="ctr"/>
          <a:lstStyle/>
          <a:p>
            <a:pPr algn="ctr" indent="0" marL="0">
              <a:buNone/>
            </a:pPr>
            <a:r>
              <a:rPr lang="en-US" sz="950" dirty="0">
                <a:solidFill>
                  <a:srgbClr val="F35B1A"/>
                </a:solidFill>
                <a:latin typeface="Poppins" pitchFamily="34" charset="0"/>
                <a:ea typeface="Poppins" pitchFamily="34" charset="-122"/>
                <a:cs typeface="Poppins" pitchFamily="34" charset="-120"/>
              </a:rPr>
              <a:t>[Role — TBC]</a:t>
            </a:r>
            <a:endParaRPr lang="en-US" sz="950" dirty="0"/>
          </a:p>
        </p:txBody>
      </p:sp>
      <p:sp>
        <p:nvSpPr>
          <p:cNvPr id="41" name="Shape 38"/>
          <p:cNvSpPr/>
          <p:nvPr/>
        </p:nvSpPr>
        <p:spPr>
          <a:xfrm>
            <a:off x="10109972" y="4498848"/>
            <a:ext cx="1213043" cy="0"/>
          </a:xfrm>
          <a:prstGeom prst="line">
            <a:avLst/>
          </a:prstGeom>
          <a:noFill/>
          <a:ln w="12700">
            <a:solidFill>
              <a:srgbClr val="D9DEE5"/>
            </a:solidFill>
            <a:prstDash val="solid"/>
          </a:ln>
        </p:spPr>
      </p:sp>
      <p:sp>
        <p:nvSpPr>
          <p:cNvPr id="42" name="Text 39"/>
          <p:cNvSpPr/>
          <p:nvPr/>
        </p:nvSpPr>
        <p:spPr>
          <a:xfrm>
            <a:off x="9972812" y="4617720"/>
            <a:ext cx="1487363" cy="822960"/>
          </a:xfrm>
          <a:prstGeom prst="rect">
            <a:avLst/>
          </a:prstGeom>
          <a:noFill/>
          <a:ln/>
        </p:spPr>
        <p:txBody>
          <a:bodyPr wrap="square" lIns="0" tIns="0" rIns="0" bIns="0" rtlCol="0" anchor="t"/>
          <a:lstStyle/>
          <a:p>
            <a:pPr algn="ctr" indent="0" marL="0">
              <a:lnSpc>
                <a:spcPct val="105000"/>
              </a:lnSpc>
              <a:buNone/>
            </a:pPr>
            <a:r>
              <a:rPr lang="en-US" sz="880" dirty="0">
                <a:solidFill>
                  <a:srgbClr val="6B7686"/>
                </a:solidFill>
                <a:latin typeface="Poppins" pitchFamily="34" charset="0"/>
                <a:ea typeface="Poppins" pitchFamily="34" charset="-122"/>
                <a:cs typeface="Poppins" pitchFamily="34" charset="-120"/>
              </a:rPr>
              <a:t>[Background — to be</a:t>
            </a:r>
            <a:endParaRPr lang="en-US" sz="880" dirty="0"/>
          </a:p>
          <a:p>
            <a:pPr algn="ctr" indent="0" marL="0">
              <a:lnSpc>
                <a:spcPct val="105000"/>
              </a:lnSpc>
              <a:buNone/>
            </a:pPr>
            <a:r>
              <a:rPr lang="en-US" sz="880" dirty="0">
                <a:solidFill>
                  <a:srgbClr val="6B7686"/>
                </a:solidFill>
                <a:latin typeface="Poppins" pitchFamily="34" charset="0"/>
                <a:ea typeface="Poppins" pitchFamily="34" charset="-122"/>
                <a:cs typeface="Poppins" pitchFamily="34" charset="-120"/>
              </a:rPr>
              <a:t>confirmed with the</a:t>
            </a:r>
            <a:endParaRPr lang="en-US" sz="880" dirty="0"/>
          </a:p>
          <a:p>
            <a:pPr algn="ctr" indent="0" marL="0">
              <a:lnSpc>
                <a:spcPct val="105000"/>
              </a:lnSpc>
              <a:buNone/>
            </a:pPr>
            <a:r>
              <a:rPr lang="en-US" sz="880" dirty="0">
                <a:solidFill>
                  <a:srgbClr val="6B7686"/>
                </a:solidFill>
                <a:latin typeface="Poppins" pitchFamily="34" charset="0"/>
                <a:ea typeface="Poppins" pitchFamily="34" charset="-122"/>
                <a:cs typeface="Poppins" pitchFamily="34" charset="-120"/>
              </a:rPr>
              <a:t>Company]</a:t>
            </a:r>
            <a:endParaRPr lang="en-US" sz="8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assets/igc_navy.png">    </p:cNvPr>
          <p:cNvPicPr>
            <a:picLocks noChangeAspect="1"/>
          </p:cNvPicPr>
          <p:nvPr/>
        </p:nvPicPr>
        <p:blipFill>
          <a:blip r:embed="rId1"/>
          <a:stretch>
            <a:fillRect/>
          </a:stretch>
        </p:blipFill>
        <p:spPr>
          <a:xfrm>
            <a:off x="11121847" y="310896"/>
            <a:ext cx="566928" cy="490078"/>
          </a:xfrm>
          <a:prstGeom prst="rect">
            <a:avLst/>
          </a:prstGeom>
        </p:spPr>
      </p:pic>
      <p:sp>
        <p:nvSpPr>
          <p:cNvPr id="3" name="Text 0"/>
          <p:cNvSpPr/>
          <p:nvPr/>
        </p:nvSpPr>
        <p:spPr>
          <a:xfrm>
            <a:off x="502920" y="384048"/>
            <a:ext cx="7315200" cy="256032"/>
          </a:xfrm>
          <a:prstGeom prst="rect">
            <a:avLst/>
          </a:prstGeom>
          <a:noFill/>
          <a:ln/>
        </p:spPr>
        <p:txBody>
          <a:bodyPr wrap="square" rtlCol="0" anchor="ctr"/>
          <a:lstStyle/>
          <a:p>
            <a:pPr algn="l" indent="0" marL="0">
              <a:buNone/>
            </a:pPr>
            <a:r>
              <a:rPr lang="en-US" sz="1050" spc="200" kern="0" dirty="0">
                <a:solidFill>
                  <a:srgbClr val="F35B1A"/>
                </a:solidFill>
                <a:latin typeface="Poppins SemiBold" pitchFamily="34" charset="0"/>
                <a:ea typeface="Poppins SemiBold" pitchFamily="34" charset="-122"/>
                <a:cs typeface="Poppins SemiBold" pitchFamily="34" charset="-120"/>
              </a:rPr>
              <a:t>COMPANY OVERVIEW</a:t>
            </a:r>
            <a:endParaRPr lang="en-US" sz="1050" dirty="0"/>
          </a:p>
        </p:txBody>
      </p:sp>
      <p:sp>
        <p:nvSpPr>
          <p:cNvPr id="4" name="Text 1"/>
          <p:cNvSpPr/>
          <p:nvPr/>
        </p:nvSpPr>
        <p:spPr>
          <a:xfrm>
            <a:off x="502920" y="603504"/>
            <a:ext cx="10408615" cy="640080"/>
          </a:xfrm>
          <a:prstGeom prst="rect">
            <a:avLst/>
          </a:prstGeom>
          <a:noFill/>
          <a:ln/>
        </p:spPr>
        <p:txBody>
          <a:bodyPr wrap="square" rtlCol="0" anchor="t"/>
          <a:lstStyle/>
          <a:p>
            <a:pPr algn="l" indent="0" marL="0">
              <a:buNone/>
            </a:pPr>
            <a:r>
              <a:rPr lang="en-US" sz="2500" dirty="0">
                <a:solidFill>
                  <a:srgbClr val="222F44"/>
                </a:solidFill>
                <a:latin typeface="Source Serif Pro SemiBold" pitchFamily="34" charset="0"/>
                <a:ea typeface="Source Serif Pro SemiBold" pitchFamily="34" charset="-122"/>
                <a:cs typeface="Source Serif Pro SemiBold" pitchFamily="34" charset="-120"/>
              </a:rPr>
              <a:t>Organization &amp; corporate structure</a:t>
            </a:r>
            <a:endParaRPr lang="en-US" sz="2500" dirty="0"/>
          </a:p>
        </p:txBody>
      </p:sp>
      <p:sp>
        <p:nvSpPr>
          <p:cNvPr id="5" name="Text 2"/>
          <p:cNvSpPr/>
          <p:nvPr/>
        </p:nvSpPr>
        <p:spPr>
          <a:xfrm>
            <a:off x="502920" y="1225296"/>
            <a:ext cx="10408615" cy="457200"/>
          </a:xfrm>
          <a:prstGeom prst="rect">
            <a:avLst/>
          </a:prstGeom>
          <a:noFill/>
          <a:ln/>
        </p:spPr>
        <p:txBody>
          <a:bodyPr wrap="square" rtlCol="0" anchor="t"/>
          <a:lstStyle/>
          <a:p>
            <a:pPr algn="l" indent="0" marL="0">
              <a:buNone/>
            </a:pPr>
            <a:r>
              <a:rPr lang="en-US" sz="1250" dirty="0">
                <a:solidFill>
                  <a:srgbClr val="6B7686"/>
                </a:solidFill>
                <a:latin typeface="Poppins" pitchFamily="34" charset="0"/>
                <a:ea typeface="Poppins" pitchFamily="34" charset="-122"/>
                <a:cs typeface="Poppins" pitchFamily="34" charset="-120"/>
              </a:rPr>
              <a:t>Mobi operates under a multi-entity structure (Grupo AGM Caetano / AGM Alpha) — simplified representation, to be confirmed</a:t>
            </a:r>
            <a:endParaRPr lang="en-US" sz="1250" dirty="0"/>
          </a:p>
        </p:txBody>
      </p:sp>
      <p:sp>
        <p:nvSpPr>
          <p:cNvPr id="6" name="Text 3"/>
          <p:cNvSpPr/>
          <p:nvPr/>
        </p:nvSpPr>
        <p:spPr>
          <a:xfrm>
            <a:off x="502920" y="6547104"/>
            <a:ext cx="10180015" cy="237744"/>
          </a:xfrm>
          <a:prstGeom prst="rect">
            <a:avLst/>
          </a:prstGeom>
          <a:noFill/>
          <a:ln/>
        </p:spPr>
        <p:txBody>
          <a:bodyPr wrap="square" rtlCol="0" anchor="ctr"/>
          <a:lstStyle/>
          <a:p>
            <a:pPr algn="l" indent="0" marL="0">
              <a:buNone/>
            </a:pPr>
            <a:r>
              <a:rPr lang="en-US" sz="700" dirty="0">
                <a:solidFill>
                  <a:srgbClr val="97A0AD"/>
                </a:solidFill>
                <a:latin typeface="Poppins" pitchFamily="34" charset="0"/>
                <a:ea typeface="Poppins" pitchFamily="34" charset="-122"/>
                <a:cs typeface="Poppins" pitchFamily="34" charset="-120"/>
              </a:rPr>
              <a:t>Source: Company. Simplified representation; entities and ownership to be confirmed with management.</a:t>
            </a:r>
            <a:endParaRPr lang="en-US" sz="700" dirty="0"/>
          </a:p>
        </p:txBody>
      </p:sp>
      <p:sp>
        <p:nvSpPr>
          <p:cNvPr id="7" name="Text 4"/>
          <p:cNvSpPr/>
          <p:nvPr/>
        </p:nvSpPr>
        <p:spPr>
          <a:xfrm>
            <a:off x="10728655" y="6547104"/>
            <a:ext cx="960120" cy="237744"/>
          </a:xfrm>
          <a:prstGeom prst="rect">
            <a:avLst/>
          </a:prstGeom>
          <a:noFill/>
          <a:ln/>
        </p:spPr>
        <p:txBody>
          <a:bodyPr wrap="square" rtlCol="0" anchor="ctr"/>
          <a:lstStyle/>
          <a:p>
            <a:pPr algn="r" indent="0" marL="0">
              <a:buNone/>
            </a:pPr>
            <a:r>
              <a:rPr lang="en-US" sz="850" dirty="0">
                <a:solidFill>
                  <a:srgbClr val="97A0AD"/>
                </a:solidFill>
                <a:latin typeface="Poppins Medium" pitchFamily="34" charset="0"/>
                <a:ea typeface="Poppins Medium" pitchFamily="34" charset="-122"/>
                <a:cs typeface="Poppins Medium" pitchFamily="34" charset="-120"/>
              </a:rPr>
              <a:t>Confidential   </a:t>
            </a:r>
            <a:pPr algn="r" indent="0" marL="0">
              <a:buNone/>
            </a:pPr>
            <a:r>
              <a:rPr lang="en-US" sz="850" b="1" dirty="0">
                <a:solidFill>
                  <a:srgbClr val="222F44"/>
                </a:solidFill>
                <a:latin typeface="Poppins Medium" pitchFamily="34" charset="0"/>
                <a:ea typeface="Poppins Medium" pitchFamily="34" charset="-122"/>
                <a:cs typeface="Poppins Medium" pitchFamily="34" charset="-120"/>
              </a:rPr>
              <a:t>16</a:t>
            </a:r>
            <a:endParaRPr lang="en-US" sz="850" dirty="0"/>
          </a:p>
        </p:txBody>
      </p:sp>
      <p:sp>
        <p:nvSpPr>
          <p:cNvPr id="8" name="Shape 5"/>
          <p:cNvSpPr/>
          <p:nvPr/>
        </p:nvSpPr>
        <p:spPr>
          <a:xfrm>
            <a:off x="4632808" y="1874520"/>
            <a:ext cx="2926080" cy="502920"/>
          </a:xfrm>
          <a:prstGeom prst="roundRect">
            <a:avLst>
              <a:gd name="adj" fmla="val 10909"/>
            </a:avLst>
          </a:prstGeom>
          <a:solidFill>
            <a:srgbClr val="F35B1A"/>
          </a:solidFill>
          <a:ln w="15875">
            <a:solidFill>
              <a:srgbClr val="F35B1A"/>
            </a:solidFill>
            <a:prstDash val="solid"/>
          </a:ln>
        </p:spPr>
      </p:sp>
      <p:sp>
        <p:nvSpPr>
          <p:cNvPr id="9" name="Text 6"/>
          <p:cNvSpPr/>
          <p:nvPr/>
        </p:nvSpPr>
        <p:spPr>
          <a:xfrm>
            <a:off x="4724248" y="1874520"/>
            <a:ext cx="2743200" cy="502920"/>
          </a:xfrm>
          <a:prstGeom prst="rect">
            <a:avLst/>
          </a:prstGeom>
          <a:noFill/>
          <a:ln/>
        </p:spPr>
        <p:txBody>
          <a:bodyPr wrap="square" lIns="0" tIns="0" rIns="0" bIns="0" rtlCol="0" anchor="ctr"/>
          <a:lstStyle/>
          <a:p>
            <a:pPr algn="ctr" indent="0" marL="0">
              <a:buNone/>
            </a:pPr>
            <a:r>
              <a:rPr lang="en-US" sz="1050" dirty="0">
                <a:solidFill>
                  <a:srgbClr val="FFFFFF"/>
                </a:solidFill>
                <a:latin typeface="Poppins SemiBold" pitchFamily="34" charset="0"/>
                <a:ea typeface="Poppins SemiBold" pitchFamily="34" charset="-122"/>
                <a:cs typeface="Poppins SemiBold" pitchFamily="34" charset="-120"/>
              </a:rPr>
              <a:t>Family Shareholders</a:t>
            </a:r>
            <a:endParaRPr lang="en-US" sz="1050" dirty="0"/>
          </a:p>
        </p:txBody>
      </p:sp>
      <p:sp>
        <p:nvSpPr>
          <p:cNvPr id="10" name="Shape 7"/>
          <p:cNvSpPr/>
          <p:nvPr/>
        </p:nvSpPr>
        <p:spPr>
          <a:xfrm>
            <a:off x="6095848" y="2377440"/>
            <a:ext cx="0" cy="320040"/>
          </a:xfrm>
          <a:prstGeom prst="line">
            <a:avLst/>
          </a:prstGeom>
          <a:noFill/>
          <a:ln w="12700">
            <a:solidFill>
              <a:srgbClr val="97A0AD"/>
            </a:solidFill>
            <a:prstDash val="solid"/>
          </a:ln>
        </p:spPr>
      </p:sp>
      <p:sp>
        <p:nvSpPr>
          <p:cNvPr id="11" name="Shape 8"/>
          <p:cNvSpPr/>
          <p:nvPr/>
        </p:nvSpPr>
        <p:spPr>
          <a:xfrm>
            <a:off x="4358488" y="2697480"/>
            <a:ext cx="3474720" cy="640080"/>
          </a:xfrm>
          <a:prstGeom prst="roundRect">
            <a:avLst>
              <a:gd name="adj" fmla="val 8571"/>
            </a:avLst>
          </a:prstGeom>
          <a:solidFill>
            <a:srgbClr val="222F44"/>
          </a:solidFill>
          <a:ln w="15875">
            <a:solidFill>
              <a:srgbClr val="222F44"/>
            </a:solidFill>
            <a:prstDash val="solid"/>
          </a:ln>
        </p:spPr>
      </p:sp>
      <p:sp>
        <p:nvSpPr>
          <p:cNvPr id="12" name="Text 9"/>
          <p:cNvSpPr/>
          <p:nvPr/>
        </p:nvSpPr>
        <p:spPr>
          <a:xfrm>
            <a:off x="4449928" y="2770632"/>
            <a:ext cx="3291840" cy="292608"/>
          </a:xfrm>
          <a:prstGeom prst="rect">
            <a:avLst/>
          </a:prstGeom>
          <a:noFill/>
          <a:ln/>
        </p:spPr>
        <p:txBody>
          <a:bodyPr wrap="square" lIns="0" tIns="0" rIns="0" bIns="0" rtlCol="0" anchor="t"/>
          <a:lstStyle/>
          <a:p>
            <a:pPr algn="ctr" indent="0" marL="0">
              <a:buNone/>
            </a:pPr>
            <a:r>
              <a:rPr lang="en-US" sz="1050" dirty="0">
                <a:solidFill>
                  <a:srgbClr val="FFFFFF"/>
                </a:solidFill>
                <a:latin typeface="Poppins SemiBold" pitchFamily="34" charset="0"/>
                <a:ea typeface="Poppins SemiBold" pitchFamily="34" charset="-122"/>
                <a:cs typeface="Poppins SemiBold" pitchFamily="34" charset="-120"/>
              </a:rPr>
              <a:t>AGM Caetano Participações</a:t>
            </a:r>
            <a:endParaRPr lang="en-US" sz="1050" dirty="0"/>
          </a:p>
        </p:txBody>
      </p:sp>
      <p:sp>
        <p:nvSpPr>
          <p:cNvPr id="13" name="Text 10"/>
          <p:cNvSpPr/>
          <p:nvPr/>
        </p:nvSpPr>
        <p:spPr>
          <a:xfrm>
            <a:off x="4449928" y="3026664"/>
            <a:ext cx="3291840" cy="274320"/>
          </a:xfrm>
          <a:prstGeom prst="rect">
            <a:avLst/>
          </a:prstGeom>
          <a:noFill/>
          <a:ln/>
        </p:spPr>
        <p:txBody>
          <a:bodyPr wrap="square" lIns="0" tIns="0" rIns="0" bIns="0" rtlCol="0" anchor="t"/>
          <a:lstStyle/>
          <a:p>
            <a:pPr algn="ctr" indent="0" marL="0">
              <a:buNone/>
            </a:pPr>
            <a:r>
              <a:rPr lang="en-US" sz="800" dirty="0">
                <a:solidFill>
                  <a:srgbClr val="C4CCD6"/>
                </a:solidFill>
                <a:latin typeface="Poppins" pitchFamily="34" charset="0"/>
                <a:ea typeface="Poppins" pitchFamily="34" charset="-122"/>
                <a:cs typeface="Poppins" pitchFamily="34" charset="-120"/>
              </a:rPr>
              <a:t>Holding company</a:t>
            </a:r>
            <a:endParaRPr lang="en-US" sz="800" dirty="0"/>
          </a:p>
        </p:txBody>
      </p:sp>
      <p:sp>
        <p:nvSpPr>
          <p:cNvPr id="14" name="Shape 11"/>
          <p:cNvSpPr/>
          <p:nvPr/>
        </p:nvSpPr>
        <p:spPr>
          <a:xfrm>
            <a:off x="6095848" y="3337560"/>
            <a:ext cx="0" cy="228600"/>
          </a:xfrm>
          <a:prstGeom prst="line">
            <a:avLst/>
          </a:prstGeom>
          <a:noFill/>
          <a:ln w="12700">
            <a:solidFill>
              <a:srgbClr val="97A0AD"/>
            </a:solidFill>
            <a:prstDash val="solid"/>
          </a:ln>
        </p:spPr>
      </p:sp>
      <p:sp>
        <p:nvSpPr>
          <p:cNvPr id="15" name="Shape 12"/>
          <p:cNvSpPr/>
          <p:nvPr/>
        </p:nvSpPr>
        <p:spPr>
          <a:xfrm>
            <a:off x="2392528" y="3566160"/>
            <a:ext cx="7406640" cy="0"/>
          </a:xfrm>
          <a:prstGeom prst="line">
            <a:avLst/>
          </a:prstGeom>
          <a:noFill/>
          <a:ln w="12700">
            <a:solidFill>
              <a:srgbClr val="97A0AD"/>
            </a:solidFill>
            <a:prstDash val="solid"/>
          </a:ln>
        </p:spPr>
      </p:sp>
      <p:sp>
        <p:nvSpPr>
          <p:cNvPr id="16" name="Shape 13"/>
          <p:cNvSpPr/>
          <p:nvPr/>
        </p:nvSpPr>
        <p:spPr>
          <a:xfrm>
            <a:off x="2392528" y="3566160"/>
            <a:ext cx="0" cy="228600"/>
          </a:xfrm>
          <a:prstGeom prst="line">
            <a:avLst/>
          </a:prstGeom>
          <a:noFill/>
          <a:ln w="12700">
            <a:solidFill>
              <a:srgbClr val="97A0AD"/>
            </a:solidFill>
            <a:prstDash val="solid"/>
          </a:ln>
        </p:spPr>
      </p:sp>
      <p:sp>
        <p:nvSpPr>
          <p:cNvPr id="17" name="Shape 14"/>
          <p:cNvSpPr/>
          <p:nvPr/>
        </p:nvSpPr>
        <p:spPr>
          <a:xfrm>
            <a:off x="792328" y="3794760"/>
            <a:ext cx="3200400" cy="640080"/>
          </a:xfrm>
          <a:prstGeom prst="roundRect">
            <a:avLst>
              <a:gd name="adj" fmla="val 8571"/>
            </a:avLst>
          </a:prstGeom>
          <a:solidFill>
            <a:srgbClr val="FFFFFF"/>
          </a:solidFill>
          <a:ln w="15875">
            <a:solidFill>
              <a:srgbClr val="222F44"/>
            </a:solidFill>
            <a:prstDash val="solid"/>
          </a:ln>
        </p:spPr>
      </p:sp>
      <p:sp>
        <p:nvSpPr>
          <p:cNvPr id="18" name="Text 15"/>
          <p:cNvSpPr/>
          <p:nvPr/>
        </p:nvSpPr>
        <p:spPr>
          <a:xfrm>
            <a:off x="883768" y="3867912"/>
            <a:ext cx="3017520" cy="292608"/>
          </a:xfrm>
          <a:prstGeom prst="rect">
            <a:avLst/>
          </a:prstGeom>
          <a:noFill/>
          <a:ln/>
        </p:spPr>
        <p:txBody>
          <a:bodyPr wrap="square" lIns="0" tIns="0" rIns="0" bIns="0" rtlCol="0" anchor="t"/>
          <a:lstStyle/>
          <a:p>
            <a:pPr algn="ctr" indent="0" marL="0">
              <a:buNone/>
            </a:pPr>
            <a:r>
              <a:rPr lang="en-US" sz="1050" dirty="0">
                <a:solidFill>
                  <a:srgbClr val="222F44"/>
                </a:solidFill>
                <a:latin typeface="Poppins SemiBold" pitchFamily="34" charset="0"/>
                <a:ea typeface="Poppins SemiBold" pitchFamily="34" charset="-122"/>
                <a:cs typeface="Poppins SemiBold" pitchFamily="34" charset="-120"/>
              </a:rPr>
              <a:t>AGM Caetano LTDA</a:t>
            </a:r>
            <a:endParaRPr lang="en-US" sz="1050" dirty="0"/>
          </a:p>
        </p:txBody>
      </p:sp>
      <p:sp>
        <p:nvSpPr>
          <p:cNvPr id="19" name="Text 16"/>
          <p:cNvSpPr/>
          <p:nvPr/>
        </p:nvSpPr>
        <p:spPr>
          <a:xfrm>
            <a:off x="883768" y="4123944"/>
            <a:ext cx="3017520" cy="274320"/>
          </a:xfrm>
          <a:prstGeom prst="rect">
            <a:avLst/>
          </a:prstGeom>
          <a:noFill/>
          <a:ln/>
        </p:spPr>
        <p:txBody>
          <a:bodyPr wrap="square" lIns="0" tIns="0" rIns="0" bIns="0" rtlCol="0" anchor="t"/>
          <a:lstStyle/>
          <a:p>
            <a:pPr algn="ctr" indent="0" marL="0">
              <a:buNone/>
            </a:pPr>
            <a:r>
              <a:rPr lang="en-US" sz="800" dirty="0">
                <a:solidFill>
                  <a:srgbClr val="6B7686"/>
                </a:solidFill>
                <a:latin typeface="Poppins" pitchFamily="34" charset="0"/>
                <a:ea typeface="Poppins" pitchFamily="34" charset="-122"/>
                <a:cs typeface="Poppins" pitchFamily="34" charset="-120"/>
              </a:rPr>
              <a:t>Operating entity</a:t>
            </a:r>
            <a:endParaRPr lang="en-US" sz="800" dirty="0"/>
          </a:p>
        </p:txBody>
      </p:sp>
      <p:sp>
        <p:nvSpPr>
          <p:cNvPr id="20" name="Shape 17"/>
          <p:cNvSpPr/>
          <p:nvPr/>
        </p:nvSpPr>
        <p:spPr>
          <a:xfrm>
            <a:off x="6095848" y="3566160"/>
            <a:ext cx="0" cy="228600"/>
          </a:xfrm>
          <a:prstGeom prst="line">
            <a:avLst/>
          </a:prstGeom>
          <a:noFill/>
          <a:ln w="12700">
            <a:solidFill>
              <a:srgbClr val="97A0AD"/>
            </a:solidFill>
            <a:prstDash val="solid"/>
          </a:ln>
        </p:spPr>
      </p:sp>
      <p:sp>
        <p:nvSpPr>
          <p:cNvPr id="21" name="Shape 18"/>
          <p:cNvSpPr/>
          <p:nvPr/>
        </p:nvSpPr>
        <p:spPr>
          <a:xfrm>
            <a:off x="4495648" y="3794760"/>
            <a:ext cx="3200400" cy="640080"/>
          </a:xfrm>
          <a:prstGeom prst="roundRect">
            <a:avLst>
              <a:gd name="adj" fmla="val 8571"/>
            </a:avLst>
          </a:prstGeom>
          <a:solidFill>
            <a:srgbClr val="FFFFFF"/>
          </a:solidFill>
          <a:ln w="15875">
            <a:solidFill>
              <a:srgbClr val="222F44"/>
            </a:solidFill>
            <a:prstDash val="solid"/>
          </a:ln>
        </p:spPr>
      </p:sp>
      <p:sp>
        <p:nvSpPr>
          <p:cNvPr id="22" name="Text 19"/>
          <p:cNvSpPr/>
          <p:nvPr/>
        </p:nvSpPr>
        <p:spPr>
          <a:xfrm>
            <a:off x="4587088" y="3867912"/>
            <a:ext cx="3017520" cy="292608"/>
          </a:xfrm>
          <a:prstGeom prst="rect">
            <a:avLst/>
          </a:prstGeom>
          <a:noFill/>
          <a:ln/>
        </p:spPr>
        <p:txBody>
          <a:bodyPr wrap="square" lIns="0" tIns="0" rIns="0" bIns="0" rtlCol="0" anchor="t"/>
          <a:lstStyle/>
          <a:p>
            <a:pPr algn="ctr" indent="0" marL="0">
              <a:buNone/>
            </a:pPr>
            <a:r>
              <a:rPr lang="en-US" sz="1050" dirty="0">
                <a:solidFill>
                  <a:srgbClr val="222F44"/>
                </a:solidFill>
                <a:latin typeface="Poppins SemiBold" pitchFamily="34" charset="0"/>
                <a:ea typeface="Poppins SemiBold" pitchFamily="34" charset="-122"/>
                <a:cs typeface="Poppins SemiBold" pitchFamily="34" charset="-120"/>
              </a:rPr>
              <a:t>MOBI Alpha</a:t>
            </a:r>
            <a:endParaRPr lang="en-US" sz="1050" dirty="0"/>
          </a:p>
        </p:txBody>
      </p:sp>
      <p:sp>
        <p:nvSpPr>
          <p:cNvPr id="23" name="Text 20"/>
          <p:cNvSpPr/>
          <p:nvPr/>
        </p:nvSpPr>
        <p:spPr>
          <a:xfrm>
            <a:off x="4587088" y="4123944"/>
            <a:ext cx="3017520" cy="274320"/>
          </a:xfrm>
          <a:prstGeom prst="rect">
            <a:avLst/>
          </a:prstGeom>
          <a:noFill/>
          <a:ln/>
        </p:spPr>
        <p:txBody>
          <a:bodyPr wrap="square" lIns="0" tIns="0" rIns="0" bIns="0" rtlCol="0" anchor="t"/>
          <a:lstStyle/>
          <a:p>
            <a:pPr algn="ctr" indent="0" marL="0">
              <a:buNone/>
            </a:pPr>
            <a:r>
              <a:rPr lang="en-US" sz="800" dirty="0">
                <a:solidFill>
                  <a:srgbClr val="6B7686"/>
                </a:solidFill>
                <a:latin typeface="Poppins" pitchFamily="34" charset="0"/>
                <a:ea typeface="Poppins" pitchFamily="34" charset="-122"/>
                <a:cs typeface="Poppins" pitchFamily="34" charset="-120"/>
              </a:rPr>
              <a:t>Matriz Brasília</a:t>
            </a:r>
            <a:endParaRPr lang="en-US" sz="800" dirty="0"/>
          </a:p>
        </p:txBody>
      </p:sp>
      <p:sp>
        <p:nvSpPr>
          <p:cNvPr id="24" name="Shape 21"/>
          <p:cNvSpPr/>
          <p:nvPr/>
        </p:nvSpPr>
        <p:spPr>
          <a:xfrm>
            <a:off x="9799168" y="3566160"/>
            <a:ext cx="0" cy="228600"/>
          </a:xfrm>
          <a:prstGeom prst="line">
            <a:avLst/>
          </a:prstGeom>
          <a:noFill/>
          <a:ln w="12700">
            <a:solidFill>
              <a:srgbClr val="97A0AD"/>
            </a:solidFill>
            <a:prstDash val="solid"/>
          </a:ln>
        </p:spPr>
      </p:sp>
      <p:sp>
        <p:nvSpPr>
          <p:cNvPr id="25" name="Shape 22"/>
          <p:cNvSpPr/>
          <p:nvPr/>
        </p:nvSpPr>
        <p:spPr>
          <a:xfrm>
            <a:off x="8198968" y="3794760"/>
            <a:ext cx="3200400" cy="640080"/>
          </a:xfrm>
          <a:prstGeom prst="roundRect">
            <a:avLst>
              <a:gd name="adj" fmla="val 8571"/>
            </a:avLst>
          </a:prstGeom>
          <a:solidFill>
            <a:srgbClr val="FFFFFF"/>
          </a:solidFill>
          <a:ln w="15875">
            <a:solidFill>
              <a:srgbClr val="222F44"/>
            </a:solidFill>
            <a:prstDash val="solid"/>
          </a:ln>
        </p:spPr>
      </p:sp>
      <p:sp>
        <p:nvSpPr>
          <p:cNvPr id="26" name="Text 23"/>
          <p:cNvSpPr/>
          <p:nvPr/>
        </p:nvSpPr>
        <p:spPr>
          <a:xfrm>
            <a:off x="8290408" y="3867912"/>
            <a:ext cx="3017520" cy="292608"/>
          </a:xfrm>
          <a:prstGeom prst="rect">
            <a:avLst/>
          </a:prstGeom>
          <a:noFill/>
          <a:ln/>
        </p:spPr>
        <p:txBody>
          <a:bodyPr wrap="square" lIns="0" tIns="0" rIns="0" bIns="0" rtlCol="0" anchor="t"/>
          <a:lstStyle/>
          <a:p>
            <a:pPr algn="ctr" indent="0" marL="0">
              <a:buNone/>
            </a:pPr>
            <a:r>
              <a:rPr lang="en-US" sz="1050" dirty="0">
                <a:solidFill>
                  <a:srgbClr val="222F44"/>
                </a:solidFill>
                <a:latin typeface="Poppins SemiBold" pitchFamily="34" charset="0"/>
                <a:ea typeface="Poppins SemiBold" pitchFamily="34" charset="-122"/>
                <a:cs typeface="Poppins SemiBold" pitchFamily="34" charset="-120"/>
              </a:rPr>
              <a:t>Moura e Carrilho Part.</a:t>
            </a:r>
            <a:endParaRPr lang="en-US" sz="1050" dirty="0"/>
          </a:p>
        </p:txBody>
      </p:sp>
      <p:sp>
        <p:nvSpPr>
          <p:cNvPr id="27" name="Text 24"/>
          <p:cNvSpPr/>
          <p:nvPr/>
        </p:nvSpPr>
        <p:spPr>
          <a:xfrm>
            <a:off x="8290408" y="4123944"/>
            <a:ext cx="3017520" cy="274320"/>
          </a:xfrm>
          <a:prstGeom prst="rect">
            <a:avLst/>
          </a:prstGeom>
          <a:noFill/>
          <a:ln/>
        </p:spPr>
        <p:txBody>
          <a:bodyPr wrap="square" lIns="0" tIns="0" rIns="0" bIns="0" rtlCol="0" anchor="t"/>
          <a:lstStyle/>
          <a:p>
            <a:pPr algn="ctr" indent="0" marL="0">
              <a:buNone/>
            </a:pPr>
            <a:r>
              <a:rPr lang="en-US" sz="800" dirty="0">
                <a:solidFill>
                  <a:srgbClr val="6B7686"/>
                </a:solidFill>
                <a:latin typeface="Poppins" pitchFamily="34" charset="0"/>
                <a:ea typeface="Poppins" pitchFamily="34" charset="-122"/>
                <a:cs typeface="Poppins" pitchFamily="34" charset="-120"/>
              </a:rPr>
              <a:t>[Related party]</a:t>
            </a:r>
            <a:endParaRPr lang="en-US" sz="800" dirty="0"/>
          </a:p>
        </p:txBody>
      </p:sp>
      <p:sp>
        <p:nvSpPr>
          <p:cNvPr id="28" name="Text 25"/>
          <p:cNvSpPr/>
          <p:nvPr/>
        </p:nvSpPr>
        <p:spPr>
          <a:xfrm>
            <a:off x="502920" y="4892040"/>
            <a:ext cx="5486400" cy="237744"/>
          </a:xfrm>
          <a:prstGeom prst="rect">
            <a:avLst/>
          </a:prstGeom>
          <a:noFill/>
          <a:ln/>
        </p:spPr>
        <p:txBody>
          <a:bodyPr wrap="square" rtlCol="0" anchor="ctr"/>
          <a:lstStyle/>
          <a:p>
            <a:pPr indent="0" marL="0">
              <a:buNone/>
            </a:pPr>
            <a:r>
              <a:rPr lang="en-US" sz="950" spc="100" kern="0" dirty="0">
                <a:solidFill>
                  <a:srgbClr val="F35B1A"/>
                </a:solidFill>
                <a:latin typeface="Poppins SemiBold" pitchFamily="34" charset="0"/>
                <a:ea typeface="Poppins SemiBold" pitchFamily="34" charset="-122"/>
                <a:cs typeface="Poppins SemiBold" pitchFamily="34" charset="-120"/>
              </a:rPr>
              <a:t>OPERATIONAL BRANCHES (FILIAIS)</a:t>
            </a:r>
            <a:endParaRPr lang="en-US" sz="950" dirty="0"/>
          </a:p>
        </p:txBody>
      </p:sp>
      <p:sp>
        <p:nvSpPr>
          <p:cNvPr id="29" name="Shape 26"/>
          <p:cNvSpPr/>
          <p:nvPr/>
        </p:nvSpPr>
        <p:spPr>
          <a:xfrm>
            <a:off x="502920" y="5193792"/>
            <a:ext cx="2090867" cy="365760"/>
          </a:xfrm>
          <a:prstGeom prst="roundRect">
            <a:avLst>
              <a:gd name="adj" fmla="val 12500"/>
            </a:avLst>
          </a:prstGeom>
          <a:solidFill>
            <a:srgbClr val="F5F7F9"/>
          </a:solidFill>
          <a:ln w="12700">
            <a:solidFill>
              <a:srgbClr val="D9DEE5"/>
            </a:solidFill>
            <a:prstDash val="solid"/>
          </a:ln>
        </p:spPr>
      </p:sp>
      <p:sp>
        <p:nvSpPr>
          <p:cNvPr id="30" name="Text 27"/>
          <p:cNvSpPr/>
          <p:nvPr/>
        </p:nvSpPr>
        <p:spPr>
          <a:xfrm>
            <a:off x="548640" y="5193792"/>
            <a:ext cx="1999427" cy="365760"/>
          </a:xfrm>
          <a:prstGeom prst="rect">
            <a:avLst/>
          </a:prstGeom>
          <a:noFill/>
          <a:ln/>
        </p:spPr>
        <p:txBody>
          <a:bodyPr wrap="square" lIns="0" tIns="0" rIns="0" bIns="0" rtlCol="0" anchor="ctr"/>
          <a:lstStyle/>
          <a:p>
            <a:pPr algn="ctr" indent="0" marL="0">
              <a:buNone/>
            </a:pPr>
            <a:r>
              <a:rPr lang="en-US" sz="850" dirty="0">
                <a:solidFill>
                  <a:srgbClr val="2A3342"/>
                </a:solidFill>
                <a:latin typeface="Poppins Medium" pitchFamily="34" charset="0"/>
                <a:ea typeface="Poppins Medium" pitchFamily="34" charset="-122"/>
                <a:cs typeface="Poppins Medium" pitchFamily="34" charset="-120"/>
              </a:rPr>
              <a:t>Filial Goiânia</a:t>
            </a:r>
            <a:endParaRPr lang="en-US" sz="850" dirty="0"/>
          </a:p>
        </p:txBody>
      </p:sp>
      <p:sp>
        <p:nvSpPr>
          <p:cNvPr id="31" name="Shape 28"/>
          <p:cNvSpPr/>
          <p:nvPr/>
        </p:nvSpPr>
        <p:spPr>
          <a:xfrm>
            <a:off x="2776667" y="5193792"/>
            <a:ext cx="2090867" cy="365760"/>
          </a:xfrm>
          <a:prstGeom prst="roundRect">
            <a:avLst>
              <a:gd name="adj" fmla="val 12500"/>
            </a:avLst>
          </a:prstGeom>
          <a:solidFill>
            <a:srgbClr val="F5F7F9"/>
          </a:solidFill>
          <a:ln w="12700">
            <a:solidFill>
              <a:srgbClr val="D9DEE5"/>
            </a:solidFill>
            <a:prstDash val="solid"/>
          </a:ln>
        </p:spPr>
      </p:sp>
      <p:sp>
        <p:nvSpPr>
          <p:cNvPr id="32" name="Text 29"/>
          <p:cNvSpPr/>
          <p:nvPr/>
        </p:nvSpPr>
        <p:spPr>
          <a:xfrm>
            <a:off x="2822387" y="5193792"/>
            <a:ext cx="1999427" cy="365760"/>
          </a:xfrm>
          <a:prstGeom prst="rect">
            <a:avLst/>
          </a:prstGeom>
          <a:noFill/>
          <a:ln/>
        </p:spPr>
        <p:txBody>
          <a:bodyPr wrap="square" lIns="0" tIns="0" rIns="0" bIns="0" rtlCol="0" anchor="ctr"/>
          <a:lstStyle/>
          <a:p>
            <a:pPr algn="ctr" indent="0" marL="0">
              <a:buNone/>
            </a:pPr>
            <a:r>
              <a:rPr lang="en-US" sz="850" dirty="0">
                <a:solidFill>
                  <a:srgbClr val="2A3342"/>
                </a:solidFill>
                <a:latin typeface="Poppins Medium" pitchFamily="34" charset="0"/>
                <a:ea typeface="Poppins Medium" pitchFamily="34" charset="-122"/>
                <a:cs typeface="Poppins Medium" pitchFamily="34" charset="-120"/>
              </a:rPr>
              <a:t>Filial Anápolis</a:t>
            </a:r>
            <a:endParaRPr lang="en-US" sz="850" dirty="0"/>
          </a:p>
        </p:txBody>
      </p:sp>
      <p:sp>
        <p:nvSpPr>
          <p:cNvPr id="33" name="Shape 30"/>
          <p:cNvSpPr/>
          <p:nvPr/>
        </p:nvSpPr>
        <p:spPr>
          <a:xfrm>
            <a:off x="5050414" y="5193792"/>
            <a:ext cx="2090867" cy="365760"/>
          </a:xfrm>
          <a:prstGeom prst="roundRect">
            <a:avLst>
              <a:gd name="adj" fmla="val 12500"/>
            </a:avLst>
          </a:prstGeom>
          <a:solidFill>
            <a:srgbClr val="F5F7F9"/>
          </a:solidFill>
          <a:ln w="12700">
            <a:solidFill>
              <a:srgbClr val="D9DEE5"/>
            </a:solidFill>
            <a:prstDash val="solid"/>
          </a:ln>
        </p:spPr>
      </p:sp>
      <p:sp>
        <p:nvSpPr>
          <p:cNvPr id="34" name="Text 31"/>
          <p:cNvSpPr/>
          <p:nvPr/>
        </p:nvSpPr>
        <p:spPr>
          <a:xfrm>
            <a:off x="5096134" y="5193792"/>
            <a:ext cx="1999427" cy="365760"/>
          </a:xfrm>
          <a:prstGeom prst="rect">
            <a:avLst/>
          </a:prstGeom>
          <a:noFill/>
          <a:ln/>
        </p:spPr>
        <p:txBody>
          <a:bodyPr wrap="square" lIns="0" tIns="0" rIns="0" bIns="0" rtlCol="0" anchor="ctr"/>
          <a:lstStyle/>
          <a:p>
            <a:pPr algn="ctr" indent="0" marL="0">
              <a:buNone/>
            </a:pPr>
            <a:r>
              <a:rPr lang="en-US" sz="850" dirty="0">
                <a:solidFill>
                  <a:srgbClr val="2A3342"/>
                </a:solidFill>
                <a:latin typeface="Poppins Medium" pitchFamily="34" charset="0"/>
                <a:ea typeface="Poppins Medium" pitchFamily="34" charset="-122"/>
                <a:cs typeface="Poppins Medium" pitchFamily="34" charset="-120"/>
              </a:rPr>
              <a:t>Filial Nerópolis</a:t>
            </a:r>
            <a:endParaRPr lang="en-US" sz="850" dirty="0"/>
          </a:p>
        </p:txBody>
      </p:sp>
      <p:sp>
        <p:nvSpPr>
          <p:cNvPr id="35" name="Shape 32"/>
          <p:cNvSpPr/>
          <p:nvPr/>
        </p:nvSpPr>
        <p:spPr>
          <a:xfrm>
            <a:off x="7324161" y="5193792"/>
            <a:ext cx="2090867" cy="365760"/>
          </a:xfrm>
          <a:prstGeom prst="roundRect">
            <a:avLst>
              <a:gd name="adj" fmla="val 12500"/>
            </a:avLst>
          </a:prstGeom>
          <a:solidFill>
            <a:srgbClr val="F5F7F9"/>
          </a:solidFill>
          <a:ln w="12700">
            <a:solidFill>
              <a:srgbClr val="D9DEE5"/>
            </a:solidFill>
            <a:prstDash val="solid"/>
          </a:ln>
        </p:spPr>
      </p:sp>
      <p:sp>
        <p:nvSpPr>
          <p:cNvPr id="36" name="Text 33"/>
          <p:cNvSpPr/>
          <p:nvPr/>
        </p:nvSpPr>
        <p:spPr>
          <a:xfrm>
            <a:off x="7369881" y="5193792"/>
            <a:ext cx="1999427" cy="365760"/>
          </a:xfrm>
          <a:prstGeom prst="rect">
            <a:avLst/>
          </a:prstGeom>
          <a:noFill/>
          <a:ln/>
        </p:spPr>
        <p:txBody>
          <a:bodyPr wrap="square" lIns="0" tIns="0" rIns="0" bIns="0" rtlCol="0" anchor="ctr"/>
          <a:lstStyle/>
          <a:p>
            <a:pPr algn="ctr" indent="0" marL="0">
              <a:buNone/>
            </a:pPr>
            <a:r>
              <a:rPr lang="en-US" sz="850" dirty="0">
                <a:solidFill>
                  <a:srgbClr val="2A3342"/>
                </a:solidFill>
                <a:latin typeface="Poppins Medium" pitchFamily="34" charset="0"/>
                <a:ea typeface="Poppins Medium" pitchFamily="34" charset="-122"/>
                <a:cs typeface="Poppins Medium" pitchFamily="34" charset="-120"/>
              </a:rPr>
              <a:t>Filial Senador Canedo</a:t>
            </a:r>
            <a:endParaRPr lang="en-US" sz="850" dirty="0"/>
          </a:p>
        </p:txBody>
      </p:sp>
      <p:sp>
        <p:nvSpPr>
          <p:cNvPr id="37" name="Shape 34"/>
          <p:cNvSpPr/>
          <p:nvPr/>
        </p:nvSpPr>
        <p:spPr>
          <a:xfrm>
            <a:off x="9597908" y="5193792"/>
            <a:ext cx="2090867" cy="365760"/>
          </a:xfrm>
          <a:prstGeom prst="roundRect">
            <a:avLst>
              <a:gd name="adj" fmla="val 12500"/>
            </a:avLst>
          </a:prstGeom>
          <a:solidFill>
            <a:srgbClr val="F5F7F9"/>
          </a:solidFill>
          <a:ln w="12700">
            <a:solidFill>
              <a:srgbClr val="D9DEE5"/>
            </a:solidFill>
            <a:prstDash val="solid"/>
          </a:ln>
        </p:spPr>
      </p:sp>
      <p:sp>
        <p:nvSpPr>
          <p:cNvPr id="38" name="Text 35"/>
          <p:cNvSpPr/>
          <p:nvPr/>
        </p:nvSpPr>
        <p:spPr>
          <a:xfrm>
            <a:off x="9643628" y="5193792"/>
            <a:ext cx="1999427" cy="365760"/>
          </a:xfrm>
          <a:prstGeom prst="rect">
            <a:avLst/>
          </a:prstGeom>
          <a:noFill/>
          <a:ln/>
        </p:spPr>
        <p:txBody>
          <a:bodyPr wrap="square" lIns="0" tIns="0" rIns="0" bIns="0" rtlCol="0" anchor="ctr"/>
          <a:lstStyle/>
          <a:p>
            <a:pPr algn="ctr" indent="0" marL="0">
              <a:buNone/>
            </a:pPr>
            <a:r>
              <a:rPr lang="en-US" sz="850" dirty="0">
                <a:solidFill>
                  <a:srgbClr val="2A3342"/>
                </a:solidFill>
                <a:latin typeface="Poppins Medium" pitchFamily="34" charset="0"/>
                <a:ea typeface="Poppins Medium" pitchFamily="34" charset="-122"/>
                <a:cs typeface="Poppins Medium" pitchFamily="34" charset="-120"/>
              </a:rPr>
              <a:t>Filial Itumbiara</a:t>
            </a:r>
            <a:endParaRPr lang="en-US" sz="850" dirty="0"/>
          </a:p>
        </p:txBody>
      </p:sp>
      <p:sp>
        <p:nvSpPr>
          <p:cNvPr id="39" name="Shape 36"/>
          <p:cNvSpPr/>
          <p:nvPr/>
        </p:nvSpPr>
        <p:spPr>
          <a:xfrm>
            <a:off x="502920" y="5650992"/>
            <a:ext cx="2090867" cy="365760"/>
          </a:xfrm>
          <a:prstGeom prst="roundRect">
            <a:avLst>
              <a:gd name="adj" fmla="val 12500"/>
            </a:avLst>
          </a:prstGeom>
          <a:solidFill>
            <a:srgbClr val="F5F7F9"/>
          </a:solidFill>
          <a:ln w="12700">
            <a:solidFill>
              <a:srgbClr val="D9DEE5"/>
            </a:solidFill>
            <a:prstDash val="solid"/>
          </a:ln>
        </p:spPr>
      </p:sp>
      <p:sp>
        <p:nvSpPr>
          <p:cNvPr id="40" name="Text 37"/>
          <p:cNvSpPr/>
          <p:nvPr/>
        </p:nvSpPr>
        <p:spPr>
          <a:xfrm>
            <a:off x="548640" y="5650992"/>
            <a:ext cx="1999427" cy="365760"/>
          </a:xfrm>
          <a:prstGeom prst="rect">
            <a:avLst/>
          </a:prstGeom>
          <a:noFill/>
          <a:ln/>
        </p:spPr>
        <p:txBody>
          <a:bodyPr wrap="square" lIns="0" tIns="0" rIns="0" bIns="0" rtlCol="0" anchor="ctr"/>
          <a:lstStyle/>
          <a:p>
            <a:pPr algn="ctr" indent="0" marL="0">
              <a:buNone/>
            </a:pPr>
            <a:r>
              <a:rPr lang="en-US" sz="850" dirty="0">
                <a:solidFill>
                  <a:srgbClr val="2A3342"/>
                </a:solidFill>
                <a:latin typeface="Poppins Medium" pitchFamily="34" charset="0"/>
                <a:ea typeface="Poppins Medium" pitchFamily="34" charset="-122"/>
                <a:cs typeface="Poppins Medium" pitchFamily="34" charset="-120"/>
              </a:rPr>
              <a:t>Filial Alexânia</a:t>
            </a:r>
            <a:endParaRPr lang="en-US" sz="850" dirty="0"/>
          </a:p>
        </p:txBody>
      </p:sp>
      <p:sp>
        <p:nvSpPr>
          <p:cNvPr id="41" name="Shape 38"/>
          <p:cNvSpPr/>
          <p:nvPr/>
        </p:nvSpPr>
        <p:spPr>
          <a:xfrm>
            <a:off x="2776667" y="5650992"/>
            <a:ext cx="2090867" cy="365760"/>
          </a:xfrm>
          <a:prstGeom prst="roundRect">
            <a:avLst>
              <a:gd name="adj" fmla="val 12500"/>
            </a:avLst>
          </a:prstGeom>
          <a:solidFill>
            <a:srgbClr val="F5F7F9"/>
          </a:solidFill>
          <a:ln w="12700">
            <a:solidFill>
              <a:srgbClr val="D9DEE5"/>
            </a:solidFill>
            <a:prstDash val="solid"/>
          </a:ln>
        </p:spPr>
      </p:sp>
      <p:sp>
        <p:nvSpPr>
          <p:cNvPr id="42" name="Text 39"/>
          <p:cNvSpPr/>
          <p:nvPr/>
        </p:nvSpPr>
        <p:spPr>
          <a:xfrm>
            <a:off x="2822387" y="5650992"/>
            <a:ext cx="1999427" cy="365760"/>
          </a:xfrm>
          <a:prstGeom prst="rect">
            <a:avLst/>
          </a:prstGeom>
          <a:noFill/>
          <a:ln/>
        </p:spPr>
        <p:txBody>
          <a:bodyPr wrap="square" lIns="0" tIns="0" rIns="0" bIns="0" rtlCol="0" anchor="ctr"/>
          <a:lstStyle/>
          <a:p>
            <a:pPr algn="ctr" indent="0" marL="0">
              <a:buNone/>
            </a:pPr>
            <a:r>
              <a:rPr lang="en-US" sz="850" dirty="0">
                <a:solidFill>
                  <a:srgbClr val="2A3342"/>
                </a:solidFill>
                <a:latin typeface="Poppins Medium" pitchFamily="34" charset="0"/>
                <a:ea typeface="Poppins Medium" pitchFamily="34" charset="-122"/>
                <a:cs typeface="Poppins Medium" pitchFamily="34" charset="-120"/>
              </a:rPr>
              <a:t>Filial Uberlândia</a:t>
            </a:r>
            <a:endParaRPr lang="en-US" sz="850" dirty="0"/>
          </a:p>
        </p:txBody>
      </p:sp>
      <p:sp>
        <p:nvSpPr>
          <p:cNvPr id="43" name="Shape 40"/>
          <p:cNvSpPr/>
          <p:nvPr/>
        </p:nvSpPr>
        <p:spPr>
          <a:xfrm>
            <a:off x="5050414" y="5650992"/>
            <a:ext cx="2090867" cy="365760"/>
          </a:xfrm>
          <a:prstGeom prst="roundRect">
            <a:avLst>
              <a:gd name="adj" fmla="val 12500"/>
            </a:avLst>
          </a:prstGeom>
          <a:solidFill>
            <a:srgbClr val="F5F7F9"/>
          </a:solidFill>
          <a:ln w="12700">
            <a:solidFill>
              <a:srgbClr val="D9DEE5"/>
            </a:solidFill>
            <a:prstDash val="solid"/>
          </a:ln>
        </p:spPr>
      </p:sp>
      <p:sp>
        <p:nvSpPr>
          <p:cNvPr id="44" name="Text 41"/>
          <p:cNvSpPr/>
          <p:nvPr/>
        </p:nvSpPr>
        <p:spPr>
          <a:xfrm>
            <a:off x="5096134" y="5650992"/>
            <a:ext cx="1999427" cy="365760"/>
          </a:xfrm>
          <a:prstGeom prst="rect">
            <a:avLst/>
          </a:prstGeom>
          <a:noFill/>
          <a:ln/>
        </p:spPr>
        <p:txBody>
          <a:bodyPr wrap="square" lIns="0" tIns="0" rIns="0" bIns="0" rtlCol="0" anchor="ctr"/>
          <a:lstStyle/>
          <a:p>
            <a:pPr algn="ctr" indent="0" marL="0">
              <a:buNone/>
            </a:pPr>
            <a:r>
              <a:rPr lang="en-US" sz="850" dirty="0">
                <a:solidFill>
                  <a:srgbClr val="2A3342"/>
                </a:solidFill>
                <a:latin typeface="Poppins Medium" pitchFamily="34" charset="0"/>
                <a:ea typeface="Poppins Medium" pitchFamily="34" charset="-122"/>
                <a:cs typeface="Poppins Medium" pitchFamily="34" charset="-120"/>
              </a:rPr>
              <a:t>Filial Rio Verde</a:t>
            </a:r>
            <a:endParaRPr lang="en-US" sz="850" dirty="0"/>
          </a:p>
        </p:txBody>
      </p:sp>
      <p:sp>
        <p:nvSpPr>
          <p:cNvPr id="45" name="Shape 42"/>
          <p:cNvSpPr/>
          <p:nvPr/>
        </p:nvSpPr>
        <p:spPr>
          <a:xfrm>
            <a:off x="7324161" y="5650992"/>
            <a:ext cx="2090867" cy="365760"/>
          </a:xfrm>
          <a:prstGeom prst="roundRect">
            <a:avLst>
              <a:gd name="adj" fmla="val 12500"/>
            </a:avLst>
          </a:prstGeom>
          <a:solidFill>
            <a:srgbClr val="F5F7F9"/>
          </a:solidFill>
          <a:ln w="12700">
            <a:solidFill>
              <a:srgbClr val="D9DEE5"/>
            </a:solidFill>
            <a:prstDash val="solid"/>
          </a:ln>
        </p:spPr>
      </p:sp>
      <p:sp>
        <p:nvSpPr>
          <p:cNvPr id="46" name="Text 43"/>
          <p:cNvSpPr/>
          <p:nvPr/>
        </p:nvSpPr>
        <p:spPr>
          <a:xfrm>
            <a:off x="7369881" y="5650992"/>
            <a:ext cx="1999427" cy="365760"/>
          </a:xfrm>
          <a:prstGeom prst="rect">
            <a:avLst/>
          </a:prstGeom>
          <a:noFill/>
          <a:ln/>
        </p:spPr>
        <p:txBody>
          <a:bodyPr wrap="square" lIns="0" tIns="0" rIns="0" bIns="0" rtlCol="0" anchor="ctr"/>
          <a:lstStyle/>
          <a:p>
            <a:pPr algn="ctr" indent="0" marL="0">
              <a:buNone/>
            </a:pPr>
            <a:r>
              <a:rPr lang="en-US" sz="850" dirty="0">
                <a:solidFill>
                  <a:srgbClr val="2A3342"/>
                </a:solidFill>
                <a:latin typeface="Poppins Medium" pitchFamily="34" charset="0"/>
                <a:ea typeface="Poppins Medium" pitchFamily="34" charset="-122"/>
                <a:cs typeface="Poppins Medium" pitchFamily="34" charset="-120"/>
              </a:rPr>
              <a:t>Filial Pires do Rio</a:t>
            </a:r>
            <a:endParaRPr lang="en-US" sz="850" dirty="0"/>
          </a:p>
        </p:txBody>
      </p:sp>
      <p:sp>
        <p:nvSpPr>
          <p:cNvPr id="47" name="Shape 44"/>
          <p:cNvSpPr/>
          <p:nvPr/>
        </p:nvSpPr>
        <p:spPr>
          <a:xfrm>
            <a:off x="9402775" y="1938528"/>
            <a:ext cx="2286000" cy="566928"/>
          </a:xfrm>
          <a:prstGeom prst="roundRect">
            <a:avLst>
              <a:gd name="adj" fmla="val 12903"/>
            </a:avLst>
          </a:prstGeom>
          <a:solidFill>
            <a:srgbClr val="F35B1A"/>
          </a:solidFill>
          <a:ln/>
        </p:spPr>
      </p:sp>
      <p:sp>
        <p:nvSpPr>
          <p:cNvPr id="48" name="Text 45"/>
          <p:cNvSpPr/>
          <p:nvPr/>
        </p:nvSpPr>
        <p:spPr>
          <a:xfrm>
            <a:off x="9402775" y="1938528"/>
            <a:ext cx="2286000" cy="566928"/>
          </a:xfrm>
          <a:prstGeom prst="rect">
            <a:avLst/>
          </a:prstGeom>
          <a:noFill/>
          <a:ln/>
        </p:spPr>
        <p:txBody>
          <a:bodyPr wrap="square" lIns="0" tIns="0" rIns="0" bIns="0" rtlCol="0" anchor="ctr"/>
          <a:lstStyle/>
          <a:p>
            <a:pPr algn="ctr" indent="0" marL="0">
              <a:buNone/>
            </a:pPr>
            <a:r>
              <a:rPr lang="en-US" sz="1100" dirty="0">
                <a:solidFill>
                  <a:srgbClr val="FBE0D3"/>
                </a:solidFill>
                <a:latin typeface="Poppins" pitchFamily="34" charset="0"/>
                <a:ea typeface="Poppins" pitchFamily="34" charset="-122"/>
                <a:cs typeface="Poppins" pitchFamily="34" charset="-120"/>
              </a:rPr>
              <a:t>Total fleet   </a:t>
            </a:r>
            <a:pPr algn="ctr" indent="0" marL="0">
              <a:buNone/>
            </a:pPr>
            <a:r>
              <a:rPr lang="en-US" sz="1400" dirty="0">
                <a:solidFill>
                  <a:srgbClr val="FFFFFF"/>
                </a:solidFill>
                <a:latin typeface="Poppins SemiBold" pitchFamily="34" charset="0"/>
                <a:ea typeface="Poppins SemiBold" pitchFamily="34" charset="-122"/>
                <a:cs typeface="Poppins SemiBold" pitchFamily="34" charset="-120"/>
              </a:rPr>
              <a:t>373</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assets/igc_navy.png">    </p:cNvPr>
          <p:cNvPicPr>
            <a:picLocks noChangeAspect="1"/>
          </p:cNvPicPr>
          <p:nvPr/>
        </p:nvPicPr>
        <p:blipFill>
          <a:blip r:embed="rId1"/>
          <a:stretch>
            <a:fillRect/>
          </a:stretch>
        </p:blipFill>
        <p:spPr>
          <a:xfrm>
            <a:off x="11121847" y="310896"/>
            <a:ext cx="566928" cy="490078"/>
          </a:xfrm>
          <a:prstGeom prst="rect">
            <a:avLst/>
          </a:prstGeom>
        </p:spPr>
      </p:pic>
      <p:sp>
        <p:nvSpPr>
          <p:cNvPr id="3" name="Text 0"/>
          <p:cNvSpPr/>
          <p:nvPr/>
        </p:nvSpPr>
        <p:spPr>
          <a:xfrm>
            <a:off x="502920" y="384048"/>
            <a:ext cx="7315200" cy="256032"/>
          </a:xfrm>
          <a:prstGeom prst="rect">
            <a:avLst/>
          </a:prstGeom>
          <a:noFill/>
          <a:ln/>
        </p:spPr>
        <p:txBody>
          <a:bodyPr wrap="square" rtlCol="0" anchor="ctr"/>
          <a:lstStyle/>
          <a:p>
            <a:pPr algn="l" indent="0" marL="0">
              <a:buNone/>
            </a:pPr>
            <a:r>
              <a:rPr lang="en-US" sz="1050" spc="200" kern="0" dirty="0">
                <a:solidFill>
                  <a:srgbClr val="F35B1A"/>
                </a:solidFill>
                <a:latin typeface="Poppins SemiBold" pitchFamily="34" charset="0"/>
                <a:ea typeface="Poppins SemiBold" pitchFamily="34" charset="-122"/>
                <a:cs typeface="Poppins SemiBold" pitchFamily="34" charset="-120"/>
              </a:rPr>
              <a:t>COMPANY OVERVIEW</a:t>
            </a:r>
            <a:endParaRPr lang="en-US" sz="1050" dirty="0"/>
          </a:p>
        </p:txBody>
      </p:sp>
      <p:sp>
        <p:nvSpPr>
          <p:cNvPr id="4" name="Text 1"/>
          <p:cNvSpPr/>
          <p:nvPr/>
        </p:nvSpPr>
        <p:spPr>
          <a:xfrm>
            <a:off x="502920" y="603504"/>
            <a:ext cx="10408615" cy="640080"/>
          </a:xfrm>
          <a:prstGeom prst="rect">
            <a:avLst/>
          </a:prstGeom>
          <a:noFill/>
          <a:ln/>
        </p:spPr>
        <p:txBody>
          <a:bodyPr wrap="square" rtlCol="0" anchor="t"/>
          <a:lstStyle/>
          <a:p>
            <a:pPr algn="l" indent="0" marL="0">
              <a:buNone/>
            </a:pPr>
            <a:r>
              <a:rPr lang="en-US" sz="2500" dirty="0">
                <a:solidFill>
                  <a:srgbClr val="222F44"/>
                </a:solidFill>
                <a:latin typeface="Source Serif Pro SemiBold" pitchFamily="34" charset="0"/>
                <a:ea typeface="Source Serif Pro SemiBold" pitchFamily="34" charset="-122"/>
                <a:cs typeface="Source Serif Pro SemiBold" pitchFamily="34" charset="-120"/>
              </a:rPr>
              <a:t>Success case: Cargill operation</a:t>
            </a:r>
            <a:endParaRPr lang="en-US" sz="2500" dirty="0"/>
          </a:p>
        </p:txBody>
      </p:sp>
      <p:sp>
        <p:nvSpPr>
          <p:cNvPr id="5" name="Text 2"/>
          <p:cNvSpPr/>
          <p:nvPr/>
        </p:nvSpPr>
        <p:spPr>
          <a:xfrm>
            <a:off x="502920" y="1225296"/>
            <a:ext cx="10408615" cy="457200"/>
          </a:xfrm>
          <a:prstGeom prst="rect">
            <a:avLst/>
          </a:prstGeom>
          <a:noFill/>
          <a:ln/>
        </p:spPr>
        <p:txBody>
          <a:bodyPr wrap="square" rtlCol="0" anchor="t"/>
          <a:lstStyle/>
          <a:p>
            <a:pPr algn="l" indent="0" marL="0">
              <a:buNone/>
            </a:pPr>
            <a:r>
              <a:rPr lang="en-US" sz="1250" dirty="0">
                <a:solidFill>
                  <a:srgbClr val="6B7686"/>
                </a:solidFill>
                <a:latin typeface="Poppins" pitchFamily="34" charset="0"/>
                <a:ea typeface="Poppins" pitchFamily="34" charset="-122"/>
                <a:cs typeface="Poppins" pitchFamily="34" charset="-120"/>
              </a:rPr>
              <a:t>Long-term relationship example — details to be confirmed with the Company</a:t>
            </a:r>
            <a:endParaRPr lang="en-US" sz="1250" dirty="0"/>
          </a:p>
        </p:txBody>
      </p:sp>
      <p:sp>
        <p:nvSpPr>
          <p:cNvPr id="6" name="Text 3"/>
          <p:cNvSpPr/>
          <p:nvPr/>
        </p:nvSpPr>
        <p:spPr>
          <a:xfrm>
            <a:off x="502920" y="6547104"/>
            <a:ext cx="10180015" cy="237744"/>
          </a:xfrm>
          <a:prstGeom prst="rect">
            <a:avLst/>
          </a:prstGeom>
          <a:noFill/>
          <a:ln/>
        </p:spPr>
        <p:txBody>
          <a:bodyPr wrap="square" rtlCol="0" anchor="ctr"/>
          <a:lstStyle/>
          <a:p>
            <a:pPr algn="l" indent="0" marL="0">
              <a:buNone/>
            </a:pPr>
            <a:r>
              <a:rPr lang="en-US" sz="700" dirty="0">
                <a:solidFill>
                  <a:srgbClr val="97A0AD"/>
                </a:solidFill>
                <a:latin typeface="Poppins" pitchFamily="34" charset="0"/>
                <a:ea typeface="Poppins" pitchFamily="34" charset="-122"/>
                <a:cs typeface="Poppins" pitchFamily="34" charset="-120"/>
              </a:rPr>
              <a:t>Source: Company — to be confirmed with management.</a:t>
            </a:r>
            <a:endParaRPr lang="en-US" sz="700" dirty="0"/>
          </a:p>
        </p:txBody>
      </p:sp>
      <p:sp>
        <p:nvSpPr>
          <p:cNvPr id="7" name="Text 4"/>
          <p:cNvSpPr/>
          <p:nvPr/>
        </p:nvSpPr>
        <p:spPr>
          <a:xfrm>
            <a:off x="10728655" y="6547104"/>
            <a:ext cx="960120" cy="237744"/>
          </a:xfrm>
          <a:prstGeom prst="rect">
            <a:avLst/>
          </a:prstGeom>
          <a:noFill/>
          <a:ln/>
        </p:spPr>
        <p:txBody>
          <a:bodyPr wrap="square" rtlCol="0" anchor="ctr"/>
          <a:lstStyle/>
          <a:p>
            <a:pPr algn="r" indent="0" marL="0">
              <a:buNone/>
            </a:pPr>
            <a:r>
              <a:rPr lang="en-US" sz="850" dirty="0">
                <a:solidFill>
                  <a:srgbClr val="97A0AD"/>
                </a:solidFill>
                <a:latin typeface="Poppins Medium" pitchFamily="34" charset="0"/>
                <a:ea typeface="Poppins Medium" pitchFamily="34" charset="-122"/>
                <a:cs typeface="Poppins Medium" pitchFamily="34" charset="-120"/>
              </a:rPr>
              <a:t>Confidential   </a:t>
            </a:r>
            <a:pPr algn="r" indent="0" marL="0">
              <a:buNone/>
            </a:pPr>
            <a:r>
              <a:rPr lang="en-US" sz="850" b="1" dirty="0">
                <a:solidFill>
                  <a:srgbClr val="222F44"/>
                </a:solidFill>
                <a:latin typeface="Poppins Medium" pitchFamily="34" charset="0"/>
                <a:ea typeface="Poppins Medium" pitchFamily="34" charset="-122"/>
                <a:cs typeface="Poppins Medium" pitchFamily="34" charset="-120"/>
              </a:rPr>
              <a:t>17</a:t>
            </a:r>
            <a:endParaRPr lang="en-US" sz="850" dirty="0"/>
          </a:p>
        </p:txBody>
      </p:sp>
      <p:sp>
        <p:nvSpPr>
          <p:cNvPr id="8" name="Shape 5"/>
          <p:cNvSpPr/>
          <p:nvPr/>
        </p:nvSpPr>
        <p:spPr>
          <a:xfrm>
            <a:off x="502920" y="1965960"/>
            <a:ext cx="2743200" cy="1371600"/>
          </a:xfrm>
          <a:prstGeom prst="roundRect">
            <a:avLst>
              <a:gd name="adj" fmla="val 6667"/>
            </a:avLst>
          </a:prstGeom>
          <a:solidFill>
            <a:srgbClr val="FFFFFF"/>
          </a:solidFill>
          <a:ln w="12700">
            <a:solidFill>
              <a:srgbClr val="D9DEE5"/>
            </a:solidFill>
            <a:prstDash val="solid"/>
          </a:ln>
          <a:effectLst>
            <a:outerShdw sx="100000" sy="100000" kx="0" ky="0" algn="bl" rotWithShape="0" blurRad="88900" dist="25400" dir="5400000">
              <a:srgbClr val="9AA6B4">
                <a:alpha val="28000"/>
              </a:srgbClr>
            </a:outerShdw>
          </a:effectLst>
        </p:spPr>
      </p:sp>
      <p:pic>
        <p:nvPicPr>
          <p:cNvPr id="9" name="Image 1" descr="assets/cli_cargill.png">    </p:cNvPr>
          <p:cNvPicPr>
            <a:picLocks noChangeAspect="1"/>
          </p:cNvPicPr>
          <p:nvPr/>
        </p:nvPicPr>
        <p:blipFill>
          <a:blip r:embed="rId2"/>
          <a:srcRect l="0" r="0" t="0" b="0"/>
          <a:stretch/>
        </p:blipFill>
        <p:spPr>
          <a:xfrm>
            <a:off x="868680" y="2240280"/>
            <a:ext cx="2011680" cy="822960"/>
          </a:xfrm>
          <a:prstGeom prst="rect">
            <a:avLst/>
          </a:prstGeom>
        </p:spPr>
      </p:pic>
      <p:sp>
        <p:nvSpPr>
          <p:cNvPr id="10" name="Text 6"/>
          <p:cNvSpPr/>
          <p:nvPr/>
        </p:nvSpPr>
        <p:spPr>
          <a:xfrm>
            <a:off x="502920" y="3429000"/>
            <a:ext cx="2743200" cy="274320"/>
          </a:xfrm>
          <a:prstGeom prst="rect">
            <a:avLst/>
          </a:prstGeom>
          <a:noFill/>
          <a:ln/>
        </p:spPr>
        <p:txBody>
          <a:bodyPr wrap="square" rtlCol="0" anchor="ctr"/>
          <a:lstStyle/>
          <a:p>
            <a:pPr algn="ctr" indent="0" marL="0">
              <a:buNone/>
            </a:pPr>
            <a:r>
              <a:rPr lang="en-US" sz="1000" dirty="0">
                <a:solidFill>
                  <a:srgbClr val="6B7686"/>
                </a:solidFill>
                <a:latin typeface="Poppins Medium" pitchFamily="34" charset="0"/>
                <a:ea typeface="Poppins Medium" pitchFamily="34" charset="-122"/>
                <a:cs typeface="Poppins Medium" pitchFamily="34" charset="-120"/>
              </a:rPr>
              <a:t>[City — State]</a:t>
            </a:r>
            <a:endParaRPr lang="en-US" sz="1000" dirty="0"/>
          </a:p>
        </p:txBody>
      </p:sp>
      <p:sp>
        <p:nvSpPr>
          <p:cNvPr id="11" name="Shape 7"/>
          <p:cNvSpPr/>
          <p:nvPr/>
        </p:nvSpPr>
        <p:spPr>
          <a:xfrm>
            <a:off x="3429000" y="1965960"/>
            <a:ext cx="3947008" cy="1737360"/>
          </a:xfrm>
          <a:prstGeom prst="roundRect">
            <a:avLst>
              <a:gd name="adj" fmla="val 5263"/>
            </a:avLst>
          </a:prstGeom>
          <a:solidFill>
            <a:srgbClr val="F5F7F9"/>
          </a:solidFill>
          <a:ln w="12700">
            <a:solidFill>
              <a:srgbClr val="D9DEE5"/>
            </a:solidFill>
            <a:prstDash val="solid"/>
          </a:ln>
        </p:spPr>
      </p:sp>
      <p:sp>
        <p:nvSpPr>
          <p:cNvPr id="12" name="Text 8"/>
          <p:cNvSpPr/>
          <p:nvPr/>
        </p:nvSpPr>
        <p:spPr>
          <a:xfrm>
            <a:off x="3685032" y="2148840"/>
            <a:ext cx="3434944" cy="274320"/>
          </a:xfrm>
          <a:prstGeom prst="rect">
            <a:avLst/>
          </a:prstGeom>
          <a:noFill/>
          <a:ln/>
        </p:spPr>
        <p:txBody>
          <a:bodyPr wrap="square" lIns="0" tIns="0" rIns="0" bIns="0" rtlCol="0" anchor="ctr"/>
          <a:lstStyle/>
          <a:p>
            <a:pPr indent="0" marL="0">
              <a:buNone/>
            </a:pPr>
            <a:r>
              <a:rPr lang="en-US" sz="950" spc="100" kern="0" dirty="0">
                <a:solidFill>
                  <a:srgbClr val="F35B1A"/>
                </a:solidFill>
                <a:latin typeface="Poppins SemiBold" pitchFamily="34" charset="0"/>
                <a:ea typeface="Poppins SemiBold" pitchFamily="34" charset="-122"/>
                <a:cs typeface="Poppins SemiBold" pitchFamily="34" charset="-120"/>
              </a:rPr>
              <a:t>START OF CONTRACT</a:t>
            </a:r>
            <a:endParaRPr lang="en-US" sz="950" dirty="0"/>
          </a:p>
        </p:txBody>
      </p:sp>
      <p:sp>
        <p:nvSpPr>
          <p:cNvPr id="13" name="Text 9"/>
          <p:cNvSpPr/>
          <p:nvPr/>
        </p:nvSpPr>
        <p:spPr>
          <a:xfrm>
            <a:off x="3685032" y="2468880"/>
            <a:ext cx="1717472" cy="365760"/>
          </a:xfrm>
          <a:prstGeom prst="rect">
            <a:avLst/>
          </a:prstGeom>
          <a:noFill/>
          <a:ln/>
        </p:spPr>
        <p:txBody>
          <a:bodyPr wrap="square" lIns="0" tIns="0" rIns="0" bIns="0" rtlCol="0" anchor="ctr"/>
          <a:lstStyle/>
          <a:p>
            <a:pPr indent="0" marL="0">
              <a:buNone/>
            </a:pPr>
            <a:r>
              <a:rPr lang="en-US" sz="1900" dirty="0">
                <a:solidFill>
                  <a:srgbClr val="222F44"/>
                </a:solidFill>
                <a:latin typeface="Source Serif Pro Black" pitchFamily="34" charset="0"/>
                <a:ea typeface="Source Serif Pro Black" pitchFamily="34" charset="-122"/>
                <a:cs typeface="Source Serif Pro Black" pitchFamily="34" charset="-120"/>
              </a:rPr>
              <a:t>BRL [XXX]k</a:t>
            </a:r>
            <a:endParaRPr lang="en-US" sz="1900" dirty="0"/>
          </a:p>
        </p:txBody>
      </p:sp>
      <p:sp>
        <p:nvSpPr>
          <p:cNvPr id="14" name="Text 10"/>
          <p:cNvSpPr/>
          <p:nvPr/>
        </p:nvSpPr>
        <p:spPr>
          <a:xfrm>
            <a:off x="3685032" y="2834640"/>
            <a:ext cx="1717472" cy="228600"/>
          </a:xfrm>
          <a:prstGeom prst="rect">
            <a:avLst/>
          </a:prstGeom>
          <a:noFill/>
          <a:ln/>
        </p:spPr>
        <p:txBody>
          <a:bodyPr wrap="square" lIns="0" tIns="0" rIns="0" bIns="0" rtlCol="0" anchor="ctr"/>
          <a:lstStyle/>
          <a:p>
            <a:pPr indent="0" marL="0">
              <a:buNone/>
            </a:pPr>
            <a:r>
              <a:rPr lang="en-US" sz="800" dirty="0">
                <a:solidFill>
                  <a:srgbClr val="6B7686"/>
                </a:solidFill>
                <a:latin typeface="Poppins" pitchFamily="34" charset="0"/>
                <a:ea typeface="Poppins" pitchFamily="34" charset="-122"/>
                <a:cs typeface="Poppins" pitchFamily="34" charset="-120"/>
              </a:rPr>
              <a:t>total value</a:t>
            </a:r>
            <a:endParaRPr lang="en-US" sz="800" dirty="0"/>
          </a:p>
        </p:txBody>
      </p:sp>
      <p:sp>
        <p:nvSpPr>
          <p:cNvPr id="15" name="Text 11"/>
          <p:cNvSpPr/>
          <p:nvPr/>
        </p:nvSpPr>
        <p:spPr>
          <a:xfrm>
            <a:off x="5402504" y="2468880"/>
            <a:ext cx="1717472" cy="365760"/>
          </a:xfrm>
          <a:prstGeom prst="rect">
            <a:avLst/>
          </a:prstGeom>
          <a:noFill/>
          <a:ln/>
        </p:spPr>
        <p:txBody>
          <a:bodyPr wrap="square" lIns="0" tIns="0" rIns="0" bIns="0" rtlCol="0" anchor="ctr"/>
          <a:lstStyle/>
          <a:p>
            <a:pPr indent="0" marL="0">
              <a:buNone/>
            </a:pPr>
            <a:r>
              <a:rPr lang="en-US" sz="1900" dirty="0">
                <a:solidFill>
                  <a:srgbClr val="222F44"/>
                </a:solidFill>
                <a:latin typeface="Source Serif Pro Black" pitchFamily="34" charset="0"/>
                <a:ea typeface="Source Serif Pro Black" pitchFamily="34" charset="-122"/>
                <a:cs typeface="Source Serif Pro Black" pitchFamily="34" charset="-120"/>
              </a:rPr>
              <a:t>[X] months</a:t>
            </a:r>
            <a:endParaRPr lang="en-US" sz="1900" dirty="0"/>
          </a:p>
        </p:txBody>
      </p:sp>
      <p:sp>
        <p:nvSpPr>
          <p:cNvPr id="16" name="Text 12"/>
          <p:cNvSpPr/>
          <p:nvPr/>
        </p:nvSpPr>
        <p:spPr>
          <a:xfrm>
            <a:off x="5402504" y="2834640"/>
            <a:ext cx="1717472" cy="228600"/>
          </a:xfrm>
          <a:prstGeom prst="rect">
            <a:avLst/>
          </a:prstGeom>
          <a:noFill/>
          <a:ln/>
        </p:spPr>
        <p:txBody>
          <a:bodyPr wrap="square" lIns="0" tIns="0" rIns="0" bIns="0" rtlCol="0" anchor="ctr"/>
          <a:lstStyle/>
          <a:p>
            <a:pPr indent="0" marL="0">
              <a:buNone/>
            </a:pPr>
            <a:r>
              <a:rPr lang="en-US" sz="800" dirty="0">
                <a:solidFill>
                  <a:srgbClr val="6B7686"/>
                </a:solidFill>
                <a:latin typeface="Poppins" pitchFamily="34" charset="0"/>
                <a:ea typeface="Poppins" pitchFamily="34" charset="-122"/>
                <a:cs typeface="Poppins" pitchFamily="34" charset="-120"/>
              </a:rPr>
              <a:t>total term</a:t>
            </a:r>
            <a:endParaRPr lang="en-US" sz="800" dirty="0"/>
          </a:p>
        </p:txBody>
      </p:sp>
      <p:sp>
        <p:nvSpPr>
          <p:cNvPr id="17" name="Text 13"/>
          <p:cNvSpPr/>
          <p:nvPr/>
        </p:nvSpPr>
        <p:spPr>
          <a:xfrm>
            <a:off x="3685032" y="3172968"/>
            <a:ext cx="3434944" cy="411480"/>
          </a:xfrm>
          <a:prstGeom prst="rect">
            <a:avLst/>
          </a:prstGeom>
          <a:noFill/>
          <a:ln/>
        </p:spPr>
        <p:txBody>
          <a:bodyPr wrap="square" lIns="0" tIns="0" rIns="0" bIns="0" rtlCol="0" anchor="t"/>
          <a:lstStyle/>
          <a:p>
            <a:pPr indent="0" marL="0">
              <a:buNone/>
            </a:pPr>
            <a:r>
              <a:rPr lang="en-US" sz="900" dirty="0">
                <a:solidFill>
                  <a:srgbClr val="6B7686"/>
                </a:solidFill>
                <a:latin typeface="Poppins" pitchFamily="34" charset="0"/>
                <a:ea typeface="Poppins" pitchFamily="34" charset="-122"/>
                <a:cs typeface="Poppins" pitchFamily="34" charset="-120"/>
              </a:rPr>
              <a:t>[Service scope — TBC]</a:t>
            </a:r>
            <a:endParaRPr lang="en-US" sz="900" dirty="0"/>
          </a:p>
        </p:txBody>
      </p:sp>
      <p:sp>
        <p:nvSpPr>
          <p:cNvPr id="18" name="Shape 14"/>
          <p:cNvSpPr/>
          <p:nvPr/>
        </p:nvSpPr>
        <p:spPr>
          <a:xfrm>
            <a:off x="7741768" y="1965960"/>
            <a:ext cx="3947008" cy="1737360"/>
          </a:xfrm>
          <a:prstGeom prst="roundRect">
            <a:avLst>
              <a:gd name="adj" fmla="val 5263"/>
            </a:avLst>
          </a:prstGeom>
          <a:solidFill>
            <a:srgbClr val="222F44"/>
          </a:solidFill>
          <a:ln/>
          <a:effectLst>
            <a:outerShdw sx="100000" sy="100000" kx="0" ky="0" algn="bl" rotWithShape="0" blurRad="88900" dist="25400" dir="5400000">
              <a:srgbClr val="9AA6B4">
                <a:alpha val="28000"/>
              </a:srgbClr>
            </a:outerShdw>
          </a:effectLst>
        </p:spPr>
      </p:sp>
      <p:sp>
        <p:nvSpPr>
          <p:cNvPr id="19" name="Text 15"/>
          <p:cNvSpPr/>
          <p:nvPr/>
        </p:nvSpPr>
        <p:spPr>
          <a:xfrm>
            <a:off x="7997800" y="2148840"/>
            <a:ext cx="3434944" cy="274320"/>
          </a:xfrm>
          <a:prstGeom prst="rect">
            <a:avLst/>
          </a:prstGeom>
          <a:noFill/>
          <a:ln/>
        </p:spPr>
        <p:txBody>
          <a:bodyPr wrap="square" lIns="0" tIns="0" rIns="0" bIns="0" rtlCol="0" anchor="ctr"/>
          <a:lstStyle/>
          <a:p>
            <a:pPr indent="0" marL="0">
              <a:buNone/>
            </a:pPr>
            <a:r>
              <a:rPr lang="en-US" sz="950" spc="100" kern="0" dirty="0">
                <a:solidFill>
                  <a:srgbClr val="F35B1A"/>
                </a:solidFill>
                <a:latin typeface="Poppins SemiBold" pitchFamily="34" charset="0"/>
                <a:ea typeface="Poppins SemiBold" pitchFamily="34" charset="-122"/>
                <a:cs typeface="Poppins SemiBold" pitchFamily="34" charset="-120"/>
              </a:rPr>
              <a:t>CURRENT CONTRACT</a:t>
            </a:r>
            <a:endParaRPr lang="en-US" sz="950" dirty="0"/>
          </a:p>
        </p:txBody>
      </p:sp>
      <p:sp>
        <p:nvSpPr>
          <p:cNvPr id="20" name="Text 16"/>
          <p:cNvSpPr/>
          <p:nvPr/>
        </p:nvSpPr>
        <p:spPr>
          <a:xfrm>
            <a:off x="7997800" y="2468880"/>
            <a:ext cx="1717472" cy="365760"/>
          </a:xfrm>
          <a:prstGeom prst="rect">
            <a:avLst/>
          </a:prstGeom>
          <a:noFill/>
          <a:ln/>
        </p:spPr>
        <p:txBody>
          <a:bodyPr wrap="square" lIns="0" tIns="0" rIns="0" bIns="0" rtlCol="0" anchor="ctr"/>
          <a:lstStyle/>
          <a:p>
            <a:pPr indent="0" marL="0">
              <a:buNone/>
            </a:pPr>
            <a:r>
              <a:rPr lang="en-US" sz="1900" dirty="0">
                <a:solidFill>
                  <a:srgbClr val="FFFFFF"/>
                </a:solidFill>
                <a:latin typeface="Source Serif Pro Black" pitchFamily="34" charset="0"/>
                <a:ea typeface="Source Serif Pro Black" pitchFamily="34" charset="-122"/>
                <a:cs typeface="Source Serif Pro Black" pitchFamily="34" charset="-120"/>
              </a:rPr>
              <a:t>BRL [XXX] Mn</a:t>
            </a:r>
            <a:endParaRPr lang="en-US" sz="1900" dirty="0"/>
          </a:p>
        </p:txBody>
      </p:sp>
      <p:sp>
        <p:nvSpPr>
          <p:cNvPr id="21" name="Text 17"/>
          <p:cNvSpPr/>
          <p:nvPr/>
        </p:nvSpPr>
        <p:spPr>
          <a:xfrm>
            <a:off x="7997800" y="2834640"/>
            <a:ext cx="1717472" cy="228600"/>
          </a:xfrm>
          <a:prstGeom prst="rect">
            <a:avLst/>
          </a:prstGeom>
          <a:noFill/>
          <a:ln/>
        </p:spPr>
        <p:txBody>
          <a:bodyPr wrap="square" lIns="0" tIns="0" rIns="0" bIns="0" rtlCol="0" anchor="ctr"/>
          <a:lstStyle/>
          <a:p>
            <a:pPr indent="0" marL="0">
              <a:buNone/>
            </a:pPr>
            <a:r>
              <a:rPr lang="en-US" sz="800" dirty="0">
                <a:solidFill>
                  <a:srgbClr val="C4CCD6"/>
                </a:solidFill>
                <a:latin typeface="Poppins" pitchFamily="34" charset="0"/>
                <a:ea typeface="Poppins" pitchFamily="34" charset="-122"/>
                <a:cs typeface="Poppins" pitchFamily="34" charset="-120"/>
              </a:rPr>
              <a:t>total value</a:t>
            </a:r>
            <a:endParaRPr lang="en-US" sz="800" dirty="0"/>
          </a:p>
        </p:txBody>
      </p:sp>
      <p:sp>
        <p:nvSpPr>
          <p:cNvPr id="22" name="Text 18"/>
          <p:cNvSpPr/>
          <p:nvPr/>
        </p:nvSpPr>
        <p:spPr>
          <a:xfrm>
            <a:off x="9715271" y="2468880"/>
            <a:ext cx="1717472" cy="365760"/>
          </a:xfrm>
          <a:prstGeom prst="rect">
            <a:avLst/>
          </a:prstGeom>
          <a:noFill/>
          <a:ln/>
        </p:spPr>
        <p:txBody>
          <a:bodyPr wrap="square" lIns="0" tIns="0" rIns="0" bIns="0" rtlCol="0" anchor="ctr"/>
          <a:lstStyle/>
          <a:p>
            <a:pPr indent="0" marL="0">
              <a:buNone/>
            </a:pPr>
            <a:r>
              <a:rPr lang="en-US" sz="1900" dirty="0">
                <a:solidFill>
                  <a:srgbClr val="FFFFFF"/>
                </a:solidFill>
                <a:latin typeface="Source Serif Pro Black" pitchFamily="34" charset="0"/>
                <a:ea typeface="Source Serif Pro Black" pitchFamily="34" charset="-122"/>
                <a:cs typeface="Source Serif Pro Black" pitchFamily="34" charset="-120"/>
              </a:rPr>
              <a:t>[X] years</a:t>
            </a:r>
            <a:endParaRPr lang="en-US" sz="1900" dirty="0"/>
          </a:p>
        </p:txBody>
      </p:sp>
      <p:sp>
        <p:nvSpPr>
          <p:cNvPr id="23" name="Text 19"/>
          <p:cNvSpPr/>
          <p:nvPr/>
        </p:nvSpPr>
        <p:spPr>
          <a:xfrm>
            <a:off x="9715271" y="2834640"/>
            <a:ext cx="1717472" cy="228600"/>
          </a:xfrm>
          <a:prstGeom prst="rect">
            <a:avLst/>
          </a:prstGeom>
          <a:noFill/>
          <a:ln/>
        </p:spPr>
        <p:txBody>
          <a:bodyPr wrap="square" lIns="0" tIns="0" rIns="0" bIns="0" rtlCol="0" anchor="ctr"/>
          <a:lstStyle/>
          <a:p>
            <a:pPr indent="0" marL="0">
              <a:buNone/>
            </a:pPr>
            <a:r>
              <a:rPr lang="en-US" sz="800" dirty="0">
                <a:solidFill>
                  <a:srgbClr val="C4CCD6"/>
                </a:solidFill>
                <a:latin typeface="Poppins" pitchFamily="34" charset="0"/>
                <a:ea typeface="Poppins" pitchFamily="34" charset="-122"/>
                <a:cs typeface="Poppins" pitchFamily="34" charset="-120"/>
              </a:rPr>
              <a:t>total term</a:t>
            </a:r>
            <a:endParaRPr lang="en-US" sz="800" dirty="0"/>
          </a:p>
        </p:txBody>
      </p:sp>
      <p:sp>
        <p:nvSpPr>
          <p:cNvPr id="24" name="Text 20"/>
          <p:cNvSpPr/>
          <p:nvPr/>
        </p:nvSpPr>
        <p:spPr>
          <a:xfrm>
            <a:off x="7997800" y="3172968"/>
            <a:ext cx="3434944" cy="411480"/>
          </a:xfrm>
          <a:prstGeom prst="rect">
            <a:avLst/>
          </a:prstGeom>
          <a:noFill/>
          <a:ln/>
        </p:spPr>
        <p:txBody>
          <a:bodyPr wrap="square" lIns="0" tIns="0" rIns="0" bIns="0" rtlCol="0" anchor="t"/>
          <a:lstStyle/>
          <a:p>
            <a:pPr indent="0" marL="0">
              <a:buNone/>
            </a:pPr>
            <a:r>
              <a:rPr lang="en-US" sz="900" dirty="0">
                <a:solidFill>
                  <a:srgbClr val="C4CCD6"/>
                </a:solidFill>
                <a:latin typeface="Poppins" pitchFamily="34" charset="0"/>
                <a:ea typeface="Poppins" pitchFamily="34" charset="-122"/>
                <a:cs typeface="Poppins" pitchFamily="34" charset="-120"/>
              </a:rPr>
              <a:t>[Service scope — TBC]</a:t>
            </a:r>
            <a:endParaRPr lang="en-US" sz="900" dirty="0"/>
          </a:p>
        </p:txBody>
      </p:sp>
      <p:sp>
        <p:nvSpPr>
          <p:cNvPr id="25" name="Text 21"/>
          <p:cNvSpPr/>
          <p:nvPr/>
        </p:nvSpPr>
        <p:spPr>
          <a:xfrm>
            <a:off x="502920" y="4069080"/>
            <a:ext cx="3657600" cy="237744"/>
          </a:xfrm>
          <a:prstGeom prst="rect">
            <a:avLst/>
          </a:prstGeom>
          <a:noFill/>
          <a:ln/>
        </p:spPr>
        <p:txBody>
          <a:bodyPr wrap="square" rtlCol="0" anchor="ctr"/>
          <a:lstStyle/>
          <a:p>
            <a:pPr indent="0" marL="0">
              <a:buNone/>
            </a:pPr>
            <a:r>
              <a:rPr lang="en-US" sz="1000" spc="150" kern="0" dirty="0">
                <a:solidFill>
                  <a:srgbClr val="F35B1A"/>
                </a:solidFill>
                <a:latin typeface="Poppins SemiBold" pitchFamily="34" charset="0"/>
                <a:ea typeface="Poppins SemiBold" pitchFamily="34" charset="-122"/>
                <a:cs typeface="Poppins SemiBold" pitchFamily="34" charset="-120"/>
              </a:rPr>
              <a:t>TIMELINE</a:t>
            </a:r>
            <a:endParaRPr lang="en-US" sz="1000" dirty="0"/>
          </a:p>
        </p:txBody>
      </p:sp>
      <p:sp>
        <p:nvSpPr>
          <p:cNvPr id="26" name="Shape 22"/>
          <p:cNvSpPr/>
          <p:nvPr/>
        </p:nvSpPr>
        <p:spPr>
          <a:xfrm>
            <a:off x="777240" y="4800600"/>
            <a:ext cx="10637215" cy="0"/>
          </a:xfrm>
          <a:prstGeom prst="line">
            <a:avLst/>
          </a:prstGeom>
          <a:noFill/>
          <a:ln w="25400">
            <a:solidFill>
              <a:srgbClr val="D9DEE5"/>
            </a:solidFill>
            <a:prstDash val="solid"/>
          </a:ln>
        </p:spPr>
      </p:sp>
      <p:sp>
        <p:nvSpPr>
          <p:cNvPr id="27" name="Shape 23"/>
          <p:cNvSpPr/>
          <p:nvPr/>
        </p:nvSpPr>
        <p:spPr>
          <a:xfrm>
            <a:off x="694944" y="4718304"/>
            <a:ext cx="164592" cy="164592"/>
          </a:xfrm>
          <a:prstGeom prst="ellipse">
            <a:avLst/>
          </a:prstGeom>
          <a:solidFill>
            <a:srgbClr val="222F44"/>
          </a:solidFill>
          <a:ln w="25400">
            <a:solidFill>
              <a:srgbClr val="FFFFFF"/>
            </a:solidFill>
            <a:prstDash val="solid"/>
          </a:ln>
        </p:spPr>
      </p:sp>
      <p:sp>
        <p:nvSpPr>
          <p:cNvPr id="28" name="Text 24"/>
          <p:cNvSpPr/>
          <p:nvPr/>
        </p:nvSpPr>
        <p:spPr>
          <a:xfrm>
            <a:off x="-45720" y="4343400"/>
            <a:ext cx="1645920" cy="256032"/>
          </a:xfrm>
          <a:prstGeom prst="rect">
            <a:avLst/>
          </a:prstGeom>
          <a:noFill/>
          <a:ln/>
        </p:spPr>
        <p:txBody>
          <a:bodyPr wrap="square" lIns="0" tIns="0" rIns="0" bIns="0" rtlCol="0" anchor="ctr"/>
          <a:lstStyle/>
          <a:p>
            <a:pPr algn="ctr" indent="0" marL="0">
              <a:buNone/>
            </a:pPr>
            <a:r>
              <a:rPr lang="en-US" sz="950" dirty="0">
                <a:solidFill>
                  <a:srgbClr val="222F44"/>
                </a:solidFill>
                <a:latin typeface="Poppins SemiBold" pitchFamily="34" charset="0"/>
                <a:ea typeface="Poppins SemiBold" pitchFamily="34" charset="-122"/>
                <a:cs typeface="Poppins SemiBold" pitchFamily="34" charset="-120"/>
              </a:rPr>
              <a:t>[Mon-YY]</a:t>
            </a:r>
            <a:endParaRPr lang="en-US" sz="950" dirty="0"/>
          </a:p>
        </p:txBody>
      </p:sp>
      <p:sp>
        <p:nvSpPr>
          <p:cNvPr id="29" name="Text 25"/>
          <p:cNvSpPr/>
          <p:nvPr/>
        </p:nvSpPr>
        <p:spPr>
          <a:xfrm>
            <a:off x="-45720" y="4965192"/>
            <a:ext cx="1645920" cy="365760"/>
          </a:xfrm>
          <a:prstGeom prst="rect">
            <a:avLst/>
          </a:prstGeom>
          <a:noFill/>
          <a:ln/>
        </p:spPr>
        <p:txBody>
          <a:bodyPr wrap="square" lIns="0" tIns="0" rIns="0" bIns="0" rtlCol="0" anchor="t"/>
          <a:lstStyle/>
          <a:p>
            <a:pPr algn="ctr" indent="0" marL="0">
              <a:buNone/>
            </a:pPr>
            <a:r>
              <a:rPr lang="en-US" sz="850" dirty="0">
                <a:solidFill>
                  <a:srgbClr val="6B7686"/>
                </a:solidFill>
                <a:latin typeface="Poppins" pitchFamily="34" charset="0"/>
                <a:ea typeface="Poppins" pitchFamily="34" charset="-122"/>
                <a:cs typeface="Poppins" pitchFamily="34" charset="-120"/>
              </a:rPr>
              <a:t>[Milestone — TBC]</a:t>
            </a:r>
            <a:endParaRPr lang="en-US" sz="850" dirty="0"/>
          </a:p>
        </p:txBody>
      </p:sp>
      <p:sp>
        <p:nvSpPr>
          <p:cNvPr id="30" name="Shape 26"/>
          <p:cNvSpPr/>
          <p:nvPr/>
        </p:nvSpPr>
        <p:spPr>
          <a:xfrm>
            <a:off x="4240682" y="4718304"/>
            <a:ext cx="164592" cy="164592"/>
          </a:xfrm>
          <a:prstGeom prst="ellipse">
            <a:avLst/>
          </a:prstGeom>
          <a:solidFill>
            <a:srgbClr val="222F44"/>
          </a:solidFill>
          <a:ln w="25400">
            <a:solidFill>
              <a:srgbClr val="FFFFFF"/>
            </a:solidFill>
            <a:prstDash val="solid"/>
          </a:ln>
        </p:spPr>
      </p:sp>
      <p:sp>
        <p:nvSpPr>
          <p:cNvPr id="31" name="Text 27"/>
          <p:cNvSpPr/>
          <p:nvPr/>
        </p:nvSpPr>
        <p:spPr>
          <a:xfrm>
            <a:off x="3500018" y="4343400"/>
            <a:ext cx="1645920" cy="256032"/>
          </a:xfrm>
          <a:prstGeom prst="rect">
            <a:avLst/>
          </a:prstGeom>
          <a:noFill/>
          <a:ln/>
        </p:spPr>
        <p:txBody>
          <a:bodyPr wrap="square" lIns="0" tIns="0" rIns="0" bIns="0" rtlCol="0" anchor="ctr"/>
          <a:lstStyle/>
          <a:p>
            <a:pPr algn="ctr" indent="0" marL="0">
              <a:buNone/>
            </a:pPr>
            <a:r>
              <a:rPr lang="en-US" sz="950" dirty="0">
                <a:solidFill>
                  <a:srgbClr val="222F44"/>
                </a:solidFill>
                <a:latin typeface="Poppins SemiBold" pitchFamily="34" charset="0"/>
                <a:ea typeface="Poppins SemiBold" pitchFamily="34" charset="-122"/>
                <a:cs typeface="Poppins SemiBold" pitchFamily="34" charset="-120"/>
              </a:rPr>
              <a:t>[Mon-YY]</a:t>
            </a:r>
            <a:endParaRPr lang="en-US" sz="950" dirty="0"/>
          </a:p>
        </p:txBody>
      </p:sp>
      <p:sp>
        <p:nvSpPr>
          <p:cNvPr id="32" name="Text 28"/>
          <p:cNvSpPr/>
          <p:nvPr/>
        </p:nvSpPr>
        <p:spPr>
          <a:xfrm>
            <a:off x="3500018" y="4965192"/>
            <a:ext cx="1645920" cy="365760"/>
          </a:xfrm>
          <a:prstGeom prst="rect">
            <a:avLst/>
          </a:prstGeom>
          <a:noFill/>
          <a:ln/>
        </p:spPr>
        <p:txBody>
          <a:bodyPr wrap="square" lIns="0" tIns="0" rIns="0" bIns="0" rtlCol="0" anchor="t"/>
          <a:lstStyle/>
          <a:p>
            <a:pPr algn="ctr" indent="0" marL="0">
              <a:buNone/>
            </a:pPr>
            <a:r>
              <a:rPr lang="en-US" sz="850" dirty="0">
                <a:solidFill>
                  <a:srgbClr val="6B7686"/>
                </a:solidFill>
                <a:latin typeface="Poppins" pitchFamily="34" charset="0"/>
                <a:ea typeface="Poppins" pitchFamily="34" charset="-122"/>
                <a:cs typeface="Poppins" pitchFamily="34" charset="-120"/>
              </a:rPr>
              <a:t>[Milestone — TBC]</a:t>
            </a:r>
            <a:endParaRPr lang="en-US" sz="850" dirty="0"/>
          </a:p>
        </p:txBody>
      </p:sp>
      <p:sp>
        <p:nvSpPr>
          <p:cNvPr id="33" name="Shape 29"/>
          <p:cNvSpPr/>
          <p:nvPr/>
        </p:nvSpPr>
        <p:spPr>
          <a:xfrm>
            <a:off x="7786421" y="4718304"/>
            <a:ext cx="164592" cy="164592"/>
          </a:xfrm>
          <a:prstGeom prst="ellipse">
            <a:avLst/>
          </a:prstGeom>
          <a:solidFill>
            <a:srgbClr val="222F44"/>
          </a:solidFill>
          <a:ln w="25400">
            <a:solidFill>
              <a:srgbClr val="FFFFFF"/>
            </a:solidFill>
            <a:prstDash val="solid"/>
          </a:ln>
        </p:spPr>
      </p:sp>
      <p:sp>
        <p:nvSpPr>
          <p:cNvPr id="34" name="Text 30"/>
          <p:cNvSpPr/>
          <p:nvPr/>
        </p:nvSpPr>
        <p:spPr>
          <a:xfrm>
            <a:off x="7045757" y="4343400"/>
            <a:ext cx="1645920" cy="256032"/>
          </a:xfrm>
          <a:prstGeom prst="rect">
            <a:avLst/>
          </a:prstGeom>
          <a:noFill/>
          <a:ln/>
        </p:spPr>
        <p:txBody>
          <a:bodyPr wrap="square" lIns="0" tIns="0" rIns="0" bIns="0" rtlCol="0" anchor="ctr"/>
          <a:lstStyle/>
          <a:p>
            <a:pPr algn="ctr" indent="0" marL="0">
              <a:buNone/>
            </a:pPr>
            <a:r>
              <a:rPr lang="en-US" sz="950" dirty="0">
                <a:solidFill>
                  <a:srgbClr val="222F44"/>
                </a:solidFill>
                <a:latin typeface="Poppins SemiBold" pitchFamily="34" charset="0"/>
                <a:ea typeface="Poppins SemiBold" pitchFamily="34" charset="-122"/>
                <a:cs typeface="Poppins SemiBold" pitchFamily="34" charset="-120"/>
              </a:rPr>
              <a:t>[Mon-YY]</a:t>
            </a:r>
            <a:endParaRPr lang="en-US" sz="950" dirty="0"/>
          </a:p>
        </p:txBody>
      </p:sp>
      <p:sp>
        <p:nvSpPr>
          <p:cNvPr id="35" name="Text 31"/>
          <p:cNvSpPr/>
          <p:nvPr/>
        </p:nvSpPr>
        <p:spPr>
          <a:xfrm>
            <a:off x="7045757" y="4965192"/>
            <a:ext cx="1645920" cy="365760"/>
          </a:xfrm>
          <a:prstGeom prst="rect">
            <a:avLst/>
          </a:prstGeom>
          <a:noFill/>
          <a:ln/>
        </p:spPr>
        <p:txBody>
          <a:bodyPr wrap="square" lIns="0" tIns="0" rIns="0" bIns="0" rtlCol="0" anchor="t"/>
          <a:lstStyle/>
          <a:p>
            <a:pPr algn="ctr" indent="0" marL="0">
              <a:buNone/>
            </a:pPr>
            <a:r>
              <a:rPr lang="en-US" sz="850" dirty="0">
                <a:solidFill>
                  <a:srgbClr val="6B7686"/>
                </a:solidFill>
                <a:latin typeface="Poppins" pitchFamily="34" charset="0"/>
                <a:ea typeface="Poppins" pitchFamily="34" charset="-122"/>
                <a:cs typeface="Poppins" pitchFamily="34" charset="-120"/>
              </a:rPr>
              <a:t>[Milestone — TBC]</a:t>
            </a:r>
            <a:endParaRPr lang="en-US" sz="850" dirty="0"/>
          </a:p>
        </p:txBody>
      </p:sp>
      <p:sp>
        <p:nvSpPr>
          <p:cNvPr id="36" name="Shape 32"/>
          <p:cNvSpPr/>
          <p:nvPr/>
        </p:nvSpPr>
        <p:spPr>
          <a:xfrm>
            <a:off x="11332159" y="4718304"/>
            <a:ext cx="164592" cy="164592"/>
          </a:xfrm>
          <a:prstGeom prst="ellipse">
            <a:avLst/>
          </a:prstGeom>
          <a:solidFill>
            <a:srgbClr val="222F44"/>
          </a:solidFill>
          <a:ln w="25400">
            <a:solidFill>
              <a:srgbClr val="FFFFFF"/>
            </a:solidFill>
            <a:prstDash val="solid"/>
          </a:ln>
        </p:spPr>
      </p:sp>
      <p:sp>
        <p:nvSpPr>
          <p:cNvPr id="37" name="Text 33"/>
          <p:cNvSpPr/>
          <p:nvPr/>
        </p:nvSpPr>
        <p:spPr>
          <a:xfrm>
            <a:off x="10591495" y="4343400"/>
            <a:ext cx="1645920" cy="256032"/>
          </a:xfrm>
          <a:prstGeom prst="rect">
            <a:avLst/>
          </a:prstGeom>
          <a:noFill/>
          <a:ln/>
        </p:spPr>
        <p:txBody>
          <a:bodyPr wrap="square" lIns="0" tIns="0" rIns="0" bIns="0" rtlCol="0" anchor="ctr"/>
          <a:lstStyle/>
          <a:p>
            <a:pPr algn="ctr" indent="0" marL="0">
              <a:buNone/>
            </a:pPr>
            <a:r>
              <a:rPr lang="en-US" sz="950" dirty="0">
                <a:solidFill>
                  <a:srgbClr val="222F44"/>
                </a:solidFill>
                <a:latin typeface="Poppins SemiBold" pitchFamily="34" charset="0"/>
                <a:ea typeface="Poppins SemiBold" pitchFamily="34" charset="-122"/>
                <a:cs typeface="Poppins SemiBold" pitchFamily="34" charset="-120"/>
              </a:rPr>
              <a:t>[Mon-YY]</a:t>
            </a:r>
            <a:endParaRPr lang="en-US" sz="950" dirty="0"/>
          </a:p>
        </p:txBody>
      </p:sp>
      <p:sp>
        <p:nvSpPr>
          <p:cNvPr id="38" name="Text 34"/>
          <p:cNvSpPr/>
          <p:nvPr/>
        </p:nvSpPr>
        <p:spPr>
          <a:xfrm>
            <a:off x="10591495" y="4965192"/>
            <a:ext cx="1645920" cy="365760"/>
          </a:xfrm>
          <a:prstGeom prst="rect">
            <a:avLst/>
          </a:prstGeom>
          <a:noFill/>
          <a:ln/>
        </p:spPr>
        <p:txBody>
          <a:bodyPr wrap="square" lIns="0" tIns="0" rIns="0" bIns="0" rtlCol="0" anchor="t"/>
          <a:lstStyle/>
          <a:p>
            <a:pPr algn="ctr" indent="0" marL="0">
              <a:buNone/>
            </a:pPr>
            <a:r>
              <a:rPr lang="en-US" sz="850" dirty="0">
                <a:solidFill>
                  <a:srgbClr val="6B7686"/>
                </a:solidFill>
                <a:latin typeface="Poppins" pitchFamily="34" charset="0"/>
                <a:ea typeface="Poppins" pitchFamily="34" charset="-122"/>
                <a:cs typeface="Poppins" pitchFamily="34" charset="-120"/>
              </a:rPr>
              <a:t>[Milestone — TBC]</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assets/igc_navy.png">    </p:cNvPr>
          <p:cNvPicPr>
            <a:picLocks noChangeAspect="1"/>
          </p:cNvPicPr>
          <p:nvPr/>
        </p:nvPicPr>
        <p:blipFill>
          <a:blip r:embed="rId1"/>
          <a:stretch>
            <a:fillRect/>
          </a:stretch>
        </p:blipFill>
        <p:spPr>
          <a:xfrm>
            <a:off x="11121847" y="310896"/>
            <a:ext cx="566928" cy="490078"/>
          </a:xfrm>
          <a:prstGeom prst="rect">
            <a:avLst/>
          </a:prstGeom>
        </p:spPr>
      </p:pic>
      <p:sp>
        <p:nvSpPr>
          <p:cNvPr id="3" name="Text 0"/>
          <p:cNvSpPr/>
          <p:nvPr/>
        </p:nvSpPr>
        <p:spPr>
          <a:xfrm>
            <a:off x="502920" y="384048"/>
            <a:ext cx="7315200" cy="256032"/>
          </a:xfrm>
          <a:prstGeom prst="rect">
            <a:avLst/>
          </a:prstGeom>
          <a:noFill/>
          <a:ln/>
        </p:spPr>
        <p:txBody>
          <a:bodyPr wrap="square" rtlCol="0" anchor="ctr"/>
          <a:lstStyle/>
          <a:p>
            <a:pPr algn="l" indent="0" marL="0">
              <a:buNone/>
            </a:pPr>
            <a:r>
              <a:rPr lang="en-US" sz="1050" spc="200" kern="0" dirty="0">
                <a:solidFill>
                  <a:srgbClr val="F35B1A"/>
                </a:solidFill>
                <a:latin typeface="Poppins SemiBold" pitchFamily="34" charset="0"/>
                <a:ea typeface="Poppins SemiBold" pitchFamily="34" charset="-122"/>
                <a:cs typeface="Poppins SemiBold" pitchFamily="34" charset="-120"/>
              </a:rPr>
              <a:t>COMPANY OVERVIEW</a:t>
            </a:r>
            <a:endParaRPr lang="en-US" sz="1050" dirty="0"/>
          </a:p>
        </p:txBody>
      </p:sp>
      <p:sp>
        <p:nvSpPr>
          <p:cNvPr id="4" name="Text 1"/>
          <p:cNvSpPr/>
          <p:nvPr/>
        </p:nvSpPr>
        <p:spPr>
          <a:xfrm>
            <a:off x="502920" y="603504"/>
            <a:ext cx="10408615" cy="640080"/>
          </a:xfrm>
          <a:prstGeom prst="rect">
            <a:avLst/>
          </a:prstGeom>
          <a:noFill/>
          <a:ln/>
        </p:spPr>
        <p:txBody>
          <a:bodyPr wrap="square" rtlCol="0" anchor="t"/>
          <a:lstStyle/>
          <a:p>
            <a:pPr algn="l" indent="0" marL="0">
              <a:buNone/>
            </a:pPr>
            <a:r>
              <a:rPr lang="en-US" sz="2500" dirty="0">
                <a:solidFill>
                  <a:srgbClr val="222F44"/>
                </a:solidFill>
                <a:latin typeface="Source Serif Pro SemiBold" pitchFamily="34" charset="0"/>
                <a:ea typeface="Source Serif Pro SemiBold" pitchFamily="34" charset="-122"/>
                <a:cs typeface="Source Serif Pro SemiBold" pitchFamily="34" charset="-120"/>
              </a:rPr>
              <a:t>Success case: JBS operation</a:t>
            </a:r>
            <a:endParaRPr lang="en-US" sz="2500" dirty="0"/>
          </a:p>
        </p:txBody>
      </p:sp>
      <p:sp>
        <p:nvSpPr>
          <p:cNvPr id="5" name="Text 2"/>
          <p:cNvSpPr/>
          <p:nvPr/>
        </p:nvSpPr>
        <p:spPr>
          <a:xfrm>
            <a:off x="502920" y="1225296"/>
            <a:ext cx="10408615" cy="457200"/>
          </a:xfrm>
          <a:prstGeom prst="rect">
            <a:avLst/>
          </a:prstGeom>
          <a:noFill/>
          <a:ln/>
        </p:spPr>
        <p:txBody>
          <a:bodyPr wrap="square" rtlCol="0" anchor="t"/>
          <a:lstStyle/>
          <a:p>
            <a:pPr algn="l" indent="0" marL="0">
              <a:buNone/>
            </a:pPr>
            <a:r>
              <a:rPr lang="en-US" sz="1250" dirty="0">
                <a:solidFill>
                  <a:srgbClr val="6B7686"/>
                </a:solidFill>
                <a:latin typeface="Poppins" pitchFamily="34" charset="0"/>
                <a:ea typeface="Poppins" pitchFamily="34" charset="-122"/>
                <a:cs typeface="Poppins" pitchFamily="34" charset="-120"/>
              </a:rPr>
              <a:t>Long-term relationship example — details to be confirmed with the Company</a:t>
            </a:r>
            <a:endParaRPr lang="en-US" sz="1250" dirty="0"/>
          </a:p>
        </p:txBody>
      </p:sp>
      <p:sp>
        <p:nvSpPr>
          <p:cNvPr id="6" name="Text 3"/>
          <p:cNvSpPr/>
          <p:nvPr/>
        </p:nvSpPr>
        <p:spPr>
          <a:xfrm>
            <a:off x="502920" y="6547104"/>
            <a:ext cx="10180015" cy="237744"/>
          </a:xfrm>
          <a:prstGeom prst="rect">
            <a:avLst/>
          </a:prstGeom>
          <a:noFill/>
          <a:ln/>
        </p:spPr>
        <p:txBody>
          <a:bodyPr wrap="square" rtlCol="0" anchor="ctr"/>
          <a:lstStyle/>
          <a:p>
            <a:pPr algn="l" indent="0" marL="0">
              <a:buNone/>
            </a:pPr>
            <a:r>
              <a:rPr lang="en-US" sz="700" dirty="0">
                <a:solidFill>
                  <a:srgbClr val="97A0AD"/>
                </a:solidFill>
                <a:latin typeface="Poppins" pitchFamily="34" charset="0"/>
                <a:ea typeface="Poppins" pitchFamily="34" charset="-122"/>
                <a:cs typeface="Poppins" pitchFamily="34" charset="-120"/>
              </a:rPr>
              <a:t>Source: Company — to be confirmed with management.</a:t>
            </a:r>
            <a:endParaRPr lang="en-US" sz="700" dirty="0"/>
          </a:p>
        </p:txBody>
      </p:sp>
      <p:sp>
        <p:nvSpPr>
          <p:cNvPr id="7" name="Text 4"/>
          <p:cNvSpPr/>
          <p:nvPr/>
        </p:nvSpPr>
        <p:spPr>
          <a:xfrm>
            <a:off x="10728655" y="6547104"/>
            <a:ext cx="960120" cy="237744"/>
          </a:xfrm>
          <a:prstGeom prst="rect">
            <a:avLst/>
          </a:prstGeom>
          <a:noFill/>
          <a:ln/>
        </p:spPr>
        <p:txBody>
          <a:bodyPr wrap="square" rtlCol="0" anchor="ctr"/>
          <a:lstStyle/>
          <a:p>
            <a:pPr algn="r" indent="0" marL="0">
              <a:buNone/>
            </a:pPr>
            <a:r>
              <a:rPr lang="en-US" sz="850" dirty="0">
                <a:solidFill>
                  <a:srgbClr val="97A0AD"/>
                </a:solidFill>
                <a:latin typeface="Poppins Medium" pitchFamily="34" charset="0"/>
                <a:ea typeface="Poppins Medium" pitchFamily="34" charset="-122"/>
                <a:cs typeface="Poppins Medium" pitchFamily="34" charset="-120"/>
              </a:rPr>
              <a:t>Confidential   </a:t>
            </a:r>
            <a:pPr algn="r" indent="0" marL="0">
              <a:buNone/>
            </a:pPr>
            <a:r>
              <a:rPr lang="en-US" sz="850" b="1" dirty="0">
                <a:solidFill>
                  <a:srgbClr val="222F44"/>
                </a:solidFill>
                <a:latin typeface="Poppins Medium" pitchFamily="34" charset="0"/>
                <a:ea typeface="Poppins Medium" pitchFamily="34" charset="-122"/>
                <a:cs typeface="Poppins Medium" pitchFamily="34" charset="-120"/>
              </a:rPr>
              <a:t>18</a:t>
            </a:r>
            <a:endParaRPr lang="en-US" sz="850" dirty="0"/>
          </a:p>
        </p:txBody>
      </p:sp>
      <p:sp>
        <p:nvSpPr>
          <p:cNvPr id="8" name="Shape 5"/>
          <p:cNvSpPr/>
          <p:nvPr/>
        </p:nvSpPr>
        <p:spPr>
          <a:xfrm>
            <a:off x="502920" y="1965960"/>
            <a:ext cx="2743200" cy="1371600"/>
          </a:xfrm>
          <a:prstGeom prst="roundRect">
            <a:avLst>
              <a:gd name="adj" fmla="val 6667"/>
            </a:avLst>
          </a:prstGeom>
          <a:solidFill>
            <a:srgbClr val="FFFFFF"/>
          </a:solidFill>
          <a:ln w="12700">
            <a:solidFill>
              <a:srgbClr val="D9DEE5"/>
            </a:solidFill>
            <a:prstDash val="solid"/>
          </a:ln>
          <a:effectLst>
            <a:outerShdw sx="100000" sy="100000" kx="0" ky="0" algn="bl" rotWithShape="0" blurRad="88900" dist="25400" dir="5400000">
              <a:srgbClr val="9AA6B4">
                <a:alpha val="28000"/>
              </a:srgbClr>
            </a:outerShdw>
          </a:effectLst>
        </p:spPr>
      </p:sp>
      <p:pic>
        <p:nvPicPr>
          <p:cNvPr id="9" name="Image 1" descr="assets/cli_jbs.png">    </p:cNvPr>
          <p:cNvPicPr>
            <a:picLocks noChangeAspect="1"/>
          </p:cNvPicPr>
          <p:nvPr/>
        </p:nvPicPr>
        <p:blipFill>
          <a:blip r:embed="rId2"/>
          <a:srcRect l="0" r="0" t="0" b="0"/>
          <a:stretch/>
        </p:blipFill>
        <p:spPr>
          <a:xfrm>
            <a:off x="868680" y="2240280"/>
            <a:ext cx="2011680" cy="822960"/>
          </a:xfrm>
          <a:prstGeom prst="rect">
            <a:avLst/>
          </a:prstGeom>
        </p:spPr>
      </p:pic>
      <p:sp>
        <p:nvSpPr>
          <p:cNvPr id="10" name="Text 6"/>
          <p:cNvSpPr/>
          <p:nvPr/>
        </p:nvSpPr>
        <p:spPr>
          <a:xfrm>
            <a:off x="502920" y="3429000"/>
            <a:ext cx="2743200" cy="274320"/>
          </a:xfrm>
          <a:prstGeom prst="rect">
            <a:avLst/>
          </a:prstGeom>
          <a:noFill/>
          <a:ln/>
        </p:spPr>
        <p:txBody>
          <a:bodyPr wrap="square" rtlCol="0" anchor="ctr"/>
          <a:lstStyle/>
          <a:p>
            <a:pPr algn="ctr" indent="0" marL="0">
              <a:buNone/>
            </a:pPr>
            <a:r>
              <a:rPr lang="en-US" sz="1000" dirty="0">
                <a:solidFill>
                  <a:srgbClr val="6B7686"/>
                </a:solidFill>
                <a:latin typeface="Poppins Medium" pitchFamily="34" charset="0"/>
                <a:ea typeface="Poppins Medium" pitchFamily="34" charset="-122"/>
                <a:cs typeface="Poppins Medium" pitchFamily="34" charset="-120"/>
              </a:rPr>
              <a:t>[City — State]</a:t>
            </a:r>
            <a:endParaRPr lang="en-US" sz="1000" dirty="0"/>
          </a:p>
        </p:txBody>
      </p:sp>
      <p:sp>
        <p:nvSpPr>
          <p:cNvPr id="11" name="Shape 7"/>
          <p:cNvSpPr/>
          <p:nvPr/>
        </p:nvSpPr>
        <p:spPr>
          <a:xfrm>
            <a:off x="3429000" y="1965960"/>
            <a:ext cx="3947008" cy="1737360"/>
          </a:xfrm>
          <a:prstGeom prst="roundRect">
            <a:avLst>
              <a:gd name="adj" fmla="val 5263"/>
            </a:avLst>
          </a:prstGeom>
          <a:solidFill>
            <a:srgbClr val="F5F7F9"/>
          </a:solidFill>
          <a:ln w="12700">
            <a:solidFill>
              <a:srgbClr val="D9DEE5"/>
            </a:solidFill>
            <a:prstDash val="solid"/>
          </a:ln>
        </p:spPr>
      </p:sp>
      <p:sp>
        <p:nvSpPr>
          <p:cNvPr id="12" name="Text 8"/>
          <p:cNvSpPr/>
          <p:nvPr/>
        </p:nvSpPr>
        <p:spPr>
          <a:xfrm>
            <a:off x="3685032" y="2148840"/>
            <a:ext cx="3434944" cy="274320"/>
          </a:xfrm>
          <a:prstGeom prst="rect">
            <a:avLst/>
          </a:prstGeom>
          <a:noFill/>
          <a:ln/>
        </p:spPr>
        <p:txBody>
          <a:bodyPr wrap="square" lIns="0" tIns="0" rIns="0" bIns="0" rtlCol="0" anchor="ctr"/>
          <a:lstStyle/>
          <a:p>
            <a:pPr indent="0" marL="0">
              <a:buNone/>
            </a:pPr>
            <a:r>
              <a:rPr lang="en-US" sz="950" spc="100" kern="0" dirty="0">
                <a:solidFill>
                  <a:srgbClr val="F35B1A"/>
                </a:solidFill>
                <a:latin typeface="Poppins SemiBold" pitchFamily="34" charset="0"/>
                <a:ea typeface="Poppins SemiBold" pitchFamily="34" charset="-122"/>
                <a:cs typeface="Poppins SemiBold" pitchFamily="34" charset="-120"/>
              </a:rPr>
              <a:t>START OF CONTRACT</a:t>
            </a:r>
            <a:endParaRPr lang="en-US" sz="950" dirty="0"/>
          </a:p>
        </p:txBody>
      </p:sp>
      <p:sp>
        <p:nvSpPr>
          <p:cNvPr id="13" name="Text 9"/>
          <p:cNvSpPr/>
          <p:nvPr/>
        </p:nvSpPr>
        <p:spPr>
          <a:xfrm>
            <a:off x="3685032" y="2468880"/>
            <a:ext cx="1717472" cy="365760"/>
          </a:xfrm>
          <a:prstGeom prst="rect">
            <a:avLst/>
          </a:prstGeom>
          <a:noFill/>
          <a:ln/>
        </p:spPr>
        <p:txBody>
          <a:bodyPr wrap="square" lIns="0" tIns="0" rIns="0" bIns="0" rtlCol="0" anchor="ctr"/>
          <a:lstStyle/>
          <a:p>
            <a:pPr indent="0" marL="0">
              <a:buNone/>
            </a:pPr>
            <a:r>
              <a:rPr lang="en-US" sz="1900" dirty="0">
                <a:solidFill>
                  <a:srgbClr val="222F44"/>
                </a:solidFill>
                <a:latin typeface="Source Serif Pro Black" pitchFamily="34" charset="0"/>
                <a:ea typeface="Source Serif Pro Black" pitchFamily="34" charset="-122"/>
                <a:cs typeface="Source Serif Pro Black" pitchFamily="34" charset="-120"/>
              </a:rPr>
              <a:t>BRL [XXX]k</a:t>
            </a:r>
            <a:endParaRPr lang="en-US" sz="1900" dirty="0"/>
          </a:p>
        </p:txBody>
      </p:sp>
      <p:sp>
        <p:nvSpPr>
          <p:cNvPr id="14" name="Text 10"/>
          <p:cNvSpPr/>
          <p:nvPr/>
        </p:nvSpPr>
        <p:spPr>
          <a:xfrm>
            <a:off x="3685032" y="2834640"/>
            <a:ext cx="1717472" cy="228600"/>
          </a:xfrm>
          <a:prstGeom prst="rect">
            <a:avLst/>
          </a:prstGeom>
          <a:noFill/>
          <a:ln/>
        </p:spPr>
        <p:txBody>
          <a:bodyPr wrap="square" lIns="0" tIns="0" rIns="0" bIns="0" rtlCol="0" anchor="ctr"/>
          <a:lstStyle/>
          <a:p>
            <a:pPr indent="0" marL="0">
              <a:buNone/>
            </a:pPr>
            <a:r>
              <a:rPr lang="en-US" sz="800" dirty="0">
                <a:solidFill>
                  <a:srgbClr val="6B7686"/>
                </a:solidFill>
                <a:latin typeface="Poppins" pitchFamily="34" charset="0"/>
                <a:ea typeface="Poppins" pitchFamily="34" charset="-122"/>
                <a:cs typeface="Poppins" pitchFamily="34" charset="-120"/>
              </a:rPr>
              <a:t>total value</a:t>
            </a:r>
            <a:endParaRPr lang="en-US" sz="800" dirty="0"/>
          </a:p>
        </p:txBody>
      </p:sp>
      <p:sp>
        <p:nvSpPr>
          <p:cNvPr id="15" name="Text 11"/>
          <p:cNvSpPr/>
          <p:nvPr/>
        </p:nvSpPr>
        <p:spPr>
          <a:xfrm>
            <a:off x="5402504" y="2468880"/>
            <a:ext cx="1717472" cy="365760"/>
          </a:xfrm>
          <a:prstGeom prst="rect">
            <a:avLst/>
          </a:prstGeom>
          <a:noFill/>
          <a:ln/>
        </p:spPr>
        <p:txBody>
          <a:bodyPr wrap="square" lIns="0" tIns="0" rIns="0" bIns="0" rtlCol="0" anchor="ctr"/>
          <a:lstStyle/>
          <a:p>
            <a:pPr indent="0" marL="0">
              <a:buNone/>
            </a:pPr>
            <a:r>
              <a:rPr lang="en-US" sz="1900" dirty="0">
                <a:solidFill>
                  <a:srgbClr val="222F44"/>
                </a:solidFill>
                <a:latin typeface="Source Serif Pro Black" pitchFamily="34" charset="0"/>
                <a:ea typeface="Source Serif Pro Black" pitchFamily="34" charset="-122"/>
                <a:cs typeface="Source Serif Pro Black" pitchFamily="34" charset="-120"/>
              </a:rPr>
              <a:t>[X] months</a:t>
            </a:r>
            <a:endParaRPr lang="en-US" sz="1900" dirty="0"/>
          </a:p>
        </p:txBody>
      </p:sp>
      <p:sp>
        <p:nvSpPr>
          <p:cNvPr id="16" name="Text 12"/>
          <p:cNvSpPr/>
          <p:nvPr/>
        </p:nvSpPr>
        <p:spPr>
          <a:xfrm>
            <a:off x="5402504" y="2834640"/>
            <a:ext cx="1717472" cy="228600"/>
          </a:xfrm>
          <a:prstGeom prst="rect">
            <a:avLst/>
          </a:prstGeom>
          <a:noFill/>
          <a:ln/>
        </p:spPr>
        <p:txBody>
          <a:bodyPr wrap="square" lIns="0" tIns="0" rIns="0" bIns="0" rtlCol="0" anchor="ctr"/>
          <a:lstStyle/>
          <a:p>
            <a:pPr indent="0" marL="0">
              <a:buNone/>
            </a:pPr>
            <a:r>
              <a:rPr lang="en-US" sz="800" dirty="0">
                <a:solidFill>
                  <a:srgbClr val="6B7686"/>
                </a:solidFill>
                <a:latin typeface="Poppins" pitchFamily="34" charset="0"/>
                <a:ea typeface="Poppins" pitchFamily="34" charset="-122"/>
                <a:cs typeface="Poppins" pitchFamily="34" charset="-120"/>
              </a:rPr>
              <a:t>total term</a:t>
            </a:r>
            <a:endParaRPr lang="en-US" sz="800" dirty="0"/>
          </a:p>
        </p:txBody>
      </p:sp>
      <p:sp>
        <p:nvSpPr>
          <p:cNvPr id="17" name="Text 13"/>
          <p:cNvSpPr/>
          <p:nvPr/>
        </p:nvSpPr>
        <p:spPr>
          <a:xfrm>
            <a:off x="3685032" y="3172968"/>
            <a:ext cx="3434944" cy="411480"/>
          </a:xfrm>
          <a:prstGeom prst="rect">
            <a:avLst/>
          </a:prstGeom>
          <a:noFill/>
          <a:ln/>
        </p:spPr>
        <p:txBody>
          <a:bodyPr wrap="square" lIns="0" tIns="0" rIns="0" bIns="0" rtlCol="0" anchor="t"/>
          <a:lstStyle/>
          <a:p>
            <a:pPr indent="0" marL="0">
              <a:buNone/>
            </a:pPr>
            <a:r>
              <a:rPr lang="en-US" sz="900" dirty="0">
                <a:solidFill>
                  <a:srgbClr val="6B7686"/>
                </a:solidFill>
                <a:latin typeface="Poppins" pitchFamily="34" charset="0"/>
                <a:ea typeface="Poppins" pitchFamily="34" charset="-122"/>
                <a:cs typeface="Poppins" pitchFamily="34" charset="-120"/>
              </a:rPr>
              <a:t>[Service scope — TBC]</a:t>
            </a:r>
            <a:endParaRPr lang="en-US" sz="900" dirty="0"/>
          </a:p>
        </p:txBody>
      </p:sp>
      <p:sp>
        <p:nvSpPr>
          <p:cNvPr id="18" name="Shape 14"/>
          <p:cNvSpPr/>
          <p:nvPr/>
        </p:nvSpPr>
        <p:spPr>
          <a:xfrm>
            <a:off x="7741768" y="1965960"/>
            <a:ext cx="3947008" cy="1737360"/>
          </a:xfrm>
          <a:prstGeom prst="roundRect">
            <a:avLst>
              <a:gd name="adj" fmla="val 5263"/>
            </a:avLst>
          </a:prstGeom>
          <a:solidFill>
            <a:srgbClr val="222F44"/>
          </a:solidFill>
          <a:ln/>
          <a:effectLst>
            <a:outerShdw sx="100000" sy="100000" kx="0" ky="0" algn="bl" rotWithShape="0" blurRad="88900" dist="25400" dir="5400000">
              <a:srgbClr val="9AA6B4">
                <a:alpha val="28000"/>
              </a:srgbClr>
            </a:outerShdw>
          </a:effectLst>
        </p:spPr>
      </p:sp>
      <p:sp>
        <p:nvSpPr>
          <p:cNvPr id="19" name="Text 15"/>
          <p:cNvSpPr/>
          <p:nvPr/>
        </p:nvSpPr>
        <p:spPr>
          <a:xfrm>
            <a:off x="7997800" y="2148840"/>
            <a:ext cx="3434944" cy="274320"/>
          </a:xfrm>
          <a:prstGeom prst="rect">
            <a:avLst/>
          </a:prstGeom>
          <a:noFill/>
          <a:ln/>
        </p:spPr>
        <p:txBody>
          <a:bodyPr wrap="square" lIns="0" tIns="0" rIns="0" bIns="0" rtlCol="0" anchor="ctr"/>
          <a:lstStyle/>
          <a:p>
            <a:pPr indent="0" marL="0">
              <a:buNone/>
            </a:pPr>
            <a:r>
              <a:rPr lang="en-US" sz="950" spc="100" kern="0" dirty="0">
                <a:solidFill>
                  <a:srgbClr val="F35B1A"/>
                </a:solidFill>
                <a:latin typeface="Poppins SemiBold" pitchFamily="34" charset="0"/>
                <a:ea typeface="Poppins SemiBold" pitchFamily="34" charset="-122"/>
                <a:cs typeface="Poppins SemiBold" pitchFamily="34" charset="-120"/>
              </a:rPr>
              <a:t>CURRENT CONTRACT</a:t>
            </a:r>
            <a:endParaRPr lang="en-US" sz="950" dirty="0"/>
          </a:p>
        </p:txBody>
      </p:sp>
      <p:sp>
        <p:nvSpPr>
          <p:cNvPr id="20" name="Text 16"/>
          <p:cNvSpPr/>
          <p:nvPr/>
        </p:nvSpPr>
        <p:spPr>
          <a:xfrm>
            <a:off x="7997800" y="2468880"/>
            <a:ext cx="1717472" cy="365760"/>
          </a:xfrm>
          <a:prstGeom prst="rect">
            <a:avLst/>
          </a:prstGeom>
          <a:noFill/>
          <a:ln/>
        </p:spPr>
        <p:txBody>
          <a:bodyPr wrap="square" lIns="0" tIns="0" rIns="0" bIns="0" rtlCol="0" anchor="ctr"/>
          <a:lstStyle/>
          <a:p>
            <a:pPr indent="0" marL="0">
              <a:buNone/>
            </a:pPr>
            <a:r>
              <a:rPr lang="en-US" sz="1900" dirty="0">
                <a:solidFill>
                  <a:srgbClr val="FFFFFF"/>
                </a:solidFill>
                <a:latin typeface="Source Serif Pro Black" pitchFamily="34" charset="0"/>
                <a:ea typeface="Source Serif Pro Black" pitchFamily="34" charset="-122"/>
                <a:cs typeface="Source Serif Pro Black" pitchFamily="34" charset="-120"/>
              </a:rPr>
              <a:t>BRL [XXX] Mn</a:t>
            </a:r>
            <a:endParaRPr lang="en-US" sz="1900" dirty="0"/>
          </a:p>
        </p:txBody>
      </p:sp>
      <p:sp>
        <p:nvSpPr>
          <p:cNvPr id="21" name="Text 17"/>
          <p:cNvSpPr/>
          <p:nvPr/>
        </p:nvSpPr>
        <p:spPr>
          <a:xfrm>
            <a:off x="7997800" y="2834640"/>
            <a:ext cx="1717472" cy="228600"/>
          </a:xfrm>
          <a:prstGeom prst="rect">
            <a:avLst/>
          </a:prstGeom>
          <a:noFill/>
          <a:ln/>
        </p:spPr>
        <p:txBody>
          <a:bodyPr wrap="square" lIns="0" tIns="0" rIns="0" bIns="0" rtlCol="0" anchor="ctr"/>
          <a:lstStyle/>
          <a:p>
            <a:pPr indent="0" marL="0">
              <a:buNone/>
            </a:pPr>
            <a:r>
              <a:rPr lang="en-US" sz="800" dirty="0">
                <a:solidFill>
                  <a:srgbClr val="C4CCD6"/>
                </a:solidFill>
                <a:latin typeface="Poppins" pitchFamily="34" charset="0"/>
                <a:ea typeface="Poppins" pitchFamily="34" charset="-122"/>
                <a:cs typeface="Poppins" pitchFamily="34" charset="-120"/>
              </a:rPr>
              <a:t>total value</a:t>
            </a:r>
            <a:endParaRPr lang="en-US" sz="800" dirty="0"/>
          </a:p>
        </p:txBody>
      </p:sp>
      <p:sp>
        <p:nvSpPr>
          <p:cNvPr id="22" name="Text 18"/>
          <p:cNvSpPr/>
          <p:nvPr/>
        </p:nvSpPr>
        <p:spPr>
          <a:xfrm>
            <a:off x="9715271" y="2468880"/>
            <a:ext cx="1717472" cy="365760"/>
          </a:xfrm>
          <a:prstGeom prst="rect">
            <a:avLst/>
          </a:prstGeom>
          <a:noFill/>
          <a:ln/>
        </p:spPr>
        <p:txBody>
          <a:bodyPr wrap="square" lIns="0" tIns="0" rIns="0" bIns="0" rtlCol="0" anchor="ctr"/>
          <a:lstStyle/>
          <a:p>
            <a:pPr indent="0" marL="0">
              <a:buNone/>
            </a:pPr>
            <a:r>
              <a:rPr lang="en-US" sz="1900" dirty="0">
                <a:solidFill>
                  <a:srgbClr val="FFFFFF"/>
                </a:solidFill>
                <a:latin typeface="Source Serif Pro Black" pitchFamily="34" charset="0"/>
                <a:ea typeface="Source Serif Pro Black" pitchFamily="34" charset="-122"/>
                <a:cs typeface="Source Serif Pro Black" pitchFamily="34" charset="-120"/>
              </a:rPr>
              <a:t>[X] years</a:t>
            </a:r>
            <a:endParaRPr lang="en-US" sz="1900" dirty="0"/>
          </a:p>
        </p:txBody>
      </p:sp>
      <p:sp>
        <p:nvSpPr>
          <p:cNvPr id="23" name="Text 19"/>
          <p:cNvSpPr/>
          <p:nvPr/>
        </p:nvSpPr>
        <p:spPr>
          <a:xfrm>
            <a:off x="9715271" y="2834640"/>
            <a:ext cx="1717472" cy="228600"/>
          </a:xfrm>
          <a:prstGeom prst="rect">
            <a:avLst/>
          </a:prstGeom>
          <a:noFill/>
          <a:ln/>
        </p:spPr>
        <p:txBody>
          <a:bodyPr wrap="square" lIns="0" tIns="0" rIns="0" bIns="0" rtlCol="0" anchor="ctr"/>
          <a:lstStyle/>
          <a:p>
            <a:pPr indent="0" marL="0">
              <a:buNone/>
            </a:pPr>
            <a:r>
              <a:rPr lang="en-US" sz="800" dirty="0">
                <a:solidFill>
                  <a:srgbClr val="C4CCD6"/>
                </a:solidFill>
                <a:latin typeface="Poppins" pitchFamily="34" charset="0"/>
                <a:ea typeface="Poppins" pitchFamily="34" charset="-122"/>
                <a:cs typeface="Poppins" pitchFamily="34" charset="-120"/>
              </a:rPr>
              <a:t>total term</a:t>
            </a:r>
            <a:endParaRPr lang="en-US" sz="800" dirty="0"/>
          </a:p>
        </p:txBody>
      </p:sp>
      <p:sp>
        <p:nvSpPr>
          <p:cNvPr id="24" name="Text 20"/>
          <p:cNvSpPr/>
          <p:nvPr/>
        </p:nvSpPr>
        <p:spPr>
          <a:xfrm>
            <a:off x="7997800" y="3172968"/>
            <a:ext cx="3434944" cy="411480"/>
          </a:xfrm>
          <a:prstGeom prst="rect">
            <a:avLst/>
          </a:prstGeom>
          <a:noFill/>
          <a:ln/>
        </p:spPr>
        <p:txBody>
          <a:bodyPr wrap="square" lIns="0" tIns="0" rIns="0" bIns="0" rtlCol="0" anchor="t"/>
          <a:lstStyle/>
          <a:p>
            <a:pPr indent="0" marL="0">
              <a:buNone/>
            </a:pPr>
            <a:r>
              <a:rPr lang="en-US" sz="900" dirty="0">
                <a:solidFill>
                  <a:srgbClr val="C4CCD6"/>
                </a:solidFill>
                <a:latin typeface="Poppins" pitchFamily="34" charset="0"/>
                <a:ea typeface="Poppins" pitchFamily="34" charset="-122"/>
                <a:cs typeface="Poppins" pitchFamily="34" charset="-120"/>
              </a:rPr>
              <a:t>[Service scope — TBC]</a:t>
            </a:r>
            <a:endParaRPr lang="en-US" sz="900" dirty="0"/>
          </a:p>
        </p:txBody>
      </p:sp>
      <p:sp>
        <p:nvSpPr>
          <p:cNvPr id="25" name="Text 21"/>
          <p:cNvSpPr/>
          <p:nvPr/>
        </p:nvSpPr>
        <p:spPr>
          <a:xfrm>
            <a:off x="502920" y="4069080"/>
            <a:ext cx="3657600" cy="237744"/>
          </a:xfrm>
          <a:prstGeom prst="rect">
            <a:avLst/>
          </a:prstGeom>
          <a:noFill/>
          <a:ln/>
        </p:spPr>
        <p:txBody>
          <a:bodyPr wrap="square" rtlCol="0" anchor="ctr"/>
          <a:lstStyle/>
          <a:p>
            <a:pPr indent="0" marL="0">
              <a:buNone/>
            </a:pPr>
            <a:r>
              <a:rPr lang="en-US" sz="1000" spc="150" kern="0" dirty="0">
                <a:solidFill>
                  <a:srgbClr val="F35B1A"/>
                </a:solidFill>
                <a:latin typeface="Poppins SemiBold" pitchFamily="34" charset="0"/>
                <a:ea typeface="Poppins SemiBold" pitchFamily="34" charset="-122"/>
                <a:cs typeface="Poppins SemiBold" pitchFamily="34" charset="-120"/>
              </a:rPr>
              <a:t>TIMELINE</a:t>
            </a:r>
            <a:endParaRPr lang="en-US" sz="1000" dirty="0"/>
          </a:p>
        </p:txBody>
      </p:sp>
      <p:sp>
        <p:nvSpPr>
          <p:cNvPr id="26" name="Shape 22"/>
          <p:cNvSpPr/>
          <p:nvPr/>
        </p:nvSpPr>
        <p:spPr>
          <a:xfrm>
            <a:off x="777240" y="4800600"/>
            <a:ext cx="10637215" cy="0"/>
          </a:xfrm>
          <a:prstGeom prst="line">
            <a:avLst/>
          </a:prstGeom>
          <a:noFill/>
          <a:ln w="25400">
            <a:solidFill>
              <a:srgbClr val="D9DEE5"/>
            </a:solidFill>
            <a:prstDash val="solid"/>
          </a:ln>
        </p:spPr>
      </p:sp>
      <p:sp>
        <p:nvSpPr>
          <p:cNvPr id="27" name="Shape 23"/>
          <p:cNvSpPr/>
          <p:nvPr/>
        </p:nvSpPr>
        <p:spPr>
          <a:xfrm>
            <a:off x="694944" y="4718304"/>
            <a:ext cx="164592" cy="164592"/>
          </a:xfrm>
          <a:prstGeom prst="ellipse">
            <a:avLst/>
          </a:prstGeom>
          <a:solidFill>
            <a:srgbClr val="222F44"/>
          </a:solidFill>
          <a:ln w="25400">
            <a:solidFill>
              <a:srgbClr val="FFFFFF"/>
            </a:solidFill>
            <a:prstDash val="solid"/>
          </a:ln>
        </p:spPr>
      </p:sp>
      <p:sp>
        <p:nvSpPr>
          <p:cNvPr id="28" name="Text 24"/>
          <p:cNvSpPr/>
          <p:nvPr/>
        </p:nvSpPr>
        <p:spPr>
          <a:xfrm>
            <a:off x="-45720" y="4343400"/>
            <a:ext cx="1645920" cy="256032"/>
          </a:xfrm>
          <a:prstGeom prst="rect">
            <a:avLst/>
          </a:prstGeom>
          <a:noFill/>
          <a:ln/>
        </p:spPr>
        <p:txBody>
          <a:bodyPr wrap="square" lIns="0" tIns="0" rIns="0" bIns="0" rtlCol="0" anchor="ctr"/>
          <a:lstStyle/>
          <a:p>
            <a:pPr algn="ctr" indent="0" marL="0">
              <a:buNone/>
            </a:pPr>
            <a:r>
              <a:rPr lang="en-US" sz="950" dirty="0">
                <a:solidFill>
                  <a:srgbClr val="222F44"/>
                </a:solidFill>
                <a:latin typeface="Poppins SemiBold" pitchFamily="34" charset="0"/>
                <a:ea typeface="Poppins SemiBold" pitchFamily="34" charset="-122"/>
                <a:cs typeface="Poppins SemiBold" pitchFamily="34" charset="-120"/>
              </a:rPr>
              <a:t>[Mon-YY]</a:t>
            </a:r>
            <a:endParaRPr lang="en-US" sz="950" dirty="0"/>
          </a:p>
        </p:txBody>
      </p:sp>
      <p:sp>
        <p:nvSpPr>
          <p:cNvPr id="29" name="Text 25"/>
          <p:cNvSpPr/>
          <p:nvPr/>
        </p:nvSpPr>
        <p:spPr>
          <a:xfrm>
            <a:off x="-45720" y="4965192"/>
            <a:ext cx="1645920" cy="365760"/>
          </a:xfrm>
          <a:prstGeom prst="rect">
            <a:avLst/>
          </a:prstGeom>
          <a:noFill/>
          <a:ln/>
        </p:spPr>
        <p:txBody>
          <a:bodyPr wrap="square" lIns="0" tIns="0" rIns="0" bIns="0" rtlCol="0" anchor="t"/>
          <a:lstStyle/>
          <a:p>
            <a:pPr algn="ctr" indent="0" marL="0">
              <a:buNone/>
            </a:pPr>
            <a:r>
              <a:rPr lang="en-US" sz="850" dirty="0">
                <a:solidFill>
                  <a:srgbClr val="6B7686"/>
                </a:solidFill>
                <a:latin typeface="Poppins" pitchFamily="34" charset="0"/>
                <a:ea typeface="Poppins" pitchFamily="34" charset="-122"/>
                <a:cs typeface="Poppins" pitchFamily="34" charset="-120"/>
              </a:rPr>
              <a:t>[Milestone — TBC]</a:t>
            </a:r>
            <a:endParaRPr lang="en-US" sz="850" dirty="0"/>
          </a:p>
        </p:txBody>
      </p:sp>
      <p:sp>
        <p:nvSpPr>
          <p:cNvPr id="30" name="Shape 26"/>
          <p:cNvSpPr/>
          <p:nvPr/>
        </p:nvSpPr>
        <p:spPr>
          <a:xfrm>
            <a:off x="4240682" y="4718304"/>
            <a:ext cx="164592" cy="164592"/>
          </a:xfrm>
          <a:prstGeom prst="ellipse">
            <a:avLst/>
          </a:prstGeom>
          <a:solidFill>
            <a:srgbClr val="222F44"/>
          </a:solidFill>
          <a:ln w="25400">
            <a:solidFill>
              <a:srgbClr val="FFFFFF"/>
            </a:solidFill>
            <a:prstDash val="solid"/>
          </a:ln>
        </p:spPr>
      </p:sp>
      <p:sp>
        <p:nvSpPr>
          <p:cNvPr id="31" name="Text 27"/>
          <p:cNvSpPr/>
          <p:nvPr/>
        </p:nvSpPr>
        <p:spPr>
          <a:xfrm>
            <a:off x="3500018" y="4343400"/>
            <a:ext cx="1645920" cy="256032"/>
          </a:xfrm>
          <a:prstGeom prst="rect">
            <a:avLst/>
          </a:prstGeom>
          <a:noFill/>
          <a:ln/>
        </p:spPr>
        <p:txBody>
          <a:bodyPr wrap="square" lIns="0" tIns="0" rIns="0" bIns="0" rtlCol="0" anchor="ctr"/>
          <a:lstStyle/>
          <a:p>
            <a:pPr algn="ctr" indent="0" marL="0">
              <a:buNone/>
            </a:pPr>
            <a:r>
              <a:rPr lang="en-US" sz="950" dirty="0">
                <a:solidFill>
                  <a:srgbClr val="222F44"/>
                </a:solidFill>
                <a:latin typeface="Poppins SemiBold" pitchFamily="34" charset="0"/>
                <a:ea typeface="Poppins SemiBold" pitchFamily="34" charset="-122"/>
                <a:cs typeface="Poppins SemiBold" pitchFamily="34" charset="-120"/>
              </a:rPr>
              <a:t>[Mon-YY]</a:t>
            </a:r>
            <a:endParaRPr lang="en-US" sz="950" dirty="0"/>
          </a:p>
        </p:txBody>
      </p:sp>
      <p:sp>
        <p:nvSpPr>
          <p:cNvPr id="32" name="Text 28"/>
          <p:cNvSpPr/>
          <p:nvPr/>
        </p:nvSpPr>
        <p:spPr>
          <a:xfrm>
            <a:off x="3500018" y="4965192"/>
            <a:ext cx="1645920" cy="365760"/>
          </a:xfrm>
          <a:prstGeom prst="rect">
            <a:avLst/>
          </a:prstGeom>
          <a:noFill/>
          <a:ln/>
        </p:spPr>
        <p:txBody>
          <a:bodyPr wrap="square" lIns="0" tIns="0" rIns="0" bIns="0" rtlCol="0" anchor="t"/>
          <a:lstStyle/>
          <a:p>
            <a:pPr algn="ctr" indent="0" marL="0">
              <a:buNone/>
            </a:pPr>
            <a:r>
              <a:rPr lang="en-US" sz="850" dirty="0">
                <a:solidFill>
                  <a:srgbClr val="6B7686"/>
                </a:solidFill>
                <a:latin typeface="Poppins" pitchFamily="34" charset="0"/>
                <a:ea typeface="Poppins" pitchFamily="34" charset="-122"/>
                <a:cs typeface="Poppins" pitchFamily="34" charset="-120"/>
              </a:rPr>
              <a:t>[Milestone — TBC]</a:t>
            </a:r>
            <a:endParaRPr lang="en-US" sz="850" dirty="0"/>
          </a:p>
        </p:txBody>
      </p:sp>
      <p:sp>
        <p:nvSpPr>
          <p:cNvPr id="33" name="Shape 29"/>
          <p:cNvSpPr/>
          <p:nvPr/>
        </p:nvSpPr>
        <p:spPr>
          <a:xfrm>
            <a:off x="7786421" y="4718304"/>
            <a:ext cx="164592" cy="164592"/>
          </a:xfrm>
          <a:prstGeom prst="ellipse">
            <a:avLst/>
          </a:prstGeom>
          <a:solidFill>
            <a:srgbClr val="222F44"/>
          </a:solidFill>
          <a:ln w="25400">
            <a:solidFill>
              <a:srgbClr val="FFFFFF"/>
            </a:solidFill>
            <a:prstDash val="solid"/>
          </a:ln>
        </p:spPr>
      </p:sp>
      <p:sp>
        <p:nvSpPr>
          <p:cNvPr id="34" name="Text 30"/>
          <p:cNvSpPr/>
          <p:nvPr/>
        </p:nvSpPr>
        <p:spPr>
          <a:xfrm>
            <a:off x="7045757" y="4343400"/>
            <a:ext cx="1645920" cy="256032"/>
          </a:xfrm>
          <a:prstGeom prst="rect">
            <a:avLst/>
          </a:prstGeom>
          <a:noFill/>
          <a:ln/>
        </p:spPr>
        <p:txBody>
          <a:bodyPr wrap="square" lIns="0" tIns="0" rIns="0" bIns="0" rtlCol="0" anchor="ctr"/>
          <a:lstStyle/>
          <a:p>
            <a:pPr algn="ctr" indent="0" marL="0">
              <a:buNone/>
            </a:pPr>
            <a:r>
              <a:rPr lang="en-US" sz="950" dirty="0">
                <a:solidFill>
                  <a:srgbClr val="222F44"/>
                </a:solidFill>
                <a:latin typeface="Poppins SemiBold" pitchFamily="34" charset="0"/>
                <a:ea typeface="Poppins SemiBold" pitchFamily="34" charset="-122"/>
                <a:cs typeface="Poppins SemiBold" pitchFamily="34" charset="-120"/>
              </a:rPr>
              <a:t>[Mon-YY]</a:t>
            </a:r>
            <a:endParaRPr lang="en-US" sz="950" dirty="0"/>
          </a:p>
        </p:txBody>
      </p:sp>
      <p:sp>
        <p:nvSpPr>
          <p:cNvPr id="35" name="Text 31"/>
          <p:cNvSpPr/>
          <p:nvPr/>
        </p:nvSpPr>
        <p:spPr>
          <a:xfrm>
            <a:off x="7045757" y="4965192"/>
            <a:ext cx="1645920" cy="365760"/>
          </a:xfrm>
          <a:prstGeom prst="rect">
            <a:avLst/>
          </a:prstGeom>
          <a:noFill/>
          <a:ln/>
        </p:spPr>
        <p:txBody>
          <a:bodyPr wrap="square" lIns="0" tIns="0" rIns="0" bIns="0" rtlCol="0" anchor="t"/>
          <a:lstStyle/>
          <a:p>
            <a:pPr algn="ctr" indent="0" marL="0">
              <a:buNone/>
            </a:pPr>
            <a:r>
              <a:rPr lang="en-US" sz="850" dirty="0">
                <a:solidFill>
                  <a:srgbClr val="6B7686"/>
                </a:solidFill>
                <a:latin typeface="Poppins" pitchFamily="34" charset="0"/>
                <a:ea typeface="Poppins" pitchFamily="34" charset="-122"/>
                <a:cs typeface="Poppins" pitchFamily="34" charset="-120"/>
              </a:rPr>
              <a:t>[Milestone — TBC]</a:t>
            </a:r>
            <a:endParaRPr lang="en-US" sz="850" dirty="0"/>
          </a:p>
        </p:txBody>
      </p:sp>
      <p:sp>
        <p:nvSpPr>
          <p:cNvPr id="36" name="Shape 32"/>
          <p:cNvSpPr/>
          <p:nvPr/>
        </p:nvSpPr>
        <p:spPr>
          <a:xfrm>
            <a:off x="11332159" y="4718304"/>
            <a:ext cx="164592" cy="164592"/>
          </a:xfrm>
          <a:prstGeom prst="ellipse">
            <a:avLst/>
          </a:prstGeom>
          <a:solidFill>
            <a:srgbClr val="222F44"/>
          </a:solidFill>
          <a:ln w="25400">
            <a:solidFill>
              <a:srgbClr val="FFFFFF"/>
            </a:solidFill>
            <a:prstDash val="solid"/>
          </a:ln>
        </p:spPr>
      </p:sp>
      <p:sp>
        <p:nvSpPr>
          <p:cNvPr id="37" name="Text 33"/>
          <p:cNvSpPr/>
          <p:nvPr/>
        </p:nvSpPr>
        <p:spPr>
          <a:xfrm>
            <a:off x="10591495" y="4343400"/>
            <a:ext cx="1645920" cy="256032"/>
          </a:xfrm>
          <a:prstGeom prst="rect">
            <a:avLst/>
          </a:prstGeom>
          <a:noFill/>
          <a:ln/>
        </p:spPr>
        <p:txBody>
          <a:bodyPr wrap="square" lIns="0" tIns="0" rIns="0" bIns="0" rtlCol="0" anchor="ctr"/>
          <a:lstStyle/>
          <a:p>
            <a:pPr algn="ctr" indent="0" marL="0">
              <a:buNone/>
            </a:pPr>
            <a:r>
              <a:rPr lang="en-US" sz="950" dirty="0">
                <a:solidFill>
                  <a:srgbClr val="222F44"/>
                </a:solidFill>
                <a:latin typeface="Poppins SemiBold" pitchFamily="34" charset="0"/>
                <a:ea typeface="Poppins SemiBold" pitchFamily="34" charset="-122"/>
                <a:cs typeface="Poppins SemiBold" pitchFamily="34" charset="-120"/>
              </a:rPr>
              <a:t>[Mon-YY]</a:t>
            </a:r>
            <a:endParaRPr lang="en-US" sz="950" dirty="0"/>
          </a:p>
        </p:txBody>
      </p:sp>
      <p:sp>
        <p:nvSpPr>
          <p:cNvPr id="38" name="Text 34"/>
          <p:cNvSpPr/>
          <p:nvPr/>
        </p:nvSpPr>
        <p:spPr>
          <a:xfrm>
            <a:off x="10591495" y="4965192"/>
            <a:ext cx="1645920" cy="365760"/>
          </a:xfrm>
          <a:prstGeom prst="rect">
            <a:avLst/>
          </a:prstGeom>
          <a:noFill/>
          <a:ln/>
        </p:spPr>
        <p:txBody>
          <a:bodyPr wrap="square" lIns="0" tIns="0" rIns="0" bIns="0" rtlCol="0" anchor="t"/>
          <a:lstStyle/>
          <a:p>
            <a:pPr algn="ctr" indent="0" marL="0">
              <a:buNone/>
            </a:pPr>
            <a:r>
              <a:rPr lang="en-US" sz="850" dirty="0">
                <a:solidFill>
                  <a:srgbClr val="6B7686"/>
                </a:solidFill>
                <a:latin typeface="Poppins" pitchFamily="34" charset="0"/>
                <a:ea typeface="Poppins" pitchFamily="34" charset="-122"/>
                <a:cs typeface="Poppins" pitchFamily="34" charset="-120"/>
              </a:rPr>
              <a:t>[Milestone — TBC]</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assets/igc_navy.png">    </p:cNvPr>
          <p:cNvPicPr>
            <a:picLocks noChangeAspect="1"/>
          </p:cNvPicPr>
          <p:nvPr/>
        </p:nvPicPr>
        <p:blipFill>
          <a:blip r:embed="rId1"/>
          <a:stretch>
            <a:fillRect/>
          </a:stretch>
        </p:blipFill>
        <p:spPr>
          <a:xfrm>
            <a:off x="11121847" y="310896"/>
            <a:ext cx="566928" cy="490078"/>
          </a:xfrm>
          <a:prstGeom prst="rect">
            <a:avLst/>
          </a:prstGeom>
        </p:spPr>
      </p:pic>
      <p:sp>
        <p:nvSpPr>
          <p:cNvPr id="3" name="Text 0"/>
          <p:cNvSpPr/>
          <p:nvPr/>
        </p:nvSpPr>
        <p:spPr>
          <a:xfrm>
            <a:off x="502920" y="384048"/>
            <a:ext cx="7315200" cy="256032"/>
          </a:xfrm>
          <a:prstGeom prst="rect">
            <a:avLst/>
          </a:prstGeom>
          <a:noFill/>
          <a:ln/>
        </p:spPr>
        <p:txBody>
          <a:bodyPr wrap="square" rtlCol="0" anchor="ctr"/>
          <a:lstStyle/>
          <a:p>
            <a:pPr algn="l" indent="0" marL="0">
              <a:buNone/>
            </a:pPr>
            <a:r>
              <a:rPr lang="en-US" sz="1050" spc="200" kern="0" dirty="0">
                <a:solidFill>
                  <a:srgbClr val="F35B1A"/>
                </a:solidFill>
                <a:latin typeface="Poppins SemiBold" pitchFamily="34" charset="0"/>
                <a:ea typeface="Poppins SemiBold" pitchFamily="34" charset="-122"/>
                <a:cs typeface="Poppins SemiBold" pitchFamily="34" charset="-120"/>
              </a:rPr>
              <a:t>COMPANY OVERVIEW</a:t>
            </a:r>
            <a:endParaRPr lang="en-US" sz="1050" dirty="0"/>
          </a:p>
        </p:txBody>
      </p:sp>
      <p:sp>
        <p:nvSpPr>
          <p:cNvPr id="4" name="Text 1"/>
          <p:cNvSpPr/>
          <p:nvPr/>
        </p:nvSpPr>
        <p:spPr>
          <a:xfrm>
            <a:off x="502920" y="603504"/>
            <a:ext cx="10408615" cy="640080"/>
          </a:xfrm>
          <a:prstGeom prst="rect">
            <a:avLst/>
          </a:prstGeom>
          <a:noFill/>
          <a:ln/>
        </p:spPr>
        <p:txBody>
          <a:bodyPr wrap="square" rtlCol="0" anchor="t"/>
          <a:lstStyle/>
          <a:p>
            <a:pPr algn="l" indent="0" marL="0">
              <a:buNone/>
            </a:pPr>
            <a:r>
              <a:rPr lang="en-US" sz="2500" dirty="0">
                <a:solidFill>
                  <a:srgbClr val="222F44"/>
                </a:solidFill>
                <a:latin typeface="Source Serif Pro SemiBold" pitchFamily="34" charset="0"/>
                <a:ea typeface="Source Serif Pro SemiBold" pitchFamily="34" charset="-122"/>
                <a:cs typeface="Source Serif Pro SemiBold" pitchFamily="34" charset="-120"/>
              </a:rPr>
              <a:t>Success case: Votorantim Cimentos operation</a:t>
            </a:r>
            <a:endParaRPr lang="en-US" sz="2500" dirty="0"/>
          </a:p>
        </p:txBody>
      </p:sp>
      <p:sp>
        <p:nvSpPr>
          <p:cNvPr id="5" name="Text 2"/>
          <p:cNvSpPr/>
          <p:nvPr/>
        </p:nvSpPr>
        <p:spPr>
          <a:xfrm>
            <a:off x="502920" y="1225296"/>
            <a:ext cx="10408615" cy="457200"/>
          </a:xfrm>
          <a:prstGeom prst="rect">
            <a:avLst/>
          </a:prstGeom>
          <a:noFill/>
          <a:ln/>
        </p:spPr>
        <p:txBody>
          <a:bodyPr wrap="square" rtlCol="0" anchor="t"/>
          <a:lstStyle/>
          <a:p>
            <a:pPr algn="l" indent="0" marL="0">
              <a:buNone/>
            </a:pPr>
            <a:r>
              <a:rPr lang="en-US" sz="1250" dirty="0">
                <a:solidFill>
                  <a:srgbClr val="6B7686"/>
                </a:solidFill>
                <a:latin typeface="Poppins" pitchFamily="34" charset="0"/>
                <a:ea typeface="Poppins" pitchFamily="34" charset="-122"/>
                <a:cs typeface="Poppins" pitchFamily="34" charset="-120"/>
              </a:rPr>
              <a:t>Long-term relationship example — details to be confirmed with the Company</a:t>
            </a:r>
            <a:endParaRPr lang="en-US" sz="1250" dirty="0"/>
          </a:p>
        </p:txBody>
      </p:sp>
      <p:sp>
        <p:nvSpPr>
          <p:cNvPr id="6" name="Text 3"/>
          <p:cNvSpPr/>
          <p:nvPr/>
        </p:nvSpPr>
        <p:spPr>
          <a:xfrm>
            <a:off x="502920" y="6547104"/>
            <a:ext cx="10180015" cy="237744"/>
          </a:xfrm>
          <a:prstGeom prst="rect">
            <a:avLst/>
          </a:prstGeom>
          <a:noFill/>
          <a:ln/>
        </p:spPr>
        <p:txBody>
          <a:bodyPr wrap="square" rtlCol="0" anchor="ctr"/>
          <a:lstStyle/>
          <a:p>
            <a:pPr algn="l" indent="0" marL="0">
              <a:buNone/>
            </a:pPr>
            <a:r>
              <a:rPr lang="en-US" sz="700" dirty="0">
                <a:solidFill>
                  <a:srgbClr val="97A0AD"/>
                </a:solidFill>
                <a:latin typeface="Poppins" pitchFamily="34" charset="0"/>
                <a:ea typeface="Poppins" pitchFamily="34" charset="-122"/>
                <a:cs typeface="Poppins" pitchFamily="34" charset="-120"/>
              </a:rPr>
              <a:t>Source: Company — to be confirmed with management.</a:t>
            </a:r>
            <a:endParaRPr lang="en-US" sz="700" dirty="0"/>
          </a:p>
        </p:txBody>
      </p:sp>
      <p:sp>
        <p:nvSpPr>
          <p:cNvPr id="7" name="Text 4"/>
          <p:cNvSpPr/>
          <p:nvPr/>
        </p:nvSpPr>
        <p:spPr>
          <a:xfrm>
            <a:off x="10728655" y="6547104"/>
            <a:ext cx="960120" cy="237744"/>
          </a:xfrm>
          <a:prstGeom prst="rect">
            <a:avLst/>
          </a:prstGeom>
          <a:noFill/>
          <a:ln/>
        </p:spPr>
        <p:txBody>
          <a:bodyPr wrap="square" rtlCol="0" anchor="ctr"/>
          <a:lstStyle/>
          <a:p>
            <a:pPr algn="r" indent="0" marL="0">
              <a:buNone/>
            </a:pPr>
            <a:r>
              <a:rPr lang="en-US" sz="850" dirty="0">
                <a:solidFill>
                  <a:srgbClr val="97A0AD"/>
                </a:solidFill>
                <a:latin typeface="Poppins Medium" pitchFamily="34" charset="0"/>
                <a:ea typeface="Poppins Medium" pitchFamily="34" charset="-122"/>
                <a:cs typeface="Poppins Medium" pitchFamily="34" charset="-120"/>
              </a:rPr>
              <a:t>Confidential   </a:t>
            </a:r>
            <a:pPr algn="r" indent="0" marL="0">
              <a:buNone/>
            </a:pPr>
            <a:r>
              <a:rPr lang="en-US" sz="850" b="1" dirty="0">
                <a:solidFill>
                  <a:srgbClr val="222F44"/>
                </a:solidFill>
                <a:latin typeface="Poppins Medium" pitchFamily="34" charset="0"/>
                <a:ea typeface="Poppins Medium" pitchFamily="34" charset="-122"/>
                <a:cs typeface="Poppins Medium" pitchFamily="34" charset="-120"/>
              </a:rPr>
              <a:t>19</a:t>
            </a:r>
            <a:endParaRPr lang="en-US" sz="850" dirty="0"/>
          </a:p>
        </p:txBody>
      </p:sp>
      <p:sp>
        <p:nvSpPr>
          <p:cNvPr id="8" name="Shape 5"/>
          <p:cNvSpPr/>
          <p:nvPr/>
        </p:nvSpPr>
        <p:spPr>
          <a:xfrm>
            <a:off x="502920" y="1965960"/>
            <a:ext cx="2743200" cy="1371600"/>
          </a:xfrm>
          <a:prstGeom prst="roundRect">
            <a:avLst>
              <a:gd name="adj" fmla="val 6667"/>
            </a:avLst>
          </a:prstGeom>
          <a:solidFill>
            <a:srgbClr val="FFFFFF"/>
          </a:solidFill>
          <a:ln w="12700">
            <a:solidFill>
              <a:srgbClr val="D9DEE5"/>
            </a:solidFill>
            <a:prstDash val="solid"/>
          </a:ln>
          <a:effectLst>
            <a:outerShdw sx="100000" sy="100000" kx="0" ky="0" algn="bl" rotWithShape="0" blurRad="88900" dist="25400" dir="5400000">
              <a:srgbClr val="9AA6B4">
                <a:alpha val="28000"/>
              </a:srgbClr>
            </a:outerShdw>
          </a:effectLst>
        </p:spPr>
      </p:sp>
      <p:pic>
        <p:nvPicPr>
          <p:cNvPr id="9" name="Image 1" descr="assets/cli_votorantim.png">    </p:cNvPr>
          <p:cNvPicPr>
            <a:picLocks noChangeAspect="1"/>
          </p:cNvPicPr>
          <p:nvPr/>
        </p:nvPicPr>
        <p:blipFill>
          <a:blip r:embed="rId2"/>
          <a:srcRect l="0" r="0" t="0" b="0"/>
          <a:stretch/>
        </p:blipFill>
        <p:spPr>
          <a:xfrm>
            <a:off x="868680" y="2240280"/>
            <a:ext cx="2011680" cy="822960"/>
          </a:xfrm>
          <a:prstGeom prst="rect">
            <a:avLst/>
          </a:prstGeom>
        </p:spPr>
      </p:pic>
      <p:sp>
        <p:nvSpPr>
          <p:cNvPr id="10" name="Text 6"/>
          <p:cNvSpPr/>
          <p:nvPr/>
        </p:nvSpPr>
        <p:spPr>
          <a:xfrm>
            <a:off x="502920" y="3429000"/>
            <a:ext cx="2743200" cy="274320"/>
          </a:xfrm>
          <a:prstGeom prst="rect">
            <a:avLst/>
          </a:prstGeom>
          <a:noFill/>
          <a:ln/>
        </p:spPr>
        <p:txBody>
          <a:bodyPr wrap="square" rtlCol="0" anchor="ctr"/>
          <a:lstStyle/>
          <a:p>
            <a:pPr algn="ctr" indent="0" marL="0">
              <a:buNone/>
            </a:pPr>
            <a:r>
              <a:rPr lang="en-US" sz="1000" dirty="0">
                <a:solidFill>
                  <a:srgbClr val="6B7686"/>
                </a:solidFill>
                <a:latin typeface="Poppins Medium" pitchFamily="34" charset="0"/>
                <a:ea typeface="Poppins Medium" pitchFamily="34" charset="-122"/>
                <a:cs typeface="Poppins Medium" pitchFamily="34" charset="-120"/>
              </a:rPr>
              <a:t>[City — State]</a:t>
            </a:r>
            <a:endParaRPr lang="en-US" sz="1000" dirty="0"/>
          </a:p>
        </p:txBody>
      </p:sp>
      <p:sp>
        <p:nvSpPr>
          <p:cNvPr id="11" name="Shape 7"/>
          <p:cNvSpPr/>
          <p:nvPr/>
        </p:nvSpPr>
        <p:spPr>
          <a:xfrm>
            <a:off x="3429000" y="1965960"/>
            <a:ext cx="3947008" cy="1737360"/>
          </a:xfrm>
          <a:prstGeom prst="roundRect">
            <a:avLst>
              <a:gd name="adj" fmla="val 5263"/>
            </a:avLst>
          </a:prstGeom>
          <a:solidFill>
            <a:srgbClr val="F5F7F9"/>
          </a:solidFill>
          <a:ln w="12700">
            <a:solidFill>
              <a:srgbClr val="D9DEE5"/>
            </a:solidFill>
            <a:prstDash val="solid"/>
          </a:ln>
        </p:spPr>
      </p:sp>
      <p:sp>
        <p:nvSpPr>
          <p:cNvPr id="12" name="Text 8"/>
          <p:cNvSpPr/>
          <p:nvPr/>
        </p:nvSpPr>
        <p:spPr>
          <a:xfrm>
            <a:off x="3685032" y="2148840"/>
            <a:ext cx="3434944" cy="274320"/>
          </a:xfrm>
          <a:prstGeom prst="rect">
            <a:avLst/>
          </a:prstGeom>
          <a:noFill/>
          <a:ln/>
        </p:spPr>
        <p:txBody>
          <a:bodyPr wrap="square" lIns="0" tIns="0" rIns="0" bIns="0" rtlCol="0" anchor="ctr"/>
          <a:lstStyle/>
          <a:p>
            <a:pPr indent="0" marL="0">
              <a:buNone/>
            </a:pPr>
            <a:r>
              <a:rPr lang="en-US" sz="950" spc="100" kern="0" dirty="0">
                <a:solidFill>
                  <a:srgbClr val="F35B1A"/>
                </a:solidFill>
                <a:latin typeface="Poppins SemiBold" pitchFamily="34" charset="0"/>
                <a:ea typeface="Poppins SemiBold" pitchFamily="34" charset="-122"/>
                <a:cs typeface="Poppins SemiBold" pitchFamily="34" charset="-120"/>
              </a:rPr>
              <a:t>START OF CONTRACT</a:t>
            </a:r>
            <a:endParaRPr lang="en-US" sz="950" dirty="0"/>
          </a:p>
        </p:txBody>
      </p:sp>
      <p:sp>
        <p:nvSpPr>
          <p:cNvPr id="13" name="Text 9"/>
          <p:cNvSpPr/>
          <p:nvPr/>
        </p:nvSpPr>
        <p:spPr>
          <a:xfrm>
            <a:off x="3685032" y="2468880"/>
            <a:ext cx="1717472" cy="365760"/>
          </a:xfrm>
          <a:prstGeom prst="rect">
            <a:avLst/>
          </a:prstGeom>
          <a:noFill/>
          <a:ln/>
        </p:spPr>
        <p:txBody>
          <a:bodyPr wrap="square" lIns="0" tIns="0" rIns="0" bIns="0" rtlCol="0" anchor="ctr"/>
          <a:lstStyle/>
          <a:p>
            <a:pPr indent="0" marL="0">
              <a:buNone/>
            </a:pPr>
            <a:r>
              <a:rPr lang="en-US" sz="1900" dirty="0">
                <a:solidFill>
                  <a:srgbClr val="222F44"/>
                </a:solidFill>
                <a:latin typeface="Source Serif Pro Black" pitchFamily="34" charset="0"/>
                <a:ea typeface="Source Serif Pro Black" pitchFamily="34" charset="-122"/>
                <a:cs typeface="Source Serif Pro Black" pitchFamily="34" charset="-120"/>
              </a:rPr>
              <a:t>BRL [XXX]k</a:t>
            </a:r>
            <a:endParaRPr lang="en-US" sz="1900" dirty="0"/>
          </a:p>
        </p:txBody>
      </p:sp>
      <p:sp>
        <p:nvSpPr>
          <p:cNvPr id="14" name="Text 10"/>
          <p:cNvSpPr/>
          <p:nvPr/>
        </p:nvSpPr>
        <p:spPr>
          <a:xfrm>
            <a:off x="3685032" y="2834640"/>
            <a:ext cx="1717472" cy="228600"/>
          </a:xfrm>
          <a:prstGeom prst="rect">
            <a:avLst/>
          </a:prstGeom>
          <a:noFill/>
          <a:ln/>
        </p:spPr>
        <p:txBody>
          <a:bodyPr wrap="square" lIns="0" tIns="0" rIns="0" bIns="0" rtlCol="0" anchor="ctr"/>
          <a:lstStyle/>
          <a:p>
            <a:pPr indent="0" marL="0">
              <a:buNone/>
            </a:pPr>
            <a:r>
              <a:rPr lang="en-US" sz="800" dirty="0">
                <a:solidFill>
                  <a:srgbClr val="6B7686"/>
                </a:solidFill>
                <a:latin typeface="Poppins" pitchFamily="34" charset="0"/>
                <a:ea typeface="Poppins" pitchFamily="34" charset="-122"/>
                <a:cs typeface="Poppins" pitchFamily="34" charset="-120"/>
              </a:rPr>
              <a:t>total value</a:t>
            </a:r>
            <a:endParaRPr lang="en-US" sz="800" dirty="0"/>
          </a:p>
        </p:txBody>
      </p:sp>
      <p:sp>
        <p:nvSpPr>
          <p:cNvPr id="15" name="Text 11"/>
          <p:cNvSpPr/>
          <p:nvPr/>
        </p:nvSpPr>
        <p:spPr>
          <a:xfrm>
            <a:off x="5402504" y="2468880"/>
            <a:ext cx="1717472" cy="365760"/>
          </a:xfrm>
          <a:prstGeom prst="rect">
            <a:avLst/>
          </a:prstGeom>
          <a:noFill/>
          <a:ln/>
        </p:spPr>
        <p:txBody>
          <a:bodyPr wrap="square" lIns="0" tIns="0" rIns="0" bIns="0" rtlCol="0" anchor="ctr"/>
          <a:lstStyle/>
          <a:p>
            <a:pPr indent="0" marL="0">
              <a:buNone/>
            </a:pPr>
            <a:r>
              <a:rPr lang="en-US" sz="1900" dirty="0">
                <a:solidFill>
                  <a:srgbClr val="222F44"/>
                </a:solidFill>
                <a:latin typeface="Source Serif Pro Black" pitchFamily="34" charset="0"/>
                <a:ea typeface="Source Serif Pro Black" pitchFamily="34" charset="-122"/>
                <a:cs typeface="Source Serif Pro Black" pitchFamily="34" charset="-120"/>
              </a:rPr>
              <a:t>[X] months</a:t>
            </a:r>
            <a:endParaRPr lang="en-US" sz="1900" dirty="0"/>
          </a:p>
        </p:txBody>
      </p:sp>
      <p:sp>
        <p:nvSpPr>
          <p:cNvPr id="16" name="Text 12"/>
          <p:cNvSpPr/>
          <p:nvPr/>
        </p:nvSpPr>
        <p:spPr>
          <a:xfrm>
            <a:off x="5402504" y="2834640"/>
            <a:ext cx="1717472" cy="228600"/>
          </a:xfrm>
          <a:prstGeom prst="rect">
            <a:avLst/>
          </a:prstGeom>
          <a:noFill/>
          <a:ln/>
        </p:spPr>
        <p:txBody>
          <a:bodyPr wrap="square" lIns="0" tIns="0" rIns="0" bIns="0" rtlCol="0" anchor="ctr"/>
          <a:lstStyle/>
          <a:p>
            <a:pPr indent="0" marL="0">
              <a:buNone/>
            </a:pPr>
            <a:r>
              <a:rPr lang="en-US" sz="800" dirty="0">
                <a:solidFill>
                  <a:srgbClr val="6B7686"/>
                </a:solidFill>
                <a:latin typeface="Poppins" pitchFamily="34" charset="0"/>
                <a:ea typeface="Poppins" pitchFamily="34" charset="-122"/>
                <a:cs typeface="Poppins" pitchFamily="34" charset="-120"/>
              </a:rPr>
              <a:t>total term</a:t>
            </a:r>
            <a:endParaRPr lang="en-US" sz="800" dirty="0"/>
          </a:p>
        </p:txBody>
      </p:sp>
      <p:sp>
        <p:nvSpPr>
          <p:cNvPr id="17" name="Text 13"/>
          <p:cNvSpPr/>
          <p:nvPr/>
        </p:nvSpPr>
        <p:spPr>
          <a:xfrm>
            <a:off x="3685032" y="3172968"/>
            <a:ext cx="3434944" cy="411480"/>
          </a:xfrm>
          <a:prstGeom prst="rect">
            <a:avLst/>
          </a:prstGeom>
          <a:noFill/>
          <a:ln/>
        </p:spPr>
        <p:txBody>
          <a:bodyPr wrap="square" lIns="0" tIns="0" rIns="0" bIns="0" rtlCol="0" anchor="t"/>
          <a:lstStyle/>
          <a:p>
            <a:pPr indent="0" marL="0">
              <a:buNone/>
            </a:pPr>
            <a:r>
              <a:rPr lang="en-US" sz="900" dirty="0">
                <a:solidFill>
                  <a:srgbClr val="6B7686"/>
                </a:solidFill>
                <a:latin typeface="Poppins" pitchFamily="34" charset="0"/>
                <a:ea typeface="Poppins" pitchFamily="34" charset="-122"/>
                <a:cs typeface="Poppins" pitchFamily="34" charset="-120"/>
              </a:rPr>
              <a:t>[Service scope — TBC]</a:t>
            </a:r>
            <a:endParaRPr lang="en-US" sz="900" dirty="0"/>
          </a:p>
        </p:txBody>
      </p:sp>
      <p:sp>
        <p:nvSpPr>
          <p:cNvPr id="18" name="Shape 14"/>
          <p:cNvSpPr/>
          <p:nvPr/>
        </p:nvSpPr>
        <p:spPr>
          <a:xfrm>
            <a:off x="7741768" y="1965960"/>
            <a:ext cx="3947008" cy="1737360"/>
          </a:xfrm>
          <a:prstGeom prst="roundRect">
            <a:avLst>
              <a:gd name="adj" fmla="val 5263"/>
            </a:avLst>
          </a:prstGeom>
          <a:solidFill>
            <a:srgbClr val="222F44"/>
          </a:solidFill>
          <a:ln/>
          <a:effectLst>
            <a:outerShdw sx="100000" sy="100000" kx="0" ky="0" algn="bl" rotWithShape="0" blurRad="88900" dist="25400" dir="5400000">
              <a:srgbClr val="9AA6B4">
                <a:alpha val="28000"/>
              </a:srgbClr>
            </a:outerShdw>
          </a:effectLst>
        </p:spPr>
      </p:sp>
      <p:sp>
        <p:nvSpPr>
          <p:cNvPr id="19" name="Text 15"/>
          <p:cNvSpPr/>
          <p:nvPr/>
        </p:nvSpPr>
        <p:spPr>
          <a:xfrm>
            <a:off x="7997800" y="2148840"/>
            <a:ext cx="3434944" cy="274320"/>
          </a:xfrm>
          <a:prstGeom prst="rect">
            <a:avLst/>
          </a:prstGeom>
          <a:noFill/>
          <a:ln/>
        </p:spPr>
        <p:txBody>
          <a:bodyPr wrap="square" lIns="0" tIns="0" rIns="0" bIns="0" rtlCol="0" anchor="ctr"/>
          <a:lstStyle/>
          <a:p>
            <a:pPr indent="0" marL="0">
              <a:buNone/>
            </a:pPr>
            <a:r>
              <a:rPr lang="en-US" sz="950" spc="100" kern="0" dirty="0">
                <a:solidFill>
                  <a:srgbClr val="F35B1A"/>
                </a:solidFill>
                <a:latin typeface="Poppins SemiBold" pitchFamily="34" charset="0"/>
                <a:ea typeface="Poppins SemiBold" pitchFamily="34" charset="-122"/>
                <a:cs typeface="Poppins SemiBold" pitchFamily="34" charset="-120"/>
              </a:rPr>
              <a:t>CURRENT CONTRACT</a:t>
            </a:r>
            <a:endParaRPr lang="en-US" sz="950" dirty="0"/>
          </a:p>
        </p:txBody>
      </p:sp>
      <p:sp>
        <p:nvSpPr>
          <p:cNvPr id="20" name="Text 16"/>
          <p:cNvSpPr/>
          <p:nvPr/>
        </p:nvSpPr>
        <p:spPr>
          <a:xfrm>
            <a:off x="7997800" y="2468880"/>
            <a:ext cx="1717472" cy="365760"/>
          </a:xfrm>
          <a:prstGeom prst="rect">
            <a:avLst/>
          </a:prstGeom>
          <a:noFill/>
          <a:ln/>
        </p:spPr>
        <p:txBody>
          <a:bodyPr wrap="square" lIns="0" tIns="0" rIns="0" bIns="0" rtlCol="0" anchor="ctr"/>
          <a:lstStyle/>
          <a:p>
            <a:pPr indent="0" marL="0">
              <a:buNone/>
            </a:pPr>
            <a:r>
              <a:rPr lang="en-US" sz="1900" dirty="0">
                <a:solidFill>
                  <a:srgbClr val="FFFFFF"/>
                </a:solidFill>
                <a:latin typeface="Source Serif Pro Black" pitchFamily="34" charset="0"/>
                <a:ea typeface="Source Serif Pro Black" pitchFamily="34" charset="-122"/>
                <a:cs typeface="Source Serif Pro Black" pitchFamily="34" charset="-120"/>
              </a:rPr>
              <a:t>BRL [XXX] Mn</a:t>
            </a:r>
            <a:endParaRPr lang="en-US" sz="1900" dirty="0"/>
          </a:p>
        </p:txBody>
      </p:sp>
      <p:sp>
        <p:nvSpPr>
          <p:cNvPr id="21" name="Text 17"/>
          <p:cNvSpPr/>
          <p:nvPr/>
        </p:nvSpPr>
        <p:spPr>
          <a:xfrm>
            <a:off x="7997800" y="2834640"/>
            <a:ext cx="1717472" cy="228600"/>
          </a:xfrm>
          <a:prstGeom prst="rect">
            <a:avLst/>
          </a:prstGeom>
          <a:noFill/>
          <a:ln/>
        </p:spPr>
        <p:txBody>
          <a:bodyPr wrap="square" lIns="0" tIns="0" rIns="0" bIns="0" rtlCol="0" anchor="ctr"/>
          <a:lstStyle/>
          <a:p>
            <a:pPr indent="0" marL="0">
              <a:buNone/>
            </a:pPr>
            <a:r>
              <a:rPr lang="en-US" sz="800" dirty="0">
                <a:solidFill>
                  <a:srgbClr val="C4CCD6"/>
                </a:solidFill>
                <a:latin typeface="Poppins" pitchFamily="34" charset="0"/>
                <a:ea typeface="Poppins" pitchFamily="34" charset="-122"/>
                <a:cs typeface="Poppins" pitchFamily="34" charset="-120"/>
              </a:rPr>
              <a:t>total value</a:t>
            </a:r>
            <a:endParaRPr lang="en-US" sz="800" dirty="0"/>
          </a:p>
        </p:txBody>
      </p:sp>
      <p:sp>
        <p:nvSpPr>
          <p:cNvPr id="22" name="Text 18"/>
          <p:cNvSpPr/>
          <p:nvPr/>
        </p:nvSpPr>
        <p:spPr>
          <a:xfrm>
            <a:off x="9715271" y="2468880"/>
            <a:ext cx="1717472" cy="365760"/>
          </a:xfrm>
          <a:prstGeom prst="rect">
            <a:avLst/>
          </a:prstGeom>
          <a:noFill/>
          <a:ln/>
        </p:spPr>
        <p:txBody>
          <a:bodyPr wrap="square" lIns="0" tIns="0" rIns="0" bIns="0" rtlCol="0" anchor="ctr"/>
          <a:lstStyle/>
          <a:p>
            <a:pPr indent="0" marL="0">
              <a:buNone/>
            </a:pPr>
            <a:r>
              <a:rPr lang="en-US" sz="1900" dirty="0">
                <a:solidFill>
                  <a:srgbClr val="FFFFFF"/>
                </a:solidFill>
                <a:latin typeface="Source Serif Pro Black" pitchFamily="34" charset="0"/>
                <a:ea typeface="Source Serif Pro Black" pitchFamily="34" charset="-122"/>
                <a:cs typeface="Source Serif Pro Black" pitchFamily="34" charset="-120"/>
              </a:rPr>
              <a:t>[X] years</a:t>
            </a:r>
            <a:endParaRPr lang="en-US" sz="1900" dirty="0"/>
          </a:p>
        </p:txBody>
      </p:sp>
      <p:sp>
        <p:nvSpPr>
          <p:cNvPr id="23" name="Text 19"/>
          <p:cNvSpPr/>
          <p:nvPr/>
        </p:nvSpPr>
        <p:spPr>
          <a:xfrm>
            <a:off x="9715271" y="2834640"/>
            <a:ext cx="1717472" cy="228600"/>
          </a:xfrm>
          <a:prstGeom prst="rect">
            <a:avLst/>
          </a:prstGeom>
          <a:noFill/>
          <a:ln/>
        </p:spPr>
        <p:txBody>
          <a:bodyPr wrap="square" lIns="0" tIns="0" rIns="0" bIns="0" rtlCol="0" anchor="ctr"/>
          <a:lstStyle/>
          <a:p>
            <a:pPr indent="0" marL="0">
              <a:buNone/>
            </a:pPr>
            <a:r>
              <a:rPr lang="en-US" sz="800" dirty="0">
                <a:solidFill>
                  <a:srgbClr val="C4CCD6"/>
                </a:solidFill>
                <a:latin typeface="Poppins" pitchFamily="34" charset="0"/>
                <a:ea typeface="Poppins" pitchFamily="34" charset="-122"/>
                <a:cs typeface="Poppins" pitchFamily="34" charset="-120"/>
              </a:rPr>
              <a:t>total term</a:t>
            </a:r>
            <a:endParaRPr lang="en-US" sz="800" dirty="0"/>
          </a:p>
        </p:txBody>
      </p:sp>
      <p:sp>
        <p:nvSpPr>
          <p:cNvPr id="24" name="Text 20"/>
          <p:cNvSpPr/>
          <p:nvPr/>
        </p:nvSpPr>
        <p:spPr>
          <a:xfrm>
            <a:off x="7997800" y="3172968"/>
            <a:ext cx="3434944" cy="411480"/>
          </a:xfrm>
          <a:prstGeom prst="rect">
            <a:avLst/>
          </a:prstGeom>
          <a:noFill/>
          <a:ln/>
        </p:spPr>
        <p:txBody>
          <a:bodyPr wrap="square" lIns="0" tIns="0" rIns="0" bIns="0" rtlCol="0" anchor="t"/>
          <a:lstStyle/>
          <a:p>
            <a:pPr indent="0" marL="0">
              <a:buNone/>
            </a:pPr>
            <a:r>
              <a:rPr lang="en-US" sz="900" dirty="0">
                <a:solidFill>
                  <a:srgbClr val="C4CCD6"/>
                </a:solidFill>
                <a:latin typeface="Poppins" pitchFamily="34" charset="0"/>
                <a:ea typeface="Poppins" pitchFamily="34" charset="-122"/>
                <a:cs typeface="Poppins" pitchFamily="34" charset="-120"/>
              </a:rPr>
              <a:t>[Service scope — TBC]</a:t>
            </a:r>
            <a:endParaRPr lang="en-US" sz="900" dirty="0"/>
          </a:p>
        </p:txBody>
      </p:sp>
      <p:sp>
        <p:nvSpPr>
          <p:cNvPr id="25" name="Text 21"/>
          <p:cNvSpPr/>
          <p:nvPr/>
        </p:nvSpPr>
        <p:spPr>
          <a:xfrm>
            <a:off x="502920" y="4069080"/>
            <a:ext cx="3657600" cy="237744"/>
          </a:xfrm>
          <a:prstGeom prst="rect">
            <a:avLst/>
          </a:prstGeom>
          <a:noFill/>
          <a:ln/>
        </p:spPr>
        <p:txBody>
          <a:bodyPr wrap="square" rtlCol="0" anchor="ctr"/>
          <a:lstStyle/>
          <a:p>
            <a:pPr indent="0" marL="0">
              <a:buNone/>
            </a:pPr>
            <a:r>
              <a:rPr lang="en-US" sz="1000" spc="150" kern="0" dirty="0">
                <a:solidFill>
                  <a:srgbClr val="F35B1A"/>
                </a:solidFill>
                <a:latin typeface="Poppins SemiBold" pitchFamily="34" charset="0"/>
                <a:ea typeface="Poppins SemiBold" pitchFamily="34" charset="-122"/>
                <a:cs typeface="Poppins SemiBold" pitchFamily="34" charset="-120"/>
              </a:rPr>
              <a:t>TIMELINE</a:t>
            </a:r>
            <a:endParaRPr lang="en-US" sz="1000" dirty="0"/>
          </a:p>
        </p:txBody>
      </p:sp>
      <p:sp>
        <p:nvSpPr>
          <p:cNvPr id="26" name="Shape 22"/>
          <p:cNvSpPr/>
          <p:nvPr/>
        </p:nvSpPr>
        <p:spPr>
          <a:xfrm>
            <a:off x="777240" y="4800600"/>
            <a:ext cx="10637215" cy="0"/>
          </a:xfrm>
          <a:prstGeom prst="line">
            <a:avLst/>
          </a:prstGeom>
          <a:noFill/>
          <a:ln w="25400">
            <a:solidFill>
              <a:srgbClr val="D9DEE5"/>
            </a:solidFill>
            <a:prstDash val="solid"/>
          </a:ln>
        </p:spPr>
      </p:sp>
      <p:sp>
        <p:nvSpPr>
          <p:cNvPr id="27" name="Shape 23"/>
          <p:cNvSpPr/>
          <p:nvPr/>
        </p:nvSpPr>
        <p:spPr>
          <a:xfrm>
            <a:off x="694944" y="4718304"/>
            <a:ext cx="164592" cy="164592"/>
          </a:xfrm>
          <a:prstGeom prst="ellipse">
            <a:avLst/>
          </a:prstGeom>
          <a:solidFill>
            <a:srgbClr val="222F44"/>
          </a:solidFill>
          <a:ln w="25400">
            <a:solidFill>
              <a:srgbClr val="FFFFFF"/>
            </a:solidFill>
            <a:prstDash val="solid"/>
          </a:ln>
        </p:spPr>
      </p:sp>
      <p:sp>
        <p:nvSpPr>
          <p:cNvPr id="28" name="Text 24"/>
          <p:cNvSpPr/>
          <p:nvPr/>
        </p:nvSpPr>
        <p:spPr>
          <a:xfrm>
            <a:off x="-45720" y="4343400"/>
            <a:ext cx="1645920" cy="256032"/>
          </a:xfrm>
          <a:prstGeom prst="rect">
            <a:avLst/>
          </a:prstGeom>
          <a:noFill/>
          <a:ln/>
        </p:spPr>
        <p:txBody>
          <a:bodyPr wrap="square" lIns="0" tIns="0" rIns="0" bIns="0" rtlCol="0" anchor="ctr"/>
          <a:lstStyle/>
          <a:p>
            <a:pPr algn="ctr" indent="0" marL="0">
              <a:buNone/>
            </a:pPr>
            <a:r>
              <a:rPr lang="en-US" sz="950" dirty="0">
                <a:solidFill>
                  <a:srgbClr val="222F44"/>
                </a:solidFill>
                <a:latin typeface="Poppins SemiBold" pitchFamily="34" charset="0"/>
                <a:ea typeface="Poppins SemiBold" pitchFamily="34" charset="-122"/>
                <a:cs typeface="Poppins SemiBold" pitchFamily="34" charset="-120"/>
              </a:rPr>
              <a:t>[Mon-YY]</a:t>
            </a:r>
            <a:endParaRPr lang="en-US" sz="950" dirty="0"/>
          </a:p>
        </p:txBody>
      </p:sp>
      <p:sp>
        <p:nvSpPr>
          <p:cNvPr id="29" name="Text 25"/>
          <p:cNvSpPr/>
          <p:nvPr/>
        </p:nvSpPr>
        <p:spPr>
          <a:xfrm>
            <a:off x="-45720" y="4965192"/>
            <a:ext cx="1645920" cy="365760"/>
          </a:xfrm>
          <a:prstGeom prst="rect">
            <a:avLst/>
          </a:prstGeom>
          <a:noFill/>
          <a:ln/>
        </p:spPr>
        <p:txBody>
          <a:bodyPr wrap="square" lIns="0" tIns="0" rIns="0" bIns="0" rtlCol="0" anchor="t"/>
          <a:lstStyle/>
          <a:p>
            <a:pPr algn="ctr" indent="0" marL="0">
              <a:buNone/>
            </a:pPr>
            <a:r>
              <a:rPr lang="en-US" sz="850" dirty="0">
                <a:solidFill>
                  <a:srgbClr val="6B7686"/>
                </a:solidFill>
                <a:latin typeface="Poppins" pitchFamily="34" charset="0"/>
                <a:ea typeface="Poppins" pitchFamily="34" charset="-122"/>
                <a:cs typeface="Poppins" pitchFamily="34" charset="-120"/>
              </a:rPr>
              <a:t>[Milestone — TBC]</a:t>
            </a:r>
            <a:endParaRPr lang="en-US" sz="850" dirty="0"/>
          </a:p>
        </p:txBody>
      </p:sp>
      <p:sp>
        <p:nvSpPr>
          <p:cNvPr id="30" name="Shape 26"/>
          <p:cNvSpPr/>
          <p:nvPr/>
        </p:nvSpPr>
        <p:spPr>
          <a:xfrm>
            <a:off x="4240682" y="4718304"/>
            <a:ext cx="164592" cy="164592"/>
          </a:xfrm>
          <a:prstGeom prst="ellipse">
            <a:avLst/>
          </a:prstGeom>
          <a:solidFill>
            <a:srgbClr val="222F44"/>
          </a:solidFill>
          <a:ln w="25400">
            <a:solidFill>
              <a:srgbClr val="FFFFFF"/>
            </a:solidFill>
            <a:prstDash val="solid"/>
          </a:ln>
        </p:spPr>
      </p:sp>
      <p:sp>
        <p:nvSpPr>
          <p:cNvPr id="31" name="Text 27"/>
          <p:cNvSpPr/>
          <p:nvPr/>
        </p:nvSpPr>
        <p:spPr>
          <a:xfrm>
            <a:off x="3500018" y="4343400"/>
            <a:ext cx="1645920" cy="256032"/>
          </a:xfrm>
          <a:prstGeom prst="rect">
            <a:avLst/>
          </a:prstGeom>
          <a:noFill/>
          <a:ln/>
        </p:spPr>
        <p:txBody>
          <a:bodyPr wrap="square" lIns="0" tIns="0" rIns="0" bIns="0" rtlCol="0" anchor="ctr"/>
          <a:lstStyle/>
          <a:p>
            <a:pPr algn="ctr" indent="0" marL="0">
              <a:buNone/>
            </a:pPr>
            <a:r>
              <a:rPr lang="en-US" sz="950" dirty="0">
                <a:solidFill>
                  <a:srgbClr val="222F44"/>
                </a:solidFill>
                <a:latin typeface="Poppins SemiBold" pitchFamily="34" charset="0"/>
                <a:ea typeface="Poppins SemiBold" pitchFamily="34" charset="-122"/>
                <a:cs typeface="Poppins SemiBold" pitchFamily="34" charset="-120"/>
              </a:rPr>
              <a:t>[Mon-YY]</a:t>
            </a:r>
            <a:endParaRPr lang="en-US" sz="950" dirty="0"/>
          </a:p>
        </p:txBody>
      </p:sp>
      <p:sp>
        <p:nvSpPr>
          <p:cNvPr id="32" name="Text 28"/>
          <p:cNvSpPr/>
          <p:nvPr/>
        </p:nvSpPr>
        <p:spPr>
          <a:xfrm>
            <a:off x="3500018" y="4965192"/>
            <a:ext cx="1645920" cy="365760"/>
          </a:xfrm>
          <a:prstGeom prst="rect">
            <a:avLst/>
          </a:prstGeom>
          <a:noFill/>
          <a:ln/>
        </p:spPr>
        <p:txBody>
          <a:bodyPr wrap="square" lIns="0" tIns="0" rIns="0" bIns="0" rtlCol="0" anchor="t"/>
          <a:lstStyle/>
          <a:p>
            <a:pPr algn="ctr" indent="0" marL="0">
              <a:buNone/>
            </a:pPr>
            <a:r>
              <a:rPr lang="en-US" sz="850" dirty="0">
                <a:solidFill>
                  <a:srgbClr val="6B7686"/>
                </a:solidFill>
                <a:latin typeface="Poppins" pitchFamily="34" charset="0"/>
                <a:ea typeface="Poppins" pitchFamily="34" charset="-122"/>
                <a:cs typeface="Poppins" pitchFamily="34" charset="-120"/>
              </a:rPr>
              <a:t>[Milestone — TBC]</a:t>
            </a:r>
            <a:endParaRPr lang="en-US" sz="850" dirty="0"/>
          </a:p>
        </p:txBody>
      </p:sp>
      <p:sp>
        <p:nvSpPr>
          <p:cNvPr id="33" name="Shape 29"/>
          <p:cNvSpPr/>
          <p:nvPr/>
        </p:nvSpPr>
        <p:spPr>
          <a:xfrm>
            <a:off x="7786421" y="4718304"/>
            <a:ext cx="164592" cy="164592"/>
          </a:xfrm>
          <a:prstGeom prst="ellipse">
            <a:avLst/>
          </a:prstGeom>
          <a:solidFill>
            <a:srgbClr val="222F44"/>
          </a:solidFill>
          <a:ln w="25400">
            <a:solidFill>
              <a:srgbClr val="FFFFFF"/>
            </a:solidFill>
            <a:prstDash val="solid"/>
          </a:ln>
        </p:spPr>
      </p:sp>
      <p:sp>
        <p:nvSpPr>
          <p:cNvPr id="34" name="Text 30"/>
          <p:cNvSpPr/>
          <p:nvPr/>
        </p:nvSpPr>
        <p:spPr>
          <a:xfrm>
            <a:off x="7045757" y="4343400"/>
            <a:ext cx="1645920" cy="256032"/>
          </a:xfrm>
          <a:prstGeom prst="rect">
            <a:avLst/>
          </a:prstGeom>
          <a:noFill/>
          <a:ln/>
        </p:spPr>
        <p:txBody>
          <a:bodyPr wrap="square" lIns="0" tIns="0" rIns="0" bIns="0" rtlCol="0" anchor="ctr"/>
          <a:lstStyle/>
          <a:p>
            <a:pPr algn="ctr" indent="0" marL="0">
              <a:buNone/>
            </a:pPr>
            <a:r>
              <a:rPr lang="en-US" sz="950" dirty="0">
                <a:solidFill>
                  <a:srgbClr val="222F44"/>
                </a:solidFill>
                <a:latin typeface="Poppins SemiBold" pitchFamily="34" charset="0"/>
                <a:ea typeface="Poppins SemiBold" pitchFamily="34" charset="-122"/>
                <a:cs typeface="Poppins SemiBold" pitchFamily="34" charset="-120"/>
              </a:rPr>
              <a:t>[Mon-YY]</a:t>
            </a:r>
            <a:endParaRPr lang="en-US" sz="950" dirty="0"/>
          </a:p>
        </p:txBody>
      </p:sp>
      <p:sp>
        <p:nvSpPr>
          <p:cNvPr id="35" name="Text 31"/>
          <p:cNvSpPr/>
          <p:nvPr/>
        </p:nvSpPr>
        <p:spPr>
          <a:xfrm>
            <a:off x="7045757" y="4965192"/>
            <a:ext cx="1645920" cy="365760"/>
          </a:xfrm>
          <a:prstGeom prst="rect">
            <a:avLst/>
          </a:prstGeom>
          <a:noFill/>
          <a:ln/>
        </p:spPr>
        <p:txBody>
          <a:bodyPr wrap="square" lIns="0" tIns="0" rIns="0" bIns="0" rtlCol="0" anchor="t"/>
          <a:lstStyle/>
          <a:p>
            <a:pPr algn="ctr" indent="0" marL="0">
              <a:buNone/>
            </a:pPr>
            <a:r>
              <a:rPr lang="en-US" sz="850" dirty="0">
                <a:solidFill>
                  <a:srgbClr val="6B7686"/>
                </a:solidFill>
                <a:latin typeface="Poppins" pitchFamily="34" charset="0"/>
                <a:ea typeface="Poppins" pitchFamily="34" charset="-122"/>
                <a:cs typeface="Poppins" pitchFamily="34" charset="-120"/>
              </a:rPr>
              <a:t>[Milestone — TBC]</a:t>
            </a:r>
            <a:endParaRPr lang="en-US" sz="850" dirty="0"/>
          </a:p>
        </p:txBody>
      </p:sp>
      <p:sp>
        <p:nvSpPr>
          <p:cNvPr id="36" name="Shape 32"/>
          <p:cNvSpPr/>
          <p:nvPr/>
        </p:nvSpPr>
        <p:spPr>
          <a:xfrm>
            <a:off x="11332159" y="4718304"/>
            <a:ext cx="164592" cy="164592"/>
          </a:xfrm>
          <a:prstGeom prst="ellipse">
            <a:avLst/>
          </a:prstGeom>
          <a:solidFill>
            <a:srgbClr val="222F44"/>
          </a:solidFill>
          <a:ln w="25400">
            <a:solidFill>
              <a:srgbClr val="FFFFFF"/>
            </a:solidFill>
            <a:prstDash val="solid"/>
          </a:ln>
        </p:spPr>
      </p:sp>
      <p:sp>
        <p:nvSpPr>
          <p:cNvPr id="37" name="Text 33"/>
          <p:cNvSpPr/>
          <p:nvPr/>
        </p:nvSpPr>
        <p:spPr>
          <a:xfrm>
            <a:off x="10591495" y="4343400"/>
            <a:ext cx="1645920" cy="256032"/>
          </a:xfrm>
          <a:prstGeom prst="rect">
            <a:avLst/>
          </a:prstGeom>
          <a:noFill/>
          <a:ln/>
        </p:spPr>
        <p:txBody>
          <a:bodyPr wrap="square" lIns="0" tIns="0" rIns="0" bIns="0" rtlCol="0" anchor="ctr"/>
          <a:lstStyle/>
          <a:p>
            <a:pPr algn="ctr" indent="0" marL="0">
              <a:buNone/>
            </a:pPr>
            <a:r>
              <a:rPr lang="en-US" sz="950" dirty="0">
                <a:solidFill>
                  <a:srgbClr val="222F44"/>
                </a:solidFill>
                <a:latin typeface="Poppins SemiBold" pitchFamily="34" charset="0"/>
                <a:ea typeface="Poppins SemiBold" pitchFamily="34" charset="-122"/>
                <a:cs typeface="Poppins SemiBold" pitchFamily="34" charset="-120"/>
              </a:rPr>
              <a:t>[Mon-YY]</a:t>
            </a:r>
            <a:endParaRPr lang="en-US" sz="950" dirty="0"/>
          </a:p>
        </p:txBody>
      </p:sp>
      <p:sp>
        <p:nvSpPr>
          <p:cNvPr id="38" name="Text 34"/>
          <p:cNvSpPr/>
          <p:nvPr/>
        </p:nvSpPr>
        <p:spPr>
          <a:xfrm>
            <a:off x="10591495" y="4965192"/>
            <a:ext cx="1645920" cy="365760"/>
          </a:xfrm>
          <a:prstGeom prst="rect">
            <a:avLst/>
          </a:prstGeom>
          <a:noFill/>
          <a:ln/>
        </p:spPr>
        <p:txBody>
          <a:bodyPr wrap="square" lIns="0" tIns="0" rIns="0" bIns="0" rtlCol="0" anchor="t"/>
          <a:lstStyle/>
          <a:p>
            <a:pPr algn="ctr" indent="0" marL="0">
              <a:buNone/>
            </a:pPr>
            <a:r>
              <a:rPr lang="en-US" sz="850" dirty="0">
                <a:solidFill>
                  <a:srgbClr val="6B7686"/>
                </a:solidFill>
                <a:latin typeface="Poppins" pitchFamily="34" charset="0"/>
                <a:ea typeface="Poppins" pitchFamily="34" charset="-122"/>
                <a:cs typeface="Poppins" pitchFamily="34" charset="-120"/>
              </a:rPr>
              <a:t>[Milestone — TBC]</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22F44"/>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22F44"/>
          </a:solidFill>
          <a:ln/>
        </p:spPr>
      </p:sp>
      <p:sp>
        <p:nvSpPr>
          <p:cNvPr id="3" name="Text 1"/>
          <p:cNvSpPr/>
          <p:nvPr/>
        </p:nvSpPr>
        <p:spPr>
          <a:xfrm>
            <a:off x="7071055" y="-457200"/>
            <a:ext cx="4937760" cy="7772400"/>
          </a:xfrm>
          <a:prstGeom prst="rect">
            <a:avLst/>
          </a:prstGeom>
          <a:noFill/>
          <a:ln/>
        </p:spPr>
        <p:txBody>
          <a:bodyPr wrap="square" lIns="0" tIns="0" rIns="0" bIns="0" rtlCol="0" anchor="ctr"/>
          <a:lstStyle/>
          <a:p>
            <a:pPr algn="r" indent="0" marL="0">
              <a:buNone/>
            </a:pPr>
            <a:r>
              <a:rPr lang="en-US" sz="30000" dirty="0">
                <a:solidFill>
                  <a:srgbClr val="2C3B54"/>
                </a:solidFill>
                <a:latin typeface="Source Serif Pro Black" pitchFamily="34" charset="0"/>
                <a:ea typeface="Source Serif Pro Black" pitchFamily="34" charset="-122"/>
                <a:cs typeface="Source Serif Pro Black" pitchFamily="34" charset="-120"/>
              </a:rPr>
              <a:t>04</a:t>
            </a:r>
            <a:endParaRPr lang="en-US" sz="30000" dirty="0"/>
          </a:p>
        </p:txBody>
      </p:sp>
      <p:pic>
        <p:nvPicPr>
          <p:cNvPr id="4" name="Image 0" descr="assets/igc_white.png">    </p:cNvPr>
          <p:cNvPicPr>
            <a:picLocks noChangeAspect="1"/>
          </p:cNvPicPr>
          <p:nvPr/>
        </p:nvPicPr>
        <p:blipFill>
          <a:blip r:embed="rId1"/>
          <a:stretch>
            <a:fillRect/>
          </a:stretch>
        </p:blipFill>
        <p:spPr>
          <a:xfrm>
            <a:off x="11121847" y="310896"/>
            <a:ext cx="566928" cy="490078"/>
          </a:xfrm>
          <a:prstGeom prst="rect">
            <a:avLst/>
          </a:prstGeom>
        </p:spPr>
      </p:pic>
      <p:sp>
        <p:nvSpPr>
          <p:cNvPr id="5" name="Text 2"/>
          <p:cNvSpPr/>
          <p:nvPr/>
        </p:nvSpPr>
        <p:spPr>
          <a:xfrm>
            <a:off x="502920" y="1280160"/>
            <a:ext cx="7315200" cy="274320"/>
          </a:xfrm>
          <a:prstGeom prst="rect">
            <a:avLst/>
          </a:prstGeom>
          <a:noFill/>
          <a:ln/>
        </p:spPr>
        <p:txBody>
          <a:bodyPr wrap="square" rtlCol="0" anchor="ctr"/>
          <a:lstStyle/>
          <a:p>
            <a:pPr indent="0" marL="0">
              <a:buNone/>
            </a:pPr>
            <a:r>
              <a:rPr lang="en-US" sz="1100" spc="300" kern="0" dirty="0">
                <a:solidFill>
                  <a:srgbClr val="F35B1A"/>
                </a:solidFill>
                <a:latin typeface="Poppins SemiBold" pitchFamily="34" charset="0"/>
                <a:ea typeface="Poppins SemiBold" pitchFamily="34" charset="-122"/>
                <a:cs typeface="Poppins SemiBold" pitchFamily="34" charset="-120"/>
              </a:rPr>
              <a:t>EXECUTIVE SUMMARY</a:t>
            </a:r>
            <a:endParaRPr lang="en-US" sz="1100" dirty="0"/>
          </a:p>
        </p:txBody>
      </p:sp>
      <p:sp>
        <p:nvSpPr>
          <p:cNvPr id="6" name="Text 3"/>
          <p:cNvSpPr/>
          <p:nvPr/>
        </p:nvSpPr>
        <p:spPr>
          <a:xfrm>
            <a:off x="502920" y="2240280"/>
            <a:ext cx="640080" cy="548640"/>
          </a:xfrm>
          <a:prstGeom prst="rect">
            <a:avLst/>
          </a:prstGeom>
          <a:noFill/>
          <a:ln/>
        </p:spPr>
        <p:txBody>
          <a:bodyPr wrap="square" lIns="0" tIns="0" rIns="0" bIns="0" rtlCol="0" anchor="ctr"/>
          <a:lstStyle/>
          <a:p>
            <a:pPr indent="0" marL="0">
              <a:buNone/>
            </a:pPr>
            <a:r>
              <a:rPr lang="en-US" sz="2200" dirty="0">
                <a:solidFill>
                  <a:srgbClr val="97A0AD"/>
                </a:solidFill>
                <a:latin typeface="Source Serif Pro Black" pitchFamily="34" charset="0"/>
                <a:ea typeface="Source Serif Pro Black" pitchFamily="34" charset="-122"/>
                <a:cs typeface="Source Serif Pro Black" pitchFamily="34" charset="-120"/>
              </a:rPr>
              <a:t>01</a:t>
            </a:r>
            <a:endParaRPr lang="en-US" sz="2200" dirty="0"/>
          </a:p>
        </p:txBody>
      </p:sp>
      <p:sp>
        <p:nvSpPr>
          <p:cNvPr id="7" name="Text 4"/>
          <p:cNvSpPr/>
          <p:nvPr/>
        </p:nvSpPr>
        <p:spPr>
          <a:xfrm>
            <a:off x="1188720" y="2240280"/>
            <a:ext cx="5120640" cy="548640"/>
          </a:xfrm>
          <a:prstGeom prst="rect">
            <a:avLst/>
          </a:prstGeom>
          <a:noFill/>
          <a:ln/>
        </p:spPr>
        <p:txBody>
          <a:bodyPr wrap="square" lIns="0" tIns="0" rIns="0" bIns="0" rtlCol="0" anchor="ctr"/>
          <a:lstStyle/>
          <a:p>
            <a:pPr indent="0" marL="0">
              <a:buNone/>
            </a:pPr>
            <a:r>
              <a:rPr lang="en-US" sz="2100" dirty="0">
                <a:solidFill>
                  <a:srgbClr val="AEB7C4"/>
                </a:solidFill>
                <a:latin typeface="Source Serif Pro" pitchFamily="34" charset="0"/>
                <a:ea typeface="Source Serif Pro" pitchFamily="34" charset="-122"/>
                <a:cs typeface="Source Serif Pro" pitchFamily="34" charset="-120"/>
              </a:rPr>
              <a:t>Introduction</a:t>
            </a:r>
            <a:endParaRPr lang="en-US" sz="2100" dirty="0"/>
          </a:p>
        </p:txBody>
      </p:sp>
      <p:sp>
        <p:nvSpPr>
          <p:cNvPr id="8" name="Text 5"/>
          <p:cNvSpPr/>
          <p:nvPr/>
        </p:nvSpPr>
        <p:spPr>
          <a:xfrm>
            <a:off x="502920" y="3081528"/>
            <a:ext cx="640080" cy="548640"/>
          </a:xfrm>
          <a:prstGeom prst="rect">
            <a:avLst/>
          </a:prstGeom>
          <a:noFill/>
          <a:ln/>
        </p:spPr>
        <p:txBody>
          <a:bodyPr wrap="square" lIns="0" tIns="0" rIns="0" bIns="0" rtlCol="0" anchor="ctr"/>
          <a:lstStyle/>
          <a:p>
            <a:pPr indent="0" marL="0">
              <a:buNone/>
            </a:pPr>
            <a:r>
              <a:rPr lang="en-US" sz="2200" dirty="0">
                <a:solidFill>
                  <a:srgbClr val="97A0AD"/>
                </a:solidFill>
                <a:latin typeface="Source Serif Pro Black" pitchFamily="34" charset="0"/>
                <a:ea typeface="Source Serif Pro Black" pitchFamily="34" charset="-122"/>
                <a:cs typeface="Source Serif Pro Black" pitchFamily="34" charset="-120"/>
              </a:rPr>
              <a:t>02</a:t>
            </a:r>
            <a:endParaRPr lang="en-US" sz="2200" dirty="0"/>
          </a:p>
        </p:txBody>
      </p:sp>
      <p:sp>
        <p:nvSpPr>
          <p:cNvPr id="9" name="Text 6"/>
          <p:cNvSpPr/>
          <p:nvPr/>
        </p:nvSpPr>
        <p:spPr>
          <a:xfrm>
            <a:off x="1188720" y="3081528"/>
            <a:ext cx="5120640" cy="548640"/>
          </a:xfrm>
          <a:prstGeom prst="rect">
            <a:avLst/>
          </a:prstGeom>
          <a:noFill/>
          <a:ln/>
        </p:spPr>
        <p:txBody>
          <a:bodyPr wrap="square" lIns="0" tIns="0" rIns="0" bIns="0" rtlCol="0" anchor="ctr"/>
          <a:lstStyle/>
          <a:p>
            <a:pPr indent="0" marL="0">
              <a:buNone/>
            </a:pPr>
            <a:r>
              <a:rPr lang="en-US" sz="2100" dirty="0">
                <a:solidFill>
                  <a:srgbClr val="AEB7C4"/>
                </a:solidFill>
                <a:latin typeface="Source Serif Pro" pitchFamily="34" charset="0"/>
                <a:ea typeface="Source Serif Pro" pitchFamily="34" charset="-122"/>
                <a:cs typeface="Source Serif Pro" pitchFamily="34" charset="-120"/>
              </a:rPr>
              <a:t>Investment Thesis</a:t>
            </a:r>
            <a:endParaRPr lang="en-US" sz="2100" dirty="0"/>
          </a:p>
        </p:txBody>
      </p:sp>
      <p:sp>
        <p:nvSpPr>
          <p:cNvPr id="10" name="Text 7"/>
          <p:cNvSpPr/>
          <p:nvPr/>
        </p:nvSpPr>
        <p:spPr>
          <a:xfrm>
            <a:off x="502920" y="3922776"/>
            <a:ext cx="640080" cy="548640"/>
          </a:xfrm>
          <a:prstGeom prst="rect">
            <a:avLst/>
          </a:prstGeom>
          <a:noFill/>
          <a:ln/>
        </p:spPr>
        <p:txBody>
          <a:bodyPr wrap="square" lIns="0" tIns="0" rIns="0" bIns="0" rtlCol="0" anchor="ctr"/>
          <a:lstStyle/>
          <a:p>
            <a:pPr indent="0" marL="0">
              <a:buNone/>
            </a:pPr>
            <a:r>
              <a:rPr lang="en-US" sz="2200" dirty="0">
                <a:solidFill>
                  <a:srgbClr val="97A0AD"/>
                </a:solidFill>
                <a:latin typeface="Source Serif Pro Black" pitchFamily="34" charset="0"/>
                <a:ea typeface="Source Serif Pro Black" pitchFamily="34" charset="-122"/>
                <a:cs typeface="Source Serif Pro Black" pitchFamily="34" charset="-120"/>
              </a:rPr>
              <a:t>03</a:t>
            </a:r>
            <a:endParaRPr lang="en-US" sz="2200" dirty="0"/>
          </a:p>
        </p:txBody>
      </p:sp>
      <p:sp>
        <p:nvSpPr>
          <p:cNvPr id="11" name="Text 8"/>
          <p:cNvSpPr/>
          <p:nvPr/>
        </p:nvSpPr>
        <p:spPr>
          <a:xfrm>
            <a:off x="1188720" y="3922776"/>
            <a:ext cx="5120640" cy="548640"/>
          </a:xfrm>
          <a:prstGeom prst="rect">
            <a:avLst/>
          </a:prstGeom>
          <a:noFill/>
          <a:ln/>
        </p:spPr>
        <p:txBody>
          <a:bodyPr wrap="square" lIns="0" tIns="0" rIns="0" bIns="0" rtlCol="0" anchor="ctr"/>
          <a:lstStyle/>
          <a:p>
            <a:pPr indent="0" marL="0">
              <a:buNone/>
            </a:pPr>
            <a:r>
              <a:rPr lang="en-US" sz="2100" dirty="0">
                <a:solidFill>
                  <a:srgbClr val="AEB7C4"/>
                </a:solidFill>
                <a:latin typeface="Source Serif Pro" pitchFamily="34" charset="0"/>
                <a:ea typeface="Source Serif Pro" pitchFamily="34" charset="-122"/>
                <a:cs typeface="Source Serif Pro" pitchFamily="34" charset="-120"/>
              </a:rPr>
              <a:t>Company Overview</a:t>
            </a:r>
            <a:endParaRPr lang="en-US" sz="2100" dirty="0"/>
          </a:p>
        </p:txBody>
      </p:sp>
      <p:sp>
        <p:nvSpPr>
          <p:cNvPr id="12" name="Shape 9"/>
          <p:cNvSpPr/>
          <p:nvPr/>
        </p:nvSpPr>
        <p:spPr>
          <a:xfrm>
            <a:off x="374904" y="4700016"/>
            <a:ext cx="6035040" cy="658368"/>
          </a:xfrm>
          <a:prstGeom prst="roundRect">
            <a:avLst>
              <a:gd name="adj" fmla="val 11111"/>
            </a:avLst>
          </a:prstGeom>
          <a:solidFill>
            <a:srgbClr val="F35B1A"/>
          </a:solidFill>
          <a:ln/>
        </p:spPr>
      </p:sp>
      <p:sp>
        <p:nvSpPr>
          <p:cNvPr id="13" name="Text 10"/>
          <p:cNvSpPr/>
          <p:nvPr/>
        </p:nvSpPr>
        <p:spPr>
          <a:xfrm>
            <a:off x="502920" y="4764024"/>
            <a:ext cx="640080" cy="548640"/>
          </a:xfrm>
          <a:prstGeom prst="rect">
            <a:avLst/>
          </a:prstGeom>
          <a:noFill/>
          <a:ln/>
        </p:spPr>
        <p:txBody>
          <a:bodyPr wrap="square" lIns="0" tIns="0" rIns="0" bIns="0" rtlCol="0" anchor="ctr"/>
          <a:lstStyle/>
          <a:p>
            <a:pPr indent="0" marL="0">
              <a:buNone/>
            </a:pPr>
            <a:r>
              <a:rPr lang="en-US" sz="2200" dirty="0">
                <a:solidFill>
                  <a:srgbClr val="FFFFFF"/>
                </a:solidFill>
                <a:latin typeface="Source Serif Pro Black" pitchFamily="34" charset="0"/>
                <a:ea typeface="Source Serif Pro Black" pitchFamily="34" charset="-122"/>
                <a:cs typeface="Source Serif Pro Black" pitchFamily="34" charset="-120"/>
              </a:rPr>
              <a:t>04</a:t>
            </a:r>
            <a:endParaRPr lang="en-US" sz="2200" dirty="0"/>
          </a:p>
        </p:txBody>
      </p:sp>
      <p:sp>
        <p:nvSpPr>
          <p:cNvPr id="14" name="Text 11"/>
          <p:cNvSpPr/>
          <p:nvPr/>
        </p:nvSpPr>
        <p:spPr>
          <a:xfrm>
            <a:off x="1188720" y="4764024"/>
            <a:ext cx="5120640" cy="548640"/>
          </a:xfrm>
          <a:prstGeom prst="rect">
            <a:avLst/>
          </a:prstGeom>
          <a:noFill/>
          <a:ln/>
        </p:spPr>
        <p:txBody>
          <a:bodyPr wrap="square" lIns="0" tIns="0" rIns="0" bIns="0" rtlCol="0" anchor="ctr"/>
          <a:lstStyle/>
          <a:p>
            <a:pPr indent="0" marL="0">
              <a:buNone/>
            </a:pPr>
            <a:r>
              <a:rPr lang="en-US" sz="2100" dirty="0">
                <a:solidFill>
                  <a:srgbClr val="FFFFFF"/>
                </a:solidFill>
                <a:latin typeface="Source Serif Pro SemiBold" pitchFamily="34" charset="0"/>
                <a:ea typeface="Source Serif Pro SemiBold" pitchFamily="34" charset="-122"/>
                <a:cs typeface="Source Serif Pro SemiBold" pitchFamily="34" charset="-120"/>
              </a:rPr>
              <a:t>Financial Highlights</a:t>
            </a:r>
            <a:endParaRPr lang="en-US" sz="2100" dirty="0"/>
          </a:p>
        </p:txBody>
      </p:sp>
      <p:pic>
        <p:nvPicPr>
          <p:cNvPr id="15" name="Image 1" descr="assets/mobi_logo_black.png">    </p:cNvPr>
          <p:cNvPicPr>
            <a:picLocks noChangeAspect="1"/>
          </p:cNvPicPr>
          <p:nvPr/>
        </p:nvPicPr>
        <p:blipFill>
          <a:blip r:embed="rId2"/>
          <a:stretch>
            <a:fillRect/>
          </a:stretch>
        </p:blipFill>
        <p:spPr>
          <a:xfrm>
            <a:off x="502920" y="5897880"/>
            <a:ext cx="1554480" cy="49791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assets/igc_navy.png">    </p:cNvPr>
          <p:cNvPicPr>
            <a:picLocks noChangeAspect="1"/>
          </p:cNvPicPr>
          <p:nvPr/>
        </p:nvPicPr>
        <p:blipFill>
          <a:blip r:embed="rId1"/>
          <a:stretch>
            <a:fillRect/>
          </a:stretch>
        </p:blipFill>
        <p:spPr>
          <a:xfrm>
            <a:off x="11121847" y="310896"/>
            <a:ext cx="566928" cy="490078"/>
          </a:xfrm>
          <a:prstGeom prst="rect">
            <a:avLst/>
          </a:prstGeom>
        </p:spPr>
      </p:pic>
      <p:sp>
        <p:nvSpPr>
          <p:cNvPr id="3" name="Text 0"/>
          <p:cNvSpPr/>
          <p:nvPr/>
        </p:nvSpPr>
        <p:spPr>
          <a:xfrm>
            <a:off x="502920" y="384048"/>
            <a:ext cx="7315200" cy="256032"/>
          </a:xfrm>
          <a:prstGeom prst="rect">
            <a:avLst/>
          </a:prstGeom>
          <a:noFill/>
          <a:ln/>
        </p:spPr>
        <p:txBody>
          <a:bodyPr wrap="square" rtlCol="0" anchor="ctr"/>
          <a:lstStyle/>
          <a:p>
            <a:pPr algn="l" indent="0" marL="0">
              <a:buNone/>
            </a:pPr>
            <a:r>
              <a:rPr lang="en-US" sz="1050" spc="200" kern="0" dirty="0">
                <a:solidFill>
                  <a:srgbClr val="F35B1A"/>
                </a:solidFill>
                <a:latin typeface="Poppins SemiBold" pitchFamily="34" charset="0"/>
                <a:ea typeface="Poppins SemiBold" pitchFamily="34" charset="-122"/>
                <a:cs typeface="Poppins SemiBold" pitchFamily="34" charset="-120"/>
              </a:rPr>
              <a:t>FINANCIAL HIGHLIGHTS</a:t>
            </a:r>
            <a:endParaRPr lang="en-US" sz="1050" dirty="0"/>
          </a:p>
        </p:txBody>
      </p:sp>
      <p:sp>
        <p:nvSpPr>
          <p:cNvPr id="4" name="Text 1"/>
          <p:cNvSpPr/>
          <p:nvPr/>
        </p:nvSpPr>
        <p:spPr>
          <a:xfrm>
            <a:off x="502920" y="603504"/>
            <a:ext cx="10408615" cy="640080"/>
          </a:xfrm>
          <a:prstGeom prst="rect">
            <a:avLst/>
          </a:prstGeom>
          <a:noFill/>
          <a:ln/>
        </p:spPr>
        <p:txBody>
          <a:bodyPr wrap="square" rtlCol="0" anchor="t"/>
          <a:lstStyle/>
          <a:p>
            <a:pPr algn="l" indent="0" marL="0">
              <a:buNone/>
            </a:pPr>
            <a:r>
              <a:rPr lang="en-US" sz="2500" dirty="0">
                <a:solidFill>
                  <a:srgbClr val="222F44"/>
                </a:solidFill>
                <a:latin typeface="Source Serif Pro SemiBold" pitchFamily="34" charset="0"/>
                <a:ea typeface="Source Serif Pro SemiBold" pitchFamily="34" charset="-122"/>
                <a:cs typeface="Source Serif Pro SemiBold" pitchFamily="34" charset="-120"/>
              </a:rPr>
              <a:t>Financial highlights</a:t>
            </a:r>
            <a:endParaRPr lang="en-US" sz="2500" dirty="0"/>
          </a:p>
        </p:txBody>
      </p:sp>
      <p:sp>
        <p:nvSpPr>
          <p:cNvPr id="5" name="Text 2"/>
          <p:cNvSpPr/>
          <p:nvPr/>
        </p:nvSpPr>
        <p:spPr>
          <a:xfrm>
            <a:off x="502920" y="1225296"/>
            <a:ext cx="10408615" cy="457200"/>
          </a:xfrm>
          <a:prstGeom prst="rect">
            <a:avLst/>
          </a:prstGeom>
          <a:noFill/>
          <a:ln/>
        </p:spPr>
        <p:txBody>
          <a:bodyPr wrap="square" rtlCol="0" anchor="t"/>
          <a:lstStyle/>
          <a:p>
            <a:pPr algn="l" indent="0" marL="0">
              <a:buNone/>
            </a:pPr>
            <a:r>
              <a:rPr lang="en-US" sz="1250" dirty="0">
                <a:solidFill>
                  <a:srgbClr val="6B7686"/>
                </a:solidFill>
                <a:latin typeface="Poppins" pitchFamily="34" charset="0"/>
                <a:ea typeface="Poppins" pitchFamily="34" charset="-122"/>
                <a:cs typeface="Poppins" pitchFamily="34" charset="-120"/>
              </a:rPr>
              <a:t>Solid profitability in 2025; full historical series and projections pending Company data</a:t>
            </a:r>
            <a:endParaRPr lang="en-US" sz="1250" dirty="0"/>
          </a:p>
        </p:txBody>
      </p:sp>
      <p:sp>
        <p:nvSpPr>
          <p:cNvPr id="6" name="Text 3"/>
          <p:cNvSpPr/>
          <p:nvPr/>
        </p:nvSpPr>
        <p:spPr>
          <a:xfrm>
            <a:off x="502920" y="6547104"/>
            <a:ext cx="10180015" cy="237744"/>
          </a:xfrm>
          <a:prstGeom prst="rect">
            <a:avLst/>
          </a:prstGeom>
          <a:noFill/>
          <a:ln/>
        </p:spPr>
        <p:txBody>
          <a:bodyPr wrap="square" rtlCol="0" anchor="ctr"/>
          <a:lstStyle/>
          <a:p>
            <a:pPr algn="l" indent="0" marL="0">
              <a:buNone/>
            </a:pPr>
            <a:r>
              <a:rPr lang="en-US" sz="700" dirty="0">
                <a:solidFill>
                  <a:srgbClr val="97A0AD"/>
                </a:solidFill>
                <a:latin typeface="Poppins" pitchFamily="34" charset="0"/>
                <a:ea typeface="Poppins" pitchFamily="34" charset="-122"/>
                <a:cs typeface="Poppins" pitchFamily="34" charset="-120"/>
              </a:rPr>
              <a:t>Source: Company. 2025 figures are approximate and preliminary; historical series and projections to be confirmed with management.</a:t>
            </a:r>
            <a:endParaRPr lang="en-US" sz="700" dirty="0"/>
          </a:p>
        </p:txBody>
      </p:sp>
      <p:sp>
        <p:nvSpPr>
          <p:cNvPr id="7" name="Text 4"/>
          <p:cNvSpPr/>
          <p:nvPr/>
        </p:nvSpPr>
        <p:spPr>
          <a:xfrm>
            <a:off x="10728655" y="6547104"/>
            <a:ext cx="960120" cy="237744"/>
          </a:xfrm>
          <a:prstGeom prst="rect">
            <a:avLst/>
          </a:prstGeom>
          <a:noFill/>
          <a:ln/>
        </p:spPr>
        <p:txBody>
          <a:bodyPr wrap="square" rtlCol="0" anchor="ctr"/>
          <a:lstStyle/>
          <a:p>
            <a:pPr algn="r" indent="0" marL="0">
              <a:buNone/>
            </a:pPr>
            <a:r>
              <a:rPr lang="en-US" sz="850" dirty="0">
                <a:solidFill>
                  <a:srgbClr val="97A0AD"/>
                </a:solidFill>
                <a:latin typeface="Poppins Medium" pitchFamily="34" charset="0"/>
                <a:ea typeface="Poppins Medium" pitchFamily="34" charset="-122"/>
                <a:cs typeface="Poppins Medium" pitchFamily="34" charset="-120"/>
              </a:rPr>
              <a:t>Confidential   </a:t>
            </a:r>
            <a:pPr algn="r" indent="0" marL="0">
              <a:buNone/>
            </a:pPr>
            <a:r>
              <a:rPr lang="en-US" sz="850" b="1" dirty="0">
                <a:solidFill>
                  <a:srgbClr val="222F44"/>
                </a:solidFill>
                <a:latin typeface="Poppins Medium" pitchFamily="34" charset="0"/>
                <a:ea typeface="Poppins Medium" pitchFamily="34" charset="-122"/>
                <a:cs typeface="Poppins Medium" pitchFamily="34" charset="-120"/>
              </a:rPr>
              <a:t>21</a:t>
            </a:r>
            <a:endParaRPr lang="en-US" sz="850" dirty="0"/>
          </a:p>
        </p:txBody>
      </p:sp>
      <p:sp>
        <p:nvSpPr>
          <p:cNvPr id="8" name="Shape 5"/>
          <p:cNvSpPr/>
          <p:nvPr/>
        </p:nvSpPr>
        <p:spPr>
          <a:xfrm>
            <a:off x="502920" y="1874520"/>
            <a:ext cx="2590724" cy="1097280"/>
          </a:xfrm>
          <a:prstGeom prst="roundRect">
            <a:avLst>
              <a:gd name="adj" fmla="val 8333"/>
            </a:avLst>
          </a:prstGeom>
          <a:solidFill>
            <a:srgbClr val="F5F7F9"/>
          </a:solidFill>
          <a:ln w="12700">
            <a:solidFill>
              <a:srgbClr val="D9DEE5"/>
            </a:solidFill>
            <a:prstDash val="solid"/>
          </a:ln>
        </p:spPr>
      </p:sp>
      <p:sp>
        <p:nvSpPr>
          <p:cNvPr id="9" name="Text 6"/>
          <p:cNvSpPr/>
          <p:nvPr/>
        </p:nvSpPr>
        <p:spPr>
          <a:xfrm>
            <a:off x="704088" y="2020824"/>
            <a:ext cx="2188388" cy="457200"/>
          </a:xfrm>
          <a:prstGeom prst="rect">
            <a:avLst/>
          </a:prstGeom>
          <a:noFill/>
          <a:ln/>
        </p:spPr>
        <p:txBody>
          <a:bodyPr wrap="square" lIns="0" tIns="0" rIns="0" bIns="0" rtlCol="0" anchor="ctr"/>
          <a:lstStyle/>
          <a:p>
            <a:pPr indent="0" marL="0">
              <a:buNone/>
            </a:pPr>
            <a:r>
              <a:rPr lang="en-US" sz="2200" dirty="0">
                <a:solidFill>
                  <a:srgbClr val="F35B1A"/>
                </a:solidFill>
                <a:latin typeface="Source Serif Pro Black" pitchFamily="34" charset="0"/>
                <a:ea typeface="Source Serif Pro Black" pitchFamily="34" charset="-122"/>
                <a:cs typeface="Source Serif Pro Black" pitchFamily="34" charset="-120"/>
              </a:rPr>
              <a:t>~BRL 140 Mn</a:t>
            </a:r>
            <a:endParaRPr lang="en-US" sz="2200" dirty="0"/>
          </a:p>
        </p:txBody>
      </p:sp>
      <p:sp>
        <p:nvSpPr>
          <p:cNvPr id="10" name="Text 7"/>
          <p:cNvSpPr/>
          <p:nvPr/>
        </p:nvSpPr>
        <p:spPr>
          <a:xfrm>
            <a:off x="704088" y="2532888"/>
            <a:ext cx="2188388" cy="292608"/>
          </a:xfrm>
          <a:prstGeom prst="rect">
            <a:avLst/>
          </a:prstGeom>
          <a:noFill/>
          <a:ln/>
        </p:spPr>
        <p:txBody>
          <a:bodyPr wrap="square" lIns="0" tIns="0" rIns="0" bIns="0" rtlCol="0" anchor="t"/>
          <a:lstStyle/>
          <a:p>
            <a:pPr indent="0" marL="0">
              <a:buNone/>
            </a:pPr>
            <a:r>
              <a:rPr lang="en-US" sz="950" dirty="0">
                <a:solidFill>
                  <a:srgbClr val="6B7686"/>
                </a:solidFill>
                <a:latin typeface="Poppins" pitchFamily="34" charset="0"/>
                <a:ea typeface="Poppins" pitchFamily="34" charset="-122"/>
                <a:cs typeface="Poppins" pitchFamily="34" charset="-120"/>
              </a:rPr>
              <a:t>Net revenue 2025</a:t>
            </a:r>
            <a:endParaRPr lang="en-US" sz="950" dirty="0"/>
          </a:p>
        </p:txBody>
      </p:sp>
      <p:sp>
        <p:nvSpPr>
          <p:cNvPr id="11" name="Shape 8"/>
          <p:cNvSpPr/>
          <p:nvPr/>
        </p:nvSpPr>
        <p:spPr>
          <a:xfrm>
            <a:off x="3367964" y="1874520"/>
            <a:ext cx="2590724" cy="1097280"/>
          </a:xfrm>
          <a:prstGeom prst="roundRect">
            <a:avLst>
              <a:gd name="adj" fmla="val 8333"/>
            </a:avLst>
          </a:prstGeom>
          <a:solidFill>
            <a:srgbClr val="F5F7F9"/>
          </a:solidFill>
          <a:ln w="12700">
            <a:solidFill>
              <a:srgbClr val="D9DEE5"/>
            </a:solidFill>
            <a:prstDash val="solid"/>
          </a:ln>
        </p:spPr>
      </p:sp>
      <p:sp>
        <p:nvSpPr>
          <p:cNvPr id="12" name="Text 9"/>
          <p:cNvSpPr/>
          <p:nvPr/>
        </p:nvSpPr>
        <p:spPr>
          <a:xfrm>
            <a:off x="3569132" y="2020824"/>
            <a:ext cx="2188388" cy="457200"/>
          </a:xfrm>
          <a:prstGeom prst="rect">
            <a:avLst/>
          </a:prstGeom>
          <a:noFill/>
          <a:ln/>
        </p:spPr>
        <p:txBody>
          <a:bodyPr wrap="square" lIns="0" tIns="0" rIns="0" bIns="0" rtlCol="0" anchor="ctr"/>
          <a:lstStyle/>
          <a:p>
            <a:pPr indent="0" marL="0">
              <a:buNone/>
            </a:pPr>
            <a:r>
              <a:rPr lang="en-US" sz="2200" dirty="0">
                <a:solidFill>
                  <a:srgbClr val="F35B1A"/>
                </a:solidFill>
                <a:latin typeface="Source Serif Pro Black" pitchFamily="34" charset="0"/>
                <a:ea typeface="Source Serif Pro Black" pitchFamily="34" charset="-122"/>
                <a:cs typeface="Source Serif Pro Black" pitchFamily="34" charset="-120"/>
              </a:rPr>
              <a:t>~BRL 36 Mn</a:t>
            </a:r>
            <a:endParaRPr lang="en-US" sz="2200" dirty="0"/>
          </a:p>
        </p:txBody>
      </p:sp>
      <p:sp>
        <p:nvSpPr>
          <p:cNvPr id="13" name="Text 10"/>
          <p:cNvSpPr/>
          <p:nvPr/>
        </p:nvSpPr>
        <p:spPr>
          <a:xfrm>
            <a:off x="3569132" y="2532888"/>
            <a:ext cx="2188388" cy="292608"/>
          </a:xfrm>
          <a:prstGeom prst="rect">
            <a:avLst/>
          </a:prstGeom>
          <a:noFill/>
          <a:ln/>
        </p:spPr>
        <p:txBody>
          <a:bodyPr wrap="square" lIns="0" tIns="0" rIns="0" bIns="0" rtlCol="0" anchor="t"/>
          <a:lstStyle/>
          <a:p>
            <a:pPr indent="0" marL="0">
              <a:buNone/>
            </a:pPr>
            <a:r>
              <a:rPr lang="en-US" sz="950" dirty="0">
                <a:solidFill>
                  <a:srgbClr val="6B7686"/>
                </a:solidFill>
                <a:latin typeface="Poppins" pitchFamily="34" charset="0"/>
                <a:ea typeface="Poppins" pitchFamily="34" charset="-122"/>
                <a:cs typeface="Poppins" pitchFamily="34" charset="-120"/>
              </a:rPr>
              <a:t>EBITDA 2025</a:t>
            </a:r>
            <a:endParaRPr lang="en-US" sz="950" dirty="0"/>
          </a:p>
        </p:txBody>
      </p:sp>
      <p:sp>
        <p:nvSpPr>
          <p:cNvPr id="14" name="Shape 11"/>
          <p:cNvSpPr/>
          <p:nvPr/>
        </p:nvSpPr>
        <p:spPr>
          <a:xfrm>
            <a:off x="6233008" y="1874520"/>
            <a:ext cx="2590724" cy="1097280"/>
          </a:xfrm>
          <a:prstGeom prst="roundRect">
            <a:avLst>
              <a:gd name="adj" fmla="val 8333"/>
            </a:avLst>
          </a:prstGeom>
          <a:solidFill>
            <a:srgbClr val="F5F7F9"/>
          </a:solidFill>
          <a:ln w="12700">
            <a:solidFill>
              <a:srgbClr val="D9DEE5"/>
            </a:solidFill>
            <a:prstDash val="solid"/>
          </a:ln>
        </p:spPr>
      </p:sp>
      <p:sp>
        <p:nvSpPr>
          <p:cNvPr id="15" name="Text 12"/>
          <p:cNvSpPr/>
          <p:nvPr/>
        </p:nvSpPr>
        <p:spPr>
          <a:xfrm>
            <a:off x="6434176" y="2020824"/>
            <a:ext cx="2188388" cy="457200"/>
          </a:xfrm>
          <a:prstGeom prst="rect">
            <a:avLst/>
          </a:prstGeom>
          <a:noFill/>
          <a:ln/>
        </p:spPr>
        <p:txBody>
          <a:bodyPr wrap="square" lIns="0" tIns="0" rIns="0" bIns="0" rtlCol="0" anchor="ctr"/>
          <a:lstStyle/>
          <a:p>
            <a:pPr indent="0" marL="0">
              <a:buNone/>
            </a:pPr>
            <a:r>
              <a:rPr lang="en-US" sz="2200" dirty="0">
                <a:solidFill>
                  <a:srgbClr val="F35B1A"/>
                </a:solidFill>
                <a:latin typeface="Source Serif Pro Black" pitchFamily="34" charset="0"/>
                <a:ea typeface="Source Serif Pro Black" pitchFamily="34" charset="-122"/>
                <a:cs typeface="Source Serif Pro Black" pitchFamily="34" charset="-120"/>
              </a:rPr>
              <a:t>~26%</a:t>
            </a:r>
            <a:endParaRPr lang="en-US" sz="2200" dirty="0"/>
          </a:p>
        </p:txBody>
      </p:sp>
      <p:sp>
        <p:nvSpPr>
          <p:cNvPr id="16" name="Text 13"/>
          <p:cNvSpPr/>
          <p:nvPr/>
        </p:nvSpPr>
        <p:spPr>
          <a:xfrm>
            <a:off x="6434176" y="2532888"/>
            <a:ext cx="2188388" cy="292608"/>
          </a:xfrm>
          <a:prstGeom prst="rect">
            <a:avLst/>
          </a:prstGeom>
          <a:noFill/>
          <a:ln/>
        </p:spPr>
        <p:txBody>
          <a:bodyPr wrap="square" lIns="0" tIns="0" rIns="0" bIns="0" rtlCol="0" anchor="t"/>
          <a:lstStyle/>
          <a:p>
            <a:pPr indent="0" marL="0">
              <a:buNone/>
            </a:pPr>
            <a:r>
              <a:rPr lang="en-US" sz="950" dirty="0">
                <a:solidFill>
                  <a:srgbClr val="6B7686"/>
                </a:solidFill>
                <a:latin typeface="Poppins" pitchFamily="34" charset="0"/>
                <a:ea typeface="Poppins" pitchFamily="34" charset="-122"/>
                <a:cs typeface="Poppins" pitchFamily="34" charset="-120"/>
              </a:rPr>
              <a:t>EBITDA margin 2025</a:t>
            </a:r>
            <a:endParaRPr lang="en-US" sz="950" dirty="0"/>
          </a:p>
        </p:txBody>
      </p:sp>
      <p:sp>
        <p:nvSpPr>
          <p:cNvPr id="17" name="Shape 14"/>
          <p:cNvSpPr/>
          <p:nvPr/>
        </p:nvSpPr>
        <p:spPr>
          <a:xfrm>
            <a:off x="9098051" y="1874520"/>
            <a:ext cx="2590724" cy="1097280"/>
          </a:xfrm>
          <a:prstGeom prst="roundRect">
            <a:avLst>
              <a:gd name="adj" fmla="val 8333"/>
            </a:avLst>
          </a:prstGeom>
          <a:solidFill>
            <a:srgbClr val="F5F7F9"/>
          </a:solidFill>
          <a:ln w="12700">
            <a:solidFill>
              <a:srgbClr val="D9DEE5"/>
            </a:solidFill>
            <a:prstDash val="solid"/>
          </a:ln>
        </p:spPr>
      </p:sp>
      <p:sp>
        <p:nvSpPr>
          <p:cNvPr id="18" name="Text 15"/>
          <p:cNvSpPr/>
          <p:nvPr/>
        </p:nvSpPr>
        <p:spPr>
          <a:xfrm>
            <a:off x="9299219" y="2020824"/>
            <a:ext cx="2188388" cy="457200"/>
          </a:xfrm>
          <a:prstGeom prst="rect">
            <a:avLst/>
          </a:prstGeom>
          <a:noFill/>
          <a:ln/>
        </p:spPr>
        <p:txBody>
          <a:bodyPr wrap="square" lIns="0" tIns="0" rIns="0" bIns="0" rtlCol="0" anchor="ctr"/>
          <a:lstStyle/>
          <a:p>
            <a:pPr indent="0" marL="0">
              <a:buNone/>
            </a:pPr>
            <a:r>
              <a:rPr lang="en-US" sz="2200" dirty="0">
                <a:solidFill>
                  <a:srgbClr val="F35B1A"/>
                </a:solidFill>
                <a:latin typeface="Source Serif Pro Black" pitchFamily="34" charset="0"/>
                <a:ea typeface="Source Serif Pro Black" pitchFamily="34" charset="-122"/>
                <a:cs typeface="Source Serif Pro Black" pitchFamily="34" charset="-120"/>
              </a:rPr>
              <a:t>+41.3%</a:t>
            </a:r>
            <a:endParaRPr lang="en-US" sz="2200" dirty="0"/>
          </a:p>
        </p:txBody>
      </p:sp>
      <p:sp>
        <p:nvSpPr>
          <p:cNvPr id="19" name="Text 16"/>
          <p:cNvSpPr/>
          <p:nvPr/>
        </p:nvSpPr>
        <p:spPr>
          <a:xfrm>
            <a:off x="9299219" y="2532888"/>
            <a:ext cx="2188388" cy="292608"/>
          </a:xfrm>
          <a:prstGeom prst="rect">
            <a:avLst/>
          </a:prstGeom>
          <a:noFill/>
          <a:ln/>
        </p:spPr>
        <p:txBody>
          <a:bodyPr wrap="square" lIns="0" tIns="0" rIns="0" bIns="0" rtlCol="0" anchor="t"/>
          <a:lstStyle/>
          <a:p>
            <a:pPr indent="0" marL="0">
              <a:buNone/>
            </a:pPr>
            <a:r>
              <a:rPr lang="en-US" sz="950" dirty="0">
                <a:solidFill>
                  <a:srgbClr val="6B7686"/>
                </a:solidFill>
                <a:latin typeface="Poppins" pitchFamily="34" charset="0"/>
                <a:ea typeface="Poppins" pitchFamily="34" charset="-122"/>
                <a:cs typeface="Poppins" pitchFamily="34" charset="-120"/>
              </a:rPr>
              <a:t>1Q gross revenue YoY</a:t>
            </a:r>
            <a:endParaRPr lang="en-US" sz="950" dirty="0"/>
          </a:p>
        </p:txBody>
      </p:sp>
      <p:sp>
        <p:nvSpPr>
          <p:cNvPr id="20" name="Shape 17"/>
          <p:cNvSpPr/>
          <p:nvPr/>
        </p:nvSpPr>
        <p:spPr>
          <a:xfrm>
            <a:off x="502920" y="3200400"/>
            <a:ext cx="11185855" cy="2651760"/>
          </a:xfrm>
          <a:prstGeom prst="roundRect">
            <a:avLst>
              <a:gd name="adj" fmla="val 3448"/>
            </a:avLst>
          </a:prstGeom>
          <a:solidFill>
            <a:srgbClr val="FFFFFF"/>
          </a:solidFill>
          <a:ln w="12700">
            <a:solidFill>
              <a:srgbClr val="D9DEE5"/>
            </a:solidFill>
            <a:prstDash val="solid"/>
          </a:ln>
          <a:effectLst>
            <a:outerShdw sx="100000" sy="100000" kx="0" ky="0" algn="bl" rotWithShape="0" blurRad="88900" dist="25400" dir="5400000">
              <a:srgbClr val="9AA6B4">
                <a:alpha val="28000"/>
              </a:srgbClr>
            </a:outerShdw>
          </a:effectLst>
        </p:spPr>
      </p:sp>
      <p:sp>
        <p:nvSpPr>
          <p:cNvPr id="21" name="Text 18"/>
          <p:cNvSpPr/>
          <p:nvPr/>
        </p:nvSpPr>
        <p:spPr>
          <a:xfrm>
            <a:off x="777240" y="3346704"/>
            <a:ext cx="7315200" cy="274320"/>
          </a:xfrm>
          <a:prstGeom prst="rect">
            <a:avLst/>
          </a:prstGeom>
          <a:noFill/>
          <a:ln/>
        </p:spPr>
        <p:txBody>
          <a:bodyPr wrap="square" lIns="0" tIns="0" rIns="0" bIns="0" rtlCol="0" anchor="ctr"/>
          <a:lstStyle/>
          <a:p>
            <a:pPr indent="0" marL="0">
              <a:buNone/>
            </a:pPr>
            <a:r>
              <a:rPr lang="en-US" sz="1200" dirty="0">
                <a:solidFill>
                  <a:srgbClr val="222F44"/>
                </a:solidFill>
                <a:latin typeface="Poppins SemiBold" pitchFamily="34" charset="0"/>
                <a:ea typeface="Poppins SemiBold" pitchFamily="34" charset="-122"/>
                <a:cs typeface="Poppins SemiBold" pitchFamily="34" charset="-120"/>
              </a:rPr>
              <a:t>Net revenue &amp; EBITDA evolution  —  BRL Mn</a:t>
            </a:r>
            <a:endParaRPr lang="en-US" sz="1200" dirty="0"/>
          </a:p>
        </p:txBody>
      </p:sp>
      <p:sp>
        <p:nvSpPr>
          <p:cNvPr id="22" name="Shape 19"/>
          <p:cNvSpPr/>
          <p:nvPr/>
        </p:nvSpPr>
        <p:spPr>
          <a:xfrm>
            <a:off x="8945575" y="3401568"/>
            <a:ext cx="164592" cy="164592"/>
          </a:xfrm>
          <a:prstGeom prst="rect">
            <a:avLst/>
          </a:prstGeom>
          <a:solidFill>
            <a:srgbClr val="2C3B54"/>
          </a:solidFill>
          <a:ln/>
        </p:spPr>
      </p:sp>
      <p:sp>
        <p:nvSpPr>
          <p:cNvPr id="23" name="Text 20"/>
          <p:cNvSpPr/>
          <p:nvPr/>
        </p:nvSpPr>
        <p:spPr>
          <a:xfrm>
            <a:off x="9146743" y="3346704"/>
            <a:ext cx="1005840" cy="256032"/>
          </a:xfrm>
          <a:prstGeom prst="rect">
            <a:avLst/>
          </a:prstGeom>
          <a:noFill/>
          <a:ln/>
        </p:spPr>
        <p:txBody>
          <a:bodyPr wrap="square" lIns="0" tIns="0" rIns="0" bIns="0" rtlCol="0" anchor="ctr"/>
          <a:lstStyle/>
          <a:p>
            <a:pPr indent="0" marL="0">
              <a:buNone/>
            </a:pPr>
            <a:r>
              <a:rPr lang="en-US" sz="900" dirty="0">
                <a:solidFill>
                  <a:srgbClr val="6B7686"/>
                </a:solidFill>
                <a:latin typeface="Poppins" pitchFamily="34" charset="0"/>
                <a:ea typeface="Poppins" pitchFamily="34" charset="-122"/>
                <a:cs typeface="Poppins" pitchFamily="34" charset="-120"/>
              </a:rPr>
              <a:t>Net revenue</a:t>
            </a:r>
            <a:endParaRPr lang="en-US" sz="900" dirty="0"/>
          </a:p>
        </p:txBody>
      </p:sp>
      <p:sp>
        <p:nvSpPr>
          <p:cNvPr id="24" name="Shape 21"/>
          <p:cNvSpPr/>
          <p:nvPr/>
        </p:nvSpPr>
        <p:spPr>
          <a:xfrm>
            <a:off x="10225735" y="3401568"/>
            <a:ext cx="164592" cy="164592"/>
          </a:xfrm>
          <a:prstGeom prst="rect">
            <a:avLst/>
          </a:prstGeom>
          <a:solidFill>
            <a:srgbClr val="F35B1A"/>
          </a:solidFill>
          <a:ln/>
        </p:spPr>
      </p:sp>
      <p:sp>
        <p:nvSpPr>
          <p:cNvPr id="25" name="Text 22"/>
          <p:cNvSpPr/>
          <p:nvPr/>
        </p:nvSpPr>
        <p:spPr>
          <a:xfrm>
            <a:off x="10426903" y="3346704"/>
            <a:ext cx="1005840" cy="256032"/>
          </a:xfrm>
          <a:prstGeom prst="rect">
            <a:avLst/>
          </a:prstGeom>
          <a:noFill/>
          <a:ln/>
        </p:spPr>
        <p:txBody>
          <a:bodyPr wrap="square" lIns="0" tIns="0" rIns="0" bIns="0" rtlCol="0" anchor="ctr"/>
          <a:lstStyle/>
          <a:p>
            <a:pPr indent="0" marL="0">
              <a:buNone/>
            </a:pPr>
            <a:r>
              <a:rPr lang="en-US" sz="900" dirty="0">
                <a:solidFill>
                  <a:srgbClr val="6B7686"/>
                </a:solidFill>
                <a:latin typeface="Poppins" pitchFamily="34" charset="0"/>
                <a:ea typeface="Poppins" pitchFamily="34" charset="-122"/>
                <a:cs typeface="Poppins" pitchFamily="34" charset="-120"/>
              </a:rPr>
              <a:t>EBITDA</a:t>
            </a:r>
            <a:endParaRPr lang="en-US" sz="900" dirty="0"/>
          </a:p>
        </p:txBody>
      </p:sp>
      <p:graphicFrame>
        <p:nvGraphicFramePr>
          <p:cNvPr id="26" name="Chart 0" descr=""/>
          <p:cNvGraphicFramePr/>
          <p:nvPr/>
        </p:nvGraphicFramePr>
        <p:xfrm>
          <a:off x="685800" y="3749040"/>
          <a:ext cx="10728655" cy="1965960"/>
        </p:xfrm>
        <a:graphic xmlns:a="http://schemas.openxmlformats.org/drawingml/2006/main">
          <a:graphicData uri="http://schemas.openxmlformats.org/drawingml/2006/chart">
            <c:chart xmlns:c="http://schemas.openxmlformats.org/drawingml/2006/chart" r:id="rId2"/>
          </a:graphicData>
        </a:graphic>
      </p:graphicFrame>
      <p:sp>
        <p:nvSpPr>
          <p:cNvPr id="27" name="Text 23"/>
          <p:cNvSpPr/>
          <p:nvPr/>
        </p:nvSpPr>
        <p:spPr>
          <a:xfrm>
            <a:off x="1005840" y="4343400"/>
            <a:ext cx="3291840" cy="640080"/>
          </a:xfrm>
          <a:prstGeom prst="rect">
            <a:avLst/>
          </a:prstGeom>
          <a:noFill/>
          <a:ln/>
        </p:spPr>
        <p:txBody>
          <a:bodyPr wrap="square" rtlCol="0" anchor="t"/>
          <a:lstStyle/>
          <a:p>
            <a:pPr algn="l" indent="0" marL="0">
              <a:lnSpc>
                <a:spcPct val="105000"/>
              </a:lnSpc>
              <a:buNone/>
            </a:pPr>
            <a:r>
              <a:rPr lang="en-US" sz="1000" i="1" dirty="0">
                <a:solidFill>
                  <a:srgbClr val="97A0AD"/>
                </a:solidFill>
                <a:latin typeface="Poppins" pitchFamily="34" charset="0"/>
                <a:ea typeface="Poppins" pitchFamily="34" charset="-122"/>
                <a:cs typeface="Poppins" pitchFamily="34" charset="-120"/>
              </a:rPr>
              <a:t>2022–2024 and 2026E</a:t>
            </a:r>
            <a:endParaRPr lang="en-US" sz="1000" dirty="0"/>
          </a:p>
          <a:p>
            <a:pPr algn="l" indent="0" marL="0">
              <a:lnSpc>
                <a:spcPct val="105000"/>
              </a:lnSpc>
              <a:buNone/>
            </a:pPr>
            <a:r>
              <a:rPr lang="en-US" sz="1000" i="1" dirty="0">
                <a:solidFill>
                  <a:srgbClr val="97A0AD"/>
                </a:solidFill>
                <a:latin typeface="Poppins" pitchFamily="34" charset="0"/>
                <a:ea typeface="Poppins" pitchFamily="34" charset="-122"/>
                <a:cs typeface="Poppins" pitchFamily="34" charset="-120"/>
              </a:rPr>
              <a:t>figures pending Company data</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assets/igc_navy.png">    </p:cNvPr>
          <p:cNvPicPr>
            <a:picLocks noChangeAspect="1"/>
          </p:cNvPicPr>
          <p:nvPr/>
        </p:nvPicPr>
        <p:blipFill>
          <a:blip r:embed="rId1"/>
          <a:stretch>
            <a:fillRect/>
          </a:stretch>
        </p:blipFill>
        <p:spPr>
          <a:xfrm>
            <a:off x="11121847" y="310896"/>
            <a:ext cx="566928" cy="490078"/>
          </a:xfrm>
          <a:prstGeom prst="rect">
            <a:avLst/>
          </a:prstGeom>
        </p:spPr>
      </p:pic>
      <p:sp>
        <p:nvSpPr>
          <p:cNvPr id="3" name="Text 0"/>
          <p:cNvSpPr/>
          <p:nvPr/>
        </p:nvSpPr>
        <p:spPr>
          <a:xfrm>
            <a:off x="502920" y="384048"/>
            <a:ext cx="7315200" cy="256032"/>
          </a:xfrm>
          <a:prstGeom prst="rect">
            <a:avLst/>
          </a:prstGeom>
          <a:noFill/>
          <a:ln/>
        </p:spPr>
        <p:txBody>
          <a:bodyPr wrap="square" rtlCol="0" anchor="ctr"/>
          <a:lstStyle/>
          <a:p>
            <a:pPr algn="l" indent="0" marL="0">
              <a:buNone/>
            </a:pPr>
            <a:r>
              <a:rPr lang="en-US" sz="1050" spc="200" kern="0" dirty="0">
                <a:solidFill>
                  <a:srgbClr val="F35B1A"/>
                </a:solidFill>
                <a:latin typeface="Poppins SemiBold" pitchFamily="34" charset="0"/>
                <a:ea typeface="Poppins SemiBold" pitchFamily="34" charset="-122"/>
                <a:cs typeface="Poppins SemiBold" pitchFamily="34" charset="-120"/>
              </a:rPr>
              <a:t>FINANCIAL HIGHLIGHTS</a:t>
            </a:r>
            <a:endParaRPr lang="en-US" sz="1050" dirty="0"/>
          </a:p>
        </p:txBody>
      </p:sp>
      <p:sp>
        <p:nvSpPr>
          <p:cNvPr id="4" name="Text 1"/>
          <p:cNvSpPr/>
          <p:nvPr/>
        </p:nvSpPr>
        <p:spPr>
          <a:xfrm>
            <a:off x="502920" y="603504"/>
            <a:ext cx="10408615" cy="640080"/>
          </a:xfrm>
          <a:prstGeom prst="rect">
            <a:avLst/>
          </a:prstGeom>
          <a:noFill/>
          <a:ln/>
        </p:spPr>
        <p:txBody>
          <a:bodyPr wrap="square" rtlCol="0" anchor="t"/>
          <a:lstStyle/>
          <a:p>
            <a:pPr algn="l" indent="0" marL="0">
              <a:buNone/>
            </a:pPr>
            <a:r>
              <a:rPr lang="en-US" sz="2500" dirty="0">
                <a:solidFill>
                  <a:srgbClr val="222F44"/>
                </a:solidFill>
                <a:latin typeface="Source Serif Pro SemiBold" pitchFamily="34" charset="0"/>
                <a:ea typeface="Source Serif Pro SemiBold" pitchFamily="34" charset="-122"/>
                <a:cs typeface="Source Serif Pro SemiBold" pitchFamily="34" charset="-120"/>
              </a:rPr>
              <a:t>Cash generation &amp; value drivers</a:t>
            </a:r>
            <a:endParaRPr lang="en-US" sz="2500" dirty="0"/>
          </a:p>
        </p:txBody>
      </p:sp>
      <p:sp>
        <p:nvSpPr>
          <p:cNvPr id="5" name="Text 2"/>
          <p:cNvSpPr/>
          <p:nvPr/>
        </p:nvSpPr>
        <p:spPr>
          <a:xfrm>
            <a:off x="502920" y="1225296"/>
            <a:ext cx="10408615" cy="457200"/>
          </a:xfrm>
          <a:prstGeom prst="rect">
            <a:avLst/>
          </a:prstGeom>
          <a:noFill/>
          <a:ln/>
        </p:spPr>
        <p:txBody>
          <a:bodyPr wrap="square" rtlCol="0" anchor="t"/>
          <a:lstStyle/>
          <a:p>
            <a:pPr algn="l" indent="0" marL="0">
              <a:buNone/>
            </a:pPr>
            <a:r>
              <a:rPr lang="en-US" sz="1250" dirty="0">
                <a:solidFill>
                  <a:srgbClr val="6B7686"/>
                </a:solidFill>
                <a:latin typeface="Poppins" pitchFamily="34" charset="0"/>
                <a:ea typeface="Poppins" pitchFamily="34" charset="-122"/>
                <a:cs typeface="Poppins" pitchFamily="34" charset="-120"/>
              </a:rPr>
              <a:t>A capital-efficient, contracted model — detailed metrics to be confirmed with the Company</a:t>
            </a:r>
            <a:endParaRPr lang="en-US" sz="1250" dirty="0"/>
          </a:p>
        </p:txBody>
      </p:sp>
      <p:sp>
        <p:nvSpPr>
          <p:cNvPr id="6" name="Text 3"/>
          <p:cNvSpPr/>
          <p:nvPr/>
        </p:nvSpPr>
        <p:spPr>
          <a:xfrm>
            <a:off x="502920" y="6547104"/>
            <a:ext cx="10180015" cy="237744"/>
          </a:xfrm>
          <a:prstGeom prst="rect">
            <a:avLst/>
          </a:prstGeom>
          <a:noFill/>
          <a:ln/>
        </p:spPr>
        <p:txBody>
          <a:bodyPr wrap="square" rtlCol="0" anchor="ctr"/>
          <a:lstStyle/>
          <a:p>
            <a:pPr algn="l" indent="0" marL="0">
              <a:buNone/>
            </a:pPr>
            <a:r>
              <a:rPr lang="en-US" sz="700" dirty="0">
                <a:solidFill>
                  <a:srgbClr val="97A0AD"/>
                </a:solidFill>
                <a:latin typeface="Poppins" pitchFamily="34" charset="0"/>
                <a:ea typeface="Poppins" pitchFamily="34" charset="-122"/>
                <a:cs typeface="Poppins" pitchFamily="34" charset="-120"/>
              </a:rPr>
              <a:t>Source: Company. Framework for discussion; all figures to be confirmed with management.</a:t>
            </a:r>
            <a:endParaRPr lang="en-US" sz="700" dirty="0"/>
          </a:p>
        </p:txBody>
      </p:sp>
      <p:sp>
        <p:nvSpPr>
          <p:cNvPr id="7" name="Text 4"/>
          <p:cNvSpPr/>
          <p:nvPr/>
        </p:nvSpPr>
        <p:spPr>
          <a:xfrm>
            <a:off x="10728655" y="6547104"/>
            <a:ext cx="960120" cy="237744"/>
          </a:xfrm>
          <a:prstGeom prst="rect">
            <a:avLst/>
          </a:prstGeom>
          <a:noFill/>
          <a:ln/>
        </p:spPr>
        <p:txBody>
          <a:bodyPr wrap="square" rtlCol="0" anchor="ctr"/>
          <a:lstStyle/>
          <a:p>
            <a:pPr algn="r" indent="0" marL="0">
              <a:buNone/>
            </a:pPr>
            <a:r>
              <a:rPr lang="en-US" sz="850" dirty="0">
                <a:solidFill>
                  <a:srgbClr val="97A0AD"/>
                </a:solidFill>
                <a:latin typeface="Poppins Medium" pitchFamily="34" charset="0"/>
                <a:ea typeface="Poppins Medium" pitchFamily="34" charset="-122"/>
                <a:cs typeface="Poppins Medium" pitchFamily="34" charset="-120"/>
              </a:rPr>
              <a:t>Confidential   </a:t>
            </a:r>
            <a:pPr algn="r" indent="0" marL="0">
              <a:buNone/>
            </a:pPr>
            <a:r>
              <a:rPr lang="en-US" sz="850" b="1" dirty="0">
                <a:solidFill>
                  <a:srgbClr val="222F44"/>
                </a:solidFill>
                <a:latin typeface="Poppins Medium" pitchFamily="34" charset="0"/>
                <a:ea typeface="Poppins Medium" pitchFamily="34" charset="-122"/>
                <a:cs typeface="Poppins Medium" pitchFamily="34" charset="-120"/>
              </a:rPr>
              <a:t>22</a:t>
            </a:r>
            <a:endParaRPr lang="en-US" sz="850" dirty="0"/>
          </a:p>
        </p:txBody>
      </p:sp>
      <p:sp>
        <p:nvSpPr>
          <p:cNvPr id="8" name="Shape 5"/>
          <p:cNvSpPr/>
          <p:nvPr/>
        </p:nvSpPr>
        <p:spPr>
          <a:xfrm>
            <a:off x="502920" y="1965960"/>
            <a:ext cx="5410048" cy="1737360"/>
          </a:xfrm>
          <a:prstGeom prst="roundRect">
            <a:avLst>
              <a:gd name="adj" fmla="val 5263"/>
            </a:avLst>
          </a:prstGeom>
          <a:solidFill>
            <a:srgbClr val="FFFFFF"/>
          </a:solidFill>
          <a:ln w="12700">
            <a:solidFill>
              <a:srgbClr val="D9DEE5"/>
            </a:solidFill>
            <a:prstDash val="solid"/>
          </a:ln>
          <a:effectLst>
            <a:outerShdw sx="100000" sy="100000" kx="0" ky="0" algn="bl" rotWithShape="0" blurRad="88900" dist="25400" dir="5400000">
              <a:srgbClr val="9AA6B4">
                <a:alpha val="28000"/>
              </a:srgbClr>
            </a:outerShdw>
          </a:effectLst>
        </p:spPr>
      </p:sp>
      <p:sp>
        <p:nvSpPr>
          <p:cNvPr id="9" name="Shape 6"/>
          <p:cNvSpPr/>
          <p:nvPr/>
        </p:nvSpPr>
        <p:spPr>
          <a:xfrm>
            <a:off x="740664" y="2203704"/>
            <a:ext cx="566928" cy="566928"/>
          </a:xfrm>
          <a:prstGeom prst="ellipse">
            <a:avLst/>
          </a:prstGeom>
          <a:solidFill>
            <a:srgbClr val="F5F7F9"/>
          </a:solidFill>
          <a:ln/>
        </p:spPr>
      </p:sp>
      <p:pic>
        <p:nvPicPr>
          <p:cNvPr id="10" name="Image 1" descr="assets/icons/repeat_orange.png">    </p:cNvPr>
          <p:cNvPicPr>
            <a:picLocks noChangeAspect="1"/>
          </p:cNvPicPr>
          <p:nvPr/>
        </p:nvPicPr>
        <p:blipFill>
          <a:blip r:embed="rId2"/>
          <a:stretch>
            <a:fillRect/>
          </a:stretch>
        </p:blipFill>
        <p:spPr>
          <a:xfrm>
            <a:off x="888065" y="2351105"/>
            <a:ext cx="272125" cy="272125"/>
          </a:xfrm>
          <a:prstGeom prst="rect">
            <a:avLst/>
          </a:prstGeom>
        </p:spPr>
      </p:pic>
      <p:sp>
        <p:nvSpPr>
          <p:cNvPr id="11" name="Text 7"/>
          <p:cNvSpPr/>
          <p:nvPr/>
        </p:nvSpPr>
        <p:spPr>
          <a:xfrm>
            <a:off x="1463040" y="2221992"/>
            <a:ext cx="3215488" cy="457200"/>
          </a:xfrm>
          <a:prstGeom prst="rect">
            <a:avLst/>
          </a:prstGeom>
          <a:noFill/>
          <a:ln/>
        </p:spPr>
        <p:txBody>
          <a:bodyPr wrap="square" lIns="0" tIns="0" rIns="0" bIns="0" rtlCol="0" anchor="t"/>
          <a:lstStyle/>
          <a:p>
            <a:pPr indent="0" marL="0">
              <a:buNone/>
            </a:pPr>
            <a:r>
              <a:rPr lang="en-US" sz="1300" dirty="0">
                <a:solidFill>
                  <a:srgbClr val="222F44"/>
                </a:solidFill>
                <a:latin typeface="Poppins SemiBold" pitchFamily="34" charset="0"/>
                <a:ea typeface="Poppins SemiBold" pitchFamily="34" charset="-122"/>
                <a:cs typeface="Poppins SemiBold" pitchFamily="34" charset="-120"/>
              </a:rPr>
              <a:t>Contracted revenue base</a:t>
            </a:r>
            <a:endParaRPr lang="en-US" sz="1300" dirty="0"/>
          </a:p>
        </p:txBody>
      </p:sp>
      <p:sp>
        <p:nvSpPr>
          <p:cNvPr id="12" name="Shape 8"/>
          <p:cNvSpPr/>
          <p:nvPr/>
        </p:nvSpPr>
        <p:spPr>
          <a:xfrm>
            <a:off x="4678528" y="2221992"/>
            <a:ext cx="1005840" cy="384048"/>
          </a:xfrm>
          <a:prstGeom prst="roundRect">
            <a:avLst>
              <a:gd name="adj" fmla="val 14286"/>
            </a:avLst>
          </a:prstGeom>
          <a:solidFill>
            <a:srgbClr val="FDE7DD"/>
          </a:solidFill>
          <a:ln/>
        </p:spPr>
      </p:sp>
      <p:sp>
        <p:nvSpPr>
          <p:cNvPr id="13" name="Text 9"/>
          <p:cNvSpPr/>
          <p:nvPr/>
        </p:nvSpPr>
        <p:spPr>
          <a:xfrm>
            <a:off x="4678528" y="2221992"/>
            <a:ext cx="1005840" cy="384048"/>
          </a:xfrm>
          <a:prstGeom prst="rect">
            <a:avLst/>
          </a:prstGeom>
          <a:noFill/>
          <a:ln/>
        </p:spPr>
        <p:txBody>
          <a:bodyPr wrap="square" lIns="0" tIns="0" rIns="0" bIns="0" rtlCol="0" anchor="ctr"/>
          <a:lstStyle/>
          <a:p>
            <a:pPr algn="ctr" indent="0" marL="0">
              <a:buNone/>
            </a:pPr>
            <a:r>
              <a:rPr lang="en-US" sz="850" dirty="0">
                <a:solidFill>
                  <a:srgbClr val="C6470F"/>
                </a:solidFill>
                <a:latin typeface="Poppins SemiBold" pitchFamily="34" charset="0"/>
                <a:ea typeface="Poppins SemiBold" pitchFamily="34" charset="-122"/>
                <a:cs typeface="Poppins SemiBold" pitchFamily="34" charset="-120"/>
              </a:rPr>
              <a:t>[XXX] backlog</a:t>
            </a:r>
            <a:endParaRPr lang="en-US" sz="850" dirty="0"/>
          </a:p>
        </p:txBody>
      </p:sp>
      <p:sp>
        <p:nvSpPr>
          <p:cNvPr id="14" name="Text 10"/>
          <p:cNvSpPr/>
          <p:nvPr/>
        </p:nvSpPr>
        <p:spPr>
          <a:xfrm>
            <a:off x="758952" y="2898648"/>
            <a:ext cx="4897984" cy="685800"/>
          </a:xfrm>
          <a:prstGeom prst="rect">
            <a:avLst/>
          </a:prstGeom>
          <a:noFill/>
          <a:ln/>
        </p:spPr>
        <p:txBody>
          <a:bodyPr wrap="square" lIns="0" tIns="0" rIns="0" bIns="0" rtlCol="0" anchor="t"/>
          <a:lstStyle/>
          <a:p>
            <a:pPr indent="0" marL="0">
              <a:lnSpc>
                <a:spcPct val="102000"/>
              </a:lnSpc>
              <a:buNone/>
            </a:pPr>
            <a:r>
              <a:rPr lang="en-US" sz="950" dirty="0">
                <a:solidFill>
                  <a:srgbClr val="6B7686"/>
                </a:solidFill>
                <a:latin typeface="Poppins" pitchFamily="34" charset="0"/>
                <a:ea typeface="Poppins" pitchFamily="34" charset="-122"/>
                <a:cs typeface="Poppins" pitchFamily="34" charset="-120"/>
              </a:rPr>
              <a:t>Long-term contracts (3–5 years) with annual price adjustments (IPCA, CBA, diesel pass-through) provide strong revenue visibility and margin protection</a:t>
            </a:r>
            <a:endParaRPr lang="en-US" sz="950" dirty="0"/>
          </a:p>
        </p:txBody>
      </p:sp>
      <p:sp>
        <p:nvSpPr>
          <p:cNvPr id="15" name="Shape 11"/>
          <p:cNvSpPr/>
          <p:nvPr/>
        </p:nvSpPr>
        <p:spPr>
          <a:xfrm>
            <a:off x="6278728" y="1965960"/>
            <a:ext cx="5410048" cy="1737360"/>
          </a:xfrm>
          <a:prstGeom prst="roundRect">
            <a:avLst>
              <a:gd name="adj" fmla="val 5263"/>
            </a:avLst>
          </a:prstGeom>
          <a:solidFill>
            <a:srgbClr val="FFFFFF"/>
          </a:solidFill>
          <a:ln w="12700">
            <a:solidFill>
              <a:srgbClr val="D9DEE5"/>
            </a:solidFill>
            <a:prstDash val="solid"/>
          </a:ln>
          <a:effectLst>
            <a:outerShdw sx="100000" sy="100000" kx="0" ky="0" algn="bl" rotWithShape="0" blurRad="88900" dist="25400" dir="5400000">
              <a:srgbClr val="9AA6B4">
                <a:alpha val="28000"/>
              </a:srgbClr>
            </a:outerShdw>
          </a:effectLst>
        </p:spPr>
      </p:sp>
      <p:sp>
        <p:nvSpPr>
          <p:cNvPr id="16" name="Shape 12"/>
          <p:cNvSpPr/>
          <p:nvPr/>
        </p:nvSpPr>
        <p:spPr>
          <a:xfrm>
            <a:off x="6516472" y="2203704"/>
            <a:ext cx="566928" cy="566928"/>
          </a:xfrm>
          <a:prstGeom prst="ellipse">
            <a:avLst/>
          </a:prstGeom>
          <a:solidFill>
            <a:srgbClr val="F5F7F9"/>
          </a:solidFill>
          <a:ln/>
        </p:spPr>
      </p:sp>
      <p:pic>
        <p:nvPicPr>
          <p:cNvPr id="17" name="Image 2" descr="assets/icons/dollar_orange.png">    </p:cNvPr>
          <p:cNvPicPr>
            <a:picLocks noChangeAspect="1"/>
          </p:cNvPicPr>
          <p:nvPr/>
        </p:nvPicPr>
        <p:blipFill>
          <a:blip r:embed="rId3"/>
          <a:stretch>
            <a:fillRect/>
          </a:stretch>
        </p:blipFill>
        <p:spPr>
          <a:xfrm>
            <a:off x="6663873" y="2351105"/>
            <a:ext cx="272125" cy="272125"/>
          </a:xfrm>
          <a:prstGeom prst="rect">
            <a:avLst/>
          </a:prstGeom>
        </p:spPr>
      </p:pic>
      <p:sp>
        <p:nvSpPr>
          <p:cNvPr id="18" name="Text 13"/>
          <p:cNvSpPr/>
          <p:nvPr/>
        </p:nvSpPr>
        <p:spPr>
          <a:xfrm>
            <a:off x="7238848" y="2221992"/>
            <a:ext cx="3215488" cy="457200"/>
          </a:xfrm>
          <a:prstGeom prst="rect">
            <a:avLst/>
          </a:prstGeom>
          <a:noFill/>
          <a:ln/>
        </p:spPr>
        <p:txBody>
          <a:bodyPr wrap="square" lIns="0" tIns="0" rIns="0" bIns="0" rtlCol="0" anchor="t"/>
          <a:lstStyle/>
          <a:p>
            <a:pPr indent="0" marL="0">
              <a:buNone/>
            </a:pPr>
            <a:r>
              <a:rPr lang="en-US" sz="1300" dirty="0">
                <a:solidFill>
                  <a:srgbClr val="222F44"/>
                </a:solidFill>
                <a:latin typeface="Poppins SemiBold" pitchFamily="34" charset="0"/>
                <a:ea typeface="Poppins SemiBold" pitchFamily="34" charset="-122"/>
                <a:cs typeface="Poppins SemiBold" pitchFamily="34" charset="-120"/>
              </a:rPr>
              <a:t>Healthy profitability</a:t>
            </a:r>
            <a:endParaRPr lang="en-US" sz="1300" dirty="0"/>
          </a:p>
        </p:txBody>
      </p:sp>
      <p:sp>
        <p:nvSpPr>
          <p:cNvPr id="19" name="Shape 14"/>
          <p:cNvSpPr/>
          <p:nvPr/>
        </p:nvSpPr>
        <p:spPr>
          <a:xfrm>
            <a:off x="10454335" y="2221992"/>
            <a:ext cx="1005840" cy="384048"/>
          </a:xfrm>
          <a:prstGeom prst="roundRect">
            <a:avLst>
              <a:gd name="adj" fmla="val 14286"/>
            </a:avLst>
          </a:prstGeom>
          <a:solidFill>
            <a:srgbClr val="FDE7DD"/>
          </a:solidFill>
          <a:ln/>
        </p:spPr>
      </p:sp>
      <p:sp>
        <p:nvSpPr>
          <p:cNvPr id="20" name="Text 15"/>
          <p:cNvSpPr/>
          <p:nvPr/>
        </p:nvSpPr>
        <p:spPr>
          <a:xfrm>
            <a:off x="10454335" y="2221992"/>
            <a:ext cx="1005840" cy="384048"/>
          </a:xfrm>
          <a:prstGeom prst="rect">
            <a:avLst/>
          </a:prstGeom>
          <a:noFill/>
          <a:ln/>
        </p:spPr>
        <p:txBody>
          <a:bodyPr wrap="square" lIns="0" tIns="0" rIns="0" bIns="0" rtlCol="0" anchor="ctr"/>
          <a:lstStyle/>
          <a:p>
            <a:pPr algn="ctr" indent="0" marL="0">
              <a:buNone/>
            </a:pPr>
            <a:r>
              <a:rPr lang="en-US" sz="850" dirty="0">
                <a:solidFill>
                  <a:srgbClr val="C6470F"/>
                </a:solidFill>
                <a:latin typeface="Poppins SemiBold" pitchFamily="34" charset="0"/>
                <a:ea typeface="Poppins SemiBold" pitchFamily="34" charset="-122"/>
                <a:cs typeface="Poppins SemiBold" pitchFamily="34" charset="-120"/>
              </a:rPr>
              <a:t>~BRL 36 Mn EBITDA</a:t>
            </a:r>
            <a:endParaRPr lang="en-US" sz="850" dirty="0"/>
          </a:p>
        </p:txBody>
      </p:sp>
      <p:sp>
        <p:nvSpPr>
          <p:cNvPr id="21" name="Text 16"/>
          <p:cNvSpPr/>
          <p:nvPr/>
        </p:nvSpPr>
        <p:spPr>
          <a:xfrm>
            <a:off x="6534760" y="2898648"/>
            <a:ext cx="4897984" cy="685800"/>
          </a:xfrm>
          <a:prstGeom prst="rect">
            <a:avLst/>
          </a:prstGeom>
          <a:noFill/>
          <a:ln/>
        </p:spPr>
        <p:txBody>
          <a:bodyPr wrap="square" lIns="0" tIns="0" rIns="0" bIns="0" rtlCol="0" anchor="t"/>
          <a:lstStyle/>
          <a:p>
            <a:pPr indent="0" marL="0">
              <a:lnSpc>
                <a:spcPct val="102000"/>
              </a:lnSpc>
              <a:buNone/>
            </a:pPr>
            <a:r>
              <a:rPr lang="en-US" sz="950" dirty="0">
                <a:solidFill>
                  <a:srgbClr val="6B7686"/>
                </a:solidFill>
                <a:latin typeface="Poppins" pitchFamily="34" charset="0"/>
                <a:ea typeface="Poppins" pitchFamily="34" charset="-122"/>
                <a:cs typeface="Poppins" pitchFamily="34" charset="-120"/>
              </a:rPr>
              <a:t>~26% EBITDA margin in 2025, underpinned by scale, fleet ownership and operational discipline</a:t>
            </a:r>
            <a:endParaRPr lang="en-US" sz="950" dirty="0"/>
          </a:p>
        </p:txBody>
      </p:sp>
      <p:sp>
        <p:nvSpPr>
          <p:cNvPr id="22" name="Shape 17"/>
          <p:cNvSpPr/>
          <p:nvPr/>
        </p:nvSpPr>
        <p:spPr>
          <a:xfrm>
            <a:off x="502920" y="3886200"/>
            <a:ext cx="5410048" cy="1737360"/>
          </a:xfrm>
          <a:prstGeom prst="roundRect">
            <a:avLst>
              <a:gd name="adj" fmla="val 5263"/>
            </a:avLst>
          </a:prstGeom>
          <a:solidFill>
            <a:srgbClr val="FFFFFF"/>
          </a:solidFill>
          <a:ln w="12700">
            <a:solidFill>
              <a:srgbClr val="D9DEE5"/>
            </a:solidFill>
            <a:prstDash val="solid"/>
          </a:ln>
          <a:effectLst>
            <a:outerShdw sx="100000" sy="100000" kx="0" ky="0" algn="bl" rotWithShape="0" blurRad="88900" dist="25400" dir="5400000">
              <a:srgbClr val="9AA6B4">
                <a:alpha val="28000"/>
              </a:srgbClr>
            </a:outerShdw>
          </a:effectLst>
        </p:spPr>
      </p:sp>
      <p:sp>
        <p:nvSpPr>
          <p:cNvPr id="23" name="Shape 18"/>
          <p:cNvSpPr/>
          <p:nvPr/>
        </p:nvSpPr>
        <p:spPr>
          <a:xfrm>
            <a:off x="740664" y="4123944"/>
            <a:ext cx="566928" cy="566928"/>
          </a:xfrm>
          <a:prstGeom prst="ellipse">
            <a:avLst/>
          </a:prstGeom>
          <a:solidFill>
            <a:srgbClr val="F5F7F9"/>
          </a:solidFill>
          <a:ln/>
        </p:spPr>
      </p:sp>
      <p:pic>
        <p:nvPicPr>
          <p:cNvPr id="24" name="Image 3" descr="assets/icons/truck_orange.png">    </p:cNvPr>
          <p:cNvPicPr>
            <a:picLocks noChangeAspect="1"/>
          </p:cNvPicPr>
          <p:nvPr/>
        </p:nvPicPr>
        <p:blipFill>
          <a:blip r:embed="rId4"/>
          <a:stretch>
            <a:fillRect/>
          </a:stretch>
        </p:blipFill>
        <p:spPr>
          <a:xfrm>
            <a:off x="888065" y="4271345"/>
            <a:ext cx="272125" cy="272125"/>
          </a:xfrm>
          <a:prstGeom prst="rect">
            <a:avLst/>
          </a:prstGeom>
        </p:spPr>
      </p:pic>
      <p:sp>
        <p:nvSpPr>
          <p:cNvPr id="25" name="Text 19"/>
          <p:cNvSpPr/>
          <p:nvPr/>
        </p:nvSpPr>
        <p:spPr>
          <a:xfrm>
            <a:off x="1463040" y="4142232"/>
            <a:ext cx="3215488" cy="457200"/>
          </a:xfrm>
          <a:prstGeom prst="rect">
            <a:avLst/>
          </a:prstGeom>
          <a:noFill/>
          <a:ln/>
        </p:spPr>
        <p:txBody>
          <a:bodyPr wrap="square" lIns="0" tIns="0" rIns="0" bIns="0" rtlCol="0" anchor="t"/>
          <a:lstStyle/>
          <a:p>
            <a:pPr indent="0" marL="0">
              <a:buNone/>
            </a:pPr>
            <a:r>
              <a:rPr lang="en-US" sz="1300" dirty="0">
                <a:solidFill>
                  <a:srgbClr val="222F44"/>
                </a:solidFill>
                <a:latin typeface="Poppins SemiBold" pitchFamily="34" charset="0"/>
                <a:ea typeface="Poppins SemiBold" pitchFamily="34" charset="-122"/>
                <a:cs typeface="Poppins SemiBold" pitchFamily="34" charset="-120"/>
              </a:rPr>
              <a:t>Asset-backed balance sheet</a:t>
            </a:r>
            <a:endParaRPr lang="en-US" sz="1300" dirty="0"/>
          </a:p>
        </p:txBody>
      </p:sp>
      <p:sp>
        <p:nvSpPr>
          <p:cNvPr id="26" name="Shape 20"/>
          <p:cNvSpPr/>
          <p:nvPr/>
        </p:nvSpPr>
        <p:spPr>
          <a:xfrm>
            <a:off x="4678528" y="4142232"/>
            <a:ext cx="1005840" cy="384048"/>
          </a:xfrm>
          <a:prstGeom prst="roundRect">
            <a:avLst>
              <a:gd name="adj" fmla="val 14286"/>
            </a:avLst>
          </a:prstGeom>
          <a:solidFill>
            <a:srgbClr val="FDE7DD"/>
          </a:solidFill>
          <a:ln/>
        </p:spPr>
      </p:sp>
      <p:sp>
        <p:nvSpPr>
          <p:cNvPr id="27" name="Text 21"/>
          <p:cNvSpPr/>
          <p:nvPr/>
        </p:nvSpPr>
        <p:spPr>
          <a:xfrm>
            <a:off x="4678528" y="4142232"/>
            <a:ext cx="1005840" cy="384048"/>
          </a:xfrm>
          <a:prstGeom prst="rect">
            <a:avLst/>
          </a:prstGeom>
          <a:noFill/>
          <a:ln/>
        </p:spPr>
        <p:txBody>
          <a:bodyPr wrap="square" lIns="0" tIns="0" rIns="0" bIns="0" rtlCol="0" anchor="ctr"/>
          <a:lstStyle/>
          <a:p>
            <a:pPr algn="ctr" indent="0" marL="0">
              <a:buNone/>
            </a:pPr>
            <a:r>
              <a:rPr lang="en-US" sz="850" dirty="0">
                <a:solidFill>
                  <a:srgbClr val="C6470F"/>
                </a:solidFill>
                <a:latin typeface="Poppins SemiBold" pitchFamily="34" charset="0"/>
                <a:ea typeface="Poppins SemiBold" pitchFamily="34" charset="-122"/>
                <a:cs typeface="Poppins SemiBold" pitchFamily="34" charset="-120"/>
              </a:rPr>
              <a:t>100% owned</a:t>
            </a:r>
            <a:endParaRPr lang="en-US" sz="850" dirty="0"/>
          </a:p>
        </p:txBody>
      </p:sp>
      <p:sp>
        <p:nvSpPr>
          <p:cNvPr id="28" name="Text 22"/>
          <p:cNvSpPr/>
          <p:nvPr/>
        </p:nvSpPr>
        <p:spPr>
          <a:xfrm>
            <a:off x="758952" y="4818888"/>
            <a:ext cx="4897984" cy="685800"/>
          </a:xfrm>
          <a:prstGeom prst="rect">
            <a:avLst/>
          </a:prstGeom>
          <a:noFill/>
          <a:ln/>
        </p:spPr>
        <p:txBody>
          <a:bodyPr wrap="square" lIns="0" tIns="0" rIns="0" bIns="0" rtlCol="0" anchor="t"/>
          <a:lstStyle/>
          <a:p>
            <a:pPr indent="0" marL="0">
              <a:lnSpc>
                <a:spcPct val="102000"/>
              </a:lnSpc>
              <a:buNone/>
            </a:pPr>
            <a:r>
              <a:rPr lang="en-US" sz="950" dirty="0">
                <a:solidFill>
                  <a:srgbClr val="6B7686"/>
                </a:solidFill>
                <a:latin typeface="Poppins" pitchFamily="34" charset="0"/>
                <a:ea typeface="Poppins" pitchFamily="34" charset="-122"/>
                <a:cs typeface="Poppins" pitchFamily="34" charset="-120"/>
              </a:rPr>
              <a:t>A fully-owned fleet of 373 vehicles (~BRL 198 Mn value) supports financing flexibility and residual-value optionality</a:t>
            </a:r>
            <a:endParaRPr lang="en-US" sz="950" dirty="0"/>
          </a:p>
        </p:txBody>
      </p:sp>
      <p:sp>
        <p:nvSpPr>
          <p:cNvPr id="29" name="Shape 23"/>
          <p:cNvSpPr/>
          <p:nvPr/>
        </p:nvSpPr>
        <p:spPr>
          <a:xfrm>
            <a:off x="6278728" y="3886200"/>
            <a:ext cx="5410048" cy="1737360"/>
          </a:xfrm>
          <a:prstGeom prst="roundRect">
            <a:avLst>
              <a:gd name="adj" fmla="val 5263"/>
            </a:avLst>
          </a:prstGeom>
          <a:solidFill>
            <a:srgbClr val="FFFFFF"/>
          </a:solidFill>
          <a:ln w="12700">
            <a:solidFill>
              <a:srgbClr val="D9DEE5"/>
            </a:solidFill>
            <a:prstDash val="solid"/>
          </a:ln>
          <a:effectLst>
            <a:outerShdw sx="100000" sy="100000" kx="0" ky="0" algn="bl" rotWithShape="0" blurRad="88900" dist="25400" dir="5400000">
              <a:srgbClr val="9AA6B4">
                <a:alpha val="28000"/>
              </a:srgbClr>
            </a:outerShdw>
          </a:effectLst>
        </p:spPr>
      </p:sp>
      <p:sp>
        <p:nvSpPr>
          <p:cNvPr id="30" name="Shape 24"/>
          <p:cNvSpPr/>
          <p:nvPr/>
        </p:nvSpPr>
        <p:spPr>
          <a:xfrm>
            <a:off x="6516472" y="4123944"/>
            <a:ext cx="566928" cy="566928"/>
          </a:xfrm>
          <a:prstGeom prst="ellipse">
            <a:avLst/>
          </a:prstGeom>
          <a:solidFill>
            <a:srgbClr val="F5F7F9"/>
          </a:solidFill>
          <a:ln/>
        </p:spPr>
      </p:sp>
      <p:pic>
        <p:nvPicPr>
          <p:cNvPr id="31" name="Image 4" descr="assets/icons/trendup_orange.png">    </p:cNvPr>
          <p:cNvPicPr>
            <a:picLocks noChangeAspect="1"/>
          </p:cNvPicPr>
          <p:nvPr/>
        </p:nvPicPr>
        <p:blipFill>
          <a:blip r:embed="rId5"/>
          <a:stretch>
            <a:fillRect/>
          </a:stretch>
        </p:blipFill>
        <p:spPr>
          <a:xfrm>
            <a:off x="6663873" y="4271345"/>
            <a:ext cx="272125" cy="272125"/>
          </a:xfrm>
          <a:prstGeom prst="rect">
            <a:avLst/>
          </a:prstGeom>
        </p:spPr>
      </p:pic>
      <p:sp>
        <p:nvSpPr>
          <p:cNvPr id="32" name="Text 25"/>
          <p:cNvSpPr/>
          <p:nvPr/>
        </p:nvSpPr>
        <p:spPr>
          <a:xfrm>
            <a:off x="7238848" y="4142232"/>
            <a:ext cx="3215488" cy="457200"/>
          </a:xfrm>
          <a:prstGeom prst="rect">
            <a:avLst/>
          </a:prstGeom>
          <a:noFill/>
          <a:ln/>
        </p:spPr>
        <p:txBody>
          <a:bodyPr wrap="square" lIns="0" tIns="0" rIns="0" bIns="0" rtlCol="0" anchor="t"/>
          <a:lstStyle/>
          <a:p>
            <a:pPr indent="0" marL="0">
              <a:buNone/>
            </a:pPr>
            <a:r>
              <a:rPr lang="en-US" sz="1300" dirty="0">
                <a:solidFill>
                  <a:srgbClr val="222F44"/>
                </a:solidFill>
                <a:latin typeface="Poppins SemiBold" pitchFamily="34" charset="0"/>
                <a:ea typeface="Poppins SemiBold" pitchFamily="34" charset="-122"/>
                <a:cs typeface="Poppins SemiBold" pitchFamily="34" charset="-120"/>
              </a:rPr>
              <a:t>Reinvestment for growth</a:t>
            </a:r>
            <a:endParaRPr lang="en-US" sz="1300" dirty="0"/>
          </a:p>
        </p:txBody>
      </p:sp>
      <p:sp>
        <p:nvSpPr>
          <p:cNvPr id="33" name="Shape 26"/>
          <p:cNvSpPr/>
          <p:nvPr/>
        </p:nvSpPr>
        <p:spPr>
          <a:xfrm>
            <a:off x="10454335" y="4142232"/>
            <a:ext cx="1005840" cy="384048"/>
          </a:xfrm>
          <a:prstGeom prst="roundRect">
            <a:avLst>
              <a:gd name="adj" fmla="val 14286"/>
            </a:avLst>
          </a:prstGeom>
          <a:solidFill>
            <a:srgbClr val="FDE7DD"/>
          </a:solidFill>
          <a:ln/>
        </p:spPr>
      </p:sp>
      <p:sp>
        <p:nvSpPr>
          <p:cNvPr id="34" name="Text 27"/>
          <p:cNvSpPr/>
          <p:nvPr/>
        </p:nvSpPr>
        <p:spPr>
          <a:xfrm>
            <a:off x="10454335" y="4142232"/>
            <a:ext cx="1005840" cy="384048"/>
          </a:xfrm>
          <a:prstGeom prst="rect">
            <a:avLst/>
          </a:prstGeom>
          <a:noFill/>
          <a:ln/>
        </p:spPr>
        <p:txBody>
          <a:bodyPr wrap="square" lIns="0" tIns="0" rIns="0" bIns="0" rtlCol="0" anchor="ctr"/>
          <a:lstStyle/>
          <a:p>
            <a:pPr algn="ctr" indent="0" marL="0">
              <a:buNone/>
            </a:pPr>
            <a:r>
              <a:rPr lang="en-US" sz="850" dirty="0">
                <a:solidFill>
                  <a:srgbClr val="C6470F"/>
                </a:solidFill>
                <a:latin typeface="Poppins SemiBold" pitchFamily="34" charset="0"/>
                <a:ea typeface="Poppins SemiBold" pitchFamily="34" charset="-122"/>
                <a:cs typeface="Poppins SemiBold" pitchFamily="34" charset="-120"/>
              </a:rPr>
              <a:t>Capex profile [TBC]</a:t>
            </a:r>
            <a:endParaRPr lang="en-US" sz="850" dirty="0"/>
          </a:p>
        </p:txBody>
      </p:sp>
      <p:sp>
        <p:nvSpPr>
          <p:cNvPr id="35" name="Text 28"/>
          <p:cNvSpPr/>
          <p:nvPr/>
        </p:nvSpPr>
        <p:spPr>
          <a:xfrm>
            <a:off x="6534760" y="4818888"/>
            <a:ext cx="4897984" cy="685800"/>
          </a:xfrm>
          <a:prstGeom prst="rect">
            <a:avLst/>
          </a:prstGeom>
          <a:noFill/>
          <a:ln/>
        </p:spPr>
        <p:txBody>
          <a:bodyPr wrap="square" lIns="0" tIns="0" rIns="0" bIns="0" rtlCol="0" anchor="t"/>
          <a:lstStyle/>
          <a:p>
            <a:pPr indent="0" marL="0">
              <a:lnSpc>
                <a:spcPct val="102000"/>
              </a:lnSpc>
              <a:buNone/>
            </a:pPr>
            <a:r>
              <a:rPr lang="en-US" sz="950" dirty="0">
                <a:solidFill>
                  <a:srgbClr val="6B7686"/>
                </a:solidFill>
                <a:latin typeface="Poppins" pitchFamily="34" charset="0"/>
                <a:ea typeface="Poppins" pitchFamily="34" charset="-122"/>
                <a:cs typeface="Poppins" pitchFamily="34" charset="-120"/>
              </a:rPr>
              <a:t>Capex directed at fleet renewal and expansion; capital-allocation profile to be detailed with management</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222F44"/>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22F44"/>
          </a:solidFill>
          <a:ln/>
        </p:spPr>
      </p:sp>
      <p:sp>
        <p:nvSpPr>
          <p:cNvPr id="3" name="Text 1"/>
          <p:cNvSpPr/>
          <p:nvPr/>
        </p:nvSpPr>
        <p:spPr>
          <a:xfrm>
            <a:off x="4206240" y="320040"/>
            <a:ext cx="7665415" cy="1463040"/>
          </a:xfrm>
          <a:prstGeom prst="rect">
            <a:avLst/>
          </a:prstGeom>
          <a:noFill/>
          <a:ln/>
        </p:spPr>
        <p:txBody>
          <a:bodyPr wrap="square" lIns="0" tIns="0" rIns="0" bIns="0" rtlCol="0" anchor="ctr"/>
          <a:lstStyle/>
          <a:p>
            <a:pPr algn="r" indent="0" marL="0">
              <a:buNone/>
            </a:pPr>
            <a:r>
              <a:rPr lang="en-US" sz="5600" dirty="0">
                <a:solidFill>
                  <a:srgbClr val="2C3B54"/>
                </a:solidFill>
                <a:latin typeface="Source Serif Pro Black" pitchFamily="34" charset="0"/>
                <a:ea typeface="Source Serif Pro Black" pitchFamily="34" charset="-122"/>
                <a:cs typeface="Source Serif Pro Black" pitchFamily="34" charset="-120"/>
              </a:rPr>
              <a:t>Compass</a:t>
            </a:r>
            <a:endParaRPr lang="en-US" sz="5600" dirty="0"/>
          </a:p>
        </p:txBody>
      </p:sp>
      <p:pic>
        <p:nvPicPr>
          <p:cNvPr id="4" name="Image 0" descr="assets/mobi_logo_black.png">    </p:cNvPr>
          <p:cNvPicPr>
            <a:picLocks noChangeAspect="1"/>
          </p:cNvPicPr>
          <p:nvPr/>
        </p:nvPicPr>
        <p:blipFill>
          <a:blip r:embed="rId1"/>
          <a:stretch>
            <a:fillRect/>
          </a:stretch>
        </p:blipFill>
        <p:spPr>
          <a:xfrm>
            <a:off x="502920" y="640080"/>
            <a:ext cx="2011680" cy="644366"/>
          </a:xfrm>
          <a:prstGeom prst="rect">
            <a:avLst/>
          </a:prstGeom>
        </p:spPr>
      </p:pic>
      <p:sp>
        <p:nvSpPr>
          <p:cNvPr id="5" name="Text 2"/>
          <p:cNvSpPr/>
          <p:nvPr/>
        </p:nvSpPr>
        <p:spPr>
          <a:xfrm>
            <a:off x="502920" y="1920240"/>
            <a:ext cx="7315200" cy="548640"/>
          </a:xfrm>
          <a:prstGeom prst="rect">
            <a:avLst/>
          </a:prstGeom>
          <a:noFill/>
          <a:ln/>
        </p:spPr>
        <p:txBody>
          <a:bodyPr wrap="square" rtlCol="0" anchor="ctr"/>
          <a:lstStyle/>
          <a:p>
            <a:pPr indent="0" marL="0">
              <a:buNone/>
            </a:pPr>
            <a:r>
              <a:rPr lang="en-US" sz="3000" dirty="0">
                <a:solidFill>
                  <a:srgbClr val="FFFFFF"/>
                </a:solidFill>
                <a:latin typeface="Source Serif Pro SemiBold" pitchFamily="34" charset="0"/>
                <a:ea typeface="Source Serif Pro SemiBold" pitchFamily="34" charset="-122"/>
                <a:cs typeface="Source Serif Pro SemiBold" pitchFamily="34" charset="-120"/>
              </a:rPr>
              <a:t>Deal team</a:t>
            </a:r>
            <a:endParaRPr lang="en-US" sz="3000" dirty="0"/>
          </a:p>
        </p:txBody>
      </p:sp>
      <p:sp>
        <p:nvSpPr>
          <p:cNvPr id="6" name="Shape 3"/>
          <p:cNvSpPr/>
          <p:nvPr/>
        </p:nvSpPr>
        <p:spPr>
          <a:xfrm>
            <a:off x="521208" y="2697480"/>
            <a:ext cx="822960" cy="45720"/>
          </a:xfrm>
          <a:prstGeom prst="rect">
            <a:avLst/>
          </a:prstGeom>
          <a:solidFill>
            <a:srgbClr val="F35B1A"/>
          </a:solidFill>
          <a:ln/>
        </p:spPr>
      </p:sp>
      <p:sp>
        <p:nvSpPr>
          <p:cNvPr id="7" name="Shape 4"/>
          <p:cNvSpPr/>
          <p:nvPr/>
        </p:nvSpPr>
        <p:spPr>
          <a:xfrm>
            <a:off x="502920" y="3108960"/>
            <a:ext cx="3484778" cy="1554480"/>
          </a:xfrm>
          <a:prstGeom prst="roundRect">
            <a:avLst>
              <a:gd name="adj" fmla="val 5882"/>
            </a:avLst>
          </a:prstGeom>
          <a:solidFill>
            <a:srgbClr val="2C3B54"/>
          </a:solidFill>
          <a:ln/>
        </p:spPr>
      </p:sp>
      <p:sp>
        <p:nvSpPr>
          <p:cNvPr id="8" name="Text 5"/>
          <p:cNvSpPr/>
          <p:nvPr/>
        </p:nvSpPr>
        <p:spPr>
          <a:xfrm>
            <a:off x="777240" y="3364992"/>
            <a:ext cx="2936138" cy="365760"/>
          </a:xfrm>
          <a:prstGeom prst="rect">
            <a:avLst/>
          </a:prstGeom>
          <a:noFill/>
          <a:ln/>
        </p:spPr>
        <p:txBody>
          <a:bodyPr wrap="square" lIns="0" tIns="0" rIns="0" bIns="0" rtlCol="0" anchor="ctr"/>
          <a:lstStyle/>
          <a:p>
            <a:pPr indent="0" marL="0">
              <a:buNone/>
            </a:pPr>
            <a:r>
              <a:rPr lang="en-US" sz="1500" dirty="0">
                <a:solidFill>
                  <a:srgbClr val="FFFFFF"/>
                </a:solidFill>
                <a:latin typeface="Source Serif Pro SemiBold" pitchFamily="34" charset="0"/>
                <a:ea typeface="Source Serif Pro SemiBold" pitchFamily="34" charset="-122"/>
                <a:cs typeface="Source Serif Pro SemiBold" pitchFamily="34" charset="-120"/>
              </a:rPr>
              <a:t>Bruno Iervolino</a:t>
            </a:r>
            <a:endParaRPr lang="en-US" sz="1500" dirty="0"/>
          </a:p>
        </p:txBody>
      </p:sp>
      <p:sp>
        <p:nvSpPr>
          <p:cNvPr id="9" name="Text 6"/>
          <p:cNvSpPr/>
          <p:nvPr/>
        </p:nvSpPr>
        <p:spPr>
          <a:xfrm>
            <a:off x="777240" y="3822192"/>
            <a:ext cx="2936138" cy="274320"/>
          </a:xfrm>
          <a:prstGeom prst="rect">
            <a:avLst/>
          </a:prstGeom>
          <a:noFill/>
          <a:ln/>
        </p:spPr>
        <p:txBody>
          <a:bodyPr wrap="square" lIns="0" tIns="0" rIns="0" bIns="0" rtlCol="0" anchor="ctr"/>
          <a:lstStyle/>
          <a:p>
            <a:pPr indent="0" marL="0">
              <a:buNone/>
            </a:pPr>
            <a:r>
              <a:rPr lang="en-US" sz="1000" dirty="0">
                <a:solidFill>
                  <a:srgbClr val="F35B1A"/>
                </a:solidFill>
                <a:latin typeface="Poppins" pitchFamily="34" charset="0"/>
                <a:ea typeface="Poppins" pitchFamily="34" charset="-122"/>
                <a:cs typeface="Poppins" pitchFamily="34" charset="-120"/>
              </a:rPr>
              <a:t>bruno.iervolino@igcp.com.br</a:t>
            </a:r>
            <a:endParaRPr lang="en-US" sz="1000" dirty="0"/>
          </a:p>
        </p:txBody>
      </p:sp>
      <p:sp>
        <p:nvSpPr>
          <p:cNvPr id="10" name="Text 7"/>
          <p:cNvSpPr/>
          <p:nvPr/>
        </p:nvSpPr>
        <p:spPr>
          <a:xfrm>
            <a:off x="777240" y="4133088"/>
            <a:ext cx="2936138" cy="274320"/>
          </a:xfrm>
          <a:prstGeom prst="rect">
            <a:avLst/>
          </a:prstGeom>
          <a:noFill/>
          <a:ln/>
        </p:spPr>
        <p:txBody>
          <a:bodyPr wrap="square" lIns="0" tIns="0" rIns="0" bIns="0" rtlCol="0" anchor="ctr"/>
          <a:lstStyle/>
          <a:p>
            <a:pPr indent="0" marL="0">
              <a:buNone/>
            </a:pPr>
            <a:r>
              <a:rPr lang="en-US" sz="1000" dirty="0">
                <a:solidFill>
                  <a:srgbClr val="C4CCD6"/>
                </a:solidFill>
                <a:latin typeface="Poppins" pitchFamily="34" charset="0"/>
                <a:ea typeface="Poppins" pitchFamily="34" charset="-122"/>
                <a:cs typeface="Poppins" pitchFamily="34" charset="-120"/>
              </a:rPr>
              <a:t>+55 11 3815-3533</a:t>
            </a:r>
            <a:endParaRPr lang="en-US" sz="1000" dirty="0"/>
          </a:p>
        </p:txBody>
      </p:sp>
      <p:sp>
        <p:nvSpPr>
          <p:cNvPr id="11" name="Shape 8"/>
          <p:cNvSpPr/>
          <p:nvPr/>
        </p:nvSpPr>
        <p:spPr>
          <a:xfrm>
            <a:off x="4353458" y="3108960"/>
            <a:ext cx="3484778" cy="1554480"/>
          </a:xfrm>
          <a:prstGeom prst="roundRect">
            <a:avLst>
              <a:gd name="adj" fmla="val 5882"/>
            </a:avLst>
          </a:prstGeom>
          <a:solidFill>
            <a:srgbClr val="2C3B54"/>
          </a:solidFill>
          <a:ln/>
        </p:spPr>
      </p:sp>
      <p:sp>
        <p:nvSpPr>
          <p:cNvPr id="12" name="Text 9"/>
          <p:cNvSpPr/>
          <p:nvPr/>
        </p:nvSpPr>
        <p:spPr>
          <a:xfrm>
            <a:off x="4627778" y="3364992"/>
            <a:ext cx="2936138" cy="365760"/>
          </a:xfrm>
          <a:prstGeom prst="rect">
            <a:avLst/>
          </a:prstGeom>
          <a:noFill/>
          <a:ln/>
        </p:spPr>
        <p:txBody>
          <a:bodyPr wrap="square" lIns="0" tIns="0" rIns="0" bIns="0" rtlCol="0" anchor="ctr"/>
          <a:lstStyle/>
          <a:p>
            <a:pPr indent="0" marL="0">
              <a:buNone/>
            </a:pPr>
            <a:r>
              <a:rPr lang="en-US" sz="1500" dirty="0">
                <a:solidFill>
                  <a:srgbClr val="FFFFFF"/>
                </a:solidFill>
                <a:latin typeface="Source Serif Pro SemiBold" pitchFamily="34" charset="0"/>
                <a:ea typeface="Source Serif Pro SemiBold" pitchFamily="34" charset="-122"/>
                <a:cs typeface="Source Serif Pro SemiBold" pitchFamily="34" charset="-120"/>
              </a:rPr>
              <a:t>Gabriel Brito</a:t>
            </a:r>
            <a:endParaRPr lang="en-US" sz="1500" dirty="0"/>
          </a:p>
        </p:txBody>
      </p:sp>
      <p:sp>
        <p:nvSpPr>
          <p:cNvPr id="13" name="Text 10"/>
          <p:cNvSpPr/>
          <p:nvPr/>
        </p:nvSpPr>
        <p:spPr>
          <a:xfrm>
            <a:off x="4627778" y="3822192"/>
            <a:ext cx="2936138" cy="274320"/>
          </a:xfrm>
          <a:prstGeom prst="rect">
            <a:avLst/>
          </a:prstGeom>
          <a:noFill/>
          <a:ln/>
        </p:spPr>
        <p:txBody>
          <a:bodyPr wrap="square" lIns="0" tIns="0" rIns="0" bIns="0" rtlCol="0" anchor="ctr"/>
          <a:lstStyle/>
          <a:p>
            <a:pPr indent="0" marL="0">
              <a:buNone/>
            </a:pPr>
            <a:r>
              <a:rPr lang="en-US" sz="1000" dirty="0">
                <a:solidFill>
                  <a:srgbClr val="F35B1A"/>
                </a:solidFill>
                <a:latin typeface="Poppins" pitchFamily="34" charset="0"/>
                <a:ea typeface="Poppins" pitchFamily="34" charset="-122"/>
                <a:cs typeface="Poppins" pitchFamily="34" charset="-120"/>
              </a:rPr>
              <a:t>gabriel.brito@igcp.com.br</a:t>
            </a:r>
            <a:endParaRPr lang="en-US" sz="1000" dirty="0"/>
          </a:p>
        </p:txBody>
      </p:sp>
      <p:sp>
        <p:nvSpPr>
          <p:cNvPr id="14" name="Text 11"/>
          <p:cNvSpPr/>
          <p:nvPr/>
        </p:nvSpPr>
        <p:spPr>
          <a:xfrm>
            <a:off x="4627778" y="4133088"/>
            <a:ext cx="2936138" cy="274320"/>
          </a:xfrm>
          <a:prstGeom prst="rect">
            <a:avLst/>
          </a:prstGeom>
          <a:noFill/>
          <a:ln/>
        </p:spPr>
        <p:txBody>
          <a:bodyPr wrap="square" lIns="0" tIns="0" rIns="0" bIns="0" rtlCol="0" anchor="ctr"/>
          <a:lstStyle/>
          <a:p>
            <a:pPr indent="0" marL="0">
              <a:buNone/>
            </a:pPr>
            <a:r>
              <a:rPr lang="en-US" sz="1000" dirty="0">
                <a:solidFill>
                  <a:srgbClr val="C4CCD6"/>
                </a:solidFill>
                <a:latin typeface="Poppins" pitchFamily="34" charset="0"/>
                <a:ea typeface="Poppins" pitchFamily="34" charset="-122"/>
                <a:cs typeface="Poppins" pitchFamily="34" charset="-120"/>
              </a:rPr>
              <a:t>+55 11 3815-3533</a:t>
            </a:r>
            <a:endParaRPr lang="en-US" sz="1000" dirty="0"/>
          </a:p>
        </p:txBody>
      </p:sp>
      <p:sp>
        <p:nvSpPr>
          <p:cNvPr id="15" name="Shape 12"/>
          <p:cNvSpPr/>
          <p:nvPr/>
        </p:nvSpPr>
        <p:spPr>
          <a:xfrm>
            <a:off x="8203997" y="3108960"/>
            <a:ext cx="3484778" cy="1554480"/>
          </a:xfrm>
          <a:prstGeom prst="roundRect">
            <a:avLst>
              <a:gd name="adj" fmla="val 5882"/>
            </a:avLst>
          </a:prstGeom>
          <a:solidFill>
            <a:srgbClr val="2C3B54"/>
          </a:solidFill>
          <a:ln/>
        </p:spPr>
      </p:sp>
      <p:sp>
        <p:nvSpPr>
          <p:cNvPr id="16" name="Text 13"/>
          <p:cNvSpPr/>
          <p:nvPr/>
        </p:nvSpPr>
        <p:spPr>
          <a:xfrm>
            <a:off x="8478317" y="3364992"/>
            <a:ext cx="2936138" cy="365760"/>
          </a:xfrm>
          <a:prstGeom prst="rect">
            <a:avLst/>
          </a:prstGeom>
          <a:noFill/>
          <a:ln/>
        </p:spPr>
        <p:txBody>
          <a:bodyPr wrap="square" lIns="0" tIns="0" rIns="0" bIns="0" rtlCol="0" anchor="ctr"/>
          <a:lstStyle/>
          <a:p>
            <a:pPr indent="0" marL="0">
              <a:buNone/>
            </a:pPr>
            <a:r>
              <a:rPr lang="en-US" sz="1500" dirty="0">
                <a:solidFill>
                  <a:srgbClr val="FFFFFF"/>
                </a:solidFill>
                <a:latin typeface="Source Serif Pro SemiBold" pitchFamily="34" charset="0"/>
                <a:ea typeface="Source Serif Pro SemiBold" pitchFamily="34" charset="-122"/>
                <a:cs typeface="Source Serif Pro SemiBold" pitchFamily="34" charset="-120"/>
              </a:rPr>
              <a:t>[Team member — TBC]</a:t>
            </a:r>
            <a:endParaRPr lang="en-US" sz="1500" dirty="0"/>
          </a:p>
        </p:txBody>
      </p:sp>
      <p:sp>
        <p:nvSpPr>
          <p:cNvPr id="17" name="Text 14"/>
          <p:cNvSpPr/>
          <p:nvPr/>
        </p:nvSpPr>
        <p:spPr>
          <a:xfrm>
            <a:off x="8478317" y="3822192"/>
            <a:ext cx="2936138" cy="274320"/>
          </a:xfrm>
          <a:prstGeom prst="rect">
            <a:avLst/>
          </a:prstGeom>
          <a:noFill/>
          <a:ln/>
        </p:spPr>
        <p:txBody>
          <a:bodyPr wrap="square" lIns="0" tIns="0" rIns="0" bIns="0" rtlCol="0" anchor="ctr"/>
          <a:lstStyle/>
          <a:p>
            <a:pPr indent="0" marL="0">
              <a:buNone/>
            </a:pPr>
            <a:r>
              <a:rPr lang="en-US" sz="1000" dirty="0">
                <a:solidFill>
                  <a:srgbClr val="F35B1A"/>
                </a:solidFill>
                <a:latin typeface="Poppins" pitchFamily="34" charset="0"/>
                <a:ea typeface="Poppins" pitchFamily="34" charset="-122"/>
                <a:cs typeface="Poppins" pitchFamily="34" charset="-120"/>
              </a:rPr>
              <a:t>[email — TBC]</a:t>
            </a:r>
            <a:endParaRPr lang="en-US" sz="1000" dirty="0"/>
          </a:p>
        </p:txBody>
      </p:sp>
      <p:sp>
        <p:nvSpPr>
          <p:cNvPr id="18" name="Text 15"/>
          <p:cNvSpPr/>
          <p:nvPr/>
        </p:nvSpPr>
        <p:spPr>
          <a:xfrm>
            <a:off x="8478317" y="4133088"/>
            <a:ext cx="2936138" cy="274320"/>
          </a:xfrm>
          <a:prstGeom prst="rect">
            <a:avLst/>
          </a:prstGeom>
          <a:noFill/>
          <a:ln/>
        </p:spPr>
        <p:txBody>
          <a:bodyPr wrap="square" lIns="0" tIns="0" rIns="0" bIns="0" rtlCol="0" anchor="ctr"/>
          <a:lstStyle/>
          <a:p>
            <a:pPr indent="0" marL="0">
              <a:buNone/>
            </a:pPr>
            <a:r>
              <a:rPr lang="en-US" sz="1000" dirty="0">
                <a:solidFill>
                  <a:srgbClr val="C4CCD6"/>
                </a:solidFill>
                <a:latin typeface="Poppins" pitchFamily="34" charset="0"/>
                <a:ea typeface="Poppins" pitchFamily="34" charset="-122"/>
                <a:cs typeface="Poppins" pitchFamily="34" charset="-120"/>
              </a:rPr>
              <a:t>+55 11 3815-3533</a:t>
            </a:r>
            <a:endParaRPr lang="en-US" sz="1000" dirty="0"/>
          </a:p>
        </p:txBody>
      </p:sp>
      <p:pic>
        <p:nvPicPr>
          <p:cNvPr id="19" name="Image 1" descr="assets/igc_white.png">    </p:cNvPr>
          <p:cNvPicPr>
            <a:picLocks noChangeAspect="1"/>
          </p:cNvPicPr>
          <p:nvPr/>
        </p:nvPicPr>
        <p:blipFill>
          <a:blip r:embed="rId2"/>
          <a:stretch>
            <a:fillRect/>
          </a:stretch>
        </p:blipFill>
        <p:spPr>
          <a:xfrm>
            <a:off x="502920" y="5623560"/>
            <a:ext cx="777240" cy="671881"/>
          </a:xfrm>
          <a:prstGeom prst="rect">
            <a:avLst/>
          </a:prstGeom>
        </p:spPr>
      </p:pic>
      <p:sp>
        <p:nvSpPr>
          <p:cNvPr id="20" name="Text 16"/>
          <p:cNvSpPr/>
          <p:nvPr/>
        </p:nvSpPr>
        <p:spPr>
          <a:xfrm>
            <a:off x="1554480" y="5623560"/>
            <a:ext cx="5486400" cy="822960"/>
          </a:xfrm>
          <a:prstGeom prst="rect">
            <a:avLst/>
          </a:prstGeom>
          <a:noFill/>
          <a:ln/>
        </p:spPr>
        <p:txBody>
          <a:bodyPr wrap="square" rtlCol="0" anchor="ctr"/>
          <a:lstStyle/>
          <a:p>
            <a:pPr indent="0" marL="0">
              <a:lnSpc>
                <a:spcPct val="120000"/>
              </a:lnSpc>
              <a:buNone/>
            </a:pPr>
            <a:r>
              <a:rPr lang="en-US" sz="1050" dirty="0">
                <a:solidFill>
                  <a:srgbClr val="C4CCD6"/>
                </a:solidFill>
                <a:latin typeface="Poppins" pitchFamily="34" charset="0"/>
                <a:ea typeface="Poppins" pitchFamily="34" charset="-122"/>
                <a:cs typeface="Poppins" pitchFamily="34" charset="-120"/>
              </a:rPr>
              <a:t>Av. Brigadeiro Faria Lima, 2277 – 6th floor</a:t>
            </a:r>
            <a:endParaRPr lang="en-US" sz="1050" dirty="0"/>
          </a:p>
          <a:p>
            <a:pPr indent="0" marL="0">
              <a:lnSpc>
                <a:spcPct val="120000"/>
              </a:lnSpc>
              <a:buNone/>
            </a:pPr>
            <a:r>
              <a:rPr lang="en-US" sz="1050" dirty="0">
                <a:solidFill>
                  <a:srgbClr val="C4CCD6"/>
                </a:solidFill>
                <a:latin typeface="Poppins" pitchFamily="34" charset="0"/>
                <a:ea typeface="Poppins" pitchFamily="34" charset="-122"/>
                <a:cs typeface="Poppins" pitchFamily="34" charset="-120"/>
              </a:rPr>
              <a:t>São Paulo, SP, Brazil – 01452-000</a:t>
            </a:r>
            <a:endParaRPr lang="en-US" sz="1050" dirty="0"/>
          </a:p>
          <a:p>
            <a:pPr indent="0" marL="0">
              <a:lnSpc>
                <a:spcPct val="120000"/>
              </a:lnSpc>
              <a:buNone/>
            </a:pPr>
            <a:r>
              <a:rPr lang="en-US" sz="1050" dirty="0">
                <a:solidFill>
                  <a:srgbClr val="C4CCD6"/>
                </a:solidFill>
                <a:latin typeface="Poppins" pitchFamily="34" charset="0"/>
                <a:ea typeface="Poppins" pitchFamily="34" charset="-122"/>
                <a:cs typeface="Poppins" pitchFamily="34" charset="-120"/>
              </a:rPr>
              <a:t>+55 11 3815-3533</a:t>
            </a:r>
            <a:endParaRPr lang="en-US" sz="1050" dirty="0"/>
          </a:p>
        </p:txBody>
      </p:sp>
      <p:sp>
        <p:nvSpPr>
          <p:cNvPr id="21" name="Text 17"/>
          <p:cNvSpPr/>
          <p:nvPr/>
        </p:nvSpPr>
        <p:spPr>
          <a:xfrm>
            <a:off x="7619695" y="6217920"/>
            <a:ext cx="4069080" cy="274320"/>
          </a:xfrm>
          <a:prstGeom prst="rect">
            <a:avLst/>
          </a:prstGeom>
          <a:noFill/>
          <a:ln/>
        </p:spPr>
        <p:txBody>
          <a:bodyPr wrap="square" rtlCol="0" anchor="ctr"/>
          <a:lstStyle/>
          <a:p>
            <a:pPr algn="r" indent="0" marL="0">
              <a:buNone/>
            </a:pPr>
            <a:r>
              <a:rPr lang="en-US" sz="1000" dirty="0">
                <a:solidFill>
                  <a:srgbClr val="97A0AD"/>
                </a:solidFill>
                <a:latin typeface="Poppins Medium" pitchFamily="34" charset="0"/>
                <a:ea typeface="Poppins Medium" pitchFamily="34" charset="-122"/>
                <a:cs typeface="Poppins Medium" pitchFamily="34" charset="-120"/>
              </a:rPr>
              <a:t>Confidential Information Memorandum</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Compass — Confidential Information Memorandum</dc:title>
  <dc:subject>PptxGenJS Presentation</dc:subject>
  <dc:creator>IGC Partners</dc:creator>
  <cp:lastModifiedBy>IGC Partners</cp:lastModifiedBy>
  <cp:revision>1</cp:revision>
  <dcterms:created xsi:type="dcterms:W3CDTF">2026-08-10T18:58:30Z</dcterms:created>
  <dcterms:modified xsi:type="dcterms:W3CDTF">2026-08-10T18:58:30Z</dcterms:modified>
</cp:coreProperties>
</file>
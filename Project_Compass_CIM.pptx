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2.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1Q25</c:v>
                </c:pt>
              </c:strCache>
            </c:strRef>
          </c:tx>
          <c:spPr>
            <a:solidFill>
              <a:srgbClr val="D9DEE5"/>
            </a:solidFill>
            <a:effectLst/>
          </c:spPr>
          <c:invertIfNegative val="0"/>
          <c:dLbls>
            <c:numFmt formatCode="0.0" sourceLinked="0"/>
            <c:txPr>
              <a:bodyPr/>
              <a:lstStyle/>
              <a:p>
                <a:pPr>
                  <a:defRPr b="0" i="0" strike="noStrike" sz="1000" u="none">
                    <a:solidFill>
                      <a:srgbClr val="2C3A4F"/>
                    </a:solidFill>
                    <a:latin typeface="Poppins SemiBold"/>
                  </a:defRPr>
                </a:pPr>
              </a:p>
            </c:txPr>
            <c:showLegendKey val="0"/>
            <c:showVal val="1"/>
            <c:showCatName val="0"/>
            <c:showSerName val="0"/>
            <c:showPercent val="0"/>
            <c:showBubbleSize val="0"/>
            <c:showLeaderLines val="0"/>
          </c:dLbls>
          <c:cat>
            <c:multiLvlStrRef>
              <c:f>Sheet1!$A$2:$A$3</c:f>
              <c:multiLvlStrCache>
                <c:ptCount val="2"/>
                <c:lvl>
                  <c:pt idx="0">
                    <c:v>AGM Caetano</c:v>
                  </c:pt>
                  <c:pt idx="1">
                    <c:v>AGM Alpha</c:v>
                  </c:pt>
                </c:lvl>
              </c:multiLvlStrCache>
            </c:multiLvlStrRef>
          </c:cat>
          <c:val>
            <c:numRef>
              <c:f>Sheet1!$B$2:$B$3</c:f>
              <c:numCache>
                <c:formatCode>General</c:formatCode>
                <c:ptCount val="2"/>
                <c:pt idx="0">
                  <c:v>26.62</c:v>
                </c:pt>
                <c:pt idx="1">
                  <c:v>4.16</c:v>
                </c:pt>
              </c:numCache>
            </c:numRef>
          </c:val>
        </c:ser>
        <c:ser>
          <c:idx val="1"/>
          <c:order val="1"/>
          <c:tx>
            <c:strRef>
              <c:f>Sheet1!$C$1</c:f>
              <c:strCache>
                <c:ptCount val="1"/>
                <c:pt idx="0">
                  <c:v>1Q26</c:v>
                </c:pt>
              </c:strCache>
            </c:strRef>
          </c:tx>
          <c:spPr>
            <a:solidFill>
              <a:srgbClr val="F35B1A"/>
            </a:solidFill>
            <a:effectLst/>
          </c:spPr>
          <c:invertIfNegative val="0"/>
          <c:dLbls>
            <c:numFmt formatCode="0.0" sourceLinked="0"/>
            <c:txPr>
              <a:bodyPr/>
              <a:lstStyle/>
              <a:p>
                <a:pPr>
                  <a:defRPr b="0" i="0" strike="noStrike" sz="1000" u="none">
                    <a:solidFill>
                      <a:srgbClr val="2C3A4F"/>
                    </a:solidFill>
                    <a:latin typeface="Poppins SemiBold"/>
                  </a:defRPr>
                </a:pPr>
              </a:p>
            </c:txPr>
            <c:showLegendKey val="0"/>
            <c:showVal val="1"/>
            <c:showCatName val="0"/>
            <c:showSerName val="0"/>
            <c:showPercent val="0"/>
            <c:showBubbleSize val="0"/>
            <c:showLeaderLines val="0"/>
          </c:dLbls>
          <c:cat>
            <c:multiLvlStrRef>
              <c:f>Sheet1!$A$2:$A$3</c:f>
              <c:multiLvlStrCache>
                <c:ptCount val="2"/>
                <c:lvl>
                  <c:pt idx="0">
                    <c:v>AGM Caetano</c:v>
                  </c:pt>
                  <c:pt idx="1">
                    <c:v>AGM Alpha</c:v>
                  </c:pt>
                </c:lvl>
              </c:multiLvlStrCache>
            </c:multiLvlStrRef>
          </c:cat>
          <c:val>
            <c:numRef>
              <c:f>Sheet1!$C$2:$C$3</c:f>
              <c:numCache>
                <c:formatCode>General</c:formatCode>
                <c:ptCount val="2"/>
                <c:pt idx="0">
                  <c:v>36.22</c:v>
                </c:pt>
                <c:pt idx="1">
                  <c:v>7.25</c:v>
                </c:pt>
              </c:numCache>
            </c:numRef>
          </c:val>
        </c:ser>
        <c:dLbls>
          <c:numFmt formatCode="0.0" sourceLinked="0"/>
          <c:txPr>
            <a:bodyPr/>
            <a:lstStyle/>
            <a:p>
              <a:pPr>
                <a:defRPr b="0" i="0" strike="noStrike" sz="1000" u="none">
                  <a:solidFill>
                    <a:srgbClr val="2C3A4F"/>
                  </a:solidFill>
                  <a:latin typeface="Poppins SemiBold"/>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2B333E"/>
                </a:solidFill>
                <a:latin typeface="Poppins"/>
              </a:defRPr>
            </a:pPr>
            <a:endParaRPr lang="en-US"/>
          </a:p>
        </c:txPr>
        <c:crossAx val="2094734552"/>
        <c:crosses val="autoZero"/>
        <c:auto val="1"/>
        <c:lblAlgn val="ctr"/>
        <c:noMultiLvlLbl val="1"/>
      </c:catAx>
      <c:valAx>
        <c:axId val="2094734552"/>
        <c:scaling>
          <c:orientation val="minMax"/>
          <c:max val="44"/>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6C7683"/>
              </a:solidFill>
              <a:latin typeface="Poppins"/>
              <a:cs typeface="Poppins"/>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Net revenues</c:v>
                </c:pt>
              </c:strCache>
            </c:strRef>
          </c:tx>
          <c:spPr>
            <a:solidFill>
              <a:srgbClr val="2C3A4F"/>
            </a:solidFill>
            <a:effectLst/>
          </c:spPr>
          <c:invertIfNegative val="0"/>
          <c:dLbls>
            <c:numFmt formatCode="#,##0" sourceLinked="0"/>
            <c:txPr>
              <a:bodyPr/>
              <a:lstStyle/>
              <a:p>
                <a:pPr>
                  <a:defRPr b="0" i="0" strike="noStrike" sz="1000" u="none">
                    <a:solidFill>
                      <a:srgbClr val="2C3A4F"/>
                    </a:solidFill>
                    <a:latin typeface="Poppins SemiBold"/>
                  </a:defRPr>
                </a:pPr>
              </a:p>
            </c:txPr>
            <c:showLegendKey val="0"/>
            <c:showVal val="1"/>
            <c:showCatName val="0"/>
            <c:showSerName val="0"/>
            <c:showPercent val="0"/>
            <c:showBubbleSize val="0"/>
            <c:showLeaderLines val="0"/>
          </c:dLbls>
          <c:cat>
            <c:multiLvlStrRef>
              <c:f>Sheet1!$A$2:$A$6</c:f>
              <c:multiLvlStrCache>
                <c:ptCount val="5"/>
                <c:lvl>
                  <c:pt idx="0">
                    <c:v>2022</c:v>
                  </c:pt>
                  <c:pt idx="1">
                    <c:v>2023</c:v>
                  </c:pt>
                  <c:pt idx="2">
                    <c:v>2024</c:v>
                  </c:pt>
                  <c:pt idx="3">
                    <c:v>2025</c:v>
                  </c:pt>
                  <c:pt idx="4">
                    <c:v>2026E</c:v>
                  </c:pt>
                </c:lvl>
              </c:multiLvlStrCache>
            </c:multiLvlStrRef>
          </c:cat>
          <c:val>
            <c:numRef>
              <c:f>Sheet1!$B$2:$B$6</c:f>
              <c:numCache>
                <c:formatCode>General</c:formatCode>
                <c:ptCount val="5"/>
                <c:pt idx="0">
                  <c:v/>
                </c:pt>
                <c:pt idx="1">
                  <c:v/>
                </c:pt>
                <c:pt idx="2">
                  <c:v/>
                </c:pt>
                <c:pt idx="3">
                  <c:v>140</c:v>
                </c:pt>
                <c:pt idx="4">
                  <c:v/>
                </c:pt>
              </c:numCache>
            </c:numRef>
          </c:val>
        </c:ser>
        <c:ser>
          <c:idx val="1"/>
          <c:order val="1"/>
          <c:tx>
            <c:strRef>
              <c:f>Sheet1!$C$1</c:f>
              <c:strCache>
                <c:ptCount val="1"/>
                <c:pt idx="0">
                  <c:v>EBITDA</c:v>
                </c:pt>
              </c:strCache>
            </c:strRef>
          </c:tx>
          <c:spPr>
            <a:solidFill>
              <a:srgbClr val="F35B1A"/>
            </a:solidFill>
            <a:effectLst/>
          </c:spPr>
          <c:invertIfNegative val="0"/>
          <c:dLbls>
            <c:numFmt formatCode="#,##0" sourceLinked="0"/>
            <c:txPr>
              <a:bodyPr/>
              <a:lstStyle/>
              <a:p>
                <a:pPr>
                  <a:defRPr b="0" i="0" strike="noStrike" sz="1000" u="none">
                    <a:solidFill>
                      <a:srgbClr val="2C3A4F"/>
                    </a:solidFill>
                    <a:latin typeface="Poppins SemiBold"/>
                  </a:defRPr>
                </a:pPr>
              </a:p>
            </c:txPr>
            <c:showLegendKey val="0"/>
            <c:showVal val="1"/>
            <c:showCatName val="0"/>
            <c:showSerName val="0"/>
            <c:showPercent val="0"/>
            <c:showBubbleSize val="0"/>
            <c:showLeaderLines val="0"/>
          </c:dLbls>
          <c:cat>
            <c:multiLvlStrRef>
              <c:f>Sheet1!$A$2:$A$6</c:f>
              <c:multiLvlStrCache>
                <c:ptCount val="5"/>
                <c:lvl>
                  <c:pt idx="0">
                    <c:v>2022</c:v>
                  </c:pt>
                  <c:pt idx="1">
                    <c:v>2023</c:v>
                  </c:pt>
                  <c:pt idx="2">
                    <c:v>2024</c:v>
                  </c:pt>
                  <c:pt idx="3">
                    <c:v>2025</c:v>
                  </c:pt>
                  <c:pt idx="4">
                    <c:v>2026E</c:v>
                  </c:pt>
                </c:lvl>
              </c:multiLvlStrCache>
            </c:multiLvlStrRef>
          </c:cat>
          <c:val>
            <c:numRef>
              <c:f>Sheet1!$C$2:$C$6</c:f>
              <c:numCache>
                <c:formatCode>General</c:formatCode>
                <c:ptCount val="5"/>
                <c:pt idx="0">
                  <c:v/>
                </c:pt>
                <c:pt idx="1">
                  <c:v/>
                </c:pt>
                <c:pt idx="2">
                  <c:v/>
                </c:pt>
                <c:pt idx="3">
                  <c:v>36</c:v>
                </c:pt>
                <c:pt idx="4">
                  <c:v/>
                </c:pt>
              </c:numCache>
            </c:numRef>
          </c:val>
        </c:ser>
        <c:dLbls>
          <c:numFmt formatCode="#,##0" sourceLinked="0"/>
          <c:txPr>
            <a:bodyPr/>
            <a:lstStyle/>
            <a:p>
              <a:pPr>
                <a:defRPr b="0" i="0" strike="noStrike" sz="1000" u="none">
                  <a:solidFill>
                    <a:srgbClr val="2C3A4F"/>
                  </a:solidFill>
                  <a:latin typeface="Poppins SemiBold"/>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2B333E"/>
                </a:solidFill>
                <a:latin typeface="Poppins"/>
              </a:defRPr>
            </a:pPr>
            <a:endParaRPr lang="en-US"/>
          </a:p>
        </c:txPr>
        <c:crossAx val="2094734552"/>
        <c:crosses val="autoZero"/>
        <c:auto val="1"/>
        <c:lblAlgn val="ctr"/>
        <c:noMultiLvlLbl val="1"/>
      </c:catAx>
      <c:valAx>
        <c:axId val="2094734552"/>
        <c:scaling>
          <c:orientation val="minMax"/>
          <c:max val="170"/>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slideLayout" Target="../slideLayouts/slideLayout1.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4" Type="http://schemas.openxmlformats.org/officeDocument/2006/relationships/chart" Target="/ppt/charts/chart1.xml"/><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image" Target="../media/image-9-13.png"/><Relationship Id="rId14" Type="http://schemas.openxmlformats.org/officeDocument/2006/relationships/slideLayout" Target="../slideLayouts/slideLayout1.xml"/><Relationship Id="rId1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slideLayout" Target="../slideLayouts/slideLayout1.xml"/><Relationship Id="rId11"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image" Target="../media/image-11-12.png"/><Relationship Id="rId13" Type="http://schemas.openxmlformats.org/officeDocument/2006/relationships/image" Target="../media/image-11-13.png"/><Relationship Id="rId14" Type="http://schemas.openxmlformats.org/officeDocument/2006/relationships/image" Target="../media/image-11-14.png"/><Relationship Id="rId15" Type="http://schemas.openxmlformats.org/officeDocument/2006/relationships/image" Target="../media/image-11-15.png"/><Relationship Id="rId16" Type="http://schemas.openxmlformats.org/officeDocument/2006/relationships/image" Target="../media/image-11-16.png"/><Relationship Id="rId17" Type="http://schemas.openxmlformats.org/officeDocument/2006/relationships/slideLayout" Target="../slideLayouts/slideLayout1.xml"/><Relationship Id="rId1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5.png"/><Relationship Id="rId7" Type="http://schemas.openxmlformats.org/officeDocument/2006/relationships/image" Target="../media/image-15-5.png"/><Relationship Id="rId8" Type="http://schemas.openxmlformats.org/officeDocument/2006/relationships/image" Target="../media/image-15-5.png"/><Relationship Id="rId9" Type="http://schemas.openxmlformats.org/officeDocument/2006/relationships/slideLayout" Target="../slideLayouts/slideLayout1.xml"/><Relationship Id="rId10"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1.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e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chart" Target="/ppt/charts/chart2.xml"/><Relationship Id="rId1" Type="http://schemas.openxmlformats.org/officeDocument/2006/relationships/image" Target="../media/image-21-1.png"/><Relationship Id="rId2" Type="http://schemas.openxmlformats.org/officeDocument/2006/relationships/image" Target="../media/image-21-2.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e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A24"/>
        </a:solidFill>
      </p:bgPr>
    </p:bg>
    <p:spTree>
      <p:nvGrpSpPr>
        <p:cNvPr id="1" name=""/>
        <p:cNvGrpSpPr/>
        <p:nvPr/>
      </p:nvGrpSpPr>
      <p:grpSpPr>
        <a:xfrm>
          <a:off x="0" y="0"/>
          <a:ext cx="0" cy="0"/>
          <a:chOff x="0" y="0"/>
          <a:chExt cx="0" cy="0"/>
        </a:xfrm>
      </p:grpSpPr>
      <p:pic>
        <p:nvPicPr>
          <p:cNvPr id="2" name="Image 0" descr="assets/cover_buses.jpeg">    </p:cNvPr>
          <p:cNvPicPr>
            <a:picLocks noChangeAspect="1"/>
          </p:cNvPicPr>
          <p:nvPr/>
        </p:nvPicPr>
        <p:blipFill>
          <a:blip r:embed="rId1"/>
          <a:srcRect l="0" r="0" t="0" b="0"/>
          <a:stretch/>
        </p:blipFill>
        <p:spPr>
          <a:xfrm>
            <a:off x="0" y="0"/>
            <a:ext cx="7452360" cy="6858000"/>
          </a:xfrm>
          <a:prstGeom prst="rect">
            <a:avLst/>
          </a:prstGeom>
        </p:spPr>
      </p:pic>
      <p:sp>
        <p:nvSpPr>
          <p:cNvPr id="3" name="Shape 0"/>
          <p:cNvSpPr/>
          <p:nvPr/>
        </p:nvSpPr>
        <p:spPr>
          <a:xfrm>
            <a:off x="0" y="0"/>
            <a:ext cx="7452360" cy="6858000"/>
          </a:xfrm>
          <a:prstGeom prst="rect">
            <a:avLst/>
          </a:prstGeom>
          <a:solidFill>
            <a:srgbClr val="141A24">
              <a:alpha val="28000"/>
            </a:srgbClr>
          </a:solidFill>
          <a:ln/>
        </p:spPr>
      </p:sp>
      <p:sp>
        <p:nvSpPr>
          <p:cNvPr id="4" name="Shape 1"/>
          <p:cNvSpPr/>
          <p:nvPr/>
        </p:nvSpPr>
        <p:spPr>
          <a:xfrm>
            <a:off x="7452360" y="0"/>
            <a:ext cx="4739335" cy="6858000"/>
          </a:xfrm>
          <a:prstGeom prst="rect">
            <a:avLst/>
          </a:prstGeom>
          <a:solidFill>
            <a:srgbClr val="141A24"/>
          </a:solidFill>
          <a:ln/>
        </p:spPr>
      </p:sp>
      <p:pic>
        <p:nvPicPr>
          <p:cNvPr id="5" name="Image 1" descr="assets/stripes_orange.png">    </p:cNvPr>
          <p:cNvPicPr>
            <a:picLocks noChangeAspect="1"/>
          </p:cNvPicPr>
          <p:nvPr/>
        </p:nvPicPr>
        <p:blipFill>
          <a:blip r:embed="rId2">
            <a:alphaModFix amt="65000"/>
          </a:blip>
          <a:stretch>
            <a:fillRect/>
          </a:stretch>
        </p:blipFill>
        <p:spPr>
          <a:xfrm>
            <a:off x="9814255" y="4480560"/>
            <a:ext cx="2377440" cy="2377440"/>
          </a:xfrm>
          <a:prstGeom prst="rect">
            <a:avLst/>
          </a:prstGeom>
        </p:spPr>
      </p:pic>
      <p:pic>
        <p:nvPicPr>
          <p:cNvPr id="6" name="Image 2" descr="assets/mobi_logo_black.png">    </p:cNvPr>
          <p:cNvPicPr>
            <a:picLocks noChangeAspect="1"/>
          </p:cNvPicPr>
          <p:nvPr/>
        </p:nvPicPr>
        <p:blipFill>
          <a:blip r:embed="rId3"/>
          <a:stretch>
            <a:fillRect/>
          </a:stretch>
        </p:blipFill>
        <p:spPr>
          <a:xfrm>
            <a:off x="8138160" y="1554480"/>
            <a:ext cx="3291840" cy="1054418"/>
          </a:xfrm>
          <a:prstGeom prst="rect">
            <a:avLst/>
          </a:prstGeom>
        </p:spPr>
      </p:pic>
      <p:sp>
        <p:nvSpPr>
          <p:cNvPr id="7" name="Shape 2"/>
          <p:cNvSpPr/>
          <p:nvPr/>
        </p:nvSpPr>
        <p:spPr>
          <a:xfrm>
            <a:off x="8156448" y="2971800"/>
            <a:ext cx="3246120" cy="822960"/>
          </a:xfrm>
          <a:prstGeom prst="rect">
            <a:avLst/>
          </a:prstGeom>
          <a:ln w="19050">
            <a:solidFill>
              <a:srgbClr val="F35B1A"/>
            </a:solidFill>
            <a:prstDash val="solid"/>
          </a:ln>
        </p:spPr>
      </p:sp>
      <p:sp>
        <p:nvSpPr>
          <p:cNvPr id="8" name="Text 3"/>
          <p:cNvSpPr/>
          <p:nvPr/>
        </p:nvSpPr>
        <p:spPr>
          <a:xfrm>
            <a:off x="8156448" y="2971800"/>
            <a:ext cx="3246120" cy="822960"/>
          </a:xfrm>
          <a:prstGeom prst="rect">
            <a:avLst/>
          </a:prstGeom>
          <a:noFill/>
          <a:ln/>
        </p:spPr>
        <p:txBody>
          <a:bodyPr wrap="square" lIns="0" tIns="0" rIns="0" bIns="0" rtlCol="0" anchor="ctr"/>
          <a:lstStyle/>
          <a:p>
            <a:pPr algn="ctr" indent="0" marL="0">
              <a:buNone/>
            </a:pPr>
            <a:r>
              <a:rPr lang="en-US" sz="1800" spc="200" kern="0" dirty="0">
                <a:solidFill>
                  <a:srgbClr val="FFFFFF"/>
                </a:solidFill>
                <a:latin typeface="Poppins SemiBold" pitchFamily="34" charset="0"/>
                <a:ea typeface="Poppins SemiBold" pitchFamily="34" charset="-122"/>
                <a:cs typeface="Poppins SemiBold" pitchFamily="34" charset="-120"/>
              </a:rPr>
              <a:t>PROJECT COMPASS</a:t>
            </a:r>
            <a:endParaRPr lang="en-US" sz="1800" dirty="0"/>
          </a:p>
        </p:txBody>
      </p:sp>
      <p:sp>
        <p:nvSpPr>
          <p:cNvPr id="9" name="Text 4"/>
          <p:cNvSpPr/>
          <p:nvPr/>
        </p:nvSpPr>
        <p:spPr>
          <a:xfrm>
            <a:off x="8156448" y="3977640"/>
            <a:ext cx="3246120" cy="320040"/>
          </a:xfrm>
          <a:prstGeom prst="rect">
            <a:avLst/>
          </a:prstGeom>
          <a:noFill/>
          <a:ln/>
        </p:spPr>
        <p:txBody>
          <a:bodyPr wrap="square" lIns="0" tIns="0" rIns="0" bIns="0" rtlCol="0" anchor="ctr"/>
          <a:lstStyle/>
          <a:p>
            <a:pPr algn="ctr" indent="0" marL="0">
              <a:buNone/>
            </a:pPr>
            <a:r>
              <a:rPr lang="en-US" sz="1100" dirty="0">
                <a:solidFill>
                  <a:srgbClr val="C7CDD6"/>
                </a:solidFill>
                <a:latin typeface="Poppins" pitchFamily="34" charset="0"/>
                <a:ea typeface="Poppins" pitchFamily="34" charset="-122"/>
                <a:cs typeface="Poppins" pitchFamily="34" charset="-120"/>
              </a:rPr>
              <a:t>Confidential Information Memorandum</a:t>
            </a:r>
            <a:endParaRPr lang="en-US" sz="1100" dirty="0"/>
          </a:p>
        </p:txBody>
      </p:sp>
      <p:sp>
        <p:nvSpPr>
          <p:cNvPr id="10" name="Text 5"/>
          <p:cNvSpPr/>
          <p:nvPr/>
        </p:nvSpPr>
        <p:spPr>
          <a:xfrm>
            <a:off x="8156448" y="4315968"/>
            <a:ext cx="3246120" cy="274320"/>
          </a:xfrm>
          <a:prstGeom prst="rect">
            <a:avLst/>
          </a:prstGeom>
          <a:noFill/>
          <a:ln/>
        </p:spPr>
        <p:txBody>
          <a:bodyPr wrap="square" lIns="0" tIns="0" rIns="0" bIns="0" rtlCol="0" anchor="ctr"/>
          <a:lstStyle/>
          <a:p>
            <a:pPr algn="ctr" indent="0" marL="0">
              <a:buNone/>
            </a:pPr>
            <a:r>
              <a:rPr lang="en-US" sz="900" dirty="0">
                <a:solidFill>
                  <a:srgbClr val="F35B1A"/>
                </a:solidFill>
                <a:latin typeface="Poppins Medium" pitchFamily="34" charset="0"/>
                <a:ea typeface="Poppins Medium" pitchFamily="34" charset="-122"/>
                <a:cs typeface="Poppins Medium" pitchFamily="34" charset="-120"/>
              </a:rPr>
              <a:t>São Paulo, 2026  |  Confidencial</a:t>
            </a:r>
            <a:endParaRPr lang="en-US" sz="900" dirty="0"/>
          </a:p>
        </p:txBody>
      </p:sp>
      <p:pic>
        <p:nvPicPr>
          <p:cNvPr id="11" name="Image 3" descr="assets/igc_white.png">    </p:cNvPr>
          <p:cNvPicPr>
            <a:picLocks noChangeAspect="1"/>
          </p:cNvPicPr>
          <p:nvPr/>
        </p:nvPicPr>
        <p:blipFill>
          <a:blip r:embed="rId4"/>
          <a:stretch>
            <a:fillRect/>
          </a:stretch>
        </p:blipFill>
        <p:spPr>
          <a:xfrm>
            <a:off x="10893247" y="411480"/>
            <a:ext cx="566928" cy="490078"/>
          </a:xfrm>
          <a:prstGeom prst="rect">
            <a:avLst/>
          </a:prstGeom>
        </p:spPr>
      </p:pic>
      <p:sp>
        <p:nvSpPr>
          <p:cNvPr id="12" name="Text 6"/>
          <p:cNvSpPr/>
          <p:nvPr/>
        </p:nvSpPr>
        <p:spPr>
          <a:xfrm>
            <a:off x="731520" y="6355080"/>
            <a:ext cx="6400800" cy="274320"/>
          </a:xfrm>
          <a:prstGeom prst="rect">
            <a:avLst/>
          </a:prstGeom>
          <a:noFill/>
          <a:ln/>
        </p:spPr>
        <p:txBody>
          <a:bodyPr wrap="square" lIns="0" tIns="0" rIns="0" bIns="0" rtlCol="0" anchor="ctr"/>
          <a:lstStyle/>
          <a:p>
            <a:pPr indent="0" marL="0">
              <a:buNone/>
            </a:pPr>
            <a:r>
              <a:rPr lang="en-US" sz="1000" dirty="0">
                <a:solidFill>
                  <a:srgbClr val="E8ECF1"/>
                </a:solidFill>
                <a:latin typeface="Poppins Medium" pitchFamily="34" charset="0"/>
                <a:ea typeface="Poppins Medium" pitchFamily="34" charset="-122"/>
                <a:cs typeface="Poppins Medium" pitchFamily="34" charset="-120"/>
              </a:rPr>
              <a:t>Urban mobility platform  ·  Midwest &amp; Southeast of Brazil</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assets/mobi_logo_navy.png">    </p:cNvPr>
          <p:cNvPicPr>
            <a:picLocks noChangeAspect="1"/>
          </p:cNvPicPr>
          <p:nvPr/>
        </p:nvPicPr>
        <p:blipFill>
          <a:blip r:embed="rId1"/>
          <a:stretch>
            <a:fillRect/>
          </a:stretch>
        </p:blipFill>
        <p:spPr>
          <a:xfrm>
            <a:off x="10545775" y="329184"/>
            <a:ext cx="914400" cy="292894"/>
          </a:xfrm>
          <a:prstGeom prst="rect">
            <a:avLst/>
          </a:prstGeom>
        </p:spPr>
      </p:pic>
      <p:sp>
        <p:nvSpPr>
          <p:cNvPr id="3" name="Text 0"/>
          <p:cNvSpPr/>
          <p:nvPr/>
        </p:nvSpPr>
        <p:spPr>
          <a:xfrm>
            <a:off x="731520" y="457200"/>
            <a:ext cx="7315200" cy="594360"/>
          </a:xfrm>
          <a:prstGeom prst="rect">
            <a:avLst/>
          </a:prstGeom>
          <a:noFill/>
          <a:ln/>
        </p:spPr>
        <p:txBody>
          <a:bodyPr wrap="square" lIns="0" tIns="0" rIns="0" bIns="0" rtlCol="0" anchor="ctr"/>
          <a:lstStyle/>
          <a:p>
            <a:pPr indent="0" marL="0">
              <a:buNone/>
            </a:pPr>
            <a:r>
              <a:rPr lang="en-US" sz="2800" dirty="0">
                <a:solidFill>
                  <a:srgbClr val="141A24"/>
                </a:solidFill>
                <a:latin typeface="Poppins SemiBold" pitchFamily="34" charset="0"/>
                <a:ea typeface="Poppins SemiBold" pitchFamily="34" charset="-122"/>
                <a:cs typeface="Poppins SemiBold" pitchFamily="34" charset="-120"/>
              </a:rPr>
              <a:t>Disclaimer</a:t>
            </a:r>
            <a:endParaRPr lang="en-US" sz="2800" dirty="0"/>
          </a:p>
        </p:txBody>
      </p:sp>
      <p:sp>
        <p:nvSpPr>
          <p:cNvPr id="4" name="Text 1"/>
          <p:cNvSpPr/>
          <p:nvPr/>
        </p:nvSpPr>
        <p:spPr>
          <a:xfrm>
            <a:off x="731520" y="1024128"/>
            <a:ext cx="7315200" cy="274320"/>
          </a:xfrm>
          <a:prstGeom prst="rect">
            <a:avLst/>
          </a:prstGeom>
          <a:noFill/>
          <a:ln/>
        </p:spPr>
        <p:txBody>
          <a:bodyPr wrap="square" lIns="0" tIns="0" rIns="0" bIns="0" rtlCol="0" anchor="ctr"/>
          <a:lstStyle/>
          <a:p>
            <a:pPr indent="0" marL="0">
              <a:buNone/>
            </a:pPr>
            <a:r>
              <a:rPr lang="en-US" sz="1100" dirty="0">
                <a:solidFill>
                  <a:srgbClr val="F35B1A"/>
                </a:solidFill>
                <a:latin typeface="Poppins Medium" pitchFamily="34" charset="0"/>
                <a:ea typeface="Poppins Medium" pitchFamily="34" charset="-122"/>
                <a:cs typeface="Poppins Medium" pitchFamily="34" charset="-120"/>
              </a:rPr>
              <a:t>Project Compass</a:t>
            </a:r>
            <a:endParaRPr lang="en-US" sz="1100" dirty="0"/>
          </a:p>
        </p:txBody>
      </p:sp>
      <p:sp>
        <p:nvSpPr>
          <p:cNvPr id="5" name="Text 2"/>
          <p:cNvSpPr/>
          <p:nvPr/>
        </p:nvSpPr>
        <p:spPr>
          <a:xfrm>
            <a:off x="731520" y="1481328"/>
            <a:ext cx="5349240" cy="4754880"/>
          </a:xfrm>
          <a:prstGeom prst="rect">
            <a:avLst/>
          </a:prstGeom>
          <a:noFill/>
          <a:ln/>
        </p:spPr>
        <p:txBody>
          <a:bodyPr wrap="square" rtlCol="0" anchor="t"/>
          <a:lstStyle/>
          <a:p>
            <a:pPr algn="just" indent="0" marL="0">
              <a:lnSpc>
                <a:spcPct val="104000"/>
              </a:lnSpc>
              <a:spcAft>
                <a:spcPts val="800"/>
              </a:spcAft>
              <a:buNone/>
            </a:pPr>
            <a:r>
              <a:rPr lang="en-US" sz="800" dirty="0">
                <a:solidFill>
                  <a:srgbClr val="2B333E"/>
                </a:solidFill>
                <a:latin typeface="Poppins" pitchFamily="34" charset="0"/>
                <a:ea typeface="Poppins" pitchFamily="34" charset="-122"/>
                <a:cs typeface="Poppins" pitchFamily="34" charset="-120"/>
              </a:rPr>
              <a:t>IGC has been retained by MOBI (“Company”; “Mobi”), on an exclusive basis, to advise the Company in its M&amp;A process (“Transaction”). This material (“Information Memorandum”) describes and summarizes the Company, its assets, market and economic and financial indicators and has been prepared exclusively to assist the recipient in deciding whether it wishes to proceed with a further investigation of a possible Transaction with the Company. In no event shall the recipient use any of this information for any commercial purposes or for purposes other than the one for which this memorandum is furnished.</a:t>
            </a:r>
            <a:endParaRPr lang="en-US" sz="800" dirty="0"/>
          </a:p>
          <a:p>
            <a:pPr algn="just" indent="0" marL="0">
              <a:lnSpc>
                <a:spcPct val="104000"/>
              </a:lnSpc>
              <a:spcAft>
                <a:spcPts val="800"/>
              </a:spcAft>
              <a:buNone/>
            </a:pPr>
            <a:r>
              <a:rPr lang="en-US" sz="800" dirty="0">
                <a:solidFill>
                  <a:srgbClr val="2B333E"/>
                </a:solidFill>
                <a:latin typeface="Poppins" pitchFamily="34" charset="0"/>
                <a:ea typeface="Poppins" pitchFamily="34" charset="-122"/>
                <a:cs typeface="Poppins" pitchFamily="34" charset="-120"/>
              </a:rPr>
              <a:t>All information contained in this Information Memorandum has been prepared based on documents and/or information provided by the Company or obtained directly by IGC through legal sources and/or independent research. IGC has not investigated, verified or audited the documents and information used for its preparation. This Information Memorandum contains statements, estimates and projections provided by the Client concerning anticipated future performance, which may or may not prove correct. No representations, expressed or implied, are made as to their accuracy.</a:t>
            </a:r>
            <a:endParaRPr lang="en-US" sz="800" dirty="0"/>
          </a:p>
          <a:p>
            <a:pPr algn="just" indent="0" marL="0">
              <a:lnSpc>
                <a:spcPct val="104000"/>
              </a:lnSpc>
              <a:spcAft>
                <a:spcPts val="800"/>
              </a:spcAft>
              <a:buNone/>
            </a:pPr>
            <a:r>
              <a:rPr lang="en-US" sz="800" dirty="0">
                <a:solidFill>
                  <a:srgbClr val="2B333E"/>
                </a:solidFill>
                <a:latin typeface="Poppins" pitchFamily="34" charset="0"/>
                <a:ea typeface="Poppins" pitchFamily="34" charset="-122"/>
                <a:cs typeface="Poppins" pitchFamily="34" charset="-120"/>
              </a:rPr>
              <a:t>This Memorandum of Information is not intended to form any part of the basis of any investment decision and should not be considered a recommendation by the Company or IGC. Each reader must make its own valuation of the Transaction to determine whether to continue in the process. No liability is or shall be attributed to the members of IGC, including its partners, directors or employees, in connection with the accuracy or completeness of the information contained herein.</a:t>
            </a:r>
            <a:endParaRPr lang="en-US" sz="800" dirty="0"/>
          </a:p>
        </p:txBody>
      </p:sp>
      <p:sp>
        <p:nvSpPr>
          <p:cNvPr id="6" name="Text 3"/>
          <p:cNvSpPr/>
          <p:nvPr/>
        </p:nvSpPr>
        <p:spPr>
          <a:xfrm>
            <a:off x="6126480" y="1481328"/>
            <a:ext cx="5532120" cy="3108960"/>
          </a:xfrm>
          <a:prstGeom prst="rect">
            <a:avLst/>
          </a:prstGeom>
          <a:noFill/>
          <a:ln/>
        </p:spPr>
        <p:txBody>
          <a:bodyPr wrap="square" rtlCol="0" anchor="t"/>
          <a:lstStyle/>
          <a:p>
            <a:pPr algn="just" indent="0" marL="0">
              <a:lnSpc>
                <a:spcPct val="104000"/>
              </a:lnSpc>
              <a:spcAft>
                <a:spcPts val="800"/>
              </a:spcAft>
              <a:buNone/>
            </a:pPr>
            <a:r>
              <a:rPr lang="en-US" sz="800" dirty="0">
                <a:solidFill>
                  <a:srgbClr val="2B333E"/>
                </a:solidFill>
                <a:latin typeface="Poppins" pitchFamily="34" charset="0"/>
                <a:ea typeface="Poppins" pitchFamily="34" charset="-122"/>
                <a:cs typeface="Poppins" pitchFamily="34" charset="-120"/>
              </a:rPr>
              <a:t>This material belongs to IGC and shall not be copied, reproduced, distributed and/or disclosed, in whole or in part, including by digital media, to any third party without the express and prior written consent of IGC. By accepting this material, the recipient agrees to return it as soon as requested by IGC and to maintain strict confidentiality over all information contained herein.</a:t>
            </a:r>
            <a:endParaRPr lang="en-US" sz="800" dirty="0"/>
          </a:p>
          <a:p>
            <a:pPr algn="just" indent="0" marL="0">
              <a:lnSpc>
                <a:spcPct val="104000"/>
              </a:lnSpc>
              <a:spcAft>
                <a:spcPts val="800"/>
              </a:spcAft>
              <a:buNone/>
            </a:pPr>
            <a:r>
              <a:rPr lang="en-US" sz="800" dirty="0">
                <a:solidFill>
                  <a:srgbClr val="2B333E"/>
                </a:solidFill>
                <a:latin typeface="Poppins" pitchFamily="34" charset="0"/>
                <a:ea typeface="Poppins" pitchFamily="34" charset="-122"/>
                <a:cs typeface="Poppins" pitchFamily="34" charset="-120"/>
              </a:rPr>
              <a:t>Since the existence of the Transaction is not publicly disclosed and may not be known by members of the Company or third parties, the recipient agrees not to approach or contact any officer, employee, client, supplier or representative of the Company without the express written permission of IGC. In furnishing this material, IGC undertakes no obligation to provide access to additional information or to update it, and reserves the right, at any time and without notice, to change the procedure for the Transaction or terminate negotiations prior to the execution of any binding agreement.</a:t>
            </a:r>
            <a:endParaRPr lang="en-US" sz="800" dirty="0"/>
          </a:p>
        </p:txBody>
      </p:sp>
      <p:sp>
        <p:nvSpPr>
          <p:cNvPr id="7" name="Shape 4"/>
          <p:cNvSpPr/>
          <p:nvPr/>
        </p:nvSpPr>
        <p:spPr>
          <a:xfrm>
            <a:off x="6126480" y="4709160"/>
            <a:ext cx="4160520" cy="1554480"/>
          </a:xfrm>
          <a:prstGeom prst="roundRect">
            <a:avLst>
              <a:gd name="adj" fmla="val 7059"/>
            </a:avLst>
          </a:prstGeom>
          <a:solidFill>
            <a:srgbClr val="141A24"/>
          </a:solidFill>
          <a:ln/>
          <a:effectLst>
            <a:outerShdw sx="100000" sy="100000" kx="0" ky="0" algn="bl" rotWithShape="0" blurRad="101600" dist="25400" dir="5400000">
              <a:srgbClr val="9AA3AD">
                <a:alpha val="30000"/>
              </a:srgbClr>
            </a:outerShdw>
          </a:effectLst>
        </p:spPr>
      </p:sp>
      <p:sp>
        <p:nvSpPr>
          <p:cNvPr id="8" name="Shape 5"/>
          <p:cNvSpPr/>
          <p:nvPr/>
        </p:nvSpPr>
        <p:spPr>
          <a:xfrm>
            <a:off x="6126480" y="4709160"/>
            <a:ext cx="109728" cy="1554480"/>
          </a:xfrm>
          <a:prstGeom prst="rect">
            <a:avLst/>
          </a:prstGeom>
          <a:solidFill>
            <a:srgbClr val="F35B1A"/>
          </a:solidFill>
          <a:ln/>
        </p:spPr>
      </p:sp>
      <p:sp>
        <p:nvSpPr>
          <p:cNvPr id="9" name="Text 6"/>
          <p:cNvSpPr/>
          <p:nvPr/>
        </p:nvSpPr>
        <p:spPr>
          <a:xfrm>
            <a:off x="6446520" y="4892040"/>
            <a:ext cx="3657600" cy="320040"/>
          </a:xfrm>
          <a:prstGeom prst="rect">
            <a:avLst/>
          </a:prstGeom>
          <a:noFill/>
          <a:ln/>
        </p:spPr>
        <p:txBody>
          <a:bodyPr wrap="square" lIns="0" tIns="0" rIns="0" bIns="0" rtlCol="0" anchor="ctr"/>
          <a:lstStyle/>
          <a:p>
            <a:pPr indent="0" marL="0">
              <a:buNone/>
            </a:pPr>
            <a:r>
              <a:rPr lang="en-US" sz="1400" dirty="0">
                <a:solidFill>
                  <a:srgbClr val="FFFFFF"/>
                </a:solidFill>
                <a:latin typeface="Poppins SemiBold" pitchFamily="34" charset="0"/>
                <a:ea typeface="Poppins SemiBold" pitchFamily="34" charset="-122"/>
                <a:cs typeface="Poppins SemiBold" pitchFamily="34" charset="-120"/>
              </a:rPr>
              <a:t>Bruno Iervolino</a:t>
            </a:r>
            <a:endParaRPr lang="en-US" sz="1400" dirty="0"/>
          </a:p>
        </p:txBody>
      </p:sp>
      <p:sp>
        <p:nvSpPr>
          <p:cNvPr id="10" name="Text 7"/>
          <p:cNvSpPr/>
          <p:nvPr/>
        </p:nvSpPr>
        <p:spPr>
          <a:xfrm>
            <a:off x="6446520" y="5193792"/>
            <a:ext cx="3657600" cy="256032"/>
          </a:xfrm>
          <a:prstGeom prst="rect">
            <a:avLst/>
          </a:prstGeom>
          <a:noFill/>
          <a:ln/>
        </p:spPr>
        <p:txBody>
          <a:bodyPr wrap="square" lIns="0" tIns="0" rIns="0" bIns="0" rtlCol="0" anchor="ctr"/>
          <a:lstStyle/>
          <a:p>
            <a:pPr indent="0" marL="0">
              <a:buNone/>
            </a:pPr>
            <a:r>
              <a:rPr lang="en-US" sz="1000" dirty="0">
                <a:solidFill>
                  <a:srgbClr val="F35B1A"/>
                </a:solidFill>
                <a:latin typeface="Poppins Medium" pitchFamily="34" charset="0"/>
                <a:ea typeface="Poppins Medium" pitchFamily="34" charset="-122"/>
                <a:cs typeface="Poppins Medium" pitchFamily="34" charset="-120"/>
              </a:rPr>
              <a:t>IGC Partners</a:t>
            </a:r>
            <a:endParaRPr lang="en-US" sz="1000" dirty="0"/>
          </a:p>
        </p:txBody>
      </p:sp>
      <p:sp>
        <p:nvSpPr>
          <p:cNvPr id="11" name="Text 8"/>
          <p:cNvSpPr/>
          <p:nvPr/>
        </p:nvSpPr>
        <p:spPr>
          <a:xfrm>
            <a:off x="6446520" y="5486400"/>
            <a:ext cx="3749040" cy="685800"/>
          </a:xfrm>
          <a:prstGeom prst="rect">
            <a:avLst/>
          </a:prstGeom>
          <a:noFill/>
          <a:ln/>
        </p:spPr>
        <p:txBody>
          <a:bodyPr wrap="square" lIns="0" tIns="0" rIns="0" bIns="0" rtlCol="0" anchor="t"/>
          <a:lstStyle/>
          <a:p>
            <a:pPr indent="0" marL="0">
              <a:lnSpc>
                <a:spcPct val="118000"/>
              </a:lnSpc>
              <a:buNone/>
            </a:pPr>
            <a:r>
              <a:rPr lang="en-US" sz="900" dirty="0">
                <a:solidFill>
                  <a:srgbClr val="C7CDD6"/>
                </a:solidFill>
                <a:latin typeface="Poppins" pitchFamily="34" charset="0"/>
                <a:ea typeface="Poppins" pitchFamily="34" charset="-122"/>
                <a:cs typeface="Poppins" pitchFamily="34" charset="-120"/>
              </a:rPr>
              <a:t>Av. Brigadeiro Faria Lima, 2277 – 6th floor</a:t>
            </a:r>
            <a:endParaRPr lang="en-US" sz="900" dirty="0"/>
          </a:p>
          <a:p>
            <a:pPr indent="0" marL="0">
              <a:lnSpc>
                <a:spcPct val="118000"/>
              </a:lnSpc>
              <a:buNone/>
            </a:pPr>
            <a:r>
              <a:rPr lang="en-US" sz="900" dirty="0">
                <a:solidFill>
                  <a:srgbClr val="C7CDD6"/>
                </a:solidFill>
                <a:latin typeface="Poppins" pitchFamily="34" charset="0"/>
                <a:ea typeface="Poppins" pitchFamily="34" charset="-122"/>
                <a:cs typeface="Poppins" pitchFamily="34" charset="-120"/>
              </a:rPr>
              <a:t>01452-000 | São Paulo – SP    Tel: (55 11) 3815-3533</a:t>
            </a:r>
            <a:endParaRPr lang="en-US" sz="900" dirty="0"/>
          </a:p>
          <a:p>
            <a:pPr indent="0" marL="0">
              <a:lnSpc>
                <a:spcPct val="118000"/>
              </a:lnSpc>
              <a:buNone/>
            </a:pPr>
            <a:r>
              <a:rPr lang="en-US" sz="900" dirty="0">
                <a:solidFill>
                  <a:srgbClr val="C7CDD6"/>
                </a:solidFill>
                <a:latin typeface="Poppins" pitchFamily="34" charset="0"/>
                <a:ea typeface="Poppins" pitchFamily="34" charset="-122"/>
                <a:cs typeface="Poppins" pitchFamily="34" charset="-120"/>
              </a:rPr>
              <a:t>bruno.iervolino@igcp.com.br</a:t>
            </a:r>
            <a:endParaRPr lang="en-US" sz="900" dirty="0"/>
          </a:p>
        </p:txBody>
      </p:sp>
      <p:sp>
        <p:nvSpPr>
          <p:cNvPr id="12" name="Shape 9"/>
          <p:cNvSpPr/>
          <p:nvPr/>
        </p:nvSpPr>
        <p:spPr>
          <a:xfrm>
            <a:off x="10616184" y="4855464"/>
            <a:ext cx="1307592" cy="1307592"/>
          </a:xfrm>
          <a:prstGeom prst="ellipse">
            <a:avLst/>
          </a:prstGeom>
          <a:solidFill>
            <a:srgbClr val="FFFFFF"/>
          </a:solidFill>
          <a:ln/>
          <a:effectLst>
            <a:outerShdw sx="100000" sy="100000" kx="0" ky="0" algn="bl" rotWithShape="0" blurRad="88900" dist="25400" dir="5400000">
              <a:srgbClr val="9AA3AD">
                <a:alpha val="30000"/>
              </a:srgbClr>
            </a:outerShdw>
          </a:effectLst>
        </p:spPr>
      </p:sp>
      <p:pic>
        <p:nvPicPr>
          <p:cNvPr id="13" name="Image 1" descr="assets/mobi_bus_front.png">    </p:cNvPr>
          <p:cNvPicPr>
            <a:picLocks noChangeAspect="1"/>
          </p:cNvPicPr>
          <p:nvPr/>
        </p:nvPicPr>
        <p:blipFill>
          <a:blip r:embed="rId2"/>
          <a:srcRect l="0" r="0" t="0" b="0"/>
          <a:stretch/>
        </p:blipFill>
        <p:spPr>
          <a:xfrm>
            <a:off x="10652760" y="4892040"/>
            <a:ext cx="1234440" cy="1234440"/>
          </a:xfrm>
          <a:prstGeom prst="ellipse">
            <a:avLst/>
          </a:prstGeom>
        </p:spPr>
      </p:pic>
      <p:pic>
        <p:nvPicPr>
          <p:cNvPr id="14" name="Image 2" descr="assets/igc_navy.png">    </p:cNvPr>
          <p:cNvPicPr>
            <a:picLocks noChangeAspect="1"/>
          </p:cNvPicPr>
          <p:nvPr/>
        </p:nvPicPr>
        <p:blipFill>
          <a:blip r:embed="rId3"/>
          <a:stretch>
            <a:fillRect/>
          </a:stretch>
        </p:blipFill>
        <p:spPr>
          <a:xfrm>
            <a:off x="731520" y="6492240"/>
            <a:ext cx="292608" cy="252943"/>
          </a:xfrm>
          <a:prstGeom prst="rect">
            <a:avLst/>
          </a:prstGeom>
        </p:spPr>
      </p:pic>
      <p:sp>
        <p:nvSpPr>
          <p:cNvPr id="15" name="Text 10"/>
          <p:cNvSpPr/>
          <p:nvPr/>
        </p:nvSpPr>
        <p:spPr>
          <a:xfrm>
            <a:off x="1115568" y="6510528"/>
            <a:ext cx="2743200" cy="274320"/>
          </a:xfrm>
          <a:prstGeom prst="rect">
            <a:avLst/>
          </a:prstGeom>
          <a:noFill/>
          <a:ln/>
        </p:spPr>
        <p:txBody>
          <a:bodyPr wrap="square" lIns="0" tIns="0" rIns="0" bIns="0" rtlCol="0" anchor="ctr"/>
          <a:lstStyle/>
          <a:p>
            <a:pPr indent="0" marL="0">
              <a:buNone/>
            </a:pPr>
            <a:r>
              <a:rPr lang="en-US" sz="900" dirty="0">
                <a:solidFill>
                  <a:srgbClr val="2B333E"/>
                </a:solidFill>
                <a:latin typeface="Poppins Medium" pitchFamily="34" charset="0"/>
                <a:ea typeface="Poppins Medium" pitchFamily="34" charset="-122"/>
                <a:cs typeface="Poppins Medium" pitchFamily="34" charset="-120"/>
              </a:rPr>
              <a:t>2</a:t>
            </a:r>
            <a:pPr indent="0" marL="0">
              <a:buNone/>
            </a:pPr>
            <a:r>
              <a:rPr lang="en-US" sz="900" dirty="0">
                <a:solidFill>
                  <a:srgbClr val="9AA3AD"/>
                </a:solidFill>
                <a:latin typeface="Poppins" pitchFamily="34" charset="0"/>
                <a:ea typeface="Poppins" pitchFamily="34" charset="-122"/>
                <a:cs typeface="Poppins" pitchFamily="34" charset="-120"/>
              </a:rPr>
              <a:t>    Confidential</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A24"/>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41A24"/>
          </a:solidFill>
          <a:ln/>
        </p:spPr>
      </p:sp>
      <p:pic>
        <p:nvPicPr>
          <p:cNvPr id="3" name="Image 0" descr="assets/cover_buses.jpeg">    </p:cNvPr>
          <p:cNvPicPr>
            <a:picLocks noChangeAspect="1"/>
          </p:cNvPicPr>
          <p:nvPr/>
        </p:nvPicPr>
        <p:blipFill>
          <a:blip r:embed="rId1"/>
          <a:srcRect l="0" r="0" t="0" b="0"/>
          <a:stretch/>
        </p:blipFill>
        <p:spPr>
          <a:xfrm>
            <a:off x="6949440" y="868680"/>
            <a:ext cx="5242255" cy="4206240"/>
          </a:xfrm>
          <a:prstGeom prst="rect">
            <a:avLst/>
          </a:prstGeom>
        </p:spPr>
      </p:pic>
      <p:sp>
        <p:nvSpPr>
          <p:cNvPr id="4" name="Shape 1"/>
          <p:cNvSpPr/>
          <p:nvPr/>
        </p:nvSpPr>
        <p:spPr>
          <a:xfrm>
            <a:off x="6949440" y="868680"/>
            <a:ext cx="5242255" cy="4206240"/>
          </a:xfrm>
          <a:prstGeom prst="rect">
            <a:avLst/>
          </a:prstGeom>
          <a:solidFill>
            <a:srgbClr val="141A24">
              <a:alpha val="26000"/>
            </a:srgbClr>
          </a:solidFill>
          <a:ln/>
        </p:spPr>
      </p:sp>
      <p:pic>
        <p:nvPicPr>
          <p:cNvPr id="5" name="Image 1" descr="assets/stripes_orange.png">    </p:cNvPr>
          <p:cNvPicPr>
            <a:picLocks noChangeAspect="1"/>
          </p:cNvPicPr>
          <p:nvPr/>
        </p:nvPicPr>
        <p:blipFill>
          <a:blip r:embed="rId2">
            <a:alphaModFix amt="55000"/>
          </a:blip>
          <a:stretch>
            <a:fillRect/>
          </a:stretch>
        </p:blipFill>
        <p:spPr>
          <a:xfrm>
            <a:off x="-822960" y="4846320"/>
            <a:ext cx="2011680" cy="2011680"/>
          </a:xfrm>
          <a:prstGeom prst="rect">
            <a:avLst/>
          </a:prstGeom>
        </p:spPr>
      </p:pic>
      <p:sp>
        <p:nvSpPr>
          <p:cNvPr id="6" name="Text 2"/>
          <p:cNvSpPr/>
          <p:nvPr/>
        </p:nvSpPr>
        <p:spPr>
          <a:xfrm>
            <a:off x="731520" y="914400"/>
            <a:ext cx="5486400" cy="685800"/>
          </a:xfrm>
          <a:prstGeom prst="rect">
            <a:avLst/>
          </a:prstGeom>
          <a:noFill/>
          <a:ln/>
        </p:spPr>
        <p:txBody>
          <a:bodyPr wrap="square" lIns="0" tIns="0" rIns="0" bIns="0" rtlCol="0" anchor="ctr"/>
          <a:lstStyle/>
          <a:p>
            <a:pPr indent="0" marL="0">
              <a:buNone/>
            </a:pPr>
            <a:r>
              <a:rPr lang="en-US" sz="3200" dirty="0">
                <a:solidFill>
                  <a:srgbClr val="FFFFFF"/>
                </a:solidFill>
                <a:latin typeface="Poppins SemiBold" pitchFamily="34" charset="0"/>
                <a:ea typeface="Poppins SemiBold" pitchFamily="34" charset="-122"/>
                <a:cs typeface="Poppins SemiBold" pitchFamily="34" charset="-120"/>
              </a:rPr>
              <a:t>Executive</a:t>
            </a:r>
            <a:endParaRPr lang="en-US" sz="3200" dirty="0"/>
          </a:p>
        </p:txBody>
      </p:sp>
      <p:sp>
        <p:nvSpPr>
          <p:cNvPr id="7" name="Text 3"/>
          <p:cNvSpPr/>
          <p:nvPr/>
        </p:nvSpPr>
        <p:spPr>
          <a:xfrm>
            <a:off x="731520" y="1572768"/>
            <a:ext cx="5486400" cy="685800"/>
          </a:xfrm>
          <a:prstGeom prst="rect">
            <a:avLst/>
          </a:prstGeom>
          <a:noFill/>
          <a:ln/>
        </p:spPr>
        <p:txBody>
          <a:bodyPr wrap="square" lIns="0" tIns="0" rIns="0" bIns="0" rtlCol="0" anchor="ctr"/>
          <a:lstStyle/>
          <a:p>
            <a:pPr indent="0" marL="0">
              <a:buNone/>
            </a:pPr>
            <a:r>
              <a:rPr lang="en-US" sz="3200" dirty="0">
                <a:solidFill>
                  <a:srgbClr val="F35B1A"/>
                </a:solidFill>
                <a:latin typeface="Poppins SemiBold" pitchFamily="34" charset="0"/>
                <a:ea typeface="Poppins SemiBold" pitchFamily="34" charset="-122"/>
                <a:cs typeface="Poppins SemiBold" pitchFamily="34" charset="-120"/>
              </a:rPr>
              <a:t>Summary</a:t>
            </a:r>
            <a:endParaRPr lang="en-US" sz="3200" dirty="0"/>
          </a:p>
        </p:txBody>
      </p:sp>
      <p:sp>
        <p:nvSpPr>
          <p:cNvPr id="8" name="Shape 4"/>
          <p:cNvSpPr/>
          <p:nvPr/>
        </p:nvSpPr>
        <p:spPr>
          <a:xfrm rot="5400000">
            <a:off x="749808" y="2999232"/>
            <a:ext cx="237744" cy="237744"/>
          </a:xfrm>
          <a:prstGeom prst="triangle">
            <a:avLst/>
          </a:prstGeom>
          <a:solidFill>
            <a:srgbClr val="F35B1A"/>
          </a:solidFill>
          <a:ln/>
        </p:spPr>
      </p:sp>
      <p:sp>
        <p:nvSpPr>
          <p:cNvPr id="9" name="Text 5"/>
          <p:cNvSpPr/>
          <p:nvPr/>
        </p:nvSpPr>
        <p:spPr>
          <a:xfrm>
            <a:off x="1188720" y="2880360"/>
            <a:ext cx="4206240" cy="457200"/>
          </a:xfrm>
          <a:prstGeom prst="rect">
            <a:avLst/>
          </a:prstGeom>
          <a:noFill/>
          <a:ln/>
        </p:spPr>
        <p:txBody>
          <a:bodyPr wrap="square" lIns="0" tIns="0" rIns="0" bIns="0" rtlCol="0" anchor="ctr"/>
          <a:lstStyle/>
          <a:p>
            <a:pPr indent="0" marL="0">
              <a:buNone/>
            </a:pPr>
            <a:r>
              <a:rPr lang="en-US" sz="1400" spc="100" kern="0" dirty="0">
                <a:solidFill>
                  <a:srgbClr val="F35B1A"/>
                </a:solidFill>
                <a:latin typeface="Poppins SemiBold" pitchFamily="34" charset="0"/>
                <a:ea typeface="Poppins SemiBold" pitchFamily="34" charset="-122"/>
                <a:cs typeface="Poppins SemiBold" pitchFamily="34" charset="-120"/>
              </a:rPr>
              <a:t>INTRODUCTION</a:t>
            </a:r>
            <a:endParaRPr lang="en-US" sz="1400" dirty="0"/>
          </a:p>
        </p:txBody>
      </p:sp>
      <p:sp>
        <p:nvSpPr>
          <p:cNvPr id="10" name="Text 6"/>
          <p:cNvSpPr/>
          <p:nvPr/>
        </p:nvSpPr>
        <p:spPr>
          <a:xfrm>
            <a:off x="5486400" y="2880360"/>
            <a:ext cx="731520" cy="457200"/>
          </a:xfrm>
          <a:prstGeom prst="rect">
            <a:avLst/>
          </a:prstGeom>
          <a:noFill/>
          <a:ln/>
        </p:spPr>
        <p:txBody>
          <a:bodyPr wrap="square" lIns="0" tIns="0" rIns="0" bIns="0" rtlCol="0" anchor="ctr"/>
          <a:lstStyle/>
          <a:p>
            <a:pPr indent="0" marL="0">
              <a:buNone/>
            </a:pPr>
            <a:r>
              <a:rPr lang="en-US" sz="1200" dirty="0">
                <a:solidFill>
                  <a:srgbClr val="FFFFFF"/>
                </a:solidFill>
                <a:latin typeface="Poppins Medium" pitchFamily="34" charset="0"/>
                <a:ea typeface="Poppins Medium" pitchFamily="34" charset="-122"/>
                <a:cs typeface="Poppins Medium" pitchFamily="34" charset="-120"/>
              </a:rPr>
              <a:t>04</a:t>
            </a:r>
            <a:endParaRPr lang="en-US" sz="1200" dirty="0"/>
          </a:p>
        </p:txBody>
      </p:sp>
      <p:sp>
        <p:nvSpPr>
          <p:cNvPr id="11" name="Shape 7"/>
          <p:cNvSpPr/>
          <p:nvPr/>
        </p:nvSpPr>
        <p:spPr>
          <a:xfrm rot="5400000">
            <a:off x="749808" y="3712464"/>
            <a:ext cx="237744" cy="237744"/>
          </a:xfrm>
          <a:prstGeom prst="triangle">
            <a:avLst/>
          </a:prstGeom>
          <a:solidFill>
            <a:srgbClr val="323E50"/>
          </a:solidFill>
          <a:ln/>
        </p:spPr>
      </p:sp>
      <p:sp>
        <p:nvSpPr>
          <p:cNvPr id="12" name="Text 8"/>
          <p:cNvSpPr/>
          <p:nvPr/>
        </p:nvSpPr>
        <p:spPr>
          <a:xfrm>
            <a:off x="1188720" y="3593592"/>
            <a:ext cx="4206240" cy="457200"/>
          </a:xfrm>
          <a:prstGeom prst="rect">
            <a:avLst/>
          </a:prstGeom>
          <a:noFill/>
          <a:ln/>
        </p:spPr>
        <p:txBody>
          <a:bodyPr wrap="square" lIns="0" tIns="0" rIns="0" bIns="0" rtlCol="0" anchor="ctr"/>
          <a:lstStyle/>
          <a:p>
            <a:pPr indent="0" marL="0">
              <a:buNone/>
            </a:pPr>
            <a:r>
              <a:rPr lang="en-US" sz="1400" spc="100" kern="0" dirty="0">
                <a:solidFill>
                  <a:srgbClr val="8B95A5"/>
                </a:solidFill>
                <a:latin typeface="Poppins SemiBold" pitchFamily="34" charset="0"/>
                <a:ea typeface="Poppins SemiBold" pitchFamily="34" charset="-122"/>
                <a:cs typeface="Poppins SemiBold" pitchFamily="34" charset="-120"/>
              </a:rPr>
              <a:t>INVESTMENT THESIS</a:t>
            </a:r>
            <a:endParaRPr lang="en-US" sz="1400" dirty="0"/>
          </a:p>
        </p:txBody>
      </p:sp>
      <p:sp>
        <p:nvSpPr>
          <p:cNvPr id="13" name="Text 9"/>
          <p:cNvSpPr/>
          <p:nvPr/>
        </p:nvSpPr>
        <p:spPr>
          <a:xfrm>
            <a:off x="5486400" y="3593592"/>
            <a:ext cx="731520" cy="457200"/>
          </a:xfrm>
          <a:prstGeom prst="rect">
            <a:avLst/>
          </a:prstGeom>
          <a:noFill/>
          <a:ln/>
        </p:spPr>
        <p:txBody>
          <a:bodyPr wrap="square" lIns="0" tIns="0" rIns="0" bIns="0" rtlCol="0" anchor="ctr"/>
          <a:lstStyle/>
          <a:p>
            <a:pPr indent="0" marL="0">
              <a:buNone/>
            </a:pPr>
            <a:r>
              <a:rPr lang="en-US" sz="1200" dirty="0">
                <a:solidFill>
                  <a:srgbClr val="8B95A5"/>
                </a:solidFill>
                <a:latin typeface="Poppins Medium" pitchFamily="34" charset="0"/>
                <a:ea typeface="Poppins Medium" pitchFamily="34" charset="-122"/>
                <a:cs typeface="Poppins Medium" pitchFamily="34" charset="-120"/>
              </a:rPr>
              <a:t>08</a:t>
            </a:r>
            <a:endParaRPr lang="en-US" sz="1200" dirty="0"/>
          </a:p>
        </p:txBody>
      </p:sp>
      <p:sp>
        <p:nvSpPr>
          <p:cNvPr id="14" name="Shape 10"/>
          <p:cNvSpPr/>
          <p:nvPr/>
        </p:nvSpPr>
        <p:spPr>
          <a:xfrm rot="5400000">
            <a:off x="749808" y="4425696"/>
            <a:ext cx="237744" cy="237744"/>
          </a:xfrm>
          <a:prstGeom prst="triangle">
            <a:avLst/>
          </a:prstGeom>
          <a:solidFill>
            <a:srgbClr val="323E50"/>
          </a:solidFill>
          <a:ln/>
        </p:spPr>
      </p:sp>
      <p:sp>
        <p:nvSpPr>
          <p:cNvPr id="15" name="Text 11"/>
          <p:cNvSpPr/>
          <p:nvPr/>
        </p:nvSpPr>
        <p:spPr>
          <a:xfrm>
            <a:off x="1188720" y="4306824"/>
            <a:ext cx="4206240" cy="457200"/>
          </a:xfrm>
          <a:prstGeom prst="rect">
            <a:avLst/>
          </a:prstGeom>
          <a:noFill/>
          <a:ln/>
        </p:spPr>
        <p:txBody>
          <a:bodyPr wrap="square" lIns="0" tIns="0" rIns="0" bIns="0" rtlCol="0" anchor="ctr"/>
          <a:lstStyle/>
          <a:p>
            <a:pPr indent="0" marL="0">
              <a:buNone/>
            </a:pPr>
            <a:r>
              <a:rPr lang="en-US" sz="1400" spc="100" kern="0" dirty="0">
                <a:solidFill>
                  <a:srgbClr val="8B95A5"/>
                </a:solidFill>
                <a:latin typeface="Poppins SemiBold" pitchFamily="34" charset="0"/>
                <a:ea typeface="Poppins SemiBold" pitchFamily="34" charset="-122"/>
                <a:cs typeface="Poppins SemiBold" pitchFamily="34" charset="-120"/>
              </a:rPr>
              <a:t>COMPANY OVERVIEW</a:t>
            </a:r>
            <a:endParaRPr lang="en-US" sz="1400" dirty="0"/>
          </a:p>
        </p:txBody>
      </p:sp>
      <p:sp>
        <p:nvSpPr>
          <p:cNvPr id="16" name="Text 12"/>
          <p:cNvSpPr/>
          <p:nvPr/>
        </p:nvSpPr>
        <p:spPr>
          <a:xfrm>
            <a:off x="5486400" y="4306824"/>
            <a:ext cx="731520" cy="457200"/>
          </a:xfrm>
          <a:prstGeom prst="rect">
            <a:avLst/>
          </a:prstGeom>
          <a:noFill/>
          <a:ln/>
        </p:spPr>
        <p:txBody>
          <a:bodyPr wrap="square" lIns="0" tIns="0" rIns="0" bIns="0" rtlCol="0" anchor="ctr"/>
          <a:lstStyle/>
          <a:p>
            <a:pPr indent="0" marL="0">
              <a:buNone/>
            </a:pPr>
            <a:r>
              <a:rPr lang="en-US" sz="1200" dirty="0">
                <a:solidFill>
                  <a:srgbClr val="8B95A5"/>
                </a:solidFill>
                <a:latin typeface="Poppins Medium" pitchFamily="34" charset="0"/>
                <a:ea typeface="Poppins Medium" pitchFamily="34" charset="-122"/>
                <a:cs typeface="Poppins Medium" pitchFamily="34" charset="-120"/>
              </a:rPr>
              <a:t>14</a:t>
            </a:r>
            <a:endParaRPr lang="en-US" sz="1200" dirty="0"/>
          </a:p>
        </p:txBody>
      </p:sp>
      <p:sp>
        <p:nvSpPr>
          <p:cNvPr id="17" name="Shape 13"/>
          <p:cNvSpPr/>
          <p:nvPr/>
        </p:nvSpPr>
        <p:spPr>
          <a:xfrm rot="5400000">
            <a:off x="749808" y="5138928"/>
            <a:ext cx="237744" cy="237744"/>
          </a:xfrm>
          <a:prstGeom prst="triangle">
            <a:avLst/>
          </a:prstGeom>
          <a:solidFill>
            <a:srgbClr val="323E50"/>
          </a:solidFill>
          <a:ln/>
        </p:spPr>
      </p:sp>
      <p:sp>
        <p:nvSpPr>
          <p:cNvPr id="18" name="Text 14"/>
          <p:cNvSpPr/>
          <p:nvPr/>
        </p:nvSpPr>
        <p:spPr>
          <a:xfrm>
            <a:off x="1188720" y="5020056"/>
            <a:ext cx="4206240" cy="457200"/>
          </a:xfrm>
          <a:prstGeom prst="rect">
            <a:avLst/>
          </a:prstGeom>
          <a:noFill/>
          <a:ln/>
        </p:spPr>
        <p:txBody>
          <a:bodyPr wrap="square" lIns="0" tIns="0" rIns="0" bIns="0" rtlCol="0" anchor="ctr"/>
          <a:lstStyle/>
          <a:p>
            <a:pPr indent="0" marL="0">
              <a:buNone/>
            </a:pPr>
            <a:r>
              <a:rPr lang="en-US" sz="1400" spc="100" kern="0" dirty="0">
                <a:solidFill>
                  <a:srgbClr val="8B95A5"/>
                </a:solidFill>
                <a:latin typeface="Poppins SemiBold" pitchFamily="34" charset="0"/>
                <a:ea typeface="Poppins SemiBold" pitchFamily="34" charset="-122"/>
                <a:cs typeface="Poppins SemiBold" pitchFamily="34" charset="-120"/>
              </a:rPr>
              <a:t>FINANCIAL HIGHLIGHTS</a:t>
            </a:r>
            <a:endParaRPr lang="en-US" sz="1400" dirty="0"/>
          </a:p>
        </p:txBody>
      </p:sp>
      <p:sp>
        <p:nvSpPr>
          <p:cNvPr id="19" name="Text 15"/>
          <p:cNvSpPr/>
          <p:nvPr/>
        </p:nvSpPr>
        <p:spPr>
          <a:xfrm>
            <a:off x="5486400" y="5020056"/>
            <a:ext cx="731520" cy="457200"/>
          </a:xfrm>
          <a:prstGeom prst="rect">
            <a:avLst/>
          </a:prstGeom>
          <a:noFill/>
          <a:ln/>
        </p:spPr>
        <p:txBody>
          <a:bodyPr wrap="square" lIns="0" tIns="0" rIns="0" bIns="0" rtlCol="0" anchor="ctr"/>
          <a:lstStyle/>
          <a:p>
            <a:pPr indent="0" marL="0">
              <a:buNone/>
            </a:pPr>
            <a:r>
              <a:rPr lang="en-US" sz="1200" dirty="0">
                <a:solidFill>
                  <a:srgbClr val="8B95A5"/>
                </a:solidFill>
                <a:latin typeface="Poppins Medium" pitchFamily="34" charset="0"/>
                <a:ea typeface="Poppins Medium" pitchFamily="34" charset="-122"/>
                <a:cs typeface="Poppins Medium" pitchFamily="34" charset="-120"/>
              </a:rPr>
              <a:t>21</a:t>
            </a:r>
            <a:endParaRPr lang="en-US" sz="1200" dirty="0"/>
          </a:p>
        </p:txBody>
      </p:sp>
      <p:pic>
        <p:nvPicPr>
          <p:cNvPr id="20" name="Image 2" descr="assets/mobi_logo_black.png">    </p:cNvPr>
          <p:cNvPicPr>
            <a:picLocks noChangeAspect="1"/>
          </p:cNvPicPr>
          <p:nvPr/>
        </p:nvPicPr>
        <p:blipFill>
          <a:blip r:embed="rId3"/>
          <a:stretch>
            <a:fillRect/>
          </a:stretch>
        </p:blipFill>
        <p:spPr>
          <a:xfrm>
            <a:off x="10042855" y="5989320"/>
            <a:ext cx="1417320" cy="453985"/>
          </a:xfrm>
          <a:prstGeom prst="rect">
            <a:avLst/>
          </a:prstGeom>
        </p:spPr>
      </p:pic>
      <p:pic>
        <p:nvPicPr>
          <p:cNvPr id="21" name="Image 3" descr="assets/igc_white.png">    </p:cNvPr>
          <p:cNvPicPr>
            <a:picLocks noChangeAspect="1"/>
          </p:cNvPicPr>
          <p:nvPr/>
        </p:nvPicPr>
        <p:blipFill>
          <a:blip r:embed="rId4"/>
          <a:stretch>
            <a:fillRect/>
          </a:stretch>
        </p:blipFill>
        <p:spPr>
          <a:xfrm>
            <a:off x="11002975" y="365760"/>
            <a:ext cx="457200" cy="39522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assets/mobi_logo_navy.png">    </p:cNvPr>
          <p:cNvPicPr>
            <a:picLocks noChangeAspect="1"/>
          </p:cNvPicPr>
          <p:nvPr/>
        </p:nvPicPr>
        <p:blipFill>
          <a:blip r:embed="rId1"/>
          <a:stretch>
            <a:fillRect/>
          </a:stretch>
        </p:blipFill>
        <p:spPr>
          <a:xfrm>
            <a:off x="10545775" y="329184"/>
            <a:ext cx="914400" cy="292894"/>
          </a:xfrm>
          <a:prstGeom prst="rect">
            <a:avLst/>
          </a:prstGeom>
        </p:spPr>
      </p:pic>
      <p:sp>
        <p:nvSpPr>
          <p:cNvPr id="3" name="Shape 0"/>
          <p:cNvSpPr/>
          <p:nvPr/>
        </p:nvSpPr>
        <p:spPr>
          <a:xfrm>
            <a:off x="731520" y="329184"/>
            <a:ext cx="1371600" cy="329184"/>
          </a:xfrm>
          <a:prstGeom prst="roundRect">
            <a:avLst>
              <a:gd name="adj" fmla="val 25000"/>
            </a:avLst>
          </a:prstGeom>
          <a:solidFill>
            <a:srgbClr val="FDE9DE"/>
          </a:solidFill>
          <a:ln/>
        </p:spPr>
      </p:sp>
      <p:sp>
        <p:nvSpPr>
          <p:cNvPr id="4" name="Text 1"/>
          <p:cNvSpPr/>
          <p:nvPr/>
        </p:nvSpPr>
        <p:spPr>
          <a:xfrm>
            <a:off x="731520" y="329184"/>
            <a:ext cx="1371600" cy="329184"/>
          </a:xfrm>
          <a:prstGeom prst="rect">
            <a:avLst/>
          </a:prstGeom>
          <a:noFill/>
          <a:ln/>
        </p:spPr>
        <p:txBody>
          <a:bodyPr wrap="square" lIns="0" tIns="0" rIns="0" bIns="0" rtlCol="0" anchor="ctr"/>
          <a:lstStyle/>
          <a:p>
            <a:pPr algn="ctr" indent="0" marL="0">
              <a:buNone/>
            </a:pPr>
            <a:r>
              <a:rPr lang="en-US" sz="900" dirty="0">
                <a:solidFill>
                  <a:srgbClr val="C6470F"/>
                </a:solidFill>
                <a:latin typeface="Poppins Medium" pitchFamily="34" charset="0"/>
                <a:ea typeface="Poppins Medium" pitchFamily="34" charset="-122"/>
                <a:cs typeface="Poppins Medium" pitchFamily="34" charset="-120"/>
              </a:rPr>
              <a:t>Introduction</a:t>
            </a:r>
            <a:endParaRPr lang="en-US" sz="900" dirty="0"/>
          </a:p>
        </p:txBody>
      </p:sp>
      <p:sp>
        <p:nvSpPr>
          <p:cNvPr id="5" name="Text 2"/>
          <p:cNvSpPr/>
          <p:nvPr/>
        </p:nvSpPr>
        <p:spPr>
          <a:xfrm>
            <a:off x="731520" y="731520"/>
            <a:ext cx="10088575" cy="548640"/>
          </a:xfrm>
          <a:prstGeom prst="rect">
            <a:avLst/>
          </a:prstGeom>
          <a:noFill/>
          <a:ln/>
        </p:spPr>
        <p:txBody>
          <a:bodyPr wrap="square" lIns="0" tIns="0" rIns="0" bIns="0" rtlCol="0" anchor="ctr"/>
          <a:lstStyle/>
          <a:p>
            <a:pPr algn="l" indent="0" marL="0">
              <a:buNone/>
            </a:pPr>
            <a:r>
              <a:rPr lang="en-US" sz="1800" dirty="0">
                <a:solidFill>
                  <a:srgbClr val="141A24"/>
                </a:solidFill>
                <a:latin typeface="Poppins SemiBold" pitchFamily="34" charset="0"/>
                <a:ea typeface="Poppins SemiBold" pitchFamily="34" charset="-122"/>
                <a:cs typeface="Poppins SemiBold" pitchFamily="34" charset="-120"/>
              </a:rPr>
              <a:t>Mobi at a glance</a:t>
            </a:r>
            <a:endParaRPr lang="en-US" sz="1800" dirty="0"/>
          </a:p>
        </p:txBody>
      </p:sp>
      <p:sp>
        <p:nvSpPr>
          <p:cNvPr id="6" name="Text 3"/>
          <p:cNvSpPr/>
          <p:nvPr/>
        </p:nvSpPr>
        <p:spPr>
          <a:xfrm>
            <a:off x="731520" y="1298448"/>
            <a:ext cx="10088575" cy="438912"/>
          </a:xfrm>
          <a:prstGeom prst="rect">
            <a:avLst/>
          </a:prstGeom>
          <a:noFill/>
          <a:ln/>
        </p:spPr>
        <p:txBody>
          <a:bodyPr wrap="square" lIns="0" tIns="0" rIns="0" bIns="0" rtlCol="0" anchor="t"/>
          <a:lstStyle/>
          <a:p>
            <a:pPr algn="l" indent="0" marL="0">
              <a:lnSpc>
                <a:spcPct val="102000"/>
              </a:lnSpc>
              <a:buNone/>
            </a:pPr>
            <a:r>
              <a:rPr lang="en-US" sz="1050" dirty="0">
                <a:solidFill>
                  <a:srgbClr val="6C7683"/>
                </a:solidFill>
                <a:latin typeface="Poppins" pitchFamily="34" charset="0"/>
                <a:ea typeface="Poppins" pitchFamily="34" charset="-122"/>
                <a:cs typeface="Poppins" pitchFamily="34" charset="-120"/>
              </a:rPr>
              <a:t>An urban mobility platform with +20 years of operations, serving employees of large corporations and residents of condominiums</a:t>
            </a:r>
            <a:endParaRPr lang="en-US" sz="1050" dirty="0"/>
          </a:p>
        </p:txBody>
      </p:sp>
      <p:sp>
        <p:nvSpPr>
          <p:cNvPr id="7" name="Text 4"/>
          <p:cNvSpPr/>
          <p:nvPr/>
        </p:nvSpPr>
        <p:spPr>
          <a:xfrm>
            <a:off x="731520" y="6309360"/>
            <a:ext cx="10362895" cy="219456"/>
          </a:xfrm>
          <a:prstGeom prst="rect">
            <a:avLst/>
          </a:prstGeom>
          <a:noFill/>
          <a:ln/>
        </p:spPr>
        <p:txBody>
          <a:bodyPr wrap="square" lIns="0" tIns="0" rIns="0" bIns="0" rtlCol="0" anchor="ctr"/>
          <a:lstStyle/>
          <a:p>
            <a:pPr algn="l" indent="0" marL="0">
              <a:buNone/>
            </a:pPr>
            <a:r>
              <a:rPr lang="en-US" sz="700" dirty="0">
                <a:solidFill>
                  <a:srgbClr val="9AA3AD"/>
                </a:solidFill>
                <a:latin typeface="Poppins" pitchFamily="34" charset="0"/>
                <a:ea typeface="Poppins" pitchFamily="34" charset="-122"/>
                <a:cs typeface="Poppins" pitchFamily="34" charset="-120"/>
              </a:rPr>
              <a:t>Source: Company management information; Jan-2026 fleet register. (1) Aggregate fleet per Company materials; 373 owned vehicles per Jan-26 fleet register. (2) Average age per Company materials.</a:t>
            </a:r>
            <a:endParaRPr lang="en-US" sz="700" dirty="0"/>
          </a:p>
        </p:txBody>
      </p:sp>
      <p:pic>
        <p:nvPicPr>
          <p:cNvPr id="8" name="Image 1" descr="assets/igc_navy.png">    </p:cNvPr>
          <p:cNvPicPr>
            <a:picLocks noChangeAspect="1"/>
          </p:cNvPicPr>
          <p:nvPr/>
        </p:nvPicPr>
        <p:blipFill>
          <a:blip r:embed="rId2"/>
          <a:stretch>
            <a:fillRect/>
          </a:stretch>
        </p:blipFill>
        <p:spPr>
          <a:xfrm>
            <a:off x="731520" y="6492240"/>
            <a:ext cx="292608" cy="252943"/>
          </a:xfrm>
          <a:prstGeom prst="rect">
            <a:avLst/>
          </a:prstGeom>
        </p:spPr>
      </p:pic>
      <p:sp>
        <p:nvSpPr>
          <p:cNvPr id="9" name="Text 5"/>
          <p:cNvSpPr/>
          <p:nvPr/>
        </p:nvSpPr>
        <p:spPr>
          <a:xfrm>
            <a:off x="1115568" y="6510528"/>
            <a:ext cx="2743200" cy="274320"/>
          </a:xfrm>
          <a:prstGeom prst="rect">
            <a:avLst/>
          </a:prstGeom>
          <a:noFill/>
          <a:ln/>
        </p:spPr>
        <p:txBody>
          <a:bodyPr wrap="square" lIns="0" tIns="0" rIns="0" bIns="0" rtlCol="0" anchor="ctr"/>
          <a:lstStyle/>
          <a:p>
            <a:pPr algn="l" indent="0" marL="0">
              <a:buNone/>
            </a:pPr>
            <a:r>
              <a:rPr lang="en-US" sz="900" dirty="0">
                <a:solidFill>
                  <a:srgbClr val="2B333E"/>
                </a:solidFill>
                <a:latin typeface="Poppins Medium" pitchFamily="34" charset="0"/>
                <a:ea typeface="Poppins Medium" pitchFamily="34" charset="-122"/>
                <a:cs typeface="Poppins Medium" pitchFamily="34" charset="-120"/>
              </a:rPr>
              <a:t>4</a:t>
            </a:r>
            <a:pPr algn="l" indent="0" marL="0">
              <a:buNone/>
            </a:pPr>
            <a:r>
              <a:rPr lang="en-US" sz="900" dirty="0">
                <a:solidFill>
                  <a:srgbClr val="9AA3AD"/>
                </a:solidFill>
                <a:latin typeface="Poppins" pitchFamily="34" charset="0"/>
                <a:ea typeface="Poppins" pitchFamily="34" charset="-122"/>
                <a:cs typeface="Poppins" pitchFamily="34" charset="-120"/>
              </a:rPr>
              <a:t>    Confidential</a:t>
            </a:r>
            <a:endParaRPr lang="en-US" sz="900" dirty="0"/>
          </a:p>
        </p:txBody>
      </p:sp>
      <p:sp>
        <p:nvSpPr>
          <p:cNvPr id="10" name="Shape 6"/>
          <p:cNvSpPr/>
          <p:nvPr/>
        </p:nvSpPr>
        <p:spPr>
          <a:xfrm>
            <a:off x="731520" y="1828800"/>
            <a:ext cx="5806440" cy="4343400"/>
          </a:xfrm>
          <a:prstGeom prst="roundRect">
            <a:avLst>
              <a:gd name="adj" fmla="val 2526"/>
            </a:avLst>
          </a:prstGeom>
          <a:solidFill>
            <a:srgbClr val="141A24"/>
          </a:solidFill>
          <a:ln/>
          <a:effectLst>
            <a:outerShdw sx="100000" sy="100000" kx="0" ky="0" algn="bl" rotWithShape="0" blurRad="101600" dist="25400" dir="5400000">
              <a:srgbClr val="9AA3AD">
                <a:alpha val="30000"/>
              </a:srgbClr>
            </a:outerShdw>
          </a:effectLst>
        </p:spPr>
      </p:sp>
      <p:pic>
        <p:nvPicPr>
          <p:cNvPr id="11" name="Image 2" descr="assets/mobi_fleet2.png">    </p:cNvPr>
          <p:cNvPicPr>
            <a:picLocks noChangeAspect="1"/>
          </p:cNvPicPr>
          <p:nvPr/>
        </p:nvPicPr>
        <p:blipFill>
          <a:blip r:embed="rId3"/>
          <a:srcRect l="0" r="0" t="0" b="0"/>
          <a:stretch/>
        </p:blipFill>
        <p:spPr>
          <a:xfrm>
            <a:off x="1005840" y="2103120"/>
            <a:ext cx="749808" cy="749808"/>
          </a:xfrm>
          <a:prstGeom prst="ellipse">
            <a:avLst/>
          </a:prstGeom>
        </p:spPr>
      </p:pic>
      <p:sp>
        <p:nvSpPr>
          <p:cNvPr id="12" name="Text 7"/>
          <p:cNvSpPr/>
          <p:nvPr/>
        </p:nvSpPr>
        <p:spPr>
          <a:xfrm>
            <a:off x="1965960" y="2084832"/>
            <a:ext cx="4251960" cy="274320"/>
          </a:xfrm>
          <a:prstGeom prst="rect">
            <a:avLst/>
          </a:prstGeom>
          <a:noFill/>
          <a:ln/>
        </p:spPr>
        <p:txBody>
          <a:bodyPr wrap="square" lIns="0" tIns="0" rIns="0" bIns="0" rtlCol="0" anchor="t"/>
          <a:lstStyle/>
          <a:p>
            <a:pPr indent="0" marL="0">
              <a:buNone/>
            </a:pPr>
            <a:r>
              <a:rPr lang="en-US" sz="1100" dirty="0">
                <a:solidFill>
                  <a:srgbClr val="FFFFFF"/>
                </a:solidFill>
                <a:latin typeface="Poppins SemiBold" pitchFamily="34" charset="0"/>
                <a:ea typeface="Poppins SemiBold" pitchFamily="34" charset="-122"/>
                <a:cs typeface="Poppins SemiBold" pitchFamily="34" charset="-120"/>
              </a:rPr>
              <a:t>Essential mobility platform</a:t>
            </a:r>
            <a:endParaRPr lang="en-US" sz="1100" dirty="0"/>
          </a:p>
        </p:txBody>
      </p:sp>
      <p:sp>
        <p:nvSpPr>
          <p:cNvPr id="13" name="Text 8"/>
          <p:cNvSpPr/>
          <p:nvPr/>
        </p:nvSpPr>
        <p:spPr>
          <a:xfrm>
            <a:off x="1965960" y="2359152"/>
            <a:ext cx="4251960" cy="566928"/>
          </a:xfrm>
          <a:prstGeom prst="rect">
            <a:avLst/>
          </a:prstGeom>
          <a:noFill/>
          <a:ln/>
        </p:spPr>
        <p:txBody>
          <a:bodyPr wrap="square" lIns="0" tIns="0" rIns="0" bIns="0" rtlCol="0" anchor="t"/>
          <a:lstStyle/>
          <a:p>
            <a:pPr indent="0" marL="0">
              <a:lnSpc>
                <a:spcPct val="100000"/>
              </a:lnSpc>
              <a:buNone/>
            </a:pPr>
            <a:r>
              <a:rPr lang="en-US" sz="800" dirty="0">
                <a:solidFill>
                  <a:srgbClr val="AEB6C2"/>
                </a:solidFill>
                <a:latin typeface="Poppins" pitchFamily="34" charset="0"/>
                <a:ea typeface="Poppins" pitchFamily="34" charset="-122"/>
                <a:cs typeface="Poppins" pitchFamily="34" charset="-120"/>
              </a:rPr>
              <a:t>Route-optimized transportation for corporations and condominiums, supporting a recurring-revenue model</a:t>
            </a:r>
            <a:endParaRPr lang="en-US" sz="800" dirty="0"/>
          </a:p>
        </p:txBody>
      </p:sp>
      <p:pic>
        <p:nvPicPr>
          <p:cNvPr id="14" name="Image 3" descr="assets/mobi_microbus.png">    </p:cNvPr>
          <p:cNvPicPr>
            <a:picLocks noChangeAspect="1"/>
          </p:cNvPicPr>
          <p:nvPr/>
        </p:nvPicPr>
        <p:blipFill>
          <a:blip r:embed="rId4"/>
          <a:srcRect l="0" r="0" t="0" b="0"/>
          <a:stretch/>
        </p:blipFill>
        <p:spPr>
          <a:xfrm>
            <a:off x="1005840" y="3127248"/>
            <a:ext cx="749808" cy="749808"/>
          </a:xfrm>
          <a:prstGeom prst="ellipse">
            <a:avLst/>
          </a:prstGeom>
        </p:spPr>
      </p:pic>
      <p:sp>
        <p:nvSpPr>
          <p:cNvPr id="15" name="Text 9"/>
          <p:cNvSpPr/>
          <p:nvPr/>
        </p:nvSpPr>
        <p:spPr>
          <a:xfrm>
            <a:off x="1965960" y="3108960"/>
            <a:ext cx="4251960" cy="274320"/>
          </a:xfrm>
          <a:prstGeom prst="rect">
            <a:avLst/>
          </a:prstGeom>
          <a:noFill/>
          <a:ln/>
        </p:spPr>
        <p:txBody>
          <a:bodyPr wrap="square" lIns="0" tIns="0" rIns="0" bIns="0" rtlCol="0" anchor="t"/>
          <a:lstStyle/>
          <a:p>
            <a:pPr indent="0" marL="0">
              <a:buNone/>
            </a:pPr>
            <a:r>
              <a:rPr lang="en-US" sz="1100" dirty="0">
                <a:solidFill>
                  <a:srgbClr val="FFFFFF"/>
                </a:solidFill>
                <a:latin typeface="Poppins SemiBold" pitchFamily="34" charset="0"/>
                <a:ea typeface="Poppins SemiBold" pitchFamily="34" charset="-122"/>
                <a:cs typeface="Poppins SemiBold" pitchFamily="34" charset="-120"/>
              </a:rPr>
              <a:t>Scaled operational platform</a:t>
            </a:r>
            <a:endParaRPr lang="en-US" sz="1100" dirty="0"/>
          </a:p>
        </p:txBody>
      </p:sp>
      <p:sp>
        <p:nvSpPr>
          <p:cNvPr id="16" name="Text 10"/>
          <p:cNvSpPr/>
          <p:nvPr/>
        </p:nvSpPr>
        <p:spPr>
          <a:xfrm>
            <a:off x="1965960" y="3383280"/>
            <a:ext cx="4251960" cy="566928"/>
          </a:xfrm>
          <a:prstGeom prst="rect">
            <a:avLst/>
          </a:prstGeom>
          <a:noFill/>
          <a:ln/>
        </p:spPr>
        <p:txBody>
          <a:bodyPr wrap="square" lIns="0" tIns="0" rIns="0" bIns="0" rtlCol="0" anchor="t"/>
          <a:lstStyle/>
          <a:p>
            <a:pPr indent="0" marL="0">
              <a:lnSpc>
                <a:spcPct val="100000"/>
              </a:lnSpc>
              <a:buNone/>
            </a:pPr>
            <a:r>
              <a:rPr lang="en-US" sz="800" dirty="0">
                <a:solidFill>
                  <a:srgbClr val="AEB6C2"/>
                </a:solidFill>
                <a:latin typeface="Poppins" pitchFamily="34" charset="0"/>
                <a:ea typeface="Poppins" pitchFamily="34" charset="-122"/>
                <a:cs typeface="Poppins" pitchFamily="34" charset="-120"/>
              </a:rPr>
              <a:t>Modern fleet backed by intensive monitoring and telemetry, tailored to serve clients’ needs</a:t>
            </a:r>
            <a:endParaRPr lang="en-US" sz="800" dirty="0"/>
          </a:p>
        </p:txBody>
      </p:sp>
      <p:pic>
        <p:nvPicPr>
          <p:cNvPr id="17" name="Image 4" descr="assets/mobi_van.png">    </p:cNvPr>
          <p:cNvPicPr>
            <a:picLocks noChangeAspect="1"/>
          </p:cNvPicPr>
          <p:nvPr/>
        </p:nvPicPr>
        <p:blipFill>
          <a:blip r:embed="rId5"/>
          <a:srcRect l="0" r="0" t="0" b="0"/>
          <a:stretch/>
        </p:blipFill>
        <p:spPr>
          <a:xfrm>
            <a:off x="1005840" y="4151376"/>
            <a:ext cx="749808" cy="749808"/>
          </a:xfrm>
          <a:prstGeom prst="ellipse">
            <a:avLst/>
          </a:prstGeom>
        </p:spPr>
      </p:pic>
      <p:sp>
        <p:nvSpPr>
          <p:cNvPr id="18" name="Text 11"/>
          <p:cNvSpPr/>
          <p:nvPr/>
        </p:nvSpPr>
        <p:spPr>
          <a:xfrm>
            <a:off x="1965960" y="4133088"/>
            <a:ext cx="4251960" cy="274320"/>
          </a:xfrm>
          <a:prstGeom prst="rect">
            <a:avLst/>
          </a:prstGeom>
          <a:noFill/>
          <a:ln/>
        </p:spPr>
        <p:txBody>
          <a:bodyPr wrap="square" lIns="0" tIns="0" rIns="0" bIns="0" rtlCol="0" anchor="t"/>
          <a:lstStyle/>
          <a:p>
            <a:pPr indent="0" marL="0">
              <a:buNone/>
            </a:pPr>
            <a:r>
              <a:rPr lang="en-US" sz="1100" dirty="0">
                <a:solidFill>
                  <a:srgbClr val="FFFFFF"/>
                </a:solidFill>
                <a:latin typeface="Poppins SemiBold" pitchFamily="34" charset="0"/>
                <a:ea typeface="Poppins SemiBold" pitchFamily="34" charset="-122"/>
                <a:cs typeface="Poppins SemiBold" pitchFamily="34" charset="-120"/>
              </a:rPr>
              <a:t>Visible, resilient cash flow</a:t>
            </a:r>
            <a:endParaRPr lang="en-US" sz="1100" dirty="0"/>
          </a:p>
        </p:txBody>
      </p:sp>
      <p:sp>
        <p:nvSpPr>
          <p:cNvPr id="19" name="Text 12"/>
          <p:cNvSpPr/>
          <p:nvPr/>
        </p:nvSpPr>
        <p:spPr>
          <a:xfrm>
            <a:off x="1965960" y="4407408"/>
            <a:ext cx="4251960" cy="566928"/>
          </a:xfrm>
          <a:prstGeom prst="rect">
            <a:avLst/>
          </a:prstGeom>
          <a:noFill/>
          <a:ln/>
        </p:spPr>
        <p:txBody>
          <a:bodyPr wrap="square" lIns="0" tIns="0" rIns="0" bIns="0" rtlCol="0" anchor="t"/>
          <a:lstStyle/>
          <a:p>
            <a:pPr indent="0" marL="0">
              <a:lnSpc>
                <a:spcPct val="100000"/>
              </a:lnSpc>
              <a:buNone/>
            </a:pPr>
            <a:r>
              <a:rPr lang="en-US" sz="800" dirty="0">
                <a:solidFill>
                  <a:srgbClr val="AEB6C2"/>
                </a:solidFill>
                <a:latin typeface="Poppins" pitchFamily="34" charset="0"/>
                <a:ea typeface="Poppins" pitchFamily="34" charset="-122"/>
                <a:cs typeface="Poppins" pitchFamily="34" charset="-120"/>
              </a:rPr>
              <a:t>Long-term contracts (3–5 years) with built-in price adjustment mechanisms supporting margin resilience</a:t>
            </a:r>
            <a:endParaRPr lang="en-US" sz="800" dirty="0"/>
          </a:p>
        </p:txBody>
      </p:sp>
      <p:pic>
        <p:nvPicPr>
          <p:cNvPr id="20" name="Image 5" descr="assets/mobi_bus_front.png">    </p:cNvPr>
          <p:cNvPicPr>
            <a:picLocks noChangeAspect="1"/>
          </p:cNvPicPr>
          <p:nvPr/>
        </p:nvPicPr>
        <p:blipFill>
          <a:blip r:embed="rId6"/>
          <a:srcRect l="0" r="0" t="0" b="0"/>
          <a:stretch/>
        </p:blipFill>
        <p:spPr>
          <a:xfrm>
            <a:off x="1005840" y="5175504"/>
            <a:ext cx="749808" cy="749808"/>
          </a:xfrm>
          <a:prstGeom prst="ellipse">
            <a:avLst/>
          </a:prstGeom>
        </p:spPr>
      </p:pic>
      <p:sp>
        <p:nvSpPr>
          <p:cNvPr id="21" name="Text 13"/>
          <p:cNvSpPr/>
          <p:nvPr/>
        </p:nvSpPr>
        <p:spPr>
          <a:xfrm>
            <a:off x="1965960" y="5157216"/>
            <a:ext cx="4251960" cy="274320"/>
          </a:xfrm>
          <a:prstGeom prst="rect">
            <a:avLst/>
          </a:prstGeom>
          <a:noFill/>
          <a:ln/>
        </p:spPr>
        <p:txBody>
          <a:bodyPr wrap="square" lIns="0" tIns="0" rIns="0" bIns="0" rtlCol="0" anchor="t"/>
          <a:lstStyle/>
          <a:p>
            <a:pPr indent="0" marL="0">
              <a:buNone/>
            </a:pPr>
            <a:r>
              <a:rPr lang="en-US" sz="1100" dirty="0">
                <a:solidFill>
                  <a:srgbClr val="FFFFFF"/>
                </a:solidFill>
                <a:latin typeface="Poppins SemiBold" pitchFamily="34" charset="0"/>
                <a:ea typeface="Poppins SemiBold" pitchFamily="34" charset="-122"/>
                <a:cs typeface="Poppins SemiBold" pitchFamily="34" charset="-120"/>
              </a:rPr>
              <a:t>Strategic footprint</a:t>
            </a:r>
            <a:endParaRPr lang="en-US" sz="1100" dirty="0"/>
          </a:p>
        </p:txBody>
      </p:sp>
      <p:sp>
        <p:nvSpPr>
          <p:cNvPr id="22" name="Text 14"/>
          <p:cNvSpPr/>
          <p:nvPr/>
        </p:nvSpPr>
        <p:spPr>
          <a:xfrm>
            <a:off x="1965960" y="5431536"/>
            <a:ext cx="4251960" cy="566928"/>
          </a:xfrm>
          <a:prstGeom prst="rect">
            <a:avLst/>
          </a:prstGeom>
          <a:noFill/>
          <a:ln/>
        </p:spPr>
        <p:txBody>
          <a:bodyPr wrap="square" lIns="0" tIns="0" rIns="0" bIns="0" rtlCol="0" anchor="t"/>
          <a:lstStyle/>
          <a:p>
            <a:pPr indent="0" marL="0">
              <a:lnSpc>
                <a:spcPct val="100000"/>
              </a:lnSpc>
              <a:buNone/>
            </a:pPr>
            <a:r>
              <a:rPr lang="en-US" sz="800" dirty="0">
                <a:solidFill>
                  <a:srgbClr val="AEB6C2"/>
                </a:solidFill>
                <a:latin typeface="Poppins" pitchFamily="34" charset="0"/>
                <a:ea typeface="Poppins" pitchFamily="34" charset="-122"/>
                <a:cs typeface="Poppins" pitchFamily="34" charset="-120"/>
              </a:rPr>
              <a:t>Headquarters in Goiânia plus 10 operational bases across Goiás, the Federal District and Minas Gerais</a:t>
            </a:r>
            <a:endParaRPr lang="en-US" sz="800" dirty="0"/>
          </a:p>
        </p:txBody>
      </p:sp>
      <p:sp>
        <p:nvSpPr>
          <p:cNvPr id="23" name="Text 15"/>
          <p:cNvSpPr/>
          <p:nvPr/>
        </p:nvSpPr>
        <p:spPr>
          <a:xfrm>
            <a:off x="6949440" y="1828800"/>
            <a:ext cx="4510735" cy="256032"/>
          </a:xfrm>
          <a:prstGeom prst="rect">
            <a:avLst/>
          </a:prstGeom>
          <a:noFill/>
          <a:ln/>
        </p:spPr>
        <p:txBody>
          <a:bodyPr wrap="square" lIns="0" tIns="0" rIns="0" bIns="0" rtlCol="0" anchor="ctr"/>
          <a:lstStyle/>
          <a:p>
            <a:pPr indent="0" marL="0">
              <a:buNone/>
            </a:pPr>
            <a:r>
              <a:rPr lang="en-US" sz="1000" spc="200" kern="0" dirty="0">
                <a:solidFill>
                  <a:srgbClr val="F35B1A"/>
                </a:solidFill>
                <a:latin typeface="Poppins SemiBold" pitchFamily="34" charset="0"/>
                <a:ea typeface="Poppins SemiBold" pitchFamily="34" charset="-122"/>
                <a:cs typeface="Poppins SemiBold" pitchFamily="34" charset="-120"/>
              </a:rPr>
              <a:t>KEY HIGHLIGHTS</a:t>
            </a:r>
            <a:endParaRPr lang="en-US" sz="1000" dirty="0"/>
          </a:p>
        </p:txBody>
      </p:sp>
      <p:sp>
        <p:nvSpPr>
          <p:cNvPr id="24" name="Shape 16"/>
          <p:cNvSpPr/>
          <p:nvPr/>
        </p:nvSpPr>
        <p:spPr>
          <a:xfrm>
            <a:off x="6949440" y="2176272"/>
            <a:ext cx="2118208" cy="896112"/>
          </a:xfrm>
          <a:prstGeom prst="roundRect">
            <a:avLst>
              <a:gd name="adj" fmla="val 9184"/>
            </a:avLst>
          </a:prstGeom>
          <a:solidFill>
            <a:srgbClr val="F4F6F8"/>
          </a:solidFill>
          <a:ln w="12700">
            <a:solidFill>
              <a:srgbClr val="E2E6EB"/>
            </a:solidFill>
            <a:prstDash val="solid"/>
          </a:ln>
        </p:spPr>
      </p:sp>
      <p:sp>
        <p:nvSpPr>
          <p:cNvPr id="25" name="Text 17"/>
          <p:cNvSpPr/>
          <p:nvPr/>
        </p:nvSpPr>
        <p:spPr>
          <a:xfrm>
            <a:off x="7132320" y="2286000"/>
            <a:ext cx="1789024" cy="420624"/>
          </a:xfrm>
          <a:prstGeom prst="rect">
            <a:avLst/>
          </a:prstGeom>
          <a:noFill/>
          <a:ln/>
        </p:spPr>
        <p:txBody>
          <a:bodyPr wrap="square" lIns="0" tIns="0" rIns="0" bIns="0" rtlCol="0" anchor="ctr"/>
          <a:lstStyle/>
          <a:p>
            <a:pPr indent="0" marL="0">
              <a:buNone/>
            </a:pPr>
            <a:r>
              <a:rPr lang="en-US" sz="1800" dirty="0">
                <a:solidFill>
                  <a:srgbClr val="F35B1A"/>
                </a:solidFill>
                <a:latin typeface="Poppins SemiBold" pitchFamily="34" charset="0"/>
                <a:ea typeface="Poppins SemiBold" pitchFamily="34" charset="-122"/>
                <a:cs typeface="Poppins SemiBold" pitchFamily="34" charset="-120"/>
              </a:rPr>
              <a:t>BRL 140 Mn</a:t>
            </a:r>
            <a:endParaRPr lang="en-US" sz="1800" dirty="0"/>
          </a:p>
        </p:txBody>
      </p:sp>
      <p:sp>
        <p:nvSpPr>
          <p:cNvPr id="26" name="Text 18"/>
          <p:cNvSpPr/>
          <p:nvPr/>
        </p:nvSpPr>
        <p:spPr>
          <a:xfrm>
            <a:off x="7132320" y="2724912"/>
            <a:ext cx="1789024" cy="292608"/>
          </a:xfrm>
          <a:prstGeom prst="rect">
            <a:avLst/>
          </a:prstGeom>
          <a:noFill/>
          <a:ln/>
        </p:spPr>
        <p:txBody>
          <a:bodyPr wrap="square" lIns="0" tIns="0" rIns="0" bIns="0" rtlCol="0" anchor="t"/>
          <a:lstStyle/>
          <a:p>
            <a:pPr indent="0" marL="0">
              <a:buNone/>
            </a:pPr>
            <a:r>
              <a:rPr lang="en-US" sz="800" dirty="0">
                <a:solidFill>
                  <a:srgbClr val="6C7683"/>
                </a:solidFill>
                <a:latin typeface="Poppins" pitchFamily="34" charset="0"/>
                <a:ea typeface="Poppins" pitchFamily="34" charset="-122"/>
                <a:cs typeface="Poppins" pitchFamily="34" charset="-120"/>
              </a:rPr>
              <a:t>Net revenues 2025</a:t>
            </a:r>
            <a:endParaRPr lang="en-US" sz="800" dirty="0"/>
          </a:p>
        </p:txBody>
      </p:sp>
      <p:sp>
        <p:nvSpPr>
          <p:cNvPr id="27" name="Shape 19"/>
          <p:cNvSpPr/>
          <p:nvPr/>
        </p:nvSpPr>
        <p:spPr>
          <a:xfrm>
            <a:off x="9341968" y="2176272"/>
            <a:ext cx="2118208" cy="896112"/>
          </a:xfrm>
          <a:prstGeom prst="roundRect">
            <a:avLst>
              <a:gd name="adj" fmla="val 9184"/>
            </a:avLst>
          </a:prstGeom>
          <a:solidFill>
            <a:srgbClr val="F4F6F8"/>
          </a:solidFill>
          <a:ln w="12700">
            <a:solidFill>
              <a:srgbClr val="E2E6EB"/>
            </a:solidFill>
            <a:prstDash val="solid"/>
          </a:ln>
        </p:spPr>
      </p:sp>
      <p:sp>
        <p:nvSpPr>
          <p:cNvPr id="28" name="Text 20"/>
          <p:cNvSpPr/>
          <p:nvPr/>
        </p:nvSpPr>
        <p:spPr>
          <a:xfrm>
            <a:off x="9524848" y="2286000"/>
            <a:ext cx="1789024" cy="420624"/>
          </a:xfrm>
          <a:prstGeom prst="rect">
            <a:avLst/>
          </a:prstGeom>
          <a:noFill/>
          <a:ln/>
        </p:spPr>
        <p:txBody>
          <a:bodyPr wrap="square" lIns="0" tIns="0" rIns="0" bIns="0" rtlCol="0" anchor="ctr"/>
          <a:lstStyle/>
          <a:p>
            <a:pPr indent="0" marL="0">
              <a:buNone/>
            </a:pPr>
            <a:r>
              <a:rPr lang="en-US" sz="1800" dirty="0">
                <a:solidFill>
                  <a:srgbClr val="F35B1A"/>
                </a:solidFill>
                <a:latin typeface="Poppins SemiBold" pitchFamily="34" charset="0"/>
                <a:ea typeface="Poppins SemiBold" pitchFamily="34" charset="-122"/>
                <a:cs typeface="Poppins SemiBold" pitchFamily="34" charset="-120"/>
              </a:rPr>
              <a:t>BRL 36 Mn</a:t>
            </a:r>
            <a:endParaRPr lang="en-US" sz="1800" dirty="0"/>
          </a:p>
        </p:txBody>
      </p:sp>
      <p:sp>
        <p:nvSpPr>
          <p:cNvPr id="29" name="Text 21"/>
          <p:cNvSpPr/>
          <p:nvPr/>
        </p:nvSpPr>
        <p:spPr>
          <a:xfrm>
            <a:off x="9524848" y="2724912"/>
            <a:ext cx="1789024" cy="292608"/>
          </a:xfrm>
          <a:prstGeom prst="rect">
            <a:avLst/>
          </a:prstGeom>
          <a:noFill/>
          <a:ln/>
        </p:spPr>
        <p:txBody>
          <a:bodyPr wrap="square" lIns="0" tIns="0" rIns="0" bIns="0" rtlCol="0" anchor="t"/>
          <a:lstStyle/>
          <a:p>
            <a:pPr indent="0" marL="0">
              <a:buNone/>
            </a:pPr>
            <a:r>
              <a:rPr lang="en-US" sz="800" dirty="0">
                <a:solidFill>
                  <a:srgbClr val="6C7683"/>
                </a:solidFill>
                <a:latin typeface="Poppins" pitchFamily="34" charset="0"/>
                <a:ea typeface="Poppins" pitchFamily="34" charset="-122"/>
                <a:cs typeface="Poppins" pitchFamily="34" charset="-120"/>
              </a:rPr>
              <a:t>EBITDA 2025 (~26%)</a:t>
            </a:r>
            <a:endParaRPr lang="en-US" sz="800" dirty="0"/>
          </a:p>
        </p:txBody>
      </p:sp>
      <p:sp>
        <p:nvSpPr>
          <p:cNvPr id="30" name="Shape 22"/>
          <p:cNvSpPr/>
          <p:nvPr/>
        </p:nvSpPr>
        <p:spPr>
          <a:xfrm>
            <a:off x="6949440" y="3218688"/>
            <a:ext cx="2118208" cy="896112"/>
          </a:xfrm>
          <a:prstGeom prst="roundRect">
            <a:avLst>
              <a:gd name="adj" fmla="val 9184"/>
            </a:avLst>
          </a:prstGeom>
          <a:solidFill>
            <a:srgbClr val="F4F6F8"/>
          </a:solidFill>
          <a:ln w="12700">
            <a:solidFill>
              <a:srgbClr val="E2E6EB"/>
            </a:solidFill>
            <a:prstDash val="solid"/>
          </a:ln>
        </p:spPr>
      </p:sp>
      <p:sp>
        <p:nvSpPr>
          <p:cNvPr id="31" name="Text 23"/>
          <p:cNvSpPr/>
          <p:nvPr/>
        </p:nvSpPr>
        <p:spPr>
          <a:xfrm>
            <a:off x="7132320" y="3328416"/>
            <a:ext cx="1789024" cy="420624"/>
          </a:xfrm>
          <a:prstGeom prst="rect">
            <a:avLst/>
          </a:prstGeom>
          <a:noFill/>
          <a:ln/>
        </p:spPr>
        <p:txBody>
          <a:bodyPr wrap="square" lIns="0" tIns="0" rIns="0" bIns="0" rtlCol="0" anchor="ctr"/>
          <a:lstStyle/>
          <a:p>
            <a:pPr indent="0" marL="0">
              <a:buNone/>
            </a:pPr>
            <a:r>
              <a:rPr lang="en-US" sz="1800" dirty="0">
                <a:solidFill>
                  <a:srgbClr val="F35B1A"/>
                </a:solidFill>
                <a:latin typeface="Poppins SemiBold" pitchFamily="34" charset="0"/>
                <a:ea typeface="Poppins SemiBold" pitchFamily="34" charset="-122"/>
                <a:cs typeface="Poppins SemiBold" pitchFamily="34" charset="-120"/>
              </a:rPr>
              <a:t>+50</a:t>
            </a:r>
            <a:endParaRPr lang="en-US" sz="1800" dirty="0"/>
          </a:p>
        </p:txBody>
      </p:sp>
      <p:sp>
        <p:nvSpPr>
          <p:cNvPr id="32" name="Text 24"/>
          <p:cNvSpPr/>
          <p:nvPr/>
        </p:nvSpPr>
        <p:spPr>
          <a:xfrm>
            <a:off x="7132320" y="3767328"/>
            <a:ext cx="1789024" cy="292608"/>
          </a:xfrm>
          <a:prstGeom prst="rect">
            <a:avLst/>
          </a:prstGeom>
          <a:noFill/>
          <a:ln/>
        </p:spPr>
        <p:txBody>
          <a:bodyPr wrap="square" lIns="0" tIns="0" rIns="0" bIns="0" rtlCol="0" anchor="t"/>
          <a:lstStyle/>
          <a:p>
            <a:pPr indent="0" marL="0">
              <a:buNone/>
            </a:pPr>
            <a:r>
              <a:rPr lang="en-US" sz="800" dirty="0">
                <a:solidFill>
                  <a:srgbClr val="6C7683"/>
                </a:solidFill>
                <a:latin typeface="Poppins" pitchFamily="34" charset="0"/>
                <a:ea typeface="Poppins" pitchFamily="34" charset="-122"/>
                <a:cs typeface="Poppins" pitchFamily="34" charset="-120"/>
              </a:rPr>
              <a:t>Clients</a:t>
            </a:r>
            <a:endParaRPr lang="en-US" sz="800" dirty="0"/>
          </a:p>
        </p:txBody>
      </p:sp>
      <p:sp>
        <p:nvSpPr>
          <p:cNvPr id="33" name="Shape 25"/>
          <p:cNvSpPr/>
          <p:nvPr/>
        </p:nvSpPr>
        <p:spPr>
          <a:xfrm>
            <a:off x="9341968" y="3218688"/>
            <a:ext cx="2118208" cy="896112"/>
          </a:xfrm>
          <a:prstGeom prst="roundRect">
            <a:avLst>
              <a:gd name="adj" fmla="val 9184"/>
            </a:avLst>
          </a:prstGeom>
          <a:solidFill>
            <a:srgbClr val="F4F6F8"/>
          </a:solidFill>
          <a:ln w="12700">
            <a:solidFill>
              <a:srgbClr val="E2E6EB"/>
            </a:solidFill>
            <a:prstDash val="solid"/>
          </a:ln>
        </p:spPr>
      </p:sp>
      <p:sp>
        <p:nvSpPr>
          <p:cNvPr id="34" name="Text 26"/>
          <p:cNvSpPr/>
          <p:nvPr/>
        </p:nvSpPr>
        <p:spPr>
          <a:xfrm>
            <a:off x="9524848" y="3328416"/>
            <a:ext cx="1789024" cy="420624"/>
          </a:xfrm>
          <a:prstGeom prst="rect">
            <a:avLst/>
          </a:prstGeom>
          <a:noFill/>
          <a:ln/>
        </p:spPr>
        <p:txBody>
          <a:bodyPr wrap="square" lIns="0" tIns="0" rIns="0" bIns="0" rtlCol="0" anchor="ctr"/>
          <a:lstStyle/>
          <a:p>
            <a:pPr indent="0" marL="0">
              <a:buNone/>
            </a:pPr>
            <a:r>
              <a:rPr lang="en-US" sz="1800" dirty="0">
                <a:solidFill>
                  <a:srgbClr val="F35B1A"/>
                </a:solidFill>
                <a:latin typeface="Poppins SemiBold" pitchFamily="34" charset="0"/>
                <a:ea typeface="Poppins SemiBold" pitchFamily="34" charset="-122"/>
                <a:cs typeface="Poppins SemiBold" pitchFamily="34" charset="-120"/>
              </a:rPr>
              <a:t>+400</a:t>
            </a:r>
            <a:endParaRPr lang="en-US" sz="1800" dirty="0"/>
          </a:p>
        </p:txBody>
      </p:sp>
      <p:sp>
        <p:nvSpPr>
          <p:cNvPr id="35" name="Text 27"/>
          <p:cNvSpPr/>
          <p:nvPr/>
        </p:nvSpPr>
        <p:spPr>
          <a:xfrm>
            <a:off x="9524848" y="3767328"/>
            <a:ext cx="1789024" cy="292608"/>
          </a:xfrm>
          <a:prstGeom prst="rect">
            <a:avLst/>
          </a:prstGeom>
          <a:noFill/>
          <a:ln/>
        </p:spPr>
        <p:txBody>
          <a:bodyPr wrap="square" lIns="0" tIns="0" rIns="0" bIns="0" rtlCol="0" anchor="t"/>
          <a:lstStyle/>
          <a:p>
            <a:pPr indent="0" marL="0">
              <a:buNone/>
            </a:pPr>
            <a:r>
              <a:rPr lang="en-US" sz="800" dirty="0">
                <a:solidFill>
                  <a:srgbClr val="6C7683"/>
                </a:solidFill>
                <a:latin typeface="Poppins" pitchFamily="34" charset="0"/>
                <a:ea typeface="Poppins" pitchFamily="34" charset="-122"/>
                <a:cs typeface="Poppins" pitchFamily="34" charset="-120"/>
              </a:rPr>
              <a:t>Vehicles¹</a:t>
            </a:r>
            <a:endParaRPr lang="en-US" sz="800" dirty="0"/>
          </a:p>
        </p:txBody>
      </p:sp>
      <p:sp>
        <p:nvSpPr>
          <p:cNvPr id="36" name="Shape 28"/>
          <p:cNvSpPr/>
          <p:nvPr/>
        </p:nvSpPr>
        <p:spPr>
          <a:xfrm>
            <a:off x="6949440" y="4261104"/>
            <a:ext cx="2118208" cy="896112"/>
          </a:xfrm>
          <a:prstGeom prst="roundRect">
            <a:avLst>
              <a:gd name="adj" fmla="val 9184"/>
            </a:avLst>
          </a:prstGeom>
          <a:solidFill>
            <a:srgbClr val="F4F6F8"/>
          </a:solidFill>
          <a:ln w="12700">
            <a:solidFill>
              <a:srgbClr val="E2E6EB"/>
            </a:solidFill>
            <a:prstDash val="solid"/>
          </a:ln>
        </p:spPr>
      </p:sp>
      <p:sp>
        <p:nvSpPr>
          <p:cNvPr id="37" name="Text 29"/>
          <p:cNvSpPr/>
          <p:nvPr/>
        </p:nvSpPr>
        <p:spPr>
          <a:xfrm>
            <a:off x="7132320" y="4370832"/>
            <a:ext cx="1789024" cy="420624"/>
          </a:xfrm>
          <a:prstGeom prst="rect">
            <a:avLst/>
          </a:prstGeom>
          <a:noFill/>
          <a:ln/>
        </p:spPr>
        <p:txBody>
          <a:bodyPr wrap="square" lIns="0" tIns="0" rIns="0" bIns="0" rtlCol="0" anchor="ctr"/>
          <a:lstStyle/>
          <a:p>
            <a:pPr indent="0" marL="0">
              <a:buNone/>
            </a:pPr>
            <a:r>
              <a:rPr lang="en-US" sz="1800" dirty="0">
                <a:solidFill>
                  <a:srgbClr val="F35B1A"/>
                </a:solidFill>
                <a:latin typeface="Poppins SemiBold" pitchFamily="34" charset="0"/>
                <a:ea typeface="Poppins SemiBold" pitchFamily="34" charset="-122"/>
                <a:cs typeface="Poppins SemiBold" pitchFamily="34" charset="-120"/>
              </a:rPr>
              <a:t>BRL 200 Mn</a:t>
            </a:r>
            <a:endParaRPr lang="en-US" sz="1800" dirty="0"/>
          </a:p>
        </p:txBody>
      </p:sp>
      <p:sp>
        <p:nvSpPr>
          <p:cNvPr id="38" name="Text 30"/>
          <p:cNvSpPr/>
          <p:nvPr/>
        </p:nvSpPr>
        <p:spPr>
          <a:xfrm>
            <a:off x="7132320" y="4809744"/>
            <a:ext cx="1789024" cy="292608"/>
          </a:xfrm>
          <a:prstGeom prst="rect">
            <a:avLst/>
          </a:prstGeom>
          <a:noFill/>
          <a:ln/>
        </p:spPr>
        <p:txBody>
          <a:bodyPr wrap="square" lIns="0" tIns="0" rIns="0" bIns="0" rtlCol="0" anchor="t"/>
          <a:lstStyle/>
          <a:p>
            <a:pPr indent="0" marL="0">
              <a:buNone/>
            </a:pPr>
            <a:r>
              <a:rPr lang="en-US" sz="800" dirty="0">
                <a:solidFill>
                  <a:srgbClr val="6C7683"/>
                </a:solidFill>
                <a:latin typeface="Poppins" pitchFamily="34" charset="0"/>
                <a:ea typeface="Poppins" pitchFamily="34" charset="-122"/>
                <a:cs typeface="Poppins" pitchFamily="34" charset="-120"/>
              </a:rPr>
              <a:t>Value of the fleet</a:t>
            </a:r>
            <a:endParaRPr lang="en-US" sz="800" dirty="0"/>
          </a:p>
        </p:txBody>
      </p:sp>
      <p:sp>
        <p:nvSpPr>
          <p:cNvPr id="39" name="Shape 31"/>
          <p:cNvSpPr/>
          <p:nvPr/>
        </p:nvSpPr>
        <p:spPr>
          <a:xfrm>
            <a:off x="9341968" y="4261104"/>
            <a:ext cx="2118208" cy="896112"/>
          </a:xfrm>
          <a:prstGeom prst="roundRect">
            <a:avLst>
              <a:gd name="adj" fmla="val 9184"/>
            </a:avLst>
          </a:prstGeom>
          <a:solidFill>
            <a:srgbClr val="F4F6F8"/>
          </a:solidFill>
          <a:ln w="12700">
            <a:solidFill>
              <a:srgbClr val="E2E6EB"/>
            </a:solidFill>
            <a:prstDash val="solid"/>
          </a:ln>
        </p:spPr>
      </p:sp>
      <p:sp>
        <p:nvSpPr>
          <p:cNvPr id="40" name="Text 32"/>
          <p:cNvSpPr/>
          <p:nvPr/>
        </p:nvSpPr>
        <p:spPr>
          <a:xfrm>
            <a:off x="9524848" y="4370832"/>
            <a:ext cx="1789024" cy="420624"/>
          </a:xfrm>
          <a:prstGeom prst="rect">
            <a:avLst/>
          </a:prstGeom>
          <a:noFill/>
          <a:ln/>
        </p:spPr>
        <p:txBody>
          <a:bodyPr wrap="square" lIns="0" tIns="0" rIns="0" bIns="0" rtlCol="0" anchor="ctr"/>
          <a:lstStyle/>
          <a:p>
            <a:pPr indent="0" marL="0">
              <a:buNone/>
            </a:pPr>
            <a:r>
              <a:rPr lang="en-US" sz="1800" dirty="0">
                <a:solidFill>
                  <a:srgbClr val="F35B1A"/>
                </a:solidFill>
                <a:latin typeface="Poppins SemiBold" pitchFamily="34" charset="0"/>
                <a:ea typeface="Poppins SemiBold" pitchFamily="34" charset="-122"/>
                <a:cs typeface="Poppins SemiBold" pitchFamily="34" charset="-120"/>
              </a:rPr>
              <a:t>4 years</a:t>
            </a:r>
            <a:endParaRPr lang="en-US" sz="1800" dirty="0"/>
          </a:p>
        </p:txBody>
      </p:sp>
      <p:sp>
        <p:nvSpPr>
          <p:cNvPr id="41" name="Text 33"/>
          <p:cNvSpPr/>
          <p:nvPr/>
        </p:nvSpPr>
        <p:spPr>
          <a:xfrm>
            <a:off x="9524848" y="4809744"/>
            <a:ext cx="1789024" cy="292608"/>
          </a:xfrm>
          <a:prstGeom prst="rect">
            <a:avLst/>
          </a:prstGeom>
          <a:noFill/>
          <a:ln/>
        </p:spPr>
        <p:txBody>
          <a:bodyPr wrap="square" lIns="0" tIns="0" rIns="0" bIns="0" rtlCol="0" anchor="t"/>
          <a:lstStyle/>
          <a:p>
            <a:pPr indent="0" marL="0">
              <a:buNone/>
            </a:pPr>
            <a:r>
              <a:rPr lang="en-US" sz="800" dirty="0">
                <a:solidFill>
                  <a:srgbClr val="6C7683"/>
                </a:solidFill>
                <a:latin typeface="Poppins" pitchFamily="34" charset="0"/>
                <a:ea typeface="Poppins" pitchFamily="34" charset="-122"/>
                <a:cs typeface="Poppins" pitchFamily="34" charset="-120"/>
              </a:rPr>
              <a:t>Average fleet age²</a:t>
            </a:r>
            <a:endParaRPr lang="en-US" sz="800" dirty="0"/>
          </a:p>
        </p:txBody>
      </p:sp>
      <p:sp>
        <p:nvSpPr>
          <p:cNvPr id="42" name="Text 34"/>
          <p:cNvSpPr/>
          <p:nvPr/>
        </p:nvSpPr>
        <p:spPr>
          <a:xfrm>
            <a:off x="6949440" y="5394960"/>
            <a:ext cx="4510735" cy="237744"/>
          </a:xfrm>
          <a:prstGeom prst="rect">
            <a:avLst/>
          </a:prstGeom>
          <a:noFill/>
          <a:ln/>
        </p:spPr>
        <p:txBody>
          <a:bodyPr wrap="square" lIns="0" tIns="0" rIns="0" bIns="0" rtlCol="0" anchor="ctr"/>
          <a:lstStyle/>
          <a:p>
            <a:pPr indent="0" marL="0">
              <a:buNone/>
            </a:pPr>
            <a:r>
              <a:rPr lang="en-US" sz="900" spc="150" kern="0" dirty="0">
                <a:solidFill>
                  <a:srgbClr val="F35B1A"/>
                </a:solidFill>
                <a:latin typeface="Poppins SemiBold" pitchFamily="34" charset="0"/>
                <a:ea typeface="Poppins SemiBold" pitchFamily="34" charset="-122"/>
                <a:cs typeface="Poppins SemiBold" pitchFamily="34" charset="-120"/>
              </a:rPr>
              <a:t>SELECTED CLIENTS</a:t>
            </a:r>
            <a:endParaRPr lang="en-US" sz="900" dirty="0"/>
          </a:p>
        </p:txBody>
      </p:sp>
      <p:sp>
        <p:nvSpPr>
          <p:cNvPr id="43" name="Shape 35"/>
          <p:cNvSpPr/>
          <p:nvPr/>
        </p:nvSpPr>
        <p:spPr>
          <a:xfrm>
            <a:off x="6949440" y="5669280"/>
            <a:ext cx="990524" cy="566928"/>
          </a:xfrm>
          <a:prstGeom prst="roundRect">
            <a:avLst>
              <a:gd name="adj" fmla="val 11290"/>
            </a:avLst>
          </a:prstGeom>
          <a:solidFill>
            <a:srgbClr val="FFFFFF"/>
          </a:solidFill>
          <a:ln w="12700">
            <a:solidFill>
              <a:srgbClr val="E2E6EB"/>
            </a:solidFill>
            <a:prstDash val="solid"/>
          </a:ln>
        </p:spPr>
      </p:sp>
      <p:pic>
        <p:nvPicPr>
          <p:cNvPr id="44" name="Image 6" descr="assets/cli_heineken.png">    </p:cNvPr>
          <p:cNvPicPr>
            <a:picLocks noChangeAspect="1"/>
          </p:cNvPicPr>
          <p:nvPr/>
        </p:nvPicPr>
        <p:blipFill>
          <a:blip r:embed="rId7"/>
          <a:srcRect l="0" r="0" t="0" b="0"/>
          <a:stretch/>
        </p:blipFill>
        <p:spPr>
          <a:xfrm>
            <a:off x="7059168" y="5760720"/>
            <a:ext cx="771068" cy="384048"/>
          </a:xfrm>
          <a:prstGeom prst="rect">
            <a:avLst/>
          </a:prstGeom>
        </p:spPr>
      </p:pic>
      <p:sp>
        <p:nvSpPr>
          <p:cNvPr id="45" name="Shape 36"/>
          <p:cNvSpPr/>
          <p:nvPr/>
        </p:nvSpPr>
        <p:spPr>
          <a:xfrm>
            <a:off x="8122844" y="5669280"/>
            <a:ext cx="990524" cy="566928"/>
          </a:xfrm>
          <a:prstGeom prst="roundRect">
            <a:avLst>
              <a:gd name="adj" fmla="val 11290"/>
            </a:avLst>
          </a:prstGeom>
          <a:solidFill>
            <a:srgbClr val="FFFFFF"/>
          </a:solidFill>
          <a:ln w="12700">
            <a:solidFill>
              <a:srgbClr val="E2E6EB"/>
            </a:solidFill>
            <a:prstDash val="solid"/>
          </a:ln>
        </p:spPr>
      </p:sp>
      <p:pic>
        <p:nvPicPr>
          <p:cNvPr id="46" name="Image 7" descr="assets/cli_roche.png">    </p:cNvPr>
          <p:cNvPicPr>
            <a:picLocks noChangeAspect="1"/>
          </p:cNvPicPr>
          <p:nvPr/>
        </p:nvPicPr>
        <p:blipFill>
          <a:blip r:embed="rId8"/>
          <a:srcRect l="0" r="0" t="0" b="0"/>
          <a:stretch/>
        </p:blipFill>
        <p:spPr>
          <a:xfrm>
            <a:off x="8232572" y="5760720"/>
            <a:ext cx="771068" cy="384048"/>
          </a:xfrm>
          <a:prstGeom prst="rect">
            <a:avLst/>
          </a:prstGeom>
        </p:spPr>
      </p:pic>
      <p:sp>
        <p:nvSpPr>
          <p:cNvPr id="47" name="Shape 37"/>
          <p:cNvSpPr/>
          <p:nvPr/>
        </p:nvSpPr>
        <p:spPr>
          <a:xfrm>
            <a:off x="9296248" y="5669280"/>
            <a:ext cx="990524" cy="566928"/>
          </a:xfrm>
          <a:prstGeom prst="roundRect">
            <a:avLst>
              <a:gd name="adj" fmla="val 11290"/>
            </a:avLst>
          </a:prstGeom>
          <a:solidFill>
            <a:srgbClr val="FFFFFF"/>
          </a:solidFill>
          <a:ln w="12700">
            <a:solidFill>
              <a:srgbClr val="E2E6EB"/>
            </a:solidFill>
            <a:prstDash val="solid"/>
          </a:ln>
        </p:spPr>
      </p:sp>
      <p:pic>
        <p:nvPicPr>
          <p:cNvPr id="48" name="Image 8" descr="assets/cli_kraftheinz.png">    </p:cNvPr>
          <p:cNvPicPr>
            <a:picLocks noChangeAspect="1"/>
          </p:cNvPicPr>
          <p:nvPr/>
        </p:nvPicPr>
        <p:blipFill>
          <a:blip r:embed="rId9"/>
          <a:srcRect l="0" r="0" t="0" b="0"/>
          <a:stretch/>
        </p:blipFill>
        <p:spPr>
          <a:xfrm>
            <a:off x="9405976" y="5760720"/>
            <a:ext cx="771068" cy="384048"/>
          </a:xfrm>
          <a:prstGeom prst="rect">
            <a:avLst/>
          </a:prstGeom>
        </p:spPr>
      </p:pic>
      <p:sp>
        <p:nvSpPr>
          <p:cNvPr id="49" name="Shape 38"/>
          <p:cNvSpPr/>
          <p:nvPr/>
        </p:nvSpPr>
        <p:spPr>
          <a:xfrm>
            <a:off x="10469651" y="5669280"/>
            <a:ext cx="990524" cy="566928"/>
          </a:xfrm>
          <a:prstGeom prst="roundRect">
            <a:avLst>
              <a:gd name="adj" fmla="val 11290"/>
            </a:avLst>
          </a:prstGeom>
          <a:solidFill>
            <a:srgbClr val="FFFFFF"/>
          </a:solidFill>
          <a:ln w="12700">
            <a:solidFill>
              <a:srgbClr val="E2E6EB"/>
            </a:solidFill>
            <a:prstDash val="solid"/>
          </a:ln>
        </p:spPr>
      </p:sp>
      <p:pic>
        <p:nvPicPr>
          <p:cNvPr id="50" name="Image 9" descr="assets/cli_cargill.png">    </p:cNvPr>
          <p:cNvPicPr>
            <a:picLocks noChangeAspect="1"/>
          </p:cNvPicPr>
          <p:nvPr/>
        </p:nvPicPr>
        <p:blipFill>
          <a:blip r:embed="rId10"/>
          <a:srcRect l="0" r="0" t="0" b="0"/>
          <a:stretch/>
        </p:blipFill>
        <p:spPr>
          <a:xfrm>
            <a:off x="10579379" y="5760720"/>
            <a:ext cx="771068" cy="38404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assets/mobi_logo_navy.png">    </p:cNvPr>
          <p:cNvPicPr>
            <a:picLocks noChangeAspect="1"/>
          </p:cNvPicPr>
          <p:nvPr/>
        </p:nvPicPr>
        <p:blipFill>
          <a:blip r:embed="rId1"/>
          <a:stretch>
            <a:fillRect/>
          </a:stretch>
        </p:blipFill>
        <p:spPr>
          <a:xfrm>
            <a:off x="10545775" y="329184"/>
            <a:ext cx="914400" cy="292894"/>
          </a:xfrm>
          <a:prstGeom prst="rect">
            <a:avLst/>
          </a:prstGeom>
        </p:spPr>
      </p:pic>
      <p:sp>
        <p:nvSpPr>
          <p:cNvPr id="3" name="Shape 0"/>
          <p:cNvSpPr/>
          <p:nvPr/>
        </p:nvSpPr>
        <p:spPr>
          <a:xfrm>
            <a:off x="731520" y="329184"/>
            <a:ext cx="1371600" cy="329184"/>
          </a:xfrm>
          <a:prstGeom prst="roundRect">
            <a:avLst>
              <a:gd name="adj" fmla="val 25000"/>
            </a:avLst>
          </a:prstGeom>
          <a:solidFill>
            <a:srgbClr val="FDE9DE"/>
          </a:solidFill>
          <a:ln/>
        </p:spPr>
      </p:sp>
      <p:sp>
        <p:nvSpPr>
          <p:cNvPr id="4" name="Text 1"/>
          <p:cNvSpPr/>
          <p:nvPr/>
        </p:nvSpPr>
        <p:spPr>
          <a:xfrm>
            <a:off x="731520" y="329184"/>
            <a:ext cx="1371600" cy="329184"/>
          </a:xfrm>
          <a:prstGeom prst="rect">
            <a:avLst/>
          </a:prstGeom>
          <a:noFill/>
          <a:ln/>
        </p:spPr>
        <p:txBody>
          <a:bodyPr wrap="square" lIns="0" tIns="0" rIns="0" bIns="0" rtlCol="0" anchor="ctr"/>
          <a:lstStyle/>
          <a:p>
            <a:pPr algn="ctr" indent="0" marL="0">
              <a:buNone/>
            </a:pPr>
            <a:r>
              <a:rPr lang="en-US" sz="900" dirty="0">
                <a:solidFill>
                  <a:srgbClr val="C6470F"/>
                </a:solidFill>
                <a:latin typeface="Poppins Medium" pitchFamily="34" charset="0"/>
                <a:ea typeface="Poppins Medium" pitchFamily="34" charset="-122"/>
                <a:cs typeface="Poppins Medium" pitchFamily="34" charset="-120"/>
              </a:rPr>
              <a:t>Introduction</a:t>
            </a:r>
            <a:endParaRPr lang="en-US" sz="900" dirty="0"/>
          </a:p>
        </p:txBody>
      </p:sp>
      <p:sp>
        <p:nvSpPr>
          <p:cNvPr id="5" name="Text 2"/>
          <p:cNvSpPr/>
          <p:nvPr/>
        </p:nvSpPr>
        <p:spPr>
          <a:xfrm>
            <a:off x="731520" y="731520"/>
            <a:ext cx="10088575" cy="548640"/>
          </a:xfrm>
          <a:prstGeom prst="rect">
            <a:avLst/>
          </a:prstGeom>
          <a:noFill/>
          <a:ln/>
        </p:spPr>
        <p:txBody>
          <a:bodyPr wrap="square" lIns="0" tIns="0" rIns="0" bIns="0" rtlCol="0" anchor="ctr"/>
          <a:lstStyle/>
          <a:p>
            <a:pPr algn="l" indent="0" marL="0">
              <a:buNone/>
            </a:pPr>
            <a:r>
              <a:rPr lang="en-US" sz="1800" dirty="0">
                <a:solidFill>
                  <a:srgbClr val="141A24"/>
                </a:solidFill>
                <a:latin typeface="Poppins SemiBold" pitchFamily="34" charset="0"/>
                <a:ea typeface="Poppins SemiBold" pitchFamily="34" charset="-122"/>
                <a:cs typeface="Poppins SemiBold" pitchFamily="34" charset="-120"/>
              </a:rPr>
              <a:t>A scalable platform with strong recent momentum</a:t>
            </a:r>
            <a:endParaRPr lang="en-US" sz="1800" dirty="0"/>
          </a:p>
        </p:txBody>
      </p:sp>
      <p:sp>
        <p:nvSpPr>
          <p:cNvPr id="6" name="Text 3"/>
          <p:cNvSpPr/>
          <p:nvPr/>
        </p:nvSpPr>
        <p:spPr>
          <a:xfrm>
            <a:off x="731520" y="1298448"/>
            <a:ext cx="10088575" cy="438912"/>
          </a:xfrm>
          <a:prstGeom prst="rect">
            <a:avLst/>
          </a:prstGeom>
          <a:noFill/>
          <a:ln/>
        </p:spPr>
        <p:txBody>
          <a:bodyPr wrap="square" lIns="0" tIns="0" rIns="0" bIns="0" rtlCol="0" anchor="t"/>
          <a:lstStyle/>
          <a:p>
            <a:pPr algn="l" indent="0" marL="0">
              <a:lnSpc>
                <a:spcPct val="102000"/>
              </a:lnSpc>
              <a:buNone/>
            </a:pPr>
            <a:r>
              <a:rPr lang="en-US" sz="1050" dirty="0">
                <a:solidFill>
                  <a:srgbClr val="6C7683"/>
                </a:solidFill>
                <a:latin typeface="Poppins" pitchFamily="34" charset="0"/>
                <a:ea typeface="Poppins" pitchFamily="34" charset="-122"/>
                <a:cs typeface="Poppins" pitchFamily="34" charset="-120"/>
              </a:rPr>
              <a:t>Operations concentrated in the high-growth Midwest–Southeast corridor, with double-digit revenue growth</a:t>
            </a:r>
            <a:endParaRPr lang="en-US" sz="1050" dirty="0"/>
          </a:p>
        </p:txBody>
      </p:sp>
      <p:sp>
        <p:nvSpPr>
          <p:cNvPr id="7" name="Text 4"/>
          <p:cNvSpPr/>
          <p:nvPr/>
        </p:nvSpPr>
        <p:spPr>
          <a:xfrm>
            <a:off x="731520" y="6309360"/>
            <a:ext cx="10362895" cy="219456"/>
          </a:xfrm>
          <a:prstGeom prst="rect">
            <a:avLst/>
          </a:prstGeom>
          <a:noFill/>
          <a:ln/>
        </p:spPr>
        <p:txBody>
          <a:bodyPr wrap="square" lIns="0" tIns="0" rIns="0" bIns="0" rtlCol="0" anchor="ctr"/>
          <a:lstStyle/>
          <a:p>
            <a:pPr algn="l" indent="0" marL="0">
              <a:buNone/>
            </a:pPr>
            <a:r>
              <a:rPr lang="en-US" sz="700" dirty="0">
                <a:solidFill>
                  <a:srgbClr val="9AA3AD"/>
                </a:solidFill>
                <a:latin typeface="Poppins" pitchFamily="34" charset="0"/>
                <a:ea typeface="Poppins" pitchFamily="34" charset="-122"/>
                <a:cs typeface="Poppins" pitchFamily="34" charset="-120"/>
              </a:rPr>
              <a:t>Source: Company. Gross revenue by operating entity. (1) 1Q gross revenue growth year-over-year.</a:t>
            </a:r>
            <a:endParaRPr lang="en-US" sz="700" dirty="0"/>
          </a:p>
        </p:txBody>
      </p:sp>
      <p:pic>
        <p:nvPicPr>
          <p:cNvPr id="8" name="Image 1" descr="assets/igc_navy.png">    </p:cNvPr>
          <p:cNvPicPr>
            <a:picLocks noChangeAspect="1"/>
          </p:cNvPicPr>
          <p:nvPr/>
        </p:nvPicPr>
        <p:blipFill>
          <a:blip r:embed="rId2"/>
          <a:stretch>
            <a:fillRect/>
          </a:stretch>
        </p:blipFill>
        <p:spPr>
          <a:xfrm>
            <a:off x="731520" y="6492240"/>
            <a:ext cx="292608" cy="252943"/>
          </a:xfrm>
          <a:prstGeom prst="rect">
            <a:avLst/>
          </a:prstGeom>
        </p:spPr>
      </p:pic>
      <p:sp>
        <p:nvSpPr>
          <p:cNvPr id="9" name="Text 5"/>
          <p:cNvSpPr/>
          <p:nvPr/>
        </p:nvSpPr>
        <p:spPr>
          <a:xfrm>
            <a:off x="1115568" y="6510528"/>
            <a:ext cx="2743200" cy="274320"/>
          </a:xfrm>
          <a:prstGeom prst="rect">
            <a:avLst/>
          </a:prstGeom>
          <a:noFill/>
          <a:ln/>
        </p:spPr>
        <p:txBody>
          <a:bodyPr wrap="square" lIns="0" tIns="0" rIns="0" bIns="0" rtlCol="0" anchor="ctr"/>
          <a:lstStyle/>
          <a:p>
            <a:pPr algn="l" indent="0" marL="0">
              <a:buNone/>
            </a:pPr>
            <a:r>
              <a:rPr lang="en-US" sz="900" dirty="0">
                <a:solidFill>
                  <a:srgbClr val="2B333E"/>
                </a:solidFill>
                <a:latin typeface="Poppins Medium" pitchFamily="34" charset="0"/>
                <a:ea typeface="Poppins Medium" pitchFamily="34" charset="-122"/>
                <a:cs typeface="Poppins Medium" pitchFamily="34" charset="-120"/>
              </a:rPr>
              <a:t>5</a:t>
            </a:r>
            <a:pPr algn="l" indent="0" marL="0">
              <a:buNone/>
            </a:pPr>
            <a:r>
              <a:rPr lang="en-US" sz="900" dirty="0">
                <a:solidFill>
                  <a:srgbClr val="9AA3AD"/>
                </a:solidFill>
                <a:latin typeface="Poppins" pitchFamily="34" charset="0"/>
                <a:ea typeface="Poppins" pitchFamily="34" charset="-122"/>
                <a:cs typeface="Poppins" pitchFamily="34" charset="-120"/>
              </a:rPr>
              <a:t>    Confidential</a:t>
            </a:r>
            <a:endParaRPr lang="en-US" sz="900" dirty="0"/>
          </a:p>
        </p:txBody>
      </p:sp>
      <p:pic>
        <p:nvPicPr>
          <p:cNvPr id="10" name="Image 2" descr="assets/brazil_map.png">    </p:cNvPr>
          <p:cNvPicPr>
            <a:picLocks noChangeAspect="1"/>
          </p:cNvPicPr>
          <p:nvPr/>
        </p:nvPicPr>
        <p:blipFill>
          <a:blip r:embed="rId3"/>
          <a:stretch>
            <a:fillRect/>
          </a:stretch>
        </p:blipFill>
        <p:spPr>
          <a:xfrm>
            <a:off x="640080" y="1874520"/>
            <a:ext cx="3505687" cy="3291840"/>
          </a:xfrm>
          <a:prstGeom prst="rect">
            <a:avLst/>
          </a:prstGeom>
        </p:spPr>
      </p:pic>
      <p:sp>
        <p:nvSpPr>
          <p:cNvPr id="11" name="Shape 6"/>
          <p:cNvSpPr/>
          <p:nvPr/>
        </p:nvSpPr>
        <p:spPr>
          <a:xfrm>
            <a:off x="868680" y="5394960"/>
            <a:ext cx="182880" cy="182880"/>
          </a:xfrm>
          <a:prstGeom prst="rect">
            <a:avLst/>
          </a:prstGeom>
          <a:solidFill>
            <a:srgbClr val="F35B1A"/>
          </a:solidFill>
          <a:ln/>
        </p:spPr>
      </p:sp>
      <p:sp>
        <p:nvSpPr>
          <p:cNvPr id="12" name="Text 7"/>
          <p:cNvSpPr/>
          <p:nvPr/>
        </p:nvSpPr>
        <p:spPr>
          <a:xfrm>
            <a:off x="1143000" y="5340096"/>
            <a:ext cx="3474720" cy="292608"/>
          </a:xfrm>
          <a:prstGeom prst="rect">
            <a:avLst/>
          </a:prstGeom>
          <a:noFill/>
          <a:ln/>
        </p:spPr>
        <p:txBody>
          <a:bodyPr wrap="square" lIns="0" tIns="0" rIns="0" bIns="0" rtlCol="0" anchor="ctr"/>
          <a:lstStyle/>
          <a:p>
            <a:pPr indent="0" marL="0">
              <a:buNone/>
            </a:pPr>
            <a:r>
              <a:rPr lang="en-US" sz="900" dirty="0">
                <a:solidFill>
                  <a:srgbClr val="6C7683"/>
                </a:solidFill>
                <a:latin typeface="Poppins" pitchFamily="34" charset="0"/>
                <a:ea typeface="Poppins" pitchFamily="34" charset="-122"/>
                <a:cs typeface="Poppins" pitchFamily="34" charset="-120"/>
              </a:rPr>
              <a:t>States of operation — GO · DF · MG</a:t>
            </a:r>
            <a:endParaRPr lang="en-US" sz="900" dirty="0"/>
          </a:p>
        </p:txBody>
      </p:sp>
      <p:sp>
        <p:nvSpPr>
          <p:cNvPr id="13" name="Shape 8"/>
          <p:cNvSpPr/>
          <p:nvPr/>
        </p:nvSpPr>
        <p:spPr>
          <a:xfrm>
            <a:off x="5029200" y="1874520"/>
            <a:ext cx="6430975" cy="2514600"/>
          </a:xfrm>
          <a:prstGeom prst="roundRect">
            <a:avLst>
              <a:gd name="adj" fmla="val 3636"/>
            </a:avLst>
          </a:prstGeom>
          <a:solidFill>
            <a:srgbClr val="F4F6F8"/>
          </a:solidFill>
          <a:ln w="12700">
            <a:solidFill>
              <a:srgbClr val="E2E6EB"/>
            </a:solidFill>
            <a:prstDash val="solid"/>
          </a:ln>
        </p:spPr>
      </p:sp>
      <p:sp>
        <p:nvSpPr>
          <p:cNvPr id="14" name="Text 9"/>
          <p:cNvSpPr/>
          <p:nvPr/>
        </p:nvSpPr>
        <p:spPr>
          <a:xfrm>
            <a:off x="5303520" y="2029968"/>
            <a:ext cx="4876495" cy="274320"/>
          </a:xfrm>
          <a:prstGeom prst="rect">
            <a:avLst/>
          </a:prstGeom>
          <a:noFill/>
          <a:ln/>
        </p:spPr>
        <p:txBody>
          <a:bodyPr wrap="square" lIns="0" tIns="0" rIns="0" bIns="0" rtlCol="0" anchor="ctr"/>
          <a:lstStyle/>
          <a:p>
            <a:pPr indent="0" marL="0">
              <a:buNone/>
            </a:pPr>
            <a:r>
              <a:rPr lang="en-US" sz="1100" dirty="0">
                <a:solidFill>
                  <a:srgbClr val="141A24"/>
                </a:solidFill>
                <a:latin typeface="Poppins SemiBold" pitchFamily="34" charset="0"/>
                <a:ea typeface="Poppins SemiBold" pitchFamily="34" charset="-122"/>
                <a:cs typeface="Poppins SemiBold" pitchFamily="34" charset="-120"/>
              </a:rPr>
              <a:t>Gross revenue by entity — 1Q25 vs. 1Q26</a:t>
            </a:r>
            <a:endParaRPr lang="en-US" sz="1100" dirty="0"/>
          </a:p>
        </p:txBody>
      </p:sp>
      <p:sp>
        <p:nvSpPr>
          <p:cNvPr id="15" name="Text 10"/>
          <p:cNvSpPr/>
          <p:nvPr/>
        </p:nvSpPr>
        <p:spPr>
          <a:xfrm>
            <a:off x="5303520" y="2286000"/>
            <a:ext cx="1828800" cy="219456"/>
          </a:xfrm>
          <a:prstGeom prst="rect">
            <a:avLst/>
          </a:prstGeom>
          <a:noFill/>
          <a:ln/>
        </p:spPr>
        <p:txBody>
          <a:bodyPr wrap="square" lIns="0" tIns="0" rIns="0" bIns="0" rtlCol="0" anchor="ctr"/>
          <a:lstStyle/>
          <a:p>
            <a:pPr indent="0" marL="0">
              <a:buNone/>
            </a:pPr>
            <a:r>
              <a:rPr lang="en-US" sz="800" dirty="0">
                <a:solidFill>
                  <a:srgbClr val="6C7683"/>
                </a:solidFill>
                <a:latin typeface="Poppins" pitchFamily="34" charset="0"/>
                <a:ea typeface="Poppins" pitchFamily="34" charset="-122"/>
                <a:cs typeface="Poppins" pitchFamily="34" charset="-120"/>
              </a:rPr>
              <a:t>BRL Mn</a:t>
            </a:r>
            <a:endParaRPr lang="en-US" sz="800" dirty="0"/>
          </a:p>
        </p:txBody>
      </p:sp>
      <p:sp>
        <p:nvSpPr>
          <p:cNvPr id="16" name="Shape 11"/>
          <p:cNvSpPr/>
          <p:nvPr/>
        </p:nvSpPr>
        <p:spPr>
          <a:xfrm>
            <a:off x="9951415" y="2011680"/>
            <a:ext cx="1234440" cy="402336"/>
          </a:xfrm>
          <a:prstGeom prst="roundRect">
            <a:avLst>
              <a:gd name="adj" fmla="val 18182"/>
            </a:avLst>
          </a:prstGeom>
          <a:solidFill>
            <a:srgbClr val="FDE9DE"/>
          </a:solidFill>
          <a:ln/>
        </p:spPr>
      </p:sp>
      <p:sp>
        <p:nvSpPr>
          <p:cNvPr id="17" name="Text 12"/>
          <p:cNvSpPr/>
          <p:nvPr/>
        </p:nvSpPr>
        <p:spPr>
          <a:xfrm>
            <a:off x="9951415" y="2011680"/>
            <a:ext cx="1234440" cy="402336"/>
          </a:xfrm>
          <a:prstGeom prst="rect">
            <a:avLst/>
          </a:prstGeom>
          <a:noFill/>
          <a:ln/>
        </p:spPr>
        <p:txBody>
          <a:bodyPr wrap="square" lIns="0" tIns="0" rIns="0" bIns="0" rtlCol="0" anchor="ctr"/>
          <a:lstStyle/>
          <a:p>
            <a:pPr algn="ctr" indent="0" marL="0">
              <a:buNone/>
            </a:pPr>
            <a:r>
              <a:rPr lang="en-US" sz="1050" dirty="0">
                <a:solidFill>
                  <a:srgbClr val="C6470F"/>
                </a:solidFill>
                <a:latin typeface="Poppins SemiBold" pitchFamily="34" charset="0"/>
                <a:ea typeface="Poppins SemiBold" pitchFamily="34" charset="-122"/>
                <a:cs typeface="Poppins SemiBold" pitchFamily="34" charset="-120"/>
              </a:rPr>
              <a:t>+41.3% YoY¹</a:t>
            </a:r>
            <a:endParaRPr lang="en-US" sz="1050" dirty="0"/>
          </a:p>
        </p:txBody>
      </p:sp>
      <p:graphicFrame>
        <p:nvGraphicFramePr>
          <p:cNvPr id="18" name="Chart 0" descr=""/>
          <p:cNvGraphicFramePr/>
          <p:nvPr/>
        </p:nvGraphicFramePr>
        <p:xfrm>
          <a:off x="5212080" y="2560320"/>
          <a:ext cx="6065215" cy="1691640"/>
        </p:xfrm>
        <a:graphic xmlns:a="http://schemas.openxmlformats.org/drawingml/2006/main">
          <a:graphicData uri="http://schemas.openxmlformats.org/drawingml/2006/chart">
            <c:chart xmlns:c="http://schemas.openxmlformats.org/drawingml/2006/chart" r:id="rId4"/>
          </a:graphicData>
        </a:graphic>
      </p:graphicFrame>
      <p:sp>
        <p:nvSpPr>
          <p:cNvPr id="19" name="Shape 13"/>
          <p:cNvSpPr/>
          <p:nvPr/>
        </p:nvSpPr>
        <p:spPr>
          <a:xfrm>
            <a:off x="5029200" y="4617720"/>
            <a:ext cx="1960778" cy="1188720"/>
          </a:xfrm>
          <a:prstGeom prst="roundRect">
            <a:avLst>
              <a:gd name="adj" fmla="val 6923"/>
            </a:avLst>
          </a:prstGeom>
          <a:solidFill>
            <a:srgbClr val="FFFFFF"/>
          </a:solidFill>
          <a:ln w="12700">
            <a:solidFill>
              <a:srgbClr val="E2E6EB"/>
            </a:solidFill>
            <a:prstDash val="solid"/>
          </a:ln>
          <a:effectLst>
            <a:outerShdw sx="100000" sy="100000" kx="0" ky="0" algn="bl" rotWithShape="0" blurRad="101600" dist="25400" dir="5400000">
              <a:srgbClr val="9AA3AD">
                <a:alpha val="30000"/>
              </a:srgbClr>
            </a:outerShdw>
          </a:effectLst>
        </p:spPr>
      </p:sp>
      <p:sp>
        <p:nvSpPr>
          <p:cNvPr id="20" name="Text 14"/>
          <p:cNvSpPr/>
          <p:nvPr/>
        </p:nvSpPr>
        <p:spPr>
          <a:xfrm>
            <a:off x="5120640" y="4818888"/>
            <a:ext cx="1777898" cy="457200"/>
          </a:xfrm>
          <a:prstGeom prst="rect">
            <a:avLst/>
          </a:prstGeom>
          <a:noFill/>
          <a:ln/>
        </p:spPr>
        <p:txBody>
          <a:bodyPr wrap="square" lIns="0" tIns="0" rIns="0" bIns="0" rtlCol="0" anchor="ctr"/>
          <a:lstStyle/>
          <a:p>
            <a:pPr algn="ctr" indent="0" marL="0">
              <a:buNone/>
            </a:pPr>
            <a:r>
              <a:rPr lang="en-US" sz="2000" dirty="0">
                <a:solidFill>
                  <a:srgbClr val="F35B1A"/>
                </a:solidFill>
                <a:latin typeface="Poppins SemiBold" pitchFamily="34" charset="0"/>
                <a:ea typeface="Poppins SemiBold" pitchFamily="34" charset="-122"/>
                <a:cs typeface="Poppins SemiBold" pitchFamily="34" charset="-120"/>
              </a:rPr>
              <a:t>BRL 140 Mn</a:t>
            </a:r>
            <a:endParaRPr lang="en-US" sz="2000" dirty="0"/>
          </a:p>
        </p:txBody>
      </p:sp>
      <p:sp>
        <p:nvSpPr>
          <p:cNvPr id="21" name="Text 15"/>
          <p:cNvSpPr/>
          <p:nvPr/>
        </p:nvSpPr>
        <p:spPr>
          <a:xfrm>
            <a:off x="5166360" y="5294376"/>
            <a:ext cx="1686458" cy="402336"/>
          </a:xfrm>
          <a:prstGeom prst="rect">
            <a:avLst/>
          </a:prstGeom>
          <a:noFill/>
          <a:ln/>
        </p:spPr>
        <p:txBody>
          <a:bodyPr wrap="square" lIns="0" tIns="0" rIns="0" bIns="0" rtlCol="0" anchor="t"/>
          <a:lstStyle/>
          <a:p>
            <a:pPr algn="ctr" indent="0" marL="0">
              <a:lnSpc>
                <a:spcPct val="95000"/>
              </a:lnSpc>
              <a:buNone/>
            </a:pPr>
            <a:r>
              <a:rPr lang="en-US" sz="900" dirty="0">
                <a:solidFill>
                  <a:srgbClr val="6C7683"/>
                </a:solidFill>
                <a:latin typeface="Poppins" pitchFamily="34" charset="0"/>
                <a:ea typeface="Poppins" pitchFamily="34" charset="-122"/>
                <a:cs typeface="Poppins" pitchFamily="34" charset="-120"/>
              </a:rPr>
              <a:t>Net revenues 2025</a:t>
            </a:r>
            <a:endParaRPr lang="en-US" sz="900" dirty="0"/>
          </a:p>
        </p:txBody>
      </p:sp>
      <p:sp>
        <p:nvSpPr>
          <p:cNvPr id="22" name="Shape 16"/>
          <p:cNvSpPr/>
          <p:nvPr/>
        </p:nvSpPr>
        <p:spPr>
          <a:xfrm>
            <a:off x="7264298" y="4617720"/>
            <a:ext cx="1960778" cy="1188720"/>
          </a:xfrm>
          <a:prstGeom prst="roundRect">
            <a:avLst>
              <a:gd name="adj" fmla="val 6923"/>
            </a:avLst>
          </a:prstGeom>
          <a:solidFill>
            <a:srgbClr val="FFFFFF"/>
          </a:solidFill>
          <a:ln w="12700">
            <a:solidFill>
              <a:srgbClr val="E2E6EB"/>
            </a:solidFill>
            <a:prstDash val="solid"/>
          </a:ln>
          <a:effectLst>
            <a:outerShdw sx="100000" sy="100000" kx="0" ky="0" algn="bl" rotWithShape="0" blurRad="101600" dist="25400" dir="5400000">
              <a:srgbClr val="9AA3AD">
                <a:alpha val="30000"/>
              </a:srgbClr>
            </a:outerShdw>
          </a:effectLst>
        </p:spPr>
      </p:sp>
      <p:sp>
        <p:nvSpPr>
          <p:cNvPr id="23" name="Text 17"/>
          <p:cNvSpPr/>
          <p:nvPr/>
        </p:nvSpPr>
        <p:spPr>
          <a:xfrm>
            <a:off x="7355738" y="4818888"/>
            <a:ext cx="1777898" cy="457200"/>
          </a:xfrm>
          <a:prstGeom prst="rect">
            <a:avLst/>
          </a:prstGeom>
          <a:noFill/>
          <a:ln/>
        </p:spPr>
        <p:txBody>
          <a:bodyPr wrap="square" lIns="0" tIns="0" rIns="0" bIns="0" rtlCol="0" anchor="ctr"/>
          <a:lstStyle/>
          <a:p>
            <a:pPr algn="ctr" indent="0" marL="0">
              <a:buNone/>
            </a:pPr>
            <a:r>
              <a:rPr lang="en-US" sz="2000" dirty="0">
                <a:solidFill>
                  <a:srgbClr val="F35B1A"/>
                </a:solidFill>
                <a:latin typeface="Poppins SemiBold" pitchFamily="34" charset="0"/>
                <a:ea typeface="Poppins SemiBold" pitchFamily="34" charset="-122"/>
                <a:cs typeface="Poppins SemiBold" pitchFamily="34" charset="-120"/>
              </a:rPr>
              <a:t>~26%</a:t>
            </a:r>
            <a:endParaRPr lang="en-US" sz="2000" dirty="0"/>
          </a:p>
        </p:txBody>
      </p:sp>
      <p:sp>
        <p:nvSpPr>
          <p:cNvPr id="24" name="Text 18"/>
          <p:cNvSpPr/>
          <p:nvPr/>
        </p:nvSpPr>
        <p:spPr>
          <a:xfrm>
            <a:off x="7401458" y="5294376"/>
            <a:ext cx="1686458" cy="402336"/>
          </a:xfrm>
          <a:prstGeom prst="rect">
            <a:avLst/>
          </a:prstGeom>
          <a:noFill/>
          <a:ln/>
        </p:spPr>
        <p:txBody>
          <a:bodyPr wrap="square" lIns="0" tIns="0" rIns="0" bIns="0" rtlCol="0" anchor="t"/>
          <a:lstStyle/>
          <a:p>
            <a:pPr algn="ctr" indent="0" marL="0">
              <a:lnSpc>
                <a:spcPct val="95000"/>
              </a:lnSpc>
              <a:buNone/>
            </a:pPr>
            <a:r>
              <a:rPr lang="en-US" sz="900" dirty="0">
                <a:solidFill>
                  <a:srgbClr val="6C7683"/>
                </a:solidFill>
                <a:latin typeface="Poppins" pitchFamily="34" charset="0"/>
                <a:ea typeface="Poppins" pitchFamily="34" charset="-122"/>
                <a:cs typeface="Poppins" pitchFamily="34" charset="-120"/>
              </a:rPr>
              <a:t>EBITDA margin 2025</a:t>
            </a:r>
            <a:endParaRPr lang="en-US" sz="900" dirty="0"/>
          </a:p>
        </p:txBody>
      </p:sp>
      <p:sp>
        <p:nvSpPr>
          <p:cNvPr id="25" name="Shape 19"/>
          <p:cNvSpPr/>
          <p:nvPr/>
        </p:nvSpPr>
        <p:spPr>
          <a:xfrm>
            <a:off x="9499397" y="4617720"/>
            <a:ext cx="1960778" cy="1188720"/>
          </a:xfrm>
          <a:prstGeom prst="roundRect">
            <a:avLst>
              <a:gd name="adj" fmla="val 6923"/>
            </a:avLst>
          </a:prstGeom>
          <a:solidFill>
            <a:srgbClr val="FFFFFF"/>
          </a:solidFill>
          <a:ln w="12700">
            <a:solidFill>
              <a:srgbClr val="E2E6EB"/>
            </a:solidFill>
            <a:prstDash val="solid"/>
          </a:ln>
          <a:effectLst>
            <a:outerShdw sx="100000" sy="100000" kx="0" ky="0" algn="bl" rotWithShape="0" blurRad="101600" dist="25400" dir="5400000">
              <a:srgbClr val="9AA3AD">
                <a:alpha val="30000"/>
              </a:srgbClr>
            </a:outerShdw>
          </a:effectLst>
        </p:spPr>
      </p:sp>
      <p:sp>
        <p:nvSpPr>
          <p:cNvPr id="26" name="Text 20"/>
          <p:cNvSpPr/>
          <p:nvPr/>
        </p:nvSpPr>
        <p:spPr>
          <a:xfrm>
            <a:off x="9590837" y="4818888"/>
            <a:ext cx="1777898" cy="457200"/>
          </a:xfrm>
          <a:prstGeom prst="rect">
            <a:avLst/>
          </a:prstGeom>
          <a:noFill/>
          <a:ln/>
        </p:spPr>
        <p:txBody>
          <a:bodyPr wrap="square" lIns="0" tIns="0" rIns="0" bIns="0" rtlCol="0" anchor="ctr"/>
          <a:lstStyle/>
          <a:p>
            <a:pPr algn="ctr" indent="0" marL="0">
              <a:buNone/>
            </a:pPr>
            <a:r>
              <a:rPr lang="en-US" sz="2000" dirty="0">
                <a:solidFill>
                  <a:srgbClr val="F35B1A"/>
                </a:solidFill>
                <a:latin typeface="Poppins SemiBold" pitchFamily="34" charset="0"/>
                <a:ea typeface="Poppins SemiBold" pitchFamily="34" charset="-122"/>
                <a:cs typeface="Poppins SemiBold" pitchFamily="34" charset="-120"/>
              </a:rPr>
              <a:t>10</a:t>
            </a:r>
            <a:endParaRPr lang="en-US" sz="2000" dirty="0"/>
          </a:p>
        </p:txBody>
      </p:sp>
      <p:sp>
        <p:nvSpPr>
          <p:cNvPr id="27" name="Text 21"/>
          <p:cNvSpPr/>
          <p:nvPr/>
        </p:nvSpPr>
        <p:spPr>
          <a:xfrm>
            <a:off x="9636557" y="5294376"/>
            <a:ext cx="1686458" cy="402336"/>
          </a:xfrm>
          <a:prstGeom prst="rect">
            <a:avLst/>
          </a:prstGeom>
          <a:noFill/>
          <a:ln/>
        </p:spPr>
        <p:txBody>
          <a:bodyPr wrap="square" lIns="0" tIns="0" rIns="0" bIns="0" rtlCol="0" anchor="t"/>
          <a:lstStyle/>
          <a:p>
            <a:pPr algn="ctr" indent="0" marL="0">
              <a:lnSpc>
                <a:spcPct val="95000"/>
              </a:lnSpc>
              <a:buNone/>
            </a:pPr>
            <a:r>
              <a:rPr lang="en-US" sz="900" dirty="0">
                <a:solidFill>
                  <a:srgbClr val="6C7683"/>
                </a:solidFill>
                <a:latin typeface="Poppins" pitchFamily="34" charset="0"/>
                <a:ea typeface="Poppins" pitchFamily="34" charset="-122"/>
                <a:cs typeface="Poppins" pitchFamily="34" charset="-120"/>
              </a:rPr>
              <a:t>Operational bases · 3 states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assets/mobi_logo_navy.png">    </p:cNvPr>
          <p:cNvPicPr>
            <a:picLocks noChangeAspect="1"/>
          </p:cNvPicPr>
          <p:nvPr/>
        </p:nvPicPr>
        <p:blipFill>
          <a:blip r:embed="rId1"/>
          <a:stretch>
            <a:fillRect/>
          </a:stretch>
        </p:blipFill>
        <p:spPr>
          <a:xfrm>
            <a:off x="10545775" y="329184"/>
            <a:ext cx="914400" cy="292894"/>
          </a:xfrm>
          <a:prstGeom prst="rect">
            <a:avLst/>
          </a:prstGeom>
        </p:spPr>
      </p:pic>
      <p:sp>
        <p:nvSpPr>
          <p:cNvPr id="3" name="Shape 0"/>
          <p:cNvSpPr/>
          <p:nvPr/>
        </p:nvSpPr>
        <p:spPr>
          <a:xfrm>
            <a:off x="731520" y="329184"/>
            <a:ext cx="1371600" cy="329184"/>
          </a:xfrm>
          <a:prstGeom prst="roundRect">
            <a:avLst>
              <a:gd name="adj" fmla="val 25000"/>
            </a:avLst>
          </a:prstGeom>
          <a:solidFill>
            <a:srgbClr val="FDE9DE"/>
          </a:solidFill>
          <a:ln/>
        </p:spPr>
      </p:sp>
      <p:sp>
        <p:nvSpPr>
          <p:cNvPr id="4" name="Text 1"/>
          <p:cNvSpPr/>
          <p:nvPr/>
        </p:nvSpPr>
        <p:spPr>
          <a:xfrm>
            <a:off x="731520" y="329184"/>
            <a:ext cx="1371600" cy="329184"/>
          </a:xfrm>
          <a:prstGeom prst="rect">
            <a:avLst/>
          </a:prstGeom>
          <a:noFill/>
          <a:ln/>
        </p:spPr>
        <p:txBody>
          <a:bodyPr wrap="square" lIns="0" tIns="0" rIns="0" bIns="0" rtlCol="0" anchor="ctr"/>
          <a:lstStyle/>
          <a:p>
            <a:pPr algn="ctr" indent="0" marL="0">
              <a:buNone/>
            </a:pPr>
            <a:r>
              <a:rPr lang="en-US" sz="900" dirty="0">
                <a:solidFill>
                  <a:srgbClr val="C6470F"/>
                </a:solidFill>
                <a:latin typeface="Poppins Medium" pitchFamily="34" charset="0"/>
                <a:ea typeface="Poppins Medium" pitchFamily="34" charset="-122"/>
                <a:cs typeface="Poppins Medium" pitchFamily="34" charset="-120"/>
              </a:rPr>
              <a:t>Introduction</a:t>
            </a:r>
            <a:endParaRPr lang="en-US" sz="900" dirty="0"/>
          </a:p>
        </p:txBody>
      </p:sp>
      <p:sp>
        <p:nvSpPr>
          <p:cNvPr id="5" name="Text 2"/>
          <p:cNvSpPr/>
          <p:nvPr/>
        </p:nvSpPr>
        <p:spPr>
          <a:xfrm>
            <a:off x="731520" y="731520"/>
            <a:ext cx="10088575" cy="548640"/>
          </a:xfrm>
          <a:prstGeom prst="rect">
            <a:avLst/>
          </a:prstGeom>
          <a:noFill/>
          <a:ln/>
        </p:spPr>
        <p:txBody>
          <a:bodyPr wrap="square" lIns="0" tIns="0" rIns="0" bIns="0" rtlCol="0" anchor="ctr"/>
          <a:lstStyle/>
          <a:p>
            <a:pPr algn="l" indent="0" marL="0">
              <a:buNone/>
            </a:pPr>
            <a:r>
              <a:rPr lang="en-US" sz="1800" dirty="0">
                <a:solidFill>
                  <a:srgbClr val="141A24"/>
                </a:solidFill>
                <a:latin typeface="Poppins SemiBold" pitchFamily="34" charset="0"/>
                <a:ea typeface="Poppins SemiBold" pitchFamily="34" charset="-122"/>
                <a:cs typeface="Poppins SemiBold" pitchFamily="34" charset="-120"/>
              </a:rPr>
              <a:t>Two complementary fronts within one platform</a:t>
            </a:r>
            <a:endParaRPr lang="en-US" sz="1800" dirty="0"/>
          </a:p>
        </p:txBody>
      </p:sp>
      <p:sp>
        <p:nvSpPr>
          <p:cNvPr id="6" name="Text 3"/>
          <p:cNvSpPr/>
          <p:nvPr/>
        </p:nvSpPr>
        <p:spPr>
          <a:xfrm>
            <a:off x="731520" y="1298448"/>
            <a:ext cx="10088575" cy="438912"/>
          </a:xfrm>
          <a:prstGeom prst="rect">
            <a:avLst/>
          </a:prstGeom>
          <a:noFill/>
          <a:ln/>
        </p:spPr>
        <p:txBody>
          <a:bodyPr wrap="square" lIns="0" tIns="0" rIns="0" bIns="0" rtlCol="0" anchor="t"/>
          <a:lstStyle/>
          <a:p>
            <a:pPr algn="l" indent="0" marL="0">
              <a:lnSpc>
                <a:spcPct val="102000"/>
              </a:lnSpc>
              <a:buNone/>
            </a:pPr>
            <a:r>
              <a:rPr lang="en-US" sz="1050" dirty="0">
                <a:solidFill>
                  <a:srgbClr val="6C7683"/>
                </a:solidFill>
                <a:latin typeface="Poppins" pitchFamily="34" charset="0"/>
                <a:ea typeface="Poppins" pitchFamily="34" charset="-122"/>
                <a:cs typeface="Poppins" pitchFamily="34" charset="-120"/>
              </a:rPr>
              <a:t>Mobi combines corporate employee transportation with urban mobility for condominium residents, across two operating entities</a:t>
            </a:r>
            <a:endParaRPr lang="en-US" sz="1050" dirty="0"/>
          </a:p>
        </p:txBody>
      </p:sp>
      <p:sp>
        <p:nvSpPr>
          <p:cNvPr id="7" name="Text 4"/>
          <p:cNvSpPr/>
          <p:nvPr/>
        </p:nvSpPr>
        <p:spPr>
          <a:xfrm>
            <a:off x="731520" y="6309360"/>
            <a:ext cx="10362895" cy="219456"/>
          </a:xfrm>
          <a:prstGeom prst="rect">
            <a:avLst/>
          </a:prstGeom>
          <a:noFill/>
          <a:ln/>
        </p:spPr>
        <p:txBody>
          <a:bodyPr wrap="square" lIns="0" tIns="0" rIns="0" bIns="0" rtlCol="0" anchor="ctr"/>
          <a:lstStyle/>
          <a:p>
            <a:pPr algn="l" indent="0" marL="0">
              <a:buNone/>
            </a:pPr>
            <a:r>
              <a:rPr lang="en-US" sz="700" dirty="0">
                <a:solidFill>
                  <a:srgbClr val="9AA3AD"/>
                </a:solidFill>
                <a:latin typeface="Poppins" pitchFamily="34" charset="0"/>
                <a:ea typeface="Poppins" pitchFamily="34" charset="-122"/>
                <a:cs typeface="Poppins" pitchFamily="34" charset="-120"/>
              </a:rPr>
              <a:t>Source: Company management information. Entity split per 1Q26 gross revenue; growth 1Q26 vs. 1Q25. Segment economics to be confirmed with management.</a:t>
            </a:r>
            <a:endParaRPr lang="en-US" sz="700" dirty="0"/>
          </a:p>
        </p:txBody>
      </p:sp>
      <p:pic>
        <p:nvPicPr>
          <p:cNvPr id="8" name="Image 1" descr="assets/igc_navy.png">    </p:cNvPr>
          <p:cNvPicPr>
            <a:picLocks noChangeAspect="1"/>
          </p:cNvPicPr>
          <p:nvPr/>
        </p:nvPicPr>
        <p:blipFill>
          <a:blip r:embed="rId2"/>
          <a:stretch>
            <a:fillRect/>
          </a:stretch>
        </p:blipFill>
        <p:spPr>
          <a:xfrm>
            <a:off x="731520" y="6492240"/>
            <a:ext cx="292608" cy="252943"/>
          </a:xfrm>
          <a:prstGeom prst="rect">
            <a:avLst/>
          </a:prstGeom>
        </p:spPr>
      </p:pic>
      <p:sp>
        <p:nvSpPr>
          <p:cNvPr id="9" name="Text 5"/>
          <p:cNvSpPr/>
          <p:nvPr/>
        </p:nvSpPr>
        <p:spPr>
          <a:xfrm>
            <a:off x="1115568" y="6510528"/>
            <a:ext cx="2743200" cy="274320"/>
          </a:xfrm>
          <a:prstGeom prst="rect">
            <a:avLst/>
          </a:prstGeom>
          <a:noFill/>
          <a:ln/>
        </p:spPr>
        <p:txBody>
          <a:bodyPr wrap="square" lIns="0" tIns="0" rIns="0" bIns="0" rtlCol="0" anchor="ctr"/>
          <a:lstStyle/>
          <a:p>
            <a:pPr algn="l" indent="0" marL="0">
              <a:buNone/>
            </a:pPr>
            <a:r>
              <a:rPr lang="en-US" sz="900" dirty="0">
                <a:solidFill>
                  <a:srgbClr val="2B333E"/>
                </a:solidFill>
                <a:latin typeface="Poppins Medium" pitchFamily="34" charset="0"/>
                <a:ea typeface="Poppins Medium" pitchFamily="34" charset="-122"/>
                <a:cs typeface="Poppins Medium" pitchFamily="34" charset="-120"/>
              </a:rPr>
              <a:t>6</a:t>
            </a:r>
            <a:pPr algn="l" indent="0" marL="0">
              <a:buNone/>
            </a:pPr>
            <a:r>
              <a:rPr lang="en-US" sz="900" dirty="0">
                <a:solidFill>
                  <a:srgbClr val="9AA3AD"/>
                </a:solidFill>
                <a:latin typeface="Poppins" pitchFamily="34" charset="0"/>
                <a:ea typeface="Poppins" pitchFamily="34" charset="-122"/>
                <a:cs typeface="Poppins" pitchFamily="34" charset="-120"/>
              </a:rPr>
              <a:t>    Confidential</a:t>
            </a:r>
            <a:endParaRPr lang="en-US" sz="900" dirty="0"/>
          </a:p>
        </p:txBody>
      </p:sp>
      <p:sp>
        <p:nvSpPr>
          <p:cNvPr id="10" name="Shape 6"/>
          <p:cNvSpPr/>
          <p:nvPr/>
        </p:nvSpPr>
        <p:spPr>
          <a:xfrm>
            <a:off x="731520" y="1874520"/>
            <a:ext cx="5135728" cy="3017520"/>
          </a:xfrm>
          <a:prstGeom prst="roundRect">
            <a:avLst>
              <a:gd name="adj" fmla="val 3636"/>
            </a:avLst>
          </a:prstGeom>
          <a:solidFill>
            <a:srgbClr val="F4F6F8"/>
          </a:solidFill>
          <a:ln w="12700">
            <a:solidFill>
              <a:srgbClr val="E2E6EB"/>
            </a:solidFill>
            <a:prstDash val="solid"/>
          </a:ln>
        </p:spPr>
      </p:sp>
      <p:sp>
        <p:nvSpPr>
          <p:cNvPr id="11" name="Shape 7"/>
          <p:cNvSpPr/>
          <p:nvPr/>
        </p:nvSpPr>
        <p:spPr>
          <a:xfrm>
            <a:off x="1005840" y="2121408"/>
            <a:ext cx="548640" cy="548640"/>
          </a:xfrm>
          <a:prstGeom prst="ellipse">
            <a:avLst/>
          </a:prstGeom>
          <a:solidFill>
            <a:srgbClr val="FFFFFF"/>
          </a:solidFill>
          <a:ln/>
        </p:spPr>
      </p:sp>
      <p:pic>
        <p:nvPicPr>
          <p:cNvPr id="12" name="Image 2" descr="assets/icons/briefcase_orange.png">    </p:cNvPr>
          <p:cNvPicPr>
            <a:picLocks noChangeAspect="1"/>
          </p:cNvPicPr>
          <p:nvPr/>
        </p:nvPicPr>
        <p:blipFill>
          <a:blip r:embed="rId3"/>
          <a:stretch>
            <a:fillRect/>
          </a:stretch>
        </p:blipFill>
        <p:spPr>
          <a:xfrm>
            <a:off x="1153973" y="2269541"/>
            <a:ext cx="252374" cy="252374"/>
          </a:xfrm>
          <a:prstGeom prst="rect">
            <a:avLst/>
          </a:prstGeom>
        </p:spPr>
      </p:pic>
      <p:sp>
        <p:nvSpPr>
          <p:cNvPr id="13" name="Text 8"/>
          <p:cNvSpPr/>
          <p:nvPr/>
        </p:nvSpPr>
        <p:spPr>
          <a:xfrm>
            <a:off x="1691640" y="2157984"/>
            <a:ext cx="2758288" cy="320040"/>
          </a:xfrm>
          <a:prstGeom prst="rect">
            <a:avLst/>
          </a:prstGeom>
          <a:noFill/>
          <a:ln/>
        </p:spPr>
        <p:txBody>
          <a:bodyPr wrap="square" lIns="0" tIns="0" rIns="0" bIns="0" rtlCol="0" anchor="ctr"/>
          <a:lstStyle/>
          <a:p>
            <a:pPr indent="0" marL="0">
              <a:buNone/>
            </a:pPr>
            <a:r>
              <a:rPr lang="en-US" sz="1400" dirty="0">
                <a:solidFill>
                  <a:srgbClr val="141A24"/>
                </a:solidFill>
                <a:latin typeface="Poppins SemiBold" pitchFamily="34" charset="0"/>
                <a:ea typeface="Poppins SemiBold" pitchFamily="34" charset="-122"/>
                <a:cs typeface="Poppins SemiBold" pitchFamily="34" charset="-120"/>
              </a:rPr>
              <a:t>Corporate transportation</a:t>
            </a:r>
            <a:endParaRPr lang="en-US" sz="1400" dirty="0"/>
          </a:p>
        </p:txBody>
      </p:sp>
      <p:sp>
        <p:nvSpPr>
          <p:cNvPr id="14" name="Shape 9"/>
          <p:cNvSpPr/>
          <p:nvPr/>
        </p:nvSpPr>
        <p:spPr>
          <a:xfrm>
            <a:off x="4449928" y="2157984"/>
            <a:ext cx="1188720" cy="402336"/>
          </a:xfrm>
          <a:prstGeom prst="roundRect">
            <a:avLst>
              <a:gd name="adj" fmla="val 18182"/>
            </a:avLst>
          </a:prstGeom>
          <a:solidFill>
            <a:srgbClr val="FFFFFF"/>
          </a:solidFill>
          <a:ln w="12700">
            <a:solidFill>
              <a:srgbClr val="E2E6EB"/>
            </a:solidFill>
            <a:prstDash val="solid"/>
          </a:ln>
        </p:spPr>
      </p:sp>
      <p:sp>
        <p:nvSpPr>
          <p:cNvPr id="15" name="Text 10"/>
          <p:cNvSpPr/>
          <p:nvPr/>
        </p:nvSpPr>
        <p:spPr>
          <a:xfrm>
            <a:off x="4449928" y="2157984"/>
            <a:ext cx="1188720" cy="402336"/>
          </a:xfrm>
          <a:prstGeom prst="rect">
            <a:avLst/>
          </a:prstGeom>
          <a:noFill/>
          <a:ln/>
        </p:spPr>
        <p:txBody>
          <a:bodyPr wrap="square" lIns="0" tIns="0" rIns="0" bIns="0" rtlCol="0" anchor="ctr"/>
          <a:lstStyle/>
          <a:p>
            <a:pPr algn="ctr" indent="0" marL="0">
              <a:buNone/>
            </a:pPr>
            <a:r>
              <a:rPr lang="en-US" sz="1200" dirty="0">
                <a:solidFill>
                  <a:srgbClr val="F35B1A"/>
                </a:solidFill>
                <a:latin typeface="Poppins SemiBold" pitchFamily="34" charset="0"/>
                <a:ea typeface="Poppins SemiBold" pitchFamily="34" charset="-122"/>
                <a:cs typeface="Poppins SemiBold" pitchFamily="34" charset="-120"/>
              </a:rPr>
              <a:t>83%</a:t>
            </a:r>
            <a:pPr algn="ctr" indent="0" marL="0">
              <a:buNone/>
            </a:pPr>
            <a:r>
              <a:rPr lang="en-US" sz="800" dirty="0">
                <a:solidFill>
                  <a:srgbClr val="6C7683"/>
                </a:solidFill>
                <a:latin typeface="Poppins" pitchFamily="34" charset="0"/>
                <a:ea typeface="Poppins" pitchFamily="34" charset="-122"/>
                <a:cs typeface="Poppins" pitchFamily="34" charset="-120"/>
              </a:rPr>
              <a:t> of 1Q26</a:t>
            </a:r>
            <a:endParaRPr lang="en-US" sz="1200" dirty="0"/>
          </a:p>
        </p:txBody>
      </p:sp>
      <p:sp>
        <p:nvSpPr>
          <p:cNvPr id="16" name="Shape 11"/>
          <p:cNvSpPr/>
          <p:nvPr/>
        </p:nvSpPr>
        <p:spPr>
          <a:xfrm rot="5400000">
            <a:off x="1042416" y="2889504"/>
            <a:ext cx="146304" cy="146304"/>
          </a:xfrm>
          <a:prstGeom prst="triangle">
            <a:avLst/>
          </a:prstGeom>
          <a:solidFill>
            <a:srgbClr val="F35B1A"/>
          </a:solidFill>
          <a:ln/>
        </p:spPr>
      </p:sp>
      <p:sp>
        <p:nvSpPr>
          <p:cNvPr id="17" name="Text 12"/>
          <p:cNvSpPr/>
          <p:nvPr/>
        </p:nvSpPr>
        <p:spPr>
          <a:xfrm>
            <a:off x="1298448" y="2798064"/>
            <a:ext cx="4267048" cy="621792"/>
          </a:xfrm>
          <a:prstGeom prst="rect">
            <a:avLst/>
          </a:prstGeom>
          <a:noFill/>
          <a:ln/>
        </p:spPr>
        <p:txBody>
          <a:bodyPr wrap="square" lIns="0" tIns="0" rIns="0" bIns="0" rtlCol="0" anchor="t"/>
          <a:lstStyle/>
          <a:p>
            <a:pPr indent="0" marL="0">
              <a:lnSpc>
                <a:spcPct val="100000"/>
              </a:lnSpc>
              <a:buNone/>
            </a:pPr>
            <a:r>
              <a:rPr lang="en-US" sz="900" dirty="0">
                <a:solidFill>
                  <a:srgbClr val="2B333E"/>
                </a:solidFill>
                <a:latin typeface="Poppins" pitchFamily="34" charset="0"/>
                <a:ea typeface="Poppins" pitchFamily="34" charset="-122"/>
                <a:cs typeface="Poppins" pitchFamily="34" charset="-120"/>
              </a:rPr>
              <a:t>Route-optimized employee transportation (fretamento) for industrial, agribusiness and consumer-goods clients</a:t>
            </a:r>
            <a:endParaRPr lang="en-US" sz="900" dirty="0"/>
          </a:p>
        </p:txBody>
      </p:sp>
      <p:sp>
        <p:nvSpPr>
          <p:cNvPr id="18" name="Shape 13"/>
          <p:cNvSpPr/>
          <p:nvPr/>
        </p:nvSpPr>
        <p:spPr>
          <a:xfrm rot="5400000">
            <a:off x="1042416" y="3547872"/>
            <a:ext cx="146304" cy="146304"/>
          </a:xfrm>
          <a:prstGeom prst="triangle">
            <a:avLst/>
          </a:prstGeom>
          <a:solidFill>
            <a:srgbClr val="F35B1A"/>
          </a:solidFill>
          <a:ln/>
        </p:spPr>
      </p:sp>
      <p:sp>
        <p:nvSpPr>
          <p:cNvPr id="19" name="Text 14"/>
          <p:cNvSpPr/>
          <p:nvPr/>
        </p:nvSpPr>
        <p:spPr>
          <a:xfrm>
            <a:off x="1298448" y="3456432"/>
            <a:ext cx="4267048" cy="621792"/>
          </a:xfrm>
          <a:prstGeom prst="rect">
            <a:avLst/>
          </a:prstGeom>
          <a:noFill/>
          <a:ln/>
        </p:spPr>
        <p:txBody>
          <a:bodyPr wrap="square" lIns="0" tIns="0" rIns="0" bIns="0" rtlCol="0" anchor="t"/>
          <a:lstStyle/>
          <a:p>
            <a:pPr indent="0" marL="0">
              <a:lnSpc>
                <a:spcPct val="100000"/>
              </a:lnSpc>
              <a:buNone/>
            </a:pPr>
            <a:r>
              <a:rPr lang="en-US" sz="900" dirty="0">
                <a:solidFill>
                  <a:srgbClr val="2B333E"/>
                </a:solidFill>
                <a:latin typeface="Poppins" pitchFamily="34" charset="0"/>
                <a:ea typeface="Poppins" pitchFamily="34" charset="-122"/>
                <a:cs typeface="Poppins" pitchFamily="34" charset="-120"/>
              </a:rPr>
              <a:t>Long-term contracts (3–5 years) with IPCA, CBA and diesel pass-through adjustment mechanisms</a:t>
            </a:r>
            <a:endParaRPr lang="en-US" sz="900" dirty="0"/>
          </a:p>
        </p:txBody>
      </p:sp>
      <p:sp>
        <p:nvSpPr>
          <p:cNvPr id="20" name="Shape 15"/>
          <p:cNvSpPr/>
          <p:nvPr/>
        </p:nvSpPr>
        <p:spPr>
          <a:xfrm rot="5400000">
            <a:off x="1042416" y="4206240"/>
            <a:ext cx="146304" cy="146304"/>
          </a:xfrm>
          <a:prstGeom prst="triangle">
            <a:avLst/>
          </a:prstGeom>
          <a:solidFill>
            <a:srgbClr val="F35B1A"/>
          </a:solidFill>
          <a:ln/>
        </p:spPr>
      </p:sp>
      <p:sp>
        <p:nvSpPr>
          <p:cNvPr id="21" name="Text 16"/>
          <p:cNvSpPr/>
          <p:nvPr/>
        </p:nvSpPr>
        <p:spPr>
          <a:xfrm>
            <a:off x="1298448" y="4114800"/>
            <a:ext cx="4267048" cy="621792"/>
          </a:xfrm>
          <a:prstGeom prst="rect">
            <a:avLst/>
          </a:prstGeom>
          <a:noFill/>
          <a:ln/>
        </p:spPr>
        <p:txBody>
          <a:bodyPr wrap="square" lIns="0" tIns="0" rIns="0" bIns="0" rtlCol="0" anchor="t"/>
          <a:lstStyle/>
          <a:p>
            <a:pPr indent="0" marL="0">
              <a:lnSpc>
                <a:spcPct val="100000"/>
              </a:lnSpc>
              <a:buNone/>
            </a:pPr>
            <a:r>
              <a:rPr lang="en-US" sz="900" dirty="0">
                <a:solidFill>
                  <a:srgbClr val="2B333E"/>
                </a:solidFill>
                <a:latin typeface="Poppins" pitchFamily="34" charset="0"/>
                <a:ea typeface="Poppins" pitchFamily="34" charset="-122"/>
                <a:cs typeface="Poppins" pitchFamily="34" charset="-120"/>
              </a:rPr>
              <a:t>Blue-chip portfolio including Heineken, Roche, Kraft Heinz and Cargill</a:t>
            </a:r>
            <a:endParaRPr lang="en-US" sz="900" dirty="0"/>
          </a:p>
        </p:txBody>
      </p:sp>
      <p:sp>
        <p:nvSpPr>
          <p:cNvPr id="22" name="Shape 17"/>
          <p:cNvSpPr/>
          <p:nvPr/>
        </p:nvSpPr>
        <p:spPr>
          <a:xfrm>
            <a:off x="6324448" y="1874520"/>
            <a:ext cx="5135728" cy="3017520"/>
          </a:xfrm>
          <a:prstGeom prst="roundRect">
            <a:avLst>
              <a:gd name="adj" fmla="val 3636"/>
            </a:avLst>
          </a:prstGeom>
          <a:solidFill>
            <a:srgbClr val="FDE9DE"/>
          </a:solidFill>
          <a:ln/>
        </p:spPr>
      </p:sp>
      <p:sp>
        <p:nvSpPr>
          <p:cNvPr id="23" name="Shape 18"/>
          <p:cNvSpPr/>
          <p:nvPr/>
        </p:nvSpPr>
        <p:spPr>
          <a:xfrm>
            <a:off x="6598768" y="2121408"/>
            <a:ext cx="548640" cy="548640"/>
          </a:xfrm>
          <a:prstGeom prst="ellipse">
            <a:avLst/>
          </a:prstGeom>
          <a:solidFill>
            <a:srgbClr val="FFFFFF"/>
          </a:solidFill>
          <a:ln/>
        </p:spPr>
      </p:sp>
      <p:pic>
        <p:nvPicPr>
          <p:cNvPr id="24" name="Image 3" descr="assets/icons/home_orange.png">    </p:cNvPr>
          <p:cNvPicPr>
            <a:picLocks noChangeAspect="1"/>
          </p:cNvPicPr>
          <p:nvPr/>
        </p:nvPicPr>
        <p:blipFill>
          <a:blip r:embed="rId4"/>
          <a:stretch>
            <a:fillRect/>
          </a:stretch>
        </p:blipFill>
        <p:spPr>
          <a:xfrm>
            <a:off x="6746900" y="2269541"/>
            <a:ext cx="252374" cy="252374"/>
          </a:xfrm>
          <a:prstGeom prst="rect">
            <a:avLst/>
          </a:prstGeom>
        </p:spPr>
      </p:pic>
      <p:sp>
        <p:nvSpPr>
          <p:cNvPr id="25" name="Text 19"/>
          <p:cNvSpPr/>
          <p:nvPr/>
        </p:nvSpPr>
        <p:spPr>
          <a:xfrm>
            <a:off x="7284568" y="2157984"/>
            <a:ext cx="2483968" cy="320040"/>
          </a:xfrm>
          <a:prstGeom prst="rect">
            <a:avLst/>
          </a:prstGeom>
          <a:noFill/>
          <a:ln/>
        </p:spPr>
        <p:txBody>
          <a:bodyPr wrap="square" lIns="0" tIns="0" rIns="0" bIns="0" rtlCol="0" anchor="ctr"/>
          <a:lstStyle/>
          <a:p>
            <a:pPr indent="0" marL="0">
              <a:buNone/>
            </a:pPr>
            <a:r>
              <a:rPr lang="en-US" sz="1400" dirty="0">
                <a:solidFill>
                  <a:srgbClr val="141A24"/>
                </a:solidFill>
                <a:latin typeface="Poppins SemiBold" pitchFamily="34" charset="0"/>
                <a:ea typeface="Poppins SemiBold" pitchFamily="34" charset="-122"/>
                <a:cs typeface="Poppins SemiBold" pitchFamily="34" charset="-120"/>
              </a:rPr>
              <a:t>Condominium &amp; urban mobility</a:t>
            </a:r>
            <a:endParaRPr lang="en-US" sz="1400" dirty="0"/>
          </a:p>
        </p:txBody>
      </p:sp>
      <p:sp>
        <p:nvSpPr>
          <p:cNvPr id="26" name="Shape 20"/>
          <p:cNvSpPr/>
          <p:nvPr/>
        </p:nvSpPr>
        <p:spPr>
          <a:xfrm>
            <a:off x="10042855" y="2157984"/>
            <a:ext cx="1188720" cy="402336"/>
          </a:xfrm>
          <a:prstGeom prst="roundRect">
            <a:avLst>
              <a:gd name="adj" fmla="val 18182"/>
            </a:avLst>
          </a:prstGeom>
          <a:solidFill>
            <a:srgbClr val="FFFFFF"/>
          </a:solidFill>
          <a:ln/>
        </p:spPr>
      </p:sp>
      <p:sp>
        <p:nvSpPr>
          <p:cNvPr id="27" name="Text 21"/>
          <p:cNvSpPr/>
          <p:nvPr/>
        </p:nvSpPr>
        <p:spPr>
          <a:xfrm>
            <a:off x="10042855" y="2157984"/>
            <a:ext cx="1188720" cy="402336"/>
          </a:xfrm>
          <a:prstGeom prst="rect">
            <a:avLst/>
          </a:prstGeom>
          <a:noFill/>
          <a:ln/>
        </p:spPr>
        <p:txBody>
          <a:bodyPr wrap="square" lIns="0" tIns="0" rIns="0" bIns="0" rtlCol="0" anchor="ctr"/>
          <a:lstStyle/>
          <a:p>
            <a:pPr algn="ctr" indent="0" marL="0">
              <a:buNone/>
            </a:pPr>
            <a:r>
              <a:rPr lang="en-US" sz="1200" dirty="0">
                <a:solidFill>
                  <a:srgbClr val="F35B1A"/>
                </a:solidFill>
                <a:latin typeface="Poppins SemiBold" pitchFamily="34" charset="0"/>
                <a:ea typeface="Poppins SemiBold" pitchFamily="34" charset="-122"/>
                <a:cs typeface="Poppins SemiBold" pitchFamily="34" charset="-120"/>
              </a:rPr>
              <a:t>17%</a:t>
            </a:r>
            <a:pPr algn="ctr" indent="0" marL="0">
              <a:buNone/>
            </a:pPr>
            <a:r>
              <a:rPr lang="en-US" sz="800" dirty="0">
                <a:solidFill>
                  <a:srgbClr val="6C7683"/>
                </a:solidFill>
                <a:latin typeface="Poppins" pitchFamily="34" charset="0"/>
                <a:ea typeface="Poppins" pitchFamily="34" charset="-122"/>
                <a:cs typeface="Poppins" pitchFamily="34" charset="-120"/>
              </a:rPr>
              <a:t> of 1Q26</a:t>
            </a:r>
            <a:endParaRPr lang="en-US" sz="1200" dirty="0"/>
          </a:p>
        </p:txBody>
      </p:sp>
      <p:sp>
        <p:nvSpPr>
          <p:cNvPr id="28" name="Shape 22"/>
          <p:cNvSpPr/>
          <p:nvPr/>
        </p:nvSpPr>
        <p:spPr>
          <a:xfrm rot="5400000">
            <a:off x="6635344" y="2889504"/>
            <a:ext cx="146304" cy="146304"/>
          </a:xfrm>
          <a:prstGeom prst="triangle">
            <a:avLst/>
          </a:prstGeom>
          <a:solidFill>
            <a:srgbClr val="F35B1A"/>
          </a:solidFill>
          <a:ln/>
        </p:spPr>
      </p:sp>
      <p:sp>
        <p:nvSpPr>
          <p:cNvPr id="29" name="Text 23"/>
          <p:cNvSpPr/>
          <p:nvPr/>
        </p:nvSpPr>
        <p:spPr>
          <a:xfrm>
            <a:off x="6891376" y="2798064"/>
            <a:ext cx="4267048" cy="621792"/>
          </a:xfrm>
          <a:prstGeom prst="rect">
            <a:avLst/>
          </a:prstGeom>
          <a:noFill/>
          <a:ln/>
        </p:spPr>
        <p:txBody>
          <a:bodyPr wrap="square" lIns="0" tIns="0" rIns="0" bIns="0" rtlCol="0" anchor="t"/>
          <a:lstStyle/>
          <a:p>
            <a:pPr indent="0" marL="0">
              <a:lnSpc>
                <a:spcPct val="100000"/>
              </a:lnSpc>
              <a:buNone/>
            </a:pPr>
            <a:r>
              <a:rPr lang="en-US" sz="900" dirty="0">
                <a:solidFill>
                  <a:srgbClr val="2B333E"/>
                </a:solidFill>
                <a:latin typeface="Poppins" pitchFamily="34" charset="0"/>
                <a:ea typeface="Poppins" pitchFamily="34" charset="-122"/>
                <a:cs typeface="Poppins" pitchFamily="34" charset="-120"/>
              </a:rPr>
              <a:t>Route-optimized transportation for residents of condominiums, extending the platform beyond the corporate segment</a:t>
            </a:r>
            <a:endParaRPr lang="en-US" sz="900" dirty="0"/>
          </a:p>
        </p:txBody>
      </p:sp>
      <p:sp>
        <p:nvSpPr>
          <p:cNvPr id="30" name="Shape 24"/>
          <p:cNvSpPr/>
          <p:nvPr/>
        </p:nvSpPr>
        <p:spPr>
          <a:xfrm rot="5400000">
            <a:off x="6635344" y="3547872"/>
            <a:ext cx="146304" cy="146304"/>
          </a:xfrm>
          <a:prstGeom prst="triangle">
            <a:avLst/>
          </a:prstGeom>
          <a:solidFill>
            <a:srgbClr val="F35B1A"/>
          </a:solidFill>
          <a:ln/>
        </p:spPr>
      </p:sp>
      <p:sp>
        <p:nvSpPr>
          <p:cNvPr id="31" name="Text 25"/>
          <p:cNvSpPr/>
          <p:nvPr/>
        </p:nvSpPr>
        <p:spPr>
          <a:xfrm>
            <a:off x="6891376" y="3456432"/>
            <a:ext cx="4267048" cy="621792"/>
          </a:xfrm>
          <a:prstGeom prst="rect">
            <a:avLst/>
          </a:prstGeom>
          <a:noFill/>
          <a:ln/>
        </p:spPr>
        <p:txBody>
          <a:bodyPr wrap="square" lIns="0" tIns="0" rIns="0" bIns="0" rtlCol="0" anchor="t"/>
          <a:lstStyle/>
          <a:p>
            <a:pPr indent="0" marL="0">
              <a:lnSpc>
                <a:spcPct val="100000"/>
              </a:lnSpc>
              <a:buNone/>
            </a:pPr>
            <a:r>
              <a:rPr lang="en-US" sz="900" dirty="0">
                <a:solidFill>
                  <a:srgbClr val="2B333E"/>
                </a:solidFill>
                <a:latin typeface="Poppins" pitchFamily="34" charset="0"/>
                <a:ea typeface="Poppins" pitchFamily="34" charset="-122"/>
                <a:cs typeface="Poppins" pitchFamily="34" charset="-120"/>
              </a:rPr>
              <a:t>Operated through AGM Alpha (Matriz Brasília), leveraging the same fleet, monitoring and operating standards</a:t>
            </a:r>
            <a:endParaRPr lang="en-US" sz="900" dirty="0"/>
          </a:p>
        </p:txBody>
      </p:sp>
      <p:sp>
        <p:nvSpPr>
          <p:cNvPr id="32" name="Shape 26"/>
          <p:cNvSpPr/>
          <p:nvPr/>
        </p:nvSpPr>
        <p:spPr>
          <a:xfrm rot="5400000">
            <a:off x="6635344" y="4206240"/>
            <a:ext cx="146304" cy="146304"/>
          </a:xfrm>
          <a:prstGeom prst="triangle">
            <a:avLst/>
          </a:prstGeom>
          <a:solidFill>
            <a:srgbClr val="F35B1A"/>
          </a:solidFill>
          <a:ln/>
        </p:spPr>
      </p:sp>
      <p:sp>
        <p:nvSpPr>
          <p:cNvPr id="33" name="Text 27"/>
          <p:cNvSpPr/>
          <p:nvPr/>
        </p:nvSpPr>
        <p:spPr>
          <a:xfrm>
            <a:off x="6891376" y="4114800"/>
            <a:ext cx="4267048" cy="621792"/>
          </a:xfrm>
          <a:prstGeom prst="rect">
            <a:avLst/>
          </a:prstGeom>
          <a:noFill/>
          <a:ln/>
        </p:spPr>
        <p:txBody>
          <a:bodyPr wrap="square" lIns="0" tIns="0" rIns="0" bIns="0" rtlCol="0" anchor="t"/>
          <a:lstStyle/>
          <a:p>
            <a:pPr indent="0" marL="0">
              <a:lnSpc>
                <a:spcPct val="100000"/>
              </a:lnSpc>
              <a:buNone/>
            </a:pPr>
            <a:r>
              <a:rPr lang="en-US" sz="900" dirty="0">
                <a:solidFill>
                  <a:srgbClr val="2B333E"/>
                </a:solidFill>
                <a:latin typeface="Poppins" pitchFamily="34" charset="0"/>
                <a:ea typeface="Poppins" pitchFamily="34" charset="-122"/>
                <a:cs typeface="Poppins" pitchFamily="34" charset="-120"/>
              </a:rPr>
              <a:t>Fastest-growing front: +74% gross revenue growth in 1Q26 (YoY)</a:t>
            </a:r>
            <a:endParaRPr lang="en-US" sz="900" dirty="0"/>
          </a:p>
        </p:txBody>
      </p:sp>
      <p:sp>
        <p:nvSpPr>
          <p:cNvPr id="34" name="Shape 28"/>
          <p:cNvSpPr/>
          <p:nvPr/>
        </p:nvSpPr>
        <p:spPr>
          <a:xfrm>
            <a:off x="731520" y="5074920"/>
            <a:ext cx="5135728" cy="777240"/>
          </a:xfrm>
          <a:prstGeom prst="roundRect">
            <a:avLst>
              <a:gd name="adj" fmla="val 11765"/>
            </a:avLst>
          </a:prstGeom>
          <a:solidFill>
            <a:srgbClr val="141A24"/>
          </a:solidFill>
          <a:ln/>
        </p:spPr>
      </p:sp>
      <p:sp>
        <p:nvSpPr>
          <p:cNvPr id="35" name="Text 29"/>
          <p:cNvSpPr/>
          <p:nvPr/>
        </p:nvSpPr>
        <p:spPr>
          <a:xfrm>
            <a:off x="960120" y="5074920"/>
            <a:ext cx="4678528" cy="777240"/>
          </a:xfrm>
          <a:prstGeom prst="rect">
            <a:avLst/>
          </a:prstGeom>
          <a:noFill/>
          <a:ln/>
        </p:spPr>
        <p:txBody>
          <a:bodyPr wrap="square" lIns="0" tIns="0" rIns="0" bIns="0" rtlCol="0" anchor="ctr"/>
          <a:lstStyle/>
          <a:p>
            <a:pPr algn="ctr" indent="0" marL="0">
              <a:buNone/>
            </a:pPr>
            <a:r>
              <a:rPr lang="en-US" sz="1200" dirty="0">
                <a:solidFill>
                  <a:srgbClr val="FFFFFF"/>
                </a:solidFill>
                <a:latin typeface="Poppins SemiBold" pitchFamily="34" charset="0"/>
                <a:ea typeface="Poppins SemiBold" pitchFamily="34" charset="-122"/>
                <a:cs typeface="Poppins SemiBold" pitchFamily="34" charset="-120"/>
              </a:rPr>
              <a:t>AGM Caetano   </a:t>
            </a:r>
            <a:pPr algn="ctr" indent="0" marL="0">
              <a:buNone/>
            </a:pPr>
            <a:r>
              <a:rPr lang="en-US" sz="1400" dirty="0">
                <a:solidFill>
                  <a:srgbClr val="F35B1A"/>
                </a:solidFill>
                <a:latin typeface="Poppins SemiBold" pitchFamily="34" charset="0"/>
                <a:ea typeface="Poppins SemiBold" pitchFamily="34" charset="-122"/>
                <a:cs typeface="Poppins SemiBold" pitchFamily="34" charset="-120"/>
              </a:rPr>
              <a:t>BRL 36.2 Mn</a:t>
            </a:r>
            <a:pPr algn="ctr" indent="0" marL="0">
              <a:buNone/>
            </a:pPr>
            <a:r>
              <a:rPr lang="en-US" sz="900" dirty="0">
                <a:solidFill>
                  <a:srgbClr val="AEB6C2"/>
                </a:solidFill>
                <a:latin typeface="Poppins" pitchFamily="34" charset="0"/>
                <a:ea typeface="Poppins" pitchFamily="34" charset="-122"/>
                <a:cs typeface="Poppins" pitchFamily="34" charset="-120"/>
              </a:rPr>
              <a:t>  1Q26 gross revenue   ·   </a:t>
            </a:r>
            <a:pPr algn="ctr" indent="0" marL="0">
              <a:buNone/>
            </a:pPr>
            <a:r>
              <a:rPr lang="en-US" sz="1100" dirty="0">
                <a:solidFill>
                  <a:srgbClr val="FFFFFF"/>
                </a:solidFill>
                <a:latin typeface="Poppins SemiBold" pitchFamily="34" charset="0"/>
                <a:ea typeface="Poppins SemiBold" pitchFamily="34" charset="-122"/>
                <a:cs typeface="Poppins SemiBold" pitchFamily="34" charset="-120"/>
              </a:rPr>
              <a:t>+36% YoY</a:t>
            </a:r>
            <a:endParaRPr lang="en-US" sz="1200" dirty="0"/>
          </a:p>
        </p:txBody>
      </p:sp>
      <p:sp>
        <p:nvSpPr>
          <p:cNvPr id="36" name="Shape 30"/>
          <p:cNvSpPr/>
          <p:nvPr/>
        </p:nvSpPr>
        <p:spPr>
          <a:xfrm>
            <a:off x="6324448" y="5074920"/>
            <a:ext cx="5135728" cy="777240"/>
          </a:xfrm>
          <a:prstGeom prst="roundRect">
            <a:avLst>
              <a:gd name="adj" fmla="val 11765"/>
            </a:avLst>
          </a:prstGeom>
          <a:solidFill>
            <a:srgbClr val="F35B1A"/>
          </a:solidFill>
          <a:ln/>
        </p:spPr>
      </p:sp>
      <p:sp>
        <p:nvSpPr>
          <p:cNvPr id="37" name="Text 31"/>
          <p:cNvSpPr/>
          <p:nvPr/>
        </p:nvSpPr>
        <p:spPr>
          <a:xfrm>
            <a:off x="6553048" y="5074920"/>
            <a:ext cx="4678528" cy="777240"/>
          </a:xfrm>
          <a:prstGeom prst="rect">
            <a:avLst/>
          </a:prstGeom>
          <a:noFill/>
          <a:ln/>
        </p:spPr>
        <p:txBody>
          <a:bodyPr wrap="square" lIns="0" tIns="0" rIns="0" bIns="0" rtlCol="0" anchor="ctr"/>
          <a:lstStyle/>
          <a:p>
            <a:pPr algn="ctr" indent="0" marL="0">
              <a:buNone/>
            </a:pPr>
            <a:r>
              <a:rPr lang="en-US" sz="1200" dirty="0">
                <a:solidFill>
                  <a:srgbClr val="FFFFFF"/>
                </a:solidFill>
                <a:latin typeface="Poppins SemiBold" pitchFamily="34" charset="0"/>
                <a:ea typeface="Poppins SemiBold" pitchFamily="34" charset="-122"/>
                <a:cs typeface="Poppins SemiBold" pitchFamily="34" charset="-120"/>
              </a:rPr>
              <a:t>AGM Alpha   </a:t>
            </a:r>
            <a:pPr algn="ctr" indent="0" marL="0">
              <a:buNone/>
            </a:pPr>
            <a:r>
              <a:rPr lang="en-US" sz="1400" dirty="0">
                <a:solidFill>
                  <a:srgbClr val="141A24"/>
                </a:solidFill>
                <a:latin typeface="Poppins SemiBold" pitchFamily="34" charset="0"/>
                <a:ea typeface="Poppins SemiBold" pitchFamily="34" charset="-122"/>
                <a:cs typeface="Poppins SemiBold" pitchFamily="34" charset="-120"/>
              </a:rPr>
              <a:t>BRL 7.3 Mn</a:t>
            </a:r>
            <a:pPr algn="ctr" indent="0" marL="0">
              <a:buNone/>
            </a:pPr>
            <a:r>
              <a:rPr lang="en-US" sz="900" dirty="0">
                <a:solidFill>
                  <a:srgbClr val="FBD9C6"/>
                </a:solidFill>
                <a:latin typeface="Poppins" pitchFamily="34" charset="0"/>
                <a:ea typeface="Poppins" pitchFamily="34" charset="-122"/>
                <a:cs typeface="Poppins" pitchFamily="34" charset="-120"/>
              </a:rPr>
              <a:t>  1Q26 gross revenue   ·   </a:t>
            </a:r>
            <a:pPr algn="ctr" indent="0" marL="0">
              <a:buNone/>
            </a:pPr>
            <a:r>
              <a:rPr lang="en-US" sz="1100" dirty="0">
                <a:solidFill>
                  <a:srgbClr val="FFFFFF"/>
                </a:solidFill>
                <a:latin typeface="Poppins SemiBold" pitchFamily="34" charset="0"/>
                <a:ea typeface="Poppins SemiBold" pitchFamily="34" charset="-122"/>
                <a:cs typeface="Poppins SemiBold" pitchFamily="34" charset="-120"/>
              </a:rPr>
              <a:t>+74% YoY</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A24"/>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41A24"/>
          </a:solidFill>
          <a:ln/>
        </p:spPr>
      </p:sp>
      <p:pic>
        <p:nvPicPr>
          <p:cNvPr id="3" name="Image 0" descr="assets/cover_buses.jpeg">    </p:cNvPr>
          <p:cNvPicPr>
            <a:picLocks noChangeAspect="1"/>
          </p:cNvPicPr>
          <p:nvPr/>
        </p:nvPicPr>
        <p:blipFill>
          <a:blip r:embed="rId1"/>
          <a:srcRect l="0" r="0" t="0" b="0"/>
          <a:stretch/>
        </p:blipFill>
        <p:spPr>
          <a:xfrm>
            <a:off x="6949440" y="868680"/>
            <a:ext cx="5242255" cy="4206240"/>
          </a:xfrm>
          <a:prstGeom prst="rect">
            <a:avLst/>
          </a:prstGeom>
        </p:spPr>
      </p:pic>
      <p:sp>
        <p:nvSpPr>
          <p:cNvPr id="4" name="Shape 1"/>
          <p:cNvSpPr/>
          <p:nvPr/>
        </p:nvSpPr>
        <p:spPr>
          <a:xfrm>
            <a:off x="6949440" y="868680"/>
            <a:ext cx="5242255" cy="4206240"/>
          </a:xfrm>
          <a:prstGeom prst="rect">
            <a:avLst/>
          </a:prstGeom>
          <a:solidFill>
            <a:srgbClr val="141A24">
              <a:alpha val="26000"/>
            </a:srgbClr>
          </a:solidFill>
          <a:ln/>
        </p:spPr>
      </p:sp>
      <p:pic>
        <p:nvPicPr>
          <p:cNvPr id="5" name="Image 1" descr="assets/stripes_orange.png">    </p:cNvPr>
          <p:cNvPicPr>
            <a:picLocks noChangeAspect="1"/>
          </p:cNvPicPr>
          <p:nvPr/>
        </p:nvPicPr>
        <p:blipFill>
          <a:blip r:embed="rId2">
            <a:alphaModFix amt="55000"/>
          </a:blip>
          <a:stretch>
            <a:fillRect/>
          </a:stretch>
        </p:blipFill>
        <p:spPr>
          <a:xfrm>
            <a:off x="-822960" y="4846320"/>
            <a:ext cx="2011680" cy="2011680"/>
          </a:xfrm>
          <a:prstGeom prst="rect">
            <a:avLst/>
          </a:prstGeom>
        </p:spPr>
      </p:pic>
      <p:sp>
        <p:nvSpPr>
          <p:cNvPr id="6" name="Text 2"/>
          <p:cNvSpPr/>
          <p:nvPr/>
        </p:nvSpPr>
        <p:spPr>
          <a:xfrm>
            <a:off x="731520" y="914400"/>
            <a:ext cx="5486400" cy="685800"/>
          </a:xfrm>
          <a:prstGeom prst="rect">
            <a:avLst/>
          </a:prstGeom>
          <a:noFill/>
          <a:ln/>
        </p:spPr>
        <p:txBody>
          <a:bodyPr wrap="square" lIns="0" tIns="0" rIns="0" bIns="0" rtlCol="0" anchor="ctr"/>
          <a:lstStyle/>
          <a:p>
            <a:pPr indent="0" marL="0">
              <a:buNone/>
            </a:pPr>
            <a:r>
              <a:rPr lang="en-US" sz="3200" dirty="0">
                <a:solidFill>
                  <a:srgbClr val="FFFFFF"/>
                </a:solidFill>
                <a:latin typeface="Poppins SemiBold" pitchFamily="34" charset="0"/>
                <a:ea typeface="Poppins SemiBold" pitchFamily="34" charset="-122"/>
                <a:cs typeface="Poppins SemiBold" pitchFamily="34" charset="-120"/>
              </a:rPr>
              <a:t>Executive</a:t>
            </a:r>
            <a:endParaRPr lang="en-US" sz="3200" dirty="0"/>
          </a:p>
        </p:txBody>
      </p:sp>
      <p:sp>
        <p:nvSpPr>
          <p:cNvPr id="7" name="Text 3"/>
          <p:cNvSpPr/>
          <p:nvPr/>
        </p:nvSpPr>
        <p:spPr>
          <a:xfrm>
            <a:off x="731520" y="1572768"/>
            <a:ext cx="5486400" cy="685800"/>
          </a:xfrm>
          <a:prstGeom prst="rect">
            <a:avLst/>
          </a:prstGeom>
          <a:noFill/>
          <a:ln/>
        </p:spPr>
        <p:txBody>
          <a:bodyPr wrap="square" lIns="0" tIns="0" rIns="0" bIns="0" rtlCol="0" anchor="ctr"/>
          <a:lstStyle/>
          <a:p>
            <a:pPr indent="0" marL="0">
              <a:buNone/>
            </a:pPr>
            <a:r>
              <a:rPr lang="en-US" sz="3200" dirty="0">
                <a:solidFill>
                  <a:srgbClr val="F35B1A"/>
                </a:solidFill>
                <a:latin typeface="Poppins SemiBold" pitchFamily="34" charset="0"/>
                <a:ea typeface="Poppins SemiBold" pitchFamily="34" charset="-122"/>
                <a:cs typeface="Poppins SemiBold" pitchFamily="34" charset="-120"/>
              </a:rPr>
              <a:t>Summary</a:t>
            </a:r>
            <a:endParaRPr lang="en-US" sz="3200" dirty="0"/>
          </a:p>
        </p:txBody>
      </p:sp>
      <p:sp>
        <p:nvSpPr>
          <p:cNvPr id="8" name="Shape 4"/>
          <p:cNvSpPr/>
          <p:nvPr/>
        </p:nvSpPr>
        <p:spPr>
          <a:xfrm rot="5400000">
            <a:off x="749808" y="2999232"/>
            <a:ext cx="237744" cy="237744"/>
          </a:xfrm>
          <a:prstGeom prst="triangle">
            <a:avLst/>
          </a:prstGeom>
          <a:solidFill>
            <a:srgbClr val="323E50"/>
          </a:solidFill>
          <a:ln/>
        </p:spPr>
      </p:sp>
      <p:sp>
        <p:nvSpPr>
          <p:cNvPr id="9" name="Text 5"/>
          <p:cNvSpPr/>
          <p:nvPr/>
        </p:nvSpPr>
        <p:spPr>
          <a:xfrm>
            <a:off x="1188720" y="2880360"/>
            <a:ext cx="4206240" cy="457200"/>
          </a:xfrm>
          <a:prstGeom prst="rect">
            <a:avLst/>
          </a:prstGeom>
          <a:noFill/>
          <a:ln/>
        </p:spPr>
        <p:txBody>
          <a:bodyPr wrap="square" lIns="0" tIns="0" rIns="0" bIns="0" rtlCol="0" anchor="ctr"/>
          <a:lstStyle/>
          <a:p>
            <a:pPr indent="0" marL="0">
              <a:buNone/>
            </a:pPr>
            <a:r>
              <a:rPr lang="en-US" sz="1400" spc="100" kern="0" dirty="0">
                <a:solidFill>
                  <a:srgbClr val="8B95A5"/>
                </a:solidFill>
                <a:latin typeface="Poppins SemiBold" pitchFamily="34" charset="0"/>
                <a:ea typeface="Poppins SemiBold" pitchFamily="34" charset="-122"/>
                <a:cs typeface="Poppins SemiBold" pitchFamily="34" charset="-120"/>
              </a:rPr>
              <a:t>INTRODUCTION</a:t>
            </a:r>
            <a:endParaRPr lang="en-US" sz="1400" dirty="0"/>
          </a:p>
        </p:txBody>
      </p:sp>
      <p:sp>
        <p:nvSpPr>
          <p:cNvPr id="10" name="Text 6"/>
          <p:cNvSpPr/>
          <p:nvPr/>
        </p:nvSpPr>
        <p:spPr>
          <a:xfrm>
            <a:off x="5486400" y="2880360"/>
            <a:ext cx="731520" cy="457200"/>
          </a:xfrm>
          <a:prstGeom prst="rect">
            <a:avLst/>
          </a:prstGeom>
          <a:noFill/>
          <a:ln/>
        </p:spPr>
        <p:txBody>
          <a:bodyPr wrap="square" lIns="0" tIns="0" rIns="0" bIns="0" rtlCol="0" anchor="ctr"/>
          <a:lstStyle/>
          <a:p>
            <a:pPr indent="0" marL="0">
              <a:buNone/>
            </a:pPr>
            <a:r>
              <a:rPr lang="en-US" sz="1200" dirty="0">
                <a:solidFill>
                  <a:srgbClr val="8B95A5"/>
                </a:solidFill>
                <a:latin typeface="Poppins Medium" pitchFamily="34" charset="0"/>
                <a:ea typeface="Poppins Medium" pitchFamily="34" charset="-122"/>
                <a:cs typeface="Poppins Medium" pitchFamily="34" charset="-120"/>
              </a:rPr>
              <a:t>04</a:t>
            </a:r>
            <a:endParaRPr lang="en-US" sz="1200" dirty="0"/>
          </a:p>
        </p:txBody>
      </p:sp>
      <p:sp>
        <p:nvSpPr>
          <p:cNvPr id="11" name="Shape 7"/>
          <p:cNvSpPr/>
          <p:nvPr/>
        </p:nvSpPr>
        <p:spPr>
          <a:xfrm rot="5400000">
            <a:off x="749808" y="3712464"/>
            <a:ext cx="237744" cy="237744"/>
          </a:xfrm>
          <a:prstGeom prst="triangle">
            <a:avLst/>
          </a:prstGeom>
          <a:solidFill>
            <a:srgbClr val="F35B1A"/>
          </a:solidFill>
          <a:ln/>
        </p:spPr>
      </p:sp>
      <p:sp>
        <p:nvSpPr>
          <p:cNvPr id="12" name="Text 8"/>
          <p:cNvSpPr/>
          <p:nvPr/>
        </p:nvSpPr>
        <p:spPr>
          <a:xfrm>
            <a:off x="1188720" y="3593592"/>
            <a:ext cx="4206240" cy="457200"/>
          </a:xfrm>
          <a:prstGeom prst="rect">
            <a:avLst/>
          </a:prstGeom>
          <a:noFill/>
          <a:ln/>
        </p:spPr>
        <p:txBody>
          <a:bodyPr wrap="square" lIns="0" tIns="0" rIns="0" bIns="0" rtlCol="0" anchor="ctr"/>
          <a:lstStyle/>
          <a:p>
            <a:pPr indent="0" marL="0">
              <a:buNone/>
            </a:pPr>
            <a:r>
              <a:rPr lang="en-US" sz="1400" spc="100" kern="0" dirty="0">
                <a:solidFill>
                  <a:srgbClr val="F35B1A"/>
                </a:solidFill>
                <a:latin typeface="Poppins SemiBold" pitchFamily="34" charset="0"/>
                <a:ea typeface="Poppins SemiBold" pitchFamily="34" charset="-122"/>
                <a:cs typeface="Poppins SemiBold" pitchFamily="34" charset="-120"/>
              </a:rPr>
              <a:t>INVESTMENT THESIS</a:t>
            </a:r>
            <a:endParaRPr lang="en-US" sz="1400" dirty="0"/>
          </a:p>
        </p:txBody>
      </p:sp>
      <p:sp>
        <p:nvSpPr>
          <p:cNvPr id="13" name="Text 9"/>
          <p:cNvSpPr/>
          <p:nvPr/>
        </p:nvSpPr>
        <p:spPr>
          <a:xfrm>
            <a:off x="5486400" y="3593592"/>
            <a:ext cx="731520" cy="457200"/>
          </a:xfrm>
          <a:prstGeom prst="rect">
            <a:avLst/>
          </a:prstGeom>
          <a:noFill/>
          <a:ln/>
        </p:spPr>
        <p:txBody>
          <a:bodyPr wrap="square" lIns="0" tIns="0" rIns="0" bIns="0" rtlCol="0" anchor="ctr"/>
          <a:lstStyle/>
          <a:p>
            <a:pPr indent="0" marL="0">
              <a:buNone/>
            </a:pPr>
            <a:r>
              <a:rPr lang="en-US" sz="1200" dirty="0">
                <a:solidFill>
                  <a:srgbClr val="FFFFFF"/>
                </a:solidFill>
                <a:latin typeface="Poppins Medium" pitchFamily="34" charset="0"/>
                <a:ea typeface="Poppins Medium" pitchFamily="34" charset="-122"/>
                <a:cs typeface="Poppins Medium" pitchFamily="34" charset="-120"/>
              </a:rPr>
              <a:t>08</a:t>
            </a:r>
            <a:endParaRPr lang="en-US" sz="1200" dirty="0"/>
          </a:p>
        </p:txBody>
      </p:sp>
      <p:sp>
        <p:nvSpPr>
          <p:cNvPr id="14" name="Shape 10"/>
          <p:cNvSpPr/>
          <p:nvPr/>
        </p:nvSpPr>
        <p:spPr>
          <a:xfrm rot="5400000">
            <a:off x="749808" y="4425696"/>
            <a:ext cx="237744" cy="237744"/>
          </a:xfrm>
          <a:prstGeom prst="triangle">
            <a:avLst/>
          </a:prstGeom>
          <a:solidFill>
            <a:srgbClr val="323E50"/>
          </a:solidFill>
          <a:ln/>
        </p:spPr>
      </p:sp>
      <p:sp>
        <p:nvSpPr>
          <p:cNvPr id="15" name="Text 11"/>
          <p:cNvSpPr/>
          <p:nvPr/>
        </p:nvSpPr>
        <p:spPr>
          <a:xfrm>
            <a:off x="1188720" y="4306824"/>
            <a:ext cx="4206240" cy="457200"/>
          </a:xfrm>
          <a:prstGeom prst="rect">
            <a:avLst/>
          </a:prstGeom>
          <a:noFill/>
          <a:ln/>
        </p:spPr>
        <p:txBody>
          <a:bodyPr wrap="square" lIns="0" tIns="0" rIns="0" bIns="0" rtlCol="0" anchor="ctr"/>
          <a:lstStyle/>
          <a:p>
            <a:pPr indent="0" marL="0">
              <a:buNone/>
            </a:pPr>
            <a:r>
              <a:rPr lang="en-US" sz="1400" spc="100" kern="0" dirty="0">
                <a:solidFill>
                  <a:srgbClr val="8B95A5"/>
                </a:solidFill>
                <a:latin typeface="Poppins SemiBold" pitchFamily="34" charset="0"/>
                <a:ea typeface="Poppins SemiBold" pitchFamily="34" charset="-122"/>
                <a:cs typeface="Poppins SemiBold" pitchFamily="34" charset="-120"/>
              </a:rPr>
              <a:t>COMPANY OVERVIEW</a:t>
            </a:r>
            <a:endParaRPr lang="en-US" sz="1400" dirty="0"/>
          </a:p>
        </p:txBody>
      </p:sp>
      <p:sp>
        <p:nvSpPr>
          <p:cNvPr id="16" name="Text 12"/>
          <p:cNvSpPr/>
          <p:nvPr/>
        </p:nvSpPr>
        <p:spPr>
          <a:xfrm>
            <a:off x="5486400" y="4306824"/>
            <a:ext cx="731520" cy="457200"/>
          </a:xfrm>
          <a:prstGeom prst="rect">
            <a:avLst/>
          </a:prstGeom>
          <a:noFill/>
          <a:ln/>
        </p:spPr>
        <p:txBody>
          <a:bodyPr wrap="square" lIns="0" tIns="0" rIns="0" bIns="0" rtlCol="0" anchor="ctr"/>
          <a:lstStyle/>
          <a:p>
            <a:pPr indent="0" marL="0">
              <a:buNone/>
            </a:pPr>
            <a:r>
              <a:rPr lang="en-US" sz="1200" dirty="0">
                <a:solidFill>
                  <a:srgbClr val="8B95A5"/>
                </a:solidFill>
                <a:latin typeface="Poppins Medium" pitchFamily="34" charset="0"/>
                <a:ea typeface="Poppins Medium" pitchFamily="34" charset="-122"/>
                <a:cs typeface="Poppins Medium" pitchFamily="34" charset="-120"/>
              </a:rPr>
              <a:t>14</a:t>
            </a:r>
            <a:endParaRPr lang="en-US" sz="1200" dirty="0"/>
          </a:p>
        </p:txBody>
      </p:sp>
      <p:sp>
        <p:nvSpPr>
          <p:cNvPr id="17" name="Shape 13"/>
          <p:cNvSpPr/>
          <p:nvPr/>
        </p:nvSpPr>
        <p:spPr>
          <a:xfrm rot="5400000">
            <a:off x="749808" y="5138928"/>
            <a:ext cx="237744" cy="237744"/>
          </a:xfrm>
          <a:prstGeom prst="triangle">
            <a:avLst/>
          </a:prstGeom>
          <a:solidFill>
            <a:srgbClr val="323E50"/>
          </a:solidFill>
          <a:ln/>
        </p:spPr>
      </p:sp>
      <p:sp>
        <p:nvSpPr>
          <p:cNvPr id="18" name="Text 14"/>
          <p:cNvSpPr/>
          <p:nvPr/>
        </p:nvSpPr>
        <p:spPr>
          <a:xfrm>
            <a:off x="1188720" y="5020056"/>
            <a:ext cx="4206240" cy="457200"/>
          </a:xfrm>
          <a:prstGeom prst="rect">
            <a:avLst/>
          </a:prstGeom>
          <a:noFill/>
          <a:ln/>
        </p:spPr>
        <p:txBody>
          <a:bodyPr wrap="square" lIns="0" tIns="0" rIns="0" bIns="0" rtlCol="0" anchor="ctr"/>
          <a:lstStyle/>
          <a:p>
            <a:pPr indent="0" marL="0">
              <a:buNone/>
            </a:pPr>
            <a:r>
              <a:rPr lang="en-US" sz="1400" spc="100" kern="0" dirty="0">
                <a:solidFill>
                  <a:srgbClr val="8B95A5"/>
                </a:solidFill>
                <a:latin typeface="Poppins SemiBold" pitchFamily="34" charset="0"/>
                <a:ea typeface="Poppins SemiBold" pitchFamily="34" charset="-122"/>
                <a:cs typeface="Poppins SemiBold" pitchFamily="34" charset="-120"/>
              </a:rPr>
              <a:t>FINANCIAL HIGHLIGHTS</a:t>
            </a:r>
            <a:endParaRPr lang="en-US" sz="1400" dirty="0"/>
          </a:p>
        </p:txBody>
      </p:sp>
      <p:sp>
        <p:nvSpPr>
          <p:cNvPr id="19" name="Text 15"/>
          <p:cNvSpPr/>
          <p:nvPr/>
        </p:nvSpPr>
        <p:spPr>
          <a:xfrm>
            <a:off x="5486400" y="5020056"/>
            <a:ext cx="731520" cy="457200"/>
          </a:xfrm>
          <a:prstGeom prst="rect">
            <a:avLst/>
          </a:prstGeom>
          <a:noFill/>
          <a:ln/>
        </p:spPr>
        <p:txBody>
          <a:bodyPr wrap="square" lIns="0" tIns="0" rIns="0" bIns="0" rtlCol="0" anchor="ctr"/>
          <a:lstStyle/>
          <a:p>
            <a:pPr indent="0" marL="0">
              <a:buNone/>
            </a:pPr>
            <a:r>
              <a:rPr lang="en-US" sz="1200" dirty="0">
                <a:solidFill>
                  <a:srgbClr val="8B95A5"/>
                </a:solidFill>
                <a:latin typeface="Poppins Medium" pitchFamily="34" charset="0"/>
                <a:ea typeface="Poppins Medium" pitchFamily="34" charset="-122"/>
                <a:cs typeface="Poppins Medium" pitchFamily="34" charset="-120"/>
              </a:rPr>
              <a:t>21</a:t>
            </a:r>
            <a:endParaRPr lang="en-US" sz="1200" dirty="0"/>
          </a:p>
        </p:txBody>
      </p:sp>
      <p:pic>
        <p:nvPicPr>
          <p:cNvPr id="20" name="Image 2" descr="assets/mobi_logo_black.png">    </p:cNvPr>
          <p:cNvPicPr>
            <a:picLocks noChangeAspect="1"/>
          </p:cNvPicPr>
          <p:nvPr/>
        </p:nvPicPr>
        <p:blipFill>
          <a:blip r:embed="rId3"/>
          <a:stretch>
            <a:fillRect/>
          </a:stretch>
        </p:blipFill>
        <p:spPr>
          <a:xfrm>
            <a:off x="10042855" y="5989320"/>
            <a:ext cx="1417320" cy="453985"/>
          </a:xfrm>
          <a:prstGeom prst="rect">
            <a:avLst/>
          </a:prstGeom>
        </p:spPr>
      </p:pic>
      <p:pic>
        <p:nvPicPr>
          <p:cNvPr id="21" name="Image 3" descr="assets/igc_white.png">    </p:cNvPr>
          <p:cNvPicPr>
            <a:picLocks noChangeAspect="1"/>
          </p:cNvPicPr>
          <p:nvPr/>
        </p:nvPicPr>
        <p:blipFill>
          <a:blip r:embed="rId4"/>
          <a:stretch>
            <a:fillRect/>
          </a:stretch>
        </p:blipFill>
        <p:spPr>
          <a:xfrm>
            <a:off x="11002975" y="365760"/>
            <a:ext cx="457200" cy="39522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assets/mobi_logo_navy.png">    </p:cNvPr>
          <p:cNvPicPr>
            <a:picLocks noChangeAspect="1"/>
          </p:cNvPicPr>
          <p:nvPr/>
        </p:nvPicPr>
        <p:blipFill>
          <a:blip r:embed="rId1"/>
          <a:stretch>
            <a:fillRect/>
          </a:stretch>
        </p:blipFill>
        <p:spPr>
          <a:xfrm>
            <a:off x="10545775" y="329184"/>
            <a:ext cx="914400" cy="292894"/>
          </a:xfrm>
          <a:prstGeom prst="rect">
            <a:avLst/>
          </a:prstGeom>
        </p:spPr>
      </p:pic>
      <p:sp>
        <p:nvSpPr>
          <p:cNvPr id="3" name="Shape 0"/>
          <p:cNvSpPr/>
          <p:nvPr/>
        </p:nvSpPr>
        <p:spPr>
          <a:xfrm>
            <a:off x="731520" y="329184"/>
            <a:ext cx="1549908" cy="329184"/>
          </a:xfrm>
          <a:prstGeom prst="roundRect">
            <a:avLst>
              <a:gd name="adj" fmla="val 25000"/>
            </a:avLst>
          </a:prstGeom>
          <a:solidFill>
            <a:srgbClr val="FDE9DE"/>
          </a:solidFill>
          <a:ln/>
        </p:spPr>
      </p:sp>
      <p:sp>
        <p:nvSpPr>
          <p:cNvPr id="4" name="Text 1"/>
          <p:cNvSpPr/>
          <p:nvPr/>
        </p:nvSpPr>
        <p:spPr>
          <a:xfrm>
            <a:off x="731520" y="329184"/>
            <a:ext cx="1549908" cy="329184"/>
          </a:xfrm>
          <a:prstGeom prst="rect">
            <a:avLst/>
          </a:prstGeom>
          <a:noFill/>
          <a:ln/>
        </p:spPr>
        <p:txBody>
          <a:bodyPr wrap="square" lIns="0" tIns="0" rIns="0" bIns="0" rtlCol="0" anchor="ctr"/>
          <a:lstStyle/>
          <a:p>
            <a:pPr algn="ctr" indent="0" marL="0">
              <a:buNone/>
            </a:pPr>
            <a:r>
              <a:rPr lang="en-US" sz="900" dirty="0">
                <a:solidFill>
                  <a:srgbClr val="C6470F"/>
                </a:solidFill>
                <a:latin typeface="Poppins Medium" pitchFamily="34" charset="0"/>
                <a:ea typeface="Poppins Medium" pitchFamily="34" charset="-122"/>
                <a:cs typeface="Poppins Medium" pitchFamily="34" charset="-120"/>
              </a:rPr>
              <a:t>Investment Thesis</a:t>
            </a:r>
            <a:endParaRPr lang="en-US" sz="900" dirty="0"/>
          </a:p>
        </p:txBody>
      </p:sp>
      <p:sp>
        <p:nvSpPr>
          <p:cNvPr id="5" name="Text 2"/>
          <p:cNvSpPr/>
          <p:nvPr/>
        </p:nvSpPr>
        <p:spPr>
          <a:xfrm>
            <a:off x="731520" y="731520"/>
            <a:ext cx="10088575" cy="548640"/>
          </a:xfrm>
          <a:prstGeom prst="rect">
            <a:avLst/>
          </a:prstGeom>
          <a:noFill/>
          <a:ln/>
        </p:spPr>
        <p:txBody>
          <a:bodyPr wrap="square" lIns="0" tIns="0" rIns="0" bIns="0" rtlCol="0" anchor="ctr"/>
          <a:lstStyle/>
          <a:p>
            <a:pPr algn="l" indent="0" marL="0">
              <a:buNone/>
            </a:pPr>
            <a:r>
              <a:rPr lang="en-US" sz="1800" dirty="0">
                <a:solidFill>
                  <a:srgbClr val="141A24"/>
                </a:solidFill>
                <a:latin typeface="Poppins SemiBold" pitchFamily="34" charset="0"/>
                <a:ea typeface="Poppins SemiBold" pitchFamily="34" charset="-122"/>
                <a:cs typeface="Poppins SemiBold" pitchFamily="34" charset="-120"/>
              </a:rPr>
              <a:t>Mobi is well positioned for continued growth</a:t>
            </a:r>
            <a:endParaRPr lang="en-US" sz="1800" dirty="0"/>
          </a:p>
        </p:txBody>
      </p:sp>
      <p:sp>
        <p:nvSpPr>
          <p:cNvPr id="6" name="Text 3"/>
          <p:cNvSpPr/>
          <p:nvPr/>
        </p:nvSpPr>
        <p:spPr>
          <a:xfrm>
            <a:off x="731520" y="1298448"/>
            <a:ext cx="10088575" cy="438912"/>
          </a:xfrm>
          <a:prstGeom prst="rect">
            <a:avLst/>
          </a:prstGeom>
          <a:noFill/>
          <a:ln/>
        </p:spPr>
        <p:txBody>
          <a:bodyPr wrap="square" lIns="0" tIns="0" rIns="0" bIns="0" rtlCol="0" anchor="t"/>
          <a:lstStyle/>
          <a:p>
            <a:pPr algn="l" indent="0" marL="0">
              <a:lnSpc>
                <a:spcPct val="102000"/>
              </a:lnSpc>
              <a:buNone/>
            </a:pPr>
            <a:r>
              <a:rPr lang="en-US" sz="1050" dirty="0">
                <a:solidFill>
                  <a:srgbClr val="6C7683"/>
                </a:solidFill>
                <a:latin typeface="Poppins" pitchFamily="34" charset="0"/>
                <a:ea typeface="Poppins" pitchFamily="34" charset="-122"/>
                <a:cs typeface="Poppins" pitchFamily="34" charset="-120"/>
              </a:rPr>
              <a:t>A resilient, contracted business model supported by strong structural value drivers</a:t>
            </a:r>
            <a:endParaRPr lang="en-US" sz="1050" dirty="0"/>
          </a:p>
        </p:txBody>
      </p:sp>
      <p:sp>
        <p:nvSpPr>
          <p:cNvPr id="7" name="Text 4"/>
          <p:cNvSpPr/>
          <p:nvPr/>
        </p:nvSpPr>
        <p:spPr>
          <a:xfrm>
            <a:off x="731520" y="6309360"/>
            <a:ext cx="10362895" cy="219456"/>
          </a:xfrm>
          <a:prstGeom prst="rect">
            <a:avLst/>
          </a:prstGeom>
          <a:noFill/>
          <a:ln/>
        </p:spPr>
        <p:txBody>
          <a:bodyPr wrap="square" lIns="0" tIns="0" rIns="0" bIns="0" rtlCol="0" anchor="ctr"/>
          <a:lstStyle/>
          <a:p>
            <a:pPr algn="l" indent="0" marL="0">
              <a:buNone/>
            </a:pPr>
            <a:r>
              <a:rPr lang="en-US" sz="700" dirty="0">
                <a:solidFill>
                  <a:srgbClr val="9AA3AD"/>
                </a:solidFill>
                <a:latin typeface="Poppins" pitchFamily="34" charset="0"/>
                <a:ea typeface="Poppins" pitchFamily="34" charset="-122"/>
                <a:cs typeface="Poppins" pitchFamily="34" charset="-120"/>
              </a:rPr>
              <a:t>Source: Company; press research. NR-31 = Brazilian rural-labor safety regulation on worker transport.</a:t>
            </a:r>
            <a:endParaRPr lang="en-US" sz="700" dirty="0"/>
          </a:p>
        </p:txBody>
      </p:sp>
      <p:pic>
        <p:nvPicPr>
          <p:cNvPr id="8" name="Image 1" descr="assets/igc_navy.png">    </p:cNvPr>
          <p:cNvPicPr>
            <a:picLocks noChangeAspect="1"/>
          </p:cNvPicPr>
          <p:nvPr/>
        </p:nvPicPr>
        <p:blipFill>
          <a:blip r:embed="rId2"/>
          <a:stretch>
            <a:fillRect/>
          </a:stretch>
        </p:blipFill>
        <p:spPr>
          <a:xfrm>
            <a:off x="731520" y="6492240"/>
            <a:ext cx="292608" cy="252943"/>
          </a:xfrm>
          <a:prstGeom prst="rect">
            <a:avLst/>
          </a:prstGeom>
        </p:spPr>
      </p:pic>
      <p:sp>
        <p:nvSpPr>
          <p:cNvPr id="9" name="Text 5"/>
          <p:cNvSpPr/>
          <p:nvPr/>
        </p:nvSpPr>
        <p:spPr>
          <a:xfrm>
            <a:off x="1115568" y="6510528"/>
            <a:ext cx="2743200" cy="274320"/>
          </a:xfrm>
          <a:prstGeom prst="rect">
            <a:avLst/>
          </a:prstGeom>
          <a:noFill/>
          <a:ln/>
        </p:spPr>
        <p:txBody>
          <a:bodyPr wrap="square" lIns="0" tIns="0" rIns="0" bIns="0" rtlCol="0" anchor="ctr"/>
          <a:lstStyle/>
          <a:p>
            <a:pPr algn="l" indent="0" marL="0">
              <a:buNone/>
            </a:pPr>
            <a:r>
              <a:rPr lang="en-US" sz="900" dirty="0">
                <a:solidFill>
                  <a:srgbClr val="2B333E"/>
                </a:solidFill>
                <a:latin typeface="Poppins Medium" pitchFamily="34" charset="0"/>
                <a:ea typeface="Poppins Medium" pitchFamily="34" charset="-122"/>
                <a:cs typeface="Poppins Medium" pitchFamily="34" charset="-120"/>
              </a:rPr>
              <a:t>8</a:t>
            </a:r>
            <a:pPr algn="l" indent="0" marL="0">
              <a:buNone/>
            </a:pPr>
            <a:r>
              <a:rPr lang="en-US" sz="900" dirty="0">
                <a:solidFill>
                  <a:srgbClr val="9AA3AD"/>
                </a:solidFill>
                <a:latin typeface="Poppins" pitchFamily="34" charset="0"/>
                <a:ea typeface="Poppins" pitchFamily="34" charset="-122"/>
                <a:cs typeface="Poppins" pitchFamily="34" charset="-120"/>
              </a:rPr>
              <a:t>    Confidential</a:t>
            </a:r>
            <a:endParaRPr lang="en-US" sz="900" dirty="0"/>
          </a:p>
        </p:txBody>
      </p:sp>
      <p:sp>
        <p:nvSpPr>
          <p:cNvPr id="10" name="Shape 6"/>
          <p:cNvSpPr/>
          <p:nvPr/>
        </p:nvSpPr>
        <p:spPr>
          <a:xfrm>
            <a:off x="731520" y="1965960"/>
            <a:ext cx="548640" cy="548640"/>
          </a:xfrm>
          <a:prstGeom prst="ellipse">
            <a:avLst/>
          </a:prstGeom>
          <a:solidFill>
            <a:srgbClr val="F35B1A"/>
          </a:solidFill>
          <a:ln/>
        </p:spPr>
      </p:sp>
      <p:sp>
        <p:nvSpPr>
          <p:cNvPr id="11" name="Text 7"/>
          <p:cNvSpPr/>
          <p:nvPr/>
        </p:nvSpPr>
        <p:spPr>
          <a:xfrm>
            <a:off x="731520" y="1965960"/>
            <a:ext cx="548640" cy="548640"/>
          </a:xfrm>
          <a:prstGeom prst="rect">
            <a:avLst/>
          </a:prstGeom>
          <a:noFill/>
          <a:ln/>
        </p:spPr>
        <p:txBody>
          <a:bodyPr wrap="square" lIns="0" tIns="0" rIns="0" bIns="0" rtlCol="0" anchor="ctr"/>
          <a:lstStyle/>
          <a:p>
            <a:pPr algn="ctr" indent="0" marL="0">
              <a:buNone/>
            </a:pPr>
            <a:r>
              <a:rPr lang="en-US" sz="2000" dirty="0">
                <a:solidFill>
                  <a:srgbClr val="FFFFFF"/>
                </a:solidFill>
                <a:latin typeface="Poppins SemiBold" pitchFamily="34" charset="0"/>
                <a:ea typeface="Poppins SemiBold" pitchFamily="34" charset="-122"/>
                <a:cs typeface="Poppins SemiBold" pitchFamily="34" charset="-120"/>
              </a:rPr>
              <a:t>1</a:t>
            </a:r>
            <a:endParaRPr lang="en-US" sz="2000" dirty="0"/>
          </a:p>
        </p:txBody>
      </p:sp>
      <p:sp>
        <p:nvSpPr>
          <p:cNvPr id="12" name="Text 8"/>
          <p:cNvSpPr/>
          <p:nvPr/>
        </p:nvSpPr>
        <p:spPr>
          <a:xfrm>
            <a:off x="1508760" y="1920240"/>
            <a:ext cx="6720840" cy="685800"/>
          </a:xfrm>
          <a:prstGeom prst="rect">
            <a:avLst/>
          </a:prstGeom>
          <a:noFill/>
          <a:ln/>
        </p:spPr>
        <p:txBody>
          <a:bodyPr wrap="square" lIns="0" tIns="0" rIns="0" bIns="0" rtlCol="0" anchor="ctr"/>
          <a:lstStyle/>
          <a:p>
            <a:pPr indent="0" marL="0">
              <a:lnSpc>
                <a:spcPct val="102000"/>
              </a:lnSpc>
              <a:buNone/>
            </a:pPr>
            <a:r>
              <a:rPr lang="en-US" sz="1100" dirty="0">
                <a:solidFill>
                  <a:srgbClr val="141A24"/>
                </a:solidFill>
                <a:latin typeface="Poppins SemiBold" pitchFamily="34" charset="0"/>
                <a:ea typeface="Poppins SemiBold" pitchFamily="34" charset="-122"/>
                <a:cs typeface="Poppins SemiBold" pitchFamily="34" charset="-120"/>
              </a:rPr>
              <a:t>Essential mobility platform in a structurally growing market</a:t>
            </a:r>
            <a:pPr indent="0" marL="0">
              <a:lnSpc>
                <a:spcPct val="102000"/>
              </a:lnSpc>
              <a:buNone/>
            </a:pPr>
            <a:r>
              <a:rPr lang="en-US" sz="1100" dirty="0">
                <a:solidFill>
                  <a:srgbClr val="6C7683"/>
                </a:solidFill>
                <a:latin typeface="Poppins" pitchFamily="34" charset="0"/>
                <a:ea typeface="Poppins" pitchFamily="34" charset="-122"/>
                <a:cs typeface="Poppins" pitchFamily="34" charset="-120"/>
              </a:rPr>
              <a:t>  —  consistent demand from corporations and condominiums, a national driver shortage and labor regulations (NR-31) sustain recurring demand</a:t>
            </a:r>
            <a:endParaRPr lang="en-US" sz="1100" dirty="0"/>
          </a:p>
        </p:txBody>
      </p:sp>
      <p:sp>
        <p:nvSpPr>
          <p:cNvPr id="13" name="Shape 9"/>
          <p:cNvSpPr/>
          <p:nvPr/>
        </p:nvSpPr>
        <p:spPr>
          <a:xfrm>
            <a:off x="731520" y="2807208"/>
            <a:ext cx="548640" cy="548640"/>
          </a:xfrm>
          <a:prstGeom prst="ellipse">
            <a:avLst/>
          </a:prstGeom>
          <a:solidFill>
            <a:srgbClr val="F35B1A"/>
          </a:solidFill>
          <a:ln/>
        </p:spPr>
      </p:sp>
      <p:sp>
        <p:nvSpPr>
          <p:cNvPr id="14" name="Text 10"/>
          <p:cNvSpPr/>
          <p:nvPr/>
        </p:nvSpPr>
        <p:spPr>
          <a:xfrm>
            <a:off x="731520" y="2807208"/>
            <a:ext cx="548640" cy="548640"/>
          </a:xfrm>
          <a:prstGeom prst="rect">
            <a:avLst/>
          </a:prstGeom>
          <a:noFill/>
          <a:ln/>
        </p:spPr>
        <p:txBody>
          <a:bodyPr wrap="square" lIns="0" tIns="0" rIns="0" bIns="0" rtlCol="0" anchor="ctr"/>
          <a:lstStyle/>
          <a:p>
            <a:pPr algn="ctr" indent="0" marL="0">
              <a:buNone/>
            </a:pPr>
            <a:r>
              <a:rPr lang="en-US" sz="2000" dirty="0">
                <a:solidFill>
                  <a:srgbClr val="FFFFFF"/>
                </a:solidFill>
                <a:latin typeface="Poppins SemiBold" pitchFamily="34" charset="0"/>
                <a:ea typeface="Poppins SemiBold" pitchFamily="34" charset="-122"/>
                <a:cs typeface="Poppins SemiBold" pitchFamily="34" charset="-120"/>
              </a:rPr>
              <a:t>2</a:t>
            </a:r>
            <a:endParaRPr lang="en-US" sz="2000" dirty="0"/>
          </a:p>
        </p:txBody>
      </p:sp>
      <p:sp>
        <p:nvSpPr>
          <p:cNvPr id="15" name="Text 11"/>
          <p:cNvSpPr/>
          <p:nvPr/>
        </p:nvSpPr>
        <p:spPr>
          <a:xfrm>
            <a:off x="1508760" y="2761488"/>
            <a:ext cx="6720840" cy="685800"/>
          </a:xfrm>
          <a:prstGeom prst="rect">
            <a:avLst/>
          </a:prstGeom>
          <a:noFill/>
          <a:ln/>
        </p:spPr>
        <p:txBody>
          <a:bodyPr wrap="square" lIns="0" tIns="0" rIns="0" bIns="0" rtlCol="0" anchor="ctr"/>
          <a:lstStyle/>
          <a:p>
            <a:pPr indent="0" marL="0">
              <a:lnSpc>
                <a:spcPct val="102000"/>
              </a:lnSpc>
              <a:buNone/>
            </a:pPr>
            <a:r>
              <a:rPr lang="en-US" sz="1100" dirty="0">
                <a:solidFill>
                  <a:srgbClr val="141A24"/>
                </a:solidFill>
                <a:latin typeface="Poppins SemiBold" pitchFamily="34" charset="0"/>
                <a:ea typeface="Poppins SemiBold" pitchFamily="34" charset="-122"/>
                <a:cs typeface="Poppins SemiBold" pitchFamily="34" charset="-120"/>
              </a:rPr>
              <a:t>Solid, contracted revenue model with high stickiness</a:t>
            </a:r>
            <a:pPr indent="0" marL="0">
              <a:lnSpc>
                <a:spcPct val="102000"/>
              </a:lnSpc>
              <a:buNone/>
            </a:pPr>
            <a:r>
              <a:rPr lang="en-US" sz="1100" dirty="0">
                <a:solidFill>
                  <a:srgbClr val="6C7683"/>
                </a:solidFill>
                <a:latin typeface="Poppins" pitchFamily="34" charset="0"/>
                <a:ea typeface="Poppins" pitchFamily="34" charset="-122"/>
                <a:cs typeface="Poppins" pitchFamily="34" charset="-120"/>
              </a:rPr>
              <a:t>  —  long-term contracts (3–5 years) with IPCA, CBA and diesel pass-through adjustments protecting margins</a:t>
            </a:r>
            <a:endParaRPr lang="en-US" sz="1100" dirty="0"/>
          </a:p>
        </p:txBody>
      </p:sp>
      <p:sp>
        <p:nvSpPr>
          <p:cNvPr id="16" name="Shape 12"/>
          <p:cNvSpPr/>
          <p:nvPr/>
        </p:nvSpPr>
        <p:spPr>
          <a:xfrm>
            <a:off x="731520" y="3648456"/>
            <a:ext cx="548640" cy="548640"/>
          </a:xfrm>
          <a:prstGeom prst="ellipse">
            <a:avLst/>
          </a:prstGeom>
          <a:solidFill>
            <a:srgbClr val="F35B1A"/>
          </a:solidFill>
          <a:ln/>
        </p:spPr>
      </p:sp>
      <p:sp>
        <p:nvSpPr>
          <p:cNvPr id="17" name="Text 13"/>
          <p:cNvSpPr/>
          <p:nvPr/>
        </p:nvSpPr>
        <p:spPr>
          <a:xfrm>
            <a:off x="731520" y="3648456"/>
            <a:ext cx="548640" cy="548640"/>
          </a:xfrm>
          <a:prstGeom prst="rect">
            <a:avLst/>
          </a:prstGeom>
          <a:noFill/>
          <a:ln/>
        </p:spPr>
        <p:txBody>
          <a:bodyPr wrap="square" lIns="0" tIns="0" rIns="0" bIns="0" rtlCol="0" anchor="ctr"/>
          <a:lstStyle/>
          <a:p>
            <a:pPr algn="ctr" indent="0" marL="0">
              <a:buNone/>
            </a:pPr>
            <a:r>
              <a:rPr lang="en-US" sz="2000" dirty="0">
                <a:solidFill>
                  <a:srgbClr val="FFFFFF"/>
                </a:solidFill>
                <a:latin typeface="Poppins SemiBold" pitchFamily="34" charset="0"/>
                <a:ea typeface="Poppins SemiBold" pitchFamily="34" charset="-122"/>
                <a:cs typeface="Poppins SemiBold" pitchFamily="34" charset="-120"/>
              </a:rPr>
              <a:t>3</a:t>
            </a:r>
            <a:endParaRPr lang="en-US" sz="2000" dirty="0"/>
          </a:p>
        </p:txBody>
      </p:sp>
      <p:sp>
        <p:nvSpPr>
          <p:cNvPr id="18" name="Text 14"/>
          <p:cNvSpPr/>
          <p:nvPr/>
        </p:nvSpPr>
        <p:spPr>
          <a:xfrm>
            <a:off x="1508760" y="3602736"/>
            <a:ext cx="6720840" cy="685800"/>
          </a:xfrm>
          <a:prstGeom prst="rect">
            <a:avLst/>
          </a:prstGeom>
          <a:noFill/>
          <a:ln/>
        </p:spPr>
        <p:txBody>
          <a:bodyPr wrap="square" lIns="0" tIns="0" rIns="0" bIns="0" rtlCol="0" anchor="ctr"/>
          <a:lstStyle/>
          <a:p>
            <a:pPr indent="0" marL="0">
              <a:lnSpc>
                <a:spcPct val="102000"/>
              </a:lnSpc>
              <a:buNone/>
            </a:pPr>
            <a:r>
              <a:rPr lang="en-US" sz="1100" dirty="0">
                <a:solidFill>
                  <a:srgbClr val="141A24"/>
                </a:solidFill>
                <a:latin typeface="Poppins SemiBold" pitchFamily="34" charset="0"/>
                <a:ea typeface="Poppins SemiBold" pitchFamily="34" charset="-122"/>
                <a:cs typeface="Poppins SemiBold" pitchFamily="34" charset="-120"/>
              </a:rPr>
              <a:t>An asset base that compounds competitive advantage</a:t>
            </a:r>
            <a:pPr indent="0" marL="0">
              <a:lnSpc>
                <a:spcPct val="102000"/>
              </a:lnSpc>
              <a:buNone/>
            </a:pPr>
            <a:r>
              <a:rPr lang="en-US" sz="1100" dirty="0">
                <a:solidFill>
                  <a:srgbClr val="6C7683"/>
                </a:solidFill>
                <a:latin typeface="Poppins" pitchFamily="34" charset="0"/>
                <a:ea typeface="Poppins" pitchFamily="34" charset="-122"/>
                <a:cs typeface="Poppins" pitchFamily="34" charset="-120"/>
              </a:rPr>
              <a:t>  —  a modern, fully-owned fleet (+400 vehicles) creating flexibility and hard-to-replicate barriers</a:t>
            </a:r>
            <a:endParaRPr lang="en-US" sz="1100" dirty="0"/>
          </a:p>
        </p:txBody>
      </p:sp>
      <p:sp>
        <p:nvSpPr>
          <p:cNvPr id="19" name="Shape 15"/>
          <p:cNvSpPr/>
          <p:nvPr/>
        </p:nvSpPr>
        <p:spPr>
          <a:xfrm>
            <a:off x="731520" y="4489704"/>
            <a:ext cx="548640" cy="548640"/>
          </a:xfrm>
          <a:prstGeom prst="ellipse">
            <a:avLst/>
          </a:prstGeom>
          <a:solidFill>
            <a:srgbClr val="F35B1A"/>
          </a:solidFill>
          <a:ln/>
        </p:spPr>
      </p:sp>
      <p:sp>
        <p:nvSpPr>
          <p:cNvPr id="20" name="Text 16"/>
          <p:cNvSpPr/>
          <p:nvPr/>
        </p:nvSpPr>
        <p:spPr>
          <a:xfrm>
            <a:off x="731520" y="4489704"/>
            <a:ext cx="548640" cy="548640"/>
          </a:xfrm>
          <a:prstGeom prst="rect">
            <a:avLst/>
          </a:prstGeom>
          <a:noFill/>
          <a:ln/>
        </p:spPr>
        <p:txBody>
          <a:bodyPr wrap="square" lIns="0" tIns="0" rIns="0" bIns="0" rtlCol="0" anchor="ctr"/>
          <a:lstStyle/>
          <a:p>
            <a:pPr algn="ctr" indent="0" marL="0">
              <a:buNone/>
            </a:pPr>
            <a:r>
              <a:rPr lang="en-US" sz="2000" dirty="0">
                <a:solidFill>
                  <a:srgbClr val="FFFFFF"/>
                </a:solidFill>
                <a:latin typeface="Poppins SemiBold" pitchFamily="34" charset="0"/>
                <a:ea typeface="Poppins SemiBold" pitchFamily="34" charset="-122"/>
                <a:cs typeface="Poppins SemiBold" pitchFamily="34" charset="-120"/>
              </a:rPr>
              <a:t>4</a:t>
            </a:r>
            <a:endParaRPr lang="en-US" sz="2000" dirty="0"/>
          </a:p>
        </p:txBody>
      </p:sp>
      <p:sp>
        <p:nvSpPr>
          <p:cNvPr id="21" name="Text 17"/>
          <p:cNvSpPr/>
          <p:nvPr/>
        </p:nvSpPr>
        <p:spPr>
          <a:xfrm>
            <a:off x="1508760" y="4443984"/>
            <a:ext cx="6720840" cy="685800"/>
          </a:xfrm>
          <a:prstGeom prst="rect">
            <a:avLst/>
          </a:prstGeom>
          <a:noFill/>
          <a:ln/>
        </p:spPr>
        <p:txBody>
          <a:bodyPr wrap="square" lIns="0" tIns="0" rIns="0" bIns="0" rtlCol="0" anchor="ctr"/>
          <a:lstStyle/>
          <a:p>
            <a:pPr indent="0" marL="0">
              <a:lnSpc>
                <a:spcPct val="102000"/>
              </a:lnSpc>
              <a:buNone/>
            </a:pPr>
            <a:r>
              <a:rPr lang="en-US" sz="1100" dirty="0">
                <a:solidFill>
                  <a:srgbClr val="141A24"/>
                </a:solidFill>
                <a:latin typeface="Poppins SemiBold" pitchFamily="34" charset="0"/>
                <a:ea typeface="Poppins SemiBold" pitchFamily="34" charset="-122"/>
                <a:cs typeface="Poppins SemiBold" pitchFamily="34" charset="-120"/>
              </a:rPr>
              <a:t>Integrated capabilities delivering a full-service edge</a:t>
            </a:r>
            <a:pPr indent="0" marL="0">
              <a:lnSpc>
                <a:spcPct val="102000"/>
              </a:lnSpc>
              <a:buNone/>
            </a:pPr>
            <a:r>
              <a:rPr lang="en-US" sz="1100" dirty="0">
                <a:solidFill>
                  <a:srgbClr val="6C7683"/>
                </a:solidFill>
                <a:latin typeface="Poppins" pitchFamily="34" charset="0"/>
                <a:ea typeface="Poppins" pitchFamily="34" charset="-122"/>
                <a:cs typeface="Poppins" pitchFamily="34" charset="-120"/>
              </a:rPr>
              <a:t>  —  GPS telemetry and driver monitoring, with in-house maintenance [TBC], for a high-uptime operation</a:t>
            </a:r>
            <a:endParaRPr lang="en-US" sz="1100" dirty="0"/>
          </a:p>
        </p:txBody>
      </p:sp>
      <p:sp>
        <p:nvSpPr>
          <p:cNvPr id="22" name="Shape 18"/>
          <p:cNvSpPr/>
          <p:nvPr/>
        </p:nvSpPr>
        <p:spPr>
          <a:xfrm>
            <a:off x="731520" y="5330952"/>
            <a:ext cx="548640" cy="548640"/>
          </a:xfrm>
          <a:prstGeom prst="ellipse">
            <a:avLst/>
          </a:prstGeom>
          <a:solidFill>
            <a:srgbClr val="F35B1A"/>
          </a:solidFill>
          <a:ln/>
        </p:spPr>
      </p:sp>
      <p:sp>
        <p:nvSpPr>
          <p:cNvPr id="23" name="Text 19"/>
          <p:cNvSpPr/>
          <p:nvPr/>
        </p:nvSpPr>
        <p:spPr>
          <a:xfrm>
            <a:off x="731520" y="5330952"/>
            <a:ext cx="548640" cy="548640"/>
          </a:xfrm>
          <a:prstGeom prst="rect">
            <a:avLst/>
          </a:prstGeom>
          <a:noFill/>
          <a:ln/>
        </p:spPr>
        <p:txBody>
          <a:bodyPr wrap="square" lIns="0" tIns="0" rIns="0" bIns="0" rtlCol="0" anchor="ctr"/>
          <a:lstStyle/>
          <a:p>
            <a:pPr algn="ctr" indent="0" marL="0">
              <a:buNone/>
            </a:pPr>
            <a:r>
              <a:rPr lang="en-US" sz="2000" dirty="0">
                <a:solidFill>
                  <a:srgbClr val="FFFFFF"/>
                </a:solidFill>
                <a:latin typeface="Poppins SemiBold" pitchFamily="34" charset="0"/>
                <a:ea typeface="Poppins SemiBold" pitchFamily="34" charset="-122"/>
                <a:cs typeface="Poppins SemiBold" pitchFamily="34" charset="-120"/>
              </a:rPr>
              <a:t>5</a:t>
            </a:r>
            <a:endParaRPr lang="en-US" sz="2000" dirty="0"/>
          </a:p>
        </p:txBody>
      </p:sp>
      <p:sp>
        <p:nvSpPr>
          <p:cNvPr id="24" name="Text 20"/>
          <p:cNvSpPr/>
          <p:nvPr/>
        </p:nvSpPr>
        <p:spPr>
          <a:xfrm>
            <a:off x="1508760" y="5285232"/>
            <a:ext cx="6720840" cy="685800"/>
          </a:xfrm>
          <a:prstGeom prst="rect">
            <a:avLst/>
          </a:prstGeom>
          <a:noFill/>
          <a:ln/>
        </p:spPr>
        <p:txBody>
          <a:bodyPr wrap="square" lIns="0" tIns="0" rIns="0" bIns="0" rtlCol="0" anchor="ctr"/>
          <a:lstStyle/>
          <a:p>
            <a:pPr indent="0" marL="0">
              <a:lnSpc>
                <a:spcPct val="102000"/>
              </a:lnSpc>
              <a:buNone/>
            </a:pPr>
            <a:r>
              <a:rPr lang="en-US" sz="1100" dirty="0">
                <a:solidFill>
                  <a:srgbClr val="141A24"/>
                </a:solidFill>
                <a:latin typeface="Poppins SemiBold" pitchFamily="34" charset="0"/>
                <a:ea typeface="Poppins SemiBold" pitchFamily="34" charset="-122"/>
                <a:cs typeface="Poppins SemiBold" pitchFamily="34" charset="-120"/>
              </a:rPr>
              <a:t>Multiple, executable growth avenues</a:t>
            </a:r>
            <a:pPr indent="0" marL="0">
              <a:lnSpc>
                <a:spcPct val="102000"/>
              </a:lnSpc>
              <a:buNone/>
            </a:pPr>
            <a:r>
              <a:rPr lang="en-US" sz="1100" dirty="0">
                <a:solidFill>
                  <a:srgbClr val="6C7683"/>
                </a:solidFill>
                <a:latin typeface="Poppins" pitchFamily="34" charset="0"/>
                <a:ea typeface="Poppins" pitchFamily="34" charset="-122"/>
                <a:cs typeface="Poppins" pitchFamily="34" charset="-120"/>
              </a:rPr>
              <a:t>  —  geographic expansion, fleet electrification, technology-enabled services and consolidation of a fragmented market</a:t>
            </a:r>
            <a:endParaRPr lang="en-US" sz="1100" dirty="0"/>
          </a:p>
        </p:txBody>
      </p:sp>
      <p:sp>
        <p:nvSpPr>
          <p:cNvPr id="25" name="Shape 21"/>
          <p:cNvSpPr/>
          <p:nvPr/>
        </p:nvSpPr>
        <p:spPr>
          <a:xfrm>
            <a:off x="8695944" y="2249424"/>
            <a:ext cx="2770632" cy="2770632"/>
          </a:xfrm>
          <a:prstGeom prst="ellipse">
            <a:avLst/>
          </a:prstGeom>
          <a:solidFill>
            <a:srgbClr val="FFFFFF"/>
          </a:solidFill>
          <a:ln/>
          <a:effectLst>
            <a:outerShdw sx="100000" sy="100000" kx="0" ky="0" algn="bl" rotWithShape="0" blurRad="88900" dist="25400" dir="5400000">
              <a:srgbClr val="9AA3AD">
                <a:alpha val="30000"/>
              </a:srgbClr>
            </a:outerShdw>
          </a:effectLst>
        </p:spPr>
      </p:sp>
      <p:pic>
        <p:nvPicPr>
          <p:cNvPr id="26" name="Image 2" descr="assets/mobi_fleet2.png">    </p:cNvPr>
          <p:cNvPicPr>
            <a:picLocks noChangeAspect="1"/>
          </p:cNvPicPr>
          <p:nvPr/>
        </p:nvPicPr>
        <p:blipFill>
          <a:blip r:embed="rId3"/>
          <a:srcRect l="0" r="0" t="0" b="0"/>
          <a:stretch/>
        </p:blipFill>
        <p:spPr>
          <a:xfrm>
            <a:off x="8732520" y="2286000"/>
            <a:ext cx="2697480" cy="2697480"/>
          </a:xfrm>
          <a:prstGeom prst="ellipse">
            <a:avLst/>
          </a:prstGeom>
        </p:spPr>
      </p:pic>
      <p:sp>
        <p:nvSpPr>
          <p:cNvPr id="27" name="Shape 22"/>
          <p:cNvSpPr/>
          <p:nvPr/>
        </p:nvSpPr>
        <p:spPr>
          <a:xfrm>
            <a:off x="10067544" y="4581144"/>
            <a:ext cx="1581912" cy="1581912"/>
          </a:xfrm>
          <a:prstGeom prst="ellipse">
            <a:avLst/>
          </a:prstGeom>
          <a:solidFill>
            <a:srgbClr val="FFFFFF"/>
          </a:solidFill>
          <a:ln/>
          <a:effectLst>
            <a:outerShdw sx="100000" sy="100000" kx="0" ky="0" algn="bl" rotWithShape="0" blurRad="88900" dist="25400" dir="5400000">
              <a:srgbClr val="9AA3AD">
                <a:alpha val="30000"/>
              </a:srgbClr>
            </a:outerShdw>
          </a:effectLst>
        </p:spPr>
      </p:sp>
      <p:pic>
        <p:nvPicPr>
          <p:cNvPr id="28" name="Image 3" descr="assets/mobi_microbus.png">    </p:cNvPr>
          <p:cNvPicPr>
            <a:picLocks noChangeAspect="1"/>
          </p:cNvPicPr>
          <p:nvPr/>
        </p:nvPicPr>
        <p:blipFill>
          <a:blip r:embed="rId4"/>
          <a:srcRect l="0" r="0" t="0" b="0"/>
          <a:stretch/>
        </p:blipFill>
        <p:spPr>
          <a:xfrm>
            <a:off x="10104120" y="4617720"/>
            <a:ext cx="1508760" cy="1508760"/>
          </a:xfrm>
          <a:prstGeom prst="ellipse">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assets/mobi_logo_navy.png">    </p:cNvPr>
          <p:cNvPicPr>
            <a:picLocks noChangeAspect="1"/>
          </p:cNvPicPr>
          <p:nvPr/>
        </p:nvPicPr>
        <p:blipFill>
          <a:blip r:embed="rId1"/>
          <a:stretch>
            <a:fillRect/>
          </a:stretch>
        </p:blipFill>
        <p:spPr>
          <a:xfrm>
            <a:off x="10545775" y="329184"/>
            <a:ext cx="914400" cy="292894"/>
          </a:xfrm>
          <a:prstGeom prst="rect">
            <a:avLst/>
          </a:prstGeom>
        </p:spPr>
      </p:pic>
      <p:sp>
        <p:nvSpPr>
          <p:cNvPr id="3" name="Shape 0"/>
          <p:cNvSpPr/>
          <p:nvPr/>
        </p:nvSpPr>
        <p:spPr>
          <a:xfrm>
            <a:off x="731520" y="329184"/>
            <a:ext cx="1549908" cy="329184"/>
          </a:xfrm>
          <a:prstGeom prst="roundRect">
            <a:avLst>
              <a:gd name="adj" fmla="val 25000"/>
            </a:avLst>
          </a:prstGeom>
          <a:solidFill>
            <a:srgbClr val="FDE9DE"/>
          </a:solidFill>
          <a:ln/>
        </p:spPr>
      </p:sp>
      <p:sp>
        <p:nvSpPr>
          <p:cNvPr id="4" name="Text 1"/>
          <p:cNvSpPr/>
          <p:nvPr/>
        </p:nvSpPr>
        <p:spPr>
          <a:xfrm>
            <a:off x="731520" y="329184"/>
            <a:ext cx="1549908" cy="329184"/>
          </a:xfrm>
          <a:prstGeom prst="rect">
            <a:avLst/>
          </a:prstGeom>
          <a:noFill/>
          <a:ln/>
        </p:spPr>
        <p:txBody>
          <a:bodyPr wrap="square" lIns="0" tIns="0" rIns="0" bIns="0" rtlCol="0" anchor="ctr"/>
          <a:lstStyle/>
          <a:p>
            <a:pPr algn="ctr" indent="0" marL="0">
              <a:buNone/>
            </a:pPr>
            <a:r>
              <a:rPr lang="en-US" sz="900" dirty="0">
                <a:solidFill>
                  <a:srgbClr val="C6470F"/>
                </a:solidFill>
                <a:latin typeface="Poppins Medium" pitchFamily="34" charset="0"/>
                <a:ea typeface="Poppins Medium" pitchFamily="34" charset="-122"/>
                <a:cs typeface="Poppins Medium" pitchFamily="34" charset="-120"/>
              </a:rPr>
              <a:t>Investment Thesis</a:t>
            </a:r>
            <a:endParaRPr lang="en-US" sz="900" dirty="0"/>
          </a:p>
        </p:txBody>
      </p:sp>
      <p:sp>
        <p:nvSpPr>
          <p:cNvPr id="5" name="Shape 2"/>
          <p:cNvSpPr/>
          <p:nvPr/>
        </p:nvSpPr>
        <p:spPr>
          <a:xfrm>
            <a:off x="731520" y="786384"/>
            <a:ext cx="457200" cy="457200"/>
          </a:xfrm>
          <a:prstGeom prst="ellipse">
            <a:avLst/>
          </a:prstGeom>
          <a:solidFill>
            <a:srgbClr val="F35B1A"/>
          </a:solidFill>
          <a:ln/>
        </p:spPr>
      </p:sp>
      <p:sp>
        <p:nvSpPr>
          <p:cNvPr id="6" name="Text 3"/>
          <p:cNvSpPr/>
          <p:nvPr/>
        </p:nvSpPr>
        <p:spPr>
          <a:xfrm>
            <a:off x="731520" y="786384"/>
            <a:ext cx="457200" cy="457200"/>
          </a:xfrm>
          <a:prstGeom prst="rect">
            <a:avLst/>
          </a:prstGeom>
          <a:noFill/>
          <a:ln/>
        </p:spPr>
        <p:txBody>
          <a:bodyPr wrap="square" lIns="0" tIns="0" rIns="0" bIns="0" rtlCol="0" anchor="ctr"/>
          <a:lstStyle/>
          <a:p>
            <a:pPr algn="ctr" indent="0" marL="0">
              <a:buNone/>
            </a:pPr>
            <a:r>
              <a:rPr lang="en-US" sz="1600" dirty="0">
                <a:solidFill>
                  <a:srgbClr val="FFFFFF"/>
                </a:solidFill>
                <a:latin typeface="Poppins SemiBold" pitchFamily="34" charset="0"/>
                <a:ea typeface="Poppins SemiBold" pitchFamily="34" charset="-122"/>
                <a:cs typeface="Poppins SemiBold" pitchFamily="34" charset="-120"/>
              </a:rPr>
              <a:t>1</a:t>
            </a:r>
            <a:endParaRPr lang="en-US" sz="1600" dirty="0"/>
          </a:p>
        </p:txBody>
      </p:sp>
      <p:sp>
        <p:nvSpPr>
          <p:cNvPr id="7" name="Text 4"/>
          <p:cNvSpPr/>
          <p:nvPr/>
        </p:nvSpPr>
        <p:spPr>
          <a:xfrm>
            <a:off x="1371600" y="731520"/>
            <a:ext cx="9448495" cy="548640"/>
          </a:xfrm>
          <a:prstGeom prst="rect">
            <a:avLst/>
          </a:prstGeom>
          <a:noFill/>
          <a:ln/>
        </p:spPr>
        <p:txBody>
          <a:bodyPr wrap="square" lIns="0" tIns="0" rIns="0" bIns="0" rtlCol="0" anchor="ctr"/>
          <a:lstStyle/>
          <a:p>
            <a:pPr algn="l" indent="0" marL="0">
              <a:buNone/>
            </a:pPr>
            <a:r>
              <a:rPr lang="en-US" sz="1800" dirty="0">
                <a:solidFill>
                  <a:srgbClr val="141A24"/>
                </a:solidFill>
                <a:latin typeface="Poppins SemiBold" pitchFamily="34" charset="0"/>
                <a:ea typeface="Poppins SemiBold" pitchFamily="34" charset="-122"/>
                <a:cs typeface="Poppins SemiBold" pitchFamily="34" charset="-120"/>
              </a:rPr>
              <a:t>A solid track record with blue-chip clients</a:t>
            </a:r>
            <a:endParaRPr lang="en-US" sz="1800" dirty="0"/>
          </a:p>
        </p:txBody>
      </p:sp>
      <p:sp>
        <p:nvSpPr>
          <p:cNvPr id="8" name="Text 5"/>
          <p:cNvSpPr/>
          <p:nvPr/>
        </p:nvSpPr>
        <p:spPr>
          <a:xfrm>
            <a:off x="731520" y="1298448"/>
            <a:ext cx="10088575" cy="438912"/>
          </a:xfrm>
          <a:prstGeom prst="rect">
            <a:avLst/>
          </a:prstGeom>
          <a:noFill/>
          <a:ln/>
        </p:spPr>
        <p:txBody>
          <a:bodyPr wrap="square" lIns="0" tIns="0" rIns="0" bIns="0" rtlCol="0" anchor="t"/>
          <a:lstStyle/>
          <a:p>
            <a:pPr algn="l" indent="0" marL="0">
              <a:lnSpc>
                <a:spcPct val="102000"/>
              </a:lnSpc>
              <a:buNone/>
            </a:pPr>
            <a:r>
              <a:rPr lang="en-US" sz="1050" dirty="0">
                <a:solidFill>
                  <a:srgbClr val="6C7683"/>
                </a:solidFill>
                <a:latin typeface="Poppins" pitchFamily="34" charset="0"/>
                <a:ea typeface="Poppins" pitchFamily="34" charset="-122"/>
                <a:cs typeface="Poppins" pitchFamily="34" charset="-120"/>
              </a:rPr>
              <a:t>Long-term contracts across industrial, agribusiness and consumer-goods sectors — serving +50 clients</a:t>
            </a:r>
            <a:endParaRPr lang="en-US" sz="1050" dirty="0"/>
          </a:p>
        </p:txBody>
      </p:sp>
      <p:sp>
        <p:nvSpPr>
          <p:cNvPr id="9" name="Text 6"/>
          <p:cNvSpPr/>
          <p:nvPr/>
        </p:nvSpPr>
        <p:spPr>
          <a:xfrm>
            <a:off x="731520" y="5888736"/>
            <a:ext cx="10362895" cy="219456"/>
          </a:xfrm>
          <a:prstGeom prst="rect">
            <a:avLst/>
          </a:prstGeom>
          <a:noFill/>
          <a:ln/>
        </p:spPr>
        <p:txBody>
          <a:bodyPr wrap="square" lIns="0" tIns="0" rIns="0" bIns="0" rtlCol="0" anchor="ctr"/>
          <a:lstStyle/>
          <a:p>
            <a:pPr algn="l" indent="0" marL="0">
              <a:buNone/>
            </a:pPr>
            <a:r>
              <a:rPr lang="en-US" sz="700" dirty="0">
                <a:solidFill>
                  <a:srgbClr val="9AA3AD"/>
                </a:solidFill>
                <a:latin typeface="Poppins" pitchFamily="34" charset="0"/>
                <a:ea typeface="Poppins" pitchFamily="34" charset="-122"/>
                <a:cs typeface="Poppins" pitchFamily="34" charset="-120"/>
              </a:rPr>
              <a:t>Source: Company. Client relationship metrics (contracts delivered, years, share of revenue) to be confirmed with management.</a:t>
            </a:r>
            <a:endParaRPr lang="en-US" sz="700" dirty="0"/>
          </a:p>
        </p:txBody>
      </p:sp>
      <p:sp>
        <p:nvSpPr>
          <p:cNvPr id="10" name="Text 7"/>
          <p:cNvSpPr/>
          <p:nvPr/>
        </p:nvSpPr>
        <p:spPr>
          <a:xfrm>
            <a:off x="731520" y="1874520"/>
            <a:ext cx="4572000" cy="237744"/>
          </a:xfrm>
          <a:prstGeom prst="rect">
            <a:avLst/>
          </a:prstGeom>
          <a:noFill/>
          <a:ln/>
        </p:spPr>
        <p:txBody>
          <a:bodyPr wrap="square" lIns="0" tIns="0" rIns="0" bIns="0" rtlCol="0" anchor="ctr"/>
          <a:lstStyle/>
          <a:p>
            <a:pPr indent="0" marL="0">
              <a:buNone/>
            </a:pPr>
            <a:r>
              <a:rPr lang="en-US" sz="900" spc="150" kern="0" dirty="0">
                <a:solidFill>
                  <a:srgbClr val="F35B1A"/>
                </a:solidFill>
                <a:latin typeface="Poppins SemiBold" pitchFamily="34" charset="0"/>
                <a:ea typeface="Poppins SemiBold" pitchFamily="34" charset="-122"/>
                <a:cs typeface="Poppins SemiBold" pitchFamily="34" charset="-120"/>
              </a:rPr>
              <a:t>SELECTED CLIENTS</a:t>
            </a:r>
            <a:endParaRPr lang="en-US" sz="900" dirty="0"/>
          </a:p>
        </p:txBody>
      </p:sp>
      <p:sp>
        <p:nvSpPr>
          <p:cNvPr id="11" name="Shape 8"/>
          <p:cNvSpPr/>
          <p:nvPr/>
        </p:nvSpPr>
        <p:spPr>
          <a:xfrm>
            <a:off x="731520" y="2212848"/>
            <a:ext cx="2103120" cy="1115568"/>
          </a:xfrm>
          <a:prstGeom prst="roundRect">
            <a:avLst>
              <a:gd name="adj" fmla="val 6557"/>
            </a:avLst>
          </a:prstGeom>
          <a:solidFill>
            <a:srgbClr val="FFFFFF"/>
          </a:solidFill>
          <a:ln w="12700">
            <a:solidFill>
              <a:srgbClr val="E2E6EB"/>
            </a:solidFill>
            <a:prstDash val="solid"/>
          </a:ln>
          <a:effectLst>
            <a:outerShdw sx="100000" sy="100000" kx="0" ky="0" algn="bl" rotWithShape="0" blurRad="101600" dist="25400" dir="5400000">
              <a:srgbClr val="9AA3AD">
                <a:alpha val="30000"/>
              </a:srgbClr>
            </a:outerShdw>
          </a:effectLst>
        </p:spPr>
      </p:sp>
      <p:pic>
        <p:nvPicPr>
          <p:cNvPr id="12" name="Image 1" descr="assets/cli_heineken.png">    </p:cNvPr>
          <p:cNvPicPr>
            <a:picLocks noChangeAspect="1"/>
          </p:cNvPicPr>
          <p:nvPr/>
        </p:nvPicPr>
        <p:blipFill>
          <a:blip r:embed="rId2"/>
          <a:srcRect l="0" r="0" t="0" b="0"/>
          <a:stretch/>
        </p:blipFill>
        <p:spPr>
          <a:xfrm>
            <a:off x="960120" y="2435962"/>
            <a:ext cx="1645920" cy="669341"/>
          </a:xfrm>
          <a:prstGeom prst="rect">
            <a:avLst/>
          </a:prstGeom>
        </p:spPr>
      </p:pic>
      <p:sp>
        <p:nvSpPr>
          <p:cNvPr id="13" name="Shape 9"/>
          <p:cNvSpPr/>
          <p:nvPr/>
        </p:nvSpPr>
        <p:spPr>
          <a:xfrm>
            <a:off x="3063240" y="2212848"/>
            <a:ext cx="2103120" cy="1115568"/>
          </a:xfrm>
          <a:prstGeom prst="roundRect">
            <a:avLst>
              <a:gd name="adj" fmla="val 6557"/>
            </a:avLst>
          </a:prstGeom>
          <a:solidFill>
            <a:srgbClr val="FFFFFF"/>
          </a:solidFill>
          <a:ln w="12700">
            <a:solidFill>
              <a:srgbClr val="E2E6EB"/>
            </a:solidFill>
            <a:prstDash val="solid"/>
          </a:ln>
          <a:effectLst>
            <a:outerShdw sx="100000" sy="100000" kx="0" ky="0" algn="bl" rotWithShape="0" blurRad="101600" dist="25400" dir="5400000">
              <a:srgbClr val="9AA3AD">
                <a:alpha val="30000"/>
              </a:srgbClr>
            </a:outerShdw>
          </a:effectLst>
        </p:spPr>
      </p:sp>
      <p:pic>
        <p:nvPicPr>
          <p:cNvPr id="14" name="Image 2" descr="assets/cli_roche.png">    </p:cNvPr>
          <p:cNvPicPr>
            <a:picLocks noChangeAspect="1"/>
          </p:cNvPicPr>
          <p:nvPr/>
        </p:nvPicPr>
        <p:blipFill>
          <a:blip r:embed="rId3"/>
          <a:srcRect l="0" r="0" t="0" b="0"/>
          <a:stretch/>
        </p:blipFill>
        <p:spPr>
          <a:xfrm>
            <a:off x="3291840" y="2435962"/>
            <a:ext cx="1645920" cy="669341"/>
          </a:xfrm>
          <a:prstGeom prst="rect">
            <a:avLst/>
          </a:prstGeom>
        </p:spPr>
      </p:pic>
      <p:sp>
        <p:nvSpPr>
          <p:cNvPr id="15" name="Shape 10"/>
          <p:cNvSpPr/>
          <p:nvPr/>
        </p:nvSpPr>
        <p:spPr>
          <a:xfrm>
            <a:off x="5394960" y="2212848"/>
            <a:ext cx="2103120" cy="1115568"/>
          </a:xfrm>
          <a:prstGeom prst="roundRect">
            <a:avLst>
              <a:gd name="adj" fmla="val 6557"/>
            </a:avLst>
          </a:prstGeom>
          <a:solidFill>
            <a:srgbClr val="FFFFFF"/>
          </a:solidFill>
          <a:ln w="12700">
            <a:solidFill>
              <a:srgbClr val="E2E6EB"/>
            </a:solidFill>
            <a:prstDash val="solid"/>
          </a:ln>
          <a:effectLst>
            <a:outerShdw sx="100000" sy="100000" kx="0" ky="0" algn="bl" rotWithShape="0" blurRad="101600" dist="25400" dir="5400000">
              <a:srgbClr val="9AA3AD">
                <a:alpha val="30000"/>
              </a:srgbClr>
            </a:outerShdw>
          </a:effectLst>
        </p:spPr>
      </p:sp>
      <p:pic>
        <p:nvPicPr>
          <p:cNvPr id="16" name="Image 3" descr="assets/cli_kraftheinz.png">    </p:cNvPr>
          <p:cNvPicPr>
            <a:picLocks noChangeAspect="1"/>
          </p:cNvPicPr>
          <p:nvPr/>
        </p:nvPicPr>
        <p:blipFill>
          <a:blip r:embed="rId4"/>
          <a:srcRect l="0" r="0" t="0" b="0"/>
          <a:stretch/>
        </p:blipFill>
        <p:spPr>
          <a:xfrm>
            <a:off x="5623560" y="2435962"/>
            <a:ext cx="1645920" cy="669341"/>
          </a:xfrm>
          <a:prstGeom prst="rect">
            <a:avLst/>
          </a:prstGeom>
        </p:spPr>
      </p:pic>
      <p:sp>
        <p:nvSpPr>
          <p:cNvPr id="17" name="Shape 11"/>
          <p:cNvSpPr/>
          <p:nvPr/>
        </p:nvSpPr>
        <p:spPr>
          <a:xfrm>
            <a:off x="731520" y="3511296"/>
            <a:ext cx="2103120" cy="1115568"/>
          </a:xfrm>
          <a:prstGeom prst="roundRect">
            <a:avLst>
              <a:gd name="adj" fmla="val 6557"/>
            </a:avLst>
          </a:prstGeom>
          <a:solidFill>
            <a:srgbClr val="FFFFFF"/>
          </a:solidFill>
          <a:ln w="12700">
            <a:solidFill>
              <a:srgbClr val="E2E6EB"/>
            </a:solidFill>
            <a:prstDash val="solid"/>
          </a:ln>
          <a:effectLst>
            <a:outerShdw sx="100000" sy="100000" kx="0" ky="0" algn="bl" rotWithShape="0" blurRad="101600" dist="25400" dir="5400000">
              <a:srgbClr val="9AA3AD">
                <a:alpha val="30000"/>
              </a:srgbClr>
            </a:outerShdw>
          </a:effectLst>
        </p:spPr>
      </p:sp>
      <p:pic>
        <p:nvPicPr>
          <p:cNvPr id="18" name="Image 4" descr="assets/cli_cargill.png">    </p:cNvPr>
          <p:cNvPicPr>
            <a:picLocks noChangeAspect="1"/>
          </p:cNvPicPr>
          <p:nvPr/>
        </p:nvPicPr>
        <p:blipFill>
          <a:blip r:embed="rId5"/>
          <a:srcRect l="0" r="0" t="0" b="0"/>
          <a:stretch/>
        </p:blipFill>
        <p:spPr>
          <a:xfrm>
            <a:off x="960120" y="3734410"/>
            <a:ext cx="1645920" cy="669341"/>
          </a:xfrm>
          <a:prstGeom prst="rect">
            <a:avLst/>
          </a:prstGeom>
        </p:spPr>
      </p:pic>
      <p:sp>
        <p:nvSpPr>
          <p:cNvPr id="19" name="Shape 12"/>
          <p:cNvSpPr/>
          <p:nvPr/>
        </p:nvSpPr>
        <p:spPr>
          <a:xfrm>
            <a:off x="3063240" y="3511296"/>
            <a:ext cx="2103120" cy="1115568"/>
          </a:xfrm>
          <a:prstGeom prst="roundRect">
            <a:avLst>
              <a:gd name="adj" fmla="val 6557"/>
            </a:avLst>
          </a:prstGeom>
          <a:solidFill>
            <a:srgbClr val="FFFFFF"/>
          </a:solidFill>
          <a:ln w="12700">
            <a:solidFill>
              <a:srgbClr val="E2E6EB"/>
            </a:solidFill>
            <a:prstDash val="solid"/>
          </a:ln>
          <a:effectLst>
            <a:outerShdw sx="100000" sy="100000" kx="0" ky="0" algn="bl" rotWithShape="0" blurRad="101600" dist="25400" dir="5400000">
              <a:srgbClr val="9AA3AD">
                <a:alpha val="30000"/>
              </a:srgbClr>
            </a:outerShdw>
          </a:effectLst>
        </p:spPr>
      </p:sp>
      <p:pic>
        <p:nvPicPr>
          <p:cNvPr id="20" name="Image 5" descr="assets/cli_votorantim.png">    </p:cNvPr>
          <p:cNvPicPr>
            <a:picLocks noChangeAspect="1"/>
          </p:cNvPicPr>
          <p:nvPr/>
        </p:nvPicPr>
        <p:blipFill>
          <a:blip r:embed="rId6"/>
          <a:srcRect l="0" r="0" t="0" b="0"/>
          <a:stretch/>
        </p:blipFill>
        <p:spPr>
          <a:xfrm>
            <a:off x="3291840" y="3734410"/>
            <a:ext cx="1645920" cy="669341"/>
          </a:xfrm>
          <a:prstGeom prst="rect">
            <a:avLst/>
          </a:prstGeom>
        </p:spPr>
      </p:pic>
      <p:sp>
        <p:nvSpPr>
          <p:cNvPr id="21" name="Shape 13"/>
          <p:cNvSpPr/>
          <p:nvPr/>
        </p:nvSpPr>
        <p:spPr>
          <a:xfrm>
            <a:off x="5394960" y="3511296"/>
            <a:ext cx="2103120" cy="1115568"/>
          </a:xfrm>
          <a:prstGeom prst="roundRect">
            <a:avLst>
              <a:gd name="adj" fmla="val 6557"/>
            </a:avLst>
          </a:prstGeom>
          <a:solidFill>
            <a:srgbClr val="FFFFFF"/>
          </a:solidFill>
          <a:ln w="12700">
            <a:solidFill>
              <a:srgbClr val="E2E6EB"/>
            </a:solidFill>
            <a:prstDash val="solid"/>
          </a:ln>
          <a:effectLst>
            <a:outerShdw sx="100000" sy="100000" kx="0" ky="0" algn="bl" rotWithShape="0" blurRad="101600" dist="25400" dir="5400000">
              <a:srgbClr val="9AA3AD">
                <a:alpha val="30000"/>
              </a:srgbClr>
            </a:outerShdw>
          </a:effectLst>
        </p:spPr>
      </p:sp>
      <p:pic>
        <p:nvPicPr>
          <p:cNvPr id="22" name="Image 6" descr="assets/cli_jbs.png">    </p:cNvPr>
          <p:cNvPicPr>
            <a:picLocks noChangeAspect="1"/>
          </p:cNvPicPr>
          <p:nvPr/>
        </p:nvPicPr>
        <p:blipFill>
          <a:blip r:embed="rId7"/>
          <a:srcRect l="0" r="0" t="0" b="0"/>
          <a:stretch/>
        </p:blipFill>
        <p:spPr>
          <a:xfrm>
            <a:off x="5623560" y="3734410"/>
            <a:ext cx="1645920" cy="669341"/>
          </a:xfrm>
          <a:prstGeom prst="rect">
            <a:avLst/>
          </a:prstGeom>
        </p:spPr>
      </p:pic>
      <p:sp>
        <p:nvSpPr>
          <p:cNvPr id="23" name="Shape 14"/>
          <p:cNvSpPr/>
          <p:nvPr/>
        </p:nvSpPr>
        <p:spPr>
          <a:xfrm>
            <a:off x="3063240" y="4809744"/>
            <a:ext cx="2103120" cy="1115568"/>
          </a:xfrm>
          <a:prstGeom prst="roundRect">
            <a:avLst>
              <a:gd name="adj" fmla="val 6557"/>
            </a:avLst>
          </a:prstGeom>
          <a:solidFill>
            <a:srgbClr val="FFFFFF"/>
          </a:solidFill>
          <a:ln w="12700">
            <a:solidFill>
              <a:srgbClr val="E2E6EB"/>
            </a:solidFill>
            <a:prstDash val="solid"/>
          </a:ln>
          <a:effectLst>
            <a:outerShdw sx="100000" sy="100000" kx="0" ky="0" algn="bl" rotWithShape="0" blurRad="101600" dist="25400" dir="5400000">
              <a:srgbClr val="9AA3AD">
                <a:alpha val="30000"/>
              </a:srgbClr>
            </a:outerShdw>
          </a:effectLst>
        </p:spPr>
      </p:sp>
      <p:pic>
        <p:nvPicPr>
          <p:cNvPr id="24" name="Image 7" descr="assets/cli_mbrf.png">    </p:cNvPr>
          <p:cNvPicPr>
            <a:picLocks noChangeAspect="1"/>
          </p:cNvPicPr>
          <p:nvPr/>
        </p:nvPicPr>
        <p:blipFill>
          <a:blip r:embed="rId8"/>
          <a:srcRect l="0" r="0" t="0" b="0"/>
          <a:stretch/>
        </p:blipFill>
        <p:spPr>
          <a:xfrm>
            <a:off x="3291840" y="5032858"/>
            <a:ext cx="1645920" cy="669341"/>
          </a:xfrm>
          <a:prstGeom prst="rect">
            <a:avLst/>
          </a:prstGeom>
        </p:spPr>
      </p:pic>
      <p:sp>
        <p:nvSpPr>
          <p:cNvPr id="25" name="Text 15"/>
          <p:cNvSpPr/>
          <p:nvPr/>
        </p:nvSpPr>
        <p:spPr>
          <a:xfrm>
            <a:off x="7635240" y="1874520"/>
            <a:ext cx="3824935" cy="237744"/>
          </a:xfrm>
          <a:prstGeom prst="rect">
            <a:avLst/>
          </a:prstGeom>
          <a:noFill/>
          <a:ln/>
        </p:spPr>
        <p:txBody>
          <a:bodyPr wrap="square" lIns="0" tIns="0" rIns="0" bIns="0" rtlCol="0" anchor="ctr"/>
          <a:lstStyle/>
          <a:p>
            <a:pPr indent="0" marL="0">
              <a:buNone/>
            </a:pPr>
            <a:r>
              <a:rPr lang="en-US" sz="900" spc="100" kern="0" dirty="0">
                <a:solidFill>
                  <a:srgbClr val="F35B1A"/>
                </a:solidFill>
                <a:latin typeface="Poppins SemiBold" pitchFamily="34" charset="0"/>
                <a:ea typeface="Poppins SemiBold" pitchFamily="34" charset="-122"/>
                <a:cs typeface="Poppins SemiBold" pitchFamily="34" charset="-120"/>
              </a:rPr>
              <a:t>PORTFOLIO CHARACTERISTICS</a:t>
            </a:r>
            <a:endParaRPr lang="en-US" sz="900" dirty="0"/>
          </a:p>
        </p:txBody>
      </p:sp>
      <p:sp>
        <p:nvSpPr>
          <p:cNvPr id="26" name="Shape 16"/>
          <p:cNvSpPr/>
          <p:nvPr/>
        </p:nvSpPr>
        <p:spPr>
          <a:xfrm>
            <a:off x="7635240" y="2212848"/>
            <a:ext cx="3824935" cy="731520"/>
          </a:xfrm>
          <a:prstGeom prst="roundRect">
            <a:avLst>
              <a:gd name="adj" fmla="val 11250"/>
            </a:avLst>
          </a:prstGeom>
          <a:solidFill>
            <a:srgbClr val="F4F6F8"/>
          </a:solidFill>
          <a:ln w="12700">
            <a:solidFill>
              <a:srgbClr val="E2E6EB"/>
            </a:solidFill>
            <a:prstDash val="solid"/>
          </a:ln>
        </p:spPr>
      </p:sp>
      <p:sp>
        <p:nvSpPr>
          <p:cNvPr id="27" name="Shape 17"/>
          <p:cNvSpPr/>
          <p:nvPr/>
        </p:nvSpPr>
        <p:spPr>
          <a:xfrm>
            <a:off x="7799832" y="2350008"/>
            <a:ext cx="457200" cy="457200"/>
          </a:xfrm>
          <a:prstGeom prst="ellipse">
            <a:avLst/>
          </a:prstGeom>
          <a:solidFill>
            <a:srgbClr val="FFFFFF"/>
          </a:solidFill>
          <a:ln/>
        </p:spPr>
      </p:sp>
      <p:pic>
        <p:nvPicPr>
          <p:cNvPr id="28" name="Image 8" descr="assets/icons/users_orange.png">    </p:cNvPr>
          <p:cNvPicPr>
            <a:picLocks noChangeAspect="1"/>
          </p:cNvPicPr>
          <p:nvPr/>
        </p:nvPicPr>
        <p:blipFill>
          <a:blip r:embed="rId9"/>
          <a:stretch>
            <a:fillRect/>
          </a:stretch>
        </p:blipFill>
        <p:spPr>
          <a:xfrm>
            <a:off x="7923276" y="2473452"/>
            <a:ext cx="210312" cy="210312"/>
          </a:xfrm>
          <a:prstGeom prst="rect">
            <a:avLst/>
          </a:prstGeom>
        </p:spPr>
      </p:pic>
      <p:sp>
        <p:nvSpPr>
          <p:cNvPr id="29" name="Text 18"/>
          <p:cNvSpPr/>
          <p:nvPr/>
        </p:nvSpPr>
        <p:spPr>
          <a:xfrm>
            <a:off x="8385048" y="2304288"/>
            <a:ext cx="2910535" cy="347472"/>
          </a:xfrm>
          <a:prstGeom prst="rect">
            <a:avLst/>
          </a:prstGeom>
          <a:noFill/>
          <a:ln/>
        </p:spPr>
        <p:txBody>
          <a:bodyPr wrap="square" lIns="0" tIns="0" rIns="0" bIns="0" rtlCol="0" anchor="ctr"/>
          <a:lstStyle/>
          <a:p>
            <a:pPr indent="0" marL="0">
              <a:buNone/>
            </a:pPr>
            <a:r>
              <a:rPr lang="en-US" sz="1600" dirty="0">
                <a:solidFill>
                  <a:srgbClr val="141A24"/>
                </a:solidFill>
                <a:latin typeface="Poppins SemiBold" pitchFamily="34" charset="0"/>
                <a:ea typeface="Poppins SemiBold" pitchFamily="34" charset="-122"/>
                <a:cs typeface="Poppins SemiBold" pitchFamily="34" charset="-120"/>
              </a:rPr>
              <a:t>+50</a:t>
            </a:r>
            <a:endParaRPr lang="en-US" sz="1600" dirty="0"/>
          </a:p>
        </p:txBody>
      </p:sp>
      <p:sp>
        <p:nvSpPr>
          <p:cNvPr id="30" name="Text 19"/>
          <p:cNvSpPr/>
          <p:nvPr/>
        </p:nvSpPr>
        <p:spPr>
          <a:xfrm>
            <a:off x="8385048" y="2633472"/>
            <a:ext cx="2910535" cy="256032"/>
          </a:xfrm>
          <a:prstGeom prst="rect">
            <a:avLst/>
          </a:prstGeom>
          <a:noFill/>
          <a:ln/>
        </p:spPr>
        <p:txBody>
          <a:bodyPr wrap="square" lIns="0" tIns="0" rIns="0" bIns="0" rtlCol="0" anchor="t"/>
          <a:lstStyle/>
          <a:p>
            <a:pPr indent="0" marL="0">
              <a:buNone/>
            </a:pPr>
            <a:r>
              <a:rPr lang="en-US" sz="900" dirty="0">
                <a:solidFill>
                  <a:srgbClr val="6C7683"/>
                </a:solidFill>
                <a:latin typeface="Poppins" pitchFamily="34" charset="0"/>
                <a:ea typeface="Poppins" pitchFamily="34" charset="-122"/>
                <a:cs typeface="Poppins" pitchFamily="34" charset="-120"/>
              </a:rPr>
              <a:t>clients served</a:t>
            </a:r>
            <a:endParaRPr lang="en-US" sz="900" dirty="0"/>
          </a:p>
        </p:txBody>
      </p:sp>
      <p:sp>
        <p:nvSpPr>
          <p:cNvPr id="31" name="Shape 20"/>
          <p:cNvSpPr/>
          <p:nvPr/>
        </p:nvSpPr>
        <p:spPr>
          <a:xfrm>
            <a:off x="7635240" y="3063240"/>
            <a:ext cx="3824935" cy="731520"/>
          </a:xfrm>
          <a:prstGeom prst="roundRect">
            <a:avLst>
              <a:gd name="adj" fmla="val 11250"/>
            </a:avLst>
          </a:prstGeom>
          <a:solidFill>
            <a:srgbClr val="F4F6F8"/>
          </a:solidFill>
          <a:ln w="12700">
            <a:solidFill>
              <a:srgbClr val="E2E6EB"/>
            </a:solidFill>
            <a:prstDash val="solid"/>
          </a:ln>
        </p:spPr>
      </p:sp>
      <p:sp>
        <p:nvSpPr>
          <p:cNvPr id="32" name="Shape 21"/>
          <p:cNvSpPr/>
          <p:nvPr/>
        </p:nvSpPr>
        <p:spPr>
          <a:xfrm>
            <a:off x="7799832" y="3200400"/>
            <a:ext cx="457200" cy="457200"/>
          </a:xfrm>
          <a:prstGeom prst="ellipse">
            <a:avLst/>
          </a:prstGeom>
          <a:solidFill>
            <a:srgbClr val="FFFFFF"/>
          </a:solidFill>
          <a:ln/>
        </p:spPr>
      </p:sp>
      <p:pic>
        <p:nvPicPr>
          <p:cNvPr id="33" name="Image 9" descr="assets/icons/clock_orange.png">    </p:cNvPr>
          <p:cNvPicPr>
            <a:picLocks noChangeAspect="1"/>
          </p:cNvPicPr>
          <p:nvPr/>
        </p:nvPicPr>
        <p:blipFill>
          <a:blip r:embed="rId10"/>
          <a:stretch>
            <a:fillRect/>
          </a:stretch>
        </p:blipFill>
        <p:spPr>
          <a:xfrm>
            <a:off x="7923276" y="3323844"/>
            <a:ext cx="210312" cy="210312"/>
          </a:xfrm>
          <a:prstGeom prst="rect">
            <a:avLst/>
          </a:prstGeom>
        </p:spPr>
      </p:pic>
      <p:sp>
        <p:nvSpPr>
          <p:cNvPr id="34" name="Text 22"/>
          <p:cNvSpPr/>
          <p:nvPr/>
        </p:nvSpPr>
        <p:spPr>
          <a:xfrm>
            <a:off x="8385048" y="3154680"/>
            <a:ext cx="2910535" cy="347472"/>
          </a:xfrm>
          <a:prstGeom prst="rect">
            <a:avLst/>
          </a:prstGeom>
          <a:noFill/>
          <a:ln/>
        </p:spPr>
        <p:txBody>
          <a:bodyPr wrap="square" lIns="0" tIns="0" rIns="0" bIns="0" rtlCol="0" anchor="ctr"/>
          <a:lstStyle/>
          <a:p>
            <a:pPr indent="0" marL="0">
              <a:buNone/>
            </a:pPr>
            <a:r>
              <a:rPr lang="en-US" sz="1600" dirty="0">
                <a:solidFill>
                  <a:srgbClr val="141A24"/>
                </a:solidFill>
                <a:latin typeface="Poppins SemiBold" pitchFamily="34" charset="0"/>
                <a:ea typeface="Poppins SemiBold" pitchFamily="34" charset="-122"/>
                <a:cs typeface="Poppins SemiBold" pitchFamily="34" charset="-120"/>
              </a:rPr>
              <a:t>3–5 years</a:t>
            </a:r>
            <a:endParaRPr lang="en-US" sz="1600" dirty="0"/>
          </a:p>
        </p:txBody>
      </p:sp>
      <p:sp>
        <p:nvSpPr>
          <p:cNvPr id="35" name="Text 23"/>
          <p:cNvSpPr/>
          <p:nvPr/>
        </p:nvSpPr>
        <p:spPr>
          <a:xfrm>
            <a:off x="8385048" y="3483864"/>
            <a:ext cx="2910535" cy="256032"/>
          </a:xfrm>
          <a:prstGeom prst="rect">
            <a:avLst/>
          </a:prstGeom>
          <a:noFill/>
          <a:ln/>
        </p:spPr>
        <p:txBody>
          <a:bodyPr wrap="square" lIns="0" tIns="0" rIns="0" bIns="0" rtlCol="0" anchor="t"/>
          <a:lstStyle/>
          <a:p>
            <a:pPr indent="0" marL="0">
              <a:buNone/>
            </a:pPr>
            <a:r>
              <a:rPr lang="en-US" sz="900" dirty="0">
                <a:solidFill>
                  <a:srgbClr val="6C7683"/>
                </a:solidFill>
                <a:latin typeface="Poppins" pitchFamily="34" charset="0"/>
                <a:ea typeface="Poppins" pitchFamily="34" charset="-122"/>
                <a:cs typeface="Poppins" pitchFamily="34" charset="-120"/>
              </a:rPr>
              <a:t>average contract term</a:t>
            </a:r>
            <a:endParaRPr lang="en-US" sz="900" dirty="0"/>
          </a:p>
        </p:txBody>
      </p:sp>
      <p:sp>
        <p:nvSpPr>
          <p:cNvPr id="36" name="Shape 24"/>
          <p:cNvSpPr/>
          <p:nvPr/>
        </p:nvSpPr>
        <p:spPr>
          <a:xfrm>
            <a:off x="7635240" y="3913632"/>
            <a:ext cx="3824935" cy="731520"/>
          </a:xfrm>
          <a:prstGeom prst="roundRect">
            <a:avLst>
              <a:gd name="adj" fmla="val 11250"/>
            </a:avLst>
          </a:prstGeom>
          <a:solidFill>
            <a:srgbClr val="F4F6F8"/>
          </a:solidFill>
          <a:ln w="12700">
            <a:solidFill>
              <a:srgbClr val="E2E6EB"/>
            </a:solidFill>
            <a:prstDash val="solid"/>
          </a:ln>
        </p:spPr>
      </p:sp>
      <p:sp>
        <p:nvSpPr>
          <p:cNvPr id="37" name="Shape 25"/>
          <p:cNvSpPr/>
          <p:nvPr/>
        </p:nvSpPr>
        <p:spPr>
          <a:xfrm>
            <a:off x="7799832" y="4050792"/>
            <a:ext cx="457200" cy="457200"/>
          </a:xfrm>
          <a:prstGeom prst="ellipse">
            <a:avLst/>
          </a:prstGeom>
          <a:solidFill>
            <a:srgbClr val="FFFFFF"/>
          </a:solidFill>
          <a:ln/>
        </p:spPr>
      </p:sp>
      <p:pic>
        <p:nvPicPr>
          <p:cNvPr id="38" name="Image 10" descr="assets/icons/repeat_orange.png">    </p:cNvPr>
          <p:cNvPicPr>
            <a:picLocks noChangeAspect="1"/>
          </p:cNvPicPr>
          <p:nvPr/>
        </p:nvPicPr>
        <p:blipFill>
          <a:blip r:embed="rId11"/>
          <a:stretch>
            <a:fillRect/>
          </a:stretch>
        </p:blipFill>
        <p:spPr>
          <a:xfrm>
            <a:off x="7923276" y="4174236"/>
            <a:ext cx="210312" cy="210312"/>
          </a:xfrm>
          <a:prstGeom prst="rect">
            <a:avLst/>
          </a:prstGeom>
        </p:spPr>
      </p:pic>
      <p:sp>
        <p:nvSpPr>
          <p:cNvPr id="39" name="Text 26"/>
          <p:cNvSpPr/>
          <p:nvPr/>
        </p:nvSpPr>
        <p:spPr>
          <a:xfrm>
            <a:off x="8385048" y="4005072"/>
            <a:ext cx="2910535" cy="347472"/>
          </a:xfrm>
          <a:prstGeom prst="rect">
            <a:avLst/>
          </a:prstGeom>
          <a:noFill/>
          <a:ln/>
        </p:spPr>
        <p:txBody>
          <a:bodyPr wrap="square" lIns="0" tIns="0" rIns="0" bIns="0" rtlCol="0" anchor="ctr"/>
          <a:lstStyle/>
          <a:p>
            <a:pPr indent="0" marL="0">
              <a:buNone/>
            </a:pPr>
            <a:r>
              <a:rPr lang="en-US" sz="1600" dirty="0">
                <a:solidFill>
                  <a:srgbClr val="141A24"/>
                </a:solidFill>
                <a:latin typeface="Poppins SemiBold" pitchFamily="34" charset="0"/>
                <a:ea typeface="Poppins SemiBold" pitchFamily="34" charset="-122"/>
                <a:cs typeface="Poppins SemiBold" pitchFamily="34" charset="-120"/>
              </a:rPr>
              <a:t>Recurring</a:t>
            </a:r>
            <a:endParaRPr lang="en-US" sz="1600" dirty="0"/>
          </a:p>
        </p:txBody>
      </p:sp>
      <p:sp>
        <p:nvSpPr>
          <p:cNvPr id="40" name="Text 27"/>
          <p:cNvSpPr/>
          <p:nvPr/>
        </p:nvSpPr>
        <p:spPr>
          <a:xfrm>
            <a:off x="8385048" y="4334256"/>
            <a:ext cx="2910535" cy="256032"/>
          </a:xfrm>
          <a:prstGeom prst="rect">
            <a:avLst/>
          </a:prstGeom>
          <a:noFill/>
          <a:ln/>
        </p:spPr>
        <p:txBody>
          <a:bodyPr wrap="square" lIns="0" tIns="0" rIns="0" bIns="0" rtlCol="0" anchor="t"/>
          <a:lstStyle/>
          <a:p>
            <a:pPr indent="0" marL="0">
              <a:buNone/>
            </a:pPr>
            <a:r>
              <a:rPr lang="en-US" sz="900" dirty="0">
                <a:solidFill>
                  <a:srgbClr val="6C7683"/>
                </a:solidFill>
                <a:latin typeface="Poppins" pitchFamily="34" charset="0"/>
                <a:ea typeface="Poppins" pitchFamily="34" charset="-122"/>
                <a:cs typeface="Poppins" pitchFamily="34" charset="-120"/>
              </a:rPr>
              <a:t>revenue contract model</a:t>
            </a:r>
            <a:endParaRPr lang="en-US" sz="900" dirty="0"/>
          </a:p>
        </p:txBody>
      </p:sp>
      <p:sp>
        <p:nvSpPr>
          <p:cNvPr id="41" name="Shape 28"/>
          <p:cNvSpPr/>
          <p:nvPr/>
        </p:nvSpPr>
        <p:spPr>
          <a:xfrm>
            <a:off x="7635240" y="4764024"/>
            <a:ext cx="3824935" cy="731520"/>
          </a:xfrm>
          <a:prstGeom prst="roundRect">
            <a:avLst>
              <a:gd name="adj" fmla="val 11250"/>
            </a:avLst>
          </a:prstGeom>
          <a:solidFill>
            <a:srgbClr val="F4F6F8"/>
          </a:solidFill>
          <a:ln w="12700">
            <a:solidFill>
              <a:srgbClr val="E2E6EB"/>
            </a:solidFill>
            <a:prstDash val="solid"/>
          </a:ln>
        </p:spPr>
      </p:sp>
      <p:sp>
        <p:nvSpPr>
          <p:cNvPr id="42" name="Shape 29"/>
          <p:cNvSpPr/>
          <p:nvPr/>
        </p:nvSpPr>
        <p:spPr>
          <a:xfrm>
            <a:off x="7799832" y="4901184"/>
            <a:ext cx="457200" cy="457200"/>
          </a:xfrm>
          <a:prstGeom prst="ellipse">
            <a:avLst/>
          </a:prstGeom>
          <a:solidFill>
            <a:srgbClr val="FFFFFF"/>
          </a:solidFill>
          <a:ln/>
        </p:spPr>
      </p:sp>
      <p:pic>
        <p:nvPicPr>
          <p:cNvPr id="43" name="Image 11" descr="assets/icons/barchart_orange.png">    </p:cNvPr>
          <p:cNvPicPr>
            <a:picLocks noChangeAspect="1"/>
          </p:cNvPicPr>
          <p:nvPr/>
        </p:nvPicPr>
        <p:blipFill>
          <a:blip r:embed="rId12"/>
          <a:stretch>
            <a:fillRect/>
          </a:stretch>
        </p:blipFill>
        <p:spPr>
          <a:xfrm>
            <a:off x="7923276" y="5024628"/>
            <a:ext cx="210312" cy="210312"/>
          </a:xfrm>
          <a:prstGeom prst="rect">
            <a:avLst/>
          </a:prstGeom>
        </p:spPr>
      </p:pic>
      <p:sp>
        <p:nvSpPr>
          <p:cNvPr id="44" name="Text 30"/>
          <p:cNvSpPr/>
          <p:nvPr/>
        </p:nvSpPr>
        <p:spPr>
          <a:xfrm>
            <a:off x="8385048" y="4855464"/>
            <a:ext cx="2910535" cy="347472"/>
          </a:xfrm>
          <a:prstGeom prst="rect">
            <a:avLst/>
          </a:prstGeom>
          <a:noFill/>
          <a:ln/>
        </p:spPr>
        <p:txBody>
          <a:bodyPr wrap="square" lIns="0" tIns="0" rIns="0" bIns="0" rtlCol="0" anchor="ctr"/>
          <a:lstStyle/>
          <a:p>
            <a:pPr indent="0" marL="0">
              <a:buNone/>
            </a:pPr>
            <a:r>
              <a:rPr lang="en-US" sz="1600" dirty="0">
                <a:solidFill>
                  <a:srgbClr val="141A24"/>
                </a:solidFill>
                <a:latin typeface="Poppins SemiBold" pitchFamily="34" charset="0"/>
                <a:ea typeface="Poppins SemiBold" pitchFamily="34" charset="-122"/>
                <a:cs typeface="Poppins SemiBold" pitchFamily="34" charset="-120"/>
              </a:rPr>
              <a:t>[XXX]</a:t>
            </a:r>
            <a:endParaRPr lang="en-US" sz="1600" dirty="0"/>
          </a:p>
        </p:txBody>
      </p:sp>
      <p:sp>
        <p:nvSpPr>
          <p:cNvPr id="45" name="Text 31"/>
          <p:cNvSpPr/>
          <p:nvPr/>
        </p:nvSpPr>
        <p:spPr>
          <a:xfrm>
            <a:off x="8385048" y="5184648"/>
            <a:ext cx="2910535" cy="256032"/>
          </a:xfrm>
          <a:prstGeom prst="rect">
            <a:avLst/>
          </a:prstGeom>
          <a:noFill/>
          <a:ln/>
        </p:spPr>
        <p:txBody>
          <a:bodyPr wrap="square" lIns="0" tIns="0" rIns="0" bIns="0" rtlCol="0" anchor="t"/>
          <a:lstStyle/>
          <a:p>
            <a:pPr indent="0" marL="0">
              <a:buNone/>
            </a:pPr>
            <a:r>
              <a:rPr lang="en-US" sz="900" dirty="0">
                <a:solidFill>
                  <a:srgbClr val="6C7683"/>
                </a:solidFill>
                <a:latin typeface="Poppins" pitchFamily="34" charset="0"/>
                <a:ea typeface="Poppins" pitchFamily="34" charset="-122"/>
                <a:cs typeface="Poppins" pitchFamily="34" charset="-120"/>
              </a:rPr>
              <a:t>of contract backlog</a:t>
            </a:r>
            <a:endParaRPr lang="en-US" sz="900" dirty="0"/>
          </a:p>
        </p:txBody>
      </p:sp>
      <p:sp>
        <p:nvSpPr>
          <p:cNvPr id="46" name="Shape 32"/>
          <p:cNvSpPr/>
          <p:nvPr/>
        </p:nvSpPr>
        <p:spPr>
          <a:xfrm>
            <a:off x="0" y="6172200"/>
            <a:ext cx="12191695" cy="685800"/>
          </a:xfrm>
          <a:prstGeom prst="rect">
            <a:avLst/>
          </a:prstGeom>
          <a:solidFill>
            <a:srgbClr val="141A24"/>
          </a:solidFill>
          <a:ln/>
        </p:spPr>
      </p:sp>
      <p:sp>
        <p:nvSpPr>
          <p:cNvPr id="47" name="Shape 33"/>
          <p:cNvSpPr/>
          <p:nvPr/>
        </p:nvSpPr>
        <p:spPr>
          <a:xfrm>
            <a:off x="0" y="6172200"/>
            <a:ext cx="128016" cy="685800"/>
          </a:xfrm>
          <a:prstGeom prst="rect">
            <a:avLst/>
          </a:prstGeom>
          <a:solidFill>
            <a:srgbClr val="F35B1A"/>
          </a:solidFill>
          <a:ln/>
        </p:spPr>
      </p:sp>
      <p:sp>
        <p:nvSpPr>
          <p:cNvPr id="48" name="Text 34"/>
          <p:cNvSpPr/>
          <p:nvPr/>
        </p:nvSpPr>
        <p:spPr>
          <a:xfrm>
            <a:off x="1828800" y="6172200"/>
            <a:ext cx="8534095" cy="685800"/>
          </a:xfrm>
          <a:prstGeom prst="rect">
            <a:avLst/>
          </a:prstGeom>
          <a:noFill/>
          <a:ln/>
        </p:spPr>
        <p:txBody>
          <a:bodyPr wrap="square" lIns="0" tIns="0" rIns="0" bIns="0" rtlCol="0" anchor="ctr"/>
          <a:lstStyle/>
          <a:p>
            <a:pPr algn="ctr" indent="0" marL="0">
              <a:lnSpc>
                <a:spcPct val="100000"/>
              </a:lnSpc>
              <a:buNone/>
            </a:pPr>
            <a:r>
              <a:rPr lang="en-US" sz="1200" dirty="0">
                <a:solidFill>
                  <a:srgbClr val="E8ECF1"/>
                </a:solidFill>
                <a:latin typeface="Poppins SemiBold" pitchFamily="34" charset="0"/>
                <a:ea typeface="Poppins SemiBold" pitchFamily="34" charset="-122"/>
                <a:cs typeface="Poppins SemiBold" pitchFamily="34" charset="-120"/>
              </a:rPr>
              <a:t>A recurring, contracted revenue base with </a:t>
            </a:r>
            <a:pPr algn="ctr" indent="0" marL="0">
              <a:lnSpc>
                <a:spcPct val="100000"/>
              </a:lnSpc>
              <a:buNone/>
            </a:pPr>
            <a:r>
              <a:rPr lang="en-US" sz="1200" dirty="0">
                <a:solidFill>
                  <a:srgbClr val="F35B1A"/>
                </a:solidFill>
                <a:latin typeface="Poppins SemiBold" pitchFamily="34" charset="0"/>
                <a:ea typeface="Poppins SemiBold" pitchFamily="34" charset="-122"/>
                <a:cs typeface="Poppins SemiBold" pitchFamily="34" charset="-120"/>
              </a:rPr>
              <a:t>blue-chip clients</a:t>
            </a:r>
            <a:pPr algn="ctr" indent="0" marL="0">
              <a:lnSpc>
                <a:spcPct val="100000"/>
              </a:lnSpc>
              <a:buNone/>
            </a:pPr>
            <a:r>
              <a:rPr lang="en-US" sz="1200" dirty="0">
                <a:solidFill>
                  <a:srgbClr val="E8ECF1"/>
                </a:solidFill>
                <a:latin typeface="Poppins SemiBold" pitchFamily="34" charset="0"/>
                <a:ea typeface="Poppins SemiBold" pitchFamily="34" charset="-122"/>
                <a:cs typeface="Poppins SemiBold" pitchFamily="34" charset="-120"/>
              </a:rPr>
              <a:t> underpins visibility and resilience</a:t>
            </a:r>
            <a:endParaRPr lang="en-US" sz="1200" dirty="0"/>
          </a:p>
        </p:txBody>
      </p:sp>
      <p:pic>
        <p:nvPicPr>
          <p:cNvPr id="49" name="Image 12" descr="assets/igc_white.png">    </p:cNvPr>
          <p:cNvPicPr>
            <a:picLocks noChangeAspect="1"/>
          </p:cNvPicPr>
          <p:nvPr/>
        </p:nvPicPr>
        <p:blipFill>
          <a:blip r:embed="rId13"/>
          <a:stretch>
            <a:fillRect/>
          </a:stretch>
        </p:blipFill>
        <p:spPr>
          <a:xfrm>
            <a:off x="731520" y="6382512"/>
            <a:ext cx="292608" cy="252943"/>
          </a:xfrm>
          <a:prstGeom prst="rect">
            <a:avLst/>
          </a:prstGeom>
        </p:spPr>
      </p:pic>
      <p:sp>
        <p:nvSpPr>
          <p:cNvPr id="50" name="Text 35"/>
          <p:cNvSpPr/>
          <p:nvPr/>
        </p:nvSpPr>
        <p:spPr>
          <a:xfrm>
            <a:off x="1115568" y="6377940"/>
            <a:ext cx="2743200" cy="274320"/>
          </a:xfrm>
          <a:prstGeom prst="rect">
            <a:avLst/>
          </a:prstGeom>
          <a:noFill/>
          <a:ln/>
        </p:spPr>
        <p:txBody>
          <a:bodyPr wrap="square" lIns="0" tIns="0" rIns="0" bIns="0" rtlCol="0" anchor="ctr"/>
          <a:lstStyle/>
          <a:p>
            <a:pPr algn="l" indent="0" marL="0">
              <a:buNone/>
            </a:pPr>
            <a:r>
              <a:rPr lang="en-US" sz="900" dirty="0">
                <a:solidFill>
                  <a:srgbClr val="FFFFFF"/>
                </a:solidFill>
                <a:latin typeface="Poppins Medium" pitchFamily="34" charset="0"/>
                <a:ea typeface="Poppins Medium" pitchFamily="34" charset="-122"/>
                <a:cs typeface="Poppins Medium" pitchFamily="34" charset="-120"/>
              </a:rPr>
              <a:t>9</a:t>
            </a:r>
            <a:pPr algn="l" indent="0" marL="0">
              <a:buNone/>
            </a:pPr>
            <a:r>
              <a:rPr lang="en-US" sz="900" dirty="0">
                <a:solidFill>
                  <a:srgbClr val="8B95A5"/>
                </a:solidFill>
                <a:latin typeface="Poppins" pitchFamily="34" charset="0"/>
                <a:ea typeface="Poppins" pitchFamily="34" charset="-122"/>
                <a:cs typeface="Poppins" pitchFamily="34" charset="-120"/>
              </a:rPr>
              <a:t>    Confidential</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assets/mobi_logo_navy.png">    </p:cNvPr>
          <p:cNvPicPr>
            <a:picLocks noChangeAspect="1"/>
          </p:cNvPicPr>
          <p:nvPr/>
        </p:nvPicPr>
        <p:blipFill>
          <a:blip r:embed="rId1"/>
          <a:stretch>
            <a:fillRect/>
          </a:stretch>
        </p:blipFill>
        <p:spPr>
          <a:xfrm>
            <a:off x="10545775" y="329184"/>
            <a:ext cx="914400" cy="292894"/>
          </a:xfrm>
          <a:prstGeom prst="rect">
            <a:avLst/>
          </a:prstGeom>
        </p:spPr>
      </p:pic>
      <p:sp>
        <p:nvSpPr>
          <p:cNvPr id="3" name="Shape 0"/>
          <p:cNvSpPr/>
          <p:nvPr/>
        </p:nvSpPr>
        <p:spPr>
          <a:xfrm>
            <a:off x="731520" y="329184"/>
            <a:ext cx="1549908" cy="329184"/>
          </a:xfrm>
          <a:prstGeom prst="roundRect">
            <a:avLst>
              <a:gd name="adj" fmla="val 25000"/>
            </a:avLst>
          </a:prstGeom>
          <a:solidFill>
            <a:srgbClr val="FDE9DE"/>
          </a:solidFill>
          <a:ln/>
        </p:spPr>
      </p:sp>
      <p:sp>
        <p:nvSpPr>
          <p:cNvPr id="4" name="Text 1"/>
          <p:cNvSpPr/>
          <p:nvPr/>
        </p:nvSpPr>
        <p:spPr>
          <a:xfrm>
            <a:off x="731520" y="329184"/>
            <a:ext cx="1549908" cy="329184"/>
          </a:xfrm>
          <a:prstGeom prst="rect">
            <a:avLst/>
          </a:prstGeom>
          <a:noFill/>
          <a:ln/>
        </p:spPr>
        <p:txBody>
          <a:bodyPr wrap="square" lIns="0" tIns="0" rIns="0" bIns="0" rtlCol="0" anchor="ctr"/>
          <a:lstStyle/>
          <a:p>
            <a:pPr algn="ctr" indent="0" marL="0">
              <a:buNone/>
            </a:pPr>
            <a:r>
              <a:rPr lang="en-US" sz="900" dirty="0">
                <a:solidFill>
                  <a:srgbClr val="C6470F"/>
                </a:solidFill>
                <a:latin typeface="Poppins Medium" pitchFamily="34" charset="0"/>
                <a:ea typeface="Poppins Medium" pitchFamily="34" charset="-122"/>
                <a:cs typeface="Poppins Medium" pitchFamily="34" charset="-120"/>
              </a:rPr>
              <a:t>Investment Thesis</a:t>
            </a:r>
            <a:endParaRPr lang="en-US" sz="900" dirty="0"/>
          </a:p>
        </p:txBody>
      </p:sp>
      <p:sp>
        <p:nvSpPr>
          <p:cNvPr id="5" name="Shape 2"/>
          <p:cNvSpPr/>
          <p:nvPr/>
        </p:nvSpPr>
        <p:spPr>
          <a:xfrm>
            <a:off x="731520" y="786384"/>
            <a:ext cx="457200" cy="457200"/>
          </a:xfrm>
          <a:prstGeom prst="ellipse">
            <a:avLst/>
          </a:prstGeom>
          <a:solidFill>
            <a:srgbClr val="F35B1A"/>
          </a:solidFill>
          <a:ln/>
        </p:spPr>
      </p:sp>
      <p:sp>
        <p:nvSpPr>
          <p:cNvPr id="6" name="Text 3"/>
          <p:cNvSpPr/>
          <p:nvPr/>
        </p:nvSpPr>
        <p:spPr>
          <a:xfrm>
            <a:off x="731520" y="786384"/>
            <a:ext cx="457200" cy="457200"/>
          </a:xfrm>
          <a:prstGeom prst="rect">
            <a:avLst/>
          </a:prstGeom>
          <a:noFill/>
          <a:ln/>
        </p:spPr>
        <p:txBody>
          <a:bodyPr wrap="square" lIns="0" tIns="0" rIns="0" bIns="0" rtlCol="0" anchor="ctr"/>
          <a:lstStyle/>
          <a:p>
            <a:pPr algn="ctr" indent="0" marL="0">
              <a:buNone/>
            </a:pPr>
            <a:r>
              <a:rPr lang="en-US" sz="1600" dirty="0">
                <a:solidFill>
                  <a:srgbClr val="FFFFFF"/>
                </a:solidFill>
                <a:latin typeface="Poppins SemiBold" pitchFamily="34" charset="0"/>
                <a:ea typeface="Poppins SemiBold" pitchFamily="34" charset="-122"/>
                <a:cs typeface="Poppins SemiBold" pitchFamily="34" charset="-120"/>
              </a:rPr>
              <a:t>2</a:t>
            </a:r>
            <a:endParaRPr lang="en-US" sz="1600" dirty="0"/>
          </a:p>
        </p:txBody>
      </p:sp>
      <p:sp>
        <p:nvSpPr>
          <p:cNvPr id="7" name="Text 4"/>
          <p:cNvSpPr/>
          <p:nvPr/>
        </p:nvSpPr>
        <p:spPr>
          <a:xfrm>
            <a:off x="1371600" y="731520"/>
            <a:ext cx="9448495" cy="548640"/>
          </a:xfrm>
          <a:prstGeom prst="rect">
            <a:avLst/>
          </a:prstGeom>
          <a:noFill/>
          <a:ln/>
        </p:spPr>
        <p:txBody>
          <a:bodyPr wrap="square" lIns="0" tIns="0" rIns="0" bIns="0" rtlCol="0" anchor="ctr"/>
          <a:lstStyle/>
          <a:p>
            <a:pPr algn="l" indent="0" marL="0">
              <a:buNone/>
            </a:pPr>
            <a:r>
              <a:rPr lang="en-US" sz="1800" dirty="0">
                <a:solidFill>
                  <a:srgbClr val="141A24"/>
                </a:solidFill>
                <a:latin typeface="Poppins SemiBold" pitchFamily="34" charset="0"/>
                <a:ea typeface="Poppins SemiBold" pitchFamily="34" charset="-122"/>
                <a:cs typeface="Poppins SemiBold" pitchFamily="34" charset="-120"/>
              </a:rPr>
              <a:t>A modern, fully-owned fleet tailored to client needs</a:t>
            </a:r>
            <a:endParaRPr lang="en-US" sz="1800" dirty="0"/>
          </a:p>
        </p:txBody>
      </p:sp>
      <p:sp>
        <p:nvSpPr>
          <p:cNvPr id="8" name="Text 5"/>
          <p:cNvSpPr/>
          <p:nvPr/>
        </p:nvSpPr>
        <p:spPr>
          <a:xfrm>
            <a:off x="731520" y="1298448"/>
            <a:ext cx="10088575" cy="438912"/>
          </a:xfrm>
          <a:prstGeom prst="rect">
            <a:avLst/>
          </a:prstGeom>
          <a:noFill/>
          <a:ln/>
        </p:spPr>
        <p:txBody>
          <a:bodyPr wrap="square" lIns="0" tIns="0" rIns="0" bIns="0" rtlCol="0" anchor="t"/>
          <a:lstStyle/>
          <a:p>
            <a:pPr algn="l" indent="0" marL="0">
              <a:lnSpc>
                <a:spcPct val="102000"/>
              </a:lnSpc>
              <a:buNone/>
            </a:pPr>
            <a:r>
              <a:rPr lang="en-US" sz="1050" dirty="0">
                <a:solidFill>
                  <a:srgbClr val="6C7683"/>
                </a:solidFill>
                <a:latin typeface="Poppins" pitchFamily="34" charset="0"/>
                <a:ea typeface="Poppins" pitchFamily="34" charset="-122"/>
                <a:cs typeface="Poppins" pitchFamily="34" charset="-120"/>
              </a:rPr>
              <a:t>+400 vehicles across buses, micro-buses and vans, sourced from leading chassis brands</a:t>
            </a:r>
            <a:endParaRPr lang="en-US" sz="1050" dirty="0"/>
          </a:p>
        </p:txBody>
      </p:sp>
      <p:sp>
        <p:nvSpPr>
          <p:cNvPr id="9" name="Text 6"/>
          <p:cNvSpPr/>
          <p:nvPr/>
        </p:nvSpPr>
        <p:spPr>
          <a:xfrm>
            <a:off x="731520" y="5888736"/>
            <a:ext cx="10362895" cy="219456"/>
          </a:xfrm>
          <a:prstGeom prst="rect">
            <a:avLst/>
          </a:prstGeom>
          <a:noFill/>
          <a:ln/>
        </p:spPr>
        <p:txBody>
          <a:bodyPr wrap="square" lIns="0" tIns="0" rIns="0" bIns="0" rtlCol="0" anchor="ctr"/>
          <a:lstStyle/>
          <a:p>
            <a:pPr algn="l" indent="0" marL="0">
              <a:buNone/>
            </a:pPr>
            <a:r>
              <a:rPr lang="en-US" sz="700" dirty="0">
                <a:solidFill>
                  <a:srgbClr val="9AA3AD"/>
                </a:solidFill>
                <a:latin typeface="Poppins" pitchFamily="34" charset="0"/>
                <a:ea typeface="Poppins" pitchFamily="34" charset="-122"/>
                <a:cs typeface="Poppins" pitchFamily="34" charset="-120"/>
              </a:rPr>
              <a:t>Source: Company; Jan-2026 fleet register. (1) Average age per Company materials. (2) 373 owned vehicles per Jan-26 fleet register; +400 aggregate fleet per Company materials. (3) Value of the fleet per Company materials.</a:t>
            </a:r>
            <a:endParaRPr lang="en-US" sz="700" dirty="0"/>
          </a:p>
        </p:txBody>
      </p:sp>
      <p:sp>
        <p:nvSpPr>
          <p:cNvPr id="10" name="Shape 7"/>
          <p:cNvSpPr/>
          <p:nvPr/>
        </p:nvSpPr>
        <p:spPr>
          <a:xfrm>
            <a:off x="731520" y="1874520"/>
            <a:ext cx="2788920" cy="3657600"/>
          </a:xfrm>
          <a:prstGeom prst="roundRect">
            <a:avLst>
              <a:gd name="adj" fmla="val 3934"/>
            </a:avLst>
          </a:prstGeom>
          <a:solidFill>
            <a:srgbClr val="141A24"/>
          </a:solidFill>
          <a:ln/>
          <a:effectLst>
            <a:outerShdw sx="100000" sy="100000" kx="0" ky="0" algn="bl" rotWithShape="0" blurRad="101600" dist="25400" dir="5400000">
              <a:srgbClr val="9AA3AD">
                <a:alpha val="30000"/>
              </a:srgbClr>
            </a:outerShdw>
          </a:effectLst>
        </p:spPr>
      </p:sp>
      <p:sp>
        <p:nvSpPr>
          <p:cNvPr id="11" name="Shape 8"/>
          <p:cNvSpPr/>
          <p:nvPr/>
        </p:nvSpPr>
        <p:spPr>
          <a:xfrm>
            <a:off x="731520" y="1874520"/>
            <a:ext cx="109728" cy="3657600"/>
          </a:xfrm>
          <a:prstGeom prst="rect">
            <a:avLst/>
          </a:prstGeom>
          <a:solidFill>
            <a:srgbClr val="F35B1A"/>
          </a:solidFill>
          <a:ln/>
        </p:spPr>
      </p:sp>
      <p:sp>
        <p:nvSpPr>
          <p:cNvPr id="12" name="Text 9"/>
          <p:cNvSpPr/>
          <p:nvPr/>
        </p:nvSpPr>
        <p:spPr>
          <a:xfrm>
            <a:off x="1042416" y="2075688"/>
            <a:ext cx="2240280" cy="274320"/>
          </a:xfrm>
          <a:prstGeom prst="rect">
            <a:avLst/>
          </a:prstGeom>
          <a:noFill/>
          <a:ln/>
        </p:spPr>
        <p:txBody>
          <a:bodyPr wrap="square" lIns="0" tIns="0" rIns="0" bIns="0" rtlCol="0" anchor="ctr"/>
          <a:lstStyle/>
          <a:p>
            <a:pPr indent="0" marL="0">
              <a:buNone/>
            </a:pPr>
            <a:r>
              <a:rPr lang="en-US" sz="1000" spc="200" kern="0" dirty="0">
                <a:solidFill>
                  <a:srgbClr val="F35B1A"/>
                </a:solidFill>
                <a:latin typeface="Poppins SemiBold" pitchFamily="34" charset="0"/>
                <a:ea typeface="Poppins SemiBold" pitchFamily="34" charset="-122"/>
                <a:cs typeface="Poppins SemiBold" pitchFamily="34" charset="-120"/>
              </a:rPr>
              <a:t>HIGHLIGHTS</a:t>
            </a:r>
            <a:endParaRPr lang="en-US" sz="1000" dirty="0"/>
          </a:p>
        </p:txBody>
      </p:sp>
      <p:sp>
        <p:nvSpPr>
          <p:cNvPr id="13" name="Text 10"/>
          <p:cNvSpPr/>
          <p:nvPr/>
        </p:nvSpPr>
        <p:spPr>
          <a:xfrm>
            <a:off x="1042416" y="2441448"/>
            <a:ext cx="2240280" cy="402336"/>
          </a:xfrm>
          <a:prstGeom prst="rect">
            <a:avLst/>
          </a:prstGeom>
          <a:noFill/>
          <a:ln/>
        </p:spPr>
        <p:txBody>
          <a:bodyPr wrap="square" lIns="0" tIns="0" rIns="0" bIns="0" rtlCol="0" anchor="b"/>
          <a:lstStyle/>
          <a:p>
            <a:pPr indent="0" marL="0">
              <a:buNone/>
            </a:pPr>
            <a:r>
              <a:rPr lang="en-US" sz="2000" dirty="0">
                <a:solidFill>
                  <a:srgbClr val="FFFFFF"/>
                </a:solidFill>
                <a:latin typeface="Poppins SemiBold" pitchFamily="34" charset="0"/>
                <a:ea typeface="Poppins SemiBold" pitchFamily="34" charset="-122"/>
                <a:cs typeface="Poppins SemiBold" pitchFamily="34" charset="-120"/>
              </a:rPr>
              <a:t>4 years</a:t>
            </a:r>
            <a:endParaRPr lang="en-US" sz="2000" dirty="0"/>
          </a:p>
        </p:txBody>
      </p:sp>
      <p:sp>
        <p:nvSpPr>
          <p:cNvPr id="14" name="Text 11"/>
          <p:cNvSpPr/>
          <p:nvPr/>
        </p:nvSpPr>
        <p:spPr>
          <a:xfrm>
            <a:off x="1042416" y="2862072"/>
            <a:ext cx="2240280" cy="274320"/>
          </a:xfrm>
          <a:prstGeom prst="rect">
            <a:avLst/>
          </a:prstGeom>
          <a:noFill/>
          <a:ln/>
        </p:spPr>
        <p:txBody>
          <a:bodyPr wrap="square" lIns="0" tIns="0" rIns="0" bIns="0" rtlCol="0" anchor="t"/>
          <a:lstStyle/>
          <a:p>
            <a:pPr indent="0" marL="0">
              <a:buNone/>
            </a:pPr>
            <a:r>
              <a:rPr lang="en-US" sz="900" dirty="0">
                <a:solidFill>
                  <a:srgbClr val="AEB6C2"/>
                </a:solidFill>
                <a:latin typeface="Poppins" pitchFamily="34" charset="0"/>
                <a:ea typeface="Poppins" pitchFamily="34" charset="-122"/>
                <a:cs typeface="Poppins" pitchFamily="34" charset="-120"/>
              </a:rPr>
              <a:t>Average fleet age¹</a:t>
            </a:r>
            <a:endParaRPr lang="en-US" sz="900" dirty="0"/>
          </a:p>
        </p:txBody>
      </p:sp>
      <p:sp>
        <p:nvSpPr>
          <p:cNvPr id="15" name="Shape 12"/>
          <p:cNvSpPr/>
          <p:nvPr/>
        </p:nvSpPr>
        <p:spPr>
          <a:xfrm>
            <a:off x="1042416" y="3191256"/>
            <a:ext cx="2185416" cy="0"/>
          </a:xfrm>
          <a:prstGeom prst="line">
            <a:avLst/>
          </a:prstGeom>
          <a:noFill/>
          <a:ln w="12700">
            <a:solidFill>
              <a:srgbClr val="323E50"/>
            </a:solidFill>
            <a:prstDash val="solid"/>
          </a:ln>
        </p:spPr>
      </p:sp>
      <p:sp>
        <p:nvSpPr>
          <p:cNvPr id="16" name="Text 13"/>
          <p:cNvSpPr/>
          <p:nvPr/>
        </p:nvSpPr>
        <p:spPr>
          <a:xfrm>
            <a:off x="1042416" y="3218688"/>
            <a:ext cx="2240280" cy="402336"/>
          </a:xfrm>
          <a:prstGeom prst="rect">
            <a:avLst/>
          </a:prstGeom>
          <a:noFill/>
          <a:ln/>
        </p:spPr>
        <p:txBody>
          <a:bodyPr wrap="square" lIns="0" tIns="0" rIns="0" bIns="0" rtlCol="0" anchor="b"/>
          <a:lstStyle/>
          <a:p>
            <a:pPr indent="0" marL="0">
              <a:buNone/>
            </a:pPr>
            <a:r>
              <a:rPr lang="en-US" sz="2000" dirty="0">
                <a:solidFill>
                  <a:srgbClr val="FFFFFF"/>
                </a:solidFill>
                <a:latin typeface="Poppins SemiBold" pitchFamily="34" charset="0"/>
                <a:ea typeface="Poppins SemiBold" pitchFamily="34" charset="-122"/>
                <a:cs typeface="Poppins SemiBold" pitchFamily="34" charset="-120"/>
              </a:rPr>
              <a:t>+400</a:t>
            </a:r>
            <a:endParaRPr lang="en-US" sz="2000" dirty="0"/>
          </a:p>
        </p:txBody>
      </p:sp>
      <p:sp>
        <p:nvSpPr>
          <p:cNvPr id="17" name="Text 14"/>
          <p:cNvSpPr/>
          <p:nvPr/>
        </p:nvSpPr>
        <p:spPr>
          <a:xfrm>
            <a:off x="1042416" y="3639312"/>
            <a:ext cx="2240280" cy="274320"/>
          </a:xfrm>
          <a:prstGeom prst="rect">
            <a:avLst/>
          </a:prstGeom>
          <a:noFill/>
          <a:ln/>
        </p:spPr>
        <p:txBody>
          <a:bodyPr wrap="square" lIns="0" tIns="0" rIns="0" bIns="0" rtlCol="0" anchor="t"/>
          <a:lstStyle/>
          <a:p>
            <a:pPr indent="0" marL="0">
              <a:buNone/>
            </a:pPr>
            <a:r>
              <a:rPr lang="en-US" sz="900" dirty="0">
                <a:solidFill>
                  <a:srgbClr val="AEB6C2"/>
                </a:solidFill>
                <a:latin typeface="Poppins" pitchFamily="34" charset="0"/>
                <a:ea typeface="Poppins" pitchFamily="34" charset="-122"/>
                <a:cs typeface="Poppins" pitchFamily="34" charset="-120"/>
              </a:rPr>
              <a:t>Vehicles²</a:t>
            </a:r>
            <a:endParaRPr lang="en-US" sz="900" dirty="0"/>
          </a:p>
        </p:txBody>
      </p:sp>
      <p:sp>
        <p:nvSpPr>
          <p:cNvPr id="18" name="Shape 15"/>
          <p:cNvSpPr/>
          <p:nvPr/>
        </p:nvSpPr>
        <p:spPr>
          <a:xfrm>
            <a:off x="1042416" y="3968496"/>
            <a:ext cx="2185416" cy="0"/>
          </a:xfrm>
          <a:prstGeom prst="line">
            <a:avLst/>
          </a:prstGeom>
          <a:noFill/>
          <a:ln w="12700">
            <a:solidFill>
              <a:srgbClr val="323E50"/>
            </a:solidFill>
            <a:prstDash val="solid"/>
          </a:ln>
        </p:spPr>
      </p:sp>
      <p:sp>
        <p:nvSpPr>
          <p:cNvPr id="19" name="Text 16"/>
          <p:cNvSpPr/>
          <p:nvPr/>
        </p:nvSpPr>
        <p:spPr>
          <a:xfrm>
            <a:off x="1042416" y="3995928"/>
            <a:ext cx="2240280" cy="402336"/>
          </a:xfrm>
          <a:prstGeom prst="rect">
            <a:avLst/>
          </a:prstGeom>
          <a:noFill/>
          <a:ln/>
        </p:spPr>
        <p:txBody>
          <a:bodyPr wrap="square" lIns="0" tIns="0" rIns="0" bIns="0" rtlCol="0" anchor="b"/>
          <a:lstStyle/>
          <a:p>
            <a:pPr indent="0" marL="0">
              <a:buNone/>
            </a:pPr>
            <a:r>
              <a:rPr lang="en-US" sz="2000" dirty="0">
                <a:solidFill>
                  <a:srgbClr val="FFFFFF"/>
                </a:solidFill>
                <a:latin typeface="Poppins SemiBold" pitchFamily="34" charset="0"/>
                <a:ea typeface="Poppins SemiBold" pitchFamily="34" charset="-122"/>
                <a:cs typeface="Poppins SemiBold" pitchFamily="34" charset="-120"/>
              </a:rPr>
              <a:t>BRL 200 Mn</a:t>
            </a:r>
            <a:endParaRPr lang="en-US" sz="2000" dirty="0"/>
          </a:p>
        </p:txBody>
      </p:sp>
      <p:sp>
        <p:nvSpPr>
          <p:cNvPr id="20" name="Text 17"/>
          <p:cNvSpPr/>
          <p:nvPr/>
        </p:nvSpPr>
        <p:spPr>
          <a:xfrm>
            <a:off x="1042416" y="4416552"/>
            <a:ext cx="2240280" cy="274320"/>
          </a:xfrm>
          <a:prstGeom prst="rect">
            <a:avLst/>
          </a:prstGeom>
          <a:noFill/>
          <a:ln/>
        </p:spPr>
        <p:txBody>
          <a:bodyPr wrap="square" lIns="0" tIns="0" rIns="0" bIns="0" rtlCol="0" anchor="t"/>
          <a:lstStyle/>
          <a:p>
            <a:pPr indent="0" marL="0">
              <a:buNone/>
            </a:pPr>
            <a:r>
              <a:rPr lang="en-US" sz="900" dirty="0">
                <a:solidFill>
                  <a:srgbClr val="AEB6C2"/>
                </a:solidFill>
                <a:latin typeface="Poppins" pitchFamily="34" charset="0"/>
                <a:ea typeface="Poppins" pitchFamily="34" charset="-122"/>
                <a:cs typeface="Poppins" pitchFamily="34" charset="-120"/>
              </a:rPr>
              <a:t>Value of the fleet³</a:t>
            </a:r>
            <a:endParaRPr lang="en-US" sz="900" dirty="0"/>
          </a:p>
        </p:txBody>
      </p:sp>
      <p:sp>
        <p:nvSpPr>
          <p:cNvPr id="21" name="Shape 18"/>
          <p:cNvSpPr/>
          <p:nvPr/>
        </p:nvSpPr>
        <p:spPr>
          <a:xfrm>
            <a:off x="1042416" y="4745736"/>
            <a:ext cx="2185416" cy="0"/>
          </a:xfrm>
          <a:prstGeom prst="line">
            <a:avLst/>
          </a:prstGeom>
          <a:noFill/>
          <a:ln w="12700">
            <a:solidFill>
              <a:srgbClr val="323E50"/>
            </a:solidFill>
            <a:prstDash val="solid"/>
          </a:ln>
        </p:spPr>
      </p:sp>
      <p:sp>
        <p:nvSpPr>
          <p:cNvPr id="22" name="Text 19"/>
          <p:cNvSpPr/>
          <p:nvPr/>
        </p:nvSpPr>
        <p:spPr>
          <a:xfrm>
            <a:off x="1042416" y="4773168"/>
            <a:ext cx="2240280" cy="402336"/>
          </a:xfrm>
          <a:prstGeom prst="rect">
            <a:avLst/>
          </a:prstGeom>
          <a:noFill/>
          <a:ln/>
        </p:spPr>
        <p:txBody>
          <a:bodyPr wrap="square" lIns="0" tIns="0" rIns="0" bIns="0" rtlCol="0" anchor="b"/>
          <a:lstStyle/>
          <a:p>
            <a:pPr indent="0" marL="0">
              <a:buNone/>
            </a:pPr>
            <a:r>
              <a:rPr lang="en-US" sz="2000" dirty="0">
                <a:solidFill>
                  <a:srgbClr val="FFFFFF"/>
                </a:solidFill>
                <a:latin typeface="Poppins SemiBold" pitchFamily="34" charset="0"/>
                <a:ea typeface="Poppins SemiBold" pitchFamily="34" charset="-122"/>
                <a:cs typeface="Poppins SemiBold" pitchFamily="34" charset="-120"/>
              </a:rPr>
              <a:t>100%</a:t>
            </a:r>
            <a:endParaRPr lang="en-US" sz="2000" dirty="0"/>
          </a:p>
        </p:txBody>
      </p:sp>
      <p:sp>
        <p:nvSpPr>
          <p:cNvPr id="23" name="Text 20"/>
          <p:cNvSpPr/>
          <p:nvPr/>
        </p:nvSpPr>
        <p:spPr>
          <a:xfrm>
            <a:off x="1042416" y="5193792"/>
            <a:ext cx="2240280" cy="274320"/>
          </a:xfrm>
          <a:prstGeom prst="rect">
            <a:avLst/>
          </a:prstGeom>
          <a:noFill/>
          <a:ln/>
        </p:spPr>
        <p:txBody>
          <a:bodyPr wrap="square" lIns="0" tIns="0" rIns="0" bIns="0" rtlCol="0" anchor="t"/>
          <a:lstStyle/>
          <a:p>
            <a:pPr indent="0" marL="0">
              <a:buNone/>
            </a:pPr>
            <a:r>
              <a:rPr lang="en-US" sz="900" dirty="0">
                <a:solidFill>
                  <a:srgbClr val="AEB6C2"/>
                </a:solidFill>
                <a:latin typeface="Poppins" pitchFamily="34" charset="0"/>
                <a:ea typeface="Poppins" pitchFamily="34" charset="-122"/>
                <a:cs typeface="Poppins" pitchFamily="34" charset="-120"/>
              </a:rPr>
              <a:t>Owned fleet²</a:t>
            </a:r>
            <a:endParaRPr lang="en-US" sz="900" dirty="0"/>
          </a:p>
        </p:txBody>
      </p:sp>
      <p:sp>
        <p:nvSpPr>
          <p:cNvPr id="24" name="Text 21"/>
          <p:cNvSpPr/>
          <p:nvPr/>
        </p:nvSpPr>
        <p:spPr>
          <a:xfrm>
            <a:off x="3611880" y="1874520"/>
            <a:ext cx="3931920" cy="237744"/>
          </a:xfrm>
          <a:prstGeom prst="rect">
            <a:avLst/>
          </a:prstGeom>
          <a:noFill/>
          <a:ln/>
        </p:spPr>
        <p:txBody>
          <a:bodyPr wrap="square" lIns="0" tIns="0" rIns="0" bIns="0" rtlCol="0" anchor="ctr"/>
          <a:lstStyle/>
          <a:p>
            <a:pPr indent="0" marL="0">
              <a:buNone/>
            </a:pPr>
            <a:r>
              <a:rPr lang="en-US" sz="900" spc="80" kern="0" dirty="0">
                <a:solidFill>
                  <a:srgbClr val="F35B1A"/>
                </a:solidFill>
                <a:latin typeface="Poppins SemiBold" pitchFamily="34" charset="0"/>
                <a:ea typeface="Poppins SemiBold" pitchFamily="34" charset="-122"/>
                <a:cs typeface="Poppins SemiBold" pitchFamily="34" charset="-120"/>
              </a:rPr>
              <a:t>FLEET COMPOSITION  (OWNED, JAN-26)</a:t>
            </a:r>
            <a:endParaRPr lang="en-US" sz="900" dirty="0"/>
          </a:p>
        </p:txBody>
      </p:sp>
      <p:sp>
        <p:nvSpPr>
          <p:cNvPr id="25" name="Text 22"/>
          <p:cNvSpPr/>
          <p:nvPr/>
        </p:nvSpPr>
        <p:spPr>
          <a:xfrm>
            <a:off x="3611880" y="2267712"/>
            <a:ext cx="2011680" cy="274320"/>
          </a:xfrm>
          <a:prstGeom prst="rect">
            <a:avLst/>
          </a:prstGeom>
          <a:noFill/>
          <a:ln/>
        </p:spPr>
        <p:txBody>
          <a:bodyPr wrap="square" lIns="0" tIns="0" rIns="0" bIns="0" rtlCol="0" anchor="ctr"/>
          <a:lstStyle/>
          <a:p>
            <a:pPr indent="0" marL="0">
              <a:buNone/>
            </a:pPr>
            <a:r>
              <a:rPr lang="en-US" sz="1050" dirty="0">
                <a:solidFill>
                  <a:srgbClr val="2B333E"/>
                </a:solidFill>
                <a:latin typeface="Poppins Medium" pitchFamily="34" charset="0"/>
                <a:ea typeface="Poppins Medium" pitchFamily="34" charset="-122"/>
                <a:cs typeface="Poppins Medium" pitchFamily="34" charset="-120"/>
              </a:rPr>
              <a:t>Bus</a:t>
            </a:r>
            <a:endParaRPr lang="en-US" sz="1050" dirty="0"/>
          </a:p>
        </p:txBody>
      </p:sp>
      <p:sp>
        <p:nvSpPr>
          <p:cNvPr id="26" name="Text 23"/>
          <p:cNvSpPr/>
          <p:nvPr/>
        </p:nvSpPr>
        <p:spPr>
          <a:xfrm>
            <a:off x="6629400" y="2267712"/>
            <a:ext cx="914400" cy="274320"/>
          </a:xfrm>
          <a:prstGeom prst="rect">
            <a:avLst/>
          </a:prstGeom>
          <a:noFill/>
          <a:ln/>
        </p:spPr>
        <p:txBody>
          <a:bodyPr wrap="square" lIns="0" tIns="0" rIns="0" bIns="0" rtlCol="0" anchor="ctr"/>
          <a:lstStyle/>
          <a:p>
            <a:pPr algn="r" indent="0" marL="0">
              <a:buNone/>
            </a:pPr>
            <a:r>
              <a:rPr lang="en-US" sz="1050" dirty="0">
                <a:solidFill>
                  <a:srgbClr val="141A24"/>
                </a:solidFill>
                <a:latin typeface="Poppins SemiBold" pitchFamily="34" charset="0"/>
                <a:ea typeface="Poppins SemiBold" pitchFamily="34" charset="-122"/>
                <a:cs typeface="Poppins SemiBold" pitchFamily="34" charset="-120"/>
              </a:rPr>
              <a:t>223 un.</a:t>
            </a:r>
            <a:endParaRPr lang="en-US" sz="1050" dirty="0"/>
          </a:p>
        </p:txBody>
      </p:sp>
      <p:sp>
        <p:nvSpPr>
          <p:cNvPr id="27" name="Shape 24"/>
          <p:cNvSpPr/>
          <p:nvPr/>
        </p:nvSpPr>
        <p:spPr>
          <a:xfrm>
            <a:off x="3611880" y="2560320"/>
            <a:ext cx="3931920" cy="128016"/>
          </a:xfrm>
          <a:prstGeom prst="roundRect">
            <a:avLst>
              <a:gd name="adj" fmla="val 50000"/>
            </a:avLst>
          </a:prstGeom>
          <a:solidFill>
            <a:srgbClr val="F4F6F8"/>
          </a:solidFill>
          <a:ln/>
        </p:spPr>
      </p:sp>
      <p:sp>
        <p:nvSpPr>
          <p:cNvPr id="28" name="Shape 25"/>
          <p:cNvSpPr/>
          <p:nvPr/>
        </p:nvSpPr>
        <p:spPr>
          <a:xfrm>
            <a:off x="3611880" y="2560320"/>
            <a:ext cx="3931920" cy="128016"/>
          </a:xfrm>
          <a:prstGeom prst="roundRect">
            <a:avLst>
              <a:gd name="adj" fmla="val 50000"/>
            </a:avLst>
          </a:prstGeom>
          <a:solidFill>
            <a:srgbClr val="F35B1A"/>
          </a:solidFill>
          <a:ln/>
        </p:spPr>
      </p:sp>
      <p:sp>
        <p:nvSpPr>
          <p:cNvPr id="29" name="Text 26"/>
          <p:cNvSpPr/>
          <p:nvPr/>
        </p:nvSpPr>
        <p:spPr>
          <a:xfrm>
            <a:off x="3611880" y="2816352"/>
            <a:ext cx="2011680" cy="274320"/>
          </a:xfrm>
          <a:prstGeom prst="rect">
            <a:avLst/>
          </a:prstGeom>
          <a:noFill/>
          <a:ln/>
        </p:spPr>
        <p:txBody>
          <a:bodyPr wrap="square" lIns="0" tIns="0" rIns="0" bIns="0" rtlCol="0" anchor="ctr"/>
          <a:lstStyle/>
          <a:p>
            <a:pPr indent="0" marL="0">
              <a:buNone/>
            </a:pPr>
            <a:r>
              <a:rPr lang="en-US" sz="1050" dirty="0">
                <a:solidFill>
                  <a:srgbClr val="2B333E"/>
                </a:solidFill>
                <a:latin typeface="Poppins Medium" pitchFamily="34" charset="0"/>
                <a:ea typeface="Poppins Medium" pitchFamily="34" charset="-122"/>
                <a:cs typeface="Poppins Medium" pitchFamily="34" charset="-120"/>
              </a:rPr>
              <a:t>Micro-bus</a:t>
            </a:r>
            <a:endParaRPr lang="en-US" sz="1050" dirty="0"/>
          </a:p>
        </p:txBody>
      </p:sp>
      <p:sp>
        <p:nvSpPr>
          <p:cNvPr id="30" name="Text 27"/>
          <p:cNvSpPr/>
          <p:nvPr/>
        </p:nvSpPr>
        <p:spPr>
          <a:xfrm>
            <a:off x="6629400" y="2816352"/>
            <a:ext cx="914400" cy="274320"/>
          </a:xfrm>
          <a:prstGeom prst="rect">
            <a:avLst/>
          </a:prstGeom>
          <a:noFill/>
          <a:ln/>
        </p:spPr>
        <p:txBody>
          <a:bodyPr wrap="square" lIns="0" tIns="0" rIns="0" bIns="0" rtlCol="0" anchor="ctr"/>
          <a:lstStyle/>
          <a:p>
            <a:pPr algn="r" indent="0" marL="0">
              <a:buNone/>
            </a:pPr>
            <a:r>
              <a:rPr lang="en-US" sz="1050" dirty="0">
                <a:solidFill>
                  <a:srgbClr val="141A24"/>
                </a:solidFill>
                <a:latin typeface="Poppins SemiBold" pitchFamily="34" charset="0"/>
                <a:ea typeface="Poppins SemiBold" pitchFamily="34" charset="-122"/>
                <a:cs typeface="Poppins SemiBold" pitchFamily="34" charset="-120"/>
              </a:rPr>
              <a:t>74 un.</a:t>
            </a:r>
            <a:endParaRPr lang="en-US" sz="1050" dirty="0"/>
          </a:p>
        </p:txBody>
      </p:sp>
      <p:sp>
        <p:nvSpPr>
          <p:cNvPr id="31" name="Shape 28"/>
          <p:cNvSpPr/>
          <p:nvPr/>
        </p:nvSpPr>
        <p:spPr>
          <a:xfrm>
            <a:off x="3611880" y="3108960"/>
            <a:ext cx="3931920" cy="128016"/>
          </a:xfrm>
          <a:prstGeom prst="roundRect">
            <a:avLst>
              <a:gd name="adj" fmla="val 50000"/>
            </a:avLst>
          </a:prstGeom>
          <a:solidFill>
            <a:srgbClr val="F4F6F8"/>
          </a:solidFill>
          <a:ln/>
        </p:spPr>
      </p:sp>
      <p:sp>
        <p:nvSpPr>
          <p:cNvPr id="32" name="Shape 29"/>
          <p:cNvSpPr/>
          <p:nvPr/>
        </p:nvSpPr>
        <p:spPr>
          <a:xfrm>
            <a:off x="3611880" y="3108960"/>
            <a:ext cx="1304763" cy="128016"/>
          </a:xfrm>
          <a:prstGeom prst="roundRect">
            <a:avLst>
              <a:gd name="adj" fmla="val 50000"/>
            </a:avLst>
          </a:prstGeom>
          <a:solidFill>
            <a:srgbClr val="F35B1A"/>
          </a:solidFill>
          <a:ln/>
        </p:spPr>
      </p:sp>
      <p:sp>
        <p:nvSpPr>
          <p:cNvPr id="33" name="Text 30"/>
          <p:cNvSpPr/>
          <p:nvPr/>
        </p:nvSpPr>
        <p:spPr>
          <a:xfrm>
            <a:off x="3611880" y="3364992"/>
            <a:ext cx="2011680" cy="274320"/>
          </a:xfrm>
          <a:prstGeom prst="rect">
            <a:avLst/>
          </a:prstGeom>
          <a:noFill/>
          <a:ln/>
        </p:spPr>
        <p:txBody>
          <a:bodyPr wrap="square" lIns="0" tIns="0" rIns="0" bIns="0" rtlCol="0" anchor="ctr"/>
          <a:lstStyle/>
          <a:p>
            <a:pPr indent="0" marL="0">
              <a:buNone/>
            </a:pPr>
            <a:r>
              <a:rPr lang="en-US" sz="1050" dirty="0">
                <a:solidFill>
                  <a:srgbClr val="2B333E"/>
                </a:solidFill>
                <a:latin typeface="Poppins Medium" pitchFamily="34" charset="0"/>
                <a:ea typeface="Poppins Medium" pitchFamily="34" charset="-122"/>
                <a:cs typeface="Poppins Medium" pitchFamily="34" charset="-120"/>
              </a:rPr>
              <a:t>Van</a:t>
            </a:r>
            <a:endParaRPr lang="en-US" sz="1050" dirty="0"/>
          </a:p>
        </p:txBody>
      </p:sp>
      <p:sp>
        <p:nvSpPr>
          <p:cNvPr id="34" name="Text 31"/>
          <p:cNvSpPr/>
          <p:nvPr/>
        </p:nvSpPr>
        <p:spPr>
          <a:xfrm>
            <a:off x="6629400" y="3364992"/>
            <a:ext cx="914400" cy="274320"/>
          </a:xfrm>
          <a:prstGeom prst="rect">
            <a:avLst/>
          </a:prstGeom>
          <a:noFill/>
          <a:ln/>
        </p:spPr>
        <p:txBody>
          <a:bodyPr wrap="square" lIns="0" tIns="0" rIns="0" bIns="0" rtlCol="0" anchor="ctr"/>
          <a:lstStyle/>
          <a:p>
            <a:pPr algn="r" indent="0" marL="0">
              <a:buNone/>
            </a:pPr>
            <a:r>
              <a:rPr lang="en-US" sz="1050" dirty="0">
                <a:solidFill>
                  <a:srgbClr val="141A24"/>
                </a:solidFill>
                <a:latin typeface="Poppins SemiBold" pitchFamily="34" charset="0"/>
                <a:ea typeface="Poppins SemiBold" pitchFamily="34" charset="-122"/>
                <a:cs typeface="Poppins SemiBold" pitchFamily="34" charset="-120"/>
              </a:rPr>
              <a:t>55 un.</a:t>
            </a:r>
            <a:endParaRPr lang="en-US" sz="1050" dirty="0"/>
          </a:p>
        </p:txBody>
      </p:sp>
      <p:sp>
        <p:nvSpPr>
          <p:cNvPr id="35" name="Shape 32"/>
          <p:cNvSpPr/>
          <p:nvPr/>
        </p:nvSpPr>
        <p:spPr>
          <a:xfrm>
            <a:off x="3611880" y="3657600"/>
            <a:ext cx="3931920" cy="128016"/>
          </a:xfrm>
          <a:prstGeom prst="roundRect">
            <a:avLst>
              <a:gd name="adj" fmla="val 50000"/>
            </a:avLst>
          </a:prstGeom>
          <a:solidFill>
            <a:srgbClr val="F4F6F8"/>
          </a:solidFill>
          <a:ln/>
        </p:spPr>
      </p:sp>
      <p:sp>
        <p:nvSpPr>
          <p:cNvPr id="36" name="Shape 33"/>
          <p:cNvSpPr/>
          <p:nvPr/>
        </p:nvSpPr>
        <p:spPr>
          <a:xfrm>
            <a:off x="3611880" y="3657600"/>
            <a:ext cx="969756" cy="128016"/>
          </a:xfrm>
          <a:prstGeom prst="roundRect">
            <a:avLst>
              <a:gd name="adj" fmla="val 50000"/>
            </a:avLst>
          </a:prstGeom>
          <a:solidFill>
            <a:srgbClr val="F35B1A"/>
          </a:solidFill>
          <a:ln/>
        </p:spPr>
      </p:sp>
      <p:sp>
        <p:nvSpPr>
          <p:cNvPr id="37" name="Text 34"/>
          <p:cNvSpPr/>
          <p:nvPr/>
        </p:nvSpPr>
        <p:spPr>
          <a:xfrm>
            <a:off x="3611880" y="3913632"/>
            <a:ext cx="2011680" cy="274320"/>
          </a:xfrm>
          <a:prstGeom prst="rect">
            <a:avLst/>
          </a:prstGeom>
          <a:noFill/>
          <a:ln/>
        </p:spPr>
        <p:txBody>
          <a:bodyPr wrap="square" lIns="0" tIns="0" rIns="0" bIns="0" rtlCol="0" anchor="ctr"/>
          <a:lstStyle/>
          <a:p>
            <a:pPr indent="0" marL="0">
              <a:buNone/>
            </a:pPr>
            <a:r>
              <a:rPr lang="en-US" sz="1050" dirty="0">
                <a:solidFill>
                  <a:srgbClr val="2B333E"/>
                </a:solidFill>
                <a:latin typeface="Poppins Medium" pitchFamily="34" charset="0"/>
                <a:ea typeface="Poppins Medium" pitchFamily="34" charset="-122"/>
                <a:cs typeface="Poppins Medium" pitchFamily="34" charset="-120"/>
              </a:rPr>
              <a:t>Support vehicle</a:t>
            </a:r>
            <a:endParaRPr lang="en-US" sz="1050" dirty="0"/>
          </a:p>
        </p:txBody>
      </p:sp>
      <p:sp>
        <p:nvSpPr>
          <p:cNvPr id="38" name="Text 35"/>
          <p:cNvSpPr/>
          <p:nvPr/>
        </p:nvSpPr>
        <p:spPr>
          <a:xfrm>
            <a:off x="6629400" y="3913632"/>
            <a:ext cx="914400" cy="274320"/>
          </a:xfrm>
          <a:prstGeom prst="rect">
            <a:avLst/>
          </a:prstGeom>
          <a:noFill/>
          <a:ln/>
        </p:spPr>
        <p:txBody>
          <a:bodyPr wrap="square" lIns="0" tIns="0" rIns="0" bIns="0" rtlCol="0" anchor="ctr"/>
          <a:lstStyle/>
          <a:p>
            <a:pPr algn="r" indent="0" marL="0">
              <a:buNone/>
            </a:pPr>
            <a:r>
              <a:rPr lang="en-US" sz="1050" dirty="0">
                <a:solidFill>
                  <a:srgbClr val="141A24"/>
                </a:solidFill>
                <a:latin typeface="Poppins SemiBold" pitchFamily="34" charset="0"/>
                <a:ea typeface="Poppins SemiBold" pitchFamily="34" charset="-122"/>
                <a:cs typeface="Poppins SemiBold" pitchFamily="34" charset="-120"/>
              </a:rPr>
              <a:t>17 un.</a:t>
            </a:r>
            <a:endParaRPr lang="en-US" sz="1050" dirty="0"/>
          </a:p>
        </p:txBody>
      </p:sp>
      <p:sp>
        <p:nvSpPr>
          <p:cNvPr id="39" name="Shape 36"/>
          <p:cNvSpPr/>
          <p:nvPr/>
        </p:nvSpPr>
        <p:spPr>
          <a:xfrm>
            <a:off x="3611880" y="4206240"/>
            <a:ext cx="3931920" cy="128016"/>
          </a:xfrm>
          <a:prstGeom prst="roundRect">
            <a:avLst>
              <a:gd name="adj" fmla="val 50000"/>
            </a:avLst>
          </a:prstGeom>
          <a:solidFill>
            <a:srgbClr val="F4F6F8"/>
          </a:solidFill>
          <a:ln/>
        </p:spPr>
      </p:sp>
      <p:sp>
        <p:nvSpPr>
          <p:cNvPr id="40" name="Shape 37"/>
          <p:cNvSpPr/>
          <p:nvPr/>
        </p:nvSpPr>
        <p:spPr>
          <a:xfrm>
            <a:off x="3611880" y="4206240"/>
            <a:ext cx="299743" cy="128016"/>
          </a:xfrm>
          <a:prstGeom prst="roundRect">
            <a:avLst>
              <a:gd name="adj" fmla="val 50000"/>
            </a:avLst>
          </a:prstGeom>
          <a:solidFill>
            <a:srgbClr val="F35B1A"/>
          </a:solidFill>
          <a:ln/>
        </p:spPr>
      </p:sp>
      <p:sp>
        <p:nvSpPr>
          <p:cNvPr id="41" name="Text 38"/>
          <p:cNvSpPr/>
          <p:nvPr/>
        </p:nvSpPr>
        <p:spPr>
          <a:xfrm>
            <a:off x="3611880" y="4462272"/>
            <a:ext cx="2011680" cy="274320"/>
          </a:xfrm>
          <a:prstGeom prst="rect">
            <a:avLst/>
          </a:prstGeom>
          <a:noFill/>
          <a:ln/>
        </p:spPr>
        <p:txBody>
          <a:bodyPr wrap="square" lIns="0" tIns="0" rIns="0" bIns="0" rtlCol="0" anchor="ctr"/>
          <a:lstStyle/>
          <a:p>
            <a:pPr indent="0" marL="0">
              <a:buNone/>
            </a:pPr>
            <a:r>
              <a:rPr lang="en-US" sz="1050" dirty="0">
                <a:solidFill>
                  <a:srgbClr val="2B333E"/>
                </a:solidFill>
                <a:latin typeface="Poppins Medium" pitchFamily="34" charset="0"/>
                <a:ea typeface="Poppins Medium" pitchFamily="34" charset="-122"/>
                <a:cs typeface="Poppins Medium" pitchFamily="34" charset="-120"/>
              </a:rPr>
              <a:t>Truck</a:t>
            </a:r>
            <a:endParaRPr lang="en-US" sz="1050" dirty="0"/>
          </a:p>
        </p:txBody>
      </p:sp>
      <p:sp>
        <p:nvSpPr>
          <p:cNvPr id="42" name="Text 39"/>
          <p:cNvSpPr/>
          <p:nvPr/>
        </p:nvSpPr>
        <p:spPr>
          <a:xfrm>
            <a:off x="6629400" y="4462272"/>
            <a:ext cx="914400" cy="274320"/>
          </a:xfrm>
          <a:prstGeom prst="rect">
            <a:avLst/>
          </a:prstGeom>
          <a:noFill/>
          <a:ln/>
        </p:spPr>
        <p:txBody>
          <a:bodyPr wrap="square" lIns="0" tIns="0" rIns="0" bIns="0" rtlCol="0" anchor="ctr"/>
          <a:lstStyle/>
          <a:p>
            <a:pPr algn="r" indent="0" marL="0">
              <a:buNone/>
            </a:pPr>
            <a:r>
              <a:rPr lang="en-US" sz="1050" dirty="0">
                <a:solidFill>
                  <a:srgbClr val="141A24"/>
                </a:solidFill>
                <a:latin typeface="Poppins SemiBold" pitchFamily="34" charset="0"/>
                <a:ea typeface="Poppins SemiBold" pitchFamily="34" charset="-122"/>
                <a:cs typeface="Poppins SemiBold" pitchFamily="34" charset="-120"/>
              </a:rPr>
              <a:t>2 un.</a:t>
            </a:r>
            <a:endParaRPr lang="en-US" sz="1050" dirty="0"/>
          </a:p>
        </p:txBody>
      </p:sp>
      <p:sp>
        <p:nvSpPr>
          <p:cNvPr id="43" name="Shape 40"/>
          <p:cNvSpPr/>
          <p:nvPr/>
        </p:nvSpPr>
        <p:spPr>
          <a:xfrm>
            <a:off x="3611880" y="4754880"/>
            <a:ext cx="3931920" cy="128016"/>
          </a:xfrm>
          <a:prstGeom prst="roundRect">
            <a:avLst>
              <a:gd name="adj" fmla="val 50000"/>
            </a:avLst>
          </a:prstGeom>
          <a:solidFill>
            <a:srgbClr val="F4F6F8"/>
          </a:solidFill>
          <a:ln/>
        </p:spPr>
      </p:sp>
      <p:sp>
        <p:nvSpPr>
          <p:cNvPr id="44" name="Shape 41"/>
          <p:cNvSpPr/>
          <p:nvPr/>
        </p:nvSpPr>
        <p:spPr>
          <a:xfrm>
            <a:off x="3611880" y="4754880"/>
            <a:ext cx="146304" cy="128016"/>
          </a:xfrm>
          <a:prstGeom prst="roundRect">
            <a:avLst>
              <a:gd name="adj" fmla="val 50000"/>
            </a:avLst>
          </a:prstGeom>
          <a:solidFill>
            <a:srgbClr val="F35B1A"/>
          </a:solidFill>
          <a:ln/>
        </p:spPr>
      </p:sp>
      <p:sp>
        <p:nvSpPr>
          <p:cNvPr id="45" name="Text 42"/>
          <p:cNvSpPr/>
          <p:nvPr/>
        </p:nvSpPr>
        <p:spPr>
          <a:xfrm>
            <a:off x="3611880" y="5010912"/>
            <a:ext cx="2011680" cy="274320"/>
          </a:xfrm>
          <a:prstGeom prst="rect">
            <a:avLst/>
          </a:prstGeom>
          <a:noFill/>
          <a:ln/>
        </p:spPr>
        <p:txBody>
          <a:bodyPr wrap="square" lIns="0" tIns="0" rIns="0" bIns="0" rtlCol="0" anchor="ctr"/>
          <a:lstStyle/>
          <a:p>
            <a:pPr indent="0" marL="0">
              <a:buNone/>
            </a:pPr>
            <a:r>
              <a:rPr lang="en-US" sz="1050" dirty="0">
                <a:solidFill>
                  <a:srgbClr val="2B333E"/>
                </a:solidFill>
                <a:latin typeface="Poppins Medium" pitchFamily="34" charset="0"/>
                <a:ea typeface="Poppins Medium" pitchFamily="34" charset="-122"/>
                <a:cs typeface="Poppins Medium" pitchFamily="34" charset="-120"/>
              </a:rPr>
              <a:t>Pickup truck</a:t>
            </a:r>
            <a:endParaRPr lang="en-US" sz="1050" dirty="0"/>
          </a:p>
        </p:txBody>
      </p:sp>
      <p:sp>
        <p:nvSpPr>
          <p:cNvPr id="46" name="Text 43"/>
          <p:cNvSpPr/>
          <p:nvPr/>
        </p:nvSpPr>
        <p:spPr>
          <a:xfrm>
            <a:off x="6629400" y="5010912"/>
            <a:ext cx="914400" cy="274320"/>
          </a:xfrm>
          <a:prstGeom prst="rect">
            <a:avLst/>
          </a:prstGeom>
          <a:noFill/>
          <a:ln/>
        </p:spPr>
        <p:txBody>
          <a:bodyPr wrap="square" lIns="0" tIns="0" rIns="0" bIns="0" rtlCol="0" anchor="ctr"/>
          <a:lstStyle/>
          <a:p>
            <a:pPr algn="r" indent="0" marL="0">
              <a:buNone/>
            </a:pPr>
            <a:r>
              <a:rPr lang="en-US" sz="1050" dirty="0">
                <a:solidFill>
                  <a:srgbClr val="141A24"/>
                </a:solidFill>
                <a:latin typeface="Poppins SemiBold" pitchFamily="34" charset="0"/>
                <a:ea typeface="Poppins SemiBold" pitchFamily="34" charset="-122"/>
                <a:cs typeface="Poppins SemiBold" pitchFamily="34" charset="-120"/>
              </a:rPr>
              <a:t>2 un.</a:t>
            </a:r>
            <a:endParaRPr lang="en-US" sz="1050" dirty="0"/>
          </a:p>
        </p:txBody>
      </p:sp>
      <p:sp>
        <p:nvSpPr>
          <p:cNvPr id="47" name="Shape 44"/>
          <p:cNvSpPr/>
          <p:nvPr/>
        </p:nvSpPr>
        <p:spPr>
          <a:xfrm>
            <a:off x="3611880" y="5303520"/>
            <a:ext cx="3931920" cy="128016"/>
          </a:xfrm>
          <a:prstGeom prst="roundRect">
            <a:avLst>
              <a:gd name="adj" fmla="val 50000"/>
            </a:avLst>
          </a:prstGeom>
          <a:solidFill>
            <a:srgbClr val="F4F6F8"/>
          </a:solidFill>
          <a:ln/>
        </p:spPr>
      </p:sp>
      <p:sp>
        <p:nvSpPr>
          <p:cNvPr id="48" name="Shape 45"/>
          <p:cNvSpPr/>
          <p:nvPr/>
        </p:nvSpPr>
        <p:spPr>
          <a:xfrm>
            <a:off x="3611880" y="5303520"/>
            <a:ext cx="146304" cy="128016"/>
          </a:xfrm>
          <a:prstGeom prst="roundRect">
            <a:avLst>
              <a:gd name="adj" fmla="val 50000"/>
            </a:avLst>
          </a:prstGeom>
          <a:solidFill>
            <a:srgbClr val="F35B1A"/>
          </a:solidFill>
          <a:ln/>
        </p:spPr>
      </p:sp>
      <p:sp>
        <p:nvSpPr>
          <p:cNvPr id="49" name="Shape 46"/>
          <p:cNvSpPr/>
          <p:nvPr/>
        </p:nvSpPr>
        <p:spPr>
          <a:xfrm>
            <a:off x="8688172" y="1837944"/>
            <a:ext cx="1901952" cy="1901952"/>
          </a:xfrm>
          <a:prstGeom prst="ellipse">
            <a:avLst/>
          </a:prstGeom>
          <a:solidFill>
            <a:srgbClr val="FFFFFF"/>
          </a:solidFill>
          <a:ln/>
          <a:effectLst>
            <a:outerShdw sx="100000" sy="100000" kx="0" ky="0" algn="bl" rotWithShape="0" blurRad="88900" dist="25400" dir="5400000">
              <a:srgbClr val="9AA3AD">
                <a:alpha val="30000"/>
              </a:srgbClr>
            </a:outerShdw>
          </a:effectLst>
        </p:spPr>
      </p:sp>
      <p:pic>
        <p:nvPicPr>
          <p:cNvPr id="50" name="Image 1" descr="assets/mobi_van.png">    </p:cNvPr>
          <p:cNvPicPr>
            <a:picLocks noChangeAspect="1"/>
          </p:cNvPicPr>
          <p:nvPr/>
        </p:nvPicPr>
        <p:blipFill>
          <a:blip r:embed="rId2"/>
          <a:srcRect l="0" r="0" t="0" b="0"/>
          <a:stretch/>
        </p:blipFill>
        <p:spPr>
          <a:xfrm>
            <a:off x="8724748" y="1874520"/>
            <a:ext cx="1828800" cy="1828800"/>
          </a:xfrm>
          <a:prstGeom prst="ellipse">
            <a:avLst/>
          </a:prstGeom>
        </p:spPr>
      </p:pic>
      <p:sp>
        <p:nvSpPr>
          <p:cNvPr id="51" name="Text 47"/>
          <p:cNvSpPr/>
          <p:nvPr/>
        </p:nvSpPr>
        <p:spPr>
          <a:xfrm>
            <a:off x="7818120" y="3840480"/>
            <a:ext cx="3642055" cy="237744"/>
          </a:xfrm>
          <a:prstGeom prst="rect">
            <a:avLst/>
          </a:prstGeom>
          <a:noFill/>
          <a:ln/>
        </p:spPr>
        <p:txBody>
          <a:bodyPr wrap="square" lIns="0" tIns="0" rIns="0" bIns="0" rtlCol="0" anchor="ctr"/>
          <a:lstStyle/>
          <a:p>
            <a:pPr indent="0" marL="0">
              <a:buNone/>
            </a:pPr>
            <a:r>
              <a:rPr lang="en-US" sz="800" spc="50" kern="0" dirty="0">
                <a:solidFill>
                  <a:srgbClr val="F35B1A"/>
                </a:solidFill>
                <a:latin typeface="Poppins SemiBold" pitchFamily="34" charset="0"/>
                <a:ea typeface="Poppins SemiBold" pitchFamily="34" charset="-122"/>
                <a:cs typeface="Poppins SemiBold" pitchFamily="34" charset="-120"/>
              </a:rPr>
              <a:t>LEADING CHASSIS &amp; EQUIPMENT BRANDS</a:t>
            </a:r>
            <a:endParaRPr lang="en-US" sz="800" dirty="0"/>
          </a:p>
        </p:txBody>
      </p:sp>
      <p:sp>
        <p:nvSpPr>
          <p:cNvPr id="52" name="Shape 48"/>
          <p:cNvSpPr/>
          <p:nvPr/>
        </p:nvSpPr>
        <p:spPr>
          <a:xfrm>
            <a:off x="7818120" y="4123944"/>
            <a:ext cx="1729588" cy="438912"/>
          </a:xfrm>
          <a:prstGeom prst="roundRect">
            <a:avLst>
              <a:gd name="adj" fmla="val 12500"/>
            </a:avLst>
          </a:prstGeom>
          <a:solidFill>
            <a:srgbClr val="FFFFFF"/>
          </a:solidFill>
          <a:ln w="12700">
            <a:solidFill>
              <a:srgbClr val="E2E6EB"/>
            </a:solidFill>
            <a:prstDash val="solid"/>
          </a:ln>
        </p:spPr>
      </p:sp>
      <p:pic>
        <p:nvPicPr>
          <p:cNvPr id="53" name="Image 2" descr="assets/br_mercedes.png">    </p:cNvPr>
          <p:cNvPicPr>
            <a:picLocks noChangeAspect="1"/>
          </p:cNvPicPr>
          <p:nvPr/>
        </p:nvPicPr>
        <p:blipFill>
          <a:blip r:embed="rId3"/>
          <a:srcRect l="0" r="0" t="0" b="0"/>
          <a:stretch/>
        </p:blipFill>
        <p:spPr>
          <a:xfrm>
            <a:off x="7982712" y="4197096"/>
            <a:ext cx="1400404" cy="292608"/>
          </a:xfrm>
          <a:prstGeom prst="rect">
            <a:avLst/>
          </a:prstGeom>
        </p:spPr>
      </p:pic>
      <p:sp>
        <p:nvSpPr>
          <p:cNvPr id="54" name="Shape 49"/>
          <p:cNvSpPr/>
          <p:nvPr/>
        </p:nvSpPr>
        <p:spPr>
          <a:xfrm>
            <a:off x="9730588" y="4123944"/>
            <a:ext cx="1729588" cy="438912"/>
          </a:xfrm>
          <a:prstGeom prst="roundRect">
            <a:avLst>
              <a:gd name="adj" fmla="val 12500"/>
            </a:avLst>
          </a:prstGeom>
          <a:solidFill>
            <a:srgbClr val="FFFFFF"/>
          </a:solidFill>
          <a:ln w="12700">
            <a:solidFill>
              <a:srgbClr val="E2E6EB"/>
            </a:solidFill>
            <a:prstDash val="solid"/>
          </a:ln>
        </p:spPr>
      </p:sp>
      <p:pic>
        <p:nvPicPr>
          <p:cNvPr id="55" name="Image 3" descr="assets/br_volvo.png">    </p:cNvPr>
          <p:cNvPicPr>
            <a:picLocks noChangeAspect="1"/>
          </p:cNvPicPr>
          <p:nvPr/>
        </p:nvPicPr>
        <p:blipFill>
          <a:blip r:embed="rId4"/>
          <a:srcRect l="0" r="0" t="0" b="0"/>
          <a:stretch/>
        </p:blipFill>
        <p:spPr>
          <a:xfrm>
            <a:off x="9895180" y="4197096"/>
            <a:ext cx="1400404" cy="292608"/>
          </a:xfrm>
          <a:prstGeom prst="rect">
            <a:avLst/>
          </a:prstGeom>
        </p:spPr>
      </p:pic>
      <p:sp>
        <p:nvSpPr>
          <p:cNvPr id="56" name="Shape 50"/>
          <p:cNvSpPr/>
          <p:nvPr/>
        </p:nvSpPr>
        <p:spPr>
          <a:xfrm>
            <a:off x="7818120" y="4654296"/>
            <a:ext cx="1729588" cy="438912"/>
          </a:xfrm>
          <a:prstGeom prst="roundRect">
            <a:avLst>
              <a:gd name="adj" fmla="val 12500"/>
            </a:avLst>
          </a:prstGeom>
          <a:solidFill>
            <a:srgbClr val="FFFFFF"/>
          </a:solidFill>
          <a:ln w="12700">
            <a:solidFill>
              <a:srgbClr val="E2E6EB"/>
            </a:solidFill>
            <a:prstDash val="solid"/>
          </a:ln>
        </p:spPr>
      </p:sp>
      <p:pic>
        <p:nvPicPr>
          <p:cNvPr id="57" name="Image 4" descr="assets/br_scania.png">    </p:cNvPr>
          <p:cNvPicPr>
            <a:picLocks noChangeAspect="1"/>
          </p:cNvPicPr>
          <p:nvPr/>
        </p:nvPicPr>
        <p:blipFill>
          <a:blip r:embed="rId5"/>
          <a:srcRect l="0" r="0" t="0" b="0"/>
          <a:stretch/>
        </p:blipFill>
        <p:spPr>
          <a:xfrm>
            <a:off x="7982712" y="4727448"/>
            <a:ext cx="1400404" cy="292608"/>
          </a:xfrm>
          <a:prstGeom prst="rect">
            <a:avLst/>
          </a:prstGeom>
        </p:spPr>
      </p:pic>
      <p:sp>
        <p:nvSpPr>
          <p:cNvPr id="58" name="Shape 51"/>
          <p:cNvSpPr/>
          <p:nvPr/>
        </p:nvSpPr>
        <p:spPr>
          <a:xfrm>
            <a:off x="9730588" y="4654296"/>
            <a:ext cx="1729588" cy="438912"/>
          </a:xfrm>
          <a:prstGeom prst="roundRect">
            <a:avLst>
              <a:gd name="adj" fmla="val 12500"/>
            </a:avLst>
          </a:prstGeom>
          <a:solidFill>
            <a:srgbClr val="FFFFFF"/>
          </a:solidFill>
          <a:ln w="12700">
            <a:solidFill>
              <a:srgbClr val="E2E6EB"/>
            </a:solidFill>
            <a:prstDash val="solid"/>
          </a:ln>
        </p:spPr>
      </p:sp>
      <p:pic>
        <p:nvPicPr>
          <p:cNvPr id="59" name="Image 5" descr="assets/br_ford.png">    </p:cNvPr>
          <p:cNvPicPr>
            <a:picLocks noChangeAspect="1"/>
          </p:cNvPicPr>
          <p:nvPr/>
        </p:nvPicPr>
        <p:blipFill>
          <a:blip r:embed="rId6"/>
          <a:srcRect l="0" r="0" t="0" b="0"/>
          <a:stretch/>
        </p:blipFill>
        <p:spPr>
          <a:xfrm>
            <a:off x="9895180" y="4727448"/>
            <a:ext cx="1400404" cy="292608"/>
          </a:xfrm>
          <a:prstGeom prst="rect">
            <a:avLst/>
          </a:prstGeom>
        </p:spPr>
      </p:pic>
      <p:sp>
        <p:nvSpPr>
          <p:cNvPr id="60" name="Shape 52"/>
          <p:cNvSpPr/>
          <p:nvPr/>
        </p:nvSpPr>
        <p:spPr>
          <a:xfrm>
            <a:off x="7818120" y="5184648"/>
            <a:ext cx="1729588" cy="438912"/>
          </a:xfrm>
          <a:prstGeom prst="roundRect">
            <a:avLst>
              <a:gd name="adj" fmla="val 12500"/>
            </a:avLst>
          </a:prstGeom>
          <a:solidFill>
            <a:srgbClr val="FFFFFF"/>
          </a:solidFill>
          <a:ln w="12700">
            <a:solidFill>
              <a:srgbClr val="E2E6EB"/>
            </a:solidFill>
            <a:prstDash val="solid"/>
          </a:ln>
        </p:spPr>
      </p:sp>
      <p:pic>
        <p:nvPicPr>
          <p:cNvPr id="61" name="Image 6" descr="assets/br_hyundai.png">    </p:cNvPr>
          <p:cNvPicPr>
            <a:picLocks noChangeAspect="1"/>
          </p:cNvPicPr>
          <p:nvPr/>
        </p:nvPicPr>
        <p:blipFill>
          <a:blip r:embed="rId7"/>
          <a:srcRect l="0" r="0" t="0" b="0"/>
          <a:stretch/>
        </p:blipFill>
        <p:spPr>
          <a:xfrm>
            <a:off x="7982712" y="5257800"/>
            <a:ext cx="1400404" cy="292608"/>
          </a:xfrm>
          <a:prstGeom prst="rect">
            <a:avLst/>
          </a:prstGeom>
        </p:spPr>
      </p:pic>
      <p:sp>
        <p:nvSpPr>
          <p:cNvPr id="62" name="Shape 53"/>
          <p:cNvSpPr/>
          <p:nvPr/>
        </p:nvSpPr>
        <p:spPr>
          <a:xfrm>
            <a:off x="9730588" y="5184648"/>
            <a:ext cx="1729588" cy="438912"/>
          </a:xfrm>
          <a:prstGeom prst="roundRect">
            <a:avLst>
              <a:gd name="adj" fmla="val 12500"/>
            </a:avLst>
          </a:prstGeom>
          <a:solidFill>
            <a:srgbClr val="FFFFFF"/>
          </a:solidFill>
          <a:ln w="12700">
            <a:solidFill>
              <a:srgbClr val="E2E6EB"/>
            </a:solidFill>
            <a:prstDash val="solid"/>
          </a:ln>
        </p:spPr>
      </p:sp>
      <p:pic>
        <p:nvPicPr>
          <p:cNvPr id="63" name="Image 7" descr="assets/br_cat.png">    </p:cNvPr>
          <p:cNvPicPr>
            <a:picLocks noChangeAspect="1"/>
          </p:cNvPicPr>
          <p:nvPr/>
        </p:nvPicPr>
        <p:blipFill>
          <a:blip r:embed="rId8"/>
          <a:srcRect l="0" r="0" t="0" b="0"/>
          <a:stretch/>
        </p:blipFill>
        <p:spPr>
          <a:xfrm>
            <a:off x="9895180" y="5257800"/>
            <a:ext cx="1400404" cy="292608"/>
          </a:xfrm>
          <a:prstGeom prst="rect">
            <a:avLst/>
          </a:prstGeom>
        </p:spPr>
      </p:pic>
      <p:sp>
        <p:nvSpPr>
          <p:cNvPr id="64" name="Shape 54"/>
          <p:cNvSpPr/>
          <p:nvPr/>
        </p:nvSpPr>
        <p:spPr>
          <a:xfrm>
            <a:off x="0" y="6172200"/>
            <a:ext cx="12191695" cy="685800"/>
          </a:xfrm>
          <a:prstGeom prst="rect">
            <a:avLst/>
          </a:prstGeom>
          <a:solidFill>
            <a:srgbClr val="141A24"/>
          </a:solidFill>
          <a:ln/>
        </p:spPr>
      </p:sp>
      <p:sp>
        <p:nvSpPr>
          <p:cNvPr id="65" name="Shape 55"/>
          <p:cNvSpPr/>
          <p:nvPr/>
        </p:nvSpPr>
        <p:spPr>
          <a:xfrm>
            <a:off x="0" y="6172200"/>
            <a:ext cx="128016" cy="685800"/>
          </a:xfrm>
          <a:prstGeom prst="rect">
            <a:avLst/>
          </a:prstGeom>
          <a:solidFill>
            <a:srgbClr val="F35B1A"/>
          </a:solidFill>
          <a:ln/>
        </p:spPr>
      </p:sp>
      <p:sp>
        <p:nvSpPr>
          <p:cNvPr id="66" name="Text 56"/>
          <p:cNvSpPr/>
          <p:nvPr/>
        </p:nvSpPr>
        <p:spPr>
          <a:xfrm>
            <a:off x="1828800" y="6172200"/>
            <a:ext cx="8534095" cy="685800"/>
          </a:xfrm>
          <a:prstGeom prst="rect">
            <a:avLst/>
          </a:prstGeom>
          <a:noFill/>
          <a:ln/>
        </p:spPr>
        <p:txBody>
          <a:bodyPr wrap="square" lIns="0" tIns="0" rIns="0" bIns="0" rtlCol="0" anchor="ctr"/>
          <a:lstStyle/>
          <a:p>
            <a:pPr algn="ctr" indent="0" marL="0">
              <a:lnSpc>
                <a:spcPct val="100000"/>
              </a:lnSpc>
              <a:buNone/>
            </a:pPr>
            <a:r>
              <a:rPr lang="en-US" sz="1200" dirty="0">
                <a:solidFill>
                  <a:srgbClr val="E8ECF1"/>
                </a:solidFill>
                <a:latin typeface="Poppins SemiBold" pitchFamily="34" charset="0"/>
                <a:ea typeface="Poppins SemiBold" pitchFamily="34" charset="-122"/>
                <a:cs typeface="Poppins SemiBold" pitchFamily="34" charset="-120"/>
              </a:rPr>
              <a:t>A </a:t>
            </a:r>
            <a:pPr algn="ctr" indent="0" marL="0">
              <a:lnSpc>
                <a:spcPct val="100000"/>
              </a:lnSpc>
              <a:buNone/>
            </a:pPr>
            <a:r>
              <a:rPr lang="en-US" sz="1200" dirty="0">
                <a:solidFill>
                  <a:srgbClr val="F35B1A"/>
                </a:solidFill>
                <a:latin typeface="Poppins SemiBold" pitchFamily="34" charset="0"/>
                <a:ea typeface="Poppins SemiBold" pitchFamily="34" charset="-122"/>
                <a:cs typeface="Poppins SemiBold" pitchFamily="34" charset="-120"/>
              </a:rPr>
              <a:t>fully-owned, modern fleet</a:t>
            </a:r>
            <a:pPr algn="ctr" indent="0" marL="0">
              <a:lnSpc>
                <a:spcPct val="100000"/>
              </a:lnSpc>
              <a:buNone/>
            </a:pPr>
            <a:r>
              <a:rPr lang="en-US" sz="1200" dirty="0">
                <a:solidFill>
                  <a:srgbClr val="E8ECF1"/>
                </a:solidFill>
                <a:latin typeface="Poppins SemiBold" pitchFamily="34" charset="0"/>
                <a:ea typeface="Poppins SemiBold" pitchFamily="34" charset="-122"/>
                <a:cs typeface="Poppins SemiBold" pitchFamily="34" charset="-120"/>
              </a:rPr>
              <a:t> creates operational flexibility and barriers that are hard to replicate</a:t>
            </a:r>
            <a:endParaRPr lang="en-US" sz="1200" dirty="0"/>
          </a:p>
        </p:txBody>
      </p:sp>
      <p:pic>
        <p:nvPicPr>
          <p:cNvPr id="67" name="Image 8" descr="assets/igc_white.png">    </p:cNvPr>
          <p:cNvPicPr>
            <a:picLocks noChangeAspect="1"/>
          </p:cNvPicPr>
          <p:nvPr/>
        </p:nvPicPr>
        <p:blipFill>
          <a:blip r:embed="rId9"/>
          <a:stretch>
            <a:fillRect/>
          </a:stretch>
        </p:blipFill>
        <p:spPr>
          <a:xfrm>
            <a:off x="731520" y="6382512"/>
            <a:ext cx="292608" cy="252943"/>
          </a:xfrm>
          <a:prstGeom prst="rect">
            <a:avLst/>
          </a:prstGeom>
        </p:spPr>
      </p:pic>
      <p:sp>
        <p:nvSpPr>
          <p:cNvPr id="68" name="Text 57"/>
          <p:cNvSpPr/>
          <p:nvPr/>
        </p:nvSpPr>
        <p:spPr>
          <a:xfrm>
            <a:off x="1115568" y="6377940"/>
            <a:ext cx="2743200" cy="274320"/>
          </a:xfrm>
          <a:prstGeom prst="rect">
            <a:avLst/>
          </a:prstGeom>
          <a:noFill/>
          <a:ln/>
        </p:spPr>
        <p:txBody>
          <a:bodyPr wrap="square" lIns="0" tIns="0" rIns="0" bIns="0" rtlCol="0" anchor="ctr"/>
          <a:lstStyle/>
          <a:p>
            <a:pPr algn="l" indent="0" marL="0">
              <a:buNone/>
            </a:pPr>
            <a:r>
              <a:rPr lang="en-US" sz="900" dirty="0">
                <a:solidFill>
                  <a:srgbClr val="FFFFFF"/>
                </a:solidFill>
                <a:latin typeface="Poppins Medium" pitchFamily="34" charset="0"/>
                <a:ea typeface="Poppins Medium" pitchFamily="34" charset="-122"/>
                <a:cs typeface="Poppins Medium" pitchFamily="34" charset="-120"/>
              </a:rPr>
              <a:t>10</a:t>
            </a:r>
            <a:pPr algn="l" indent="0" marL="0">
              <a:buNone/>
            </a:pPr>
            <a:r>
              <a:rPr lang="en-US" sz="900" dirty="0">
                <a:solidFill>
                  <a:srgbClr val="8B95A5"/>
                </a:solidFill>
                <a:latin typeface="Poppins" pitchFamily="34" charset="0"/>
                <a:ea typeface="Poppins" pitchFamily="34" charset="-122"/>
                <a:cs typeface="Poppins" pitchFamily="34" charset="-120"/>
              </a:rPr>
              <a:t>    Confidential</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assets/mobi_logo_navy.png">    </p:cNvPr>
          <p:cNvPicPr>
            <a:picLocks noChangeAspect="1"/>
          </p:cNvPicPr>
          <p:nvPr/>
        </p:nvPicPr>
        <p:blipFill>
          <a:blip r:embed="rId1"/>
          <a:stretch>
            <a:fillRect/>
          </a:stretch>
        </p:blipFill>
        <p:spPr>
          <a:xfrm>
            <a:off x="10545775" y="329184"/>
            <a:ext cx="914400" cy="292894"/>
          </a:xfrm>
          <a:prstGeom prst="rect">
            <a:avLst/>
          </a:prstGeom>
        </p:spPr>
      </p:pic>
      <p:sp>
        <p:nvSpPr>
          <p:cNvPr id="3" name="Shape 0"/>
          <p:cNvSpPr/>
          <p:nvPr/>
        </p:nvSpPr>
        <p:spPr>
          <a:xfrm>
            <a:off x="731520" y="329184"/>
            <a:ext cx="1549908" cy="329184"/>
          </a:xfrm>
          <a:prstGeom prst="roundRect">
            <a:avLst>
              <a:gd name="adj" fmla="val 25000"/>
            </a:avLst>
          </a:prstGeom>
          <a:solidFill>
            <a:srgbClr val="FDE9DE"/>
          </a:solidFill>
          <a:ln/>
        </p:spPr>
      </p:sp>
      <p:sp>
        <p:nvSpPr>
          <p:cNvPr id="4" name="Text 1"/>
          <p:cNvSpPr/>
          <p:nvPr/>
        </p:nvSpPr>
        <p:spPr>
          <a:xfrm>
            <a:off x="731520" y="329184"/>
            <a:ext cx="1549908" cy="329184"/>
          </a:xfrm>
          <a:prstGeom prst="rect">
            <a:avLst/>
          </a:prstGeom>
          <a:noFill/>
          <a:ln/>
        </p:spPr>
        <p:txBody>
          <a:bodyPr wrap="square" lIns="0" tIns="0" rIns="0" bIns="0" rtlCol="0" anchor="ctr"/>
          <a:lstStyle/>
          <a:p>
            <a:pPr algn="ctr" indent="0" marL="0">
              <a:buNone/>
            </a:pPr>
            <a:r>
              <a:rPr lang="en-US" sz="900" dirty="0">
                <a:solidFill>
                  <a:srgbClr val="C6470F"/>
                </a:solidFill>
                <a:latin typeface="Poppins Medium" pitchFamily="34" charset="0"/>
                <a:ea typeface="Poppins Medium" pitchFamily="34" charset="-122"/>
                <a:cs typeface="Poppins Medium" pitchFamily="34" charset="-120"/>
              </a:rPr>
              <a:t>Investment Thesis</a:t>
            </a:r>
            <a:endParaRPr lang="en-US" sz="900" dirty="0"/>
          </a:p>
        </p:txBody>
      </p:sp>
      <p:sp>
        <p:nvSpPr>
          <p:cNvPr id="5" name="Shape 2"/>
          <p:cNvSpPr/>
          <p:nvPr/>
        </p:nvSpPr>
        <p:spPr>
          <a:xfrm>
            <a:off x="731520" y="786384"/>
            <a:ext cx="457200" cy="457200"/>
          </a:xfrm>
          <a:prstGeom prst="ellipse">
            <a:avLst/>
          </a:prstGeom>
          <a:solidFill>
            <a:srgbClr val="F35B1A"/>
          </a:solidFill>
          <a:ln/>
        </p:spPr>
      </p:sp>
      <p:sp>
        <p:nvSpPr>
          <p:cNvPr id="6" name="Text 3"/>
          <p:cNvSpPr/>
          <p:nvPr/>
        </p:nvSpPr>
        <p:spPr>
          <a:xfrm>
            <a:off x="731520" y="786384"/>
            <a:ext cx="457200" cy="457200"/>
          </a:xfrm>
          <a:prstGeom prst="rect">
            <a:avLst/>
          </a:prstGeom>
          <a:noFill/>
          <a:ln/>
        </p:spPr>
        <p:txBody>
          <a:bodyPr wrap="square" lIns="0" tIns="0" rIns="0" bIns="0" rtlCol="0" anchor="ctr"/>
          <a:lstStyle/>
          <a:p>
            <a:pPr algn="ctr" indent="0" marL="0">
              <a:buNone/>
            </a:pPr>
            <a:r>
              <a:rPr lang="en-US" sz="1600" dirty="0">
                <a:solidFill>
                  <a:srgbClr val="FFFFFF"/>
                </a:solidFill>
                <a:latin typeface="Poppins SemiBold" pitchFamily="34" charset="0"/>
                <a:ea typeface="Poppins SemiBold" pitchFamily="34" charset="-122"/>
                <a:cs typeface="Poppins SemiBold" pitchFamily="34" charset="-120"/>
              </a:rPr>
              <a:t>3</a:t>
            </a:r>
            <a:endParaRPr lang="en-US" sz="1600" dirty="0"/>
          </a:p>
        </p:txBody>
      </p:sp>
      <p:sp>
        <p:nvSpPr>
          <p:cNvPr id="7" name="Text 4"/>
          <p:cNvSpPr/>
          <p:nvPr/>
        </p:nvSpPr>
        <p:spPr>
          <a:xfrm>
            <a:off x="1371600" y="731520"/>
            <a:ext cx="9448495" cy="548640"/>
          </a:xfrm>
          <a:prstGeom prst="rect">
            <a:avLst/>
          </a:prstGeom>
          <a:noFill/>
          <a:ln/>
        </p:spPr>
        <p:txBody>
          <a:bodyPr wrap="square" lIns="0" tIns="0" rIns="0" bIns="0" rtlCol="0" anchor="ctr"/>
          <a:lstStyle/>
          <a:p>
            <a:pPr algn="l" indent="0" marL="0">
              <a:buNone/>
            </a:pPr>
            <a:r>
              <a:rPr lang="en-US" sz="1800" dirty="0">
                <a:solidFill>
                  <a:srgbClr val="141A24"/>
                </a:solidFill>
                <a:latin typeface="Poppins SemiBold" pitchFamily="34" charset="0"/>
                <a:ea typeface="Poppins SemiBold" pitchFamily="34" charset="-122"/>
                <a:cs typeface="Poppins SemiBold" pitchFamily="34" charset="-120"/>
              </a:rPr>
              <a:t>Technology-enabled operations support high reliability</a:t>
            </a:r>
            <a:endParaRPr lang="en-US" sz="1800" dirty="0"/>
          </a:p>
        </p:txBody>
      </p:sp>
      <p:sp>
        <p:nvSpPr>
          <p:cNvPr id="8" name="Text 5"/>
          <p:cNvSpPr/>
          <p:nvPr/>
        </p:nvSpPr>
        <p:spPr>
          <a:xfrm>
            <a:off x="731520" y="1298448"/>
            <a:ext cx="10088575" cy="438912"/>
          </a:xfrm>
          <a:prstGeom prst="rect">
            <a:avLst/>
          </a:prstGeom>
          <a:noFill/>
          <a:ln/>
        </p:spPr>
        <p:txBody>
          <a:bodyPr wrap="square" lIns="0" tIns="0" rIns="0" bIns="0" rtlCol="0" anchor="t"/>
          <a:lstStyle/>
          <a:p>
            <a:pPr algn="l" indent="0" marL="0">
              <a:lnSpc>
                <a:spcPct val="102000"/>
              </a:lnSpc>
              <a:buNone/>
            </a:pPr>
            <a:r>
              <a:rPr lang="en-US" sz="1050" dirty="0">
                <a:solidFill>
                  <a:srgbClr val="6C7683"/>
                </a:solidFill>
                <a:latin typeface="Poppins" pitchFamily="34" charset="0"/>
                <a:ea typeface="Poppins" pitchFamily="34" charset="-122"/>
                <a:cs typeface="Poppins" pitchFamily="34" charset="-120"/>
              </a:rPr>
              <a:t>GPS telemetry, driver monitoring and operational discipline keep the fleet running reliably</a:t>
            </a:r>
            <a:endParaRPr lang="en-US" sz="1050" dirty="0"/>
          </a:p>
        </p:txBody>
      </p:sp>
      <p:sp>
        <p:nvSpPr>
          <p:cNvPr id="9" name="Text 6"/>
          <p:cNvSpPr/>
          <p:nvPr/>
        </p:nvSpPr>
        <p:spPr>
          <a:xfrm>
            <a:off x="731520" y="5888736"/>
            <a:ext cx="10362895" cy="219456"/>
          </a:xfrm>
          <a:prstGeom prst="rect">
            <a:avLst/>
          </a:prstGeom>
          <a:noFill/>
          <a:ln/>
        </p:spPr>
        <p:txBody>
          <a:bodyPr wrap="square" lIns="0" tIns="0" rIns="0" bIns="0" rtlCol="0" anchor="ctr"/>
          <a:lstStyle/>
          <a:p>
            <a:pPr algn="l" indent="0" marL="0">
              <a:buNone/>
            </a:pPr>
            <a:r>
              <a:rPr lang="en-US" sz="700" dirty="0">
                <a:solidFill>
                  <a:srgbClr val="9AA3AD"/>
                </a:solidFill>
                <a:latin typeface="Poppins" pitchFamily="34" charset="0"/>
                <a:ea typeface="Poppins" pitchFamily="34" charset="-122"/>
                <a:cs typeface="Poppins" pitchFamily="34" charset="-120"/>
              </a:rPr>
              <a:t>Source: Company. Availability and preventive-maintenance metrics, and scope of in-house maintenance, to be confirmed with management.</a:t>
            </a:r>
            <a:endParaRPr lang="en-US" sz="700" dirty="0"/>
          </a:p>
        </p:txBody>
      </p:sp>
      <p:sp>
        <p:nvSpPr>
          <p:cNvPr id="10" name="Shape 7"/>
          <p:cNvSpPr/>
          <p:nvPr/>
        </p:nvSpPr>
        <p:spPr>
          <a:xfrm>
            <a:off x="731520" y="1874520"/>
            <a:ext cx="5181448" cy="1600200"/>
          </a:xfrm>
          <a:prstGeom prst="roundRect">
            <a:avLst>
              <a:gd name="adj" fmla="val 5714"/>
            </a:avLst>
          </a:prstGeom>
          <a:solidFill>
            <a:srgbClr val="F4F6F8"/>
          </a:solidFill>
          <a:ln w="12700">
            <a:solidFill>
              <a:srgbClr val="E2E6EB"/>
            </a:solidFill>
            <a:prstDash val="solid"/>
          </a:ln>
        </p:spPr>
      </p:sp>
      <p:sp>
        <p:nvSpPr>
          <p:cNvPr id="11" name="Shape 8"/>
          <p:cNvSpPr/>
          <p:nvPr/>
        </p:nvSpPr>
        <p:spPr>
          <a:xfrm>
            <a:off x="950976" y="2057400"/>
            <a:ext cx="457200" cy="457200"/>
          </a:xfrm>
          <a:prstGeom prst="ellipse">
            <a:avLst/>
          </a:prstGeom>
          <a:solidFill>
            <a:srgbClr val="FFFFFF"/>
          </a:solidFill>
          <a:ln/>
        </p:spPr>
      </p:sp>
      <p:pic>
        <p:nvPicPr>
          <p:cNvPr id="12" name="Image 1" descr="assets/icons/activity_orange.png">    </p:cNvPr>
          <p:cNvPicPr>
            <a:picLocks noChangeAspect="1"/>
          </p:cNvPicPr>
          <p:nvPr/>
        </p:nvPicPr>
        <p:blipFill>
          <a:blip r:embed="rId2"/>
          <a:stretch>
            <a:fillRect/>
          </a:stretch>
        </p:blipFill>
        <p:spPr>
          <a:xfrm>
            <a:off x="1074420" y="2180844"/>
            <a:ext cx="210312" cy="210312"/>
          </a:xfrm>
          <a:prstGeom prst="rect">
            <a:avLst/>
          </a:prstGeom>
        </p:spPr>
      </p:pic>
      <p:sp>
        <p:nvSpPr>
          <p:cNvPr id="13" name="Text 9"/>
          <p:cNvSpPr/>
          <p:nvPr/>
        </p:nvSpPr>
        <p:spPr>
          <a:xfrm>
            <a:off x="1517904" y="2075688"/>
            <a:ext cx="4221328" cy="402336"/>
          </a:xfrm>
          <a:prstGeom prst="rect">
            <a:avLst/>
          </a:prstGeom>
          <a:noFill/>
          <a:ln/>
        </p:spPr>
        <p:txBody>
          <a:bodyPr wrap="square" lIns="0" tIns="0" rIns="0" bIns="0" rtlCol="0" anchor="ctr"/>
          <a:lstStyle/>
          <a:p>
            <a:pPr indent="0" marL="0">
              <a:lnSpc>
                <a:spcPct val="95000"/>
              </a:lnSpc>
              <a:buNone/>
            </a:pPr>
            <a:r>
              <a:rPr lang="en-US" sz="1100" dirty="0">
                <a:solidFill>
                  <a:srgbClr val="141A24"/>
                </a:solidFill>
                <a:latin typeface="Poppins SemiBold" pitchFamily="34" charset="0"/>
                <a:ea typeface="Poppins SemiBold" pitchFamily="34" charset="-122"/>
                <a:cs typeface="Poppins SemiBold" pitchFamily="34" charset="-120"/>
              </a:rPr>
              <a:t>GPS Telemetry &amp; Driver Monitoring</a:t>
            </a:r>
            <a:endParaRPr lang="en-US" sz="1100" dirty="0"/>
          </a:p>
        </p:txBody>
      </p:sp>
      <p:sp>
        <p:nvSpPr>
          <p:cNvPr id="14" name="Text 10"/>
          <p:cNvSpPr/>
          <p:nvPr/>
        </p:nvSpPr>
        <p:spPr>
          <a:xfrm>
            <a:off x="950976" y="2569464"/>
            <a:ext cx="4742536" cy="457200"/>
          </a:xfrm>
          <a:prstGeom prst="rect">
            <a:avLst/>
          </a:prstGeom>
          <a:noFill/>
          <a:ln/>
        </p:spPr>
        <p:txBody>
          <a:bodyPr wrap="square" lIns="0" tIns="0" rIns="0" bIns="0" rtlCol="0" anchor="t"/>
          <a:lstStyle/>
          <a:p>
            <a:pPr indent="0" marL="0">
              <a:lnSpc>
                <a:spcPct val="100000"/>
              </a:lnSpc>
              <a:buNone/>
            </a:pPr>
            <a:r>
              <a:rPr lang="en-US" sz="800" dirty="0">
                <a:solidFill>
                  <a:srgbClr val="6C7683"/>
                </a:solidFill>
                <a:latin typeface="Poppins" pitchFamily="34" charset="0"/>
                <a:ea typeface="Poppins" pitchFamily="34" charset="-122"/>
                <a:cs typeface="Poppins" pitchFamily="34" charset="-120"/>
              </a:rPr>
              <a:t>GPS-based tracking and AI-powered driver-fatigue monitoring provide continuous oversight across all bases</a:t>
            </a:r>
            <a:endParaRPr lang="en-US" sz="800" dirty="0"/>
          </a:p>
        </p:txBody>
      </p:sp>
      <p:pic>
        <p:nvPicPr>
          <p:cNvPr id="15" name="Image 2" descr="assets/sw_ituran.png">    </p:cNvPr>
          <p:cNvPicPr>
            <a:picLocks noChangeAspect="1"/>
          </p:cNvPicPr>
          <p:nvPr/>
        </p:nvPicPr>
        <p:blipFill>
          <a:blip r:embed="rId3"/>
          <a:srcRect l="0" r="0" t="0" b="0"/>
          <a:stretch/>
        </p:blipFill>
        <p:spPr>
          <a:xfrm>
            <a:off x="2051228" y="3017520"/>
            <a:ext cx="1188720" cy="365760"/>
          </a:xfrm>
          <a:prstGeom prst="rect">
            <a:avLst/>
          </a:prstGeom>
        </p:spPr>
      </p:pic>
      <p:pic>
        <p:nvPicPr>
          <p:cNvPr id="16" name="Image 3" descr="assets/sw_vtraxx.png">    </p:cNvPr>
          <p:cNvPicPr>
            <a:picLocks noChangeAspect="1"/>
          </p:cNvPicPr>
          <p:nvPr/>
        </p:nvPicPr>
        <p:blipFill>
          <a:blip r:embed="rId4"/>
          <a:srcRect l="0" r="0" t="0" b="0"/>
          <a:stretch/>
        </p:blipFill>
        <p:spPr>
          <a:xfrm>
            <a:off x="3404540" y="3017520"/>
            <a:ext cx="1188720" cy="365760"/>
          </a:xfrm>
          <a:prstGeom prst="rect">
            <a:avLst/>
          </a:prstGeom>
        </p:spPr>
      </p:pic>
      <p:sp>
        <p:nvSpPr>
          <p:cNvPr id="17" name="Shape 11"/>
          <p:cNvSpPr/>
          <p:nvPr/>
        </p:nvSpPr>
        <p:spPr>
          <a:xfrm>
            <a:off x="6278728" y="1874520"/>
            <a:ext cx="5181448" cy="1600200"/>
          </a:xfrm>
          <a:prstGeom prst="roundRect">
            <a:avLst>
              <a:gd name="adj" fmla="val 5714"/>
            </a:avLst>
          </a:prstGeom>
          <a:solidFill>
            <a:srgbClr val="F4F6F8"/>
          </a:solidFill>
          <a:ln w="12700">
            <a:solidFill>
              <a:srgbClr val="E2E6EB"/>
            </a:solidFill>
            <a:prstDash val="solid"/>
          </a:ln>
        </p:spPr>
      </p:sp>
      <p:sp>
        <p:nvSpPr>
          <p:cNvPr id="18" name="Shape 12"/>
          <p:cNvSpPr/>
          <p:nvPr/>
        </p:nvSpPr>
        <p:spPr>
          <a:xfrm>
            <a:off x="6498184" y="2057400"/>
            <a:ext cx="457200" cy="457200"/>
          </a:xfrm>
          <a:prstGeom prst="ellipse">
            <a:avLst/>
          </a:prstGeom>
          <a:solidFill>
            <a:srgbClr val="FFFFFF"/>
          </a:solidFill>
          <a:ln/>
        </p:spPr>
      </p:sp>
      <p:pic>
        <p:nvPicPr>
          <p:cNvPr id="19" name="Image 4" descr="assets/icons/cpu_orange.png">    </p:cNvPr>
          <p:cNvPicPr>
            <a:picLocks noChangeAspect="1"/>
          </p:cNvPicPr>
          <p:nvPr/>
        </p:nvPicPr>
        <p:blipFill>
          <a:blip r:embed="rId5"/>
          <a:stretch>
            <a:fillRect/>
          </a:stretch>
        </p:blipFill>
        <p:spPr>
          <a:xfrm>
            <a:off x="6621628" y="2180844"/>
            <a:ext cx="210312" cy="210312"/>
          </a:xfrm>
          <a:prstGeom prst="rect">
            <a:avLst/>
          </a:prstGeom>
        </p:spPr>
      </p:pic>
      <p:sp>
        <p:nvSpPr>
          <p:cNvPr id="20" name="Text 13"/>
          <p:cNvSpPr/>
          <p:nvPr/>
        </p:nvSpPr>
        <p:spPr>
          <a:xfrm>
            <a:off x="7065112" y="2075688"/>
            <a:ext cx="4221328" cy="402336"/>
          </a:xfrm>
          <a:prstGeom prst="rect">
            <a:avLst/>
          </a:prstGeom>
          <a:noFill/>
          <a:ln/>
        </p:spPr>
        <p:txBody>
          <a:bodyPr wrap="square" lIns="0" tIns="0" rIns="0" bIns="0" rtlCol="0" anchor="ctr"/>
          <a:lstStyle/>
          <a:p>
            <a:pPr indent="0" marL="0">
              <a:lnSpc>
                <a:spcPct val="95000"/>
              </a:lnSpc>
              <a:buNone/>
            </a:pPr>
            <a:r>
              <a:rPr lang="en-US" sz="1100" dirty="0">
                <a:solidFill>
                  <a:srgbClr val="141A24"/>
                </a:solidFill>
                <a:latin typeface="Poppins SemiBold" pitchFamily="34" charset="0"/>
                <a:ea typeface="Poppins SemiBold" pitchFamily="34" charset="-122"/>
                <a:cs typeface="Poppins SemiBold" pitchFamily="34" charset="-120"/>
              </a:rPr>
              <a:t>ERP &amp; Management</a:t>
            </a:r>
            <a:endParaRPr lang="en-US" sz="1100" dirty="0"/>
          </a:p>
        </p:txBody>
      </p:sp>
      <p:sp>
        <p:nvSpPr>
          <p:cNvPr id="21" name="Text 14"/>
          <p:cNvSpPr/>
          <p:nvPr/>
        </p:nvSpPr>
        <p:spPr>
          <a:xfrm>
            <a:off x="6498184" y="2569464"/>
            <a:ext cx="4742536" cy="457200"/>
          </a:xfrm>
          <a:prstGeom prst="rect">
            <a:avLst/>
          </a:prstGeom>
          <a:noFill/>
          <a:ln/>
        </p:spPr>
        <p:txBody>
          <a:bodyPr wrap="square" lIns="0" tIns="0" rIns="0" bIns="0" rtlCol="0" anchor="t"/>
          <a:lstStyle/>
          <a:p>
            <a:pPr indent="0" marL="0">
              <a:lnSpc>
                <a:spcPct val="100000"/>
              </a:lnSpc>
              <a:buNone/>
            </a:pPr>
            <a:r>
              <a:rPr lang="en-US" sz="800" dirty="0">
                <a:solidFill>
                  <a:srgbClr val="6C7683"/>
                </a:solidFill>
                <a:latin typeface="Poppins" pitchFamily="34" charset="0"/>
                <a:ea typeface="Poppins" pitchFamily="34" charset="-122"/>
                <a:cs typeface="Poppins" pitchFamily="34" charset="-120"/>
              </a:rPr>
              <a:t>TOTVS Protheus underpins enterprise resource planning and back-office control</a:t>
            </a:r>
            <a:endParaRPr lang="en-US" sz="800" dirty="0"/>
          </a:p>
        </p:txBody>
      </p:sp>
      <p:pic>
        <p:nvPicPr>
          <p:cNvPr id="22" name="Image 5" descr="assets/sw_totvs.png">    </p:cNvPr>
          <p:cNvPicPr>
            <a:picLocks noChangeAspect="1"/>
          </p:cNvPicPr>
          <p:nvPr/>
        </p:nvPicPr>
        <p:blipFill>
          <a:blip r:embed="rId6"/>
          <a:srcRect l="0" r="0" t="0" b="0"/>
          <a:stretch/>
        </p:blipFill>
        <p:spPr>
          <a:xfrm>
            <a:off x="8275091" y="3017520"/>
            <a:ext cx="1188720" cy="365760"/>
          </a:xfrm>
          <a:prstGeom prst="rect">
            <a:avLst/>
          </a:prstGeom>
        </p:spPr>
      </p:pic>
      <p:sp>
        <p:nvSpPr>
          <p:cNvPr id="23" name="Shape 15"/>
          <p:cNvSpPr/>
          <p:nvPr/>
        </p:nvSpPr>
        <p:spPr>
          <a:xfrm>
            <a:off x="731520" y="3703320"/>
            <a:ext cx="5181448" cy="1600200"/>
          </a:xfrm>
          <a:prstGeom prst="roundRect">
            <a:avLst>
              <a:gd name="adj" fmla="val 5714"/>
            </a:avLst>
          </a:prstGeom>
          <a:solidFill>
            <a:srgbClr val="F4F6F8"/>
          </a:solidFill>
          <a:ln w="12700">
            <a:solidFill>
              <a:srgbClr val="E2E6EB"/>
            </a:solidFill>
            <a:prstDash val="solid"/>
          </a:ln>
        </p:spPr>
      </p:sp>
      <p:sp>
        <p:nvSpPr>
          <p:cNvPr id="24" name="Shape 16"/>
          <p:cNvSpPr/>
          <p:nvPr/>
        </p:nvSpPr>
        <p:spPr>
          <a:xfrm>
            <a:off x="950976" y="3886200"/>
            <a:ext cx="457200" cy="457200"/>
          </a:xfrm>
          <a:prstGeom prst="ellipse">
            <a:avLst/>
          </a:prstGeom>
          <a:solidFill>
            <a:srgbClr val="FFFFFF"/>
          </a:solidFill>
          <a:ln/>
        </p:spPr>
      </p:sp>
      <p:pic>
        <p:nvPicPr>
          <p:cNvPr id="25" name="Image 6" descr="assets/icons/tool_orange.png">    </p:cNvPr>
          <p:cNvPicPr>
            <a:picLocks noChangeAspect="1"/>
          </p:cNvPicPr>
          <p:nvPr/>
        </p:nvPicPr>
        <p:blipFill>
          <a:blip r:embed="rId7"/>
          <a:stretch>
            <a:fillRect/>
          </a:stretch>
        </p:blipFill>
        <p:spPr>
          <a:xfrm>
            <a:off x="1074420" y="4009644"/>
            <a:ext cx="210312" cy="210312"/>
          </a:xfrm>
          <a:prstGeom prst="rect">
            <a:avLst/>
          </a:prstGeom>
        </p:spPr>
      </p:pic>
      <p:sp>
        <p:nvSpPr>
          <p:cNvPr id="26" name="Text 17"/>
          <p:cNvSpPr/>
          <p:nvPr/>
        </p:nvSpPr>
        <p:spPr>
          <a:xfrm>
            <a:off x="1517904" y="3904488"/>
            <a:ext cx="4221328" cy="402336"/>
          </a:xfrm>
          <a:prstGeom prst="rect">
            <a:avLst/>
          </a:prstGeom>
          <a:noFill/>
          <a:ln/>
        </p:spPr>
        <p:txBody>
          <a:bodyPr wrap="square" lIns="0" tIns="0" rIns="0" bIns="0" rtlCol="0" anchor="ctr"/>
          <a:lstStyle/>
          <a:p>
            <a:pPr indent="0" marL="0">
              <a:lnSpc>
                <a:spcPct val="95000"/>
              </a:lnSpc>
              <a:buNone/>
            </a:pPr>
            <a:r>
              <a:rPr lang="en-US" sz="1100" dirty="0">
                <a:solidFill>
                  <a:srgbClr val="141A24"/>
                </a:solidFill>
                <a:latin typeface="Poppins SemiBold" pitchFamily="34" charset="0"/>
                <a:ea typeface="Poppins SemiBold" pitchFamily="34" charset="-122"/>
                <a:cs typeface="Poppins SemiBold" pitchFamily="34" charset="-120"/>
              </a:rPr>
              <a:t>Fleet &amp; Maintenance Management</a:t>
            </a:r>
            <a:endParaRPr lang="en-US" sz="1100" dirty="0"/>
          </a:p>
        </p:txBody>
      </p:sp>
      <p:sp>
        <p:nvSpPr>
          <p:cNvPr id="27" name="Text 18"/>
          <p:cNvSpPr/>
          <p:nvPr/>
        </p:nvSpPr>
        <p:spPr>
          <a:xfrm>
            <a:off x="950976" y="4398264"/>
            <a:ext cx="4742536" cy="457200"/>
          </a:xfrm>
          <a:prstGeom prst="rect">
            <a:avLst/>
          </a:prstGeom>
          <a:noFill/>
          <a:ln/>
        </p:spPr>
        <p:txBody>
          <a:bodyPr wrap="square" lIns="0" tIns="0" rIns="0" bIns="0" rtlCol="0" anchor="t"/>
          <a:lstStyle/>
          <a:p>
            <a:pPr indent="0" marL="0">
              <a:lnSpc>
                <a:spcPct val="100000"/>
              </a:lnSpc>
              <a:buNone/>
            </a:pPr>
            <a:r>
              <a:rPr lang="en-US" sz="800" dirty="0">
                <a:solidFill>
                  <a:srgbClr val="6C7683"/>
                </a:solidFill>
                <a:latin typeface="Poppins" pitchFamily="34" charset="0"/>
                <a:ea typeface="Poppins" pitchFamily="34" charset="-122"/>
                <a:cs typeface="Poppins" pitchFamily="34" charset="-120"/>
              </a:rPr>
              <a:t>Specialized systems manage maintenance workflows, parts and fleet operations</a:t>
            </a:r>
            <a:endParaRPr lang="en-US" sz="800" dirty="0"/>
          </a:p>
        </p:txBody>
      </p:sp>
      <p:pic>
        <p:nvPicPr>
          <p:cNvPr id="28" name="Image 7" descr="assets/sw_truckscontrol.png">    </p:cNvPr>
          <p:cNvPicPr>
            <a:picLocks noChangeAspect="1"/>
          </p:cNvPicPr>
          <p:nvPr/>
        </p:nvPicPr>
        <p:blipFill>
          <a:blip r:embed="rId8"/>
          <a:srcRect l="0" r="0" t="0" b="0"/>
          <a:stretch/>
        </p:blipFill>
        <p:spPr>
          <a:xfrm>
            <a:off x="950976" y="4846320"/>
            <a:ext cx="1062190" cy="365760"/>
          </a:xfrm>
          <a:prstGeom prst="rect">
            <a:avLst/>
          </a:prstGeom>
        </p:spPr>
      </p:pic>
      <p:pic>
        <p:nvPicPr>
          <p:cNvPr id="29" name="Image 8" descr="assets/sw_zion.png">    </p:cNvPr>
          <p:cNvPicPr>
            <a:picLocks noChangeAspect="1"/>
          </p:cNvPicPr>
          <p:nvPr/>
        </p:nvPicPr>
        <p:blipFill>
          <a:blip r:embed="rId9"/>
          <a:srcRect l="0" r="0" t="0" b="0"/>
          <a:stretch/>
        </p:blipFill>
        <p:spPr>
          <a:xfrm>
            <a:off x="2177758" y="4846320"/>
            <a:ext cx="1062190" cy="365760"/>
          </a:xfrm>
          <a:prstGeom prst="rect">
            <a:avLst/>
          </a:prstGeom>
        </p:spPr>
      </p:pic>
      <p:pic>
        <p:nvPicPr>
          <p:cNvPr id="30" name="Image 9" descr="assets/sw_opensystem.png">    </p:cNvPr>
          <p:cNvPicPr>
            <a:picLocks noChangeAspect="1"/>
          </p:cNvPicPr>
          <p:nvPr/>
        </p:nvPicPr>
        <p:blipFill>
          <a:blip r:embed="rId10"/>
          <a:srcRect l="0" r="0" t="0" b="0"/>
          <a:stretch/>
        </p:blipFill>
        <p:spPr>
          <a:xfrm>
            <a:off x="3404540" y="4846320"/>
            <a:ext cx="1062190" cy="365760"/>
          </a:xfrm>
          <a:prstGeom prst="rect">
            <a:avLst/>
          </a:prstGeom>
        </p:spPr>
      </p:pic>
      <p:pic>
        <p:nvPicPr>
          <p:cNvPr id="31" name="Image 10" descr="assets/sw_monaco.png">    </p:cNvPr>
          <p:cNvPicPr>
            <a:picLocks noChangeAspect="1"/>
          </p:cNvPicPr>
          <p:nvPr/>
        </p:nvPicPr>
        <p:blipFill>
          <a:blip r:embed="rId11"/>
          <a:srcRect l="0" r="0" t="0" b="0"/>
          <a:stretch/>
        </p:blipFill>
        <p:spPr>
          <a:xfrm>
            <a:off x="4631322" y="4846320"/>
            <a:ext cx="1062190" cy="365760"/>
          </a:xfrm>
          <a:prstGeom prst="rect">
            <a:avLst/>
          </a:prstGeom>
        </p:spPr>
      </p:pic>
      <p:sp>
        <p:nvSpPr>
          <p:cNvPr id="32" name="Shape 19"/>
          <p:cNvSpPr/>
          <p:nvPr/>
        </p:nvSpPr>
        <p:spPr>
          <a:xfrm>
            <a:off x="6278728" y="3703320"/>
            <a:ext cx="5181448" cy="1600200"/>
          </a:xfrm>
          <a:prstGeom prst="roundRect">
            <a:avLst>
              <a:gd name="adj" fmla="val 5714"/>
            </a:avLst>
          </a:prstGeom>
          <a:solidFill>
            <a:srgbClr val="F4F6F8"/>
          </a:solidFill>
          <a:ln w="12700">
            <a:solidFill>
              <a:srgbClr val="E2E6EB"/>
            </a:solidFill>
            <a:prstDash val="solid"/>
          </a:ln>
        </p:spPr>
      </p:sp>
      <p:sp>
        <p:nvSpPr>
          <p:cNvPr id="33" name="Shape 20"/>
          <p:cNvSpPr/>
          <p:nvPr/>
        </p:nvSpPr>
        <p:spPr>
          <a:xfrm>
            <a:off x="6498184" y="3886200"/>
            <a:ext cx="457200" cy="457200"/>
          </a:xfrm>
          <a:prstGeom prst="ellipse">
            <a:avLst/>
          </a:prstGeom>
          <a:solidFill>
            <a:srgbClr val="FFFFFF"/>
          </a:solidFill>
          <a:ln/>
        </p:spPr>
      </p:sp>
      <p:pic>
        <p:nvPicPr>
          <p:cNvPr id="34" name="Image 11" descr="assets/icons/shield_orange.png">    </p:cNvPr>
          <p:cNvPicPr>
            <a:picLocks noChangeAspect="1"/>
          </p:cNvPicPr>
          <p:nvPr/>
        </p:nvPicPr>
        <p:blipFill>
          <a:blip r:embed="rId12"/>
          <a:stretch>
            <a:fillRect/>
          </a:stretch>
        </p:blipFill>
        <p:spPr>
          <a:xfrm>
            <a:off x="6621628" y="4009644"/>
            <a:ext cx="210312" cy="210312"/>
          </a:xfrm>
          <a:prstGeom prst="rect">
            <a:avLst/>
          </a:prstGeom>
        </p:spPr>
      </p:pic>
      <p:sp>
        <p:nvSpPr>
          <p:cNvPr id="35" name="Text 21"/>
          <p:cNvSpPr/>
          <p:nvPr/>
        </p:nvSpPr>
        <p:spPr>
          <a:xfrm>
            <a:off x="7065112" y="3904488"/>
            <a:ext cx="4221328" cy="402336"/>
          </a:xfrm>
          <a:prstGeom prst="rect">
            <a:avLst/>
          </a:prstGeom>
          <a:noFill/>
          <a:ln/>
        </p:spPr>
        <p:txBody>
          <a:bodyPr wrap="square" lIns="0" tIns="0" rIns="0" bIns="0" rtlCol="0" anchor="ctr"/>
          <a:lstStyle/>
          <a:p>
            <a:pPr indent="0" marL="0">
              <a:lnSpc>
                <a:spcPct val="95000"/>
              </a:lnSpc>
              <a:buNone/>
            </a:pPr>
            <a:r>
              <a:rPr lang="en-US" sz="1100" dirty="0">
                <a:solidFill>
                  <a:srgbClr val="141A24"/>
                </a:solidFill>
                <a:latin typeface="Poppins SemiBold" pitchFamily="34" charset="0"/>
                <a:ea typeface="Poppins SemiBold" pitchFamily="34" charset="-122"/>
                <a:cs typeface="Poppins SemiBold" pitchFamily="34" charset="-120"/>
              </a:rPr>
              <a:t>Safety, PPE &amp; Inspection</a:t>
            </a:r>
            <a:endParaRPr lang="en-US" sz="1100" dirty="0"/>
          </a:p>
        </p:txBody>
      </p:sp>
      <p:sp>
        <p:nvSpPr>
          <p:cNvPr id="36" name="Text 22"/>
          <p:cNvSpPr/>
          <p:nvPr/>
        </p:nvSpPr>
        <p:spPr>
          <a:xfrm>
            <a:off x="6498184" y="4398264"/>
            <a:ext cx="4742536" cy="457200"/>
          </a:xfrm>
          <a:prstGeom prst="rect">
            <a:avLst/>
          </a:prstGeom>
          <a:noFill/>
          <a:ln/>
        </p:spPr>
        <p:txBody>
          <a:bodyPr wrap="square" lIns="0" tIns="0" rIns="0" bIns="0" rtlCol="0" anchor="t"/>
          <a:lstStyle/>
          <a:p>
            <a:pPr indent="0" marL="0">
              <a:lnSpc>
                <a:spcPct val="100000"/>
              </a:lnSpc>
              <a:buNone/>
            </a:pPr>
            <a:r>
              <a:rPr lang="en-US" sz="800" dirty="0">
                <a:solidFill>
                  <a:srgbClr val="6C7683"/>
                </a:solidFill>
                <a:latin typeface="Poppins" pitchFamily="34" charset="0"/>
                <a:ea typeface="Poppins" pitchFamily="34" charset="-122"/>
                <a:cs typeface="Poppins" pitchFamily="34" charset="-120"/>
              </a:rPr>
              <a:t>Digital checklists, PPE control and safety management reinforce operational discipline</a:t>
            </a:r>
            <a:endParaRPr lang="en-US" sz="800" dirty="0"/>
          </a:p>
        </p:txBody>
      </p:sp>
      <p:pic>
        <p:nvPicPr>
          <p:cNvPr id="37" name="Image 12" descr="assets/sw_sisma.png">    </p:cNvPr>
          <p:cNvPicPr>
            <a:picLocks noChangeAspect="1"/>
          </p:cNvPicPr>
          <p:nvPr/>
        </p:nvPicPr>
        <p:blipFill>
          <a:blip r:embed="rId13"/>
          <a:srcRect l="0" r="0" t="0" b="0"/>
          <a:stretch/>
        </p:blipFill>
        <p:spPr>
          <a:xfrm>
            <a:off x="6921779" y="4846320"/>
            <a:ext cx="1188720" cy="365760"/>
          </a:xfrm>
          <a:prstGeom prst="rect">
            <a:avLst/>
          </a:prstGeom>
        </p:spPr>
      </p:pic>
      <p:pic>
        <p:nvPicPr>
          <p:cNvPr id="38" name="Image 13" descr="assets/sw_onsafety.png">    </p:cNvPr>
          <p:cNvPicPr>
            <a:picLocks noChangeAspect="1"/>
          </p:cNvPicPr>
          <p:nvPr/>
        </p:nvPicPr>
        <p:blipFill>
          <a:blip r:embed="rId14"/>
          <a:srcRect l="0" r="0" t="0" b="0"/>
          <a:stretch/>
        </p:blipFill>
        <p:spPr>
          <a:xfrm>
            <a:off x="8275091" y="4846320"/>
            <a:ext cx="1188720" cy="365760"/>
          </a:xfrm>
          <a:prstGeom prst="rect">
            <a:avLst/>
          </a:prstGeom>
        </p:spPr>
      </p:pic>
      <p:pic>
        <p:nvPicPr>
          <p:cNvPr id="39" name="Image 14" descr="assets/sw_checklistfacil.png">    </p:cNvPr>
          <p:cNvPicPr>
            <a:picLocks noChangeAspect="1"/>
          </p:cNvPicPr>
          <p:nvPr/>
        </p:nvPicPr>
        <p:blipFill>
          <a:blip r:embed="rId15"/>
          <a:srcRect l="0" r="0" t="0" b="0"/>
          <a:stretch/>
        </p:blipFill>
        <p:spPr>
          <a:xfrm>
            <a:off x="9628403" y="4846320"/>
            <a:ext cx="1188720" cy="365760"/>
          </a:xfrm>
          <a:prstGeom prst="rect">
            <a:avLst/>
          </a:prstGeom>
        </p:spPr>
      </p:pic>
      <p:sp>
        <p:nvSpPr>
          <p:cNvPr id="40" name="Shape 23"/>
          <p:cNvSpPr/>
          <p:nvPr/>
        </p:nvSpPr>
        <p:spPr>
          <a:xfrm>
            <a:off x="0" y="6172200"/>
            <a:ext cx="12191695" cy="685800"/>
          </a:xfrm>
          <a:prstGeom prst="rect">
            <a:avLst/>
          </a:prstGeom>
          <a:solidFill>
            <a:srgbClr val="141A24"/>
          </a:solidFill>
          <a:ln/>
        </p:spPr>
      </p:sp>
      <p:sp>
        <p:nvSpPr>
          <p:cNvPr id="41" name="Shape 24"/>
          <p:cNvSpPr/>
          <p:nvPr/>
        </p:nvSpPr>
        <p:spPr>
          <a:xfrm>
            <a:off x="0" y="6172200"/>
            <a:ext cx="128016" cy="685800"/>
          </a:xfrm>
          <a:prstGeom prst="rect">
            <a:avLst/>
          </a:prstGeom>
          <a:solidFill>
            <a:srgbClr val="F35B1A"/>
          </a:solidFill>
          <a:ln/>
        </p:spPr>
      </p:sp>
      <p:sp>
        <p:nvSpPr>
          <p:cNvPr id="42" name="Text 25"/>
          <p:cNvSpPr/>
          <p:nvPr/>
        </p:nvSpPr>
        <p:spPr>
          <a:xfrm>
            <a:off x="1828800" y="6172200"/>
            <a:ext cx="8534095" cy="685800"/>
          </a:xfrm>
          <a:prstGeom prst="rect">
            <a:avLst/>
          </a:prstGeom>
          <a:noFill/>
          <a:ln/>
        </p:spPr>
        <p:txBody>
          <a:bodyPr wrap="square" lIns="0" tIns="0" rIns="0" bIns="0" rtlCol="0" anchor="ctr"/>
          <a:lstStyle/>
          <a:p>
            <a:pPr algn="ctr" indent="0" marL="0">
              <a:lnSpc>
                <a:spcPct val="100000"/>
              </a:lnSpc>
              <a:buNone/>
            </a:pPr>
            <a:r>
              <a:rPr lang="en-US" sz="1200" dirty="0">
                <a:solidFill>
                  <a:srgbClr val="E8ECF1"/>
                </a:solidFill>
                <a:latin typeface="Poppins SemiBold" pitchFamily="34" charset="0"/>
                <a:ea typeface="Poppins SemiBold" pitchFamily="34" charset="-122"/>
                <a:cs typeface="Poppins SemiBold" pitchFamily="34" charset="-120"/>
              </a:rPr>
              <a:t>Intensive </a:t>
            </a:r>
            <a:pPr algn="ctr" indent="0" marL="0">
              <a:lnSpc>
                <a:spcPct val="100000"/>
              </a:lnSpc>
              <a:buNone/>
            </a:pPr>
            <a:r>
              <a:rPr lang="en-US" sz="1200" dirty="0">
                <a:solidFill>
                  <a:srgbClr val="F35B1A"/>
                </a:solidFill>
                <a:latin typeface="Poppins SemiBold" pitchFamily="34" charset="0"/>
                <a:ea typeface="Poppins SemiBold" pitchFamily="34" charset="-122"/>
                <a:cs typeface="Poppins SemiBold" pitchFamily="34" charset="-120"/>
              </a:rPr>
              <a:t>monitoring and telemetry</a:t>
            </a:r>
            <a:pPr algn="ctr" indent="0" marL="0">
              <a:lnSpc>
                <a:spcPct val="100000"/>
              </a:lnSpc>
              <a:buNone/>
            </a:pPr>
            <a:r>
              <a:rPr lang="en-US" sz="1200" dirty="0">
                <a:solidFill>
                  <a:srgbClr val="E8ECF1"/>
                </a:solidFill>
                <a:latin typeface="Poppins SemiBold" pitchFamily="34" charset="0"/>
                <a:ea typeface="Poppins SemiBold" pitchFamily="34" charset="-122"/>
                <a:cs typeface="Poppins SemiBold" pitchFamily="34" charset="-120"/>
              </a:rPr>
              <a:t> ensure a high level of service across the network</a:t>
            </a:r>
            <a:endParaRPr lang="en-US" sz="1200" dirty="0"/>
          </a:p>
        </p:txBody>
      </p:sp>
      <p:pic>
        <p:nvPicPr>
          <p:cNvPr id="43" name="Image 15" descr="assets/igc_white.png">    </p:cNvPr>
          <p:cNvPicPr>
            <a:picLocks noChangeAspect="1"/>
          </p:cNvPicPr>
          <p:nvPr/>
        </p:nvPicPr>
        <p:blipFill>
          <a:blip r:embed="rId16"/>
          <a:stretch>
            <a:fillRect/>
          </a:stretch>
        </p:blipFill>
        <p:spPr>
          <a:xfrm>
            <a:off x="731520" y="6382512"/>
            <a:ext cx="292608" cy="252943"/>
          </a:xfrm>
          <a:prstGeom prst="rect">
            <a:avLst/>
          </a:prstGeom>
        </p:spPr>
      </p:pic>
      <p:sp>
        <p:nvSpPr>
          <p:cNvPr id="44" name="Text 26"/>
          <p:cNvSpPr/>
          <p:nvPr/>
        </p:nvSpPr>
        <p:spPr>
          <a:xfrm>
            <a:off x="1115568" y="6377940"/>
            <a:ext cx="2743200" cy="274320"/>
          </a:xfrm>
          <a:prstGeom prst="rect">
            <a:avLst/>
          </a:prstGeom>
          <a:noFill/>
          <a:ln/>
        </p:spPr>
        <p:txBody>
          <a:bodyPr wrap="square" lIns="0" tIns="0" rIns="0" bIns="0" rtlCol="0" anchor="ctr"/>
          <a:lstStyle/>
          <a:p>
            <a:pPr algn="l" indent="0" marL="0">
              <a:buNone/>
            </a:pPr>
            <a:r>
              <a:rPr lang="en-US" sz="900" dirty="0">
                <a:solidFill>
                  <a:srgbClr val="FFFFFF"/>
                </a:solidFill>
                <a:latin typeface="Poppins Medium" pitchFamily="34" charset="0"/>
                <a:ea typeface="Poppins Medium" pitchFamily="34" charset="-122"/>
                <a:cs typeface="Poppins Medium" pitchFamily="34" charset="-120"/>
              </a:rPr>
              <a:t>11</a:t>
            </a:r>
            <a:pPr algn="l" indent="0" marL="0">
              <a:buNone/>
            </a:pPr>
            <a:r>
              <a:rPr lang="en-US" sz="900" dirty="0">
                <a:solidFill>
                  <a:srgbClr val="8B95A5"/>
                </a:solidFill>
                <a:latin typeface="Poppins" pitchFamily="34" charset="0"/>
                <a:ea typeface="Poppins" pitchFamily="34" charset="-122"/>
                <a:cs typeface="Poppins" pitchFamily="34" charset="-120"/>
              </a:rPr>
              <a:t>    Confidential</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assets/mobi_logo_navy.png">    </p:cNvPr>
          <p:cNvPicPr>
            <a:picLocks noChangeAspect="1"/>
          </p:cNvPicPr>
          <p:nvPr/>
        </p:nvPicPr>
        <p:blipFill>
          <a:blip r:embed="rId1"/>
          <a:stretch>
            <a:fillRect/>
          </a:stretch>
        </p:blipFill>
        <p:spPr>
          <a:xfrm>
            <a:off x="10545775" y="329184"/>
            <a:ext cx="914400" cy="292894"/>
          </a:xfrm>
          <a:prstGeom prst="rect">
            <a:avLst/>
          </a:prstGeom>
        </p:spPr>
      </p:pic>
      <p:sp>
        <p:nvSpPr>
          <p:cNvPr id="3" name="Shape 0"/>
          <p:cNvSpPr/>
          <p:nvPr/>
        </p:nvSpPr>
        <p:spPr>
          <a:xfrm>
            <a:off x="731520" y="329184"/>
            <a:ext cx="1549908" cy="329184"/>
          </a:xfrm>
          <a:prstGeom prst="roundRect">
            <a:avLst>
              <a:gd name="adj" fmla="val 25000"/>
            </a:avLst>
          </a:prstGeom>
          <a:solidFill>
            <a:srgbClr val="FDE9DE"/>
          </a:solidFill>
          <a:ln/>
        </p:spPr>
      </p:sp>
      <p:sp>
        <p:nvSpPr>
          <p:cNvPr id="4" name="Text 1"/>
          <p:cNvSpPr/>
          <p:nvPr/>
        </p:nvSpPr>
        <p:spPr>
          <a:xfrm>
            <a:off x="731520" y="329184"/>
            <a:ext cx="1549908" cy="329184"/>
          </a:xfrm>
          <a:prstGeom prst="rect">
            <a:avLst/>
          </a:prstGeom>
          <a:noFill/>
          <a:ln/>
        </p:spPr>
        <p:txBody>
          <a:bodyPr wrap="square" lIns="0" tIns="0" rIns="0" bIns="0" rtlCol="0" anchor="ctr"/>
          <a:lstStyle/>
          <a:p>
            <a:pPr algn="ctr" indent="0" marL="0">
              <a:buNone/>
            </a:pPr>
            <a:r>
              <a:rPr lang="en-US" sz="900" dirty="0">
                <a:solidFill>
                  <a:srgbClr val="C6470F"/>
                </a:solidFill>
                <a:latin typeface="Poppins Medium" pitchFamily="34" charset="0"/>
                <a:ea typeface="Poppins Medium" pitchFamily="34" charset="-122"/>
                <a:cs typeface="Poppins Medium" pitchFamily="34" charset="-120"/>
              </a:rPr>
              <a:t>Investment Thesis</a:t>
            </a:r>
            <a:endParaRPr lang="en-US" sz="900" dirty="0"/>
          </a:p>
        </p:txBody>
      </p:sp>
      <p:sp>
        <p:nvSpPr>
          <p:cNvPr id="5" name="Shape 2"/>
          <p:cNvSpPr/>
          <p:nvPr/>
        </p:nvSpPr>
        <p:spPr>
          <a:xfrm>
            <a:off x="731520" y="786384"/>
            <a:ext cx="457200" cy="457200"/>
          </a:xfrm>
          <a:prstGeom prst="ellipse">
            <a:avLst/>
          </a:prstGeom>
          <a:solidFill>
            <a:srgbClr val="F35B1A"/>
          </a:solidFill>
          <a:ln/>
        </p:spPr>
      </p:sp>
      <p:sp>
        <p:nvSpPr>
          <p:cNvPr id="6" name="Text 3"/>
          <p:cNvSpPr/>
          <p:nvPr/>
        </p:nvSpPr>
        <p:spPr>
          <a:xfrm>
            <a:off x="731520" y="786384"/>
            <a:ext cx="457200" cy="457200"/>
          </a:xfrm>
          <a:prstGeom prst="rect">
            <a:avLst/>
          </a:prstGeom>
          <a:noFill/>
          <a:ln/>
        </p:spPr>
        <p:txBody>
          <a:bodyPr wrap="square" lIns="0" tIns="0" rIns="0" bIns="0" rtlCol="0" anchor="ctr"/>
          <a:lstStyle/>
          <a:p>
            <a:pPr algn="ctr" indent="0" marL="0">
              <a:buNone/>
            </a:pPr>
            <a:r>
              <a:rPr lang="en-US" sz="1600" dirty="0">
                <a:solidFill>
                  <a:srgbClr val="FFFFFF"/>
                </a:solidFill>
                <a:latin typeface="Poppins SemiBold" pitchFamily="34" charset="0"/>
                <a:ea typeface="Poppins SemiBold" pitchFamily="34" charset="-122"/>
                <a:cs typeface="Poppins SemiBold" pitchFamily="34" charset="-120"/>
              </a:rPr>
              <a:t>4</a:t>
            </a:r>
            <a:endParaRPr lang="en-US" sz="1600" dirty="0"/>
          </a:p>
        </p:txBody>
      </p:sp>
      <p:sp>
        <p:nvSpPr>
          <p:cNvPr id="7" name="Text 4"/>
          <p:cNvSpPr/>
          <p:nvPr/>
        </p:nvSpPr>
        <p:spPr>
          <a:xfrm>
            <a:off x="1371600" y="731520"/>
            <a:ext cx="9448495" cy="548640"/>
          </a:xfrm>
          <a:prstGeom prst="rect">
            <a:avLst/>
          </a:prstGeom>
          <a:noFill/>
          <a:ln/>
        </p:spPr>
        <p:txBody>
          <a:bodyPr wrap="square" lIns="0" tIns="0" rIns="0" bIns="0" rtlCol="0" anchor="ctr"/>
          <a:lstStyle/>
          <a:p>
            <a:pPr algn="l" indent="0" marL="0">
              <a:buNone/>
            </a:pPr>
            <a:r>
              <a:rPr lang="en-US" sz="1800" dirty="0">
                <a:solidFill>
                  <a:srgbClr val="141A24"/>
                </a:solidFill>
                <a:latin typeface="Poppins SemiBold" pitchFamily="34" charset="0"/>
                <a:ea typeface="Poppins SemiBold" pitchFamily="34" charset="-122"/>
                <a:cs typeface="Poppins SemiBold" pitchFamily="34" charset="-120"/>
              </a:rPr>
              <a:t>Multiple avenues for continued value creation</a:t>
            </a:r>
            <a:endParaRPr lang="en-US" sz="1800" dirty="0"/>
          </a:p>
        </p:txBody>
      </p:sp>
      <p:sp>
        <p:nvSpPr>
          <p:cNvPr id="8" name="Text 5"/>
          <p:cNvSpPr/>
          <p:nvPr/>
        </p:nvSpPr>
        <p:spPr>
          <a:xfrm>
            <a:off x="731520" y="1298448"/>
            <a:ext cx="10088575" cy="438912"/>
          </a:xfrm>
          <a:prstGeom prst="rect">
            <a:avLst/>
          </a:prstGeom>
          <a:noFill/>
          <a:ln/>
        </p:spPr>
        <p:txBody>
          <a:bodyPr wrap="square" lIns="0" tIns="0" rIns="0" bIns="0" rtlCol="0" anchor="t"/>
          <a:lstStyle/>
          <a:p>
            <a:pPr algn="l" indent="0" marL="0">
              <a:lnSpc>
                <a:spcPct val="102000"/>
              </a:lnSpc>
              <a:buNone/>
            </a:pPr>
            <a:r>
              <a:rPr lang="en-US" sz="1050" dirty="0">
                <a:solidFill>
                  <a:srgbClr val="6C7683"/>
                </a:solidFill>
                <a:latin typeface="Poppins" pitchFamily="34" charset="0"/>
                <a:ea typeface="Poppins" pitchFamily="34" charset="-122"/>
                <a:cs typeface="Poppins" pitchFamily="34" charset="-120"/>
              </a:rPr>
              <a:t>Geographic expansion, consolidation and fleet electrification position Mobi for a sustained growth trajectory</a:t>
            </a:r>
            <a:endParaRPr lang="en-US" sz="1050" dirty="0"/>
          </a:p>
        </p:txBody>
      </p:sp>
      <p:sp>
        <p:nvSpPr>
          <p:cNvPr id="9" name="Text 6"/>
          <p:cNvSpPr/>
          <p:nvPr/>
        </p:nvSpPr>
        <p:spPr>
          <a:xfrm>
            <a:off x="731520" y="5888736"/>
            <a:ext cx="10362895" cy="219456"/>
          </a:xfrm>
          <a:prstGeom prst="rect">
            <a:avLst/>
          </a:prstGeom>
          <a:noFill/>
          <a:ln/>
        </p:spPr>
        <p:txBody>
          <a:bodyPr wrap="square" lIns="0" tIns="0" rIns="0" bIns="0" rtlCol="0" anchor="ctr"/>
          <a:lstStyle/>
          <a:p>
            <a:pPr algn="l" indent="0" marL="0">
              <a:buNone/>
            </a:pPr>
            <a:r>
              <a:rPr lang="en-US" sz="700" dirty="0">
                <a:solidFill>
                  <a:srgbClr val="9AA3AD"/>
                </a:solidFill>
                <a:latin typeface="Poppins" pitchFamily="34" charset="0"/>
                <a:ea typeface="Poppins" pitchFamily="34" charset="-122"/>
                <a:cs typeface="Poppins" pitchFamily="34" charset="-120"/>
              </a:rPr>
              <a:t>Source: Company; press research. Growth avenues to be validated with management.</a:t>
            </a:r>
            <a:endParaRPr lang="en-US" sz="700" dirty="0"/>
          </a:p>
        </p:txBody>
      </p:sp>
      <p:sp>
        <p:nvSpPr>
          <p:cNvPr id="10" name="Shape 7"/>
          <p:cNvSpPr/>
          <p:nvPr/>
        </p:nvSpPr>
        <p:spPr>
          <a:xfrm>
            <a:off x="731520" y="2103120"/>
            <a:ext cx="3332378" cy="3246120"/>
          </a:xfrm>
          <a:prstGeom prst="roundRect">
            <a:avLst>
              <a:gd name="adj" fmla="val 3380"/>
            </a:avLst>
          </a:prstGeom>
          <a:solidFill>
            <a:srgbClr val="F4F6F8"/>
          </a:solidFill>
          <a:ln w="12700">
            <a:solidFill>
              <a:srgbClr val="E2E6EB"/>
            </a:solidFill>
            <a:prstDash val="solid"/>
          </a:ln>
          <a:effectLst>
            <a:outerShdw sx="100000" sy="100000" kx="0" ky="0" algn="bl" rotWithShape="0" blurRad="101600" dist="25400" dir="5400000">
              <a:srgbClr val="9AA3AD">
                <a:alpha val="30000"/>
              </a:srgbClr>
            </a:outerShdw>
          </a:effectLst>
        </p:spPr>
      </p:sp>
      <p:sp>
        <p:nvSpPr>
          <p:cNvPr id="11" name="Shape 8"/>
          <p:cNvSpPr/>
          <p:nvPr/>
        </p:nvSpPr>
        <p:spPr>
          <a:xfrm>
            <a:off x="2013661" y="2468880"/>
            <a:ext cx="768096" cy="768096"/>
          </a:xfrm>
          <a:prstGeom prst="ellipse">
            <a:avLst/>
          </a:prstGeom>
          <a:solidFill>
            <a:srgbClr val="FFFFFF"/>
          </a:solidFill>
          <a:ln/>
        </p:spPr>
      </p:sp>
      <p:pic>
        <p:nvPicPr>
          <p:cNvPr id="12" name="Image 1" descr="assets/icons/mappin_orange.png">    </p:cNvPr>
          <p:cNvPicPr>
            <a:picLocks noChangeAspect="1"/>
          </p:cNvPicPr>
          <p:nvPr/>
        </p:nvPicPr>
        <p:blipFill>
          <a:blip r:embed="rId2"/>
          <a:stretch>
            <a:fillRect/>
          </a:stretch>
        </p:blipFill>
        <p:spPr>
          <a:xfrm>
            <a:off x="2221047" y="2676266"/>
            <a:ext cx="353324" cy="353324"/>
          </a:xfrm>
          <a:prstGeom prst="rect">
            <a:avLst/>
          </a:prstGeom>
        </p:spPr>
      </p:pic>
      <p:sp>
        <p:nvSpPr>
          <p:cNvPr id="13" name="Text 9"/>
          <p:cNvSpPr/>
          <p:nvPr/>
        </p:nvSpPr>
        <p:spPr>
          <a:xfrm>
            <a:off x="3423818" y="2331720"/>
            <a:ext cx="457200" cy="457200"/>
          </a:xfrm>
          <a:prstGeom prst="rect">
            <a:avLst/>
          </a:prstGeom>
          <a:noFill/>
          <a:ln/>
        </p:spPr>
        <p:txBody>
          <a:bodyPr wrap="square" lIns="0" tIns="0" rIns="0" bIns="0" rtlCol="0" anchor="ctr"/>
          <a:lstStyle/>
          <a:p>
            <a:pPr algn="ctr" indent="0" marL="0">
              <a:buNone/>
            </a:pPr>
            <a:r>
              <a:rPr lang="en-US" sz="2000" dirty="0">
                <a:solidFill>
                  <a:srgbClr val="FBD9C6"/>
                </a:solidFill>
                <a:latin typeface="Poppins SemiBold" pitchFamily="34" charset="0"/>
                <a:ea typeface="Poppins SemiBold" pitchFamily="34" charset="-122"/>
                <a:cs typeface="Poppins SemiBold" pitchFamily="34" charset="-120"/>
              </a:rPr>
              <a:t>A</a:t>
            </a:r>
            <a:endParaRPr lang="en-US" sz="2000" dirty="0"/>
          </a:p>
        </p:txBody>
      </p:sp>
      <p:sp>
        <p:nvSpPr>
          <p:cNvPr id="14" name="Text 10"/>
          <p:cNvSpPr/>
          <p:nvPr/>
        </p:nvSpPr>
        <p:spPr>
          <a:xfrm>
            <a:off x="1005840" y="3383280"/>
            <a:ext cx="2783738" cy="685800"/>
          </a:xfrm>
          <a:prstGeom prst="rect">
            <a:avLst/>
          </a:prstGeom>
          <a:noFill/>
          <a:ln/>
        </p:spPr>
        <p:txBody>
          <a:bodyPr wrap="square" lIns="0" tIns="0" rIns="0" bIns="0" rtlCol="0" anchor="t"/>
          <a:lstStyle/>
          <a:p>
            <a:pPr algn="ctr" indent="0" marL="0">
              <a:lnSpc>
                <a:spcPct val="100000"/>
              </a:lnSpc>
              <a:buNone/>
            </a:pPr>
            <a:r>
              <a:rPr lang="en-US" sz="1400" dirty="0">
                <a:solidFill>
                  <a:srgbClr val="141A24"/>
                </a:solidFill>
                <a:latin typeface="Poppins SemiBold" pitchFamily="34" charset="0"/>
                <a:ea typeface="Poppins SemiBold" pitchFamily="34" charset="-122"/>
                <a:cs typeface="Poppins SemiBold" pitchFamily="34" charset="-120"/>
              </a:rPr>
              <a:t>Deepen share &amp; expand geographically</a:t>
            </a:r>
            <a:endParaRPr lang="en-US" sz="1400" dirty="0"/>
          </a:p>
        </p:txBody>
      </p:sp>
      <p:sp>
        <p:nvSpPr>
          <p:cNvPr id="15" name="Text 11"/>
          <p:cNvSpPr/>
          <p:nvPr/>
        </p:nvSpPr>
        <p:spPr>
          <a:xfrm>
            <a:off x="1024128" y="4114800"/>
            <a:ext cx="2747162" cy="1097280"/>
          </a:xfrm>
          <a:prstGeom prst="rect">
            <a:avLst/>
          </a:prstGeom>
          <a:noFill/>
          <a:ln/>
        </p:spPr>
        <p:txBody>
          <a:bodyPr wrap="square" lIns="0" tIns="0" rIns="0" bIns="0" rtlCol="0" anchor="t"/>
          <a:lstStyle/>
          <a:p>
            <a:pPr algn="ctr" indent="0" marL="0">
              <a:lnSpc>
                <a:spcPct val="105000"/>
              </a:lnSpc>
              <a:buNone/>
            </a:pPr>
            <a:r>
              <a:rPr lang="en-US" sz="900" dirty="0">
                <a:solidFill>
                  <a:srgbClr val="6C7683"/>
                </a:solidFill>
                <a:latin typeface="Poppins" pitchFamily="34" charset="0"/>
                <a:ea typeface="Poppins" pitchFamily="34" charset="-122"/>
                <a:cs typeface="Poppins" pitchFamily="34" charset="-120"/>
              </a:rPr>
              <a:t>Grow wallet share with existing clients and win new logos; expand within the GO–DF–MG corridor and selectively into adjacent regions, leveraging existing bases</a:t>
            </a:r>
            <a:endParaRPr lang="en-US" sz="900" dirty="0"/>
          </a:p>
        </p:txBody>
      </p:sp>
      <p:sp>
        <p:nvSpPr>
          <p:cNvPr id="16" name="Shape 12"/>
          <p:cNvSpPr/>
          <p:nvPr/>
        </p:nvSpPr>
        <p:spPr>
          <a:xfrm>
            <a:off x="4429658" y="2103120"/>
            <a:ext cx="3332378" cy="3246120"/>
          </a:xfrm>
          <a:prstGeom prst="roundRect">
            <a:avLst>
              <a:gd name="adj" fmla="val 3380"/>
            </a:avLst>
          </a:prstGeom>
          <a:solidFill>
            <a:srgbClr val="F4F6F8"/>
          </a:solidFill>
          <a:ln w="12700">
            <a:solidFill>
              <a:srgbClr val="E2E6EB"/>
            </a:solidFill>
            <a:prstDash val="solid"/>
          </a:ln>
          <a:effectLst>
            <a:outerShdw sx="100000" sy="100000" kx="0" ky="0" algn="bl" rotWithShape="0" blurRad="101600" dist="25400" dir="5400000">
              <a:srgbClr val="9AA3AD">
                <a:alpha val="30000"/>
              </a:srgbClr>
            </a:outerShdw>
          </a:effectLst>
        </p:spPr>
      </p:sp>
      <p:sp>
        <p:nvSpPr>
          <p:cNvPr id="17" name="Shape 13"/>
          <p:cNvSpPr/>
          <p:nvPr/>
        </p:nvSpPr>
        <p:spPr>
          <a:xfrm>
            <a:off x="5711800" y="2468880"/>
            <a:ext cx="768096" cy="768096"/>
          </a:xfrm>
          <a:prstGeom prst="ellipse">
            <a:avLst/>
          </a:prstGeom>
          <a:solidFill>
            <a:srgbClr val="FFFFFF"/>
          </a:solidFill>
          <a:ln/>
        </p:spPr>
      </p:sp>
      <p:pic>
        <p:nvPicPr>
          <p:cNvPr id="18" name="Image 2" descr="assets/icons/zap_orange.png">    </p:cNvPr>
          <p:cNvPicPr>
            <a:picLocks noChangeAspect="1"/>
          </p:cNvPicPr>
          <p:nvPr/>
        </p:nvPicPr>
        <p:blipFill>
          <a:blip r:embed="rId3"/>
          <a:stretch>
            <a:fillRect/>
          </a:stretch>
        </p:blipFill>
        <p:spPr>
          <a:xfrm>
            <a:off x="5919186" y="2676266"/>
            <a:ext cx="353324" cy="353324"/>
          </a:xfrm>
          <a:prstGeom prst="rect">
            <a:avLst/>
          </a:prstGeom>
        </p:spPr>
      </p:pic>
      <p:sp>
        <p:nvSpPr>
          <p:cNvPr id="19" name="Text 14"/>
          <p:cNvSpPr/>
          <p:nvPr/>
        </p:nvSpPr>
        <p:spPr>
          <a:xfrm>
            <a:off x="7121957" y="2331720"/>
            <a:ext cx="457200" cy="457200"/>
          </a:xfrm>
          <a:prstGeom prst="rect">
            <a:avLst/>
          </a:prstGeom>
          <a:noFill/>
          <a:ln/>
        </p:spPr>
        <p:txBody>
          <a:bodyPr wrap="square" lIns="0" tIns="0" rIns="0" bIns="0" rtlCol="0" anchor="ctr"/>
          <a:lstStyle/>
          <a:p>
            <a:pPr algn="ctr" indent="0" marL="0">
              <a:buNone/>
            </a:pPr>
            <a:r>
              <a:rPr lang="en-US" sz="2000" dirty="0">
                <a:solidFill>
                  <a:srgbClr val="FBD9C6"/>
                </a:solidFill>
                <a:latin typeface="Poppins SemiBold" pitchFamily="34" charset="0"/>
                <a:ea typeface="Poppins SemiBold" pitchFamily="34" charset="-122"/>
                <a:cs typeface="Poppins SemiBold" pitchFamily="34" charset="-120"/>
              </a:rPr>
              <a:t>B</a:t>
            </a:r>
            <a:endParaRPr lang="en-US" sz="2000" dirty="0"/>
          </a:p>
        </p:txBody>
      </p:sp>
      <p:sp>
        <p:nvSpPr>
          <p:cNvPr id="20" name="Text 15"/>
          <p:cNvSpPr/>
          <p:nvPr/>
        </p:nvSpPr>
        <p:spPr>
          <a:xfrm>
            <a:off x="4703978" y="3383280"/>
            <a:ext cx="2783738" cy="685800"/>
          </a:xfrm>
          <a:prstGeom prst="rect">
            <a:avLst/>
          </a:prstGeom>
          <a:noFill/>
          <a:ln/>
        </p:spPr>
        <p:txBody>
          <a:bodyPr wrap="square" lIns="0" tIns="0" rIns="0" bIns="0" rtlCol="0" anchor="t"/>
          <a:lstStyle/>
          <a:p>
            <a:pPr algn="ctr" indent="0" marL="0">
              <a:lnSpc>
                <a:spcPct val="100000"/>
              </a:lnSpc>
              <a:buNone/>
            </a:pPr>
            <a:r>
              <a:rPr lang="en-US" sz="1400" dirty="0">
                <a:solidFill>
                  <a:srgbClr val="141A24"/>
                </a:solidFill>
                <a:latin typeface="Poppins SemiBold" pitchFamily="34" charset="0"/>
                <a:ea typeface="Poppins SemiBold" pitchFamily="34" charset="-122"/>
                <a:cs typeface="Poppins SemiBold" pitchFamily="34" charset="-120"/>
              </a:rPr>
              <a:t>Electrification &amp; tech-enabled services</a:t>
            </a:r>
            <a:endParaRPr lang="en-US" sz="1400" dirty="0"/>
          </a:p>
        </p:txBody>
      </p:sp>
      <p:sp>
        <p:nvSpPr>
          <p:cNvPr id="21" name="Text 16"/>
          <p:cNvSpPr/>
          <p:nvPr/>
        </p:nvSpPr>
        <p:spPr>
          <a:xfrm>
            <a:off x="4722266" y="4114800"/>
            <a:ext cx="2747162" cy="1097280"/>
          </a:xfrm>
          <a:prstGeom prst="rect">
            <a:avLst/>
          </a:prstGeom>
          <a:noFill/>
          <a:ln/>
        </p:spPr>
        <p:txBody>
          <a:bodyPr wrap="square" lIns="0" tIns="0" rIns="0" bIns="0" rtlCol="0" anchor="t"/>
          <a:lstStyle/>
          <a:p>
            <a:pPr algn="ctr" indent="0" marL="0">
              <a:lnSpc>
                <a:spcPct val="105000"/>
              </a:lnSpc>
              <a:buNone/>
            </a:pPr>
            <a:r>
              <a:rPr lang="en-US" sz="900" dirty="0">
                <a:solidFill>
                  <a:srgbClr val="6C7683"/>
                </a:solidFill>
                <a:latin typeface="Poppins" pitchFamily="34" charset="0"/>
                <a:ea typeface="Poppins" pitchFamily="34" charset="-122"/>
                <a:cs typeface="Poppins" pitchFamily="34" charset="-120"/>
              </a:rPr>
              <a:t>Gradual fleet electrification aligned to clients’ ESG and Scope-3 goals; a technology layer (route optimization, apps, carbon dashboards) deepens stickiness</a:t>
            </a:r>
            <a:endParaRPr lang="en-US" sz="900" dirty="0"/>
          </a:p>
        </p:txBody>
      </p:sp>
      <p:sp>
        <p:nvSpPr>
          <p:cNvPr id="22" name="Shape 17"/>
          <p:cNvSpPr/>
          <p:nvPr/>
        </p:nvSpPr>
        <p:spPr>
          <a:xfrm>
            <a:off x="8127797" y="2103120"/>
            <a:ext cx="3332378" cy="3246120"/>
          </a:xfrm>
          <a:prstGeom prst="roundRect">
            <a:avLst>
              <a:gd name="adj" fmla="val 3380"/>
            </a:avLst>
          </a:prstGeom>
          <a:solidFill>
            <a:srgbClr val="F4F6F8"/>
          </a:solidFill>
          <a:ln w="12700">
            <a:solidFill>
              <a:srgbClr val="E2E6EB"/>
            </a:solidFill>
            <a:prstDash val="solid"/>
          </a:ln>
          <a:effectLst>
            <a:outerShdw sx="100000" sy="100000" kx="0" ky="0" algn="bl" rotWithShape="0" blurRad="101600" dist="25400" dir="5400000">
              <a:srgbClr val="9AA3AD">
                <a:alpha val="30000"/>
              </a:srgbClr>
            </a:outerShdw>
          </a:effectLst>
        </p:spPr>
      </p:sp>
      <p:sp>
        <p:nvSpPr>
          <p:cNvPr id="23" name="Shape 18"/>
          <p:cNvSpPr/>
          <p:nvPr/>
        </p:nvSpPr>
        <p:spPr>
          <a:xfrm>
            <a:off x="9409938" y="2468880"/>
            <a:ext cx="768096" cy="768096"/>
          </a:xfrm>
          <a:prstGeom prst="ellipse">
            <a:avLst/>
          </a:prstGeom>
          <a:solidFill>
            <a:srgbClr val="FFFFFF"/>
          </a:solidFill>
          <a:ln/>
        </p:spPr>
      </p:sp>
      <p:pic>
        <p:nvPicPr>
          <p:cNvPr id="24" name="Image 3" descr="assets/icons/layers_orange.png">    </p:cNvPr>
          <p:cNvPicPr>
            <a:picLocks noChangeAspect="1"/>
          </p:cNvPicPr>
          <p:nvPr/>
        </p:nvPicPr>
        <p:blipFill>
          <a:blip r:embed="rId4"/>
          <a:stretch>
            <a:fillRect/>
          </a:stretch>
        </p:blipFill>
        <p:spPr>
          <a:xfrm>
            <a:off x="9617324" y="2676266"/>
            <a:ext cx="353324" cy="353324"/>
          </a:xfrm>
          <a:prstGeom prst="rect">
            <a:avLst/>
          </a:prstGeom>
        </p:spPr>
      </p:pic>
      <p:sp>
        <p:nvSpPr>
          <p:cNvPr id="25" name="Text 19"/>
          <p:cNvSpPr/>
          <p:nvPr/>
        </p:nvSpPr>
        <p:spPr>
          <a:xfrm>
            <a:off x="10820095" y="2331720"/>
            <a:ext cx="457200" cy="457200"/>
          </a:xfrm>
          <a:prstGeom prst="rect">
            <a:avLst/>
          </a:prstGeom>
          <a:noFill/>
          <a:ln/>
        </p:spPr>
        <p:txBody>
          <a:bodyPr wrap="square" lIns="0" tIns="0" rIns="0" bIns="0" rtlCol="0" anchor="ctr"/>
          <a:lstStyle/>
          <a:p>
            <a:pPr algn="ctr" indent="0" marL="0">
              <a:buNone/>
            </a:pPr>
            <a:r>
              <a:rPr lang="en-US" sz="2000" dirty="0">
                <a:solidFill>
                  <a:srgbClr val="FBD9C6"/>
                </a:solidFill>
                <a:latin typeface="Poppins SemiBold" pitchFamily="34" charset="0"/>
                <a:ea typeface="Poppins SemiBold" pitchFamily="34" charset="-122"/>
                <a:cs typeface="Poppins SemiBold" pitchFamily="34" charset="-120"/>
              </a:rPr>
              <a:t>C</a:t>
            </a:r>
            <a:endParaRPr lang="en-US" sz="2000" dirty="0"/>
          </a:p>
        </p:txBody>
      </p:sp>
      <p:sp>
        <p:nvSpPr>
          <p:cNvPr id="26" name="Text 20"/>
          <p:cNvSpPr/>
          <p:nvPr/>
        </p:nvSpPr>
        <p:spPr>
          <a:xfrm>
            <a:off x="8402117" y="3383280"/>
            <a:ext cx="2783738" cy="685800"/>
          </a:xfrm>
          <a:prstGeom prst="rect">
            <a:avLst/>
          </a:prstGeom>
          <a:noFill/>
          <a:ln/>
        </p:spPr>
        <p:txBody>
          <a:bodyPr wrap="square" lIns="0" tIns="0" rIns="0" bIns="0" rtlCol="0" anchor="t"/>
          <a:lstStyle/>
          <a:p>
            <a:pPr algn="ctr" indent="0" marL="0">
              <a:lnSpc>
                <a:spcPct val="100000"/>
              </a:lnSpc>
              <a:buNone/>
            </a:pPr>
            <a:r>
              <a:rPr lang="en-US" sz="1400" dirty="0">
                <a:solidFill>
                  <a:srgbClr val="141A24"/>
                </a:solidFill>
                <a:latin typeface="Poppins SemiBold" pitchFamily="34" charset="0"/>
                <a:ea typeface="Poppins SemiBold" pitchFamily="34" charset="-122"/>
                <a:cs typeface="Poppins SemiBold" pitchFamily="34" charset="-120"/>
              </a:rPr>
              <a:t>Consolidate a fragmented market</a:t>
            </a:r>
            <a:endParaRPr lang="en-US" sz="1400" dirty="0"/>
          </a:p>
        </p:txBody>
      </p:sp>
      <p:sp>
        <p:nvSpPr>
          <p:cNvPr id="27" name="Text 21"/>
          <p:cNvSpPr/>
          <p:nvPr/>
        </p:nvSpPr>
        <p:spPr>
          <a:xfrm>
            <a:off x="8420405" y="4114800"/>
            <a:ext cx="2747162" cy="1097280"/>
          </a:xfrm>
          <a:prstGeom prst="rect">
            <a:avLst/>
          </a:prstGeom>
          <a:noFill/>
          <a:ln/>
        </p:spPr>
        <p:txBody>
          <a:bodyPr wrap="square" lIns="0" tIns="0" rIns="0" bIns="0" rtlCol="0" anchor="t"/>
          <a:lstStyle/>
          <a:p>
            <a:pPr algn="ctr" indent="0" marL="0">
              <a:lnSpc>
                <a:spcPct val="105000"/>
              </a:lnSpc>
              <a:buNone/>
            </a:pPr>
            <a:r>
              <a:rPr lang="en-US" sz="900" dirty="0">
                <a:solidFill>
                  <a:srgbClr val="6C7683"/>
                </a:solidFill>
                <a:latin typeface="Poppins" pitchFamily="34" charset="0"/>
                <a:ea typeface="Poppins" pitchFamily="34" charset="-122"/>
                <a:cs typeface="Poppins" pitchFamily="34" charset="-120"/>
              </a:rPr>
              <a:t>A highly fragmented Brazilian market with consolidation underway; Mobi’s scale and track record position it as a natural platform for smaller regional operators</a:t>
            </a:r>
            <a:endParaRPr lang="en-US" sz="900" dirty="0"/>
          </a:p>
        </p:txBody>
      </p:sp>
      <p:sp>
        <p:nvSpPr>
          <p:cNvPr id="28" name="Shape 22"/>
          <p:cNvSpPr/>
          <p:nvPr/>
        </p:nvSpPr>
        <p:spPr>
          <a:xfrm>
            <a:off x="0" y="6172200"/>
            <a:ext cx="12191695" cy="685800"/>
          </a:xfrm>
          <a:prstGeom prst="rect">
            <a:avLst/>
          </a:prstGeom>
          <a:solidFill>
            <a:srgbClr val="141A24"/>
          </a:solidFill>
          <a:ln/>
        </p:spPr>
      </p:sp>
      <p:sp>
        <p:nvSpPr>
          <p:cNvPr id="29" name="Shape 23"/>
          <p:cNvSpPr/>
          <p:nvPr/>
        </p:nvSpPr>
        <p:spPr>
          <a:xfrm>
            <a:off x="0" y="6172200"/>
            <a:ext cx="128016" cy="685800"/>
          </a:xfrm>
          <a:prstGeom prst="rect">
            <a:avLst/>
          </a:prstGeom>
          <a:solidFill>
            <a:srgbClr val="F35B1A"/>
          </a:solidFill>
          <a:ln/>
        </p:spPr>
      </p:sp>
      <p:sp>
        <p:nvSpPr>
          <p:cNvPr id="30" name="Text 24"/>
          <p:cNvSpPr/>
          <p:nvPr/>
        </p:nvSpPr>
        <p:spPr>
          <a:xfrm>
            <a:off x="1828800" y="6172200"/>
            <a:ext cx="8534095" cy="685800"/>
          </a:xfrm>
          <a:prstGeom prst="rect">
            <a:avLst/>
          </a:prstGeom>
          <a:noFill/>
          <a:ln/>
        </p:spPr>
        <p:txBody>
          <a:bodyPr wrap="square" lIns="0" tIns="0" rIns="0" bIns="0" rtlCol="0" anchor="ctr"/>
          <a:lstStyle/>
          <a:p>
            <a:pPr algn="ctr" indent="0" marL="0">
              <a:lnSpc>
                <a:spcPct val="100000"/>
              </a:lnSpc>
              <a:buNone/>
            </a:pPr>
            <a:r>
              <a:rPr lang="en-US" sz="1200" dirty="0">
                <a:solidFill>
                  <a:srgbClr val="E8ECF1"/>
                </a:solidFill>
                <a:latin typeface="Poppins SemiBold" pitchFamily="34" charset="0"/>
                <a:ea typeface="Poppins SemiBold" pitchFamily="34" charset="-122"/>
                <a:cs typeface="Poppins SemiBold" pitchFamily="34" charset="-120"/>
              </a:rPr>
              <a:t>A clear and </a:t>
            </a:r>
            <a:pPr algn="ctr" indent="0" marL="0">
              <a:lnSpc>
                <a:spcPct val="100000"/>
              </a:lnSpc>
              <a:buNone/>
            </a:pPr>
            <a:r>
              <a:rPr lang="en-US" sz="1200" dirty="0">
                <a:solidFill>
                  <a:srgbClr val="F35B1A"/>
                </a:solidFill>
                <a:latin typeface="Poppins SemiBold" pitchFamily="34" charset="0"/>
                <a:ea typeface="Poppins SemiBold" pitchFamily="34" charset="-122"/>
                <a:cs typeface="Poppins SemiBold" pitchFamily="34" charset="-120"/>
              </a:rPr>
              <a:t>executable path</a:t>
            </a:r>
            <a:pPr algn="ctr" indent="0" marL="0">
              <a:lnSpc>
                <a:spcPct val="100000"/>
              </a:lnSpc>
              <a:buNone/>
            </a:pPr>
            <a:r>
              <a:rPr lang="en-US" sz="1200" dirty="0">
                <a:solidFill>
                  <a:srgbClr val="E8ECF1"/>
                </a:solidFill>
                <a:latin typeface="Poppins SemiBold" pitchFamily="34" charset="0"/>
                <a:ea typeface="Poppins SemiBold" pitchFamily="34" charset="-122"/>
                <a:cs typeface="Poppins SemiBold" pitchFamily="34" charset="-120"/>
              </a:rPr>
              <a:t> for continued value creation</a:t>
            </a:r>
            <a:endParaRPr lang="en-US" sz="1200" dirty="0"/>
          </a:p>
        </p:txBody>
      </p:sp>
      <p:pic>
        <p:nvPicPr>
          <p:cNvPr id="31" name="Image 4" descr="assets/igc_white.png">    </p:cNvPr>
          <p:cNvPicPr>
            <a:picLocks noChangeAspect="1"/>
          </p:cNvPicPr>
          <p:nvPr/>
        </p:nvPicPr>
        <p:blipFill>
          <a:blip r:embed="rId5"/>
          <a:stretch>
            <a:fillRect/>
          </a:stretch>
        </p:blipFill>
        <p:spPr>
          <a:xfrm>
            <a:off x="731520" y="6382512"/>
            <a:ext cx="292608" cy="252943"/>
          </a:xfrm>
          <a:prstGeom prst="rect">
            <a:avLst/>
          </a:prstGeom>
        </p:spPr>
      </p:pic>
      <p:sp>
        <p:nvSpPr>
          <p:cNvPr id="32" name="Text 25"/>
          <p:cNvSpPr/>
          <p:nvPr/>
        </p:nvSpPr>
        <p:spPr>
          <a:xfrm>
            <a:off x="1115568" y="6377940"/>
            <a:ext cx="2743200" cy="274320"/>
          </a:xfrm>
          <a:prstGeom prst="rect">
            <a:avLst/>
          </a:prstGeom>
          <a:noFill/>
          <a:ln/>
        </p:spPr>
        <p:txBody>
          <a:bodyPr wrap="square" lIns="0" tIns="0" rIns="0" bIns="0" rtlCol="0" anchor="ctr"/>
          <a:lstStyle/>
          <a:p>
            <a:pPr algn="l" indent="0" marL="0">
              <a:buNone/>
            </a:pPr>
            <a:r>
              <a:rPr lang="en-US" sz="900" dirty="0">
                <a:solidFill>
                  <a:srgbClr val="FFFFFF"/>
                </a:solidFill>
                <a:latin typeface="Poppins Medium" pitchFamily="34" charset="0"/>
                <a:ea typeface="Poppins Medium" pitchFamily="34" charset="-122"/>
                <a:cs typeface="Poppins Medium" pitchFamily="34" charset="-120"/>
              </a:rPr>
              <a:t>12</a:t>
            </a:r>
            <a:pPr algn="l" indent="0" marL="0">
              <a:buNone/>
            </a:pPr>
            <a:r>
              <a:rPr lang="en-US" sz="900" dirty="0">
                <a:solidFill>
                  <a:srgbClr val="8B95A5"/>
                </a:solidFill>
                <a:latin typeface="Poppins" pitchFamily="34" charset="0"/>
                <a:ea typeface="Poppins" pitchFamily="34" charset="-122"/>
                <a:cs typeface="Poppins" pitchFamily="34" charset="-120"/>
              </a:rPr>
              <a:t>    Confidential</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1A24"/>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41A24"/>
          </a:solidFill>
          <a:ln/>
        </p:spPr>
      </p:sp>
      <p:pic>
        <p:nvPicPr>
          <p:cNvPr id="3" name="Image 0" descr="assets/cover_buses.jpeg">    </p:cNvPr>
          <p:cNvPicPr>
            <a:picLocks noChangeAspect="1"/>
          </p:cNvPicPr>
          <p:nvPr/>
        </p:nvPicPr>
        <p:blipFill>
          <a:blip r:embed="rId1"/>
          <a:srcRect l="0" r="0" t="0" b="0"/>
          <a:stretch/>
        </p:blipFill>
        <p:spPr>
          <a:xfrm>
            <a:off x="6949440" y="868680"/>
            <a:ext cx="5242255" cy="4206240"/>
          </a:xfrm>
          <a:prstGeom prst="rect">
            <a:avLst/>
          </a:prstGeom>
        </p:spPr>
      </p:pic>
      <p:sp>
        <p:nvSpPr>
          <p:cNvPr id="4" name="Shape 1"/>
          <p:cNvSpPr/>
          <p:nvPr/>
        </p:nvSpPr>
        <p:spPr>
          <a:xfrm>
            <a:off x="6949440" y="868680"/>
            <a:ext cx="5242255" cy="4206240"/>
          </a:xfrm>
          <a:prstGeom prst="rect">
            <a:avLst/>
          </a:prstGeom>
          <a:solidFill>
            <a:srgbClr val="141A24">
              <a:alpha val="26000"/>
            </a:srgbClr>
          </a:solidFill>
          <a:ln/>
        </p:spPr>
      </p:sp>
      <p:pic>
        <p:nvPicPr>
          <p:cNvPr id="5" name="Image 1" descr="assets/stripes_orange.png">    </p:cNvPr>
          <p:cNvPicPr>
            <a:picLocks noChangeAspect="1"/>
          </p:cNvPicPr>
          <p:nvPr/>
        </p:nvPicPr>
        <p:blipFill>
          <a:blip r:embed="rId2">
            <a:alphaModFix amt="55000"/>
          </a:blip>
          <a:stretch>
            <a:fillRect/>
          </a:stretch>
        </p:blipFill>
        <p:spPr>
          <a:xfrm>
            <a:off x="-822960" y="4846320"/>
            <a:ext cx="2011680" cy="2011680"/>
          </a:xfrm>
          <a:prstGeom prst="rect">
            <a:avLst/>
          </a:prstGeom>
        </p:spPr>
      </p:pic>
      <p:sp>
        <p:nvSpPr>
          <p:cNvPr id="6" name="Text 2"/>
          <p:cNvSpPr/>
          <p:nvPr/>
        </p:nvSpPr>
        <p:spPr>
          <a:xfrm>
            <a:off x="731520" y="914400"/>
            <a:ext cx="5486400" cy="685800"/>
          </a:xfrm>
          <a:prstGeom prst="rect">
            <a:avLst/>
          </a:prstGeom>
          <a:noFill/>
          <a:ln/>
        </p:spPr>
        <p:txBody>
          <a:bodyPr wrap="square" lIns="0" tIns="0" rIns="0" bIns="0" rtlCol="0" anchor="ctr"/>
          <a:lstStyle/>
          <a:p>
            <a:pPr indent="0" marL="0">
              <a:buNone/>
            </a:pPr>
            <a:r>
              <a:rPr lang="en-US" sz="3200" dirty="0">
                <a:solidFill>
                  <a:srgbClr val="FFFFFF"/>
                </a:solidFill>
                <a:latin typeface="Poppins SemiBold" pitchFamily="34" charset="0"/>
                <a:ea typeface="Poppins SemiBold" pitchFamily="34" charset="-122"/>
                <a:cs typeface="Poppins SemiBold" pitchFamily="34" charset="-120"/>
              </a:rPr>
              <a:t>Executive</a:t>
            </a:r>
            <a:endParaRPr lang="en-US" sz="3200" dirty="0"/>
          </a:p>
        </p:txBody>
      </p:sp>
      <p:sp>
        <p:nvSpPr>
          <p:cNvPr id="7" name="Text 3"/>
          <p:cNvSpPr/>
          <p:nvPr/>
        </p:nvSpPr>
        <p:spPr>
          <a:xfrm>
            <a:off x="731520" y="1572768"/>
            <a:ext cx="5486400" cy="685800"/>
          </a:xfrm>
          <a:prstGeom prst="rect">
            <a:avLst/>
          </a:prstGeom>
          <a:noFill/>
          <a:ln/>
        </p:spPr>
        <p:txBody>
          <a:bodyPr wrap="square" lIns="0" tIns="0" rIns="0" bIns="0" rtlCol="0" anchor="ctr"/>
          <a:lstStyle/>
          <a:p>
            <a:pPr indent="0" marL="0">
              <a:buNone/>
            </a:pPr>
            <a:r>
              <a:rPr lang="en-US" sz="3200" dirty="0">
                <a:solidFill>
                  <a:srgbClr val="F35B1A"/>
                </a:solidFill>
                <a:latin typeface="Poppins SemiBold" pitchFamily="34" charset="0"/>
                <a:ea typeface="Poppins SemiBold" pitchFamily="34" charset="-122"/>
                <a:cs typeface="Poppins SemiBold" pitchFamily="34" charset="-120"/>
              </a:rPr>
              <a:t>Summary</a:t>
            </a:r>
            <a:endParaRPr lang="en-US" sz="3200" dirty="0"/>
          </a:p>
        </p:txBody>
      </p:sp>
      <p:sp>
        <p:nvSpPr>
          <p:cNvPr id="8" name="Shape 4"/>
          <p:cNvSpPr/>
          <p:nvPr/>
        </p:nvSpPr>
        <p:spPr>
          <a:xfrm rot="5400000">
            <a:off x="749808" y="2999232"/>
            <a:ext cx="237744" cy="237744"/>
          </a:xfrm>
          <a:prstGeom prst="triangle">
            <a:avLst/>
          </a:prstGeom>
          <a:solidFill>
            <a:srgbClr val="323E50"/>
          </a:solidFill>
          <a:ln/>
        </p:spPr>
      </p:sp>
      <p:sp>
        <p:nvSpPr>
          <p:cNvPr id="9" name="Text 5"/>
          <p:cNvSpPr/>
          <p:nvPr/>
        </p:nvSpPr>
        <p:spPr>
          <a:xfrm>
            <a:off x="1188720" y="2880360"/>
            <a:ext cx="4206240" cy="457200"/>
          </a:xfrm>
          <a:prstGeom prst="rect">
            <a:avLst/>
          </a:prstGeom>
          <a:noFill/>
          <a:ln/>
        </p:spPr>
        <p:txBody>
          <a:bodyPr wrap="square" lIns="0" tIns="0" rIns="0" bIns="0" rtlCol="0" anchor="ctr"/>
          <a:lstStyle/>
          <a:p>
            <a:pPr indent="0" marL="0">
              <a:buNone/>
            </a:pPr>
            <a:r>
              <a:rPr lang="en-US" sz="1400" spc="100" kern="0" dirty="0">
                <a:solidFill>
                  <a:srgbClr val="8B95A5"/>
                </a:solidFill>
                <a:latin typeface="Poppins SemiBold" pitchFamily="34" charset="0"/>
                <a:ea typeface="Poppins SemiBold" pitchFamily="34" charset="-122"/>
                <a:cs typeface="Poppins SemiBold" pitchFamily="34" charset="-120"/>
              </a:rPr>
              <a:t>INTRODUCTION</a:t>
            </a:r>
            <a:endParaRPr lang="en-US" sz="1400" dirty="0"/>
          </a:p>
        </p:txBody>
      </p:sp>
      <p:sp>
        <p:nvSpPr>
          <p:cNvPr id="10" name="Text 6"/>
          <p:cNvSpPr/>
          <p:nvPr/>
        </p:nvSpPr>
        <p:spPr>
          <a:xfrm>
            <a:off x="5486400" y="2880360"/>
            <a:ext cx="731520" cy="457200"/>
          </a:xfrm>
          <a:prstGeom prst="rect">
            <a:avLst/>
          </a:prstGeom>
          <a:noFill/>
          <a:ln/>
        </p:spPr>
        <p:txBody>
          <a:bodyPr wrap="square" lIns="0" tIns="0" rIns="0" bIns="0" rtlCol="0" anchor="ctr"/>
          <a:lstStyle/>
          <a:p>
            <a:pPr indent="0" marL="0">
              <a:buNone/>
            </a:pPr>
            <a:r>
              <a:rPr lang="en-US" sz="1200" dirty="0">
                <a:solidFill>
                  <a:srgbClr val="8B95A5"/>
                </a:solidFill>
                <a:latin typeface="Poppins Medium" pitchFamily="34" charset="0"/>
                <a:ea typeface="Poppins Medium" pitchFamily="34" charset="-122"/>
                <a:cs typeface="Poppins Medium" pitchFamily="34" charset="-120"/>
              </a:rPr>
              <a:t>04</a:t>
            </a:r>
            <a:endParaRPr lang="en-US" sz="1200" dirty="0"/>
          </a:p>
        </p:txBody>
      </p:sp>
      <p:sp>
        <p:nvSpPr>
          <p:cNvPr id="11" name="Shape 7"/>
          <p:cNvSpPr/>
          <p:nvPr/>
        </p:nvSpPr>
        <p:spPr>
          <a:xfrm rot="5400000">
            <a:off x="749808" y="3712464"/>
            <a:ext cx="237744" cy="237744"/>
          </a:xfrm>
          <a:prstGeom prst="triangle">
            <a:avLst/>
          </a:prstGeom>
          <a:solidFill>
            <a:srgbClr val="323E50"/>
          </a:solidFill>
          <a:ln/>
        </p:spPr>
      </p:sp>
      <p:sp>
        <p:nvSpPr>
          <p:cNvPr id="12" name="Text 8"/>
          <p:cNvSpPr/>
          <p:nvPr/>
        </p:nvSpPr>
        <p:spPr>
          <a:xfrm>
            <a:off x="1188720" y="3593592"/>
            <a:ext cx="4206240" cy="457200"/>
          </a:xfrm>
          <a:prstGeom prst="rect">
            <a:avLst/>
          </a:prstGeom>
          <a:noFill/>
          <a:ln/>
        </p:spPr>
        <p:txBody>
          <a:bodyPr wrap="square" lIns="0" tIns="0" rIns="0" bIns="0" rtlCol="0" anchor="ctr"/>
          <a:lstStyle/>
          <a:p>
            <a:pPr indent="0" marL="0">
              <a:buNone/>
            </a:pPr>
            <a:r>
              <a:rPr lang="en-US" sz="1400" spc="100" kern="0" dirty="0">
                <a:solidFill>
                  <a:srgbClr val="8B95A5"/>
                </a:solidFill>
                <a:latin typeface="Poppins SemiBold" pitchFamily="34" charset="0"/>
                <a:ea typeface="Poppins SemiBold" pitchFamily="34" charset="-122"/>
                <a:cs typeface="Poppins SemiBold" pitchFamily="34" charset="-120"/>
              </a:rPr>
              <a:t>INVESTMENT THESIS</a:t>
            </a:r>
            <a:endParaRPr lang="en-US" sz="1400" dirty="0"/>
          </a:p>
        </p:txBody>
      </p:sp>
      <p:sp>
        <p:nvSpPr>
          <p:cNvPr id="13" name="Text 9"/>
          <p:cNvSpPr/>
          <p:nvPr/>
        </p:nvSpPr>
        <p:spPr>
          <a:xfrm>
            <a:off x="5486400" y="3593592"/>
            <a:ext cx="731520" cy="457200"/>
          </a:xfrm>
          <a:prstGeom prst="rect">
            <a:avLst/>
          </a:prstGeom>
          <a:noFill/>
          <a:ln/>
        </p:spPr>
        <p:txBody>
          <a:bodyPr wrap="square" lIns="0" tIns="0" rIns="0" bIns="0" rtlCol="0" anchor="ctr"/>
          <a:lstStyle/>
          <a:p>
            <a:pPr indent="0" marL="0">
              <a:buNone/>
            </a:pPr>
            <a:r>
              <a:rPr lang="en-US" sz="1200" dirty="0">
                <a:solidFill>
                  <a:srgbClr val="8B95A5"/>
                </a:solidFill>
                <a:latin typeface="Poppins Medium" pitchFamily="34" charset="0"/>
                <a:ea typeface="Poppins Medium" pitchFamily="34" charset="-122"/>
                <a:cs typeface="Poppins Medium" pitchFamily="34" charset="-120"/>
              </a:rPr>
              <a:t>08</a:t>
            </a:r>
            <a:endParaRPr lang="en-US" sz="1200" dirty="0"/>
          </a:p>
        </p:txBody>
      </p:sp>
      <p:sp>
        <p:nvSpPr>
          <p:cNvPr id="14" name="Shape 10"/>
          <p:cNvSpPr/>
          <p:nvPr/>
        </p:nvSpPr>
        <p:spPr>
          <a:xfrm rot="5400000">
            <a:off x="749808" y="4425696"/>
            <a:ext cx="237744" cy="237744"/>
          </a:xfrm>
          <a:prstGeom prst="triangle">
            <a:avLst/>
          </a:prstGeom>
          <a:solidFill>
            <a:srgbClr val="F35B1A"/>
          </a:solidFill>
          <a:ln/>
        </p:spPr>
      </p:sp>
      <p:sp>
        <p:nvSpPr>
          <p:cNvPr id="15" name="Text 11"/>
          <p:cNvSpPr/>
          <p:nvPr/>
        </p:nvSpPr>
        <p:spPr>
          <a:xfrm>
            <a:off x="1188720" y="4306824"/>
            <a:ext cx="4206240" cy="457200"/>
          </a:xfrm>
          <a:prstGeom prst="rect">
            <a:avLst/>
          </a:prstGeom>
          <a:noFill/>
          <a:ln/>
        </p:spPr>
        <p:txBody>
          <a:bodyPr wrap="square" lIns="0" tIns="0" rIns="0" bIns="0" rtlCol="0" anchor="ctr"/>
          <a:lstStyle/>
          <a:p>
            <a:pPr indent="0" marL="0">
              <a:buNone/>
            </a:pPr>
            <a:r>
              <a:rPr lang="en-US" sz="1400" spc="100" kern="0" dirty="0">
                <a:solidFill>
                  <a:srgbClr val="F35B1A"/>
                </a:solidFill>
                <a:latin typeface="Poppins SemiBold" pitchFamily="34" charset="0"/>
                <a:ea typeface="Poppins SemiBold" pitchFamily="34" charset="-122"/>
                <a:cs typeface="Poppins SemiBold" pitchFamily="34" charset="-120"/>
              </a:rPr>
              <a:t>COMPANY OVERVIEW</a:t>
            </a:r>
            <a:endParaRPr lang="en-US" sz="1400" dirty="0"/>
          </a:p>
        </p:txBody>
      </p:sp>
      <p:sp>
        <p:nvSpPr>
          <p:cNvPr id="16" name="Text 12"/>
          <p:cNvSpPr/>
          <p:nvPr/>
        </p:nvSpPr>
        <p:spPr>
          <a:xfrm>
            <a:off x="5486400" y="4306824"/>
            <a:ext cx="731520" cy="457200"/>
          </a:xfrm>
          <a:prstGeom prst="rect">
            <a:avLst/>
          </a:prstGeom>
          <a:noFill/>
          <a:ln/>
        </p:spPr>
        <p:txBody>
          <a:bodyPr wrap="square" lIns="0" tIns="0" rIns="0" bIns="0" rtlCol="0" anchor="ctr"/>
          <a:lstStyle/>
          <a:p>
            <a:pPr indent="0" marL="0">
              <a:buNone/>
            </a:pPr>
            <a:r>
              <a:rPr lang="en-US" sz="1200" dirty="0">
                <a:solidFill>
                  <a:srgbClr val="FFFFFF"/>
                </a:solidFill>
                <a:latin typeface="Poppins Medium" pitchFamily="34" charset="0"/>
                <a:ea typeface="Poppins Medium" pitchFamily="34" charset="-122"/>
                <a:cs typeface="Poppins Medium" pitchFamily="34" charset="-120"/>
              </a:rPr>
              <a:t>14</a:t>
            </a:r>
            <a:endParaRPr lang="en-US" sz="1200" dirty="0"/>
          </a:p>
        </p:txBody>
      </p:sp>
      <p:sp>
        <p:nvSpPr>
          <p:cNvPr id="17" name="Shape 13"/>
          <p:cNvSpPr/>
          <p:nvPr/>
        </p:nvSpPr>
        <p:spPr>
          <a:xfrm rot="5400000">
            <a:off x="749808" y="5138928"/>
            <a:ext cx="237744" cy="237744"/>
          </a:xfrm>
          <a:prstGeom prst="triangle">
            <a:avLst/>
          </a:prstGeom>
          <a:solidFill>
            <a:srgbClr val="323E50"/>
          </a:solidFill>
          <a:ln/>
        </p:spPr>
      </p:sp>
      <p:sp>
        <p:nvSpPr>
          <p:cNvPr id="18" name="Text 14"/>
          <p:cNvSpPr/>
          <p:nvPr/>
        </p:nvSpPr>
        <p:spPr>
          <a:xfrm>
            <a:off x="1188720" y="5020056"/>
            <a:ext cx="4206240" cy="457200"/>
          </a:xfrm>
          <a:prstGeom prst="rect">
            <a:avLst/>
          </a:prstGeom>
          <a:noFill/>
          <a:ln/>
        </p:spPr>
        <p:txBody>
          <a:bodyPr wrap="square" lIns="0" tIns="0" rIns="0" bIns="0" rtlCol="0" anchor="ctr"/>
          <a:lstStyle/>
          <a:p>
            <a:pPr indent="0" marL="0">
              <a:buNone/>
            </a:pPr>
            <a:r>
              <a:rPr lang="en-US" sz="1400" spc="100" kern="0" dirty="0">
                <a:solidFill>
                  <a:srgbClr val="8B95A5"/>
                </a:solidFill>
                <a:latin typeface="Poppins SemiBold" pitchFamily="34" charset="0"/>
                <a:ea typeface="Poppins SemiBold" pitchFamily="34" charset="-122"/>
                <a:cs typeface="Poppins SemiBold" pitchFamily="34" charset="-120"/>
              </a:rPr>
              <a:t>FINANCIAL HIGHLIGHTS</a:t>
            </a:r>
            <a:endParaRPr lang="en-US" sz="1400" dirty="0"/>
          </a:p>
        </p:txBody>
      </p:sp>
      <p:sp>
        <p:nvSpPr>
          <p:cNvPr id="19" name="Text 15"/>
          <p:cNvSpPr/>
          <p:nvPr/>
        </p:nvSpPr>
        <p:spPr>
          <a:xfrm>
            <a:off x="5486400" y="5020056"/>
            <a:ext cx="731520" cy="457200"/>
          </a:xfrm>
          <a:prstGeom prst="rect">
            <a:avLst/>
          </a:prstGeom>
          <a:noFill/>
          <a:ln/>
        </p:spPr>
        <p:txBody>
          <a:bodyPr wrap="square" lIns="0" tIns="0" rIns="0" bIns="0" rtlCol="0" anchor="ctr"/>
          <a:lstStyle/>
          <a:p>
            <a:pPr indent="0" marL="0">
              <a:buNone/>
            </a:pPr>
            <a:r>
              <a:rPr lang="en-US" sz="1200" dirty="0">
                <a:solidFill>
                  <a:srgbClr val="8B95A5"/>
                </a:solidFill>
                <a:latin typeface="Poppins Medium" pitchFamily="34" charset="0"/>
                <a:ea typeface="Poppins Medium" pitchFamily="34" charset="-122"/>
                <a:cs typeface="Poppins Medium" pitchFamily="34" charset="-120"/>
              </a:rPr>
              <a:t>21</a:t>
            </a:r>
            <a:endParaRPr lang="en-US" sz="1200" dirty="0"/>
          </a:p>
        </p:txBody>
      </p:sp>
      <p:pic>
        <p:nvPicPr>
          <p:cNvPr id="20" name="Image 2" descr="assets/mobi_logo_black.png">    </p:cNvPr>
          <p:cNvPicPr>
            <a:picLocks noChangeAspect="1"/>
          </p:cNvPicPr>
          <p:nvPr/>
        </p:nvPicPr>
        <p:blipFill>
          <a:blip r:embed="rId3"/>
          <a:stretch>
            <a:fillRect/>
          </a:stretch>
        </p:blipFill>
        <p:spPr>
          <a:xfrm>
            <a:off x="10042855" y="5989320"/>
            <a:ext cx="1417320" cy="453985"/>
          </a:xfrm>
          <a:prstGeom prst="rect">
            <a:avLst/>
          </a:prstGeom>
        </p:spPr>
      </p:pic>
      <p:pic>
        <p:nvPicPr>
          <p:cNvPr id="21" name="Image 3" descr="assets/igc_white.png">    </p:cNvPr>
          <p:cNvPicPr>
            <a:picLocks noChangeAspect="1"/>
          </p:cNvPicPr>
          <p:nvPr/>
        </p:nvPicPr>
        <p:blipFill>
          <a:blip r:embed="rId4"/>
          <a:stretch>
            <a:fillRect/>
          </a:stretch>
        </p:blipFill>
        <p:spPr>
          <a:xfrm>
            <a:off x="11002975" y="365760"/>
            <a:ext cx="457200" cy="39522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assets/mobi_logo_navy.png">    </p:cNvPr>
          <p:cNvPicPr>
            <a:picLocks noChangeAspect="1"/>
          </p:cNvPicPr>
          <p:nvPr/>
        </p:nvPicPr>
        <p:blipFill>
          <a:blip r:embed="rId1"/>
          <a:stretch>
            <a:fillRect/>
          </a:stretch>
        </p:blipFill>
        <p:spPr>
          <a:xfrm>
            <a:off x="10545775" y="329184"/>
            <a:ext cx="914400" cy="292894"/>
          </a:xfrm>
          <a:prstGeom prst="rect">
            <a:avLst/>
          </a:prstGeom>
        </p:spPr>
      </p:pic>
      <p:sp>
        <p:nvSpPr>
          <p:cNvPr id="3" name="Shape 0"/>
          <p:cNvSpPr/>
          <p:nvPr/>
        </p:nvSpPr>
        <p:spPr>
          <a:xfrm>
            <a:off x="731520" y="329184"/>
            <a:ext cx="1472184" cy="329184"/>
          </a:xfrm>
          <a:prstGeom prst="roundRect">
            <a:avLst>
              <a:gd name="adj" fmla="val 25000"/>
            </a:avLst>
          </a:prstGeom>
          <a:solidFill>
            <a:srgbClr val="FDE9DE"/>
          </a:solidFill>
          <a:ln/>
        </p:spPr>
      </p:sp>
      <p:sp>
        <p:nvSpPr>
          <p:cNvPr id="4" name="Text 1"/>
          <p:cNvSpPr/>
          <p:nvPr/>
        </p:nvSpPr>
        <p:spPr>
          <a:xfrm>
            <a:off x="731520" y="329184"/>
            <a:ext cx="1472184" cy="329184"/>
          </a:xfrm>
          <a:prstGeom prst="rect">
            <a:avLst/>
          </a:prstGeom>
          <a:noFill/>
          <a:ln/>
        </p:spPr>
        <p:txBody>
          <a:bodyPr wrap="square" lIns="0" tIns="0" rIns="0" bIns="0" rtlCol="0" anchor="ctr"/>
          <a:lstStyle/>
          <a:p>
            <a:pPr algn="ctr" indent="0" marL="0">
              <a:buNone/>
            </a:pPr>
            <a:r>
              <a:rPr lang="en-US" sz="900" dirty="0">
                <a:solidFill>
                  <a:srgbClr val="C6470F"/>
                </a:solidFill>
                <a:latin typeface="Poppins Medium" pitchFamily="34" charset="0"/>
                <a:ea typeface="Poppins Medium" pitchFamily="34" charset="-122"/>
                <a:cs typeface="Poppins Medium" pitchFamily="34" charset="-120"/>
              </a:rPr>
              <a:t>Company Overview</a:t>
            </a:r>
            <a:endParaRPr lang="en-US" sz="900" dirty="0"/>
          </a:p>
        </p:txBody>
      </p:sp>
      <p:sp>
        <p:nvSpPr>
          <p:cNvPr id="5" name="Text 2"/>
          <p:cNvSpPr/>
          <p:nvPr/>
        </p:nvSpPr>
        <p:spPr>
          <a:xfrm>
            <a:off x="731520" y="731520"/>
            <a:ext cx="10088575" cy="548640"/>
          </a:xfrm>
          <a:prstGeom prst="rect">
            <a:avLst/>
          </a:prstGeom>
          <a:noFill/>
          <a:ln/>
        </p:spPr>
        <p:txBody>
          <a:bodyPr wrap="square" lIns="0" tIns="0" rIns="0" bIns="0" rtlCol="0" anchor="ctr"/>
          <a:lstStyle/>
          <a:p>
            <a:pPr algn="l" indent="0" marL="0">
              <a:buNone/>
            </a:pPr>
            <a:r>
              <a:rPr lang="en-US" sz="1800" dirty="0">
                <a:solidFill>
                  <a:srgbClr val="141A24"/>
                </a:solidFill>
                <a:latin typeface="Poppins SemiBold" pitchFamily="34" charset="0"/>
                <a:ea typeface="Poppins SemiBold" pitchFamily="34" charset="-122"/>
                <a:cs typeface="Poppins SemiBold" pitchFamily="34" charset="-120"/>
              </a:rPr>
              <a:t>A track record built over more than 20 years</a:t>
            </a:r>
            <a:endParaRPr lang="en-US" sz="1800" dirty="0"/>
          </a:p>
        </p:txBody>
      </p:sp>
      <p:sp>
        <p:nvSpPr>
          <p:cNvPr id="6" name="Text 3"/>
          <p:cNvSpPr/>
          <p:nvPr/>
        </p:nvSpPr>
        <p:spPr>
          <a:xfrm>
            <a:off x="731520" y="1298448"/>
            <a:ext cx="10088575" cy="438912"/>
          </a:xfrm>
          <a:prstGeom prst="rect">
            <a:avLst/>
          </a:prstGeom>
          <a:noFill/>
          <a:ln/>
        </p:spPr>
        <p:txBody>
          <a:bodyPr wrap="square" lIns="0" tIns="0" rIns="0" bIns="0" rtlCol="0" anchor="t"/>
          <a:lstStyle/>
          <a:p>
            <a:pPr algn="l" indent="0" marL="0">
              <a:lnSpc>
                <a:spcPct val="102000"/>
              </a:lnSpc>
              <a:buNone/>
            </a:pPr>
            <a:r>
              <a:rPr lang="en-US" sz="1050" dirty="0">
                <a:solidFill>
                  <a:srgbClr val="6C7683"/>
                </a:solidFill>
                <a:latin typeface="Poppins" pitchFamily="34" charset="0"/>
                <a:ea typeface="Poppins" pitchFamily="34" charset="-122"/>
                <a:cs typeface="Poppins" pitchFamily="34" charset="-120"/>
              </a:rPr>
              <a:t>Mobi has +20 years of experience in urban mobility and corporate employee transportation</a:t>
            </a:r>
            <a:endParaRPr lang="en-US" sz="1050" dirty="0"/>
          </a:p>
        </p:txBody>
      </p:sp>
      <p:sp>
        <p:nvSpPr>
          <p:cNvPr id="7" name="Text 4"/>
          <p:cNvSpPr/>
          <p:nvPr/>
        </p:nvSpPr>
        <p:spPr>
          <a:xfrm>
            <a:off x="731520" y="5888736"/>
            <a:ext cx="10362895" cy="219456"/>
          </a:xfrm>
          <a:prstGeom prst="rect">
            <a:avLst/>
          </a:prstGeom>
          <a:noFill/>
          <a:ln/>
        </p:spPr>
        <p:txBody>
          <a:bodyPr wrap="square" lIns="0" tIns="0" rIns="0" bIns="0" rtlCol="0" anchor="ctr"/>
          <a:lstStyle/>
          <a:p>
            <a:pPr algn="l" indent="0" marL="0">
              <a:buNone/>
            </a:pPr>
            <a:r>
              <a:rPr lang="en-US" sz="700" dirty="0">
                <a:solidFill>
                  <a:srgbClr val="9AA3AD"/>
                </a:solidFill>
                <a:latin typeface="Poppins" pitchFamily="34" charset="0"/>
                <a:ea typeface="Poppins" pitchFamily="34" charset="-122"/>
                <a:cs typeface="Poppins" pitchFamily="34" charset="-120"/>
              </a:rPr>
              <a:t>Source: Company. Foundation year and milestone dates to be confirmed with management.</a:t>
            </a:r>
            <a:endParaRPr lang="en-US" sz="700" dirty="0"/>
          </a:p>
        </p:txBody>
      </p:sp>
      <p:sp>
        <p:nvSpPr>
          <p:cNvPr id="8" name="Shape 5"/>
          <p:cNvSpPr/>
          <p:nvPr/>
        </p:nvSpPr>
        <p:spPr>
          <a:xfrm>
            <a:off x="731520" y="2148840"/>
            <a:ext cx="1889699" cy="2651760"/>
          </a:xfrm>
          <a:prstGeom prst="roundRect">
            <a:avLst>
              <a:gd name="adj" fmla="val 3871"/>
            </a:avLst>
          </a:prstGeom>
          <a:solidFill>
            <a:srgbClr val="F35B1A"/>
          </a:solidFill>
          <a:ln/>
          <a:effectLst>
            <a:outerShdw sx="100000" sy="100000" kx="0" ky="0" algn="bl" rotWithShape="0" blurRad="101600" dist="25400" dir="5400000">
              <a:srgbClr val="9AA3AD">
                <a:alpha val="30000"/>
              </a:srgbClr>
            </a:outerShdw>
          </a:effectLst>
        </p:spPr>
      </p:sp>
      <p:sp>
        <p:nvSpPr>
          <p:cNvPr id="9" name="Text 6"/>
          <p:cNvSpPr/>
          <p:nvPr/>
        </p:nvSpPr>
        <p:spPr>
          <a:xfrm>
            <a:off x="932688" y="2377440"/>
            <a:ext cx="1487363" cy="502920"/>
          </a:xfrm>
          <a:prstGeom prst="rect">
            <a:avLst/>
          </a:prstGeom>
          <a:noFill/>
          <a:ln/>
        </p:spPr>
        <p:txBody>
          <a:bodyPr wrap="square" lIns="0" tIns="0" rIns="0" bIns="0" rtlCol="0" anchor="ctr"/>
          <a:lstStyle/>
          <a:p>
            <a:pPr indent="0" marL="0">
              <a:buNone/>
            </a:pPr>
            <a:r>
              <a:rPr lang="en-US" sz="2000" dirty="0">
                <a:solidFill>
                  <a:srgbClr val="FFFFFF"/>
                </a:solidFill>
                <a:latin typeface="Poppins SemiBold" pitchFamily="34" charset="0"/>
                <a:ea typeface="Poppins SemiBold" pitchFamily="34" charset="-122"/>
                <a:cs typeface="Poppins SemiBold" pitchFamily="34" charset="-120"/>
              </a:rPr>
              <a:t>[Year TBC]</a:t>
            </a:r>
            <a:endParaRPr lang="en-US" sz="2000" dirty="0"/>
          </a:p>
        </p:txBody>
      </p:sp>
      <p:sp>
        <p:nvSpPr>
          <p:cNvPr id="10" name="Shape 7"/>
          <p:cNvSpPr/>
          <p:nvPr/>
        </p:nvSpPr>
        <p:spPr>
          <a:xfrm>
            <a:off x="950976" y="3017520"/>
            <a:ext cx="1450787" cy="0"/>
          </a:xfrm>
          <a:prstGeom prst="line">
            <a:avLst/>
          </a:prstGeom>
          <a:noFill/>
          <a:ln w="12700">
            <a:solidFill>
              <a:srgbClr val="F9926B"/>
            </a:solidFill>
            <a:prstDash val="solid"/>
          </a:ln>
        </p:spPr>
      </p:sp>
      <p:sp>
        <p:nvSpPr>
          <p:cNvPr id="11" name="Text 8"/>
          <p:cNvSpPr/>
          <p:nvPr/>
        </p:nvSpPr>
        <p:spPr>
          <a:xfrm>
            <a:off x="932688" y="3154680"/>
            <a:ext cx="1487363" cy="1463040"/>
          </a:xfrm>
          <a:prstGeom prst="rect">
            <a:avLst/>
          </a:prstGeom>
          <a:noFill/>
          <a:ln/>
        </p:spPr>
        <p:txBody>
          <a:bodyPr wrap="square" lIns="0" tIns="0" rIns="0" bIns="0" rtlCol="0" anchor="t"/>
          <a:lstStyle/>
          <a:p>
            <a:pPr indent="0" marL="0">
              <a:lnSpc>
                <a:spcPct val="105000"/>
              </a:lnSpc>
              <a:spcAft>
                <a:spcPts val="600"/>
              </a:spcAft>
              <a:buNone/>
            </a:pPr>
            <a:r>
              <a:rPr lang="en-US" sz="900" dirty="0">
                <a:solidFill>
                  <a:srgbClr val="FFFFFF"/>
                </a:solidFill>
                <a:latin typeface="Poppins" pitchFamily="34" charset="0"/>
                <a:ea typeface="Poppins" pitchFamily="34" charset="-122"/>
                <a:cs typeface="Poppins" pitchFamily="34" charset="-120"/>
              </a:rPr>
              <a:t>Foundation of Mobi</a:t>
            </a:r>
            <a:endParaRPr lang="en-US" sz="900" dirty="0"/>
          </a:p>
        </p:txBody>
      </p:sp>
      <p:sp>
        <p:nvSpPr>
          <p:cNvPr id="12" name="Shape 9"/>
          <p:cNvSpPr/>
          <p:nvPr/>
        </p:nvSpPr>
        <p:spPr>
          <a:xfrm rot="5400000">
            <a:off x="2708087" y="3401568"/>
            <a:ext cx="146304" cy="146304"/>
          </a:xfrm>
          <a:prstGeom prst="triangle">
            <a:avLst/>
          </a:prstGeom>
          <a:solidFill>
            <a:srgbClr val="9AA3AD"/>
          </a:solidFill>
          <a:ln/>
        </p:spPr>
      </p:sp>
      <p:sp>
        <p:nvSpPr>
          <p:cNvPr id="13" name="Shape 10"/>
          <p:cNvSpPr/>
          <p:nvPr/>
        </p:nvSpPr>
        <p:spPr>
          <a:xfrm>
            <a:off x="2941259" y="2148840"/>
            <a:ext cx="1889699" cy="2651760"/>
          </a:xfrm>
          <a:prstGeom prst="roundRect">
            <a:avLst>
              <a:gd name="adj" fmla="val 3871"/>
            </a:avLst>
          </a:prstGeom>
          <a:solidFill>
            <a:srgbClr val="F35B1A"/>
          </a:solidFill>
          <a:ln/>
          <a:effectLst>
            <a:outerShdw sx="100000" sy="100000" kx="0" ky="0" algn="bl" rotWithShape="0" blurRad="101600" dist="25400" dir="5400000">
              <a:srgbClr val="9AA3AD">
                <a:alpha val="30000"/>
              </a:srgbClr>
            </a:outerShdw>
          </a:effectLst>
        </p:spPr>
      </p:sp>
      <p:sp>
        <p:nvSpPr>
          <p:cNvPr id="14" name="Text 11"/>
          <p:cNvSpPr/>
          <p:nvPr/>
        </p:nvSpPr>
        <p:spPr>
          <a:xfrm>
            <a:off x="3142427" y="2377440"/>
            <a:ext cx="1487363" cy="502920"/>
          </a:xfrm>
          <a:prstGeom prst="rect">
            <a:avLst/>
          </a:prstGeom>
          <a:noFill/>
          <a:ln/>
        </p:spPr>
        <p:txBody>
          <a:bodyPr wrap="square" lIns="0" tIns="0" rIns="0" bIns="0" rtlCol="0" anchor="ctr"/>
          <a:lstStyle/>
          <a:p>
            <a:pPr indent="0" marL="0">
              <a:buNone/>
            </a:pPr>
            <a:r>
              <a:rPr lang="en-US" sz="2000" dirty="0">
                <a:solidFill>
                  <a:srgbClr val="FFFFFF"/>
                </a:solidFill>
                <a:latin typeface="Poppins SemiBold" pitchFamily="34" charset="0"/>
                <a:ea typeface="Poppins SemiBold" pitchFamily="34" charset="-122"/>
                <a:cs typeface="Poppins SemiBold" pitchFamily="34" charset="-120"/>
              </a:rPr>
              <a:t>[Year]</a:t>
            </a:r>
            <a:endParaRPr lang="en-US" sz="2000" dirty="0"/>
          </a:p>
        </p:txBody>
      </p:sp>
      <p:sp>
        <p:nvSpPr>
          <p:cNvPr id="15" name="Shape 12"/>
          <p:cNvSpPr/>
          <p:nvPr/>
        </p:nvSpPr>
        <p:spPr>
          <a:xfrm>
            <a:off x="3160715" y="3017520"/>
            <a:ext cx="1450787" cy="0"/>
          </a:xfrm>
          <a:prstGeom prst="line">
            <a:avLst/>
          </a:prstGeom>
          <a:noFill/>
          <a:ln w="12700">
            <a:solidFill>
              <a:srgbClr val="F9926B"/>
            </a:solidFill>
            <a:prstDash val="solid"/>
          </a:ln>
        </p:spPr>
      </p:sp>
      <p:sp>
        <p:nvSpPr>
          <p:cNvPr id="16" name="Text 13"/>
          <p:cNvSpPr/>
          <p:nvPr/>
        </p:nvSpPr>
        <p:spPr>
          <a:xfrm>
            <a:off x="3142427" y="3154680"/>
            <a:ext cx="1487363" cy="1463040"/>
          </a:xfrm>
          <a:prstGeom prst="rect">
            <a:avLst/>
          </a:prstGeom>
          <a:noFill/>
          <a:ln/>
        </p:spPr>
        <p:txBody>
          <a:bodyPr wrap="square" lIns="0" tIns="0" rIns="0" bIns="0" rtlCol="0" anchor="t"/>
          <a:lstStyle/>
          <a:p>
            <a:pPr indent="0" marL="0">
              <a:lnSpc>
                <a:spcPct val="105000"/>
              </a:lnSpc>
              <a:spcAft>
                <a:spcPts val="600"/>
              </a:spcAft>
              <a:buNone/>
            </a:pPr>
            <a:r>
              <a:rPr lang="en-US" sz="900" dirty="0">
                <a:solidFill>
                  <a:srgbClr val="FFFFFF"/>
                </a:solidFill>
                <a:latin typeface="Poppins" pitchFamily="34" charset="0"/>
                <a:ea typeface="Poppins" pitchFamily="34" charset="-122"/>
                <a:cs typeface="Poppins" pitchFamily="34" charset="-120"/>
              </a:rPr>
              <a:t>[Milestone — TBC]</a:t>
            </a:r>
            <a:endParaRPr lang="en-US" sz="900" dirty="0"/>
          </a:p>
        </p:txBody>
      </p:sp>
      <p:sp>
        <p:nvSpPr>
          <p:cNvPr id="17" name="Shape 14"/>
          <p:cNvSpPr/>
          <p:nvPr/>
        </p:nvSpPr>
        <p:spPr>
          <a:xfrm rot="5400000">
            <a:off x="4917826" y="3401568"/>
            <a:ext cx="146304" cy="146304"/>
          </a:xfrm>
          <a:prstGeom prst="triangle">
            <a:avLst/>
          </a:prstGeom>
          <a:solidFill>
            <a:srgbClr val="9AA3AD"/>
          </a:solidFill>
          <a:ln/>
        </p:spPr>
      </p:sp>
      <p:sp>
        <p:nvSpPr>
          <p:cNvPr id="18" name="Shape 15"/>
          <p:cNvSpPr/>
          <p:nvPr/>
        </p:nvSpPr>
        <p:spPr>
          <a:xfrm>
            <a:off x="5150998" y="2148840"/>
            <a:ext cx="1889699" cy="2651760"/>
          </a:xfrm>
          <a:prstGeom prst="roundRect">
            <a:avLst>
              <a:gd name="adj" fmla="val 3871"/>
            </a:avLst>
          </a:prstGeom>
          <a:solidFill>
            <a:srgbClr val="F35B1A"/>
          </a:solidFill>
          <a:ln/>
          <a:effectLst>
            <a:outerShdw sx="100000" sy="100000" kx="0" ky="0" algn="bl" rotWithShape="0" blurRad="101600" dist="25400" dir="5400000">
              <a:srgbClr val="9AA3AD">
                <a:alpha val="30000"/>
              </a:srgbClr>
            </a:outerShdw>
          </a:effectLst>
        </p:spPr>
      </p:sp>
      <p:sp>
        <p:nvSpPr>
          <p:cNvPr id="19" name="Text 16"/>
          <p:cNvSpPr/>
          <p:nvPr/>
        </p:nvSpPr>
        <p:spPr>
          <a:xfrm>
            <a:off x="5352166" y="2377440"/>
            <a:ext cx="1487363" cy="502920"/>
          </a:xfrm>
          <a:prstGeom prst="rect">
            <a:avLst/>
          </a:prstGeom>
          <a:noFill/>
          <a:ln/>
        </p:spPr>
        <p:txBody>
          <a:bodyPr wrap="square" lIns="0" tIns="0" rIns="0" bIns="0" rtlCol="0" anchor="ctr"/>
          <a:lstStyle/>
          <a:p>
            <a:pPr indent="0" marL="0">
              <a:buNone/>
            </a:pPr>
            <a:r>
              <a:rPr lang="en-US" sz="2000" dirty="0">
                <a:solidFill>
                  <a:srgbClr val="FFFFFF"/>
                </a:solidFill>
                <a:latin typeface="Poppins SemiBold" pitchFamily="34" charset="0"/>
                <a:ea typeface="Poppins SemiBold" pitchFamily="34" charset="-122"/>
                <a:cs typeface="Poppins SemiBold" pitchFamily="34" charset="-120"/>
              </a:rPr>
              <a:t>[Year]</a:t>
            </a:r>
            <a:endParaRPr lang="en-US" sz="2000" dirty="0"/>
          </a:p>
        </p:txBody>
      </p:sp>
      <p:sp>
        <p:nvSpPr>
          <p:cNvPr id="20" name="Shape 17"/>
          <p:cNvSpPr/>
          <p:nvPr/>
        </p:nvSpPr>
        <p:spPr>
          <a:xfrm>
            <a:off x="5370454" y="3017520"/>
            <a:ext cx="1450787" cy="0"/>
          </a:xfrm>
          <a:prstGeom prst="line">
            <a:avLst/>
          </a:prstGeom>
          <a:noFill/>
          <a:ln w="12700">
            <a:solidFill>
              <a:srgbClr val="F9926B"/>
            </a:solidFill>
            <a:prstDash val="solid"/>
          </a:ln>
        </p:spPr>
      </p:sp>
      <p:sp>
        <p:nvSpPr>
          <p:cNvPr id="21" name="Text 18"/>
          <p:cNvSpPr/>
          <p:nvPr/>
        </p:nvSpPr>
        <p:spPr>
          <a:xfrm>
            <a:off x="5352166" y="3154680"/>
            <a:ext cx="1487363" cy="1463040"/>
          </a:xfrm>
          <a:prstGeom prst="rect">
            <a:avLst/>
          </a:prstGeom>
          <a:noFill/>
          <a:ln/>
        </p:spPr>
        <p:txBody>
          <a:bodyPr wrap="square" lIns="0" tIns="0" rIns="0" bIns="0" rtlCol="0" anchor="t"/>
          <a:lstStyle/>
          <a:p>
            <a:pPr indent="0" marL="0">
              <a:lnSpc>
                <a:spcPct val="105000"/>
              </a:lnSpc>
              <a:spcAft>
                <a:spcPts val="600"/>
              </a:spcAft>
              <a:buNone/>
            </a:pPr>
            <a:r>
              <a:rPr lang="en-US" sz="900" dirty="0">
                <a:solidFill>
                  <a:srgbClr val="FFFFFF"/>
                </a:solidFill>
                <a:latin typeface="Poppins" pitchFamily="34" charset="0"/>
                <a:ea typeface="Poppins" pitchFamily="34" charset="-122"/>
                <a:cs typeface="Poppins" pitchFamily="34" charset="-120"/>
              </a:rPr>
              <a:t>[Milestone — TBC]</a:t>
            </a:r>
            <a:endParaRPr lang="en-US" sz="900" dirty="0"/>
          </a:p>
        </p:txBody>
      </p:sp>
      <p:sp>
        <p:nvSpPr>
          <p:cNvPr id="22" name="Shape 19"/>
          <p:cNvSpPr/>
          <p:nvPr/>
        </p:nvSpPr>
        <p:spPr>
          <a:xfrm rot="5400000">
            <a:off x="7127565" y="3401568"/>
            <a:ext cx="146304" cy="146304"/>
          </a:xfrm>
          <a:prstGeom prst="triangle">
            <a:avLst/>
          </a:prstGeom>
          <a:solidFill>
            <a:srgbClr val="9AA3AD"/>
          </a:solidFill>
          <a:ln/>
        </p:spPr>
      </p:sp>
      <p:sp>
        <p:nvSpPr>
          <p:cNvPr id="23" name="Shape 20"/>
          <p:cNvSpPr/>
          <p:nvPr/>
        </p:nvSpPr>
        <p:spPr>
          <a:xfrm>
            <a:off x="7360737" y="2148840"/>
            <a:ext cx="1889699" cy="2651760"/>
          </a:xfrm>
          <a:prstGeom prst="roundRect">
            <a:avLst>
              <a:gd name="adj" fmla="val 3871"/>
            </a:avLst>
          </a:prstGeom>
          <a:solidFill>
            <a:srgbClr val="F35B1A"/>
          </a:solidFill>
          <a:ln/>
          <a:effectLst>
            <a:outerShdw sx="100000" sy="100000" kx="0" ky="0" algn="bl" rotWithShape="0" blurRad="101600" dist="25400" dir="5400000">
              <a:srgbClr val="9AA3AD">
                <a:alpha val="30000"/>
              </a:srgbClr>
            </a:outerShdw>
          </a:effectLst>
        </p:spPr>
      </p:sp>
      <p:sp>
        <p:nvSpPr>
          <p:cNvPr id="24" name="Text 21"/>
          <p:cNvSpPr/>
          <p:nvPr/>
        </p:nvSpPr>
        <p:spPr>
          <a:xfrm>
            <a:off x="7561905" y="2377440"/>
            <a:ext cx="1487363" cy="502920"/>
          </a:xfrm>
          <a:prstGeom prst="rect">
            <a:avLst/>
          </a:prstGeom>
          <a:noFill/>
          <a:ln/>
        </p:spPr>
        <p:txBody>
          <a:bodyPr wrap="square" lIns="0" tIns="0" rIns="0" bIns="0" rtlCol="0" anchor="ctr"/>
          <a:lstStyle/>
          <a:p>
            <a:pPr indent="0" marL="0">
              <a:buNone/>
            </a:pPr>
            <a:r>
              <a:rPr lang="en-US" sz="2000" dirty="0">
                <a:solidFill>
                  <a:srgbClr val="FFFFFF"/>
                </a:solidFill>
                <a:latin typeface="Poppins SemiBold" pitchFamily="34" charset="0"/>
                <a:ea typeface="Poppins SemiBold" pitchFamily="34" charset="-122"/>
                <a:cs typeface="Poppins SemiBold" pitchFamily="34" charset="-120"/>
              </a:rPr>
              <a:t>2025</a:t>
            </a:r>
            <a:endParaRPr lang="en-US" sz="2000" dirty="0"/>
          </a:p>
        </p:txBody>
      </p:sp>
      <p:sp>
        <p:nvSpPr>
          <p:cNvPr id="25" name="Shape 22"/>
          <p:cNvSpPr/>
          <p:nvPr/>
        </p:nvSpPr>
        <p:spPr>
          <a:xfrm>
            <a:off x="7580193" y="3017520"/>
            <a:ext cx="1450787" cy="0"/>
          </a:xfrm>
          <a:prstGeom prst="line">
            <a:avLst/>
          </a:prstGeom>
          <a:noFill/>
          <a:ln w="12700">
            <a:solidFill>
              <a:srgbClr val="F9926B"/>
            </a:solidFill>
            <a:prstDash val="solid"/>
          </a:ln>
        </p:spPr>
      </p:sp>
      <p:sp>
        <p:nvSpPr>
          <p:cNvPr id="26" name="Text 23"/>
          <p:cNvSpPr/>
          <p:nvPr/>
        </p:nvSpPr>
        <p:spPr>
          <a:xfrm>
            <a:off x="7561905" y="3154680"/>
            <a:ext cx="1487363" cy="1463040"/>
          </a:xfrm>
          <a:prstGeom prst="rect">
            <a:avLst/>
          </a:prstGeom>
          <a:noFill/>
          <a:ln/>
        </p:spPr>
        <p:txBody>
          <a:bodyPr wrap="square" lIns="0" tIns="0" rIns="0" bIns="0" rtlCol="0" anchor="t"/>
          <a:lstStyle/>
          <a:p>
            <a:pPr indent="0" marL="0">
              <a:lnSpc>
                <a:spcPct val="105000"/>
              </a:lnSpc>
              <a:spcAft>
                <a:spcPts val="600"/>
              </a:spcAft>
              <a:buNone/>
            </a:pPr>
            <a:r>
              <a:rPr lang="en-US" sz="900" dirty="0">
                <a:solidFill>
                  <a:srgbClr val="FFFFFF"/>
                </a:solidFill>
                <a:latin typeface="Poppins" pitchFamily="34" charset="0"/>
                <a:ea typeface="Poppins" pitchFamily="34" charset="-122"/>
                <a:cs typeface="Poppins" pitchFamily="34" charset="-120"/>
              </a:rPr>
              <a:t>BRL 140 Mn net revenues</a:t>
            </a:r>
            <a:endParaRPr lang="en-US" sz="900" dirty="0"/>
          </a:p>
          <a:p>
            <a:pPr indent="0" marL="0">
              <a:lnSpc>
                <a:spcPct val="105000"/>
              </a:lnSpc>
              <a:spcAft>
                <a:spcPts val="600"/>
              </a:spcAft>
              <a:buNone/>
            </a:pPr>
            <a:r>
              <a:rPr lang="en-US" sz="900" dirty="0">
                <a:solidFill>
                  <a:srgbClr val="FFFFFF"/>
                </a:solidFill>
                <a:latin typeface="Poppins" pitchFamily="34" charset="0"/>
                <a:ea typeface="Poppins" pitchFamily="34" charset="-122"/>
                <a:cs typeface="Poppins" pitchFamily="34" charset="-120"/>
              </a:rPr>
              <a:t>[Milestone — TBC]</a:t>
            </a:r>
            <a:endParaRPr lang="en-US" sz="900" dirty="0"/>
          </a:p>
        </p:txBody>
      </p:sp>
      <p:sp>
        <p:nvSpPr>
          <p:cNvPr id="27" name="Shape 24"/>
          <p:cNvSpPr/>
          <p:nvPr/>
        </p:nvSpPr>
        <p:spPr>
          <a:xfrm rot="5400000">
            <a:off x="9337304" y="3401568"/>
            <a:ext cx="146304" cy="146304"/>
          </a:xfrm>
          <a:prstGeom prst="triangle">
            <a:avLst/>
          </a:prstGeom>
          <a:solidFill>
            <a:srgbClr val="9AA3AD"/>
          </a:solidFill>
          <a:ln/>
        </p:spPr>
      </p:sp>
      <p:sp>
        <p:nvSpPr>
          <p:cNvPr id="28" name="Shape 25"/>
          <p:cNvSpPr/>
          <p:nvPr/>
        </p:nvSpPr>
        <p:spPr>
          <a:xfrm>
            <a:off x="9570476" y="2148840"/>
            <a:ext cx="1889699" cy="2651760"/>
          </a:xfrm>
          <a:prstGeom prst="roundRect">
            <a:avLst>
              <a:gd name="adj" fmla="val 3871"/>
            </a:avLst>
          </a:prstGeom>
          <a:solidFill>
            <a:srgbClr val="141A24"/>
          </a:solidFill>
          <a:ln/>
          <a:effectLst>
            <a:outerShdw sx="100000" sy="100000" kx="0" ky="0" algn="bl" rotWithShape="0" blurRad="101600" dist="25400" dir="5400000">
              <a:srgbClr val="9AA3AD">
                <a:alpha val="30000"/>
              </a:srgbClr>
            </a:outerShdw>
          </a:effectLst>
        </p:spPr>
      </p:sp>
      <p:sp>
        <p:nvSpPr>
          <p:cNvPr id="29" name="Text 26"/>
          <p:cNvSpPr/>
          <p:nvPr/>
        </p:nvSpPr>
        <p:spPr>
          <a:xfrm>
            <a:off x="9771644" y="2377440"/>
            <a:ext cx="1487363" cy="502920"/>
          </a:xfrm>
          <a:prstGeom prst="rect">
            <a:avLst/>
          </a:prstGeom>
          <a:noFill/>
          <a:ln/>
        </p:spPr>
        <p:txBody>
          <a:bodyPr wrap="square" lIns="0" tIns="0" rIns="0" bIns="0" rtlCol="0" anchor="ctr"/>
          <a:lstStyle/>
          <a:p>
            <a:pPr indent="0" marL="0">
              <a:buNone/>
            </a:pPr>
            <a:r>
              <a:rPr lang="en-US" sz="2000" dirty="0">
                <a:solidFill>
                  <a:srgbClr val="FFFFFF"/>
                </a:solidFill>
                <a:latin typeface="Poppins SemiBold" pitchFamily="34" charset="0"/>
                <a:ea typeface="Poppins SemiBold" pitchFamily="34" charset="-122"/>
                <a:cs typeface="Poppins SemiBold" pitchFamily="34" charset="-120"/>
              </a:rPr>
              <a:t>2026E</a:t>
            </a:r>
            <a:endParaRPr lang="en-US" sz="2000" dirty="0"/>
          </a:p>
        </p:txBody>
      </p:sp>
      <p:sp>
        <p:nvSpPr>
          <p:cNvPr id="30" name="Shape 27"/>
          <p:cNvSpPr/>
          <p:nvPr/>
        </p:nvSpPr>
        <p:spPr>
          <a:xfrm>
            <a:off x="9789932" y="3017520"/>
            <a:ext cx="1450787" cy="0"/>
          </a:xfrm>
          <a:prstGeom prst="line">
            <a:avLst/>
          </a:prstGeom>
          <a:noFill/>
          <a:ln w="12700">
            <a:solidFill>
              <a:srgbClr val="323E50"/>
            </a:solidFill>
            <a:prstDash val="solid"/>
          </a:ln>
        </p:spPr>
      </p:sp>
      <p:sp>
        <p:nvSpPr>
          <p:cNvPr id="31" name="Text 28"/>
          <p:cNvSpPr/>
          <p:nvPr/>
        </p:nvSpPr>
        <p:spPr>
          <a:xfrm>
            <a:off x="9771644" y="3154680"/>
            <a:ext cx="1487363" cy="1463040"/>
          </a:xfrm>
          <a:prstGeom prst="rect">
            <a:avLst/>
          </a:prstGeom>
          <a:noFill/>
          <a:ln/>
        </p:spPr>
        <p:txBody>
          <a:bodyPr wrap="square" lIns="0" tIns="0" rIns="0" bIns="0" rtlCol="0" anchor="t"/>
          <a:lstStyle/>
          <a:p>
            <a:pPr indent="0" marL="0">
              <a:lnSpc>
                <a:spcPct val="105000"/>
              </a:lnSpc>
              <a:spcAft>
                <a:spcPts val="600"/>
              </a:spcAft>
              <a:buNone/>
            </a:pPr>
            <a:r>
              <a:rPr lang="en-US" sz="900" dirty="0">
                <a:solidFill>
                  <a:srgbClr val="C7CDD6"/>
                </a:solidFill>
                <a:latin typeface="Poppins" pitchFamily="34" charset="0"/>
                <a:ea typeface="Poppins" pitchFamily="34" charset="-122"/>
                <a:cs typeface="Poppins" pitchFamily="34" charset="-120"/>
              </a:rPr>
              <a:t>Positioned for continued growth</a:t>
            </a:r>
            <a:endParaRPr lang="en-US" sz="900" dirty="0"/>
          </a:p>
        </p:txBody>
      </p:sp>
      <p:sp>
        <p:nvSpPr>
          <p:cNvPr id="32" name="Shape 29"/>
          <p:cNvSpPr/>
          <p:nvPr/>
        </p:nvSpPr>
        <p:spPr>
          <a:xfrm>
            <a:off x="0" y="6172200"/>
            <a:ext cx="12191695" cy="685800"/>
          </a:xfrm>
          <a:prstGeom prst="rect">
            <a:avLst/>
          </a:prstGeom>
          <a:solidFill>
            <a:srgbClr val="141A24"/>
          </a:solidFill>
          <a:ln/>
        </p:spPr>
      </p:sp>
      <p:sp>
        <p:nvSpPr>
          <p:cNvPr id="33" name="Shape 30"/>
          <p:cNvSpPr/>
          <p:nvPr/>
        </p:nvSpPr>
        <p:spPr>
          <a:xfrm>
            <a:off x="0" y="6172200"/>
            <a:ext cx="128016" cy="685800"/>
          </a:xfrm>
          <a:prstGeom prst="rect">
            <a:avLst/>
          </a:prstGeom>
          <a:solidFill>
            <a:srgbClr val="F35B1A"/>
          </a:solidFill>
          <a:ln/>
        </p:spPr>
      </p:sp>
      <p:sp>
        <p:nvSpPr>
          <p:cNvPr id="34" name="Text 31"/>
          <p:cNvSpPr/>
          <p:nvPr/>
        </p:nvSpPr>
        <p:spPr>
          <a:xfrm>
            <a:off x="1828800" y="6172200"/>
            <a:ext cx="8534095" cy="685800"/>
          </a:xfrm>
          <a:prstGeom prst="rect">
            <a:avLst/>
          </a:prstGeom>
          <a:noFill/>
          <a:ln/>
        </p:spPr>
        <p:txBody>
          <a:bodyPr wrap="square" lIns="0" tIns="0" rIns="0" bIns="0" rtlCol="0" anchor="ctr"/>
          <a:lstStyle/>
          <a:p>
            <a:pPr algn="ctr" indent="0" marL="0">
              <a:lnSpc>
                <a:spcPct val="100000"/>
              </a:lnSpc>
              <a:buNone/>
            </a:pPr>
            <a:r>
              <a:rPr lang="en-US" sz="1200" dirty="0">
                <a:solidFill>
                  <a:srgbClr val="E8ECF1"/>
                </a:solidFill>
                <a:latin typeface="Poppins SemiBold" pitchFamily="34" charset="0"/>
                <a:ea typeface="Poppins SemiBold" pitchFamily="34" charset="-122"/>
                <a:cs typeface="Poppins SemiBold" pitchFamily="34" charset="-120"/>
              </a:rPr>
              <a:t>More than </a:t>
            </a:r>
            <a:pPr algn="ctr" indent="0" marL="0">
              <a:lnSpc>
                <a:spcPct val="100000"/>
              </a:lnSpc>
              <a:buNone/>
            </a:pPr>
            <a:r>
              <a:rPr lang="en-US" sz="1200" dirty="0">
                <a:solidFill>
                  <a:srgbClr val="F35B1A"/>
                </a:solidFill>
                <a:latin typeface="Poppins SemiBold" pitchFamily="34" charset="0"/>
                <a:ea typeface="Poppins SemiBold" pitchFamily="34" charset="-122"/>
                <a:cs typeface="Poppins SemiBold" pitchFamily="34" charset="-120"/>
              </a:rPr>
              <a:t>two decades</a:t>
            </a:r>
            <a:pPr algn="ctr" indent="0" marL="0">
              <a:lnSpc>
                <a:spcPct val="100000"/>
              </a:lnSpc>
              <a:buNone/>
            </a:pPr>
            <a:r>
              <a:rPr lang="en-US" sz="1200" dirty="0">
                <a:solidFill>
                  <a:srgbClr val="E8ECF1"/>
                </a:solidFill>
                <a:latin typeface="Poppins SemiBold" pitchFamily="34" charset="0"/>
                <a:ea typeface="Poppins SemiBold" pitchFamily="34" charset="-122"/>
                <a:cs typeface="Poppins SemiBold" pitchFamily="34" charset="-120"/>
              </a:rPr>
              <a:t> of disciplined operation, positioned for its next phase of growth</a:t>
            </a:r>
            <a:endParaRPr lang="en-US" sz="1200" dirty="0"/>
          </a:p>
        </p:txBody>
      </p:sp>
      <p:pic>
        <p:nvPicPr>
          <p:cNvPr id="35" name="Image 1" descr="assets/igc_white.png">    </p:cNvPr>
          <p:cNvPicPr>
            <a:picLocks noChangeAspect="1"/>
          </p:cNvPicPr>
          <p:nvPr/>
        </p:nvPicPr>
        <p:blipFill>
          <a:blip r:embed="rId2"/>
          <a:stretch>
            <a:fillRect/>
          </a:stretch>
        </p:blipFill>
        <p:spPr>
          <a:xfrm>
            <a:off x="731520" y="6382512"/>
            <a:ext cx="292608" cy="252943"/>
          </a:xfrm>
          <a:prstGeom prst="rect">
            <a:avLst/>
          </a:prstGeom>
        </p:spPr>
      </p:pic>
      <p:sp>
        <p:nvSpPr>
          <p:cNvPr id="36" name="Text 32"/>
          <p:cNvSpPr/>
          <p:nvPr/>
        </p:nvSpPr>
        <p:spPr>
          <a:xfrm>
            <a:off x="1115568" y="6377940"/>
            <a:ext cx="2743200" cy="274320"/>
          </a:xfrm>
          <a:prstGeom prst="rect">
            <a:avLst/>
          </a:prstGeom>
          <a:noFill/>
          <a:ln/>
        </p:spPr>
        <p:txBody>
          <a:bodyPr wrap="square" lIns="0" tIns="0" rIns="0" bIns="0" rtlCol="0" anchor="ctr"/>
          <a:lstStyle/>
          <a:p>
            <a:pPr algn="l" indent="0" marL="0">
              <a:buNone/>
            </a:pPr>
            <a:r>
              <a:rPr lang="en-US" sz="900" dirty="0">
                <a:solidFill>
                  <a:srgbClr val="FFFFFF"/>
                </a:solidFill>
                <a:latin typeface="Poppins Medium" pitchFamily="34" charset="0"/>
                <a:ea typeface="Poppins Medium" pitchFamily="34" charset="-122"/>
                <a:cs typeface="Poppins Medium" pitchFamily="34" charset="-120"/>
              </a:rPr>
              <a:t>14</a:t>
            </a:r>
            <a:pPr algn="l" indent="0" marL="0">
              <a:buNone/>
            </a:pPr>
            <a:r>
              <a:rPr lang="en-US" sz="900" dirty="0">
                <a:solidFill>
                  <a:srgbClr val="8B95A5"/>
                </a:solidFill>
                <a:latin typeface="Poppins" pitchFamily="34" charset="0"/>
                <a:ea typeface="Poppins" pitchFamily="34" charset="-122"/>
                <a:cs typeface="Poppins" pitchFamily="34" charset="-120"/>
              </a:rPr>
              <a:t>    Confidential</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assets/mobi_logo_navy.png">    </p:cNvPr>
          <p:cNvPicPr>
            <a:picLocks noChangeAspect="1"/>
          </p:cNvPicPr>
          <p:nvPr/>
        </p:nvPicPr>
        <p:blipFill>
          <a:blip r:embed="rId1"/>
          <a:stretch>
            <a:fillRect/>
          </a:stretch>
        </p:blipFill>
        <p:spPr>
          <a:xfrm>
            <a:off x="10545775" y="329184"/>
            <a:ext cx="914400" cy="292894"/>
          </a:xfrm>
          <a:prstGeom prst="rect">
            <a:avLst/>
          </a:prstGeom>
        </p:spPr>
      </p:pic>
      <p:sp>
        <p:nvSpPr>
          <p:cNvPr id="3" name="Shape 0"/>
          <p:cNvSpPr/>
          <p:nvPr/>
        </p:nvSpPr>
        <p:spPr>
          <a:xfrm>
            <a:off x="731520" y="329184"/>
            <a:ext cx="1472184" cy="329184"/>
          </a:xfrm>
          <a:prstGeom prst="roundRect">
            <a:avLst>
              <a:gd name="adj" fmla="val 25000"/>
            </a:avLst>
          </a:prstGeom>
          <a:solidFill>
            <a:srgbClr val="FDE9DE"/>
          </a:solidFill>
          <a:ln/>
        </p:spPr>
      </p:sp>
      <p:sp>
        <p:nvSpPr>
          <p:cNvPr id="4" name="Text 1"/>
          <p:cNvSpPr/>
          <p:nvPr/>
        </p:nvSpPr>
        <p:spPr>
          <a:xfrm>
            <a:off x="731520" y="329184"/>
            <a:ext cx="1472184" cy="329184"/>
          </a:xfrm>
          <a:prstGeom prst="rect">
            <a:avLst/>
          </a:prstGeom>
          <a:noFill/>
          <a:ln/>
        </p:spPr>
        <p:txBody>
          <a:bodyPr wrap="square" lIns="0" tIns="0" rIns="0" bIns="0" rtlCol="0" anchor="ctr"/>
          <a:lstStyle/>
          <a:p>
            <a:pPr algn="ctr" indent="0" marL="0">
              <a:buNone/>
            </a:pPr>
            <a:r>
              <a:rPr lang="en-US" sz="900" dirty="0">
                <a:solidFill>
                  <a:srgbClr val="C6470F"/>
                </a:solidFill>
                <a:latin typeface="Poppins Medium" pitchFamily="34" charset="0"/>
                <a:ea typeface="Poppins Medium" pitchFamily="34" charset="-122"/>
                <a:cs typeface="Poppins Medium" pitchFamily="34" charset="-120"/>
              </a:rPr>
              <a:t>Company Overview</a:t>
            </a:r>
            <a:endParaRPr lang="en-US" sz="900" dirty="0"/>
          </a:p>
        </p:txBody>
      </p:sp>
      <p:sp>
        <p:nvSpPr>
          <p:cNvPr id="5" name="Text 2"/>
          <p:cNvSpPr/>
          <p:nvPr/>
        </p:nvSpPr>
        <p:spPr>
          <a:xfrm>
            <a:off x="731520" y="731520"/>
            <a:ext cx="10088575" cy="548640"/>
          </a:xfrm>
          <a:prstGeom prst="rect">
            <a:avLst/>
          </a:prstGeom>
          <a:noFill/>
          <a:ln/>
        </p:spPr>
        <p:txBody>
          <a:bodyPr wrap="square" lIns="0" tIns="0" rIns="0" bIns="0" rtlCol="0" anchor="ctr"/>
          <a:lstStyle/>
          <a:p>
            <a:pPr algn="l" indent="0" marL="0">
              <a:buNone/>
            </a:pPr>
            <a:r>
              <a:rPr lang="en-US" sz="1800" dirty="0">
                <a:solidFill>
                  <a:srgbClr val="141A24"/>
                </a:solidFill>
                <a:latin typeface="Poppins SemiBold" pitchFamily="34" charset="0"/>
                <a:ea typeface="Poppins SemiBold" pitchFamily="34" charset="-122"/>
                <a:cs typeface="Poppins SemiBold" pitchFamily="34" charset="-120"/>
              </a:rPr>
              <a:t>Strategically positioned across the Midwest and Southeast</a:t>
            </a:r>
            <a:endParaRPr lang="en-US" sz="1800" dirty="0"/>
          </a:p>
        </p:txBody>
      </p:sp>
      <p:sp>
        <p:nvSpPr>
          <p:cNvPr id="6" name="Text 3"/>
          <p:cNvSpPr/>
          <p:nvPr/>
        </p:nvSpPr>
        <p:spPr>
          <a:xfrm>
            <a:off x="731520" y="1298448"/>
            <a:ext cx="10088575" cy="438912"/>
          </a:xfrm>
          <a:prstGeom prst="rect">
            <a:avLst/>
          </a:prstGeom>
          <a:noFill/>
          <a:ln/>
        </p:spPr>
        <p:txBody>
          <a:bodyPr wrap="square" lIns="0" tIns="0" rIns="0" bIns="0" rtlCol="0" anchor="t"/>
          <a:lstStyle/>
          <a:p>
            <a:pPr algn="l" indent="0" marL="0">
              <a:lnSpc>
                <a:spcPct val="102000"/>
              </a:lnSpc>
              <a:buNone/>
            </a:pPr>
            <a:r>
              <a:rPr lang="en-US" sz="1050" dirty="0">
                <a:solidFill>
                  <a:srgbClr val="6C7683"/>
                </a:solidFill>
                <a:latin typeface="Poppins" pitchFamily="34" charset="0"/>
                <a:ea typeface="Poppins" pitchFamily="34" charset="-122"/>
                <a:cs typeface="Poppins" pitchFamily="34" charset="-120"/>
              </a:rPr>
              <a:t>From its Goiânia headquarters to 10 operational bases across Goiás, the Federal District and Minas Gerais</a:t>
            </a:r>
            <a:endParaRPr lang="en-US" sz="1050" dirty="0"/>
          </a:p>
        </p:txBody>
      </p:sp>
      <p:sp>
        <p:nvSpPr>
          <p:cNvPr id="7" name="Text 4"/>
          <p:cNvSpPr/>
          <p:nvPr/>
        </p:nvSpPr>
        <p:spPr>
          <a:xfrm>
            <a:off x="731520" y="6309360"/>
            <a:ext cx="10362895" cy="219456"/>
          </a:xfrm>
          <a:prstGeom prst="rect">
            <a:avLst/>
          </a:prstGeom>
          <a:noFill/>
          <a:ln/>
        </p:spPr>
        <p:txBody>
          <a:bodyPr wrap="square" lIns="0" tIns="0" rIns="0" bIns="0" rtlCol="0" anchor="ctr"/>
          <a:lstStyle/>
          <a:p>
            <a:pPr algn="l" indent="0" marL="0">
              <a:buNone/>
            </a:pPr>
            <a:r>
              <a:rPr lang="en-US" sz="700" dirty="0">
                <a:solidFill>
                  <a:srgbClr val="9AA3AD"/>
                </a:solidFill>
                <a:latin typeface="Poppins" pitchFamily="34" charset="0"/>
                <a:ea typeface="Poppins" pitchFamily="34" charset="-122"/>
                <a:cs typeface="Poppins" pitchFamily="34" charset="-120"/>
              </a:rPr>
              <a:t>Source: Company; Jan-2026 fleet register.</a:t>
            </a:r>
            <a:endParaRPr lang="en-US" sz="700" dirty="0"/>
          </a:p>
        </p:txBody>
      </p:sp>
      <p:pic>
        <p:nvPicPr>
          <p:cNvPr id="8" name="Image 1" descr="assets/igc_navy.png">    </p:cNvPr>
          <p:cNvPicPr>
            <a:picLocks noChangeAspect="1"/>
          </p:cNvPicPr>
          <p:nvPr/>
        </p:nvPicPr>
        <p:blipFill>
          <a:blip r:embed="rId2"/>
          <a:stretch>
            <a:fillRect/>
          </a:stretch>
        </p:blipFill>
        <p:spPr>
          <a:xfrm>
            <a:off x="731520" y="6492240"/>
            <a:ext cx="292608" cy="252943"/>
          </a:xfrm>
          <a:prstGeom prst="rect">
            <a:avLst/>
          </a:prstGeom>
        </p:spPr>
      </p:pic>
      <p:sp>
        <p:nvSpPr>
          <p:cNvPr id="9" name="Text 5"/>
          <p:cNvSpPr/>
          <p:nvPr/>
        </p:nvSpPr>
        <p:spPr>
          <a:xfrm>
            <a:off x="1115568" y="6510528"/>
            <a:ext cx="2743200" cy="274320"/>
          </a:xfrm>
          <a:prstGeom prst="rect">
            <a:avLst/>
          </a:prstGeom>
          <a:noFill/>
          <a:ln/>
        </p:spPr>
        <p:txBody>
          <a:bodyPr wrap="square" lIns="0" tIns="0" rIns="0" bIns="0" rtlCol="0" anchor="ctr"/>
          <a:lstStyle/>
          <a:p>
            <a:pPr algn="l" indent="0" marL="0">
              <a:buNone/>
            </a:pPr>
            <a:r>
              <a:rPr lang="en-US" sz="900" dirty="0">
                <a:solidFill>
                  <a:srgbClr val="2B333E"/>
                </a:solidFill>
                <a:latin typeface="Poppins Medium" pitchFamily="34" charset="0"/>
                <a:ea typeface="Poppins Medium" pitchFamily="34" charset="-122"/>
                <a:cs typeface="Poppins Medium" pitchFamily="34" charset="-120"/>
              </a:rPr>
              <a:t>15</a:t>
            </a:r>
            <a:pPr algn="l" indent="0" marL="0">
              <a:buNone/>
            </a:pPr>
            <a:r>
              <a:rPr lang="en-US" sz="900" dirty="0">
                <a:solidFill>
                  <a:srgbClr val="9AA3AD"/>
                </a:solidFill>
                <a:latin typeface="Poppins" pitchFamily="34" charset="0"/>
                <a:ea typeface="Poppins" pitchFamily="34" charset="-122"/>
                <a:cs typeface="Poppins" pitchFamily="34" charset="-120"/>
              </a:rPr>
              <a:t>    Confidential</a:t>
            </a:r>
            <a:endParaRPr lang="en-US" sz="900" dirty="0"/>
          </a:p>
        </p:txBody>
      </p:sp>
      <p:pic>
        <p:nvPicPr>
          <p:cNvPr id="10" name="Image 2" descr="assets/brazil_map.png">    </p:cNvPr>
          <p:cNvPicPr>
            <a:picLocks noChangeAspect="1"/>
          </p:cNvPicPr>
          <p:nvPr/>
        </p:nvPicPr>
        <p:blipFill>
          <a:blip r:embed="rId3"/>
          <a:stretch>
            <a:fillRect/>
          </a:stretch>
        </p:blipFill>
        <p:spPr>
          <a:xfrm>
            <a:off x="640080" y="1874520"/>
            <a:ext cx="3505687" cy="3291840"/>
          </a:xfrm>
          <a:prstGeom prst="rect">
            <a:avLst/>
          </a:prstGeom>
        </p:spPr>
      </p:pic>
      <p:sp>
        <p:nvSpPr>
          <p:cNvPr id="11" name="Shape 6"/>
          <p:cNvSpPr/>
          <p:nvPr/>
        </p:nvSpPr>
        <p:spPr>
          <a:xfrm>
            <a:off x="868680" y="5257800"/>
            <a:ext cx="182880" cy="182880"/>
          </a:xfrm>
          <a:prstGeom prst="rect">
            <a:avLst/>
          </a:prstGeom>
          <a:solidFill>
            <a:srgbClr val="F35B1A"/>
          </a:solidFill>
          <a:ln/>
        </p:spPr>
      </p:sp>
      <p:sp>
        <p:nvSpPr>
          <p:cNvPr id="12" name="Text 7"/>
          <p:cNvSpPr/>
          <p:nvPr/>
        </p:nvSpPr>
        <p:spPr>
          <a:xfrm>
            <a:off x="1143000" y="5202936"/>
            <a:ext cx="3200400" cy="292608"/>
          </a:xfrm>
          <a:prstGeom prst="rect">
            <a:avLst/>
          </a:prstGeom>
          <a:noFill/>
          <a:ln/>
        </p:spPr>
        <p:txBody>
          <a:bodyPr wrap="square" lIns="0" tIns="0" rIns="0" bIns="0" rtlCol="0" anchor="ctr"/>
          <a:lstStyle/>
          <a:p>
            <a:pPr indent="0" marL="0">
              <a:buNone/>
            </a:pPr>
            <a:r>
              <a:rPr lang="en-US" sz="900" dirty="0">
                <a:solidFill>
                  <a:srgbClr val="6C7683"/>
                </a:solidFill>
                <a:latin typeface="Poppins" pitchFamily="34" charset="0"/>
                <a:ea typeface="Poppins" pitchFamily="34" charset="-122"/>
                <a:cs typeface="Poppins" pitchFamily="34" charset="-120"/>
              </a:rPr>
              <a:t>States with operational bases</a:t>
            </a:r>
            <a:endParaRPr lang="en-US" sz="900" dirty="0"/>
          </a:p>
        </p:txBody>
      </p:sp>
      <p:sp>
        <p:nvSpPr>
          <p:cNvPr id="13" name="Shape 8"/>
          <p:cNvSpPr/>
          <p:nvPr/>
        </p:nvSpPr>
        <p:spPr>
          <a:xfrm>
            <a:off x="4846320" y="1828800"/>
            <a:ext cx="6613855" cy="914400"/>
          </a:xfrm>
          <a:prstGeom prst="roundRect">
            <a:avLst>
              <a:gd name="adj" fmla="val 10000"/>
            </a:avLst>
          </a:prstGeom>
          <a:solidFill>
            <a:srgbClr val="141A24"/>
          </a:solidFill>
          <a:ln/>
          <a:effectLst>
            <a:outerShdw sx="100000" sy="100000" kx="0" ky="0" algn="bl" rotWithShape="0" blurRad="101600" dist="25400" dir="5400000">
              <a:srgbClr val="9AA3AD">
                <a:alpha val="30000"/>
              </a:srgbClr>
            </a:outerShdw>
          </a:effectLst>
        </p:spPr>
      </p:sp>
      <p:sp>
        <p:nvSpPr>
          <p:cNvPr id="14" name="Shape 9"/>
          <p:cNvSpPr/>
          <p:nvPr/>
        </p:nvSpPr>
        <p:spPr>
          <a:xfrm>
            <a:off x="4846320" y="1828800"/>
            <a:ext cx="109728" cy="914400"/>
          </a:xfrm>
          <a:prstGeom prst="rect">
            <a:avLst/>
          </a:prstGeom>
          <a:solidFill>
            <a:srgbClr val="F35B1A"/>
          </a:solidFill>
          <a:ln/>
        </p:spPr>
      </p:sp>
      <p:sp>
        <p:nvSpPr>
          <p:cNvPr id="15" name="Shape 10"/>
          <p:cNvSpPr/>
          <p:nvPr/>
        </p:nvSpPr>
        <p:spPr>
          <a:xfrm>
            <a:off x="5102352" y="2011680"/>
            <a:ext cx="512064" cy="512064"/>
          </a:xfrm>
          <a:prstGeom prst="ellipse">
            <a:avLst/>
          </a:prstGeom>
          <a:solidFill>
            <a:srgbClr val="1F2734"/>
          </a:solidFill>
          <a:ln/>
        </p:spPr>
      </p:sp>
      <p:pic>
        <p:nvPicPr>
          <p:cNvPr id="16" name="Image 3" descr="assets/icons/home_orange.png">    </p:cNvPr>
          <p:cNvPicPr>
            <a:picLocks noChangeAspect="1"/>
          </p:cNvPicPr>
          <p:nvPr/>
        </p:nvPicPr>
        <p:blipFill>
          <a:blip r:embed="rId4"/>
          <a:stretch>
            <a:fillRect/>
          </a:stretch>
        </p:blipFill>
        <p:spPr>
          <a:xfrm>
            <a:off x="5240609" y="2149937"/>
            <a:ext cx="235549" cy="235549"/>
          </a:xfrm>
          <a:prstGeom prst="rect">
            <a:avLst/>
          </a:prstGeom>
        </p:spPr>
      </p:pic>
      <p:sp>
        <p:nvSpPr>
          <p:cNvPr id="17" name="Text 11"/>
          <p:cNvSpPr/>
          <p:nvPr/>
        </p:nvSpPr>
        <p:spPr>
          <a:xfrm>
            <a:off x="5779008" y="1956816"/>
            <a:ext cx="5470855" cy="292608"/>
          </a:xfrm>
          <a:prstGeom prst="rect">
            <a:avLst/>
          </a:prstGeom>
          <a:noFill/>
          <a:ln/>
        </p:spPr>
        <p:txBody>
          <a:bodyPr wrap="square" lIns="0" tIns="0" rIns="0" bIns="0" rtlCol="0" anchor="t"/>
          <a:lstStyle/>
          <a:p>
            <a:pPr indent="0" marL="0">
              <a:buNone/>
            </a:pPr>
            <a:r>
              <a:rPr lang="en-US" sz="1400" dirty="0">
                <a:solidFill>
                  <a:srgbClr val="FFFFFF"/>
                </a:solidFill>
                <a:latin typeface="Poppins SemiBold" pitchFamily="34" charset="0"/>
                <a:ea typeface="Poppins SemiBold" pitchFamily="34" charset="-122"/>
                <a:cs typeface="Poppins SemiBold" pitchFamily="34" charset="-120"/>
              </a:rPr>
              <a:t>Headquarters — Goiânia, GO</a:t>
            </a:r>
            <a:endParaRPr lang="en-US" sz="1400" dirty="0"/>
          </a:p>
        </p:txBody>
      </p:sp>
      <p:sp>
        <p:nvSpPr>
          <p:cNvPr id="18" name="Text 12"/>
          <p:cNvSpPr/>
          <p:nvPr/>
        </p:nvSpPr>
        <p:spPr>
          <a:xfrm>
            <a:off x="5779008" y="2249424"/>
            <a:ext cx="5470855" cy="457200"/>
          </a:xfrm>
          <a:prstGeom prst="rect">
            <a:avLst/>
          </a:prstGeom>
          <a:noFill/>
          <a:ln/>
        </p:spPr>
        <p:txBody>
          <a:bodyPr wrap="square" lIns="0" tIns="0" rIns="0" bIns="0" rtlCol="0" anchor="t"/>
          <a:lstStyle/>
          <a:p>
            <a:pPr indent="0" marL="0">
              <a:lnSpc>
                <a:spcPct val="100000"/>
              </a:lnSpc>
              <a:buNone/>
            </a:pPr>
            <a:r>
              <a:rPr lang="en-US" sz="900" dirty="0">
                <a:solidFill>
                  <a:srgbClr val="AEB6C2"/>
                </a:solidFill>
                <a:latin typeface="Poppins" pitchFamily="34" charset="0"/>
                <a:ea typeface="Poppins" pitchFamily="34" charset="-122"/>
                <a:cs typeface="Poppins" pitchFamily="34" charset="-120"/>
              </a:rPr>
              <a:t>Corporate HQ (Garagem Central) centralizing fleet management, monitoring infrastructure and administration</a:t>
            </a:r>
            <a:endParaRPr lang="en-US" sz="900" dirty="0"/>
          </a:p>
        </p:txBody>
      </p:sp>
      <p:sp>
        <p:nvSpPr>
          <p:cNvPr id="19" name="Text 13"/>
          <p:cNvSpPr/>
          <p:nvPr/>
        </p:nvSpPr>
        <p:spPr>
          <a:xfrm>
            <a:off x="4846320" y="2889504"/>
            <a:ext cx="6613855" cy="237744"/>
          </a:xfrm>
          <a:prstGeom prst="rect">
            <a:avLst/>
          </a:prstGeom>
          <a:noFill/>
          <a:ln/>
        </p:spPr>
        <p:txBody>
          <a:bodyPr wrap="square" lIns="0" tIns="0" rIns="0" bIns="0" rtlCol="0" anchor="ctr"/>
          <a:lstStyle/>
          <a:p>
            <a:pPr indent="0" marL="0">
              <a:buNone/>
            </a:pPr>
            <a:r>
              <a:rPr lang="en-US" sz="900" spc="150" kern="0" dirty="0">
                <a:solidFill>
                  <a:srgbClr val="F35B1A"/>
                </a:solidFill>
                <a:latin typeface="Poppins SemiBold" pitchFamily="34" charset="0"/>
                <a:ea typeface="Poppins SemiBold" pitchFamily="34" charset="-122"/>
                <a:cs typeface="Poppins SemiBold" pitchFamily="34" charset="-120"/>
              </a:rPr>
              <a:t>10 ACTIVE OPERATIONAL BASES</a:t>
            </a:r>
            <a:endParaRPr lang="en-US" sz="900" dirty="0"/>
          </a:p>
        </p:txBody>
      </p:sp>
      <p:sp>
        <p:nvSpPr>
          <p:cNvPr id="20" name="Shape 14"/>
          <p:cNvSpPr/>
          <p:nvPr/>
        </p:nvSpPr>
        <p:spPr>
          <a:xfrm>
            <a:off x="4846320" y="3182112"/>
            <a:ext cx="384048" cy="384048"/>
          </a:xfrm>
          <a:prstGeom prst="ellipse">
            <a:avLst/>
          </a:prstGeom>
          <a:solidFill>
            <a:srgbClr val="FDE9DE"/>
          </a:solidFill>
          <a:ln/>
        </p:spPr>
      </p:sp>
      <p:pic>
        <p:nvPicPr>
          <p:cNvPr id="21" name="Image 4" descr="assets/icons/mappin_orange.png">    </p:cNvPr>
          <p:cNvPicPr>
            <a:picLocks noChangeAspect="1"/>
          </p:cNvPicPr>
          <p:nvPr/>
        </p:nvPicPr>
        <p:blipFill>
          <a:blip r:embed="rId5"/>
          <a:stretch>
            <a:fillRect/>
          </a:stretch>
        </p:blipFill>
        <p:spPr>
          <a:xfrm>
            <a:off x="4950013" y="3285805"/>
            <a:ext cx="176662" cy="176662"/>
          </a:xfrm>
          <a:prstGeom prst="rect">
            <a:avLst/>
          </a:prstGeom>
        </p:spPr>
      </p:pic>
      <p:sp>
        <p:nvSpPr>
          <p:cNvPr id="22" name="Text 15"/>
          <p:cNvSpPr/>
          <p:nvPr/>
        </p:nvSpPr>
        <p:spPr>
          <a:xfrm>
            <a:off x="5394960" y="3127248"/>
            <a:ext cx="6065215" cy="274320"/>
          </a:xfrm>
          <a:prstGeom prst="rect">
            <a:avLst/>
          </a:prstGeom>
          <a:noFill/>
          <a:ln/>
        </p:spPr>
        <p:txBody>
          <a:bodyPr wrap="square" lIns="0" tIns="0" rIns="0" bIns="0" rtlCol="0" anchor="t"/>
          <a:lstStyle/>
          <a:p>
            <a:pPr indent="0" marL="0">
              <a:buNone/>
            </a:pPr>
            <a:r>
              <a:rPr lang="en-US" sz="1100" dirty="0">
                <a:solidFill>
                  <a:srgbClr val="141A24"/>
                </a:solidFill>
                <a:latin typeface="Poppins SemiBold" pitchFamily="34" charset="0"/>
                <a:ea typeface="Poppins SemiBold" pitchFamily="34" charset="-122"/>
                <a:cs typeface="Poppins SemiBold" pitchFamily="34" charset="-120"/>
              </a:rPr>
              <a:t>Anápolis – GO</a:t>
            </a:r>
            <a:endParaRPr lang="en-US" sz="1100" dirty="0"/>
          </a:p>
        </p:txBody>
      </p:sp>
      <p:sp>
        <p:nvSpPr>
          <p:cNvPr id="23" name="Text 16"/>
          <p:cNvSpPr/>
          <p:nvPr/>
        </p:nvSpPr>
        <p:spPr>
          <a:xfrm>
            <a:off x="5394960" y="3401568"/>
            <a:ext cx="6065215" cy="329184"/>
          </a:xfrm>
          <a:prstGeom prst="rect">
            <a:avLst/>
          </a:prstGeom>
          <a:noFill/>
          <a:ln/>
        </p:spPr>
        <p:txBody>
          <a:bodyPr wrap="square" lIns="0" tIns="0" rIns="0" bIns="0" rtlCol="0" anchor="t"/>
          <a:lstStyle/>
          <a:p>
            <a:pPr indent="0" marL="0">
              <a:lnSpc>
                <a:spcPct val="98000"/>
              </a:lnSpc>
              <a:buNone/>
            </a:pPr>
            <a:r>
              <a:rPr lang="en-US" sz="800" dirty="0">
                <a:solidFill>
                  <a:srgbClr val="6C7683"/>
                </a:solidFill>
                <a:latin typeface="Poppins" pitchFamily="34" charset="0"/>
                <a:ea typeface="Poppins" pitchFamily="34" charset="-122"/>
                <a:cs typeface="Poppins" pitchFamily="34" charset="-120"/>
              </a:rPr>
              <a:t>Largest base outside HQ, supporting fleet availability across the Goiás corridor</a:t>
            </a:r>
            <a:endParaRPr lang="en-US" sz="800" dirty="0"/>
          </a:p>
        </p:txBody>
      </p:sp>
      <p:sp>
        <p:nvSpPr>
          <p:cNvPr id="24" name="Shape 17"/>
          <p:cNvSpPr/>
          <p:nvPr/>
        </p:nvSpPr>
        <p:spPr>
          <a:xfrm>
            <a:off x="4846320" y="3785616"/>
            <a:ext cx="384048" cy="384048"/>
          </a:xfrm>
          <a:prstGeom prst="ellipse">
            <a:avLst/>
          </a:prstGeom>
          <a:solidFill>
            <a:srgbClr val="FDE9DE"/>
          </a:solidFill>
          <a:ln/>
        </p:spPr>
      </p:sp>
      <p:pic>
        <p:nvPicPr>
          <p:cNvPr id="25" name="Image 5" descr="assets/icons/mappin_orange.png">    </p:cNvPr>
          <p:cNvPicPr>
            <a:picLocks noChangeAspect="1"/>
          </p:cNvPicPr>
          <p:nvPr/>
        </p:nvPicPr>
        <p:blipFill>
          <a:blip r:embed="rId6"/>
          <a:stretch>
            <a:fillRect/>
          </a:stretch>
        </p:blipFill>
        <p:spPr>
          <a:xfrm>
            <a:off x="4950013" y="3889309"/>
            <a:ext cx="176662" cy="176662"/>
          </a:xfrm>
          <a:prstGeom prst="rect">
            <a:avLst/>
          </a:prstGeom>
        </p:spPr>
      </p:pic>
      <p:sp>
        <p:nvSpPr>
          <p:cNvPr id="26" name="Text 18"/>
          <p:cNvSpPr/>
          <p:nvPr/>
        </p:nvSpPr>
        <p:spPr>
          <a:xfrm>
            <a:off x="5394960" y="3730752"/>
            <a:ext cx="6065215" cy="274320"/>
          </a:xfrm>
          <a:prstGeom prst="rect">
            <a:avLst/>
          </a:prstGeom>
          <a:noFill/>
          <a:ln/>
        </p:spPr>
        <p:txBody>
          <a:bodyPr wrap="square" lIns="0" tIns="0" rIns="0" bIns="0" rtlCol="0" anchor="t"/>
          <a:lstStyle/>
          <a:p>
            <a:pPr indent="0" marL="0">
              <a:buNone/>
            </a:pPr>
            <a:r>
              <a:rPr lang="en-US" sz="1100" dirty="0">
                <a:solidFill>
                  <a:srgbClr val="141A24"/>
                </a:solidFill>
                <a:latin typeface="Poppins SemiBold" pitchFamily="34" charset="0"/>
                <a:ea typeface="Poppins SemiBold" pitchFamily="34" charset="-122"/>
                <a:cs typeface="Poppins SemiBold" pitchFamily="34" charset="-120"/>
              </a:rPr>
              <a:t>Brasília – DF</a:t>
            </a:r>
            <a:endParaRPr lang="en-US" sz="1100" dirty="0"/>
          </a:p>
        </p:txBody>
      </p:sp>
      <p:sp>
        <p:nvSpPr>
          <p:cNvPr id="27" name="Text 19"/>
          <p:cNvSpPr/>
          <p:nvPr/>
        </p:nvSpPr>
        <p:spPr>
          <a:xfrm>
            <a:off x="5394960" y="4005072"/>
            <a:ext cx="6065215" cy="329184"/>
          </a:xfrm>
          <a:prstGeom prst="rect">
            <a:avLst/>
          </a:prstGeom>
          <a:noFill/>
          <a:ln/>
        </p:spPr>
        <p:txBody>
          <a:bodyPr wrap="square" lIns="0" tIns="0" rIns="0" bIns="0" rtlCol="0" anchor="t"/>
          <a:lstStyle/>
          <a:p>
            <a:pPr indent="0" marL="0">
              <a:lnSpc>
                <a:spcPct val="98000"/>
              </a:lnSpc>
              <a:buNone/>
            </a:pPr>
            <a:r>
              <a:rPr lang="en-US" sz="800" dirty="0">
                <a:solidFill>
                  <a:srgbClr val="6C7683"/>
                </a:solidFill>
                <a:latin typeface="Poppins" pitchFamily="34" charset="0"/>
                <a:ea typeface="Poppins" pitchFamily="34" charset="-122"/>
                <a:cs typeface="Poppins" pitchFamily="34" charset="-120"/>
              </a:rPr>
              <a:t>Garagem BSB supporting operations across the Federal District</a:t>
            </a:r>
            <a:endParaRPr lang="en-US" sz="800" dirty="0"/>
          </a:p>
        </p:txBody>
      </p:sp>
      <p:sp>
        <p:nvSpPr>
          <p:cNvPr id="28" name="Shape 20"/>
          <p:cNvSpPr/>
          <p:nvPr/>
        </p:nvSpPr>
        <p:spPr>
          <a:xfrm>
            <a:off x="4846320" y="4389120"/>
            <a:ext cx="384048" cy="384048"/>
          </a:xfrm>
          <a:prstGeom prst="ellipse">
            <a:avLst/>
          </a:prstGeom>
          <a:solidFill>
            <a:srgbClr val="FDE9DE"/>
          </a:solidFill>
          <a:ln/>
        </p:spPr>
      </p:sp>
      <p:pic>
        <p:nvPicPr>
          <p:cNvPr id="29" name="Image 6" descr="assets/icons/mappin_orange.png">    </p:cNvPr>
          <p:cNvPicPr>
            <a:picLocks noChangeAspect="1"/>
          </p:cNvPicPr>
          <p:nvPr/>
        </p:nvPicPr>
        <p:blipFill>
          <a:blip r:embed="rId7"/>
          <a:stretch>
            <a:fillRect/>
          </a:stretch>
        </p:blipFill>
        <p:spPr>
          <a:xfrm>
            <a:off x="4950013" y="4492813"/>
            <a:ext cx="176662" cy="176662"/>
          </a:xfrm>
          <a:prstGeom prst="rect">
            <a:avLst/>
          </a:prstGeom>
        </p:spPr>
      </p:pic>
      <p:sp>
        <p:nvSpPr>
          <p:cNvPr id="30" name="Text 21"/>
          <p:cNvSpPr/>
          <p:nvPr/>
        </p:nvSpPr>
        <p:spPr>
          <a:xfrm>
            <a:off x="5394960" y="4334256"/>
            <a:ext cx="6065215" cy="274320"/>
          </a:xfrm>
          <a:prstGeom prst="rect">
            <a:avLst/>
          </a:prstGeom>
          <a:noFill/>
          <a:ln/>
        </p:spPr>
        <p:txBody>
          <a:bodyPr wrap="square" lIns="0" tIns="0" rIns="0" bIns="0" rtlCol="0" anchor="t"/>
          <a:lstStyle/>
          <a:p>
            <a:pPr indent="0" marL="0">
              <a:buNone/>
            </a:pPr>
            <a:r>
              <a:rPr lang="en-US" sz="1100" dirty="0">
                <a:solidFill>
                  <a:srgbClr val="141A24"/>
                </a:solidFill>
                <a:latin typeface="Poppins SemiBold" pitchFamily="34" charset="0"/>
                <a:ea typeface="Poppins SemiBold" pitchFamily="34" charset="-122"/>
                <a:cs typeface="Poppins SemiBold" pitchFamily="34" charset="-120"/>
              </a:rPr>
              <a:t>Senador Canedo – GO</a:t>
            </a:r>
            <a:endParaRPr lang="en-US" sz="1100" dirty="0"/>
          </a:p>
        </p:txBody>
      </p:sp>
      <p:sp>
        <p:nvSpPr>
          <p:cNvPr id="31" name="Text 22"/>
          <p:cNvSpPr/>
          <p:nvPr/>
        </p:nvSpPr>
        <p:spPr>
          <a:xfrm>
            <a:off x="5394960" y="4608576"/>
            <a:ext cx="6065215" cy="329184"/>
          </a:xfrm>
          <a:prstGeom prst="rect">
            <a:avLst/>
          </a:prstGeom>
          <a:noFill/>
          <a:ln/>
        </p:spPr>
        <p:txBody>
          <a:bodyPr wrap="square" lIns="0" tIns="0" rIns="0" bIns="0" rtlCol="0" anchor="t"/>
          <a:lstStyle/>
          <a:p>
            <a:pPr indent="0" marL="0">
              <a:lnSpc>
                <a:spcPct val="98000"/>
              </a:lnSpc>
              <a:buNone/>
            </a:pPr>
            <a:r>
              <a:rPr lang="en-US" sz="800" dirty="0">
                <a:solidFill>
                  <a:srgbClr val="6C7683"/>
                </a:solidFill>
                <a:latin typeface="Poppins" pitchFamily="34" charset="0"/>
                <a:ea typeface="Poppins" pitchFamily="34" charset="-122"/>
                <a:cs typeface="Poppins" pitchFamily="34" charset="-120"/>
              </a:rPr>
              <a:t>Support base close to client sites, enabling faster response times</a:t>
            </a:r>
            <a:endParaRPr lang="en-US" sz="800" dirty="0"/>
          </a:p>
        </p:txBody>
      </p:sp>
      <p:sp>
        <p:nvSpPr>
          <p:cNvPr id="32" name="Shape 23"/>
          <p:cNvSpPr/>
          <p:nvPr/>
        </p:nvSpPr>
        <p:spPr>
          <a:xfrm>
            <a:off x="4846320" y="4992624"/>
            <a:ext cx="384048" cy="384048"/>
          </a:xfrm>
          <a:prstGeom prst="ellipse">
            <a:avLst/>
          </a:prstGeom>
          <a:solidFill>
            <a:srgbClr val="FDE9DE"/>
          </a:solidFill>
          <a:ln/>
        </p:spPr>
      </p:sp>
      <p:pic>
        <p:nvPicPr>
          <p:cNvPr id="33" name="Image 7" descr="assets/icons/mappin_orange.png">    </p:cNvPr>
          <p:cNvPicPr>
            <a:picLocks noChangeAspect="1"/>
          </p:cNvPicPr>
          <p:nvPr/>
        </p:nvPicPr>
        <p:blipFill>
          <a:blip r:embed="rId8"/>
          <a:stretch>
            <a:fillRect/>
          </a:stretch>
        </p:blipFill>
        <p:spPr>
          <a:xfrm>
            <a:off x="4950013" y="5096317"/>
            <a:ext cx="176662" cy="176662"/>
          </a:xfrm>
          <a:prstGeom prst="rect">
            <a:avLst/>
          </a:prstGeom>
        </p:spPr>
      </p:pic>
      <p:sp>
        <p:nvSpPr>
          <p:cNvPr id="34" name="Text 24"/>
          <p:cNvSpPr/>
          <p:nvPr/>
        </p:nvSpPr>
        <p:spPr>
          <a:xfrm>
            <a:off x="5394960" y="4937760"/>
            <a:ext cx="6065215" cy="274320"/>
          </a:xfrm>
          <a:prstGeom prst="rect">
            <a:avLst/>
          </a:prstGeom>
          <a:noFill/>
          <a:ln/>
        </p:spPr>
        <p:txBody>
          <a:bodyPr wrap="square" lIns="0" tIns="0" rIns="0" bIns="0" rtlCol="0" anchor="t"/>
          <a:lstStyle/>
          <a:p>
            <a:pPr indent="0" marL="0">
              <a:buNone/>
            </a:pPr>
            <a:r>
              <a:rPr lang="en-US" sz="1100" dirty="0">
                <a:solidFill>
                  <a:srgbClr val="141A24"/>
                </a:solidFill>
                <a:latin typeface="Poppins SemiBold" pitchFamily="34" charset="0"/>
                <a:ea typeface="Poppins SemiBold" pitchFamily="34" charset="-122"/>
                <a:cs typeface="Poppins SemiBold" pitchFamily="34" charset="-120"/>
              </a:rPr>
              <a:t>Uberlândia – MG</a:t>
            </a:r>
            <a:endParaRPr lang="en-US" sz="1100" dirty="0"/>
          </a:p>
        </p:txBody>
      </p:sp>
      <p:sp>
        <p:nvSpPr>
          <p:cNvPr id="35" name="Text 25"/>
          <p:cNvSpPr/>
          <p:nvPr/>
        </p:nvSpPr>
        <p:spPr>
          <a:xfrm>
            <a:off x="5394960" y="5212080"/>
            <a:ext cx="6065215" cy="329184"/>
          </a:xfrm>
          <a:prstGeom prst="rect">
            <a:avLst/>
          </a:prstGeom>
          <a:noFill/>
          <a:ln/>
        </p:spPr>
        <p:txBody>
          <a:bodyPr wrap="square" lIns="0" tIns="0" rIns="0" bIns="0" rtlCol="0" anchor="t"/>
          <a:lstStyle/>
          <a:p>
            <a:pPr indent="0" marL="0">
              <a:lnSpc>
                <a:spcPct val="98000"/>
              </a:lnSpc>
              <a:buNone/>
            </a:pPr>
            <a:r>
              <a:rPr lang="en-US" sz="800" dirty="0">
                <a:solidFill>
                  <a:srgbClr val="6C7683"/>
                </a:solidFill>
                <a:latin typeface="Poppins" pitchFamily="34" charset="0"/>
                <a:ea typeface="Poppins" pitchFamily="34" charset="-122"/>
                <a:cs typeface="Poppins" pitchFamily="34" charset="-120"/>
              </a:rPr>
              <a:t>Serving the Triângulo Mineiro region with strong execution oversight</a:t>
            </a:r>
            <a:endParaRPr lang="en-US" sz="800" dirty="0"/>
          </a:p>
        </p:txBody>
      </p:sp>
      <p:sp>
        <p:nvSpPr>
          <p:cNvPr id="36" name="Text 26"/>
          <p:cNvSpPr/>
          <p:nvPr/>
        </p:nvSpPr>
        <p:spPr>
          <a:xfrm>
            <a:off x="914400" y="5532120"/>
            <a:ext cx="2407844" cy="384048"/>
          </a:xfrm>
          <a:prstGeom prst="rect">
            <a:avLst/>
          </a:prstGeom>
          <a:noFill/>
          <a:ln/>
        </p:spPr>
        <p:txBody>
          <a:bodyPr wrap="square" lIns="0" tIns="0" rIns="0" bIns="0" rtlCol="0" anchor="b"/>
          <a:lstStyle/>
          <a:p>
            <a:pPr indent="0" marL="0">
              <a:buNone/>
            </a:pPr>
            <a:r>
              <a:rPr lang="en-US" sz="2000" dirty="0">
                <a:solidFill>
                  <a:srgbClr val="F35B1A"/>
                </a:solidFill>
                <a:latin typeface="Poppins SemiBold" pitchFamily="34" charset="0"/>
                <a:ea typeface="Poppins SemiBold" pitchFamily="34" charset="-122"/>
                <a:cs typeface="Poppins SemiBold" pitchFamily="34" charset="-120"/>
              </a:rPr>
              <a:t>1</a:t>
            </a:r>
            <a:endParaRPr lang="en-US" sz="2000" dirty="0"/>
          </a:p>
        </p:txBody>
      </p:sp>
      <p:sp>
        <p:nvSpPr>
          <p:cNvPr id="37" name="Text 27"/>
          <p:cNvSpPr/>
          <p:nvPr/>
        </p:nvSpPr>
        <p:spPr>
          <a:xfrm>
            <a:off x="914400" y="5934456"/>
            <a:ext cx="2407844" cy="237744"/>
          </a:xfrm>
          <a:prstGeom prst="rect">
            <a:avLst/>
          </a:prstGeom>
          <a:noFill/>
          <a:ln/>
        </p:spPr>
        <p:txBody>
          <a:bodyPr wrap="square" lIns="0" tIns="0" rIns="0" bIns="0" rtlCol="0" anchor="t"/>
          <a:lstStyle/>
          <a:p>
            <a:pPr indent="0" marL="0">
              <a:buNone/>
            </a:pPr>
            <a:r>
              <a:rPr lang="en-US" sz="900" dirty="0">
                <a:solidFill>
                  <a:srgbClr val="6C7683"/>
                </a:solidFill>
                <a:latin typeface="Poppins" pitchFamily="34" charset="0"/>
                <a:ea typeface="Poppins" pitchFamily="34" charset="-122"/>
                <a:cs typeface="Poppins" pitchFamily="34" charset="-120"/>
              </a:rPr>
              <a:t>Headquarters</a:t>
            </a:r>
            <a:endParaRPr lang="en-US" sz="900" dirty="0"/>
          </a:p>
        </p:txBody>
      </p:sp>
      <p:sp>
        <p:nvSpPr>
          <p:cNvPr id="38" name="Shape 28"/>
          <p:cNvSpPr/>
          <p:nvPr/>
        </p:nvSpPr>
        <p:spPr>
          <a:xfrm>
            <a:off x="3413684" y="5577840"/>
            <a:ext cx="0" cy="502920"/>
          </a:xfrm>
          <a:prstGeom prst="line">
            <a:avLst/>
          </a:prstGeom>
          <a:noFill/>
          <a:ln w="12700">
            <a:solidFill>
              <a:srgbClr val="E2E6EB"/>
            </a:solidFill>
            <a:prstDash val="solid"/>
          </a:ln>
        </p:spPr>
      </p:sp>
      <p:sp>
        <p:nvSpPr>
          <p:cNvPr id="39" name="Text 29"/>
          <p:cNvSpPr/>
          <p:nvPr/>
        </p:nvSpPr>
        <p:spPr>
          <a:xfrm>
            <a:off x="3596564" y="5532120"/>
            <a:ext cx="2407844" cy="384048"/>
          </a:xfrm>
          <a:prstGeom prst="rect">
            <a:avLst/>
          </a:prstGeom>
          <a:noFill/>
          <a:ln/>
        </p:spPr>
        <p:txBody>
          <a:bodyPr wrap="square" lIns="0" tIns="0" rIns="0" bIns="0" rtlCol="0" anchor="b"/>
          <a:lstStyle/>
          <a:p>
            <a:pPr indent="0" marL="0">
              <a:buNone/>
            </a:pPr>
            <a:r>
              <a:rPr lang="en-US" sz="2000" dirty="0">
                <a:solidFill>
                  <a:srgbClr val="F35B1A"/>
                </a:solidFill>
                <a:latin typeface="Poppins SemiBold" pitchFamily="34" charset="0"/>
                <a:ea typeface="Poppins SemiBold" pitchFamily="34" charset="-122"/>
                <a:cs typeface="Poppins SemiBold" pitchFamily="34" charset="-120"/>
              </a:rPr>
              <a:t>10</a:t>
            </a:r>
            <a:endParaRPr lang="en-US" sz="2000" dirty="0"/>
          </a:p>
        </p:txBody>
      </p:sp>
      <p:sp>
        <p:nvSpPr>
          <p:cNvPr id="40" name="Text 30"/>
          <p:cNvSpPr/>
          <p:nvPr/>
        </p:nvSpPr>
        <p:spPr>
          <a:xfrm>
            <a:off x="3596564" y="5934456"/>
            <a:ext cx="2407844" cy="237744"/>
          </a:xfrm>
          <a:prstGeom prst="rect">
            <a:avLst/>
          </a:prstGeom>
          <a:noFill/>
          <a:ln/>
        </p:spPr>
        <p:txBody>
          <a:bodyPr wrap="square" lIns="0" tIns="0" rIns="0" bIns="0" rtlCol="0" anchor="t"/>
          <a:lstStyle/>
          <a:p>
            <a:pPr indent="0" marL="0">
              <a:buNone/>
            </a:pPr>
            <a:r>
              <a:rPr lang="en-US" sz="900" dirty="0">
                <a:solidFill>
                  <a:srgbClr val="6C7683"/>
                </a:solidFill>
                <a:latin typeface="Poppins" pitchFamily="34" charset="0"/>
                <a:ea typeface="Poppins" pitchFamily="34" charset="-122"/>
                <a:cs typeface="Poppins" pitchFamily="34" charset="-120"/>
              </a:rPr>
              <a:t>Operational bases</a:t>
            </a:r>
            <a:endParaRPr lang="en-US" sz="900" dirty="0"/>
          </a:p>
        </p:txBody>
      </p:sp>
      <p:sp>
        <p:nvSpPr>
          <p:cNvPr id="41" name="Shape 31"/>
          <p:cNvSpPr/>
          <p:nvPr/>
        </p:nvSpPr>
        <p:spPr>
          <a:xfrm>
            <a:off x="6095848" y="5577840"/>
            <a:ext cx="0" cy="502920"/>
          </a:xfrm>
          <a:prstGeom prst="line">
            <a:avLst/>
          </a:prstGeom>
          <a:noFill/>
          <a:ln w="12700">
            <a:solidFill>
              <a:srgbClr val="E2E6EB"/>
            </a:solidFill>
            <a:prstDash val="solid"/>
          </a:ln>
        </p:spPr>
      </p:sp>
      <p:sp>
        <p:nvSpPr>
          <p:cNvPr id="42" name="Text 32"/>
          <p:cNvSpPr/>
          <p:nvPr/>
        </p:nvSpPr>
        <p:spPr>
          <a:xfrm>
            <a:off x="6278728" y="5532120"/>
            <a:ext cx="2407844" cy="384048"/>
          </a:xfrm>
          <a:prstGeom prst="rect">
            <a:avLst/>
          </a:prstGeom>
          <a:noFill/>
          <a:ln/>
        </p:spPr>
        <p:txBody>
          <a:bodyPr wrap="square" lIns="0" tIns="0" rIns="0" bIns="0" rtlCol="0" anchor="b"/>
          <a:lstStyle/>
          <a:p>
            <a:pPr indent="0" marL="0">
              <a:buNone/>
            </a:pPr>
            <a:r>
              <a:rPr lang="en-US" sz="2000" dirty="0">
                <a:solidFill>
                  <a:srgbClr val="F35B1A"/>
                </a:solidFill>
                <a:latin typeface="Poppins SemiBold" pitchFamily="34" charset="0"/>
                <a:ea typeface="Poppins SemiBold" pitchFamily="34" charset="-122"/>
                <a:cs typeface="Poppins SemiBold" pitchFamily="34" charset="-120"/>
              </a:rPr>
              <a:t>3</a:t>
            </a:r>
            <a:endParaRPr lang="en-US" sz="2000" dirty="0"/>
          </a:p>
        </p:txBody>
      </p:sp>
      <p:sp>
        <p:nvSpPr>
          <p:cNvPr id="43" name="Text 33"/>
          <p:cNvSpPr/>
          <p:nvPr/>
        </p:nvSpPr>
        <p:spPr>
          <a:xfrm>
            <a:off x="6278728" y="5934456"/>
            <a:ext cx="2407844" cy="237744"/>
          </a:xfrm>
          <a:prstGeom prst="rect">
            <a:avLst/>
          </a:prstGeom>
          <a:noFill/>
          <a:ln/>
        </p:spPr>
        <p:txBody>
          <a:bodyPr wrap="square" lIns="0" tIns="0" rIns="0" bIns="0" rtlCol="0" anchor="t"/>
          <a:lstStyle/>
          <a:p>
            <a:pPr indent="0" marL="0">
              <a:buNone/>
            </a:pPr>
            <a:r>
              <a:rPr lang="en-US" sz="900" dirty="0">
                <a:solidFill>
                  <a:srgbClr val="6C7683"/>
                </a:solidFill>
                <a:latin typeface="Poppins" pitchFamily="34" charset="0"/>
                <a:ea typeface="Poppins" pitchFamily="34" charset="-122"/>
                <a:cs typeface="Poppins" pitchFamily="34" charset="-120"/>
              </a:rPr>
              <a:t>States covered</a:t>
            </a:r>
            <a:endParaRPr lang="en-US" sz="900" dirty="0"/>
          </a:p>
        </p:txBody>
      </p:sp>
      <p:sp>
        <p:nvSpPr>
          <p:cNvPr id="44" name="Shape 34"/>
          <p:cNvSpPr/>
          <p:nvPr/>
        </p:nvSpPr>
        <p:spPr>
          <a:xfrm>
            <a:off x="8778011" y="5577840"/>
            <a:ext cx="0" cy="502920"/>
          </a:xfrm>
          <a:prstGeom prst="line">
            <a:avLst/>
          </a:prstGeom>
          <a:noFill/>
          <a:ln w="12700">
            <a:solidFill>
              <a:srgbClr val="E2E6EB"/>
            </a:solidFill>
            <a:prstDash val="solid"/>
          </a:ln>
        </p:spPr>
      </p:sp>
      <p:sp>
        <p:nvSpPr>
          <p:cNvPr id="45" name="Text 35"/>
          <p:cNvSpPr/>
          <p:nvPr/>
        </p:nvSpPr>
        <p:spPr>
          <a:xfrm>
            <a:off x="8960891" y="5532120"/>
            <a:ext cx="2407844" cy="384048"/>
          </a:xfrm>
          <a:prstGeom prst="rect">
            <a:avLst/>
          </a:prstGeom>
          <a:noFill/>
          <a:ln/>
        </p:spPr>
        <p:txBody>
          <a:bodyPr wrap="square" lIns="0" tIns="0" rIns="0" bIns="0" rtlCol="0" anchor="b"/>
          <a:lstStyle/>
          <a:p>
            <a:pPr indent="0" marL="0">
              <a:buNone/>
            </a:pPr>
            <a:r>
              <a:rPr lang="en-US" sz="2000" dirty="0">
                <a:solidFill>
                  <a:srgbClr val="F35B1A"/>
                </a:solidFill>
                <a:latin typeface="Poppins SemiBold" pitchFamily="34" charset="0"/>
                <a:ea typeface="Poppins SemiBold" pitchFamily="34" charset="-122"/>
                <a:cs typeface="Poppins SemiBold" pitchFamily="34" charset="-120"/>
              </a:rPr>
              <a:t>+400</a:t>
            </a:r>
            <a:endParaRPr lang="en-US" sz="2000" dirty="0"/>
          </a:p>
        </p:txBody>
      </p:sp>
      <p:sp>
        <p:nvSpPr>
          <p:cNvPr id="46" name="Text 36"/>
          <p:cNvSpPr/>
          <p:nvPr/>
        </p:nvSpPr>
        <p:spPr>
          <a:xfrm>
            <a:off x="8960891" y="5934456"/>
            <a:ext cx="2407844" cy="237744"/>
          </a:xfrm>
          <a:prstGeom prst="rect">
            <a:avLst/>
          </a:prstGeom>
          <a:noFill/>
          <a:ln/>
        </p:spPr>
        <p:txBody>
          <a:bodyPr wrap="square" lIns="0" tIns="0" rIns="0" bIns="0" rtlCol="0" anchor="t"/>
          <a:lstStyle/>
          <a:p>
            <a:pPr indent="0" marL="0">
              <a:buNone/>
            </a:pPr>
            <a:r>
              <a:rPr lang="en-US" sz="900" dirty="0">
                <a:solidFill>
                  <a:srgbClr val="6C7683"/>
                </a:solidFill>
                <a:latin typeface="Poppins" pitchFamily="34" charset="0"/>
                <a:ea typeface="Poppins" pitchFamily="34" charset="-122"/>
                <a:cs typeface="Poppins" pitchFamily="34" charset="-120"/>
              </a:rPr>
              <a:t>Vehicles</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assets/mobi_logo_navy.png">    </p:cNvPr>
          <p:cNvPicPr>
            <a:picLocks noChangeAspect="1"/>
          </p:cNvPicPr>
          <p:nvPr/>
        </p:nvPicPr>
        <p:blipFill>
          <a:blip r:embed="rId1"/>
          <a:stretch>
            <a:fillRect/>
          </a:stretch>
        </p:blipFill>
        <p:spPr>
          <a:xfrm>
            <a:off x="10545775" y="329184"/>
            <a:ext cx="914400" cy="292894"/>
          </a:xfrm>
          <a:prstGeom prst="rect">
            <a:avLst/>
          </a:prstGeom>
        </p:spPr>
      </p:pic>
      <p:sp>
        <p:nvSpPr>
          <p:cNvPr id="3" name="Shape 0"/>
          <p:cNvSpPr/>
          <p:nvPr/>
        </p:nvSpPr>
        <p:spPr>
          <a:xfrm>
            <a:off x="731520" y="329184"/>
            <a:ext cx="1472184" cy="329184"/>
          </a:xfrm>
          <a:prstGeom prst="roundRect">
            <a:avLst>
              <a:gd name="adj" fmla="val 25000"/>
            </a:avLst>
          </a:prstGeom>
          <a:solidFill>
            <a:srgbClr val="FDE9DE"/>
          </a:solidFill>
          <a:ln/>
        </p:spPr>
      </p:sp>
      <p:sp>
        <p:nvSpPr>
          <p:cNvPr id="4" name="Text 1"/>
          <p:cNvSpPr/>
          <p:nvPr/>
        </p:nvSpPr>
        <p:spPr>
          <a:xfrm>
            <a:off x="731520" y="329184"/>
            <a:ext cx="1472184" cy="329184"/>
          </a:xfrm>
          <a:prstGeom prst="rect">
            <a:avLst/>
          </a:prstGeom>
          <a:noFill/>
          <a:ln/>
        </p:spPr>
        <p:txBody>
          <a:bodyPr wrap="square" lIns="0" tIns="0" rIns="0" bIns="0" rtlCol="0" anchor="ctr"/>
          <a:lstStyle/>
          <a:p>
            <a:pPr algn="ctr" indent="0" marL="0">
              <a:buNone/>
            </a:pPr>
            <a:r>
              <a:rPr lang="en-US" sz="900" dirty="0">
                <a:solidFill>
                  <a:srgbClr val="C6470F"/>
                </a:solidFill>
                <a:latin typeface="Poppins Medium" pitchFamily="34" charset="0"/>
                <a:ea typeface="Poppins Medium" pitchFamily="34" charset="-122"/>
                <a:cs typeface="Poppins Medium" pitchFamily="34" charset="-120"/>
              </a:rPr>
              <a:t>Company Overview</a:t>
            </a:r>
            <a:endParaRPr lang="en-US" sz="900" dirty="0"/>
          </a:p>
        </p:txBody>
      </p:sp>
      <p:sp>
        <p:nvSpPr>
          <p:cNvPr id="5" name="Text 2"/>
          <p:cNvSpPr/>
          <p:nvPr/>
        </p:nvSpPr>
        <p:spPr>
          <a:xfrm>
            <a:off x="731520" y="731520"/>
            <a:ext cx="10088575" cy="548640"/>
          </a:xfrm>
          <a:prstGeom prst="rect">
            <a:avLst/>
          </a:prstGeom>
          <a:noFill/>
          <a:ln/>
        </p:spPr>
        <p:txBody>
          <a:bodyPr wrap="square" lIns="0" tIns="0" rIns="0" bIns="0" rtlCol="0" anchor="ctr"/>
          <a:lstStyle/>
          <a:p>
            <a:pPr algn="l" indent="0" marL="0">
              <a:buNone/>
            </a:pPr>
            <a:r>
              <a:rPr lang="en-US" sz="1800" dirty="0">
                <a:solidFill>
                  <a:srgbClr val="141A24"/>
                </a:solidFill>
                <a:latin typeface="Poppins SemiBold" pitchFamily="34" charset="0"/>
                <a:ea typeface="Poppins SemiBold" pitchFamily="34" charset="-122"/>
                <a:cs typeface="Poppins SemiBold" pitchFamily="34" charset="-120"/>
              </a:rPr>
              <a:t>A recurring, contract-based revenue model</a:t>
            </a:r>
            <a:endParaRPr lang="en-US" sz="1800" dirty="0"/>
          </a:p>
        </p:txBody>
      </p:sp>
      <p:sp>
        <p:nvSpPr>
          <p:cNvPr id="6" name="Text 3"/>
          <p:cNvSpPr/>
          <p:nvPr/>
        </p:nvSpPr>
        <p:spPr>
          <a:xfrm>
            <a:off x="731520" y="1298448"/>
            <a:ext cx="10088575" cy="438912"/>
          </a:xfrm>
          <a:prstGeom prst="rect">
            <a:avLst/>
          </a:prstGeom>
          <a:noFill/>
          <a:ln/>
        </p:spPr>
        <p:txBody>
          <a:bodyPr wrap="square" lIns="0" tIns="0" rIns="0" bIns="0" rtlCol="0" anchor="t"/>
          <a:lstStyle/>
          <a:p>
            <a:pPr algn="l" indent="0" marL="0">
              <a:lnSpc>
                <a:spcPct val="102000"/>
              </a:lnSpc>
              <a:buNone/>
            </a:pPr>
            <a:r>
              <a:rPr lang="en-US" sz="1050" dirty="0">
                <a:solidFill>
                  <a:srgbClr val="6C7683"/>
                </a:solidFill>
                <a:latin typeface="Poppins" pitchFamily="34" charset="0"/>
                <a:ea typeface="Poppins" pitchFamily="34" charset="-122"/>
                <a:cs typeface="Poppins" pitchFamily="34" charset="-120"/>
              </a:rPr>
              <a:t>Revenue is generated through long-term transportation contracts across two operating entities</a:t>
            </a:r>
            <a:endParaRPr lang="en-US" sz="1050" dirty="0"/>
          </a:p>
        </p:txBody>
      </p:sp>
      <p:sp>
        <p:nvSpPr>
          <p:cNvPr id="7" name="Text 4"/>
          <p:cNvSpPr/>
          <p:nvPr/>
        </p:nvSpPr>
        <p:spPr>
          <a:xfrm>
            <a:off x="731520" y="6309360"/>
            <a:ext cx="10362895" cy="219456"/>
          </a:xfrm>
          <a:prstGeom prst="rect">
            <a:avLst/>
          </a:prstGeom>
          <a:noFill/>
          <a:ln/>
        </p:spPr>
        <p:txBody>
          <a:bodyPr wrap="square" lIns="0" tIns="0" rIns="0" bIns="0" rtlCol="0" anchor="ctr"/>
          <a:lstStyle/>
          <a:p>
            <a:pPr algn="l" indent="0" marL="0">
              <a:buNone/>
            </a:pPr>
            <a:r>
              <a:rPr lang="en-US" sz="700" dirty="0">
                <a:solidFill>
                  <a:srgbClr val="9AA3AD"/>
                </a:solidFill>
                <a:latin typeface="Poppins" pitchFamily="34" charset="0"/>
                <a:ea typeface="Poppins" pitchFamily="34" charset="-122"/>
                <a:cs typeface="Poppins" pitchFamily="34" charset="-120"/>
              </a:rPr>
              <a:t>Source: Company. Revenue split and contract economics to be confirmed with management.</a:t>
            </a:r>
            <a:endParaRPr lang="en-US" sz="700" dirty="0"/>
          </a:p>
        </p:txBody>
      </p:sp>
      <p:pic>
        <p:nvPicPr>
          <p:cNvPr id="8" name="Image 1" descr="assets/igc_navy.png">    </p:cNvPr>
          <p:cNvPicPr>
            <a:picLocks noChangeAspect="1"/>
          </p:cNvPicPr>
          <p:nvPr/>
        </p:nvPicPr>
        <p:blipFill>
          <a:blip r:embed="rId2"/>
          <a:stretch>
            <a:fillRect/>
          </a:stretch>
        </p:blipFill>
        <p:spPr>
          <a:xfrm>
            <a:off x="731520" y="6492240"/>
            <a:ext cx="292608" cy="252943"/>
          </a:xfrm>
          <a:prstGeom prst="rect">
            <a:avLst/>
          </a:prstGeom>
        </p:spPr>
      </p:pic>
      <p:sp>
        <p:nvSpPr>
          <p:cNvPr id="9" name="Text 5"/>
          <p:cNvSpPr/>
          <p:nvPr/>
        </p:nvSpPr>
        <p:spPr>
          <a:xfrm>
            <a:off x="1115568" y="6510528"/>
            <a:ext cx="2743200" cy="274320"/>
          </a:xfrm>
          <a:prstGeom prst="rect">
            <a:avLst/>
          </a:prstGeom>
          <a:noFill/>
          <a:ln/>
        </p:spPr>
        <p:txBody>
          <a:bodyPr wrap="square" lIns="0" tIns="0" rIns="0" bIns="0" rtlCol="0" anchor="ctr"/>
          <a:lstStyle/>
          <a:p>
            <a:pPr algn="l" indent="0" marL="0">
              <a:buNone/>
            </a:pPr>
            <a:r>
              <a:rPr lang="en-US" sz="900" dirty="0">
                <a:solidFill>
                  <a:srgbClr val="2B333E"/>
                </a:solidFill>
                <a:latin typeface="Poppins Medium" pitchFamily="34" charset="0"/>
                <a:ea typeface="Poppins Medium" pitchFamily="34" charset="-122"/>
                <a:cs typeface="Poppins Medium" pitchFamily="34" charset="-120"/>
              </a:rPr>
              <a:t>16</a:t>
            </a:r>
            <a:pPr algn="l" indent="0" marL="0">
              <a:buNone/>
            </a:pPr>
            <a:r>
              <a:rPr lang="en-US" sz="900" dirty="0">
                <a:solidFill>
                  <a:srgbClr val="9AA3AD"/>
                </a:solidFill>
                <a:latin typeface="Poppins" pitchFamily="34" charset="0"/>
                <a:ea typeface="Poppins" pitchFamily="34" charset="-122"/>
                <a:cs typeface="Poppins" pitchFamily="34" charset="-120"/>
              </a:rPr>
              <a:t>    Confidential</a:t>
            </a:r>
            <a:endParaRPr lang="en-US" sz="900" dirty="0"/>
          </a:p>
        </p:txBody>
      </p:sp>
      <p:sp>
        <p:nvSpPr>
          <p:cNvPr id="10" name="Shape 6"/>
          <p:cNvSpPr/>
          <p:nvPr/>
        </p:nvSpPr>
        <p:spPr>
          <a:xfrm>
            <a:off x="1401013" y="2203704"/>
            <a:ext cx="1993392" cy="1993392"/>
          </a:xfrm>
          <a:prstGeom prst="ellipse">
            <a:avLst/>
          </a:prstGeom>
          <a:solidFill>
            <a:srgbClr val="FFFFFF"/>
          </a:solidFill>
          <a:ln/>
          <a:effectLst>
            <a:outerShdw sx="100000" sy="100000" kx="0" ky="0" algn="bl" rotWithShape="0" blurRad="88900" dist="25400" dir="5400000">
              <a:srgbClr val="9AA3AD">
                <a:alpha val="30000"/>
              </a:srgbClr>
            </a:outerShdw>
          </a:effectLst>
        </p:spPr>
      </p:sp>
      <p:pic>
        <p:nvPicPr>
          <p:cNvPr id="11" name="Image 2" descr="assets/mobi_microbus.png">    </p:cNvPr>
          <p:cNvPicPr>
            <a:picLocks noChangeAspect="1"/>
          </p:cNvPicPr>
          <p:nvPr/>
        </p:nvPicPr>
        <p:blipFill>
          <a:blip r:embed="rId3"/>
          <a:srcRect l="0" r="0" t="0" b="0"/>
          <a:stretch/>
        </p:blipFill>
        <p:spPr>
          <a:xfrm>
            <a:off x="1437589" y="2240280"/>
            <a:ext cx="1920240" cy="1920240"/>
          </a:xfrm>
          <a:prstGeom prst="ellipse">
            <a:avLst/>
          </a:prstGeom>
        </p:spPr>
      </p:pic>
      <p:sp>
        <p:nvSpPr>
          <p:cNvPr id="12" name="Shape 7"/>
          <p:cNvSpPr/>
          <p:nvPr/>
        </p:nvSpPr>
        <p:spPr>
          <a:xfrm>
            <a:off x="1345418" y="2148108"/>
            <a:ext cx="614477" cy="614477"/>
          </a:xfrm>
          <a:prstGeom prst="ellipse">
            <a:avLst/>
          </a:prstGeom>
          <a:solidFill>
            <a:srgbClr val="F35B1A"/>
          </a:solidFill>
          <a:ln w="25400">
            <a:solidFill>
              <a:srgbClr val="FFFFFF"/>
            </a:solidFill>
            <a:prstDash val="solid"/>
          </a:ln>
        </p:spPr>
      </p:sp>
      <p:sp>
        <p:nvSpPr>
          <p:cNvPr id="13" name="Text 8"/>
          <p:cNvSpPr/>
          <p:nvPr/>
        </p:nvSpPr>
        <p:spPr>
          <a:xfrm>
            <a:off x="1345418" y="2148108"/>
            <a:ext cx="614477" cy="614477"/>
          </a:xfrm>
          <a:prstGeom prst="rect">
            <a:avLst/>
          </a:prstGeom>
          <a:noFill/>
          <a:ln/>
        </p:spPr>
        <p:txBody>
          <a:bodyPr wrap="square" lIns="0" tIns="0" rIns="0" bIns="0" rtlCol="0" anchor="ctr"/>
          <a:lstStyle/>
          <a:p>
            <a:pPr algn="ctr" indent="0" marL="0">
              <a:buNone/>
            </a:pPr>
            <a:r>
              <a:rPr lang="en-US" sz="1400" dirty="0">
                <a:solidFill>
                  <a:srgbClr val="FFFFFF"/>
                </a:solidFill>
                <a:latin typeface="Poppins SemiBold" pitchFamily="34" charset="0"/>
                <a:ea typeface="Poppins SemiBold" pitchFamily="34" charset="-122"/>
                <a:cs typeface="Poppins SemiBold" pitchFamily="34" charset="-120"/>
              </a:rPr>
              <a:t>1</a:t>
            </a:r>
            <a:endParaRPr lang="en-US" sz="1400" dirty="0"/>
          </a:p>
        </p:txBody>
      </p:sp>
      <p:sp>
        <p:nvSpPr>
          <p:cNvPr id="14" name="Shape 9"/>
          <p:cNvSpPr/>
          <p:nvPr/>
        </p:nvSpPr>
        <p:spPr>
          <a:xfrm>
            <a:off x="731520" y="4389120"/>
            <a:ext cx="3332378" cy="1645920"/>
          </a:xfrm>
          <a:prstGeom prst="roundRect">
            <a:avLst>
              <a:gd name="adj" fmla="val 5556"/>
            </a:avLst>
          </a:prstGeom>
          <a:solidFill>
            <a:srgbClr val="F4F6F8"/>
          </a:solidFill>
          <a:ln w="12700">
            <a:solidFill>
              <a:srgbClr val="E2E6EB"/>
            </a:solidFill>
            <a:prstDash val="solid"/>
          </a:ln>
        </p:spPr>
      </p:sp>
      <p:sp>
        <p:nvSpPr>
          <p:cNvPr id="15" name="Text 10"/>
          <p:cNvSpPr/>
          <p:nvPr/>
        </p:nvSpPr>
        <p:spPr>
          <a:xfrm>
            <a:off x="960120" y="4572000"/>
            <a:ext cx="2875178" cy="365760"/>
          </a:xfrm>
          <a:prstGeom prst="rect">
            <a:avLst/>
          </a:prstGeom>
          <a:noFill/>
          <a:ln/>
        </p:spPr>
        <p:txBody>
          <a:bodyPr wrap="square" lIns="0" tIns="0" rIns="0" bIns="0" rtlCol="0" anchor="t"/>
          <a:lstStyle/>
          <a:p>
            <a:pPr algn="ctr" indent="0" marL="0">
              <a:buNone/>
            </a:pPr>
            <a:r>
              <a:rPr lang="en-US" sz="1400" dirty="0">
                <a:solidFill>
                  <a:srgbClr val="141A24"/>
                </a:solidFill>
                <a:latin typeface="Poppins SemiBold" pitchFamily="34" charset="0"/>
                <a:ea typeface="Poppins SemiBold" pitchFamily="34" charset="-122"/>
                <a:cs typeface="Poppins SemiBold" pitchFamily="34" charset="-120"/>
              </a:rPr>
              <a:t>Dedicated fleet contracts</a:t>
            </a:r>
            <a:endParaRPr lang="en-US" sz="1400" dirty="0"/>
          </a:p>
        </p:txBody>
      </p:sp>
      <p:sp>
        <p:nvSpPr>
          <p:cNvPr id="16" name="Text 11"/>
          <p:cNvSpPr/>
          <p:nvPr/>
        </p:nvSpPr>
        <p:spPr>
          <a:xfrm>
            <a:off x="1005840" y="4965192"/>
            <a:ext cx="2783738" cy="1005840"/>
          </a:xfrm>
          <a:prstGeom prst="rect">
            <a:avLst/>
          </a:prstGeom>
          <a:noFill/>
          <a:ln/>
        </p:spPr>
        <p:txBody>
          <a:bodyPr wrap="square" lIns="0" tIns="0" rIns="0" bIns="0" rtlCol="0" anchor="t"/>
          <a:lstStyle/>
          <a:p>
            <a:pPr algn="ctr" indent="0" marL="0">
              <a:lnSpc>
                <a:spcPct val="105000"/>
              </a:lnSpc>
              <a:buNone/>
            </a:pPr>
            <a:r>
              <a:rPr lang="en-US" sz="900" dirty="0">
                <a:solidFill>
                  <a:srgbClr val="6C7683"/>
                </a:solidFill>
                <a:latin typeface="Poppins" pitchFamily="34" charset="0"/>
                <a:ea typeface="Poppins" pitchFamily="34" charset="-122"/>
                <a:cs typeface="Poppins" pitchFamily="34" charset="-120"/>
              </a:rPr>
              <a:t>Long-term contracts (3–5 years) providing dedicated vehicles, drivers and routes, billed on a recurring monthly basis</a:t>
            </a:r>
            <a:endParaRPr lang="en-US" sz="900" dirty="0"/>
          </a:p>
        </p:txBody>
      </p:sp>
      <p:sp>
        <p:nvSpPr>
          <p:cNvPr id="17" name="Shape 12"/>
          <p:cNvSpPr/>
          <p:nvPr/>
        </p:nvSpPr>
        <p:spPr>
          <a:xfrm>
            <a:off x="5099152" y="2203704"/>
            <a:ext cx="1993392" cy="1993392"/>
          </a:xfrm>
          <a:prstGeom prst="ellipse">
            <a:avLst/>
          </a:prstGeom>
          <a:solidFill>
            <a:srgbClr val="FFFFFF"/>
          </a:solidFill>
          <a:ln/>
          <a:effectLst>
            <a:outerShdw sx="100000" sy="100000" kx="0" ky="0" algn="bl" rotWithShape="0" blurRad="88900" dist="25400" dir="5400000">
              <a:srgbClr val="9AA3AD">
                <a:alpha val="30000"/>
              </a:srgbClr>
            </a:outerShdw>
          </a:effectLst>
        </p:spPr>
      </p:sp>
      <p:pic>
        <p:nvPicPr>
          <p:cNvPr id="18" name="Image 3" descr="assets/mobi_fleet2.png">    </p:cNvPr>
          <p:cNvPicPr>
            <a:picLocks noChangeAspect="1"/>
          </p:cNvPicPr>
          <p:nvPr/>
        </p:nvPicPr>
        <p:blipFill>
          <a:blip r:embed="rId4"/>
          <a:srcRect l="0" r="0" t="0" b="0"/>
          <a:stretch/>
        </p:blipFill>
        <p:spPr>
          <a:xfrm>
            <a:off x="5135728" y="2240280"/>
            <a:ext cx="1920240" cy="1920240"/>
          </a:xfrm>
          <a:prstGeom prst="ellipse">
            <a:avLst/>
          </a:prstGeom>
        </p:spPr>
      </p:pic>
      <p:sp>
        <p:nvSpPr>
          <p:cNvPr id="19" name="Shape 13"/>
          <p:cNvSpPr/>
          <p:nvPr/>
        </p:nvSpPr>
        <p:spPr>
          <a:xfrm>
            <a:off x="5043556" y="2148108"/>
            <a:ext cx="614477" cy="614477"/>
          </a:xfrm>
          <a:prstGeom prst="ellipse">
            <a:avLst/>
          </a:prstGeom>
          <a:solidFill>
            <a:srgbClr val="F35B1A"/>
          </a:solidFill>
          <a:ln w="25400">
            <a:solidFill>
              <a:srgbClr val="FFFFFF"/>
            </a:solidFill>
            <a:prstDash val="solid"/>
          </a:ln>
        </p:spPr>
      </p:sp>
      <p:sp>
        <p:nvSpPr>
          <p:cNvPr id="20" name="Text 14"/>
          <p:cNvSpPr/>
          <p:nvPr/>
        </p:nvSpPr>
        <p:spPr>
          <a:xfrm>
            <a:off x="5043556" y="2148108"/>
            <a:ext cx="614477" cy="614477"/>
          </a:xfrm>
          <a:prstGeom prst="rect">
            <a:avLst/>
          </a:prstGeom>
          <a:noFill/>
          <a:ln/>
        </p:spPr>
        <p:txBody>
          <a:bodyPr wrap="square" lIns="0" tIns="0" rIns="0" bIns="0" rtlCol="0" anchor="ctr"/>
          <a:lstStyle/>
          <a:p>
            <a:pPr algn="ctr" indent="0" marL="0">
              <a:buNone/>
            </a:pPr>
            <a:r>
              <a:rPr lang="en-US" sz="1400" dirty="0">
                <a:solidFill>
                  <a:srgbClr val="FFFFFF"/>
                </a:solidFill>
                <a:latin typeface="Poppins SemiBold" pitchFamily="34" charset="0"/>
                <a:ea typeface="Poppins SemiBold" pitchFamily="34" charset="-122"/>
                <a:cs typeface="Poppins SemiBold" pitchFamily="34" charset="-120"/>
              </a:rPr>
              <a:t>2</a:t>
            </a:r>
            <a:endParaRPr lang="en-US" sz="1400" dirty="0"/>
          </a:p>
        </p:txBody>
      </p:sp>
      <p:sp>
        <p:nvSpPr>
          <p:cNvPr id="21" name="Shape 15"/>
          <p:cNvSpPr/>
          <p:nvPr/>
        </p:nvSpPr>
        <p:spPr>
          <a:xfrm>
            <a:off x="4429658" y="4389120"/>
            <a:ext cx="3332378" cy="1645920"/>
          </a:xfrm>
          <a:prstGeom prst="roundRect">
            <a:avLst>
              <a:gd name="adj" fmla="val 5556"/>
            </a:avLst>
          </a:prstGeom>
          <a:solidFill>
            <a:srgbClr val="F4F6F8"/>
          </a:solidFill>
          <a:ln w="12700">
            <a:solidFill>
              <a:srgbClr val="E2E6EB"/>
            </a:solidFill>
            <a:prstDash val="solid"/>
          </a:ln>
        </p:spPr>
      </p:sp>
      <p:sp>
        <p:nvSpPr>
          <p:cNvPr id="22" name="Text 16"/>
          <p:cNvSpPr/>
          <p:nvPr/>
        </p:nvSpPr>
        <p:spPr>
          <a:xfrm>
            <a:off x="4658258" y="4572000"/>
            <a:ext cx="2875178" cy="365760"/>
          </a:xfrm>
          <a:prstGeom prst="rect">
            <a:avLst/>
          </a:prstGeom>
          <a:noFill/>
          <a:ln/>
        </p:spPr>
        <p:txBody>
          <a:bodyPr wrap="square" lIns="0" tIns="0" rIns="0" bIns="0" rtlCol="0" anchor="t"/>
          <a:lstStyle/>
          <a:p>
            <a:pPr algn="ctr" indent="0" marL="0">
              <a:buNone/>
            </a:pPr>
            <a:r>
              <a:rPr lang="en-US" sz="1400" dirty="0">
                <a:solidFill>
                  <a:srgbClr val="141A24"/>
                </a:solidFill>
                <a:latin typeface="Poppins SemiBold" pitchFamily="34" charset="0"/>
                <a:ea typeface="Poppins SemiBold" pitchFamily="34" charset="-122"/>
                <a:cs typeface="Poppins SemiBold" pitchFamily="34" charset="-120"/>
              </a:rPr>
              <a:t>Route &amp; shift management</a:t>
            </a:r>
            <a:endParaRPr lang="en-US" sz="1400" dirty="0"/>
          </a:p>
        </p:txBody>
      </p:sp>
      <p:sp>
        <p:nvSpPr>
          <p:cNvPr id="23" name="Text 17"/>
          <p:cNvSpPr/>
          <p:nvPr/>
        </p:nvSpPr>
        <p:spPr>
          <a:xfrm>
            <a:off x="4703978" y="4965192"/>
            <a:ext cx="2783738" cy="1005840"/>
          </a:xfrm>
          <a:prstGeom prst="rect">
            <a:avLst/>
          </a:prstGeom>
          <a:noFill/>
          <a:ln/>
        </p:spPr>
        <p:txBody>
          <a:bodyPr wrap="square" lIns="0" tIns="0" rIns="0" bIns="0" rtlCol="0" anchor="t"/>
          <a:lstStyle/>
          <a:p>
            <a:pPr algn="ctr" indent="0" marL="0">
              <a:lnSpc>
                <a:spcPct val="105000"/>
              </a:lnSpc>
              <a:buNone/>
            </a:pPr>
            <a:r>
              <a:rPr lang="en-US" sz="900" dirty="0">
                <a:solidFill>
                  <a:srgbClr val="6C7683"/>
                </a:solidFill>
                <a:latin typeface="Poppins" pitchFamily="34" charset="0"/>
                <a:ea typeface="Poppins" pitchFamily="34" charset="-122"/>
                <a:cs typeface="Poppins" pitchFamily="34" charset="-120"/>
              </a:rPr>
              <a:t>Transportation planned around client shifts, sites and condominium routes, with telemetry ensuring reliability and safety</a:t>
            </a:r>
            <a:endParaRPr lang="en-US" sz="900" dirty="0"/>
          </a:p>
        </p:txBody>
      </p:sp>
      <p:sp>
        <p:nvSpPr>
          <p:cNvPr id="24" name="Shape 18"/>
          <p:cNvSpPr/>
          <p:nvPr/>
        </p:nvSpPr>
        <p:spPr>
          <a:xfrm>
            <a:off x="8797290" y="2203704"/>
            <a:ext cx="1993392" cy="1993392"/>
          </a:xfrm>
          <a:prstGeom prst="ellipse">
            <a:avLst/>
          </a:prstGeom>
          <a:solidFill>
            <a:srgbClr val="FFFFFF"/>
          </a:solidFill>
          <a:ln/>
          <a:effectLst>
            <a:outerShdw sx="100000" sy="100000" kx="0" ky="0" algn="bl" rotWithShape="0" blurRad="88900" dist="25400" dir="5400000">
              <a:srgbClr val="9AA3AD">
                <a:alpha val="30000"/>
              </a:srgbClr>
            </a:outerShdw>
          </a:effectLst>
        </p:spPr>
      </p:sp>
      <p:pic>
        <p:nvPicPr>
          <p:cNvPr id="25" name="Image 4" descr="assets/mobi_bus_front.png">    </p:cNvPr>
          <p:cNvPicPr>
            <a:picLocks noChangeAspect="1"/>
          </p:cNvPicPr>
          <p:nvPr/>
        </p:nvPicPr>
        <p:blipFill>
          <a:blip r:embed="rId5"/>
          <a:srcRect l="0" r="0" t="0" b="0"/>
          <a:stretch/>
        </p:blipFill>
        <p:spPr>
          <a:xfrm>
            <a:off x="8833866" y="2240280"/>
            <a:ext cx="1920240" cy="1920240"/>
          </a:xfrm>
          <a:prstGeom prst="ellipse">
            <a:avLst/>
          </a:prstGeom>
        </p:spPr>
      </p:pic>
      <p:sp>
        <p:nvSpPr>
          <p:cNvPr id="26" name="Shape 19"/>
          <p:cNvSpPr/>
          <p:nvPr/>
        </p:nvSpPr>
        <p:spPr>
          <a:xfrm>
            <a:off x="8741694" y="2148108"/>
            <a:ext cx="614477" cy="614477"/>
          </a:xfrm>
          <a:prstGeom prst="ellipse">
            <a:avLst/>
          </a:prstGeom>
          <a:solidFill>
            <a:srgbClr val="F35B1A"/>
          </a:solidFill>
          <a:ln w="25400">
            <a:solidFill>
              <a:srgbClr val="FFFFFF"/>
            </a:solidFill>
            <a:prstDash val="solid"/>
          </a:ln>
        </p:spPr>
      </p:sp>
      <p:sp>
        <p:nvSpPr>
          <p:cNvPr id="27" name="Text 20"/>
          <p:cNvSpPr/>
          <p:nvPr/>
        </p:nvSpPr>
        <p:spPr>
          <a:xfrm>
            <a:off x="8741694" y="2148108"/>
            <a:ext cx="614477" cy="614477"/>
          </a:xfrm>
          <a:prstGeom prst="rect">
            <a:avLst/>
          </a:prstGeom>
          <a:noFill/>
          <a:ln/>
        </p:spPr>
        <p:txBody>
          <a:bodyPr wrap="square" lIns="0" tIns="0" rIns="0" bIns="0" rtlCol="0" anchor="ctr"/>
          <a:lstStyle/>
          <a:p>
            <a:pPr algn="ctr" indent="0" marL="0">
              <a:buNone/>
            </a:pPr>
            <a:r>
              <a:rPr lang="en-US" sz="1400" dirty="0">
                <a:solidFill>
                  <a:srgbClr val="FFFFFF"/>
                </a:solidFill>
                <a:latin typeface="Poppins SemiBold" pitchFamily="34" charset="0"/>
                <a:ea typeface="Poppins SemiBold" pitchFamily="34" charset="-122"/>
                <a:cs typeface="Poppins SemiBold" pitchFamily="34" charset="-120"/>
              </a:rPr>
              <a:t>3</a:t>
            </a:r>
            <a:endParaRPr lang="en-US" sz="1400" dirty="0"/>
          </a:p>
        </p:txBody>
      </p:sp>
      <p:sp>
        <p:nvSpPr>
          <p:cNvPr id="28" name="Shape 21"/>
          <p:cNvSpPr/>
          <p:nvPr/>
        </p:nvSpPr>
        <p:spPr>
          <a:xfrm>
            <a:off x="8127797" y="4389120"/>
            <a:ext cx="3332378" cy="1645920"/>
          </a:xfrm>
          <a:prstGeom prst="roundRect">
            <a:avLst>
              <a:gd name="adj" fmla="val 5556"/>
            </a:avLst>
          </a:prstGeom>
          <a:solidFill>
            <a:srgbClr val="F4F6F8"/>
          </a:solidFill>
          <a:ln w="12700">
            <a:solidFill>
              <a:srgbClr val="E2E6EB"/>
            </a:solidFill>
            <a:prstDash val="solid"/>
          </a:ln>
        </p:spPr>
      </p:sp>
      <p:sp>
        <p:nvSpPr>
          <p:cNvPr id="29" name="Text 22"/>
          <p:cNvSpPr/>
          <p:nvPr/>
        </p:nvSpPr>
        <p:spPr>
          <a:xfrm>
            <a:off x="8356397" y="4572000"/>
            <a:ext cx="2875178" cy="365760"/>
          </a:xfrm>
          <a:prstGeom prst="rect">
            <a:avLst/>
          </a:prstGeom>
          <a:noFill/>
          <a:ln/>
        </p:spPr>
        <p:txBody>
          <a:bodyPr wrap="square" lIns="0" tIns="0" rIns="0" bIns="0" rtlCol="0" anchor="t"/>
          <a:lstStyle/>
          <a:p>
            <a:pPr algn="ctr" indent="0" marL="0">
              <a:buNone/>
            </a:pPr>
            <a:r>
              <a:rPr lang="en-US" sz="1400" dirty="0">
                <a:solidFill>
                  <a:srgbClr val="141A24"/>
                </a:solidFill>
                <a:latin typeface="Poppins SemiBold" pitchFamily="34" charset="0"/>
                <a:ea typeface="Poppins SemiBold" pitchFamily="34" charset="-122"/>
                <a:cs typeface="Poppins SemiBold" pitchFamily="34" charset="-120"/>
              </a:rPr>
              <a:t>Two operating entities</a:t>
            </a:r>
            <a:endParaRPr lang="en-US" sz="1400" dirty="0"/>
          </a:p>
        </p:txBody>
      </p:sp>
      <p:sp>
        <p:nvSpPr>
          <p:cNvPr id="30" name="Text 23"/>
          <p:cNvSpPr/>
          <p:nvPr/>
        </p:nvSpPr>
        <p:spPr>
          <a:xfrm>
            <a:off x="8402117" y="4965192"/>
            <a:ext cx="2783738" cy="1005840"/>
          </a:xfrm>
          <a:prstGeom prst="rect">
            <a:avLst/>
          </a:prstGeom>
          <a:noFill/>
          <a:ln/>
        </p:spPr>
        <p:txBody>
          <a:bodyPr wrap="square" lIns="0" tIns="0" rIns="0" bIns="0" rtlCol="0" anchor="t"/>
          <a:lstStyle/>
          <a:p>
            <a:pPr algn="ctr" indent="0" marL="0">
              <a:lnSpc>
                <a:spcPct val="105000"/>
              </a:lnSpc>
              <a:buNone/>
            </a:pPr>
            <a:r>
              <a:rPr lang="en-US" sz="900" dirty="0">
                <a:solidFill>
                  <a:srgbClr val="6C7683"/>
                </a:solidFill>
                <a:latin typeface="Poppins" pitchFamily="34" charset="0"/>
                <a:ea typeface="Poppins" pitchFamily="34" charset="-122"/>
                <a:cs typeface="Poppins" pitchFamily="34" charset="-120"/>
              </a:rPr>
              <a:t>Revenue consolidated across AGM Caetano and AGM Alpha, together reaching BRL 140 Mn of net revenues in 2025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assets/mobi_logo_navy.png">    </p:cNvPr>
          <p:cNvPicPr>
            <a:picLocks noChangeAspect="1"/>
          </p:cNvPicPr>
          <p:nvPr/>
        </p:nvPicPr>
        <p:blipFill>
          <a:blip r:embed="rId1"/>
          <a:stretch>
            <a:fillRect/>
          </a:stretch>
        </p:blipFill>
        <p:spPr>
          <a:xfrm>
            <a:off x="10545775" y="329184"/>
            <a:ext cx="914400" cy="292894"/>
          </a:xfrm>
          <a:prstGeom prst="rect">
            <a:avLst/>
          </a:prstGeom>
        </p:spPr>
      </p:pic>
      <p:sp>
        <p:nvSpPr>
          <p:cNvPr id="3" name="Shape 0"/>
          <p:cNvSpPr/>
          <p:nvPr/>
        </p:nvSpPr>
        <p:spPr>
          <a:xfrm>
            <a:off x="731520" y="329184"/>
            <a:ext cx="1472184" cy="329184"/>
          </a:xfrm>
          <a:prstGeom prst="roundRect">
            <a:avLst>
              <a:gd name="adj" fmla="val 25000"/>
            </a:avLst>
          </a:prstGeom>
          <a:solidFill>
            <a:srgbClr val="FDE9DE"/>
          </a:solidFill>
          <a:ln/>
        </p:spPr>
      </p:sp>
      <p:sp>
        <p:nvSpPr>
          <p:cNvPr id="4" name="Text 1"/>
          <p:cNvSpPr/>
          <p:nvPr/>
        </p:nvSpPr>
        <p:spPr>
          <a:xfrm>
            <a:off x="731520" y="329184"/>
            <a:ext cx="1472184" cy="329184"/>
          </a:xfrm>
          <a:prstGeom prst="rect">
            <a:avLst/>
          </a:prstGeom>
          <a:noFill/>
          <a:ln/>
        </p:spPr>
        <p:txBody>
          <a:bodyPr wrap="square" lIns="0" tIns="0" rIns="0" bIns="0" rtlCol="0" anchor="ctr"/>
          <a:lstStyle/>
          <a:p>
            <a:pPr algn="ctr" indent="0" marL="0">
              <a:buNone/>
            </a:pPr>
            <a:r>
              <a:rPr lang="en-US" sz="900" dirty="0">
                <a:solidFill>
                  <a:srgbClr val="C6470F"/>
                </a:solidFill>
                <a:latin typeface="Poppins Medium" pitchFamily="34" charset="0"/>
                <a:ea typeface="Poppins Medium" pitchFamily="34" charset="-122"/>
                <a:cs typeface="Poppins Medium" pitchFamily="34" charset="-120"/>
              </a:rPr>
              <a:t>Company Overview</a:t>
            </a:r>
            <a:endParaRPr lang="en-US" sz="900" dirty="0"/>
          </a:p>
        </p:txBody>
      </p:sp>
      <p:sp>
        <p:nvSpPr>
          <p:cNvPr id="5" name="Text 2"/>
          <p:cNvSpPr/>
          <p:nvPr/>
        </p:nvSpPr>
        <p:spPr>
          <a:xfrm>
            <a:off x="731520" y="731520"/>
            <a:ext cx="10088575" cy="548640"/>
          </a:xfrm>
          <a:prstGeom prst="rect">
            <a:avLst/>
          </a:prstGeom>
          <a:noFill/>
          <a:ln/>
        </p:spPr>
        <p:txBody>
          <a:bodyPr wrap="square" lIns="0" tIns="0" rIns="0" bIns="0" rtlCol="0" anchor="ctr"/>
          <a:lstStyle/>
          <a:p>
            <a:pPr algn="l" indent="0" marL="0">
              <a:buNone/>
            </a:pPr>
            <a:r>
              <a:rPr lang="en-US" sz="1800" dirty="0">
                <a:solidFill>
                  <a:srgbClr val="141A24"/>
                </a:solidFill>
                <a:latin typeface="Poppins SemiBold" pitchFamily="34" charset="0"/>
                <a:ea typeface="Poppins SemiBold" pitchFamily="34" charset="-122"/>
                <a:cs typeface="Poppins SemiBold" pitchFamily="34" charset="-120"/>
              </a:rPr>
              <a:t>An experienced and committed management team</a:t>
            </a:r>
            <a:endParaRPr lang="en-US" sz="1800" dirty="0"/>
          </a:p>
        </p:txBody>
      </p:sp>
      <p:sp>
        <p:nvSpPr>
          <p:cNvPr id="6" name="Text 3"/>
          <p:cNvSpPr/>
          <p:nvPr/>
        </p:nvSpPr>
        <p:spPr>
          <a:xfrm>
            <a:off x="731520" y="1298448"/>
            <a:ext cx="10088575" cy="438912"/>
          </a:xfrm>
          <a:prstGeom prst="rect">
            <a:avLst/>
          </a:prstGeom>
          <a:noFill/>
          <a:ln/>
        </p:spPr>
        <p:txBody>
          <a:bodyPr wrap="square" lIns="0" tIns="0" rIns="0" bIns="0" rtlCol="0" anchor="t"/>
          <a:lstStyle/>
          <a:p>
            <a:pPr algn="l" indent="0" marL="0">
              <a:lnSpc>
                <a:spcPct val="102000"/>
              </a:lnSpc>
              <a:buNone/>
            </a:pPr>
            <a:r>
              <a:rPr lang="en-US" sz="1050" dirty="0">
                <a:solidFill>
                  <a:srgbClr val="6C7683"/>
                </a:solidFill>
                <a:latin typeface="Poppins" pitchFamily="34" charset="0"/>
                <a:ea typeface="Poppins" pitchFamily="34" charset="-122"/>
                <a:cs typeface="Poppins" pitchFamily="34" charset="-120"/>
              </a:rPr>
              <a:t>Management team overview — names, roles and backgrounds to be confirmed with the Company</a:t>
            </a:r>
            <a:endParaRPr lang="en-US" sz="1050" dirty="0"/>
          </a:p>
        </p:txBody>
      </p:sp>
      <p:sp>
        <p:nvSpPr>
          <p:cNvPr id="7" name="Text 4"/>
          <p:cNvSpPr/>
          <p:nvPr/>
        </p:nvSpPr>
        <p:spPr>
          <a:xfrm>
            <a:off x="731520" y="6309360"/>
            <a:ext cx="10362895" cy="219456"/>
          </a:xfrm>
          <a:prstGeom prst="rect">
            <a:avLst/>
          </a:prstGeom>
          <a:noFill/>
          <a:ln/>
        </p:spPr>
        <p:txBody>
          <a:bodyPr wrap="square" lIns="0" tIns="0" rIns="0" bIns="0" rtlCol="0" anchor="ctr"/>
          <a:lstStyle/>
          <a:p>
            <a:pPr algn="l" indent="0" marL="0">
              <a:buNone/>
            </a:pPr>
            <a:r>
              <a:rPr lang="en-US" sz="700" dirty="0">
                <a:solidFill>
                  <a:srgbClr val="9AA3AD"/>
                </a:solidFill>
                <a:latin typeface="Poppins" pitchFamily="34" charset="0"/>
                <a:ea typeface="Poppins" pitchFamily="34" charset="-122"/>
                <a:cs typeface="Poppins" pitchFamily="34" charset="-120"/>
              </a:rPr>
              <a:t>Source: Company. Roles and backgrounds to be confirmed with management.</a:t>
            </a:r>
            <a:endParaRPr lang="en-US" sz="700" dirty="0"/>
          </a:p>
        </p:txBody>
      </p:sp>
      <p:pic>
        <p:nvPicPr>
          <p:cNvPr id="8" name="Image 1" descr="assets/igc_navy.png">    </p:cNvPr>
          <p:cNvPicPr>
            <a:picLocks noChangeAspect="1"/>
          </p:cNvPicPr>
          <p:nvPr/>
        </p:nvPicPr>
        <p:blipFill>
          <a:blip r:embed="rId2"/>
          <a:stretch>
            <a:fillRect/>
          </a:stretch>
        </p:blipFill>
        <p:spPr>
          <a:xfrm>
            <a:off x="731520" y="6492240"/>
            <a:ext cx="292608" cy="252943"/>
          </a:xfrm>
          <a:prstGeom prst="rect">
            <a:avLst/>
          </a:prstGeom>
        </p:spPr>
      </p:pic>
      <p:sp>
        <p:nvSpPr>
          <p:cNvPr id="9" name="Text 5"/>
          <p:cNvSpPr/>
          <p:nvPr/>
        </p:nvSpPr>
        <p:spPr>
          <a:xfrm>
            <a:off x="1115568" y="6510528"/>
            <a:ext cx="2743200" cy="274320"/>
          </a:xfrm>
          <a:prstGeom prst="rect">
            <a:avLst/>
          </a:prstGeom>
          <a:noFill/>
          <a:ln/>
        </p:spPr>
        <p:txBody>
          <a:bodyPr wrap="square" lIns="0" tIns="0" rIns="0" bIns="0" rtlCol="0" anchor="ctr"/>
          <a:lstStyle/>
          <a:p>
            <a:pPr algn="l" indent="0" marL="0">
              <a:buNone/>
            </a:pPr>
            <a:r>
              <a:rPr lang="en-US" sz="900" dirty="0">
                <a:solidFill>
                  <a:srgbClr val="2B333E"/>
                </a:solidFill>
                <a:latin typeface="Poppins Medium" pitchFamily="34" charset="0"/>
                <a:ea typeface="Poppins Medium" pitchFamily="34" charset="-122"/>
                <a:cs typeface="Poppins Medium" pitchFamily="34" charset="-120"/>
              </a:rPr>
              <a:t>17</a:t>
            </a:r>
            <a:pPr algn="l" indent="0" marL="0">
              <a:buNone/>
            </a:pPr>
            <a:r>
              <a:rPr lang="en-US" sz="900" dirty="0">
                <a:solidFill>
                  <a:srgbClr val="9AA3AD"/>
                </a:solidFill>
                <a:latin typeface="Poppins" pitchFamily="34" charset="0"/>
                <a:ea typeface="Poppins" pitchFamily="34" charset="-122"/>
                <a:cs typeface="Poppins" pitchFamily="34" charset="-120"/>
              </a:rPr>
              <a:t>    Confidential</a:t>
            </a:r>
            <a:endParaRPr lang="en-US" sz="900" dirty="0"/>
          </a:p>
        </p:txBody>
      </p:sp>
      <p:sp>
        <p:nvSpPr>
          <p:cNvPr id="10" name="Shape 6"/>
          <p:cNvSpPr/>
          <p:nvPr/>
        </p:nvSpPr>
        <p:spPr>
          <a:xfrm>
            <a:off x="731520" y="2148840"/>
            <a:ext cx="1853123" cy="3474720"/>
          </a:xfrm>
          <a:prstGeom prst="roundRect">
            <a:avLst>
              <a:gd name="adj" fmla="val 5921"/>
            </a:avLst>
          </a:prstGeom>
          <a:solidFill>
            <a:srgbClr val="F4F6F8"/>
          </a:solidFill>
          <a:ln w="12700">
            <a:solidFill>
              <a:srgbClr val="E2E6EB"/>
            </a:solidFill>
            <a:prstDash val="solid"/>
          </a:ln>
          <a:effectLst>
            <a:outerShdw sx="100000" sy="100000" kx="0" ky="0" algn="bl" rotWithShape="0" blurRad="101600" dist="25400" dir="5400000">
              <a:srgbClr val="9AA3AD">
                <a:alpha val="30000"/>
              </a:srgbClr>
            </a:outerShdw>
          </a:effectLst>
        </p:spPr>
      </p:sp>
      <p:sp>
        <p:nvSpPr>
          <p:cNvPr id="11" name="Shape 7"/>
          <p:cNvSpPr/>
          <p:nvPr/>
        </p:nvSpPr>
        <p:spPr>
          <a:xfrm>
            <a:off x="1018002" y="2468880"/>
            <a:ext cx="1280160" cy="1280160"/>
          </a:xfrm>
          <a:prstGeom prst="ellipse">
            <a:avLst/>
          </a:prstGeom>
          <a:solidFill>
            <a:srgbClr val="141A24"/>
          </a:solidFill>
          <a:ln/>
        </p:spPr>
      </p:sp>
      <p:sp>
        <p:nvSpPr>
          <p:cNvPr id="12" name="Text 8"/>
          <p:cNvSpPr/>
          <p:nvPr/>
        </p:nvSpPr>
        <p:spPr>
          <a:xfrm>
            <a:off x="1018002" y="2468880"/>
            <a:ext cx="1280160" cy="1280160"/>
          </a:xfrm>
          <a:prstGeom prst="rect">
            <a:avLst/>
          </a:prstGeom>
          <a:noFill/>
          <a:ln/>
        </p:spPr>
        <p:txBody>
          <a:bodyPr wrap="square" lIns="0" tIns="0" rIns="0" bIns="0" rtlCol="0" anchor="ctr"/>
          <a:lstStyle/>
          <a:p>
            <a:pPr algn="ctr" indent="0" marL="0">
              <a:buNone/>
            </a:pPr>
            <a:r>
              <a:rPr lang="en-US" sz="2800" dirty="0">
                <a:solidFill>
                  <a:srgbClr val="FFFFFF"/>
                </a:solidFill>
                <a:latin typeface="Poppins SemiBold" pitchFamily="34" charset="0"/>
                <a:ea typeface="Poppins SemiBold" pitchFamily="34" charset="-122"/>
                <a:cs typeface="Poppins SemiBold" pitchFamily="34" charset="-120"/>
              </a:rPr>
              <a:t>AG</a:t>
            </a:r>
            <a:endParaRPr lang="en-US" sz="2800" dirty="0"/>
          </a:p>
        </p:txBody>
      </p:sp>
      <p:sp>
        <p:nvSpPr>
          <p:cNvPr id="13" name="Text 9"/>
          <p:cNvSpPr/>
          <p:nvPr/>
        </p:nvSpPr>
        <p:spPr>
          <a:xfrm>
            <a:off x="822960" y="3886200"/>
            <a:ext cx="1670243" cy="320040"/>
          </a:xfrm>
          <a:prstGeom prst="rect">
            <a:avLst/>
          </a:prstGeom>
          <a:noFill/>
          <a:ln/>
        </p:spPr>
        <p:txBody>
          <a:bodyPr wrap="square" lIns="0" tIns="0" rIns="0" bIns="0" rtlCol="0" anchor="ctr"/>
          <a:lstStyle/>
          <a:p>
            <a:pPr algn="ctr" indent="0" marL="0">
              <a:buNone/>
            </a:pPr>
            <a:r>
              <a:rPr lang="en-US" sz="1200" dirty="0">
                <a:solidFill>
                  <a:srgbClr val="141A24"/>
                </a:solidFill>
                <a:latin typeface="Poppins SemiBold" pitchFamily="34" charset="0"/>
                <a:ea typeface="Poppins SemiBold" pitchFamily="34" charset="-122"/>
                <a:cs typeface="Poppins SemiBold" pitchFamily="34" charset="-120"/>
              </a:rPr>
              <a:t>Antônio Gabriel</a:t>
            </a:r>
            <a:endParaRPr lang="en-US" sz="1200" dirty="0"/>
          </a:p>
        </p:txBody>
      </p:sp>
      <p:sp>
        <p:nvSpPr>
          <p:cNvPr id="14" name="Text 10"/>
          <p:cNvSpPr/>
          <p:nvPr/>
        </p:nvSpPr>
        <p:spPr>
          <a:xfrm>
            <a:off x="822960" y="4206240"/>
            <a:ext cx="1670243" cy="274320"/>
          </a:xfrm>
          <a:prstGeom prst="rect">
            <a:avLst/>
          </a:prstGeom>
          <a:noFill/>
          <a:ln/>
        </p:spPr>
        <p:txBody>
          <a:bodyPr wrap="square" lIns="0" tIns="0" rIns="0" bIns="0" rtlCol="0" anchor="ctr"/>
          <a:lstStyle/>
          <a:p>
            <a:pPr algn="ctr" indent="0" marL="0">
              <a:buNone/>
            </a:pPr>
            <a:r>
              <a:rPr lang="en-US" sz="900" dirty="0">
                <a:solidFill>
                  <a:srgbClr val="F35B1A"/>
                </a:solidFill>
                <a:latin typeface="Poppins Medium" pitchFamily="34" charset="0"/>
                <a:ea typeface="Poppins Medium" pitchFamily="34" charset="-122"/>
                <a:cs typeface="Poppins Medium" pitchFamily="34" charset="-120"/>
              </a:rPr>
              <a:t>[Role — TBC]</a:t>
            </a:r>
            <a:endParaRPr lang="en-US" sz="900" dirty="0"/>
          </a:p>
        </p:txBody>
      </p:sp>
      <p:sp>
        <p:nvSpPr>
          <p:cNvPr id="15" name="Shape 11"/>
          <p:cNvSpPr/>
          <p:nvPr/>
        </p:nvSpPr>
        <p:spPr>
          <a:xfrm>
            <a:off x="1097280" y="4599432"/>
            <a:ext cx="1121603" cy="0"/>
          </a:xfrm>
          <a:prstGeom prst="line">
            <a:avLst/>
          </a:prstGeom>
          <a:noFill/>
          <a:ln w="12700">
            <a:solidFill>
              <a:srgbClr val="E2E6EB"/>
            </a:solidFill>
            <a:prstDash val="solid"/>
          </a:ln>
        </p:spPr>
      </p:sp>
      <p:sp>
        <p:nvSpPr>
          <p:cNvPr id="16" name="Text 12"/>
          <p:cNvSpPr/>
          <p:nvPr/>
        </p:nvSpPr>
        <p:spPr>
          <a:xfrm>
            <a:off x="960120" y="4727448"/>
            <a:ext cx="1395923" cy="822960"/>
          </a:xfrm>
          <a:prstGeom prst="rect">
            <a:avLst/>
          </a:prstGeom>
          <a:noFill/>
          <a:ln/>
        </p:spPr>
        <p:txBody>
          <a:bodyPr wrap="square" lIns="0" tIns="0" rIns="0" bIns="0" rtlCol="0" anchor="t"/>
          <a:lstStyle/>
          <a:p>
            <a:pPr algn="ctr" indent="0" marL="0">
              <a:lnSpc>
                <a:spcPct val="110000"/>
              </a:lnSpc>
              <a:buNone/>
            </a:pPr>
            <a:r>
              <a:rPr lang="en-US" sz="800" dirty="0">
                <a:solidFill>
                  <a:srgbClr val="6C7683"/>
                </a:solidFill>
                <a:latin typeface="Poppins" pitchFamily="34" charset="0"/>
                <a:ea typeface="Poppins" pitchFamily="34" charset="-122"/>
                <a:cs typeface="Poppins" pitchFamily="34" charset="-120"/>
              </a:rPr>
              <a:t>[Background — to be</a:t>
            </a:r>
            <a:endParaRPr lang="en-US" sz="800" dirty="0"/>
          </a:p>
          <a:p>
            <a:pPr algn="ctr" indent="0" marL="0">
              <a:lnSpc>
                <a:spcPct val="110000"/>
              </a:lnSpc>
              <a:buNone/>
            </a:pPr>
            <a:r>
              <a:rPr lang="en-US" sz="800" dirty="0">
                <a:solidFill>
                  <a:srgbClr val="6C7683"/>
                </a:solidFill>
                <a:latin typeface="Poppins" pitchFamily="34" charset="0"/>
                <a:ea typeface="Poppins" pitchFamily="34" charset="-122"/>
                <a:cs typeface="Poppins" pitchFamily="34" charset="-120"/>
              </a:rPr>
              <a:t>confirmed with the</a:t>
            </a:r>
            <a:endParaRPr lang="en-US" sz="800" dirty="0"/>
          </a:p>
          <a:p>
            <a:pPr algn="ctr" indent="0" marL="0">
              <a:lnSpc>
                <a:spcPct val="110000"/>
              </a:lnSpc>
              <a:buNone/>
            </a:pPr>
            <a:r>
              <a:rPr lang="en-US" sz="800" dirty="0">
                <a:solidFill>
                  <a:srgbClr val="6C7683"/>
                </a:solidFill>
                <a:latin typeface="Poppins" pitchFamily="34" charset="0"/>
                <a:ea typeface="Poppins" pitchFamily="34" charset="-122"/>
                <a:cs typeface="Poppins" pitchFamily="34" charset="-120"/>
              </a:rPr>
              <a:t>Company]</a:t>
            </a:r>
            <a:endParaRPr lang="en-US" sz="800" dirty="0"/>
          </a:p>
        </p:txBody>
      </p:sp>
      <p:sp>
        <p:nvSpPr>
          <p:cNvPr id="17" name="Shape 13"/>
          <p:cNvSpPr/>
          <p:nvPr/>
        </p:nvSpPr>
        <p:spPr>
          <a:xfrm>
            <a:off x="2950403" y="2148840"/>
            <a:ext cx="1853123" cy="3474720"/>
          </a:xfrm>
          <a:prstGeom prst="roundRect">
            <a:avLst>
              <a:gd name="adj" fmla="val 5921"/>
            </a:avLst>
          </a:prstGeom>
          <a:solidFill>
            <a:srgbClr val="F4F6F8"/>
          </a:solidFill>
          <a:ln w="12700">
            <a:solidFill>
              <a:srgbClr val="E2E6EB"/>
            </a:solidFill>
            <a:prstDash val="solid"/>
          </a:ln>
          <a:effectLst>
            <a:outerShdw sx="100000" sy="100000" kx="0" ky="0" algn="bl" rotWithShape="0" blurRad="101600" dist="25400" dir="5400000">
              <a:srgbClr val="9AA3AD">
                <a:alpha val="30000"/>
              </a:srgbClr>
            </a:outerShdw>
          </a:effectLst>
        </p:spPr>
      </p:sp>
      <p:sp>
        <p:nvSpPr>
          <p:cNvPr id="18" name="Shape 14"/>
          <p:cNvSpPr/>
          <p:nvPr/>
        </p:nvSpPr>
        <p:spPr>
          <a:xfrm>
            <a:off x="3236885" y="2468880"/>
            <a:ext cx="1280160" cy="1280160"/>
          </a:xfrm>
          <a:prstGeom prst="ellipse">
            <a:avLst/>
          </a:prstGeom>
          <a:solidFill>
            <a:srgbClr val="F35B1A"/>
          </a:solidFill>
          <a:ln/>
        </p:spPr>
      </p:sp>
      <p:sp>
        <p:nvSpPr>
          <p:cNvPr id="19" name="Text 15"/>
          <p:cNvSpPr/>
          <p:nvPr/>
        </p:nvSpPr>
        <p:spPr>
          <a:xfrm>
            <a:off x="3236885" y="2468880"/>
            <a:ext cx="1280160" cy="1280160"/>
          </a:xfrm>
          <a:prstGeom prst="rect">
            <a:avLst/>
          </a:prstGeom>
          <a:noFill/>
          <a:ln/>
        </p:spPr>
        <p:txBody>
          <a:bodyPr wrap="square" lIns="0" tIns="0" rIns="0" bIns="0" rtlCol="0" anchor="ctr"/>
          <a:lstStyle/>
          <a:p>
            <a:pPr algn="ctr" indent="0" marL="0">
              <a:buNone/>
            </a:pPr>
            <a:r>
              <a:rPr lang="en-US" sz="2800" dirty="0">
                <a:solidFill>
                  <a:srgbClr val="FFFFFF"/>
                </a:solidFill>
                <a:latin typeface="Poppins SemiBold" pitchFamily="34" charset="0"/>
                <a:ea typeface="Poppins SemiBold" pitchFamily="34" charset="-122"/>
                <a:cs typeface="Poppins SemiBold" pitchFamily="34" charset="-120"/>
              </a:rPr>
              <a:t>M</a:t>
            </a:r>
            <a:endParaRPr lang="en-US" sz="2800" dirty="0"/>
          </a:p>
        </p:txBody>
      </p:sp>
      <p:sp>
        <p:nvSpPr>
          <p:cNvPr id="20" name="Text 16"/>
          <p:cNvSpPr/>
          <p:nvPr/>
        </p:nvSpPr>
        <p:spPr>
          <a:xfrm>
            <a:off x="3041843" y="3886200"/>
            <a:ext cx="1670243" cy="320040"/>
          </a:xfrm>
          <a:prstGeom prst="rect">
            <a:avLst/>
          </a:prstGeom>
          <a:noFill/>
          <a:ln/>
        </p:spPr>
        <p:txBody>
          <a:bodyPr wrap="square" lIns="0" tIns="0" rIns="0" bIns="0" rtlCol="0" anchor="ctr"/>
          <a:lstStyle/>
          <a:p>
            <a:pPr algn="ctr" indent="0" marL="0">
              <a:buNone/>
            </a:pPr>
            <a:r>
              <a:rPr lang="en-US" sz="1200" dirty="0">
                <a:solidFill>
                  <a:srgbClr val="141A24"/>
                </a:solidFill>
                <a:latin typeface="Poppins SemiBold" pitchFamily="34" charset="0"/>
                <a:ea typeface="Poppins SemiBold" pitchFamily="34" charset="-122"/>
                <a:cs typeface="Poppins SemiBold" pitchFamily="34" charset="-120"/>
              </a:rPr>
              <a:t>Morgana</a:t>
            </a:r>
            <a:endParaRPr lang="en-US" sz="1200" dirty="0"/>
          </a:p>
        </p:txBody>
      </p:sp>
      <p:sp>
        <p:nvSpPr>
          <p:cNvPr id="21" name="Text 17"/>
          <p:cNvSpPr/>
          <p:nvPr/>
        </p:nvSpPr>
        <p:spPr>
          <a:xfrm>
            <a:off x="3041843" y="4206240"/>
            <a:ext cx="1670243" cy="274320"/>
          </a:xfrm>
          <a:prstGeom prst="rect">
            <a:avLst/>
          </a:prstGeom>
          <a:noFill/>
          <a:ln/>
        </p:spPr>
        <p:txBody>
          <a:bodyPr wrap="square" lIns="0" tIns="0" rIns="0" bIns="0" rtlCol="0" anchor="ctr"/>
          <a:lstStyle/>
          <a:p>
            <a:pPr algn="ctr" indent="0" marL="0">
              <a:buNone/>
            </a:pPr>
            <a:r>
              <a:rPr lang="en-US" sz="900" dirty="0">
                <a:solidFill>
                  <a:srgbClr val="F35B1A"/>
                </a:solidFill>
                <a:latin typeface="Poppins Medium" pitchFamily="34" charset="0"/>
                <a:ea typeface="Poppins Medium" pitchFamily="34" charset="-122"/>
                <a:cs typeface="Poppins Medium" pitchFamily="34" charset="-120"/>
              </a:rPr>
              <a:t>[Role — TBC]</a:t>
            </a:r>
            <a:endParaRPr lang="en-US" sz="900" dirty="0"/>
          </a:p>
        </p:txBody>
      </p:sp>
      <p:sp>
        <p:nvSpPr>
          <p:cNvPr id="22" name="Shape 18"/>
          <p:cNvSpPr/>
          <p:nvPr/>
        </p:nvSpPr>
        <p:spPr>
          <a:xfrm>
            <a:off x="3316163" y="4599432"/>
            <a:ext cx="1121603" cy="0"/>
          </a:xfrm>
          <a:prstGeom prst="line">
            <a:avLst/>
          </a:prstGeom>
          <a:noFill/>
          <a:ln w="12700">
            <a:solidFill>
              <a:srgbClr val="E2E6EB"/>
            </a:solidFill>
            <a:prstDash val="solid"/>
          </a:ln>
        </p:spPr>
      </p:sp>
      <p:sp>
        <p:nvSpPr>
          <p:cNvPr id="23" name="Text 19"/>
          <p:cNvSpPr/>
          <p:nvPr/>
        </p:nvSpPr>
        <p:spPr>
          <a:xfrm>
            <a:off x="3179003" y="4727448"/>
            <a:ext cx="1395923" cy="822960"/>
          </a:xfrm>
          <a:prstGeom prst="rect">
            <a:avLst/>
          </a:prstGeom>
          <a:noFill/>
          <a:ln/>
        </p:spPr>
        <p:txBody>
          <a:bodyPr wrap="square" lIns="0" tIns="0" rIns="0" bIns="0" rtlCol="0" anchor="t"/>
          <a:lstStyle/>
          <a:p>
            <a:pPr algn="ctr" indent="0" marL="0">
              <a:lnSpc>
                <a:spcPct val="110000"/>
              </a:lnSpc>
              <a:buNone/>
            </a:pPr>
            <a:r>
              <a:rPr lang="en-US" sz="800" dirty="0">
                <a:solidFill>
                  <a:srgbClr val="6C7683"/>
                </a:solidFill>
                <a:latin typeface="Poppins" pitchFamily="34" charset="0"/>
                <a:ea typeface="Poppins" pitchFamily="34" charset="-122"/>
                <a:cs typeface="Poppins" pitchFamily="34" charset="-120"/>
              </a:rPr>
              <a:t>[Background — to be</a:t>
            </a:r>
            <a:endParaRPr lang="en-US" sz="800" dirty="0"/>
          </a:p>
          <a:p>
            <a:pPr algn="ctr" indent="0" marL="0">
              <a:lnSpc>
                <a:spcPct val="110000"/>
              </a:lnSpc>
              <a:buNone/>
            </a:pPr>
            <a:r>
              <a:rPr lang="en-US" sz="800" dirty="0">
                <a:solidFill>
                  <a:srgbClr val="6C7683"/>
                </a:solidFill>
                <a:latin typeface="Poppins" pitchFamily="34" charset="0"/>
                <a:ea typeface="Poppins" pitchFamily="34" charset="-122"/>
                <a:cs typeface="Poppins" pitchFamily="34" charset="-120"/>
              </a:rPr>
              <a:t>confirmed with the</a:t>
            </a:r>
            <a:endParaRPr lang="en-US" sz="800" dirty="0"/>
          </a:p>
          <a:p>
            <a:pPr algn="ctr" indent="0" marL="0">
              <a:lnSpc>
                <a:spcPct val="110000"/>
              </a:lnSpc>
              <a:buNone/>
            </a:pPr>
            <a:r>
              <a:rPr lang="en-US" sz="800" dirty="0">
                <a:solidFill>
                  <a:srgbClr val="6C7683"/>
                </a:solidFill>
                <a:latin typeface="Poppins" pitchFamily="34" charset="0"/>
                <a:ea typeface="Poppins" pitchFamily="34" charset="-122"/>
                <a:cs typeface="Poppins" pitchFamily="34" charset="-120"/>
              </a:rPr>
              <a:t>Company]</a:t>
            </a:r>
            <a:endParaRPr lang="en-US" sz="800" dirty="0"/>
          </a:p>
        </p:txBody>
      </p:sp>
      <p:sp>
        <p:nvSpPr>
          <p:cNvPr id="24" name="Shape 20"/>
          <p:cNvSpPr/>
          <p:nvPr/>
        </p:nvSpPr>
        <p:spPr>
          <a:xfrm>
            <a:off x="5169286" y="2148840"/>
            <a:ext cx="1853123" cy="3474720"/>
          </a:xfrm>
          <a:prstGeom prst="roundRect">
            <a:avLst>
              <a:gd name="adj" fmla="val 5921"/>
            </a:avLst>
          </a:prstGeom>
          <a:solidFill>
            <a:srgbClr val="F4F6F8"/>
          </a:solidFill>
          <a:ln w="12700">
            <a:solidFill>
              <a:srgbClr val="E2E6EB"/>
            </a:solidFill>
            <a:prstDash val="solid"/>
          </a:ln>
          <a:effectLst>
            <a:outerShdw sx="100000" sy="100000" kx="0" ky="0" algn="bl" rotWithShape="0" blurRad="101600" dist="25400" dir="5400000">
              <a:srgbClr val="9AA3AD">
                <a:alpha val="30000"/>
              </a:srgbClr>
            </a:outerShdw>
          </a:effectLst>
        </p:spPr>
      </p:sp>
      <p:sp>
        <p:nvSpPr>
          <p:cNvPr id="25" name="Shape 21"/>
          <p:cNvSpPr/>
          <p:nvPr/>
        </p:nvSpPr>
        <p:spPr>
          <a:xfrm>
            <a:off x="5455768" y="2468880"/>
            <a:ext cx="1280160" cy="1280160"/>
          </a:xfrm>
          <a:prstGeom prst="ellipse">
            <a:avLst/>
          </a:prstGeom>
          <a:solidFill>
            <a:srgbClr val="141A24"/>
          </a:solidFill>
          <a:ln/>
        </p:spPr>
      </p:sp>
      <p:sp>
        <p:nvSpPr>
          <p:cNvPr id="26" name="Text 22"/>
          <p:cNvSpPr/>
          <p:nvPr/>
        </p:nvSpPr>
        <p:spPr>
          <a:xfrm>
            <a:off x="5455768" y="2468880"/>
            <a:ext cx="1280160" cy="1280160"/>
          </a:xfrm>
          <a:prstGeom prst="rect">
            <a:avLst/>
          </a:prstGeom>
          <a:noFill/>
          <a:ln/>
        </p:spPr>
        <p:txBody>
          <a:bodyPr wrap="square" lIns="0" tIns="0" rIns="0" bIns="0" rtlCol="0" anchor="ctr"/>
          <a:lstStyle/>
          <a:p>
            <a:pPr algn="ctr" indent="0" marL="0">
              <a:buNone/>
            </a:pPr>
            <a:r>
              <a:rPr lang="en-US" sz="2800" dirty="0">
                <a:solidFill>
                  <a:srgbClr val="FFFFFF"/>
                </a:solidFill>
                <a:latin typeface="Poppins SemiBold" pitchFamily="34" charset="0"/>
                <a:ea typeface="Poppins SemiBold" pitchFamily="34" charset="-122"/>
                <a:cs typeface="Poppins SemiBold" pitchFamily="34" charset="-120"/>
              </a:rPr>
              <a:t>P</a:t>
            </a:r>
            <a:endParaRPr lang="en-US" sz="2800" dirty="0"/>
          </a:p>
        </p:txBody>
      </p:sp>
      <p:sp>
        <p:nvSpPr>
          <p:cNvPr id="27" name="Text 23"/>
          <p:cNvSpPr/>
          <p:nvPr/>
        </p:nvSpPr>
        <p:spPr>
          <a:xfrm>
            <a:off x="5260726" y="3886200"/>
            <a:ext cx="1670243" cy="320040"/>
          </a:xfrm>
          <a:prstGeom prst="rect">
            <a:avLst/>
          </a:prstGeom>
          <a:noFill/>
          <a:ln/>
        </p:spPr>
        <p:txBody>
          <a:bodyPr wrap="square" lIns="0" tIns="0" rIns="0" bIns="0" rtlCol="0" anchor="ctr"/>
          <a:lstStyle/>
          <a:p>
            <a:pPr algn="ctr" indent="0" marL="0">
              <a:buNone/>
            </a:pPr>
            <a:r>
              <a:rPr lang="en-US" sz="1200" dirty="0">
                <a:solidFill>
                  <a:srgbClr val="141A24"/>
                </a:solidFill>
                <a:latin typeface="Poppins SemiBold" pitchFamily="34" charset="0"/>
                <a:ea typeface="Poppins SemiBold" pitchFamily="34" charset="-122"/>
                <a:cs typeface="Poppins SemiBold" pitchFamily="34" charset="-120"/>
              </a:rPr>
              <a:t>Pedro</a:t>
            </a:r>
            <a:endParaRPr lang="en-US" sz="1200" dirty="0"/>
          </a:p>
        </p:txBody>
      </p:sp>
      <p:sp>
        <p:nvSpPr>
          <p:cNvPr id="28" name="Text 24"/>
          <p:cNvSpPr/>
          <p:nvPr/>
        </p:nvSpPr>
        <p:spPr>
          <a:xfrm>
            <a:off x="5260726" y="4206240"/>
            <a:ext cx="1670243" cy="274320"/>
          </a:xfrm>
          <a:prstGeom prst="rect">
            <a:avLst/>
          </a:prstGeom>
          <a:noFill/>
          <a:ln/>
        </p:spPr>
        <p:txBody>
          <a:bodyPr wrap="square" lIns="0" tIns="0" rIns="0" bIns="0" rtlCol="0" anchor="ctr"/>
          <a:lstStyle/>
          <a:p>
            <a:pPr algn="ctr" indent="0" marL="0">
              <a:buNone/>
            </a:pPr>
            <a:r>
              <a:rPr lang="en-US" sz="900" dirty="0">
                <a:solidFill>
                  <a:srgbClr val="F35B1A"/>
                </a:solidFill>
                <a:latin typeface="Poppins Medium" pitchFamily="34" charset="0"/>
                <a:ea typeface="Poppins Medium" pitchFamily="34" charset="-122"/>
                <a:cs typeface="Poppins Medium" pitchFamily="34" charset="-120"/>
              </a:rPr>
              <a:t>[Role — TBC]</a:t>
            </a:r>
            <a:endParaRPr lang="en-US" sz="900" dirty="0"/>
          </a:p>
        </p:txBody>
      </p:sp>
      <p:sp>
        <p:nvSpPr>
          <p:cNvPr id="29" name="Shape 25"/>
          <p:cNvSpPr/>
          <p:nvPr/>
        </p:nvSpPr>
        <p:spPr>
          <a:xfrm>
            <a:off x="5535046" y="4599432"/>
            <a:ext cx="1121603" cy="0"/>
          </a:xfrm>
          <a:prstGeom prst="line">
            <a:avLst/>
          </a:prstGeom>
          <a:noFill/>
          <a:ln w="12700">
            <a:solidFill>
              <a:srgbClr val="E2E6EB"/>
            </a:solidFill>
            <a:prstDash val="solid"/>
          </a:ln>
        </p:spPr>
      </p:sp>
      <p:sp>
        <p:nvSpPr>
          <p:cNvPr id="30" name="Text 26"/>
          <p:cNvSpPr/>
          <p:nvPr/>
        </p:nvSpPr>
        <p:spPr>
          <a:xfrm>
            <a:off x="5397886" y="4727448"/>
            <a:ext cx="1395923" cy="822960"/>
          </a:xfrm>
          <a:prstGeom prst="rect">
            <a:avLst/>
          </a:prstGeom>
          <a:noFill/>
          <a:ln/>
        </p:spPr>
        <p:txBody>
          <a:bodyPr wrap="square" lIns="0" tIns="0" rIns="0" bIns="0" rtlCol="0" anchor="t"/>
          <a:lstStyle/>
          <a:p>
            <a:pPr algn="ctr" indent="0" marL="0">
              <a:lnSpc>
                <a:spcPct val="110000"/>
              </a:lnSpc>
              <a:buNone/>
            </a:pPr>
            <a:r>
              <a:rPr lang="en-US" sz="800" dirty="0">
                <a:solidFill>
                  <a:srgbClr val="6C7683"/>
                </a:solidFill>
                <a:latin typeface="Poppins" pitchFamily="34" charset="0"/>
                <a:ea typeface="Poppins" pitchFamily="34" charset="-122"/>
                <a:cs typeface="Poppins" pitchFamily="34" charset="-120"/>
              </a:rPr>
              <a:t>[Background — to be</a:t>
            </a:r>
            <a:endParaRPr lang="en-US" sz="800" dirty="0"/>
          </a:p>
          <a:p>
            <a:pPr algn="ctr" indent="0" marL="0">
              <a:lnSpc>
                <a:spcPct val="110000"/>
              </a:lnSpc>
              <a:buNone/>
            </a:pPr>
            <a:r>
              <a:rPr lang="en-US" sz="800" dirty="0">
                <a:solidFill>
                  <a:srgbClr val="6C7683"/>
                </a:solidFill>
                <a:latin typeface="Poppins" pitchFamily="34" charset="0"/>
                <a:ea typeface="Poppins" pitchFamily="34" charset="-122"/>
                <a:cs typeface="Poppins" pitchFamily="34" charset="-120"/>
              </a:rPr>
              <a:t>confirmed with the</a:t>
            </a:r>
            <a:endParaRPr lang="en-US" sz="800" dirty="0"/>
          </a:p>
          <a:p>
            <a:pPr algn="ctr" indent="0" marL="0">
              <a:lnSpc>
                <a:spcPct val="110000"/>
              </a:lnSpc>
              <a:buNone/>
            </a:pPr>
            <a:r>
              <a:rPr lang="en-US" sz="800" dirty="0">
                <a:solidFill>
                  <a:srgbClr val="6C7683"/>
                </a:solidFill>
                <a:latin typeface="Poppins" pitchFamily="34" charset="0"/>
                <a:ea typeface="Poppins" pitchFamily="34" charset="-122"/>
                <a:cs typeface="Poppins" pitchFamily="34" charset="-120"/>
              </a:rPr>
              <a:t>Company]</a:t>
            </a:r>
            <a:endParaRPr lang="en-US" sz="800" dirty="0"/>
          </a:p>
        </p:txBody>
      </p:sp>
      <p:sp>
        <p:nvSpPr>
          <p:cNvPr id="31" name="Shape 27"/>
          <p:cNvSpPr/>
          <p:nvPr/>
        </p:nvSpPr>
        <p:spPr>
          <a:xfrm>
            <a:off x="7388169" y="2148840"/>
            <a:ext cx="1853123" cy="3474720"/>
          </a:xfrm>
          <a:prstGeom prst="roundRect">
            <a:avLst>
              <a:gd name="adj" fmla="val 5921"/>
            </a:avLst>
          </a:prstGeom>
          <a:solidFill>
            <a:srgbClr val="F4F6F8"/>
          </a:solidFill>
          <a:ln w="12700">
            <a:solidFill>
              <a:srgbClr val="E2E6EB"/>
            </a:solidFill>
            <a:prstDash val="solid"/>
          </a:ln>
          <a:effectLst>
            <a:outerShdw sx="100000" sy="100000" kx="0" ky="0" algn="bl" rotWithShape="0" blurRad="101600" dist="25400" dir="5400000">
              <a:srgbClr val="9AA3AD">
                <a:alpha val="30000"/>
              </a:srgbClr>
            </a:outerShdw>
          </a:effectLst>
        </p:spPr>
      </p:sp>
      <p:sp>
        <p:nvSpPr>
          <p:cNvPr id="32" name="Shape 28"/>
          <p:cNvSpPr/>
          <p:nvPr/>
        </p:nvSpPr>
        <p:spPr>
          <a:xfrm>
            <a:off x="7674651" y="2468880"/>
            <a:ext cx="1280160" cy="1280160"/>
          </a:xfrm>
          <a:prstGeom prst="ellipse">
            <a:avLst/>
          </a:prstGeom>
          <a:solidFill>
            <a:srgbClr val="F35B1A"/>
          </a:solidFill>
          <a:ln/>
        </p:spPr>
      </p:sp>
      <p:sp>
        <p:nvSpPr>
          <p:cNvPr id="33" name="Text 29"/>
          <p:cNvSpPr/>
          <p:nvPr/>
        </p:nvSpPr>
        <p:spPr>
          <a:xfrm>
            <a:off x="7674651" y="2468880"/>
            <a:ext cx="1280160" cy="1280160"/>
          </a:xfrm>
          <a:prstGeom prst="rect">
            <a:avLst/>
          </a:prstGeom>
          <a:noFill/>
          <a:ln/>
        </p:spPr>
        <p:txBody>
          <a:bodyPr wrap="square" lIns="0" tIns="0" rIns="0" bIns="0" rtlCol="0" anchor="ctr"/>
          <a:lstStyle/>
          <a:p>
            <a:pPr algn="ctr" indent="0" marL="0">
              <a:buNone/>
            </a:pPr>
            <a:r>
              <a:rPr lang="en-US" sz="2800" dirty="0">
                <a:solidFill>
                  <a:srgbClr val="FFFFFF"/>
                </a:solidFill>
                <a:latin typeface="Poppins SemiBold" pitchFamily="34" charset="0"/>
                <a:ea typeface="Poppins SemiBold" pitchFamily="34" charset="-122"/>
                <a:cs typeface="Poppins SemiBold" pitchFamily="34" charset="-120"/>
              </a:rPr>
              <a:t>G</a:t>
            </a:r>
            <a:endParaRPr lang="en-US" sz="2800" dirty="0"/>
          </a:p>
        </p:txBody>
      </p:sp>
      <p:sp>
        <p:nvSpPr>
          <p:cNvPr id="34" name="Text 30"/>
          <p:cNvSpPr/>
          <p:nvPr/>
        </p:nvSpPr>
        <p:spPr>
          <a:xfrm>
            <a:off x="7479609" y="3886200"/>
            <a:ext cx="1670243" cy="320040"/>
          </a:xfrm>
          <a:prstGeom prst="rect">
            <a:avLst/>
          </a:prstGeom>
          <a:noFill/>
          <a:ln/>
        </p:spPr>
        <p:txBody>
          <a:bodyPr wrap="square" lIns="0" tIns="0" rIns="0" bIns="0" rtlCol="0" anchor="ctr"/>
          <a:lstStyle/>
          <a:p>
            <a:pPr algn="ctr" indent="0" marL="0">
              <a:buNone/>
            </a:pPr>
            <a:r>
              <a:rPr lang="en-US" sz="1200" dirty="0">
                <a:solidFill>
                  <a:srgbClr val="141A24"/>
                </a:solidFill>
                <a:latin typeface="Poppins SemiBold" pitchFamily="34" charset="0"/>
                <a:ea typeface="Poppins SemiBold" pitchFamily="34" charset="-122"/>
                <a:cs typeface="Poppins SemiBold" pitchFamily="34" charset="-120"/>
              </a:rPr>
              <a:t>Gabriela</a:t>
            </a:r>
            <a:endParaRPr lang="en-US" sz="1200" dirty="0"/>
          </a:p>
        </p:txBody>
      </p:sp>
      <p:sp>
        <p:nvSpPr>
          <p:cNvPr id="35" name="Text 31"/>
          <p:cNvSpPr/>
          <p:nvPr/>
        </p:nvSpPr>
        <p:spPr>
          <a:xfrm>
            <a:off x="7479609" y="4206240"/>
            <a:ext cx="1670243" cy="274320"/>
          </a:xfrm>
          <a:prstGeom prst="rect">
            <a:avLst/>
          </a:prstGeom>
          <a:noFill/>
          <a:ln/>
        </p:spPr>
        <p:txBody>
          <a:bodyPr wrap="square" lIns="0" tIns="0" rIns="0" bIns="0" rtlCol="0" anchor="ctr"/>
          <a:lstStyle/>
          <a:p>
            <a:pPr algn="ctr" indent="0" marL="0">
              <a:buNone/>
            </a:pPr>
            <a:r>
              <a:rPr lang="en-US" sz="900" dirty="0">
                <a:solidFill>
                  <a:srgbClr val="F35B1A"/>
                </a:solidFill>
                <a:latin typeface="Poppins Medium" pitchFamily="34" charset="0"/>
                <a:ea typeface="Poppins Medium" pitchFamily="34" charset="-122"/>
                <a:cs typeface="Poppins Medium" pitchFamily="34" charset="-120"/>
              </a:rPr>
              <a:t>[Role — TBC]</a:t>
            </a:r>
            <a:endParaRPr lang="en-US" sz="900" dirty="0"/>
          </a:p>
        </p:txBody>
      </p:sp>
      <p:sp>
        <p:nvSpPr>
          <p:cNvPr id="36" name="Shape 32"/>
          <p:cNvSpPr/>
          <p:nvPr/>
        </p:nvSpPr>
        <p:spPr>
          <a:xfrm>
            <a:off x="7753929" y="4599432"/>
            <a:ext cx="1121603" cy="0"/>
          </a:xfrm>
          <a:prstGeom prst="line">
            <a:avLst/>
          </a:prstGeom>
          <a:noFill/>
          <a:ln w="12700">
            <a:solidFill>
              <a:srgbClr val="E2E6EB"/>
            </a:solidFill>
            <a:prstDash val="solid"/>
          </a:ln>
        </p:spPr>
      </p:sp>
      <p:sp>
        <p:nvSpPr>
          <p:cNvPr id="37" name="Text 33"/>
          <p:cNvSpPr/>
          <p:nvPr/>
        </p:nvSpPr>
        <p:spPr>
          <a:xfrm>
            <a:off x="7616769" y="4727448"/>
            <a:ext cx="1395923" cy="822960"/>
          </a:xfrm>
          <a:prstGeom prst="rect">
            <a:avLst/>
          </a:prstGeom>
          <a:noFill/>
          <a:ln/>
        </p:spPr>
        <p:txBody>
          <a:bodyPr wrap="square" lIns="0" tIns="0" rIns="0" bIns="0" rtlCol="0" anchor="t"/>
          <a:lstStyle/>
          <a:p>
            <a:pPr algn="ctr" indent="0" marL="0">
              <a:lnSpc>
                <a:spcPct val="110000"/>
              </a:lnSpc>
              <a:buNone/>
            </a:pPr>
            <a:r>
              <a:rPr lang="en-US" sz="800" dirty="0">
                <a:solidFill>
                  <a:srgbClr val="6C7683"/>
                </a:solidFill>
                <a:latin typeface="Poppins" pitchFamily="34" charset="0"/>
                <a:ea typeface="Poppins" pitchFamily="34" charset="-122"/>
                <a:cs typeface="Poppins" pitchFamily="34" charset="-120"/>
              </a:rPr>
              <a:t>[Background — to be</a:t>
            </a:r>
            <a:endParaRPr lang="en-US" sz="800" dirty="0"/>
          </a:p>
          <a:p>
            <a:pPr algn="ctr" indent="0" marL="0">
              <a:lnSpc>
                <a:spcPct val="110000"/>
              </a:lnSpc>
              <a:buNone/>
            </a:pPr>
            <a:r>
              <a:rPr lang="en-US" sz="800" dirty="0">
                <a:solidFill>
                  <a:srgbClr val="6C7683"/>
                </a:solidFill>
                <a:latin typeface="Poppins" pitchFamily="34" charset="0"/>
                <a:ea typeface="Poppins" pitchFamily="34" charset="-122"/>
                <a:cs typeface="Poppins" pitchFamily="34" charset="-120"/>
              </a:rPr>
              <a:t>confirmed with the</a:t>
            </a:r>
            <a:endParaRPr lang="en-US" sz="800" dirty="0"/>
          </a:p>
          <a:p>
            <a:pPr algn="ctr" indent="0" marL="0">
              <a:lnSpc>
                <a:spcPct val="110000"/>
              </a:lnSpc>
              <a:buNone/>
            </a:pPr>
            <a:r>
              <a:rPr lang="en-US" sz="800" dirty="0">
                <a:solidFill>
                  <a:srgbClr val="6C7683"/>
                </a:solidFill>
                <a:latin typeface="Poppins" pitchFamily="34" charset="0"/>
                <a:ea typeface="Poppins" pitchFamily="34" charset="-122"/>
                <a:cs typeface="Poppins" pitchFamily="34" charset="-120"/>
              </a:rPr>
              <a:t>Company]</a:t>
            </a:r>
            <a:endParaRPr lang="en-US" sz="800" dirty="0"/>
          </a:p>
        </p:txBody>
      </p:sp>
      <p:sp>
        <p:nvSpPr>
          <p:cNvPr id="38" name="Shape 34"/>
          <p:cNvSpPr/>
          <p:nvPr/>
        </p:nvSpPr>
        <p:spPr>
          <a:xfrm>
            <a:off x="9607052" y="2148840"/>
            <a:ext cx="1853123" cy="3474720"/>
          </a:xfrm>
          <a:prstGeom prst="roundRect">
            <a:avLst>
              <a:gd name="adj" fmla="val 5921"/>
            </a:avLst>
          </a:prstGeom>
          <a:solidFill>
            <a:srgbClr val="F4F6F8"/>
          </a:solidFill>
          <a:ln w="12700">
            <a:solidFill>
              <a:srgbClr val="E2E6EB"/>
            </a:solidFill>
            <a:prstDash val="solid"/>
          </a:ln>
          <a:effectLst>
            <a:outerShdw sx="100000" sy="100000" kx="0" ky="0" algn="bl" rotWithShape="0" blurRad="101600" dist="25400" dir="5400000">
              <a:srgbClr val="9AA3AD">
                <a:alpha val="30000"/>
              </a:srgbClr>
            </a:outerShdw>
          </a:effectLst>
        </p:spPr>
      </p:sp>
      <p:sp>
        <p:nvSpPr>
          <p:cNvPr id="39" name="Shape 35"/>
          <p:cNvSpPr/>
          <p:nvPr/>
        </p:nvSpPr>
        <p:spPr>
          <a:xfrm>
            <a:off x="9893534" y="2468880"/>
            <a:ext cx="1280160" cy="1280160"/>
          </a:xfrm>
          <a:prstGeom prst="ellipse">
            <a:avLst/>
          </a:prstGeom>
          <a:solidFill>
            <a:srgbClr val="141A24"/>
          </a:solidFill>
          <a:ln/>
        </p:spPr>
      </p:sp>
      <p:sp>
        <p:nvSpPr>
          <p:cNvPr id="40" name="Text 36"/>
          <p:cNvSpPr/>
          <p:nvPr/>
        </p:nvSpPr>
        <p:spPr>
          <a:xfrm>
            <a:off x="9893534" y="2468880"/>
            <a:ext cx="1280160" cy="1280160"/>
          </a:xfrm>
          <a:prstGeom prst="rect">
            <a:avLst/>
          </a:prstGeom>
          <a:noFill/>
          <a:ln/>
        </p:spPr>
        <p:txBody>
          <a:bodyPr wrap="square" lIns="0" tIns="0" rIns="0" bIns="0" rtlCol="0" anchor="ctr"/>
          <a:lstStyle/>
          <a:p>
            <a:pPr algn="ctr" indent="0" marL="0">
              <a:buNone/>
            </a:pPr>
            <a:r>
              <a:rPr lang="en-US" sz="2800" dirty="0">
                <a:solidFill>
                  <a:srgbClr val="FFFFFF"/>
                </a:solidFill>
                <a:latin typeface="Poppins SemiBold" pitchFamily="34" charset="0"/>
                <a:ea typeface="Poppins SemiBold" pitchFamily="34" charset="-122"/>
                <a:cs typeface="Poppins SemiBold" pitchFamily="34" charset="-120"/>
              </a:rPr>
              <a:t>?</a:t>
            </a:r>
            <a:endParaRPr lang="en-US" sz="2800" dirty="0"/>
          </a:p>
        </p:txBody>
      </p:sp>
      <p:sp>
        <p:nvSpPr>
          <p:cNvPr id="41" name="Text 37"/>
          <p:cNvSpPr/>
          <p:nvPr/>
        </p:nvSpPr>
        <p:spPr>
          <a:xfrm>
            <a:off x="9698492" y="3886200"/>
            <a:ext cx="1670243" cy="320040"/>
          </a:xfrm>
          <a:prstGeom prst="rect">
            <a:avLst/>
          </a:prstGeom>
          <a:noFill/>
          <a:ln/>
        </p:spPr>
        <p:txBody>
          <a:bodyPr wrap="square" lIns="0" tIns="0" rIns="0" bIns="0" rtlCol="0" anchor="ctr"/>
          <a:lstStyle/>
          <a:p>
            <a:pPr algn="ctr" indent="0" marL="0">
              <a:buNone/>
            </a:pPr>
            <a:r>
              <a:rPr lang="en-US" sz="1200" dirty="0">
                <a:solidFill>
                  <a:srgbClr val="141A24"/>
                </a:solidFill>
                <a:latin typeface="Poppins SemiBold" pitchFamily="34" charset="0"/>
                <a:ea typeface="Poppins SemiBold" pitchFamily="34" charset="-122"/>
                <a:cs typeface="Poppins SemiBold" pitchFamily="34" charset="-120"/>
              </a:rPr>
              <a:t>[Name TBC]</a:t>
            </a:r>
            <a:endParaRPr lang="en-US" sz="1200" dirty="0"/>
          </a:p>
        </p:txBody>
      </p:sp>
      <p:sp>
        <p:nvSpPr>
          <p:cNvPr id="42" name="Text 38"/>
          <p:cNvSpPr/>
          <p:nvPr/>
        </p:nvSpPr>
        <p:spPr>
          <a:xfrm>
            <a:off x="9698492" y="4206240"/>
            <a:ext cx="1670243" cy="274320"/>
          </a:xfrm>
          <a:prstGeom prst="rect">
            <a:avLst/>
          </a:prstGeom>
          <a:noFill/>
          <a:ln/>
        </p:spPr>
        <p:txBody>
          <a:bodyPr wrap="square" lIns="0" tIns="0" rIns="0" bIns="0" rtlCol="0" anchor="ctr"/>
          <a:lstStyle/>
          <a:p>
            <a:pPr algn="ctr" indent="0" marL="0">
              <a:buNone/>
            </a:pPr>
            <a:r>
              <a:rPr lang="en-US" sz="900" dirty="0">
                <a:solidFill>
                  <a:srgbClr val="F35B1A"/>
                </a:solidFill>
                <a:latin typeface="Poppins Medium" pitchFamily="34" charset="0"/>
                <a:ea typeface="Poppins Medium" pitchFamily="34" charset="-122"/>
                <a:cs typeface="Poppins Medium" pitchFamily="34" charset="-120"/>
              </a:rPr>
              <a:t>[Role — TBC]</a:t>
            </a:r>
            <a:endParaRPr lang="en-US" sz="900" dirty="0"/>
          </a:p>
        </p:txBody>
      </p:sp>
      <p:sp>
        <p:nvSpPr>
          <p:cNvPr id="43" name="Shape 39"/>
          <p:cNvSpPr/>
          <p:nvPr/>
        </p:nvSpPr>
        <p:spPr>
          <a:xfrm>
            <a:off x="9972812" y="4599432"/>
            <a:ext cx="1121603" cy="0"/>
          </a:xfrm>
          <a:prstGeom prst="line">
            <a:avLst/>
          </a:prstGeom>
          <a:noFill/>
          <a:ln w="12700">
            <a:solidFill>
              <a:srgbClr val="E2E6EB"/>
            </a:solidFill>
            <a:prstDash val="solid"/>
          </a:ln>
        </p:spPr>
      </p:sp>
      <p:sp>
        <p:nvSpPr>
          <p:cNvPr id="44" name="Text 40"/>
          <p:cNvSpPr/>
          <p:nvPr/>
        </p:nvSpPr>
        <p:spPr>
          <a:xfrm>
            <a:off x="9835652" y="4727448"/>
            <a:ext cx="1395923" cy="822960"/>
          </a:xfrm>
          <a:prstGeom prst="rect">
            <a:avLst/>
          </a:prstGeom>
          <a:noFill/>
          <a:ln/>
        </p:spPr>
        <p:txBody>
          <a:bodyPr wrap="square" lIns="0" tIns="0" rIns="0" bIns="0" rtlCol="0" anchor="t"/>
          <a:lstStyle/>
          <a:p>
            <a:pPr algn="ctr" indent="0" marL="0">
              <a:lnSpc>
                <a:spcPct val="110000"/>
              </a:lnSpc>
              <a:buNone/>
            </a:pPr>
            <a:r>
              <a:rPr lang="en-US" sz="800" dirty="0">
                <a:solidFill>
                  <a:srgbClr val="6C7683"/>
                </a:solidFill>
                <a:latin typeface="Poppins" pitchFamily="34" charset="0"/>
                <a:ea typeface="Poppins" pitchFamily="34" charset="-122"/>
                <a:cs typeface="Poppins" pitchFamily="34" charset="-120"/>
              </a:rPr>
              <a:t>[Background — to be</a:t>
            </a:r>
            <a:endParaRPr lang="en-US" sz="800" dirty="0"/>
          </a:p>
          <a:p>
            <a:pPr algn="ctr" indent="0" marL="0">
              <a:lnSpc>
                <a:spcPct val="110000"/>
              </a:lnSpc>
              <a:buNone/>
            </a:pPr>
            <a:r>
              <a:rPr lang="en-US" sz="800" dirty="0">
                <a:solidFill>
                  <a:srgbClr val="6C7683"/>
                </a:solidFill>
                <a:latin typeface="Poppins" pitchFamily="34" charset="0"/>
                <a:ea typeface="Poppins" pitchFamily="34" charset="-122"/>
                <a:cs typeface="Poppins" pitchFamily="34" charset="-120"/>
              </a:rPr>
              <a:t>confirmed with the</a:t>
            </a:r>
            <a:endParaRPr lang="en-US" sz="800" dirty="0"/>
          </a:p>
          <a:p>
            <a:pPr algn="ctr" indent="0" marL="0">
              <a:lnSpc>
                <a:spcPct val="110000"/>
              </a:lnSpc>
              <a:buNone/>
            </a:pPr>
            <a:r>
              <a:rPr lang="en-US" sz="800" dirty="0">
                <a:solidFill>
                  <a:srgbClr val="6C7683"/>
                </a:solidFill>
                <a:latin typeface="Poppins" pitchFamily="34" charset="0"/>
                <a:ea typeface="Poppins" pitchFamily="34" charset="-122"/>
                <a:cs typeface="Poppins" pitchFamily="34" charset="-120"/>
              </a:rPr>
              <a:t>Company]</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assets/mobi_logo_navy.png">    </p:cNvPr>
          <p:cNvPicPr>
            <a:picLocks noChangeAspect="1"/>
          </p:cNvPicPr>
          <p:nvPr/>
        </p:nvPicPr>
        <p:blipFill>
          <a:blip r:embed="rId1"/>
          <a:stretch>
            <a:fillRect/>
          </a:stretch>
        </p:blipFill>
        <p:spPr>
          <a:xfrm>
            <a:off x="10545775" y="329184"/>
            <a:ext cx="914400" cy="292894"/>
          </a:xfrm>
          <a:prstGeom prst="rect">
            <a:avLst/>
          </a:prstGeom>
        </p:spPr>
      </p:pic>
      <p:sp>
        <p:nvSpPr>
          <p:cNvPr id="3" name="Shape 0"/>
          <p:cNvSpPr/>
          <p:nvPr/>
        </p:nvSpPr>
        <p:spPr>
          <a:xfrm>
            <a:off x="731520" y="329184"/>
            <a:ext cx="1472184" cy="329184"/>
          </a:xfrm>
          <a:prstGeom prst="roundRect">
            <a:avLst>
              <a:gd name="adj" fmla="val 25000"/>
            </a:avLst>
          </a:prstGeom>
          <a:solidFill>
            <a:srgbClr val="FDE9DE"/>
          </a:solidFill>
          <a:ln/>
        </p:spPr>
      </p:sp>
      <p:sp>
        <p:nvSpPr>
          <p:cNvPr id="4" name="Text 1"/>
          <p:cNvSpPr/>
          <p:nvPr/>
        </p:nvSpPr>
        <p:spPr>
          <a:xfrm>
            <a:off x="731520" y="329184"/>
            <a:ext cx="1472184" cy="329184"/>
          </a:xfrm>
          <a:prstGeom prst="rect">
            <a:avLst/>
          </a:prstGeom>
          <a:noFill/>
          <a:ln/>
        </p:spPr>
        <p:txBody>
          <a:bodyPr wrap="square" lIns="0" tIns="0" rIns="0" bIns="0" rtlCol="0" anchor="ctr"/>
          <a:lstStyle/>
          <a:p>
            <a:pPr algn="ctr" indent="0" marL="0">
              <a:buNone/>
            </a:pPr>
            <a:r>
              <a:rPr lang="en-US" sz="900" dirty="0">
                <a:solidFill>
                  <a:srgbClr val="C6470F"/>
                </a:solidFill>
                <a:latin typeface="Poppins Medium" pitchFamily="34" charset="0"/>
                <a:ea typeface="Poppins Medium" pitchFamily="34" charset="-122"/>
                <a:cs typeface="Poppins Medium" pitchFamily="34" charset="-120"/>
              </a:rPr>
              <a:t>Company Overview</a:t>
            </a:r>
            <a:endParaRPr lang="en-US" sz="900" dirty="0"/>
          </a:p>
        </p:txBody>
      </p:sp>
      <p:sp>
        <p:nvSpPr>
          <p:cNvPr id="5" name="Text 2"/>
          <p:cNvSpPr/>
          <p:nvPr/>
        </p:nvSpPr>
        <p:spPr>
          <a:xfrm>
            <a:off x="731520" y="731520"/>
            <a:ext cx="10088575" cy="548640"/>
          </a:xfrm>
          <a:prstGeom prst="rect">
            <a:avLst/>
          </a:prstGeom>
          <a:noFill/>
          <a:ln/>
        </p:spPr>
        <p:txBody>
          <a:bodyPr wrap="square" lIns="0" tIns="0" rIns="0" bIns="0" rtlCol="0" anchor="ctr"/>
          <a:lstStyle/>
          <a:p>
            <a:pPr algn="l" indent="0" marL="0">
              <a:buNone/>
            </a:pPr>
            <a:r>
              <a:rPr lang="en-US" sz="1800" dirty="0">
                <a:solidFill>
                  <a:srgbClr val="141A24"/>
                </a:solidFill>
                <a:latin typeface="Poppins SemiBold" pitchFamily="34" charset="0"/>
                <a:ea typeface="Poppins SemiBold" pitchFamily="34" charset="-122"/>
                <a:cs typeface="Poppins SemiBold" pitchFamily="34" charset="-120"/>
              </a:rPr>
              <a:t>Organization &amp; corporate structure</a:t>
            </a:r>
            <a:endParaRPr lang="en-US" sz="1800" dirty="0"/>
          </a:p>
        </p:txBody>
      </p:sp>
      <p:sp>
        <p:nvSpPr>
          <p:cNvPr id="6" name="Text 3"/>
          <p:cNvSpPr/>
          <p:nvPr/>
        </p:nvSpPr>
        <p:spPr>
          <a:xfrm>
            <a:off x="731520" y="1298448"/>
            <a:ext cx="10088575" cy="438912"/>
          </a:xfrm>
          <a:prstGeom prst="rect">
            <a:avLst/>
          </a:prstGeom>
          <a:noFill/>
          <a:ln/>
        </p:spPr>
        <p:txBody>
          <a:bodyPr wrap="square" lIns="0" tIns="0" rIns="0" bIns="0" rtlCol="0" anchor="t"/>
          <a:lstStyle/>
          <a:p>
            <a:pPr algn="l" indent="0" marL="0">
              <a:lnSpc>
                <a:spcPct val="102000"/>
              </a:lnSpc>
              <a:buNone/>
            </a:pPr>
            <a:r>
              <a:rPr lang="en-US" sz="1050" dirty="0">
                <a:solidFill>
                  <a:srgbClr val="6C7683"/>
                </a:solidFill>
                <a:latin typeface="Poppins" pitchFamily="34" charset="0"/>
                <a:ea typeface="Poppins" pitchFamily="34" charset="-122"/>
                <a:cs typeface="Poppins" pitchFamily="34" charset="-120"/>
              </a:rPr>
              <a:t>Multi-entity structure (Grupo AGM Caetano / AGM Alpha) — simplified representation, to be confirmed</a:t>
            </a:r>
            <a:endParaRPr lang="en-US" sz="1050" dirty="0"/>
          </a:p>
        </p:txBody>
      </p:sp>
      <p:sp>
        <p:nvSpPr>
          <p:cNvPr id="7" name="Text 4"/>
          <p:cNvSpPr/>
          <p:nvPr/>
        </p:nvSpPr>
        <p:spPr>
          <a:xfrm>
            <a:off x="731520" y="6309360"/>
            <a:ext cx="10362895" cy="219456"/>
          </a:xfrm>
          <a:prstGeom prst="rect">
            <a:avLst/>
          </a:prstGeom>
          <a:noFill/>
          <a:ln/>
        </p:spPr>
        <p:txBody>
          <a:bodyPr wrap="square" lIns="0" tIns="0" rIns="0" bIns="0" rtlCol="0" anchor="ctr"/>
          <a:lstStyle/>
          <a:p>
            <a:pPr algn="l" indent="0" marL="0">
              <a:buNone/>
            </a:pPr>
            <a:r>
              <a:rPr lang="en-US" sz="700" dirty="0">
                <a:solidFill>
                  <a:srgbClr val="9AA3AD"/>
                </a:solidFill>
                <a:latin typeface="Poppins" pitchFamily="34" charset="0"/>
                <a:ea typeface="Poppins" pitchFamily="34" charset="-122"/>
                <a:cs typeface="Poppins" pitchFamily="34" charset="-120"/>
              </a:rPr>
              <a:t>Source: Company. Simplified representation; entities and ownership to be confirmed with management.</a:t>
            </a:r>
            <a:endParaRPr lang="en-US" sz="700" dirty="0"/>
          </a:p>
        </p:txBody>
      </p:sp>
      <p:pic>
        <p:nvPicPr>
          <p:cNvPr id="8" name="Image 1" descr="assets/igc_navy.png">    </p:cNvPr>
          <p:cNvPicPr>
            <a:picLocks noChangeAspect="1"/>
          </p:cNvPicPr>
          <p:nvPr/>
        </p:nvPicPr>
        <p:blipFill>
          <a:blip r:embed="rId2"/>
          <a:stretch>
            <a:fillRect/>
          </a:stretch>
        </p:blipFill>
        <p:spPr>
          <a:xfrm>
            <a:off x="731520" y="6492240"/>
            <a:ext cx="292608" cy="252943"/>
          </a:xfrm>
          <a:prstGeom prst="rect">
            <a:avLst/>
          </a:prstGeom>
        </p:spPr>
      </p:pic>
      <p:sp>
        <p:nvSpPr>
          <p:cNvPr id="9" name="Text 5"/>
          <p:cNvSpPr/>
          <p:nvPr/>
        </p:nvSpPr>
        <p:spPr>
          <a:xfrm>
            <a:off x="1115568" y="6510528"/>
            <a:ext cx="2743200" cy="274320"/>
          </a:xfrm>
          <a:prstGeom prst="rect">
            <a:avLst/>
          </a:prstGeom>
          <a:noFill/>
          <a:ln/>
        </p:spPr>
        <p:txBody>
          <a:bodyPr wrap="square" lIns="0" tIns="0" rIns="0" bIns="0" rtlCol="0" anchor="ctr"/>
          <a:lstStyle/>
          <a:p>
            <a:pPr algn="l" indent="0" marL="0">
              <a:buNone/>
            </a:pPr>
            <a:r>
              <a:rPr lang="en-US" sz="900" dirty="0">
                <a:solidFill>
                  <a:srgbClr val="2B333E"/>
                </a:solidFill>
                <a:latin typeface="Poppins Medium" pitchFamily="34" charset="0"/>
                <a:ea typeface="Poppins Medium" pitchFamily="34" charset="-122"/>
                <a:cs typeface="Poppins Medium" pitchFamily="34" charset="-120"/>
              </a:rPr>
              <a:t>18</a:t>
            </a:r>
            <a:pPr algn="l" indent="0" marL="0">
              <a:buNone/>
            </a:pPr>
            <a:r>
              <a:rPr lang="en-US" sz="900" dirty="0">
                <a:solidFill>
                  <a:srgbClr val="9AA3AD"/>
                </a:solidFill>
                <a:latin typeface="Poppins" pitchFamily="34" charset="0"/>
                <a:ea typeface="Poppins" pitchFamily="34" charset="-122"/>
                <a:cs typeface="Poppins" pitchFamily="34" charset="-120"/>
              </a:rPr>
              <a:t>    Confidential</a:t>
            </a:r>
            <a:endParaRPr lang="en-US" sz="900" dirty="0"/>
          </a:p>
        </p:txBody>
      </p:sp>
      <p:sp>
        <p:nvSpPr>
          <p:cNvPr id="10" name="Shape 6"/>
          <p:cNvSpPr/>
          <p:nvPr/>
        </p:nvSpPr>
        <p:spPr>
          <a:xfrm>
            <a:off x="4632808" y="1938528"/>
            <a:ext cx="2926080" cy="502920"/>
          </a:xfrm>
          <a:prstGeom prst="roundRect">
            <a:avLst>
              <a:gd name="adj" fmla="val 12727"/>
            </a:avLst>
          </a:prstGeom>
          <a:solidFill>
            <a:srgbClr val="F35B1A"/>
          </a:solidFill>
          <a:ln w="12700">
            <a:solidFill>
              <a:srgbClr val="F35B1A"/>
            </a:solidFill>
            <a:prstDash val="solid"/>
          </a:ln>
        </p:spPr>
      </p:sp>
      <p:sp>
        <p:nvSpPr>
          <p:cNvPr id="11" name="Text 7"/>
          <p:cNvSpPr/>
          <p:nvPr/>
        </p:nvSpPr>
        <p:spPr>
          <a:xfrm>
            <a:off x="4724248" y="1938528"/>
            <a:ext cx="2743200" cy="502920"/>
          </a:xfrm>
          <a:prstGeom prst="rect">
            <a:avLst/>
          </a:prstGeom>
          <a:noFill/>
          <a:ln/>
        </p:spPr>
        <p:txBody>
          <a:bodyPr wrap="square" lIns="0" tIns="0" rIns="0" bIns="0" rtlCol="0" anchor="ctr"/>
          <a:lstStyle/>
          <a:p>
            <a:pPr algn="ctr" indent="0" marL="0">
              <a:buNone/>
            </a:pPr>
            <a:r>
              <a:rPr lang="en-US" sz="1100" dirty="0">
                <a:solidFill>
                  <a:srgbClr val="FFFFFF"/>
                </a:solidFill>
                <a:latin typeface="Poppins SemiBold" pitchFamily="34" charset="0"/>
                <a:ea typeface="Poppins SemiBold" pitchFamily="34" charset="-122"/>
                <a:cs typeface="Poppins SemiBold" pitchFamily="34" charset="-120"/>
              </a:rPr>
              <a:t>Family Shareholders</a:t>
            </a:r>
            <a:endParaRPr lang="en-US" sz="1100" dirty="0"/>
          </a:p>
        </p:txBody>
      </p:sp>
      <p:sp>
        <p:nvSpPr>
          <p:cNvPr id="12" name="Shape 8"/>
          <p:cNvSpPr/>
          <p:nvPr/>
        </p:nvSpPr>
        <p:spPr>
          <a:xfrm>
            <a:off x="6095848" y="2441448"/>
            <a:ext cx="0" cy="301752"/>
          </a:xfrm>
          <a:prstGeom prst="line">
            <a:avLst/>
          </a:prstGeom>
          <a:noFill/>
          <a:ln w="12700">
            <a:solidFill>
              <a:srgbClr val="9AA3AD"/>
            </a:solidFill>
            <a:prstDash val="solid"/>
          </a:ln>
        </p:spPr>
      </p:sp>
      <p:sp>
        <p:nvSpPr>
          <p:cNvPr id="13" name="Shape 9"/>
          <p:cNvSpPr/>
          <p:nvPr/>
        </p:nvSpPr>
        <p:spPr>
          <a:xfrm>
            <a:off x="4312768" y="2743200"/>
            <a:ext cx="3566160" cy="658368"/>
          </a:xfrm>
          <a:prstGeom prst="roundRect">
            <a:avLst>
              <a:gd name="adj" fmla="val 9722"/>
            </a:avLst>
          </a:prstGeom>
          <a:solidFill>
            <a:srgbClr val="141A24"/>
          </a:solidFill>
          <a:ln w="12700">
            <a:solidFill>
              <a:srgbClr val="141A24"/>
            </a:solidFill>
            <a:prstDash val="solid"/>
          </a:ln>
        </p:spPr>
      </p:sp>
      <p:sp>
        <p:nvSpPr>
          <p:cNvPr id="14" name="Text 10"/>
          <p:cNvSpPr/>
          <p:nvPr/>
        </p:nvSpPr>
        <p:spPr>
          <a:xfrm>
            <a:off x="4404208" y="2834640"/>
            <a:ext cx="3383280" cy="310896"/>
          </a:xfrm>
          <a:prstGeom prst="rect">
            <a:avLst/>
          </a:prstGeom>
          <a:noFill/>
          <a:ln/>
        </p:spPr>
        <p:txBody>
          <a:bodyPr wrap="square" lIns="0" tIns="0" rIns="0" bIns="0" rtlCol="0" anchor="t"/>
          <a:lstStyle/>
          <a:p>
            <a:pPr algn="ctr" indent="0" marL="0">
              <a:buNone/>
            </a:pPr>
            <a:r>
              <a:rPr lang="en-US" sz="1100" dirty="0">
                <a:solidFill>
                  <a:srgbClr val="FFFFFF"/>
                </a:solidFill>
                <a:latin typeface="Poppins SemiBold" pitchFamily="34" charset="0"/>
                <a:ea typeface="Poppins SemiBold" pitchFamily="34" charset="-122"/>
                <a:cs typeface="Poppins SemiBold" pitchFamily="34" charset="-120"/>
              </a:rPr>
              <a:t>AGM Caetano Participações</a:t>
            </a:r>
            <a:endParaRPr lang="en-US" sz="1100" dirty="0"/>
          </a:p>
        </p:txBody>
      </p:sp>
      <p:sp>
        <p:nvSpPr>
          <p:cNvPr id="15" name="Text 11"/>
          <p:cNvSpPr/>
          <p:nvPr/>
        </p:nvSpPr>
        <p:spPr>
          <a:xfrm>
            <a:off x="4404208" y="3108960"/>
            <a:ext cx="3383280" cy="256032"/>
          </a:xfrm>
          <a:prstGeom prst="rect">
            <a:avLst/>
          </a:prstGeom>
          <a:noFill/>
          <a:ln/>
        </p:spPr>
        <p:txBody>
          <a:bodyPr wrap="square" lIns="0" tIns="0" rIns="0" bIns="0" rtlCol="0" anchor="t"/>
          <a:lstStyle/>
          <a:p>
            <a:pPr algn="ctr" indent="0" marL="0">
              <a:buNone/>
            </a:pPr>
            <a:r>
              <a:rPr lang="en-US" sz="800" dirty="0">
                <a:solidFill>
                  <a:srgbClr val="AEB6C2"/>
                </a:solidFill>
                <a:latin typeface="Poppins" pitchFamily="34" charset="0"/>
                <a:ea typeface="Poppins" pitchFamily="34" charset="-122"/>
                <a:cs typeface="Poppins" pitchFamily="34" charset="-120"/>
              </a:rPr>
              <a:t>Holding company</a:t>
            </a:r>
            <a:endParaRPr lang="en-US" sz="800" dirty="0"/>
          </a:p>
        </p:txBody>
      </p:sp>
      <p:sp>
        <p:nvSpPr>
          <p:cNvPr id="16" name="Shape 12"/>
          <p:cNvSpPr/>
          <p:nvPr/>
        </p:nvSpPr>
        <p:spPr>
          <a:xfrm>
            <a:off x="6095848" y="3401568"/>
            <a:ext cx="0" cy="256032"/>
          </a:xfrm>
          <a:prstGeom prst="line">
            <a:avLst/>
          </a:prstGeom>
          <a:noFill/>
          <a:ln w="12700">
            <a:solidFill>
              <a:srgbClr val="9AA3AD"/>
            </a:solidFill>
            <a:prstDash val="solid"/>
          </a:ln>
        </p:spPr>
      </p:sp>
      <p:sp>
        <p:nvSpPr>
          <p:cNvPr id="17" name="Shape 13"/>
          <p:cNvSpPr/>
          <p:nvPr/>
        </p:nvSpPr>
        <p:spPr>
          <a:xfrm>
            <a:off x="2392528" y="3657600"/>
            <a:ext cx="7406640" cy="0"/>
          </a:xfrm>
          <a:prstGeom prst="line">
            <a:avLst/>
          </a:prstGeom>
          <a:noFill/>
          <a:ln w="12700">
            <a:solidFill>
              <a:srgbClr val="9AA3AD"/>
            </a:solidFill>
            <a:prstDash val="solid"/>
          </a:ln>
        </p:spPr>
      </p:sp>
      <p:sp>
        <p:nvSpPr>
          <p:cNvPr id="18" name="Shape 14"/>
          <p:cNvSpPr/>
          <p:nvPr/>
        </p:nvSpPr>
        <p:spPr>
          <a:xfrm>
            <a:off x="2392528" y="3657600"/>
            <a:ext cx="0" cy="228600"/>
          </a:xfrm>
          <a:prstGeom prst="line">
            <a:avLst/>
          </a:prstGeom>
          <a:noFill/>
          <a:ln w="12700">
            <a:solidFill>
              <a:srgbClr val="9AA3AD"/>
            </a:solidFill>
            <a:prstDash val="solid"/>
          </a:ln>
        </p:spPr>
      </p:sp>
      <p:sp>
        <p:nvSpPr>
          <p:cNvPr id="19" name="Shape 15"/>
          <p:cNvSpPr/>
          <p:nvPr/>
        </p:nvSpPr>
        <p:spPr>
          <a:xfrm>
            <a:off x="792328" y="3886200"/>
            <a:ext cx="3200400" cy="658368"/>
          </a:xfrm>
          <a:prstGeom prst="roundRect">
            <a:avLst>
              <a:gd name="adj" fmla="val 9722"/>
            </a:avLst>
          </a:prstGeom>
          <a:solidFill>
            <a:srgbClr val="FFFFFF"/>
          </a:solidFill>
          <a:ln w="12700">
            <a:solidFill>
              <a:srgbClr val="9AA3AD"/>
            </a:solidFill>
            <a:prstDash val="solid"/>
          </a:ln>
        </p:spPr>
      </p:sp>
      <p:sp>
        <p:nvSpPr>
          <p:cNvPr id="20" name="Text 16"/>
          <p:cNvSpPr/>
          <p:nvPr/>
        </p:nvSpPr>
        <p:spPr>
          <a:xfrm>
            <a:off x="883768" y="3977640"/>
            <a:ext cx="3017520" cy="310896"/>
          </a:xfrm>
          <a:prstGeom prst="rect">
            <a:avLst/>
          </a:prstGeom>
          <a:noFill/>
          <a:ln/>
        </p:spPr>
        <p:txBody>
          <a:bodyPr wrap="square" lIns="0" tIns="0" rIns="0" bIns="0" rtlCol="0" anchor="t"/>
          <a:lstStyle/>
          <a:p>
            <a:pPr algn="ctr" indent="0" marL="0">
              <a:buNone/>
            </a:pPr>
            <a:r>
              <a:rPr lang="en-US" sz="1100" dirty="0">
                <a:solidFill>
                  <a:srgbClr val="141A24"/>
                </a:solidFill>
                <a:latin typeface="Poppins SemiBold" pitchFamily="34" charset="0"/>
                <a:ea typeface="Poppins SemiBold" pitchFamily="34" charset="-122"/>
                <a:cs typeface="Poppins SemiBold" pitchFamily="34" charset="-120"/>
              </a:rPr>
              <a:t>AGM Caetano LTDA</a:t>
            </a:r>
            <a:endParaRPr lang="en-US" sz="1100" dirty="0"/>
          </a:p>
        </p:txBody>
      </p:sp>
      <p:sp>
        <p:nvSpPr>
          <p:cNvPr id="21" name="Text 17"/>
          <p:cNvSpPr/>
          <p:nvPr/>
        </p:nvSpPr>
        <p:spPr>
          <a:xfrm>
            <a:off x="883768" y="4251960"/>
            <a:ext cx="3017520" cy="256032"/>
          </a:xfrm>
          <a:prstGeom prst="rect">
            <a:avLst/>
          </a:prstGeom>
          <a:noFill/>
          <a:ln/>
        </p:spPr>
        <p:txBody>
          <a:bodyPr wrap="square" lIns="0" tIns="0" rIns="0" bIns="0" rtlCol="0" anchor="t"/>
          <a:lstStyle/>
          <a:p>
            <a:pPr algn="ctr" indent="0" marL="0">
              <a:buNone/>
            </a:pPr>
            <a:r>
              <a:rPr lang="en-US" sz="800" dirty="0">
                <a:solidFill>
                  <a:srgbClr val="6C7683"/>
                </a:solidFill>
                <a:latin typeface="Poppins" pitchFamily="34" charset="0"/>
                <a:ea typeface="Poppins" pitchFamily="34" charset="-122"/>
                <a:cs typeface="Poppins" pitchFamily="34" charset="-120"/>
              </a:rPr>
              <a:t>Operating entity</a:t>
            </a:r>
            <a:endParaRPr lang="en-US" sz="800" dirty="0"/>
          </a:p>
        </p:txBody>
      </p:sp>
      <p:sp>
        <p:nvSpPr>
          <p:cNvPr id="22" name="Shape 18"/>
          <p:cNvSpPr/>
          <p:nvPr/>
        </p:nvSpPr>
        <p:spPr>
          <a:xfrm>
            <a:off x="6095848" y="3657600"/>
            <a:ext cx="0" cy="228600"/>
          </a:xfrm>
          <a:prstGeom prst="line">
            <a:avLst/>
          </a:prstGeom>
          <a:noFill/>
          <a:ln w="12700">
            <a:solidFill>
              <a:srgbClr val="9AA3AD"/>
            </a:solidFill>
            <a:prstDash val="solid"/>
          </a:ln>
        </p:spPr>
      </p:sp>
      <p:sp>
        <p:nvSpPr>
          <p:cNvPr id="23" name="Shape 19"/>
          <p:cNvSpPr/>
          <p:nvPr/>
        </p:nvSpPr>
        <p:spPr>
          <a:xfrm>
            <a:off x="4495648" y="3886200"/>
            <a:ext cx="3200400" cy="658368"/>
          </a:xfrm>
          <a:prstGeom prst="roundRect">
            <a:avLst>
              <a:gd name="adj" fmla="val 9722"/>
            </a:avLst>
          </a:prstGeom>
          <a:solidFill>
            <a:srgbClr val="FFFFFF"/>
          </a:solidFill>
          <a:ln w="12700">
            <a:solidFill>
              <a:srgbClr val="9AA3AD"/>
            </a:solidFill>
            <a:prstDash val="solid"/>
          </a:ln>
        </p:spPr>
      </p:sp>
      <p:sp>
        <p:nvSpPr>
          <p:cNvPr id="24" name="Text 20"/>
          <p:cNvSpPr/>
          <p:nvPr/>
        </p:nvSpPr>
        <p:spPr>
          <a:xfrm>
            <a:off x="4587088" y="3977640"/>
            <a:ext cx="3017520" cy="310896"/>
          </a:xfrm>
          <a:prstGeom prst="rect">
            <a:avLst/>
          </a:prstGeom>
          <a:noFill/>
          <a:ln/>
        </p:spPr>
        <p:txBody>
          <a:bodyPr wrap="square" lIns="0" tIns="0" rIns="0" bIns="0" rtlCol="0" anchor="t"/>
          <a:lstStyle/>
          <a:p>
            <a:pPr algn="ctr" indent="0" marL="0">
              <a:buNone/>
            </a:pPr>
            <a:r>
              <a:rPr lang="en-US" sz="1100" dirty="0">
                <a:solidFill>
                  <a:srgbClr val="141A24"/>
                </a:solidFill>
                <a:latin typeface="Poppins SemiBold" pitchFamily="34" charset="0"/>
                <a:ea typeface="Poppins SemiBold" pitchFamily="34" charset="-122"/>
                <a:cs typeface="Poppins SemiBold" pitchFamily="34" charset="-120"/>
              </a:rPr>
              <a:t>MOBI Alpha</a:t>
            </a:r>
            <a:endParaRPr lang="en-US" sz="1100" dirty="0"/>
          </a:p>
        </p:txBody>
      </p:sp>
      <p:sp>
        <p:nvSpPr>
          <p:cNvPr id="25" name="Text 21"/>
          <p:cNvSpPr/>
          <p:nvPr/>
        </p:nvSpPr>
        <p:spPr>
          <a:xfrm>
            <a:off x="4587088" y="4251960"/>
            <a:ext cx="3017520" cy="256032"/>
          </a:xfrm>
          <a:prstGeom prst="rect">
            <a:avLst/>
          </a:prstGeom>
          <a:noFill/>
          <a:ln/>
        </p:spPr>
        <p:txBody>
          <a:bodyPr wrap="square" lIns="0" tIns="0" rIns="0" bIns="0" rtlCol="0" anchor="t"/>
          <a:lstStyle/>
          <a:p>
            <a:pPr algn="ctr" indent="0" marL="0">
              <a:buNone/>
            </a:pPr>
            <a:r>
              <a:rPr lang="en-US" sz="800" dirty="0">
                <a:solidFill>
                  <a:srgbClr val="6C7683"/>
                </a:solidFill>
                <a:latin typeface="Poppins" pitchFamily="34" charset="0"/>
                <a:ea typeface="Poppins" pitchFamily="34" charset="-122"/>
                <a:cs typeface="Poppins" pitchFamily="34" charset="-120"/>
              </a:rPr>
              <a:t>Matriz Brasília</a:t>
            </a:r>
            <a:endParaRPr lang="en-US" sz="800" dirty="0"/>
          </a:p>
        </p:txBody>
      </p:sp>
      <p:sp>
        <p:nvSpPr>
          <p:cNvPr id="26" name="Shape 22"/>
          <p:cNvSpPr/>
          <p:nvPr/>
        </p:nvSpPr>
        <p:spPr>
          <a:xfrm>
            <a:off x="9799168" y="3657600"/>
            <a:ext cx="0" cy="228600"/>
          </a:xfrm>
          <a:prstGeom prst="line">
            <a:avLst/>
          </a:prstGeom>
          <a:noFill/>
          <a:ln w="12700">
            <a:solidFill>
              <a:srgbClr val="9AA3AD"/>
            </a:solidFill>
            <a:prstDash val="solid"/>
          </a:ln>
        </p:spPr>
      </p:sp>
      <p:sp>
        <p:nvSpPr>
          <p:cNvPr id="27" name="Shape 23"/>
          <p:cNvSpPr/>
          <p:nvPr/>
        </p:nvSpPr>
        <p:spPr>
          <a:xfrm>
            <a:off x="8198968" y="3886200"/>
            <a:ext cx="3200400" cy="658368"/>
          </a:xfrm>
          <a:prstGeom prst="roundRect">
            <a:avLst>
              <a:gd name="adj" fmla="val 9722"/>
            </a:avLst>
          </a:prstGeom>
          <a:solidFill>
            <a:srgbClr val="FFFFFF"/>
          </a:solidFill>
          <a:ln w="12700">
            <a:solidFill>
              <a:srgbClr val="9AA3AD"/>
            </a:solidFill>
            <a:prstDash val="solid"/>
          </a:ln>
        </p:spPr>
      </p:sp>
      <p:sp>
        <p:nvSpPr>
          <p:cNvPr id="28" name="Text 24"/>
          <p:cNvSpPr/>
          <p:nvPr/>
        </p:nvSpPr>
        <p:spPr>
          <a:xfrm>
            <a:off x="8290408" y="3977640"/>
            <a:ext cx="3017520" cy="310896"/>
          </a:xfrm>
          <a:prstGeom prst="rect">
            <a:avLst/>
          </a:prstGeom>
          <a:noFill/>
          <a:ln/>
        </p:spPr>
        <p:txBody>
          <a:bodyPr wrap="square" lIns="0" tIns="0" rIns="0" bIns="0" rtlCol="0" anchor="t"/>
          <a:lstStyle/>
          <a:p>
            <a:pPr algn="ctr" indent="0" marL="0">
              <a:buNone/>
            </a:pPr>
            <a:r>
              <a:rPr lang="en-US" sz="1100" dirty="0">
                <a:solidFill>
                  <a:srgbClr val="141A24"/>
                </a:solidFill>
                <a:latin typeface="Poppins SemiBold" pitchFamily="34" charset="0"/>
                <a:ea typeface="Poppins SemiBold" pitchFamily="34" charset="-122"/>
                <a:cs typeface="Poppins SemiBold" pitchFamily="34" charset="-120"/>
              </a:rPr>
              <a:t>Moura e Carrilho Part.</a:t>
            </a:r>
            <a:endParaRPr lang="en-US" sz="1100" dirty="0"/>
          </a:p>
        </p:txBody>
      </p:sp>
      <p:sp>
        <p:nvSpPr>
          <p:cNvPr id="29" name="Text 25"/>
          <p:cNvSpPr/>
          <p:nvPr/>
        </p:nvSpPr>
        <p:spPr>
          <a:xfrm>
            <a:off x="8290408" y="4251960"/>
            <a:ext cx="3017520" cy="256032"/>
          </a:xfrm>
          <a:prstGeom prst="rect">
            <a:avLst/>
          </a:prstGeom>
          <a:noFill/>
          <a:ln/>
        </p:spPr>
        <p:txBody>
          <a:bodyPr wrap="square" lIns="0" tIns="0" rIns="0" bIns="0" rtlCol="0" anchor="t"/>
          <a:lstStyle/>
          <a:p>
            <a:pPr algn="ctr" indent="0" marL="0">
              <a:buNone/>
            </a:pPr>
            <a:r>
              <a:rPr lang="en-US" sz="800" dirty="0">
                <a:solidFill>
                  <a:srgbClr val="6C7683"/>
                </a:solidFill>
                <a:latin typeface="Poppins" pitchFamily="34" charset="0"/>
                <a:ea typeface="Poppins" pitchFamily="34" charset="-122"/>
                <a:cs typeface="Poppins" pitchFamily="34" charset="-120"/>
              </a:rPr>
              <a:t>[Related party]</a:t>
            </a:r>
            <a:endParaRPr lang="en-US" sz="800" dirty="0"/>
          </a:p>
        </p:txBody>
      </p:sp>
      <p:sp>
        <p:nvSpPr>
          <p:cNvPr id="30" name="Text 26"/>
          <p:cNvSpPr/>
          <p:nvPr/>
        </p:nvSpPr>
        <p:spPr>
          <a:xfrm>
            <a:off x="731520" y="4983480"/>
            <a:ext cx="5486400" cy="237744"/>
          </a:xfrm>
          <a:prstGeom prst="rect">
            <a:avLst/>
          </a:prstGeom>
          <a:noFill/>
          <a:ln/>
        </p:spPr>
        <p:txBody>
          <a:bodyPr wrap="square" lIns="0" tIns="0" rIns="0" bIns="0" rtlCol="0" anchor="ctr"/>
          <a:lstStyle/>
          <a:p>
            <a:pPr indent="0" marL="0">
              <a:buNone/>
            </a:pPr>
            <a:r>
              <a:rPr lang="en-US" sz="900" spc="100" kern="0" dirty="0">
                <a:solidFill>
                  <a:srgbClr val="F35B1A"/>
                </a:solidFill>
                <a:latin typeface="Poppins SemiBold" pitchFamily="34" charset="0"/>
                <a:ea typeface="Poppins SemiBold" pitchFamily="34" charset="-122"/>
                <a:cs typeface="Poppins SemiBold" pitchFamily="34" charset="-120"/>
              </a:rPr>
              <a:t>OPERATIONAL BRANCHES (FILIAIS)</a:t>
            </a:r>
            <a:endParaRPr lang="en-US" sz="900" dirty="0"/>
          </a:p>
        </p:txBody>
      </p:sp>
      <p:sp>
        <p:nvSpPr>
          <p:cNvPr id="31" name="Shape 27"/>
          <p:cNvSpPr/>
          <p:nvPr/>
        </p:nvSpPr>
        <p:spPr>
          <a:xfrm>
            <a:off x="731520" y="5266944"/>
            <a:ext cx="1999427" cy="365760"/>
          </a:xfrm>
          <a:prstGeom prst="roundRect">
            <a:avLst>
              <a:gd name="adj" fmla="val 12500"/>
            </a:avLst>
          </a:prstGeom>
          <a:solidFill>
            <a:srgbClr val="F4F6F8"/>
          </a:solidFill>
          <a:ln w="12700">
            <a:solidFill>
              <a:srgbClr val="E2E6EB"/>
            </a:solidFill>
            <a:prstDash val="solid"/>
          </a:ln>
        </p:spPr>
      </p:sp>
      <p:sp>
        <p:nvSpPr>
          <p:cNvPr id="32" name="Text 28"/>
          <p:cNvSpPr/>
          <p:nvPr/>
        </p:nvSpPr>
        <p:spPr>
          <a:xfrm>
            <a:off x="777240" y="5266944"/>
            <a:ext cx="1907987" cy="365760"/>
          </a:xfrm>
          <a:prstGeom prst="rect">
            <a:avLst/>
          </a:prstGeom>
          <a:noFill/>
          <a:ln/>
        </p:spPr>
        <p:txBody>
          <a:bodyPr wrap="square" lIns="0" tIns="0" rIns="0" bIns="0" rtlCol="0" anchor="ctr"/>
          <a:lstStyle/>
          <a:p>
            <a:pPr algn="ctr" indent="0" marL="0">
              <a:buNone/>
            </a:pPr>
            <a:r>
              <a:rPr lang="en-US" sz="800" dirty="0">
                <a:solidFill>
                  <a:srgbClr val="2B333E"/>
                </a:solidFill>
                <a:latin typeface="Poppins Medium" pitchFamily="34" charset="0"/>
                <a:ea typeface="Poppins Medium" pitchFamily="34" charset="-122"/>
                <a:cs typeface="Poppins Medium" pitchFamily="34" charset="-120"/>
              </a:rPr>
              <a:t>Filial Goiânia</a:t>
            </a:r>
            <a:endParaRPr lang="en-US" sz="800" dirty="0"/>
          </a:p>
        </p:txBody>
      </p:sp>
      <p:sp>
        <p:nvSpPr>
          <p:cNvPr id="33" name="Shape 29"/>
          <p:cNvSpPr/>
          <p:nvPr/>
        </p:nvSpPr>
        <p:spPr>
          <a:xfrm>
            <a:off x="2913827" y="5266944"/>
            <a:ext cx="1999427" cy="365760"/>
          </a:xfrm>
          <a:prstGeom prst="roundRect">
            <a:avLst>
              <a:gd name="adj" fmla="val 12500"/>
            </a:avLst>
          </a:prstGeom>
          <a:solidFill>
            <a:srgbClr val="F4F6F8"/>
          </a:solidFill>
          <a:ln w="12700">
            <a:solidFill>
              <a:srgbClr val="E2E6EB"/>
            </a:solidFill>
            <a:prstDash val="solid"/>
          </a:ln>
        </p:spPr>
      </p:sp>
      <p:sp>
        <p:nvSpPr>
          <p:cNvPr id="34" name="Text 30"/>
          <p:cNvSpPr/>
          <p:nvPr/>
        </p:nvSpPr>
        <p:spPr>
          <a:xfrm>
            <a:off x="2959547" y="5266944"/>
            <a:ext cx="1907987" cy="365760"/>
          </a:xfrm>
          <a:prstGeom prst="rect">
            <a:avLst/>
          </a:prstGeom>
          <a:noFill/>
          <a:ln/>
        </p:spPr>
        <p:txBody>
          <a:bodyPr wrap="square" lIns="0" tIns="0" rIns="0" bIns="0" rtlCol="0" anchor="ctr"/>
          <a:lstStyle/>
          <a:p>
            <a:pPr algn="ctr" indent="0" marL="0">
              <a:buNone/>
            </a:pPr>
            <a:r>
              <a:rPr lang="en-US" sz="800" dirty="0">
                <a:solidFill>
                  <a:srgbClr val="2B333E"/>
                </a:solidFill>
                <a:latin typeface="Poppins Medium" pitchFamily="34" charset="0"/>
                <a:ea typeface="Poppins Medium" pitchFamily="34" charset="-122"/>
                <a:cs typeface="Poppins Medium" pitchFamily="34" charset="-120"/>
              </a:rPr>
              <a:t>Filial Anápolis</a:t>
            </a:r>
            <a:endParaRPr lang="en-US" sz="800" dirty="0"/>
          </a:p>
        </p:txBody>
      </p:sp>
      <p:sp>
        <p:nvSpPr>
          <p:cNvPr id="35" name="Shape 31"/>
          <p:cNvSpPr/>
          <p:nvPr/>
        </p:nvSpPr>
        <p:spPr>
          <a:xfrm>
            <a:off x="5096134" y="5266944"/>
            <a:ext cx="1999427" cy="365760"/>
          </a:xfrm>
          <a:prstGeom prst="roundRect">
            <a:avLst>
              <a:gd name="adj" fmla="val 12500"/>
            </a:avLst>
          </a:prstGeom>
          <a:solidFill>
            <a:srgbClr val="F4F6F8"/>
          </a:solidFill>
          <a:ln w="12700">
            <a:solidFill>
              <a:srgbClr val="E2E6EB"/>
            </a:solidFill>
            <a:prstDash val="solid"/>
          </a:ln>
        </p:spPr>
      </p:sp>
      <p:sp>
        <p:nvSpPr>
          <p:cNvPr id="36" name="Text 32"/>
          <p:cNvSpPr/>
          <p:nvPr/>
        </p:nvSpPr>
        <p:spPr>
          <a:xfrm>
            <a:off x="5141854" y="5266944"/>
            <a:ext cx="1907987" cy="365760"/>
          </a:xfrm>
          <a:prstGeom prst="rect">
            <a:avLst/>
          </a:prstGeom>
          <a:noFill/>
          <a:ln/>
        </p:spPr>
        <p:txBody>
          <a:bodyPr wrap="square" lIns="0" tIns="0" rIns="0" bIns="0" rtlCol="0" anchor="ctr"/>
          <a:lstStyle/>
          <a:p>
            <a:pPr algn="ctr" indent="0" marL="0">
              <a:buNone/>
            </a:pPr>
            <a:r>
              <a:rPr lang="en-US" sz="800" dirty="0">
                <a:solidFill>
                  <a:srgbClr val="2B333E"/>
                </a:solidFill>
                <a:latin typeface="Poppins Medium" pitchFamily="34" charset="0"/>
                <a:ea typeface="Poppins Medium" pitchFamily="34" charset="-122"/>
                <a:cs typeface="Poppins Medium" pitchFamily="34" charset="-120"/>
              </a:rPr>
              <a:t>Filial Nerópolis</a:t>
            </a:r>
            <a:endParaRPr lang="en-US" sz="800" dirty="0"/>
          </a:p>
        </p:txBody>
      </p:sp>
      <p:sp>
        <p:nvSpPr>
          <p:cNvPr id="37" name="Shape 33"/>
          <p:cNvSpPr/>
          <p:nvPr/>
        </p:nvSpPr>
        <p:spPr>
          <a:xfrm>
            <a:off x="7278441" y="5266944"/>
            <a:ext cx="1999427" cy="365760"/>
          </a:xfrm>
          <a:prstGeom prst="roundRect">
            <a:avLst>
              <a:gd name="adj" fmla="val 12500"/>
            </a:avLst>
          </a:prstGeom>
          <a:solidFill>
            <a:srgbClr val="F4F6F8"/>
          </a:solidFill>
          <a:ln w="12700">
            <a:solidFill>
              <a:srgbClr val="E2E6EB"/>
            </a:solidFill>
            <a:prstDash val="solid"/>
          </a:ln>
        </p:spPr>
      </p:sp>
      <p:sp>
        <p:nvSpPr>
          <p:cNvPr id="38" name="Text 34"/>
          <p:cNvSpPr/>
          <p:nvPr/>
        </p:nvSpPr>
        <p:spPr>
          <a:xfrm>
            <a:off x="7324161" y="5266944"/>
            <a:ext cx="1907987" cy="365760"/>
          </a:xfrm>
          <a:prstGeom prst="rect">
            <a:avLst/>
          </a:prstGeom>
          <a:noFill/>
          <a:ln/>
        </p:spPr>
        <p:txBody>
          <a:bodyPr wrap="square" lIns="0" tIns="0" rIns="0" bIns="0" rtlCol="0" anchor="ctr"/>
          <a:lstStyle/>
          <a:p>
            <a:pPr algn="ctr" indent="0" marL="0">
              <a:buNone/>
            </a:pPr>
            <a:r>
              <a:rPr lang="en-US" sz="800" dirty="0">
                <a:solidFill>
                  <a:srgbClr val="2B333E"/>
                </a:solidFill>
                <a:latin typeface="Poppins Medium" pitchFamily="34" charset="0"/>
                <a:ea typeface="Poppins Medium" pitchFamily="34" charset="-122"/>
                <a:cs typeface="Poppins Medium" pitchFamily="34" charset="-120"/>
              </a:rPr>
              <a:t>Filial Senador Canedo</a:t>
            </a:r>
            <a:endParaRPr lang="en-US" sz="800" dirty="0"/>
          </a:p>
        </p:txBody>
      </p:sp>
      <p:sp>
        <p:nvSpPr>
          <p:cNvPr id="39" name="Shape 35"/>
          <p:cNvSpPr/>
          <p:nvPr/>
        </p:nvSpPr>
        <p:spPr>
          <a:xfrm>
            <a:off x="9460748" y="5266944"/>
            <a:ext cx="1999427" cy="365760"/>
          </a:xfrm>
          <a:prstGeom prst="roundRect">
            <a:avLst>
              <a:gd name="adj" fmla="val 12500"/>
            </a:avLst>
          </a:prstGeom>
          <a:solidFill>
            <a:srgbClr val="F4F6F8"/>
          </a:solidFill>
          <a:ln w="12700">
            <a:solidFill>
              <a:srgbClr val="E2E6EB"/>
            </a:solidFill>
            <a:prstDash val="solid"/>
          </a:ln>
        </p:spPr>
      </p:sp>
      <p:sp>
        <p:nvSpPr>
          <p:cNvPr id="40" name="Text 36"/>
          <p:cNvSpPr/>
          <p:nvPr/>
        </p:nvSpPr>
        <p:spPr>
          <a:xfrm>
            <a:off x="9506468" y="5266944"/>
            <a:ext cx="1907987" cy="365760"/>
          </a:xfrm>
          <a:prstGeom prst="rect">
            <a:avLst/>
          </a:prstGeom>
          <a:noFill/>
          <a:ln/>
        </p:spPr>
        <p:txBody>
          <a:bodyPr wrap="square" lIns="0" tIns="0" rIns="0" bIns="0" rtlCol="0" anchor="ctr"/>
          <a:lstStyle/>
          <a:p>
            <a:pPr algn="ctr" indent="0" marL="0">
              <a:buNone/>
            </a:pPr>
            <a:r>
              <a:rPr lang="en-US" sz="800" dirty="0">
                <a:solidFill>
                  <a:srgbClr val="2B333E"/>
                </a:solidFill>
                <a:latin typeface="Poppins Medium" pitchFamily="34" charset="0"/>
                <a:ea typeface="Poppins Medium" pitchFamily="34" charset="-122"/>
                <a:cs typeface="Poppins Medium" pitchFamily="34" charset="-120"/>
              </a:rPr>
              <a:t>Filial Itumbiara</a:t>
            </a:r>
            <a:endParaRPr lang="en-US" sz="800" dirty="0"/>
          </a:p>
        </p:txBody>
      </p:sp>
      <p:sp>
        <p:nvSpPr>
          <p:cNvPr id="41" name="Shape 37"/>
          <p:cNvSpPr/>
          <p:nvPr/>
        </p:nvSpPr>
        <p:spPr>
          <a:xfrm>
            <a:off x="731520" y="5724144"/>
            <a:ext cx="1999427" cy="365760"/>
          </a:xfrm>
          <a:prstGeom prst="roundRect">
            <a:avLst>
              <a:gd name="adj" fmla="val 12500"/>
            </a:avLst>
          </a:prstGeom>
          <a:solidFill>
            <a:srgbClr val="F4F6F8"/>
          </a:solidFill>
          <a:ln w="12700">
            <a:solidFill>
              <a:srgbClr val="E2E6EB"/>
            </a:solidFill>
            <a:prstDash val="solid"/>
          </a:ln>
        </p:spPr>
      </p:sp>
      <p:sp>
        <p:nvSpPr>
          <p:cNvPr id="42" name="Text 38"/>
          <p:cNvSpPr/>
          <p:nvPr/>
        </p:nvSpPr>
        <p:spPr>
          <a:xfrm>
            <a:off x="777240" y="5724144"/>
            <a:ext cx="1907987" cy="365760"/>
          </a:xfrm>
          <a:prstGeom prst="rect">
            <a:avLst/>
          </a:prstGeom>
          <a:noFill/>
          <a:ln/>
        </p:spPr>
        <p:txBody>
          <a:bodyPr wrap="square" lIns="0" tIns="0" rIns="0" bIns="0" rtlCol="0" anchor="ctr"/>
          <a:lstStyle/>
          <a:p>
            <a:pPr algn="ctr" indent="0" marL="0">
              <a:buNone/>
            </a:pPr>
            <a:r>
              <a:rPr lang="en-US" sz="800" dirty="0">
                <a:solidFill>
                  <a:srgbClr val="2B333E"/>
                </a:solidFill>
                <a:latin typeface="Poppins Medium" pitchFamily="34" charset="0"/>
                <a:ea typeface="Poppins Medium" pitchFamily="34" charset="-122"/>
                <a:cs typeface="Poppins Medium" pitchFamily="34" charset="-120"/>
              </a:rPr>
              <a:t>Filial Alexânia</a:t>
            </a:r>
            <a:endParaRPr lang="en-US" sz="800" dirty="0"/>
          </a:p>
        </p:txBody>
      </p:sp>
      <p:sp>
        <p:nvSpPr>
          <p:cNvPr id="43" name="Shape 39"/>
          <p:cNvSpPr/>
          <p:nvPr/>
        </p:nvSpPr>
        <p:spPr>
          <a:xfrm>
            <a:off x="2913827" y="5724144"/>
            <a:ext cx="1999427" cy="365760"/>
          </a:xfrm>
          <a:prstGeom prst="roundRect">
            <a:avLst>
              <a:gd name="adj" fmla="val 12500"/>
            </a:avLst>
          </a:prstGeom>
          <a:solidFill>
            <a:srgbClr val="F4F6F8"/>
          </a:solidFill>
          <a:ln w="12700">
            <a:solidFill>
              <a:srgbClr val="E2E6EB"/>
            </a:solidFill>
            <a:prstDash val="solid"/>
          </a:ln>
        </p:spPr>
      </p:sp>
      <p:sp>
        <p:nvSpPr>
          <p:cNvPr id="44" name="Text 40"/>
          <p:cNvSpPr/>
          <p:nvPr/>
        </p:nvSpPr>
        <p:spPr>
          <a:xfrm>
            <a:off x="2959547" y="5724144"/>
            <a:ext cx="1907987" cy="365760"/>
          </a:xfrm>
          <a:prstGeom prst="rect">
            <a:avLst/>
          </a:prstGeom>
          <a:noFill/>
          <a:ln/>
        </p:spPr>
        <p:txBody>
          <a:bodyPr wrap="square" lIns="0" tIns="0" rIns="0" bIns="0" rtlCol="0" anchor="ctr"/>
          <a:lstStyle/>
          <a:p>
            <a:pPr algn="ctr" indent="0" marL="0">
              <a:buNone/>
            </a:pPr>
            <a:r>
              <a:rPr lang="en-US" sz="800" dirty="0">
                <a:solidFill>
                  <a:srgbClr val="2B333E"/>
                </a:solidFill>
                <a:latin typeface="Poppins Medium" pitchFamily="34" charset="0"/>
                <a:ea typeface="Poppins Medium" pitchFamily="34" charset="-122"/>
                <a:cs typeface="Poppins Medium" pitchFamily="34" charset="-120"/>
              </a:rPr>
              <a:t>Filial Uberlândia</a:t>
            </a:r>
            <a:endParaRPr lang="en-US" sz="800" dirty="0"/>
          </a:p>
        </p:txBody>
      </p:sp>
      <p:sp>
        <p:nvSpPr>
          <p:cNvPr id="45" name="Shape 41"/>
          <p:cNvSpPr/>
          <p:nvPr/>
        </p:nvSpPr>
        <p:spPr>
          <a:xfrm>
            <a:off x="5096134" y="5724144"/>
            <a:ext cx="1999427" cy="365760"/>
          </a:xfrm>
          <a:prstGeom prst="roundRect">
            <a:avLst>
              <a:gd name="adj" fmla="val 12500"/>
            </a:avLst>
          </a:prstGeom>
          <a:solidFill>
            <a:srgbClr val="F4F6F8"/>
          </a:solidFill>
          <a:ln w="12700">
            <a:solidFill>
              <a:srgbClr val="E2E6EB"/>
            </a:solidFill>
            <a:prstDash val="solid"/>
          </a:ln>
        </p:spPr>
      </p:sp>
      <p:sp>
        <p:nvSpPr>
          <p:cNvPr id="46" name="Text 42"/>
          <p:cNvSpPr/>
          <p:nvPr/>
        </p:nvSpPr>
        <p:spPr>
          <a:xfrm>
            <a:off x="5141854" y="5724144"/>
            <a:ext cx="1907987" cy="365760"/>
          </a:xfrm>
          <a:prstGeom prst="rect">
            <a:avLst/>
          </a:prstGeom>
          <a:noFill/>
          <a:ln/>
        </p:spPr>
        <p:txBody>
          <a:bodyPr wrap="square" lIns="0" tIns="0" rIns="0" bIns="0" rtlCol="0" anchor="ctr"/>
          <a:lstStyle/>
          <a:p>
            <a:pPr algn="ctr" indent="0" marL="0">
              <a:buNone/>
            </a:pPr>
            <a:r>
              <a:rPr lang="en-US" sz="800" dirty="0">
                <a:solidFill>
                  <a:srgbClr val="2B333E"/>
                </a:solidFill>
                <a:latin typeface="Poppins Medium" pitchFamily="34" charset="0"/>
                <a:ea typeface="Poppins Medium" pitchFamily="34" charset="-122"/>
                <a:cs typeface="Poppins Medium" pitchFamily="34" charset="-120"/>
              </a:rPr>
              <a:t>Filial Rio Verde</a:t>
            </a:r>
            <a:endParaRPr lang="en-US" sz="800" dirty="0"/>
          </a:p>
        </p:txBody>
      </p:sp>
      <p:sp>
        <p:nvSpPr>
          <p:cNvPr id="47" name="Shape 43"/>
          <p:cNvSpPr/>
          <p:nvPr/>
        </p:nvSpPr>
        <p:spPr>
          <a:xfrm>
            <a:off x="7278441" y="5724144"/>
            <a:ext cx="1999427" cy="365760"/>
          </a:xfrm>
          <a:prstGeom prst="roundRect">
            <a:avLst>
              <a:gd name="adj" fmla="val 12500"/>
            </a:avLst>
          </a:prstGeom>
          <a:solidFill>
            <a:srgbClr val="F4F6F8"/>
          </a:solidFill>
          <a:ln w="12700">
            <a:solidFill>
              <a:srgbClr val="E2E6EB"/>
            </a:solidFill>
            <a:prstDash val="solid"/>
          </a:ln>
        </p:spPr>
      </p:sp>
      <p:sp>
        <p:nvSpPr>
          <p:cNvPr id="48" name="Text 44"/>
          <p:cNvSpPr/>
          <p:nvPr/>
        </p:nvSpPr>
        <p:spPr>
          <a:xfrm>
            <a:off x="7324161" y="5724144"/>
            <a:ext cx="1907987" cy="365760"/>
          </a:xfrm>
          <a:prstGeom prst="rect">
            <a:avLst/>
          </a:prstGeom>
          <a:noFill/>
          <a:ln/>
        </p:spPr>
        <p:txBody>
          <a:bodyPr wrap="square" lIns="0" tIns="0" rIns="0" bIns="0" rtlCol="0" anchor="ctr"/>
          <a:lstStyle/>
          <a:p>
            <a:pPr algn="ctr" indent="0" marL="0">
              <a:buNone/>
            </a:pPr>
            <a:r>
              <a:rPr lang="en-US" sz="800" dirty="0">
                <a:solidFill>
                  <a:srgbClr val="2B333E"/>
                </a:solidFill>
                <a:latin typeface="Poppins Medium" pitchFamily="34" charset="0"/>
                <a:ea typeface="Poppins Medium" pitchFamily="34" charset="-122"/>
                <a:cs typeface="Poppins Medium" pitchFamily="34" charset="-120"/>
              </a:rPr>
              <a:t>Filial Pires do Rio</a:t>
            </a:r>
            <a:endParaRPr lang="en-US" sz="800" dirty="0"/>
          </a:p>
        </p:txBody>
      </p:sp>
      <p:sp>
        <p:nvSpPr>
          <p:cNvPr id="49" name="Shape 45"/>
          <p:cNvSpPr/>
          <p:nvPr/>
        </p:nvSpPr>
        <p:spPr>
          <a:xfrm>
            <a:off x="9174175" y="1984248"/>
            <a:ext cx="2286000" cy="566928"/>
          </a:xfrm>
          <a:prstGeom prst="roundRect">
            <a:avLst>
              <a:gd name="adj" fmla="val 12903"/>
            </a:avLst>
          </a:prstGeom>
          <a:solidFill>
            <a:srgbClr val="141A24"/>
          </a:solidFill>
          <a:ln/>
        </p:spPr>
      </p:sp>
      <p:sp>
        <p:nvSpPr>
          <p:cNvPr id="50" name="Text 46"/>
          <p:cNvSpPr/>
          <p:nvPr/>
        </p:nvSpPr>
        <p:spPr>
          <a:xfrm>
            <a:off x="9174175" y="1984248"/>
            <a:ext cx="2286000" cy="566928"/>
          </a:xfrm>
          <a:prstGeom prst="rect">
            <a:avLst/>
          </a:prstGeom>
          <a:noFill/>
          <a:ln/>
        </p:spPr>
        <p:txBody>
          <a:bodyPr wrap="square" lIns="0" tIns="0" rIns="0" bIns="0" rtlCol="0" anchor="ctr"/>
          <a:lstStyle/>
          <a:p>
            <a:pPr algn="ctr" indent="0" marL="0">
              <a:buNone/>
            </a:pPr>
            <a:r>
              <a:rPr lang="en-US" sz="1100" dirty="0">
                <a:solidFill>
                  <a:srgbClr val="AEB6C2"/>
                </a:solidFill>
                <a:latin typeface="Poppins" pitchFamily="34" charset="0"/>
                <a:ea typeface="Poppins" pitchFamily="34" charset="-122"/>
                <a:cs typeface="Poppins" pitchFamily="34" charset="-120"/>
              </a:rPr>
              <a:t>Fleet   </a:t>
            </a:r>
            <a:pPr algn="ctr" indent="0" marL="0">
              <a:buNone/>
            </a:pPr>
            <a:r>
              <a:rPr lang="en-US" sz="1400" dirty="0">
                <a:solidFill>
                  <a:srgbClr val="F35B1A"/>
                </a:solidFill>
                <a:latin typeface="Poppins SemiBold" pitchFamily="34" charset="0"/>
                <a:ea typeface="Poppins SemiBold" pitchFamily="34" charset="-122"/>
                <a:cs typeface="Poppins SemiBold" pitchFamily="34" charset="-120"/>
              </a:rPr>
              <a:t>+400 vehicles</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assets/mobi_logo_navy.png">    </p:cNvPr>
          <p:cNvPicPr>
            <a:picLocks noChangeAspect="1"/>
          </p:cNvPicPr>
          <p:nvPr/>
        </p:nvPicPr>
        <p:blipFill>
          <a:blip r:embed="rId1"/>
          <a:stretch>
            <a:fillRect/>
          </a:stretch>
        </p:blipFill>
        <p:spPr>
          <a:xfrm>
            <a:off x="10545775" y="329184"/>
            <a:ext cx="914400" cy="292894"/>
          </a:xfrm>
          <a:prstGeom prst="rect">
            <a:avLst/>
          </a:prstGeom>
        </p:spPr>
      </p:pic>
      <p:sp>
        <p:nvSpPr>
          <p:cNvPr id="3" name="Shape 0"/>
          <p:cNvSpPr/>
          <p:nvPr/>
        </p:nvSpPr>
        <p:spPr>
          <a:xfrm>
            <a:off x="731520" y="329184"/>
            <a:ext cx="1472184" cy="329184"/>
          </a:xfrm>
          <a:prstGeom prst="roundRect">
            <a:avLst>
              <a:gd name="adj" fmla="val 25000"/>
            </a:avLst>
          </a:prstGeom>
          <a:solidFill>
            <a:srgbClr val="FDE9DE"/>
          </a:solidFill>
          <a:ln/>
        </p:spPr>
      </p:sp>
      <p:sp>
        <p:nvSpPr>
          <p:cNvPr id="4" name="Text 1"/>
          <p:cNvSpPr/>
          <p:nvPr/>
        </p:nvSpPr>
        <p:spPr>
          <a:xfrm>
            <a:off x="731520" y="329184"/>
            <a:ext cx="1472184" cy="329184"/>
          </a:xfrm>
          <a:prstGeom prst="rect">
            <a:avLst/>
          </a:prstGeom>
          <a:noFill/>
          <a:ln/>
        </p:spPr>
        <p:txBody>
          <a:bodyPr wrap="square" lIns="0" tIns="0" rIns="0" bIns="0" rtlCol="0" anchor="ctr"/>
          <a:lstStyle/>
          <a:p>
            <a:pPr algn="ctr" indent="0" marL="0">
              <a:buNone/>
            </a:pPr>
            <a:r>
              <a:rPr lang="en-US" sz="900" dirty="0">
                <a:solidFill>
                  <a:srgbClr val="C6470F"/>
                </a:solidFill>
                <a:latin typeface="Poppins Medium" pitchFamily="34" charset="0"/>
                <a:ea typeface="Poppins Medium" pitchFamily="34" charset="-122"/>
                <a:cs typeface="Poppins Medium" pitchFamily="34" charset="-120"/>
              </a:rPr>
              <a:t>Company Overview</a:t>
            </a:r>
            <a:endParaRPr lang="en-US" sz="900" dirty="0"/>
          </a:p>
        </p:txBody>
      </p:sp>
      <p:sp>
        <p:nvSpPr>
          <p:cNvPr id="5" name="Text 2"/>
          <p:cNvSpPr/>
          <p:nvPr/>
        </p:nvSpPr>
        <p:spPr>
          <a:xfrm>
            <a:off x="731520" y="731520"/>
            <a:ext cx="10088575" cy="548640"/>
          </a:xfrm>
          <a:prstGeom prst="rect">
            <a:avLst/>
          </a:prstGeom>
          <a:noFill/>
          <a:ln/>
        </p:spPr>
        <p:txBody>
          <a:bodyPr wrap="square" lIns="0" tIns="0" rIns="0" bIns="0" rtlCol="0" anchor="ctr"/>
          <a:lstStyle/>
          <a:p>
            <a:pPr algn="l" indent="0" marL="0">
              <a:buNone/>
            </a:pPr>
            <a:r>
              <a:rPr lang="en-US" sz="1800" dirty="0">
                <a:solidFill>
                  <a:srgbClr val="141A24"/>
                </a:solidFill>
                <a:latin typeface="Poppins SemiBold" pitchFamily="34" charset="0"/>
                <a:ea typeface="Poppins SemiBold" pitchFamily="34" charset="-122"/>
                <a:cs typeface="Poppins SemiBold" pitchFamily="34" charset="-120"/>
              </a:rPr>
              <a:t>Long-standing relationships with anchor clients</a:t>
            </a:r>
            <a:endParaRPr lang="en-US" sz="1800" dirty="0"/>
          </a:p>
        </p:txBody>
      </p:sp>
      <p:sp>
        <p:nvSpPr>
          <p:cNvPr id="6" name="Text 3"/>
          <p:cNvSpPr/>
          <p:nvPr/>
        </p:nvSpPr>
        <p:spPr>
          <a:xfrm>
            <a:off x="731520" y="1298448"/>
            <a:ext cx="10088575" cy="438912"/>
          </a:xfrm>
          <a:prstGeom prst="rect">
            <a:avLst/>
          </a:prstGeom>
          <a:noFill/>
          <a:ln/>
        </p:spPr>
        <p:txBody>
          <a:bodyPr wrap="square" lIns="0" tIns="0" rIns="0" bIns="0" rtlCol="0" anchor="t"/>
          <a:lstStyle/>
          <a:p>
            <a:pPr algn="l" indent="0" marL="0">
              <a:lnSpc>
                <a:spcPct val="102000"/>
              </a:lnSpc>
              <a:buNone/>
            </a:pPr>
            <a:r>
              <a:rPr lang="en-US" sz="1050" dirty="0">
                <a:solidFill>
                  <a:srgbClr val="6C7683"/>
                </a:solidFill>
                <a:latin typeface="Poppins" pitchFamily="34" charset="0"/>
                <a:ea typeface="Poppins" pitchFamily="34" charset="-122"/>
                <a:cs typeface="Poppins" pitchFamily="34" charset="-120"/>
              </a:rPr>
              <a:t>Selected success cases illustrating Mobi’s durable, multi-year client partnerships — details to be confirmed</a:t>
            </a:r>
            <a:endParaRPr lang="en-US" sz="1050" dirty="0"/>
          </a:p>
        </p:txBody>
      </p:sp>
      <p:sp>
        <p:nvSpPr>
          <p:cNvPr id="7" name="Text 4"/>
          <p:cNvSpPr/>
          <p:nvPr/>
        </p:nvSpPr>
        <p:spPr>
          <a:xfrm>
            <a:off x="731520" y="6309360"/>
            <a:ext cx="10362895" cy="219456"/>
          </a:xfrm>
          <a:prstGeom prst="rect">
            <a:avLst/>
          </a:prstGeom>
          <a:noFill/>
          <a:ln/>
        </p:spPr>
        <p:txBody>
          <a:bodyPr wrap="square" lIns="0" tIns="0" rIns="0" bIns="0" rtlCol="0" anchor="ctr"/>
          <a:lstStyle/>
          <a:p>
            <a:pPr algn="l" indent="0" marL="0">
              <a:buNone/>
            </a:pPr>
            <a:r>
              <a:rPr lang="en-US" sz="700" dirty="0">
                <a:solidFill>
                  <a:srgbClr val="9AA3AD"/>
                </a:solidFill>
                <a:latin typeface="Poppins" pitchFamily="34" charset="0"/>
                <a:ea typeface="Poppins" pitchFamily="34" charset="-122"/>
                <a:cs typeface="Poppins" pitchFamily="34" charset="-120"/>
              </a:rPr>
              <a:t>Source: Company — to be confirmed with management.</a:t>
            </a:r>
            <a:endParaRPr lang="en-US" sz="700" dirty="0"/>
          </a:p>
        </p:txBody>
      </p:sp>
      <p:pic>
        <p:nvPicPr>
          <p:cNvPr id="8" name="Image 1" descr="assets/igc_navy.png">    </p:cNvPr>
          <p:cNvPicPr>
            <a:picLocks noChangeAspect="1"/>
          </p:cNvPicPr>
          <p:nvPr/>
        </p:nvPicPr>
        <p:blipFill>
          <a:blip r:embed="rId2"/>
          <a:stretch>
            <a:fillRect/>
          </a:stretch>
        </p:blipFill>
        <p:spPr>
          <a:xfrm>
            <a:off x="731520" y="6492240"/>
            <a:ext cx="292608" cy="252943"/>
          </a:xfrm>
          <a:prstGeom prst="rect">
            <a:avLst/>
          </a:prstGeom>
        </p:spPr>
      </p:pic>
      <p:sp>
        <p:nvSpPr>
          <p:cNvPr id="9" name="Text 5"/>
          <p:cNvSpPr/>
          <p:nvPr/>
        </p:nvSpPr>
        <p:spPr>
          <a:xfrm>
            <a:off x="1115568" y="6510528"/>
            <a:ext cx="2743200" cy="274320"/>
          </a:xfrm>
          <a:prstGeom prst="rect">
            <a:avLst/>
          </a:prstGeom>
          <a:noFill/>
          <a:ln/>
        </p:spPr>
        <p:txBody>
          <a:bodyPr wrap="square" lIns="0" tIns="0" rIns="0" bIns="0" rtlCol="0" anchor="ctr"/>
          <a:lstStyle/>
          <a:p>
            <a:pPr algn="l" indent="0" marL="0">
              <a:buNone/>
            </a:pPr>
            <a:r>
              <a:rPr lang="en-US" sz="900" dirty="0">
                <a:solidFill>
                  <a:srgbClr val="2B333E"/>
                </a:solidFill>
                <a:latin typeface="Poppins Medium" pitchFamily="34" charset="0"/>
                <a:ea typeface="Poppins Medium" pitchFamily="34" charset="-122"/>
                <a:cs typeface="Poppins Medium" pitchFamily="34" charset="-120"/>
              </a:rPr>
              <a:t>19</a:t>
            </a:r>
            <a:pPr algn="l" indent="0" marL="0">
              <a:buNone/>
            </a:pPr>
            <a:r>
              <a:rPr lang="en-US" sz="900" dirty="0">
                <a:solidFill>
                  <a:srgbClr val="9AA3AD"/>
                </a:solidFill>
                <a:latin typeface="Poppins" pitchFamily="34" charset="0"/>
                <a:ea typeface="Poppins" pitchFamily="34" charset="-122"/>
                <a:cs typeface="Poppins" pitchFamily="34" charset="-120"/>
              </a:rPr>
              <a:t>    Confidential</a:t>
            </a:r>
            <a:endParaRPr lang="en-US" sz="900" dirty="0"/>
          </a:p>
        </p:txBody>
      </p:sp>
      <p:sp>
        <p:nvSpPr>
          <p:cNvPr id="10" name="Shape 6"/>
          <p:cNvSpPr/>
          <p:nvPr/>
        </p:nvSpPr>
        <p:spPr>
          <a:xfrm>
            <a:off x="731520" y="2057400"/>
            <a:ext cx="3332378" cy="3749040"/>
          </a:xfrm>
          <a:prstGeom prst="roundRect">
            <a:avLst>
              <a:gd name="adj" fmla="val 3293"/>
            </a:avLst>
          </a:prstGeom>
          <a:solidFill>
            <a:srgbClr val="F4F6F8"/>
          </a:solidFill>
          <a:ln w="12700">
            <a:solidFill>
              <a:srgbClr val="E2E6EB"/>
            </a:solidFill>
            <a:prstDash val="solid"/>
          </a:ln>
          <a:effectLst>
            <a:outerShdw sx="100000" sy="100000" kx="0" ky="0" algn="bl" rotWithShape="0" blurRad="101600" dist="25400" dir="5400000">
              <a:srgbClr val="9AA3AD">
                <a:alpha val="30000"/>
              </a:srgbClr>
            </a:outerShdw>
          </a:effectLst>
        </p:spPr>
      </p:sp>
      <p:sp>
        <p:nvSpPr>
          <p:cNvPr id="11" name="Shape 7"/>
          <p:cNvSpPr/>
          <p:nvPr/>
        </p:nvSpPr>
        <p:spPr>
          <a:xfrm>
            <a:off x="1005840" y="2377440"/>
            <a:ext cx="2783738" cy="960120"/>
          </a:xfrm>
          <a:prstGeom prst="roundRect">
            <a:avLst>
              <a:gd name="adj" fmla="val 7619"/>
            </a:avLst>
          </a:prstGeom>
          <a:solidFill>
            <a:srgbClr val="FFFFFF"/>
          </a:solidFill>
          <a:ln w="12700">
            <a:solidFill>
              <a:srgbClr val="E2E6EB"/>
            </a:solidFill>
            <a:prstDash val="solid"/>
          </a:ln>
        </p:spPr>
      </p:sp>
      <p:pic>
        <p:nvPicPr>
          <p:cNvPr id="12" name="Image 2" descr="assets/cli_cargill.png">    </p:cNvPr>
          <p:cNvPicPr>
            <a:picLocks noChangeAspect="1"/>
          </p:cNvPicPr>
          <p:nvPr/>
        </p:nvPicPr>
        <p:blipFill>
          <a:blip r:embed="rId3"/>
          <a:srcRect l="0" r="0" t="0" b="0"/>
          <a:stretch/>
        </p:blipFill>
        <p:spPr>
          <a:xfrm>
            <a:off x="1280160" y="2587752"/>
            <a:ext cx="2235098" cy="530352"/>
          </a:xfrm>
          <a:prstGeom prst="rect">
            <a:avLst/>
          </a:prstGeom>
        </p:spPr>
      </p:pic>
      <p:sp>
        <p:nvSpPr>
          <p:cNvPr id="13" name="Text 8"/>
          <p:cNvSpPr/>
          <p:nvPr/>
        </p:nvSpPr>
        <p:spPr>
          <a:xfrm>
            <a:off x="914400" y="3429000"/>
            <a:ext cx="2966618" cy="274320"/>
          </a:xfrm>
          <a:prstGeom prst="rect">
            <a:avLst/>
          </a:prstGeom>
          <a:noFill/>
          <a:ln/>
        </p:spPr>
        <p:txBody>
          <a:bodyPr wrap="square" lIns="0" tIns="0" rIns="0" bIns="0" rtlCol="0" anchor="ctr"/>
          <a:lstStyle/>
          <a:p>
            <a:pPr algn="ctr" indent="0" marL="0">
              <a:buNone/>
            </a:pPr>
            <a:r>
              <a:rPr lang="en-US" sz="900" dirty="0">
                <a:solidFill>
                  <a:srgbClr val="6C7683"/>
                </a:solidFill>
                <a:latin typeface="Poppins Medium" pitchFamily="34" charset="0"/>
                <a:ea typeface="Poppins Medium" pitchFamily="34" charset="-122"/>
                <a:cs typeface="Poppins Medium" pitchFamily="34" charset="-120"/>
              </a:rPr>
              <a:t>[City — State]</a:t>
            </a:r>
            <a:endParaRPr lang="en-US" sz="900" dirty="0"/>
          </a:p>
        </p:txBody>
      </p:sp>
      <p:sp>
        <p:nvSpPr>
          <p:cNvPr id="14" name="Text 9"/>
          <p:cNvSpPr/>
          <p:nvPr/>
        </p:nvSpPr>
        <p:spPr>
          <a:xfrm>
            <a:off x="1005840" y="3840480"/>
            <a:ext cx="1391869" cy="365760"/>
          </a:xfrm>
          <a:prstGeom prst="rect">
            <a:avLst/>
          </a:prstGeom>
          <a:noFill/>
          <a:ln/>
        </p:spPr>
        <p:txBody>
          <a:bodyPr wrap="square" lIns="0" tIns="0" rIns="0" bIns="0" rtlCol="0" anchor="ctr"/>
          <a:lstStyle/>
          <a:p>
            <a:pPr algn="ctr" indent="0" marL="0">
              <a:buNone/>
            </a:pPr>
            <a:r>
              <a:rPr lang="en-US" sz="1400" dirty="0">
                <a:solidFill>
                  <a:srgbClr val="F35B1A"/>
                </a:solidFill>
                <a:latin typeface="Poppins SemiBold" pitchFamily="34" charset="0"/>
                <a:ea typeface="Poppins SemiBold" pitchFamily="34" charset="-122"/>
                <a:cs typeface="Poppins SemiBold" pitchFamily="34" charset="-120"/>
              </a:rPr>
              <a:t>BRL [XXX] Mn</a:t>
            </a:r>
            <a:endParaRPr lang="en-US" sz="1400" dirty="0"/>
          </a:p>
        </p:txBody>
      </p:sp>
      <p:sp>
        <p:nvSpPr>
          <p:cNvPr id="15" name="Text 10"/>
          <p:cNvSpPr/>
          <p:nvPr/>
        </p:nvSpPr>
        <p:spPr>
          <a:xfrm>
            <a:off x="1005840" y="4206240"/>
            <a:ext cx="1391869" cy="237744"/>
          </a:xfrm>
          <a:prstGeom prst="rect">
            <a:avLst/>
          </a:prstGeom>
          <a:noFill/>
          <a:ln/>
        </p:spPr>
        <p:txBody>
          <a:bodyPr wrap="square" lIns="0" tIns="0" rIns="0" bIns="0" rtlCol="0" anchor="t"/>
          <a:lstStyle/>
          <a:p>
            <a:pPr algn="ctr" indent="0" marL="0">
              <a:buNone/>
            </a:pPr>
            <a:r>
              <a:rPr lang="en-US" sz="800" dirty="0">
                <a:solidFill>
                  <a:srgbClr val="6C7683"/>
                </a:solidFill>
                <a:latin typeface="Poppins" pitchFamily="34" charset="0"/>
                <a:ea typeface="Poppins" pitchFamily="34" charset="-122"/>
                <a:cs typeface="Poppins" pitchFamily="34" charset="-120"/>
              </a:rPr>
              <a:t>total value</a:t>
            </a:r>
            <a:endParaRPr lang="en-US" sz="800" dirty="0"/>
          </a:p>
        </p:txBody>
      </p:sp>
      <p:sp>
        <p:nvSpPr>
          <p:cNvPr id="16" name="Text 11"/>
          <p:cNvSpPr/>
          <p:nvPr/>
        </p:nvSpPr>
        <p:spPr>
          <a:xfrm>
            <a:off x="2397709" y="3840480"/>
            <a:ext cx="1391869" cy="365760"/>
          </a:xfrm>
          <a:prstGeom prst="rect">
            <a:avLst/>
          </a:prstGeom>
          <a:noFill/>
          <a:ln/>
        </p:spPr>
        <p:txBody>
          <a:bodyPr wrap="square" lIns="0" tIns="0" rIns="0" bIns="0" rtlCol="0" anchor="ctr"/>
          <a:lstStyle/>
          <a:p>
            <a:pPr algn="ctr" indent="0" marL="0">
              <a:buNone/>
            </a:pPr>
            <a:r>
              <a:rPr lang="en-US" sz="1400" dirty="0">
                <a:solidFill>
                  <a:srgbClr val="F35B1A"/>
                </a:solidFill>
                <a:latin typeface="Poppins SemiBold" pitchFamily="34" charset="0"/>
                <a:ea typeface="Poppins SemiBold" pitchFamily="34" charset="-122"/>
                <a:cs typeface="Poppins SemiBold" pitchFamily="34" charset="-120"/>
              </a:rPr>
              <a:t>[X] years</a:t>
            </a:r>
            <a:endParaRPr lang="en-US" sz="1400" dirty="0"/>
          </a:p>
        </p:txBody>
      </p:sp>
      <p:sp>
        <p:nvSpPr>
          <p:cNvPr id="17" name="Text 12"/>
          <p:cNvSpPr/>
          <p:nvPr/>
        </p:nvSpPr>
        <p:spPr>
          <a:xfrm>
            <a:off x="2397709" y="4206240"/>
            <a:ext cx="1391869" cy="237744"/>
          </a:xfrm>
          <a:prstGeom prst="rect">
            <a:avLst/>
          </a:prstGeom>
          <a:noFill/>
          <a:ln/>
        </p:spPr>
        <p:txBody>
          <a:bodyPr wrap="square" lIns="0" tIns="0" rIns="0" bIns="0" rtlCol="0" anchor="t"/>
          <a:lstStyle/>
          <a:p>
            <a:pPr algn="ctr" indent="0" marL="0">
              <a:buNone/>
            </a:pPr>
            <a:r>
              <a:rPr lang="en-US" sz="800" dirty="0">
                <a:solidFill>
                  <a:srgbClr val="6C7683"/>
                </a:solidFill>
                <a:latin typeface="Poppins" pitchFamily="34" charset="0"/>
                <a:ea typeface="Poppins" pitchFamily="34" charset="-122"/>
                <a:cs typeface="Poppins" pitchFamily="34" charset="-120"/>
              </a:rPr>
              <a:t>total term</a:t>
            </a:r>
            <a:endParaRPr lang="en-US" sz="800" dirty="0"/>
          </a:p>
        </p:txBody>
      </p:sp>
      <p:sp>
        <p:nvSpPr>
          <p:cNvPr id="18" name="Shape 13"/>
          <p:cNvSpPr/>
          <p:nvPr/>
        </p:nvSpPr>
        <p:spPr>
          <a:xfrm>
            <a:off x="1097280" y="4572000"/>
            <a:ext cx="2600858" cy="0"/>
          </a:xfrm>
          <a:prstGeom prst="line">
            <a:avLst/>
          </a:prstGeom>
          <a:noFill/>
          <a:ln w="12700">
            <a:solidFill>
              <a:srgbClr val="E2E6EB"/>
            </a:solidFill>
            <a:prstDash val="solid"/>
          </a:ln>
        </p:spPr>
      </p:sp>
      <p:sp>
        <p:nvSpPr>
          <p:cNvPr id="19" name="Text 14"/>
          <p:cNvSpPr/>
          <p:nvPr/>
        </p:nvSpPr>
        <p:spPr>
          <a:xfrm>
            <a:off x="1005840" y="4709160"/>
            <a:ext cx="2783738" cy="320040"/>
          </a:xfrm>
          <a:prstGeom prst="rect">
            <a:avLst/>
          </a:prstGeom>
          <a:noFill/>
          <a:ln/>
        </p:spPr>
        <p:txBody>
          <a:bodyPr wrap="square" lIns="0" tIns="0" rIns="0" bIns="0" rtlCol="0" anchor="ctr"/>
          <a:lstStyle/>
          <a:p>
            <a:pPr algn="ctr" indent="0" marL="0">
              <a:buNone/>
            </a:pPr>
            <a:r>
              <a:rPr lang="en-US" sz="900" dirty="0">
                <a:solidFill>
                  <a:srgbClr val="141A24"/>
                </a:solidFill>
                <a:latin typeface="Poppins Medium" pitchFamily="34" charset="0"/>
                <a:ea typeface="Poppins Medium" pitchFamily="34" charset="-122"/>
                <a:cs typeface="Poppins Medium" pitchFamily="34" charset="-120"/>
              </a:rPr>
              <a:t>[Service scope — TBC]</a:t>
            </a:r>
            <a:endParaRPr lang="en-US" sz="900" dirty="0"/>
          </a:p>
        </p:txBody>
      </p:sp>
      <p:sp>
        <p:nvSpPr>
          <p:cNvPr id="20" name="Text 15"/>
          <p:cNvSpPr/>
          <p:nvPr/>
        </p:nvSpPr>
        <p:spPr>
          <a:xfrm>
            <a:off x="1005840" y="5029200"/>
            <a:ext cx="2783738" cy="548640"/>
          </a:xfrm>
          <a:prstGeom prst="rect">
            <a:avLst/>
          </a:prstGeom>
          <a:noFill/>
          <a:ln/>
        </p:spPr>
        <p:txBody>
          <a:bodyPr wrap="square" lIns="0" tIns="0" rIns="0" bIns="0" rtlCol="0" anchor="t"/>
          <a:lstStyle/>
          <a:p>
            <a:pPr algn="ctr" indent="0" marL="0">
              <a:lnSpc>
                <a:spcPct val="105000"/>
              </a:lnSpc>
              <a:buNone/>
            </a:pPr>
            <a:r>
              <a:rPr lang="en-US" sz="800" dirty="0">
                <a:solidFill>
                  <a:srgbClr val="6C7683"/>
                </a:solidFill>
                <a:latin typeface="Poppins" pitchFamily="34" charset="0"/>
                <a:ea typeface="Poppins" pitchFamily="34" charset="-122"/>
                <a:cs typeface="Poppins" pitchFamily="34" charset="-120"/>
              </a:rPr>
              <a:t>[Relationship highlights and milestones to be confirmed with the Company]</a:t>
            </a:r>
            <a:endParaRPr lang="en-US" sz="800" dirty="0"/>
          </a:p>
        </p:txBody>
      </p:sp>
      <p:sp>
        <p:nvSpPr>
          <p:cNvPr id="21" name="Shape 16"/>
          <p:cNvSpPr/>
          <p:nvPr/>
        </p:nvSpPr>
        <p:spPr>
          <a:xfrm>
            <a:off x="4429658" y="2057400"/>
            <a:ext cx="3332378" cy="3749040"/>
          </a:xfrm>
          <a:prstGeom prst="roundRect">
            <a:avLst>
              <a:gd name="adj" fmla="val 3293"/>
            </a:avLst>
          </a:prstGeom>
          <a:solidFill>
            <a:srgbClr val="F4F6F8"/>
          </a:solidFill>
          <a:ln w="12700">
            <a:solidFill>
              <a:srgbClr val="E2E6EB"/>
            </a:solidFill>
            <a:prstDash val="solid"/>
          </a:ln>
          <a:effectLst>
            <a:outerShdw sx="100000" sy="100000" kx="0" ky="0" algn="bl" rotWithShape="0" blurRad="101600" dist="25400" dir="5400000">
              <a:srgbClr val="9AA3AD">
                <a:alpha val="30000"/>
              </a:srgbClr>
            </a:outerShdw>
          </a:effectLst>
        </p:spPr>
      </p:sp>
      <p:sp>
        <p:nvSpPr>
          <p:cNvPr id="22" name="Shape 17"/>
          <p:cNvSpPr/>
          <p:nvPr/>
        </p:nvSpPr>
        <p:spPr>
          <a:xfrm>
            <a:off x="4703978" y="2377440"/>
            <a:ext cx="2783738" cy="960120"/>
          </a:xfrm>
          <a:prstGeom prst="roundRect">
            <a:avLst>
              <a:gd name="adj" fmla="val 7619"/>
            </a:avLst>
          </a:prstGeom>
          <a:solidFill>
            <a:srgbClr val="FFFFFF"/>
          </a:solidFill>
          <a:ln w="12700">
            <a:solidFill>
              <a:srgbClr val="E2E6EB"/>
            </a:solidFill>
            <a:prstDash val="solid"/>
          </a:ln>
        </p:spPr>
      </p:sp>
      <p:pic>
        <p:nvPicPr>
          <p:cNvPr id="23" name="Image 3" descr="assets/cli_heineken.png">    </p:cNvPr>
          <p:cNvPicPr>
            <a:picLocks noChangeAspect="1"/>
          </p:cNvPicPr>
          <p:nvPr/>
        </p:nvPicPr>
        <p:blipFill>
          <a:blip r:embed="rId4"/>
          <a:srcRect l="0" r="0" t="0" b="0"/>
          <a:stretch/>
        </p:blipFill>
        <p:spPr>
          <a:xfrm>
            <a:off x="4978298" y="2587752"/>
            <a:ext cx="2235098" cy="530352"/>
          </a:xfrm>
          <a:prstGeom prst="rect">
            <a:avLst/>
          </a:prstGeom>
        </p:spPr>
      </p:pic>
      <p:sp>
        <p:nvSpPr>
          <p:cNvPr id="24" name="Text 18"/>
          <p:cNvSpPr/>
          <p:nvPr/>
        </p:nvSpPr>
        <p:spPr>
          <a:xfrm>
            <a:off x="4612538" y="3429000"/>
            <a:ext cx="2966618" cy="274320"/>
          </a:xfrm>
          <a:prstGeom prst="rect">
            <a:avLst/>
          </a:prstGeom>
          <a:noFill/>
          <a:ln/>
        </p:spPr>
        <p:txBody>
          <a:bodyPr wrap="square" lIns="0" tIns="0" rIns="0" bIns="0" rtlCol="0" anchor="ctr"/>
          <a:lstStyle/>
          <a:p>
            <a:pPr algn="ctr" indent="0" marL="0">
              <a:buNone/>
            </a:pPr>
            <a:r>
              <a:rPr lang="en-US" sz="900" dirty="0">
                <a:solidFill>
                  <a:srgbClr val="6C7683"/>
                </a:solidFill>
                <a:latin typeface="Poppins Medium" pitchFamily="34" charset="0"/>
                <a:ea typeface="Poppins Medium" pitchFamily="34" charset="-122"/>
                <a:cs typeface="Poppins Medium" pitchFamily="34" charset="-120"/>
              </a:rPr>
              <a:t>[City — State]</a:t>
            </a:r>
            <a:endParaRPr lang="en-US" sz="900" dirty="0"/>
          </a:p>
        </p:txBody>
      </p:sp>
      <p:sp>
        <p:nvSpPr>
          <p:cNvPr id="25" name="Text 19"/>
          <p:cNvSpPr/>
          <p:nvPr/>
        </p:nvSpPr>
        <p:spPr>
          <a:xfrm>
            <a:off x="4703978" y="3840480"/>
            <a:ext cx="1391869" cy="365760"/>
          </a:xfrm>
          <a:prstGeom prst="rect">
            <a:avLst/>
          </a:prstGeom>
          <a:noFill/>
          <a:ln/>
        </p:spPr>
        <p:txBody>
          <a:bodyPr wrap="square" lIns="0" tIns="0" rIns="0" bIns="0" rtlCol="0" anchor="ctr"/>
          <a:lstStyle/>
          <a:p>
            <a:pPr algn="ctr" indent="0" marL="0">
              <a:buNone/>
            </a:pPr>
            <a:r>
              <a:rPr lang="en-US" sz="1400" dirty="0">
                <a:solidFill>
                  <a:srgbClr val="F35B1A"/>
                </a:solidFill>
                <a:latin typeface="Poppins SemiBold" pitchFamily="34" charset="0"/>
                <a:ea typeface="Poppins SemiBold" pitchFamily="34" charset="-122"/>
                <a:cs typeface="Poppins SemiBold" pitchFamily="34" charset="-120"/>
              </a:rPr>
              <a:t>BRL [XXX] Mn</a:t>
            </a:r>
            <a:endParaRPr lang="en-US" sz="1400" dirty="0"/>
          </a:p>
        </p:txBody>
      </p:sp>
      <p:sp>
        <p:nvSpPr>
          <p:cNvPr id="26" name="Text 20"/>
          <p:cNvSpPr/>
          <p:nvPr/>
        </p:nvSpPr>
        <p:spPr>
          <a:xfrm>
            <a:off x="4703978" y="4206240"/>
            <a:ext cx="1391869" cy="237744"/>
          </a:xfrm>
          <a:prstGeom prst="rect">
            <a:avLst/>
          </a:prstGeom>
          <a:noFill/>
          <a:ln/>
        </p:spPr>
        <p:txBody>
          <a:bodyPr wrap="square" lIns="0" tIns="0" rIns="0" bIns="0" rtlCol="0" anchor="t"/>
          <a:lstStyle/>
          <a:p>
            <a:pPr algn="ctr" indent="0" marL="0">
              <a:buNone/>
            </a:pPr>
            <a:r>
              <a:rPr lang="en-US" sz="800" dirty="0">
                <a:solidFill>
                  <a:srgbClr val="6C7683"/>
                </a:solidFill>
                <a:latin typeface="Poppins" pitchFamily="34" charset="0"/>
                <a:ea typeface="Poppins" pitchFamily="34" charset="-122"/>
                <a:cs typeface="Poppins" pitchFamily="34" charset="-120"/>
              </a:rPr>
              <a:t>total value</a:t>
            </a:r>
            <a:endParaRPr lang="en-US" sz="800" dirty="0"/>
          </a:p>
        </p:txBody>
      </p:sp>
      <p:sp>
        <p:nvSpPr>
          <p:cNvPr id="27" name="Text 21"/>
          <p:cNvSpPr/>
          <p:nvPr/>
        </p:nvSpPr>
        <p:spPr>
          <a:xfrm>
            <a:off x="6095848" y="3840480"/>
            <a:ext cx="1391869" cy="365760"/>
          </a:xfrm>
          <a:prstGeom prst="rect">
            <a:avLst/>
          </a:prstGeom>
          <a:noFill/>
          <a:ln/>
        </p:spPr>
        <p:txBody>
          <a:bodyPr wrap="square" lIns="0" tIns="0" rIns="0" bIns="0" rtlCol="0" anchor="ctr"/>
          <a:lstStyle/>
          <a:p>
            <a:pPr algn="ctr" indent="0" marL="0">
              <a:buNone/>
            </a:pPr>
            <a:r>
              <a:rPr lang="en-US" sz="1400" dirty="0">
                <a:solidFill>
                  <a:srgbClr val="F35B1A"/>
                </a:solidFill>
                <a:latin typeface="Poppins SemiBold" pitchFamily="34" charset="0"/>
                <a:ea typeface="Poppins SemiBold" pitchFamily="34" charset="-122"/>
                <a:cs typeface="Poppins SemiBold" pitchFamily="34" charset="-120"/>
              </a:rPr>
              <a:t>[X] years</a:t>
            </a:r>
            <a:endParaRPr lang="en-US" sz="1400" dirty="0"/>
          </a:p>
        </p:txBody>
      </p:sp>
      <p:sp>
        <p:nvSpPr>
          <p:cNvPr id="28" name="Text 22"/>
          <p:cNvSpPr/>
          <p:nvPr/>
        </p:nvSpPr>
        <p:spPr>
          <a:xfrm>
            <a:off x="6095848" y="4206240"/>
            <a:ext cx="1391869" cy="237744"/>
          </a:xfrm>
          <a:prstGeom prst="rect">
            <a:avLst/>
          </a:prstGeom>
          <a:noFill/>
          <a:ln/>
        </p:spPr>
        <p:txBody>
          <a:bodyPr wrap="square" lIns="0" tIns="0" rIns="0" bIns="0" rtlCol="0" anchor="t"/>
          <a:lstStyle/>
          <a:p>
            <a:pPr algn="ctr" indent="0" marL="0">
              <a:buNone/>
            </a:pPr>
            <a:r>
              <a:rPr lang="en-US" sz="800" dirty="0">
                <a:solidFill>
                  <a:srgbClr val="6C7683"/>
                </a:solidFill>
                <a:latin typeface="Poppins" pitchFamily="34" charset="0"/>
                <a:ea typeface="Poppins" pitchFamily="34" charset="-122"/>
                <a:cs typeface="Poppins" pitchFamily="34" charset="-120"/>
              </a:rPr>
              <a:t>total term</a:t>
            </a:r>
            <a:endParaRPr lang="en-US" sz="800" dirty="0"/>
          </a:p>
        </p:txBody>
      </p:sp>
      <p:sp>
        <p:nvSpPr>
          <p:cNvPr id="29" name="Shape 23"/>
          <p:cNvSpPr/>
          <p:nvPr/>
        </p:nvSpPr>
        <p:spPr>
          <a:xfrm>
            <a:off x="4795418" y="4572000"/>
            <a:ext cx="2600858" cy="0"/>
          </a:xfrm>
          <a:prstGeom prst="line">
            <a:avLst/>
          </a:prstGeom>
          <a:noFill/>
          <a:ln w="12700">
            <a:solidFill>
              <a:srgbClr val="E2E6EB"/>
            </a:solidFill>
            <a:prstDash val="solid"/>
          </a:ln>
        </p:spPr>
      </p:sp>
      <p:sp>
        <p:nvSpPr>
          <p:cNvPr id="30" name="Text 24"/>
          <p:cNvSpPr/>
          <p:nvPr/>
        </p:nvSpPr>
        <p:spPr>
          <a:xfrm>
            <a:off x="4703978" y="4709160"/>
            <a:ext cx="2783738" cy="320040"/>
          </a:xfrm>
          <a:prstGeom prst="rect">
            <a:avLst/>
          </a:prstGeom>
          <a:noFill/>
          <a:ln/>
        </p:spPr>
        <p:txBody>
          <a:bodyPr wrap="square" lIns="0" tIns="0" rIns="0" bIns="0" rtlCol="0" anchor="ctr"/>
          <a:lstStyle/>
          <a:p>
            <a:pPr algn="ctr" indent="0" marL="0">
              <a:buNone/>
            </a:pPr>
            <a:r>
              <a:rPr lang="en-US" sz="900" dirty="0">
                <a:solidFill>
                  <a:srgbClr val="141A24"/>
                </a:solidFill>
                <a:latin typeface="Poppins Medium" pitchFamily="34" charset="0"/>
                <a:ea typeface="Poppins Medium" pitchFamily="34" charset="-122"/>
                <a:cs typeface="Poppins Medium" pitchFamily="34" charset="-120"/>
              </a:rPr>
              <a:t>[Service scope — TBC]</a:t>
            </a:r>
            <a:endParaRPr lang="en-US" sz="900" dirty="0"/>
          </a:p>
        </p:txBody>
      </p:sp>
      <p:sp>
        <p:nvSpPr>
          <p:cNvPr id="31" name="Text 25"/>
          <p:cNvSpPr/>
          <p:nvPr/>
        </p:nvSpPr>
        <p:spPr>
          <a:xfrm>
            <a:off x="4703978" y="5029200"/>
            <a:ext cx="2783738" cy="548640"/>
          </a:xfrm>
          <a:prstGeom prst="rect">
            <a:avLst/>
          </a:prstGeom>
          <a:noFill/>
          <a:ln/>
        </p:spPr>
        <p:txBody>
          <a:bodyPr wrap="square" lIns="0" tIns="0" rIns="0" bIns="0" rtlCol="0" anchor="t"/>
          <a:lstStyle/>
          <a:p>
            <a:pPr algn="ctr" indent="0" marL="0">
              <a:lnSpc>
                <a:spcPct val="105000"/>
              </a:lnSpc>
              <a:buNone/>
            </a:pPr>
            <a:r>
              <a:rPr lang="en-US" sz="800" dirty="0">
                <a:solidFill>
                  <a:srgbClr val="6C7683"/>
                </a:solidFill>
                <a:latin typeface="Poppins" pitchFamily="34" charset="0"/>
                <a:ea typeface="Poppins" pitchFamily="34" charset="-122"/>
                <a:cs typeface="Poppins" pitchFamily="34" charset="-120"/>
              </a:rPr>
              <a:t>[Relationship highlights and milestones to be confirmed with the Company]</a:t>
            </a:r>
            <a:endParaRPr lang="en-US" sz="800" dirty="0"/>
          </a:p>
        </p:txBody>
      </p:sp>
      <p:sp>
        <p:nvSpPr>
          <p:cNvPr id="32" name="Shape 26"/>
          <p:cNvSpPr/>
          <p:nvPr/>
        </p:nvSpPr>
        <p:spPr>
          <a:xfrm>
            <a:off x="8127797" y="2057400"/>
            <a:ext cx="3332378" cy="3749040"/>
          </a:xfrm>
          <a:prstGeom prst="roundRect">
            <a:avLst>
              <a:gd name="adj" fmla="val 3293"/>
            </a:avLst>
          </a:prstGeom>
          <a:solidFill>
            <a:srgbClr val="F4F6F8"/>
          </a:solidFill>
          <a:ln w="12700">
            <a:solidFill>
              <a:srgbClr val="E2E6EB"/>
            </a:solidFill>
            <a:prstDash val="solid"/>
          </a:ln>
          <a:effectLst>
            <a:outerShdw sx="100000" sy="100000" kx="0" ky="0" algn="bl" rotWithShape="0" blurRad="101600" dist="25400" dir="5400000">
              <a:srgbClr val="9AA3AD">
                <a:alpha val="30000"/>
              </a:srgbClr>
            </a:outerShdw>
          </a:effectLst>
        </p:spPr>
      </p:sp>
      <p:sp>
        <p:nvSpPr>
          <p:cNvPr id="33" name="Shape 27"/>
          <p:cNvSpPr/>
          <p:nvPr/>
        </p:nvSpPr>
        <p:spPr>
          <a:xfrm>
            <a:off x="8402117" y="2377440"/>
            <a:ext cx="2783738" cy="960120"/>
          </a:xfrm>
          <a:prstGeom prst="roundRect">
            <a:avLst>
              <a:gd name="adj" fmla="val 7619"/>
            </a:avLst>
          </a:prstGeom>
          <a:solidFill>
            <a:srgbClr val="FFFFFF"/>
          </a:solidFill>
          <a:ln w="12700">
            <a:solidFill>
              <a:srgbClr val="E2E6EB"/>
            </a:solidFill>
            <a:prstDash val="solid"/>
          </a:ln>
        </p:spPr>
      </p:sp>
      <p:pic>
        <p:nvPicPr>
          <p:cNvPr id="34" name="Image 4" descr="assets/cli_roche.png">    </p:cNvPr>
          <p:cNvPicPr>
            <a:picLocks noChangeAspect="1"/>
          </p:cNvPicPr>
          <p:nvPr/>
        </p:nvPicPr>
        <p:blipFill>
          <a:blip r:embed="rId5"/>
          <a:srcRect l="0" r="0" t="0" b="0"/>
          <a:stretch/>
        </p:blipFill>
        <p:spPr>
          <a:xfrm>
            <a:off x="8676437" y="2587752"/>
            <a:ext cx="2235098" cy="530352"/>
          </a:xfrm>
          <a:prstGeom prst="rect">
            <a:avLst/>
          </a:prstGeom>
        </p:spPr>
      </p:pic>
      <p:sp>
        <p:nvSpPr>
          <p:cNvPr id="35" name="Text 28"/>
          <p:cNvSpPr/>
          <p:nvPr/>
        </p:nvSpPr>
        <p:spPr>
          <a:xfrm>
            <a:off x="8310677" y="3429000"/>
            <a:ext cx="2966618" cy="274320"/>
          </a:xfrm>
          <a:prstGeom prst="rect">
            <a:avLst/>
          </a:prstGeom>
          <a:noFill/>
          <a:ln/>
        </p:spPr>
        <p:txBody>
          <a:bodyPr wrap="square" lIns="0" tIns="0" rIns="0" bIns="0" rtlCol="0" anchor="ctr"/>
          <a:lstStyle/>
          <a:p>
            <a:pPr algn="ctr" indent="0" marL="0">
              <a:buNone/>
            </a:pPr>
            <a:r>
              <a:rPr lang="en-US" sz="900" dirty="0">
                <a:solidFill>
                  <a:srgbClr val="6C7683"/>
                </a:solidFill>
                <a:latin typeface="Poppins Medium" pitchFamily="34" charset="0"/>
                <a:ea typeface="Poppins Medium" pitchFamily="34" charset="-122"/>
                <a:cs typeface="Poppins Medium" pitchFamily="34" charset="-120"/>
              </a:rPr>
              <a:t>[City — State]</a:t>
            </a:r>
            <a:endParaRPr lang="en-US" sz="900" dirty="0"/>
          </a:p>
        </p:txBody>
      </p:sp>
      <p:sp>
        <p:nvSpPr>
          <p:cNvPr id="36" name="Text 29"/>
          <p:cNvSpPr/>
          <p:nvPr/>
        </p:nvSpPr>
        <p:spPr>
          <a:xfrm>
            <a:off x="8402117" y="3840480"/>
            <a:ext cx="1391869" cy="365760"/>
          </a:xfrm>
          <a:prstGeom prst="rect">
            <a:avLst/>
          </a:prstGeom>
          <a:noFill/>
          <a:ln/>
        </p:spPr>
        <p:txBody>
          <a:bodyPr wrap="square" lIns="0" tIns="0" rIns="0" bIns="0" rtlCol="0" anchor="ctr"/>
          <a:lstStyle/>
          <a:p>
            <a:pPr algn="ctr" indent="0" marL="0">
              <a:buNone/>
            </a:pPr>
            <a:r>
              <a:rPr lang="en-US" sz="1400" dirty="0">
                <a:solidFill>
                  <a:srgbClr val="F35B1A"/>
                </a:solidFill>
                <a:latin typeface="Poppins SemiBold" pitchFamily="34" charset="0"/>
                <a:ea typeface="Poppins SemiBold" pitchFamily="34" charset="-122"/>
                <a:cs typeface="Poppins SemiBold" pitchFamily="34" charset="-120"/>
              </a:rPr>
              <a:t>BRL [XXX] Mn</a:t>
            </a:r>
            <a:endParaRPr lang="en-US" sz="1400" dirty="0"/>
          </a:p>
        </p:txBody>
      </p:sp>
      <p:sp>
        <p:nvSpPr>
          <p:cNvPr id="37" name="Text 30"/>
          <p:cNvSpPr/>
          <p:nvPr/>
        </p:nvSpPr>
        <p:spPr>
          <a:xfrm>
            <a:off x="8402117" y="4206240"/>
            <a:ext cx="1391869" cy="237744"/>
          </a:xfrm>
          <a:prstGeom prst="rect">
            <a:avLst/>
          </a:prstGeom>
          <a:noFill/>
          <a:ln/>
        </p:spPr>
        <p:txBody>
          <a:bodyPr wrap="square" lIns="0" tIns="0" rIns="0" bIns="0" rtlCol="0" anchor="t"/>
          <a:lstStyle/>
          <a:p>
            <a:pPr algn="ctr" indent="0" marL="0">
              <a:buNone/>
            </a:pPr>
            <a:r>
              <a:rPr lang="en-US" sz="800" dirty="0">
                <a:solidFill>
                  <a:srgbClr val="6C7683"/>
                </a:solidFill>
                <a:latin typeface="Poppins" pitchFamily="34" charset="0"/>
                <a:ea typeface="Poppins" pitchFamily="34" charset="-122"/>
                <a:cs typeface="Poppins" pitchFamily="34" charset="-120"/>
              </a:rPr>
              <a:t>total value</a:t>
            </a:r>
            <a:endParaRPr lang="en-US" sz="800" dirty="0"/>
          </a:p>
        </p:txBody>
      </p:sp>
      <p:sp>
        <p:nvSpPr>
          <p:cNvPr id="38" name="Text 31"/>
          <p:cNvSpPr/>
          <p:nvPr/>
        </p:nvSpPr>
        <p:spPr>
          <a:xfrm>
            <a:off x="9793986" y="3840480"/>
            <a:ext cx="1391869" cy="365760"/>
          </a:xfrm>
          <a:prstGeom prst="rect">
            <a:avLst/>
          </a:prstGeom>
          <a:noFill/>
          <a:ln/>
        </p:spPr>
        <p:txBody>
          <a:bodyPr wrap="square" lIns="0" tIns="0" rIns="0" bIns="0" rtlCol="0" anchor="ctr"/>
          <a:lstStyle/>
          <a:p>
            <a:pPr algn="ctr" indent="0" marL="0">
              <a:buNone/>
            </a:pPr>
            <a:r>
              <a:rPr lang="en-US" sz="1400" dirty="0">
                <a:solidFill>
                  <a:srgbClr val="F35B1A"/>
                </a:solidFill>
                <a:latin typeface="Poppins SemiBold" pitchFamily="34" charset="0"/>
                <a:ea typeface="Poppins SemiBold" pitchFamily="34" charset="-122"/>
                <a:cs typeface="Poppins SemiBold" pitchFamily="34" charset="-120"/>
              </a:rPr>
              <a:t>[X] years</a:t>
            </a:r>
            <a:endParaRPr lang="en-US" sz="1400" dirty="0"/>
          </a:p>
        </p:txBody>
      </p:sp>
      <p:sp>
        <p:nvSpPr>
          <p:cNvPr id="39" name="Text 32"/>
          <p:cNvSpPr/>
          <p:nvPr/>
        </p:nvSpPr>
        <p:spPr>
          <a:xfrm>
            <a:off x="9793986" y="4206240"/>
            <a:ext cx="1391869" cy="237744"/>
          </a:xfrm>
          <a:prstGeom prst="rect">
            <a:avLst/>
          </a:prstGeom>
          <a:noFill/>
          <a:ln/>
        </p:spPr>
        <p:txBody>
          <a:bodyPr wrap="square" lIns="0" tIns="0" rIns="0" bIns="0" rtlCol="0" anchor="t"/>
          <a:lstStyle/>
          <a:p>
            <a:pPr algn="ctr" indent="0" marL="0">
              <a:buNone/>
            </a:pPr>
            <a:r>
              <a:rPr lang="en-US" sz="800" dirty="0">
                <a:solidFill>
                  <a:srgbClr val="6C7683"/>
                </a:solidFill>
                <a:latin typeface="Poppins" pitchFamily="34" charset="0"/>
                <a:ea typeface="Poppins" pitchFamily="34" charset="-122"/>
                <a:cs typeface="Poppins" pitchFamily="34" charset="-120"/>
              </a:rPr>
              <a:t>total term</a:t>
            </a:r>
            <a:endParaRPr lang="en-US" sz="800" dirty="0"/>
          </a:p>
        </p:txBody>
      </p:sp>
      <p:sp>
        <p:nvSpPr>
          <p:cNvPr id="40" name="Shape 33"/>
          <p:cNvSpPr/>
          <p:nvPr/>
        </p:nvSpPr>
        <p:spPr>
          <a:xfrm>
            <a:off x="8493557" y="4572000"/>
            <a:ext cx="2600858" cy="0"/>
          </a:xfrm>
          <a:prstGeom prst="line">
            <a:avLst/>
          </a:prstGeom>
          <a:noFill/>
          <a:ln w="12700">
            <a:solidFill>
              <a:srgbClr val="E2E6EB"/>
            </a:solidFill>
            <a:prstDash val="solid"/>
          </a:ln>
        </p:spPr>
      </p:sp>
      <p:sp>
        <p:nvSpPr>
          <p:cNvPr id="41" name="Text 34"/>
          <p:cNvSpPr/>
          <p:nvPr/>
        </p:nvSpPr>
        <p:spPr>
          <a:xfrm>
            <a:off x="8402117" y="4709160"/>
            <a:ext cx="2783738" cy="320040"/>
          </a:xfrm>
          <a:prstGeom prst="rect">
            <a:avLst/>
          </a:prstGeom>
          <a:noFill/>
          <a:ln/>
        </p:spPr>
        <p:txBody>
          <a:bodyPr wrap="square" lIns="0" tIns="0" rIns="0" bIns="0" rtlCol="0" anchor="ctr"/>
          <a:lstStyle/>
          <a:p>
            <a:pPr algn="ctr" indent="0" marL="0">
              <a:buNone/>
            </a:pPr>
            <a:r>
              <a:rPr lang="en-US" sz="900" dirty="0">
                <a:solidFill>
                  <a:srgbClr val="141A24"/>
                </a:solidFill>
                <a:latin typeface="Poppins Medium" pitchFamily="34" charset="0"/>
                <a:ea typeface="Poppins Medium" pitchFamily="34" charset="-122"/>
                <a:cs typeface="Poppins Medium" pitchFamily="34" charset="-120"/>
              </a:rPr>
              <a:t>[Service scope — TBC]</a:t>
            </a:r>
            <a:endParaRPr lang="en-US" sz="900" dirty="0"/>
          </a:p>
        </p:txBody>
      </p:sp>
      <p:sp>
        <p:nvSpPr>
          <p:cNvPr id="42" name="Text 35"/>
          <p:cNvSpPr/>
          <p:nvPr/>
        </p:nvSpPr>
        <p:spPr>
          <a:xfrm>
            <a:off x="8402117" y="5029200"/>
            <a:ext cx="2783738" cy="548640"/>
          </a:xfrm>
          <a:prstGeom prst="rect">
            <a:avLst/>
          </a:prstGeom>
          <a:noFill/>
          <a:ln/>
        </p:spPr>
        <p:txBody>
          <a:bodyPr wrap="square" lIns="0" tIns="0" rIns="0" bIns="0" rtlCol="0" anchor="t"/>
          <a:lstStyle/>
          <a:p>
            <a:pPr algn="ctr" indent="0" marL="0">
              <a:lnSpc>
                <a:spcPct val="105000"/>
              </a:lnSpc>
              <a:buNone/>
            </a:pPr>
            <a:r>
              <a:rPr lang="en-US" sz="800" dirty="0">
                <a:solidFill>
                  <a:srgbClr val="6C7683"/>
                </a:solidFill>
                <a:latin typeface="Poppins" pitchFamily="34" charset="0"/>
                <a:ea typeface="Poppins" pitchFamily="34" charset="-122"/>
                <a:cs typeface="Poppins" pitchFamily="34" charset="-120"/>
              </a:rPr>
              <a:t>[Relationship highlights and milestones to be confirmed with the Company]</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41A24"/>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41A24"/>
          </a:solidFill>
          <a:ln/>
        </p:spPr>
      </p:sp>
      <p:pic>
        <p:nvPicPr>
          <p:cNvPr id="3" name="Image 0" descr="assets/cover_buses.jpeg">    </p:cNvPr>
          <p:cNvPicPr>
            <a:picLocks noChangeAspect="1"/>
          </p:cNvPicPr>
          <p:nvPr/>
        </p:nvPicPr>
        <p:blipFill>
          <a:blip r:embed="rId1"/>
          <a:srcRect l="0" r="0" t="0" b="0"/>
          <a:stretch/>
        </p:blipFill>
        <p:spPr>
          <a:xfrm>
            <a:off x="6949440" y="868680"/>
            <a:ext cx="5242255" cy="4206240"/>
          </a:xfrm>
          <a:prstGeom prst="rect">
            <a:avLst/>
          </a:prstGeom>
        </p:spPr>
      </p:pic>
      <p:sp>
        <p:nvSpPr>
          <p:cNvPr id="4" name="Shape 1"/>
          <p:cNvSpPr/>
          <p:nvPr/>
        </p:nvSpPr>
        <p:spPr>
          <a:xfrm>
            <a:off x="6949440" y="868680"/>
            <a:ext cx="5242255" cy="4206240"/>
          </a:xfrm>
          <a:prstGeom prst="rect">
            <a:avLst/>
          </a:prstGeom>
          <a:solidFill>
            <a:srgbClr val="141A24">
              <a:alpha val="26000"/>
            </a:srgbClr>
          </a:solidFill>
          <a:ln/>
        </p:spPr>
      </p:sp>
      <p:pic>
        <p:nvPicPr>
          <p:cNvPr id="5" name="Image 1" descr="assets/stripes_orange.png">    </p:cNvPr>
          <p:cNvPicPr>
            <a:picLocks noChangeAspect="1"/>
          </p:cNvPicPr>
          <p:nvPr/>
        </p:nvPicPr>
        <p:blipFill>
          <a:blip r:embed="rId2">
            <a:alphaModFix amt="55000"/>
          </a:blip>
          <a:stretch>
            <a:fillRect/>
          </a:stretch>
        </p:blipFill>
        <p:spPr>
          <a:xfrm>
            <a:off x="-822960" y="4846320"/>
            <a:ext cx="2011680" cy="2011680"/>
          </a:xfrm>
          <a:prstGeom prst="rect">
            <a:avLst/>
          </a:prstGeom>
        </p:spPr>
      </p:pic>
      <p:sp>
        <p:nvSpPr>
          <p:cNvPr id="6" name="Text 2"/>
          <p:cNvSpPr/>
          <p:nvPr/>
        </p:nvSpPr>
        <p:spPr>
          <a:xfrm>
            <a:off x="731520" y="914400"/>
            <a:ext cx="5486400" cy="685800"/>
          </a:xfrm>
          <a:prstGeom prst="rect">
            <a:avLst/>
          </a:prstGeom>
          <a:noFill/>
          <a:ln/>
        </p:spPr>
        <p:txBody>
          <a:bodyPr wrap="square" lIns="0" tIns="0" rIns="0" bIns="0" rtlCol="0" anchor="ctr"/>
          <a:lstStyle/>
          <a:p>
            <a:pPr indent="0" marL="0">
              <a:buNone/>
            </a:pPr>
            <a:r>
              <a:rPr lang="en-US" sz="3200" dirty="0">
                <a:solidFill>
                  <a:srgbClr val="FFFFFF"/>
                </a:solidFill>
                <a:latin typeface="Poppins SemiBold" pitchFamily="34" charset="0"/>
                <a:ea typeface="Poppins SemiBold" pitchFamily="34" charset="-122"/>
                <a:cs typeface="Poppins SemiBold" pitchFamily="34" charset="-120"/>
              </a:rPr>
              <a:t>Executive</a:t>
            </a:r>
            <a:endParaRPr lang="en-US" sz="3200" dirty="0"/>
          </a:p>
        </p:txBody>
      </p:sp>
      <p:sp>
        <p:nvSpPr>
          <p:cNvPr id="7" name="Text 3"/>
          <p:cNvSpPr/>
          <p:nvPr/>
        </p:nvSpPr>
        <p:spPr>
          <a:xfrm>
            <a:off x="731520" y="1572768"/>
            <a:ext cx="5486400" cy="685800"/>
          </a:xfrm>
          <a:prstGeom prst="rect">
            <a:avLst/>
          </a:prstGeom>
          <a:noFill/>
          <a:ln/>
        </p:spPr>
        <p:txBody>
          <a:bodyPr wrap="square" lIns="0" tIns="0" rIns="0" bIns="0" rtlCol="0" anchor="ctr"/>
          <a:lstStyle/>
          <a:p>
            <a:pPr indent="0" marL="0">
              <a:buNone/>
            </a:pPr>
            <a:r>
              <a:rPr lang="en-US" sz="3200" dirty="0">
                <a:solidFill>
                  <a:srgbClr val="F35B1A"/>
                </a:solidFill>
                <a:latin typeface="Poppins SemiBold" pitchFamily="34" charset="0"/>
                <a:ea typeface="Poppins SemiBold" pitchFamily="34" charset="-122"/>
                <a:cs typeface="Poppins SemiBold" pitchFamily="34" charset="-120"/>
              </a:rPr>
              <a:t>Summary</a:t>
            </a:r>
            <a:endParaRPr lang="en-US" sz="3200" dirty="0"/>
          </a:p>
        </p:txBody>
      </p:sp>
      <p:sp>
        <p:nvSpPr>
          <p:cNvPr id="8" name="Shape 4"/>
          <p:cNvSpPr/>
          <p:nvPr/>
        </p:nvSpPr>
        <p:spPr>
          <a:xfrm rot="5400000">
            <a:off x="749808" y="2999232"/>
            <a:ext cx="237744" cy="237744"/>
          </a:xfrm>
          <a:prstGeom prst="triangle">
            <a:avLst/>
          </a:prstGeom>
          <a:solidFill>
            <a:srgbClr val="323E50"/>
          </a:solidFill>
          <a:ln/>
        </p:spPr>
      </p:sp>
      <p:sp>
        <p:nvSpPr>
          <p:cNvPr id="9" name="Text 5"/>
          <p:cNvSpPr/>
          <p:nvPr/>
        </p:nvSpPr>
        <p:spPr>
          <a:xfrm>
            <a:off x="1188720" y="2880360"/>
            <a:ext cx="4206240" cy="457200"/>
          </a:xfrm>
          <a:prstGeom prst="rect">
            <a:avLst/>
          </a:prstGeom>
          <a:noFill/>
          <a:ln/>
        </p:spPr>
        <p:txBody>
          <a:bodyPr wrap="square" lIns="0" tIns="0" rIns="0" bIns="0" rtlCol="0" anchor="ctr"/>
          <a:lstStyle/>
          <a:p>
            <a:pPr indent="0" marL="0">
              <a:buNone/>
            </a:pPr>
            <a:r>
              <a:rPr lang="en-US" sz="1400" spc="100" kern="0" dirty="0">
                <a:solidFill>
                  <a:srgbClr val="8B95A5"/>
                </a:solidFill>
                <a:latin typeface="Poppins SemiBold" pitchFamily="34" charset="0"/>
                <a:ea typeface="Poppins SemiBold" pitchFamily="34" charset="-122"/>
                <a:cs typeface="Poppins SemiBold" pitchFamily="34" charset="-120"/>
              </a:rPr>
              <a:t>INTRODUCTION</a:t>
            </a:r>
            <a:endParaRPr lang="en-US" sz="1400" dirty="0"/>
          </a:p>
        </p:txBody>
      </p:sp>
      <p:sp>
        <p:nvSpPr>
          <p:cNvPr id="10" name="Text 6"/>
          <p:cNvSpPr/>
          <p:nvPr/>
        </p:nvSpPr>
        <p:spPr>
          <a:xfrm>
            <a:off x="5486400" y="2880360"/>
            <a:ext cx="731520" cy="457200"/>
          </a:xfrm>
          <a:prstGeom prst="rect">
            <a:avLst/>
          </a:prstGeom>
          <a:noFill/>
          <a:ln/>
        </p:spPr>
        <p:txBody>
          <a:bodyPr wrap="square" lIns="0" tIns="0" rIns="0" bIns="0" rtlCol="0" anchor="ctr"/>
          <a:lstStyle/>
          <a:p>
            <a:pPr indent="0" marL="0">
              <a:buNone/>
            </a:pPr>
            <a:r>
              <a:rPr lang="en-US" sz="1200" dirty="0">
                <a:solidFill>
                  <a:srgbClr val="8B95A5"/>
                </a:solidFill>
                <a:latin typeface="Poppins Medium" pitchFamily="34" charset="0"/>
                <a:ea typeface="Poppins Medium" pitchFamily="34" charset="-122"/>
                <a:cs typeface="Poppins Medium" pitchFamily="34" charset="-120"/>
              </a:rPr>
              <a:t>04</a:t>
            </a:r>
            <a:endParaRPr lang="en-US" sz="1200" dirty="0"/>
          </a:p>
        </p:txBody>
      </p:sp>
      <p:sp>
        <p:nvSpPr>
          <p:cNvPr id="11" name="Shape 7"/>
          <p:cNvSpPr/>
          <p:nvPr/>
        </p:nvSpPr>
        <p:spPr>
          <a:xfrm rot="5400000">
            <a:off x="749808" y="3712464"/>
            <a:ext cx="237744" cy="237744"/>
          </a:xfrm>
          <a:prstGeom prst="triangle">
            <a:avLst/>
          </a:prstGeom>
          <a:solidFill>
            <a:srgbClr val="323E50"/>
          </a:solidFill>
          <a:ln/>
        </p:spPr>
      </p:sp>
      <p:sp>
        <p:nvSpPr>
          <p:cNvPr id="12" name="Text 8"/>
          <p:cNvSpPr/>
          <p:nvPr/>
        </p:nvSpPr>
        <p:spPr>
          <a:xfrm>
            <a:off x="1188720" y="3593592"/>
            <a:ext cx="4206240" cy="457200"/>
          </a:xfrm>
          <a:prstGeom prst="rect">
            <a:avLst/>
          </a:prstGeom>
          <a:noFill/>
          <a:ln/>
        </p:spPr>
        <p:txBody>
          <a:bodyPr wrap="square" lIns="0" tIns="0" rIns="0" bIns="0" rtlCol="0" anchor="ctr"/>
          <a:lstStyle/>
          <a:p>
            <a:pPr indent="0" marL="0">
              <a:buNone/>
            </a:pPr>
            <a:r>
              <a:rPr lang="en-US" sz="1400" spc="100" kern="0" dirty="0">
                <a:solidFill>
                  <a:srgbClr val="8B95A5"/>
                </a:solidFill>
                <a:latin typeface="Poppins SemiBold" pitchFamily="34" charset="0"/>
                <a:ea typeface="Poppins SemiBold" pitchFamily="34" charset="-122"/>
                <a:cs typeface="Poppins SemiBold" pitchFamily="34" charset="-120"/>
              </a:rPr>
              <a:t>INVESTMENT THESIS</a:t>
            </a:r>
            <a:endParaRPr lang="en-US" sz="1400" dirty="0"/>
          </a:p>
        </p:txBody>
      </p:sp>
      <p:sp>
        <p:nvSpPr>
          <p:cNvPr id="13" name="Text 9"/>
          <p:cNvSpPr/>
          <p:nvPr/>
        </p:nvSpPr>
        <p:spPr>
          <a:xfrm>
            <a:off x="5486400" y="3593592"/>
            <a:ext cx="731520" cy="457200"/>
          </a:xfrm>
          <a:prstGeom prst="rect">
            <a:avLst/>
          </a:prstGeom>
          <a:noFill/>
          <a:ln/>
        </p:spPr>
        <p:txBody>
          <a:bodyPr wrap="square" lIns="0" tIns="0" rIns="0" bIns="0" rtlCol="0" anchor="ctr"/>
          <a:lstStyle/>
          <a:p>
            <a:pPr indent="0" marL="0">
              <a:buNone/>
            </a:pPr>
            <a:r>
              <a:rPr lang="en-US" sz="1200" dirty="0">
                <a:solidFill>
                  <a:srgbClr val="8B95A5"/>
                </a:solidFill>
                <a:latin typeface="Poppins Medium" pitchFamily="34" charset="0"/>
                <a:ea typeface="Poppins Medium" pitchFamily="34" charset="-122"/>
                <a:cs typeface="Poppins Medium" pitchFamily="34" charset="-120"/>
              </a:rPr>
              <a:t>08</a:t>
            </a:r>
            <a:endParaRPr lang="en-US" sz="1200" dirty="0"/>
          </a:p>
        </p:txBody>
      </p:sp>
      <p:sp>
        <p:nvSpPr>
          <p:cNvPr id="14" name="Shape 10"/>
          <p:cNvSpPr/>
          <p:nvPr/>
        </p:nvSpPr>
        <p:spPr>
          <a:xfrm rot="5400000">
            <a:off x="749808" y="4425696"/>
            <a:ext cx="237744" cy="237744"/>
          </a:xfrm>
          <a:prstGeom prst="triangle">
            <a:avLst/>
          </a:prstGeom>
          <a:solidFill>
            <a:srgbClr val="323E50"/>
          </a:solidFill>
          <a:ln/>
        </p:spPr>
      </p:sp>
      <p:sp>
        <p:nvSpPr>
          <p:cNvPr id="15" name="Text 11"/>
          <p:cNvSpPr/>
          <p:nvPr/>
        </p:nvSpPr>
        <p:spPr>
          <a:xfrm>
            <a:off x="1188720" y="4306824"/>
            <a:ext cx="4206240" cy="457200"/>
          </a:xfrm>
          <a:prstGeom prst="rect">
            <a:avLst/>
          </a:prstGeom>
          <a:noFill/>
          <a:ln/>
        </p:spPr>
        <p:txBody>
          <a:bodyPr wrap="square" lIns="0" tIns="0" rIns="0" bIns="0" rtlCol="0" anchor="ctr"/>
          <a:lstStyle/>
          <a:p>
            <a:pPr indent="0" marL="0">
              <a:buNone/>
            </a:pPr>
            <a:r>
              <a:rPr lang="en-US" sz="1400" spc="100" kern="0" dirty="0">
                <a:solidFill>
                  <a:srgbClr val="8B95A5"/>
                </a:solidFill>
                <a:latin typeface="Poppins SemiBold" pitchFamily="34" charset="0"/>
                <a:ea typeface="Poppins SemiBold" pitchFamily="34" charset="-122"/>
                <a:cs typeface="Poppins SemiBold" pitchFamily="34" charset="-120"/>
              </a:rPr>
              <a:t>COMPANY OVERVIEW</a:t>
            </a:r>
            <a:endParaRPr lang="en-US" sz="1400" dirty="0"/>
          </a:p>
        </p:txBody>
      </p:sp>
      <p:sp>
        <p:nvSpPr>
          <p:cNvPr id="16" name="Text 12"/>
          <p:cNvSpPr/>
          <p:nvPr/>
        </p:nvSpPr>
        <p:spPr>
          <a:xfrm>
            <a:off x="5486400" y="4306824"/>
            <a:ext cx="731520" cy="457200"/>
          </a:xfrm>
          <a:prstGeom prst="rect">
            <a:avLst/>
          </a:prstGeom>
          <a:noFill/>
          <a:ln/>
        </p:spPr>
        <p:txBody>
          <a:bodyPr wrap="square" lIns="0" tIns="0" rIns="0" bIns="0" rtlCol="0" anchor="ctr"/>
          <a:lstStyle/>
          <a:p>
            <a:pPr indent="0" marL="0">
              <a:buNone/>
            </a:pPr>
            <a:r>
              <a:rPr lang="en-US" sz="1200" dirty="0">
                <a:solidFill>
                  <a:srgbClr val="8B95A5"/>
                </a:solidFill>
                <a:latin typeface="Poppins Medium" pitchFamily="34" charset="0"/>
                <a:ea typeface="Poppins Medium" pitchFamily="34" charset="-122"/>
                <a:cs typeface="Poppins Medium" pitchFamily="34" charset="-120"/>
              </a:rPr>
              <a:t>14</a:t>
            </a:r>
            <a:endParaRPr lang="en-US" sz="1200" dirty="0"/>
          </a:p>
        </p:txBody>
      </p:sp>
      <p:sp>
        <p:nvSpPr>
          <p:cNvPr id="17" name="Shape 13"/>
          <p:cNvSpPr/>
          <p:nvPr/>
        </p:nvSpPr>
        <p:spPr>
          <a:xfrm rot="5400000">
            <a:off x="749808" y="5138928"/>
            <a:ext cx="237744" cy="237744"/>
          </a:xfrm>
          <a:prstGeom prst="triangle">
            <a:avLst/>
          </a:prstGeom>
          <a:solidFill>
            <a:srgbClr val="F35B1A"/>
          </a:solidFill>
          <a:ln/>
        </p:spPr>
      </p:sp>
      <p:sp>
        <p:nvSpPr>
          <p:cNvPr id="18" name="Text 14"/>
          <p:cNvSpPr/>
          <p:nvPr/>
        </p:nvSpPr>
        <p:spPr>
          <a:xfrm>
            <a:off x="1188720" y="5020056"/>
            <a:ext cx="4206240" cy="457200"/>
          </a:xfrm>
          <a:prstGeom prst="rect">
            <a:avLst/>
          </a:prstGeom>
          <a:noFill/>
          <a:ln/>
        </p:spPr>
        <p:txBody>
          <a:bodyPr wrap="square" lIns="0" tIns="0" rIns="0" bIns="0" rtlCol="0" anchor="ctr"/>
          <a:lstStyle/>
          <a:p>
            <a:pPr indent="0" marL="0">
              <a:buNone/>
            </a:pPr>
            <a:r>
              <a:rPr lang="en-US" sz="1400" spc="100" kern="0" dirty="0">
                <a:solidFill>
                  <a:srgbClr val="F35B1A"/>
                </a:solidFill>
                <a:latin typeface="Poppins SemiBold" pitchFamily="34" charset="0"/>
                <a:ea typeface="Poppins SemiBold" pitchFamily="34" charset="-122"/>
                <a:cs typeface="Poppins SemiBold" pitchFamily="34" charset="-120"/>
              </a:rPr>
              <a:t>FINANCIAL HIGHLIGHTS</a:t>
            </a:r>
            <a:endParaRPr lang="en-US" sz="1400" dirty="0"/>
          </a:p>
        </p:txBody>
      </p:sp>
      <p:sp>
        <p:nvSpPr>
          <p:cNvPr id="19" name="Text 15"/>
          <p:cNvSpPr/>
          <p:nvPr/>
        </p:nvSpPr>
        <p:spPr>
          <a:xfrm>
            <a:off x="5486400" y="5020056"/>
            <a:ext cx="731520" cy="457200"/>
          </a:xfrm>
          <a:prstGeom prst="rect">
            <a:avLst/>
          </a:prstGeom>
          <a:noFill/>
          <a:ln/>
        </p:spPr>
        <p:txBody>
          <a:bodyPr wrap="square" lIns="0" tIns="0" rIns="0" bIns="0" rtlCol="0" anchor="ctr"/>
          <a:lstStyle/>
          <a:p>
            <a:pPr indent="0" marL="0">
              <a:buNone/>
            </a:pPr>
            <a:r>
              <a:rPr lang="en-US" sz="1200" dirty="0">
                <a:solidFill>
                  <a:srgbClr val="FFFFFF"/>
                </a:solidFill>
                <a:latin typeface="Poppins Medium" pitchFamily="34" charset="0"/>
                <a:ea typeface="Poppins Medium" pitchFamily="34" charset="-122"/>
                <a:cs typeface="Poppins Medium" pitchFamily="34" charset="-120"/>
              </a:rPr>
              <a:t>21</a:t>
            </a:r>
            <a:endParaRPr lang="en-US" sz="1200" dirty="0"/>
          </a:p>
        </p:txBody>
      </p:sp>
      <p:pic>
        <p:nvPicPr>
          <p:cNvPr id="20" name="Image 2" descr="assets/mobi_logo_black.png">    </p:cNvPr>
          <p:cNvPicPr>
            <a:picLocks noChangeAspect="1"/>
          </p:cNvPicPr>
          <p:nvPr/>
        </p:nvPicPr>
        <p:blipFill>
          <a:blip r:embed="rId3"/>
          <a:stretch>
            <a:fillRect/>
          </a:stretch>
        </p:blipFill>
        <p:spPr>
          <a:xfrm>
            <a:off x="10042855" y="5989320"/>
            <a:ext cx="1417320" cy="453985"/>
          </a:xfrm>
          <a:prstGeom prst="rect">
            <a:avLst/>
          </a:prstGeom>
        </p:spPr>
      </p:pic>
      <p:pic>
        <p:nvPicPr>
          <p:cNvPr id="21" name="Image 3" descr="assets/igc_white.png">    </p:cNvPr>
          <p:cNvPicPr>
            <a:picLocks noChangeAspect="1"/>
          </p:cNvPicPr>
          <p:nvPr/>
        </p:nvPicPr>
        <p:blipFill>
          <a:blip r:embed="rId4"/>
          <a:stretch>
            <a:fillRect/>
          </a:stretch>
        </p:blipFill>
        <p:spPr>
          <a:xfrm>
            <a:off x="11002975" y="365760"/>
            <a:ext cx="457200" cy="395224"/>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assets/mobi_logo_navy.png">    </p:cNvPr>
          <p:cNvPicPr>
            <a:picLocks noChangeAspect="1"/>
          </p:cNvPicPr>
          <p:nvPr/>
        </p:nvPicPr>
        <p:blipFill>
          <a:blip r:embed="rId1"/>
          <a:stretch>
            <a:fillRect/>
          </a:stretch>
        </p:blipFill>
        <p:spPr>
          <a:xfrm>
            <a:off x="10545775" y="329184"/>
            <a:ext cx="914400" cy="292894"/>
          </a:xfrm>
          <a:prstGeom prst="rect">
            <a:avLst/>
          </a:prstGeom>
        </p:spPr>
      </p:pic>
      <p:sp>
        <p:nvSpPr>
          <p:cNvPr id="3" name="Shape 0"/>
          <p:cNvSpPr/>
          <p:nvPr/>
        </p:nvSpPr>
        <p:spPr>
          <a:xfrm>
            <a:off x="731520" y="329184"/>
            <a:ext cx="1783080" cy="329184"/>
          </a:xfrm>
          <a:prstGeom prst="roundRect">
            <a:avLst>
              <a:gd name="adj" fmla="val 25000"/>
            </a:avLst>
          </a:prstGeom>
          <a:solidFill>
            <a:srgbClr val="FDE9DE"/>
          </a:solidFill>
          <a:ln/>
        </p:spPr>
      </p:sp>
      <p:sp>
        <p:nvSpPr>
          <p:cNvPr id="4" name="Text 1"/>
          <p:cNvSpPr/>
          <p:nvPr/>
        </p:nvSpPr>
        <p:spPr>
          <a:xfrm>
            <a:off x="731520" y="329184"/>
            <a:ext cx="1783080" cy="329184"/>
          </a:xfrm>
          <a:prstGeom prst="rect">
            <a:avLst/>
          </a:prstGeom>
          <a:noFill/>
          <a:ln/>
        </p:spPr>
        <p:txBody>
          <a:bodyPr wrap="square" lIns="0" tIns="0" rIns="0" bIns="0" rtlCol="0" anchor="ctr"/>
          <a:lstStyle/>
          <a:p>
            <a:pPr algn="ctr" indent="0" marL="0">
              <a:buNone/>
            </a:pPr>
            <a:r>
              <a:rPr lang="en-US" sz="900" dirty="0">
                <a:solidFill>
                  <a:srgbClr val="C6470F"/>
                </a:solidFill>
                <a:latin typeface="Poppins Medium" pitchFamily="34" charset="0"/>
                <a:ea typeface="Poppins Medium" pitchFamily="34" charset="-122"/>
                <a:cs typeface="Poppins Medium" pitchFamily="34" charset="-120"/>
              </a:rPr>
              <a:t>Financial Highlights</a:t>
            </a:r>
            <a:endParaRPr lang="en-US" sz="900" dirty="0"/>
          </a:p>
        </p:txBody>
      </p:sp>
      <p:sp>
        <p:nvSpPr>
          <p:cNvPr id="5" name="Text 2"/>
          <p:cNvSpPr/>
          <p:nvPr/>
        </p:nvSpPr>
        <p:spPr>
          <a:xfrm>
            <a:off x="731520" y="731520"/>
            <a:ext cx="10088575" cy="548640"/>
          </a:xfrm>
          <a:prstGeom prst="rect">
            <a:avLst/>
          </a:prstGeom>
          <a:noFill/>
          <a:ln/>
        </p:spPr>
        <p:txBody>
          <a:bodyPr wrap="square" lIns="0" tIns="0" rIns="0" bIns="0" rtlCol="0" anchor="ctr"/>
          <a:lstStyle/>
          <a:p>
            <a:pPr algn="l" indent="0" marL="0">
              <a:buNone/>
            </a:pPr>
            <a:r>
              <a:rPr lang="en-US" sz="1800" dirty="0">
                <a:solidFill>
                  <a:srgbClr val="141A24"/>
                </a:solidFill>
                <a:latin typeface="Poppins SemiBold" pitchFamily="34" charset="0"/>
                <a:ea typeface="Poppins SemiBold" pitchFamily="34" charset="-122"/>
                <a:cs typeface="Poppins SemiBold" pitchFamily="34" charset="-120"/>
              </a:rPr>
              <a:t>Financial highlights</a:t>
            </a:r>
            <a:endParaRPr lang="en-US" sz="1800" dirty="0"/>
          </a:p>
        </p:txBody>
      </p:sp>
      <p:sp>
        <p:nvSpPr>
          <p:cNvPr id="6" name="Text 3"/>
          <p:cNvSpPr/>
          <p:nvPr/>
        </p:nvSpPr>
        <p:spPr>
          <a:xfrm>
            <a:off x="731520" y="1298448"/>
            <a:ext cx="10088575" cy="438912"/>
          </a:xfrm>
          <a:prstGeom prst="rect">
            <a:avLst/>
          </a:prstGeom>
          <a:noFill/>
          <a:ln/>
        </p:spPr>
        <p:txBody>
          <a:bodyPr wrap="square" lIns="0" tIns="0" rIns="0" bIns="0" rtlCol="0" anchor="t"/>
          <a:lstStyle/>
          <a:p>
            <a:pPr algn="l" indent="0" marL="0">
              <a:lnSpc>
                <a:spcPct val="102000"/>
              </a:lnSpc>
              <a:buNone/>
            </a:pPr>
            <a:r>
              <a:rPr lang="en-US" sz="1050" dirty="0">
                <a:solidFill>
                  <a:srgbClr val="6C7683"/>
                </a:solidFill>
                <a:latin typeface="Poppins" pitchFamily="34" charset="0"/>
                <a:ea typeface="Poppins" pitchFamily="34" charset="-122"/>
                <a:cs typeface="Poppins" pitchFamily="34" charset="-120"/>
              </a:rPr>
              <a:t>Solid profitability in 2025; full historical series and projections pending Company data</a:t>
            </a:r>
            <a:endParaRPr lang="en-US" sz="1050" dirty="0"/>
          </a:p>
        </p:txBody>
      </p:sp>
      <p:sp>
        <p:nvSpPr>
          <p:cNvPr id="7" name="Text 4"/>
          <p:cNvSpPr/>
          <p:nvPr/>
        </p:nvSpPr>
        <p:spPr>
          <a:xfrm>
            <a:off x="731520" y="6309360"/>
            <a:ext cx="10362895" cy="219456"/>
          </a:xfrm>
          <a:prstGeom prst="rect">
            <a:avLst/>
          </a:prstGeom>
          <a:noFill/>
          <a:ln/>
        </p:spPr>
        <p:txBody>
          <a:bodyPr wrap="square" lIns="0" tIns="0" rIns="0" bIns="0" rtlCol="0" anchor="ctr"/>
          <a:lstStyle/>
          <a:p>
            <a:pPr algn="l" indent="0" marL="0">
              <a:buNone/>
            </a:pPr>
            <a:r>
              <a:rPr lang="en-US" sz="700" dirty="0">
                <a:solidFill>
                  <a:srgbClr val="9AA3AD"/>
                </a:solidFill>
                <a:latin typeface="Poppins" pitchFamily="34" charset="0"/>
                <a:ea typeface="Poppins" pitchFamily="34" charset="-122"/>
                <a:cs typeface="Poppins" pitchFamily="34" charset="-120"/>
              </a:rPr>
              <a:t>Source: Company management information. 2025 figures are preliminary; historical series and projections to be confirmed with management.</a:t>
            </a:r>
            <a:endParaRPr lang="en-US" sz="700" dirty="0"/>
          </a:p>
        </p:txBody>
      </p:sp>
      <p:pic>
        <p:nvPicPr>
          <p:cNvPr id="8" name="Image 1" descr="assets/igc_navy.png">    </p:cNvPr>
          <p:cNvPicPr>
            <a:picLocks noChangeAspect="1"/>
          </p:cNvPicPr>
          <p:nvPr/>
        </p:nvPicPr>
        <p:blipFill>
          <a:blip r:embed="rId2"/>
          <a:stretch>
            <a:fillRect/>
          </a:stretch>
        </p:blipFill>
        <p:spPr>
          <a:xfrm>
            <a:off x="731520" y="6492240"/>
            <a:ext cx="292608" cy="252943"/>
          </a:xfrm>
          <a:prstGeom prst="rect">
            <a:avLst/>
          </a:prstGeom>
        </p:spPr>
      </p:pic>
      <p:sp>
        <p:nvSpPr>
          <p:cNvPr id="9" name="Text 5"/>
          <p:cNvSpPr/>
          <p:nvPr/>
        </p:nvSpPr>
        <p:spPr>
          <a:xfrm>
            <a:off x="1115568" y="6510528"/>
            <a:ext cx="2743200" cy="274320"/>
          </a:xfrm>
          <a:prstGeom prst="rect">
            <a:avLst/>
          </a:prstGeom>
          <a:noFill/>
          <a:ln/>
        </p:spPr>
        <p:txBody>
          <a:bodyPr wrap="square" lIns="0" tIns="0" rIns="0" bIns="0" rtlCol="0" anchor="ctr"/>
          <a:lstStyle/>
          <a:p>
            <a:pPr algn="l" indent="0" marL="0">
              <a:buNone/>
            </a:pPr>
            <a:r>
              <a:rPr lang="en-US" sz="900" dirty="0">
                <a:solidFill>
                  <a:srgbClr val="2B333E"/>
                </a:solidFill>
                <a:latin typeface="Poppins Medium" pitchFamily="34" charset="0"/>
                <a:ea typeface="Poppins Medium" pitchFamily="34" charset="-122"/>
                <a:cs typeface="Poppins Medium" pitchFamily="34" charset="-120"/>
              </a:rPr>
              <a:t>21</a:t>
            </a:r>
            <a:pPr algn="l" indent="0" marL="0">
              <a:buNone/>
            </a:pPr>
            <a:r>
              <a:rPr lang="en-US" sz="900" dirty="0">
                <a:solidFill>
                  <a:srgbClr val="9AA3AD"/>
                </a:solidFill>
                <a:latin typeface="Poppins" pitchFamily="34" charset="0"/>
                <a:ea typeface="Poppins" pitchFamily="34" charset="-122"/>
                <a:cs typeface="Poppins" pitchFamily="34" charset="-120"/>
              </a:rPr>
              <a:t>    Confidential</a:t>
            </a:r>
            <a:endParaRPr lang="en-US" sz="900" dirty="0"/>
          </a:p>
        </p:txBody>
      </p:sp>
      <p:sp>
        <p:nvSpPr>
          <p:cNvPr id="10" name="Shape 6"/>
          <p:cNvSpPr/>
          <p:nvPr/>
        </p:nvSpPr>
        <p:spPr>
          <a:xfrm>
            <a:off x="731520" y="1874520"/>
            <a:ext cx="2476424" cy="1051560"/>
          </a:xfrm>
          <a:prstGeom prst="roundRect">
            <a:avLst>
              <a:gd name="adj" fmla="val 7826"/>
            </a:avLst>
          </a:prstGeom>
          <a:solidFill>
            <a:srgbClr val="F4F6F8"/>
          </a:solidFill>
          <a:ln w="12700">
            <a:solidFill>
              <a:srgbClr val="E2E6EB"/>
            </a:solidFill>
            <a:prstDash val="solid"/>
          </a:ln>
        </p:spPr>
      </p:sp>
      <p:sp>
        <p:nvSpPr>
          <p:cNvPr id="11" name="Shape 7"/>
          <p:cNvSpPr/>
          <p:nvPr/>
        </p:nvSpPr>
        <p:spPr>
          <a:xfrm>
            <a:off x="731520" y="2057400"/>
            <a:ext cx="82296" cy="685800"/>
          </a:xfrm>
          <a:prstGeom prst="rect">
            <a:avLst/>
          </a:prstGeom>
          <a:solidFill>
            <a:srgbClr val="F35B1A"/>
          </a:solidFill>
          <a:ln/>
        </p:spPr>
      </p:sp>
      <p:sp>
        <p:nvSpPr>
          <p:cNvPr id="12" name="Text 8"/>
          <p:cNvSpPr/>
          <p:nvPr/>
        </p:nvSpPr>
        <p:spPr>
          <a:xfrm>
            <a:off x="969264" y="2002536"/>
            <a:ext cx="2074088" cy="457200"/>
          </a:xfrm>
          <a:prstGeom prst="rect">
            <a:avLst/>
          </a:prstGeom>
          <a:noFill/>
          <a:ln/>
        </p:spPr>
        <p:txBody>
          <a:bodyPr wrap="square" lIns="0" tIns="0" rIns="0" bIns="0" rtlCol="0" anchor="ctr"/>
          <a:lstStyle/>
          <a:p>
            <a:pPr indent="0" marL="0">
              <a:buNone/>
            </a:pPr>
            <a:r>
              <a:rPr lang="en-US" sz="2000" dirty="0">
                <a:solidFill>
                  <a:srgbClr val="141A24"/>
                </a:solidFill>
                <a:latin typeface="Poppins SemiBold" pitchFamily="34" charset="0"/>
                <a:ea typeface="Poppins SemiBold" pitchFamily="34" charset="-122"/>
                <a:cs typeface="Poppins SemiBold" pitchFamily="34" charset="-120"/>
              </a:rPr>
              <a:t>BRL 140 Mn</a:t>
            </a:r>
            <a:endParaRPr lang="en-US" sz="2000" dirty="0"/>
          </a:p>
        </p:txBody>
      </p:sp>
      <p:sp>
        <p:nvSpPr>
          <p:cNvPr id="13" name="Text 9"/>
          <p:cNvSpPr/>
          <p:nvPr/>
        </p:nvSpPr>
        <p:spPr>
          <a:xfrm>
            <a:off x="969264" y="2496312"/>
            <a:ext cx="2074088" cy="292608"/>
          </a:xfrm>
          <a:prstGeom prst="rect">
            <a:avLst/>
          </a:prstGeom>
          <a:noFill/>
          <a:ln/>
        </p:spPr>
        <p:txBody>
          <a:bodyPr wrap="square" lIns="0" tIns="0" rIns="0" bIns="0" rtlCol="0" anchor="t"/>
          <a:lstStyle/>
          <a:p>
            <a:pPr indent="0" marL="0">
              <a:buNone/>
            </a:pPr>
            <a:r>
              <a:rPr lang="en-US" sz="900" dirty="0">
                <a:solidFill>
                  <a:srgbClr val="6C7683"/>
                </a:solidFill>
                <a:latin typeface="Poppins" pitchFamily="34" charset="0"/>
                <a:ea typeface="Poppins" pitchFamily="34" charset="-122"/>
                <a:cs typeface="Poppins" pitchFamily="34" charset="-120"/>
              </a:rPr>
              <a:t>Net revenues 2025</a:t>
            </a:r>
            <a:endParaRPr lang="en-US" sz="900" dirty="0"/>
          </a:p>
        </p:txBody>
      </p:sp>
      <p:sp>
        <p:nvSpPr>
          <p:cNvPr id="14" name="Shape 10"/>
          <p:cNvSpPr/>
          <p:nvPr/>
        </p:nvSpPr>
        <p:spPr>
          <a:xfrm>
            <a:off x="3482264" y="1874520"/>
            <a:ext cx="2476424" cy="1051560"/>
          </a:xfrm>
          <a:prstGeom prst="roundRect">
            <a:avLst>
              <a:gd name="adj" fmla="val 7826"/>
            </a:avLst>
          </a:prstGeom>
          <a:solidFill>
            <a:srgbClr val="F4F6F8"/>
          </a:solidFill>
          <a:ln w="12700">
            <a:solidFill>
              <a:srgbClr val="E2E6EB"/>
            </a:solidFill>
            <a:prstDash val="solid"/>
          </a:ln>
        </p:spPr>
      </p:sp>
      <p:sp>
        <p:nvSpPr>
          <p:cNvPr id="15" name="Shape 11"/>
          <p:cNvSpPr/>
          <p:nvPr/>
        </p:nvSpPr>
        <p:spPr>
          <a:xfrm>
            <a:off x="3482264" y="2057400"/>
            <a:ext cx="82296" cy="685800"/>
          </a:xfrm>
          <a:prstGeom prst="rect">
            <a:avLst/>
          </a:prstGeom>
          <a:solidFill>
            <a:srgbClr val="F35B1A"/>
          </a:solidFill>
          <a:ln/>
        </p:spPr>
      </p:sp>
      <p:sp>
        <p:nvSpPr>
          <p:cNvPr id="16" name="Text 12"/>
          <p:cNvSpPr/>
          <p:nvPr/>
        </p:nvSpPr>
        <p:spPr>
          <a:xfrm>
            <a:off x="3720008" y="2002536"/>
            <a:ext cx="2074088" cy="457200"/>
          </a:xfrm>
          <a:prstGeom prst="rect">
            <a:avLst/>
          </a:prstGeom>
          <a:noFill/>
          <a:ln/>
        </p:spPr>
        <p:txBody>
          <a:bodyPr wrap="square" lIns="0" tIns="0" rIns="0" bIns="0" rtlCol="0" anchor="ctr"/>
          <a:lstStyle/>
          <a:p>
            <a:pPr indent="0" marL="0">
              <a:buNone/>
            </a:pPr>
            <a:r>
              <a:rPr lang="en-US" sz="2000" dirty="0">
                <a:solidFill>
                  <a:srgbClr val="141A24"/>
                </a:solidFill>
                <a:latin typeface="Poppins SemiBold" pitchFamily="34" charset="0"/>
                <a:ea typeface="Poppins SemiBold" pitchFamily="34" charset="-122"/>
                <a:cs typeface="Poppins SemiBold" pitchFamily="34" charset="-120"/>
              </a:rPr>
              <a:t>BRL 36 Mn</a:t>
            </a:r>
            <a:endParaRPr lang="en-US" sz="2000" dirty="0"/>
          </a:p>
        </p:txBody>
      </p:sp>
      <p:sp>
        <p:nvSpPr>
          <p:cNvPr id="17" name="Text 13"/>
          <p:cNvSpPr/>
          <p:nvPr/>
        </p:nvSpPr>
        <p:spPr>
          <a:xfrm>
            <a:off x="3720008" y="2496312"/>
            <a:ext cx="2074088" cy="292608"/>
          </a:xfrm>
          <a:prstGeom prst="rect">
            <a:avLst/>
          </a:prstGeom>
          <a:noFill/>
          <a:ln/>
        </p:spPr>
        <p:txBody>
          <a:bodyPr wrap="square" lIns="0" tIns="0" rIns="0" bIns="0" rtlCol="0" anchor="t"/>
          <a:lstStyle/>
          <a:p>
            <a:pPr indent="0" marL="0">
              <a:buNone/>
            </a:pPr>
            <a:r>
              <a:rPr lang="en-US" sz="900" dirty="0">
                <a:solidFill>
                  <a:srgbClr val="6C7683"/>
                </a:solidFill>
                <a:latin typeface="Poppins" pitchFamily="34" charset="0"/>
                <a:ea typeface="Poppins" pitchFamily="34" charset="-122"/>
                <a:cs typeface="Poppins" pitchFamily="34" charset="-120"/>
              </a:rPr>
              <a:t>EBITDA 2025</a:t>
            </a:r>
            <a:endParaRPr lang="en-US" sz="900" dirty="0"/>
          </a:p>
        </p:txBody>
      </p:sp>
      <p:sp>
        <p:nvSpPr>
          <p:cNvPr id="18" name="Shape 14"/>
          <p:cNvSpPr/>
          <p:nvPr/>
        </p:nvSpPr>
        <p:spPr>
          <a:xfrm>
            <a:off x="6233008" y="1874520"/>
            <a:ext cx="2476424" cy="1051560"/>
          </a:xfrm>
          <a:prstGeom prst="roundRect">
            <a:avLst>
              <a:gd name="adj" fmla="val 7826"/>
            </a:avLst>
          </a:prstGeom>
          <a:solidFill>
            <a:srgbClr val="F4F6F8"/>
          </a:solidFill>
          <a:ln w="12700">
            <a:solidFill>
              <a:srgbClr val="E2E6EB"/>
            </a:solidFill>
            <a:prstDash val="solid"/>
          </a:ln>
        </p:spPr>
      </p:sp>
      <p:sp>
        <p:nvSpPr>
          <p:cNvPr id="19" name="Shape 15"/>
          <p:cNvSpPr/>
          <p:nvPr/>
        </p:nvSpPr>
        <p:spPr>
          <a:xfrm>
            <a:off x="6233008" y="2057400"/>
            <a:ext cx="82296" cy="685800"/>
          </a:xfrm>
          <a:prstGeom prst="rect">
            <a:avLst/>
          </a:prstGeom>
          <a:solidFill>
            <a:srgbClr val="F35B1A"/>
          </a:solidFill>
          <a:ln/>
        </p:spPr>
      </p:sp>
      <p:sp>
        <p:nvSpPr>
          <p:cNvPr id="20" name="Text 16"/>
          <p:cNvSpPr/>
          <p:nvPr/>
        </p:nvSpPr>
        <p:spPr>
          <a:xfrm>
            <a:off x="6470752" y="2002536"/>
            <a:ext cx="2074088" cy="457200"/>
          </a:xfrm>
          <a:prstGeom prst="rect">
            <a:avLst/>
          </a:prstGeom>
          <a:noFill/>
          <a:ln/>
        </p:spPr>
        <p:txBody>
          <a:bodyPr wrap="square" lIns="0" tIns="0" rIns="0" bIns="0" rtlCol="0" anchor="ctr"/>
          <a:lstStyle/>
          <a:p>
            <a:pPr indent="0" marL="0">
              <a:buNone/>
            </a:pPr>
            <a:r>
              <a:rPr lang="en-US" sz="2000" dirty="0">
                <a:solidFill>
                  <a:srgbClr val="141A24"/>
                </a:solidFill>
                <a:latin typeface="Poppins SemiBold" pitchFamily="34" charset="0"/>
                <a:ea typeface="Poppins SemiBold" pitchFamily="34" charset="-122"/>
                <a:cs typeface="Poppins SemiBold" pitchFamily="34" charset="-120"/>
              </a:rPr>
              <a:t>~26%</a:t>
            </a:r>
            <a:endParaRPr lang="en-US" sz="2000" dirty="0"/>
          </a:p>
        </p:txBody>
      </p:sp>
      <p:sp>
        <p:nvSpPr>
          <p:cNvPr id="21" name="Text 17"/>
          <p:cNvSpPr/>
          <p:nvPr/>
        </p:nvSpPr>
        <p:spPr>
          <a:xfrm>
            <a:off x="6470752" y="2496312"/>
            <a:ext cx="2074088" cy="292608"/>
          </a:xfrm>
          <a:prstGeom prst="rect">
            <a:avLst/>
          </a:prstGeom>
          <a:noFill/>
          <a:ln/>
        </p:spPr>
        <p:txBody>
          <a:bodyPr wrap="square" lIns="0" tIns="0" rIns="0" bIns="0" rtlCol="0" anchor="t"/>
          <a:lstStyle/>
          <a:p>
            <a:pPr indent="0" marL="0">
              <a:buNone/>
            </a:pPr>
            <a:r>
              <a:rPr lang="en-US" sz="900" dirty="0">
                <a:solidFill>
                  <a:srgbClr val="6C7683"/>
                </a:solidFill>
                <a:latin typeface="Poppins" pitchFamily="34" charset="0"/>
                <a:ea typeface="Poppins" pitchFamily="34" charset="-122"/>
                <a:cs typeface="Poppins" pitchFamily="34" charset="-120"/>
              </a:rPr>
              <a:t>EBITDA margin 2025</a:t>
            </a:r>
            <a:endParaRPr lang="en-US" sz="900" dirty="0"/>
          </a:p>
        </p:txBody>
      </p:sp>
      <p:sp>
        <p:nvSpPr>
          <p:cNvPr id="22" name="Shape 18"/>
          <p:cNvSpPr/>
          <p:nvPr/>
        </p:nvSpPr>
        <p:spPr>
          <a:xfrm>
            <a:off x="8983751" y="1874520"/>
            <a:ext cx="2476424" cy="1051560"/>
          </a:xfrm>
          <a:prstGeom prst="roundRect">
            <a:avLst>
              <a:gd name="adj" fmla="val 7826"/>
            </a:avLst>
          </a:prstGeom>
          <a:solidFill>
            <a:srgbClr val="F4F6F8"/>
          </a:solidFill>
          <a:ln w="12700">
            <a:solidFill>
              <a:srgbClr val="E2E6EB"/>
            </a:solidFill>
            <a:prstDash val="solid"/>
          </a:ln>
        </p:spPr>
      </p:sp>
      <p:sp>
        <p:nvSpPr>
          <p:cNvPr id="23" name="Shape 19"/>
          <p:cNvSpPr/>
          <p:nvPr/>
        </p:nvSpPr>
        <p:spPr>
          <a:xfrm>
            <a:off x="8983751" y="2057400"/>
            <a:ext cx="82296" cy="685800"/>
          </a:xfrm>
          <a:prstGeom prst="rect">
            <a:avLst/>
          </a:prstGeom>
          <a:solidFill>
            <a:srgbClr val="F35B1A"/>
          </a:solidFill>
          <a:ln/>
        </p:spPr>
      </p:sp>
      <p:sp>
        <p:nvSpPr>
          <p:cNvPr id="24" name="Text 20"/>
          <p:cNvSpPr/>
          <p:nvPr/>
        </p:nvSpPr>
        <p:spPr>
          <a:xfrm>
            <a:off x="9221495" y="2002536"/>
            <a:ext cx="2074088" cy="457200"/>
          </a:xfrm>
          <a:prstGeom prst="rect">
            <a:avLst/>
          </a:prstGeom>
          <a:noFill/>
          <a:ln/>
        </p:spPr>
        <p:txBody>
          <a:bodyPr wrap="square" lIns="0" tIns="0" rIns="0" bIns="0" rtlCol="0" anchor="ctr"/>
          <a:lstStyle/>
          <a:p>
            <a:pPr indent="0" marL="0">
              <a:buNone/>
            </a:pPr>
            <a:r>
              <a:rPr lang="en-US" sz="2000" dirty="0">
                <a:solidFill>
                  <a:srgbClr val="141A24"/>
                </a:solidFill>
                <a:latin typeface="Poppins SemiBold" pitchFamily="34" charset="0"/>
                <a:ea typeface="Poppins SemiBold" pitchFamily="34" charset="-122"/>
                <a:cs typeface="Poppins SemiBold" pitchFamily="34" charset="-120"/>
              </a:rPr>
              <a:t>+41.3%</a:t>
            </a:r>
            <a:endParaRPr lang="en-US" sz="2000" dirty="0"/>
          </a:p>
        </p:txBody>
      </p:sp>
      <p:sp>
        <p:nvSpPr>
          <p:cNvPr id="25" name="Text 21"/>
          <p:cNvSpPr/>
          <p:nvPr/>
        </p:nvSpPr>
        <p:spPr>
          <a:xfrm>
            <a:off x="9221495" y="2496312"/>
            <a:ext cx="2074088" cy="292608"/>
          </a:xfrm>
          <a:prstGeom prst="rect">
            <a:avLst/>
          </a:prstGeom>
          <a:noFill/>
          <a:ln/>
        </p:spPr>
        <p:txBody>
          <a:bodyPr wrap="square" lIns="0" tIns="0" rIns="0" bIns="0" rtlCol="0" anchor="t"/>
          <a:lstStyle/>
          <a:p>
            <a:pPr indent="0" marL="0">
              <a:buNone/>
            </a:pPr>
            <a:r>
              <a:rPr lang="en-US" sz="900" dirty="0">
                <a:solidFill>
                  <a:srgbClr val="6C7683"/>
                </a:solidFill>
                <a:latin typeface="Poppins" pitchFamily="34" charset="0"/>
                <a:ea typeface="Poppins" pitchFamily="34" charset="-122"/>
                <a:cs typeface="Poppins" pitchFamily="34" charset="-120"/>
              </a:rPr>
              <a:t>1Q gross revenue YoY</a:t>
            </a:r>
            <a:endParaRPr lang="en-US" sz="900" dirty="0"/>
          </a:p>
        </p:txBody>
      </p:sp>
      <p:sp>
        <p:nvSpPr>
          <p:cNvPr id="26" name="Shape 22"/>
          <p:cNvSpPr/>
          <p:nvPr/>
        </p:nvSpPr>
        <p:spPr>
          <a:xfrm>
            <a:off x="731520" y="3200400"/>
            <a:ext cx="10728655" cy="2651760"/>
          </a:xfrm>
          <a:prstGeom prst="roundRect">
            <a:avLst>
              <a:gd name="adj" fmla="val 3448"/>
            </a:avLst>
          </a:prstGeom>
          <a:solidFill>
            <a:srgbClr val="FFFFFF"/>
          </a:solidFill>
          <a:ln w="12700">
            <a:solidFill>
              <a:srgbClr val="E2E6EB"/>
            </a:solidFill>
            <a:prstDash val="solid"/>
          </a:ln>
          <a:effectLst>
            <a:outerShdw sx="100000" sy="100000" kx="0" ky="0" algn="bl" rotWithShape="0" blurRad="101600" dist="25400" dir="5400000">
              <a:srgbClr val="9AA3AD">
                <a:alpha val="30000"/>
              </a:srgbClr>
            </a:outerShdw>
          </a:effectLst>
        </p:spPr>
      </p:sp>
      <p:sp>
        <p:nvSpPr>
          <p:cNvPr id="27" name="Text 23"/>
          <p:cNvSpPr/>
          <p:nvPr/>
        </p:nvSpPr>
        <p:spPr>
          <a:xfrm>
            <a:off x="1005840" y="3346704"/>
            <a:ext cx="7315200" cy="274320"/>
          </a:xfrm>
          <a:prstGeom prst="rect">
            <a:avLst/>
          </a:prstGeom>
          <a:noFill/>
          <a:ln/>
        </p:spPr>
        <p:txBody>
          <a:bodyPr wrap="square" lIns="0" tIns="0" rIns="0" bIns="0" rtlCol="0" anchor="ctr"/>
          <a:lstStyle/>
          <a:p>
            <a:pPr indent="0" marL="0">
              <a:buNone/>
            </a:pPr>
            <a:r>
              <a:rPr lang="en-US" sz="1200" dirty="0">
                <a:solidFill>
                  <a:srgbClr val="141A24"/>
                </a:solidFill>
                <a:latin typeface="Poppins SemiBold" pitchFamily="34" charset="0"/>
                <a:ea typeface="Poppins SemiBold" pitchFamily="34" charset="-122"/>
                <a:cs typeface="Poppins SemiBold" pitchFamily="34" charset="-120"/>
              </a:rPr>
              <a:t>Net revenues &amp; EBITDA evolution — BRL Mn</a:t>
            </a:r>
            <a:endParaRPr lang="en-US" sz="1200" dirty="0"/>
          </a:p>
        </p:txBody>
      </p:sp>
      <p:sp>
        <p:nvSpPr>
          <p:cNvPr id="28" name="Shape 24"/>
          <p:cNvSpPr/>
          <p:nvPr/>
        </p:nvSpPr>
        <p:spPr>
          <a:xfrm>
            <a:off x="8625535" y="3401568"/>
            <a:ext cx="164592" cy="164592"/>
          </a:xfrm>
          <a:prstGeom prst="rect">
            <a:avLst/>
          </a:prstGeom>
          <a:solidFill>
            <a:srgbClr val="2C3A4F"/>
          </a:solidFill>
          <a:ln/>
        </p:spPr>
      </p:sp>
      <p:sp>
        <p:nvSpPr>
          <p:cNvPr id="29" name="Text 25"/>
          <p:cNvSpPr/>
          <p:nvPr/>
        </p:nvSpPr>
        <p:spPr>
          <a:xfrm>
            <a:off x="8826703" y="3346704"/>
            <a:ext cx="1097280" cy="256032"/>
          </a:xfrm>
          <a:prstGeom prst="rect">
            <a:avLst/>
          </a:prstGeom>
          <a:noFill/>
          <a:ln/>
        </p:spPr>
        <p:txBody>
          <a:bodyPr wrap="square" lIns="0" tIns="0" rIns="0" bIns="0" rtlCol="0" anchor="ctr"/>
          <a:lstStyle/>
          <a:p>
            <a:pPr indent="0" marL="0">
              <a:buNone/>
            </a:pPr>
            <a:r>
              <a:rPr lang="en-US" sz="900" dirty="0">
                <a:solidFill>
                  <a:srgbClr val="6C7683"/>
                </a:solidFill>
                <a:latin typeface="Poppins" pitchFamily="34" charset="0"/>
                <a:ea typeface="Poppins" pitchFamily="34" charset="-122"/>
                <a:cs typeface="Poppins" pitchFamily="34" charset="-120"/>
              </a:rPr>
              <a:t>Net revenues</a:t>
            </a:r>
            <a:endParaRPr lang="en-US" sz="900" dirty="0"/>
          </a:p>
        </p:txBody>
      </p:sp>
      <p:sp>
        <p:nvSpPr>
          <p:cNvPr id="30" name="Shape 26"/>
          <p:cNvSpPr/>
          <p:nvPr/>
        </p:nvSpPr>
        <p:spPr>
          <a:xfrm>
            <a:off x="9997135" y="3401568"/>
            <a:ext cx="164592" cy="164592"/>
          </a:xfrm>
          <a:prstGeom prst="rect">
            <a:avLst/>
          </a:prstGeom>
          <a:solidFill>
            <a:srgbClr val="F35B1A"/>
          </a:solidFill>
          <a:ln/>
        </p:spPr>
      </p:sp>
      <p:sp>
        <p:nvSpPr>
          <p:cNvPr id="31" name="Text 27"/>
          <p:cNvSpPr/>
          <p:nvPr/>
        </p:nvSpPr>
        <p:spPr>
          <a:xfrm>
            <a:off x="10198303" y="3346704"/>
            <a:ext cx="1005840" cy="256032"/>
          </a:xfrm>
          <a:prstGeom prst="rect">
            <a:avLst/>
          </a:prstGeom>
          <a:noFill/>
          <a:ln/>
        </p:spPr>
        <p:txBody>
          <a:bodyPr wrap="square" lIns="0" tIns="0" rIns="0" bIns="0" rtlCol="0" anchor="ctr"/>
          <a:lstStyle/>
          <a:p>
            <a:pPr indent="0" marL="0">
              <a:buNone/>
            </a:pPr>
            <a:r>
              <a:rPr lang="en-US" sz="900" dirty="0">
                <a:solidFill>
                  <a:srgbClr val="6C7683"/>
                </a:solidFill>
                <a:latin typeface="Poppins" pitchFamily="34" charset="0"/>
                <a:ea typeface="Poppins" pitchFamily="34" charset="-122"/>
                <a:cs typeface="Poppins" pitchFamily="34" charset="-120"/>
              </a:rPr>
              <a:t>EBITDA</a:t>
            </a:r>
            <a:endParaRPr lang="en-US" sz="900" dirty="0"/>
          </a:p>
        </p:txBody>
      </p:sp>
      <p:graphicFrame>
        <p:nvGraphicFramePr>
          <p:cNvPr id="32" name="Chart 0" descr=""/>
          <p:cNvGraphicFramePr/>
          <p:nvPr/>
        </p:nvGraphicFramePr>
        <p:xfrm>
          <a:off x="914400" y="3749040"/>
          <a:ext cx="10271455" cy="1965960"/>
        </p:xfrm>
        <a:graphic xmlns:a="http://schemas.openxmlformats.org/drawingml/2006/main">
          <a:graphicData uri="http://schemas.openxmlformats.org/drawingml/2006/chart">
            <c:chart xmlns:c="http://schemas.openxmlformats.org/drawingml/2006/chart" r:id="rId3"/>
          </a:graphicData>
        </a:graphic>
      </p:graphicFrame>
      <p:sp>
        <p:nvSpPr>
          <p:cNvPr id="33" name="Text 28"/>
          <p:cNvSpPr/>
          <p:nvPr/>
        </p:nvSpPr>
        <p:spPr>
          <a:xfrm>
            <a:off x="1234440" y="4343400"/>
            <a:ext cx="3291840" cy="640080"/>
          </a:xfrm>
          <a:prstGeom prst="rect">
            <a:avLst/>
          </a:prstGeom>
          <a:noFill/>
          <a:ln/>
        </p:spPr>
        <p:txBody>
          <a:bodyPr wrap="square" lIns="0" tIns="0" rIns="0" bIns="0" rtlCol="0" anchor="t"/>
          <a:lstStyle/>
          <a:p>
            <a:pPr algn="l" indent="0" marL="0">
              <a:lnSpc>
                <a:spcPct val="105000"/>
              </a:lnSpc>
              <a:buNone/>
            </a:pPr>
            <a:r>
              <a:rPr lang="en-US" sz="1000" i="1" dirty="0">
                <a:solidFill>
                  <a:srgbClr val="9AA3AD"/>
                </a:solidFill>
                <a:latin typeface="Poppins" pitchFamily="34" charset="0"/>
                <a:ea typeface="Poppins" pitchFamily="34" charset="-122"/>
                <a:cs typeface="Poppins" pitchFamily="34" charset="-120"/>
              </a:rPr>
              <a:t>2022–2024 and 2026E</a:t>
            </a:r>
            <a:endParaRPr lang="en-US" sz="1000" dirty="0"/>
          </a:p>
          <a:p>
            <a:pPr algn="l" indent="0" marL="0">
              <a:lnSpc>
                <a:spcPct val="105000"/>
              </a:lnSpc>
              <a:buNone/>
            </a:pPr>
            <a:r>
              <a:rPr lang="en-US" sz="1000" i="1" dirty="0">
                <a:solidFill>
                  <a:srgbClr val="9AA3AD"/>
                </a:solidFill>
                <a:latin typeface="Poppins" pitchFamily="34" charset="0"/>
                <a:ea typeface="Poppins" pitchFamily="34" charset="-122"/>
                <a:cs typeface="Poppins" pitchFamily="34" charset="-120"/>
              </a:rPr>
              <a:t>figures pending Company data</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Image 0" descr="assets/mobi_logo_navy.png">    </p:cNvPr>
          <p:cNvPicPr>
            <a:picLocks noChangeAspect="1"/>
          </p:cNvPicPr>
          <p:nvPr/>
        </p:nvPicPr>
        <p:blipFill>
          <a:blip r:embed="rId1"/>
          <a:stretch>
            <a:fillRect/>
          </a:stretch>
        </p:blipFill>
        <p:spPr>
          <a:xfrm>
            <a:off x="10545775" y="329184"/>
            <a:ext cx="914400" cy="292894"/>
          </a:xfrm>
          <a:prstGeom prst="rect">
            <a:avLst/>
          </a:prstGeom>
        </p:spPr>
      </p:pic>
      <p:sp>
        <p:nvSpPr>
          <p:cNvPr id="3" name="Shape 0"/>
          <p:cNvSpPr/>
          <p:nvPr/>
        </p:nvSpPr>
        <p:spPr>
          <a:xfrm>
            <a:off x="731520" y="329184"/>
            <a:ext cx="1783080" cy="329184"/>
          </a:xfrm>
          <a:prstGeom prst="roundRect">
            <a:avLst>
              <a:gd name="adj" fmla="val 25000"/>
            </a:avLst>
          </a:prstGeom>
          <a:solidFill>
            <a:srgbClr val="FDE9DE"/>
          </a:solidFill>
          <a:ln/>
        </p:spPr>
      </p:sp>
      <p:sp>
        <p:nvSpPr>
          <p:cNvPr id="4" name="Text 1"/>
          <p:cNvSpPr/>
          <p:nvPr/>
        </p:nvSpPr>
        <p:spPr>
          <a:xfrm>
            <a:off x="731520" y="329184"/>
            <a:ext cx="1783080" cy="329184"/>
          </a:xfrm>
          <a:prstGeom prst="rect">
            <a:avLst/>
          </a:prstGeom>
          <a:noFill/>
          <a:ln/>
        </p:spPr>
        <p:txBody>
          <a:bodyPr wrap="square" lIns="0" tIns="0" rIns="0" bIns="0" rtlCol="0" anchor="ctr"/>
          <a:lstStyle/>
          <a:p>
            <a:pPr algn="ctr" indent="0" marL="0">
              <a:buNone/>
            </a:pPr>
            <a:r>
              <a:rPr lang="en-US" sz="900" dirty="0">
                <a:solidFill>
                  <a:srgbClr val="C6470F"/>
                </a:solidFill>
                <a:latin typeface="Poppins Medium" pitchFamily="34" charset="0"/>
                <a:ea typeface="Poppins Medium" pitchFamily="34" charset="-122"/>
                <a:cs typeface="Poppins Medium" pitchFamily="34" charset="-120"/>
              </a:rPr>
              <a:t>Financial Highlights</a:t>
            </a:r>
            <a:endParaRPr lang="en-US" sz="900" dirty="0"/>
          </a:p>
        </p:txBody>
      </p:sp>
      <p:sp>
        <p:nvSpPr>
          <p:cNvPr id="5" name="Text 2"/>
          <p:cNvSpPr/>
          <p:nvPr/>
        </p:nvSpPr>
        <p:spPr>
          <a:xfrm>
            <a:off x="731520" y="731520"/>
            <a:ext cx="10088575" cy="548640"/>
          </a:xfrm>
          <a:prstGeom prst="rect">
            <a:avLst/>
          </a:prstGeom>
          <a:noFill/>
          <a:ln/>
        </p:spPr>
        <p:txBody>
          <a:bodyPr wrap="square" lIns="0" tIns="0" rIns="0" bIns="0" rtlCol="0" anchor="ctr"/>
          <a:lstStyle/>
          <a:p>
            <a:pPr algn="l" indent="0" marL="0">
              <a:buNone/>
            </a:pPr>
            <a:r>
              <a:rPr lang="en-US" sz="1800" dirty="0">
                <a:solidFill>
                  <a:srgbClr val="141A24"/>
                </a:solidFill>
                <a:latin typeface="Poppins SemiBold" pitchFamily="34" charset="0"/>
                <a:ea typeface="Poppins SemiBold" pitchFamily="34" charset="-122"/>
                <a:cs typeface="Poppins SemiBold" pitchFamily="34" charset="-120"/>
              </a:rPr>
              <a:t>Consolidated income statement</a:t>
            </a:r>
            <a:endParaRPr lang="en-US" sz="1800" dirty="0"/>
          </a:p>
        </p:txBody>
      </p:sp>
      <p:sp>
        <p:nvSpPr>
          <p:cNvPr id="6" name="Text 3"/>
          <p:cNvSpPr/>
          <p:nvPr/>
        </p:nvSpPr>
        <p:spPr>
          <a:xfrm>
            <a:off x="731520" y="1298448"/>
            <a:ext cx="10088575" cy="438912"/>
          </a:xfrm>
          <a:prstGeom prst="rect">
            <a:avLst/>
          </a:prstGeom>
          <a:noFill/>
          <a:ln/>
        </p:spPr>
        <p:txBody>
          <a:bodyPr wrap="square" lIns="0" tIns="0" rIns="0" bIns="0" rtlCol="0" anchor="t"/>
          <a:lstStyle/>
          <a:p>
            <a:pPr algn="l" indent="0" marL="0">
              <a:lnSpc>
                <a:spcPct val="102000"/>
              </a:lnSpc>
              <a:buNone/>
            </a:pPr>
            <a:r>
              <a:rPr lang="en-US" sz="1050" dirty="0">
                <a:solidFill>
                  <a:srgbClr val="6C7683"/>
                </a:solidFill>
                <a:latin typeface="Poppins" pitchFamily="34" charset="0"/>
                <a:ea typeface="Poppins" pitchFamily="34" charset="-122"/>
                <a:cs typeface="Poppins" pitchFamily="34" charset="-120"/>
              </a:rPr>
              <a:t>Combined figures for AGM Caetano and AGM Alpha — full series to be confirmed with the Company</a:t>
            </a:r>
            <a:endParaRPr lang="en-US" sz="1050" dirty="0"/>
          </a:p>
        </p:txBody>
      </p:sp>
      <p:sp>
        <p:nvSpPr>
          <p:cNvPr id="7" name="Text 4"/>
          <p:cNvSpPr/>
          <p:nvPr/>
        </p:nvSpPr>
        <p:spPr>
          <a:xfrm>
            <a:off x="731520" y="6309360"/>
            <a:ext cx="10362895" cy="219456"/>
          </a:xfrm>
          <a:prstGeom prst="rect">
            <a:avLst/>
          </a:prstGeom>
          <a:noFill/>
          <a:ln/>
        </p:spPr>
        <p:txBody>
          <a:bodyPr wrap="square" lIns="0" tIns="0" rIns="0" bIns="0" rtlCol="0" anchor="ctr"/>
          <a:lstStyle/>
          <a:p>
            <a:pPr algn="l" indent="0" marL="0">
              <a:buNone/>
            </a:pPr>
            <a:r>
              <a:rPr lang="en-US" sz="700" dirty="0">
                <a:solidFill>
                  <a:srgbClr val="9AA3AD"/>
                </a:solidFill>
                <a:latin typeface="Poppins" pitchFamily="34" charset="0"/>
                <a:ea typeface="Poppins" pitchFamily="34" charset="-122"/>
                <a:cs typeface="Poppins" pitchFamily="34" charset="-120"/>
              </a:rPr>
              <a:t>Source: Company. Illustrative structure; all figures to be confirmed with management. Net revenues and EBITDA for 2025 are preliminary.</a:t>
            </a:r>
            <a:endParaRPr lang="en-US" sz="700" dirty="0"/>
          </a:p>
        </p:txBody>
      </p:sp>
      <p:pic>
        <p:nvPicPr>
          <p:cNvPr id="8" name="Image 1" descr="assets/igc_navy.png">    </p:cNvPr>
          <p:cNvPicPr>
            <a:picLocks noChangeAspect="1"/>
          </p:cNvPicPr>
          <p:nvPr/>
        </p:nvPicPr>
        <p:blipFill>
          <a:blip r:embed="rId2"/>
          <a:stretch>
            <a:fillRect/>
          </a:stretch>
        </p:blipFill>
        <p:spPr>
          <a:xfrm>
            <a:off x="731520" y="6492240"/>
            <a:ext cx="292608" cy="252943"/>
          </a:xfrm>
          <a:prstGeom prst="rect">
            <a:avLst/>
          </a:prstGeom>
        </p:spPr>
      </p:pic>
      <p:sp>
        <p:nvSpPr>
          <p:cNvPr id="9" name="Text 5"/>
          <p:cNvSpPr/>
          <p:nvPr/>
        </p:nvSpPr>
        <p:spPr>
          <a:xfrm>
            <a:off x="1115568" y="6510528"/>
            <a:ext cx="2743200" cy="274320"/>
          </a:xfrm>
          <a:prstGeom prst="rect">
            <a:avLst/>
          </a:prstGeom>
          <a:noFill/>
          <a:ln/>
        </p:spPr>
        <p:txBody>
          <a:bodyPr wrap="square" lIns="0" tIns="0" rIns="0" bIns="0" rtlCol="0" anchor="ctr"/>
          <a:lstStyle/>
          <a:p>
            <a:pPr algn="l" indent="0" marL="0">
              <a:buNone/>
            </a:pPr>
            <a:r>
              <a:rPr lang="en-US" sz="900" dirty="0">
                <a:solidFill>
                  <a:srgbClr val="2B333E"/>
                </a:solidFill>
                <a:latin typeface="Poppins Medium" pitchFamily="34" charset="0"/>
                <a:ea typeface="Poppins Medium" pitchFamily="34" charset="-122"/>
                <a:cs typeface="Poppins Medium" pitchFamily="34" charset="-120"/>
              </a:rPr>
              <a:t>22</a:t>
            </a:r>
            <a:pPr algn="l" indent="0" marL="0">
              <a:buNone/>
            </a:pPr>
            <a:r>
              <a:rPr lang="en-US" sz="900" dirty="0">
                <a:solidFill>
                  <a:srgbClr val="9AA3AD"/>
                </a:solidFill>
                <a:latin typeface="Poppins" pitchFamily="34" charset="0"/>
                <a:ea typeface="Poppins" pitchFamily="34" charset="-122"/>
                <a:cs typeface="Poppins" pitchFamily="34" charset="-120"/>
              </a:rPr>
              <a:t>    Confidential</a:t>
            </a:r>
            <a:endParaRPr lang="en-US" sz="900" dirty="0"/>
          </a:p>
        </p:txBody>
      </p:sp>
      <p:sp>
        <p:nvSpPr>
          <p:cNvPr id="10" name="Shape 6"/>
          <p:cNvSpPr/>
          <p:nvPr/>
        </p:nvSpPr>
        <p:spPr>
          <a:xfrm>
            <a:off x="731520" y="1874520"/>
            <a:ext cx="10728655" cy="347472"/>
          </a:xfrm>
          <a:prstGeom prst="rect">
            <a:avLst/>
          </a:prstGeom>
          <a:solidFill>
            <a:srgbClr val="141A24"/>
          </a:solidFill>
          <a:ln/>
        </p:spPr>
      </p:sp>
      <p:sp>
        <p:nvSpPr>
          <p:cNvPr id="11" name="Text 7"/>
          <p:cNvSpPr/>
          <p:nvPr/>
        </p:nvSpPr>
        <p:spPr>
          <a:xfrm>
            <a:off x="914400" y="1874520"/>
            <a:ext cx="3108960" cy="347472"/>
          </a:xfrm>
          <a:prstGeom prst="rect">
            <a:avLst/>
          </a:prstGeom>
          <a:noFill/>
          <a:ln/>
        </p:spPr>
        <p:txBody>
          <a:bodyPr wrap="square" lIns="0" tIns="0" rIns="0" bIns="0" rtlCol="0" anchor="ctr"/>
          <a:lstStyle/>
          <a:p>
            <a:pPr indent="0" marL="0">
              <a:buNone/>
            </a:pPr>
            <a:r>
              <a:rPr lang="en-US" sz="1050" dirty="0">
                <a:solidFill>
                  <a:srgbClr val="FFFFFF"/>
                </a:solidFill>
                <a:latin typeface="Poppins SemiBold" pitchFamily="34" charset="0"/>
                <a:ea typeface="Poppins SemiBold" pitchFamily="34" charset="-122"/>
                <a:cs typeface="Poppins SemiBold" pitchFamily="34" charset="-120"/>
              </a:rPr>
              <a:t>BRL Mn</a:t>
            </a:r>
            <a:endParaRPr lang="en-US" sz="1050" dirty="0"/>
          </a:p>
        </p:txBody>
      </p:sp>
      <p:sp>
        <p:nvSpPr>
          <p:cNvPr id="12" name="Text 8"/>
          <p:cNvSpPr/>
          <p:nvPr/>
        </p:nvSpPr>
        <p:spPr>
          <a:xfrm>
            <a:off x="4023360" y="1874520"/>
            <a:ext cx="1487363" cy="347472"/>
          </a:xfrm>
          <a:prstGeom prst="rect">
            <a:avLst/>
          </a:prstGeom>
          <a:noFill/>
          <a:ln/>
        </p:spPr>
        <p:txBody>
          <a:bodyPr wrap="square" lIns="0" tIns="0" rIns="0" bIns="0" rtlCol="0" anchor="ctr"/>
          <a:lstStyle/>
          <a:p>
            <a:pPr algn="ctr" indent="0" marL="0">
              <a:buNone/>
            </a:pPr>
            <a:r>
              <a:rPr lang="en-US" sz="1050" dirty="0">
                <a:solidFill>
                  <a:srgbClr val="FFFFFF"/>
                </a:solidFill>
                <a:latin typeface="Poppins SemiBold" pitchFamily="34" charset="0"/>
                <a:ea typeface="Poppins SemiBold" pitchFamily="34" charset="-122"/>
                <a:cs typeface="Poppins SemiBold" pitchFamily="34" charset="-120"/>
              </a:rPr>
              <a:t>2022</a:t>
            </a:r>
            <a:endParaRPr lang="en-US" sz="1050" dirty="0"/>
          </a:p>
        </p:txBody>
      </p:sp>
      <p:sp>
        <p:nvSpPr>
          <p:cNvPr id="13" name="Text 9"/>
          <p:cNvSpPr/>
          <p:nvPr/>
        </p:nvSpPr>
        <p:spPr>
          <a:xfrm>
            <a:off x="5510723" y="1874520"/>
            <a:ext cx="1487363" cy="347472"/>
          </a:xfrm>
          <a:prstGeom prst="rect">
            <a:avLst/>
          </a:prstGeom>
          <a:noFill/>
          <a:ln/>
        </p:spPr>
        <p:txBody>
          <a:bodyPr wrap="square" lIns="0" tIns="0" rIns="0" bIns="0" rtlCol="0" anchor="ctr"/>
          <a:lstStyle/>
          <a:p>
            <a:pPr algn="ctr" indent="0" marL="0">
              <a:buNone/>
            </a:pPr>
            <a:r>
              <a:rPr lang="en-US" sz="1050" dirty="0">
                <a:solidFill>
                  <a:srgbClr val="FFFFFF"/>
                </a:solidFill>
                <a:latin typeface="Poppins SemiBold" pitchFamily="34" charset="0"/>
                <a:ea typeface="Poppins SemiBold" pitchFamily="34" charset="-122"/>
                <a:cs typeface="Poppins SemiBold" pitchFamily="34" charset="-120"/>
              </a:rPr>
              <a:t>2023</a:t>
            </a:r>
            <a:endParaRPr lang="en-US" sz="1050" dirty="0"/>
          </a:p>
        </p:txBody>
      </p:sp>
      <p:sp>
        <p:nvSpPr>
          <p:cNvPr id="14" name="Text 10"/>
          <p:cNvSpPr/>
          <p:nvPr/>
        </p:nvSpPr>
        <p:spPr>
          <a:xfrm>
            <a:off x="6998086" y="1874520"/>
            <a:ext cx="1487363" cy="347472"/>
          </a:xfrm>
          <a:prstGeom prst="rect">
            <a:avLst/>
          </a:prstGeom>
          <a:noFill/>
          <a:ln/>
        </p:spPr>
        <p:txBody>
          <a:bodyPr wrap="square" lIns="0" tIns="0" rIns="0" bIns="0" rtlCol="0" anchor="ctr"/>
          <a:lstStyle/>
          <a:p>
            <a:pPr algn="ctr" indent="0" marL="0">
              <a:buNone/>
            </a:pPr>
            <a:r>
              <a:rPr lang="en-US" sz="1050" dirty="0">
                <a:solidFill>
                  <a:srgbClr val="FFFFFF"/>
                </a:solidFill>
                <a:latin typeface="Poppins SemiBold" pitchFamily="34" charset="0"/>
                <a:ea typeface="Poppins SemiBold" pitchFamily="34" charset="-122"/>
                <a:cs typeface="Poppins SemiBold" pitchFamily="34" charset="-120"/>
              </a:rPr>
              <a:t>2024</a:t>
            </a:r>
            <a:endParaRPr lang="en-US" sz="1050" dirty="0"/>
          </a:p>
        </p:txBody>
      </p:sp>
      <p:sp>
        <p:nvSpPr>
          <p:cNvPr id="15" name="Text 11"/>
          <p:cNvSpPr/>
          <p:nvPr/>
        </p:nvSpPr>
        <p:spPr>
          <a:xfrm>
            <a:off x="8485449" y="1874520"/>
            <a:ext cx="1487363" cy="347472"/>
          </a:xfrm>
          <a:prstGeom prst="rect">
            <a:avLst/>
          </a:prstGeom>
          <a:noFill/>
          <a:ln/>
        </p:spPr>
        <p:txBody>
          <a:bodyPr wrap="square" lIns="0" tIns="0" rIns="0" bIns="0" rtlCol="0" anchor="ctr"/>
          <a:lstStyle/>
          <a:p>
            <a:pPr algn="ctr" indent="0" marL="0">
              <a:buNone/>
            </a:pPr>
            <a:r>
              <a:rPr lang="en-US" sz="1050" dirty="0">
                <a:solidFill>
                  <a:srgbClr val="FFFFFF"/>
                </a:solidFill>
                <a:latin typeface="Poppins SemiBold" pitchFamily="34" charset="0"/>
                <a:ea typeface="Poppins SemiBold" pitchFamily="34" charset="-122"/>
                <a:cs typeface="Poppins SemiBold" pitchFamily="34" charset="-120"/>
              </a:rPr>
              <a:t>2025</a:t>
            </a:r>
            <a:endParaRPr lang="en-US" sz="1050" dirty="0"/>
          </a:p>
        </p:txBody>
      </p:sp>
      <p:sp>
        <p:nvSpPr>
          <p:cNvPr id="16" name="Text 12"/>
          <p:cNvSpPr/>
          <p:nvPr/>
        </p:nvSpPr>
        <p:spPr>
          <a:xfrm>
            <a:off x="9972812" y="1874520"/>
            <a:ext cx="1487363" cy="347472"/>
          </a:xfrm>
          <a:prstGeom prst="rect">
            <a:avLst/>
          </a:prstGeom>
          <a:noFill/>
          <a:ln/>
        </p:spPr>
        <p:txBody>
          <a:bodyPr wrap="square" lIns="0" tIns="0" rIns="0" bIns="0" rtlCol="0" anchor="ctr"/>
          <a:lstStyle/>
          <a:p>
            <a:pPr algn="ctr" indent="0" marL="0">
              <a:buNone/>
            </a:pPr>
            <a:r>
              <a:rPr lang="en-US" sz="1050" dirty="0">
                <a:solidFill>
                  <a:srgbClr val="FFFFFF"/>
                </a:solidFill>
                <a:latin typeface="Poppins SemiBold" pitchFamily="34" charset="0"/>
                <a:ea typeface="Poppins SemiBold" pitchFamily="34" charset="-122"/>
                <a:cs typeface="Poppins SemiBold" pitchFamily="34" charset="-120"/>
              </a:rPr>
              <a:t>2026E</a:t>
            </a:r>
            <a:endParaRPr lang="en-US" sz="1050" dirty="0"/>
          </a:p>
        </p:txBody>
      </p:sp>
      <p:sp>
        <p:nvSpPr>
          <p:cNvPr id="17" name="Shape 13"/>
          <p:cNvSpPr/>
          <p:nvPr/>
        </p:nvSpPr>
        <p:spPr>
          <a:xfrm>
            <a:off x="731520" y="2221992"/>
            <a:ext cx="10728655" cy="248717"/>
          </a:xfrm>
          <a:prstGeom prst="rect">
            <a:avLst/>
          </a:prstGeom>
          <a:solidFill>
            <a:srgbClr val="FDE9DE"/>
          </a:solidFill>
          <a:ln/>
        </p:spPr>
      </p:sp>
      <p:sp>
        <p:nvSpPr>
          <p:cNvPr id="18" name="Text 14"/>
          <p:cNvSpPr/>
          <p:nvPr/>
        </p:nvSpPr>
        <p:spPr>
          <a:xfrm>
            <a:off x="914400" y="2221992"/>
            <a:ext cx="3108960" cy="248717"/>
          </a:xfrm>
          <a:prstGeom prst="rect">
            <a:avLst/>
          </a:prstGeom>
          <a:noFill/>
          <a:ln/>
        </p:spPr>
        <p:txBody>
          <a:bodyPr wrap="square" lIns="0" tIns="0" rIns="0" bIns="0" rtlCol="0" anchor="ctr"/>
          <a:lstStyle/>
          <a:p>
            <a:pPr indent="0" marL="0">
              <a:buNone/>
            </a:pPr>
            <a:r>
              <a:rPr lang="en-US" sz="900" dirty="0">
                <a:solidFill>
                  <a:srgbClr val="2B333E"/>
                </a:solidFill>
                <a:latin typeface="Poppins SemiBold" pitchFamily="34" charset="0"/>
                <a:ea typeface="Poppins SemiBold" pitchFamily="34" charset="-122"/>
                <a:cs typeface="Poppins SemiBold" pitchFamily="34" charset="-120"/>
              </a:rPr>
              <a:t>Gross revenue</a:t>
            </a:r>
            <a:endParaRPr lang="en-US" sz="900" dirty="0"/>
          </a:p>
        </p:txBody>
      </p:sp>
      <p:sp>
        <p:nvSpPr>
          <p:cNvPr id="19" name="Text 15"/>
          <p:cNvSpPr/>
          <p:nvPr/>
        </p:nvSpPr>
        <p:spPr>
          <a:xfrm>
            <a:off x="4023360" y="2221992"/>
            <a:ext cx="1487363" cy="248717"/>
          </a:xfrm>
          <a:prstGeom prst="rect">
            <a:avLst/>
          </a:prstGeom>
          <a:noFill/>
          <a:ln/>
        </p:spPr>
        <p:txBody>
          <a:bodyPr wrap="square" lIns="0" tIns="0" rIns="0" bIns="0" rtlCol="0" anchor="ctr"/>
          <a:lstStyle/>
          <a:p>
            <a:pPr algn="ctr" indent="0" marL="0">
              <a:buNone/>
            </a:pPr>
            <a:r>
              <a:rPr lang="en-US" sz="900" dirty="0">
                <a:solidFill>
                  <a:srgbClr val="2B333E"/>
                </a:solidFill>
                <a:latin typeface="Poppins SemiBold" pitchFamily="34" charset="0"/>
                <a:ea typeface="Poppins SemiBold" pitchFamily="34" charset="-122"/>
                <a:cs typeface="Poppins SemiBold" pitchFamily="34" charset="-120"/>
              </a:rPr>
              <a:t>—</a:t>
            </a:r>
            <a:endParaRPr lang="en-US" sz="900" dirty="0"/>
          </a:p>
        </p:txBody>
      </p:sp>
      <p:sp>
        <p:nvSpPr>
          <p:cNvPr id="20" name="Text 16"/>
          <p:cNvSpPr/>
          <p:nvPr/>
        </p:nvSpPr>
        <p:spPr>
          <a:xfrm>
            <a:off x="5510723" y="2221992"/>
            <a:ext cx="1487363" cy="248717"/>
          </a:xfrm>
          <a:prstGeom prst="rect">
            <a:avLst/>
          </a:prstGeom>
          <a:noFill/>
          <a:ln/>
        </p:spPr>
        <p:txBody>
          <a:bodyPr wrap="square" lIns="0" tIns="0" rIns="0" bIns="0" rtlCol="0" anchor="ctr"/>
          <a:lstStyle/>
          <a:p>
            <a:pPr algn="ctr" indent="0" marL="0">
              <a:buNone/>
            </a:pPr>
            <a:r>
              <a:rPr lang="en-US" sz="900" dirty="0">
                <a:solidFill>
                  <a:srgbClr val="2B333E"/>
                </a:solidFill>
                <a:latin typeface="Poppins SemiBold" pitchFamily="34" charset="0"/>
                <a:ea typeface="Poppins SemiBold" pitchFamily="34" charset="-122"/>
                <a:cs typeface="Poppins SemiBold" pitchFamily="34" charset="-120"/>
              </a:rPr>
              <a:t>—</a:t>
            </a:r>
            <a:endParaRPr lang="en-US" sz="900" dirty="0"/>
          </a:p>
        </p:txBody>
      </p:sp>
      <p:sp>
        <p:nvSpPr>
          <p:cNvPr id="21" name="Text 17"/>
          <p:cNvSpPr/>
          <p:nvPr/>
        </p:nvSpPr>
        <p:spPr>
          <a:xfrm>
            <a:off x="6998086" y="2221992"/>
            <a:ext cx="1487363" cy="248717"/>
          </a:xfrm>
          <a:prstGeom prst="rect">
            <a:avLst/>
          </a:prstGeom>
          <a:noFill/>
          <a:ln/>
        </p:spPr>
        <p:txBody>
          <a:bodyPr wrap="square" lIns="0" tIns="0" rIns="0" bIns="0" rtlCol="0" anchor="ctr"/>
          <a:lstStyle/>
          <a:p>
            <a:pPr algn="ctr" indent="0" marL="0">
              <a:buNone/>
            </a:pPr>
            <a:r>
              <a:rPr lang="en-US" sz="900" dirty="0">
                <a:solidFill>
                  <a:srgbClr val="2B333E"/>
                </a:solidFill>
                <a:latin typeface="Poppins SemiBold" pitchFamily="34" charset="0"/>
                <a:ea typeface="Poppins SemiBold" pitchFamily="34" charset="-122"/>
                <a:cs typeface="Poppins SemiBold" pitchFamily="34" charset="-120"/>
              </a:rPr>
              <a:t>—</a:t>
            </a:r>
            <a:endParaRPr lang="en-US" sz="900" dirty="0"/>
          </a:p>
        </p:txBody>
      </p:sp>
      <p:sp>
        <p:nvSpPr>
          <p:cNvPr id="22" name="Text 18"/>
          <p:cNvSpPr/>
          <p:nvPr/>
        </p:nvSpPr>
        <p:spPr>
          <a:xfrm>
            <a:off x="8485449" y="2221992"/>
            <a:ext cx="1487363" cy="248717"/>
          </a:xfrm>
          <a:prstGeom prst="rect">
            <a:avLst/>
          </a:prstGeom>
          <a:noFill/>
          <a:ln/>
        </p:spPr>
        <p:txBody>
          <a:bodyPr wrap="square" lIns="0" tIns="0" rIns="0" bIns="0" rtlCol="0" anchor="ctr"/>
          <a:lstStyle/>
          <a:p>
            <a:pPr algn="ctr" indent="0" marL="0">
              <a:buNone/>
            </a:pPr>
            <a:r>
              <a:rPr lang="en-US" sz="900" dirty="0">
                <a:solidFill>
                  <a:srgbClr val="2B333E"/>
                </a:solidFill>
                <a:latin typeface="Poppins SemiBold" pitchFamily="34" charset="0"/>
                <a:ea typeface="Poppins SemiBold" pitchFamily="34" charset="-122"/>
                <a:cs typeface="Poppins SemiBold" pitchFamily="34" charset="-120"/>
              </a:rPr>
              <a:t>—</a:t>
            </a:r>
            <a:endParaRPr lang="en-US" sz="900" dirty="0"/>
          </a:p>
        </p:txBody>
      </p:sp>
      <p:sp>
        <p:nvSpPr>
          <p:cNvPr id="23" name="Text 19"/>
          <p:cNvSpPr/>
          <p:nvPr/>
        </p:nvSpPr>
        <p:spPr>
          <a:xfrm>
            <a:off x="9972812" y="2221992"/>
            <a:ext cx="1487363" cy="248717"/>
          </a:xfrm>
          <a:prstGeom prst="rect">
            <a:avLst/>
          </a:prstGeom>
          <a:noFill/>
          <a:ln/>
        </p:spPr>
        <p:txBody>
          <a:bodyPr wrap="square" lIns="0" tIns="0" rIns="0" bIns="0" rtlCol="0" anchor="ctr"/>
          <a:lstStyle/>
          <a:p>
            <a:pPr algn="ctr" indent="0" marL="0">
              <a:buNone/>
            </a:pPr>
            <a:r>
              <a:rPr lang="en-US" sz="900" dirty="0">
                <a:solidFill>
                  <a:srgbClr val="2B333E"/>
                </a:solidFill>
                <a:latin typeface="Poppins SemiBold" pitchFamily="34" charset="0"/>
                <a:ea typeface="Poppins SemiBold" pitchFamily="34" charset="-122"/>
                <a:cs typeface="Poppins SemiBold" pitchFamily="34" charset="-120"/>
              </a:rPr>
              <a:t>—</a:t>
            </a:r>
            <a:endParaRPr lang="en-US" sz="900" dirty="0"/>
          </a:p>
        </p:txBody>
      </p:sp>
      <p:sp>
        <p:nvSpPr>
          <p:cNvPr id="24" name="Shape 20"/>
          <p:cNvSpPr/>
          <p:nvPr/>
        </p:nvSpPr>
        <p:spPr>
          <a:xfrm>
            <a:off x="731520" y="2470709"/>
            <a:ext cx="10728655" cy="248717"/>
          </a:xfrm>
          <a:prstGeom prst="rect">
            <a:avLst/>
          </a:prstGeom>
          <a:solidFill>
            <a:srgbClr val="F4F6F8"/>
          </a:solidFill>
          <a:ln/>
        </p:spPr>
      </p:sp>
      <p:sp>
        <p:nvSpPr>
          <p:cNvPr id="25" name="Text 21"/>
          <p:cNvSpPr/>
          <p:nvPr/>
        </p:nvSpPr>
        <p:spPr>
          <a:xfrm>
            <a:off x="914400" y="2470709"/>
            <a:ext cx="3108960" cy="248717"/>
          </a:xfrm>
          <a:prstGeom prst="rect">
            <a:avLst/>
          </a:prstGeom>
          <a:noFill/>
          <a:ln/>
        </p:spPr>
        <p:txBody>
          <a:bodyPr wrap="square" lIns="0" tIns="0" rIns="0" bIns="0" rtlCol="0" anchor="ctr"/>
          <a:lstStyle/>
          <a:p>
            <a:pPr indent="0" marL="0">
              <a:buNone/>
            </a:pPr>
            <a:r>
              <a:rPr lang="en-US" sz="900" dirty="0">
                <a:solidFill>
                  <a:srgbClr val="2B333E"/>
                </a:solidFill>
                <a:latin typeface="Poppins" pitchFamily="34" charset="0"/>
                <a:ea typeface="Poppins" pitchFamily="34" charset="-122"/>
                <a:cs typeface="Poppins" pitchFamily="34" charset="-120"/>
              </a:rPr>
              <a:t>Taxes</a:t>
            </a:r>
            <a:endParaRPr lang="en-US" sz="900" dirty="0"/>
          </a:p>
        </p:txBody>
      </p:sp>
      <p:sp>
        <p:nvSpPr>
          <p:cNvPr id="26" name="Text 22"/>
          <p:cNvSpPr/>
          <p:nvPr/>
        </p:nvSpPr>
        <p:spPr>
          <a:xfrm>
            <a:off x="4023360" y="2470709"/>
            <a:ext cx="1487363" cy="248717"/>
          </a:xfrm>
          <a:prstGeom prst="rect">
            <a:avLst/>
          </a:prstGeom>
          <a:noFill/>
          <a:ln/>
        </p:spPr>
        <p:txBody>
          <a:bodyPr wrap="square" lIns="0" tIns="0" rIns="0" bIns="0" rtlCol="0" anchor="ctr"/>
          <a:lstStyle/>
          <a:p>
            <a:pPr algn="ctr" indent="0" marL="0">
              <a:buNone/>
            </a:pPr>
            <a:r>
              <a:rPr lang="en-US" sz="900" dirty="0">
                <a:solidFill>
                  <a:srgbClr val="2B333E"/>
                </a:solidFill>
                <a:latin typeface="Poppins" pitchFamily="34" charset="0"/>
                <a:ea typeface="Poppins" pitchFamily="34" charset="-122"/>
                <a:cs typeface="Poppins" pitchFamily="34" charset="-120"/>
              </a:rPr>
              <a:t>—</a:t>
            </a:r>
            <a:endParaRPr lang="en-US" sz="900" dirty="0"/>
          </a:p>
        </p:txBody>
      </p:sp>
      <p:sp>
        <p:nvSpPr>
          <p:cNvPr id="27" name="Text 23"/>
          <p:cNvSpPr/>
          <p:nvPr/>
        </p:nvSpPr>
        <p:spPr>
          <a:xfrm>
            <a:off x="5510723" y="2470709"/>
            <a:ext cx="1487363" cy="248717"/>
          </a:xfrm>
          <a:prstGeom prst="rect">
            <a:avLst/>
          </a:prstGeom>
          <a:noFill/>
          <a:ln/>
        </p:spPr>
        <p:txBody>
          <a:bodyPr wrap="square" lIns="0" tIns="0" rIns="0" bIns="0" rtlCol="0" anchor="ctr"/>
          <a:lstStyle/>
          <a:p>
            <a:pPr algn="ctr" indent="0" marL="0">
              <a:buNone/>
            </a:pPr>
            <a:r>
              <a:rPr lang="en-US" sz="900" dirty="0">
                <a:solidFill>
                  <a:srgbClr val="2B333E"/>
                </a:solidFill>
                <a:latin typeface="Poppins" pitchFamily="34" charset="0"/>
                <a:ea typeface="Poppins" pitchFamily="34" charset="-122"/>
                <a:cs typeface="Poppins" pitchFamily="34" charset="-120"/>
              </a:rPr>
              <a:t>—</a:t>
            </a:r>
            <a:endParaRPr lang="en-US" sz="900" dirty="0"/>
          </a:p>
        </p:txBody>
      </p:sp>
      <p:sp>
        <p:nvSpPr>
          <p:cNvPr id="28" name="Text 24"/>
          <p:cNvSpPr/>
          <p:nvPr/>
        </p:nvSpPr>
        <p:spPr>
          <a:xfrm>
            <a:off x="6998086" y="2470709"/>
            <a:ext cx="1487363" cy="248717"/>
          </a:xfrm>
          <a:prstGeom prst="rect">
            <a:avLst/>
          </a:prstGeom>
          <a:noFill/>
          <a:ln/>
        </p:spPr>
        <p:txBody>
          <a:bodyPr wrap="square" lIns="0" tIns="0" rIns="0" bIns="0" rtlCol="0" anchor="ctr"/>
          <a:lstStyle/>
          <a:p>
            <a:pPr algn="ctr" indent="0" marL="0">
              <a:buNone/>
            </a:pPr>
            <a:r>
              <a:rPr lang="en-US" sz="900" dirty="0">
                <a:solidFill>
                  <a:srgbClr val="2B333E"/>
                </a:solidFill>
                <a:latin typeface="Poppins" pitchFamily="34" charset="0"/>
                <a:ea typeface="Poppins" pitchFamily="34" charset="-122"/>
                <a:cs typeface="Poppins" pitchFamily="34" charset="-120"/>
              </a:rPr>
              <a:t>—</a:t>
            </a:r>
            <a:endParaRPr lang="en-US" sz="900" dirty="0"/>
          </a:p>
        </p:txBody>
      </p:sp>
      <p:sp>
        <p:nvSpPr>
          <p:cNvPr id="29" name="Text 25"/>
          <p:cNvSpPr/>
          <p:nvPr/>
        </p:nvSpPr>
        <p:spPr>
          <a:xfrm>
            <a:off x="8485449" y="2470709"/>
            <a:ext cx="1487363" cy="248717"/>
          </a:xfrm>
          <a:prstGeom prst="rect">
            <a:avLst/>
          </a:prstGeom>
          <a:noFill/>
          <a:ln/>
        </p:spPr>
        <p:txBody>
          <a:bodyPr wrap="square" lIns="0" tIns="0" rIns="0" bIns="0" rtlCol="0" anchor="ctr"/>
          <a:lstStyle/>
          <a:p>
            <a:pPr algn="ctr" indent="0" marL="0">
              <a:buNone/>
            </a:pPr>
            <a:r>
              <a:rPr lang="en-US" sz="900" dirty="0">
                <a:solidFill>
                  <a:srgbClr val="2B333E"/>
                </a:solidFill>
                <a:latin typeface="Poppins" pitchFamily="34" charset="0"/>
                <a:ea typeface="Poppins" pitchFamily="34" charset="-122"/>
                <a:cs typeface="Poppins" pitchFamily="34" charset="-120"/>
              </a:rPr>
              <a:t>—</a:t>
            </a:r>
            <a:endParaRPr lang="en-US" sz="900" dirty="0"/>
          </a:p>
        </p:txBody>
      </p:sp>
      <p:sp>
        <p:nvSpPr>
          <p:cNvPr id="30" name="Text 26"/>
          <p:cNvSpPr/>
          <p:nvPr/>
        </p:nvSpPr>
        <p:spPr>
          <a:xfrm>
            <a:off x="9972812" y="2470709"/>
            <a:ext cx="1487363" cy="248717"/>
          </a:xfrm>
          <a:prstGeom prst="rect">
            <a:avLst/>
          </a:prstGeom>
          <a:noFill/>
          <a:ln/>
        </p:spPr>
        <p:txBody>
          <a:bodyPr wrap="square" lIns="0" tIns="0" rIns="0" bIns="0" rtlCol="0" anchor="ctr"/>
          <a:lstStyle/>
          <a:p>
            <a:pPr algn="ctr" indent="0" marL="0">
              <a:buNone/>
            </a:pPr>
            <a:r>
              <a:rPr lang="en-US" sz="900" dirty="0">
                <a:solidFill>
                  <a:srgbClr val="2B333E"/>
                </a:solidFill>
                <a:latin typeface="Poppins" pitchFamily="34" charset="0"/>
                <a:ea typeface="Poppins" pitchFamily="34" charset="-122"/>
                <a:cs typeface="Poppins" pitchFamily="34" charset="-120"/>
              </a:rPr>
              <a:t>—</a:t>
            </a:r>
            <a:endParaRPr lang="en-US" sz="900" dirty="0"/>
          </a:p>
        </p:txBody>
      </p:sp>
      <p:sp>
        <p:nvSpPr>
          <p:cNvPr id="31" name="Shape 27"/>
          <p:cNvSpPr/>
          <p:nvPr/>
        </p:nvSpPr>
        <p:spPr>
          <a:xfrm>
            <a:off x="731520" y="2719426"/>
            <a:ext cx="10728655" cy="248717"/>
          </a:xfrm>
          <a:prstGeom prst="rect">
            <a:avLst/>
          </a:prstGeom>
          <a:solidFill>
            <a:srgbClr val="FDE9DE"/>
          </a:solidFill>
          <a:ln/>
        </p:spPr>
      </p:sp>
      <p:sp>
        <p:nvSpPr>
          <p:cNvPr id="32" name="Text 28"/>
          <p:cNvSpPr/>
          <p:nvPr/>
        </p:nvSpPr>
        <p:spPr>
          <a:xfrm>
            <a:off x="914400" y="2719426"/>
            <a:ext cx="3108960" cy="248717"/>
          </a:xfrm>
          <a:prstGeom prst="rect">
            <a:avLst/>
          </a:prstGeom>
          <a:noFill/>
          <a:ln/>
        </p:spPr>
        <p:txBody>
          <a:bodyPr wrap="square" lIns="0" tIns="0" rIns="0" bIns="0" rtlCol="0" anchor="ctr"/>
          <a:lstStyle/>
          <a:p>
            <a:pPr indent="0" marL="0">
              <a:buNone/>
            </a:pPr>
            <a:r>
              <a:rPr lang="en-US" sz="900" dirty="0">
                <a:solidFill>
                  <a:srgbClr val="2B333E"/>
                </a:solidFill>
                <a:latin typeface="Poppins SemiBold" pitchFamily="34" charset="0"/>
                <a:ea typeface="Poppins SemiBold" pitchFamily="34" charset="-122"/>
                <a:cs typeface="Poppins SemiBold" pitchFamily="34" charset="-120"/>
              </a:rPr>
              <a:t>Net revenues</a:t>
            </a:r>
            <a:endParaRPr lang="en-US" sz="900" dirty="0"/>
          </a:p>
        </p:txBody>
      </p:sp>
      <p:sp>
        <p:nvSpPr>
          <p:cNvPr id="33" name="Text 29"/>
          <p:cNvSpPr/>
          <p:nvPr/>
        </p:nvSpPr>
        <p:spPr>
          <a:xfrm>
            <a:off x="4023360" y="2719426"/>
            <a:ext cx="1487363" cy="248717"/>
          </a:xfrm>
          <a:prstGeom prst="rect">
            <a:avLst/>
          </a:prstGeom>
          <a:noFill/>
          <a:ln/>
        </p:spPr>
        <p:txBody>
          <a:bodyPr wrap="square" lIns="0" tIns="0" rIns="0" bIns="0" rtlCol="0" anchor="ctr"/>
          <a:lstStyle/>
          <a:p>
            <a:pPr algn="ctr" indent="0" marL="0">
              <a:buNone/>
            </a:pPr>
            <a:r>
              <a:rPr lang="en-US" sz="900" dirty="0">
                <a:solidFill>
                  <a:srgbClr val="2B333E"/>
                </a:solidFill>
                <a:latin typeface="Poppins SemiBold" pitchFamily="34" charset="0"/>
                <a:ea typeface="Poppins SemiBold" pitchFamily="34" charset="-122"/>
                <a:cs typeface="Poppins SemiBold" pitchFamily="34" charset="-120"/>
              </a:rPr>
              <a:t>—</a:t>
            </a:r>
            <a:endParaRPr lang="en-US" sz="900" dirty="0"/>
          </a:p>
        </p:txBody>
      </p:sp>
      <p:sp>
        <p:nvSpPr>
          <p:cNvPr id="34" name="Text 30"/>
          <p:cNvSpPr/>
          <p:nvPr/>
        </p:nvSpPr>
        <p:spPr>
          <a:xfrm>
            <a:off x="5510723" y="2719426"/>
            <a:ext cx="1487363" cy="248717"/>
          </a:xfrm>
          <a:prstGeom prst="rect">
            <a:avLst/>
          </a:prstGeom>
          <a:noFill/>
          <a:ln/>
        </p:spPr>
        <p:txBody>
          <a:bodyPr wrap="square" lIns="0" tIns="0" rIns="0" bIns="0" rtlCol="0" anchor="ctr"/>
          <a:lstStyle/>
          <a:p>
            <a:pPr algn="ctr" indent="0" marL="0">
              <a:buNone/>
            </a:pPr>
            <a:r>
              <a:rPr lang="en-US" sz="900" dirty="0">
                <a:solidFill>
                  <a:srgbClr val="2B333E"/>
                </a:solidFill>
                <a:latin typeface="Poppins SemiBold" pitchFamily="34" charset="0"/>
                <a:ea typeface="Poppins SemiBold" pitchFamily="34" charset="-122"/>
                <a:cs typeface="Poppins SemiBold" pitchFamily="34" charset="-120"/>
              </a:rPr>
              <a:t>—</a:t>
            </a:r>
            <a:endParaRPr lang="en-US" sz="900" dirty="0"/>
          </a:p>
        </p:txBody>
      </p:sp>
      <p:sp>
        <p:nvSpPr>
          <p:cNvPr id="35" name="Text 31"/>
          <p:cNvSpPr/>
          <p:nvPr/>
        </p:nvSpPr>
        <p:spPr>
          <a:xfrm>
            <a:off x="6998086" y="2719426"/>
            <a:ext cx="1487363" cy="248717"/>
          </a:xfrm>
          <a:prstGeom prst="rect">
            <a:avLst/>
          </a:prstGeom>
          <a:noFill/>
          <a:ln/>
        </p:spPr>
        <p:txBody>
          <a:bodyPr wrap="square" lIns="0" tIns="0" rIns="0" bIns="0" rtlCol="0" anchor="ctr"/>
          <a:lstStyle/>
          <a:p>
            <a:pPr algn="ctr" indent="0" marL="0">
              <a:buNone/>
            </a:pPr>
            <a:r>
              <a:rPr lang="en-US" sz="900" dirty="0">
                <a:solidFill>
                  <a:srgbClr val="2B333E"/>
                </a:solidFill>
                <a:latin typeface="Poppins SemiBold" pitchFamily="34" charset="0"/>
                <a:ea typeface="Poppins SemiBold" pitchFamily="34" charset="-122"/>
                <a:cs typeface="Poppins SemiBold" pitchFamily="34" charset="-120"/>
              </a:rPr>
              <a:t>—</a:t>
            </a:r>
            <a:endParaRPr lang="en-US" sz="900" dirty="0"/>
          </a:p>
        </p:txBody>
      </p:sp>
      <p:sp>
        <p:nvSpPr>
          <p:cNvPr id="36" name="Text 32"/>
          <p:cNvSpPr/>
          <p:nvPr/>
        </p:nvSpPr>
        <p:spPr>
          <a:xfrm>
            <a:off x="8485449" y="2719426"/>
            <a:ext cx="1487363" cy="248717"/>
          </a:xfrm>
          <a:prstGeom prst="rect">
            <a:avLst/>
          </a:prstGeom>
          <a:noFill/>
          <a:ln/>
        </p:spPr>
        <p:txBody>
          <a:bodyPr wrap="square" lIns="0" tIns="0" rIns="0" bIns="0" rtlCol="0" anchor="ctr"/>
          <a:lstStyle/>
          <a:p>
            <a:pPr algn="ctr" indent="0" marL="0">
              <a:buNone/>
            </a:pPr>
            <a:r>
              <a:rPr lang="en-US" sz="900" dirty="0">
                <a:solidFill>
                  <a:srgbClr val="C6470F"/>
                </a:solidFill>
                <a:latin typeface="Poppins SemiBold" pitchFamily="34" charset="0"/>
                <a:ea typeface="Poppins SemiBold" pitchFamily="34" charset="-122"/>
                <a:cs typeface="Poppins SemiBold" pitchFamily="34" charset="-120"/>
              </a:rPr>
              <a:t>~140</a:t>
            </a:r>
            <a:endParaRPr lang="en-US" sz="900" dirty="0"/>
          </a:p>
        </p:txBody>
      </p:sp>
      <p:sp>
        <p:nvSpPr>
          <p:cNvPr id="37" name="Text 33"/>
          <p:cNvSpPr/>
          <p:nvPr/>
        </p:nvSpPr>
        <p:spPr>
          <a:xfrm>
            <a:off x="9972812" y="2719426"/>
            <a:ext cx="1487363" cy="248717"/>
          </a:xfrm>
          <a:prstGeom prst="rect">
            <a:avLst/>
          </a:prstGeom>
          <a:noFill/>
          <a:ln/>
        </p:spPr>
        <p:txBody>
          <a:bodyPr wrap="square" lIns="0" tIns="0" rIns="0" bIns="0" rtlCol="0" anchor="ctr"/>
          <a:lstStyle/>
          <a:p>
            <a:pPr algn="ctr" indent="0" marL="0">
              <a:buNone/>
            </a:pPr>
            <a:r>
              <a:rPr lang="en-US" sz="900" dirty="0">
                <a:solidFill>
                  <a:srgbClr val="2B333E"/>
                </a:solidFill>
                <a:latin typeface="Poppins SemiBold" pitchFamily="34" charset="0"/>
                <a:ea typeface="Poppins SemiBold" pitchFamily="34" charset="-122"/>
                <a:cs typeface="Poppins SemiBold" pitchFamily="34" charset="-120"/>
              </a:rPr>
              <a:t>—</a:t>
            </a:r>
            <a:endParaRPr lang="en-US" sz="900" dirty="0"/>
          </a:p>
        </p:txBody>
      </p:sp>
      <p:sp>
        <p:nvSpPr>
          <p:cNvPr id="38" name="Shape 34"/>
          <p:cNvSpPr/>
          <p:nvPr/>
        </p:nvSpPr>
        <p:spPr>
          <a:xfrm>
            <a:off x="731520" y="2968142"/>
            <a:ext cx="10728655" cy="248717"/>
          </a:xfrm>
          <a:prstGeom prst="rect">
            <a:avLst/>
          </a:prstGeom>
          <a:solidFill>
            <a:srgbClr val="F4F6F8"/>
          </a:solidFill>
          <a:ln/>
        </p:spPr>
      </p:sp>
      <p:sp>
        <p:nvSpPr>
          <p:cNvPr id="39" name="Text 35"/>
          <p:cNvSpPr/>
          <p:nvPr/>
        </p:nvSpPr>
        <p:spPr>
          <a:xfrm>
            <a:off x="914400" y="2968142"/>
            <a:ext cx="3108960" cy="248717"/>
          </a:xfrm>
          <a:prstGeom prst="rect">
            <a:avLst/>
          </a:prstGeom>
          <a:noFill/>
          <a:ln/>
        </p:spPr>
        <p:txBody>
          <a:bodyPr wrap="square" lIns="0" tIns="0" rIns="0" bIns="0" rtlCol="0" anchor="ctr"/>
          <a:lstStyle/>
          <a:p>
            <a:pPr indent="0" marL="0">
              <a:buNone/>
            </a:pPr>
            <a:r>
              <a:rPr lang="en-US" sz="900" i="1" dirty="0">
                <a:solidFill>
                  <a:srgbClr val="6C7683"/>
                </a:solidFill>
                <a:latin typeface="Poppins" pitchFamily="34" charset="0"/>
                <a:ea typeface="Poppins" pitchFamily="34" charset="-122"/>
                <a:cs typeface="Poppins" pitchFamily="34" charset="-120"/>
              </a:rPr>
              <a:t>growth %</a:t>
            </a:r>
            <a:endParaRPr lang="en-US" sz="900" dirty="0"/>
          </a:p>
        </p:txBody>
      </p:sp>
      <p:sp>
        <p:nvSpPr>
          <p:cNvPr id="40" name="Text 36"/>
          <p:cNvSpPr/>
          <p:nvPr/>
        </p:nvSpPr>
        <p:spPr>
          <a:xfrm>
            <a:off x="4023360" y="2968142"/>
            <a:ext cx="1487363" cy="248717"/>
          </a:xfrm>
          <a:prstGeom prst="rect">
            <a:avLst/>
          </a:prstGeom>
          <a:noFill/>
          <a:ln/>
        </p:spPr>
        <p:txBody>
          <a:bodyPr wrap="square" lIns="0" tIns="0" rIns="0" bIns="0" rtlCol="0" anchor="ctr"/>
          <a:lstStyle/>
          <a:p>
            <a:pPr algn="ctr" indent="0" marL="0">
              <a:buNone/>
            </a:pPr>
            <a:r>
              <a:rPr lang="en-US" sz="900" i="1" dirty="0">
                <a:solidFill>
                  <a:srgbClr val="6C7683"/>
                </a:solidFill>
                <a:latin typeface="Poppins" pitchFamily="34" charset="0"/>
                <a:ea typeface="Poppins" pitchFamily="34" charset="-122"/>
                <a:cs typeface="Poppins" pitchFamily="34" charset="-120"/>
              </a:rPr>
              <a:t>—</a:t>
            </a:r>
            <a:endParaRPr lang="en-US" sz="900" dirty="0"/>
          </a:p>
        </p:txBody>
      </p:sp>
      <p:sp>
        <p:nvSpPr>
          <p:cNvPr id="41" name="Text 37"/>
          <p:cNvSpPr/>
          <p:nvPr/>
        </p:nvSpPr>
        <p:spPr>
          <a:xfrm>
            <a:off x="5510723" y="2968142"/>
            <a:ext cx="1487363" cy="248717"/>
          </a:xfrm>
          <a:prstGeom prst="rect">
            <a:avLst/>
          </a:prstGeom>
          <a:noFill/>
          <a:ln/>
        </p:spPr>
        <p:txBody>
          <a:bodyPr wrap="square" lIns="0" tIns="0" rIns="0" bIns="0" rtlCol="0" anchor="ctr"/>
          <a:lstStyle/>
          <a:p>
            <a:pPr algn="ctr" indent="0" marL="0">
              <a:buNone/>
            </a:pPr>
            <a:r>
              <a:rPr lang="en-US" sz="900" i="1" dirty="0">
                <a:solidFill>
                  <a:srgbClr val="6C7683"/>
                </a:solidFill>
                <a:latin typeface="Poppins" pitchFamily="34" charset="0"/>
                <a:ea typeface="Poppins" pitchFamily="34" charset="-122"/>
                <a:cs typeface="Poppins" pitchFamily="34" charset="-120"/>
              </a:rPr>
              <a:t>—</a:t>
            </a:r>
            <a:endParaRPr lang="en-US" sz="900" dirty="0"/>
          </a:p>
        </p:txBody>
      </p:sp>
      <p:sp>
        <p:nvSpPr>
          <p:cNvPr id="42" name="Text 38"/>
          <p:cNvSpPr/>
          <p:nvPr/>
        </p:nvSpPr>
        <p:spPr>
          <a:xfrm>
            <a:off x="6998086" y="2968142"/>
            <a:ext cx="1487363" cy="248717"/>
          </a:xfrm>
          <a:prstGeom prst="rect">
            <a:avLst/>
          </a:prstGeom>
          <a:noFill/>
          <a:ln/>
        </p:spPr>
        <p:txBody>
          <a:bodyPr wrap="square" lIns="0" tIns="0" rIns="0" bIns="0" rtlCol="0" anchor="ctr"/>
          <a:lstStyle/>
          <a:p>
            <a:pPr algn="ctr" indent="0" marL="0">
              <a:buNone/>
            </a:pPr>
            <a:r>
              <a:rPr lang="en-US" sz="900" i="1" dirty="0">
                <a:solidFill>
                  <a:srgbClr val="6C7683"/>
                </a:solidFill>
                <a:latin typeface="Poppins" pitchFamily="34" charset="0"/>
                <a:ea typeface="Poppins" pitchFamily="34" charset="-122"/>
                <a:cs typeface="Poppins" pitchFamily="34" charset="-120"/>
              </a:rPr>
              <a:t>—</a:t>
            </a:r>
            <a:endParaRPr lang="en-US" sz="900" dirty="0"/>
          </a:p>
        </p:txBody>
      </p:sp>
      <p:sp>
        <p:nvSpPr>
          <p:cNvPr id="43" name="Text 39"/>
          <p:cNvSpPr/>
          <p:nvPr/>
        </p:nvSpPr>
        <p:spPr>
          <a:xfrm>
            <a:off x="8485449" y="2968142"/>
            <a:ext cx="1487363" cy="248717"/>
          </a:xfrm>
          <a:prstGeom prst="rect">
            <a:avLst/>
          </a:prstGeom>
          <a:noFill/>
          <a:ln/>
        </p:spPr>
        <p:txBody>
          <a:bodyPr wrap="square" lIns="0" tIns="0" rIns="0" bIns="0" rtlCol="0" anchor="ctr"/>
          <a:lstStyle/>
          <a:p>
            <a:pPr algn="ctr" indent="0" marL="0">
              <a:buNone/>
            </a:pPr>
            <a:r>
              <a:rPr lang="en-US" sz="900" i="1" dirty="0">
                <a:solidFill>
                  <a:srgbClr val="6C7683"/>
                </a:solidFill>
                <a:latin typeface="Poppins" pitchFamily="34" charset="0"/>
                <a:ea typeface="Poppins" pitchFamily="34" charset="-122"/>
                <a:cs typeface="Poppins" pitchFamily="34" charset="-120"/>
              </a:rPr>
              <a:t>—</a:t>
            </a:r>
            <a:endParaRPr lang="en-US" sz="900" dirty="0"/>
          </a:p>
        </p:txBody>
      </p:sp>
      <p:sp>
        <p:nvSpPr>
          <p:cNvPr id="44" name="Text 40"/>
          <p:cNvSpPr/>
          <p:nvPr/>
        </p:nvSpPr>
        <p:spPr>
          <a:xfrm>
            <a:off x="9972812" y="2968142"/>
            <a:ext cx="1487363" cy="248717"/>
          </a:xfrm>
          <a:prstGeom prst="rect">
            <a:avLst/>
          </a:prstGeom>
          <a:noFill/>
          <a:ln/>
        </p:spPr>
        <p:txBody>
          <a:bodyPr wrap="square" lIns="0" tIns="0" rIns="0" bIns="0" rtlCol="0" anchor="ctr"/>
          <a:lstStyle/>
          <a:p>
            <a:pPr algn="ctr" indent="0" marL="0">
              <a:buNone/>
            </a:pPr>
            <a:r>
              <a:rPr lang="en-US" sz="900" i="1" dirty="0">
                <a:solidFill>
                  <a:srgbClr val="6C7683"/>
                </a:solidFill>
                <a:latin typeface="Poppins" pitchFamily="34" charset="0"/>
                <a:ea typeface="Poppins" pitchFamily="34" charset="-122"/>
                <a:cs typeface="Poppins" pitchFamily="34" charset="-120"/>
              </a:rPr>
              <a:t>—</a:t>
            </a:r>
            <a:endParaRPr lang="en-US" sz="900" dirty="0"/>
          </a:p>
        </p:txBody>
      </p:sp>
      <p:sp>
        <p:nvSpPr>
          <p:cNvPr id="45" name="Text 41"/>
          <p:cNvSpPr/>
          <p:nvPr/>
        </p:nvSpPr>
        <p:spPr>
          <a:xfrm>
            <a:off x="914400" y="3216859"/>
            <a:ext cx="3108960" cy="248717"/>
          </a:xfrm>
          <a:prstGeom prst="rect">
            <a:avLst/>
          </a:prstGeom>
          <a:noFill/>
          <a:ln/>
        </p:spPr>
        <p:txBody>
          <a:bodyPr wrap="square" lIns="0" tIns="0" rIns="0" bIns="0" rtlCol="0" anchor="ctr"/>
          <a:lstStyle/>
          <a:p>
            <a:pPr indent="0" marL="0">
              <a:buNone/>
            </a:pPr>
            <a:r>
              <a:rPr lang="en-US" sz="900" dirty="0">
                <a:solidFill>
                  <a:srgbClr val="2B333E"/>
                </a:solidFill>
                <a:latin typeface="Poppins" pitchFamily="34" charset="0"/>
                <a:ea typeface="Poppins" pitchFamily="34" charset="-122"/>
                <a:cs typeface="Poppins" pitchFamily="34" charset="-120"/>
              </a:rPr>
              <a:t>COGS</a:t>
            </a:r>
            <a:endParaRPr lang="en-US" sz="900" dirty="0"/>
          </a:p>
        </p:txBody>
      </p:sp>
      <p:sp>
        <p:nvSpPr>
          <p:cNvPr id="46" name="Text 42"/>
          <p:cNvSpPr/>
          <p:nvPr/>
        </p:nvSpPr>
        <p:spPr>
          <a:xfrm>
            <a:off x="4023360" y="3216859"/>
            <a:ext cx="1487363" cy="248717"/>
          </a:xfrm>
          <a:prstGeom prst="rect">
            <a:avLst/>
          </a:prstGeom>
          <a:noFill/>
          <a:ln/>
        </p:spPr>
        <p:txBody>
          <a:bodyPr wrap="square" lIns="0" tIns="0" rIns="0" bIns="0" rtlCol="0" anchor="ctr"/>
          <a:lstStyle/>
          <a:p>
            <a:pPr algn="ctr" indent="0" marL="0">
              <a:buNone/>
            </a:pPr>
            <a:r>
              <a:rPr lang="en-US" sz="900" dirty="0">
                <a:solidFill>
                  <a:srgbClr val="2B333E"/>
                </a:solidFill>
                <a:latin typeface="Poppins" pitchFamily="34" charset="0"/>
                <a:ea typeface="Poppins" pitchFamily="34" charset="-122"/>
                <a:cs typeface="Poppins" pitchFamily="34" charset="-120"/>
              </a:rPr>
              <a:t>—</a:t>
            </a:r>
            <a:endParaRPr lang="en-US" sz="900" dirty="0"/>
          </a:p>
        </p:txBody>
      </p:sp>
      <p:sp>
        <p:nvSpPr>
          <p:cNvPr id="47" name="Text 43"/>
          <p:cNvSpPr/>
          <p:nvPr/>
        </p:nvSpPr>
        <p:spPr>
          <a:xfrm>
            <a:off x="5510723" y="3216859"/>
            <a:ext cx="1487363" cy="248717"/>
          </a:xfrm>
          <a:prstGeom prst="rect">
            <a:avLst/>
          </a:prstGeom>
          <a:noFill/>
          <a:ln/>
        </p:spPr>
        <p:txBody>
          <a:bodyPr wrap="square" lIns="0" tIns="0" rIns="0" bIns="0" rtlCol="0" anchor="ctr"/>
          <a:lstStyle/>
          <a:p>
            <a:pPr algn="ctr" indent="0" marL="0">
              <a:buNone/>
            </a:pPr>
            <a:r>
              <a:rPr lang="en-US" sz="900" dirty="0">
                <a:solidFill>
                  <a:srgbClr val="2B333E"/>
                </a:solidFill>
                <a:latin typeface="Poppins" pitchFamily="34" charset="0"/>
                <a:ea typeface="Poppins" pitchFamily="34" charset="-122"/>
                <a:cs typeface="Poppins" pitchFamily="34" charset="-120"/>
              </a:rPr>
              <a:t>—</a:t>
            </a:r>
            <a:endParaRPr lang="en-US" sz="900" dirty="0"/>
          </a:p>
        </p:txBody>
      </p:sp>
      <p:sp>
        <p:nvSpPr>
          <p:cNvPr id="48" name="Text 44"/>
          <p:cNvSpPr/>
          <p:nvPr/>
        </p:nvSpPr>
        <p:spPr>
          <a:xfrm>
            <a:off x="6998086" y="3216859"/>
            <a:ext cx="1487363" cy="248717"/>
          </a:xfrm>
          <a:prstGeom prst="rect">
            <a:avLst/>
          </a:prstGeom>
          <a:noFill/>
          <a:ln/>
        </p:spPr>
        <p:txBody>
          <a:bodyPr wrap="square" lIns="0" tIns="0" rIns="0" bIns="0" rtlCol="0" anchor="ctr"/>
          <a:lstStyle/>
          <a:p>
            <a:pPr algn="ctr" indent="0" marL="0">
              <a:buNone/>
            </a:pPr>
            <a:r>
              <a:rPr lang="en-US" sz="900" dirty="0">
                <a:solidFill>
                  <a:srgbClr val="2B333E"/>
                </a:solidFill>
                <a:latin typeface="Poppins" pitchFamily="34" charset="0"/>
                <a:ea typeface="Poppins" pitchFamily="34" charset="-122"/>
                <a:cs typeface="Poppins" pitchFamily="34" charset="-120"/>
              </a:rPr>
              <a:t>—</a:t>
            </a:r>
            <a:endParaRPr lang="en-US" sz="900" dirty="0"/>
          </a:p>
        </p:txBody>
      </p:sp>
      <p:sp>
        <p:nvSpPr>
          <p:cNvPr id="49" name="Text 45"/>
          <p:cNvSpPr/>
          <p:nvPr/>
        </p:nvSpPr>
        <p:spPr>
          <a:xfrm>
            <a:off x="8485449" y="3216859"/>
            <a:ext cx="1487363" cy="248717"/>
          </a:xfrm>
          <a:prstGeom prst="rect">
            <a:avLst/>
          </a:prstGeom>
          <a:noFill/>
          <a:ln/>
        </p:spPr>
        <p:txBody>
          <a:bodyPr wrap="square" lIns="0" tIns="0" rIns="0" bIns="0" rtlCol="0" anchor="ctr"/>
          <a:lstStyle/>
          <a:p>
            <a:pPr algn="ctr" indent="0" marL="0">
              <a:buNone/>
            </a:pPr>
            <a:r>
              <a:rPr lang="en-US" sz="900" dirty="0">
                <a:solidFill>
                  <a:srgbClr val="2B333E"/>
                </a:solidFill>
                <a:latin typeface="Poppins" pitchFamily="34" charset="0"/>
                <a:ea typeface="Poppins" pitchFamily="34" charset="-122"/>
                <a:cs typeface="Poppins" pitchFamily="34" charset="-120"/>
              </a:rPr>
              <a:t>—</a:t>
            </a:r>
            <a:endParaRPr lang="en-US" sz="900" dirty="0"/>
          </a:p>
        </p:txBody>
      </p:sp>
      <p:sp>
        <p:nvSpPr>
          <p:cNvPr id="50" name="Text 46"/>
          <p:cNvSpPr/>
          <p:nvPr/>
        </p:nvSpPr>
        <p:spPr>
          <a:xfrm>
            <a:off x="9972812" y="3216859"/>
            <a:ext cx="1487363" cy="248717"/>
          </a:xfrm>
          <a:prstGeom prst="rect">
            <a:avLst/>
          </a:prstGeom>
          <a:noFill/>
          <a:ln/>
        </p:spPr>
        <p:txBody>
          <a:bodyPr wrap="square" lIns="0" tIns="0" rIns="0" bIns="0" rtlCol="0" anchor="ctr"/>
          <a:lstStyle/>
          <a:p>
            <a:pPr algn="ctr" indent="0" marL="0">
              <a:buNone/>
            </a:pPr>
            <a:r>
              <a:rPr lang="en-US" sz="900" dirty="0">
                <a:solidFill>
                  <a:srgbClr val="2B333E"/>
                </a:solidFill>
                <a:latin typeface="Poppins" pitchFamily="34" charset="0"/>
                <a:ea typeface="Poppins" pitchFamily="34" charset="-122"/>
                <a:cs typeface="Poppins" pitchFamily="34" charset="-120"/>
              </a:rPr>
              <a:t>—</a:t>
            </a:r>
            <a:endParaRPr lang="en-US" sz="900" dirty="0"/>
          </a:p>
        </p:txBody>
      </p:sp>
      <p:sp>
        <p:nvSpPr>
          <p:cNvPr id="51" name="Shape 47"/>
          <p:cNvSpPr/>
          <p:nvPr/>
        </p:nvSpPr>
        <p:spPr>
          <a:xfrm>
            <a:off x="731520" y="3465576"/>
            <a:ext cx="10728655" cy="248717"/>
          </a:xfrm>
          <a:prstGeom prst="rect">
            <a:avLst/>
          </a:prstGeom>
          <a:solidFill>
            <a:srgbClr val="FDE9DE"/>
          </a:solidFill>
          <a:ln/>
        </p:spPr>
      </p:sp>
      <p:sp>
        <p:nvSpPr>
          <p:cNvPr id="52" name="Text 48"/>
          <p:cNvSpPr/>
          <p:nvPr/>
        </p:nvSpPr>
        <p:spPr>
          <a:xfrm>
            <a:off x="914400" y="3465576"/>
            <a:ext cx="3108960" cy="248717"/>
          </a:xfrm>
          <a:prstGeom prst="rect">
            <a:avLst/>
          </a:prstGeom>
          <a:noFill/>
          <a:ln/>
        </p:spPr>
        <p:txBody>
          <a:bodyPr wrap="square" lIns="0" tIns="0" rIns="0" bIns="0" rtlCol="0" anchor="ctr"/>
          <a:lstStyle/>
          <a:p>
            <a:pPr indent="0" marL="0">
              <a:buNone/>
            </a:pPr>
            <a:r>
              <a:rPr lang="en-US" sz="900" dirty="0">
                <a:solidFill>
                  <a:srgbClr val="2B333E"/>
                </a:solidFill>
                <a:latin typeface="Poppins SemiBold" pitchFamily="34" charset="0"/>
                <a:ea typeface="Poppins SemiBold" pitchFamily="34" charset="-122"/>
                <a:cs typeface="Poppins SemiBold" pitchFamily="34" charset="-120"/>
              </a:rPr>
              <a:t>Gross profit</a:t>
            </a:r>
            <a:endParaRPr lang="en-US" sz="900" dirty="0"/>
          </a:p>
        </p:txBody>
      </p:sp>
      <p:sp>
        <p:nvSpPr>
          <p:cNvPr id="53" name="Text 49"/>
          <p:cNvSpPr/>
          <p:nvPr/>
        </p:nvSpPr>
        <p:spPr>
          <a:xfrm>
            <a:off x="4023360" y="3465576"/>
            <a:ext cx="1487363" cy="248717"/>
          </a:xfrm>
          <a:prstGeom prst="rect">
            <a:avLst/>
          </a:prstGeom>
          <a:noFill/>
          <a:ln/>
        </p:spPr>
        <p:txBody>
          <a:bodyPr wrap="square" lIns="0" tIns="0" rIns="0" bIns="0" rtlCol="0" anchor="ctr"/>
          <a:lstStyle/>
          <a:p>
            <a:pPr algn="ctr" indent="0" marL="0">
              <a:buNone/>
            </a:pPr>
            <a:r>
              <a:rPr lang="en-US" sz="900" dirty="0">
                <a:solidFill>
                  <a:srgbClr val="2B333E"/>
                </a:solidFill>
                <a:latin typeface="Poppins SemiBold" pitchFamily="34" charset="0"/>
                <a:ea typeface="Poppins SemiBold" pitchFamily="34" charset="-122"/>
                <a:cs typeface="Poppins SemiBold" pitchFamily="34" charset="-120"/>
              </a:rPr>
              <a:t>—</a:t>
            </a:r>
            <a:endParaRPr lang="en-US" sz="900" dirty="0"/>
          </a:p>
        </p:txBody>
      </p:sp>
      <p:sp>
        <p:nvSpPr>
          <p:cNvPr id="54" name="Text 50"/>
          <p:cNvSpPr/>
          <p:nvPr/>
        </p:nvSpPr>
        <p:spPr>
          <a:xfrm>
            <a:off x="5510723" y="3465576"/>
            <a:ext cx="1487363" cy="248717"/>
          </a:xfrm>
          <a:prstGeom prst="rect">
            <a:avLst/>
          </a:prstGeom>
          <a:noFill/>
          <a:ln/>
        </p:spPr>
        <p:txBody>
          <a:bodyPr wrap="square" lIns="0" tIns="0" rIns="0" bIns="0" rtlCol="0" anchor="ctr"/>
          <a:lstStyle/>
          <a:p>
            <a:pPr algn="ctr" indent="0" marL="0">
              <a:buNone/>
            </a:pPr>
            <a:r>
              <a:rPr lang="en-US" sz="900" dirty="0">
                <a:solidFill>
                  <a:srgbClr val="2B333E"/>
                </a:solidFill>
                <a:latin typeface="Poppins SemiBold" pitchFamily="34" charset="0"/>
                <a:ea typeface="Poppins SemiBold" pitchFamily="34" charset="-122"/>
                <a:cs typeface="Poppins SemiBold" pitchFamily="34" charset="-120"/>
              </a:rPr>
              <a:t>—</a:t>
            </a:r>
            <a:endParaRPr lang="en-US" sz="900" dirty="0"/>
          </a:p>
        </p:txBody>
      </p:sp>
      <p:sp>
        <p:nvSpPr>
          <p:cNvPr id="55" name="Text 51"/>
          <p:cNvSpPr/>
          <p:nvPr/>
        </p:nvSpPr>
        <p:spPr>
          <a:xfrm>
            <a:off x="6998086" y="3465576"/>
            <a:ext cx="1487363" cy="248717"/>
          </a:xfrm>
          <a:prstGeom prst="rect">
            <a:avLst/>
          </a:prstGeom>
          <a:noFill/>
          <a:ln/>
        </p:spPr>
        <p:txBody>
          <a:bodyPr wrap="square" lIns="0" tIns="0" rIns="0" bIns="0" rtlCol="0" anchor="ctr"/>
          <a:lstStyle/>
          <a:p>
            <a:pPr algn="ctr" indent="0" marL="0">
              <a:buNone/>
            </a:pPr>
            <a:r>
              <a:rPr lang="en-US" sz="900" dirty="0">
                <a:solidFill>
                  <a:srgbClr val="2B333E"/>
                </a:solidFill>
                <a:latin typeface="Poppins SemiBold" pitchFamily="34" charset="0"/>
                <a:ea typeface="Poppins SemiBold" pitchFamily="34" charset="-122"/>
                <a:cs typeface="Poppins SemiBold" pitchFamily="34" charset="-120"/>
              </a:rPr>
              <a:t>—</a:t>
            </a:r>
            <a:endParaRPr lang="en-US" sz="900" dirty="0"/>
          </a:p>
        </p:txBody>
      </p:sp>
      <p:sp>
        <p:nvSpPr>
          <p:cNvPr id="56" name="Text 52"/>
          <p:cNvSpPr/>
          <p:nvPr/>
        </p:nvSpPr>
        <p:spPr>
          <a:xfrm>
            <a:off x="8485449" y="3465576"/>
            <a:ext cx="1487363" cy="248717"/>
          </a:xfrm>
          <a:prstGeom prst="rect">
            <a:avLst/>
          </a:prstGeom>
          <a:noFill/>
          <a:ln/>
        </p:spPr>
        <p:txBody>
          <a:bodyPr wrap="square" lIns="0" tIns="0" rIns="0" bIns="0" rtlCol="0" anchor="ctr"/>
          <a:lstStyle/>
          <a:p>
            <a:pPr algn="ctr" indent="0" marL="0">
              <a:buNone/>
            </a:pPr>
            <a:r>
              <a:rPr lang="en-US" sz="900" dirty="0">
                <a:solidFill>
                  <a:srgbClr val="2B333E"/>
                </a:solidFill>
                <a:latin typeface="Poppins SemiBold" pitchFamily="34" charset="0"/>
                <a:ea typeface="Poppins SemiBold" pitchFamily="34" charset="-122"/>
                <a:cs typeface="Poppins SemiBold" pitchFamily="34" charset="-120"/>
              </a:rPr>
              <a:t>—</a:t>
            </a:r>
            <a:endParaRPr lang="en-US" sz="900" dirty="0"/>
          </a:p>
        </p:txBody>
      </p:sp>
      <p:sp>
        <p:nvSpPr>
          <p:cNvPr id="57" name="Text 53"/>
          <p:cNvSpPr/>
          <p:nvPr/>
        </p:nvSpPr>
        <p:spPr>
          <a:xfrm>
            <a:off x="9972812" y="3465576"/>
            <a:ext cx="1487363" cy="248717"/>
          </a:xfrm>
          <a:prstGeom prst="rect">
            <a:avLst/>
          </a:prstGeom>
          <a:noFill/>
          <a:ln/>
        </p:spPr>
        <p:txBody>
          <a:bodyPr wrap="square" lIns="0" tIns="0" rIns="0" bIns="0" rtlCol="0" anchor="ctr"/>
          <a:lstStyle/>
          <a:p>
            <a:pPr algn="ctr" indent="0" marL="0">
              <a:buNone/>
            </a:pPr>
            <a:r>
              <a:rPr lang="en-US" sz="900" dirty="0">
                <a:solidFill>
                  <a:srgbClr val="2B333E"/>
                </a:solidFill>
                <a:latin typeface="Poppins SemiBold" pitchFamily="34" charset="0"/>
                <a:ea typeface="Poppins SemiBold" pitchFamily="34" charset="-122"/>
                <a:cs typeface="Poppins SemiBold" pitchFamily="34" charset="-120"/>
              </a:rPr>
              <a:t>—</a:t>
            </a:r>
            <a:endParaRPr lang="en-US" sz="900" dirty="0"/>
          </a:p>
        </p:txBody>
      </p:sp>
      <p:sp>
        <p:nvSpPr>
          <p:cNvPr id="58" name="Text 54"/>
          <p:cNvSpPr/>
          <p:nvPr/>
        </p:nvSpPr>
        <p:spPr>
          <a:xfrm>
            <a:off x="914400" y="3714293"/>
            <a:ext cx="3108960" cy="248717"/>
          </a:xfrm>
          <a:prstGeom prst="rect">
            <a:avLst/>
          </a:prstGeom>
          <a:noFill/>
          <a:ln/>
        </p:spPr>
        <p:txBody>
          <a:bodyPr wrap="square" lIns="0" tIns="0" rIns="0" bIns="0" rtlCol="0" anchor="ctr"/>
          <a:lstStyle/>
          <a:p>
            <a:pPr indent="0" marL="0">
              <a:buNone/>
            </a:pPr>
            <a:r>
              <a:rPr lang="en-US" sz="900" i="1" dirty="0">
                <a:solidFill>
                  <a:srgbClr val="6C7683"/>
                </a:solidFill>
                <a:latin typeface="Poppins" pitchFamily="34" charset="0"/>
                <a:ea typeface="Poppins" pitchFamily="34" charset="-122"/>
                <a:cs typeface="Poppins" pitchFamily="34" charset="-120"/>
              </a:rPr>
              <a:t>gross margin %</a:t>
            </a:r>
            <a:endParaRPr lang="en-US" sz="900" dirty="0"/>
          </a:p>
        </p:txBody>
      </p:sp>
      <p:sp>
        <p:nvSpPr>
          <p:cNvPr id="59" name="Text 55"/>
          <p:cNvSpPr/>
          <p:nvPr/>
        </p:nvSpPr>
        <p:spPr>
          <a:xfrm>
            <a:off x="4023360" y="3714293"/>
            <a:ext cx="1487363" cy="248717"/>
          </a:xfrm>
          <a:prstGeom prst="rect">
            <a:avLst/>
          </a:prstGeom>
          <a:noFill/>
          <a:ln/>
        </p:spPr>
        <p:txBody>
          <a:bodyPr wrap="square" lIns="0" tIns="0" rIns="0" bIns="0" rtlCol="0" anchor="ctr"/>
          <a:lstStyle/>
          <a:p>
            <a:pPr algn="ctr" indent="0" marL="0">
              <a:buNone/>
            </a:pPr>
            <a:r>
              <a:rPr lang="en-US" sz="900" i="1" dirty="0">
                <a:solidFill>
                  <a:srgbClr val="6C7683"/>
                </a:solidFill>
                <a:latin typeface="Poppins" pitchFamily="34" charset="0"/>
                <a:ea typeface="Poppins" pitchFamily="34" charset="-122"/>
                <a:cs typeface="Poppins" pitchFamily="34" charset="-120"/>
              </a:rPr>
              <a:t>—</a:t>
            </a:r>
            <a:endParaRPr lang="en-US" sz="900" dirty="0"/>
          </a:p>
        </p:txBody>
      </p:sp>
      <p:sp>
        <p:nvSpPr>
          <p:cNvPr id="60" name="Text 56"/>
          <p:cNvSpPr/>
          <p:nvPr/>
        </p:nvSpPr>
        <p:spPr>
          <a:xfrm>
            <a:off x="5510723" y="3714293"/>
            <a:ext cx="1487363" cy="248717"/>
          </a:xfrm>
          <a:prstGeom prst="rect">
            <a:avLst/>
          </a:prstGeom>
          <a:noFill/>
          <a:ln/>
        </p:spPr>
        <p:txBody>
          <a:bodyPr wrap="square" lIns="0" tIns="0" rIns="0" bIns="0" rtlCol="0" anchor="ctr"/>
          <a:lstStyle/>
          <a:p>
            <a:pPr algn="ctr" indent="0" marL="0">
              <a:buNone/>
            </a:pPr>
            <a:r>
              <a:rPr lang="en-US" sz="900" i="1" dirty="0">
                <a:solidFill>
                  <a:srgbClr val="6C7683"/>
                </a:solidFill>
                <a:latin typeface="Poppins" pitchFamily="34" charset="0"/>
                <a:ea typeface="Poppins" pitchFamily="34" charset="-122"/>
                <a:cs typeface="Poppins" pitchFamily="34" charset="-120"/>
              </a:rPr>
              <a:t>—</a:t>
            </a:r>
            <a:endParaRPr lang="en-US" sz="900" dirty="0"/>
          </a:p>
        </p:txBody>
      </p:sp>
      <p:sp>
        <p:nvSpPr>
          <p:cNvPr id="61" name="Text 57"/>
          <p:cNvSpPr/>
          <p:nvPr/>
        </p:nvSpPr>
        <p:spPr>
          <a:xfrm>
            <a:off x="6998086" y="3714293"/>
            <a:ext cx="1487363" cy="248717"/>
          </a:xfrm>
          <a:prstGeom prst="rect">
            <a:avLst/>
          </a:prstGeom>
          <a:noFill/>
          <a:ln/>
        </p:spPr>
        <p:txBody>
          <a:bodyPr wrap="square" lIns="0" tIns="0" rIns="0" bIns="0" rtlCol="0" anchor="ctr"/>
          <a:lstStyle/>
          <a:p>
            <a:pPr algn="ctr" indent="0" marL="0">
              <a:buNone/>
            </a:pPr>
            <a:r>
              <a:rPr lang="en-US" sz="900" i="1" dirty="0">
                <a:solidFill>
                  <a:srgbClr val="6C7683"/>
                </a:solidFill>
                <a:latin typeface="Poppins" pitchFamily="34" charset="0"/>
                <a:ea typeface="Poppins" pitchFamily="34" charset="-122"/>
                <a:cs typeface="Poppins" pitchFamily="34" charset="-120"/>
              </a:rPr>
              <a:t>—</a:t>
            </a:r>
            <a:endParaRPr lang="en-US" sz="900" dirty="0"/>
          </a:p>
        </p:txBody>
      </p:sp>
      <p:sp>
        <p:nvSpPr>
          <p:cNvPr id="62" name="Text 58"/>
          <p:cNvSpPr/>
          <p:nvPr/>
        </p:nvSpPr>
        <p:spPr>
          <a:xfrm>
            <a:off x="8485449" y="3714293"/>
            <a:ext cx="1487363" cy="248717"/>
          </a:xfrm>
          <a:prstGeom prst="rect">
            <a:avLst/>
          </a:prstGeom>
          <a:noFill/>
          <a:ln/>
        </p:spPr>
        <p:txBody>
          <a:bodyPr wrap="square" lIns="0" tIns="0" rIns="0" bIns="0" rtlCol="0" anchor="ctr"/>
          <a:lstStyle/>
          <a:p>
            <a:pPr algn="ctr" indent="0" marL="0">
              <a:buNone/>
            </a:pPr>
            <a:r>
              <a:rPr lang="en-US" sz="900" i="1" dirty="0">
                <a:solidFill>
                  <a:srgbClr val="6C7683"/>
                </a:solidFill>
                <a:latin typeface="Poppins" pitchFamily="34" charset="0"/>
                <a:ea typeface="Poppins" pitchFamily="34" charset="-122"/>
                <a:cs typeface="Poppins" pitchFamily="34" charset="-120"/>
              </a:rPr>
              <a:t>—</a:t>
            </a:r>
            <a:endParaRPr lang="en-US" sz="900" dirty="0"/>
          </a:p>
        </p:txBody>
      </p:sp>
      <p:sp>
        <p:nvSpPr>
          <p:cNvPr id="63" name="Text 59"/>
          <p:cNvSpPr/>
          <p:nvPr/>
        </p:nvSpPr>
        <p:spPr>
          <a:xfrm>
            <a:off x="9972812" y="3714293"/>
            <a:ext cx="1487363" cy="248717"/>
          </a:xfrm>
          <a:prstGeom prst="rect">
            <a:avLst/>
          </a:prstGeom>
          <a:noFill/>
          <a:ln/>
        </p:spPr>
        <p:txBody>
          <a:bodyPr wrap="square" lIns="0" tIns="0" rIns="0" bIns="0" rtlCol="0" anchor="ctr"/>
          <a:lstStyle/>
          <a:p>
            <a:pPr algn="ctr" indent="0" marL="0">
              <a:buNone/>
            </a:pPr>
            <a:r>
              <a:rPr lang="en-US" sz="900" i="1" dirty="0">
                <a:solidFill>
                  <a:srgbClr val="6C7683"/>
                </a:solidFill>
                <a:latin typeface="Poppins" pitchFamily="34" charset="0"/>
                <a:ea typeface="Poppins" pitchFamily="34" charset="-122"/>
                <a:cs typeface="Poppins" pitchFamily="34" charset="-120"/>
              </a:rPr>
              <a:t>—</a:t>
            </a:r>
            <a:endParaRPr lang="en-US" sz="900" dirty="0"/>
          </a:p>
        </p:txBody>
      </p:sp>
      <p:sp>
        <p:nvSpPr>
          <p:cNvPr id="64" name="Shape 60"/>
          <p:cNvSpPr/>
          <p:nvPr/>
        </p:nvSpPr>
        <p:spPr>
          <a:xfrm>
            <a:off x="731520" y="3963010"/>
            <a:ext cx="10728655" cy="248717"/>
          </a:xfrm>
          <a:prstGeom prst="rect">
            <a:avLst/>
          </a:prstGeom>
          <a:solidFill>
            <a:srgbClr val="F4F6F8"/>
          </a:solidFill>
          <a:ln/>
        </p:spPr>
      </p:sp>
      <p:sp>
        <p:nvSpPr>
          <p:cNvPr id="65" name="Text 61"/>
          <p:cNvSpPr/>
          <p:nvPr/>
        </p:nvSpPr>
        <p:spPr>
          <a:xfrm>
            <a:off x="914400" y="3963010"/>
            <a:ext cx="3108960" cy="248717"/>
          </a:xfrm>
          <a:prstGeom prst="rect">
            <a:avLst/>
          </a:prstGeom>
          <a:noFill/>
          <a:ln/>
        </p:spPr>
        <p:txBody>
          <a:bodyPr wrap="square" lIns="0" tIns="0" rIns="0" bIns="0" rtlCol="0" anchor="ctr"/>
          <a:lstStyle/>
          <a:p>
            <a:pPr indent="0" marL="0">
              <a:buNone/>
            </a:pPr>
            <a:r>
              <a:rPr lang="en-US" sz="900" dirty="0">
                <a:solidFill>
                  <a:srgbClr val="2B333E"/>
                </a:solidFill>
                <a:latin typeface="Poppins" pitchFamily="34" charset="0"/>
                <a:ea typeface="Poppins" pitchFamily="34" charset="-122"/>
                <a:cs typeface="Poppins" pitchFamily="34" charset="-120"/>
              </a:rPr>
              <a:t>Personnel expenses</a:t>
            </a:r>
            <a:endParaRPr lang="en-US" sz="900" dirty="0"/>
          </a:p>
        </p:txBody>
      </p:sp>
      <p:sp>
        <p:nvSpPr>
          <p:cNvPr id="66" name="Text 62"/>
          <p:cNvSpPr/>
          <p:nvPr/>
        </p:nvSpPr>
        <p:spPr>
          <a:xfrm>
            <a:off x="4023360" y="3963010"/>
            <a:ext cx="1487363" cy="248717"/>
          </a:xfrm>
          <a:prstGeom prst="rect">
            <a:avLst/>
          </a:prstGeom>
          <a:noFill/>
          <a:ln/>
        </p:spPr>
        <p:txBody>
          <a:bodyPr wrap="square" lIns="0" tIns="0" rIns="0" bIns="0" rtlCol="0" anchor="ctr"/>
          <a:lstStyle/>
          <a:p>
            <a:pPr algn="ctr" indent="0" marL="0">
              <a:buNone/>
            </a:pPr>
            <a:r>
              <a:rPr lang="en-US" sz="900" dirty="0">
                <a:solidFill>
                  <a:srgbClr val="2B333E"/>
                </a:solidFill>
                <a:latin typeface="Poppins" pitchFamily="34" charset="0"/>
                <a:ea typeface="Poppins" pitchFamily="34" charset="-122"/>
                <a:cs typeface="Poppins" pitchFamily="34" charset="-120"/>
              </a:rPr>
              <a:t>—</a:t>
            </a:r>
            <a:endParaRPr lang="en-US" sz="900" dirty="0"/>
          </a:p>
        </p:txBody>
      </p:sp>
      <p:sp>
        <p:nvSpPr>
          <p:cNvPr id="67" name="Text 63"/>
          <p:cNvSpPr/>
          <p:nvPr/>
        </p:nvSpPr>
        <p:spPr>
          <a:xfrm>
            <a:off x="5510723" y="3963010"/>
            <a:ext cx="1487363" cy="248717"/>
          </a:xfrm>
          <a:prstGeom prst="rect">
            <a:avLst/>
          </a:prstGeom>
          <a:noFill/>
          <a:ln/>
        </p:spPr>
        <p:txBody>
          <a:bodyPr wrap="square" lIns="0" tIns="0" rIns="0" bIns="0" rtlCol="0" anchor="ctr"/>
          <a:lstStyle/>
          <a:p>
            <a:pPr algn="ctr" indent="0" marL="0">
              <a:buNone/>
            </a:pPr>
            <a:r>
              <a:rPr lang="en-US" sz="900" dirty="0">
                <a:solidFill>
                  <a:srgbClr val="2B333E"/>
                </a:solidFill>
                <a:latin typeface="Poppins" pitchFamily="34" charset="0"/>
                <a:ea typeface="Poppins" pitchFamily="34" charset="-122"/>
                <a:cs typeface="Poppins" pitchFamily="34" charset="-120"/>
              </a:rPr>
              <a:t>—</a:t>
            </a:r>
            <a:endParaRPr lang="en-US" sz="900" dirty="0"/>
          </a:p>
        </p:txBody>
      </p:sp>
      <p:sp>
        <p:nvSpPr>
          <p:cNvPr id="68" name="Text 64"/>
          <p:cNvSpPr/>
          <p:nvPr/>
        </p:nvSpPr>
        <p:spPr>
          <a:xfrm>
            <a:off x="6998086" y="3963010"/>
            <a:ext cx="1487363" cy="248717"/>
          </a:xfrm>
          <a:prstGeom prst="rect">
            <a:avLst/>
          </a:prstGeom>
          <a:noFill/>
          <a:ln/>
        </p:spPr>
        <p:txBody>
          <a:bodyPr wrap="square" lIns="0" tIns="0" rIns="0" bIns="0" rtlCol="0" anchor="ctr"/>
          <a:lstStyle/>
          <a:p>
            <a:pPr algn="ctr" indent="0" marL="0">
              <a:buNone/>
            </a:pPr>
            <a:r>
              <a:rPr lang="en-US" sz="900" dirty="0">
                <a:solidFill>
                  <a:srgbClr val="2B333E"/>
                </a:solidFill>
                <a:latin typeface="Poppins" pitchFamily="34" charset="0"/>
                <a:ea typeface="Poppins" pitchFamily="34" charset="-122"/>
                <a:cs typeface="Poppins" pitchFamily="34" charset="-120"/>
              </a:rPr>
              <a:t>—</a:t>
            </a:r>
            <a:endParaRPr lang="en-US" sz="900" dirty="0"/>
          </a:p>
        </p:txBody>
      </p:sp>
      <p:sp>
        <p:nvSpPr>
          <p:cNvPr id="69" name="Text 65"/>
          <p:cNvSpPr/>
          <p:nvPr/>
        </p:nvSpPr>
        <p:spPr>
          <a:xfrm>
            <a:off x="8485449" y="3963010"/>
            <a:ext cx="1487363" cy="248717"/>
          </a:xfrm>
          <a:prstGeom prst="rect">
            <a:avLst/>
          </a:prstGeom>
          <a:noFill/>
          <a:ln/>
        </p:spPr>
        <p:txBody>
          <a:bodyPr wrap="square" lIns="0" tIns="0" rIns="0" bIns="0" rtlCol="0" anchor="ctr"/>
          <a:lstStyle/>
          <a:p>
            <a:pPr algn="ctr" indent="0" marL="0">
              <a:buNone/>
            </a:pPr>
            <a:r>
              <a:rPr lang="en-US" sz="900" dirty="0">
                <a:solidFill>
                  <a:srgbClr val="2B333E"/>
                </a:solidFill>
                <a:latin typeface="Poppins" pitchFamily="34" charset="0"/>
                <a:ea typeface="Poppins" pitchFamily="34" charset="-122"/>
                <a:cs typeface="Poppins" pitchFamily="34" charset="-120"/>
              </a:rPr>
              <a:t>—</a:t>
            </a:r>
            <a:endParaRPr lang="en-US" sz="900" dirty="0"/>
          </a:p>
        </p:txBody>
      </p:sp>
      <p:sp>
        <p:nvSpPr>
          <p:cNvPr id="70" name="Text 66"/>
          <p:cNvSpPr/>
          <p:nvPr/>
        </p:nvSpPr>
        <p:spPr>
          <a:xfrm>
            <a:off x="9972812" y="3963010"/>
            <a:ext cx="1487363" cy="248717"/>
          </a:xfrm>
          <a:prstGeom prst="rect">
            <a:avLst/>
          </a:prstGeom>
          <a:noFill/>
          <a:ln/>
        </p:spPr>
        <p:txBody>
          <a:bodyPr wrap="square" lIns="0" tIns="0" rIns="0" bIns="0" rtlCol="0" anchor="ctr"/>
          <a:lstStyle/>
          <a:p>
            <a:pPr algn="ctr" indent="0" marL="0">
              <a:buNone/>
            </a:pPr>
            <a:r>
              <a:rPr lang="en-US" sz="900" dirty="0">
                <a:solidFill>
                  <a:srgbClr val="2B333E"/>
                </a:solidFill>
                <a:latin typeface="Poppins" pitchFamily="34" charset="0"/>
                <a:ea typeface="Poppins" pitchFamily="34" charset="-122"/>
                <a:cs typeface="Poppins" pitchFamily="34" charset="-120"/>
              </a:rPr>
              <a:t>—</a:t>
            </a:r>
            <a:endParaRPr lang="en-US" sz="900" dirty="0"/>
          </a:p>
        </p:txBody>
      </p:sp>
      <p:sp>
        <p:nvSpPr>
          <p:cNvPr id="71" name="Text 67"/>
          <p:cNvSpPr/>
          <p:nvPr/>
        </p:nvSpPr>
        <p:spPr>
          <a:xfrm>
            <a:off x="914400" y="4211726"/>
            <a:ext cx="3108960" cy="248717"/>
          </a:xfrm>
          <a:prstGeom prst="rect">
            <a:avLst/>
          </a:prstGeom>
          <a:noFill/>
          <a:ln/>
        </p:spPr>
        <p:txBody>
          <a:bodyPr wrap="square" lIns="0" tIns="0" rIns="0" bIns="0" rtlCol="0" anchor="ctr"/>
          <a:lstStyle/>
          <a:p>
            <a:pPr indent="0" marL="0">
              <a:buNone/>
            </a:pPr>
            <a:r>
              <a:rPr lang="en-US" sz="900" dirty="0">
                <a:solidFill>
                  <a:srgbClr val="2B333E"/>
                </a:solidFill>
                <a:latin typeface="Poppins" pitchFamily="34" charset="0"/>
                <a:ea typeface="Poppins" pitchFamily="34" charset="-122"/>
                <a:cs typeface="Poppins" pitchFamily="34" charset="-120"/>
              </a:rPr>
              <a:t>General &amp; administrative</a:t>
            </a:r>
            <a:endParaRPr lang="en-US" sz="900" dirty="0"/>
          </a:p>
        </p:txBody>
      </p:sp>
      <p:sp>
        <p:nvSpPr>
          <p:cNvPr id="72" name="Text 68"/>
          <p:cNvSpPr/>
          <p:nvPr/>
        </p:nvSpPr>
        <p:spPr>
          <a:xfrm>
            <a:off x="4023360" y="4211726"/>
            <a:ext cx="1487363" cy="248717"/>
          </a:xfrm>
          <a:prstGeom prst="rect">
            <a:avLst/>
          </a:prstGeom>
          <a:noFill/>
          <a:ln/>
        </p:spPr>
        <p:txBody>
          <a:bodyPr wrap="square" lIns="0" tIns="0" rIns="0" bIns="0" rtlCol="0" anchor="ctr"/>
          <a:lstStyle/>
          <a:p>
            <a:pPr algn="ctr" indent="0" marL="0">
              <a:buNone/>
            </a:pPr>
            <a:r>
              <a:rPr lang="en-US" sz="900" dirty="0">
                <a:solidFill>
                  <a:srgbClr val="2B333E"/>
                </a:solidFill>
                <a:latin typeface="Poppins" pitchFamily="34" charset="0"/>
                <a:ea typeface="Poppins" pitchFamily="34" charset="-122"/>
                <a:cs typeface="Poppins" pitchFamily="34" charset="-120"/>
              </a:rPr>
              <a:t>—</a:t>
            </a:r>
            <a:endParaRPr lang="en-US" sz="900" dirty="0"/>
          </a:p>
        </p:txBody>
      </p:sp>
      <p:sp>
        <p:nvSpPr>
          <p:cNvPr id="73" name="Text 69"/>
          <p:cNvSpPr/>
          <p:nvPr/>
        </p:nvSpPr>
        <p:spPr>
          <a:xfrm>
            <a:off x="5510723" y="4211726"/>
            <a:ext cx="1487363" cy="248717"/>
          </a:xfrm>
          <a:prstGeom prst="rect">
            <a:avLst/>
          </a:prstGeom>
          <a:noFill/>
          <a:ln/>
        </p:spPr>
        <p:txBody>
          <a:bodyPr wrap="square" lIns="0" tIns="0" rIns="0" bIns="0" rtlCol="0" anchor="ctr"/>
          <a:lstStyle/>
          <a:p>
            <a:pPr algn="ctr" indent="0" marL="0">
              <a:buNone/>
            </a:pPr>
            <a:r>
              <a:rPr lang="en-US" sz="900" dirty="0">
                <a:solidFill>
                  <a:srgbClr val="2B333E"/>
                </a:solidFill>
                <a:latin typeface="Poppins" pitchFamily="34" charset="0"/>
                <a:ea typeface="Poppins" pitchFamily="34" charset="-122"/>
                <a:cs typeface="Poppins" pitchFamily="34" charset="-120"/>
              </a:rPr>
              <a:t>—</a:t>
            </a:r>
            <a:endParaRPr lang="en-US" sz="900" dirty="0"/>
          </a:p>
        </p:txBody>
      </p:sp>
      <p:sp>
        <p:nvSpPr>
          <p:cNvPr id="74" name="Text 70"/>
          <p:cNvSpPr/>
          <p:nvPr/>
        </p:nvSpPr>
        <p:spPr>
          <a:xfrm>
            <a:off x="6998086" y="4211726"/>
            <a:ext cx="1487363" cy="248717"/>
          </a:xfrm>
          <a:prstGeom prst="rect">
            <a:avLst/>
          </a:prstGeom>
          <a:noFill/>
          <a:ln/>
        </p:spPr>
        <p:txBody>
          <a:bodyPr wrap="square" lIns="0" tIns="0" rIns="0" bIns="0" rtlCol="0" anchor="ctr"/>
          <a:lstStyle/>
          <a:p>
            <a:pPr algn="ctr" indent="0" marL="0">
              <a:buNone/>
            </a:pPr>
            <a:r>
              <a:rPr lang="en-US" sz="900" dirty="0">
                <a:solidFill>
                  <a:srgbClr val="2B333E"/>
                </a:solidFill>
                <a:latin typeface="Poppins" pitchFamily="34" charset="0"/>
                <a:ea typeface="Poppins" pitchFamily="34" charset="-122"/>
                <a:cs typeface="Poppins" pitchFamily="34" charset="-120"/>
              </a:rPr>
              <a:t>—</a:t>
            </a:r>
            <a:endParaRPr lang="en-US" sz="900" dirty="0"/>
          </a:p>
        </p:txBody>
      </p:sp>
      <p:sp>
        <p:nvSpPr>
          <p:cNvPr id="75" name="Text 71"/>
          <p:cNvSpPr/>
          <p:nvPr/>
        </p:nvSpPr>
        <p:spPr>
          <a:xfrm>
            <a:off x="8485449" y="4211726"/>
            <a:ext cx="1487363" cy="248717"/>
          </a:xfrm>
          <a:prstGeom prst="rect">
            <a:avLst/>
          </a:prstGeom>
          <a:noFill/>
          <a:ln/>
        </p:spPr>
        <p:txBody>
          <a:bodyPr wrap="square" lIns="0" tIns="0" rIns="0" bIns="0" rtlCol="0" anchor="ctr"/>
          <a:lstStyle/>
          <a:p>
            <a:pPr algn="ctr" indent="0" marL="0">
              <a:buNone/>
            </a:pPr>
            <a:r>
              <a:rPr lang="en-US" sz="900" dirty="0">
                <a:solidFill>
                  <a:srgbClr val="2B333E"/>
                </a:solidFill>
                <a:latin typeface="Poppins" pitchFamily="34" charset="0"/>
                <a:ea typeface="Poppins" pitchFamily="34" charset="-122"/>
                <a:cs typeface="Poppins" pitchFamily="34" charset="-120"/>
              </a:rPr>
              <a:t>—</a:t>
            </a:r>
            <a:endParaRPr lang="en-US" sz="900" dirty="0"/>
          </a:p>
        </p:txBody>
      </p:sp>
      <p:sp>
        <p:nvSpPr>
          <p:cNvPr id="76" name="Text 72"/>
          <p:cNvSpPr/>
          <p:nvPr/>
        </p:nvSpPr>
        <p:spPr>
          <a:xfrm>
            <a:off x="9972812" y="4211726"/>
            <a:ext cx="1487363" cy="248717"/>
          </a:xfrm>
          <a:prstGeom prst="rect">
            <a:avLst/>
          </a:prstGeom>
          <a:noFill/>
          <a:ln/>
        </p:spPr>
        <p:txBody>
          <a:bodyPr wrap="square" lIns="0" tIns="0" rIns="0" bIns="0" rtlCol="0" anchor="ctr"/>
          <a:lstStyle/>
          <a:p>
            <a:pPr algn="ctr" indent="0" marL="0">
              <a:buNone/>
            </a:pPr>
            <a:r>
              <a:rPr lang="en-US" sz="900" dirty="0">
                <a:solidFill>
                  <a:srgbClr val="2B333E"/>
                </a:solidFill>
                <a:latin typeface="Poppins" pitchFamily="34" charset="0"/>
                <a:ea typeface="Poppins" pitchFamily="34" charset="-122"/>
                <a:cs typeface="Poppins" pitchFamily="34" charset="-120"/>
              </a:rPr>
              <a:t>—</a:t>
            </a:r>
            <a:endParaRPr lang="en-US" sz="900" dirty="0"/>
          </a:p>
        </p:txBody>
      </p:sp>
      <p:sp>
        <p:nvSpPr>
          <p:cNvPr id="77" name="Shape 73"/>
          <p:cNvSpPr/>
          <p:nvPr/>
        </p:nvSpPr>
        <p:spPr>
          <a:xfrm>
            <a:off x="731520" y="4460443"/>
            <a:ext cx="10728655" cy="248717"/>
          </a:xfrm>
          <a:prstGeom prst="rect">
            <a:avLst/>
          </a:prstGeom>
          <a:solidFill>
            <a:srgbClr val="F4F6F8"/>
          </a:solidFill>
          <a:ln/>
        </p:spPr>
      </p:sp>
      <p:sp>
        <p:nvSpPr>
          <p:cNvPr id="78" name="Text 74"/>
          <p:cNvSpPr/>
          <p:nvPr/>
        </p:nvSpPr>
        <p:spPr>
          <a:xfrm>
            <a:off x="914400" y="4460443"/>
            <a:ext cx="3108960" cy="248717"/>
          </a:xfrm>
          <a:prstGeom prst="rect">
            <a:avLst/>
          </a:prstGeom>
          <a:noFill/>
          <a:ln/>
        </p:spPr>
        <p:txBody>
          <a:bodyPr wrap="square" lIns="0" tIns="0" rIns="0" bIns="0" rtlCol="0" anchor="ctr"/>
          <a:lstStyle/>
          <a:p>
            <a:pPr indent="0" marL="0">
              <a:buNone/>
            </a:pPr>
            <a:r>
              <a:rPr lang="en-US" sz="900" dirty="0">
                <a:solidFill>
                  <a:srgbClr val="2B333E"/>
                </a:solidFill>
                <a:latin typeface="Poppins" pitchFamily="34" charset="0"/>
                <a:ea typeface="Poppins" pitchFamily="34" charset="-122"/>
                <a:cs typeface="Poppins" pitchFamily="34" charset="-120"/>
              </a:rPr>
              <a:t>Selling expenses</a:t>
            </a:r>
            <a:endParaRPr lang="en-US" sz="900" dirty="0"/>
          </a:p>
        </p:txBody>
      </p:sp>
      <p:sp>
        <p:nvSpPr>
          <p:cNvPr id="79" name="Text 75"/>
          <p:cNvSpPr/>
          <p:nvPr/>
        </p:nvSpPr>
        <p:spPr>
          <a:xfrm>
            <a:off x="4023360" y="4460443"/>
            <a:ext cx="1487363" cy="248717"/>
          </a:xfrm>
          <a:prstGeom prst="rect">
            <a:avLst/>
          </a:prstGeom>
          <a:noFill/>
          <a:ln/>
        </p:spPr>
        <p:txBody>
          <a:bodyPr wrap="square" lIns="0" tIns="0" rIns="0" bIns="0" rtlCol="0" anchor="ctr"/>
          <a:lstStyle/>
          <a:p>
            <a:pPr algn="ctr" indent="0" marL="0">
              <a:buNone/>
            </a:pPr>
            <a:r>
              <a:rPr lang="en-US" sz="900" dirty="0">
                <a:solidFill>
                  <a:srgbClr val="2B333E"/>
                </a:solidFill>
                <a:latin typeface="Poppins" pitchFamily="34" charset="0"/>
                <a:ea typeface="Poppins" pitchFamily="34" charset="-122"/>
                <a:cs typeface="Poppins" pitchFamily="34" charset="-120"/>
              </a:rPr>
              <a:t>—</a:t>
            </a:r>
            <a:endParaRPr lang="en-US" sz="900" dirty="0"/>
          </a:p>
        </p:txBody>
      </p:sp>
      <p:sp>
        <p:nvSpPr>
          <p:cNvPr id="80" name="Text 76"/>
          <p:cNvSpPr/>
          <p:nvPr/>
        </p:nvSpPr>
        <p:spPr>
          <a:xfrm>
            <a:off x="5510723" y="4460443"/>
            <a:ext cx="1487363" cy="248717"/>
          </a:xfrm>
          <a:prstGeom prst="rect">
            <a:avLst/>
          </a:prstGeom>
          <a:noFill/>
          <a:ln/>
        </p:spPr>
        <p:txBody>
          <a:bodyPr wrap="square" lIns="0" tIns="0" rIns="0" bIns="0" rtlCol="0" anchor="ctr"/>
          <a:lstStyle/>
          <a:p>
            <a:pPr algn="ctr" indent="0" marL="0">
              <a:buNone/>
            </a:pPr>
            <a:r>
              <a:rPr lang="en-US" sz="900" dirty="0">
                <a:solidFill>
                  <a:srgbClr val="2B333E"/>
                </a:solidFill>
                <a:latin typeface="Poppins" pitchFamily="34" charset="0"/>
                <a:ea typeface="Poppins" pitchFamily="34" charset="-122"/>
                <a:cs typeface="Poppins" pitchFamily="34" charset="-120"/>
              </a:rPr>
              <a:t>—</a:t>
            </a:r>
            <a:endParaRPr lang="en-US" sz="900" dirty="0"/>
          </a:p>
        </p:txBody>
      </p:sp>
      <p:sp>
        <p:nvSpPr>
          <p:cNvPr id="81" name="Text 77"/>
          <p:cNvSpPr/>
          <p:nvPr/>
        </p:nvSpPr>
        <p:spPr>
          <a:xfrm>
            <a:off x="6998086" y="4460443"/>
            <a:ext cx="1487363" cy="248717"/>
          </a:xfrm>
          <a:prstGeom prst="rect">
            <a:avLst/>
          </a:prstGeom>
          <a:noFill/>
          <a:ln/>
        </p:spPr>
        <p:txBody>
          <a:bodyPr wrap="square" lIns="0" tIns="0" rIns="0" bIns="0" rtlCol="0" anchor="ctr"/>
          <a:lstStyle/>
          <a:p>
            <a:pPr algn="ctr" indent="0" marL="0">
              <a:buNone/>
            </a:pPr>
            <a:r>
              <a:rPr lang="en-US" sz="900" dirty="0">
                <a:solidFill>
                  <a:srgbClr val="2B333E"/>
                </a:solidFill>
                <a:latin typeface="Poppins" pitchFamily="34" charset="0"/>
                <a:ea typeface="Poppins" pitchFamily="34" charset="-122"/>
                <a:cs typeface="Poppins" pitchFamily="34" charset="-120"/>
              </a:rPr>
              <a:t>—</a:t>
            </a:r>
            <a:endParaRPr lang="en-US" sz="900" dirty="0"/>
          </a:p>
        </p:txBody>
      </p:sp>
      <p:sp>
        <p:nvSpPr>
          <p:cNvPr id="82" name="Text 78"/>
          <p:cNvSpPr/>
          <p:nvPr/>
        </p:nvSpPr>
        <p:spPr>
          <a:xfrm>
            <a:off x="8485449" y="4460443"/>
            <a:ext cx="1487363" cy="248717"/>
          </a:xfrm>
          <a:prstGeom prst="rect">
            <a:avLst/>
          </a:prstGeom>
          <a:noFill/>
          <a:ln/>
        </p:spPr>
        <p:txBody>
          <a:bodyPr wrap="square" lIns="0" tIns="0" rIns="0" bIns="0" rtlCol="0" anchor="ctr"/>
          <a:lstStyle/>
          <a:p>
            <a:pPr algn="ctr" indent="0" marL="0">
              <a:buNone/>
            </a:pPr>
            <a:r>
              <a:rPr lang="en-US" sz="900" dirty="0">
                <a:solidFill>
                  <a:srgbClr val="2B333E"/>
                </a:solidFill>
                <a:latin typeface="Poppins" pitchFamily="34" charset="0"/>
                <a:ea typeface="Poppins" pitchFamily="34" charset="-122"/>
                <a:cs typeface="Poppins" pitchFamily="34" charset="-120"/>
              </a:rPr>
              <a:t>—</a:t>
            </a:r>
            <a:endParaRPr lang="en-US" sz="900" dirty="0"/>
          </a:p>
        </p:txBody>
      </p:sp>
      <p:sp>
        <p:nvSpPr>
          <p:cNvPr id="83" name="Text 79"/>
          <p:cNvSpPr/>
          <p:nvPr/>
        </p:nvSpPr>
        <p:spPr>
          <a:xfrm>
            <a:off x="9972812" y="4460443"/>
            <a:ext cx="1487363" cy="248717"/>
          </a:xfrm>
          <a:prstGeom prst="rect">
            <a:avLst/>
          </a:prstGeom>
          <a:noFill/>
          <a:ln/>
        </p:spPr>
        <p:txBody>
          <a:bodyPr wrap="square" lIns="0" tIns="0" rIns="0" bIns="0" rtlCol="0" anchor="ctr"/>
          <a:lstStyle/>
          <a:p>
            <a:pPr algn="ctr" indent="0" marL="0">
              <a:buNone/>
            </a:pPr>
            <a:r>
              <a:rPr lang="en-US" sz="900" dirty="0">
                <a:solidFill>
                  <a:srgbClr val="2B333E"/>
                </a:solidFill>
                <a:latin typeface="Poppins" pitchFamily="34" charset="0"/>
                <a:ea typeface="Poppins" pitchFamily="34" charset="-122"/>
                <a:cs typeface="Poppins" pitchFamily="34" charset="-120"/>
              </a:rPr>
              <a:t>—</a:t>
            </a:r>
            <a:endParaRPr lang="en-US" sz="900" dirty="0"/>
          </a:p>
        </p:txBody>
      </p:sp>
      <p:sp>
        <p:nvSpPr>
          <p:cNvPr id="84" name="Shape 80"/>
          <p:cNvSpPr/>
          <p:nvPr/>
        </p:nvSpPr>
        <p:spPr>
          <a:xfrm>
            <a:off x="731520" y="4709160"/>
            <a:ext cx="10728655" cy="248717"/>
          </a:xfrm>
          <a:prstGeom prst="rect">
            <a:avLst/>
          </a:prstGeom>
          <a:solidFill>
            <a:srgbClr val="FDE9DE"/>
          </a:solidFill>
          <a:ln/>
        </p:spPr>
      </p:sp>
      <p:sp>
        <p:nvSpPr>
          <p:cNvPr id="85" name="Text 81"/>
          <p:cNvSpPr/>
          <p:nvPr/>
        </p:nvSpPr>
        <p:spPr>
          <a:xfrm>
            <a:off x="914400" y="4709160"/>
            <a:ext cx="3108960" cy="248717"/>
          </a:xfrm>
          <a:prstGeom prst="rect">
            <a:avLst/>
          </a:prstGeom>
          <a:noFill/>
          <a:ln/>
        </p:spPr>
        <p:txBody>
          <a:bodyPr wrap="square" lIns="0" tIns="0" rIns="0" bIns="0" rtlCol="0" anchor="ctr"/>
          <a:lstStyle/>
          <a:p>
            <a:pPr indent="0" marL="0">
              <a:buNone/>
            </a:pPr>
            <a:r>
              <a:rPr lang="en-US" sz="900" dirty="0">
                <a:solidFill>
                  <a:srgbClr val="2B333E"/>
                </a:solidFill>
                <a:latin typeface="Poppins SemiBold" pitchFamily="34" charset="0"/>
                <a:ea typeface="Poppins SemiBold" pitchFamily="34" charset="-122"/>
                <a:cs typeface="Poppins SemiBold" pitchFamily="34" charset="-120"/>
              </a:rPr>
              <a:t>EBITDA</a:t>
            </a:r>
            <a:endParaRPr lang="en-US" sz="900" dirty="0"/>
          </a:p>
        </p:txBody>
      </p:sp>
      <p:sp>
        <p:nvSpPr>
          <p:cNvPr id="86" name="Text 82"/>
          <p:cNvSpPr/>
          <p:nvPr/>
        </p:nvSpPr>
        <p:spPr>
          <a:xfrm>
            <a:off x="4023360" y="4709160"/>
            <a:ext cx="1487363" cy="248717"/>
          </a:xfrm>
          <a:prstGeom prst="rect">
            <a:avLst/>
          </a:prstGeom>
          <a:noFill/>
          <a:ln/>
        </p:spPr>
        <p:txBody>
          <a:bodyPr wrap="square" lIns="0" tIns="0" rIns="0" bIns="0" rtlCol="0" anchor="ctr"/>
          <a:lstStyle/>
          <a:p>
            <a:pPr algn="ctr" indent="0" marL="0">
              <a:buNone/>
            </a:pPr>
            <a:r>
              <a:rPr lang="en-US" sz="900" dirty="0">
                <a:solidFill>
                  <a:srgbClr val="2B333E"/>
                </a:solidFill>
                <a:latin typeface="Poppins SemiBold" pitchFamily="34" charset="0"/>
                <a:ea typeface="Poppins SemiBold" pitchFamily="34" charset="-122"/>
                <a:cs typeface="Poppins SemiBold" pitchFamily="34" charset="-120"/>
              </a:rPr>
              <a:t>—</a:t>
            </a:r>
            <a:endParaRPr lang="en-US" sz="900" dirty="0"/>
          </a:p>
        </p:txBody>
      </p:sp>
      <p:sp>
        <p:nvSpPr>
          <p:cNvPr id="87" name="Text 83"/>
          <p:cNvSpPr/>
          <p:nvPr/>
        </p:nvSpPr>
        <p:spPr>
          <a:xfrm>
            <a:off x="5510723" y="4709160"/>
            <a:ext cx="1487363" cy="248717"/>
          </a:xfrm>
          <a:prstGeom prst="rect">
            <a:avLst/>
          </a:prstGeom>
          <a:noFill/>
          <a:ln/>
        </p:spPr>
        <p:txBody>
          <a:bodyPr wrap="square" lIns="0" tIns="0" rIns="0" bIns="0" rtlCol="0" anchor="ctr"/>
          <a:lstStyle/>
          <a:p>
            <a:pPr algn="ctr" indent="0" marL="0">
              <a:buNone/>
            </a:pPr>
            <a:r>
              <a:rPr lang="en-US" sz="900" dirty="0">
                <a:solidFill>
                  <a:srgbClr val="2B333E"/>
                </a:solidFill>
                <a:latin typeface="Poppins SemiBold" pitchFamily="34" charset="0"/>
                <a:ea typeface="Poppins SemiBold" pitchFamily="34" charset="-122"/>
                <a:cs typeface="Poppins SemiBold" pitchFamily="34" charset="-120"/>
              </a:rPr>
              <a:t>—</a:t>
            </a:r>
            <a:endParaRPr lang="en-US" sz="900" dirty="0"/>
          </a:p>
        </p:txBody>
      </p:sp>
      <p:sp>
        <p:nvSpPr>
          <p:cNvPr id="88" name="Text 84"/>
          <p:cNvSpPr/>
          <p:nvPr/>
        </p:nvSpPr>
        <p:spPr>
          <a:xfrm>
            <a:off x="6998086" y="4709160"/>
            <a:ext cx="1487363" cy="248717"/>
          </a:xfrm>
          <a:prstGeom prst="rect">
            <a:avLst/>
          </a:prstGeom>
          <a:noFill/>
          <a:ln/>
        </p:spPr>
        <p:txBody>
          <a:bodyPr wrap="square" lIns="0" tIns="0" rIns="0" bIns="0" rtlCol="0" anchor="ctr"/>
          <a:lstStyle/>
          <a:p>
            <a:pPr algn="ctr" indent="0" marL="0">
              <a:buNone/>
            </a:pPr>
            <a:r>
              <a:rPr lang="en-US" sz="900" dirty="0">
                <a:solidFill>
                  <a:srgbClr val="2B333E"/>
                </a:solidFill>
                <a:latin typeface="Poppins SemiBold" pitchFamily="34" charset="0"/>
                <a:ea typeface="Poppins SemiBold" pitchFamily="34" charset="-122"/>
                <a:cs typeface="Poppins SemiBold" pitchFamily="34" charset="-120"/>
              </a:rPr>
              <a:t>—</a:t>
            </a:r>
            <a:endParaRPr lang="en-US" sz="900" dirty="0"/>
          </a:p>
        </p:txBody>
      </p:sp>
      <p:sp>
        <p:nvSpPr>
          <p:cNvPr id="89" name="Text 85"/>
          <p:cNvSpPr/>
          <p:nvPr/>
        </p:nvSpPr>
        <p:spPr>
          <a:xfrm>
            <a:off x="8485449" y="4709160"/>
            <a:ext cx="1487363" cy="248717"/>
          </a:xfrm>
          <a:prstGeom prst="rect">
            <a:avLst/>
          </a:prstGeom>
          <a:noFill/>
          <a:ln/>
        </p:spPr>
        <p:txBody>
          <a:bodyPr wrap="square" lIns="0" tIns="0" rIns="0" bIns="0" rtlCol="0" anchor="ctr"/>
          <a:lstStyle/>
          <a:p>
            <a:pPr algn="ctr" indent="0" marL="0">
              <a:buNone/>
            </a:pPr>
            <a:r>
              <a:rPr lang="en-US" sz="900" dirty="0">
                <a:solidFill>
                  <a:srgbClr val="C6470F"/>
                </a:solidFill>
                <a:latin typeface="Poppins SemiBold" pitchFamily="34" charset="0"/>
                <a:ea typeface="Poppins SemiBold" pitchFamily="34" charset="-122"/>
                <a:cs typeface="Poppins SemiBold" pitchFamily="34" charset="-120"/>
              </a:rPr>
              <a:t>~36</a:t>
            </a:r>
            <a:endParaRPr lang="en-US" sz="900" dirty="0"/>
          </a:p>
        </p:txBody>
      </p:sp>
      <p:sp>
        <p:nvSpPr>
          <p:cNvPr id="90" name="Text 86"/>
          <p:cNvSpPr/>
          <p:nvPr/>
        </p:nvSpPr>
        <p:spPr>
          <a:xfrm>
            <a:off x="9972812" y="4709160"/>
            <a:ext cx="1487363" cy="248717"/>
          </a:xfrm>
          <a:prstGeom prst="rect">
            <a:avLst/>
          </a:prstGeom>
          <a:noFill/>
          <a:ln/>
        </p:spPr>
        <p:txBody>
          <a:bodyPr wrap="square" lIns="0" tIns="0" rIns="0" bIns="0" rtlCol="0" anchor="ctr"/>
          <a:lstStyle/>
          <a:p>
            <a:pPr algn="ctr" indent="0" marL="0">
              <a:buNone/>
            </a:pPr>
            <a:r>
              <a:rPr lang="en-US" sz="900" dirty="0">
                <a:solidFill>
                  <a:srgbClr val="2B333E"/>
                </a:solidFill>
                <a:latin typeface="Poppins SemiBold" pitchFamily="34" charset="0"/>
                <a:ea typeface="Poppins SemiBold" pitchFamily="34" charset="-122"/>
                <a:cs typeface="Poppins SemiBold" pitchFamily="34" charset="-120"/>
              </a:rPr>
              <a:t>—</a:t>
            </a:r>
            <a:endParaRPr lang="en-US" sz="900" dirty="0"/>
          </a:p>
        </p:txBody>
      </p:sp>
      <p:sp>
        <p:nvSpPr>
          <p:cNvPr id="91" name="Shape 87"/>
          <p:cNvSpPr/>
          <p:nvPr/>
        </p:nvSpPr>
        <p:spPr>
          <a:xfrm>
            <a:off x="731520" y="4957877"/>
            <a:ext cx="10728655" cy="248717"/>
          </a:xfrm>
          <a:prstGeom prst="rect">
            <a:avLst/>
          </a:prstGeom>
          <a:solidFill>
            <a:srgbClr val="F4F6F8"/>
          </a:solidFill>
          <a:ln/>
        </p:spPr>
      </p:sp>
      <p:sp>
        <p:nvSpPr>
          <p:cNvPr id="92" name="Text 88"/>
          <p:cNvSpPr/>
          <p:nvPr/>
        </p:nvSpPr>
        <p:spPr>
          <a:xfrm>
            <a:off x="914400" y="4957877"/>
            <a:ext cx="3108960" cy="248717"/>
          </a:xfrm>
          <a:prstGeom prst="rect">
            <a:avLst/>
          </a:prstGeom>
          <a:noFill/>
          <a:ln/>
        </p:spPr>
        <p:txBody>
          <a:bodyPr wrap="square" lIns="0" tIns="0" rIns="0" bIns="0" rtlCol="0" anchor="ctr"/>
          <a:lstStyle/>
          <a:p>
            <a:pPr indent="0" marL="0">
              <a:buNone/>
            </a:pPr>
            <a:r>
              <a:rPr lang="en-US" sz="900" i="1" dirty="0">
                <a:solidFill>
                  <a:srgbClr val="6C7683"/>
                </a:solidFill>
                <a:latin typeface="Poppins" pitchFamily="34" charset="0"/>
                <a:ea typeface="Poppins" pitchFamily="34" charset="-122"/>
                <a:cs typeface="Poppins" pitchFamily="34" charset="-120"/>
              </a:rPr>
              <a:t>EBITDA margin %</a:t>
            </a:r>
            <a:endParaRPr lang="en-US" sz="900" dirty="0"/>
          </a:p>
        </p:txBody>
      </p:sp>
      <p:sp>
        <p:nvSpPr>
          <p:cNvPr id="93" name="Text 89"/>
          <p:cNvSpPr/>
          <p:nvPr/>
        </p:nvSpPr>
        <p:spPr>
          <a:xfrm>
            <a:off x="4023360" y="4957877"/>
            <a:ext cx="1487363" cy="248717"/>
          </a:xfrm>
          <a:prstGeom prst="rect">
            <a:avLst/>
          </a:prstGeom>
          <a:noFill/>
          <a:ln/>
        </p:spPr>
        <p:txBody>
          <a:bodyPr wrap="square" lIns="0" tIns="0" rIns="0" bIns="0" rtlCol="0" anchor="ctr"/>
          <a:lstStyle/>
          <a:p>
            <a:pPr algn="ctr" indent="0" marL="0">
              <a:buNone/>
            </a:pPr>
            <a:r>
              <a:rPr lang="en-US" sz="900" i="1" dirty="0">
                <a:solidFill>
                  <a:srgbClr val="6C7683"/>
                </a:solidFill>
                <a:latin typeface="Poppins" pitchFamily="34" charset="0"/>
                <a:ea typeface="Poppins" pitchFamily="34" charset="-122"/>
                <a:cs typeface="Poppins" pitchFamily="34" charset="-120"/>
              </a:rPr>
              <a:t>—</a:t>
            </a:r>
            <a:endParaRPr lang="en-US" sz="900" dirty="0"/>
          </a:p>
        </p:txBody>
      </p:sp>
      <p:sp>
        <p:nvSpPr>
          <p:cNvPr id="94" name="Text 90"/>
          <p:cNvSpPr/>
          <p:nvPr/>
        </p:nvSpPr>
        <p:spPr>
          <a:xfrm>
            <a:off x="5510723" y="4957877"/>
            <a:ext cx="1487363" cy="248717"/>
          </a:xfrm>
          <a:prstGeom prst="rect">
            <a:avLst/>
          </a:prstGeom>
          <a:noFill/>
          <a:ln/>
        </p:spPr>
        <p:txBody>
          <a:bodyPr wrap="square" lIns="0" tIns="0" rIns="0" bIns="0" rtlCol="0" anchor="ctr"/>
          <a:lstStyle/>
          <a:p>
            <a:pPr algn="ctr" indent="0" marL="0">
              <a:buNone/>
            </a:pPr>
            <a:r>
              <a:rPr lang="en-US" sz="900" i="1" dirty="0">
                <a:solidFill>
                  <a:srgbClr val="6C7683"/>
                </a:solidFill>
                <a:latin typeface="Poppins" pitchFamily="34" charset="0"/>
                <a:ea typeface="Poppins" pitchFamily="34" charset="-122"/>
                <a:cs typeface="Poppins" pitchFamily="34" charset="-120"/>
              </a:rPr>
              <a:t>—</a:t>
            </a:r>
            <a:endParaRPr lang="en-US" sz="900" dirty="0"/>
          </a:p>
        </p:txBody>
      </p:sp>
      <p:sp>
        <p:nvSpPr>
          <p:cNvPr id="95" name="Text 91"/>
          <p:cNvSpPr/>
          <p:nvPr/>
        </p:nvSpPr>
        <p:spPr>
          <a:xfrm>
            <a:off x="6998086" y="4957877"/>
            <a:ext cx="1487363" cy="248717"/>
          </a:xfrm>
          <a:prstGeom prst="rect">
            <a:avLst/>
          </a:prstGeom>
          <a:noFill/>
          <a:ln/>
        </p:spPr>
        <p:txBody>
          <a:bodyPr wrap="square" lIns="0" tIns="0" rIns="0" bIns="0" rtlCol="0" anchor="ctr"/>
          <a:lstStyle/>
          <a:p>
            <a:pPr algn="ctr" indent="0" marL="0">
              <a:buNone/>
            </a:pPr>
            <a:r>
              <a:rPr lang="en-US" sz="900" i="1" dirty="0">
                <a:solidFill>
                  <a:srgbClr val="6C7683"/>
                </a:solidFill>
                <a:latin typeface="Poppins" pitchFamily="34" charset="0"/>
                <a:ea typeface="Poppins" pitchFamily="34" charset="-122"/>
                <a:cs typeface="Poppins" pitchFamily="34" charset="-120"/>
              </a:rPr>
              <a:t>—</a:t>
            </a:r>
            <a:endParaRPr lang="en-US" sz="900" dirty="0"/>
          </a:p>
        </p:txBody>
      </p:sp>
      <p:sp>
        <p:nvSpPr>
          <p:cNvPr id="96" name="Text 92"/>
          <p:cNvSpPr/>
          <p:nvPr/>
        </p:nvSpPr>
        <p:spPr>
          <a:xfrm>
            <a:off x="8485449" y="4957877"/>
            <a:ext cx="1487363" cy="248717"/>
          </a:xfrm>
          <a:prstGeom prst="rect">
            <a:avLst/>
          </a:prstGeom>
          <a:noFill/>
          <a:ln/>
        </p:spPr>
        <p:txBody>
          <a:bodyPr wrap="square" lIns="0" tIns="0" rIns="0" bIns="0" rtlCol="0" anchor="ctr"/>
          <a:lstStyle/>
          <a:p>
            <a:pPr algn="ctr" indent="0" marL="0">
              <a:buNone/>
            </a:pPr>
            <a:r>
              <a:rPr lang="en-US" sz="900" i="1" dirty="0">
                <a:solidFill>
                  <a:srgbClr val="C6470F"/>
                </a:solidFill>
                <a:latin typeface="Poppins" pitchFamily="34" charset="0"/>
                <a:ea typeface="Poppins" pitchFamily="34" charset="-122"/>
                <a:cs typeface="Poppins" pitchFamily="34" charset="-120"/>
              </a:rPr>
              <a:t>~26%</a:t>
            </a:r>
            <a:endParaRPr lang="en-US" sz="900" dirty="0"/>
          </a:p>
        </p:txBody>
      </p:sp>
      <p:sp>
        <p:nvSpPr>
          <p:cNvPr id="97" name="Text 93"/>
          <p:cNvSpPr/>
          <p:nvPr/>
        </p:nvSpPr>
        <p:spPr>
          <a:xfrm>
            <a:off x="9972812" y="4957877"/>
            <a:ext cx="1487363" cy="248717"/>
          </a:xfrm>
          <a:prstGeom prst="rect">
            <a:avLst/>
          </a:prstGeom>
          <a:noFill/>
          <a:ln/>
        </p:spPr>
        <p:txBody>
          <a:bodyPr wrap="square" lIns="0" tIns="0" rIns="0" bIns="0" rtlCol="0" anchor="ctr"/>
          <a:lstStyle/>
          <a:p>
            <a:pPr algn="ctr" indent="0" marL="0">
              <a:buNone/>
            </a:pPr>
            <a:r>
              <a:rPr lang="en-US" sz="900" i="1" dirty="0">
                <a:solidFill>
                  <a:srgbClr val="6C7683"/>
                </a:solidFill>
                <a:latin typeface="Poppins" pitchFamily="34" charset="0"/>
                <a:ea typeface="Poppins" pitchFamily="34" charset="-122"/>
                <a:cs typeface="Poppins" pitchFamily="34" charset="-120"/>
              </a:rPr>
              <a:t>—</a:t>
            </a:r>
            <a:endParaRPr lang="en-US" sz="900" dirty="0"/>
          </a:p>
        </p:txBody>
      </p:sp>
      <p:sp>
        <p:nvSpPr>
          <p:cNvPr id="98" name="Text 94"/>
          <p:cNvSpPr/>
          <p:nvPr/>
        </p:nvSpPr>
        <p:spPr>
          <a:xfrm>
            <a:off x="914400" y="5206594"/>
            <a:ext cx="3108960" cy="248717"/>
          </a:xfrm>
          <a:prstGeom prst="rect">
            <a:avLst/>
          </a:prstGeom>
          <a:noFill/>
          <a:ln/>
        </p:spPr>
        <p:txBody>
          <a:bodyPr wrap="square" lIns="0" tIns="0" rIns="0" bIns="0" rtlCol="0" anchor="ctr"/>
          <a:lstStyle/>
          <a:p>
            <a:pPr indent="0" marL="0">
              <a:buNone/>
            </a:pPr>
            <a:r>
              <a:rPr lang="en-US" sz="900" dirty="0">
                <a:solidFill>
                  <a:srgbClr val="2B333E"/>
                </a:solidFill>
                <a:latin typeface="Poppins" pitchFamily="34" charset="0"/>
                <a:ea typeface="Poppins" pitchFamily="34" charset="-122"/>
                <a:cs typeface="Poppins" pitchFamily="34" charset="-120"/>
              </a:rPr>
              <a:t>D&amp;A</a:t>
            </a:r>
            <a:endParaRPr lang="en-US" sz="900" dirty="0"/>
          </a:p>
        </p:txBody>
      </p:sp>
      <p:sp>
        <p:nvSpPr>
          <p:cNvPr id="99" name="Text 95"/>
          <p:cNvSpPr/>
          <p:nvPr/>
        </p:nvSpPr>
        <p:spPr>
          <a:xfrm>
            <a:off x="4023360" y="5206594"/>
            <a:ext cx="1487363" cy="248717"/>
          </a:xfrm>
          <a:prstGeom prst="rect">
            <a:avLst/>
          </a:prstGeom>
          <a:noFill/>
          <a:ln/>
        </p:spPr>
        <p:txBody>
          <a:bodyPr wrap="square" lIns="0" tIns="0" rIns="0" bIns="0" rtlCol="0" anchor="ctr"/>
          <a:lstStyle/>
          <a:p>
            <a:pPr algn="ctr" indent="0" marL="0">
              <a:buNone/>
            </a:pPr>
            <a:r>
              <a:rPr lang="en-US" sz="900" dirty="0">
                <a:solidFill>
                  <a:srgbClr val="2B333E"/>
                </a:solidFill>
                <a:latin typeface="Poppins" pitchFamily="34" charset="0"/>
                <a:ea typeface="Poppins" pitchFamily="34" charset="-122"/>
                <a:cs typeface="Poppins" pitchFamily="34" charset="-120"/>
              </a:rPr>
              <a:t>—</a:t>
            </a:r>
            <a:endParaRPr lang="en-US" sz="900" dirty="0"/>
          </a:p>
        </p:txBody>
      </p:sp>
      <p:sp>
        <p:nvSpPr>
          <p:cNvPr id="100" name="Text 96"/>
          <p:cNvSpPr/>
          <p:nvPr/>
        </p:nvSpPr>
        <p:spPr>
          <a:xfrm>
            <a:off x="5510723" y="5206594"/>
            <a:ext cx="1487363" cy="248717"/>
          </a:xfrm>
          <a:prstGeom prst="rect">
            <a:avLst/>
          </a:prstGeom>
          <a:noFill/>
          <a:ln/>
        </p:spPr>
        <p:txBody>
          <a:bodyPr wrap="square" lIns="0" tIns="0" rIns="0" bIns="0" rtlCol="0" anchor="ctr"/>
          <a:lstStyle/>
          <a:p>
            <a:pPr algn="ctr" indent="0" marL="0">
              <a:buNone/>
            </a:pPr>
            <a:r>
              <a:rPr lang="en-US" sz="900" dirty="0">
                <a:solidFill>
                  <a:srgbClr val="2B333E"/>
                </a:solidFill>
                <a:latin typeface="Poppins" pitchFamily="34" charset="0"/>
                <a:ea typeface="Poppins" pitchFamily="34" charset="-122"/>
                <a:cs typeface="Poppins" pitchFamily="34" charset="-120"/>
              </a:rPr>
              <a:t>—</a:t>
            </a:r>
            <a:endParaRPr lang="en-US" sz="900" dirty="0"/>
          </a:p>
        </p:txBody>
      </p:sp>
      <p:sp>
        <p:nvSpPr>
          <p:cNvPr id="101" name="Text 97"/>
          <p:cNvSpPr/>
          <p:nvPr/>
        </p:nvSpPr>
        <p:spPr>
          <a:xfrm>
            <a:off x="6998086" y="5206594"/>
            <a:ext cx="1487363" cy="248717"/>
          </a:xfrm>
          <a:prstGeom prst="rect">
            <a:avLst/>
          </a:prstGeom>
          <a:noFill/>
          <a:ln/>
        </p:spPr>
        <p:txBody>
          <a:bodyPr wrap="square" lIns="0" tIns="0" rIns="0" bIns="0" rtlCol="0" anchor="ctr"/>
          <a:lstStyle/>
          <a:p>
            <a:pPr algn="ctr" indent="0" marL="0">
              <a:buNone/>
            </a:pPr>
            <a:r>
              <a:rPr lang="en-US" sz="900" dirty="0">
                <a:solidFill>
                  <a:srgbClr val="2B333E"/>
                </a:solidFill>
                <a:latin typeface="Poppins" pitchFamily="34" charset="0"/>
                <a:ea typeface="Poppins" pitchFamily="34" charset="-122"/>
                <a:cs typeface="Poppins" pitchFamily="34" charset="-120"/>
              </a:rPr>
              <a:t>—</a:t>
            </a:r>
            <a:endParaRPr lang="en-US" sz="900" dirty="0"/>
          </a:p>
        </p:txBody>
      </p:sp>
      <p:sp>
        <p:nvSpPr>
          <p:cNvPr id="102" name="Text 98"/>
          <p:cNvSpPr/>
          <p:nvPr/>
        </p:nvSpPr>
        <p:spPr>
          <a:xfrm>
            <a:off x="8485449" y="5206594"/>
            <a:ext cx="1487363" cy="248717"/>
          </a:xfrm>
          <a:prstGeom prst="rect">
            <a:avLst/>
          </a:prstGeom>
          <a:noFill/>
          <a:ln/>
        </p:spPr>
        <p:txBody>
          <a:bodyPr wrap="square" lIns="0" tIns="0" rIns="0" bIns="0" rtlCol="0" anchor="ctr"/>
          <a:lstStyle/>
          <a:p>
            <a:pPr algn="ctr" indent="0" marL="0">
              <a:buNone/>
            </a:pPr>
            <a:r>
              <a:rPr lang="en-US" sz="900" dirty="0">
                <a:solidFill>
                  <a:srgbClr val="2B333E"/>
                </a:solidFill>
                <a:latin typeface="Poppins" pitchFamily="34" charset="0"/>
                <a:ea typeface="Poppins" pitchFamily="34" charset="-122"/>
                <a:cs typeface="Poppins" pitchFamily="34" charset="-120"/>
              </a:rPr>
              <a:t>—</a:t>
            </a:r>
            <a:endParaRPr lang="en-US" sz="900" dirty="0"/>
          </a:p>
        </p:txBody>
      </p:sp>
      <p:sp>
        <p:nvSpPr>
          <p:cNvPr id="103" name="Text 99"/>
          <p:cNvSpPr/>
          <p:nvPr/>
        </p:nvSpPr>
        <p:spPr>
          <a:xfrm>
            <a:off x="9972812" y="5206594"/>
            <a:ext cx="1487363" cy="248717"/>
          </a:xfrm>
          <a:prstGeom prst="rect">
            <a:avLst/>
          </a:prstGeom>
          <a:noFill/>
          <a:ln/>
        </p:spPr>
        <p:txBody>
          <a:bodyPr wrap="square" lIns="0" tIns="0" rIns="0" bIns="0" rtlCol="0" anchor="ctr"/>
          <a:lstStyle/>
          <a:p>
            <a:pPr algn="ctr" indent="0" marL="0">
              <a:buNone/>
            </a:pPr>
            <a:r>
              <a:rPr lang="en-US" sz="900" dirty="0">
                <a:solidFill>
                  <a:srgbClr val="2B333E"/>
                </a:solidFill>
                <a:latin typeface="Poppins" pitchFamily="34" charset="0"/>
                <a:ea typeface="Poppins" pitchFamily="34" charset="-122"/>
                <a:cs typeface="Poppins" pitchFamily="34" charset="-120"/>
              </a:rPr>
              <a:t>—</a:t>
            </a:r>
            <a:endParaRPr lang="en-US" sz="900" dirty="0"/>
          </a:p>
        </p:txBody>
      </p:sp>
      <p:sp>
        <p:nvSpPr>
          <p:cNvPr id="104" name="Shape 100"/>
          <p:cNvSpPr/>
          <p:nvPr/>
        </p:nvSpPr>
        <p:spPr>
          <a:xfrm>
            <a:off x="731520" y="5455310"/>
            <a:ext cx="10728655" cy="248717"/>
          </a:xfrm>
          <a:prstGeom prst="rect">
            <a:avLst/>
          </a:prstGeom>
          <a:solidFill>
            <a:srgbClr val="F4F6F8"/>
          </a:solidFill>
          <a:ln/>
        </p:spPr>
      </p:sp>
      <p:sp>
        <p:nvSpPr>
          <p:cNvPr id="105" name="Text 101"/>
          <p:cNvSpPr/>
          <p:nvPr/>
        </p:nvSpPr>
        <p:spPr>
          <a:xfrm>
            <a:off x="914400" y="5455310"/>
            <a:ext cx="3108960" cy="248717"/>
          </a:xfrm>
          <a:prstGeom prst="rect">
            <a:avLst/>
          </a:prstGeom>
          <a:noFill/>
          <a:ln/>
        </p:spPr>
        <p:txBody>
          <a:bodyPr wrap="square" lIns="0" tIns="0" rIns="0" bIns="0" rtlCol="0" anchor="ctr"/>
          <a:lstStyle/>
          <a:p>
            <a:pPr indent="0" marL="0">
              <a:buNone/>
            </a:pPr>
            <a:r>
              <a:rPr lang="en-US" sz="900" dirty="0">
                <a:solidFill>
                  <a:srgbClr val="2B333E"/>
                </a:solidFill>
                <a:latin typeface="Poppins" pitchFamily="34" charset="0"/>
                <a:ea typeface="Poppins" pitchFamily="34" charset="-122"/>
                <a:cs typeface="Poppins" pitchFamily="34" charset="-120"/>
              </a:rPr>
              <a:t>Financial result</a:t>
            </a:r>
            <a:endParaRPr lang="en-US" sz="900" dirty="0"/>
          </a:p>
        </p:txBody>
      </p:sp>
      <p:sp>
        <p:nvSpPr>
          <p:cNvPr id="106" name="Text 102"/>
          <p:cNvSpPr/>
          <p:nvPr/>
        </p:nvSpPr>
        <p:spPr>
          <a:xfrm>
            <a:off x="4023360" y="5455310"/>
            <a:ext cx="1487363" cy="248717"/>
          </a:xfrm>
          <a:prstGeom prst="rect">
            <a:avLst/>
          </a:prstGeom>
          <a:noFill/>
          <a:ln/>
        </p:spPr>
        <p:txBody>
          <a:bodyPr wrap="square" lIns="0" tIns="0" rIns="0" bIns="0" rtlCol="0" anchor="ctr"/>
          <a:lstStyle/>
          <a:p>
            <a:pPr algn="ctr" indent="0" marL="0">
              <a:buNone/>
            </a:pPr>
            <a:r>
              <a:rPr lang="en-US" sz="900" dirty="0">
                <a:solidFill>
                  <a:srgbClr val="2B333E"/>
                </a:solidFill>
                <a:latin typeface="Poppins" pitchFamily="34" charset="0"/>
                <a:ea typeface="Poppins" pitchFamily="34" charset="-122"/>
                <a:cs typeface="Poppins" pitchFamily="34" charset="-120"/>
              </a:rPr>
              <a:t>—</a:t>
            </a:r>
            <a:endParaRPr lang="en-US" sz="900" dirty="0"/>
          </a:p>
        </p:txBody>
      </p:sp>
      <p:sp>
        <p:nvSpPr>
          <p:cNvPr id="107" name="Text 103"/>
          <p:cNvSpPr/>
          <p:nvPr/>
        </p:nvSpPr>
        <p:spPr>
          <a:xfrm>
            <a:off x="5510723" y="5455310"/>
            <a:ext cx="1487363" cy="248717"/>
          </a:xfrm>
          <a:prstGeom prst="rect">
            <a:avLst/>
          </a:prstGeom>
          <a:noFill/>
          <a:ln/>
        </p:spPr>
        <p:txBody>
          <a:bodyPr wrap="square" lIns="0" tIns="0" rIns="0" bIns="0" rtlCol="0" anchor="ctr"/>
          <a:lstStyle/>
          <a:p>
            <a:pPr algn="ctr" indent="0" marL="0">
              <a:buNone/>
            </a:pPr>
            <a:r>
              <a:rPr lang="en-US" sz="900" dirty="0">
                <a:solidFill>
                  <a:srgbClr val="2B333E"/>
                </a:solidFill>
                <a:latin typeface="Poppins" pitchFamily="34" charset="0"/>
                <a:ea typeface="Poppins" pitchFamily="34" charset="-122"/>
                <a:cs typeface="Poppins" pitchFamily="34" charset="-120"/>
              </a:rPr>
              <a:t>—</a:t>
            </a:r>
            <a:endParaRPr lang="en-US" sz="900" dirty="0"/>
          </a:p>
        </p:txBody>
      </p:sp>
      <p:sp>
        <p:nvSpPr>
          <p:cNvPr id="108" name="Text 104"/>
          <p:cNvSpPr/>
          <p:nvPr/>
        </p:nvSpPr>
        <p:spPr>
          <a:xfrm>
            <a:off x="6998086" y="5455310"/>
            <a:ext cx="1487363" cy="248717"/>
          </a:xfrm>
          <a:prstGeom prst="rect">
            <a:avLst/>
          </a:prstGeom>
          <a:noFill/>
          <a:ln/>
        </p:spPr>
        <p:txBody>
          <a:bodyPr wrap="square" lIns="0" tIns="0" rIns="0" bIns="0" rtlCol="0" anchor="ctr"/>
          <a:lstStyle/>
          <a:p>
            <a:pPr algn="ctr" indent="0" marL="0">
              <a:buNone/>
            </a:pPr>
            <a:r>
              <a:rPr lang="en-US" sz="900" dirty="0">
                <a:solidFill>
                  <a:srgbClr val="2B333E"/>
                </a:solidFill>
                <a:latin typeface="Poppins" pitchFamily="34" charset="0"/>
                <a:ea typeface="Poppins" pitchFamily="34" charset="-122"/>
                <a:cs typeface="Poppins" pitchFamily="34" charset="-120"/>
              </a:rPr>
              <a:t>—</a:t>
            </a:r>
            <a:endParaRPr lang="en-US" sz="900" dirty="0"/>
          </a:p>
        </p:txBody>
      </p:sp>
      <p:sp>
        <p:nvSpPr>
          <p:cNvPr id="109" name="Text 105"/>
          <p:cNvSpPr/>
          <p:nvPr/>
        </p:nvSpPr>
        <p:spPr>
          <a:xfrm>
            <a:off x="8485449" y="5455310"/>
            <a:ext cx="1487363" cy="248717"/>
          </a:xfrm>
          <a:prstGeom prst="rect">
            <a:avLst/>
          </a:prstGeom>
          <a:noFill/>
          <a:ln/>
        </p:spPr>
        <p:txBody>
          <a:bodyPr wrap="square" lIns="0" tIns="0" rIns="0" bIns="0" rtlCol="0" anchor="ctr"/>
          <a:lstStyle/>
          <a:p>
            <a:pPr algn="ctr" indent="0" marL="0">
              <a:buNone/>
            </a:pPr>
            <a:r>
              <a:rPr lang="en-US" sz="900" dirty="0">
                <a:solidFill>
                  <a:srgbClr val="2B333E"/>
                </a:solidFill>
                <a:latin typeface="Poppins" pitchFamily="34" charset="0"/>
                <a:ea typeface="Poppins" pitchFamily="34" charset="-122"/>
                <a:cs typeface="Poppins" pitchFamily="34" charset="-120"/>
              </a:rPr>
              <a:t>—</a:t>
            </a:r>
            <a:endParaRPr lang="en-US" sz="900" dirty="0"/>
          </a:p>
        </p:txBody>
      </p:sp>
      <p:sp>
        <p:nvSpPr>
          <p:cNvPr id="110" name="Text 106"/>
          <p:cNvSpPr/>
          <p:nvPr/>
        </p:nvSpPr>
        <p:spPr>
          <a:xfrm>
            <a:off x="9972812" y="5455310"/>
            <a:ext cx="1487363" cy="248717"/>
          </a:xfrm>
          <a:prstGeom prst="rect">
            <a:avLst/>
          </a:prstGeom>
          <a:noFill/>
          <a:ln/>
        </p:spPr>
        <p:txBody>
          <a:bodyPr wrap="square" lIns="0" tIns="0" rIns="0" bIns="0" rtlCol="0" anchor="ctr"/>
          <a:lstStyle/>
          <a:p>
            <a:pPr algn="ctr" indent="0" marL="0">
              <a:buNone/>
            </a:pPr>
            <a:r>
              <a:rPr lang="en-US" sz="900" dirty="0">
                <a:solidFill>
                  <a:srgbClr val="2B333E"/>
                </a:solidFill>
                <a:latin typeface="Poppins" pitchFamily="34" charset="0"/>
                <a:ea typeface="Poppins" pitchFamily="34" charset="-122"/>
                <a:cs typeface="Poppins" pitchFamily="34" charset="-120"/>
              </a:rPr>
              <a:t>—</a:t>
            </a:r>
            <a:endParaRPr lang="en-US" sz="900" dirty="0"/>
          </a:p>
        </p:txBody>
      </p:sp>
      <p:sp>
        <p:nvSpPr>
          <p:cNvPr id="111" name="Shape 107"/>
          <p:cNvSpPr/>
          <p:nvPr/>
        </p:nvSpPr>
        <p:spPr>
          <a:xfrm>
            <a:off x="731520" y="5704027"/>
            <a:ext cx="10728655" cy="248717"/>
          </a:xfrm>
          <a:prstGeom prst="rect">
            <a:avLst/>
          </a:prstGeom>
          <a:solidFill>
            <a:srgbClr val="FDE9DE"/>
          </a:solidFill>
          <a:ln/>
        </p:spPr>
      </p:sp>
      <p:sp>
        <p:nvSpPr>
          <p:cNvPr id="112" name="Text 108"/>
          <p:cNvSpPr/>
          <p:nvPr/>
        </p:nvSpPr>
        <p:spPr>
          <a:xfrm>
            <a:off x="914400" y="5704027"/>
            <a:ext cx="3108960" cy="248717"/>
          </a:xfrm>
          <a:prstGeom prst="rect">
            <a:avLst/>
          </a:prstGeom>
          <a:noFill/>
          <a:ln/>
        </p:spPr>
        <p:txBody>
          <a:bodyPr wrap="square" lIns="0" tIns="0" rIns="0" bIns="0" rtlCol="0" anchor="ctr"/>
          <a:lstStyle/>
          <a:p>
            <a:pPr indent="0" marL="0">
              <a:buNone/>
            </a:pPr>
            <a:r>
              <a:rPr lang="en-US" sz="900" dirty="0">
                <a:solidFill>
                  <a:srgbClr val="2B333E"/>
                </a:solidFill>
                <a:latin typeface="Poppins SemiBold" pitchFamily="34" charset="0"/>
                <a:ea typeface="Poppins SemiBold" pitchFamily="34" charset="-122"/>
                <a:cs typeface="Poppins SemiBold" pitchFamily="34" charset="-120"/>
              </a:rPr>
              <a:t>EBT</a:t>
            </a:r>
            <a:endParaRPr lang="en-US" sz="900" dirty="0"/>
          </a:p>
        </p:txBody>
      </p:sp>
      <p:sp>
        <p:nvSpPr>
          <p:cNvPr id="113" name="Text 109"/>
          <p:cNvSpPr/>
          <p:nvPr/>
        </p:nvSpPr>
        <p:spPr>
          <a:xfrm>
            <a:off x="4023360" y="5704027"/>
            <a:ext cx="1487363" cy="248717"/>
          </a:xfrm>
          <a:prstGeom prst="rect">
            <a:avLst/>
          </a:prstGeom>
          <a:noFill/>
          <a:ln/>
        </p:spPr>
        <p:txBody>
          <a:bodyPr wrap="square" lIns="0" tIns="0" rIns="0" bIns="0" rtlCol="0" anchor="ctr"/>
          <a:lstStyle/>
          <a:p>
            <a:pPr algn="ctr" indent="0" marL="0">
              <a:buNone/>
            </a:pPr>
            <a:r>
              <a:rPr lang="en-US" sz="900" dirty="0">
                <a:solidFill>
                  <a:srgbClr val="2B333E"/>
                </a:solidFill>
                <a:latin typeface="Poppins SemiBold" pitchFamily="34" charset="0"/>
                <a:ea typeface="Poppins SemiBold" pitchFamily="34" charset="-122"/>
                <a:cs typeface="Poppins SemiBold" pitchFamily="34" charset="-120"/>
              </a:rPr>
              <a:t>—</a:t>
            </a:r>
            <a:endParaRPr lang="en-US" sz="900" dirty="0"/>
          </a:p>
        </p:txBody>
      </p:sp>
      <p:sp>
        <p:nvSpPr>
          <p:cNvPr id="114" name="Text 110"/>
          <p:cNvSpPr/>
          <p:nvPr/>
        </p:nvSpPr>
        <p:spPr>
          <a:xfrm>
            <a:off x="5510723" y="5704027"/>
            <a:ext cx="1487363" cy="248717"/>
          </a:xfrm>
          <a:prstGeom prst="rect">
            <a:avLst/>
          </a:prstGeom>
          <a:noFill/>
          <a:ln/>
        </p:spPr>
        <p:txBody>
          <a:bodyPr wrap="square" lIns="0" tIns="0" rIns="0" bIns="0" rtlCol="0" anchor="ctr"/>
          <a:lstStyle/>
          <a:p>
            <a:pPr algn="ctr" indent="0" marL="0">
              <a:buNone/>
            </a:pPr>
            <a:r>
              <a:rPr lang="en-US" sz="900" dirty="0">
                <a:solidFill>
                  <a:srgbClr val="2B333E"/>
                </a:solidFill>
                <a:latin typeface="Poppins SemiBold" pitchFamily="34" charset="0"/>
                <a:ea typeface="Poppins SemiBold" pitchFamily="34" charset="-122"/>
                <a:cs typeface="Poppins SemiBold" pitchFamily="34" charset="-120"/>
              </a:rPr>
              <a:t>—</a:t>
            </a:r>
            <a:endParaRPr lang="en-US" sz="900" dirty="0"/>
          </a:p>
        </p:txBody>
      </p:sp>
      <p:sp>
        <p:nvSpPr>
          <p:cNvPr id="115" name="Text 111"/>
          <p:cNvSpPr/>
          <p:nvPr/>
        </p:nvSpPr>
        <p:spPr>
          <a:xfrm>
            <a:off x="6998086" y="5704027"/>
            <a:ext cx="1487363" cy="248717"/>
          </a:xfrm>
          <a:prstGeom prst="rect">
            <a:avLst/>
          </a:prstGeom>
          <a:noFill/>
          <a:ln/>
        </p:spPr>
        <p:txBody>
          <a:bodyPr wrap="square" lIns="0" tIns="0" rIns="0" bIns="0" rtlCol="0" anchor="ctr"/>
          <a:lstStyle/>
          <a:p>
            <a:pPr algn="ctr" indent="0" marL="0">
              <a:buNone/>
            </a:pPr>
            <a:r>
              <a:rPr lang="en-US" sz="900" dirty="0">
                <a:solidFill>
                  <a:srgbClr val="2B333E"/>
                </a:solidFill>
                <a:latin typeface="Poppins SemiBold" pitchFamily="34" charset="0"/>
                <a:ea typeface="Poppins SemiBold" pitchFamily="34" charset="-122"/>
                <a:cs typeface="Poppins SemiBold" pitchFamily="34" charset="-120"/>
              </a:rPr>
              <a:t>—</a:t>
            </a:r>
            <a:endParaRPr lang="en-US" sz="900" dirty="0"/>
          </a:p>
        </p:txBody>
      </p:sp>
      <p:sp>
        <p:nvSpPr>
          <p:cNvPr id="116" name="Text 112"/>
          <p:cNvSpPr/>
          <p:nvPr/>
        </p:nvSpPr>
        <p:spPr>
          <a:xfrm>
            <a:off x="8485449" y="5704027"/>
            <a:ext cx="1487363" cy="248717"/>
          </a:xfrm>
          <a:prstGeom prst="rect">
            <a:avLst/>
          </a:prstGeom>
          <a:noFill/>
          <a:ln/>
        </p:spPr>
        <p:txBody>
          <a:bodyPr wrap="square" lIns="0" tIns="0" rIns="0" bIns="0" rtlCol="0" anchor="ctr"/>
          <a:lstStyle/>
          <a:p>
            <a:pPr algn="ctr" indent="0" marL="0">
              <a:buNone/>
            </a:pPr>
            <a:r>
              <a:rPr lang="en-US" sz="900" dirty="0">
                <a:solidFill>
                  <a:srgbClr val="2B333E"/>
                </a:solidFill>
                <a:latin typeface="Poppins SemiBold" pitchFamily="34" charset="0"/>
                <a:ea typeface="Poppins SemiBold" pitchFamily="34" charset="-122"/>
                <a:cs typeface="Poppins SemiBold" pitchFamily="34" charset="-120"/>
              </a:rPr>
              <a:t>—</a:t>
            </a:r>
            <a:endParaRPr lang="en-US" sz="900" dirty="0"/>
          </a:p>
        </p:txBody>
      </p:sp>
      <p:sp>
        <p:nvSpPr>
          <p:cNvPr id="117" name="Text 113"/>
          <p:cNvSpPr/>
          <p:nvPr/>
        </p:nvSpPr>
        <p:spPr>
          <a:xfrm>
            <a:off x="9972812" y="5704027"/>
            <a:ext cx="1487363" cy="248717"/>
          </a:xfrm>
          <a:prstGeom prst="rect">
            <a:avLst/>
          </a:prstGeom>
          <a:noFill/>
          <a:ln/>
        </p:spPr>
        <p:txBody>
          <a:bodyPr wrap="square" lIns="0" tIns="0" rIns="0" bIns="0" rtlCol="0" anchor="ctr"/>
          <a:lstStyle/>
          <a:p>
            <a:pPr algn="ctr" indent="0" marL="0">
              <a:buNone/>
            </a:pPr>
            <a:r>
              <a:rPr lang="en-US" sz="900" dirty="0">
                <a:solidFill>
                  <a:srgbClr val="2B333E"/>
                </a:solidFill>
                <a:latin typeface="Poppins SemiBold" pitchFamily="34" charset="0"/>
                <a:ea typeface="Poppins SemiBold" pitchFamily="34" charset="-122"/>
                <a:cs typeface="Poppins SemiBold" pitchFamily="34" charset="-120"/>
              </a:rPr>
              <a:t>—</a:t>
            </a:r>
            <a:endParaRPr lang="en-US" sz="900" dirty="0"/>
          </a:p>
        </p:txBody>
      </p:sp>
      <p:sp>
        <p:nvSpPr>
          <p:cNvPr id="118" name="Shape 114"/>
          <p:cNvSpPr/>
          <p:nvPr/>
        </p:nvSpPr>
        <p:spPr>
          <a:xfrm>
            <a:off x="731520" y="5952744"/>
            <a:ext cx="10728655" cy="248717"/>
          </a:xfrm>
          <a:prstGeom prst="rect">
            <a:avLst/>
          </a:prstGeom>
          <a:solidFill>
            <a:srgbClr val="FDE9DE"/>
          </a:solidFill>
          <a:ln/>
        </p:spPr>
      </p:sp>
      <p:sp>
        <p:nvSpPr>
          <p:cNvPr id="119" name="Text 115"/>
          <p:cNvSpPr/>
          <p:nvPr/>
        </p:nvSpPr>
        <p:spPr>
          <a:xfrm>
            <a:off x="914400" y="5952744"/>
            <a:ext cx="3108960" cy="248717"/>
          </a:xfrm>
          <a:prstGeom prst="rect">
            <a:avLst/>
          </a:prstGeom>
          <a:noFill/>
          <a:ln/>
        </p:spPr>
        <p:txBody>
          <a:bodyPr wrap="square" lIns="0" tIns="0" rIns="0" bIns="0" rtlCol="0" anchor="ctr"/>
          <a:lstStyle/>
          <a:p>
            <a:pPr indent="0" marL="0">
              <a:buNone/>
            </a:pPr>
            <a:r>
              <a:rPr lang="en-US" sz="900" dirty="0">
                <a:solidFill>
                  <a:srgbClr val="2B333E"/>
                </a:solidFill>
                <a:latin typeface="Poppins SemiBold" pitchFamily="34" charset="0"/>
                <a:ea typeface="Poppins SemiBold" pitchFamily="34" charset="-122"/>
                <a:cs typeface="Poppins SemiBold" pitchFamily="34" charset="-120"/>
              </a:rPr>
              <a:t>Net income</a:t>
            </a:r>
            <a:endParaRPr lang="en-US" sz="900" dirty="0"/>
          </a:p>
        </p:txBody>
      </p:sp>
      <p:sp>
        <p:nvSpPr>
          <p:cNvPr id="120" name="Text 116"/>
          <p:cNvSpPr/>
          <p:nvPr/>
        </p:nvSpPr>
        <p:spPr>
          <a:xfrm>
            <a:off x="4023360" y="5952744"/>
            <a:ext cx="1487363" cy="248717"/>
          </a:xfrm>
          <a:prstGeom prst="rect">
            <a:avLst/>
          </a:prstGeom>
          <a:noFill/>
          <a:ln/>
        </p:spPr>
        <p:txBody>
          <a:bodyPr wrap="square" lIns="0" tIns="0" rIns="0" bIns="0" rtlCol="0" anchor="ctr"/>
          <a:lstStyle/>
          <a:p>
            <a:pPr algn="ctr" indent="0" marL="0">
              <a:buNone/>
            </a:pPr>
            <a:r>
              <a:rPr lang="en-US" sz="900" dirty="0">
                <a:solidFill>
                  <a:srgbClr val="2B333E"/>
                </a:solidFill>
                <a:latin typeface="Poppins SemiBold" pitchFamily="34" charset="0"/>
                <a:ea typeface="Poppins SemiBold" pitchFamily="34" charset="-122"/>
                <a:cs typeface="Poppins SemiBold" pitchFamily="34" charset="-120"/>
              </a:rPr>
              <a:t>—</a:t>
            </a:r>
            <a:endParaRPr lang="en-US" sz="900" dirty="0"/>
          </a:p>
        </p:txBody>
      </p:sp>
      <p:sp>
        <p:nvSpPr>
          <p:cNvPr id="121" name="Text 117"/>
          <p:cNvSpPr/>
          <p:nvPr/>
        </p:nvSpPr>
        <p:spPr>
          <a:xfrm>
            <a:off x="5510723" y="5952744"/>
            <a:ext cx="1487363" cy="248717"/>
          </a:xfrm>
          <a:prstGeom prst="rect">
            <a:avLst/>
          </a:prstGeom>
          <a:noFill/>
          <a:ln/>
        </p:spPr>
        <p:txBody>
          <a:bodyPr wrap="square" lIns="0" tIns="0" rIns="0" bIns="0" rtlCol="0" anchor="ctr"/>
          <a:lstStyle/>
          <a:p>
            <a:pPr algn="ctr" indent="0" marL="0">
              <a:buNone/>
            </a:pPr>
            <a:r>
              <a:rPr lang="en-US" sz="900" dirty="0">
                <a:solidFill>
                  <a:srgbClr val="2B333E"/>
                </a:solidFill>
                <a:latin typeface="Poppins SemiBold" pitchFamily="34" charset="0"/>
                <a:ea typeface="Poppins SemiBold" pitchFamily="34" charset="-122"/>
                <a:cs typeface="Poppins SemiBold" pitchFamily="34" charset="-120"/>
              </a:rPr>
              <a:t>—</a:t>
            </a:r>
            <a:endParaRPr lang="en-US" sz="900" dirty="0"/>
          </a:p>
        </p:txBody>
      </p:sp>
      <p:sp>
        <p:nvSpPr>
          <p:cNvPr id="122" name="Text 118"/>
          <p:cNvSpPr/>
          <p:nvPr/>
        </p:nvSpPr>
        <p:spPr>
          <a:xfrm>
            <a:off x="6998086" y="5952744"/>
            <a:ext cx="1487363" cy="248717"/>
          </a:xfrm>
          <a:prstGeom prst="rect">
            <a:avLst/>
          </a:prstGeom>
          <a:noFill/>
          <a:ln/>
        </p:spPr>
        <p:txBody>
          <a:bodyPr wrap="square" lIns="0" tIns="0" rIns="0" bIns="0" rtlCol="0" anchor="ctr"/>
          <a:lstStyle/>
          <a:p>
            <a:pPr algn="ctr" indent="0" marL="0">
              <a:buNone/>
            </a:pPr>
            <a:r>
              <a:rPr lang="en-US" sz="900" dirty="0">
                <a:solidFill>
                  <a:srgbClr val="2B333E"/>
                </a:solidFill>
                <a:latin typeface="Poppins SemiBold" pitchFamily="34" charset="0"/>
                <a:ea typeface="Poppins SemiBold" pitchFamily="34" charset="-122"/>
                <a:cs typeface="Poppins SemiBold" pitchFamily="34" charset="-120"/>
              </a:rPr>
              <a:t>—</a:t>
            </a:r>
            <a:endParaRPr lang="en-US" sz="900" dirty="0"/>
          </a:p>
        </p:txBody>
      </p:sp>
      <p:sp>
        <p:nvSpPr>
          <p:cNvPr id="123" name="Text 119"/>
          <p:cNvSpPr/>
          <p:nvPr/>
        </p:nvSpPr>
        <p:spPr>
          <a:xfrm>
            <a:off x="8485449" y="5952744"/>
            <a:ext cx="1487363" cy="248717"/>
          </a:xfrm>
          <a:prstGeom prst="rect">
            <a:avLst/>
          </a:prstGeom>
          <a:noFill/>
          <a:ln/>
        </p:spPr>
        <p:txBody>
          <a:bodyPr wrap="square" lIns="0" tIns="0" rIns="0" bIns="0" rtlCol="0" anchor="ctr"/>
          <a:lstStyle/>
          <a:p>
            <a:pPr algn="ctr" indent="0" marL="0">
              <a:buNone/>
            </a:pPr>
            <a:r>
              <a:rPr lang="en-US" sz="900" dirty="0">
                <a:solidFill>
                  <a:srgbClr val="2B333E"/>
                </a:solidFill>
                <a:latin typeface="Poppins SemiBold" pitchFamily="34" charset="0"/>
                <a:ea typeface="Poppins SemiBold" pitchFamily="34" charset="-122"/>
                <a:cs typeface="Poppins SemiBold" pitchFamily="34" charset="-120"/>
              </a:rPr>
              <a:t>—</a:t>
            </a:r>
            <a:endParaRPr lang="en-US" sz="900" dirty="0"/>
          </a:p>
        </p:txBody>
      </p:sp>
      <p:sp>
        <p:nvSpPr>
          <p:cNvPr id="124" name="Text 120"/>
          <p:cNvSpPr/>
          <p:nvPr/>
        </p:nvSpPr>
        <p:spPr>
          <a:xfrm>
            <a:off x="9972812" y="5952744"/>
            <a:ext cx="1487363" cy="248717"/>
          </a:xfrm>
          <a:prstGeom prst="rect">
            <a:avLst/>
          </a:prstGeom>
          <a:noFill/>
          <a:ln/>
        </p:spPr>
        <p:txBody>
          <a:bodyPr wrap="square" lIns="0" tIns="0" rIns="0" bIns="0" rtlCol="0" anchor="ctr"/>
          <a:lstStyle/>
          <a:p>
            <a:pPr algn="ctr" indent="0" marL="0">
              <a:buNone/>
            </a:pPr>
            <a:r>
              <a:rPr lang="en-US" sz="900" dirty="0">
                <a:solidFill>
                  <a:srgbClr val="2B333E"/>
                </a:solidFill>
                <a:latin typeface="Poppins SemiBold" pitchFamily="34" charset="0"/>
                <a:ea typeface="Poppins SemiBold" pitchFamily="34" charset="-122"/>
                <a:cs typeface="Poppins SemiBold" pitchFamily="34" charset="-120"/>
              </a:rPr>
              <a:t>—</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41A24"/>
        </a:solidFill>
      </p:bgPr>
    </p:bg>
    <p:spTree>
      <p:nvGrpSpPr>
        <p:cNvPr id="1" name=""/>
        <p:cNvGrpSpPr/>
        <p:nvPr/>
      </p:nvGrpSpPr>
      <p:grpSpPr>
        <a:xfrm>
          <a:off x="0" y="0"/>
          <a:ext cx="0" cy="0"/>
          <a:chOff x="0" y="0"/>
          <a:chExt cx="0" cy="0"/>
        </a:xfrm>
      </p:grpSpPr>
      <p:pic>
        <p:nvPicPr>
          <p:cNvPr id="2" name="Image 0" descr="assets/cover_buses.jpeg">    </p:cNvPr>
          <p:cNvPicPr>
            <a:picLocks noChangeAspect="1"/>
          </p:cNvPicPr>
          <p:nvPr/>
        </p:nvPicPr>
        <p:blipFill>
          <a:blip r:embed="rId1"/>
          <a:srcRect l="0" r="0" t="0" b="0"/>
          <a:stretch/>
        </p:blipFill>
        <p:spPr>
          <a:xfrm>
            <a:off x="0" y="0"/>
            <a:ext cx="6766560" cy="6858000"/>
          </a:xfrm>
          <a:prstGeom prst="rect">
            <a:avLst/>
          </a:prstGeom>
        </p:spPr>
      </p:pic>
      <p:sp>
        <p:nvSpPr>
          <p:cNvPr id="3" name="Shape 0"/>
          <p:cNvSpPr/>
          <p:nvPr/>
        </p:nvSpPr>
        <p:spPr>
          <a:xfrm>
            <a:off x="0" y="0"/>
            <a:ext cx="6766560" cy="6858000"/>
          </a:xfrm>
          <a:prstGeom prst="rect">
            <a:avLst/>
          </a:prstGeom>
          <a:solidFill>
            <a:srgbClr val="141A24">
              <a:alpha val="32000"/>
            </a:srgbClr>
          </a:solidFill>
          <a:ln/>
        </p:spPr>
      </p:sp>
      <p:sp>
        <p:nvSpPr>
          <p:cNvPr id="4" name="Shape 1"/>
          <p:cNvSpPr/>
          <p:nvPr/>
        </p:nvSpPr>
        <p:spPr>
          <a:xfrm>
            <a:off x="6766560" y="0"/>
            <a:ext cx="5425135" cy="6858000"/>
          </a:xfrm>
          <a:prstGeom prst="rect">
            <a:avLst/>
          </a:prstGeom>
          <a:solidFill>
            <a:srgbClr val="141A24"/>
          </a:solidFill>
          <a:ln/>
        </p:spPr>
      </p:sp>
      <p:pic>
        <p:nvPicPr>
          <p:cNvPr id="5" name="Image 1" descr="assets/stripes_orange.png">    </p:cNvPr>
          <p:cNvPicPr>
            <a:picLocks noChangeAspect="1"/>
          </p:cNvPicPr>
          <p:nvPr/>
        </p:nvPicPr>
        <p:blipFill>
          <a:blip r:embed="rId2">
            <a:alphaModFix amt="60000"/>
          </a:blip>
          <a:stretch>
            <a:fillRect/>
          </a:stretch>
        </p:blipFill>
        <p:spPr>
          <a:xfrm>
            <a:off x="10088575" y="-640080"/>
            <a:ext cx="2103120" cy="2103120"/>
          </a:xfrm>
          <a:prstGeom prst="rect">
            <a:avLst/>
          </a:prstGeom>
        </p:spPr>
      </p:pic>
      <p:pic>
        <p:nvPicPr>
          <p:cNvPr id="6" name="Image 2" descr="assets/mobi_logo_black.png">    </p:cNvPr>
          <p:cNvPicPr>
            <a:picLocks noChangeAspect="1"/>
          </p:cNvPicPr>
          <p:nvPr/>
        </p:nvPicPr>
        <p:blipFill>
          <a:blip r:embed="rId3"/>
          <a:stretch>
            <a:fillRect/>
          </a:stretch>
        </p:blipFill>
        <p:spPr>
          <a:xfrm>
            <a:off x="7498080" y="777240"/>
            <a:ext cx="2194560" cy="702945"/>
          </a:xfrm>
          <a:prstGeom prst="rect">
            <a:avLst/>
          </a:prstGeom>
        </p:spPr>
      </p:pic>
      <p:sp>
        <p:nvSpPr>
          <p:cNvPr id="7" name="Text 2"/>
          <p:cNvSpPr/>
          <p:nvPr/>
        </p:nvSpPr>
        <p:spPr>
          <a:xfrm>
            <a:off x="7498080" y="1874520"/>
            <a:ext cx="4114800" cy="502920"/>
          </a:xfrm>
          <a:prstGeom prst="rect">
            <a:avLst/>
          </a:prstGeom>
          <a:noFill/>
          <a:ln/>
        </p:spPr>
        <p:txBody>
          <a:bodyPr wrap="square" lIns="0" tIns="0" rIns="0" bIns="0" rtlCol="0" anchor="ctr"/>
          <a:lstStyle/>
          <a:p>
            <a:pPr indent="0" marL="0">
              <a:buNone/>
            </a:pPr>
            <a:r>
              <a:rPr lang="en-US" sz="2400" dirty="0">
                <a:solidFill>
                  <a:srgbClr val="FFFFFF"/>
                </a:solidFill>
                <a:latin typeface="Poppins SemiBold" pitchFamily="34" charset="0"/>
                <a:ea typeface="Poppins SemiBold" pitchFamily="34" charset="-122"/>
                <a:cs typeface="Poppins SemiBold" pitchFamily="34" charset="-120"/>
              </a:rPr>
              <a:t>Deal team</a:t>
            </a:r>
            <a:endParaRPr lang="en-US" sz="2400" dirty="0"/>
          </a:p>
        </p:txBody>
      </p:sp>
      <p:sp>
        <p:nvSpPr>
          <p:cNvPr id="8" name="Shape 3"/>
          <p:cNvSpPr/>
          <p:nvPr/>
        </p:nvSpPr>
        <p:spPr>
          <a:xfrm rot="5400000">
            <a:off x="7516368" y="2697480"/>
            <a:ext cx="146304" cy="146304"/>
          </a:xfrm>
          <a:prstGeom prst="triangle">
            <a:avLst/>
          </a:prstGeom>
          <a:solidFill>
            <a:srgbClr val="F35B1A"/>
          </a:solidFill>
          <a:ln/>
        </p:spPr>
      </p:sp>
      <p:sp>
        <p:nvSpPr>
          <p:cNvPr id="9" name="Text 4"/>
          <p:cNvSpPr/>
          <p:nvPr/>
        </p:nvSpPr>
        <p:spPr>
          <a:xfrm>
            <a:off x="7772400" y="2606040"/>
            <a:ext cx="4023360" cy="292608"/>
          </a:xfrm>
          <a:prstGeom prst="rect">
            <a:avLst/>
          </a:prstGeom>
          <a:noFill/>
          <a:ln/>
        </p:spPr>
        <p:txBody>
          <a:bodyPr wrap="square" lIns="0" tIns="0" rIns="0" bIns="0" rtlCol="0" anchor="ctr"/>
          <a:lstStyle/>
          <a:p>
            <a:pPr indent="0" marL="0">
              <a:buNone/>
            </a:pPr>
            <a:r>
              <a:rPr lang="en-US" sz="1400" dirty="0">
                <a:solidFill>
                  <a:srgbClr val="FFFFFF"/>
                </a:solidFill>
                <a:latin typeface="Poppins SemiBold" pitchFamily="34" charset="0"/>
                <a:ea typeface="Poppins SemiBold" pitchFamily="34" charset="-122"/>
                <a:cs typeface="Poppins SemiBold" pitchFamily="34" charset="-120"/>
              </a:rPr>
              <a:t>Bruno Iervolino</a:t>
            </a:r>
            <a:endParaRPr lang="en-US" sz="1400" dirty="0"/>
          </a:p>
        </p:txBody>
      </p:sp>
      <p:sp>
        <p:nvSpPr>
          <p:cNvPr id="10" name="Text 5"/>
          <p:cNvSpPr/>
          <p:nvPr/>
        </p:nvSpPr>
        <p:spPr>
          <a:xfrm>
            <a:off x="7772400" y="2898648"/>
            <a:ext cx="4023360" cy="256032"/>
          </a:xfrm>
          <a:prstGeom prst="rect">
            <a:avLst/>
          </a:prstGeom>
          <a:noFill/>
          <a:ln/>
        </p:spPr>
        <p:txBody>
          <a:bodyPr wrap="square" lIns="0" tIns="0" rIns="0" bIns="0" rtlCol="0" anchor="ctr"/>
          <a:lstStyle/>
          <a:p>
            <a:pPr indent="0" marL="0">
              <a:buNone/>
            </a:pPr>
            <a:r>
              <a:rPr lang="en-US" sz="1000" dirty="0">
                <a:solidFill>
                  <a:srgbClr val="F35B1A"/>
                </a:solidFill>
                <a:latin typeface="Poppins" pitchFamily="34" charset="0"/>
                <a:ea typeface="Poppins" pitchFamily="34" charset="-122"/>
                <a:cs typeface="Poppins" pitchFamily="34" charset="-120"/>
              </a:rPr>
              <a:t>bruno.iervolino@igcp.com.br</a:t>
            </a:r>
            <a:endParaRPr lang="en-US" sz="1000" dirty="0"/>
          </a:p>
        </p:txBody>
      </p:sp>
      <p:sp>
        <p:nvSpPr>
          <p:cNvPr id="11" name="Text 6"/>
          <p:cNvSpPr/>
          <p:nvPr/>
        </p:nvSpPr>
        <p:spPr>
          <a:xfrm>
            <a:off x="7772400" y="3154680"/>
            <a:ext cx="4023360" cy="256032"/>
          </a:xfrm>
          <a:prstGeom prst="rect">
            <a:avLst/>
          </a:prstGeom>
          <a:noFill/>
          <a:ln/>
        </p:spPr>
        <p:txBody>
          <a:bodyPr wrap="square" lIns="0" tIns="0" rIns="0" bIns="0" rtlCol="0" anchor="ctr"/>
          <a:lstStyle/>
          <a:p>
            <a:pPr indent="0" marL="0">
              <a:buNone/>
            </a:pPr>
            <a:r>
              <a:rPr lang="en-US" sz="1000" dirty="0">
                <a:solidFill>
                  <a:srgbClr val="AEB6C2"/>
                </a:solidFill>
                <a:latin typeface="Poppins" pitchFamily="34" charset="0"/>
                <a:ea typeface="Poppins" pitchFamily="34" charset="-122"/>
                <a:cs typeface="Poppins" pitchFamily="34" charset="-120"/>
              </a:rPr>
              <a:t>+55 11 3815-3533</a:t>
            </a:r>
            <a:endParaRPr lang="en-US" sz="1000" dirty="0"/>
          </a:p>
        </p:txBody>
      </p:sp>
      <p:sp>
        <p:nvSpPr>
          <p:cNvPr id="12" name="Shape 7"/>
          <p:cNvSpPr/>
          <p:nvPr/>
        </p:nvSpPr>
        <p:spPr>
          <a:xfrm rot="5400000">
            <a:off x="7516368" y="3703320"/>
            <a:ext cx="146304" cy="146304"/>
          </a:xfrm>
          <a:prstGeom prst="triangle">
            <a:avLst/>
          </a:prstGeom>
          <a:solidFill>
            <a:srgbClr val="F35B1A"/>
          </a:solidFill>
          <a:ln/>
        </p:spPr>
      </p:sp>
      <p:sp>
        <p:nvSpPr>
          <p:cNvPr id="13" name="Text 8"/>
          <p:cNvSpPr/>
          <p:nvPr/>
        </p:nvSpPr>
        <p:spPr>
          <a:xfrm>
            <a:off x="7772400" y="3611880"/>
            <a:ext cx="4023360" cy="292608"/>
          </a:xfrm>
          <a:prstGeom prst="rect">
            <a:avLst/>
          </a:prstGeom>
          <a:noFill/>
          <a:ln/>
        </p:spPr>
        <p:txBody>
          <a:bodyPr wrap="square" lIns="0" tIns="0" rIns="0" bIns="0" rtlCol="0" anchor="ctr"/>
          <a:lstStyle/>
          <a:p>
            <a:pPr indent="0" marL="0">
              <a:buNone/>
            </a:pPr>
            <a:r>
              <a:rPr lang="en-US" sz="1400" dirty="0">
                <a:solidFill>
                  <a:srgbClr val="FFFFFF"/>
                </a:solidFill>
                <a:latin typeface="Poppins SemiBold" pitchFamily="34" charset="0"/>
                <a:ea typeface="Poppins SemiBold" pitchFamily="34" charset="-122"/>
                <a:cs typeface="Poppins SemiBold" pitchFamily="34" charset="-120"/>
              </a:rPr>
              <a:t>Gabriel Brito</a:t>
            </a:r>
            <a:endParaRPr lang="en-US" sz="1400" dirty="0"/>
          </a:p>
        </p:txBody>
      </p:sp>
      <p:sp>
        <p:nvSpPr>
          <p:cNvPr id="14" name="Text 9"/>
          <p:cNvSpPr/>
          <p:nvPr/>
        </p:nvSpPr>
        <p:spPr>
          <a:xfrm>
            <a:off x="7772400" y="3904488"/>
            <a:ext cx="4023360" cy="256032"/>
          </a:xfrm>
          <a:prstGeom prst="rect">
            <a:avLst/>
          </a:prstGeom>
          <a:noFill/>
          <a:ln/>
        </p:spPr>
        <p:txBody>
          <a:bodyPr wrap="square" lIns="0" tIns="0" rIns="0" bIns="0" rtlCol="0" anchor="ctr"/>
          <a:lstStyle/>
          <a:p>
            <a:pPr indent="0" marL="0">
              <a:buNone/>
            </a:pPr>
            <a:r>
              <a:rPr lang="en-US" sz="1000" dirty="0">
                <a:solidFill>
                  <a:srgbClr val="F35B1A"/>
                </a:solidFill>
                <a:latin typeface="Poppins" pitchFamily="34" charset="0"/>
                <a:ea typeface="Poppins" pitchFamily="34" charset="-122"/>
                <a:cs typeface="Poppins" pitchFamily="34" charset="-120"/>
              </a:rPr>
              <a:t>gabriel.brito@igcp.com.br</a:t>
            </a:r>
            <a:endParaRPr lang="en-US" sz="1000" dirty="0"/>
          </a:p>
        </p:txBody>
      </p:sp>
      <p:sp>
        <p:nvSpPr>
          <p:cNvPr id="15" name="Text 10"/>
          <p:cNvSpPr/>
          <p:nvPr/>
        </p:nvSpPr>
        <p:spPr>
          <a:xfrm>
            <a:off x="7772400" y="4160520"/>
            <a:ext cx="4023360" cy="256032"/>
          </a:xfrm>
          <a:prstGeom prst="rect">
            <a:avLst/>
          </a:prstGeom>
          <a:noFill/>
          <a:ln/>
        </p:spPr>
        <p:txBody>
          <a:bodyPr wrap="square" lIns="0" tIns="0" rIns="0" bIns="0" rtlCol="0" anchor="ctr"/>
          <a:lstStyle/>
          <a:p>
            <a:pPr indent="0" marL="0">
              <a:buNone/>
            </a:pPr>
            <a:r>
              <a:rPr lang="en-US" sz="1000" dirty="0">
                <a:solidFill>
                  <a:srgbClr val="AEB6C2"/>
                </a:solidFill>
                <a:latin typeface="Poppins" pitchFamily="34" charset="0"/>
                <a:ea typeface="Poppins" pitchFamily="34" charset="-122"/>
                <a:cs typeface="Poppins" pitchFamily="34" charset="-120"/>
              </a:rPr>
              <a:t>+55 11 3815-3533</a:t>
            </a:r>
            <a:endParaRPr lang="en-US" sz="1000" dirty="0"/>
          </a:p>
        </p:txBody>
      </p:sp>
      <p:sp>
        <p:nvSpPr>
          <p:cNvPr id="16" name="Shape 11"/>
          <p:cNvSpPr/>
          <p:nvPr/>
        </p:nvSpPr>
        <p:spPr>
          <a:xfrm>
            <a:off x="7516368" y="4800600"/>
            <a:ext cx="3931920" cy="0"/>
          </a:xfrm>
          <a:prstGeom prst="line">
            <a:avLst/>
          </a:prstGeom>
          <a:noFill/>
          <a:ln w="12700">
            <a:solidFill>
              <a:srgbClr val="323E50"/>
            </a:solidFill>
            <a:prstDash val="solid"/>
          </a:ln>
        </p:spPr>
      </p:sp>
      <p:sp>
        <p:nvSpPr>
          <p:cNvPr id="17" name="Text 12"/>
          <p:cNvSpPr/>
          <p:nvPr/>
        </p:nvSpPr>
        <p:spPr>
          <a:xfrm>
            <a:off x="7516368" y="4983480"/>
            <a:ext cx="4023360" cy="868680"/>
          </a:xfrm>
          <a:prstGeom prst="rect">
            <a:avLst/>
          </a:prstGeom>
          <a:noFill/>
          <a:ln/>
        </p:spPr>
        <p:txBody>
          <a:bodyPr wrap="square" lIns="0" tIns="0" rIns="0" bIns="0" rtlCol="0" anchor="t"/>
          <a:lstStyle/>
          <a:p>
            <a:pPr indent="0" marL="0">
              <a:lnSpc>
                <a:spcPct val="120000"/>
              </a:lnSpc>
              <a:buNone/>
            </a:pPr>
            <a:r>
              <a:rPr lang="en-US" sz="900" dirty="0">
                <a:solidFill>
                  <a:srgbClr val="AEB6C2"/>
                </a:solidFill>
                <a:latin typeface="Poppins" pitchFamily="34" charset="0"/>
                <a:ea typeface="Poppins" pitchFamily="34" charset="-122"/>
                <a:cs typeface="Poppins" pitchFamily="34" charset="-120"/>
              </a:rPr>
              <a:t>Av. Brigadeiro Faria Lima, 2277 – 6th floor</a:t>
            </a:r>
            <a:endParaRPr lang="en-US" sz="900" dirty="0"/>
          </a:p>
          <a:p>
            <a:pPr indent="0" marL="0">
              <a:lnSpc>
                <a:spcPct val="120000"/>
              </a:lnSpc>
              <a:buNone/>
            </a:pPr>
            <a:r>
              <a:rPr lang="en-US" sz="900" dirty="0">
                <a:solidFill>
                  <a:srgbClr val="AEB6C2"/>
                </a:solidFill>
                <a:latin typeface="Poppins" pitchFamily="34" charset="0"/>
                <a:ea typeface="Poppins" pitchFamily="34" charset="-122"/>
                <a:cs typeface="Poppins" pitchFamily="34" charset="-120"/>
              </a:rPr>
              <a:t>01452-000, Jardim Paulistano, São Paulo – SP</a:t>
            </a:r>
            <a:endParaRPr lang="en-US" sz="900" dirty="0"/>
          </a:p>
          <a:p>
            <a:pPr indent="0" marL="0">
              <a:lnSpc>
                <a:spcPct val="120000"/>
              </a:lnSpc>
              <a:buNone/>
            </a:pPr>
            <a:r>
              <a:rPr lang="en-US" sz="900" dirty="0">
                <a:solidFill>
                  <a:srgbClr val="AEB6C2"/>
                </a:solidFill>
                <a:latin typeface="Poppins" pitchFamily="34" charset="0"/>
                <a:ea typeface="Poppins" pitchFamily="34" charset="-122"/>
                <a:cs typeface="Poppins" pitchFamily="34" charset="-120"/>
              </a:rPr>
              <a:t>+55 11 3815-3533</a:t>
            </a:r>
            <a:endParaRPr lang="en-US" sz="900" dirty="0"/>
          </a:p>
        </p:txBody>
      </p:sp>
      <p:pic>
        <p:nvPicPr>
          <p:cNvPr id="18" name="Image 3" descr="assets/igc_white.png">    </p:cNvPr>
          <p:cNvPicPr>
            <a:picLocks noChangeAspect="1"/>
          </p:cNvPicPr>
          <p:nvPr/>
        </p:nvPicPr>
        <p:blipFill>
          <a:blip r:embed="rId4"/>
          <a:stretch>
            <a:fillRect/>
          </a:stretch>
        </p:blipFill>
        <p:spPr>
          <a:xfrm>
            <a:off x="7516368" y="5989320"/>
            <a:ext cx="548640" cy="474269"/>
          </a:xfrm>
          <a:prstGeom prst="rect">
            <a:avLst/>
          </a:prstGeom>
        </p:spPr>
      </p:pic>
      <p:sp>
        <p:nvSpPr>
          <p:cNvPr id="19" name="Text 13"/>
          <p:cNvSpPr/>
          <p:nvPr/>
        </p:nvSpPr>
        <p:spPr>
          <a:xfrm>
            <a:off x="731520" y="6355080"/>
            <a:ext cx="4572000" cy="274320"/>
          </a:xfrm>
          <a:prstGeom prst="rect">
            <a:avLst/>
          </a:prstGeom>
          <a:noFill/>
          <a:ln/>
        </p:spPr>
        <p:txBody>
          <a:bodyPr wrap="square" lIns="0" tIns="0" rIns="0" bIns="0" rtlCol="0" anchor="ctr"/>
          <a:lstStyle/>
          <a:p>
            <a:pPr indent="0" marL="0">
              <a:buNone/>
            </a:pPr>
            <a:r>
              <a:rPr lang="en-US" sz="1000" dirty="0">
                <a:solidFill>
                  <a:srgbClr val="E8ECF1"/>
                </a:solidFill>
                <a:latin typeface="Poppins Medium" pitchFamily="34" charset="0"/>
                <a:ea typeface="Poppins Medium" pitchFamily="34" charset="-122"/>
                <a:cs typeface="Poppins Medium" pitchFamily="34" charset="-120"/>
              </a:rPr>
              <a:t>Confidential Information Memorandum</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Compass — Confidential Information Memorandum</dc:title>
  <dc:subject>PptxGenJS Presentation</dc:subject>
  <dc:creator>IGC Partners</dc:creator>
  <cp:lastModifiedBy>IGC Partners</cp:lastModifiedBy>
  <cp:revision>1</cp:revision>
  <dcterms:created xsi:type="dcterms:W3CDTF">2026-08-11T14:57:26Z</dcterms:created>
  <dcterms:modified xsi:type="dcterms:W3CDTF">2026-08-11T14:57:26Z</dcterms:modified>
</cp:coreProperties>
</file>
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580A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Precificação final — Enterprise Value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 da precificação da Biscoitê baseada em diferentes metodologias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761488" cy="329184"/>
          </a:xfrm>
          <a:prstGeom prst="roundRect">
            <a:avLst>
              <a:gd name="adj" fmla="val 50000"/>
            </a:avLst>
          </a:prstGeom>
          <a:solidFill>
            <a:srgbClr val="F9F6EF"/>
          </a:solidFill>
          <a:ln w="12700">
            <a:solidFill>
              <a:srgbClr val="D3A9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EBITDA 2026E  </a:t>
            </a:r>
            <a:pPr algn="ctr" indent="0" marL="0">
              <a:buNone/>
            </a:pPr>
            <a:r>
              <a:rPr lang="en-US" sz="900" dirty="0">
                <a:solidFill>
                  <a:srgbClr val="41324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R$ 21,4 MM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12801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DCF: WACC 17,6% – 21,6% (base 19,6%) · g = 3,0%   ·   Múltiplos: variação de ±10%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80" kern="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Enterprise Value — R$ MM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05556" y="1874520"/>
            <a:ext cx="9144" cy="3538728"/>
          </a:xfrm>
          <a:prstGeom prst="rect">
            <a:avLst/>
          </a:prstGeom>
          <a:solidFill>
            <a:srgbClr val="E3E7EC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6002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18888" y="1874520"/>
            <a:ext cx="9144" cy="3538728"/>
          </a:xfrm>
          <a:prstGeom prst="rect">
            <a:avLst/>
          </a:prstGeom>
          <a:solidFill>
            <a:srgbClr val="E3E7EC"/>
          </a:solidFill>
          <a:ln/>
        </p:spPr>
      </p:sp>
      <p:sp>
        <p:nvSpPr>
          <p:cNvPr id="11" name="Text 9"/>
          <p:cNvSpPr/>
          <p:nvPr/>
        </p:nvSpPr>
        <p:spPr>
          <a:xfrm>
            <a:off x="4439412" y="16002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160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32220" y="1874520"/>
            <a:ext cx="9144" cy="3538728"/>
          </a:xfrm>
          <a:prstGeom prst="rect">
            <a:avLst/>
          </a:prstGeom>
          <a:solidFill>
            <a:srgbClr val="E3E7EC"/>
          </a:solidFill>
          <a:ln/>
        </p:spPr>
      </p:sp>
      <p:sp>
        <p:nvSpPr>
          <p:cNvPr id="13" name="Text 11"/>
          <p:cNvSpPr/>
          <p:nvPr/>
        </p:nvSpPr>
        <p:spPr>
          <a:xfrm>
            <a:off x="5952744" y="16002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200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845552" y="1874520"/>
            <a:ext cx="9144" cy="3538728"/>
          </a:xfrm>
          <a:prstGeom prst="rect">
            <a:avLst/>
          </a:prstGeom>
          <a:solidFill>
            <a:srgbClr val="E3E7EC"/>
          </a:solidFill>
          <a:ln/>
        </p:spPr>
      </p:sp>
      <p:sp>
        <p:nvSpPr>
          <p:cNvPr id="15" name="Text 13"/>
          <p:cNvSpPr/>
          <p:nvPr/>
        </p:nvSpPr>
        <p:spPr>
          <a:xfrm>
            <a:off x="7466076" y="16002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240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358884" y="1874520"/>
            <a:ext cx="9144" cy="3538728"/>
          </a:xfrm>
          <a:prstGeom prst="rect">
            <a:avLst/>
          </a:prstGeom>
          <a:solidFill>
            <a:srgbClr val="E3E7EC"/>
          </a:solidFill>
          <a:ln/>
        </p:spPr>
      </p:sp>
      <p:sp>
        <p:nvSpPr>
          <p:cNvPr id="17" name="Text 15"/>
          <p:cNvSpPr/>
          <p:nvPr/>
        </p:nvSpPr>
        <p:spPr>
          <a:xfrm>
            <a:off x="8979408" y="16002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280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05576" y="1874520"/>
            <a:ext cx="1430099" cy="3538728"/>
          </a:xfrm>
          <a:prstGeom prst="rect">
            <a:avLst/>
          </a:prstGeom>
          <a:solidFill>
            <a:srgbClr val="F5EBD3"/>
          </a:solidFill>
          <a:ln/>
        </p:spPr>
      </p:sp>
      <p:sp>
        <p:nvSpPr>
          <p:cNvPr id="19" name="Shape 17"/>
          <p:cNvSpPr/>
          <p:nvPr/>
        </p:nvSpPr>
        <p:spPr>
          <a:xfrm>
            <a:off x="5205576" y="1874520"/>
            <a:ext cx="0" cy="3538728"/>
          </a:xfrm>
          <a:prstGeom prst="line">
            <a:avLst/>
          </a:prstGeom>
          <a:noFill/>
          <a:ln w="12700">
            <a:solidFill>
              <a:srgbClr val="D3A93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635675" y="1874520"/>
            <a:ext cx="0" cy="3538728"/>
          </a:xfrm>
          <a:prstGeom prst="line">
            <a:avLst/>
          </a:prstGeom>
          <a:noFill/>
          <a:ln w="12700">
            <a:solidFill>
              <a:srgbClr val="D3A93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205576" y="1874520"/>
            <a:ext cx="14300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90" kern="0" dirty="0">
                <a:solidFill>
                  <a:srgbClr val="A884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FAIXA CONCLUÍDA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31520" y="217627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132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DCF — base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2811" y="2212848"/>
            <a:ext cx="2353231" cy="292608"/>
          </a:xfrm>
          <a:prstGeom prst="roundRect">
            <a:avLst>
              <a:gd name="adj" fmla="val 12500"/>
            </a:avLst>
          </a:prstGeom>
          <a:solidFill>
            <a:srgbClr val="6580A2"/>
          </a:solidFill>
          <a:ln/>
        </p:spPr>
      </p:sp>
      <p:sp>
        <p:nvSpPr>
          <p:cNvPr id="24" name="Text 22"/>
          <p:cNvSpPr/>
          <p:nvPr/>
        </p:nvSpPr>
        <p:spPr>
          <a:xfrm>
            <a:off x="2814443" y="2212848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124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9194" y="2212848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1324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187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076688" y="221284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80A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5,8x – 8,7x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" y="267004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132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DCF — investidor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00676" y="2706624"/>
            <a:ext cx="2432681" cy="292608"/>
          </a:xfrm>
          <a:prstGeom prst="roundRect">
            <a:avLst>
              <a:gd name="adj" fmla="val 12500"/>
            </a:avLst>
          </a:prstGeom>
          <a:solidFill>
            <a:srgbClr val="6580A2"/>
          </a:solidFill>
          <a:ln/>
        </p:spPr>
      </p:sp>
      <p:sp>
        <p:nvSpPr>
          <p:cNvPr id="29" name="Text 27"/>
          <p:cNvSpPr/>
          <p:nvPr/>
        </p:nvSpPr>
        <p:spPr>
          <a:xfrm>
            <a:off x="4842308" y="270662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178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6509" y="270662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1324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242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76688" y="2706624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80A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8,3x – 11,3x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" y="32918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132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Companhias listadas Brasil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99811" y="3328416"/>
            <a:ext cx="1097166" cy="292608"/>
          </a:xfrm>
          <a:prstGeom prst="roundRect">
            <a:avLst>
              <a:gd name="adj" fmla="val 12500"/>
            </a:avLst>
          </a:prstGeom>
          <a:solidFill>
            <a:srgbClr val="BED7E7"/>
          </a:solidFill>
          <a:ln w="9525">
            <a:solidFill>
              <a:srgbClr val="6580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41443" y="3328416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130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70129" y="3328416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1324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159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076688" y="3328416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80A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6,1x – 7,5x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1520" y="378561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132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Companhias listadas Europa + EUA¹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97325" y="3822192"/>
            <a:ext cx="1694932" cy="292608"/>
          </a:xfrm>
          <a:prstGeom prst="roundRect">
            <a:avLst>
              <a:gd name="adj" fmla="val 12500"/>
            </a:avLst>
          </a:prstGeom>
          <a:solidFill>
            <a:srgbClr val="BED7E7"/>
          </a:solidFill>
          <a:ln w="9525">
            <a:solidFill>
              <a:srgbClr val="6580A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38957" y="3822192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202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165409" y="3822192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1324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246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076688" y="3822192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80A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9,5x – 11,6x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1520" y="427939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132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Transações comparáveis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34558" y="4315968"/>
            <a:ext cx="1815998" cy="292608"/>
          </a:xfrm>
          <a:prstGeom prst="roundRect">
            <a:avLst>
              <a:gd name="adj" fmla="val 12500"/>
            </a:avLst>
          </a:prstGeom>
          <a:solidFill>
            <a:srgbClr val="BED7E7"/>
          </a:solidFill>
          <a:ln w="9525">
            <a:solidFill>
              <a:srgbClr val="6580A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6190" y="4315968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216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823709" y="4315968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1324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264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076688" y="431596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80A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10,1x – 12,3x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85216" y="2212848"/>
            <a:ext cx="20117" cy="78638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48" name="Text 46"/>
          <p:cNvSpPr/>
          <p:nvPr/>
        </p:nvSpPr>
        <p:spPr>
          <a:xfrm rot="16200000">
            <a:off x="-91440" y="24688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6580A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INTRÍNSECO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85216" y="3328416"/>
            <a:ext cx="20117" cy="1280160"/>
          </a:xfrm>
          <a:prstGeom prst="rect">
            <a:avLst/>
          </a:prstGeom>
          <a:solidFill>
            <a:srgbClr val="BED7E7"/>
          </a:solidFill>
          <a:ln/>
        </p:spPr>
      </p:sp>
      <p:sp>
        <p:nvSpPr>
          <p:cNvPr id="50" name="Text 48"/>
          <p:cNvSpPr/>
          <p:nvPr/>
        </p:nvSpPr>
        <p:spPr>
          <a:xfrm rot="16200000">
            <a:off x="-91440" y="383133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8FA8C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MERCADO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31520" y="4709160"/>
            <a:ext cx="10728655" cy="10973"/>
          </a:xfrm>
          <a:prstGeom prst="rect">
            <a:avLst/>
          </a:prstGeom>
          <a:solidFill>
            <a:srgbClr val="E3E7EC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4828032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84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Faixa de precificação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472811" y="4919472"/>
            <a:ext cx="5277745" cy="256032"/>
          </a:xfrm>
          <a:prstGeom prst="roundRect">
            <a:avLst>
              <a:gd name="adj" fmla="val 14286"/>
            </a:avLst>
          </a:prstGeom>
          <a:solidFill>
            <a:srgbClr val="F1F3F5"/>
          </a:solidFill>
          <a:ln/>
        </p:spPr>
      </p:sp>
      <p:sp>
        <p:nvSpPr>
          <p:cNvPr id="54" name="Shape 52"/>
          <p:cNvSpPr/>
          <p:nvPr/>
        </p:nvSpPr>
        <p:spPr>
          <a:xfrm>
            <a:off x="5205576" y="4846320"/>
            <a:ext cx="1430099" cy="402336"/>
          </a:xfrm>
          <a:prstGeom prst="roundRect">
            <a:avLst>
              <a:gd name="adj" fmla="val 11364"/>
            </a:avLst>
          </a:prstGeom>
          <a:solidFill>
            <a:srgbClr val="D3A93D"/>
          </a:solidFill>
          <a:ln/>
        </p:spPr>
      </p:sp>
      <p:sp>
        <p:nvSpPr>
          <p:cNvPr id="55" name="Shape 53"/>
          <p:cNvSpPr/>
          <p:nvPr/>
        </p:nvSpPr>
        <p:spPr>
          <a:xfrm>
            <a:off x="5920626" y="4791456"/>
            <a:ext cx="0" cy="51206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47208" y="484632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84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170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08827" y="484632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84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208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076688" y="4846320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84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7,9x – 9,7x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27928" y="5413248"/>
            <a:ext cx="0" cy="64008"/>
          </a:xfrm>
          <a:prstGeom prst="line">
            <a:avLst/>
          </a:prstGeom>
          <a:noFill/>
          <a:ln w="9525">
            <a:solidFill>
              <a:srgbClr val="9AA3A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43880" y="548640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6,0x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247193" y="5413248"/>
            <a:ext cx="0" cy="64008"/>
          </a:xfrm>
          <a:prstGeom prst="line">
            <a:avLst/>
          </a:prstGeom>
          <a:noFill/>
          <a:ln w="9525">
            <a:solidFill>
              <a:srgbClr val="9AA3A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63145" y="548640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8,0x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866458" y="5413248"/>
            <a:ext cx="0" cy="64008"/>
          </a:xfrm>
          <a:prstGeom prst="line">
            <a:avLst/>
          </a:prstGeom>
          <a:noFill/>
          <a:ln w="9525">
            <a:solidFill>
              <a:srgbClr val="9AA3A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82410" y="548640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10,0x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485723" y="5413248"/>
            <a:ext cx="0" cy="64008"/>
          </a:xfrm>
          <a:prstGeom prst="line">
            <a:avLst/>
          </a:prstGeom>
          <a:noFill/>
          <a:ln w="9525">
            <a:solidFill>
              <a:srgbClr val="9AA3A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01675" y="548640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12,0x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24128" y="54772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EV / EBITDA 2026E  →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31520" y="5907024"/>
            <a:ext cx="10728655" cy="457200"/>
          </a:xfrm>
          <a:prstGeom prst="roundRect">
            <a:avLst>
              <a:gd name="adj" fmla="val 12000"/>
            </a:avLst>
          </a:prstGeom>
          <a:solidFill>
            <a:srgbClr val="F9F6EF"/>
          </a:solidFill>
          <a:ln w="12700">
            <a:solidFill>
              <a:srgbClr val="D3A93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" y="5907024"/>
            <a:ext cx="54864" cy="457200"/>
          </a:xfrm>
          <a:prstGeom prst="rect">
            <a:avLst/>
          </a:prstGeom>
          <a:solidFill>
            <a:srgbClr val="D3A93D"/>
          </a:solidFill>
          <a:ln/>
        </p:spPr>
      </p:sp>
      <p:sp>
        <p:nvSpPr>
          <p:cNvPr id="70" name="Text 68"/>
          <p:cNvSpPr/>
          <p:nvPr/>
        </p:nvSpPr>
        <p:spPr>
          <a:xfrm>
            <a:off x="987552" y="59070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Faixa de precificação sugerida   </a:t>
            </a:r>
            <a:pPr indent="0" marL="0">
              <a:buNone/>
            </a:pPr>
            <a:r>
              <a:rPr lang="en-US" sz="1400" dirty="0">
                <a:solidFill>
                  <a:srgbClr val="41324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R$ 170 – 208 MM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ponto médio  </a:t>
            </a:r>
            <a:pPr indent="0" marL="0">
              <a:buNone/>
            </a:pPr>
            <a:r>
              <a:rPr lang="en-US" sz="1050" dirty="0">
                <a:solidFill>
                  <a:srgbClr val="41324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R$ 189 MM</a:t>
            </a:r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A8842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7,9x – 9,7x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EBITDA 2026E</a:t>
            </a:r>
            <a:endParaRPr lang="en-US" sz="950" dirty="0"/>
          </a:p>
        </p:txBody>
      </p:sp>
      <p:pic>
        <p:nvPicPr>
          <p:cNvPr id="71" name="Image 0" descr="assets/bluebird/ig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687" y="384048"/>
            <a:ext cx="475488" cy="411033"/>
          </a:xfrm>
          <a:prstGeom prst="rect">
            <a:avLst/>
          </a:prstGeom>
        </p:spPr>
      </p:pic>
      <p:pic>
        <p:nvPicPr>
          <p:cNvPr id="72" name="Image 1" descr="assets/bluebird/bisco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6327648"/>
            <a:ext cx="1143000" cy="426720"/>
          </a:xfrm>
          <a:prstGeom prst="rect">
            <a:avLst/>
          </a:prstGeom>
        </p:spPr>
      </p:pic>
      <p:sp>
        <p:nvSpPr>
          <p:cNvPr id="73" name="Text 69"/>
          <p:cNvSpPr/>
          <p:nvPr/>
        </p:nvSpPr>
        <p:spPr>
          <a:xfrm>
            <a:off x="1060704" y="647395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3A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Fonte: Empresa, S&amp;P Capital IQ, Mergermarket.  (1) Desconto de 14,3% sobre os múltiplos das listadas no exterior, equivalente aos prêmios de tamanho, liquidez e risco-país refletidos no custo de capital.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731520" y="6473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Bluebird — Precificação final</dc:title>
  <dc:subject>PptxGenJS Presentation</dc:subject>
  <dc:creator>IGC Partners</dc:creator>
  <cp:lastModifiedBy>IGC Partners</cp:lastModifiedBy>
  <cp:revision>1</cp:revision>
  <dcterms:created xsi:type="dcterms:W3CDTF">2026-08-17T21:11:26Z</dcterms:created>
  <dcterms:modified xsi:type="dcterms:W3CDTF">2026-08-17T21:11:26Z</dcterms:modified>
</cp:coreProperties>
</file>
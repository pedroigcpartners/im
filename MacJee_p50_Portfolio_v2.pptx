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92278" y="268834"/>
            <a:ext cx="1828800" cy="146304"/>
          </a:xfrm>
          <a:prstGeom prst="rect">
            <a:avLst/>
          </a:prstGeom>
          <a:noFill/>
          <a:ln/>
        </p:spPr>
        <p:txBody>
          <a:bodyPr wrap="square" lIns="0" tIns="0" rIns="0" bIns="0" rtlCol="0" anchor="t"/>
          <a:lstStyle/>
          <a:p>
            <a:pPr indent="0" marL="0">
              <a:buNone/>
            </a:pPr>
            <a:r>
              <a:rPr lang="en-US" sz="700" dirty="0">
                <a:solidFill>
                  <a:srgbClr val="BFBFBF"/>
                </a:solidFill>
                <a:latin typeface="Montserrat" pitchFamily="34" charset="0"/>
                <a:ea typeface="Montserrat" pitchFamily="34" charset="-122"/>
                <a:cs typeface="Montserrat" pitchFamily="34" charset="-120"/>
              </a:rPr>
              <a:t>Mac Jee At a Glance</a:t>
            </a:r>
            <a:endParaRPr lang="en-US" sz="700" dirty="0"/>
          </a:p>
        </p:txBody>
      </p:sp>
      <p:sp>
        <p:nvSpPr>
          <p:cNvPr id="3" name="Text 1"/>
          <p:cNvSpPr/>
          <p:nvPr/>
        </p:nvSpPr>
        <p:spPr>
          <a:xfrm>
            <a:off x="1634947" y="268834"/>
            <a:ext cx="1828800" cy="146304"/>
          </a:xfrm>
          <a:prstGeom prst="rect">
            <a:avLst/>
          </a:prstGeom>
          <a:noFill/>
          <a:ln/>
        </p:spPr>
        <p:txBody>
          <a:bodyPr wrap="square" lIns="0" tIns="0" rIns="0" bIns="0" rtlCol="0" anchor="t"/>
          <a:lstStyle/>
          <a:p>
            <a:pPr indent="0" marL="0">
              <a:buNone/>
            </a:pPr>
            <a:r>
              <a:rPr lang="en-US" sz="700" dirty="0">
                <a:solidFill>
                  <a:srgbClr val="BFBFBF"/>
                </a:solidFill>
                <a:latin typeface="Montserrat" pitchFamily="34" charset="0"/>
                <a:ea typeface="Montserrat" pitchFamily="34" charset="-122"/>
                <a:cs typeface="Montserrat" pitchFamily="34" charset="-120"/>
              </a:rPr>
              <a:t>Mac Jee Investment Thesis</a:t>
            </a:r>
            <a:endParaRPr lang="en-US" sz="700" dirty="0"/>
          </a:p>
        </p:txBody>
      </p:sp>
      <p:sp>
        <p:nvSpPr>
          <p:cNvPr id="4" name="Text 2"/>
          <p:cNvSpPr/>
          <p:nvPr/>
        </p:nvSpPr>
        <p:spPr>
          <a:xfrm>
            <a:off x="3183026" y="268834"/>
            <a:ext cx="1828800" cy="146304"/>
          </a:xfrm>
          <a:prstGeom prst="rect">
            <a:avLst/>
          </a:prstGeom>
          <a:noFill/>
          <a:ln/>
        </p:spPr>
        <p:txBody>
          <a:bodyPr wrap="square" lIns="0" tIns="0" rIns="0" bIns="0" rtlCol="0" anchor="t"/>
          <a:lstStyle/>
          <a:p>
            <a:pPr indent="0" marL="0">
              <a:buNone/>
            </a:pPr>
            <a:r>
              <a:rPr lang="en-US" sz="700" dirty="0">
                <a:solidFill>
                  <a:srgbClr val="BFBFBF"/>
                </a:solidFill>
                <a:latin typeface="Montserrat" pitchFamily="34" charset="0"/>
                <a:ea typeface="Montserrat" pitchFamily="34" charset="-122"/>
                <a:cs typeface="Montserrat" pitchFamily="34" charset="-120"/>
              </a:rPr>
              <a:t>Business Units and Portfolio</a:t>
            </a:r>
            <a:endParaRPr lang="en-US" sz="700" dirty="0"/>
          </a:p>
        </p:txBody>
      </p:sp>
      <p:sp>
        <p:nvSpPr>
          <p:cNvPr id="5" name="Text 3"/>
          <p:cNvSpPr/>
          <p:nvPr/>
        </p:nvSpPr>
        <p:spPr>
          <a:xfrm>
            <a:off x="4742078" y="268834"/>
            <a:ext cx="1097280" cy="146304"/>
          </a:xfrm>
          <a:prstGeom prst="rect">
            <a:avLst/>
          </a:prstGeom>
          <a:noFill/>
          <a:ln/>
        </p:spPr>
        <p:txBody>
          <a:bodyPr wrap="square" lIns="0" tIns="0" rIns="0" bIns="0" rtlCol="0" anchor="t"/>
          <a:lstStyle/>
          <a:p>
            <a:pPr indent="0" marL="0">
              <a:buNone/>
            </a:pPr>
            <a:r>
              <a:rPr lang="en-US" sz="700" dirty="0">
                <a:solidFill>
                  <a:srgbClr val="00178D"/>
                </a:solidFill>
                <a:latin typeface="Montserrat SemiBold" pitchFamily="34" charset="0"/>
                <a:ea typeface="Montserrat SemiBold" pitchFamily="34" charset="-122"/>
                <a:cs typeface="Montserrat SemiBold" pitchFamily="34" charset="-120"/>
              </a:rPr>
              <a:t>Financials</a:t>
            </a:r>
            <a:endParaRPr lang="en-US" sz="700" dirty="0"/>
          </a:p>
        </p:txBody>
      </p:sp>
      <p:sp>
        <p:nvSpPr>
          <p:cNvPr id="6" name="Shape 4"/>
          <p:cNvSpPr/>
          <p:nvPr/>
        </p:nvSpPr>
        <p:spPr>
          <a:xfrm>
            <a:off x="4730191" y="418795"/>
            <a:ext cx="464515" cy="51206"/>
          </a:xfrm>
          <a:prstGeom prst="rect">
            <a:avLst/>
          </a:prstGeom>
          <a:solidFill>
            <a:srgbClr val="27B0FF"/>
          </a:solidFill>
          <a:ln/>
        </p:spPr>
      </p:sp>
      <p:sp>
        <p:nvSpPr>
          <p:cNvPr id="7" name="Shape 5"/>
          <p:cNvSpPr/>
          <p:nvPr/>
        </p:nvSpPr>
        <p:spPr>
          <a:xfrm>
            <a:off x="4730191" y="418795"/>
            <a:ext cx="51206" cy="51206"/>
          </a:xfrm>
          <a:prstGeom prst="diamond">
            <a:avLst/>
          </a:prstGeom>
          <a:solidFill>
            <a:srgbClr val="27B0FF"/>
          </a:solidFill>
          <a:ln/>
        </p:spPr>
      </p:sp>
      <p:sp>
        <p:nvSpPr>
          <p:cNvPr id="8" name="Shape 6"/>
          <p:cNvSpPr/>
          <p:nvPr/>
        </p:nvSpPr>
        <p:spPr>
          <a:xfrm>
            <a:off x="5143500" y="418795"/>
            <a:ext cx="51206" cy="51206"/>
          </a:xfrm>
          <a:prstGeom prst="diamond">
            <a:avLst/>
          </a:prstGeom>
          <a:solidFill>
            <a:srgbClr val="27B0FF"/>
          </a:solidFill>
          <a:ln/>
        </p:spPr>
      </p:sp>
      <p:sp>
        <p:nvSpPr>
          <p:cNvPr id="9" name="Text 7"/>
          <p:cNvSpPr/>
          <p:nvPr/>
        </p:nvSpPr>
        <p:spPr>
          <a:xfrm>
            <a:off x="392278" y="732434"/>
            <a:ext cx="9509760" cy="365760"/>
          </a:xfrm>
          <a:prstGeom prst="rect">
            <a:avLst/>
          </a:prstGeom>
          <a:noFill/>
          <a:ln/>
        </p:spPr>
        <p:txBody>
          <a:bodyPr wrap="square" lIns="0" tIns="0" rIns="0" bIns="0" rtlCol="0" anchor="t"/>
          <a:lstStyle/>
          <a:p>
            <a:pPr indent="0" marL="0">
              <a:buNone/>
            </a:pPr>
            <a:r>
              <a:rPr lang="en-US" sz="2400" b="1" dirty="0">
                <a:solidFill>
                  <a:srgbClr val="00092B"/>
                </a:solidFill>
                <a:latin typeface="Montserrat" pitchFamily="34" charset="0"/>
                <a:ea typeface="Montserrat" pitchFamily="34" charset="-122"/>
                <a:cs typeface="Montserrat" pitchFamily="34" charset="-120"/>
              </a:rPr>
              <a:t>A large portfolio of US$ 4.6 bn to drive business revenues</a:t>
            </a:r>
            <a:endParaRPr lang="en-US" sz="2400" dirty="0"/>
          </a:p>
        </p:txBody>
      </p:sp>
      <p:sp>
        <p:nvSpPr>
          <p:cNvPr id="10" name="Text 8"/>
          <p:cNvSpPr/>
          <p:nvPr/>
        </p:nvSpPr>
        <p:spPr>
          <a:xfrm>
            <a:off x="342900" y="1144829"/>
            <a:ext cx="10515600" cy="237744"/>
          </a:xfrm>
          <a:prstGeom prst="rect">
            <a:avLst/>
          </a:prstGeom>
          <a:noFill/>
          <a:ln/>
        </p:spPr>
        <p:txBody>
          <a:bodyPr wrap="square" lIns="0" tIns="0" rIns="0" bIns="0" rtlCol="0" anchor="t"/>
          <a:lstStyle/>
          <a:p>
            <a:pPr indent="0" marL="0">
              <a:buNone/>
            </a:pPr>
            <a:r>
              <a:rPr lang="en-US" sz="1200" dirty="0">
                <a:solidFill>
                  <a:srgbClr val="000312"/>
                </a:solidFill>
                <a:latin typeface="Montserrat" pitchFamily="34" charset="0"/>
                <a:ea typeface="Montserrat" pitchFamily="34" charset="-122"/>
                <a:cs typeface="Montserrat" pitchFamily="34" charset="-120"/>
              </a:rPr>
              <a:t>55 named programmes across 21 countries: 1.1x the entire 2026–32 revenue plan, already identified commercially</a:t>
            </a:r>
            <a:endParaRPr lang="en-US" sz="1200" dirty="0"/>
          </a:p>
        </p:txBody>
      </p:sp>
      <p:sp>
        <p:nvSpPr>
          <p:cNvPr id="11" name="Shape 9"/>
          <p:cNvSpPr/>
          <p:nvPr/>
        </p:nvSpPr>
        <p:spPr>
          <a:xfrm>
            <a:off x="10065715" y="0"/>
            <a:ext cx="914400" cy="914400"/>
          </a:xfrm>
          <a:prstGeom prst="rect">
            <a:avLst/>
          </a:prstGeom>
          <a:solidFill>
            <a:srgbClr val="EE0000"/>
          </a:solidFill>
          <a:ln/>
        </p:spPr>
      </p:sp>
      <p:sp>
        <p:nvSpPr>
          <p:cNvPr id="12" name="Text 10"/>
          <p:cNvSpPr/>
          <p:nvPr/>
        </p:nvSpPr>
        <p:spPr>
          <a:xfrm>
            <a:off x="10065715" y="324612"/>
            <a:ext cx="914400" cy="274320"/>
          </a:xfrm>
          <a:prstGeom prst="rect">
            <a:avLst/>
          </a:prstGeom>
          <a:noFill/>
          <a:ln/>
        </p:spPr>
        <p:txBody>
          <a:bodyPr wrap="square" lIns="0" tIns="0" rIns="0" bIns="0" rtlCol="0" anchor="ctr"/>
          <a:lstStyle/>
          <a:p>
            <a:pPr algn="ctr" indent="0" marL="0">
              <a:buNone/>
            </a:pPr>
            <a:r>
              <a:rPr lang="en-US" sz="1800" dirty="0">
                <a:solidFill>
                  <a:srgbClr val="FFFFFF"/>
                </a:solidFill>
                <a:latin typeface="Montserrat" pitchFamily="34" charset="0"/>
                <a:ea typeface="Montserrat" pitchFamily="34" charset="-122"/>
                <a:cs typeface="Montserrat" pitchFamily="34" charset="-120"/>
              </a:rPr>
              <a:t>WIP</a:t>
            </a:r>
            <a:endParaRPr lang="en-US" sz="1800" dirty="0"/>
          </a:p>
        </p:txBody>
      </p:sp>
      <p:pic>
        <p:nvPicPr>
          <p:cNvPr id="13" name="Image 0" descr="assets/macjee/logo.png">    </p:cNvPr>
          <p:cNvPicPr>
            <a:picLocks noChangeAspect="1"/>
          </p:cNvPicPr>
          <p:nvPr/>
        </p:nvPicPr>
        <p:blipFill>
          <a:blip r:embed="rId1"/>
          <a:stretch>
            <a:fillRect/>
          </a:stretch>
        </p:blipFill>
        <p:spPr>
          <a:xfrm>
            <a:off x="11374222" y="343814"/>
            <a:ext cx="481889" cy="481889"/>
          </a:xfrm>
          <a:prstGeom prst="rect">
            <a:avLst/>
          </a:prstGeom>
        </p:spPr>
      </p:pic>
      <p:sp>
        <p:nvSpPr>
          <p:cNvPr id="14" name="Text 11"/>
          <p:cNvSpPr/>
          <p:nvPr/>
        </p:nvSpPr>
        <p:spPr>
          <a:xfrm>
            <a:off x="576072" y="1578254"/>
            <a:ext cx="5486400" cy="201168"/>
          </a:xfrm>
          <a:prstGeom prst="rect">
            <a:avLst/>
          </a:prstGeom>
          <a:noFill/>
          <a:ln/>
        </p:spPr>
        <p:txBody>
          <a:bodyPr wrap="square" lIns="0" tIns="0" rIns="0" bIns="0" rtlCol="0" anchor="t"/>
          <a:lstStyle/>
          <a:p>
            <a:pPr indent="0" marL="0">
              <a:buNone/>
            </a:pPr>
            <a:r>
              <a:rPr lang="en-US" sz="1200" b="1" dirty="0">
                <a:solidFill>
                  <a:srgbClr val="000312"/>
                </a:solidFill>
                <a:latin typeface="Montserrat" pitchFamily="34" charset="0"/>
                <a:ea typeface="Montserrat" pitchFamily="34" charset="-122"/>
                <a:cs typeface="Montserrat" pitchFamily="34" charset="-120"/>
              </a:rPr>
              <a:t>Identified commercial opportunity: total contract value, US$</a:t>
            </a:r>
            <a:endParaRPr lang="en-US" sz="1200" dirty="0"/>
          </a:p>
        </p:txBody>
      </p:sp>
      <p:sp>
        <p:nvSpPr>
          <p:cNvPr id="15" name="Shape 12"/>
          <p:cNvSpPr/>
          <p:nvPr/>
        </p:nvSpPr>
        <p:spPr>
          <a:xfrm>
            <a:off x="571500" y="1883664"/>
            <a:ext cx="2603297" cy="2432304"/>
          </a:xfrm>
          <a:custGeom>
            <a:avLst/>
            <a:gdLst/>
            <a:ahLst/>
            <a:cxnLst/>
            <a:rect l="l" t="t" r="r" b="b"/>
            <a:pathLst>
              <a:path w="2603297" h="2432304">
                <a:moveTo>
                  <a:pt x="0" y="0"/>
                </a:moveTo>
                <a:lnTo>
                  <a:pt x="2412187" y="0"/>
                </a:lnTo>
                <a:lnTo>
                  <a:pt x="2603297" y="191110"/>
                </a:lnTo>
                <a:lnTo>
                  <a:pt x="2603297" y="2432304"/>
                </a:lnTo>
                <a:lnTo>
                  <a:pt x="191110" y="2432304"/>
                </a:lnTo>
                <a:lnTo>
                  <a:pt x="0" y="2241194"/>
                </a:lnTo>
                <a:close/>
              </a:path>
            </a:pathLst>
          </a:custGeom>
          <a:solidFill>
            <a:srgbClr val="00092B"/>
          </a:solidFill>
          <a:ln/>
        </p:spPr>
      </p:sp>
      <p:sp>
        <p:nvSpPr>
          <p:cNvPr id="16" name="Text 13"/>
          <p:cNvSpPr/>
          <p:nvPr/>
        </p:nvSpPr>
        <p:spPr>
          <a:xfrm>
            <a:off x="800100" y="2007108"/>
            <a:ext cx="2103120" cy="164592"/>
          </a:xfrm>
          <a:prstGeom prst="rect">
            <a:avLst/>
          </a:prstGeom>
          <a:noFill/>
          <a:ln/>
        </p:spPr>
        <p:txBody>
          <a:bodyPr wrap="square" lIns="0" tIns="0" rIns="0" bIns="0" rtlCol="0" anchor="t"/>
          <a:lstStyle/>
          <a:p>
            <a:pPr indent="0" marL="0">
              <a:buNone/>
            </a:pPr>
            <a:r>
              <a:rPr lang="en-US" sz="850" dirty="0">
                <a:solidFill>
                  <a:srgbClr val="27B0FF"/>
                </a:solidFill>
                <a:latin typeface="Montserrat" pitchFamily="34" charset="0"/>
                <a:ea typeface="Montserrat" pitchFamily="34" charset="-122"/>
                <a:cs typeface="Montserrat" pitchFamily="34" charset="-120"/>
              </a:rPr>
              <a:t>G R O U P   T O T A L</a:t>
            </a:r>
            <a:endParaRPr lang="en-US" sz="850" dirty="0"/>
          </a:p>
        </p:txBody>
      </p:sp>
      <p:sp>
        <p:nvSpPr>
          <p:cNvPr id="17" name="Text 14"/>
          <p:cNvSpPr/>
          <p:nvPr/>
        </p:nvSpPr>
        <p:spPr>
          <a:xfrm>
            <a:off x="800100" y="2157984"/>
            <a:ext cx="2194560" cy="658368"/>
          </a:xfrm>
          <a:prstGeom prst="rect">
            <a:avLst/>
          </a:prstGeom>
          <a:noFill/>
          <a:ln/>
        </p:spPr>
        <p:txBody>
          <a:bodyPr wrap="square" lIns="0" tIns="0" rIns="0" bIns="0" rtlCol="0" anchor="b"/>
          <a:lstStyle/>
          <a:p>
            <a:pPr indent="0" marL="0">
              <a:buNone/>
            </a:pPr>
            <a:r>
              <a:rPr lang="en-US" sz="1200" dirty="0">
                <a:solidFill>
                  <a:srgbClr val="FFFFFF"/>
                </a:solidFill>
                <a:latin typeface="Montserrat" pitchFamily="34" charset="0"/>
                <a:ea typeface="Montserrat" pitchFamily="34" charset="-122"/>
                <a:cs typeface="Montserrat" pitchFamily="34" charset="-120"/>
              </a:rPr>
              <a:t>US$ </a:t>
            </a:r>
            <a:pPr indent="0" marL="0">
              <a:buNone/>
            </a:pPr>
            <a:r>
              <a:rPr lang="en-US" sz="4400" b="1" dirty="0">
                <a:solidFill>
                  <a:srgbClr val="FFFFFF"/>
                </a:solidFill>
                <a:latin typeface="Montserrat" pitchFamily="34" charset="0"/>
                <a:ea typeface="Montserrat" pitchFamily="34" charset="-122"/>
                <a:cs typeface="Montserrat" pitchFamily="34" charset="-120"/>
              </a:rPr>
              <a:t>4.6</a:t>
            </a:r>
            <a:pPr indent="0" marL="0">
              <a:buNone/>
            </a:pPr>
            <a:r>
              <a:rPr lang="en-US" sz="1800" dirty="0">
                <a:solidFill>
                  <a:srgbClr val="FFFFFF"/>
                </a:solidFill>
                <a:latin typeface="Montserrat" pitchFamily="34" charset="0"/>
                <a:ea typeface="Montserrat" pitchFamily="34" charset="-122"/>
                <a:cs typeface="Montserrat" pitchFamily="34" charset="-120"/>
              </a:rPr>
              <a:t> bn</a:t>
            </a:r>
            <a:endParaRPr lang="en-US" sz="1200" dirty="0"/>
          </a:p>
        </p:txBody>
      </p:sp>
      <p:sp>
        <p:nvSpPr>
          <p:cNvPr id="18" name="Text 15"/>
          <p:cNvSpPr/>
          <p:nvPr/>
        </p:nvSpPr>
        <p:spPr>
          <a:xfrm>
            <a:off x="800100" y="2866644"/>
            <a:ext cx="2103120" cy="164592"/>
          </a:xfrm>
          <a:prstGeom prst="rect">
            <a:avLst/>
          </a:prstGeom>
          <a:noFill/>
          <a:ln/>
        </p:spPr>
        <p:txBody>
          <a:bodyPr wrap="square" lIns="0" tIns="0" rIns="0" bIns="0" rtlCol="0" anchor="t"/>
          <a:lstStyle/>
          <a:p>
            <a:pPr indent="0" marL="0">
              <a:buNone/>
            </a:pPr>
            <a:r>
              <a:rPr lang="en-US" sz="850" dirty="0">
                <a:solidFill>
                  <a:srgbClr val="C7CDE0"/>
                </a:solidFill>
                <a:latin typeface="Montserrat" pitchFamily="34" charset="0"/>
                <a:ea typeface="Montserrat" pitchFamily="34" charset="-122"/>
                <a:cs typeface="Montserrat" pitchFamily="34" charset="-120"/>
              </a:rPr>
              <a:t>identified commercial opportunity</a:t>
            </a:r>
            <a:endParaRPr lang="en-US" sz="850" dirty="0"/>
          </a:p>
        </p:txBody>
      </p:sp>
      <p:sp>
        <p:nvSpPr>
          <p:cNvPr id="19" name="Shape 16"/>
          <p:cNvSpPr/>
          <p:nvPr/>
        </p:nvSpPr>
        <p:spPr>
          <a:xfrm>
            <a:off x="800100" y="3104388"/>
            <a:ext cx="2146097" cy="9144"/>
          </a:xfrm>
          <a:prstGeom prst="rect">
            <a:avLst/>
          </a:prstGeom>
          <a:solidFill>
            <a:srgbClr val="3C4E86"/>
          </a:solidFill>
          <a:ln/>
        </p:spPr>
      </p:sp>
      <p:sp>
        <p:nvSpPr>
          <p:cNvPr id="20" name="Text 17"/>
          <p:cNvSpPr/>
          <p:nvPr/>
        </p:nvSpPr>
        <p:spPr>
          <a:xfrm>
            <a:off x="800100" y="3225089"/>
            <a:ext cx="1600200" cy="173736"/>
          </a:xfrm>
          <a:prstGeom prst="rect">
            <a:avLst/>
          </a:prstGeom>
          <a:noFill/>
          <a:ln/>
        </p:spPr>
        <p:txBody>
          <a:bodyPr wrap="square" lIns="0" tIns="0" rIns="0" bIns="0" rtlCol="0" anchor="t"/>
          <a:lstStyle/>
          <a:p>
            <a:pPr indent="0" marL="0">
              <a:buNone/>
            </a:pPr>
            <a:r>
              <a:rPr lang="en-US" sz="900" dirty="0">
                <a:solidFill>
                  <a:srgbClr val="C7CDE0"/>
                </a:solidFill>
                <a:latin typeface="Montserrat" pitchFamily="34" charset="0"/>
                <a:ea typeface="Montserrat" pitchFamily="34" charset="-122"/>
                <a:cs typeface="Montserrat" pitchFamily="34" charset="-120"/>
              </a:rPr>
              <a:t>Named programmes</a:t>
            </a:r>
            <a:endParaRPr lang="en-US" sz="900" dirty="0"/>
          </a:p>
        </p:txBody>
      </p:sp>
      <p:sp>
        <p:nvSpPr>
          <p:cNvPr id="21" name="Text 18"/>
          <p:cNvSpPr/>
          <p:nvPr/>
        </p:nvSpPr>
        <p:spPr>
          <a:xfrm>
            <a:off x="800100" y="3214116"/>
            <a:ext cx="2146097" cy="182880"/>
          </a:xfrm>
          <a:prstGeom prst="rect">
            <a:avLst/>
          </a:prstGeom>
          <a:noFill/>
          <a:ln/>
        </p:spPr>
        <p:txBody>
          <a:bodyPr wrap="square" lIns="0" tIns="0" rIns="0" bIns="0" rtlCol="0" anchor="t"/>
          <a:lstStyle/>
          <a:p>
            <a:pPr algn="r" indent="0" marL="0">
              <a:buNone/>
            </a:pPr>
            <a:r>
              <a:rPr lang="en-US" sz="1060" b="1" dirty="0">
                <a:solidFill>
                  <a:srgbClr val="FFFFFF"/>
                </a:solidFill>
                <a:latin typeface="Montserrat" pitchFamily="34" charset="0"/>
                <a:ea typeface="Montserrat" pitchFamily="34" charset="-122"/>
                <a:cs typeface="Montserrat" pitchFamily="34" charset="-120"/>
              </a:rPr>
              <a:t>55</a:t>
            </a:r>
            <a:endParaRPr lang="en-US" sz="1060" dirty="0"/>
          </a:p>
        </p:txBody>
      </p:sp>
      <p:sp>
        <p:nvSpPr>
          <p:cNvPr id="22" name="Text 19"/>
          <p:cNvSpPr/>
          <p:nvPr/>
        </p:nvSpPr>
        <p:spPr>
          <a:xfrm>
            <a:off x="800100" y="3479292"/>
            <a:ext cx="1600200" cy="173736"/>
          </a:xfrm>
          <a:prstGeom prst="rect">
            <a:avLst/>
          </a:prstGeom>
          <a:noFill/>
          <a:ln/>
        </p:spPr>
        <p:txBody>
          <a:bodyPr wrap="square" lIns="0" tIns="0" rIns="0" bIns="0" rtlCol="0" anchor="t"/>
          <a:lstStyle/>
          <a:p>
            <a:pPr indent="0" marL="0">
              <a:buNone/>
            </a:pPr>
            <a:r>
              <a:rPr lang="en-US" sz="900" dirty="0">
                <a:solidFill>
                  <a:srgbClr val="C7CDE0"/>
                </a:solidFill>
                <a:latin typeface="Montserrat" pitchFamily="34" charset="0"/>
                <a:ea typeface="Montserrat" pitchFamily="34" charset="-122"/>
                <a:cs typeface="Montserrat" pitchFamily="34" charset="-120"/>
              </a:rPr>
              <a:t>Countries</a:t>
            </a:r>
            <a:endParaRPr lang="en-US" sz="900" dirty="0"/>
          </a:p>
        </p:txBody>
      </p:sp>
      <p:sp>
        <p:nvSpPr>
          <p:cNvPr id="23" name="Text 20"/>
          <p:cNvSpPr/>
          <p:nvPr/>
        </p:nvSpPr>
        <p:spPr>
          <a:xfrm>
            <a:off x="800100" y="3468319"/>
            <a:ext cx="2146097" cy="182880"/>
          </a:xfrm>
          <a:prstGeom prst="rect">
            <a:avLst/>
          </a:prstGeom>
          <a:noFill/>
          <a:ln/>
        </p:spPr>
        <p:txBody>
          <a:bodyPr wrap="square" lIns="0" tIns="0" rIns="0" bIns="0" rtlCol="0" anchor="t"/>
          <a:lstStyle/>
          <a:p>
            <a:pPr algn="r" indent="0" marL="0">
              <a:buNone/>
            </a:pPr>
            <a:r>
              <a:rPr lang="en-US" sz="1060" b="1" dirty="0">
                <a:solidFill>
                  <a:srgbClr val="FFFFFF"/>
                </a:solidFill>
                <a:latin typeface="Montserrat" pitchFamily="34" charset="0"/>
                <a:ea typeface="Montserrat" pitchFamily="34" charset="-122"/>
                <a:cs typeface="Montserrat" pitchFamily="34" charset="-120"/>
              </a:rPr>
              <a:t>21</a:t>
            </a:r>
            <a:endParaRPr lang="en-US" sz="1060" dirty="0"/>
          </a:p>
        </p:txBody>
      </p:sp>
      <p:sp>
        <p:nvSpPr>
          <p:cNvPr id="24" name="Text 21"/>
          <p:cNvSpPr/>
          <p:nvPr/>
        </p:nvSpPr>
        <p:spPr>
          <a:xfrm>
            <a:off x="800100" y="3733495"/>
            <a:ext cx="1600200" cy="173736"/>
          </a:xfrm>
          <a:prstGeom prst="rect">
            <a:avLst/>
          </a:prstGeom>
          <a:noFill/>
          <a:ln/>
        </p:spPr>
        <p:txBody>
          <a:bodyPr wrap="square" lIns="0" tIns="0" rIns="0" bIns="0" rtlCol="0" anchor="t"/>
          <a:lstStyle/>
          <a:p>
            <a:pPr indent="0" marL="0">
              <a:buNone/>
            </a:pPr>
            <a:r>
              <a:rPr lang="en-US" sz="900" dirty="0">
                <a:solidFill>
                  <a:srgbClr val="C7CDE0"/>
                </a:solidFill>
                <a:latin typeface="Montserrat" pitchFamily="34" charset="0"/>
                <a:ea typeface="Montserrat" pitchFamily="34" charset="-122"/>
                <a:cs typeface="Montserrat" pitchFamily="34" charset="-120"/>
              </a:rPr>
              <a:t>Revenue, 2026–32 plan</a:t>
            </a:r>
            <a:endParaRPr lang="en-US" sz="900" dirty="0"/>
          </a:p>
        </p:txBody>
      </p:sp>
      <p:sp>
        <p:nvSpPr>
          <p:cNvPr id="25" name="Text 22"/>
          <p:cNvSpPr/>
          <p:nvPr/>
        </p:nvSpPr>
        <p:spPr>
          <a:xfrm>
            <a:off x="800100" y="3722522"/>
            <a:ext cx="2146097" cy="182880"/>
          </a:xfrm>
          <a:prstGeom prst="rect">
            <a:avLst/>
          </a:prstGeom>
          <a:noFill/>
          <a:ln/>
        </p:spPr>
        <p:txBody>
          <a:bodyPr wrap="square" lIns="0" tIns="0" rIns="0" bIns="0" rtlCol="0" anchor="t"/>
          <a:lstStyle/>
          <a:p>
            <a:pPr algn="r" indent="0" marL="0">
              <a:buNone/>
            </a:pPr>
            <a:r>
              <a:rPr lang="en-US" sz="1060" b="1" dirty="0">
                <a:solidFill>
                  <a:srgbClr val="FFFFFF"/>
                </a:solidFill>
                <a:latin typeface="Montserrat" pitchFamily="34" charset="0"/>
                <a:ea typeface="Montserrat" pitchFamily="34" charset="-122"/>
                <a:cs typeface="Montserrat" pitchFamily="34" charset="-120"/>
              </a:rPr>
              <a:t>US$ 4.1 bn</a:t>
            </a:r>
            <a:endParaRPr lang="en-US" sz="1060" dirty="0"/>
          </a:p>
        </p:txBody>
      </p:sp>
      <p:sp>
        <p:nvSpPr>
          <p:cNvPr id="26" name="Text 23"/>
          <p:cNvSpPr/>
          <p:nvPr/>
        </p:nvSpPr>
        <p:spPr>
          <a:xfrm>
            <a:off x="800100" y="3987698"/>
            <a:ext cx="1600200" cy="173736"/>
          </a:xfrm>
          <a:prstGeom prst="rect">
            <a:avLst/>
          </a:prstGeom>
          <a:noFill/>
          <a:ln/>
        </p:spPr>
        <p:txBody>
          <a:bodyPr wrap="square" lIns="0" tIns="0" rIns="0" bIns="0" rtlCol="0" anchor="t"/>
          <a:lstStyle/>
          <a:p>
            <a:pPr indent="0" marL="0">
              <a:buNone/>
            </a:pPr>
            <a:r>
              <a:rPr lang="en-US" sz="900" dirty="0">
                <a:solidFill>
                  <a:srgbClr val="C7CDE0"/>
                </a:solidFill>
                <a:latin typeface="Montserrat" pitchFamily="34" charset="0"/>
                <a:ea typeface="Montserrat" pitchFamily="34" charset="-122"/>
                <a:cs typeface="Montserrat" pitchFamily="34" charset="-120"/>
              </a:rPr>
              <a:t>Plan coverage</a:t>
            </a:r>
            <a:endParaRPr lang="en-US" sz="900" dirty="0"/>
          </a:p>
        </p:txBody>
      </p:sp>
      <p:sp>
        <p:nvSpPr>
          <p:cNvPr id="27" name="Text 24"/>
          <p:cNvSpPr/>
          <p:nvPr/>
        </p:nvSpPr>
        <p:spPr>
          <a:xfrm>
            <a:off x="800100" y="3976726"/>
            <a:ext cx="2146097" cy="182880"/>
          </a:xfrm>
          <a:prstGeom prst="rect">
            <a:avLst/>
          </a:prstGeom>
          <a:noFill/>
          <a:ln/>
        </p:spPr>
        <p:txBody>
          <a:bodyPr wrap="square" lIns="0" tIns="0" rIns="0" bIns="0" rtlCol="0" anchor="t"/>
          <a:lstStyle/>
          <a:p>
            <a:pPr algn="r" indent="0" marL="0">
              <a:buNone/>
            </a:pPr>
            <a:r>
              <a:rPr lang="en-US" sz="1060" b="1" dirty="0">
                <a:solidFill>
                  <a:srgbClr val="FFFFFF"/>
                </a:solidFill>
                <a:latin typeface="Montserrat" pitchFamily="34" charset="0"/>
                <a:ea typeface="Montserrat" pitchFamily="34" charset="-122"/>
                <a:cs typeface="Montserrat" pitchFamily="34" charset="-120"/>
              </a:rPr>
              <a:t>1.1x</a:t>
            </a:r>
            <a:endParaRPr lang="en-US" sz="1060" dirty="0"/>
          </a:p>
        </p:txBody>
      </p:sp>
      <p:sp>
        <p:nvSpPr>
          <p:cNvPr id="28" name="Shape 25"/>
          <p:cNvSpPr/>
          <p:nvPr/>
        </p:nvSpPr>
        <p:spPr>
          <a:xfrm>
            <a:off x="3454603" y="1883664"/>
            <a:ext cx="1261872" cy="603504"/>
          </a:xfrm>
          <a:prstGeom prst="roundRect">
            <a:avLst>
              <a:gd name="adj" fmla="val 15152"/>
            </a:avLst>
          </a:prstGeom>
          <a:solidFill>
            <a:srgbClr val="92D050"/>
          </a:solidFill>
          <a:ln/>
        </p:spPr>
      </p:sp>
      <p:pic>
        <p:nvPicPr>
          <p:cNvPr id="29" name="Image 1" descr="assets/macjee/mark.png">    </p:cNvPr>
          <p:cNvPicPr>
            <a:picLocks noChangeAspect="1"/>
          </p:cNvPicPr>
          <p:nvPr/>
        </p:nvPicPr>
        <p:blipFill>
          <a:blip r:embed="rId2"/>
          <a:stretch>
            <a:fillRect/>
          </a:stretch>
        </p:blipFill>
        <p:spPr>
          <a:xfrm>
            <a:off x="3578047" y="1975104"/>
            <a:ext cx="365760" cy="241402"/>
          </a:xfrm>
          <a:prstGeom prst="rect">
            <a:avLst/>
          </a:prstGeom>
        </p:spPr>
      </p:pic>
      <p:sp>
        <p:nvSpPr>
          <p:cNvPr id="30" name="Text 26"/>
          <p:cNvSpPr/>
          <p:nvPr/>
        </p:nvSpPr>
        <p:spPr>
          <a:xfrm>
            <a:off x="3518611" y="2263140"/>
            <a:ext cx="1133856" cy="155448"/>
          </a:xfrm>
          <a:prstGeom prst="rect">
            <a:avLst/>
          </a:prstGeom>
          <a:noFill/>
          <a:ln/>
        </p:spPr>
        <p:txBody>
          <a:bodyPr wrap="square" lIns="0" tIns="0" rIns="0" bIns="0" rtlCol="0" anchor="ctr"/>
          <a:lstStyle/>
          <a:p>
            <a:pPr algn="ctr" indent="0" marL="0">
              <a:buNone/>
            </a:pPr>
            <a:r>
              <a:rPr lang="en-US" sz="650" dirty="0">
                <a:solidFill>
                  <a:srgbClr val="000312"/>
                </a:solidFill>
                <a:latin typeface="Montserrat SemiBold" pitchFamily="34" charset="0"/>
                <a:ea typeface="Montserrat SemiBold" pitchFamily="34" charset="-122"/>
                <a:cs typeface="Montserrat SemiBold" pitchFamily="34" charset="-120"/>
              </a:rPr>
              <a:t>M U N I T I O N S</a:t>
            </a:r>
            <a:endParaRPr lang="en-US" sz="650" dirty="0"/>
          </a:p>
        </p:txBody>
      </p:sp>
      <p:sp>
        <p:nvSpPr>
          <p:cNvPr id="31" name="Text 27"/>
          <p:cNvSpPr/>
          <p:nvPr/>
        </p:nvSpPr>
        <p:spPr>
          <a:xfrm>
            <a:off x="3454603" y="2665476"/>
            <a:ext cx="2606040" cy="256032"/>
          </a:xfrm>
          <a:prstGeom prst="rect">
            <a:avLst/>
          </a:prstGeom>
          <a:noFill/>
          <a:ln/>
        </p:spPr>
        <p:txBody>
          <a:bodyPr wrap="square" lIns="0" tIns="0" rIns="0" bIns="0" rtlCol="0" anchor="t"/>
          <a:lstStyle/>
          <a:p>
            <a:pPr indent="0" marL="0">
              <a:buNone/>
            </a:pPr>
            <a:r>
              <a:rPr lang="en-US" sz="1600" b="1" dirty="0">
                <a:solidFill>
                  <a:srgbClr val="6FA82F"/>
                </a:solidFill>
                <a:latin typeface="Montserrat" pitchFamily="34" charset="0"/>
                <a:ea typeface="Montserrat" pitchFamily="34" charset="-122"/>
                <a:cs typeface="Montserrat" pitchFamily="34" charset="-120"/>
              </a:rPr>
              <a:t>Munitions</a:t>
            </a:r>
            <a:endParaRPr lang="en-US" sz="1600" dirty="0"/>
          </a:p>
        </p:txBody>
      </p:sp>
      <p:sp>
        <p:nvSpPr>
          <p:cNvPr id="32" name="Text 28"/>
          <p:cNvSpPr/>
          <p:nvPr/>
        </p:nvSpPr>
        <p:spPr>
          <a:xfrm>
            <a:off x="3454603" y="2967228"/>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Mac Jee Indústria de Defesa</a:t>
            </a:r>
            <a:endParaRPr lang="en-US" sz="850" dirty="0"/>
          </a:p>
        </p:txBody>
      </p:sp>
      <p:sp>
        <p:nvSpPr>
          <p:cNvPr id="33" name="Text 29"/>
          <p:cNvSpPr/>
          <p:nvPr/>
        </p:nvSpPr>
        <p:spPr>
          <a:xfrm>
            <a:off x="3454603" y="3140964"/>
            <a:ext cx="2606040" cy="292608"/>
          </a:xfrm>
          <a:prstGeom prst="rect">
            <a:avLst/>
          </a:prstGeom>
          <a:noFill/>
          <a:ln/>
        </p:spPr>
        <p:txBody>
          <a:bodyPr wrap="square" lIns="0" tIns="0" rIns="0" bIns="0" rtlCol="0" anchor="t"/>
          <a:lstStyle/>
          <a:p>
            <a:pPr indent="0" marL="0">
              <a:lnSpc>
                <a:spcPts val="1080"/>
              </a:lnSpc>
              <a:buNone/>
            </a:pPr>
            <a:r>
              <a:rPr lang="en-US" sz="900" dirty="0">
                <a:solidFill>
                  <a:srgbClr val="5B6577"/>
                </a:solidFill>
                <a:latin typeface="Montserrat" pitchFamily="34" charset="0"/>
                <a:ea typeface="Montserrat" pitchFamily="34" charset="-122"/>
                <a:cs typeface="Montserrat" pitchFamily="34" charset="-120"/>
              </a:rPr>
              <a:t>Aerial bombs, artillery, rockets, fuzes and launcher vehicles, already in serial production</a:t>
            </a:r>
            <a:endParaRPr lang="en-US" sz="900" dirty="0"/>
          </a:p>
        </p:txBody>
      </p:sp>
      <p:sp>
        <p:nvSpPr>
          <p:cNvPr id="34" name="Text 30"/>
          <p:cNvSpPr/>
          <p:nvPr/>
        </p:nvSpPr>
        <p:spPr>
          <a:xfrm>
            <a:off x="3454603" y="3529584"/>
            <a:ext cx="2606040" cy="475488"/>
          </a:xfrm>
          <a:prstGeom prst="rect">
            <a:avLst/>
          </a:prstGeom>
          <a:noFill/>
          <a:ln/>
        </p:spPr>
        <p:txBody>
          <a:bodyPr wrap="square" lIns="0" tIns="0" rIns="0" bIns="0" rtlCol="0" anchor="b"/>
          <a:lstStyle/>
          <a:p>
            <a:pPr indent="0" marL="0">
              <a:buNone/>
            </a:pPr>
            <a:r>
              <a:rPr lang="en-US" sz="1100" dirty="0">
                <a:solidFill>
                  <a:srgbClr val="5B6577"/>
                </a:solidFill>
                <a:latin typeface="Montserrat" pitchFamily="34" charset="0"/>
                <a:ea typeface="Montserrat" pitchFamily="34" charset="-122"/>
                <a:cs typeface="Montserrat" pitchFamily="34" charset="-120"/>
              </a:rPr>
              <a:t>US$ </a:t>
            </a:r>
            <a:pPr indent="0" marL="0">
              <a:buNone/>
            </a:pPr>
            <a:r>
              <a:rPr lang="en-US" sz="3200" b="1" dirty="0">
                <a:solidFill>
                  <a:srgbClr val="00092B"/>
                </a:solidFill>
                <a:latin typeface="Montserrat" pitchFamily="34" charset="0"/>
                <a:ea typeface="Montserrat" pitchFamily="34" charset="-122"/>
                <a:cs typeface="Montserrat" pitchFamily="34" charset="-120"/>
              </a:rPr>
              <a:t>1.6</a:t>
            </a:r>
            <a:pPr indent="0" marL="0">
              <a:buNone/>
            </a:pPr>
            <a:r>
              <a:rPr lang="en-US" sz="1400" dirty="0">
                <a:solidFill>
                  <a:srgbClr val="00092B"/>
                </a:solidFill>
                <a:latin typeface="Montserrat" pitchFamily="34" charset="0"/>
                <a:ea typeface="Montserrat" pitchFamily="34" charset="-122"/>
                <a:cs typeface="Montserrat" pitchFamily="34" charset="-120"/>
              </a:rPr>
              <a:t> bn</a:t>
            </a:r>
            <a:endParaRPr lang="en-US" sz="1100" dirty="0"/>
          </a:p>
        </p:txBody>
      </p:sp>
      <p:sp>
        <p:nvSpPr>
          <p:cNvPr id="35" name="Text 31"/>
          <p:cNvSpPr/>
          <p:nvPr/>
        </p:nvSpPr>
        <p:spPr>
          <a:xfrm>
            <a:off x="3454603" y="4169664"/>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identified  ·  35% of the group</a:t>
            </a:r>
            <a:endParaRPr lang="en-US" sz="850" dirty="0"/>
          </a:p>
        </p:txBody>
      </p:sp>
      <p:sp>
        <p:nvSpPr>
          <p:cNvPr id="36" name="Shape 32"/>
          <p:cNvSpPr/>
          <p:nvPr/>
        </p:nvSpPr>
        <p:spPr>
          <a:xfrm>
            <a:off x="3454603" y="4059936"/>
            <a:ext cx="2606040" cy="75895"/>
          </a:xfrm>
          <a:prstGeom prst="rect">
            <a:avLst/>
          </a:prstGeom>
          <a:solidFill>
            <a:srgbClr val="E8EAEE"/>
          </a:solidFill>
          <a:ln/>
        </p:spPr>
      </p:sp>
      <p:sp>
        <p:nvSpPr>
          <p:cNvPr id="37" name="Shape 33"/>
          <p:cNvSpPr/>
          <p:nvPr/>
        </p:nvSpPr>
        <p:spPr>
          <a:xfrm>
            <a:off x="3454603" y="4059936"/>
            <a:ext cx="912114" cy="75895"/>
          </a:xfrm>
          <a:prstGeom prst="rect">
            <a:avLst/>
          </a:prstGeom>
          <a:solidFill>
            <a:srgbClr val="92D050"/>
          </a:solidFill>
          <a:ln/>
        </p:spPr>
      </p:sp>
      <p:sp>
        <p:nvSpPr>
          <p:cNvPr id="38" name="Shape 34"/>
          <p:cNvSpPr/>
          <p:nvPr/>
        </p:nvSpPr>
        <p:spPr>
          <a:xfrm>
            <a:off x="6248095" y="1883664"/>
            <a:ext cx="1261872" cy="603504"/>
          </a:xfrm>
          <a:prstGeom prst="roundRect">
            <a:avLst>
              <a:gd name="adj" fmla="val 15152"/>
            </a:avLst>
          </a:prstGeom>
          <a:solidFill>
            <a:srgbClr val="FFC000"/>
          </a:solidFill>
          <a:ln/>
        </p:spPr>
      </p:sp>
      <p:pic>
        <p:nvPicPr>
          <p:cNvPr id="39" name="Image 2" descr="assets/macjee/mark.png">    </p:cNvPr>
          <p:cNvPicPr>
            <a:picLocks noChangeAspect="1"/>
          </p:cNvPicPr>
          <p:nvPr/>
        </p:nvPicPr>
        <p:blipFill>
          <a:blip r:embed="rId3"/>
          <a:stretch>
            <a:fillRect/>
          </a:stretch>
        </p:blipFill>
        <p:spPr>
          <a:xfrm>
            <a:off x="6371539" y="1975104"/>
            <a:ext cx="365760" cy="241402"/>
          </a:xfrm>
          <a:prstGeom prst="rect">
            <a:avLst/>
          </a:prstGeom>
        </p:spPr>
      </p:pic>
      <p:sp>
        <p:nvSpPr>
          <p:cNvPr id="40" name="Text 35"/>
          <p:cNvSpPr/>
          <p:nvPr/>
        </p:nvSpPr>
        <p:spPr>
          <a:xfrm>
            <a:off x="6312103" y="2263140"/>
            <a:ext cx="1133856" cy="155448"/>
          </a:xfrm>
          <a:prstGeom prst="rect">
            <a:avLst/>
          </a:prstGeom>
          <a:noFill/>
          <a:ln/>
        </p:spPr>
        <p:txBody>
          <a:bodyPr wrap="square" lIns="0" tIns="0" rIns="0" bIns="0" rtlCol="0" anchor="ctr"/>
          <a:lstStyle/>
          <a:p>
            <a:pPr algn="ctr" indent="0" marL="0">
              <a:buNone/>
            </a:pPr>
            <a:r>
              <a:rPr lang="en-US" sz="650" dirty="0">
                <a:solidFill>
                  <a:srgbClr val="000312"/>
                </a:solidFill>
                <a:latin typeface="Montserrat SemiBold" pitchFamily="34" charset="0"/>
                <a:ea typeface="Montserrat SemiBold" pitchFamily="34" charset="-122"/>
                <a:cs typeface="Montserrat SemiBold" pitchFamily="34" charset="-120"/>
              </a:rPr>
              <a:t>E N E R G E T I C S</a:t>
            </a:r>
            <a:endParaRPr lang="en-US" sz="650" dirty="0"/>
          </a:p>
        </p:txBody>
      </p:sp>
      <p:sp>
        <p:nvSpPr>
          <p:cNvPr id="41" name="Text 36"/>
          <p:cNvSpPr/>
          <p:nvPr/>
        </p:nvSpPr>
        <p:spPr>
          <a:xfrm>
            <a:off x="6248095" y="2665476"/>
            <a:ext cx="2606040" cy="256032"/>
          </a:xfrm>
          <a:prstGeom prst="rect">
            <a:avLst/>
          </a:prstGeom>
          <a:noFill/>
          <a:ln/>
        </p:spPr>
        <p:txBody>
          <a:bodyPr wrap="square" lIns="0" tIns="0" rIns="0" bIns="0" rtlCol="0" anchor="t"/>
          <a:lstStyle/>
          <a:p>
            <a:pPr indent="0" marL="0">
              <a:buNone/>
            </a:pPr>
            <a:r>
              <a:rPr lang="en-US" sz="1600" b="1" dirty="0">
                <a:solidFill>
                  <a:srgbClr val="C79000"/>
                </a:solidFill>
                <a:latin typeface="Montserrat" pitchFamily="34" charset="0"/>
                <a:ea typeface="Montserrat" pitchFamily="34" charset="-122"/>
                <a:cs typeface="Montserrat" pitchFamily="34" charset="-120"/>
              </a:rPr>
              <a:t>Energetics</a:t>
            </a:r>
            <a:endParaRPr lang="en-US" sz="1600" dirty="0"/>
          </a:p>
        </p:txBody>
      </p:sp>
      <p:sp>
        <p:nvSpPr>
          <p:cNvPr id="42" name="Text 37"/>
          <p:cNvSpPr/>
          <p:nvPr/>
        </p:nvSpPr>
        <p:spPr>
          <a:xfrm>
            <a:off x="6248095" y="2967228"/>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Mac Jee Tecnologia</a:t>
            </a:r>
            <a:endParaRPr lang="en-US" sz="850" dirty="0"/>
          </a:p>
        </p:txBody>
      </p:sp>
      <p:sp>
        <p:nvSpPr>
          <p:cNvPr id="43" name="Text 38"/>
          <p:cNvSpPr/>
          <p:nvPr/>
        </p:nvSpPr>
        <p:spPr>
          <a:xfrm>
            <a:off x="6248095" y="3140964"/>
            <a:ext cx="2606040" cy="292608"/>
          </a:xfrm>
          <a:prstGeom prst="rect">
            <a:avLst/>
          </a:prstGeom>
          <a:noFill/>
          <a:ln/>
        </p:spPr>
        <p:txBody>
          <a:bodyPr wrap="square" lIns="0" tIns="0" rIns="0" bIns="0" rtlCol="0" anchor="t"/>
          <a:lstStyle/>
          <a:p>
            <a:pPr indent="0" marL="0">
              <a:lnSpc>
                <a:spcPts val="1080"/>
              </a:lnSpc>
              <a:buNone/>
            </a:pPr>
            <a:r>
              <a:rPr lang="en-US" sz="900" dirty="0">
                <a:solidFill>
                  <a:srgbClr val="5B6577"/>
                </a:solidFill>
                <a:latin typeface="Montserrat" pitchFamily="34" charset="0"/>
                <a:ea typeface="Montserrat" pitchFamily="34" charset="-122"/>
                <a:cs typeface="Montserrat" pitchFamily="34" charset="-120"/>
              </a:rPr>
              <a:t>Turnkey TNT, RDX and HMX production lines delivered to sovereign customers worldwide</a:t>
            </a:r>
            <a:endParaRPr lang="en-US" sz="900" dirty="0"/>
          </a:p>
        </p:txBody>
      </p:sp>
      <p:sp>
        <p:nvSpPr>
          <p:cNvPr id="44" name="Text 39"/>
          <p:cNvSpPr/>
          <p:nvPr/>
        </p:nvSpPr>
        <p:spPr>
          <a:xfrm>
            <a:off x="6248095" y="3529584"/>
            <a:ext cx="2606040" cy="475488"/>
          </a:xfrm>
          <a:prstGeom prst="rect">
            <a:avLst/>
          </a:prstGeom>
          <a:noFill/>
          <a:ln/>
        </p:spPr>
        <p:txBody>
          <a:bodyPr wrap="square" lIns="0" tIns="0" rIns="0" bIns="0" rtlCol="0" anchor="b"/>
          <a:lstStyle/>
          <a:p>
            <a:pPr indent="0" marL="0">
              <a:buNone/>
            </a:pPr>
            <a:r>
              <a:rPr lang="en-US" sz="1100" dirty="0">
                <a:solidFill>
                  <a:srgbClr val="5B6577"/>
                </a:solidFill>
                <a:latin typeface="Montserrat" pitchFamily="34" charset="0"/>
                <a:ea typeface="Montserrat" pitchFamily="34" charset="-122"/>
                <a:cs typeface="Montserrat" pitchFamily="34" charset="-120"/>
              </a:rPr>
              <a:t>US$ </a:t>
            </a:r>
            <a:pPr indent="0" marL="0">
              <a:buNone/>
            </a:pPr>
            <a:r>
              <a:rPr lang="en-US" sz="3200" b="1" dirty="0">
                <a:solidFill>
                  <a:srgbClr val="00092B"/>
                </a:solidFill>
                <a:latin typeface="Montserrat" pitchFamily="34" charset="0"/>
                <a:ea typeface="Montserrat" pitchFamily="34" charset="-122"/>
                <a:cs typeface="Montserrat" pitchFamily="34" charset="-120"/>
              </a:rPr>
              <a:t>1.1</a:t>
            </a:r>
            <a:pPr indent="0" marL="0">
              <a:buNone/>
            </a:pPr>
            <a:r>
              <a:rPr lang="en-US" sz="1400" dirty="0">
                <a:solidFill>
                  <a:srgbClr val="00092B"/>
                </a:solidFill>
                <a:latin typeface="Montserrat" pitchFamily="34" charset="0"/>
                <a:ea typeface="Montserrat" pitchFamily="34" charset="-122"/>
                <a:cs typeface="Montserrat" pitchFamily="34" charset="-120"/>
              </a:rPr>
              <a:t> bn</a:t>
            </a:r>
            <a:endParaRPr lang="en-US" sz="1100" dirty="0"/>
          </a:p>
        </p:txBody>
      </p:sp>
      <p:sp>
        <p:nvSpPr>
          <p:cNvPr id="45" name="Text 40"/>
          <p:cNvSpPr/>
          <p:nvPr/>
        </p:nvSpPr>
        <p:spPr>
          <a:xfrm>
            <a:off x="6248095" y="4169664"/>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identified  ·  25% of the group</a:t>
            </a:r>
            <a:endParaRPr lang="en-US" sz="850" dirty="0"/>
          </a:p>
        </p:txBody>
      </p:sp>
      <p:sp>
        <p:nvSpPr>
          <p:cNvPr id="46" name="Shape 41"/>
          <p:cNvSpPr/>
          <p:nvPr/>
        </p:nvSpPr>
        <p:spPr>
          <a:xfrm>
            <a:off x="6248095" y="4059936"/>
            <a:ext cx="2606040" cy="75895"/>
          </a:xfrm>
          <a:prstGeom prst="rect">
            <a:avLst/>
          </a:prstGeom>
          <a:solidFill>
            <a:srgbClr val="E8EAEE"/>
          </a:solidFill>
          <a:ln/>
        </p:spPr>
      </p:sp>
      <p:sp>
        <p:nvSpPr>
          <p:cNvPr id="47" name="Shape 42"/>
          <p:cNvSpPr/>
          <p:nvPr/>
        </p:nvSpPr>
        <p:spPr>
          <a:xfrm>
            <a:off x="6248095" y="4059936"/>
            <a:ext cx="651510" cy="75895"/>
          </a:xfrm>
          <a:prstGeom prst="rect">
            <a:avLst/>
          </a:prstGeom>
          <a:solidFill>
            <a:srgbClr val="FFC000"/>
          </a:solidFill>
          <a:ln/>
        </p:spPr>
      </p:sp>
      <p:sp>
        <p:nvSpPr>
          <p:cNvPr id="48" name="Shape 43"/>
          <p:cNvSpPr/>
          <p:nvPr/>
        </p:nvSpPr>
        <p:spPr>
          <a:xfrm>
            <a:off x="9042502" y="1883664"/>
            <a:ext cx="1261872" cy="603504"/>
          </a:xfrm>
          <a:prstGeom prst="roundRect">
            <a:avLst>
              <a:gd name="adj" fmla="val 15152"/>
            </a:avLst>
          </a:prstGeom>
          <a:solidFill>
            <a:srgbClr val="949494"/>
          </a:solidFill>
          <a:ln/>
        </p:spPr>
      </p:sp>
      <p:pic>
        <p:nvPicPr>
          <p:cNvPr id="49" name="Image 3" descr="assets/macjee/mark.png">    </p:cNvPr>
          <p:cNvPicPr>
            <a:picLocks noChangeAspect="1"/>
          </p:cNvPicPr>
          <p:nvPr/>
        </p:nvPicPr>
        <p:blipFill>
          <a:blip r:embed="rId4"/>
          <a:stretch>
            <a:fillRect/>
          </a:stretch>
        </p:blipFill>
        <p:spPr>
          <a:xfrm>
            <a:off x="9165946" y="1975104"/>
            <a:ext cx="365760" cy="241402"/>
          </a:xfrm>
          <a:prstGeom prst="rect">
            <a:avLst/>
          </a:prstGeom>
        </p:spPr>
      </p:pic>
      <p:sp>
        <p:nvSpPr>
          <p:cNvPr id="50" name="Text 44"/>
          <p:cNvSpPr/>
          <p:nvPr/>
        </p:nvSpPr>
        <p:spPr>
          <a:xfrm>
            <a:off x="9106510" y="2263140"/>
            <a:ext cx="1133856" cy="155448"/>
          </a:xfrm>
          <a:prstGeom prst="rect">
            <a:avLst/>
          </a:prstGeom>
          <a:noFill/>
          <a:ln/>
        </p:spPr>
        <p:txBody>
          <a:bodyPr wrap="square" lIns="0" tIns="0" rIns="0" bIns="0" rtlCol="0" anchor="ctr"/>
          <a:lstStyle/>
          <a:p>
            <a:pPr algn="ctr" indent="0" marL="0">
              <a:buNone/>
            </a:pPr>
            <a:r>
              <a:rPr lang="en-US" sz="650" dirty="0">
                <a:solidFill>
                  <a:srgbClr val="000312"/>
                </a:solidFill>
                <a:latin typeface="Montserrat SemiBold" pitchFamily="34" charset="0"/>
                <a:ea typeface="Montserrat SemiBold" pitchFamily="34" charset="-122"/>
                <a:cs typeface="Montserrat SemiBold" pitchFamily="34" charset="-120"/>
              </a:rPr>
              <a:t>M I S S I L E</a:t>
            </a:r>
            <a:endParaRPr lang="en-US" sz="650" dirty="0"/>
          </a:p>
        </p:txBody>
      </p:sp>
      <p:sp>
        <p:nvSpPr>
          <p:cNvPr id="51" name="Text 45"/>
          <p:cNvSpPr/>
          <p:nvPr/>
        </p:nvSpPr>
        <p:spPr>
          <a:xfrm>
            <a:off x="9042502" y="2665476"/>
            <a:ext cx="2606040" cy="256032"/>
          </a:xfrm>
          <a:prstGeom prst="rect">
            <a:avLst/>
          </a:prstGeom>
          <a:noFill/>
          <a:ln/>
        </p:spPr>
        <p:txBody>
          <a:bodyPr wrap="square" lIns="0" tIns="0" rIns="0" bIns="0" rtlCol="0" anchor="t"/>
          <a:lstStyle/>
          <a:p>
            <a:pPr indent="0" marL="0">
              <a:buNone/>
            </a:pPr>
            <a:r>
              <a:rPr lang="en-US" sz="1600" b="1" dirty="0">
                <a:solidFill>
                  <a:srgbClr val="4A5261"/>
                </a:solidFill>
                <a:latin typeface="Montserrat" pitchFamily="34" charset="0"/>
                <a:ea typeface="Montserrat" pitchFamily="34" charset="-122"/>
                <a:cs typeface="Montserrat" pitchFamily="34" charset="-120"/>
              </a:rPr>
              <a:t>Missile</a:t>
            </a:r>
            <a:endParaRPr lang="en-US" sz="1600" dirty="0"/>
          </a:p>
        </p:txBody>
      </p:sp>
      <p:sp>
        <p:nvSpPr>
          <p:cNvPr id="52" name="Text 46"/>
          <p:cNvSpPr/>
          <p:nvPr/>
        </p:nvSpPr>
        <p:spPr>
          <a:xfrm>
            <a:off x="9042502" y="2967228"/>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TMC, The Missile Company</a:t>
            </a:r>
            <a:endParaRPr lang="en-US" sz="850" dirty="0"/>
          </a:p>
        </p:txBody>
      </p:sp>
      <p:sp>
        <p:nvSpPr>
          <p:cNvPr id="53" name="Text 47"/>
          <p:cNvSpPr/>
          <p:nvPr/>
        </p:nvSpPr>
        <p:spPr>
          <a:xfrm>
            <a:off x="9042502" y="3140964"/>
            <a:ext cx="2606040" cy="292608"/>
          </a:xfrm>
          <a:prstGeom prst="rect">
            <a:avLst/>
          </a:prstGeom>
          <a:noFill/>
          <a:ln/>
        </p:spPr>
        <p:txBody>
          <a:bodyPr wrap="square" lIns="0" tIns="0" rIns="0" bIns="0" rtlCol="0" anchor="t"/>
          <a:lstStyle/>
          <a:p>
            <a:pPr indent="0" marL="0">
              <a:lnSpc>
                <a:spcPts val="1080"/>
              </a:lnSpc>
              <a:buNone/>
            </a:pPr>
            <a:r>
              <a:rPr lang="en-US" sz="900" dirty="0">
                <a:solidFill>
                  <a:srgbClr val="5B6577"/>
                </a:solidFill>
                <a:latin typeface="Montserrat" pitchFamily="34" charset="0"/>
                <a:ea typeface="Montserrat" pitchFamily="34" charset="-122"/>
                <a:cs typeface="Montserrat" pitchFamily="34" charset="-120"/>
              </a:rPr>
              <a:t>Cruise missiles, air defence and rocket motors for European and Gulf primes</a:t>
            </a:r>
            <a:endParaRPr lang="en-US" sz="900" dirty="0"/>
          </a:p>
        </p:txBody>
      </p:sp>
      <p:sp>
        <p:nvSpPr>
          <p:cNvPr id="54" name="Text 48"/>
          <p:cNvSpPr/>
          <p:nvPr/>
        </p:nvSpPr>
        <p:spPr>
          <a:xfrm>
            <a:off x="9042502" y="3529584"/>
            <a:ext cx="2606040" cy="475488"/>
          </a:xfrm>
          <a:prstGeom prst="rect">
            <a:avLst/>
          </a:prstGeom>
          <a:noFill/>
          <a:ln/>
        </p:spPr>
        <p:txBody>
          <a:bodyPr wrap="square" lIns="0" tIns="0" rIns="0" bIns="0" rtlCol="0" anchor="b"/>
          <a:lstStyle/>
          <a:p>
            <a:pPr indent="0" marL="0">
              <a:buNone/>
            </a:pPr>
            <a:r>
              <a:rPr lang="en-US" sz="1100" dirty="0">
                <a:solidFill>
                  <a:srgbClr val="5B6577"/>
                </a:solidFill>
                <a:latin typeface="Montserrat" pitchFamily="34" charset="0"/>
                <a:ea typeface="Montserrat" pitchFamily="34" charset="-122"/>
                <a:cs typeface="Montserrat" pitchFamily="34" charset="-120"/>
              </a:rPr>
              <a:t>US$ </a:t>
            </a:r>
            <a:pPr indent="0" marL="0">
              <a:buNone/>
            </a:pPr>
            <a:r>
              <a:rPr lang="en-US" sz="3200" b="1" dirty="0">
                <a:solidFill>
                  <a:srgbClr val="00092B"/>
                </a:solidFill>
                <a:latin typeface="Montserrat" pitchFamily="34" charset="0"/>
                <a:ea typeface="Montserrat" pitchFamily="34" charset="-122"/>
                <a:cs typeface="Montserrat" pitchFamily="34" charset="-120"/>
              </a:rPr>
              <a:t>1.9</a:t>
            </a:r>
            <a:pPr indent="0" marL="0">
              <a:buNone/>
            </a:pPr>
            <a:r>
              <a:rPr lang="en-US" sz="1400" dirty="0">
                <a:solidFill>
                  <a:srgbClr val="00092B"/>
                </a:solidFill>
                <a:latin typeface="Montserrat" pitchFamily="34" charset="0"/>
                <a:ea typeface="Montserrat" pitchFamily="34" charset="-122"/>
                <a:cs typeface="Montserrat" pitchFamily="34" charset="-120"/>
              </a:rPr>
              <a:t> bn</a:t>
            </a:r>
            <a:endParaRPr lang="en-US" sz="1100" dirty="0"/>
          </a:p>
        </p:txBody>
      </p:sp>
      <p:sp>
        <p:nvSpPr>
          <p:cNvPr id="55" name="Text 49"/>
          <p:cNvSpPr/>
          <p:nvPr/>
        </p:nvSpPr>
        <p:spPr>
          <a:xfrm>
            <a:off x="9042502" y="4169664"/>
            <a:ext cx="2606040" cy="164592"/>
          </a:xfrm>
          <a:prstGeom prst="rect">
            <a:avLst/>
          </a:prstGeom>
          <a:noFill/>
          <a:ln/>
        </p:spPr>
        <p:txBody>
          <a:bodyPr wrap="square" lIns="0" tIns="0" rIns="0" bIns="0" rtlCol="0" anchor="t"/>
          <a:lstStyle/>
          <a:p>
            <a:pPr indent="0" marL="0">
              <a:buNone/>
            </a:pPr>
            <a:r>
              <a:rPr lang="en-US" sz="850" dirty="0">
                <a:solidFill>
                  <a:srgbClr val="7B8494"/>
                </a:solidFill>
                <a:latin typeface="Montserrat" pitchFamily="34" charset="0"/>
                <a:ea typeface="Montserrat" pitchFamily="34" charset="-122"/>
                <a:cs typeface="Montserrat" pitchFamily="34" charset="-120"/>
              </a:rPr>
              <a:t>identified  ·  40% of the group</a:t>
            </a:r>
            <a:endParaRPr lang="en-US" sz="850" dirty="0"/>
          </a:p>
        </p:txBody>
      </p:sp>
      <p:sp>
        <p:nvSpPr>
          <p:cNvPr id="56" name="Shape 50"/>
          <p:cNvSpPr/>
          <p:nvPr/>
        </p:nvSpPr>
        <p:spPr>
          <a:xfrm>
            <a:off x="9042502" y="4059936"/>
            <a:ext cx="2606040" cy="75895"/>
          </a:xfrm>
          <a:prstGeom prst="rect">
            <a:avLst/>
          </a:prstGeom>
          <a:solidFill>
            <a:srgbClr val="E8EAEE"/>
          </a:solidFill>
          <a:ln/>
        </p:spPr>
      </p:sp>
      <p:sp>
        <p:nvSpPr>
          <p:cNvPr id="57" name="Shape 51"/>
          <p:cNvSpPr/>
          <p:nvPr/>
        </p:nvSpPr>
        <p:spPr>
          <a:xfrm>
            <a:off x="9042502" y="4059936"/>
            <a:ext cx="1042416" cy="75895"/>
          </a:xfrm>
          <a:prstGeom prst="rect">
            <a:avLst/>
          </a:prstGeom>
          <a:solidFill>
            <a:srgbClr val="949494"/>
          </a:solidFill>
          <a:ln/>
        </p:spPr>
      </p:sp>
      <p:sp>
        <p:nvSpPr>
          <p:cNvPr id="58" name="Shape 52"/>
          <p:cNvSpPr/>
          <p:nvPr/>
        </p:nvSpPr>
        <p:spPr>
          <a:xfrm>
            <a:off x="6109106" y="1883664"/>
            <a:ext cx="9144" cy="2432304"/>
          </a:xfrm>
          <a:prstGeom prst="rect">
            <a:avLst/>
          </a:prstGeom>
          <a:solidFill>
            <a:srgbClr val="E5E7EB"/>
          </a:solidFill>
          <a:ln/>
        </p:spPr>
      </p:sp>
      <p:sp>
        <p:nvSpPr>
          <p:cNvPr id="59" name="Shape 53"/>
          <p:cNvSpPr/>
          <p:nvPr/>
        </p:nvSpPr>
        <p:spPr>
          <a:xfrm>
            <a:off x="8902598" y="1883664"/>
            <a:ext cx="9144" cy="2432304"/>
          </a:xfrm>
          <a:prstGeom prst="rect">
            <a:avLst/>
          </a:prstGeom>
          <a:solidFill>
            <a:srgbClr val="E5E7EB"/>
          </a:solidFill>
          <a:ln/>
        </p:spPr>
      </p:sp>
      <p:sp>
        <p:nvSpPr>
          <p:cNvPr id="60" name="Shape 54"/>
          <p:cNvSpPr/>
          <p:nvPr/>
        </p:nvSpPr>
        <p:spPr>
          <a:xfrm>
            <a:off x="0" y="4462272"/>
            <a:ext cx="12191695" cy="2395728"/>
          </a:xfrm>
          <a:prstGeom prst="rect">
            <a:avLst/>
          </a:prstGeom>
          <a:solidFill>
            <a:srgbClr val="00092B"/>
          </a:solidFill>
          <a:ln/>
        </p:spPr>
      </p:sp>
      <p:sp>
        <p:nvSpPr>
          <p:cNvPr id="61" name="Shape 55"/>
          <p:cNvSpPr/>
          <p:nvPr/>
        </p:nvSpPr>
        <p:spPr>
          <a:xfrm>
            <a:off x="70409" y="4462272"/>
            <a:ext cx="27432" cy="2395728"/>
          </a:xfrm>
          <a:prstGeom prst="rect">
            <a:avLst/>
          </a:prstGeom>
          <a:solidFill>
            <a:srgbClr val="1C2441"/>
          </a:solidFill>
          <a:ln/>
        </p:spPr>
      </p:sp>
      <p:sp>
        <p:nvSpPr>
          <p:cNvPr id="62" name="Shape 56"/>
          <p:cNvSpPr/>
          <p:nvPr/>
        </p:nvSpPr>
        <p:spPr>
          <a:xfrm>
            <a:off x="1520647" y="4462272"/>
            <a:ext cx="27432" cy="2395728"/>
          </a:xfrm>
          <a:prstGeom prst="rect">
            <a:avLst/>
          </a:prstGeom>
          <a:solidFill>
            <a:srgbClr val="1C2441"/>
          </a:solidFill>
          <a:ln/>
        </p:spPr>
      </p:sp>
      <p:sp>
        <p:nvSpPr>
          <p:cNvPr id="63" name="Shape 57"/>
          <p:cNvSpPr/>
          <p:nvPr/>
        </p:nvSpPr>
        <p:spPr>
          <a:xfrm>
            <a:off x="2970886" y="4462272"/>
            <a:ext cx="27432" cy="2395728"/>
          </a:xfrm>
          <a:prstGeom prst="rect">
            <a:avLst/>
          </a:prstGeom>
          <a:solidFill>
            <a:srgbClr val="1C2441"/>
          </a:solidFill>
          <a:ln/>
        </p:spPr>
      </p:sp>
      <p:sp>
        <p:nvSpPr>
          <p:cNvPr id="64" name="Shape 58"/>
          <p:cNvSpPr/>
          <p:nvPr/>
        </p:nvSpPr>
        <p:spPr>
          <a:xfrm>
            <a:off x="4421124" y="4462272"/>
            <a:ext cx="27432" cy="2395728"/>
          </a:xfrm>
          <a:prstGeom prst="rect">
            <a:avLst/>
          </a:prstGeom>
          <a:solidFill>
            <a:srgbClr val="1C2441"/>
          </a:solidFill>
          <a:ln/>
        </p:spPr>
      </p:sp>
      <p:sp>
        <p:nvSpPr>
          <p:cNvPr id="65" name="Shape 59"/>
          <p:cNvSpPr/>
          <p:nvPr/>
        </p:nvSpPr>
        <p:spPr>
          <a:xfrm>
            <a:off x="5871362" y="4462272"/>
            <a:ext cx="27432" cy="2395728"/>
          </a:xfrm>
          <a:prstGeom prst="rect">
            <a:avLst/>
          </a:prstGeom>
          <a:solidFill>
            <a:srgbClr val="1C2441"/>
          </a:solidFill>
          <a:ln/>
        </p:spPr>
      </p:sp>
      <p:sp>
        <p:nvSpPr>
          <p:cNvPr id="66" name="Shape 60"/>
          <p:cNvSpPr/>
          <p:nvPr/>
        </p:nvSpPr>
        <p:spPr>
          <a:xfrm>
            <a:off x="7321601" y="4462272"/>
            <a:ext cx="27432" cy="2395728"/>
          </a:xfrm>
          <a:prstGeom prst="rect">
            <a:avLst/>
          </a:prstGeom>
          <a:solidFill>
            <a:srgbClr val="1C2441"/>
          </a:solidFill>
          <a:ln/>
        </p:spPr>
      </p:sp>
      <p:sp>
        <p:nvSpPr>
          <p:cNvPr id="67" name="Shape 61"/>
          <p:cNvSpPr/>
          <p:nvPr/>
        </p:nvSpPr>
        <p:spPr>
          <a:xfrm>
            <a:off x="8771839" y="4462272"/>
            <a:ext cx="27432" cy="2395728"/>
          </a:xfrm>
          <a:prstGeom prst="rect">
            <a:avLst/>
          </a:prstGeom>
          <a:solidFill>
            <a:srgbClr val="1C2441"/>
          </a:solidFill>
          <a:ln/>
        </p:spPr>
      </p:sp>
      <p:sp>
        <p:nvSpPr>
          <p:cNvPr id="68" name="Shape 62"/>
          <p:cNvSpPr/>
          <p:nvPr/>
        </p:nvSpPr>
        <p:spPr>
          <a:xfrm>
            <a:off x="10222078" y="4462272"/>
            <a:ext cx="27432" cy="2395728"/>
          </a:xfrm>
          <a:prstGeom prst="rect">
            <a:avLst/>
          </a:prstGeom>
          <a:solidFill>
            <a:srgbClr val="1C2441"/>
          </a:solidFill>
          <a:ln/>
        </p:spPr>
      </p:sp>
      <p:sp>
        <p:nvSpPr>
          <p:cNvPr id="69" name="Shape 63"/>
          <p:cNvSpPr/>
          <p:nvPr/>
        </p:nvSpPr>
        <p:spPr>
          <a:xfrm>
            <a:off x="11672316" y="4462272"/>
            <a:ext cx="27432" cy="2395728"/>
          </a:xfrm>
          <a:prstGeom prst="rect">
            <a:avLst/>
          </a:prstGeom>
          <a:solidFill>
            <a:srgbClr val="1C2441"/>
          </a:solidFill>
          <a:ln/>
        </p:spPr>
      </p:sp>
      <p:sp>
        <p:nvSpPr>
          <p:cNvPr id="70" name="Text 64"/>
          <p:cNvSpPr/>
          <p:nvPr/>
        </p:nvSpPr>
        <p:spPr>
          <a:xfrm>
            <a:off x="571500" y="4626864"/>
            <a:ext cx="5486400" cy="182880"/>
          </a:xfrm>
          <a:prstGeom prst="rect">
            <a:avLst/>
          </a:prstGeom>
          <a:noFill/>
          <a:ln/>
        </p:spPr>
        <p:txBody>
          <a:bodyPr wrap="square" lIns="0" tIns="0" rIns="0" bIns="0" rtlCol="0" anchor="t"/>
          <a:lstStyle/>
          <a:p>
            <a:pPr indent="0" marL="0">
              <a:buNone/>
            </a:pPr>
            <a:r>
              <a:rPr lang="en-US" sz="950" dirty="0">
                <a:solidFill>
                  <a:srgbClr val="FFFFFF"/>
                </a:solidFill>
                <a:latin typeface="Montserrat Medium" pitchFamily="34" charset="0"/>
                <a:ea typeface="Montserrat Medium" pitchFamily="34" charset="-122"/>
                <a:cs typeface="Montserrat Medium" pitchFamily="34" charset="-120"/>
              </a:rPr>
              <a:t>Where the opportunity sits: by end-user region</a:t>
            </a:r>
            <a:endParaRPr lang="en-US" sz="950" dirty="0"/>
          </a:p>
        </p:txBody>
      </p:sp>
      <p:sp>
        <p:nvSpPr>
          <p:cNvPr id="71" name="Shape 65"/>
          <p:cNvSpPr/>
          <p:nvPr/>
        </p:nvSpPr>
        <p:spPr>
          <a:xfrm>
            <a:off x="571500" y="4860036"/>
            <a:ext cx="11077042" cy="9144"/>
          </a:xfrm>
          <a:prstGeom prst="rect">
            <a:avLst/>
          </a:prstGeom>
          <a:solidFill>
            <a:srgbClr val="3C4E86"/>
          </a:solidFill>
          <a:ln/>
        </p:spPr>
      </p:sp>
      <p:sp>
        <p:nvSpPr>
          <p:cNvPr id="72" name="Shape 66"/>
          <p:cNvSpPr/>
          <p:nvPr/>
        </p:nvSpPr>
        <p:spPr>
          <a:xfrm>
            <a:off x="571500" y="5010912"/>
            <a:ext cx="5278287" cy="438912"/>
          </a:xfrm>
          <a:prstGeom prst="rect">
            <a:avLst/>
          </a:prstGeom>
          <a:solidFill>
            <a:srgbClr val="021B94"/>
          </a:solidFill>
          <a:ln/>
        </p:spPr>
      </p:sp>
      <p:sp>
        <p:nvSpPr>
          <p:cNvPr id="73" name="Text 67"/>
          <p:cNvSpPr/>
          <p:nvPr/>
        </p:nvSpPr>
        <p:spPr>
          <a:xfrm>
            <a:off x="571500" y="5010912"/>
            <a:ext cx="5278287"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48%</a:t>
            </a:r>
            <a:endParaRPr lang="en-US" sz="900" dirty="0"/>
          </a:p>
        </p:txBody>
      </p:sp>
      <p:sp>
        <p:nvSpPr>
          <p:cNvPr id="74" name="Shape 68"/>
          <p:cNvSpPr/>
          <p:nvPr/>
        </p:nvSpPr>
        <p:spPr>
          <a:xfrm>
            <a:off x="5849787" y="5010912"/>
            <a:ext cx="3629260" cy="438912"/>
          </a:xfrm>
          <a:prstGeom prst="rect">
            <a:avLst/>
          </a:prstGeom>
          <a:solidFill>
            <a:srgbClr val="2E4BC4"/>
          </a:solidFill>
          <a:ln/>
        </p:spPr>
      </p:sp>
      <p:sp>
        <p:nvSpPr>
          <p:cNvPr id="75" name="Text 69"/>
          <p:cNvSpPr/>
          <p:nvPr/>
        </p:nvSpPr>
        <p:spPr>
          <a:xfrm>
            <a:off x="5849787" y="5010912"/>
            <a:ext cx="362926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33%</a:t>
            </a:r>
            <a:endParaRPr lang="en-US" sz="900" dirty="0"/>
          </a:p>
        </p:txBody>
      </p:sp>
      <p:sp>
        <p:nvSpPr>
          <p:cNvPr id="76" name="Shape 70"/>
          <p:cNvSpPr/>
          <p:nvPr/>
        </p:nvSpPr>
        <p:spPr>
          <a:xfrm>
            <a:off x="9479047" y="5010912"/>
            <a:ext cx="1075985" cy="438912"/>
          </a:xfrm>
          <a:prstGeom prst="rect">
            <a:avLst/>
          </a:prstGeom>
          <a:solidFill>
            <a:srgbClr val="6F86E8"/>
          </a:solidFill>
          <a:ln/>
        </p:spPr>
      </p:sp>
      <p:sp>
        <p:nvSpPr>
          <p:cNvPr id="77" name="Text 71"/>
          <p:cNvSpPr/>
          <p:nvPr/>
        </p:nvSpPr>
        <p:spPr>
          <a:xfrm>
            <a:off x="9479047" y="5010912"/>
            <a:ext cx="1075985" cy="438912"/>
          </a:xfrm>
          <a:prstGeom prst="rect">
            <a:avLst/>
          </a:prstGeom>
          <a:noFill/>
          <a:ln/>
        </p:spPr>
        <p:txBody>
          <a:bodyPr wrap="square" lIns="0" tIns="0" rIns="0" bIns="0" rtlCol="0" anchor="ctr"/>
          <a:lstStyle/>
          <a:p>
            <a:pPr algn="ctr" indent="0" marL="0">
              <a:buNone/>
            </a:pPr>
            <a:r>
              <a:rPr lang="en-US" sz="900" b="1" dirty="0">
                <a:solidFill>
                  <a:srgbClr val="0B1F6E"/>
                </a:solidFill>
                <a:latin typeface="Montserrat" pitchFamily="34" charset="0"/>
                <a:ea typeface="Montserrat" pitchFamily="34" charset="-122"/>
                <a:cs typeface="Montserrat" pitchFamily="34" charset="-120"/>
              </a:rPr>
              <a:t>10%</a:t>
            </a:r>
            <a:endParaRPr lang="en-US" sz="900" dirty="0"/>
          </a:p>
        </p:txBody>
      </p:sp>
      <p:sp>
        <p:nvSpPr>
          <p:cNvPr id="78" name="Shape 72"/>
          <p:cNvSpPr/>
          <p:nvPr/>
        </p:nvSpPr>
        <p:spPr>
          <a:xfrm>
            <a:off x="10555032" y="5010912"/>
            <a:ext cx="676434" cy="438912"/>
          </a:xfrm>
          <a:prstGeom prst="rect">
            <a:avLst/>
          </a:prstGeom>
          <a:solidFill>
            <a:srgbClr val="95A8FE"/>
          </a:solidFill>
          <a:ln/>
        </p:spPr>
      </p:sp>
      <p:sp>
        <p:nvSpPr>
          <p:cNvPr id="79" name="Text 73"/>
          <p:cNvSpPr/>
          <p:nvPr/>
        </p:nvSpPr>
        <p:spPr>
          <a:xfrm>
            <a:off x="10555032" y="5010912"/>
            <a:ext cx="676434" cy="438912"/>
          </a:xfrm>
          <a:prstGeom prst="rect">
            <a:avLst/>
          </a:prstGeom>
          <a:noFill/>
          <a:ln/>
        </p:spPr>
        <p:txBody>
          <a:bodyPr wrap="square" lIns="0" tIns="0" rIns="0" bIns="0" rtlCol="0" anchor="ctr"/>
          <a:lstStyle/>
          <a:p>
            <a:pPr algn="ctr" indent="0" marL="0">
              <a:buNone/>
            </a:pPr>
            <a:r>
              <a:rPr lang="en-US" sz="900" b="1" dirty="0">
                <a:solidFill>
                  <a:srgbClr val="0B1F6E"/>
                </a:solidFill>
                <a:latin typeface="Montserrat" pitchFamily="34" charset="0"/>
                <a:ea typeface="Montserrat" pitchFamily="34" charset="-122"/>
                <a:cs typeface="Montserrat" pitchFamily="34" charset="-120"/>
              </a:rPr>
              <a:t>6%</a:t>
            </a:r>
            <a:endParaRPr lang="en-US" sz="900" dirty="0"/>
          </a:p>
        </p:txBody>
      </p:sp>
      <p:sp>
        <p:nvSpPr>
          <p:cNvPr id="80" name="Shape 74"/>
          <p:cNvSpPr/>
          <p:nvPr/>
        </p:nvSpPr>
        <p:spPr>
          <a:xfrm>
            <a:off x="11231466" y="5010912"/>
            <a:ext cx="296159" cy="438912"/>
          </a:xfrm>
          <a:prstGeom prst="rect">
            <a:avLst/>
          </a:prstGeom>
          <a:solidFill>
            <a:srgbClr val="C3CDFB"/>
          </a:solidFill>
          <a:ln/>
        </p:spPr>
      </p:sp>
      <p:sp>
        <p:nvSpPr>
          <p:cNvPr id="81" name="Shape 75"/>
          <p:cNvSpPr/>
          <p:nvPr/>
        </p:nvSpPr>
        <p:spPr>
          <a:xfrm>
            <a:off x="11527625" y="5010912"/>
            <a:ext cx="120917" cy="438912"/>
          </a:xfrm>
          <a:prstGeom prst="rect">
            <a:avLst/>
          </a:prstGeom>
          <a:solidFill>
            <a:srgbClr val="E4E8FA"/>
          </a:solidFill>
          <a:ln/>
        </p:spPr>
      </p:sp>
      <p:sp>
        <p:nvSpPr>
          <p:cNvPr id="82" name="Shape 76"/>
          <p:cNvSpPr/>
          <p:nvPr/>
        </p:nvSpPr>
        <p:spPr>
          <a:xfrm>
            <a:off x="571500" y="5645506"/>
            <a:ext cx="96012" cy="96012"/>
          </a:xfrm>
          <a:prstGeom prst="rect">
            <a:avLst/>
          </a:prstGeom>
          <a:solidFill>
            <a:srgbClr val="021B94"/>
          </a:solidFill>
          <a:ln/>
        </p:spPr>
      </p:sp>
      <p:sp>
        <p:nvSpPr>
          <p:cNvPr id="83" name="Text 77"/>
          <p:cNvSpPr/>
          <p:nvPr/>
        </p:nvSpPr>
        <p:spPr>
          <a:xfrm>
            <a:off x="736092" y="5614416"/>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MENA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48%</a:t>
            </a:r>
            <a:endParaRPr lang="en-US" sz="780" dirty="0"/>
          </a:p>
        </p:txBody>
      </p:sp>
      <p:sp>
        <p:nvSpPr>
          <p:cNvPr id="84" name="Shape 78"/>
          <p:cNvSpPr/>
          <p:nvPr/>
        </p:nvSpPr>
        <p:spPr>
          <a:xfrm>
            <a:off x="4263847" y="5645506"/>
            <a:ext cx="96012" cy="96012"/>
          </a:xfrm>
          <a:prstGeom prst="rect">
            <a:avLst/>
          </a:prstGeom>
          <a:solidFill>
            <a:srgbClr val="2E4BC4"/>
          </a:solidFill>
          <a:ln/>
        </p:spPr>
      </p:sp>
      <p:sp>
        <p:nvSpPr>
          <p:cNvPr id="85" name="Text 79"/>
          <p:cNvSpPr/>
          <p:nvPr/>
        </p:nvSpPr>
        <p:spPr>
          <a:xfrm>
            <a:off x="4428439" y="5614416"/>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Eastern Europe &amp; Central Asia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33%</a:t>
            </a:r>
            <a:endParaRPr lang="en-US" sz="780" dirty="0"/>
          </a:p>
        </p:txBody>
      </p:sp>
      <p:sp>
        <p:nvSpPr>
          <p:cNvPr id="86" name="Shape 80"/>
          <p:cNvSpPr/>
          <p:nvPr/>
        </p:nvSpPr>
        <p:spPr>
          <a:xfrm>
            <a:off x="7956194" y="5645506"/>
            <a:ext cx="96012" cy="96012"/>
          </a:xfrm>
          <a:prstGeom prst="rect">
            <a:avLst/>
          </a:prstGeom>
          <a:solidFill>
            <a:srgbClr val="6F86E8"/>
          </a:solidFill>
          <a:ln/>
        </p:spPr>
      </p:sp>
      <p:sp>
        <p:nvSpPr>
          <p:cNvPr id="87" name="Text 81"/>
          <p:cNvSpPr/>
          <p:nvPr/>
        </p:nvSpPr>
        <p:spPr>
          <a:xfrm>
            <a:off x="8120786" y="5614416"/>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Western Europe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10%</a:t>
            </a:r>
            <a:endParaRPr lang="en-US" sz="780" dirty="0"/>
          </a:p>
        </p:txBody>
      </p:sp>
      <p:sp>
        <p:nvSpPr>
          <p:cNvPr id="88" name="Shape 82"/>
          <p:cNvSpPr/>
          <p:nvPr/>
        </p:nvSpPr>
        <p:spPr>
          <a:xfrm>
            <a:off x="571500" y="5910682"/>
            <a:ext cx="96012" cy="96012"/>
          </a:xfrm>
          <a:prstGeom prst="rect">
            <a:avLst/>
          </a:prstGeom>
          <a:solidFill>
            <a:srgbClr val="95A8FE"/>
          </a:solidFill>
          <a:ln/>
        </p:spPr>
      </p:sp>
      <p:sp>
        <p:nvSpPr>
          <p:cNvPr id="89" name="Text 83"/>
          <p:cNvSpPr/>
          <p:nvPr/>
        </p:nvSpPr>
        <p:spPr>
          <a:xfrm>
            <a:off x="736092" y="5879592"/>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North America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6%</a:t>
            </a:r>
            <a:endParaRPr lang="en-US" sz="780" dirty="0"/>
          </a:p>
        </p:txBody>
      </p:sp>
      <p:sp>
        <p:nvSpPr>
          <p:cNvPr id="90" name="Shape 84"/>
          <p:cNvSpPr/>
          <p:nvPr/>
        </p:nvSpPr>
        <p:spPr>
          <a:xfrm>
            <a:off x="4263847" y="5910682"/>
            <a:ext cx="96012" cy="96012"/>
          </a:xfrm>
          <a:prstGeom prst="rect">
            <a:avLst/>
          </a:prstGeom>
          <a:solidFill>
            <a:srgbClr val="C3CDFB"/>
          </a:solidFill>
          <a:ln/>
        </p:spPr>
      </p:sp>
      <p:sp>
        <p:nvSpPr>
          <p:cNvPr id="91" name="Text 85"/>
          <p:cNvSpPr/>
          <p:nvPr/>
        </p:nvSpPr>
        <p:spPr>
          <a:xfrm>
            <a:off x="4428439" y="5879592"/>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Asia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3%</a:t>
            </a:r>
            <a:endParaRPr lang="en-US" sz="780" dirty="0"/>
          </a:p>
        </p:txBody>
      </p:sp>
      <p:sp>
        <p:nvSpPr>
          <p:cNvPr id="92" name="Shape 86"/>
          <p:cNvSpPr/>
          <p:nvPr/>
        </p:nvSpPr>
        <p:spPr>
          <a:xfrm>
            <a:off x="7956194" y="5910682"/>
            <a:ext cx="96012" cy="96012"/>
          </a:xfrm>
          <a:prstGeom prst="rect">
            <a:avLst/>
          </a:prstGeom>
          <a:solidFill>
            <a:srgbClr val="E4E8FA"/>
          </a:solidFill>
          <a:ln/>
        </p:spPr>
      </p:sp>
      <p:sp>
        <p:nvSpPr>
          <p:cNvPr id="93" name="Text 87"/>
          <p:cNvSpPr/>
          <p:nvPr/>
        </p:nvSpPr>
        <p:spPr>
          <a:xfrm>
            <a:off x="8120786" y="5879592"/>
            <a:ext cx="3491179" cy="160020"/>
          </a:xfrm>
          <a:prstGeom prst="rect">
            <a:avLst/>
          </a:prstGeom>
          <a:noFill/>
          <a:ln/>
        </p:spPr>
        <p:txBody>
          <a:bodyPr wrap="square" lIns="0" tIns="0" rIns="0" bIns="0" rtlCol="0" anchor="ctr"/>
          <a:lstStyle/>
          <a:p>
            <a:pPr indent="0" marL="0">
              <a:buNone/>
            </a:pPr>
            <a:r>
              <a:rPr lang="en-US" sz="780" dirty="0">
                <a:solidFill>
                  <a:srgbClr val="C6CBDA"/>
                </a:solidFill>
                <a:latin typeface="Montserrat" pitchFamily="34" charset="0"/>
                <a:ea typeface="Montserrat" pitchFamily="34" charset="-122"/>
                <a:cs typeface="Montserrat" pitchFamily="34" charset="-120"/>
              </a:rPr>
              <a:t>LATAM  </a:t>
            </a:r>
            <a:pPr indent="0" marL="0">
              <a:buNone/>
            </a:pPr>
            <a:r>
              <a:rPr lang="en-US" sz="780" dirty="0">
                <a:solidFill>
                  <a:srgbClr val="FFFFFF"/>
                </a:solidFill>
                <a:latin typeface="Montserrat SemiBold" pitchFamily="34" charset="0"/>
                <a:ea typeface="Montserrat SemiBold" pitchFamily="34" charset="-122"/>
                <a:cs typeface="Montserrat SemiBold" pitchFamily="34" charset="-120"/>
              </a:rPr>
              <a:t>1%</a:t>
            </a:r>
            <a:endParaRPr lang="en-US" sz="780" dirty="0"/>
          </a:p>
        </p:txBody>
      </p:sp>
      <p:sp>
        <p:nvSpPr>
          <p:cNvPr id="94" name="Text 88"/>
          <p:cNvSpPr/>
          <p:nvPr/>
        </p:nvSpPr>
        <p:spPr>
          <a:xfrm>
            <a:off x="571500" y="6085332"/>
            <a:ext cx="11077042" cy="256032"/>
          </a:xfrm>
          <a:prstGeom prst="rect">
            <a:avLst/>
          </a:prstGeom>
          <a:noFill/>
          <a:ln/>
        </p:spPr>
        <p:txBody>
          <a:bodyPr wrap="square" lIns="0" tIns="0" rIns="0" bIns="0" rtlCol="0" anchor="t"/>
          <a:lstStyle/>
          <a:p>
            <a:pPr indent="0" marL="0">
              <a:lnSpc>
                <a:spcPts val="936"/>
              </a:lnSpc>
              <a:buNone/>
            </a:pPr>
            <a:r>
              <a:rPr lang="en-US" sz="700" dirty="0">
                <a:solidFill>
                  <a:srgbClr val="8C93A8"/>
                </a:solidFill>
                <a:latin typeface="Montserrat Light" pitchFamily="34" charset="0"/>
                <a:ea typeface="Montserrat Light" pitchFamily="34" charset="-122"/>
                <a:cs typeface="Montserrat Light" pitchFamily="34" charset="-120"/>
              </a:rPr>
              <a:t>Identified opportunity: total contract value of every signed contract and open opportunity in the Company’s commercial review, at face value and unweighted. Coverage compares it with cumulative gross revenue in the 2026–32 plan. Bar widths follow the Company’s underlying mix; labelled shares are rounded and do not sum to 100%.</a:t>
            </a:r>
            <a:endParaRPr lang="en-US" sz="700" dirty="0"/>
          </a:p>
        </p:txBody>
      </p:sp>
      <p:sp>
        <p:nvSpPr>
          <p:cNvPr id="95" name="Text 89"/>
          <p:cNvSpPr/>
          <p:nvPr/>
        </p:nvSpPr>
        <p:spPr>
          <a:xfrm>
            <a:off x="357530" y="6484925"/>
            <a:ext cx="274320" cy="155448"/>
          </a:xfrm>
          <a:prstGeom prst="rect">
            <a:avLst/>
          </a:prstGeom>
          <a:noFill/>
          <a:ln/>
        </p:spPr>
        <p:txBody>
          <a:bodyPr wrap="square" lIns="0" tIns="0" rIns="0" bIns="0" rtlCol="0" anchor="t"/>
          <a:lstStyle/>
          <a:p>
            <a:pPr indent="0" marL="0">
              <a:buNone/>
            </a:pPr>
            <a:r>
              <a:rPr lang="en-US" sz="800" dirty="0">
                <a:solidFill>
                  <a:srgbClr val="FFFFFF"/>
                </a:solidFill>
                <a:latin typeface="Montserrat SemiBold" pitchFamily="34" charset="0"/>
                <a:ea typeface="Montserrat SemiBold" pitchFamily="34" charset="-122"/>
                <a:cs typeface="Montserrat SemiBold" pitchFamily="34" charset="-120"/>
              </a:rPr>
              <a:t>50</a:t>
            </a:r>
            <a:endParaRPr lang="en-US" sz="800" dirty="0"/>
          </a:p>
        </p:txBody>
      </p:sp>
      <p:sp>
        <p:nvSpPr>
          <p:cNvPr id="96" name="Text 90"/>
          <p:cNvSpPr/>
          <p:nvPr/>
        </p:nvSpPr>
        <p:spPr>
          <a:xfrm>
            <a:off x="626364" y="6467551"/>
            <a:ext cx="8686800" cy="155448"/>
          </a:xfrm>
          <a:prstGeom prst="rect">
            <a:avLst/>
          </a:prstGeom>
          <a:noFill/>
          <a:ln/>
        </p:spPr>
        <p:txBody>
          <a:bodyPr wrap="square" lIns="0" tIns="0" rIns="0" bIns="0" rtlCol="0" anchor="t"/>
          <a:lstStyle/>
          <a:p>
            <a:pPr indent="0" marL="0">
              <a:buNone/>
            </a:pPr>
            <a:r>
              <a:rPr lang="en-US" sz="800" dirty="0">
                <a:solidFill>
                  <a:srgbClr val="A6A6A6"/>
                </a:solidFill>
                <a:latin typeface="Montserrat Light" pitchFamily="34" charset="0"/>
                <a:ea typeface="Montserrat Light" pitchFamily="34" charset="-122"/>
                <a:cs typeface="Montserrat Light" pitchFamily="34" charset="-120"/>
              </a:rPr>
              <a:t>Source: Company, commercial review of backlog and pipeline, 5 Aug 2026 (rev. 2); Company financial model, Base case (FX R$ 5.17/US$).</a:t>
            </a:r>
            <a:endParaRPr lang="en-US" sz="800" dirty="0"/>
          </a:p>
        </p:txBody>
      </p:sp>
      <p:sp>
        <p:nvSpPr>
          <p:cNvPr id="97" name="Shape 91"/>
          <p:cNvSpPr/>
          <p:nvPr/>
        </p:nvSpPr>
        <p:spPr>
          <a:xfrm>
            <a:off x="10931652" y="6469380"/>
            <a:ext cx="932688" cy="196596"/>
          </a:xfrm>
          <a:prstGeom prst="roundRect">
            <a:avLst>
              <a:gd name="adj" fmla="val 27907"/>
            </a:avLst>
          </a:prstGeom>
          <a:ln w="6350">
            <a:solidFill>
              <a:srgbClr val="9DADFF"/>
            </a:solidFill>
            <a:prstDash val="solid"/>
          </a:ln>
        </p:spPr>
      </p:sp>
      <p:sp>
        <p:nvSpPr>
          <p:cNvPr id="98" name="Text 92"/>
          <p:cNvSpPr/>
          <p:nvPr/>
        </p:nvSpPr>
        <p:spPr>
          <a:xfrm>
            <a:off x="10931652" y="6469380"/>
            <a:ext cx="932688" cy="196596"/>
          </a:xfrm>
          <a:prstGeom prst="rect">
            <a:avLst/>
          </a:prstGeom>
          <a:noFill/>
          <a:ln/>
        </p:spPr>
        <p:txBody>
          <a:bodyPr wrap="square" lIns="0" tIns="0" rIns="0" bIns="0" rtlCol="0" anchor="ctr"/>
          <a:lstStyle/>
          <a:p>
            <a:pPr algn="ctr" indent="0" marL="0">
              <a:buNone/>
            </a:pPr>
            <a:r>
              <a:rPr lang="en-US" sz="700" dirty="0">
                <a:solidFill>
                  <a:srgbClr val="9DADFF"/>
                </a:solidFill>
                <a:latin typeface="Montserrat" pitchFamily="34" charset="0"/>
                <a:ea typeface="Montserrat" pitchFamily="34" charset="-122"/>
                <a:cs typeface="Montserrat" pitchFamily="34" charset="-120"/>
              </a:rPr>
              <a:t>Confidential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 Jee — identified commercial opportunity</dc:title>
  <dc:subject>PptxGenJS Presentation</dc:subject>
  <dc:creator>IGC Partners</dc:creator>
  <cp:lastModifiedBy>IGC Partners</cp:lastModifiedBy>
  <cp:revision>1</cp:revision>
  <dcterms:created xsi:type="dcterms:W3CDTF">2026-09-04T18:33:55Z</dcterms:created>
  <dcterms:modified xsi:type="dcterms:W3CDTF">2026-09-04T18:33:55Z</dcterms:modified>
</cp:coreProperties>
</file>
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92278" y="224028"/>
            <a:ext cx="128016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Mac Jee At a Glance</a:t>
            </a:r>
            <a:endParaRPr lang="en-US" sz="698" dirty="0"/>
          </a:p>
        </p:txBody>
      </p:sp>
      <p:sp>
        <p:nvSpPr>
          <p:cNvPr id="3" name="Text 1"/>
          <p:cNvSpPr/>
          <p:nvPr/>
        </p:nvSpPr>
        <p:spPr>
          <a:xfrm>
            <a:off x="1634947" y="224028"/>
            <a:ext cx="160020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Mac Jee Investment Thesis</a:t>
            </a:r>
            <a:endParaRPr lang="en-US" sz="698" dirty="0"/>
          </a:p>
        </p:txBody>
      </p:sp>
      <p:sp>
        <p:nvSpPr>
          <p:cNvPr id="4" name="Text 2"/>
          <p:cNvSpPr/>
          <p:nvPr/>
        </p:nvSpPr>
        <p:spPr>
          <a:xfrm>
            <a:off x="3165653" y="224028"/>
            <a:ext cx="169164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Business Units and Portfolio</a:t>
            </a:r>
            <a:endParaRPr lang="en-US" sz="698" dirty="0"/>
          </a:p>
        </p:txBody>
      </p:sp>
      <p:sp>
        <p:nvSpPr>
          <p:cNvPr id="5" name="Text 3"/>
          <p:cNvSpPr/>
          <p:nvPr/>
        </p:nvSpPr>
        <p:spPr>
          <a:xfrm>
            <a:off x="4749394" y="224028"/>
            <a:ext cx="694944" cy="146304"/>
          </a:xfrm>
          <a:prstGeom prst="rect">
            <a:avLst/>
          </a:prstGeom>
          <a:noFill/>
          <a:ln/>
        </p:spPr>
        <p:txBody>
          <a:bodyPr wrap="square" lIns="0" tIns="0" rIns="0" bIns="0" rtlCol="0" anchor="ctr"/>
          <a:lstStyle/>
          <a:p>
            <a:pPr indent="0" marL="0">
              <a:buNone/>
            </a:pPr>
            <a:r>
              <a:rPr lang="en-US" sz="698" dirty="0">
                <a:solidFill>
                  <a:srgbClr val="00178D"/>
                </a:solidFill>
                <a:latin typeface="Montserrat SemiBold" pitchFamily="34" charset="0"/>
                <a:ea typeface="Montserrat SemiBold" pitchFamily="34" charset="-122"/>
                <a:cs typeface="Montserrat SemiBold" pitchFamily="34" charset="-120"/>
              </a:rPr>
              <a:t>Financials</a:t>
            </a:r>
            <a:endParaRPr lang="en-US" sz="698" dirty="0"/>
          </a:p>
        </p:txBody>
      </p:sp>
      <p:sp>
        <p:nvSpPr>
          <p:cNvPr id="6" name="Shape 4"/>
          <p:cNvSpPr/>
          <p:nvPr/>
        </p:nvSpPr>
        <p:spPr>
          <a:xfrm>
            <a:off x="4749394" y="442570"/>
            <a:ext cx="420624" cy="9144"/>
          </a:xfrm>
          <a:prstGeom prst="rect">
            <a:avLst/>
          </a:prstGeom>
          <a:solidFill>
            <a:srgbClr val="27B0FF"/>
          </a:solidFill>
          <a:ln/>
        </p:spPr>
      </p:sp>
      <p:sp>
        <p:nvSpPr>
          <p:cNvPr id="7" name="Shape 5"/>
          <p:cNvSpPr/>
          <p:nvPr/>
        </p:nvSpPr>
        <p:spPr>
          <a:xfrm>
            <a:off x="4723790" y="418795"/>
            <a:ext cx="51206" cy="51206"/>
          </a:xfrm>
          <a:prstGeom prst="diamond">
            <a:avLst/>
          </a:prstGeom>
          <a:solidFill>
            <a:srgbClr val="27B0FF"/>
          </a:solidFill>
          <a:ln/>
        </p:spPr>
      </p:sp>
      <p:sp>
        <p:nvSpPr>
          <p:cNvPr id="8" name="Shape 6"/>
          <p:cNvSpPr/>
          <p:nvPr/>
        </p:nvSpPr>
        <p:spPr>
          <a:xfrm>
            <a:off x="5144414" y="418795"/>
            <a:ext cx="51206" cy="51206"/>
          </a:xfrm>
          <a:prstGeom prst="diamond">
            <a:avLst/>
          </a:prstGeom>
          <a:solidFill>
            <a:srgbClr val="27B0FF"/>
          </a:solidFill>
          <a:ln/>
        </p:spPr>
      </p:sp>
      <p:pic>
        <p:nvPicPr>
          <p:cNvPr id="9" name="Image 0" descr="assets/macjee_gold.png">    </p:cNvPr>
          <p:cNvPicPr>
            <a:picLocks noChangeAspect="1"/>
          </p:cNvPicPr>
          <p:nvPr/>
        </p:nvPicPr>
        <p:blipFill>
          <a:blip r:embed="rId1"/>
          <a:stretch>
            <a:fillRect/>
          </a:stretch>
        </p:blipFill>
        <p:spPr>
          <a:xfrm>
            <a:off x="11374222" y="343814"/>
            <a:ext cx="481889" cy="481889"/>
          </a:xfrm>
          <a:prstGeom prst="rect">
            <a:avLst/>
          </a:prstGeom>
        </p:spPr>
      </p:pic>
      <p:sp>
        <p:nvSpPr>
          <p:cNvPr id="10" name="Text 7"/>
          <p:cNvSpPr/>
          <p:nvPr/>
        </p:nvSpPr>
        <p:spPr>
          <a:xfrm>
            <a:off x="392278" y="731520"/>
            <a:ext cx="11296498" cy="384048"/>
          </a:xfrm>
          <a:prstGeom prst="rect">
            <a:avLst/>
          </a:prstGeom>
          <a:noFill/>
          <a:ln/>
        </p:spPr>
        <p:txBody>
          <a:bodyPr wrap="square" lIns="0" tIns="0" rIns="0" bIns="0" rtlCol="0" anchor="ctr"/>
          <a:lstStyle/>
          <a:p>
            <a:pPr indent="0" marL="0">
              <a:buNone/>
            </a:pPr>
            <a:r>
              <a:rPr lang="en-US" sz="2400" b="1" dirty="0">
                <a:solidFill>
                  <a:srgbClr val="00092B"/>
                </a:solidFill>
                <a:latin typeface="Montserrat" pitchFamily="34" charset="0"/>
                <a:ea typeface="Montserrat" pitchFamily="34" charset="-122"/>
                <a:cs typeface="Montserrat" pitchFamily="34" charset="-120"/>
              </a:rPr>
              <a:t>US$ 4.6 bn of identified opportunity by business unit</a:t>
            </a:r>
            <a:endParaRPr lang="en-US" sz="2400" dirty="0"/>
          </a:p>
        </p:txBody>
      </p:sp>
      <p:sp>
        <p:nvSpPr>
          <p:cNvPr id="11" name="Text 8"/>
          <p:cNvSpPr/>
          <p:nvPr/>
        </p:nvSpPr>
        <p:spPr>
          <a:xfrm>
            <a:off x="342900" y="1110996"/>
            <a:ext cx="11296498" cy="256032"/>
          </a:xfrm>
          <a:prstGeom prst="rect">
            <a:avLst/>
          </a:prstGeom>
          <a:noFill/>
          <a:ln/>
        </p:spPr>
        <p:txBody>
          <a:bodyPr wrap="square" lIns="0" tIns="0" rIns="0" bIns="0" rtlCol="0" anchor="ctr"/>
          <a:lstStyle/>
          <a:p>
            <a:pPr indent="0" marL="0">
              <a:buNone/>
            </a:pPr>
            <a:r>
              <a:rPr lang="en-US" sz="1200" dirty="0">
                <a:solidFill>
                  <a:srgbClr val="000312"/>
                </a:solidFill>
                <a:latin typeface="Montserrat" pitchFamily="34" charset="0"/>
                <a:ea typeface="Montserrat" pitchFamily="34" charset="-122"/>
                <a:cs typeface="Montserrat" pitchFamily="34" charset="-120"/>
              </a:rPr>
              <a:t>55 named programmes across 21 countries — every block below is sized by the value it carries</a:t>
            </a:r>
            <a:endParaRPr lang="en-US" sz="1200" dirty="0"/>
          </a:p>
        </p:txBody>
      </p:sp>
      <p:sp>
        <p:nvSpPr>
          <p:cNvPr id="12" name="Shape 9"/>
          <p:cNvSpPr/>
          <p:nvPr/>
        </p:nvSpPr>
        <p:spPr>
          <a:xfrm>
            <a:off x="357530" y="1426464"/>
            <a:ext cx="11476634" cy="3090672"/>
          </a:xfrm>
          <a:custGeom>
            <a:avLst/>
            <a:gdLst/>
            <a:ahLst/>
            <a:cxnLst/>
            <a:rect l="l" t="t" r="r" b="b"/>
            <a:pathLst>
              <a:path w="11476634" h="3090672">
                <a:moveTo>
                  <a:pt x="0" y="0"/>
                </a:moveTo>
                <a:lnTo>
                  <a:pt x="11158423" y="0"/>
                </a:lnTo>
                <a:lnTo>
                  <a:pt x="11476634" y="318211"/>
                </a:lnTo>
                <a:lnTo>
                  <a:pt x="11476634" y="3090672"/>
                </a:lnTo>
                <a:lnTo>
                  <a:pt x="318211" y="3090672"/>
                </a:lnTo>
                <a:lnTo>
                  <a:pt x="0" y="2772461"/>
                </a:lnTo>
                <a:close/>
              </a:path>
            </a:pathLst>
          </a:custGeom>
          <a:solidFill>
            <a:srgbClr val="FFFFFF"/>
          </a:solidFill>
          <a:ln/>
          <a:effectLst>
            <a:outerShdw sx="100000" sy="100000" kx="0" ky="0" algn="bl" rotWithShape="0" blurRad="50800" dist="19050" dir="5400000">
              <a:srgbClr val="000000">
                <a:alpha val="16000"/>
              </a:srgbClr>
            </a:outerShdw>
          </a:effectLst>
        </p:spPr>
      </p:sp>
      <p:sp>
        <p:nvSpPr>
          <p:cNvPr id="13" name="Shape 10"/>
          <p:cNvSpPr/>
          <p:nvPr/>
        </p:nvSpPr>
        <p:spPr>
          <a:xfrm>
            <a:off x="576072" y="1645920"/>
            <a:ext cx="11036808" cy="475488"/>
          </a:xfrm>
          <a:custGeom>
            <a:avLst/>
            <a:gdLst/>
            <a:ahLst/>
            <a:cxnLst/>
            <a:rect l="l" t="t" r="r" b="b"/>
            <a:pathLst>
              <a:path w="11036808" h="475488">
                <a:moveTo>
                  <a:pt x="0" y="0"/>
                </a:moveTo>
                <a:lnTo>
                  <a:pt x="10908792" y="0"/>
                </a:lnTo>
                <a:lnTo>
                  <a:pt x="11036808" y="128016"/>
                </a:lnTo>
                <a:lnTo>
                  <a:pt x="11036808" y="475488"/>
                </a:lnTo>
                <a:lnTo>
                  <a:pt x="128016" y="475488"/>
                </a:lnTo>
                <a:lnTo>
                  <a:pt x="0" y="347472"/>
                </a:lnTo>
                <a:close/>
              </a:path>
            </a:pathLst>
          </a:custGeom>
          <a:solidFill>
            <a:srgbClr val="00092B"/>
          </a:solidFill>
          <a:ln/>
        </p:spPr>
      </p:sp>
      <p:sp>
        <p:nvSpPr>
          <p:cNvPr id="14" name="Text 11"/>
          <p:cNvSpPr/>
          <p:nvPr/>
        </p:nvSpPr>
        <p:spPr>
          <a:xfrm>
            <a:off x="813816" y="1645920"/>
            <a:ext cx="6766560" cy="475488"/>
          </a:xfrm>
          <a:prstGeom prst="rect">
            <a:avLst/>
          </a:prstGeom>
          <a:noFill/>
          <a:ln/>
        </p:spPr>
        <p:txBody>
          <a:bodyPr wrap="square" lIns="0" tIns="0" rIns="0" bIns="0" rtlCol="0" anchor="ctr"/>
          <a:lstStyle/>
          <a:p>
            <a:pPr indent="0" marL="0">
              <a:buNone/>
            </a:pPr>
            <a:r>
              <a:rPr lang="en-US" sz="760" spc="140" kern="0" dirty="0">
                <a:solidFill>
                  <a:srgbClr val="95A8FE"/>
                </a:solidFill>
                <a:latin typeface="Montserrat" pitchFamily="34" charset="0"/>
                <a:ea typeface="Montserrat" pitchFamily="34" charset="-122"/>
                <a:cs typeface="Montserrat" pitchFamily="34" charset="-120"/>
              </a:rPr>
              <a:t>GROUP TOTAL     </a:t>
            </a:r>
            <a:pPr indent="0" marL="0">
              <a:buNone/>
            </a:pPr>
            <a:r>
              <a:rPr lang="en-US" sz="1100" dirty="0">
                <a:solidFill>
                  <a:srgbClr val="C6CBDA"/>
                </a:solidFill>
                <a:latin typeface="Montserrat" pitchFamily="34" charset="0"/>
                <a:ea typeface="Montserrat" pitchFamily="34" charset="-122"/>
                <a:cs typeface="Montserrat" pitchFamily="34" charset="-120"/>
              </a:rPr>
              <a:t>US$ </a:t>
            </a:r>
            <a:pPr indent="0" marL="0">
              <a:buNone/>
            </a:pPr>
            <a:r>
              <a:rPr lang="en-US" sz="2200" b="1" dirty="0">
                <a:solidFill>
                  <a:srgbClr val="FFFFFF"/>
                </a:solidFill>
                <a:latin typeface="Montserrat" pitchFamily="34" charset="0"/>
                <a:ea typeface="Montserrat" pitchFamily="34" charset="-122"/>
                <a:cs typeface="Montserrat" pitchFamily="34" charset="-120"/>
              </a:rPr>
              <a:t>4.6</a:t>
            </a:r>
            <a:pPr indent="0" marL="0">
              <a:buNone/>
            </a:pPr>
            <a:r>
              <a:rPr lang="en-US" sz="1200" dirty="0">
                <a:solidFill>
                  <a:srgbClr val="FFFFFF"/>
                </a:solidFill>
                <a:latin typeface="Montserrat" pitchFamily="34" charset="0"/>
                <a:ea typeface="Montserrat" pitchFamily="34" charset="-122"/>
                <a:cs typeface="Montserrat" pitchFamily="34" charset="-120"/>
              </a:rPr>
              <a:t> bn</a:t>
            </a:r>
            <a:pPr indent="0" marL="0">
              <a:buNone/>
            </a:pPr>
            <a:r>
              <a:rPr lang="en-US" sz="900" dirty="0">
                <a:solidFill>
                  <a:srgbClr val="C6CBDA"/>
                </a:solidFill>
                <a:latin typeface="Montserrat" pitchFamily="34" charset="0"/>
                <a:ea typeface="Montserrat" pitchFamily="34" charset="-122"/>
                <a:cs typeface="Montserrat" pitchFamily="34" charset="-120"/>
              </a:rPr>
              <a:t>     identified commercial opportunity</a:t>
            </a:r>
            <a:endParaRPr lang="en-US" sz="760" dirty="0"/>
          </a:p>
        </p:txBody>
      </p:sp>
      <p:sp>
        <p:nvSpPr>
          <p:cNvPr id="15" name="Text 12"/>
          <p:cNvSpPr/>
          <p:nvPr/>
        </p:nvSpPr>
        <p:spPr>
          <a:xfrm>
            <a:off x="7708392" y="1645920"/>
            <a:ext cx="3666744" cy="475488"/>
          </a:xfrm>
          <a:prstGeom prst="rect">
            <a:avLst/>
          </a:prstGeom>
          <a:noFill/>
          <a:ln/>
        </p:spPr>
        <p:txBody>
          <a:bodyPr wrap="square" lIns="0" tIns="0" rIns="0" bIns="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US$ 4.1 bn</a:t>
            </a:r>
            <a:pPr algn="r" indent="0" marL="0">
              <a:buNone/>
            </a:pPr>
            <a:r>
              <a:rPr lang="en-US" sz="900" dirty="0">
                <a:solidFill>
                  <a:srgbClr val="C6CBDA"/>
                </a:solidFill>
                <a:latin typeface="Montserrat" pitchFamily="34" charset="0"/>
                <a:ea typeface="Montserrat" pitchFamily="34" charset="-122"/>
                <a:cs typeface="Montserrat" pitchFamily="34" charset="-120"/>
              </a:rPr>
              <a:t> converted in the 2026–32 plan     </a:t>
            </a:r>
            <a:pPr algn="r" indent="0" marL="0">
              <a:buNone/>
            </a:pPr>
            <a:r>
              <a:rPr lang="en-US" sz="900" b="1" dirty="0">
                <a:solidFill>
                  <a:srgbClr val="FFFFFF"/>
                </a:solidFill>
                <a:latin typeface="Montserrat" pitchFamily="34" charset="0"/>
                <a:ea typeface="Montserrat" pitchFamily="34" charset="-122"/>
                <a:cs typeface="Montserrat" pitchFamily="34" charset="-120"/>
              </a:rPr>
              <a:t>1.1x</a:t>
            </a:r>
            <a:pPr algn="r" indent="0" marL="0">
              <a:buNone/>
            </a:pPr>
            <a:r>
              <a:rPr lang="en-US" sz="900" dirty="0">
                <a:solidFill>
                  <a:srgbClr val="C6CBDA"/>
                </a:solidFill>
                <a:latin typeface="Montserrat" pitchFamily="34" charset="0"/>
                <a:ea typeface="Montserrat" pitchFamily="34" charset="-122"/>
                <a:cs typeface="Montserrat" pitchFamily="34" charset="-120"/>
              </a:rPr>
              <a:t> coverage</a:t>
            </a:r>
            <a:endParaRPr lang="en-US" sz="900" dirty="0"/>
          </a:p>
        </p:txBody>
      </p:sp>
      <p:sp>
        <p:nvSpPr>
          <p:cNvPr id="16" name="Shape 13"/>
          <p:cNvSpPr/>
          <p:nvPr/>
        </p:nvSpPr>
        <p:spPr>
          <a:xfrm>
            <a:off x="576072" y="2286000"/>
            <a:ext cx="3754961" cy="2011680"/>
          </a:xfrm>
          <a:prstGeom prst="rect">
            <a:avLst/>
          </a:prstGeom>
          <a:solidFill>
            <a:srgbClr val="F1F8E6"/>
          </a:solidFill>
          <a:ln/>
        </p:spPr>
      </p:sp>
      <p:sp>
        <p:nvSpPr>
          <p:cNvPr id="17" name="Shape 14"/>
          <p:cNvSpPr/>
          <p:nvPr/>
        </p:nvSpPr>
        <p:spPr>
          <a:xfrm>
            <a:off x="576072" y="2286000"/>
            <a:ext cx="3754961" cy="1060704"/>
          </a:xfrm>
          <a:prstGeom prst="rect">
            <a:avLst/>
          </a:prstGeom>
          <a:solidFill>
            <a:srgbClr val="6FA82F"/>
          </a:solidFill>
          <a:ln/>
        </p:spPr>
      </p:sp>
      <p:sp>
        <p:nvSpPr>
          <p:cNvPr id="18" name="Text 15"/>
          <p:cNvSpPr/>
          <p:nvPr/>
        </p:nvSpPr>
        <p:spPr>
          <a:xfrm>
            <a:off x="777240" y="2414016"/>
            <a:ext cx="3352625" cy="256032"/>
          </a:xfrm>
          <a:prstGeom prst="rect">
            <a:avLst/>
          </a:prstGeom>
          <a:noFill/>
          <a:ln/>
        </p:spPr>
        <p:txBody>
          <a:bodyPr wrap="square" lIns="0" tIns="0" rIns="0" bIns="0" rtlCol="0" anchor="ctr"/>
          <a:lstStyle/>
          <a:p>
            <a:pPr indent="0" marL="0">
              <a:buNone/>
            </a:pPr>
            <a:r>
              <a:rPr lang="en-US" sz="1500" b="1" dirty="0">
                <a:solidFill>
                  <a:srgbClr val="FFFFFF"/>
                </a:solidFill>
                <a:latin typeface="Montserrat" pitchFamily="34" charset="0"/>
                <a:ea typeface="Montserrat" pitchFamily="34" charset="-122"/>
                <a:cs typeface="Montserrat" pitchFamily="34" charset="-120"/>
              </a:rPr>
              <a:t>Munitions</a:t>
            </a:r>
            <a:endParaRPr lang="en-US" sz="1500" dirty="0"/>
          </a:p>
        </p:txBody>
      </p:sp>
      <p:sp>
        <p:nvSpPr>
          <p:cNvPr id="19" name="Text 16"/>
          <p:cNvSpPr/>
          <p:nvPr/>
        </p:nvSpPr>
        <p:spPr>
          <a:xfrm>
            <a:off x="777240" y="2651760"/>
            <a:ext cx="3352625" cy="164592"/>
          </a:xfrm>
          <a:prstGeom prst="rect">
            <a:avLst/>
          </a:prstGeom>
          <a:noFill/>
          <a:ln/>
        </p:spPr>
        <p:txBody>
          <a:bodyPr wrap="square" lIns="0" tIns="0" rIns="0" bIns="0" rtlCol="0" anchor="ctr"/>
          <a:lstStyle/>
          <a:p>
            <a:pPr indent="0" marL="0">
              <a:buNone/>
            </a:pPr>
            <a:r>
              <a:rPr lang="en-US" sz="760" dirty="0">
                <a:solidFill>
                  <a:srgbClr val="FFFFFF"/>
                </a:solidFill>
                <a:latin typeface="Montserrat" pitchFamily="34" charset="0"/>
                <a:ea typeface="Montserrat" pitchFamily="34" charset="-122"/>
                <a:cs typeface="Montserrat" pitchFamily="34" charset="-120"/>
              </a:rPr>
              <a:t>Aerial bombs, artillery, rockets and fuzes</a:t>
            </a:r>
            <a:endParaRPr lang="en-US" sz="760" dirty="0"/>
          </a:p>
        </p:txBody>
      </p:sp>
      <p:sp>
        <p:nvSpPr>
          <p:cNvPr id="20" name="Text 17"/>
          <p:cNvSpPr/>
          <p:nvPr/>
        </p:nvSpPr>
        <p:spPr>
          <a:xfrm>
            <a:off x="777240" y="2852928"/>
            <a:ext cx="3352625" cy="420624"/>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US$ </a:t>
            </a:r>
            <a:pPr indent="0" marL="0">
              <a:buNone/>
            </a:pPr>
            <a:r>
              <a:rPr lang="en-US" sz="3200" b="1" dirty="0">
                <a:solidFill>
                  <a:srgbClr val="FFFFFF"/>
                </a:solidFill>
                <a:latin typeface="Montserrat" pitchFamily="34" charset="0"/>
                <a:ea typeface="Montserrat" pitchFamily="34" charset="-122"/>
                <a:cs typeface="Montserrat" pitchFamily="34" charset="-120"/>
              </a:rPr>
              <a:t>1.6</a:t>
            </a:r>
            <a:pPr indent="0" marL="0">
              <a:buNone/>
            </a:pPr>
            <a:r>
              <a:rPr lang="en-US" sz="1400" dirty="0">
                <a:solidFill>
                  <a:srgbClr val="FFFFFF"/>
                </a:solidFill>
                <a:latin typeface="Montserrat" pitchFamily="34" charset="0"/>
                <a:ea typeface="Montserrat" pitchFamily="34" charset="-122"/>
                <a:cs typeface="Montserrat" pitchFamily="34" charset="-120"/>
              </a:rPr>
              <a:t> bn</a:t>
            </a:r>
            <a:pPr indent="0" marL="0">
              <a:buNone/>
            </a:pPr>
            <a:r>
              <a:rPr lang="en-US" sz="1100" dirty="0">
                <a:solidFill>
                  <a:srgbClr val="FFFFFF"/>
                </a:solidFill>
                <a:latin typeface="Montserrat" pitchFamily="34" charset="0"/>
                <a:ea typeface="Montserrat" pitchFamily="34" charset="-122"/>
                <a:cs typeface="Montserrat" pitchFamily="34" charset="-120"/>
              </a:rPr>
              <a:t>     35%</a:t>
            </a:r>
            <a:endParaRPr lang="en-US" sz="1200" dirty="0"/>
          </a:p>
        </p:txBody>
      </p:sp>
      <p:sp>
        <p:nvSpPr>
          <p:cNvPr id="21" name="Text 18"/>
          <p:cNvSpPr/>
          <p:nvPr/>
        </p:nvSpPr>
        <p:spPr>
          <a:xfrm>
            <a:off x="777240" y="3456432"/>
            <a:ext cx="3352625"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34 programmes · 11 countries</a:t>
            </a:r>
            <a:endParaRPr lang="en-US" sz="780" dirty="0"/>
          </a:p>
        </p:txBody>
      </p:sp>
      <p:sp>
        <p:nvSpPr>
          <p:cNvPr id="22" name="Text 19"/>
          <p:cNvSpPr/>
          <p:nvPr/>
        </p:nvSpPr>
        <p:spPr>
          <a:xfrm>
            <a:off x="777240" y="3675888"/>
            <a:ext cx="3352625"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Largest: US$ 250 mm — 155 mm ERFBBB, Bulgaria</a:t>
            </a:r>
            <a:endParaRPr lang="en-US" sz="780" dirty="0"/>
          </a:p>
        </p:txBody>
      </p:sp>
      <p:sp>
        <p:nvSpPr>
          <p:cNvPr id="23" name="Text 20"/>
          <p:cNvSpPr/>
          <p:nvPr/>
        </p:nvSpPr>
        <p:spPr>
          <a:xfrm>
            <a:off x="777240" y="3895344"/>
            <a:ext cx="3352625"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Already in serial production</a:t>
            </a:r>
            <a:endParaRPr lang="en-US" sz="780" dirty="0"/>
          </a:p>
        </p:txBody>
      </p:sp>
      <p:sp>
        <p:nvSpPr>
          <p:cNvPr id="24" name="Text 21"/>
          <p:cNvSpPr/>
          <p:nvPr/>
        </p:nvSpPr>
        <p:spPr>
          <a:xfrm>
            <a:off x="777240" y="4059936"/>
            <a:ext cx="3352625" cy="182880"/>
          </a:xfrm>
          <a:prstGeom prst="rect">
            <a:avLst/>
          </a:prstGeom>
          <a:noFill/>
          <a:ln/>
        </p:spPr>
        <p:txBody>
          <a:bodyPr wrap="square" lIns="0" tIns="0" rIns="0" bIns="0" rtlCol="0" anchor="ctr"/>
          <a:lstStyle/>
          <a:p>
            <a:pPr indent="0" marL="0">
              <a:buNone/>
            </a:pPr>
            <a:r>
              <a:rPr lang="en-US" sz="800" b="1" dirty="0">
                <a:solidFill>
                  <a:srgbClr val="6FA82F"/>
                </a:solidFill>
                <a:latin typeface="Montserrat" pitchFamily="34" charset="0"/>
                <a:ea typeface="Montserrat" pitchFamily="34" charset="-122"/>
                <a:cs typeface="Montserrat" pitchFamily="34" charset="-120"/>
              </a:rPr>
              <a:t>US$ 1.55 bn in the plan  ·  104% covered</a:t>
            </a:r>
            <a:endParaRPr lang="en-US" sz="800" dirty="0"/>
          </a:p>
        </p:txBody>
      </p:sp>
      <p:sp>
        <p:nvSpPr>
          <p:cNvPr id="25" name="Shape 22"/>
          <p:cNvSpPr/>
          <p:nvPr/>
        </p:nvSpPr>
        <p:spPr>
          <a:xfrm>
            <a:off x="4477337" y="2286000"/>
            <a:ext cx="2660261" cy="2011680"/>
          </a:xfrm>
          <a:prstGeom prst="rect">
            <a:avLst/>
          </a:prstGeom>
          <a:solidFill>
            <a:srgbClr val="FFF7E3"/>
          </a:solidFill>
          <a:ln/>
        </p:spPr>
      </p:sp>
      <p:sp>
        <p:nvSpPr>
          <p:cNvPr id="26" name="Shape 23"/>
          <p:cNvSpPr/>
          <p:nvPr/>
        </p:nvSpPr>
        <p:spPr>
          <a:xfrm>
            <a:off x="4477337" y="2286000"/>
            <a:ext cx="2660261" cy="1060704"/>
          </a:xfrm>
          <a:prstGeom prst="rect">
            <a:avLst/>
          </a:prstGeom>
          <a:solidFill>
            <a:srgbClr val="C79000"/>
          </a:solidFill>
          <a:ln/>
        </p:spPr>
      </p:sp>
      <p:sp>
        <p:nvSpPr>
          <p:cNvPr id="27" name="Text 24"/>
          <p:cNvSpPr/>
          <p:nvPr/>
        </p:nvSpPr>
        <p:spPr>
          <a:xfrm>
            <a:off x="4678505" y="2414016"/>
            <a:ext cx="2257925" cy="256032"/>
          </a:xfrm>
          <a:prstGeom prst="rect">
            <a:avLst/>
          </a:prstGeom>
          <a:noFill/>
          <a:ln/>
        </p:spPr>
        <p:txBody>
          <a:bodyPr wrap="square" lIns="0" tIns="0" rIns="0" bIns="0" rtlCol="0" anchor="ctr"/>
          <a:lstStyle/>
          <a:p>
            <a:pPr indent="0" marL="0">
              <a:buNone/>
            </a:pPr>
            <a:r>
              <a:rPr lang="en-US" sz="1500" b="1" dirty="0">
                <a:solidFill>
                  <a:srgbClr val="FFFFFF"/>
                </a:solidFill>
                <a:latin typeface="Montserrat" pitchFamily="34" charset="0"/>
                <a:ea typeface="Montserrat" pitchFamily="34" charset="-122"/>
                <a:cs typeface="Montserrat" pitchFamily="34" charset="-120"/>
              </a:rPr>
              <a:t>Energetics</a:t>
            </a:r>
            <a:endParaRPr lang="en-US" sz="1500" dirty="0"/>
          </a:p>
        </p:txBody>
      </p:sp>
      <p:sp>
        <p:nvSpPr>
          <p:cNvPr id="28" name="Text 25"/>
          <p:cNvSpPr/>
          <p:nvPr/>
        </p:nvSpPr>
        <p:spPr>
          <a:xfrm>
            <a:off x="4678505" y="2651760"/>
            <a:ext cx="2257925" cy="164592"/>
          </a:xfrm>
          <a:prstGeom prst="rect">
            <a:avLst/>
          </a:prstGeom>
          <a:noFill/>
          <a:ln/>
        </p:spPr>
        <p:txBody>
          <a:bodyPr wrap="square" lIns="0" tIns="0" rIns="0" bIns="0" rtlCol="0" anchor="ctr"/>
          <a:lstStyle/>
          <a:p>
            <a:pPr indent="0" marL="0">
              <a:buNone/>
            </a:pPr>
            <a:r>
              <a:rPr lang="en-US" sz="760" dirty="0">
                <a:solidFill>
                  <a:srgbClr val="FFFFFF"/>
                </a:solidFill>
                <a:latin typeface="Montserrat" pitchFamily="34" charset="0"/>
                <a:ea typeface="Montserrat" pitchFamily="34" charset="-122"/>
                <a:cs typeface="Montserrat" pitchFamily="34" charset="-120"/>
              </a:rPr>
              <a:t>Turnkey TNT, RDX and HMX production lines</a:t>
            </a:r>
            <a:endParaRPr lang="en-US" sz="760" dirty="0"/>
          </a:p>
        </p:txBody>
      </p:sp>
      <p:sp>
        <p:nvSpPr>
          <p:cNvPr id="29" name="Text 26"/>
          <p:cNvSpPr/>
          <p:nvPr/>
        </p:nvSpPr>
        <p:spPr>
          <a:xfrm>
            <a:off x="4678505" y="2852928"/>
            <a:ext cx="2257925" cy="420624"/>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US$ </a:t>
            </a:r>
            <a:pPr indent="0" marL="0">
              <a:buNone/>
            </a:pPr>
            <a:r>
              <a:rPr lang="en-US" sz="3200" b="1" dirty="0">
                <a:solidFill>
                  <a:srgbClr val="FFFFFF"/>
                </a:solidFill>
                <a:latin typeface="Montserrat" pitchFamily="34" charset="0"/>
                <a:ea typeface="Montserrat" pitchFamily="34" charset="-122"/>
                <a:cs typeface="Montserrat" pitchFamily="34" charset="-120"/>
              </a:rPr>
              <a:t>1.1</a:t>
            </a:r>
            <a:pPr indent="0" marL="0">
              <a:buNone/>
            </a:pPr>
            <a:r>
              <a:rPr lang="en-US" sz="1400" dirty="0">
                <a:solidFill>
                  <a:srgbClr val="FFFFFF"/>
                </a:solidFill>
                <a:latin typeface="Montserrat" pitchFamily="34" charset="0"/>
                <a:ea typeface="Montserrat" pitchFamily="34" charset="-122"/>
                <a:cs typeface="Montserrat" pitchFamily="34" charset="-120"/>
              </a:rPr>
              <a:t> bn</a:t>
            </a:r>
            <a:pPr indent="0" marL="0">
              <a:buNone/>
            </a:pPr>
            <a:r>
              <a:rPr lang="en-US" sz="1100" dirty="0">
                <a:solidFill>
                  <a:srgbClr val="FFFFFF"/>
                </a:solidFill>
                <a:latin typeface="Montserrat" pitchFamily="34" charset="0"/>
                <a:ea typeface="Montserrat" pitchFamily="34" charset="-122"/>
                <a:cs typeface="Montserrat" pitchFamily="34" charset="-120"/>
              </a:rPr>
              <a:t>     25%</a:t>
            </a:r>
            <a:endParaRPr lang="en-US" sz="1200" dirty="0"/>
          </a:p>
        </p:txBody>
      </p:sp>
      <p:sp>
        <p:nvSpPr>
          <p:cNvPr id="30" name="Text 27"/>
          <p:cNvSpPr/>
          <p:nvPr/>
        </p:nvSpPr>
        <p:spPr>
          <a:xfrm>
            <a:off x="4678505" y="3456432"/>
            <a:ext cx="2257925"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12 programmes · 11 countries</a:t>
            </a:r>
            <a:endParaRPr lang="en-US" sz="780" dirty="0"/>
          </a:p>
        </p:txBody>
      </p:sp>
      <p:sp>
        <p:nvSpPr>
          <p:cNvPr id="31" name="Text 28"/>
          <p:cNvSpPr/>
          <p:nvPr/>
        </p:nvSpPr>
        <p:spPr>
          <a:xfrm>
            <a:off x="4678505" y="3675888"/>
            <a:ext cx="2257925"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Largest: US$ 200 mm — TNT line, Canada</a:t>
            </a:r>
            <a:endParaRPr lang="en-US" sz="780" dirty="0"/>
          </a:p>
        </p:txBody>
      </p:sp>
      <p:sp>
        <p:nvSpPr>
          <p:cNvPr id="32" name="Text 29"/>
          <p:cNvSpPr/>
          <p:nvPr/>
        </p:nvSpPr>
        <p:spPr>
          <a:xfrm>
            <a:off x="4678505" y="3895344"/>
            <a:ext cx="2257925"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Plants licensed and operating</a:t>
            </a:r>
            <a:endParaRPr lang="en-US" sz="780" dirty="0"/>
          </a:p>
        </p:txBody>
      </p:sp>
      <p:sp>
        <p:nvSpPr>
          <p:cNvPr id="33" name="Text 30"/>
          <p:cNvSpPr/>
          <p:nvPr/>
        </p:nvSpPr>
        <p:spPr>
          <a:xfrm>
            <a:off x="4678505" y="4059936"/>
            <a:ext cx="2257925" cy="182880"/>
          </a:xfrm>
          <a:prstGeom prst="rect">
            <a:avLst/>
          </a:prstGeom>
          <a:noFill/>
          <a:ln/>
        </p:spPr>
        <p:txBody>
          <a:bodyPr wrap="square" lIns="0" tIns="0" rIns="0" bIns="0" rtlCol="0" anchor="ctr"/>
          <a:lstStyle/>
          <a:p>
            <a:pPr indent="0" marL="0">
              <a:buNone/>
            </a:pPr>
            <a:r>
              <a:rPr lang="en-US" sz="800" b="1" dirty="0">
                <a:solidFill>
                  <a:srgbClr val="C79000"/>
                </a:solidFill>
                <a:latin typeface="Montserrat" pitchFamily="34" charset="0"/>
                <a:ea typeface="Montserrat" pitchFamily="34" charset="-122"/>
                <a:cs typeface="Montserrat" pitchFamily="34" charset="-120"/>
              </a:rPr>
              <a:t>US$ 0.61 bn in the plan  ·  188% covered</a:t>
            </a:r>
            <a:endParaRPr lang="en-US" sz="800" dirty="0"/>
          </a:p>
        </p:txBody>
      </p:sp>
      <p:sp>
        <p:nvSpPr>
          <p:cNvPr id="34" name="Shape 31"/>
          <p:cNvSpPr/>
          <p:nvPr/>
        </p:nvSpPr>
        <p:spPr>
          <a:xfrm>
            <a:off x="7283903" y="2286000"/>
            <a:ext cx="4328977" cy="2011680"/>
          </a:xfrm>
          <a:prstGeom prst="rect">
            <a:avLst/>
          </a:prstGeom>
          <a:solidFill>
            <a:srgbClr val="F0F2F5"/>
          </a:solidFill>
          <a:ln/>
        </p:spPr>
      </p:sp>
      <p:sp>
        <p:nvSpPr>
          <p:cNvPr id="35" name="Shape 32"/>
          <p:cNvSpPr/>
          <p:nvPr/>
        </p:nvSpPr>
        <p:spPr>
          <a:xfrm>
            <a:off x="7283903" y="2286000"/>
            <a:ext cx="4328977" cy="1060704"/>
          </a:xfrm>
          <a:prstGeom prst="rect">
            <a:avLst/>
          </a:prstGeom>
          <a:solidFill>
            <a:srgbClr val="4A5261"/>
          </a:solidFill>
          <a:ln/>
        </p:spPr>
      </p:sp>
      <p:sp>
        <p:nvSpPr>
          <p:cNvPr id="36" name="Text 33"/>
          <p:cNvSpPr/>
          <p:nvPr/>
        </p:nvSpPr>
        <p:spPr>
          <a:xfrm>
            <a:off x="7485071" y="2414016"/>
            <a:ext cx="3926641" cy="256032"/>
          </a:xfrm>
          <a:prstGeom prst="rect">
            <a:avLst/>
          </a:prstGeom>
          <a:noFill/>
          <a:ln/>
        </p:spPr>
        <p:txBody>
          <a:bodyPr wrap="square" lIns="0" tIns="0" rIns="0" bIns="0" rtlCol="0" anchor="ctr"/>
          <a:lstStyle/>
          <a:p>
            <a:pPr indent="0" marL="0">
              <a:buNone/>
            </a:pPr>
            <a:r>
              <a:rPr lang="en-US" sz="1500" b="1" dirty="0">
                <a:solidFill>
                  <a:srgbClr val="FFFFFF"/>
                </a:solidFill>
                <a:latin typeface="Montserrat" pitchFamily="34" charset="0"/>
                <a:ea typeface="Montserrat" pitchFamily="34" charset="-122"/>
                <a:cs typeface="Montserrat" pitchFamily="34" charset="-120"/>
              </a:rPr>
              <a:t>Missile</a:t>
            </a:r>
            <a:endParaRPr lang="en-US" sz="1500" dirty="0"/>
          </a:p>
        </p:txBody>
      </p:sp>
      <p:sp>
        <p:nvSpPr>
          <p:cNvPr id="37" name="Text 34"/>
          <p:cNvSpPr/>
          <p:nvPr/>
        </p:nvSpPr>
        <p:spPr>
          <a:xfrm>
            <a:off x="7485071" y="2651760"/>
            <a:ext cx="3926641" cy="164592"/>
          </a:xfrm>
          <a:prstGeom prst="rect">
            <a:avLst/>
          </a:prstGeom>
          <a:noFill/>
          <a:ln/>
        </p:spPr>
        <p:txBody>
          <a:bodyPr wrap="square" lIns="0" tIns="0" rIns="0" bIns="0" rtlCol="0" anchor="ctr"/>
          <a:lstStyle/>
          <a:p>
            <a:pPr indent="0" marL="0">
              <a:buNone/>
            </a:pPr>
            <a:r>
              <a:rPr lang="en-US" sz="760" dirty="0">
                <a:solidFill>
                  <a:srgbClr val="FFFFFF"/>
                </a:solidFill>
                <a:latin typeface="Montserrat" pitchFamily="34" charset="0"/>
                <a:ea typeface="Montserrat" pitchFamily="34" charset="-122"/>
                <a:cs typeface="Montserrat" pitchFamily="34" charset="-120"/>
              </a:rPr>
              <a:t>Cruise missiles, air defence and rocket motors</a:t>
            </a:r>
            <a:endParaRPr lang="en-US" sz="760" dirty="0"/>
          </a:p>
        </p:txBody>
      </p:sp>
      <p:sp>
        <p:nvSpPr>
          <p:cNvPr id="38" name="Text 35"/>
          <p:cNvSpPr/>
          <p:nvPr/>
        </p:nvSpPr>
        <p:spPr>
          <a:xfrm>
            <a:off x="7485071" y="2852928"/>
            <a:ext cx="3926641" cy="420624"/>
          </a:xfrm>
          <a:prstGeom prst="rect">
            <a:avLst/>
          </a:prstGeom>
          <a:noFill/>
          <a:ln/>
        </p:spPr>
        <p:txBody>
          <a:bodyPr wrap="square" lIns="0" tIns="0" rIns="0" bIns="0" rtlCol="0" anchor="ctr"/>
          <a:lstStyle/>
          <a:p>
            <a:pPr indent="0" marL="0">
              <a:buNone/>
            </a:pPr>
            <a:r>
              <a:rPr lang="en-US" sz="1200" dirty="0">
                <a:solidFill>
                  <a:srgbClr val="FFFFFF"/>
                </a:solidFill>
                <a:latin typeface="Montserrat" pitchFamily="34" charset="0"/>
                <a:ea typeface="Montserrat" pitchFamily="34" charset="-122"/>
                <a:cs typeface="Montserrat" pitchFamily="34" charset="-120"/>
              </a:rPr>
              <a:t>US$ </a:t>
            </a:r>
            <a:pPr indent="0" marL="0">
              <a:buNone/>
            </a:pPr>
            <a:r>
              <a:rPr lang="en-US" sz="3200" b="1" dirty="0">
                <a:solidFill>
                  <a:srgbClr val="FFFFFF"/>
                </a:solidFill>
                <a:latin typeface="Montserrat" pitchFamily="34" charset="0"/>
                <a:ea typeface="Montserrat" pitchFamily="34" charset="-122"/>
                <a:cs typeface="Montserrat" pitchFamily="34" charset="-120"/>
              </a:rPr>
              <a:t>1.9</a:t>
            </a:r>
            <a:pPr indent="0" marL="0">
              <a:buNone/>
            </a:pPr>
            <a:r>
              <a:rPr lang="en-US" sz="1400" dirty="0">
                <a:solidFill>
                  <a:srgbClr val="FFFFFF"/>
                </a:solidFill>
                <a:latin typeface="Montserrat" pitchFamily="34" charset="0"/>
                <a:ea typeface="Montserrat" pitchFamily="34" charset="-122"/>
                <a:cs typeface="Montserrat" pitchFamily="34" charset="-120"/>
              </a:rPr>
              <a:t> bn</a:t>
            </a:r>
            <a:pPr indent="0" marL="0">
              <a:buNone/>
            </a:pPr>
            <a:r>
              <a:rPr lang="en-US" sz="1100" dirty="0">
                <a:solidFill>
                  <a:srgbClr val="FFFFFF"/>
                </a:solidFill>
                <a:latin typeface="Montserrat" pitchFamily="34" charset="0"/>
                <a:ea typeface="Montserrat" pitchFamily="34" charset="-122"/>
                <a:cs typeface="Montserrat" pitchFamily="34" charset="-120"/>
              </a:rPr>
              <a:t>     40%</a:t>
            </a:r>
            <a:endParaRPr lang="en-US" sz="1200" dirty="0"/>
          </a:p>
        </p:txBody>
      </p:sp>
      <p:sp>
        <p:nvSpPr>
          <p:cNvPr id="39" name="Text 36"/>
          <p:cNvSpPr/>
          <p:nvPr/>
        </p:nvSpPr>
        <p:spPr>
          <a:xfrm>
            <a:off x="7485071" y="3456432"/>
            <a:ext cx="3926641"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9 programmes · 5 countries</a:t>
            </a:r>
            <a:endParaRPr lang="en-US" sz="780" dirty="0"/>
          </a:p>
        </p:txBody>
      </p:sp>
      <p:sp>
        <p:nvSpPr>
          <p:cNvPr id="40" name="Text 37"/>
          <p:cNvSpPr/>
          <p:nvPr/>
        </p:nvSpPr>
        <p:spPr>
          <a:xfrm>
            <a:off x="7485071" y="3675888"/>
            <a:ext cx="3926641"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Largest: US$ 1,000 mm — confidential, Saudi Arabia</a:t>
            </a:r>
            <a:endParaRPr lang="en-US" sz="780" dirty="0"/>
          </a:p>
        </p:txBody>
      </p:sp>
      <p:sp>
        <p:nvSpPr>
          <p:cNvPr id="41" name="Text 38"/>
          <p:cNvSpPr/>
          <p:nvPr/>
        </p:nvSpPr>
        <p:spPr>
          <a:xfrm>
            <a:off x="7485071" y="3895344"/>
            <a:ext cx="3926641" cy="182880"/>
          </a:xfrm>
          <a:prstGeom prst="rect">
            <a:avLst/>
          </a:prstGeom>
          <a:noFill/>
          <a:ln/>
        </p:spPr>
        <p:txBody>
          <a:bodyPr wrap="square" lIns="0" tIns="0" rIns="0" bIns="0" rtlCol="0" anchor="ctr"/>
          <a:lstStyle/>
          <a:p>
            <a:pPr indent="0" marL="0">
              <a:buNone/>
            </a:pPr>
            <a:r>
              <a:rPr lang="en-US" sz="780" dirty="0">
                <a:solidFill>
                  <a:srgbClr val="3C4657"/>
                </a:solidFill>
                <a:latin typeface="Montserrat" pitchFamily="34" charset="0"/>
                <a:ea typeface="Montserrat" pitchFamily="34" charset="-122"/>
                <a:cs typeface="Montserrat" pitchFamily="34" charset="-120"/>
              </a:rPr>
              <a:t>European and Gulf primes engaged</a:t>
            </a:r>
            <a:endParaRPr lang="en-US" sz="780" dirty="0"/>
          </a:p>
        </p:txBody>
      </p:sp>
      <p:sp>
        <p:nvSpPr>
          <p:cNvPr id="42" name="Text 39"/>
          <p:cNvSpPr/>
          <p:nvPr/>
        </p:nvSpPr>
        <p:spPr>
          <a:xfrm>
            <a:off x="7485071" y="4059936"/>
            <a:ext cx="3926641" cy="182880"/>
          </a:xfrm>
          <a:prstGeom prst="rect">
            <a:avLst/>
          </a:prstGeom>
          <a:noFill/>
          <a:ln/>
        </p:spPr>
        <p:txBody>
          <a:bodyPr wrap="square" lIns="0" tIns="0" rIns="0" bIns="0" rtlCol="0" anchor="ctr"/>
          <a:lstStyle/>
          <a:p>
            <a:pPr indent="0" marL="0">
              <a:buNone/>
            </a:pPr>
            <a:r>
              <a:rPr lang="en-US" sz="800" b="1" dirty="0">
                <a:solidFill>
                  <a:srgbClr val="4A5261"/>
                </a:solidFill>
                <a:latin typeface="Montserrat" pitchFamily="34" charset="0"/>
                <a:ea typeface="Montserrat" pitchFamily="34" charset="-122"/>
                <a:cs typeface="Montserrat" pitchFamily="34" charset="-120"/>
              </a:rPr>
              <a:t>US$ 1.93 bn in the plan  ·  96% covered</a:t>
            </a:r>
            <a:endParaRPr lang="en-US" sz="800" dirty="0"/>
          </a:p>
        </p:txBody>
      </p:sp>
      <p:sp>
        <p:nvSpPr>
          <p:cNvPr id="43" name="Text 40"/>
          <p:cNvSpPr/>
          <p:nvPr/>
        </p:nvSpPr>
        <p:spPr>
          <a:xfrm>
            <a:off x="576072" y="4663440"/>
            <a:ext cx="10972800" cy="201168"/>
          </a:xfrm>
          <a:prstGeom prst="rect">
            <a:avLst/>
          </a:prstGeom>
          <a:noFill/>
          <a:ln/>
        </p:spPr>
        <p:txBody>
          <a:bodyPr wrap="square" lIns="0" tIns="0" rIns="0" bIns="0" rtlCol="0" anchor="ctr"/>
          <a:lstStyle/>
          <a:p>
            <a:pPr indent="0" marL="0">
              <a:buNone/>
            </a:pPr>
            <a:r>
              <a:rPr lang="en-US" sz="660" dirty="0">
                <a:solidFill>
                  <a:srgbClr val="8C93A8"/>
                </a:solidFill>
                <a:latin typeface="Montserrat Light" pitchFamily="34" charset="0"/>
                <a:ea typeface="Montserrat Light" pitchFamily="34" charset="-122"/>
                <a:cs typeface="Montserrat Light" pitchFamily="34" charset="-120"/>
              </a:rPr>
              <a:t>Identified opportunity is the total contract value of every signed contract and open commercial opportunity in the Company’s commercial review, at face value and unweighted. Coverage compares it with cumulative gross revenue in the 2026–32 plan.</a:t>
            </a:r>
            <a:endParaRPr lang="en-US" sz="660" dirty="0"/>
          </a:p>
        </p:txBody>
      </p:sp>
      <p:sp>
        <p:nvSpPr>
          <p:cNvPr id="44" name="Shape 41"/>
          <p:cNvSpPr/>
          <p:nvPr/>
        </p:nvSpPr>
        <p:spPr>
          <a:xfrm>
            <a:off x="0" y="5159959"/>
            <a:ext cx="12191695" cy="1698041"/>
          </a:xfrm>
          <a:prstGeom prst="rect">
            <a:avLst/>
          </a:prstGeom>
          <a:solidFill>
            <a:srgbClr val="00092B"/>
          </a:solidFill>
          <a:ln/>
        </p:spPr>
      </p:sp>
      <p:sp>
        <p:nvSpPr>
          <p:cNvPr id="45" name="Shape 42"/>
          <p:cNvSpPr/>
          <p:nvPr/>
        </p:nvSpPr>
        <p:spPr>
          <a:xfrm>
            <a:off x="70409" y="5159959"/>
            <a:ext cx="27432" cy="1698041"/>
          </a:xfrm>
          <a:prstGeom prst="rect">
            <a:avLst/>
          </a:prstGeom>
          <a:solidFill>
            <a:srgbClr val="1C2441"/>
          </a:solidFill>
          <a:ln/>
        </p:spPr>
      </p:sp>
      <p:sp>
        <p:nvSpPr>
          <p:cNvPr id="46" name="Shape 43"/>
          <p:cNvSpPr/>
          <p:nvPr/>
        </p:nvSpPr>
        <p:spPr>
          <a:xfrm>
            <a:off x="1520647" y="5159959"/>
            <a:ext cx="27432" cy="1698041"/>
          </a:xfrm>
          <a:prstGeom prst="rect">
            <a:avLst/>
          </a:prstGeom>
          <a:solidFill>
            <a:srgbClr val="1C2441"/>
          </a:solidFill>
          <a:ln/>
        </p:spPr>
      </p:sp>
      <p:sp>
        <p:nvSpPr>
          <p:cNvPr id="47" name="Shape 44"/>
          <p:cNvSpPr/>
          <p:nvPr/>
        </p:nvSpPr>
        <p:spPr>
          <a:xfrm>
            <a:off x="2970886" y="5159959"/>
            <a:ext cx="27432" cy="1698041"/>
          </a:xfrm>
          <a:prstGeom prst="rect">
            <a:avLst/>
          </a:prstGeom>
          <a:solidFill>
            <a:srgbClr val="1C2441"/>
          </a:solidFill>
          <a:ln/>
        </p:spPr>
      </p:sp>
      <p:sp>
        <p:nvSpPr>
          <p:cNvPr id="48" name="Shape 45"/>
          <p:cNvSpPr/>
          <p:nvPr/>
        </p:nvSpPr>
        <p:spPr>
          <a:xfrm>
            <a:off x="4421124" y="5159959"/>
            <a:ext cx="27432" cy="1698041"/>
          </a:xfrm>
          <a:prstGeom prst="rect">
            <a:avLst/>
          </a:prstGeom>
          <a:solidFill>
            <a:srgbClr val="1C2441"/>
          </a:solidFill>
          <a:ln/>
        </p:spPr>
      </p:sp>
      <p:sp>
        <p:nvSpPr>
          <p:cNvPr id="49" name="Shape 46"/>
          <p:cNvSpPr/>
          <p:nvPr/>
        </p:nvSpPr>
        <p:spPr>
          <a:xfrm>
            <a:off x="5871362" y="5159959"/>
            <a:ext cx="27432" cy="1698041"/>
          </a:xfrm>
          <a:prstGeom prst="rect">
            <a:avLst/>
          </a:prstGeom>
          <a:solidFill>
            <a:srgbClr val="1C2441"/>
          </a:solidFill>
          <a:ln/>
        </p:spPr>
      </p:sp>
      <p:sp>
        <p:nvSpPr>
          <p:cNvPr id="50" name="Shape 47"/>
          <p:cNvSpPr/>
          <p:nvPr/>
        </p:nvSpPr>
        <p:spPr>
          <a:xfrm>
            <a:off x="7321601" y="5159959"/>
            <a:ext cx="27432" cy="1698041"/>
          </a:xfrm>
          <a:prstGeom prst="rect">
            <a:avLst/>
          </a:prstGeom>
          <a:solidFill>
            <a:srgbClr val="1C2441"/>
          </a:solidFill>
          <a:ln/>
        </p:spPr>
      </p:sp>
      <p:sp>
        <p:nvSpPr>
          <p:cNvPr id="51" name="Shape 48"/>
          <p:cNvSpPr/>
          <p:nvPr/>
        </p:nvSpPr>
        <p:spPr>
          <a:xfrm>
            <a:off x="8771839" y="5159959"/>
            <a:ext cx="27432" cy="1698041"/>
          </a:xfrm>
          <a:prstGeom prst="rect">
            <a:avLst/>
          </a:prstGeom>
          <a:solidFill>
            <a:srgbClr val="1C2441"/>
          </a:solidFill>
          <a:ln/>
        </p:spPr>
      </p:sp>
      <p:sp>
        <p:nvSpPr>
          <p:cNvPr id="52" name="Shape 49"/>
          <p:cNvSpPr/>
          <p:nvPr/>
        </p:nvSpPr>
        <p:spPr>
          <a:xfrm>
            <a:off x="10222078" y="5159959"/>
            <a:ext cx="27432" cy="1698041"/>
          </a:xfrm>
          <a:prstGeom prst="rect">
            <a:avLst/>
          </a:prstGeom>
          <a:solidFill>
            <a:srgbClr val="1C2441"/>
          </a:solidFill>
          <a:ln/>
        </p:spPr>
      </p:sp>
      <p:sp>
        <p:nvSpPr>
          <p:cNvPr id="53" name="Shape 50"/>
          <p:cNvSpPr/>
          <p:nvPr/>
        </p:nvSpPr>
        <p:spPr>
          <a:xfrm>
            <a:off x="11672316" y="5159959"/>
            <a:ext cx="27432" cy="1698041"/>
          </a:xfrm>
          <a:prstGeom prst="rect">
            <a:avLst/>
          </a:prstGeom>
          <a:solidFill>
            <a:srgbClr val="1C2441"/>
          </a:solidFill>
          <a:ln/>
        </p:spPr>
      </p:sp>
      <p:sp>
        <p:nvSpPr>
          <p:cNvPr id="54" name="Text 51"/>
          <p:cNvSpPr/>
          <p:nvPr/>
        </p:nvSpPr>
        <p:spPr>
          <a:xfrm>
            <a:off x="548640" y="5394960"/>
            <a:ext cx="11247120" cy="219456"/>
          </a:xfrm>
          <a:prstGeom prst="rect">
            <a:avLst/>
          </a:prstGeom>
          <a:noFill/>
          <a:ln/>
        </p:spPr>
        <p:txBody>
          <a:bodyPr wrap="square" lIns="0" tIns="0" rIns="0" bIns="0" rtlCol="0" anchor="ctr"/>
          <a:lstStyle/>
          <a:p>
            <a:pPr indent="0" marL="0">
              <a:buNone/>
            </a:pPr>
            <a:r>
              <a:rPr lang="en-US" sz="1000" dirty="0">
                <a:solidFill>
                  <a:srgbClr val="FFFFFF"/>
                </a:solidFill>
                <a:latin typeface="Montserrat Medium" pitchFamily="34" charset="0"/>
                <a:ea typeface="Montserrat Medium" pitchFamily="34" charset="-122"/>
                <a:cs typeface="Montserrat Medium" pitchFamily="34" charset="-120"/>
              </a:rPr>
              <a:t>The three pages that follow take each unit in turn</a:t>
            </a:r>
            <a:endParaRPr lang="en-US" sz="1000" dirty="0"/>
          </a:p>
        </p:txBody>
      </p:sp>
      <p:sp>
        <p:nvSpPr>
          <p:cNvPr id="55" name="Shape 52"/>
          <p:cNvSpPr/>
          <p:nvPr/>
        </p:nvSpPr>
        <p:spPr>
          <a:xfrm>
            <a:off x="548640" y="5632704"/>
            <a:ext cx="11283696" cy="9144"/>
          </a:xfrm>
          <a:prstGeom prst="rect">
            <a:avLst/>
          </a:prstGeom>
          <a:solidFill>
            <a:srgbClr val="3C4E86"/>
          </a:solidFill>
          <a:ln/>
        </p:spPr>
      </p:sp>
      <p:sp>
        <p:nvSpPr>
          <p:cNvPr id="56" name="Shape 53"/>
          <p:cNvSpPr/>
          <p:nvPr/>
        </p:nvSpPr>
        <p:spPr>
          <a:xfrm>
            <a:off x="548640" y="5797296"/>
            <a:ext cx="54864" cy="475488"/>
          </a:xfrm>
          <a:prstGeom prst="rect">
            <a:avLst/>
          </a:prstGeom>
          <a:solidFill>
            <a:srgbClr val="92D050"/>
          </a:solidFill>
          <a:ln/>
        </p:spPr>
      </p:sp>
      <p:sp>
        <p:nvSpPr>
          <p:cNvPr id="57" name="Text 54"/>
          <p:cNvSpPr/>
          <p:nvPr/>
        </p:nvSpPr>
        <p:spPr>
          <a:xfrm>
            <a:off x="731520" y="5779008"/>
            <a:ext cx="3291840" cy="219456"/>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Munitions</a:t>
            </a:r>
            <a:endParaRPr lang="en-US" sz="1000" dirty="0"/>
          </a:p>
        </p:txBody>
      </p:sp>
      <p:sp>
        <p:nvSpPr>
          <p:cNvPr id="58" name="Text 55"/>
          <p:cNvSpPr/>
          <p:nvPr/>
        </p:nvSpPr>
        <p:spPr>
          <a:xfrm>
            <a:off x="731520" y="6016752"/>
            <a:ext cx="3291840" cy="219456"/>
          </a:xfrm>
          <a:prstGeom prst="rect">
            <a:avLst/>
          </a:prstGeom>
          <a:noFill/>
          <a:ln/>
        </p:spPr>
        <p:txBody>
          <a:bodyPr wrap="square" lIns="0" tIns="0" rIns="0" bIns="0" rtlCol="0" anchor="ctr"/>
          <a:lstStyle/>
          <a:p>
            <a:pPr indent="0" marL="0">
              <a:buNone/>
            </a:pPr>
            <a:r>
              <a:rPr lang="en-US" sz="860" dirty="0">
                <a:solidFill>
                  <a:srgbClr val="C6CBDA"/>
                </a:solidFill>
                <a:latin typeface="Montserrat" pitchFamily="34" charset="0"/>
                <a:ea typeface="Montserrat" pitchFamily="34" charset="-122"/>
                <a:cs typeface="Montserrat" pitchFamily="34" charset="-120"/>
              </a:rPr>
              <a:t>Capacity is already built</a:t>
            </a:r>
            <a:endParaRPr lang="en-US" sz="860" dirty="0"/>
          </a:p>
        </p:txBody>
      </p:sp>
      <p:sp>
        <p:nvSpPr>
          <p:cNvPr id="59" name="Shape 56"/>
          <p:cNvSpPr/>
          <p:nvPr/>
        </p:nvSpPr>
        <p:spPr>
          <a:xfrm>
            <a:off x="4315968" y="5797296"/>
            <a:ext cx="54864" cy="475488"/>
          </a:xfrm>
          <a:prstGeom prst="rect">
            <a:avLst/>
          </a:prstGeom>
          <a:solidFill>
            <a:srgbClr val="FFC000"/>
          </a:solidFill>
          <a:ln/>
        </p:spPr>
      </p:sp>
      <p:sp>
        <p:nvSpPr>
          <p:cNvPr id="60" name="Text 57"/>
          <p:cNvSpPr/>
          <p:nvPr/>
        </p:nvSpPr>
        <p:spPr>
          <a:xfrm>
            <a:off x="4498848" y="5779008"/>
            <a:ext cx="3291840" cy="219456"/>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Energetics</a:t>
            </a:r>
            <a:endParaRPr lang="en-US" sz="1000" dirty="0"/>
          </a:p>
        </p:txBody>
      </p:sp>
      <p:sp>
        <p:nvSpPr>
          <p:cNvPr id="61" name="Text 58"/>
          <p:cNvSpPr/>
          <p:nvPr/>
        </p:nvSpPr>
        <p:spPr>
          <a:xfrm>
            <a:off x="4498848" y="6016752"/>
            <a:ext cx="3291840" cy="219456"/>
          </a:xfrm>
          <a:prstGeom prst="rect">
            <a:avLst/>
          </a:prstGeom>
          <a:noFill/>
          <a:ln/>
        </p:spPr>
        <p:txBody>
          <a:bodyPr wrap="square" lIns="0" tIns="0" rIns="0" bIns="0" rtlCol="0" anchor="ctr"/>
          <a:lstStyle/>
          <a:p>
            <a:pPr indent="0" marL="0">
              <a:buNone/>
            </a:pPr>
            <a:r>
              <a:rPr lang="en-US" sz="860" dirty="0">
                <a:solidFill>
                  <a:srgbClr val="C6CBDA"/>
                </a:solidFill>
                <a:latin typeface="Montserrat" pitchFamily="34" charset="0"/>
                <a:ea typeface="Montserrat" pitchFamily="34" charset="-122"/>
                <a:cs typeface="Montserrat" pitchFamily="34" charset="-120"/>
              </a:rPr>
              <a:t>Revenue is contracted, not forecast</a:t>
            </a:r>
            <a:endParaRPr lang="en-US" sz="860" dirty="0"/>
          </a:p>
        </p:txBody>
      </p:sp>
      <p:sp>
        <p:nvSpPr>
          <p:cNvPr id="62" name="Shape 59"/>
          <p:cNvSpPr/>
          <p:nvPr/>
        </p:nvSpPr>
        <p:spPr>
          <a:xfrm>
            <a:off x="8083296" y="5797296"/>
            <a:ext cx="54864" cy="475488"/>
          </a:xfrm>
          <a:prstGeom prst="rect">
            <a:avLst/>
          </a:prstGeom>
          <a:solidFill>
            <a:srgbClr val="9AA3B2"/>
          </a:solidFill>
          <a:ln/>
        </p:spPr>
      </p:sp>
      <p:sp>
        <p:nvSpPr>
          <p:cNvPr id="63" name="Text 60"/>
          <p:cNvSpPr/>
          <p:nvPr/>
        </p:nvSpPr>
        <p:spPr>
          <a:xfrm>
            <a:off x="8266176" y="5779008"/>
            <a:ext cx="3291840" cy="219456"/>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Missile</a:t>
            </a:r>
            <a:endParaRPr lang="en-US" sz="1000" dirty="0"/>
          </a:p>
        </p:txBody>
      </p:sp>
      <p:sp>
        <p:nvSpPr>
          <p:cNvPr id="64" name="Text 61"/>
          <p:cNvSpPr/>
          <p:nvPr/>
        </p:nvSpPr>
        <p:spPr>
          <a:xfrm>
            <a:off x="8266176" y="6016752"/>
            <a:ext cx="3291840" cy="219456"/>
          </a:xfrm>
          <a:prstGeom prst="rect">
            <a:avLst/>
          </a:prstGeom>
          <a:noFill/>
          <a:ln/>
        </p:spPr>
        <p:txBody>
          <a:bodyPr wrap="square" lIns="0" tIns="0" rIns="0" bIns="0" rtlCol="0" anchor="ctr"/>
          <a:lstStyle/>
          <a:p>
            <a:pPr indent="0" marL="0">
              <a:buNone/>
            </a:pPr>
            <a:r>
              <a:rPr lang="en-US" sz="860" dirty="0">
                <a:solidFill>
                  <a:srgbClr val="C6CBDA"/>
                </a:solidFill>
                <a:latin typeface="Montserrat" pitchFamily="34" charset="0"/>
                <a:ea typeface="Montserrat" pitchFamily="34" charset="-122"/>
                <a:cs typeface="Montserrat" pitchFamily="34" charset="-120"/>
              </a:rPr>
              <a:t>The unit becomes the group’s engine</a:t>
            </a:r>
            <a:endParaRPr lang="en-US" sz="860" dirty="0"/>
          </a:p>
        </p:txBody>
      </p:sp>
      <p:sp>
        <p:nvSpPr>
          <p:cNvPr id="65" name="Text 62"/>
          <p:cNvSpPr/>
          <p:nvPr/>
        </p:nvSpPr>
        <p:spPr>
          <a:xfrm>
            <a:off x="626364" y="6455664"/>
            <a:ext cx="9875520" cy="182880"/>
          </a:xfrm>
          <a:prstGeom prst="rect">
            <a:avLst/>
          </a:prstGeom>
          <a:noFill/>
          <a:ln/>
        </p:spPr>
        <p:txBody>
          <a:bodyPr wrap="square" lIns="0" tIns="0" rIns="0" bIns="0" rtlCol="0" anchor="ctr"/>
          <a:lstStyle/>
          <a:p>
            <a:pPr indent="0" marL="0">
              <a:buNone/>
            </a:pPr>
            <a:r>
              <a:rPr lang="en-US" sz="804" dirty="0">
                <a:solidFill>
                  <a:srgbClr val="D8D8D8"/>
                </a:solidFill>
                <a:latin typeface="Montserrat Light" pitchFamily="34" charset="0"/>
                <a:ea typeface="Montserrat Light" pitchFamily="34" charset="-122"/>
                <a:cs typeface="Montserrat Light" pitchFamily="34" charset="-120"/>
              </a:rPr>
              <a:t>Source: Company — commercial review of backlog and pipeline, 5 Aug 2026 (rev. 2); Company financial model, Base case (FX R$ 5.17/US$).</a:t>
            </a:r>
            <a:endParaRPr lang="en-US" sz="804" dirty="0"/>
          </a:p>
        </p:txBody>
      </p:sp>
      <p:sp>
        <p:nvSpPr>
          <p:cNvPr id="66" name="Text 63"/>
          <p:cNvSpPr/>
          <p:nvPr/>
        </p:nvSpPr>
        <p:spPr>
          <a:xfrm>
            <a:off x="357530" y="6455664"/>
            <a:ext cx="457200" cy="182880"/>
          </a:xfrm>
          <a:prstGeom prst="rect">
            <a:avLst/>
          </a:prstGeom>
          <a:noFill/>
          <a:ln/>
        </p:spPr>
        <p:txBody>
          <a:bodyPr wrap="square" lIns="0" tIns="0" rIns="0" bIns="0" rtlCol="0" anchor="ctr"/>
          <a:lstStyle/>
          <a:p>
            <a:pPr indent="0" marL="0">
              <a:buNone/>
            </a:pPr>
            <a:r>
              <a:rPr lang="en-US" sz="804" dirty="0">
                <a:solidFill>
                  <a:srgbClr val="FFFFFF"/>
                </a:solidFill>
                <a:latin typeface="Montserrat SemiBold" pitchFamily="34" charset="0"/>
                <a:ea typeface="Montserrat SemiBold" pitchFamily="34" charset="-122"/>
                <a:cs typeface="Montserrat SemiBold" pitchFamily="34" charset="-120"/>
              </a:rPr>
              <a:t>50</a:t>
            </a:r>
            <a:endParaRPr lang="en-US" sz="804" dirty="0"/>
          </a:p>
        </p:txBody>
      </p:sp>
      <p:sp>
        <p:nvSpPr>
          <p:cNvPr id="67" name="Shape 64"/>
          <p:cNvSpPr/>
          <p:nvPr/>
        </p:nvSpPr>
        <p:spPr>
          <a:xfrm>
            <a:off x="10931652" y="6469380"/>
            <a:ext cx="932688" cy="196596"/>
          </a:xfrm>
          <a:prstGeom prst="roundRect">
            <a:avLst>
              <a:gd name="adj" fmla="val 18605"/>
            </a:avLst>
          </a:prstGeom>
          <a:ln w="9525">
            <a:solidFill>
              <a:srgbClr val="3C4E86"/>
            </a:solidFill>
            <a:prstDash val="solid"/>
          </a:ln>
        </p:spPr>
      </p:sp>
      <p:sp>
        <p:nvSpPr>
          <p:cNvPr id="68" name="Text 65"/>
          <p:cNvSpPr/>
          <p:nvPr/>
        </p:nvSpPr>
        <p:spPr>
          <a:xfrm>
            <a:off x="10931652" y="6469380"/>
            <a:ext cx="932688" cy="196596"/>
          </a:xfrm>
          <a:prstGeom prst="rect">
            <a:avLst/>
          </a:prstGeom>
          <a:noFill/>
          <a:ln/>
        </p:spPr>
        <p:txBody>
          <a:bodyPr wrap="square" lIns="0" tIns="0" rIns="0" bIns="0" rtlCol="0" anchor="ctr"/>
          <a:lstStyle/>
          <a:p>
            <a:pPr algn="ctr" indent="0" marL="0">
              <a:buNone/>
            </a:pPr>
            <a:r>
              <a:rPr lang="en-US" sz="696" dirty="0">
                <a:solidFill>
                  <a:srgbClr val="9DADFF"/>
                </a:solidFill>
                <a:latin typeface="Montserrat" pitchFamily="34" charset="0"/>
                <a:ea typeface="Montserrat" pitchFamily="34" charset="-122"/>
                <a:cs typeface="Montserrat" pitchFamily="34" charset="-120"/>
              </a:rPr>
              <a:t>Confidential</a:t>
            </a:r>
            <a:endParaRPr lang="en-US" sz="696"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92278" y="224028"/>
            <a:ext cx="128016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Mac Jee At a Glance</a:t>
            </a:r>
            <a:endParaRPr lang="en-US" sz="698" dirty="0"/>
          </a:p>
        </p:txBody>
      </p:sp>
      <p:sp>
        <p:nvSpPr>
          <p:cNvPr id="3" name="Text 1"/>
          <p:cNvSpPr/>
          <p:nvPr/>
        </p:nvSpPr>
        <p:spPr>
          <a:xfrm>
            <a:off x="1634947" y="224028"/>
            <a:ext cx="160020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Mac Jee Investment Thesis</a:t>
            </a:r>
            <a:endParaRPr lang="en-US" sz="698" dirty="0"/>
          </a:p>
        </p:txBody>
      </p:sp>
      <p:sp>
        <p:nvSpPr>
          <p:cNvPr id="4" name="Text 2"/>
          <p:cNvSpPr/>
          <p:nvPr/>
        </p:nvSpPr>
        <p:spPr>
          <a:xfrm>
            <a:off x="3165653" y="224028"/>
            <a:ext cx="169164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Business Units and Portfolio</a:t>
            </a:r>
            <a:endParaRPr lang="en-US" sz="698" dirty="0"/>
          </a:p>
        </p:txBody>
      </p:sp>
      <p:sp>
        <p:nvSpPr>
          <p:cNvPr id="5" name="Text 3"/>
          <p:cNvSpPr/>
          <p:nvPr/>
        </p:nvSpPr>
        <p:spPr>
          <a:xfrm>
            <a:off x="4749394" y="224028"/>
            <a:ext cx="694944" cy="146304"/>
          </a:xfrm>
          <a:prstGeom prst="rect">
            <a:avLst/>
          </a:prstGeom>
          <a:noFill/>
          <a:ln/>
        </p:spPr>
        <p:txBody>
          <a:bodyPr wrap="square" lIns="0" tIns="0" rIns="0" bIns="0" rtlCol="0" anchor="ctr"/>
          <a:lstStyle/>
          <a:p>
            <a:pPr indent="0" marL="0">
              <a:buNone/>
            </a:pPr>
            <a:r>
              <a:rPr lang="en-US" sz="698" dirty="0">
                <a:solidFill>
                  <a:srgbClr val="00178D"/>
                </a:solidFill>
                <a:latin typeface="Montserrat SemiBold" pitchFamily="34" charset="0"/>
                <a:ea typeface="Montserrat SemiBold" pitchFamily="34" charset="-122"/>
                <a:cs typeface="Montserrat SemiBold" pitchFamily="34" charset="-120"/>
              </a:rPr>
              <a:t>Financials</a:t>
            </a:r>
            <a:endParaRPr lang="en-US" sz="698" dirty="0"/>
          </a:p>
        </p:txBody>
      </p:sp>
      <p:sp>
        <p:nvSpPr>
          <p:cNvPr id="6" name="Shape 4"/>
          <p:cNvSpPr/>
          <p:nvPr/>
        </p:nvSpPr>
        <p:spPr>
          <a:xfrm>
            <a:off x="4749394" y="442570"/>
            <a:ext cx="420624" cy="9144"/>
          </a:xfrm>
          <a:prstGeom prst="rect">
            <a:avLst/>
          </a:prstGeom>
          <a:solidFill>
            <a:srgbClr val="27B0FF"/>
          </a:solidFill>
          <a:ln/>
        </p:spPr>
      </p:sp>
      <p:sp>
        <p:nvSpPr>
          <p:cNvPr id="7" name="Shape 5"/>
          <p:cNvSpPr/>
          <p:nvPr/>
        </p:nvSpPr>
        <p:spPr>
          <a:xfrm>
            <a:off x="4723790" y="418795"/>
            <a:ext cx="51206" cy="51206"/>
          </a:xfrm>
          <a:prstGeom prst="diamond">
            <a:avLst/>
          </a:prstGeom>
          <a:solidFill>
            <a:srgbClr val="27B0FF"/>
          </a:solidFill>
          <a:ln/>
        </p:spPr>
      </p:sp>
      <p:sp>
        <p:nvSpPr>
          <p:cNvPr id="8" name="Shape 6"/>
          <p:cNvSpPr/>
          <p:nvPr/>
        </p:nvSpPr>
        <p:spPr>
          <a:xfrm>
            <a:off x="5144414" y="418795"/>
            <a:ext cx="51206" cy="51206"/>
          </a:xfrm>
          <a:prstGeom prst="diamond">
            <a:avLst/>
          </a:prstGeom>
          <a:solidFill>
            <a:srgbClr val="27B0FF"/>
          </a:solidFill>
          <a:ln/>
        </p:spPr>
      </p:sp>
      <p:pic>
        <p:nvPicPr>
          <p:cNvPr id="9" name="Image 0" descr="assets/macjee_gold.png">    </p:cNvPr>
          <p:cNvPicPr>
            <a:picLocks noChangeAspect="1"/>
          </p:cNvPicPr>
          <p:nvPr/>
        </p:nvPicPr>
        <p:blipFill>
          <a:blip r:embed="rId1"/>
          <a:stretch>
            <a:fillRect/>
          </a:stretch>
        </p:blipFill>
        <p:spPr>
          <a:xfrm>
            <a:off x="11374222" y="343814"/>
            <a:ext cx="481889" cy="481889"/>
          </a:xfrm>
          <a:prstGeom prst="rect">
            <a:avLst/>
          </a:prstGeom>
        </p:spPr>
      </p:pic>
      <p:sp>
        <p:nvSpPr>
          <p:cNvPr id="10" name="Text 7"/>
          <p:cNvSpPr/>
          <p:nvPr/>
        </p:nvSpPr>
        <p:spPr>
          <a:xfrm>
            <a:off x="392278" y="731520"/>
            <a:ext cx="11296498" cy="384048"/>
          </a:xfrm>
          <a:prstGeom prst="rect">
            <a:avLst/>
          </a:prstGeom>
          <a:noFill/>
          <a:ln/>
        </p:spPr>
        <p:txBody>
          <a:bodyPr wrap="square" lIns="0" tIns="0" rIns="0" bIns="0" rtlCol="0" anchor="ctr"/>
          <a:lstStyle/>
          <a:p>
            <a:pPr indent="0" marL="0">
              <a:buNone/>
            </a:pPr>
            <a:r>
              <a:rPr lang="en-US" sz="2400" b="1" dirty="0">
                <a:solidFill>
                  <a:srgbClr val="00092B"/>
                </a:solidFill>
                <a:latin typeface="Montserrat" pitchFamily="34" charset="0"/>
                <a:ea typeface="Montserrat" pitchFamily="34" charset="-122"/>
                <a:cs typeface="Montserrat" pitchFamily="34" charset="-120"/>
              </a:rPr>
              <a:t>The plan is smaller than what is already on the table</a:t>
            </a:r>
            <a:endParaRPr lang="en-US" sz="2400" dirty="0"/>
          </a:p>
        </p:txBody>
      </p:sp>
      <p:sp>
        <p:nvSpPr>
          <p:cNvPr id="11" name="Text 8"/>
          <p:cNvSpPr/>
          <p:nvPr/>
        </p:nvSpPr>
        <p:spPr>
          <a:xfrm>
            <a:off x="342900" y="1110996"/>
            <a:ext cx="11296498" cy="256032"/>
          </a:xfrm>
          <a:prstGeom prst="rect">
            <a:avLst/>
          </a:prstGeom>
          <a:noFill/>
          <a:ln/>
        </p:spPr>
        <p:txBody>
          <a:bodyPr wrap="square" lIns="0" tIns="0" rIns="0" bIns="0" rtlCol="0" anchor="ctr"/>
          <a:lstStyle/>
          <a:p>
            <a:pPr indent="0" marL="0">
              <a:buNone/>
            </a:pPr>
            <a:r>
              <a:rPr lang="en-US" sz="1200" dirty="0">
                <a:solidFill>
                  <a:srgbClr val="000312"/>
                </a:solidFill>
                <a:latin typeface="Montserrat" pitchFamily="34" charset="0"/>
                <a:ea typeface="Montserrat" pitchFamily="34" charset="-122"/>
                <a:cs typeface="Montserrat" pitchFamily="34" charset="-120"/>
              </a:rPr>
              <a:t>US$ 4.6 bn of identified opportunity against US$ 4.1 bn of revenue in the 2026–32 plan — 1.1x coverage, unit by unit</a:t>
            </a:r>
            <a:endParaRPr lang="en-US" sz="1200" dirty="0"/>
          </a:p>
        </p:txBody>
      </p:sp>
      <p:sp>
        <p:nvSpPr>
          <p:cNvPr id="12" name="Shape 9"/>
          <p:cNvSpPr/>
          <p:nvPr/>
        </p:nvSpPr>
        <p:spPr>
          <a:xfrm>
            <a:off x="357530" y="1426464"/>
            <a:ext cx="11476634" cy="3090672"/>
          </a:xfrm>
          <a:custGeom>
            <a:avLst/>
            <a:gdLst/>
            <a:ahLst/>
            <a:cxnLst/>
            <a:rect l="l" t="t" r="r" b="b"/>
            <a:pathLst>
              <a:path w="11476634" h="3090672">
                <a:moveTo>
                  <a:pt x="0" y="0"/>
                </a:moveTo>
                <a:lnTo>
                  <a:pt x="11158423" y="0"/>
                </a:lnTo>
                <a:lnTo>
                  <a:pt x="11476634" y="318211"/>
                </a:lnTo>
                <a:lnTo>
                  <a:pt x="11476634" y="3090672"/>
                </a:lnTo>
                <a:lnTo>
                  <a:pt x="318211" y="3090672"/>
                </a:lnTo>
                <a:lnTo>
                  <a:pt x="0" y="2772461"/>
                </a:lnTo>
                <a:close/>
              </a:path>
            </a:pathLst>
          </a:custGeom>
          <a:solidFill>
            <a:srgbClr val="FFFFFF"/>
          </a:solidFill>
          <a:ln/>
          <a:effectLst>
            <a:outerShdw sx="100000" sy="100000" kx="0" ky="0" algn="bl" rotWithShape="0" blurRad="50800" dist="19050" dir="5400000">
              <a:srgbClr val="000000">
                <a:alpha val="16000"/>
              </a:srgbClr>
            </a:outerShdw>
          </a:effectLst>
        </p:spPr>
      </p:sp>
      <p:sp>
        <p:nvSpPr>
          <p:cNvPr id="13" name="Text 10"/>
          <p:cNvSpPr/>
          <p:nvPr/>
        </p:nvSpPr>
        <p:spPr>
          <a:xfrm>
            <a:off x="576072" y="1554480"/>
            <a:ext cx="5486400" cy="219456"/>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Identified opportunity vs. the 2026–32 plan — US$ bn</a:t>
            </a:r>
            <a:endParaRPr lang="en-US" sz="1200" dirty="0"/>
          </a:p>
        </p:txBody>
      </p:sp>
      <p:sp>
        <p:nvSpPr>
          <p:cNvPr id="14" name="Shape 11"/>
          <p:cNvSpPr/>
          <p:nvPr/>
        </p:nvSpPr>
        <p:spPr>
          <a:xfrm>
            <a:off x="1298448" y="3362417"/>
            <a:ext cx="1225296" cy="862111"/>
          </a:xfrm>
          <a:prstGeom prst="rect">
            <a:avLst/>
          </a:prstGeom>
          <a:solidFill>
            <a:srgbClr val="9AA3B2"/>
          </a:solidFill>
          <a:ln/>
        </p:spPr>
      </p:sp>
      <p:sp>
        <p:nvSpPr>
          <p:cNvPr id="15" name="Text 12"/>
          <p:cNvSpPr/>
          <p:nvPr/>
        </p:nvSpPr>
        <p:spPr>
          <a:xfrm>
            <a:off x="1298448" y="3362417"/>
            <a:ext cx="1225296" cy="862111"/>
          </a:xfrm>
          <a:prstGeom prst="rect">
            <a:avLst/>
          </a:prstGeom>
          <a:noFill/>
          <a:ln/>
        </p:spPr>
        <p:txBody>
          <a:bodyPr wrap="square" lIns="0" tIns="0" rIns="0" bIns="0" rtlCol="0" anchor="ctr"/>
          <a:lstStyle/>
          <a:p>
            <a:pPr algn="ctr" indent="0" marL="0">
              <a:buNone/>
            </a:pPr>
            <a:r>
              <a:rPr lang="en-US" sz="900" b="1" dirty="0">
                <a:solidFill>
                  <a:srgbClr val="0B1F6E"/>
                </a:solidFill>
                <a:latin typeface="Montserrat" pitchFamily="34" charset="0"/>
                <a:ea typeface="Montserrat" pitchFamily="34" charset="-122"/>
                <a:cs typeface="Montserrat" pitchFamily="34" charset="-120"/>
              </a:rPr>
              <a:t>1.85</a:t>
            </a:r>
            <a:endParaRPr lang="en-US" sz="900" dirty="0"/>
          </a:p>
        </p:txBody>
      </p:sp>
      <p:sp>
        <p:nvSpPr>
          <p:cNvPr id="16" name="Shape 13"/>
          <p:cNvSpPr/>
          <p:nvPr/>
        </p:nvSpPr>
        <p:spPr>
          <a:xfrm>
            <a:off x="1298448" y="2832629"/>
            <a:ext cx="1225296" cy="529788"/>
          </a:xfrm>
          <a:prstGeom prst="rect">
            <a:avLst/>
          </a:prstGeom>
          <a:solidFill>
            <a:srgbClr val="FFC000"/>
          </a:solidFill>
          <a:ln/>
        </p:spPr>
      </p:sp>
      <p:sp>
        <p:nvSpPr>
          <p:cNvPr id="17" name="Text 14"/>
          <p:cNvSpPr/>
          <p:nvPr/>
        </p:nvSpPr>
        <p:spPr>
          <a:xfrm>
            <a:off x="1298448" y="2832629"/>
            <a:ext cx="1225296" cy="529788"/>
          </a:xfrm>
          <a:prstGeom prst="rect">
            <a:avLst/>
          </a:prstGeom>
          <a:noFill/>
          <a:ln/>
        </p:spPr>
        <p:txBody>
          <a:bodyPr wrap="square" lIns="0" tIns="0" rIns="0" bIns="0" rtlCol="0" anchor="ctr"/>
          <a:lstStyle/>
          <a:p>
            <a:pPr algn="ctr" indent="0" marL="0">
              <a:buNone/>
            </a:pPr>
            <a:r>
              <a:rPr lang="en-US" sz="900" b="1" dirty="0">
                <a:solidFill>
                  <a:srgbClr val="0B1F6E"/>
                </a:solidFill>
                <a:latin typeface="Montserrat" pitchFamily="34" charset="0"/>
                <a:ea typeface="Montserrat" pitchFamily="34" charset="-122"/>
                <a:cs typeface="Montserrat" pitchFamily="34" charset="-120"/>
              </a:rPr>
              <a:t>1.14</a:t>
            </a:r>
            <a:endParaRPr lang="en-US" sz="900" dirty="0"/>
          </a:p>
        </p:txBody>
      </p:sp>
      <p:sp>
        <p:nvSpPr>
          <p:cNvPr id="18" name="Shape 15"/>
          <p:cNvSpPr/>
          <p:nvPr/>
        </p:nvSpPr>
        <p:spPr>
          <a:xfrm>
            <a:off x="1298448" y="2084832"/>
            <a:ext cx="1225296" cy="747797"/>
          </a:xfrm>
          <a:prstGeom prst="rect">
            <a:avLst/>
          </a:prstGeom>
          <a:solidFill>
            <a:srgbClr val="92D050"/>
          </a:solidFill>
          <a:ln/>
        </p:spPr>
      </p:sp>
      <p:sp>
        <p:nvSpPr>
          <p:cNvPr id="19" name="Text 16"/>
          <p:cNvSpPr/>
          <p:nvPr/>
        </p:nvSpPr>
        <p:spPr>
          <a:xfrm>
            <a:off x="1298448" y="2084832"/>
            <a:ext cx="1225296" cy="747797"/>
          </a:xfrm>
          <a:prstGeom prst="rect">
            <a:avLst/>
          </a:prstGeom>
          <a:noFill/>
          <a:ln/>
        </p:spPr>
        <p:txBody>
          <a:bodyPr wrap="square" lIns="0" tIns="0" rIns="0" bIns="0" rtlCol="0" anchor="ctr"/>
          <a:lstStyle/>
          <a:p>
            <a:pPr algn="ctr" indent="0" marL="0">
              <a:buNone/>
            </a:pPr>
            <a:r>
              <a:rPr lang="en-US" sz="900" b="1" dirty="0">
                <a:solidFill>
                  <a:srgbClr val="0B1F6E"/>
                </a:solidFill>
                <a:latin typeface="Montserrat" pitchFamily="34" charset="0"/>
                <a:ea typeface="Montserrat" pitchFamily="34" charset="-122"/>
                <a:cs typeface="Montserrat" pitchFamily="34" charset="-120"/>
              </a:rPr>
              <a:t>1.61</a:t>
            </a:r>
            <a:endParaRPr lang="en-US" sz="900" dirty="0"/>
          </a:p>
        </p:txBody>
      </p:sp>
      <p:sp>
        <p:nvSpPr>
          <p:cNvPr id="20" name="Text 17"/>
          <p:cNvSpPr/>
          <p:nvPr/>
        </p:nvSpPr>
        <p:spPr>
          <a:xfrm>
            <a:off x="1298448" y="1810512"/>
            <a:ext cx="1225296" cy="237744"/>
          </a:xfrm>
          <a:prstGeom prst="rect">
            <a:avLst/>
          </a:prstGeom>
          <a:noFill/>
          <a:ln/>
        </p:spPr>
        <p:txBody>
          <a:bodyPr wrap="square" lIns="0" tIns="0" rIns="0" bIns="0" rtlCol="0" anchor="ctr"/>
          <a:lstStyle/>
          <a:p>
            <a:pPr algn="ctr" indent="0" marL="0">
              <a:buNone/>
            </a:pPr>
            <a:r>
              <a:rPr lang="en-US" sz="1400" b="1" dirty="0">
                <a:solidFill>
                  <a:srgbClr val="000312"/>
                </a:solidFill>
                <a:latin typeface="Montserrat" pitchFamily="34" charset="0"/>
                <a:ea typeface="Montserrat" pitchFamily="34" charset="-122"/>
                <a:cs typeface="Montserrat" pitchFamily="34" charset="-120"/>
              </a:rPr>
              <a:t>4.6</a:t>
            </a:r>
            <a:endParaRPr lang="en-US" sz="1400" dirty="0"/>
          </a:p>
        </p:txBody>
      </p:sp>
      <p:sp>
        <p:nvSpPr>
          <p:cNvPr id="21" name="Text 18"/>
          <p:cNvSpPr/>
          <p:nvPr/>
        </p:nvSpPr>
        <p:spPr>
          <a:xfrm>
            <a:off x="1115568" y="4297680"/>
            <a:ext cx="1591056" cy="365760"/>
          </a:xfrm>
          <a:prstGeom prst="rect">
            <a:avLst/>
          </a:prstGeom>
          <a:noFill/>
          <a:ln/>
        </p:spPr>
        <p:txBody>
          <a:bodyPr wrap="square" lIns="0" tIns="0" rIns="0" bIns="0" rtlCol="0" anchor="t"/>
          <a:lstStyle/>
          <a:p>
            <a:pPr algn="ctr" indent="0" marL="0">
              <a:lnSpc>
                <a:spcPct val="112000"/>
              </a:lnSpc>
              <a:buNone/>
            </a:pPr>
            <a:r>
              <a:rPr lang="en-US" sz="800" dirty="0">
                <a:solidFill>
                  <a:srgbClr val="3C4657"/>
                </a:solidFill>
                <a:latin typeface="Montserrat" pitchFamily="34" charset="0"/>
                <a:ea typeface="Montserrat" pitchFamily="34" charset="-122"/>
                <a:cs typeface="Montserrat" pitchFamily="34" charset="-120"/>
              </a:rPr>
              <a:t>Identified</a:t>
            </a:r>
            <a:endParaRPr lang="en-US" sz="800" dirty="0"/>
          </a:p>
          <a:p>
            <a:pPr algn="ctr" indent="0" marL="0">
              <a:lnSpc>
                <a:spcPct val="112000"/>
              </a:lnSpc>
              <a:buNone/>
            </a:pPr>
            <a:r>
              <a:rPr lang="en-US" sz="800" dirty="0">
                <a:solidFill>
                  <a:srgbClr val="3C4657"/>
                </a:solidFill>
                <a:latin typeface="Montserrat" pitchFamily="34" charset="0"/>
                <a:ea typeface="Montserrat" pitchFamily="34" charset="-122"/>
                <a:cs typeface="Montserrat" pitchFamily="34" charset="-120"/>
              </a:rPr>
              <a:t>opportunity</a:t>
            </a:r>
            <a:endParaRPr lang="en-US" sz="800" dirty="0"/>
          </a:p>
        </p:txBody>
      </p:sp>
      <p:sp>
        <p:nvSpPr>
          <p:cNvPr id="22" name="Shape 19"/>
          <p:cNvSpPr/>
          <p:nvPr/>
        </p:nvSpPr>
        <p:spPr>
          <a:xfrm>
            <a:off x="3310128" y="3325476"/>
            <a:ext cx="1225296" cy="899052"/>
          </a:xfrm>
          <a:prstGeom prst="rect">
            <a:avLst/>
          </a:prstGeom>
          <a:solidFill>
            <a:srgbClr val="F0F2F5"/>
          </a:solidFill>
          <a:ln/>
        </p:spPr>
      </p:sp>
      <p:sp>
        <p:nvSpPr>
          <p:cNvPr id="23" name="Text 20"/>
          <p:cNvSpPr/>
          <p:nvPr/>
        </p:nvSpPr>
        <p:spPr>
          <a:xfrm>
            <a:off x="3310128" y="3325476"/>
            <a:ext cx="1225296" cy="899052"/>
          </a:xfrm>
          <a:prstGeom prst="rect">
            <a:avLst/>
          </a:prstGeom>
          <a:noFill/>
          <a:ln/>
        </p:spPr>
        <p:txBody>
          <a:bodyPr wrap="square" lIns="0" tIns="0" rIns="0" bIns="0" rtlCol="0" anchor="ctr"/>
          <a:lstStyle/>
          <a:p>
            <a:pPr algn="ctr" indent="0" marL="0">
              <a:buNone/>
            </a:pPr>
            <a:r>
              <a:rPr lang="en-US" sz="900" b="1" dirty="0">
                <a:solidFill>
                  <a:srgbClr val="3C4657"/>
                </a:solidFill>
                <a:latin typeface="Montserrat" pitchFamily="34" charset="0"/>
                <a:ea typeface="Montserrat" pitchFamily="34" charset="-122"/>
                <a:cs typeface="Montserrat" pitchFamily="34" charset="-120"/>
              </a:rPr>
              <a:t>1.93</a:t>
            </a:r>
            <a:endParaRPr lang="en-US" sz="900" dirty="0"/>
          </a:p>
        </p:txBody>
      </p:sp>
      <p:sp>
        <p:nvSpPr>
          <p:cNvPr id="24" name="Shape 21"/>
          <p:cNvSpPr/>
          <p:nvPr/>
        </p:nvSpPr>
        <p:spPr>
          <a:xfrm>
            <a:off x="3310128" y="3043090"/>
            <a:ext cx="1225296" cy="282386"/>
          </a:xfrm>
          <a:prstGeom prst="rect">
            <a:avLst/>
          </a:prstGeom>
          <a:solidFill>
            <a:srgbClr val="FFF7E3"/>
          </a:solidFill>
          <a:ln/>
        </p:spPr>
      </p:sp>
      <p:sp>
        <p:nvSpPr>
          <p:cNvPr id="25" name="Text 22"/>
          <p:cNvSpPr/>
          <p:nvPr/>
        </p:nvSpPr>
        <p:spPr>
          <a:xfrm>
            <a:off x="3310128" y="3043090"/>
            <a:ext cx="1225296" cy="282386"/>
          </a:xfrm>
          <a:prstGeom prst="rect">
            <a:avLst/>
          </a:prstGeom>
          <a:noFill/>
          <a:ln/>
        </p:spPr>
        <p:txBody>
          <a:bodyPr wrap="square" lIns="0" tIns="0" rIns="0" bIns="0" rtlCol="0" anchor="ctr"/>
          <a:lstStyle/>
          <a:p>
            <a:pPr algn="ctr" indent="0" marL="0">
              <a:buNone/>
            </a:pPr>
            <a:r>
              <a:rPr lang="en-US" sz="900" b="1" dirty="0">
                <a:solidFill>
                  <a:srgbClr val="3C4657"/>
                </a:solidFill>
                <a:latin typeface="Montserrat" pitchFamily="34" charset="0"/>
                <a:ea typeface="Montserrat" pitchFamily="34" charset="-122"/>
                <a:cs typeface="Montserrat" pitchFamily="34" charset="-120"/>
              </a:rPr>
              <a:t>0.61</a:t>
            </a:r>
            <a:endParaRPr lang="en-US" sz="900" dirty="0"/>
          </a:p>
        </p:txBody>
      </p:sp>
      <p:sp>
        <p:nvSpPr>
          <p:cNvPr id="26" name="Shape 23"/>
          <p:cNvSpPr/>
          <p:nvPr/>
        </p:nvSpPr>
        <p:spPr>
          <a:xfrm>
            <a:off x="3310128" y="2321194"/>
            <a:ext cx="1225296" cy="721896"/>
          </a:xfrm>
          <a:prstGeom prst="rect">
            <a:avLst/>
          </a:prstGeom>
          <a:solidFill>
            <a:srgbClr val="F1F8E6"/>
          </a:solidFill>
          <a:ln/>
        </p:spPr>
      </p:sp>
      <p:sp>
        <p:nvSpPr>
          <p:cNvPr id="27" name="Text 24"/>
          <p:cNvSpPr/>
          <p:nvPr/>
        </p:nvSpPr>
        <p:spPr>
          <a:xfrm>
            <a:off x="3310128" y="2321194"/>
            <a:ext cx="1225296" cy="721896"/>
          </a:xfrm>
          <a:prstGeom prst="rect">
            <a:avLst/>
          </a:prstGeom>
          <a:noFill/>
          <a:ln/>
        </p:spPr>
        <p:txBody>
          <a:bodyPr wrap="square" lIns="0" tIns="0" rIns="0" bIns="0" rtlCol="0" anchor="ctr"/>
          <a:lstStyle/>
          <a:p>
            <a:pPr algn="ctr" indent="0" marL="0">
              <a:buNone/>
            </a:pPr>
            <a:r>
              <a:rPr lang="en-US" sz="900" b="1" dirty="0">
                <a:solidFill>
                  <a:srgbClr val="3C4657"/>
                </a:solidFill>
                <a:latin typeface="Montserrat" pitchFamily="34" charset="0"/>
                <a:ea typeface="Montserrat" pitchFamily="34" charset="-122"/>
                <a:cs typeface="Montserrat" pitchFamily="34" charset="-120"/>
              </a:rPr>
              <a:t>1.55</a:t>
            </a:r>
            <a:endParaRPr lang="en-US" sz="900" dirty="0"/>
          </a:p>
        </p:txBody>
      </p:sp>
      <p:sp>
        <p:nvSpPr>
          <p:cNvPr id="28" name="Text 25"/>
          <p:cNvSpPr/>
          <p:nvPr/>
        </p:nvSpPr>
        <p:spPr>
          <a:xfrm>
            <a:off x="3310128" y="2046874"/>
            <a:ext cx="1225296" cy="237744"/>
          </a:xfrm>
          <a:prstGeom prst="rect">
            <a:avLst/>
          </a:prstGeom>
          <a:noFill/>
          <a:ln/>
        </p:spPr>
        <p:txBody>
          <a:bodyPr wrap="square" lIns="0" tIns="0" rIns="0" bIns="0" rtlCol="0" anchor="ctr"/>
          <a:lstStyle/>
          <a:p>
            <a:pPr algn="ctr" indent="0" marL="0">
              <a:buNone/>
            </a:pPr>
            <a:r>
              <a:rPr lang="en-US" sz="1400" b="1" dirty="0">
                <a:solidFill>
                  <a:srgbClr val="000312"/>
                </a:solidFill>
                <a:latin typeface="Montserrat" pitchFamily="34" charset="0"/>
                <a:ea typeface="Montserrat" pitchFamily="34" charset="-122"/>
                <a:cs typeface="Montserrat" pitchFamily="34" charset="-120"/>
              </a:rPr>
              <a:t>4.1</a:t>
            </a:r>
            <a:endParaRPr lang="en-US" sz="1400" dirty="0"/>
          </a:p>
        </p:txBody>
      </p:sp>
      <p:sp>
        <p:nvSpPr>
          <p:cNvPr id="29" name="Text 26"/>
          <p:cNvSpPr/>
          <p:nvPr/>
        </p:nvSpPr>
        <p:spPr>
          <a:xfrm>
            <a:off x="3127248" y="4297680"/>
            <a:ext cx="1591056" cy="365760"/>
          </a:xfrm>
          <a:prstGeom prst="rect">
            <a:avLst/>
          </a:prstGeom>
          <a:noFill/>
          <a:ln/>
        </p:spPr>
        <p:txBody>
          <a:bodyPr wrap="square" lIns="0" tIns="0" rIns="0" bIns="0" rtlCol="0" anchor="t"/>
          <a:lstStyle/>
          <a:p>
            <a:pPr algn="ctr" indent="0" marL="0">
              <a:lnSpc>
                <a:spcPct val="112000"/>
              </a:lnSpc>
              <a:buNone/>
            </a:pPr>
            <a:r>
              <a:rPr lang="en-US" sz="800" dirty="0">
                <a:solidFill>
                  <a:srgbClr val="3C4657"/>
                </a:solidFill>
                <a:latin typeface="Montserrat" pitchFamily="34" charset="0"/>
                <a:ea typeface="Montserrat" pitchFamily="34" charset="-122"/>
                <a:cs typeface="Montserrat" pitchFamily="34" charset="-120"/>
              </a:rPr>
              <a:t>In the</a:t>
            </a:r>
            <a:endParaRPr lang="en-US" sz="800" dirty="0"/>
          </a:p>
          <a:p>
            <a:pPr algn="ctr" indent="0" marL="0">
              <a:lnSpc>
                <a:spcPct val="112000"/>
              </a:lnSpc>
              <a:buNone/>
            </a:pPr>
            <a:r>
              <a:rPr lang="en-US" sz="800" dirty="0">
                <a:solidFill>
                  <a:srgbClr val="3C4657"/>
                </a:solidFill>
                <a:latin typeface="Montserrat" pitchFamily="34" charset="0"/>
                <a:ea typeface="Montserrat" pitchFamily="34" charset="-122"/>
                <a:cs typeface="Montserrat" pitchFamily="34" charset="-120"/>
              </a:rPr>
              <a:t>2026–32 plan</a:t>
            </a:r>
            <a:endParaRPr lang="en-US" sz="800" dirty="0"/>
          </a:p>
        </p:txBody>
      </p:sp>
      <p:sp>
        <p:nvSpPr>
          <p:cNvPr id="30" name="Shape 27"/>
          <p:cNvSpPr/>
          <p:nvPr/>
        </p:nvSpPr>
        <p:spPr>
          <a:xfrm>
            <a:off x="1298448" y="4224528"/>
            <a:ext cx="3236976" cy="10973"/>
          </a:xfrm>
          <a:prstGeom prst="rect">
            <a:avLst/>
          </a:prstGeom>
          <a:solidFill>
            <a:srgbClr val="D6DAE4"/>
          </a:solidFill>
          <a:ln/>
        </p:spPr>
      </p:sp>
      <p:sp>
        <p:nvSpPr>
          <p:cNvPr id="31" name="Text 28"/>
          <p:cNvSpPr/>
          <p:nvPr/>
        </p:nvSpPr>
        <p:spPr>
          <a:xfrm>
            <a:off x="2523744" y="1810512"/>
            <a:ext cx="914400" cy="256032"/>
          </a:xfrm>
          <a:prstGeom prst="rect">
            <a:avLst/>
          </a:prstGeom>
          <a:noFill/>
          <a:ln/>
        </p:spPr>
        <p:txBody>
          <a:bodyPr wrap="square" lIns="0" tIns="0" rIns="0" bIns="0" rtlCol="0" anchor="ctr"/>
          <a:lstStyle/>
          <a:p>
            <a:pPr algn="ctr" indent="0" marL="0">
              <a:buNone/>
            </a:pPr>
            <a:r>
              <a:rPr lang="en-US" sz="1500" b="1" dirty="0">
                <a:solidFill>
                  <a:srgbClr val="021B94"/>
                </a:solidFill>
                <a:latin typeface="Montserrat" pitchFamily="34" charset="0"/>
                <a:ea typeface="Montserrat" pitchFamily="34" charset="-122"/>
                <a:cs typeface="Montserrat" pitchFamily="34" charset="-120"/>
              </a:rPr>
              <a:t>1.1x</a:t>
            </a:r>
            <a:endParaRPr lang="en-US" sz="1500" dirty="0"/>
          </a:p>
        </p:txBody>
      </p:sp>
      <p:sp>
        <p:nvSpPr>
          <p:cNvPr id="32" name="Text 29"/>
          <p:cNvSpPr/>
          <p:nvPr/>
        </p:nvSpPr>
        <p:spPr>
          <a:xfrm>
            <a:off x="2523744" y="2048256"/>
            <a:ext cx="914400" cy="164592"/>
          </a:xfrm>
          <a:prstGeom prst="rect">
            <a:avLst/>
          </a:prstGeom>
          <a:noFill/>
          <a:ln/>
        </p:spPr>
        <p:txBody>
          <a:bodyPr wrap="square" lIns="0" tIns="0" rIns="0" bIns="0" rtlCol="0" anchor="ctr"/>
          <a:lstStyle/>
          <a:p>
            <a:pPr algn="ctr" indent="0" marL="0">
              <a:buNone/>
            </a:pPr>
            <a:r>
              <a:rPr lang="en-US" sz="760" dirty="0">
                <a:solidFill>
                  <a:srgbClr val="8C93A8"/>
                </a:solidFill>
                <a:latin typeface="Montserrat" pitchFamily="34" charset="0"/>
                <a:ea typeface="Montserrat" pitchFamily="34" charset="-122"/>
                <a:cs typeface="Montserrat" pitchFamily="34" charset="-120"/>
              </a:rPr>
              <a:t>coverage</a:t>
            </a:r>
            <a:endParaRPr lang="en-US" sz="760" dirty="0"/>
          </a:p>
        </p:txBody>
      </p:sp>
      <p:sp>
        <p:nvSpPr>
          <p:cNvPr id="33" name="Shape 30"/>
          <p:cNvSpPr/>
          <p:nvPr/>
        </p:nvSpPr>
        <p:spPr>
          <a:xfrm>
            <a:off x="5074920" y="1810512"/>
            <a:ext cx="7315" cy="2523744"/>
          </a:xfrm>
          <a:prstGeom prst="rect">
            <a:avLst/>
          </a:prstGeom>
          <a:solidFill>
            <a:srgbClr val="E6E8EE"/>
          </a:solidFill>
          <a:ln/>
        </p:spPr>
      </p:sp>
      <p:sp>
        <p:nvSpPr>
          <p:cNvPr id="34" name="Shape 31"/>
          <p:cNvSpPr/>
          <p:nvPr/>
        </p:nvSpPr>
        <p:spPr>
          <a:xfrm>
            <a:off x="5413248" y="1847088"/>
            <a:ext cx="54864" cy="676656"/>
          </a:xfrm>
          <a:prstGeom prst="rect">
            <a:avLst/>
          </a:prstGeom>
          <a:solidFill>
            <a:srgbClr val="6FA82F"/>
          </a:solidFill>
          <a:ln/>
        </p:spPr>
      </p:sp>
      <p:sp>
        <p:nvSpPr>
          <p:cNvPr id="35" name="Text 32"/>
          <p:cNvSpPr/>
          <p:nvPr/>
        </p:nvSpPr>
        <p:spPr>
          <a:xfrm>
            <a:off x="5596128" y="1847088"/>
            <a:ext cx="2011680" cy="219456"/>
          </a:xfrm>
          <a:prstGeom prst="rect">
            <a:avLst/>
          </a:prstGeom>
          <a:noFill/>
          <a:ln/>
        </p:spPr>
        <p:txBody>
          <a:bodyPr wrap="square" lIns="0" tIns="0" rIns="0" bIns="0" rtlCol="0" anchor="ctr"/>
          <a:lstStyle/>
          <a:p>
            <a:pPr indent="0" marL="0">
              <a:buNone/>
            </a:pPr>
            <a:r>
              <a:rPr lang="en-US" sz="1250" b="1" dirty="0">
                <a:solidFill>
                  <a:srgbClr val="6FA82F"/>
                </a:solidFill>
                <a:latin typeface="Montserrat" pitchFamily="34" charset="0"/>
                <a:ea typeface="Montserrat" pitchFamily="34" charset="-122"/>
                <a:cs typeface="Montserrat" pitchFamily="34" charset="-120"/>
              </a:rPr>
              <a:t>Munitions</a:t>
            </a:r>
            <a:endParaRPr lang="en-US" sz="1250" dirty="0"/>
          </a:p>
        </p:txBody>
      </p:sp>
      <p:sp>
        <p:nvSpPr>
          <p:cNvPr id="36" name="Text 33"/>
          <p:cNvSpPr/>
          <p:nvPr/>
        </p:nvSpPr>
        <p:spPr>
          <a:xfrm>
            <a:off x="5596128" y="2066544"/>
            <a:ext cx="2011680" cy="155448"/>
          </a:xfrm>
          <a:prstGeom prst="rect">
            <a:avLst/>
          </a:prstGeom>
          <a:noFill/>
          <a:ln/>
        </p:spPr>
        <p:txBody>
          <a:bodyPr wrap="square" lIns="0" tIns="0" rIns="0" bIns="0" rtlCol="0" anchor="ctr"/>
          <a:lstStyle/>
          <a:p>
            <a:pPr indent="0" marL="0">
              <a:buNone/>
            </a:pPr>
            <a:r>
              <a:rPr lang="en-US" sz="700" dirty="0">
                <a:solidFill>
                  <a:srgbClr val="8C93A8"/>
                </a:solidFill>
                <a:latin typeface="Montserrat" pitchFamily="34" charset="0"/>
                <a:ea typeface="Montserrat" pitchFamily="34" charset="-122"/>
                <a:cs typeface="Montserrat" pitchFamily="34" charset="-120"/>
              </a:rPr>
              <a:t>Mac Jee Indústria de Defesa</a:t>
            </a:r>
            <a:endParaRPr lang="en-US" sz="700" dirty="0"/>
          </a:p>
        </p:txBody>
      </p:sp>
      <p:sp>
        <p:nvSpPr>
          <p:cNvPr id="37" name="Text 34"/>
          <p:cNvSpPr/>
          <p:nvPr/>
        </p:nvSpPr>
        <p:spPr>
          <a:xfrm>
            <a:off x="5596128" y="2249424"/>
            <a:ext cx="2286000" cy="256032"/>
          </a:xfrm>
          <a:prstGeom prst="rect">
            <a:avLst/>
          </a:prstGeom>
          <a:noFill/>
          <a:ln/>
        </p:spPr>
        <p:txBody>
          <a:bodyPr wrap="square" lIns="0" tIns="0" rIns="0" bIns="0" rtlCol="0" anchor="t"/>
          <a:lstStyle/>
          <a:p>
            <a:pPr indent="0" marL="0">
              <a:lnSpc>
                <a:spcPct val="112000"/>
              </a:lnSpc>
              <a:buNone/>
            </a:pPr>
            <a:r>
              <a:rPr lang="en-US" sz="740" dirty="0">
                <a:solidFill>
                  <a:srgbClr val="3C4657"/>
                </a:solidFill>
                <a:latin typeface="Montserrat" pitchFamily="34" charset="0"/>
                <a:ea typeface="Montserrat" pitchFamily="34" charset="-122"/>
                <a:cs typeface="Montserrat" pitchFamily="34" charset="-120"/>
              </a:rPr>
              <a:t>US$ 250 mm — 155 mm ERFBBB, Bulgaria</a:t>
            </a:r>
            <a:endParaRPr lang="en-US" sz="740" dirty="0"/>
          </a:p>
        </p:txBody>
      </p:sp>
      <p:sp>
        <p:nvSpPr>
          <p:cNvPr id="38" name="Text 35"/>
          <p:cNvSpPr/>
          <p:nvPr/>
        </p:nvSpPr>
        <p:spPr>
          <a:xfrm>
            <a:off x="8083296" y="1901952"/>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Identified</a:t>
            </a:r>
            <a:endParaRPr lang="en-US" sz="640" dirty="0"/>
          </a:p>
        </p:txBody>
      </p:sp>
      <p:sp>
        <p:nvSpPr>
          <p:cNvPr id="39" name="Text 36"/>
          <p:cNvSpPr/>
          <p:nvPr/>
        </p:nvSpPr>
        <p:spPr>
          <a:xfrm>
            <a:off x="8083296" y="2066544"/>
            <a:ext cx="1133856" cy="237744"/>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US$ 1.6 bn</a:t>
            </a:r>
            <a:endParaRPr lang="en-US" sz="1200" dirty="0"/>
          </a:p>
        </p:txBody>
      </p:sp>
      <p:sp>
        <p:nvSpPr>
          <p:cNvPr id="40" name="Text 37"/>
          <p:cNvSpPr/>
          <p:nvPr/>
        </p:nvSpPr>
        <p:spPr>
          <a:xfrm>
            <a:off x="9272016" y="1901952"/>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In the plan</a:t>
            </a:r>
            <a:endParaRPr lang="en-US" sz="640" dirty="0"/>
          </a:p>
        </p:txBody>
      </p:sp>
      <p:sp>
        <p:nvSpPr>
          <p:cNvPr id="41" name="Text 38"/>
          <p:cNvSpPr/>
          <p:nvPr/>
        </p:nvSpPr>
        <p:spPr>
          <a:xfrm>
            <a:off x="9272016" y="2066544"/>
            <a:ext cx="1133856" cy="237744"/>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US$ 1.55 bn</a:t>
            </a:r>
            <a:endParaRPr lang="en-US" sz="1200" dirty="0"/>
          </a:p>
        </p:txBody>
      </p:sp>
      <p:sp>
        <p:nvSpPr>
          <p:cNvPr id="42" name="Text 39"/>
          <p:cNvSpPr/>
          <p:nvPr/>
        </p:nvSpPr>
        <p:spPr>
          <a:xfrm>
            <a:off x="10460736" y="1901952"/>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Coverage</a:t>
            </a:r>
            <a:endParaRPr lang="en-US" sz="640" dirty="0"/>
          </a:p>
        </p:txBody>
      </p:sp>
      <p:sp>
        <p:nvSpPr>
          <p:cNvPr id="43" name="Text 40"/>
          <p:cNvSpPr/>
          <p:nvPr/>
        </p:nvSpPr>
        <p:spPr>
          <a:xfrm>
            <a:off x="10460736" y="2066544"/>
            <a:ext cx="1133856" cy="237744"/>
          </a:xfrm>
          <a:prstGeom prst="rect">
            <a:avLst/>
          </a:prstGeom>
          <a:noFill/>
          <a:ln/>
        </p:spPr>
        <p:txBody>
          <a:bodyPr wrap="square" lIns="0" tIns="0" rIns="0" bIns="0" rtlCol="0" anchor="ctr"/>
          <a:lstStyle/>
          <a:p>
            <a:pPr indent="0" marL="0">
              <a:buNone/>
            </a:pPr>
            <a:r>
              <a:rPr lang="en-US" sz="1200" b="1" dirty="0">
                <a:solidFill>
                  <a:srgbClr val="6FA82F"/>
                </a:solidFill>
                <a:latin typeface="Montserrat" pitchFamily="34" charset="0"/>
                <a:ea typeface="Montserrat" pitchFamily="34" charset="-122"/>
                <a:cs typeface="Montserrat" pitchFamily="34" charset="-120"/>
              </a:rPr>
              <a:t>104%</a:t>
            </a:r>
            <a:endParaRPr lang="en-US" sz="1200" dirty="0"/>
          </a:p>
        </p:txBody>
      </p:sp>
      <p:sp>
        <p:nvSpPr>
          <p:cNvPr id="44" name="Shape 41"/>
          <p:cNvSpPr/>
          <p:nvPr/>
        </p:nvSpPr>
        <p:spPr>
          <a:xfrm>
            <a:off x="5413248" y="2615184"/>
            <a:ext cx="6199632" cy="7315"/>
          </a:xfrm>
          <a:prstGeom prst="rect">
            <a:avLst/>
          </a:prstGeom>
          <a:solidFill>
            <a:srgbClr val="EDEFF4"/>
          </a:solidFill>
          <a:ln/>
        </p:spPr>
      </p:sp>
      <p:sp>
        <p:nvSpPr>
          <p:cNvPr id="45" name="Shape 42"/>
          <p:cNvSpPr/>
          <p:nvPr/>
        </p:nvSpPr>
        <p:spPr>
          <a:xfrm>
            <a:off x="5413248" y="2688336"/>
            <a:ext cx="54864" cy="676656"/>
          </a:xfrm>
          <a:prstGeom prst="rect">
            <a:avLst/>
          </a:prstGeom>
          <a:solidFill>
            <a:srgbClr val="C79000"/>
          </a:solidFill>
          <a:ln/>
        </p:spPr>
      </p:sp>
      <p:sp>
        <p:nvSpPr>
          <p:cNvPr id="46" name="Text 43"/>
          <p:cNvSpPr/>
          <p:nvPr/>
        </p:nvSpPr>
        <p:spPr>
          <a:xfrm>
            <a:off x="5596128" y="2688336"/>
            <a:ext cx="2011680" cy="219456"/>
          </a:xfrm>
          <a:prstGeom prst="rect">
            <a:avLst/>
          </a:prstGeom>
          <a:noFill/>
          <a:ln/>
        </p:spPr>
        <p:txBody>
          <a:bodyPr wrap="square" lIns="0" tIns="0" rIns="0" bIns="0" rtlCol="0" anchor="ctr"/>
          <a:lstStyle/>
          <a:p>
            <a:pPr indent="0" marL="0">
              <a:buNone/>
            </a:pPr>
            <a:r>
              <a:rPr lang="en-US" sz="1250" b="1" dirty="0">
                <a:solidFill>
                  <a:srgbClr val="C79000"/>
                </a:solidFill>
                <a:latin typeface="Montserrat" pitchFamily="34" charset="0"/>
                <a:ea typeface="Montserrat" pitchFamily="34" charset="-122"/>
                <a:cs typeface="Montserrat" pitchFamily="34" charset="-120"/>
              </a:rPr>
              <a:t>Energetics</a:t>
            </a:r>
            <a:endParaRPr lang="en-US" sz="1250" dirty="0"/>
          </a:p>
        </p:txBody>
      </p:sp>
      <p:sp>
        <p:nvSpPr>
          <p:cNvPr id="47" name="Text 44"/>
          <p:cNvSpPr/>
          <p:nvPr/>
        </p:nvSpPr>
        <p:spPr>
          <a:xfrm>
            <a:off x="5596128" y="2907792"/>
            <a:ext cx="2011680" cy="155448"/>
          </a:xfrm>
          <a:prstGeom prst="rect">
            <a:avLst/>
          </a:prstGeom>
          <a:noFill/>
          <a:ln/>
        </p:spPr>
        <p:txBody>
          <a:bodyPr wrap="square" lIns="0" tIns="0" rIns="0" bIns="0" rtlCol="0" anchor="ctr"/>
          <a:lstStyle/>
          <a:p>
            <a:pPr indent="0" marL="0">
              <a:buNone/>
            </a:pPr>
            <a:r>
              <a:rPr lang="en-US" sz="700" dirty="0">
                <a:solidFill>
                  <a:srgbClr val="8C93A8"/>
                </a:solidFill>
                <a:latin typeface="Montserrat" pitchFamily="34" charset="0"/>
                <a:ea typeface="Montserrat" pitchFamily="34" charset="-122"/>
                <a:cs typeface="Montserrat" pitchFamily="34" charset="-120"/>
              </a:rPr>
              <a:t>Mac Jee Tecnologia</a:t>
            </a:r>
            <a:endParaRPr lang="en-US" sz="700" dirty="0"/>
          </a:p>
        </p:txBody>
      </p:sp>
      <p:sp>
        <p:nvSpPr>
          <p:cNvPr id="48" name="Text 45"/>
          <p:cNvSpPr/>
          <p:nvPr/>
        </p:nvSpPr>
        <p:spPr>
          <a:xfrm>
            <a:off x="5596128" y="3090672"/>
            <a:ext cx="2286000" cy="256032"/>
          </a:xfrm>
          <a:prstGeom prst="rect">
            <a:avLst/>
          </a:prstGeom>
          <a:noFill/>
          <a:ln/>
        </p:spPr>
        <p:txBody>
          <a:bodyPr wrap="square" lIns="0" tIns="0" rIns="0" bIns="0" rtlCol="0" anchor="t"/>
          <a:lstStyle/>
          <a:p>
            <a:pPr indent="0" marL="0">
              <a:lnSpc>
                <a:spcPct val="112000"/>
              </a:lnSpc>
              <a:buNone/>
            </a:pPr>
            <a:r>
              <a:rPr lang="en-US" sz="740" dirty="0">
                <a:solidFill>
                  <a:srgbClr val="3C4657"/>
                </a:solidFill>
                <a:latin typeface="Montserrat" pitchFamily="34" charset="0"/>
                <a:ea typeface="Montserrat" pitchFamily="34" charset="-122"/>
                <a:cs typeface="Montserrat" pitchFamily="34" charset="-120"/>
              </a:rPr>
              <a:t>US$ 200 mm — TNT line, Canada</a:t>
            </a:r>
            <a:endParaRPr lang="en-US" sz="740" dirty="0"/>
          </a:p>
        </p:txBody>
      </p:sp>
      <p:sp>
        <p:nvSpPr>
          <p:cNvPr id="49" name="Text 46"/>
          <p:cNvSpPr/>
          <p:nvPr/>
        </p:nvSpPr>
        <p:spPr>
          <a:xfrm>
            <a:off x="8083296" y="2743200"/>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Identified</a:t>
            </a:r>
            <a:endParaRPr lang="en-US" sz="640" dirty="0"/>
          </a:p>
        </p:txBody>
      </p:sp>
      <p:sp>
        <p:nvSpPr>
          <p:cNvPr id="50" name="Text 47"/>
          <p:cNvSpPr/>
          <p:nvPr/>
        </p:nvSpPr>
        <p:spPr>
          <a:xfrm>
            <a:off x="8083296" y="2907792"/>
            <a:ext cx="1133856" cy="237744"/>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US$ 1.1 bn</a:t>
            </a:r>
            <a:endParaRPr lang="en-US" sz="1200" dirty="0"/>
          </a:p>
        </p:txBody>
      </p:sp>
      <p:sp>
        <p:nvSpPr>
          <p:cNvPr id="51" name="Text 48"/>
          <p:cNvSpPr/>
          <p:nvPr/>
        </p:nvSpPr>
        <p:spPr>
          <a:xfrm>
            <a:off x="9272016" y="2743200"/>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In the plan</a:t>
            </a:r>
            <a:endParaRPr lang="en-US" sz="640" dirty="0"/>
          </a:p>
        </p:txBody>
      </p:sp>
      <p:sp>
        <p:nvSpPr>
          <p:cNvPr id="52" name="Text 49"/>
          <p:cNvSpPr/>
          <p:nvPr/>
        </p:nvSpPr>
        <p:spPr>
          <a:xfrm>
            <a:off x="9272016" y="2907792"/>
            <a:ext cx="1133856" cy="237744"/>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US$ 0.61 bn</a:t>
            </a:r>
            <a:endParaRPr lang="en-US" sz="1200" dirty="0"/>
          </a:p>
        </p:txBody>
      </p:sp>
      <p:sp>
        <p:nvSpPr>
          <p:cNvPr id="53" name="Text 50"/>
          <p:cNvSpPr/>
          <p:nvPr/>
        </p:nvSpPr>
        <p:spPr>
          <a:xfrm>
            <a:off x="10460736" y="2743200"/>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Coverage</a:t>
            </a:r>
            <a:endParaRPr lang="en-US" sz="640" dirty="0"/>
          </a:p>
        </p:txBody>
      </p:sp>
      <p:sp>
        <p:nvSpPr>
          <p:cNvPr id="54" name="Text 51"/>
          <p:cNvSpPr/>
          <p:nvPr/>
        </p:nvSpPr>
        <p:spPr>
          <a:xfrm>
            <a:off x="10460736" y="2907792"/>
            <a:ext cx="1133856" cy="237744"/>
          </a:xfrm>
          <a:prstGeom prst="rect">
            <a:avLst/>
          </a:prstGeom>
          <a:noFill/>
          <a:ln/>
        </p:spPr>
        <p:txBody>
          <a:bodyPr wrap="square" lIns="0" tIns="0" rIns="0" bIns="0" rtlCol="0" anchor="ctr"/>
          <a:lstStyle/>
          <a:p>
            <a:pPr indent="0" marL="0">
              <a:buNone/>
            </a:pPr>
            <a:r>
              <a:rPr lang="en-US" sz="1200" b="1" dirty="0">
                <a:solidFill>
                  <a:srgbClr val="C79000"/>
                </a:solidFill>
                <a:latin typeface="Montserrat" pitchFamily="34" charset="0"/>
                <a:ea typeface="Montserrat" pitchFamily="34" charset="-122"/>
                <a:cs typeface="Montserrat" pitchFamily="34" charset="-120"/>
              </a:rPr>
              <a:t>188%</a:t>
            </a:r>
            <a:endParaRPr lang="en-US" sz="1200" dirty="0"/>
          </a:p>
        </p:txBody>
      </p:sp>
      <p:sp>
        <p:nvSpPr>
          <p:cNvPr id="55" name="Shape 52"/>
          <p:cNvSpPr/>
          <p:nvPr/>
        </p:nvSpPr>
        <p:spPr>
          <a:xfrm>
            <a:off x="5413248" y="3456432"/>
            <a:ext cx="6199632" cy="7315"/>
          </a:xfrm>
          <a:prstGeom prst="rect">
            <a:avLst/>
          </a:prstGeom>
          <a:solidFill>
            <a:srgbClr val="EDEFF4"/>
          </a:solidFill>
          <a:ln/>
        </p:spPr>
      </p:sp>
      <p:sp>
        <p:nvSpPr>
          <p:cNvPr id="56" name="Shape 53"/>
          <p:cNvSpPr/>
          <p:nvPr/>
        </p:nvSpPr>
        <p:spPr>
          <a:xfrm>
            <a:off x="5413248" y="3529584"/>
            <a:ext cx="54864" cy="676656"/>
          </a:xfrm>
          <a:prstGeom prst="rect">
            <a:avLst/>
          </a:prstGeom>
          <a:solidFill>
            <a:srgbClr val="4A5261"/>
          </a:solidFill>
          <a:ln/>
        </p:spPr>
      </p:sp>
      <p:sp>
        <p:nvSpPr>
          <p:cNvPr id="57" name="Text 54"/>
          <p:cNvSpPr/>
          <p:nvPr/>
        </p:nvSpPr>
        <p:spPr>
          <a:xfrm>
            <a:off x="5596128" y="3529584"/>
            <a:ext cx="2011680" cy="219456"/>
          </a:xfrm>
          <a:prstGeom prst="rect">
            <a:avLst/>
          </a:prstGeom>
          <a:noFill/>
          <a:ln/>
        </p:spPr>
        <p:txBody>
          <a:bodyPr wrap="square" lIns="0" tIns="0" rIns="0" bIns="0" rtlCol="0" anchor="ctr"/>
          <a:lstStyle/>
          <a:p>
            <a:pPr indent="0" marL="0">
              <a:buNone/>
            </a:pPr>
            <a:r>
              <a:rPr lang="en-US" sz="1250" b="1" dirty="0">
                <a:solidFill>
                  <a:srgbClr val="4A5261"/>
                </a:solidFill>
                <a:latin typeface="Montserrat" pitchFamily="34" charset="0"/>
                <a:ea typeface="Montserrat" pitchFamily="34" charset="-122"/>
                <a:cs typeface="Montserrat" pitchFamily="34" charset="-120"/>
              </a:rPr>
              <a:t>Missile</a:t>
            </a:r>
            <a:endParaRPr lang="en-US" sz="1250" dirty="0"/>
          </a:p>
        </p:txBody>
      </p:sp>
      <p:sp>
        <p:nvSpPr>
          <p:cNvPr id="58" name="Text 55"/>
          <p:cNvSpPr/>
          <p:nvPr/>
        </p:nvSpPr>
        <p:spPr>
          <a:xfrm>
            <a:off x="5596128" y="3749040"/>
            <a:ext cx="2011680" cy="155448"/>
          </a:xfrm>
          <a:prstGeom prst="rect">
            <a:avLst/>
          </a:prstGeom>
          <a:noFill/>
          <a:ln/>
        </p:spPr>
        <p:txBody>
          <a:bodyPr wrap="square" lIns="0" tIns="0" rIns="0" bIns="0" rtlCol="0" anchor="ctr"/>
          <a:lstStyle/>
          <a:p>
            <a:pPr indent="0" marL="0">
              <a:buNone/>
            </a:pPr>
            <a:r>
              <a:rPr lang="en-US" sz="700" dirty="0">
                <a:solidFill>
                  <a:srgbClr val="8C93A8"/>
                </a:solidFill>
                <a:latin typeface="Montserrat" pitchFamily="34" charset="0"/>
                <a:ea typeface="Montserrat" pitchFamily="34" charset="-122"/>
                <a:cs typeface="Montserrat" pitchFamily="34" charset="-120"/>
              </a:rPr>
              <a:t>TMC — The Missile Company</a:t>
            </a:r>
            <a:endParaRPr lang="en-US" sz="700" dirty="0"/>
          </a:p>
        </p:txBody>
      </p:sp>
      <p:sp>
        <p:nvSpPr>
          <p:cNvPr id="59" name="Text 56"/>
          <p:cNvSpPr/>
          <p:nvPr/>
        </p:nvSpPr>
        <p:spPr>
          <a:xfrm>
            <a:off x="5596128" y="3931920"/>
            <a:ext cx="2286000" cy="256032"/>
          </a:xfrm>
          <a:prstGeom prst="rect">
            <a:avLst/>
          </a:prstGeom>
          <a:noFill/>
          <a:ln/>
        </p:spPr>
        <p:txBody>
          <a:bodyPr wrap="square" lIns="0" tIns="0" rIns="0" bIns="0" rtlCol="0" anchor="t"/>
          <a:lstStyle/>
          <a:p>
            <a:pPr indent="0" marL="0">
              <a:lnSpc>
                <a:spcPct val="112000"/>
              </a:lnSpc>
              <a:buNone/>
            </a:pPr>
            <a:r>
              <a:rPr lang="en-US" sz="740" dirty="0">
                <a:solidFill>
                  <a:srgbClr val="3C4657"/>
                </a:solidFill>
                <a:latin typeface="Montserrat" pitchFamily="34" charset="0"/>
                <a:ea typeface="Montserrat" pitchFamily="34" charset="-122"/>
                <a:cs typeface="Montserrat" pitchFamily="34" charset="-120"/>
              </a:rPr>
              <a:t>US$ 1,000 mm — confidential, Saudi Arabia</a:t>
            </a:r>
            <a:endParaRPr lang="en-US" sz="740" dirty="0"/>
          </a:p>
        </p:txBody>
      </p:sp>
      <p:sp>
        <p:nvSpPr>
          <p:cNvPr id="60" name="Text 57"/>
          <p:cNvSpPr/>
          <p:nvPr/>
        </p:nvSpPr>
        <p:spPr>
          <a:xfrm>
            <a:off x="8083296" y="3584448"/>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Identified</a:t>
            </a:r>
            <a:endParaRPr lang="en-US" sz="640" dirty="0"/>
          </a:p>
        </p:txBody>
      </p:sp>
      <p:sp>
        <p:nvSpPr>
          <p:cNvPr id="61" name="Text 58"/>
          <p:cNvSpPr/>
          <p:nvPr/>
        </p:nvSpPr>
        <p:spPr>
          <a:xfrm>
            <a:off x="8083296" y="3749040"/>
            <a:ext cx="1133856" cy="237744"/>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US$ 1.9 bn</a:t>
            </a:r>
            <a:endParaRPr lang="en-US" sz="1200" dirty="0"/>
          </a:p>
        </p:txBody>
      </p:sp>
      <p:sp>
        <p:nvSpPr>
          <p:cNvPr id="62" name="Text 59"/>
          <p:cNvSpPr/>
          <p:nvPr/>
        </p:nvSpPr>
        <p:spPr>
          <a:xfrm>
            <a:off x="9272016" y="3584448"/>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In the plan</a:t>
            </a:r>
            <a:endParaRPr lang="en-US" sz="640" dirty="0"/>
          </a:p>
        </p:txBody>
      </p:sp>
      <p:sp>
        <p:nvSpPr>
          <p:cNvPr id="63" name="Text 60"/>
          <p:cNvSpPr/>
          <p:nvPr/>
        </p:nvSpPr>
        <p:spPr>
          <a:xfrm>
            <a:off x="9272016" y="3749040"/>
            <a:ext cx="1133856" cy="237744"/>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US$ 1.93 bn</a:t>
            </a:r>
            <a:endParaRPr lang="en-US" sz="1200" dirty="0"/>
          </a:p>
        </p:txBody>
      </p:sp>
      <p:sp>
        <p:nvSpPr>
          <p:cNvPr id="64" name="Text 61"/>
          <p:cNvSpPr/>
          <p:nvPr/>
        </p:nvSpPr>
        <p:spPr>
          <a:xfrm>
            <a:off x="10460736" y="3584448"/>
            <a:ext cx="1133856" cy="146304"/>
          </a:xfrm>
          <a:prstGeom prst="rect">
            <a:avLst/>
          </a:prstGeom>
          <a:noFill/>
          <a:ln/>
        </p:spPr>
        <p:txBody>
          <a:bodyPr wrap="square" lIns="0" tIns="0" rIns="0" bIns="0" rtlCol="0" anchor="ctr"/>
          <a:lstStyle/>
          <a:p>
            <a:pPr indent="0" marL="0">
              <a:buNone/>
            </a:pPr>
            <a:r>
              <a:rPr lang="en-US" sz="640" spc="60" kern="0" dirty="0">
                <a:solidFill>
                  <a:srgbClr val="8C93A8"/>
                </a:solidFill>
                <a:latin typeface="Montserrat Light" pitchFamily="34" charset="0"/>
                <a:ea typeface="Montserrat Light" pitchFamily="34" charset="-122"/>
                <a:cs typeface="Montserrat Light" pitchFamily="34" charset="-120"/>
              </a:rPr>
              <a:t>Coverage</a:t>
            </a:r>
            <a:endParaRPr lang="en-US" sz="640" dirty="0"/>
          </a:p>
        </p:txBody>
      </p:sp>
      <p:sp>
        <p:nvSpPr>
          <p:cNvPr id="65" name="Text 62"/>
          <p:cNvSpPr/>
          <p:nvPr/>
        </p:nvSpPr>
        <p:spPr>
          <a:xfrm>
            <a:off x="10460736" y="3749040"/>
            <a:ext cx="1133856" cy="237744"/>
          </a:xfrm>
          <a:prstGeom prst="rect">
            <a:avLst/>
          </a:prstGeom>
          <a:noFill/>
          <a:ln/>
        </p:spPr>
        <p:txBody>
          <a:bodyPr wrap="square" lIns="0" tIns="0" rIns="0" bIns="0" rtlCol="0" anchor="ctr"/>
          <a:lstStyle/>
          <a:p>
            <a:pPr indent="0" marL="0">
              <a:buNone/>
            </a:pPr>
            <a:r>
              <a:rPr lang="en-US" sz="1200" b="1" dirty="0">
                <a:solidFill>
                  <a:srgbClr val="4A5261"/>
                </a:solidFill>
                <a:latin typeface="Montserrat" pitchFamily="34" charset="0"/>
                <a:ea typeface="Montserrat" pitchFamily="34" charset="-122"/>
                <a:cs typeface="Montserrat" pitchFamily="34" charset="-120"/>
              </a:rPr>
              <a:t>96%</a:t>
            </a:r>
            <a:endParaRPr lang="en-US" sz="1200" dirty="0"/>
          </a:p>
        </p:txBody>
      </p:sp>
      <p:sp>
        <p:nvSpPr>
          <p:cNvPr id="66" name="Text 63"/>
          <p:cNvSpPr/>
          <p:nvPr/>
        </p:nvSpPr>
        <p:spPr>
          <a:xfrm>
            <a:off x="576072" y="4663440"/>
            <a:ext cx="10972800" cy="201168"/>
          </a:xfrm>
          <a:prstGeom prst="rect">
            <a:avLst/>
          </a:prstGeom>
          <a:noFill/>
          <a:ln/>
        </p:spPr>
        <p:txBody>
          <a:bodyPr wrap="square" lIns="0" tIns="0" rIns="0" bIns="0" rtlCol="0" anchor="ctr"/>
          <a:lstStyle/>
          <a:p>
            <a:pPr indent="0" marL="0">
              <a:buNone/>
            </a:pPr>
            <a:r>
              <a:rPr lang="en-US" sz="660" dirty="0">
                <a:solidFill>
                  <a:srgbClr val="8C93A8"/>
                </a:solidFill>
                <a:latin typeface="Montserrat Light" pitchFamily="34" charset="0"/>
                <a:ea typeface="Montserrat Light" pitchFamily="34" charset="-122"/>
                <a:cs typeface="Montserrat Light" pitchFamily="34" charset="-120"/>
              </a:rPr>
              <a:t>Identified opportunity is the total contract value of every signed contract and open commercial opportunity in the Company’s commercial review, at face value and unweighted. Plan figures are cumulative gross revenue 2026–32 in the Base case.</a:t>
            </a:r>
            <a:endParaRPr lang="en-US" sz="660" dirty="0"/>
          </a:p>
        </p:txBody>
      </p:sp>
      <p:sp>
        <p:nvSpPr>
          <p:cNvPr id="67" name="Shape 64"/>
          <p:cNvSpPr/>
          <p:nvPr/>
        </p:nvSpPr>
        <p:spPr>
          <a:xfrm>
            <a:off x="0" y="5159959"/>
            <a:ext cx="12191695" cy="1698041"/>
          </a:xfrm>
          <a:prstGeom prst="rect">
            <a:avLst/>
          </a:prstGeom>
          <a:solidFill>
            <a:srgbClr val="00092B"/>
          </a:solidFill>
          <a:ln/>
        </p:spPr>
      </p:sp>
      <p:sp>
        <p:nvSpPr>
          <p:cNvPr id="68" name="Shape 65"/>
          <p:cNvSpPr/>
          <p:nvPr/>
        </p:nvSpPr>
        <p:spPr>
          <a:xfrm>
            <a:off x="70409" y="5159959"/>
            <a:ext cx="27432" cy="1698041"/>
          </a:xfrm>
          <a:prstGeom prst="rect">
            <a:avLst/>
          </a:prstGeom>
          <a:solidFill>
            <a:srgbClr val="1C2441"/>
          </a:solidFill>
          <a:ln/>
        </p:spPr>
      </p:sp>
      <p:sp>
        <p:nvSpPr>
          <p:cNvPr id="69" name="Shape 66"/>
          <p:cNvSpPr/>
          <p:nvPr/>
        </p:nvSpPr>
        <p:spPr>
          <a:xfrm>
            <a:off x="1520647" y="5159959"/>
            <a:ext cx="27432" cy="1698041"/>
          </a:xfrm>
          <a:prstGeom prst="rect">
            <a:avLst/>
          </a:prstGeom>
          <a:solidFill>
            <a:srgbClr val="1C2441"/>
          </a:solidFill>
          <a:ln/>
        </p:spPr>
      </p:sp>
      <p:sp>
        <p:nvSpPr>
          <p:cNvPr id="70" name="Shape 67"/>
          <p:cNvSpPr/>
          <p:nvPr/>
        </p:nvSpPr>
        <p:spPr>
          <a:xfrm>
            <a:off x="2970886" y="5159959"/>
            <a:ext cx="27432" cy="1698041"/>
          </a:xfrm>
          <a:prstGeom prst="rect">
            <a:avLst/>
          </a:prstGeom>
          <a:solidFill>
            <a:srgbClr val="1C2441"/>
          </a:solidFill>
          <a:ln/>
        </p:spPr>
      </p:sp>
      <p:sp>
        <p:nvSpPr>
          <p:cNvPr id="71" name="Shape 68"/>
          <p:cNvSpPr/>
          <p:nvPr/>
        </p:nvSpPr>
        <p:spPr>
          <a:xfrm>
            <a:off x="4421124" y="5159959"/>
            <a:ext cx="27432" cy="1698041"/>
          </a:xfrm>
          <a:prstGeom prst="rect">
            <a:avLst/>
          </a:prstGeom>
          <a:solidFill>
            <a:srgbClr val="1C2441"/>
          </a:solidFill>
          <a:ln/>
        </p:spPr>
      </p:sp>
      <p:sp>
        <p:nvSpPr>
          <p:cNvPr id="72" name="Shape 69"/>
          <p:cNvSpPr/>
          <p:nvPr/>
        </p:nvSpPr>
        <p:spPr>
          <a:xfrm>
            <a:off x="5871362" y="5159959"/>
            <a:ext cx="27432" cy="1698041"/>
          </a:xfrm>
          <a:prstGeom prst="rect">
            <a:avLst/>
          </a:prstGeom>
          <a:solidFill>
            <a:srgbClr val="1C2441"/>
          </a:solidFill>
          <a:ln/>
        </p:spPr>
      </p:sp>
      <p:sp>
        <p:nvSpPr>
          <p:cNvPr id="73" name="Shape 70"/>
          <p:cNvSpPr/>
          <p:nvPr/>
        </p:nvSpPr>
        <p:spPr>
          <a:xfrm>
            <a:off x="7321601" y="5159959"/>
            <a:ext cx="27432" cy="1698041"/>
          </a:xfrm>
          <a:prstGeom prst="rect">
            <a:avLst/>
          </a:prstGeom>
          <a:solidFill>
            <a:srgbClr val="1C2441"/>
          </a:solidFill>
          <a:ln/>
        </p:spPr>
      </p:sp>
      <p:sp>
        <p:nvSpPr>
          <p:cNvPr id="74" name="Shape 71"/>
          <p:cNvSpPr/>
          <p:nvPr/>
        </p:nvSpPr>
        <p:spPr>
          <a:xfrm>
            <a:off x="8771839" y="5159959"/>
            <a:ext cx="27432" cy="1698041"/>
          </a:xfrm>
          <a:prstGeom prst="rect">
            <a:avLst/>
          </a:prstGeom>
          <a:solidFill>
            <a:srgbClr val="1C2441"/>
          </a:solidFill>
          <a:ln/>
        </p:spPr>
      </p:sp>
      <p:sp>
        <p:nvSpPr>
          <p:cNvPr id="75" name="Shape 72"/>
          <p:cNvSpPr/>
          <p:nvPr/>
        </p:nvSpPr>
        <p:spPr>
          <a:xfrm>
            <a:off x="10222078" y="5159959"/>
            <a:ext cx="27432" cy="1698041"/>
          </a:xfrm>
          <a:prstGeom prst="rect">
            <a:avLst/>
          </a:prstGeom>
          <a:solidFill>
            <a:srgbClr val="1C2441"/>
          </a:solidFill>
          <a:ln/>
        </p:spPr>
      </p:sp>
      <p:sp>
        <p:nvSpPr>
          <p:cNvPr id="76" name="Shape 73"/>
          <p:cNvSpPr/>
          <p:nvPr/>
        </p:nvSpPr>
        <p:spPr>
          <a:xfrm>
            <a:off x="11672316" y="5159959"/>
            <a:ext cx="27432" cy="1698041"/>
          </a:xfrm>
          <a:prstGeom prst="rect">
            <a:avLst/>
          </a:prstGeom>
          <a:solidFill>
            <a:srgbClr val="1C2441"/>
          </a:solidFill>
          <a:ln/>
        </p:spPr>
      </p:sp>
      <p:sp>
        <p:nvSpPr>
          <p:cNvPr id="77" name="Shape 74"/>
          <p:cNvSpPr/>
          <p:nvPr/>
        </p:nvSpPr>
        <p:spPr>
          <a:xfrm>
            <a:off x="548640" y="5376672"/>
            <a:ext cx="1481328" cy="914400"/>
          </a:xfrm>
          <a:custGeom>
            <a:avLst/>
            <a:gdLst/>
            <a:ahLst/>
            <a:cxnLst/>
            <a:rect l="l" t="t" r="r" b="b"/>
            <a:pathLst>
              <a:path w="1481328" h="914400">
                <a:moveTo>
                  <a:pt x="0" y="0"/>
                </a:moveTo>
                <a:lnTo>
                  <a:pt x="1335024" y="0"/>
                </a:lnTo>
                <a:lnTo>
                  <a:pt x="1481328" y="146304"/>
                </a:lnTo>
                <a:lnTo>
                  <a:pt x="1481328" y="914400"/>
                </a:lnTo>
                <a:lnTo>
                  <a:pt x="146304" y="914400"/>
                </a:lnTo>
                <a:lnTo>
                  <a:pt x="0" y="768096"/>
                </a:lnTo>
                <a:close/>
              </a:path>
            </a:pathLst>
          </a:custGeom>
          <a:solidFill>
            <a:srgbClr val="343D60"/>
          </a:solidFill>
          <a:ln w="19050">
            <a:solidFill>
              <a:srgbClr val="95A8FE"/>
            </a:solidFill>
            <a:prstDash val="solid"/>
          </a:ln>
        </p:spPr>
      </p:sp>
      <p:sp>
        <p:nvSpPr>
          <p:cNvPr id="78" name="Text 75"/>
          <p:cNvSpPr/>
          <p:nvPr/>
        </p:nvSpPr>
        <p:spPr>
          <a:xfrm>
            <a:off x="548640" y="5522976"/>
            <a:ext cx="1481328" cy="365760"/>
          </a:xfrm>
          <a:prstGeom prst="rect">
            <a:avLst/>
          </a:prstGeom>
          <a:noFill/>
          <a:ln/>
        </p:spPr>
        <p:txBody>
          <a:bodyPr wrap="square" lIns="0" tIns="0" rIns="0" bIns="0" rtlCol="0" anchor="ctr"/>
          <a:lstStyle/>
          <a:p>
            <a:pPr algn="ctr" indent="0" marL="0">
              <a:buNone/>
            </a:pPr>
            <a:r>
              <a:rPr lang="en-US" sz="900" dirty="0">
                <a:solidFill>
                  <a:srgbClr val="FFFFFF"/>
                </a:solidFill>
                <a:latin typeface="Montserrat" pitchFamily="34" charset="0"/>
                <a:ea typeface="Montserrat" pitchFamily="34" charset="-122"/>
                <a:cs typeface="Montserrat" pitchFamily="34" charset="-120"/>
              </a:rPr>
              <a:t>USD </a:t>
            </a:r>
            <a:pPr algn="ctr" indent="0" marL="0">
              <a:buNone/>
            </a:pPr>
            <a:r>
              <a:rPr lang="en-US" sz="2000" b="1" dirty="0">
                <a:solidFill>
                  <a:srgbClr val="FFFFFF"/>
                </a:solidFill>
                <a:latin typeface="Montserrat" pitchFamily="34" charset="0"/>
                <a:ea typeface="Montserrat" pitchFamily="34" charset="-122"/>
                <a:cs typeface="Montserrat" pitchFamily="34" charset="-120"/>
              </a:rPr>
              <a:t>4.6</a:t>
            </a:r>
            <a:pPr algn="ctr" indent="0" marL="0">
              <a:buNone/>
            </a:pPr>
            <a:r>
              <a:rPr lang="en-US" sz="1150" dirty="0">
                <a:solidFill>
                  <a:srgbClr val="FFFFFF"/>
                </a:solidFill>
                <a:latin typeface="Montserrat" pitchFamily="34" charset="0"/>
                <a:ea typeface="Montserrat" pitchFamily="34" charset="-122"/>
                <a:cs typeface="Montserrat" pitchFamily="34" charset="-120"/>
              </a:rPr>
              <a:t> bn</a:t>
            </a:r>
            <a:endParaRPr lang="en-US" sz="900" dirty="0"/>
          </a:p>
        </p:txBody>
      </p:sp>
      <p:sp>
        <p:nvSpPr>
          <p:cNvPr id="79" name="Text 76"/>
          <p:cNvSpPr/>
          <p:nvPr/>
        </p:nvSpPr>
        <p:spPr>
          <a:xfrm>
            <a:off x="594360" y="5907024"/>
            <a:ext cx="1389888" cy="274320"/>
          </a:xfrm>
          <a:prstGeom prst="rect">
            <a:avLst/>
          </a:prstGeom>
          <a:noFill/>
          <a:ln/>
        </p:spPr>
        <p:txBody>
          <a:bodyPr wrap="square" lIns="0" tIns="0" rIns="0" bIns="0" rtlCol="0" anchor="t"/>
          <a:lstStyle/>
          <a:p>
            <a:pPr algn="ctr" indent="0" marL="0">
              <a:lnSpc>
                <a:spcPct val="110000"/>
              </a:lnSpc>
              <a:buNone/>
            </a:pPr>
            <a:r>
              <a:rPr lang="en-US" sz="720" dirty="0">
                <a:solidFill>
                  <a:srgbClr val="FFFFFF"/>
                </a:solidFill>
                <a:latin typeface="Montserrat" pitchFamily="34" charset="0"/>
                <a:ea typeface="Montserrat" pitchFamily="34" charset="-122"/>
                <a:cs typeface="Montserrat" pitchFamily="34" charset="-120"/>
              </a:rPr>
              <a:t>Identified opportunity</a:t>
            </a:r>
            <a:endParaRPr lang="en-US" sz="720" dirty="0"/>
          </a:p>
        </p:txBody>
      </p:sp>
      <p:sp>
        <p:nvSpPr>
          <p:cNvPr id="80" name="Shape 77"/>
          <p:cNvSpPr/>
          <p:nvPr/>
        </p:nvSpPr>
        <p:spPr>
          <a:xfrm>
            <a:off x="2176272" y="5376672"/>
            <a:ext cx="1481328" cy="914400"/>
          </a:xfrm>
          <a:custGeom>
            <a:avLst/>
            <a:gdLst/>
            <a:ahLst/>
            <a:cxnLst/>
            <a:rect l="l" t="t" r="r" b="b"/>
            <a:pathLst>
              <a:path w="1481328" h="914400">
                <a:moveTo>
                  <a:pt x="0" y="0"/>
                </a:moveTo>
                <a:lnTo>
                  <a:pt x="1335024" y="0"/>
                </a:lnTo>
                <a:lnTo>
                  <a:pt x="1481328" y="146304"/>
                </a:lnTo>
                <a:lnTo>
                  <a:pt x="1481328" y="914400"/>
                </a:lnTo>
                <a:lnTo>
                  <a:pt x="146304" y="914400"/>
                </a:lnTo>
                <a:lnTo>
                  <a:pt x="0" y="768096"/>
                </a:lnTo>
                <a:close/>
              </a:path>
            </a:pathLst>
          </a:custGeom>
          <a:solidFill>
            <a:srgbClr val="343D60"/>
          </a:solidFill>
          <a:ln w="19050">
            <a:solidFill>
              <a:srgbClr val="95A8FE"/>
            </a:solidFill>
            <a:prstDash val="solid"/>
          </a:ln>
        </p:spPr>
      </p:sp>
      <p:sp>
        <p:nvSpPr>
          <p:cNvPr id="81" name="Text 78"/>
          <p:cNvSpPr/>
          <p:nvPr/>
        </p:nvSpPr>
        <p:spPr>
          <a:xfrm>
            <a:off x="2176272" y="5522976"/>
            <a:ext cx="1481328" cy="365760"/>
          </a:xfrm>
          <a:prstGeom prst="rect">
            <a:avLst/>
          </a:prstGeom>
          <a:noFill/>
          <a:ln/>
        </p:spPr>
        <p:txBody>
          <a:bodyPr wrap="square" lIns="0" tIns="0" rIns="0" bIns="0" rtlCol="0" anchor="ctr"/>
          <a:lstStyle/>
          <a:p>
            <a:pPr algn="ctr" indent="0" marL="0">
              <a:buNone/>
            </a:pPr>
            <a:r>
              <a:rPr lang="en-US" sz="900" dirty="0">
                <a:solidFill>
                  <a:srgbClr val="FFFFFF"/>
                </a:solidFill>
                <a:latin typeface="Montserrat" pitchFamily="34" charset="0"/>
                <a:ea typeface="Montserrat" pitchFamily="34" charset="-122"/>
                <a:cs typeface="Montserrat" pitchFamily="34" charset="-120"/>
              </a:rPr>
              <a:t>USD </a:t>
            </a:r>
            <a:pPr algn="ctr" indent="0" marL="0">
              <a:buNone/>
            </a:pPr>
            <a:r>
              <a:rPr lang="en-US" sz="2000" b="1" dirty="0">
                <a:solidFill>
                  <a:srgbClr val="FFFFFF"/>
                </a:solidFill>
                <a:latin typeface="Montserrat" pitchFamily="34" charset="0"/>
                <a:ea typeface="Montserrat" pitchFamily="34" charset="-122"/>
                <a:cs typeface="Montserrat" pitchFamily="34" charset="-120"/>
              </a:rPr>
              <a:t>4.1</a:t>
            </a:r>
            <a:pPr algn="ctr" indent="0" marL="0">
              <a:buNone/>
            </a:pPr>
            <a:r>
              <a:rPr lang="en-US" sz="1150" dirty="0">
                <a:solidFill>
                  <a:srgbClr val="FFFFFF"/>
                </a:solidFill>
                <a:latin typeface="Montserrat" pitchFamily="34" charset="0"/>
                <a:ea typeface="Montserrat" pitchFamily="34" charset="-122"/>
                <a:cs typeface="Montserrat" pitchFamily="34" charset="-120"/>
              </a:rPr>
              <a:t> bn</a:t>
            </a:r>
            <a:endParaRPr lang="en-US" sz="900" dirty="0"/>
          </a:p>
        </p:txBody>
      </p:sp>
      <p:sp>
        <p:nvSpPr>
          <p:cNvPr id="82" name="Text 79"/>
          <p:cNvSpPr/>
          <p:nvPr/>
        </p:nvSpPr>
        <p:spPr>
          <a:xfrm>
            <a:off x="2221992" y="5907024"/>
            <a:ext cx="1389888" cy="274320"/>
          </a:xfrm>
          <a:prstGeom prst="rect">
            <a:avLst/>
          </a:prstGeom>
          <a:noFill/>
          <a:ln/>
        </p:spPr>
        <p:txBody>
          <a:bodyPr wrap="square" lIns="0" tIns="0" rIns="0" bIns="0" rtlCol="0" anchor="t"/>
          <a:lstStyle/>
          <a:p>
            <a:pPr algn="ctr" indent="0" marL="0">
              <a:lnSpc>
                <a:spcPct val="110000"/>
              </a:lnSpc>
              <a:buNone/>
            </a:pPr>
            <a:r>
              <a:rPr lang="en-US" sz="720" dirty="0">
                <a:solidFill>
                  <a:srgbClr val="FFFFFF"/>
                </a:solidFill>
                <a:latin typeface="Montserrat" pitchFamily="34" charset="0"/>
                <a:ea typeface="Montserrat" pitchFamily="34" charset="-122"/>
                <a:cs typeface="Montserrat" pitchFamily="34" charset="-120"/>
              </a:rPr>
              <a:t>Revenue in the plan</a:t>
            </a:r>
            <a:endParaRPr lang="en-US" sz="720" dirty="0"/>
          </a:p>
        </p:txBody>
      </p:sp>
      <p:sp>
        <p:nvSpPr>
          <p:cNvPr id="83" name="Shape 80"/>
          <p:cNvSpPr/>
          <p:nvPr/>
        </p:nvSpPr>
        <p:spPr>
          <a:xfrm>
            <a:off x="3803904" y="5376672"/>
            <a:ext cx="1481328" cy="914400"/>
          </a:xfrm>
          <a:custGeom>
            <a:avLst/>
            <a:gdLst/>
            <a:ahLst/>
            <a:cxnLst/>
            <a:rect l="l" t="t" r="r" b="b"/>
            <a:pathLst>
              <a:path w="1481328" h="914400">
                <a:moveTo>
                  <a:pt x="0" y="0"/>
                </a:moveTo>
                <a:lnTo>
                  <a:pt x="1335024" y="0"/>
                </a:lnTo>
                <a:lnTo>
                  <a:pt x="1481328" y="146304"/>
                </a:lnTo>
                <a:lnTo>
                  <a:pt x="1481328" y="914400"/>
                </a:lnTo>
                <a:lnTo>
                  <a:pt x="146304" y="914400"/>
                </a:lnTo>
                <a:lnTo>
                  <a:pt x="0" y="768096"/>
                </a:lnTo>
                <a:close/>
              </a:path>
            </a:pathLst>
          </a:custGeom>
          <a:solidFill>
            <a:srgbClr val="343D60"/>
          </a:solidFill>
          <a:ln w="19050">
            <a:solidFill>
              <a:srgbClr val="95A8FE"/>
            </a:solidFill>
            <a:prstDash val="solid"/>
          </a:ln>
        </p:spPr>
      </p:sp>
      <p:sp>
        <p:nvSpPr>
          <p:cNvPr id="84" name="Text 81"/>
          <p:cNvSpPr/>
          <p:nvPr/>
        </p:nvSpPr>
        <p:spPr>
          <a:xfrm>
            <a:off x="3803904" y="5522976"/>
            <a:ext cx="1481328" cy="365760"/>
          </a:xfrm>
          <a:prstGeom prst="rect">
            <a:avLst/>
          </a:prstGeom>
          <a:noFill/>
          <a:ln/>
        </p:spPr>
        <p:txBody>
          <a:bodyPr wrap="square" lIns="0" tIns="0" rIns="0" bIns="0" rtlCol="0" anchor="ctr"/>
          <a:lstStyle/>
          <a:p>
            <a:pPr algn="ctr" indent="0" marL="0">
              <a:buNone/>
            </a:pPr>
            <a:pPr algn="ctr" indent="0" marL="0">
              <a:buNone/>
            </a:pPr>
            <a:r>
              <a:rPr lang="en-US" sz="2000" b="1" dirty="0">
                <a:solidFill>
                  <a:srgbClr val="FFFFFF"/>
                </a:solidFill>
                <a:latin typeface="Montserrat" pitchFamily="34" charset="0"/>
                <a:ea typeface="Montserrat" pitchFamily="34" charset="-122"/>
                <a:cs typeface="Montserrat" pitchFamily="34" charset="-120"/>
              </a:rPr>
              <a:t>55</a:t>
            </a:r>
            <a:pPr algn="ctr" indent="0" marL="0">
              <a:buNone/>
            </a:pPr>
            <a:endParaRPr lang="en-US" sz="900" dirty="0"/>
          </a:p>
        </p:txBody>
      </p:sp>
      <p:sp>
        <p:nvSpPr>
          <p:cNvPr id="85" name="Text 82"/>
          <p:cNvSpPr/>
          <p:nvPr/>
        </p:nvSpPr>
        <p:spPr>
          <a:xfrm>
            <a:off x="3849624" y="5907024"/>
            <a:ext cx="1389888" cy="274320"/>
          </a:xfrm>
          <a:prstGeom prst="rect">
            <a:avLst/>
          </a:prstGeom>
          <a:noFill/>
          <a:ln/>
        </p:spPr>
        <p:txBody>
          <a:bodyPr wrap="square" lIns="0" tIns="0" rIns="0" bIns="0" rtlCol="0" anchor="t"/>
          <a:lstStyle/>
          <a:p>
            <a:pPr algn="ctr" indent="0" marL="0">
              <a:lnSpc>
                <a:spcPct val="110000"/>
              </a:lnSpc>
              <a:buNone/>
            </a:pPr>
            <a:r>
              <a:rPr lang="en-US" sz="720" dirty="0">
                <a:solidFill>
                  <a:srgbClr val="FFFFFF"/>
                </a:solidFill>
                <a:latin typeface="Montserrat" pitchFamily="34" charset="0"/>
                <a:ea typeface="Montserrat" pitchFamily="34" charset="-122"/>
                <a:cs typeface="Montserrat" pitchFamily="34" charset="-120"/>
              </a:rPr>
              <a:t>Named programmes</a:t>
            </a:r>
            <a:endParaRPr lang="en-US" sz="720" dirty="0"/>
          </a:p>
        </p:txBody>
      </p:sp>
      <p:sp>
        <p:nvSpPr>
          <p:cNvPr id="86" name="Shape 83"/>
          <p:cNvSpPr/>
          <p:nvPr/>
        </p:nvSpPr>
        <p:spPr>
          <a:xfrm>
            <a:off x="5431536" y="5376672"/>
            <a:ext cx="1481328" cy="914400"/>
          </a:xfrm>
          <a:custGeom>
            <a:avLst/>
            <a:gdLst/>
            <a:ahLst/>
            <a:cxnLst/>
            <a:rect l="l" t="t" r="r" b="b"/>
            <a:pathLst>
              <a:path w="1481328" h="914400">
                <a:moveTo>
                  <a:pt x="0" y="0"/>
                </a:moveTo>
                <a:lnTo>
                  <a:pt x="1335024" y="0"/>
                </a:lnTo>
                <a:lnTo>
                  <a:pt x="1481328" y="146304"/>
                </a:lnTo>
                <a:lnTo>
                  <a:pt x="1481328" y="914400"/>
                </a:lnTo>
                <a:lnTo>
                  <a:pt x="146304" y="914400"/>
                </a:lnTo>
                <a:lnTo>
                  <a:pt x="0" y="768096"/>
                </a:lnTo>
                <a:close/>
              </a:path>
            </a:pathLst>
          </a:custGeom>
          <a:solidFill>
            <a:srgbClr val="343D60"/>
          </a:solidFill>
          <a:ln w="19050">
            <a:solidFill>
              <a:srgbClr val="95A8FE"/>
            </a:solidFill>
            <a:prstDash val="solid"/>
          </a:ln>
        </p:spPr>
      </p:sp>
      <p:sp>
        <p:nvSpPr>
          <p:cNvPr id="87" name="Text 84"/>
          <p:cNvSpPr/>
          <p:nvPr/>
        </p:nvSpPr>
        <p:spPr>
          <a:xfrm>
            <a:off x="5431536" y="5522976"/>
            <a:ext cx="1481328" cy="365760"/>
          </a:xfrm>
          <a:prstGeom prst="rect">
            <a:avLst/>
          </a:prstGeom>
          <a:noFill/>
          <a:ln/>
        </p:spPr>
        <p:txBody>
          <a:bodyPr wrap="square" lIns="0" tIns="0" rIns="0" bIns="0" rtlCol="0" anchor="ctr"/>
          <a:lstStyle/>
          <a:p>
            <a:pPr algn="ctr" indent="0" marL="0">
              <a:buNone/>
            </a:pPr>
            <a:pPr algn="ctr" indent="0" marL="0">
              <a:buNone/>
            </a:pPr>
            <a:r>
              <a:rPr lang="en-US" sz="2000" b="1" dirty="0">
                <a:solidFill>
                  <a:srgbClr val="FFFFFF"/>
                </a:solidFill>
                <a:latin typeface="Montserrat" pitchFamily="34" charset="0"/>
                <a:ea typeface="Montserrat" pitchFamily="34" charset="-122"/>
                <a:cs typeface="Montserrat" pitchFamily="34" charset="-120"/>
              </a:rPr>
              <a:t>21</a:t>
            </a:r>
            <a:pPr algn="ctr" indent="0" marL="0">
              <a:buNone/>
            </a:pPr>
            <a:endParaRPr lang="en-US" sz="900" dirty="0"/>
          </a:p>
        </p:txBody>
      </p:sp>
      <p:sp>
        <p:nvSpPr>
          <p:cNvPr id="88" name="Text 85"/>
          <p:cNvSpPr/>
          <p:nvPr/>
        </p:nvSpPr>
        <p:spPr>
          <a:xfrm>
            <a:off x="5477256" y="5907024"/>
            <a:ext cx="1389888" cy="274320"/>
          </a:xfrm>
          <a:prstGeom prst="rect">
            <a:avLst/>
          </a:prstGeom>
          <a:noFill/>
          <a:ln/>
        </p:spPr>
        <p:txBody>
          <a:bodyPr wrap="square" lIns="0" tIns="0" rIns="0" bIns="0" rtlCol="0" anchor="t"/>
          <a:lstStyle/>
          <a:p>
            <a:pPr algn="ctr" indent="0" marL="0">
              <a:lnSpc>
                <a:spcPct val="110000"/>
              </a:lnSpc>
              <a:buNone/>
            </a:pPr>
            <a:r>
              <a:rPr lang="en-US" sz="720" dirty="0">
                <a:solidFill>
                  <a:srgbClr val="FFFFFF"/>
                </a:solidFill>
                <a:latin typeface="Montserrat" pitchFamily="34" charset="0"/>
                <a:ea typeface="Montserrat" pitchFamily="34" charset="-122"/>
                <a:cs typeface="Montserrat" pitchFamily="34" charset="-120"/>
              </a:rPr>
              <a:t>Countries</a:t>
            </a:r>
            <a:endParaRPr lang="en-US" sz="720" dirty="0"/>
          </a:p>
        </p:txBody>
      </p:sp>
      <p:sp>
        <p:nvSpPr>
          <p:cNvPr id="89" name="Text 86"/>
          <p:cNvSpPr/>
          <p:nvPr/>
        </p:nvSpPr>
        <p:spPr>
          <a:xfrm>
            <a:off x="7223760" y="5376672"/>
            <a:ext cx="4572000" cy="219456"/>
          </a:xfrm>
          <a:prstGeom prst="rect">
            <a:avLst/>
          </a:prstGeom>
          <a:noFill/>
          <a:ln/>
        </p:spPr>
        <p:txBody>
          <a:bodyPr wrap="square" lIns="0" tIns="0" rIns="0" bIns="0" rtlCol="0" anchor="ctr"/>
          <a:lstStyle/>
          <a:p>
            <a:pPr indent="0" marL="0">
              <a:buNone/>
            </a:pPr>
            <a:r>
              <a:rPr lang="en-US" sz="1000" dirty="0">
                <a:solidFill>
                  <a:srgbClr val="FFFFFF"/>
                </a:solidFill>
                <a:latin typeface="Montserrat Medium" pitchFamily="34" charset="0"/>
                <a:ea typeface="Montserrat Medium" pitchFamily="34" charset="-122"/>
                <a:cs typeface="Montserrat Medium" pitchFamily="34" charset="-120"/>
              </a:rPr>
              <a:t>The three pages that follow take each unit in turn</a:t>
            </a:r>
            <a:endParaRPr lang="en-US" sz="1000" dirty="0"/>
          </a:p>
        </p:txBody>
      </p:sp>
      <p:sp>
        <p:nvSpPr>
          <p:cNvPr id="90" name="Shape 87"/>
          <p:cNvSpPr/>
          <p:nvPr/>
        </p:nvSpPr>
        <p:spPr>
          <a:xfrm>
            <a:off x="7223760" y="5614416"/>
            <a:ext cx="4608576" cy="9144"/>
          </a:xfrm>
          <a:prstGeom prst="rect">
            <a:avLst/>
          </a:prstGeom>
          <a:solidFill>
            <a:srgbClr val="3C4E86"/>
          </a:solidFill>
          <a:ln/>
        </p:spPr>
      </p:sp>
      <p:sp>
        <p:nvSpPr>
          <p:cNvPr id="91" name="Shape 88"/>
          <p:cNvSpPr/>
          <p:nvPr/>
        </p:nvSpPr>
        <p:spPr>
          <a:xfrm>
            <a:off x="7223760" y="5774436"/>
            <a:ext cx="91440" cy="91440"/>
          </a:xfrm>
          <a:prstGeom prst="rect">
            <a:avLst/>
          </a:prstGeom>
          <a:solidFill>
            <a:srgbClr val="92D050"/>
          </a:solidFill>
          <a:ln/>
        </p:spPr>
      </p:sp>
      <p:sp>
        <p:nvSpPr>
          <p:cNvPr id="92" name="Text 89"/>
          <p:cNvSpPr/>
          <p:nvPr/>
        </p:nvSpPr>
        <p:spPr>
          <a:xfrm>
            <a:off x="7406640" y="5724144"/>
            <a:ext cx="4425696" cy="201168"/>
          </a:xfrm>
          <a:prstGeom prst="rect">
            <a:avLst/>
          </a:prstGeom>
          <a:noFill/>
          <a:ln/>
        </p:spPr>
        <p:txBody>
          <a:bodyPr wrap="square" lIns="0" tIns="0" rIns="0" bIns="0" rtlCol="0" anchor="ctr"/>
          <a:lstStyle/>
          <a:p>
            <a:pPr indent="0" marL="0">
              <a:buNone/>
            </a:pPr>
            <a:r>
              <a:rPr lang="en-US" sz="840" b="1" dirty="0">
                <a:solidFill>
                  <a:srgbClr val="FFFFFF"/>
                </a:solidFill>
                <a:latin typeface="Montserrat" pitchFamily="34" charset="0"/>
                <a:ea typeface="Montserrat" pitchFamily="34" charset="-122"/>
                <a:cs typeface="Montserrat" pitchFamily="34" charset="-120"/>
              </a:rPr>
              <a:t>Munitions</a:t>
            </a:r>
            <a:pPr indent="0" marL="0">
              <a:buNone/>
            </a:pPr>
            <a:r>
              <a:rPr lang="en-US" sz="840" dirty="0">
                <a:solidFill>
                  <a:srgbClr val="C6CBDA"/>
                </a:solidFill>
                <a:latin typeface="Montserrat" pitchFamily="34" charset="0"/>
                <a:ea typeface="Montserrat" pitchFamily="34" charset="-122"/>
                <a:cs typeface="Montserrat" pitchFamily="34" charset="-120"/>
              </a:rPr>
              <a:t>   Capacity is already built</a:t>
            </a:r>
            <a:endParaRPr lang="en-US" sz="840" dirty="0"/>
          </a:p>
        </p:txBody>
      </p:sp>
      <p:sp>
        <p:nvSpPr>
          <p:cNvPr id="93" name="Shape 90"/>
          <p:cNvSpPr/>
          <p:nvPr/>
        </p:nvSpPr>
        <p:spPr>
          <a:xfrm>
            <a:off x="7223760" y="6012180"/>
            <a:ext cx="91440" cy="91440"/>
          </a:xfrm>
          <a:prstGeom prst="rect">
            <a:avLst/>
          </a:prstGeom>
          <a:solidFill>
            <a:srgbClr val="FFC000"/>
          </a:solidFill>
          <a:ln/>
        </p:spPr>
      </p:sp>
      <p:sp>
        <p:nvSpPr>
          <p:cNvPr id="94" name="Text 91"/>
          <p:cNvSpPr/>
          <p:nvPr/>
        </p:nvSpPr>
        <p:spPr>
          <a:xfrm>
            <a:off x="7406640" y="5961888"/>
            <a:ext cx="4425696" cy="201168"/>
          </a:xfrm>
          <a:prstGeom prst="rect">
            <a:avLst/>
          </a:prstGeom>
          <a:noFill/>
          <a:ln/>
        </p:spPr>
        <p:txBody>
          <a:bodyPr wrap="square" lIns="0" tIns="0" rIns="0" bIns="0" rtlCol="0" anchor="ctr"/>
          <a:lstStyle/>
          <a:p>
            <a:pPr indent="0" marL="0">
              <a:buNone/>
            </a:pPr>
            <a:r>
              <a:rPr lang="en-US" sz="840" b="1" dirty="0">
                <a:solidFill>
                  <a:srgbClr val="FFFFFF"/>
                </a:solidFill>
                <a:latin typeface="Montserrat" pitchFamily="34" charset="0"/>
                <a:ea typeface="Montserrat" pitchFamily="34" charset="-122"/>
                <a:cs typeface="Montserrat" pitchFamily="34" charset="-120"/>
              </a:rPr>
              <a:t>Energetics</a:t>
            </a:r>
            <a:pPr indent="0" marL="0">
              <a:buNone/>
            </a:pPr>
            <a:r>
              <a:rPr lang="en-US" sz="840" dirty="0">
                <a:solidFill>
                  <a:srgbClr val="C6CBDA"/>
                </a:solidFill>
                <a:latin typeface="Montserrat" pitchFamily="34" charset="0"/>
                <a:ea typeface="Montserrat" pitchFamily="34" charset="-122"/>
                <a:cs typeface="Montserrat" pitchFamily="34" charset="-120"/>
              </a:rPr>
              <a:t>   Revenue is contracted, not forecast</a:t>
            </a:r>
            <a:endParaRPr lang="en-US" sz="840" dirty="0"/>
          </a:p>
        </p:txBody>
      </p:sp>
      <p:sp>
        <p:nvSpPr>
          <p:cNvPr id="95" name="Shape 92"/>
          <p:cNvSpPr/>
          <p:nvPr/>
        </p:nvSpPr>
        <p:spPr>
          <a:xfrm>
            <a:off x="7223760" y="6249924"/>
            <a:ext cx="91440" cy="91440"/>
          </a:xfrm>
          <a:prstGeom prst="rect">
            <a:avLst/>
          </a:prstGeom>
          <a:solidFill>
            <a:srgbClr val="9AA3B2"/>
          </a:solidFill>
          <a:ln/>
        </p:spPr>
      </p:sp>
      <p:sp>
        <p:nvSpPr>
          <p:cNvPr id="96" name="Text 93"/>
          <p:cNvSpPr/>
          <p:nvPr/>
        </p:nvSpPr>
        <p:spPr>
          <a:xfrm>
            <a:off x="7406640" y="6199632"/>
            <a:ext cx="4425696" cy="201168"/>
          </a:xfrm>
          <a:prstGeom prst="rect">
            <a:avLst/>
          </a:prstGeom>
          <a:noFill/>
          <a:ln/>
        </p:spPr>
        <p:txBody>
          <a:bodyPr wrap="square" lIns="0" tIns="0" rIns="0" bIns="0" rtlCol="0" anchor="ctr"/>
          <a:lstStyle/>
          <a:p>
            <a:pPr indent="0" marL="0">
              <a:buNone/>
            </a:pPr>
            <a:r>
              <a:rPr lang="en-US" sz="840" b="1" dirty="0">
                <a:solidFill>
                  <a:srgbClr val="FFFFFF"/>
                </a:solidFill>
                <a:latin typeface="Montserrat" pitchFamily="34" charset="0"/>
                <a:ea typeface="Montserrat" pitchFamily="34" charset="-122"/>
                <a:cs typeface="Montserrat" pitchFamily="34" charset="-120"/>
              </a:rPr>
              <a:t>Missile</a:t>
            </a:r>
            <a:pPr indent="0" marL="0">
              <a:buNone/>
            </a:pPr>
            <a:r>
              <a:rPr lang="en-US" sz="840" dirty="0">
                <a:solidFill>
                  <a:srgbClr val="C6CBDA"/>
                </a:solidFill>
                <a:latin typeface="Montserrat" pitchFamily="34" charset="0"/>
                <a:ea typeface="Montserrat" pitchFamily="34" charset="-122"/>
                <a:cs typeface="Montserrat" pitchFamily="34" charset="-120"/>
              </a:rPr>
              <a:t>   The unit becomes the group’s engine</a:t>
            </a:r>
            <a:endParaRPr lang="en-US" sz="840" dirty="0"/>
          </a:p>
        </p:txBody>
      </p:sp>
      <p:sp>
        <p:nvSpPr>
          <p:cNvPr id="97" name="Text 94"/>
          <p:cNvSpPr/>
          <p:nvPr/>
        </p:nvSpPr>
        <p:spPr>
          <a:xfrm>
            <a:off x="626364" y="6455664"/>
            <a:ext cx="9875520" cy="182880"/>
          </a:xfrm>
          <a:prstGeom prst="rect">
            <a:avLst/>
          </a:prstGeom>
          <a:noFill/>
          <a:ln/>
        </p:spPr>
        <p:txBody>
          <a:bodyPr wrap="square" lIns="0" tIns="0" rIns="0" bIns="0" rtlCol="0" anchor="ctr"/>
          <a:lstStyle/>
          <a:p>
            <a:pPr indent="0" marL="0">
              <a:buNone/>
            </a:pPr>
            <a:r>
              <a:rPr lang="en-US" sz="804" dirty="0">
                <a:solidFill>
                  <a:srgbClr val="D8D8D8"/>
                </a:solidFill>
                <a:latin typeface="Montserrat Light" pitchFamily="34" charset="0"/>
                <a:ea typeface="Montserrat Light" pitchFamily="34" charset="-122"/>
                <a:cs typeface="Montserrat Light" pitchFamily="34" charset="-120"/>
              </a:rPr>
              <a:t>Source: Company — commercial review of backlog and pipeline, 5 Aug 2026 (rev. 2); Company financial model, Base case (FX R$ 5.17/US$).</a:t>
            </a:r>
            <a:endParaRPr lang="en-US" sz="804" dirty="0"/>
          </a:p>
        </p:txBody>
      </p:sp>
      <p:sp>
        <p:nvSpPr>
          <p:cNvPr id="98" name="Text 95"/>
          <p:cNvSpPr/>
          <p:nvPr/>
        </p:nvSpPr>
        <p:spPr>
          <a:xfrm>
            <a:off x="357530" y="6455664"/>
            <a:ext cx="457200" cy="182880"/>
          </a:xfrm>
          <a:prstGeom prst="rect">
            <a:avLst/>
          </a:prstGeom>
          <a:noFill/>
          <a:ln/>
        </p:spPr>
        <p:txBody>
          <a:bodyPr wrap="square" lIns="0" tIns="0" rIns="0" bIns="0" rtlCol="0" anchor="ctr"/>
          <a:lstStyle/>
          <a:p>
            <a:pPr indent="0" marL="0">
              <a:buNone/>
            </a:pPr>
            <a:r>
              <a:rPr lang="en-US" sz="804" dirty="0">
                <a:solidFill>
                  <a:srgbClr val="FFFFFF"/>
                </a:solidFill>
                <a:latin typeface="Montserrat SemiBold" pitchFamily="34" charset="0"/>
                <a:ea typeface="Montserrat SemiBold" pitchFamily="34" charset="-122"/>
                <a:cs typeface="Montserrat SemiBold" pitchFamily="34" charset="-120"/>
              </a:rPr>
              <a:t>50</a:t>
            </a:r>
            <a:endParaRPr lang="en-US" sz="804" dirty="0"/>
          </a:p>
        </p:txBody>
      </p:sp>
      <p:sp>
        <p:nvSpPr>
          <p:cNvPr id="99" name="Shape 96"/>
          <p:cNvSpPr/>
          <p:nvPr/>
        </p:nvSpPr>
        <p:spPr>
          <a:xfrm>
            <a:off x="10931652" y="6469380"/>
            <a:ext cx="932688" cy="196596"/>
          </a:xfrm>
          <a:prstGeom prst="roundRect">
            <a:avLst>
              <a:gd name="adj" fmla="val 18605"/>
            </a:avLst>
          </a:prstGeom>
          <a:ln w="9525">
            <a:solidFill>
              <a:srgbClr val="3C4E86"/>
            </a:solidFill>
            <a:prstDash val="solid"/>
          </a:ln>
        </p:spPr>
      </p:sp>
      <p:sp>
        <p:nvSpPr>
          <p:cNvPr id="100" name="Text 97"/>
          <p:cNvSpPr/>
          <p:nvPr/>
        </p:nvSpPr>
        <p:spPr>
          <a:xfrm>
            <a:off x="10931652" y="6469380"/>
            <a:ext cx="932688" cy="196596"/>
          </a:xfrm>
          <a:prstGeom prst="rect">
            <a:avLst/>
          </a:prstGeom>
          <a:noFill/>
          <a:ln/>
        </p:spPr>
        <p:txBody>
          <a:bodyPr wrap="square" lIns="0" tIns="0" rIns="0" bIns="0" rtlCol="0" anchor="ctr"/>
          <a:lstStyle/>
          <a:p>
            <a:pPr algn="ctr" indent="0" marL="0">
              <a:buNone/>
            </a:pPr>
            <a:r>
              <a:rPr lang="en-US" sz="696" dirty="0">
                <a:solidFill>
                  <a:srgbClr val="9DADFF"/>
                </a:solidFill>
                <a:latin typeface="Montserrat" pitchFamily="34" charset="0"/>
                <a:ea typeface="Montserrat" pitchFamily="34" charset="-122"/>
                <a:cs typeface="Montserrat" pitchFamily="34" charset="-120"/>
              </a:rPr>
              <a:t>Confidential</a:t>
            </a:r>
            <a:endParaRPr lang="en-US" sz="696"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IGC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IGC Partners</dc:creator>
  <cp:lastModifiedBy>IGC Partners</cp:lastModifiedBy>
  <cp:revision>1</cp:revision>
  <dcterms:created xsi:type="dcterms:W3CDTF">2026-09-03T16:46:10Z</dcterms:created>
  <dcterms:modified xsi:type="dcterms:W3CDTF">2026-09-03T16:46:10Z</dcterms:modified>
</cp:coreProperties>
</file>
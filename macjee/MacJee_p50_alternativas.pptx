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2278" y="224028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8" dirty="0">
                <a:solidFill>
                  <a:srgbClr val="BFBF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Mac Jee At a Glance</a:t>
            </a:r>
            <a:endParaRPr lang="en-US" sz="698" dirty="0"/>
          </a:p>
        </p:txBody>
      </p:sp>
      <p:sp>
        <p:nvSpPr>
          <p:cNvPr id="3" name="Text 1"/>
          <p:cNvSpPr/>
          <p:nvPr/>
        </p:nvSpPr>
        <p:spPr>
          <a:xfrm>
            <a:off x="1634947" y="224028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8" dirty="0">
                <a:solidFill>
                  <a:srgbClr val="BFBF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Mac Jee Investment Thesis</a:t>
            </a:r>
            <a:endParaRPr lang="en-US" sz="698" dirty="0"/>
          </a:p>
        </p:txBody>
      </p:sp>
      <p:sp>
        <p:nvSpPr>
          <p:cNvPr id="4" name="Text 2"/>
          <p:cNvSpPr/>
          <p:nvPr/>
        </p:nvSpPr>
        <p:spPr>
          <a:xfrm>
            <a:off x="3165653" y="224028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8" dirty="0">
                <a:solidFill>
                  <a:srgbClr val="BFBF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Business Units and Portfolio</a:t>
            </a:r>
            <a:endParaRPr lang="en-US" sz="698" dirty="0"/>
          </a:p>
        </p:txBody>
      </p:sp>
      <p:sp>
        <p:nvSpPr>
          <p:cNvPr id="5" name="Text 3"/>
          <p:cNvSpPr/>
          <p:nvPr/>
        </p:nvSpPr>
        <p:spPr>
          <a:xfrm>
            <a:off x="4749394" y="224028"/>
            <a:ext cx="694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8" dirty="0">
                <a:solidFill>
                  <a:srgbClr val="00178D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Financials</a:t>
            </a:r>
            <a:endParaRPr lang="en-US" sz="698" dirty="0"/>
          </a:p>
        </p:txBody>
      </p:sp>
      <p:sp>
        <p:nvSpPr>
          <p:cNvPr id="6" name="Shape 4"/>
          <p:cNvSpPr/>
          <p:nvPr/>
        </p:nvSpPr>
        <p:spPr>
          <a:xfrm>
            <a:off x="4749394" y="442570"/>
            <a:ext cx="420624" cy="9144"/>
          </a:xfrm>
          <a:prstGeom prst="rect">
            <a:avLst/>
          </a:prstGeom>
          <a:solidFill>
            <a:srgbClr val="27B0FF"/>
          </a:solidFill>
          <a:ln/>
        </p:spPr>
      </p:sp>
      <p:sp>
        <p:nvSpPr>
          <p:cNvPr id="7" name="Shape 5"/>
          <p:cNvSpPr/>
          <p:nvPr/>
        </p:nvSpPr>
        <p:spPr>
          <a:xfrm>
            <a:off x="4723790" y="418795"/>
            <a:ext cx="51206" cy="51206"/>
          </a:xfrm>
          <a:prstGeom prst="diamond">
            <a:avLst/>
          </a:prstGeom>
          <a:solidFill>
            <a:srgbClr val="27B0FF"/>
          </a:solidFill>
          <a:ln/>
        </p:spPr>
      </p:sp>
      <p:sp>
        <p:nvSpPr>
          <p:cNvPr id="8" name="Shape 6"/>
          <p:cNvSpPr/>
          <p:nvPr/>
        </p:nvSpPr>
        <p:spPr>
          <a:xfrm>
            <a:off x="5144414" y="418795"/>
            <a:ext cx="51206" cy="51206"/>
          </a:xfrm>
          <a:prstGeom prst="diamond">
            <a:avLst/>
          </a:prstGeom>
          <a:solidFill>
            <a:srgbClr val="27B0FF"/>
          </a:solidFill>
          <a:ln/>
        </p:spPr>
      </p:sp>
      <p:pic>
        <p:nvPicPr>
          <p:cNvPr id="9" name="Image 0" descr="assets/macjee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74222" y="343814"/>
            <a:ext cx="481889" cy="48188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92278" y="731520"/>
            <a:ext cx="112964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9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US$ 4.6 bn of identified opportunity by business unit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342900" y="1110996"/>
            <a:ext cx="112964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3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49 valued programmes across 21 countries — every block below is sized by the value it carries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57530" y="1426464"/>
            <a:ext cx="11476634" cy="3090672"/>
          </a:xfrm>
          <a:custGeom>
            <a:avLst/>
            <a:gdLst/>
            <a:ahLst/>
            <a:cxnLst/>
            <a:rect l="l" t="t" r="r" b="b"/>
            <a:pathLst>
              <a:path w="11476634" h="3090672">
                <a:moveTo>
                  <a:pt x="0" y="0"/>
                </a:moveTo>
                <a:lnTo>
                  <a:pt x="11158423" y="0"/>
                </a:lnTo>
                <a:lnTo>
                  <a:pt x="11476634" y="318211"/>
                </a:lnTo>
                <a:lnTo>
                  <a:pt x="11476634" y="3090672"/>
                </a:lnTo>
                <a:lnTo>
                  <a:pt x="318211" y="3090672"/>
                </a:lnTo>
                <a:lnTo>
                  <a:pt x="0" y="2772461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0800" dist="19050" dir="5400000">
              <a:srgbClr val="000000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76072" y="1645920"/>
            <a:ext cx="11036808" cy="475488"/>
          </a:xfrm>
          <a:custGeom>
            <a:avLst/>
            <a:gdLst/>
            <a:ahLst/>
            <a:cxnLst/>
            <a:rect l="l" t="t" r="r" b="b"/>
            <a:pathLst>
              <a:path w="11036808" h="475488">
                <a:moveTo>
                  <a:pt x="0" y="0"/>
                </a:moveTo>
                <a:lnTo>
                  <a:pt x="10908792" y="0"/>
                </a:lnTo>
                <a:lnTo>
                  <a:pt x="11036808" y="128016"/>
                </a:lnTo>
                <a:lnTo>
                  <a:pt x="11036808" y="475488"/>
                </a:lnTo>
                <a:lnTo>
                  <a:pt x="128016" y="475488"/>
                </a:lnTo>
                <a:lnTo>
                  <a:pt x="0" y="347472"/>
                </a:lnTo>
                <a:close/>
              </a:path>
            </a:pathLst>
          </a:custGeom>
          <a:solidFill>
            <a:srgbClr val="00092B"/>
          </a:solidFill>
          <a:ln/>
        </p:spPr>
      </p:sp>
      <p:sp>
        <p:nvSpPr>
          <p:cNvPr id="14" name="Text 11"/>
          <p:cNvSpPr/>
          <p:nvPr/>
        </p:nvSpPr>
        <p:spPr>
          <a:xfrm>
            <a:off x="813816" y="1645920"/>
            <a:ext cx="6766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spc="140" kern="0" dirty="0">
                <a:solidFill>
                  <a:srgbClr val="95A8F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GROUP TOTAL     </a:t>
            </a:r>
            <a:pPr indent="0" marL="0">
              <a:buNone/>
            </a:pPr>
            <a:r>
              <a:rPr lang="en-US" sz="1100" dirty="0">
                <a:solidFill>
                  <a:srgbClr val="C6CB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US$ 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4.6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bn</a:t>
            </a:r>
            <a:pPr indent="0" marL="0">
              <a:buNone/>
            </a:pPr>
            <a:r>
              <a:rPr lang="en-US" sz="900" dirty="0">
                <a:solidFill>
                  <a:srgbClr val="C6CB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 identified commercial opportunity</a:t>
            </a:r>
            <a:endParaRPr lang="en-US" sz="760" dirty="0"/>
          </a:p>
        </p:txBody>
      </p:sp>
      <p:sp>
        <p:nvSpPr>
          <p:cNvPr id="15" name="Text 12"/>
          <p:cNvSpPr/>
          <p:nvPr/>
        </p:nvSpPr>
        <p:spPr>
          <a:xfrm>
            <a:off x="7708392" y="1645920"/>
            <a:ext cx="3666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US$ 4.1 bn</a:t>
            </a:r>
            <a:pPr algn="r" indent="0" marL="0">
              <a:buNone/>
            </a:pPr>
            <a:r>
              <a:rPr lang="en-US" sz="900" dirty="0">
                <a:solidFill>
                  <a:srgbClr val="C6CB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converted in the 2026–32 plan     </a:t>
            </a:r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1.1x</a:t>
            </a:r>
            <a:pPr algn="r" indent="0" marL="0">
              <a:buNone/>
            </a:pPr>
            <a:r>
              <a:rPr lang="en-US" sz="900" dirty="0">
                <a:solidFill>
                  <a:srgbClr val="C6CB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coverage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76072" y="2286000"/>
            <a:ext cx="3754961" cy="2011680"/>
          </a:xfrm>
          <a:prstGeom prst="rect">
            <a:avLst/>
          </a:prstGeom>
          <a:solidFill>
            <a:srgbClr val="F1F8E6"/>
          </a:solidFill>
          <a:ln/>
        </p:spPr>
      </p:sp>
      <p:sp>
        <p:nvSpPr>
          <p:cNvPr id="17" name="Shape 14"/>
          <p:cNvSpPr/>
          <p:nvPr/>
        </p:nvSpPr>
        <p:spPr>
          <a:xfrm>
            <a:off x="576072" y="2286000"/>
            <a:ext cx="3754961" cy="1060704"/>
          </a:xfrm>
          <a:prstGeom prst="rect">
            <a:avLst/>
          </a:prstGeom>
          <a:solidFill>
            <a:srgbClr val="6FA82F"/>
          </a:solidFill>
          <a:ln/>
        </p:spPr>
      </p:sp>
      <p:sp>
        <p:nvSpPr>
          <p:cNvPr id="18" name="Text 15"/>
          <p:cNvSpPr/>
          <p:nvPr/>
        </p:nvSpPr>
        <p:spPr>
          <a:xfrm>
            <a:off x="777240" y="2414016"/>
            <a:ext cx="335262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Munitions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777240" y="2651760"/>
            <a:ext cx="33526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Aerial bombs, artillery, rockets and fuzes</a:t>
            </a:r>
            <a:endParaRPr lang="en-US" sz="760" dirty="0"/>
          </a:p>
        </p:txBody>
      </p:sp>
      <p:sp>
        <p:nvSpPr>
          <p:cNvPr id="20" name="Text 17"/>
          <p:cNvSpPr/>
          <p:nvPr/>
        </p:nvSpPr>
        <p:spPr>
          <a:xfrm>
            <a:off x="777240" y="2852928"/>
            <a:ext cx="335262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US$ </a:t>
            </a:r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1.6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bn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 35%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77240" y="3456432"/>
            <a:ext cx="335262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3C46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 programmes · 12 countries</a:t>
            </a:r>
            <a:endParaRPr lang="en-US" sz="780" dirty="0"/>
          </a:p>
        </p:txBody>
      </p:sp>
      <p:sp>
        <p:nvSpPr>
          <p:cNvPr id="22" name="Text 19"/>
          <p:cNvSpPr/>
          <p:nvPr/>
        </p:nvSpPr>
        <p:spPr>
          <a:xfrm>
            <a:off x="777240" y="3675888"/>
            <a:ext cx="335262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3C46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Largest: US$ 250 mm — 155 mm ERFBBB, Bulgaria</a:t>
            </a:r>
            <a:endParaRPr lang="en-US" sz="780" dirty="0"/>
          </a:p>
        </p:txBody>
      </p:sp>
      <p:sp>
        <p:nvSpPr>
          <p:cNvPr id="23" name="Text 20"/>
          <p:cNvSpPr/>
          <p:nvPr/>
        </p:nvSpPr>
        <p:spPr>
          <a:xfrm>
            <a:off x="777240" y="3895344"/>
            <a:ext cx="335262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3C46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Already in serial production</a:t>
            </a:r>
            <a:endParaRPr lang="en-US" sz="780" dirty="0"/>
          </a:p>
        </p:txBody>
      </p:sp>
      <p:sp>
        <p:nvSpPr>
          <p:cNvPr id="24" name="Text 21"/>
          <p:cNvSpPr/>
          <p:nvPr/>
        </p:nvSpPr>
        <p:spPr>
          <a:xfrm>
            <a:off x="777240" y="4059936"/>
            <a:ext cx="335262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FA8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US$ 1.55 bn in the plan  ·  104% covered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477337" y="2286000"/>
            <a:ext cx="2660261" cy="2011680"/>
          </a:xfrm>
          <a:prstGeom prst="rect">
            <a:avLst/>
          </a:prstGeom>
          <a:solidFill>
            <a:srgbClr val="FFF7E3"/>
          </a:solidFill>
          <a:ln/>
        </p:spPr>
      </p:sp>
      <p:sp>
        <p:nvSpPr>
          <p:cNvPr id="26" name="Shape 23"/>
          <p:cNvSpPr/>
          <p:nvPr/>
        </p:nvSpPr>
        <p:spPr>
          <a:xfrm>
            <a:off x="4477337" y="2286000"/>
            <a:ext cx="2660261" cy="1060704"/>
          </a:xfrm>
          <a:prstGeom prst="rect">
            <a:avLst/>
          </a:prstGeom>
          <a:solidFill>
            <a:srgbClr val="C79000"/>
          </a:solidFill>
          <a:ln/>
        </p:spPr>
      </p:sp>
      <p:sp>
        <p:nvSpPr>
          <p:cNvPr id="27" name="Text 24"/>
          <p:cNvSpPr/>
          <p:nvPr/>
        </p:nvSpPr>
        <p:spPr>
          <a:xfrm>
            <a:off x="4678505" y="2414016"/>
            <a:ext cx="225792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Energetics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4678505" y="2651760"/>
            <a:ext cx="22579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Turnkey TNT, RDX and HMX production lines</a:t>
            </a:r>
            <a:endParaRPr lang="en-US" sz="760" dirty="0"/>
          </a:p>
        </p:txBody>
      </p:sp>
      <p:sp>
        <p:nvSpPr>
          <p:cNvPr id="29" name="Text 26"/>
          <p:cNvSpPr/>
          <p:nvPr/>
        </p:nvSpPr>
        <p:spPr>
          <a:xfrm>
            <a:off x="4678505" y="2852928"/>
            <a:ext cx="225792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US$ </a:t>
            </a:r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1.1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bn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 25%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4678505" y="3456432"/>
            <a:ext cx="225792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3C46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 programmes · 11 countries</a:t>
            </a:r>
            <a:endParaRPr lang="en-US" sz="780" dirty="0"/>
          </a:p>
        </p:txBody>
      </p:sp>
      <p:sp>
        <p:nvSpPr>
          <p:cNvPr id="31" name="Text 28"/>
          <p:cNvSpPr/>
          <p:nvPr/>
        </p:nvSpPr>
        <p:spPr>
          <a:xfrm>
            <a:off x="4678505" y="3675888"/>
            <a:ext cx="225792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3C46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Largest: US$ 200 mm — TNT line, Canada</a:t>
            </a:r>
            <a:endParaRPr lang="en-US" sz="780" dirty="0"/>
          </a:p>
        </p:txBody>
      </p:sp>
      <p:sp>
        <p:nvSpPr>
          <p:cNvPr id="32" name="Text 29"/>
          <p:cNvSpPr/>
          <p:nvPr/>
        </p:nvSpPr>
        <p:spPr>
          <a:xfrm>
            <a:off x="4678505" y="3895344"/>
            <a:ext cx="225792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3C46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Plants licensed and operating</a:t>
            </a:r>
            <a:endParaRPr lang="en-US" sz="780" dirty="0"/>
          </a:p>
        </p:txBody>
      </p:sp>
      <p:sp>
        <p:nvSpPr>
          <p:cNvPr id="33" name="Text 30"/>
          <p:cNvSpPr/>
          <p:nvPr/>
        </p:nvSpPr>
        <p:spPr>
          <a:xfrm>
            <a:off x="4678505" y="4059936"/>
            <a:ext cx="225792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79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US$ 0.61 bn in the plan  ·  188% covered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7283903" y="2286000"/>
            <a:ext cx="4328977" cy="201168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35" name="Shape 32"/>
          <p:cNvSpPr/>
          <p:nvPr/>
        </p:nvSpPr>
        <p:spPr>
          <a:xfrm>
            <a:off x="7283903" y="2286000"/>
            <a:ext cx="4328977" cy="1060704"/>
          </a:xfrm>
          <a:prstGeom prst="rect">
            <a:avLst/>
          </a:prstGeom>
          <a:solidFill>
            <a:srgbClr val="4A5261"/>
          </a:solidFill>
          <a:ln/>
        </p:spPr>
      </p:sp>
      <p:sp>
        <p:nvSpPr>
          <p:cNvPr id="36" name="Text 33"/>
          <p:cNvSpPr/>
          <p:nvPr/>
        </p:nvSpPr>
        <p:spPr>
          <a:xfrm>
            <a:off x="7485071" y="2414016"/>
            <a:ext cx="392664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Missile</a:t>
            </a:r>
            <a:endParaRPr lang="en-US" sz="1500" dirty="0"/>
          </a:p>
        </p:txBody>
      </p:sp>
      <p:sp>
        <p:nvSpPr>
          <p:cNvPr id="37" name="Text 34"/>
          <p:cNvSpPr/>
          <p:nvPr/>
        </p:nvSpPr>
        <p:spPr>
          <a:xfrm>
            <a:off x="7485071" y="2651760"/>
            <a:ext cx="392664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Cruise missiles, air defence and rocket motors</a:t>
            </a:r>
            <a:endParaRPr lang="en-US" sz="760" dirty="0"/>
          </a:p>
        </p:txBody>
      </p:sp>
      <p:sp>
        <p:nvSpPr>
          <p:cNvPr id="38" name="Text 35"/>
          <p:cNvSpPr/>
          <p:nvPr/>
        </p:nvSpPr>
        <p:spPr>
          <a:xfrm>
            <a:off x="7485071" y="2852928"/>
            <a:ext cx="392664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US$ </a:t>
            </a:r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1.9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bn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 40%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7485071" y="3456432"/>
            <a:ext cx="392664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3C46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programmes · 6 countries</a:t>
            </a:r>
            <a:endParaRPr lang="en-US" sz="780" dirty="0"/>
          </a:p>
        </p:txBody>
      </p:sp>
      <p:sp>
        <p:nvSpPr>
          <p:cNvPr id="40" name="Text 37"/>
          <p:cNvSpPr/>
          <p:nvPr/>
        </p:nvSpPr>
        <p:spPr>
          <a:xfrm>
            <a:off x="7485071" y="3675888"/>
            <a:ext cx="392664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3C46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Largest: US$ 1,000 mm — confidential, Saudi Arabia</a:t>
            </a:r>
            <a:endParaRPr lang="en-US" sz="780" dirty="0"/>
          </a:p>
        </p:txBody>
      </p:sp>
      <p:sp>
        <p:nvSpPr>
          <p:cNvPr id="41" name="Text 38"/>
          <p:cNvSpPr/>
          <p:nvPr/>
        </p:nvSpPr>
        <p:spPr>
          <a:xfrm>
            <a:off x="7485071" y="3895344"/>
            <a:ext cx="392664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3C46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European and Gulf primes engaged</a:t>
            </a:r>
            <a:endParaRPr lang="en-US" sz="780" dirty="0"/>
          </a:p>
        </p:txBody>
      </p:sp>
      <p:sp>
        <p:nvSpPr>
          <p:cNvPr id="42" name="Text 39"/>
          <p:cNvSpPr/>
          <p:nvPr/>
        </p:nvSpPr>
        <p:spPr>
          <a:xfrm>
            <a:off x="7485071" y="4059936"/>
            <a:ext cx="392664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A526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US$ 1.93 bn in the plan  ·  96% covered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576072" y="466344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8C93A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Identified opportunity is the total contract value of every signed contract and open commercial opportunity in the Company’s commercial review, at face value and unweighted; a further six identified programmes carry no value yet and are excluded. Coverage compares it with cumulative gross revenue in the 2026–32 plan.</a:t>
            </a:r>
            <a:endParaRPr lang="en-US" sz="660" dirty="0"/>
          </a:p>
        </p:txBody>
      </p:sp>
      <p:sp>
        <p:nvSpPr>
          <p:cNvPr id="44" name="Shape 41"/>
          <p:cNvSpPr/>
          <p:nvPr/>
        </p:nvSpPr>
        <p:spPr>
          <a:xfrm>
            <a:off x="0" y="5159959"/>
            <a:ext cx="12191695" cy="1698041"/>
          </a:xfrm>
          <a:prstGeom prst="rect">
            <a:avLst/>
          </a:prstGeom>
          <a:solidFill>
            <a:srgbClr val="00092B"/>
          </a:solidFill>
          <a:ln/>
        </p:spPr>
      </p:sp>
      <p:sp>
        <p:nvSpPr>
          <p:cNvPr id="45" name="Shape 42"/>
          <p:cNvSpPr/>
          <p:nvPr/>
        </p:nvSpPr>
        <p:spPr>
          <a:xfrm>
            <a:off x="70409" y="5159959"/>
            <a:ext cx="27432" cy="1698041"/>
          </a:xfrm>
          <a:prstGeom prst="rect">
            <a:avLst/>
          </a:prstGeom>
          <a:solidFill>
            <a:srgbClr val="1C2441"/>
          </a:solidFill>
          <a:ln/>
        </p:spPr>
      </p:sp>
      <p:sp>
        <p:nvSpPr>
          <p:cNvPr id="46" name="Shape 43"/>
          <p:cNvSpPr/>
          <p:nvPr/>
        </p:nvSpPr>
        <p:spPr>
          <a:xfrm>
            <a:off x="1520647" y="5159959"/>
            <a:ext cx="27432" cy="1698041"/>
          </a:xfrm>
          <a:prstGeom prst="rect">
            <a:avLst/>
          </a:prstGeom>
          <a:solidFill>
            <a:srgbClr val="1C2441"/>
          </a:solidFill>
          <a:ln/>
        </p:spPr>
      </p:sp>
      <p:sp>
        <p:nvSpPr>
          <p:cNvPr id="47" name="Shape 44"/>
          <p:cNvSpPr/>
          <p:nvPr/>
        </p:nvSpPr>
        <p:spPr>
          <a:xfrm>
            <a:off x="2970886" y="5159959"/>
            <a:ext cx="27432" cy="1698041"/>
          </a:xfrm>
          <a:prstGeom prst="rect">
            <a:avLst/>
          </a:prstGeom>
          <a:solidFill>
            <a:srgbClr val="1C2441"/>
          </a:solidFill>
          <a:ln/>
        </p:spPr>
      </p:sp>
      <p:sp>
        <p:nvSpPr>
          <p:cNvPr id="48" name="Shape 45"/>
          <p:cNvSpPr/>
          <p:nvPr/>
        </p:nvSpPr>
        <p:spPr>
          <a:xfrm>
            <a:off x="4421124" y="5159959"/>
            <a:ext cx="27432" cy="1698041"/>
          </a:xfrm>
          <a:prstGeom prst="rect">
            <a:avLst/>
          </a:prstGeom>
          <a:solidFill>
            <a:srgbClr val="1C2441"/>
          </a:solidFill>
          <a:ln/>
        </p:spPr>
      </p:sp>
      <p:sp>
        <p:nvSpPr>
          <p:cNvPr id="49" name="Shape 46"/>
          <p:cNvSpPr/>
          <p:nvPr/>
        </p:nvSpPr>
        <p:spPr>
          <a:xfrm>
            <a:off x="5871362" y="5159959"/>
            <a:ext cx="27432" cy="1698041"/>
          </a:xfrm>
          <a:prstGeom prst="rect">
            <a:avLst/>
          </a:prstGeom>
          <a:solidFill>
            <a:srgbClr val="1C2441"/>
          </a:solidFill>
          <a:ln/>
        </p:spPr>
      </p:sp>
      <p:sp>
        <p:nvSpPr>
          <p:cNvPr id="50" name="Shape 47"/>
          <p:cNvSpPr/>
          <p:nvPr/>
        </p:nvSpPr>
        <p:spPr>
          <a:xfrm>
            <a:off x="7321601" y="5159959"/>
            <a:ext cx="27432" cy="1698041"/>
          </a:xfrm>
          <a:prstGeom prst="rect">
            <a:avLst/>
          </a:prstGeom>
          <a:solidFill>
            <a:srgbClr val="1C2441"/>
          </a:solidFill>
          <a:ln/>
        </p:spPr>
      </p:sp>
      <p:sp>
        <p:nvSpPr>
          <p:cNvPr id="51" name="Shape 48"/>
          <p:cNvSpPr/>
          <p:nvPr/>
        </p:nvSpPr>
        <p:spPr>
          <a:xfrm>
            <a:off x="8771839" y="5159959"/>
            <a:ext cx="27432" cy="1698041"/>
          </a:xfrm>
          <a:prstGeom prst="rect">
            <a:avLst/>
          </a:prstGeom>
          <a:solidFill>
            <a:srgbClr val="1C2441"/>
          </a:solidFill>
          <a:ln/>
        </p:spPr>
      </p:sp>
      <p:sp>
        <p:nvSpPr>
          <p:cNvPr id="52" name="Shape 49"/>
          <p:cNvSpPr/>
          <p:nvPr/>
        </p:nvSpPr>
        <p:spPr>
          <a:xfrm>
            <a:off x="10222078" y="5159959"/>
            <a:ext cx="27432" cy="1698041"/>
          </a:xfrm>
          <a:prstGeom prst="rect">
            <a:avLst/>
          </a:prstGeom>
          <a:solidFill>
            <a:srgbClr val="1C2441"/>
          </a:solidFill>
          <a:ln/>
        </p:spPr>
      </p:sp>
      <p:sp>
        <p:nvSpPr>
          <p:cNvPr id="53" name="Shape 50"/>
          <p:cNvSpPr/>
          <p:nvPr/>
        </p:nvSpPr>
        <p:spPr>
          <a:xfrm>
            <a:off x="11672316" y="5159959"/>
            <a:ext cx="27432" cy="1698041"/>
          </a:xfrm>
          <a:prstGeom prst="rect">
            <a:avLst/>
          </a:prstGeom>
          <a:solidFill>
            <a:srgbClr val="1C2441"/>
          </a:solidFill>
          <a:ln/>
        </p:spPr>
      </p:sp>
      <p:sp>
        <p:nvSpPr>
          <p:cNvPr id="54" name="Text 51"/>
          <p:cNvSpPr/>
          <p:nvPr/>
        </p:nvSpPr>
        <p:spPr>
          <a:xfrm>
            <a:off x="548640" y="5394960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The three pages that follow take each unit in turn</a:t>
            </a:r>
            <a:endParaRPr lang="en-US" sz="1000" dirty="0"/>
          </a:p>
        </p:txBody>
      </p:sp>
      <p:sp>
        <p:nvSpPr>
          <p:cNvPr id="55" name="Shape 52"/>
          <p:cNvSpPr/>
          <p:nvPr/>
        </p:nvSpPr>
        <p:spPr>
          <a:xfrm>
            <a:off x="548640" y="5632704"/>
            <a:ext cx="11283696" cy="9144"/>
          </a:xfrm>
          <a:prstGeom prst="rect">
            <a:avLst/>
          </a:prstGeom>
          <a:solidFill>
            <a:srgbClr val="3C4E86"/>
          </a:solidFill>
          <a:ln/>
        </p:spPr>
      </p:sp>
      <p:sp>
        <p:nvSpPr>
          <p:cNvPr id="56" name="Shape 53"/>
          <p:cNvSpPr/>
          <p:nvPr/>
        </p:nvSpPr>
        <p:spPr>
          <a:xfrm>
            <a:off x="548640" y="5797296"/>
            <a:ext cx="54864" cy="475488"/>
          </a:xfrm>
          <a:prstGeom prst="rect">
            <a:avLst/>
          </a:prstGeom>
          <a:solidFill>
            <a:srgbClr val="92D050"/>
          </a:solidFill>
          <a:ln/>
        </p:spPr>
      </p:sp>
      <p:sp>
        <p:nvSpPr>
          <p:cNvPr id="57" name="Text 54"/>
          <p:cNvSpPr/>
          <p:nvPr/>
        </p:nvSpPr>
        <p:spPr>
          <a:xfrm>
            <a:off x="731520" y="577900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Munitions</a:t>
            </a:r>
            <a:endParaRPr lang="en-US" sz="1000" dirty="0"/>
          </a:p>
        </p:txBody>
      </p:sp>
      <p:sp>
        <p:nvSpPr>
          <p:cNvPr id="58" name="Text 55"/>
          <p:cNvSpPr/>
          <p:nvPr/>
        </p:nvSpPr>
        <p:spPr>
          <a:xfrm>
            <a:off x="731520" y="601675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C6CB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Capacity is already built</a:t>
            </a:r>
            <a:endParaRPr lang="en-US" sz="860" dirty="0"/>
          </a:p>
        </p:txBody>
      </p:sp>
      <p:sp>
        <p:nvSpPr>
          <p:cNvPr id="59" name="Shape 56"/>
          <p:cNvSpPr/>
          <p:nvPr/>
        </p:nvSpPr>
        <p:spPr>
          <a:xfrm>
            <a:off x="4315968" y="5797296"/>
            <a:ext cx="54864" cy="475488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60" name="Text 57"/>
          <p:cNvSpPr/>
          <p:nvPr/>
        </p:nvSpPr>
        <p:spPr>
          <a:xfrm>
            <a:off x="4498848" y="577900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Energetics</a:t>
            </a:r>
            <a:endParaRPr lang="en-US" sz="1000" dirty="0"/>
          </a:p>
        </p:txBody>
      </p:sp>
      <p:sp>
        <p:nvSpPr>
          <p:cNvPr id="61" name="Text 58"/>
          <p:cNvSpPr/>
          <p:nvPr/>
        </p:nvSpPr>
        <p:spPr>
          <a:xfrm>
            <a:off x="4498848" y="601675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C6CB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Revenue is contracted, not forecast</a:t>
            </a:r>
            <a:endParaRPr lang="en-US" sz="860" dirty="0"/>
          </a:p>
        </p:txBody>
      </p:sp>
      <p:sp>
        <p:nvSpPr>
          <p:cNvPr id="62" name="Shape 59"/>
          <p:cNvSpPr/>
          <p:nvPr/>
        </p:nvSpPr>
        <p:spPr>
          <a:xfrm>
            <a:off x="8083296" y="5797296"/>
            <a:ext cx="54864" cy="475488"/>
          </a:xfrm>
          <a:prstGeom prst="rect">
            <a:avLst/>
          </a:prstGeom>
          <a:solidFill>
            <a:srgbClr val="9AA3B2"/>
          </a:solidFill>
          <a:ln/>
        </p:spPr>
      </p:sp>
      <p:sp>
        <p:nvSpPr>
          <p:cNvPr id="63" name="Text 60"/>
          <p:cNvSpPr/>
          <p:nvPr/>
        </p:nvSpPr>
        <p:spPr>
          <a:xfrm>
            <a:off x="8266176" y="577900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Missile</a:t>
            </a:r>
            <a:endParaRPr lang="en-US" sz="1000" dirty="0"/>
          </a:p>
        </p:txBody>
      </p:sp>
      <p:sp>
        <p:nvSpPr>
          <p:cNvPr id="64" name="Text 61"/>
          <p:cNvSpPr/>
          <p:nvPr/>
        </p:nvSpPr>
        <p:spPr>
          <a:xfrm>
            <a:off x="8266176" y="601675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C6CB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unit becomes the group’s engine</a:t>
            </a:r>
            <a:endParaRPr lang="en-US" sz="860" dirty="0"/>
          </a:p>
        </p:txBody>
      </p:sp>
      <p:sp>
        <p:nvSpPr>
          <p:cNvPr id="65" name="Text 62"/>
          <p:cNvSpPr/>
          <p:nvPr/>
        </p:nvSpPr>
        <p:spPr>
          <a:xfrm>
            <a:off x="626364" y="645566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4" dirty="0">
                <a:solidFill>
                  <a:srgbClr val="D8D8D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Source: Company — commercial review of backlog and pipeline, 5 Aug 2026 (rev. 2); Company financial model, Base case (FX R$ 5.17/US$).</a:t>
            </a:r>
            <a:endParaRPr lang="en-US" sz="804" dirty="0"/>
          </a:p>
        </p:txBody>
      </p:sp>
      <p:sp>
        <p:nvSpPr>
          <p:cNvPr id="66" name="Text 63"/>
          <p:cNvSpPr/>
          <p:nvPr/>
        </p:nvSpPr>
        <p:spPr>
          <a:xfrm>
            <a:off x="357530" y="64556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4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50</a:t>
            </a:r>
            <a:endParaRPr lang="en-US" sz="804" dirty="0"/>
          </a:p>
        </p:txBody>
      </p:sp>
      <p:sp>
        <p:nvSpPr>
          <p:cNvPr id="67" name="Shape 64"/>
          <p:cNvSpPr/>
          <p:nvPr/>
        </p:nvSpPr>
        <p:spPr>
          <a:xfrm>
            <a:off x="10931652" y="6469380"/>
            <a:ext cx="932688" cy="196596"/>
          </a:xfrm>
          <a:prstGeom prst="roundRect">
            <a:avLst>
              <a:gd name="adj" fmla="val 18605"/>
            </a:avLst>
          </a:prstGeom>
          <a:ln w="9525">
            <a:solidFill>
              <a:srgbClr val="3C4E86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10931652" y="6469380"/>
            <a:ext cx="932688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96" dirty="0">
                <a:solidFill>
                  <a:srgbClr val="9DAD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Confidential</a:t>
            </a:r>
            <a:endParaRPr lang="en-US" sz="696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2278" y="224028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8" dirty="0">
                <a:solidFill>
                  <a:srgbClr val="BFBF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Mac Jee At a Glance</a:t>
            </a:r>
            <a:endParaRPr lang="en-US" sz="698" dirty="0"/>
          </a:p>
        </p:txBody>
      </p:sp>
      <p:sp>
        <p:nvSpPr>
          <p:cNvPr id="3" name="Text 1"/>
          <p:cNvSpPr/>
          <p:nvPr/>
        </p:nvSpPr>
        <p:spPr>
          <a:xfrm>
            <a:off x="1634947" y="224028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8" dirty="0">
                <a:solidFill>
                  <a:srgbClr val="BFBF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Mac Jee Investment Thesis</a:t>
            </a:r>
            <a:endParaRPr lang="en-US" sz="698" dirty="0"/>
          </a:p>
        </p:txBody>
      </p:sp>
      <p:sp>
        <p:nvSpPr>
          <p:cNvPr id="4" name="Text 2"/>
          <p:cNvSpPr/>
          <p:nvPr/>
        </p:nvSpPr>
        <p:spPr>
          <a:xfrm>
            <a:off x="3165653" y="224028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8" dirty="0">
                <a:solidFill>
                  <a:srgbClr val="BFBF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Business Units and Portfolio</a:t>
            </a:r>
            <a:endParaRPr lang="en-US" sz="698" dirty="0"/>
          </a:p>
        </p:txBody>
      </p:sp>
      <p:sp>
        <p:nvSpPr>
          <p:cNvPr id="5" name="Text 3"/>
          <p:cNvSpPr/>
          <p:nvPr/>
        </p:nvSpPr>
        <p:spPr>
          <a:xfrm>
            <a:off x="4749394" y="224028"/>
            <a:ext cx="694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8" dirty="0">
                <a:solidFill>
                  <a:srgbClr val="00178D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Financials</a:t>
            </a:r>
            <a:endParaRPr lang="en-US" sz="698" dirty="0"/>
          </a:p>
        </p:txBody>
      </p:sp>
      <p:sp>
        <p:nvSpPr>
          <p:cNvPr id="6" name="Shape 4"/>
          <p:cNvSpPr/>
          <p:nvPr/>
        </p:nvSpPr>
        <p:spPr>
          <a:xfrm>
            <a:off x="4749394" y="442570"/>
            <a:ext cx="420624" cy="9144"/>
          </a:xfrm>
          <a:prstGeom prst="rect">
            <a:avLst/>
          </a:prstGeom>
          <a:solidFill>
            <a:srgbClr val="27B0FF"/>
          </a:solidFill>
          <a:ln/>
        </p:spPr>
      </p:sp>
      <p:sp>
        <p:nvSpPr>
          <p:cNvPr id="7" name="Shape 5"/>
          <p:cNvSpPr/>
          <p:nvPr/>
        </p:nvSpPr>
        <p:spPr>
          <a:xfrm>
            <a:off x="4723790" y="418795"/>
            <a:ext cx="51206" cy="51206"/>
          </a:xfrm>
          <a:prstGeom prst="diamond">
            <a:avLst/>
          </a:prstGeom>
          <a:solidFill>
            <a:srgbClr val="27B0FF"/>
          </a:solidFill>
          <a:ln/>
        </p:spPr>
      </p:sp>
      <p:sp>
        <p:nvSpPr>
          <p:cNvPr id="8" name="Shape 6"/>
          <p:cNvSpPr/>
          <p:nvPr/>
        </p:nvSpPr>
        <p:spPr>
          <a:xfrm>
            <a:off x="5144414" y="418795"/>
            <a:ext cx="51206" cy="51206"/>
          </a:xfrm>
          <a:prstGeom prst="diamond">
            <a:avLst/>
          </a:prstGeom>
          <a:solidFill>
            <a:srgbClr val="27B0FF"/>
          </a:solidFill>
          <a:ln/>
        </p:spPr>
      </p:sp>
      <p:pic>
        <p:nvPicPr>
          <p:cNvPr id="9" name="Image 0" descr="assets/macjee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74222" y="343814"/>
            <a:ext cx="481889" cy="48188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92278" y="731520"/>
            <a:ext cx="112964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9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plan is smaller than what is already on the table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342900" y="1110996"/>
            <a:ext cx="112964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3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US$ 4.6 bn of identified opportunity against US$ 4.1 bn of revenue in the 2026–32 plan — 1.1x coverage, unit by unit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57530" y="1426464"/>
            <a:ext cx="11476634" cy="3090672"/>
          </a:xfrm>
          <a:custGeom>
            <a:avLst/>
            <a:gdLst/>
            <a:ahLst/>
            <a:cxnLst/>
            <a:rect l="l" t="t" r="r" b="b"/>
            <a:pathLst>
              <a:path w="11476634" h="3090672">
                <a:moveTo>
                  <a:pt x="0" y="0"/>
                </a:moveTo>
                <a:lnTo>
                  <a:pt x="11158423" y="0"/>
                </a:lnTo>
                <a:lnTo>
                  <a:pt x="11476634" y="318211"/>
                </a:lnTo>
                <a:lnTo>
                  <a:pt x="11476634" y="3090672"/>
                </a:lnTo>
                <a:lnTo>
                  <a:pt x="318211" y="3090672"/>
                </a:lnTo>
                <a:lnTo>
                  <a:pt x="0" y="2772461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0800" dist="19050" dir="5400000">
              <a:srgbClr val="000000">
                <a:alpha val="16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76072" y="155448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3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Identified opportunity vs. the 2026–32 plan — US$ bn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298448" y="3362417"/>
            <a:ext cx="1225296" cy="862111"/>
          </a:xfrm>
          <a:prstGeom prst="rect">
            <a:avLst/>
          </a:prstGeom>
          <a:solidFill>
            <a:srgbClr val="9AA3B2"/>
          </a:solidFill>
          <a:ln/>
        </p:spPr>
      </p:sp>
      <p:sp>
        <p:nvSpPr>
          <p:cNvPr id="15" name="Text 12"/>
          <p:cNvSpPr/>
          <p:nvPr/>
        </p:nvSpPr>
        <p:spPr>
          <a:xfrm>
            <a:off x="1298448" y="3362417"/>
            <a:ext cx="1225296" cy="862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1.85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1298448" y="2832629"/>
            <a:ext cx="1225296" cy="529788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17" name="Text 14"/>
          <p:cNvSpPr/>
          <p:nvPr/>
        </p:nvSpPr>
        <p:spPr>
          <a:xfrm>
            <a:off x="1298448" y="2832629"/>
            <a:ext cx="1225296" cy="52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1.14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1298448" y="2084832"/>
            <a:ext cx="1225296" cy="747797"/>
          </a:xfrm>
          <a:prstGeom prst="rect">
            <a:avLst/>
          </a:prstGeom>
          <a:solidFill>
            <a:srgbClr val="92D050"/>
          </a:solidFill>
          <a:ln/>
        </p:spPr>
      </p:sp>
      <p:sp>
        <p:nvSpPr>
          <p:cNvPr id="19" name="Text 16"/>
          <p:cNvSpPr/>
          <p:nvPr/>
        </p:nvSpPr>
        <p:spPr>
          <a:xfrm>
            <a:off x="1298448" y="2084832"/>
            <a:ext cx="1225296" cy="747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1.61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298448" y="1810512"/>
            <a:ext cx="1225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3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4.6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115568" y="4297680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3C46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Identified</a:t>
            </a:r>
            <a:endParaRPr lang="en-US" sz="8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3C46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opportunity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3310128" y="3325476"/>
            <a:ext cx="1225296" cy="899052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23" name="Text 20"/>
          <p:cNvSpPr/>
          <p:nvPr/>
        </p:nvSpPr>
        <p:spPr>
          <a:xfrm>
            <a:off x="3310128" y="3325476"/>
            <a:ext cx="1225296" cy="899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C46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1.93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3310128" y="3043090"/>
            <a:ext cx="1225296" cy="282386"/>
          </a:xfrm>
          <a:prstGeom prst="rect">
            <a:avLst/>
          </a:prstGeom>
          <a:solidFill>
            <a:srgbClr val="FFF7E3"/>
          </a:solidFill>
          <a:ln/>
        </p:spPr>
      </p:sp>
      <p:sp>
        <p:nvSpPr>
          <p:cNvPr id="25" name="Text 22"/>
          <p:cNvSpPr/>
          <p:nvPr/>
        </p:nvSpPr>
        <p:spPr>
          <a:xfrm>
            <a:off x="3310128" y="3043090"/>
            <a:ext cx="1225296" cy="282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C46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0.61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3310128" y="2321194"/>
            <a:ext cx="1225296" cy="721896"/>
          </a:xfrm>
          <a:prstGeom prst="rect">
            <a:avLst/>
          </a:prstGeom>
          <a:solidFill>
            <a:srgbClr val="F1F8E6"/>
          </a:solidFill>
          <a:ln/>
        </p:spPr>
      </p:sp>
      <p:sp>
        <p:nvSpPr>
          <p:cNvPr id="27" name="Text 24"/>
          <p:cNvSpPr/>
          <p:nvPr/>
        </p:nvSpPr>
        <p:spPr>
          <a:xfrm>
            <a:off x="3310128" y="2321194"/>
            <a:ext cx="1225296" cy="721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C46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1.55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3310128" y="2046874"/>
            <a:ext cx="1225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3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4.1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3127248" y="4297680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3C46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the</a:t>
            </a:r>
            <a:endParaRPr lang="en-US" sz="8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3C46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2026–32 plan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1298448" y="4224528"/>
            <a:ext cx="3236976" cy="10973"/>
          </a:xfrm>
          <a:prstGeom prst="rect">
            <a:avLst/>
          </a:prstGeom>
          <a:solidFill>
            <a:srgbClr val="D6DAE4"/>
          </a:solidFill>
          <a:ln/>
        </p:spPr>
      </p:sp>
      <p:sp>
        <p:nvSpPr>
          <p:cNvPr id="31" name="Text 28"/>
          <p:cNvSpPr/>
          <p:nvPr/>
        </p:nvSpPr>
        <p:spPr>
          <a:xfrm>
            <a:off x="2523744" y="1810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1B9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1.1x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2523744" y="204825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8C93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coverage</a:t>
            </a:r>
            <a:endParaRPr lang="en-US" sz="760" dirty="0"/>
          </a:p>
        </p:txBody>
      </p:sp>
      <p:sp>
        <p:nvSpPr>
          <p:cNvPr id="33" name="Shape 30"/>
          <p:cNvSpPr/>
          <p:nvPr/>
        </p:nvSpPr>
        <p:spPr>
          <a:xfrm>
            <a:off x="5074920" y="1810512"/>
            <a:ext cx="7315" cy="2523744"/>
          </a:xfrm>
          <a:prstGeom prst="rect">
            <a:avLst/>
          </a:prstGeom>
          <a:solidFill>
            <a:srgbClr val="E6E8EE"/>
          </a:solidFill>
          <a:ln/>
        </p:spPr>
      </p:sp>
      <p:sp>
        <p:nvSpPr>
          <p:cNvPr id="34" name="Shape 31"/>
          <p:cNvSpPr/>
          <p:nvPr/>
        </p:nvSpPr>
        <p:spPr>
          <a:xfrm>
            <a:off x="5413248" y="1847088"/>
            <a:ext cx="54864" cy="676656"/>
          </a:xfrm>
          <a:prstGeom prst="rect">
            <a:avLst/>
          </a:prstGeom>
          <a:solidFill>
            <a:srgbClr val="6FA82F"/>
          </a:solidFill>
          <a:ln/>
        </p:spPr>
      </p:sp>
      <p:sp>
        <p:nvSpPr>
          <p:cNvPr id="35" name="Text 32"/>
          <p:cNvSpPr/>
          <p:nvPr/>
        </p:nvSpPr>
        <p:spPr>
          <a:xfrm>
            <a:off x="5596128" y="184708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FA8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Munitions</a:t>
            </a:r>
            <a:endParaRPr lang="en-US" sz="1250" dirty="0"/>
          </a:p>
        </p:txBody>
      </p:sp>
      <p:sp>
        <p:nvSpPr>
          <p:cNvPr id="36" name="Text 33"/>
          <p:cNvSpPr/>
          <p:nvPr/>
        </p:nvSpPr>
        <p:spPr>
          <a:xfrm>
            <a:off x="5596128" y="2066544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C93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Mac Jee Indústria de Defesa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5596128" y="224942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740" dirty="0">
                <a:solidFill>
                  <a:srgbClr val="3C46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US$ 250 mm — 155 mm ERFBBB, Bulgaria</a:t>
            </a:r>
            <a:endParaRPr lang="en-US" sz="740" dirty="0"/>
          </a:p>
        </p:txBody>
      </p:sp>
      <p:sp>
        <p:nvSpPr>
          <p:cNvPr id="38" name="Text 35"/>
          <p:cNvSpPr/>
          <p:nvPr/>
        </p:nvSpPr>
        <p:spPr>
          <a:xfrm>
            <a:off x="8083296" y="1901952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spc="60" kern="0" dirty="0">
                <a:solidFill>
                  <a:srgbClr val="8C93A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Identified</a:t>
            </a:r>
            <a:endParaRPr lang="en-US" sz="640" dirty="0"/>
          </a:p>
        </p:txBody>
      </p:sp>
      <p:sp>
        <p:nvSpPr>
          <p:cNvPr id="39" name="Text 36"/>
          <p:cNvSpPr/>
          <p:nvPr/>
        </p:nvSpPr>
        <p:spPr>
          <a:xfrm>
            <a:off x="8083296" y="2066544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3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US$ 1.6 bn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9272016" y="1901952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spc="60" kern="0" dirty="0">
                <a:solidFill>
                  <a:srgbClr val="8C93A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In the plan</a:t>
            </a:r>
            <a:endParaRPr lang="en-US" sz="640" dirty="0"/>
          </a:p>
        </p:txBody>
      </p:sp>
      <p:sp>
        <p:nvSpPr>
          <p:cNvPr id="41" name="Text 38"/>
          <p:cNvSpPr/>
          <p:nvPr/>
        </p:nvSpPr>
        <p:spPr>
          <a:xfrm>
            <a:off x="9272016" y="2066544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3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US$ 1.55 bn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10460736" y="1901952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spc="60" kern="0" dirty="0">
                <a:solidFill>
                  <a:srgbClr val="8C93A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Coverage</a:t>
            </a:r>
            <a:endParaRPr lang="en-US" sz="640" dirty="0"/>
          </a:p>
        </p:txBody>
      </p:sp>
      <p:sp>
        <p:nvSpPr>
          <p:cNvPr id="43" name="Text 40"/>
          <p:cNvSpPr/>
          <p:nvPr/>
        </p:nvSpPr>
        <p:spPr>
          <a:xfrm>
            <a:off x="10460736" y="2066544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FA8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104%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5413248" y="2615184"/>
            <a:ext cx="6199632" cy="7315"/>
          </a:xfrm>
          <a:prstGeom prst="rect">
            <a:avLst/>
          </a:prstGeom>
          <a:solidFill>
            <a:srgbClr val="EDEFF4"/>
          </a:solidFill>
          <a:ln/>
        </p:spPr>
      </p:sp>
      <p:sp>
        <p:nvSpPr>
          <p:cNvPr id="45" name="Shape 42"/>
          <p:cNvSpPr/>
          <p:nvPr/>
        </p:nvSpPr>
        <p:spPr>
          <a:xfrm>
            <a:off x="5413248" y="2688336"/>
            <a:ext cx="54864" cy="676656"/>
          </a:xfrm>
          <a:prstGeom prst="rect">
            <a:avLst/>
          </a:prstGeom>
          <a:solidFill>
            <a:srgbClr val="C79000"/>
          </a:solidFill>
          <a:ln/>
        </p:spPr>
      </p:sp>
      <p:sp>
        <p:nvSpPr>
          <p:cNvPr id="46" name="Text 43"/>
          <p:cNvSpPr/>
          <p:nvPr/>
        </p:nvSpPr>
        <p:spPr>
          <a:xfrm>
            <a:off x="5596128" y="268833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79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Energetics</a:t>
            </a:r>
            <a:endParaRPr lang="en-US" sz="1250" dirty="0"/>
          </a:p>
        </p:txBody>
      </p:sp>
      <p:sp>
        <p:nvSpPr>
          <p:cNvPr id="47" name="Text 44"/>
          <p:cNvSpPr/>
          <p:nvPr/>
        </p:nvSpPr>
        <p:spPr>
          <a:xfrm>
            <a:off x="5596128" y="2907792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C93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Mac Jee Tecnologia</a:t>
            </a:r>
            <a:endParaRPr lang="en-US" sz="700" dirty="0"/>
          </a:p>
        </p:txBody>
      </p:sp>
      <p:sp>
        <p:nvSpPr>
          <p:cNvPr id="48" name="Text 45"/>
          <p:cNvSpPr/>
          <p:nvPr/>
        </p:nvSpPr>
        <p:spPr>
          <a:xfrm>
            <a:off x="5596128" y="30906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740" dirty="0">
                <a:solidFill>
                  <a:srgbClr val="3C46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US$ 200 mm — TNT line, Canada</a:t>
            </a:r>
            <a:endParaRPr lang="en-US" sz="740" dirty="0"/>
          </a:p>
        </p:txBody>
      </p:sp>
      <p:sp>
        <p:nvSpPr>
          <p:cNvPr id="49" name="Text 46"/>
          <p:cNvSpPr/>
          <p:nvPr/>
        </p:nvSpPr>
        <p:spPr>
          <a:xfrm>
            <a:off x="8083296" y="2743200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spc="60" kern="0" dirty="0">
                <a:solidFill>
                  <a:srgbClr val="8C93A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Identified</a:t>
            </a:r>
            <a:endParaRPr lang="en-US" sz="640" dirty="0"/>
          </a:p>
        </p:txBody>
      </p:sp>
      <p:sp>
        <p:nvSpPr>
          <p:cNvPr id="50" name="Text 47"/>
          <p:cNvSpPr/>
          <p:nvPr/>
        </p:nvSpPr>
        <p:spPr>
          <a:xfrm>
            <a:off x="8083296" y="2907792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3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US$ 1.1 bn</a:t>
            </a:r>
            <a:endParaRPr lang="en-US" sz="1200" dirty="0"/>
          </a:p>
        </p:txBody>
      </p:sp>
      <p:sp>
        <p:nvSpPr>
          <p:cNvPr id="51" name="Text 48"/>
          <p:cNvSpPr/>
          <p:nvPr/>
        </p:nvSpPr>
        <p:spPr>
          <a:xfrm>
            <a:off x="9272016" y="2743200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spc="60" kern="0" dirty="0">
                <a:solidFill>
                  <a:srgbClr val="8C93A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In the plan</a:t>
            </a:r>
            <a:endParaRPr lang="en-US" sz="640" dirty="0"/>
          </a:p>
        </p:txBody>
      </p:sp>
      <p:sp>
        <p:nvSpPr>
          <p:cNvPr id="52" name="Text 49"/>
          <p:cNvSpPr/>
          <p:nvPr/>
        </p:nvSpPr>
        <p:spPr>
          <a:xfrm>
            <a:off x="9272016" y="2907792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3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US$ 0.61 bn</a:t>
            </a:r>
            <a:endParaRPr lang="en-US" sz="1200" dirty="0"/>
          </a:p>
        </p:txBody>
      </p:sp>
      <p:sp>
        <p:nvSpPr>
          <p:cNvPr id="53" name="Text 50"/>
          <p:cNvSpPr/>
          <p:nvPr/>
        </p:nvSpPr>
        <p:spPr>
          <a:xfrm>
            <a:off x="10460736" y="2743200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spc="60" kern="0" dirty="0">
                <a:solidFill>
                  <a:srgbClr val="8C93A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Coverage</a:t>
            </a:r>
            <a:endParaRPr lang="en-US" sz="640" dirty="0"/>
          </a:p>
        </p:txBody>
      </p:sp>
      <p:sp>
        <p:nvSpPr>
          <p:cNvPr id="54" name="Text 51"/>
          <p:cNvSpPr/>
          <p:nvPr/>
        </p:nvSpPr>
        <p:spPr>
          <a:xfrm>
            <a:off x="10460736" y="2907792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9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188%</a:t>
            </a:r>
            <a:endParaRPr lang="en-US" sz="1200" dirty="0"/>
          </a:p>
        </p:txBody>
      </p:sp>
      <p:sp>
        <p:nvSpPr>
          <p:cNvPr id="55" name="Shape 52"/>
          <p:cNvSpPr/>
          <p:nvPr/>
        </p:nvSpPr>
        <p:spPr>
          <a:xfrm>
            <a:off x="5413248" y="3456432"/>
            <a:ext cx="6199632" cy="7315"/>
          </a:xfrm>
          <a:prstGeom prst="rect">
            <a:avLst/>
          </a:prstGeom>
          <a:solidFill>
            <a:srgbClr val="EDEFF4"/>
          </a:solidFill>
          <a:ln/>
        </p:spPr>
      </p:sp>
      <p:sp>
        <p:nvSpPr>
          <p:cNvPr id="56" name="Shape 53"/>
          <p:cNvSpPr/>
          <p:nvPr/>
        </p:nvSpPr>
        <p:spPr>
          <a:xfrm>
            <a:off x="5413248" y="3529584"/>
            <a:ext cx="54864" cy="676656"/>
          </a:xfrm>
          <a:prstGeom prst="rect">
            <a:avLst/>
          </a:prstGeom>
          <a:solidFill>
            <a:srgbClr val="4A5261"/>
          </a:solidFill>
          <a:ln/>
        </p:spPr>
      </p:sp>
      <p:sp>
        <p:nvSpPr>
          <p:cNvPr id="57" name="Text 54"/>
          <p:cNvSpPr/>
          <p:nvPr/>
        </p:nvSpPr>
        <p:spPr>
          <a:xfrm>
            <a:off x="5596128" y="352958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526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Missile</a:t>
            </a:r>
            <a:endParaRPr lang="en-US" sz="1250" dirty="0"/>
          </a:p>
        </p:txBody>
      </p:sp>
      <p:sp>
        <p:nvSpPr>
          <p:cNvPr id="58" name="Text 55"/>
          <p:cNvSpPr/>
          <p:nvPr/>
        </p:nvSpPr>
        <p:spPr>
          <a:xfrm>
            <a:off x="5596128" y="3749040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C93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TMC — The Missile Company</a:t>
            </a:r>
            <a:endParaRPr lang="en-US" sz="700" dirty="0"/>
          </a:p>
        </p:txBody>
      </p:sp>
      <p:sp>
        <p:nvSpPr>
          <p:cNvPr id="59" name="Text 56"/>
          <p:cNvSpPr/>
          <p:nvPr/>
        </p:nvSpPr>
        <p:spPr>
          <a:xfrm>
            <a:off x="5596128" y="39319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740" dirty="0">
                <a:solidFill>
                  <a:srgbClr val="3C46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US$ 1,000 mm — confidential, Saudi Arabia</a:t>
            </a:r>
            <a:endParaRPr lang="en-US" sz="740" dirty="0"/>
          </a:p>
        </p:txBody>
      </p:sp>
      <p:sp>
        <p:nvSpPr>
          <p:cNvPr id="60" name="Text 57"/>
          <p:cNvSpPr/>
          <p:nvPr/>
        </p:nvSpPr>
        <p:spPr>
          <a:xfrm>
            <a:off x="8083296" y="3584448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spc="60" kern="0" dirty="0">
                <a:solidFill>
                  <a:srgbClr val="8C93A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Identified</a:t>
            </a:r>
            <a:endParaRPr lang="en-US" sz="640" dirty="0"/>
          </a:p>
        </p:txBody>
      </p:sp>
      <p:sp>
        <p:nvSpPr>
          <p:cNvPr id="61" name="Text 58"/>
          <p:cNvSpPr/>
          <p:nvPr/>
        </p:nvSpPr>
        <p:spPr>
          <a:xfrm>
            <a:off x="8083296" y="3749040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3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US$ 1.9 bn</a:t>
            </a:r>
            <a:endParaRPr lang="en-US" sz="1200" dirty="0"/>
          </a:p>
        </p:txBody>
      </p:sp>
      <p:sp>
        <p:nvSpPr>
          <p:cNvPr id="62" name="Text 59"/>
          <p:cNvSpPr/>
          <p:nvPr/>
        </p:nvSpPr>
        <p:spPr>
          <a:xfrm>
            <a:off x="9272016" y="3584448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spc="60" kern="0" dirty="0">
                <a:solidFill>
                  <a:srgbClr val="8C93A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In the plan</a:t>
            </a:r>
            <a:endParaRPr lang="en-US" sz="640" dirty="0"/>
          </a:p>
        </p:txBody>
      </p:sp>
      <p:sp>
        <p:nvSpPr>
          <p:cNvPr id="63" name="Text 60"/>
          <p:cNvSpPr/>
          <p:nvPr/>
        </p:nvSpPr>
        <p:spPr>
          <a:xfrm>
            <a:off x="9272016" y="3749040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3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US$ 1.93 bn</a:t>
            </a:r>
            <a:endParaRPr lang="en-US" sz="1200" dirty="0"/>
          </a:p>
        </p:txBody>
      </p:sp>
      <p:sp>
        <p:nvSpPr>
          <p:cNvPr id="64" name="Text 61"/>
          <p:cNvSpPr/>
          <p:nvPr/>
        </p:nvSpPr>
        <p:spPr>
          <a:xfrm>
            <a:off x="10460736" y="3584448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spc="60" kern="0" dirty="0">
                <a:solidFill>
                  <a:srgbClr val="8C93A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Coverage</a:t>
            </a:r>
            <a:endParaRPr lang="en-US" sz="640" dirty="0"/>
          </a:p>
        </p:txBody>
      </p:sp>
      <p:sp>
        <p:nvSpPr>
          <p:cNvPr id="65" name="Text 62"/>
          <p:cNvSpPr/>
          <p:nvPr/>
        </p:nvSpPr>
        <p:spPr>
          <a:xfrm>
            <a:off x="10460736" y="3749040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526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96%</a:t>
            </a:r>
            <a:endParaRPr lang="en-US" sz="1200" dirty="0"/>
          </a:p>
        </p:txBody>
      </p:sp>
      <p:sp>
        <p:nvSpPr>
          <p:cNvPr id="66" name="Text 63"/>
          <p:cNvSpPr/>
          <p:nvPr/>
        </p:nvSpPr>
        <p:spPr>
          <a:xfrm>
            <a:off x="576072" y="466344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8C93A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Identified opportunity is the total contract value of every signed contract and open commercial opportunity in the Company’s commercial review, at face value and unweighted; a further six identified programmes carry no value yet and are excluded. Plan figures are cumulative gross revenue 2026–32 in the Base case.</a:t>
            </a:r>
            <a:endParaRPr lang="en-US" sz="660" dirty="0"/>
          </a:p>
        </p:txBody>
      </p:sp>
      <p:sp>
        <p:nvSpPr>
          <p:cNvPr id="67" name="Shape 64"/>
          <p:cNvSpPr/>
          <p:nvPr/>
        </p:nvSpPr>
        <p:spPr>
          <a:xfrm>
            <a:off x="0" y="5159959"/>
            <a:ext cx="12191695" cy="1698041"/>
          </a:xfrm>
          <a:prstGeom prst="rect">
            <a:avLst/>
          </a:prstGeom>
          <a:solidFill>
            <a:srgbClr val="00092B"/>
          </a:solidFill>
          <a:ln/>
        </p:spPr>
      </p:sp>
      <p:sp>
        <p:nvSpPr>
          <p:cNvPr id="68" name="Shape 65"/>
          <p:cNvSpPr/>
          <p:nvPr/>
        </p:nvSpPr>
        <p:spPr>
          <a:xfrm>
            <a:off x="70409" y="5159959"/>
            <a:ext cx="27432" cy="1698041"/>
          </a:xfrm>
          <a:prstGeom prst="rect">
            <a:avLst/>
          </a:prstGeom>
          <a:solidFill>
            <a:srgbClr val="1C2441"/>
          </a:solidFill>
          <a:ln/>
        </p:spPr>
      </p:sp>
      <p:sp>
        <p:nvSpPr>
          <p:cNvPr id="69" name="Shape 66"/>
          <p:cNvSpPr/>
          <p:nvPr/>
        </p:nvSpPr>
        <p:spPr>
          <a:xfrm>
            <a:off x="1520647" y="5159959"/>
            <a:ext cx="27432" cy="1698041"/>
          </a:xfrm>
          <a:prstGeom prst="rect">
            <a:avLst/>
          </a:prstGeom>
          <a:solidFill>
            <a:srgbClr val="1C2441"/>
          </a:solidFill>
          <a:ln/>
        </p:spPr>
      </p:sp>
      <p:sp>
        <p:nvSpPr>
          <p:cNvPr id="70" name="Shape 67"/>
          <p:cNvSpPr/>
          <p:nvPr/>
        </p:nvSpPr>
        <p:spPr>
          <a:xfrm>
            <a:off x="2970886" y="5159959"/>
            <a:ext cx="27432" cy="1698041"/>
          </a:xfrm>
          <a:prstGeom prst="rect">
            <a:avLst/>
          </a:prstGeom>
          <a:solidFill>
            <a:srgbClr val="1C2441"/>
          </a:solidFill>
          <a:ln/>
        </p:spPr>
      </p:sp>
      <p:sp>
        <p:nvSpPr>
          <p:cNvPr id="71" name="Shape 68"/>
          <p:cNvSpPr/>
          <p:nvPr/>
        </p:nvSpPr>
        <p:spPr>
          <a:xfrm>
            <a:off x="4421124" y="5159959"/>
            <a:ext cx="27432" cy="1698041"/>
          </a:xfrm>
          <a:prstGeom prst="rect">
            <a:avLst/>
          </a:prstGeom>
          <a:solidFill>
            <a:srgbClr val="1C2441"/>
          </a:solidFill>
          <a:ln/>
        </p:spPr>
      </p:sp>
      <p:sp>
        <p:nvSpPr>
          <p:cNvPr id="72" name="Shape 69"/>
          <p:cNvSpPr/>
          <p:nvPr/>
        </p:nvSpPr>
        <p:spPr>
          <a:xfrm>
            <a:off x="5871362" y="5159959"/>
            <a:ext cx="27432" cy="1698041"/>
          </a:xfrm>
          <a:prstGeom prst="rect">
            <a:avLst/>
          </a:prstGeom>
          <a:solidFill>
            <a:srgbClr val="1C2441"/>
          </a:solidFill>
          <a:ln/>
        </p:spPr>
      </p:sp>
      <p:sp>
        <p:nvSpPr>
          <p:cNvPr id="73" name="Shape 70"/>
          <p:cNvSpPr/>
          <p:nvPr/>
        </p:nvSpPr>
        <p:spPr>
          <a:xfrm>
            <a:off x="7321601" y="5159959"/>
            <a:ext cx="27432" cy="1698041"/>
          </a:xfrm>
          <a:prstGeom prst="rect">
            <a:avLst/>
          </a:prstGeom>
          <a:solidFill>
            <a:srgbClr val="1C2441"/>
          </a:solidFill>
          <a:ln/>
        </p:spPr>
      </p:sp>
      <p:sp>
        <p:nvSpPr>
          <p:cNvPr id="74" name="Shape 71"/>
          <p:cNvSpPr/>
          <p:nvPr/>
        </p:nvSpPr>
        <p:spPr>
          <a:xfrm>
            <a:off x="8771839" y="5159959"/>
            <a:ext cx="27432" cy="1698041"/>
          </a:xfrm>
          <a:prstGeom prst="rect">
            <a:avLst/>
          </a:prstGeom>
          <a:solidFill>
            <a:srgbClr val="1C2441"/>
          </a:solidFill>
          <a:ln/>
        </p:spPr>
      </p:sp>
      <p:sp>
        <p:nvSpPr>
          <p:cNvPr id="75" name="Shape 72"/>
          <p:cNvSpPr/>
          <p:nvPr/>
        </p:nvSpPr>
        <p:spPr>
          <a:xfrm>
            <a:off x="10222078" y="5159959"/>
            <a:ext cx="27432" cy="1698041"/>
          </a:xfrm>
          <a:prstGeom prst="rect">
            <a:avLst/>
          </a:prstGeom>
          <a:solidFill>
            <a:srgbClr val="1C2441"/>
          </a:solidFill>
          <a:ln/>
        </p:spPr>
      </p:sp>
      <p:sp>
        <p:nvSpPr>
          <p:cNvPr id="76" name="Shape 73"/>
          <p:cNvSpPr/>
          <p:nvPr/>
        </p:nvSpPr>
        <p:spPr>
          <a:xfrm>
            <a:off x="11672316" y="5159959"/>
            <a:ext cx="27432" cy="1698041"/>
          </a:xfrm>
          <a:prstGeom prst="rect">
            <a:avLst/>
          </a:prstGeom>
          <a:solidFill>
            <a:srgbClr val="1C2441"/>
          </a:solidFill>
          <a:ln/>
        </p:spPr>
      </p:sp>
      <p:sp>
        <p:nvSpPr>
          <p:cNvPr id="77" name="Shape 74"/>
          <p:cNvSpPr/>
          <p:nvPr/>
        </p:nvSpPr>
        <p:spPr>
          <a:xfrm>
            <a:off x="548640" y="5376672"/>
            <a:ext cx="1481328" cy="914400"/>
          </a:xfrm>
          <a:custGeom>
            <a:avLst/>
            <a:gdLst/>
            <a:ahLst/>
            <a:cxnLst/>
            <a:rect l="l" t="t" r="r" b="b"/>
            <a:pathLst>
              <a:path w="1481328" h="914400">
                <a:moveTo>
                  <a:pt x="0" y="0"/>
                </a:moveTo>
                <a:lnTo>
                  <a:pt x="1335024" y="0"/>
                </a:lnTo>
                <a:lnTo>
                  <a:pt x="1481328" y="146304"/>
                </a:lnTo>
                <a:lnTo>
                  <a:pt x="1481328" y="914400"/>
                </a:lnTo>
                <a:lnTo>
                  <a:pt x="146304" y="914400"/>
                </a:lnTo>
                <a:lnTo>
                  <a:pt x="0" y="768096"/>
                </a:lnTo>
                <a:close/>
              </a:path>
            </a:pathLst>
          </a:custGeom>
          <a:solidFill>
            <a:srgbClr val="343D60"/>
          </a:solidFill>
          <a:ln w="19050">
            <a:solidFill>
              <a:srgbClr val="95A8FE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548640" y="5522976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USD </a:t>
            </a:r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4.6</a:t>
            </a:r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bn</a:t>
            </a:r>
            <a:endParaRPr lang="en-US" sz="900" dirty="0"/>
          </a:p>
        </p:txBody>
      </p:sp>
      <p:sp>
        <p:nvSpPr>
          <p:cNvPr id="79" name="Text 76"/>
          <p:cNvSpPr/>
          <p:nvPr/>
        </p:nvSpPr>
        <p:spPr>
          <a:xfrm>
            <a:off x="594360" y="5907024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2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Identified opportunity</a:t>
            </a:r>
            <a:endParaRPr lang="en-US" sz="720" dirty="0"/>
          </a:p>
        </p:txBody>
      </p:sp>
      <p:sp>
        <p:nvSpPr>
          <p:cNvPr id="80" name="Shape 77"/>
          <p:cNvSpPr/>
          <p:nvPr/>
        </p:nvSpPr>
        <p:spPr>
          <a:xfrm>
            <a:off x="2176272" y="5376672"/>
            <a:ext cx="1481328" cy="914400"/>
          </a:xfrm>
          <a:custGeom>
            <a:avLst/>
            <a:gdLst/>
            <a:ahLst/>
            <a:cxnLst/>
            <a:rect l="l" t="t" r="r" b="b"/>
            <a:pathLst>
              <a:path w="1481328" h="914400">
                <a:moveTo>
                  <a:pt x="0" y="0"/>
                </a:moveTo>
                <a:lnTo>
                  <a:pt x="1335024" y="0"/>
                </a:lnTo>
                <a:lnTo>
                  <a:pt x="1481328" y="146304"/>
                </a:lnTo>
                <a:lnTo>
                  <a:pt x="1481328" y="914400"/>
                </a:lnTo>
                <a:lnTo>
                  <a:pt x="146304" y="914400"/>
                </a:lnTo>
                <a:lnTo>
                  <a:pt x="0" y="768096"/>
                </a:lnTo>
                <a:close/>
              </a:path>
            </a:pathLst>
          </a:custGeom>
          <a:solidFill>
            <a:srgbClr val="343D60"/>
          </a:solidFill>
          <a:ln w="19050">
            <a:solidFill>
              <a:srgbClr val="95A8FE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2176272" y="5522976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USD </a:t>
            </a:r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4.1</a:t>
            </a:r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bn</a:t>
            </a:r>
            <a:endParaRPr lang="en-US" sz="900" dirty="0"/>
          </a:p>
        </p:txBody>
      </p:sp>
      <p:sp>
        <p:nvSpPr>
          <p:cNvPr id="82" name="Text 79"/>
          <p:cNvSpPr/>
          <p:nvPr/>
        </p:nvSpPr>
        <p:spPr>
          <a:xfrm>
            <a:off x="2221992" y="5907024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2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Revenue in the plan</a:t>
            </a:r>
            <a:endParaRPr lang="en-US" sz="720" dirty="0"/>
          </a:p>
        </p:txBody>
      </p:sp>
      <p:sp>
        <p:nvSpPr>
          <p:cNvPr id="83" name="Shape 80"/>
          <p:cNvSpPr/>
          <p:nvPr/>
        </p:nvSpPr>
        <p:spPr>
          <a:xfrm>
            <a:off x="3803904" y="5376672"/>
            <a:ext cx="1481328" cy="914400"/>
          </a:xfrm>
          <a:custGeom>
            <a:avLst/>
            <a:gdLst/>
            <a:ahLst/>
            <a:cxnLst/>
            <a:rect l="l" t="t" r="r" b="b"/>
            <a:pathLst>
              <a:path w="1481328" h="914400">
                <a:moveTo>
                  <a:pt x="0" y="0"/>
                </a:moveTo>
                <a:lnTo>
                  <a:pt x="1335024" y="0"/>
                </a:lnTo>
                <a:lnTo>
                  <a:pt x="1481328" y="146304"/>
                </a:lnTo>
                <a:lnTo>
                  <a:pt x="1481328" y="914400"/>
                </a:lnTo>
                <a:lnTo>
                  <a:pt x="146304" y="914400"/>
                </a:lnTo>
                <a:lnTo>
                  <a:pt x="0" y="768096"/>
                </a:lnTo>
                <a:close/>
              </a:path>
            </a:pathLst>
          </a:custGeom>
          <a:solidFill>
            <a:srgbClr val="343D60"/>
          </a:solidFill>
          <a:ln w="19050">
            <a:solidFill>
              <a:srgbClr val="95A8FE"/>
            </a:solidFill>
            <a:prstDash val="solid"/>
          </a:ln>
        </p:spPr>
      </p:sp>
      <p:sp>
        <p:nvSpPr>
          <p:cNvPr id="84" name="Text 81"/>
          <p:cNvSpPr/>
          <p:nvPr/>
        </p:nvSpPr>
        <p:spPr>
          <a:xfrm>
            <a:off x="3803904" y="5522976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49</a:t>
            </a:r>
            <a:pPr algn="ctr" indent="0" marL="0">
              <a:buNone/>
            </a:pPr>
            <a:endParaRPr lang="en-US" sz="900" dirty="0"/>
          </a:p>
        </p:txBody>
      </p:sp>
      <p:sp>
        <p:nvSpPr>
          <p:cNvPr id="85" name="Text 82"/>
          <p:cNvSpPr/>
          <p:nvPr/>
        </p:nvSpPr>
        <p:spPr>
          <a:xfrm>
            <a:off x="3849624" y="5907024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2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Valued programmes</a:t>
            </a:r>
            <a:endParaRPr lang="en-US" sz="720" dirty="0"/>
          </a:p>
        </p:txBody>
      </p:sp>
      <p:sp>
        <p:nvSpPr>
          <p:cNvPr id="86" name="Shape 83"/>
          <p:cNvSpPr/>
          <p:nvPr/>
        </p:nvSpPr>
        <p:spPr>
          <a:xfrm>
            <a:off x="5431536" y="5376672"/>
            <a:ext cx="1481328" cy="914400"/>
          </a:xfrm>
          <a:custGeom>
            <a:avLst/>
            <a:gdLst/>
            <a:ahLst/>
            <a:cxnLst/>
            <a:rect l="l" t="t" r="r" b="b"/>
            <a:pathLst>
              <a:path w="1481328" h="914400">
                <a:moveTo>
                  <a:pt x="0" y="0"/>
                </a:moveTo>
                <a:lnTo>
                  <a:pt x="1335024" y="0"/>
                </a:lnTo>
                <a:lnTo>
                  <a:pt x="1481328" y="146304"/>
                </a:lnTo>
                <a:lnTo>
                  <a:pt x="1481328" y="914400"/>
                </a:lnTo>
                <a:lnTo>
                  <a:pt x="146304" y="914400"/>
                </a:lnTo>
                <a:lnTo>
                  <a:pt x="0" y="768096"/>
                </a:lnTo>
                <a:close/>
              </a:path>
            </a:pathLst>
          </a:custGeom>
          <a:solidFill>
            <a:srgbClr val="343D60"/>
          </a:solidFill>
          <a:ln w="19050">
            <a:solidFill>
              <a:srgbClr val="95A8FE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5431536" y="5522976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21</a:t>
            </a:r>
            <a:pPr algn="ctr" indent="0" marL="0">
              <a:buNone/>
            </a:pPr>
            <a:endParaRPr lang="en-US" sz="900" dirty="0"/>
          </a:p>
        </p:txBody>
      </p:sp>
      <p:sp>
        <p:nvSpPr>
          <p:cNvPr id="88" name="Text 85"/>
          <p:cNvSpPr/>
          <p:nvPr/>
        </p:nvSpPr>
        <p:spPr>
          <a:xfrm>
            <a:off x="5477256" y="5907024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2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Countries</a:t>
            </a:r>
            <a:endParaRPr lang="en-US" sz="720" dirty="0"/>
          </a:p>
        </p:txBody>
      </p:sp>
      <p:sp>
        <p:nvSpPr>
          <p:cNvPr id="89" name="Text 86"/>
          <p:cNvSpPr/>
          <p:nvPr/>
        </p:nvSpPr>
        <p:spPr>
          <a:xfrm>
            <a:off x="7223760" y="537667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The three pages that follow take each unit in turn</a:t>
            </a:r>
            <a:endParaRPr lang="en-US" sz="1000" dirty="0"/>
          </a:p>
        </p:txBody>
      </p:sp>
      <p:sp>
        <p:nvSpPr>
          <p:cNvPr id="90" name="Shape 87"/>
          <p:cNvSpPr/>
          <p:nvPr/>
        </p:nvSpPr>
        <p:spPr>
          <a:xfrm>
            <a:off x="7223760" y="5614416"/>
            <a:ext cx="4608576" cy="9144"/>
          </a:xfrm>
          <a:prstGeom prst="rect">
            <a:avLst/>
          </a:prstGeom>
          <a:solidFill>
            <a:srgbClr val="3C4E86"/>
          </a:solidFill>
          <a:ln/>
        </p:spPr>
      </p:sp>
      <p:sp>
        <p:nvSpPr>
          <p:cNvPr id="91" name="Shape 88"/>
          <p:cNvSpPr/>
          <p:nvPr/>
        </p:nvSpPr>
        <p:spPr>
          <a:xfrm>
            <a:off x="7223760" y="5774436"/>
            <a:ext cx="91440" cy="91440"/>
          </a:xfrm>
          <a:prstGeom prst="rect">
            <a:avLst/>
          </a:prstGeom>
          <a:solidFill>
            <a:srgbClr val="92D050"/>
          </a:solidFill>
          <a:ln/>
        </p:spPr>
      </p:sp>
      <p:sp>
        <p:nvSpPr>
          <p:cNvPr id="92" name="Text 89"/>
          <p:cNvSpPr/>
          <p:nvPr/>
        </p:nvSpPr>
        <p:spPr>
          <a:xfrm>
            <a:off x="7406640" y="5724144"/>
            <a:ext cx="4425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Munitions</a:t>
            </a:r>
            <a:pPr indent="0" marL="0">
              <a:buNone/>
            </a:pPr>
            <a:r>
              <a:rPr lang="en-US" sz="840" dirty="0">
                <a:solidFill>
                  <a:srgbClr val="C6CB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Capacity is already built</a:t>
            </a:r>
            <a:endParaRPr lang="en-US" sz="840" dirty="0"/>
          </a:p>
        </p:txBody>
      </p:sp>
      <p:sp>
        <p:nvSpPr>
          <p:cNvPr id="93" name="Shape 90"/>
          <p:cNvSpPr/>
          <p:nvPr/>
        </p:nvSpPr>
        <p:spPr>
          <a:xfrm>
            <a:off x="7223760" y="6012180"/>
            <a:ext cx="91440" cy="91440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94" name="Text 91"/>
          <p:cNvSpPr/>
          <p:nvPr/>
        </p:nvSpPr>
        <p:spPr>
          <a:xfrm>
            <a:off x="7406640" y="5961888"/>
            <a:ext cx="4425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Energetics</a:t>
            </a:r>
            <a:pPr indent="0" marL="0">
              <a:buNone/>
            </a:pPr>
            <a:r>
              <a:rPr lang="en-US" sz="840" dirty="0">
                <a:solidFill>
                  <a:srgbClr val="C6CB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Revenue is contracted, not forecast</a:t>
            </a:r>
            <a:endParaRPr lang="en-US" sz="840" dirty="0"/>
          </a:p>
        </p:txBody>
      </p:sp>
      <p:sp>
        <p:nvSpPr>
          <p:cNvPr id="95" name="Shape 92"/>
          <p:cNvSpPr/>
          <p:nvPr/>
        </p:nvSpPr>
        <p:spPr>
          <a:xfrm>
            <a:off x="7223760" y="6249924"/>
            <a:ext cx="91440" cy="91440"/>
          </a:xfrm>
          <a:prstGeom prst="rect">
            <a:avLst/>
          </a:prstGeom>
          <a:solidFill>
            <a:srgbClr val="9AA3B2"/>
          </a:solidFill>
          <a:ln/>
        </p:spPr>
      </p:sp>
      <p:sp>
        <p:nvSpPr>
          <p:cNvPr id="96" name="Text 93"/>
          <p:cNvSpPr/>
          <p:nvPr/>
        </p:nvSpPr>
        <p:spPr>
          <a:xfrm>
            <a:off x="7406640" y="6199632"/>
            <a:ext cx="4425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Missile</a:t>
            </a:r>
            <a:pPr indent="0" marL="0">
              <a:buNone/>
            </a:pPr>
            <a:r>
              <a:rPr lang="en-US" sz="840" dirty="0">
                <a:solidFill>
                  <a:srgbClr val="C6CB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The unit becomes the group’s engine</a:t>
            </a:r>
            <a:endParaRPr lang="en-US" sz="840" dirty="0"/>
          </a:p>
        </p:txBody>
      </p:sp>
      <p:sp>
        <p:nvSpPr>
          <p:cNvPr id="97" name="Text 94"/>
          <p:cNvSpPr/>
          <p:nvPr/>
        </p:nvSpPr>
        <p:spPr>
          <a:xfrm>
            <a:off x="626364" y="645566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4" dirty="0">
                <a:solidFill>
                  <a:srgbClr val="D8D8D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Source: Company — commercial review of backlog and pipeline, 5 Aug 2026 (rev. 2); Company financial model, Base case (FX R$ 5.17/US$).</a:t>
            </a:r>
            <a:endParaRPr lang="en-US" sz="804" dirty="0"/>
          </a:p>
        </p:txBody>
      </p:sp>
      <p:sp>
        <p:nvSpPr>
          <p:cNvPr id="98" name="Text 95"/>
          <p:cNvSpPr/>
          <p:nvPr/>
        </p:nvSpPr>
        <p:spPr>
          <a:xfrm>
            <a:off x="357530" y="64556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4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50</a:t>
            </a:r>
            <a:endParaRPr lang="en-US" sz="804" dirty="0"/>
          </a:p>
        </p:txBody>
      </p:sp>
      <p:sp>
        <p:nvSpPr>
          <p:cNvPr id="99" name="Shape 96"/>
          <p:cNvSpPr/>
          <p:nvPr/>
        </p:nvSpPr>
        <p:spPr>
          <a:xfrm>
            <a:off x="10931652" y="6469380"/>
            <a:ext cx="932688" cy="196596"/>
          </a:xfrm>
          <a:prstGeom prst="roundRect">
            <a:avLst>
              <a:gd name="adj" fmla="val 18605"/>
            </a:avLst>
          </a:prstGeom>
          <a:ln w="9525">
            <a:solidFill>
              <a:srgbClr val="3C4E86"/>
            </a:solidFill>
            <a:prstDash val="solid"/>
          </a:ln>
        </p:spPr>
      </p:sp>
      <p:sp>
        <p:nvSpPr>
          <p:cNvPr id="100" name="Text 97"/>
          <p:cNvSpPr/>
          <p:nvPr/>
        </p:nvSpPr>
        <p:spPr>
          <a:xfrm>
            <a:off x="10931652" y="6469380"/>
            <a:ext cx="932688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96" dirty="0">
                <a:solidFill>
                  <a:srgbClr val="9DAD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Confidential</a:t>
            </a:r>
            <a:endParaRPr lang="en-US" sz="696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IGC Partners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IGC Partners</dc:creator>
  <cp:lastModifiedBy>IGC Partners</cp:lastModifiedBy>
  <cp:revision>1</cp:revision>
  <dcterms:created xsi:type="dcterms:W3CDTF">2026-09-03T16:58:14Z</dcterms:created>
  <dcterms:modified xsi:type="dcterms:W3CDTF">2026-09-03T16:58:14Z</dcterms:modified>
</cp:coreProperties>
</file>
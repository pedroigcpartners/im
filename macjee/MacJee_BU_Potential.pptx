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155 mm artillery shell</c:v>
                </c:pt>
              </c:strCache>
            </c:strRef>
          </c:tx>
          <c:spPr>
            <a:solidFill>
              <a:srgbClr val="92D0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72</c:v>
                </c:pt>
                <c:pt idx="2">
                  <c:v>129.5</c:v>
                </c:pt>
                <c:pt idx="3">
                  <c:v>175.5</c:v>
                </c:pt>
                <c:pt idx="4">
                  <c:v>200</c:v>
                </c:pt>
                <c:pt idx="5">
                  <c:v>205</c:v>
                </c:pt>
                <c:pt idx="6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 of portfolio</c:v>
                </c:pt>
              </c:strCache>
            </c:strRef>
          </c:tx>
          <c:spPr>
            <a:solidFill>
              <a:srgbClr val="2B3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18.3</c:v>
                </c:pt>
                <c:pt idx="1">
                  <c:v>38.1</c:v>
                </c:pt>
                <c:pt idx="2">
                  <c:v>53.5</c:v>
                </c:pt>
                <c:pt idx="3">
                  <c:v>65.9</c:v>
                </c:pt>
                <c:pt idx="4">
                  <c:v>93.4</c:v>
                </c:pt>
                <c:pt idx="5">
                  <c:v>137.8</c:v>
                </c:pt>
                <c:pt idx="6">
                  <c:v>150.7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6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AE4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C4657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20">
              <a:solidFill>
                <a:srgbClr val="3C4657"/>
              </a:solidFill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Azerbaijan</c:v>
                </c:pt>
              </c:strCache>
            </c:strRef>
          </c:tx>
          <c:spPr>
            <a:solidFill>
              <a:srgbClr val="2B3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24.5</c:v>
                </c:pt>
                <c:pt idx="1">
                  <c:v>24.5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UAE</c:v>
                </c:pt>
              </c:strCache>
            </c:strRef>
          </c:tx>
          <c:spPr>
            <a:solidFill>
              <a:srgbClr val="3E54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40</c:v>
                </c:pt>
                <c:pt idx="2">
                  <c:v>60</c:v>
                </c:pt>
                <c:pt idx="3">
                  <c:v>50</c:v>
                </c:pt>
                <c:pt idx="4">
                  <c:v>41.7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ICOR</c:v>
                </c:pt>
              </c:strCache>
            </c:strRef>
          </c:tx>
          <c:spPr>
            <a:solidFill>
              <a:srgbClr val="5469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Malaysia</c:v>
                </c:pt>
              </c:strCache>
            </c:strRef>
          </c:tx>
          <c:spPr>
            <a:solidFill>
              <a:srgbClr val="6E82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10.9</c:v>
                </c:pt>
                <c:pt idx="2">
                  <c:v>24.4</c:v>
                </c:pt>
                <c:pt idx="3">
                  <c:v>24.4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Canada</c:v>
                </c:pt>
              </c:strCache>
            </c:strRef>
          </c:tx>
          <c:spPr>
            <a:solidFill>
              <a:srgbClr val="8B9C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10</c:v>
                </c:pt>
                <c:pt idx="2">
                  <c:v>15</c:v>
                </c:pt>
                <c:pt idx="3">
                  <c:v>50</c:v>
                </c:pt>
                <c:pt idx="4">
                  <c:v>50</c:v>
                </c:pt>
                <c:pt idx="5">
                  <c:v>10</c:v>
                </c:pt>
                <c:pt idx="6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HMX</c:v>
                </c:pt>
              </c:strCache>
            </c:strRef>
          </c:tx>
          <c:spPr>
            <a:solidFill>
              <a:srgbClr val="FFC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3.5</c:v>
                </c:pt>
                <c:pt idx="3">
                  <c:v>6</c:v>
                </c:pt>
                <c:pt idx="4">
                  <c:v>11.3</c:v>
                </c:pt>
                <c:pt idx="5">
                  <c:v>19.4</c:v>
                </c:pt>
                <c:pt idx="6">
                  <c:v>20.1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New contracts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10.5</c:v>
                </c:pt>
                <c:pt idx="6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6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AE4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C4657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20">
              <a:solidFill>
                <a:srgbClr val="3C4657"/>
              </a:solidFill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GGM Cruise 300</c:v>
                </c:pt>
              </c:strCache>
            </c:strRef>
          </c:tx>
          <c:spPr>
            <a:solidFill>
              <a:srgbClr val="1E48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28.5</c:v>
                </c:pt>
                <c:pt idx="2">
                  <c:v>71.8</c:v>
                </c:pt>
                <c:pt idx="3">
                  <c:v>107.5</c:v>
                </c:pt>
                <c:pt idx="4">
                  <c:v>184</c:v>
                </c:pt>
                <c:pt idx="5">
                  <c:v>294</c:v>
                </c:pt>
                <c:pt idx="6">
                  <c:v>382.5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MAR-1</c:v>
                </c:pt>
              </c:strCache>
            </c:strRef>
          </c:tx>
          <c:spPr>
            <a:solidFill>
              <a:srgbClr val="2B3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29</c:v>
                </c:pt>
                <c:pt idx="4">
                  <c:v>45.6</c:v>
                </c:pt>
                <c:pt idx="5">
                  <c:v>64</c:v>
                </c:pt>
                <c:pt idx="6">
                  <c:v>167.5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Propellant plants</c:v>
                </c:pt>
              </c:strCache>
            </c:strRef>
          </c:tx>
          <c:spPr>
            <a:solidFill>
              <a:srgbClr val="5469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15</c:v>
                </c:pt>
                <c:pt idx="3">
                  <c:v>30</c:v>
                </c:pt>
                <c:pt idx="4">
                  <c:v>50</c:v>
                </c:pt>
                <c:pt idx="5">
                  <c:v>55</c:v>
                </c:pt>
                <c:pt idx="6">
                  <c:v>60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3rd-party motors</c:v>
                </c:pt>
              </c:strCache>
            </c:strRef>
          </c:tx>
          <c:spPr>
            <a:solidFill>
              <a:srgbClr val="8B9C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10</c:v>
                </c:pt>
                <c:pt idx="3">
                  <c:v>12.5</c:v>
                </c:pt>
                <c:pt idx="4">
                  <c:v>25</c:v>
                </c:pt>
                <c:pt idx="5">
                  <c:v>37.5</c:v>
                </c:pt>
                <c:pt idx="6">
                  <c:v>45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SRAAM + SAM</c:v>
                </c:pt>
              </c:strCache>
            </c:strRef>
          </c:tx>
          <c:spPr>
            <a:solidFill>
              <a:srgbClr val="B9C2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3.5</c:v>
                </c:pt>
                <c:pt idx="4">
                  <c:v>11.9</c:v>
                </c:pt>
                <c:pt idx="5">
                  <c:v>29.8</c:v>
                </c:pt>
                <c:pt idx="6">
                  <c:v>55.5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MICLA</c:v>
                </c:pt>
              </c:strCache>
            </c:strRef>
          </c:tx>
          <c:spPr>
            <a:solidFill>
              <a:srgbClr val="DCE0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2029E</c:v>
                  </c:pt>
                  <c:pt idx="4">
                    <c:v>2030E</c:v>
                  </c:pt>
                  <c:pt idx="5">
                    <c:v>2031E</c:v>
                  </c:pt>
                  <c:pt idx="6">
                    <c:v>2032E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30</c:v>
                </c:pt>
                <c:pt idx="4">
                  <c:v>35</c:v>
                </c:pt>
                <c:pt idx="5">
                  <c:v>35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6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AE4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C4657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20">
              <a:solidFill>
                <a:srgbClr val="3C4657"/>
              </a:solidFill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278" y="2240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At a Glance</a:t>
            </a:r>
            <a:endParaRPr lang="en-US" sz="698" dirty="0"/>
          </a:p>
        </p:txBody>
      </p:sp>
      <p:sp>
        <p:nvSpPr>
          <p:cNvPr id="3" name="Text 1"/>
          <p:cNvSpPr/>
          <p:nvPr/>
        </p:nvSpPr>
        <p:spPr>
          <a:xfrm>
            <a:off x="1634947" y="22402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Investment Thesis</a:t>
            </a:r>
            <a:endParaRPr lang="en-US" sz="698" dirty="0"/>
          </a:p>
        </p:txBody>
      </p:sp>
      <p:sp>
        <p:nvSpPr>
          <p:cNvPr id="4" name="Text 2"/>
          <p:cNvSpPr/>
          <p:nvPr/>
        </p:nvSpPr>
        <p:spPr>
          <a:xfrm>
            <a:off x="3165653" y="2240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00178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Business Units and Portfolio</a:t>
            </a:r>
            <a:endParaRPr lang="en-US" sz="698" dirty="0"/>
          </a:p>
        </p:txBody>
      </p:sp>
      <p:sp>
        <p:nvSpPr>
          <p:cNvPr id="5" name="Text 3"/>
          <p:cNvSpPr/>
          <p:nvPr/>
        </p:nvSpPr>
        <p:spPr>
          <a:xfrm>
            <a:off x="4749394" y="2240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Financials</a:t>
            </a:r>
            <a:endParaRPr lang="en-US" sz="698" dirty="0"/>
          </a:p>
        </p:txBody>
      </p:sp>
      <p:sp>
        <p:nvSpPr>
          <p:cNvPr id="6" name="Shape 4"/>
          <p:cNvSpPr/>
          <p:nvPr/>
        </p:nvSpPr>
        <p:spPr>
          <a:xfrm>
            <a:off x="3165653" y="445313"/>
            <a:ext cx="1417320" cy="10973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3133649" y="418795"/>
            <a:ext cx="64008" cy="64008"/>
          </a:xfrm>
          <a:prstGeom prst="diamond">
            <a:avLst/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4550969" y="418795"/>
            <a:ext cx="64008" cy="64008"/>
          </a:xfrm>
          <a:prstGeom prst="diamond">
            <a:avLst/>
          </a:prstGeom>
          <a:solidFill>
            <a:srgbClr val="2196F3"/>
          </a:solidFill>
          <a:ln/>
        </p:spPr>
      </p:sp>
      <p:pic>
        <p:nvPicPr>
          <p:cNvPr id="9" name="Image 0" descr="assets/macje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4222" y="343814"/>
            <a:ext cx="481889" cy="48188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-901598" y="616306"/>
            <a:ext cx="2122322" cy="876910"/>
          </a:xfrm>
          <a:prstGeom prst="roundRect">
            <a:avLst>
              <a:gd name="adj" fmla="val 49948"/>
            </a:avLst>
          </a:prstGeom>
          <a:solidFill>
            <a:srgbClr val="92D050">
              <a:alpha val="40000"/>
            </a:srgbClr>
          </a:solidFill>
          <a:ln/>
        </p:spPr>
      </p:sp>
      <p:pic>
        <p:nvPicPr>
          <p:cNvPr id="11" name="Image 1" descr="assets/macjee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" y="779069"/>
            <a:ext cx="458114" cy="4334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-155448" y="12298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" spc="120" kern="0" dirty="0">
                <a:solidFill>
                  <a:srgbClr val="00031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MUNITIONS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1316736" y="731520"/>
            <a:ext cx="103720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| Mac Jee Munitions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316736" y="1129284"/>
            <a:ext cx="10372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installed base scales first — US$ 18 mm to US$ 361 mm on the lightest growth capex of the three units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-22860" y="4515307"/>
            <a:ext cx="12215470" cy="2342693"/>
          </a:xfrm>
          <a:prstGeom prst="rect">
            <a:avLst/>
          </a:prstGeom>
          <a:solidFill>
            <a:srgbClr val="00092B"/>
          </a:solidFill>
          <a:ln/>
        </p:spPr>
      </p:sp>
      <p:sp>
        <p:nvSpPr>
          <p:cNvPr id="16" name="Shape 12"/>
          <p:cNvSpPr/>
          <p:nvPr/>
        </p:nvSpPr>
        <p:spPr>
          <a:xfrm>
            <a:off x="70409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7" name="Shape 13"/>
          <p:cNvSpPr/>
          <p:nvPr/>
        </p:nvSpPr>
        <p:spPr>
          <a:xfrm>
            <a:off x="1520647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8" name="Shape 14"/>
          <p:cNvSpPr/>
          <p:nvPr/>
        </p:nvSpPr>
        <p:spPr>
          <a:xfrm>
            <a:off x="2970886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9" name="Shape 15"/>
          <p:cNvSpPr/>
          <p:nvPr/>
        </p:nvSpPr>
        <p:spPr>
          <a:xfrm>
            <a:off x="4421124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0" name="Shape 16"/>
          <p:cNvSpPr/>
          <p:nvPr/>
        </p:nvSpPr>
        <p:spPr>
          <a:xfrm>
            <a:off x="5871362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1" name="Shape 17"/>
          <p:cNvSpPr/>
          <p:nvPr/>
        </p:nvSpPr>
        <p:spPr>
          <a:xfrm>
            <a:off x="7321601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2" name="Shape 18"/>
          <p:cNvSpPr/>
          <p:nvPr/>
        </p:nvSpPr>
        <p:spPr>
          <a:xfrm>
            <a:off x="8771839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3" name="Shape 19"/>
          <p:cNvSpPr/>
          <p:nvPr/>
        </p:nvSpPr>
        <p:spPr>
          <a:xfrm>
            <a:off x="10222078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4" name="Shape 20"/>
          <p:cNvSpPr/>
          <p:nvPr/>
        </p:nvSpPr>
        <p:spPr>
          <a:xfrm>
            <a:off x="11672316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5" name="Shape 21"/>
          <p:cNvSpPr/>
          <p:nvPr/>
        </p:nvSpPr>
        <p:spPr>
          <a:xfrm>
            <a:off x="410566" y="1620317"/>
            <a:ext cx="3231490" cy="4688129"/>
          </a:xfrm>
          <a:custGeom>
            <a:avLst/>
            <a:gdLst/>
            <a:ahLst/>
            <a:cxnLst/>
            <a:rect l="l" t="t" r="r" b="b"/>
            <a:pathLst>
              <a:path w="3231490" h="4688129">
                <a:moveTo>
                  <a:pt x="0" y="0"/>
                </a:moveTo>
                <a:lnTo>
                  <a:pt x="2692908" y="0"/>
                </a:lnTo>
                <a:lnTo>
                  <a:pt x="3231490" y="538582"/>
                </a:lnTo>
                <a:lnTo>
                  <a:pt x="3231490" y="4688129"/>
                </a:lnTo>
                <a:lnTo>
                  <a:pt x="538582" y="4688129"/>
                </a:lnTo>
                <a:lnTo>
                  <a:pt x="0" y="4149547"/>
                </a:lnTo>
                <a:close/>
              </a:path>
            </a:pathLst>
          </a:custGeom>
          <a:solidFill>
            <a:srgbClr val="000312"/>
          </a:solidFill>
          <a:ln w="28575">
            <a:solidFill>
              <a:srgbClr val="AFDD7E"/>
            </a:solidFill>
            <a:prstDash val="solid"/>
          </a:ln>
        </p:spPr>
      </p:sp>
      <p:pic>
        <p:nvPicPr>
          <p:cNvPr id="26" name="Image 2" descr="assets/hero_munition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8854" y="1638605"/>
            <a:ext cx="3194914" cy="235915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103474" y="1620317"/>
            <a:ext cx="538582" cy="538582"/>
          </a:xfrm>
          <a:custGeom>
            <a:avLst/>
            <a:gdLst/>
            <a:ahLst/>
            <a:cxnLst/>
            <a:rect l="l" t="t" r="r" b="b"/>
            <a:pathLst>
              <a:path w="538582" h="538582">
                <a:moveTo>
                  <a:pt x="0" y="0"/>
                </a:moveTo>
                <a:lnTo>
                  <a:pt x="538582" y="0"/>
                </a:lnTo>
                <a:lnTo>
                  <a:pt x="538582" y="53858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410566" y="1620317"/>
            <a:ext cx="3231490" cy="4688129"/>
          </a:xfrm>
          <a:custGeom>
            <a:avLst/>
            <a:gdLst/>
            <a:ahLst/>
            <a:cxnLst/>
            <a:rect l="l" t="t" r="r" b="b"/>
            <a:pathLst>
              <a:path w="3231490" h="4688129">
                <a:moveTo>
                  <a:pt x="0" y="0"/>
                </a:moveTo>
                <a:lnTo>
                  <a:pt x="2692908" y="0"/>
                </a:lnTo>
                <a:lnTo>
                  <a:pt x="3231490" y="538582"/>
                </a:lnTo>
                <a:lnTo>
                  <a:pt x="3231490" y="4688129"/>
                </a:lnTo>
                <a:lnTo>
                  <a:pt x="538582" y="4688129"/>
                </a:lnTo>
                <a:lnTo>
                  <a:pt x="0" y="4149547"/>
                </a:lnTo>
                <a:close/>
              </a:path>
            </a:pathLst>
          </a:custGeom>
          <a:ln w="28575">
            <a:solidFill>
              <a:srgbClr val="AFDD7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10566" y="4206240"/>
            <a:ext cx="32314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ARGUMENT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48310" y="4507992"/>
            <a:ext cx="2756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88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Munitions is the only unit already producing at scale. The model takes it to US$ 361 mm on US$ 33 mm of growth capex — 12% of the group total — because the lines already exist. The question is not whether it can produce, but whether the 155 mm order book converts at 50k rounds a year.</a:t>
            </a:r>
            <a:endParaRPr lang="en-US" sz="880" dirty="0"/>
          </a:p>
        </p:txBody>
      </p:sp>
      <p:sp>
        <p:nvSpPr>
          <p:cNvPr id="31" name="Text 26"/>
          <p:cNvSpPr/>
          <p:nvPr/>
        </p:nvSpPr>
        <p:spPr>
          <a:xfrm>
            <a:off x="3977640" y="155448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Gross revenue by driver — US$ mm</a:t>
            </a:r>
            <a:endParaRPr lang="en-US" sz="13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977640" y="1847088"/>
          <a:ext cx="4224528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Text 27"/>
          <p:cNvSpPr/>
          <p:nvPr/>
        </p:nvSpPr>
        <p:spPr>
          <a:xfrm>
            <a:off x="4215384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860" dirty="0"/>
          </a:p>
        </p:txBody>
      </p:sp>
      <p:sp>
        <p:nvSpPr>
          <p:cNvPr id="34" name="Text 28"/>
          <p:cNvSpPr/>
          <p:nvPr/>
        </p:nvSpPr>
        <p:spPr>
          <a:xfrm>
            <a:off x="4771862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110</a:t>
            </a:r>
            <a:endParaRPr lang="en-US" sz="860" dirty="0"/>
          </a:p>
        </p:txBody>
      </p:sp>
      <p:sp>
        <p:nvSpPr>
          <p:cNvPr id="35" name="Text 29"/>
          <p:cNvSpPr/>
          <p:nvPr/>
        </p:nvSpPr>
        <p:spPr>
          <a:xfrm>
            <a:off x="5328339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183</a:t>
            </a:r>
            <a:endParaRPr lang="en-US" sz="860" dirty="0"/>
          </a:p>
        </p:txBody>
      </p:sp>
      <p:sp>
        <p:nvSpPr>
          <p:cNvPr id="36" name="Text 30"/>
          <p:cNvSpPr/>
          <p:nvPr/>
        </p:nvSpPr>
        <p:spPr>
          <a:xfrm>
            <a:off x="5884817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241</a:t>
            </a:r>
            <a:endParaRPr lang="en-US" sz="860" dirty="0"/>
          </a:p>
        </p:txBody>
      </p:sp>
      <p:sp>
        <p:nvSpPr>
          <p:cNvPr id="37" name="Text 31"/>
          <p:cNvSpPr/>
          <p:nvPr/>
        </p:nvSpPr>
        <p:spPr>
          <a:xfrm>
            <a:off x="6441295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293</a:t>
            </a:r>
            <a:endParaRPr lang="en-US" sz="860" dirty="0"/>
          </a:p>
        </p:txBody>
      </p:sp>
      <p:sp>
        <p:nvSpPr>
          <p:cNvPr id="38" name="Text 32"/>
          <p:cNvSpPr/>
          <p:nvPr/>
        </p:nvSpPr>
        <p:spPr>
          <a:xfrm>
            <a:off x="6997773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343</a:t>
            </a:r>
            <a:endParaRPr lang="en-US" sz="860" dirty="0"/>
          </a:p>
        </p:txBody>
      </p:sp>
      <p:sp>
        <p:nvSpPr>
          <p:cNvPr id="39" name="Text 33"/>
          <p:cNvSpPr/>
          <p:nvPr/>
        </p:nvSpPr>
        <p:spPr>
          <a:xfrm>
            <a:off x="7554250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361</a:t>
            </a:r>
            <a:endParaRPr lang="en-US" sz="860" dirty="0"/>
          </a:p>
        </p:txBody>
      </p:sp>
      <p:sp>
        <p:nvSpPr>
          <p:cNvPr id="40" name="Text 34"/>
          <p:cNvSpPr/>
          <p:nvPr/>
        </p:nvSpPr>
        <p:spPr>
          <a:xfrm>
            <a:off x="8458200" y="15544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What moves the curve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8458200" y="1828800"/>
            <a:ext cx="3401568" cy="12802"/>
          </a:xfrm>
          <a:prstGeom prst="rect">
            <a:avLst/>
          </a:prstGeom>
          <a:solidFill>
            <a:srgbClr val="6FA82F"/>
          </a:solidFill>
          <a:ln/>
        </p:spPr>
      </p:sp>
      <p:sp>
        <p:nvSpPr>
          <p:cNvPr id="42" name="Text 36"/>
          <p:cNvSpPr/>
          <p:nvPr/>
        </p:nvSpPr>
        <p:spPr>
          <a:xfrm>
            <a:off x="8458200" y="19476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8695944" y="1938528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155 mm ER FB BB artillery shell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8695944" y="215341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nothing to 50k rounds a year at US$ 3.6–4.2k — 65% of 2027 revenue. Even at 50k the line runs at 42% of the 120k/year capacity the CIM already declares.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8458200" y="284378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8695944" y="283464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Armadillo MRLS</a:t>
            </a:r>
            <a:endParaRPr lang="en-US" sz="950" dirty="0"/>
          </a:p>
        </p:txBody>
      </p:sp>
      <p:sp>
        <p:nvSpPr>
          <p:cNvPr id="47" name="Text 41"/>
          <p:cNvSpPr/>
          <p:nvPr/>
        </p:nvSpPr>
        <p:spPr>
          <a:xfrm>
            <a:off x="8695944" y="304952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units in 2028 to 35 in 2031 at US$ 1.7–2.1 mm each. Adds US$ 72 mm by 2032 — 20% of the unit — from a standing start.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8458200" y="36850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FA8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8695944" y="3675888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Smart-weapons tail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8695944" y="389077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Dagger, 70 mm rocket and fuzes reach US$ 24 mm by 2032. Small in revenue, but they defend the margin as the shell dilutes it.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3977640" y="4864608"/>
            <a:ext cx="475488" cy="475488"/>
          </a:xfrm>
          <a:prstGeom prst="ellipse">
            <a:avLst/>
          </a:prstGeom>
          <a:solidFill>
            <a:srgbClr val="AFDD7E"/>
          </a:solidFill>
          <a:ln/>
        </p:spPr>
      </p:sp>
      <p:sp>
        <p:nvSpPr>
          <p:cNvPr id="52" name="Text 46"/>
          <p:cNvSpPr/>
          <p:nvPr/>
        </p:nvSpPr>
        <p:spPr>
          <a:xfrm>
            <a:off x="3977640" y="4864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▲</a:t>
            </a:r>
            <a:endParaRPr lang="en-US" sz="1300" dirty="0"/>
          </a:p>
        </p:txBody>
      </p:sp>
      <p:sp>
        <p:nvSpPr>
          <p:cNvPr id="53" name="Text 47"/>
          <p:cNvSpPr/>
          <p:nvPr/>
        </p:nvSpPr>
        <p:spPr>
          <a:xfrm>
            <a:off x="4581144" y="485546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42%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4581144" y="50932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155 mm capacity used, 2032</a:t>
            </a:r>
            <a:endParaRPr lang="en-US" sz="800" dirty="0"/>
          </a:p>
        </p:txBody>
      </p:sp>
      <p:sp>
        <p:nvSpPr>
          <p:cNvPr id="55" name="Shape 49"/>
          <p:cNvSpPr/>
          <p:nvPr/>
        </p:nvSpPr>
        <p:spPr>
          <a:xfrm>
            <a:off x="3977640" y="5541264"/>
            <a:ext cx="475488" cy="475488"/>
          </a:xfrm>
          <a:prstGeom prst="ellipse">
            <a:avLst/>
          </a:prstGeom>
          <a:solidFill>
            <a:srgbClr val="AFDD7E"/>
          </a:solidFill>
          <a:ln/>
        </p:spPr>
      </p:sp>
      <p:sp>
        <p:nvSpPr>
          <p:cNvPr id="56" name="Text 50"/>
          <p:cNvSpPr/>
          <p:nvPr/>
        </p:nvSpPr>
        <p:spPr>
          <a:xfrm>
            <a:off x="3977640" y="5541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◆</a:t>
            </a:r>
            <a:endParaRPr lang="en-US" sz="1300" dirty="0"/>
          </a:p>
        </p:txBody>
      </p:sp>
      <p:sp>
        <p:nvSpPr>
          <p:cNvPr id="57" name="Text 51"/>
          <p:cNvSpPr/>
          <p:nvPr/>
        </p:nvSpPr>
        <p:spPr>
          <a:xfrm>
            <a:off x="4581144" y="5532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41% → 35%</a:t>
            </a:r>
            <a:endParaRPr lang="en-US" sz="1100" dirty="0"/>
          </a:p>
        </p:txBody>
      </p:sp>
      <p:sp>
        <p:nvSpPr>
          <p:cNvPr id="58" name="Text 52"/>
          <p:cNvSpPr/>
          <p:nvPr/>
        </p:nvSpPr>
        <p:spPr>
          <a:xfrm>
            <a:off x="4581144" y="57698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Gross margin to 2032</a:t>
            </a:r>
            <a:endParaRPr lang="en-US" sz="800" dirty="0"/>
          </a:p>
        </p:txBody>
      </p:sp>
      <p:sp>
        <p:nvSpPr>
          <p:cNvPr id="59" name="Shape 53"/>
          <p:cNvSpPr/>
          <p:nvPr/>
        </p:nvSpPr>
        <p:spPr>
          <a:xfrm>
            <a:off x="6309360" y="4864608"/>
            <a:ext cx="475488" cy="475488"/>
          </a:xfrm>
          <a:prstGeom prst="ellipse">
            <a:avLst/>
          </a:prstGeom>
          <a:solidFill>
            <a:srgbClr val="AFDD7E"/>
          </a:solidFill>
          <a:ln/>
        </p:spPr>
      </p:sp>
      <p:sp>
        <p:nvSpPr>
          <p:cNvPr id="60" name="Text 54"/>
          <p:cNvSpPr/>
          <p:nvPr/>
        </p:nvSpPr>
        <p:spPr>
          <a:xfrm>
            <a:off x="6309360" y="4864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</a:t>
            </a:r>
            <a:endParaRPr lang="en-US" sz="1300" dirty="0"/>
          </a:p>
        </p:txBody>
      </p:sp>
      <p:sp>
        <p:nvSpPr>
          <p:cNvPr id="61" name="Text 55"/>
          <p:cNvSpPr/>
          <p:nvPr/>
        </p:nvSpPr>
        <p:spPr>
          <a:xfrm>
            <a:off x="6912864" y="48554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12%</a:t>
            </a:r>
            <a:endParaRPr lang="en-US" sz="1100" dirty="0"/>
          </a:p>
        </p:txBody>
      </p:sp>
      <p:sp>
        <p:nvSpPr>
          <p:cNvPr id="62" name="Text 56"/>
          <p:cNvSpPr/>
          <p:nvPr/>
        </p:nvSpPr>
        <p:spPr>
          <a:xfrm>
            <a:off x="6912864" y="5093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group growth capex</a:t>
            </a:r>
            <a:endParaRPr lang="en-US" sz="800" dirty="0"/>
          </a:p>
        </p:txBody>
      </p:sp>
      <p:sp>
        <p:nvSpPr>
          <p:cNvPr id="63" name="Shape 57"/>
          <p:cNvSpPr/>
          <p:nvPr/>
        </p:nvSpPr>
        <p:spPr>
          <a:xfrm>
            <a:off x="6309360" y="5541264"/>
            <a:ext cx="475488" cy="475488"/>
          </a:xfrm>
          <a:prstGeom prst="ellipse">
            <a:avLst/>
          </a:prstGeom>
          <a:solidFill>
            <a:srgbClr val="AFDD7E"/>
          </a:solidFill>
          <a:ln/>
        </p:spPr>
      </p:sp>
      <p:sp>
        <p:nvSpPr>
          <p:cNvPr id="64" name="Text 58"/>
          <p:cNvSpPr/>
          <p:nvPr/>
        </p:nvSpPr>
        <p:spPr>
          <a:xfrm>
            <a:off x="6309360" y="5541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1300" dirty="0"/>
          </a:p>
        </p:txBody>
      </p:sp>
      <p:sp>
        <p:nvSpPr>
          <p:cNvPr id="65" name="Text 59"/>
          <p:cNvSpPr/>
          <p:nvPr/>
        </p:nvSpPr>
        <p:spPr>
          <a:xfrm>
            <a:off x="6912864" y="55321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16.6x</a:t>
            </a:r>
            <a:endParaRPr lang="en-US" sz="1100" dirty="0"/>
          </a:p>
        </p:txBody>
      </p:sp>
      <p:sp>
        <p:nvSpPr>
          <p:cNvPr id="66" name="Text 60"/>
          <p:cNvSpPr/>
          <p:nvPr/>
        </p:nvSpPr>
        <p:spPr>
          <a:xfrm>
            <a:off x="6912864" y="5769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Gross profit vs BU capex</a:t>
            </a:r>
            <a:endParaRPr lang="en-US" sz="800" dirty="0"/>
          </a:p>
        </p:txBody>
      </p:sp>
      <p:sp>
        <p:nvSpPr>
          <p:cNvPr id="67" name="Shape 61"/>
          <p:cNvSpPr/>
          <p:nvPr/>
        </p:nvSpPr>
        <p:spPr>
          <a:xfrm>
            <a:off x="8311896" y="4905756"/>
            <a:ext cx="1655978" cy="1154887"/>
          </a:xfrm>
          <a:custGeom>
            <a:avLst/>
            <a:gdLst/>
            <a:ahLst/>
            <a:cxnLst/>
            <a:rect l="l" t="t" r="r" b="b"/>
            <a:pathLst>
              <a:path w="1655978" h="1154887">
                <a:moveTo>
                  <a:pt x="0" y="0"/>
                </a:moveTo>
                <a:lnTo>
                  <a:pt x="1463040" y="0"/>
                </a:lnTo>
                <a:lnTo>
                  <a:pt x="1655978" y="192938"/>
                </a:lnTo>
                <a:lnTo>
                  <a:pt x="1655978" y="1154887"/>
                </a:lnTo>
                <a:lnTo>
                  <a:pt x="192938" y="1154887"/>
                </a:lnTo>
                <a:lnTo>
                  <a:pt x="0" y="961949"/>
                </a:lnTo>
                <a:close/>
              </a:path>
            </a:pathLst>
          </a:custGeom>
          <a:solidFill>
            <a:srgbClr val="343D60"/>
          </a:solidFill>
          <a:ln w="28575">
            <a:solidFill>
              <a:srgbClr val="AFDD7E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8311896" y="5180076"/>
            <a:ext cx="1655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110</a:t>
            </a:r>
            <a:pPr algn="ctr" indent="0" marL="0">
              <a:buNone/>
            </a:pPr>
            <a:r>
              <a:rPr lang="en-US" sz="14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mm</a:t>
            </a:r>
            <a:endParaRPr lang="en-US" sz="1068" dirty="0"/>
          </a:p>
        </p:txBody>
      </p:sp>
      <p:sp>
        <p:nvSpPr>
          <p:cNvPr id="69" name="Text 63"/>
          <p:cNvSpPr/>
          <p:nvPr/>
        </p:nvSpPr>
        <p:spPr>
          <a:xfrm>
            <a:off x="8311896" y="5564124"/>
            <a:ext cx="1655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in 2027E</a:t>
            </a:r>
            <a:endParaRPr lang="en-US" sz="804" dirty="0"/>
          </a:p>
        </p:txBody>
      </p:sp>
      <p:sp>
        <p:nvSpPr>
          <p:cNvPr id="70" name="Shape 64"/>
          <p:cNvSpPr/>
          <p:nvPr/>
        </p:nvSpPr>
        <p:spPr>
          <a:xfrm>
            <a:off x="10104120" y="4905756"/>
            <a:ext cx="1751990" cy="1154887"/>
          </a:xfrm>
          <a:custGeom>
            <a:avLst/>
            <a:gdLst/>
            <a:ahLst/>
            <a:cxnLst/>
            <a:rect l="l" t="t" r="r" b="b"/>
            <a:pathLst>
              <a:path w="1751990" h="1154887">
                <a:moveTo>
                  <a:pt x="0" y="0"/>
                </a:moveTo>
                <a:lnTo>
                  <a:pt x="1559052" y="0"/>
                </a:lnTo>
                <a:lnTo>
                  <a:pt x="1751990" y="192938"/>
                </a:lnTo>
                <a:lnTo>
                  <a:pt x="1751990" y="1154887"/>
                </a:lnTo>
                <a:lnTo>
                  <a:pt x="192938" y="1154887"/>
                </a:lnTo>
                <a:lnTo>
                  <a:pt x="0" y="961949"/>
                </a:lnTo>
                <a:close/>
              </a:path>
            </a:pathLst>
          </a:custGeom>
          <a:solidFill>
            <a:srgbClr val="343D60"/>
          </a:solidFill>
          <a:ln w="28575">
            <a:solidFill>
              <a:srgbClr val="AFDD7E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10104120" y="5180076"/>
            <a:ext cx="1751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pPr algn="ctr" indent="0" marL="0">
              <a:buNone/>
            </a:pPr>
            <a:r>
              <a:rPr lang="en-US" sz="14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mm</a:t>
            </a:r>
            <a:endParaRPr lang="en-US" sz="1068" dirty="0"/>
          </a:p>
        </p:txBody>
      </p:sp>
      <p:sp>
        <p:nvSpPr>
          <p:cNvPr id="72" name="Text 66"/>
          <p:cNvSpPr/>
          <p:nvPr/>
        </p:nvSpPr>
        <p:spPr>
          <a:xfrm>
            <a:off x="10104120" y="5564124"/>
            <a:ext cx="17519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 growth capex</a:t>
            </a:r>
            <a:endParaRPr lang="en-US" sz="804" dirty="0"/>
          </a:p>
        </p:txBody>
      </p:sp>
      <p:sp>
        <p:nvSpPr>
          <p:cNvPr id="73" name="Text 67"/>
          <p:cNvSpPr/>
          <p:nvPr/>
        </p:nvSpPr>
        <p:spPr>
          <a:xfrm>
            <a:off x="3977640" y="645566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77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Mac Jee financial model v025, Base case (FX R$ 5.1733/US$). Gross revenue.</a:t>
            </a:r>
            <a:endParaRPr lang="en-US" sz="650" dirty="0"/>
          </a:p>
        </p:txBody>
      </p:sp>
      <p:sp>
        <p:nvSpPr>
          <p:cNvPr id="74" name="Text 68"/>
          <p:cNvSpPr/>
          <p:nvPr/>
        </p:nvSpPr>
        <p:spPr>
          <a:xfrm>
            <a:off x="35753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</a:t>
            </a:r>
            <a:endParaRPr lang="en-US" sz="804" dirty="0"/>
          </a:p>
        </p:txBody>
      </p:sp>
      <p:sp>
        <p:nvSpPr>
          <p:cNvPr id="75" name="Shape 69"/>
          <p:cNvSpPr/>
          <p:nvPr/>
        </p:nvSpPr>
        <p:spPr>
          <a:xfrm>
            <a:off x="10931652" y="6469380"/>
            <a:ext cx="932688" cy="196596"/>
          </a:xfrm>
          <a:prstGeom prst="roundRect">
            <a:avLst>
              <a:gd name="adj" fmla="val 18605"/>
            </a:avLst>
          </a:prstGeom>
          <a:ln w="9525">
            <a:solidFill>
              <a:srgbClr val="3C4E86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10931652" y="6469380"/>
            <a:ext cx="9326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6" dirty="0">
                <a:solidFill>
                  <a:srgbClr val="9DA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69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278" y="2240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At a Glance</a:t>
            </a:r>
            <a:endParaRPr lang="en-US" sz="698" dirty="0"/>
          </a:p>
        </p:txBody>
      </p:sp>
      <p:sp>
        <p:nvSpPr>
          <p:cNvPr id="3" name="Text 1"/>
          <p:cNvSpPr/>
          <p:nvPr/>
        </p:nvSpPr>
        <p:spPr>
          <a:xfrm>
            <a:off x="1634947" y="22402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Investment Thesis</a:t>
            </a:r>
            <a:endParaRPr lang="en-US" sz="698" dirty="0"/>
          </a:p>
        </p:txBody>
      </p:sp>
      <p:sp>
        <p:nvSpPr>
          <p:cNvPr id="4" name="Text 2"/>
          <p:cNvSpPr/>
          <p:nvPr/>
        </p:nvSpPr>
        <p:spPr>
          <a:xfrm>
            <a:off x="3165653" y="2240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00178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Business Units and Portfolio</a:t>
            </a:r>
            <a:endParaRPr lang="en-US" sz="698" dirty="0"/>
          </a:p>
        </p:txBody>
      </p:sp>
      <p:sp>
        <p:nvSpPr>
          <p:cNvPr id="5" name="Text 3"/>
          <p:cNvSpPr/>
          <p:nvPr/>
        </p:nvSpPr>
        <p:spPr>
          <a:xfrm>
            <a:off x="4749394" y="2240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Financials</a:t>
            </a:r>
            <a:endParaRPr lang="en-US" sz="698" dirty="0"/>
          </a:p>
        </p:txBody>
      </p:sp>
      <p:sp>
        <p:nvSpPr>
          <p:cNvPr id="6" name="Shape 4"/>
          <p:cNvSpPr/>
          <p:nvPr/>
        </p:nvSpPr>
        <p:spPr>
          <a:xfrm>
            <a:off x="3165653" y="445313"/>
            <a:ext cx="1417320" cy="10973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3133649" y="418795"/>
            <a:ext cx="64008" cy="64008"/>
          </a:xfrm>
          <a:prstGeom prst="diamond">
            <a:avLst/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4550969" y="418795"/>
            <a:ext cx="64008" cy="64008"/>
          </a:xfrm>
          <a:prstGeom prst="diamond">
            <a:avLst/>
          </a:prstGeom>
          <a:solidFill>
            <a:srgbClr val="2196F3"/>
          </a:solidFill>
          <a:ln/>
        </p:spPr>
      </p:sp>
      <p:pic>
        <p:nvPicPr>
          <p:cNvPr id="9" name="Image 0" descr="assets/macje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4222" y="343814"/>
            <a:ext cx="481889" cy="48188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-901598" y="616306"/>
            <a:ext cx="2122322" cy="876910"/>
          </a:xfrm>
          <a:prstGeom prst="roundRect">
            <a:avLst>
              <a:gd name="adj" fmla="val 49948"/>
            </a:avLst>
          </a:prstGeom>
          <a:solidFill>
            <a:srgbClr val="FFC000">
              <a:alpha val="40000"/>
            </a:srgbClr>
          </a:solidFill>
          <a:ln/>
        </p:spPr>
      </p:sp>
      <p:pic>
        <p:nvPicPr>
          <p:cNvPr id="11" name="Image 1" descr="assets/macjee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" y="779069"/>
            <a:ext cx="458114" cy="4334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-155448" y="12298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" spc="120" kern="0" dirty="0">
                <a:solidFill>
                  <a:srgbClr val="00031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ENERGETICS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1316736" y="731520"/>
            <a:ext cx="103720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9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| Mac Jee Energetics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316736" y="1129284"/>
            <a:ext cx="10372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curve falls after 2029 because the model counts only contracts already identified — not because the plants stop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-22860" y="4515307"/>
            <a:ext cx="12215470" cy="2342693"/>
          </a:xfrm>
          <a:prstGeom prst="rect">
            <a:avLst/>
          </a:prstGeom>
          <a:solidFill>
            <a:srgbClr val="00092B"/>
          </a:solidFill>
          <a:ln/>
        </p:spPr>
      </p:sp>
      <p:sp>
        <p:nvSpPr>
          <p:cNvPr id="16" name="Shape 12"/>
          <p:cNvSpPr/>
          <p:nvPr/>
        </p:nvSpPr>
        <p:spPr>
          <a:xfrm>
            <a:off x="70409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7" name="Shape 13"/>
          <p:cNvSpPr/>
          <p:nvPr/>
        </p:nvSpPr>
        <p:spPr>
          <a:xfrm>
            <a:off x="1520647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8" name="Shape 14"/>
          <p:cNvSpPr/>
          <p:nvPr/>
        </p:nvSpPr>
        <p:spPr>
          <a:xfrm>
            <a:off x="2970886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9" name="Shape 15"/>
          <p:cNvSpPr/>
          <p:nvPr/>
        </p:nvSpPr>
        <p:spPr>
          <a:xfrm>
            <a:off x="4421124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0" name="Shape 16"/>
          <p:cNvSpPr/>
          <p:nvPr/>
        </p:nvSpPr>
        <p:spPr>
          <a:xfrm>
            <a:off x="5871362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1" name="Shape 17"/>
          <p:cNvSpPr/>
          <p:nvPr/>
        </p:nvSpPr>
        <p:spPr>
          <a:xfrm>
            <a:off x="7321601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2" name="Shape 18"/>
          <p:cNvSpPr/>
          <p:nvPr/>
        </p:nvSpPr>
        <p:spPr>
          <a:xfrm>
            <a:off x="8771839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3" name="Shape 19"/>
          <p:cNvSpPr/>
          <p:nvPr/>
        </p:nvSpPr>
        <p:spPr>
          <a:xfrm>
            <a:off x="10222078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4" name="Shape 20"/>
          <p:cNvSpPr/>
          <p:nvPr/>
        </p:nvSpPr>
        <p:spPr>
          <a:xfrm>
            <a:off x="11672316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5" name="Shape 21"/>
          <p:cNvSpPr/>
          <p:nvPr/>
        </p:nvSpPr>
        <p:spPr>
          <a:xfrm>
            <a:off x="410566" y="1620317"/>
            <a:ext cx="3231490" cy="4688129"/>
          </a:xfrm>
          <a:custGeom>
            <a:avLst/>
            <a:gdLst/>
            <a:ahLst/>
            <a:cxnLst/>
            <a:rect l="l" t="t" r="r" b="b"/>
            <a:pathLst>
              <a:path w="3231490" h="4688129">
                <a:moveTo>
                  <a:pt x="0" y="0"/>
                </a:moveTo>
                <a:lnTo>
                  <a:pt x="2692908" y="0"/>
                </a:lnTo>
                <a:lnTo>
                  <a:pt x="3231490" y="538582"/>
                </a:lnTo>
                <a:lnTo>
                  <a:pt x="3231490" y="4688129"/>
                </a:lnTo>
                <a:lnTo>
                  <a:pt x="538582" y="4688129"/>
                </a:lnTo>
                <a:lnTo>
                  <a:pt x="0" y="4149547"/>
                </a:lnTo>
                <a:close/>
              </a:path>
            </a:pathLst>
          </a:custGeom>
          <a:solidFill>
            <a:srgbClr val="000312"/>
          </a:solidFill>
          <a:ln w="28575">
            <a:solidFill>
              <a:srgbClr val="FFE081"/>
            </a:solidFill>
            <a:prstDash val="solid"/>
          </a:ln>
        </p:spPr>
      </p:sp>
      <p:pic>
        <p:nvPicPr>
          <p:cNvPr id="26" name="Image 2" descr="assets/hero_energetic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8854" y="1638605"/>
            <a:ext cx="3194914" cy="235915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103474" y="1620317"/>
            <a:ext cx="538582" cy="538582"/>
          </a:xfrm>
          <a:custGeom>
            <a:avLst/>
            <a:gdLst/>
            <a:ahLst/>
            <a:cxnLst/>
            <a:rect l="l" t="t" r="r" b="b"/>
            <a:pathLst>
              <a:path w="538582" h="538582">
                <a:moveTo>
                  <a:pt x="0" y="0"/>
                </a:moveTo>
                <a:lnTo>
                  <a:pt x="538582" y="0"/>
                </a:lnTo>
                <a:lnTo>
                  <a:pt x="538582" y="53858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410566" y="1620317"/>
            <a:ext cx="3231490" cy="4688129"/>
          </a:xfrm>
          <a:custGeom>
            <a:avLst/>
            <a:gdLst/>
            <a:ahLst/>
            <a:cxnLst/>
            <a:rect l="l" t="t" r="r" b="b"/>
            <a:pathLst>
              <a:path w="3231490" h="4688129">
                <a:moveTo>
                  <a:pt x="0" y="0"/>
                </a:moveTo>
                <a:lnTo>
                  <a:pt x="2692908" y="0"/>
                </a:lnTo>
                <a:lnTo>
                  <a:pt x="3231490" y="538582"/>
                </a:lnTo>
                <a:lnTo>
                  <a:pt x="3231490" y="4688129"/>
                </a:lnTo>
                <a:lnTo>
                  <a:pt x="538582" y="4688129"/>
                </a:lnTo>
                <a:lnTo>
                  <a:pt x="0" y="4149547"/>
                </a:lnTo>
                <a:close/>
              </a:path>
            </a:pathLst>
          </a:custGeom>
          <a:ln w="28575">
            <a:solidFill>
              <a:srgbClr val="FFE08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10566" y="4206240"/>
            <a:ext cx="32314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ARGUMENT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48310" y="4507992"/>
            <a:ext cx="2756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Energetics converts contracts, it does not sell a catalogue — and the model reflects exactly that. Revenue peaks at US$ 150 mm in 2029 and falls to US$ 45 mm because five named country contracts run off and the Base case replaces them with US$ 25 mm. The plants do not run off. That gap is the whole upside, and it is not in the numbers.</a:t>
            </a:r>
            <a:endParaRPr lang="en-US" sz="840" dirty="0"/>
          </a:p>
        </p:txBody>
      </p:sp>
      <p:sp>
        <p:nvSpPr>
          <p:cNvPr id="31" name="Text 26"/>
          <p:cNvSpPr/>
          <p:nvPr/>
        </p:nvSpPr>
        <p:spPr>
          <a:xfrm>
            <a:off x="3977640" y="155448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Gross revenue by contract — US$ mm</a:t>
            </a:r>
            <a:endParaRPr lang="en-US" sz="13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977640" y="1847088"/>
          <a:ext cx="4224528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Text 27"/>
          <p:cNvSpPr/>
          <p:nvPr/>
        </p:nvSpPr>
        <p:spPr>
          <a:xfrm>
            <a:off x="4215384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860" dirty="0"/>
          </a:p>
        </p:txBody>
      </p:sp>
      <p:sp>
        <p:nvSpPr>
          <p:cNvPr id="34" name="Text 28"/>
          <p:cNvSpPr/>
          <p:nvPr/>
        </p:nvSpPr>
        <p:spPr>
          <a:xfrm>
            <a:off x="4771862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115</a:t>
            </a:r>
            <a:endParaRPr lang="en-US" sz="860" dirty="0"/>
          </a:p>
        </p:txBody>
      </p:sp>
      <p:sp>
        <p:nvSpPr>
          <p:cNvPr id="35" name="Text 29"/>
          <p:cNvSpPr/>
          <p:nvPr/>
        </p:nvSpPr>
        <p:spPr>
          <a:xfrm>
            <a:off x="5328339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128</a:t>
            </a:r>
            <a:endParaRPr lang="en-US" sz="860" dirty="0"/>
          </a:p>
        </p:txBody>
      </p:sp>
      <p:sp>
        <p:nvSpPr>
          <p:cNvPr id="36" name="Text 30"/>
          <p:cNvSpPr/>
          <p:nvPr/>
        </p:nvSpPr>
        <p:spPr>
          <a:xfrm>
            <a:off x="5884817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</a:t>
            </a:r>
            <a:endParaRPr lang="en-US" sz="860" dirty="0"/>
          </a:p>
        </p:txBody>
      </p:sp>
      <p:sp>
        <p:nvSpPr>
          <p:cNvPr id="37" name="Text 31"/>
          <p:cNvSpPr/>
          <p:nvPr/>
        </p:nvSpPr>
        <p:spPr>
          <a:xfrm>
            <a:off x="6441295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103</a:t>
            </a:r>
            <a:endParaRPr lang="en-US" sz="860" dirty="0"/>
          </a:p>
        </p:txBody>
      </p:sp>
      <p:sp>
        <p:nvSpPr>
          <p:cNvPr id="38" name="Text 32"/>
          <p:cNvSpPr/>
          <p:nvPr/>
        </p:nvSpPr>
        <p:spPr>
          <a:xfrm>
            <a:off x="6997773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860" dirty="0"/>
          </a:p>
        </p:txBody>
      </p:sp>
      <p:sp>
        <p:nvSpPr>
          <p:cNvPr id="39" name="Text 33"/>
          <p:cNvSpPr/>
          <p:nvPr/>
        </p:nvSpPr>
        <p:spPr>
          <a:xfrm>
            <a:off x="7554250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</a:t>
            </a:r>
            <a:endParaRPr lang="en-US" sz="860" dirty="0"/>
          </a:p>
        </p:txBody>
      </p:sp>
      <p:sp>
        <p:nvSpPr>
          <p:cNvPr id="40" name="Text 34"/>
          <p:cNvSpPr/>
          <p:nvPr/>
        </p:nvSpPr>
        <p:spPr>
          <a:xfrm>
            <a:off x="8458200" y="15544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Why the curve falls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8458200" y="1828800"/>
            <a:ext cx="3401568" cy="12802"/>
          </a:xfrm>
          <a:prstGeom prst="rect">
            <a:avLst/>
          </a:prstGeom>
          <a:solidFill>
            <a:srgbClr val="C79000"/>
          </a:solidFill>
          <a:ln/>
        </p:spPr>
      </p:sp>
      <p:sp>
        <p:nvSpPr>
          <p:cNvPr id="42" name="Text 36"/>
          <p:cNvSpPr/>
          <p:nvPr/>
        </p:nvSpPr>
        <p:spPr>
          <a:xfrm>
            <a:off x="8458200" y="19476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9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8695944" y="1938528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country contracts, finite by construction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8695944" y="215341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Azerbaijan ends 2027, Malaysia 2028, ICOR 2029, UAE 2030, Canada 2031 — 91% of 2027 revenue, and zero by 2032.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8458200" y="27889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9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8695944" y="277977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two lines survive the horizon</a:t>
            </a:r>
            <a:endParaRPr lang="en-US" sz="950" dirty="0"/>
          </a:p>
        </p:txBody>
      </p:sp>
      <p:sp>
        <p:nvSpPr>
          <p:cNvPr id="47" name="Text 41"/>
          <p:cNvSpPr/>
          <p:nvPr/>
        </p:nvSpPr>
        <p:spPr>
          <a:xfrm>
            <a:off x="8695944" y="2994660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HMX reaches US$ 15 mm in 2032. “New contracts” — the replacement line — is set at US$ 10.5 mm and US$ 25 mm. That is the entire renewal assumption.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8458200" y="366674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79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8695944" y="3657600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CIM’s own pipeline is not in the model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8695944" y="3872484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Page 41 of the CIM shows a US$ 900 mm 2027 pipeline for Energetics. The model books US$ 35 mm of new contracts across 2031–32. That gap is the upside.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3977640" y="4864608"/>
            <a:ext cx="475488" cy="475488"/>
          </a:xfrm>
          <a:prstGeom prst="ellipse">
            <a:avLst/>
          </a:prstGeom>
          <a:solidFill>
            <a:srgbClr val="FFE081"/>
          </a:solidFill>
          <a:ln/>
        </p:spPr>
      </p:sp>
      <p:sp>
        <p:nvSpPr>
          <p:cNvPr id="52" name="Text 46"/>
          <p:cNvSpPr/>
          <p:nvPr/>
        </p:nvSpPr>
        <p:spPr>
          <a:xfrm>
            <a:off x="3977640" y="4864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▲</a:t>
            </a:r>
            <a:endParaRPr lang="en-US" sz="1300" dirty="0"/>
          </a:p>
        </p:txBody>
      </p:sp>
      <p:sp>
        <p:nvSpPr>
          <p:cNvPr id="53" name="Text 47"/>
          <p:cNvSpPr/>
          <p:nvPr/>
        </p:nvSpPr>
        <p:spPr>
          <a:xfrm>
            <a:off x="4581144" y="485546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91%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4581144" y="50932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 from 5 contracts</a:t>
            </a:r>
            <a:endParaRPr lang="en-US" sz="800" dirty="0"/>
          </a:p>
        </p:txBody>
      </p:sp>
      <p:sp>
        <p:nvSpPr>
          <p:cNvPr id="55" name="Shape 49"/>
          <p:cNvSpPr/>
          <p:nvPr/>
        </p:nvSpPr>
        <p:spPr>
          <a:xfrm>
            <a:off x="3977640" y="5541264"/>
            <a:ext cx="475488" cy="475488"/>
          </a:xfrm>
          <a:prstGeom prst="ellipse">
            <a:avLst/>
          </a:prstGeom>
          <a:solidFill>
            <a:srgbClr val="FFE081"/>
          </a:solidFill>
          <a:ln/>
        </p:spPr>
      </p:sp>
      <p:sp>
        <p:nvSpPr>
          <p:cNvPr id="56" name="Text 50"/>
          <p:cNvSpPr/>
          <p:nvPr/>
        </p:nvSpPr>
        <p:spPr>
          <a:xfrm>
            <a:off x="3977640" y="5541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◆</a:t>
            </a:r>
            <a:endParaRPr lang="en-US" sz="1300" dirty="0"/>
          </a:p>
        </p:txBody>
      </p:sp>
      <p:sp>
        <p:nvSpPr>
          <p:cNvPr id="57" name="Text 51"/>
          <p:cNvSpPr/>
          <p:nvPr/>
        </p:nvSpPr>
        <p:spPr>
          <a:xfrm>
            <a:off x="4581144" y="5532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43%</a:t>
            </a:r>
            <a:endParaRPr lang="en-US" sz="1100" dirty="0"/>
          </a:p>
        </p:txBody>
      </p:sp>
      <p:sp>
        <p:nvSpPr>
          <p:cNvPr id="58" name="Text 52"/>
          <p:cNvSpPr/>
          <p:nvPr/>
        </p:nvSpPr>
        <p:spPr>
          <a:xfrm>
            <a:off x="4581144" y="57698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Gross margin, flat</a:t>
            </a:r>
            <a:endParaRPr lang="en-US" sz="800" dirty="0"/>
          </a:p>
        </p:txBody>
      </p:sp>
      <p:sp>
        <p:nvSpPr>
          <p:cNvPr id="59" name="Shape 53"/>
          <p:cNvSpPr/>
          <p:nvPr/>
        </p:nvSpPr>
        <p:spPr>
          <a:xfrm>
            <a:off x="6309360" y="4864608"/>
            <a:ext cx="475488" cy="475488"/>
          </a:xfrm>
          <a:prstGeom prst="ellipse">
            <a:avLst/>
          </a:prstGeom>
          <a:solidFill>
            <a:srgbClr val="FFE081"/>
          </a:solidFill>
          <a:ln/>
        </p:spPr>
      </p:sp>
      <p:sp>
        <p:nvSpPr>
          <p:cNvPr id="60" name="Text 54"/>
          <p:cNvSpPr/>
          <p:nvPr/>
        </p:nvSpPr>
        <p:spPr>
          <a:xfrm>
            <a:off x="6309360" y="4864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</a:t>
            </a:r>
            <a:endParaRPr lang="en-US" sz="1300" dirty="0"/>
          </a:p>
        </p:txBody>
      </p:sp>
      <p:sp>
        <p:nvSpPr>
          <p:cNvPr id="61" name="Text 55"/>
          <p:cNvSpPr/>
          <p:nvPr/>
        </p:nvSpPr>
        <p:spPr>
          <a:xfrm>
            <a:off x="6912864" y="48554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US$ 25 mm</a:t>
            </a:r>
            <a:endParaRPr lang="en-US" sz="1100" dirty="0"/>
          </a:p>
        </p:txBody>
      </p:sp>
      <p:sp>
        <p:nvSpPr>
          <p:cNvPr id="62" name="Text 56"/>
          <p:cNvSpPr/>
          <p:nvPr/>
        </p:nvSpPr>
        <p:spPr>
          <a:xfrm>
            <a:off x="6912864" y="5093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Lowest growth capex</a:t>
            </a:r>
            <a:endParaRPr lang="en-US" sz="800" dirty="0"/>
          </a:p>
        </p:txBody>
      </p:sp>
      <p:sp>
        <p:nvSpPr>
          <p:cNvPr id="63" name="Shape 57"/>
          <p:cNvSpPr/>
          <p:nvPr/>
        </p:nvSpPr>
        <p:spPr>
          <a:xfrm>
            <a:off x="6309360" y="5541264"/>
            <a:ext cx="475488" cy="475488"/>
          </a:xfrm>
          <a:prstGeom prst="ellipse">
            <a:avLst/>
          </a:prstGeom>
          <a:solidFill>
            <a:srgbClr val="FFE081"/>
          </a:solidFill>
          <a:ln/>
        </p:spPr>
      </p:sp>
      <p:sp>
        <p:nvSpPr>
          <p:cNvPr id="64" name="Text 58"/>
          <p:cNvSpPr/>
          <p:nvPr/>
        </p:nvSpPr>
        <p:spPr>
          <a:xfrm>
            <a:off x="6309360" y="5541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1300" dirty="0"/>
          </a:p>
        </p:txBody>
      </p:sp>
      <p:sp>
        <p:nvSpPr>
          <p:cNvPr id="65" name="Text 59"/>
          <p:cNvSpPr/>
          <p:nvPr/>
        </p:nvSpPr>
        <p:spPr>
          <a:xfrm>
            <a:off x="6912864" y="55321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US$ 35 mm</a:t>
            </a:r>
            <a:endParaRPr lang="en-US" sz="1100" dirty="0"/>
          </a:p>
        </p:txBody>
      </p:sp>
      <p:sp>
        <p:nvSpPr>
          <p:cNvPr id="66" name="Text 60"/>
          <p:cNvSpPr/>
          <p:nvPr/>
        </p:nvSpPr>
        <p:spPr>
          <a:xfrm>
            <a:off x="6912864" y="5769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contracts booked</a:t>
            </a:r>
            <a:endParaRPr lang="en-US" sz="800" dirty="0"/>
          </a:p>
        </p:txBody>
      </p:sp>
      <p:sp>
        <p:nvSpPr>
          <p:cNvPr id="67" name="Shape 61"/>
          <p:cNvSpPr/>
          <p:nvPr/>
        </p:nvSpPr>
        <p:spPr>
          <a:xfrm>
            <a:off x="8311896" y="4905756"/>
            <a:ext cx="1655978" cy="1154887"/>
          </a:xfrm>
          <a:custGeom>
            <a:avLst/>
            <a:gdLst/>
            <a:ahLst/>
            <a:cxnLst/>
            <a:rect l="l" t="t" r="r" b="b"/>
            <a:pathLst>
              <a:path w="1655978" h="1154887">
                <a:moveTo>
                  <a:pt x="0" y="0"/>
                </a:moveTo>
                <a:lnTo>
                  <a:pt x="1463040" y="0"/>
                </a:lnTo>
                <a:lnTo>
                  <a:pt x="1655978" y="192938"/>
                </a:lnTo>
                <a:lnTo>
                  <a:pt x="1655978" y="1154887"/>
                </a:lnTo>
                <a:lnTo>
                  <a:pt x="192938" y="1154887"/>
                </a:lnTo>
                <a:lnTo>
                  <a:pt x="0" y="961949"/>
                </a:lnTo>
                <a:close/>
              </a:path>
            </a:pathLst>
          </a:custGeom>
          <a:solidFill>
            <a:srgbClr val="343D60"/>
          </a:solidFill>
          <a:ln w="28575">
            <a:solidFill>
              <a:srgbClr val="FFE081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8311896" y="5180076"/>
            <a:ext cx="1655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115</a:t>
            </a:r>
            <a:pPr algn="ctr" indent="0" marL="0">
              <a:buNone/>
            </a:pPr>
            <a:r>
              <a:rPr lang="en-US" sz="14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mm</a:t>
            </a:r>
            <a:endParaRPr lang="en-US" sz="1068" dirty="0"/>
          </a:p>
        </p:txBody>
      </p:sp>
      <p:sp>
        <p:nvSpPr>
          <p:cNvPr id="69" name="Text 63"/>
          <p:cNvSpPr/>
          <p:nvPr/>
        </p:nvSpPr>
        <p:spPr>
          <a:xfrm>
            <a:off x="8311896" y="5564124"/>
            <a:ext cx="1655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in 2027E</a:t>
            </a:r>
            <a:endParaRPr lang="en-US" sz="804" dirty="0"/>
          </a:p>
        </p:txBody>
      </p:sp>
      <p:sp>
        <p:nvSpPr>
          <p:cNvPr id="70" name="Shape 64"/>
          <p:cNvSpPr/>
          <p:nvPr/>
        </p:nvSpPr>
        <p:spPr>
          <a:xfrm>
            <a:off x="10104120" y="4905756"/>
            <a:ext cx="1751990" cy="1154887"/>
          </a:xfrm>
          <a:custGeom>
            <a:avLst/>
            <a:gdLst/>
            <a:ahLst/>
            <a:cxnLst/>
            <a:rect l="l" t="t" r="r" b="b"/>
            <a:pathLst>
              <a:path w="1751990" h="1154887">
                <a:moveTo>
                  <a:pt x="0" y="0"/>
                </a:moveTo>
                <a:lnTo>
                  <a:pt x="1559052" y="0"/>
                </a:lnTo>
                <a:lnTo>
                  <a:pt x="1751990" y="192938"/>
                </a:lnTo>
                <a:lnTo>
                  <a:pt x="1751990" y="1154887"/>
                </a:lnTo>
                <a:lnTo>
                  <a:pt x="192938" y="1154887"/>
                </a:lnTo>
                <a:lnTo>
                  <a:pt x="0" y="961949"/>
                </a:lnTo>
                <a:close/>
              </a:path>
            </a:pathLst>
          </a:custGeom>
          <a:solidFill>
            <a:srgbClr val="343D60"/>
          </a:solidFill>
          <a:ln w="28575">
            <a:solidFill>
              <a:srgbClr val="FFE081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10104120" y="5180076"/>
            <a:ext cx="1751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</a:t>
            </a:r>
            <a:pPr algn="ctr" indent="0" marL="0">
              <a:buNone/>
            </a:pPr>
            <a:r>
              <a:rPr lang="en-US" sz="14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mm</a:t>
            </a:r>
            <a:endParaRPr lang="en-US" sz="1068" dirty="0"/>
          </a:p>
        </p:txBody>
      </p:sp>
      <p:sp>
        <p:nvSpPr>
          <p:cNvPr id="72" name="Text 66"/>
          <p:cNvSpPr/>
          <p:nvPr/>
        </p:nvSpPr>
        <p:spPr>
          <a:xfrm>
            <a:off x="10104120" y="5564124"/>
            <a:ext cx="17519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Peak year, 2029E</a:t>
            </a:r>
            <a:endParaRPr lang="en-US" sz="804" dirty="0"/>
          </a:p>
        </p:txBody>
      </p:sp>
      <p:sp>
        <p:nvSpPr>
          <p:cNvPr id="73" name="Text 67"/>
          <p:cNvSpPr/>
          <p:nvPr/>
        </p:nvSpPr>
        <p:spPr>
          <a:xfrm>
            <a:off x="3977640" y="645566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77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Mac Jee financial model v025, Base case (FX R$ 5.1733/US$). Gross revenue. “New contracts” is the model’s own replacement line, not an IGC estimate.</a:t>
            </a:r>
            <a:endParaRPr lang="en-US" sz="650" dirty="0"/>
          </a:p>
        </p:txBody>
      </p:sp>
      <p:sp>
        <p:nvSpPr>
          <p:cNvPr id="74" name="Text 68"/>
          <p:cNvSpPr/>
          <p:nvPr/>
        </p:nvSpPr>
        <p:spPr>
          <a:xfrm>
            <a:off x="35753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</a:t>
            </a:r>
            <a:endParaRPr lang="en-US" sz="804" dirty="0"/>
          </a:p>
        </p:txBody>
      </p:sp>
      <p:sp>
        <p:nvSpPr>
          <p:cNvPr id="75" name="Shape 69"/>
          <p:cNvSpPr/>
          <p:nvPr/>
        </p:nvSpPr>
        <p:spPr>
          <a:xfrm>
            <a:off x="10931652" y="6469380"/>
            <a:ext cx="932688" cy="196596"/>
          </a:xfrm>
          <a:prstGeom prst="roundRect">
            <a:avLst>
              <a:gd name="adj" fmla="val 18605"/>
            </a:avLst>
          </a:prstGeom>
          <a:ln w="9525">
            <a:solidFill>
              <a:srgbClr val="3C4E86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10931652" y="6469380"/>
            <a:ext cx="9326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6" dirty="0">
                <a:solidFill>
                  <a:srgbClr val="9DA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69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2278" y="2240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At a Glance</a:t>
            </a:r>
            <a:endParaRPr lang="en-US" sz="698" dirty="0"/>
          </a:p>
        </p:txBody>
      </p:sp>
      <p:sp>
        <p:nvSpPr>
          <p:cNvPr id="3" name="Text 1"/>
          <p:cNvSpPr/>
          <p:nvPr/>
        </p:nvSpPr>
        <p:spPr>
          <a:xfrm>
            <a:off x="1634947" y="22402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 Jee Investment Thesis</a:t>
            </a:r>
            <a:endParaRPr lang="en-US" sz="698" dirty="0"/>
          </a:p>
        </p:txBody>
      </p:sp>
      <p:sp>
        <p:nvSpPr>
          <p:cNvPr id="4" name="Text 2"/>
          <p:cNvSpPr/>
          <p:nvPr/>
        </p:nvSpPr>
        <p:spPr>
          <a:xfrm>
            <a:off x="3165653" y="2240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00178D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Business Units and Portfolio</a:t>
            </a:r>
            <a:endParaRPr lang="en-US" sz="698" dirty="0"/>
          </a:p>
        </p:txBody>
      </p:sp>
      <p:sp>
        <p:nvSpPr>
          <p:cNvPr id="5" name="Text 3"/>
          <p:cNvSpPr/>
          <p:nvPr/>
        </p:nvSpPr>
        <p:spPr>
          <a:xfrm>
            <a:off x="4749394" y="2240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8" dirty="0">
                <a:solidFill>
                  <a:srgbClr val="BFBF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Financials</a:t>
            </a:r>
            <a:endParaRPr lang="en-US" sz="698" dirty="0"/>
          </a:p>
        </p:txBody>
      </p:sp>
      <p:sp>
        <p:nvSpPr>
          <p:cNvPr id="6" name="Shape 4"/>
          <p:cNvSpPr/>
          <p:nvPr/>
        </p:nvSpPr>
        <p:spPr>
          <a:xfrm>
            <a:off x="3165653" y="445313"/>
            <a:ext cx="1417320" cy="10973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Shape 5"/>
          <p:cNvSpPr/>
          <p:nvPr/>
        </p:nvSpPr>
        <p:spPr>
          <a:xfrm>
            <a:off x="3133649" y="418795"/>
            <a:ext cx="64008" cy="64008"/>
          </a:xfrm>
          <a:prstGeom prst="diamond">
            <a:avLst/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4550969" y="418795"/>
            <a:ext cx="64008" cy="64008"/>
          </a:xfrm>
          <a:prstGeom prst="diamond">
            <a:avLst/>
          </a:prstGeom>
          <a:solidFill>
            <a:srgbClr val="2196F3"/>
          </a:solidFill>
          <a:ln/>
        </p:spPr>
      </p:sp>
      <p:pic>
        <p:nvPicPr>
          <p:cNvPr id="9" name="Image 0" descr="assets/macje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4222" y="343814"/>
            <a:ext cx="481889" cy="481889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-901598" y="616306"/>
            <a:ext cx="2122322" cy="876910"/>
          </a:xfrm>
          <a:prstGeom prst="roundRect">
            <a:avLst>
              <a:gd name="adj" fmla="val 49948"/>
            </a:avLst>
          </a:prstGeom>
          <a:solidFill>
            <a:srgbClr val="949494">
              <a:alpha val="40000"/>
            </a:srgbClr>
          </a:solidFill>
          <a:ln/>
        </p:spPr>
      </p:sp>
      <p:pic>
        <p:nvPicPr>
          <p:cNvPr id="11" name="Image 1" descr="assets/macjee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" y="779069"/>
            <a:ext cx="458114" cy="4334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-155448" y="12298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" spc="120" kern="0" dirty="0">
                <a:solidFill>
                  <a:srgbClr val="00031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MISSILE</a:t>
            </a:r>
            <a:endParaRPr lang="en-US" sz="600" dirty="0"/>
          </a:p>
        </p:txBody>
      </p:sp>
      <p:sp>
        <p:nvSpPr>
          <p:cNvPr id="13" name="Text 9"/>
          <p:cNvSpPr/>
          <p:nvPr/>
        </p:nvSpPr>
        <p:spPr>
          <a:xfrm>
            <a:off x="1316736" y="731520"/>
            <a:ext cx="103720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526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Potential | Mac Jee Missile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316736" y="1129284"/>
            <a:ext cx="103720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zero to the group’s largest unit — and the destination of 78% of the growth capex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-22860" y="4515307"/>
            <a:ext cx="12215470" cy="2342693"/>
          </a:xfrm>
          <a:prstGeom prst="rect">
            <a:avLst/>
          </a:prstGeom>
          <a:solidFill>
            <a:srgbClr val="00092B"/>
          </a:solidFill>
          <a:ln/>
        </p:spPr>
      </p:sp>
      <p:sp>
        <p:nvSpPr>
          <p:cNvPr id="16" name="Shape 12"/>
          <p:cNvSpPr/>
          <p:nvPr/>
        </p:nvSpPr>
        <p:spPr>
          <a:xfrm>
            <a:off x="70409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7" name="Shape 13"/>
          <p:cNvSpPr/>
          <p:nvPr/>
        </p:nvSpPr>
        <p:spPr>
          <a:xfrm>
            <a:off x="1520647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8" name="Shape 14"/>
          <p:cNvSpPr/>
          <p:nvPr/>
        </p:nvSpPr>
        <p:spPr>
          <a:xfrm>
            <a:off x="2970886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19" name="Shape 15"/>
          <p:cNvSpPr/>
          <p:nvPr/>
        </p:nvSpPr>
        <p:spPr>
          <a:xfrm>
            <a:off x="4421124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0" name="Shape 16"/>
          <p:cNvSpPr/>
          <p:nvPr/>
        </p:nvSpPr>
        <p:spPr>
          <a:xfrm>
            <a:off x="5871362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1" name="Shape 17"/>
          <p:cNvSpPr/>
          <p:nvPr/>
        </p:nvSpPr>
        <p:spPr>
          <a:xfrm>
            <a:off x="7321601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2" name="Shape 18"/>
          <p:cNvSpPr/>
          <p:nvPr/>
        </p:nvSpPr>
        <p:spPr>
          <a:xfrm>
            <a:off x="8771839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3" name="Shape 19"/>
          <p:cNvSpPr/>
          <p:nvPr/>
        </p:nvSpPr>
        <p:spPr>
          <a:xfrm>
            <a:off x="10222078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4" name="Shape 20"/>
          <p:cNvSpPr/>
          <p:nvPr/>
        </p:nvSpPr>
        <p:spPr>
          <a:xfrm>
            <a:off x="11672316" y="4515307"/>
            <a:ext cx="27432" cy="2342693"/>
          </a:xfrm>
          <a:prstGeom prst="rect">
            <a:avLst/>
          </a:prstGeom>
          <a:solidFill>
            <a:srgbClr val="1C2441"/>
          </a:solidFill>
          <a:ln/>
        </p:spPr>
      </p:sp>
      <p:sp>
        <p:nvSpPr>
          <p:cNvPr id="25" name="Shape 21"/>
          <p:cNvSpPr/>
          <p:nvPr/>
        </p:nvSpPr>
        <p:spPr>
          <a:xfrm>
            <a:off x="410566" y="1620317"/>
            <a:ext cx="3231490" cy="4688129"/>
          </a:xfrm>
          <a:custGeom>
            <a:avLst/>
            <a:gdLst/>
            <a:ahLst/>
            <a:cxnLst/>
            <a:rect l="l" t="t" r="r" b="b"/>
            <a:pathLst>
              <a:path w="3231490" h="4688129">
                <a:moveTo>
                  <a:pt x="0" y="0"/>
                </a:moveTo>
                <a:lnTo>
                  <a:pt x="2692908" y="0"/>
                </a:lnTo>
                <a:lnTo>
                  <a:pt x="3231490" y="538582"/>
                </a:lnTo>
                <a:lnTo>
                  <a:pt x="3231490" y="4688129"/>
                </a:lnTo>
                <a:lnTo>
                  <a:pt x="538582" y="4688129"/>
                </a:lnTo>
                <a:lnTo>
                  <a:pt x="0" y="4149547"/>
                </a:lnTo>
                <a:close/>
              </a:path>
            </a:pathLst>
          </a:custGeom>
          <a:solidFill>
            <a:srgbClr val="000312"/>
          </a:solidFill>
          <a:ln w="28575">
            <a:solidFill>
              <a:srgbClr val="DFDFDF"/>
            </a:solidFill>
            <a:prstDash val="solid"/>
          </a:ln>
        </p:spPr>
      </p:sp>
      <p:pic>
        <p:nvPicPr>
          <p:cNvPr id="26" name="Image 2" descr="assets/hero_missil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8854" y="1638605"/>
            <a:ext cx="3194914" cy="235915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103474" y="1620317"/>
            <a:ext cx="538582" cy="538582"/>
          </a:xfrm>
          <a:custGeom>
            <a:avLst/>
            <a:gdLst/>
            <a:ahLst/>
            <a:cxnLst/>
            <a:rect l="l" t="t" r="r" b="b"/>
            <a:pathLst>
              <a:path w="538582" h="538582">
                <a:moveTo>
                  <a:pt x="0" y="0"/>
                </a:moveTo>
                <a:lnTo>
                  <a:pt x="538582" y="0"/>
                </a:lnTo>
                <a:lnTo>
                  <a:pt x="538582" y="53858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3"/>
          <p:cNvSpPr/>
          <p:nvPr/>
        </p:nvSpPr>
        <p:spPr>
          <a:xfrm>
            <a:off x="410566" y="1620317"/>
            <a:ext cx="3231490" cy="4688129"/>
          </a:xfrm>
          <a:custGeom>
            <a:avLst/>
            <a:gdLst/>
            <a:ahLst/>
            <a:cxnLst/>
            <a:rect l="l" t="t" r="r" b="b"/>
            <a:pathLst>
              <a:path w="3231490" h="4688129">
                <a:moveTo>
                  <a:pt x="0" y="0"/>
                </a:moveTo>
                <a:lnTo>
                  <a:pt x="2692908" y="0"/>
                </a:lnTo>
                <a:lnTo>
                  <a:pt x="3231490" y="538582"/>
                </a:lnTo>
                <a:lnTo>
                  <a:pt x="3231490" y="4688129"/>
                </a:lnTo>
                <a:lnTo>
                  <a:pt x="538582" y="4688129"/>
                </a:lnTo>
                <a:lnTo>
                  <a:pt x="0" y="4149547"/>
                </a:lnTo>
                <a:close/>
              </a:path>
            </a:pathLst>
          </a:custGeom>
          <a:ln w="28575">
            <a:solidFill>
              <a:srgbClr val="DFDFD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10566" y="4206240"/>
            <a:ext cx="32314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ARGUMENT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48310" y="4507992"/>
            <a:ext cx="275600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Missile carries the equity story: nothing in 2026, US$ 711 mm and 64% of group revenue by 2032, at the only expanding gross margin in the group. It is also where the money goes — US$ 210 mm of growth capex in 2027 alone, spent before the first GGM units ship at scale. The unit is the thesis and the risk in the same line.</a:t>
            </a:r>
            <a:endParaRPr lang="en-US" sz="860" dirty="0"/>
          </a:p>
        </p:txBody>
      </p:sp>
      <p:sp>
        <p:nvSpPr>
          <p:cNvPr id="31" name="Text 26"/>
          <p:cNvSpPr/>
          <p:nvPr/>
        </p:nvSpPr>
        <p:spPr>
          <a:xfrm>
            <a:off x="3977640" y="155448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Gross revenue by programme — US$ mm</a:t>
            </a:r>
            <a:endParaRPr lang="en-US" sz="130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977640" y="1847088"/>
          <a:ext cx="4224528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Text 27"/>
          <p:cNvSpPr/>
          <p:nvPr/>
        </p:nvSpPr>
        <p:spPr>
          <a:xfrm>
            <a:off x="4215384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860" dirty="0"/>
          </a:p>
        </p:txBody>
      </p:sp>
      <p:sp>
        <p:nvSpPr>
          <p:cNvPr id="34" name="Text 28"/>
          <p:cNvSpPr/>
          <p:nvPr/>
        </p:nvSpPr>
        <p:spPr>
          <a:xfrm>
            <a:off x="4771862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860" dirty="0"/>
          </a:p>
        </p:txBody>
      </p:sp>
      <p:sp>
        <p:nvSpPr>
          <p:cNvPr id="35" name="Text 29"/>
          <p:cNvSpPr/>
          <p:nvPr/>
        </p:nvSpPr>
        <p:spPr>
          <a:xfrm>
            <a:off x="5328339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107</a:t>
            </a:r>
            <a:endParaRPr lang="en-US" sz="860" dirty="0"/>
          </a:p>
        </p:txBody>
      </p:sp>
      <p:sp>
        <p:nvSpPr>
          <p:cNvPr id="36" name="Text 30"/>
          <p:cNvSpPr/>
          <p:nvPr/>
        </p:nvSpPr>
        <p:spPr>
          <a:xfrm>
            <a:off x="5884817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213</a:t>
            </a:r>
            <a:endParaRPr lang="en-US" sz="860" dirty="0"/>
          </a:p>
        </p:txBody>
      </p:sp>
      <p:sp>
        <p:nvSpPr>
          <p:cNvPr id="37" name="Text 31"/>
          <p:cNvSpPr/>
          <p:nvPr/>
        </p:nvSpPr>
        <p:spPr>
          <a:xfrm>
            <a:off x="6441295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351</a:t>
            </a:r>
            <a:endParaRPr lang="en-US" sz="860" dirty="0"/>
          </a:p>
        </p:txBody>
      </p:sp>
      <p:sp>
        <p:nvSpPr>
          <p:cNvPr id="38" name="Text 32"/>
          <p:cNvSpPr/>
          <p:nvPr/>
        </p:nvSpPr>
        <p:spPr>
          <a:xfrm>
            <a:off x="6997773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515</a:t>
            </a:r>
            <a:endParaRPr lang="en-US" sz="860" dirty="0"/>
          </a:p>
        </p:txBody>
      </p:sp>
      <p:sp>
        <p:nvSpPr>
          <p:cNvPr id="39" name="Text 33"/>
          <p:cNvSpPr/>
          <p:nvPr/>
        </p:nvSpPr>
        <p:spPr>
          <a:xfrm>
            <a:off x="7554250" y="1920240"/>
            <a:ext cx="5564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009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711</a:t>
            </a:r>
            <a:endParaRPr lang="en-US" sz="860" dirty="0"/>
          </a:p>
        </p:txBody>
      </p:sp>
      <p:sp>
        <p:nvSpPr>
          <p:cNvPr id="40" name="Text 34"/>
          <p:cNvSpPr/>
          <p:nvPr/>
        </p:nvSpPr>
        <p:spPr>
          <a:xfrm>
            <a:off x="8458200" y="155448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Where the value sits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8458200" y="1828800"/>
            <a:ext cx="3401568" cy="12802"/>
          </a:xfrm>
          <a:prstGeom prst="rect">
            <a:avLst/>
          </a:prstGeom>
          <a:solidFill>
            <a:srgbClr val="1E48E0"/>
          </a:solidFill>
          <a:ln/>
        </p:spPr>
      </p:sp>
      <p:sp>
        <p:nvSpPr>
          <p:cNvPr id="42" name="Text 36"/>
          <p:cNvSpPr/>
          <p:nvPr/>
        </p:nvSpPr>
        <p:spPr>
          <a:xfrm>
            <a:off x="8458200" y="19476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8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8695944" y="1938528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GGM Cruise Missile 300 is the unit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8695944" y="215341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units in 2027 to 150 in 2032, at US$ 1.9 mm rising to US$ 2.55 mm each. Alone it is 54% of the unit in 2032 and 34% of the group.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8458200" y="27889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8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8695944" y="2779776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US$ 210 mm of capex, all in 2027</a:t>
            </a:r>
            <a:endParaRPr lang="en-US" sz="950" dirty="0"/>
          </a:p>
        </p:txBody>
      </p:sp>
      <p:sp>
        <p:nvSpPr>
          <p:cNvPr id="47" name="Text 41"/>
          <p:cNvSpPr/>
          <p:nvPr/>
        </p:nvSpPr>
        <p:spPr>
          <a:xfrm>
            <a:off x="8695944" y="2994660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78% of the group’s US$ 268 mm total, committed in one year. Gross profit repays it 4.6x by 2032 — against 16.6x for Munitions on a fraction of the cheque.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8458200" y="364845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E48E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8695944" y="36393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only expanding margin in the group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8695944" y="3854196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C46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49% in 2028 to 52% in 2032, while Munitions dilutes from 41% to 35%. Mix, not price.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3977640" y="4864608"/>
            <a:ext cx="475488" cy="475488"/>
          </a:xfrm>
          <a:prstGeom prst="ellipse">
            <a:avLst/>
          </a:prstGeom>
          <a:solidFill>
            <a:srgbClr val="DFDFDF"/>
          </a:solidFill>
          <a:ln/>
        </p:spPr>
      </p:sp>
      <p:sp>
        <p:nvSpPr>
          <p:cNvPr id="52" name="Text 46"/>
          <p:cNvSpPr/>
          <p:nvPr/>
        </p:nvSpPr>
        <p:spPr>
          <a:xfrm>
            <a:off x="3977640" y="4864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</a:t>
            </a:r>
            <a:endParaRPr lang="en-US" sz="1300" dirty="0"/>
          </a:p>
        </p:txBody>
      </p:sp>
      <p:sp>
        <p:nvSpPr>
          <p:cNvPr id="53" name="Text 47"/>
          <p:cNvSpPr/>
          <p:nvPr/>
        </p:nvSpPr>
        <p:spPr>
          <a:xfrm>
            <a:off x="4581144" y="485546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78%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4581144" y="50932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group growth capex</a:t>
            </a:r>
            <a:endParaRPr lang="en-US" sz="800" dirty="0"/>
          </a:p>
        </p:txBody>
      </p:sp>
      <p:sp>
        <p:nvSpPr>
          <p:cNvPr id="55" name="Shape 49"/>
          <p:cNvSpPr/>
          <p:nvPr/>
        </p:nvSpPr>
        <p:spPr>
          <a:xfrm>
            <a:off x="3977640" y="5541264"/>
            <a:ext cx="475488" cy="475488"/>
          </a:xfrm>
          <a:prstGeom prst="ellipse">
            <a:avLst/>
          </a:prstGeom>
          <a:solidFill>
            <a:srgbClr val="DFDFDF"/>
          </a:solidFill>
          <a:ln/>
        </p:spPr>
      </p:sp>
      <p:sp>
        <p:nvSpPr>
          <p:cNvPr id="56" name="Text 50"/>
          <p:cNvSpPr/>
          <p:nvPr/>
        </p:nvSpPr>
        <p:spPr>
          <a:xfrm>
            <a:off x="3977640" y="5541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▲</a:t>
            </a:r>
            <a:endParaRPr lang="en-US" sz="1300" dirty="0"/>
          </a:p>
        </p:txBody>
      </p:sp>
      <p:sp>
        <p:nvSpPr>
          <p:cNvPr id="57" name="Text 51"/>
          <p:cNvSpPr/>
          <p:nvPr/>
        </p:nvSpPr>
        <p:spPr>
          <a:xfrm>
            <a:off x="4581144" y="55321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64%</a:t>
            </a:r>
            <a:endParaRPr lang="en-US" sz="1100" dirty="0"/>
          </a:p>
        </p:txBody>
      </p:sp>
      <p:sp>
        <p:nvSpPr>
          <p:cNvPr id="58" name="Text 52"/>
          <p:cNvSpPr/>
          <p:nvPr/>
        </p:nvSpPr>
        <p:spPr>
          <a:xfrm>
            <a:off x="4581144" y="57698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 group revenue 2032E</a:t>
            </a:r>
            <a:endParaRPr lang="en-US" sz="800" dirty="0"/>
          </a:p>
        </p:txBody>
      </p:sp>
      <p:sp>
        <p:nvSpPr>
          <p:cNvPr id="59" name="Shape 53"/>
          <p:cNvSpPr/>
          <p:nvPr/>
        </p:nvSpPr>
        <p:spPr>
          <a:xfrm>
            <a:off x="6309360" y="4864608"/>
            <a:ext cx="475488" cy="475488"/>
          </a:xfrm>
          <a:prstGeom prst="ellipse">
            <a:avLst/>
          </a:prstGeom>
          <a:solidFill>
            <a:srgbClr val="DFDFDF"/>
          </a:solidFill>
          <a:ln/>
        </p:spPr>
      </p:sp>
      <p:sp>
        <p:nvSpPr>
          <p:cNvPr id="60" name="Text 54"/>
          <p:cNvSpPr/>
          <p:nvPr/>
        </p:nvSpPr>
        <p:spPr>
          <a:xfrm>
            <a:off x="6309360" y="4864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◆</a:t>
            </a:r>
            <a:endParaRPr lang="en-US" sz="1300" dirty="0"/>
          </a:p>
        </p:txBody>
      </p:sp>
      <p:sp>
        <p:nvSpPr>
          <p:cNvPr id="61" name="Text 55"/>
          <p:cNvSpPr/>
          <p:nvPr/>
        </p:nvSpPr>
        <p:spPr>
          <a:xfrm>
            <a:off x="6912864" y="48554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50% → 52%</a:t>
            </a:r>
            <a:endParaRPr lang="en-US" sz="1100" dirty="0"/>
          </a:p>
        </p:txBody>
      </p:sp>
      <p:sp>
        <p:nvSpPr>
          <p:cNvPr id="62" name="Text 56"/>
          <p:cNvSpPr/>
          <p:nvPr/>
        </p:nvSpPr>
        <p:spPr>
          <a:xfrm>
            <a:off x="6912864" y="5093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Margin, expanding</a:t>
            </a:r>
            <a:endParaRPr lang="en-US" sz="800" dirty="0"/>
          </a:p>
        </p:txBody>
      </p:sp>
      <p:sp>
        <p:nvSpPr>
          <p:cNvPr id="63" name="Shape 57"/>
          <p:cNvSpPr/>
          <p:nvPr/>
        </p:nvSpPr>
        <p:spPr>
          <a:xfrm>
            <a:off x="6309360" y="5541264"/>
            <a:ext cx="475488" cy="475488"/>
          </a:xfrm>
          <a:prstGeom prst="ellipse">
            <a:avLst/>
          </a:prstGeom>
          <a:solidFill>
            <a:srgbClr val="DFDFDF"/>
          </a:solidFill>
          <a:ln/>
        </p:spPr>
      </p:sp>
      <p:sp>
        <p:nvSpPr>
          <p:cNvPr id="64" name="Text 58"/>
          <p:cNvSpPr/>
          <p:nvPr/>
        </p:nvSpPr>
        <p:spPr>
          <a:xfrm>
            <a:off x="6309360" y="5541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3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■</a:t>
            </a:r>
            <a:endParaRPr lang="en-US" sz="1300" dirty="0"/>
          </a:p>
        </p:txBody>
      </p:sp>
      <p:sp>
        <p:nvSpPr>
          <p:cNvPr id="65" name="Text 59"/>
          <p:cNvSpPr/>
          <p:nvPr/>
        </p:nvSpPr>
        <p:spPr>
          <a:xfrm>
            <a:off x="6912864" y="55321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programmes</a:t>
            </a:r>
            <a:endParaRPr lang="en-US" sz="1100" dirty="0"/>
          </a:p>
        </p:txBody>
      </p:sp>
      <p:sp>
        <p:nvSpPr>
          <p:cNvPr id="66" name="Text 60"/>
          <p:cNvSpPr/>
          <p:nvPr/>
        </p:nvSpPr>
        <p:spPr>
          <a:xfrm>
            <a:off x="6912864" y="5769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6CBD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zero in 2026</a:t>
            </a:r>
            <a:endParaRPr lang="en-US" sz="800" dirty="0"/>
          </a:p>
        </p:txBody>
      </p:sp>
      <p:sp>
        <p:nvSpPr>
          <p:cNvPr id="67" name="Shape 61"/>
          <p:cNvSpPr/>
          <p:nvPr/>
        </p:nvSpPr>
        <p:spPr>
          <a:xfrm>
            <a:off x="8311896" y="4905756"/>
            <a:ext cx="1655978" cy="1154887"/>
          </a:xfrm>
          <a:custGeom>
            <a:avLst/>
            <a:gdLst/>
            <a:ahLst/>
            <a:cxnLst/>
            <a:rect l="l" t="t" r="r" b="b"/>
            <a:pathLst>
              <a:path w="1655978" h="1154887">
                <a:moveTo>
                  <a:pt x="0" y="0"/>
                </a:moveTo>
                <a:lnTo>
                  <a:pt x="1463040" y="0"/>
                </a:lnTo>
                <a:lnTo>
                  <a:pt x="1655978" y="192938"/>
                </a:lnTo>
                <a:lnTo>
                  <a:pt x="1655978" y="1154887"/>
                </a:lnTo>
                <a:lnTo>
                  <a:pt x="192938" y="1154887"/>
                </a:lnTo>
                <a:lnTo>
                  <a:pt x="0" y="961949"/>
                </a:lnTo>
                <a:close/>
              </a:path>
            </a:pathLst>
          </a:custGeom>
          <a:solidFill>
            <a:srgbClr val="343D60"/>
          </a:solidFill>
          <a:ln w="28575">
            <a:solidFill>
              <a:srgbClr val="DFDFDF"/>
            </a:solidFill>
            <a:prstDash val="solid"/>
          </a:ln>
        </p:spPr>
      </p:sp>
      <p:sp>
        <p:nvSpPr>
          <p:cNvPr id="68" name="Text 62"/>
          <p:cNvSpPr/>
          <p:nvPr/>
        </p:nvSpPr>
        <p:spPr>
          <a:xfrm>
            <a:off x="8311896" y="5180076"/>
            <a:ext cx="1655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pPr algn="ctr" indent="0" marL="0">
              <a:buNone/>
            </a:pPr>
            <a:r>
              <a:rPr lang="en-US" sz="14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mm</a:t>
            </a:r>
            <a:endParaRPr lang="en-US" sz="1068" dirty="0"/>
          </a:p>
        </p:txBody>
      </p:sp>
      <p:sp>
        <p:nvSpPr>
          <p:cNvPr id="69" name="Text 63"/>
          <p:cNvSpPr/>
          <p:nvPr/>
        </p:nvSpPr>
        <p:spPr>
          <a:xfrm>
            <a:off x="8311896" y="5564124"/>
            <a:ext cx="16559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in 2027E</a:t>
            </a:r>
            <a:endParaRPr lang="en-US" sz="804" dirty="0"/>
          </a:p>
        </p:txBody>
      </p:sp>
      <p:sp>
        <p:nvSpPr>
          <p:cNvPr id="70" name="Shape 64"/>
          <p:cNvSpPr/>
          <p:nvPr/>
        </p:nvSpPr>
        <p:spPr>
          <a:xfrm>
            <a:off x="10104120" y="4905756"/>
            <a:ext cx="1751990" cy="1154887"/>
          </a:xfrm>
          <a:custGeom>
            <a:avLst/>
            <a:gdLst/>
            <a:ahLst/>
            <a:cxnLst/>
            <a:rect l="l" t="t" r="r" b="b"/>
            <a:pathLst>
              <a:path w="1751990" h="1154887">
                <a:moveTo>
                  <a:pt x="0" y="0"/>
                </a:moveTo>
                <a:lnTo>
                  <a:pt x="1559052" y="0"/>
                </a:lnTo>
                <a:lnTo>
                  <a:pt x="1751990" y="192938"/>
                </a:lnTo>
                <a:lnTo>
                  <a:pt x="1751990" y="1154887"/>
                </a:lnTo>
                <a:lnTo>
                  <a:pt x="192938" y="1154887"/>
                </a:lnTo>
                <a:lnTo>
                  <a:pt x="0" y="961949"/>
                </a:lnTo>
                <a:close/>
              </a:path>
            </a:pathLst>
          </a:custGeom>
          <a:solidFill>
            <a:srgbClr val="343D60"/>
          </a:solidFill>
          <a:ln w="28575">
            <a:solidFill>
              <a:srgbClr val="DFDFDF"/>
            </a:solidFill>
            <a:prstDash val="solid"/>
          </a:ln>
        </p:spPr>
      </p:sp>
      <p:sp>
        <p:nvSpPr>
          <p:cNvPr id="71" name="Text 65"/>
          <p:cNvSpPr/>
          <p:nvPr/>
        </p:nvSpPr>
        <p:spPr>
          <a:xfrm>
            <a:off x="10104120" y="5180076"/>
            <a:ext cx="1751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USD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210</a:t>
            </a:r>
            <a:pPr algn="ctr" indent="0" marL="0">
              <a:buNone/>
            </a:pPr>
            <a:r>
              <a:rPr lang="en-US" sz="14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mm</a:t>
            </a:r>
            <a:endParaRPr lang="en-US" sz="1068" dirty="0"/>
          </a:p>
        </p:txBody>
      </p:sp>
      <p:sp>
        <p:nvSpPr>
          <p:cNvPr id="72" name="Text 66"/>
          <p:cNvSpPr/>
          <p:nvPr/>
        </p:nvSpPr>
        <p:spPr>
          <a:xfrm>
            <a:off x="10104120" y="5564124"/>
            <a:ext cx="175199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2027 growth capex</a:t>
            </a:r>
            <a:endParaRPr lang="en-US" sz="804" dirty="0"/>
          </a:p>
        </p:txBody>
      </p:sp>
      <p:sp>
        <p:nvSpPr>
          <p:cNvPr id="73" name="Text 67"/>
          <p:cNvSpPr/>
          <p:nvPr/>
        </p:nvSpPr>
        <p:spPr>
          <a:xfrm>
            <a:off x="3977640" y="645566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779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Mac Jee financial model v025, Base case (FX R$ 5.1733/US$). Gross revenue.</a:t>
            </a:r>
            <a:endParaRPr lang="en-US" sz="650" dirty="0"/>
          </a:p>
        </p:txBody>
      </p:sp>
      <p:sp>
        <p:nvSpPr>
          <p:cNvPr id="74" name="Text 68"/>
          <p:cNvSpPr/>
          <p:nvPr/>
        </p:nvSpPr>
        <p:spPr>
          <a:xfrm>
            <a:off x="35753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4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</a:t>
            </a:r>
            <a:endParaRPr lang="en-US" sz="804" dirty="0"/>
          </a:p>
        </p:txBody>
      </p:sp>
      <p:sp>
        <p:nvSpPr>
          <p:cNvPr id="75" name="Shape 69"/>
          <p:cNvSpPr/>
          <p:nvPr/>
        </p:nvSpPr>
        <p:spPr>
          <a:xfrm>
            <a:off x="10931652" y="6469380"/>
            <a:ext cx="932688" cy="196596"/>
          </a:xfrm>
          <a:prstGeom prst="roundRect">
            <a:avLst>
              <a:gd name="adj" fmla="val 18605"/>
            </a:avLst>
          </a:prstGeom>
          <a:ln w="9525">
            <a:solidFill>
              <a:srgbClr val="3C4E86"/>
            </a:solidFill>
            <a:prstDash val="solid"/>
          </a:ln>
        </p:spPr>
      </p:sp>
      <p:sp>
        <p:nvSpPr>
          <p:cNvPr id="76" name="Text 70"/>
          <p:cNvSpPr/>
          <p:nvPr/>
        </p:nvSpPr>
        <p:spPr>
          <a:xfrm>
            <a:off x="10931652" y="6469380"/>
            <a:ext cx="93268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6" dirty="0">
                <a:solidFill>
                  <a:srgbClr val="9DA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Confidential</a:t>
            </a:r>
            <a:endParaRPr lang="en-US" sz="6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IGC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IGC Partners</dc:creator>
  <cp:lastModifiedBy>IGC Partners</cp:lastModifiedBy>
  <cp:revision>1</cp:revision>
  <dcterms:created xsi:type="dcterms:W3CDTF">2026-09-01T00:51:03Z</dcterms:created>
  <dcterms:modified xsi:type="dcterms:W3CDTF">2026-09-01T00:51:03Z</dcterms:modified>
</cp:coreProperties>
</file>
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2278" y="224028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8" dirty="0">
                <a:solidFill>
                  <a:srgbClr val="BFB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Mac Jee At a Glance</a:t>
            </a:r>
            <a:endParaRPr lang="en-US" sz="698" dirty="0"/>
          </a:p>
        </p:txBody>
      </p:sp>
      <p:sp>
        <p:nvSpPr>
          <p:cNvPr id="3" name="Text 1"/>
          <p:cNvSpPr/>
          <p:nvPr/>
        </p:nvSpPr>
        <p:spPr>
          <a:xfrm>
            <a:off x="1634947" y="224028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8" dirty="0">
                <a:solidFill>
                  <a:srgbClr val="BFB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Mac Jee Investment Thesis</a:t>
            </a:r>
            <a:endParaRPr lang="en-US" sz="698" dirty="0"/>
          </a:p>
        </p:txBody>
      </p:sp>
      <p:sp>
        <p:nvSpPr>
          <p:cNvPr id="4" name="Text 2"/>
          <p:cNvSpPr/>
          <p:nvPr/>
        </p:nvSpPr>
        <p:spPr>
          <a:xfrm>
            <a:off x="3165653" y="224028"/>
            <a:ext cx="1691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8" dirty="0">
                <a:solidFill>
                  <a:srgbClr val="BFB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Business Units and Portfolio</a:t>
            </a:r>
            <a:endParaRPr lang="en-US" sz="698" dirty="0"/>
          </a:p>
        </p:txBody>
      </p:sp>
      <p:sp>
        <p:nvSpPr>
          <p:cNvPr id="5" name="Text 3"/>
          <p:cNvSpPr/>
          <p:nvPr/>
        </p:nvSpPr>
        <p:spPr>
          <a:xfrm>
            <a:off x="4749394" y="224028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8" dirty="0">
                <a:solidFill>
                  <a:srgbClr val="00178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Financials</a:t>
            </a:r>
            <a:endParaRPr lang="en-US" sz="698" dirty="0"/>
          </a:p>
        </p:txBody>
      </p:sp>
      <p:sp>
        <p:nvSpPr>
          <p:cNvPr id="6" name="Shape 4"/>
          <p:cNvSpPr/>
          <p:nvPr/>
        </p:nvSpPr>
        <p:spPr>
          <a:xfrm>
            <a:off x="4749394" y="442570"/>
            <a:ext cx="420624" cy="9144"/>
          </a:xfrm>
          <a:prstGeom prst="rect">
            <a:avLst/>
          </a:prstGeom>
          <a:solidFill>
            <a:srgbClr val="27B0FF"/>
          </a:solidFill>
          <a:ln/>
        </p:spPr>
      </p:sp>
      <p:sp>
        <p:nvSpPr>
          <p:cNvPr id="7" name="Shape 5"/>
          <p:cNvSpPr/>
          <p:nvPr/>
        </p:nvSpPr>
        <p:spPr>
          <a:xfrm>
            <a:off x="4723790" y="418795"/>
            <a:ext cx="51206" cy="51206"/>
          </a:xfrm>
          <a:prstGeom prst="diamond">
            <a:avLst/>
          </a:prstGeom>
          <a:solidFill>
            <a:srgbClr val="27B0FF"/>
          </a:solidFill>
          <a:ln/>
        </p:spPr>
      </p:sp>
      <p:sp>
        <p:nvSpPr>
          <p:cNvPr id="8" name="Shape 6"/>
          <p:cNvSpPr/>
          <p:nvPr/>
        </p:nvSpPr>
        <p:spPr>
          <a:xfrm>
            <a:off x="5144414" y="418795"/>
            <a:ext cx="51206" cy="51206"/>
          </a:xfrm>
          <a:prstGeom prst="diamond">
            <a:avLst/>
          </a:prstGeom>
          <a:solidFill>
            <a:srgbClr val="27B0FF"/>
          </a:solidFill>
          <a:ln/>
        </p:spPr>
      </p:sp>
      <p:pic>
        <p:nvPicPr>
          <p:cNvPr id="9" name="Image 0" descr="assets/macjee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74222" y="343814"/>
            <a:ext cx="481889" cy="48188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92278" y="731520"/>
            <a:ext cx="112964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9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US$ 4.6 bn of identified opportunity by business unit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342900" y="1110996"/>
            <a:ext cx="112964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49 valued programmes across 21 countries — 1.1x the entire 2026–32 revenue plan, already identified commercially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57530" y="1426464"/>
            <a:ext cx="11476634" cy="3090672"/>
          </a:xfrm>
          <a:custGeom>
            <a:avLst/>
            <a:gdLst/>
            <a:ahLst/>
            <a:cxnLst/>
            <a:rect l="l" t="t" r="r" b="b"/>
            <a:pathLst>
              <a:path w="11476634" h="3090672">
                <a:moveTo>
                  <a:pt x="0" y="0"/>
                </a:moveTo>
                <a:lnTo>
                  <a:pt x="11158423" y="0"/>
                </a:lnTo>
                <a:lnTo>
                  <a:pt x="11476634" y="318211"/>
                </a:lnTo>
                <a:lnTo>
                  <a:pt x="11476634" y="3090672"/>
                </a:lnTo>
                <a:lnTo>
                  <a:pt x="318211" y="3090672"/>
                </a:lnTo>
                <a:lnTo>
                  <a:pt x="0" y="2772461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50800" dist="19050" dir="5400000">
              <a:srgbClr val="000000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576072" y="153619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Identified commercial opportunity — total contract value, US$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76072" y="1819656"/>
            <a:ext cx="2542032" cy="2569464"/>
          </a:xfrm>
          <a:custGeom>
            <a:avLst/>
            <a:gdLst/>
            <a:ahLst/>
            <a:cxnLst/>
            <a:rect l="l" t="t" r="r" b="b"/>
            <a:pathLst>
              <a:path w="2542032" h="2569464">
                <a:moveTo>
                  <a:pt x="0" y="0"/>
                </a:moveTo>
                <a:lnTo>
                  <a:pt x="2340864" y="0"/>
                </a:lnTo>
                <a:lnTo>
                  <a:pt x="2542032" y="201168"/>
                </a:lnTo>
                <a:lnTo>
                  <a:pt x="2542032" y="2569464"/>
                </a:lnTo>
                <a:lnTo>
                  <a:pt x="201168" y="2569464"/>
                </a:lnTo>
                <a:lnTo>
                  <a:pt x="0" y="2368296"/>
                </a:lnTo>
                <a:close/>
              </a:path>
            </a:pathLst>
          </a:custGeom>
          <a:solidFill>
            <a:srgbClr val="00092B"/>
          </a:solidFill>
          <a:ln/>
        </p:spPr>
      </p:sp>
      <p:sp>
        <p:nvSpPr>
          <p:cNvPr id="15" name="Text 12"/>
          <p:cNvSpPr/>
          <p:nvPr/>
        </p:nvSpPr>
        <p:spPr>
          <a:xfrm>
            <a:off x="795528" y="2002536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spc="140" kern="0" dirty="0">
                <a:solidFill>
                  <a:srgbClr val="95A8FE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GROUP TOTAL</a:t>
            </a:r>
            <a:endParaRPr lang="en-US" sz="720" dirty="0"/>
          </a:p>
        </p:txBody>
      </p:sp>
      <p:sp>
        <p:nvSpPr>
          <p:cNvPr id="16" name="Text 13"/>
          <p:cNvSpPr/>
          <p:nvPr/>
        </p:nvSpPr>
        <p:spPr>
          <a:xfrm>
            <a:off x="795528" y="222199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US$ </a:t>
            </a:r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4.6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bn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95528" y="2788920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identified commercial opportunity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795528" y="3044952"/>
            <a:ext cx="2103120" cy="9144"/>
          </a:xfrm>
          <a:prstGeom prst="rect">
            <a:avLst/>
          </a:prstGeom>
          <a:solidFill>
            <a:srgbClr val="3C4E86"/>
          </a:solidFill>
          <a:ln/>
        </p:spPr>
      </p:sp>
      <p:sp>
        <p:nvSpPr>
          <p:cNvPr id="19" name="Text 16"/>
          <p:cNvSpPr/>
          <p:nvPr/>
        </p:nvSpPr>
        <p:spPr>
          <a:xfrm>
            <a:off x="795528" y="3154680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Valued programmes</a:t>
            </a:r>
            <a:endParaRPr lang="en-US" sz="760" dirty="0"/>
          </a:p>
        </p:txBody>
      </p:sp>
      <p:sp>
        <p:nvSpPr>
          <p:cNvPr id="20" name="Text 17"/>
          <p:cNvSpPr/>
          <p:nvPr/>
        </p:nvSpPr>
        <p:spPr>
          <a:xfrm>
            <a:off x="2093976" y="3154680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49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95528" y="34244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Countries</a:t>
            </a:r>
            <a:endParaRPr lang="en-US" sz="760" dirty="0"/>
          </a:p>
        </p:txBody>
      </p:sp>
      <p:sp>
        <p:nvSpPr>
          <p:cNvPr id="22" name="Text 19"/>
          <p:cNvSpPr/>
          <p:nvPr/>
        </p:nvSpPr>
        <p:spPr>
          <a:xfrm>
            <a:off x="2093976" y="3424428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95528" y="3694176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Revenue in the 2026–32 plan</a:t>
            </a:r>
            <a:endParaRPr lang="en-US" sz="760" dirty="0"/>
          </a:p>
        </p:txBody>
      </p:sp>
      <p:sp>
        <p:nvSpPr>
          <p:cNvPr id="24" name="Text 21"/>
          <p:cNvSpPr/>
          <p:nvPr/>
        </p:nvSpPr>
        <p:spPr>
          <a:xfrm>
            <a:off x="2093976" y="3694176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US$ 4.1 bn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95528" y="3963924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Plan coverage</a:t>
            </a:r>
            <a:endParaRPr lang="en-US" sz="760" dirty="0"/>
          </a:p>
        </p:txBody>
      </p:sp>
      <p:sp>
        <p:nvSpPr>
          <p:cNvPr id="26" name="Text 23"/>
          <p:cNvSpPr/>
          <p:nvPr/>
        </p:nvSpPr>
        <p:spPr>
          <a:xfrm>
            <a:off x="2093976" y="3963924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1.1x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3401568" y="1847088"/>
            <a:ext cx="868680" cy="50292"/>
          </a:xfrm>
          <a:prstGeom prst="rect">
            <a:avLst/>
          </a:prstGeom>
          <a:solidFill>
            <a:srgbClr val="6FA82F"/>
          </a:solidFill>
          <a:ln/>
        </p:spPr>
      </p:sp>
      <p:sp>
        <p:nvSpPr>
          <p:cNvPr id="28" name="Text 25"/>
          <p:cNvSpPr/>
          <p:nvPr/>
        </p:nvSpPr>
        <p:spPr>
          <a:xfrm>
            <a:off x="3401568" y="194767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FA82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Munitions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3401568" y="2176272"/>
            <a:ext cx="2560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93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Mac Jee Indústria de Defesa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3401568" y="2350008"/>
            <a:ext cx="2487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6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Aerial bombs, artillery, rockets, fuzes and launcher vehicles — already in serial production</a:t>
            </a:r>
            <a:endParaRPr lang="en-US" sz="780" dirty="0"/>
          </a:p>
        </p:txBody>
      </p:sp>
      <p:sp>
        <p:nvSpPr>
          <p:cNvPr id="31" name="Text 28"/>
          <p:cNvSpPr/>
          <p:nvPr/>
        </p:nvSpPr>
        <p:spPr>
          <a:xfrm>
            <a:off x="3401568" y="279806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C46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US$ </a:t>
            </a:r>
            <a:pPr indent="0" marL="0">
              <a:buNone/>
            </a:pPr>
            <a:r>
              <a:rPr lang="en-US" sz="3400" b="1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1.6</a:t>
            </a:r>
            <a:pPr indent="0" marL="0">
              <a:buNone/>
            </a:pPr>
            <a:r>
              <a:rPr lang="en-US" sz="1500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bn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3401568" y="323697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8C93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identified  ·  35% of the group</a:t>
            </a:r>
            <a:endParaRPr lang="en-US" sz="760" dirty="0"/>
          </a:p>
        </p:txBody>
      </p:sp>
      <p:sp>
        <p:nvSpPr>
          <p:cNvPr id="33" name="Shape 30"/>
          <p:cNvSpPr/>
          <p:nvPr/>
        </p:nvSpPr>
        <p:spPr>
          <a:xfrm>
            <a:off x="3401568" y="3447288"/>
            <a:ext cx="2212848" cy="96012"/>
          </a:xfrm>
          <a:prstGeom prst="rect">
            <a:avLst/>
          </a:prstGeom>
          <a:solidFill>
            <a:srgbClr val="EDEFF4"/>
          </a:solidFill>
          <a:ln/>
        </p:spPr>
      </p:sp>
      <p:sp>
        <p:nvSpPr>
          <p:cNvPr id="34" name="Shape 31"/>
          <p:cNvSpPr/>
          <p:nvPr/>
        </p:nvSpPr>
        <p:spPr>
          <a:xfrm>
            <a:off x="3401568" y="3447288"/>
            <a:ext cx="1919428" cy="96012"/>
          </a:xfrm>
          <a:prstGeom prst="rect">
            <a:avLst/>
          </a:prstGeom>
          <a:solidFill>
            <a:srgbClr val="92D050"/>
          </a:solidFill>
          <a:ln/>
        </p:spPr>
      </p:sp>
      <p:sp>
        <p:nvSpPr>
          <p:cNvPr id="35" name="Text 32"/>
          <p:cNvSpPr/>
          <p:nvPr/>
        </p:nvSpPr>
        <p:spPr>
          <a:xfrm>
            <a:off x="3401568" y="363931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 programmes  ·  12 countries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3401568" y="3858768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spc="60" kern="0" dirty="0">
                <a:solidFill>
                  <a:srgbClr val="8C93A8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Largest</a:t>
            </a:r>
            <a:endParaRPr lang="en-US" sz="620" dirty="0"/>
          </a:p>
        </p:txBody>
      </p:sp>
      <p:sp>
        <p:nvSpPr>
          <p:cNvPr id="37" name="Text 34"/>
          <p:cNvSpPr/>
          <p:nvPr/>
        </p:nvSpPr>
        <p:spPr>
          <a:xfrm>
            <a:off x="3401568" y="399592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US$ 250 mm — 155 mm ERFBBB, Bulgaria</a:t>
            </a:r>
            <a:endParaRPr lang="en-US" sz="780" dirty="0"/>
          </a:p>
        </p:txBody>
      </p:sp>
      <p:sp>
        <p:nvSpPr>
          <p:cNvPr id="38" name="Text 35"/>
          <p:cNvSpPr/>
          <p:nvPr/>
        </p:nvSpPr>
        <p:spPr>
          <a:xfrm>
            <a:off x="3401568" y="4206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FA82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US$ 1.55 bn  ·  104% covered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6071616" y="1819656"/>
            <a:ext cx="7315" cy="2569464"/>
          </a:xfrm>
          <a:prstGeom prst="rect">
            <a:avLst/>
          </a:prstGeom>
          <a:solidFill>
            <a:srgbClr val="E6E8EE"/>
          </a:solidFill>
          <a:ln/>
        </p:spPr>
      </p:sp>
      <p:sp>
        <p:nvSpPr>
          <p:cNvPr id="40" name="Shape 37"/>
          <p:cNvSpPr/>
          <p:nvPr/>
        </p:nvSpPr>
        <p:spPr>
          <a:xfrm>
            <a:off x="6181344" y="1847088"/>
            <a:ext cx="868680" cy="50292"/>
          </a:xfrm>
          <a:prstGeom prst="rect">
            <a:avLst/>
          </a:prstGeom>
          <a:solidFill>
            <a:srgbClr val="C79000"/>
          </a:solidFill>
          <a:ln/>
        </p:spPr>
      </p:sp>
      <p:sp>
        <p:nvSpPr>
          <p:cNvPr id="41" name="Text 38"/>
          <p:cNvSpPr/>
          <p:nvPr/>
        </p:nvSpPr>
        <p:spPr>
          <a:xfrm>
            <a:off x="6181344" y="194767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9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Energetics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6181344" y="2176272"/>
            <a:ext cx="2560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93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Mac Jee Tecnologia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6181344" y="2350008"/>
            <a:ext cx="2487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6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Turnkey TNT, RDX and HMX production lines delivered to sovereign customers worldwide</a:t>
            </a:r>
            <a:endParaRPr lang="en-US" sz="780" dirty="0"/>
          </a:p>
        </p:txBody>
      </p:sp>
      <p:sp>
        <p:nvSpPr>
          <p:cNvPr id="44" name="Text 41"/>
          <p:cNvSpPr/>
          <p:nvPr/>
        </p:nvSpPr>
        <p:spPr>
          <a:xfrm>
            <a:off x="6181344" y="279806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C46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US$ </a:t>
            </a:r>
            <a:pPr indent="0" marL="0">
              <a:buNone/>
            </a:pPr>
            <a:r>
              <a:rPr lang="en-US" sz="3400" b="1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1.1</a:t>
            </a:r>
            <a:pPr indent="0" marL="0">
              <a:buNone/>
            </a:pPr>
            <a:r>
              <a:rPr lang="en-US" sz="1500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bn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6181344" y="323697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8C93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identified  ·  25% of the group</a:t>
            </a:r>
            <a:endParaRPr lang="en-US" sz="760" dirty="0"/>
          </a:p>
        </p:txBody>
      </p:sp>
      <p:sp>
        <p:nvSpPr>
          <p:cNvPr id="46" name="Shape 43"/>
          <p:cNvSpPr/>
          <p:nvPr/>
        </p:nvSpPr>
        <p:spPr>
          <a:xfrm>
            <a:off x="6181344" y="3447288"/>
            <a:ext cx="2212848" cy="96012"/>
          </a:xfrm>
          <a:prstGeom prst="rect">
            <a:avLst/>
          </a:prstGeom>
          <a:solidFill>
            <a:srgbClr val="EDEFF4"/>
          </a:solidFill>
          <a:ln/>
        </p:spPr>
      </p:sp>
      <p:sp>
        <p:nvSpPr>
          <p:cNvPr id="47" name="Shape 44"/>
          <p:cNvSpPr/>
          <p:nvPr/>
        </p:nvSpPr>
        <p:spPr>
          <a:xfrm>
            <a:off x="6181344" y="3447288"/>
            <a:ext cx="1359849" cy="96012"/>
          </a:xfrm>
          <a:prstGeom prst="rect">
            <a:avLst/>
          </a:prstGeom>
          <a:solidFill>
            <a:srgbClr val="FFC000"/>
          </a:solidFill>
          <a:ln/>
        </p:spPr>
      </p:sp>
      <p:sp>
        <p:nvSpPr>
          <p:cNvPr id="48" name="Text 45"/>
          <p:cNvSpPr/>
          <p:nvPr/>
        </p:nvSpPr>
        <p:spPr>
          <a:xfrm>
            <a:off x="6181344" y="363931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 programmes  ·  11 countries</a:t>
            </a:r>
            <a:endParaRPr lang="en-US" sz="800" dirty="0"/>
          </a:p>
        </p:txBody>
      </p:sp>
      <p:sp>
        <p:nvSpPr>
          <p:cNvPr id="49" name="Text 46"/>
          <p:cNvSpPr/>
          <p:nvPr/>
        </p:nvSpPr>
        <p:spPr>
          <a:xfrm>
            <a:off x="6181344" y="3858768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spc="60" kern="0" dirty="0">
                <a:solidFill>
                  <a:srgbClr val="8C93A8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Largest</a:t>
            </a:r>
            <a:endParaRPr lang="en-US" sz="620" dirty="0"/>
          </a:p>
        </p:txBody>
      </p:sp>
      <p:sp>
        <p:nvSpPr>
          <p:cNvPr id="50" name="Text 47"/>
          <p:cNvSpPr/>
          <p:nvPr/>
        </p:nvSpPr>
        <p:spPr>
          <a:xfrm>
            <a:off x="6181344" y="399592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US$ 200 mm — TNT line, 20 kt/yr, Canada</a:t>
            </a:r>
            <a:endParaRPr lang="en-US" sz="780" dirty="0"/>
          </a:p>
        </p:txBody>
      </p:sp>
      <p:sp>
        <p:nvSpPr>
          <p:cNvPr id="51" name="Text 48"/>
          <p:cNvSpPr/>
          <p:nvPr/>
        </p:nvSpPr>
        <p:spPr>
          <a:xfrm>
            <a:off x="6181344" y="4206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79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US$ 0.61 bn  ·  188% covered</a:t>
            </a:r>
            <a:endParaRPr lang="en-US" sz="800" dirty="0"/>
          </a:p>
        </p:txBody>
      </p:sp>
      <p:sp>
        <p:nvSpPr>
          <p:cNvPr id="52" name="Shape 49"/>
          <p:cNvSpPr/>
          <p:nvPr/>
        </p:nvSpPr>
        <p:spPr>
          <a:xfrm>
            <a:off x="8851392" y="1819656"/>
            <a:ext cx="7315" cy="2569464"/>
          </a:xfrm>
          <a:prstGeom prst="rect">
            <a:avLst/>
          </a:prstGeom>
          <a:solidFill>
            <a:srgbClr val="E6E8EE"/>
          </a:solidFill>
          <a:ln/>
        </p:spPr>
      </p:sp>
      <p:sp>
        <p:nvSpPr>
          <p:cNvPr id="53" name="Shape 50"/>
          <p:cNvSpPr/>
          <p:nvPr/>
        </p:nvSpPr>
        <p:spPr>
          <a:xfrm>
            <a:off x="8961120" y="1847088"/>
            <a:ext cx="868680" cy="50292"/>
          </a:xfrm>
          <a:prstGeom prst="rect">
            <a:avLst/>
          </a:prstGeom>
          <a:solidFill>
            <a:srgbClr val="4A5261"/>
          </a:solidFill>
          <a:ln/>
        </p:spPr>
      </p:sp>
      <p:sp>
        <p:nvSpPr>
          <p:cNvPr id="54" name="Text 51"/>
          <p:cNvSpPr/>
          <p:nvPr/>
        </p:nvSpPr>
        <p:spPr>
          <a:xfrm>
            <a:off x="8961120" y="194767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A52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Missile</a:t>
            </a:r>
            <a:endParaRPr lang="en-US" sz="1350" dirty="0"/>
          </a:p>
        </p:txBody>
      </p:sp>
      <p:sp>
        <p:nvSpPr>
          <p:cNvPr id="55" name="Text 52"/>
          <p:cNvSpPr/>
          <p:nvPr/>
        </p:nvSpPr>
        <p:spPr>
          <a:xfrm>
            <a:off x="8961120" y="2176272"/>
            <a:ext cx="2560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C93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TMC — The Missile Company</a:t>
            </a:r>
            <a:endParaRPr lang="en-US" sz="700" dirty="0"/>
          </a:p>
        </p:txBody>
      </p:sp>
      <p:sp>
        <p:nvSpPr>
          <p:cNvPr id="56" name="Text 53"/>
          <p:cNvSpPr/>
          <p:nvPr/>
        </p:nvSpPr>
        <p:spPr>
          <a:xfrm>
            <a:off x="8961120" y="2350008"/>
            <a:ext cx="2487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6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Cruise missiles, air defence, anti-radiation systems and rocket motors for European and Gulf primes</a:t>
            </a:r>
            <a:endParaRPr lang="en-US" sz="780" dirty="0"/>
          </a:p>
        </p:txBody>
      </p:sp>
      <p:sp>
        <p:nvSpPr>
          <p:cNvPr id="57" name="Text 54"/>
          <p:cNvSpPr/>
          <p:nvPr/>
        </p:nvSpPr>
        <p:spPr>
          <a:xfrm>
            <a:off x="8961120" y="279806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C46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US$ </a:t>
            </a:r>
            <a:pPr indent="0" marL="0">
              <a:buNone/>
            </a:pPr>
            <a:r>
              <a:rPr lang="en-US" sz="3400" b="1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1.9</a:t>
            </a:r>
            <a:pPr indent="0" marL="0">
              <a:buNone/>
            </a:pPr>
            <a:r>
              <a:rPr lang="en-US" sz="1500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bn</a:t>
            </a:r>
            <a:endParaRPr lang="en-US" sz="1200" dirty="0"/>
          </a:p>
        </p:txBody>
      </p:sp>
      <p:sp>
        <p:nvSpPr>
          <p:cNvPr id="58" name="Text 55"/>
          <p:cNvSpPr/>
          <p:nvPr/>
        </p:nvSpPr>
        <p:spPr>
          <a:xfrm>
            <a:off x="8961120" y="323697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8C93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identified  ·  40% of the group</a:t>
            </a:r>
            <a:endParaRPr lang="en-US" sz="760" dirty="0"/>
          </a:p>
        </p:txBody>
      </p:sp>
      <p:sp>
        <p:nvSpPr>
          <p:cNvPr id="59" name="Shape 56"/>
          <p:cNvSpPr/>
          <p:nvPr/>
        </p:nvSpPr>
        <p:spPr>
          <a:xfrm>
            <a:off x="8961120" y="3447288"/>
            <a:ext cx="2212848" cy="96012"/>
          </a:xfrm>
          <a:prstGeom prst="rect">
            <a:avLst/>
          </a:prstGeom>
          <a:solidFill>
            <a:srgbClr val="EDEFF4"/>
          </a:solidFill>
          <a:ln/>
        </p:spPr>
      </p:sp>
      <p:sp>
        <p:nvSpPr>
          <p:cNvPr id="60" name="Shape 57"/>
          <p:cNvSpPr/>
          <p:nvPr/>
        </p:nvSpPr>
        <p:spPr>
          <a:xfrm>
            <a:off x="8961120" y="3447288"/>
            <a:ext cx="2212848" cy="96012"/>
          </a:xfrm>
          <a:prstGeom prst="rect">
            <a:avLst/>
          </a:prstGeom>
          <a:solidFill>
            <a:srgbClr val="9AA3B2"/>
          </a:solidFill>
          <a:ln/>
        </p:spPr>
      </p:sp>
      <p:sp>
        <p:nvSpPr>
          <p:cNvPr id="61" name="Text 58"/>
          <p:cNvSpPr/>
          <p:nvPr/>
        </p:nvSpPr>
        <p:spPr>
          <a:xfrm>
            <a:off x="8961120" y="363931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 programmes  ·  6 countries</a:t>
            </a:r>
            <a:endParaRPr lang="en-US" sz="800" dirty="0"/>
          </a:p>
        </p:txBody>
      </p:sp>
      <p:sp>
        <p:nvSpPr>
          <p:cNvPr id="62" name="Text 59"/>
          <p:cNvSpPr/>
          <p:nvPr/>
        </p:nvSpPr>
        <p:spPr>
          <a:xfrm>
            <a:off x="8961120" y="3858768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spc="60" kern="0" dirty="0">
                <a:solidFill>
                  <a:srgbClr val="8C93A8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Largest</a:t>
            </a:r>
            <a:endParaRPr lang="en-US" sz="620" dirty="0"/>
          </a:p>
        </p:txBody>
      </p:sp>
      <p:sp>
        <p:nvSpPr>
          <p:cNvPr id="63" name="Text 60"/>
          <p:cNvSpPr/>
          <p:nvPr/>
        </p:nvSpPr>
        <p:spPr>
          <a:xfrm>
            <a:off x="8961120" y="399592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0003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US$ 1,000 mm — confidential, Saudi Arabia</a:t>
            </a:r>
            <a:endParaRPr lang="en-US" sz="780" dirty="0"/>
          </a:p>
        </p:txBody>
      </p:sp>
      <p:sp>
        <p:nvSpPr>
          <p:cNvPr id="64" name="Text 61"/>
          <p:cNvSpPr/>
          <p:nvPr/>
        </p:nvSpPr>
        <p:spPr>
          <a:xfrm>
            <a:off x="8961120" y="4206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526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US$ 1.93 bn  ·  96% covered</a:t>
            </a:r>
            <a:endParaRPr lang="en-US" sz="800" dirty="0"/>
          </a:p>
        </p:txBody>
      </p:sp>
      <p:sp>
        <p:nvSpPr>
          <p:cNvPr id="65" name="Text 62"/>
          <p:cNvSpPr/>
          <p:nvPr/>
        </p:nvSpPr>
        <p:spPr>
          <a:xfrm>
            <a:off x="576072" y="4663440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8C93A8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Identified opportunity is the total contract value of every signed contract and open commercial opportunity in the Company’s commercial review, at face value and unweighted; a further six identified programmes carry no value yet and are excluded. Coverage compares it with cumulative gross revenue in the 2026–32 plan.</a:t>
            </a:r>
            <a:endParaRPr lang="en-US" sz="660" dirty="0"/>
          </a:p>
        </p:txBody>
      </p:sp>
      <p:sp>
        <p:nvSpPr>
          <p:cNvPr id="66" name="Shape 63"/>
          <p:cNvSpPr/>
          <p:nvPr/>
        </p:nvSpPr>
        <p:spPr>
          <a:xfrm>
            <a:off x="0" y="5159959"/>
            <a:ext cx="12191695" cy="1698041"/>
          </a:xfrm>
          <a:prstGeom prst="rect">
            <a:avLst/>
          </a:prstGeom>
          <a:solidFill>
            <a:srgbClr val="00092B"/>
          </a:solidFill>
          <a:ln/>
        </p:spPr>
      </p:sp>
      <p:sp>
        <p:nvSpPr>
          <p:cNvPr id="67" name="Shape 64"/>
          <p:cNvSpPr/>
          <p:nvPr/>
        </p:nvSpPr>
        <p:spPr>
          <a:xfrm>
            <a:off x="70409" y="5159959"/>
            <a:ext cx="27432" cy="1698041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68" name="Shape 65"/>
          <p:cNvSpPr/>
          <p:nvPr/>
        </p:nvSpPr>
        <p:spPr>
          <a:xfrm>
            <a:off x="1520647" y="5159959"/>
            <a:ext cx="27432" cy="1698041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69" name="Shape 66"/>
          <p:cNvSpPr/>
          <p:nvPr/>
        </p:nvSpPr>
        <p:spPr>
          <a:xfrm>
            <a:off x="2970886" y="5159959"/>
            <a:ext cx="27432" cy="1698041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70" name="Shape 67"/>
          <p:cNvSpPr/>
          <p:nvPr/>
        </p:nvSpPr>
        <p:spPr>
          <a:xfrm>
            <a:off x="4421124" y="5159959"/>
            <a:ext cx="27432" cy="1698041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71" name="Shape 68"/>
          <p:cNvSpPr/>
          <p:nvPr/>
        </p:nvSpPr>
        <p:spPr>
          <a:xfrm>
            <a:off x="5871362" y="5159959"/>
            <a:ext cx="27432" cy="1698041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72" name="Shape 69"/>
          <p:cNvSpPr/>
          <p:nvPr/>
        </p:nvSpPr>
        <p:spPr>
          <a:xfrm>
            <a:off x="7321601" y="5159959"/>
            <a:ext cx="27432" cy="1698041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73" name="Shape 70"/>
          <p:cNvSpPr/>
          <p:nvPr/>
        </p:nvSpPr>
        <p:spPr>
          <a:xfrm>
            <a:off x="8771839" y="5159959"/>
            <a:ext cx="27432" cy="1698041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74" name="Shape 71"/>
          <p:cNvSpPr/>
          <p:nvPr/>
        </p:nvSpPr>
        <p:spPr>
          <a:xfrm>
            <a:off x="10222078" y="5159959"/>
            <a:ext cx="27432" cy="1698041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75" name="Shape 72"/>
          <p:cNvSpPr/>
          <p:nvPr/>
        </p:nvSpPr>
        <p:spPr>
          <a:xfrm>
            <a:off x="11672316" y="5159959"/>
            <a:ext cx="27432" cy="1698041"/>
          </a:xfrm>
          <a:prstGeom prst="rect">
            <a:avLst/>
          </a:prstGeom>
          <a:solidFill>
            <a:srgbClr val="1C2441"/>
          </a:solidFill>
          <a:ln/>
        </p:spPr>
      </p:sp>
      <p:sp>
        <p:nvSpPr>
          <p:cNvPr id="76" name="Text 73"/>
          <p:cNvSpPr/>
          <p:nvPr/>
        </p:nvSpPr>
        <p:spPr>
          <a:xfrm>
            <a:off x="548640" y="5340096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The three pages that follow take each unit in turn</a:t>
            </a:r>
            <a:endParaRPr lang="en-US" sz="1000" dirty="0"/>
          </a:p>
        </p:txBody>
      </p:sp>
      <p:sp>
        <p:nvSpPr>
          <p:cNvPr id="77" name="Shape 74"/>
          <p:cNvSpPr/>
          <p:nvPr/>
        </p:nvSpPr>
        <p:spPr>
          <a:xfrm>
            <a:off x="548640" y="5568696"/>
            <a:ext cx="5120640" cy="9144"/>
          </a:xfrm>
          <a:prstGeom prst="rect">
            <a:avLst/>
          </a:prstGeom>
          <a:solidFill>
            <a:srgbClr val="3C4E86"/>
          </a:solidFill>
          <a:ln/>
        </p:spPr>
      </p:sp>
      <p:sp>
        <p:nvSpPr>
          <p:cNvPr id="78" name="Shape 75"/>
          <p:cNvSpPr/>
          <p:nvPr/>
        </p:nvSpPr>
        <p:spPr>
          <a:xfrm>
            <a:off x="548640" y="5719572"/>
            <a:ext cx="91440" cy="91440"/>
          </a:xfrm>
          <a:prstGeom prst="rect">
            <a:avLst/>
          </a:prstGeom>
          <a:solidFill>
            <a:srgbClr val="92D050"/>
          </a:solidFill>
          <a:ln/>
        </p:spPr>
      </p:sp>
      <p:sp>
        <p:nvSpPr>
          <p:cNvPr id="79" name="Text 76"/>
          <p:cNvSpPr/>
          <p:nvPr/>
        </p:nvSpPr>
        <p:spPr>
          <a:xfrm>
            <a:off x="731520" y="56692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Munitions</a:t>
            </a:r>
            <a:pPr indent="0" marL="0">
              <a:buNone/>
            </a:pPr>
            <a:r>
              <a:rPr lang="en-US" sz="86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Capacity is already built</a:t>
            </a:r>
            <a:endParaRPr lang="en-US" sz="860" dirty="0"/>
          </a:p>
        </p:txBody>
      </p:sp>
      <p:sp>
        <p:nvSpPr>
          <p:cNvPr id="80" name="Shape 77"/>
          <p:cNvSpPr/>
          <p:nvPr/>
        </p:nvSpPr>
        <p:spPr>
          <a:xfrm>
            <a:off x="548640" y="5957316"/>
            <a:ext cx="91440" cy="91440"/>
          </a:xfrm>
          <a:prstGeom prst="rect">
            <a:avLst/>
          </a:prstGeom>
          <a:solidFill>
            <a:srgbClr val="FFC000"/>
          </a:solidFill>
          <a:ln/>
        </p:spPr>
      </p:sp>
      <p:sp>
        <p:nvSpPr>
          <p:cNvPr id="81" name="Text 78"/>
          <p:cNvSpPr/>
          <p:nvPr/>
        </p:nvSpPr>
        <p:spPr>
          <a:xfrm>
            <a:off x="731520" y="5907024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Energetics</a:t>
            </a:r>
            <a:pPr indent="0" marL="0">
              <a:buNone/>
            </a:pPr>
            <a:r>
              <a:rPr lang="en-US" sz="86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Revenue is contracted, not forecast</a:t>
            </a:r>
            <a:endParaRPr lang="en-US" sz="860" dirty="0"/>
          </a:p>
        </p:txBody>
      </p:sp>
      <p:sp>
        <p:nvSpPr>
          <p:cNvPr id="82" name="Shape 79"/>
          <p:cNvSpPr/>
          <p:nvPr/>
        </p:nvSpPr>
        <p:spPr>
          <a:xfrm>
            <a:off x="548640" y="6195060"/>
            <a:ext cx="91440" cy="91440"/>
          </a:xfrm>
          <a:prstGeom prst="rect">
            <a:avLst/>
          </a:prstGeom>
          <a:solidFill>
            <a:srgbClr val="9AA3B2"/>
          </a:solidFill>
          <a:ln/>
        </p:spPr>
      </p:sp>
      <p:sp>
        <p:nvSpPr>
          <p:cNvPr id="83" name="Text 80"/>
          <p:cNvSpPr/>
          <p:nvPr/>
        </p:nvSpPr>
        <p:spPr>
          <a:xfrm>
            <a:off x="731520" y="61447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Missile</a:t>
            </a:r>
            <a:pPr indent="0" marL="0">
              <a:buNone/>
            </a:pPr>
            <a:r>
              <a:rPr lang="en-US" sz="86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The unit becomes the group’s engine</a:t>
            </a:r>
            <a:endParaRPr lang="en-US" sz="860" dirty="0"/>
          </a:p>
        </p:txBody>
      </p:sp>
      <p:sp>
        <p:nvSpPr>
          <p:cNvPr id="84" name="Text 81"/>
          <p:cNvSpPr/>
          <p:nvPr/>
        </p:nvSpPr>
        <p:spPr>
          <a:xfrm>
            <a:off x="6309360" y="5340096"/>
            <a:ext cx="5522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Where the opportunity sits — by end-user region</a:t>
            </a:r>
            <a:endParaRPr lang="en-US" sz="1000" dirty="0"/>
          </a:p>
        </p:txBody>
      </p:sp>
      <p:sp>
        <p:nvSpPr>
          <p:cNvPr id="85" name="Shape 82"/>
          <p:cNvSpPr/>
          <p:nvPr/>
        </p:nvSpPr>
        <p:spPr>
          <a:xfrm>
            <a:off x="6309360" y="5568696"/>
            <a:ext cx="5522976" cy="9144"/>
          </a:xfrm>
          <a:prstGeom prst="rect">
            <a:avLst/>
          </a:prstGeom>
          <a:solidFill>
            <a:srgbClr val="3C4E86"/>
          </a:solidFill>
          <a:ln/>
        </p:spPr>
      </p:sp>
      <p:sp>
        <p:nvSpPr>
          <p:cNvPr id="86" name="Shape 83"/>
          <p:cNvSpPr/>
          <p:nvPr/>
        </p:nvSpPr>
        <p:spPr>
          <a:xfrm>
            <a:off x="6309360" y="5687568"/>
            <a:ext cx="2631752" cy="256032"/>
          </a:xfrm>
          <a:prstGeom prst="rect">
            <a:avLst/>
          </a:prstGeom>
          <a:solidFill>
            <a:srgbClr val="021B94"/>
          </a:solidFill>
          <a:ln/>
        </p:spPr>
      </p:sp>
      <p:sp>
        <p:nvSpPr>
          <p:cNvPr id="87" name="Text 84"/>
          <p:cNvSpPr/>
          <p:nvPr/>
        </p:nvSpPr>
        <p:spPr>
          <a:xfrm>
            <a:off x="6309360" y="5687568"/>
            <a:ext cx="2631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48%</a:t>
            </a:r>
            <a:endParaRPr lang="en-US" sz="840" dirty="0"/>
          </a:p>
        </p:txBody>
      </p:sp>
      <p:sp>
        <p:nvSpPr>
          <p:cNvPr id="88" name="Shape 85"/>
          <p:cNvSpPr/>
          <p:nvPr/>
        </p:nvSpPr>
        <p:spPr>
          <a:xfrm>
            <a:off x="8941112" y="5687568"/>
            <a:ext cx="1810051" cy="256032"/>
          </a:xfrm>
          <a:prstGeom prst="rect">
            <a:avLst/>
          </a:prstGeom>
          <a:solidFill>
            <a:srgbClr val="2E4BC4"/>
          </a:solidFill>
          <a:ln/>
        </p:spPr>
      </p:sp>
      <p:sp>
        <p:nvSpPr>
          <p:cNvPr id="89" name="Text 86"/>
          <p:cNvSpPr/>
          <p:nvPr/>
        </p:nvSpPr>
        <p:spPr>
          <a:xfrm>
            <a:off x="8941112" y="5687568"/>
            <a:ext cx="18100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33%</a:t>
            </a:r>
            <a:endParaRPr lang="en-US" sz="840" dirty="0"/>
          </a:p>
        </p:txBody>
      </p:sp>
      <p:sp>
        <p:nvSpPr>
          <p:cNvPr id="90" name="Shape 87"/>
          <p:cNvSpPr/>
          <p:nvPr/>
        </p:nvSpPr>
        <p:spPr>
          <a:xfrm>
            <a:off x="10751163" y="5687568"/>
            <a:ext cx="536378" cy="256032"/>
          </a:xfrm>
          <a:prstGeom prst="rect">
            <a:avLst/>
          </a:prstGeom>
          <a:solidFill>
            <a:srgbClr val="6F86E8"/>
          </a:solidFill>
          <a:ln/>
        </p:spPr>
      </p:sp>
      <p:sp>
        <p:nvSpPr>
          <p:cNvPr id="91" name="Text 88"/>
          <p:cNvSpPr/>
          <p:nvPr/>
        </p:nvSpPr>
        <p:spPr>
          <a:xfrm>
            <a:off x="10751163" y="5687568"/>
            <a:ext cx="5363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B1F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10%</a:t>
            </a:r>
            <a:endParaRPr lang="en-US" sz="840" dirty="0"/>
          </a:p>
        </p:txBody>
      </p:sp>
      <p:sp>
        <p:nvSpPr>
          <p:cNvPr id="92" name="Shape 89"/>
          <p:cNvSpPr/>
          <p:nvPr/>
        </p:nvSpPr>
        <p:spPr>
          <a:xfrm>
            <a:off x="11287541" y="5687568"/>
            <a:ext cx="337265" cy="256032"/>
          </a:xfrm>
          <a:prstGeom prst="rect">
            <a:avLst/>
          </a:prstGeom>
          <a:solidFill>
            <a:srgbClr val="95A8FE"/>
          </a:solidFill>
          <a:ln/>
        </p:spPr>
      </p:sp>
      <p:sp>
        <p:nvSpPr>
          <p:cNvPr id="93" name="Shape 90"/>
          <p:cNvSpPr/>
          <p:nvPr/>
        </p:nvSpPr>
        <p:spPr>
          <a:xfrm>
            <a:off x="11624807" y="5687568"/>
            <a:ext cx="147651" cy="256032"/>
          </a:xfrm>
          <a:prstGeom prst="rect">
            <a:avLst/>
          </a:prstGeom>
          <a:solidFill>
            <a:srgbClr val="C3CDFB"/>
          </a:solidFill>
          <a:ln/>
        </p:spPr>
      </p:sp>
      <p:sp>
        <p:nvSpPr>
          <p:cNvPr id="94" name="Shape 91"/>
          <p:cNvSpPr/>
          <p:nvPr/>
        </p:nvSpPr>
        <p:spPr>
          <a:xfrm>
            <a:off x="11772458" y="5687568"/>
            <a:ext cx="59878" cy="256032"/>
          </a:xfrm>
          <a:prstGeom prst="rect">
            <a:avLst/>
          </a:prstGeom>
          <a:solidFill>
            <a:srgbClr val="E4E8FA"/>
          </a:solidFill>
          <a:ln/>
        </p:spPr>
      </p:sp>
      <p:sp>
        <p:nvSpPr>
          <p:cNvPr id="95" name="Shape 92"/>
          <p:cNvSpPr/>
          <p:nvPr/>
        </p:nvSpPr>
        <p:spPr>
          <a:xfrm>
            <a:off x="6309360" y="6067044"/>
            <a:ext cx="91440" cy="91440"/>
          </a:xfrm>
          <a:prstGeom prst="rect">
            <a:avLst/>
          </a:prstGeom>
          <a:solidFill>
            <a:srgbClr val="021B94"/>
          </a:solidFill>
          <a:ln/>
        </p:spPr>
      </p:sp>
      <p:sp>
        <p:nvSpPr>
          <p:cNvPr id="96" name="Text 93"/>
          <p:cNvSpPr/>
          <p:nvPr/>
        </p:nvSpPr>
        <p:spPr>
          <a:xfrm>
            <a:off x="6446520" y="6016752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MENA  </a:t>
            </a:r>
            <a:pPr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48%</a:t>
            </a:r>
            <a:endParaRPr lang="en-US" sz="720" dirty="0"/>
          </a:p>
        </p:txBody>
      </p:sp>
      <p:sp>
        <p:nvSpPr>
          <p:cNvPr id="97" name="Shape 94"/>
          <p:cNvSpPr/>
          <p:nvPr/>
        </p:nvSpPr>
        <p:spPr>
          <a:xfrm>
            <a:off x="8156448" y="6067044"/>
            <a:ext cx="91440" cy="91440"/>
          </a:xfrm>
          <a:prstGeom prst="rect">
            <a:avLst/>
          </a:prstGeom>
          <a:solidFill>
            <a:srgbClr val="2E4BC4"/>
          </a:solidFill>
          <a:ln/>
        </p:spPr>
      </p:sp>
      <p:sp>
        <p:nvSpPr>
          <p:cNvPr id="98" name="Text 95"/>
          <p:cNvSpPr/>
          <p:nvPr/>
        </p:nvSpPr>
        <p:spPr>
          <a:xfrm>
            <a:off x="8293608" y="6016752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Eastern Europe &amp; Central Asia  </a:t>
            </a:r>
            <a:pPr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33%</a:t>
            </a:r>
            <a:endParaRPr lang="en-US" sz="720" dirty="0"/>
          </a:p>
        </p:txBody>
      </p:sp>
      <p:sp>
        <p:nvSpPr>
          <p:cNvPr id="99" name="Shape 96"/>
          <p:cNvSpPr/>
          <p:nvPr/>
        </p:nvSpPr>
        <p:spPr>
          <a:xfrm>
            <a:off x="10003536" y="6067044"/>
            <a:ext cx="91440" cy="91440"/>
          </a:xfrm>
          <a:prstGeom prst="rect">
            <a:avLst/>
          </a:prstGeom>
          <a:solidFill>
            <a:srgbClr val="6F86E8"/>
          </a:solidFill>
          <a:ln/>
        </p:spPr>
      </p:sp>
      <p:sp>
        <p:nvSpPr>
          <p:cNvPr id="100" name="Text 97"/>
          <p:cNvSpPr/>
          <p:nvPr/>
        </p:nvSpPr>
        <p:spPr>
          <a:xfrm>
            <a:off x="10140696" y="6016752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Western Europe  </a:t>
            </a:r>
            <a:pPr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10%</a:t>
            </a:r>
            <a:endParaRPr lang="en-US" sz="720" dirty="0"/>
          </a:p>
        </p:txBody>
      </p:sp>
      <p:sp>
        <p:nvSpPr>
          <p:cNvPr id="101" name="Shape 98"/>
          <p:cNvSpPr/>
          <p:nvPr/>
        </p:nvSpPr>
        <p:spPr>
          <a:xfrm>
            <a:off x="6309360" y="6277356"/>
            <a:ext cx="91440" cy="91440"/>
          </a:xfrm>
          <a:prstGeom prst="rect">
            <a:avLst/>
          </a:prstGeom>
          <a:solidFill>
            <a:srgbClr val="95A8FE"/>
          </a:solidFill>
          <a:ln/>
        </p:spPr>
      </p:sp>
      <p:sp>
        <p:nvSpPr>
          <p:cNvPr id="102" name="Text 99"/>
          <p:cNvSpPr/>
          <p:nvPr/>
        </p:nvSpPr>
        <p:spPr>
          <a:xfrm>
            <a:off x="6446520" y="6227064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North America  </a:t>
            </a:r>
            <a:pPr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6%</a:t>
            </a:r>
            <a:endParaRPr lang="en-US" sz="720" dirty="0"/>
          </a:p>
        </p:txBody>
      </p:sp>
      <p:sp>
        <p:nvSpPr>
          <p:cNvPr id="103" name="Shape 100"/>
          <p:cNvSpPr/>
          <p:nvPr/>
        </p:nvSpPr>
        <p:spPr>
          <a:xfrm>
            <a:off x="8156448" y="6277356"/>
            <a:ext cx="91440" cy="91440"/>
          </a:xfrm>
          <a:prstGeom prst="rect">
            <a:avLst/>
          </a:prstGeom>
          <a:solidFill>
            <a:srgbClr val="C3CDFB"/>
          </a:solidFill>
          <a:ln/>
        </p:spPr>
      </p:sp>
      <p:sp>
        <p:nvSpPr>
          <p:cNvPr id="104" name="Text 101"/>
          <p:cNvSpPr/>
          <p:nvPr/>
        </p:nvSpPr>
        <p:spPr>
          <a:xfrm>
            <a:off x="8293608" y="6227064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Asia  </a:t>
            </a:r>
            <a:pPr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3%</a:t>
            </a:r>
            <a:endParaRPr lang="en-US" sz="720" dirty="0"/>
          </a:p>
        </p:txBody>
      </p:sp>
      <p:sp>
        <p:nvSpPr>
          <p:cNvPr id="105" name="Shape 102"/>
          <p:cNvSpPr/>
          <p:nvPr/>
        </p:nvSpPr>
        <p:spPr>
          <a:xfrm>
            <a:off x="10003536" y="6277356"/>
            <a:ext cx="91440" cy="91440"/>
          </a:xfrm>
          <a:prstGeom prst="rect">
            <a:avLst/>
          </a:prstGeom>
          <a:solidFill>
            <a:srgbClr val="E4E8FA"/>
          </a:solidFill>
          <a:ln/>
        </p:spPr>
      </p:sp>
      <p:sp>
        <p:nvSpPr>
          <p:cNvPr id="106" name="Text 103"/>
          <p:cNvSpPr/>
          <p:nvPr/>
        </p:nvSpPr>
        <p:spPr>
          <a:xfrm>
            <a:off x="10140696" y="6227064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C6CBD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LATAM  </a:t>
            </a:r>
            <a:pPr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</a:t>
            </a:r>
            <a:endParaRPr lang="en-US" sz="720" dirty="0"/>
          </a:p>
        </p:txBody>
      </p:sp>
      <p:sp>
        <p:nvSpPr>
          <p:cNvPr id="107" name="Text 104"/>
          <p:cNvSpPr/>
          <p:nvPr/>
        </p:nvSpPr>
        <p:spPr>
          <a:xfrm>
            <a:off x="626364" y="6455664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4" dirty="0">
                <a:solidFill>
                  <a:srgbClr val="D8D8D8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Source: Company — commercial review of backlog and pipeline, 5 Aug 2026 (rev. 2); Company financial model, Base case (FX R$ 5.17/US$).</a:t>
            </a:r>
            <a:endParaRPr lang="en-US" sz="804" dirty="0"/>
          </a:p>
        </p:txBody>
      </p:sp>
      <p:sp>
        <p:nvSpPr>
          <p:cNvPr id="108" name="Text 105"/>
          <p:cNvSpPr/>
          <p:nvPr/>
        </p:nvSpPr>
        <p:spPr>
          <a:xfrm>
            <a:off x="357530" y="645566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4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50</a:t>
            </a:r>
            <a:endParaRPr lang="en-US" sz="804" dirty="0"/>
          </a:p>
        </p:txBody>
      </p:sp>
      <p:sp>
        <p:nvSpPr>
          <p:cNvPr id="109" name="Shape 106"/>
          <p:cNvSpPr/>
          <p:nvPr/>
        </p:nvSpPr>
        <p:spPr>
          <a:xfrm>
            <a:off x="10931652" y="6469380"/>
            <a:ext cx="932688" cy="196596"/>
          </a:xfrm>
          <a:prstGeom prst="roundRect">
            <a:avLst>
              <a:gd name="adj" fmla="val 18605"/>
            </a:avLst>
          </a:prstGeom>
          <a:ln w="9525">
            <a:solidFill>
              <a:srgbClr val="3C4E86"/>
            </a:solidFill>
            <a:prstDash val="solid"/>
          </a:ln>
        </p:spPr>
      </p:sp>
      <p:sp>
        <p:nvSpPr>
          <p:cNvPr id="110" name="Text 107"/>
          <p:cNvSpPr/>
          <p:nvPr/>
        </p:nvSpPr>
        <p:spPr>
          <a:xfrm>
            <a:off x="10931652" y="6469380"/>
            <a:ext cx="93268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6" dirty="0">
                <a:solidFill>
                  <a:srgbClr val="9DAD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Confidential</a:t>
            </a:r>
            <a:endParaRPr lang="en-US" sz="69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IGC Partners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IGC Partners</dc:creator>
  <cp:lastModifiedBy>IGC Partners</cp:lastModifiedBy>
  <cp:revision>1</cp:revision>
  <dcterms:created xsi:type="dcterms:W3CDTF">2026-09-03T16:58:36Z</dcterms:created>
  <dcterms:modified xsi:type="dcterms:W3CDTF">2026-09-03T16:58:36Z</dcterms:modified>
</cp:coreProperties>
</file>
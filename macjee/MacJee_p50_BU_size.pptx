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92278" y="224028"/>
            <a:ext cx="1280160" cy="146304"/>
          </a:xfrm>
          <a:prstGeom prst="rect">
            <a:avLst/>
          </a:prstGeom>
          <a:noFill/>
          <a:ln/>
        </p:spPr>
        <p:txBody>
          <a:bodyPr wrap="square" lIns="0" tIns="0" rIns="0" bIns="0" rtlCol="0" anchor="ctr"/>
          <a:lstStyle/>
          <a:p>
            <a:pPr indent="0" marL="0">
              <a:buNone/>
            </a:pPr>
            <a:r>
              <a:rPr lang="en-US" sz="698" dirty="0">
                <a:solidFill>
                  <a:srgbClr val="BFBFBF"/>
                </a:solidFill>
                <a:latin typeface="Montserrat" pitchFamily="34" charset="0"/>
                <a:ea typeface="Montserrat" pitchFamily="34" charset="-122"/>
                <a:cs typeface="Montserrat" pitchFamily="34" charset="-120"/>
              </a:rPr>
              <a:t>Mac Jee At a Glance</a:t>
            </a:r>
            <a:endParaRPr lang="en-US" sz="698" dirty="0"/>
          </a:p>
        </p:txBody>
      </p:sp>
      <p:sp>
        <p:nvSpPr>
          <p:cNvPr id="3" name="Text 1"/>
          <p:cNvSpPr/>
          <p:nvPr/>
        </p:nvSpPr>
        <p:spPr>
          <a:xfrm>
            <a:off x="1634947" y="224028"/>
            <a:ext cx="1600200" cy="146304"/>
          </a:xfrm>
          <a:prstGeom prst="rect">
            <a:avLst/>
          </a:prstGeom>
          <a:noFill/>
          <a:ln/>
        </p:spPr>
        <p:txBody>
          <a:bodyPr wrap="square" lIns="0" tIns="0" rIns="0" bIns="0" rtlCol="0" anchor="ctr"/>
          <a:lstStyle/>
          <a:p>
            <a:pPr indent="0" marL="0">
              <a:buNone/>
            </a:pPr>
            <a:r>
              <a:rPr lang="en-US" sz="698" dirty="0">
                <a:solidFill>
                  <a:srgbClr val="BFBFBF"/>
                </a:solidFill>
                <a:latin typeface="Montserrat" pitchFamily="34" charset="0"/>
                <a:ea typeface="Montserrat" pitchFamily="34" charset="-122"/>
                <a:cs typeface="Montserrat" pitchFamily="34" charset="-120"/>
              </a:rPr>
              <a:t>Mac Jee Investment Thesis</a:t>
            </a:r>
            <a:endParaRPr lang="en-US" sz="698" dirty="0"/>
          </a:p>
        </p:txBody>
      </p:sp>
      <p:sp>
        <p:nvSpPr>
          <p:cNvPr id="4" name="Text 2"/>
          <p:cNvSpPr/>
          <p:nvPr/>
        </p:nvSpPr>
        <p:spPr>
          <a:xfrm>
            <a:off x="3165653" y="224028"/>
            <a:ext cx="1691640" cy="146304"/>
          </a:xfrm>
          <a:prstGeom prst="rect">
            <a:avLst/>
          </a:prstGeom>
          <a:noFill/>
          <a:ln/>
        </p:spPr>
        <p:txBody>
          <a:bodyPr wrap="square" lIns="0" tIns="0" rIns="0" bIns="0" rtlCol="0" anchor="ctr"/>
          <a:lstStyle/>
          <a:p>
            <a:pPr indent="0" marL="0">
              <a:buNone/>
            </a:pPr>
            <a:r>
              <a:rPr lang="en-US" sz="698" dirty="0">
                <a:solidFill>
                  <a:srgbClr val="BFBFBF"/>
                </a:solidFill>
                <a:latin typeface="Montserrat" pitchFamily="34" charset="0"/>
                <a:ea typeface="Montserrat" pitchFamily="34" charset="-122"/>
                <a:cs typeface="Montserrat" pitchFamily="34" charset="-120"/>
              </a:rPr>
              <a:t>Business Units and Portfolio</a:t>
            </a:r>
            <a:endParaRPr lang="en-US" sz="698" dirty="0"/>
          </a:p>
        </p:txBody>
      </p:sp>
      <p:sp>
        <p:nvSpPr>
          <p:cNvPr id="5" name="Text 3"/>
          <p:cNvSpPr/>
          <p:nvPr/>
        </p:nvSpPr>
        <p:spPr>
          <a:xfrm>
            <a:off x="4749394" y="224028"/>
            <a:ext cx="694944" cy="146304"/>
          </a:xfrm>
          <a:prstGeom prst="rect">
            <a:avLst/>
          </a:prstGeom>
          <a:noFill/>
          <a:ln/>
        </p:spPr>
        <p:txBody>
          <a:bodyPr wrap="square" lIns="0" tIns="0" rIns="0" bIns="0" rtlCol="0" anchor="ctr"/>
          <a:lstStyle/>
          <a:p>
            <a:pPr indent="0" marL="0">
              <a:buNone/>
            </a:pPr>
            <a:r>
              <a:rPr lang="en-US" sz="698" dirty="0">
                <a:solidFill>
                  <a:srgbClr val="00178D"/>
                </a:solidFill>
                <a:latin typeface="Montserrat SemiBold" pitchFamily="34" charset="0"/>
                <a:ea typeface="Montserrat SemiBold" pitchFamily="34" charset="-122"/>
                <a:cs typeface="Montserrat SemiBold" pitchFamily="34" charset="-120"/>
              </a:rPr>
              <a:t>Financials</a:t>
            </a:r>
            <a:endParaRPr lang="en-US" sz="698" dirty="0"/>
          </a:p>
        </p:txBody>
      </p:sp>
      <p:sp>
        <p:nvSpPr>
          <p:cNvPr id="6" name="Shape 4"/>
          <p:cNvSpPr/>
          <p:nvPr/>
        </p:nvSpPr>
        <p:spPr>
          <a:xfrm>
            <a:off x="4749394" y="442570"/>
            <a:ext cx="420624" cy="9144"/>
          </a:xfrm>
          <a:prstGeom prst="rect">
            <a:avLst/>
          </a:prstGeom>
          <a:solidFill>
            <a:srgbClr val="27B0FF"/>
          </a:solidFill>
          <a:ln/>
        </p:spPr>
      </p:sp>
      <p:sp>
        <p:nvSpPr>
          <p:cNvPr id="7" name="Shape 5"/>
          <p:cNvSpPr/>
          <p:nvPr/>
        </p:nvSpPr>
        <p:spPr>
          <a:xfrm>
            <a:off x="4723790" y="418795"/>
            <a:ext cx="51206" cy="51206"/>
          </a:xfrm>
          <a:prstGeom prst="diamond">
            <a:avLst/>
          </a:prstGeom>
          <a:solidFill>
            <a:srgbClr val="27B0FF"/>
          </a:solidFill>
          <a:ln/>
        </p:spPr>
      </p:sp>
      <p:sp>
        <p:nvSpPr>
          <p:cNvPr id="8" name="Shape 6"/>
          <p:cNvSpPr/>
          <p:nvPr/>
        </p:nvSpPr>
        <p:spPr>
          <a:xfrm>
            <a:off x="5144414" y="418795"/>
            <a:ext cx="51206" cy="51206"/>
          </a:xfrm>
          <a:prstGeom prst="diamond">
            <a:avLst/>
          </a:prstGeom>
          <a:solidFill>
            <a:srgbClr val="27B0FF"/>
          </a:solidFill>
          <a:ln/>
        </p:spPr>
      </p:sp>
      <p:pic>
        <p:nvPicPr>
          <p:cNvPr id="9" name="Image 0" descr="assets/macjee_gold.png">    </p:cNvPr>
          <p:cNvPicPr>
            <a:picLocks noChangeAspect="1"/>
          </p:cNvPicPr>
          <p:nvPr/>
        </p:nvPicPr>
        <p:blipFill>
          <a:blip r:embed="rId1"/>
          <a:stretch>
            <a:fillRect/>
          </a:stretch>
        </p:blipFill>
        <p:spPr>
          <a:xfrm>
            <a:off x="11374222" y="343814"/>
            <a:ext cx="481889" cy="481889"/>
          </a:xfrm>
          <a:prstGeom prst="rect">
            <a:avLst/>
          </a:prstGeom>
        </p:spPr>
      </p:pic>
      <p:sp>
        <p:nvSpPr>
          <p:cNvPr id="10" name="Text 7"/>
          <p:cNvSpPr/>
          <p:nvPr/>
        </p:nvSpPr>
        <p:spPr>
          <a:xfrm>
            <a:off x="392278" y="731520"/>
            <a:ext cx="11296498" cy="384048"/>
          </a:xfrm>
          <a:prstGeom prst="rect">
            <a:avLst/>
          </a:prstGeom>
          <a:noFill/>
          <a:ln/>
        </p:spPr>
        <p:txBody>
          <a:bodyPr wrap="square" lIns="0" tIns="0" rIns="0" bIns="0" rtlCol="0" anchor="ctr"/>
          <a:lstStyle/>
          <a:p>
            <a:pPr indent="0" marL="0">
              <a:buNone/>
            </a:pPr>
            <a:r>
              <a:rPr lang="en-US" sz="2400" b="1" dirty="0">
                <a:solidFill>
                  <a:srgbClr val="00092B"/>
                </a:solidFill>
                <a:latin typeface="Montserrat" pitchFamily="34" charset="0"/>
                <a:ea typeface="Montserrat" pitchFamily="34" charset="-122"/>
                <a:cs typeface="Montserrat" pitchFamily="34" charset="-120"/>
              </a:rPr>
              <a:t>US$ 4.6 bn of identified opportunity by business unit</a:t>
            </a:r>
            <a:endParaRPr lang="en-US" sz="2400" dirty="0"/>
          </a:p>
        </p:txBody>
      </p:sp>
      <p:sp>
        <p:nvSpPr>
          <p:cNvPr id="11" name="Text 8"/>
          <p:cNvSpPr/>
          <p:nvPr/>
        </p:nvSpPr>
        <p:spPr>
          <a:xfrm>
            <a:off x="342900" y="1110996"/>
            <a:ext cx="11296498" cy="256032"/>
          </a:xfrm>
          <a:prstGeom prst="rect">
            <a:avLst/>
          </a:prstGeom>
          <a:noFill/>
          <a:ln/>
        </p:spPr>
        <p:txBody>
          <a:bodyPr wrap="square" lIns="0" tIns="0" rIns="0" bIns="0" rtlCol="0" anchor="ctr"/>
          <a:lstStyle/>
          <a:p>
            <a:pPr indent="0" marL="0">
              <a:buNone/>
            </a:pPr>
            <a:r>
              <a:rPr lang="en-US" sz="1200" dirty="0">
                <a:solidFill>
                  <a:srgbClr val="000312"/>
                </a:solidFill>
                <a:latin typeface="Montserrat" pitchFamily="34" charset="0"/>
                <a:ea typeface="Montserrat" pitchFamily="34" charset="-122"/>
                <a:cs typeface="Montserrat" pitchFamily="34" charset="-120"/>
              </a:rPr>
              <a:t>55 named programmes across 21 countries — 1.1x the entire 2026–32 revenue plan, already identified commercially</a:t>
            </a:r>
            <a:endParaRPr lang="en-US" sz="1200" dirty="0"/>
          </a:p>
        </p:txBody>
      </p:sp>
      <p:sp>
        <p:nvSpPr>
          <p:cNvPr id="12" name="Shape 9"/>
          <p:cNvSpPr/>
          <p:nvPr/>
        </p:nvSpPr>
        <p:spPr>
          <a:xfrm>
            <a:off x="357530" y="1426464"/>
            <a:ext cx="11476634" cy="3090672"/>
          </a:xfrm>
          <a:custGeom>
            <a:avLst/>
            <a:gdLst/>
            <a:ahLst/>
            <a:cxnLst/>
            <a:rect l="l" t="t" r="r" b="b"/>
            <a:pathLst>
              <a:path w="11476634" h="3090672">
                <a:moveTo>
                  <a:pt x="0" y="0"/>
                </a:moveTo>
                <a:lnTo>
                  <a:pt x="11158423" y="0"/>
                </a:lnTo>
                <a:lnTo>
                  <a:pt x="11476634" y="318211"/>
                </a:lnTo>
                <a:lnTo>
                  <a:pt x="11476634" y="3090672"/>
                </a:lnTo>
                <a:lnTo>
                  <a:pt x="318211" y="3090672"/>
                </a:lnTo>
                <a:lnTo>
                  <a:pt x="0" y="2772461"/>
                </a:lnTo>
                <a:close/>
              </a:path>
            </a:pathLst>
          </a:custGeom>
          <a:solidFill>
            <a:srgbClr val="FFFFFF"/>
          </a:solidFill>
          <a:ln/>
          <a:effectLst>
            <a:outerShdw sx="100000" sy="100000" kx="0" ky="0" algn="bl" rotWithShape="0" blurRad="50800" dist="19050" dir="5400000">
              <a:srgbClr val="000000">
                <a:alpha val="16000"/>
              </a:srgbClr>
            </a:outerShdw>
          </a:effectLst>
        </p:spPr>
      </p:sp>
      <p:sp>
        <p:nvSpPr>
          <p:cNvPr id="13" name="Text 10"/>
          <p:cNvSpPr/>
          <p:nvPr/>
        </p:nvSpPr>
        <p:spPr>
          <a:xfrm>
            <a:off x="576072" y="1554480"/>
            <a:ext cx="7680960" cy="237744"/>
          </a:xfrm>
          <a:prstGeom prst="rect">
            <a:avLst/>
          </a:prstGeom>
          <a:noFill/>
          <a:ln/>
        </p:spPr>
        <p:txBody>
          <a:bodyPr wrap="square" lIns="0" tIns="0" rIns="0" bIns="0" rtlCol="0" anchor="ctr"/>
          <a:lstStyle/>
          <a:p>
            <a:pPr indent="0" marL="0">
              <a:buNone/>
            </a:pPr>
            <a:r>
              <a:rPr lang="en-US" sz="1200" b="1" dirty="0">
                <a:solidFill>
                  <a:srgbClr val="000312"/>
                </a:solidFill>
                <a:latin typeface="Montserrat" pitchFamily="34" charset="0"/>
                <a:ea typeface="Montserrat" pitchFamily="34" charset="-122"/>
                <a:cs typeface="Montserrat" pitchFamily="34" charset="-120"/>
              </a:rPr>
              <a:t>Identified commercial opportunity by business unit — total contract value</a:t>
            </a:r>
            <a:endParaRPr lang="en-US" sz="1200" dirty="0"/>
          </a:p>
        </p:txBody>
      </p:sp>
      <p:sp>
        <p:nvSpPr>
          <p:cNvPr id="14" name="Shape 11"/>
          <p:cNvSpPr/>
          <p:nvPr/>
        </p:nvSpPr>
        <p:spPr>
          <a:xfrm>
            <a:off x="576072" y="1847088"/>
            <a:ext cx="960120" cy="50292"/>
          </a:xfrm>
          <a:prstGeom prst="rect">
            <a:avLst/>
          </a:prstGeom>
          <a:solidFill>
            <a:srgbClr val="6FA82F"/>
          </a:solidFill>
          <a:ln/>
        </p:spPr>
      </p:sp>
      <p:sp>
        <p:nvSpPr>
          <p:cNvPr id="15" name="Text 12"/>
          <p:cNvSpPr/>
          <p:nvPr/>
        </p:nvSpPr>
        <p:spPr>
          <a:xfrm>
            <a:off x="576072" y="1956816"/>
            <a:ext cx="3529584" cy="237744"/>
          </a:xfrm>
          <a:prstGeom prst="rect">
            <a:avLst/>
          </a:prstGeom>
          <a:noFill/>
          <a:ln/>
        </p:spPr>
        <p:txBody>
          <a:bodyPr wrap="square" lIns="0" tIns="0" rIns="0" bIns="0" rtlCol="0" anchor="ctr"/>
          <a:lstStyle/>
          <a:p>
            <a:pPr indent="0" marL="0">
              <a:buNone/>
            </a:pPr>
            <a:r>
              <a:rPr lang="en-US" sz="1400" b="1" dirty="0">
                <a:solidFill>
                  <a:srgbClr val="6FA82F"/>
                </a:solidFill>
                <a:latin typeface="Montserrat" pitchFamily="34" charset="0"/>
                <a:ea typeface="Montserrat" pitchFamily="34" charset="-122"/>
                <a:cs typeface="Montserrat" pitchFamily="34" charset="-120"/>
              </a:rPr>
              <a:t>Munitions</a:t>
            </a:r>
            <a:endParaRPr lang="en-US" sz="1400" dirty="0"/>
          </a:p>
        </p:txBody>
      </p:sp>
      <p:sp>
        <p:nvSpPr>
          <p:cNvPr id="16" name="Text 13"/>
          <p:cNvSpPr/>
          <p:nvPr/>
        </p:nvSpPr>
        <p:spPr>
          <a:xfrm>
            <a:off x="576072" y="2194560"/>
            <a:ext cx="3529584" cy="164592"/>
          </a:xfrm>
          <a:prstGeom prst="rect">
            <a:avLst/>
          </a:prstGeom>
          <a:noFill/>
          <a:ln/>
        </p:spPr>
        <p:txBody>
          <a:bodyPr wrap="square" lIns="0" tIns="0" rIns="0" bIns="0" rtlCol="0" anchor="ctr"/>
          <a:lstStyle/>
          <a:p>
            <a:pPr indent="0" marL="0">
              <a:buNone/>
            </a:pPr>
            <a:r>
              <a:rPr lang="en-US" sz="740" dirty="0">
                <a:solidFill>
                  <a:srgbClr val="8C93A8"/>
                </a:solidFill>
                <a:latin typeface="Montserrat" pitchFamily="34" charset="0"/>
                <a:ea typeface="Montserrat" pitchFamily="34" charset="-122"/>
                <a:cs typeface="Montserrat" pitchFamily="34" charset="-120"/>
              </a:rPr>
              <a:t>Mac Jee Indústria de Defesa</a:t>
            </a:r>
            <a:endParaRPr lang="en-US" sz="740" dirty="0"/>
          </a:p>
        </p:txBody>
      </p:sp>
      <p:sp>
        <p:nvSpPr>
          <p:cNvPr id="17" name="Text 14"/>
          <p:cNvSpPr/>
          <p:nvPr/>
        </p:nvSpPr>
        <p:spPr>
          <a:xfrm>
            <a:off x="576072" y="2377440"/>
            <a:ext cx="3419856" cy="384048"/>
          </a:xfrm>
          <a:prstGeom prst="rect">
            <a:avLst/>
          </a:prstGeom>
          <a:noFill/>
          <a:ln/>
        </p:spPr>
        <p:txBody>
          <a:bodyPr wrap="square" lIns="0" tIns="0" rIns="0" bIns="0" rtlCol="0" anchor="t"/>
          <a:lstStyle/>
          <a:p>
            <a:pPr indent="0" marL="0">
              <a:lnSpc>
                <a:spcPct val="116000"/>
              </a:lnSpc>
              <a:buNone/>
            </a:pPr>
            <a:r>
              <a:rPr lang="en-US" sz="840" dirty="0">
                <a:solidFill>
                  <a:srgbClr val="3C4657"/>
                </a:solidFill>
                <a:latin typeface="Montserrat" pitchFamily="34" charset="0"/>
                <a:ea typeface="Montserrat" pitchFamily="34" charset="-122"/>
                <a:cs typeface="Montserrat" pitchFamily="34" charset="-120"/>
              </a:rPr>
              <a:t>Aerial bombs, artillery, rockets, fuzes and launcher vehicles — the unit already in serial production</a:t>
            </a:r>
            <a:endParaRPr lang="en-US" sz="840" dirty="0"/>
          </a:p>
        </p:txBody>
      </p:sp>
      <p:sp>
        <p:nvSpPr>
          <p:cNvPr id="18" name="Text 15"/>
          <p:cNvSpPr/>
          <p:nvPr/>
        </p:nvSpPr>
        <p:spPr>
          <a:xfrm>
            <a:off x="576072" y="2798064"/>
            <a:ext cx="3529584" cy="512064"/>
          </a:xfrm>
          <a:prstGeom prst="rect">
            <a:avLst/>
          </a:prstGeom>
          <a:noFill/>
          <a:ln/>
        </p:spPr>
        <p:txBody>
          <a:bodyPr wrap="square" lIns="0" tIns="0" rIns="0" bIns="0" rtlCol="0" anchor="ctr"/>
          <a:lstStyle/>
          <a:p>
            <a:pPr indent="0" marL="0">
              <a:buNone/>
            </a:pPr>
            <a:r>
              <a:rPr lang="en-US" sz="1300" dirty="0">
                <a:solidFill>
                  <a:srgbClr val="3C4657"/>
                </a:solidFill>
                <a:latin typeface="Montserrat" pitchFamily="34" charset="0"/>
                <a:ea typeface="Montserrat" pitchFamily="34" charset="-122"/>
                <a:cs typeface="Montserrat" pitchFamily="34" charset="-120"/>
              </a:rPr>
              <a:t>US$ </a:t>
            </a:r>
            <a:pPr indent="0" marL="0">
              <a:buNone/>
            </a:pPr>
            <a:r>
              <a:rPr lang="en-US" sz="4000" b="1" dirty="0">
                <a:solidFill>
                  <a:srgbClr val="000312"/>
                </a:solidFill>
                <a:latin typeface="Montserrat" pitchFamily="34" charset="0"/>
                <a:ea typeface="Montserrat" pitchFamily="34" charset="-122"/>
                <a:cs typeface="Montserrat" pitchFamily="34" charset="-120"/>
              </a:rPr>
              <a:t>1.6</a:t>
            </a:r>
            <a:pPr indent="0" marL="0">
              <a:buNone/>
            </a:pPr>
            <a:r>
              <a:rPr lang="en-US" sz="1700" dirty="0">
                <a:solidFill>
                  <a:srgbClr val="000312"/>
                </a:solidFill>
                <a:latin typeface="Montserrat" pitchFamily="34" charset="0"/>
                <a:ea typeface="Montserrat" pitchFamily="34" charset="-122"/>
                <a:cs typeface="Montserrat" pitchFamily="34" charset="-120"/>
              </a:rPr>
              <a:t> bn</a:t>
            </a:r>
            <a:endParaRPr lang="en-US" sz="1300" dirty="0"/>
          </a:p>
        </p:txBody>
      </p:sp>
      <p:sp>
        <p:nvSpPr>
          <p:cNvPr id="19" name="Text 16"/>
          <p:cNvSpPr/>
          <p:nvPr/>
        </p:nvSpPr>
        <p:spPr>
          <a:xfrm>
            <a:off x="576072" y="3291840"/>
            <a:ext cx="3529584" cy="164592"/>
          </a:xfrm>
          <a:prstGeom prst="rect">
            <a:avLst/>
          </a:prstGeom>
          <a:noFill/>
          <a:ln/>
        </p:spPr>
        <p:txBody>
          <a:bodyPr wrap="square" lIns="0" tIns="0" rIns="0" bIns="0" rtlCol="0" anchor="ctr"/>
          <a:lstStyle/>
          <a:p>
            <a:pPr indent="0" marL="0">
              <a:buNone/>
            </a:pPr>
            <a:r>
              <a:rPr lang="en-US" sz="800" dirty="0">
                <a:solidFill>
                  <a:srgbClr val="8C93A8"/>
                </a:solidFill>
                <a:latin typeface="Montserrat" pitchFamily="34" charset="0"/>
                <a:ea typeface="Montserrat" pitchFamily="34" charset="-122"/>
                <a:cs typeface="Montserrat" pitchFamily="34" charset="-120"/>
              </a:rPr>
              <a:t>identified opportunity  ·  35% of the group</a:t>
            </a:r>
            <a:endParaRPr lang="en-US" sz="800" dirty="0"/>
          </a:p>
        </p:txBody>
      </p:sp>
      <p:sp>
        <p:nvSpPr>
          <p:cNvPr id="20" name="Shape 17"/>
          <p:cNvSpPr/>
          <p:nvPr/>
        </p:nvSpPr>
        <p:spPr>
          <a:xfrm>
            <a:off x="576072" y="3511296"/>
            <a:ext cx="3017520" cy="105156"/>
          </a:xfrm>
          <a:prstGeom prst="rect">
            <a:avLst/>
          </a:prstGeom>
          <a:solidFill>
            <a:srgbClr val="EDEFF4"/>
          </a:solidFill>
          <a:ln/>
        </p:spPr>
      </p:sp>
      <p:sp>
        <p:nvSpPr>
          <p:cNvPr id="21" name="Shape 18"/>
          <p:cNvSpPr/>
          <p:nvPr/>
        </p:nvSpPr>
        <p:spPr>
          <a:xfrm>
            <a:off x="576072" y="3511296"/>
            <a:ext cx="2617401" cy="105156"/>
          </a:xfrm>
          <a:prstGeom prst="rect">
            <a:avLst/>
          </a:prstGeom>
          <a:solidFill>
            <a:srgbClr val="92D050"/>
          </a:solidFill>
          <a:ln/>
        </p:spPr>
      </p:sp>
      <p:sp>
        <p:nvSpPr>
          <p:cNvPr id="22" name="Text 19"/>
          <p:cNvSpPr/>
          <p:nvPr/>
        </p:nvSpPr>
        <p:spPr>
          <a:xfrm>
            <a:off x="576072" y="3730752"/>
            <a:ext cx="1188720" cy="146304"/>
          </a:xfrm>
          <a:prstGeom prst="rect">
            <a:avLst/>
          </a:prstGeom>
          <a:noFill/>
          <a:ln/>
        </p:spPr>
        <p:txBody>
          <a:bodyPr wrap="square" lIns="0" tIns="0" rIns="0" bIns="0" rtlCol="0" anchor="ctr"/>
          <a:lstStyle/>
          <a:p>
            <a:pPr indent="0" marL="0">
              <a:buNone/>
            </a:pPr>
            <a:r>
              <a:rPr lang="en-US" sz="620" spc="50" kern="0" dirty="0">
                <a:solidFill>
                  <a:srgbClr val="8C93A8"/>
                </a:solidFill>
                <a:latin typeface="Montserrat Light" pitchFamily="34" charset="0"/>
                <a:ea typeface="Montserrat Light" pitchFamily="34" charset="-122"/>
                <a:cs typeface="Montserrat Light" pitchFamily="34" charset="-120"/>
              </a:rPr>
              <a:t>PROGRAMMES</a:t>
            </a:r>
            <a:endParaRPr lang="en-US" sz="620" dirty="0"/>
          </a:p>
        </p:txBody>
      </p:sp>
      <p:sp>
        <p:nvSpPr>
          <p:cNvPr id="23" name="Text 20"/>
          <p:cNvSpPr/>
          <p:nvPr/>
        </p:nvSpPr>
        <p:spPr>
          <a:xfrm>
            <a:off x="1801368" y="3712464"/>
            <a:ext cx="2249424" cy="182880"/>
          </a:xfrm>
          <a:prstGeom prst="rect">
            <a:avLst/>
          </a:prstGeom>
          <a:noFill/>
          <a:ln/>
        </p:spPr>
        <p:txBody>
          <a:bodyPr wrap="square" lIns="0" tIns="0" rIns="0" bIns="0" rtlCol="0" anchor="ctr"/>
          <a:lstStyle/>
          <a:p>
            <a:pPr indent="0" marL="0">
              <a:buNone/>
            </a:pPr>
            <a:r>
              <a:rPr lang="en-US" sz="760" dirty="0">
                <a:solidFill>
                  <a:srgbClr val="000312"/>
                </a:solidFill>
                <a:latin typeface="Montserrat" pitchFamily="34" charset="0"/>
                <a:ea typeface="Montserrat" pitchFamily="34" charset="-122"/>
                <a:cs typeface="Montserrat" pitchFamily="34" charset="-120"/>
              </a:rPr>
              <a:t>34 across 11 countries</a:t>
            </a:r>
            <a:endParaRPr lang="en-US" sz="760" dirty="0"/>
          </a:p>
        </p:txBody>
      </p:sp>
      <p:sp>
        <p:nvSpPr>
          <p:cNvPr id="24" name="Text 21"/>
          <p:cNvSpPr/>
          <p:nvPr/>
        </p:nvSpPr>
        <p:spPr>
          <a:xfrm>
            <a:off x="576072" y="3991356"/>
            <a:ext cx="1188720" cy="146304"/>
          </a:xfrm>
          <a:prstGeom prst="rect">
            <a:avLst/>
          </a:prstGeom>
          <a:noFill/>
          <a:ln/>
        </p:spPr>
        <p:txBody>
          <a:bodyPr wrap="square" lIns="0" tIns="0" rIns="0" bIns="0" rtlCol="0" anchor="ctr"/>
          <a:lstStyle/>
          <a:p>
            <a:pPr indent="0" marL="0">
              <a:buNone/>
            </a:pPr>
            <a:r>
              <a:rPr lang="en-US" sz="620" spc="50" kern="0" dirty="0">
                <a:solidFill>
                  <a:srgbClr val="8C93A8"/>
                </a:solidFill>
                <a:latin typeface="Montserrat Light" pitchFamily="34" charset="0"/>
                <a:ea typeface="Montserrat Light" pitchFamily="34" charset="-122"/>
                <a:cs typeface="Montserrat Light" pitchFamily="34" charset="-120"/>
              </a:rPr>
              <a:t>LARGEST</a:t>
            </a:r>
            <a:endParaRPr lang="en-US" sz="620" dirty="0"/>
          </a:p>
        </p:txBody>
      </p:sp>
      <p:sp>
        <p:nvSpPr>
          <p:cNvPr id="25" name="Text 22"/>
          <p:cNvSpPr/>
          <p:nvPr/>
        </p:nvSpPr>
        <p:spPr>
          <a:xfrm>
            <a:off x="1801368" y="3973068"/>
            <a:ext cx="2249424" cy="182880"/>
          </a:xfrm>
          <a:prstGeom prst="rect">
            <a:avLst/>
          </a:prstGeom>
          <a:noFill/>
          <a:ln/>
        </p:spPr>
        <p:txBody>
          <a:bodyPr wrap="square" lIns="0" tIns="0" rIns="0" bIns="0" rtlCol="0" anchor="ctr"/>
          <a:lstStyle/>
          <a:p>
            <a:pPr indent="0" marL="0">
              <a:buNone/>
            </a:pPr>
            <a:r>
              <a:rPr lang="en-US" sz="760" dirty="0">
                <a:solidFill>
                  <a:srgbClr val="000312"/>
                </a:solidFill>
                <a:latin typeface="Montserrat" pitchFamily="34" charset="0"/>
                <a:ea typeface="Montserrat" pitchFamily="34" charset="-122"/>
                <a:cs typeface="Montserrat" pitchFamily="34" charset="-120"/>
              </a:rPr>
              <a:t>US$ 250 mm · 155 mm ERFBBB — Bulgaria</a:t>
            </a:r>
            <a:endParaRPr lang="en-US" sz="760" dirty="0"/>
          </a:p>
        </p:txBody>
      </p:sp>
      <p:sp>
        <p:nvSpPr>
          <p:cNvPr id="26" name="Text 23"/>
          <p:cNvSpPr/>
          <p:nvPr/>
        </p:nvSpPr>
        <p:spPr>
          <a:xfrm>
            <a:off x="576072" y="4251960"/>
            <a:ext cx="1188720" cy="146304"/>
          </a:xfrm>
          <a:prstGeom prst="rect">
            <a:avLst/>
          </a:prstGeom>
          <a:noFill/>
          <a:ln/>
        </p:spPr>
        <p:txBody>
          <a:bodyPr wrap="square" lIns="0" tIns="0" rIns="0" bIns="0" rtlCol="0" anchor="ctr"/>
          <a:lstStyle/>
          <a:p>
            <a:pPr indent="0" marL="0">
              <a:buNone/>
            </a:pPr>
            <a:r>
              <a:rPr lang="en-US" sz="620" spc="50" kern="0" dirty="0">
                <a:solidFill>
                  <a:srgbClr val="8C93A8"/>
                </a:solidFill>
                <a:latin typeface="Montserrat Light" pitchFamily="34" charset="0"/>
                <a:ea typeface="Montserrat Light" pitchFamily="34" charset="-122"/>
                <a:cs typeface="Montserrat Light" pitchFamily="34" charset="-120"/>
              </a:rPr>
              <a:t>IN THE 2026–32 PLAN</a:t>
            </a:r>
            <a:endParaRPr lang="en-US" sz="620" dirty="0"/>
          </a:p>
        </p:txBody>
      </p:sp>
      <p:sp>
        <p:nvSpPr>
          <p:cNvPr id="27" name="Text 24"/>
          <p:cNvSpPr/>
          <p:nvPr/>
        </p:nvSpPr>
        <p:spPr>
          <a:xfrm>
            <a:off x="1801368" y="4233672"/>
            <a:ext cx="2249424" cy="182880"/>
          </a:xfrm>
          <a:prstGeom prst="rect">
            <a:avLst/>
          </a:prstGeom>
          <a:noFill/>
          <a:ln/>
        </p:spPr>
        <p:txBody>
          <a:bodyPr wrap="square" lIns="0" tIns="0" rIns="0" bIns="0" rtlCol="0" anchor="ctr"/>
          <a:lstStyle/>
          <a:p>
            <a:pPr indent="0" marL="0">
              <a:buNone/>
            </a:pPr>
            <a:r>
              <a:rPr lang="en-US" sz="760" b="1" dirty="0">
                <a:solidFill>
                  <a:srgbClr val="6FA82F"/>
                </a:solidFill>
                <a:latin typeface="Montserrat" pitchFamily="34" charset="0"/>
                <a:ea typeface="Montserrat" pitchFamily="34" charset="-122"/>
                <a:cs typeface="Montserrat" pitchFamily="34" charset="-120"/>
              </a:rPr>
              <a:t>US$ 1.55 bn  ·  104% covered</a:t>
            </a:r>
            <a:endParaRPr lang="en-US" sz="760" dirty="0"/>
          </a:p>
        </p:txBody>
      </p:sp>
      <p:sp>
        <p:nvSpPr>
          <p:cNvPr id="28" name="Shape 25"/>
          <p:cNvSpPr/>
          <p:nvPr/>
        </p:nvSpPr>
        <p:spPr>
          <a:xfrm>
            <a:off x="4217670" y="1810512"/>
            <a:ext cx="7315" cy="2487168"/>
          </a:xfrm>
          <a:prstGeom prst="rect">
            <a:avLst/>
          </a:prstGeom>
          <a:solidFill>
            <a:srgbClr val="E6E8EE"/>
          </a:solidFill>
          <a:ln/>
        </p:spPr>
      </p:sp>
      <p:sp>
        <p:nvSpPr>
          <p:cNvPr id="29" name="Shape 26"/>
          <p:cNvSpPr/>
          <p:nvPr/>
        </p:nvSpPr>
        <p:spPr>
          <a:xfrm>
            <a:off x="4329684" y="1847088"/>
            <a:ext cx="960120" cy="50292"/>
          </a:xfrm>
          <a:prstGeom prst="rect">
            <a:avLst/>
          </a:prstGeom>
          <a:solidFill>
            <a:srgbClr val="C79000"/>
          </a:solidFill>
          <a:ln/>
        </p:spPr>
      </p:sp>
      <p:sp>
        <p:nvSpPr>
          <p:cNvPr id="30" name="Text 27"/>
          <p:cNvSpPr/>
          <p:nvPr/>
        </p:nvSpPr>
        <p:spPr>
          <a:xfrm>
            <a:off x="4329684" y="1956816"/>
            <a:ext cx="3529584" cy="237744"/>
          </a:xfrm>
          <a:prstGeom prst="rect">
            <a:avLst/>
          </a:prstGeom>
          <a:noFill/>
          <a:ln/>
        </p:spPr>
        <p:txBody>
          <a:bodyPr wrap="square" lIns="0" tIns="0" rIns="0" bIns="0" rtlCol="0" anchor="ctr"/>
          <a:lstStyle/>
          <a:p>
            <a:pPr indent="0" marL="0">
              <a:buNone/>
            </a:pPr>
            <a:r>
              <a:rPr lang="en-US" sz="1400" b="1" dirty="0">
                <a:solidFill>
                  <a:srgbClr val="C79000"/>
                </a:solidFill>
                <a:latin typeface="Montserrat" pitchFamily="34" charset="0"/>
                <a:ea typeface="Montserrat" pitchFamily="34" charset="-122"/>
                <a:cs typeface="Montserrat" pitchFamily="34" charset="-120"/>
              </a:rPr>
              <a:t>Energetics</a:t>
            </a:r>
            <a:endParaRPr lang="en-US" sz="1400" dirty="0"/>
          </a:p>
        </p:txBody>
      </p:sp>
      <p:sp>
        <p:nvSpPr>
          <p:cNvPr id="31" name="Text 28"/>
          <p:cNvSpPr/>
          <p:nvPr/>
        </p:nvSpPr>
        <p:spPr>
          <a:xfrm>
            <a:off x="4329684" y="2194560"/>
            <a:ext cx="3529584" cy="164592"/>
          </a:xfrm>
          <a:prstGeom prst="rect">
            <a:avLst/>
          </a:prstGeom>
          <a:noFill/>
          <a:ln/>
        </p:spPr>
        <p:txBody>
          <a:bodyPr wrap="square" lIns="0" tIns="0" rIns="0" bIns="0" rtlCol="0" anchor="ctr"/>
          <a:lstStyle/>
          <a:p>
            <a:pPr indent="0" marL="0">
              <a:buNone/>
            </a:pPr>
            <a:r>
              <a:rPr lang="en-US" sz="740" dirty="0">
                <a:solidFill>
                  <a:srgbClr val="8C93A8"/>
                </a:solidFill>
                <a:latin typeface="Montserrat" pitchFamily="34" charset="0"/>
                <a:ea typeface="Montserrat" pitchFamily="34" charset="-122"/>
                <a:cs typeface="Montserrat" pitchFamily="34" charset="-120"/>
              </a:rPr>
              <a:t>Mac Jee Tecnologia</a:t>
            </a:r>
            <a:endParaRPr lang="en-US" sz="740" dirty="0"/>
          </a:p>
        </p:txBody>
      </p:sp>
      <p:sp>
        <p:nvSpPr>
          <p:cNvPr id="32" name="Text 29"/>
          <p:cNvSpPr/>
          <p:nvPr/>
        </p:nvSpPr>
        <p:spPr>
          <a:xfrm>
            <a:off x="4329684" y="2377440"/>
            <a:ext cx="3419856" cy="384048"/>
          </a:xfrm>
          <a:prstGeom prst="rect">
            <a:avLst/>
          </a:prstGeom>
          <a:noFill/>
          <a:ln/>
        </p:spPr>
        <p:txBody>
          <a:bodyPr wrap="square" lIns="0" tIns="0" rIns="0" bIns="0" rtlCol="0" anchor="t"/>
          <a:lstStyle/>
          <a:p>
            <a:pPr indent="0" marL="0">
              <a:lnSpc>
                <a:spcPct val="116000"/>
              </a:lnSpc>
              <a:buNone/>
            </a:pPr>
            <a:r>
              <a:rPr lang="en-US" sz="840" dirty="0">
                <a:solidFill>
                  <a:srgbClr val="3C4657"/>
                </a:solidFill>
                <a:latin typeface="Montserrat" pitchFamily="34" charset="0"/>
                <a:ea typeface="Montserrat" pitchFamily="34" charset="-122"/>
                <a:cs typeface="Montserrat" pitchFamily="34" charset="-120"/>
              </a:rPr>
              <a:t>Turnkey TNT, RDX and HMX production lines delivered to sovereign customers worldwide</a:t>
            </a:r>
            <a:endParaRPr lang="en-US" sz="840" dirty="0"/>
          </a:p>
        </p:txBody>
      </p:sp>
      <p:sp>
        <p:nvSpPr>
          <p:cNvPr id="33" name="Text 30"/>
          <p:cNvSpPr/>
          <p:nvPr/>
        </p:nvSpPr>
        <p:spPr>
          <a:xfrm>
            <a:off x="4329684" y="2798064"/>
            <a:ext cx="3529584" cy="512064"/>
          </a:xfrm>
          <a:prstGeom prst="rect">
            <a:avLst/>
          </a:prstGeom>
          <a:noFill/>
          <a:ln/>
        </p:spPr>
        <p:txBody>
          <a:bodyPr wrap="square" lIns="0" tIns="0" rIns="0" bIns="0" rtlCol="0" anchor="ctr"/>
          <a:lstStyle/>
          <a:p>
            <a:pPr indent="0" marL="0">
              <a:buNone/>
            </a:pPr>
            <a:r>
              <a:rPr lang="en-US" sz="1300" dirty="0">
                <a:solidFill>
                  <a:srgbClr val="3C4657"/>
                </a:solidFill>
                <a:latin typeface="Montserrat" pitchFamily="34" charset="0"/>
                <a:ea typeface="Montserrat" pitchFamily="34" charset="-122"/>
                <a:cs typeface="Montserrat" pitchFamily="34" charset="-120"/>
              </a:rPr>
              <a:t>US$ </a:t>
            </a:r>
            <a:pPr indent="0" marL="0">
              <a:buNone/>
            </a:pPr>
            <a:r>
              <a:rPr lang="en-US" sz="4000" b="1" dirty="0">
                <a:solidFill>
                  <a:srgbClr val="000312"/>
                </a:solidFill>
                <a:latin typeface="Montserrat" pitchFamily="34" charset="0"/>
                <a:ea typeface="Montserrat" pitchFamily="34" charset="-122"/>
                <a:cs typeface="Montserrat" pitchFamily="34" charset="-120"/>
              </a:rPr>
              <a:t>1.1</a:t>
            </a:r>
            <a:pPr indent="0" marL="0">
              <a:buNone/>
            </a:pPr>
            <a:r>
              <a:rPr lang="en-US" sz="1700" dirty="0">
                <a:solidFill>
                  <a:srgbClr val="000312"/>
                </a:solidFill>
                <a:latin typeface="Montserrat" pitchFamily="34" charset="0"/>
                <a:ea typeface="Montserrat" pitchFamily="34" charset="-122"/>
                <a:cs typeface="Montserrat" pitchFamily="34" charset="-120"/>
              </a:rPr>
              <a:t> bn</a:t>
            </a:r>
            <a:endParaRPr lang="en-US" sz="1300" dirty="0"/>
          </a:p>
        </p:txBody>
      </p:sp>
      <p:sp>
        <p:nvSpPr>
          <p:cNvPr id="34" name="Text 31"/>
          <p:cNvSpPr/>
          <p:nvPr/>
        </p:nvSpPr>
        <p:spPr>
          <a:xfrm>
            <a:off x="4329684" y="3291840"/>
            <a:ext cx="3529584" cy="164592"/>
          </a:xfrm>
          <a:prstGeom prst="rect">
            <a:avLst/>
          </a:prstGeom>
          <a:noFill/>
          <a:ln/>
        </p:spPr>
        <p:txBody>
          <a:bodyPr wrap="square" lIns="0" tIns="0" rIns="0" bIns="0" rtlCol="0" anchor="ctr"/>
          <a:lstStyle/>
          <a:p>
            <a:pPr indent="0" marL="0">
              <a:buNone/>
            </a:pPr>
            <a:r>
              <a:rPr lang="en-US" sz="800" dirty="0">
                <a:solidFill>
                  <a:srgbClr val="8C93A8"/>
                </a:solidFill>
                <a:latin typeface="Montserrat" pitchFamily="34" charset="0"/>
                <a:ea typeface="Montserrat" pitchFamily="34" charset="-122"/>
                <a:cs typeface="Montserrat" pitchFamily="34" charset="-120"/>
              </a:rPr>
              <a:t>identified opportunity  ·  25% of the group</a:t>
            </a:r>
            <a:endParaRPr lang="en-US" sz="800" dirty="0"/>
          </a:p>
        </p:txBody>
      </p:sp>
      <p:sp>
        <p:nvSpPr>
          <p:cNvPr id="35" name="Shape 32"/>
          <p:cNvSpPr/>
          <p:nvPr/>
        </p:nvSpPr>
        <p:spPr>
          <a:xfrm>
            <a:off x="4329684" y="3511296"/>
            <a:ext cx="3017520" cy="105156"/>
          </a:xfrm>
          <a:prstGeom prst="rect">
            <a:avLst/>
          </a:prstGeom>
          <a:solidFill>
            <a:srgbClr val="EDEFF4"/>
          </a:solidFill>
          <a:ln/>
        </p:spPr>
      </p:sp>
      <p:sp>
        <p:nvSpPr>
          <p:cNvPr id="36" name="Shape 33"/>
          <p:cNvSpPr/>
          <p:nvPr/>
        </p:nvSpPr>
        <p:spPr>
          <a:xfrm>
            <a:off x="4329684" y="3511296"/>
            <a:ext cx="1854339" cy="105156"/>
          </a:xfrm>
          <a:prstGeom prst="rect">
            <a:avLst/>
          </a:prstGeom>
          <a:solidFill>
            <a:srgbClr val="FFC000"/>
          </a:solidFill>
          <a:ln/>
        </p:spPr>
      </p:sp>
      <p:sp>
        <p:nvSpPr>
          <p:cNvPr id="37" name="Text 34"/>
          <p:cNvSpPr/>
          <p:nvPr/>
        </p:nvSpPr>
        <p:spPr>
          <a:xfrm>
            <a:off x="4329684" y="3730752"/>
            <a:ext cx="1188720" cy="146304"/>
          </a:xfrm>
          <a:prstGeom prst="rect">
            <a:avLst/>
          </a:prstGeom>
          <a:noFill/>
          <a:ln/>
        </p:spPr>
        <p:txBody>
          <a:bodyPr wrap="square" lIns="0" tIns="0" rIns="0" bIns="0" rtlCol="0" anchor="ctr"/>
          <a:lstStyle/>
          <a:p>
            <a:pPr indent="0" marL="0">
              <a:buNone/>
            </a:pPr>
            <a:r>
              <a:rPr lang="en-US" sz="620" spc="50" kern="0" dirty="0">
                <a:solidFill>
                  <a:srgbClr val="8C93A8"/>
                </a:solidFill>
                <a:latin typeface="Montserrat Light" pitchFamily="34" charset="0"/>
                <a:ea typeface="Montserrat Light" pitchFamily="34" charset="-122"/>
                <a:cs typeface="Montserrat Light" pitchFamily="34" charset="-120"/>
              </a:rPr>
              <a:t>PROGRAMMES</a:t>
            </a:r>
            <a:endParaRPr lang="en-US" sz="620" dirty="0"/>
          </a:p>
        </p:txBody>
      </p:sp>
      <p:sp>
        <p:nvSpPr>
          <p:cNvPr id="38" name="Text 35"/>
          <p:cNvSpPr/>
          <p:nvPr/>
        </p:nvSpPr>
        <p:spPr>
          <a:xfrm>
            <a:off x="5554980" y="3712464"/>
            <a:ext cx="2249424" cy="182880"/>
          </a:xfrm>
          <a:prstGeom prst="rect">
            <a:avLst/>
          </a:prstGeom>
          <a:noFill/>
          <a:ln/>
        </p:spPr>
        <p:txBody>
          <a:bodyPr wrap="square" lIns="0" tIns="0" rIns="0" bIns="0" rtlCol="0" anchor="ctr"/>
          <a:lstStyle/>
          <a:p>
            <a:pPr indent="0" marL="0">
              <a:buNone/>
            </a:pPr>
            <a:r>
              <a:rPr lang="en-US" sz="760" dirty="0">
                <a:solidFill>
                  <a:srgbClr val="000312"/>
                </a:solidFill>
                <a:latin typeface="Montserrat" pitchFamily="34" charset="0"/>
                <a:ea typeface="Montserrat" pitchFamily="34" charset="-122"/>
                <a:cs typeface="Montserrat" pitchFamily="34" charset="-120"/>
              </a:rPr>
              <a:t>12 across 11 countries</a:t>
            </a:r>
            <a:endParaRPr lang="en-US" sz="760" dirty="0"/>
          </a:p>
        </p:txBody>
      </p:sp>
      <p:sp>
        <p:nvSpPr>
          <p:cNvPr id="39" name="Text 36"/>
          <p:cNvSpPr/>
          <p:nvPr/>
        </p:nvSpPr>
        <p:spPr>
          <a:xfrm>
            <a:off x="4329684" y="3991356"/>
            <a:ext cx="1188720" cy="146304"/>
          </a:xfrm>
          <a:prstGeom prst="rect">
            <a:avLst/>
          </a:prstGeom>
          <a:noFill/>
          <a:ln/>
        </p:spPr>
        <p:txBody>
          <a:bodyPr wrap="square" lIns="0" tIns="0" rIns="0" bIns="0" rtlCol="0" anchor="ctr"/>
          <a:lstStyle/>
          <a:p>
            <a:pPr indent="0" marL="0">
              <a:buNone/>
            </a:pPr>
            <a:r>
              <a:rPr lang="en-US" sz="620" spc="50" kern="0" dirty="0">
                <a:solidFill>
                  <a:srgbClr val="8C93A8"/>
                </a:solidFill>
                <a:latin typeface="Montserrat Light" pitchFamily="34" charset="0"/>
                <a:ea typeface="Montserrat Light" pitchFamily="34" charset="-122"/>
                <a:cs typeface="Montserrat Light" pitchFamily="34" charset="-120"/>
              </a:rPr>
              <a:t>LARGEST</a:t>
            </a:r>
            <a:endParaRPr lang="en-US" sz="620" dirty="0"/>
          </a:p>
        </p:txBody>
      </p:sp>
      <p:sp>
        <p:nvSpPr>
          <p:cNvPr id="40" name="Text 37"/>
          <p:cNvSpPr/>
          <p:nvPr/>
        </p:nvSpPr>
        <p:spPr>
          <a:xfrm>
            <a:off x="5554980" y="3973068"/>
            <a:ext cx="2249424" cy="182880"/>
          </a:xfrm>
          <a:prstGeom prst="rect">
            <a:avLst/>
          </a:prstGeom>
          <a:noFill/>
          <a:ln/>
        </p:spPr>
        <p:txBody>
          <a:bodyPr wrap="square" lIns="0" tIns="0" rIns="0" bIns="0" rtlCol="0" anchor="ctr"/>
          <a:lstStyle/>
          <a:p>
            <a:pPr indent="0" marL="0">
              <a:buNone/>
            </a:pPr>
            <a:r>
              <a:rPr lang="en-US" sz="760" dirty="0">
                <a:solidFill>
                  <a:srgbClr val="000312"/>
                </a:solidFill>
                <a:latin typeface="Montserrat" pitchFamily="34" charset="0"/>
                <a:ea typeface="Montserrat" pitchFamily="34" charset="-122"/>
                <a:cs typeface="Montserrat" pitchFamily="34" charset="-120"/>
              </a:rPr>
              <a:t>US$ 200 mm · TNT line, 20 kt/yr — Canada</a:t>
            </a:r>
            <a:endParaRPr lang="en-US" sz="760" dirty="0"/>
          </a:p>
        </p:txBody>
      </p:sp>
      <p:sp>
        <p:nvSpPr>
          <p:cNvPr id="41" name="Text 38"/>
          <p:cNvSpPr/>
          <p:nvPr/>
        </p:nvSpPr>
        <p:spPr>
          <a:xfrm>
            <a:off x="4329684" y="4251960"/>
            <a:ext cx="1188720" cy="146304"/>
          </a:xfrm>
          <a:prstGeom prst="rect">
            <a:avLst/>
          </a:prstGeom>
          <a:noFill/>
          <a:ln/>
        </p:spPr>
        <p:txBody>
          <a:bodyPr wrap="square" lIns="0" tIns="0" rIns="0" bIns="0" rtlCol="0" anchor="ctr"/>
          <a:lstStyle/>
          <a:p>
            <a:pPr indent="0" marL="0">
              <a:buNone/>
            </a:pPr>
            <a:r>
              <a:rPr lang="en-US" sz="620" spc="50" kern="0" dirty="0">
                <a:solidFill>
                  <a:srgbClr val="8C93A8"/>
                </a:solidFill>
                <a:latin typeface="Montserrat Light" pitchFamily="34" charset="0"/>
                <a:ea typeface="Montserrat Light" pitchFamily="34" charset="-122"/>
                <a:cs typeface="Montserrat Light" pitchFamily="34" charset="-120"/>
              </a:rPr>
              <a:t>IN THE 2026–32 PLAN</a:t>
            </a:r>
            <a:endParaRPr lang="en-US" sz="620" dirty="0"/>
          </a:p>
        </p:txBody>
      </p:sp>
      <p:sp>
        <p:nvSpPr>
          <p:cNvPr id="42" name="Text 39"/>
          <p:cNvSpPr/>
          <p:nvPr/>
        </p:nvSpPr>
        <p:spPr>
          <a:xfrm>
            <a:off x="5554980" y="4233672"/>
            <a:ext cx="2249424" cy="182880"/>
          </a:xfrm>
          <a:prstGeom prst="rect">
            <a:avLst/>
          </a:prstGeom>
          <a:noFill/>
          <a:ln/>
        </p:spPr>
        <p:txBody>
          <a:bodyPr wrap="square" lIns="0" tIns="0" rIns="0" bIns="0" rtlCol="0" anchor="ctr"/>
          <a:lstStyle/>
          <a:p>
            <a:pPr indent="0" marL="0">
              <a:buNone/>
            </a:pPr>
            <a:r>
              <a:rPr lang="en-US" sz="760" b="1" dirty="0">
                <a:solidFill>
                  <a:srgbClr val="C79000"/>
                </a:solidFill>
                <a:latin typeface="Montserrat" pitchFamily="34" charset="0"/>
                <a:ea typeface="Montserrat" pitchFamily="34" charset="-122"/>
                <a:cs typeface="Montserrat" pitchFamily="34" charset="-120"/>
              </a:rPr>
              <a:t>US$ 0.61 bn  ·  188% covered</a:t>
            </a:r>
            <a:endParaRPr lang="en-US" sz="760" dirty="0"/>
          </a:p>
        </p:txBody>
      </p:sp>
      <p:sp>
        <p:nvSpPr>
          <p:cNvPr id="43" name="Shape 40"/>
          <p:cNvSpPr/>
          <p:nvPr/>
        </p:nvSpPr>
        <p:spPr>
          <a:xfrm>
            <a:off x="7971282" y="1810512"/>
            <a:ext cx="7315" cy="2487168"/>
          </a:xfrm>
          <a:prstGeom prst="rect">
            <a:avLst/>
          </a:prstGeom>
          <a:solidFill>
            <a:srgbClr val="E6E8EE"/>
          </a:solidFill>
          <a:ln/>
        </p:spPr>
      </p:sp>
      <p:sp>
        <p:nvSpPr>
          <p:cNvPr id="44" name="Shape 41"/>
          <p:cNvSpPr/>
          <p:nvPr/>
        </p:nvSpPr>
        <p:spPr>
          <a:xfrm>
            <a:off x="8083296" y="1847088"/>
            <a:ext cx="960120" cy="50292"/>
          </a:xfrm>
          <a:prstGeom prst="rect">
            <a:avLst/>
          </a:prstGeom>
          <a:solidFill>
            <a:srgbClr val="4A5261"/>
          </a:solidFill>
          <a:ln/>
        </p:spPr>
      </p:sp>
      <p:sp>
        <p:nvSpPr>
          <p:cNvPr id="45" name="Text 42"/>
          <p:cNvSpPr/>
          <p:nvPr/>
        </p:nvSpPr>
        <p:spPr>
          <a:xfrm>
            <a:off x="8083296" y="1956816"/>
            <a:ext cx="3529584" cy="237744"/>
          </a:xfrm>
          <a:prstGeom prst="rect">
            <a:avLst/>
          </a:prstGeom>
          <a:noFill/>
          <a:ln/>
        </p:spPr>
        <p:txBody>
          <a:bodyPr wrap="square" lIns="0" tIns="0" rIns="0" bIns="0" rtlCol="0" anchor="ctr"/>
          <a:lstStyle/>
          <a:p>
            <a:pPr indent="0" marL="0">
              <a:buNone/>
            </a:pPr>
            <a:r>
              <a:rPr lang="en-US" sz="1400" b="1" dirty="0">
                <a:solidFill>
                  <a:srgbClr val="4A5261"/>
                </a:solidFill>
                <a:latin typeface="Montserrat" pitchFamily="34" charset="0"/>
                <a:ea typeface="Montserrat" pitchFamily="34" charset="-122"/>
                <a:cs typeface="Montserrat" pitchFamily="34" charset="-120"/>
              </a:rPr>
              <a:t>Missile</a:t>
            </a:r>
            <a:endParaRPr lang="en-US" sz="1400" dirty="0"/>
          </a:p>
        </p:txBody>
      </p:sp>
      <p:sp>
        <p:nvSpPr>
          <p:cNvPr id="46" name="Text 43"/>
          <p:cNvSpPr/>
          <p:nvPr/>
        </p:nvSpPr>
        <p:spPr>
          <a:xfrm>
            <a:off x="8083296" y="2194560"/>
            <a:ext cx="3529584" cy="164592"/>
          </a:xfrm>
          <a:prstGeom prst="rect">
            <a:avLst/>
          </a:prstGeom>
          <a:noFill/>
          <a:ln/>
        </p:spPr>
        <p:txBody>
          <a:bodyPr wrap="square" lIns="0" tIns="0" rIns="0" bIns="0" rtlCol="0" anchor="ctr"/>
          <a:lstStyle/>
          <a:p>
            <a:pPr indent="0" marL="0">
              <a:buNone/>
            </a:pPr>
            <a:r>
              <a:rPr lang="en-US" sz="740" dirty="0">
                <a:solidFill>
                  <a:srgbClr val="8C93A8"/>
                </a:solidFill>
                <a:latin typeface="Montserrat" pitchFamily="34" charset="0"/>
                <a:ea typeface="Montserrat" pitchFamily="34" charset="-122"/>
                <a:cs typeface="Montserrat" pitchFamily="34" charset="-120"/>
              </a:rPr>
              <a:t>TMC — The Missile Company</a:t>
            </a:r>
            <a:endParaRPr lang="en-US" sz="740" dirty="0"/>
          </a:p>
        </p:txBody>
      </p:sp>
      <p:sp>
        <p:nvSpPr>
          <p:cNvPr id="47" name="Text 44"/>
          <p:cNvSpPr/>
          <p:nvPr/>
        </p:nvSpPr>
        <p:spPr>
          <a:xfrm>
            <a:off x="8083296" y="2377440"/>
            <a:ext cx="3419856" cy="384048"/>
          </a:xfrm>
          <a:prstGeom prst="rect">
            <a:avLst/>
          </a:prstGeom>
          <a:noFill/>
          <a:ln/>
        </p:spPr>
        <p:txBody>
          <a:bodyPr wrap="square" lIns="0" tIns="0" rIns="0" bIns="0" rtlCol="0" anchor="t"/>
          <a:lstStyle/>
          <a:p>
            <a:pPr indent="0" marL="0">
              <a:lnSpc>
                <a:spcPct val="116000"/>
              </a:lnSpc>
              <a:buNone/>
            </a:pPr>
            <a:r>
              <a:rPr lang="en-US" sz="840" dirty="0">
                <a:solidFill>
                  <a:srgbClr val="3C4657"/>
                </a:solidFill>
                <a:latin typeface="Montserrat" pitchFamily="34" charset="0"/>
                <a:ea typeface="Montserrat" pitchFamily="34" charset="-122"/>
                <a:cs typeface="Montserrat" pitchFamily="34" charset="-120"/>
              </a:rPr>
              <a:t>Cruise missiles, air defence, anti-radiation and rocket motors for European and Gulf primes</a:t>
            </a:r>
            <a:endParaRPr lang="en-US" sz="840" dirty="0"/>
          </a:p>
        </p:txBody>
      </p:sp>
      <p:sp>
        <p:nvSpPr>
          <p:cNvPr id="48" name="Text 45"/>
          <p:cNvSpPr/>
          <p:nvPr/>
        </p:nvSpPr>
        <p:spPr>
          <a:xfrm>
            <a:off x="8083296" y="2798064"/>
            <a:ext cx="3529584" cy="512064"/>
          </a:xfrm>
          <a:prstGeom prst="rect">
            <a:avLst/>
          </a:prstGeom>
          <a:noFill/>
          <a:ln/>
        </p:spPr>
        <p:txBody>
          <a:bodyPr wrap="square" lIns="0" tIns="0" rIns="0" bIns="0" rtlCol="0" anchor="ctr"/>
          <a:lstStyle/>
          <a:p>
            <a:pPr indent="0" marL="0">
              <a:buNone/>
            </a:pPr>
            <a:r>
              <a:rPr lang="en-US" sz="1300" dirty="0">
                <a:solidFill>
                  <a:srgbClr val="3C4657"/>
                </a:solidFill>
                <a:latin typeface="Montserrat" pitchFamily="34" charset="0"/>
                <a:ea typeface="Montserrat" pitchFamily="34" charset="-122"/>
                <a:cs typeface="Montserrat" pitchFamily="34" charset="-120"/>
              </a:rPr>
              <a:t>US$ </a:t>
            </a:r>
            <a:pPr indent="0" marL="0">
              <a:buNone/>
            </a:pPr>
            <a:r>
              <a:rPr lang="en-US" sz="4000" b="1" dirty="0">
                <a:solidFill>
                  <a:srgbClr val="000312"/>
                </a:solidFill>
                <a:latin typeface="Montserrat" pitchFamily="34" charset="0"/>
                <a:ea typeface="Montserrat" pitchFamily="34" charset="-122"/>
                <a:cs typeface="Montserrat" pitchFamily="34" charset="-120"/>
              </a:rPr>
              <a:t>1.9</a:t>
            </a:r>
            <a:pPr indent="0" marL="0">
              <a:buNone/>
            </a:pPr>
            <a:r>
              <a:rPr lang="en-US" sz="1700" dirty="0">
                <a:solidFill>
                  <a:srgbClr val="000312"/>
                </a:solidFill>
                <a:latin typeface="Montserrat" pitchFamily="34" charset="0"/>
                <a:ea typeface="Montserrat" pitchFamily="34" charset="-122"/>
                <a:cs typeface="Montserrat" pitchFamily="34" charset="-120"/>
              </a:rPr>
              <a:t> bn</a:t>
            </a:r>
            <a:endParaRPr lang="en-US" sz="1300" dirty="0"/>
          </a:p>
        </p:txBody>
      </p:sp>
      <p:sp>
        <p:nvSpPr>
          <p:cNvPr id="49" name="Text 46"/>
          <p:cNvSpPr/>
          <p:nvPr/>
        </p:nvSpPr>
        <p:spPr>
          <a:xfrm>
            <a:off x="8083296" y="3291840"/>
            <a:ext cx="3529584" cy="164592"/>
          </a:xfrm>
          <a:prstGeom prst="rect">
            <a:avLst/>
          </a:prstGeom>
          <a:noFill/>
          <a:ln/>
        </p:spPr>
        <p:txBody>
          <a:bodyPr wrap="square" lIns="0" tIns="0" rIns="0" bIns="0" rtlCol="0" anchor="ctr"/>
          <a:lstStyle/>
          <a:p>
            <a:pPr indent="0" marL="0">
              <a:buNone/>
            </a:pPr>
            <a:r>
              <a:rPr lang="en-US" sz="800" dirty="0">
                <a:solidFill>
                  <a:srgbClr val="8C93A8"/>
                </a:solidFill>
                <a:latin typeface="Montserrat" pitchFamily="34" charset="0"/>
                <a:ea typeface="Montserrat" pitchFamily="34" charset="-122"/>
                <a:cs typeface="Montserrat" pitchFamily="34" charset="-120"/>
              </a:rPr>
              <a:t>identified opportunity  ·  40% of the group</a:t>
            </a:r>
            <a:endParaRPr lang="en-US" sz="800" dirty="0"/>
          </a:p>
        </p:txBody>
      </p:sp>
      <p:sp>
        <p:nvSpPr>
          <p:cNvPr id="50" name="Shape 47"/>
          <p:cNvSpPr/>
          <p:nvPr/>
        </p:nvSpPr>
        <p:spPr>
          <a:xfrm>
            <a:off x="8083296" y="3511296"/>
            <a:ext cx="3017520" cy="105156"/>
          </a:xfrm>
          <a:prstGeom prst="rect">
            <a:avLst/>
          </a:prstGeom>
          <a:solidFill>
            <a:srgbClr val="EDEFF4"/>
          </a:solidFill>
          <a:ln/>
        </p:spPr>
      </p:sp>
      <p:sp>
        <p:nvSpPr>
          <p:cNvPr id="51" name="Shape 48"/>
          <p:cNvSpPr/>
          <p:nvPr/>
        </p:nvSpPr>
        <p:spPr>
          <a:xfrm>
            <a:off x="8083296" y="3511296"/>
            <a:ext cx="3017520" cy="105156"/>
          </a:xfrm>
          <a:prstGeom prst="rect">
            <a:avLst/>
          </a:prstGeom>
          <a:solidFill>
            <a:srgbClr val="9AA3B2"/>
          </a:solidFill>
          <a:ln/>
        </p:spPr>
      </p:sp>
      <p:sp>
        <p:nvSpPr>
          <p:cNvPr id="52" name="Text 49"/>
          <p:cNvSpPr/>
          <p:nvPr/>
        </p:nvSpPr>
        <p:spPr>
          <a:xfrm>
            <a:off x="8083296" y="3730752"/>
            <a:ext cx="1188720" cy="146304"/>
          </a:xfrm>
          <a:prstGeom prst="rect">
            <a:avLst/>
          </a:prstGeom>
          <a:noFill/>
          <a:ln/>
        </p:spPr>
        <p:txBody>
          <a:bodyPr wrap="square" lIns="0" tIns="0" rIns="0" bIns="0" rtlCol="0" anchor="ctr"/>
          <a:lstStyle/>
          <a:p>
            <a:pPr indent="0" marL="0">
              <a:buNone/>
            </a:pPr>
            <a:r>
              <a:rPr lang="en-US" sz="620" spc="50" kern="0" dirty="0">
                <a:solidFill>
                  <a:srgbClr val="8C93A8"/>
                </a:solidFill>
                <a:latin typeface="Montserrat Light" pitchFamily="34" charset="0"/>
                <a:ea typeface="Montserrat Light" pitchFamily="34" charset="-122"/>
                <a:cs typeface="Montserrat Light" pitchFamily="34" charset="-120"/>
              </a:rPr>
              <a:t>PROGRAMMES</a:t>
            </a:r>
            <a:endParaRPr lang="en-US" sz="620" dirty="0"/>
          </a:p>
        </p:txBody>
      </p:sp>
      <p:sp>
        <p:nvSpPr>
          <p:cNvPr id="53" name="Text 50"/>
          <p:cNvSpPr/>
          <p:nvPr/>
        </p:nvSpPr>
        <p:spPr>
          <a:xfrm>
            <a:off x="9308592" y="3712464"/>
            <a:ext cx="2249424" cy="182880"/>
          </a:xfrm>
          <a:prstGeom prst="rect">
            <a:avLst/>
          </a:prstGeom>
          <a:noFill/>
          <a:ln/>
        </p:spPr>
        <p:txBody>
          <a:bodyPr wrap="square" lIns="0" tIns="0" rIns="0" bIns="0" rtlCol="0" anchor="ctr"/>
          <a:lstStyle/>
          <a:p>
            <a:pPr indent="0" marL="0">
              <a:buNone/>
            </a:pPr>
            <a:r>
              <a:rPr lang="en-US" sz="760" dirty="0">
                <a:solidFill>
                  <a:srgbClr val="000312"/>
                </a:solidFill>
                <a:latin typeface="Montserrat" pitchFamily="34" charset="0"/>
                <a:ea typeface="Montserrat" pitchFamily="34" charset="-122"/>
                <a:cs typeface="Montserrat" pitchFamily="34" charset="-120"/>
              </a:rPr>
              <a:t>9 across 5 countries</a:t>
            </a:r>
            <a:endParaRPr lang="en-US" sz="760" dirty="0"/>
          </a:p>
        </p:txBody>
      </p:sp>
      <p:sp>
        <p:nvSpPr>
          <p:cNvPr id="54" name="Text 51"/>
          <p:cNvSpPr/>
          <p:nvPr/>
        </p:nvSpPr>
        <p:spPr>
          <a:xfrm>
            <a:off x="8083296" y="3991356"/>
            <a:ext cx="1188720" cy="146304"/>
          </a:xfrm>
          <a:prstGeom prst="rect">
            <a:avLst/>
          </a:prstGeom>
          <a:noFill/>
          <a:ln/>
        </p:spPr>
        <p:txBody>
          <a:bodyPr wrap="square" lIns="0" tIns="0" rIns="0" bIns="0" rtlCol="0" anchor="ctr"/>
          <a:lstStyle/>
          <a:p>
            <a:pPr indent="0" marL="0">
              <a:buNone/>
            </a:pPr>
            <a:r>
              <a:rPr lang="en-US" sz="620" spc="50" kern="0" dirty="0">
                <a:solidFill>
                  <a:srgbClr val="8C93A8"/>
                </a:solidFill>
                <a:latin typeface="Montserrat Light" pitchFamily="34" charset="0"/>
                <a:ea typeface="Montserrat Light" pitchFamily="34" charset="-122"/>
                <a:cs typeface="Montserrat Light" pitchFamily="34" charset="-120"/>
              </a:rPr>
              <a:t>LARGEST</a:t>
            </a:r>
            <a:endParaRPr lang="en-US" sz="620" dirty="0"/>
          </a:p>
        </p:txBody>
      </p:sp>
      <p:sp>
        <p:nvSpPr>
          <p:cNvPr id="55" name="Text 52"/>
          <p:cNvSpPr/>
          <p:nvPr/>
        </p:nvSpPr>
        <p:spPr>
          <a:xfrm>
            <a:off x="9308592" y="3973068"/>
            <a:ext cx="2249424" cy="182880"/>
          </a:xfrm>
          <a:prstGeom prst="rect">
            <a:avLst/>
          </a:prstGeom>
          <a:noFill/>
          <a:ln/>
        </p:spPr>
        <p:txBody>
          <a:bodyPr wrap="square" lIns="0" tIns="0" rIns="0" bIns="0" rtlCol="0" anchor="ctr"/>
          <a:lstStyle/>
          <a:p>
            <a:pPr indent="0" marL="0">
              <a:buNone/>
            </a:pPr>
            <a:r>
              <a:rPr lang="en-US" sz="760" dirty="0">
                <a:solidFill>
                  <a:srgbClr val="000312"/>
                </a:solidFill>
                <a:latin typeface="Montserrat" pitchFamily="34" charset="0"/>
                <a:ea typeface="Montserrat" pitchFamily="34" charset="-122"/>
                <a:cs typeface="Montserrat" pitchFamily="34" charset="-120"/>
              </a:rPr>
              <a:t>US$ 1,000 mm · confidential — Saudi Arabia</a:t>
            </a:r>
            <a:endParaRPr lang="en-US" sz="760" dirty="0"/>
          </a:p>
        </p:txBody>
      </p:sp>
      <p:sp>
        <p:nvSpPr>
          <p:cNvPr id="56" name="Text 53"/>
          <p:cNvSpPr/>
          <p:nvPr/>
        </p:nvSpPr>
        <p:spPr>
          <a:xfrm>
            <a:off x="8083296" y="4251960"/>
            <a:ext cx="1188720" cy="146304"/>
          </a:xfrm>
          <a:prstGeom prst="rect">
            <a:avLst/>
          </a:prstGeom>
          <a:noFill/>
          <a:ln/>
        </p:spPr>
        <p:txBody>
          <a:bodyPr wrap="square" lIns="0" tIns="0" rIns="0" bIns="0" rtlCol="0" anchor="ctr"/>
          <a:lstStyle/>
          <a:p>
            <a:pPr indent="0" marL="0">
              <a:buNone/>
            </a:pPr>
            <a:r>
              <a:rPr lang="en-US" sz="620" spc="50" kern="0" dirty="0">
                <a:solidFill>
                  <a:srgbClr val="8C93A8"/>
                </a:solidFill>
                <a:latin typeface="Montserrat Light" pitchFamily="34" charset="0"/>
                <a:ea typeface="Montserrat Light" pitchFamily="34" charset="-122"/>
                <a:cs typeface="Montserrat Light" pitchFamily="34" charset="-120"/>
              </a:rPr>
              <a:t>IN THE 2026–32 PLAN</a:t>
            </a:r>
            <a:endParaRPr lang="en-US" sz="620" dirty="0"/>
          </a:p>
        </p:txBody>
      </p:sp>
      <p:sp>
        <p:nvSpPr>
          <p:cNvPr id="57" name="Text 54"/>
          <p:cNvSpPr/>
          <p:nvPr/>
        </p:nvSpPr>
        <p:spPr>
          <a:xfrm>
            <a:off x="9308592" y="4233672"/>
            <a:ext cx="2249424" cy="182880"/>
          </a:xfrm>
          <a:prstGeom prst="rect">
            <a:avLst/>
          </a:prstGeom>
          <a:noFill/>
          <a:ln/>
        </p:spPr>
        <p:txBody>
          <a:bodyPr wrap="square" lIns="0" tIns="0" rIns="0" bIns="0" rtlCol="0" anchor="ctr"/>
          <a:lstStyle/>
          <a:p>
            <a:pPr indent="0" marL="0">
              <a:buNone/>
            </a:pPr>
            <a:r>
              <a:rPr lang="en-US" sz="760" b="1" dirty="0">
                <a:solidFill>
                  <a:srgbClr val="4A5261"/>
                </a:solidFill>
                <a:latin typeface="Montserrat" pitchFamily="34" charset="0"/>
                <a:ea typeface="Montserrat" pitchFamily="34" charset="-122"/>
                <a:cs typeface="Montserrat" pitchFamily="34" charset="-120"/>
              </a:rPr>
              <a:t>US$ 1.93 bn  ·  96% covered</a:t>
            </a:r>
            <a:endParaRPr lang="en-US" sz="760" dirty="0"/>
          </a:p>
        </p:txBody>
      </p:sp>
      <p:sp>
        <p:nvSpPr>
          <p:cNvPr id="58" name="Text 55"/>
          <p:cNvSpPr/>
          <p:nvPr/>
        </p:nvSpPr>
        <p:spPr>
          <a:xfrm>
            <a:off x="576072" y="4663440"/>
            <a:ext cx="10972800" cy="201168"/>
          </a:xfrm>
          <a:prstGeom prst="rect">
            <a:avLst/>
          </a:prstGeom>
          <a:noFill/>
          <a:ln/>
        </p:spPr>
        <p:txBody>
          <a:bodyPr wrap="square" lIns="0" tIns="0" rIns="0" bIns="0" rtlCol="0" anchor="ctr"/>
          <a:lstStyle/>
          <a:p>
            <a:pPr indent="0" marL="0">
              <a:buNone/>
            </a:pPr>
            <a:r>
              <a:rPr lang="en-US" sz="660" dirty="0">
                <a:solidFill>
                  <a:srgbClr val="8C93A8"/>
                </a:solidFill>
                <a:latin typeface="Montserrat Light" pitchFamily="34" charset="0"/>
                <a:ea typeface="Montserrat Light" pitchFamily="34" charset="-122"/>
                <a:cs typeface="Montserrat Light" pitchFamily="34" charset="-120"/>
              </a:rPr>
              <a:t>Identified opportunity is the total contract value of every signed contract and open commercial opportunity in the Company’s commercial review, at face value and unweighted. Coverage compares it with cumulative gross revenue in the 2026–32 plan.</a:t>
            </a:r>
            <a:endParaRPr lang="en-US" sz="660" dirty="0"/>
          </a:p>
        </p:txBody>
      </p:sp>
      <p:sp>
        <p:nvSpPr>
          <p:cNvPr id="59" name="Shape 56"/>
          <p:cNvSpPr/>
          <p:nvPr/>
        </p:nvSpPr>
        <p:spPr>
          <a:xfrm>
            <a:off x="0" y="5159959"/>
            <a:ext cx="12191695" cy="1698041"/>
          </a:xfrm>
          <a:prstGeom prst="rect">
            <a:avLst/>
          </a:prstGeom>
          <a:solidFill>
            <a:srgbClr val="00092B"/>
          </a:solidFill>
          <a:ln/>
        </p:spPr>
      </p:sp>
      <p:sp>
        <p:nvSpPr>
          <p:cNvPr id="60" name="Shape 57"/>
          <p:cNvSpPr/>
          <p:nvPr/>
        </p:nvSpPr>
        <p:spPr>
          <a:xfrm>
            <a:off x="70409" y="5159959"/>
            <a:ext cx="27432" cy="1698041"/>
          </a:xfrm>
          <a:prstGeom prst="rect">
            <a:avLst/>
          </a:prstGeom>
          <a:solidFill>
            <a:srgbClr val="1C2441"/>
          </a:solidFill>
          <a:ln/>
        </p:spPr>
      </p:sp>
      <p:sp>
        <p:nvSpPr>
          <p:cNvPr id="61" name="Shape 58"/>
          <p:cNvSpPr/>
          <p:nvPr/>
        </p:nvSpPr>
        <p:spPr>
          <a:xfrm>
            <a:off x="1520647" y="5159959"/>
            <a:ext cx="27432" cy="1698041"/>
          </a:xfrm>
          <a:prstGeom prst="rect">
            <a:avLst/>
          </a:prstGeom>
          <a:solidFill>
            <a:srgbClr val="1C2441"/>
          </a:solidFill>
          <a:ln/>
        </p:spPr>
      </p:sp>
      <p:sp>
        <p:nvSpPr>
          <p:cNvPr id="62" name="Shape 59"/>
          <p:cNvSpPr/>
          <p:nvPr/>
        </p:nvSpPr>
        <p:spPr>
          <a:xfrm>
            <a:off x="2970886" y="5159959"/>
            <a:ext cx="27432" cy="1698041"/>
          </a:xfrm>
          <a:prstGeom prst="rect">
            <a:avLst/>
          </a:prstGeom>
          <a:solidFill>
            <a:srgbClr val="1C2441"/>
          </a:solidFill>
          <a:ln/>
        </p:spPr>
      </p:sp>
      <p:sp>
        <p:nvSpPr>
          <p:cNvPr id="63" name="Shape 60"/>
          <p:cNvSpPr/>
          <p:nvPr/>
        </p:nvSpPr>
        <p:spPr>
          <a:xfrm>
            <a:off x="4421124" y="5159959"/>
            <a:ext cx="27432" cy="1698041"/>
          </a:xfrm>
          <a:prstGeom prst="rect">
            <a:avLst/>
          </a:prstGeom>
          <a:solidFill>
            <a:srgbClr val="1C2441"/>
          </a:solidFill>
          <a:ln/>
        </p:spPr>
      </p:sp>
      <p:sp>
        <p:nvSpPr>
          <p:cNvPr id="64" name="Shape 61"/>
          <p:cNvSpPr/>
          <p:nvPr/>
        </p:nvSpPr>
        <p:spPr>
          <a:xfrm>
            <a:off x="5871362" y="5159959"/>
            <a:ext cx="27432" cy="1698041"/>
          </a:xfrm>
          <a:prstGeom prst="rect">
            <a:avLst/>
          </a:prstGeom>
          <a:solidFill>
            <a:srgbClr val="1C2441"/>
          </a:solidFill>
          <a:ln/>
        </p:spPr>
      </p:sp>
      <p:sp>
        <p:nvSpPr>
          <p:cNvPr id="65" name="Shape 62"/>
          <p:cNvSpPr/>
          <p:nvPr/>
        </p:nvSpPr>
        <p:spPr>
          <a:xfrm>
            <a:off x="7321601" y="5159959"/>
            <a:ext cx="27432" cy="1698041"/>
          </a:xfrm>
          <a:prstGeom prst="rect">
            <a:avLst/>
          </a:prstGeom>
          <a:solidFill>
            <a:srgbClr val="1C2441"/>
          </a:solidFill>
          <a:ln/>
        </p:spPr>
      </p:sp>
      <p:sp>
        <p:nvSpPr>
          <p:cNvPr id="66" name="Shape 63"/>
          <p:cNvSpPr/>
          <p:nvPr/>
        </p:nvSpPr>
        <p:spPr>
          <a:xfrm>
            <a:off x="8771839" y="5159959"/>
            <a:ext cx="27432" cy="1698041"/>
          </a:xfrm>
          <a:prstGeom prst="rect">
            <a:avLst/>
          </a:prstGeom>
          <a:solidFill>
            <a:srgbClr val="1C2441"/>
          </a:solidFill>
          <a:ln/>
        </p:spPr>
      </p:sp>
      <p:sp>
        <p:nvSpPr>
          <p:cNvPr id="67" name="Shape 64"/>
          <p:cNvSpPr/>
          <p:nvPr/>
        </p:nvSpPr>
        <p:spPr>
          <a:xfrm>
            <a:off x="10222078" y="5159959"/>
            <a:ext cx="27432" cy="1698041"/>
          </a:xfrm>
          <a:prstGeom prst="rect">
            <a:avLst/>
          </a:prstGeom>
          <a:solidFill>
            <a:srgbClr val="1C2441"/>
          </a:solidFill>
          <a:ln/>
        </p:spPr>
      </p:sp>
      <p:sp>
        <p:nvSpPr>
          <p:cNvPr id="68" name="Shape 65"/>
          <p:cNvSpPr/>
          <p:nvPr/>
        </p:nvSpPr>
        <p:spPr>
          <a:xfrm>
            <a:off x="11672316" y="5159959"/>
            <a:ext cx="27432" cy="1698041"/>
          </a:xfrm>
          <a:prstGeom prst="rect">
            <a:avLst/>
          </a:prstGeom>
          <a:solidFill>
            <a:srgbClr val="1C2441"/>
          </a:solidFill>
          <a:ln/>
        </p:spPr>
      </p:sp>
      <p:sp>
        <p:nvSpPr>
          <p:cNvPr id="69" name="Shape 66"/>
          <p:cNvSpPr/>
          <p:nvPr/>
        </p:nvSpPr>
        <p:spPr>
          <a:xfrm>
            <a:off x="548640" y="5358384"/>
            <a:ext cx="1591056" cy="950976"/>
          </a:xfrm>
          <a:custGeom>
            <a:avLst/>
            <a:gdLst/>
            <a:ahLst/>
            <a:cxnLst/>
            <a:rect l="l" t="t" r="r" b="b"/>
            <a:pathLst>
              <a:path w="1591056" h="950976">
                <a:moveTo>
                  <a:pt x="0" y="0"/>
                </a:moveTo>
                <a:lnTo>
                  <a:pt x="1435608" y="0"/>
                </a:lnTo>
                <a:lnTo>
                  <a:pt x="1591056" y="155448"/>
                </a:lnTo>
                <a:lnTo>
                  <a:pt x="1591056" y="950976"/>
                </a:lnTo>
                <a:lnTo>
                  <a:pt x="155448" y="950976"/>
                </a:lnTo>
                <a:lnTo>
                  <a:pt x="0" y="795528"/>
                </a:lnTo>
                <a:close/>
              </a:path>
            </a:pathLst>
          </a:custGeom>
          <a:solidFill>
            <a:srgbClr val="343D60"/>
          </a:solidFill>
          <a:ln w="19050">
            <a:solidFill>
              <a:srgbClr val="95A8FE"/>
            </a:solidFill>
            <a:prstDash val="solid"/>
          </a:ln>
        </p:spPr>
      </p:sp>
      <p:sp>
        <p:nvSpPr>
          <p:cNvPr id="70" name="Text 67"/>
          <p:cNvSpPr/>
          <p:nvPr/>
        </p:nvSpPr>
        <p:spPr>
          <a:xfrm>
            <a:off x="548640" y="5522976"/>
            <a:ext cx="1591056" cy="365760"/>
          </a:xfrm>
          <a:prstGeom prst="rect">
            <a:avLst/>
          </a:prstGeom>
          <a:noFill/>
          <a:ln/>
        </p:spPr>
        <p:txBody>
          <a:bodyPr wrap="square" lIns="0" tIns="0" rIns="0" bIns="0" rtlCol="0" anchor="ctr"/>
          <a:lstStyle/>
          <a:p>
            <a:pPr algn="ctr" indent="0" marL="0">
              <a:buNone/>
            </a:pPr>
            <a:r>
              <a:rPr lang="en-US" sz="900" dirty="0">
                <a:solidFill>
                  <a:srgbClr val="FFFFFF"/>
                </a:solidFill>
                <a:latin typeface="Montserrat" pitchFamily="34" charset="0"/>
                <a:ea typeface="Montserrat" pitchFamily="34" charset="-122"/>
                <a:cs typeface="Montserrat" pitchFamily="34" charset="-120"/>
              </a:rPr>
              <a:t>USD </a:t>
            </a:r>
            <a:pPr algn="ctr" indent="0" marL="0">
              <a:buNone/>
            </a:pPr>
            <a:r>
              <a:rPr lang="en-US" sz="2000" b="1" dirty="0">
                <a:solidFill>
                  <a:srgbClr val="FFFFFF"/>
                </a:solidFill>
                <a:latin typeface="Montserrat" pitchFamily="34" charset="0"/>
                <a:ea typeface="Montserrat" pitchFamily="34" charset="-122"/>
                <a:cs typeface="Montserrat" pitchFamily="34" charset="-120"/>
              </a:rPr>
              <a:t>4.6</a:t>
            </a:r>
            <a:pPr algn="ctr" indent="0" marL="0">
              <a:buNone/>
            </a:pPr>
            <a:r>
              <a:rPr lang="en-US" sz="1150" dirty="0">
                <a:solidFill>
                  <a:srgbClr val="FFFFFF"/>
                </a:solidFill>
                <a:latin typeface="Montserrat" pitchFamily="34" charset="0"/>
                <a:ea typeface="Montserrat" pitchFamily="34" charset="-122"/>
                <a:cs typeface="Montserrat" pitchFamily="34" charset="-120"/>
              </a:rPr>
              <a:t> bn</a:t>
            </a:r>
            <a:endParaRPr lang="en-US" sz="900" dirty="0"/>
          </a:p>
        </p:txBody>
      </p:sp>
      <p:sp>
        <p:nvSpPr>
          <p:cNvPr id="71" name="Text 68"/>
          <p:cNvSpPr/>
          <p:nvPr/>
        </p:nvSpPr>
        <p:spPr>
          <a:xfrm>
            <a:off x="594360" y="5907024"/>
            <a:ext cx="1499616" cy="274320"/>
          </a:xfrm>
          <a:prstGeom prst="rect">
            <a:avLst/>
          </a:prstGeom>
          <a:noFill/>
          <a:ln/>
        </p:spPr>
        <p:txBody>
          <a:bodyPr wrap="square" lIns="0" tIns="0" rIns="0" bIns="0" rtlCol="0" anchor="t"/>
          <a:lstStyle/>
          <a:p>
            <a:pPr algn="ctr" indent="0" marL="0">
              <a:lnSpc>
                <a:spcPct val="110000"/>
              </a:lnSpc>
              <a:buNone/>
            </a:pPr>
            <a:r>
              <a:rPr lang="en-US" sz="720" dirty="0">
                <a:solidFill>
                  <a:srgbClr val="FFFFFF"/>
                </a:solidFill>
                <a:latin typeface="Montserrat" pitchFamily="34" charset="0"/>
                <a:ea typeface="Montserrat" pitchFamily="34" charset="-122"/>
                <a:cs typeface="Montserrat" pitchFamily="34" charset="-120"/>
              </a:rPr>
              <a:t>Identified opportunity</a:t>
            </a:r>
            <a:endParaRPr lang="en-US" sz="720" dirty="0"/>
          </a:p>
        </p:txBody>
      </p:sp>
      <p:sp>
        <p:nvSpPr>
          <p:cNvPr id="72" name="Shape 69"/>
          <p:cNvSpPr/>
          <p:nvPr/>
        </p:nvSpPr>
        <p:spPr>
          <a:xfrm>
            <a:off x="2304288" y="5358384"/>
            <a:ext cx="1591056" cy="950976"/>
          </a:xfrm>
          <a:custGeom>
            <a:avLst/>
            <a:gdLst/>
            <a:ahLst/>
            <a:cxnLst/>
            <a:rect l="l" t="t" r="r" b="b"/>
            <a:pathLst>
              <a:path w="1591056" h="950976">
                <a:moveTo>
                  <a:pt x="0" y="0"/>
                </a:moveTo>
                <a:lnTo>
                  <a:pt x="1435608" y="0"/>
                </a:lnTo>
                <a:lnTo>
                  <a:pt x="1591056" y="155448"/>
                </a:lnTo>
                <a:lnTo>
                  <a:pt x="1591056" y="950976"/>
                </a:lnTo>
                <a:lnTo>
                  <a:pt x="155448" y="950976"/>
                </a:lnTo>
                <a:lnTo>
                  <a:pt x="0" y="795528"/>
                </a:lnTo>
                <a:close/>
              </a:path>
            </a:pathLst>
          </a:custGeom>
          <a:solidFill>
            <a:srgbClr val="343D60"/>
          </a:solidFill>
          <a:ln w="19050">
            <a:solidFill>
              <a:srgbClr val="95A8FE"/>
            </a:solidFill>
            <a:prstDash val="solid"/>
          </a:ln>
        </p:spPr>
      </p:sp>
      <p:sp>
        <p:nvSpPr>
          <p:cNvPr id="73" name="Text 70"/>
          <p:cNvSpPr/>
          <p:nvPr/>
        </p:nvSpPr>
        <p:spPr>
          <a:xfrm>
            <a:off x="2304288" y="5522976"/>
            <a:ext cx="1591056" cy="365760"/>
          </a:xfrm>
          <a:prstGeom prst="rect">
            <a:avLst/>
          </a:prstGeom>
          <a:noFill/>
          <a:ln/>
        </p:spPr>
        <p:txBody>
          <a:bodyPr wrap="square" lIns="0" tIns="0" rIns="0" bIns="0" rtlCol="0" anchor="ctr"/>
          <a:lstStyle/>
          <a:p>
            <a:pPr algn="ctr" indent="0" marL="0">
              <a:buNone/>
            </a:pPr>
            <a:r>
              <a:rPr lang="en-US" sz="900" dirty="0">
                <a:solidFill>
                  <a:srgbClr val="FFFFFF"/>
                </a:solidFill>
                <a:latin typeface="Montserrat" pitchFamily="34" charset="0"/>
                <a:ea typeface="Montserrat" pitchFamily="34" charset="-122"/>
                <a:cs typeface="Montserrat" pitchFamily="34" charset="-120"/>
              </a:rPr>
              <a:t>USD </a:t>
            </a:r>
            <a:pPr algn="ctr" indent="0" marL="0">
              <a:buNone/>
            </a:pPr>
            <a:r>
              <a:rPr lang="en-US" sz="2000" b="1" dirty="0">
                <a:solidFill>
                  <a:srgbClr val="FFFFFF"/>
                </a:solidFill>
                <a:latin typeface="Montserrat" pitchFamily="34" charset="0"/>
                <a:ea typeface="Montserrat" pitchFamily="34" charset="-122"/>
                <a:cs typeface="Montserrat" pitchFamily="34" charset="-120"/>
              </a:rPr>
              <a:t>4.1</a:t>
            </a:r>
            <a:pPr algn="ctr" indent="0" marL="0">
              <a:buNone/>
            </a:pPr>
            <a:r>
              <a:rPr lang="en-US" sz="1150" dirty="0">
                <a:solidFill>
                  <a:srgbClr val="FFFFFF"/>
                </a:solidFill>
                <a:latin typeface="Montserrat" pitchFamily="34" charset="0"/>
                <a:ea typeface="Montserrat" pitchFamily="34" charset="-122"/>
                <a:cs typeface="Montserrat" pitchFamily="34" charset="-120"/>
              </a:rPr>
              <a:t> bn</a:t>
            </a:r>
            <a:endParaRPr lang="en-US" sz="900" dirty="0"/>
          </a:p>
        </p:txBody>
      </p:sp>
      <p:sp>
        <p:nvSpPr>
          <p:cNvPr id="74" name="Text 71"/>
          <p:cNvSpPr/>
          <p:nvPr/>
        </p:nvSpPr>
        <p:spPr>
          <a:xfrm>
            <a:off x="2350008" y="5907024"/>
            <a:ext cx="1499616" cy="274320"/>
          </a:xfrm>
          <a:prstGeom prst="rect">
            <a:avLst/>
          </a:prstGeom>
          <a:noFill/>
          <a:ln/>
        </p:spPr>
        <p:txBody>
          <a:bodyPr wrap="square" lIns="0" tIns="0" rIns="0" bIns="0" rtlCol="0" anchor="t"/>
          <a:lstStyle/>
          <a:p>
            <a:pPr algn="ctr" indent="0" marL="0">
              <a:lnSpc>
                <a:spcPct val="110000"/>
              </a:lnSpc>
              <a:buNone/>
            </a:pPr>
            <a:r>
              <a:rPr lang="en-US" sz="720" dirty="0">
                <a:solidFill>
                  <a:srgbClr val="FFFFFF"/>
                </a:solidFill>
                <a:latin typeface="Montserrat" pitchFamily="34" charset="0"/>
                <a:ea typeface="Montserrat" pitchFamily="34" charset="-122"/>
                <a:cs typeface="Montserrat" pitchFamily="34" charset="-120"/>
              </a:rPr>
              <a:t>Revenue in the 2026–32 plan</a:t>
            </a:r>
            <a:endParaRPr lang="en-US" sz="720" dirty="0"/>
          </a:p>
        </p:txBody>
      </p:sp>
      <p:sp>
        <p:nvSpPr>
          <p:cNvPr id="75" name="Shape 72"/>
          <p:cNvSpPr/>
          <p:nvPr/>
        </p:nvSpPr>
        <p:spPr>
          <a:xfrm>
            <a:off x="4059936" y="5358384"/>
            <a:ext cx="1591056" cy="950976"/>
          </a:xfrm>
          <a:custGeom>
            <a:avLst/>
            <a:gdLst/>
            <a:ahLst/>
            <a:cxnLst/>
            <a:rect l="l" t="t" r="r" b="b"/>
            <a:pathLst>
              <a:path w="1591056" h="950976">
                <a:moveTo>
                  <a:pt x="0" y="0"/>
                </a:moveTo>
                <a:lnTo>
                  <a:pt x="1435608" y="0"/>
                </a:lnTo>
                <a:lnTo>
                  <a:pt x="1591056" y="155448"/>
                </a:lnTo>
                <a:lnTo>
                  <a:pt x="1591056" y="950976"/>
                </a:lnTo>
                <a:lnTo>
                  <a:pt x="155448" y="950976"/>
                </a:lnTo>
                <a:lnTo>
                  <a:pt x="0" y="795528"/>
                </a:lnTo>
                <a:close/>
              </a:path>
            </a:pathLst>
          </a:custGeom>
          <a:solidFill>
            <a:srgbClr val="343D60"/>
          </a:solidFill>
          <a:ln w="19050">
            <a:solidFill>
              <a:srgbClr val="95A8FE"/>
            </a:solidFill>
            <a:prstDash val="solid"/>
          </a:ln>
        </p:spPr>
      </p:sp>
      <p:sp>
        <p:nvSpPr>
          <p:cNvPr id="76" name="Text 73"/>
          <p:cNvSpPr/>
          <p:nvPr/>
        </p:nvSpPr>
        <p:spPr>
          <a:xfrm>
            <a:off x="4059936" y="5522976"/>
            <a:ext cx="1591056" cy="365760"/>
          </a:xfrm>
          <a:prstGeom prst="rect">
            <a:avLst/>
          </a:prstGeom>
          <a:noFill/>
          <a:ln/>
        </p:spPr>
        <p:txBody>
          <a:bodyPr wrap="square" lIns="0" tIns="0" rIns="0" bIns="0" rtlCol="0" anchor="ctr"/>
          <a:lstStyle/>
          <a:p>
            <a:pPr algn="ctr" indent="0" marL="0">
              <a:buNone/>
            </a:pPr>
            <a:r>
              <a:rPr lang="en-US" sz="900" dirty="0">
                <a:solidFill>
                  <a:srgbClr val="FFFFFF"/>
                </a:solidFill>
                <a:latin typeface="Montserrat" pitchFamily="34" charset="0"/>
                <a:ea typeface="Montserrat" pitchFamily="34" charset="-122"/>
                <a:cs typeface="Montserrat" pitchFamily="34" charset="-120"/>
              </a:rPr>
              <a:t>USD </a:t>
            </a:r>
            <a:pPr algn="ctr" indent="0" marL="0">
              <a:buNone/>
            </a:pPr>
            <a:r>
              <a:rPr lang="en-US" sz="2000" b="1" dirty="0">
                <a:solidFill>
                  <a:srgbClr val="FFFFFF"/>
                </a:solidFill>
                <a:latin typeface="Montserrat" pitchFamily="34" charset="0"/>
                <a:ea typeface="Montserrat" pitchFamily="34" charset="-122"/>
                <a:cs typeface="Montserrat" pitchFamily="34" charset="-120"/>
              </a:rPr>
              <a:t>1.1</a:t>
            </a:r>
            <a:pPr algn="ctr" indent="0" marL="0">
              <a:buNone/>
            </a:pPr>
            <a:r>
              <a:rPr lang="en-US" sz="1150" dirty="0">
                <a:solidFill>
                  <a:srgbClr val="FFFFFF"/>
                </a:solidFill>
                <a:latin typeface="Montserrat" pitchFamily="34" charset="0"/>
                <a:ea typeface="Montserrat" pitchFamily="34" charset="-122"/>
                <a:cs typeface="Montserrat" pitchFamily="34" charset="-120"/>
              </a:rPr>
              <a:t> x</a:t>
            </a:r>
            <a:endParaRPr lang="en-US" sz="900" dirty="0"/>
          </a:p>
        </p:txBody>
      </p:sp>
      <p:sp>
        <p:nvSpPr>
          <p:cNvPr id="77" name="Text 74"/>
          <p:cNvSpPr/>
          <p:nvPr/>
        </p:nvSpPr>
        <p:spPr>
          <a:xfrm>
            <a:off x="4105656" y="5907024"/>
            <a:ext cx="1499616" cy="274320"/>
          </a:xfrm>
          <a:prstGeom prst="rect">
            <a:avLst/>
          </a:prstGeom>
          <a:noFill/>
          <a:ln/>
        </p:spPr>
        <p:txBody>
          <a:bodyPr wrap="square" lIns="0" tIns="0" rIns="0" bIns="0" rtlCol="0" anchor="t"/>
          <a:lstStyle/>
          <a:p>
            <a:pPr algn="ctr" indent="0" marL="0">
              <a:lnSpc>
                <a:spcPct val="110000"/>
              </a:lnSpc>
              <a:buNone/>
            </a:pPr>
            <a:r>
              <a:rPr lang="en-US" sz="720" dirty="0">
                <a:solidFill>
                  <a:srgbClr val="FFFFFF"/>
                </a:solidFill>
                <a:latin typeface="Montserrat" pitchFamily="34" charset="0"/>
                <a:ea typeface="Montserrat" pitchFamily="34" charset="-122"/>
                <a:cs typeface="Montserrat" pitchFamily="34" charset="-120"/>
              </a:rPr>
              <a:t>Plan coverage</a:t>
            </a:r>
            <a:endParaRPr lang="en-US" sz="720" dirty="0"/>
          </a:p>
        </p:txBody>
      </p:sp>
      <p:sp>
        <p:nvSpPr>
          <p:cNvPr id="78" name="Text 75"/>
          <p:cNvSpPr/>
          <p:nvPr/>
        </p:nvSpPr>
        <p:spPr>
          <a:xfrm>
            <a:off x="6053328" y="5358384"/>
            <a:ext cx="5760720" cy="219456"/>
          </a:xfrm>
          <a:prstGeom prst="rect">
            <a:avLst/>
          </a:prstGeom>
          <a:noFill/>
          <a:ln/>
        </p:spPr>
        <p:txBody>
          <a:bodyPr wrap="square" lIns="0" tIns="0" rIns="0" bIns="0" rtlCol="0" anchor="ctr"/>
          <a:lstStyle/>
          <a:p>
            <a:pPr indent="0" marL="0">
              <a:buNone/>
            </a:pPr>
            <a:r>
              <a:rPr lang="en-US" sz="1000" dirty="0">
                <a:solidFill>
                  <a:srgbClr val="FFFFFF"/>
                </a:solidFill>
                <a:latin typeface="Montserrat Medium" pitchFamily="34" charset="0"/>
                <a:ea typeface="Montserrat Medium" pitchFamily="34" charset="-122"/>
                <a:cs typeface="Montserrat Medium" pitchFamily="34" charset="-120"/>
              </a:rPr>
              <a:t>The three pages that follow take each unit in turn</a:t>
            </a:r>
            <a:endParaRPr lang="en-US" sz="1000" dirty="0"/>
          </a:p>
        </p:txBody>
      </p:sp>
      <p:sp>
        <p:nvSpPr>
          <p:cNvPr id="79" name="Shape 76"/>
          <p:cNvSpPr/>
          <p:nvPr/>
        </p:nvSpPr>
        <p:spPr>
          <a:xfrm>
            <a:off x="6053328" y="5605272"/>
            <a:ext cx="5769864" cy="9144"/>
          </a:xfrm>
          <a:prstGeom prst="rect">
            <a:avLst/>
          </a:prstGeom>
          <a:solidFill>
            <a:srgbClr val="3C4E86"/>
          </a:solidFill>
          <a:ln/>
        </p:spPr>
      </p:sp>
      <p:sp>
        <p:nvSpPr>
          <p:cNvPr id="80" name="Shape 77"/>
          <p:cNvSpPr/>
          <p:nvPr/>
        </p:nvSpPr>
        <p:spPr>
          <a:xfrm>
            <a:off x="6053328" y="5774436"/>
            <a:ext cx="91440" cy="91440"/>
          </a:xfrm>
          <a:prstGeom prst="rect">
            <a:avLst/>
          </a:prstGeom>
          <a:solidFill>
            <a:srgbClr val="92D050"/>
          </a:solidFill>
          <a:ln/>
        </p:spPr>
      </p:sp>
      <p:sp>
        <p:nvSpPr>
          <p:cNvPr id="81" name="Text 78"/>
          <p:cNvSpPr/>
          <p:nvPr/>
        </p:nvSpPr>
        <p:spPr>
          <a:xfrm>
            <a:off x="6236208" y="5724144"/>
            <a:ext cx="5577840" cy="201168"/>
          </a:xfrm>
          <a:prstGeom prst="rect">
            <a:avLst/>
          </a:prstGeom>
          <a:noFill/>
          <a:ln/>
        </p:spPr>
        <p:txBody>
          <a:bodyPr wrap="square" lIns="0" tIns="0" rIns="0" bIns="0" rtlCol="0" anchor="ctr"/>
          <a:lstStyle/>
          <a:p>
            <a:pPr indent="0" marL="0">
              <a:buNone/>
            </a:pPr>
            <a:r>
              <a:rPr lang="en-US" sz="860" b="1" dirty="0">
                <a:solidFill>
                  <a:srgbClr val="FFFFFF"/>
                </a:solidFill>
                <a:latin typeface="Montserrat" pitchFamily="34" charset="0"/>
                <a:ea typeface="Montserrat" pitchFamily="34" charset="-122"/>
                <a:cs typeface="Montserrat" pitchFamily="34" charset="-120"/>
              </a:rPr>
              <a:t>Munitions</a:t>
            </a:r>
            <a:pPr indent="0" marL="0">
              <a:buNone/>
            </a:pPr>
            <a:r>
              <a:rPr lang="en-US" sz="860" dirty="0">
                <a:solidFill>
                  <a:srgbClr val="C6CBDA"/>
                </a:solidFill>
                <a:latin typeface="Montserrat" pitchFamily="34" charset="0"/>
                <a:ea typeface="Montserrat" pitchFamily="34" charset="-122"/>
                <a:cs typeface="Montserrat" pitchFamily="34" charset="-120"/>
              </a:rPr>
              <a:t>   Capacity is already built</a:t>
            </a:r>
            <a:endParaRPr lang="en-US" sz="860" dirty="0"/>
          </a:p>
        </p:txBody>
      </p:sp>
      <p:sp>
        <p:nvSpPr>
          <p:cNvPr id="82" name="Shape 79"/>
          <p:cNvSpPr/>
          <p:nvPr/>
        </p:nvSpPr>
        <p:spPr>
          <a:xfrm>
            <a:off x="6053328" y="6048756"/>
            <a:ext cx="91440" cy="91440"/>
          </a:xfrm>
          <a:prstGeom prst="rect">
            <a:avLst/>
          </a:prstGeom>
          <a:solidFill>
            <a:srgbClr val="FFC000"/>
          </a:solidFill>
          <a:ln/>
        </p:spPr>
      </p:sp>
      <p:sp>
        <p:nvSpPr>
          <p:cNvPr id="83" name="Text 80"/>
          <p:cNvSpPr/>
          <p:nvPr/>
        </p:nvSpPr>
        <p:spPr>
          <a:xfrm>
            <a:off x="6236208" y="5998464"/>
            <a:ext cx="5577840" cy="201168"/>
          </a:xfrm>
          <a:prstGeom prst="rect">
            <a:avLst/>
          </a:prstGeom>
          <a:noFill/>
          <a:ln/>
        </p:spPr>
        <p:txBody>
          <a:bodyPr wrap="square" lIns="0" tIns="0" rIns="0" bIns="0" rtlCol="0" anchor="ctr"/>
          <a:lstStyle/>
          <a:p>
            <a:pPr indent="0" marL="0">
              <a:buNone/>
            </a:pPr>
            <a:r>
              <a:rPr lang="en-US" sz="860" b="1" dirty="0">
                <a:solidFill>
                  <a:srgbClr val="FFFFFF"/>
                </a:solidFill>
                <a:latin typeface="Montserrat" pitchFamily="34" charset="0"/>
                <a:ea typeface="Montserrat" pitchFamily="34" charset="-122"/>
                <a:cs typeface="Montserrat" pitchFamily="34" charset="-120"/>
              </a:rPr>
              <a:t>Energetics</a:t>
            </a:r>
            <a:pPr indent="0" marL="0">
              <a:buNone/>
            </a:pPr>
            <a:r>
              <a:rPr lang="en-US" sz="860" dirty="0">
                <a:solidFill>
                  <a:srgbClr val="C6CBDA"/>
                </a:solidFill>
                <a:latin typeface="Montserrat" pitchFamily="34" charset="0"/>
                <a:ea typeface="Montserrat" pitchFamily="34" charset="-122"/>
                <a:cs typeface="Montserrat" pitchFamily="34" charset="-120"/>
              </a:rPr>
              <a:t>   Revenue is contracted, not forecast</a:t>
            </a:r>
            <a:endParaRPr lang="en-US" sz="860" dirty="0"/>
          </a:p>
        </p:txBody>
      </p:sp>
      <p:sp>
        <p:nvSpPr>
          <p:cNvPr id="84" name="Shape 81"/>
          <p:cNvSpPr/>
          <p:nvPr/>
        </p:nvSpPr>
        <p:spPr>
          <a:xfrm>
            <a:off x="6053328" y="6323076"/>
            <a:ext cx="91440" cy="91440"/>
          </a:xfrm>
          <a:prstGeom prst="rect">
            <a:avLst/>
          </a:prstGeom>
          <a:solidFill>
            <a:srgbClr val="9AA3B2"/>
          </a:solidFill>
          <a:ln/>
        </p:spPr>
      </p:sp>
      <p:sp>
        <p:nvSpPr>
          <p:cNvPr id="85" name="Text 82"/>
          <p:cNvSpPr/>
          <p:nvPr/>
        </p:nvSpPr>
        <p:spPr>
          <a:xfrm>
            <a:off x="6236208" y="6272784"/>
            <a:ext cx="5577840" cy="201168"/>
          </a:xfrm>
          <a:prstGeom prst="rect">
            <a:avLst/>
          </a:prstGeom>
          <a:noFill/>
          <a:ln/>
        </p:spPr>
        <p:txBody>
          <a:bodyPr wrap="square" lIns="0" tIns="0" rIns="0" bIns="0" rtlCol="0" anchor="ctr"/>
          <a:lstStyle/>
          <a:p>
            <a:pPr indent="0" marL="0">
              <a:buNone/>
            </a:pPr>
            <a:r>
              <a:rPr lang="en-US" sz="860" b="1" dirty="0">
                <a:solidFill>
                  <a:srgbClr val="FFFFFF"/>
                </a:solidFill>
                <a:latin typeface="Montserrat" pitchFamily="34" charset="0"/>
                <a:ea typeface="Montserrat" pitchFamily="34" charset="-122"/>
                <a:cs typeface="Montserrat" pitchFamily="34" charset="-120"/>
              </a:rPr>
              <a:t>Missile</a:t>
            </a:r>
            <a:pPr indent="0" marL="0">
              <a:buNone/>
            </a:pPr>
            <a:r>
              <a:rPr lang="en-US" sz="860" dirty="0">
                <a:solidFill>
                  <a:srgbClr val="C6CBDA"/>
                </a:solidFill>
                <a:latin typeface="Montserrat" pitchFamily="34" charset="0"/>
                <a:ea typeface="Montserrat" pitchFamily="34" charset="-122"/>
                <a:cs typeface="Montserrat" pitchFamily="34" charset="-120"/>
              </a:rPr>
              <a:t>   The unit becomes the group’s engine</a:t>
            </a:r>
            <a:endParaRPr lang="en-US" sz="860" dirty="0"/>
          </a:p>
        </p:txBody>
      </p:sp>
      <p:sp>
        <p:nvSpPr>
          <p:cNvPr id="86" name="Text 83"/>
          <p:cNvSpPr/>
          <p:nvPr/>
        </p:nvSpPr>
        <p:spPr>
          <a:xfrm>
            <a:off x="626364" y="6455664"/>
            <a:ext cx="9875520" cy="182880"/>
          </a:xfrm>
          <a:prstGeom prst="rect">
            <a:avLst/>
          </a:prstGeom>
          <a:noFill/>
          <a:ln/>
        </p:spPr>
        <p:txBody>
          <a:bodyPr wrap="square" lIns="0" tIns="0" rIns="0" bIns="0" rtlCol="0" anchor="ctr"/>
          <a:lstStyle/>
          <a:p>
            <a:pPr indent="0" marL="0">
              <a:buNone/>
            </a:pPr>
            <a:r>
              <a:rPr lang="en-US" sz="804" dirty="0">
                <a:solidFill>
                  <a:srgbClr val="D8D8D8"/>
                </a:solidFill>
                <a:latin typeface="Montserrat Light" pitchFamily="34" charset="0"/>
                <a:ea typeface="Montserrat Light" pitchFamily="34" charset="-122"/>
                <a:cs typeface="Montserrat Light" pitchFamily="34" charset="-120"/>
              </a:rPr>
              <a:t>Source: Company — commercial review of backlog and pipeline, 5 Aug 2026 (rev. 2); Company financial model, Base case (FX R$ 5.17/US$).</a:t>
            </a:r>
            <a:endParaRPr lang="en-US" sz="804" dirty="0"/>
          </a:p>
        </p:txBody>
      </p:sp>
      <p:sp>
        <p:nvSpPr>
          <p:cNvPr id="87" name="Text 84"/>
          <p:cNvSpPr/>
          <p:nvPr/>
        </p:nvSpPr>
        <p:spPr>
          <a:xfrm>
            <a:off x="357530" y="6455664"/>
            <a:ext cx="457200" cy="182880"/>
          </a:xfrm>
          <a:prstGeom prst="rect">
            <a:avLst/>
          </a:prstGeom>
          <a:noFill/>
          <a:ln/>
        </p:spPr>
        <p:txBody>
          <a:bodyPr wrap="square" lIns="0" tIns="0" rIns="0" bIns="0" rtlCol="0" anchor="ctr"/>
          <a:lstStyle/>
          <a:p>
            <a:pPr indent="0" marL="0">
              <a:buNone/>
            </a:pPr>
            <a:r>
              <a:rPr lang="en-US" sz="804" dirty="0">
                <a:solidFill>
                  <a:srgbClr val="FFFFFF"/>
                </a:solidFill>
                <a:latin typeface="Montserrat SemiBold" pitchFamily="34" charset="0"/>
                <a:ea typeface="Montserrat SemiBold" pitchFamily="34" charset="-122"/>
                <a:cs typeface="Montserrat SemiBold" pitchFamily="34" charset="-120"/>
              </a:rPr>
              <a:t>50</a:t>
            </a:r>
            <a:endParaRPr lang="en-US" sz="804" dirty="0"/>
          </a:p>
        </p:txBody>
      </p:sp>
      <p:sp>
        <p:nvSpPr>
          <p:cNvPr id="88" name="Shape 85"/>
          <p:cNvSpPr/>
          <p:nvPr/>
        </p:nvSpPr>
        <p:spPr>
          <a:xfrm>
            <a:off x="10931652" y="6469380"/>
            <a:ext cx="932688" cy="196596"/>
          </a:xfrm>
          <a:prstGeom prst="roundRect">
            <a:avLst>
              <a:gd name="adj" fmla="val 18605"/>
            </a:avLst>
          </a:prstGeom>
          <a:ln w="9525">
            <a:solidFill>
              <a:srgbClr val="3C4E86"/>
            </a:solidFill>
            <a:prstDash val="solid"/>
          </a:ln>
        </p:spPr>
      </p:sp>
      <p:sp>
        <p:nvSpPr>
          <p:cNvPr id="89" name="Text 86"/>
          <p:cNvSpPr/>
          <p:nvPr/>
        </p:nvSpPr>
        <p:spPr>
          <a:xfrm>
            <a:off x="10931652" y="6469380"/>
            <a:ext cx="932688" cy="196596"/>
          </a:xfrm>
          <a:prstGeom prst="rect">
            <a:avLst/>
          </a:prstGeom>
          <a:noFill/>
          <a:ln/>
        </p:spPr>
        <p:txBody>
          <a:bodyPr wrap="square" lIns="0" tIns="0" rIns="0" bIns="0" rtlCol="0" anchor="ctr"/>
          <a:lstStyle/>
          <a:p>
            <a:pPr algn="ctr" indent="0" marL="0">
              <a:buNone/>
            </a:pPr>
            <a:r>
              <a:rPr lang="en-US" sz="696" dirty="0">
                <a:solidFill>
                  <a:srgbClr val="9DADFF"/>
                </a:solidFill>
                <a:latin typeface="Montserrat" pitchFamily="34" charset="0"/>
                <a:ea typeface="Montserrat" pitchFamily="34" charset="-122"/>
                <a:cs typeface="Montserrat" pitchFamily="34" charset="-120"/>
              </a:rPr>
              <a:t>Confidential</a:t>
            </a:r>
            <a:endParaRPr lang="en-US" sz="696"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IGC Partners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IGC Partners</dc:creator>
  <cp:lastModifiedBy>IGC Partners</cp:lastModifiedBy>
  <cp:revision>1</cp:revision>
  <dcterms:created xsi:type="dcterms:W3CDTF">2026-09-03T16:34:48Z</dcterms:created>
  <dcterms:modified xsi:type="dcterms:W3CDTF">2026-09-03T16:34:48Z</dcterms:modified>
</cp:coreProperties>
</file>
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92278" y="224028"/>
            <a:ext cx="1280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98" dirty="0">
                <a:solidFill>
                  <a:srgbClr val="BFBFB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Mac Jee At a Glance</a:t>
            </a:r>
            <a:endParaRPr lang="en-US" sz="698" dirty="0"/>
          </a:p>
        </p:txBody>
      </p:sp>
      <p:sp>
        <p:nvSpPr>
          <p:cNvPr id="3" name="Text 1"/>
          <p:cNvSpPr/>
          <p:nvPr/>
        </p:nvSpPr>
        <p:spPr>
          <a:xfrm>
            <a:off x="1634947" y="224028"/>
            <a:ext cx="1600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98" dirty="0">
                <a:solidFill>
                  <a:srgbClr val="BFBFB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Mac Jee Investment Thesis</a:t>
            </a:r>
            <a:endParaRPr lang="en-US" sz="698" dirty="0"/>
          </a:p>
        </p:txBody>
      </p:sp>
      <p:sp>
        <p:nvSpPr>
          <p:cNvPr id="4" name="Text 2"/>
          <p:cNvSpPr/>
          <p:nvPr/>
        </p:nvSpPr>
        <p:spPr>
          <a:xfrm>
            <a:off x="3165653" y="224028"/>
            <a:ext cx="1691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98" dirty="0">
                <a:solidFill>
                  <a:srgbClr val="00178D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Business Units and Portfolio</a:t>
            </a:r>
            <a:endParaRPr lang="en-US" sz="698" dirty="0"/>
          </a:p>
        </p:txBody>
      </p:sp>
      <p:sp>
        <p:nvSpPr>
          <p:cNvPr id="5" name="Text 3"/>
          <p:cNvSpPr/>
          <p:nvPr/>
        </p:nvSpPr>
        <p:spPr>
          <a:xfrm>
            <a:off x="4749394" y="224028"/>
            <a:ext cx="6949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98" dirty="0">
                <a:solidFill>
                  <a:srgbClr val="BFBFB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Financials</a:t>
            </a:r>
            <a:endParaRPr lang="en-US" sz="698" dirty="0"/>
          </a:p>
        </p:txBody>
      </p:sp>
      <p:sp>
        <p:nvSpPr>
          <p:cNvPr id="6" name="Shape 4"/>
          <p:cNvSpPr/>
          <p:nvPr/>
        </p:nvSpPr>
        <p:spPr>
          <a:xfrm>
            <a:off x="3165653" y="442570"/>
            <a:ext cx="1417320" cy="9144"/>
          </a:xfrm>
          <a:prstGeom prst="rect">
            <a:avLst/>
          </a:prstGeom>
          <a:solidFill>
            <a:srgbClr val="27B0FF"/>
          </a:solidFill>
          <a:ln/>
        </p:spPr>
      </p:sp>
      <p:sp>
        <p:nvSpPr>
          <p:cNvPr id="7" name="Shape 5"/>
          <p:cNvSpPr/>
          <p:nvPr/>
        </p:nvSpPr>
        <p:spPr>
          <a:xfrm>
            <a:off x="3140050" y="418795"/>
            <a:ext cx="51206" cy="51206"/>
          </a:xfrm>
          <a:prstGeom prst="diamond">
            <a:avLst/>
          </a:prstGeom>
          <a:solidFill>
            <a:srgbClr val="27B0FF"/>
          </a:solidFill>
          <a:ln/>
        </p:spPr>
      </p:sp>
      <p:sp>
        <p:nvSpPr>
          <p:cNvPr id="8" name="Shape 6"/>
          <p:cNvSpPr/>
          <p:nvPr/>
        </p:nvSpPr>
        <p:spPr>
          <a:xfrm>
            <a:off x="4557370" y="418795"/>
            <a:ext cx="51206" cy="51206"/>
          </a:xfrm>
          <a:prstGeom prst="diamond">
            <a:avLst/>
          </a:prstGeom>
          <a:solidFill>
            <a:srgbClr val="27B0FF"/>
          </a:solidFill>
          <a:ln/>
        </p:spPr>
      </p:sp>
      <p:pic>
        <p:nvPicPr>
          <p:cNvPr id="9" name="Image 0" descr="assets/macjee_go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74222" y="343814"/>
            <a:ext cx="481889" cy="481889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392278" y="731520"/>
            <a:ext cx="1129649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92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Development stage by product — Weapon Systems and Munitions</a:t>
            </a:r>
            <a:endParaRPr lang="en-US" sz="2400" dirty="0"/>
          </a:p>
        </p:txBody>
      </p:sp>
      <p:sp>
        <p:nvSpPr>
          <p:cNvPr id="11" name="Text 8"/>
          <p:cNvSpPr/>
          <p:nvPr/>
        </p:nvSpPr>
        <p:spPr>
          <a:xfrm>
            <a:off x="342900" y="1110996"/>
            <a:ext cx="1129649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3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Seven of eleven products are qualified or already in production, on lines that are built and rated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357530" y="1335024"/>
            <a:ext cx="11476634" cy="3419856"/>
          </a:xfrm>
          <a:custGeom>
            <a:avLst/>
            <a:gdLst/>
            <a:ahLst/>
            <a:cxnLst/>
            <a:rect l="l" t="t" r="r" b="b"/>
            <a:pathLst>
              <a:path w="11476634" h="3419856">
                <a:moveTo>
                  <a:pt x="0" y="0"/>
                </a:moveTo>
                <a:lnTo>
                  <a:pt x="11158423" y="0"/>
                </a:lnTo>
                <a:lnTo>
                  <a:pt x="11476634" y="318211"/>
                </a:lnTo>
                <a:lnTo>
                  <a:pt x="11476634" y="3419856"/>
                </a:lnTo>
                <a:lnTo>
                  <a:pt x="318211" y="3419856"/>
                </a:lnTo>
                <a:lnTo>
                  <a:pt x="0" y="3101645"/>
                </a:ln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50800" dist="19050" dir="5400000">
              <a:srgbClr val="000000">
                <a:alpha val="16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576072" y="1481328"/>
            <a:ext cx="2926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" spc="100" kern="0" dirty="0">
                <a:solidFill>
                  <a:srgbClr val="8C93A8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PRODUCT</a:t>
            </a:r>
            <a:endParaRPr lang="en-US" sz="640" dirty="0"/>
          </a:p>
        </p:txBody>
      </p:sp>
      <p:sp>
        <p:nvSpPr>
          <p:cNvPr id="14" name="Shape 11"/>
          <p:cNvSpPr/>
          <p:nvPr/>
        </p:nvSpPr>
        <p:spPr>
          <a:xfrm>
            <a:off x="3639312" y="1645920"/>
            <a:ext cx="566928" cy="32004"/>
          </a:xfrm>
          <a:prstGeom prst="rect">
            <a:avLst/>
          </a:prstGeom>
          <a:solidFill>
            <a:srgbClr val="DDE3F5"/>
          </a:solidFill>
          <a:ln/>
        </p:spPr>
      </p:sp>
      <p:sp>
        <p:nvSpPr>
          <p:cNvPr id="15" name="Text 12"/>
          <p:cNvSpPr/>
          <p:nvPr/>
        </p:nvSpPr>
        <p:spPr>
          <a:xfrm>
            <a:off x="3584448" y="1444752"/>
            <a:ext cx="6766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580" dirty="0">
                <a:solidFill>
                  <a:srgbClr val="8C93A8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In development</a:t>
            </a:r>
            <a:endParaRPr lang="en-US" sz="580" dirty="0"/>
          </a:p>
        </p:txBody>
      </p:sp>
      <p:sp>
        <p:nvSpPr>
          <p:cNvPr id="16" name="Shape 13"/>
          <p:cNvSpPr/>
          <p:nvPr/>
        </p:nvSpPr>
        <p:spPr>
          <a:xfrm>
            <a:off x="4251960" y="1645920"/>
            <a:ext cx="566928" cy="32004"/>
          </a:xfrm>
          <a:prstGeom prst="rect">
            <a:avLst/>
          </a:prstGeom>
          <a:solidFill>
            <a:srgbClr val="B9C4EC"/>
          </a:solidFill>
          <a:ln/>
        </p:spPr>
      </p:sp>
      <p:sp>
        <p:nvSpPr>
          <p:cNvPr id="17" name="Text 14"/>
          <p:cNvSpPr/>
          <p:nvPr/>
        </p:nvSpPr>
        <p:spPr>
          <a:xfrm>
            <a:off x="4197096" y="1444752"/>
            <a:ext cx="6766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580" dirty="0">
                <a:solidFill>
                  <a:srgbClr val="8C93A8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In build</a:t>
            </a:r>
            <a:endParaRPr lang="en-US" sz="580" dirty="0"/>
          </a:p>
        </p:txBody>
      </p:sp>
      <p:sp>
        <p:nvSpPr>
          <p:cNvPr id="18" name="Shape 15"/>
          <p:cNvSpPr/>
          <p:nvPr/>
        </p:nvSpPr>
        <p:spPr>
          <a:xfrm>
            <a:off x="4864608" y="1645920"/>
            <a:ext cx="566928" cy="32004"/>
          </a:xfrm>
          <a:prstGeom prst="rect">
            <a:avLst/>
          </a:prstGeom>
          <a:solidFill>
            <a:srgbClr val="8B9CDD"/>
          </a:solidFill>
          <a:ln/>
        </p:spPr>
      </p:sp>
      <p:sp>
        <p:nvSpPr>
          <p:cNvPr id="19" name="Text 16"/>
          <p:cNvSpPr/>
          <p:nvPr/>
        </p:nvSpPr>
        <p:spPr>
          <a:xfrm>
            <a:off x="4809744" y="1444752"/>
            <a:ext cx="6766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580" dirty="0">
                <a:solidFill>
                  <a:srgbClr val="8C93A8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Capacity rated</a:t>
            </a:r>
            <a:endParaRPr lang="en-US" sz="580" dirty="0"/>
          </a:p>
        </p:txBody>
      </p:sp>
      <p:sp>
        <p:nvSpPr>
          <p:cNvPr id="20" name="Shape 17"/>
          <p:cNvSpPr/>
          <p:nvPr/>
        </p:nvSpPr>
        <p:spPr>
          <a:xfrm>
            <a:off x="5477256" y="1645920"/>
            <a:ext cx="566928" cy="32004"/>
          </a:xfrm>
          <a:prstGeom prst="rect">
            <a:avLst/>
          </a:prstGeom>
          <a:solidFill>
            <a:srgbClr val="4E66C4"/>
          </a:solidFill>
          <a:ln/>
        </p:spPr>
      </p:sp>
      <p:sp>
        <p:nvSpPr>
          <p:cNvPr id="21" name="Text 18"/>
          <p:cNvSpPr/>
          <p:nvPr/>
        </p:nvSpPr>
        <p:spPr>
          <a:xfrm>
            <a:off x="5422392" y="1444752"/>
            <a:ext cx="6766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580" dirty="0">
                <a:solidFill>
                  <a:srgbClr val="8C93A8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Qualified</a:t>
            </a:r>
            <a:endParaRPr lang="en-US" sz="580" dirty="0"/>
          </a:p>
        </p:txBody>
      </p:sp>
      <p:sp>
        <p:nvSpPr>
          <p:cNvPr id="22" name="Shape 19"/>
          <p:cNvSpPr/>
          <p:nvPr/>
        </p:nvSpPr>
        <p:spPr>
          <a:xfrm>
            <a:off x="6089904" y="1645920"/>
            <a:ext cx="566928" cy="32004"/>
          </a:xfrm>
          <a:prstGeom prst="rect">
            <a:avLst/>
          </a:prstGeom>
          <a:solidFill>
            <a:srgbClr val="021B94"/>
          </a:solidFill>
          <a:ln/>
        </p:spPr>
      </p:sp>
      <p:sp>
        <p:nvSpPr>
          <p:cNvPr id="23" name="Text 20"/>
          <p:cNvSpPr/>
          <p:nvPr/>
        </p:nvSpPr>
        <p:spPr>
          <a:xfrm>
            <a:off x="6035040" y="1444752"/>
            <a:ext cx="6766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580" dirty="0">
                <a:solidFill>
                  <a:srgbClr val="8C93A8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In production</a:t>
            </a:r>
            <a:endParaRPr lang="en-US" sz="580" dirty="0"/>
          </a:p>
        </p:txBody>
      </p:sp>
      <p:sp>
        <p:nvSpPr>
          <p:cNvPr id="24" name="Text 21"/>
          <p:cNvSpPr/>
          <p:nvPr/>
        </p:nvSpPr>
        <p:spPr>
          <a:xfrm>
            <a:off x="6967728" y="1481328"/>
            <a:ext cx="46451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" spc="100" kern="0" dirty="0">
                <a:solidFill>
                  <a:srgbClr val="8C93A8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EVIDENCE PUBLISHED BY THE COMPANY</a:t>
            </a:r>
            <a:endParaRPr lang="en-US" sz="640" dirty="0"/>
          </a:p>
        </p:txBody>
      </p:sp>
      <p:sp>
        <p:nvSpPr>
          <p:cNvPr id="25" name="Shape 22"/>
          <p:cNvSpPr/>
          <p:nvPr/>
        </p:nvSpPr>
        <p:spPr>
          <a:xfrm>
            <a:off x="576072" y="1819656"/>
            <a:ext cx="73152" cy="118872"/>
          </a:xfrm>
          <a:prstGeom prst="rect">
            <a:avLst/>
          </a:prstGeom>
          <a:solidFill>
            <a:srgbClr val="5A6BB8"/>
          </a:solidFill>
          <a:ln/>
        </p:spPr>
      </p:sp>
      <p:sp>
        <p:nvSpPr>
          <p:cNvPr id="26" name="Text 23"/>
          <p:cNvSpPr/>
          <p:nvPr/>
        </p:nvSpPr>
        <p:spPr>
          <a:xfrm>
            <a:off x="722376" y="1764792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A6BB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Weapon Systems</a:t>
            </a:r>
            <a:endParaRPr lang="en-US" sz="950" dirty="0"/>
          </a:p>
        </p:txBody>
      </p:sp>
      <p:sp>
        <p:nvSpPr>
          <p:cNvPr id="27" name="Shape 24"/>
          <p:cNvSpPr/>
          <p:nvPr/>
        </p:nvSpPr>
        <p:spPr>
          <a:xfrm>
            <a:off x="576072" y="1938528"/>
            <a:ext cx="11036808" cy="7315"/>
          </a:xfrm>
          <a:prstGeom prst="rect">
            <a:avLst/>
          </a:prstGeom>
          <a:solidFill>
            <a:srgbClr val="E6E8EE"/>
          </a:solidFill>
          <a:ln/>
        </p:spPr>
      </p:sp>
      <p:sp>
        <p:nvSpPr>
          <p:cNvPr id="28" name="Text 25"/>
          <p:cNvSpPr/>
          <p:nvPr/>
        </p:nvSpPr>
        <p:spPr>
          <a:xfrm>
            <a:off x="722376" y="1947672"/>
            <a:ext cx="277977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03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Armadillo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722376" y="2052828"/>
            <a:ext cx="2779776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" dirty="0">
                <a:solidFill>
                  <a:srgbClr val="8C93A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MRLS anti-drone launcher vehicle</a:t>
            </a:r>
            <a:endParaRPr lang="en-US" sz="660" dirty="0"/>
          </a:p>
        </p:txBody>
      </p:sp>
      <p:sp>
        <p:nvSpPr>
          <p:cNvPr id="30" name="Shape 27"/>
          <p:cNvSpPr/>
          <p:nvPr/>
        </p:nvSpPr>
        <p:spPr>
          <a:xfrm>
            <a:off x="3639312" y="1965960"/>
            <a:ext cx="566928" cy="160020"/>
          </a:xfrm>
          <a:prstGeom prst="rect">
            <a:avLst/>
          </a:prstGeom>
          <a:solidFill>
            <a:srgbClr val="DDE3F5"/>
          </a:solidFill>
          <a:ln/>
        </p:spPr>
      </p:sp>
      <p:sp>
        <p:nvSpPr>
          <p:cNvPr id="31" name="Shape 28"/>
          <p:cNvSpPr/>
          <p:nvPr/>
        </p:nvSpPr>
        <p:spPr>
          <a:xfrm>
            <a:off x="4251960" y="1965960"/>
            <a:ext cx="566928" cy="160020"/>
          </a:xfrm>
          <a:prstGeom prst="rect">
            <a:avLst/>
          </a:prstGeom>
          <a:solidFill>
            <a:srgbClr val="B9C4EC"/>
          </a:solidFill>
          <a:ln/>
        </p:spPr>
      </p:sp>
      <p:sp>
        <p:nvSpPr>
          <p:cNvPr id="32" name="Shape 29"/>
          <p:cNvSpPr/>
          <p:nvPr/>
        </p:nvSpPr>
        <p:spPr>
          <a:xfrm>
            <a:off x="4864608" y="1965960"/>
            <a:ext cx="566928" cy="160020"/>
          </a:xfrm>
          <a:prstGeom prst="rect">
            <a:avLst/>
          </a:prstGeom>
          <a:solidFill>
            <a:srgbClr val="8B9CDD"/>
          </a:solidFill>
          <a:ln/>
        </p:spPr>
      </p:sp>
      <p:sp>
        <p:nvSpPr>
          <p:cNvPr id="33" name="Shape 30"/>
          <p:cNvSpPr/>
          <p:nvPr/>
        </p:nvSpPr>
        <p:spPr>
          <a:xfrm>
            <a:off x="5477256" y="1965960"/>
            <a:ext cx="566928" cy="160020"/>
          </a:xfrm>
          <a:prstGeom prst="rect">
            <a:avLst/>
          </a:prstGeom>
          <a:solidFill>
            <a:srgbClr val="4E66C4"/>
          </a:solidFill>
          <a:ln/>
        </p:spPr>
      </p:sp>
      <p:sp>
        <p:nvSpPr>
          <p:cNvPr id="34" name="Shape 31"/>
          <p:cNvSpPr/>
          <p:nvPr/>
        </p:nvSpPr>
        <p:spPr>
          <a:xfrm>
            <a:off x="6089904" y="1965960"/>
            <a:ext cx="566928" cy="160020"/>
          </a:xfrm>
          <a:prstGeom prst="rect">
            <a:avLst/>
          </a:prstGeom>
          <a:solidFill>
            <a:srgbClr val="F0F2F7"/>
          </a:solidFill>
          <a:ln/>
        </p:spPr>
      </p:sp>
      <p:sp>
        <p:nvSpPr>
          <p:cNvPr id="35" name="Text 32"/>
          <p:cNvSpPr/>
          <p:nvPr/>
        </p:nvSpPr>
        <p:spPr>
          <a:xfrm>
            <a:off x="5477256" y="1965960"/>
            <a:ext cx="566928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●</a:t>
            </a:r>
            <a:endParaRPr lang="en-US" sz="600" dirty="0"/>
          </a:p>
        </p:txBody>
      </p:sp>
      <p:sp>
        <p:nvSpPr>
          <p:cNvPr id="36" name="Text 33"/>
          <p:cNvSpPr/>
          <p:nvPr/>
        </p:nvSpPr>
        <p:spPr>
          <a:xfrm>
            <a:off x="6967728" y="1956816"/>
            <a:ext cx="46451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3C465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100% completion  ·  +100 units/year rated</a:t>
            </a:r>
            <a:endParaRPr lang="en-US" sz="720" dirty="0"/>
          </a:p>
        </p:txBody>
      </p:sp>
      <p:sp>
        <p:nvSpPr>
          <p:cNvPr id="37" name="Text 34"/>
          <p:cNvSpPr/>
          <p:nvPr/>
        </p:nvSpPr>
        <p:spPr>
          <a:xfrm>
            <a:off x="722376" y="2167959"/>
            <a:ext cx="277977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03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70 mm rocket</a:t>
            </a:r>
            <a:endParaRPr lang="en-US" sz="800" dirty="0"/>
          </a:p>
        </p:txBody>
      </p:sp>
      <p:sp>
        <p:nvSpPr>
          <p:cNvPr id="38" name="Text 35"/>
          <p:cNvSpPr/>
          <p:nvPr/>
        </p:nvSpPr>
        <p:spPr>
          <a:xfrm>
            <a:off x="722376" y="2273115"/>
            <a:ext cx="2779776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" dirty="0">
                <a:solidFill>
                  <a:srgbClr val="8C93A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Air-to-ground and ground-to-ground</a:t>
            </a:r>
            <a:endParaRPr lang="en-US" sz="660" dirty="0"/>
          </a:p>
        </p:txBody>
      </p:sp>
      <p:sp>
        <p:nvSpPr>
          <p:cNvPr id="39" name="Shape 36"/>
          <p:cNvSpPr/>
          <p:nvPr/>
        </p:nvSpPr>
        <p:spPr>
          <a:xfrm>
            <a:off x="3639312" y="2186247"/>
            <a:ext cx="566928" cy="160020"/>
          </a:xfrm>
          <a:prstGeom prst="rect">
            <a:avLst/>
          </a:prstGeom>
          <a:solidFill>
            <a:srgbClr val="DDE3F5"/>
          </a:solidFill>
          <a:ln/>
        </p:spPr>
      </p:sp>
      <p:sp>
        <p:nvSpPr>
          <p:cNvPr id="40" name="Shape 37"/>
          <p:cNvSpPr/>
          <p:nvPr/>
        </p:nvSpPr>
        <p:spPr>
          <a:xfrm>
            <a:off x="4251960" y="2186247"/>
            <a:ext cx="566928" cy="160020"/>
          </a:xfrm>
          <a:prstGeom prst="rect">
            <a:avLst/>
          </a:prstGeom>
          <a:solidFill>
            <a:srgbClr val="B9C4EC"/>
          </a:solidFill>
          <a:ln/>
        </p:spPr>
      </p:sp>
      <p:sp>
        <p:nvSpPr>
          <p:cNvPr id="41" name="Shape 38"/>
          <p:cNvSpPr/>
          <p:nvPr/>
        </p:nvSpPr>
        <p:spPr>
          <a:xfrm>
            <a:off x="4864608" y="2186247"/>
            <a:ext cx="566928" cy="160020"/>
          </a:xfrm>
          <a:prstGeom prst="rect">
            <a:avLst/>
          </a:prstGeom>
          <a:solidFill>
            <a:srgbClr val="8B9CDD"/>
          </a:solidFill>
          <a:ln/>
        </p:spPr>
      </p:sp>
      <p:sp>
        <p:nvSpPr>
          <p:cNvPr id="42" name="Shape 39"/>
          <p:cNvSpPr/>
          <p:nvPr/>
        </p:nvSpPr>
        <p:spPr>
          <a:xfrm>
            <a:off x="5477256" y="2186247"/>
            <a:ext cx="566928" cy="160020"/>
          </a:xfrm>
          <a:prstGeom prst="rect">
            <a:avLst/>
          </a:prstGeom>
          <a:solidFill>
            <a:srgbClr val="4E66C4"/>
          </a:solidFill>
          <a:ln/>
        </p:spPr>
      </p:sp>
      <p:sp>
        <p:nvSpPr>
          <p:cNvPr id="43" name="Shape 40"/>
          <p:cNvSpPr/>
          <p:nvPr/>
        </p:nvSpPr>
        <p:spPr>
          <a:xfrm>
            <a:off x="6089904" y="2186247"/>
            <a:ext cx="566928" cy="160020"/>
          </a:xfrm>
          <a:prstGeom prst="rect">
            <a:avLst/>
          </a:prstGeom>
          <a:solidFill>
            <a:srgbClr val="F0F2F7"/>
          </a:solidFill>
          <a:ln/>
        </p:spPr>
      </p:sp>
      <p:sp>
        <p:nvSpPr>
          <p:cNvPr id="44" name="Text 41"/>
          <p:cNvSpPr/>
          <p:nvPr/>
        </p:nvSpPr>
        <p:spPr>
          <a:xfrm>
            <a:off x="5477256" y="2186247"/>
            <a:ext cx="566928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●</a:t>
            </a:r>
            <a:endParaRPr lang="en-US" sz="600" dirty="0"/>
          </a:p>
        </p:txBody>
      </p:sp>
      <p:sp>
        <p:nvSpPr>
          <p:cNvPr id="45" name="Text 42"/>
          <p:cNvSpPr/>
          <p:nvPr/>
        </p:nvSpPr>
        <p:spPr>
          <a:xfrm>
            <a:off x="6967728" y="2177103"/>
            <a:ext cx="46451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3C465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100% completion  ·  20k+ units/year rated</a:t>
            </a:r>
            <a:endParaRPr lang="en-US" sz="720" dirty="0"/>
          </a:p>
        </p:txBody>
      </p:sp>
      <p:sp>
        <p:nvSpPr>
          <p:cNvPr id="46" name="Text 43"/>
          <p:cNvSpPr/>
          <p:nvPr/>
        </p:nvSpPr>
        <p:spPr>
          <a:xfrm>
            <a:off x="722376" y="2388247"/>
            <a:ext cx="277977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03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Anshar</a:t>
            </a:r>
            <a:endParaRPr lang="en-US" sz="800" dirty="0"/>
          </a:p>
        </p:txBody>
      </p:sp>
      <p:sp>
        <p:nvSpPr>
          <p:cNvPr id="47" name="Text 44"/>
          <p:cNvSpPr/>
          <p:nvPr/>
        </p:nvSpPr>
        <p:spPr>
          <a:xfrm>
            <a:off x="722376" y="2493403"/>
            <a:ext cx="2779776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" dirty="0">
                <a:solidFill>
                  <a:srgbClr val="8C93A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Ground-to-ground kamikaze drone</a:t>
            </a:r>
            <a:endParaRPr lang="en-US" sz="660" dirty="0"/>
          </a:p>
        </p:txBody>
      </p:sp>
      <p:sp>
        <p:nvSpPr>
          <p:cNvPr id="48" name="Shape 45"/>
          <p:cNvSpPr/>
          <p:nvPr/>
        </p:nvSpPr>
        <p:spPr>
          <a:xfrm>
            <a:off x="3639312" y="2406535"/>
            <a:ext cx="566928" cy="160020"/>
          </a:xfrm>
          <a:prstGeom prst="rect">
            <a:avLst/>
          </a:prstGeom>
          <a:solidFill>
            <a:srgbClr val="DDE3F5"/>
          </a:solidFill>
          <a:ln/>
        </p:spPr>
      </p:sp>
      <p:sp>
        <p:nvSpPr>
          <p:cNvPr id="49" name="Shape 46"/>
          <p:cNvSpPr/>
          <p:nvPr/>
        </p:nvSpPr>
        <p:spPr>
          <a:xfrm>
            <a:off x="4251960" y="2406535"/>
            <a:ext cx="566928" cy="160020"/>
          </a:xfrm>
          <a:prstGeom prst="rect">
            <a:avLst/>
          </a:prstGeom>
          <a:solidFill>
            <a:srgbClr val="B9C4EC"/>
          </a:solidFill>
          <a:ln/>
        </p:spPr>
      </p:sp>
      <p:sp>
        <p:nvSpPr>
          <p:cNvPr id="50" name="Shape 47"/>
          <p:cNvSpPr/>
          <p:nvPr/>
        </p:nvSpPr>
        <p:spPr>
          <a:xfrm>
            <a:off x="4864608" y="2406535"/>
            <a:ext cx="566928" cy="160020"/>
          </a:xfrm>
          <a:prstGeom prst="rect">
            <a:avLst/>
          </a:prstGeom>
          <a:solidFill>
            <a:srgbClr val="8B9CDD"/>
          </a:solidFill>
          <a:ln/>
        </p:spPr>
      </p:sp>
      <p:sp>
        <p:nvSpPr>
          <p:cNvPr id="51" name="Shape 48"/>
          <p:cNvSpPr/>
          <p:nvPr/>
        </p:nvSpPr>
        <p:spPr>
          <a:xfrm>
            <a:off x="5477256" y="2406535"/>
            <a:ext cx="566928" cy="160020"/>
          </a:xfrm>
          <a:prstGeom prst="rect">
            <a:avLst/>
          </a:prstGeom>
          <a:solidFill>
            <a:srgbClr val="4E66C4"/>
          </a:solidFill>
          <a:ln/>
        </p:spPr>
      </p:sp>
      <p:sp>
        <p:nvSpPr>
          <p:cNvPr id="52" name="Shape 49"/>
          <p:cNvSpPr/>
          <p:nvPr/>
        </p:nvSpPr>
        <p:spPr>
          <a:xfrm>
            <a:off x="6089904" y="2406535"/>
            <a:ext cx="566928" cy="160020"/>
          </a:xfrm>
          <a:prstGeom prst="rect">
            <a:avLst/>
          </a:prstGeom>
          <a:solidFill>
            <a:srgbClr val="F0F2F7"/>
          </a:solidFill>
          <a:ln/>
        </p:spPr>
      </p:sp>
      <p:sp>
        <p:nvSpPr>
          <p:cNvPr id="53" name="Text 50"/>
          <p:cNvSpPr/>
          <p:nvPr/>
        </p:nvSpPr>
        <p:spPr>
          <a:xfrm>
            <a:off x="5477256" y="2406535"/>
            <a:ext cx="566928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●</a:t>
            </a:r>
            <a:endParaRPr lang="en-US" sz="600" dirty="0"/>
          </a:p>
        </p:txBody>
      </p:sp>
      <p:sp>
        <p:nvSpPr>
          <p:cNvPr id="54" name="Text 51"/>
          <p:cNvSpPr/>
          <p:nvPr/>
        </p:nvSpPr>
        <p:spPr>
          <a:xfrm>
            <a:off x="6967728" y="2397391"/>
            <a:ext cx="46451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3C465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100% completion  ·  up to 500 units/year rated</a:t>
            </a:r>
            <a:endParaRPr lang="en-US" sz="720" dirty="0"/>
          </a:p>
        </p:txBody>
      </p:sp>
      <p:sp>
        <p:nvSpPr>
          <p:cNvPr id="55" name="Text 52"/>
          <p:cNvSpPr/>
          <p:nvPr/>
        </p:nvSpPr>
        <p:spPr>
          <a:xfrm>
            <a:off x="722376" y="2608534"/>
            <a:ext cx="277977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03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Electronic fuzes</a:t>
            </a:r>
            <a:endParaRPr lang="en-US" sz="800" dirty="0"/>
          </a:p>
        </p:txBody>
      </p:sp>
      <p:sp>
        <p:nvSpPr>
          <p:cNvPr id="56" name="Text 53"/>
          <p:cNvSpPr/>
          <p:nvPr/>
        </p:nvSpPr>
        <p:spPr>
          <a:xfrm>
            <a:off x="722376" y="2713690"/>
            <a:ext cx="2779776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" dirty="0">
                <a:solidFill>
                  <a:srgbClr val="8C93A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Precise detonation for air-to-ground</a:t>
            </a:r>
            <a:endParaRPr lang="en-US" sz="660" dirty="0"/>
          </a:p>
        </p:txBody>
      </p:sp>
      <p:sp>
        <p:nvSpPr>
          <p:cNvPr id="57" name="Shape 54"/>
          <p:cNvSpPr/>
          <p:nvPr/>
        </p:nvSpPr>
        <p:spPr>
          <a:xfrm>
            <a:off x="3639312" y="2626822"/>
            <a:ext cx="566928" cy="160020"/>
          </a:xfrm>
          <a:prstGeom prst="rect">
            <a:avLst/>
          </a:prstGeom>
          <a:solidFill>
            <a:srgbClr val="DDE3F5"/>
          </a:solidFill>
          <a:ln/>
        </p:spPr>
      </p:sp>
      <p:sp>
        <p:nvSpPr>
          <p:cNvPr id="58" name="Shape 55"/>
          <p:cNvSpPr/>
          <p:nvPr/>
        </p:nvSpPr>
        <p:spPr>
          <a:xfrm>
            <a:off x="4251960" y="2626822"/>
            <a:ext cx="566928" cy="160020"/>
          </a:xfrm>
          <a:prstGeom prst="rect">
            <a:avLst/>
          </a:prstGeom>
          <a:solidFill>
            <a:srgbClr val="B9C4EC"/>
          </a:solidFill>
          <a:ln/>
        </p:spPr>
      </p:sp>
      <p:sp>
        <p:nvSpPr>
          <p:cNvPr id="59" name="Shape 56"/>
          <p:cNvSpPr/>
          <p:nvPr/>
        </p:nvSpPr>
        <p:spPr>
          <a:xfrm>
            <a:off x="4864608" y="2626822"/>
            <a:ext cx="566928" cy="160020"/>
          </a:xfrm>
          <a:prstGeom prst="rect">
            <a:avLst/>
          </a:prstGeom>
          <a:solidFill>
            <a:srgbClr val="8B9CDD"/>
          </a:solidFill>
          <a:ln/>
        </p:spPr>
      </p:sp>
      <p:sp>
        <p:nvSpPr>
          <p:cNvPr id="60" name="Shape 57"/>
          <p:cNvSpPr/>
          <p:nvPr/>
        </p:nvSpPr>
        <p:spPr>
          <a:xfrm>
            <a:off x="5477256" y="2626822"/>
            <a:ext cx="566928" cy="160020"/>
          </a:xfrm>
          <a:prstGeom prst="rect">
            <a:avLst/>
          </a:prstGeom>
          <a:solidFill>
            <a:srgbClr val="4E66C4"/>
          </a:solidFill>
          <a:ln/>
        </p:spPr>
      </p:sp>
      <p:sp>
        <p:nvSpPr>
          <p:cNvPr id="61" name="Shape 58"/>
          <p:cNvSpPr/>
          <p:nvPr/>
        </p:nvSpPr>
        <p:spPr>
          <a:xfrm>
            <a:off x="6089904" y="2626822"/>
            <a:ext cx="566928" cy="160020"/>
          </a:xfrm>
          <a:prstGeom prst="rect">
            <a:avLst/>
          </a:prstGeom>
          <a:solidFill>
            <a:srgbClr val="F0F2F7"/>
          </a:solidFill>
          <a:ln/>
        </p:spPr>
      </p:sp>
      <p:sp>
        <p:nvSpPr>
          <p:cNvPr id="62" name="Text 59"/>
          <p:cNvSpPr/>
          <p:nvPr/>
        </p:nvSpPr>
        <p:spPr>
          <a:xfrm>
            <a:off x="5477256" y="2626822"/>
            <a:ext cx="566928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●</a:t>
            </a:r>
            <a:endParaRPr lang="en-US" sz="600" dirty="0"/>
          </a:p>
        </p:txBody>
      </p:sp>
      <p:sp>
        <p:nvSpPr>
          <p:cNvPr id="63" name="Text 60"/>
          <p:cNvSpPr/>
          <p:nvPr/>
        </p:nvSpPr>
        <p:spPr>
          <a:xfrm>
            <a:off x="6967728" y="2617678"/>
            <a:ext cx="46451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3C465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100% completion  ·  30k+ units/year rated</a:t>
            </a:r>
            <a:endParaRPr lang="en-US" sz="720" dirty="0"/>
          </a:p>
        </p:txBody>
      </p:sp>
      <p:sp>
        <p:nvSpPr>
          <p:cNvPr id="64" name="Text 61"/>
          <p:cNvSpPr/>
          <p:nvPr/>
        </p:nvSpPr>
        <p:spPr>
          <a:xfrm>
            <a:off x="722376" y="2828821"/>
            <a:ext cx="277977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03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Rocket launcher pods 7 &amp; 19</a:t>
            </a:r>
            <a:endParaRPr lang="en-US" sz="800" dirty="0"/>
          </a:p>
        </p:txBody>
      </p:sp>
      <p:sp>
        <p:nvSpPr>
          <p:cNvPr id="65" name="Text 62"/>
          <p:cNvSpPr/>
          <p:nvPr/>
        </p:nvSpPr>
        <p:spPr>
          <a:xfrm>
            <a:off x="722376" y="2933977"/>
            <a:ext cx="2779776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" dirty="0">
                <a:solidFill>
                  <a:srgbClr val="8C93A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Rotary and fixed-wing compatible</a:t>
            </a:r>
            <a:endParaRPr lang="en-US" sz="660" dirty="0"/>
          </a:p>
        </p:txBody>
      </p:sp>
      <p:sp>
        <p:nvSpPr>
          <p:cNvPr id="66" name="Shape 63"/>
          <p:cNvSpPr/>
          <p:nvPr/>
        </p:nvSpPr>
        <p:spPr>
          <a:xfrm>
            <a:off x="3639312" y="2847109"/>
            <a:ext cx="566928" cy="160020"/>
          </a:xfrm>
          <a:prstGeom prst="rect">
            <a:avLst/>
          </a:prstGeom>
          <a:solidFill>
            <a:srgbClr val="DDE3F5"/>
          </a:solidFill>
          <a:ln/>
        </p:spPr>
      </p:sp>
      <p:sp>
        <p:nvSpPr>
          <p:cNvPr id="67" name="Shape 64"/>
          <p:cNvSpPr/>
          <p:nvPr/>
        </p:nvSpPr>
        <p:spPr>
          <a:xfrm>
            <a:off x="4251960" y="2847109"/>
            <a:ext cx="566928" cy="160020"/>
          </a:xfrm>
          <a:prstGeom prst="rect">
            <a:avLst/>
          </a:prstGeom>
          <a:solidFill>
            <a:srgbClr val="B9C4EC"/>
          </a:solidFill>
          <a:ln/>
        </p:spPr>
      </p:sp>
      <p:sp>
        <p:nvSpPr>
          <p:cNvPr id="68" name="Shape 65"/>
          <p:cNvSpPr/>
          <p:nvPr/>
        </p:nvSpPr>
        <p:spPr>
          <a:xfrm>
            <a:off x="4864608" y="2847109"/>
            <a:ext cx="566928" cy="160020"/>
          </a:xfrm>
          <a:prstGeom prst="rect">
            <a:avLst/>
          </a:prstGeom>
          <a:solidFill>
            <a:srgbClr val="8B9CDD"/>
          </a:solidFill>
          <a:ln/>
        </p:spPr>
      </p:sp>
      <p:sp>
        <p:nvSpPr>
          <p:cNvPr id="69" name="Shape 66"/>
          <p:cNvSpPr/>
          <p:nvPr/>
        </p:nvSpPr>
        <p:spPr>
          <a:xfrm>
            <a:off x="5477256" y="2847109"/>
            <a:ext cx="566928" cy="160020"/>
          </a:xfrm>
          <a:prstGeom prst="rect">
            <a:avLst/>
          </a:prstGeom>
          <a:solidFill>
            <a:srgbClr val="4E66C4"/>
          </a:solidFill>
          <a:ln/>
        </p:spPr>
      </p:sp>
      <p:sp>
        <p:nvSpPr>
          <p:cNvPr id="70" name="Shape 67"/>
          <p:cNvSpPr/>
          <p:nvPr/>
        </p:nvSpPr>
        <p:spPr>
          <a:xfrm>
            <a:off x="6089904" y="2847109"/>
            <a:ext cx="566928" cy="160020"/>
          </a:xfrm>
          <a:prstGeom prst="rect">
            <a:avLst/>
          </a:prstGeom>
          <a:solidFill>
            <a:srgbClr val="F0F2F7"/>
          </a:solidFill>
          <a:ln/>
        </p:spPr>
      </p:sp>
      <p:sp>
        <p:nvSpPr>
          <p:cNvPr id="71" name="Text 68"/>
          <p:cNvSpPr/>
          <p:nvPr/>
        </p:nvSpPr>
        <p:spPr>
          <a:xfrm>
            <a:off x="5477256" y="2847109"/>
            <a:ext cx="566928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●</a:t>
            </a:r>
            <a:endParaRPr lang="en-US" sz="600" dirty="0"/>
          </a:p>
        </p:txBody>
      </p:sp>
      <p:sp>
        <p:nvSpPr>
          <p:cNvPr id="72" name="Text 69"/>
          <p:cNvSpPr/>
          <p:nvPr/>
        </p:nvSpPr>
        <p:spPr>
          <a:xfrm>
            <a:off x="6967728" y="2837965"/>
            <a:ext cx="46451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3C465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100% completion  ·  200 units/year rated</a:t>
            </a:r>
            <a:endParaRPr lang="en-US" sz="720" dirty="0"/>
          </a:p>
        </p:txBody>
      </p:sp>
      <p:sp>
        <p:nvSpPr>
          <p:cNvPr id="73" name="Text 70"/>
          <p:cNvSpPr/>
          <p:nvPr/>
        </p:nvSpPr>
        <p:spPr>
          <a:xfrm>
            <a:off x="722376" y="3049108"/>
            <a:ext cx="277977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03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Dagger</a:t>
            </a:r>
            <a:endParaRPr lang="en-US" sz="800" dirty="0"/>
          </a:p>
        </p:txBody>
      </p:sp>
      <p:sp>
        <p:nvSpPr>
          <p:cNvPr id="74" name="Text 71"/>
          <p:cNvSpPr/>
          <p:nvPr/>
        </p:nvSpPr>
        <p:spPr>
          <a:xfrm>
            <a:off x="722376" y="3154264"/>
            <a:ext cx="2779776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" dirty="0">
                <a:solidFill>
                  <a:srgbClr val="8C93A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Guided bomb system, three models</a:t>
            </a:r>
            <a:endParaRPr lang="en-US" sz="660" dirty="0"/>
          </a:p>
        </p:txBody>
      </p:sp>
      <p:sp>
        <p:nvSpPr>
          <p:cNvPr id="75" name="Shape 72"/>
          <p:cNvSpPr/>
          <p:nvPr/>
        </p:nvSpPr>
        <p:spPr>
          <a:xfrm>
            <a:off x="3639312" y="3067396"/>
            <a:ext cx="566928" cy="160020"/>
          </a:xfrm>
          <a:prstGeom prst="rect">
            <a:avLst/>
          </a:prstGeom>
          <a:solidFill>
            <a:srgbClr val="DDE3F5"/>
          </a:solidFill>
          <a:ln/>
        </p:spPr>
      </p:sp>
      <p:sp>
        <p:nvSpPr>
          <p:cNvPr id="76" name="Shape 73"/>
          <p:cNvSpPr/>
          <p:nvPr/>
        </p:nvSpPr>
        <p:spPr>
          <a:xfrm>
            <a:off x="4251960" y="3067396"/>
            <a:ext cx="566928" cy="160020"/>
          </a:xfrm>
          <a:prstGeom prst="rect">
            <a:avLst/>
          </a:prstGeom>
          <a:solidFill>
            <a:srgbClr val="B9C4EC"/>
          </a:solidFill>
          <a:ln/>
        </p:spPr>
      </p:sp>
      <p:sp>
        <p:nvSpPr>
          <p:cNvPr id="77" name="Shape 74"/>
          <p:cNvSpPr/>
          <p:nvPr/>
        </p:nvSpPr>
        <p:spPr>
          <a:xfrm>
            <a:off x="4864608" y="3067396"/>
            <a:ext cx="566928" cy="160020"/>
          </a:xfrm>
          <a:prstGeom prst="rect">
            <a:avLst/>
          </a:prstGeom>
          <a:solidFill>
            <a:srgbClr val="8B9CDD"/>
          </a:solidFill>
          <a:ln/>
        </p:spPr>
      </p:sp>
      <p:sp>
        <p:nvSpPr>
          <p:cNvPr id="78" name="Shape 75"/>
          <p:cNvSpPr/>
          <p:nvPr/>
        </p:nvSpPr>
        <p:spPr>
          <a:xfrm>
            <a:off x="5477256" y="3067396"/>
            <a:ext cx="566928" cy="160020"/>
          </a:xfrm>
          <a:prstGeom prst="rect">
            <a:avLst/>
          </a:prstGeom>
          <a:solidFill>
            <a:srgbClr val="F0F2F7"/>
          </a:solidFill>
          <a:ln/>
        </p:spPr>
      </p:sp>
      <p:sp>
        <p:nvSpPr>
          <p:cNvPr id="79" name="Shape 76"/>
          <p:cNvSpPr/>
          <p:nvPr/>
        </p:nvSpPr>
        <p:spPr>
          <a:xfrm>
            <a:off x="6089904" y="3067396"/>
            <a:ext cx="566928" cy="160020"/>
          </a:xfrm>
          <a:prstGeom prst="rect">
            <a:avLst/>
          </a:prstGeom>
          <a:solidFill>
            <a:srgbClr val="F0F2F7"/>
          </a:solidFill>
          <a:ln/>
        </p:spPr>
      </p:sp>
      <p:sp>
        <p:nvSpPr>
          <p:cNvPr id="80" name="Text 77"/>
          <p:cNvSpPr/>
          <p:nvPr/>
        </p:nvSpPr>
        <p:spPr>
          <a:xfrm>
            <a:off x="4864608" y="3067396"/>
            <a:ext cx="566928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●</a:t>
            </a:r>
            <a:endParaRPr lang="en-US" sz="600" dirty="0"/>
          </a:p>
        </p:txBody>
      </p:sp>
      <p:sp>
        <p:nvSpPr>
          <p:cNvPr id="81" name="Text 78"/>
          <p:cNvSpPr/>
          <p:nvPr/>
        </p:nvSpPr>
        <p:spPr>
          <a:xfrm>
            <a:off x="6967728" y="3058252"/>
            <a:ext cx="46451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3C465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Capacity rated per model: 840 / 500 / 120 units per year</a:t>
            </a:r>
            <a:endParaRPr lang="en-US" sz="720" dirty="0"/>
          </a:p>
        </p:txBody>
      </p:sp>
      <p:sp>
        <p:nvSpPr>
          <p:cNvPr id="82" name="Shape 79"/>
          <p:cNvSpPr/>
          <p:nvPr/>
        </p:nvSpPr>
        <p:spPr>
          <a:xfrm>
            <a:off x="576072" y="3360836"/>
            <a:ext cx="73152" cy="118872"/>
          </a:xfrm>
          <a:prstGeom prst="rect">
            <a:avLst/>
          </a:prstGeom>
          <a:solidFill>
            <a:srgbClr val="6FA82F"/>
          </a:solidFill>
          <a:ln/>
        </p:spPr>
      </p:sp>
      <p:sp>
        <p:nvSpPr>
          <p:cNvPr id="83" name="Text 80"/>
          <p:cNvSpPr/>
          <p:nvPr/>
        </p:nvSpPr>
        <p:spPr>
          <a:xfrm>
            <a:off x="722376" y="3305972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FA8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Munitions</a:t>
            </a:r>
            <a:endParaRPr lang="en-US" sz="950" dirty="0"/>
          </a:p>
        </p:txBody>
      </p:sp>
      <p:sp>
        <p:nvSpPr>
          <p:cNvPr id="84" name="Shape 81"/>
          <p:cNvSpPr/>
          <p:nvPr/>
        </p:nvSpPr>
        <p:spPr>
          <a:xfrm>
            <a:off x="576072" y="3479708"/>
            <a:ext cx="11036808" cy="7315"/>
          </a:xfrm>
          <a:prstGeom prst="rect">
            <a:avLst/>
          </a:prstGeom>
          <a:solidFill>
            <a:srgbClr val="E6E8EE"/>
          </a:solidFill>
          <a:ln/>
        </p:spPr>
      </p:sp>
      <p:sp>
        <p:nvSpPr>
          <p:cNvPr id="85" name="Text 82"/>
          <p:cNvSpPr/>
          <p:nvPr/>
        </p:nvSpPr>
        <p:spPr>
          <a:xfrm>
            <a:off x="722376" y="3488852"/>
            <a:ext cx="277977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03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MK line filling</a:t>
            </a:r>
            <a:endParaRPr lang="en-US" sz="800" dirty="0"/>
          </a:p>
        </p:txBody>
      </p:sp>
      <p:sp>
        <p:nvSpPr>
          <p:cNvPr id="86" name="Text 83"/>
          <p:cNvSpPr/>
          <p:nvPr/>
        </p:nvSpPr>
        <p:spPr>
          <a:xfrm>
            <a:off x="722376" y="3594008"/>
            <a:ext cx="2779776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" dirty="0">
                <a:solidFill>
                  <a:srgbClr val="8C93A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MK-81 / 82 / 83 / 84, Tritonal and Comp B</a:t>
            </a:r>
            <a:endParaRPr lang="en-US" sz="660" dirty="0"/>
          </a:p>
        </p:txBody>
      </p:sp>
      <p:sp>
        <p:nvSpPr>
          <p:cNvPr id="87" name="Shape 84"/>
          <p:cNvSpPr/>
          <p:nvPr/>
        </p:nvSpPr>
        <p:spPr>
          <a:xfrm>
            <a:off x="3639312" y="3507140"/>
            <a:ext cx="566928" cy="160020"/>
          </a:xfrm>
          <a:prstGeom prst="rect">
            <a:avLst/>
          </a:prstGeom>
          <a:solidFill>
            <a:srgbClr val="DDE3F5"/>
          </a:solidFill>
          <a:ln/>
        </p:spPr>
      </p:sp>
      <p:sp>
        <p:nvSpPr>
          <p:cNvPr id="88" name="Shape 85"/>
          <p:cNvSpPr/>
          <p:nvPr/>
        </p:nvSpPr>
        <p:spPr>
          <a:xfrm>
            <a:off x="4251960" y="3507140"/>
            <a:ext cx="566928" cy="160020"/>
          </a:xfrm>
          <a:prstGeom prst="rect">
            <a:avLst/>
          </a:prstGeom>
          <a:solidFill>
            <a:srgbClr val="B9C4EC"/>
          </a:solidFill>
          <a:ln/>
        </p:spPr>
      </p:sp>
      <p:sp>
        <p:nvSpPr>
          <p:cNvPr id="89" name="Shape 86"/>
          <p:cNvSpPr/>
          <p:nvPr/>
        </p:nvSpPr>
        <p:spPr>
          <a:xfrm>
            <a:off x="4864608" y="3507140"/>
            <a:ext cx="566928" cy="160020"/>
          </a:xfrm>
          <a:prstGeom prst="rect">
            <a:avLst/>
          </a:prstGeom>
          <a:solidFill>
            <a:srgbClr val="8B9CDD"/>
          </a:solidFill>
          <a:ln/>
        </p:spPr>
      </p:sp>
      <p:sp>
        <p:nvSpPr>
          <p:cNvPr id="90" name="Shape 87"/>
          <p:cNvSpPr/>
          <p:nvPr/>
        </p:nvSpPr>
        <p:spPr>
          <a:xfrm>
            <a:off x="5477256" y="3507140"/>
            <a:ext cx="566928" cy="160020"/>
          </a:xfrm>
          <a:prstGeom prst="rect">
            <a:avLst/>
          </a:prstGeom>
          <a:solidFill>
            <a:srgbClr val="4E66C4"/>
          </a:solidFill>
          <a:ln/>
        </p:spPr>
      </p:sp>
      <p:sp>
        <p:nvSpPr>
          <p:cNvPr id="91" name="Shape 88"/>
          <p:cNvSpPr/>
          <p:nvPr/>
        </p:nvSpPr>
        <p:spPr>
          <a:xfrm>
            <a:off x="6089904" y="3507140"/>
            <a:ext cx="566928" cy="160020"/>
          </a:xfrm>
          <a:prstGeom prst="rect">
            <a:avLst/>
          </a:prstGeom>
          <a:solidFill>
            <a:srgbClr val="021B94"/>
          </a:solidFill>
          <a:ln/>
        </p:spPr>
      </p:sp>
      <p:sp>
        <p:nvSpPr>
          <p:cNvPr id="92" name="Text 89"/>
          <p:cNvSpPr/>
          <p:nvPr/>
        </p:nvSpPr>
        <p:spPr>
          <a:xfrm>
            <a:off x="6089904" y="3507140"/>
            <a:ext cx="566928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●</a:t>
            </a:r>
            <a:endParaRPr lang="en-US" sz="600" dirty="0"/>
          </a:p>
        </p:txBody>
      </p:sp>
      <p:sp>
        <p:nvSpPr>
          <p:cNvPr id="93" name="Text 90"/>
          <p:cNvSpPr/>
          <p:nvPr/>
        </p:nvSpPr>
        <p:spPr>
          <a:xfrm>
            <a:off x="6967728" y="3497996"/>
            <a:ext cx="46451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3C465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81k units/year rated  ·  +35k units delivered in 2025</a:t>
            </a:r>
            <a:endParaRPr lang="en-US" sz="720" dirty="0"/>
          </a:p>
        </p:txBody>
      </p:sp>
      <p:sp>
        <p:nvSpPr>
          <p:cNvPr id="94" name="Text 91"/>
          <p:cNvSpPr/>
          <p:nvPr/>
        </p:nvSpPr>
        <p:spPr>
          <a:xfrm>
            <a:off x="722376" y="3709139"/>
            <a:ext cx="277977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03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BLU-109</a:t>
            </a:r>
            <a:endParaRPr lang="en-US" sz="800" dirty="0"/>
          </a:p>
        </p:txBody>
      </p:sp>
      <p:sp>
        <p:nvSpPr>
          <p:cNvPr id="95" name="Text 92"/>
          <p:cNvSpPr/>
          <p:nvPr/>
        </p:nvSpPr>
        <p:spPr>
          <a:xfrm>
            <a:off x="722376" y="3814295"/>
            <a:ext cx="2779776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" dirty="0">
                <a:solidFill>
                  <a:srgbClr val="8C93A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Anti-bunker penetration bomb</a:t>
            </a:r>
            <a:endParaRPr lang="en-US" sz="660" dirty="0"/>
          </a:p>
        </p:txBody>
      </p:sp>
      <p:sp>
        <p:nvSpPr>
          <p:cNvPr id="96" name="Shape 93"/>
          <p:cNvSpPr/>
          <p:nvPr/>
        </p:nvSpPr>
        <p:spPr>
          <a:xfrm>
            <a:off x="3639312" y="3727427"/>
            <a:ext cx="566928" cy="160020"/>
          </a:xfrm>
          <a:prstGeom prst="rect">
            <a:avLst/>
          </a:prstGeom>
          <a:solidFill>
            <a:srgbClr val="DDE3F5"/>
          </a:solidFill>
          <a:ln/>
        </p:spPr>
      </p:sp>
      <p:sp>
        <p:nvSpPr>
          <p:cNvPr id="97" name="Shape 94"/>
          <p:cNvSpPr/>
          <p:nvPr/>
        </p:nvSpPr>
        <p:spPr>
          <a:xfrm>
            <a:off x="4251960" y="3727427"/>
            <a:ext cx="566928" cy="160020"/>
          </a:xfrm>
          <a:prstGeom prst="rect">
            <a:avLst/>
          </a:prstGeom>
          <a:solidFill>
            <a:srgbClr val="B9C4EC"/>
          </a:solidFill>
          <a:ln/>
        </p:spPr>
      </p:sp>
      <p:sp>
        <p:nvSpPr>
          <p:cNvPr id="98" name="Shape 95"/>
          <p:cNvSpPr/>
          <p:nvPr/>
        </p:nvSpPr>
        <p:spPr>
          <a:xfrm>
            <a:off x="4864608" y="3727427"/>
            <a:ext cx="566928" cy="160020"/>
          </a:xfrm>
          <a:prstGeom prst="rect">
            <a:avLst/>
          </a:prstGeom>
          <a:solidFill>
            <a:srgbClr val="8B9CDD"/>
          </a:solidFill>
          <a:ln/>
        </p:spPr>
      </p:sp>
      <p:sp>
        <p:nvSpPr>
          <p:cNvPr id="99" name="Shape 96"/>
          <p:cNvSpPr/>
          <p:nvPr/>
        </p:nvSpPr>
        <p:spPr>
          <a:xfrm>
            <a:off x="5477256" y="3727427"/>
            <a:ext cx="566928" cy="160020"/>
          </a:xfrm>
          <a:prstGeom prst="rect">
            <a:avLst/>
          </a:prstGeom>
          <a:solidFill>
            <a:srgbClr val="4E66C4"/>
          </a:solidFill>
          <a:ln/>
        </p:spPr>
      </p:sp>
      <p:sp>
        <p:nvSpPr>
          <p:cNvPr id="100" name="Shape 97"/>
          <p:cNvSpPr/>
          <p:nvPr/>
        </p:nvSpPr>
        <p:spPr>
          <a:xfrm>
            <a:off x="6089904" y="3727427"/>
            <a:ext cx="566928" cy="160020"/>
          </a:xfrm>
          <a:prstGeom prst="rect">
            <a:avLst/>
          </a:prstGeom>
          <a:solidFill>
            <a:srgbClr val="021B94"/>
          </a:solidFill>
          <a:ln/>
        </p:spPr>
      </p:sp>
      <p:sp>
        <p:nvSpPr>
          <p:cNvPr id="101" name="Text 98"/>
          <p:cNvSpPr/>
          <p:nvPr/>
        </p:nvSpPr>
        <p:spPr>
          <a:xfrm>
            <a:off x="6089904" y="3727427"/>
            <a:ext cx="566928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●</a:t>
            </a:r>
            <a:endParaRPr lang="en-US" sz="600" dirty="0"/>
          </a:p>
        </p:txBody>
      </p:sp>
      <p:sp>
        <p:nvSpPr>
          <p:cNvPr id="102" name="Text 99"/>
          <p:cNvSpPr/>
          <p:nvPr/>
        </p:nvSpPr>
        <p:spPr>
          <a:xfrm>
            <a:off x="6967728" y="3718283"/>
            <a:ext cx="46451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3C465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Combat proven in 2026  ·  new contracts signed in 2025</a:t>
            </a:r>
            <a:endParaRPr lang="en-US" sz="720" dirty="0"/>
          </a:p>
        </p:txBody>
      </p:sp>
      <p:sp>
        <p:nvSpPr>
          <p:cNvPr id="103" name="Text 100"/>
          <p:cNvSpPr/>
          <p:nvPr/>
        </p:nvSpPr>
        <p:spPr>
          <a:xfrm>
            <a:off x="722376" y="3929426"/>
            <a:ext cx="277977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03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PBX 109 filling</a:t>
            </a:r>
            <a:endParaRPr lang="en-US" sz="800" dirty="0"/>
          </a:p>
        </p:txBody>
      </p:sp>
      <p:sp>
        <p:nvSpPr>
          <p:cNvPr id="104" name="Text 101"/>
          <p:cNvSpPr/>
          <p:nvPr/>
        </p:nvSpPr>
        <p:spPr>
          <a:xfrm>
            <a:off x="722376" y="4034582"/>
            <a:ext cx="2779776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" dirty="0">
                <a:solidFill>
                  <a:srgbClr val="8C93A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MK series filled with PBX 109</a:t>
            </a:r>
            <a:endParaRPr lang="en-US" sz="660" dirty="0"/>
          </a:p>
        </p:txBody>
      </p:sp>
      <p:sp>
        <p:nvSpPr>
          <p:cNvPr id="105" name="Shape 102"/>
          <p:cNvSpPr/>
          <p:nvPr/>
        </p:nvSpPr>
        <p:spPr>
          <a:xfrm>
            <a:off x="3639312" y="3947714"/>
            <a:ext cx="566928" cy="160020"/>
          </a:xfrm>
          <a:prstGeom prst="rect">
            <a:avLst/>
          </a:prstGeom>
          <a:solidFill>
            <a:srgbClr val="DDE3F5"/>
          </a:solidFill>
          <a:ln/>
        </p:spPr>
      </p:sp>
      <p:sp>
        <p:nvSpPr>
          <p:cNvPr id="106" name="Shape 103"/>
          <p:cNvSpPr/>
          <p:nvPr/>
        </p:nvSpPr>
        <p:spPr>
          <a:xfrm>
            <a:off x="4251960" y="3947714"/>
            <a:ext cx="566928" cy="160020"/>
          </a:xfrm>
          <a:prstGeom prst="rect">
            <a:avLst/>
          </a:prstGeom>
          <a:solidFill>
            <a:srgbClr val="B9C4EC"/>
          </a:solidFill>
          <a:ln/>
        </p:spPr>
      </p:sp>
      <p:sp>
        <p:nvSpPr>
          <p:cNvPr id="107" name="Shape 104"/>
          <p:cNvSpPr/>
          <p:nvPr/>
        </p:nvSpPr>
        <p:spPr>
          <a:xfrm>
            <a:off x="4864608" y="3947714"/>
            <a:ext cx="566928" cy="160020"/>
          </a:xfrm>
          <a:prstGeom prst="rect">
            <a:avLst/>
          </a:prstGeom>
          <a:solidFill>
            <a:srgbClr val="8B9CDD"/>
          </a:solidFill>
          <a:ln/>
        </p:spPr>
      </p:sp>
      <p:sp>
        <p:nvSpPr>
          <p:cNvPr id="108" name="Shape 105"/>
          <p:cNvSpPr/>
          <p:nvPr/>
        </p:nvSpPr>
        <p:spPr>
          <a:xfrm>
            <a:off x="5477256" y="3947714"/>
            <a:ext cx="566928" cy="160020"/>
          </a:xfrm>
          <a:prstGeom prst="rect">
            <a:avLst/>
          </a:prstGeom>
          <a:solidFill>
            <a:srgbClr val="F0F2F7"/>
          </a:solidFill>
          <a:ln/>
        </p:spPr>
      </p:sp>
      <p:sp>
        <p:nvSpPr>
          <p:cNvPr id="109" name="Shape 106"/>
          <p:cNvSpPr/>
          <p:nvPr/>
        </p:nvSpPr>
        <p:spPr>
          <a:xfrm>
            <a:off x="6089904" y="3947714"/>
            <a:ext cx="566928" cy="160020"/>
          </a:xfrm>
          <a:prstGeom prst="rect">
            <a:avLst/>
          </a:prstGeom>
          <a:solidFill>
            <a:srgbClr val="F0F2F7"/>
          </a:solidFill>
          <a:ln/>
        </p:spPr>
      </p:sp>
      <p:sp>
        <p:nvSpPr>
          <p:cNvPr id="110" name="Text 107"/>
          <p:cNvSpPr/>
          <p:nvPr/>
        </p:nvSpPr>
        <p:spPr>
          <a:xfrm>
            <a:off x="4864608" y="3947714"/>
            <a:ext cx="566928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●</a:t>
            </a:r>
            <a:endParaRPr lang="en-US" sz="600" dirty="0"/>
          </a:p>
        </p:txBody>
      </p:sp>
      <p:sp>
        <p:nvSpPr>
          <p:cNvPr id="111" name="Text 108"/>
          <p:cNvSpPr/>
          <p:nvPr/>
        </p:nvSpPr>
        <p:spPr>
          <a:xfrm>
            <a:off x="6967728" y="3938570"/>
            <a:ext cx="46451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3C465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95% completion  ·  23k units/year rated</a:t>
            </a:r>
            <a:endParaRPr lang="en-US" sz="720" dirty="0"/>
          </a:p>
        </p:txBody>
      </p:sp>
      <p:sp>
        <p:nvSpPr>
          <p:cNvPr id="112" name="Text 109"/>
          <p:cNvSpPr/>
          <p:nvPr/>
        </p:nvSpPr>
        <p:spPr>
          <a:xfrm>
            <a:off x="722376" y="4149713"/>
            <a:ext cx="277977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03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Hurricane</a:t>
            </a:r>
            <a:endParaRPr lang="en-US" sz="800" dirty="0"/>
          </a:p>
        </p:txBody>
      </p:sp>
      <p:sp>
        <p:nvSpPr>
          <p:cNvPr id="113" name="Text 110"/>
          <p:cNvSpPr/>
          <p:nvPr/>
        </p:nvSpPr>
        <p:spPr>
          <a:xfrm>
            <a:off x="722376" y="4254869"/>
            <a:ext cx="2779776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" dirty="0">
                <a:solidFill>
                  <a:srgbClr val="8C93A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High-blast heavy ammunition</a:t>
            </a:r>
            <a:endParaRPr lang="en-US" sz="660" dirty="0"/>
          </a:p>
        </p:txBody>
      </p:sp>
      <p:sp>
        <p:nvSpPr>
          <p:cNvPr id="114" name="Shape 111"/>
          <p:cNvSpPr/>
          <p:nvPr/>
        </p:nvSpPr>
        <p:spPr>
          <a:xfrm>
            <a:off x="3639312" y="4168001"/>
            <a:ext cx="566928" cy="160020"/>
          </a:xfrm>
          <a:prstGeom prst="rect">
            <a:avLst/>
          </a:prstGeom>
          <a:solidFill>
            <a:srgbClr val="DDE3F5"/>
          </a:solidFill>
          <a:ln/>
        </p:spPr>
      </p:sp>
      <p:sp>
        <p:nvSpPr>
          <p:cNvPr id="115" name="Shape 112"/>
          <p:cNvSpPr/>
          <p:nvPr/>
        </p:nvSpPr>
        <p:spPr>
          <a:xfrm>
            <a:off x="4251960" y="4168001"/>
            <a:ext cx="566928" cy="160020"/>
          </a:xfrm>
          <a:prstGeom prst="rect">
            <a:avLst/>
          </a:prstGeom>
          <a:solidFill>
            <a:srgbClr val="B9C4EC"/>
          </a:solidFill>
          <a:ln/>
        </p:spPr>
      </p:sp>
      <p:sp>
        <p:nvSpPr>
          <p:cNvPr id="116" name="Shape 113"/>
          <p:cNvSpPr/>
          <p:nvPr/>
        </p:nvSpPr>
        <p:spPr>
          <a:xfrm>
            <a:off x="4864608" y="4168001"/>
            <a:ext cx="566928" cy="160020"/>
          </a:xfrm>
          <a:prstGeom prst="rect">
            <a:avLst/>
          </a:prstGeom>
          <a:solidFill>
            <a:srgbClr val="8B9CDD"/>
          </a:solidFill>
          <a:ln/>
        </p:spPr>
      </p:sp>
      <p:sp>
        <p:nvSpPr>
          <p:cNvPr id="117" name="Shape 114"/>
          <p:cNvSpPr/>
          <p:nvPr/>
        </p:nvSpPr>
        <p:spPr>
          <a:xfrm>
            <a:off x="5477256" y="4168001"/>
            <a:ext cx="566928" cy="160020"/>
          </a:xfrm>
          <a:prstGeom prst="rect">
            <a:avLst/>
          </a:prstGeom>
          <a:solidFill>
            <a:srgbClr val="F0F2F7"/>
          </a:solidFill>
          <a:ln/>
        </p:spPr>
      </p:sp>
      <p:sp>
        <p:nvSpPr>
          <p:cNvPr id="118" name="Shape 115"/>
          <p:cNvSpPr/>
          <p:nvPr/>
        </p:nvSpPr>
        <p:spPr>
          <a:xfrm>
            <a:off x="6089904" y="4168001"/>
            <a:ext cx="566928" cy="160020"/>
          </a:xfrm>
          <a:prstGeom prst="rect">
            <a:avLst/>
          </a:prstGeom>
          <a:solidFill>
            <a:srgbClr val="F0F2F7"/>
          </a:solidFill>
          <a:ln/>
        </p:spPr>
      </p:sp>
      <p:sp>
        <p:nvSpPr>
          <p:cNvPr id="119" name="Text 116"/>
          <p:cNvSpPr/>
          <p:nvPr/>
        </p:nvSpPr>
        <p:spPr>
          <a:xfrm>
            <a:off x="4864608" y="4168001"/>
            <a:ext cx="566928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●</a:t>
            </a:r>
            <a:endParaRPr lang="en-US" sz="600" dirty="0"/>
          </a:p>
        </p:txBody>
      </p:sp>
      <p:sp>
        <p:nvSpPr>
          <p:cNvPr id="120" name="Text 117"/>
          <p:cNvSpPr/>
          <p:nvPr/>
        </p:nvSpPr>
        <p:spPr>
          <a:xfrm>
            <a:off x="6967728" y="4158857"/>
            <a:ext cx="46451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3C465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95% completion  ·  up to 10 units/year rated</a:t>
            </a:r>
            <a:endParaRPr lang="en-US" sz="720" dirty="0"/>
          </a:p>
        </p:txBody>
      </p:sp>
      <p:sp>
        <p:nvSpPr>
          <p:cNvPr id="121" name="Text 118"/>
          <p:cNvSpPr/>
          <p:nvPr/>
        </p:nvSpPr>
        <p:spPr>
          <a:xfrm>
            <a:off x="722376" y="4370001"/>
            <a:ext cx="277977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03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155 mm M107 / ERFBBB</a:t>
            </a:r>
            <a:endParaRPr lang="en-US" sz="800" dirty="0"/>
          </a:p>
        </p:txBody>
      </p:sp>
      <p:sp>
        <p:nvSpPr>
          <p:cNvPr id="122" name="Text 119"/>
          <p:cNvSpPr/>
          <p:nvPr/>
        </p:nvSpPr>
        <p:spPr>
          <a:xfrm>
            <a:off x="722376" y="4475157"/>
            <a:ext cx="2779776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" dirty="0">
                <a:solidFill>
                  <a:srgbClr val="8C93A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NATO-standard artillery projectiles</a:t>
            </a:r>
            <a:endParaRPr lang="en-US" sz="660" dirty="0"/>
          </a:p>
        </p:txBody>
      </p:sp>
      <p:sp>
        <p:nvSpPr>
          <p:cNvPr id="123" name="Shape 120"/>
          <p:cNvSpPr/>
          <p:nvPr/>
        </p:nvSpPr>
        <p:spPr>
          <a:xfrm>
            <a:off x="3639312" y="4388289"/>
            <a:ext cx="566928" cy="160020"/>
          </a:xfrm>
          <a:prstGeom prst="rect">
            <a:avLst/>
          </a:prstGeom>
          <a:solidFill>
            <a:srgbClr val="DDE3F5"/>
          </a:solidFill>
          <a:ln/>
        </p:spPr>
      </p:sp>
      <p:sp>
        <p:nvSpPr>
          <p:cNvPr id="124" name="Shape 121"/>
          <p:cNvSpPr/>
          <p:nvPr/>
        </p:nvSpPr>
        <p:spPr>
          <a:xfrm>
            <a:off x="4251960" y="4388289"/>
            <a:ext cx="566928" cy="160020"/>
          </a:xfrm>
          <a:prstGeom prst="rect">
            <a:avLst/>
          </a:prstGeom>
          <a:solidFill>
            <a:srgbClr val="B9C4EC"/>
          </a:solidFill>
          <a:ln/>
        </p:spPr>
      </p:sp>
      <p:sp>
        <p:nvSpPr>
          <p:cNvPr id="125" name="Shape 122"/>
          <p:cNvSpPr/>
          <p:nvPr/>
        </p:nvSpPr>
        <p:spPr>
          <a:xfrm>
            <a:off x="4864608" y="4388289"/>
            <a:ext cx="566928" cy="160020"/>
          </a:xfrm>
          <a:prstGeom prst="rect">
            <a:avLst/>
          </a:prstGeom>
          <a:solidFill>
            <a:srgbClr val="8B9CDD"/>
          </a:solidFill>
          <a:ln/>
        </p:spPr>
      </p:sp>
      <p:sp>
        <p:nvSpPr>
          <p:cNvPr id="126" name="Shape 123"/>
          <p:cNvSpPr/>
          <p:nvPr/>
        </p:nvSpPr>
        <p:spPr>
          <a:xfrm>
            <a:off x="5477256" y="4388289"/>
            <a:ext cx="566928" cy="160020"/>
          </a:xfrm>
          <a:prstGeom prst="rect">
            <a:avLst/>
          </a:prstGeom>
          <a:solidFill>
            <a:srgbClr val="F0F2F7"/>
          </a:solidFill>
          <a:ln/>
        </p:spPr>
      </p:sp>
      <p:sp>
        <p:nvSpPr>
          <p:cNvPr id="127" name="Shape 124"/>
          <p:cNvSpPr/>
          <p:nvPr/>
        </p:nvSpPr>
        <p:spPr>
          <a:xfrm>
            <a:off x="6089904" y="4388289"/>
            <a:ext cx="566928" cy="160020"/>
          </a:xfrm>
          <a:prstGeom prst="rect">
            <a:avLst/>
          </a:prstGeom>
          <a:solidFill>
            <a:srgbClr val="F0F2F7"/>
          </a:solidFill>
          <a:ln/>
        </p:spPr>
      </p:sp>
      <p:sp>
        <p:nvSpPr>
          <p:cNvPr id="128" name="Text 125"/>
          <p:cNvSpPr/>
          <p:nvPr/>
        </p:nvSpPr>
        <p:spPr>
          <a:xfrm>
            <a:off x="4864608" y="4388289"/>
            <a:ext cx="566928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●</a:t>
            </a:r>
            <a:endParaRPr lang="en-US" sz="600" dirty="0"/>
          </a:p>
        </p:txBody>
      </p:sp>
      <p:sp>
        <p:nvSpPr>
          <p:cNvPr id="129" name="Text 126"/>
          <p:cNvSpPr/>
          <p:nvPr/>
        </p:nvSpPr>
        <p:spPr>
          <a:xfrm>
            <a:off x="6967728" y="4379145"/>
            <a:ext cx="46451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3C465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120k units/year rated  ·  no completion published</a:t>
            </a:r>
            <a:endParaRPr lang="en-US" sz="720" dirty="0"/>
          </a:p>
        </p:txBody>
      </p:sp>
      <p:sp>
        <p:nvSpPr>
          <p:cNvPr id="130" name="Text 127"/>
          <p:cNvSpPr/>
          <p:nvPr/>
        </p:nvSpPr>
        <p:spPr>
          <a:xfrm>
            <a:off x="576072" y="4828032"/>
            <a:ext cx="11036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620" dirty="0">
                <a:solidFill>
                  <a:srgbClr val="8C93A8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Stage is the highest step the product satisfies: in production = delivered, in service, combat proven or under signed contract; qualified = 100% completion published; capacity rated = annual production capacity published; in build = completion published below 100% or plant under construction; in development = specified without either. Evidence as published by the Company.</a:t>
            </a:r>
            <a:endParaRPr lang="en-US" sz="620" dirty="0"/>
          </a:p>
        </p:txBody>
      </p:sp>
      <p:sp>
        <p:nvSpPr>
          <p:cNvPr id="131" name="Shape 128"/>
          <p:cNvSpPr/>
          <p:nvPr/>
        </p:nvSpPr>
        <p:spPr>
          <a:xfrm>
            <a:off x="0" y="5159959"/>
            <a:ext cx="12191695" cy="1698041"/>
          </a:xfrm>
          <a:prstGeom prst="rect">
            <a:avLst/>
          </a:prstGeom>
          <a:solidFill>
            <a:srgbClr val="00092B"/>
          </a:solidFill>
          <a:ln/>
        </p:spPr>
      </p:sp>
      <p:sp>
        <p:nvSpPr>
          <p:cNvPr id="132" name="Shape 129"/>
          <p:cNvSpPr/>
          <p:nvPr/>
        </p:nvSpPr>
        <p:spPr>
          <a:xfrm>
            <a:off x="70409" y="5159959"/>
            <a:ext cx="27432" cy="1698041"/>
          </a:xfrm>
          <a:prstGeom prst="rect">
            <a:avLst/>
          </a:prstGeom>
          <a:solidFill>
            <a:srgbClr val="1C2441"/>
          </a:solidFill>
          <a:ln/>
        </p:spPr>
      </p:sp>
      <p:sp>
        <p:nvSpPr>
          <p:cNvPr id="133" name="Shape 130"/>
          <p:cNvSpPr/>
          <p:nvPr/>
        </p:nvSpPr>
        <p:spPr>
          <a:xfrm>
            <a:off x="1520647" y="5159959"/>
            <a:ext cx="27432" cy="1698041"/>
          </a:xfrm>
          <a:prstGeom prst="rect">
            <a:avLst/>
          </a:prstGeom>
          <a:solidFill>
            <a:srgbClr val="1C2441"/>
          </a:solidFill>
          <a:ln/>
        </p:spPr>
      </p:sp>
      <p:sp>
        <p:nvSpPr>
          <p:cNvPr id="134" name="Shape 131"/>
          <p:cNvSpPr/>
          <p:nvPr/>
        </p:nvSpPr>
        <p:spPr>
          <a:xfrm>
            <a:off x="2970886" y="5159959"/>
            <a:ext cx="27432" cy="1698041"/>
          </a:xfrm>
          <a:prstGeom prst="rect">
            <a:avLst/>
          </a:prstGeom>
          <a:solidFill>
            <a:srgbClr val="1C2441"/>
          </a:solidFill>
          <a:ln/>
        </p:spPr>
      </p:sp>
      <p:sp>
        <p:nvSpPr>
          <p:cNvPr id="135" name="Shape 132"/>
          <p:cNvSpPr/>
          <p:nvPr/>
        </p:nvSpPr>
        <p:spPr>
          <a:xfrm>
            <a:off x="4421124" y="5159959"/>
            <a:ext cx="27432" cy="1698041"/>
          </a:xfrm>
          <a:prstGeom prst="rect">
            <a:avLst/>
          </a:prstGeom>
          <a:solidFill>
            <a:srgbClr val="1C2441"/>
          </a:solidFill>
          <a:ln/>
        </p:spPr>
      </p:sp>
      <p:sp>
        <p:nvSpPr>
          <p:cNvPr id="136" name="Shape 133"/>
          <p:cNvSpPr/>
          <p:nvPr/>
        </p:nvSpPr>
        <p:spPr>
          <a:xfrm>
            <a:off x="5871362" y="5159959"/>
            <a:ext cx="27432" cy="1698041"/>
          </a:xfrm>
          <a:prstGeom prst="rect">
            <a:avLst/>
          </a:prstGeom>
          <a:solidFill>
            <a:srgbClr val="1C2441"/>
          </a:solidFill>
          <a:ln/>
        </p:spPr>
      </p:sp>
      <p:sp>
        <p:nvSpPr>
          <p:cNvPr id="137" name="Shape 134"/>
          <p:cNvSpPr/>
          <p:nvPr/>
        </p:nvSpPr>
        <p:spPr>
          <a:xfrm>
            <a:off x="7321601" y="5159959"/>
            <a:ext cx="27432" cy="1698041"/>
          </a:xfrm>
          <a:prstGeom prst="rect">
            <a:avLst/>
          </a:prstGeom>
          <a:solidFill>
            <a:srgbClr val="1C2441"/>
          </a:solidFill>
          <a:ln/>
        </p:spPr>
      </p:sp>
      <p:sp>
        <p:nvSpPr>
          <p:cNvPr id="138" name="Shape 135"/>
          <p:cNvSpPr/>
          <p:nvPr/>
        </p:nvSpPr>
        <p:spPr>
          <a:xfrm>
            <a:off x="8771839" y="5159959"/>
            <a:ext cx="27432" cy="1698041"/>
          </a:xfrm>
          <a:prstGeom prst="rect">
            <a:avLst/>
          </a:prstGeom>
          <a:solidFill>
            <a:srgbClr val="1C2441"/>
          </a:solidFill>
          <a:ln/>
        </p:spPr>
      </p:sp>
      <p:sp>
        <p:nvSpPr>
          <p:cNvPr id="139" name="Shape 136"/>
          <p:cNvSpPr/>
          <p:nvPr/>
        </p:nvSpPr>
        <p:spPr>
          <a:xfrm>
            <a:off x="10222078" y="5159959"/>
            <a:ext cx="27432" cy="1698041"/>
          </a:xfrm>
          <a:prstGeom prst="rect">
            <a:avLst/>
          </a:prstGeom>
          <a:solidFill>
            <a:srgbClr val="1C2441"/>
          </a:solidFill>
          <a:ln/>
        </p:spPr>
      </p:sp>
      <p:sp>
        <p:nvSpPr>
          <p:cNvPr id="140" name="Shape 137"/>
          <p:cNvSpPr/>
          <p:nvPr/>
        </p:nvSpPr>
        <p:spPr>
          <a:xfrm>
            <a:off x="11672316" y="5159959"/>
            <a:ext cx="27432" cy="1698041"/>
          </a:xfrm>
          <a:prstGeom prst="rect">
            <a:avLst/>
          </a:prstGeom>
          <a:solidFill>
            <a:srgbClr val="1C2441"/>
          </a:solidFill>
          <a:ln/>
        </p:spPr>
      </p:sp>
      <p:sp>
        <p:nvSpPr>
          <p:cNvPr id="141" name="Text 138"/>
          <p:cNvSpPr/>
          <p:nvPr/>
        </p:nvSpPr>
        <p:spPr>
          <a:xfrm>
            <a:off x="548640" y="5358384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Where the portfolio sits</a:t>
            </a:r>
            <a:endParaRPr lang="en-US" sz="1000" dirty="0"/>
          </a:p>
        </p:txBody>
      </p:sp>
      <p:sp>
        <p:nvSpPr>
          <p:cNvPr id="142" name="Shape 139"/>
          <p:cNvSpPr/>
          <p:nvPr/>
        </p:nvSpPr>
        <p:spPr>
          <a:xfrm>
            <a:off x="548640" y="5586984"/>
            <a:ext cx="4937760" cy="9144"/>
          </a:xfrm>
          <a:prstGeom prst="rect">
            <a:avLst/>
          </a:prstGeom>
          <a:solidFill>
            <a:srgbClr val="3C4E86"/>
          </a:solidFill>
          <a:ln/>
        </p:spPr>
      </p:sp>
      <p:sp>
        <p:nvSpPr>
          <p:cNvPr id="143" name="Shape 140"/>
          <p:cNvSpPr/>
          <p:nvPr/>
        </p:nvSpPr>
        <p:spPr>
          <a:xfrm>
            <a:off x="548640" y="5705856"/>
            <a:ext cx="1795549" cy="310896"/>
          </a:xfrm>
          <a:prstGeom prst="rect">
            <a:avLst/>
          </a:prstGeom>
          <a:solidFill>
            <a:srgbClr val="8B9CDD"/>
          </a:solidFill>
          <a:ln/>
        </p:spPr>
      </p:sp>
      <p:sp>
        <p:nvSpPr>
          <p:cNvPr id="144" name="Text 141"/>
          <p:cNvSpPr/>
          <p:nvPr/>
        </p:nvSpPr>
        <p:spPr>
          <a:xfrm>
            <a:off x="548640" y="5705856"/>
            <a:ext cx="179554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1F6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000" dirty="0"/>
          </a:p>
        </p:txBody>
      </p:sp>
      <p:sp>
        <p:nvSpPr>
          <p:cNvPr id="145" name="Shape 142"/>
          <p:cNvSpPr/>
          <p:nvPr/>
        </p:nvSpPr>
        <p:spPr>
          <a:xfrm>
            <a:off x="2344189" y="5705856"/>
            <a:ext cx="2244436" cy="310896"/>
          </a:xfrm>
          <a:prstGeom prst="rect">
            <a:avLst/>
          </a:prstGeom>
          <a:solidFill>
            <a:srgbClr val="4E66C4"/>
          </a:solidFill>
          <a:ln/>
        </p:spPr>
      </p:sp>
      <p:sp>
        <p:nvSpPr>
          <p:cNvPr id="146" name="Text 143"/>
          <p:cNvSpPr/>
          <p:nvPr/>
        </p:nvSpPr>
        <p:spPr>
          <a:xfrm>
            <a:off x="2344189" y="5705856"/>
            <a:ext cx="22444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</a:t>
            </a:r>
            <a:endParaRPr lang="en-US" sz="1000" dirty="0"/>
          </a:p>
        </p:txBody>
      </p:sp>
      <p:sp>
        <p:nvSpPr>
          <p:cNvPr id="147" name="Shape 144"/>
          <p:cNvSpPr/>
          <p:nvPr/>
        </p:nvSpPr>
        <p:spPr>
          <a:xfrm>
            <a:off x="4588625" y="5705856"/>
            <a:ext cx="897775" cy="310896"/>
          </a:xfrm>
          <a:prstGeom prst="rect">
            <a:avLst/>
          </a:prstGeom>
          <a:solidFill>
            <a:srgbClr val="021B94"/>
          </a:solidFill>
          <a:ln/>
        </p:spPr>
      </p:sp>
      <p:sp>
        <p:nvSpPr>
          <p:cNvPr id="148" name="Text 145"/>
          <p:cNvSpPr/>
          <p:nvPr/>
        </p:nvSpPr>
        <p:spPr>
          <a:xfrm>
            <a:off x="4588625" y="5705856"/>
            <a:ext cx="89777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000" dirty="0"/>
          </a:p>
        </p:txBody>
      </p:sp>
      <p:sp>
        <p:nvSpPr>
          <p:cNvPr id="149" name="Shape 146"/>
          <p:cNvSpPr/>
          <p:nvPr/>
        </p:nvSpPr>
        <p:spPr>
          <a:xfrm>
            <a:off x="548640" y="6153912"/>
            <a:ext cx="82296" cy="82296"/>
          </a:xfrm>
          <a:prstGeom prst="rect">
            <a:avLst/>
          </a:prstGeom>
          <a:solidFill>
            <a:srgbClr val="8B9CDD"/>
          </a:solidFill>
          <a:ln/>
        </p:spPr>
      </p:sp>
      <p:sp>
        <p:nvSpPr>
          <p:cNvPr id="150" name="Text 147"/>
          <p:cNvSpPr/>
          <p:nvPr/>
        </p:nvSpPr>
        <p:spPr>
          <a:xfrm>
            <a:off x="667512" y="6099048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C6CBD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Capacity rated</a:t>
            </a:r>
            <a:endParaRPr lang="en-US" sz="700" dirty="0"/>
          </a:p>
        </p:txBody>
      </p:sp>
      <p:sp>
        <p:nvSpPr>
          <p:cNvPr id="151" name="Shape 148"/>
          <p:cNvSpPr/>
          <p:nvPr/>
        </p:nvSpPr>
        <p:spPr>
          <a:xfrm>
            <a:off x="1411834" y="6153912"/>
            <a:ext cx="82296" cy="82296"/>
          </a:xfrm>
          <a:prstGeom prst="rect">
            <a:avLst/>
          </a:prstGeom>
          <a:solidFill>
            <a:srgbClr val="4E66C4"/>
          </a:solidFill>
          <a:ln/>
        </p:spPr>
      </p:sp>
      <p:sp>
        <p:nvSpPr>
          <p:cNvPr id="152" name="Text 149"/>
          <p:cNvSpPr/>
          <p:nvPr/>
        </p:nvSpPr>
        <p:spPr>
          <a:xfrm>
            <a:off x="1530706" y="6099048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C6CBD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Qualified</a:t>
            </a:r>
            <a:endParaRPr lang="en-US" sz="700" dirty="0"/>
          </a:p>
        </p:txBody>
      </p:sp>
      <p:sp>
        <p:nvSpPr>
          <p:cNvPr id="153" name="Shape 150"/>
          <p:cNvSpPr/>
          <p:nvPr/>
        </p:nvSpPr>
        <p:spPr>
          <a:xfrm>
            <a:off x="2064715" y="6153912"/>
            <a:ext cx="82296" cy="82296"/>
          </a:xfrm>
          <a:prstGeom prst="rect">
            <a:avLst/>
          </a:prstGeom>
          <a:solidFill>
            <a:srgbClr val="021B94"/>
          </a:solidFill>
          <a:ln/>
        </p:spPr>
      </p:sp>
      <p:sp>
        <p:nvSpPr>
          <p:cNvPr id="154" name="Text 151"/>
          <p:cNvSpPr/>
          <p:nvPr/>
        </p:nvSpPr>
        <p:spPr>
          <a:xfrm>
            <a:off x="2183587" y="6099048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C6CBD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 production</a:t>
            </a:r>
            <a:endParaRPr lang="en-US" sz="700" dirty="0"/>
          </a:p>
        </p:txBody>
      </p:sp>
      <p:sp>
        <p:nvSpPr>
          <p:cNvPr id="155" name="Text 152"/>
          <p:cNvSpPr/>
          <p:nvPr/>
        </p:nvSpPr>
        <p:spPr>
          <a:xfrm>
            <a:off x="6035040" y="5358384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11 of 11 products already have a rated production line</a:t>
            </a:r>
            <a:endParaRPr lang="en-US" sz="1000" dirty="0"/>
          </a:p>
        </p:txBody>
      </p:sp>
      <p:sp>
        <p:nvSpPr>
          <p:cNvPr id="156" name="Shape 153"/>
          <p:cNvSpPr/>
          <p:nvPr/>
        </p:nvSpPr>
        <p:spPr>
          <a:xfrm>
            <a:off x="6035040" y="5586984"/>
            <a:ext cx="5797296" cy="9144"/>
          </a:xfrm>
          <a:prstGeom prst="rect">
            <a:avLst/>
          </a:prstGeom>
          <a:solidFill>
            <a:srgbClr val="3C4E86"/>
          </a:solidFill>
          <a:ln/>
        </p:spPr>
      </p:sp>
      <p:sp>
        <p:nvSpPr>
          <p:cNvPr id="157" name="Shape 154"/>
          <p:cNvSpPr/>
          <p:nvPr/>
        </p:nvSpPr>
        <p:spPr>
          <a:xfrm>
            <a:off x="6035040" y="5774436"/>
            <a:ext cx="64008" cy="64008"/>
          </a:xfrm>
          <a:prstGeom prst="rect">
            <a:avLst/>
          </a:prstGeom>
          <a:solidFill>
            <a:srgbClr val="95A8FE"/>
          </a:solidFill>
          <a:ln/>
        </p:spPr>
      </p:sp>
      <p:sp>
        <p:nvSpPr>
          <p:cNvPr id="158" name="Text 155"/>
          <p:cNvSpPr/>
          <p:nvPr/>
        </p:nvSpPr>
        <p:spPr>
          <a:xfrm>
            <a:off x="6199632" y="5705856"/>
            <a:ext cx="56327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C6CBD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Every Weapon Systems product on this page has published a 100% completion figure or a rated capacity</a:t>
            </a:r>
            <a:endParaRPr lang="en-US" sz="820" dirty="0"/>
          </a:p>
        </p:txBody>
      </p:sp>
      <p:sp>
        <p:nvSpPr>
          <p:cNvPr id="159" name="Shape 156"/>
          <p:cNvSpPr/>
          <p:nvPr/>
        </p:nvSpPr>
        <p:spPr>
          <a:xfrm>
            <a:off x="6035040" y="6021324"/>
            <a:ext cx="64008" cy="64008"/>
          </a:xfrm>
          <a:prstGeom prst="rect">
            <a:avLst/>
          </a:prstGeom>
          <a:solidFill>
            <a:srgbClr val="95A8FE"/>
          </a:solidFill>
          <a:ln/>
        </p:spPr>
      </p:sp>
      <p:sp>
        <p:nvSpPr>
          <p:cNvPr id="160" name="Text 157"/>
          <p:cNvSpPr/>
          <p:nvPr/>
        </p:nvSpPr>
        <p:spPr>
          <a:xfrm>
            <a:off x="6199632" y="5952744"/>
            <a:ext cx="56327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C6CBD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two products in serial production are the ones carrying deliveries and signed contracts today</a:t>
            </a:r>
            <a:endParaRPr lang="en-US" sz="820" dirty="0"/>
          </a:p>
        </p:txBody>
      </p:sp>
      <p:sp>
        <p:nvSpPr>
          <p:cNvPr id="161" name="Shape 158"/>
          <p:cNvSpPr/>
          <p:nvPr/>
        </p:nvSpPr>
        <p:spPr>
          <a:xfrm>
            <a:off x="6035040" y="6268212"/>
            <a:ext cx="64008" cy="64008"/>
          </a:xfrm>
          <a:prstGeom prst="rect">
            <a:avLst/>
          </a:prstGeom>
          <a:solidFill>
            <a:srgbClr val="95A8FE"/>
          </a:solidFill>
          <a:ln/>
        </p:spPr>
      </p:sp>
      <p:sp>
        <p:nvSpPr>
          <p:cNvPr id="162" name="Text 159"/>
          <p:cNvSpPr/>
          <p:nvPr/>
        </p:nvSpPr>
        <p:spPr>
          <a:xfrm>
            <a:off x="6199632" y="6199632"/>
            <a:ext cx="56327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C6CBD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155 mm line is rated at 120k units a year — the largest single capacity in the group</a:t>
            </a:r>
            <a:endParaRPr lang="en-US" sz="820" dirty="0"/>
          </a:p>
        </p:txBody>
      </p:sp>
      <p:sp>
        <p:nvSpPr>
          <p:cNvPr id="163" name="Text 160"/>
          <p:cNvSpPr/>
          <p:nvPr/>
        </p:nvSpPr>
        <p:spPr>
          <a:xfrm>
            <a:off x="626364" y="6455664"/>
            <a:ext cx="9875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4" dirty="0">
                <a:solidFill>
                  <a:srgbClr val="D8D8D8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Source: Company — Information Memorandum portfolio pages and commercial review of backlog and pipeline, 5 Aug 2026 (rev. 2).</a:t>
            </a:r>
            <a:endParaRPr lang="en-US" sz="804" dirty="0"/>
          </a:p>
        </p:txBody>
      </p:sp>
      <p:sp>
        <p:nvSpPr>
          <p:cNvPr id="164" name="Text 161"/>
          <p:cNvSpPr/>
          <p:nvPr/>
        </p:nvSpPr>
        <p:spPr>
          <a:xfrm>
            <a:off x="357530" y="6455664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4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51</a:t>
            </a:r>
            <a:endParaRPr lang="en-US" sz="804" dirty="0"/>
          </a:p>
        </p:txBody>
      </p:sp>
      <p:sp>
        <p:nvSpPr>
          <p:cNvPr id="165" name="Shape 162"/>
          <p:cNvSpPr/>
          <p:nvPr/>
        </p:nvSpPr>
        <p:spPr>
          <a:xfrm>
            <a:off x="10931652" y="6469380"/>
            <a:ext cx="932688" cy="196596"/>
          </a:xfrm>
          <a:prstGeom prst="roundRect">
            <a:avLst>
              <a:gd name="adj" fmla="val 18605"/>
            </a:avLst>
          </a:prstGeom>
          <a:ln w="9525">
            <a:solidFill>
              <a:srgbClr val="3C4E86"/>
            </a:solidFill>
            <a:prstDash val="solid"/>
          </a:ln>
        </p:spPr>
      </p:sp>
      <p:sp>
        <p:nvSpPr>
          <p:cNvPr id="166" name="Text 163"/>
          <p:cNvSpPr/>
          <p:nvPr/>
        </p:nvSpPr>
        <p:spPr>
          <a:xfrm>
            <a:off x="10931652" y="6469380"/>
            <a:ext cx="932688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96" dirty="0">
                <a:solidFill>
                  <a:srgbClr val="9DAD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Confidential</a:t>
            </a:r>
            <a:endParaRPr lang="en-US" sz="696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92278" y="224028"/>
            <a:ext cx="1280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98" dirty="0">
                <a:solidFill>
                  <a:srgbClr val="BFBFB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Mac Jee At a Glance</a:t>
            </a:r>
            <a:endParaRPr lang="en-US" sz="698" dirty="0"/>
          </a:p>
        </p:txBody>
      </p:sp>
      <p:sp>
        <p:nvSpPr>
          <p:cNvPr id="3" name="Text 1"/>
          <p:cNvSpPr/>
          <p:nvPr/>
        </p:nvSpPr>
        <p:spPr>
          <a:xfrm>
            <a:off x="1634947" y="224028"/>
            <a:ext cx="1600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98" dirty="0">
                <a:solidFill>
                  <a:srgbClr val="BFBFB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Mac Jee Investment Thesis</a:t>
            </a:r>
            <a:endParaRPr lang="en-US" sz="698" dirty="0"/>
          </a:p>
        </p:txBody>
      </p:sp>
      <p:sp>
        <p:nvSpPr>
          <p:cNvPr id="4" name="Text 2"/>
          <p:cNvSpPr/>
          <p:nvPr/>
        </p:nvSpPr>
        <p:spPr>
          <a:xfrm>
            <a:off x="3165653" y="224028"/>
            <a:ext cx="1691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98" dirty="0">
                <a:solidFill>
                  <a:srgbClr val="00178D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Business Units and Portfolio</a:t>
            </a:r>
            <a:endParaRPr lang="en-US" sz="698" dirty="0"/>
          </a:p>
        </p:txBody>
      </p:sp>
      <p:sp>
        <p:nvSpPr>
          <p:cNvPr id="5" name="Text 3"/>
          <p:cNvSpPr/>
          <p:nvPr/>
        </p:nvSpPr>
        <p:spPr>
          <a:xfrm>
            <a:off x="4749394" y="224028"/>
            <a:ext cx="6949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98" dirty="0">
                <a:solidFill>
                  <a:srgbClr val="BFBFB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Financials</a:t>
            </a:r>
            <a:endParaRPr lang="en-US" sz="698" dirty="0"/>
          </a:p>
        </p:txBody>
      </p:sp>
      <p:sp>
        <p:nvSpPr>
          <p:cNvPr id="6" name="Shape 4"/>
          <p:cNvSpPr/>
          <p:nvPr/>
        </p:nvSpPr>
        <p:spPr>
          <a:xfrm>
            <a:off x="3165653" y="442570"/>
            <a:ext cx="1417320" cy="9144"/>
          </a:xfrm>
          <a:prstGeom prst="rect">
            <a:avLst/>
          </a:prstGeom>
          <a:solidFill>
            <a:srgbClr val="27B0FF"/>
          </a:solidFill>
          <a:ln/>
        </p:spPr>
      </p:sp>
      <p:sp>
        <p:nvSpPr>
          <p:cNvPr id="7" name="Shape 5"/>
          <p:cNvSpPr/>
          <p:nvPr/>
        </p:nvSpPr>
        <p:spPr>
          <a:xfrm>
            <a:off x="3140050" y="418795"/>
            <a:ext cx="51206" cy="51206"/>
          </a:xfrm>
          <a:prstGeom prst="diamond">
            <a:avLst/>
          </a:prstGeom>
          <a:solidFill>
            <a:srgbClr val="27B0FF"/>
          </a:solidFill>
          <a:ln/>
        </p:spPr>
      </p:sp>
      <p:sp>
        <p:nvSpPr>
          <p:cNvPr id="8" name="Shape 6"/>
          <p:cNvSpPr/>
          <p:nvPr/>
        </p:nvSpPr>
        <p:spPr>
          <a:xfrm>
            <a:off x="4557370" y="418795"/>
            <a:ext cx="51206" cy="51206"/>
          </a:xfrm>
          <a:prstGeom prst="diamond">
            <a:avLst/>
          </a:prstGeom>
          <a:solidFill>
            <a:srgbClr val="27B0FF"/>
          </a:solidFill>
          <a:ln/>
        </p:spPr>
      </p:sp>
      <p:pic>
        <p:nvPicPr>
          <p:cNvPr id="9" name="Image 0" descr="assets/macjee_go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74222" y="343814"/>
            <a:ext cx="481889" cy="481889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392278" y="731520"/>
            <a:ext cx="1129649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92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Development stage by product — Energetics, Missile and Space</a:t>
            </a:r>
            <a:endParaRPr lang="en-US" sz="2400" dirty="0"/>
          </a:p>
        </p:txBody>
      </p:sp>
      <p:sp>
        <p:nvSpPr>
          <p:cNvPr id="11" name="Text 8"/>
          <p:cNvSpPr/>
          <p:nvPr/>
        </p:nvSpPr>
        <p:spPr>
          <a:xfrm>
            <a:off x="342900" y="1110996"/>
            <a:ext cx="1129649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3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Energetics sells lines that are already running; Missile is where the development still sits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357530" y="1335024"/>
            <a:ext cx="11476634" cy="3419856"/>
          </a:xfrm>
          <a:custGeom>
            <a:avLst/>
            <a:gdLst/>
            <a:ahLst/>
            <a:cxnLst/>
            <a:rect l="l" t="t" r="r" b="b"/>
            <a:pathLst>
              <a:path w="11476634" h="3419856">
                <a:moveTo>
                  <a:pt x="0" y="0"/>
                </a:moveTo>
                <a:lnTo>
                  <a:pt x="11158423" y="0"/>
                </a:lnTo>
                <a:lnTo>
                  <a:pt x="11476634" y="318211"/>
                </a:lnTo>
                <a:lnTo>
                  <a:pt x="11476634" y="3419856"/>
                </a:lnTo>
                <a:lnTo>
                  <a:pt x="318211" y="3419856"/>
                </a:lnTo>
                <a:lnTo>
                  <a:pt x="0" y="3101645"/>
                </a:ln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50800" dist="19050" dir="5400000">
              <a:srgbClr val="000000">
                <a:alpha val="16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576072" y="1481328"/>
            <a:ext cx="2926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" spc="100" kern="0" dirty="0">
                <a:solidFill>
                  <a:srgbClr val="8C93A8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PRODUCT</a:t>
            </a:r>
            <a:endParaRPr lang="en-US" sz="640" dirty="0"/>
          </a:p>
        </p:txBody>
      </p:sp>
      <p:sp>
        <p:nvSpPr>
          <p:cNvPr id="14" name="Shape 11"/>
          <p:cNvSpPr/>
          <p:nvPr/>
        </p:nvSpPr>
        <p:spPr>
          <a:xfrm>
            <a:off x="3639312" y="1645920"/>
            <a:ext cx="566928" cy="32004"/>
          </a:xfrm>
          <a:prstGeom prst="rect">
            <a:avLst/>
          </a:prstGeom>
          <a:solidFill>
            <a:srgbClr val="DDE3F5"/>
          </a:solidFill>
          <a:ln/>
        </p:spPr>
      </p:sp>
      <p:sp>
        <p:nvSpPr>
          <p:cNvPr id="15" name="Text 12"/>
          <p:cNvSpPr/>
          <p:nvPr/>
        </p:nvSpPr>
        <p:spPr>
          <a:xfrm>
            <a:off x="3584448" y="1444752"/>
            <a:ext cx="6766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580" dirty="0">
                <a:solidFill>
                  <a:srgbClr val="8C93A8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In development</a:t>
            </a:r>
            <a:endParaRPr lang="en-US" sz="580" dirty="0"/>
          </a:p>
        </p:txBody>
      </p:sp>
      <p:sp>
        <p:nvSpPr>
          <p:cNvPr id="16" name="Shape 13"/>
          <p:cNvSpPr/>
          <p:nvPr/>
        </p:nvSpPr>
        <p:spPr>
          <a:xfrm>
            <a:off x="4251960" y="1645920"/>
            <a:ext cx="566928" cy="32004"/>
          </a:xfrm>
          <a:prstGeom prst="rect">
            <a:avLst/>
          </a:prstGeom>
          <a:solidFill>
            <a:srgbClr val="B9C4EC"/>
          </a:solidFill>
          <a:ln/>
        </p:spPr>
      </p:sp>
      <p:sp>
        <p:nvSpPr>
          <p:cNvPr id="17" name="Text 14"/>
          <p:cNvSpPr/>
          <p:nvPr/>
        </p:nvSpPr>
        <p:spPr>
          <a:xfrm>
            <a:off x="4197096" y="1444752"/>
            <a:ext cx="6766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580" dirty="0">
                <a:solidFill>
                  <a:srgbClr val="8C93A8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In build</a:t>
            </a:r>
            <a:endParaRPr lang="en-US" sz="580" dirty="0"/>
          </a:p>
        </p:txBody>
      </p:sp>
      <p:sp>
        <p:nvSpPr>
          <p:cNvPr id="18" name="Shape 15"/>
          <p:cNvSpPr/>
          <p:nvPr/>
        </p:nvSpPr>
        <p:spPr>
          <a:xfrm>
            <a:off x="4864608" y="1645920"/>
            <a:ext cx="566928" cy="32004"/>
          </a:xfrm>
          <a:prstGeom prst="rect">
            <a:avLst/>
          </a:prstGeom>
          <a:solidFill>
            <a:srgbClr val="8B9CDD"/>
          </a:solidFill>
          <a:ln/>
        </p:spPr>
      </p:sp>
      <p:sp>
        <p:nvSpPr>
          <p:cNvPr id="19" name="Text 16"/>
          <p:cNvSpPr/>
          <p:nvPr/>
        </p:nvSpPr>
        <p:spPr>
          <a:xfrm>
            <a:off x="4809744" y="1444752"/>
            <a:ext cx="6766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580" dirty="0">
                <a:solidFill>
                  <a:srgbClr val="8C93A8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Capacity rated</a:t>
            </a:r>
            <a:endParaRPr lang="en-US" sz="580" dirty="0"/>
          </a:p>
        </p:txBody>
      </p:sp>
      <p:sp>
        <p:nvSpPr>
          <p:cNvPr id="20" name="Shape 17"/>
          <p:cNvSpPr/>
          <p:nvPr/>
        </p:nvSpPr>
        <p:spPr>
          <a:xfrm>
            <a:off x="5477256" y="1645920"/>
            <a:ext cx="566928" cy="32004"/>
          </a:xfrm>
          <a:prstGeom prst="rect">
            <a:avLst/>
          </a:prstGeom>
          <a:solidFill>
            <a:srgbClr val="4E66C4"/>
          </a:solidFill>
          <a:ln/>
        </p:spPr>
      </p:sp>
      <p:sp>
        <p:nvSpPr>
          <p:cNvPr id="21" name="Text 18"/>
          <p:cNvSpPr/>
          <p:nvPr/>
        </p:nvSpPr>
        <p:spPr>
          <a:xfrm>
            <a:off x="5422392" y="1444752"/>
            <a:ext cx="6766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580" dirty="0">
                <a:solidFill>
                  <a:srgbClr val="8C93A8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Qualified</a:t>
            </a:r>
            <a:endParaRPr lang="en-US" sz="580" dirty="0"/>
          </a:p>
        </p:txBody>
      </p:sp>
      <p:sp>
        <p:nvSpPr>
          <p:cNvPr id="22" name="Shape 19"/>
          <p:cNvSpPr/>
          <p:nvPr/>
        </p:nvSpPr>
        <p:spPr>
          <a:xfrm>
            <a:off x="6089904" y="1645920"/>
            <a:ext cx="566928" cy="32004"/>
          </a:xfrm>
          <a:prstGeom prst="rect">
            <a:avLst/>
          </a:prstGeom>
          <a:solidFill>
            <a:srgbClr val="021B94"/>
          </a:solidFill>
          <a:ln/>
        </p:spPr>
      </p:sp>
      <p:sp>
        <p:nvSpPr>
          <p:cNvPr id="23" name="Text 20"/>
          <p:cNvSpPr/>
          <p:nvPr/>
        </p:nvSpPr>
        <p:spPr>
          <a:xfrm>
            <a:off x="6035040" y="1444752"/>
            <a:ext cx="6766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580" dirty="0">
                <a:solidFill>
                  <a:srgbClr val="8C93A8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In production</a:t>
            </a:r>
            <a:endParaRPr lang="en-US" sz="580" dirty="0"/>
          </a:p>
        </p:txBody>
      </p:sp>
      <p:sp>
        <p:nvSpPr>
          <p:cNvPr id="24" name="Text 21"/>
          <p:cNvSpPr/>
          <p:nvPr/>
        </p:nvSpPr>
        <p:spPr>
          <a:xfrm>
            <a:off x="6967728" y="1481328"/>
            <a:ext cx="46451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" spc="100" kern="0" dirty="0">
                <a:solidFill>
                  <a:srgbClr val="8C93A8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EVIDENCE PUBLISHED BY THE COMPANY</a:t>
            </a:r>
            <a:endParaRPr lang="en-US" sz="640" dirty="0"/>
          </a:p>
        </p:txBody>
      </p:sp>
      <p:sp>
        <p:nvSpPr>
          <p:cNvPr id="25" name="Shape 22"/>
          <p:cNvSpPr/>
          <p:nvPr/>
        </p:nvSpPr>
        <p:spPr>
          <a:xfrm>
            <a:off x="576072" y="1819656"/>
            <a:ext cx="73152" cy="118872"/>
          </a:xfrm>
          <a:prstGeom prst="rect">
            <a:avLst/>
          </a:prstGeom>
          <a:solidFill>
            <a:srgbClr val="C79000"/>
          </a:solidFill>
          <a:ln/>
        </p:spPr>
      </p:sp>
      <p:sp>
        <p:nvSpPr>
          <p:cNvPr id="26" name="Text 23"/>
          <p:cNvSpPr/>
          <p:nvPr/>
        </p:nvSpPr>
        <p:spPr>
          <a:xfrm>
            <a:off x="722376" y="1764792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79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Energetics</a:t>
            </a:r>
            <a:endParaRPr lang="en-US" sz="950" dirty="0"/>
          </a:p>
        </p:txBody>
      </p:sp>
      <p:sp>
        <p:nvSpPr>
          <p:cNvPr id="27" name="Shape 24"/>
          <p:cNvSpPr/>
          <p:nvPr/>
        </p:nvSpPr>
        <p:spPr>
          <a:xfrm>
            <a:off x="576072" y="1938528"/>
            <a:ext cx="11036808" cy="7315"/>
          </a:xfrm>
          <a:prstGeom prst="rect">
            <a:avLst/>
          </a:prstGeom>
          <a:solidFill>
            <a:srgbClr val="E6E8EE"/>
          </a:solidFill>
          <a:ln/>
        </p:spPr>
      </p:sp>
      <p:sp>
        <p:nvSpPr>
          <p:cNvPr id="28" name="Text 25"/>
          <p:cNvSpPr/>
          <p:nvPr/>
        </p:nvSpPr>
        <p:spPr>
          <a:xfrm>
            <a:off x="722376" y="1947672"/>
            <a:ext cx="277977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03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Turnkey production lines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722376" y="2052828"/>
            <a:ext cx="2779776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" dirty="0">
                <a:solidFill>
                  <a:srgbClr val="8C93A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Full chemical and filling plants, delivered</a:t>
            </a:r>
            <a:endParaRPr lang="en-US" sz="660" dirty="0"/>
          </a:p>
        </p:txBody>
      </p:sp>
      <p:sp>
        <p:nvSpPr>
          <p:cNvPr id="30" name="Shape 27"/>
          <p:cNvSpPr/>
          <p:nvPr/>
        </p:nvSpPr>
        <p:spPr>
          <a:xfrm>
            <a:off x="3639312" y="1965960"/>
            <a:ext cx="566928" cy="160020"/>
          </a:xfrm>
          <a:prstGeom prst="rect">
            <a:avLst/>
          </a:prstGeom>
          <a:solidFill>
            <a:srgbClr val="DDE3F5"/>
          </a:solidFill>
          <a:ln/>
        </p:spPr>
      </p:sp>
      <p:sp>
        <p:nvSpPr>
          <p:cNvPr id="31" name="Shape 28"/>
          <p:cNvSpPr/>
          <p:nvPr/>
        </p:nvSpPr>
        <p:spPr>
          <a:xfrm>
            <a:off x="4251960" y="1965960"/>
            <a:ext cx="566928" cy="160020"/>
          </a:xfrm>
          <a:prstGeom prst="rect">
            <a:avLst/>
          </a:prstGeom>
          <a:solidFill>
            <a:srgbClr val="B9C4EC"/>
          </a:solidFill>
          <a:ln/>
        </p:spPr>
      </p:sp>
      <p:sp>
        <p:nvSpPr>
          <p:cNvPr id="32" name="Shape 29"/>
          <p:cNvSpPr/>
          <p:nvPr/>
        </p:nvSpPr>
        <p:spPr>
          <a:xfrm>
            <a:off x="4864608" y="1965960"/>
            <a:ext cx="566928" cy="160020"/>
          </a:xfrm>
          <a:prstGeom prst="rect">
            <a:avLst/>
          </a:prstGeom>
          <a:solidFill>
            <a:srgbClr val="8B9CDD"/>
          </a:solidFill>
          <a:ln/>
        </p:spPr>
      </p:sp>
      <p:sp>
        <p:nvSpPr>
          <p:cNvPr id="33" name="Shape 30"/>
          <p:cNvSpPr/>
          <p:nvPr/>
        </p:nvSpPr>
        <p:spPr>
          <a:xfrm>
            <a:off x="5477256" y="1965960"/>
            <a:ext cx="566928" cy="160020"/>
          </a:xfrm>
          <a:prstGeom prst="rect">
            <a:avLst/>
          </a:prstGeom>
          <a:solidFill>
            <a:srgbClr val="4E66C4"/>
          </a:solidFill>
          <a:ln/>
        </p:spPr>
      </p:sp>
      <p:sp>
        <p:nvSpPr>
          <p:cNvPr id="34" name="Shape 31"/>
          <p:cNvSpPr/>
          <p:nvPr/>
        </p:nvSpPr>
        <p:spPr>
          <a:xfrm>
            <a:off x="6089904" y="1965960"/>
            <a:ext cx="566928" cy="160020"/>
          </a:xfrm>
          <a:prstGeom prst="rect">
            <a:avLst/>
          </a:prstGeom>
          <a:solidFill>
            <a:srgbClr val="021B94"/>
          </a:solidFill>
          <a:ln/>
        </p:spPr>
      </p:sp>
      <p:sp>
        <p:nvSpPr>
          <p:cNvPr id="35" name="Text 32"/>
          <p:cNvSpPr/>
          <p:nvPr/>
        </p:nvSpPr>
        <p:spPr>
          <a:xfrm>
            <a:off x="6089904" y="1965960"/>
            <a:ext cx="566928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●</a:t>
            </a:r>
            <a:endParaRPr lang="en-US" sz="600" dirty="0"/>
          </a:p>
        </p:txBody>
      </p:sp>
      <p:sp>
        <p:nvSpPr>
          <p:cNvPr id="36" name="Text 33"/>
          <p:cNvSpPr/>
          <p:nvPr/>
        </p:nvSpPr>
        <p:spPr>
          <a:xfrm>
            <a:off x="6967728" y="1956816"/>
            <a:ext cx="46451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3C465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US$ 75 mm signed  ·  support contract running in Saudi Arabia</a:t>
            </a:r>
            <a:endParaRPr lang="en-US" sz="720" dirty="0"/>
          </a:p>
        </p:txBody>
      </p:sp>
      <p:sp>
        <p:nvSpPr>
          <p:cNvPr id="37" name="Text 34"/>
          <p:cNvSpPr/>
          <p:nvPr/>
        </p:nvSpPr>
        <p:spPr>
          <a:xfrm>
            <a:off x="722376" y="2148009"/>
            <a:ext cx="277977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03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TNT</a:t>
            </a:r>
            <a:endParaRPr lang="en-US" sz="800" dirty="0"/>
          </a:p>
        </p:txBody>
      </p:sp>
      <p:sp>
        <p:nvSpPr>
          <p:cNvPr id="38" name="Text 35"/>
          <p:cNvSpPr/>
          <p:nvPr/>
        </p:nvSpPr>
        <p:spPr>
          <a:xfrm>
            <a:off x="722376" y="2253165"/>
            <a:ext cx="2779776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" dirty="0">
                <a:solidFill>
                  <a:srgbClr val="8C93A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Military-grade trinitrotoluene</a:t>
            </a:r>
            <a:endParaRPr lang="en-US" sz="660" dirty="0"/>
          </a:p>
        </p:txBody>
      </p:sp>
      <p:sp>
        <p:nvSpPr>
          <p:cNvPr id="39" name="Shape 36"/>
          <p:cNvSpPr/>
          <p:nvPr/>
        </p:nvSpPr>
        <p:spPr>
          <a:xfrm>
            <a:off x="3639312" y="2166297"/>
            <a:ext cx="566928" cy="160020"/>
          </a:xfrm>
          <a:prstGeom prst="rect">
            <a:avLst/>
          </a:prstGeom>
          <a:solidFill>
            <a:srgbClr val="DDE3F5"/>
          </a:solidFill>
          <a:ln/>
        </p:spPr>
      </p:sp>
      <p:sp>
        <p:nvSpPr>
          <p:cNvPr id="40" name="Shape 37"/>
          <p:cNvSpPr/>
          <p:nvPr/>
        </p:nvSpPr>
        <p:spPr>
          <a:xfrm>
            <a:off x="4251960" y="2166297"/>
            <a:ext cx="566928" cy="160020"/>
          </a:xfrm>
          <a:prstGeom prst="rect">
            <a:avLst/>
          </a:prstGeom>
          <a:solidFill>
            <a:srgbClr val="B9C4EC"/>
          </a:solidFill>
          <a:ln/>
        </p:spPr>
      </p:sp>
      <p:sp>
        <p:nvSpPr>
          <p:cNvPr id="41" name="Shape 38"/>
          <p:cNvSpPr/>
          <p:nvPr/>
        </p:nvSpPr>
        <p:spPr>
          <a:xfrm>
            <a:off x="4864608" y="2166297"/>
            <a:ext cx="566928" cy="160020"/>
          </a:xfrm>
          <a:prstGeom prst="rect">
            <a:avLst/>
          </a:prstGeom>
          <a:solidFill>
            <a:srgbClr val="8B9CDD"/>
          </a:solidFill>
          <a:ln/>
        </p:spPr>
      </p:sp>
      <p:sp>
        <p:nvSpPr>
          <p:cNvPr id="42" name="Shape 39"/>
          <p:cNvSpPr/>
          <p:nvPr/>
        </p:nvSpPr>
        <p:spPr>
          <a:xfrm>
            <a:off x="5477256" y="2166297"/>
            <a:ext cx="566928" cy="160020"/>
          </a:xfrm>
          <a:prstGeom prst="rect">
            <a:avLst/>
          </a:prstGeom>
          <a:solidFill>
            <a:srgbClr val="F0F2F7"/>
          </a:solidFill>
          <a:ln/>
        </p:spPr>
      </p:sp>
      <p:sp>
        <p:nvSpPr>
          <p:cNvPr id="43" name="Shape 40"/>
          <p:cNvSpPr/>
          <p:nvPr/>
        </p:nvSpPr>
        <p:spPr>
          <a:xfrm>
            <a:off x="6089904" y="2166297"/>
            <a:ext cx="566928" cy="160020"/>
          </a:xfrm>
          <a:prstGeom prst="rect">
            <a:avLst/>
          </a:prstGeom>
          <a:solidFill>
            <a:srgbClr val="F0F2F7"/>
          </a:solidFill>
          <a:ln/>
        </p:spPr>
      </p:sp>
      <p:sp>
        <p:nvSpPr>
          <p:cNvPr id="44" name="Text 41"/>
          <p:cNvSpPr/>
          <p:nvPr/>
        </p:nvSpPr>
        <p:spPr>
          <a:xfrm>
            <a:off x="4864608" y="2166297"/>
            <a:ext cx="566928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●</a:t>
            </a:r>
            <a:endParaRPr lang="en-US" sz="600" dirty="0"/>
          </a:p>
        </p:txBody>
      </p:sp>
      <p:sp>
        <p:nvSpPr>
          <p:cNvPr id="45" name="Text 42"/>
          <p:cNvSpPr/>
          <p:nvPr/>
        </p:nvSpPr>
        <p:spPr>
          <a:xfrm>
            <a:off x="6967728" y="2157153"/>
            <a:ext cx="46451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3C465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500 to 5,000 tons/year line portfolio  ·  US$ 15+/kg</a:t>
            </a:r>
            <a:endParaRPr lang="en-US" sz="720" dirty="0"/>
          </a:p>
        </p:txBody>
      </p:sp>
      <p:sp>
        <p:nvSpPr>
          <p:cNvPr id="46" name="Text 43"/>
          <p:cNvSpPr/>
          <p:nvPr/>
        </p:nvSpPr>
        <p:spPr>
          <a:xfrm>
            <a:off x="722376" y="2348345"/>
            <a:ext cx="277977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03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RDX</a:t>
            </a:r>
            <a:endParaRPr lang="en-US" sz="800" dirty="0"/>
          </a:p>
        </p:txBody>
      </p:sp>
      <p:sp>
        <p:nvSpPr>
          <p:cNvPr id="47" name="Text 44"/>
          <p:cNvSpPr/>
          <p:nvPr/>
        </p:nvSpPr>
        <p:spPr>
          <a:xfrm>
            <a:off x="722376" y="2453501"/>
            <a:ext cx="2779776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" dirty="0">
                <a:solidFill>
                  <a:srgbClr val="8C93A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Hexogen, high-explosive charges</a:t>
            </a:r>
            <a:endParaRPr lang="en-US" sz="660" dirty="0"/>
          </a:p>
        </p:txBody>
      </p:sp>
      <p:sp>
        <p:nvSpPr>
          <p:cNvPr id="48" name="Shape 45"/>
          <p:cNvSpPr/>
          <p:nvPr/>
        </p:nvSpPr>
        <p:spPr>
          <a:xfrm>
            <a:off x="3639312" y="2366633"/>
            <a:ext cx="566928" cy="160020"/>
          </a:xfrm>
          <a:prstGeom prst="rect">
            <a:avLst/>
          </a:prstGeom>
          <a:solidFill>
            <a:srgbClr val="DDE3F5"/>
          </a:solidFill>
          <a:ln/>
        </p:spPr>
      </p:sp>
      <p:sp>
        <p:nvSpPr>
          <p:cNvPr id="49" name="Shape 46"/>
          <p:cNvSpPr/>
          <p:nvPr/>
        </p:nvSpPr>
        <p:spPr>
          <a:xfrm>
            <a:off x="4251960" y="2366633"/>
            <a:ext cx="566928" cy="160020"/>
          </a:xfrm>
          <a:prstGeom prst="rect">
            <a:avLst/>
          </a:prstGeom>
          <a:solidFill>
            <a:srgbClr val="B9C4EC"/>
          </a:solidFill>
          <a:ln/>
        </p:spPr>
      </p:sp>
      <p:sp>
        <p:nvSpPr>
          <p:cNvPr id="50" name="Shape 47"/>
          <p:cNvSpPr/>
          <p:nvPr/>
        </p:nvSpPr>
        <p:spPr>
          <a:xfrm>
            <a:off x="4864608" y="2366633"/>
            <a:ext cx="566928" cy="160020"/>
          </a:xfrm>
          <a:prstGeom prst="rect">
            <a:avLst/>
          </a:prstGeom>
          <a:solidFill>
            <a:srgbClr val="8B9CDD"/>
          </a:solidFill>
          <a:ln/>
        </p:spPr>
      </p:sp>
      <p:sp>
        <p:nvSpPr>
          <p:cNvPr id="51" name="Shape 48"/>
          <p:cNvSpPr/>
          <p:nvPr/>
        </p:nvSpPr>
        <p:spPr>
          <a:xfrm>
            <a:off x="5477256" y="2366633"/>
            <a:ext cx="566928" cy="160020"/>
          </a:xfrm>
          <a:prstGeom prst="rect">
            <a:avLst/>
          </a:prstGeom>
          <a:solidFill>
            <a:srgbClr val="F0F2F7"/>
          </a:solidFill>
          <a:ln/>
        </p:spPr>
      </p:sp>
      <p:sp>
        <p:nvSpPr>
          <p:cNvPr id="52" name="Shape 49"/>
          <p:cNvSpPr/>
          <p:nvPr/>
        </p:nvSpPr>
        <p:spPr>
          <a:xfrm>
            <a:off x="6089904" y="2366633"/>
            <a:ext cx="566928" cy="160020"/>
          </a:xfrm>
          <a:prstGeom prst="rect">
            <a:avLst/>
          </a:prstGeom>
          <a:solidFill>
            <a:srgbClr val="F0F2F7"/>
          </a:solidFill>
          <a:ln/>
        </p:spPr>
      </p:sp>
      <p:sp>
        <p:nvSpPr>
          <p:cNvPr id="53" name="Text 50"/>
          <p:cNvSpPr/>
          <p:nvPr/>
        </p:nvSpPr>
        <p:spPr>
          <a:xfrm>
            <a:off x="4864608" y="2366633"/>
            <a:ext cx="566928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●</a:t>
            </a:r>
            <a:endParaRPr lang="en-US" sz="600" dirty="0"/>
          </a:p>
        </p:txBody>
      </p:sp>
      <p:sp>
        <p:nvSpPr>
          <p:cNvPr id="54" name="Text 51"/>
          <p:cNvSpPr/>
          <p:nvPr/>
        </p:nvSpPr>
        <p:spPr>
          <a:xfrm>
            <a:off x="6967728" y="2357489"/>
            <a:ext cx="46451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3C465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100 to 3,000 tons/year line portfolio  ·  US$ 70+/kg</a:t>
            </a:r>
            <a:endParaRPr lang="en-US" sz="720" dirty="0"/>
          </a:p>
        </p:txBody>
      </p:sp>
      <p:sp>
        <p:nvSpPr>
          <p:cNvPr id="55" name="Text 52"/>
          <p:cNvSpPr/>
          <p:nvPr/>
        </p:nvSpPr>
        <p:spPr>
          <a:xfrm>
            <a:off x="722376" y="2548682"/>
            <a:ext cx="277977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03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HMX</a:t>
            </a:r>
            <a:endParaRPr lang="en-US" sz="800" dirty="0"/>
          </a:p>
        </p:txBody>
      </p:sp>
      <p:sp>
        <p:nvSpPr>
          <p:cNvPr id="56" name="Text 53"/>
          <p:cNvSpPr/>
          <p:nvPr/>
        </p:nvSpPr>
        <p:spPr>
          <a:xfrm>
            <a:off x="722376" y="2653838"/>
            <a:ext cx="2779776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" dirty="0">
                <a:solidFill>
                  <a:srgbClr val="8C93A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Octogen, Military Grade B</a:t>
            </a:r>
            <a:endParaRPr lang="en-US" sz="660" dirty="0"/>
          </a:p>
        </p:txBody>
      </p:sp>
      <p:sp>
        <p:nvSpPr>
          <p:cNvPr id="57" name="Shape 54"/>
          <p:cNvSpPr/>
          <p:nvPr/>
        </p:nvSpPr>
        <p:spPr>
          <a:xfrm>
            <a:off x="3639312" y="2566970"/>
            <a:ext cx="566928" cy="160020"/>
          </a:xfrm>
          <a:prstGeom prst="rect">
            <a:avLst/>
          </a:prstGeom>
          <a:solidFill>
            <a:srgbClr val="DDE3F5"/>
          </a:solidFill>
          <a:ln/>
        </p:spPr>
      </p:sp>
      <p:sp>
        <p:nvSpPr>
          <p:cNvPr id="58" name="Shape 55"/>
          <p:cNvSpPr/>
          <p:nvPr/>
        </p:nvSpPr>
        <p:spPr>
          <a:xfrm>
            <a:off x="4251960" y="2566970"/>
            <a:ext cx="566928" cy="160020"/>
          </a:xfrm>
          <a:prstGeom prst="rect">
            <a:avLst/>
          </a:prstGeom>
          <a:solidFill>
            <a:srgbClr val="B9C4EC"/>
          </a:solidFill>
          <a:ln/>
        </p:spPr>
      </p:sp>
      <p:sp>
        <p:nvSpPr>
          <p:cNvPr id="59" name="Shape 56"/>
          <p:cNvSpPr/>
          <p:nvPr/>
        </p:nvSpPr>
        <p:spPr>
          <a:xfrm>
            <a:off x="4864608" y="2566970"/>
            <a:ext cx="566928" cy="160020"/>
          </a:xfrm>
          <a:prstGeom prst="rect">
            <a:avLst/>
          </a:prstGeom>
          <a:solidFill>
            <a:srgbClr val="8B9CDD"/>
          </a:solidFill>
          <a:ln/>
        </p:spPr>
      </p:sp>
      <p:sp>
        <p:nvSpPr>
          <p:cNvPr id="60" name="Shape 57"/>
          <p:cNvSpPr/>
          <p:nvPr/>
        </p:nvSpPr>
        <p:spPr>
          <a:xfrm>
            <a:off x="5477256" y="2566970"/>
            <a:ext cx="566928" cy="160020"/>
          </a:xfrm>
          <a:prstGeom prst="rect">
            <a:avLst/>
          </a:prstGeom>
          <a:solidFill>
            <a:srgbClr val="F0F2F7"/>
          </a:solidFill>
          <a:ln/>
        </p:spPr>
      </p:sp>
      <p:sp>
        <p:nvSpPr>
          <p:cNvPr id="61" name="Shape 58"/>
          <p:cNvSpPr/>
          <p:nvPr/>
        </p:nvSpPr>
        <p:spPr>
          <a:xfrm>
            <a:off x="6089904" y="2566970"/>
            <a:ext cx="566928" cy="160020"/>
          </a:xfrm>
          <a:prstGeom prst="rect">
            <a:avLst/>
          </a:prstGeom>
          <a:solidFill>
            <a:srgbClr val="F0F2F7"/>
          </a:solidFill>
          <a:ln/>
        </p:spPr>
      </p:sp>
      <p:sp>
        <p:nvSpPr>
          <p:cNvPr id="62" name="Text 59"/>
          <p:cNvSpPr/>
          <p:nvPr/>
        </p:nvSpPr>
        <p:spPr>
          <a:xfrm>
            <a:off x="4864608" y="2566970"/>
            <a:ext cx="566928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●</a:t>
            </a:r>
            <a:endParaRPr lang="en-US" sz="600" dirty="0"/>
          </a:p>
        </p:txBody>
      </p:sp>
      <p:sp>
        <p:nvSpPr>
          <p:cNvPr id="63" name="Text 60"/>
          <p:cNvSpPr/>
          <p:nvPr/>
        </p:nvSpPr>
        <p:spPr>
          <a:xfrm>
            <a:off x="6967728" y="2557826"/>
            <a:ext cx="46451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3C465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90% completion  ·  10 tons/year rated  ·  US$ 500/kg</a:t>
            </a:r>
            <a:endParaRPr lang="en-US" sz="720" dirty="0"/>
          </a:p>
        </p:txBody>
      </p:sp>
      <p:sp>
        <p:nvSpPr>
          <p:cNvPr id="64" name="Text 61"/>
          <p:cNvSpPr/>
          <p:nvPr/>
        </p:nvSpPr>
        <p:spPr>
          <a:xfrm>
            <a:off x="722376" y="2749019"/>
            <a:ext cx="277977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03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Composite rocket propellant</a:t>
            </a:r>
            <a:endParaRPr lang="en-US" sz="800" dirty="0"/>
          </a:p>
        </p:txBody>
      </p:sp>
      <p:sp>
        <p:nvSpPr>
          <p:cNvPr id="65" name="Text 62"/>
          <p:cNvSpPr/>
          <p:nvPr/>
        </p:nvSpPr>
        <p:spPr>
          <a:xfrm>
            <a:off x="722376" y="2854175"/>
            <a:ext cx="2779776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" dirty="0">
                <a:solidFill>
                  <a:srgbClr val="8C93A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Solid propellant for missiles and rockets</a:t>
            </a:r>
            <a:endParaRPr lang="en-US" sz="660" dirty="0"/>
          </a:p>
        </p:txBody>
      </p:sp>
      <p:sp>
        <p:nvSpPr>
          <p:cNvPr id="66" name="Shape 63"/>
          <p:cNvSpPr/>
          <p:nvPr/>
        </p:nvSpPr>
        <p:spPr>
          <a:xfrm>
            <a:off x="3639312" y="2767307"/>
            <a:ext cx="566928" cy="160020"/>
          </a:xfrm>
          <a:prstGeom prst="rect">
            <a:avLst/>
          </a:prstGeom>
          <a:solidFill>
            <a:srgbClr val="DDE3F5"/>
          </a:solidFill>
          <a:ln/>
        </p:spPr>
      </p:sp>
      <p:sp>
        <p:nvSpPr>
          <p:cNvPr id="67" name="Shape 64"/>
          <p:cNvSpPr/>
          <p:nvPr/>
        </p:nvSpPr>
        <p:spPr>
          <a:xfrm>
            <a:off x="4251960" y="2767307"/>
            <a:ext cx="566928" cy="160020"/>
          </a:xfrm>
          <a:prstGeom prst="rect">
            <a:avLst/>
          </a:prstGeom>
          <a:solidFill>
            <a:srgbClr val="B9C4EC"/>
          </a:solidFill>
          <a:ln/>
        </p:spPr>
      </p:sp>
      <p:sp>
        <p:nvSpPr>
          <p:cNvPr id="68" name="Shape 65"/>
          <p:cNvSpPr/>
          <p:nvPr/>
        </p:nvSpPr>
        <p:spPr>
          <a:xfrm>
            <a:off x="4864608" y="2767307"/>
            <a:ext cx="566928" cy="160020"/>
          </a:xfrm>
          <a:prstGeom prst="rect">
            <a:avLst/>
          </a:prstGeom>
          <a:solidFill>
            <a:srgbClr val="F0F2F7"/>
          </a:solidFill>
          <a:ln/>
        </p:spPr>
      </p:sp>
      <p:sp>
        <p:nvSpPr>
          <p:cNvPr id="69" name="Shape 66"/>
          <p:cNvSpPr/>
          <p:nvPr/>
        </p:nvSpPr>
        <p:spPr>
          <a:xfrm>
            <a:off x="5477256" y="2767307"/>
            <a:ext cx="566928" cy="160020"/>
          </a:xfrm>
          <a:prstGeom prst="rect">
            <a:avLst/>
          </a:prstGeom>
          <a:solidFill>
            <a:srgbClr val="F0F2F7"/>
          </a:solidFill>
          <a:ln/>
        </p:spPr>
      </p:sp>
      <p:sp>
        <p:nvSpPr>
          <p:cNvPr id="70" name="Shape 67"/>
          <p:cNvSpPr/>
          <p:nvPr/>
        </p:nvSpPr>
        <p:spPr>
          <a:xfrm>
            <a:off x="6089904" y="2767307"/>
            <a:ext cx="566928" cy="160020"/>
          </a:xfrm>
          <a:prstGeom prst="rect">
            <a:avLst/>
          </a:prstGeom>
          <a:solidFill>
            <a:srgbClr val="F0F2F7"/>
          </a:solidFill>
          <a:ln/>
        </p:spPr>
      </p:sp>
      <p:sp>
        <p:nvSpPr>
          <p:cNvPr id="71" name="Text 68"/>
          <p:cNvSpPr/>
          <p:nvPr/>
        </p:nvSpPr>
        <p:spPr>
          <a:xfrm>
            <a:off x="4251960" y="2767307"/>
            <a:ext cx="566928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●</a:t>
            </a:r>
            <a:endParaRPr lang="en-US" sz="600" dirty="0"/>
          </a:p>
        </p:txBody>
      </p:sp>
      <p:sp>
        <p:nvSpPr>
          <p:cNvPr id="72" name="Text 69"/>
          <p:cNvSpPr/>
          <p:nvPr/>
        </p:nvSpPr>
        <p:spPr>
          <a:xfrm>
            <a:off x="6967728" y="2758163"/>
            <a:ext cx="46451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3C465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20% completion  ·  +5,000 m² plant under construction in 2027</a:t>
            </a:r>
            <a:endParaRPr lang="en-US" sz="720" dirty="0"/>
          </a:p>
        </p:txBody>
      </p:sp>
      <p:sp>
        <p:nvSpPr>
          <p:cNvPr id="73" name="Shape 70"/>
          <p:cNvSpPr/>
          <p:nvPr/>
        </p:nvSpPr>
        <p:spPr>
          <a:xfrm>
            <a:off x="576072" y="3040796"/>
            <a:ext cx="73152" cy="118872"/>
          </a:xfrm>
          <a:prstGeom prst="rect">
            <a:avLst/>
          </a:prstGeom>
          <a:solidFill>
            <a:srgbClr val="4A5261"/>
          </a:solidFill>
          <a:ln/>
        </p:spPr>
      </p:sp>
      <p:sp>
        <p:nvSpPr>
          <p:cNvPr id="74" name="Text 71"/>
          <p:cNvSpPr/>
          <p:nvPr/>
        </p:nvSpPr>
        <p:spPr>
          <a:xfrm>
            <a:off x="722376" y="2985932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A526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Missile</a:t>
            </a:r>
            <a:endParaRPr lang="en-US" sz="950" dirty="0"/>
          </a:p>
        </p:txBody>
      </p:sp>
      <p:sp>
        <p:nvSpPr>
          <p:cNvPr id="75" name="Shape 72"/>
          <p:cNvSpPr/>
          <p:nvPr/>
        </p:nvSpPr>
        <p:spPr>
          <a:xfrm>
            <a:off x="576072" y="3159668"/>
            <a:ext cx="11036808" cy="7315"/>
          </a:xfrm>
          <a:prstGeom prst="rect">
            <a:avLst/>
          </a:prstGeom>
          <a:solidFill>
            <a:srgbClr val="E6E8EE"/>
          </a:solidFill>
          <a:ln/>
        </p:spPr>
      </p:sp>
      <p:sp>
        <p:nvSpPr>
          <p:cNvPr id="76" name="Text 73"/>
          <p:cNvSpPr/>
          <p:nvPr/>
        </p:nvSpPr>
        <p:spPr>
          <a:xfrm>
            <a:off x="722376" y="3168812"/>
            <a:ext cx="277977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03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Diana</a:t>
            </a:r>
            <a:endParaRPr lang="en-US" sz="800" dirty="0"/>
          </a:p>
        </p:txBody>
      </p:sp>
      <p:sp>
        <p:nvSpPr>
          <p:cNvPr id="77" name="Text 74"/>
          <p:cNvSpPr/>
          <p:nvPr/>
        </p:nvSpPr>
        <p:spPr>
          <a:xfrm>
            <a:off x="722376" y="3273968"/>
            <a:ext cx="2779776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" dirty="0">
                <a:solidFill>
                  <a:srgbClr val="8C93A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High-speed aerial target drone</a:t>
            </a:r>
            <a:endParaRPr lang="en-US" sz="660" dirty="0"/>
          </a:p>
        </p:txBody>
      </p:sp>
      <p:sp>
        <p:nvSpPr>
          <p:cNvPr id="78" name="Shape 75"/>
          <p:cNvSpPr/>
          <p:nvPr/>
        </p:nvSpPr>
        <p:spPr>
          <a:xfrm>
            <a:off x="3639312" y="3187100"/>
            <a:ext cx="566928" cy="160020"/>
          </a:xfrm>
          <a:prstGeom prst="rect">
            <a:avLst/>
          </a:prstGeom>
          <a:solidFill>
            <a:srgbClr val="DDE3F5"/>
          </a:solidFill>
          <a:ln/>
        </p:spPr>
      </p:sp>
      <p:sp>
        <p:nvSpPr>
          <p:cNvPr id="79" name="Shape 76"/>
          <p:cNvSpPr/>
          <p:nvPr/>
        </p:nvSpPr>
        <p:spPr>
          <a:xfrm>
            <a:off x="4251960" y="3187100"/>
            <a:ext cx="566928" cy="160020"/>
          </a:xfrm>
          <a:prstGeom prst="rect">
            <a:avLst/>
          </a:prstGeom>
          <a:solidFill>
            <a:srgbClr val="B9C4EC"/>
          </a:solidFill>
          <a:ln/>
        </p:spPr>
      </p:sp>
      <p:sp>
        <p:nvSpPr>
          <p:cNvPr id="80" name="Shape 77"/>
          <p:cNvSpPr/>
          <p:nvPr/>
        </p:nvSpPr>
        <p:spPr>
          <a:xfrm>
            <a:off x="4864608" y="3187100"/>
            <a:ext cx="566928" cy="160020"/>
          </a:xfrm>
          <a:prstGeom prst="rect">
            <a:avLst/>
          </a:prstGeom>
          <a:solidFill>
            <a:srgbClr val="8B9CDD"/>
          </a:solidFill>
          <a:ln/>
        </p:spPr>
      </p:sp>
      <p:sp>
        <p:nvSpPr>
          <p:cNvPr id="81" name="Shape 78"/>
          <p:cNvSpPr/>
          <p:nvPr/>
        </p:nvSpPr>
        <p:spPr>
          <a:xfrm>
            <a:off x="5477256" y="3187100"/>
            <a:ext cx="566928" cy="160020"/>
          </a:xfrm>
          <a:prstGeom prst="rect">
            <a:avLst/>
          </a:prstGeom>
          <a:solidFill>
            <a:srgbClr val="4E66C4"/>
          </a:solidFill>
          <a:ln/>
        </p:spPr>
      </p:sp>
      <p:sp>
        <p:nvSpPr>
          <p:cNvPr id="82" name="Shape 79"/>
          <p:cNvSpPr/>
          <p:nvPr/>
        </p:nvSpPr>
        <p:spPr>
          <a:xfrm>
            <a:off x="6089904" y="3187100"/>
            <a:ext cx="566928" cy="160020"/>
          </a:xfrm>
          <a:prstGeom prst="rect">
            <a:avLst/>
          </a:prstGeom>
          <a:solidFill>
            <a:srgbClr val="021B94"/>
          </a:solidFill>
          <a:ln/>
        </p:spPr>
      </p:sp>
      <p:sp>
        <p:nvSpPr>
          <p:cNvPr id="83" name="Text 80"/>
          <p:cNvSpPr/>
          <p:nvPr/>
        </p:nvSpPr>
        <p:spPr>
          <a:xfrm>
            <a:off x="6089904" y="3187100"/>
            <a:ext cx="566928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●</a:t>
            </a:r>
            <a:endParaRPr lang="en-US" sz="600" dirty="0"/>
          </a:p>
        </p:txBody>
      </p:sp>
      <p:sp>
        <p:nvSpPr>
          <p:cNvPr id="84" name="Text 81"/>
          <p:cNvSpPr/>
          <p:nvPr/>
        </p:nvSpPr>
        <p:spPr>
          <a:xfrm>
            <a:off x="6967728" y="3177956"/>
            <a:ext cx="46451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3C465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Sole supplier of air-to-air target drones to the Brazilian Air Force</a:t>
            </a:r>
            <a:endParaRPr lang="en-US" sz="720" dirty="0"/>
          </a:p>
        </p:txBody>
      </p:sp>
      <p:sp>
        <p:nvSpPr>
          <p:cNvPr id="85" name="Text 82"/>
          <p:cNvSpPr/>
          <p:nvPr/>
        </p:nvSpPr>
        <p:spPr>
          <a:xfrm>
            <a:off x="722376" y="3369148"/>
            <a:ext cx="277977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03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Target systems</a:t>
            </a:r>
            <a:endParaRPr lang="en-US" sz="800" dirty="0"/>
          </a:p>
        </p:txBody>
      </p:sp>
      <p:sp>
        <p:nvSpPr>
          <p:cNvPr id="86" name="Text 83"/>
          <p:cNvSpPr/>
          <p:nvPr/>
        </p:nvSpPr>
        <p:spPr>
          <a:xfrm>
            <a:off x="722376" y="3474304"/>
            <a:ext cx="2779776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" dirty="0">
                <a:solidFill>
                  <a:srgbClr val="8C93A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Air-to-ground, aerial and scoring systems</a:t>
            </a:r>
            <a:endParaRPr lang="en-US" sz="660" dirty="0"/>
          </a:p>
        </p:txBody>
      </p:sp>
      <p:sp>
        <p:nvSpPr>
          <p:cNvPr id="87" name="Shape 84"/>
          <p:cNvSpPr/>
          <p:nvPr/>
        </p:nvSpPr>
        <p:spPr>
          <a:xfrm>
            <a:off x="3639312" y="3387436"/>
            <a:ext cx="566928" cy="160020"/>
          </a:xfrm>
          <a:prstGeom prst="rect">
            <a:avLst/>
          </a:prstGeom>
          <a:solidFill>
            <a:srgbClr val="DDE3F5"/>
          </a:solidFill>
          <a:ln/>
        </p:spPr>
      </p:sp>
      <p:sp>
        <p:nvSpPr>
          <p:cNvPr id="88" name="Shape 85"/>
          <p:cNvSpPr/>
          <p:nvPr/>
        </p:nvSpPr>
        <p:spPr>
          <a:xfrm>
            <a:off x="4251960" y="3387436"/>
            <a:ext cx="566928" cy="160020"/>
          </a:xfrm>
          <a:prstGeom prst="rect">
            <a:avLst/>
          </a:prstGeom>
          <a:solidFill>
            <a:srgbClr val="B9C4EC"/>
          </a:solidFill>
          <a:ln/>
        </p:spPr>
      </p:sp>
      <p:sp>
        <p:nvSpPr>
          <p:cNvPr id="89" name="Shape 86"/>
          <p:cNvSpPr/>
          <p:nvPr/>
        </p:nvSpPr>
        <p:spPr>
          <a:xfrm>
            <a:off x="4864608" y="3387436"/>
            <a:ext cx="566928" cy="160020"/>
          </a:xfrm>
          <a:prstGeom prst="rect">
            <a:avLst/>
          </a:prstGeom>
          <a:solidFill>
            <a:srgbClr val="8B9CDD"/>
          </a:solidFill>
          <a:ln/>
        </p:spPr>
      </p:sp>
      <p:sp>
        <p:nvSpPr>
          <p:cNvPr id="90" name="Shape 87"/>
          <p:cNvSpPr/>
          <p:nvPr/>
        </p:nvSpPr>
        <p:spPr>
          <a:xfrm>
            <a:off x="5477256" y="3387436"/>
            <a:ext cx="566928" cy="160020"/>
          </a:xfrm>
          <a:prstGeom prst="rect">
            <a:avLst/>
          </a:prstGeom>
          <a:solidFill>
            <a:srgbClr val="4E66C4"/>
          </a:solidFill>
          <a:ln/>
        </p:spPr>
      </p:sp>
      <p:sp>
        <p:nvSpPr>
          <p:cNvPr id="91" name="Shape 88"/>
          <p:cNvSpPr/>
          <p:nvPr/>
        </p:nvSpPr>
        <p:spPr>
          <a:xfrm>
            <a:off x="6089904" y="3387436"/>
            <a:ext cx="566928" cy="160020"/>
          </a:xfrm>
          <a:prstGeom prst="rect">
            <a:avLst/>
          </a:prstGeom>
          <a:solidFill>
            <a:srgbClr val="021B94"/>
          </a:solidFill>
          <a:ln/>
        </p:spPr>
      </p:sp>
      <p:sp>
        <p:nvSpPr>
          <p:cNvPr id="92" name="Text 89"/>
          <p:cNvSpPr/>
          <p:nvPr/>
        </p:nvSpPr>
        <p:spPr>
          <a:xfrm>
            <a:off x="6089904" y="3387436"/>
            <a:ext cx="566928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●</a:t>
            </a:r>
            <a:endParaRPr lang="en-US" sz="600" dirty="0"/>
          </a:p>
        </p:txBody>
      </p:sp>
      <p:sp>
        <p:nvSpPr>
          <p:cNvPr id="93" name="Text 90"/>
          <p:cNvSpPr/>
          <p:nvPr/>
        </p:nvSpPr>
        <p:spPr>
          <a:xfrm>
            <a:off x="6967728" y="3378292"/>
            <a:ext cx="46451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3C465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 service for live-fire training, with technical support</a:t>
            </a:r>
            <a:endParaRPr lang="en-US" sz="720" dirty="0"/>
          </a:p>
        </p:txBody>
      </p:sp>
      <p:sp>
        <p:nvSpPr>
          <p:cNvPr id="94" name="Text 91"/>
          <p:cNvSpPr/>
          <p:nvPr/>
        </p:nvSpPr>
        <p:spPr>
          <a:xfrm>
            <a:off x="722376" y="3569485"/>
            <a:ext cx="277977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03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RATO hypersonic accelerator</a:t>
            </a:r>
            <a:endParaRPr lang="en-US" sz="800" dirty="0"/>
          </a:p>
        </p:txBody>
      </p:sp>
      <p:sp>
        <p:nvSpPr>
          <p:cNvPr id="95" name="Text 92"/>
          <p:cNvSpPr/>
          <p:nvPr/>
        </p:nvSpPr>
        <p:spPr>
          <a:xfrm>
            <a:off x="722376" y="3674641"/>
            <a:ext cx="2779776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" dirty="0">
                <a:solidFill>
                  <a:srgbClr val="8C93A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Rocket-assisted take-off, Mach 10.3</a:t>
            </a:r>
            <a:endParaRPr lang="en-US" sz="660" dirty="0"/>
          </a:p>
        </p:txBody>
      </p:sp>
      <p:sp>
        <p:nvSpPr>
          <p:cNvPr id="96" name="Shape 93"/>
          <p:cNvSpPr/>
          <p:nvPr/>
        </p:nvSpPr>
        <p:spPr>
          <a:xfrm>
            <a:off x="3639312" y="3587773"/>
            <a:ext cx="566928" cy="160020"/>
          </a:xfrm>
          <a:prstGeom prst="rect">
            <a:avLst/>
          </a:prstGeom>
          <a:solidFill>
            <a:srgbClr val="DDE3F5"/>
          </a:solidFill>
          <a:ln/>
        </p:spPr>
      </p:sp>
      <p:sp>
        <p:nvSpPr>
          <p:cNvPr id="97" name="Shape 94"/>
          <p:cNvSpPr/>
          <p:nvPr/>
        </p:nvSpPr>
        <p:spPr>
          <a:xfrm>
            <a:off x="4251960" y="3587773"/>
            <a:ext cx="566928" cy="160020"/>
          </a:xfrm>
          <a:prstGeom prst="rect">
            <a:avLst/>
          </a:prstGeom>
          <a:solidFill>
            <a:srgbClr val="B9C4EC"/>
          </a:solidFill>
          <a:ln/>
        </p:spPr>
      </p:sp>
      <p:sp>
        <p:nvSpPr>
          <p:cNvPr id="98" name="Shape 95"/>
          <p:cNvSpPr/>
          <p:nvPr/>
        </p:nvSpPr>
        <p:spPr>
          <a:xfrm>
            <a:off x="4864608" y="3587773"/>
            <a:ext cx="566928" cy="160020"/>
          </a:xfrm>
          <a:prstGeom prst="rect">
            <a:avLst/>
          </a:prstGeom>
          <a:solidFill>
            <a:srgbClr val="F0F2F7"/>
          </a:solidFill>
          <a:ln/>
        </p:spPr>
      </p:sp>
      <p:sp>
        <p:nvSpPr>
          <p:cNvPr id="99" name="Shape 96"/>
          <p:cNvSpPr/>
          <p:nvPr/>
        </p:nvSpPr>
        <p:spPr>
          <a:xfrm>
            <a:off x="5477256" y="3587773"/>
            <a:ext cx="566928" cy="160020"/>
          </a:xfrm>
          <a:prstGeom prst="rect">
            <a:avLst/>
          </a:prstGeom>
          <a:solidFill>
            <a:srgbClr val="F0F2F7"/>
          </a:solidFill>
          <a:ln/>
        </p:spPr>
      </p:sp>
      <p:sp>
        <p:nvSpPr>
          <p:cNvPr id="100" name="Shape 97"/>
          <p:cNvSpPr/>
          <p:nvPr/>
        </p:nvSpPr>
        <p:spPr>
          <a:xfrm>
            <a:off x="6089904" y="3587773"/>
            <a:ext cx="566928" cy="160020"/>
          </a:xfrm>
          <a:prstGeom prst="rect">
            <a:avLst/>
          </a:prstGeom>
          <a:solidFill>
            <a:srgbClr val="F0F2F7"/>
          </a:solidFill>
          <a:ln/>
        </p:spPr>
      </p:sp>
      <p:sp>
        <p:nvSpPr>
          <p:cNvPr id="101" name="Text 98"/>
          <p:cNvSpPr/>
          <p:nvPr/>
        </p:nvSpPr>
        <p:spPr>
          <a:xfrm>
            <a:off x="4251960" y="3587773"/>
            <a:ext cx="566928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●</a:t>
            </a:r>
            <a:endParaRPr lang="en-US" sz="600" dirty="0"/>
          </a:p>
        </p:txBody>
      </p:sp>
      <p:sp>
        <p:nvSpPr>
          <p:cNvPr id="102" name="Text 99"/>
          <p:cNvSpPr/>
          <p:nvPr/>
        </p:nvSpPr>
        <p:spPr>
          <a:xfrm>
            <a:off x="6967728" y="3578629"/>
            <a:ext cx="46451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3C465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First hypersonic accelerator in Latin America  ·  step toward VLM-1 certification</a:t>
            </a:r>
            <a:endParaRPr lang="en-US" sz="720" dirty="0"/>
          </a:p>
        </p:txBody>
      </p:sp>
      <p:sp>
        <p:nvSpPr>
          <p:cNvPr id="103" name="Text 100"/>
          <p:cNvSpPr/>
          <p:nvPr/>
        </p:nvSpPr>
        <p:spPr>
          <a:xfrm>
            <a:off x="722376" y="3769822"/>
            <a:ext cx="277977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03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SRAAM</a:t>
            </a:r>
            <a:endParaRPr lang="en-US" sz="800" dirty="0"/>
          </a:p>
        </p:txBody>
      </p:sp>
      <p:sp>
        <p:nvSpPr>
          <p:cNvPr id="104" name="Text 101"/>
          <p:cNvSpPr/>
          <p:nvPr/>
        </p:nvSpPr>
        <p:spPr>
          <a:xfrm>
            <a:off x="722376" y="3874978"/>
            <a:ext cx="2779776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" dirty="0">
                <a:solidFill>
                  <a:srgbClr val="8C93A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Short-range air-to-air missile</a:t>
            </a:r>
            <a:endParaRPr lang="en-US" sz="660" dirty="0"/>
          </a:p>
        </p:txBody>
      </p:sp>
      <p:sp>
        <p:nvSpPr>
          <p:cNvPr id="105" name="Shape 102"/>
          <p:cNvSpPr/>
          <p:nvPr/>
        </p:nvSpPr>
        <p:spPr>
          <a:xfrm>
            <a:off x="3639312" y="3788110"/>
            <a:ext cx="566928" cy="160020"/>
          </a:xfrm>
          <a:prstGeom prst="rect">
            <a:avLst/>
          </a:prstGeom>
          <a:solidFill>
            <a:srgbClr val="DDE3F5"/>
          </a:solidFill>
          <a:ln/>
        </p:spPr>
      </p:sp>
      <p:sp>
        <p:nvSpPr>
          <p:cNvPr id="106" name="Shape 103"/>
          <p:cNvSpPr/>
          <p:nvPr/>
        </p:nvSpPr>
        <p:spPr>
          <a:xfrm>
            <a:off x="4251960" y="3788110"/>
            <a:ext cx="566928" cy="160020"/>
          </a:xfrm>
          <a:prstGeom prst="rect">
            <a:avLst/>
          </a:prstGeom>
          <a:solidFill>
            <a:srgbClr val="F0F2F7"/>
          </a:solidFill>
          <a:ln/>
        </p:spPr>
      </p:sp>
      <p:sp>
        <p:nvSpPr>
          <p:cNvPr id="107" name="Shape 104"/>
          <p:cNvSpPr/>
          <p:nvPr/>
        </p:nvSpPr>
        <p:spPr>
          <a:xfrm>
            <a:off x="4864608" y="3788110"/>
            <a:ext cx="566928" cy="160020"/>
          </a:xfrm>
          <a:prstGeom prst="rect">
            <a:avLst/>
          </a:prstGeom>
          <a:solidFill>
            <a:srgbClr val="F0F2F7"/>
          </a:solidFill>
          <a:ln/>
        </p:spPr>
      </p:sp>
      <p:sp>
        <p:nvSpPr>
          <p:cNvPr id="108" name="Shape 105"/>
          <p:cNvSpPr/>
          <p:nvPr/>
        </p:nvSpPr>
        <p:spPr>
          <a:xfrm>
            <a:off x="5477256" y="3788110"/>
            <a:ext cx="566928" cy="160020"/>
          </a:xfrm>
          <a:prstGeom prst="rect">
            <a:avLst/>
          </a:prstGeom>
          <a:solidFill>
            <a:srgbClr val="F0F2F7"/>
          </a:solidFill>
          <a:ln/>
        </p:spPr>
      </p:sp>
      <p:sp>
        <p:nvSpPr>
          <p:cNvPr id="109" name="Shape 106"/>
          <p:cNvSpPr/>
          <p:nvPr/>
        </p:nvSpPr>
        <p:spPr>
          <a:xfrm>
            <a:off x="6089904" y="3788110"/>
            <a:ext cx="566928" cy="160020"/>
          </a:xfrm>
          <a:prstGeom prst="rect">
            <a:avLst/>
          </a:prstGeom>
          <a:solidFill>
            <a:srgbClr val="F0F2F7"/>
          </a:solidFill>
          <a:ln/>
        </p:spPr>
      </p:sp>
      <p:sp>
        <p:nvSpPr>
          <p:cNvPr id="110" name="Text 107"/>
          <p:cNvSpPr/>
          <p:nvPr/>
        </p:nvSpPr>
        <p:spPr>
          <a:xfrm>
            <a:off x="3639312" y="3788110"/>
            <a:ext cx="566928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●</a:t>
            </a:r>
            <a:endParaRPr lang="en-US" sz="600" dirty="0"/>
          </a:p>
        </p:txBody>
      </p:sp>
      <p:sp>
        <p:nvSpPr>
          <p:cNvPr id="111" name="Text 108"/>
          <p:cNvSpPr/>
          <p:nvPr/>
        </p:nvSpPr>
        <p:spPr>
          <a:xfrm>
            <a:off x="6967728" y="3778966"/>
            <a:ext cx="46451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3C465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Named as under development in the unit’s core capabilities</a:t>
            </a:r>
            <a:endParaRPr lang="en-US" sz="720" dirty="0"/>
          </a:p>
        </p:txBody>
      </p:sp>
      <p:sp>
        <p:nvSpPr>
          <p:cNvPr id="112" name="Text 109"/>
          <p:cNvSpPr/>
          <p:nvPr/>
        </p:nvSpPr>
        <p:spPr>
          <a:xfrm>
            <a:off x="722376" y="3970159"/>
            <a:ext cx="277977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03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MAR-1</a:t>
            </a:r>
            <a:endParaRPr lang="en-US" sz="800" dirty="0"/>
          </a:p>
        </p:txBody>
      </p:sp>
      <p:sp>
        <p:nvSpPr>
          <p:cNvPr id="113" name="Text 110"/>
          <p:cNvSpPr/>
          <p:nvPr/>
        </p:nvSpPr>
        <p:spPr>
          <a:xfrm>
            <a:off x="722376" y="4075315"/>
            <a:ext cx="2779776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" dirty="0">
                <a:solidFill>
                  <a:srgbClr val="8C93A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Anti-radiation missile for SEAD</a:t>
            </a:r>
            <a:endParaRPr lang="en-US" sz="660" dirty="0"/>
          </a:p>
        </p:txBody>
      </p:sp>
      <p:sp>
        <p:nvSpPr>
          <p:cNvPr id="114" name="Shape 111"/>
          <p:cNvSpPr/>
          <p:nvPr/>
        </p:nvSpPr>
        <p:spPr>
          <a:xfrm>
            <a:off x="3639312" y="3988447"/>
            <a:ext cx="566928" cy="160020"/>
          </a:xfrm>
          <a:prstGeom prst="rect">
            <a:avLst/>
          </a:prstGeom>
          <a:solidFill>
            <a:srgbClr val="DDE3F5"/>
          </a:solidFill>
          <a:ln/>
        </p:spPr>
      </p:sp>
      <p:sp>
        <p:nvSpPr>
          <p:cNvPr id="115" name="Shape 112"/>
          <p:cNvSpPr/>
          <p:nvPr/>
        </p:nvSpPr>
        <p:spPr>
          <a:xfrm>
            <a:off x="4251960" y="3988447"/>
            <a:ext cx="566928" cy="160020"/>
          </a:xfrm>
          <a:prstGeom prst="rect">
            <a:avLst/>
          </a:prstGeom>
          <a:solidFill>
            <a:srgbClr val="F0F2F7"/>
          </a:solidFill>
          <a:ln/>
        </p:spPr>
      </p:sp>
      <p:sp>
        <p:nvSpPr>
          <p:cNvPr id="116" name="Shape 113"/>
          <p:cNvSpPr/>
          <p:nvPr/>
        </p:nvSpPr>
        <p:spPr>
          <a:xfrm>
            <a:off x="4864608" y="3988447"/>
            <a:ext cx="566928" cy="160020"/>
          </a:xfrm>
          <a:prstGeom prst="rect">
            <a:avLst/>
          </a:prstGeom>
          <a:solidFill>
            <a:srgbClr val="F0F2F7"/>
          </a:solidFill>
          <a:ln/>
        </p:spPr>
      </p:sp>
      <p:sp>
        <p:nvSpPr>
          <p:cNvPr id="117" name="Shape 114"/>
          <p:cNvSpPr/>
          <p:nvPr/>
        </p:nvSpPr>
        <p:spPr>
          <a:xfrm>
            <a:off x="5477256" y="3988447"/>
            <a:ext cx="566928" cy="160020"/>
          </a:xfrm>
          <a:prstGeom prst="rect">
            <a:avLst/>
          </a:prstGeom>
          <a:solidFill>
            <a:srgbClr val="F0F2F7"/>
          </a:solidFill>
          <a:ln/>
        </p:spPr>
      </p:sp>
      <p:sp>
        <p:nvSpPr>
          <p:cNvPr id="118" name="Shape 115"/>
          <p:cNvSpPr/>
          <p:nvPr/>
        </p:nvSpPr>
        <p:spPr>
          <a:xfrm>
            <a:off x="6089904" y="3988447"/>
            <a:ext cx="566928" cy="160020"/>
          </a:xfrm>
          <a:prstGeom prst="rect">
            <a:avLst/>
          </a:prstGeom>
          <a:solidFill>
            <a:srgbClr val="F0F2F7"/>
          </a:solidFill>
          <a:ln/>
        </p:spPr>
      </p:sp>
      <p:sp>
        <p:nvSpPr>
          <p:cNvPr id="119" name="Text 116"/>
          <p:cNvSpPr/>
          <p:nvPr/>
        </p:nvSpPr>
        <p:spPr>
          <a:xfrm>
            <a:off x="3639312" y="3988447"/>
            <a:ext cx="566928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●</a:t>
            </a:r>
            <a:endParaRPr lang="en-US" sz="600" dirty="0"/>
          </a:p>
        </p:txBody>
      </p:sp>
      <p:sp>
        <p:nvSpPr>
          <p:cNvPr id="120" name="Text 117"/>
          <p:cNvSpPr/>
          <p:nvPr/>
        </p:nvSpPr>
        <p:spPr>
          <a:xfrm>
            <a:off x="6967728" y="3979303"/>
            <a:ext cx="46451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3C465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Named as under development in the unit’s core capabilities</a:t>
            </a:r>
            <a:endParaRPr lang="en-US" sz="720" dirty="0"/>
          </a:p>
        </p:txBody>
      </p:sp>
      <p:sp>
        <p:nvSpPr>
          <p:cNvPr id="121" name="Shape 118"/>
          <p:cNvSpPr/>
          <p:nvPr/>
        </p:nvSpPr>
        <p:spPr>
          <a:xfrm>
            <a:off x="576072" y="4261935"/>
            <a:ext cx="73152" cy="118872"/>
          </a:xfrm>
          <a:prstGeom prst="rect">
            <a:avLst/>
          </a:prstGeom>
          <a:solidFill>
            <a:srgbClr val="C97A85"/>
          </a:solidFill>
          <a:ln/>
        </p:spPr>
      </p:sp>
      <p:sp>
        <p:nvSpPr>
          <p:cNvPr id="122" name="Text 119"/>
          <p:cNvSpPr/>
          <p:nvPr/>
        </p:nvSpPr>
        <p:spPr>
          <a:xfrm>
            <a:off x="722376" y="4207071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97A8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Space Systems</a:t>
            </a:r>
            <a:endParaRPr lang="en-US" sz="950" dirty="0"/>
          </a:p>
        </p:txBody>
      </p:sp>
      <p:sp>
        <p:nvSpPr>
          <p:cNvPr id="123" name="Shape 120"/>
          <p:cNvSpPr/>
          <p:nvPr/>
        </p:nvSpPr>
        <p:spPr>
          <a:xfrm>
            <a:off x="576072" y="4380807"/>
            <a:ext cx="11036808" cy="7315"/>
          </a:xfrm>
          <a:prstGeom prst="rect">
            <a:avLst/>
          </a:prstGeom>
          <a:solidFill>
            <a:srgbClr val="E6E8EE"/>
          </a:solidFill>
          <a:ln/>
        </p:spPr>
      </p:sp>
      <p:sp>
        <p:nvSpPr>
          <p:cNvPr id="124" name="Text 121"/>
          <p:cNvSpPr/>
          <p:nvPr/>
        </p:nvSpPr>
        <p:spPr>
          <a:xfrm>
            <a:off x="722376" y="4389951"/>
            <a:ext cx="277977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03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VLM-1</a:t>
            </a:r>
            <a:endParaRPr lang="en-US" sz="800" dirty="0"/>
          </a:p>
        </p:txBody>
      </p:sp>
      <p:sp>
        <p:nvSpPr>
          <p:cNvPr id="125" name="Text 122"/>
          <p:cNvSpPr/>
          <p:nvPr/>
        </p:nvSpPr>
        <p:spPr>
          <a:xfrm>
            <a:off x="722376" y="4495107"/>
            <a:ext cx="2779776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" dirty="0">
                <a:solidFill>
                  <a:srgbClr val="8C93A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Microsatellite launch vehicle, 500 kg to LEO</a:t>
            </a:r>
            <a:endParaRPr lang="en-US" sz="660" dirty="0"/>
          </a:p>
        </p:txBody>
      </p:sp>
      <p:sp>
        <p:nvSpPr>
          <p:cNvPr id="126" name="Shape 123"/>
          <p:cNvSpPr/>
          <p:nvPr/>
        </p:nvSpPr>
        <p:spPr>
          <a:xfrm>
            <a:off x="3639312" y="4408239"/>
            <a:ext cx="566928" cy="160020"/>
          </a:xfrm>
          <a:prstGeom prst="rect">
            <a:avLst/>
          </a:prstGeom>
          <a:solidFill>
            <a:srgbClr val="DDE3F5"/>
          </a:solidFill>
          <a:ln/>
        </p:spPr>
      </p:sp>
      <p:sp>
        <p:nvSpPr>
          <p:cNvPr id="127" name="Shape 124"/>
          <p:cNvSpPr/>
          <p:nvPr/>
        </p:nvSpPr>
        <p:spPr>
          <a:xfrm>
            <a:off x="4251960" y="4408239"/>
            <a:ext cx="566928" cy="160020"/>
          </a:xfrm>
          <a:prstGeom prst="rect">
            <a:avLst/>
          </a:prstGeom>
          <a:solidFill>
            <a:srgbClr val="B9C4EC"/>
          </a:solidFill>
          <a:ln/>
        </p:spPr>
      </p:sp>
      <p:sp>
        <p:nvSpPr>
          <p:cNvPr id="128" name="Shape 125"/>
          <p:cNvSpPr/>
          <p:nvPr/>
        </p:nvSpPr>
        <p:spPr>
          <a:xfrm>
            <a:off x="4864608" y="4408239"/>
            <a:ext cx="566928" cy="160020"/>
          </a:xfrm>
          <a:prstGeom prst="rect">
            <a:avLst/>
          </a:prstGeom>
          <a:solidFill>
            <a:srgbClr val="F0F2F7"/>
          </a:solidFill>
          <a:ln/>
        </p:spPr>
      </p:sp>
      <p:sp>
        <p:nvSpPr>
          <p:cNvPr id="129" name="Shape 126"/>
          <p:cNvSpPr/>
          <p:nvPr/>
        </p:nvSpPr>
        <p:spPr>
          <a:xfrm>
            <a:off x="5477256" y="4408239"/>
            <a:ext cx="566928" cy="160020"/>
          </a:xfrm>
          <a:prstGeom prst="rect">
            <a:avLst/>
          </a:prstGeom>
          <a:solidFill>
            <a:srgbClr val="F0F2F7"/>
          </a:solidFill>
          <a:ln/>
        </p:spPr>
      </p:sp>
      <p:sp>
        <p:nvSpPr>
          <p:cNvPr id="130" name="Shape 127"/>
          <p:cNvSpPr/>
          <p:nvPr/>
        </p:nvSpPr>
        <p:spPr>
          <a:xfrm>
            <a:off x="6089904" y="4408239"/>
            <a:ext cx="566928" cy="160020"/>
          </a:xfrm>
          <a:prstGeom prst="rect">
            <a:avLst/>
          </a:prstGeom>
          <a:solidFill>
            <a:srgbClr val="F0F2F7"/>
          </a:solidFill>
          <a:ln/>
        </p:spPr>
      </p:sp>
      <p:sp>
        <p:nvSpPr>
          <p:cNvPr id="131" name="Text 128"/>
          <p:cNvSpPr/>
          <p:nvPr/>
        </p:nvSpPr>
        <p:spPr>
          <a:xfrm>
            <a:off x="4251960" y="4408239"/>
            <a:ext cx="566928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●</a:t>
            </a:r>
            <a:endParaRPr lang="en-US" sz="600" dirty="0"/>
          </a:p>
        </p:txBody>
      </p:sp>
      <p:sp>
        <p:nvSpPr>
          <p:cNvPr id="132" name="Text 129"/>
          <p:cNvSpPr/>
          <p:nvPr/>
        </p:nvSpPr>
        <p:spPr>
          <a:xfrm>
            <a:off x="6967728" y="4399095"/>
            <a:ext cx="46451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3C465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Brazil’s first space launch vehicle  ·  industrialisation started in 2025</a:t>
            </a:r>
            <a:endParaRPr lang="en-US" sz="720" dirty="0"/>
          </a:p>
        </p:txBody>
      </p:sp>
      <p:sp>
        <p:nvSpPr>
          <p:cNvPr id="133" name="Text 130"/>
          <p:cNvSpPr/>
          <p:nvPr/>
        </p:nvSpPr>
        <p:spPr>
          <a:xfrm>
            <a:off x="576072" y="4828032"/>
            <a:ext cx="11036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620" dirty="0">
                <a:solidFill>
                  <a:srgbClr val="8C93A8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Stage is the highest step the product satisfies: in production = delivered, in service, combat proven or under signed contract; qualified = 100% completion published; capacity rated = annual production capacity published; in build = completion published below 100% or plant under construction; in development = specified without either. Evidence as published by the Company.</a:t>
            </a:r>
            <a:endParaRPr lang="en-US" sz="620" dirty="0"/>
          </a:p>
        </p:txBody>
      </p:sp>
      <p:sp>
        <p:nvSpPr>
          <p:cNvPr id="134" name="Shape 131"/>
          <p:cNvSpPr/>
          <p:nvPr/>
        </p:nvSpPr>
        <p:spPr>
          <a:xfrm>
            <a:off x="0" y="5159959"/>
            <a:ext cx="12191695" cy="1698041"/>
          </a:xfrm>
          <a:prstGeom prst="rect">
            <a:avLst/>
          </a:prstGeom>
          <a:solidFill>
            <a:srgbClr val="00092B"/>
          </a:solidFill>
          <a:ln/>
        </p:spPr>
      </p:sp>
      <p:sp>
        <p:nvSpPr>
          <p:cNvPr id="135" name="Shape 132"/>
          <p:cNvSpPr/>
          <p:nvPr/>
        </p:nvSpPr>
        <p:spPr>
          <a:xfrm>
            <a:off x="70409" y="5159959"/>
            <a:ext cx="27432" cy="1698041"/>
          </a:xfrm>
          <a:prstGeom prst="rect">
            <a:avLst/>
          </a:prstGeom>
          <a:solidFill>
            <a:srgbClr val="1C2441"/>
          </a:solidFill>
          <a:ln/>
        </p:spPr>
      </p:sp>
      <p:sp>
        <p:nvSpPr>
          <p:cNvPr id="136" name="Shape 133"/>
          <p:cNvSpPr/>
          <p:nvPr/>
        </p:nvSpPr>
        <p:spPr>
          <a:xfrm>
            <a:off x="1520647" y="5159959"/>
            <a:ext cx="27432" cy="1698041"/>
          </a:xfrm>
          <a:prstGeom prst="rect">
            <a:avLst/>
          </a:prstGeom>
          <a:solidFill>
            <a:srgbClr val="1C2441"/>
          </a:solidFill>
          <a:ln/>
        </p:spPr>
      </p:sp>
      <p:sp>
        <p:nvSpPr>
          <p:cNvPr id="137" name="Shape 134"/>
          <p:cNvSpPr/>
          <p:nvPr/>
        </p:nvSpPr>
        <p:spPr>
          <a:xfrm>
            <a:off x="2970886" y="5159959"/>
            <a:ext cx="27432" cy="1698041"/>
          </a:xfrm>
          <a:prstGeom prst="rect">
            <a:avLst/>
          </a:prstGeom>
          <a:solidFill>
            <a:srgbClr val="1C2441"/>
          </a:solidFill>
          <a:ln/>
        </p:spPr>
      </p:sp>
      <p:sp>
        <p:nvSpPr>
          <p:cNvPr id="138" name="Shape 135"/>
          <p:cNvSpPr/>
          <p:nvPr/>
        </p:nvSpPr>
        <p:spPr>
          <a:xfrm>
            <a:off x="4421124" y="5159959"/>
            <a:ext cx="27432" cy="1698041"/>
          </a:xfrm>
          <a:prstGeom prst="rect">
            <a:avLst/>
          </a:prstGeom>
          <a:solidFill>
            <a:srgbClr val="1C2441"/>
          </a:solidFill>
          <a:ln/>
        </p:spPr>
      </p:sp>
      <p:sp>
        <p:nvSpPr>
          <p:cNvPr id="139" name="Shape 136"/>
          <p:cNvSpPr/>
          <p:nvPr/>
        </p:nvSpPr>
        <p:spPr>
          <a:xfrm>
            <a:off x="5871362" y="5159959"/>
            <a:ext cx="27432" cy="1698041"/>
          </a:xfrm>
          <a:prstGeom prst="rect">
            <a:avLst/>
          </a:prstGeom>
          <a:solidFill>
            <a:srgbClr val="1C2441"/>
          </a:solidFill>
          <a:ln/>
        </p:spPr>
      </p:sp>
      <p:sp>
        <p:nvSpPr>
          <p:cNvPr id="140" name="Shape 137"/>
          <p:cNvSpPr/>
          <p:nvPr/>
        </p:nvSpPr>
        <p:spPr>
          <a:xfrm>
            <a:off x="7321601" y="5159959"/>
            <a:ext cx="27432" cy="1698041"/>
          </a:xfrm>
          <a:prstGeom prst="rect">
            <a:avLst/>
          </a:prstGeom>
          <a:solidFill>
            <a:srgbClr val="1C2441"/>
          </a:solidFill>
          <a:ln/>
        </p:spPr>
      </p:sp>
      <p:sp>
        <p:nvSpPr>
          <p:cNvPr id="141" name="Shape 138"/>
          <p:cNvSpPr/>
          <p:nvPr/>
        </p:nvSpPr>
        <p:spPr>
          <a:xfrm>
            <a:off x="8771839" y="5159959"/>
            <a:ext cx="27432" cy="1698041"/>
          </a:xfrm>
          <a:prstGeom prst="rect">
            <a:avLst/>
          </a:prstGeom>
          <a:solidFill>
            <a:srgbClr val="1C2441"/>
          </a:solidFill>
          <a:ln/>
        </p:spPr>
      </p:sp>
      <p:sp>
        <p:nvSpPr>
          <p:cNvPr id="142" name="Shape 139"/>
          <p:cNvSpPr/>
          <p:nvPr/>
        </p:nvSpPr>
        <p:spPr>
          <a:xfrm>
            <a:off x="10222078" y="5159959"/>
            <a:ext cx="27432" cy="1698041"/>
          </a:xfrm>
          <a:prstGeom prst="rect">
            <a:avLst/>
          </a:prstGeom>
          <a:solidFill>
            <a:srgbClr val="1C2441"/>
          </a:solidFill>
          <a:ln/>
        </p:spPr>
      </p:sp>
      <p:sp>
        <p:nvSpPr>
          <p:cNvPr id="143" name="Shape 140"/>
          <p:cNvSpPr/>
          <p:nvPr/>
        </p:nvSpPr>
        <p:spPr>
          <a:xfrm>
            <a:off x="11672316" y="5159959"/>
            <a:ext cx="27432" cy="1698041"/>
          </a:xfrm>
          <a:prstGeom prst="rect">
            <a:avLst/>
          </a:prstGeom>
          <a:solidFill>
            <a:srgbClr val="1C2441"/>
          </a:solidFill>
          <a:ln/>
        </p:spPr>
      </p:sp>
      <p:sp>
        <p:nvSpPr>
          <p:cNvPr id="144" name="Text 141"/>
          <p:cNvSpPr/>
          <p:nvPr/>
        </p:nvSpPr>
        <p:spPr>
          <a:xfrm>
            <a:off x="548640" y="5358384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Where the portfolio sits</a:t>
            </a:r>
            <a:endParaRPr lang="en-US" sz="1000" dirty="0"/>
          </a:p>
        </p:txBody>
      </p:sp>
      <p:sp>
        <p:nvSpPr>
          <p:cNvPr id="145" name="Shape 142"/>
          <p:cNvSpPr/>
          <p:nvPr/>
        </p:nvSpPr>
        <p:spPr>
          <a:xfrm>
            <a:off x="548640" y="5586984"/>
            <a:ext cx="4937760" cy="9144"/>
          </a:xfrm>
          <a:prstGeom prst="rect">
            <a:avLst/>
          </a:prstGeom>
          <a:solidFill>
            <a:srgbClr val="3C4E86"/>
          </a:solidFill>
          <a:ln/>
        </p:spPr>
      </p:sp>
      <p:sp>
        <p:nvSpPr>
          <p:cNvPr id="146" name="Shape 143"/>
          <p:cNvSpPr/>
          <p:nvPr/>
        </p:nvSpPr>
        <p:spPr>
          <a:xfrm>
            <a:off x="548640" y="5705856"/>
            <a:ext cx="897775" cy="310896"/>
          </a:xfrm>
          <a:prstGeom prst="rect">
            <a:avLst/>
          </a:prstGeom>
          <a:solidFill>
            <a:srgbClr val="DDE3F5"/>
          </a:solidFill>
          <a:ln/>
        </p:spPr>
      </p:sp>
      <p:sp>
        <p:nvSpPr>
          <p:cNvPr id="147" name="Text 144"/>
          <p:cNvSpPr/>
          <p:nvPr/>
        </p:nvSpPr>
        <p:spPr>
          <a:xfrm>
            <a:off x="548640" y="5705856"/>
            <a:ext cx="89777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1F6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000" dirty="0"/>
          </a:p>
        </p:txBody>
      </p:sp>
      <p:sp>
        <p:nvSpPr>
          <p:cNvPr id="148" name="Shape 145"/>
          <p:cNvSpPr/>
          <p:nvPr/>
        </p:nvSpPr>
        <p:spPr>
          <a:xfrm>
            <a:off x="1446415" y="5705856"/>
            <a:ext cx="1346662" cy="310896"/>
          </a:xfrm>
          <a:prstGeom prst="rect">
            <a:avLst/>
          </a:prstGeom>
          <a:solidFill>
            <a:srgbClr val="B9C4EC"/>
          </a:solidFill>
          <a:ln/>
        </p:spPr>
      </p:sp>
      <p:sp>
        <p:nvSpPr>
          <p:cNvPr id="149" name="Text 146"/>
          <p:cNvSpPr/>
          <p:nvPr/>
        </p:nvSpPr>
        <p:spPr>
          <a:xfrm>
            <a:off x="1446415" y="5705856"/>
            <a:ext cx="13466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1F6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000" dirty="0"/>
          </a:p>
        </p:txBody>
      </p:sp>
      <p:sp>
        <p:nvSpPr>
          <p:cNvPr id="150" name="Shape 147"/>
          <p:cNvSpPr/>
          <p:nvPr/>
        </p:nvSpPr>
        <p:spPr>
          <a:xfrm>
            <a:off x="2793076" y="5705856"/>
            <a:ext cx="1346662" cy="310896"/>
          </a:xfrm>
          <a:prstGeom prst="rect">
            <a:avLst/>
          </a:prstGeom>
          <a:solidFill>
            <a:srgbClr val="8B9CDD"/>
          </a:solidFill>
          <a:ln/>
        </p:spPr>
      </p:sp>
      <p:sp>
        <p:nvSpPr>
          <p:cNvPr id="151" name="Text 148"/>
          <p:cNvSpPr/>
          <p:nvPr/>
        </p:nvSpPr>
        <p:spPr>
          <a:xfrm>
            <a:off x="2793076" y="5705856"/>
            <a:ext cx="13466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1F6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000" dirty="0"/>
          </a:p>
        </p:txBody>
      </p:sp>
      <p:sp>
        <p:nvSpPr>
          <p:cNvPr id="152" name="Shape 149"/>
          <p:cNvSpPr/>
          <p:nvPr/>
        </p:nvSpPr>
        <p:spPr>
          <a:xfrm>
            <a:off x="4139738" y="5705856"/>
            <a:ext cx="1346662" cy="310896"/>
          </a:xfrm>
          <a:prstGeom prst="rect">
            <a:avLst/>
          </a:prstGeom>
          <a:solidFill>
            <a:srgbClr val="021B94"/>
          </a:solidFill>
          <a:ln/>
        </p:spPr>
      </p:sp>
      <p:sp>
        <p:nvSpPr>
          <p:cNvPr id="153" name="Text 150"/>
          <p:cNvSpPr/>
          <p:nvPr/>
        </p:nvSpPr>
        <p:spPr>
          <a:xfrm>
            <a:off x="4139738" y="5705856"/>
            <a:ext cx="13466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000" dirty="0"/>
          </a:p>
        </p:txBody>
      </p:sp>
      <p:sp>
        <p:nvSpPr>
          <p:cNvPr id="154" name="Shape 151"/>
          <p:cNvSpPr/>
          <p:nvPr/>
        </p:nvSpPr>
        <p:spPr>
          <a:xfrm>
            <a:off x="548640" y="6153912"/>
            <a:ext cx="82296" cy="82296"/>
          </a:xfrm>
          <a:prstGeom prst="rect">
            <a:avLst/>
          </a:prstGeom>
          <a:solidFill>
            <a:srgbClr val="DDE3F5"/>
          </a:solidFill>
          <a:ln/>
        </p:spPr>
      </p:sp>
      <p:sp>
        <p:nvSpPr>
          <p:cNvPr id="155" name="Text 152"/>
          <p:cNvSpPr/>
          <p:nvPr/>
        </p:nvSpPr>
        <p:spPr>
          <a:xfrm>
            <a:off x="667512" y="6099048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C6CBD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 development</a:t>
            </a:r>
            <a:endParaRPr lang="en-US" sz="700" dirty="0"/>
          </a:p>
        </p:txBody>
      </p:sp>
      <p:sp>
        <p:nvSpPr>
          <p:cNvPr id="156" name="Shape 153"/>
          <p:cNvSpPr/>
          <p:nvPr/>
        </p:nvSpPr>
        <p:spPr>
          <a:xfrm>
            <a:off x="1411834" y="6153912"/>
            <a:ext cx="82296" cy="82296"/>
          </a:xfrm>
          <a:prstGeom prst="rect">
            <a:avLst/>
          </a:prstGeom>
          <a:solidFill>
            <a:srgbClr val="B9C4EC"/>
          </a:solidFill>
          <a:ln/>
        </p:spPr>
      </p:sp>
      <p:sp>
        <p:nvSpPr>
          <p:cNvPr id="157" name="Text 154"/>
          <p:cNvSpPr/>
          <p:nvPr/>
        </p:nvSpPr>
        <p:spPr>
          <a:xfrm>
            <a:off x="1530706" y="6099048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C6CBD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 build</a:t>
            </a:r>
            <a:endParaRPr lang="en-US" sz="700" dirty="0"/>
          </a:p>
        </p:txBody>
      </p:sp>
      <p:sp>
        <p:nvSpPr>
          <p:cNvPr id="158" name="Shape 155"/>
          <p:cNvSpPr/>
          <p:nvPr/>
        </p:nvSpPr>
        <p:spPr>
          <a:xfrm>
            <a:off x="2022653" y="6153912"/>
            <a:ext cx="82296" cy="82296"/>
          </a:xfrm>
          <a:prstGeom prst="rect">
            <a:avLst/>
          </a:prstGeom>
          <a:solidFill>
            <a:srgbClr val="8B9CDD"/>
          </a:solidFill>
          <a:ln/>
        </p:spPr>
      </p:sp>
      <p:sp>
        <p:nvSpPr>
          <p:cNvPr id="159" name="Text 156"/>
          <p:cNvSpPr/>
          <p:nvPr/>
        </p:nvSpPr>
        <p:spPr>
          <a:xfrm>
            <a:off x="2141525" y="6099048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C6CBD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Capacity rated</a:t>
            </a:r>
            <a:endParaRPr lang="en-US" sz="700" dirty="0"/>
          </a:p>
        </p:txBody>
      </p:sp>
      <p:sp>
        <p:nvSpPr>
          <p:cNvPr id="160" name="Shape 157"/>
          <p:cNvSpPr/>
          <p:nvPr/>
        </p:nvSpPr>
        <p:spPr>
          <a:xfrm>
            <a:off x="2885846" y="6153912"/>
            <a:ext cx="82296" cy="82296"/>
          </a:xfrm>
          <a:prstGeom prst="rect">
            <a:avLst/>
          </a:prstGeom>
          <a:solidFill>
            <a:srgbClr val="021B94"/>
          </a:solidFill>
          <a:ln/>
        </p:spPr>
      </p:sp>
      <p:sp>
        <p:nvSpPr>
          <p:cNvPr id="161" name="Text 158"/>
          <p:cNvSpPr/>
          <p:nvPr/>
        </p:nvSpPr>
        <p:spPr>
          <a:xfrm>
            <a:off x="3004718" y="6099048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C6CBD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 production</a:t>
            </a:r>
            <a:endParaRPr lang="en-US" sz="700" dirty="0"/>
          </a:p>
        </p:txBody>
      </p:sp>
      <p:sp>
        <p:nvSpPr>
          <p:cNvPr id="162" name="Text 159"/>
          <p:cNvSpPr/>
          <p:nvPr/>
        </p:nvSpPr>
        <p:spPr>
          <a:xfrm>
            <a:off x="6035040" y="5358384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6 of 11 products already have a rated production line</a:t>
            </a:r>
            <a:endParaRPr lang="en-US" sz="1000" dirty="0"/>
          </a:p>
        </p:txBody>
      </p:sp>
      <p:sp>
        <p:nvSpPr>
          <p:cNvPr id="163" name="Shape 160"/>
          <p:cNvSpPr/>
          <p:nvPr/>
        </p:nvSpPr>
        <p:spPr>
          <a:xfrm>
            <a:off x="6035040" y="5586984"/>
            <a:ext cx="5797296" cy="9144"/>
          </a:xfrm>
          <a:prstGeom prst="rect">
            <a:avLst/>
          </a:prstGeom>
          <a:solidFill>
            <a:srgbClr val="3C4E86"/>
          </a:solidFill>
          <a:ln/>
        </p:spPr>
      </p:sp>
      <p:sp>
        <p:nvSpPr>
          <p:cNvPr id="164" name="Shape 161"/>
          <p:cNvSpPr/>
          <p:nvPr/>
        </p:nvSpPr>
        <p:spPr>
          <a:xfrm>
            <a:off x="6035040" y="5774436"/>
            <a:ext cx="64008" cy="64008"/>
          </a:xfrm>
          <a:prstGeom prst="rect">
            <a:avLst/>
          </a:prstGeom>
          <a:solidFill>
            <a:srgbClr val="95A8FE"/>
          </a:solidFill>
          <a:ln/>
        </p:spPr>
      </p:sp>
      <p:sp>
        <p:nvSpPr>
          <p:cNvPr id="165" name="Text 162"/>
          <p:cNvSpPr/>
          <p:nvPr/>
        </p:nvSpPr>
        <p:spPr>
          <a:xfrm>
            <a:off x="6199632" y="5705856"/>
            <a:ext cx="56327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C6CBD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Energetics sells the line itself: US$ 75 mm is already signed and a support contract is running</a:t>
            </a:r>
            <a:endParaRPr lang="en-US" sz="820" dirty="0"/>
          </a:p>
        </p:txBody>
      </p:sp>
      <p:sp>
        <p:nvSpPr>
          <p:cNvPr id="166" name="Shape 163"/>
          <p:cNvSpPr/>
          <p:nvPr/>
        </p:nvSpPr>
        <p:spPr>
          <a:xfrm>
            <a:off x="6035040" y="6021324"/>
            <a:ext cx="64008" cy="64008"/>
          </a:xfrm>
          <a:prstGeom prst="rect">
            <a:avLst/>
          </a:prstGeom>
          <a:solidFill>
            <a:srgbClr val="95A8FE"/>
          </a:solidFill>
          <a:ln/>
        </p:spPr>
      </p:sp>
      <p:sp>
        <p:nvSpPr>
          <p:cNvPr id="167" name="Text 164"/>
          <p:cNvSpPr/>
          <p:nvPr/>
        </p:nvSpPr>
        <p:spPr>
          <a:xfrm>
            <a:off x="6199632" y="5952744"/>
            <a:ext cx="56327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C6CBD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target and drone family is in service as sole supplier to the Brazilian Air Force</a:t>
            </a:r>
            <a:endParaRPr lang="en-US" sz="820" dirty="0"/>
          </a:p>
        </p:txBody>
      </p:sp>
      <p:sp>
        <p:nvSpPr>
          <p:cNvPr id="168" name="Shape 165"/>
          <p:cNvSpPr/>
          <p:nvPr/>
        </p:nvSpPr>
        <p:spPr>
          <a:xfrm>
            <a:off x="6035040" y="6268212"/>
            <a:ext cx="64008" cy="64008"/>
          </a:xfrm>
          <a:prstGeom prst="rect">
            <a:avLst/>
          </a:prstGeom>
          <a:solidFill>
            <a:srgbClr val="95A8FE"/>
          </a:solidFill>
          <a:ln/>
        </p:spPr>
      </p:sp>
      <p:sp>
        <p:nvSpPr>
          <p:cNvPr id="169" name="Text 166"/>
          <p:cNvSpPr/>
          <p:nvPr/>
        </p:nvSpPr>
        <p:spPr>
          <a:xfrm>
            <a:off x="6199632" y="6199632"/>
            <a:ext cx="56327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C6CBD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Development is concentrated in three programmes — RATO, SRAAM and MAR-1 — and in the VLM-1</a:t>
            </a:r>
            <a:endParaRPr lang="en-US" sz="820" dirty="0"/>
          </a:p>
        </p:txBody>
      </p:sp>
      <p:sp>
        <p:nvSpPr>
          <p:cNvPr id="170" name="Text 167"/>
          <p:cNvSpPr/>
          <p:nvPr/>
        </p:nvSpPr>
        <p:spPr>
          <a:xfrm>
            <a:off x="626364" y="6455664"/>
            <a:ext cx="9875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4" dirty="0">
                <a:solidFill>
                  <a:srgbClr val="D8D8D8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Source: Company — Information Memorandum portfolio pages and commercial review of backlog and pipeline, 5 Aug 2026 (rev. 2).</a:t>
            </a:r>
            <a:endParaRPr lang="en-US" sz="804" dirty="0"/>
          </a:p>
        </p:txBody>
      </p:sp>
      <p:sp>
        <p:nvSpPr>
          <p:cNvPr id="171" name="Text 168"/>
          <p:cNvSpPr/>
          <p:nvPr/>
        </p:nvSpPr>
        <p:spPr>
          <a:xfrm>
            <a:off x="357530" y="6455664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4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52</a:t>
            </a:r>
            <a:endParaRPr lang="en-US" sz="804" dirty="0"/>
          </a:p>
        </p:txBody>
      </p:sp>
      <p:sp>
        <p:nvSpPr>
          <p:cNvPr id="172" name="Shape 169"/>
          <p:cNvSpPr/>
          <p:nvPr/>
        </p:nvSpPr>
        <p:spPr>
          <a:xfrm>
            <a:off x="10931652" y="6469380"/>
            <a:ext cx="932688" cy="196596"/>
          </a:xfrm>
          <a:prstGeom prst="roundRect">
            <a:avLst>
              <a:gd name="adj" fmla="val 18605"/>
            </a:avLst>
          </a:prstGeom>
          <a:ln w="9525">
            <a:solidFill>
              <a:srgbClr val="3C4E86"/>
            </a:solidFill>
            <a:prstDash val="solid"/>
          </a:ln>
        </p:spPr>
      </p:sp>
      <p:sp>
        <p:nvSpPr>
          <p:cNvPr id="173" name="Text 170"/>
          <p:cNvSpPr/>
          <p:nvPr/>
        </p:nvSpPr>
        <p:spPr>
          <a:xfrm>
            <a:off x="10931652" y="6469380"/>
            <a:ext cx="932688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96" dirty="0">
                <a:solidFill>
                  <a:srgbClr val="9DAD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Confidential</a:t>
            </a:r>
            <a:endParaRPr lang="en-US" sz="696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IGC Partners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IGC Partners</dc:creator>
  <cp:lastModifiedBy>IGC Partners</cp:lastModifiedBy>
  <cp:revision>1</cp:revision>
  <dcterms:created xsi:type="dcterms:W3CDTF">2026-09-03T17:57:18Z</dcterms:created>
  <dcterms:modified xsi:type="dcterms:W3CDTF">2026-09-03T17:57:18Z</dcterms:modified>
</cp:coreProperties>
</file>
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278" y="22402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At a Glance</a:t>
            </a:r>
            <a:endParaRPr lang="en-US" sz="698" dirty="0"/>
          </a:p>
        </p:txBody>
      </p:sp>
      <p:sp>
        <p:nvSpPr>
          <p:cNvPr id="3" name="Text 1"/>
          <p:cNvSpPr/>
          <p:nvPr/>
        </p:nvSpPr>
        <p:spPr>
          <a:xfrm>
            <a:off x="1634947" y="22402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Investment Thesis</a:t>
            </a:r>
            <a:endParaRPr lang="en-US" sz="698" dirty="0"/>
          </a:p>
        </p:txBody>
      </p:sp>
      <p:sp>
        <p:nvSpPr>
          <p:cNvPr id="4" name="Text 2"/>
          <p:cNvSpPr/>
          <p:nvPr/>
        </p:nvSpPr>
        <p:spPr>
          <a:xfrm>
            <a:off x="3165653" y="22402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Units and Portfolio</a:t>
            </a:r>
            <a:endParaRPr lang="en-US" sz="698" dirty="0"/>
          </a:p>
        </p:txBody>
      </p:sp>
      <p:sp>
        <p:nvSpPr>
          <p:cNvPr id="5" name="Text 3"/>
          <p:cNvSpPr/>
          <p:nvPr/>
        </p:nvSpPr>
        <p:spPr>
          <a:xfrm>
            <a:off x="4749394" y="224028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00178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Financials</a:t>
            </a:r>
            <a:endParaRPr lang="en-US" sz="698" dirty="0"/>
          </a:p>
        </p:txBody>
      </p:sp>
      <p:sp>
        <p:nvSpPr>
          <p:cNvPr id="6" name="Shape 4"/>
          <p:cNvSpPr/>
          <p:nvPr/>
        </p:nvSpPr>
        <p:spPr>
          <a:xfrm>
            <a:off x="4749394" y="442570"/>
            <a:ext cx="420624" cy="9144"/>
          </a:xfrm>
          <a:prstGeom prst="rect">
            <a:avLst/>
          </a:prstGeom>
          <a:solidFill>
            <a:srgbClr val="27B0FF"/>
          </a:solidFill>
          <a:ln/>
        </p:spPr>
      </p:sp>
      <p:sp>
        <p:nvSpPr>
          <p:cNvPr id="7" name="Shape 5"/>
          <p:cNvSpPr/>
          <p:nvPr/>
        </p:nvSpPr>
        <p:spPr>
          <a:xfrm>
            <a:off x="4723790" y="418795"/>
            <a:ext cx="51206" cy="51206"/>
          </a:xfrm>
          <a:prstGeom prst="diamond">
            <a:avLst/>
          </a:prstGeom>
          <a:solidFill>
            <a:srgbClr val="27B0FF"/>
          </a:solidFill>
          <a:ln/>
        </p:spPr>
      </p:sp>
      <p:sp>
        <p:nvSpPr>
          <p:cNvPr id="8" name="Shape 6"/>
          <p:cNvSpPr/>
          <p:nvPr/>
        </p:nvSpPr>
        <p:spPr>
          <a:xfrm>
            <a:off x="5144414" y="418795"/>
            <a:ext cx="51206" cy="51206"/>
          </a:xfrm>
          <a:prstGeom prst="diamond">
            <a:avLst/>
          </a:prstGeom>
          <a:solidFill>
            <a:srgbClr val="27B0FF"/>
          </a:solidFill>
          <a:ln/>
        </p:spPr>
      </p:sp>
      <p:pic>
        <p:nvPicPr>
          <p:cNvPr id="9" name="Image 0" descr="assets/macje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4222" y="343814"/>
            <a:ext cx="481889" cy="48188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92278" y="731520"/>
            <a:ext cx="112964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Backlog and pipeline by business unit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42900" y="1110996"/>
            <a:ext cx="11296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US$ 138 mm signed and US$ 1.8 bn of proposals above 50% probability, from 49 open opportunities across the three legal entities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7530" y="1426464"/>
            <a:ext cx="11476634" cy="3419856"/>
          </a:xfrm>
          <a:custGeom>
            <a:avLst/>
            <a:gdLst/>
            <a:ahLst/>
            <a:cxnLst/>
            <a:rect l="l" t="t" r="r" b="b"/>
            <a:pathLst>
              <a:path w="11476634" h="3419856">
                <a:moveTo>
                  <a:pt x="0" y="0"/>
                </a:moveTo>
                <a:lnTo>
                  <a:pt x="11158423" y="0"/>
                </a:lnTo>
                <a:lnTo>
                  <a:pt x="11476634" y="318211"/>
                </a:lnTo>
                <a:lnTo>
                  <a:pt x="11476634" y="3419856"/>
                </a:lnTo>
                <a:lnTo>
                  <a:pt x="318211" y="3419856"/>
                </a:lnTo>
                <a:lnTo>
                  <a:pt x="0" y="3101645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6072" y="15544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Signed backlog and open pipeline by business unit – US$ mm, face value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70064" y="1627632"/>
            <a:ext cx="109728" cy="109728"/>
          </a:xfrm>
          <a:prstGeom prst="rect">
            <a:avLst/>
          </a:prstGeom>
          <a:solidFill>
            <a:srgbClr val="021B94"/>
          </a:solidFill>
          <a:ln/>
        </p:spPr>
      </p:sp>
      <p:sp>
        <p:nvSpPr>
          <p:cNvPr id="15" name="Text 12"/>
          <p:cNvSpPr/>
          <p:nvPr/>
        </p:nvSpPr>
        <p:spPr>
          <a:xfrm>
            <a:off x="7516368" y="157276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Signed backlog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8342986" y="1627632"/>
            <a:ext cx="109728" cy="109728"/>
          </a:xfrm>
          <a:prstGeom prst="rect">
            <a:avLst/>
          </a:prstGeom>
          <a:solidFill>
            <a:srgbClr val="95A8FE"/>
          </a:solidFill>
          <a:ln/>
        </p:spPr>
      </p:sp>
      <p:sp>
        <p:nvSpPr>
          <p:cNvPr id="17" name="Text 14"/>
          <p:cNvSpPr/>
          <p:nvPr/>
        </p:nvSpPr>
        <p:spPr>
          <a:xfrm>
            <a:off x="8489290" y="157276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Proposals &gt; 50% probability</a:t>
            </a:r>
            <a:endParaRPr lang="en-US" sz="740" dirty="0"/>
          </a:p>
        </p:txBody>
      </p:sp>
      <p:sp>
        <p:nvSpPr>
          <p:cNvPr id="18" name="Shape 15"/>
          <p:cNvSpPr/>
          <p:nvPr/>
        </p:nvSpPr>
        <p:spPr>
          <a:xfrm>
            <a:off x="9862718" y="1627632"/>
            <a:ext cx="109728" cy="10972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" name="Text 16"/>
          <p:cNvSpPr/>
          <p:nvPr/>
        </p:nvSpPr>
        <p:spPr>
          <a:xfrm>
            <a:off x="10009022" y="157276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 identified opportunities</a:t>
            </a:r>
            <a:endParaRPr lang="en-US" sz="740" dirty="0"/>
          </a:p>
        </p:txBody>
      </p:sp>
      <p:sp>
        <p:nvSpPr>
          <p:cNvPr id="20" name="Text 17"/>
          <p:cNvSpPr/>
          <p:nvPr/>
        </p:nvSpPr>
        <p:spPr>
          <a:xfrm>
            <a:off x="576072" y="18836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BUSINESS UNIT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2788920" y="188366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SIGNED  →  PROPOSALS &gt; 50%  →  OTHER IDENTIFIED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726680" y="188366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LARGEST OPEN OPPORTUNITIES  ·  VALUE  ·  PROBABILITY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576072" y="2185416"/>
            <a:ext cx="100584" cy="100584"/>
          </a:xfrm>
          <a:prstGeom prst="ellipse">
            <a:avLst/>
          </a:prstGeom>
          <a:solidFill>
            <a:srgbClr val="92D050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213969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Munitions &amp; Weapon Systems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31520" y="235000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Indústria de Defesa</a:t>
            </a:r>
            <a:endParaRPr lang="en-US" sz="740" dirty="0"/>
          </a:p>
        </p:txBody>
      </p:sp>
      <p:sp>
        <p:nvSpPr>
          <p:cNvPr id="26" name="Text 23"/>
          <p:cNvSpPr/>
          <p:nvPr/>
        </p:nvSpPr>
        <p:spPr>
          <a:xfrm>
            <a:off x="731520" y="251460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signed  ·  30 open</a:t>
            </a:r>
            <a:endParaRPr lang="en-US" sz="740" dirty="0"/>
          </a:p>
        </p:txBody>
      </p:sp>
      <p:sp>
        <p:nvSpPr>
          <p:cNvPr id="27" name="Shape 24"/>
          <p:cNvSpPr/>
          <p:nvPr/>
        </p:nvSpPr>
        <p:spPr>
          <a:xfrm>
            <a:off x="2788920" y="2249424"/>
            <a:ext cx="140932" cy="365760"/>
          </a:xfrm>
          <a:prstGeom prst="rect">
            <a:avLst/>
          </a:prstGeom>
          <a:solidFill>
            <a:srgbClr val="021B94"/>
          </a:solidFill>
          <a:ln/>
        </p:spPr>
      </p:sp>
      <p:sp>
        <p:nvSpPr>
          <p:cNvPr id="28" name="Text 25"/>
          <p:cNvSpPr/>
          <p:nvPr/>
        </p:nvSpPr>
        <p:spPr>
          <a:xfrm>
            <a:off x="2514600" y="2066544"/>
            <a:ext cx="6895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21B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63</a:t>
            </a:r>
            <a:endParaRPr lang="en-US" sz="740" dirty="0"/>
          </a:p>
        </p:txBody>
      </p:sp>
      <p:sp>
        <p:nvSpPr>
          <p:cNvPr id="29" name="Shape 26"/>
          <p:cNvSpPr/>
          <p:nvPr/>
        </p:nvSpPr>
        <p:spPr>
          <a:xfrm>
            <a:off x="2929852" y="2249424"/>
            <a:ext cx="1328399" cy="365760"/>
          </a:xfrm>
          <a:prstGeom prst="rect">
            <a:avLst/>
          </a:prstGeom>
          <a:solidFill>
            <a:srgbClr val="95A8FE"/>
          </a:solidFill>
          <a:ln/>
        </p:spPr>
      </p:sp>
      <p:sp>
        <p:nvSpPr>
          <p:cNvPr id="30" name="Text 27"/>
          <p:cNvSpPr/>
          <p:nvPr/>
        </p:nvSpPr>
        <p:spPr>
          <a:xfrm>
            <a:off x="2929852" y="2249424"/>
            <a:ext cx="1328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1F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591</a:t>
            </a:r>
            <a:endParaRPr lang="en-US" sz="840" dirty="0"/>
          </a:p>
        </p:txBody>
      </p:sp>
      <p:sp>
        <p:nvSpPr>
          <p:cNvPr id="31" name="Shape 28"/>
          <p:cNvSpPr/>
          <p:nvPr/>
        </p:nvSpPr>
        <p:spPr>
          <a:xfrm>
            <a:off x="4258251" y="2249424"/>
            <a:ext cx="2138925" cy="3657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2" name="Text 29"/>
          <p:cNvSpPr/>
          <p:nvPr/>
        </p:nvSpPr>
        <p:spPr>
          <a:xfrm>
            <a:off x="4258251" y="2249424"/>
            <a:ext cx="21389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952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6470328" y="22494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1,605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726680" y="213969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US$ 250 mm</a:t>
            </a:r>
            <a:pPr indent="0" marL="0">
              <a:buNone/>
            </a:pPr>
            <a:r>
              <a:rPr lang="en-US" sz="760" b="1" dirty="0">
                <a:solidFill>
                  <a:srgbClr val="021B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75%</a:t>
            </a:r>
            <a:pPr indent="0" marL="0">
              <a:buNone/>
            </a:pPr>
            <a:r>
              <a:rPr lang="en-US" sz="76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155 mm ERFBBB, 60k rounds — BNV</a:t>
            </a:r>
            <a:endParaRPr lang="en-US" sz="760" dirty="0"/>
          </a:p>
        </p:txBody>
      </p:sp>
      <p:sp>
        <p:nvSpPr>
          <p:cNvPr id="35" name="Text 32"/>
          <p:cNvSpPr/>
          <p:nvPr/>
        </p:nvSpPr>
        <p:spPr>
          <a:xfrm>
            <a:off x="7726680" y="23317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US$ 224 mm</a:t>
            </a:r>
            <a:pPr indent="0" marL="0">
              <a:buNone/>
            </a:pPr>
            <a:r>
              <a:rPr lang="en-US" sz="760" b="1" dirty="0">
                <a:solidFill>
                  <a:srgbClr val="021B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20%</a:t>
            </a:r>
            <a:pPr indent="0" marL="0">
              <a:buNone/>
            </a:pPr>
            <a:r>
              <a:rPr lang="en-US" sz="76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30 / 60 / 80 km rockets — Qatar</a:t>
            </a:r>
            <a:endParaRPr lang="en-US" sz="760" dirty="0"/>
          </a:p>
        </p:txBody>
      </p:sp>
      <p:sp>
        <p:nvSpPr>
          <p:cNvPr id="36" name="Text 33"/>
          <p:cNvSpPr/>
          <p:nvPr/>
        </p:nvSpPr>
        <p:spPr>
          <a:xfrm>
            <a:off x="7726680" y="25237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US$ 197 mm</a:t>
            </a:r>
            <a:pPr indent="0" marL="0">
              <a:buNone/>
            </a:pPr>
            <a:r>
              <a:rPr lang="en-US" sz="760" b="1" dirty="0">
                <a:solidFill>
                  <a:srgbClr val="021B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30%</a:t>
            </a:r>
            <a:pPr indent="0" marL="0">
              <a:buNone/>
            </a:pPr>
            <a:r>
              <a:rPr lang="en-US" sz="76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155 mm M107, 100k rounds — BNV</a:t>
            </a:r>
            <a:endParaRPr lang="en-US" sz="760" dirty="0"/>
          </a:p>
        </p:txBody>
      </p:sp>
      <p:sp>
        <p:nvSpPr>
          <p:cNvPr id="37" name="Shape 34"/>
          <p:cNvSpPr/>
          <p:nvPr/>
        </p:nvSpPr>
        <p:spPr>
          <a:xfrm>
            <a:off x="576072" y="2871216"/>
            <a:ext cx="10973714" cy="7315"/>
          </a:xfrm>
          <a:prstGeom prst="rect">
            <a:avLst/>
          </a:prstGeom>
          <a:solidFill>
            <a:srgbClr val="E6E8EE"/>
          </a:solidFill>
          <a:ln/>
        </p:spPr>
      </p:sp>
      <p:sp>
        <p:nvSpPr>
          <p:cNvPr id="38" name="Shape 35"/>
          <p:cNvSpPr/>
          <p:nvPr/>
        </p:nvSpPr>
        <p:spPr>
          <a:xfrm>
            <a:off x="576072" y="3081528"/>
            <a:ext cx="100584" cy="100584"/>
          </a:xfrm>
          <a:prstGeom prst="ellipse">
            <a:avLst/>
          </a:prstGeom>
          <a:solidFill>
            <a:srgbClr val="FFC000"/>
          </a:solidFill>
          <a:ln/>
        </p:spPr>
      </p:sp>
      <p:sp>
        <p:nvSpPr>
          <p:cNvPr id="39" name="Text 36"/>
          <p:cNvSpPr/>
          <p:nvPr/>
        </p:nvSpPr>
        <p:spPr>
          <a:xfrm>
            <a:off x="731520" y="303580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Energetics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31520" y="324612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Tecnologia</a:t>
            </a:r>
            <a:endParaRPr lang="en-US" sz="740" dirty="0"/>
          </a:p>
        </p:txBody>
      </p:sp>
      <p:sp>
        <p:nvSpPr>
          <p:cNvPr id="41" name="Text 38"/>
          <p:cNvSpPr/>
          <p:nvPr/>
        </p:nvSpPr>
        <p:spPr>
          <a:xfrm>
            <a:off x="731520" y="34107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signed  ·  10 open</a:t>
            </a:r>
            <a:endParaRPr lang="en-US" sz="740" dirty="0"/>
          </a:p>
        </p:txBody>
      </p:sp>
      <p:sp>
        <p:nvSpPr>
          <p:cNvPr id="42" name="Shape 39"/>
          <p:cNvSpPr/>
          <p:nvPr/>
        </p:nvSpPr>
        <p:spPr>
          <a:xfrm>
            <a:off x="2788920" y="3145536"/>
            <a:ext cx="168579" cy="365760"/>
          </a:xfrm>
          <a:prstGeom prst="rect">
            <a:avLst/>
          </a:prstGeom>
          <a:solidFill>
            <a:srgbClr val="021B94"/>
          </a:solidFill>
          <a:ln/>
        </p:spPr>
      </p:sp>
      <p:sp>
        <p:nvSpPr>
          <p:cNvPr id="43" name="Text 40"/>
          <p:cNvSpPr/>
          <p:nvPr/>
        </p:nvSpPr>
        <p:spPr>
          <a:xfrm>
            <a:off x="2514600" y="2962656"/>
            <a:ext cx="7172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21B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</a:t>
            </a:r>
            <a:endParaRPr lang="en-US" sz="740" dirty="0"/>
          </a:p>
        </p:txBody>
      </p:sp>
      <p:sp>
        <p:nvSpPr>
          <p:cNvPr id="44" name="Shape 41"/>
          <p:cNvSpPr/>
          <p:nvPr/>
        </p:nvSpPr>
        <p:spPr>
          <a:xfrm>
            <a:off x="2957499" y="3145536"/>
            <a:ext cx="564176" cy="365760"/>
          </a:xfrm>
          <a:prstGeom prst="rect">
            <a:avLst/>
          </a:prstGeom>
          <a:solidFill>
            <a:srgbClr val="95A8FE"/>
          </a:solidFill>
          <a:ln/>
        </p:spPr>
      </p:sp>
      <p:sp>
        <p:nvSpPr>
          <p:cNvPr id="45" name="Text 42"/>
          <p:cNvSpPr/>
          <p:nvPr/>
        </p:nvSpPr>
        <p:spPr>
          <a:xfrm>
            <a:off x="2957499" y="3145536"/>
            <a:ext cx="56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1F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251</a:t>
            </a:r>
            <a:endParaRPr lang="en-US" sz="840" dirty="0"/>
          </a:p>
        </p:txBody>
      </p:sp>
      <p:sp>
        <p:nvSpPr>
          <p:cNvPr id="46" name="Shape 43"/>
          <p:cNvSpPr/>
          <p:nvPr/>
        </p:nvSpPr>
        <p:spPr>
          <a:xfrm>
            <a:off x="3521675" y="3145536"/>
            <a:ext cx="1823571" cy="3657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7" name="Text 44"/>
          <p:cNvSpPr/>
          <p:nvPr/>
        </p:nvSpPr>
        <p:spPr>
          <a:xfrm>
            <a:off x="3521675" y="3145536"/>
            <a:ext cx="18235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811</a:t>
            </a:r>
            <a:endParaRPr lang="en-US" sz="840" dirty="0"/>
          </a:p>
        </p:txBody>
      </p:sp>
      <p:sp>
        <p:nvSpPr>
          <p:cNvPr id="48" name="Text 45"/>
          <p:cNvSpPr/>
          <p:nvPr/>
        </p:nvSpPr>
        <p:spPr>
          <a:xfrm>
            <a:off x="5418398" y="31455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1,137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7726680" y="30358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US$ 200 mm</a:t>
            </a:r>
            <a:pPr indent="0" marL="0">
              <a:buNone/>
            </a:pPr>
            <a:r>
              <a:rPr lang="en-US" sz="760" b="1" dirty="0">
                <a:solidFill>
                  <a:srgbClr val="021B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40%</a:t>
            </a:r>
            <a:pPr indent="0" marL="0">
              <a:buNone/>
            </a:pPr>
            <a:r>
              <a:rPr lang="en-US" sz="76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TNT production line, 20 kt/yr — Canada (NALAGX)</a:t>
            </a:r>
            <a:endParaRPr lang="en-US" sz="760" dirty="0"/>
          </a:p>
        </p:txBody>
      </p:sp>
      <p:sp>
        <p:nvSpPr>
          <p:cNvPr id="50" name="Text 47"/>
          <p:cNvSpPr/>
          <p:nvPr/>
        </p:nvSpPr>
        <p:spPr>
          <a:xfrm>
            <a:off x="7726680" y="32278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US$ 192 mm</a:t>
            </a:r>
            <a:pPr indent="0" marL="0">
              <a:buNone/>
            </a:pPr>
            <a:r>
              <a:rPr lang="en-US" sz="760" b="1" dirty="0">
                <a:solidFill>
                  <a:srgbClr val="021B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75%</a:t>
            </a:r>
            <a:pPr indent="0" marL="0">
              <a:buNone/>
            </a:pPr>
            <a:r>
              <a:rPr lang="en-US" sz="76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RDX / TNT / acids lines — UAE</a:t>
            </a:r>
            <a:endParaRPr lang="en-US" sz="760" dirty="0"/>
          </a:p>
        </p:txBody>
      </p:sp>
      <p:sp>
        <p:nvSpPr>
          <p:cNvPr id="51" name="Text 48"/>
          <p:cNvSpPr/>
          <p:nvPr/>
        </p:nvSpPr>
        <p:spPr>
          <a:xfrm>
            <a:off x="7726680" y="34198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US$ 190 mm</a:t>
            </a:r>
            <a:pPr indent="0" marL="0">
              <a:buNone/>
            </a:pPr>
            <a:r>
              <a:rPr lang="en-US" sz="760" b="1" dirty="0">
                <a:solidFill>
                  <a:srgbClr val="021B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40%</a:t>
            </a:r>
            <a:pPr indent="0" marL="0">
              <a:buNone/>
            </a:pPr>
            <a:r>
              <a:rPr lang="en-US" sz="76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RDX and TNT lines — BAE Systems, UK</a:t>
            </a:r>
            <a:endParaRPr lang="en-US" sz="760" dirty="0"/>
          </a:p>
        </p:txBody>
      </p:sp>
      <p:sp>
        <p:nvSpPr>
          <p:cNvPr id="52" name="Shape 49"/>
          <p:cNvSpPr/>
          <p:nvPr/>
        </p:nvSpPr>
        <p:spPr>
          <a:xfrm>
            <a:off x="576072" y="3767328"/>
            <a:ext cx="10973714" cy="7315"/>
          </a:xfrm>
          <a:prstGeom prst="rect">
            <a:avLst/>
          </a:prstGeom>
          <a:solidFill>
            <a:srgbClr val="E6E8EE"/>
          </a:solidFill>
          <a:ln/>
        </p:spPr>
      </p:sp>
      <p:sp>
        <p:nvSpPr>
          <p:cNvPr id="53" name="Shape 50"/>
          <p:cNvSpPr/>
          <p:nvPr/>
        </p:nvSpPr>
        <p:spPr>
          <a:xfrm>
            <a:off x="576072" y="3977640"/>
            <a:ext cx="100584" cy="100584"/>
          </a:xfrm>
          <a:prstGeom prst="ellipse">
            <a:avLst/>
          </a:prstGeom>
          <a:solidFill>
            <a:srgbClr val="949494"/>
          </a:solidFill>
          <a:ln/>
        </p:spPr>
      </p:sp>
      <p:sp>
        <p:nvSpPr>
          <p:cNvPr id="54" name="Text 51"/>
          <p:cNvSpPr/>
          <p:nvPr/>
        </p:nvSpPr>
        <p:spPr>
          <a:xfrm>
            <a:off x="731520" y="39319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Missile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731520" y="414223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TMC — The Missile Company</a:t>
            </a:r>
            <a:endParaRPr lang="en-US" sz="740" dirty="0"/>
          </a:p>
        </p:txBody>
      </p:sp>
      <p:sp>
        <p:nvSpPr>
          <p:cNvPr id="56" name="Text 53"/>
          <p:cNvSpPr/>
          <p:nvPr/>
        </p:nvSpPr>
        <p:spPr>
          <a:xfrm>
            <a:off x="731520" y="430682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signed contracts  ·  9 open</a:t>
            </a:r>
            <a:endParaRPr lang="en-US" sz="740" dirty="0"/>
          </a:p>
        </p:txBody>
      </p:sp>
      <p:sp>
        <p:nvSpPr>
          <p:cNvPr id="57" name="Shape 54"/>
          <p:cNvSpPr/>
          <p:nvPr/>
        </p:nvSpPr>
        <p:spPr>
          <a:xfrm>
            <a:off x="2788920" y="4041648"/>
            <a:ext cx="2247715" cy="365760"/>
          </a:xfrm>
          <a:prstGeom prst="rect">
            <a:avLst/>
          </a:prstGeom>
          <a:solidFill>
            <a:srgbClr val="95A8FE"/>
          </a:solidFill>
          <a:ln/>
        </p:spPr>
      </p:sp>
      <p:sp>
        <p:nvSpPr>
          <p:cNvPr id="58" name="Text 55"/>
          <p:cNvSpPr/>
          <p:nvPr/>
        </p:nvSpPr>
        <p:spPr>
          <a:xfrm>
            <a:off x="2788920" y="4041648"/>
            <a:ext cx="22477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1F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1,000</a:t>
            </a:r>
            <a:endParaRPr lang="en-US" sz="840" dirty="0"/>
          </a:p>
        </p:txBody>
      </p:sp>
      <p:sp>
        <p:nvSpPr>
          <p:cNvPr id="59" name="Shape 56"/>
          <p:cNvSpPr/>
          <p:nvPr/>
        </p:nvSpPr>
        <p:spPr>
          <a:xfrm>
            <a:off x="5036635" y="4041648"/>
            <a:ext cx="1912131" cy="3657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60" name="Text 57"/>
          <p:cNvSpPr/>
          <p:nvPr/>
        </p:nvSpPr>
        <p:spPr>
          <a:xfrm>
            <a:off x="5036635" y="4041648"/>
            <a:ext cx="19121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851</a:t>
            </a:r>
            <a:endParaRPr lang="en-US" sz="840" dirty="0"/>
          </a:p>
        </p:txBody>
      </p:sp>
      <p:sp>
        <p:nvSpPr>
          <p:cNvPr id="61" name="Text 58"/>
          <p:cNvSpPr/>
          <p:nvPr/>
        </p:nvSpPr>
        <p:spPr>
          <a:xfrm>
            <a:off x="2788920" y="385876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C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signed backlog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7021918" y="4041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1,851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7726680" y="39319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US$ 1,000 mm</a:t>
            </a:r>
            <a:pPr indent="0" marL="0">
              <a:buNone/>
            </a:pPr>
            <a:r>
              <a:rPr lang="en-US" sz="760" b="1" dirty="0">
                <a:solidFill>
                  <a:srgbClr val="021B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50%</a:t>
            </a:r>
            <a:pPr indent="0" marL="0">
              <a:buNone/>
            </a:pPr>
            <a:r>
              <a:rPr lang="en-US" sz="76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Confidential programme — KSA</a:t>
            </a:r>
            <a:endParaRPr lang="en-US" sz="760" dirty="0"/>
          </a:p>
        </p:txBody>
      </p:sp>
      <p:sp>
        <p:nvSpPr>
          <p:cNvPr id="64" name="Text 61"/>
          <p:cNvSpPr/>
          <p:nvPr/>
        </p:nvSpPr>
        <p:spPr>
          <a:xfrm>
            <a:off x="7726680" y="41239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US$ 400 mm</a:t>
            </a:r>
            <a:pPr indent="0" marL="0">
              <a:buNone/>
            </a:pPr>
            <a:r>
              <a:rPr lang="en-US" sz="760" b="1" dirty="0">
                <a:solidFill>
                  <a:srgbClr val="021B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35%</a:t>
            </a:r>
            <a:pPr indent="0" marL="0">
              <a:buNone/>
            </a:pPr>
            <a:r>
              <a:rPr lang="en-US" sz="76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Confidential programme — RSAF, KSA</a:t>
            </a:r>
            <a:endParaRPr lang="en-US" sz="760" dirty="0"/>
          </a:p>
        </p:txBody>
      </p:sp>
      <p:sp>
        <p:nvSpPr>
          <p:cNvPr id="65" name="Text 62"/>
          <p:cNvSpPr/>
          <p:nvPr/>
        </p:nvSpPr>
        <p:spPr>
          <a:xfrm>
            <a:off x="7726680" y="43159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US$ 200 mm</a:t>
            </a:r>
            <a:pPr indent="0" marL="0">
              <a:buNone/>
            </a:pPr>
            <a:r>
              <a:rPr lang="en-US" sz="760" b="1" dirty="0">
                <a:solidFill>
                  <a:srgbClr val="021B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30%</a:t>
            </a:r>
            <a:pPr indent="0" marL="0">
              <a:buNone/>
            </a:pPr>
            <a:r>
              <a:rPr lang="en-US" sz="76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Confidential programme — Azerbaijan MoD</a:t>
            </a:r>
            <a:endParaRPr lang="en-US" sz="760" dirty="0"/>
          </a:p>
        </p:txBody>
      </p:sp>
      <p:sp>
        <p:nvSpPr>
          <p:cNvPr id="66" name="Text 63"/>
          <p:cNvSpPr/>
          <p:nvPr/>
        </p:nvSpPr>
        <p:spPr>
          <a:xfrm>
            <a:off x="576072" y="4572000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C93A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Proposals above 50% as reported by the Company per legal entity (US$ 251 / 591 / 1,000 mm; TMC’s own sheet totals US$ 1,229 mm). “Other identified” is every remaining open opportunity at face value, unweighted. Weapon Systems products (Armadillo, Dagger, rockets, fuzes) are carried within Mac Jee Indústria de Defesa.</a:t>
            </a:r>
            <a:endParaRPr lang="en-US" sz="680" dirty="0"/>
          </a:p>
        </p:txBody>
      </p:sp>
      <p:sp>
        <p:nvSpPr>
          <p:cNvPr id="67" name="Shape 64"/>
          <p:cNvSpPr/>
          <p:nvPr/>
        </p:nvSpPr>
        <p:spPr>
          <a:xfrm>
            <a:off x="0" y="5159959"/>
            <a:ext cx="12191695" cy="1698041"/>
          </a:xfrm>
          <a:prstGeom prst="rect">
            <a:avLst/>
          </a:prstGeom>
          <a:solidFill>
            <a:srgbClr val="00092B"/>
          </a:solidFill>
          <a:ln/>
        </p:spPr>
      </p:sp>
      <p:sp>
        <p:nvSpPr>
          <p:cNvPr id="68" name="Shape 65"/>
          <p:cNvSpPr/>
          <p:nvPr/>
        </p:nvSpPr>
        <p:spPr>
          <a:xfrm>
            <a:off x="70409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69" name="Shape 66"/>
          <p:cNvSpPr/>
          <p:nvPr/>
        </p:nvSpPr>
        <p:spPr>
          <a:xfrm>
            <a:off x="1520647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70" name="Shape 67"/>
          <p:cNvSpPr/>
          <p:nvPr/>
        </p:nvSpPr>
        <p:spPr>
          <a:xfrm>
            <a:off x="2970886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71" name="Shape 68"/>
          <p:cNvSpPr/>
          <p:nvPr/>
        </p:nvSpPr>
        <p:spPr>
          <a:xfrm>
            <a:off x="4421124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72" name="Shape 69"/>
          <p:cNvSpPr/>
          <p:nvPr/>
        </p:nvSpPr>
        <p:spPr>
          <a:xfrm>
            <a:off x="5871362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73" name="Shape 70"/>
          <p:cNvSpPr/>
          <p:nvPr/>
        </p:nvSpPr>
        <p:spPr>
          <a:xfrm>
            <a:off x="7321601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74" name="Shape 71"/>
          <p:cNvSpPr/>
          <p:nvPr/>
        </p:nvSpPr>
        <p:spPr>
          <a:xfrm>
            <a:off x="8771839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75" name="Shape 72"/>
          <p:cNvSpPr/>
          <p:nvPr/>
        </p:nvSpPr>
        <p:spPr>
          <a:xfrm>
            <a:off x="10222078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76" name="Shape 73"/>
          <p:cNvSpPr/>
          <p:nvPr/>
        </p:nvSpPr>
        <p:spPr>
          <a:xfrm>
            <a:off x="11672316" y="5159959"/>
            <a:ext cx="27432" cy="1698041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77" name="Shape 74"/>
          <p:cNvSpPr/>
          <p:nvPr/>
        </p:nvSpPr>
        <p:spPr>
          <a:xfrm>
            <a:off x="548640" y="5340096"/>
            <a:ext cx="1591056" cy="950976"/>
          </a:xfrm>
          <a:custGeom>
            <a:avLst/>
            <a:gdLst/>
            <a:ahLst/>
            <a:cxnLst/>
            <a:rect l="l" t="t" r="r" b="b"/>
            <a:pathLst>
              <a:path w="1591056" h="950976">
                <a:moveTo>
                  <a:pt x="0" y="0"/>
                </a:moveTo>
                <a:lnTo>
                  <a:pt x="1435608" y="0"/>
                </a:lnTo>
                <a:lnTo>
                  <a:pt x="1591056" y="155448"/>
                </a:lnTo>
                <a:lnTo>
                  <a:pt x="1591056" y="950976"/>
                </a:lnTo>
                <a:lnTo>
                  <a:pt x="155448" y="950976"/>
                </a:lnTo>
                <a:lnTo>
                  <a:pt x="0" y="795528"/>
                </a:lnTo>
                <a:close/>
              </a:path>
            </a:pathLst>
          </a:custGeom>
          <a:solidFill>
            <a:srgbClr val="343D60"/>
          </a:solidFill>
          <a:ln w="19050">
            <a:solidFill>
              <a:srgbClr val="95A8FE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48640" y="550468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138</a:t>
            </a:r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mm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594360" y="588873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Signed backlog</a:t>
            </a:r>
            <a:endParaRPr lang="en-US" sz="720" dirty="0"/>
          </a:p>
        </p:txBody>
      </p:sp>
      <p:sp>
        <p:nvSpPr>
          <p:cNvPr id="80" name="Shape 77"/>
          <p:cNvSpPr/>
          <p:nvPr/>
        </p:nvSpPr>
        <p:spPr>
          <a:xfrm>
            <a:off x="2304288" y="5340096"/>
            <a:ext cx="1591056" cy="950976"/>
          </a:xfrm>
          <a:custGeom>
            <a:avLst/>
            <a:gdLst/>
            <a:ahLst/>
            <a:cxnLst/>
            <a:rect l="l" t="t" r="r" b="b"/>
            <a:pathLst>
              <a:path w="1591056" h="950976">
                <a:moveTo>
                  <a:pt x="0" y="0"/>
                </a:moveTo>
                <a:lnTo>
                  <a:pt x="1435608" y="0"/>
                </a:lnTo>
                <a:lnTo>
                  <a:pt x="1591056" y="155448"/>
                </a:lnTo>
                <a:lnTo>
                  <a:pt x="1591056" y="950976"/>
                </a:lnTo>
                <a:lnTo>
                  <a:pt x="155448" y="950976"/>
                </a:lnTo>
                <a:lnTo>
                  <a:pt x="0" y="795528"/>
                </a:lnTo>
                <a:close/>
              </a:path>
            </a:pathLst>
          </a:custGeom>
          <a:solidFill>
            <a:srgbClr val="343D60"/>
          </a:solidFill>
          <a:ln w="19050">
            <a:solidFill>
              <a:srgbClr val="95A8FE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2304288" y="550468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1.8</a:t>
            </a:r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bn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2350008" y="588873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Proposals above 50% probability</a:t>
            </a:r>
            <a:endParaRPr lang="en-US" sz="720" dirty="0"/>
          </a:p>
        </p:txBody>
      </p:sp>
      <p:sp>
        <p:nvSpPr>
          <p:cNvPr id="83" name="Shape 80"/>
          <p:cNvSpPr/>
          <p:nvPr/>
        </p:nvSpPr>
        <p:spPr>
          <a:xfrm>
            <a:off x="4059936" y="5340096"/>
            <a:ext cx="1591056" cy="950976"/>
          </a:xfrm>
          <a:custGeom>
            <a:avLst/>
            <a:gdLst/>
            <a:ahLst/>
            <a:cxnLst/>
            <a:rect l="l" t="t" r="r" b="b"/>
            <a:pathLst>
              <a:path w="1591056" h="950976">
                <a:moveTo>
                  <a:pt x="0" y="0"/>
                </a:moveTo>
                <a:lnTo>
                  <a:pt x="1435608" y="0"/>
                </a:lnTo>
                <a:lnTo>
                  <a:pt x="1591056" y="155448"/>
                </a:lnTo>
                <a:lnTo>
                  <a:pt x="1591056" y="950976"/>
                </a:lnTo>
                <a:lnTo>
                  <a:pt x="155448" y="950976"/>
                </a:lnTo>
                <a:lnTo>
                  <a:pt x="0" y="795528"/>
                </a:lnTo>
                <a:close/>
              </a:path>
            </a:pathLst>
          </a:custGeom>
          <a:solidFill>
            <a:srgbClr val="343D60"/>
          </a:solidFill>
          <a:ln w="19050">
            <a:solidFill>
              <a:srgbClr val="95A8FE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4059936" y="5504688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1.9</a:t>
            </a:r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bn</a:t>
            </a:r>
            <a:endParaRPr lang="en-US" sz="900" dirty="0"/>
          </a:p>
        </p:txBody>
      </p:sp>
      <p:sp>
        <p:nvSpPr>
          <p:cNvPr id="85" name="Text 82"/>
          <p:cNvSpPr/>
          <p:nvPr/>
        </p:nvSpPr>
        <p:spPr>
          <a:xfrm>
            <a:off x="4105656" y="588873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Probability-weighted open pipeline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6053328" y="5358384"/>
            <a:ext cx="5779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Where the US$ 4.6 bn sits — by end-user region, all stages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6053328" y="5669280"/>
            <a:ext cx="2753754" cy="274320"/>
          </a:xfrm>
          <a:prstGeom prst="rect">
            <a:avLst/>
          </a:prstGeom>
          <a:solidFill>
            <a:srgbClr val="021B94"/>
          </a:solidFill>
          <a:ln/>
        </p:spPr>
      </p:sp>
      <p:sp>
        <p:nvSpPr>
          <p:cNvPr id="88" name="Text 85"/>
          <p:cNvSpPr/>
          <p:nvPr/>
        </p:nvSpPr>
        <p:spPr>
          <a:xfrm>
            <a:off x="6053328" y="5669280"/>
            <a:ext cx="2753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48%</a:t>
            </a:r>
            <a:endParaRPr lang="en-US" sz="840" dirty="0"/>
          </a:p>
        </p:txBody>
      </p:sp>
      <p:sp>
        <p:nvSpPr>
          <p:cNvPr id="89" name="Shape 86"/>
          <p:cNvSpPr/>
          <p:nvPr/>
        </p:nvSpPr>
        <p:spPr>
          <a:xfrm>
            <a:off x="8807082" y="5669280"/>
            <a:ext cx="1893961" cy="274320"/>
          </a:xfrm>
          <a:prstGeom prst="rect">
            <a:avLst/>
          </a:prstGeom>
          <a:solidFill>
            <a:srgbClr val="2E4BC4"/>
          </a:solidFill>
          <a:ln/>
        </p:spPr>
      </p:sp>
      <p:sp>
        <p:nvSpPr>
          <p:cNvPr id="90" name="Text 87"/>
          <p:cNvSpPr/>
          <p:nvPr/>
        </p:nvSpPr>
        <p:spPr>
          <a:xfrm>
            <a:off x="8807082" y="5669280"/>
            <a:ext cx="18939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33%</a:t>
            </a:r>
            <a:endParaRPr lang="en-US" sz="840" dirty="0"/>
          </a:p>
        </p:txBody>
      </p:sp>
      <p:sp>
        <p:nvSpPr>
          <p:cNvPr id="91" name="Shape 88"/>
          <p:cNvSpPr/>
          <p:nvPr/>
        </p:nvSpPr>
        <p:spPr>
          <a:xfrm>
            <a:off x="10701042" y="5669280"/>
            <a:ext cx="561243" cy="274320"/>
          </a:xfrm>
          <a:prstGeom prst="rect">
            <a:avLst/>
          </a:prstGeom>
          <a:solidFill>
            <a:srgbClr val="6F86E8"/>
          </a:solidFill>
          <a:ln/>
        </p:spPr>
      </p:sp>
      <p:sp>
        <p:nvSpPr>
          <p:cNvPr id="92" name="Text 89"/>
          <p:cNvSpPr/>
          <p:nvPr/>
        </p:nvSpPr>
        <p:spPr>
          <a:xfrm>
            <a:off x="10701042" y="5669280"/>
            <a:ext cx="561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1F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10%</a:t>
            </a:r>
            <a:endParaRPr lang="en-US" sz="840" dirty="0"/>
          </a:p>
        </p:txBody>
      </p:sp>
      <p:sp>
        <p:nvSpPr>
          <p:cNvPr id="93" name="Shape 90"/>
          <p:cNvSpPr/>
          <p:nvPr/>
        </p:nvSpPr>
        <p:spPr>
          <a:xfrm>
            <a:off x="11262286" y="5669280"/>
            <a:ext cx="352900" cy="274320"/>
          </a:xfrm>
          <a:prstGeom prst="rect">
            <a:avLst/>
          </a:prstGeom>
          <a:solidFill>
            <a:srgbClr val="95A8FE"/>
          </a:solidFill>
          <a:ln/>
        </p:spPr>
      </p:sp>
      <p:sp>
        <p:nvSpPr>
          <p:cNvPr id="94" name="Shape 91"/>
          <p:cNvSpPr/>
          <p:nvPr/>
        </p:nvSpPr>
        <p:spPr>
          <a:xfrm>
            <a:off x="11615186" y="5669280"/>
            <a:ext cx="154496" cy="274320"/>
          </a:xfrm>
          <a:prstGeom prst="rect">
            <a:avLst/>
          </a:prstGeom>
          <a:solidFill>
            <a:srgbClr val="C3CDFB"/>
          </a:solidFill>
          <a:ln/>
        </p:spPr>
      </p:sp>
      <p:sp>
        <p:nvSpPr>
          <p:cNvPr id="95" name="Shape 92"/>
          <p:cNvSpPr/>
          <p:nvPr/>
        </p:nvSpPr>
        <p:spPr>
          <a:xfrm>
            <a:off x="11769682" y="5669280"/>
            <a:ext cx="62654" cy="274320"/>
          </a:xfrm>
          <a:prstGeom prst="rect">
            <a:avLst/>
          </a:prstGeom>
          <a:solidFill>
            <a:srgbClr val="E4E8FA"/>
          </a:solidFill>
          <a:ln/>
        </p:spPr>
      </p:sp>
      <p:sp>
        <p:nvSpPr>
          <p:cNvPr id="96" name="Shape 93"/>
          <p:cNvSpPr/>
          <p:nvPr/>
        </p:nvSpPr>
        <p:spPr>
          <a:xfrm>
            <a:off x="6053328" y="6071616"/>
            <a:ext cx="91440" cy="91440"/>
          </a:xfrm>
          <a:prstGeom prst="rect">
            <a:avLst/>
          </a:prstGeom>
          <a:solidFill>
            <a:srgbClr val="021B94"/>
          </a:solidFill>
          <a:ln/>
        </p:spPr>
      </p:sp>
      <p:sp>
        <p:nvSpPr>
          <p:cNvPr id="97" name="Text 94"/>
          <p:cNvSpPr/>
          <p:nvPr/>
        </p:nvSpPr>
        <p:spPr>
          <a:xfrm>
            <a:off x="6190488" y="6016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MENA  </a:t>
            </a:r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48%</a:t>
            </a:r>
            <a:endParaRPr lang="en-US" sz="740" dirty="0"/>
          </a:p>
        </p:txBody>
      </p:sp>
      <p:sp>
        <p:nvSpPr>
          <p:cNvPr id="98" name="Shape 95"/>
          <p:cNvSpPr/>
          <p:nvPr/>
        </p:nvSpPr>
        <p:spPr>
          <a:xfrm>
            <a:off x="7991856" y="6071616"/>
            <a:ext cx="91440" cy="91440"/>
          </a:xfrm>
          <a:prstGeom prst="rect">
            <a:avLst/>
          </a:prstGeom>
          <a:solidFill>
            <a:srgbClr val="2E4BC4"/>
          </a:solidFill>
          <a:ln/>
        </p:spPr>
      </p:sp>
      <p:sp>
        <p:nvSpPr>
          <p:cNvPr id="99" name="Text 96"/>
          <p:cNvSpPr/>
          <p:nvPr/>
        </p:nvSpPr>
        <p:spPr>
          <a:xfrm>
            <a:off x="8129016" y="6016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Eastern Europe &amp; Central Asia  </a:t>
            </a:r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33%</a:t>
            </a:r>
            <a:endParaRPr lang="en-US" sz="740" dirty="0"/>
          </a:p>
        </p:txBody>
      </p:sp>
      <p:sp>
        <p:nvSpPr>
          <p:cNvPr id="100" name="Shape 97"/>
          <p:cNvSpPr/>
          <p:nvPr/>
        </p:nvSpPr>
        <p:spPr>
          <a:xfrm>
            <a:off x="9930384" y="6071616"/>
            <a:ext cx="91440" cy="91440"/>
          </a:xfrm>
          <a:prstGeom prst="rect">
            <a:avLst/>
          </a:prstGeom>
          <a:solidFill>
            <a:srgbClr val="6F86E8"/>
          </a:solidFill>
          <a:ln/>
        </p:spPr>
      </p:sp>
      <p:sp>
        <p:nvSpPr>
          <p:cNvPr id="101" name="Text 98"/>
          <p:cNvSpPr/>
          <p:nvPr/>
        </p:nvSpPr>
        <p:spPr>
          <a:xfrm>
            <a:off x="10067544" y="6016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Western Europe  </a:t>
            </a:r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10%</a:t>
            </a:r>
            <a:endParaRPr lang="en-US" sz="740" dirty="0"/>
          </a:p>
        </p:txBody>
      </p:sp>
      <p:sp>
        <p:nvSpPr>
          <p:cNvPr id="102" name="Shape 99"/>
          <p:cNvSpPr/>
          <p:nvPr/>
        </p:nvSpPr>
        <p:spPr>
          <a:xfrm>
            <a:off x="6053328" y="6291072"/>
            <a:ext cx="91440" cy="91440"/>
          </a:xfrm>
          <a:prstGeom prst="rect">
            <a:avLst/>
          </a:prstGeom>
          <a:solidFill>
            <a:srgbClr val="95A8FE"/>
          </a:solidFill>
          <a:ln/>
        </p:spPr>
      </p:sp>
      <p:sp>
        <p:nvSpPr>
          <p:cNvPr id="103" name="Text 100"/>
          <p:cNvSpPr/>
          <p:nvPr/>
        </p:nvSpPr>
        <p:spPr>
          <a:xfrm>
            <a:off x="6190488" y="6236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North America  </a:t>
            </a:r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6%</a:t>
            </a:r>
            <a:endParaRPr lang="en-US" sz="740" dirty="0"/>
          </a:p>
        </p:txBody>
      </p:sp>
      <p:sp>
        <p:nvSpPr>
          <p:cNvPr id="104" name="Shape 101"/>
          <p:cNvSpPr/>
          <p:nvPr/>
        </p:nvSpPr>
        <p:spPr>
          <a:xfrm>
            <a:off x="7991856" y="6291072"/>
            <a:ext cx="91440" cy="91440"/>
          </a:xfrm>
          <a:prstGeom prst="rect">
            <a:avLst/>
          </a:prstGeom>
          <a:solidFill>
            <a:srgbClr val="C3CDFB"/>
          </a:solidFill>
          <a:ln/>
        </p:spPr>
      </p:sp>
      <p:sp>
        <p:nvSpPr>
          <p:cNvPr id="105" name="Text 102"/>
          <p:cNvSpPr/>
          <p:nvPr/>
        </p:nvSpPr>
        <p:spPr>
          <a:xfrm>
            <a:off x="8129016" y="6236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Asia  </a:t>
            </a:r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3%</a:t>
            </a:r>
            <a:endParaRPr lang="en-US" sz="740" dirty="0"/>
          </a:p>
        </p:txBody>
      </p:sp>
      <p:sp>
        <p:nvSpPr>
          <p:cNvPr id="106" name="Shape 103"/>
          <p:cNvSpPr/>
          <p:nvPr/>
        </p:nvSpPr>
        <p:spPr>
          <a:xfrm>
            <a:off x="9930384" y="6291072"/>
            <a:ext cx="91440" cy="91440"/>
          </a:xfrm>
          <a:prstGeom prst="rect">
            <a:avLst/>
          </a:prstGeom>
          <a:solidFill>
            <a:srgbClr val="E4E8FA"/>
          </a:solidFill>
          <a:ln/>
        </p:spPr>
      </p:sp>
      <p:sp>
        <p:nvSpPr>
          <p:cNvPr id="107" name="Text 104"/>
          <p:cNvSpPr/>
          <p:nvPr/>
        </p:nvSpPr>
        <p:spPr>
          <a:xfrm>
            <a:off x="10067544" y="6236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LATAM  </a:t>
            </a:r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1%</a:t>
            </a:r>
            <a:endParaRPr lang="en-US" sz="740" dirty="0"/>
          </a:p>
        </p:txBody>
      </p:sp>
      <p:sp>
        <p:nvSpPr>
          <p:cNvPr id="108" name="Text 105"/>
          <p:cNvSpPr/>
          <p:nvPr/>
        </p:nvSpPr>
        <p:spPr>
          <a:xfrm>
            <a:off x="626364" y="645566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4" dirty="0">
                <a:solidFill>
                  <a:srgbClr val="D8D8D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Source: Company — Backlog &amp; Pipeline commercial review, 5 Aug 2026 (rev. 2). Values at face value in US$; probabilities as assigned by the Company.</a:t>
            </a:r>
            <a:endParaRPr lang="en-US" sz="804" dirty="0"/>
          </a:p>
        </p:txBody>
      </p:sp>
      <p:sp>
        <p:nvSpPr>
          <p:cNvPr id="109" name="Text 106"/>
          <p:cNvSpPr/>
          <p:nvPr/>
        </p:nvSpPr>
        <p:spPr>
          <a:xfrm>
            <a:off x="357530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4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50</a:t>
            </a:r>
            <a:endParaRPr lang="en-US" sz="804" dirty="0"/>
          </a:p>
        </p:txBody>
      </p:sp>
      <p:sp>
        <p:nvSpPr>
          <p:cNvPr id="110" name="Shape 107"/>
          <p:cNvSpPr/>
          <p:nvPr/>
        </p:nvSpPr>
        <p:spPr>
          <a:xfrm>
            <a:off x="10931652" y="6469380"/>
            <a:ext cx="932688" cy="196596"/>
          </a:xfrm>
          <a:prstGeom prst="roundRect">
            <a:avLst>
              <a:gd name="adj" fmla="val 18605"/>
            </a:avLst>
          </a:prstGeom>
          <a:ln w="9525">
            <a:solidFill>
              <a:srgbClr val="3C4E86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10931652" y="6469380"/>
            <a:ext cx="93268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6" dirty="0">
                <a:solidFill>
                  <a:srgbClr val="9DA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Confidential</a:t>
            </a:r>
            <a:endParaRPr lang="en-US" sz="6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IGC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IGC Partners</dc:creator>
  <cp:lastModifiedBy>IGC Partners</cp:lastModifiedBy>
  <cp:revision>1</cp:revision>
  <dcterms:created xsi:type="dcterms:W3CDTF">2026-09-02T23:41:04Z</dcterms:created>
  <dcterms:modified xsi:type="dcterms:W3CDTF">2026-09-02T23:41:04Z</dcterms:modified>
</cp:coreProperties>
</file>
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6858000" cy="9905695"/>
  <p:notesSz cx="990569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bluebird/igc.png">    </p:cNvPr>
          <p:cNvPicPr>
            <a:picLocks noChangeAspect="1"/>
          </p:cNvPicPr>
          <p:nvPr/>
        </p:nvPicPr>
        <p:blipFill>
          <a:blip r:embed="rId1"/>
          <a:stretch>
            <a:fillRect/>
          </a:stretch>
        </p:blipFill>
        <p:spPr>
          <a:xfrm>
            <a:off x="356616" y="182880"/>
            <a:ext cx="457200" cy="395224"/>
          </a:xfrm>
          <a:prstGeom prst="rect">
            <a:avLst/>
          </a:prstGeom>
        </p:spPr>
      </p:pic>
      <p:sp>
        <p:nvSpPr>
          <p:cNvPr id="3" name="Text 0"/>
          <p:cNvSpPr/>
          <p:nvPr/>
        </p:nvSpPr>
        <p:spPr>
          <a:xfrm>
            <a:off x="356616" y="585216"/>
            <a:ext cx="5943600" cy="420624"/>
          </a:xfrm>
          <a:prstGeom prst="rect">
            <a:avLst/>
          </a:prstGeom>
          <a:noFill/>
          <a:ln/>
        </p:spPr>
        <p:txBody>
          <a:bodyPr wrap="square" lIns="0" tIns="0" rIns="0" bIns="0" rtlCol="0" anchor="ctr"/>
          <a:lstStyle/>
          <a:p>
            <a:pPr indent="0" marL="0">
              <a:buNone/>
            </a:pPr>
            <a:r>
              <a:rPr lang="en-US" sz="2800" dirty="0">
                <a:solidFill>
                  <a:srgbClr val="121212"/>
                </a:solidFill>
                <a:latin typeface="Source Serif Pro Black" pitchFamily="34" charset="0"/>
                <a:ea typeface="Source Serif Pro Black" pitchFamily="34" charset="-122"/>
                <a:cs typeface="Source Serif Pro Black" pitchFamily="34" charset="-120"/>
              </a:rPr>
              <a:t>Project Amazon</a:t>
            </a:r>
            <a:endParaRPr lang="en-US" sz="2800" dirty="0"/>
          </a:p>
        </p:txBody>
      </p:sp>
      <p:sp>
        <p:nvSpPr>
          <p:cNvPr id="4" name="Text 1"/>
          <p:cNvSpPr/>
          <p:nvPr/>
        </p:nvSpPr>
        <p:spPr>
          <a:xfrm>
            <a:off x="356616" y="1097280"/>
            <a:ext cx="1801368" cy="512064"/>
          </a:xfrm>
          <a:prstGeom prst="rect">
            <a:avLst/>
          </a:prstGeom>
          <a:noFill/>
          <a:ln/>
        </p:spPr>
        <p:txBody>
          <a:bodyPr wrap="square" lIns="0" tIns="0" rIns="0" bIns="0" rtlCol="0" anchor="ctr"/>
          <a:lstStyle/>
          <a:p>
            <a:pPr indent="0" marL="0">
              <a:buNone/>
            </a:pPr>
            <a:r>
              <a:rPr lang="en-US" sz="3000" dirty="0">
                <a:solidFill>
                  <a:srgbClr val="96772C"/>
                </a:solidFill>
                <a:latin typeface="Source Serif Pro Black" pitchFamily="34" charset="0"/>
                <a:ea typeface="Source Serif Pro Black" pitchFamily="34" charset="-122"/>
                <a:cs typeface="Source Serif Pro Black" pitchFamily="34" charset="-120"/>
              </a:rPr>
              <a:t>01.</a:t>
            </a:r>
            <a:endParaRPr lang="en-US" sz="3000" dirty="0"/>
          </a:p>
        </p:txBody>
      </p:sp>
      <p:sp>
        <p:nvSpPr>
          <p:cNvPr id="5" name="Text 2"/>
          <p:cNvSpPr/>
          <p:nvPr/>
        </p:nvSpPr>
        <p:spPr>
          <a:xfrm>
            <a:off x="356616" y="1609344"/>
            <a:ext cx="1801368" cy="512064"/>
          </a:xfrm>
          <a:prstGeom prst="rect">
            <a:avLst/>
          </a:prstGeom>
          <a:noFill/>
          <a:ln/>
        </p:spPr>
        <p:txBody>
          <a:bodyPr wrap="square" lIns="0" tIns="0" rIns="0" bIns="0" rtlCol="0" anchor="t"/>
          <a:lstStyle/>
          <a:p>
            <a:pPr indent="0" marL="0">
              <a:lnSpc>
                <a:spcPct val="116000"/>
              </a:lnSpc>
              <a:buNone/>
            </a:pPr>
            <a:r>
              <a:rPr lang="en-US" sz="1000" dirty="0">
                <a:solidFill>
                  <a:srgbClr val="121212"/>
                </a:solidFill>
                <a:latin typeface="Poppins" pitchFamily="34" charset="0"/>
                <a:ea typeface="Poppins" pitchFamily="34" charset="-122"/>
                <a:cs typeface="Poppins" pitchFamily="34" charset="-120"/>
              </a:rPr>
              <a:t>O lote opera em escala boutique, não de hotel</a:t>
            </a:r>
            <a:endParaRPr lang="en-US" sz="1000" dirty="0"/>
          </a:p>
        </p:txBody>
      </p:sp>
      <p:sp>
        <p:nvSpPr>
          <p:cNvPr id="6" name="Text 3"/>
          <p:cNvSpPr/>
          <p:nvPr/>
        </p:nvSpPr>
        <p:spPr>
          <a:xfrm>
            <a:off x="2432304" y="1097280"/>
            <a:ext cx="1801368" cy="512064"/>
          </a:xfrm>
          <a:prstGeom prst="rect">
            <a:avLst/>
          </a:prstGeom>
          <a:noFill/>
          <a:ln/>
        </p:spPr>
        <p:txBody>
          <a:bodyPr wrap="square" lIns="0" tIns="0" rIns="0" bIns="0" rtlCol="0" anchor="ctr"/>
          <a:lstStyle/>
          <a:p>
            <a:pPr indent="0" marL="0">
              <a:buNone/>
            </a:pPr>
            <a:r>
              <a:rPr lang="en-US" sz="3000" dirty="0">
                <a:solidFill>
                  <a:srgbClr val="96772C"/>
                </a:solidFill>
                <a:latin typeface="Source Serif Pro Black" pitchFamily="34" charset="0"/>
                <a:ea typeface="Source Serif Pro Black" pitchFamily="34" charset="-122"/>
                <a:cs typeface="Source Serif Pro Black" pitchFamily="34" charset="-120"/>
              </a:rPr>
              <a:t>02.</a:t>
            </a:r>
            <a:endParaRPr lang="en-US" sz="3000" dirty="0"/>
          </a:p>
        </p:txBody>
      </p:sp>
      <p:sp>
        <p:nvSpPr>
          <p:cNvPr id="7" name="Text 4"/>
          <p:cNvSpPr/>
          <p:nvPr/>
        </p:nvSpPr>
        <p:spPr>
          <a:xfrm>
            <a:off x="2432304" y="1609344"/>
            <a:ext cx="1801368" cy="512064"/>
          </a:xfrm>
          <a:prstGeom prst="rect">
            <a:avLst/>
          </a:prstGeom>
          <a:noFill/>
          <a:ln/>
        </p:spPr>
        <p:txBody>
          <a:bodyPr wrap="square" lIns="0" tIns="0" rIns="0" bIns="0" rtlCol="0" anchor="t"/>
          <a:lstStyle/>
          <a:p>
            <a:pPr indent="0" marL="0">
              <a:lnSpc>
                <a:spcPct val="116000"/>
              </a:lnSpc>
              <a:buNone/>
            </a:pPr>
            <a:r>
              <a:rPr lang="en-US" sz="1000" dirty="0">
                <a:solidFill>
                  <a:srgbClr val="121212"/>
                </a:solidFill>
                <a:latin typeface="Poppins" pitchFamily="34" charset="0"/>
                <a:ea typeface="Poppins" pitchFamily="34" charset="-122"/>
                <a:cs typeface="Poppins" pitchFamily="34" charset="-120"/>
              </a:rPr>
              <a:t>Conservação e comunidade estão no centro da operação</a:t>
            </a:r>
            <a:endParaRPr lang="en-US" sz="1000" dirty="0"/>
          </a:p>
        </p:txBody>
      </p:sp>
      <p:sp>
        <p:nvSpPr>
          <p:cNvPr id="8" name="Text 5"/>
          <p:cNvSpPr/>
          <p:nvPr/>
        </p:nvSpPr>
        <p:spPr>
          <a:xfrm>
            <a:off x="4507992" y="1097280"/>
            <a:ext cx="1801368" cy="512064"/>
          </a:xfrm>
          <a:prstGeom prst="rect">
            <a:avLst/>
          </a:prstGeom>
          <a:noFill/>
          <a:ln/>
        </p:spPr>
        <p:txBody>
          <a:bodyPr wrap="square" lIns="0" tIns="0" rIns="0" bIns="0" rtlCol="0" anchor="ctr"/>
          <a:lstStyle/>
          <a:p>
            <a:pPr indent="0" marL="0">
              <a:buNone/>
            </a:pPr>
            <a:r>
              <a:rPr lang="en-US" sz="3000" dirty="0">
                <a:solidFill>
                  <a:srgbClr val="96772C"/>
                </a:solidFill>
                <a:latin typeface="Source Serif Pro Black" pitchFamily="34" charset="0"/>
                <a:ea typeface="Source Serif Pro Black" pitchFamily="34" charset="-122"/>
                <a:cs typeface="Source Serif Pro Black" pitchFamily="34" charset="-120"/>
              </a:rPr>
              <a:t>03.</a:t>
            </a:r>
            <a:endParaRPr lang="en-US" sz="3000" dirty="0"/>
          </a:p>
        </p:txBody>
      </p:sp>
      <p:sp>
        <p:nvSpPr>
          <p:cNvPr id="9" name="Text 6"/>
          <p:cNvSpPr/>
          <p:nvPr/>
        </p:nvSpPr>
        <p:spPr>
          <a:xfrm>
            <a:off x="4507992" y="1609344"/>
            <a:ext cx="1901952" cy="512064"/>
          </a:xfrm>
          <a:prstGeom prst="rect">
            <a:avLst/>
          </a:prstGeom>
          <a:noFill/>
          <a:ln/>
        </p:spPr>
        <p:txBody>
          <a:bodyPr wrap="square" lIns="0" tIns="0" rIns="0" bIns="0" rtlCol="0" anchor="t"/>
          <a:lstStyle/>
          <a:p>
            <a:pPr indent="0" marL="0">
              <a:lnSpc>
                <a:spcPct val="116000"/>
              </a:lnSpc>
              <a:buNone/>
            </a:pPr>
            <a:r>
              <a:rPr lang="en-US" sz="1000" dirty="0">
                <a:solidFill>
                  <a:srgbClr val="121212"/>
                </a:solidFill>
                <a:latin typeface="Poppins" pitchFamily="34" charset="0"/>
                <a:ea typeface="Poppins" pitchFamily="34" charset="-122"/>
                <a:cs typeface="Poppins" pitchFamily="34" charset="-120"/>
              </a:rPr>
              <a:t>A expansão é opcional e fisicamente separada</a:t>
            </a:r>
            <a:endParaRPr lang="en-US" sz="1000" dirty="0"/>
          </a:p>
        </p:txBody>
      </p:sp>
      <p:sp>
        <p:nvSpPr>
          <p:cNvPr id="10" name="Shape 7"/>
          <p:cNvSpPr/>
          <p:nvPr/>
        </p:nvSpPr>
        <p:spPr>
          <a:xfrm>
            <a:off x="0" y="2139696"/>
            <a:ext cx="6858000" cy="1252728"/>
          </a:xfrm>
          <a:prstGeom prst="rect">
            <a:avLst/>
          </a:prstGeom>
          <a:solidFill>
            <a:srgbClr val="23574A"/>
          </a:solidFill>
          <a:ln/>
        </p:spPr>
      </p:sp>
      <p:sp>
        <p:nvSpPr>
          <p:cNvPr id="11" name="Shape 8"/>
          <p:cNvSpPr/>
          <p:nvPr/>
        </p:nvSpPr>
        <p:spPr>
          <a:xfrm>
            <a:off x="310896" y="2395728"/>
            <a:ext cx="68580" cy="10973"/>
          </a:xfrm>
          <a:prstGeom prst="rect">
            <a:avLst/>
          </a:prstGeom>
          <a:solidFill>
            <a:srgbClr val="46AD95"/>
          </a:solidFill>
          <a:ln/>
        </p:spPr>
      </p:sp>
      <p:sp>
        <p:nvSpPr>
          <p:cNvPr id="12" name="Text 9"/>
          <p:cNvSpPr/>
          <p:nvPr/>
        </p:nvSpPr>
        <p:spPr>
          <a:xfrm>
            <a:off x="429768" y="2304288"/>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25 chaves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em 24 unidades independentes, dispersas na mata</a:t>
            </a:r>
            <a:endParaRPr lang="en-US" sz="800" dirty="0"/>
          </a:p>
        </p:txBody>
      </p:sp>
      <p:sp>
        <p:nvSpPr>
          <p:cNvPr id="13" name="Shape 10"/>
          <p:cNvSpPr/>
          <p:nvPr/>
        </p:nvSpPr>
        <p:spPr>
          <a:xfrm>
            <a:off x="310896" y="2724912"/>
            <a:ext cx="68580" cy="10973"/>
          </a:xfrm>
          <a:prstGeom prst="rect">
            <a:avLst/>
          </a:prstGeom>
          <a:solidFill>
            <a:srgbClr val="46AD95"/>
          </a:solidFill>
          <a:ln/>
        </p:spPr>
      </p:sp>
      <p:sp>
        <p:nvSpPr>
          <p:cNvPr id="14" name="Text 11"/>
          <p:cNvSpPr/>
          <p:nvPr/>
        </p:nvSpPr>
        <p:spPr>
          <a:xfrm>
            <a:off x="429768" y="2633472"/>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16 chalés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 4 bangalôs · 3 panorâmicos · 1 villa (2 quartos)</a:t>
            </a:r>
            <a:endParaRPr lang="en-US" sz="800" dirty="0"/>
          </a:p>
        </p:txBody>
      </p:sp>
      <p:sp>
        <p:nvSpPr>
          <p:cNvPr id="15" name="Shape 12"/>
          <p:cNvSpPr/>
          <p:nvPr/>
        </p:nvSpPr>
        <p:spPr>
          <a:xfrm>
            <a:off x="310896" y="3054096"/>
            <a:ext cx="68580" cy="10973"/>
          </a:xfrm>
          <a:prstGeom prst="rect">
            <a:avLst/>
          </a:prstGeom>
          <a:solidFill>
            <a:srgbClr val="46AD95"/>
          </a:solidFill>
          <a:ln/>
        </p:spPr>
      </p:sp>
      <p:sp>
        <p:nvSpPr>
          <p:cNvPr id="16" name="Text 13"/>
          <p:cNvSpPr/>
          <p:nvPr/>
        </p:nvSpPr>
        <p:spPr>
          <a:xfrm>
            <a:off x="429768" y="2962656"/>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~14 mil ha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de floresta protegida no entorno por chave¹</a:t>
            </a:r>
            <a:endParaRPr lang="en-US" sz="800" dirty="0"/>
          </a:p>
        </p:txBody>
      </p:sp>
      <p:sp>
        <p:nvSpPr>
          <p:cNvPr id="17" name="Shape 14"/>
          <p:cNvSpPr/>
          <p:nvPr/>
        </p:nvSpPr>
        <p:spPr>
          <a:xfrm>
            <a:off x="2386584" y="2395728"/>
            <a:ext cx="68580" cy="10973"/>
          </a:xfrm>
          <a:prstGeom prst="rect">
            <a:avLst/>
          </a:prstGeom>
          <a:solidFill>
            <a:srgbClr val="46AD95"/>
          </a:solidFill>
          <a:ln/>
        </p:spPr>
      </p:sp>
      <p:sp>
        <p:nvSpPr>
          <p:cNvPr id="18" name="Text 15"/>
          <p:cNvSpPr/>
          <p:nvPr/>
        </p:nvSpPr>
        <p:spPr>
          <a:xfrm>
            <a:off x="2505456" y="2304288"/>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B Corp 88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única empresa certificada do estado do Amazonas</a:t>
            </a:r>
            <a:endParaRPr lang="en-US" sz="800" dirty="0"/>
          </a:p>
        </p:txBody>
      </p:sp>
      <p:sp>
        <p:nvSpPr>
          <p:cNvPr id="19" name="Shape 16"/>
          <p:cNvSpPr/>
          <p:nvPr/>
        </p:nvSpPr>
        <p:spPr>
          <a:xfrm>
            <a:off x="2386584" y="2724912"/>
            <a:ext cx="68580" cy="10973"/>
          </a:xfrm>
          <a:prstGeom prst="rect">
            <a:avLst/>
          </a:prstGeom>
          <a:solidFill>
            <a:srgbClr val="46AD95"/>
          </a:solidFill>
          <a:ln/>
        </p:spPr>
      </p:sp>
      <p:sp>
        <p:nvSpPr>
          <p:cNvPr id="20" name="Text 17"/>
          <p:cNvSpPr/>
          <p:nvPr/>
        </p:nvSpPr>
        <p:spPr>
          <a:xfrm>
            <a:off x="2505456" y="2633472"/>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+150 famílias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impactadas pelo Instituto Anavilhanas</a:t>
            </a:r>
            <a:endParaRPr lang="en-US" sz="800" dirty="0"/>
          </a:p>
        </p:txBody>
      </p:sp>
      <p:sp>
        <p:nvSpPr>
          <p:cNvPr id="21" name="Shape 18"/>
          <p:cNvSpPr/>
          <p:nvPr/>
        </p:nvSpPr>
        <p:spPr>
          <a:xfrm>
            <a:off x="2386584" y="3054096"/>
            <a:ext cx="68580" cy="10973"/>
          </a:xfrm>
          <a:prstGeom prst="rect">
            <a:avLst/>
          </a:prstGeom>
          <a:solidFill>
            <a:srgbClr val="46AD95"/>
          </a:solidFill>
          <a:ln/>
        </p:spPr>
      </p:sp>
      <p:sp>
        <p:nvSpPr>
          <p:cNvPr id="22" name="Text 19"/>
          <p:cNvSpPr/>
          <p:nvPr/>
        </p:nvSpPr>
        <p:spPr>
          <a:xfrm>
            <a:off x="2505456" y="2962656"/>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Desde 2007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trabalho contínuo com comunidades ribeirinhas</a:t>
            </a:r>
            <a:endParaRPr lang="en-US" sz="800" dirty="0"/>
          </a:p>
        </p:txBody>
      </p:sp>
      <p:sp>
        <p:nvSpPr>
          <p:cNvPr id="23" name="Shape 20"/>
          <p:cNvSpPr/>
          <p:nvPr/>
        </p:nvSpPr>
        <p:spPr>
          <a:xfrm>
            <a:off x="4462272" y="2395728"/>
            <a:ext cx="68580" cy="10973"/>
          </a:xfrm>
          <a:prstGeom prst="rect">
            <a:avLst/>
          </a:prstGeom>
          <a:solidFill>
            <a:srgbClr val="46AD95"/>
          </a:solidFill>
          <a:ln/>
        </p:spPr>
      </p:sp>
      <p:sp>
        <p:nvSpPr>
          <p:cNvPr id="24" name="Text 21"/>
          <p:cNvSpPr/>
          <p:nvPr/>
        </p:nvSpPr>
        <p:spPr>
          <a:xfrm>
            <a:off x="4581144" y="2304288"/>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420 m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distância da área de expansão ao lodge</a:t>
            </a:r>
            <a:endParaRPr lang="en-US" sz="800" dirty="0"/>
          </a:p>
        </p:txBody>
      </p:sp>
      <p:sp>
        <p:nvSpPr>
          <p:cNvPr id="25" name="Shape 22"/>
          <p:cNvSpPr/>
          <p:nvPr/>
        </p:nvSpPr>
        <p:spPr>
          <a:xfrm>
            <a:off x="4462272" y="2724912"/>
            <a:ext cx="68580" cy="10973"/>
          </a:xfrm>
          <a:prstGeom prst="rect">
            <a:avLst/>
          </a:prstGeom>
          <a:solidFill>
            <a:srgbClr val="46AD95"/>
          </a:solidFill>
          <a:ln/>
        </p:spPr>
      </p:sp>
      <p:sp>
        <p:nvSpPr>
          <p:cNvPr id="26" name="Text 23"/>
          <p:cNvSpPr/>
          <p:nvPr/>
        </p:nvSpPr>
        <p:spPr>
          <a:xfrm>
            <a:off x="4581144" y="2633472"/>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16 quartos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em 1.252 m² — pode não ser executada</a:t>
            </a:r>
            <a:endParaRPr lang="en-US" sz="800" dirty="0"/>
          </a:p>
        </p:txBody>
      </p:sp>
      <p:sp>
        <p:nvSpPr>
          <p:cNvPr id="27" name="Shape 24"/>
          <p:cNvSpPr/>
          <p:nvPr/>
        </p:nvSpPr>
        <p:spPr>
          <a:xfrm>
            <a:off x="4462272" y="3054096"/>
            <a:ext cx="68580" cy="10973"/>
          </a:xfrm>
          <a:prstGeom prst="rect">
            <a:avLst/>
          </a:prstGeom>
          <a:solidFill>
            <a:srgbClr val="46AD95"/>
          </a:solidFill>
          <a:ln/>
        </p:spPr>
      </p:sp>
      <p:sp>
        <p:nvSpPr>
          <p:cNvPr id="28" name="Text 25"/>
          <p:cNvSpPr/>
          <p:nvPr/>
        </p:nvSpPr>
        <p:spPr>
          <a:xfrm>
            <a:off x="4581144" y="2962656"/>
            <a:ext cx="1883664" cy="310896"/>
          </a:xfrm>
          <a:prstGeom prst="rect">
            <a:avLst/>
          </a:prstGeom>
          <a:noFill/>
          <a:ln/>
        </p:spPr>
        <p:txBody>
          <a:bodyPr wrap="square" lIns="0" tIns="0" rIns="0" bIns="0" rtlCol="0" anchor="t"/>
          <a:lstStyle/>
          <a:p>
            <a:pPr indent="0" marL="0">
              <a:lnSpc>
                <a:spcPct val="112000"/>
              </a:lnSpc>
              <a:buNone/>
            </a:pPr>
            <a:r>
              <a:rPr lang="en-US" sz="800" dirty="0">
                <a:solidFill>
                  <a:srgbClr val="FFFFFF"/>
                </a:solidFill>
                <a:latin typeface="Poppins SemiBold" pitchFamily="34" charset="0"/>
                <a:ea typeface="Poppins SemiBold" pitchFamily="34" charset="-122"/>
                <a:cs typeface="Poppins SemiBold" pitchFamily="34" charset="-120"/>
              </a:rPr>
              <a:t>2 áreas extras  </a:t>
            </a:r>
            <a:pPr indent="0" marL="0">
              <a:lnSpc>
                <a:spcPct val="112000"/>
              </a:lnSpc>
              <a:buNone/>
            </a:pPr>
            <a:r>
              <a:rPr lang="en-US" sz="700" dirty="0">
                <a:solidFill>
                  <a:srgbClr val="CFE0DA"/>
                </a:solidFill>
                <a:latin typeface="Poppins" pitchFamily="34" charset="0"/>
                <a:ea typeface="Poppins" pitchFamily="34" charset="-122"/>
                <a:cs typeface="Poppins" pitchFamily="34" charset="-120"/>
              </a:rPr>
              <a:t>Base Avançada (50 km) e Villa Amazônia (Manaus)</a:t>
            </a:r>
            <a:endParaRPr lang="en-US" sz="800" dirty="0"/>
          </a:p>
        </p:txBody>
      </p:sp>
      <p:sp>
        <p:nvSpPr>
          <p:cNvPr id="29" name="Text 26"/>
          <p:cNvSpPr/>
          <p:nvPr/>
        </p:nvSpPr>
        <p:spPr>
          <a:xfrm>
            <a:off x="356616" y="3584448"/>
            <a:ext cx="1783080" cy="384048"/>
          </a:xfrm>
          <a:prstGeom prst="rect">
            <a:avLst/>
          </a:prstGeom>
          <a:noFill/>
          <a:ln/>
        </p:spPr>
        <p:txBody>
          <a:bodyPr wrap="square" lIns="0" tIns="0" rIns="0" bIns="0" rtlCol="0" anchor="t"/>
          <a:lstStyle/>
          <a:p>
            <a:pPr indent="0" marL="0">
              <a:lnSpc>
                <a:spcPct val="114000"/>
              </a:lnSpc>
              <a:buNone/>
            </a:pPr>
            <a:r>
              <a:rPr lang="en-US" sz="1000" dirty="0">
                <a:solidFill>
                  <a:srgbClr val="121212"/>
                </a:solidFill>
                <a:latin typeface="Poppins SemiBold" pitchFamily="34" charset="0"/>
                <a:ea typeface="Poppins SemiBold" pitchFamily="34" charset="-122"/>
                <a:cs typeface="Poppins SemiBold" pitchFamily="34" charset="-120"/>
              </a:rPr>
              <a:t>A relação entre quartos e área</a:t>
            </a:r>
            <a:endParaRPr lang="en-US" sz="1000" dirty="0"/>
          </a:p>
        </p:txBody>
      </p:sp>
      <p:sp>
        <p:nvSpPr>
          <p:cNvPr id="30" name="Text 27"/>
          <p:cNvSpPr/>
          <p:nvPr/>
        </p:nvSpPr>
        <p:spPr>
          <a:xfrm>
            <a:off x="356616" y="4005072"/>
            <a:ext cx="1783080" cy="1005840"/>
          </a:xfrm>
          <a:prstGeom prst="rect">
            <a:avLst/>
          </a:prstGeom>
          <a:noFill/>
          <a:ln/>
        </p:spPr>
        <p:txBody>
          <a:bodyPr wrap="square" lIns="0" tIns="0" rIns="0" bIns="0" rtlCol="0" anchor="t"/>
          <a:lstStyle/>
          <a:p>
            <a:pPr indent="0" marL="0">
              <a:lnSpc>
                <a:spcPct val="122000"/>
              </a:lnSpc>
              <a:buNone/>
            </a:pPr>
            <a:r>
              <a:rPr lang="en-US" sz="750" dirty="0">
                <a:solidFill>
                  <a:srgbClr val="6E7681"/>
                </a:solidFill>
                <a:latin typeface="Poppins" pitchFamily="34" charset="0"/>
                <a:ea typeface="Poppins" pitchFamily="34" charset="-122"/>
                <a:cs typeface="Poppins" pitchFamily="34" charset="-120"/>
              </a:rPr>
              <a:t>As 25 chaves estão distribuídas em 24 unidades independentes, implantadas dentro da mata às margens do Rio Negro — não em um bloco hoteleiro único. O lote fica no portal do Parque Nacional de Anavilhanas, um dos maiores arquipélagos fluviais do mundo.</a:t>
            </a:r>
            <a:endParaRPr lang="en-US" sz="750" dirty="0"/>
          </a:p>
        </p:txBody>
      </p:sp>
      <p:sp>
        <p:nvSpPr>
          <p:cNvPr id="31" name="Text 28"/>
          <p:cNvSpPr/>
          <p:nvPr/>
        </p:nvSpPr>
        <p:spPr>
          <a:xfrm>
            <a:off x="2377440" y="3566160"/>
            <a:ext cx="2103120" cy="164592"/>
          </a:xfrm>
          <a:prstGeom prst="rect">
            <a:avLst/>
          </a:prstGeom>
          <a:noFill/>
          <a:ln/>
        </p:spPr>
        <p:txBody>
          <a:bodyPr wrap="square" lIns="0" tIns="0" rIns="0" bIns="0" rtlCol="0" anchor="ctr"/>
          <a:lstStyle/>
          <a:p>
            <a:pPr indent="0" marL="0">
              <a:buNone/>
            </a:pPr>
            <a:r>
              <a:rPr lang="en-US" sz="650" spc="100" kern="0" dirty="0">
                <a:solidFill>
                  <a:srgbClr val="96772C"/>
                </a:solidFill>
                <a:latin typeface="Poppins SemiBold" pitchFamily="34" charset="0"/>
                <a:ea typeface="Poppins SemiBold" pitchFamily="34" charset="-122"/>
                <a:cs typeface="Poppins SemiBold" pitchFamily="34" charset="-120"/>
              </a:rPr>
              <a:t>COMPOSIÇÃO DAS UNIDADES</a:t>
            </a:r>
            <a:endParaRPr lang="en-US" sz="650" dirty="0"/>
          </a:p>
        </p:txBody>
      </p:sp>
      <p:sp>
        <p:nvSpPr>
          <p:cNvPr id="32" name="Text 29"/>
          <p:cNvSpPr/>
          <p:nvPr/>
        </p:nvSpPr>
        <p:spPr>
          <a:xfrm>
            <a:off x="2377440" y="3785616"/>
            <a:ext cx="384048" cy="237744"/>
          </a:xfrm>
          <a:prstGeom prst="rect">
            <a:avLst/>
          </a:prstGeom>
          <a:noFill/>
          <a:ln/>
        </p:spPr>
        <p:txBody>
          <a:bodyPr wrap="square" lIns="0" tIns="0" rIns="0" bIns="0" rtlCol="0" anchor="ctr"/>
          <a:lstStyle/>
          <a:p>
            <a:pPr indent="0" marL="0">
              <a:buNone/>
            </a:pPr>
            <a:r>
              <a:rPr lang="en-US" sz="1400" dirty="0">
                <a:solidFill>
                  <a:srgbClr val="23574A"/>
                </a:solidFill>
                <a:latin typeface="Source Serif Pro Black" pitchFamily="34" charset="0"/>
                <a:ea typeface="Source Serif Pro Black" pitchFamily="34" charset="-122"/>
                <a:cs typeface="Source Serif Pro Black" pitchFamily="34" charset="-120"/>
              </a:rPr>
              <a:t>16</a:t>
            </a:r>
            <a:endParaRPr lang="en-US" sz="1400" dirty="0"/>
          </a:p>
        </p:txBody>
      </p:sp>
      <p:sp>
        <p:nvSpPr>
          <p:cNvPr id="33" name="Text 30"/>
          <p:cNvSpPr/>
          <p:nvPr/>
        </p:nvSpPr>
        <p:spPr>
          <a:xfrm>
            <a:off x="2798064" y="3785616"/>
            <a:ext cx="1700784" cy="237744"/>
          </a:xfrm>
          <a:prstGeom prst="rect">
            <a:avLst/>
          </a:prstGeom>
          <a:noFill/>
          <a:ln/>
        </p:spPr>
        <p:txBody>
          <a:bodyPr wrap="square" lIns="0" tIns="0" rIns="0" bIns="0" rtlCol="0" anchor="ctr"/>
          <a:lstStyle/>
          <a:p>
            <a:pPr indent="0" marL="0">
              <a:buNone/>
            </a:pPr>
            <a:r>
              <a:rPr lang="en-US" sz="700" dirty="0">
                <a:solidFill>
                  <a:srgbClr val="121212"/>
                </a:solidFill>
                <a:latin typeface="Poppins" pitchFamily="34" charset="0"/>
                <a:ea typeface="Poppins" pitchFamily="34" charset="-122"/>
                <a:cs typeface="Poppins" pitchFamily="34" charset="-120"/>
              </a:rPr>
              <a:t>Chalés com vista para a floresta</a:t>
            </a:r>
            <a:endParaRPr lang="en-US" sz="700" dirty="0"/>
          </a:p>
        </p:txBody>
      </p:sp>
      <p:sp>
        <p:nvSpPr>
          <p:cNvPr id="34" name="Shape 31"/>
          <p:cNvSpPr/>
          <p:nvPr/>
        </p:nvSpPr>
        <p:spPr>
          <a:xfrm>
            <a:off x="2377440" y="4032504"/>
            <a:ext cx="2103120" cy="7315"/>
          </a:xfrm>
          <a:prstGeom prst="rect">
            <a:avLst/>
          </a:prstGeom>
          <a:solidFill>
            <a:srgbClr val="E3E6EC"/>
          </a:solidFill>
          <a:ln/>
        </p:spPr>
      </p:sp>
      <p:sp>
        <p:nvSpPr>
          <p:cNvPr id="35" name="Text 32"/>
          <p:cNvSpPr/>
          <p:nvPr/>
        </p:nvSpPr>
        <p:spPr>
          <a:xfrm>
            <a:off x="2377440" y="4059936"/>
            <a:ext cx="384048" cy="237744"/>
          </a:xfrm>
          <a:prstGeom prst="rect">
            <a:avLst/>
          </a:prstGeom>
          <a:noFill/>
          <a:ln/>
        </p:spPr>
        <p:txBody>
          <a:bodyPr wrap="square" lIns="0" tIns="0" rIns="0" bIns="0" rtlCol="0" anchor="ctr"/>
          <a:lstStyle/>
          <a:p>
            <a:pPr indent="0" marL="0">
              <a:buNone/>
            </a:pPr>
            <a:r>
              <a:rPr lang="en-US" sz="1400" dirty="0">
                <a:solidFill>
                  <a:srgbClr val="23574A"/>
                </a:solidFill>
                <a:latin typeface="Source Serif Pro Black" pitchFamily="34" charset="0"/>
                <a:ea typeface="Source Serif Pro Black" pitchFamily="34" charset="-122"/>
                <a:cs typeface="Source Serif Pro Black" pitchFamily="34" charset="-120"/>
              </a:rPr>
              <a:t>04</a:t>
            </a:r>
            <a:endParaRPr lang="en-US" sz="1400" dirty="0"/>
          </a:p>
        </p:txBody>
      </p:sp>
      <p:sp>
        <p:nvSpPr>
          <p:cNvPr id="36" name="Text 33"/>
          <p:cNvSpPr/>
          <p:nvPr/>
        </p:nvSpPr>
        <p:spPr>
          <a:xfrm>
            <a:off x="2798064" y="4059936"/>
            <a:ext cx="1700784" cy="237744"/>
          </a:xfrm>
          <a:prstGeom prst="rect">
            <a:avLst/>
          </a:prstGeom>
          <a:noFill/>
          <a:ln/>
        </p:spPr>
        <p:txBody>
          <a:bodyPr wrap="square" lIns="0" tIns="0" rIns="0" bIns="0" rtlCol="0" anchor="ctr"/>
          <a:lstStyle/>
          <a:p>
            <a:pPr indent="0" marL="0">
              <a:buNone/>
            </a:pPr>
            <a:r>
              <a:rPr lang="en-US" sz="700" dirty="0">
                <a:solidFill>
                  <a:srgbClr val="121212"/>
                </a:solidFill>
                <a:latin typeface="Poppins" pitchFamily="34" charset="0"/>
                <a:ea typeface="Poppins" pitchFamily="34" charset="-122"/>
                <a:cs typeface="Poppins" pitchFamily="34" charset="-120"/>
              </a:rPr>
              <a:t>Bangalôs com vista de 180°</a:t>
            </a:r>
            <a:endParaRPr lang="en-US" sz="700" dirty="0"/>
          </a:p>
        </p:txBody>
      </p:sp>
      <p:sp>
        <p:nvSpPr>
          <p:cNvPr id="37" name="Shape 34"/>
          <p:cNvSpPr/>
          <p:nvPr/>
        </p:nvSpPr>
        <p:spPr>
          <a:xfrm>
            <a:off x="2377440" y="4306824"/>
            <a:ext cx="2103120" cy="7315"/>
          </a:xfrm>
          <a:prstGeom prst="rect">
            <a:avLst/>
          </a:prstGeom>
          <a:solidFill>
            <a:srgbClr val="E3E6EC"/>
          </a:solidFill>
          <a:ln/>
        </p:spPr>
      </p:sp>
      <p:sp>
        <p:nvSpPr>
          <p:cNvPr id="38" name="Text 35"/>
          <p:cNvSpPr/>
          <p:nvPr/>
        </p:nvSpPr>
        <p:spPr>
          <a:xfrm>
            <a:off x="2377440" y="4334256"/>
            <a:ext cx="384048" cy="237744"/>
          </a:xfrm>
          <a:prstGeom prst="rect">
            <a:avLst/>
          </a:prstGeom>
          <a:noFill/>
          <a:ln/>
        </p:spPr>
        <p:txBody>
          <a:bodyPr wrap="square" lIns="0" tIns="0" rIns="0" bIns="0" rtlCol="0" anchor="ctr"/>
          <a:lstStyle/>
          <a:p>
            <a:pPr indent="0" marL="0">
              <a:buNone/>
            </a:pPr>
            <a:r>
              <a:rPr lang="en-US" sz="1400" dirty="0">
                <a:solidFill>
                  <a:srgbClr val="23574A"/>
                </a:solidFill>
                <a:latin typeface="Source Serif Pro Black" pitchFamily="34" charset="0"/>
                <a:ea typeface="Source Serif Pro Black" pitchFamily="34" charset="-122"/>
                <a:cs typeface="Source Serif Pro Black" pitchFamily="34" charset="-120"/>
              </a:rPr>
              <a:t>03</a:t>
            </a:r>
            <a:endParaRPr lang="en-US" sz="1400" dirty="0"/>
          </a:p>
        </p:txBody>
      </p:sp>
      <p:sp>
        <p:nvSpPr>
          <p:cNvPr id="39" name="Text 36"/>
          <p:cNvSpPr/>
          <p:nvPr/>
        </p:nvSpPr>
        <p:spPr>
          <a:xfrm>
            <a:off x="2798064" y="4334256"/>
            <a:ext cx="1700784" cy="237744"/>
          </a:xfrm>
          <a:prstGeom prst="rect">
            <a:avLst/>
          </a:prstGeom>
          <a:noFill/>
          <a:ln/>
        </p:spPr>
        <p:txBody>
          <a:bodyPr wrap="square" lIns="0" tIns="0" rIns="0" bIns="0" rtlCol="0" anchor="ctr"/>
          <a:lstStyle/>
          <a:p>
            <a:pPr indent="0" marL="0">
              <a:buNone/>
            </a:pPr>
            <a:r>
              <a:rPr lang="en-US" sz="700" dirty="0">
                <a:solidFill>
                  <a:srgbClr val="121212"/>
                </a:solidFill>
                <a:latin typeface="Poppins" pitchFamily="34" charset="0"/>
                <a:ea typeface="Poppins" pitchFamily="34" charset="-122"/>
                <a:cs typeface="Poppins" pitchFamily="34" charset="-120"/>
              </a:rPr>
              <a:t>Quartos panorâmicos com varanda</a:t>
            </a:r>
            <a:endParaRPr lang="en-US" sz="700" dirty="0"/>
          </a:p>
        </p:txBody>
      </p:sp>
      <p:sp>
        <p:nvSpPr>
          <p:cNvPr id="40" name="Shape 37"/>
          <p:cNvSpPr/>
          <p:nvPr/>
        </p:nvSpPr>
        <p:spPr>
          <a:xfrm>
            <a:off x="2377440" y="4581144"/>
            <a:ext cx="2103120" cy="7315"/>
          </a:xfrm>
          <a:prstGeom prst="rect">
            <a:avLst/>
          </a:prstGeom>
          <a:solidFill>
            <a:srgbClr val="E3E6EC"/>
          </a:solidFill>
          <a:ln/>
        </p:spPr>
      </p:sp>
      <p:sp>
        <p:nvSpPr>
          <p:cNvPr id="41" name="Text 38"/>
          <p:cNvSpPr/>
          <p:nvPr/>
        </p:nvSpPr>
        <p:spPr>
          <a:xfrm>
            <a:off x="2377440" y="4608576"/>
            <a:ext cx="384048" cy="237744"/>
          </a:xfrm>
          <a:prstGeom prst="rect">
            <a:avLst/>
          </a:prstGeom>
          <a:noFill/>
          <a:ln/>
        </p:spPr>
        <p:txBody>
          <a:bodyPr wrap="square" lIns="0" tIns="0" rIns="0" bIns="0" rtlCol="0" anchor="ctr"/>
          <a:lstStyle/>
          <a:p>
            <a:pPr indent="0" marL="0">
              <a:buNone/>
            </a:pPr>
            <a:r>
              <a:rPr lang="en-US" sz="1400" dirty="0">
                <a:solidFill>
                  <a:srgbClr val="23574A"/>
                </a:solidFill>
                <a:latin typeface="Source Serif Pro Black" pitchFamily="34" charset="0"/>
                <a:ea typeface="Source Serif Pro Black" pitchFamily="34" charset="-122"/>
                <a:cs typeface="Source Serif Pro Black" pitchFamily="34" charset="-120"/>
              </a:rPr>
              <a:t>01</a:t>
            </a:r>
            <a:endParaRPr lang="en-US" sz="1400" dirty="0"/>
          </a:p>
        </p:txBody>
      </p:sp>
      <p:sp>
        <p:nvSpPr>
          <p:cNvPr id="42" name="Text 39"/>
          <p:cNvSpPr/>
          <p:nvPr/>
        </p:nvSpPr>
        <p:spPr>
          <a:xfrm>
            <a:off x="2798064" y="4608576"/>
            <a:ext cx="1700784" cy="237744"/>
          </a:xfrm>
          <a:prstGeom prst="rect">
            <a:avLst/>
          </a:prstGeom>
          <a:noFill/>
          <a:ln/>
        </p:spPr>
        <p:txBody>
          <a:bodyPr wrap="square" lIns="0" tIns="0" rIns="0" bIns="0" rtlCol="0" anchor="ctr"/>
          <a:lstStyle/>
          <a:p>
            <a:pPr indent="0" marL="0">
              <a:buNone/>
            </a:pPr>
            <a:r>
              <a:rPr lang="en-US" sz="700" dirty="0">
                <a:solidFill>
                  <a:srgbClr val="121212"/>
                </a:solidFill>
                <a:latin typeface="Poppins" pitchFamily="34" charset="0"/>
                <a:ea typeface="Poppins" pitchFamily="34" charset="-122"/>
                <a:cs typeface="Poppins" pitchFamily="34" charset="-120"/>
              </a:rPr>
              <a:t>Villa exclusiva, com 2 quartos</a:t>
            </a:r>
            <a:endParaRPr lang="en-US" sz="700" dirty="0"/>
          </a:p>
        </p:txBody>
      </p:sp>
      <p:sp>
        <p:nvSpPr>
          <p:cNvPr id="43" name="Text 40"/>
          <p:cNvSpPr/>
          <p:nvPr/>
        </p:nvSpPr>
        <p:spPr>
          <a:xfrm>
            <a:off x="2377440" y="4901184"/>
            <a:ext cx="2212848" cy="219456"/>
          </a:xfrm>
          <a:prstGeom prst="rect">
            <a:avLst/>
          </a:prstGeom>
          <a:noFill/>
          <a:ln/>
        </p:spPr>
        <p:txBody>
          <a:bodyPr wrap="square" lIns="0" tIns="0" rIns="0" bIns="0" rtlCol="0" anchor="ctr"/>
          <a:lstStyle/>
          <a:p>
            <a:pPr indent="0" marL="0">
              <a:buNone/>
            </a:pPr>
            <a:r>
              <a:rPr lang="en-US" sz="700" dirty="0">
                <a:solidFill>
                  <a:srgbClr val="6E7681"/>
                </a:solidFill>
                <a:latin typeface="Poppins" pitchFamily="34" charset="0"/>
                <a:ea typeface="Poppins" pitchFamily="34" charset="-122"/>
                <a:cs typeface="Poppins" pitchFamily="34" charset="-120"/>
              </a:rPr>
              <a:t>24 unidades  ·  </a:t>
            </a:r>
            <a:pPr indent="0" marL="0">
              <a:buNone/>
            </a:pPr>
            <a:r>
              <a:rPr lang="en-US" sz="800" dirty="0">
                <a:solidFill>
                  <a:srgbClr val="96772C"/>
                </a:solidFill>
                <a:latin typeface="Poppins SemiBold" pitchFamily="34" charset="0"/>
                <a:ea typeface="Poppins SemiBold" pitchFamily="34" charset="-122"/>
                <a:cs typeface="Poppins SemiBold" pitchFamily="34" charset="-120"/>
              </a:rPr>
              <a:t>25 chaves</a:t>
            </a:r>
            <a:pPr indent="0" marL="0">
              <a:buNone/>
            </a:pPr>
            <a:r>
              <a:rPr lang="en-US" sz="650" dirty="0">
                <a:solidFill>
                  <a:srgbClr val="6E7681"/>
                </a:solidFill>
                <a:latin typeface="Poppins" pitchFamily="34" charset="0"/>
                <a:ea typeface="Poppins" pitchFamily="34" charset="-122"/>
                <a:cs typeface="Poppins" pitchFamily="34" charset="-120"/>
              </a:rPr>
              <a:t>   ·  a villa responde por 2</a:t>
            </a:r>
            <a:endParaRPr lang="en-US" sz="700" dirty="0"/>
          </a:p>
        </p:txBody>
      </p:sp>
      <p:pic>
        <p:nvPicPr>
          <p:cNvPr id="44" name="Image 1" descr="assets/anav/aerial_lodge.jpg">    </p:cNvPr>
          <p:cNvPicPr>
            <a:picLocks noChangeAspect="1"/>
          </p:cNvPicPr>
          <p:nvPr/>
        </p:nvPicPr>
        <p:blipFill>
          <a:blip r:embed="rId2"/>
          <a:srcRect l="0" r="0" t="0" b="0"/>
          <a:stretch/>
        </p:blipFill>
        <p:spPr>
          <a:xfrm>
            <a:off x="4590288" y="3547872"/>
            <a:ext cx="1911096" cy="1298448"/>
          </a:xfrm>
          <a:prstGeom prst="rect">
            <a:avLst/>
          </a:prstGeom>
        </p:spPr>
      </p:pic>
      <p:sp>
        <p:nvSpPr>
          <p:cNvPr id="45" name="Text 41"/>
          <p:cNvSpPr/>
          <p:nvPr/>
        </p:nvSpPr>
        <p:spPr>
          <a:xfrm>
            <a:off x="4590288" y="4882896"/>
            <a:ext cx="1911096" cy="182880"/>
          </a:xfrm>
          <a:prstGeom prst="rect">
            <a:avLst/>
          </a:prstGeom>
          <a:noFill/>
          <a:ln/>
        </p:spPr>
        <p:txBody>
          <a:bodyPr wrap="square" lIns="0" tIns="0" rIns="0" bIns="0" rtlCol="0" anchor="ctr"/>
          <a:lstStyle/>
          <a:p>
            <a:pPr algn="ctr" indent="0" marL="0">
              <a:buNone/>
            </a:pPr>
            <a:r>
              <a:rPr lang="en-US" sz="620" dirty="0">
                <a:solidFill>
                  <a:srgbClr val="9AA3AD"/>
                </a:solidFill>
                <a:latin typeface="Poppins" pitchFamily="34" charset="0"/>
                <a:ea typeface="Poppins" pitchFamily="34" charset="-122"/>
                <a:cs typeface="Poppins" pitchFamily="34" charset="-120"/>
              </a:rPr>
              <a:t>O lodge visto do alto, imerso na mata</a:t>
            </a:r>
            <a:endParaRPr lang="en-US" sz="620" dirty="0"/>
          </a:p>
        </p:txBody>
      </p:sp>
      <p:sp>
        <p:nvSpPr>
          <p:cNvPr id="46" name="Shape 42"/>
          <p:cNvSpPr/>
          <p:nvPr/>
        </p:nvSpPr>
        <p:spPr>
          <a:xfrm>
            <a:off x="0" y="5230368"/>
            <a:ext cx="6858000" cy="1956816"/>
          </a:xfrm>
          <a:prstGeom prst="rect">
            <a:avLst/>
          </a:prstGeom>
          <a:solidFill>
            <a:srgbClr val="F4F5F9"/>
          </a:solidFill>
          <a:ln/>
        </p:spPr>
      </p:sp>
      <p:sp>
        <p:nvSpPr>
          <p:cNvPr id="47" name="Text 43"/>
          <p:cNvSpPr/>
          <p:nvPr/>
        </p:nvSpPr>
        <p:spPr>
          <a:xfrm>
            <a:off x="365760" y="5340096"/>
            <a:ext cx="6126480" cy="402336"/>
          </a:xfrm>
          <a:prstGeom prst="rect">
            <a:avLst/>
          </a:prstGeom>
          <a:noFill/>
          <a:ln/>
        </p:spPr>
        <p:txBody>
          <a:bodyPr wrap="square" lIns="0" tIns="0" rIns="0" bIns="0" rtlCol="0" anchor="t"/>
          <a:lstStyle/>
          <a:p>
            <a:pPr indent="0" marL="0">
              <a:lnSpc>
                <a:spcPct val="116000"/>
              </a:lnSpc>
              <a:buNone/>
            </a:pPr>
            <a:r>
              <a:rPr lang="en-US" sz="1000" dirty="0">
                <a:solidFill>
                  <a:srgbClr val="121212"/>
                </a:solidFill>
                <a:latin typeface="Poppins SemiBold" pitchFamily="34" charset="0"/>
                <a:ea typeface="Poppins SemiBold" pitchFamily="34" charset="-122"/>
                <a:cs typeface="Poppins SemiBold" pitchFamily="34" charset="-120"/>
              </a:rPr>
              <a:t>Uma operação de conservação certificada, com trabalho comunitário estruturado e uma expansão que o comprador decide se executa.</a:t>
            </a:r>
            <a:endParaRPr lang="en-US" sz="1000" dirty="0"/>
          </a:p>
        </p:txBody>
      </p:sp>
      <p:sp>
        <p:nvSpPr>
          <p:cNvPr id="48" name="Text 44"/>
          <p:cNvSpPr/>
          <p:nvPr/>
        </p:nvSpPr>
        <p:spPr>
          <a:xfrm>
            <a:off x="365760" y="5779008"/>
            <a:ext cx="2743200" cy="164592"/>
          </a:xfrm>
          <a:prstGeom prst="rect">
            <a:avLst/>
          </a:prstGeom>
          <a:noFill/>
          <a:ln/>
        </p:spPr>
        <p:txBody>
          <a:bodyPr wrap="square" lIns="0" tIns="0" rIns="0" bIns="0" rtlCol="0" anchor="ctr"/>
          <a:lstStyle/>
          <a:p>
            <a:pPr indent="0" marL="0">
              <a:buNone/>
            </a:pPr>
            <a:r>
              <a:rPr lang="en-US" sz="700" dirty="0">
                <a:solidFill>
                  <a:srgbClr val="6E7681"/>
                </a:solidFill>
                <a:latin typeface="Poppins" pitchFamily="34" charset="0"/>
                <a:ea typeface="Poppins" pitchFamily="34" charset="-122"/>
                <a:cs typeface="Poppins" pitchFamily="34" charset="-120"/>
              </a:rPr>
              <a:t>Distribuição das 24 unidades</a:t>
            </a:r>
            <a:endParaRPr lang="en-US" sz="700" dirty="0"/>
          </a:p>
        </p:txBody>
      </p:sp>
      <p:sp>
        <p:nvSpPr>
          <p:cNvPr id="49" name="Shape 45"/>
          <p:cNvSpPr/>
          <p:nvPr/>
        </p:nvSpPr>
        <p:spPr>
          <a:xfrm>
            <a:off x="365760" y="5961888"/>
            <a:ext cx="2676144" cy="201168"/>
          </a:xfrm>
          <a:prstGeom prst="rect">
            <a:avLst/>
          </a:prstGeom>
          <a:solidFill>
            <a:srgbClr val="23574A"/>
          </a:solidFill>
          <a:ln/>
        </p:spPr>
      </p:sp>
      <p:sp>
        <p:nvSpPr>
          <p:cNvPr id="50" name="Shape 46"/>
          <p:cNvSpPr/>
          <p:nvPr/>
        </p:nvSpPr>
        <p:spPr>
          <a:xfrm>
            <a:off x="3060192" y="5961888"/>
            <a:ext cx="655320" cy="201168"/>
          </a:xfrm>
          <a:prstGeom prst="rect">
            <a:avLst/>
          </a:prstGeom>
          <a:solidFill>
            <a:srgbClr val="2E7D6B"/>
          </a:solidFill>
          <a:ln/>
        </p:spPr>
      </p:sp>
      <p:sp>
        <p:nvSpPr>
          <p:cNvPr id="51" name="Shape 47"/>
          <p:cNvSpPr/>
          <p:nvPr/>
        </p:nvSpPr>
        <p:spPr>
          <a:xfrm>
            <a:off x="3733800" y="5961888"/>
            <a:ext cx="486918" cy="201168"/>
          </a:xfrm>
          <a:prstGeom prst="rect">
            <a:avLst/>
          </a:prstGeom>
          <a:solidFill>
            <a:srgbClr val="46AD95"/>
          </a:solidFill>
          <a:ln/>
        </p:spPr>
      </p:sp>
      <p:sp>
        <p:nvSpPr>
          <p:cNvPr id="52" name="Shape 48"/>
          <p:cNvSpPr/>
          <p:nvPr/>
        </p:nvSpPr>
        <p:spPr>
          <a:xfrm>
            <a:off x="4239006" y="5961888"/>
            <a:ext cx="150114" cy="201168"/>
          </a:xfrm>
          <a:prstGeom prst="rect">
            <a:avLst/>
          </a:prstGeom>
          <a:solidFill>
            <a:srgbClr val="96772C"/>
          </a:solidFill>
          <a:ln/>
        </p:spPr>
      </p:sp>
      <p:sp>
        <p:nvSpPr>
          <p:cNvPr id="53" name="Text 49"/>
          <p:cNvSpPr/>
          <p:nvPr/>
        </p:nvSpPr>
        <p:spPr>
          <a:xfrm>
            <a:off x="420624" y="5961888"/>
            <a:ext cx="2602992" cy="201168"/>
          </a:xfrm>
          <a:prstGeom prst="rect">
            <a:avLst/>
          </a:prstGeom>
          <a:noFill/>
          <a:ln/>
        </p:spPr>
        <p:txBody>
          <a:bodyPr wrap="square" lIns="0" tIns="0" rIns="0" bIns="0" rtlCol="0" anchor="ctr"/>
          <a:lstStyle/>
          <a:p>
            <a:pPr indent="0" marL="0">
              <a:buNone/>
            </a:pPr>
            <a:r>
              <a:rPr lang="en-US" sz="650" dirty="0">
                <a:solidFill>
                  <a:srgbClr val="FFFFFF"/>
                </a:solidFill>
                <a:latin typeface="Poppins" pitchFamily="34" charset="0"/>
                <a:ea typeface="Poppins" pitchFamily="34" charset="-122"/>
                <a:cs typeface="Poppins" pitchFamily="34" charset="-120"/>
              </a:rPr>
              <a:t>16 chalés</a:t>
            </a:r>
            <a:endParaRPr lang="en-US" sz="650" dirty="0"/>
          </a:p>
        </p:txBody>
      </p:sp>
      <p:sp>
        <p:nvSpPr>
          <p:cNvPr id="54" name="Text 50"/>
          <p:cNvSpPr/>
          <p:nvPr/>
        </p:nvSpPr>
        <p:spPr>
          <a:xfrm>
            <a:off x="3115056" y="5961888"/>
            <a:ext cx="582168" cy="201168"/>
          </a:xfrm>
          <a:prstGeom prst="rect">
            <a:avLst/>
          </a:prstGeom>
          <a:noFill/>
          <a:ln/>
        </p:spPr>
        <p:txBody>
          <a:bodyPr wrap="square" lIns="0" tIns="0" rIns="0" bIns="0" rtlCol="0" anchor="ctr"/>
          <a:lstStyle/>
          <a:p>
            <a:pPr indent="0" marL="0">
              <a:buNone/>
            </a:pPr>
            <a:r>
              <a:rPr lang="en-US" sz="650" dirty="0">
                <a:solidFill>
                  <a:srgbClr val="FFFFFF"/>
                </a:solidFill>
                <a:latin typeface="Poppins" pitchFamily="34" charset="0"/>
                <a:ea typeface="Poppins" pitchFamily="34" charset="-122"/>
                <a:cs typeface="Poppins" pitchFamily="34" charset="-120"/>
              </a:rPr>
              <a:t>4 bangalôs</a:t>
            </a:r>
            <a:endParaRPr lang="en-US" sz="650" dirty="0"/>
          </a:p>
        </p:txBody>
      </p:sp>
      <p:sp>
        <p:nvSpPr>
          <p:cNvPr id="55" name="Shape 51"/>
          <p:cNvSpPr/>
          <p:nvPr/>
        </p:nvSpPr>
        <p:spPr>
          <a:xfrm>
            <a:off x="365760" y="6245352"/>
            <a:ext cx="82296" cy="82296"/>
          </a:xfrm>
          <a:prstGeom prst="rect">
            <a:avLst/>
          </a:prstGeom>
          <a:solidFill>
            <a:srgbClr val="23574A"/>
          </a:solidFill>
          <a:ln/>
        </p:spPr>
      </p:sp>
      <p:sp>
        <p:nvSpPr>
          <p:cNvPr id="56" name="Text 52"/>
          <p:cNvSpPr/>
          <p:nvPr/>
        </p:nvSpPr>
        <p:spPr>
          <a:xfrm>
            <a:off x="493776" y="6190488"/>
            <a:ext cx="914400" cy="182880"/>
          </a:xfrm>
          <a:prstGeom prst="rect">
            <a:avLst/>
          </a:prstGeom>
          <a:noFill/>
          <a:ln/>
        </p:spPr>
        <p:txBody>
          <a:bodyPr wrap="square" lIns="0" tIns="0" rIns="0" bIns="0" rtlCol="0" anchor="ctr"/>
          <a:lstStyle/>
          <a:p>
            <a:pPr indent="0" marL="0">
              <a:buNone/>
            </a:pPr>
            <a:r>
              <a:rPr lang="en-US" sz="620" dirty="0">
                <a:solidFill>
                  <a:srgbClr val="6E7681"/>
                </a:solidFill>
                <a:latin typeface="Poppins" pitchFamily="34" charset="0"/>
                <a:ea typeface="Poppins" pitchFamily="34" charset="-122"/>
                <a:cs typeface="Poppins" pitchFamily="34" charset="-120"/>
              </a:rPr>
              <a:t>16 chalés</a:t>
            </a:r>
            <a:endParaRPr lang="en-US" sz="620" dirty="0"/>
          </a:p>
        </p:txBody>
      </p:sp>
      <p:sp>
        <p:nvSpPr>
          <p:cNvPr id="57" name="Shape 53"/>
          <p:cNvSpPr/>
          <p:nvPr/>
        </p:nvSpPr>
        <p:spPr>
          <a:xfrm>
            <a:off x="1389888" y="6245352"/>
            <a:ext cx="82296" cy="82296"/>
          </a:xfrm>
          <a:prstGeom prst="rect">
            <a:avLst/>
          </a:prstGeom>
          <a:solidFill>
            <a:srgbClr val="2E7D6B"/>
          </a:solidFill>
          <a:ln/>
        </p:spPr>
      </p:sp>
      <p:sp>
        <p:nvSpPr>
          <p:cNvPr id="58" name="Text 54"/>
          <p:cNvSpPr/>
          <p:nvPr/>
        </p:nvSpPr>
        <p:spPr>
          <a:xfrm>
            <a:off x="1517904" y="6190488"/>
            <a:ext cx="914400" cy="182880"/>
          </a:xfrm>
          <a:prstGeom prst="rect">
            <a:avLst/>
          </a:prstGeom>
          <a:noFill/>
          <a:ln/>
        </p:spPr>
        <p:txBody>
          <a:bodyPr wrap="square" lIns="0" tIns="0" rIns="0" bIns="0" rtlCol="0" anchor="ctr"/>
          <a:lstStyle/>
          <a:p>
            <a:pPr indent="0" marL="0">
              <a:buNone/>
            </a:pPr>
            <a:r>
              <a:rPr lang="en-US" sz="620" dirty="0">
                <a:solidFill>
                  <a:srgbClr val="6E7681"/>
                </a:solidFill>
                <a:latin typeface="Poppins" pitchFamily="34" charset="0"/>
                <a:ea typeface="Poppins" pitchFamily="34" charset="-122"/>
                <a:cs typeface="Poppins" pitchFamily="34" charset="-120"/>
              </a:rPr>
              <a:t>4 bangalôs</a:t>
            </a:r>
            <a:endParaRPr lang="en-US" sz="620" dirty="0"/>
          </a:p>
        </p:txBody>
      </p:sp>
      <p:sp>
        <p:nvSpPr>
          <p:cNvPr id="59" name="Shape 55"/>
          <p:cNvSpPr/>
          <p:nvPr/>
        </p:nvSpPr>
        <p:spPr>
          <a:xfrm>
            <a:off x="2414016" y="6245352"/>
            <a:ext cx="82296" cy="82296"/>
          </a:xfrm>
          <a:prstGeom prst="rect">
            <a:avLst/>
          </a:prstGeom>
          <a:solidFill>
            <a:srgbClr val="46AD95"/>
          </a:solidFill>
          <a:ln/>
        </p:spPr>
      </p:sp>
      <p:sp>
        <p:nvSpPr>
          <p:cNvPr id="60" name="Text 56"/>
          <p:cNvSpPr/>
          <p:nvPr/>
        </p:nvSpPr>
        <p:spPr>
          <a:xfrm>
            <a:off x="2542032" y="6190488"/>
            <a:ext cx="914400" cy="182880"/>
          </a:xfrm>
          <a:prstGeom prst="rect">
            <a:avLst/>
          </a:prstGeom>
          <a:noFill/>
          <a:ln/>
        </p:spPr>
        <p:txBody>
          <a:bodyPr wrap="square" lIns="0" tIns="0" rIns="0" bIns="0" rtlCol="0" anchor="ctr"/>
          <a:lstStyle/>
          <a:p>
            <a:pPr indent="0" marL="0">
              <a:buNone/>
            </a:pPr>
            <a:r>
              <a:rPr lang="en-US" sz="620" dirty="0">
                <a:solidFill>
                  <a:srgbClr val="6E7681"/>
                </a:solidFill>
                <a:latin typeface="Poppins" pitchFamily="34" charset="0"/>
                <a:ea typeface="Poppins" pitchFamily="34" charset="-122"/>
                <a:cs typeface="Poppins" pitchFamily="34" charset="-120"/>
              </a:rPr>
              <a:t>3 panorâmicos</a:t>
            </a:r>
            <a:endParaRPr lang="en-US" sz="620" dirty="0"/>
          </a:p>
        </p:txBody>
      </p:sp>
      <p:sp>
        <p:nvSpPr>
          <p:cNvPr id="61" name="Shape 57"/>
          <p:cNvSpPr/>
          <p:nvPr/>
        </p:nvSpPr>
        <p:spPr>
          <a:xfrm>
            <a:off x="3438144" y="6245352"/>
            <a:ext cx="82296" cy="82296"/>
          </a:xfrm>
          <a:prstGeom prst="rect">
            <a:avLst/>
          </a:prstGeom>
          <a:solidFill>
            <a:srgbClr val="96772C"/>
          </a:solidFill>
          <a:ln/>
        </p:spPr>
      </p:sp>
      <p:sp>
        <p:nvSpPr>
          <p:cNvPr id="62" name="Text 58"/>
          <p:cNvSpPr/>
          <p:nvPr/>
        </p:nvSpPr>
        <p:spPr>
          <a:xfrm>
            <a:off x="3566160" y="6190488"/>
            <a:ext cx="914400" cy="182880"/>
          </a:xfrm>
          <a:prstGeom prst="rect">
            <a:avLst/>
          </a:prstGeom>
          <a:noFill/>
          <a:ln/>
        </p:spPr>
        <p:txBody>
          <a:bodyPr wrap="square" lIns="0" tIns="0" rIns="0" bIns="0" rtlCol="0" anchor="ctr"/>
          <a:lstStyle/>
          <a:p>
            <a:pPr indent="0" marL="0">
              <a:buNone/>
            </a:pPr>
            <a:r>
              <a:rPr lang="en-US" sz="620" dirty="0">
                <a:solidFill>
                  <a:srgbClr val="6E7681"/>
                </a:solidFill>
                <a:latin typeface="Poppins" pitchFamily="34" charset="0"/>
                <a:ea typeface="Poppins" pitchFamily="34" charset="-122"/>
                <a:cs typeface="Poppins" pitchFamily="34" charset="-120"/>
              </a:rPr>
              <a:t>1 villa</a:t>
            </a:r>
            <a:endParaRPr lang="en-US" sz="620" dirty="0"/>
          </a:p>
        </p:txBody>
      </p:sp>
      <p:sp>
        <p:nvSpPr>
          <p:cNvPr id="63" name="Text 59"/>
          <p:cNvSpPr/>
          <p:nvPr/>
        </p:nvSpPr>
        <p:spPr>
          <a:xfrm>
            <a:off x="365760" y="6455664"/>
            <a:ext cx="2743200" cy="164592"/>
          </a:xfrm>
          <a:prstGeom prst="rect">
            <a:avLst/>
          </a:prstGeom>
          <a:noFill/>
          <a:ln/>
        </p:spPr>
        <p:txBody>
          <a:bodyPr wrap="square" lIns="0" tIns="0" rIns="0" bIns="0" rtlCol="0" anchor="ctr"/>
          <a:lstStyle/>
          <a:p>
            <a:pPr indent="0" marL="0">
              <a:buNone/>
            </a:pPr>
            <a:r>
              <a:rPr lang="en-US" sz="650" spc="100" kern="0" dirty="0">
                <a:solidFill>
                  <a:srgbClr val="96772C"/>
                </a:solidFill>
                <a:latin typeface="Poppins SemiBold" pitchFamily="34" charset="0"/>
                <a:ea typeface="Poppins SemiBold" pitchFamily="34" charset="-122"/>
                <a:cs typeface="Poppins SemiBold" pitchFamily="34" charset="-120"/>
              </a:rPr>
              <a:t>ÁREAS ALÉM DO LOTE PRINCIPAL</a:t>
            </a:r>
            <a:endParaRPr lang="en-US" sz="650" dirty="0"/>
          </a:p>
        </p:txBody>
      </p:sp>
      <p:sp>
        <p:nvSpPr>
          <p:cNvPr id="64" name="Shape 60"/>
          <p:cNvSpPr/>
          <p:nvPr/>
        </p:nvSpPr>
        <p:spPr>
          <a:xfrm>
            <a:off x="365760" y="6711696"/>
            <a:ext cx="54864" cy="10973"/>
          </a:xfrm>
          <a:prstGeom prst="rect">
            <a:avLst/>
          </a:prstGeom>
          <a:solidFill>
            <a:srgbClr val="96772C"/>
          </a:solidFill>
          <a:ln/>
        </p:spPr>
      </p:sp>
      <p:sp>
        <p:nvSpPr>
          <p:cNvPr id="65" name="Text 61"/>
          <p:cNvSpPr/>
          <p:nvPr/>
        </p:nvSpPr>
        <p:spPr>
          <a:xfrm>
            <a:off x="493776" y="6647688"/>
            <a:ext cx="3931920" cy="173736"/>
          </a:xfrm>
          <a:prstGeom prst="rect">
            <a:avLst/>
          </a:prstGeom>
          <a:noFill/>
          <a:ln/>
        </p:spPr>
        <p:txBody>
          <a:bodyPr wrap="square" lIns="0" tIns="0" rIns="0" bIns="0" rtlCol="0" anchor="ctr"/>
          <a:lstStyle/>
          <a:p>
            <a:pPr indent="0" marL="0">
              <a:buNone/>
            </a:pPr>
            <a:r>
              <a:rPr lang="en-US" sz="680" dirty="0">
                <a:solidFill>
                  <a:srgbClr val="121212"/>
                </a:solidFill>
                <a:latin typeface="Poppins SemiBold" pitchFamily="34" charset="0"/>
                <a:ea typeface="Poppins SemiBold" pitchFamily="34" charset="-122"/>
                <a:cs typeface="Poppins SemiBold" pitchFamily="34" charset="-120"/>
              </a:rPr>
              <a:t>Base Avançada  </a:t>
            </a:r>
            <a:pPr indent="0" marL="0">
              <a:buNone/>
            </a:pPr>
            <a:r>
              <a:rPr lang="en-US" sz="650" dirty="0">
                <a:solidFill>
                  <a:srgbClr val="6E7681"/>
                </a:solidFill>
                <a:latin typeface="Poppins" pitchFamily="34" charset="0"/>
                <a:ea typeface="Poppins" pitchFamily="34" charset="-122"/>
                <a:cs typeface="Poppins" pitchFamily="34" charset="-120"/>
              </a:rPr>
              <a:t>50 km do lodge — apoio a trilhas e passeios</a:t>
            </a:r>
            <a:endParaRPr lang="en-US" sz="680" dirty="0"/>
          </a:p>
        </p:txBody>
      </p:sp>
      <p:sp>
        <p:nvSpPr>
          <p:cNvPr id="66" name="Shape 62"/>
          <p:cNvSpPr/>
          <p:nvPr/>
        </p:nvSpPr>
        <p:spPr>
          <a:xfrm>
            <a:off x="365760" y="6885432"/>
            <a:ext cx="54864" cy="10973"/>
          </a:xfrm>
          <a:prstGeom prst="rect">
            <a:avLst/>
          </a:prstGeom>
          <a:solidFill>
            <a:srgbClr val="96772C"/>
          </a:solidFill>
          <a:ln/>
        </p:spPr>
      </p:sp>
      <p:sp>
        <p:nvSpPr>
          <p:cNvPr id="67" name="Text 63"/>
          <p:cNvSpPr/>
          <p:nvPr/>
        </p:nvSpPr>
        <p:spPr>
          <a:xfrm>
            <a:off x="493776" y="6821424"/>
            <a:ext cx="3931920" cy="173736"/>
          </a:xfrm>
          <a:prstGeom prst="rect">
            <a:avLst/>
          </a:prstGeom>
          <a:noFill/>
          <a:ln/>
        </p:spPr>
        <p:txBody>
          <a:bodyPr wrap="square" lIns="0" tIns="0" rIns="0" bIns="0" rtlCol="0" anchor="ctr"/>
          <a:lstStyle/>
          <a:p>
            <a:pPr indent="0" marL="0">
              <a:buNone/>
            </a:pPr>
            <a:r>
              <a:rPr lang="en-US" sz="680" dirty="0">
                <a:solidFill>
                  <a:srgbClr val="121212"/>
                </a:solidFill>
                <a:latin typeface="Poppins SemiBold" pitchFamily="34" charset="0"/>
                <a:ea typeface="Poppins SemiBold" pitchFamily="34" charset="-122"/>
                <a:cs typeface="Poppins SemiBold" pitchFamily="34" charset="-120"/>
              </a:rPr>
              <a:t>Área de expansão  </a:t>
            </a:r>
            <a:pPr indent="0" marL="0">
              <a:buNone/>
            </a:pPr>
            <a:r>
              <a:rPr lang="en-US" sz="650" dirty="0">
                <a:solidFill>
                  <a:srgbClr val="6E7681"/>
                </a:solidFill>
                <a:latin typeface="Poppins" pitchFamily="34" charset="0"/>
                <a:ea typeface="Poppins" pitchFamily="34" charset="-122"/>
                <a:cs typeface="Poppins" pitchFamily="34" charset="-120"/>
              </a:rPr>
              <a:t>420 m — 16 quartos em 1.252 m², prevista para 2026</a:t>
            </a:r>
            <a:endParaRPr lang="en-US" sz="680" dirty="0"/>
          </a:p>
        </p:txBody>
      </p:sp>
      <p:sp>
        <p:nvSpPr>
          <p:cNvPr id="68" name="Shape 64"/>
          <p:cNvSpPr/>
          <p:nvPr/>
        </p:nvSpPr>
        <p:spPr>
          <a:xfrm>
            <a:off x="365760" y="7059168"/>
            <a:ext cx="54864" cy="10973"/>
          </a:xfrm>
          <a:prstGeom prst="rect">
            <a:avLst/>
          </a:prstGeom>
          <a:solidFill>
            <a:srgbClr val="96772C"/>
          </a:solidFill>
          <a:ln/>
        </p:spPr>
      </p:sp>
      <p:sp>
        <p:nvSpPr>
          <p:cNvPr id="69" name="Text 65"/>
          <p:cNvSpPr/>
          <p:nvPr/>
        </p:nvSpPr>
        <p:spPr>
          <a:xfrm>
            <a:off x="493776" y="6995160"/>
            <a:ext cx="3931920" cy="173736"/>
          </a:xfrm>
          <a:prstGeom prst="rect">
            <a:avLst/>
          </a:prstGeom>
          <a:noFill/>
          <a:ln/>
        </p:spPr>
        <p:txBody>
          <a:bodyPr wrap="square" lIns="0" tIns="0" rIns="0" bIns="0" rtlCol="0" anchor="ctr"/>
          <a:lstStyle/>
          <a:p>
            <a:pPr indent="0" marL="0">
              <a:buNone/>
            </a:pPr>
            <a:r>
              <a:rPr lang="en-US" sz="680" dirty="0">
                <a:solidFill>
                  <a:srgbClr val="121212"/>
                </a:solidFill>
                <a:latin typeface="Poppins SemiBold" pitchFamily="34" charset="0"/>
                <a:ea typeface="Poppins SemiBold" pitchFamily="34" charset="-122"/>
                <a:cs typeface="Poppins SemiBold" pitchFamily="34" charset="-120"/>
              </a:rPr>
              <a:t>Villa Amazônia  </a:t>
            </a:r>
            <a:pPr indent="0" marL="0">
              <a:buNone/>
            </a:pPr>
            <a:r>
              <a:rPr lang="en-US" sz="650" dirty="0">
                <a:solidFill>
                  <a:srgbClr val="6E7681"/>
                </a:solidFill>
                <a:latin typeface="Poppins" pitchFamily="34" charset="0"/>
                <a:ea typeface="Poppins" pitchFamily="34" charset="-122"/>
                <a:cs typeface="Poppins" pitchFamily="34" charset="-120"/>
              </a:rPr>
              <a:t>Manaus — 29 chaves (4 standard · 20 superior · 5 premium)</a:t>
            </a:r>
            <a:endParaRPr lang="en-US" sz="680" dirty="0"/>
          </a:p>
        </p:txBody>
      </p:sp>
      <p:sp>
        <p:nvSpPr>
          <p:cNvPr id="70" name="Shape 66"/>
          <p:cNvSpPr/>
          <p:nvPr/>
        </p:nvSpPr>
        <p:spPr>
          <a:xfrm>
            <a:off x="4773168" y="5632704"/>
            <a:ext cx="621792" cy="621792"/>
          </a:xfrm>
          <a:prstGeom prst="ellipse">
            <a:avLst/>
          </a:prstGeom>
          <a:ln w="76200">
            <a:solidFill>
              <a:srgbClr val="23574A"/>
            </a:solidFill>
            <a:prstDash val="solid"/>
          </a:ln>
        </p:spPr>
      </p:sp>
      <p:sp>
        <p:nvSpPr>
          <p:cNvPr id="71" name="Text 67"/>
          <p:cNvSpPr/>
          <p:nvPr/>
        </p:nvSpPr>
        <p:spPr>
          <a:xfrm>
            <a:off x="4773168" y="5797296"/>
            <a:ext cx="621792" cy="292608"/>
          </a:xfrm>
          <a:prstGeom prst="rect">
            <a:avLst/>
          </a:prstGeom>
          <a:noFill/>
          <a:ln/>
        </p:spPr>
        <p:txBody>
          <a:bodyPr wrap="square" lIns="0" tIns="0" rIns="0" bIns="0" rtlCol="0" anchor="ctr"/>
          <a:lstStyle/>
          <a:p>
            <a:pPr algn="ctr" indent="0" marL="0">
              <a:buNone/>
            </a:pPr>
            <a:r>
              <a:rPr lang="en-US" sz="1500" dirty="0">
                <a:solidFill>
                  <a:srgbClr val="96772C"/>
                </a:solidFill>
                <a:latin typeface="Source Serif Pro Black" pitchFamily="34" charset="0"/>
                <a:ea typeface="Source Serif Pro Black" pitchFamily="34" charset="-122"/>
                <a:cs typeface="Source Serif Pro Black" pitchFamily="34" charset="-120"/>
              </a:rPr>
              <a:t>88</a:t>
            </a:r>
            <a:endParaRPr lang="en-US" sz="1500" dirty="0"/>
          </a:p>
        </p:txBody>
      </p:sp>
      <p:sp>
        <p:nvSpPr>
          <p:cNvPr id="72" name="Text 68"/>
          <p:cNvSpPr/>
          <p:nvPr/>
        </p:nvSpPr>
        <p:spPr>
          <a:xfrm>
            <a:off x="4517136" y="6300216"/>
            <a:ext cx="1133856" cy="182880"/>
          </a:xfrm>
          <a:prstGeom prst="rect">
            <a:avLst/>
          </a:prstGeom>
          <a:noFill/>
          <a:ln/>
        </p:spPr>
        <p:txBody>
          <a:bodyPr wrap="square" lIns="0" tIns="0" rIns="0" bIns="0" rtlCol="0" anchor="ctr"/>
          <a:lstStyle/>
          <a:p>
            <a:pPr algn="ctr" indent="0" marL="0">
              <a:buNone/>
            </a:pPr>
            <a:r>
              <a:rPr lang="en-US" sz="620" dirty="0">
                <a:solidFill>
                  <a:srgbClr val="6E7681"/>
                </a:solidFill>
                <a:latin typeface="Poppins" pitchFamily="34" charset="0"/>
                <a:ea typeface="Poppins" pitchFamily="34" charset="-122"/>
                <a:cs typeface="Poppins" pitchFamily="34" charset="-120"/>
              </a:rPr>
              <a:t>B Corp score</a:t>
            </a:r>
            <a:endParaRPr lang="en-US" sz="620" dirty="0"/>
          </a:p>
        </p:txBody>
      </p:sp>
      <p:sp>
        <p:nvSpPr>
          <p:cNvPr id="73" name="Shape 69"/>
          <p:cNvSpPr/>
          <p:nvPr/>
        </p:nvSpPr>
        <p:spPr>
          <a:xfrm>
            <a:off x="5742432" y="5632704"/>
            <a:ext cx="621792" cy="621792"/>
          </a:xfrm>
          <a:prstGeom prst="ellipse">
            <a:avLst/>
          </a:prstGeom>
          <a:ln w="76200">
            <a:solidFill>
              <a:srgbClr val="96772C"/>
            </a:solidFill>
            <a:prstDash val="solid"/>
          </a:ln>
        </p:spPr>
      </p:sp>
      <p:sp>
        <p:nvSpPr>
          <p:cNvPr id="74" name="Text 70"/>
          <p:cNvSpPr/>
          <p:nvPr/>
        </p:nvSpPr>
        <p:spPr>
          <a:xfrm>
            <a:off x="5742432" y="5797296"/>
            <a:ext cx="621792" cy="292608"/>
          </a:xfrm>
          <a:prstGeom prst="rect">
            <a:avLst/>
          </a:prstGeom>
          <a:noFill/>
          <a:ln/>
        </p:spPr>
        <p:txBody>
          <a:bodyPr wrap="square" lIns="0" tIns="0" rIns="0" bIns="0" rtlCol="0" anchor="ctr"/>
          <a:lstStyle/>
          <a:p>
            <a:pPr algn="ctr" indent="0" marL="0">
              <a:buNone/>
            </a:pPr>
            <a:r>
              <a:rPr lang="en-US" sz="1500" dirty="0">
                <a:solidFill>
                  <a:srgbClr val="96772C"/>
                </a:solidFill>
                <a:latin typeface="Source Serif Pro Black" pitchFamily="34" charset="0"/>
                <a:ea typeface="Source Serif Pro Black" pitchFamily="34" charset="-122"/>
                <a:cs typeface="Source Serif Pro Black" pitchFamily="34" charset="-120"/>
              </a:rPr>
              <a:t>+150</a:t>
            </a:r>
            <a:endParaRPr lang="en-US" sz="1500" dirty="0"/>
          </a:p>
        </p:txBody>
      </p:sp>
      <p:sp>
        <p:nvSpPr>
          <p:cNvPr id="75" name="Text 71"/>
          <p:cNvSpPr/>
          <p:nvPr/>
        </p:nvSpPr>
        <p:spPr>
          <a:xfrm>
            <a:off x="5486400" y="6300216"/>
            <a:ext cx="1133856" cy="182880"/>
          </a:xfrm>
          <a:prstGeom prst="rect">
            <a:avLst/>
          </a:prstGeom>
          <a:noFill/>
          <a:ln/>
        </p:spPr>
        <p:txBody>
          <a:bodyPr wrap="square" lIns="0" tIns="0" rIns="0" bIns="0" rtlCol="0" anchor="ctr"/>
          <a:lstStyle/>
          <a:p>
            <a:pPr algn="ctr" indent="0" marL="0">
              <a:buNone/>
            </a:pPr>
            <a:r>
              <a:rPr lang="en-US" sz="620" dirty="0">
                <a:solidFill>
                  <a:srgbClr val="6E7681"/>
                </a:solidFill>
                <a:latin typeface="Poppins" pitchFamily="34" charset="0"/>
                <a:ea typeface="Poppins" pitchFamily="34" charset="-122"/>
                <a:cs typeface="Poppins" pitchFamily="34" charset="-120"/>
              </a:rPr>
              <a:t>famílias impactadas</a:t>
            </a:r>
            <a:endParaRPr lang="en-US" sz="620" dirty="0"/>
          </a:p>
        </p:txBody>
      </p:sp>
      <p:sp>
        <p:nvSpPr>
          <p:cNvPr id="76" name="Text 72"/>
          <p:cNvSpPr/>
          <p:nvPr/>
        </p:nvSpPr>
        <p:spPr>
          <a:xfrm>
            <a:off x="4590288" y="6565392"/>
            <a:ext cx="1975104" cy="402336"/>
          </a:xfrm>
          <a:prstGeom prst="rect">
            <a:avLst/>
          </a:prstGeom>
          <a:noFill/>
          <a:ln/>
        </p:spPr>
        <p:txBody>
          <a:bodyPr wrap="square" lIns="0" tIns="0" rIns="0" bIns="0" rtlCol="0" anchor="t"/>
          <a:lstStyle/>
          <a:p>
            <a:pPr algn="ctr" indent="0" marL="0">
              <a:lnSpc>
                <a:spcPct val="120000"/>
              </a:lnSpc>
              <a:buNone/>
            </a:pPr>
            <a:r>
              <a:rPr lang="en-US" sz="660" dirty="0">
                <a:solidFill>
                  <a:srgbClr val="23574A"/>
                </a:solidFill>
                <a:latin typeface="Poppins Medium" pitchFamily="34" charset="0"/>
                <a:ea typeface="Poppins Medium" pitchFamily="34" charset="-122"/>
                <a:cs typeface="Poppins Medium" pitchFamily="34" charset="-120"/>
              </a:rPr>
              <a:t>25 chaves hoje  →  41 se a expansão for integralmente executada</a:t>
            </a:r>
            <a:endParaRPr lang="en-US" sz="660" dirty="0"/>
          </a:p>
        </p:txBody>
      </p:sp>
      <p:sp>
        <p:nvSpPr>
          <p:cNvPr id="77" name="Text 73"/>
          <p:cNvSpPr/>
          <p:nvPr/>
        </p:nvSpPr>
        <p:spPr>
          <a:xfrm>
            <a:off x="365760" y="7287768"/>
            <a:ext cx="5769864" cy="164592"/>
          </a:xfrm>
          <a:prstGeom prst="rect">
            <a:avLst/>
          </a:prstGeom>
          <a:noFill/>
          <a:ln/>
        </p:spPr>
        <p:txBody>
          <a:bodyPr wrap="square" lIns="0" tIns="0" rIns="0" bIns="0" rtlCol="0" anchor="ctr"/>
          <a:lstStyle/>
          <a:p>
            <a:pPr indent="0" marL="0">
              <a:buNone/>
            </a:pPr>
            <a:r>
              <a:rPr lang="en-US" sz="800" dirty="0">
                <a:solidFill>
                  <a:srgbClr val="96772C"/>
                </a:solidFill>
                <a:latin typeface="Poppins SemiBold" pitchFamily="34" charset="0"/>
                <a:ea typeface="Poppins SemiBold" pitchFamily="34" charset="-122"/>
                <a:cs typeface="Poppins SemiBold" pitchFamily="34" charset="-120"/>
              </a:rPr>
              <a:t>For any further questions please contact:</a:t>
            </a:r>
            <a:endParaRPr lang="en-US" sz="800" dirty="0"/>
          </a:p>
        </p:txBody>
      </p:sp>
      <p:sp>
        <p:nvSpPr>
          <p:cNvPr id="78" name="Text 74"/>
          <p:cNvSpPr/>
          <p:nvPr/>
        </p:nvSpPr>
        <p:spPr>
          <a:xfrm>
            <a:off x="356616" y="7516368"/>
            <a:ext cx="1737360" cy="164592"/>
          </a:xfrm>
          <a:prstGeom prst="rect">
            <a:avLst/>
          </a:prstGeom>
          <a:noFill/>
          <a:ln/>
        </p:spPr>
        <p:txBody>
          <a:bodyPr wrap="square" lIns="0" tIns="0" rIns="0" bIns="0" rtlCol="0" anchor="ctr"/>
          <a:lstStyle/>
          <a:p>
            <a:pPr indent="0" marL="0">
              <a:buNone/>
            </a:pPr>
            <a:r>
              <a:rPr lang="en-US" sz="750" dirty="0">
                <a:solidFill>
                  <a:srgbClr val="121212"/>
                </a:solidFill>
                <a:latin typeface="Poppins SemiBold" pitchFamily="34" charset="0"/>
                <a:ea typeface="Poppins SemiBold" pitchFamily="34" charset="-122"/>
                <a:cs typeface="Poppins SemiBold" pitchFamily="34" charset="-120"/>
              </a:rPr>
              <a:t>Bruno Iervolino</a:t>
            </a:r>
            <a:endParaRPr lang="en-US" sz="750" dirty="0"/>
          </a:p>
        </p:txBody>
      </p:sp>
      <p:sp>
        <p:nvSpPr>
          <p:cNvPr id="79" name="Text 75"/>
          <p:cNvSpPr/>
          <p:nvPr/>
        </p:nvSpPr>
        <p:spPr>
          <a:xfrm>
            <a:off x="356616" y="7680960"/>
            <a:ext cx="1737360" cy="146304"/>
          </a:xfrm>
          <a:prstGeom prst="rect">
            <a:avLst/>
          </a:prstGeom>
          <a:noFill/>
          <a:ln/>
        </p:spPr>
        <p:txBody>
          <a:bodyPr wrap="square" lIns="0" tIns="0" rIns="0" bIns="0" rtlCol="0" anchor="ctr"/>
          <a:lstStyle/>
          <a:p>
            <a:pPr indent="0" marL="0">
              <a:buNone/>
            </a:pPr>
            <a:r>
              <a:rPr lang="en-US" sz="680" dirty="0">
                <a:solidFill>
                  <a:srgbClr val="6E7681"/>
                </a:solidFill>
                <a:latin typeface="Poppins" pitchFamily="34" charset="0"/>
                <a:ea typeface="Poppins" pitchFamily="34" charset="-122"/>
                <a:cs typeface="Poppins" pitchFamily="34" charset="-120"/>
              </a:rPr>
              <a:t>Bruno.iervolino@igcp.com.br</a:t>
            </a:r>
            <a:endParaRPr lang="en-US" sz="680" dirty="0"/>
          </a:p>
        </p:txBody>
      </p:sp>
      <p:sp>
        <p:nvSpPr>
          <p:cNvPr id="80" name="Text 76"/>
          <p:cNvSpPr/>
          <p:nvPr/>
        </p:nvSpPr>
        <p:spPr>
          <a:xfrm>
            <a:off x="356616" y="7818120"/>
            <a:ext cx="1737360" cy="146304"/>
          </a:xfrm>
          <a:prstGeom prst="rect">
            <a:avLst/>
          </a:prstGeom>
          <a:noFill/>
          <a:ln/>
        </p:spPr>
        <p:txBody>
          <a:bodyPr wrap="square" lIns="0" tIns="0" rIns="0" bIns="0" rtlCol="0" anchor="ctr"/>
          <a:lstStyle/>
          <a:p>
            <a:pPr indent="0" marL="0">
              <a:buNone/>
            </a:pPr>
            <a:r>
              <a:rPr lang="en-US" sz="680" dirty="0">
                <a:solidFill>
                  <a:srgbClr val="9AA3AD"/>
                </a:solidFill>
                <a:latin typeface="Poppins" pitchFamily="34" charset="0"/>
                <a:ea typeface="Poppins" pitchFamily="34" charset="-122"/>
                <a:cs typeface="Poppins" pitchFamily="34" charset="-120"/>
              </a:rPr>
              <a:t>+55 11 3815 3533</a:t>
            </a:r>
            <a:endParaRPr lang="en-US" sz="680" dirty="0"/>
          </a:p>
        </p:txBody>
      </p:sp>
      <p:sp>
        <p:nvSpPr>
          <p:cNvPr id="81" name="Text 77"/>
          <p:cNvSpPr/>
          <p:nvPr/>
        </p:nvSpPr>
        <p:spPr>
          <a:xfrm>
            <a:off x="2715768" y="7516368"/>
            <a:ext cx="1737360" cy="164592"/>
          </a:xfrm>
          <a:prstGeom prst="rect">
            <a:avLst/>
          </a:prstGeom>
          <a:noFill/>
          <a:ln/>
        </p:spPr>
        <p:txBody>
          <a:bodyPr wrap="square" lIns="0" tIns="0" rIns="0" bIns="0" rtlCol="0" anchor="ctr"/>
          <a:lstStyle/>
          <a:p>
            <a:pPr indent="0" marL="0">
              <a:buNone/>
            </a:pPr>
            <a:r>
              <a:rPr lang="en-US" sz="750" dirty="0">
                <a:solidFill>
                  <a:srgbClr val="121212"/>
                </a:solidFill>
                <a:latin typeface="Poppins SemiBold" pitchFamily="34" charset="0"/>
                <a:ea typeface="Poppins SemiBold" pitchFamily="34" charset="-122"/>
                <a:cs typeface="Poppins SemiBold" pitchFamily="34" charset="-120"/>
              </a:rPr>
              <a:t>Luca Francini</a:t>
            </a:r>
            <a:endParaRPr lang="en-US" sz="750" dirty="0"/>
          </a:p>
        </p:txBody>
      </p:sp>
      <p:sp>
        <p:nvSpPr>
          <p:cNvPr id="82" name="Text 78"/>
          <p:cNvSpPr/>
          <p:nvPr/>
        </p:nvSpPr>
        <p:spPr>
          <a:xfrm>
            <a:off x="2715768" y="7680960"/>
            <a:ext cx="1737360" cy="146304"/>
          </a:xfrm>
          <a:prstGeom prst="rect">
            <a:avLst/>
          </a:prstGeom>
          <a:noFill/>
          <a:ln/>
        </p:spPr>
        <p:txBody>
          <a:bodyPr wrap="square" lIns="0" tIns="0" rIns="0" bIns="0" rtlCol="0" anchor="ctr"/>
          <a:lstStyle/>
          <a:p>
            <a:pPr indent="0" marL="0">
              <a:buNone/>
            </a:pPr>
            <a:r>
              <a:rPr lang="en-US" sz="680" dirty="0">
                <a:solidFill>
                  <a:srgbClr val="6E7681"/>
                </a:solidFill>
                <a:latin typeface="Poppins" pitchFamily="34" charset="0"/>
                <a:ea typeface="Poppins" pitchFamily="34" charset="-122"/>
                <a:cs typeface="Poppins" pitchFamily="34" charset="-120"/>
              </a:rPr>
              <a:t>Luca.francini@igcp.com.br</a:t>
            </a:r>
            <a:endParaRPr lang="en-US" sz="680" dirty="0"/>
          </a:p>
        </p:txBody>
      </p:sp>
      <p:sp>
        <p:nvSpPr>
          <p:cNvPr id="83" name="Text 79"/>
          <p:cNvSpPr/>
          <p:nvPr/>
        </p:nvSpPr>
        <p:spPr>
          <a:xfrm>
            <a:off x="2715768" y="7818120"/>
            <a:ext cx="1737360" cy="146304"/>
          </a:xfrm>
          <a:prstGeom prst="rect">
            <a:avLst/>
          </a:prstGeom>
          <a:noFill/>
          <a:ln/>
        </p:spPr>
        <p:txBody>
          <a:bodyPr wrap="square" lIns="0" tIns="0" rIns="0" bIns="0" rtlCol="0" anchor="ctr"/>
          <a:lstStyle/>
          <a:p>
            <a:pPr indent="0" marL="0">
              <a:buNone/>
            </a:pPr>
            <a:r>
              <a:rPr lang="en-US" sz="680" dirty="0">
                <a:solidFill>
                  <a:srgbClr val="9AA3AD"/>
                </a:solidFill>
                <a:latin typeface="Poppins" pitchFamily="34" charset="0"/>
                <a:ea typeface="Poppins" pitchFamily="34" charset="-122"/>
                <a:cs typeface="Poppins" pitchFamily="34" charset="-120"/>
              </a:rPr>
              <a:t>+55 11 3815 3533</a:t>
            </a:r>
            <a:endParaRPr lang="en-US" sz="680" dirty="0"/>
          </a:p>
        </p:txBody>
      </p:sp>
      <p:sp>
        <p:nvSpPr>
          <p:cNvPr id="84" name="Text 80"/>
          <p:cNvSpPr/>
          <p:nvPr/>
        </p:nvSpPr>
        <p:spPr>
          <a:xfrm>
            <a:off x="5102352" y="7516368"/>
            <a:ext cx="1737360" cy="164592"/>
          </a:xfrm>
          <a:prstGeom prst="rect">
            <a:avLst/>
          </a:prstGeom>
          <a:noFill/>
          <a:ln/>
        </p:spPr>
        <p:txBody>
          <a:bodyPr wrap="square" lIns="0" tIns="0" rIns="0" bIns="0" rtlCol="0" anchor="ctr"/>
          <a:lstStyle/>
          <a:p>
            <a:pPr indent="0" marL="0">
              <a:buNone/>
            </a:pPr>
            <a:r>
              <a:rPr lang="en-US" sz="750" dirty="0">
                <a:solidFill>
                  <a:srgbClr val="121212"/>
                </a:solidFill>
                <a:latin typeface="Poppins SemiBold" pitchFamily="34" charset="0"/>
                <a:ea typeface="Poppins SemiBold" pitchFamily="34" charset="-122"/>
                <a:cs typeface="Poppins SemiBold" pitchFamily="34" charset="-120"/>
              </a:rPr>
              <a:t>Pedro Grando</a:t>
            </a:r>
            <a:endParaRPr lang="en-US" sz="750" dirty="0"/>
          </a:p>
        </p:txBody>
      </p:sp>
      <p:sp>
        <p:nvSpPr>
          <p:cNvPr id="85" name="Text 81"/>
          <p:cNvSpPr/>
          <p:nvPr/>
        </p:nvSpPr>
        <p:spPr>
          <a:xfrm>
            <a:off x="5102352" y="7680960"/>
            <a:ext cx="1737360" cy="146304"/>
          </a:xfrm>
          <a:prstGeom prst="rect">
            <a:avLst/>
          </a:prstGeom>
          <a:noFill/>
          <a:ln/>
        </p:spPr>
        <p:txBody>
          <a:bodyPr wrap="square" lIns="0" tIns="0" rIns="0" bIns="0" rtlCol="0" anchor="ctr"/>
          <a:lstStyle/>
          <a:p>
            <a:pPr indent="0" marL="0">
              <a:buNone/>
            </a:pPr>
            <a:r>
              <a:rPr lang="en-US" sz="680" dirty="0">
                <a:solidFill>
                  <a:srgbClr val="6E7681"/>
                </a:solidFill>
                <a:latin typeface="Poppins" pitchFamily="34" charset="0"/>
                <a:ea typeface="Poppins" pitchFamily="34" charset="-122"/>
                <a:cs typeface="Poppins" pitchFamily="34" charset="-120"/>
              </a:rPr>
              <a:t>Pedro.grando@igcp.com.br</a:t>
            </a:r>
            <a:endParaRPr lang="en-US" sz="680" dirty="0"/>
          </a:p>
        </p:txBody>
      </p:sp>
      <p:sp>
        <p:nvSpPr>
          <p:cNvPr id="86" name="Text 82"/>
          <p:cNvSpPr/>
          <p:nvPr/>
        </p:nvSpPr>
        <p:spPr>
          <a:xfrm>
            <a:off x="5102352" y="7818120"/>
            <a:ext cx="1737360" cy="146304"/>
          </a:xfrm>
          <a:prstGeom prst="rect">
            <a:avLst/>
          </a:prstGeom>
          <a:noFill/>
          <a:ln/>
        </p:spPr>
        <p:txBody>
          <a:bodyPr wrap="square" lIns="0" tIns="0" rIns="0" bIns="0" rtlCol="0" anchor="ctr"/>
          <a:lstStyle/>
          <a:p>
            <a:pPr indent="0" marL="0">
              <a:buNone/>
            </a:pPr>
            <a:r>
              <a:rPr lang="en-US" sz="680" dirty="0">
                <a:solidFill>
                  <a:srgbClr val="9AA3AD"/>
                </a:solidFill>
                <a:latin typeface="Poppins" pitchFamily="34" charset="0"/>
                <a:ea typeface="Poppins" pitchFamily="34" charset="-122"/>
                <a:cs typeface="Poppins" pitchFamily="34" charset="-120"/>
              </a:rPr>
              <a:t>+55 11 3815 3533</a:t>
            </a:r>
            <a:endParaRPr lang="en-US" sz="680" dirty="0"/>
          </a:p>
        </p:txBody>
      </p:sp>
      <p:pic>
        <p:nvPicPr>
          <p:cNvPr id="87" name="Image 2" descr="assets/anav/aerial_river.jpg">    </p:cNvPr>
          <p:cNvPicPr>
            <a:picLocks noChangeAspect="1"/>
          </p:cNvPicPr>
          <p:nvPr/>
        </p:nvPicPr>
        <p:blipFill>
          <a:blip r:embed="rId3"/>
          <a:srcRect l="0" r="0" t="0" b="0"/>
          <a:stretch/>
        </p:blipFill>
        <p:spPr>
          <a:xfrm>
            <a:off x="0" y="8010144"/>
            <a:ext cx="6858000" cy="758952"/>
          </a:xfrm>
          <a:prstGeom prst="rect">
            <a:avLst/>
          </a:prstGeom>
        </p:spPr>
      </p:pic>
      <p:sp>
        <p:nvSpPr>
          <p:cNvPr id="88" name="Text 83"/>
          <p:cNvSpPr/>
          <p:nvPr/>
        </p:nvSpPr>
        <p:spPr>
          <a:xfrm>
            <a:off x="356616" y="8851392"/>
            <a:ext cx="3337560" cy="274320"/>
          </a:xfrm>
          <a:prstGeom prst="rect">
            <a:avLst/>
          </a:prstGeom>
          <a:noFill/>
          <a:ln/>
        </p:spPr>
        <p:txBody>
          <a:bodyPr wrap="square" lIns="0" tIns="0" rIns="0" bIns="0" rtlCol="0" anchor="t"/>
          <a:lstStyle/>
          <a:p>
            <a:pPr indent="0" marL="0">
              <a:lnSpc>
                <a:spcPct val="116000"/>
              </a:lnSpc>
              <a:buNone/>
            </a:pPr>
            <a:r>
              <a:rPr lang="en-US" sz="550" dirty="0">
                <a:solidFill>
                  <a:srgbClr val="9AA3AD"/>
                </a:solidFill>
                <a:latin typeface="Poppins" pitchFamily="34" charset="0"/>
                <a:ea typeface="Poppins" pitchFamily="34" charset="-122"/>
                <a:cs typeface="Poppins" pitchFamily="34" charset="-120"/>
              </a:rPr>
              <a:t>Fontes: Information Memorandum Project Amazon (páginas 9–17), Companhia, B Corp, Vogue.</a:t>
            </a:r>
            <a:endParaRPr lang="en-US" sz="550" dirty="0"/>
          </a:p>
        </p:txBody>
      </p:sp>
      <p:sp>
        <p:nvSpPr>
          <p:cNvPr id="89" name="Text 84"/>
          <p:cNvSpPr/>
          <p:nvPr/>
        </p:nvSpPr>
        <p:spPr>
          <a:xfrm>
            <a:off x="3776472" y="8851392"/>
            <a:ext cx="2798064" cy="310896"/>
          </a:xfrm>
          <a:prstGeom prst="rect">
            <a:avLst/>
          </a:prstGeom>
          <a:noFill/>
          <a:ln/>
        </p:spPr>
        <p:txBody>
          <a:bodyPr wrap="square" lIns="0" tIns="0" rIns="0" bIns="0" rtlCol="0" anchor="t"/>
          <a:lstStyle/>
          <a:p>
            <a:pPr indent="0" marL="0">
              <a:lnSpc>
                <a:spcPct val="116000"/>
              </a:lnSpc>
              <a:buNone/>
            </a:pPr>
            <a:r>
              <a:rPr lang="en-US" sz="550" dirty="0">
                <a:solidFill>
                  <a:srgbClr val="9AA3AD"/>
                </a:solidFill>
                <a:latin typeface="Poppins" pitchFamily="34" charset="0"/>
                <a:ea typeface="Poppins" pitchFamily="34" charset="-122"/>
                <a:cs typeface="Poppins" pitchFamily="34" charset="-120"/>
              </a:rPr>
              <a:t>[1] Parque Nacional de Anavilhanas — área protegida pública no entorno do lote (mais de 3,5 bilhões de m² de floresta preservada); não integra a propriedade. Área do lote principal a confirmar com a Companhia.</a:t>
            </a:r>
            <a:endParaRPr lang="en-US" sz="550" dirty="0"/>
          </a:p>
        </p:txBody>
      </p:sp>
      <p:sp>
        <p:nvSpPr>
          <p:cNvPr id="90" name="Text 85"/>
          <p:cNvSpPr/>
          <p:nvPr/>
        </p:nvSpPr>
        <p:spPr>
          <a:xfrm>
            <a:off x="356616" y="9235440"/>
            <a:ext cx="914400" cy="146304"/>
          </a:xfrm>
          <a:prstGeom prst="rect">
            <a:avLst/>
          </a:prstGeom>
          <a:noFill/>
          <a:ln/>
        </p:spPr>
        <p:txBody>
          <a:bodyPr wrap="square" lIns="0" tIns="0" rIns="0" bIns="0" rtlCol="0" anchor="ctr"/>
          <a:lstStyle/>
          <a:p>
            <a:pPr indent="0" marL="0">
              <a:buNone/>
            </a:pPr>
            <a:r>
              <a:rPr lang="en-US" sz="700" dirty="0">
                <a:solidFill>
                  <a:srgbClr val="96772C"/>
                </a:solidFill>
                <a:latin typeface="Poppins SemiBold" pitchFamily="34" charset="0"/>
                <a:ea typeface="Poppins SemiBold" pitchFamily="34" charset="-122"/>
                <a:cs typeface="Poppins SemiBold" pitchFamily="34" charset="-120"/>
              </a:rPr>
              <a:t>Disclaimer:</a:t>
            </a:r>
            <a:endParaRPr lang="en-US" sz="700" dirty="0"/>
          </a:p>
        </p:txBody>
      </p:sp>
      <p:sp>
        <p:nvSpPr>
          <p:cNvPr id="91" name="Text 86"/>
          <p:cNvSpPr/>
          <p:nvPr/>
        </p:nvSpPr>
        <p:spPr>
          <a:xfrm>
            <a:off x="356616" y="9400032"/>
            <a:ext cx="6144768" cy="420624"/>
          </a:xfrm>
          <a:prstGeom prst="rect">
            <a:avLst/>
          </a:prstGeom>
          <a:noFill/>
          <a:ln/>
        </p:spPr>
        <p:txBody>
          <a:bodyPr wrap="square" lIns="0" tIns="0" rIns="0" bIns="0" rtlCol="0" anchor="t"/>
          <a:lstStyle/>
          <a:p>
            <a:pPr algn="just" indent="0" marL="0">
              <a:lnSpc>
                <a:spcPct val="114000"/>
              </a:lnSpc>
              <a:buNone/>
            </a:pPr>
            <a:r>
              <a:rPr lang="en-US" sz="500" dirty="0">
                <a:solidFill>
                  <a:srgbClr val="9AA3AD"/>
                </a:solidFill>
                <a:latin typeface="Poppins" pitchFamily="34" charset="0"/>
                <a:ea typeface="Poppins" pitchFamily="34" charset="-122"/>
                <a:cs typeface="Poppins" pitchFamily="34" charset="-120"/>
              </a:rPr>
              <a:t>All information contained in this material has been prepared based on the documents and/or information provided by the Company or obtained directly by IGC through legal sources and/or through independent researches. No liability is or shall be attributed to the members of IGC, including its partners, directors, employees, agents or advisers, in connection with the accuracy or completeness of the information contained herein. In particular, no representation or warranty is given as to the achievement or reasonableness of any future projections, management estimates, prospects or returns. This material belongs to IGC and shall not be copied, reproduced and/or distributed or disclosed to any third party without the prior consent of IGC.</a:t>
            </a:r>
            <a:endParaRPr lang="en-US" sz="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Amazon — teaser do lote</dc:title>
  <dc:subject>PptxGenJS Presentation</dc:subject>
  <dc:creator>IGC Partners</dc:creator>
  <cp:lastModifiedBy>IGC Partners</cp:lastModifiedBy>
  <cp:revision>1</cp:revision>
  <dcterms:created xsi:type="dcterms:W3CDTF">2026-08-17T23:53:17Z</dcterms:created>
  <dcterms:modified xsi:type="dcterms:W3CDTF">2026-08-17T23:53:17Z</dcterms:modified>
</cp:coreProperties>
</file>
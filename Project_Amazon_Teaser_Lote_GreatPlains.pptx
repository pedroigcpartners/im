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uebird/i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402336" cy="34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7498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Project Amazon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4048" y="1152144"/>
            <a:ext cx="6089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96772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ANAVILHANAS JUNGLE LODGE  ·  RIO NEGRO, AMAZONAS  ·  40′ DE HIDROAVIÃO DESDE MANAUS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84048" y="1335024"/>
            <a:ext cx="608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Lodge de conservação em escala boutique, no portal de um dos maiores arquipélagos fluviais do mundo</a:t>
            </a:r>
            <a:endParaRPr lang="en-US" sz="850" dirty="0"/>
          </a:p>
        </p:txBody>
      </p:sp>
      <p:pic>
        <p:nvPicPr>
          <p:cNvPr id="6" name="Image 1" descr="assets/anav/aerial_riv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572768"/>
            <a:ext cx="6858000" cy="113385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1572768"/>
            <a:ext cx="6858000" cy="1133856"/>
          </a:xfrm>
          <a:prstGeom prst="rect">
            <a:avLst/>
          </a:prstGeom>
          <a:solidFill>
            <a:srgbClr val="23574A">
              <a:alpha val="7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6858000" cy="32004"/>
          </a:xfrm>
          <a:prstGeom prst="rect">
            <a:avLst/>
          </a:prstGeom>
          <a:solidFill>
            <a:srgbClr val="96772C"/>
          </a:solidFill>
          <a:ln/>
        </p:spPr>
      </p:sp>
      <p:sp>
        <p:nvSpPr>
          <p:cNvPr id="9" name="Text 5"/>
          <p:cNvSpPr/>
          <p:nvPr/>
        </p:nvSpPr>
        <p:spPr>
          <a:xfrm>
            <a:off x="384048" y="179222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25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84048" y="2212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chaves no lote principal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2414016" y="179222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24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14016" y="2212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unidades independentes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313432" y="1828800"/>
            <a:ext cx="7315" cy="566928"/>
          </a:xfrm>
          <a:prstGeom prst="rect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4443984" y="179222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350.000 ha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443984" y="2212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floresta protegida no entorno¹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343400" y="1828800"/>
            <a:ext cx="7315" cy="566928"/>
          </a:xfrm>
          <a:prstGeom prst="rect">
            <a:avLst/>
          </a:prstGeom>
          <a:solidFill>
            <a:srgbClr val="FFFFFF">
              <a:alpha val="38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84048" y="2450592"/>
            <a:ext cx="608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DE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Densidade rara: uma chave para cada ~14 mil hectares de floresta protegida no entorno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84048" y="279806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6772C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01.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87552" y="2779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A composição real do lote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87552" y="3026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chaves distribuídas em 24 unidades independentes — não um bloco hoteleiro único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384048" y="3273552"/>
            <a:ext cx="854964" cy="7315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EAED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4048" y="3273552"/>
            <a:ext cx="854964" cy="25603"/>
          </a:xfrm>
          <a:prstGeom prst="rect">
            <a:avLst/>
          </a:prstGeom>
          <a:solidFill>
            <a:srgbClr val="46AD95"/>
          </a:solidFill>
          <a:ln/>
        </p:spPr>
      </p:sp>
      <p:sp>
        <p:nvSpPr>
          <p:cNvPr id="23" name="Text 19"/>
          <p:cNvSpPr/>
          <p:nvPr/>
        </p:nvSpPr>
        <p:spPr>
          <a:xfrm>
            <a:off x="475488" y="3364992"/>
            <a:ext cx="67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574A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16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75488" y="3630168"/>
            <a:ext cx="672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Chalés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475488" y="3785616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2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vista para a floresta</a:t>
            </a:r>
            <a:endParaRPr lang="en-US" sz="620" dirty="0"/>
          </a:p>
        </p:txBody>
      </p:sp>
      <p:sp>
        <p:nvSpPr>
          <p:cNvPr id="26" name="Shape 22"/>
          <p:cNvSpPr/>
          <p:nvPr/>
        </p:nvSpPr>
        <p:spPr>
          <a:xfrm>
            <a:off x="1403604" y="3273552"/>
            <a:ext cx="854964" cy="7315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EAED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403604" y="3273552"/>
            <a:ext cx="854964" cy="25603"/>
          </a:xfrm>
          <a:prstGeom prst="rect">
            <a:avLst/>
          </a:prstGeom>
          <a:solidFill>
            <a:srgbClr val="46AD95"/>
          </a:solidFill>
          <a:ln/>
        </p:spPr>
      </p:sp>
      <p:sp>
        <p:nvSpPr>
          <p:cNvPr id="28" name="Text 24"/>
          <p:cNvSpPr/>
          <p:nvPr/>
        </p:nvSpPr>
        <p:spPr>
          <a:xfrm>
            <a:off x="1495044" y="3364992"/>
            <a:ext cx="67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574A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495044" y="3630168"/>
            <a:ext cx="672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Bangalôs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1495044" y="3785616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2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vista de 180°</a:t>
            </a:r>
            <a:endParaRPr lang="en-US" sz="620" dirty="0"/>
          </a:p>
        </p:txBody>
      </p:sp>
      <p:sp>
        <p:nvSpPr>
          <p:cNvPr id="31" name="Shape 27"/>
          <p:cNvSpPr/>
          <p:nvPr/>
        </p:nvSpPr>
        <p:spPr>
          <a:xfrm>
            <a:off x="2423160" y="3273552"/>
            <a:ext cx="854964" cy="7315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EAED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423160" y="3273552"/>
            <a:ext cx="854964" cy="25603"/>
          </a:xfrm>
          <a:prstGeom prst="rect">
            <a:avLst/>
          </a:prstGeom>
          <a:solidFill>
            <a:srgbClr val="46AD95"/>
          </a:solidFill>
          <a:ln/>
        </p:spPr>
      </p:sp>
      <p:sp>
        <p:nvSpPr>
          <p:cNvPr id="33" name="Text 29"/>
          <p:cNvSpPr/>
          <p:nvPr/>
        </p:nvSpPr>
        <p:spPr>
          <a:xfrm>
            <a:off x="2514600" y="3364992"/>
            <a:ext cx="67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574A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2514600" y="3630168"/>
            <a:ext cx="672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Panorâmicos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2514600" y="3785616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2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quartos com varanda</a:t>
            </a:r>
            <a:endParaRPr lang="en-US" sz="620" dirty="0"/>
          </a:p>
        </p:txBody>
      </p:sp>
      <p:sp>
        <p:nvSpPr>
          <p:cNvPr id="36" name="Shape 32"/>
          <p:cNvSpPr/>
          <p:nvPr/>
        </p:nvSpPr>
        <p:spPr>
          <a:xfrm>
            <a:off x="3442716" y="3273552"/>
            <a:ext cx="854964" cy="7315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EAED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442716" y="3273552"/>
            <a:ext cx="854964" cy="25603"/>
          </a:xfrm>
          <a:prstGeom prst="rect">
            <a:avLst/>
          </a:prstGeom>
          <a:solidFill>
            <a:srgbClr val="46AD95"/>
          </a:solidFill>
          <a:ln/>
        </p:spPr>
      </p:sp>
      <p:sp>
        <p:nvSpPr>
          <p:cNvPr id="38" name="Text 34"/>
          <p:cNvSpPr/>
          <p:nvPr/>
        </p:nvSpPr>
        <p:spPr>
          <a:xfrm>
            <a:off x="3534156" y="3364992"/>
            <a:ext cx="67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574A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01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3534156" y="3630168"/>
            <a:ext cx="6720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Villa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3534156" y="3785616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2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exclusiva, com 2 quartos</a:t>
            </a:r>
            <a:endParaRPr lang="en-US" sz="620" dirty="0"/>
          </a:p>
        </p:txBody>
      </p:sp>
      <p:sp>
        <p:nvSpPr>
          <p:cNvPr id="41" name="Shape 37"/>
          <p:cNvSpPr/>
          <p:nvPr/>
        </p:nvSpPr>
        <p:spPr>
          <a:xfrm>
            <a:off x="384048" y="4078224"/>
            <a:ext cx="3913632" cy="274320"/>
          </a:xfrm>
          <a:prstGeom prst="roundRect">
            <a:avLst>
              <a:gd name="adj" fmla="val 13333"/>
            </a:avLst>
          </a:prstGeom>
          <a:solidFill>
            <a:srgbClr val="F3EEE0"/>
          </a:solidFill>
          <a:ln/>
        </p:spPr>
      </p:sp>
      <p:sp>
        <p:nvSpPr>
          <p:cNvPr id="42" name="Text 38"/>
          <p:cNvSpPr/>
          <p:nvPr/>
        </p:nvSpPr>
        <p:spPr>
          <a:xfrm>
            <a:off x="493776" y="407822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24 unidades  ·  </a:t>
            </a:r>
            <a:pPr indent="0" marL="0">
              <a:buNone/>
            </a:pPr>
            <a:r>
              <a:rPr lang="en-US" sz="800" dirty="0">
                <a:solidFill>
                  <a:srgbClr val="96772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25 chaves no total</a:t>
            </a:r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—   a villa responde por 2 das 25</a:t>
            </a:r>
            <a:endParaRPr lang="en-US" sz="750" dirty="0"/>
          </a:p>
        </p:txBody>
      </p:sp>
      <p:pic>
        <p:nvPicPr>
          <p:cNvPr id="43" name="Image 2" descr="assets/anav/aerial_lodg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43984" y="3273552"/>
            <a:ext cx="2029968" cy="1078992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4443984" y="4078224"/>
            <a:ext cx="2029968" cy="274320"/>
          </a:xfrm>
          <a:prstGeom prst="rect">
            <a:avLst/>
          </a:prstGeom>
          <a:solidFill>
            <a:srgbClr val="23574A">
              <a:alpha val="82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4517136" y="407822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 lodge visto do alto, imerso na mata</a:t>
            </a:r>
            <a:endParaRPr lang="en-US" sz="650" dirty="0"/>
          </a:p>
        </p:txBody>
      </p:sp>
      <p:sp>
        <p:nvSpPr>
          <p:cNvPr id="46" name="Text 41"/>
          <p:cNvSpPr/>
          <p:nvPr/>
        </p:nvSpPr>
        <p:spPr>
          <a:xfrm>
            <a:off x="384048" y="44439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6772C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02.</a:t>
            </a:r>
            <a:endParaRPr lang="en-US" sz="2200" dirty="0"/>
          </a:p>
        </p:txBody>
      </p:sp>
      <p:sp>
        <p:nvSpPr>
          <p:cNvPr id="47" name="Text 42"/>
          <p:cNvSpPr/>
          <p:nvPr/>
        </p:nvSpPr>
        <p:spPr>
          <a:xfrm>
            <a:off x="987552" y="44256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Conservação e comunidade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987552" y="46725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Única empresa certificada B Corp do estado do Amazonas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384048" y="4919472"/>
            <a:ext cx="2889504" cy="969264"/>
          </a:xfrm>
          <a:prstGeom prst="roundRect">
            <a:avLst>
              <a:gd name="adj" fmla="val 3774"/>
            </a:avLst>
          </a:prstGeom>
          <a:solidFill>
            <a:srgbClr val="23574A"/>
          </a:solidFill>
          <a:ln/>
        </p:spPr>
      </p:sp>
      <p:sp>
        <p:nvSpPr>
          <p:cNvPr id="50" name="Text 45"/>
          <p:cNvSpPr/>
          <p:nvPr/>
        </p:nvSpPr>
        <p:spPr>
          <a:xfrm>
            <a:off x="530352" y="50474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88</a:t>
            </a:r>
            <a:endParaRPr lang="en-US" sz="2400" dirty="0"/>
          </a:p>
        </p:txBody>
      </p:sp>
      <p:sp>
        <p:nvSpPr>
          <p:cNvPr id="51" name="Text 46"/>
          <p:cNvSpPr/>
          <p:nvPr/>
        </p:nvSpPr>
        <p:spPr>
          <a:xfrm>
            <a:off x="530352" y="54498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 Impact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Assessment</a:t>
            </a:r>
            <a:endParaRPr lang="en-US" sz="650" dirty="0"/>
          </a:p>
        </p:txBody>
      </p:sp>
      <p:sp>
        <p:nvSpPr>
          <p:cNvPr id="52" name="Text 47"/>
          <p:cNvSpPr/>
          <p:nvPr/>
        </p:nvSpPr>
        <p:spPr>
          <a:xfrm>
            <a:off x="1444752" y="50383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</a:t>
            </a:r>
            <a:endParaRPr lang="en-US" sz="700" dirty="0"/>
          </a:p>
        </p:txBody>
      </p:sp>
      <p:sp>
        <p:nvSpPr>
          <p:cNvPr id="53" name="Text 48"/>
          <p:cNvSpPr/>
          <p:nvPr/>
        </p:nvSpPr>
        <p:spPr>
          <a:xfrm>
            <a:off x="2542032" y="5038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6AD9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18,3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1444752" y="5285232"/>
            <a:ext cx="1700784" cy="5486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5" name="Text 50"/>
          <p:cNvSpPr/>
          <p:nvPr/>
        </p:nvSpPr>
        <p:spPr>
          <a:xfrm>
            <a:off x="1444752" y="52943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Comunidade</a:t>
            </a:r>
            <a:endParaRPr lang="en-US" sz="700" dirty="0"/>
          </a:p>
        </p:txBody>
      </p:sp>
      <p:sp>
        <p:nvSpPr>
          <p:cNvPr id="56" name="Text 51"/>
          <p:cNvSpPr/>
          <p:nvPr/>
        </p:nvSpPr>
        <p:spPr>
          <a:xfrm>
            <a:off x="2542032" y="52943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6AD9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30,1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1444752" y="5541264"/>
            <a:ext cx="1700784" cy="5486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58" name="Text 53"/>
          <p:cNvSpPr/>
          <p:nvPr/>
        </p:nvSpPr>
        <p:spPr>
          <a:xfrm>
            <a:off x="1444752" y="55504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E4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Colaboradores</a:t>
            </a:r>
            <a:endParaRPr lang="en-US" sz="700" dirty="0"/>
          </a:p>
        </p:txBody>
      </p:sp>
      <p:sp>
        <p:nvSpPr>
          <p:cNvPr id="59" name="Text 54"/>
          <p:cNvSpPr/>
          <p:nvPr/>
        </p:nvSpPr>
        <p:spPr>
          <a:xfrm>
            <a:off x="2542032" y="55504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6AD9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21,7</a:t>
            </a:r>
            <a:endParaRPr lang="en-US" sz="850" dirty="0"/>
          </a:p>
        </p:txBody>
      </p:sp>
      <p:sp>
        <p:nvSpPr>
          <p:cNvPr id="60" name="Shape 55"/>
          <p:cNvSpPr/>
          <p:nvPr/>
        </p:nvSpPr>
        <p:spPr>
          <a:xfrm>
            <a:off x="3419856" y="4919472"/>
            <a:ext cx="3054096" cy="969264"/>
          </a:xfrm>
          <a:prstGeom prst="roundRect">
            <a:avLst>
              <a:gd name="adj" fmla="val 3774"/>
            </a:avLst>
          </a:prstGeom>
          <a:solidFill>
            <a:srgbClr val="F5F6FA"/>
          </a:solidFill>
          <a:ln w="9525">
            <a:solidFill>
              <a:srgbClr val="EAED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3547872" y="502920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3574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Instituto Anavilhanas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3547872" y="5221224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Criado em 2022, formaliza um trabalho com as comunidades ribeirinhas em curso desde a fundação do lodge, em 2007 — educação, saúde, desenvolvimento local e proteção ambiental</a:t>
            </a:r>
            <a:endParaRPr lang="en-US" sz="650" dirty="0"/>
          </a:p>
        </p:txBody>
      </p:sp>
      <p:sp>
        <p:nvSpPr>
          <p:cNvPr id="63" name="Text 58"/>
          <p:cNvSpPr/>
          <p:nvPr/>
        </p:nvSpPr>
        <p:spPr>
          <a:xfrm>
            <a:off x="3547872" y="55961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6772C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+150</a:t>
            </a:r>
            <a:endParaRPr lang="en-US" sz="1400" dirty="0"/>
          </a:p>
        </p:txBody>
      </p:sp>
      <p:sp>
        <p:nvSpPr>
          <p:cNvPr id="64" name="Text 59"/>
          <p:cNvSpPr/>
          <p:nvPr/>
        </p:nvSpPr>
        <p:spPr>
          <a:xfrm>
            <a:off x="4114800" y="56235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famílias impactadas</a:t>
            </a:r>
            <a:endParaRPr lang="en-US" sz="650" dirty="0"/>
          </a:p>
        </p:txBody>
      </p:sp>
      <p:sp>
        <p:nvSpPr>
          <p:cNvPr id="65" name="Text 60"/>
          <p:cNvSpPr/>
          <p:nvPr/>
        </p:nvSpPr>
        <p:spPr>
          <a:xfrm>
            <a:off x="4846320" y="55961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6772C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8</a:t>
            </a:r>
            <a:endParaRPr lang="en-US" sz="1400" dirty="0"/>
          </a:p>
        </p:txBody>
      </p:sp>
      <p:sp>
        <p:nvSpPr>
          <p:cNvPr id="66" name="Text 61"/>
          <p:cNvSpPr/>
          <p:nvPr/>
        </p:nvSpPr>
        <p:spPr>
          <a:xfrm>
            <a:off x="5413248" y="56235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sociais</a:t>
            </a:r>
            <a:endParaRPr lang="en-US" sz="650" dirty="0"/>
          </a:p>
        </p:txBody>
      </p:sp>
      <p:sp>
        <p:nvSpPr>
          <p:cNvPr id="67" name="Text 62"/>
          <p:cNvSpPr/>
          <p:nvPr/>
        </p:nvSpPr>
        <p:spPr>
          <a:xfrm>
            <a:off x="384048" y="599846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6772C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03.</a:t>
            </a:r>
            <a:endParaRPr lang="en-US" sz="2200" dirty="0"/>
          </a:p>
        </p:txBody>
      </p:sp>
      <p:sp>
        <p:nvSpPr>
          <p:cNvPr id="68" name="Text 63"/>
          <p:cNvSpPr/>
          <p:nvPr/>
        </p:nvSpPr>
        <p:spPr>
          <a:xfrm>
            <a:off x="987552" y="59801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Áreas além do lote principal</a:t>
            </a:r>
            <a:endParaRPr lang="en-US" sz="1200" dirty="0"/>
          </a:p>
        </p:txBody>
      </p:sp>
      <p:sp>
        <p:nvSpPr>
          <p:cNvPr id="69" name="Text 64"/>
          <p:cNvSpPr/>
          <p:nvPr/>
        </p:nvSpPr>
        <p:spPr>
          <a:xfrm>
            <a:off x="987552" y="62270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Declaradas integralmente — cada uma é uma decisão separada para o comprador</a:t>
            </a:r>
            <a:endParaRPr lang="en-US" sz="750" dirty="0"/>
          </a:p>
        </p:txBody>
      </p:sp>
      <p:sp>
        <p:nvSpPr>
          <p:cNvPr id="70" name="Shape 65"/>
          <p:cNvSpPr/>
          <p:nvPr/>
        </p:nvSpPr>
        <p:spPr>
          <a:xfrm>
            <a:off x="384048" y="6473952"/>
            <a:ext cx="1908048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46AD95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493776" y="6565392"/>
            <a:ext cx="16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574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Base Avançada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493776" y="6757416"/>
            <a:ext cx="168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50 km</a:t>
            </a:r>
            <a:pPr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do lodge</a:t>
            </a:r>
            <a:endParaRPr lang="en-US" sz="1300" dirty="0"/>
          </a:p>
        </p:txBody>
      </p:sp>
      <p:sp>
        <p:nvSpPr>
          <p:cNvPr id="73" name="Text 68"/>
          <p:cNvSpPr/>
          <p:nvPr/>
        </p:nvSpPr>
        <p:spPr>
          <a:xfrm>
            <a:off x="493776" y="7022592"/>
            <a:ext cx="1688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Complexo de apoio, destino final de trilhas e passeios</a:t>
            </a:r>
            <a:endParaRPr lang="en-US" sz="650" dirty="0"/>
          </a:p>
        </p:txBody>
      </p:sp>
      <p:sp>
        <p:nvSpPr>
          <p:cNvPr id="74" name="Shape 69"/>
          <p:cNvSpPr/>
          <p:nvPr/>
        </p:nvSpPr>
        <p:spPr>
          <a:xfrm>
            <a:off x="2474976" y="6473952"/>
            <a:ext cx="1908048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B08F3E"/>
            </a:solidFill>
            <a:prstDash val="dash"/>
          </a:ln>
        </p:spPr>
      </p:sp>
      <p:sp>
        <p:nvSpPr>
          <p:cNvPr id="75" name="Text 70"/>
          <p:cNvSpPr/>
          <p:nvPr/>
        </p:nvSpPr>
        <p:spPr>
          <a:xfrm>
            <a:off x="2584704" y="6565392"/>
            <a:ext cx="16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6772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Área de expansão</a:t>
            </a:r>
            <a:endParaRPr lang="en-US" sz="750" dirty="0"/>
          </a:p>
        </p:txBody>
      </p:sp>
      <p:sp>
        <p:nvSpPr>
          <p:cNvPr id="76" name="Text 71"/>
          <p:cNvSpPr/>
          <p:nvPr/>
        </p:nvSpPr>
        <p:spPr>
          <a:xfrm>
            <a:off x="2584704" y="6757416"/>
            <a:ext cx="168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420 m</a:t>
            </a:r>
            <a:pPr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do lodge</a:t>
            </a:r>
            <a:endParaRPr lang="en-US" sz="1300" dirty="0"/>
          </a:p>
        </p:txBody>
      </p:sp>
      <p:sp>
        <p:nvSpPr>
          <p:cNvPr id="77" name="Text 72"/>
          <p:cNvSpPr/>
          <p:nvPr/>
        </p:nvSpPr>
        <p:spPr>
          <a:xfrm>
            <a:off x="2584704" y="7022592"/>
            <a:ext cx="1688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1.252 m² construídos · 16 quartos · conclusão prevista 2026</a:t>
            </a:r>
            <a:endParaRPr lang="en-US" sz="650" dirty="0"/>
          </a:p>
        </p:txBody>
      </p:sp>
      <p:sp>
        <p:nvSpPr>
          <p:cNvPr id="78" name="Shape 73"/>
          <p:cNvSpPr/>
          <p:nvPr/>
        </p:nvSpPr>
        <p:spPr>
          <a:xfrm>
            <a:off x="4565904" y="6473952"/>
            <a:ext cx="1908048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B08F3E"/>
            </a:solidFill>
            <a:prstDash val="dash"/>
          </a:ln>
        </p:spPr>
      </p:sp>
      <p:sp>
        <p:nvSpPr>
          <p:cNvPr id="79" name="Text 74"/>
          <p:cNvSpPr/>
          <p:nvPr/>
        </p:nvSpPr>
        <p:spPr>
          <a:xfrm>
            <a:off x="4675632" y="6565392"/>
            <a:ext cx="16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6772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Villa Amazônia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4675632" y="6757416"/>
            <a:ext cx="168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Manaus</a:t>
            </a:r>
            <a:pPr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centro histórico</a:t>
            </a:r>
            <a:endParaRPr lang="en-US" sz="1300" dirty="0"/>
          </a:p>
        </p:txBody>
      </p:sp>
      <p:sp>
        <p:nvSpPr>
          <p:cNvPr id="81" name="Text 76"/>
          <p:cNvSpPr/>
          <p:nvPr/>
        </p:nvSpPr>
        <p:spPr>
          <a:xfrm>
            <a:off x="4675632" y="7022592"/>
            <a:ext cx="1688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Hotel urbano com 29 chaves (4 standard · 20 superior · 5 premium)</a:t>
            </a:r>
            <a:endParaRPr lang="en-US" sz="650" dirty="0"/>
          </a:p>
        </p:txBody>
      </p:sp>
      <p:sp>
        <p:nvSpPr>
          <p:cNvPr id="82" name="Shape 77"/>
          <p:cNvSpPr/>
          <p:nvPr/>
        </p:nvSpPr>
        <p:spPr>
          <a:xfrm>
            <a:off x="384048" y="7461504"/>
            <a:ext cx="6089904" cy="402336"/>
          </a:xfrm>
          <a:prstGeom prst="roundRect">
            <a:avLst>
              <a:gd name="adj" fmla="val 9091"/>
            </a:avLst>
          </a:prstGeom>
          <a:solidFill>
            <a:srgbClr val="F3EEE0"/>
          </a:solidFill>
          <a:ln/>
        </p:spPr>
      </p:sp>
      <p:sp>
        <p:nvSpPr>
          <p:cNvPr id="83" name="Shape 78"/>
          <p:cNvSpPr/>
          <p:nvPr/>
        </p:nvSpPr>
        <p:spPr>
          <a:xfrm>
            <a:off x="384048" y="7461504"/>
            <a:ext cx="41148" cy="402336"/>
          </a:xfrm>
          <a:prstGeom prst="rect">
            <a:avLst/>
          </a:prstGeom>
          <a:solidFill>
            <a:srgbClr val="96772C"/>
          </a:solidFill>
          <a:ln/>
        </p:spPr>
      </p:sp>
      <p:sp>
        <p:nvSpPr>
          <p:cNvPr id="84" name="Text 79"/>
          <p:cNvSpPr/>
          <p:nvPr/>
        </p:nvSpPr>
        <p:spPr>
          <a:xfrm>
            <a:off x="530352" y="7461504"/>
            <a:ext cx="5815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96772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Expansão:  </a:t>
            </a:r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25 chaves hoje  →  41 se integralmente executada.</a:t>
            </a:r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 terreno fica a 420 m do lodge e a obra é fisicamente separada — pode ser mantida como reserva de terra, redimensionada ou não executada, sem afetar a operação atual.</a:t>
            </a:r>
            <a:endParaRPr lang="en-US" sz="750" dirty="0"/>
          </a:p>
        </p:txBody>
      </p:sp>
      <p:sp>
        <p:nvSpPr>
          <p:cNvPr id="85" name="Shape 80"/>
          <p:cNvSpPr/>
          <p:nvPr/>
        </p:nvSpPr>
        <p:spPr>
          <a:xfrm>
            <a:off x="384048" y="7973568"/>
            <a:ext cx="6089904" cy="10973"/>
          </a:xfrm>
          <a:prstGeom prst="rect">
            <a:avLst/>
          </a:prstGeom>
          <a:solidFill>
            <a:srgbClr val="EAEDF2"/>
          </a:solidFill>
          <a:ln/>
        </p:spPr>
      </p:sp>
      <p:sp>
        <p:nvSpPr>
          <p:cNvPr id="86" name="Text 81"/>
          <p:cNvSpPr/>
          <p:nvPr/>
        </p:nvSpPr>
        <p:spPr>
          <a:xfrm>
            <a:off x="384048" y="80650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96772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DIFERENCIAIS DO LOTE</a:t>
            </a:r>
            <a:endParaRPr lang="en-US" sz="650" dirty="0"/>
          </a:p>
        </p:txBody>
      </p:sp>
      <p:sp>
        <p:nvSpPr>
          <p:cNvPr id="87" name="Text 82"/>
          <p:cNvSpPr/>
          <p:nvPr/>
        </p:nvSpPr>
        <p:spPr>
          <a:xfrm>
            <a:off x="384048" y="8266176"/>
            <a:ext cx="91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6AD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▪</a:t>
            </a:r>
            <a:endParaRPr lang="en-US" sz="600" dirty="0"/>
          </a:p>
        </p:txBody>
      </p:sp>
      <p:sp>
        <p:nvSpPr>
          <p:cNvPr id="88" name="Text 83"/>
          <p:cNvSpPr/>
          <p:nvPr/>
        </p:nvSpPr>
        <p:spPr>
          <a:xfrm>
            <a:off x="484632" y="826617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F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Duas piscinas sobre o Rio Negro</a:t>
            </a:r>
            <a:endParaRPr lang="en-US" sz="660" dirty="0"/>
          </a:p>
        </p:txBody>
      </p:sp>
      <p:sp>
        <p:nvSpPr>
          <p:cNvPr id="89" name="Text 84"/>
          <p:cNvSpPr/>
          <p:nvPr/>
        </p:nvSpPr>
        <p:spPr>
          <a:xfrm>
            <a:off x="2359152" y="8266176"/>
            <a:ext cx="91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6AD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▪</a:t>
            </a:r>
            <a:endParaRPr lang="en-US" sz="600" dirty="0"/>
          </a:p>
        </p:txBody>
      </p:sp>
      <p:sp>
        <p:nvSpPr>
          <p:cNvPr id="90" name="Text 85"/>
          <p:cNvSpPr/>
          <p:nvPr/>
        </p:nvSpPr>
        <p:spPr>
          <a:xfrm>
            <a:off x="2459736" y="826617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F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Torre de observação da floresta</a:t>
            </a:r>
            <a:endParaRPr lang="en-US" sz="660" dirty="0"/>
          </a:p>
        </p:txBody>
      </p:sp>
      <p:sp>
        <p:nvSpPr>
          <p:cNvPr id="91" name="Text 86"/>
          <p:cNvSpPr/>
          <p:nvPr/>
        </p:nvSpPr>
        <p:spPr>
          <a:xfrm>
            <a:off x="384048" y="8439912"/>
            <a:ext cx="91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6AD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▪</a:t>
            </a:r>
            <a:endParaRPr lang="en-US" sz="600" dirty="0"/>
          </a:p>
        </p:txBody>
      </p:sp>
      <p:sp>
        <p:nvSpPr>
          <p:cNvPr id="92" name="Text 87"/>
          <p:cNvSpPr/>
          <p:nvPr/>
        </p:nvSpPr>
        <p:spPr>
          <a:xfrm>
            <a:off x="484632" y="84399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F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flutuante no rio</a:t>
            </a:r>
            <a:endParaRPr lang="en-US" sz="660" dirty="0"/>
          </a:p>
        </p:txBody>
      </p:sp>
      <p:sp>
        <p:nvSpPr>
          <p:cNvPr id="93" name="Text 88"/>
          <p:cNvSpPr/>
          <p:nvPr/>
        </p:nvSpPr>
        <p:spPr>
          <a:xfrm>
            <a:off x="2359152" y="8439912"/>
            <a:ext cx="91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6AD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▪</a:t>
            </a:r>
            <a:endParaRPr lang="en-US" sz="600" dirty="0"/>
          </a:p>
        </p:txBody>
      </p:sp>
      <p:sp>
        <p:nvSpPr>
          <p:cNvPr id="94" name="Text 89"/>
          <p:cNvSpPr/>
          <p:nvPr/>
        </p:nvSpPr>
        <p:spPr>
          <a:xfrm>
            <a:off x="2459736" y="84399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F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Restaurante, spa e academia</a:t>
            </a:r>
            <a:endParaRPr lang="en-US" sz="660" dirty="0"/>
          </a:p>
        </p:txBody>
      </p:sp>
      <p:sp>
        <p:nvSpPr>
          <p:cNvPr id="95" name="Text 90"/>
          <p:cNvSpPr/>
          <p:nvPr/>
        </p:nvSpPr>
        <p:spPr>
          <a:xfrm>
            <a:off x="4498848" y="80650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96772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FAUNA E PAISAGEM</a:t>
            </a:r>
            <a:endParaRPr lang="en-US" sz="650" dirty="0"/>
          </a:p>
        </p:txBody>
      </p:sp>
      <p:sp>
        <p:nvSpPr>
          <p:cNvPr id="96" name="Text 91"/>
          <p:cNvSpPr/>
          <p:nvPr/>
        </p:nvSpPr>
        <p:spPr>
          <a:xfrm>
            <a:off x="4498848" y="8266176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64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Arquipélago de Anavilhanas (Parque Nacional) · igapós e igarapés navegáveis de canoa · observação noturna de fauna no Rio Negro</a:t>
            </a:r>
            <a:endParaRPr lang="en-US" sz="640" dirty="0"/>
          </a:p>
        </p:txBody>
      </p:sp>
      <p:sp>
        <p:nvSpPr>
          <p:cNvPr id="97" name="Shape 92"/>
          <p:cNvSpPr/>
          <p:nvPr/>
        </p:nvSpPr>
        <p:spPr>
          <a:xfrm>
            <a:off x="384048" y="8668512"/>
            <a:ext cx="6089904" cy="10973"/>
          </a:xfrm>
          <a:prstGeom prst="rect">
            <a:avLst/>
          </a:prstGeom>
          <a:solidFill>
            <a:srgbClr val="EAEDF2"/>
          </a:solidFill>
          <a:ln/>
        </p:spPr>
      </p:sp>
      <p:sp>
        <p:nvSpPr>
          <p:cNvPr id="98" name="Text 93"/>
          <p:cNvSpPr/>
          <p:nvPr/>
        </p:nvSpPr>
        <p:spPr>
          <a:xfrm>
            <a:off x="384048" y="8759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6772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Para mais informações, entre em contato:</a:t>
            </a:r>
            <a:endParaRPr lang="en-US" sz="700" dirty="0"/>
          </a:p>
        </p:txBody>
      </p:sp>
      <p:sp>
        <p:nvSpPr>
          <p:cNvPr id="99" name="Text 94"/>
          <p:cNvSpPr/>
          <p:nvPr/>
        </p:nvSpPr>
        <p:spPr>
          <a:xfrm>
            <a:off x="4645152" y="8759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+55 11 3815 3533</a:t>
            </a:r>
            <a:endParaRPr lang="en-US" sz="660" dirty="0"/>
          </a:p>
        </p:txBody>
      </p:sp>
      <p:sp>
        <p:nvSpPr>
          <p:cNvPr id="100" name="Text 95"/>
          <p:cNvSpPr/>
          <p:nvPr/>
        </p:nvSpPr>
        <p:spPr>
          <a:xfrm>
            <a:off x="384048" y="89611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Bruno Iervolino</a:t>
            </a:r>
            <a:endParaRPr lang="en-US" sz="700" dirty="0"/>
          </a:p>
        </p:txBody>
      </p:sp>
      <p:sp>
        <p:nvSpPr>
          <p:cNvPr id="101" name="Text 96"/>
          <p:cNvSpPr/>
          <p:nvPr/>
        </p:nvSpPr>
        <p:spPr>
          <a:xfrm>
            <a:off x="384048" y="911656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Bruno.iervolino@igcp.com.br</a:t>
            </a:r>
            <a:endParaRPr lang="en-US" sz="630" dirty="0"/>
          </a:p>
        </p:txBody>
      </p:sp>
      <p:sp>
        <p:nvSpPr>
          <p:cNvPr id="102" name="Text 97"/>
          <p:cNvSpPr/>
          <p:nvPr/>
        </p:nvSpPr>
        <p:spPr>
          <a:xfrm>
            <a:off x="2414016" y="89611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Luca Francini</a:t>
            </a:r>
            <a:endParaRPr lang="en-US" sz="700" dirty="0"/>
          </a:p>
        </p:txBody>
      </p:sp>
      <p:sp>
        <p:nvSpPr>
          <p:cNvPr id="103" name="Text 98"/>
          <p:cNvSpPr/>
          <p:nvPr/>
        </p:nvSpPr>
        <p:spPr>
          <a:xfrm>
            <a:off x="2414016" y="911656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Luca.francini@igcp.com.br</a:t>
            </a:r>
            <a:endParaRPr lang="en-US" sz="630" dirty="0"/>
          </a:p>
        </p:txBody>
      </p:sp>
      <p:sp>
        <p:nvSpPr>
          <p:cNvPr id="104" name="Text 99"/>
          <p:cNvSpPr/>
          <p:nvPr/>
        </p:nvSpPr>
        <p:spPr>
          <a:xfrm>
            <a:off x="4443984" y="89611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A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Pedro Grando</a:t>
            </a:r>
            <a:endParaRPr lang="en-US" sz="700" dirty="0"/>
          </a:p>
        </p:txBody>
      </p:sp>
      <p:sp>
        <p:nvSpPr>
          <p:cNvPr id="105" name="Text 100"/>
          <p:cNvSpPr/>
          <p:nvPr/>
        </p:nvSpPr>
        <p:spPr>
          <a:xfrm>
            <a:off x="4443984" y="911656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Pedro.grando@igcp.com.br</a:t>
            </a:r>
            <a:endParaRPr lang="en-US" sz="630" dirty="0"/>
          </a:p>
        </p:txBody>
      </p:sp>
      <p:pic>
        <p:nvPicPr>
          <p:cNvPr id="106" name="Image 3" descr="assets/anav/panorama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0" y="9308592"/>
            <a:ext cx="6858000" cy="128016"/>
          </a:xfrm>
          <a:prstGeom prst="rect">
            <a:avLst/>
          </a:prstGeom>
        </p:spPr>
      </p:pic>
      <p:sp>
        <p:nvSpPr>
          <p:cNvPr id="107" name="Text 101"/>
          <p:cNvSpPr/>
          <p:nvPr/>
        </p:nvSpPr>
        <p:spPr>
          <a:xfrm>
            <a:off x="384048" y="9473184"/>
            <a:ext cx="6089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52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Fontes: Information Memorandum Project Amazon (páginas 9–17), Companhia, B Corp, Vogue.  (1) Parque Nacional de Anavilhanas — área protegida pública no entorno do lote, com mais de 3,5 bilhões de m² de floresta preservada; não integra a propriedade.  Área do lote principal a confirmar com a Companhia.</a:t>
            </a:r>
            <a:endParaRPr lang="en-US" sz="520" dirty="0"/>
          </a:p>
        </p:txBody>
      </p:sp>
      <p:sp>
        <p:nvSpPr>
          <p:cNvPr id="108" name="Text 102"/>
          <p:cNvSpPr/>
          <p:nvPr/>
        </p:nvSpPr>
        <p:spPr>
          <a:xfrm>
            <a:off x="384048" y="9674352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0000"/>
              </a:lnSpc>
              <a:buNone/>
            </a:pPr>
            <a:r>
              <a:rPr lang="en-US" sz="49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Disclaimer: material preparado com base em informações fornecidas pela Companhia ou obtidas pela IGC por fontes legais e pesquisas independentes. Nenhuma responsabilidade é atribuída à IGC quanto à exatidão ou completude das informações, nem garantia quanto a projeções futuras. Este material pertence à IGC e não deve ser reproduzido ou divulgado a terceiros sem consentimento prévio.</a:t>
            </a:r>
            <a:endParaRPr lang="en-US" sz="4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Amazon — Anavilhanas Jungle Lodge</dc:title>
  <dc:subject>PptxGenJS Presentation</dc:subject>
  <dc:creator>IGC Partners</dc:creator>
  <cp:lastModifiedBy>IGC Partners</cp:lastModifiedBy>
  <cp:revision>1</cp:revision>
  <dcterms:created xsi:type="dcterms:W3CDTF">2026-08-17T23:22:04Z</dcterms:created>
  <dcterms:modified xsi:type="dcterms:W3CDTF">2026-08-17T23:22:04Z</dcterms:modified>
</cp:coreProperties>
</file>
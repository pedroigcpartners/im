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905970"/>
  <p:notesSz cx="990597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igc_navy.png">    </p:cNvPr>
          <p:cNvPicPr>
            <a:picLocks noChangeAspect="1"/>
          </p:cNvPicPr>
          <p:nvPr/>
        </p:nvPicPr>
        <p:blipFill>
          <a:blip r:embed="rId1"/>
          <a:stretch>
            <a:fillRect/>
          </a:stretch>
        </p:blipFill>
        <p:spPr>
          <a:xfrm>
            <a:off x="360274" y="360274"/>
            <a:ext cx="364846" cy="315468"/>
          </a:xfrm>
          <a:prstGeom prst="rect">
            <a:avLst/>
          </a:prstGeom>
        </p:spPr>
      </p:pic>
      <p:sp>
        <p:nvSpPr>
          <p:cNvPr id="3" name="Shape 0"/>
          <p:cNvSpPr/>
          <p:nvPr/>
        </p:nvSpPr>
        <p:spPr>
          <a:xfrm>
            <a:off x="360274" y="739750"/>
            <a:ext cx="5950915" cy="0"/>
          </a:xfrm>
          <a:prstGeom prst="line">
            <a:avLst/>
          </a:prstGeom>
          <a:noFill/>
          <a:ln w="15875">
            <a:solidFill>
              <a:srgbClr val="FDBA12"/>
            </a:solidFill>
            <a:prstDash val="solid"/>
          </a:ln>
        </p:spPr>
      </p:sp>
      <p:sp>
        <p:nvSpPr>
          <p:cNvPr id="4" name="Text 1"/>
          <p:cNvSpPr/>
          <p:nvPr/>
        </p:nvSpPr>
        <p:spPr>
          <a:xfrm>
            <a:off x="360274" y="827532"/>
            <a:ext cx="5954573" cy="288036"/>
          </a:xfrm>
          <a:prstGeom prst="rect">
            <a:avLst/>
          </a:prstGeom>
          <a:noFill/>
          <a:ln/>
        </p:spPr>
        <p:txBody>
          <a:bodyPr wrap="square" lIns="0" tIns="0" rIns="0" bIns="0" rtlCol="0" anchor="t"/>
          <a:lstStyle/>
          <a:p>
            <a:pPr indent="0" marL="0">
              <a:lnSpc>
                <a:spcPct val="110000"/>
              </a:lnSpc>
              <a:buNone/>
            </a:pPr>
            <a:r>
              <a:rPr lang="en-US" sz="2400" b="1" dirty="0">
                <a:solidFill>
                  <a:srgbClr val="1B1B1B"/>
                </a:solidFill>
                <a:latin typeface="Poppins" pitchFamily="34" charset="0"/>
                <a:ea typeface="Poppins" pitchFamily="34" charset="-122"/>
                <a:cs typeface="Poppins" pitchFamily="34" charset="-120"/>
              </a:rPr>
              <a:t>Project Yellow</a:t>
            </a:r>
            <a:endParaRPr lang="en-US" sz="2400" dirty="0"/>
          </a:p>
        </p:txBody>
      </p:sp>
      <p:sp>
        <p:nvSpPr>
          <p:cNvPr id="5" name="Text 2"/>
          <p:cNvSpPr/>
          <p:nvPr/>
        </p:nvSpPr>
        <p:spPr>
          <a:xfrm>
            <a:off x="360274"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FDBA12"/>
                </a:solidFill>
                <a:latin typeface="Poppins" pitchFamily="34" charset="0"/>
                <a:ea typeface="Poppins" pitchFamily="34" charset="-122"/>
                <a:cs typeface="Poppins" pitchFamily="34" charset="-120"/>
              </a:rPr>
              <a:t>01.</a:t>
            </a:r>
            <a:endParaRPr lang="en-US" sz="2800" dirty="0"/>
          </a:p>
        </p:txBody>
      </p:sp>
      <p:sp>
        <p:nvSpPr>
          <p:cNvPr id="6" name="Text 3"/>
          <p:cNvSpPr/>
          <p:nvPr/>
        </p:nvSpPr>
        <p:spPr>
          <a:xfrm>
            <a:off x="360274"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1B1B1B"/>
                </a:solidFill>
                <a:latin typeface="Poppins" pitchFamily="34" charset="0"/>
                <a:ea typeface="Poppins" pitchFamily="34" charset="-122"/>
                <a:cs typeface="Poppins" pitchFamily="34" charset="-120"/>
              </a:rPr>
              <a:t>Nationwide multi-brand distribution</a:t>
            </a:r>
            <a:endParaRPr lang="en-US" sz="1000" dirty="0"/>
          </a:p>
          <a:p>
            <a:pPr algn="l" indent="0" marL="0">
              <a:lnSpc>
                <a:spcPct val="110000"/>
              </a:lnSpc>
              <a:buNone/>
            </a:pPr>
            <a:r>
              <a:rPr lang="en-US" sz="1000" dirty="0">
                <a:solidFill>
                  <a:srgbClr val="1B1B1B"/>
                </a:solidFill>
                <a:latin typeface="Poppins" pitchFamily="34" charset="0"/>
                <a:ea typeface="Poppins" pitchFamily="34" charset="-122"/>
                <a:cs typeface="Poppins" pitchFamily="34" charset="-120"/>
              </a:rPr>
              <a:t>#2 heavy-equipment dealer in Brazil across all brands, serving eight sectors from mining to agriculture</a:t>
            </a:r>
            <a:endParaRPr lang="en-US" sz="1000" dirty="0"/>
          </a:p>
        </p:txBody>
      </p:sp>
      <p:sp>
        <p:nvSpPr>
          <p:cNvPr id="7" name="Text 4"/>
          <p:cNvSpPr/>
          <p:nvPr/>
        </p:nvSpPr>
        <p:spPr>
          <a:xfrm>
            <a:off x="2434133"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FDBA12"/>
                </a:solidFill>
                <a:latin typeface="Poppins" pitchFamily="34" charset="0"/>
                <a:ea typeface="Poppins" pitchFamily="34" charset="-122"/>
                <a:cs typeface="Poppins" pitchFamily="34" charset="-120"/>
              </a:rPr>
              <a:t>02.</a:t>
            </a:r>
            <a:endParaRPr lang="en-US" sz="2800" dirty="0"/>
          </a:p>
        </p:txBody>
      </p:sp>
      <p:sp>
        <p:nvSpPr>
          <p:cNvPr id="8" name="Text 5"/>
          <p:cNvSpPr/>
          <p:nvPr/>
        </p:nvSpPr>
        <p:spPr>
          <a:xfrm>
            <a:off x="2434133"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1B1B1B"/>
                </a:solidFill>
                <a:latin typeface="Poppins" pitchFamily="34" charset="0"/>
                <a:ea typeface="Poppins" pitchFamily="34" charset="-122"/>
                <a:cs typeface="Poppins" pitchFamily="34" charset="-120"/>
              </a:rPr>
              <a:t>Aftermarket-led service platform</a:t>
            </a:r>
            <a:endParaRPr lang="en-US" sz="1000" dirty="0"/>
          </a:p>
          <a:p>
            <a:pPr algn="l" indent="0" marL="0">
              <a:lnSpc>
                <a:spcPct val="110000"/>
              </a:lnSpc>
              <a:buNone/>
            </a:pPr>
            <a:r>
              <a:rPr lang="en-US" sz="1000" dirty="0">
                <a:solidFill>
                  <a:srgbClr val="1B1B1B"/>
                </a:solidFill>
                <a:latin typeface="Poppins" pitchFamily="34" charset="0"/>
                <a:ea typeface="Poppins" pitchFamily="34" charset="-122"/>
                <a:cs typeface="Poppins" pitchFamily="34" charset="-120"/>
              </a:rPr>
              <a:t>Two thirds of the workforce in after-sales, an ~85% absorption rate and +100k SKUs in parts e-commerce</a:t>
            </a:r>
            <a:endParaRPr lang="en-US" sz="1000" dirty="0"/>
          </a:p>
        </p:txBody>
      </p:sp>
      <p:sp>
        <p:nvSpPr>
          <p:cNvPr id="9" name="Text 6"/>
          <p:cNvSpPr/>
          <p:nvPr/>
        </p:nvSpPr>
        <p:spPr>
          <a:xfrm>
            <a:off x="4508906"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FDBA12"/>
                </a:solidFill>
                <a:latin typeface="Poppins" pitchFamily="34" charset="0"/>
                <a:ea typeface="Poppins" pitchFamily="34" charset="-122"/>
                <a:cs typeface="Poppins" pitchFamily="34" charset="-120"/>
              </a:rPr>
              <a:t>03.</a:t>
            </a:r>
            <a:endParaRPr lang="en-US" sz="2800" dirty="0"/>
          </a:p>
        </p:txBody>
      </p:sp>
      <p:sp>
        <p:nvSpPr>
          <p:cNvPr id="10" name="Text 7"/>
          <p:cNvSpPr/>
          <p:nvPr/>
        </p:nvSpPr>
        <p:spPr>
          <a:xfrm>
            <a:off x="4508906" y="1644091"/>
            <a:ext cx="1920240"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1B1B1B"/>
                </a:solidFill>
                <a:latin typeface="Poppins" pitchFamily="34" charset="0"/>
                <a:ea typeface="Poppins" pitchFamily="34" charset="-122"/>
                <a:cs typeface="Poppins" pitchFamily="34" charset="-120"/>
              </a:rPr>
              <a:t>Digital and connected operations</a:t>
            </a:r>
            <a:endParaRPr lang="en-US" sz="1000" dirty="0"/>
          </a:p>
          <a:p>
            <a:pPr algn="l" indent="0" marL="0">
              <a:lnSpc>
                <a:spcPct val="110000"/>
              </a:lnSpc>
              <a:buNone/>
            </a:pPr>
            <a:r>
              <a:rPr lang="en-US" sz="1000" dirty="0">
                <a:solidFill>
                  <a:srgbClr val="1B1B1B"/>
                </a:solidFill>
                <a:latin typeface="Poppins" pitchFamily="34" charset="0"/>
                <a:ea typeface="Poppins" pitchFamily="34" charset="-122"/>
                <a:cs typeface="Poppins" pitchFamily="34" charset="-120"/>
              </a:rPr>
              <a:t>Fleet telemetry and 24/7 autonomous stores converting an installed base of +8.6k units into recurring demand</a:t>
            </a:r>
            <a:endParaRPr lang="en-US" sz="1000" dirty="0"/>
          </a:p>
        </p:txBody>
      </p:sp>
      <p:sp>
        <p:nvSpPr>
          <p:cNvPr id="11" name="Shape 8"/>
          <p:cNvSpPr/>
          <p:nvPr/>
        </p:nvSpPr>
        <p:spPr>
          <a:xfrm>
            <a:off x="2279599" y="1277417"/>
            <a:ext cx="0" cy="1610258"/>
          </a:xfrm>
          <a:prstGeom prst="line">
            <a:avLst/>
          </a:prstGeom>
          <a:noFill/>
          <a:ln w="9525">
            <a:solidFill>
              <a:srgbClr val="1B1B1B"/>
            </a:solidFill>
            <a:prstDash val="solid"/>
          </a:ln>
        </p:spPr>
      </p:sp>
      <p:sp>
        <p:nvSpPr>
          <p:cNvPr id="12" name="Shape 9"/>
          <p:cNvSpPr/>
          <p:nvPr/>
        </p:nvSpPr>
        <p:spPr>
          <a:xfrm>
            <a:off x="4308653" y="1277417"/>
            <a:ext cx="0" cy="1610258"/>
          </a:xfrm>
          <a:prstGeom prst="line">
            <a:avLst/>
          </a:prstGeom>
          <a:noFill/>
          <a:ln w="9525">
            <a:solidFill>
              <a:srgbClr val="1B1B1B"/>
            </a:solidFill>
            <a:prstDash val="solid"/>
          </a:ln>
        </p:spPr>
      </p:sp>
      <p:sp>
        <p:nvSpPr>
          <p:cNvPr id="13" name="Shape 10"/>
          <p:cNvSpPr/>
          <p:nvPr/>
        </p:nvSpPr>
        <p:spPr>
          <a:xfrm>
            <a:off x="0" y="3087654"/>
            <a:ext cx="6858000" cy="709026"/>
          </a:xfrm>
          <a:prstGeom prst="rect">
            <a:avLst/>
          </a:prstGeom>
          <a:solidFill>
            <a:srgbClr val="1B1B1B"/>
          </a:solidFill>
          <a:ln/>
        </p:spPr>
      </p:sp>
      <p:sp>
        <p:nvSpPr>
          <p:cNvPr id="14" name="Text 11"/>
          <p:cNvSpPr/>
          <p:nvPr/>
        </p:nvSpPr>
        <p:spPr>
          <a:xfrm>
            <a:off x="182880" y="3087654"/>
            <a:ext cx="6492240" cy="709026"/>
          </a:xfrm>
          <a:prstGeom prst="rect">
            <a:avLst/>
          </a:prstGeom>
          <a:noFill/>
          <a:ln/>
        </p:spPr>
        <p:txBody>
          <a:bodyPr wrap="square" lIns="0" tIns="0" rIns="0" bIns="0" rtlCol="0" anchor="ctr"/>
          <a:lstStyle/>
          <a:p>
            <a:pPr algn="ctr" indent="0" marL="0">
              <a:lnSpc>
                <a:spcPct val="110000"/>
              </a:lnSpc>
              <a:buNone/>
            </a:pPr>
            <a:r>
              <a:rPr lang="en-US" sz="1200" dirty="0">
                <a:solidFill>
                  <a:srgbClr val="FFFFFF"/>
                </a:solidFill>
                <a:latin typeface="Poppins" pitchFamily="34" charset="0"/>
                <a:ea typeface="Poppins" pitchFamily="34" charset="-122"/>
                <a:cs typeface="Poppins" pitchFamily="34" charset="-120"/>
              </a:rPr>
              <a:t>The Company is one of Brazil’s largest equipment distributors,</a:t>
            </a:r>
            <a:endParaRPr lang="en-US" sz="1200" dirty="0"/>
          </a:p>
          <a:p>
            <a:pPr algn="ctr" indent="0" marL="0">
              <a:lnSpc>
                <a:spcPct val="110000"/>
              </a:lnSpc>
              <a:buNone/>
            </a:pPr>
            <a:r>
              <a:rPr lang="en-US" sz="1200" dirty="0">
                <a:solidFill>
                  <a:srgbClr val="FDBA12"/>
                </a:solidFill>
                <a:latin typeface="Poppins" pitchFamily="34" charset="0"/>
                <a:ea typeface="Poppins" pitchFamily="34" charset="-122"/>
                <a:cs typeface="Poppins" pitchFamily="34" charset="-120"/>
              </a:rPr>
              <a:t>combining nationwide reach with an aftermarket-led, digital operation</a:t>
            </a:r>
            <a:endParaRPr lang="en-US" sz="1200" dirty="0"/>
          </a:p>
        </p:txBody>
      </p:sp>
      <p:sp>
        <p:nvSpPr>
          <p:cNvPr id="15" name="Text 12"/>
          <p:cNvSpPr/>
          <p:nvPr/>
        </p:nvSpPr>
        <p:spPr>
          <a:xfrm>
            <a:off x="360274" y="3831336"/>
            <a:ext cx="1965960" cy="320040"/>
          </a:xfrm>
          <a:prstGeom prst="rect">
            <a:avLst/>
          </a:prstGeom>
          <a:noFill/>
          <a:ln/>
        </p:spPr>
        <p:txBody>
          <a:bodyPr wrap="square" lIns="0" tIns="0" rIns="0" bIns="0" rtlCol="0" anchor="t"/>
          <a:lstStyle/>
          <a:p>
            <a:pPr indent="0" marL="0">
              <a:buNone/>
            </a:pPr>
            <a:r>
              <a:rPr lang="en-US" sz="1400" b="1" dirty="0">
                <a:solidFill>
                  <a:srgbClr val="1B1B1B"/>
                </a:solidFill>
                <a:latin typeface="Poppins" pitchFamily="34" charset="0"/>
                <a:ea typeface="Poppins" pitchFamily="34" charset="-122"/>
                <a:cs typeface="Poppins" pitchFamily="34" charset="-120"/>
              </a:rPr>
              <a:t>Business Overview</a:t>
            </a:r>
            <a:endParaRPr lang="en-US" sz="1400" dirty="0"/>
          </a:p>
        </p:txBody>
      </p:sp>
      <p:sp>
        <p:nvSpPr>
          <p:cNvPr id="16" name="Text 13"/>
          <p:cNvSpPr/>
          <p:nvPr/>
        </p:nvSpPr>
        <p:spPr>
          <a:xfrm>
            <a:off x="360274" y="4114800"/>
            <a:ext cx="1920240" cy="1481328"/>
          </a:xfrm>
          <a:prstGeom prst="rect">
            <a:avLst/>
          </a:prstGeom>
          <a:noFill/>
          <a:ln/>
        </p:spPr>
        <p:txBody>
          <a:bodyPr wrap="square" lIns="0" tIns="0" rIns="0" bIns="0" rtlCol="0" anchor="t"/>
          <a:lstStyle/>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Multi-brand distributor of construction, mining, forestry and agricultural equipment, operating across Brazil for 59 years on an aftermarket-led model built on parts e‑commerce, fleet telemetry and 24/7 autonomous stores</a:t>
            </a:r>
            <a:endParaRPr lang="en-US" sz="1000" dirty="0"/>
          </a:p>
        </p:txBody>
      </p:sp>
      <p:sp>
        <p:nvSpPr>
          <p:cNvPr id="17" name="Text 14"/>
          <p:cNvSpPr/>
          <p:nvPr/>
        </p:nvSpPr>
        <p:spPr>
          <a:xfrm>
            <a:off x="2359152" y="3831336"/>
            <a:ext cx="2103120" cy="320040"/>
          </a:xfrm>
          <a:prstGeom prst="rect">
            <a:avLst/>
          </a:prstGeom>
          <a:noFill/>
          <a:ln/>
        </p:spPr>
        <p:txBody>
          <a:bodyPr wrap="square" lIns="0" tIns="0" rIns="0" bIns="0" rtlCol="0" anchor="t"/>
          <a:lstStyle/>
          <a:p>
            <a:pPr indent="0" marL="0">
              <a:buNone/>
            </a:pPr>
            <a:r>
              <a:rPr lang="en-US" sz="1400" b="1" dirty="0">
                <a:solidFill>
                  <a:srgbClr val="1B1B1B"/>
                </a:solidFill>
                <a:latin typeface="Poppins" pitchFamily="34" charset="0"/>
                <a:ea typeface="Poppins" pitchFamily="34" charset="-122"/>
                <a:cs typeface="Poppins" pitchFamily="34" charset="-120"/>
              </a:rPr>
              <a:t>Geographic Index</a:t>
            </a:r>
            <a:endParaRPr lang="en-US" sz="1400" dirty="0"/>
          </a:p>
        </p:txBody>
      </p:sp>
      <p:pic>
        <p:nvPicPr>
          <p:cNvPr id="18" name="Image 1" descr="assets/green/map_regions_tracbel.png">    </p:cNvPr>
          <p:cNvPicPr>
            <a:picLocks noChangeAspect="1"/>
          </p:cNvPicPr>
          <p:nvPr/>
        </p:nvPicPr>
        <p:blipFill>
          <a:blip r:embed="rId2"/>
          <a:stretch>
            <a:fillRect/>
          </a:stretch>
        </p:blipFill>
        <p:spPr>
          <a:xfrm>
            <a:off x="3675888" y="4059936"/>
            <a:ext cx="1499616" cy="1498417"/>
          </a:xfrm>
          <a:prstGeom prst="rect">
            <a:avLst/>
          </a:prstGeom>
        </p:spPr>
      </p:pic>
      <p:sp>
        <p:nvSpPr>
          <p:cNvPr id="19" name="Shape 15"/>
          <p:cNvSpPr/>
          <p:nvPr/>
        </p:nvSpPr>
        <p:spPr>
          <a:xfrm>
            <a:off x="2359152" y="4133088"/>
            <a:ext cx="1133856" cy="141732"/>
          </a:xfrm>
          <a:prstGeom prst="rect">
            <a:avLst/>
          </a:prstGeom>
          <a:solidFill>
            <a:srgbClr val="A5A5A5"/>
          </a:solidFill>
          <a:ln/>
        </p:spPr>
      </p:sp>
      <p:sp>
        <p:nvSpPr>
          <p:cNvPr id="20" name="Text 16"/>
          <p:cNvSpPr/>
          <p:nvPr/>
        </p:nvSpPr>
        <p:spPr>
          <a:xfrm>
            <a:off x="2359152" y="4133088"/>
            <a:ext cx="1133856" cy="141732"/>
          </a:xfrm>
          <a:prstGeom prst="rect">
            <a:avLst/>
          </a:prstGeom>
          <a:noFill/>
          <a:ln/>
        </p:spPr>
        <p:txBody>
          <a:bodyPr wrap="square" lIns="0" tIns="0" rIns="0" bIns="0" rtlCol="0" anchor="ctr"/>
          <a:lstStyle/>
          <a:p>
            <a:pPr algn="ctr" indent="0" marL="0">
              <a:buNone/>
            </a:pPr>
            <a:r>
              <a:rPr lang="en-US" sz="600" b="1" dirty="0">
                <a:solidFill>
                  <a:srgbClr val="1B1B1B"/>
                </a:solidFill>
                <a:latin typeface="Poppins" pitchFamily="34" charset="0"/>
                <a:ea typeface="Poppins" pitchFamily="34" charset="-122"/>
                <a:cs typeface="Poppins" pitchFamily="34" charset="-120"/>
              </a:rPr>
              <a:t>North and Middle West</a:t>
            </a:r>
            <a:endParaRPr lang="en-US" sz="600" dirty="0"/>
          </a:p>
        </p:txBody>
      </p:sp>
      <p:sp>
        <p:nvSpPr>
          <p:cNvPr id="21" name="Text 17"/>
          <p:cNvSpPr/>
          <p:nvPr/>
        </p:nvSpPr>
        <p:spPr>
          <a:xfrm>
            <a:off x="2404872" y="4311396"/>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Construction</a:t>
            </a:r>
            <a:endParaRPr lang="en-US" sz="600" dirty="0"/>
          </a:p>
        </p:txBody>
      </p:sp>
      <p:sp>
        <p:nvSpPr>
          <p:cNvPr id="22" name="Text 18"/>
          <p:cNvSpPr/>
          <p:nvPr/>
        </p:nvSpPr>
        <p:spPr>
          <a:xfrm>
            <a:off x="2404872" y="4407408"/>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Agriculture</a:t>
            </a:r>
            <a:endParaRPr lang="en-US" sz="600" dirty="0"/>
          </a:p>
        </p:txBody>
      </p:sp>
      <p:sp>
        <p:nvSpPr>
          <p:cNvPr id="23" name="Text 19"/>
          <p:cNvSpPr/>
          <p:nvPr/>
        </p:nvSpPr>
        <p:spPr>
          <a:xfrm>
            <a:off x="2404872" y="4503420"/>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Logistics</a:t>
            </a:r>
            <a:endParaRPr lang="en-US" sz="600" dirty="0"/>
          </a:p>
        </p:txBody>
      </p:sp>
      <p:sp>
        <p:nvSpPr>
          <p:cNvPr id="24" name="Text 20"/>
          <p:cNvSpPr/>
          <p:nvPr/>
        </p:nvSpPr>
        <p:spPr>
          <a:xfrm>
            <a:off x="2404872" y="4599432"/>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Infrastructure</a:t>
            </a:r>
            <a:endParaRPr lang="en-US" sz="600" dirty="0"/>
          </a:p>
        </p:txBody>
      </p:sp>
      <p:sp>
        <p:nvSpPr>
          <p:cNvPr id="25" name="Shape 21"/>
          <p:cNvSpPr/>
          <p:nvPr/>
        </p:nvSpPr>
        <p:spPr>
          <a:xfrm>
            <a:off x="5358384" y="4133088"/>
            <a:ext cx="1133856" cy="141732"/>
          </a:xfrm>
          <a:prstGeom prst="rect">
            <a:avLst/>
          </a:prstGeom>
          <a:solidFill>
            <a:srgbClr val="7F7F7F"/>
          </a:solidFill>
          <a:ln/>
        </p:spPr>
      </p:sp>
      <p:sp>
        <p:nvSpPr>
          <p:cNvPr id="26" name="Text 22"/>
          <p:cNvSpPr/>
          <p:nvPr/>
        </p:nvSpPr>
        <p:spPr>
          <a:xfrm>
            <a:off x="5358384" y="4133088"/>
            <a:ext cx="1133856" cy="141732"/>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Northeast</a:t>
            </a:r>
            <a:endParaRPr lang="en-US" sz="600" dirty="0"/>
          </a:p>
        </p:txBody>
      </p:sp>
      <p:sp>
        <p:nvSpPr>
          <p:cNvPr id="27" name="Text 23"/>
          <p:cNvSpPr/>
          <p:nvPr/>
        </p:nvSpPr>
        <p:spPr>
          <a:xfrm>
            <a:off x="5404104" y="4311396"/>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Forest</a:t>
            </a:r>
            <a:endParaRPr lang="en-US" sz="600" dirty="0"/>
          </a:p>
        </p:txBody>
      </p:sp>
      <p:sp>
        <p:nvSpPr>
          <p:cNvPr id="28" name="Text 24"/>
          <p:cNvSpPr/>
          <p:nvPr/>
        </p:nvSpPr>
        <p:spPr>
          <a:xfrm>
            <a:off x="5404104" y="4407408"/>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Agriculture</a:t>
            </a:r>
            <a:endParaRPr lang="en-US" sz="600" dirty="0"/>
          </a:p>
        </p:txBody>
      </p:sp>
      <p:sp>
        <p:nvSpPr>
          <p:cNvPr id="29" name="Text 25"/>
          <p:cNvSpPr/>
          <p:nvPr/>
        </p:nvSpPr>
        <p:spPr>
          <a:xfrm>
            <a:off x="5404104" y="4503420"/>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Construction</a:t>
            </a:r>
            <a:endParaRPr lang="en-US" sz="600" dirty="0"/>
          </a:p>
        </p:txBody>
      </p:sp>
      <p:sp>
        <p:nvSpPr>
          <p:cNvPr id="30" name="Shape 26"/>
          <p:cNvSpPr/>
          <p:nvPr/>
        </p:nvSpPr>
        <p:spPr>
          <a:xfrm>
            <a:off x="2359152" y="4882896"/>
            <a:ext cx="1133856" cy="141732"/>
          </a:xfrm>
          <a:prstGeom prst="rect">
            <a:avLst/>
          </a:prstGeom>
          <a:solidFill>
            <a:srgbClr val="EC6606"/>
          </a:solidFill>
          <a:ln/>
        </p:spPr>
      </p:sp>
      <p:sp>
        <p:nvSpPr>
          <p:cNvPr id="31" name="Text 27"/>
          <p:cNvSpPr/>
          <p:nvPr/>
        </p:nvSpPr>
        <p:spPr>
          <a:xfrm>
            <a:off x="2359152" y="4882896"/>
            <a:ext cx="1133856" cy="141732"/>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South</a:t>
            </a:r>
            <a:endParaRPr lang="en-US" sz="600" dirty="0"/>
          </a:p>
        </p:txBody>
      </p:sp>
      <p:sp>
        <p:nvSpPr>
          <p:cNvPr id="32" name="Text 28"/>
          <p:cNvSpPr/>
          <p:nvPr/>
        </p:nvSpPr>
        <p:spPr>
          <a:xfrm>
            <a:off x="2404872" y="5061204"/>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Agriculture</a:t>
            </a:r>
            <a:endParaRPr lang="en-US" sz="600" dirty="0"/>
          </a:p>
        </p:txBody>
      </p:sp>
      <p:sp>
        <p:nvSpPr>
          <p:cNvPr id="33" name="Text 29"/>
          <p:cNvSpPr/>
          <p:nvPr/>
        </p:nvSpPr>
        <p:spPr>
          <a:xfrm>
            <a:off x="2404872" y="5157216"/>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Industry</a:t>
            </a:r>
            <a:endParaRPr lang="en-US" sz="600" dirty="0"/>
          </a:p>
        </p:txBody>
      </p:sp>
      <p:sp>
        <p:nvSpPr>
          <p:cNvPr id="34" name="Text 30"/>
          <p:cNvSpPr/>
          <p:nvPr/>
        </p:nvSpPr>
        <p:spPr>
          <a:xfrm>
            <a:off x="2404872" y="5253228"/>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Forest</a:t>
            </a:r>
            <a:endParaRPr lang="en-US" sz="600" dirty="0"/>
          </a:p>
        </p:txBody>
      </p:sp>
      <p:sp>
        <p:nvSpPr>
          <p:cNvPr id="35" name="Text 31"/>
          <p:cNvSpPr/>
          <p:nvPr/>
        </p:nvSpPr>
        <p:spPr>
          <a:xfrm>
            <a:off x="2404872" y="5349240"/>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Construction</a:t>
            </a:r>
            <a:endParaRPr lang="en-US" sz="600" dirty="0"/>
          </a:p>
        </p:txBody>
      </p:sp>
      <p:sp>
        <p:nvSpPr>
          <p:cNvPr id="36" name="Shape 32"/>
          <p:cNvSpPr/>
          <p:nvPr/>
        </p:nvSpPr>
        <p:spPr>
          <a:xfrm>
            <a:off x="5358384" y="4882896"/>
            <a:ext cx="1133856" cy="141732"/>
          </a:xfrm>
          <a:prstGeom prst="rect">
            <a:avLst/>
          </a:prstGeom>
          <a:solidFill>
            <a:srgbClr val="FDBA12"/>
          </a:solidFill>
          <a:ln/>
        </p:spPr>
      </p:sp>
      <p:sp>
        <p:nvSpPr>
          <p:cNvPr id="37" name="Text 33"/>
          <p:cNvSpPr/>
          <p:nvPr/>
        </p:nvSpPr>
        <p:spPr>
          <a:xfrm>
            <a:off x="5358384" y="4882896"/>
            <a:ext cx="1133856" cy="141732"/>
          </a:xfrm>
          <a:prstGeom prst="rect">
            <a:avLst/>
          </a:prstGeom>
          <a:noFill/>
          <a:ln/>
        </p:spPr>
        <p:txBody>
          <a:bodyPr wrap="square" lIns="0" tIns="0" rIns="0" bIns="0" rtlCol="0" anchor="ctr"/>
          <a:lstStyle/>
          <a:p>
            <a:pPr algn="ctr" indent="0" marL="0">
              <a:buNone/>
            </a:pPr>
            <a:r>
              <a:rPr lang="en-US" sz="600" b="1" dirty="0">
                <a:solidFill>
                  <a:srgbClr val="1B1B1B"/>
                </a:solidFill>
                <a:latin typeface="Poppins" pitchFamily="34" charset="0"/>
                <a:ea typeface="Poppins" pitchFamily="34" charset="-122"/>
                <a:cs typeface="Poppins" pitchFamily="34" charset="-120"/>
              </a:rPr>
              <a:t>Southeast</a:t>
            </a:r>
            <a:endParaRPr lang="en-US" sz="600" dirty="0"/>
          </a:p>
        </p:txBody>
      </p:sp>
      <p:sp>
        <p:nvSpPr>
          <p:cNvPr id="38" name="Text 34"/>
          <p:cNvSpPr/>
          <p:nvPr/>
        </p:nvSpPr>
        <p:spPr>
          <a:xfrm>
            <a:off x="5404104" y="5061204"/>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Forest and mining</a:t>
            </a:r>
            <a:endParaRPr lang="en-US" sz="600" dirty="0"/>
          </a:p>
        </p:txBody>
      </p:sp>
      <p:sp>
        <p:nvSpPr>
          <p:cNvPr id="39" name="Text 35"/>
          <p:cNvSpPr/>
          <p:nvPr/>
        </p:nvSpPr>
        <p:spPr>
          <a:xfrm>
            <a:off x="5404104" y="5157216"/>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Agriculture</a:t>
            </a:r>
            <a:endParaRPr lang="en-US" sz="600" dirty="0"/>
          </a:p>
        </p:txBody>
      </p:sp>
      <p:sp>
        <p:nvSpPr>
          <p:cNvPr id="40" name="Text 36"/>
          <p:cNvSpPr/>
          <p:nvPr/>
        </p:nvSpPr>
        <p:spPr>
          <a:xfrm>
            <a:off x="5404104" y="5253228"/>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Industry</a:t>
            </a:r>
            <a:endParaRPr lang="en-US" sz="600" dirty="0"/>
          </a:p>
        </p:txBody>
      </p:sp>
      <p:sp>
        <p:nvSpPr>
          <p:cNvPr id="41" name="Text 37"/>
          <p:cNvSpPr/>
          <p:nvPr/>
        </p:nvSpPr>
        <p:spPr>
          <a:xfrm>
            <a:off x="5404104" y="5349240"/>
            <a:ext cx="1088136" cy="96012"/>
          </a:xfrm>
          <a:prstGeom prst="rect">
            <a:avLst/>
          </a:prstGeom>
          <a:noFill/>
          <a:ln/>
        </p:spPr>
        <p:txBody>
          <a:bodyPr wrap="square" lIns="0" tIns="0" rIns="0" bIns="0" rtlCol="0" anchor="ctr"/>
          <a:lstStyle/>
          <a:p>
            <a:pPr indent="0" marL="0">
              <a:buNone/>
            </a:pPr>
            <a:r>
              <a:rPr lang="en-US" sz="600" dirty="0">
                <a:solidFill>
                  <a:srgbClr val="1B1B1B"/>
                </a:solidFill>
                <a:latin typeface="Poppins" pitchFamily="34" charset="0"/>
                <a:ea typeface="Poppins" pitchFamily="34" charset="-122"/>
                <a:cs typeface="Poppins" pitchFamily="34" charset="-120"/>
              </a:rPr>
              <a:t>Construction</a:t>
            </a:r>
            <a:endParaRPr lang="en-US" sz="600" dirty="0"/>
          </a:p>
        </p:txBody>
      </p:sp>
      <p:sp>
        <p:nvSpPr>
          <p:cNvPr id="42" name="Shape 38"/>
          <p:cNvSpPr/>
          <p:nvPr/>
        </p:nvSpPr>
        <p:spPr>
          <a:xfrm>
            <a:off x="3566160" y="5591556"/>
            <a:ext cx="68580" cy="68580"/>
          </a:xfrm>
          <a:prstGeom prst="rect">
            <a:avLst/>
          </a:prstGeom>
          <a:solidFill>
            <a:srgbClr val="FFFFFF"/>
          </a:solidFill>
          <a:ln w="12700">
            <a:solidFill>
              <a:srgbClr val="1B1B1B"/>
            </a:solidFill>
            <a:prstDash val="solid"/>
          </a:ln>
        </p:spPr>
      </p:sp>
      <p:sp>
        <p:nvSpPr>
          <p:cNvPr id="43" name="Text 39"/>
          <p:cNvSpPr/>
          <p:nvPr/>
        </p:nvSpPr>
        <p:spPr>
          <a:xfrm>
            <a:off x="3675888" y="5580583"/>
            <a:ext cx="1920240" cy="91440"/>
          </a:xfrm>
          <a:prstGeom prst="rect">
            <a:avLst/>
          </a:prstGeom>
          <a:noFill/>
          <a:ln/>
        </p:spPr>
        <p:txBody>
          <a:bodyPr wrap="square" lIns="0" tIns="0" rIns="0" bIns="0" rtlCol="0" anchor="ctr"/>
          <a:lstStyle/>
          <a:p>
            <a:pPr indent="0" marL="0">
              <a:buNone/>
            </a:pPr>
            <a:r>
              <a:rPr lang="en-US" sz="500" dirty="0">
                <a:solidFill>
                  <a:srgbClr val="1B1B1B"/>
                </a:solidFill>
                <a:latin typeface="Poppins" pitchFamily="34" charset="0"/>
                <a:ea typeface="Poppins" pitchFamily="34" charset="-122"/>
                <a:cs typeface="Poppins" pitchFamily="34" charset="-120"/>
              </a:rPr>
              <a:t>Shading by region · outline marks main operating states</a:t>
            </a:r>
            <a:endParaRPr lang="en-US" sz="500" dirty="0"/>
          </a:p>
        </p:txBody>
      </p:sp>
      <p:sp>
        <p:nvSpPr>
          <p:cNvPr id="44" name="Shape 40"/>
          <p:cNvSpPr/>
          <p:nvPr/>
        </p:nvSpPr>
        <p:spPr>
          <a:xfrm>
            <a:off x="0" y="5698541"/>
            <a:ext cx="6858000" cy="1523390"/>
          </a:xfrm>
          <a:prstGeom prst="rect">
            <a:avLst/>
          </a:prstGeom>
          <a:solidFill>
            <a:srgbClr val="F2F2F2"/>
          </a:solidFill>
          <a:ln/>
        </p:spPr>
      </p:sp>
      <p:sp>
        <p:nvSpPr>
          <p:cNvPr id="45" name="Text 41"/>
          <p:cNvSpPr/>
          <p:nvPr/>
        </p:nvSpPr>
        <p:spPr>
          <a:xfrm>
            <a:off x="360274" y="5741518"/>
            <a:ext cx="1933042" cy="198425"/>
          </a:xfrm>
          <a:prstGeom prst="rect">
            <a:avLst/>
          </a:prstGeom>
          <a:noFill/>
          <a:ln/>
        </p:spPr>
        <p:txBody>
          <a:bodyPr wrap="square" lIns="0" tIns="0" rIns="0" bIns="0" rtlCol="0" anchor="t"/>
          <a:lstStyle/>
          <a:p>
            <a:pPr indent="0" marL="0">
              <a:buNone/>
            </a:pPr>
            <a:r>
              <a:rPr lang="en-US" sz="1200" b="1" dirty="0">
                <a:solidFill>
                  <a:srgbClr val="EC6606"/>
                </a:solidFill>
                <a:latin typeface="Poppins" pitchFamily="34" charset="0"/>
                <a:ea typeface="Poppins" pitchFamily="34" charset="-122"/>
                <a:cs typeface="Poppins" pitchFamily="34" charset="-120"/>
              </a:rPr>
              <a:t>Key Highlights</a:t>
            </a:r>
            <a:endParaRPr lang="en-US" sz="1200" dirty="0"/>
          </a:p>
        </p:txBody>
      </p:sp>
      <p:sp>
        <p:nvSpPr>
          <p:cNvPr id="46" name="Text 42"/>
          <p:cNvSpPr/>
          <p:nvPr/>
        </p:nvSpPr>
        <p:spPr>
          <a:xfrm>
            <a:off x="410566"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BRL 2.6 Bn</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Net revenues 2025⁽¹⁾</a:t>
            </a:r>
            <a:endParaRPr lang="en-US" sz="2000" dirty="0"/>
          </a:p>
        </p:txBody>
      </p:sp>
      <p:sp>
        <p:nvSpPr>
          <p:cNvPr id="47" name="Text 43"/>
          <p:cNvSpPr/>
          <p:nvPr/>
        </p:nvSpPr>
        <p:spPr>
          <a:xfrm>
            <a:off x="2518258"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BRL 123 Mn</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EBITDA 2025⁽¹⁾</a:t>
            </a:r>
            <a:endParaRPr lang="en-US" sz="2000" dirty="0"/>
          </a:p>
        </p:txBody>
      </p:sp>
      <p:sp>
        <p:nvSpPr>
          <p:cNvPr id="48" name="Text 44"/>
          <p:cNvSpPr/>
          <p:nvPr/>
        </p:nvSpPr>
        <p:spPr>
          <a:xfrm>
            <a:off x="4626864"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#2</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Dealer in heavy equipment</a:t>
            </a:r>
            <a:endParaRPr lang="en-US" sz="2000" dirty="0"/>
          </a:p>
        </p:txBody>
      </p:sp>
      <p:sp>
        <p:nvSpPr>
          <p:cNvPr id="49" name="Text 45"/>
          <p:cNvSpPr/>
          <p:nvPr/>
        </p:nvSpPr>
        <p:spPr>
          <a:xfrm>
            <a:off x="410566"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36</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Locations⁽²⁾</a:t>
            </a:r>
            <a:endParaRPr lang="en-US" sz="2000" dirty="0"/>
          </a:p>
        </p:txBody>
      </p:sp>
      <p:sp>
        <p:nvSpPr>
          <p:cNvPr id="50" name="Text 46"/>
          <p:cNvSpPr/>
          <p:nvPr/>
        </p:nvSpPr>
        <p:spPr>
          <a:xfrm>
            <a:off x="2518258"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+1,000</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Employees⁽²⁾</a:t>
            </a:r>
            <a:endParaRPr lang="en-US" sz="2000" dirty="0"/>
          </a:p>
        </p:txBody>
      </p:sp>
      <p:sp>
        <p:nvSpPr>
          <p:cNvPr id="51" name="Text 47"/>
          <p:cNvSpPr/>
          <p:nvPr/>
        </p:nvSpPr>
        <p:spPr>
          <a:xfrm>
            <a:off x="4626864"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1B1B1B"/>
                </a:solidFill>
                <a:latin typeface="Poppins" pitchFamily="34" charset="0"/>
                <a:ea typeface="Poppins" pitchFamily="34" charset="-122"/>
                <a:cs typeface="Poppins" pitchFamily="34" charset="-120"/>
              </a:rPr>
              <a:t>8</a:t>
            </a:r>
            <a:endParaRPr lang="en-US" sz="2000" dirty="0"/>
          </a:p>
          <a:p>
            <a:pPr algn="l" indent="0" marL="0">
              <a:lnSpc>
                <a:spcPct val="110000"/>
              </a:lnSpc>
              <a:buNone/>
            </a:pPr>
            <a:r>
              <a:rPr lang="en-US" sz="1000" b="1" dirty="0">
                <a:solidFill>
                  <a:srgbClr val="1B1B1B"/>
                </a:solidFill>
                <a:latin typeface="Poppins" pitchFamily="34" charset="0"/>
                <a:ea typeface="Poppins" pitchFamily="34" charset="-122"/>
                <a:cs typeface="Poppins" pitchFamily="34" charset="-120"/>
              </a:rPr>
              <a:t>Sectors served</a:t>
            </a:r>
            <a:endParaRPr lang="en-US" sz="2000" dirty="0"/>
          </a:p>
        </p:txBody>
      </p:sp>
      <p:sp>
        <p:nvSpPr>
          <p:cNvPr id="52" name="Text 48"/>
          <p:cNvSpPr/>
          <p:nvPr/>
        </p:nvSpPr>
        <p:spPr>
          <a:xfrm>
            <a:off x="362102" y="7272223"/>
            <a:ext cx="5767121" cy="162763"/>
          </a:xfrm>
          <a:prstGeom prst="rect">
            <a:avLst/>
          </a:prstGeom>
          <a:noFill/>
          <a:ln/>
        </p:spPr>
        <p:txBody>
          <a:bodyPr wrap="square" lIns="0" tIns="0" rIns="0" bIns="0" rtlCol="0" anchor="t"/>
          <a:lstStyle/>
          <a:p>
            <a:pPr indent="0" marL="0">
              <a:buNone/>
            </a:pPr>
            <a:r>
              <a:rPr lang="en-US" sz="1000" u="sng" dirty="0">
                <a:solidFill>
                  <a:srgbClr val="1B1B1B"/>
                </a:solidFill>
                <a:latin typeface="Poppins" pitchFamily="34" charset="0"/>
                <a:ea typeface="Poppins" pitchFamily="34" charset="-122"/>
                <a:cs typeface="Poppins" pitchFamily="34" charset="-120"/>
              </a:rPr>
              <a:t>For any further questions please contact:</a:t>
            </a:r>
            <a:endParaRPr lang="en-US" sz="1000" dirty="0"/>
          </a:p>
        </p:txBody>
      </p:sp>
      <p:sp>
        <p:nvSpPr>
          <p:cNvPr id="53" name="Text 49"/>
          <p:cNvSpPr/>
          <p:nvPr/>
        </p:nvSpPr>
        <p:spPr>
          <a:xfrm>
            <a:off x="360274"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1B1B1B"/>
                </a:solidFill>
                <a:latin typeface="Poppins" pitchFamily="34" charset="0"/>
                <a:ea typeface="Poppins" pitchFamily="34" charset="-122"/>
                <a:cs typeface="Poppins" pitchFamily="34" charset="-120"/>
              </a:rPr>
              <a:t>Bruno Iervolino</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Bruno.iervolino@igcp.com.br</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+55 11 3815 3533</a:t>
            </a:r>
            <a:endParaRPr lang="en-US" sz="1000" dirty="0"/>
          </a:p>
        </p:txBody>
      </p:sp>
      <p:sp>
        <p:nvSpPr>
          <p:cNvPr id="54" name="Text 50"/>
          <p:cNvSpPr/>
          <p:nvPr/>
        </p:nvSpPr>
        <p:spPr>
          <a:xfrm>
            <a:off x="2399386"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1B1B1B"/>
                </a:solidFill>
                <a:latin typeface="Poppins" pitchFamily="34" charset="0"/>
                <a:ea typeface="Poppins" pitchFamily="34" charset="-122"/>
                <a:cs typeface="Poppins" pitchFamily="34" charset="-120"/>
              </a:rPr>
              <a:t>Gabriel Brito</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Gabriel.brito@igcp.com.br</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+55 11 3815 3533</a:t>
            </a:r>
            <a:endParaRPr lang="en-US" sz="1000" dirty="0"/>
          </a:p>
        </p:txBody>
      </p:sp>
      <p:sp>
        <p:nvSpPr>
          <p:cNvPr id="55" name="Text 51"/>
          <p:cNvSpPr/>
          <p:nvPr/>
        </p:nvSpPr>
        <p:spPr>
          <a:xfrm>
            <a:off x="4438498"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1B1B1B"/>
                </a:solidFill>
                <a:latin typeface="Poppins" pitchFamily="34" charset="0"/>
                <a:ea typeface="Poppins" pitchFamily="34" charset="-122"/>
                <a:cs typeface="Poppins" pitchFamily="34" charset="-120"/>
              </a:rPr>
              <a:t>Pedro Grando</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Pedro.grando@igcp.com.br</a:t>
            </a:r>
            <a:endParaRPr lang="en-US" sz="1000" dirty="0"/>
          </a:p>
          <a:p>
            <a:pPr indent="0" marL="0">
              <a:lnSpc>
                <a:spcPct val="110000"/>
              </a:lnSpc>
              <a:buNone/>
            </a:pPr>
            <a:r>
              <a:rPr lang="en-US" sz="1000" dirty="0">
                <a:solidFill>
                  <a:srgbClr val="1B1B1B"/>
                </a:solidFill>
                <a:latin typeface="Poppins" pitchFamily="34" charset="0"/>
                <a:ea typeface="Poppins" pitchFamily="34" charset="-122"/>
                <a:cs typeface="Poppins" pitchFamily="34" charset="-120"/>
              </a:rPr>
              <a:t>+55 11 3815 3533</a:t>
            </a:r>
            <a:endParaRPr lang="en-US" sz="1000" dirty="0"/>
          </a:p>
        </p:txBody>
      </p:sp>
      <p:pic>
        <p:nvPicPr>
          <p:cNvPr id="56" name="Image 2" descr="assets/green/hero_fleet.png">    </p:cNvPr>
          <p:cNvPicPr>
            <a:picLocks noChangeAspect="1"/>
          </p:cNvPicPr>
          <p:nvPr/>
        </p:nvPicPr>
        <p:blipFill>
          <a:blip r:embed="rId3"/>
          <a:srcRect l="0" r="0" t="0" b="0"/>
          <a:stretch/>
        </p:blipFill>
        <p:spPr>
          <a:xfrm>
            <a:off x="-274" y="8012613"/>
            <a:ext cx="6885889" cy="756209"/>
          </a:xfrm>
          <a:prstGeom prst="rect">
            <a:avLst/>
          </a:prstGeom>
        </p:spPr>
      </p:pic>
      <p:sp>
        <p:nvSpPr>
          <p:cNvPr id="57" name="Text 52"/>
          <p:cNvSpPr/>
          <p:nvPr/>
        </p:nvSpPr>
        <p:spPr>
          <a:xfrm>
            <a:off x="360274" y="8783726"/>
            <a:ext cx="5954573" cy="182880"/>
          </a:xfrm>
          <a:prstGeom prst="rect">
            <a:avLst/>
          </a:prstGeom>
          <a:noFill/>
          <a:ln/>
        </p:spPr>
        <p:txBody>
          <a:bodyPr wrap="square" lIns="0" tIns="0" rIns="0" bIns="0" rtlCol="0" anchor="t"/>
          <a:lstStyle/>
          <a:p>
            <a:pPr indent="0" marL="0">
              <a:lnSpc>
                <a:spcPct val="110000"/>
              </a:lnSpc>
              <a:buNone/>
            </a:pPr>
            <a:r>
              <a:rPr lang="en-US" sz="500" b="1" dirty="0">
                <a:solidFill>
                  <a:srgbClr val="1B1B1B"/>
                </a:solidFill>
                <a:latin typeface="Poppins" pitchFamily="34" charset="0"/>
                <a:ea typeface="Poppins" pitchFamily="34" charset="-122"/>
                <a:cs typeface="Poppins" pitchFamily="34" charset="-120"/>
              </a:rPr>
              <a:t>Source: </a:t>
            </a:r>
            <a:pPr indent="0" marL="0">
              <a:lnSpc>
                <a:spcPct val="110000"/>
              </a:lnSpc>
              <a:buNone/>
            </a:pPr>
            <a:r>
              <a:rPr lang="en-US" sz="500" dirty="0">
                <a:solidFill>
                  <a:srgbClr val="1B1B1B"/>
                </a:solidFill>
                <a:latin typeface="Poppins" pitchFamily="34" charset="0"/>
                <a:ea typeface="Poppins" pitchFamily="34" charset="-122"/>
                <a:cs typeface="Poppins" pitchFamily="34" charset="-120"/>
              </a:rPr>
              <a:t>Information Memorandum (Jul-2026) and Company materials. (1) Sum of two separately reported perimeters: heavy equipment BRL 1,200 Mn / BRL 65 Mn and agriculture BRL 1,360 Mn / BRL 58 Mn (net revenues / EBITDA); not audited consolidated. (2) 23 + 13 locations; 470 + 600 employees; overlap to be confirmed.</a:t>
            </a:r>
            <a:endParaRPr lang="en-US" sz="500" dirty="0"/>
          </a:p>
        </p:txBody>
      </p:sp>
      <p:sp>
        <p:nvSpPr>
          <p:cNvPr id="58" name="Text 53"/>
          <p:cNvSpPr/>
          <p:nvPr/>
        </p:nvSpPr>
        <p:spPr>
          <a:xfrm>
            <a:off x="362102" y="8970264"/>
            <a:ext cx="5767121" cy="123444"/>
          </a:xfrm>
          <a:prstGeom prst="rect">
            <a:avLst/>
          </a:prstGeom>
          <a:noFill/>
          <a:ln/>
        </p:spPr>
        <p:txBody>
          <a:bodyPr wrap="square" lIns="0" tIns="0" rIns="0" bIns="0" rtlCol="0" anchor="t"/>
          <a:lstStyle/>
          <a:p>
            <a:pPr indent="0" marL="0">
              <a:buNone/>
            </a:pPr>
            <a:r>
              <a:rPr lang="en-US" sz="800" b="1" spc="30" kern="0" dirty="0">
                <a:solidFill>
                  <a:srgbClr val="EC6606"/>
                </a:solidFill>
                <a:latin typeface="Poppins" pitchFamily="34" charset="0"/>
                <a:ea typeface="Poppins" pitchFamily="34" charset="-122"/>
                <a:cs typeface="Poppins" pitchFamily="34" charset="-120"/>
              </a:rPr>
              <a:t>Disclaimer:</a:t>
            </a:r>
            <a:endParaRPr lang="en-US" sz="800" dirty="0"/>
          </a:p>
        </p:txBody>
      </p:sp>
      <p:sp>
        <p:nvSpPr>
          <p:cNvPr id="59" name="Text 54"/>
          <p:cNvSpPr/>
          <p:nvPr/>
        </p:nvSpPr>
        <p:spPr>
          <a:xfrm>
            <a:off x="360274" y="9154973"/>
            <a:ext cx="5954573" cy="607162"/>
          </a:xfrm>
          <a:prstGeom prst="rect">
            <a:avLst/>
          </a:prstGeom>
          <a:noFill/>
          <a:ln/>
        </p:spPr>
        <p:txBody>
          <a:bodyPr wrap="square" lIns="0" tIns="0" rIns="0" bIns="0" rtlCol="0" anchor="t"/>
          <a:lstStyle/>
          <a:p>
            <a:pPr algn="just" indent="0" marL="0">
              <a:lnSpc>
                <a:spcPct val="110000"/>
              </a:lnSpc>
              <a:buNone/>
            </a:pPr>
            <a:r>
              <a:rPr lang="en-US" sz="600" dirty="0">
                <a:solidFill>
                  <a:srgbClr val="1B1B1B"/>
                </a:solidFill>
                <a:latin typeface="Poppins" pitchFamily="34" charset="0"/>
                <a:ea typeface="Poppins" pitchFamily="34" charset="-122"/>
                <a:cs typeface="Poppins" pitchFamily="34" charset="-120"/>
              </a:rPr>
              <a:t>All information contained in this material has been prepared based on the documents and/or information provided by the Company or obtained directly by IGC through legal sources and/or through independent researches. No liability is or shall be attributed to the members of IGC, including its partners, directors, employees, agents or advisers, in connection with the accuracy or completeness of the information contained herein or in connection with any other written or oral information made available to the recipient or its advisor. In particular, no representation or warranty is given as to the achievement or reasonableness of any future projections, management estimates, prospects or returns. This material belongs to IGC and shall not be copied, reproduced and/or distributed or disclosed to any third party without the prior consent of IGC. By receiving this material, the recipient agrees to return it as soon as requested by IGC, without retaining any copies.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Yellow — Teaser</dc:title>
  <dc:subject>PptxGenJS Presentation</dc:subject>
  <dc:creator>IGC Partners</dc:creator>
  <cp:lastModifiedBy>IGC Partners</cp:lastModifiedBy>
  <cp:revision>1</cp:revision>
  <dcterms:created xsi:type="dcterms:W3CDTF">2026-08-21T13:56:23Z</dcterms:created>
  <dcterms:modified xsi:type="dcterms:W3CDTF">2026-08-21T13:56:23Z</dcterms:modified>
</cp:coreProperties>
</file>
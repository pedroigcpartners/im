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slideLayouts/slideLayout64.xml" ContentType="application/vnd.openxmlformats-officedocument.presentationml.slideLayout+xml"/>
  <Override PartName="/ppt/theme/theme6.xml" ContentType="application/vnd.openxmlformats-officedocument.theme+xml"/>
  <Override PartName="/ppt/slideLayouts/slideLayout65.xml" ContentType="application/vnd.openxmlformats-officedocument.presentationml.slideLayout+xml"/>
  <Override PartName="/ppt/theme/theme7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8.xml" ContentType="application/vnd.openxmlformats-officedocument.theme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4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5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6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4" r:id="rId4"/>
    <p:sldMasterId id="2147483788" r:id="rId5"/>
    <p:sldMasterId id="2147484028" r:id="rId6"/>
    <p:sldMasterId id="2147483808" r:id="rId7"/>
    <p:sldMasterId id="2147483798" r:id="rId8"/>
    <p:sldMasterId id="2147483824" r:id="rId9"/>
    <p:sldMasterId id="2147483832" r:id="rId10"/>
    <p:sldMasterId id="2147483838" r:id="rId11"/>
    <p:sldMasterId id="2147484045" r:id="rId12"/>
  </p:sldMasterIdLst>
  <p:notesMasterIdLst>
    <p:notesMasterId r:id="rId36"/>
  </p:notesMasterIdLst>
  <p:handoutMasterIdLst>
    <p:handoutMasterId r:id="rId37"/>
  </p:handoutMasterIdLst>
  <p:sldIdLst>
    <p:sldId id="7013" r:id="rId13"/>
    <p:sldId id="14999470" r:id="rId14"/>
    <p:sldId id="14999471" r:id="rId15"/>
    <p:sldId id="14999440" r:id="rId16"/>
    <p:sldId id="14999409" r:id="rId17"/>
    <p:sldId id="14999447" r:id="rId18"/>
    <p:sldId id="14999389" r:id="rId19"/>
    <p:sldId id="14999449" r:id="rId20"/>
    <p:sldId id="14999418" r:id="rId21"/>
    <p:sldId id="14999427" r:id="rId22"/>
    <p:sldId id="14999450" r:id="rId23"/>
    <p:sldId id="14999374" r:id="rId24"/>
    <p:sldId id="14999445" r:id="rId25"/>
    <p:sldId id="14999467" r:id="rId26"/>
    <p:sldId id="14999469" r:id="rId27"/>
    <p:sldId id="14999448" r:id="rId28"/>
    <p:sldId id="14999439" r:id="rId29"/>
    <p:sldId id="14999443" r:id="rId30"/>
    <p:sldId id="14999444" r:id="rId31"/>
    <p:sldId id="14999425" r:id="rId32"/>
    <p:sldId id="14999472" r:id="rId33"/>
    <p:sldId id="14999473" r:id="rId34"/>
    <p:sldId id="14999468" r:id="rId35"/>
  </p:sldIdLst>
  <p:sldSz cx="12192000" cy="6858000"/>
  <p:notesSz cx="6886575" cy="10018713"/>
  <p:custDataLst>
    <p:tags r:id="rId38"/>
  </p:custData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pos="2343" userDrawn="1">
          <p15:clr>
            <a:srgbClr val="A4A3A4"/>
          </p15:clr>
        </p15:guide>
        <p15:guide id="6" pos="1890" userDrawn="1">
          <p15:clr>
            <a:srgbClr val="A4A3A4"/>
          </p15:clr>
        </p15:guide>
        <p15:guide id="7" pos="2389" userDrawn="1">
          <p15:clr>
            <a:srgbClr val="A4A3A4"/>
          </p15:clr>
        </p15:guide>
        <p15:guide id="8" pos="2751" userDrawn="1">
          <p15:clr>
            <a:srgbClr val="A4A3A4"/>
          </p15:clr>
        </p15:guide>
        <p15:guide id="9" pos="3296" userDrawn="1">
          <p15:clr>
            <a:srgbClr val="A4A3A4"/>
          </p15:clr>
        </p15:guide>
        <p15:guide id="10" orient="horz" pos="322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D5CB639-69D6-A419-7F6A-2227349FDF43}" name="Pedro Brum" initials="PB" userId="S::pedro.brum@igcp.com.br::d8d59f9d-7d4e-46da-9382-ddf093b832f6" providerId="AD"/>
  <p188:author id="{64692F49-A574-EE18-7D3A-318EEC683D71}" name="Tais Pires" initials="TP" userId="S::tais.pires@igcp.com.br::bafccdd9-b3c3-4488-9258-487a38389d9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8F83"/>
    <a:srgbClr val="EDCDCD"/>
    <a:srgbClr val="F3D7D9"/>
    <a:srgbClr val="FDBBC0"/>
    <a:srgbClr val="F9EBEC"/>
    <a:srgbClr val="FDC9CD"/>
    <a:srgbClr val="000000"/>
    <a:srgbClr val="F5E7FD"/>
    <a:srgbClr val="F5EDEC"/>
    <a:srgbClr val="E1B3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392" autoAdjust="0"/>
    <p:restoredTop sz="96081" autoAdjust="0"/>
  </p:normalViewPr>
  <p:slideViewPr>
    <p:cSldViewPr snapToGrid="0" showGuides="1">
      <p:cViewPr varScale="1">
        <p:scale>
          <a:sx n="106" d="100"/>
          <a:sy n="106" d="100"/>
        </p:scale>
        <p:origin x="1110" y="102"/>
      </p:cViewPr>
      <p:guideLst>
        <p:guide pos="2343"/>
        <p:guide pos="1890"/>
        <p:guide pos="2389"/>
        <p:guide pos="2751"/>
        <p:guide pos="3296"/>
        <p:guide orient="horz" pos="322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howGuides="1">
      <p:cViewPr varScale="1">
        <p:scale>
          <a:sx n="77" d="100"/>
          <a:sy n="77" d="100"/>
        </p:scale>
        <p:origin x="406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39" Type="http://schemas.openxmlformats.org/officeDocument/2006/relationships/presProps" Target="presProps.xml"/><Relationship Id="rId21" Type="http://schemas.openxmlformats.org/officeDocument/2006/relationships/slide" Target="slides/slide9.xml"/><Relationship Id="rId34" Type="http://schemas.openxmlformats.org/officeDocument/2006/relationships/slide" Target="slides/slide22.xml"/><Relationship Id="rId42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slide" Target="slides/slide17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2.xml"/><Relationship Id="rId32" Type="http://schemas.openxmlformats.org/officeDocument/2006/relationships/slide" Target="slides/slide20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notesMaster" Target="notesMasters/notesMaster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7.xml"/><Relationship Id="rId31" Type="http://schemas.openxmlformats.org/officeDocument/2006/relationships/slide" Target="slides/slide19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slide" Target="slides/slide23.xml"/><Relationship Id="rId43" Type="http://schemas.microsoft.com/office/2018/10/relationships/authors" Target="author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slide" Target="slides/slide21.xml"/><Relationship Id="rId38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0.9388792497001637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Beauty Market</c:v>
                </c:pt>
              </c:strCache>
            </c:strRef>
          </c:tx>
          <c:spPr>
            <a:solidFill>
              <a:srgbClr val="AD6AC0"/>
            </a:solidFill>
            <a:ln w="0" cap="rnd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AD6AC0"/>
              </a:solidFill>
              <a:ln w="0" cap="rnd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00E-4908-8AE4-1A88BFAB5E5E}"/>
              </c:ext>
            </c:extLst>
          </c:dPt>
          <c:dPt>
            <c:idx val="1"/>
            <c:invertIfNegative val="0"/>
            <c:bubble3D val="0"/>
            <c:spPr>
              <a:solidFill>
                <a:srgbClr val="AD6AC0"/>
              </a:solidFill>
              <a:ln w="0" cap="rnd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00E-4908-8AE4-1A88BFAB5E5E}"/>
              </c:ext>
            </c:extLst>
          </c:dPt>
          <c:dPt>
            <c:idx val="3"/>
            <c:invertIfNegative val="0"/>
            <c:bubble3D val="0"/>
            <c:spPr>
              <a:solidFill>
                <a:srgbClr val="AD6AC0"/>
              </a:solidFill>
              <a:ln w="0" cap="rnd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00E-4908-8AE4-1A88BFAB5E5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accent3"/>
                    </a:solidFill>
                    <a:latin typeface="Montserrat" panose="00000500000000000000" pitchFamily="2" charset="0"/>
                    <a:ea typeface="Source Serif Pro" panose="02040603050405020204" pitchFamily="18" charset="0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US</c:v>
                </c:pt>
                <c:pt idx="1">
                  <c:v>China</c:v>
                </c:pt>
                <c:pt idx="2">
                  <c:v>Brazil</c:v>
                </c:pt>
                <c:pt idx="3">
                  <c:v>Japan</c:v>
                </c:pt>
                <c:pt idx="4">
                  <c:v>Germany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595</c:v>
                </c:pt>
                <c:pt idx="1">
                  <c:v>385</c:v>
                </c:pt>
                <c:pt idx="2">
                  <c:v>155</c:v>
                </c:pt>
                <c:pt idx="3">
                  <c:v>145</c:v>
                </c:pt>
                <c:pt idx="4">
                  <c:v>110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00E-4908-8AE4-1A88BFAB5E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7067167"/>
        <c:axId val="7058431"/>
      </c:barChart>
      <c:catAx>
        <c:axId val="70671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5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7058431"/>
        <c:crosses val="autoZero"/>
        <c:auto val="1"/>
        <c:lblAlgn val="ctr"/>
        <c:lblOffset val="100"/>
        <c:noMultiLvlLbl val="0"/>
      </c:catAx>
      <c:valAx>
        <c:axId val="705843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0671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6224682468911208"/>
          <c:w val="0.99043447707978138"/>
          <c:h val="0.70747089138660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Brazil</c:v>
                </c:pt>
              </c:strCache>
            </c:strRef>
          </c:tx>
          <c:spPr>
            <a:solidFill>
              <a:schemeClr val="accent3"/>
            </a:solidFill>
            <a:ln w="0" cap="rnd">
              <a:noFill/>
            </a:ln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accent3"/>
                    </a:solidFill>
                    <a:latin typeface="Montserrat 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Sheet1!$A$4:$A$12</c:f>
              <c:numCache>
                <c:formatCode>General</c:formatCode>
                <c:ptCount val="9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 formatCode="0000&quot;E&quot;">
                  <c:v>2024</c:v>
                </c:pt>
                <c:pt idx="5" formatCode="0000&quot;E&quot;">
                  <c:v>2025</c:v>
                </c:pt>
                <c:pt idx="6" formatCode="0000&quot;E&quot;">
                  <c:v>2026</c:v>
                </c:pt>
                <c:pt idx="7" formatCode="0000&quot;E&quot;">
                  <c:v>2027</c:v>
                </c:pt>
                <c:pt idx="8" formatCode="0000&quot;E&quot;">
                  <c:v>2028</c:v>
                </c:pt>
              </c:numCache>
            </c:numRef>
          </c:cat>
          <c:val>
            <c:numRef>
              <c:f>Sheet1!$B$4:$B$12</c:f>
              <c:numCache>
                <c:formatCode>#,##0.00</c:formatCode>
                <c:ptCount val="9"/>
                <c:pt idx="0">
                  <c:v>11.09</c:v>
                </c:pt>
                <c:pt idx="1">
                  <c:v>11.4</c:v>
                </c:pt>
                <c:pt idx="2">
                  <c:v>12.77</c:v>
                </c:pt>
                <c:pt idx="3">
                  <c:v>13.95</c:v>
                </c:pt>
                <c:pt idx="4">
                  <c:v>15.1</c:v>
                </c:pt>
                <c:pt idx="5">
                  <c:v>16.04</c:v>
                </c:pt>
                <c:pt idx="6">
                  <c:v>16.940000000000001</c:v>
                </c:pt>
                <c:pt idx="7">
                  <c:v>18.07</c:v>
                </c:pt>
                <c:pt idx="8">
                  <c:v>18.53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BC-4C36-B36A-BDD6A5712A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771209752"/>
        <c:axId val="771210112"/>
      </c:barChart>
      <c:catAx>
        <c:axId val="7712097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7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pt-BR"/>
          </a:p>
        </c:txPr>
        <c:crossAx val="771210112"/>
        <c:crosses val="autoZero"/>
        <c:auto val="1"/>
        <c:lblAlgn val="ctr"/>
        <c:lblOffset val="100"/>
        <c:noMultiLvlLbl val="0"/>
      </c:catAx>
      <c:valAx>
        <c:axId val="771210112"/>
        <c:scaling>
          <c:orientation val="minMax"/>
        </c:scaling>
        <c:delete val="1"/>
        <c:axPos val="l"/>
        <c:numFmt formatCode="#,##0.00" sourceLinked="1"/>
        <c:majorTickMark val="out"/>
        <c:minorTickMark val="none"/>
        <c:tickLblPos val="nextTo"/>
        <c:crossAx val="7712097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>
      <a:softEdge rad="0"/>
    </a:effectLst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5776946513621431E-2"/>
          <c:y val="0.2439011274761726"/>
          <c:w val="0.88844610697275717"/>
          <c:h val="0.6414178784835208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Bodycare</c:v>
                </c:pt>
              </c:strCache>
            </c:strRef>
          </c:tx>
          <c:spPr>
            <a:solidFill>
              <a:srgbClr val="AD6AC0"/>
            </a:solidFill>
            <a:ln w="0" cap="sq">
              <a:noFill/>
            </a:ln>
            <a:effectLst>
              <a:softEdge rad="0"/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rgbClr val="AD6AC0"/>
              </a:solidFill>
              <a:ln w="0" cap="sq">
                <a:noFill/>
              </a:ln>
              <a:effectLst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1-2D7F-4F75-9EB3-F45F0AD395A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2D7F-4F75-9EB3-F45F0AD395A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accent3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Sheet1!$A$2:$A$3</c:f>
              <c:numCache>
                <c:formatCode>General</c:formatCode>
                <c:ptCount val="2"/>
                <c:pt idx="0">
                  <c:v>2012</c:v>
                </c:pt>
                <c:pt idx="1">
                  <c:v>2024</c:v>
                </c:pt>
              </c:numCache>
            </c:numRef>
          </c:cat>
          <c:val>
            <c:numRef>
              <c:f>Sheet1!$B$2:$B$3</c:f>
              <c:numCache>
                <c:formatCode>_-* #,##0.0_-;\-* #,##0.0_-;_-* "-"?_-;_-@_-</c:formatCode>
                <c:ptCount val="2"/>
                <c:pt idx="0">
                  <c:v>30</c:v>
                </c:pt>
                <c:pt idx="1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D7F-4F75-9EB3-F45F0AD395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7067167"/>
        <c:axId val="7058431"/>
      </c:barChart>
      <c:catAx>
        <c:axId val="70671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pt-BR"/>
          </a:p>
        </c:txPr>
        <c:crossAx val="7058431"/>
        <c:crosses val="autoZero"/>
        <c:auto val="1"/>
        <c:lblAlgn val="ctr"/>
        <c:lblOffset val="100"/>
        <c:noMultiLvlLbl val="0"/>
      </c:catAx>
      <c:valAx>
        <c:axId val="7058431"/>
        <c:scaling>
          <c:orientation val="minMax"/>
          <c:max val="60"/>
          <c:min val="10"/>
        </c:scaling>
        <c:delete val="1"/>
        <c:axPos val="l"/>
        <c:numFmt formatCode="_-* #,##0.0_-;\-* #,##0.0_-;_-* &quot;-&quot;?_-;_-@_-" sourceLinked="1"/>
        <c:majorTickMark val="out"/>
        <c:minorTickMark val="none"/>
        <c:tickLblPos val="nextTo"/>
        <c:crossAx val="70671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5776946513621431E-2"/>
          <c:y val="0.33349537725878114"/>
          <c:w val="0.88844610697275717"/>
          <c:h val="0.5480218669512483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Bodycare</c:v>
                </c:pt>
              </c:strCache>
            </c:strRef>
          </c:tx>
          <c:spPr>
            <a:solidFill>
              <a:srgbClr val="4B2582"/>
            </a:solidFill>
            <a:ln w="0" cap="sq">
              <a:noFill/>
            </a:ln>
            <a:effectLst>
              <a:softEdge rad="0"/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rgbClr val="4B2582"/>
              </a:solidFill>
              <a:ln w="0" cap="sq">
                <a:noFill/>
              </a:ln>
              <a:effectLst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1-FD96-4C09-8966-76421B4CF31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FD96-4C09-8966-76421B4CF31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accent4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Sheet1!$A$2:$A$3</c:f>
              <c:numCache>
                <c:formatCode>General</c:formatCode>
                <c:ptCount val="2"/>
                <c:pt idx="0">
                  <c:v>2021</c:v>
                </c:pt>
                <c:pt idx="1">
                  <c:v>2024</c:v>
                </c:pt>
              </c:numCache>
            </c:numRef>
          </c:cat>
          <c:val>
            <c:numRef>
              <c:f>Sheet1!$B$2:$B$3</c:f>
              <c:numCache>
                <c:formatCode>_-* #,##0.0_-;\-* #,##0.0_-;_-* "-"?_-;_-@_-</c:formatCode>
                <c:ptCount val="2"/>
                <c:pt idx="0">
                  <c:v>8.5</c:v>
                </c:pt>
                <c:pt idx="1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D96-4C09-8966-76421B4CF3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7067167"/>
        <c:axId val="7058431"/>
      </c:barChart>
      <c:catAx>
        <c:axId val="70671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pt-BR"/>
          </a:p>
        </c:txPr>
        <c:crossAx val="7058431"/>
        <c:crosses val="autoZero"/>
        <c:auto val="1"/>
        <c:lblAlgn val="ctr"/>
        <c:lblOffset val="100"/>
        <c:noMultiLvlLbl val="0"/>
      </c:catAx>
      <c:valAx>
        <c:axId val="7058431"/>
        <c:scaling>
          <c:orientation val="minMax"/>
          <c:max val="15"/>
          <c:min val="3"/>
        </c:scaling>
        <c:delete val="1"/>
        <c:axPos val="l"/>
        <c:numFmt formatCode="_-* #,##0.0_-;\-* #,##0.0_-;_-* &quot;-&quot;?_-;_-@_-" sourceLinked="1"/>
        <c:majorTickMark val="none"/>
        <c:minorTickMark val="none"/>
        <c:tickLblPos val="nextTo"/>
        <c:crossAx val="70671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/>
      </a:pPr>
      <a:endParaRPr lang="pt-B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Bodycare</c:v>
                </c:pt>
              </c:strCache>
            </c:strRef>
          </c:tx>
          <c:spPr>
            <a:solidFill>
              <a:schemeClr val="accent6"/>
            </a:solidFill>
            <a:ln w="0" cap="rnd">
              <a:noFill/>
            </a:ln>
            <a:effectLst>
              <a:softEdge rad="0"/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chemeClr val="accent6"/>
              </a:solidFill>
              <a:ln w="0" cap="rnd">
                <a:noFill/>
              </a:ln>
              <a:effectLst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1-000C-4E4C-8105-9E12187AE84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00C-4E4C-8105-9E12187AE84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000C-4E4C-8105-9E12187AE847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000C-4E4C-8105-9E12187AE847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000C-4E4C-8105-9E12187AE847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000C-4E4C-8105-9E12187AE847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000C-4E4C-8105-9E12187AE847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000C-4E4C-8105-9E12187AE847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1BD8-4CE8-AD8D-24F980447E40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000C-4E4C-8105-9E12187AE847}"/>
              </c:ext>
            </c:extLst>
          </c:dPt>
          <c:dLbls>
            <c:dLbl>
              <c:idx val="9"/>
              <c:layout>
                <c:manualLayout>
                  <c:x val="1.1003925540397281E-7"/>
                  <c:y val="-1.461268722365349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6934090667504718E-2"/>
                      <c:h val="8.751172453845071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3-000C-4E4C-8105-9E12187AE847}"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accent6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 formatCode="General&quot;E&quot;">
                  <c:v>2024</c:v>
                </c:pt>
                <c:pt idx="7" formatCode="General&quot;E&quot;">
                  <c:v>2025</c:v>
                </c:pt>
                <c:pt idx="8" formatCode="General&quot;E&quot;">
                  <c:v>2026</c:v>
                </c:pt>
                <c:pt idx="9" formatCode="General&quot;E&quot;">
                  <c:v>2027</c:v>
                </c:pt>
              </c:numCache>
            </c:numRef>
          </c:cat>
          <c:val>
            <c:numRef>
              <c:f>Sheet1!$B$2:$B$11</c:f>
              <c:numCache>
                <c:formatCode>_-* #,##0.0_-;\-* #,##0.0_-;_-* "-"?_-;_-@_-</c:formatCode>
                <c:ptCount val="10"/>
                <c:pt idx="0">
                  <c:v>6.8016465999999989</c:v>
                </c:pt>
                <c:pt idx="1">
                  <c:v>6.9231292</c:v>
                </c:pt>
                <c:pt idx="2">
                  <c:v>6.8363519999999998</c:v>
                </c:pt>
                <c:pt idx="3">
                  <c:v>6.9899373999999996</c:v>
                </c:pt>
                <c:pt idx="4">
                  <c:v>7.3834669999999996</c:v>
                </c:pt>
                <c:pt idx="5">
                  <c:v>8.2350720000000006</c:v>
                </c:pt>
                <c:pt idx="6">
                  <c:v>8.9293551999999998</c:v>
                </c:pt>
                <c:pt idx="7">
                  <c:v>9.3020400000000016</c:v>
                </c:pt>
                <c:pt idx="8">
                  <c:v>9.7091536000000023</c:v>
                </c:pt>
                <c:pt idx="9">
                  <c:v>10.119051199999999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000C-4E4C-8105-9E12187AE8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7067167"/>
        <c:axId val="7058431"/>
      </c:barChart>
      <c:catAx>
        <c:axId val="70671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bg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700" b="0" i="0" u="none" strike="noStrike" kern="1200" baseline="0">
                <a:solidFill>
                  <a:schemeClr val="bg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pt-BR"/>
          </a:p>
        </c:txPr>
        <c:crossAx val="7058431"/>
        <c:crosses val="autoZero"/>
        <c:auto val="1"/>
        <c:lblAlgn val="ctr"/>
        <c:lblOffset val="100"/>
        <c:noMultiLvlLbl val="0"/>
      </c:catAx>
      <c:valAx>
        <c:axId val="7058431"/>
        <c:scaling>
          <c:orientation val="minMax"/>
          <c:max val="10.8"/>
          <c:min val="4.5"/>
        </c:scaling>
        <c:delete val="1"/>
        <c:axPos val="l"/>
        <c:numFmt formatCode="_-* #,##0.0_-;\-* #,##0.0_-;_-* &quot;-&quot;?_-;_-@_-" sourceLinked="1"/>
        <c:majorTickMark val="out"/>
        <c:minorTickMark val="none"/>
        <c:tickLblPos val="nextTo"/>
        <c:crossAx val="70671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latin typeface="Montserrat" panose="00000500000000000000" pitchFamily="2" charset="0"/>
        </a:defRPr>
      </a:pPr>
      <a:endParaRPr lang="pt-B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1567591461087968"/>
          <c:y val="0"/>
          <c:w val="0.68432408538912026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Critérios de Escolha para compra de produtos</c:v>
                </c:pt>
              </c:strCache>
            </c:strRef>
          </c:tx>
          <c:spPr>
            <a:solidFill>
              <a:schemeClr val="accent3"/>
            </a:solidFill>
            <a:ln w="0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  <a:ln w="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858-42CA-A1D6-28708CCD70AD}"/>
              </c:ext>
            </c:extLst>
          </c:dPt>
          <c:dPt>
            <c:idx val="1"/>
            <c:invertIfNegative val="0"/>
            <c:bubble3D val="0"/>
            <c:explosion val="10"/>
            <c:spPr>
              <a:solidFill>
                <a:schemeClr val="accent3"/>
              </a:solidFill>
              <a:ln w="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858-42CA-A1D6-28708CCD70AD}"/>
              </c:ext>
            </c:extLst>
          </c:dPt>
          <c:dPt>
            <c:idx val="2"/>
            <c:invertIfNegative val="0"/>
            <c:bubble3D val="0"/>
            <c:explosion val="10"/>
            <c:spPr>
              <a:solidFill>
                <a:schemeClr val="accent3"/>
              </a:solidFill>
              <a:ln w="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858-42CA-A1D6-28708CCD70AD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3"/>
              </a:solidFill>
              <a:ln w="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858-42CA-A1D6-28708CCD70AD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3"/>
              </a:solidFill>
              <a:ln w="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4858-42CA-A1D6-28708CCD70AD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3">
                  <a:lumMod val="50000"/>
                </a:schemeClr>
              </a:solidFill>
              <a:ln w="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4858-42CA-A1D6-28708CCD70AD}"/>
              </c:ext>
            </c:extLst>
          </c:dPt>
          <c:dLbls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>
                    <a:defRPr lang="en-US" sz="1000" b="1" i="0" u="none" strike="noStrike" kern="1200" baseline="0">
                      <a:solidFill>
                        <a:schemeClr val="accent3">
                          <a:lumMod val="50000"/>
                        </a:schemeClr>
                      </a:solidFill>
                      <a:latin typeface="Montserrat" panose="00000500000000000000" pitchFamily="2" charset="0"/>
                      <a:ea typeface="Source Serif Pro" panose="02040603050405020204" pitchFamily="18" charset="0"/>
                      <a:cs typeface="+mn-cs"/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4858-42CA-A1D6-28708CCD70A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000" b="1" i="0" u="none" strike="noStrike" kern="1200" baseline="0">
                    <a:solidFill>
                      <a:schemeClr val="accent3"/>
                    </a:solidFill>
                    <a:latin typeface="Montserrat" panose="00000500000000000000" pitchFamily="2" charset="0"/>
                    <a:ea typeface="Source Serif Pro" panose="02040603050405020204" pitchFamily="18" charset="0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Opinião de Amigos</c:v>
                </c:pt>
                <c:pt idx="1">
                  <c:v>Formulação</c:v>
                </c:pt>
                <c:pt idx="2">
                  <c:v>Indicação de Profissionais</c:v>
                </c:pt>
                <c:pt idx="3">
                  <c:v>Recomendações</c:v>
                </c:pt>
                <c:pt idx="4">
                  <c:v>Qualidade</c:v>
                </c:pt>
                <c:pt idx="5">
                  <c:v>Preço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0.08</c:v>
                </c:pt>
                <c:pt idx="1">
                  <c:v>0.1</c:v>
                </c:pt>
                <c:pt idx="2">
                  <c:v>0.2</c:v>
                </c:pt>
                <c:pt idx="3">
                  <c:v>0.28000000000000003</c:v>
                </c:pt>
                <c:pt idx="4">
                  <c:v>0.55000000000000004</c:v>
                </c:pt>
                <c:pt idx="5">
                  <c:v>0.77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858-42CA-A1D6-28708CCD70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953414288"/>
        <c:axId val="953408528"/>
      </c:barChart>
      <c:valAx>
        <c:axId val="953408528"/>
        <c:scaling>
          <c:orientation val="minMax"/>
        </c:scaling>
        <c:delete val="1"/>
        <c:axPos val="b"/>
        <c:numFmt formatCode="0%" sourceLinked="1"/>
        <c:majorTickMark val="out"/>
        <c:minorTickMark val="none"/>
        <c:tickLblPos val="nextTo"/>
        <c:crossAx val="953414288"/>
        <c:crosses val="autoZero"/>
        <c:crossBetween val="between"/>
      </c:valAx>
      <c:catAx>
        <c:axId val="95341428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7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pt-BR"/>
          </a:p>
        </c:txPr>
        <c:crossAx val="95340852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 algn="just">
        <a:defRPr/>
      </a:pPr>
      <a:endParaRPr lang="pt-B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2443403569454892"/>
          <c:w val="1"/>
          <c:h val="0.761242150235276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Número de Clientes</c:v>
                </c:pt>
              </c:strCache>
            </c:strRef>
          </c:tx>
          <c:spPr>
            <a:solidFill>
              <a:schemeClr val="bg2">
                <a:lumMod val="50000"/>
              </a:schemeClr>
            </a:solidFill>
            <a:ln w="0" cap="rnd">
              <a:noFill/>
            </a:ln>
            <a:effectLst>
              <a:softEdge rad="0"/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chemeClr val="bg2">
                  <a:lumMod val="50000"/>
                </a:schemeClr>
              </a:solidFill>
              <a:ln w="0" cap="rnd">
                <a:noFill/>
              </a:ln>
              <a:effectLst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1-24D6-4EF8-AA97-B9EB6D262BA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24D6-4EF8-AA97-B9EB6D262BA6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4D6-4EF8-AA97-B9EB6D262BA6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24D6-4EF8-AA97-B9EB6D262BA6}"/>
              </c:ext>
            </c:extLst>
          </c:dPt>
          <c:dLbls>
            <c:dLbl>
              <c:idx val="2"/>
              <c:layout>
                <c:manualLayout>
                  <c:x val="0"/>
                  <c:y val="1.748046008020363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4D6-4EF8-AA97-B9EB6D262BA6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bg2">
                          <a:lumMod val="50000"/>
                        </a:schemeClr>
                      </a:solidFill>
                      <a:latin typeface="Montserrat" panose="00000500000000000000" pitchFamily="2" charset="0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2144158185475676E-2"/>
                      <c:h val="0.1920228539810371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24D6-4EF8-AA97-B9EB6D262BA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>
                        <a:lumMod val="50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Sheet1!$B$2:$B$5</c:f>
              <c:numCache>
                <c:formatCode>#,##0</c:formatCode>
                <c:ptCount val="4"/>
                <c:pt idx="0">
                  <c:v>2758</c:v>
                </c:pt>
                <c:pt idx="1">
                  <c:v>2961</c:v>
                </c:pt>
                <c:pt idx="2">
                  <c:v>3256</c:v>
                </c:pt>
                <c:pt idx="3">
                  <c:v>3266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24D6-4EF8-AA97-B9EB6D262B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7067167"/>
        <c:axId val="7058431"/>
      </c:barChart>
      <c:catAx>
        <c:axId val="70671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pt-BR"/>
          </a:p>
        </c:txPr>
        <c:crossAx val="7058431"/>
        <c:crosses val="autoZero"/>
        <c:auto val="1"/>
        <c:lblAlgn val="ctr"/>
        <c:lblOffset val="100"/>
        <c:noMultiLvlLbl val="0"/>
      </c:catAx>
      <c:valAx>
        <c:axId val="7058431"/>
        <c:scaling>
          <c:orientation val="minMax"/>
          <c:max val="3500"/>
          <c:min val="2500"/>
        </c:scaling>
        <c:delete val="1"/>
        <c:axPos val="l"/>
        <c:numFmt formatCode="#,##0" sourceLinked="1"/>
        <c:majorTickMark val="none"/>
        <c:minorTickMark val="none"/>
        <c:tickLblPos val="nextTo"/>
        <c:crossAx val="70671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latin typeface="Montserrat" panose="00000500000000000000" pitchFamily="2" charset="0"/>
        </a:defRPr>
      </a:pPr>
      <a:endParaRPr lang="pt-B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6143408477548031"/>
          <c:y val="0.23401617642306086"/>
          <c:w val="0.45471024914396624"/>
          <c:h val="0.60260835913526489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explosion val="18"/>
            <c:spPr>
              <a:solidFill>
                <a:schemeClr val="tx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AF8-4ACF-A0AB-B59A53212721}"/>
              </c:ext>
            </c:extLst>
          </c:dPt>
          <c:dPt>
            <c:idx val="1"/>
            <c:bubble3D val="0"/>
            <c:spPr>
              <a:solidFill>
                <a:schemeClr val="accent1">
                  <a:alpha val="50196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AF8-4ACF-A0AB-B59A53212721}"/>
              </c:ext>
            </c:extLst>
          </c:dPt>
          <c:dPt>
            <c:idx val="2"/>
            <c:bubble3D val="0"/>
            <c:spPr>
              <a:solidFill>
                <a:schemeClr val="bg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AF8-4ACF-A0AB-B59A53212721}"/>
              </c:ext>
            </c:extLst>
          </c:dPt>
          <c:dLbls>
            <c:dLbl>
              <c:idx val="0"/>
              <c:layout>
                <c:manualLayout>
                  <c:x val="-2.3283614424523605E-2"/>
                  <c:y val="-3.1813678217102431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lang="en-US" sz="1400" b="1" i="0" u="none" strike="noStrike" kern="1200" baseline="0">
                      <a:solidFill>
                        <a:schemeClr val="tx2"/>
                      </a:solidFill>
                      <a:latin typeface="Montserrat" panose="00000500000000000000" pitchFamily="2" charset="0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2351073651976201"/>
                      <c:h val="6.297093822887447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7AF8-4ACF-A0AB-B59A53212721}"/>
                </c:ext>
              </c:extLst>
            </c:dLbl>
            <c:dLbl>
              <c:idx val="1"/>
              <c:layout>
                <c:manualLayout>
                  <c:x val="0.1077181589343776"/>
                  <c:y val="-0.226174825215158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lang="en-US" sz="1100" b="1" i="0" u="none" strike="noStrike" kern="1200" baseline="0">
                      <a:solidFill>
                        <a:schemeClr val="bg2"/>
                      </a:solidFill>
                      <a:latin typeface="Montserrat" panose="00000500000000000000" pitchFamily="2" charset="0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AF8-4ACF-A0AB-B59A53212721}"/>
                </c:ext>
              </c:extLst>
            </c:dLbl>
            <c:dLbl>
              <c:idx val="2"/>
              <c:layout>
                <c:manualLayout>
                  <c:x val="1.400227365545806E-2"/>
                  <c:y val="3.2899279079322309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lang="en-US" sz="1100" b="1" i="0" u="none" strike="noStrike" kern="1200" baseline="0">
                      <a:solidFill>
                        <a:schemeClr val="bg2"/>
                      </a:solidFill>
                      <a:latin typeface="Montserrat" panose="00000500000000000000" pitchFamily="2" charset="0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AF8-4ACF-A0AB-B59A5321272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200" b="1" i="0" u="none" strike="noStrike" kern="1200" baseline="0">
                    <a:solidFill>
                      <a:schemeClr val="bg2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pt-B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Profissional</c:v>
                </c:pt>
                <c:pt idx="1">
                  <c:v>Autocuidado Doméstico</c:v>
                </c:pt>
                <c:pt idx="2">
                  <c:v>Terceirização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0.26</c:v>
                </c:pt>
                <c:pt idx="1">
                  <c:v>0.71</c:v>
                </c:pt>
                <c:pt idx="2">
                  <c:v>3.0000000000000027E-2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AF8-4ACF-A0AB-B59A532127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0.15733658655341259"/>
          <c:y val="0.15804952589727603"/>
          <c:w val="0.24380099831002638"/>
          <c:h val="0.2910410924016223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ontserrat Medium" pitchFamily="2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lang="en-US" sz="1000">
          <a:latin typeface="Montserrat" panose="00000500000000000000" pitchFamily="2" charset="0"/>
        </a:defRPr>
      </a:pPr>
      <a:endParaRPr lang="pt-B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7822139639079346"/>
          <c:w val="1"/>
          <c:h val="0.68298826758941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numFmt formatCode="#,##0.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accent3">
                        <a:lumMod val="7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Hidramais</c:v>
                </c:pt>
                <c:pt idx="1">
                  <c:v>Paixão</c:v>
                </c:pt>
                <c:pt idx="2">
                  <c:v>Monange</c:v>
                </c:pt>
                <c:pt idx="3">
                  <c:v>Davene</c:v>
                </c:pt>
                <c:pt idx="4">
                  <c:v>Nivea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2.7980000000000001E-2</c:v>
                </c:pt>
                <c:pt idx="1">
                  <c:v>5.4949999999999999E-2</c:v>
                </c:pt>
                <c:pt idx="2">
                  <c:v>5.4949999999999999E-2</c:v>
                </c:pt>
                <c:pt idx="3">
                  <c:v>5.6250000000000001E-2</c:v>
                </c:pt>
                <c:pt idx="4">
                  <c:v>7.2474999999999998E-2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59-4FB7-904B-4762252BE5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981014335"/>
        <c:axId val="981014815"/>
      </c:barChart>
      <c:catAx>
        <c:axId val="9810143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pt-BR"/>
          </a:p>
        </c:txPr>
        <c:crossAx val="981014815"/>
        <c:crosses val="autoZero"/>
        <c:auto val="1"/>
        <c:lblAlgn val="ctr"/>
        <c:lblOffset val="100"/>
        <c:noMultiLvlLbl val="0"/>
      </c:catAx>
      <c:valAx>
        <c:axId val="98101481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810143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latin typeface="Montserrat" panose="00000500000000000000" pitchFamily="2" charset="0"/>
        </a:defRPr>
      </a:pPr>
      <a:endParaRPr lang="pt-B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7159031475304724E-3"/>
          <c:y val="0.16150811866735978"/>
          <c:w val="0.99828409685246955"/>
          <c:h val="0.654555156689628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Canais de Venda</c:v>
                </c:pt>
              </c:strCache>
            </c:strRef>
          </c:tx>
          <c:spPr>
            <a:solidFill>
              <a:schemeClr val="accent3">
                <a:lumMod val="50000"/>
                <a:alpha val="97000"/>
              </a:schemeClr>
            </a:solidFill>
            <a:ln w="0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3">
                  <a:lumMod val="50000"/>
                  <a:alpha val="97000"/>
                </a:schemeClr>
              </a:solidFill>
              <a:ln w="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817-4F9B-806D-BD4BDFEEFFA4}"/>
              </c:ext>
            </c:extLst>
          </c:dPt>
          <c:dPt>
            <c:idx val="1"/>
            <c:invertIfNegative val="0"/>
            <c:bubble3D val="0"/>
            <c:explosion val="10"/>
            <c:spPr>
              <a:solidFill>
                <a:schemeClr val="accent3">
                  <a:lumMod val="50000"/>
                  <a:alpha val="97000"/>
                </a:schemeClr>
              </a:solidFill>
              <a:ln w="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817-4F9B-806D-BD4BDFEEFFA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900" b="1" i="0" u="none" strike="noStrike" kern="1200" baseline="0">
                    <a:solidFill>
                      <a:schemeClr val="accent3">
                        <a:lumMod val="50000"/>
                      </a:schemeClr>
                    </a:solidFill>
                    <a:latin typeface="Montserrat" panose="00000500000000000000" pitchFamily="2" charset="0"/>
                    <a:ea typeface="Source Serif Pro" panose="02040603050405020204" pitchFamily="18" charset="0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Outros</c:v>
                </c:pt>
                <c:pt idx="1">
                  <c:v>E-Commerce Clientes</c:v>
                </c:pt>
                <c:pt idx="2">
                  <c:v>Supermercados</c:v>
                </c:pt>
                <c:pt idx="3">
                  <c:v>Lojas de Departamentos</c:v>
                </c:pt>
                <c:pt idx="4">
                  <c:v>Farmácias e Drogarias</c:v>
                </c:pt>
                <c:pt idx="5">
                  <c:v>Atacados C&amp;C</c:v>
                </c:pt>
                <c:pt idx="6">
                  <c:v>Perfumarias Especializadas</c:v>
                </c:pt>
                <c:pt idx="7">
                  <c:v>Distribuidores</c:v>
                </c:pt>
              </c:strCache>
            </c:strRef>
          </c:cat>
          <c:val>
            <c:numRef>
              <c:f>Sheet1!$B$2:$B$9</c:f>
              <c:numCache>
                <c:formatCode>0.0%</c:formatCode>
                <c:ptCount val="8"/>
                <c:pt idx="0">
                  <c:v>2.2928579613044443E-2</c:v>
                </c:pt>
                <c:pt idx="1">
                  <c:v>4.9786931517700389E-2</c:v>
                </c:pt>
                <c:pt idx="2">
                  <c:v>8.0597150469698481E-2</c:v>
                </c:pt>
                <c:pt idx="3">
                  <c:v>9.9775315964933609E-2</c:v>
                </c:pt>
                <c:pt idx="4">
                  <c:v>0.11895767816362672</c:v>
                </c:pt>
                <c:pt idx="5">
                  <c:v>0.12658451266759813</c:v>
                </c:pt>
                <c:pt idx="6">
                  <c:v>0.22707004870747652</c:v>
                </c:pt>
                <c:pt idx="7">
                  <c:v>0.27429978289592172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817-4F9B-806D-BD4BDFEEFF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953414288"/>
        <c:axId val="953408528"/>
      </c:barChart>
      <c:valAx>
        <c:axId val="953408528"/>
        <c:scaling>
          <c:orientation val="minMax"/>
        </c:scaling>
        <c:delete val="1"/>
        <c:axPos val="r"/>
        <c:numFmt formatCode="0.0%" sourceLinked="1"/>
        <c:majorTickMark val="out"/>
        <c:minorTickMark val="none"/>
        <c:tickLblPos val="nextTo"/>
        <c:crossAx val="953414288"/>
        <c:crosses val="autoZero"/>
        <c:crossBetween val="between"/>
      </c:valAx>
      <c:catAx>
        <c:axId val="953414288"/>
        <c:scaling>
          <c:orientation val="maxMin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just">
              <a:defRPr lang="en-US" sz="600" b="0" i="0" u="none" strike="noStrike" kern="1200" baseline="0">
                <a:ln>
                  <a:noFill/>
                </a:ln>
                <a:solidFill>
                  <a:schemeClr val="tx1"/>
                </a:solidFill>
                <a:latin typeface="Montserrat" panose="00000500000000000000" pitchFamily="2" charset="0"/>
                <a:ea typeface="Source Serif Pro Light" panose="02040303050405020204" pitchFamily="18" charset="0"/>
                <a:cs typeface="+mn-cs"/>
              </a:defRPr>
            </a:pPr>
            <a:endParaRPr lang="pt-BR"/>
          </a:p>
        </c:txPr>
        <c:crossAx val="95340852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7524530201273119E-2"/>
          <c:y val="5.264441980993529E-2"/>
          <c:w val="0.92613308532505456"/>
          <c:h val="0.87567910709379115"/>
        </c:manualLayout>
      </c:layout>
      <c:bubbleChart>
        <c:varyColors val="0"/>
        <c:ser>
          <c:idx val="0"/>
          <c:order val="0"/>
          <c:tx>
            <c:strRef>
              <c:f>'Matriz Comps'!$C$1</c:f>
              <c:strCache>
                <c:ptCount val="1"/>
                <c:pt idx="0">
                  <c:v>Margem EBITDA LTM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2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C44-465A-AB61-06BAFF1492A6}"/>
              </c:ext>
            </c:extLst>
          </c:dPt>
          <c:dPt>
            <c:idx val="1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C44-465A-AB61-06BAFF1492A6}"/>
              </c:ext>
            </c:extLst>
          </c:dPt>
          <c:dPt>
            <c:idx val="2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C44-465A-AB61-06BAFF1492A6}"/>
              </c:ext>
            </c:extLst>
          </c:dPt>
          <c:dPt>
            <c:idx val="3"/>
            <c:invertIfNegative val="0"/>
            <c:bubble3D val="0"/>
            <c:spPr>
              <a:solidFill>
                <a:srgbClr val="2A4B9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6C44-465A-AB61-06BAFF1492A6}"/>
              </c:ext>
            </c:extLst>
          </c:dPt>
          <c:dPt>
            <c:idx val="4"/>
            <c:invertIfNegative val="0"/>
            <c:bubble3D val="0"/>
            <c:spPr>
              <a:solidFill>
                <a:srgbClr val="5656B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6C44-465A-AB61-06BAFF1492A6}"/>
              </c:ext>
            </c:extLst>
          </c:dPt>
          <c:dPt>
            <c:idx val="5"/>
            <c:invertIfNegative val="0"/>
            <c:bubble3D val="0"/>
            <c:spPr>
              <a:solidFill>
                <a:srgbClr val="1561A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6C44-465A-AB61-06BAFF1492A6}"/>
              </c:ext>
            </c:extLst>
          </c:dPt>
          <c:xVal>
            <c:numRef>
              <c:f>'Matriz Comps'!$B$2:$B$8</c:f>
              <c:numCache>
                <c:formatCode>0.0%</c:formatCode>
                <c:ptCount val="7"/>
                <c:pt idx="0">
                  <c:v>0.20978441073572052</c:v>
                </c:pt>
                <c:pt idx="1">
                  <c:v>7.3955999999999994E-2</c:v>
                </c:pt>
                <c:pt idx="2">
                  <c:v>9.7765000000000005E-2</c:v>
                </c:pt>
                <c:pt idx="3">
                  <c:v>8.4921999999999997E-2</c:v>
                </c:pt>
                <c:pt idx="4">
                  <c:v>3.5074999999999995E-2</c:v>
                </c:pt>
                <c:pt idx="5">
                  <c:v>3.7999999999999999E-2</c:v>
                </c:pt>
                <c:pt idx="6">
                  <c:v>-0.05</c:v>
                </c:pt>
              </c:numCache>
            </c:numRef>
          </c:xVal>
          <c:yVal>
            <c:numRef>
              <c:f>'Matriz Comps'!$C$2:$C$8</c:f>
              <c:numCache>
                <c:formatCode>0.0%</c:formatCode>
                <c:ptCount val="7"/>
                <c:pt idx="0">
                  <c:v>0.28499999999999998</c:v>
                </c:pt>
                <c:pt idx="1">
                  <c:v>0.16412199999999999</c:v>
                </c:pt>
                <c:pt idx="2">
                  <c:v>0.21989799999999998</c:v>
                </c:pt>
                <c:pt idx="3">
                  <c:v>0.142267</c:v>
                </c:pt>
                <c:pt idx="4">
                  <c:v>0.19814900000000002</c:v>
                </c:pt>
                <c:pt idx="5">
                  <c:v>0.28000000000000003</c:v>
                </c:pt>
                <c:pt idx="6">
                  <c:v>-0.1</c:v>
                </c:pt>
              </c:numCache>
            </c:numRef>
          </c:yVal>
          <c:bubbleSize>
            <c:numRef>
              <c:f>'Matriz Comps'!$D$2:$D$8</c:f>
              <c:numCache>
                <c:formatCode>General</c:formatCode>
                <c:ptCount val="7"/>
                <c:pt idx="0">
                  <c:v>0.3</c:v>
                </c:pt>
                <c:pt idx="1">
                  <c:v>0.3</c:v>
                </c:pt>
                <c:pt idx="2">
                  <c:v>0.3</c:v>
                </c:pt>
                <c:pt idx="3">
                  <c:v>0.3</c:v>
                </c:pt>
                <c:pt idx="4">
                  <c:v>0.3</c:v>
                </c:pt>
                <c:pt idx="5">
                  <c:v>0.3</c:v>
                </c:pt>
                <c:pt idx="6">
                  <c:v>20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10-6C44-465A-AB61-06BAFF1492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2008032783"/>
        <c:axId val="2008058223"/>
      </c:bubbleChart>
      <c:valAx>
        <c:axId val="2008032783"/>
        <c:scaling>
          <c:orientation val="minMax"/>
          <c:max val="0.35000000000000003"/>
          <c:min val="0"/>
        </c:scaling>
        <c:delete val="0"/>
        <c:axPos val="b"/>
        <c:numFmt formatCode="0%" sourceLinked="0"/>
        <c:majorTickMark val="none"/>
        <c:minorTickMark val="none"/>
        <c:tickLblPos val="nextTo"/>
        <c:spPr>
          <a:noFill/>
          <a:ln w="63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Source Serif Pro" panose="02040603050405020204" pitchFamily="18" charset="0"/>
                <a:cs typeface="+mn-cs"/>
              </a:defRPr>
            </a:pPr>
            <a:endParaRPr lang="pt-BR"/>
          </a:p>
        </c:txPr>
        <c:crossAx val="2008058223"/>
        <c:crosses val="autoZero"/>
        <c:crossBetween val="midCat"/>
      </c:valAx>
      <c:valAx>
        <c:axId val="2008058223"/>
        <c:scaling>
          <c:orientation val="minMax"/>
          <c:min val="0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 w="63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8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Source Serif Pro" panose="02040603050405020204" pitchFamily="18" charset="0"/>
                <a:cs typeface="+mn-cs"/>
              </a:defRPr>
            </a:pPr>
            <a:endParaRPr lang="pt-BR"/>
          </a:p>
        </c:txPr>
        <c:crossAx val="200803278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>
      <a:noFill/>
    </a:ln>
    <a:effectLst/>
  </c:spPr>
  <c:txPr>
    <a:bodyPr/>
    <a:lstStyle/>
    <a:p>
      <a:pPr algn="ctr">
        <a:defRPr lang="en-US" sz="800" b="0" i="0" u="none" strike="noStrike" kern="1200" baseline="0">
          <a:solidFill>
            <a:schemeClr val="tx1"/>
          </a:solidFill>
          <a:latin typeface="Montserrat" panose="00000500000000000000" pitchFamily="2" charset="0"/>
          <a:ea typeface="Source Serif Pro" panose="02040603050405020204" pitchFamily="18" charset="0"/>
          <a:cs typeface="+mn-cs"/>
        </a:defRPr>
      </a:pPr>
      <a:endParaRPr lang="pt-B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34547512511391471"/>
          <c:w val="0.99423555361652283"/>
          <c:h val="0.482932586952817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9F4F-43D8-8AF6-A1AEFAD34B23}"/>
              </c:ext>
            </c:extLst>
          </c:dPt>
          <c:dPt>
            <c:idx val="1"/>
            <c:invertIfNegative val="0"/>
            <c:bubble3D val="0"/>
            <c:spPr>
              <a:solidFill>
                <a:schemeClr val="bg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F4F-43D8-8AF6-A1AEFAD34B23}"/>
              </c:ext>
            </c:extLst>
          </c:dPt>
          <c:dPt>
            <c:idx val="2"/>
            <c:invertIfNegative val="0"/>
            <c:bubble3D val="0"/>
            <c:spPr>
              <a:solidFill>
                <a:schemeClr val="bg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9F4F-43D8-8AF6-A1AEFAD34B23}"/>
              </c:ext>
            </c:extLst>
          </c:dPt>
          <c:dPt>
            <c:idx val="3"/>
            <c:invertIfNegative val="0"/>
            <c:bubble3D val="0"/>
            <c:spPr>
              <a:solidFill>
                <a:schemeClr val="bg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F4F-43D8-8AF6-A1AEFAD34B23}"/>
              </c:ext>
            </c:extLst>
          </c:dPt>
          <c:dPt>
            <c:idx val="4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E3C7-4CF6-941E-B664E9B40282}"/>
              </c:ext>
            </c:extLst>
          </c:dPt>
          <c:dPt>
            <c:idx val="5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E3C7-4CF6-941E-B664E9B40282}"/>
              </c:ext>
            </c:extLst>
          </c:dPt>
          <c:dPt>
            <c:idx val="6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E3C7-4CF6-941E-B664E9B40282}"/>
              </c:ext>
            </c:extLst>
          </c:dPt>
          <c:dPt>
            <c:idx val="7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E3C7-4CF6-941E-B664E9B40282}"/>
              </c:ext>
            </c:extLst>
          </c:dPt>
          <c:dPt>
            <c:idx val="8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E3C7-4CF6-941E-B664E9B4028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2024E</c:v>
                </c:pt>
                <c:pt idx="4">
                  <c:v>2025E</c:v>
                </c:pt>
                <c:pt idx="5">
                  <c:v>2026E</c:v>
                </c:pt>
                <c:pt idx="6">
                  <c:v>2027E</c:v>
                </c:pt>
                <c:pt idx="7">
                  <c:v>2028E</c:v>
                </c:pt>
                <c:pt idx="8">
                  <c:v>2029E</c:v>
                </c:pt>
              </c:strCache>
            </c:strRef>
          </c:cat>
          <c:val>
            <c:numRef>
              <c:f>Sheet1!$B$2:$B$10</c:f>
              <c:numCache>
                <c:formatCode>#,##0.0;\(#,##0.0\);"-"</c:formatCode>
                <c:ptCount val="9"/>
                <c:pt idx="0">
                  <c:v>73.628600569999989</c:v>
                </c:pt>
                <c:pt idx="1">
                  <c:v>93.256001809999987</c:v>
                </c:pt>
                <c:pt idx="2">
                  <c:v>107.76122355999999</c:v>
                </c:pt>
                <c:pt idx="3">
                  <c:v>111.64663514332008</c:v>
                </c:pt>
                <c:pt idx="4">
                  <c:v>123.66289453684202</c:v>
                </c:pt>
                <c:pt idx="5">
                  <c:v>147.07245831772872</c:v>
                </c:pt>
                <c:pt idx="6">
                  <c:v>168.39069468860751</c:v>
                </c:pt>
                <c:pt idx="7">
                  <c:v>193.67158472279752</c:v>
                </c:pt>
                <c:pt idx="8">
                  <c:v>224.04947583286636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4F-43D8-8AF6-A1AEFAD34B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-27"/>
        <c:axId val="942057600"/>
        <c:axId val="942055680"/>
      </c:barChart>
      <c:catAx>
        <c:axId val="942057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8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Source Serif Pro" panose="02040603050405020204" pitchFamily="18" charset="0"/>
                <a:cs typeface="+mn-cs"/>
              </a:defRPr>
            </a:pPr>
            <a:endParaRPr lang="pt-BR"/>
          </a:p>
        </c:txPr>
        <c:crossAx val="942055680"/>
        <c:crosses val="autoZero"/>
        <c:auto val="1"/>
        <c:lblAlgn val="ctr"/>
        <c:lblOffset val="100"/>
        <c:noMultiLvlLbl val="0"/>
      </c:catAx>
      <c:valAx>
        <c:axId val="942055680"/>
        <c:scaling>
          <c:orientation val="minMax"/>
          <c:max val="230"/>
          <c:min val="0"/>
        </c:scaling>
        <c:delete val="1"/>
        <c:axPos val="l"/>
        <c:numFmt formatCode="#,##0.0;\(#,##0.0\);&quot;-&quot;" sourceLinked="1"/>
        <c:majorTickMark val="out"/>
        <c:minorTickMark val="none"/>
        <c:tickLblPos val="nextTo"/>
        <c:crossAx val="942057600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9776507428441076E-3"/>
          <c:y val="0.22724674877872744"/>
          <c:w val="0.98030225235735069"/>
          <c:h val="0.6677116612671816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Lucro Bruto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CCC-4DE5-8980-42281842F20C}"/>
              </c:ext>
            </c:extLst>
          </c:dPt>
          <c:dPt>
            <c:idx val="1"/>
            <c:invertIfNegative val="0"/>
            <c:bubble3D val="0"/>
            <c:spPr>
              <a:solidFill>
                <a:schemeClr val="bg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CCC-4DE5-8980-42281842F20C}"/>
              </c:ext>
            </c:extLst>
          </c:dPt>
          <c:dPt>
            <c:idx val="2"/>
            <c:invertIfNegative val="0"/>
            <c:bubble3D val="0"/>
            <c:spPr>
              <a:solidFill>
                <a:schemeClr val="bg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CCC-4DE5-8980-42281842F20C}"/>
              </c:ext>
            </c:extLst>
          </c:dPt>
          <c:dPt>
            <c:idx val="3"/>
            <c:invertIfNegative val="0"/>
            <c:bubble3D val="0"/>
            <c:spPr>
              <a:solidFill>
                <a:schemeClr val="bg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CCC-4DE5-8980-42281842F20C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ECCC-4DE5-8980-42281842F20C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ECCC-4DE5-8980-42281842F20C}"/>
              </c:ext>
            </c:extLst>
          </c:dPt>
          <c:dPt>
            <c:idx val="6"/>
            <c:invertIfNegative val="0"/>
            <c:bubble3D val="0"/>
            <c:spPr>
              <a:solidFill>
                <a:srgbClr val="FDBB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672E-4006-890D-AF9654147627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672E-4006-890D-AF9654147627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672E-4006-890D-AF9654147627}"/>
              </c:ext>
            </c:extLst>
          </c:dPt>
          <c:dLbls>
            <c:dLbl>
              <c:idx val="0"/>
              <c:layout>
                <c:manualLayout>
                  <c:x val="0"/>
                  <c:y val="7.5633175027305988E-2"/>
                </c:manualLayout>
              </c:layout>
              <c:tx>
                <c:rich>
                  <a:bodyPr/>
                  <a:lstStyle/>
                  <a:p>
                    <a:fld id="{5F5131E8-7A0D-4EBF-BA37-8288AC2250F5}" type="VALUE">
                      <a:rPr lang="en-US">
                        <a:solidFill>
                          <a:schemeClr val="bg1"/>
                        </a:solidFill>
                        <a:latin typeface="Montserrat" panose="00000500000000000000" pitchFamily="2" charset="0"/>
                      </a:rPr>
                      <a:pPr/>
                      <a:t>[VALUE]</a:t>
                    </a:fld>
                    <a:endParaRPr lang="pt-BR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ECCC-4DE5-8980-42281842F20C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>
                    <a:defRPr lang="en-US" sz="1000" b="1" i="0" u="none" strike="noStrike" kern="1200" baseline="0">
                      <a:solidFill>
                        <a:schemeClr val="accent1">
                          <a:lumMod val="75000"/>
                        </a:schemeClr>
                      </a:solidFill>
                      <a:latin typeface="Montserrat" panose="00000500000000000000" pitchFamily="2" charset="0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A-ECCC-4DE5-8980-42281842F20C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>
                    <a:defRPr lang="en-US" sz="1000" b="1" i="0" u="none" strike="noStrike" kern="1200" baseline="0">
                      <a:solidFill>
                        <a:schemeClr val="accent1">
                          <a:lumMod val="75000"/>
                        </a:schemeClr>
                      </a:solidFill>
                      <a:latin typeface="Montserrat" panose="00000500000000000000" pitchFamily="2" charset="0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ECCC-4DE5-8980-42281842F20C}"/>
                </c:ext>
              </c:extLst>
            </c:dLbl>
            <c:dLbl>
              <c:idx val="6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>
                    <a:defRPr lang="en-US" sz="1000" b="1" i="0" u="none" strike="noStrike" kern="1200" baseline="0">
                      <a:solidFill>
                        <a:schemeClr val="bg1"/>
                      </a:solidFill>
                      <a:latin typeface="Montserrat" panose="00000500000000000000" pitchFamily="2" charset="0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672E-4006-890D-AF965414762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0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2024E</c:v>
                </c:pt>
                <c:pt idx="4">
                  <c:v>2025E</c:v>
                </c:pt>
                <c:pt idx="5">
                  <c:v>2026E</c:v>
                </c:pt>
                <c:pt idx="6">
                  <c:v>2027E</c:v>
                </c:pt>
                <c:pt idx="7">
                  <c:v>2028E</c:v>
                </c:pt>
                <c:pt idx="8">
                  <c:v>2029E</c:v>
                </c:pt>
              </c:strCache>
            </c:strRef>
          </c:cat>
          <c:val>
            <c:numRef>
              <c:f>Sheet1!$B$2:$B$10</c:f>
              <c:numCache>
                <c:formatCode>#,##0.0;\(#,##0.0\);"-"</c:formatCode>
                <c:ptCount val="9"/>
                <c:pt idx="0">
                  <c:v>4.1225009299999797</c:v>
                </c:pt>
                <c:pt idx="1">
                  <c:v>7.6063564700000015</c:v>
                </c:pt>
                <c:pt idx="2">
                  <c:v>18.011544759999975</c:v>
                </c:pt>
                <c:pt idx="3">
                  <c:v>19.145713609168617</c:v>
                </c:pt>
                <c:pt idx="4">
                  <c:v>18.514240298022919</c:v>
                </c:pt>
                <c:pt idx="5">
                  <c:v>22.073980239255881</c:v>
                </c:pt>
                <c:pt idx="6">
                  <c:v>27.737983243075327</c:v>
                </c:pt>
                <c:pt idx="7">
                  <c:v>34.232661783151087</c:v>
                </c:pt>
                <c:pt idx="8">
                  <c:v>41.723436773608221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CCC-4DE5-8980-42281842F2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7067167"/>
        <c:axId val="7058431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Mg. Bruta</c:v>
                </c:pt>
              </c:strCache>
            </c:strRef>
          </c:tx>
          <c:spPr>
            <a:ln w="15875" cap="rnd">
              <a:solidFill>
                <a:schemeClr val="accent3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34"/>
            <c:spPr>
              <a:solidFill>
                <a:schemeClr val="accent3">
                  <a:lumMod val="75000"/>
                </a:schemeClr>
              </a:solidFill>
              <a:ln w="12700">
                <a:solidFill>
                  <a:schemeClr val="accent3">
                    <a:lumMod val="75000"/>
                  </a:scheme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9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2024E</c:v>
                </c:pt>
                <c:pt idx="4">
                  <c:v>2025E</c:v>
                </c:pt>
                <c:pt idx="5">
                  <c:v>2026E</c:v>
                </c:pt>
                <c:pt idx="6">
                  <c:v>2027E</c:v>
                </c:pt>
                <c:pt idx="7">
                  <c:v>2028E</c:v>
                </c:pt>
                <c:pt idx="8">
                  <c:v>2029E</c:v>
                </c:pt>
              </c:strCache>
            </c:strRef>
          </c:cat>
          <c:val>
            <c:numRef>
              <c:f>Sheet1!$C$2:$C$10</c:f>
              <c:numCache>
                <c:formatCode>0.0%;\(0.0%\);\-</c:formatCode>
                <c:ptCount val="9"/>
                <c:pt idx="0">
                  <c:v>7.6557761694546686E-2</c:v>
                </c:pt>
                <c:pt idx="1">
                  <c:v>0.11495827885841232</c:v>
                </c:pt>
                <c:pt idx="2">
                  <c:v>0.25137109862075835</c:v>
                </c:pt>
                <c:pt idx="3">
                  <c:v>0.26032528603179483</c:v>
                </c:pt>
                <c:pt idx="4">
                  <c:v>0.22727775096156211</c:v>
                </c:pt>
                <c:pt idx="5">
                  <c:v>0.22784512057006601</c:v>
                </c:pt>
                <c:pt idx="6">
                  <c:v>0.25006172773675589</c:v>
                </c:pt>
                <c:pt idx="7">
                  <c:v>0.2683275082754058</c:v>
                </c:pt>
                <c:pt idx="8">
                  <c:v>0.28270050002450198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ECCC-4DE5-8980-42281842F2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64386591"/>
        <c:axId val="1132836287"/>
      </c:lineChart>
      <c:catAx>
        <c:axId val="70671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8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Source Serif Pro" panose="02040603050405020204" pitchFamily="18" charset="0"/>
                <a:cs typeface="+mn-cs"/>
              </a:defRPr>
            </a:pPr>
            <a:endParaRPr lang="pt-BR"/>
          </a:p>
        </c:txPr>
        <c:crossAx val="7058431"/>
        <c:crosses val="autoZero"/>
        <c:auto val="1"/>
        <c:lblAlgn val="ctr"/>
        <c:lblOffset val="100"/>
        <c:noMultiLvlLbl val="0"/>
      </c:catAx>
      <c:valAx>
        <c:axId val="7058431"/>
        <c:scaling>
          <c:orientation val="minMax"/>
          <c:max val="50"/>
        </c:scaling>
        <c:delete val="0"/>
        <c:axPos val="l"/>
        <c:numFmt formatCode="#,##0.0;\(#,##0.0\);&quot;-&quot;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7067167"/>
        <c:crosses val="autoZero"/>
        <c:crossBetween val="between"/>
      </c:valAx>
      <c:valAx>
        <c:axId val="1132836287"/>
        <c:scaling>
          <c:orientation val="minMax"/>
        </c:scaling>
        <c:delete val="0"/>
        <c:axPos val="r"/>
        <c:numFmt formatCode="0.0%;\(0.0%\);\-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764386591"/>
        <c:crosses val="max"/>
        <c:crossBetween val="between"/>
      </c:valAx>
      <c:catAx>
        <c:axId val="76438659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3283628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5664602805532124"/>
          <c:w val="1"/>
          <c:h val="0.782073090591470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Revenue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FA3-4467-A177-46DAA0389047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FA3-4467-A177-46DAA0389047}"/>
              </c:ext>
            </c:extLst>
          </c:dPt>
          <c:dLbls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197" b="1" i="0" u="none" strike="noStrike" kern="1200" baseline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Montserrat" panose="00000500000000000000" pitchFamily="2" charset="0"/>
                      <a:ea typeface="Source Serif Pro" panose="02040603050405020204" pitchFamily="18" charset="0"/>
                      <a:cs typeface="+mn-cs"/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8FA3-4467-A177-46DAA038904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accent3"/>
                    </a:solidFill>
                    <a:latin typeface="Montserrat" panose="00000500000000000000" pitchFamily="2" charset="0"/>
                    <a:ea typeface="Source Serif Pro" panose="02040603050405020204" pitchFamily="18" charset="0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2024E</c:v>
                </c:pt>
              </c:strCache>
            </c:strRef>
          </c:cat>
          <c:val>
            <c:numRef>
              <c:f>Sheet1!$B$2:$B$5</c:f>
              <c:numCache>
                <c:formatCode>#,##0.0;\(#,##0.0\);"-"</c:formatCode>
                <c:ptCount val="4"/>
                <c:pt idx="0">
                  <c:v>73.628600569999989</c:v>
                </c:pt>
                <c:pt idx="1">
                  <c:v>93.256001809999987</c:v>
                </c:pt>
                <c:pt idx="2">
                  <c:v>107.76122355999999</c:v>
                </c:pt>
                <c:pt idx="3">
                  <c:v>111.64663514332008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FA3-4467-A177-46DAA03890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-27"/>
        <c:axId val="7067167"/>
        <c:axId val="7058431"/>
      </c:barChart>
      <c:catAx>
        <c:axId val="70671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Source Serif Pro" panose="02040603050405020204" pitchFamily="18" charset="0"/>
                <a:cs typeface="+mn-cs"/>
              </a:defRPr>
            </a:pPr>
            <a:endParaRPr lang="pt-BR"/>
          </a:p>
        </c:txPr>
        <c:crossAx val="7058431"/>
        <c:crosses val="autoZero"/>
        <c:auto val="1"/>
        <c:lblAlgn val="ctr"/>
        <c:lblOffset val="100"/>
        <c:noMultiLvlLbl val="0"/>
      </c:catAx>
      <c:valAx>
        <c:axId val="7058431"/>
        <c:scaling>
          <c:orientation val="minMax"/>
        </c:scaling>
        <c:delete val="1"/>
        <c:axPos val="l"/>
        <c:numFmt formatCode="#,##0.0;\(#,##0.0\);&quot;-&quot;" sourceLinked="1"/>
        <c:majorTickMark val="none"/>
        <c:minorTickMark val="none"/>
        <c:tickLblPos val="nextTo"/>
        <c:crossAx val="70671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Montserrat" panose="00000500000000000000" pitchFamily="2" charset="0"/>
          <a:ea typeface="Source Serif Pro" panose="02040603050405020204" pitchFamily="18" charset="0"/>
        </a:defRPr>
      </a:pPr>
      <a:endParaRPr lang="pt-B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6003043327456602E-2"/>
          <c:y val="8.241412316172253E-2"/>
          <c:w val="0.96714133410908343"/>
          <c:h val="0.853375135996718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436-4F8E-A69F-F7206E6270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436-4F8E-A69F-F7206E62704E}"/>
              </c:ext>
            </c:extLst>
          </c:dPt>
          <c:dLbls>
            <c:dLbl>
              <c:idx val="3"/>
              <c:layout>
                <c:manualLayout>
                  <c:x val="-1.361098765198512E-16"/>
                  <c:y val="1.674847925127179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00" b="1" i="0" u="none" strike="noStrike" kern="1200" baseline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Montserrat" panose="00000500000000000000" pitchFamily="2" charset="0"/>
                      <a:ea typeface="Source Serif Pro" panose="02040603050405020204" pitchFamily="18" charset="0"/>
                      <a:cs typeface="+mn-cs"/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436-4F8E-A69F-F7206E62704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accent3"/>
                    </a:solidFill>
                    <a:latin typeface="Montserrat" panose="00000500000000000000" pitchFamily="2" charset="0"/>
                    <a:ea typeface="Source Serif Pro" panose="02040603050405020204" pitchFamily="18" charset="0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2024E</c:v>
                </c:pt>
              </c:strCache>
            </c:strRef>
          </c:cat>
          <c:val>
            <c:numRef>
              <c:f>Sheet1!$B$2:$B$5</c:f>
              <c:numCache>
                <c:formatCode>#,##0.0;\(#,##0.0\);"-"</c:formatCode>
                <c:ptCount val="4"/>
                <c:pt idx="0">
                  <c:v>4.1225009299999797</c:v>
                </c:pt>
                <c:pt idx="1">
                  <c:v>7.6063564700000015</c:v>
                </c:pt>
                <c:pt idx="2">
                  <c:v>18.011544759999975</c:v>
                </c:pt>
                <c:pt idx="3">
                  <c:v>19.145713609168617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436-4F8E-A69F-F7206E6270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7067167"/>
        <c:axId val="7058431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EBITDA Margin</c:v>
                </c:pt>
              </c:strCache>
            </c:strRef>
          </c:tx>
          <c:spPr>
            <a:ln w="12700" cap="rnd">
              <a:solidFill>
                <a:srgbClr val="4B2582"/>
              </a:solidFill>
              <a:round/>
            </a:ln>
            <a:effectLst/>
          </c:spPr>
          <c:marker>
            <c:symbol val="circle"/>
            <c:size val="25"/>
            <c:spPr>
              <a:solidFill>
                <a:srgbClr val="4B2582"/>
              </a:solidFill>
              <a:ln w="57150">
                <a:solidFill>
                  <a:srgbClr val="4B2582"/>
                </a:solidFill>
              </a:ln>
              <a:effectLst/>
            </c:spPr>
          </c:marker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Source Serif Pro" panose="02040603050405020204" pitchFamily="18" charset="0"/>
                    <a:cs typeface="Sabon Next LT" panose="02000500000000000000" pitchFamily="2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2024E</c:v>
                </c:pt>
              </c:strCache>
            </c:strRef>
          </c:cat>
          <c:val>
            <c:numRef>
              <c:f>Sheet1!$C$2:$C$5</c:f>
              <c:numCache>
                <c:formatCode>0.0%;\(0.0%\);\-</c:formatCode>
                <c:ptCount val="4"/>
                <c:pt idx="0">
                  <c:v>7.6557761694546686E-2</c:v>
                </c:pt>
                <c:pt idx="1">
                  <c:v>0.11495827885841232</c:v>
                </c:pt>
                <c:pt idx="2">
                  <c:v>0.25137109862075835</c:v>
                </c:pt>
                <c:pt idx="3">
                  <c:v>0.26032528603179483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5436-4F8E-A69F-F7206E6270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64386591"/>
        <c:axId val="1132836287"/>
      </c:lineChart>
      <c:catAx>
        <c:axId val="70671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8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Source Serif Pro" panose="02040603050405020204" pitchFamily="18" charset="0"/>
                <a:cs typeface="+mn-cs"/>
              </a:defRPr>
            </a:pPr>
            <a:endParaRPr lang="pt-BR"/>
          </a:p>
        </c:txPr>
        <c:crossAx val="7058431"/>
        <c:crosses val="autoZero"/>
        <c:auto val="1"/>
        <c:lblAlgn val="ctr"/>
        <c:lblOffset val="100"/>
        <c:noMultiLvlLbl val="0"/>
      </c:catAx>
      <c:valAx>
        <c:axId val="7058431"/>
        <c:scaling>
          <c:orientation val="minMax"/>
          <c:max val="35"/>
          <c:min val="0"/>
        </c:scaling>
        <c:delete val="0"/>
        <c:axPos val="l"/>
        <c:numFmt formatCode="#,##0.0;\(#,##0.0\);&quot;-&quot;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7067167"/>
        <c:crosses val="autoZero"/>
        <c:crossBetween val="between"/>
      </c:valAx>
      <c:valAx>
        <c:axId val="1132836287"/>
        <c:scaling>
          <c:orientation val="minMax"/>
          <c:max val="0.30000000000000004"/>
        </c:scaling>
        <c:delete val="0"/>
        <c:axPos val="r"/>
        <c:numFmt formatCode="0.0%;\(0.0%\);\-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764386591"/>
        <c:crosses val="max"/>
        <c:crossBetween val="between"/>
      </c:valAx>
      <c:catAx>
        <c:axId val="76438659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3283628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6003043327456602E-2"/>
          <c:y val="9.4643678082096033E-2"/>
          <c:w val="0.96714133410908343"/>
          <c:h val="0.8503598549238814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Geração de Caixa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0AA-4D81-96FF-C685A5A3090D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0AA-4D81-96FF-C685A5A3090D}"/>
              </c:ext>
            </c:extLst>
          </c:dPt>
          <c:dLbls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00" b="1" i="0" u="none" strike="noStrike" kern="1200" baseline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Montserrat" panose="00000500000000000000" pitchFamily="2" charset="0"/>
                      <a:ea typeface="Source Serif Pro" panose="02040603050405020204" pitchFamily="18" charset="0"/>
                      <a:cs typeface="+mn-cs"/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F0AA-4D81-96FF-C685A5A3090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accent3"/>
                    </a:solidFill>
                    <a:latin typeface="Montserrat" panose="00000500000000000000" pitchFamily="2" charset="0"/>
                    <a:ea typeface="Source Serif Pro" panose="02040603050405020204" pitchFamily="18" charset="0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2024E</c:v>
                </c:pt>
              </c:strCache>
            </c:strRef>
          </c:cat>
          <c:val>
            <c:numRef>
              <c:f>Sheet1!$B$2:$B$5</c:f>
              <c:numCache>
                <c:formatCode>#,##0.0;\(#,##0.0\);"-"</c:formatCode>
                <c:ptCount val="4"/>
                <c:pt idx="0">
                  <c:v>3.5139488999999773</c:v>
                </c:pt>
                <c:pt idx="1">
                  <c:v>4.498232760000004</c:v>
                </c:pt>
                <c:pt idx="2">
                  <c:v>10.842889979999976</c:v>
                </c:pt>
                <c:pt idx="3">
                  <c:v>11.469383579561786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0AA-4D81-96FF-C685A5A309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7067167"/>
        <c:axId val="7058431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% da RL</c:v>
                </c:pt>
              </c:strCache>
            </c:strRef>
          </c:tx>
          <c:spPr>
            <a:ln w="12700" cap="rnd">
              <a:solidFill>
                <a:srgbClr val="4B2582"/>
              </a:solidFill>
              <a:round/>
            </a:ln>
            <a:effectLst/>
          </c:spPr>
          <c:marker>
            <c:symbol val="circle"/>
            <c:size val="25"/>
            <c:spPr>
              <a:solidFill>
                <a:srgbClr val="4B2582"/>
              </a:solidFill>
              <a:ln w="50800">
                <a:solidFill>
                  <a:srgbClr val="4B2582"/>
                </a:solidFill>
              </a:ln>
              <a:effectLst/>
            </c:spPr>
          </c:marker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00" b="1" i="0" u="none" strike="noStrike" kern="1200" baseline="0">
                      <a:solidFill>
                        <a:schemeClr val="bg1"/>
                      </a:solidFill>
                      <a:latin typeface="Montserrat" panose="00000500000000000000" pitchFamily="2" charset="0"/>
                      <a:ea typeface="Source Serif Pro" panose="02040603050405020204" pitchFamily="18" charset="0"/>
                      <a:cs typeface="Sabon Next LT" panose="02000500000000000000" pitchFamily="2" charset="0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F0AA-4D81-96FF-C685A5A3090D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00" b="1" i="0" u="none" strike="noStrike" kern="1200" baseline="0">
                      <a:solidFill>
                        <a:schemeClr val="bg1"/>
                      </a:solidFill>
                      <a:latin typeface="Montserrat" panose="00000500000000000000" pitchFamily="2" charset="0"/>
                      <a:ea typeface="Source Serif Pro" panose="02040603050405020204" pitchFamily="18" charset="0"/>
                      <a:cs typeface="Sabon Next LT" panose="02000500000000000000" pitchFamily="2" charset="0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F0AA-4D81-96FF-C685A5A3090D}"/>
                </c:ext>
              </c:extLst>
            </c:dLbl>
            <c:dLbl>
              <c:idx val="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00" b="1" i="0" u="none" strike="noStrike" kern="1200" baseline="0">
                      <a:solidFill>
                        <a:schemeClr val="bg1"/>
                      </a:solidFill>
                      <a:latin typeface="Montserrat" panose="00000500000000000000" pitchFamily="2" charset="0"/>
                      <a:ea typeface="Source Serif Pro" panose="02040603050405020204" pitchFamily="18" charset="0"/>
                      <a:cs typeface="Sabon Next LT" panose="02000500000000000000" pitchFamily="2" charset="0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F0AA-4D81-96FF-C685A5A3090D}"/>
                </c:ext>
              </c:extLst>
            </c:dLbl>
            <c:dLbl>
              <c:idx val="3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00" b="1" i="0" u="none" strike="noStrike" kern="1200" baseline="0">
                      <a:solidFill>
                        <a:schemeClr val="bg1"/>
                      </a:solidFill>
                      <a:latin typeface="Montserrat" panose="00000500000000000000" pitchFamily="2" charset="0"/>
                      <a:ea typeface="Source Serif Pro" panose="02040603050405020204" pitchFamily="18" charset="0"/>
                      <a:cs typeface="Sabon Next LT" panose="02000500000000000000" pitchFamily="2" charset="0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F0AA-4D81-96FF-C685A5A3090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Source Serif Pro" panose="02040603050405020204" pitchFamily="18" charset="0"/>
                    <a:cs typeface="Sabon Next LT" panose="02000500000000000000" pitchFamily="2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2024E</c:v>
                </c:pt>
              </c:strCache>
            </c:strRef>
          </c:cat>
          <c:val>
            <c:numRef>
              <c:f>Sheet1!$C$2:$C$5</c:f>
              <c:numCache>
                <c:formatCode>0.0%;\(0.0%\);\-</c:formatCode>
                <c:ptCount val="4"/>
                <c:pt idx="0">
                  <c:v>0.85238280346488471</c:v>
                </c:pt>
                <c:pt idx="1">
                  <c:v>0.59137811615079394</c:v>
                </c:pt>
                <c:pt idx="2">
                  <c:v>0.60199667071754215</c:v>
                </c:pt>
                <c:pt idx="3">
                  <c:v>0.59905751301269106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F0AA-4D81-96FF-C685A5A309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64386591"/>
        <c:axId val="1132836287"/>
      </c:lineChart>
      <c:catAx>
        <c:axId val="70671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8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Source Serif Pro" panose="02040603050405020204" pitchFamily="18" charset="0"/>
                <a:cs typeface="+mn-cs"/>
              </a:defRPr>
            </a:pPr>
            <a:endParaRPr lang="pt-BR"/>
          </a:p>
        </c:txPr>
        <c:crossAx val="7058431"/>
        <c:crosses val="autoZero"/>
        <c:auto val="1"/>
        <c:lblAlgn val="ctr"/>
        <c:lblOffset val="100"/>
        <c:noMultiLvlLbl val="0"/>
      </c:catAx>
      <c:valAx>
        <c:axId val="7058431"/>
        <c:scaling>
          <c:orientation val="minMax"/>
          <c:min val="0"/>
        </c:scaling>
        <c:delete val="0"/>
        <c:axPos val="l"/>
        <c:numFmt formatCode="#,##0.0;\(#,##0.0\);&quot;-&quot;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7067167"/>
        <c:crosses val="autoZero"/>
        <c:crossBetween val="between"/>
      </c:valAx>
      <c:valAx>
        <c:axId val="1132836287"/>
        <c:scaling>
          <c:orientation val="minMax"/>
          <c:max val="0.9"/>
          <c:min val="0"/>
        </c:scaling>
        <c:delete val="0"/>
        <c:axPos val="r"/>
        <c:numFmt formatCode="0.0%;\(0.0%\);\-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764386591"/>
        <c:crosses val="max"/>
        <c:crossBetween val="between"/>
      </c:valAx>
      <c:catAx>
        <c:axId val="76438659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3283628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5FD3FE9-5DB5-4F21-4C9B-0C15955CE4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183" cy="502676"/>
          </a:xfrm>
          <a:prstGeom prst="rect">
            <a:avLst/>
          </a:prstGeom>
        </p:spPr>
        <p:txBody>
          <a:bodyPr vert="horz" lIns="96597" tIns="48299" rIns="96597" bIns="48299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193A33-9F48-9536-750E-D79691973F4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0799" y="0"/>
            <a:ext cx="2984183" cy="502676"/>
          </a:xfrm>
          <a:prstGeom prst="rect">
            <a:avLst/>
          </a:prstGeom>
        </p:spPr>
        <p:txBody>
          <a:bodyPr vert="horz" lIns="96597" tIns="48299" rIns="96597" bIns="48299" rtlCol="0"/>
          <a:lstStyle>
            <a:lvl1pPr algn="r">
              <a:defRPr sz="1300"/>
            </a:lvl1pPr>
          </a:lstStyle>
          <a:p>
            <a:fld id="{885B61C5-FAE3-4C2D-813C-D9C0E2BF0517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D98626-9D7B-A855-A730-BFB1B86991F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6039"/>
            <a:ext cx="2984183" cy="502674"/>
          </a:xfrm>
          <a:prstGeom prst="rect">
            <a:avLst/>
          </a:prstGeom>
        </p:spPr>
        <p:txBody>
          <a:bodyPr vert="horz" lIns="96597" tIns="48299" rIns="96597" bIns="48299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4C0A40-BE93-C699-4735-28DE88DC936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0799" y="9516039"/>
            <a:ext cx="2984183" cy="502674"/>
          </a:xfrm>
          <a:prstGeom prst="rect">
            <a:avLst/>
          </a:prstGeom>
        </p:spPr>
        <p:txBody>
          <a:bodyPr vert="horz" lIns="96597" tIns="48299" rIns="96597" bIns="48299" rtlCol="0" anchor="b"/>
          <a:lstStyle>
            <a:lvl1pPr algn="r">
              <a:defRPr sz="1300"/>
            </a:lvl1pPr>
          </a:lstStyle>
          <a:p>
            <a:fld id="{464879DD-DEC9-4111-BEA1-D7ED50C4F3D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97214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183" cy="502676"/>
          </a:xfrm>
          <a:prstGeom prst="rect">
            <a:avLst/>
          </a:prstGeom>
        </p:spPr>
        <p:txBody>
          <a:bodyPr vert="horz" lIns="96597" tIns="48299" rIns="96597" bIns="48299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0799" y="0"/>
            <a:ext cx="2984183" cy="502676"/>
          </a:xfrm>
          <a:prstGeom prst="rect">
            <a:avLst/>
          </a:prstGeom>
        </p:spPr>
        <p:txBody>
          <a:bodyPr vert="horz" lIns="96597" tIns="48299" rIns="96597" bIns="48299" rtlCol="0"/>
          <a:lstStyle>
            <a:lvl1pPr algn="r">
              <a:defRPr sz="1300"/>
            </a:lvl1pPr>
          </a:lstStyle>
          <a:p>
            <a:fld id="{41FEC49B-3E4C-4B5C-892F-BC2D139BADF6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0275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597" tIns="48299" rIns="96597" bIns="48299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658" y="4821506"/>
            <a:ext cx="5509260" cy="3944868"/>
          </a:xfrm>
          <a:prstGeom prst="rect">
            <a:avLst/>
          </a:prstGeom>
        </p:spPr>
        <p:txBody>
          <a:bodyPr vert="horz" lIns="96597" tIns="48299" rIns="96597" bIns="48299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6039"/>
            <a:ext cx="2984183" cy="502674"/>
          </a:xfrm>
          <a:prstGeom prst="rect">
            <a:avLst/>
          </a:prstGeom>
        </p:spPr>
        <p:txBody>
          <a:bodyPr vert="horz" lIns="96597" tIns="48299" rIns="96597" bIns="48299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0799" y="9516039"/>
            <a:ext cx="2984183" cy="502674"/>
          </a:xfrm>
          <a:prstGeom prst="rect">
            <a:avLst/>
          </a:prstGeom>
        </p:spPr>
        <p:txBody>
          <a:bodyPr vert="horz" lIns="96597" tIns="48299" rIns="96597" bIns="48299" rtlCol="0" anchor="b"/>
          <a:lstStyle>
            <a:lvl1pPr algn="r">
              <a:defRPr sz="1300"/>
            </a:lvl1pPr>
          </a:lstStyle>
          <a:p>
            <a:fld id="{2C3FFAA1-1EF5-4DC6-9FCC-7AAEF85B571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0364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56" userDrawn="1">
          <p15:clr>
            <a:srgbClr val="F26B43"/>
          </p15:clr>
        </p15:guide>
        <p15:guide id="2" pos="2169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FFAA1-1EF5-4DC6-9FCC-7AAEF85B571D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84429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FFAA1-1EF5-4DC6-9FCC-7AAEF85B571D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30029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3FFAA1-1EF5-4DC6-9FCC-7AAEF85B571D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77273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3FFAA1-1EF5-4DC6-9FCC-7AAEF85B571D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36136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FFAA1-1EF5-4DC6-9FCC-7AAEF85B571D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6442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FFAA1-1EF5-4DC6-9FCC-7AAEF85B571D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65236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FFAA1-1EF5-4DC6-9FCC-7AAEF85B571D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119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6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7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8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9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664230EE-BFB0-16DC-8CC9-E557B69BA5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4958" y="3224354"/>
            <a:ext cx="4860395" cy="341632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algn="r">
              <a:defRPr>
                <a:latin typeface="TT Hoves Pro Trial Medium" panose="020B0003020000020203" pitchFamily="34" charset="0"/>
                <a:ea typeface="Source Serif Pro Black" panose="02040903050405020204" pitchFamily="18" charset="0"/>
              </a:defRPr>
            </a:lvl1pPr>
          </a:lstStyle>
          <a:p>
            <a:r>
              <a:rPr lang="pt-BR" dirty="0"/>
              <a:t>Clique para editar o título</a:t>
            </a:r>
          </a:p>
        </p:txBody>
      </p:sp>
      <p:sp>
        <p:nvSpPr>
          <p:cNvPr id="9" name="Espaço Reservado para Texto 3">
            <a:extLst>
              <a:ext uri="{FF2B5EF4-FFF2-40B4-BE49-F238E27FC236}">
                <a16:creationId xmlns:a16="http://schemas.microsoft.com/office/drawing/2014/main" id="{9C0BEE34-7884-3D95-996B-284610609C4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971243" y="3593694"/>
            <a:ext cx="4860395" cy="406829"/>
          </a:xfrm>
          <a:prstGeom prst="rect">
            <a:avLst/>
          </a:prstGeom>
        </p:spPr>
        <p:txBody>
          <a:bodyPr lIns="0" tIns="108000" rIns="0" bIns="0">
            <a:spAutoFit/>
          </a:bodyPr>
          <a:lstStyle>
            <a:lvl1pPr marL="0" indent="0" algn="r">
              <a:buNone/>
              <a:defRPr sz="1800">
                <a:latin typeface="TT Hoves Pro Trial" panose="020B0003020000020203" pitchFamily="34" charset="0"/>
                <a:ea typeface="Source Serif Pro Light" panose="020403030504050202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13" name="Espaço Reservado para Imagem 11">
            <a:extLst>
              <a:ext uri="{FF2B5EF4-FFF2-40B4-BE49-F238E27FC236}">
                <a16:creationId xmlns:a16="http://schemas.microsoft.com/office/drawing/2014/main" id="{133A270E-C767-2BFC-6BE3-2107A5471F0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6719888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pt-BR" dirty="0"/>
              <a:t>Clique aqui para adicionar a imagem</a:t>
            </a:r>
          </a:p>
        </p:txBody>
      </p:sp>
    </p:spTree>
    <p:extLst>
      <p:ext uri="{BB962C8B-B14F-4D97-AF65-F5344CB8AC3E}">
        <p14:creationId xmlns:p14="http://schemas.microsoft.com/office/powerpoint/2010/main" val="2332798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5" pos="7453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Imagem 11">
            <a:extLst>
              <a:ext uri="{FF2B5EF4-FFF2-40B4-BE49-F238E27FC236}">
                <a16:creationId xmlns:a16="http://schemas.microsoft.com/office/drawing/2014/main" id="{133A270E-C767-2BFC-6BE3-2107A5471F0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" y="0"/>
            <a:ext cx="7836195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pt-BR" dirty="0"/>
              <a:t>Clique aqui para adicionar a imagem</a:t>
            </a:r>
          </a:p>
        </p:txBody>
      </p:sp>
    </p:spTree>
    <p:extLst>
      <p:ext uri="{BB962C8B-B14F-4D97-AF65-F5344CB8AC3E}">
        <p14:creationId xmlns:p14="http://schemas.microsoft.com/office/powerpoint/2010/main" val="34110614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5" pos="7453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Imagem 11">
            <a:extLst>
              <a:ext uri="{FF2B5EF4-FFF2-40B4-BE49-F238E27FC236}">
                <a16:creationId xmlns:a16="http://schemas.microsoft.com/office/drawing/2014/main" id="{133A270E-C767-2BFC-6BE3-2107A5471F0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355805" y="0"/>
            <a:ext cx="7836195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pt-BR" dirty="0"/>
              <a:t>Clique aqui para adicionar a imagem</a:t>
            </a:r>
          </a:p>
        </p:txBody>
      </p:sp>
    </p:spTree>
    <p:extLst>
      <p:ext uri="{BB962C8B-B14F-4D97-AF65-F5344CB8AC3E}">
        <p14:creationId xmlns:p14="http://schemas.microsoft.com/office/powerpoint/2010/main" val="4107097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740" userDrawn="1">
          <p15:clr>
            <a:srgbClr val="F26B43"/>
          </p15:clr>
        </p15:guide>
        <p15:guide id="5" pos="7453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11705-E470-8D14-31B3-824FE4DAC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2B80E022-3FDD-ADDD-4ECC-A35C1C62984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b="0" spc="0" dirty="0">
                <a:solidFill>
                  <a:schemeClr val="tx1"/>
                </a:solidFill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78881D-E677-81F1-4FEB-E641DAF4692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27651" y="1450975"/>
            <a:ext cx="7607161" cy="454818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7BB55DD-2EFA-B3F5-5529-538C5848595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531844" y="1450975"/>
            <a:ext cx="4551062" cy="4548188"/>
          </a:xfrm>
          <a:prstGeom prst="roundRect">
            <a:avLst>
              <a:gd name="adj" fmla="val 8077"/>
            </a:avLst>
          </a:prstGeom>
        </p:spPr>
        <p:txBody>
          <a:bodyPr anchor="ctr" anchorCtr="0"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9905E8E-005A-2CB8-D13C-50AD91C5419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2695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11" name="Espaço Reservado para Número de Slide 3">
            <a:extLst>
              <a:ext uri="{FF2B5EF4-FFF2-40B4-BE49-F238E27FC236}">
                <a16:creationId xmlns:a16="http://schemas.microsoft.com/office/drawing/2014/main" id="{71659637-18F6-B178-84AC-57BA4CF70E4D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marL="0" algn="r" defTabSz="914400" rtl="0" eaLnBrk="1" latinLnBrk="0" hangingPunct="1">
              <a:defRPr lang="pt-BR" sz="1000" kern="1200" smtClean="0">
                <a:solidFill>
                  <a:srgbClr val="222F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algn="ctr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3750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>
            <a:extLst>
              <a:ext uri="{FF2B5EF4-FFF2-40B4-BE49-F238E27FC236}">
                <a16:creationId xmlns:a16="http://schemas.microsoft.com/office/drawing/2014/main" id="{ADFAAAC7-5ABC-2AEB-BC07-DD7BA8A5B9E0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76121"/>
            <a:ext cx="5364163" cy="4023041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lang="en-US" sz="1100" b="0" kern="1200" spc="-20" baseline="0" dirty="0">
                <a:solidFill>
                  <a:schemeClr val="tx2"/>
                </a:solidFill>
                <a:latin typeface="TT Hoves Pro Trial Medium" panose="020B0003020000020203" pitchFamily="34" charset="0"/>
                <a:ea typeface="Source Serif Pro" panose="02040603050405020204" pitchFamily="18" charset="0"/>
                <a:cs typeface="+mn-cs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0" lvl="3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1638" y="1976120"/>
            <a:ext cx="5573175" cy="4023041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b="0" spc="0" dirty="0">
                <a:solidFill>
                  <a:schemeClr val="tx1"/>
                </a:solidFill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31838" y="1455672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61639" y="1455672"/>
            <a:ext cx="5573174" cy="253916"/>
          </a:xfrm>
        </p:spPr>
        <p:txBody>
          <a:bodyPr wrap="square">
            <a:spAutoFit/>
          </a:bodyPr>
          <a:lstStyle>
            <a:lvl1pPr>
              <a:defRPr sz="1600" b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6" name="Content Placeholder 13">
            <a:extLst>
              <a:ext uri="{FF2B5EF4-FFF2-40B4-BE49-F238E27FC236}">
                <a16:creationId xmlns:a16="http://schemas.microsoft.com/office/drawing/2014/main" id="{7B3249D2-1FE0-ED6D-322D-323EFD8671F4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31838" y="1732020"/>
            <a:ext cx="5364163" cy="234867"/>
          </a:xfrm>
        </p:spPr>
        <p:txBody>
          <a:bodyPr tIns="36000">
            <a:spAutoFit/>
          </a:bodyPr>
          <a:lstStyle>
            <a:lvl1pPr>
              <a:defRPr sz="1200" b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" panose="02040603050405020204" pitchFamily="18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20924A97-2EEA-A043-22A5-75FCC7450D6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61639" y="1732020"/>
            <a:ext cx="5573174" cy="234867"/>
          </a:xfrm>
        </p:spPr>
        <p:txBody>
          <a:bodyPr wrap="square" tIns="36000">
            <a:spAutoFit/>
          </a:bodyPr>
          <a:lstStyle>
            <a:lvl1pPr>
              <a:defRPr sz="1200" b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" panose="02040603050405020204" pitchFamily="18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75A68369-8B33-C898-7757-7C5067723B8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2695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19" name="Espaço Reservado para Número de Slide 3">
            <a:extLst>
              <a:ext uri="{FF2B5EF4-FFF2-40B4-BE49-F238E27FC236}">
                <a16:creationId xmlns:a16="http://schemas.microsoft.com/office/drawing/2014/main" id="{2270AFF3-59D8-4C40-C53C-030FABBADB20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0078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e Content/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66887"/>
            <a:ext cx="11102976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b="0" spc="0" dirty="0">
                <a:solidFill>
                  <a:schemeClr val="tx1"/>
                </a:solidFill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8" y="1455672"/>
            <a:ext cx="11102976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85709AA8-11EC-7351-BB57-8F5BC0581EF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1838" y="1732020"/>
            <a:ext cx="11102976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A6A1ECA-879E-D89D-87D7-3D496D5538B8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731837" y="4335867"/>
            <a:ext cx="11102976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503877B8-4F20-48F5-2A77-1A0FD02DC69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31838" y="3824652"/>
            <a:ext cx="11102976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13">
            <a:extLst>
              <a:ext uri="{FF2B5EF4-FFF2-40B4-BE49-F238E27FC236}">
                <a16:creationId xmlns:a16="http://schemas.microsoft.com/office/drawing/2014/main" id="{E63A9EE8-9F22-F556-5F53-E4D76C4AE54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731838" y="4101000"/>
            <a:ext cx="11102976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FB3D24B6-EF76-ACDB-C532-BF0B3C8C610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2695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5B9D12CF-E33A-03EC-B918-92635B428872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6709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6348651-DCC4-B67C-7CA1-367D8ECC30F4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217662" y="1966887"/>
            <a:ext cx="3617151" cy="4032275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66888"/>
            <a:ext cx="3514161" cy="4032275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09823" y="1966887"/>
            <a:ext cx="3617151" cy="4032275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b="0" spc="0" dirty="0">
                <a:solidFill>
                  <a:schemeClr val="tx1"/>
                </a:solidFill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8" y="1455672"/>
            <a:ext cx="3514161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409823" y="1455672"/>
            <a:ext cx="3617150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B2B5B3F1-9ED1-137A-6C27-576A7EC4AE0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217662" y="1455672"/>
            <a:ext cx="3617150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13">
            <a:extLst>
              <a:ext uri="{FF2B5EF4-FFF2-40B4-BE49-F238E27FC236}">
                <a16:creationId xmlns:a16="http://schemas.microsoft.com/office/drawing/2014/main" id="{A0A27CB2-4641-6D48-05E4-E731468C849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731839" y="1732020"/>
            <a:ext cx="3514160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37C4537D-C612-17FB-DAE7-6CEF1C020504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409822" y="1732020"/>
            <a:ext cx="3617149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8" name="Content Placeholder 13">
            <a:extLst>
              <a:ext uri="{FF2B5EF4-FFF2-40B4-BE49-F238E27FC236}">
                <a16:creationId xmlns:a16="http://schemas.microsoft.com/office/drawing/2014/main" id="{C2CF7852-20BF-184D-3CA4-224092575BD8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217662" y="1732020"/>
            <a:ext cx="3617149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A974C4B8-0593-F4C6-AB5E-BB1F2F5CDF8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2695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10" name="Espaço Reservado para Número de Slide 3">
            <a:extLst>
              <a:ext uri="{FF2B5EF4-FFF2-40B4-BE49-F238E27FC236}">
                <a16:creationId xmlns:a16="http://schemas.microsoft.com/office/drawing/2014/main" id="{B47FDA6A-CB56-1A6D-C73C-7C49BAB93B4F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6080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93104F92-1FF2-990F-68A4-9E5697EACE99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9124113" y="1978546"/>
            <a:ext cx="2710700" cy="4020616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6348651-DCC4-B67C-7CA1-367D8ECC30F4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298506" y="1978546"/>
            <a:ext cx="2691526" cy="4020616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8" y="1978547"/>
            <a:ext cx="2591808" cy="4020616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42743" y="1978546"/>
            <a:ext cx="2691526" cy="4020616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b="0" spc="0" dirty="0">
                <a:solidFill>
                  <a:schemeClr val="tx1"/>
                </a:solidFill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9" y="1455672"/>
            <a:ext cx="2591808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42743" y="1455672"/>
            <a:ext cx="2691526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B2B5B3F1-9ED1-137A-6C27-576A7EC4AE0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98506" y="1455672"/>
            <a:ext cx="2691526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8" name="Content Placeholder 13">
            <a:extLst>
              <a:ext uri="{FF2B5EF4-FFF2-40B4-BE49-F238E27FC236}">
                <a16:creationId xmlns:a16="http://schemas.microsoft.com/office/drawing/2014/main" id="{46009A66-FE60-490E-942D-974C9244E92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9124113" y="1455672"/>
            <a:ext cx="2710700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7559253F-7844-9260-04E1-B1D366C70B3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1841" y="1732020"/>
            <a:ext cx="2591808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13">
            <a:extLst>
              <a:ext uri="{FF2B5EF4-FFF2-40B4-BE49-F238E27FC236}">
                <a16:creationId xmlns:a16="http://schemas.microsoft.com/office/drawing/2014/main" id="{70734B3F-7493-ED3B-E89C-3F0D6E5EA738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442744" y="1732020"/>
            <a:ext cx="269152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1" name="Content Placeholder 13">
            <a:extLst>
              <a:ext uri="{FF2B5EF4-FFF2-40B4-BE49-F238E27FC236}">
                <a16:creationId xmlns:a16="http://schemas.microsoft.com/office/drawing/2014/main" id="{A5965DC8-9681-D85D-67F6-5DA220388CB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298506" y="1732020"/>
            <a:ext cx="269152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4" name="Content Placeholder 13">
            <a:extLst>
              <a:ext uri="{FF2B5EF4-FFF2-40B4-BE49-F238E27FC236}">
                <a16:creationId xmlns:a16="http://schemas.microsoft.com/office/drawing/2014/main" id="{A9B22168-6C46-1EBB-8CFB-E74CB918730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124113" y="1732020"/>
            <a:ext cx="269152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608DCF1-B21B-1CFD-921B-C6DF7663BD5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2695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10" name="Espaço Reservado para Número de Slide 3">
            <a:extLst>
              <a:ext uri="{FF2B5EF4-FFF2-40B4-BE49-F238E27FC236}">
                <a16:creationId xmlns:a16="http://schemas.microsoft.com/office/drawing/2014/main" id="{A86D5457-3A55-89D6-5C5B-9F2C315DBB51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8015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66887"/>
            <a:ext cx="5364163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1638" y="1966886"/>
            <a:ext cx="5573175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b="0" spc="0" dirty="0">
                <a:solidFill>
                  <a:schemeClr val="tx1"/>
                </a:solidFill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8" y="1455672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61639" y="1455672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85709AA8-11EC-7351-BB57-8F5BC0581EF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1838" y="1732020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9BDD6D74-2C59-881D-2879-83A310F8164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261638" y="1732020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A6A1ECA-879E-D89D-87D7-3D496D5538B8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731837" y="4335867"/>
            <a:ext cx="5364163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10AD194-9F72-220B-857E-ECD4E82AF0F3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6261638" y="4335866"/>
            <a:ext cx="5573175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503877B8-4F20-48F5-2A77-1A0FD02DC69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31838" y="3824652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Content Placeholder 13">
            <a:extLst>
              <a:ext uri="{FF2B5EF4-FFF2-40B4-BE49-F238E27FC236}">
                <a16:creationId xmlns:a16="http://schemas.microsoft.com/office/drawing/2014/main" id="{4EE66E1E-9677-ADFA-CE99-CDBF333EF7C7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1639" y="3824652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13">
            <a:extLst>
              <a:ext uri="{FF2B5EF4-FFF2-40B4-BE49-F238E27FC236}">
                <a16:creationId xmlns:a16="http://schemas.microsoft.com/office/drawing/2014/main" id="{E63A9EE8-9F22-F556-5F53-E4D76C4AE54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731838" y="4101000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9BEF7F00-8363-9DF7-291A-FC36C3923C2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261638" y="4101000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23F91DE-2EEB-6145-9C43-8C9F772377C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2695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10" name="Espaço Reservado para Número de Slide 3">
            <a:extLst>
              <a:ext uri="{FF2B5EF4-FFF2-40B4-BE49-F238E27FC236}">
                <a16:creationId xmlns:a16="http://schemas.microsoft.com/office/drawing/2014/main" id="{1A869515-46F1-EC4A-C1B4-A93C7092036B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2828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66887"/>
            <a:ext cx="5364163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1638" y="1966886"/>
            <a:ext cx="5573175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b="0" spc="0" dirty="0">
                <a:solidFill>
                  <a:schemeClr val="tx1"/>
                </a:solidFill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8" y="1455672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61639" y="1455672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85709AA8-11EC-7351-BB57-8F5BC0581EF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1838" y="1732020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9BDD6D74-2C59-881D-2879-83A310F8164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261638" y="1732020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A6A1ECA-879E-D89D-87D7-3D496D5538B8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731837" y="4335867"/>
            <a:ext cx="5364163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10AD194-9F72-220B-857E-ECD4E82AF0F3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6261638" y="4335866"/>
            <a:ext cx="5573175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503877B8-4F20-48F5-2A77-1A0FD02DC69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31838" y="3824652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Content Placeholder 13">
            <a:extLst>
              <a:ext uri="{FF2B5EF4-FFF2-40B4-BE49-F238E27FC236}">
                <a16:creationId xmlns:a16="http://schemas.microsoft.com/office/drawing/2014/main" id="{4EE66E1E-9677-ADFA-CE99-CDBF333EF7C7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1639" y="3824652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13">
            <a:extLst>
              <a:ext uri="{FF2B5EF4-FFF2-40B4-BE49-F238E27FC236}">
                <a16:creationId xmlns:a16="http://schemas.microsoft.com/office/drawing/2014/main" id="{E63A9EE8-9F22-F556-5F53-E4D76C4AE54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731838" y="4101000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9BEF7F00-8363-9DF7-291A-FC36C3923C2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261638" y="4101000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FB3D24B6-EF76-ACDB-C532-BF0B3C8C610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2695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5B9D12CF-E33A-03EC-B918-92635B428872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5548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2857278"/>
            <a:ext cx="5364163" cy="1208822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1638" y="2857277"/>
            <a:ext cx="5573175" cy="1208822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b="0" spc="0" dirty="0">
                <a:solidFill>
                  <a:schemeClr val="tx1"/>
                </a:solidFill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8" y="2346063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61639" y="2346063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85709AA8-11EC-7351-BB57-8F5BC0581EF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1838" y="2622411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9BDD6D74-2C59-881D-2879-83A310F8164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261638" y="2622411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A6A1ECA-879E-D89D-87D7-3D496D5538B8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731837" y="4788352"/>
            <a:ext cx="5364163" cy="1208822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10AD194-9F72-220B-857E-ECD4E82AF0F3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6261638" y="4788351"/>
            <a:ext cx="5573175" cy="1208822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503877B8-4F20-48F5-2A77-1A0FD02DC69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31838" y="4277137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Content Placeholder 13">
            <a:extLst>
              <a:ext uri="{FF2B5EF4-FFF2-40B4-BE49-F238E27FC236}">
                <a16:creationId xmlns:a16="http://schemas.microsoft.com/office/drawing/2014/main" id="{4EE66E1E-9677-ADFA-CE99-CDBF333EF7C7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1639" y="4277137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13">
            <a:extLst>
              <a:ext uri="{FF2B5EF4-FFF2-40B4-BE49-F238E27FC236}">
                <a16:creationId xmlns:a16="http://schemas.microsoft.com/office/drawing/2014/main" id="{E63A9EE8-9F22-F556-5F53-E4D76C4AE54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731838" y="4553485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9BEF7F00-8363-9DF7-291A-FC36C3923C2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261638" y="4553485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FB3D24B6-EF76-ACDB-C532-BF0B3C8C610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2695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5B9D12CF-E33A-03EC-B918-92635B428872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9E688F-5C03-2148-56D4-DB20887A400B}"/>
              </a:ext>
            </a:extLst>
          </p:cNvPr>
          <p:cNvSpPr/>
          <p:nvPr userDrawn="1"/>
        </p:nvSpPr>
        <p:spPr>
          <a:xfrm>
            <a:off x="0" y="1450975"/>
            <a:ext cx="12192000" cy="7444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00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99206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ero Content/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45246" y="1966886"/>
            <a:ext cx="6189568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b="0" spc="0" dirty="0">
                <a:solidFill>
                  <a:schemeClr val="tx1"/>
                </a:solidFill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645246" y="1455672"/>
            <a:ext cx="6189567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9BDD6D74-2C59-881D-2879-83A310F8164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5645246" y="1732020"/>
            <a:ext cx="6189568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10AD194-9F72-220B-857E-ECD4E82AF0F3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5645246" y="4335866"/>
            <a:ext cx="6189568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Content Placeholder 13">
            <a:extLst>
              <a:ext uri="{FF2B5EF4-FFF2-40B4-BE49-F238E27FC236}">
                <a16:creationId xmlns:a16="http://schemas.microsoft.com/office/drawing/2014/main" id="{4EE66E1E-9677-ADFA-CE99-CDBF333EF7C7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5645246" y="3824652"/>
            <a:ext cx="6189567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9BEF7F00-8363-9DF7-291A-FC36C3923C2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5645246" y="4101000"/>
            <a:ext cx="6189568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FB3D24B6-EF76-ACDB-C532-BF0B3C8C610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2695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5B9D12CF-E33A-03EC-B918-92635B428872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45056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6348651-DCC4-B67C-7CA1-367D8ECC30F4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217662" y="1978546"/>
            <a:ext cx="3617151" cy="1668949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78547"/>
            <a:ext cx="3514161" cy="1668949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09823" y="1978546"/>
            <a:ext cx="3617151" cy="1668949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b="0" spc="0" dirty="0">
                <a:solidFill>
                  <a:schemeClr val="tx1"/>
                </a:solidFill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8" y="1455672"/>
            <a:ext cx="3514161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409823" y="1455672"/>
            <a:ext cx="3617150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B2B5B3F1-9ED1-137A-6C27-576A7EC4AE0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217662" y="1455672"/>
            <a:ext cx="3617150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02437D02-213A-D460-A6AA-8EF17FD9DCBF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31839" y="1732020"/>
            <a:ext cx="3514160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13">
            <a:extLst>
              <a:ext uri="{FF2B5EF4-FFF2-40B4-BE49-F238E27FC236}">
                <a16:creationId xmlns:a16="http://schemas.microsoft.com/office/drawing/2014/main" id="{04EC45A4-15A4-F81B-1189-CAC268B9A6B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409823" y="1732020"/>
            <a:ext cx="3617150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1" name="Content Placeholder 13">
            <a:extLst>
              <a:ext uri="{FF2B5EF4-FFF2-40B4-BE49-F238E27FC236}">
                <a16:creationId xmlns:a16="http://schemas.microsoft.com/office/drawing/2014/main" id="{3188BDD0-D14B-73DC-61FD-AD0B99B2A2A8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217662" y="1732020"/>
            <a:ext cx="3617150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6A6E4956-D661-4D53-8334-DD4513C11FA9}"/>
              </a:ext>
            </a:extLst>
          </p:cNvPr>
          <p:cNvSpPr>
            <a:spLocks noGrp="1"/>
          </p:cNvSpPr>
          <p:nvPr>
            <p:ph sz="half" idx="27"/>
          </p:nvPr>
        </p:nvSpPr>
        <p:spPr>
          <a:xfrm>
            <a:off x="8217662" y="4336758"/>
            <a:ext cx="3617151" cy="1668949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28B24CD-29B7-DE6D-E888-0A0D50458613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731837" y="4336759"/>
            <a:ext cx="3514161" cy="1668949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03915BD5-B60B-4279-091A-1C6CAA341F7C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4409823" y="4336758"/>
            <a:ext cx="3617151" cy="1668949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EF4CC729-2E82-6584-AB6C-F569F07B64E4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731838" y="3813884"/>
            <a:ext cx="3514161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Content Placeholder 13">
            <a:extLst>
              <a:ext uri="{FF2B5EF4-FFF2-40B4-BE49-F238E27FC236}">
                <a16:creationId xmlns:a16="http://schemas.microsoft.com/office/drawing/2014/main" id="{E2338167-433A-D3FF-1381-B32FF19479EF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409823" y="3813884"/>
            <a:ext cx="3617150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Content Placeholder 13">
            <a:extLst>
              <a:ext uri="{FF2B5EF4-FFF2-40B4-BE49-F238E27FC236}">
                <a16:creationId xmlns:a16="http://schemas.microsoft.com/office/drawing/2014/main" id="{A37E2D0E-A1B8-2890-9C2C-92307D79973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8217662" y="3813884"/>
            <a:ext cx="3617150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Content Placeholder 13">
            <a:extLst>
              <a:ext uri="{FF2B5EF4-FFF2-40B4-BE49-F238E27FC236}">
                <a16:creationId xmlns:a16="http://schemas.microsoft.com/office/drawing/2014/main" id="{0A46685F-9BAE-8DD8-6BED-6082F6BDE20B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731839" y="4090232"/>
            <a:ext cx="3514160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9" name="Content Placeholder 13">
            <a:extLst>
              <a:ext uri="{FF2B5EF4-FFF2-40B4-BE49-F238E27FC236}">
                <a16:creationId xmlns:a16="http://schemas.microsoft.com/office/drawing/2014/main" id="{ECFE5EF0-2F1F-C3D9-653F-1FB66F18318D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4409823" y="4090232"/>
            <a:ext cx="3617150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30" name="Content Placeholder 13">
            <a:extLst>
              <a:ext uri="{FF2B5EF4-FFF2-40B4-BE49-F238E27FC236}">
                <a16:creationId xmlns:a16="http://schemas.microsoft.com/office/drawing/2014/main" id="{4701A65B-BC7E-81D5-5B0C-2D5DB5F40961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217662" y="4090232"/>
            <a:ext cx="3617150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11FB7138-AE4E-A89F-D9E1-862BA5C283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2695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31" name="Espaço Reservado para Número de Slide 3">
            <a:extLst>
              <a:ext uri="{FF2B5EF4-FFF2-40B4-BE49-F238E27FC236}">
                <a16:creationId xmlns:a16="http://schemas.microsoft.com/office/drawing/2014/main" id="{233094EA-C74A-3E81-55FB-F4106593066B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27267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66887"/>
            <a:ext cx="5364163" cy="4032276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1638" y="1966885"/>
            <a:ext cx="5573175" cy="819447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b="0" spc="0" dirty="0">
                <a:solidFill>
                  <a:schemeClr val="tx1"/>
                </a:solidFill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8" y="1455672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61639" y="1455672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85709AA8-11EC-7351-BB57-8F5BC0581EF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1838" y="1732020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9BDD6D74-2C59-881D-2879-83A310F8164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261638" y="1732020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A6A1ECA-879E-D89D-87D7-3D496D5538B8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6275388" y="5196058"/>
            <a:ext cx="5559424" cy="819447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10AD194-9F72-220B-857E-ECD4E82AF0F3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6261638" y="3572390"/>
            <a:ext cx="5573175" cy="819447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503877B8-4F20-48F5-2A77-1A0FD02DC69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275389" y="4684844"/>
            <a:ext cx="555942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Content Placeholder 13">
            <a:extLst>
              <a:ext uri="{FF2B5EF4-FFF2-40B4-BE49-F238E27FC236}">
                <a16:creationId xmlns:a16="http://schemas.microsoft.com/office/drawing/2014/main" id="{4EE66E1E-9677-ADFA-CE99-CDBF333EF7C7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1639" y="3061177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13">
            <a:extLst>
              <a:ext uri="{FF2B5EF4-FFF2-40B4-BE49-F238E27FC236}">
                <a16:creationId xmlns:a16="http://schemas.microsoft.com/office/drawing/2014/main" id="{E63A9EE8-9F22-F556-5F53-E4D76C4AE54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275389" y="4961192"/>
            <a:ext cx="5559424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9BEF7F00-8363-9DF7-291A-FC36C3923C2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261638" y="3337525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FB3D24B6-EF76-ACDB-C532-BF0B3C8C610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2695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5B9D12CF-E33A-03EC-B918-92635B428872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  <p:grpSp>
        <p:nvGrpSpPr>
          <p:cNvPr id="6" name="Agrupar 11">
            <a:extLst>
              <a:ext uri="{FF2B5EF4-FFF2-40B4-BE49-F238E27FC236}">
                <a16:creationId xmlns:a16="http://schemas.microsoft.com/office/drawing/2014/main" id="{20D968DE-A54C-324A-FCAC-7F1FA2345E4F}"/>
              </a:ext>
            </a:extLst>
          </p:cNvPr>
          <p:cNvGrpSpPr/>
          <p:nvPr userDrawn="1"/>
        </p:nvGrpSpPr>
        <p:grpSpPr>
          <a:xfrm>
            <a:off x="2085975" y="317749"/>
            <a:ext cx="9748838" cy="386290"/>
            <a:chOff x="1583240" y="180344"/>
            <a:chExt cx="10176295" cy="386290"/>
          </a:xfrm>
        </p:grpSpPr>
        <p:cxnSp>
          <p:nvCxnSpPr>
            <p:cNvPr id="7" name="Conector reto 12">
              <a:extLst>
                <a:ext uri="{FF2B5EF4-FFF2-40B4-BE49-F238E27FC236}">
                  <a16:creationId xmlns:a16="http://schemas.microsoft.com/office/drawing/2014/main" id="{7FA06E3D-44AB-18C9-A1DF-3EC5C5632A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83240" y="360000"/>
              <a:ext cx="9555996" cy="0"/>
            </a:xfrm>
            <a:prstGeom prst="line">
              <a:avLst/>
            </a:prstGeom>
            <a:ln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Gráfico 14">
              <a:extLst>
                <a:ext uri="{FF2B5EF4-FFF2-40B4-BE49-F238E27FC236}">
                  <a16:creationId xmlns:a16="http://schemas.microsoft.com/office/drawing/2014/main" id="{1505CC1A-3265-D268-30BC-78AA7863B7B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312741" y="180344"/>
              <a:ext cx="446794" cy="386290"/>
            </a:xfrm>
            <a:prstGeom prst="rect">
              <a:avLst/>
            </a:prstGeom>
          </p:spPr>
        </p:pic>
      </p:grpSp>
      <p:sp>
        <p:nvSpPr>
          <p:cNvPr id="10" name="CaixaDeTexto 3">
            <a:extLst>
              <a:ext uri="{FF2B5EF4-FFF2-40B4-BE49-F238E27FC236}">
                <a16:creationId xmlns:a16="http://schemas.microsoft.com/office/drawing/2014/main" id="{AA163F9F-4AC3-EA0D-B9D9-BA2A56FCC6C6}"/>
              </a:ext>
            </a:extLst>
          </p:cNvPr>
          <p:cNvSpPr txBox="1"/>
          <p:nvPr userDrawn="1"/>
        </p:nvSpPr>
        <p:spPr>
          <a:xfrm>
            <a:off x="731838" y="357006"/>
            <a:ext cx="1493777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pt-BR" sz="1000" dirty="0">
                <a:solidFill>
                  <a:srgbClr val="222F44"/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Arial" panose="020B0604020202020204" pitchFamily="34" charset="0"/>
              </a:rPr>
              <a:t>Tese de Investimento </a:t>
            </a:r>
          </a:p>
        </p:txBody>
      </p:sp>
    </p:spTree>
    <p:extLst>
      <p:ext uri="{BB962C8B-B14F-4D97-AF65-F5344CB8AC3E}">
        <p14:creationId xmlns:p14="http://schemas.microsoft.com/office/powerpoint/2010/main" val="25434426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11705-E470-8D14-31B3-824FE4DAC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2B80E022-3FDD-ADDD-4ECC-A35C1C62984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b="0" spc="0" dirty="0">
                <a:solidFill>
                  <a:schemeClr val="tx1"/>
                </a:solidFill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4A0BD1B-A7E0-E3B2-D28F-4B86FE4438F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2695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9" name="Espaço Reservado para Número de Slide 3">
            <a:extLst>
              <a:ext uri="{FF2B5EF4-FFF2-40B4-BE49-F238E27FC236}">
                <a16:creationId xmlns:a16="http://schemas.microsoft.com/office/drawing/2014/main" id="{1AC53D4F-9330-AD7E-C511-00F7B893E7D3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11081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76121"/>
            <a:ext cx="11102976" cy="4023041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b="0" spc="0" dirty="0">
                <a:solidFill>
                  <a:schemeClr val="tx1"/>
                </a:solidFill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31838" y="1455672"/>
            <a:ext cx="11102976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6" name="Content Placeholder 13">
            <a:extLst>
              <a:ext uri="{FF2B5EF4-FFF2-40B4-BE49-F238E27FC236}">
                <a16:creationId xmlns:a16="http://schemas.microsoft.com/office/drawing/2014/main" id="{7B3249D2-1FE0-ED6D-322D-323EFD8671F4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31838" y="1732020"/>
            <a:ext cx="11102976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75A68369-8B33-C898-7757-7C5067723B8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2695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19" name="Espaço Reservado para Número de Slide 3">
            <a:extLst>
              <a:ext uri="{FF2B5EF4-FFF2-40B4-BE49-F238E27FC236}">
                <a16:creationId xmlns:a16="http://schemas.microsoft.com/office/drawing/2014/main" id="{2270AFF3-59D8-4C40-C53C-030FABBADB20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6285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739B9-4054-A9D4-2292-242833A62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00962-9F6C-292D-19D5-4E49FD343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50975"/>
            <a:ext cx="11102975" cy="45481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11">
            <a:extLst>
              <a:ext uri="{FF2B5EF4-FFF2-40B4-BE49-F238E27FC236}">
                <a16:creationId xmlns:a16="http://schemas.microsoft.com/office/drawing/2014/main" id="{D5FE42B3-1E99-213C-F3D2-9217EEF767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b="0" spc="0" dirty="0">
                <a:solidFill>
                  <a:schemeClr val="tx1"/>
                </a:solidFill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C7787170-0E7B-063E-C6DD-4ABC63D5BC7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2695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10" name="Espaço Reservado para Número de Slide 3">
            <a:extLst>
              <a:ext uri="{FF2B5EF4-FFF2-40B4-BE49-F238E27FC236}">
                <a16:creationId xmlns:a16="http://schemas.microsoft.com/office/drawing/2014/main" id="{FFA6F73F-6933-6728-B9EB-150D5467B4D9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50060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F226F1CA-1F49-9F45-E01D-D000AD2FB77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F38796BF-FC3C-43EF-4F13-C1174B3D5406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10059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11705-E470-8D14-31B3-824FE4DAC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2B80E022-3FDD-ADDD-4ECC-A35C1C62984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b="0" spc="0" dirty="0">
                <a:solidFill>
                  <a:schemeClr val="tx1"/>
                </a:solidFill>
                <a:latin typeface="Montserrat" pitchFamily="2" charset="0"/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78881D-E677-81F1-4FEB-E641DAF4692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27651" y="1450975"/>
            <a:ext cx="7607161" cy="454818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7BB55DD-2EFA-B3F5-5529-538C5848595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531844" y="1450975"/>
            <a:ext cx="4551062" cy="4548188"/>
          </a:xfrm>
          <a:prstGeom prst="roundRect">
            <a:avLst>
              <a:gd name="adj" fmla="val 8077"/>
            </a:avLst>
          </a:prstGeom>
        </p:spPr>
        <p:txBody>
          <a:bodyPr anchor="ctr" anchorCtr="0"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9905E8E-005A-2CB8-D13C-50AD91C5419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2695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11" name="Espaço Reservado para Número de Slide 3">
            <a:extLst>
              <a:ext uri="{FF2B5EF4-FFF2-40B4-BE49-F238E27FC236}">
                <a16:creationId xmlns:a16="http://schemas.microsoft.com/office/drawing/2014/main" id="{71659637-18F6-B178-84AC-57BA4CF70E4D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marL="0" algn="r" defTabSz="914400" rtl="0" eaLnBrk="1" latinLnBrk="0" hangingPunct="1">
              <a:defRPr lang="pt-BR" sz="1000" kern="1200" smtClean="0">
                <a:solidFill>
                  <a:srgbClr val="222F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algn="ctr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14305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>
            <a:extLst>
              <a:ext uri="{FF2B5EF4-FFF2-40B4-BE49-F238E27FC236}">
                <a16:creationId xmlns:a16="http://schemas.microsoft.com/office/drawing/2014/main" id="{826F672C-D097-8820-9C38-0AE416BADA89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76121"/>
            <a:ext cx="5364163" cy="4023041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1638" y="1976120"/>
            <a:ext cx="5573175" cy="4023041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b="0" spc="0" dirty="0">
                <a:solidFill>
                  <a:schemeClr val="tx1"/>
                </a:solidFill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31838" y="1455672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61639" y="1455672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6" name="Content Placeholder 13">
            <a:extLst>
              <a:ext uri="{FF2B5EF4-FFF2-40B4-BE49-F238E27FC236}">
                <a16:creationId xmlns:a16="http://schemas.microsoft.com/office/drawing/2014/main" id="{7B3249D2-1FE0-ED6D-322D-323EFD8671F4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31838" y="1732020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20924A97-2EEA-A043-22A5-75FCC7450D6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61639" y="1732020"/>
            <a:ext cx="5573174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75A68369-8B33-C898-7757-7C5067723B8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19" name="Espaço Reservado para Número de Slide 3">
            <a:extLst>
              <a:ext uri="{FF2B5EF4-FFF2-40B4-BE49-F238E27FC236}">
                <a16:creationId xmlns:a16="http://schemas.microsoft.com/office/drawing/2014/main" id="{2270AFF3-59D8-4C40-C53C-030FABBADB20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09641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e Content/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66887"/>
            <a:ext cx="11102976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b="0" spc="0" dirty="0">
                <a:solidFill>
                  <a:schemeClr val="tx1"/>
                </a:solidFill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8" y="1455672"/>
            <a:ext cx="11102976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85709AA8-11EC-7351-BB57-8F5BC0581EF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1838" y="1732020"/>
            <a:ext cx="11102976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A6A1ECA-879E-D89D-87D7-3D496D5538B8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731837" y="4335867"/>
            <a:ext cx="11102976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503877B8-4F20-48F5-2A77-1A0FD02DC69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31838" y="3824652"/>
            <a:ext cx="11102976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13">
            <a:extLst>
              <a:ext uri="{FF2B5EF4-FFF2-40B4-BE49-F238E27FC236}">
                <a16:creationId xmlns:a16="http://schemas.microsoft.com/office/drawing/2014/main" id="{E63A9EE8-9F22-F556-5F53-E4D76C4AE54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731838" y="4101000"/>
            <a:ext cx="11102976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FB3D24B6-EF76-ACDB-C532-BF0B3C8C610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5B9D12CF-E33A-03EC-B918-92635B428872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57501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B5C31763-ACB8-5956-4E4D-84D9B70F338D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6348651-DCC4-B67C-7CA1-367D8ECC30F4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217662" y="1966887"/>
            <a:ext cx="3617151" cy="4032275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66888"/>
            <a:ext cx="3514161" cy="4032275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09823" y="1966887"/>
            <a:ext cx="3617151" cy="4032275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b="0" spc="0" dirty="0">
                <a:solidFill>
                  <a:schemeClr val="tx1"/>
                </a:solidFill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8" y="1455672"/>
            <a:ext cx="3514161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409823" y="1455672"/>
            <a:ext cx="3617150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B2B5B3F1-9ED1-137A-6C27-576A7EC4AE0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217662" y="1455672"/>
            <a:ext cx="3617150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13">
            <a:extLst>
              <a:ext uri="{FF2B5EF4-FFF2-40B4-BE49-F238E27FC236}">
                <a16:creationId xmlns:a16="http://schemas.microsoft.com/office/drawing/2014/main" id="{A0A27CB2-4641-6D48-05E4-E731468C849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731839" y="1732020"/>
            <a:ext cx="3514160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37C4537D-C612-17FB-DAE7-6CEF1C020504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409822" y="1732020"/>
            <a:ext cx="3617149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8" name="Content Placeholder 13">
            <a:extLst>
              <a:ext uri="{FF2B5EF4-FFF2-40B4-BE49-F238E27FC236}">
                <a16:creationId xmlns:a16="http://schemas.microsoft.com/office/drawing/2014/main" id="{C2CF7852-20BF-184D-3CA4-224092575BD8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217662" y="1732020"/>
            <a:ext cx="3617149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A974C4B8-0593-F4C6-AB5E-BB1F2F5CDF8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10" name="Espaço Reservado para Número de Slide 3">
            <a:extLst>
              <a:ext uri="{FF2B5EF4-FFF2-40B4-BE49-F238E27FC236}">
                <a16:creationId xmlns:a16="http://schemas.microsoft.com/office/drawing/2014/main" id="{B47FDA6A-CB56-1A6D-C73C-7C49BAB93B4F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52610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93104F92-1FF2-990F-68A4-9E5697EACE99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9124113" y="1978546"/>
            <a:ext cx="2710700" cy="4020616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6348651-DCC4-B67C-7CA1-367D8ECC30F4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298506" y="1978546"/>
            <a:ext cx="2691526" cy="4020616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8" y="1978547"/>
            <a:ext cx="2591808" cy="4020616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42743" y="1978546"/>
            <a:ext cx="2691526" cy="4020616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b="0" spc="0" dirty="0">
                <a:solidFill>
                  <a:schemeClr val="tx1"/>
                </a:solidFill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9" y="1455672"/>
            <a:ext cx="2591808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42743" y="1455672"/>
            <a:ext cx="2691526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B2B5B3F1-9ED1-137A-6C27-576A7EC4AE0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98506" y="1455672"/>
            <a:ext cx="2691526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8" name="Content Placeholder 13">
            <a:extLst>
              <a:ext uri="{FF2B5EF4-FFF2-40B4-BE49-F238E27FC236}">
                <a16:creationId xmlns:a16="http://schemas.microsoft.com/office/drawing/2014/main" id="{46009A66-FE60-490E-942D-974C9244E92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9124113" y="1455672"/>
            <a:ext cx="2710700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7559253F-7844-9260-04E1-B1D366C70B3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1841" y="1732020"/>
            <a:ext cx="2591808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13">
            <a:extLst>
              <a:ext uri="{FF2B5EF4-FFF2-40B4-BE49-F238E27FC236}">
                <a16:creationId xmlns:a16="http://schemas.microsoft.com/office/drawing/2014/main" id="{70734B3F-7493-ED3B-E89C-3F0D6E5EA738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442744" y="1732020"/>
            <a:ext cx="269152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1" name="Content Placeholder 13">
            <a:extLst>
              <a:ext uri="{FF2B5EF4-FFF2-40B4-BE49-F238E27FC236}">
                <a16:creationId xmlns:a16="http://schemas.microsoft.com/office/drawing/2014/main" id="{A5965DC8-9681-D85D-67F6-5DA220388CB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298506" y="1732020"/>
            <a:ext cx="269152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4" name="Content Placeholder 13">
            <a:extLst>
              <a:ext uri="{FF2B5EF4-FFF2-40B4-BE49-F238E27FC236}">
                <a16:creationId xmlns:a16="http://schemas.microsoft.com/office/drawing/2014/main" id="{A9B22168-6C46-1EBB-8CFB-E74CB918730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124113" y="1732020"/>
            <a:ext cx="269152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608DCF1-B21B-1CFD-921B-C6DF7663BD5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10" name="Espaço Reservado para Número de Slide 3">
            <a:extLst>
              <a:ext uri="{FF2B5EF4-FFF2-40B4-BE49-F238E27FC236}">
                <a16:creationId xmlns:a16="http://schemas.microsoft.com/office/drawing/2014/main" id="{A86D5457-3A55-89D6-5C5B-9F2C315DBB51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55965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>
            <a:extLst>
              <a:ext uri="{FF2B5EF4-FFF2-40B4-BE49-F238E27FC236}">
                <a16:creationId xmlns:a16="http://schemas.microsoft.com/office/drawing/2014/main" id="{98E1C533-1D56-AF46-A3E5-17C71FC3C035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66887"/>
            <a:ext cx="5364163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1638" y="1966886"/>
            <a:ext cx="5573175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b="0" spc="0" dirty="0">
                <a:solidFill>
                  <a:schemeClr val="tx1"/>
                </a:solidFill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8" y="1455672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61639" y="1455672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85709AA8-11EC-7351-BB57-8F5BC0581EF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1838" y="1732020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9BDD6D74-2C59-881D-2879-83A310F8164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261638" y="1732020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A6A1ECA-879E-D89D-87D7-3D496D5538B8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731837" y="4335867"/>
            <a:ext cx="5364163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10AD194-9F72-220B-857E-ECD4E82AF0F3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6261638" y="4335866"/>
            <a:ext cx="5573175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503877B8-4F20-48F5-2A77-1A0FD02DC69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31838" y="3824652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Content Placeholder 13">
            <a:extLst>
              <a:ext uri="{FF2B5EF4-FFF2-40B4-BE49-F238E27FC236}">
                <a16:creationId xmlns:a16="http://schemas.microsoft.com/office/drawing/2014/main" id="{4EE66E1E-9677-ADFA-CE99-CDBF333EF7C7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1639" y="3824652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13">
            <a:extLst>
              <a:ext uri="{FF2B5EF4-FFF2-40B4-BE49-F238E27FC236}">
                <a16:creationId xmlns:a16="http://schemas.microsoft.com/office/drawing/2014/main" id="{E63A9EE8-9F22-F556-5F53-E4D76C4AE54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731838" y="4101000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9BEF7F00-8363-9DF7-291A-FC36C3923C2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261638" y="4101000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23F91DE-2EEB-6145-9C43-8C9F772377C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10" name="Espaço Reservado para Número de Slide 3">
            <a:extLst>
              <a:ext uri="{FF2B5EF4-FFF2-40B4-BE49-F238E27FC236}">
                <a16:creationId xmlns:a16="http://schemas.microsoft.com/office/drawing/2014/main" id="{1A869515-46F1-EC4A-C1B4-A93C7092036B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083910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66887"/>
            <a:ext cx="5364163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1638" y="1966886"/>
            <a:ext cx="5573175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b="0" spc="0" dirty="0">
                <a:solidFill>
                  <a:schemeClr val="tx1"/>
                </a:solidFill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8" y="1455672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61639" y="1455672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85709AA8-11EC-7351-BB57-8F5BC0581EF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1838" y="1732020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9BDD6D74-2C59-881D-2879-83A310F8164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261638" y="1732020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A6A1ECA-879E-D89D-87D7-3D496D5538B8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731837" y="4335867"/>
            <a:ext cx="5364163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10AD194-9F72-220B-857E-ECD4E82AF0F3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6261638" y="4335866"/>
            <a:ext cx="5573175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503877B8-4F20-48F5-2A77-1A0FD02DC69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31838" y="3824652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Content Placeholder 13">
            <a:extLst>
              <a:ext uri="{FF2B5EF4-FFF2-40B4-BE49-F238E27FC236}">
                <a16:creationId xmlns:a16="http://schemas.microsoft.com/office/drawing/2014/main" id="{4EE66E1E-9677-ADFA-CE99-CDBF333EF7C7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1639" y="3824652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13">
            <a:extLst>
              <a:ext uri="{FF2B5EF4-FFF2-40B4-BE49-F238E27FC236}">
                <a16:creationId xmlns:a16="http://schemas.microsoft.com/office/drawing/2014/main" id="{E63A9EE8-9F22-F556-5F53-E4D76C4AE54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731838" y="4101000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9BEF7F00-8363-9DF7-291A-FC36C3923C2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261638" y="4101000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FB3D24B6-EF76-ACDB-C532-BF0B3C8C610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5B9D12CF-E33A-03EC-B918-92635B428872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54442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2857278"/>
            <a:ext cx="5364163" cy="1208822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1638" y="2857277"/>
            <a:ext cx="5573175" cy="1208822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b="0" spc="0" dirty="0">
                <a:solidFill>
                  <a:schemeClr val="tx1"/>
                </a:solidFill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8" y="2346063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61639" y="2346063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85709AA8-11EC-7351-BB57-8F5BC0581EF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1838" y="2622411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9BDD6D74-2C59-881D-2879-83A310F8164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261638" y="2622411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A6A1ECA-879E-D89D-87D7-3D496D5538B8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731837" y="4788352"/>
            <a:ext cx="5364163" cy="1208822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10AD194-9F72-220B-857E-ECD4E82AF0F3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6261638" y="4788351"/>
            <a:ext cx="5573175" cy="1208822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503877B8-4F20-48F5-2A77-1A0FD02DC69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31838" y="4277137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Content Placeholder 13">
            <a:extLst>
              <a:ext uri="{FF2B5EF4-FFF2-40B4-BE49-F238E27FC236}">
                <a16:creationId xmlns:a16="http://schemas.microsoft.com/office/drawing/2014/main" id="{4EE66E1E-9677-ADFA-CE99-CDBF333EF7C7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1639" y="4277137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13">
            <a:extLst>
              <a:ext uri="{FF2B5EF4-FFF2-40B4-BE49-F238E27FC236}">
                <a16:creationId xmlns:a16="http://schemas.microsoft.com/office/drawing/2014/main" id="{E63A9EE8-9F22-F556-5F53-E4D76C4AE54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731838" y="4553485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9BEF7F00-8363-9DF7-291A-FC36C3923C2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261638" y="4553485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FB3D24B6-EF76-ACDB-C532-BF0B3C8C610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5B9D12CF-E33A-03EC-B918-92635B428872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9E688F-5C03-2148-56D4-DB20887A400B}"/>
              </a:ext>
            </a:extLst>
          </p:cNvPr>
          <p:cNvSpPr/>
          <p:nvPr userDrawn="1"/>
        </p:nvSpPr>
        <p:spPr>
          <a:xfrm>
            <a:off x="0" y="1450975"/>
            <a:ext cx="12192000" cy="7444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00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460471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ero Content/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45246" y="1966886"/>
            <a:ext cx="6189568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b="0" spc="0" dirty="0">
                <a:solidFill>
                  <a:schemeClr val="tx1"/>
                </a:solidFill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645246" y="1455672"/>
            <a:ext cx="6189567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9BDD6D74-2C59-881D-2879-83A310F8164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5645246" y="1732020"/>
            <a:ext cx="6189568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10AD194-9F72-220B-857E-ECD4E82AF0F3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5645246" y="4335866"/>
            <a:ext cx="6189568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Content Placeholder 13">
            <a:extLst>
              <a:ext uri="{FF2B5EF4-FFF2-40B4-BE49-F238E27FC236}">
                <a16:creationId xmlns:a16="http://schemas.microsoft.com/office/drawing/2014/main" id="{4EE66E1E-9677-ADFA-CE99-CDBF333EF7C7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5645246" y="3824652"/>
            <a:ext cx="6189567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9BEF7F00-8363-9DF7-291A-FC36C3923C2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5645246" y="4101000"/>
            <a:ext cx="6189568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FB3D24B6-EF76-ACDB-C532-BF0B3C8C610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5B9D12CF-E33A-03EC-B918-92635B428872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54038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6348651-DCC4-B67C-7CA1-367D8ECC30F4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217662" y="1978546"/>
            <a:ext cx="3617151" cy="1668949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78547"/>
            <a:ext cx="3514161" cy="1668949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09823" y="1978546"/>
            <a:ext cx="3617151" cy="1668949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b="0" spc="0" dirty="0">
                <a:solidFill>
                  <a:schemeClr val="tx1"/>
                </a:solidFill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8" y="1455672"/>
            <a:ext cx="3514161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409823" y="1455672"/>
            <a:ext cx="3617150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B2B5B3F1-9ED1-137A-6C27-576A7EC4AE0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217662" y="1455672"/>
            <a:ext cx="3617150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02437D02-213A-D460-A6AA-8EF17FD9DCBF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31839" y="1732020"/>
            <a:ext cx="3514160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13">
            <a:extLst>
              <a:ext uri="{FF2B5EF4-FFF2-40B4-BE49-F238E27FC236}">
                <a16:creationId xmlns:a16="http://schemas.microsoft.com/office/drawing/2014/main" id="{04EC45A4-15A4-F81B-1189-CAC268B9A6B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409823" y="1732020"/>
            <a:ext cx="3617150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1" name="Content Placeholder 13">
            <a:extLst>
              <a:ext uri="{FF2B5EF4-FFF2-40B4-BE49-F238E27FC236}">
                <a16:creationId xmlns:a16="http://schemas.microsoft.com/office/drawing/2014/main" id="{3188BDD0-D14B-73DC-61FD-AD0B99B2A2A8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217662" y="1732020"/>
            <a:ext cx="3617150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6A6E4956-D661-4D53-8334-DD4513C11FA9}"/>
              </a:ext>
            </a:extLst>
          </p:cNvPr>
          <p:cNvSpPr>
            <a:spLocks noGrp="1"/>
          </p:cNvSpPr>
          <p:nvPr>
            <p:ph sz="half" idx="27"/>
          </p:nvPr>
        </p:nvSpPr>
        <p:spPr>
          <a:xfrm>
            <a:off x="8217662" y="4336758"/>
            <a:ext cx="3617151" cy="1668949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28B24CD-29B7-DE6D-E888-0A0D50458613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731837" y="4336759"/>
            <a:ext cx="3514161" cy="1668949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03915BD5-B60B-4279-091A-1C6CAA341F7C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4409823" y="4336758"/>
            <a:ext cx="3617151" cy="1668949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EF4CC729-2E82-6584-AB6C-F569F07B64E4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731838" y="3813884"/>
            <a:ext cx="3514161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Content Placeholder 13">
            <a:extLst>
              <a:ext uri="{FF2B5EF4-FFF2-40B4-BE49-F238E27FC236}">
                <a16:creationId xmlns:a16="http://schemas.microsoft.com/office/drawing/2014/main" id="{E2338167-433A-D3FF-1381-B32FF19479EF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409823" y="3813884"/>
            <a:ext cx="3617150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Content Placeholder 13">
            <a:extLst>
              <a:ext uri="{FF2B5EF4-FFF2-40B4-BE49-F238E27FC236}">
                <a16:creationId xmlns:a16="http://schemas.microsoft.com/office/drawing/2014/main" id="{A37E2D0E-A1B8-2890-9C2C-92307D79973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8217662" y="3813884"/>
            <a:ext cx="3617150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Content Placeholder 13">
            <a:extLst>
              <a:ext uri="{FF2B5EF4-FFF2-40B4-BE49-F238E27FC236}">
                <a16:creationId xmlns:a16="http://schemas.microsoft.com/office/drawing/2014/main" id="{0A46685F-9BAE-8DD8-6BED-6082F6BDE20B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731839" y="4090232"/>
            <a:ext cx="3514160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9" name="Content Placeholder 13">
            <a:extLst>
              <a:ext uri="{FF2B5EF4-FFF2-40B4-BE49-F238E27FC236}">
                <a16:creationId xmlns:a16="http://schemas.microsoft.com/office/drawing/2014/main" id="{ECFE5EF0-2F1F-C3D9-653F-1FB66F18318D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4409823" y="4090232"/>
            <a:ext cx="3617150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30" name="Content Placeholder 13">
            <a:extLst>
              <a:ext uri="{FF2B5EF4-FFF2-40B4-BE49-F238E27FC236}">
                <a16:creationId xmlns:a16="http://schemas.microsoft.com/office/drawing/2014/main" id="{4701A65B-BC7E-81D5-5B0C-2D5DB5F40961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217662" y="4090232"/>
            <a:ext cx="3617150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11FB7138-AE4E-A89F-D9E1-862BA5C283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31" name="Espaço Reservado para Número de Slide 3">
            <a:extLst>
              <a:ext uri="{FF2B5EF4-FFF2-40B4-BE49-F238E27FC236}">
                <a16:creationId xmlns:a16="http://schemas.microsoft.com/office/drawing/2014/main" id="{233094EA-C74A-3E81-55FB-F4106593066B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6330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o not remove" hidden="1">
            <a:extLst>
              <a:ext uri="{FF2B5EF4-FFF2-40B4-BE49-F238E27FC236}">
                <a16:creationId xmlns:a16="http://schemas.microsoft.com/office/drawing/2014/main" id="{783C926D-2AD9-7A52-D5F2-298E7416853A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66887"/>
            <a:ext cx="5364163" cy="4032276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1638" y="1966885"/>
            <a:ext cx="5573175" cy="819447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b="0" spc="0" dirty="0">
                <a:solidFill>
                  <a:schemeClr val="tx1"/>
                </a:solidFill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8" y="1455672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61639" y="1455672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85709AA8-11EC-7351-BB57-8F5BC0581EF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1838" y="1732020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9BDD6D74-2C59-881D-2879-83A310F8164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261638" y="1732020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A6A1ECA-879E-D89D-87D7-3D496D5538B8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6275388" y="5196058"/>
            <a:ext cx="5559424" cy="819447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10AD194-9F72-220B-857E-ECD4E82AF0F3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6261638" y="3572390"/>
            <a:ext cx="5573175" cy="819447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503877B8-4F20-48F5-2A77-1A0FD02DC69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275389" y="4684844"/>
            <a:ext cx="555942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Content Placeholder 13">
            <a:extLst>
              <a:ext uri="{FF2B5EF4-FFF2-40B4-BE49-F238E27FC236}">
                <a16:creationId xmlns:a16="http://schemas.microsoft.com/office/drawing/2014/main" id="{4EE66E1E-9677-ADFA-CE99-CDBF333EF7C7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1639" y="3061177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13">
            <a:extLst>
              <a:ext uri="{FF2B5EF4-FFF2-40B4-BE49-F238E27FC236}">
                <a16:creationId xmlns:a16="http://schemas.microsoft.com/office/drawing/2014/main" id="{E63A9EE8-9F22-F556-5F53-E4D76C4AE54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275389" y="4961192"/>
            <a:ext cx="5559424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9BEF7F00-8363-9DF7-291A-FC36C3923C2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261638" y="3337525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FB3D24B6-EF76-ACDB-C532-BF0B3C8C610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5B9D12CF-E33A-03EC-B918-92635B428872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257729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7DCE76CA-4D75-61F6-967E-DD2CD4994D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511705-E470-8D14-31B3-824FE4DAC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2B80E022-3FDD-ADDD-4ECC-A35C1C62984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b="0" spc="0" dirty="0">
                <a:solidFill>
                  <a:schemeClr val="tx1"/>
                </a:solidFill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4A0BD1B-A7E0-E3B2-D28F-4B86FE4438F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9" name="Espaço Reservado para Número de Slide 3">
            <a:extLst>
              <a:ext uri="{FF2B5EF4-FFF2-40B4-BE49-F238E27FC236}">
                <a16:creationId xmlns:a16="http://schemas.microsoft.com/office/drawing/2014/main" id="{1AC53D4F-9330-AD7E-C511-00F7B893E7D3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12826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 not remove" hidden="1">
            <a:extLst>
              <a:ext uri="{FF2B5EF4-FFF2-40B4-BE49-F238E27FC236}">
                <a16:creationId xmlns:a16="http://schemas.microsoft.com/office/drawing/2014/main" id="{6AEFD3AA-1F34-04B2-4BAE-936DD80D451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76121"/>
            <a:ext cx="11102976" cy="4023041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b="0" spc="0" dirty="0">
                <a:solidFill>
                  <a:schemeClr val="tx1"/>
                </a:solidFill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31838" y="1455672"/>
            <a:ext cx="11102976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6" name="Content Placeholder 13">
            <a:extLst>
              <a:ext uri="{FF2B5EF4-FFF2-40B4-BE49-F238E27FC236}">
                <a16:creationId xmlns:a16="http://schemas.microsoft.com/office/drawing/2014/main" id="{7B3249D2-1FE0-ED6D-322D-323EFD8671F4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31838" y="1732020"/>
            <a:ext cx="11102976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75A68369-8B33-C898-7757-7C5067723B8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19" name="Espaço Reservado para Número de Slide 3">
            <a:extLst>
              <a:ext uri="{FF2B5EF4-FFF2-40B4-BE49-F238E27FC236}">
                <a16:creationId xmlns:a16="http://schemas.microsoft.com/office/drawing/2014/main" id="{2270AFF3-59D8-4C40-C53C-030FABBADB20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698848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 not remove" hidden="1">
            <a:extLst>
              <a:ext uri="{FF2B5EF4-FFF2-40B4-BE49-F238E27FC236}">
                <a16:creationId xmlns:a16="http://schemas.microsoft.com/office/drawing/2014/main" id="{04EC3F53-EFD0-6FAB-69F5-F90F791BF6EB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4739B9-4054-A9D4-2292-242833A62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00962-9F6C-292D-19D5-4E49FD343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50975"/>
            <a:ext cx="11102975" cy="45481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11">
            <a:extLst>
              <a:ext uri="{FF2B5EF4-FFF2-40B4-BE49-F238E27FC236}">
                <a16:creationId xmlns:a16="http://schemas.microsoft.com/office/drawing/2014/main" id="{D5FE42B3-1E99-213C-F3D2-9217EEF767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b="0" spc="0" dirty="0">
                <a:solidFill>
                  <a:schemeClr val="tx1"/>
                </a:solidFill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C7787170-0E7B-063E-C6DD-4ABC63D5BC7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10" name="Espaço Reservado para Número de Slide 3">
            <a:extLst>
              <a:ext uri="{FF2B5EF4-FFF2-40B4-BE49-F238E27FC236}">
                <a16:creationId xmlns:a16="http://schemas.microsoft.com/office/drawing/2014/main" id="{FFA6F73F-6933-6728-B9EB-150D5467B4D9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656863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F226F1CA-1F49-9F45-E01D-D000AD2FB77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F38796BF-FC3C-43EF-4F13-C1174B3D5406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11792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11705-E470-8D14-31B3-824FE4DAC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2B80E022-3FDD-ADDD-4ECC-A35C1C62984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spc="0" dirty="0"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78881D-E677-81F1-4FEB-E641DAF4692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27651" y="1450975"/>
            <a:ext cx="7607161" cy="454818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95259ACB-ED64-535C-3E57-DADB2B32BB9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DFE0ACD0-FB81-A4E7-E33C-7DB7373611F9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marL="0" algn="r" defTabSz="914400" rtl="0" eaLnBrk="1" latinLnBrk="0" hangingPunct="1">
              <a:defRPr lang="pt-BR" sz="1000" kern="1200" smtClean="0">
                <a:solidFill>
                  <a:srgbClr val="222F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algn="ctr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D427F522-C03C-99D5-1E6D-0E7F858C059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531844" y="1450975"/>
            <a:ext cx="4551062" cy="4548188"/>
          </a:xfrm>
          <a:prstGeom prst="roundRect">
            <a:avLst>
              <a:gd name="adj" fmla="val 8077"/>
            </a:avLst>
          </a:prstGeom>
        </p:spPr>
        <p:txBody>
          <a:bodyPr anchor="ctr" anchorCtr="0"/>
          <a:lstStyle>
            <a:lvl1pPr algn="ctr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37958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76121"/>
            <a:ext cx="5364163" cy="4023041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1638" y="1976120"/>
            <a:ext cx="5573175" cy="4023041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spc="0" dirty="0"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31838" y="1455672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61639" y="1455672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6" name="Content Placeholder 13">
            <a:extLst>
              <a:ext uri="{FF2B5EF4-FFF2-40B4-BE49-F238E27FC236}">
                <a16:creationId xmlns:a16="http://schemas.microsoft.com/office/drawing/2014/main" id="{7B3249D2-1FE0-ED6D-322D-323EFD8671F4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31838" y="1732020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20924A97-2EEA-A043-22A5-75FCC7450D6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61639" y="1732020"/>
            <a:ext cx="5573174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ACFA0E5-6E7B-8E11-21D4-72CAAB2A61C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D4B283FE-DA31-EDB4-8EBB-6623866A13CA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38451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e Content/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66887"/>
            <a:ext cx="11102976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spc="0" dirty="0"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8" y="1455672"/>
            <a:ext cx="11102976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85709AA8-11EC-7351-BB57-8F5BC0581EF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1838" y="1732020"/>
            <a:ext cx="11102976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A6A1ECA-879E-D89D-87D7-3D496D5538B8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731837" y="4335867"/>
            <a:ext cx="11102976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503877B8-4F20-48F5-2A77-1A0FD02DC69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31838" y="3824652"/>
            <a:ext cx="11102976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13">
            <a:extLst>
              <a:ext uri="{FF2B5EF4-FFF2-40B4-BE49-F238E27FC236}">
                <a16:creationId xmlns:a16="http://schemas.microsoft.com/office/drawing/2014/main" id="{E63A9EE8-9F22-F556-5F53-E4D76C4AE54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731838" y="4101000"/>
            <a:ext cx="11102976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FB3D24B6-EF76-ACDB-C532-BF0B3C8C610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5B9D12CF-E33A-03EC-B918-92635B428872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42000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6348651-DCC4-B67C-7CA1-367D8ECC30F4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217662" y="1966887"/>
            <a:ext cx="3617151" cy="4032275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66888"/>
            <a:ext cx="3514161" cy="4032275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09823" y="1966887"/>
            <a:ext cx="3617151" cy="4032275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spc="0" dirty="0"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8" y="1455672"/>
            <a:ext cx="3514161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409823" y="1455672"/>
            <a:ext cx="3617150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B2B5B3F1-9ED1-137A-6C27-576A7EC4AE0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217662" y="1455672"/>
            <a:ext cx="3617150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13">
            <a:extLst>
              <a:ext uri="{FF2B5EF4-FFF2-40B4-BE49-F238E27FC236}">
                <a16:creationId xmlns:a16="http://schemas.microsoft.com/office/drawing/2014/main" id="{A0A27CB2-4641-6D48-05E4-E731468C849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731839" y="1732020"/>
            <a:ext cx="3514160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37C4537D-C612-17FB-DAE7-6CEF1C020504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409822" y="1732020"/>
            <a:ext cx="3617149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8" name="Content Placeholder 13">
            <a:extLst>
              <a:ext uri="{FF2B5EF4-FFF2-40B4-BE49-F238E27FC236}">
                <a16:creationId xmlns:a16="http://schemas.microsoft.com/office/drawing/2014/main" id="{C2CF7852-20BF-184D-3CA4-224092575BD8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217662" y="1732020"/>
            <a:ext cx="3617149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F0A7909-6DFB-D0D5-5DFF-2015EAEC04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2204ADDC-AE90-042A-4BE9-1C8E52925C7F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95540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93104F92-1FF2-990F-68A4-9E5697EACE99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9124113" y="1978546"/>
            <a:ext cx="2710700" cy="4020616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6348651-DCC4-B67C-7CA1-367D8ECC30F4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298506" y="1978546"/>
            <a:ext cx="2691526" cy="4020616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8" y="1978547"/>
            <a:ext cx="2591808" cy="4020616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42743" y="1978546"/>
            <a:ext cx="2691526" cy="4020616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spc="0" dirty="0"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9" y="1455672"/>
            <a:ext cx="2591808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42743" y="1455672"/>
            <a:ext cx="2691526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B2B5B3F1-9ED1-137A-6C27-576A7EC4AE0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98506" y="1455672"/>
            <a:ext cx="2691526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8" name="Content Placeholder 13">
            <a:extLst>
              <a:ext uri="{FF2B5EF4-FFF2-40B4-BE49-F238E27FC236}">
                <a16:creationId xmlns:a16="http://schemas.microsoft.com/office/drawing/2014/main" id="{46009A66-FE60-490E-942D-974C9244E92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9124113" y="1455672"/>
            <a:ext cx="2710700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7559253F-7844-9260-04E1-B1D366C70B3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1841" y="1732020"/>
            <a:ext cx="2591808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13">
            <a:extLst>
              <a:ext uri="{FF2B5EF4-FFF2-40B4-BE49-F238E27FC236}">
                <a16:creationId xmlns:a16="http://schemas.microsoft.com/office/drawing/2014/main" id="{70734B3F-7493-ED3B-E89C-3F0D6E5EA738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442744" y="1732020"/>
            <a:ext cx="269152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1" name="Content Placeholder 13">
            <a:extLst>
              <a:ext uri="{FF2B5EF4-FFF2-40B4-BE49-F238E27FC236}">
                <a16:creationId xmlns:a16="http://schemas.microsoft.com/office/drawing/2014/main" id="{A5965DC8-9681-D85D-67F6-5DA220388CB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298506" y="1732020"/>
            <a:ext cx="269152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4" name="Content Placeholder 13">
            <a:extLst>
              <a:ext uri="{FF2B5EF4-FFF2-40B4-BE49-F238E27FC236}">
                <a16:creationId xmlns:a16="http://schemas.microsoft.com/office/drawing/2014/main" id="{A9B22168-6C46-1EBB-8CFB-E74CB918730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124113" y="1732020"/>
            <a:ext cx="269152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DCFE2EDF-8C48-3BD1-6F14-5204780FBE5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3DCC04CE-942E-FE9B-21EB-2D55624824AB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79938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66887"/>
            <a:ext cx="5364163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1638" y="1966886"/>
            <a:ext cx="5573175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spc="0" dirty="0"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8" y="1455672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61639" y="1455672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85709AA8-11EC-7351-BB57-8F5BC0581EF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1838" y="1732020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9BDD6D74-2C59-881D-2879-83A310F8164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261638" y="1732020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A6A1ECA-879E-D89D-87D7-3D496D5538B8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731837" y="4335867"/>
            <a:ext cx="5364163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10AD194-9F72-220B-857E-ECD4E82AF0F3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6261638" y="4335866"/>
            <a:ext cx="5573175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503877B8-4F20-48F5-2A77-1A0FD02DC69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31838" y="3824652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Content Placeholder 13">
            <a:extLst>
              <a:ext uri="{FF2B5EF4-FFF2-40B4-BE49-F238E27FC236}">
                <a16:creationId xmlns:a16="http://schemas.microsoft.com/office/drawing/2014/main" id="{4EE66E1E-9677-ADFA-CE99-CDBF333EF7C7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1639" y="3824652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13">
            <a:extLst>
              <a:ext uri="{FF2B5EF4-FFF2-40B4-BE49-F238E27FC236}">
                <a16:creationId xmlns:a16="http://schemas.microsoft.com/office/drawing/2014/main" id="{E63A9EE8-9F22-F556-5F53-E4D76C4AE54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731838" y="4101000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9BEF7F00-8363-9DF7-291A-FC36C3923C2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261638" y="4101000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41F61319-0589-6FF0-DBEA-45CFECEFE61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3CEDEE4B-F086-C07C-DCA1-6A908E622EDA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024773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66887"/>
            <a:ext cx="5364163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1638" y="1966886"/>
            <a:ext cx="5573175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spc="0" dirty="0"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8" y="1455672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61639" y="1455672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85709AA8-11EC-7351-BB57-8F5BC0581EF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1838" y="1732020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9BDD6D74-2C59-881D-2879-83A310F8164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261638" y="1732020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A6A1ECA-879E-D89D-87D7-3D496D5538B8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731837" y="4335867"/>
            <a:ext cx="5364163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10AD194-9F72-220B-857E-ECD4E82AF0F3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6261638" y="4335866"/>
            <a:ext cx="5573175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503877B8-4F20-48F5-2A77-1A0FD02DC69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31838" y="3824652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Content Placeholder 13">
            <a:extLst>
              <a:ext uri="{FF2B5EF4-FFF2-40B4-BE49-F238E27FC236}">
                <a16:creationId xmlns:a16="http://schemas.microsoft.com/office/drawing/2014/main" id="{4EE66E1E-9677-ADFA-CE99-CDBF333EF7C7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1639" y="3824652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13">
            <a:extLst>
              <a:ext uri="{FF2B5EF4-FFF2-40B4-BE49-F238E27FC236}">
                <a16:creationId xmlns:a16="http://schemas.microsoft.com/office/drawing/2014/main" id="{E63A9EE8-9F22-F556-5F53-E4D76C4AE54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731838" y="4101000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9BEF7F00-8363-9DF7-291A-FC36C3923C2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261638" y="4101000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FB3D24B6-EF76-ACDB-C532-BF0B3C8C610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5B9D12CF-E33A-03EC-B918-92635B428872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marL="0" algn="r" defTabSz="914400" rtl="0" eaLnBrk="1" latinLnBrk="0" hangingPunct="1">
              <a:defRPr lang="pt-BR" sz="1000" kern="1200" smtClean="0">
                <a:solidFill>
                  <a:srgbClr val="222F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algn="ctr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574152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2857278"/>
            <a:ext cx="5364163" cy="1208822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1638" y="2857277"/>
            <a:ext cx="5573175" cy="1208822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spc="0" dirty="0"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8" y="2346063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61639" y="2346063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85709AA8-11EC-7351-BB57-8F5BC0581EF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1838" y="2622411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9BDD6D74-2C59-881D-2879-83A310F8164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261638" y="2622411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A6A1ECA-879E-D89D-87D7-3D496D5538B8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731837" y="4788352"/>
            <a:ext cx="5364163" cy="1208822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10AD194-9F72-220B-857E-ECD4E82AF0F3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6261638" y="4788351"/>
            <a:ext cx="5573175" cy="1208822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503877B8-4F20-48F5-2A77-1A0FD02DC69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31838" y="4277137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Content Placeholder 13">
            <a:extLst>
              <a:ext uri="{FF2B5EF4-FFF2-40B4-BE49-F238E27FC236}">
                <a16:creationId xmlns:a16="http://schemas.microsoft.com/office/drawing/2014/main" id="{4EE66E1E-9677-ADFA-CE99-CDBF333EF7C7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1639" y="4277137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13">
            <a:extLst>
              <a:ext uri="{FF2B5EF4-FFF2-40B4-BE49-F238E27FC236}">
                <a16:creationId xmlns:a16="http://schemas.microsoft.com/office/drawing/2014/main" id="{E63A9EE8-9F22-F556-5F53-E4D76C4AE54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731838" y="4553485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9BEF7F00-8363-9DF7-291A-FC36C3923C2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261638" y="4553485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FB3D24B6-EF76-ACDB-C532-BF0B3C8C610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5B9D12CF-E33A-03EC-B918-92635B428872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9E688F-5C03-2148-56D4-DB20887A400B}"/>
              </a:ext>
            </a:extLst>
          </p:cNvPr>
          <p:cNvSpPr/>
          <p:nvPr userDrawn="1"/>
        </p:nvSpPr>
        <p:spPr>
          <a:xfrm>
            <a:off x="0" y="1450975"/>
            <a:ext cx="12192000" cy="7444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00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317437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ero Content/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45246" y="1966886"/>
            <a:ext cx="6189568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spc="0" dirty="0"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645246" y="1455672"/>
            <a:ext cx="6189567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9BDD6D74-2C59-881D-2879-83A310F8164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5645246" y="1732020"/>
            <a:ext cx="6189568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10AD194-9F72-220B-857E-ECD4E82AF0F3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5645246" y="4335866"/>
            <a:ext cx="6189568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Content Placeholder 13">
            <a:extLst>
              <a:ext uri="{FF2B5EF4-FFF2-40B4-BE49-F238E27FC236}">
                <a16:creationId xmlns:a16="http://schemas.microsoft.com/office/drawing/2014/main" id="{4EE66E1E-9677-ADFA-CE99-CDBF333EF7C7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5645246" y="3824652"/>
            <a:ext cx="6189567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9BEF7F00-8363-9DF7-291A-FC36C3923C2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5645246" y="4101000"/>
            <a:ext cx="6189568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FB3D24B6-EF76-ACDB-C532-BF0B3C8C610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5B9D12CF-E33A-03EC-B918-92635B428872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568387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6348651-DCC4-B67C-7CA1-367D8ECC30F4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217662" y="1978546"/>
            <a:ext cx="3617151" cy="1668949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78547"/>
            <a:ext cx="3514161" cy="1668949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09823" y="1978546"/>
            <a:ext cx="3617151" cy="1668949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spc="0" dirty="0"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8" y="1455672"/>
            <a:ext cx="3514161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409823" y="1455672"/>
            <a:ext cx="3617150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B2B5B3F1-9ED1-137A-6C27-576A7EC4AE0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217662" y="1455672"/>
            <a:ext cx="3617150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02437D02-213A-D460-A6AA-8EF17FD9DCBF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31839" y="1732020"/>
            <a:ext cx="3514160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13">
            <a:extLst>
              <a:ext uri="{FF2B5EF4-FFF2-40B4-BE49-F238E27FC236}">
                <a16:creationId xmlns:a16="http://schemas.microsoft.com/office/drawing/2014/main" id="{04EC45A4-15A4-F81B-1189-CAC268B9A6B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409823" y="1732020"/>
            <a:ext cx="3617150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1" name="Content Placeholder 13">
            <a:extLst>
              <a:ext uri="{FF2B5EF4-FFF2-40B4-BE49-F238E27FC236}">
                <a16:creationId xmlns:a16="http://schemas.microsoft.com/office/drawing/2014/main" id="{3188BDD0-D14B-73DC-61FD-AD0B99B2A2A8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217662" y="1732020"/>
            <a:ext cx="3617150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6A6E4956-D661-4D53-8334-DD4513C11FA9}"/>
              </a:ext>
            </a:extLst>
          </p:cNvPr>
          <p:cNvSpPr>
            <a:spLocks noGrp="1"/>
          </p:cNvSpPr>
          <p:nvPr>
            <p:ph sz="half" idx="27"/>
          </p:nvPr>
        </p:nvSpPr>
        <p:spPr>
          <a:xfrm>
            <a:off x="8217662" y="4336758"/>
            <a:ext cx="3617151" cy="1668949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28B24CD-29B7-DE6D-E888-0A0D50458613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731837" y="4336759"/>
            <a:ext cx="3514161" cy="1668949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03915BD5-B60B-4279-091A-1C6CAA341F7C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4409823" y="4336758"/>
            <a:ext cx="3617151" cy="1668949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EF4CC729-2E82-6584-AB6C-F569F07B64E4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731838" y="3813884"/>
            <a:ext cx="3514161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Content Placeholder 13">
            <a:extLst>
              <a:ext uri="{FF2B5EF4-FFF2-40B4-BE49-F238E27FC236}">
                <a16:creationId xmlns:a16="http://schemas.microsoft.com/office/drawing/2014/main" id="{E2338167-433A-D3FF-1381-B32FF19479EF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409823" y="3813884"/>
            <a:ext cx="3617150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Content Placeholder 13">
            <a:extLst>
              <a:ext uri="{FF2B5EF4-FFF2-40B4-BE49-F238E27FC236}">
                <a16:creationId xmlns:a16="http://schemas.microsoft.com/office/drawing/2014/main" id="{A37E2D0E-A1B8-2890-9C2C-92307D79973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8217662" y="3813884"/>
            <a:ext cx="3617150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Content Placeholder 13">
            <a:extLst>
              <a:ext uri="{FF2B5EF4-FFF2-40B4-BE49-F238E27FC236}">
                <a16:creationId xmlns:a16="http://schemas.microsoft.com/office/drawing/2014/main" id="{0A46685F-9BAE-8DD8-6BED-6082F6BDE20B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731839" y="4090232"/>
            <a:ext cx="3514160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9" name="Content Placeholder 13">
            <a:extLst>
              <a:ext uri="{FF2B5EF4-FFF2-40B4-BE49-F238E27FC236}">
                <a16:creationId xmlns:a16="http://schemas.microsoft.com/office/drawing/2014/main" id="{ECFE5EF0-2F1F-C3D9-653F-1FB66F18318D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4409823" y="4090232"/>
            <a:ext cx="3617150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30" name="Content Placeholder 13">
            <a:extLst>
              <a:ext uri="{FF2B5EF4-FFF2-40B4-BE49-F238E27FC236}">
                <a16:creationId xmlns:a16="http://schemas.microsoft.com/office/drawing/2014/main" id="{4701A65B-BC7E-81D5-5B0C-2D5DB5F40961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217662" y="4090232"/>
            <a:ext cx="3617150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1557A35C-ED69-D84B-2376-728B37FD9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8CEECFCA-AA27-F902-FD04-6B4F65FEC5EC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924750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66887"/>
            <a:ext cx="5364163" cy="4032276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1638" y="1966885"/>
            <a:ext cx="5573175" cy="819447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spc="0" dirty="0"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8" y="1455672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61639" y="1455672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85709AA8-11EC-7351-BB57-8F5BC0581EF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1838" y="1732020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9BDD6D74-2C59-881D-2879-83A310F8164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261638" y="1732020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A6A1ECA-879E-D89D-87D7-3D496D5538B8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6275388" y="5196058"/>
            <a:ext cx="5559424" cy="819447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10AD194-9F72-220B-857E-ECD4E82AF0F3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6261638" y="3572390"/>
            <a:ext cx="5573175" cy="819447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503877B8-4F20-48F5-2A77-1A0FD02DC69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275389" y="4684844"/>
            <a:ext cx="555942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Content Placeholder 13">
            <a:extLst>
              <a:ext uri="{FF2B5EF4-FFF2-40B4-BE49-F238E27FC236}">
                <a16:creationId xmlns:a16="http://schemas.microsoft.com/office/drawing/2014/main" id="{4EE66E1E-9677-ADFA-CE99-CDBF333EF7C7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1639" y="3061177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13">
            <a:extLst>
              <a:ext uri="{FF2B5EF4-FFF2-40B4-BE49-F238E27FC236}">
                <a16:creationId xmlns:a16="http://schemas.microsoft.com/office/drawing/2014/main" id="{E63A9EE8-9F22-F556-5F53-E4D76C4AE54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275389" y="4961192"/>
            <a:ext cx="5559424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9BEF7F00-8363-9DF7-291A-FC36C3923C2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261638" y="3337525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FB3D24B6-EF76-ACDB-C532-BF0B3C8C610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5B9D12CF-E33A-03EC-B918-92635B428872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365646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11705-E470-8D14-31B3-824FE4DAC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2B80E022-3FDD-ADDD-4ECC-A35C1C62984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spc="0" dirty="0"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B5C7FA-FA21-5D6B-ED9C-229EEA611B8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1827C54A-179C-01DA-240C-635F621B595D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849676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76121"/>
            <a:ext cx="11102976" cy="4023041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spc="0" dirty="0"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31838" y="1455672"/>
            <a:ext cx="11102976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6" name="Content Placeholder 13">
            <a:extLst>
              <a:ext uri="{FF2B5EF4-FFF2-40B4-BE49-F238E27FC236}">
                <a16:creationId xmlns:a16="http://schemas.microsoft.com/office/drawing/2014/main" id="{7B3249D2-1FE0-ED6D-322D-323EFD8671F4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31838" y="1732020"/>
            <a:ext cx="11102976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75A68369-8B33-C898-7757-7C5067723B8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19" name="Espaço Reservado para Número de Slide 3">
            <a:extLst>
              <a:ext uri="{FF2B5EF4-FFF2-40B4-BE49-F238E27FC236}">
                <a16:creationId xmlns:a16="http://schemas.microsoft.com/office/drawing/2014/main" id="{2270AFF3-59D8-4C40-C53C-030FABBADB20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95813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739B9-4054-A9D4-2292-242833A62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00962-9F6C-292D-19D5-4E49FD343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50975"/>
            <a:ext cx="11102975" cy="45481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11">
            <a:extLst>
              <a:ext uri="{FF2B5EF4-FFF2-40B4-BE49-F238E27FC236}">
                <a16:creationId xmlns:a16="http://schemas.microsoft.com/office/drawing/2014/main" id="{D5FE42B3-1E99-213C-F3D2-9217EEF767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spc="0" dirty="0"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C9BAE278-82BE-B410-C93D-5D5050227AE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D4030CDF-4430-6B59-CD59-8D001010EC19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5522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F32EA934-73E7-F42B-AE43-761DE4604E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5B514DBA-F698-21FA-3D3B-16CC5B903759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778960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11705-E470-8D14-31B3-824FE4DAC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2B80E022-3FDD-ADDD-4ECC-A35C1C62984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spc="0" baseline="0" dirty="0"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78881D-E677-81F1-4FEB-E641DAF4692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27651" y="1450975"/>
            <a:ext cx="7607161" cy="454818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9D7BFA1C-42AF-E218-5F54-B32365C3860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baseline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EAF2737F-3FD4-9EF5-20FB-B39B89C4D699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marL="0" algn="r" defTabSz="914400" rtl="0" eaLnBrk="1" latinLnBrk="0" hangingPunct="1">
              <a:defRPr lang="pt-BR" sz="1000" kern="1200" smtClean="0">
                <a:solidFill>
                  <a:srgbClr val="222F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algn="ctr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ECC40FAE-122E-C116-1572-5FE0D3D1297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531844" y="1450975"/>
            <a:ext cx="4551062" cy="4548188"/>
          </a:xfrm>
          <a:prstGeom prst="roundRect">
            <a:avLst>
              <a:gd name="adj" fmla="val 8077"/>
            </a:avLst>
          </a:prstGeom>
        </p:spPr>
        <p:txBody>
          <a:bodyPr anchor="ctr" anchorCtr="0"/>
          <a:lstStyle>
            <a:lvl1pPr algn="ctr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98606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76121"/>
            <a:ext cx="5364163" cy="4023041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1638" y="1976120"/>
            <a:ext cx="5573175" cy="4023041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spc="0" baseline="0" dirty="0"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31838" y="1455672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61639" y="1455672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6" name="Content Placeholder 13">
            <a:extLst>
              <a:ext uri="{FF2B5EF4-FFF2-40B4-BE49-F238E27FC236}">
                <a16:creationId xmlns:a16="http://schemas.microsoft.com/office/drawing/2014/main" id="{7B3249D2-1FE0-ED6D-322D-323EFD8671F4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31838" y="1732020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20924A97-2EEA-A043-22A5-75FCC7450D6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61639" y="1732020"/>
            <a:ext cx="5573174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7E00651-9D98-D3B9-7FFA-79A63DD7788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baseline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780046A1-6337-A518-BD38-0ECC9563ACA8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799647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e Content/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66887"/>
            <a:ext cx="11102976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spc="0" baseline="0" dirty="0"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8" y="1455672"/>
            <a:ext cx="11102976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85709AA8-11EC-7351-BB57-8F5BC0581EF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1838" y="1732020"/>
            <a:ext cx="11102976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A6A1ECA-879E-D89D-87D7-3D496D5538B8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731837" y="4335867"/>
            <a:ext cx="11102976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503877B8-4F20-48F5-2A77-1A0FD02DC69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31838" y="3824652"/>
            <a:ext cx="11102976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13">
            <a:extLst>
              <a:ext uri="{FF2B5EF4-FFF2-40B4-BE49-F238E27FC236}">
                <a16:creationId xmlns:a16="http://schemas.microsoft.com/office/drawing/2014/main" id="{E63A9EE8-9F22-F556-5F53-E4D76C4AE54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731838" y="4101000"/>
            <a:ext cx="11102976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FB3D24B6-EF76-ACDB-C532-BF0B3C8C610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baseline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5B9D12CF-E33A-03EC-B918-92635B428872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307952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6348651-DCC4-B67C-7CA1-367D8ECC30F4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217662" y="1966887"/>
            <a:ext cx="3617151" cy="4032275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66888"/>
            <a:ext cx="3514161" cy="4032275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09823" y="1966887"/>
            <a:ext cx="3617151" cy="4032275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spc="0" baseline="0" dirty="0"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8" y="1455672"/>
            <a:ext cx="3514161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409823" y="1455672"/>
            <a:ext cx="3617150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B2B5B3F1-9ED1-137A-6C27-576A7EC4AE0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217662" y="1455672"/>
            <a:ext cx="3617150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13">
            <a:extLst>
              <a:ext uri="{FF2B5EF4-FFF2-40B4-BE49-F238E27FC236}">
                <a16:creationId xmlns:a16="http://schemas.microsoft.com/office/drawing/2014/main" id="{A0A27CB2-4641-6D48-05E4-E731468C849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731839" y="1732020"/>
            <a:ext cx="3514160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37C4537D-C612-17FB-DAE7-6CEF1C020504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409822" y="1732020"/>
            <a:ext cx="3617149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8" name="Content Placeholder 13">
            <a:extLst>
              <a:ext uri="{FF2B5EF4-FFF2-40B4-BE49-F238E27FC236}">
                <a16:creationId xmlns:a16="http://schemas.microsoft.com/office/drawing/2014/main" id="{C2CF7852-20BF-184D-3CA4-224092575BD8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217662" y="1732020"/>
            <a:ext cx="3617149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6274D4FE-ABA0-119A-DFC7-7D820378C78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baseline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96B39301-24F9-4161-8EB9-8D949546E76A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948565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93104F92-1FF2-990F-68A4-9E5697EACE99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9124113" y="1978546"/>
            <a:ext cx="2710700" cy="4020616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6348651-DCC4-B67C-7CA1-367D8ECC30F4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298506" y="1978546"/>
            <a:ext cx="2691526" cy="4020616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8" y="1978547"/>
            <a:ext cx="2591808" cy="4020616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42743" y="1978546"/>
            <a:ext cx="2691526" cy="4020616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spc="0" baseline="0" dirty="0"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9" y="1455672"/>
            <a:ext cx="2591808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42743" y="1455672"/>
            <a:ext cx="2691526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B2B5B3F1-9ED1-137A-6C27-576A7EC4AE0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98506" y="1455672"/>
            <a:ext cx="2691526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8" name="Content Placeholder 13">
            <a:extLst>
              <a:ext uri="{FF2B5EF4-FFF2-40B4-BE49-F238E27FC236}">
                <a16:creationId xmlns:a16="http://schemas.microsoft.com/office/drawing/2014/main" id="{46009A66-FE60-490E-942D-974C9244E92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9124113" y="1455672"/>
            <a:ext cx="2710700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7559253F-7844-9260-04E1-B1D366C70B3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1841" y="1732020"/>
            <a:ext cx="2591808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13">
            <a:extLst>
              <a:ext uri="{FF2B5EF4-FFF2-40B4-BE49-F238E27FC236}">
                <a16:creationId xmlns:a16="http://schemas.microsoft.com/office/drawing/2014/main" id="{70734B3F-7493-ED3B-E89C-3F0D6E5EA738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442744" y="1732020"/>
            <a:ext cx="269152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1" name="Content Placeholder 13">
            <a:extLst>
              <a:ext uri="{FF2B5EF4-FFF2-40B4-BE49-F238E27FC236}">
                <a16:creationId xmlns:a16="http://schemas.microsoft.com/office/drawing/2014/main" id="{A5965DC8-9681-D85D-67F6-5DA220388CB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298506" y="1732020"/>
            <a:ext cx="269152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4" name="Content Placeholder 13">
            <a:extLst>
              <a:ext uri="{FF2B5EF4-FFF2-40B4-BE49-F238E27FC236}">
                <a16:creationId xmlns:a16="http://schemas.microsoft.com/office/drawing/2014/main" id="{A9B22168-6C46-1EBB-8CFB-E74CB918730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124113" y="1732020"/>
            <a:ext cx="269152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7B174C37-CDD2-C46A-0CD4-E1802477A41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baseline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3A5E3DCF-5C31-4B74-3BAA-708FA8F4009F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156244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66887"/>
            <a:ext cx="5364163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1638" y="1966886"/>
            <a:ext cx="5573175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dirty="0"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8" y="1455672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61639" y="1455672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85709AA8-11EC-7351-BB57-8F5BC0581EF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1838" y="1732020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9BDD6D74-2C59-881D-2879-83A310F8164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261638" y="1732020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A6A1ECA-879E-D89D-87D7-3D496D5538B8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731837" y="4335867"/>
            <a:ext cx="5364163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10AD194-9F72-220B-857E-ECD4E82AF0F3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6261638" y="4335866"/>
            <a:ext cx="5573175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503877B8-4F20-48F5-2A77-1A0FD02DC69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31838" y="3824652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Content Placeholder 13">
            <a:extLst>
              <a:ext uri="{FF2B5EF4-FFF2-40B4-BE49-F238E27FC236}">
                <a16:creationId xmlns:a16="http://schemas.microsoft.com/office/drawing/2014/main" id="{4EE66E1E-9677-ADFA-CE99-CDBF333EF7C7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1639" y="3824652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13">
            <a:extLst>
              <a:ext uri="{FF2B5EF4-FFF2-40B4-BE49-F238E27FC236}">
                <a16:creationId xmlns:a16="http://schemas.microsoft.com/office/drawing/2014/main" id="{E63A9EE8-9F22-F556-5F53-E4D76C4AE54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731838" y="4101000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9BEF7F00-8363-9DF7-291A-FC36C3923C2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261638" y="4101000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1172F50C-B44C-8112-40A2-77C275C0A88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baseline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716BE50D-90EE-D69D-39C5-C4222D7DE051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907956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66887"/>
            <a:ext cx="5364163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1638" y="1966886"/>
            <a:ext cx="5573175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spc="0" baseline="0" dirty="0"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8" y="1455672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61639" y="1455672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85709AA8-11EC-7351-BB57-8F5BC0581EF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1838" y="1732020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9BDD6D74-2C59-881D-2879-83A310F8164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261638" y="1732020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A6A1ECA-879E-D89D-87D7-3D496D5538B8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731837" y="4335867"/>
            <a:ext cx="5364163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10AD194-9F72-220B-857E-ECD4E82AF0F3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6261638" y="4335866"/>
            <a:ext cx="5573175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503877B8-4F20-48F5-2A77-1A0FD02DC69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31838" y="3824652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Content Placeholder 13">
            <a:extLst>
              <a:ext uri="{FF2B5EF4-FFF2-40B4-BE49-F238E27FC236}">
                <a16:creationId xmlns:a16="http://schemas.microsoft.com/office/drawing/2014/main" id="{4EE66E1E-9677-ADFA-CE99-CDBF333EF7C7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1639" y="3824652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13">
            <a:extLst>
              <a:ext uri="{FF2B5EF4-FFF2-40B4-BE49-F238E27FC236}">
                <a16:creationId xmlns:a16="http://schemas.microsoft.com/office/drawing/2014/main" id="{E63A9EE8-9F22-F556-5F53-E4D76C4AE54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731838" y="4101000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9BEF7F00-8363-9DF7-291A-FC36C3923C2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261638" y="4101000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FB3D24B6-EF76-ACDB-C532-BF0B3C8C610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baseline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5B9D12CF-E33A-03EC-B918-92635B428872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405851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2857278"/>
            <a:ext cx="5364163" cy="1208822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1638" y="2857277"/>
            <a:ext cx="5573175" cy="1208822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dirty="0"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8" y="2346063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61639" y="2346063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85709AA8-11EC-7351-BB57-8F5BC0581EF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1838" y="2622411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9BDD6D74-2C59-881D-2879-83A310F8164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261638" y="2622411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A6A1ECA-879E-D89D-87D7-3D496D5538B8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731837" y="4788352"/>
            <a:ext cx="5364163" cy="1208822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10AD194-9F72-220B-857E-ECD4E82AF0F3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6261638" y="4788351"/>
            <a:ext cx="5573175" cy="1208822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503877B8-4F20-48F5-2A77-1A0FD02DC69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31838" y="4277137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Content Placeholder 13">
            <a:extLst>
              <a:ext uri="{FF2B5EF4-FFF2-40B4-BE49-F238E27FC236}">
                <a16:creationId xmlns:a16="http://schemas.microsoft.com/office/drawing/2014/main" id="{4EE66E1E-9677-ADFA-CE99-CDBF333EF7C7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1639" y="4277137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13">
            <a:extLst>
              <a:ext uri="{FF2B5EF4-FFF2-40B4-BE49-F238E27FC236}">
                <a16:creationId xmlns:a16="http://schemas.microsoft.com/office/drawing/2014/main" id="{E63A9EE8-9F22-F556-5F53-E4D76C4AE54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731838" y="4553485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9BEF7F00-8363-9DF7-291A-FC36C3923C2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261638" y="4553485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FB3D24B6-EF76-ACDB-C532-BF0B3C8C610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baseline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5B9D12CF-E33A-03EC-B918-92635B428872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9E688F-5C03-2148-56D4-DB20887A400B}"/>
              </a:ext>
            </a:extLst>
          </p:cNvPr>
          <p:cNvSpPr/>
          <p:nvPr userDrawn="1"/>
        </p:nvSpPr>
        <p:spPr>
          <a:xfrm>
            <a:off x="0" y="1450975"/>
            <a:ext cx="12192000" cy="7444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00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972522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ero Content/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45246" y="1966886"/>
            <a:ext cx="6189568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dirty="0"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645246" y="1455672"/>
            <a:ext cx="6189567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9BDD6D74-2C59-881D-2879-83A310F8164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5645246" y="1732020"/>
            <a:ext cx="6189568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10AD194-9F72-220B-857E-ECD4E82AF0F3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5645246" y="4335866"/>
            <a:ext cx="6189568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Content Placeholder 13">
            <a:extLst>
              <a:ext uri="{FF2B5EF4-FFF2-40B4-BE49-F238E27FC236}">
                <a16:creationId xmlns:a16="http://schemas.microsoft.com/office/drawing/2014/main" id="{4EE66E1E-9677-ADFA-CE99-CDBF333EF7C7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5645246" y="3824652"/>
            <a:ext cx="6189567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9BEF7F00-8363-9DF7-291A-FC36C3923C2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5645246" y="4101000"/>
            <a:ext cx="6189568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FB3D24B6-EF76-ACDB-C532-BF0B3C8C610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baseline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5B9D12CF-E33A-03EC-B918-92635B428872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318797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6348651-DCC4-B67C-7CA1-367D8ECC30F4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217662" y="1978546"/>
            <a:ext cx="3617151" cy="1668949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78547"/>
            <a:ext cx="3514161" cy="1668949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09823" y="1978546"/>
            <a:ext cx="3617151" cy="1668949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dirty="0"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8" y="1455672"/>
            <a:ext cx="3514161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409823" y="1455672"/>
            <a:ext cx="3617150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B2B5B3F1-9ED1-137A-6C27-576A7EC4AE0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217662" y="1455672"/>
            <a:ext cx="3617150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02437D02-213A-D460-A6AA-8EF17FD9DCBF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31839" y="1732020"/>
            <a:ext cx="3514160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13">
            <a:extLst>
              <a:ext uri="{FF2B5EF4-FFF2-40B4-BE49-F238E27FC236}">
                <a16:creationId xmlns:a16="http://schemas.microsoft.com/office/drawing/2014/main" id="{04EC45A4-15A4-F81B-1189-CAC268B9A6B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409823" y="1732020"/>
            <a:ext cx="3617150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1" name="Content Placeholder 13">
            <a:extLst>
              <a:ext uri="{FF2B5EF4-FFF2-40B4-BE49-F238E27FC236}">
                <a16:creationId xmlns:a16="http://schemas.microsoft.com/office/drawing/2014/main" id="{3188BDD0-D14B-73DC-61FD-AD0B99B2A2A8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217662" y="1732020"/>
            <a:ext cx="3617150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6A6E4956-D661-4D53-8334-DD4513C11FA9}"/>
              </a:ext>
            </a:extLst>
          </p:cNvPr>
          <p:cNvSpPr>
            <a:spLocks noGrp="1"/>
          </p:cNvSpPr>
          <p:nvPr>
            <p:ph sz="half" idx="27"/>
          </p:nvPr>
        </p:nvSpPr>
        <p:spPr>
          <a:xfrm>
            <a:off x="8217662" y="4336758"/>
            <a:ext cx="3617151" cy="1668949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28B24CD-29B7-DE6D-E888-0A0D50458613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731837" y="4336759"/>
            <a:ext cx="3514161" cy="1668949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03915BD5-B60B-4279-091A-1C6CAA341F7C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4409823" y="4336758"/>
            <a:ext cx="3617151" cy="1668949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EF4CC729-2E82-6584-AB6C-F569F07B64E4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731838" y="3813884"/>
            <a:ext cx="3514161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Content Placeholder 13">
            <a:extLst>
              <a:ext uri="{FF2B5EF4-FFF2-40B4-BE49-F238E27FC236}">
                <a16:creationId xmlns:a16="http://schemas.microsoft.com/office/drawing/2014/main" id="{E2338167-433A-D3FF-1381-B32FF19479EF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409823" y="3813884"/>
            <a:ext cx="3617150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Content Placeholder 13">
            <a:extLst>
              <a:ext uri="{FF2B5EF4-FFF2-40B4-BE49-F238E27FC236}">
                <a16:creationId xmlns:a16="http://schemas.microsoft.com/office/drawing/2014/main" id="{A37E2D0E-A1B8-2890-9C2C-92307D79973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8217662" y="3813884"/>
            <a:ext cx="3617150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Content Placeholder 13">
            <a:extLst>
              <a:ext uri="{FF2B5EF4-FFF2-40B4-BE49-F238E27FC236}">
                <a16:creationId xmlns:a16="http://schemas.microsoft.com/office/drawing/2014/main" id="{0A46685F-9BAE-8DD8-6BED-6082F6BDE20B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731839" y="4090232"/>
            <a:ext cx="3514160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9" name="Content Placeholder 13">
            <a:extLst>
              <a:ext uri="{FF2B5EF4-FFF2-40B4-BE49-F238E27FC236}">
                <a16:creationId xmlns:a16="http://schemas.microsoft.com/office/drawing/2014/main" id="{ECFE5EF0-2F1F-C3D9-653F-1FB66F18318D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4409823" y="4090232"/>
            <a:ext cx="3617150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30" name="Content Placeholder 13">
            <a:extLst>
              <a:ext uri="{FF2B5EF4-FFF2-40B4-BE49-F238E27FC236}">
                <a16:creationId xmlns:a16="http://schemas.microsoft.com/office/drawing/2014/main" id="{4701A65B-BC7E-81D5-5B0C-2D5DB5F40961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217662" y="4090232"/>
            <a:ext cx="3617150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25D049CF-18E6-5269-399A-94D4365E1E6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baseline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A95FDE92-A533-04C6-677E-77997F856CA6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008002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66887"/>
            <a:ext cx="5364163" cy="4032276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1638" y="1966885"/>
            <a:ext cx="5573175" cy="819447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dirty="0"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8" y="1455672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61639" y="1455672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85709AA8-11EC-7351-BB57-8F5BC0581EF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1838" y="1732020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9BDD6D74-2C59-881D-2879-83A310F8164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261638" y="1732020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A6A1ECA-879E-D89D-87D7-3D496D5538B8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6275388" y="5196058"/>
            <a:ext cx="5559424" cy="819447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10AD194-9F72-220B-857E-ECD4E82AF0F3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6261638" y="3572390"/>
            <a:ext cx="5573175" cy="819447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503877B8-4F20-48F5-2A77-1A0FD02DC69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275389" y="4684844"/>
            <a:ext cx="555942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Content Placeholder 13">
            <a:extLst>
              <a:ext uri="{FF2B5EF4-FFF2-40B4-BE49-F238E27FC236}">
                <a16:creationId xmlns:a16="http://schemas.microsoft.com/office/drawing/2014/main" id="{4EE66E1E-9677-ADFA-CE99-CDBF333EF7C7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1639" y="3061177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13">
            <a:extLst>
              <a:ext uri="{FF2B5EF4-FFF2-40B4-BE49-F238E27FC236}">
                <a16:creationId xmlns:a16="http://schemas.microsoft.com/office/drawing/2014/main" id="{E63A9EE8-9F22-F556-5F53-E4D76C4AE54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275389" y="4961192"/>
            <a:ext cx="5559424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9BEF7F00-8363-9DF7-291A-FC36C3923C2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261638" y="3337525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FB3D24B6-EF76-ACDB-C532-BF0B3C8C610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baseline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5B9D12CF-E33A-03EC-B918-92635B428872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712516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11705-E470-8D14-31B3-824FE4DAC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2B80E022-3FDD-ADDD-4ECC-A35C1C62984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dirty="0"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57760116-9E59-33FC-6BC7-49E0ECA300F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baseline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715F6EAF-F4FB-28C3-1A4A-791D6F67DBF7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095515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76121"/>
            <a:ext cx="11102976" cy="4023041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dirty="0"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31838" y="1455672"/>
            <a:ext cx="11102976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6" name="Content Placeholder 13">
            <a:extLst>
              <a:ext uri="{FF2B5EF4-FFF2-40B4-BE49-F238E27FC236}">
                <a16:creationId xmlns:a16="http://schemas.microsoft.com/office/drawing/2014/main" id="{7B3249D2-1FE0-ED6D-322D-323EFD8671F4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31838" y="1732020"/>
            <a:ext cx="11102976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75A68369-8B33-C898-7757-7C5067723B8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baseline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19" name="Espaço Reservado para Número de Slide 3">
            <a:extLst>
              <a:ext uri="{FF2B5EF4-FFF2-40B4-BE49-F238E27FC236}">
                <a16:creationId xmlns:a16="http://schemas.microsoft.com/office/drawing/2014/main" id="{2270AFF3-59D8-4C40-C53C-030FABBADB20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879098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739B9-4054-A9D4-2292-242833A62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00962-9F6C-292D-19D5-4E49FD343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50975"/>
            <a:ext cx="11102975" cy="45481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11">
            <a:extLst>
              <a:ext uri="{FF2B5EF4-FFF2-40B4-BE49-F238E27FC236}">
                <a16:creationId xmlns:a16="http://schemas.microsoft.com/office/drawing/2014/main" id="{D5FE42B3-1E99-213C-F3D2-9217EEF767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dirty="0"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2F1DE075-A5E1-000B-46FA-B32E12F4D16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baseline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E077CE84-C009-E679-A8F0-B462A583060E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615508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0CEB7816-3878-A81B-1BD9-712AECF6A51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baseline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F62F5AD7-9A63-55FF-19D9-4964854E75C8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575613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11705-E470-8D14-31B3-824FE4DAC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2B80E022-3FDD-ADDD-4ECC-A35C1C62984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dirty="0"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7DE9E503-0DA5-DD7A-0326-165CF94FD1A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baseline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02A25358-EF9C-A21B-8158-8EC1EEDCEF99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marL="0" algn="r" defTabSz="914400" rtl="0" eaLnBrk="1" latinLnBrk="0" hangingPunct="1">
              <a:defRPr lang="pt-BR" sz="1000" kern="1200" smtClean="0">
                <a:solidFill>
                  <a:srgbClr val="222F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algn="ctr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906159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11705-E470-8D14-31B3-824FE4DAC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2B80E022-3FDD-ADDD-4ECC-A35C1C62984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dirty="0"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22609D6E-6566-73A1-3287-69F24E735DB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056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baseline="0" dirty="0">
                <a:solidFill>
                  <a:schemeClr val="bg2"/>
                </a:solidFill>
                <a:latin typeface="Montserrat 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81BD5C05-047D-B42A-C9D6-BFC49D019249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marL="0" algn="r" defTabSz="914400" rtl="0" eaLnBrk="1" latinLnBrk="0" hangingPunct="1">
              <a:defRPr lang="pt-BR" sz="1000" kern="1200" smtClean="0">
                <a:solidFill>
                  <a:srgbClr val="222F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D040F07-03C9-435C-8770-1A5512E66C10}" type="slidenum">
              <a: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algn="ctr"/>
              <a:t>‹#›</a:t>
            </a:fld>
            <a:endParaRPr lang="en-US" sz="700" b="0" kern="1200" dirty="0">
              <a:solidFill>
                <a:schemeClr val="bg2">
                  <a:lumMod val="75000"/>
                </a:schemeClr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942023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11705-E470-8D14-31B3-824FE4DAC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745259"/>
            <a:ext cx="11102975" cy="28469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2B80E022-3FDD-ADDD-4ECC-A35C1C62984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spc="0" baseline="0" dirty="0"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78881D-E677-81F1-4FEB-E641DAF4692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27651" y="1450975"/>
            <a:ext cx="7607161" cy="454818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9905E8E-005A-2CB8-D13C-50AD91C5419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121"/>
          </a:xfrm>
        </p:spPr>
        <p:txBody>
          <a:bodyPr wrap="square">
            <a:spAutoFit/>
          </a:bodyPr>
          <a:lstStyle>
            <a:lvl1pPr marL="0" algn="l" defTabSz="914400" rtl="0" eaLnBrk="1" latinLnBrk="0" hangingPunct="1">
              <a:defRPr lang="en-US" sz="700" kern="1200" dirty="0" smtClean="0">
                <a:solidFill>
                  <a:schemeClr val="bg1">
                    <a:lumMod val="6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11" name="Espaço Reservado para Número de Slide 3">
            <a:extLst>
              <a:ext uri="{FF2B5EF4-FFF2-40B4-BE49-F238E27FC236}">
                <a16:creationId xmlns:a16="http://schemas.microsoft.com/office/drawing/2014/main" id="{71659637-18F6-B178-84AC-57BA4CF70E4D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marL="0" algn="r" defTabSz="914400" rtl="0" eaLnBrk="1" latinLnBrk="0" hangingPunct="1">
              <a:defRPr lang="pt-BR" sz="1000" kern="1200" smtClean="0">
                <a:solidFill>
                  <a:srgbClr val="222F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D040F07-03C9-435C-8770-1A5512E66C10}" type="slidenum">
              <a:rPr lang="en-US" sz="700" b="0" kern="1200" smtClean="0">
                <a:solidFill>
                  <a:schemeClr val="tx1"/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algn="ctr"/>
              <a:t>‹#›</a:t>
            </a:fld>
            <a:endParaRPr lang="en-US" sz="700" b="0" kern="1200" dirty="0">
              <a:solidFill>
                <a:schemeClr val="tx1"/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0237DB-DB13-5C37-7F45-25162D63C3F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31837" y="357006"/>
            <a:ext cx="1817688" cy="158698"/>
          </a:xfrm>
          <a:solidFill>
            <a:schemeClr val="bg1"/>
          </a:solidFill>
        </p:spPr>
        <p:txBody>
          <a:bodyPr wrap="square" rIns="10800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lang="en-US" sz="1000" kern="1200" dirty="0" smtClean="0">
                <a:solidFill>
                  <a:srgbClr val="222F44"/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CB68797C-15A9-6D75-5855-B5ED62E4510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531844" y="1450975"/>
            <a:ext cx="4551062" cy="4548188"/>
          </a:xfrm>
          <a:prstGeom prst="roundRect">
            <a:avLst>
              <a:gd name="adj" fmla="val 8077"/>
            </a:avLst>
          </a:prstGeom>
        </p:spPr>
        <p:txBody>
          <a:bodyPr anchor="ctr" anchorCtr="0"/>
          <a:lstStyle>
            <a:lvl1pPr algn="ctr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75622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76121"/>
            <a:ext cx="5364163" cy="4023041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1638" y="1976120"/>
            <a:ext cx="5573175" cy="4023041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dirty="0"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31838" y="1455672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61639" y="1455672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6" name="Content Placeholder 13">
            <a:extLst>
              <a:ext uri="{FF2B5EF4-FFF2-40B4-BE49-F238E27FC236}">
                <a16:creationId xmlns:a16="http://schemas.microsoft.com/office/drawing/2014/main" id="{7B3249D2-1FE0-ED6D-322D-323EFD8671F4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31838" y="1732020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20924A97-2EEA-A043-22A5-75FCC7450D6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61639" y="1732020"/>
            <a:ext cx="5573174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75A68369-8B33-C898-7757-7C5067723B8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12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700" spc="-20" baseline="0" dirty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19" name="Espaço Reservado para Número de Slide 3">
            <a:extLst>
              <a:ext uri="{FF2B5EF4-FFF2-40B4-BE49-F238E27FC236}">
                <a16:creationId xmlns:a16="http://schemas.microsoft.com/office/drawing/2014/main" id="{2270AFF3-59D8-4C40-C53C-030FABBADB20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algn="ctr">
              <a:defRPr sz="700" b="0"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mtClean="0"/>
              <a:pPr lvl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4609FE-6378-CAF0-FB5A-2BD1E85F0DB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31837" y="357006"/>
            <a:ext cx="1817688" cy="158698"/>
          </a:xfrm>
          <a:solidFill>
            <a:schemeClr val="bg1"/>
          </a:solidFill>
        </p:spPr>
        <p:txBody>
          <a:bodyPr wrap="square" rIns="10800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lang="en-US" sz="1000" kern="1200" dirty="0" smtClean="0">
                <a:solidFill>
                  <a:srgbClr val="222F44"/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7391441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e Content/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66887"/>
            <a:ext cx="11102976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dirty="0"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8" y="1455672"/>
            <a:ext cx="11102976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85709AA8-11EC-7351-BB57-8F5BC0581EF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1838" y="1732020"/>
            <a:ext cx="11102976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A6A1ECA-879E-D89D-87D7-3D496D5538B8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731837" y="4335867"/>
            <a:ext cx="11102976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503877B8-4F20-48F5-2A77-1A0FD02DC69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31838" y="3824652"/>
            <a:ext cx="11102976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13">
            <a:extLst>
              <a:ext uri="{FF2B5EF4-FFF2-40B4-BE49-F238E27FC236}">
                <a16:creationId xmlns:a16="http://schemas.microsoft.com/office/drawing/2014/main" id="{E63A9EE8-9F22-F556-5F53-E4D76C4AE54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731838" y="4101000"/>
            <a:ext cx="11102976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FB3D24B6-EF76-ACDB-C532-BF0B3C8C610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12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700" spc="-20" baseline="0" dirty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5B9D12CF-E33A-03EC-B918-92635B428872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algn="ctr">
              <a:defRPr sz="700" b="0"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37349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6348651-DCC4-B67C-7CA1-367D8ECC30F4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217662" y="1966887"/>
            <a:ext cx="3617151" cy="4032275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66888"/>
            <a:ext cx="3514161" cy="4032275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09823" y="1966887"/>
            <a:ext cx="3617151" cy="4032275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dirty="0"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8" y="1455672"/>
            <a:ext cx="3514161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409823" y="1455672"/>
            <a:ext cx="3617150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B2B5B3F1-9ED1-137A-6C27-576A7EC4AE0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217662" y="1455672"/>
            <a:ext cx="3617150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13">
            <a:extLst>
              <a:ext uri="{FF2B5EF4-FFF2-40B4-BE49-F238E27FC236}">
                <a16:creationId xmlns:a16="http://schemas.microsoft.com/office/drawing/2014/main" id="{A0A27CB2-4641-6D48-05E4-E731468C849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731839" y="1732020"/>
            <a:ext cx="3514160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37C4537D-C612-17FB-DAE7-6CEF1C020504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409822" y="1732020"/>
            <a:ext cx="3617149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8" name="Content Placeholder 13">
            <a:extLst>
              <a:ext uri="{FF2B5EF4-FFF2-40B4-BE49-F238E27FC236}">
                <a16:creationId xmlns:a16="http://schemas.microsoft.com/office/drawing/2014/main" id="{C2CF7852-20BF-184D-3CA4-224092575BD8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217662" y="1732020"/>
            <a:ext cx="3617149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A974C4B8-0593-F4C6-AB5E-BB1F2F5CDF8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12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700" spc="-20" baseline="0" dirty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10" name="Espaço Reservado para Número de Slide 3">
            <a:extLst>
              <a:ext uri="{FF2B5EF4-FFF2-40B4-BE49-F238E27FC236}">
                <a16:creationId xmlns:a16="http://schemas.microsoft.com/office/drawing/2014/main" id="{B47FDA6A-CB56-1A6D-C73C-7C49BAB93B4F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algn="ctr">
              <a:defRPr sz="700" b="0"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mtClean="0"/>
              <a:pPr lvl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2E2972-E2D4-5831-8C72-9711DD464B6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31837" y="357006"/>
            <a:ext cx="1817688" cy="158698"/>
          </a:xfrm>
          <a:solidFill>
            <a:schemeClr val="bg1"/>
          </a:solidFill>
        </p:spPr>
        <p:txBody>
          <a:bodyPr wrap="square" rIns="10800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lang="en-US" sz="1000" kern="1200" dirty="0" smtClean="0">
                <a:solidFill>
                  <a:srgbClr val="222F44"/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8882541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93104F92-1FF2-990F-68A4-9E5697EACE99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9124113" y="1978546"/>
            <a:ext cx="2710700" cy="4020616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6348651-DCC4-B67C-7CA1-367D8ECC30F4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298506" y="1978546"/>
            <a:ext cx="2691526" cy="4020616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8" y="1978547"/>
            <a:ext cx="2591808" cy="4020616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42743" y="1978546"/>
            <a:ext cx="2691526" cy="4020616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dirty="0"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9" y="1455672"/>
            <a:ext cx="2591808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42743" y="1455672"/>
            <a:ext cx="2691526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B2B5B3F1-9ED1-137A-6C27-576A7EC4AE0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98506" y="1455672"/>
            <a:ext cx="2691526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8" name="Content Placeholder 13">
            <a:extLst>
              <a:ext uri="{FF2B5EF4-FFF2-40B4-BE49-F238E27FC236}">
                <a16:creationId xmlns:a16="http://schemas.microsoft.com/office/drawing/2014/main" id="{46009A66-FE60-490E-942D-974C9244E92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9124113" y="1455672"/>
            <a:ext cx="2710700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7559253F-7844-9260-04E1-B1D366C70B3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1841" y="1732020"/>
            <a:ext cx="2591808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13">
            <a:extLst>
              <a:ext uri="{FF2B5EF4-FFF2-40B4-BE49-F238E27FC236}">
                <a16:creationId xmlns:a16="http://schemas.microsoft.com/office/drawing/2014/main" id="{70734B3F-7493-ED3B-E89C-3F0D6E5EA738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442744" y="1732020"/>
            <a:ext cx="269152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1" name="Content Placeholder 13">
            <a:extLst>
              <a:ext uri="{FF2B5EF4-FFF2-40B4-BE49-F238E27FC236}">
                <a16:creationId xmlns:a16="http://schemas.microsoft.com/office/drawing/2014/main" id="{A5965DC8-9681-D85D-67F6-5DA220388CB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298506" y="1732020"/>
            <a:ext cx="269152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4" name="Content Placeholder 13">
            <a:extLst>
              <a:ext uri="{FF2B5EF4-FFF2-40B4-BE49-F238E27FC236}">
                <a16:creationId xmlns:a16="http://schemas.microsoft.com/office/drawing/2014/main" id="{A9B22168-6C46-1EBB-8CFB-E74CB918730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124113" y="1732020"/>
            <a:ext cx="269152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608DCF1-B21B-1CFD-921B-C6DF7663BD5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12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700" spc="-20" baseline="0" dirty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10" name="Espaço Reservado para Número de Slide 3">
            <a:extLst>
              <a:ext uri="{FF2B5EF4-FFF2-40B4-BE49-F238E27FC236}">
                <a16:creationId xmlns:a16="http://schemas.microsoft.com/office/drawing/2014/main" id="{A86D5457-3A55-89D6-5C5B-9F2C315DBB51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algn="ctr">
              <a:defRPr sz="700" b="0"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mtClean="0"/>
              <a:pPr lvl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BF3B47-696A-6D0E-FE46-40799D0925D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31837" y="357006"/>
            <a:ext cx="1817688" cy="158698"/>
          </a:xfrm>
          <a:solidFill>
            <a:schemeClr val="bg1"/>
          </a:solidFill>
        </p:spPr>
        <p:txBody>
          <a:bodyPr wrap="square" rIns="10800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lang="en-US" sz="1000" kern="1200" dirty="0" smtClean="0">
                <a:solidFill>
                  <a:srgbClr val="222F44"/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65193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66887"/>
            <a:ext cx="5364163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1638" y="1966886"/>
            <a:ext cx="5573175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dirty="0"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8" y="1455672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61639" y="1455672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85709AA8-11EC-7351-BB57-8F5BC0581EF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1838" y="1732020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9BDD6D74-2C59-881D-2879-83A310F8164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261638" y="1732020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A6A1ECA-879E-D89D-87D7-3D496D5538B8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731837" y="4335867"/>
            <a:ext cx="5364163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10AD194-9F72-220B-857E-ECD4E82AF0F3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6261638" y="4335866"/>
            <a:ext cx="5573175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503877B8-4F20-48F5-2A77-1A0FD02DC69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31838" y="3824652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Content Placeholder 13">
            <a:extLst>
              <a:ext uri="{FF2B5EF4-FFF2-40B4-BE49-F238E27FC236}">
                <a16:creationId xmlns:a16="http://schemas.microsoft.com/office/drawing/2014/main" id="{4EE66E1E-9677-ADFA-CE99-CDBF333EF7C7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1639" y="3824652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13">
            <a:extLst>
              <a:ext uri="{FF2B5EF4-FFF2-40B4-BE49-F238E27FC236}">
                <a16:creationId xmlns:a16="http://schemas.microsoft.com/office/drawing/2014/main" id="{E63A9EE8-9F22-F556-5F53-E4D76C4AE54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731838" y="4101000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9BEF7F00-8363-9DF7-291A-FC36C3923C2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261638" y="4101000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23F91DE-2EEB-6145-9C43-8C9F772377C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12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700" spc="-20" baseline="0" dirty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10" name="Espaço Reservado para Número de Slide 3">
            <a:extLst>
              <a:ext uri="{FF2B5EF4-FFF2-40B4-BE49-F238E27FC236}">
                <a16:creationId xmlns:a16="http://schemas.microsoft.com/office/drawing/2014/main" id="{1A869515-46F1-EC4A-C1B4-A93C7092036B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algn="ctr">
              <a:defRPr sz="700" b="0"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mtClean="0"/>
              <a:pPr lvl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12A90A-83EE-851C-57DF-7C15516FCB7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31837" y="357006"/>
            <a:ext cx="1817688" cy="158698"/>
          </a:xfrm>
          <a:solidFill>
            <a:schemeClr val="bg1"/>
          </a:solidFill>
        </p:spPr>
        <p:txBody>
          <a:bodyPr wrap="square" rIns="10800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lang="en-US" sz="1000" kern="1200" dirty="0" smtClean="0">
                <a:solidFill>
                  <a:srgbClr val="222F44"/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3223432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66887"/>
            <a:ext cx="5364163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1638" y="1966886"/>
            <a:ext cx="5573175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dirty="0"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8" y="1455672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61639" y="1455672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85709AA8-11EC-7351-BB57-8F5BC0581EF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1838" y="1732020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9BDD6D74-2C59-881D-2879-83A310F8164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261638" y="1732020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A6A1ECA-879E-D89D-87D7-3D496D5538B8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731837" y="4335867"/>
            <a:ext cx="5364163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10AD194-9F72-220B-857E-ECD4E82AF0F3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6261638" y="4335866"/>
            <a:ext cx="5573175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503877B8-4F20-48F5-2A77-1A0FD02DC69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31838" y="3824652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Content Placeholder 13">
            <a:extLst>
              <a:ext uri="{FF2B5EF4-FFF2-40B4-BE49-F238E27FC236}">
                <a16:creationId xmlns:a16="http://schemas.microsoft.com/office/drawing/2014/main" id="{4EE66E1E-9677-ADFA-CE99-CDBF333EF7C7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1639" y="3824652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13">
            <a:extLst>
              <a:ext uri="{FF2B5EF4-FFF2-40B4-BE49-F238E27FC236}">
                <a16:creationId xmlns:a16="http://schemas.microsoft.com/office/drawing/2014/main" id="{E63A9EE8-9F22-F556-5F53-E4D76C4AE54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731838" y="4101000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9BEF7F00-8363-9DF7-291A-FC36C3923C2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261638" y="4101000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FB3D24B6-EF76-ACDB-C532-BF0B3C8C610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12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700" spc="-20" baseline="0" dirty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5B9D12CF-E33A-03EC-B918-92635B428872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algn="ctr">
              <a:defRPr sz="700" b="0"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79958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2857278"/>
            <a:ext cx="5364163" cy="1208822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1638" y="2857277"/>
            <a:ext cx="5573175" cy="1208822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34867"/>
          </a:xfrm>
        </p:spPr>
        <p:txBody>
          <a:bodyPr tIns="36000">
            <a:spAutoFit/>
          </a:bodyPr>
          <a:lstStyle>
            <a:lvl1pPr>
              <a:defRPr>
                <a:latin typeface="TT Hoves Pro Trial" panose="020B0003020000020203" pitchFamily="34" charset="0"/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8" y="2346063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61639" y="2346063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85709AA8-11EC-7351-BB57-8F5BC0581EF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1838" y="2622411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9BDD6D74-2C59-881D-2879-83A310F8164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261638" y="2622411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A6A1ECA-879E-D89D-87D7-3D496D5538B8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731837" y="4788352"/>
            <a:ext cx="5364163" cy="1208822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10AD194-9F72-220B-857E-ECD4E82AF0F3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6261638" y="4788351"/>
            <a:ext cx="5573175" cy="1208822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503877B8-4F20-48F5-2A77-1A0FD02DC69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31838" y="4277137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Content Placeholder 13">
            <a:extLst>
              <a:ext uri="{FF2B5EF4-FFF2-40B4-BE49-F238E27FC236}">
                <a16:creationId xmlns:a16="http://schemas.microsoft.com/office/drawing/2014/main" id="{4EE66E1E-9677-ADFA-CE99-CDBF333EF7C7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1639" y="4277137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13">
            <a:extLst>
              <a:ext uri="{FF2B5EF4-FFF2-40B4-BE49-F238E27FC236}">
                <a16:creationId xmlns:a16="http://schemas.microsoft.com/office/drawing/2014/main" id="{E63A9EE8-9F22-F556-5F53-E4D76C4AE54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731838" y="4553485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9BEF7F00-8363-9DF7-291A-FC36C3923C2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261638" y="4553485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FB3D24B6-EF76-ACDB-C532-BF0B3C8C610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12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700" spc="-20" baseline="0" dirty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5B9D12CF-E33A-03EC-B918-92635B428872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algn="ctr">
              <a:defRPr sz="700" b="0"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mtClean="0"/>
              <a:pPr lvl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9E688F-5C03-2148-56D4-DB20887A400B}"/>
              </a:ext>
            </a:extLst>
          </p:cNvPr>
          <p:cNvSpPr/>
          <p:nvPr userDrawn="1"/>
        </p:nvSpPr>
        <p:spPr>
          <a:xfrm>
            <a:off x="0" y="1450975"/>
            <a:ext cx="12192000" cy="7444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00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704064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ero Content/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45246" y="1966886"/>
            <a:ext cx="6189568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dirty="0"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645246" y="1455672"/>
            <a:ext cx="6189567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9BDD6D74-2C59-881D-2879-83A310F8164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5645246" y="1732020"/>
            <a:ext cx="6189568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10AD194-9F72-220B-857E-ECD4E82AF0F3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5645246" y="4335866"/>
            <a:ext cx="6189568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Content Placeholder 13">
            <a:extLst>
              <a:ext uri="{FF2B5EF4-FFF2-40B4-BE49-F238E27FC236}">
                <a16:creationId xmlns:a16="http://schemas.microsoft.com/office/drawing/2014/main" id="{4EE66E1E-9677-ADFA-CE99-CDBF333EF7C7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5645246" y="3824652"/>
            <a:ext cx="6189567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9BEF7F00-8363-9DF7-291A-FC36C3923C2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5645246" y="4101000"/>
            <a:ext cx="6189568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FB3D24B6-EF76-ACDB-C532-BF0B3C8C610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12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700" spc="-20" baseline="0" dirty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5B9D12CF-E33A-03EC-B918-92635B428872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algn="ctr">
              <a:defRPr sz="700" b="0"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45578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6348651-DCC4-B67C-7CA1-367D8ECC30F4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217662" y="1978546"/>
            <a:ext cx="3617151" cy="1668949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78547"/>
            <a:ext cx="3514161" cy="1668949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09823" y="1978546"/>
            <a:ext cx="3617151" cy="1668949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dirty="0"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8" y="1455672"/>
            <a:ext cx="3514161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409823" y="1455672"/>
            <a:ext cx="3617150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B2B5B3F1-9ED1-137A-6C27-576A7EC4AE0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217662" y="1455672"/>
            <a:ext cx="3617150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02437D02-213A-D460-A6AA-8EF17FD9DCBF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31839" y="1732020"/>
            <a:ext cx="3514160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13">
            <a:extLst>
              <a:ext uri="{FF2B5EF4-FFF2-40B4-BE49-F238E27FC236}">
                <a16:creationId xmlns:a16="http://schemas.microsoft.com/office/drawing/2014/main" id="{04EC45A4-15A4-F81B-1189-CAC268B9A6B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409823" y="1732020"/>
            <a:ext cx="3617150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1" name="Content Placeholder 13">
            <a:extLst>
              <a:ext uri="{FF2B5EF4-FFF2-40B4-BE49-F238E27FC236}">
                <a16:creationId xmlns:a16="http://schemas.microsoft.com/office/drawing/2014/main" id="{3188BDD0-D14B-73DC-61FD-AD0B99B2A2A8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217662" y="1732020"/>
            <a:ext cx="3617150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6A6E4956-D661-4D53-8334-DD4513C11FA9}"/>
              </a:ext>
            </a:extLst>
          </p:cNvPr>
          <p:cNvSpPr>
            <a:spLocks noGrp="1"/>
          </p:cNvSpPr>
          <p:nvPr>
            <p:ph sz="half" idx="27"/>
          </p:nvPr>
        </p:nvSpPr>
        <p:spPr>
          <a:xfrm>
            <a:off x="8217662" y="4336758"/>
            <a:ext cx="3617151" cy="1668949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28B24CD-29B7-DE6D-E888-0A0D50458613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731837" y="4336759"/>
            <a:ext cx="3514161" cy="1668949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03915BD5-B60B-4279-091A-1C6CAA341F7C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4409823" y="4336758"/>
            <a:ext cx="3617151" cy="1668949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EF4CC729-2E82-6584-AB6C-F569F07B64E4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731838" y="3813884"/>
            <a:ext cx="3514161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Content Placeholder 13">
            <a:extLst>
              <a:ext uri="{FF2B5EF4-FFF2-40B4-BE49-F238E27FC236}">
                <a16:creationId xmlns:a16="http://schemas.microsoft.com/office/drawing/2014/main" id="{E2338167-433A-D3FF-1381-B32FF19479EF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409823" y="3813884"/>
            <a:ext cx="3617150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Content Placeholder 13">
            <a:extLst>
              <a:ext uri="{FF2B5EF4-FFF2-40B4-BE49-F238E27FC236}">
                <a16:creationId xmlns:a16="http://schemas.microsoft.com/office/drawing/2014/main" id="{A37E2D0E-A1B8-2890-9C2C-92307D79973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8217662" y="3813884"/>
            <a:ext cx="3617150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Content Placeholder 13">
            <a:extLst>
              <a:ext uri="{FF2B5EF4-FFF2-40B4-BE49-F238E27FC236}">
                <a16:creationId xmlns:a16="http://schemas.microsoft.com/office/drawing/2014/main" id="{0A46685F-9BAE-8DD8-6BED-6082F6BDE20B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731839" y="4090232"/>
            <a:ext cx="3514160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9" name="Content Placeholder 13">
            <a:extLst>
              <a:ext uri="{FF2B5EF4-FFF2-40B4-BE49-F238E27FC236}">
                <a16:creationId xmlns:a16="http://schemas.microsoft.com/office/drawing/2014/main" id="{ECFE5EF0-2F1F-C3D9-653F-1FB66F18318D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4409823" y="4090232"/>
            <a:ext cx="3617150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30" name="Content Placeholder 13">
            <a:extLst>
              <a:ext uri="{FF2B5EF4-FFF2-40B4-BE49-F238E27FC236}">
                <a16:creationId xmlns:a16="http://schemas.microsoft.com/office/drawing/2014/main" id="{4701A65B-BC7E-81D5-5B0C-2D5DB5F40961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217662" y="4090232"/>
            <a:ext cx="3617150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11FB7138-AE4E-A89F-D9E1-862BA5C283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12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700" spc="-20" baseline="0" dirty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31" name="Espaço Reservado para Número de Slide 3">
            <a:extLst>
              <a:ext uri="{FF2B5EF4-FFF2-40B4-BE49-F238E27FC236}">
                <a16:creationId xmlns:a16="http://schemas.microsoft.com/office/drawing/2014/main" id="{233094EA-C74A-3E81-55FB-F4106593066B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algn="ctr">
              <a:defRPr sz="700" b="0"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mtClean="0"/>
              <a:pPr lvl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09B4F1-20E7-9C99-57C1-32F94742575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31837" y="357006"/>
            <a:ext cx="1817688" cy="158698"/>
          </a:xfrm>
          <a:solidFill>
            <a:schemeClr val="bg1"/>
          </a:solidFill>
        </p:spPr>
        <p:txBody>
          <a:bodyPr wrap="square" rIns="10800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lang="en-US" sz="1000" kern="1200" dirty="0" smtClean="0">
                <a:solidFill>
                  <a:srgbClr val="222F44"/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351127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66887"/>
            <a:ext cx="5364163" cy="4032276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1638" y="1966885"/>
            <a:ext cx="5573175" cy="819447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dirty="0"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8" y="1455672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61639" y="1455672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85709AA8-11EC-7351-BB57-8F5BC0581EF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1838" y="1732020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9BDD6D74-2C59-881D-2879-83A310F8164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261638" y="1732020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A6A1ECA-879E-D89D-87D7-3D496D5538B8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6275388" y="5196058"/>
            <a:ext cx="5559424" cy="819447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10AD194-9F72-220B-857E-ECD4E82AF0F3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6261638" y="3572390"/>
            <a:ext cx="5573175" cy="819447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503877B8-4F20-48F5-2A77-1A0FD02DC69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275389" y="4684844"/>
            <a:ext cx="555942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Content Placeholder 13">
            <a:extLst>
              <a:ext uri="{FF2B5EF4-FFF2-40B4-BE49-F238E27FC236}">
                <a16:creationId xmlns:a16="http://schemas.microsoft.com/office/drawing/2014/main" id="{4EE66E1E-9677-ADFA-CE99-CDBF333EF7C7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1639" y="3061177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13">
            <a:extLst>
              <a:ext uri="{FF2B5EF4-FFF2-40B4-BE49-F238E27FC236}">
                <a16:creationId xmlns:a16="http://schemas.microsoft.com/office/drawing/2014/main" id="{E63A9EE8-9F22-F556-5F53-E4D76C4AE54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275389" y="4961192"/>
            <a:ext cx="5559424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9BEF7F00-8363-9DF7-291A-FC36C3923C2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261638" y="3337525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FB3D24B6-EF76-ACDB-C532-BF0B3C8C610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12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700" spc="-20" baseline="0" dirty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5B9D12CF-E33A-03EC-B918-92635B428872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algn="ctr">
              <a:defRPr sz="700" b="0"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mtClean="0"/>
              <a:pPr lvl="0"/>
              <a:t>‹#›</a:t>
            </a:fld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3C5B89D9-2D5B-EBAF-0CBA-75C1E291BBED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31837" y="357006"/>
            <a:ext cx="1817688" cy="158698"/>
          </a:xfrm>
          <a:solidFill>
            <a:schemeClr val="bg1"/>
          </a:solidFill>
        </p:spPr>
        <p:txBody>
          <a:bodyPr wrap="square" rIns="10800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lang="en-US" sz="1000" kern="1200" dirty="0" smtClean="0">
                <a:solidFill>
                  <a:srgbClr val="222F44"/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6155321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11705-E470-8D14-31B3-824FE4DAC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2B80E022-3FDD-ADDD-4ECC-A35C1C62984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dirty="0"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4A0BD1B-A7E0-E3B2-D28F-4B86FE4438F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12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700" spc="-20" baseline="0" dirty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9" name="Espaço Reservado para Número de Slide 3">
            <a:extLst>
              <a:ext uri="{FF2B5EF4-FFF2-40B4-BE49-F238E27FC236}">
                <a16:creationId xmlns:a16="http://schemas.microsoft.com/office/drawing/2014/main" id="{1AC53D4F-9330-AD7E-C511-00F7B893E7D3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algn="ctr">
              <a:defRPr sz="700" b="0"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mtClean="0"/>
              <a:pPr lvl="0"/>
              <a:t>‹#›</a:t>
            </a:fld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3E341D7E-EBB4-BF2E-49CE-6F848341848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31837" y="357006"/>
            <a:ext cx="1817688" cy="158698"/>
          </a:xfrm>
          <a:solidFill>
            <a:schemeClr val="bg1"/>
          </a:solidFill>
        </p:spPr>
        <p:txBody>
          <a:bodyPr wrap="square" rIns="10800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lang="en-US" sz="1000" kern="1200" dirty="0" smtClean="0">
                <a:solidFill>
                  <a:srgbClr val="222F44"/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9557194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76121"/>
            <a:ext cx="11102976" cy="4023041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dirty="0"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31838" y="1455672"/>
            <a:ext cx="11102976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spc="-20" baseline="0" dirty="0"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6" name="Content Placeholder 13">
            <a:extLst>
              <a:ext uri="{FF2B5EF4-FFF2-40B4-BE49-F238E27FC236}">
                <a16:creationId xmlns:a16="http://schemas.microsoft.com/office/drawing/2014/main" id="{7B3249D2-1FE0-ED6D-322D-323EFD8671F4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31838" y="1732020"/>
            <a:ext cx="11102976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spc="-20" baseline="0" dirty="0"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75A68369-8B33-C898-7757-7C5067723B8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12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700" spc="-20" baseline="0" dirty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19" name="Espaço Reservado para Número de Slide 3">
            <a:extLst>
              <a:ext uri="{FF2B5EF4-FFF2-40B4-BE49-F238E27FC236}">
                <a16:creationId xmlns:a16="http://schemas.microsoft.com/office/drawing/2014/main" id="{2270AFF3-59D8-4C40-C53C-030FABBADB20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algn="ctr">
              <a:defRPr sz="700" b="0"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06732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739B9-4054-A9D4-2292-242833A62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00962-9F6C-292D-19D5-4E49FD343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50975"/>
            <a:ext cx="11102975" cy="45481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11">
            <a:extLst>
              <a:ext uri="{FF2B5EF4-FFF2-40B4-BE49-F238E27FC236}">
                <a16:creationId xmlns:a16="http://schemas.microsoft.com/office/drawing/2014/main" id="{D5FE42B3-1E99-213C-F3D2-9217EEF767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dirty="0"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C7787170-0E7B-063E-C6DD-4ABC63D5BC7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12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700" spc="-20" baseline="0" dirty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10" name="Espaço Reservado para Número de Slide 3">
            <a:extLst>
              <a:ext uri="{FF2B5EF4-FFF2-40B4-BE49-F238E27FC236}">
                <a16:creationId xmlns:a16="http://schemas.microsoft.com/office/drawing/2014/main" id="{FFA6F73F-6933-6728-B9EB-150D5467B4D9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marL="0" algn="r" defTabSz="914400" rtl="0" eaLnBrk="1" latinLnBrk="0" hangingPunct="1">
              <a:defRPr lang="pt-BR" sz="1000" kern="1200" smtClean="0">
                <a:solidFill>
                  <a:srgbClr val="222F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D040F07-03C9-435C-8770-1A5512E66C10}" type="slidenum">
              <a:rPr lang="en-US" sz="700" b="0" kern="1200" smtClean="0">
                <a:solidFill>
                  <a:schemeClr val="tx1"/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algn="ctr"/>
              <a:t>‹#›</a:t>
            </a:fld>
            <a:endParaRPr lang="en-US" sz="700" b="0" kern="1200" dirty="0">
              <a:solidFill>
                <a:schemeClr val="tx1"/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7456DDD5-B0B0-BA35-0D99-B6FB5D001CE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31837" y="357006"/>
            <a:ext cx="1817688" cy="158698"/>
          </a:xfrm>
          <a:solidFill>
            <a:schemeClr val="bg1"/>
          </a:solidFill>
        </p:spPr>
        <p:txBody>
          <a:bodyPr wrap="square" rIns="10800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lang="en-US" sz="1000" kern="1200" dirty="0" smtClean="0">
                <a:solidFill>
                  <a:srgbClr val="222F44"/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740817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F226F1CA-1F49-9F45-E01D-D000AD2FB77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12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700" spc="-20" baseline="0" dirty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F38796BF-FC3C-43EF-4F13-C1174B3D5406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marL="0" algn="r" defTabSz="914400" rtl="0" eaLnBrk="1" latinLnBrk="0" hangingPunct="1">
              <a:defRPr lang="pt-BR" sz="1000" kern="1200" smtClean="0">
                <a:solidFill>
                  <a:srgbClr val="222F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D040F07-03C9-435C-8770-1A5512E66C10}" type="slidenum">
              <a:rPr lang="en-US" sz="700" b="0" kern="1200" smtClean="0">
                <a:solidFill>
                  <a:schemeClr val="tx1"/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algn="ctr"/>
              <a:t>‹#›</a:t>
            </a:fld>
            <a:endParaRPr lang="en-US" sz="700" b="0" kern="1200" dirty="0">
              <a:solidFill>
                <a:schemeClr val="tx1"/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A30F6F-8FD7-826D-A387-8BC642DE9AA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31837" y="357006"/>
            <a:ext cx="1817688" cy="158698"/>
          </a:xfrm>
          <a:solidFill>
            <a:schemeClr val="bg1"/>
          </a:solidFill>
        </p:spPr>
        <p:txBody>
          <a:bodyPr wrap="square" rIns="10800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lang="en-US" sz="1000" kern="1200" dirty="0" smtClean="0">
                <a:solidFill>
                  <a:srgbClr val="222F44"/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6572229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11705-E470-8D14-31B3-824FE4DAC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2B80E022-3FDD-ADDD-4ECC-A35C1C62984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b="0" spc="0" dirty="0">
                <a:solidFill>
                  <a:schemeClr val="tx1"/>
                </a:solidFill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78881D-E677-81F1-4FEB-E641DAF4692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27651" y="1450975"/>
            <a:ext cx="7607161" cy="454818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7BB55DD-2EFA-B3F5-5529-538C5848595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531844" y="1450975"/>
            <a:ext cx="4551062" cy="4548188"/>
          </a:xfrm>
          <a:prstGeom prst="roundRect">
            <a:avLst>
              <a:gd name="adj" fmla="val 8077"/>
            </a:avLst>
          </a:prstGeom>
        </p:spPr>
        <p:txBody>
          <a:bodyPr anchor="ctr" anchorCtr="0"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9905E8E-005A-2CB8-D13C-50AD91C5419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121"/>
          </a:xfrm>
        </p:spPr>
        <p:txBody>
          <a:bodyPr wrap="square">
            <a:spAutoFit/>
          </a:bodyPr>
          <a:lstStyle>
            <a:lvl1pPr marL="0" algn="l" defTabSz="914400" rtl="0" eaLnBrk="1" latinLnBrk="0" hangingPunct="1">
              <a:defRPr lang="en-US" sz="700" kern="1200" dirty="0" smtClean="0">
                <a:solidFill>
                  <a:schemeClr val="bg1">
                    <a:lumMod val="6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11" name="Espaço Reservado para Número de Slide 3">
            <a:extLst>
              <a:ext uri="{FF2B5EF4-FFF2-40B4-BE49-F238E27FC236}">
                <a16:creationId xmlns:a16="http://schemas.microsoft.com/office/drawing/2014/main" id="{71659637-18F6-B178-84AC-57BA4CF70E4D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marL="0" algn="r" defTabSz="914400" rtl="0" eaLnBrk="1" latinLnBrk="0" hangingPunct="1">
              <a:defRPr lang="pt-BR" sz="1000" kern="1200" smtClean="0">
                <a:solidFill>
                  <a:srgbClr val="222F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D040F07-03C9-435C-8770-1A5512E66C10}" type="slidenum">
              <a:rPr lang="en-US" sz="700" b="0" kern="1200" smtClean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algn="ctr"/>
              <a:t>‹#›</a:t>
            </a:fld>
            <a:endParaRPr lang="en-US" sz="700" b="0" kern="1200" dirty="0">
              <a:solidFill>
                <a:schemeClr val="tx2"/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6016491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76121"/>
            <a:ext cx="5364163" cy="4023041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lang="en-US" sz="1100" b="0" kern="1200" spc="-20" baseline="0" dirty="0">
                <a:solidFill>
                  <a:schemeClr val="tx2"/>
                </a:solidFill>
                <a:latin typeface="TT Hoves Pro Trial Medium" panose="020B0003020000020203" pitchFamily="34" charset="0"/>
                <a:ea typeface="Source Serif Pro" panose="02040603050405020204" pitchFamily="18" charset="0"/>
                <a:cs typeface="+mn-cs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0" lvl="3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1638" y="1976120"/>
            <a:ext cx="5573175" cy="4023041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b="0" spc="0" dirty="0">
                <a:solidFill>
                  <a:schemeClr val="tx1"/>
                </a:solidFill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31838" y="1455672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61639" y="1455672"/>
            <a:ext cx="5573174" cy="253916"/>
          </a:xfrm>
        </p:spPr>
        <p:txBody>
          <a:bodyPr wrap="square">
            <a:spAutoFit/>
          </a:bodyPr>
          <a:lstStyle>
            <a:lvl1pPr>
              <a:defRPr sz="1600" b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6" name="Content Placeholder 13">
            <a:extLst>
              <a:ext uri="{FF2B5EF4-FFF2-40B4-BE49-F238E27FC236}">
                <a16:creationId xmlns:a16="http://schemas.microsoft.com/office/drawing/2014/main" id="{7B3249D2-1FE0-ED6D-322D-323EFD8671F4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31838" y="1732020"/>
            <a:ext cx="5364163" cy="234867"/>
          </a:xfrm>
        </p:spPr>
        <p:txBody>
          <a:bodyPr tIns="36000">
            <a:spAutoFit/>
          </a:bodyPr>
          <a:lstStyle>
            <a:lvl1pPr>
              <a:defRPr sz="1200" b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" panose="02040603050405020204" pitchFamily="18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20924A97-2EEA-A043-22A5-75FCC7450D6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61639" y="1732020"/>
            <a:ext cx="5573174" cy="234867"/>
          </a:xfrm>
        </p:spPr>
        <p:txBody>
          <a:bodyPr wrap="square" tIns="36000">
            <a:spAutoFit/>
          </a:bodyPr>
          <a:lstStyle>
            <a:lvl1pPr>
              <a:defRPr sz="1200" b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" panose="02040603050405020204" pitchFamily="18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75A68369-8B33-C898-7757-7C5067723B8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12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700" dirty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19" name="Espaço Reservado para Número de Slide 3">
            <a:extLst>
              <a:ext uri="{FF2B5EF4-FFF2-40B4-BE49-F238E27FC236}">
                <a16:creationId xmlns:a16="http://schemas.microsoft.com/office/drawing/2014/main" id="{2270AFF3-59D8-4C40-C53C-030FABBADB20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0259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e Content/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66887"/>
            <a:ext cx="11102976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b="0" spc="0" dirty="0">
                <a:solidFill>
                  <a:schemeClr val="tx1"/>
                </a:solidFill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8" y="1455672"/>
            <a:ext cx="11102976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85709AA8-11EC-7351-BB57-8F5BC0581EF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1838" y="1732020"/>
            <a:ext cx="11102976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A6A1ECA-879E-D89D-87D7-3D496D5538B8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731837" y="4335867"/>
            <a:ext cx="11102976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503877B8-4F20-48F5-2A77-1A0FD02DC69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31838" y="3824652"/>
            <a:ext cx="11102976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13">
            <a:extLst>
              <a:ext uri="{FF2B5EF4-FFF2-40B4-BE49-F238E27FC236}">
                <a16:creationId xmlns:a16="http://schemas.microsoft.com/office/drawing/2014/main" id="{E63A9EE8-9F22-F556-5F53-E4D76C4AE54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731838" y="4101000"/>
            <a:ext cx="11102976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FB3D24B6-EF76-ACDB-C532-BF0B3C8C610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12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700" dirty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5B9D12CF-E33A-03EC-B918-92635B428872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8634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6348651-DCC4-B67C-7CA1-367D8ECC30F4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217662" y="1966887"/>
            <a:ext cx="3617151" cy="4032275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66888"/>
            <a:ext cx="3514161" cy="4032275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09823" y="1966887"/>
            <a:ext cx="3617151" cy="4032275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b="0" spc="0" dirty="0">
                <a:solidFill>
                  <a:schemeClr val="tx1"/>
                </a:solidFill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8" y="1455672"/>
            <a:ext cx="3514161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409823" y="1455672"/>
            <a:ext cx="3617150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B2B5B3F1-9ED1-137A-6C27-576A7EC4AE0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217662" y="1455672"/>
            <a:ext cx="3617150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13">
            <a:extLst>
              <a:ext uri="{FF2B5EF4-FFF2-40B4-BE49-F238E27FC236}">
                <a16:creationId xmlns:a16="http://schemas.microsoft.com/office/drawing/2014/main" id="{A0A27CB2-4641-6D48-05E4-E731468C849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731839" y="1732020"/>
            <a:ext cx="3514160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37C4537D-C612-17FB-DAE7-6CEF1C020504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409822" y="1732020"/>
            <a:ext cx="3617149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8" name="Content Placeholder 13">
            <a:extLst>
              <a:ext uri="{FF2B5EF4-FFF2-40B4-BE49-F238E27FC236}">
                <a16:creationId xmlns:a16="http://schemas.microsoft.com/office/drawing/2014/main" id="{C2CF7852-20BF-184D-3CA4-224092575BD8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217662" y="1732020"/>
            <a:ext cx="3617149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A974C4B8-0593-F4C6-AB5E-BB1F2F5CDF8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12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700" dirty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10" name="Espaço Reservado para Número de Slide 3">
            <a:extLst>
              <a:ext uri="{FF2B5EF4-FFF2-40B4-BE49-F238E27FC236}">
                <a16:creationId xmlns:a16="http://schemas.microsoft.com/office/drawing/2014/main" id="{B47FDA6A-CB56-1A6D-C73C-7C49BAB93B4F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86330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93104F92-1FF2-990F-68A4-9E5697EACE99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9124113" y="1978546"/>
            <a:ext cx="2710700" cy="4020616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6348651-DCC4-B67C-7CA1-367D8ECC30F4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298506" y="1978546"/>
            <a:ext cx="2691526" cy="4020616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8" y="1978547"/>
            <a:ext cx="2591808" cy="4020616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42743" y="1978546"/>
            <a:ext cx="2691526" cy="4020616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b="0" spc="0" dirty="0">
                <a:solidFill>
                  <a:schemeClr val="tx1"/>
                </a:solidFill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9" y="1455672"/>
            <a:ext cx="2591808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42743" y="1455672"/>
            <a:ext cx="2691526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B2B5B3F1-9ED1-137A-6C27-576A7EC4AE0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98506" y="1455672"/>
            <a:ext cx="2691526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8" name="Content Placeholder 13">
            <a:extLst>
              <a:ext uri="{FF2B5EF4-FFF2-40B4-BE49-F238E27FC236}">
                <a16:creationId xmlns:a16="http://schemas.microsoft.com/office/drawing/2014/main" id="{46009A66-FE60-490E-942D-974C9244E92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9124113" y="1455672"/>
            <a:ext cx="2710700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7559253F-7844-9260-04E1-B1D366C70B3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1841" y="1732020"/>
            <a:ext cx="2591808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13">
            <a:extLst>
              <a:ext uri="{FF2B5EF4-FFF2-40B4-BE49-F238E27FC236}">
                <a16:creationId xmlns:a16="http://schemas.microsoft.com/office/drawing/2014/main" id="{70734B3F-7493-ED3B-E89C-3F0D6E5EA738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442744" y="1732020"/>
            <a:ext cx="269152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1" name="Content Placeholder 13">
            <a:extLst>
              <a:ext uri="{FF2B5EF4-FFF2-40B4-BE49-F238E27FC236}">
                <a16:creationId xmlns:a16="http://schemas.microsoft.com/office/drawing/2014/main" id="{A5965DC8-9681-D85D-67F6-5DA220388CB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298506" y="1732020"/>
            <a:ext cx="269152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4" name="Content Placeholder 13">
            <a:extLst>
              <a:ext uri="{FF2B5EF4-FFF2-40B4-BE49-F238E27FC236}">
                <a16:creationId xmlns:a16="http://schemas.microsoft.com/office/drawing/2014/main" id="{A9B22168-6C46-1EBB-8CFB-E74CB918730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124113" y="1732020"/>
            <a:ext cx="269152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608DCF1-B21B-1CFD-921B-C6DF7663BD5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12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700" dirty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10" name="Espaço Reservado para Número de Slide 3">
            <a:extLst>
              <a:ext uri="{FF2B5EF4-FFF2-40B4-BE49-F238E27FC236}">
                <a16:creationId xmlns:a16="http://schemas.microsoft.com/office/drawing/2014/main" id="{A86D5457-3A55-89D6-5C5B-9F2C315DBB51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564526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66887"/>
            <a:ext cx="5364163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1638" y="1966886"/>
            <a:ext cx="5573175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b="0" spc="0" dirty="0">
                <a:solidFill>
                  <a:schemeClr val="tx1"/>
                </a:solidFill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8" y="1455672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61639" y="1455672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85709AA8-11EC-7351-BB57-8F5BC0581EF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1838" y="1732020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9BDD6D74-2C59-881D-2879-83A310F8164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261638" y="1732020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A6A1ECA-879E-D89D-87D7-3D496D5538B8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731837" y="4335867"/>
            <a:ext cx="5364163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10AD194-9F72-220B-857E-ECD4E82AF0F3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6261638" y="4335866"/>
            <a:ext cx="5573175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503877B8-4F20-48F5-2A77-1A0FD02DC69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31838" y="3824652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Content Placeholder 13">
            <a:extLst>
              <a:ext uri="{FF2B5EF4-FFF2-40B4-BE49-F238E27FC236}">
                <a16:creationId xmlns:a16="http://schemas.microsoft.com/office/drawing/2014/main" id="{4EE66E1E-9677-ADFA-CE99-CDBF333EF7C7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1639" y="3824652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13">
            <a:extLst>
              <a:ext uri="{FF2B5EF4-FFF2-40B4-BE49-F238E27FC236}">
                <a16:creationId xmlns:a16="http://schemas.microsoft.com/office/drawing/2014/main" id="{E63A9EE8-9F22-F556-5F53-E4D76C4AE54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731838" y="4101000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9BEF7F00-8363-9DF7-291A-FC36C3923C2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261638" y="4101000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23F91DE-2EEB-6145-9C43-8C9F772377C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12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700" dirty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10" name="Espaço Reservado para Número de Slide 3">
            <a:extLst>
              <a:ext uri="{FF2B5EF4-FFF2-40B4-BE49-F238E27FC236}">
                <a16:creationId xmlns:a16="http://schemas.microsoft.com/office/drawing/2014/main" id="{1A869515-46F1-EC4A-C1B4-A93C7092036B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313753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66887"/>
            <a:ext cx="5364163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1638" y="1966886"/>
            <a:ext cx="5573175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b="0" spc="0" dirty="0">
                <a:solidFill>
                  <a:schemeClr val="tx1"/>
                </a:solidFill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8" y="1455672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61639" y="1455672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85709AA8-11EC-7351-BB57-8F5BC0581EF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1838" y="1732020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9BDD6D74-2C59-881D-2879-83A310F8164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261638" y="1732020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A6A1ECA-879E-D89D-87D7-3D496D5538B8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731837" y="4335867"/>
            <a:ext cx="5364163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10AD194-9F72-220B-857E-ECD4E82AF0F3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6261638" y="4335866"/>
            <a:ext cx="5573175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503877B8-4F20-48F5-2A77-1A0FD02DC69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31838" y="3824652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Content Placeholder 13">
            <a:extLst>
              <a:ext uri="{FF2B5EF4-FFF2-40B4-BE49-F238E27FC236}">
                <a16:creationId xmlns:a16="http://schemas.microsoft.com/office/drawing/2014/main" id="{4EE66E1E-9677-ADFA-CE99-CDBF333EF7C7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1639" y="3824652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13">
            <a:extLst>
              <a:ext uri="{FF2B5EF4-FFF2-40B4-BE49-F238E27FC236}">
                <a16:creationId xmlns:a16="http://schemas.microsoft.com/office/drawing/2014/main" id="{E63A9EE8-9F22-F556-5F53-E4D76C4AE54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731838" y="4101000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9BEF7F00-8363-9DF7-291A-FC36C3923C2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261638" y="4101000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FB3D24B6-EF76-ACDB-C532-BF0B3C8C610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12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700" dirty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5B9D12CF-E33A-03EC-B918-92635B428872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04216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2857278"/>
            <a:ext cx="5364163" cy="1208822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1638" y="2857277"/>
            <a:ext cx="5573175" cy="1208822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b="0" spc="0" dirty="0">
                <a:solidFill>
                  <a:schemeClr val="tx1"/>
                </a:solidFill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8" y="2346063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61639" y="2346063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85709AA8-11EC-7351-BB57-8F5BC0581EF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1838" y="2622411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9BDD6D74-2C59-881D-2879-83A310F8164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261638" y="2622411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A6A1ECA-879E-D89D-87D7-3D496D5538B8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731837" y="4788352"/>
            <a:ext cx="5364163" cy="1208822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10AD194-9F72-220B-857E-ECD4E82AF0F3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6261638" y="4788351"/>
            <a:ext cx="5573175" cy="1208822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503877B8-4F20-48F5-2A77-1A0FD02DC69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31838" y="4277137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Content Placeholder 13">
            <a:extLst>
              <a:ext uri="{FF2B5EF4-FFF2-40B4-BE49-F238E27FC236}">
                <a16:creationId xmlns:a16="http://schemas.microsoft.com/office/drawing/2014/main" id="{4EE66E1E-9677-ADFA-CE99-CDBF333EF7C7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1639" y="4277137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13">
            <a:extLst>
              <a:ext uri="{FF2B5EF4-FFF2-40B4-BE49-F238E27FC236}">
                <a16:creationId xmlns:a16="http://schemas.microsoft.com/office/drawing/2014/main" id="{E63A9EE8-9F22-F556-5F53-E4D76C4AE54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731838" y="4553485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9BEF7F00-8363-9DF7-291A-FC36C3923C2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261638" y="4553485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FB3D24B6-EF76-ACDB-C532-BF0B3C8C610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12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700" dirty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5B9D12CF-E33A-03EC-B918-92635B428872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mtClean="0"/>
              <a:pPr lvl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9E688F-5C03-2148-56D4-DB20887A400B}"/>
              </a:ext>
            </a:extLst>
          </p:cNvPr>
          <p:cNvSpPr/>
          <p:nvPr userDrawn="1"/>
        </p:nvSpPr>
        <p:spPr>
          <a:xfrm>
            <a:off x="0" y="1450975"/>
            <a:ext cx="12192000" cy="7444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00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9257647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ero Content/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45246" y="1966886"/>
            <a:ext cx="6189568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b="0" spc="0" dirty="0">
                <a:solidFill>
                  <a:schemeClr val="tx1"/>
                </a:solidFill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645246" y="1455672"/>
            <a:ext cx="6189567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9BDD6D74-2C59-881D-2879-83A310F8164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5645246" y="1732020"/>
            <a:ext cx="6189568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10AD194-9F72-220B-857E-ECD4E82AF0F3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5645246" y="4335866"/>
            <a:ext cx="6189568" cy="1662140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Content Placeholder 13">
            <a:extLst>
              <a:ext uri="{FF2B5EF4-FFF2-40B4-BE49-F238E27FC236}">
                <a16:creationId xmlns:a16="http://schemas.microsoft.com/office/drawing/2014/main" id="{4EE66E1E-9677-ADFA-CE99-CDBF333EF7C7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5645246" y="3824652"/>
            <a:ext cx="6189567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9BEF7F00-8363-9DF7-291A-FC36C3923C2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5645246" y="4101000"/>
            <a:ext cx="6189568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FB3D24B6-EF76-ACDB-C532-BF0B3C8C610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12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700" dirty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5B9D12CF-E33A-03EC-B918-92635B428872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09236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6348651-DCC4-B67C-7CA1-367D8ECC30F4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217662" y="1978546"/>
            <a:ext cx="3617151" cy="1668949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78547"/>
            <a:ext cx="3514161" cy="1668949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09823" y="1978546"/>
            <a:ext cx="3617151" cy="1668949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b="0" spc="0" dirty="0">
                <a:solidFill>
                  <a:schemeClr val="tx1"/>
                </a:solidFill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8" y="1455672"/>
            <a:ext cx="3514161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409823" y="1455672"/>
            <a:ext cx="3617150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B2B5B3F1-9ED1-137A-6C27-576A7EC4AE0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217662" y="1455672"/>
            <a:ext cx="3617150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02437D02-213A-D460-A6AA-8EF17FD9DCBF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31839" y="1732020"/>
            <a:ext cx="3514160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13">
            <a:extLst>
              <a:ext uri="{FF2B5EF4-FFF2-40B4-BE49-F238E27FC236}">
                <a16:creationId xmlns:a16="http://schemas.microsoft.com/office/drawing/2014/main" id="{04EC45A4-15A4-F81B-1189-CAC268B9A6B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409823" y="1732020"/>
            <a:ext cx="3617150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1" name="Content Placeholder 13">
            <a:extLst>
              <a:ext uri="{FF2B5EF4-FFF2-40B4-BE49-F238E27FC236}">
                <a16:creationId xmlns:a16="http://schemas.microsoft.com/office/drawing/2014/main" id="{3188BDD0-D14B-73DC-61FD-AD0B99B2A2A8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217662" y="1732020"/>
            <a:ext cx="3617150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6A6E4956-D661-4D53-8334-DD4513C11FA9}"/>
              </a:ext>
            </a:extLst>
          </p:cNvPr>
          <p:cNvSpPr>
            <a:spLocks noGrp="1"/>
          </p:cNvSpPr>
          <p:nvPr>
            <p:ph sz="half" idx="27"/>
          </p:nvPr>
        </p:nvSpPr>
        <p:spPr>
          <a:xfrm>
            <a:off x="8217662" y="4336758"/>
            <a:ext cx="3617151" cy="1668949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28B24CD-29B7-DE6D-E888-0A0D50458613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731837" y="4336759"/>
            <a:ext cx="3514161" cy="1668949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03915BD5-B60B-4279-091A-1C6CAA341F7C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4409823" y="4336758"/>
            <a:ext cx="3617151" cy="1668949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EF4CC729-2E82-6584-AB6C-F569F07B64E4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731838" y="3813884"/>
            <a:ext cx="3514161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Content Placeholder 13">
            <a:extLst>
              <a:ext uri="{FF2B5EF4-FFF2-40B4-BE49-F238E27FC236}">
                <a16:creationId xmlns:a16="http://schemas.microsoft.com/office/drawing/2014/main" id="{E2338167-433A-D3FF-1381-B32FF19479EF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409823" y="3813884"/>
            <a:ext cx="3617150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Content Placeholder 13">
            <a:extLst>
              <a:ext uri="{FF2B5EF4-FFF2-40B4-BE49-F238E27FC236}">
                <a16:creationId xmlns:a16="http://schemas.microsoft.com/office/drawing/2014/main" id="{A37E2D0E-A1B8-2890-9C2C-92307D79973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8217662" y="3813884"/>
            <a:ext cx="3617150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Content Placeholder 13">
            <a:extLst>
              <a:ext uri="{FF2B5EF4-FFF2-40B4-BE49-F238E27FC236}">
                <a16:creationId xmlns:a16="http://schemas.microsoft.com/office/drawing/2014/main" id="{0A46685F-9BAE-8DD8-6BED-6082F6BDE20B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731839" y="4090232"/>
            <a:ext cx="3514160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9" name="Content Placeholder 13">
            <a:extLst>
              <a:ext uri="{FF2B5EF4-FFF2-40B4-BE49-F238E27FC236}">
                <a16:creationId xmlns:a16="http://schemas.microsoft.com/office/drawing/2014/main" id="{ECFE5EF0-2F1F-C3D9-653F-1FB66F18318D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4409823" y="4090232"/>
            <a:ext cx="3617150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30" name="Content Placeholder 13">
            <a:extLst>
              <a:ext uri="{FF2B5EF4-FFF2-40B4-BE49-F238E27FC236}">
                <a16:creationId xmlns:a16="http://schemas.microsoft.com/office/drawing/2014/main" id="{4701A65B-BC7E-81D5-5B0C-2D5DB5F40961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217662" y="4090232"/>
            <a:ext cx="3617150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11FB7138-AE4E-A89F-D9E1-862BA5C283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12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700" dirty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31" name="Espaço Reservado para Número de Slide 3">
            <a:extLst>
              <a:ext uri="{FF2B5EF4-FFF2-40B4-BE49-F238E27FC236}">
                <a16:creationId xmlns:a16="http://schemas.microsoft.com/office/drawing/2014/main" id="{233094EA-C74A-3E81-55FB-F4106593066B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18938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66887"/>
            <a:ext cx="5364163" cy="4032276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1638" y="1966885"/>
            <a:ext cx="5573175" cy="819447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b="0" spc="0" dirty="0">
                <a:solidFill>
                  <a:schemeClr val="tx1"/>
                </a:solidFill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838" y="1455672"/>
            <a:ext cx="5364163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61639" y="1455672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85709AA8-11EC-7351-BB57-8F5BC0581EF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1838" y="1732020"/>
            <a:ext cx="5364163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9BDD6D74-2C59-881D-2879-83A310F8164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261638" y="1732020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A6A1ECA-879E-D89D-87D7-3D496D5538B8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6275388" y="5196058"/>
            <a:ext cx="5559424" cy="819447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10AD194-9F72-220B-857E-ECD4E82AF0F3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6261638" y="3572390"/>
            <a:ext cx="5573175" cy="819447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503877B8-4F20-48F5-2A77-1A0FD02DC69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275389" y="4684844"/>
            <a:ext cx="555942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Content Placeholder 13">
            <a:extLst>
              <a:ext uri="{FF2B5EF4-FFF2-40B4-BE49-F238E27FC236}">
                <a16:creationId xmlns:a16="http://schemas.microsoft.com/office/drawing/2014/main" id="{4EE66E1E-9677-ADFA-CE99-CDBF333EF7C7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1639" y="3061177"/>
            <a:ext cx="5573174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13">
            <a:extLst>
              <a:ext uri="{FF2B5EF4-FFF2-40B4-BE49-F238E27FC236}">
                <a16:creationId xmlns:a16="http://schemas.microsoft.com/office/drawing/2014/main" id="{E63A9EE8-9F22-F556-5F53-E4D76C4AE54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275389" y="4961192"/>
            <a:ext cx="5559424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9BEF7F00-8363-9DF7-291A-FC36C3923C2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261638" y="3337525"/>
            <a:ext cx="5573175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FB3D24B6-EF76-ACDB-C532-BF0B3C8C610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12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700" dirty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5B9D12CF-E33A-03EC-B918-92635B428872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mtClean="0"/>
              <a:pPr lvl="0"/>
              <a:t>‹#›</a:t>
            </a:fld>
            <a:endParaRPr lang="en-US" dirty="0"/>
          </a:p>
        </p:txBody>
      </p:sp>
      <p:grpSp>
        <p:nvGrpSpPr>
          <p:cNvPr id="6" name="Agrupar 11">
            <a:extLst>
              <a:ext uri="{FF2B5EF4-FFF2-40B4-BE49-F238E27FC236}">
                <a16:creationId xmlns:a16="http://schemas.microsoft.com/office/drawing/2014/main" id="{20D968DE-A54C-324A-FCAC-7F1FA2345E4F}"/>
              </a:ext>
            </a:extLst>
          </p:cNvPr>
          <p:cNvGrpSpPr/>
          <p:nvPr userDrawn="1"/>
        </p:nvGrpSpPr>
        <p:grpSpPr>
          <a:xfrm>
            <a:off x="2085975" y="317749"/>
            <a:ext cx="9748838" cy="386290"/>
            <a:chOff x="1583240" y="180344"/>
            <a:chExt cx="10176295" cy="386290"/>
          </a:xfrm>
        </p:grpSpPr>
        <p:cxnSp>
          <p:nvCxnSpPr>
            <p:cNvPr id="7" name="Conector reto 12">
              <a:extLst>
                <a:ext uri="{FF2B5EF4-FFF2-40B4-BE49-F238E27FC236}">
                  <a16:creationId xmlns:a16="http://schemas.microsoft.com/office/drawing/2014/main" id="{7FA06E3D-44AB-18C9-A1DF-3EC5C5632A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83240" y="360000"/>
              <a:ext cx="9555996" cy="0"/>
            </a:xfrm>
            <a:prstGeom prst="line">
              <a:avLst/>
            </a:prstGeom>
            <a:ln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Gráfico 14">
              <a:extLst>
                <a:ext uri="{FF2B5EF4-FFF2-40B4-BE49-F238E27FC236}">
                  <a16:creationId xmlns:a16="http://schemas.microsoft.com/office/drawing/2014/main" id="{1505CC1A-3265-D268-30BC-78AA7863B7B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312741" y="180344"/>
              <a:ext cx="446794" cy="386290"/>
            </a:xfrm>
            <a:prstGeom prst="rect">
              <a:avLst/>
            </a:prstGeom>
          </p:spPr>
        </p:pic>
      </p:grpSp>
      <p:sp>
        <p:nvSpPr>
          <p:cNvPr id="10" name="CaixaDeTexto 3">
            <a:extLst>
              <a:ext uri="{FF2B5EF4-FFF2-40B4-BE49-F238E27FC236}">
                <a16:creationId xmlns:a16="http://schemas.microsoft.com/office/drawing/2014/main" id="{AA163F9F-4AC3-EA0D-B9D9-BA2A56FCC6C6}"/>
              </a:ext>
            </a:extLst>
          </p:cNvPr>
          <p:cNvSpPr txBox="1"/>
          <p:nvPr userDrawn="1"/>
        </p:nvSpPr>
        <p:spPr>
          <a:xfrm>
            <a:off x="731838" y="357006"/>
            <a:ext cx="1493777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pt-BR" sz="1000" dirty="0">
                <a:solidFill>
                  <a:srgbClr val="222F44"/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Arial" panose="020B0604020202020204" pitchFamily="34" charset="0"/>
              </a:rPr>
              <a:t>Tese de Investimento </a:t>
            </a:r>
          </a:p>
        </p:txBody>
      </p:sp>
    </p:spTree>
    <p:extLst>
      <p:ext uri="{BB962C8B-B14F-4D97-AF65-F5344CB8AC3E}">
        <p14:creationId xmlns:p14="http://schemas.microsoft.com/office/powerpoint/2010/main" val="1952485257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11705-E470-8D14-31B3-824FE4DAC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2B80E022-3FDD-ADDD-4ECC-A35C1C62984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b="0" spc="0" dirty="0">
                <a:solidFill>
                  <a:schemeClr val="tx1"/>
                </a:solidFill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4A0BD1B-A7E0-E3B2-D28F-4B86FE4438F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12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700" dirty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9" name="Espaço Reservado para Número de Slide 3">
            <a:extLst>
              <a:ext uri="{FF2B5EF4-FFF2-40B4-BE49-F238E27FC236}">
                <a16:creationId xmlns:a16="http://schemas.microsoft.com/office/drawing/2014/main" id="{1AC53D4F-9330-AD7E-C511-00F7B893E7D3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34816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837" y="1976121"/>
            <a:ext cx="11102976" cy="4023041"/>
          </a:xfrm>
        </p:spPr>
        <p:txBody>
          <a:bodyPr t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200" b="1">
                <a:latin typeface="TT Hoves Pro Trial" panose="020B0003020000020203" pitchFamily="34" charset="0"/>
                <a:ea typeface="Source Serif Pro" panose="02040603050405020204" pitchFamily="18" charset="0"/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b="0" spc="0" dirty="0">
                <a:solidFill>
                  <a:schemeClr val="tx1"/>
                </a:solidFill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31838" y="1455672"/>
            <a:ext cx="11102976" cy="253916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solidFill>
                  <a:schemeClr val="tx1"/>
                </a:solidFill>
                <a:latin typeface="TT Hoves Pro Trial Medium" panose="020B0003020000020203" pitchFamily="34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6" name="Content Placeholder 13">
            <a:extLst>
              <a:ext uri="{FF2B5EF4-FFF2-40B4-BE49-F238E27FC236}">
                <a16:creationId xmlns:a16="http://schemas.microsoft.com/office/drawing/2014/main" id="{7B3249D2-1FE0-ED6D-322D-323EFD8671F4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31838" y="1732020"/>
            <a:ext cx="11102976" cy="226788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200" b="0" dirty="0">
                <a:solidFill>
                  <a:schemeClr val="tx1"/>
                </a:solidFill>
                <a:latin typeface="TT Hoves Pro Trial Medium" panose="020B0003020000020203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75A68369-8B33-C898-7757-7C5067723B8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12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700" dirty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19" name="Espaço Reservado para Número de Slide 3">
            <a:extLst>
              <a:ext uri="{FF2B5EF4-FFF2-40B4-BE49-F238E27FC236}">
                <a16:creationId xmlns:a16="http://schemas.microsoft.com/office/drawing/2014/main" id="{2270AFF3-59D8-4C40-C53C-030FABBADB20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39950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739B9-4054-A9D4-2292-242833A62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00962-9F6C-292D-19D5-4E49FD343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50975"/>
            <a:ext cx="11102975" cy="45481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11">
            <a:extLst>
              <a:ext uri="{FF2B5EF4-FFF2-40B4-BE49-F238E27FC236}">
                <a16:creationId xmlns:a16="http://schemas.microsoft.com/office/drawing/2014/main" id="{D5FE42B3-1E99-213C-F3D2-9217EEF767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b="0" spc="0" dirty="0">
                <a:solidFill>
                  <a:schemeClr val="tx1"/>
                </a:solidFill>
                <a:ea typeface="Source Serif Pro Light" panose="020403030504050202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C7787170-0E7B-063E-C6DD-4ABC63D5BC7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12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700" dirty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10" name="Espaço Reservado para Número de Slide 3">
            <a:extLst>
              <a:ext uri="{FF2B5EF4-FFF2-40B4-BE49-F238E27FC236}">
                <a16:creationId xmlns:a16="http://schemas.microsoft.com/office/drawing/2014/main" id="{FFA6F73F-6933-6728-B9EB-150D5467B4D9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305976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F226F1CA-1F49-9F45-E01D-D000AD2FB77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1112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700" dirty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F38796BF-FC3C-43EF-4F13-C1174B3D5406}"/>
              </a:ext>
            </a:extLst>
          </p:cNvPr>
          <p:cNvSpPr txBox="1">
            <a:spLocks/>
          </p:cNvSpPr>
          <p:nvPr userDrawn="1"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040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image" Target="../media/image2.svg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5.xml"/><Relationship Id="rId16" Type="http://schemas.openxmlformats.org/officeDocument/2006/relationships/theme" Target="../theme/theme2.xml"/><Relationship Id="rId20" Type="http://schemas.microsoft.com/office/2007/relationships/hdphoto" Target="../media/hdphoto1.wdp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image" Target="../media/image2.sv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0.xml"/><Relationship Id="rId16" Type="http://schemas.openxmlformats.org/officeDocument/2006/relationships/theme" Target="../theme/theme3.xml"/><Relationship Id="rId20" Type="http://schemas.microsoft.com/office/2007/relationships/hdphoto" Target="../media/hdphoto1.wdp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18" Type="http://schemas.openxmlformats.org/officeDocument/2006/relationships/image" Target="../media/image2.sv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35.xml"/><Relationship Id="rId16" Type="http://schemas.openxmlformats.org/officeDocument/2006/relationships/theme" Target="../theme/theme4.xml"/><Relationship Id="rId20" Type="http://schemas.microsoft.com/office/2007/relationships/hdphoto" Target="../media/hdphoto1.wdp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3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61.xml"/><Relationship Id="rId18" Type="http://schemas.openxmlformats.org/officeDocument/2006/relationships/image" Target="../media/image2.svg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50.xml"/><Relationship Id="rId16" Type="http://schemas.openxmlformats.org/officeDocument/2006/relationships/theme" Target="../theme/theme5.xml"/><Relationship Id="rId20" Type="http://schemas.microsoft.com/office/2007/relationships/hdphoto" Target="../media/hdphoto1.wdp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58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62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4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65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8.xml"/><Relationship Id="rId18" Type="http://schemas.openxmlformats.org/officeDocument/2006/relationships/image" Target="../media/image2.svg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7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67.xml"/><Relationship Id="rId16" Type="http://schemas.openxmlformats.org/officeDocument/2006/relationships/theme" Target="../theme/theme8.xml"/><Relationship Id="rId20" Type="http://schemas.microsoft.com/office/2007/relationships/hdphoto" Target="../media/hdphoto1.wdp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0.xml"/><Relationship Id="rId15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75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9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8.xml"/><Relationship Id="rId13" Type="http://schemas.openxmlformats.org/officeDocument/2006/relationships/slideLayout" Target="../slideLayouts/slideLayout9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83.xml"/><Relationship Id="rId7" Type="http://schemas.openxmlformats.org/officeDocument/2006/relationships/slideLayout" Target="../slideLayouts/slideLayout87.xml"/><Relationship Id="rId12" Type="http://schemas.openxmlformats.org/officeDocument/2006/relationships/slideLayout" Target="../slideLayouts/slideLayout92.xml"/><Relationship Id="rId17" Type="http://schemas.openxmlformats.org/officeDocument/2006/relationships/image" Target="../media/image6.png"/><Relationship Id="rId2" Type="http://schemas.openxmlformats.org/officeDocument/2006/relationships/slideLayout" Target="../slideLayouts/slideLayout82.xml"/><Relationship Id="rId16" Type="http://schemas.openxmlformats.org/officeDocument/2006/relationships/theme" Target="../theme/theme9.xml"/><Relationship Id="rId1" Type="http://schemas.openxmlformats.org/officeDocument/2006/relationships/slideLayout" Target="../slideLayouts/slideLayout81.xml"/><Relationship Id="rId6" Type="http://schemas.openxmlformats.org/officeDocument/2006/relationships/slideLayout" Target="../slideLayouts/slideLayout86.xml"/><Relationship Id="rId11" Type="http://schemas.openxmlformats.org/officeDocument/2006/relationships/slideLayout" Target="../slideLayouts/slideLayout91.xml"/><Relationship Id="rId5" Type="http://schemas.openxmlformats.org/officeDocument/2006/relationships/slideLayout" Target="../slideLayouts/slideLayout85.xml"/><Relationship Id="rId15" Type="http://schemas.openxmlformats.org/officeDocument/2006/relationships/slideLayout" Target="../slideLayouts/slideLayout95.xml"/><Relationship Id="rId10" Type="http://schemas.openxmlformats.org/officeDocument/2006/relationships/slideLayout" Target="../slideLayouts/slideLayout90.xml"/><Relationship Id="rId19" Type="http://schemas.openxmlformats.org/officeDocument/2006/relationships/image" Target="../media/image2.svg"/><Relationship Id="rId4" Type="http://schemas.openxmlformats.org/officeDocument/2006/relationships/slideLayout" Target="../slideLayouts/slideLayout84.xml"/><Relationship Id="rId9" Type="http://schemas.openxmlformats.org/officeDocument/2006/relationships/slideLayout" Target="../slideLayouts/slideLayout89.xml"/><Relationship Id="rId14" Type="http://schemas.openxmlformats.org/officeDocument/2006/relationships/slideLayout" Target="../slideLayouts/slideLayout9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B079893-B9E4-1176-99FF-1624625BE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229" y="886455"/>
            <a:ext cx="11124471" cy="650809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9FF693B-2A9F-D90C-4F61-F18B8D466A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138" y="1657026"/>
            <a:ext cx="11112500" cy="43611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</p:txBody>
      </p:sp>
    </p:spTree>
    <p:extLst>
      <p:ext uri="{BB962C8B-B14F-4D97-AF65-F5344CB8AC3E}">
        <p14:creationId xmlns:p14="http://schemas.microsoft.com/office/powerpoint/2010/main" val="909617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0" kern="1200">
          <a:solidFill>
            <a:schemeClr val="tx2"/>
          </a:solidFill>
          <a:latin typeface="TT Hoves Pro Trial" panose="020B0003020000020203" pitchFamily="34" charset="0"/>
          <a:ea typeface="Source Serif Pro" panose="02040603050405020204" pitchFamily="18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bg2"/>
        </a:buClr>
        <a:buFont typeface="Arial" panose="020B0604020202020204" pitchFamily="34" charset="0"/>
        <a:buNone/>
        <a:defRPr sz="1000" kern="1200">
          <a:solidFill>
            <a:schemeClr val="tx2"/>
          </a:solidFill>
          <a:latin typeface="TT Hoves Pro Trial" panose="020B0003020000020203" pitchFamily="34" charset="0"/>
          <a:ea typeface="Source Serif Pro" panose="02040603050405020204" pitchFamily="18" charset="0"/>
          <a:cs typeface="+mn-cs"/>
        </a:defRPr>
      </a:lvl1pPr>
      <a:lvl2pPr marL="108000" indent="-10800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bg2"/>
        </a:buClr>
        <a:buFont typeface="Arial" panose="020B0604020202020204" pitchFamily="34" charset="0"/>
        <a:buChar char="•"/>
        <a:defRPr sz="1000" kern="1200">
          <a:solidFill>
            <a:schemeClr val="tx2"/>
          </a:solidFill>
          <a:latin typeface="TT Hoves Pro Trial "/>
          <a:ea typeface="Source Serif Pro" panose="02040603050405020204" pitchFamily="18" charset="0"/>
          <a:cs typeface="+mn-cs"/>
        </a:defRPr>
      </a:lvl2pPr>
      <a:lvl3pPr marL="108000" indent="-10800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bg2"/>
        </a:buClr>
        <a:buFont typeface="Source Serif Pro" panose="02040603050405020204" pitchFamily="18" charset="0"/>
        <a:buChar char="−"/>
        <a:defRPr sz="1000" kern="1200">
          <a:solidFill>
            <a:schemeClr val="tx2"/>
          </a:solidFill>
          <a:latin typeface="TT Hoves Pro Trial" panose="020B0003020000020203" pitchFamily="34" charset="0"/>
          <a:ea typeface="Source Serif Pro Light" panose="02040303050405020204" pitchFamily="18" charset="0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bg2"/>
        </a:buClr>
        <a:buFont typeface="Arial" panose="020B0604020202020204" pitchFamily="34" charset="0"/>
        <a:buNone/>
        <a:defRPr sz="1100" b="0" kern="1200">
          <a:solidFill>
            <a:schemeClr val="tx2"/>
          </a:solidFill>
          <a:latin typeface="TT Hoves Pro Trial Medium" panose="020B0003020000020203" pitchFamily="34" charset="0"/>
          <a:ea typeface="Source Serif Pro" panose="02040603050405020204" pitchFamily="18" charset="0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bg2"/>
        </a:buClr>
        <a:buFont typeface="Arial" panose="020B0604020202020204" pitchFamily="34" charset="0"/>
        <a:buNone/>
        <a:defRPr sz="1000" b="0" kern="1200">
          <a:solidFill>
            <a:schemeClr val="tx2"/>
          </a:solidFill>
          <a:latin typeface="TT Hoves Pro Trial "/>
          <a:ea typeface="Source Serif Pro Black" panose="02040903050405020204" pitchFamily="18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235" userDrawn="1">
          <p15:clr>
            <a:srgbClr val="F26B43"/>
          </p15:clr>
        </p15:guide>
        <p15:guide id="5" orient="horz" pos="4088" userDrawn="1">
          <p15:clr>
            <a:srgbClr val="F26B43"/>
          </p15:clr>
        </p15:guide>
        <p15:guide id="6" pos="7453" userDrawn="1">
          <p15:clr>
            <a:srgbClr val="F26B43"/>
          </p15:clr>
        </p15:guide>
        <p15:guide id="7" pos="46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F471AE-9095-98ED-1C0F-5C5EE5003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705616"/>
            <a:ext cx="11102975" cy="32587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87698-DE24-2CDF-7F29-7AFF04CE0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7" y="1029952"/>
            <a:ext cx="11102975" cy="49692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BFE18-7E5A-2187-2FE5-6C32D2523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837" y="6203951"/>
            <a:ext cx="9726613" cy="1671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pt-BR" sz="700" spc="0" baseline="0" dirty="0">
                <a:solidFill>
                  <a:schemeClr val="bg2"/>
                </a:solidFill>
                <a:latin typeface="Montserrat "/>
                <a:ea typeface="Source Serif Pro" panose="02040603050405020204" pitchFamily="18" charset="0"/>
              </a:defRPr>
            </a:lvl1pPr>
          </a:lstStyle>
          <a:p>
            <a:pPr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25ED2-527C-125D-C897-1F10BFD49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31837" y="6493042"/>
            <a:ext cx="27477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defRPr>
            </a:lvl1pPr>
          </a:lstStyle>
          <a:p>
            <a:pPr algn="ctr"/>
            <a:fld id="{DBAA5C8A-2239-4F6E-8944-71074356D4E2}" type="slidenum">
              <a:rPr lang="pt-BR" smtClean="0"/>
              <a:pPr algn="ctr"/>
              <a:t>‹#›</a:t>
            </a:fld>
            <a:endParaRPr lang="pt-BR" dirty="0"/>
          </a:p>
        </p:txBody>
      </p:sp>
      <p:pic>
        <p:nvPicPr>
          <p:cNvPr id="27" name="Gráfico 14">
            <a:extLst>
              <a:ext uri="{FF2B5EF4-FFF2-40B4-BE49-F238E27FC236}">
                <a16:creationId xmlns:a16="http://schemas.microsoft.com/office/drawing/2014/main" id="{30965073-7593-2521-EF38-A01ECDCB2547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493450" y="357006"/>
            <a:ext cx="341362" cy="307776"/>
          </a:xfrm>
          <a:prstGeom prst="rect">
            <a:avLst/>
          </a:prstGeom>
        </p:spPr>
      </p:pic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553C05B0-A1B2-8E06-FF9C-3AA11AD6CAE2}"/>
              </a:ext>
            </a:extLst>
          </p:cNvPr>
          <p:cNvSpPr/>
          <p:nvPr userDrawn="1"/>
        </p:nvSpPr>
        <p:spPr>
          <a:xfrm>
            <a:off x="731837" y="-100657"/>
            <a:ext cx="1654125" cy="516498"/>
          </a:xfrm>
          <a:prstGeom prst="round2DiagRect">
            <a:avLst>
              <a:gd name="adj1" fmla="val 35759"/>
              <a:gd name="adj2" fmla="val 0"/>
            </a:avLst>
          </a:prstGeom>
          <a:solidFill>
            <a:srgbClr val="FDC9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9" name="CaixaDeTexto 3">
            <a:extLst>
              <a:ext uri="{FF2B5EF4-FFF2-40B4-BE49-F238E27FC236}">
                <a16:creationId xmlns:a16="http://schemas.microsoft.com/office/drawing/2014/main" id="{AE49BDB6-60A1-5596-4F61-400289F06707}"/>
              </a:ext>
            </a:extLst>
          </p:cNvPr>
          <p:cNvSpPr txBox="1"/>
          <p:nvPr userDrawn="1"/>
        </p:nvSpPr>
        <p:spPr>
          <a:xfrm>
            <a:off x="888000" y="130281"/>
            <a:ext cx="1341798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900" noProof="0" dirty="0" err="1">
                <a:solidFill>
                  <a:schemeClr val="accent1">
                    <a:lumMod val="50000"/>
                  </a:schemeClr>
                </a:solidFill>
                <a:latin typeface="Montserrat Medium" pitchFamily="2" charset="0"/>
                <a:ea typeface="Source Serif Pro" panose="02040603050405020204" pitchFamily="18" charset="0"/>
                <a:cs typeface="Arial" panose="020B0604020202020204" pitchFamily="34" charset="0"/>
              </a:rPr>
              <a:t>Introdução</a:t>
            </a:r>
            <a:endParaRPr lang="en-US" sz="900" noProof="0" dirty="0">
              <a:solidFill>
                <a:schemeClr val="accent1">
                  <a:lumMod val="50000"/>
                </a:schemeClr>
              </a:solidFill>
              <a:latin typeface="Montserrat Medium" pitchFamily="2" charset="0"/>
              <a:ea typeface="Source Serif Pro" panose="02040603050405020204" pitchFamily="18" charset="0"/>
              <a:cs typeface="Arial" panose="020B0604020202020204" pitchFamily="34" charset="0"/>
            </a:endParaRPr>
          </a:p>
        </p:txBody>
      </p:sp>
      <p:grpSp>
        <p:nvGrpSpPr>
          <p:cNvPr id="10" name="Agrupar 20">
            <a:extLst>
              <a:ext uri="{FF2B5EF4-FFF2-40B4-BE49-F238E27FC236}">
                <a16:creationId xmlns:a16="http://schemas.microsoft.com/office/drawing/2014/main" id="{A76F73E3-6038-3AEA-D7F4-F9BA0B48297A}"/>
              </a:ext>
            </a:extLst>
          </p:cNvPr>
          <p:cNvGrpSpPr/>
          <p:nvPr userDrawn="1"/>
        </p:nvGrpSpPr>
        <p:grpSpPr>
          <a:xfrm rot="5400000">
            <a:off x="1538085" y="6056143"/>
            <a:ext cx="200055" cy="1100408"/>
            <a:chOff x="11935695" y="2878796"/>
            <a:chExt cx="200055" cy="1100408"/>
          </a:xfrm>
        </p:grpSpPr>
        <p:sp>
          <p:nvSpPr>
            <p:cNvPr id="11" name="CaixaDeTexto 18">
              <a:extLst>
                <a:ext uri="{FF2B5EF4-FFF2-40B4-BE49-F238E27FC236}">
                  <a16:creationId xmlns:a16="http://schemas.microsoft.com/office/drawing/2014/main" id="{6B9DB466-6EC2-99E5-2DB9-40A00FF61371}"/>
                </a:ext>
              </a:extLst>
            </p:cNvPr>
            <p:cNvSpPr txBox="1"/>
            <p:nvPr userDrawn="1"/>
          </p:nvSpPr>
          <p:spPr>
            <a:xfrm rot="16200000">
              <a:off x="11659671" y="3328970"/>
              <a:ext cx="752104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algn="ctr" defTabSz="914400" rtl="0" eaLnBrk="1" latinLnBrk="0" hangingPunct="1"/>
              <a:r>
                <a:rPr lang="pt-BR" sz="700" kern="1200" dirty="0">
                  <a:solidFill>
                    <a:schemeClr val="bg2">
                      <a:lumMod val="75000"/>
                    </a:schemeClr>
                  </a:solidFill>
                  <a:latin typeface="Montserrat" panose="00000500000000000000" pitchFamily="2" charset="0"/>
                  <a:ea typeface="Source Serif Pro" panose="02040603050405020204" pitchFamily="18" charset="0"/>
                  <a:cs typeface="Arial" panose="020B0604020202020204" pitchFamily="34" charset="0"/>
                </a:rPr>
                <a:t>Confidencial </a:t>
              </a:r>
            </a:p>
          </p:txBody>
        </p:sp>
        <p:sp>
          <p:nvSpPr>
            <p:cNvPr id="12" name="Retângulo: Cantos Arredondados 19">
              <a:extLst>
                <a:ext uri="{FF2B5EF4-FFF2-40B4-BE49-F238E27FC236}">
                  <a16:creationId xmlns:a16="http://schemas.microsoft.com/office/drawing/2014/main" id="{A63F213B-BCA2-8871-D9FB-705D6C8052D3}"/>
                </a:ext>
              </a:extLst>
            </p:cNvPr>
            <p:cNvSpPr/>
            <p:nvPr userDrawn="1"/>
          </p:nvSpPr>
          <p:spPr>
            <a:xfrm>
              <a:off x="11935695" y="2878796"/>
              <a:ext cx="200055" cy="1100408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pic>
        <p:nvPicPr>
          <p:cNvPr id="13" name="Picture 12" descr="A black and white logo&#10;&#10;Description automatically generated">
            <a:extLst>
              <a:ext uri="{FF2B5EF4-FFF2-40B4-BE49-F238E27FC236}">
                <a16:creationId xmlns:a16="http://schemas.microsoft.com/office/drawing/2014/main" id="{3A44315D-5D5F-9FE6-92F9-69B983B5C591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0" y="6196678"/>
            <a:ext cx="784112" cy="26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399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869" r:id="rId3"/>
    <p:sldLayoutId id="2147483791" r:id="rId4"/>
    <p:sldLayoutId id="2147483792" r:id="rId5"/>
    <p:sldLayoutId id="2147483793" r:id="rId6"/>
    <p:sldLayoutId id="2147483849" r:id="rId7"/>
    <p:sldLayoutId id="2147483850" r:id="rId8"/>
    <p:sldLayoutId id="2147483851" r:id="rId9"/>
    <p:sldLayoutId id="2147483794" r:id="rId10"/>
    <p:sldLayoutId id="2147483834" r:id="rId11"/>
    <p:sldLayoutId id="2147483795" r:id="rId12"/>
    <p:sldLayoutId id="2147483852" r:id="rId13"/>
    <p:sldLayoutId id="2147483796" r:id="rId14"/>
    <p:sldLayoutId id="2147483797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000" b="0" kern="1200" spc="-20" baseline="0" dirty="0">
          <a:solidFill>
            <a:schemeClr val="tx2"/>
          </a:solidFill>
          <a:latin typeface="TT Hoves Pro Trial Medium" panose="020B0003020000020203" pitchFamily="34" charset="0"/>
          <a:ea typeface="Source Serif Pro Black" panose="02040903050405020204" pitchFamily="18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000" kern="1200" spc="-20" baseline="0">
          <a:solidFill>
            <a:schemeClr val="tx2"/>
          </a:solidFill>
          <a:latin typeface="TT Hoves Pro Trial" panose="020B0003020000020203" pitchFamily="34" charset="0"/>
          <a:ea typeface="Source Serif Pro" panose="02040603050405020204" pitchFamily="18" charset="0"/>
          <a:cs typeface="+mn-cs"/>
        </a:defRPr>
      </a:lvl1pPr>
      <a:lvl2pPr marL="108000" indent="-10800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bg2"/>
        </a:buClr>
        <a:buFont typeface="Arial" panose="020B0604020202020204" pitchFamily="34" charset="0"/>
        <a:buChar char="•"/>
        <a:defRPr sz="1000" kern="1200" spc="-20" baseline="0">
          <a:solidFill>
            <a:schemeClr val="tx2"/>
          </a:solidFill>
          <a:latin typeface="TT Hoves Pro Trial" panose="020B0003020000020203" pitchFamily="34" charset="0"/>
          <a:ea typeface="Source Serif Pro" panose="02040603050405020204" pitchFamily="18" charset="0"/>
          <a:cs typeface="+mn-cs"/>
        </a:defRPr>
      </a:lvl2pPr>
      <a:lvl3pPr marL="108000" indent="-10800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bg2"/>
        </a:buClr>
        <a:buFont typeface="Source Sans Pro" panose="020B0503030403020204" pitchFamily="34" charset="0"/>
        <a:buChar char="−"/>
        <a:defRPr sz="1000" kern="1200" spc="-20" baseline="0">
          <a:solidFill>
            <a:schemeClr val="tx2"/>
          </a:solidFill>
          <a:latin typeface="TT Hoves Pro Trial" panose="020B0003020000020203" pitchFamily="34" charset="0"/>
          <a:ea typeface="Source Serif Pro Light" panose="02040303050405020204" pitchFamily="18" charset="0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100" b="0" kern="1200" spc="-20" baseline="0">
          <a:solidFill>
            <a:schemeClr val="tx2"/>
          </a:solidFill>
          <a:latin typeface="TT Hoves Pro Trial Medium" panose="020B0003020000020203" pitchFamily="34" charset="0"/>
          <a:ea typeface="Source Serif Pro" panose="02040603050405020204" pitchFamily="18" charset="0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000" kern="1200">
          <a:solidFill>
            <a:schemeClr val="tx2"/>
          </a:solidFill>
          <a:latin typeface="TT Hoves Pro Trial "/>
          <a:ea typeface="Source Serif Pro Black" panose="02040903050405020204" pitchFamily="18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2" pos="3953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orient="horz" pos="436" userDrawn="1">
          <p15:clr>
            <a:srgbClr val="F26B43"/>
          </p15:clr>
        </p15:guide>
        <p15:guide id="5" pos="461" userDrawn="1">
          <p15:clr>
            <a:srgbClr val="F26B43"/>
          </p15:clr>
        </p15:guide>
        <p15:guide id="6" orient="horz" pos="4091" userDrawn="1">
          <p15:clr>
            <a:srgbClr val="F26B43"/>
          </p15:clr>
        </p15:guide>
        <p15:guide id="7" pos="7455" userDrawn="1">
          <p15:clr>
            <a:srgbClr val="F26B43"/>
          </p15:clr>
        </p15:guide>
        <p15:guide id="8" orient="horz" pos="3779" userDrawn="1">
          <p15:clr>
            <a:srgbClr val="F26B43"/>
          </p15:clr>
        </p15:guide>
        <p15:guide id="9" orient="horz" pos="913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F471AE-9095-98ED-1C0F-5C5EE5003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745259"/>
            <a:ext cx="11102975" cy="28469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87698-DE24-2CDF-7F29-7AFF04CE0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7" y="1029952"/>
            <a:ext cx="11102975" cy="49692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BFE18-7E5A-2187-2FE5-6C32D2523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837" y="6203951"/>
            <a:ext cx="9726613" cy="1671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baseline="0" dirty="0">
                <a:solidFill>
                  <a:schemeClr val="bg2"/>
                </a:solidFill>
                <a:latin typeface="Montserrat "/>
                <a:ea typeface="Source Serif Pro" panose="02040603050405020204" pitchFamily="18" charset="0"/>
              </a:defRPr>
            </a:lvl1pPr>
          </a:lstStyle>
          <a:p>
            <a:pPr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25ED2-527C-125D-C897-1F10BFD49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31837" y="6493042"/>
            <a:ext cx="274776" cy="365125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lvl1pPr>
              <a:defRPr lang="pt-BR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defRPr>
            </a:lvl1pPr>
          </a:lstStyle>
          <a:p>
            <a:pPr algn="ctr"/>
            <a:fld id="{DBAA5C8A-2239-4F6E-8944-71074356D4E2}" type="slidenum">
              <a:rPr lang="pt-BR" smtClean="0"/>
              <a:pPr algn="ctr"/>
              <a:t>‹#›</a:t>
            </a:fld>
            <a:endParaRPr lang="pt-BR" dirty="0"/>
          </a:p>
        </p:txBody>
      </p:sp>
      <p:grpSp>
        <p:nvGrpSpPr>
          <p:cNvPr id="10" name="Agrupar 20">
            <a:extLst>
              <a:ext uri="{FF2B5EF4-FFF2-40B4-BE49-F238E27FC236}">
                <a16:creationId xmlns:a16="http://schemas.microsoft.com/office/drawing/2014/main" id="{F798DE44-D344-3348-740D-09AB91B40E92}"/>
              </a:ext>
            </a:extLst>
          </p:cNvPr>
          <p:cNvGrpSpPr/>
          <p:nvPr userDrawn="1"/>
        </p:nvGrpSpPr>
        <p:grpSpPr>
          <a:xfrm rot="5400000">
            <a:off x="1538085" y="6056143"/>
            <a:ext cx="200055" cy="1100408"/>
            <a:chOff x="11935695" y="2878796"/>
            <a:chExt cx="200055" cy="1100408"/>
          </a:xfrm>
        </p:grpSpPr>
        <p:sp>
          <p:nvSpPr>
            <p:cNvPr id="11" name="CaixaDeTexto 18">
              <a:extLst>
                <a:ext uri="{FF2B5EF4-FFF2-40B4-BE49-F238E27FC236}">
                  <a16:creationId xmlns:a16="http://schemas.microsoft.com/office/drawing/2014/main" id="{76EDDDC6-419A-1B69-354A-5279381DAD85}"/>
                </a:ext>
              </a:extLst>
            </p:cNvPr>
            <p:cNvSpPr txBox="1"/>
            <p:nvPr userDrawn="1"/>
          </p:nvSpPr>
          <p:spPr>
            <a:xfrm rot="16200000">
              <a:off x="11659671" y="3328970"/>
              <a:ext cx="752104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algn="ctr" defTabSz="914400" rtl="0" eaLnBrk="1" latinLnBrk="0" hangingPunct="1"/>
              <a:r>
                <a:rPr lang="pt-BR" sz="700" kern="1200" dirty="0">
                  <a:solidFill>
                    <a:schemeClr val="bg2">
                      <a:lumMod val="75000"/>
                    </a:schemeClr>
                  </a:solidFill>
                  <a:latin typeface="Montserrat" panose="00000500000000000000" pitchFamily="2" charset="0"/>
                  <a:ea typeface="Source Serif Pro" panose="02040603050405020204" pitchFamily="18" charset="0"/>
                  <a:cs typeface="Arial" panose="020B0604020202020204" pitchFamily="34" charset="0"/>
                </a:rPr>
                <a:t>Confidencial </a:t>
              </a:r>
            </a:p>
          </p:txBody>
        </p:sp>
        <p:sp>
          <p:nvSpPr>
            <p:cNvPr id="12" name="Retângulo: Cantos Arredondados 19">
              <a:extLst>
                <a:ext uri="{FF2B5EF4-FFF2-40B4-BE49-F238E27FC236}">
                  <a16:creationId xmlns:a16="http://schemas.microsoft.com/office/drawing/2014/main" id="{5F931E13-ABCF-818E-68CE-EED86040F11E}"/>
                </a:ext>
              </a:extLst>
            </p:cNvPr>
            <p:cNvSpPr/>
            <p:nvPr userDrawn="1"/>
          </p:nvSpPr>
          <p:spPr>
            <a:xfrm>
              <a:off x="11935695" y="2878796"/>
              <a:ext cx="200055" cy="1100408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pic>
        <p:nvPicPr>
          <p:cNvPr id="15" name="Gráfico 14">
            <a:extLst>
              <a:ext uri="{FF2B5EF4-FFF2-40B4-BE49-F238E27FC236}">
                <a16:creationId xmlns:a16="http://schemas.microsoft.com/office/drawing/2014/main" id="{9B4C346E-B07F-A527-9829-358117DFDB23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493450" y="357006"/>
            <a:ext cx="341362" cy="307776"/>
          </a:xfrm>
          <a:prstGeom prst="rect">
            <a:avLst/>
          </a:prstGeom>
        </p:spPr>
      </p:pic>
      <p:pic>
        <p:nvPicPr>
          <p:cNvPr id="18" name="Picture 17" descr="A black and white logo&#10;&#10;Description automatically generated">
            <a:extLst>
              <a:ext uri="{FF2B5EF4-FFF2-40B4-BE49-F238E27FC236}">
                <a16:creationId xmlns:a16="http://schemas.microsoft.com/office/drawing/2014/main" id="{5700E2EA-8DDC-9E30-38F5-902629177197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0" y="6196678"/>
            <a:ext cx="784112" cy="265132"/>
          </a:xfrm>
          <a:prstGeom prst="rect">
            <a:avLst/>
          </a:prstGeom>
        </p:spPr>
      </p:pic>
      <p:sp>
        <p:nvSpPr>
          <p:cNvPr id="20" name="Rectangle: Diagonal Corners Rounded 19">
            <a:extLst>
              <a:ext uri="{FF2B5EF4-FFF2-40B4-BE49-F238E27FC236}">
                <a16:creationId xmlns:a16="http://schemas.microsoft.com/office/drawing/2014/main" id="{F668322B-017D-0431-A968-707F9D57C870}"/>
              </a:ext>
            </a:extLst>
          </p:cNvPr>
          <p:cNvSpPr/>
          <p:nvPr userDrawn="1"/>
        </p:nvSpPr>
        <p:spPr>
          <a:xfrm>
            <a:off x="731837" y="-100657"/>
            <a:ext cx="1654125" cy="516498"/>
          </a:xfrm>
          <a:prstGeom prst="round2DiagRect">
            <a:avLst>
              <a:gd name="adj1" fmla="val 35759"/>
              <a:gd name="adj2" fmla="val 0"/>
            </a:avLst>
          </a:prstGeom>
          <a:solidFill>
            <a:srgbClr val="FDC9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21" name="CaixaDeTexto 3">
            <a:extLst>
              <a:ext uri="{FF2B5EF4-FFF2-40B4-BE49-F238E27FC236}">
                <a16:creationId xmlns:a16="http://schemas.microsoft.com/office/drawing/2014/main" id="{73C61814-B09D-A4D0-5920-BE8A0895B05B}"/>
              </a:ext>
            </a:extLst>
          </p:cNvPr>
          <p:cNvSpPr txBox="1"/>
          <p:nvPr userDrawn="1"/>
        </p:nvSpPr>
        <p:spPr>
          <a:xfrm>
            <a:off x="888000" y="130281"/>
            <a:ext cx="1341798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900" noProof="0" dirty="0" err="1">
                <a:solidFill>
                  <a:schemeClr val="tx1"/>
                </a:solidFill>
                <a:latin typeface="Montserrat Medium" pitchFamily="2" charset="0"/>
                <a:ea typeface="Source Serif Pro" panose="02040603050405020204" pitchFamily="18" charset="0"/>
                <a:cs typeface="Arial" panose="020B0604020202020204" pitchFamily="34" charset="0"/>
              </a:rPr>
              <a:t>Tese</a:t>
            </a:r>
            <a:r>
              <a:rPr lang="en-US" sz="900" noProof="0" dirty="0">
                <a:solidFill>
                  <a:schemeClr val="tx1"/>
                </a:solidFill>
                <a:latin typeface="Montserrat Medium" pitchFamily="2" charset="0"/>
                <a:ea typeface="Source Serif Pro" panose="02040603050405020204" pitchFamily="18" charset="0"/>
                <a:cs typeface="Arial" panose="020B0604020202020204" pitchFamily="34" charset="0"/>
              </a:rPr>
              <a:t> de </a:t>
            </a:r>
            <a:r>
              <a:rPr lang="en-US" sz="900" noProof="0" dirty="0" err="1">
                <a:solidFill>
                  <a:schemeClr val="tx1"/>
                </a:solidFill>
                <a:latin typeface="Montserrat Medium" pitchFamily="2" charset="0"/>
                <a:ea typeface="Source Serif Pro" panose="02040603050405020204" pitchFamily="18" charset="0"/>
                <a:cs typeface="Arial" panose="020B0604020202020204" pitchFamily="34" charset="0"/>
              </a:rPr>
              <a:t>Investimento</a:t>
            </a:r>
            <a:endParaRPr lang="en-US" sz="900" noProof="0" dirty="0">
              <a:solidFill>
                <a:schemeClr val="tx1"/>
              </a:solidFill>
              <a:latin typeface="Montserrat Medium" pitchFamily="2" charset="0"/>
              <a:ea typeface="Source Serif Pro" panose="020406030504050202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913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  <p:sldLayoutId id="2147484030" r:id="rId2"/>
    <p:sldLayoutId id="2147484031" r:id="rId3"/>
    <p:sldLayoutId id="2147484032" r:id="rId4"/>
    <p:sldLayoutId id="2147484033" r:id="rId5"/>
    <p:sldLayoutId id="2147484034" r:id="rId6"/>
    <p:sldLayoutId id="2147484035" r:id="rId7"/>
    <p:sldLayoutId id="2147484036" r:id="rId8"/>
    <p:sldLayoutId id="2147484037" r:id="rId9"/>
    <p:sldLayoutId id="2147484038" r:id="rId10"/>
    <p:sldLayoutId id="2147484039" r:id="rId11"/>
    <p:sldLayoutId id="2147484040" r:id="rId12"/>
    <p:sldLayoutId id="2147484041" r:id="rId13"/>
    <p:sldLayoutId id="2147484042" r:id="rId14"/>
    <p:sldLayoutId id="214748404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000" b="1" kern="1200" spc="-20" baseline="0" dirty="0">
          <a:solidFill>
            <a:schemeClr val="tx2"/>
          </a:solidFill>
          <a:latin typeface="Montserrat" pitchFamily="2" charset="0"/>
          <a:ea typeface="Source Serif Pro Black" panose="02040903050405020204" pitchFamily="18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000" kern="1200" spc="-20" baseline="0">
          <a:solidFill>
            <a:schemeClr val="tx2"/>
          </a:solidFill>
          <a:latin typeface="TT Hoves Pro Trial" panose="020B0003020000020203" pitchFamily="34" charset="0"/>
          <a:ea typeface="Source Serif Pro" panose="02040603050405020204" pitchFamily="18" charset="0"/>
          <a:cs typeface="+mn-cs"/>
        </a:defRPr>
      </a:lvl1pPr>
      <a:lvl2pPr marL="108000" indent="-10800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bg2"/>
        </a:buClr>
        <a:buFont typeface="Arial" panose="020B0604020202020204" pitchFamily="34" charset="0"/>
        <a:buChar char="•"/>
        <a:defRPr sz="1000" kern="1200" spc="-20" baseline="0">
          <a:solidFill>
            <a:schemeClr val="tx2"/>
          </a:solidFill>
          <a:latin typeface="TT Hoves Pro Trial" panose="020B0003020000020203" pitchFamily="34" charset="0"/>
          <a:ea typeface="Source Serif Pro" panose="02040603050405020204" pitchFamily="18" charset="0"/>
          <a:cs typeface="+mn-cs"/>
        </a:defRPr>
      </a:lvl2pPr>
      <a:lvl3pPr marL="108000" indent="-10800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bg2"/>
        </a:buClr>
        <a:buFont typeface="Source Sans Pro" panose="020B0503030403020204" pitchFamily="34" charset="0"/>
        <a:buChar char="−"/>
        <a:defRPr sz="1000" kern="1200" spc="-20" baseline="0">
          <a:solidFill>
            <a:schemeClr val="tx2"/>
          </a:solidFill>
          <a:latin typeface="TT Hoves Pro Trial" panose="020B0003020000020203" pitchFamily="34" charset="0"/>
          <a:ea typeface="Source Serif Pro Light" panose="02040303050405020204" pitchFamily="18" charset="0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100" b="0" kern="1200" spc="-20" baseline="0">
          <a:solidFill>
            <a:schemeClr val="tx2"/>
          </a:solidFill>
          <a:latin typeface="TT Hoves Pro Trial Medium" panose="020B0003020000020203" pitchFamily="34" charset="0"/>
          <a:ea typeface="Source Serif Pro" panose="02040603050405020204" pitchFamily="18" charset="0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000" kern="1200">
          <a:solidFill>
            <a:schemeClr val="tx2"/>
          </a:solidFill>
          <a:latin typeface="TT Hoves Pro Trial "/>
          <a:ea typeface="Source Serif Pro Black" panose="02040903050405020204" pitchFamily="18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4">
          <p15:clr>
            <a:srgbClr val="F26B43"/>
          </p15:clr>
        </p15:guide>
        <p15:guide id="2" pos="3953">
          <p15:clr>
            <a:srgbClr val="F26B43"/>
          </p15:clr>
        </p15:guide>
        <p15:guide id="3" orient="horz" pos="235">
          <p15:clr>
            <a:srgbClr val="F26B43"/>
          </p15:clr>
        </p15:guide>
        <p15:guide id="4" orient="horz" pos="481">
          <p15:clr>
            <a:srgbClr val="F26B43"/>
          </p15:clr>
        </p15:guide>
        <p15:guide id="5" pos="461">
          <p15:clr>
            <a:srgbClr val="F26B43"/>
          </p15:clr>
        </p15:guide>
        <p15:guide id="6" orient="horz" pos="4091">
          <p15:clr>
            <a:srgbClr val="F26B43"/>
          </p15:clr>
        </p15:guide>
        <p15:guide id="7" pos="7455">
          <p15:clr>
            <a:srgbClr val="F26B43"/>
          </p15:clr>
        </p15:guide>
        <p15:guide id="8" orient="horz" pos="3770" userDrawn="1">
          <p15:clr>
            <a:srgbClr val="F26B43"/>
          </p15:clr>
        </p15:guide>
        <p15:guide id="9" orient="horz" pos="913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F471AE-9095-98ED-1C0F-5C5EE5003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745259"/>
            <a:ext cx="11102975" cy="28469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87698-DE24-2CDF-7F29-7AFF04CE0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7" y="1029952"/>
            <a:ext cx="11102975" cy="49692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BFE18-7E5A-2187-2FE5-6C32D2523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837" y="6203951"/>
            <a:ext cx="9726613" cy="11105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pt-BR" sz="700" spc="0" baseline="0">
                <a:solidFill>
                  <a:schemeClr val="bg2"/>
                </a:solidFill>
                <a:latin typeface="Montserrat "/>
                <a:ea typeface="Source Serif Pro" panose="02040603050405020204" pitchFamily="18" charset="0"/>
              </a:defRPr>
            </a:lvl1pPr>
          </a:lstStyle>
          <a:p>
            <a:pPr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25ED2-527C-125D-C897-1F10BFD49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31837" y="6493042"/>
            <a:ext cx="27477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pt-BR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defRPr>
            </a:lvl1pPr>
          </a:lstStyle>
          <a:p>
            <a:pPr algn="ctr"/>
            <a:fld id="{DBAA5C8A-2239-4F6E-8944-71074356D4E2}" type="slidenum">
              <a:rPr lang="pt-BR" smtClean="0"/>
              <a:pPr algn="ctr"/>
              <a:t>‹#›</a:t>
            </a:fld>
            <a:endParaRPr lang="pt-BR" dirty="0"/>
          </a:p>
        </p:txBody>
      </p:sp>
      <p:pic>
        <p:nvPicPr>
          <p:cNvPr id="33" name="Gráfico 14">
            <a:extLst>
              <a:ext uri="{FF2B5EF4-FFF2-40B4-BE49-F238E27FC236}">
                <a16:creationId xmlns:a16="http://schemas.microsoft.com/office/drawing/2014/main" id="{84E52C77-B7A5-200D-5A0C-C2948EFF930B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493450" y="357006"/>
            <a:ext cx="341362" cy="307776"/>
          </a:xfrm>
          <a:prstGeom prst="rect">
            <a:avLst/>
          </a:prstGeom>
        </p:spPr>
      </p:pic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AA5353E0-515A-79DA-840C-27E3A29068A3}"/>
              </a:ext>
            </a:extLst>
          </p:cNvPr>
          <p:cNvSpPr/>
          <p:nvPr userDrawn="1"/>
        </p:nvSpPr>
        <p:spPr>
          <a:xfrm>
            <a:off x="731837" y="-100657"/>
            <a:ext cx="1654125" cy="516498"/>
          </a:xfrm>
          <a:prstGeom prst="round2DiagRect">
            <a:avLst>
              <a:gd name="adj1" fmla="val 35759"/>
              <a:gd name="adj2" fmla="val 0"/>
            </a:avLst>
          </a:prstGeom>
          <a:solidFill>
            <a:srgbClr val="FDC9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8" name="CaixaDeTexto 3">
            <a:extLst>
              <a:ext uri="{FF2B5EF4-FFF2-40B4-BE49-F238E27FC236}">
                <a16:creationId xmlns:a16="http://schemas.microsoft.com/office/drawing/2014/main" id="{4E2D29AA-BB48-5467-EB61-6171C7E23D08}"/>
              </a:ext>
            </a:extLst>
          </p:cNvPr>
          <p:cNvSpPr txBox="1"/>
          <p:nvPr userDrawn="1"/>
        </p:nvSpPr>
        <p:spPr>
          <a:xfrm>
            <a:off x="731838" y="130281"/>
            <a:ext cx="1654122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900" noProof="0" dirty="0">
                <a:solidFill>
                  <a:schemeClr val="accent1">
                    <a:lumMod val="50000"/>
                  </a:schemeClr>
                </a:solidFill>
                <a:latin typeface="Montserrat Medium" pitchFamily="2" charset="0"/>
                <a:ea typeface="Source Serif Pro" panose="02040603050405020204" pitchFamily="18" charset="0"/>
                <a:cs typeface="Arial" panose="020B0604020202020204" pitchFamily="34" charset="0"/>
              </a:rPr>
              <a:t>Overview da </a:t>
            </a:r>
            <a:r>
              <a:rPr lang="en-US" sz="900" noProof="0" dirty="0" err="1">
                <a:solidFill>
                  <a:schemeClr val="accent1">
                    <a:lumMod val="50000"/>
                  </a:schemeClr>
                </a:solidFill>
                <a:latin typeface="Montserrat Medium" pitchFamily="2" charset="0"/>
                <a:ea typeface="Source Serif Pro" panose="02040603050405020204" pitchFamily="18" charset="0"/>
                <a:cs typeface="Arial" panose="020B0604020202020204" pitchFamily="34" charset="0"/>
              </a:rPr>
              <a:t>Companhia</a:t>
            </a:r>
            <a:endParaRPr lang="en-US" sz="900" noProof="0" dirty="0">
              <a:solidFill>
                <a:schemeClr val="accent1">
                  <a:lumMod val="50000"/>
                </a:schemeClr>
              </a:solidFill>
              <a:latin typeface="Montserrat Medium" pitchFamily="2" charset="0"/>
              <a:ea typeface="Source Serif Pro" panose="02040603050405020204" pitchFamily="18" charset="0"/>
              <a:cs typeface="Arial" panose="020B0604020202020204" pitchFamily="34" charset="0"/>
            </a:endParaRPr>
          </a:p>
        </p:txBody>
      </p:sp>
      <p:grpSp>
        <p:nvGrpSpPr>
          <p:cNvPr id="9" name="Agrupar 20">
            <a:extLst>
              <a:ext uri="{FF2B5EF4-FFF2-40B4-BE49-F238E27FC236}">
                <a16:creationId xmlns:a16="http://schemas.microsoft.com/office/drawing/2014/main" id="{D2982D39-7B7D-0D12-3F0E-869853B34551}"/>
              </a:ext>
            </a:extLst>
          </p:cNvPr>
          <p:cNvGrpSpPr/>
          <p:nvPr userDrawn="1"/>
        </p:nvGrpSpPr>
        <p:grpSpPr>
          <a:xfrm rot="5400000">
            <a:off x="1538085" y="6056143"/>
            <a:ext cx="200055" cy="1100408"/>
            <a:chOff x="11935695" y="2878796"/>
            <a:chExt cx="200055" cy="1100408"/>
          </a:xfrm>
        </p:grpSpPr>
        <p:sp>
          <p:nvSpPr>
            <p:cNvPr id="10" name="CaixaDeTexto 18">
              <a:extLst>
                <a:ext uri="{FF2B5EF4-FFF2-40B4-BE49-F238E27FC236}">
                  <a16:creationId xmlns:a16="http://schemas.microsoft.com/office/drawing/2014/main" id="{FEF1277B-CBA8-D51E-30DD-857E2E08C35F}"/>
                </a:ext>
              </a:extLst>
            </p:cNvPr>
            <p:cNvSpPr txBox="1"/>
            <p:nvPr userDrawn="1"/>
          </p:nvSpPr>
          <p:spPr>
            <a:xfrm rot="16200000">
              <a:off x="11659671" y="3328970"/>
              <a:ext cx="752104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algn="ctr" defTabSz="914400" rtl="0" eaLnBrk="1" latinLnBrk="0" hangingPunct="1"/>
              <a:r>
                <a:rPr lang="pt-BR" sz="700" kern="1200" dirty="0">
                  <a:solidFill>
                    <a:schemeClr val="bg2">
                      <a:lumMod val="75000"/>
                    </a:schemeClr>
                  </a:solidFill>
                  <a:latin typeface="Montserrat" panose="00000500000000000000" pitchFamily="2" charset="0"/>
                  <a:ea typeface="Source Serif Pro" panose="02040603050405020204" pitchFamily="18" charset="0"/>
                  <a:cs typeface="Arial" panose="020B0604020202020204" pitchFamily="34" charset="0"/>
                </a:rPr>
                <a:t>Confidencial </a:t>
              </a:r>
            </a:p>
          </p:txBody>
        </p:sp>
        <p:sp>
          <p:nvSpPr>
            <p:cNvPr id="11" name="Retângulo: Cantos Arredondados 19">
              <a:extLst>
                <a:ext uri="{FF2B5EF4-FFF2-40B4-BE49-F238E27FC236}">
                  <a16:creationId xmlns:a16="http://schemas.microsoft.com/office/drawing/2014/main" id="{85CBB66C-DDE7-04A9-25B2-299A6B6E176E}"/>
                </a:ext>
              </a:extLst>
            </p:cNvPr>
            <p:cNvSpPr/>
            <p:nvPr userDrawn="1"/>
          </p:nvSpPr>
          <p:spPr>
            <a:xfrm>
              <a:off x="11935695" y="2878796"/>
              <a:ext cx="200055" cy="1100408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pic>
        <p:nvPicPr>
          <p:cNvPr id="12" name="Picture 11" descr="A black and white logo&#10;&#10;Description automatically generated">
            <a:extLst>
              <a:ext uri="{FF2B5EF4-FFF2-40B4-BE49-F238E27FC236}">
                <a16:creationId xmlns:a16="http://schemas.microsoft.com/office/drawing/2014/main" id="{AA5F2715-2470-8393-86DB-1279707A187C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0" y="6196678"/>
            <a:ext cx="784112" cy="26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438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71" r:id="rId3"/>
    <p:sldLayoutId id="2147483811" r:id="rId4"/>
    <p:sldLayoutId id="2147483812" r:id="rId5"/>
    <p:sldLayoutId id="2147483813" r:id="rId6"/>
    <p:sldLayoutId id="2147483857" r:id="rId7"/>
    <p:sldLayoutId id="2147483858" r:id="rId8"/>
    <p:sldLayoutId id="2147483859" r:id="rId9"/>
    <p:sldLayoutId id="2147483814" r:id="rId10"/>
    <p:sldLayoutId id="2147483836" r:id="rId11"/>
    <p:sldLayoutId id="2147483815" r:id="rId12"/>
    <p:sldLayoutId id="2147483860" r:id="rId13"/>
    <p:sldLayoutId id="2147483816" r:id="rId14"/>
    <p:sldLayoutId id="2147483817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000" b="0" kern="1200" spc="-20" baseline="0" dirty="0">
          <a:solidFill>
            <a:schemeClr val="tx1"/>
          </a:solidFill>
          <a:latin typeface="TT Hoves Pro Trial Medium" panose="020B0003020000020203" pitchFamily="34" charset="0"/>
          <a:ea typeface="Source Serif Pro Black" panose="02040903050405020204" pitchFamily="18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000" b="0" kern="1200" spc="-20" baseline="0">
          <a:solidFill>
            <a:schemeClr val="tx1"/>
          </a:solidFill>
          <a:latin typeface="TT Hoves Pro Trial" panose="020B0003020000020203" pitchFamily="34" charset="0"/>
          <a:ea typeface="Source Serif Pro" panose="02040603050405020204" pitchFamily="18" charset="0"/>
          <a:cs typeface="+mn-cs"/>
        </a:defRPr>
      </a:lvl1pPr>
      <a:lvl2pPr marL="108000" indent="-10800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bg2"/>
        </a:buClr>
        <a:buFont typeface="Arial" panose="020B0604020202020204" pitchFamily="34" charset="0"/>
        <a:buChar char="•"/>
        <a:defRPr sz="1000" b="0" kern="1200" spc="-20" baseline="0">
          <a:solidFill>
            <a:schemeClr val="tx1"/>
          </a:solidFill>
          <a:latin typeface="TT Hoves Pro Trial" panose="020B0003020000020203" pitchFamily="34" charset="0"/>
          <a:ea typeface="Source Serif Pro" panose="02040603050405020204" pitchFamily="18" charset="0"/>
          <a:cs typeface="+mn-cs"/>
        </a:defRPr>
      </a:lvl2pPr>
      <a:lvl3pPr marL="108000" indent="-10800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bg2"/>
        </a:buClr>
        <a:buFont typeface="Source Sans Pro" panose="020B0503030403020204" pitchFamily="34" charset="0"/>
        <a:buChar char="−"/>
        <a:defRPr sz="1000" b="0" kern="1200" spc="-20" baseline="0">
          <a:solidFill>
            <a:schemeClr val="tx1"/>
          </a:solidFill>
          <a:latin typeface="TT Hoves Pro Trial" panose="020B0003020000020203" pitchFamily="34" charset="0"/>
          <a:ea typeface="Source Serif Pro Light" panose="02040303050405020204" pitchFamily="18" charset="0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100" b="0" kern="1200" spc="-20" baseline="0">
          <a:solidFill>
            <a:schemeClr val="tx1"/>
          </a:solidFill>
          <a:latin typeface="TT Hoves Pro Trial Medium" panose="020B0003020000020203" pitchFamily="34" charset="0"/>
          <a:ea typeface="Source Serif Pro" panose="02040603050405020204" pitchFamily="18" charset="0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000" b="0" kern="1200" spc="-20" baseline="0">
          <a:solidFill>
            <a:schemeClr val="tx1"/>
          </a:solidFill>
          <a:latin typeface="TT Hoves Pro Trial Medium" panose="020B0003020000020203" pitchFamily="34" charset="0"/>
          <a:ea typeface="Source Serif Pro Black" panose="02040903050405020204" pitchFamily="18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4" userDrawn="1">
          <p15:clr>
            <a:srgbClr val="F26B43"/>
          </p15:clr>
        </p15:guide>
        <p15:guide id="2" pos="3953" userDrawn="1">
          <p15:clr>
            <a:srgbClr val="F26B43"/>
          </p15:clr>
        </p15:guide>
        <p15:guide id="3" orient="horz" pos="232" userDrawn="1">
          <p15:clr>
            <a:srgbClr val="F26B43"/>
          </p15:clr>
        </p15:guide>
        <p15:guide id="4" orient="horz" pos="481" userDrawn="1">
          <p15:clr>
            <a:srgbClr val="F26B43"/>
          </p15:clr>
        </p15:guide>
        <p15:guide id="5" pos="461" userDrawn="1">
          <p15:clr>
            <a:srgbClr val="F26B43"/>
          </p15:clr>
        </p15:guide>
        <p15:guide id="6" orient="horz" pos="4091" userDrawn="1">
          <p15:clr>
            <a:srgbClr val="F26B43"/>
          </p15:clr>
        </p15:guide>
        <p15:guide id="7" pos="7455" userDrawn="1">
          <p15:clr>
            <a:srgbClr val="F26B43"/>
          </p15:clr>
        </p15:guide>
        <p15:guide id="8" orient="horz" pos="3779" userDrawn="1">
          <p15:clr>
            <a:srgbClr val="F26B43"/>
          </p15:clr>
        </p15:guide>
        <p15:guide id="9" orient="horz" pos="91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F471AE-9095-98ED-1C0F-5C5EE5003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745259"/>
            <a:ext cx="11102975" cy="28469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87698-DE24-2CDF-7F29-7AFF04CE0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7" y="1029952"/>
            <a:ext cx="11102975" cy="49692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BFE18-7E5A-2187-2FE5-6C32D2523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837" y="6203951"/>
            <a:ext cx="9726613" cy="1671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baseline="0" dirty="0">
                <a:solidFill>
                  <a:schemeClr val="bg2"/>
                </a:solidFill>
                <a:latin typeface="Montserrat "/>
                <a:ea typeface="Source Serif Pro" panose="02040603050405020204" pitchFamily="18" charset="0"/>
              </a:defRPr>
            </a:lvl1pPr>
          </a:lstStyle>
          <a:p>
            <a:pPr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None/>
            </a:pPr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25ED2-527C-125D-C897-1F10BFD49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31837" y="6493042"/>
            <a:ext cx="27477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pt-BR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defRPr>
            </a:lvl1pPr>
          </a:lstStyle>
          <a:p>
            <a:pPr algn="ctr"/>
            <a:fld id="{DBAA5C8A-2239-4F6E-8944-71074356D4E2}" type="slidenum">
              <a:rPr lang="pt-BR" smtClean="0"/>
              <a:pPr algn="ctr"/>
              <a:t>‹#›</a:t>
            </a:fld>
            <a:endParaRPr lang="pt-BR" dirty="0"/>
          </a:p>
        </p:txBody>
      </p:sp>
      <p:pic>
        <p:nvPicPr>
          <p:cNvPr id="38" name="Gráfico 14">
            <a:extLst>
              <a:ext uri="{FF2B5EF4-FFF2-40B4-BE49-F238E27FC236}">
                <a16:creationId xmlns:a16="http://schemas.microsoft.com/office/drawing/2014/main" id="{748038F2-6EF1-8007-0C95-D9EA2EA9DD8A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493450" y="357006"/>
            <a:ext cx="341362" cy="307776"/>
          </a:xfrm>
          <a:prstGeom prst="rect">
            <a:avLst/>
          </a:prstGeom>
        </p:spPr>
      </p:pic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2F1F1A78-0641-7762-FEFF-CF0AAB49C7A6}"/>
              </a:ext>
            </a:extLst>
          </p:cNvPr>
          <p:cNvSpPr/>
          <p:nvPr userDrawn="1"/>
        </p:nvSpPr>
        <p:spPr>
          <a:xfrm>
            <a:off x="731837" y="-100657"/>
            <a:ext cx="1654125" cy="516498"/>
          </a:xfrm>
          <a:prstGeom prst="round2DiagRect">
            <a:avLst>
              <a:gd name="adj1" fmla="val 35759"/>
              <a:gd name="adj2" fmla="val 0"/>
            </a:avLst>
          </a:prstGeom>
          <a:solidFill>
            <a:srgbClr val="FDC9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8" name="CaixaDeTexto 3">
            <a:extLst>
              <a:ext uri="{FF2B5EF4-FFF2-40B4-BE49-F238E27FC236}">
                <a16:creationId xmlns:a16="http://schemas.microsoft.com/office/drawing/2014/main" id="{67B4A9B5-A4FD-190C-F1FF-46A0B6E33929}"/>
              </a:ext>
            </a:extLst>
          </p:cNvPr>
          <p:cNvSpPr txBox="1"/>
          <p:nvPr userDrawn="1"/>
        </p:nvSpPr>
        <p:spPr>
          <a:xfrm>
            <a:off x="731838" y="130281"/>
            <a:ext cx="1654122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900" noProof="0" dirty="0" err="1">
                <a:solidFill>
                  <a:schemeClr val="accent1">
                    <a:lumMod val="50000"/>
                  </a:schemeClr>
                </a:solidFill>
                <a:latin typeface="Montserrat Medium" pitchFamily="2" charset="0"/>
                <a:ea typeface="Source Serif Pro" panose="02040603050405020204" pitchFamily="18" charset="0"/>
                <a:cs typeface="Arial" panose="020B0604020202020204" pitchFamily="34" charset="0"/>
              </a:rPr>
              <a:t>Informações</a:t>
            </a:r>
            <a:r>
              <a:rPr lang="en-US" sz="900" noProof="0" dirty="0">
                <a:solidFill>
                  <a:schemeClr val="accent1">
                    <a:lumMod val="50000"/>
                  </a:schemeClr>
                </a:solidFill>
                <a:latin typeface="Montserrat Medium" pitchFamily="2" charset="0"/>
                <a:ea typeface="Source Serif Pro" panose="02040603050405020204" pitchFamily="18" charset="0"/>
                <a:cs typeface="Arial" panose="020B0604020202020204" pitchFamily="34" charset="0"/>
              </a:rPr>
              <a:t> </a:t>
            </a:r>
            <a:r>
              <a:rPr lang="en-US" sz="900" noProof="0" dirty="0" err="1">
                <a:solidFill>
                  <a:schemeClr val="accent1">
                    <a:lumMod val="50000"/>
                  </a:schemeClr>
                </a:solidFill>
                <a:latin typeface="Montserrat Medium" pitchFamily="2" charset="0"/>
                <a:ea typeface="Source Serif Pro" panose="02040603050405020204" pitchFamily="18" charset="0"/>
                <a:cs typeface="Arial" panose="020B0604020202020204" pitchFamily="34" charset="0"/>
              </a:rPr>
              <a:t>Financeiras</a:t>
            </a:r>
            <a:endParaRPr lang="en-US" sz="900" noProof="0" dirty="0">
              <a:solidFill>
                <a:schemeClr val="accent1">
                  <a:lumMod val="50000"/>
                </a:schemeClr>
              </a:solidFill>
              <a:latin typeface="Montserrat Medium" pitchFamily="2" charset="0"/>
              <a:ea typeface="Source Serif Pro" panose="02040603050405020204" pitchFamily="18" charset="0"/>
              <a:cs typeface="Arial" panose="020B0604020202020204" pitchFamily="34" charset="0"/>
            </a:endParaRPr>
          </a:p>
        </p:txBody>
      </p:sp>
      <p:grpSp>
        <p:nvGrpSpPr>
          <p:cNvPr id="9" name="Agrupar 20">
            <a:extLst>
              <a:ext uri="{FF2B5EF4-FFF2-40B4-BE49-F238E27FC236}">
                <a16:creationId xmlns:a16="http://schemas.microsoft.com/office/drawing/2014/main" id="{8CA007BF-8F74-9BF4-C0CF-79568872221D}"/>
              </a:ext>
            </a:extLst>
          </p:cNvPr>
          <p:cNvGrpSpPr/>
          <p:nvPr userDrawn="1"/>
        </p:nvGrpSpPr>
        <p:grpSpPr>
          <a:xfrm rot="5400000">
            <a:off x="1538085" y="6056143"/>
            <a:ext cx="200055" cy="1100408"/>
            <a:chOff x="11935695" y="2878796"/>
            <a:chExt cx="200055" cy="1100408"/>
          </a:xfrm>
        </p:grpSpPr>
        <p:sp>
          <p:nvSpPr>
            <p:cNvPr id="10" name="CaixaDeTexto 18">
              <a:extLst>
                <a:ext uri="{FF2B5EF4-FFF2-40B4-BE49-F238E27FC236}">
                  <a16:creationId xmlns:a16="http://schemas.microsoft.com/office/drawing/2014/main" id="{180F3C89-DB9B-5A98-98E0-4D2EFB39FA1B}"/>
                </a:ext>
              </a:extLst>
            </p:cNvPr>
            <p:cNvSpPr txBox="1"/>
            <p:nvPr userDrawn="1"/>
          </p:nvSpPr>
          <p:spPr>
            <a:xfrm rot="16200000">
              <a:off x="11659671" y="3328970"/>
              <a:ext cx="752104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algn="ctr" defTabSz="914400" rtl="0" eaLnBrk="1" latinLnBrk="0" hangingPunct="1"/>
              <a:r>
                <a:rPr lang="pt-BR" sz="700" kern="1200" dirty="0">
                  <a:solidFill>
                    <a:schemeClr val="bg2">
                      <a:lumMod val="75000"/>
                    </a:schemeClr>
                  </a:solidFill>
                  <a:latin typeface="Montserrat" panose="00000500000000000000" pitchFamily="2" charset="0"/>
                  <a:ea typeface="Source Serif Pro" panose="02040603050405020204" pitchFamily="18" charset="0"/>
                  <a:cs typeface="Arial" panose="020B0604020202020204" pitchFamily="34" charset="0"/>
                </a:rPr>
                <a:t>Confidencial </a:t>
              </a:r>
            </a:p>
          </p:txBody>
        </p:sp>
        <p:sp>
          <p:nvSpPr>
            <p:cNvPr id="11" name="Retângulo: Cantos Arredondados 19">
              <a:extLst>
                <a:ext uri="{FF2B5EF4-FFF2-40B4-BE49-F238E27FC236}">
                  <a16:creationId xmlns:a16="http://schemas.microsoft.com/office/drawing/2014/main" id="{76B0256F-D89D-E953-89BE-357885CA9C77}"/>
                </a:ext>
              </a:extLst>
            </p:cNvPr>
            <p:cNvSpPr/>
            <p:nvPr userDrawn="1"/>
          </p:nvSpPr>
          <p:spPr>
            <a:xfrm>
              <a:off x="11935695" y="2878796"/>
              <a:ext cx="200055" cy="1100408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pic>
        <p:nvPicPr>
          <p:cNvPr id="12" name="Picture 11" descr="A black and white logo&#10;&#10;Description automatically generated">
            <a:extLst>
              <a:ext uri="{FF2B5EF4-FFF2-40B4-BE49-F238E27FC236}">
                <a16:creationId xmlns:a16="http://schemas.microsoft.com/office/drawing/2014/main" id="{796EBC03-2574-EE83-38D1-E9785ABA6551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0" y="6196678"/>
            <a:ext cx="784112" cy="26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012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72" r:id="rId3"/>
    <p:sldLayoutId id="2147483801" r:id="rId4"/>
    <p:sldLayoutId id="2147483802" r:id="rId5"/>
    <p:sldLayoutId id="2147483803" r:id="rId6"/>
    <p:sldLayoutId id="2147483861" r:id="rId7"/>
    <p:sldLayoutId id="2147483862" r:id="rId8"/>
    <p:sldLayoutId id="2147483863" r:id="rId9"/>
    <p:sldLayoutId id="2147483804" r:id="rId10"/>
    <p:sldLayoutId id="2147483837" r:id="rId11"/>
    <p:sldLayoutId id="2147483805" r:id="rId12"/>
    <p:sldLayoutId id="2147483864" r:id="rId13"/>
    <p:sldLayoutId id="2147483806" r:id="rId14"/>
    <p:sldLayoutId id="2147483807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000" b="0" kern="1200" dirty="0">
          <a:solidFill>
            <a:schemeClr val="tx1"/>
          </a:solidFill>
          <a:latin typeface="TT Hoves Pro Trial Medium" panose="020B0003020000020203" pitchFamily="34" charset="0"/>
          <a:ea typeface="Source Serif Pro Black" panose="02040903050405020204" pitchFamily="18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000" b="0" kern="1200">
          <a:solidFill>
            <a:schemeClr val="tx1"/>
          </a:solidFill>
          <a:latin typeface="TT Hoves Pro Trial" panose="020B0003020000020203" pitchFamily="34" charset="0"/>
          <a:ea typeface="Source Serif Pro" panose="02040603050405020204" pitchFamily="18" charset="0"/>
          <a:cs typeface="+mn-cs"/>
        </a:defRPr>
      </a:lvl1pPr>
      <a:lvl2pPr marL="108000" indent="-10800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bg2"/>
        </a:buClr>
        <a:buFont typeface="Arial" panose="020B0604020202020204" pitchFamily="34" charset="0"/>
        <a:buChar char="•"/>
        <a:defRPr sz="1000" b="0" kern="1200">
          <a:solidFill>
            <a:schemeClr val="tx1"/>
          </a:solidFill>
          <a:latin typeface="TT Hoves Pro Trial" panose="020B0003020000020203" pitchFamily="34" charset="0"/>
          <a:ea typeface="Source Serif Pro" panose="02040603050405020204" pitchFamily="18" charset="0"/>
          <a:cs typeface="+mn-cs"/>
        </a:defRPr>
      </a:lvl2pPr>
      <a:lvl3pPr marL="108000" indent="-10800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bg2"/>
        </a:buClr>
        <a:buFont typeface="Source Sans Pro" panose="020B0503030403020204" pitchFamily="34" charset="0"/>
        <a:buChar char="−"/>
        <a:defRPr sz="1000" b="0" kern="1200">
          <a:solidFill>
            <a:schemeClr val="tx1"/>
          </a:solidFill>
          <a:latin typeface="TT Hoves Pro Trial" panose="020B0003020000020203" pitchFamily="34" charset="0"/>
          <a:ea typeface="Source Serif Pro Light" panose="02040303050405020204" pitchFamily="18" charset="0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100" b="0" kern="1200">
          <a:solidFill>
            <a:schemeClr val="tx1"/>
          </a:solidFill>
          <a:latin typeface="TT Hoves Pro Trial Medium" panose="020B0003020000020203" pitchFamily="34" charset="0"/>
          <a:ea typeface="Source Serif Pro" panose="02040603050405020204" pitchFamily="18" charset="0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200" b="0" kern="1200">
          <a:solidFill>
            <a:schemeClr val="tx1"/>
          </a:solidFill>
          <a:latin typeface="TT Hoves Pro Trial Medium" panose="020B0003020000020203" pitchFamily="34" charset="0"/>
          <a:ea typeface="Source Serif Pro Black" panose="02040903050405020204" pitchFamily="18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4" userDrawn="1">
          <p15:clr>
            <a:srgbClr val="F26B43"/>
          </p15:clr>
        </p15:guide>
        <p15:guide id="2" pos="3953" userDrawn="1">
          <p15:clr>
            <a:srgbClr val="F26B43"/>
          </p15:clr>
        </p15:guide>
        <p15:guide id="3" orient="horz" pos="235" userDrawn="1">
          <p15:clr>
            <a:srgbClr val="F26B43"/>
          </p15:clr>
        </p15:guide>
        <p15:guide id="4" orient="horz" pos="481" userDrawn="1">
          <p15:clr>
            <a:srgbClr val="F26B43"/>
          </p15:clr>
        </p15:guide>
        <p15:guide id="5" pos="461" userDrawn="1">
          <p15:clr>
            <a:srgbClr val="F26B43"/>
          </p15:clr>
        </p15:guide>
        <p15:guide id="6" orient="horz" pos="4091" userDrawn="1">
          <p15:clr>
            <a:srgbClr val="F26B43"/>
          </p15:clr>
        </p15:guide>
        <p15:guide id="7" pos="7455" userDrawn="1">
          <p15:clr>
            <a:srgbClr val="F26B43"/>
          </p15:clr>
        </p15:guide>
        <p15:guide id="8" orient="horz" pos="3779" userDrawn="1">
          <p15:clr>
            <a:srgbClr val="F26B43"/>
          </p15:clr>
        </p15:guide>
        <p15:guide id="9" orient="horz" pos="914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F471AE-9095-98ED-1C0F-5C5EE5003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745259"/>
            <a:ext cx="11102975" cy="28469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87698-DE24-2CDF-7F29-7AFF04CE0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7" y="1029952"/>
            <a:ext cx="11102975" cy="49692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BFE18-7E5A-2187-2FE5-6C32D2523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837" y="6203951"/>
            <a:ext cx="9726613" cy="1671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baseline="0" dirty="0">
                <a:solidFill>
                  <a:schemeClr val="bg2"/>
                </a:solidFill>
                <a:latin typeface="Montserrat "/>
                <a:ea typeface="Source Serif Pro" panose="02040603050405020204" pitchFamily="18" charset="0"/>
              </a:defRPr>
            </a:lvl1pPr>
          </a:lstStyle>
          <a:p>
            <a:pPr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None/>
            </a:pPr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25ED2-527C-125D-C897-1F10BFD49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31837" y="6493042"/>
            <a:ext cx="274776" cy="365125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lvl1pPr>
              <a:defRPr lang="pt-BR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defRPr>
            </a:lvl1pPr>
          </a:lstStyle>
          <a:p>
            <a:pPr algn="ctr"/>
            <a:fld id="{DBAA5C8A-2239-4F6E-8944-71074356D4E2}" type="slidenum">
              <a:rPr lang="pt-BR" smtClean="0"/>
              <a:pPr algn="ctr"/>
              <a:t>‹#›</a:t>
            </a:fld>
            <a:endParaRPr lang="pt-BR" dirty="0"/>
          </a:p>
        </p:txBody>
      </p:sp>
      <p:pic>
        <p:nvPicPr>
          <p:cNvPr id="33" name="Gráfico 14">
            <a:extLst>
              <a:ext uri="{FF2B5EF4-FFF2-40B4-BE49-F238E27FC236}">
                <a16:creationId xmlns:a16="http://schemas.microsoft.com/office/drawing/2014/main" id="{E64C1E0A-04A0-993C-3369-113705BB633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93450" y="357006"/>
            <a:ext cx="341362" cy="307776"/>
          </a:xfrm>
          <a:prstGeom prst="rect">
            <a:avLst/>
          </a:prstGeom>
        </p:spPr>
      </p:pic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F5CCEB11-31CB-3E42-CECD-4752E7FF5FB0}"/>
              </a:ext>
            </a:extLst>
          </p:cNvPr>
          <p:cNvSpPr/>
          <p:nvPr userDrawn="1"/>
        </p:nvSpPr>
        <p:spPr>
          <a:xfrm>
            <a:off x="731837" y="-100657"/>
            <a:ext cx="1654125" cy="516498"/>
          </a:xfrm>
          <a:prstGeom prst="round2DiagRect">
            <a:avLst>
              <a:gd name="adj1" fmla="val 35759"/>
              <a:gd name="adj2" fmla="val 0"/>
            </a:avLst>
          </a:prstGeom>
          <a:solidFill>
            <a:srgbClr val="FDC9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8" name="CaixaDeTexto 3">
            <a:extLst>
              <a:ext uri="{FF2B5EF4-FFF2-40B4-BE49-F238E27FC236}">
                <a16:creationId xmlns:a16="http://schemas.microsoft.com/office/drawing/2014/main" id="{B6C9E1F2-D340-F1E5-31B2-6E7B09C8368D}"/>
              </a:ext>
            </a:extLst>
          </p:cNvPr>
          <p:cNvSpPr txBox="1"/>
          <p:nvPr userDrawn="1"/>
        </p:nvSpPr>
        <p:spPr>
          <a:xfrm>
            <a:off x="888000" y="130281"/>
            <a:ext cx="1341798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900" noProof="0" dirty="0" err="1">
                <a:solidFill>
                  <a:schemeClr val="accent1">
                    <a:lumMod val="50000"/>
                  </a:schemeClr>
                </a:solidFill>
                <a:latin typeface="Montserrat Medium" pitchFamily="2" charset="0"/>
                <a:ea typeface="Source Serif Pro" panose="02040603050405020204" pitchFamily="18" charset="0"/>
                <a:cs typeface="Arial" panose="020B0604020202020204" pitchFamily="34" charset="0"/>
              </a:rPr>
              <a:t>Apêndice</a:t>
            </a:r>
            <a:endParaRPr lang="en-US" sz="900" noProof="0" dirty="0">
              <a:solidFill>
                <a:schemeClr val="accent1">
                  <a:lumMod val="50000"/>
                </a:schemeClr>
              </a:solidFill>
              <a:latin typeface="Montserrat Medium" pitchFamily="2" charset="0"/>
              <a:ea typeface="Source Serif Pro" panose="02040603050405020204" pitchFamily="18" charset="0"/>
              <a:cs typeface="Arial" panose="020B0604020202020204" pitchFamily="34" charset="0"/>
            </a:endParaRPr>
          </a:p>
        </p:txBody>
      </p:sp>
      <p:grpSp>
        <p:nvGrpSpPr>
          <p:cNvPr id="9" name="Agrupar 20">
            <a:extLst>
              <a:ext uri="{FF2B5EF4-FFF2-40B4-BE49-F238E27FC236}">
                <a16:creationId xmlns:a16="http://schemas.microsoft.com/office/drawing/2014/main" id="{D0CF86AD-7300-1C5F-F000-01121D15FEED}"/>
              </a:ext>
            </a:extLst>
          </p:cNvPr>
          <p:cNvGrpSpPr/>
          <p:nvPr userDrawn="1"/>
        </p:nvGrpSpPr>
        <p:grpSpPr>
          <a:xfrm rot="5400000">
            <a:off x="1538085" y="6056143"/>
            <a:ext cx="200055" cy="1100408"/>
            <a:chOff x="11935695" y="2878796"/>
            <a:chExt cx="200055" cy="1100408"/>
          </a:xfrm>
        </p:grpSpPr>
        <p:sp>
          <p:nvSpPr>
            <p:cNvPr id="10" name="CaixaDeTexto 18">
              <a:extLst>
                <a:ext uri="{FF2B5EF4-FFF2-40B4-BE49-F238E27FC236}">
                  <a16:creationId xmlns:a16="http://schemas.microsoft.com/office/drawing/2014/main" id="{9F1ADC2C-CA33-65D4-4A51-067A31FA6B86}"/>
                </a:ext>
              </a:extLst>
            </p:cNvPr>
            <p:cNvSpPr txBox="1"/>
            <p:nvPr userDrawn="1"/>
          </p:nvSpPr>
          <p:spPr>
            <a:xfrm rot="16200000">
              <a:off x="11659671" y="3328970"/>
              <a:ext cx="752104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algn="ctr" defTabSz="914400" rtl="0" eaLnBrk="1" latinLnBrk="0" hangingPunct="1"/>
              <a:r>
                <a:rPr lang="pt-BR" sz="700" kern="1200" dirty="0">
                  <a:solidFill>
                    <a:schemeClr val="bg2">
                      <a:lumMod val="75000"/>
                    </a:schemeClr>
                  </a:solidFill>
                  <a:latin typeface="Montserrat" panose="00000500000000000000" pitchFamily="2" charset="0"/>
                  <a:ea typeface="Source Serif Pro" panose="02040603050405020204" pitchFamily="18" charset="0"/>
                  <a:cs typeface="Arial" panose="020B0604020202020204" pitchFamily="34" charset="0"/>
                </a:rPr>
                <a:t>Confidencial </a:t>
              </a:r>
            </a:p>
          </p:txBody>
        </p:sp>
        <p:sp>
          <p:nvSpPr>
            <p:cNvPr id="11" name="Retângulo: Cantos Arredondados 19">
              <a:extLst>
                <a:ext uri="{FF2B5EF4-FFF2-40B4-BE49-F238E27FC236}">
                  <a16:creationId xmlns:a16="http://schemas.microsoft.com/office/drawing/2014/main" id="{9120EC04-F150-E81C-36E8-9667D8679CA8}"/>
                </a:ext>
              </a:extLst>
            </p:cNvPr>
            <p:cNvSpPr/>
            <p:nvPr userDrawn="1"/>
          </p:nvSpPr>
          <p:spPr>
            <a:xfrm>
              <a:off x="11935695" y="2878796"/>
              <a:ext cx="200055" cy="1100408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pic>
        <p:nvPicPr>
          <p:cNvPr id="12" name="Picture 11" descr="A black and white logo&#10;&#10;Description automatically generated">
            <a:extLst>
              <a:ext uri="{FF2B5EF4-FFF2-40B4-BE49-F238E27FC236}">
                <a16:creationId xmlns:a16="http://schemas.microsoft.com/office/drawing/2014/main" id="{809CD2DA-0F10-1EBC-BFDD-5CE4FD63746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0" y="6196678"/>
            <a:ext cx="784112" cy="26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666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000" b="0" kern="1200" dirty="0">
          <a:solidFill>
            <a:schemeClr val="tx1"/>
          </a:solidFill>
          <a:latin typeface="TT Hoves Pro Trial Medium" panose="020B0003020000020203" pitchFamily="34" charset="0"/>
          <a:ea typeface="Source Serif Pro Black" panose="02040903050405020204" pitchFamily="18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000" b="0" kern="1200">
          <a:solidFill>
            <a:schemeClr val="tx1"/>
          </a:solidFill>
          <a:latin typeface="TT Hoves Pro Trial" panose="020B0003020000020203" pitchFamily="34" charset="0"/>
          <a:ea typeface="Source Serif Pro" panose="02040603050405020204" pitchFamily="18" charset="0"/>
          <a:cs typeface="+mn-cs"/>
        </a:defRPr>
      </a:lvl1pPr>
      <a:lvl2pPr marL="108000" indent="-10800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bg2"/>
        </a:buClr>
        <a:buFont typeface="Arial" panose="020B0604020202020204" pitchFamily="34" charset="0"/>
        <a:buChar char="•"/>
        <a:defRPr sz="1000" b="0" kern="1200">
          <a:solidFill>
            <a:schemeClr val="tx1"/>
          </a:solidFill>
          <a:latin typeface="TT Hoves Pro Trial" panose="020B0003020000020203" pitchFamily="34" charset="0"/>
          <a:ea typeface="Source Serif Pro" panose="02040603050405020204" pitchFamily="18" charset="0"/>
          <a:cs typeface="+mn-cs"/>
        </a:defRPr>
      </a:lvl2pPr>
      <a:lvl3pPr marL="108000" indent="-10800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bg2"/>
        </a:buClr>
        <a:buFont typeface="Source Sans Pro" panose="020B0503030403020204" pitchFamily="34" charset="0"/>
        <a:buChar char="−"/>
        <a:defRPr sz="1000" b="0" kern="1200">
          <a:solidFill>
            <a:schemeClr val="tx1"/>
          </a:solidFill>
          <a:latin typeface="TT Hoves Pro Trial" panose="020B0003020000020203" pitchFamily="34" charset="0"/>
          <a:ea typeface="Source Serif Pro Light" panose="02040303050405020204" pitchFamily="18" charset="0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100" b="0" kern="1200">
          <a:solidFill>
            <a:schemeClr val="tx1"/>
          </a:solidFill>
          <a:latin typeface="TT Hoves Pro Trial Medium" panose="020B0003020000020203" pitchFamily="34" charset="0"/>
          <a:ea typeface="Source Serif Pro" panose="02040603050405020204" pitchFamily="18" charset="0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200" b="0" kern="1200">
          <a:solidFill>
            <a:schemeClr val="tx1"/>
          </a:solidFill>
          <a:latin typeface="TT Hoves Pro Trial Medium" panose="020B0003020000020203" pitchFamily="34" charset="0"/>
          <a:ea typeface="Source Serif Pro Black" panose="02040903050405020204" pitchFamily="18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4" userDrawn="1">
          <p15:clr>
            <a:srgbClr val="F26B43"/>
          </p15:clr>
        </p15:guide>
        <p15:guide id="2" pos="3953" userDrawn="1">
          <p15:clr>
            <a:srgbClr val="F26B43"/>
          </p15:clr>
        </p15:guide>
        <p15:guide id="3" orient="horz" pos="235" userDrawn="1">
          <p15:clr>
            <a:srgbClr val="F26B43"/>
          </p15:clr>
        </p15:guide>
        <p15:guide id="4" orient="horz" pos="481" userDrawn="1">
          <p15:clr>
            <a:srgbClr val="F26B43"/>
          </p15:clr>
        </p15:guide>
        <p15:guide id="5" pos="461" userDrawn="1">
          <p15:clr>
            <a:srgbClr val="F26B43"/>
          </p15:clr>
        </p15:guide>
        <p15:guide id="6" orient="horz" pos="4091" userDrawn="1">
          <p15:clr>
            <a:srgbClr val="F26B43"/>
          </p15:clr>
        </p15:guide>
        <p15:guide id="7" pos="7455" userDrawn="1">
          <p15:clr>
            <a:srgbClr val="F26B43"/>
          </p15:clr>
        </p15:guide>
        <p15:guide id="8" orient="horz" pos="3779" userDrawn="1">
          <p15:clr>
            <a:srgbClr val="F26B43"/>
          </p15:clr>
        </p15:guide>
        <p15:guide id="9" orient="horz" pos="914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F471AE-9095-98ED-1C0F-5C5EE5003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745259"/>
            <a:ext cx="11102975" cy="28469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87698-DE24-2CDF-7F29-7AFF04CE0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7" y="1029952"/>
            <a:ext cx="11102975" cy="49692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BFE18-7E5A-2187-2FE5-6C32D2523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837" y="6203951"/>
            <a:ext cx="9726613" cy="1671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baseline="0" dirty="0">
                <a:solidFill>
                  <a:schemeClr val="bg2"/>
                </a:solidFill>
                <a:latin typeface="Montserrat "/>
                <a:ea typeface="Source Serif Pro" panose="02040603050405020204" pitchFamily="18" charset="0"/>
              </a:defRPr>
            </a:lvl1pPr>
          </a:lstStyle>
          <a:p>
            <a:pPr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None/>
            </a:pPr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25ED2-527C-125D-C897-1F10BFD49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31837" y="6493042"/>
            <a:ext cx="274776" cy="365125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lvl1pPr>
              <a:defRPr lang="pt-BR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defRPr>
            </a:lvl1pPr>
          </a:lstStyle>
          <a:p>
            <a:pPr algn="ctr"/>
            <a:fld id="{DBAA5C8A-2239-4F6E-8944-71074356D4E2}" type="slidenum">
              <a:rPr lang="pt-BR" smtClean="0"/>
              <a:pPr algn="ctr"/>
              <a:t>‹#›</a:t>
            </a:fld>
            <a:endParaRPr lang="pt-BR" dirty="0"/>
          </a:p>
        </p:txBody>
      </p:sp>
      <p:pic>
        <p:nvPicPr>
          <p:cNvPr id="32" name="Gráfico 14">
            <a:extLst>
              <a:ext uri="{FF2B5EF4-FFF2-40B4-BE49-F238E27FC236}">
                <a16:creationId xmlns:a16="http://schemas.microsoft.com/office/drawing/2014/main" id="{8B5CF6E2-545E-4F75-2A44-7982BB165AE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93450" y="357006"/>
            <a:ext cx="341362" cy="307776"/>
          </a:xfrm>
          <a:prstGeom prst="rect">
            <a:avLst/>
          </a:prstGeom>
        </p:spPr>
      </p:pic>
      <p:grpSp>
        <p:nvGrpSpPr>
          <p:cNvPr id="7" name="Agrupar 20">
            <a:extLst>
              <a:ext uri="{FF2B5EF4-FFF2-40B4-BE49-F238E27FC236}">
                <a16:creationId xmlns:a16="http://schemas.microsoft.com/office/drawing/2014/main" id="{1B4C14C9-B1B4-F5A2-99D0-8BECF30CA3EC}"/>
              </a:ext>
            </a:extLst>
          </p:cNvPr>
          <p:cNvGrpSpPr/>
          <p:nvPr userDrawn="1"/>
        </p:nvGrpSpPr>
        <p:grpSpPr>
          <a:xfrm rot="5400000">
            <a:off x="1538085" y="6056143"/>
            <a:ext cx="200055" cy="1100408"/>
            <a:chOff x="11935695" y="2878796"/>
            <a:chExt cx="200055" cy="1100408"/>
          </a:xfrm>
        </p:grpSpPr>
        <p:sp>
          <p:nvSpPr>
            <p:cNvPr id="8" name="CaixaDeTexto 18">
              <a:extLst>
                <a:ext uri="{FF2B5EF4-FFF2-40B4-BE49-F238E27FC236}">
                  <a16:creationId xmlns:a16="http://schemas.microsoft.com/office/drawing/2014/main" id="{43006902-C1B0-F00F-096C-B392453E77AE}"/>
                </a:ext>
              </a:extLst>
            </p:cNvPr>
            <p:cNvSpPr txBox="1"/>
            <p:nvPr userDrawn="1"/>
          </p:nvSpPr>
          <p:spPr>
            <a:xfrm rot="16200000">
              <a:off x="11659671" y="3328970"/>
              <a:ext cx="752104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algn="ctr" defTabSz="914400" rtl="0" eaLnBrk="1" latinLnBrk="0" hangingPunct="1"/>
              <a:r>
                <a:rPr lang="pt-BR" sz="700" kern="1200" dirty="0">
                  <a:solidFill>
                    <a:schemeClr val="bg2">
                      <a:lumMod val="75000"/>
                    </a:schemeClr>
                  </a:solidFill>
                  <a:latin typeface="Montserrat" panose="00000500000000000000" pitchFamily="2" charset="0"/>
                  <a:ea typeface="Source Serif Pro" panose="02040603050405020204" pitchFamily="18" charset="0"/>
                  <a:cs typeface="Arial" panose="020B0604020202020204" pitchFamily="34" charset="0"/>
                </a:rPr>
                <a:t>Confidencial </a:t>
              </a:r>
            </a:p>
          </p:txBody>
        </p:sp>
        <p:sp>
          <p:nvSpPr>
            <p:cNvPr id="9" name="Retângulo: Cantos Arredondados 19">
              <a:extLst>
                <a:ext uri="{FF2B5EF4-FFF2-40B4-BE49-F238E27FC236}">
                  <a16:creationId xmlns:a16="http://schemas.microsoft.com/office/drawing/2014/main" id="{0A385C7D-34E7-BAF1-5434-521C936A2581}"/>
                </a:ext>
              </a:extLst>
            </p:cNvPr>
            <p:cNvSpPr/>
            <p:nvPr userDrawn="1"/>
          </p:nvSpPr>
          <p:spPr>
            <a:xfrm>
              <a:off x="11935695" y="2878796"/>
              <a:ext cx="200055" cy="1100408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pic>
        <p:nvPicPr>
          <p:cNvPr id="10" name="Picture 9" descr="A black and white logo&#10;&#10;Description automatically generated">
            <a:extLst>
              <a:ext uri="{FF2B5EF4-FFF2-40B4-BE49-F238E27FC236}">
                <a16:creationId xmlns:a16="http://schemas.microsoft.com/office/drawing/2014/main" id="{8C1D3CB2-B613-64DC-2A8C-267D96E75A7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0" y="6196678"/>
            <a:ext cx="784112" cy="26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289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000" b="0" kern="1200" dirty="0">
          <a:solidFill>
            <a:schemeClr val="tx1"/>
          </a:solidFill>
          <a:latin typeface="TT Hoves Pro Trial Medium" panose="020B0003020000020203" pitchFamily="34" charset="0"/>
          <a:ea typeface="Source Serif Pro Black" panose="02040903050405020204" pitchFamily="18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000" b="0" kern="1200">
          <a:solidFill>
            <a:schemeClr val="tx1"/>
          </a:solidFill>
          <a:latin typeface="TT Hoves Pro Trial" panose="020B0003020000020203" pitchFamily="34" charset="0"/>
          <a:ea typeface="Source Serif Pro" panose="02040603050405020204" pitchFamily="18" charset="0"/>
          <a:cs typeface="+mn-cs"/>
        </a:defRPr>
      </a:lvl1pPr>
      <a:lvl2pPr marL="108000" indent="-10800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bg2"/>
        </a:buClr>
        <a:buFont typeface="Arial" panose="020B0604020202020204" pitchFamily="34" charset="0"/>
        <a:buChar char="•"/>
        <a:defRPr sz="1000" b="0" kern="1200">
          <a:solidFill>
            <a:schemeClr val="tx1"/>
          </a:solidFill>
          <a:latin typeface="TT Hoves Pro Trial" panose="020B0003020000020203" pitchFamily="34" charset="0"/>
          <a:ea typeface="Source Serif Pro" panose="02040603050405020204" pitchFamily="18" charset="0"/>
          <a:cs typeface="+mn-cs"/>
        </a:defRPr>
      </a:lvl2pPr>
      <a:lvl3pPr marL="108000" indent="-10800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bg2"/>
        </a:buClr>
        <a:buFont typeface="Source Sans Pro" panose="020B0503030403020204" pitchFamily="34" charset="0"/>
        <a:buChar char="−"/>
        <a:defRPr sz="1000" b="0" kern="1200">
          <a:solidFill>
            <a:schemeClr val="tx1"/>
          </a:solidFill>
          <a:latin typeface="TT Hoves Pro Trial" panose="020B0003020000020203" pitchFamily="34" charset="0"/>
          <a:ea typeface="Source Serif Pro Light" panose="02040303050405020204" pitchFamily="18" charset="0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100" b="0" kern="1200">
          <a:solidFill>
            <a:schemeClr val="tx1"/>
          </a:solidFill>
          <a:latin typeface="TT Hoves Pro Trial Medium" panose="020B0003020000020203" pitchFamily="34" charset="0"/>
          <a:ea typeface="Source Serif Pro" panose="02040603050405020204" pitchFamily="18" charset="0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200" b="0" kern="1200">
          <a:solidFill>
            <a:schemeClr val="tx1"/>
          </a:solidFill>
          <a:latin typeface="TT Hoves Pro Trial Medium" panose="020B0003020000020203" pitchFamily="34" charset="0"/>
          <a:ea typeface="Source Serif Pro Black" panose="02040903050405020204" pitchFamily="18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4" userDrawn="1">
          <p15:clr>
            <a:srgbClr val="F26B43"/>
          </p15:clr>
        </p15:guide>
        <p15:guide id="2" pos="3953" userDrawn="1">
          <p15:clr>
            <a:srgbClr val="F26B43"/>
          </p15:clr>
        </p15:guide>
        <p15:guide id="3" orient="horz" pos="235" userDrawn="1">
          <p15:clr>
            <a:srgbClr val="F26B43"/>
          </p15:clr>
        </p15:guide>
        <p15:guide id="4" orient="horz" pos="481" userDrawn="1">
          <p15:clr>
            <a:srgbClr val="F26B43"/>
          </p15:clr>
        </p15:guide>
        <p15:guide id="5" pos="461" userDrawn="1">
          <p15:clr>
            <a:srgbClr val="F26B43"/>
          </p15:clr>
        </p15:guide>
        <p15:guide id="6" orient="horz" pos="4091" userDrawn="1">
          <p15:clr>
            <a:srgbClr val="F26B43"/>
          </p15:clr>
        </p15:guide>
        <p15:guide id="7" pos="7455" userDrawn="1">
          <p15:clr>
            <a:srgbClr val="F26B43"/>
          </p15:clr>
        </p15:guide>
        <p15:guide id="8" orient="horz" pos="3779" userDrawn="1">
          <p15:clr>
            <a:srgbClr val="F26B43"/>
          </p15:clr>
        </p15:guide>
        <p15:guide id="9" orient="horz" pos="914" userDrawn="1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F471AE-9095-98ED-1C0F-5C5EE5003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745259"/>
            <a:ext cx="11102975" cy="28469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87698-DE24-2CDF-7F29-7AFF04CE0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7" y="1029952"/>
            <a:ext cx="11102975" cy="49692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BFE18-7E5A-2187-2FE5-6C32D2523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837" y="6203951"/>
            <a:ext cx="9726613" cy="1671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700" spc="0" baseline="0" dirty="0">
                <a:solidFill>
                  <a:schemeClr val="bg2"/>
                </a:solidFill>
                <a:latin typeface="Montserrat "/>
                <a:ea typeface="Source Serif Pro" panose="02040603050405020204" pitchFamily="18" charset="0"/>
              </a:defRPr>
            </a:lvl1pPr>
          </a:lstStyle>
          <a:p>
            <a:pPr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None/>
            </a:pPr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25ED2-527C-125D-C897-1F10BFD49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31837" y="6493042"/>
            <a:ext cx="274776" cy="365125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lvl1pPr>
              <a:defRPr lang="pt-BR" sz="700" b="0" kern="1200" smtClean="0">
                <a:solidFill>
                  <a:schemeClr val="bg2">
                    <a:lumMod val="7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defRPr>
            </a:lvl1pPr>
          </a:lstStyle>
          <a:p>
            <a:pPr algn="ctr"/>
            <a:fld id="{DBAA5C8A-2239-4F6E-8944-71074356D4E2}" type="slidenum">
              <a:rPr lang="pt-BR" smtClean="0"/>
              <a:pPr algn="ctr"/>
              <a:t>‹#›</a:t>
            </a:fld>
            <a:endParaRPr lang="pt-BR" dirty="0"/>
          </a:p>
        </p:txBody>
      </p:sp>
      <p:sp>
        <p:nvSpPr>
          <p:cNvPr id="7" name="CaixaDeTexto 3">
            <a:extLst>
              <a:ext uri="{FF2B5EF4-FFF2-40B4-BE49-F238E27FC236}">
                <a16:creationId xmlns:a16="http://schemas.microsoft.com/office/drawing/2014/main" id="{06403329-03AB-2CC0-C154-C32853A9F3AC}"/>
              </a:ext>
            </a:extLst>
          </p:cNvPr>
          <p:cNvSpPr txBox="1"/>
          <p:nvPr userDrawn="1"/>
        </p:nvSpPr>
        <p:spPr>
          <a:xfrm>
            <a:off x="731838" y="357006"/>
            <a:ext cx="151103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pt-BR" sz="800" noProof="0" dirty="0">
                <a:solidFill>
                  <a:srgbClr val="222F44"/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Arial" panose="020B0604020202020204" pitchFamily="34" charset="0"/>
              </a:rPr>
              <a:t>Seção Editável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B8EC04-C78A-9EA3-02D9-9092494ED88D}"/>
              </a:ext>
            </a:extLst>
          </p:cNvPr>
          <p:cNvSpPr/>
          <p:nvPr userDrawn="1"/>
        </p:nvSpPr>
        <p:spPr>
          <a:xfrm>
            <a:off x="-1347568" y="1027010"/>
            <a:ext cx="1012641" cy="625172"/>
          </a:xfrm>
          <a:prstGeom prst="rect">
            <a:avLst/>
          </a:prstGeom>
          <a:solidFill>
            <a:srgbClr val="B414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TT Hoves Pro Trial" panose="020B0003020000020203" pitchFamily="34" charset="0"/>
              <a:ea typeface="Source Serif Pro" panose="0204060305040502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42FC67-B239-3134-6104-28EC379ADED5}"/>
              </a:ext>
            </a:extLst>
          </p:cNvPr>
          <p:cNvSpPr/>
          <p:nvPr userDrawn="1"/>
        </p:nvSpPr>
        <p:spPr>
          <a:xfrm>
            <a:off x="-1347568" y="1727847"/>
            <a:ext cx="1012641" cy="625172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TT Hoves Pro Trial" panose="020B0003020000020203" pitchFamily="34" charset="0"/>
              <a:ea typeface="Source Serif Pro" panose="020406030504050202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F45108-76D3-970A-E23F-03CE77F7774C}"/>
              </a:ext>
            </a:extLst>
          </p:cNvPr>
          <p:cNvSpPr/>
          <p:nvPr userDrawn="1"/>
        </p:nvSpPr>
        <p:spPr>
          <a:xfrm>
            <a:off x="-1347568" y="2419540"/>
            <a:ext cx="1012641" cy="6251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TT Hoves Pro Trial" panose="020B0003020000020203" pitchFamily="34" charset="0"/>
              <a:ea typeface="Source Serif Pro" panose="020406030504050202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1D2F2C-90A1-F646-793C-6A5899F9951C}"/>
              </a:ext>
            </a:extLst>
          </p:cNvPr>
          <p:cNvSpPr/>
          <p:nvPr userDrawn="1"/>
        </p:nvSpPr>
        <p:spPr>
          <a:xfrm>
            <a:off x="-1347568" y="3147809"/>
            <a:ext cx="1012641" cy="625172"/>
          </a:xfrm>
          <a:prstGeom prst="rect">
            <a:avLst/>
          </a:prstGeom>
          <a:solidFill>
            <a:srgbClr val="985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TT Hoves Pro Trial" panose="020B0003020000020203" pitchFamily="34" charset="0"/>
              <a:ea typeface="Source Serif Pro" panose="020406030504050202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4EEFCE-55AB-3CBF-ECE4-E9662EA27161}"/>
              </a:ext>
            </a:extLst>
          </p:cNvPr>
          <p:cNvSpPr/>
          <p:nvPr userDrawn="1"/>
        </p:nvSpPr>
        <p:spPr>
          <a:xfrm>
            <a:off x="-1347568" y="3876078"/>
            <a:ext cx="1012641" cy="625172"/>
          </a:xfrm>
          <a:prstGeom prst="rect">
            <a:avLst/>
          </a:prstGeom>
          <a:solidFill>
            <a:srgbClr val="FF5C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TT Hoves Pro Trial" panose="020B0003020000020203" pitchFamily="34" charset="0"/>
              <a:ea typeface="Source Serif Pro" panose="0204060305040502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46B4C2-23E0-778C-CD29-54D4EF773225}"/>
              </a:ext>
            </a:extLst>
          </p:cNvPr>
          <p:cNvSpPr/>
          <p:nvPr userDrawn="1"/>
        </p:nvSpPr>
        <p:spPr>
          <a:xfrm>
            <a:off x="-1347568" y="4576914"/>
            <a:ext cx="1012641" cy="625172"/>
          </a:xfrm>
          <a:prstGeom prst="rect">
            <a:avLst/>
          </a:prstGeom>
          <a:solidFill>
            <a:srgbClr val="B414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TT Hoves Pro Trial" panose="020B0003020000020203" pitchFamily="34" charset="0"/>
              <a:ea typeface="Source Serif Pro" panose="020406030504050202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F80978-7C8B-2CE4-E3D8-40A81CEDE2D5}"/>
              </a:ext>
            </a:extLst>
          </p:cNvPr>
          <p:cNvSpPr/>
          <p:nvPr userDrawn="1"/>
        </p:nvSpPr>
        <p:spPr>
          <a:xfrm>
            <a:off x="-1347568" y="281623"/>
            <a:ext cx="1012641" cy="625172"/>
          </a:xfrm>
          <a:prstGeom prst="rect">
            <a:avLst/>
          </a:prstGeom>
          <a:solidFill>
            <a:srgbClr val="FFF9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TT Hoves Pro Trial" panose="020B0003020000020203" pitchFamily="34" charset="0"/>
              <a:ea typeface="Source Serif Pro" panose="020406030504050202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A7AF8A-E57B-E57D-42D2-BA7778ECF7C6}"/>
              </a:ext>
            </a:extLst>
          </p:cNvPr>
          <p:cNvSpPr/>
          <p:nvPr userDrawn="1"/>
        </p:nvSpPr>
        <p:spPr>
          <a:xfrm>
            <a:off x="-1347568" y="5308434"/>
            <a:ext cx="1012641" cy="625172"/>
          </a:xfrm>
          <a:prstGeom prst="rect">
            <a:avLst/>
          </a:prstGeom>
          <a:solidFill>
            <a:srgbClr val="FFBA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TT Hoves Pro Trial" panose="020B0003020000020203" pitchFamily="34" charset="0"/>
              <a:ea typeface="Source Serif Pro" panose="02040603050405020204" pitchFamily="18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F680762-1E04-B92D-1B4F-5F9D267DA186}"/>
              </a:ext>
            </a:extLst>
          </p:cNvPr>
          <p:cNvGrpSpPr/>
          <p:nvPr userDrawn="1"/>
        </p:nvGrpSpPr>
        <p:grpSpPr>
          <a:xfrm>
            <a:off x="880189" y="-615902"/>
            <a:ext cx="2796105" cy="453659"/>
            <a:chOff x="-5271898" y="2302696"/>
            <a:chExt cx="5448817" cy="972457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360B0E-DD0D-EB79-20E1-59C7A8E2565F}"/>
                </a:ext>
              </a:extLst>
            </p:cNvPr>
            <p:cNvSpPr/>
            <p:nvPr/>
          </p:nvSpPr>
          <p:spPr>
            <a:xfrm>
              <a:off x="-3062382" y="2302696"/>
              <a:ext cx="972457" cy="972457"/>
            </a:xfrm>
            <a:prstGeom prst="rect">
              <a:avLst/>
            </a:prstGeom>
            <a:solidFill>
              <a:srgbClr val="E9D3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2000"/>
                </a:lnSpc>
                <a:spcAft>
                  <a:spcPts val="800"/>
                </a:spcAft>
              </a:pPr>
              <a:endParaRPr lang="en-US" sz="1200" dirty="0">
                <a:solidFill>
                  <a:schemeClr val="tx1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8738123-80B9-099C-D55F-32B7ED1F916E}"/>
                </a:ext>
              </a:extLst>
            </p:cNvPr>
            <p:cNvSpPr/>
            <p:nvPr/>
          </p:nvSpPr>
          <p:spPr>
            <a:xfrm>
              <a:off x="-1928960" y="2302696"/>
              <a:ext cx="972457" cy="972457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2000"/>
                </a:lnSpc>
                <a:spcAft>
                  <a:spcPts val="800"/>
                </a:spcAft>
              </a:pPr>
              <a:endParaRPr lang="en-US" sz="1200" dirty="0">
                <a:solidFill>
                  <a:schemeClr val="tx1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5390658-A61C-493F-397B-A60CA9C1C520}"/>
                </a:ext>
              </a:extLst>
            </p:cNvPr>
            <p:cNvSpPr/>
            <p:nvPr/>
          </p:nvSpPr>
          <p:spPr>
            <a:xfrm>
              <a:off x="-795538" y="2302696"/>
              <a:ext cx="972457" cy="972457"/>
            </a:xfrm>
            <a:prstGeom prst="rect">
              <a:avLst/>
            </a:prstGeom>
            <a:solidFill>
              <a:srgbClr val="D5D5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2000"/>
                </a:lnSpc>
                <a:spcAft>
                  <a:spcPts val="800"/>
                </a:spcAft>
              </a:pPr>
              <a:endParaRPr lang="en-US" sz="1200" dirty="0">
                <a:solidFill>
                  <a:schemeClr val="tx1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DAD93F8-AFF2-8A92-B569-35A21BF99890}"/>
                </a:ext>
              </a:extLst>
            </p:cNvPr>
            <p:cNvSpPr/>
            <p:nvPr/>
          </p:nvSpPr>
          <p:spPr>
            <a:xfrm>
              <a:off x="-5271898" y="2302696"/>
              <a:ext cx="972457" cy="972457"/>
            </a:xfrm>
            <a:prstGeom prst="rect">
              <a:avLst/>
            </a:prstGeom>
            <a:solidFill>
              <a:srgbClr val="9222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2000"/>
                </a:lnSpc>
                <a:spcAft>
                  <a:spcPts val="800"/>
                </a:spcAft>
              </a:pPr>
              <a:endParaRPr lang="en-US" sz="1200" dirty="0">
                <a:solidFill>
                  <a:schemeClr val="tx1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E2CD042-B03B-6875-1808-B732E930A51A}"/>
                </a:ext>
              </a:extLst>
            </p:cNvPr>
            <p:cNvSpPr/>
            <p:nvPr/>
          </p:nvSpPr>
          <p:spPr>
            <a:xfrm>
              <a:off x="-4168472" y="2302696"/>
              <a:ext cx="972457" cy="972457"/>
            </a:xfrm>
            <a:prstGeom prst="rect">
              <a:avLst/>
            </a:prstGeom>
            <a:solidFill>
              <a:srgbClr val="BE7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2000"/>
                </a:lnSpc>
                <a:spcAft>
                  <a:spcPts val="800"/>
                </a:spcAft>
              </a:pPr>
              <a:endParaRPr lang="en-US" sz="1200" dirty="0">
                <a:solidFill>
                  <a:schemeClr val="tx1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endParaRPr>
            </a:p>
          </p:txBody>
        </p:sp>
      </p:grpSp>
      <p:pic>
        <p:nvPicPr>
          <p:cNvPr id="32" name="Gráfico 14">
            <a:extLst>
              <a:ext uri="{FF2B5EF4-FFF2-40B4-BE49-F238E27FC236}">
                <a16:creationId xmlns:a16="http://schemas.microsoft.com/office/drawing/2014/main" id="{8A3B7345-23F8-9E27-BEAD-CAFB8597EB4B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493450" y="357006"/>
            <a:ext cx="341362" cy="307776"/>
          </a:xfrm>
          <a:prstGeom prst="rect">
            <a:avLst/>
          </a:prstGeom>
        </p:spPr>
      </p:pic>
      <p:grpSp>
        <p:nvGrpSpPr>
          <p:cNvPr id="19" name="Agrupar 20">
            <a:extLst>
              <a:ext uri="{FF2B5EF4-FFF2-40B4-BE49-F238E27FC236}">
                <a16:creationId xmlns:a16="http://schemas.microsoft.com/office/drawing/2014/main" id="{2B086040-B4B5-1175-4E04-8AA3DE78D8D4}"/>
              </a:ext>
            </a:extLst>
          </p:cNvPr>
          <p:cNvGrpSpPr/>
          <p:nvPr userDrawn="1"/>
        </p:nvGrpSpPr>
        <p:grpSpPr>
          <a:xfrm rot="5400000">
            <a:off x="1538085" y="6056143"/>
            <a:ext cx="200055" cy="1100408"/>
            <a:chOff x="11935695" y="2878796"/>
            <a:chExt cx="200055" cy="1100408"/>
          </a:xfrm>
        </p:grpSpPr>
        <p:sp>
          <p:nvSpPr>
            <p:cNvPr id="21" name="CaixaDeTexto 18">
              <a:extLst>
                <a:ext uri="{FF2B5EF4-FFF2-40B4-BE49-F238E27FC236}">
                  <a16:creationId xmlns:a16="http://schemas.microsoft.com/office/drawing/2014/main" id="{D9717A2D-E1D2-7F02-1607-59C86CAC2B31}"/>
                </a:ext>
              </a:extLst>
            </p:cNvPr>
            <p:cNvSpPr txBox="1"/>
            <p:nvPr userDrawn="1"/>
          </p:nvSpPr>
          <p:spPr>
            <a:xfrm rot="16200000">
              <a:off x="11659671" y="3328970"/>
              <a:ext cx="752104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algn="ctr" defTabSz="914400" rtl="0" eaLnBrk="1" latinLnBrk="0" hangingPunct="1"/>
              <a:r>
                <a:rPr lang="pt-BR" sz="700" kern="1200" dirty="0">
                  <a:solidFill>
                    <a:schemeClr val="bg2">
                      <a:lumMod val="75000"/>
                    </a:schemeClr>
                  </a:solidFill>
                  <a:latin typeface="Montserrat" panose="00000500000000000000" pitchFamily="2" charset="0"/>
                  <a:ea typeface="Source Serif Pro" panose="02040603050405020204" pitchFamily="18" charset="0"/>
                  <a:cs typeface="Arial" panose="020B0604020202020204" pitchFamily="34" charset="0"/>
                </a:rPr>
                <a:t>Confidencial </a:t>
              </a:r>
            </a:p>
          </p:txBody>
        </p:sp>
        <p:sp>
          <p:nvSpPr>
            <p:cNvPr id="22" name="Retângulo: Cantos Arredondados 19">
              <a:extLst>
                <a:ext uri="{FF2B5EF4-FFF2-40B4-BE49-F238E27FC236}">
                  <a16:creationId xmlns:a16="http://schemas.microsoft.com/office/drawing/2014/main" id="{932E17CE-8A5C-824C-93FC-D45B34A361F3}"/>
                </a:ext>
              </a:extLst>
            </p:cNvPr>
            <p:cNvSpPr/>
            <p:nvPr userDrawn="1"/>
          </p:nvSpPr>
          <p:spPr>
            <a:xfrm>
              <a:off x="11935695" y="2878796"/>
              <a:ext cx="200055" cy="1100408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pic>
        <p:nvPicPr>
          <p:cNvPr id="23" name="Picture 22" descr="A black and white logo&#10;&#10;Description automatically generated">
            <a:extLst>
              <a:ext uri="{FF2B5EF4-FFF2-40B4-BE49-F238E27FC236}">
                <a16:creationId xmlns:a16="http://schemas.microsoft.com/office/drawing/2014/main" id="{5A4B7082-E5C1-0D23-E8F4-BA18431223D0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0" y="6196678"/>
            <a:ext cx="784112" cy="26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492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73" r:id="rId3"/>
    <p:sldLayoutId id="2147483841" r:id="rId4"/>
    <p:sldLayoutId id="2147483842" r:id="rId5"/>
    <p:sldLayoutId id="2147483843" r:id="rId6"/>
    <p:sldLayoutId id="2147483865" r:id="rId7"/>
    <p:sldLayoutId id="2147483866" r:id="rId8"/>
    <p:sldLayoutId id="2147483867" r:id="rId9"/>
    <p:sldLayoutId id="2147483844" r:id="rId10"/>
    <p:sldLayoutId id="2147483845" r:id="rId11"/>
    <p:sldLayoutId id="2147483846" r:id="rId12"/>
    <p:sldLayoutId id="2147483868" r:id="rId13"/>
    <p:sldLayoutId id="2147483847" r:id="rId14"/>
    <p:sldLayoutId id="2147483848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000" b="0" kern="1200" dirty="0">
          <a:solidFill>
            <a:schemeClr val="tx1"/>
          </a:solidFill>
          <a:latin typeface="TT Hoves Pro Trial Medium" panose="020B0003020000020203" pitchFamily="34" charset="0"/>
          <a:ea typeface="Source Serif Pro Black" panose="02040903050405020204" pitchFamily="18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000" b="0" kern="1200">
          <a:solidFill>
            <a:schemeClr val="tx1"/>
          </a:solidFill>
          <a:latin typeface="TT Hoves Pro Trial" panose="020B0003020000020203" pitchFamily="34" charset="0"/>
          <a:ea typeface="Source Serif Pro" panose="02040603050405020204" pitchFamily="18" charset="0"/>
          <a:cs typeface="+mn-cs"/>
        </a:defRPr>
      </a:lvl1pPr>
      <a:lvl2pPr marL="108000" indent="-10800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bg2"/>
        </a:buClr>
        <a:buFont typeface="Arial" panose="020B0604020202020204" pitchFamily="34" charset="0"/>
        <a:buChar char="•"/>
        <a:defRPr sz="1000" b="0" kern="1200">
          <a:solidFill>
            <a:schemeClr val="tx1"/>
          </a:solidFill>
          <a:latin typeface="TT Hoves Pro Trial" panose="020B0003020000020203" pitchFamily="34" charset="0"/>
          <a:ea typeface="Source Serif Pro" panose="02040603050405020204" pitchFamily="18" charset="0"/>
          <a:cs typeface="+mn-cs"/>
        </a:defRPr>
      </a:lvl2pPr>
      <a:lvl3pPr marL="108000" indent="-10800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bg2"/>
        </a:buClr>
        <a:buFont typeface="Source Sans Pro" panose="020B0503030403020204" pitchFamily="34" charset="0"/>
        <a:buChar char="−"/>
        <a:defRPr sz="1000" b="0" kern="1200">
          <a:solidFill>
            <a:schemeClr val="tx1"/>
          </a:solidFill>
          <a:latin typeface="TT Hoves Pro Trial" panose="020B0003020000020203" pitchFamily="34" charset="0"/>
          <a:ea typeface="Source Serif Pro Light" panose="02040303050405020204" pitchFamily="18" charset="0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100" b="0" kern="1200">
          <a:solidFill>
            <a:schemeClr val="tx1"/>
          </a:solidFill>
          <a:latin typeface="TT Hoves Pro Trial Medium" panose="020B0003020000020203" pitchFamily="34" charset="0"/>
          <a:ea typeface="Source Serif Pro" panose="02040603050405020204" pitchFamily="18" charset="0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200" b="0" kern="1200">
          <a:solidFill>
            <a:schemeClr val="tx1"/>
          </a:solidFill>
          <a:latin typeface="TT Hoves Pro Trial Medium" panose="020B0003020000020203" pitchFamily="34" charset="0"/>
          <a:ea typeface="Source Serif Pro Black" panose="02040903050405020204" pitchFamily="18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4" userDrawn="1">
          <p15:clr>
            <a:srgbClr val="F26B43"/>
          </p15:clr>
        </p15:guide>
        <p15:guide id="2" pos="3953" userDrawn="1">
          <p15:clr>
            <a:srgbClr val="F26B43"/>
          </p15:clr>
        </p15:guide>
        <p15:guide id="3" orient="horz" pos="235" userDrawn="1">
          <p15:clr>
            <a:srgbClr val="F26B43"/>
          </p15:clr>
        </p15:guide>
        <p15:guide id="4" orient="horz" pos="481" userDrawn="1">
          <p15:clr>
            <a:srgbClr val="F26B43"/>
          </p15:clr>
        </p15:guide>
        <p15:guide id="5" pos="461" userDrawn="1">
          <p15:clr>
            <a:srgbClr val="F26B43"/>
          </p15:clr>
        </p15:guide>
        <p15:guide id="6" orient="horz" pos="4088" userDrawn="1">
          <p15:clr>
            <a:srgbClr val="F26B43"/>
          </p15:clr>
        </p15:guide>
        <p15:guide id="7" pos="7455" userDrawn="1">
          <p15:clr>
            <a:srgbClr val="F26B43"/>
          </p15:clr>
        </p15:guide>
        <p15:guide id="8" orient="horz" pos="3779" userDrawn="1">
          <p15:clr>
            <a:srgbClr val="F26B43"/>
          </p15:clr>
        </p15:guide>
        <p15:guide id="9" orient="horz" pos="914" userDrawn="1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F471AE-9095-98ED-1C0F-5C5EE5003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705616"/>
            <a:ext cx="11102975" cy="32587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87698-DE24-2CDF-7F29-7AFF04CE0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7" y="1029952"/>
            <a:ext cx="11102975" cy="49692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BFE18-7E5A-2187-2FE5-6C32D2523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837" y="6203951"/>
            <a:ext cx="9726613" cy="16712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>
                <a:solidFill>
                  <a:schemeClr val="bg1">
                    <a:lumMod val="65000"/>
                  </a:schemeClr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25ED2-527C-125D-C897-1F10BFD49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31837" y="6493042"/>
            <a:ext cx="27477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</a:lstStyle>
          <a:p>
            <a:pPr algn="ctr"/>
            <a:fld id="{DBAA5C8A-2239-4F6E-8944-71074356D4E2}" type="slidenum">
              <a:rPr lang="en-US" smtClean="0"/>
              <a:pPr algn="ctr"/>
              <a:t>‹#›</a:t>
            </a:fld>
            <a:endParaRPr lang="en-US" dirty="0"/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9970192A-D4D6-B5CB-0BA2-184D57D62D1C}"/>
              </a:ext>
            </a:extLst>
          </p:cNvPr>
          <p:cNvGrpSpPr/>
          <p:nvPr userDrawn="1"/>
        </p:nvGrpSpPr>
        <p:grpSpPr>
          <a:xfrm rot="5400000">
            <a:off x="1538085" y="6056143"/>
            <a:ext cx="200055" cy="1100408"/>
            <a:chOff x="11935695" y="2878796"/>
            <a:chExt cx="200055" cy="1100408"/>
          </a:xfrm>
        </p:grpSpPr>
        <p:sp>
          <p:nvSpPr>
            <p:cNvPr id="22" name="CaixaDeTexto 18">
              <a:extLst>
                <a:ext uri="{FF2B5EF4-FFF2-40B4-BE49-F238E27FC236}">
                  <a16:creationId xmlns:a16="http://schemas.microsoft.com/office/drawing/2014/main" id="{39452A7E-8FC8-CAF9-7963-10B359F32A27}"/>
                </a:ext>
              </a:extLst>
            </p:cNvPr>
            <p:cNvSpPr txBox="1"/>
            <p:nvPr userDrawn="1"/>
          </p:nvSpPr>
          <p:spPr>
            <a:xfrm rot="16200000">
              <a:off x="11659671" y="3328970"/>
              <a:ext cx="752104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algn="ctr" defTabSz="914400" rtl="0" eaLnBrk="1" latinLnBrk="0" hangingPunct="1"/>
              <a:r>
                <a:rPr lang="pt-BR" sz="700" kern="1200" dirty="0">
                  <a:solidFill>
                    <a:schemeClr val="tx2"/>
                  </a:solidFill>
                  <a:latin typeface="TT Hoves Pro Trial" panose="020B0003020000020203" pitchFamily="34" charset="0"/>
                  <a:ea typeface="Source Serif Pro" panose="02040603050405020204" pitchFamily="18" charset="0"/>
                  <a:cs typeface="Arial" panose="020B0604020202020204" pitchFamily="34" charset="0"/>
                </a:rPr>
                <a:t>Confidencial </a:t>
              </a:r>
            </a:p>
          </p:txBody>
        </p:sp>
        <p:sp>
          <p:nvSpPr>
            <p:cNvPr id="23" name="Retângulo: Cantos Arredondados 19">
              <a:extLst>
                <a:ext uri="{FF2B5EF4-FFF2-40B4-BE49-F238E27FC236}">
                  <a16:creationId xmlns:a16="http://schemas.microsoft.com/office/drawing/2014/main" id="{7D4EABB5-E4F4-A322-42C2-D2AC054C3A04}"/>
                </a:ext>
              </a:extLst>
            </p:cNvPr>
            <p:cNvSpPr/>
            <p:nvPr userDrawn="1"/>
          </p:nvSpPr>
          <p:spPr>
            <a:xfrm>
              <a:off x="11935695" y="2878796"/>
              <a:ext cx="200055" cy="1100408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bg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0A35C3F-4882-EBB7-85E3-DCA4D9E3E529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4812" y="6209401"/>
            <a:ext cx="720000" cy="153960"/>
          </a:xfrm>
          <a:prstGeom prst="rect">
            <a:avLst/>
          </a:prstGeom>
        </p:spPr>
      </p:pic>
      <p:pic>
        <p:nvPicPr>
          <p:cNvPr id="27" name="Gráfico 14">
            <a:extLst>
              <a:ext uri="{FF2B5EF4-FFF2-40B4-BE49-F238E27FC236}">
                <a16:creationId xmlns:a16="http://schemas.microsoft.com/office/drawing/2014/main" id="{30965073-7593-2521-EF38-A01ECDCB2547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493450" y="357006"/>
            <a:ext cx="341362" cy="307776"/>
          </a:xfrm>
          <a:prstGeom prst="rect">
            <a:avLst/>
          </a:prstGeom>
        </p:spPr>
      </p:pic>
      <p:sp>
        <p:nvSpPr>
          <p:cNvPr id="28" name="CaixaDeTexto 3">
            <a:extLst>
              <a:ext uri="{FF2B5EF4-FFF2-40B4-BE49-F238E27FC236}">
                <a16:creationId xmlns:a16="http://schemas.microsoft.com/office/drawing/2014/main" id="{43E1D33A-4889-09A6-019C-44CEABC8B32F}"/>
              </a:ext>
            </a:extLst>
          </p:cNvPr>
          <p:cNvSpPr txBox="1"/>
          <p:nvPr userDrawn="1"/>
        </p:nvSpPr>
        <p:spPr>
          <a:xfrm>
            <a:off x="731838" y="383901"/>
            <a:ext cx="1493777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pt-BR" sz="800" spc="0" baseline="0" dirty="0">
                <a:solidFill>
                  <a:srgbClr val="222F44"/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Arial" panose="020B0604020202020204" pitchFamily="34" charset="0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19238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6" r:id="rId1"/>
    <p:sldLayoutId id="2147484047" r:id="rId2"/>
    <p:sldLayoutId id="2147484048" r:id="rId3"/>
    <p:sldLayoutId id="2147484049" r:id="rId4"/>
    <p:sldLayoutId id="2147484050" r:id="rId5"/>
    <p:sldLayoutId id="2147484051" r:id="rId6"/>
    <p:sldLayoutId id="2147484052" r:id="rId7"/>
    <p:sldLayoutId id="2147484053" r:id="rId8"/>
    <p:sldLayoutId id="2147484054" r:id="rId9"/>
    <p:sldLayoutId id="2147484055" r:id="rId10"/>
    <p:sldLayoutId id="2147484056" r:id="rId11"/>
    <p:sldLayoutId id="2147484057" r:id="rId12"/>
    <p:sldLayoutId id="2147484058" r:id="rId13"/>
    <p:sldLayoutId id="2147484059" r:id="rId14"/>
    <p:sldLayoutId id="2147484060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000" b="0" kern="1200" spc="-20" baseline="0" dirty="0">
          <a:solidFill>
            <a:schemeClr val="tx2"/>
          </a:solidFill>
          <a:latin typeface="TT Hoves Pro Trial Medium" panose="020B0003020000020203" pitchFamily="34" charset="0"/>
          <a:ea typeface="Source Serif Pro Black" panose="02040903050405020204" pitchFamily="18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000" kern="1200" spc="-20" baseline="0">
          <a:solidFill>
            <a:schemeClr val="tx2"/>
          </a:solidFill>
          <a:latin typeface="TT Hoves Pro Trial" panose="020B0003020000020203" pitchFamily="34" charset="0"/>
          <a:ea typeface="Source Serif Pro" panose="02040603050405020204" pitchFamily="18" charset="0"/>
          <a:cs typeface="+mn-cs"/>
        </a:defRPr>
      </a:lvl1pPr>
      <a:lvl2pPr marL="108000" indent="-10800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bg2"/>
        </a:buClr>
        <a:buFont typeface="Arial" panose="020B0604020202020204" pitchFamily="34" charset="0"/>
        <a:buChar char="•"/>
        <a:defRPr sz="1000" kern="1200" spc="-20" baseline="0">
          <a:solidFill>
            <a:schemeClr val="tx2"/>
          </a:solidFill>
          <a:latin typeface="TT Hoves Pro Trial" panose="020B0003020000020203" pitchFamily="34" charset="0"/>
          <a:ea typeface="Source Serif Pro" panose="02040603050405020204" pitchFamily="18" charset="0"/>
          <a:cs typeface="+mn-cs"/>
        </a:defRPr>
      </a:lvl2pPr>
      <a:lvl3pPr marL="108000" indent="-10800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bg2"/>
        </a:buClr>
        <a:buFont typeface="Source Sans Pro" panose="020B0503030403020204" pitchFamily="34" charset="0"/>
        <a:buChar char="−"/>
        <a:defRPr sz="1000" kern="1200" spc="-20" baseline="0">
          <a:solidFill>
            <a:schemeClr val="tx2"/>
          </a:solidFill>
          <a:latin typeface="TT Hoves Pro Trial" panose="020B0003020000020203" pitchFamily="34" charset="0"/>
          <a:ea typeface="Source Serif Pro Light" panose="02040303050405020204" pitchFamily="18" charset="0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100" b="0" kern="1200" spc="-20" baseline="0">
          <a:solidFill>
            <a:schemeClr val="tx2"/>
          </a:solidFill>
          <a:latin typeface="TT Hoves Pro Trial Medium" panose="020B0003020000020203" pitchFamily="34" charset="0"/>
          <a:ea typeface="Source Serif Pro" panose="02040603050405020204" pitchFamily="18" charset="0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000" kern="1200">
          <a:solidFill>
            <a:schemeClr val="tx2"/>
          </a:solidFill>
          <a:latin typeface="TT Hoves Pro Trial "/>
          <a:ea typeface="Source Serif Pro Black" panose="02040903050405020204" pitchFamily="18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>
          <p15:clr>
            <a:srgbClr val="F26B43"/>
          </p15:clr>
        </p15:guide>
        <p15:guide id="2" pos="3953">
          <p15:clr>
            <a:srgbClr val="F26B43"/>
          </p15:clr>
        </p15:guide>
        <p15:guide id="3" orient="horz" pos="255">
          <p15:clr>
            <a:srgbClr val="F26B43"/>
          </p15:clr>
        </p15:guide>
        <p15:guide id="4" orient="horz" pos="436">
          <p15:clr>
            <a:srgbClr val="F26B43"/>
          </p15:clr>
        </p15:guide>
        <p15:guide id="5" pos="461">
          <p15:clr>
            <a:srgbClr val="F26B43"/>
          </p15:clr>
        </p15:guide>
        <p15:guide id="6" orient="horz" pos="4091">
          <p15:clr>
            <a:srgbClr val="F26B43"/>
          </p15:clr>
        </p15:guide>
        <p15:guide id="7" pos="7455">
          <p15:clr>
            <a:srgbClr val="F26B43"/>
          </p15:clr>
        </p15:guide>
        <p15:guide id="8" orient="horz" pos="3779">
          <p15:clr>
            <a:srgbClr val="F26B43"/>
          </p15:clr>
        </p15:guide>
        <p15:guide id="9" orient="horz" pos="91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sv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23.png"/><Relationship Id="rId11" Type="http://schemas.openxmlformats.org/officeDocument/2006/relationships/image" Target="../media/image27.jpg"/><Relationship Id="rId5" Type="http://schemas.openxmlformats.org/officeDocument/2006/relationships/image" Target="../media/image22.png"/><Relationship Id="rId10" Type="http://schemas.openxmlformats.org/officeDocument/2006/relationships/chart" Target="../charts/chart2.xml"/><Relationship Id="rId4" Type="http://schemas.openxmlformats.org/officeDocument/2006/relationships/chart" Target="../charts/chart1.xml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30.png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microsoft.com/office/2007/relationships/hdphoto" Target="../media/hdphoto1.wdp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3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5.png"/><Relationship Id="rId7" Type="http://schemas.openxmlformats.org/officeDocument/2006/relationships/image" Target="../media/image38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37.png"/><Relationship Id="rId5" Type="http://schemas.microsoft.com/office/2007/relationships/hdphoto" Target="../media/hdphoto2.wdp"/><Relationship Id="rId4" Type="http://schemas.openxmlformats.org/officeDocument/2006/relationships/image" Target="../media/image36.png"/><Relationship Id="rId9" Type="http://schemas.openxmlformats.org/officeDocument/2006/relationships/image" Target="../media/image40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18" Type="http://schemas.openxmlformats.org/officeDocument/2006/relationships/image" Target="../media/image56.png"/><Relationship Id="rId26" Type="http://schemas.openxmlformats.org/officeDocument/2006/relationships/image" Target="../media/image62.png"/><Relationship Id="rId3" Type="http://schemas.openxmlformats.org/officeDocument/2006/relationships/image" Target="../media/image41.png"/><Relationship Id="rId21" Type="http://schemas.openxmlformats.org/officeDocument/2006/relationships/image" Target="../media/image59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55.png"/><Relationship Id="rId25" Type="http://schemas.openxmlformats.org/officeDocument/2006/relationships/image" Target="../media/image61.png"/><Relationship Id="rId2" Type="http://schemas.openxmlformats.org/officeDocument/2006/relationships/chart" Target="../charts/chart6.xml"/><Relationship Id="rId16" Type="http://schemas.openxmlformats.org/officeDocument/2006/relationships/image" Target="../media/image54.png"/><Relationship Id="rId20" Type="http://schemas.openxmlformats.org/officeDocument/2006/relationships/image" Target="../media/image58.png"/><Relationship Id="rId29" Type="http://schemas.openxmlformats.org/officeDocument/2006/relationships/image" Target="../media/image39.pn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24" Type="http://schemas.microsoft.com/office/2007/relationships/hdphoto" Target="../media/hdphoto4.wdp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23" Type="http://schemas.openxmlformats.org/officeDocument/2006/relationships/image" Target="../media/image60.png"/><Relationship Id="rId28" Type="http://schemas.openxmlformats.org/officeDocument/2006/relationships/image" Target="../media/image64.png"/><Relationship Id="rId10" Type="http://schemas.openxmlformats.org/officeDocument/2006/relationships/image" Target="../media/image48.png"/><Relationship Id="rId19" Type="http://schemas.openxmlformats.org/officeDocument/2006/relationships/image" Target="../media/image57.png"/><Relationship Id="rId31" Type="http://schemas.openxmlformats.org/officeDocument/2006/relationships/image" Target="../media/image66.jp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jpeg"/><Relationship Id="rId22" Type="http://schemas.microsoft.com/office/2007/relationships/hdphoto" Target="../media/hdphoto3.wdp"/><Relationship Id="rId27" Type="http://schemas.openxmlformats.org/officeDocument/2006/relationships/image" Target="../media/image63.png"/><Relationship Id="rId30" Type="http://schemas.openxmlformats.org/officeDocument/2006/relationships/image" Target="../media/image6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69.png"/><Relationship Id="rId5" Type="http://schemas.microsoft.com/office/2007/relationships/hdphoto" Target="../media/hdphoto5.wdp"/><Relationship Id="rId4" Type="http://schemas.openxmlformats.org/officeDocument/2006/relationships/image" Target="../media/image6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7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76.png"/><Relationship Id="rId17" Type="http://schemas.openxmlformats.org/officeDocument/2006/relationships/image" Target="../media/image69.png"/><Relationship Id="rId2" Type="http://schemas.openxmlformats.org/officeDocument/2006/relationships/notesSlide" Target="../notesSlides/notesSlide3.xml"/><Relationship Id="rId16" Type="http://schemas.openxmlformats.org/officeDocument/2006/relationships/chart" Target="../charts/chart7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72.png"/><Relationship Id="rId11" Type="http://schemas.openxmlformats.org/officeDocument/2006/relationships/image" Target="../media/image75.png"/><Relationship Id="rId5" Type="http://schemas.openxmlformats.org/officeDocument/2006/relationships/image" Target="../media/image71.png"/><Relationship Id="rId15" Type="http://schemas.openxmlformats.org/officeDocument/2006/relationships/image" Target="../media/image79.png"/><Relationship Id="rId10" Type="http://schemas.openxmlformats.org/officeDocument/2006/relationships/image" Target="../media/image74.png"/><Relationship Id="rId4" Type="http://schemas.openxmlformats.org/officeDocument/2006/relationships/image" Target="../media/image70.png"/><Relationship Id="rId9" Type="http://schemas.openxmlformats.org/officeDocument/2006/relationships/image" Target="../media/image39.png"/><Relationship Id="rId14" Type="http://schemas.openxmlformats.org/officeDocument/2006/relationships/image" Target="../media/image7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svg"/><Relationship Id="rId13" Type="http://schemas.openxmlformats.org/officeDocument/2006/relationships/image" Target="../media/image76.png"/><Relationship Id="rId18" Type="http://schemas.openxmlformats.org/officeDocument/2006/relationships/image" Target="../media/image94.png"/><Relationship Id="rId3" Type="http://schemas.openxmlformats.org/officeDocument/2006/relationships/image" Target="../media/image81.png"/><Relationship Id="rId21" Type="http://schemas.microsoft.com/office/2007/relationships/hdphoto" Target="../media/hdphoto1.wdp"/><Relationship Id="rId7" Type="http://schemas.openxmlformats.org/officeDocument/2006/relationships/image" Target="../media/image85.png"/><Relationship Id="rId12" Type="http://schemas.openxmlformats.org/officeDocument/2006/relationships/image" Target="../media/image89.svg"/><Relationship Id="rId17" Type="http://schemas.openxmlformats.org/officeDocument/2006/relationships/image" Target="../media/image93.svg"/><Relationship Id="rId2" Type="http://schemas.openxmlformats.org/officeDocument/2006/relationships/image" Target="../media/image80.jpeg"/><Relationship Id="rId16" Type="http://schemas.openxmlformats.org/officeDocument/2006/relationships/image" Target="../media/image92.svg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84.jpeg"/><Relationship Id="rId11" Type="http://schemas.openxmlformats.org/officeDocument/2006/relationships/image" Target="../media/image88.png"/><Relationship Id="rId5" Type="http://schemas.openxmlformats.org/officeDocument/2006/relationships/image" Target="../media/image83.jpeg"/><Relationship Id="rId15" Type="http://schemas.openxmlformats.org/officeDocument/2006/relationships/image" Target="../media/image91.png"/><Relationship Id="rId10" Type="http://schemas.openxmlformats.org/officeDocument/2006/relationships/image" Target="../media/image32.png"/><Relationship Id="rId19" Type="http://schemas.openxmlformats.org/officeDocument/2006/relationships/image" Target="../media/image66.jpg"/><Relationship Id="rId4" Type="http://schemas.openxmlformats.org/officeDocument/2006/relationships/image" Target="../media/image82.jpeg"/><Relationship Id="rId9" Type="http://schemas.openxmlformats.org/officeDocument/2006/relationships/image" Target="../media/image87.png"/><Relationship Id="rId14" Type="http://schemas.openxmlformats.org/officeDocument/2006/relationships/image" Target="../media/image9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97.png"/><Relationship Id="rId3" Type="http://schemas.openxmlformats.org/officeDocument/2006/relationships/chart" Target="../charts/chart8.xml"/><Relationship Id="rId7" Type="http://schemas.openxmlformats.org/officeDocument/2006/relationships/image" Target="../media/image61.png"/><Relationship Id="rId12" Type="http://schemas.openxmlformats.org/officeDocument/2006/relationships/image" Target="../media/image9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64.png"/><Relationship Id="rId11" Type="http://schemas.openxmlformats.org/officeDocument/2006/relationships/image" Target="../media/image95.png"/><Relationship Id="rId5" Type="http://schemas.microsoft.com/office/2007/relationships/hdphoto" Target="../media/hdphoto4.wdp"/><Relationship Id="rId15" Type="http://schemas.openxmlformats.org/officeDocument/2006/relationships/image" Target="../media/image99.jpg"/><Relationship Id="rId10" Type="http://schemas.microsoft.com/office/2007/relationships/hdphoto" Target="../media/hdphoto3.wdp"/><Relationship Id="rId4" Type="http://schemas.openxmlformats.org/officeDocument/2006/relationships/image" Target="../media/image60.png"/><Relationship Id="rId9" Type="http://schemas.openxmlformats.org/officeDocument/2006/relationships/image" Target="../media/image59.png"/><Relationship Id="rId14" Type="http://schemas.openxmlformats.org/officeDocument/2006/relationships/image" Target="../media/image98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jpeg"/><Relationship Id="rId3" Type="http://schemas.microsoft.com/office/2007/relationships/hdphoto" Target="../media/hdphoto3.wdp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63.png"/><Relationship Id="rId11" Type="http://schemas.openxmlformats.org/officeDocument/2006/relationships/chart" Target="../charts/chart9.xml"/><Relationship Id="rId5" Type="http://schemas.openxmlformats.org/officeDocument/2006/relationships/image" Target="../media/image62.png"/><Relationship Id="rId10" Type="http://schemas.openxmlformats.org/officeDocument/2006/relationships/image" Target="../media/image102.png"/><Relationship Id="rId4" Type="http://schemas.openxmlformats.org/officeDocument/2006/relationships/image" Target="../media/image61.png"/><Relationship Id="rId9" Type="http://schemas.openxmlformats.org/officeDocument/2006/relationships/image" Target="../media/image101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jpeg"/><Relationship Id="rId13" Type="http://schemas.openxmlformats.org/officeDocument/2006/relationships/image" Target="../media/image113.png"/><Relationship Id="rId18" Type="http://schemas.openxmlformats.org/officeDocument/2006/relationships/chart" Target="../charts/chart10.xml"/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12" Type="http://schemas.openxmlformats.org/officeDocument/2006/relationships/image" Target="../media/image112.png"/><Relationship Id="rId17" Type="http://schemas.openxmlformats.org/officeDocument/2006/relationships/image" Target="../media/image117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16.pn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106.jpeg"/><Relationship Id="rId11" Type="http://schemas.openxmlformats.org/officeDocument/2006/relationships/image" Target="../media/image111.png"/><Relationship Id="rId5" Type="http://schemas.openxmlformats.org/officeDocument/2006/relationships/image" Target="../media/image105.jpeg"/><Relationship Id="rId15" Type="http://schemas.openxmlformats.org/officeDocument/2006/relationships/image" Target="../media/image115.png"/><Relationship Id="rId10" Type="http://schemas.openxmlformats.org/officeDocument/2006/relationships/image" Target="../media/image110.png"/><Relationship Id="rId4" Type="http://schemas.openxmlformats.org/officeDocument/2006/relationships/image" Target="../media/image104.png"/><Relationship Id="rId9" Type="http://schemas.openxmlformats.org/officeDocument/2006/relationships/image" Target="../media/image109.png"/><Relationship Id="rId14" Type="http://schemas.openxmlformats.org/officeDocument/2006/relationships/image" Target="../media/image11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jpeg"/><Relationship Id="rId13" Type="http://schemas.openxmlformats.org/officeDocument/2006/relationships/image" Target="../media/image127.svg"/><Relationship Id="rId3" Type="http://schemas.openxmlformats.org/officeDocument/2006/relationships/chart" Target="../charts/chart11.xml"/><Relationship Id="rId7" Type="http://schemas.openxmlformats.org/officeDocument/2006/relationships/image" Target="../media/image121.png"/><Relationship Id="rId12" Type="http://schemas.openxmlformats.org/officeDocument/2006/relationships/image" Target="../media/image126.png"/><Relationship Id="rId17" Type="http://schemas.microsoft.com/office/2007/relationships/hdphoto" Target="../media/hdphoto1.wdp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120.png"/><Relationship Id="rId11" Type="http://schemas.openxmlformats.org/officeDocument/2006/relationships/image" Target="../media/image125.svg"/><Relationship Id="rId5" Type="http://schemas.openxmlformats.org/officeDocument/2006/relationships/image" Target="../media/image119.png"/><Relationship Id="rId15" Type="http://schemas.openxmlformats.org/officeDocument/2006/relationships/image" Target="../media/image129.sv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jpeg"/><Relationship Id="rId14" Type="http://schemas.openxmlformats.org/officeDocument/2006/relationships/image" Target="../media/image1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image" Target="../media/image130.jpg"/><Relationship Id="rId1" Type="http://schemas.openxmlformats.org/officeDocument/2006/relationships/slideLayout" Target="../slideLayouts/slideLayout3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jpg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3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30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chart" Target="../charts/char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133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33ACE6-5C49-709B-F225-B1DEBCDFDCF4}"/>
              </a:ext>
            </a:extLst>
          </p:cNvPr>
          <p:cNvSpPr/>
          <p:nvPr/>
        </p:nvSpPr>
        <p:spPr>
          <a:xfrm>
            <a:off x="0" y="2219325"/>
            <a:ext cx="12192000" cy="463867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pic>
        <p:nvPicPr>
          <p:cNvPr id="4" name="Picture 3" descr="A group of women applying cream on their face&#10;&#10;Description automatically generated">
            <a:extLst>
              <a:ext uri="{FF2B5EF4-FFF2-40B4-BE49-F238E27FC236}">
                <a16:creationId xmlns:a16="http://schemas.microsoft.com/office/drawing/2014/main" id="{2CF2C86B-B651-E5D5-FBE0-23E729A748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" b="6932"/>
          <a:stretch/>
        </p:blipFill>
        <p:spPr>
          <a:xfrm>
            <a:off x="0" y="0"/>
            <a:ext cx="12192000" cy="5685242"/>
          </a:xfrm>
          <a:prstGeom prst="round2SameRect">
            <a:avLst>
              <a:gd name="adj1" fmla="val 0"/>
              <a:gd name="adj2" fmla="val 15104"/>
            </a:avLst>
          </a:prstGeom>
        </p:spPr>
      </p:pic>
      <p:pic>
        <p:nvPicPr>
          <p:cNvPr id="5" name="Gráfico 14">
            <a:extLst>
              <a:ext uri="{FF2B5EF4-FFF2-40B4-BE49-F238E27FC236}">
                <a16:creationId xmlns:a16="http://schemas.microsoft.com/office/drawing/2014/main" id="{56020C73-9CA5-5F16-3458-7191A442C6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92538" y="307274"/>
            <a:ext cx="451161" cy="386290"/>
          </a:xfrm>
          <a:prstGeom prst="rect">
            <a:avLst/>
          </a:prstGeom>
        </p:spPr>
      </p:pic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432C537A-52A5-EB0C-2B29-FDE81A7C9C79}"/>
              </a:ext>
            </a:extLst>
          </p:cNvPr>
          <p:cNvSpPr/>
          <p:nvPr/>
        </p:nvSpPr>
        <p:spPr>
          <a:xfrm>
            <a:off x="3789471" y="4230034"/>
            <a:ext cx="4613059" cy="1727146"/>
          </a:xfrm>
          <a:prstGeom prst="round2DiagRect">
            <a:avLst>
              <a:gd name="adj1" fmla="val 23481"/>
              <a:gd name="adj2" fmla="val 0"/>
            </a:avLst>
          </a:prstGeom>
          <a:solidFill>
            <a:srgbClr val="E2C0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128FE7E-093B-49D5-56BC-A0C36A3AF036}"/>
              </a:ext>
            </a:extLst>
          </p:cNvPr>
          <p:cNvGrpSpPr/>
          <p:nvPr/>
        </p:nvGrpSpPr>
        <p:grpSpPr>
          <a:xfrm>
            <a:off x="5061059" y="5574852"/>
            <a:ext cx="2069882" cy="803966"/>
            <a:chOff x="5153025" y="5757174"/>
            <a:chExt cx="1885950" cy="732526"/>
          </a:xfrm>
        </p:grpSpPr>
        <p:sp>
          <p:nvSpPr>
            <p:cNvPr id="7" name="Rectangle: Diagonal Corners Rounded 6">
              <a:extLst>
                <a:ext uri="{FF2B5EF4-FFF2-40B4-BE49-F238E27FC236}">
                  <a16:creationId xmlns:a16="http://schemas.microsoft.com/office/drawing/2014/main" id="{980E2E74-118C-BAAF-29D4-9C38ABA87EA0}"/>
                </a:ext>
              </a:extLst>
            </p:cNvPr>
            <p:cNvSpPr/>
            <p:nvPr/>
          </p:nvSpPr>
          <p:spPr>
            <a:xfrm>
              <a:off x="5153025" y="5757174"/>
              <a:ext cx="1885950" cy="732526"/>
            </a:xfrm>
            <a:prstGeom prst="round2DiagRect">
              <a:avLst>
                <a:gd name="adj1" fmla="val 27928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2000"/>
                </a:lnSpc>
                <a:spcAft>
                  <a:spcPts val="800"/>
                </a:spcAft>
              </a:pPr>
              <a:endParaRPr lang="pt-BR" sz="1200" dirty="0" err="1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</a:endParaRPr>
            </a:p>
          </p:txBody>
        </p:sp>
        <p:pic>
          <p:nvPicPr>
            <p:cNvPr id="9" name="Picture 8" descr="A black and white logo&#10;&#10;Description automatically generated">
              <a:extLst>
                <a:ext uri="{FF2B5EF4-FFF2-40B4-BE49-F238E27FC236}">
                  <a16:creationId xmlns:a16="http://schemas.microsoft.com/office/drawing/2014/main" id="{507F4233-C45C-5A18-A920-722B8ED51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88326" y="5917965"/>
              <a:ext cx="1215348" cy="410944"/>
            </a:xfrm>
            <a:prstGeom prst="rect">
              <a:avLst/>
            </a:prstGeom>
          </p:spPr>
        </p:pic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1008F729-9E25-4DF1-0D60-D28779136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5803" y="4551468"/>
            <a:ext cx="4860395" cy="553998"/>
          </a:xfrm>
        </p:spPr>
        <p:txBody>
          <a:bodyPr/>
          <a:lstStyle/>
          <a:p>
            <a:pPr algn="ctr"/>
            <a:r>
              <a:rPr lang="pt-BR" sz="4000" b="1" dirty="0">
                <a:solidFill>
                  <a:schemeClr val="bg1"/>
                </a:solidFill>
                <a:latin typeface="Montserrat" pitchFamily="2" charset="0"/>
              </a:rPr>
              <a:t>Projeto XXX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8992FC3-1BFC-247D-35E3-D3D33E7BF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76460" y="5057064"/>
            <a:ext cx="3639080" cy="394646"/>
          </a:xfrm>
        </p:spPr>
        <p:txBody>
          <a:bodyPr/>
          <a:lstStyle/>
          <a:p>
            <a:pPr algn="ctr"/>
            <a:r>
              <a:rPr lang="pt-BR" dirty="0">
                <a:latin typeface="Montserrat" pitchFamily="2" charset="0"/>
              </a:rPr>
              <a:t> Memorando de Informações</a:t>
            </a:r>
          </a:p>
        </p:txBody>
      </p:sp>
    </p:spTree>
    <p:extLst>
      <p:ext uri="{BB962C8B-B14F-4D97-AF65-F5344CB8AC3E}">
        <p14:creationId xmlns:p14="http://schemas.microsoft.com/office/powerpoint/2010/main" val="1843752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B7A45028-A249-C25E-0A55-956712AD437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198" t="14675" r="1" b="1477"/>
          <a:stretch/>
        </p:blipFill>
        <p:spPr>
          <a:xfrm>
            <a:off x="-1422399" y="0"/>
            <a:ext cx="9258594" cy="6858000"/>
          </a:xfrm>
          <a:prstGeom prst="roundRect">
            <a:avLst>
              <a:gd name="adj" fmla="val 8080"/>
            </a:avLst>
          </a:prstGeom>
        </p:spPr>
      </p:pic>
      <p:sp>
        <p:nvSpPr>
          <p:cNvPr id="5" name="CaixaDeTexto 7">
            <a:extLst>
              <a:ext uri="{FF2B5EF4-FFF2-40B4-BE49-F238E27FC236}">
                <a16:creationId xmlns:a16="http://schemas.microsoft.com/office/drawing/2014/main" id="{FD79ACCB-6AB3-CFDA-77F6-6FE014E6C0F3}"/>
              </a:ext>
            </a:extLst>
          </p:cNvPr>
          <p:cNvSpPr txBox="1"/>
          <p:nvPr/>
        </p:nvSpPr>
        <p:spPr>
          <a:xfrm>
            <a:off x="8751094" y="2166411"/>
            <a:ext cx="2343243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 w="12700"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Montserrat" panose="00000500000000000000" pitchFamily="2" charset="0"/>
                <a:ea typeface="Source Serif Pro Black" panose="02040903050405020204" pitchFamily="18" charset="0"/>
                <a:cs typeface="Times New Roman" panose="02020603050405020304" pitchFamily="18" charset="0"/>
              </a:rPr>
              <a:t>Índice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19B2507-8B0D-3D8A-57C3-12C3C7A7CE7F}"/>
              </a:ext>
            </a:extLst>
          </p:cNvPr>
          <p:cNvGrpSpPr/>
          <p:nvPr/>
        </p:nvGrpSpPr>
        <p:grpSpPr>
          <a:xfrm>
            <a:off x="8751095" y="2978611"/>
            <a:ext cx="2595636" cy="169277"/>
            <a:chOff x="8751095" y="2921461"/>
            <a:chExt cx="2595636" cy="169277"/>
          </a:xfrm>
        </p:grpSpPr>
        <p:sp>
          <p:nvSpPr>
            <p:cNvPr id="6" name="CaixaDeTexto 25">
              <a:extLst>
                <a:ext uri="{FF2B5EF4-FFF2-40B4-BE49-F238E27FC236}">
                  <a16:creationId xmlns:a16="http://schemas.microsoft.com/office/drawing/2014/main" id="{836ACABD-C067-6692-CF33-DE75424446FF}"/>
                </a:ext>
              </a:extLst>
            </p:cNvPr>
            <p:cNvSpPr txBox="1"/>
            <p:nvPr/>
          </p:nvSpPr>
          <p:spPr>
            <a:xfrm>
              <a:off x="8751095" y="2921461"/>
              <a:ext cx="2094705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pt-BR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ource Serif Pro" panose="02040603050405020204" pitchFamily="18" charset="0"/>
                  <a:ea typeface="Source Serif Pro" panose="02040603050405020204" pitchFamily="18" charset="0"/>
                  <a:cs typeface="Arial" panose="020B0604020202020204" pitchFamily="34" charset="0"/>
                </a:defRPr>
              </a:lvl1pPr>
            </a:lstStyle>
            <a:p>
              <a:r>
                <a:rPr lang="pt-BR" sz="1100" b="1" dirty="0">
                  <a:latin typeface="Montserrat" panose="00000500000000000000" pitchFamily="2" charset="0"/>
                </a:rPr>
                <a:t>Sumário Executivo</a:t>
              </a:r>
            </a:p>
          </p:txBody>
        </p:sp>
        <p:sp>
          <p:nvSpPr>
            <p:cNvPr id="7" name="CaixaDeTexto 27">
              <a:extLst>
                <a:ext uri="{FF2B5EF4-FFF2-40B4-BE49-F238E27FC236}">
                  <a16:creationId xmlns:a16="http://schemas.microsoft.com/office/drawing/2014/main" id="{833A7633-5D9D-D710-BB1F-7CFAAA5B6E35}"/>
                </a:ext>
              </a:extLst>
            </p:cNvPr>
            <p:cNvSpPr txBox="1"/>
            <p:nvPr/>
          </p:nvSpPr>
          <p:spPr>
            <a:xfrm>
              <a:off x="10918283" y="2921461"/>
              <a:ext cx="428448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pt-BR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ource Serif Pro" panose="02040603050405020204" pitchFamily="18" charset="0"/>
                  <a:ea typeface="Source Serif Pro" panose="02040603050405020204" pitchFamily="18" charset="0"/>
                  <a:cs typeface="Arial" panose="020B0604020202020204" pitchFamily="34" charset="0"/>
                </a:defRPr>
              </a:lvl1pPr>
            </a:lstStyle>
            <a:p>
              <a:pPr algn="r"/>
              <a:r>
                <a:rPr lang="pt-BR" sz="1100" b="1" dirty="0">
                  <a:latin typeface="Montserrat" panose="00000500000000000000" pitchFamily="2" charset="0"/>
                </a:rPr>
                <a:t>XXX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1E0EABE-90B2-1316-4A4F-579056DE689B}"/>
              </a:ext>
            </a:extLst>
          </p:cNvPr>
          <p:cNvGrpSpPr/>
          <p:nvPr/>
        </p:nvGrpSpPr>
        <p:grpSpPr>
          <a:xfrm>
            <a:off x="8751095" y="3524316"/>
            <a:ext cx="2595636" cy="169277"/>
            <a:chOff x="8751095" y="3467166"/>
            <a:chExt cx="2595636" cy="169277"/>
          </a:xfrm>
        </p:grpSpPr>
        <p:sp>
          <p:nvSpPr>
            <p:cNvPr id="8" name="CaixaDeTexto 22">
              <a:extLst>
                <a:ext uri="{FF2B5EF4-FFF2-40B4-BE49-F238E27FC236}">
                  <a16:creationId xmlns:a16="http://schemas.microsoft.com/office/drawing/2014/main" id="{559327CA-F2B3-A860-9BCD-619CB95B8F7B}"/>
                </a:ext>
              </a:extLst>
            </p:cNvPr>
            <p:cNvSpPr txBox="1"/>
            <p:nvPr/>
          </p:nvSpPr>
          <p:spPr>
            <a:xfrm>
              <a:off x="8751095" y="3467166"/>
              <a:ext cx="1644924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pt-BR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ource Serif Pro" panose="02040603050405020204" pitchFamily="18" charset="0"/>
                  <a:ea typeface="Source Serif Pro" panose="02040603050405020204" pitchFamily="18" charset="0"/>
                  <a:cs typeface="Arial" panose="020B0604020202020204" pitchFamily="34" charset="0"/>
                </a:defRPr>
              </a:lvl1pPr>
            </a:lstStyle>
            <a:p>
              <a:r>
                <a:rPr lang="pt-BR" sz="1100" dirty="0">
                  <a:solidFill>
                    <a:schemeClr val="accent1">
                      <a:lumMod val="90000"/>
                    </a:schemeClr>
                  </a:solidFill>
                  <a:latin typeface="Montserrat" panose="00000500000000000000" pitchFamily="2" charset="0"/>
                </a:rPr>
                <a:t>Tese de Investimento</a:t>
              </a:r>
            </a:p>
          </p:txBody>
        </p:sp>
        <p:sp>
          <p:nvSpPr>
            <p:cNvPr id="9" name="CaixaDeTexto 24">
              <a:extLst>
                <a:ext uri="{FF2B5EF4-FFF2-40B4-BE49-F238E27FC236}">
                  <a16:creationId xmlns:a16="http://schemas.microsoft.com/office/drawing/2014/main" id="{A72CB28D-71D0-8D0B-7B60-70C8F1B7D856}"/>
                </a:ext>
              </a:extLst>
            </p:cNvPr>
            <p:cNvSpPr txBox="1"/>
            <p:nvPr/>
          </p:nvSpPr>
          <p:spPr>
            <a:xfrm>
              <a:off x="10918283" y="3467166"/>
              <a:ext cx="428448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pt-BR"/>
              </a:defPPr>
              <a:lvl1pPr marR="0" lvl="0" indent="0" algn="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ource Serif Pro" panose="02040603050405020204" pitchFamily="18" charset="0"/>
                  <a:ea typeface="Source Serif Pro" panose="02040603050405020204" pitchFamily="18" charset="0"/>
                  <a:cs typeface="Arial" panose="020B0604020202020204" pitchFamily="34" charset="0"/>
                </a:defRPr>
              </a:lvl1pPr>
            </a:lstStyle>
            <a:p>
              <a:r>
                <a:rPr lang="pt-BR" sz="1100" dirty="0">
                  <a:solidFill>
                    <a:schemeClr val="accent1">
                      <a:lumMod val="90000"/>
                    </a:schemeClr>
                  </a:solidFill>
                  <a:latin typeface="Montserrat" panose="00000500000000000000" pitchFamily="2" charset="0"/>
                </a:rPr>
                <a:t>XXX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96D47C7-2091-0424-6A87-11647777CB6E}"/>
              </a:ext>
            </a:extLst>
          </p:cNvPr>
          <p:cNvGrpSpPr/>
          <p:nvPr/>
        </p:nvGrpSpPr>
        <p:grpSpPr>
          <a:xfrm>
            <a:off x="8751095" y="4070021"/>
            <a:ext cx="2595636" cy="169277"/>
            <a:chOff x="8751095" y="4012871"/>
            <a:chExt cx="2595636" cy="169277"/>
          </a:xfrm>
        </p:grpSpPr>
        <p:sp>
          <p:nvSpPr>
            <p:cNvPr id="10" name="CaixaDeTexto 19">
              <a:extLst>
                <a:ext uri="{FF2B5EF4-FFF2-40B4-BE49-F238E27FC236}">
                  <a16:creationId xmlns:a16="http://schemas.microsoft.com/office/drawing/2014/main" id="{3B7EA016-3379-9159-CFE1-4950F0C21F58}"/>
                </a:ext>
              </a:extLst>
            </p:cNvPr>
            <p:cNvSpPr txBox="1"/>
            <p:nvPr/>
          </p:nvSpPr>
          <p:spPr>
            <a:xfrm>
              <a:off x="8751095" y="4012871"/>
              <a:ext cx="1978782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90000"/>
                    </a:schemeClr>
                  </a:solidFill>
                  <a:effectLst/>
                  <a:uLnTx/>
                  <a:uFillTx/>
                  <a:latin typeface="Montserrat" panose="00000500000000000000" pitchFamily="2" charset="0"/>
                  <a:ea typeface="Source Serif Pro" panose="02040603050405020204" pitchFamily="18" charset="0"/>
                  <a:cs typeface="Arial" panose="020B0604020202020204" pitchFamily="34" charset="0"/>
                </a:rPr>
                <a:t>Overview da Companhia</a:t>
              </a:r>
            </a:p>
          </p:txBody>
        </p:sp>
        <p:sp>
          <p:nvSpPr>
            <p:cNvPr id="11" name="CaixaDeTexto 21">
              <a:extLst>
                <a:ext uri="{FF2B5EF4-FFF2-40B4-BE49-F238E27FC236}">
                  <a16:creationId xmlns:a16="http://schemas.microsoft.com/office/drawing/2014/main" id="{A7E2E72D-E3C4-251D-6587-B98D4A3D984F}"/>
                </a:ext>
              </a:extLst>
            </p:cNvPr>
            <p:cNvSpPr txBox="1"/>
            <p:nvPr/>
          </p:nvSpPr>
          <p:spPr>
            <a:xfrm>
              <a:off x="10918283" y="4012871"/>
              <a:ext cx="428448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90000"/>
                    </a:schemeClr>
                  </a:solidFill>
                  <a:effectLst/>
                  <a:uLnTx/>
                  <a:uFillTx/>
                  <a:latin typeface="Montserrat" panose="00000500000000000000" pitchFamily="2" charset="0"/>
                  <a:ea typeface="Source Serif Pro" panose="02040603050405020204" pitchFamily="18" charset="0"/>
                  <a:cs typeface="Arial" panose="020B0604020202020204" pitchFamily="34" charset="0"/>
                </a:rPr>
                <a:t>XXX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6D03923-8C23-8BC1-7802-E3C399320153}"/>
              </a:ext>
            </a:extLst>
          </p:cNvPr>
          <p:cNvGrpSpPr/>
          <p:nvPr/>
        </p:nvGrpSpPr>
        <p:grpSpPr>
          <a:xfrm>
            <a:off x="8751095" y="4615726"/>
            <a:ext cx="2595636" cy="169277"/>
            <a:chOff x="8751095" y="4558576"/>
            <a:chExt cx="2595636" cy="169277"/>
          </a:xfrm>
        </p:grpSpPr>
        <p:sp>
          <p:nvSpPr>
            <p:cNvPr id="12" name="CaixaDeTexto 16">
              <a:extLst>
                <a:ext uri="{FF2B5EF4-FFF2-40B4-BE49-F238E27FC236}">
                  <a16:creationId xmlns:a16="http://schemas.microsoft.com/office/drawing/2014/main" id="{2583548C-E4E2-C6EC-C6B5-AB33E9F6FFD7}"/>
                </a:ext>
              </a:extLst>
            </p:cNvPr>
            <p:cNvSpPr txBox="1"/>
            <p:nvPr/>
          </p:nvSpPr>
          <p:spPr>
            <a:xfrm>
              <a:off x="8751095" y="4558576"/>
              <a:ext cx="1978782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90000"/>
                    </a:schemeClr>
                  </a:solidFill>
                  <a:effectLst/>
                  <a:uLnTx/>
                  <a:uFillTx/>
                  <a:latin typeface="Montserrat" panose="00000500000000000000" pitchFamily="2" charset="0"/>
                  <a:ea typeface="Source Serif Pro" panose="02040603050405020204" pitchFamily="18" charset="0"/>
                  <a:cs typeface="Arial" panose="020B0604020202020204" pitchFamily="34" charset="0"/>
                </a:rPr>
                <a:t>Informações Financeiras</a:t>
              </a:r>
            </a:p>
          </p:txBody>
        </p:sp>
        <p:sp>
          <p:nvSpPr>
            <p:cNvPr id="13" name="CaixaDeTexto 18">
              <a:extLst>
                <a:ext uri="{FF2B5EF4-FFF2-40B4-BE49-F238E27FC236}">
                  <a16:creationId xmlns:a16="http://schemas.microsoft.com/office/drawing/2014/main" id="{6882C907-1E39-1D54-CB86-66513C81CE4F}"/>
                </a:ext>
              </a:extLst>
            </p:cNvPr>
            <p:cNvSpPr txBox="1"/>
            <p:nvPr/>
          </p:nvSpPr>
          <p:spPr>
            <a:xfrm>
              <a:off x="10918283" y="4558576"/>
              <a:ext cx="428448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90000"/>
                    </a:schemeClr>
                  </a:solidFill>
                  <a:effectLst/>
                  <a:uLnTx/>
                  <a:uFillTx/>
                  <a:latin typeface="Montserrat" panose="00000500000000000000" pitchFamily="2" charset="0"/>
                  <a:ea typeface="Source Serif Pro" panose="02040603050405020204" pitchFamily="18" charset="0"/>
                  <a:cs typeface="Arial" panose="020B0604020202020204" pitchFamily="34" charset="0"/>
                </a:rPr>
                <a:t>XXX</a:t>
              </a:r>
            </a:p>
          </p:txBody>
        </p:sp>
      </p:grpSp>
      <p:pic>
        <p:nvPicPr>
          <p:cNvPr id="19" name="Gráfico 14">
            <a:extLst>
              <a:ext uri="{FF2B5EF4-FFF2-40B4-BE49-F238E27FC236}">
                <a16:creationId xmlns:a16="http://schemas.microsoft.com/office/drawing/2014/main" id="{7FF966E9-9692-C967-EC1C-C3B983BB7C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92538" y="307274"/>
            <a:ext cx="451161" cy="386290"/>
          </a:xfrm>
          <a:prstGeom prst="rect">
            <a:avLst/>
          </a:prstGeom>
        </p:spPr>
      </p:pic>
      <p:pic>
        <p:nvPicPr>
          <p:cNvPr id="20" name="Picture 19" descr="A black and white logo&#10;&#10;Description automatically generated">
            <a:extLst>
              <a:ext uri="{FF2B5EF4-FFF2-40B4-BE49-F238E27FC236}">
                <a16:creationId xmlns:a16="http://schemas.microsoft.com/office/drawing/2014/main" id="{04ED3035-EF34-8B9A-B443-931BF8084F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9900" y="6095907"/>
            <a:ext cx="1196500" cy="40457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1ACC8B2A-CA78-19AF-45B9-DD4338E373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752600" y="-161925"/>
            <a:ext cx="1752600" cy="7286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399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B7A45028-A249-C25E-0A55-956712AD437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867" t="4058" r="-1" b="8636"/>
          <a:stretch/>
        </p:blipFill>
        <p:spPr>
          <a:xfrm>
            <a:off x="-1422399" y="0"/>
            <a:ext cx="9258594" cy="6858000"/>
          </a:xfrm>
          <a:prstGeom prst="roundRect">
            <a:avLst>
              <a:gd name="adj" fmla="val 8080"/>
            </a:avLst>
          </a:prstGeom>
        </p:spPr>
      </p:pic>
      <p:sp>
        <p:nvSpPr>
          <p:cNvPr id="5" name="CaixaDeTexto 7">
            <a:extLst>
              <a:ext uri="{FF2B5EF4-FFF2-40B4-BE49-F238E27FC236}">
                <a16:creationId xmlns:a16="http://schemas.microsoft.com/office/drawing/2014/main" id="{FD79ACCB-6AB3-CFDA-77F6-6FE014E6C0F3}"/>
              </a:ext>
            </a:extLst>
          </p:cNvPr>
          <p:cNvSpPr txBox="1"/>
          <p:nvPr/>
        </p:nvSpPr>
        <p:spPr>
          <a:xfrm>
            <a:off x="8751094" y="2166411"/>
            <a:ext cx="2343243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 w="12700"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Montserrat" panose="00000500000000000000" pitchFamily="2" charset="0"/>
                <a:ea typeface="Source Serif Pro Black" panose="02040903050405020204" pitchFamily="18" charset="0"/>
                <a:cs typeface="Times New Roman" panose="02020603050405020304" pitchFamily="18" charset="0"/>
              </a:rPr>
              <a:t>Índice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19B2507-8B0D-3D8A-57C3-12C3C7A7CE7F}"/>
              </a:ext>
            </a:extLst>
          </p:cNvPr>
          <p:cNvGrpSpPr/>
          <p:nvPr/>
        </p:nvGrpSpPr>
        <p:grpSpPr>
          <a:xfrm>
            <a:off x="8751095" y="2978611"/>
            <a:ext cx="2595636" cy="169277"/>
            <a:chOff x="8751095" y="2921461"/>
            <a:chExt cx="2595636" cy="169277"/>
          </a:xfrm>
        </p:grpSpPr>
        <p:sp>
          <p:nvSpPr>
            <p:cNvPr id="6" name="CaixaDeTexto 25">
              <a:extLst>
                <a:ext uri="{FF2B5EF4-FFF2-40B4-BE49-F238E27FC236}">
                  <a16:creationId xmlns:a16="http://schemas.microsoft.com/office/drawing/2014/main" id="{836ACABD-C067-6692-CF33-DE75424446FF}"/>
                </a:ext>
              </a:extLst>
            </p:cNvPr>
            <p:cNvSpPr txBox="1"/>
            <p:nvPr/>
          </p:nvSpPr>
          <p:spPr>
            <a:xfrm>
              <a:off x="8751095" y="2921461"/>
              <a:ext cx="2094705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pt-BR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ource Serif Pro" panose="02040603050405020204" pitchFamily="18" charset="0"/>
                  <a:ea typeface="Source Serif Pro" panose="02040603050405020204" pitchFamily="18" charset="0"/>
                  <a:cs typeface="Arial" panose="020B0604020202020204" pitchFamily="34" charset="0"/>
                </a:defRPr>
              </a:lvl1pPr>
            </a:lstStyle>
            <a:p>
              <a:r>
                <a:rPr lang="pt-BR" sz="1100" dirty="0">
                  <a:solidFill>
                    <a:schemeClr val="accent1">
                      <a:lumMod val="90000"/>
                    </a:schemeClr>
                  </a:solidFill>
                  <a:latin typeface="Montserrat" panose="00000500000000000000" pitchFamily="2" charset="0"/>
                </a:rPr>
                <a:t>Sumário Executivo</a:t>
              </a:r>
            </a:p>
          </p:txBody>
        </p:sp>
        <p:sp>
          <p:nvSpPr>
            <p:cNvPr id="7" name="CaixaDeTexto 27">
              <a:extLst>
                <a:ext uri="{FF2B5EF4-FFF2-40B4-BE49-F238E27FC236}">
                  <a16:creationId xmlns:a16="http://schemas.microsoft.com/office/drawing/2014/main" id="{833A7633-5D9D-D710-BB1F-7CFAAA5B6E35}"/>
                </a:ext>
              </a:extLst>
            </p:cNvPr>
            <p:cNvSpPr txBox="1"/>
            <p:nvPr/>
          </p:nvSpPr>
          <p:spPr>
            <a:xfrm>
              <a:off x="10918283" y="2921461"/>
              <a:ext cx="428448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pt-BR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ource Serif Pro" panose="02040603050405020204" pitchFamily="18" charset="0"/>
                  <a:ea typeface="Source Serif Pro" panose="02040603050405020204" pitchFamily="18" charset="0"/>
                  <a:cs typeface="Arial" panose="020B0604020202020204" pitchFamily="34" charset="0"/>
                </a:defRPr>
              </a:lvl1pPr>
            </a:lstStyle>
            <a:p>
              <a:pPr algn="r"/>
              <a:r>
                <a:rPr lang="pt-BR" sz="1100" dirty="0">
                  <a:solidFill>
                    <a:schemeClr val="accent1">
                      <a:lumMod val="90000"/>
                    </a:schemeClr>
                  </a:solidFill>
                  <a:latin typeface="Montserrat" panose="00000500000000000000" pitchFamily="2" charset="0"/>
                </a:rPr>
                <a:t>XXX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1E0EABE-90B2-1316-4A4F-579056DE689B}"/>
              </a:ext>
            </a:extLst>
          </p:cNvPr>
          <p:cNvGrpSpPr/>
          <p:nvPr/>
        </p:nvGrpSpPr>
        <p:grpSpPr>
          <a:xfrm>
            <a:off x="8751095" y="3524316"/>
            <a:ext cx="2595636" cy="169277"/>
            <a:chOff x="8751095" y="3467166"/>
            <a:chExt cx="2595636" cy="169277"/>
          </a:xfrm>
        </p:grpSpPr>
        <p:sp>
          <p:nvSpPr>
            <p:cNvPr id="8" name="CaixaDeTexto 22">
              <a:extLst>
                <a:ext uri="{FF2B5EF4-FFF2-40B4-BE49-F238E27FC236}">
                  <a16:creationId xmlns:a16="http://schemas.microsoft.com/office/drawing/2014/main" id="{559327CA-F2B3-A860-9BCD-619CB95B8F7B}"/>
                </a:ext>
              </a:extLst>
            </p:cNvPr>
            <p:cNvSpPr txBox="1"/>
            <p:nvPr/>
          </p:nvSpPr>
          <p:spPr>
            <a:xfrm>
              <a:off x="8751095" y="3467166"/>
              <a:ext cx="1644924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pt-BR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ource Serif Pro" panose="02040603050405020204" pitchFamily="18" charset="0"/>
                  <a:ea typeface="Source Serif Pro" panose="02040603050405020204" pitchFamily="18" charset="0"/>
                  <a:cs typeface="Arial" panose="020B0604020202020204" pitchFamily="34" charset="0"/>
                </a:defRPr>
              </a:lvl1pPr>
            </a:lstStyle>
            <a:p>
              <a:r>
                <a:rPr lang="pt-BR" sz="1100" b="1" dirty="0">
                  <a:latin typeface="Montserrat" panose="00000500000000000000" pitchFamily="2" charset="0"/>
                </a:rPr>
                <a:t>Tese de Investimento</a:t>
              </a:r>
            </a:p>
          </p:txBody>
        </p:sp>
        <p:sp>
          <p:nvSpPr>
            <p:cNvPr id="9" name="CaixaDeTexto 24">
              <a:extLst>
                <a:ext uri="{FF2B5EF4-FFF2-40B4-BE49-F238E27FC236}">
                  <a16:creationId xmlns:a16="http://schemas.microsoft.com/office/drawing/2014/main" id="{A72CB28D-71D0-8D0B-7B60-70C8F1B7D856}"/>
                </a:ext>
              </a:extLst>
            </p:cNvPr>
            <p:cNvSpPr txBox="1"/>
            <p:nvPr/>
          </p:nvSpPr>
          <p:spPr>
            <a:xfrm>
              <a:off x="10918283" y="3467166"/>
              <a:ext cx="428448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pt-BR"/>
              </a:defPPr>
              <a:lvl1pPr marR="0" lvl="0" indent="0" algn="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ource Serif Pro" panose="02040603050405020204" pitchFamily="18" charset="0"/>
                  <a:ea typeface="Source Serif Pro" panose="02040603050405020204" pitchFamily="18" charset="0"/>
                  <a:cs typeface="Arial" panose="020B0604020202020204" pitchFamily="34" charset="0"/>
                </a:defRPr>
              </a:lvl1pPr>
            </a:lstStyle>
            <a:p>
              <a:r>
                <a:rPr lang="pt-BR" sz="1100" b="1" dirty="0">
                  <a:latin typeface="Montserrat" panose="00000500000000000000" pitchFamily="2" charset="0"/>
                </a:rPr>
                <a:t>XXX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96D47C7-2091-0424-6A87-11647777CB6E}"/>
              </a:ext>
            </a:extLst>
          </p:cNvPr>
          <p:cNvGrpSpPr/>
          <p:nvPr/>
        </p:nvGrpSpPr>
        <p:grpSpPr>
          <a:xfrm>
            <a:off x="8751095" y="4070021"/>
            <a:ext cx="2595636" cy="169277"/>
            <a:chOff x="8751095" y="4012871"/>
            <a:chExt cx="2595636" cy="169277"/>
          </a:xfrm>
        </p:grpSpPr>
        <p:sp>
          <p:nvSpPr>
            <p:cNvPr id="10" name="CaixaDeTexto 19">
              <a:extLst>
                <a:ext uri="{FF2B5EF4-FFF2-40B4-BE49-F238E27FC236}">
                  <a16:creationId xmlns:a16="http://schemas.microsoft.com/office/drawing/2014/main" id="{3B7EA016-3379-9159-CFE1-4950F0C21F58}"/>
                </a:ext>
              </a:extLst>
            </p:cNvPr>
            <p:cNvSpPr txBox="1"/>
            <p:nvPr/>
          </p:nvSpPr>
          <p:spPr>
            <a:xfrm>
              <a:off x="8751095" y="4012871"/>
              <a:ext cx="1978782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90000"/>
                    </a:schemeClr>
                  </a:solidFill>
                  <a:effectLst/>
                  <a:uLnTx/>
                  <a:uFillTx/>
                  <a:latin typeface="Montserrat" panose="00000500000000000000" pitchFamily="2" charset="0"/>
                  <a:ea typeface="Source Serif Pro" panose="02040603050405020204" pitchFamily="18" charset="0"/>
                  <a:cs typeface="Arial" panose="020B0604020202020204" pitchFamily="34" charset="0"/>
                </a:rPr>
                <a:t>Overview da Companhia</a:t>
              </a:r>
            </a:p>
          </p:txBody>
        </p:sp>
        <p:sp>
          <p:nvSpPr>
            <p:cNvPr id="11" name="CaixaDeTexto 21">
              <a:extLst>
                <a:ext uri="{FF2B5EF4-FFF2-40B4-BE49-F238E27FC236}">
                  <a16:creationId xmlns:a16="http://schemas.microsoft.com/office/drawing/2014/main" id="{A7E2E72D-E3C4-251D-6587-B98D4A3D984F}"/>
                </a:ext>
              </a:extLst>
            </p:cNvPr>
            <p:cNvSpPr txBox="1"/>
            <p:nvPr/>
          </p:nvSpPr>
          <p:spPr>
            <a:xfrm>
              <a:off x="10918283" y="4012871"/>
              <a:ext cx="428448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90000"/>
                    </a:schemeClr>
                  </a:solidFill>
                  <a:effectLst/>
                  <a:uLnTx/>
                  <a:uFillTx/>
                  <a:latin typeface="Montserrat" panose="00000500000000000000" pitchFamily="2" charset="0"/>
                  <a:ea typeface="Source Serif Pro" panose="02040603050405020204" pitchFamily="18" charset="0"/>
                  <a:cs typeface="Arial" panose="020B0604020202020204" pitchFamily="34" charset="0"/>
                </a:rPr>
                <a:t>XXX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6D03923-8C23-8BC1-7802-E3C399320153}"/>
              </a:ext>
            </a:extLst>
          </p:cNvPr>
          <p:cNvGrpSpPr/>
          <p:nvPr/>
        </p:nvGrpSpPr>
        <p:grpSpPr>
          <a:xfrm>
            <a:off x="8751095" y="4615726"/>
            <a:ext cx="2595636" cy="169277"/>
            <a:chOff x="8751095" y="4558576"/>
            <a:chExt cx="2595636" cy="169277"/>
          </a:xfrm>
        </p:grpSpPr>
        <p:sp>
          <p:nvSpPr>
            <p:cNvPr id="12" name="CaixaDeTexto 16">
              <a:extLst>
                <a:ext uri="{FF2B5EF4-FFF2-40B4-BE49-F238E27FC236}">
                  <a16:creationId xmlns:a16="http://schemas.microsoft.com/office/drawing/2014/main" id="{2583548C-E4E2-C6EC-C6B5-AB33E9F6FFD7}"/>
                </a:ext>
              </a:extLst>
            </p:cNvPr>
            <p:cNvSpPr txBox="1"/>
            <p:nvPr/>
          </p:nvSpPr>
          <p:spPr>
            <a:xfrm>
              <a:off x="8751095" y="4558576"/>
              <a:ext cx="1978782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90000"/>
                    </a:schemeClr>
                  </a:solidFill>
                  <a:effectLst/>
                  <a:uLnTx/>
                  <a:uFillTx/>
                  <a:latin typeface="Montserrat" panose="00000500000000000000" pitchFamily="2" charset="0"/>
                  <a:ea typeface="Source Serif Pro" panose="02040603050405020204" pitchFamily="18" charset="0"/>
                  <a:cs typeface="Arial" panose="020B0604020202020204" pitchFamily="34" charset="0"/>
                </a:rPr>
                <a:t>Informações Financeiras</a:t>
              </a:r>
            </a:p>
          </p:txBody>
        </p:sp>
        <p:sp>
          <p:nvSpPr>
            <p:cNvPr id="13" name="CaixaDeTexto 18">
              <a:extLst>
                <a:ext uri="{FF2B5EF4-FFF2-40B4-BE49-F238E27FC236}">
                  <a16:creationId xmlns:a16="http://schemas.microsoft.com/office/drawing/2014/main" id="{6882C907-1E39-1D54-CB86-66513C81CE4F}"/>
                </a:ext>
              </a:extLst>
            </p:cNvPr>
            <p:cNvSpPr txBox="1"/>
            <p:nvPr/>
          </p:nvSpPr>
          <p:spPr>
            <a:xfrm>
              <a:off x="10918283" y="4558576"/>
              <a:ext cx="428448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90000"/>
                    </a:schemeClr>
                  </a:solidFill>
                  <a:effectLst/>
                  <a:uLnTx/>
                  <a:uFillTx/>
                  <a:latin typeface="Montserrat" panose="00000500000000000000" pitchFamily="2" charset="0"/>
                  <a:ea typeface="Source Serif Pro" panose="02040603050405020204" pitchFamily="18" charset="0"/>
                  <a:cs typeface="Arial" panose="020B0604020202020204" pitchFamily="34" charset="0"/>
                </a:rPr>
                <a:t>XXX</a:t>
              </a:r>
            </a:p>
          </p:txBody>
        </p:sp>
      </p:grpSp>
      <p:pic>
        <p:nvPicPr>
          <p:cNvPr id="19" name="Gráfico 14">
            <a:extLst>
              <a:ext uri="{FF2B5EF4-FFF2-40B4-BE49-F238E27FC236}">
                <a16:creationId xmlns:a16="http://schemas.microsoft.com/office/drawing/2014/main" id="{7FF966E9-9692-C967-EC1C-C3B983BB7C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92538" y="307274"/>
            <a:ext cx="451161" cy="386290"/>
          </a:xfrm>
          <a:prstGeom prst="rect">
            <a:avLst/>
          </a:prstGeom>
        </p:spPr>
      </p:pic>
      <p:pic>
        <p:nvPicPr>
          <p:cNvPr id="20" name="Picture 19" descr="A black and white logo&#10;&#10;Description automatically generated">
            <a:extLst>
              <a:ext uri="{FF2B5EF4-FFF2-40B4-BE49-F238E27FC236}">
                <a16:creationId xmlns:a16="http://schemas.microsoft.com/office/drawing/2014/main" id="{04ED3035-EF34-8B9A-B443-931BF8084F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9900" y="6095907"/>
            <a:ext cx="1196500" cy="40457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1ACC8B2A-CA78-19AF-45B9-DD4338E373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752600" y="-161925"/>
            <a:ext cx="1752600" cy="7286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0662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88">
            <a:extLst>
              <a:ext uri="{FF2B5EF4-FFF2-40B4-BE49-F238E27FC236}">
                <a16:creationId xmlns:a16="http://schemas.microsoft.com/office/drawing/2014/main" id="{D9077A99-AD4E-C5E1-7EAB-13AF86D247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9128" t="-13942" r="-117111" b="-16722"/>
          <a:stretch/>
        </p:blipFill>
        <p:spPr>
          <a:xfrm>
            <a:off x="1991070" y="1445917"/>
            <a:ext cx="4383511" cy="4538958"/>
          </a:xfrm>
          <a:prstGeom prst="roundRect">
            <a:avLst>
              <a:gd name="adj" fmla="val 5976"/>
            </a:avLst>
          </a:prstGeom>
          <a:solidFill>
            <a:schemeClr val="accent3"/>
          </a:solidFill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2717F42-5F78-88B1-6198-4D21D656C2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5628" t="5724" r="-54" b="3909"/>
          <a:stretch/>
        </p:blipFill>
        <p:spPr>
          <a:xfrm>
            <a:off x="-314325" y="1445917"/>
            <a:ext cx="5677677" cy="4538958"/>
          </a:xfrm>
          <a:prstGeom prst="roundRect">
            <a:avLst>
              <a:gd name="adj" fmla="val 5976"/>
            </a:avLst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DDC441-308D-9C96-6355-CF0088CB6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1800" dirty="0"/>
              <a:t>Sumário - Tese de Investimento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2CDA0-D8DE-73D0-BCB7-AFCD67FD22E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sz="1050" dirty="0">
                <a:latin typeface="Montserrat Light" pitchFamily="2" charset="0"/>
              </a:rPr>
              <a:t>A </a:t>
            </a:r>
            <a:r>
              <a:rPr lang="pt-BR" sz="1050" dirty="0" err="1">
                <a:latin typeface="Montserrat Light" pitchFamily="2" charset="0"/>
              </a:rPr>
              <a:t>Biocap</a:t>
            </a:r>
            <a:r>
              <a:rPr lang="pt-BR" sz="1050" dirty="0">
                <a:latin typeface="Montserrat Light" pitchFamily="2" charset="0"/>
              </a:rPr>
              <a:t> se consolidou no segmento de cuidado corporal a partir de um portfólio completo e acessível com presença nos principais canais de vendas da indústria</a:t>
            </a:r>
          </a:p>
        </p:txBody>
      </p: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43442823-3533-73D4-91FF-FE772699AD60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pt-BR">
              <a:solidFill>
                <a:schemeClr val="tx2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AA6E16-F071-95A6-E7D1-CF7905C194AE}"/>
              </a:ext>
            </a:extLst>
          </p:cNvPr>
          <p:cNvSpPr txBox="1"/>
          <p:nvPr/>
        </p:nvSpPr>
        <p:spPr>
          <a:xfrm>
            <a:off x="7376758" y="1639998"/>
            <a:ext cx="4458054" cy="44749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900" spc="10" dirty="0">
                <a:latin typeface="Montserrat Medium" pitchFamily="2" charset="0"/>
                <a:ea typeface="Roboto" panose="02000000000000000000" pitchFamily="2" charset="0"/>
              </a:rPr>
              <a:t>Os brasileiros estão entre os principais consumidores de produtos de beleza e cuidados pessoais em todo o mundo e </a:t>
            </a:r>
            <a:r>
              <a:rPr lang="pt-BR" sz="900" spc="10" dirty="0" err="1">
                <a:latin typeface="Montserrat Medium" pitchFamily="2" charset="0"/>
                <a:ea typeface="Roboto" panose="02000000000000000000" pitchFamily="2" charset="0"/>
              </a:rPr>
              <a:t>Bodycare</a:t>
            </a:r>
            <a:r>
              <a:rPr lang="pt-BR" sz="900" spc="10" dirty="0">
                <a:latin typeface="Montserrat Medium" pitchFamily="2" charset="0"/>
                <a:ea typeface="Roboto" panose="02000000000000000000" pitchFamily="2" charset="0"/>
              </a:rPr>
              <a:t> está, cada vez mais, ganhando relevância nesse segmento</a:t>
            </a:r>
            <a:endParaRPr lang="en-US" sz="900" spc="10" dirty="0">
              <a:latin typeface="Montserrat Medium" pitchFamily="2" charset="0"/>
              <a:ea typeface="Roboto" panose="02000000000000000000" pitchFamily="2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BD0E185-21AB-4C45-2F36-C724109426ED}"/>
              </a:ext>
            </a:extLst>
          </p:cNvPr>
          <p:cNvSpPr txBox="1"/>
          <p:nvPr/>
        </p:nvSpPr>
        <p:spPr>
          <a:xfrm>
            <a:off x="5501720" y="1648302"/>
            <a:ext cx="734490" cy="43088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Montserrat "/>
                <a:ea typeface="Roboto" panose="02000000000000000000" pitchFamily="2" charset="0"/>
              </a:rPr>
              <a:t>01</a:t>
            </a:r>
            <a:endParaRPr lang="en-US" sz="2800" dirty="0">
              <a:solidFill>
                <a:schemeClr val="accent3">
                  <a:lumMod val="40000"/>
                  <a:lumOff val="60000"/>
                </a:schemeClr>
              </a:solidFill>
              <a:latin typeface="Montserrat "/>
              <a:ea typeface="Roboto" panose="020000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408602-7B99-68A2-EE75-97888901AF6F}"/>
              </a:ext>
            </a:extLst>
          </p:cNvPr>
          <p:cNvSpPr txBox="1"/>
          <p:nvPr/>
        </p:nvSpPr>
        <p:spPr>
          <a:xfrm>
            <a:off x="7376758" y="2308759"/>
            <a:ext cx="4599054" cy="44749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pt-BR" sz="900" spc="10" dirty="0">
                <a:latin typeface="Montserrat Medium" pitchFamily="2" charset="0"/>
                <a:ea typeface="Roboto" panose="02000000000000000000" pitchFamily="2" charset="0"/>
              </a:rPr>
              <a:t>A </a:t>
            </a:r>
            <a:r>
              <a:rPr lang="pt-BR" sz="900" spc="10" dirty="0" err="1">
                <a:latin typeface="Montserrat Medium" pitchFamily="2" charset="0"/>
                <a:ea typeface="Roboto" panose="02000000000000000000" pitchFamily="2" charset="0"/>
              </a:rPr>
              <a:t>Biocap</a:t>
            </a:r>
            <a:r>
              <a:rPr lang="pt-BR" sz="900" spc="10" dirty="0">
                <a:latin typeface="Montserrat Medium" pitchFamily="2" charset="0"/>
                <a:ea typeface="Roboto" panose="02000000000000000000" pitchFamily="2" charset="0"/>
              </a:rPr>
              <a:t> se destaca por oferecer soluções de cuidado corporal com preços acessíveis, atendendo perfeitamente à busca da consumidora brasileira por produtos que se encaixam no seu bolso</a:t>
            </a:r>
            <a:endParaRPr lang="en-US" sz="900" spc="10" dirty="0">
              <a:latin typeface="Montserrat Medium" pitchFamily="2" charset="0"/>
              <a:ea typeface="Roboto" panose="02000000000000000000" pitchFamily="2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7D56A60-DCDE-9F7E-2587-FBA4468AF951}"/>
              </a:ext>
            </a:extLst>
          </p:cNvPr>
          <p:cNvSpPr txBox="1"/>
          <p:nvPr/>
        </p:nvSpPr>
        <p:spPr>
          <a:xfrm>
            <a:off x="5474287" y="2317063"/>
            <a:ext cx="789356" cy="43088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Montserrat "/>
                <a:ea typeface="Roboto" panose="02000000000000000000" pitchFamily="2" charset="0"/>
              </a:rPr>
              <a:t>02</a:t>
            </a:r>
            <a:endParaRPr lang="en-US" sz="2800" dirty="0">
              <a:solidFill>
                <a:schemeClr val="accent3">
                  <a:lumMod val="40000"/>
                  <a:lumOff val="60000"/>
                </a:schemeClr>
              </a:solidFill>
              <a:latin typeface="Montserrat "/>
              <a:ea typeface="Roboto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A2F1B0-242F-F328-3037-3B7B6948B377}"/>
              </a:ext>
            </a:extLst>
          </p:cNvPr>
          <p:cNvSpPr txBox="1"/>
          <p:nvPr/>
        </p:nvSpPr>
        <p:spPr>
          <a:xfrm>
            <a:off x="7376758" y="3619876"/>
            <a:ext cx="4389146" cy="29514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900" spc="10" dirty="0">
                <a:latin typeface="Montserrat Medium" pitchFamily="2" charset="0"/>
                <a:ea typeface="Roboto" panose="02000000000000000000" pitchFamily="2" charset="0"/>
              </a:rPr>
              <a:t>A </a:t>
            </a:r>
            <a:r>
              <a:rPr lang="en-US" sz="900" spc="10" dirty="0" err="1">
                <a:latin typeface="Montserrat Medium" pitchFamily="2" charset="0"/>
                <a:ea typeface="Roboto" panose="02000000000000000000" pitchFamily="2" charset="0"/>
              </a:rPr>
              <a:t>Biocap</a:t>
            </a:r>
            <a:r>
              <a:rPr lang="en-US" sz="900" spc="10" dirty="0">
                <a:latin typeface="Montserrat Medium" pitchFamily="2" charset="0"/>
                <a:ea typeface="Roboto" panose="02000000000000000000" pitchFamily="2" charset="0"/>
              </a:rPr>
              <a:t> </a:t>
            </a:r>
            <a:r>
              <a:rPr lang="en-US" sz="900" spc="10" dirty="0" err="1">
                <a:latin typeface="Montserrat Medium" pitchFamily="2" charset="0"/>
                <a:ea typeface="Roboto" panose="02000000000000000000" pitchFamily="2" charset="0"/>
              </a:rPr>
              <a:t>também</a:t>
            </a:r>
            <a:r>
              <a:rPr lang="en-US" sz="900" spc="10" dirty="0">
                <a:latin typeface="Montserrat Medium" pitchFamily="2" charset="0"/>
                <a:ea typeface="Roboto" panose="02000000000000000000" pitchFamily="2" charset="0"/>
              </a:rPr>
              <a:t> se </a:t>
            </a:r>
            <a:r>
              <a:rPr lang="en-US" sz="900" spc="10" dirty="0" err="1">
                <a:latin typeface="Montserrat Medium" pitchFamily="2" charset="0"/>
                <a:ea typeface="Roboto" panose="02000000000000000000" pitchFamily="2" charset="0"/>
              </a:rPr>
              <a:t>diferencia</a:t>
            </a:r>
            <a:r>
              <a:rPr lang="en-US" sz="900" spc="10" dirty="0">
                <a:latin typeface="Montserrat Medium" pitchFamily="2" charset="0"/>
                <a:ea typeface="Roboto" panose="02000000000000000000" pitchFamily="2" charset="0"/>
              </a:rPr>
              <a:t> </a:t>
            </a:r>
            <a:r>
              <a:rPr lang="en-US" sz="900" spc="10" dirty="0" err="1">
                <a:latin typeface="Montserrat Medium" pitchFamily="2" charset="0"/>
                <a:ea typeface="Roboto" panose="02000000000000000000" pitchFamily="2" charset="0"/>
              </a:rPr>
              <a:t>por</a:t>
            </a:r>
            <a:r>
              <a:rPr lang="en-US" sz="900" spc="10" dirty="0">
                <a:latin typeface="Montserrat Medium" pitchFamily="2" charset="0"/>
                <a:ea typeface="Roboto" panose="02000000000000000000" pitchFamily="2" charset="0"/>
              </a:rPr>
              <a:t> </a:t>
            </a:r>
            <a:r>
              <a:rPr lang="en-US" sz="900" spc="10" dirty="0" err="1">
                <a:latin typeface="Montserrat Medium" pitchFamily="2" charset="0"/>
                <a:ea typeface="Roboto" panose="02000000000000000000" pitchFamily="2" charset="0"/>
              </a:rPr>
              <a:t>uma</a:t>
            </a:r>
            <a:r>
              <a:rPr lang="en-US" sz="900" spc="10" dirty="0">
                <a:latin typeface="Montserrat Medium" pitchFamily="2" charset="0"/>
                <a:ea typeface="Roboto" panose="02000000000000000000" pitchFamily="2" charset="0"/>
              </a:rPr>
              <a:t> </a:t>
            </a:r>
            <a:r>
              <a:rPr lang="en-US" sz="900" spc="10" dirty="0" err="1">
                <a:latin typeface="Montserrat Medium" pitchFamily="2" charset="0"/>
                <a:ea typeface="Roboto" panose="02000000000000000000" pitchFamily="2" charset="0"/>
              </a:rPr>
              <a:t>linha</a:t>
            </a:r>
            <a:r>
              <a:rPr lang="en-US" sz="900" spc="10" dirty="0">
                <a:latin typeface="Montserrat Medium" pitchFamily="2" charset="0"/>
                <a:ea typeface="Roboto" panose="02000000000000000000" pitchFamily="2" charset="0"/>
              </a:rPr>
              <a:t> de </a:t>
            </a:r>
            <a:r>
              <a:rPr lang="en-US" sz="900" spc="10" dirty="0" err="1">
                <a:latin typeface="Montserrat Medium" pitchFamily="2" charset="0"/>
                <a:ea typeface="Roboto" panose="02000000000000000000" pitchFamily="2" charset="0"/>
              </a:rPr>
              <a:t>produtos</a:t>
            </a:r>
            <a:r>
              <a:rPr lang="en-US" sz="900" spc="10" dirty="0">
                <a:latin typeface="Montserrat Medium" pitchFamily="2" charset="0"/>
                <a:ea typeface="Roboto" panose="02000000000000000000" pitchFamily="2" charset="0"/>
              </a:rPr>
              <a:t> </a:t>
            </a:r>
            <a:r>
              <a:rPr lang="en-US" sz="900" spc="10" dirty="0" err="1">
                <a:latin typeface="Montserrat Medium" pitchFamily="2" charset="0"/>
                <a:ea typeface="Roboto" panose="02000000000000000000" pitchFamily="2" charset="0"/>
              </a:rPr>
              <a:t>profissionais</a:t>
            </a:r>
            <a:r>
              <a:rPr lang="en-US" sz="900" spc="10" dirty="0">
                <a:latin typeface="Montserrat Medium" pitchFamily="2" charset="0"/>
                <a:ea typeface="Roboto" panose="02000000000000000000" pitchFamily="2" charset="0"/>
              </a:rPr>
              <a:t>, que </a:t>
            </a:r>
            <a:r>
              <a:rPr lang="en-US" sz="900" spc="10" dirty="0" err="1">
                <a:latin typeface="Montserrat Medium" pitchFamily="2" charset="0"/>
                <a:ea typeface="Roboto" panose="02000000000000000000" pitchFamily="2" charset="0"/>
              </a:rPr>
              <a:t>não</a:t>
            </a:r>
            <a:r>
              <a:rPr lang="en-US" sz="900" spc="10" dirty="0">
                <a:latin typeface="Montserrat Medium" pitchFamily="2" charset="0"/>
                <a:ea typeface="Roboto" panose="02000000000000000000" pitchFamily="2" charset="0"/>
              </a:rPr>
              <a:t> é </a:t>
            </a:r>
            <a:r>
              <a:rPr lang="en-US" sz="900" spc="10" dirty="0" err="1">
                <a:latin typeface="Montserrat Medium" pitchFamily="2" charset="0"/>
                <a:ea typeface="Roboto" panose="02000000000000000000" pitchFamily="2" charset="0"/>
              </a:rPr>
              <a:t>explorada</a:t>
            </a:r>
            <a:r>
              <a:rPr lang="en-US" sz="900" spc="10" dirty="0">
                <a:latin typeface="Montserrat Medium" pitchFamily="2" charset="0"/>
                <a:ea typeface="Roboto" panose="02000000000000000000" pitchFamily="2" charset="0"/>
              </a:rPr>
              <a:t> pela </a:t>
            </a:r>
            <a:r>
              <a:rPr lang="en-US" sz="900" spc="10" dirty="0" err="1">
                <a:latin typeface="Montserrat Medium" pitchFamily="2" charset="0"/>
                <a:ea typeface="Roboto" panose="02000000000000000000" pitchFamily="2" charset="0"/>
              </a:rPr>
              <a:t>concorrência</a:t>
            </a:r>
            <a:endParaRPr lang="en-US" sz="900" spc="10" dirty="0">
              <a:latin typeface="Montserrat Medium" pitchFamily="2" charset="0"/>
              <a:ea typeface="Roboto" panose="02000000000000000000" pitchFamily="2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DDCB6B7-EA06-4282-29FC-EB549BDB5F98}"/>
              </a:ext>
            </a:extLst>
          </p:cNvPr>
          <p:cNvSpPr txBox="1"/>
          <p:nvPr/>
        </p:nvSpPr>
        <p:spPr>
          <a:xfrm>
            <a:off x="5363351" y="3552005"/>
            <a:ext cx="1011229" cy="43088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Montserrat "/>
                <a:ea typeface="Roboto" panose="02000000000000000000" pitchFamily="2" charset="0"/>
              </a:rPr>
              <a:t>04</a:t>
            </a:r>
            <a:endParaRPr lang="en-US" sz="2800" dirty="0">
              <a:solidFill>
                <a:schemeClr val="accent3">
                  <a:lumMod val="40000"/>
                  <a:lumOff val="60000"/>
                </a:schemeClr>
              </a:solidFill>
              <a:latin typeface="Montserrat "/>
              <a:ea typeface="Roboto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E84D14-1BC7-B46D-1CB6-4F4C8ACA089C}"/>
              </a:ext>
            </a:extLst>
          </p:cNvPr>
          <p:cNvSpPr txBox="1"/>
          <p:nvPr/>
        </p:nvSpPr>
        <p:spPr>
          <a:xfrm>
            <a:off x="7376758" y="4254498"/>
            <a:ext cx="4599054" cy="29514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pt-BR" sz="900" spc="10" dirty="0">
                <a:latin typeface="Montserrat Medium" pitchFamily="2" charset="0"/>
                <a:ea typeface="Roboto" panose="02000000000000000000" pitchFamily="2" charset="0"/>
              </a:rPr>
              <a:t>A </a:t>
            </a:r>
            <a:r>
              <a:rPr lang="pt-BR" sz="900" spc="10" dirty="0" err="1">
                <a:latin typeface="Montserrat Medium" pitchFamily="2" charset="0"/>
                <a:ea typeface="Roboto" panose="02000000000000000000" pitchFamily="2" charset="0"/>
              </a:rPr>
              <a:t>Biocap</a:t>
            </a:r>
            <a:r>
              <a:rPr lang="pt-BR" sz="900" spc="10" dirty="0">
                <a:latin typeface="Montserrat Medium" pitchFamily="2" charset="0"/>
                <a:ea typeface="Roboto" panose="02000000000000000000" pitchFamily="2" charset="0"/>
              </a:rPr>
              <a:t> tem uma ampla presença nacional e está presente nos principais canais de vendas da indústria</a:t>
            </a:r>
            <a:endParaRPr lang="en-US" sz="900" spc="10" dirty="0">
              <a:latin typeface="Montserrat Medium" pitchFamily="2" charset="0"/>
              <a:ea typeface="Roboto" panose="02000000000000000000" pitchFamily="2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FA4800B-79AF-F6C5-82D1-22583DCA5B71}"/>
              </a:ext>
            </a:extLst>
          </p:cNvPr>
          <p:cNvSpPr txBox="1"/>
          <p:nvPr/>
        </p:nvSpPr>
        <p:spPr>
          <a:xfrm>
            <a:off x="5501720" y="4186627"/>
            <a:ext cx="734490" cy="43088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defRPr/>
            </a:pPr>
            <a:r>
              <a:rPr lang="pt-BR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Montserrat "/>
                <a:ea typeface="Roboto" panose="02000000000000000000" pitchFamily="2" charset="0"/>
              </a:rPr>
              <a:t>05</a:t>
            </a:r>
            <a:endParaRPr lang="en-US" sz="2800" dirty="0">
              <a:solidFill>
                <a:schemeClr val="accent3">
                  <a:lumMod val="40000"/>
                  <a:lumOff val="60000"/>
                </a:schemeClr>
              </a:solidFill>
              <a:latin typeface="Montserrat "/>
              <a:ea typeface="Roboto" panose="020000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FB2535-9D1E-399A-21D4-7736EB84D5FE}"/>
              </a:ext>
            </a:extLst>
          </p:cNvPr>
          <p:cNvSpPr txBox="1"/>
          <p:nvPr/>
        </p:nvSpPr>
        <p:spPr>
          <a:xfrm>
            <a:off x="7376758" y="4846513"/>
            <a:ext cx="4485978" cy="29514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pt-BR" sz="900" spc="10" dirty="0">
                <a:latin typeface="Montserrat Medium" pitchFamily="2" charset="0"/>
                <a:ea typeface="Roboto" panose="02000000000000000000" pitchFamily="2" charset="0"/>
              </a:rPr>
              <a:t>A </a:t>
            </a:r>
            <a:r>
              <a:rPr lang="pt-BR" sz="900" spc="10" dirty="0" err="1">
                <a:latin typeface="Montserrat Medium" pitchFamily="2" charset="0"/>
                <a:ea typeface="Roboto" panose="02000000000000000000" pitchFamily="2" charset="0"/>
              </a:rPr>
              <a:t>Biocap</a:t>
            </a:r>
            <a:r>
              <a:rPr lang="pt-BR" sz="900" spc="10" dirty="0">
                <a:latin typeface="Montserrat Medium" pitchFamily="2" charset="0"/>
                <a:ea typeface="Roboto" panose="02000000000000000000" pitchFamily="2" charset="0"/>
              </a:rPr>
              <a:t> tem alcançado um crescimento sólido e rentabilidade consistente ao longo dos anos, destacando-se por sua robusta performance financeira</a:t>
            </a:r>
            <a:endParaRPr lang="en-US" sz="900" spc="10" dirty="0">
              <a:latin typeface="Montserrat Medium" pitchFamily="2" charset="0"/>
              <a:ea typeface="Roboto" panose="02000000000000000000" pitchFamily="2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D61DDC8-A340-CFC3-90BB-0646681B470D}"/>
              </a:ext>
            </a:extLst>
          </p:cNvPr>
          <p:cNvSpPr txBox="1"/>
          <p:nvPr/>
        </p:nvSpPr>
        <p:spPr>
          <a:xfrm>
            <a:off x="5501720" y="4778642"/>
            <a:ext cx="734490" cy="43088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defRPr/>
            </a:pPr>
            <a:r>
              <a:rPr lang="pt-BR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Montserrat "/>
                <a:ea typeface="Roboto" panose="02000000000000000000" pitchFamily="2" charset="0"/>
              </a:rPr>
              <a:t>06</a:t>
            </a:r>
            <a:endParaRPr lang="en-US" sz="2800" dirty="0">
              <a:solidFill>
                <a:schemeClr val="accent3">
                  <a:lumMod val="40000"/>
                  <a:lumOff val="60000"/>
                </a:schemeClr>
              </a:solidFill>
              <a:latin typeface="Montserrat "/>
              <a:ea typeface="Roboto" panose="02000000000000000000" pitchFamily="2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F642977-19F4-B0D0-6475-387AFC6DCB12}"/>
              </a:ext>
            </a:extLst>
          </p:cNvPr>
          <p:cNvSpPr txBox="1"/>
          <p:nvPr/>
        </p:nvSpPr>
        <p:spPr>
          <a:xfrm>
            <a:off x="7376758" y="5438530"/>
            <a:ext cx="4485978" cy="29514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pt-BR" sz="900" spc="10" dirty="0">
                <a:latin typeface="Montserrat Medium" pitchFamily="2" charset="0"/>
                <a:ea typeface="Roboto" panose="02000000000000000000" pitchFamily="2" charset="0"/>
              </a:rPr>
              <a:t>O crescimento da </a:t>
            </a:r>
            <a:r>
              <a:rPr lang="pt-BR" sz="900" spc="10" dirty="0" err="1">
                <a:latin typeface="Montserrat Medium" pitchFamily="2" charset="0"/>
                <a:ea typeface="Roboto" panose="02000000000000000000" pitchFamily="2" charset="0"/>
              </a:rPr>
              <a:t>Biocap</a:t>
            </a:r>
            <a:r>
              <a:rPr lang="pt-BR" sz="900" spc="10" dirty="0">
                <a:latin typeface="Montserrat Medium" pitchFamily="2" charset="0"/>
                <a:ea typeface="Roboto" panose="02000000000000000000" pitchFamily="2" charset="0"/>
              </a:rPr>
              <a:t> é impulsionado pela expansão de sua base                           de clientes, suportado por uma estrutura com capacidade de expansão</a:t>
            </a:r>
            <a:endParaRPr lang="en-US" sz="900" spc="10" dirty="0">
              <a:latin typeface="Montserrat Medium" pitchFamily="2" charset="0"/>
              <a:ea typeface="Roboto" panose="02000000000000000000" pitchFamily="2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DF2873C-4DB3-1395-9EAF-082CC7FF3E34}"/>
              </a:ext>
            </a:extLst>
          </p:cNvPr>
          <p:cNvSpPr txBox="1"/>
          <p:nvPr/>
        </p:nvSpPr>
        <p:spPr>
          <a:xfrm>
            <a:off x="5501720" y="5370659"/>
            <a:ext cx="734490" cy="43088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defRPr/>
            </a:pPr>
            <a:r>
              <a:rPr lang="pt-BR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Montserrat "/>
                <a:ea typeface="Roboto" panose="02000000000000000000" pitchFamily="2" charset="0"/>
              </a:rPr>
              <a:t>07</a:t>
            </a:r>
            <a:endParaRPr lang="en-US" sz="2800" dirty="0">
              <a:solidFill>
                <a:schemeClr val="accent3">
                  <a:lumMod val="40000"/>
                  <a:lumOff val="60000"/>
                </a:schemeClr>
              </a:solidFill>
              <a:latin typeface="Montserrat "/>
              <a:ea typeface="Roboto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8AE5F9-247B-3B70-7FF8-E5D7C609D059}"/>
              </a:ext>
            </a:extLst>
          </p:cNvPr>
          <p:cNvSpPr txBox="1"/>
          <p:nvPr/>
        </p:nvSpPr>
        <p:spPr>
          <a:xfrm>
            <a:off x="7376758" y="2985253"/>
            <a:ext cx="4458054" cy="29514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900" spc="10" dirty="0">
                <a:latin typeface="Montserrat Medium" pitchFamily="2" charset="0"/>
                <a:ea typeface="Roboto" panose="02000000000000000000" pitchFamily="2" charset="0"/>
              </a:rPr>
              <a:t>A </a:t>
            </a:r>
            <a:r>
              <a:rPr lang="en-US" sz="900" spc="10" dirty="0" err="1">
                <a:latin typeface="Montserrat Medium" pitchFamily="2" charset="0"/>
                <a:ea typeface="Roboto" panose="02000000000000000000" pitchFamily="2" charset="0"/>
              </a:rPr>
              <a:t>Biocap</a:t>
            </a:r>
            <a:r>
              <a:rPr lang="en-US" sz="900" spc="10" dirty="0">
                <a:latin typeface="Montserrat Medium" pitchFamily="2" charset="0"/>
                <a:ea typeface="Roboto" panose="02000000000000000000" pitchFamily="2" charset="0"/>
              </a:rPr>
              <a:t> se </a:t>
            </a:r>
            <a:r>
              <a:rPr lang="en-US" sz="900" spc="10" dirty="0" err="1">
                <a:latin typeface="Montserrat Medium" pitchFamily="2" charset="0"/>
                <a:ea typeface="Roboto" panose="02000000000000000000" pitchFamily="2" charset="0"/>
              </a:rPr>
              <a:t>destaca</a:t>
            </a:r>
            <a:r>
              <a:rPr lang="en-US" sz="900" spc="10" dirty="0">
                <a:latin typeface="Montserrat Medium" pitchFamily="2" charset="0"/>
                <a:ea typeface="Roboto" panose="02000000000000000000" pitchFamily="2" charset="0"/>
              </a:rPr>
              <a:t> da </a:t>
            </a:r>
            <a:r>
              <a:rPr lang="en-US" sz="900" spc="10" dirty="0" err="1">
                <a:latin typeface="Montserrat Medium" pitchFamily="2" charset="0"/>
                <a:ea typeface="Roboto" panose="02000000000000000000" pitchFamily="2" charset="0"/>
              </a:rPr>
              <a:t>concorrência</a:t>
            </a:r>
            <a:r>
              <a:rPr lang="en-US" sz="900" spc="10" dirty="0">
                <a:latin typeface="Montserrat Medium" pitchFamily="2" charset="0"/>
                <a:ea typeface="Roboto" panose="02000000000000000000" pitchFamily="2" charset="0"/>
              </a:rPr>
              <a:t> </a:t>
            </a:r>
            <a:r>
              <a:rPr lang="en-US" sz="900" spc="10" dirty="0" err="1">
                <a:latin typeface="Montserrat Medium" pitchFamily="2" charset="0"/>
                <a:ea typeface="Roboto" panose="02000000000000000000" pitchFamily="2" charset="0"/>
              </a:rPr>
              <a:t>por</a:t>
            </a:r>
            <a:r>
              <a:rPr lang="en-US" sz="900" spc="10" dirty="0">
                <a:latin typeface="Montserrat Medium" pitchFamily="2" charset="0"/>
                <a:ea typeface="Roboto" panose="02000000000000000000" pitchFamily="2" charset="0"/>
              </a:rPr>
              <a:t> </a:t>
            </a:r>
            <a:r>
              <a:rPr lang="en-US" sz="900" spc="10" dirty="0" err="1">
                <a:latin typeface="Montserrat Medium" pitchFamily="2" charset="0"/>
                <a:ea typeface="Roboto" panose="02000000000000000000" pitchFamily="2" charset="0"/>
              </a:rPr>
              <a:t>ter</a:t>
            </a:r>
            <a:r>
              <a:rPr lang="en-US" sz="900" spc="10" dirty="0">
                <a:latin typeface="Montserrat Medium" pitchFamily="2" charset="0"/>
                <a:ea typeface="Roboto" panose="02000000000000000000" pitchFamily="2" charset="0"/>
              </a:rPr>
              <a:t> um </a:t>
            </a:r>
            <a:r>
              <a:rPr lang="en-US" sz="900" spc="10" dirty="0" err="1">
                <a:latin typeface="Montserrat Medium" pitchFamily="2" charset="0"/>
                <a:ea typeface="Roboto" panose="02000000000000000000" pitchFamily="2" charset="0"/>
              </a:rPr>
              <a:t>portfólio</a:t>
            </a:r>
            <a:r>
              <a:rPr lang="en-US" sz="900" spc="10" dirty="0">
                <a:latin typeface="Montserrat Medium" pitchFamily="2" charset="0"/>
                <a:ea typeface="Roboto" panose="02000000000000000000" pitchFamily="2" charset="0"/>
              </a:rPr>
              <a:t> </a:t>
            </a:r>
            <a:r>
              <a:rPr lang="en-US" sz="900" spc="10" dirty="0" err="1">
                <a:latin typeface="Montserrat Medium" pitchFamily="2" charset="0"/>
                <a:ea typeface="Roboto" panose="02000000000000000000" pitchFamily="2" charset="0"/>
              </a:rPr>
              <a:t>exclusivamente</a:t>
            </a:r>
            <a:r>
              <a:rPr lang="en-US" sz="900" spc="10" dirty="0">
                <a:latin typeface="Montserrat Medium" pitchFamily="2" charset="0"/>
                <a:ea typeface="Roboto" panose="02000000000000000000" pitchFamily="2" charset="0"/>
              </a:rPr>
              <a:t> </a:t>
            </a:r>
            <a:r>
              <a:rPr lang="en-US" sz="900" spc="10" dirty="0" err="1">
                <a:latin typeface="Montserrat Medium" pitchFamily="2" charset="0"/>
                <a:ea typeface="Roboto" panose="02000000000000000000" pitchFamily="2" charset="0"/>
              </a:rPr>
              <a:t>focado</a:t>
            </a:r>
            <a:r>
              <a:rPr lang="en-US" sz="900" spc="10" dirty="0">
                <a:latin typeface="Montserrat Medium" pitchFamily="2" charset="0"/>
                <a:ea typeface="Roboto" panose="02000000000000000000" pitchFamily="2" charset="0"/>
              </a:rPr>
              <a:t> </a:t>
            </a:r>
            <a:r>
              <a:rPr lang="en-US" sz="900" spc="10" dirty="0" err="1">
                <a:latin typeface="Montserrat Medium" pitchFamily="2" charset="0"/>
                <a:ea typeface="Roboto" panose="02000000000000000000" pitchFamily="2" charset="0"/>
              </a:rPr>
              <a:t>em</a:t>
            </a:r>
            <a:r>
              <a:rPr lang="en-US" sz="900" spc="10" dirty="0">
                <a:latin typeface="Montserrat Medium" pitchFamily="2" charset="0"/>
                <a:ea typeface="Roboto" panose="02000000000000000000" pitchFamily="2" charset="0"/>
              </a:rPr>
              <a:t> </a:t>
            </a:r>
            <a:r>
              <a:rPr lang="en-US" sz="900" spc="10" dirty="0" err="1">
                <a:latin typeface="Montserrat Medium" pitchFamily="2" charset="0"/>
                <a:ea typeface="Roboto" panose="02000000000000000000" pitchFamily="2" charset="0"/>
              </a:rPr>
              <a:t>Bodycare</a:t>
            </a:r>
            <a:r>
              <a:rPr lang="en-US" sz="900" spc="10" dirty="0">
                <a:latin typeface="Montserrat Medium" pitchFamily="2" charset="0"/>
                <a:ea typeface="Roboto" panose="02000000000000000000" pitchFamily="2" charset="0"/>
              </a:rPr>
              <a:t>, </a:t>
            </a:r>
            <a:r>
              <a:rPr lang="pt-BR" sz="900" spc="10" dirty="0">
                <a:latin typeface="Montserrat Medium" pitchFamily="2" charset="0"/>
                <a:ea typeface="Roboto" panose="02000000000000000000" pitchFamily="2" charset="0"/>
              </a:rPr>
              <a:t>cobrindo todas as necessidades da mulher brasileira</a:t>
            </a:r>
            <a:endParaRPr lang="en-US" sz="900" spc="10" dirty="0">
              <a:latin typeface="Montserrat Medium" pitchFamily="2" charset="0"/>
              <a:ea typeface="Roboto" panose="02000000000000000000" pitchFamily="2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19DB2C3-A603-9FA2-03A8-FD18E1D0C172}"/>
              </a:ext>
            </a:extLst>
          </p:cNvPr>
          <p:cNvGrpSpPr/>
          <p:nvPr/>
        </p:nvGrpSpPr>
        <p:grpSpPr>
          <a:xfrm>
            <a:off x="6649024" y="1579860"/>
            <a:ext cx="567771" cy="4182513"/>
            <a:chOff x="6355910" y="1579860"/>
            <a:chExt cx="567771" cy="4182513"/>
          </a:xfrm>
        </p:grpSpPr>
        <p:pic>
          <p:nvPicPr>
            <p:cNvPr id="31" name="Graphic 30" descr="Charm outline">
              <a:extLst>
                <a:ext uri="{FF2B5EF4-FFF2-40B4-BE49-F238E27FC236}">
                  <a16:creationId xmlns:a16="http://schemas.microsoft.com/office/drawing/2014/main" id="{324EC2DA-14A4-8BA5-6E4B-7E0DA948C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355910" y="1579860"/>
              <a:ext cx="567771" cy="567771"/>
            </a:xfrm>
            <a:prstGeom prst="rect">
              <a:avLst/>
            </a:prstGeom>
          </p:spPr>
        </p:pic>
        <p:grpSp>
          <p:nvGrpSpPr>
            <p:cNvPr id="32" name="Gráfico 3">
              <a:extLst>
                <a:ext uri="{FF2B5EF4-FFF2-40B4-BE49-F238E27FC236}">
                  <a16:creationId xmlns:a16="http://schemas.microsoft.com/office/drawing/2014/main" id="{FF7F5686-9396-8210-0C1B-551ED789AB3A}"/>
                </a:ext>
              </a:extLst>
            </p:cNvPr>
            <p:cNvGrpSpPr/>
            <p:nvPr/>
          </p:nvGrpSpPr>
          <p:grpSpPr>
            <a:xfrm>
              <a:off x="6505468" y="2357482"/>
              <a:ext cx="268654" cy="350049"/>
              <a:chOff x="6330868" y="3278803"/>
              <a:chExt cx="196447" cy="255966"/>
            </a:xfrm>
            <a:noFill/>
          </p:grpSpPr>
          <p:grpSp>
            <p:nvGrpSpPr>
              <p:cNvPr id="33" name="Gráfico 3">
                <a:extLst>
                  <a:ext uri="{FF2B5EF4-FFF2-40B4-BE49-F238E27FC236}">
                    <a16:creationId xmlns:a16="http://schemas.microsoft.com/office/drawing/2014/main" id="{870F4437-955A-21F3-524E-5A5DA223E476}"/>
                  </a:ext>
                </a:extLst>
              </p:cNvPr>
              <p:cNvGrpSpPr/>
              <p:nvPr/>
            </p:nvGrpSpPr>
            <p:grpSpPr>
              <a:xfrm>
                <a:off x="6330868" y="3278803"/>
                <a:ext cx="196447" cy="255966"/>
                <a:chOff x="6330868" y="3278803"/>
                <a:chExt cx="196447" cy="255966"/>
              </a:xfrm>
              <a:noFill/>
            </p:grpSpPr>
            <p:sp>
              <p:nvSpPr>
                <p:cNvPr id="39" name="Forma Livre: Forma 392">
                  <a:extLst>
                    <a:ext uri="{FF2B5EF4-FFF2-40B4-BE49-F238E27FC236}">
                      <a16:creationId xmlns:a16="http://schemas.microsoft.com/office/drawing/2014/main" id="{B64DAF01-F6A1-B2EA-0534-79A55C1AD10A}"/>
                    </a:ext>
                  </a:extLst>
                </p:cNvPr>
                <p:cNvSpPr/>
                <p:nvPr/>
              </p:nvSpPr>
              <p:spPr>
                <a:xfrm>
                  <a:off x="6330868" y="3320472"/>
                  <a:ext cx="196447" cy="214297"/>
                </a:xfrm>
                <a:custGeom>
                  <a:avLst/>
                  <a:gdLst>
                    <a:gd name="connsiteX0" fmla="*/ 184836 w 196447"/>
                    <a:gd name="connsiteY0" fmla="*/ 0 h 214297"/>
                    <a:gd name="connsiteX1" fmla="*/ 11553 w 196447"/>
                    <a:gd name="connsiteY1" fmla="*/ 0 h 214297"/>
                    <a:gd name="connsiteX2" fmla="*/ 4 w 196447"/>
                    <a:gd name="connsiteY2" fmla="*/ 202035 h 214297"/>
                    <a:gd name="connsiteX3" fmla="*/ 11910 w 196447"/>
                    <a:gd name="connsiteY3" fmla="*/ 214298 h 214297"/>
                    <a:gd name="connsiteX4" fmla="*/ 184538 w 196447"/>
                    <a:gd name="connsiteY4" fmla="*/ 214298 h 214297"/>
                    <a:gd name="connsiteX5" fmla="*/ 196443 w 196447"/>
                    <a:gd name="connsiteY5" fmla="*/ 202035 h 214297"/>
                    <a:gd name="connsiteX6" fmla="*/ 184896 w 196447"/>
                    <a:gd name="connsiteY6" fmla="*/ 0 h 2142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96447" h="214297">
                      <a:moveTo>
                        <a:pt x="184836" y="0"/>
                      </a:moveTo>
                      <a:lnTo>
                        <a:pt x="11553" y="0"/>
                      </a:lnTo>
                      <a:lnTo>
                        <a:pt x="4" y="202035"/>
                      </a:lnTo>
                      <a:cubicBezTo>
                        <a:pt x="-174" y="208762"/>
                        <a:pt x="5183" y="214298"/>
                        <a:pt x="11910" y="214298"/>
                      </a:cubicBezTo>
                      <a:lnTo>
                        <a:pt x="184538" y="214298"/>
                      </a:lnTo>
                      <a:cubicBezTo>
                        <a:pt x="191265" y="214298"/>
                        <a:pt x="196622" y="208762"/>
                        <a:pt x="196443" y="202035"/>
                      </a:cubicBezTo>
                      <a:lnTo>
                        <a:pt x="184896" y="0"/>
                      </a:lnTo>
                      <a:close/>
                    </a:path>
                  </a:pathLst>
                </a:custGeom>
                <a:noFill/>
                <a:ln w="6350" cap="flat">
                  <a:solidFill>
                    <a:schemeClr val="accent3"/>
                  </a:solidFill>
                  <a:prstDash val="solid"/>
                  <a:round/>
                </a:ln>
              </p:spPr>
              <p:txBody>
                <a:bodyPr lIns="0" tIns="0" rIns="0" bIns="0" rtlCol="0" anchor="ctr" anchorCtr="0"/>
                <a:lstStyle/>
                <a:p>
                  <a:endParaRPr lang="pt-BR" sz="16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0" name="Forma Livre: Forma 393">
                  <a:extLst>
                    <a:ext uri="{FF2B5EF4-FFF2-40B4-BE49-F238E27FC236}">
                      <a16:creationId xmlns:a16="http://schemas.microsoft.com/office/drawing/2014/main" id="{5A4B2D38-9F29-A72B-AA51-7058C29F77F8}"/>
                    </a:ext>
                  </a:extLst>
                </p:cNvPr>
                <p:cNvSpPr/>
                <p:nvPr/>
              </p:nvSpPr>
              <p:spPr>
                <a:xfrm>
                  <a:off x="6390697" y="3278803"/>
                  <a:ext cx="71432" cy="83337"/>
                </a:xfrm>
                <a:custGeom>
                  <a:avLst/>
                  <a:gdLst>
                    <a:gd name="connsiteX0" fmla="*/ 0 w 71432"/>
                    <a:gd name="connsiteY0" fmla="*/ 83338 h 83337"/>
                    <a:gd name="connsiteX1" fmla="*/ 0 w 71432"/>
                    <a:gd name="connsiteY1" fmla="*/ 35716 h 83337"/>
                    <a:gd name="connsiteX2" fmla="*/ 35716 w 71432"/>
                    <a:gd name="connsiteY2" fmla="*/ 0 h 83337"/>
                    <a:gd name="connsiteX3" fmla="*/ 35716 w 71432"/>
                    <a:gd name="connsiteY3" fmla="*/ 0 h 83337"/>
                    <a:gd name="connsiteX4" fmla="*/ 71433 w 71432"/>
                    <a:gd name="connsiteY4" fmla="*/ 35716 h 83337"/>
                    <a:gd name="connsiteX5" fmla="*/ 71433 w 71432"/>
                    <a:gd name="connsiteY5" fmla="*/ 83338 h 833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1432" h="83337">
                      <a:moveTo>
                        <a:pt x="0" y="83338"/>
                      </a:moveTo>
                      <a:lnTo>
                        <a:pt x="0" y="35716"/>
                      </a:lnTo>
                      <a:cubicBezTo>
                        <a:pt x="0" y="16013"/>
                        <a:pt x="16013" y="0"/>
                        <a:pt x="35716" y="0"/>
                      </a:cubicBezTo>
                      <a:lnTo>
                        <a:pt x="35716" y="0"/>
                      </a:lnTo>
                      <a:cubicBezTo>
                        <a:pt x="55420" y="0"/>
                        <a:pt x="71433" y="16013"/>
                        <a:pt x="71433" y="35716"/>
                      </a:cubicBezTo>
                      <a:lnTo>
                        <a:pt x="71433" y="83338"/>
                      </a:lnTo>
                    </a:path>
                  </a:pathLst>
                </a:custGeom>
                <a:noFill/>
                <a:ln w="6350" cap="rnd">
                  <a:solidFill>
                    <a:schemeClr val="accent3"/>
                  </a:solidFill>
                  <a:prstDash val="solid"/>
                  <a:round/>
                </a:ln>
              </p:spPr>
              <p:txBody>
                <a:bodyPr lIns="0" tIns="0" rIns="0" bIns="0" rtlCol="0" anchor="ctr" anchorCtr="0"/>
                <a:lstStyle/>
                <a:p>
                  <a:endParaRPr lang="pt-BR" sz="160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34" name="Gráfico 3">
                <a:extLst>
                  <a:ext uri="{FF2B5EF4-FFF2-40B4-BE49-F238E27FC236}">
                    <a16:creationId xmlns:a16="http://schemas.microsoft.com/office/drawing/2014/main" id="{638D227F-D787-0340-D95A-46BF5F397ED5}"/>
                  </a:ext>
                </a:extLst>
              </p:cNvPr>
              <p:cNvGrpSpPr/>
              <p:nvPr/>
            </p:nvGrpSpPr>
            <p:grpSpPr>
              <a:xfrm>
                <a:off x="6378434" y="3391905"/>
                <a:ext cx="95243" cy="95243"/>
                <a:chOff x="6378434" y="3391905"/>
                <a:chExt cx="95243" cy="95243"/>
              </a:xfrm>
              <a:noFill/>
            </p:grpSpPr>
            <p:grpSp>
              <p:nvGrpSpPr>
                <p:cNvPr id="35" name="Gráfico 3">
                  <a:extLst>
                    <a:ext uri="{FF2B5EF4-FFF2-40B4-BE49-F238E27FC236}">
                      <a16:creationId xmlns:a16="http://schemas.microsoft.com/office/drawing/2014/main" id="{E26BD44E-8C2B-013A-4106-BE45DB02B0E9}"/>
                    </a:ext>
                  </a:extLst>
                </p:cNvPr>
                <p:cNvGrpSpPr/>
                <p:nvPr/>
              </p:nvGrpSpPr>
              <p:grpSpPr>
                <a:xfrm>
                  <a:off x="6408198" y="3409763"/>
                  <a:ext cx="35716" cy="59527"/>
                  <a:chOff x="6408198" y="3409763"/>
                  <a:chExt cx="35716" cy="59527"/>
                </a:xfrm>
                <a:noFill/>
              </p:grpSpPr>
              <p:sp>
                <p:nvSpPr>
                  <p:cNvPr id="37" name="Forma Livre: Forma 390">
                    <a:extLst>
                      <a:ext uri="{FF2B5EF4-FFF2-40B4-BE49-F238E27FC236}">
                        <a16:creationId xmlns:a16="http://schemas.microsoft.com/office/drawing/2014/main" id="{C5EBEA5C-9349-2ABD-336F-C2C894E14504}"/>
                      </a:ext>
                    </a:extLst>
                  </p:cNvPr>
                  <p:cNvSpPr/>
                  <p:nvPr/>
                </p:nvSpPr>
                <p:spPr>
                  <a:xfrm>
                    <a:off x="6408198" y="3421668"/>
                    <a:ext cx="35716" cy="35716"/>
                  </a:xfrm>
                  <a:custGeom>
                    <a:avLst/>
                    <a:gdLst>
                      <a:gd name="connsiteX0" fmla="*/ 35716 w 35716"/>
                      <a:gd name="connsiteY0" fmla="*/ 0 h 35716"/>
                      <a:gd name="connsiteX1" fmla="*/ 0 w 35716"/>
                      <a:gd name="connsiteY1" fmla="*/ 0 h 35716"/>
                      <a:gd name="connsiteX2" fmla="*/ 0 w 35716"/>
                      <a:gd name="connsiteY2" fmla="*/ 17858 h 35716"/>
                      <a:gd name="connsiteX3" fmla="*/ 35716 w 35716"/>
                      <a:gd name="connsiteY3" fmla="*/ 17858 h 35716"/>
                      <a:gd name="connsiteX4" fmla="*/ 35716 w 35716"/>
                      <a:gd name="connsiteY4" fmla="*/ 35716 h 35716"/>
                      <a:gd name="connsiteX5" fmla="*/ 0 w 35716"/>
                      <a:gd name="connsiteY5" fmla="*/ 35716 h 357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5716" h="35716">
                        <a:moveTo>
                          <a:pt x="35716" y="0"/>
                        </a:moveTo>
                        <a:lnTo>
                          <a:pt x="0" y="0"/>
                        </a:lnTo>
                        <a:lnTo>
                          <a:pt x="0" y="17858"/>
                        </a:lnTo>
                        <a:lnTo>
                          <a:pt x="35716" y="17858"/>
                        </a:lnTo>
                        <a:lnTo>
                          <a:pt x="35716" y="35716"/>
                        </a:lnTo>
                        <a:lnTo>
                          <a:pt x="0" y="35716"/>
                        </a:lnTo>
                      </a:path>
                    </a:pathLst>
                  </a:custGeom>
                  <a:noFill/>
                  <a:ln w="6350" cap="rnd">
                    <a:solidFill>
                      <a:schemeClr val="accent3"/>
                    </a:solidFill>
                    <a:prstDash val="solid"/>
                    <a:round/>
                  </a:ln>
                </p:spPr>
                <p:txBody>
                  <a:bodyPr lIns="0" tIns="0" rIns="0" bIns="0" rtlCol="0" anchor="ctr" anchorCtr="0"/>
                  <a:lstStyle/>
                  <a:p>
                    <a:endParaRPr lang="pt-BR" sz="160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8" name="Forma Livre: Forma 391">
                    <a:extLst>
                      <a:ext uri="{FF2B5EF4-FFF2-40B4-BE49-F238E27FC236}">
                        <a16:creationId xmlns:a16="http://schemas.microsoft.com/office/drawing/2014/main" id="{A32256DE-F9A5-F505-57E3-85D72183A125}"/>
                      </a:ext>
                    </a:extLst>
                  </p:cNvPr>
                  <p:cNvSpPr/>
                  <p:nvPr/>
                </p:nvSpPr>
                <p:spPr>
                  <a:xfrm>
                    <a:off x="6426056" y="3409763"/>
                    <a:ext cx="5952" cy="59527"/>
                  </a:xfrm>
                  <a:custGeom>
                    <a:avLst/>
                    <a:gdLst>
                      <a:gd name="connsiteX0" fmla="*/ 0 w 5952"/>
                      <a:gd name="connsiteY0" fmla="*/ 0 h 59527"/>
                      <a:gd name="connsiteX1" fmla="*/ 0 w 5952"/>
                      <a:gd name="connsiteY1" fmla="*/ 59527 h 595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5952" h="59527">
                        <a:moveTo>
                          <a:pt x="0" y="0"/>
                        </a:moveTo>
                        <a:lnTo>
                          <a:pt x="0" y="59527"/>
                        </a:lnTo>
                      </a:path>
                    </a:pathLst>
                  </a:custGeom>
                  <a:ln w="6350" cap="rnd">
                    <a:solidFill>
                      <a:schemeClr val="accent3"/>
                    </a:solidFill>
                    <a:prstDash val="solid"/>
                    <a:round/>
                  </a:ln>
                </p:spPr>
                <p:txBody>
                  <a:bodyPr lIns="0" tIns="0" rIns="0" bIns="0" rtlCol="0" anchor="ctr" anchorCtr="0"/>
                  <a:lstStyle/>
                  <a:p>
                    <a:endParaRPr lang="pt-BR" sz="1600">
                      <a:latin typeface="Montserrat" panose="00000500000000000000" pitchFamily="2" charset="0"/>
                    </a:endParaRPr>
                  </a:p>
                </p:txBody>
              </p:sp>
            </p:grpSp>
            <p:sp>
              <p:nvSpPr>
                <p:cNvPr id="36" name="Forma Livre: Forma 389">
                  <a:extLst>
                    <a:ext uri="{FF2B5EF4-FFF2-40B4-BE49-F238E27FC236}">
                      <a16:creationId xmlns:a16="http://schemas.microsoft.com/office/drawing/2014/main" id="{F53B8F93-AA2E-C8C2-B9D7-ACEBAC87F387}"/>
                    </a:ext>
                  </a:extLst>
                </p:cNvPr>
                <p:cNvSpPr/>
                <p:nvPr/>
              </p:nvSpPr>
              <p:spPr>
                <a:xfrm>
                  <a:off x="6378434" y="3391905"/>
                  <a:ext cx="95243" cy="95243"/>
                </a:xfrm>
                <a:custGeom>
                  <a:avLst/>
                  <a:gdLst>
                    <a:gd name="connsiteX0" fmla="*/ 95243 w 95243"/>
                    <a:gd name="connsiteY0" fmla="*/ 47622 h 95243"/>
                    <a:gd name="connsiteX1" fmla="*/ 47621 w 95243"/>
                    <a:gd name="connsiteY1" fmla="*/ 95243 h 95243"/>
                    <a:gd name="connsiteX2" fmla="*/ 0 w 95243"/>
                    <a:gd name="connsiteY2" fmla="*/ 47622 h 95243"/>
                    <a:gd name="connsiteX3" fmla="*/ 47621 w 95243"/>
                    <a:gd name="connsiteY3" fmla="*/ 0 h 95243"/>
                    <a:gd name="connsiteX4" fmla="*/ 95243 w 95243"/>
                    <a:gd name="connsiteY4" fmla="*/ 47622 h 952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5243" h="95243">
                      <a:moveTo>
                        <a:pt x="95243" y="47622"/>
                      </a:moveTo>
                      <a:cubicBezTo>
                        <a:pt x="95243" y="73922"/>
                        <a:pt x="73923" y="95243"/>
                        <a:pt x="47621" y="95243"/>
                      </a:cubicBezTo>
                      <a:cubicBezTo>
                        <a:pt x="21321" y="95243"/>
                        <a:pt x="0" y="73922"/>
                        <a:pt x="0" y="47622"/>
                      </a:cubicBezTo>
                      <a:cubicBezTo>
                        <a:pt x="0" y="21321"/>
                        <a:pt x="21321" y="0"/>
                        <a:pt x="47621" y="0"/>
                      </a:cubicBezTo>
                      <a:cubicBezTo>
                        <a:pt x="73923" y="0"/>
                        <a:pt x="95243" y="21321"/>
                        <a:pt x="95243" y="47622"/>
                      </a:cubicBezTo>
                      <a:close/>
                    </a:path>
                  </a:pathLst>
                </a:custGeom>
                <a:noFill/>
                <a:ln w="6350" cap="flat">
                  <a:solidFill>
                    <a:schemeClr val="accent3"/>
                  </a:solidFill>
                  <a:prstDash val="solid"/>
                  <a:round/>
                </a:ln>
              </p:spPr>
              <p:txBody>
                <a:bodyPr lIns="0" tIns="0" rIns="0" bIns="0" rtlCol="0" anchor="ctr" anchorCtr="0"/>
                <a:lstStyle/>
                <a:p>
                  <a:endParaRPr lang="pt-BR" sz="1600" dirty="0">
                    <a:latin typeface="Montserrat" panose="00000500000000000000" pitchFamily="2" charset="0"/>
                  </a:endParaRPr>
                </a:p>
              </p:txBody>
            </p:sp>
          </p:grpSp>
        </p:grpSp>
        <p:pic>
          <p:nvPicPr>
            <p:cNvPr id="41" name="Graphic 40" descr="Users outline">
              <a:extLst>
                <a:ext uri="{FF2B5EF4-FFF2-40B4-BE49-F238E27FC236}">
                  <a16:creationId xmlns:a16="http://schemas.microsoft.com/office/drawing/2014/main" id="{398C8CAF-6FFD-62FF-CC2D-AC917965E7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415843" y="3509397"/>
              <a:ext cx="447904" cy="516102"/>
            </a:xfrm>
            <a:prstGeom prst="rect">
              <a:avLst/>
            </a:prstGeom>
          </p:spPr>
        </p:pic>
        <p:grpSp>
          <p:nvGrpSpPr>
            <p:cNvPr id="50" name="Gráfico 3">
              <a:extLst>
                <a:ext uri="{FF2B5EF4-FFF2-40B4-BE49-F238E27FC236}">
                  <a16:creationId xmlns:a16="http://schemas.microsoft.com/office/drawing/2014/main" id="{D040B30C-348A-71E7-2603-AA36707BB336}"/>
                </a:ext>
              </a:extLst>
            </p:cNvPr>
            <p:cNvGrpSpPr/>
            <p:nvPr/>
          </p:nvGrpSpPr>
          <p:grpSpPr>
            <a:xfrm>
              <a:off x="6474164" y="4240496"/>
              <a:ext cx="331262" cy="323148"/>
              <a:chOff x="5928528" y="2869792"/>
              <a:chExt cx="244061" cy="238108"/>
            </a:xfrm>
            <a:noFill/>
          </p:grpSpPr>
          <p:sp>
            <p:nvSpPr>
              <p:cNvPr id="51" name="Forma Livre: Forma 302">
                <a:extLst>
                  <a:ext uri="{FF2B5EF4-FFF2-40B4-BE49-F238E27FC236}">
                    <a16:creationId xmlns:a16="http://schemas.microsoft.com/office/drawing/2014/main" id="{21BD6A84-D100-17CF-242A-A60EB0C6DAD8}"/>
                  </a:ext>
                </a:extLst>
              </p:cNvPr>
              <p:cNvSpPr/>
              <p:nvPr/>
            </p:nvSpPr>
            <p:spPr>
              <a:xfrm>
                <a:off x="5988056" y="3072184"/>
                <a:ext cx="35716" cy="35716"/>
              </a:xfrm>
              <a:custGeom>
                <a:avLst/>
                <a:gdLst>
                  <a:gd name="connsiteX0" fmla="*/ 35716 w 35716"/>
                  <a:gd name="connsiteY0" fmla="*/ 17858 h 35716"/>
                  <a:gd name="connsiteX1" fmla="*/ 17858 w 35716"/>
                  <a:gd name="connsiteY1" fmla="*/ 35716 h 35716"/>
                  <a:gd name="connsiteX2" fmla="*/ 0 w 35716"/>
                  <a:gd name="connsiteY2" fmla="*/ 17858 h 35716"/>
                  <a:gd name="connsiteX3" fmla="*/ 17858 w 35716"/>
                  <a:gd name="connsiteY3" fmla="*/ 0 h 35716"/>
                  <a:gd name="connsiteX4" fmla="*/ 35716 w 35716"/>
                  <a:gd name="connsiteY4" fmla="*/ 17858 h 35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716" h="35716">
                    <a:moveTo>
                      <a:pt x="35716" y="17858"/>
                    </a:moveTo>
                    <a:cubicBezTo>
                      <a:pt x="35716" y="27721"/>
                      <a:pt x="27721" y="35716"/>
                      <a:pt x="17858" y="35716"/>
                    </a:cubicBezTo>
                    <a:cubicBezTo>
                      <a:pt x="7995" y="35716"/>
                      <a:pt x="0" y="27721"/>
                      <a:pt x="0" y="17858"/>
                    </a:cubicBezTo>
                    <a:cubicBezTo>
                      <a:pt x="0" y="7995"/>
                      <a:pt x="7995" y="0"/>
                      <a:pt x="17858" y="0"/>
                    </a:cubicBezTo>
                    <a:cubicBezTo>
                      <a:pt x="27721" y="0"/>
                      <a:pt x="35716" y="7995"/>
                      <a:pt x="35716" y="17858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lIns="0" tIns="0" rIns="0" bIns="0" rtlCol="0" anchor="ctr" anchorCtr="0"/>
              <a:lstStyle/>
              <a:p>
                <a:endParaRPr lang="pt-BR" sz="1600">
                  <a:latin typeface="Montserrat" panose="00000500000000000000" pitchFamily="2" charset="0"/>
                </a:endParaRPr>
              </a:p>
            </p:txBody>
          </p:sp>
          <p:sp>
            <p:nvSpPr>
              <p:cNvPr id="52" name="Forma Livre: Forma 303">
                <a:extLst>
                  <a:ext uri="{FF2B5EF4-FFF2-40B4-BE49-F238E27FC236}">
                    <a16:creationId xmlns:a16="http://schemas.microsoft.com/office/drawing/2014/main" id="{DD06A2AA-12D6-FB6D-2E12-A363193E4031}"/>
                  </a:ext>
                </a:extLst>
              </p:cNvPr>
              <p:cNvSpPr/>
              <p:nvPr/>
            </p:nvSpPr>
            <p:spPr>
              <a:xfrm>
                <a:off x="6107110" y="3072184"/>
                <a:ext cx="35716" cy="35716"/>
              </a:xfrm>
              <a:custGeom>
                <a:avLst/>
                <a:gdLst>
                  <a:gd name="connsiteX0" fmla="*/ 35716 w 35716"/>
                  <a:gd name="connsiteY0" fmla="*/ 17858 h 35716"/>
                  <a:gd name="connsiteX1" fmla="*/ 17858 w 35716"/>
                  <a:gd name="connsiteY1" fmla="*/ 35716 h 35716"/>
                  <a:gd name="connsiteX2" fmla="*/ 0 w 35716"/>
                  <a:gd name="connsiteY2" fmla="*/ 17858 h 35716"/>
                  <a:gd name="connsiteX3" fmla="*/ 17858 w 35716"/>
                  <a:gd name="connsiteY3" fmla="*/ 0 h 35716"/>
                  <a:gd name="connsiteX4" fmla="*/ 35716 w 35716"/>
                  <a:gd name="connsiteY4" fmla="*/ 17858 h 35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716" h="35716">
                    <a:moveTo>
                      <a:pt x="35716" y="17858"/>
                    </a:moveTo>
                    <a:cubicBezTo>
                      <a:pt x="35716" y="27721"/>
                      <a:pt x="27721" y="35716"/>
                      <a:pt x="17858" y="35716"/>
                    </a:cubicBezTo>
                    <a:cubicBezTo>
                      <a:pt x="7995" y="35716"/>
                      <a:pt x="0" y="27721"/>
                      <a:pt x="0" y="17858"/>
                    </a:cubicBezTo>
                    <a:cubicBezTo>
                      <a:pt x="0" y="7995"/>
                      <a:pt x="7995" y="0"/>
                      <a:pt x="17858" y="0"/>
                    </a:cubicBezTo>
                    <a:cubicBezTo>
                      <a:pt x="27721" y="0"/>
                      <a:pt x="35716" y="7995"/>
                      <a:pt x="35716" y="17858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lIns="0" tIns="0" rIns="0" bIns="0" rtlCol="0" anchor="ctr" anchorCtr="0"/>
              <a:lstStyle/>
              <a:p>
                <a:endParaRPr lang="pt-BR" sz="1600">
                  <a:latin typeface="Montserrat" panose="00000500000000000000" pitchFamily="2" charset="0"/>
                </a:endParaRPr>
              </a:p>
            </p:txBody>
          </p:sp>
          <p:sp>
            <p:nvSpPr>
              <p:cNvPr id="53" name="Forma Livre: Forma 304">
                <a:extLst>
                  <a:ext uri="{FF2B5EF4-FFF2-40B4-BE49-F238E27FC236}">
                    <a16:creationId xmlns:a16="http://schemas.microsoft.com/office/drawing/2014/main" id="{EB7D6E5F-E952-BED2-F4C4-F699155C05DE}"/>
                  </a:ext>
                </a:extLst>
              </p:cNvPr>
              <p:cNvSpPr/>
              <p:nvPr/>
            </p:nvSpPr>
            <p:spPr>
              <a:xfrm>
                <a:off x="6148779" y="2911461"/>
                <a:ext cx="23810" cy="101196"/>
              </a:xfrm>
              <a:custGeom>
                <a:avLst/>
                <a:gdLst>
                  <a:gd name="connsiteX0" fmla="*/ 23811 w 23810"/>
                  <a:gd name="connsiteY0" fmla="*/ 0 h 101196"/>
                  <a:gd name="connsiteX1" fmla="*/ 0 w 23810"/>
                  <a:gd name="connsiteY1" fmla="*/ 101196 h 101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810" h="101196">
                    <a:moveTo>
                      <a:pt x="23811" y="0"/>
                    </a:moveTo>
                    <a:lnTo>
                      <a:pt x="0" y="101196"/>
                    </a:lnTo>
                  </a:path>
                </a:pathLst>
              </a:custGeom>
              <a:ln w="6350" cap="rnd">
                <a:solidFill>
                  <a:schemeClr val="accent3"/>
                </a:solidFill>
                <a:prstDash val="solid"/>
                <a:miter/>
              </a:ln>
            </p:spPr>
            <p:txBody>
              <a:bodyPr lIns="0" tIns="0" rIns="0" bIns="0" rtlCol="0" anchor="ctr" anchorCtr="0"/>
              <a:lstStyle/>
              <a:p>
                <a:endParaRPr lang="pt-BR" sz="1600">
                  <a:latin typeface="Montserrat" panose="00000500000000000000" pitchFamily="2" charset="0"/>
                </a:endParaRPr>
              </a:p>
            </p:txBody>
          </p:sp>
          <p:sp>
            <p:nvSpPr>
              <p:cNvPr id="54" name="Forma Livre: Forma 305">
                <a:extLst>
                  <a:ext uri="{FF2B5EF4-FFF2-40B4-BE49-F238E27FC236}">
                    <a16:creationId xmlns:a16="http://schemas.microsoft.com/office/drawing/2014/main" id="{A8094634-E9F8-BDBB-086D-3EB3F06A0496}"/>
                  </a:ext>
                </a:extLst>
              </p:cNvPr>
              <p:cNvSpPr/>
              <p:nvPr/>
            </p:nvSpPr>
            <p:spPr>
              <a:xfrm>
                <a:off x="5982103" y="3012657"/>
                <a:ext cx="166675" cy="5952"/>
              </a:xfrm>
              <a:custGeom>
                <a:avLst/>
                <a:gdLst>
                  <a:gd name="connsiteX0" fmla="*/ 166676 w 166675"/>
                  <a:gd name="connsiteY0" fmla="*/ 0 h 5952"/>
                  <a:gd name="connsiteX1" fmla="*/ 0 w 166675"/>
                  <a:gd name="connsiteY1" fmla="*/ 0 h 5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6675" h="5952">
                    <a:moveTo>
                      <a:pt x="166676" y="0"/>
                    </a:moveTo>
                    <a:lnTo>
                      <a:pt x="0" y="0"/>
                    </a:lnTo>
                  </a:path>
                </a:pathLst>
              </a:custGeom>
              <a:ln w="6350" cap="rnd">
                <a:solidFill>
                  <a:schemeClr val="accent3"/>
                </a:solidFill>
                <a:prstDash val="solid"/>
                <a:miter/>
              </a:ln>
            </p:spPr>
            <p:txBody>
              <a:bodyPr lIns="0" tIns="0" rIns="0" bIns="0" rtlCol="0" anchor="ctr" anchorCtr="0"/>
              <a:lstStyle/>
              <a:p>
                <a:endParaRPr lang="pt-BR" sz="1600">
                  <a:latin typeface="Montserrat" panose="00000500000000000000" pitchFamily="2" charset="0"/>
                </a:endParaRPr>
              </a:p>
            </p:txBody>
          </p:sp>
          <p:sp>
            <p:nvSpPr>
              <p:cNvPr id="55" name="Forma Livre: Forma 306">
                <a:extLst>
                  <a:ext uri="{FF2B5EF4-FFF2-40B4-BE49-F238E27FC236}">
                    <a16:creationId xmlns:a16="http://schemas.microsoft.com/office/drawing/2014/main" id="{FC245B52-6DF2-CC5D-34FC-4F545B575A80}"/>
                  </a:ext>
                </a:extLst>
              </p:cNvPr>
              <p:cNvSpPr/>
              <p:nvPr/>
            </p:nvSpPr>
            <p:spPr>
              <a:xfrm>
                <a:off x="5952339" y="2881698"/>
                <a:ext cx="190486" cy="160723"/>
              </a:xfrm>
              <a:custGeom>
                <a:avLst/>
                <a:gdLst>
                  <a:gd name="connsiteX0" fmla="*/ 0 w 190486"/>
                  <a:gd name="connsiteY0" fmla="*/ 0 h 160723"/>
                  <a:gd name="connsiteX1" fmla="*/ 29764 w 190486"/>
                  <a:gd name="connsiteY1" fmla="*/ 130960 h 160723"/>
                  <a:gd name="connsiteX2" fmla="*/ 35716 w 190486"/>
                  <a:gd name="connsiteY2" fmla="*/ 160723 h 160723"/>
                  <a:gd name="connsiteX3" fmla="*/ 190487 w 190486"/>
                  <a:gd name="connsiteY3" fmla="*/ 160723 h 160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486" h="160723">
                    <a:moveTo>
                      <a:pt x="0" y="0"/>
                    </a:moveTo>
                    <a:lnTo>
                      <a:pt x="29764" y="130960"/>
                    </a:lnTo>
                    <a:lnTo>
                      <a:pt x="35716" y="160723"/>
                    </a:lnTo>
                    <a:lnTo>
                      <a:pt x="190487" y="160723"/>
                    </a:lnTo>
                  </a:path>
                </a:pathLst>
              </a:custGeom>
              <a:noFill/>
              <a:ln w="6350" cap="rnd">
                <a:solidFill>
                  <a:schemeClr val="accent3"/>
                </a:solidFill>
                <a:prstDash val="solid"/>
                <a:miter/>
              </a:ln>
            </p:spPr>
            <p:txBody>
              <a:bodyPr lIns="0" tIns="0" rIns="0" bIns="0" rtlCol="0" anchor="ctr" anchorCtr="0"/>
              <a:lstStyle/>
              <a:p>
                <a:endParaRPr lang="pt-BR" sz="1600">
                  <a:latin typeface="Montserrat" panose="00000500000000000000" pitchFamily="2" charset="0"/>
                </a:endParaRPr>
              </a:p>
            </p:txBody>
          </p:sp>
          <p:sp>
            <p:nvSpPr>
              <p:cNvPr id="56" name="Forma Livre: Forma 307">
                <a:extLst>
                  <a:ext uri="{FF2B5EF4-FFF2-40B4-BE49-F238E27FC236}">
                    <a16:creationId xmlns:a16="http://schemas.microsoft.com/office/drawing/2014/main" id="{59083735-5751-2338-2B61-20387C3D3C53}"/>
                  </a:ext>
                </a:extLst>
              </p:cNvPr>
              <p:cNvSpPr/>
              <p:nvPr/>
            </p:nvSpPr>
            <p:spPr>
              <a:xfrm>
                <a:off x="5928528" y="2881698"/>
                <a:ext cx="23810" cy="5952"/>
              </a:xfrm>
              <a:custGeom>
                <a:avLst/>
                <a:gdLst>
                  <a:gd name="connsiteX0" fmla="*/ 23811 w 23810"/>
                  <a:gd name="connsiteY0" fmla="*/ 0 h 5952"/>
                  <a:gd name="connsiteX1" fmla="*/ 0 w 23810"/>
                  <a:gd name="connsiteY1" fmla="*/ 0 h 5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810" h="5952">
                    <a:moveTo>
                      <a:pt x="23811" y="0"/>
                    </a:moveTo>
                    <a:lnTo>
                      <a:pt x="0" y="0"/>
                    </a:lnTo>
                  </a:path>
                </a:pathLst>
              </a:custGeom>
              <a:ln w="6350" cap="rnd">
                <a:solidFill>
                  <a:schemeClr val="accent3"/>
                </a:solidFill>
                <a:prstDash val="solid"/>
                <a:miter/>
              </a:ln>
            </p:spPr>
            <p:txBody>
              <a:bodyPr lIns="0" tIns="0" rIns="0" bIns="0" rtlCol="0" anchor="ctr" anchorCtr="0"/>
              <a:lstStyle/>
              <a:p>
                <a:endParaRPr lang="pt-BR" sz="1600">
                  <a:latin typeface="Montserrat" panose="00000500000000000000" pitchFamily="2" charset="0"/>
                </a:endParaRPr>
              </a:p>
            </p:txBody>
          </p:sp>
          <p:sp>
            <p:nvSpPr>
              <p:cNvPr id="57" name="Forma Livre: Forma 308">
                <a:extLst>
                  <a:ext uri="{FF2B5EF4-FFF2-40B4-BE49-F238E27FC236}">
                    <a16:creationId xmlns:a16="http://schemas.microsoft.com/office/drawing/2014/main" id="{A97E0734-CDD1-B1FC-AEFD-B4860767490E}"/>
                  </a:ext>
                </a:extLst>
              </p:cNvPr>
              <p:cNvSpPr/>
              <p:nvPr/>
            </p:nvSpPr>
            <p:spPr>
              <a:xfrm>
                <a:off x="6107110" y="2911461"/>
                <a:ext cx="65479" cy="5952"/>
              </a:xfrm>
              <a:custGeom>
                <a:avLst/>
                <a:gdLst>
                  <a:gd name="connsiteX0" fmla="*/ 65480 w 65479"/>
                  <a:gd name="connsiteY0" fmla="*/ 0 h 5952"/>
                  <a:gd name="connsiteX1" fmla="*/ 0 w 65479"/>
                  <a:gd name="connsiteY1" fmla="*/ 0 h 5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479" h="5952">
                    <a:moveTo>
                      <a:pt x="65480" y="0"/>
                    </a:moveTo>
                    <a:lnTo>
                      <a:pt x="0" y="0"/>
                    </a:lnTo>
                  </a:path>
                </a:pathLst>
              </a:custGeom>
              <a:ln w="6350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lIns="0" tIns="0" rIns="0" bIns="0" rtlCol="0" anchor="ctr" anchorCtr="0"/>
              <a:lstStyle/>
              <a:p>
                <a:endParaRPr lang="pt-BR" sz="1600">
                  <a:latin typeface="Montserrat" panose="00000500000000000000" pitchFamily="2" charset="0"/>
                </a:endParaRPr>
              </a:p>
            </p:txBody>
          </p:sp>
          <p:sp>
            <p:nvSpPr>
              <p:cNvPr id="58" name="Forma Livre: Forma 309">
                <a:extLst>
                  <a:ext uri="{FF2B5EF4-FFF2-40B4-BE49-F238E27FC236}">
                    <a16:creationId xmlns:a16="http://schemas.microsoft.com/office/drawing/2014/main" id="{D1CC21BA-B80C-3427-CD7C-0FD93E47ED50}"/>
                  </a:ext>
                </a:extLst>
              </p:cNvPr>
              <p:cNvSpPr/>
              <p:nvPr/>
            </p:nvSpPr>
            <p:spPr>
              <a:xfrm>
                <a:off x="6023772" y="2869792"/>
                <a:ext cx="83337" cy="83337"/>
              </a:xfrm>
              <a:custGeom>
                <a:avLst/>
                <a:gdLst>
                  <a:gd name="connsiteX0" fmla="*/ 83338 w 83337"/>
                  <a:gd name="connsiteY0" fmla="*/ 41669 h 83337"/>
                  <a:gd name="connsiteX1" fmla="*/ 41669 w 83337"/>
                  <a:gd name="connsiteY1" fmla="*/ 83338 h 83337"/>
                  <a:gd name="connsiteX2" fmla="*/ 0 w 83337"/>
                  <a:gd name="connsiteY2" fmla="*/ 41669 h 83337"/>
                  <a:gd name="connsiteX3" fmla="*/ 41669 w 83337"/>
                  <a:gd name="connsiteY3" fmla="*/ 0 h 83337"/>
                  <a:gd name="connsiteX4" fmla="*/ 83338 w 83337"/>
                  <a:gd name="connsiteY4" fmla="*/ 41669 h 83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337" h="83337">
                    <a:moveTo>
                      <a:pt x="83338" y="41669"/>
                    </a:moveTo>
                    <a:cubicBezTo>
                      <a:pt x="83338" y="64682"/>
                      <a:pt x="64682" y="83338"/>
                      <a:pt x="41669" y="83338"/>
                    </a:cubicBezTo>
                    <a:cubicBezTo>
                      <a:pt x="18656" y="83338"/>
                      <a:pt x="0" y="64682"/>
                      <a:pt x="0" y="41669"/>
                    </a:cubicBezTo>
                    <a:cubicBezTo>
                      <a:pt x="0" y="18656"/>
                      <a:pt x="18656" y="0"/>
                      <a:pt x="41669" y="0"/>
                    </a:cubicBezTo>
                    <a:cubicBezTo>
                      <a:pt x="64682" y="0"/>
                      <a:pt x="83338" y="18656"/>
                      <a:pt x="83338" y="41669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lIns="0" tIns="0" rIns="0" bIns="0" rtlCol="0" anchor="ctr" anchorCtr="0"/>
              <a:lstStyle/>
              <a:p>
                <a:endParaRPr lang="pt-BR" sz="1600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59" name="Forma Livre: Forma 310">
                <a:extLst>
                  <a:ext uri="{FF2B5EF4-FFF2-40B4-BE49-F238E27FC236}">
                    <a16:creationId xmlns:a16="http://schemas.microsoft.com/office/drawing/2014/main" id="{912F5FE3-BEFA-8FC4-054D-9484E25D1B20}"/>
                  </a:ext>
                </a:extLst>
              </p:cNvPr>
              <p:cNvSpPr/>
              <p:nvPr/>
            </p:nvSpPr>
            <p:spPr>
              <a:xfrm>
                <a:off x="5958292" y="2911461"/>
                <a:ext cx="65479" cy="5952"/>
              </a:xfrm>
              <a:custGeom>
                <a:avLst/>
                <a:gdLst>
                  <a:gd name="connsiteX0" fmla="*/ 65480 w 65479"/>
                  <a:gd name="connsiteY0" fmla="*/ 0 h 5952"/>
                  <a:gd name="connsiteX1" fmla="*/ 0 w 65479"/>
                  <a:gd name="connsiteY1" fmla="*/ 0 h 5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479" h="5952">
                    <a:moveTo>
                      <a:pt x="65480" y="0"/>
                    </a:moveTo>
                    <a:lnTo>
                      <a:pt x="0" y="0"/>
                    </a:lnTo>
                  </a:path>
                </a:pathLst>
              </a:custGeom>
              <a:ln w="6350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lIns="0" tIns="0" rIns="0" bIns="0" rtlCol="0" anchor="ctr" anchorCtr="0"/>
              <a:lstStyle/>
              <a:p>
                <a:endParaRPr lang="pt-BR" sz="1600">
                  <a:latin typeface="Montserrat" panose="00000500000000000000" pitchFamily="2" charset="0"/>
                </a:endParaRPr>
              </a:p>
            </p:txBody>
          </p:sp>
          <p:grpSp>
            <p:nvGrpSpPr>
              <p:cNvPr id="60" name="Gráfico 3">
                <a:extLst>
                  <a:ext uri="{FF2B5EF4-FFF2-40B4-BE49-F238E27FC236}">
                    <a16:creationId xmlns:a16="http://schemas.microsoft.com/office/drawing/2014/main" id="{36FE899A-BD4E-D6F0-D264-6A1836FF0D95}"/>
                  </a:ext>
                </a:extLst>
              </p:cNvPr>
              <p:cNvGrpSpPr/>
              <p:nvPr/>
            </p:nvGrpSpPr>
            <p:grpSpPr>
              <a:xfrm>
                <a:off x="6047583" y="2899556"/>
                <a:ext cx="35716" cy="23810"/>
                <a:chOff x="6047583" y="2899556"/>
                <a:chExt cx="35716" cy="23810"/>
              </a:xfrm>
            </p:grpSpPr>
            <p:sp>
              <p:nvSpPr>
                <p:cNvPr id="61" name="Forma Livre: Forma 312">
                  <a:extLst>
                    <a:ext uri="{FF2B5EF4-FFF2-40B4-BE49-F238E27FC236}">
                      <a16:creationId xmlns:a16="http://schemas.microsoft.com/office/drawing/2014/main" id="{092D10A4-EEA7-C1EC-3DCC-7B7338FB94D4}"/>
                    </a:ext>
                  </a:extLst>
                </p:cNvPr>
                <p:cNvSpPr/>
                <p:nvPr/>
              </p:nvSpPr>
              <p:spPr>
                <a:xfrm>
                  <a:off x="6047583" y="2911461"/>
                  <a:ext cx="11905" cy="11905"/>
                </a:xfrm>
                <a:custGeom>
                  <a:avLst/>
                  <a:gdLst>
                    <a:gd name="connsiteX0" fmla="*/ 0 w 11905"/>
                    <a:gd name="connsiteY0" fmla="*/ 0 h 11905"/>
                    <a:gd name="connsiteX1" fmla="*/ 11905 w 11905"/>
                    <a:gd name="connsiteY1" fmla="*/ 11905 h 11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1905" h="11905">
                      <a:moveTo>
                        <a:pt x="0" y="0"/>
                      </a:moveTo>
                      <a:lnTo>
                        <a:pt x="11905" y="11905"/>
                      </a:lnTo>
                    </a:path>
                  </a:pathLst>
                </a:custGeom>
                <a:ln w="6350" cap="rnd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lIns="0" tIns="0" rIns="0" bIns="0" rtlCol="0" anchor="ctr" anchorCtr="0"/>
                <a:lstStyle/>
                <a:p>
                  <a:endParaRPr lang="pt-BR" sz="160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62" name="Forma Livre: Forma 313">
                  <a:extLst>
                    <a:ext uri="{FF2B5EF4-FFF2-40B4-BE49-F238E27FC236}">
                      <a16:creationId xmlns:a16="http://schemas.microsoft.com/office/drawing/2014/main" id="{8B7F5154-BFD9-2FD7-7228-F615062AD070}"/>
                    </a:ext>
                  </a:extLst>
                </p:cNvPr>
                <p:cNvSpPr/>
                <p:nvPr/>
              </p:nvSpPr>
              <p:spPr>
                <a:xfrm>
                  <a:off x="6059488" y="2899556"/>
                  <a:ext cx="23810" cy="23810"/>
                </a:xfrm>
                <a:custGeom>
                  <a:avLst/>
                  <a:gdLst>
                    <a:gd name="connsiteX0" fmla="*/ 0 w 23810"/>
                    <a:gd name="connsiteY0" fmla="*/ 23811 h 23810"/>
                    <a:gd name="connsiteX1" fmla="*/ 23811 w 23810"/>
                    <a:gd name="connsiteY1" fmla="*/ 0 h 23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3810" h="23810">
                      <a:moveTo>
                        <a:pt x="0" y="23811"/>
                      </a:moveTo>
                      <a:lnTo>
                        <a:pt x="23811" y="0"/>
                      </a:lnTo>
                    </a:path>
                  </a:pathLst>
                </a:custGeom>
                <a:ln w="6350" cap="rnd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lIns="0" tIns="0" rIns="0" bIns="0" rtlCol="0" anchor="ctr" anchorCtr="0"/>
                <a:lstStyle/>
                <a:p>
                  <a:endParaRPr lang="pt-BR" sz="1600">
                    <a:latin typeface="Montserrat" panose="00000500000000000000" pitchFamily="2" charset="0"/>
                  </a:endParaRPr>
                </a:p>
              </p:txBody>
            </p:sp>
          </p:grpSp>
        </p:grpSp>
        <p:pic>
          <p:nvPicPr>
            <p:cNvPr id="67" name="Graphic 66" descr="Dollar outline">
              <a:extLst>
                <a:ext uri="{FF2B5EF4-FFF2-40B4-BE49-F238E27FC236}">
                  <a16:creationId xmlns:a16="http://schemas.microsoft.com/office/drawing/2014/main" id="{1F58E8C3-CBB5-4083-360C-1C18BD94D63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426508" y="4780798"/>
              <a:ext cx="426575" cy="426575"/>
            </a:xfrm>
            <a:prstGeom prst="rect">
              <a:avLst/>
            </a:prstGeom>
          </p:spPr>
        </p:pic>
        <p:pic>
          <p:nvPicPr>
            <p:cNvPr id="100" name="Graphic 99" descr="Exponential Graph with solid fill">
              <a:extLst>
                <a:ext uri="{FF2B5EF4-FFF2-40B4-BE49-F238E27FC236}">
                  <a16:creationId xmlns:a16="http://schemas.microsoft.com/office/drawing/2014/main" id="{FBDA65E0-9C1B-BE87-5A3C-91D796243B9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463525" y="5409832"/>
              <a:ext cx="352541" cy="352541"/>
            </a:xfrm>
            <a:prstGeom prst="rect">
              <a:avLst/>
            </a:prstGeom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B325FD4-D9C8-6C4B-2BAE-9488A49BC8F4}"/>
                </a:ext>
              </a:extLst>
            </p:cNvPr>
            <p:cNvGrpSpPr/>
            <p:nvPr/>
          </p:nvGrpSpPr>
          <p:grpSpPr>
            <a:xfrm>
              <a:off x="6467630" y="2983763"/>
              <a:ext cx="344330" cy="298124"/>
              <a:chOff x="5871071" y="2870816"/>
              <a:chExt cx="344330" cy="298124"/>
            </a:xfrm>
          </p:grpSpPr>
          <p:sp>
            <p:nvSpPr>
              <p:cNvPr id="43" name="Forma Livre: Forma 219">
                <a:extLst>
                  <a:ext uri="{FF2B5EF4-FFF2-40B4-BE49-F238E27FC236}">
                    <a16:creationId xmlns:a16="http://schemas.microsoft.com/office/drawing/2014/main" id="{10C6C6B5-D235-B3DD-52F5-08897E0C88BA}"/>
                  </a:ext>
                </a:extLst>
              </p:cNvPr>
              <p:cNvSpPr/>
              <p:nvPr/>
            </p:nvSpPr>
            <p:spPr>
              <a:xfrm>
                <a:off x="5871071" y="3019879"/>
                <a:ext cx="344330" cy="149061"/>
              </a:xfrm>
              <a:custGeom>
                <a:avLst/>
                <a:gdLst>
                  <a:gd name="connsiteX0" fmla="*/ 0 w 247311"/>
                  <a:gd name="connsiteY0" fmla="*/ 0 h 117767"/>
                  <a:gd name="connsiteX1" fmla="*/ 247312 w 247311"/>
                  <a:gd name="connsiteY1" fmla="*/ 0 h 117767"/>
                  <a:gd name="connsiteX2" fmla="*/ 247312 w 247311"/>
                  <a:gd name="connsiteY2" fmla="*/ 94214 h 117767"/>
                  <a:gd name="connsiteX3" fmla="*/ 223758 w 247311"/>
                  <a:gd name="connsiteY3" fmla="*/ 117768 h 117767"/>
                  <a:gd name="connsiteX4" fmla="*/ 23553 w 247311"/>
                  <a:gd name="connsiteY4" fmla="*/ 117768 h 117767"/>
                  <a:gd name="connsiteX5" fmla="*/ 0 w 247311"/>
                  <a:gd name="connsiteY5" fmla="*/ 94214 h 117767"/>
                  <a:gd name="connsiteX6" fmla="*/ 0 w 247311"/>
                  <a:gd name="connsiteY6" fmla="*/ 0 h 117767"/>
                  <a:gd name="connsiteX7" fmla="*/ 0 w 247311"/>
                  <a:gd name="connsiteY7" fmla="*/ 0 h 117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7311" h="117767">
                    <a:moveTo>
                      <a:pt x="0" y="0"/>
                    </a:moveTo>
                    <a:lnTo>
                      <a:pt x="247312" y="0"/>
                    </a:lnTo>
                    <a:lnTo>
                      <a:pt x="247312" y="94214"/>
                    </a:lnTo>
                    <a:cubicBezTo>
                      <a:pt x="247312" y="107227"/>
                      <a:pt x="236771" y="117768"/>
                      <a:pt x="223758" y="117768"/>
                    </a:cubicBezTo>
                    <a:lnTo>
                      <a:pt x="23553" y="117768"/>
                    </a:lnTo>
                    <a:cubicBezTo>
                      <a:pt x="10540" y="117768"/>
                      <a:pt x="0" y="107227"/>
                      <a:pt x="0" y="94214"/>
                    </a:cubicBez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6350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lIns="0" tIns="0" rIns="0" bIns="0" rtlCol="0" anchor="ctr" anchorCtr="0"/>
              <a:lstStyle/>
              <a:p>
                <a:endParaRPr lang="pt-BR" sz="1600">
                  <a:latin typeface="Montserrat" panose="00000500000000000000" pitchFamily="2" charset="0"/>
                </a:endParaRPr>
              </a:p>
            </p:txBody>
          </p:sp>
          <p:sp>
            <p:nvSpPr>
              <p:cNvPr id="44" name="Forma Livre: Forma 220">
                <a:extLst>
                  <a:ext uri="{FF2B5EF4-FFF2-40B4-BE49-F238E27FC236}">
                    <a16:creationId xmlns:a16="http://schemas.microsoft.com/office/drawing/2014/main" id="{092FA0E2-4A81-15FE-039B-CC12A3211D76}"/>
                  </a:ext>
                </a:extLst>
              </p:cNvPr>
              <p:cNvSpPr/>
              <p:nvPr/>
            </p:nvSpPr>
            <p:spPr>
              <a:xfrm>
                <a:off x="5887467" y="2975160"/>
                <a:ext cx="311537" cy="44718"/>
              </a:xfrm>
              <a:custGeom>
                <a:avLst/>
                <a:gdLst>
                  <a:gd name="connsiteX0" fmla="*/ 0 w 223758"/>
                  <a:gd name="connsiteY0" fmla="*/ 0 h 35330"/>
                  <a:gd name="connsiteX1" fmla="*/ 223758 w 223758"/>
                  <a:gd name="connsiteY1" fmla="*/ 0 h 35330"/>
                  <a:gd name="connsiteX2" fmla="*/ 223758 w 223758"/>
                  <a:gd name="connsiteY2" fmla="*/ 35330 h 35330"/>
                  <a:gd name="connsiteX3" fmla="*/ 0 w 223758"/>
                  <a:gd name="connsiteY3" fmla="*/ 35330 h 35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3758" h="35330">
                    <a:moveTo>
                      <a:pt x="0" y="0"/>
                    </a:moveTo>
                    <a:lnTo>
                      <a:pt x="223758" y="0"/>
                    </a:lnTo>
                    <a:lnTo>
                      <a:pt x="223758" y="35330"/>
                    </a:lnTo>
                    <a:lnTo>
                      <a:pt x="0" y="35330"/>
                    </a:lnTo>
                    <a:close/>
                  </a:path>
                </a:pathLst>
              </a:custGeom>
              <a:noFill/>
              <a:ln w="6350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lIns="0" tIns="0" rIns="0" bIns="0" rtlCol="0" anchor="ctr" anchorCtr="0"/>
              <a:lstStyle/>
              <a:p>
                <a:endParaRPr lang="pt-BR" sz="1600">
                  <a:latin typeface="Montserrat" panose="00000500000000000000" pitchFamily="2" charset="0"/>
                </a:endParaRPr>
              </a:p>
            </p:txBody>
          </p:sp>
          <p:sp>
            <p:nvSpPr>
              <p:cNvPr id="45" name="Forma Livre: Forma 221">
                <a:extLst>
                  <a:ext uri="{FF2B5EF4-FFF2-40B4-BE49-F238E27FC236}">
                    <a16:creationId xmlns:a16="http://schemas.microsoft.com/office/drawing/2014/main" id="{4CE9B672-8E84-DDE6-C719-B15D10FB0D1E}"/>
                  </a:ext>
                </a:extLst>
              </p:cNvPr>
              <p:cNvSpPr/>
              <p:nvPr/>
            </p:nvSpPr>
            <p:spPr>
              <a:xfrm>
                <a:off x="5887467" y="2997519"/>
                <a:ext cx="311537" cy="7453"/>
              </a:xfrm>
              <a:custGeom>
                <a:avLst/>
                <a:gdLst>
                  <a:gd name="connsiteX0" fmla="*/ 0 w 223758"/>
                  <a:gd name="connsiteY0" fmla="*/ 0 h 5888"/>
                  <a:gd name="connsiteX1" fmla="*/ 223758 w 223758"/>
                  <a:gd name="connsiteY1" fmla="*/ 0 h 5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23758" h="5888">
                    <a:moveTo>
                      <a:pt x="0" y="0"/>
                    </a:moveTo>
                    <a:lnTo>
                      <a:pt x="223758" y="0"/>
                    </a:lnTo>
                  </a:path>
                </a:pathLst>
              </a:custGeom>
              <a:ln w="6350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lIns="0" tIns="0" rIns="0" bIns="0" rtlCol="0" anchor="ctr" anchorCtr="0"/>
              <a:lstStyle/>
              <a:p>
                <a:endParaRPr lang="pt-BR" sz="1600">
                  <a:latin typeface="Montserrat" panose="00000500000000000000" pitchFamily="2" charset="0"/>
                </a:endParaRPr>
              </a:p>
            </p:txBody>
          </p:sp>
          <p:sp>
            <p:nvSpPr>
              <p:cNvPr id="46" name="Forma Livre: Forma 222">
                <a:extLst>
                  <a:ext uri="{FF2B5EF4-FFF2-40B4-BE49-F238E27FC236}">
                    <a16:creationId xmlns:a16="http://schemas.microsoft.com/office/drawing/2014/main" id="{BCB0AD40-7228-B7E5-8FEC-1E33943D92E4}"/>
                  </a:ext>
                </a:extLst>
              </p:cNvPr>
              <p:cNvSpPr/>
              <p:nvPr/>
            </p:nvSpPr>
            <p:spPr>
              <a:xfrm>
                <a:off x="5895520" y="2870816"/>
                <a:ext cx="247749" cy="104343"/>
              </a:xfrm>
              <a:custGeom>
                <a:avLst/>
                <a:gdLst>
                  <a:gd name="connsiteX0" fmla="*/ 105 w 177943"/>
                  <a:gd name="connsiteY0" fmla="*/ 82437 h 82437"/>
                  <a:gd name="connsiteX1" fmla="*/ 70765 w 177943"/>
                  <a:gd name="connsiteY1" fmla="*/ 41219 h 82437"/>
                  <a:gd name="connsiteX2" fmla="*/ 141426 w 177943"/>
                  <a:gd name="connsiteY2" fmla="*/ 0 h 82437"/>
                  <a:gd name="connsiteX3" fmla="*/ 164979 w 177943"/>
                  <a:gd name="connsiteY3" fmla="*/ 52995 h 82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7943" h="82437">
                    <a:moveTo>
                      <a:pt x="105" y="82437"/>
                    </a:moveTo>
                    <a:cubicBezTo>
                      <a:pt x="105" y="82437"/>
                      <a:pt x="-5784" y="48226"/>
                      <a:pt x="70765" y="41219"/>
                    </a:cubicBezTo>
                    <a:cubicBezTo>
                      <a:pt x="147314" y="34211"/>
                      <a:pt x="141426" y="0"/>
                      <a:pt x="141426" y="0"/>
                    </a:cubicBezTo>
                    <a:cubicBezTo>
                      <a:pt x="141426" y="0"/>
                      <a:pt x="204372" y="19491"/>
                      <a:pt x="164979" y="52995"/>
                    </a:cubicBezTo>
                  </a:path>
                </a:pathLst>
              </a:custGeom>
              <a:noFill/>
              <a:ln w="6350" cap="rnd">
                <a:solidFill>
                  <a:schemeClr val="accent3"/>
                </a:solidFill>
                <a:prstDash val="solid"/>
                <a:miter/>
              </a:ln>
            </p:spPr>
            <p:txBody>
              <a:bodyPr lIns="0" tIns="0" rIns="0" bIns="0" rtlCol="0" anchor="ctr" anchorCtr="0"/>
              <a:lstStyle/>
              <a:p>
                <a:endParaRPr lang="pt-BR" sz="1600">
                  <a:latin typeface="Montserrat" panose="00000500000000000000" pitchFamily="2" charset="0"/>
                </a:endParaRPr>
              </a:p>
            </p:txBody>
          </p:sp>
          <p:sp>
            <p:nvSpPr>
              <p:cNvPr id="47" name="Forma Livre: Forma 223">
                <a:extLst>
                  <a:ext uri="{FF2B5EF4-FFF2-40B4-BE49-F238E27FC236}">
                    <a16:creationId xmlns:a16="http://schemas.microsoft.com/office/drawing/2014/main" id="{FED8ABB2-BB97-385A-08CF-E0467D77388D}"/>
                  </a:ext>
                </a:extLst>
              </p:cNvPr>
              <p:cNvSpPr/>
              <p:nvPr/>
            </p:nvSpPr>
            <p:spPr>
              <a:xfrm>
                <a:off x="6149816" y="2915536"/>
                <a:ext cx="32892" cy="59625"/>
              </a:xfrm>
              <a:custGeom>
                <a:avLst/>
                <a:gdLst>
                  <a:gd name="connsiteX0" fmla="*/ 23553 w 23624"/>
                  <a:gd name="connsiteY0" fmla="*/ 47107 h 47107"/>
                  <a:gd name="connsiteX1" fmla="*/ 0 w 23624"/>
                  <a:gd name="connsiteY1" fmla="*/ 0 h 47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624" h="47107">
                    <a:moveTo>
                      <a:pt x="23553" y="47107"/>
                    </a:moveTo>
                    <a:cubicBezTo>
                      <a:pt x="23553" y="47107"/>
                      <a:pt x="26144" y="3651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3"/>
                </a:solidFill>
                <a:prstDash val="solid"/>
                <a:miter/>
              </a:ln>
            </p:spPr>
            <p:txBody>
              <a:bodyPr lIns="0" tIns="0" rIns="0" bIns="0" rtlCol="0" anchor="ctr" anchorCtr="0"/>
              <a:lstStyle/>
              <a:p>
                <a:endParaRPr lang="pt-BR" sz="1600">
                  <a:latin typeface="Montserrat" panose="00000500000000000000" pitchFamily="2" charset="0"/>
                </a:endParaRPr>
              </a:p>
            </p:txBody>
          </p:sp>
        </p:grp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E78848EB-63C1-31D4-CA73-295DB7EBF42D}"/>
              </a:ext>
            </a:extLst>
          </p:cNvPr>
          <p:cNvSpPr txBox="1"/>
          <p:nvPr/>
        </p:nvSpPr>
        <p:spPr>
          <a:xfrm>
            <a:off x="5460599" y="2917382"/>
            <a:ext cx="816732" cy="43088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Montserrat "/>
                <a:ea typeface="Roboto" panose="02000000000000000000" pitchFamily="2" charset="0"/>
              </a:rPr>
              <a:t>03</a:t>
            </a:r>
            <a:endParaRPr lang="en-US" sz="2800" dirty="0">
              <a:solidFill>
                <a:schemeClr val="accent3">
                  <a:lumMod val="40000"/>
                  <a:lumOff val="60000"/>
                </a:schemeClr>
              </a:solidFill>
              <a:latin typeface="Montserrat 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561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Diagonal Corners Rounded 18">
            <a:extLst>
              <a:ext uri="{FF2B5EF4-FFF2-40B4-BE49-F238E27FC236}">
                <a16:creationId xmlns:a16="http://schemas.microsoft.com/office/drawing/2014/main" id="{08762A1E-231F-E0BD-7A96-F0627AFDDCBA}"/>
              </a:ext>
            </a:extLst>
          </p:cNvPr>
          <p:cNvSpPr/>
          <p:nvPr/>
        </p:nvSpPr>
        <p:spPr>
          <a:xfrm>
            <a:off x="5065152" y="4110814"/>
            <a:ext cx="1536652" cy="1785838"/>
          </a:xfrm>
          <a:prstGeom prst="round2Diag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08021-21A1-285F-BDA1-8B97F9A86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ctr">
            <a:noAutofit/>
          </a:bodyPr>
          <a:lstStyle/>
          <a:p>
            <a:r>
              <a:rPr lang="pt-BR" sz="1800" dirty="0"/>
              <a:t>Brasil é referência global no mercado de beleza e cuidados pessoais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D5C6F24-6B00-4E63-8C35-E298325D82F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0" tIns="36000" rIns="0" bIns="0" rtlCol="0">
            <a:spAutoFit/>
          </a:bodyPr>
          <a:lstStyle/>
          <a:p>
            <a:r>
              <a:rPr lang="pt-BR" sz="1050" dirty="0">
                <a:latin typeface="Montserrat Light" pitchFamily="2" charset="0"/>
              </a:rPr>
              <a:t>O mercado brasileiro cresce mais rapidamente do que outros países e mostra perspectivas promissoras até 2028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B5B22D-D6E6-29C1-9EE1-3E881C8C2F8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pt-BR" dirty="0">
                <a:solidFill>
                  <a:schemeClr val="tx2"/>
                </a:solidFill>
                <a:latin typeface="Montserrat" panose="00000500000000000000" pitchFamily="2" charset="0"/>
              </a:rPr>
              <a:t>Fonte: </a:t>
            </a:r>
            <a:r>
              <a:rPr lang="pt-BR" dirty="0" err="1">
                <a:solidFill>
                  <a:schemeClr val="tx2"/>
                </a:solidFill>
                <a:latin typeface="Montserrat" panose="00000500000000000000" pitchFamily="2" charset="0"/>
              </a:rPr>
              <a:t>Statista</a:t>
            </a:r>
            <a:r>
              <a:rPr lang="pt-BR" dirty="0">
                <a:solidFill>
                  <a:schemeClr val="tx2"/>
                </a:solidFill>
                <a:latin typeface="Montserrat" panose="00000500000000000000" pitchFamily="2" charset="0"/>
              </a:rPr>
              <a:t> Tamanho do mercado de beleza e cuidados pessoais em 20 países no mundo todo 2023, </a:t>
            </a:r>
            <a:r>
              <a:rPr lang="pt-BR" dirty="0" err="1">
                <a:solidFill>
                  <a:schemeClr val="tx2"/>
                </a:solidFill>
                <a:latin typeface="Montserrat" panose="00000500000000000000" pitchFamily="2" charset="0"/>
              </a:rPr>
              <a:t>Statista</a:t>
            </a:r>
            <a:r>
              <a:rPr lang="pt-BR" dirty="0">
                <a:solidFill>
                  <a:schemeClr val="tx2"/>
                </a:solidFill>
                <a:latin typeface="Montserrat" panose="00000500000000000000" pitchFamily="2" charset="0"/>
              </a:rPr>
              <a:t> (2023), </a:t>
            </a:r>
            <a:r>
              <a:rPr lang="pt-BR" dirty="0" err="1">
                <a:solidFill>
                  <a:schemeClr val="tx2"/>
                </a:solidFill>
                <a:latin typeface="Montserrat" panose="00000500000000000000" pitchFamily="2" charset="0"/>
              </a:rPr>
              <a:t>Euromonitor</a:t>
            </a:r>
            <a:r>
              <a:rPr lang="pt-BR" dirty="0">
                <a:solidFill>
                  <a:schemeClr val="tx2"/>
                </a:solidFill>
                <a:latin typeface="Montserrat" panose="00000500000000000000" pitchFamily="2" charset="0"/>
              </a:rPr>
              <a:t>, IBGE, Kantar, L’Oreal </a:t>
            </a:r>
            <a:br>
              <a:rPr lang="pt-BR" dirty="0">
                <a:solidFill>
                  <a:schemeClr val="tx2"/>
                </a:solidFill>
                <a:latin typeface="Montserrat" panose="00000500000000000000" pitchFamily="2" charset="0"/>
              </a:rPr>
            </a:br>
            <a:r>
              <a:rPr lang="pt-BR" dirty="0">
                <a:solidFill>
                  <a:schemeClr val="tx2"/>
                </a:solidFill>
                <a:latin typeface="Montserrat" panose="00000500000000000000" pitchFamily="2" charset="0"/>
              </a:rPr>
              <a:t>Notas: 1) Inclui produtos e serviços de beleza e cuidados pessoais e uma taxa de câmbio de R$ 5,0/USD</a:t>
            </a:r>
          </a:p>
        </p:txBody>
      </p:sp>
      <p:pic>
        <p:nvPicPr>
          <p:cNvPr id="73" name="Gráfico 14">
            <a:extLst>
              <a:ext uri="{FF2B5EF4-FFF2-40B4-BE49-F238E27FC236}">
                <a16:creationId xmlns:a16="http://schemas.microsoft.com/office/drawing/2014/main" id="{2DC4DF2C-EB72-24B3-E157-1034C04111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3450" y="357006"/>
            <a:ext cx="341362" cy="30777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487FB22-A742-1908-0A66-3991EE2A84B0}"/>
              </a:ext>
            </a:extLst>
          </p:cNvPr>
          <p:cNvSpPr/>
          <p:nvPr/>
        </p:nvSpPr>
        <p:spPr>
          <a:xfrm flipH="1">
            <a:off x="257175" y="1585681"/>
            <a:ext cx="11934824" cy="154632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117" name="Content Placeholder 10">
            <a:extLst>
              <a:ext uri="{FF2B5EF4-FFF2-40B4-BE49-F238E27FC236}">
                <a16:creationId xmlns:a16="http://schemas.microsoft.com/office/drawing/2014/main" id="{DB0BE35C-6D28-7ECC-FCA0-11AE29A5057A}"/>
              </a:ext>
            </a:extLst>
          </p:cNvPr>
          <p:cNvSpPr txBox="1">
            <a:spLocks/>
          </p:cNvSpPr>
          <p:nvPr/>
        </p:nvSpPr>
        <p:spPr>
          <a:xfrm>
            <a:off x="2177984" y="1773812"/>
            <a:ext cx="1648700" cy="1170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1pPr>
            <a:lvl2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2pPr>
            <a:lvl3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Source Sans Pro" panose="020B0503030403020204" pitchFamily="34" charset="0"/>
              <a:buChar char="−"/>
              <a:defRPr sz="1200" kern="1200">
                <a:solidFill>
                  <a:schemeClr val="tx1"/>
                </a:solidFill>
                <a:latin typeface="Source Serif Pro Light" panose="02040303050405020204" pitchFamily="18" charset="0"/>
                <a:ea typeface="Source Serif Pro Light" panose="02040303050405020204" pitchFamily="18" charset="0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2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kern="1200">
                <a:solidFill>
                  <a:schemeClr val="accent4"/>
                </a:solidFill>
                <a:latin typeface="Source Serif Pro Black" panose="02040903050405020204" pitchFamily="18" charset="0"/>
                <a:ea typeface="Source Serif Pro Black" panose="02040903050405020204" pitchFamily="18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400" i="0" u="none" strike="noStrike" kern="1200" cap="none" spc="-10" normalizeH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" pitchFamily="2" charset="0"/>
              </a:rPr>
              <a:t>O investimento   e a dedicação com beleza são fundamentais para o brasileiro</a:t>
            </a:r>
          </a:p>
        </p:txBody>
      </p:sp>
      <p:graphicFrame>
        <p:nvGraphicFramePr>
          <p:cNvPr id="168" name="Content Placeholder 20">
            <a:extLst>
              <a:ext uri="{FF2B5EF4-FFF2-40B4-BE49-F238E27FC236}">
                <a16:creationId xmlns:a16="http://schemas.microsoft.com/office/drawing/2014/main" id="{F28712BC-D795-BA45-B0D6-526A166EFC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999886"/>
              </p:ext>
            </p:extLst>
          </p:nvPr>
        </p:nvGraphicFramePr>
        <p:xfrm>
          <a:off x="734371" y="4352811"/>
          <a:ext cx="3985325" cy="13508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9" name="Content Placeholder 10">
            <a:extLst>
              <a:ext uri="{FF2B5EF4-FFF2-40B4-BE49-F238E27FC236}">
                <a16:creationId xmlns:a16="http://schemas.microsoft.com/office/drawing/2014/main" id="{AAD4F045-8D1F-992D-39D6-47E06C16FEF2}"/>
              </a:ext>
            </a:extLst>
          </p:cNvPr>
          <p:cNvSpPr txBox="1">
            <a:spLocks/>
          </p:cNvSpPr>
          <p:nvPr/>
        </p:nvSpPr>
        <p:spPr>
          <a:xfrm>
            <a:off x="731837" y="4091589"/>
            <a:ext cx="2542050" cy="331497"/>
          </a:xfrm>
          <a:prstGeom prst="rect">
            <a:avLst/>
          </a:prstGeom>
        </p:spPr>
        <p:txBody>
          <a:bodyPr vert="horz" wrap="square" lIns="0" tIns="3600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1pPr>
            <a:lvl2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2pPr>
            <a:lvl3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Source Sans Pro" panose="020B0503030403020204" pitchFamily="34" charset="0"/>
              <a:buChar char="−"/>
              <a:defRPr sz="1200" kern="1200">
                <a:solidFill>
                  <a:schemeClr val="tx1"/>
                </a:solidFill>
                <a:latin typeface="Source Serif Pro Light" panose="02040303050405020204" pitchFamily="18" charset="0"/>
                <a:ea typeface="Source Serif Pro Light" panose="02040303050405020204" pitchFamily="18" charset="0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2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kern="1200">
                <a:solidFill>
                  <a:schemeClr val="accent4"/>
                </a:solidFill>
                <a:latin typeface="Source Serif Pro Black" panose="02040903050405020204" pitchFamily="18" charset="0"/>
                <a:ea typeface="Source Serif Pro Black" panose="02040903050405020204" pitchFamily="18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</a:rPr>
              <a:t>Maiores mercados consumidores de beleza e cuidados pessoais em 2023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</a:rPr>
              <a:t>¹ (R$ Bi)</a:t>
            </a:r>
            <a:endParaRPr kumimoji="0" lang="pt-BR" sz="9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Montserrat" panose="00000500000000000000" pitchFamily="2" charset="0"/>
            </a:endParaRPr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5DDC60F5-ABF3-A14E-916A-EEF0D374018E}"/>
              </a:ext>
            </a:extLst>
          </p:cNvPr>
          <p:cNvGrpSpPr/>
          <p:nvPr/>
        </p:nvGrpSpPr>
        <p:grpSpPr>
          <a:xfrm>
            <a:off x="1413223" y="4635749"/>
            <a:ext cx="1216095" cy="431118"/>
            <a:chOff x="2965487" y="2300845"/>
            <a:chExt cx="3423924" cy="999713"/>
          </a:xfrm>
        </p:grpSpPr>
        <p:cxnSp>
          <p:nvCxnSpPr>
            <p:cNvPr id="171" name="Connector: Elbow 170">
              <a:extLst>
                <a:ext uri="{FF2B5EF4-FFF2-40B4-BE49-F238E27FC236}">
                  <a16:creationId xmlns:a16="http://schemas.microsoft.com/office/drawing/2014/main" id="{A8F87459-8428-916F-C723-0B9D93193764}"/>
                </a:ext>
              </a:extLst>
            </p:cNvPr>
            <p:cNvCxnSpPr>
              <a:cxnSpLocks/>
            </p:cNvCxnSpPr>
            <p:nvPr/>
          </p:nvCxnSpPr>
          <p:spPr>
            <a:xfrm>
              <a:off x="2965487" y="2493991"/>
              <a:ext cx="3423924" cy="806567"/>
            </a:xfrm>
            <a:prstGeom prst="bentConnector3">
              <a:avLst>
                <a:gd name="adj1" fmla="val 100015"/>
              </a:avLst>
            </a:prstGeom>
            <a:ln w="12700">
              <a:solidFill>
                <a:schemeClr val="accent1"/>
              </a:solidFill>
              <a:headEnd type="arrow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6DF3F20B-83C7-B72B-DD24-1BA4F85B223F}"/>
                </a:ext>
              </a:extLst>
            </p:cNvPr>
            <p:cNvSpPr txBox="1"/>
            <p:nvPr/>
          </p:nvSpPr>
          <p:spPr>
            <a:xfrm>
              <a:off x="4263695" y="2300845"/>
              <a:ext cx="854982" cy="38628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90000"/>
                    </a:schemeClr>
                  </a:solidFill>
                  <a:effectLst/>
                  <a:uLnTx/>
                  <a:uFillTx/>
                  <a:latin typeface="Montserrat" panose="00000500000000000000" pitchFamily="2" charset="0"/>
                  <a:ea typeface="Source Serif Pro" panose="02040603050405020204" pitchFamily="18" charset="0"/>
                </a:rPr>
                <a:t>3x </a:t>
              </a:r>
            </a:p>
          </p:txBody>
        </p:sp>
      </p:grpSp>
      <p:pic>
        <p:nvPicPr>
          <p:cNvPr id="176" name="Picture 175">
            <a:extLst>
              <a:ext uri="{FF2B5EF4-FFF2-40B4-BE49-F238E27FC236}">
                <a16:creationId xmlns:a16="http://schemas.microsoft.com/office/drawing/2014/main" id="{6B387A77-7BA7-3F4F-D800-4705C1AB9A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321" y="5733908"/>
            <a:ext cx="240181" cy="163157"/>
          </a:xfrm>
          <a:prstGeom prst="rect">
            <a:avLst/>
          </a:prstGeom>
        </p:spPr>
      </p:pic>
      <p:pic>
        <p:nvPicPr>
          <p:cNvPr id="177" name="Picture 176">
            <a:extLst>
              <a:ext uri="{FF2B5EF4-FFF2-40B4-BE49-F238E27FC236}">
                <a16:creationId xmlns:a16="http://schemas.microsoft.com/office/drawing/2014/main" id="{439B79AE-B2B2-9214-6354-D3F0B23E22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2428" y="5733908"/>
            <a:ext cx="241010" cy="163157"/>
          </a:xfrm>
          <a:prstGeom prst="rect">
            <a:avLst/>
          </a:prstGeom>
        </p:spPr>
      </p:pic>
      <p:pic>
        <p:nvPicPr>
          <p:cNvPr id="178" name="Picture 177">
            <a:extLst>
              <a:ext uri="{FF2B5EF4-FFF2-40B4-BE49-F238E27FC236}">
                <a16:creationId xmlns:a16="http://schemas.microsoft.com/office/drawing/2014/main" id="{6421868A-E7E4-BAE7-4F7A-0F33D17267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1471" y="5734321"/>
            <a:ext cx="239354" cy="162330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pic>
        <p:nvPicPr>
          <p:cNvPr id="179" name="Picture 178">
            <a:extLst>
              <a:ext uri="{FF2B5EF4-FFF2-40B4-BE49-F238E27FC236}">
                <a16:creationId xmlns:a16="http://schemas.microsoft.com/office/drawing/2014/main" id="{1CBAF0EC-108E-4F34-2271-29AB80502E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7364" y="5733908"/>
            <a:ext cx="240181" cy="163157"/>
          </a:xfrm>
          <a:prstGeom prst="rect">
            <a:avLst/>
          </a:prstGeom>
        </p:spPr>
      </p:pic>
      <p:pic>
        <p:nvPicPr>
          <p:cNvPr id="180" name="Picture 179">
            <a:extLst>
              <a:ext uri="{FF2B5EF4-FFF2-40B4-BE49-F238E27FC236}">
                <a16:creationId xmlns:a16="http://schemas.microsoft.com/office/drawing/2014/main" id="{05DBFA60-D0DA-E465-D042-166BADA57D5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84750" y="5733908"/>
            <a:ext cx="240181" cy="163157"/>
          </a:xfrm>
          <a:prstGeom prst="rect">
            <a:avLst/>
          </a:prstGeom>
        </p:spPr>
      </p:pic>
      <p:sp>
        <p:nvSpPr>
          <p:cNvPr id="181" name="Content Placeholder 12">
            <a:extLst>
              <a:ext uri="{FF2B5EF4-FFF2-40B4-BE49-F238E27FC236}">
                <a16:creationId xmlns:a16="http://schemas.microsoft.com/office/drawing/2014/main" id="{77BE98EF-6CC5-E8A7-1DAF-1EB664DB8C5E}"/>
              </a:ext>
            </a:extLst>
          </p:cNvPr>
          <p:cNvSpPr txBox="1">
            <a:spLocks/>
          </p:cNvSpPr>
          <p:nvPr/>
        </p:nvSpPr>
        <p:spPr>
          <a:xfrm>
            <a:off x="2206723" y="3337810"/>
            <a:ext cx="7801061" cy="459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000" kern="1200" spc="-20" baseline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defRPr>
            </a:lvl1pPr>
            <a:lvl2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00" kern="1200" spc="-20" baseline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defRPr>
            </a:lvl2pPr>
            <a:lvl3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Source Sans Pro" panose="020B0503030403020204" pitchFamily="34" charset="0"/>
              <a:buChar char="−"/>
              <a:defRPr sz="1000" kern="1200" spc="-20" baseline="0">
                <a:solidFill>
                  <a:schemeClr val="tx2"/>
                </a:solidFill>
                <a:latin typeface="TT Hoves Pro Trial" panose="020B0003020000020203" pitchFamily="34" charset="0"/>
                <a:ea typeface="Source Serif Pro Light" panose="02040303050405020204" pitchFamily="18" charset="0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100" b="0" kern="1200" spc="-20" baseline="0">
                <a:solidFill>
                  <a:schemeClr val="tx2"/>
                </a:solidFill>
                <a:latin typeface="TT Hoves Pro Trial Medium" panose="020B0003020000020203" pitchFamily="34" charset="0"/>
                <a:ea typeface="Source Serif Pro" panose="02040603050405020204" pitchFamily="18" charset="0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000" kern="1200">
                <a:solidFill>
                  <a:schemeClr val="tx2"/>
                </a:solidFill>
                <a:latin typeface="TT Hoves Pro Trial "/>
                <a:ea typeface="Source Serif Pro Black" panose="02040903050405020204" pitchFamily="18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400"/>
              </a:spcAft>
            </a:pPr>
            <a:r>
              <a:rPr lang="pt-BR" sz="1400" b="1" spc="-10" dirty="0">
                <a:latin typeface="Montserrat" pitchFamily="2" charset="0"/>
              </a:rPr>
              <a:t>As características únicas do mercado de cosméticos no Brasil estão impulsionando   o crescimento do mercado de maneira mais acelerada do que em outras regiões</a:t>
            </a:r>
            <a:endParaRPr lang="en-US" sz="1400" b="1" spc="-10" dirty="0">
              <a:latin typeface="Montserrat" pitchFamily="2" charset="0"/>
            </a:endParaRPr>
          </a:p>
        </p:txBody>
      </p:sp>
      <p:sp>
        <p:nvSpPr>
          <p:cNvPr id="182" name="Content Placeholder 10">
            <a:extLst>
              <a:ext uri="{FF2B5EF4-FFF2-40B4-BE49-F238E27FC236}">
                <a16:creationId xmlns:a16="http://schemas.microsoft.com/office/drawing/2014/main" id="{D6A74B4F-2DC2-9859-1E60-A5C245C42790}"/>
              </a:ext>
            </a:extLst>
          </p:cNvPr>
          <p:cNvSpPr txBox="1">
            <a:spLocks/>
          </p:cNvSpPr>
          <p:nvPr/>
        </p:nvSpPr>
        <p:spPr>
          <a:xfrm>
            <a:off x="6953533" y="4110813"/>
            <a:ext cx="3717190" cy="1407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defPPr>
              <a:defRPr lang="pt-BR"/>
            </a:defPPr>
            <a:lvl1pPr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None/>
              <a:defRPr sz="1200" spc="-20" baseline="0">
                <a:latin typeface="TT Hoves Pro Trial Medium" panose="020B0003020000020203" pitchFamily="34" charset="0"/>
                <a:ea typeface="Source Serif Pro" panose="02040603050405020204" pitchFamily="18" charset="0"/>
              </a:defRPr>
            </a:lvl1pPr>
            <a:lvl2pPr marL="108000" indent="-1080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00" spc="-20" baseline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2pPr>
            <a:lvl3pPr marL="108000" indent="-1080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Source Sans Pro" panose="020B0503030403020204" pitchFamily="34" charset="0"/>
              <a:buChar char="−"/>
              <a:defRPr sz="1000" spc="-20" baseline="0">
                <a:solidFill>
                  <a:schemeClr val="tx2"/>
                </a:solidFill>
                <a:latin typeface="TT Hoves Pro Trial" panose="020B0003020000020203" pitchFamily="34" charset="0"/>
                <a:ea typeface="Source Serif Pro Light" panose="02040303050405020204" pitchFamily="18" charset="0"/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100" b="0" spc="-20" baseline="0">
                <a:solidFill>
                  <a:schemeClr val="tx2"/>
                </a:solidFill>
                <a:latin typeface="TT Hoves Pro Trial Medium" panose="020B0003020000020203" pitchFamily="34" charset="0"/>
                <a:ea typeface="Source Serif Pro" panose="02040603050405020204" pitchFamily="18" charset="0"/>
              </a:defRPr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000">
                <a:solidFill>
                  <a:schemeClr val="tx2"/>
                </a:solidFill>
                <a:latin typeface="TT Hoves Pro Trial "/>
                <a:ea typeface="Source Serif Pro Black" panose="02040903050405020204" pitchFamily="18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pt-BR" sz="900" spc="0" dirty="0">
                <a:solidFill>
                  <a:srgbClr val="FFFFFF">
                    <a:lumMod val="50000"/>
                  </a:srgbClr>
                </a:solidFill>
                <a:latin typeface="Montserrat" panose="00000500000000000000" pitchFamily="2" charset="0"/>
              </a:rPr>
              <a:t>Consumo de cosméticos no Brasil</a:t>
            </a:r>
            <a:r>
              <a:rPr lang="en-US" sz="900" spc="0" dirty="0">
                <a:solidFill>
                  <a:srgbClr val="FFFFFF">
                    <a:lumMod val="50000"/>
                  </a:srgbClr>
                </a:solidFill>
                <a:latin typeface="Montserrat" panose="00000500000000000000" pitchFamily="2" charset="0"/>
              </a:rPr>
              <a:t> (R$ Bi) </a:t>
            </a:r>
            <a:endParaRPr lang="pt-BR" sz="900" spc="0" dirty="0">
              <a:solidFill>
                <a:srgbClr val="FFFFFF">
                  <a:lumMod val="50000"/>
                </a:srgbClr>
              </a:solidFill>
              <a:latin typeface="Montserrat" panose="00000500000000000000" pitchFamily="2" charset="0"/>
            </a:endParaRPr>
          </a:p>
        </p:txBody>
      </p:sp>
      <p:graphicFrame>
        <p:nvGraphicFramePr>
          <p:cNvPr id="185" name="Chart 184">
            <a:extLst>
              <a:ext uri="{FF2B5EF4-FFF2-40B4-BE49-F238E27FC236}">
                <a16:creationId xmlns:a16="http://schemas.microsoft.com/office/drawing/2014/main" id="{AE99ABF6-CC9D-72F0-D859-24EEAADD4B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0830354"/>
              </p:ext>
            </p:extLst>
          </p:nvPr>
        </p:nvGraphicFramePr>
        <p:xfrm>
          <a:off x="6947260" y="4311260"/>
          <a:ext cx="3444596" cy="16736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186" name="Rectangle: Rounded Corners 185">
            <a:extLst>
              <a:ext uri="{FF2B5EF4-FFF2-40B4-BE49-F238E27FC236}">
                <a16:creationId xmlns:a16="http://schemas.microsoft.com/office/drawing/2014/main" id="{BC5DEB14-689F-BE12-11AF-78B541C5D717}"/>
              </a:ext>
            </a:extLst>
          </p:cNvPr>
          <p:cNvSpPr/>
          <p:nvPr/>
        </p:nvSpPr>
        <p:spPr>
          <a:xfrm>
            <a:off x="10560703" y="4670016"/>
            <a:ext cx="1289971" cy="368796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2000" tIns="0" rIns="0" bIns="0" rtlCol="0" anchor="ctr"/>
          <a:lstStyle/>
          <a:p>
            <a:pPr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</a:pPr>
            <a:r>
              <a:rPr lang="pt-BR" sz="800" b="1" dirty="0">
                <a:solidFill>
                  <a:schemeClr val="tx2"/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CAGR: </a:t>
            </a:r>
            <a:r>
              <a:rPr lang="pt-BR" sz="1000" b="1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6,6% </a:t>
            </a:r>
            <a:endParaRPr lang="pt-BR" sz="800" b="1" dirty="0">
              <a:solidFill>
                <a:schemeClr val="accent2">
                  <a:lumMod val="75000"/>
                </a:schemeClr>
              </a:solidFill>
              <a:latin typeface="Montserrat" panose="00000500000000000000" pitchFamily="2" charset="0"/>
              <a:ea typeface="Source Serif Pro" panose="02040603050405020204" pitchFamily="18" charset="0"/>
            </a:endParaRPr>
          </a:p>
        </p:txBody>
      </p:sp>
      <p:sp>
        <p:nvSpPr>
          <p:cNvPr id="187" name="Rectangle: Rounded Corners 186">
            <a:extLst>
              <a:ext uri="{FF2B5EF4-FFF2-40B4-BE49-F238E27FC236}">
                <a16:creationId xmlns:a16="http://schemas.microsoft.com/office/drawing/2014/main" id="{09F7103E-9C64-5D45-06D1-24F2AD6E9294}"/>
              </a:ext>
            </a:extLst>
          </p:cNvPr>
          <p:cNvSpPr/>
          <p:nvPr/>
        </p:nvSpPr>
        <p:spPr>
          <a:xfrm>
            <a:off x="10561174" y="5419336"/>
            <a:ext cx="1289161" cy="368796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2000" tIns="0" rIns="0" bIns="0" rtlCol="0" anchor="ctr"/>
          <a:lstStyle/>
          <a:p>
            <a:pPr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</a:pPr>
            <a:r>
              <a:rPr lang="pt-BR" sz="800" b="1" dirty="0">
                <a:solidFill>
                  <a:schemeClr val="tx2"/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CAGR: </a:t>
            </a:r>
            <a:r>
              <a:rPr lang="pt-BR" sz="1000" b="1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2,1%</a:t>
            </a:r>
            <a:endParaRPr lang="pt-BR" sz="800" b="1" dirty="0">
              <a:solidFill>
                <a:schemeClr val="accent2">
                  <a:lumMod val="75000"/>
                </a:schemeClr>
              </a:solidFill>
              <a:latin typeface="Montserrat" panose="00000500000000000000" pitchFamily="2" charset="0"/>
              <a:ea typeface="Source Serif Pro" panose="02040603050405020204" pitchFamily="18" charset="0"/>
            </a:endParaRPr>
          </a:p>
        </p:txBody>
      </p: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64A7EF27-245A-B10A-E630-9AC786C64563}"/>
              </a:ext>
            </a:extLst>
          </p:cNvPr>
          <p:cNvGrpSpPr/>
          <p:nvPr/>
        </p:nvGrpSpPr>
        <p:grpSpPr>
          <a:xfrm flipH="1">
            <a:off x="11169688" y="5213045"/>
            <a:ext cx="72000" cy="72000"/>
            <a:chOff x="7926427" y="5609018"/>
            <a:chExt cx="118524" cy="126397"/>
          </a:xfrm>
        </p:grpSpPr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C8A6D2F2-5490-32BB-6F69-C05E3705D9C9}"/>
                </a:ext>
              </a:extLst>
            </p:cNvPr>
            <p:cNvCxnSpPr>
              <a:cxnSpLocks/>
            </p:cNvCxnSpPr>
            <p:nvPr/>
          </p:nvCxnSpPr>
          <p:spPr>
            <a:xfrm>
              <a:off x="7926427" y="5609021"/>
              <a:ext cx="118486" cy="126394"/>
            </a:xfrm>
            <a:prstGeom prst="line">
              <a:avLst/>
            </a:prstGeom>
            <a:noFill/>
            <a:ln w="34925" cap="sq" cmpd="sng" algn="ctr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  <a:effectLst/>
          </p:spPr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E29C64B0-C4C4-51CF-9D01-2F1CF75870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26460" y="5609018"/>
              <a:ext cx="118491" cy="126394"/>
            </a:xfrm>
            <a:prstGeom prst="line">
              <a:avLst/>
            </a:prstGeom>
            <a:noFill/>
            <a:ln w="34925" cap="sq" cmpd="sng" algn="ctr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  <a:effectLst/>
          </p:spPr>
        </p:cxn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DE8B1116-DD2B-E45E-E140-B1AE79E208F2}"/>
              </a:ext>
            </a:extLst>
          </p:cNvPr>
          <p:cNvGrpSpPr/>
          <p:nvPr/>
        </p:nvGrpSpPr>
        <p:grpSpPr>
          <a:xfrm>
            <a:off x="5336419" y="4401011"/>
            <a:ext cx="1032219" cy="1205444"/>
            <a:chOff x="9050693" y="5145493"/>
            <a:chExt cx="1032219" cy="1205444"/>
          </a:xfrm>
        </p:grpSpPr>
        <p:sp>
          <p:nvSpPr>
            <p:cNvPr id="192" name="Retângulo 27">
              <a:extLst>
                <a:ext uri="{FF2B5EF4-FFF2-40B4-BE49-F238E27FC236}">
                  <a16:creationId xmlns:a16="http://schemas.microsoft.com/office/drawing/2014/main" id="{62BA7F71-9E89-3D96-60C0-E082600CCFF1}"/>
                </a:ext>
              </a:extLst>
            </p:cNvPr>
            <p:cNvSpPr/>
            <p:nvPr/>
          </p:nvSpPr>
          <p:spPr>
            <a:xfrm>
              <a:off x="9050694" y="6002837"/>
              <a:ext cx="1032218" cy="348100"/>
            </a:xfrm>
            <a:prstGeom prst="rect">
              <a:avLst/>
            </a:prstGeom>
            <a:noFill/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Source Serif Pro" panose="02040603050405020204" pitchFamily="18" charset="0"/>
                  <a:cs typeface="Open Sans" panose="020B0606030504020204" pitchFamily="34" charset="0"/>
                </a:rPr>
                <a:t>Com </a:t>
              </a:r>
              <a:r>
                <a:rPr kumimoji="0" lang="en-US" sz="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Source Serif Pro" panose="02040603050405020204" pitchFamily="18" charset="0"/>
                  <a:cs typeface="Open Sans" panose="020B0606030504020204" pitchFamily="34" charset="0"/>
                </a:rPr>
                <a:t>espaço</a:t>
              </a: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Source Serif Pro" panose="02040603050405020204" pitchFamily="18" charset="0"/>
                  <a:cs typeface="Open Sans" panose="020B0606030504020204" pitchFamily="34" charset="0"/>
                </a:rPr>
                <a:t> para </a:t>
              </a:r>
              <a:r>
                <a:rPr kumimoji="0" lang="en-US" sz="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Source Serif Pro" panose="02040603050405020204" pitchFamily="18" charset="0"/>
                  <a:cs typeface="Open Sans" panose="020B0606030504020204" pitchFamily="34" charset="0"/>
                </a:rPr>
                <a:t>crescimento</a:t>
              </a:r>
              <a:endPara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Source Serif Pro" panose="02040603050405020204" pitchFamily="18" charset="0"/>
                <a:cs typeface="Open Sans" panose="020B0606030504020204" pitchFamily="34" charset="0"/>
              </a:endParaRPr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633A05B4-CD6F-32E3-309F-184AB1458B4D}"/>
                </a:ext>
              </a:extLst>
            </p:cNvPr>
            <p:cNvSpPr/>
            <p:nvPr/>
          </p:nvSpPr>
          <p:spPr>
            <a:xfrm>
              <a:off x="9050693" y="5145493"/>
              <a:ext cx="956448" cy="830997"/>
            </a:xfrm>
            <a:prstGeom prst="rect">
              <a:avLst/>
            </a:prstGeom>
            <a:effectLst/>
          </p:spPr>
          <p:txBody>
            <a:bodyPr wrap="square" lIns="0" tIns="0" rIns="0" bIns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Montserrat" panose="00000500000000000000" pitchFamily="2" charset="0"/>
                  <a:ea typeface="Source Serif Pro" panose="02040603050405020204" pitchFamily="18" charset="0"/>
                  <a:cs typeface="Open Sans" panose="020B0606030504020204" pitchFamily="34" charset="0"/>
                </a:rPr>
                <a:t>3º</a:t>
              </a:r>
              <a:r>
                <a:rPr kumimoji="0" lang="pt-BR" sz="2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Montserrat" panose="00000500000000000000" pitchFamily="2" charset="0"/>
                  <a:ea typeface="Source Serif Pro" panose="02040603050405020204" pitchFamily="18" charset="0"/>
                  <a:cs typeface="Open Sans" panose="020B0606030504020204" pitchFamily="34" charset="0"/>
                </a:rPr>
                <a:t> </a:t>
              </a:r>
              <a:r>
                <a:rPr kumimoji="0" lang="pt-BR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effectLst/>
                  <a:uLnTx/>
                  <a:uFillTx/>
                  <a:latin typeface="Montserrat" panose="00000500000000000000" pitchFamily="2" charset="0"/>
                  <a:ea typeface="Source Serif Pro" panose="02040603050405020204" pitchFamily="18" charset="0"/>
                  <a:cs typeface="Open Sans" panose="020B0606030504020204" pitchFamily="34" charset="0"/>
                </a:rPr>
                <a:t>maior mercado</a:t>
              </a:r>
              <a:endPara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Montserrat" panose="00000500000000000000" pitchFamily="2" charset="0"/>
                <a:ea typeface="Source Serif Pro" panose="02040603050405020204" pitchFamily="18" charset="0"/>
                <a:cs typeface="Open Sans" panose="020B0606030504020204" pitchFamily="34" charset="0"/>
              </a:endParaRP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95A11F32-7BC6-EE1F-970D-DE43A9223AC8}"/>
              </a:ext>
            </a:extLst>
          </p:cNvPr>
          <p:cNvSpPr/>
          <p:nvPr/>
        </p:nvSpPr>
        <p:spPr>
          <a:xfrm>
            <a:off x="10882745" y="75837"/>
            <a:ext cx="1221410" cy="38832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r>
              <a:rPr lang="pt-BR" sz="1200" dirty="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</a:rPr>
              <a:t>Validar dado cosmético</a:t>
            </a:r>
          </a:p>
        </p:txBody>
      </p:sp>
      <p:pic>
        <p:nvPicPr>
          <p:cNvPr id="14" name="Picture 13" descr="A person with a cream on her face&#10;&#10;Description automatically generated">
            <a:extLst>
              <a:ext uri="{FF2B5EF4-FFF2-40B4-BE49-F238E27FC236}">
                <a16:creationId xmlns:a16="http://schemas.microsoft.com/office/drawing/2014/main" id="{2D12D170-95C0-AB07-EF43-3EF45D288E6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465" t="1900" b="7239"/>
          <a:stretch/>
        </p:blipFill>
        <p:spPr>
          <a:xfrm>
            <a:off x="-312756" y="1450187"/>
            <a:ext cx="2103612" cy="1817315"/>
          </a:xfrm>
          <a:prstGeom prst="roundRect">
            <a:avLst>
              <a:gd name="adj" fmla="val 11031"/>
            </a:avLst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D2735B2A-0560-E257-F9D8-777C16D26690}"/>
              </a:ext>
            </a:extLst>
          </p:cNvPr>
          <p:cNvGrpSpPr/>
          <p:nvPr/>
        </p:nvGrpSpPr>
        <p:grpSpPr>
          <a:xfrm>
            <a:off x="4201641" y="1846637"/>
            <a:ext cx="3304725" cy="315335"/>
            <a:chOff x="843818" y="2726289"/>
            <a:chExt cx="3304725" cy="315335"/>
          </a:xfrm>
        </p:grpSpPr>
        <p:grpSp>
          <p:nvGrpSpPr>
            <p:cNvPr id="119" name="Gráfico 3">
              <a:extLst>
                <a:ext uri="{FF2B5EF4-FFF2-40B4-BE49-F238E27FC236}">
                  <a16:creationId xmlns:a16="http://schemas.microsoft.com/office/drawing/2014/main" id="{C7314BCA-F4A1-D1C8-4614-DF11F37C51EC}"/>
                </a:ext>
              </a:extLst>
            </p:cNvPr>
            <p:cNvGrpSpPr/>
            <p:nvPr/>
          </p:nvGrpSpPr>
          <p:grpSpPr>
            <a:xfrm>
              <a:off x="843818" y="2726289"/>
              <a:ext cx="344330" cy="298124"/>
              <a:chOff x="5939082" y="2687362"/>
              <a:chExt cx="247311" cy="235535"/>
            </a:xfrm>
            <a:noFill/>
          </p:grpSpPr>
          <p:sp>
            <p:nvSpPr>
              <p:cNvPr id="120" name="Forma Livre: Forma 219">
                <a:extLst>
                  <a:ext uri="{FF2B5EF4-FFF2-40B4-BE49-F238E27FC236}">
                    <a16:creationId xmlns:a16="http://schemas.microsoft.com/office/drawing/2014/main" id="{20E4F8B5-45DB-5231-8A0E-2EBBAC241733}"/>
                  </a:ext>
                </a:extLst>
              </p:cNvPr>
              <p:cNvSpPr/>
              <p:nvPr/>
            </p:nvSpPr>
            <p:spPr>
              <a:xfrm>
                <a:off x="5939082" y="2805130"/>
                <a:ext cx="247311" cy="117767"/>
              </a:xfrm>
              <a:custGeom>
                <a:avLst/>
                <a:gdLst>
                  <a:gd name="connsiteX0" fmla="*/ 0 w 247311"/>
                  <a:gd name="connsiteY0" fmla="*/ 0 h 117767"/>
                  <a:gd name="connsiteX1" fmla="*/ 247312 w 247311"/>
                  <a:gd name="connsiteY1" fmla="*/ 0 h 117767"/>
                  <a:gd name="connsiteX2" fmla="*/ 247312 w 247311"/>
                  <a:gd name="connsiteY2" fmla="*/ 94214 h 117767"/>
                  <a:gd name="connsiteX3" fmla="*/ 223758 w 247311"/>
                  <a:gd name="connsiteY3" fmla="*/ 117768 h 117767"/>
                  <a:gd name="connsiteX4" fmla="*/ 23553 w 247311"/>
                  <a:gd name="connsiteY4" fmla="*/ 117768 h 117767"/>
                  <a:gd name="connsiteX5" fmla="*/ 0 w 247311"/>
                  <a:gd name="connsiteY5" fmla="*/ 94214 h 117767"/>
                  <a:gd name="connsiteX6" fmla="*/ 0 w 247311"/>
                  <a:gd name="connsiteY6" fmla="*/ 0 h 117767"/>
                  <a:gd name="connsiteX7" fmla="*/ 0 w 247311"/>
                  <a:gd name="connsiteY7" fmla="*/ 0 h 117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7311" h="117767">
                    <a:moveTo>
                      <a:pt x="0" y="0"/>
                    </a:moveTo>
                    <a:lnTo>
                      <a:pt x="247312" y="0"/>
                    </a:lnTo>
                    <a:lnTo>
                      <a:pt x="247312" y="94214"/>
                    </a:lnTo>
                    <a:cubicBezTo>
                      <a:pt x="247312" y="107227"/>
                      <a:pt x="236771" y="117768"/>
                      <a:pt x="223758" y="117768"/>
                    </a:cubicBezTo>
                    <a:lnTo>
                      <a:pt x="23553" y="117768"/>
                    </a:lnTo>
                    <a:cubicBezTo>
                      <a:pt x="10540" y="117768"/>
                      <a:pt x="0" y="107227"/>
                      <a:pt x="0" y="94214"/>
                    </a:cubicBez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tIns="0" rtlCol="0" anchor="ctr"/>
              <a:lstStyle/>
              <a:p>
                <a:endParaRPr lang="pt-BR">
                  <a:latin typeface="Montserrat" panose="00000500000000000000" pitchFamily="2" charset="0"/>
                </a:endParaRPr>
              </a:p>
            </p:txBody>
          </p:sp>
          <p:sp>
            <p:nvSpPr>
              <p:cNvPr id="121" name="Forma Livre: Forma 220">
                <a:extLst>
                  <a:ext uri="{FF2B5EF4-FFF2-40B4-BE49-F238E27FC236}">
                    <a16:creationId xmlns:a16="http://schemas.microsoft.com/office/drawing/2014/main" id="{82129C55-C50B-7251-E3B7-9B2AC56BC656}"/>
                  </a:ext>
                </a:extLst>
              </p:cNvPr>
              <p:cNvSpPr/>
              <p:nvPr/>
            </p:nvSpPr>
            <p:spPr>
              <a:xfrm>
                <a:off x="5950858" y="2769800"/>
                <a:ext cx="223758" cy="35330"/>
              </a:xfrm>
              <a:custGeom>
                <a:avLst/>
                <a:gdLst>
                  <a:gd name="connsiteX0" fmla="*/ 0 w 223758"/>
                  <a:gd name="connsiteY0" fmla="*/ 0 h 35330"/>
                  <a:gd name="connsiteX1" fmla="*/ 223758 w 223758"/>
                  <a:gd name="connsiteY1" fmla="*/ 0 h 35330"/>
                  <a:gd name="connsiteX2" fmla="*/ 223758 w 223758"/>
                  <a:gd name="connsiteY2" fmla="*/ 35330 h 35330"/>
                  <a:gd name="connsiteX3" fmla="*/ 0 w 223758"/>
                  <a:gd name="connsiteY3" fmla="*/ 35330 h 35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3758" h="35330">
                    <a:moveTo>
                      <a:pt x="0" y="0"/>
                    </a:moveTo>
                    <a:lnTo>
                      <a:pt x="223758" y="0"/>
                    </a:lnTo>
                    <a:lnTo>
                      <a:pt x="223758" y="35330"/>
                    </a:lnTo>
                    <a:lnTo>
                      <a:pt x="0" y="35330"/>
                    </a:ln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tIns="0" rtlCol="0" anchor="ctr"/>
              <a:lstStyle/>
              <a:p>
                <a:endParaRPr lang="pt-BR">
                  <a:latin typeface="Montserrat" panose="00000500000000000000" pitchFamily="2" charset="0"/>
                </a:endParaRPr>
              </a:p>
            </p:txBody>
          </p:sp>
          <p:sp>
            <p:nvSpPr>
              <p:cNvPr id="122" name="Forma Livre: Forma 221">
                <a:extLst>
                  <a:ext uri="{FF2B5EF4-FFF2-40B4-BE49-F238E27FC236}">
                    <a16:creationId xmlns:a16="http://schemas.microsoft.com/office/drawing/2014/main" id="{409FBC12-E015-18A1-63DD-E3C448B934AC}"/>
                  </a:ext>
                </a:extLst>
              </p:cNvPr>
              <p:cNvSpPr/>
              <p:nvPr/>
            </p:nvSpPr>
            <p:spPr>
              <a:xfrm>
                <a:off x="5950858" y="2787465"/>
                <a:ext cx="223758" cy="5888"/>
              </a:xfrm>
              <a:custGeom>
                <a:avLst/>
                <a:gdLst>
                  <a:gd name="connsiteX0" fmla="*/ 0 w 223758"/>
                  <a:gd name="connsiteY0" fmla="*/ 0 h 5888"/>
                  <a:gd name="connsiteX1" fmla="*/ 223758 w 223758"/>
                  <a:gd name="connsiteY1" fmla="*/ 0 h 5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23758" h="5888">
                    <a:moveTo>
                      <a:pt x="0" y="0"/>
                    </a:moveTo>
                    <a:lnTo>
                      <a:pt x="223758" y="0"/>
                    </a:lnTo>
                  </a:path>
                </a:pathLst>
              </a:custGeom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tIns="0" rtlCol="0" anchor="ctr"/>
              <a:lstStyle/>
              <a:p>
                <a:endParaRPr lang="pt-BR">
                  <a:latin typeface="Montserrat" panose="00000500000000000000" pitchFamily="2" charset="0"/>
                </a:endParaRPr>
              </a:p>
            </p:txBody>
          </p:sp>
          <p:sp>
            <p:nvSpPr>
              <p:cNvPr id="123" name="Forma Livre: Forma 222">
                <a:extLst>
                  <a:ext uri="{FF2B5EF4-FFF2-40B4-BE49-F238E27FC236}">
                    <a16:creationId xmlns:a16="http://schemas.microsoft.com/office/drawing/2014/main" id="{7FD8DD1B-BB06-417A-C2C5-B044F72F62FA}"/>
                  </a:ext>
                </a:extLst>
              </p:cNvPr>
              <p:cNvSpPr/>
              <p:nvPr/>
            </p:nvSpPr>
            <p:spPr>
              <a:xfrm>
                <a:off x="5956642" y="2687362"/>
                <a:ext cx="177943" cy="82437"/>
              </a:xfrm>
              <a:custGeom>
                <a:avLst/>
                <a:gdLst>
                  <a:gd name="connsiteX0" fmla="*/ 105 w 177943"/>
                  <a:gd name="connsiteY0" fmla="*/ 82437 h 82437"/>
                  <a:gd name="connsiteX1" fmla="*/ 70765 w 177943"/>
                  <a:gd name="connsiteY1" fmla="*/ 41219 h 82437"/>
                  <a:gd name="connsiteX2" fmla="*/ 141426 w 177943"/>
                  <a:gd name="connsiteY2" fmla="*/ 0 h 82437"/>
                  <a:gd name="connsiteX3" fmla="*/ 164979 w 177943"/>
                  <a:gd name="connsiteY3" fmla="*/ 52995 h 82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7943" h="82437">
                    <a:moveTo>
                      <a:pt x="105" y="82437"/>
                    </a:moveTo>
                    <a:cubicBezTo>
                      <a:pt x="105" y="82437"/>
                      <a:pt x="-5784" y="48226"/>
                      <a:pt x="70765" y="41219"/>
                    </a:cubicBezTo>
                    <a:cubicBezTo>
                      <a:pt x="147314" y="34211"/>
                      <a:pt x="141426" y="0"/>
                      <a:pt x="141426" y="0"/>
                    </a:cubicBezTo>
                    <a:cubicBezTo>
                      <a:pt x="141426" y="0"/>
                      <a:pt x="204372" y="19491"/>
                      <a:pt x="164979" y="52995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miter/>
              </a:ln>
            </p:spPr>
            <p:txBody>
              <a:bodyPr tIns="0" rtlCol="0" anchor="ctr"/>
              <a:lstStyle/>
              <a:p>
                <a:endParaRPr lang="pt-BR">
                  <a:latin typeface="Montserrat" panose="00000500000000000000" pitchFamily="2" charset="0"/>
                </a:endParaRPr>
              </a:p>
            </p:txBody>
          </p:sp>
          <p:sp>
            <p:nvSpPr>
              <p:cNvPr id="127" name="Forma Livre: Forma 223">
                <a:extLst>
                  <a:ext uri="{FF2B5EF4-FFF2-40B4-BE49-F238E27FC236}">
                    <a16:creationId xmlns:a16="http://schemas.microsoft.com/office/drawing/2014/main" id="{6AA13EEC-83D5-69F9-2536-C0ADA50D6031}"/>
                  </a:ext>
                </a:extLst>
              </p:cNvPr>
              <p:cNvSpPr/>
              <p:nvPr/>
            </p:nvSpPr>
            <p:spPr>
              <a:xfrm>
                <a:off x="6139287" y="2722693"/>
                <a:ext cx="23624" cy="47107"/>
              </a:xfrm>
              <a:custGeom>
                <a:avLst/>
                <a:gdLst>
                  <a:gd name="connsiteX0" fmla="*/ 23553 w 23624"/>
                  <a:gd name="connsiteY0" fmla="*/ 47107 h 47107"/>
                  <a:gd name="connsiteX1" fmla="*/ 0 w 23624"/>
                  <a:gd name="connsiteY1" fmla="*/ 0 h 47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624" h="47107">
                    <a:moveTo>
                      <a:pt x="23553" y="47107"/>
                    </a:moveTo>
                    <a:cubicBezTo>
                      <a:pt x="23553" y="47107"/>
                      <a:pt x="26144" y="3651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chemeClr val="accent2"/>
                </a:solidFill>
                <a:prstDash val="solid"/>
                <a:miter/>
              </a:ln>
            </p:spPr>
            <p:txBody>
              <a:bodyPr tIns="0" rtlCol="0" anchor="ctr"/>
              <a:lstStyle/>
              <a:p>
                <a:endParaRPr lang="pt-BR">
                  <a:latin typeface="Montserrat" panose="00000500000000000000" pitchFamily="2" charset="0"/>
                </a:endParaRPr>
              </a:p>
            </p:txBody>
          </p:sp>
        </p:grpSp>
        <p:sp>
          <p:nvSpPr>
            <p:cNvPr id="128" name="Retângulo 27">
              <a:extLst>
                <a:ext uri="{FF2B5EF4-FFF2-40B4-BE49-F238E27FC236}">
                  <a16:creationId xmlns:a16="http://schemas.microsoft.com/office/drawing/2014/main" id="{C0290BD2-D05E-639E-B70B-3ED50639D756}"/>
                </a:ext>
              </a:extLst>
            </p:cNvPr>
            <p:cNvSpPr/>
            <p:nvPr/>
          </p:nvSpPr>
          <p:spPr>
            <a:xfrm>
              <a:off x="1399351" y="2766228"/>
              <a:ext cx="2749192" cy="275396"/>
            </a:xfrm>
            <a:prstGeom prst="rect">
              <a:avLst/>
            </a:prstGeom>
            <a:noFill/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ea typeface="Source Serif Pro" panose="02040603050405020204" pitchFamily="18" charset="0"/>
                  <a:cs typeface="Open Sans" panose="020B0606030504020204" pitchFamily="34" charset="0"/>
                </a:rPr>
                <a:t>93% </a:t>
              </a:r>
              <a:r>
                <a:rPr kumimoji="0" lang="pt-BR" sz="90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ea typeface="Source Serif Pro" panose="02040603050405020204" pitchFamily="18" charset="0"/>
                  <a:cs typeface="Open Sans" panose="020B0606030504020204" pitchFamily="34" charset="0"/>
                </a:rPr>
                <a:t>dos brasileiros consideram </a:t>
              </a:r>
              <a:r>
                <a:rPr kumimoji="0" lang="pt-BR" sz="9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ea typeface="Source Serif Pro" panose="02040603050405020204" pitchFamily="18" charset="0"/>
                  <a:cs typeface="Open Sans" panose="020B0606030504020204" pitchFamily="34" charset="0"/>
                </a:rPr>
                <a:t>essencial</a:t>
              </a:r>
              <a:r>
                <a:rPr kumimoji="0" lang="pt-BR" sz="90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ea typeface="Source Serif Pro" panose="02040603050405020204" pitchFamily="18" charset="0"/>
                  <a:cs typeface="Open Sans" panose="020B0606030504020204" pitchFamily="34" charset="0"/>
                </a:rPr>
                <a:t> gastar com produtos de beleza e bem-estar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BB8C115-C0C6-CF2E-4CDE-6BA800B0CD36}"/>
              </a:ext>
            </a:extLst>
          </p:cNvPr>
          <p:cNvGrpSpPr/>
          <p:nvPr/>
        </p:nvGrpSpPr>
        <p:grpSpPr>
          <a:xfrm>
            <a:off x="7967764" y="2521003"/>
            <a:ext cx="3813236" cy="350049"/>
            <a:chOff x="881656" y="5232550"/>
            <a:chExt cx="3813236" cy="350049"/>
          </a:xfrm>
        </p:grpSpPr>
        <p:sp>
          <p:nvSpPr>
            <p:cNvPr id="130" name="Retângulo 27">
              <a:extLst>
                <a:ext uri="{FF2B5EF4-FFF2-40B4-BE49-F238E27FC236}">
                  <a16:creationId xmlns:a16="http://schemas.microsoft.com/office/drawing/2014/main" id="{EC44AA01-4733-7EB8-0DA8-3CFDC6AE509D}"/>
                </a:ext>
              </a:extLst>
            </p:cNvPr>
            <p:cNvSpPr/>
            <p:nvPr/>
          </p:nvSpPr>
          <p:spPr>
            <a:xfrm>
              <a:off x="1399349" y="5269908"/>
              <a:ext cx="3295543" cy="275332"/>
            </a:xfrm>
            <a:prstGeom prst="rect">
              <a:avLst/>
            </a:prstGeom>
            <a:noFill/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ea typeface="Source Serif Pro" panose="02040603050405020204" pitchFamily="18" charset="0"/>
                  <a:cs typeface="Open Sans" panose="020B0606030504020204" pitchFamily="34" charset="0"/>
                </a:rPr>
                <a:t>As mulheres brasileiras gastam cerca de </a:t>
              </a:r>
              <a:r>
                <a:rPr kumimoji="0" lang="pt-BR" sz="9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ea typeface="Source Serif Pro" panose="02040603050405020204" pitchFamily="18" charset="0"/>
                  <a:cs typeface="Open Sans" panose="020B0606030504020204" pitchFamily="34" charset="0"/>
                </a:rPr>
                <a:t>R$ 1.530 por ano em cosméticos</a:t>
              </a:r>
            </a:p>
          </p:txBody>
        </p:sp>
        <p:grpSp>
          <p:nvGrpSpPr>
            <p:cNvPr id="132" name="Gráfico 3">
              <a:extLst>
                <a:ext uri="{FF2B5EF4-FFF2-40B4-BE49-F238E27FC236}">
                  <a16:creationId xmlns:a16="http://schemas.microsoft.com/office/drawing/2014/main" id="{09B6B881-74FB-C566-A71B-5844EFBC2CBA}"/>
                </a:ext>
              </a:extLst>
            </p:cNvPr>
            <p:cNvGrpSpPr/>
            <p:nvPr/>
          </p:nvGrpSpPr>
          <p:grpSpPr>
            <a:xfrm>
              <a:off x="881656" y="5232550"/>
              <a:ext cx="268654" cy="350049"/>
              <a:chOff x="6330868" y="3278803"/>
              <a:chExt cx="196447" cy="255966"/>
            </a:xfrm>
            <a:noFill/>
          </p:grpSpPr>
          <p:grpSp>
            <p:nvGrpSpPr>
              <p:cNvPr id="133" name="Gráfico 3">
                <a:extLst>
                  <a:ext uri="{FF2B5EF4-FFF2-40B4-BE49-F238E27FC236}">
                    <a16:creationId xmlns:a16="http://schemas.microsoft.com/office/drawing/2014/main" id="{61680FB1-B24C-3D32-BE05-9B5281694644}"/>
                  </a:ext>
                </a:extLst>
              </p:cNvPr>
              <p:cNvGrpSpPr/>
              <p:nvPr/>
            </p:nvGrpSpPr>
            <p:grpSpPr>
              <a:xfrm>
                <a:off x="6330868" y="3278803"/>
                <a:ext cx="196447" cy="255966"/>
                <a:chOff x="6330868" y="3278803"/>
                <a:chExt cx="196447" cy="255966"/>
              </a:xfrm>
              <a:noFill/>
            </p:grpSpPr>
            <p:sp>
              <p:nvSpPr>
                <p:cNvPr id="139" name="Forma Livre: Forma 392">
                  <a:extLst>
                    <a:ext uri="{FF2B5EF4-FFF2-40B4-BE49-F238E27FC236}">
                      <a16:creationId xmlns:a16="http://schemas.microsoft.com/office/drawing/2014/main" id="{749F86BB-DBD8-EFD8-FE92-CDA9ED9DC551}"/>
                    </a:ext>
                  </a:extLst>
                </p:cNvPr>
                <p:cNvSpPr/>
                <p:nvPr/>
              </p:nvSpPr>
              <p:spPr>
                <a:xfrm>
                  <a:off x="6330868" y="3320472"/>
                  <a:ext cx="196447" cy="214297"/>
                </a:xfrm>
                <a:custGeom>
                  <a:avLst/>
                  <a:gdLst>
                    <a:gd name="connsiteX0" fmla="*/ 184836 w 196447"/>
                    <a:gd name="connsiteY0" fmla="*/ 0 h 214297"/>
                    <a:gd name="connsiteX1" fmla="*/ 11553 w 196447"/>
                    <a:gd name="connsiteY1" fmla="*/ 0 h 214297"/>
                    <a:gd name="connsiteX2" fmla="*/ 4 w 196447"/>
                    <a:gd name="connsiteY2" fmla="*/ 202035 h 214297"/>
                    <a:gd name="connsiteX3" fmla="*/ 11910 w 196447"/>
                    <a:gd name="connsiteY3" fmla="*/ 214298 h 214297"/>
                    <a:gd name="connsiteX4" fmla="*/ 184538 w 196447"/>
                    <a:gd name="connsiteY4" fmla="*/ 214298 h 214297"/>
                    <a:gd name="connsiteX5" fmla="*/ 196443 w 196447"/>
                    <a:gd name="connsiteY5" fmla="*/ 202035 h 214297"/>
                    <a:gd name="connsiteX6" fmla="*/ 184896 w 196447"/>
                    <a:gd name="connsiteY6" fmla="*/ 0 h 2142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96447" h="214297">
                      <a:moveTo>
                        <a:pt x="184836" y="0"/>
                      </a:moveTo>
                      <a:lnTo>
                        <a:pt x="11553" y="0"/>
                      </a:lnTo>
                      <a:lnTo>
                        <a:pt x="4" y="202035"/>
                      </a:lnTo>
                      <a:cubicBezTo>
                        <a:pt x="-174" y="208762"/>
                        <a:pt x="5183" y="214298"/>
                        <a:pt x="11910" y="214298"/>
                      </a:cubicBezTo>
                      <a:lnTo>
                        <a:pt x="184538" y="214298"/>
                      </a:lnTo>
                      <a:cubicBezTo>
                        <a:pt x="191265" y="214298"/>
                        <a:pt x="196622" y="208762"/>
                        <a:pt x="196443" y="202035"/>
                      </a:cubicBezTo>
                      <a:lnTo>
                        <a:pt x="184896" y="0"/>
                      </a:lnTo>
                      <a:close/>
                    </a:path>
                  </a:pathLst>
                </a:custGeom>
                <a:noFill/>
                <a:ln w="6350" cap="flat">
                  <a:solidFill>
                    <a:schemeClr val="accent2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pt-BR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40" name="Forma Livre: Forma 393">
                  <a:extLst>
                    <a:ext uri="{FF2B5EF4-FFF2-40B4-BE49-F238E27FC236}">
                      <a16:creationId xmlns:a16="http://schemas.microsoft.com/office/drawing/2014/main" id="{9D006B36-3813-99BC-657F-0798039A35DA}"/>
                    </a:ext>
                  </a:extLst>
                </p:cNvPr>
                <p:cNvSpPr/>
                <p:nvPr/>
              </p:nvSpPr>
              <p:spPr>
                <a:xfrm>
                  <a:off x="6390697" y="3278803"/>
                  <a:ext cx="71432" cy="83337"/>
                </a:xfrm>
                <a:custGeom>
                  <a:avLst/>
                  <a:gdLst>
                    <a:gd name="connsiteX0" fmla="*/ 0 w 71432"/>
                    <a:gd name="connsiteY0" fmla="*/ 83338 h 83337"/>
                    <a:gd name="connsiteX1" fmla="*/ 0 w 71432"/>
                    <a:gd name="connsiteY1" fmla="*/ 35716 h 83337"/>
                    <a:gd name="connsiteX2" fmla="*/ 35716 w 71432"/>
                    <a:gd name="connsiteY2" fmla="*/ 0 h 83337"/>
                    <a:gd name="connsiteX3" fmla="*/ 35716 w 71432"/>
                    <a:gd name="connsiteY3" fmla="*/ 0 h 83337"/>
                    <a:gd name="connsiteX4" fmla="*/ 71433 w 71432"/>
                    <a:gd name="connsiteY4" fmla="*/ 35716 h 83337"/>
                    <a:gd name="connsiteX5" fmla="*/ 71433 w 71432"/>
                    <a:gd name="connsiteY5" fmla="*/ 83338 h 833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1432" h="83337">
                      <a:moveTo>
                        <a:pt x="0" y="83338"/>
                      </a:moveTo>
                      <a:lnTo>
                        <a:pt x="0" y="35716"/>
                      </a:lnTo>
                      <a:cubicBezTo>
                        <a:pt x="0" y="16013"/>
                        <a:pt x="16013" y="0"/>
                        <a:pt x="35716" y="0"/>
                      </a:cubicBezTo>
                      <a:lnTo>
                        <a:pt x="35716" y="0"/>
                      </a:lnTo>
                      <a:cubicBezTo>
                        <a:pt x="55420" y="0"/>
                        <a:pt x="71433" y="16013"/>
                        <a:pt x="71433" y="35716"/>
                      </a:cubicBezTo>
                      <a:lnTo>
                        <a:pt x="71433" y="83338"/>
                      </a:lnTo>
                    </a:path>
                  </a:pathLst>
                </a:custGeom>
                <a:noFill/>
                <a:ln w="6350" cap="rnd">
                  <a:solidFill>
                    <a:schemeClr val="accent2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pt-BR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34" name="Gráfico 3">
                <a:extLst>
                  <a:ext uri="{FF2B5EF4-FFF2-40B4-BE49-F238E27FC236}">
                    <a16:creationId xmlns:a16="http://schemas.microsoft.com/office/drawing/2014/main" id="{94760B44-7003-F704-43F6-D626AB8F30B8}"/>
                  </a:ext>
                </a:extLst>
              </p:cNvPr>
              <p:cNvGrpSpPr/>
              <p:nvPr/>
            </p:nvGrpSpPr>
            <p:grpSpPr>
              <a:xfrm>
                <a:off x="6378434" y="3391905"/>
                <a:ext cx="95243" cy="95243"/>
                <a:chOff x="6378434" y="3391905"/>
                <a:chExt cx="95243" cy="95243"/>
              </a:xfrm>
              <a:noFill/>
            </p:grpSpPr>
            <p:grpSp>
              <p:nvGrpSpPr>
                <p:cNvPr id="135" name="Gráfico 3">
                  <a:extLst>
                    <a:ext uri="{FF2B5EF4-FFF2-40B4-BE49-F238E27FC236}">
                      <a16:creationId xmlns:a16="http://schemas.microsoft.com/office/drawing/2014/main" id="{96A20488-F313-292F-5AD7-CBD5DFE23A25}"/>
                    </a:ext>
                  </a:extLst>
                </p:cNvPr>
                <p:cNvGrpSpPr/>
                <p:nvPr/>
              </p:nvGrpSpPr>
              <p:grpSpPr>
                <a:xfrm>
                  <a:off x="6408198" y="3409763"/>
                  <a:ext cx="35716" cy="59527"/>
                  <a:chOff x="6408198" y="3409763"/>
                  <a:chExt cx="35716" cy="59527"/>
                </a:xfrm>
                <a:noFill/>
              </p:grpSpPr>
              <p:sp>
                <p:nvSpPr>
                  <p:cNvPr id="137" name="Forma Livre: Forma 390">
                    <a:extLst>
                      <a:ext uri="{FF2B5EF4-FFF2-40B4-BE49-F238E27FC236}">
                        <a16:creationId xmlns:a16="http://schemas.microsoft.com/office/drawing/2014/main" id="{34AC89BD-0B1D-531C-0235-0E99743990CE}"/>
                      </a:ext>
                    </a:extLst>
                  </p:cNvPr>
                  <p:cNvSpPr/>
                  <p:nvPr/>
                </p:nvSpPr>
                <p:spPr>
                  <a:xfrm>
                    <a:off x="6408198" y="3421668"/>
                    <a:ext cx="35716" cy="35716"/>
                  </a:xfrm>
                  <a:custGeom>
                    <a:avLst/>
                    <a:gdLst>
                      <a:gd name="connsiteX0" fmla="*/ 35716 w 35716"/>
                      <a:gd name="connsiteY0" fmla="*/ 0 h 35716"/>
                      <a:gd name="connsiteX1" fmla="*/ 0 w 35716"/>
                      <a:gd name="connsiteY1" fmla="*/ 0 h 35716"/>
                      <a:gd name="connsiteX2" fmla="*/ 0 w 35716"/>
                      <a:gd name="connsiteY2" fmla="*/ 17858 h 35716"/>
                      <a:gd name="connsiteX3" fmla="*/ 35716 w 35716"/>
                      <a:gd name="connsiteY3" fmla="*/ 17858 h 35716"/>
                      <a:gd name="connsiteX4" fmla="*/ 35716 w 35716"/>
                      <a:gd name="connsiteY4" fmla="*/ 35716 h 35716"/>
                      <a:gd name="connsiteX5" fmla="*/ 0 w 35716"/>
                      <a:gd name="connsiteY5" fmla="*/ 35716 h 357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5716" h="35716">
                        <a:moveTo>
                          <a:pt x="35716" y="0"/>
                        </a:moveTo>
                        <a:lnTo>
                          <a:pt x="0" y="0"/>
                        </a:lnTo>
                        <a:lnTo>
                          <a:pt x="0" y="17858"/>
                        </a:lnTo>
                        <a:lnTo>
                          <a:pt x="35716" y="17858"/>
                        </a:lnTo>
                        <a:lnTo>
                          <a:pt x="35716" y="35716"/>
                        </a:lnTo>
                        <a:lnTo>
                          <a:pt x="0" y="35716"/>
                        </a:lnTo>
                      </a:path>
                    </a:pathLst>
                  </a:custGeom>
                  <a:noFill/>
                  <a:ln w="6350" cap="rnd">
                    <a:solidFill>
                      <a:schemeClr val="accent2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pt-BR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138" name="Forma Livre: Forma 391">
                    <a:extLst>
                      <a:ext uri="{FF2B5EF4-FFF2-40B4-BE49-F238E27FC236}">
                        <a16:creationId xmlns:a16="http://schemas.microsoft.com/office/drawing/2014/main" id="{EEBBEBFB-E391-25A7-4BAD-1CDF049E9442}"/>
                      </a:ext>
                    </a:extLst>
                  </p:cNvPr>
                  <p:cNvSpPr/>
                  <p:nvPr/>
                </p:nvSpPr>
                <p:spPr>
                  <a:xfrm>
                    <a:off x="6426056" y="3409763"/>
                    <a:ext cx="5952" cy="59527"/>
                  </a:xfrm>
                  <a:custGeom>
                    <a:avLst/>
                    <a:gdLst>
                      <a:gd name="connsiteX0" fmla="*/ 0 w 5952"/>
                      <a:gd name="connsiteY0" fmla="*/ 0 h 59527"/>
                      <a:gd name="connsiteX1" fmla="*/ 0 w 5952"/>
                      <a:gd name="connsiteY1" fmla="*/ 59527 h 595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5952" h="59527">
                        <a:moveTo>
                          <a:pt x="0" y="0"/>
                        </a:moveTo>
                        <a:lnTo>
                          <a:pt x="0" y="59527"/>
                        </a:lnTo>
                      </a:path>
                    </a:pathLst>
                  </a:custGeom>
                  <a:ln w="6350" cap="rnd">
                    <a:solidFill>
                      <a:schemeClr val="accent2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pt-BR">
                      <a:latin typeface="Montserrat" panose="00000500000000000000" pitchFamily="2" charset="0"/>
                    </a:endParaRPr>
                  </a:p>
                </p:txBody>
              </p:sp>
            </p:grpSp>
            <p:sp>
              <p:nvSpPr>
                <p:cNvPr id="136" name="Forma Livre: Forma 389">
                  <a:extLst>
                    <a:ext uri="{FF2B5EF4-FFF2-40B4-BE49-F238E27FC236}">
                      <a16:creationId xmlns:a16="http://schemas.microsoft.com/office/drawing/2014/main" id="{DFE3E0FE-0525-E10F-E16A-C42F0F6708DD}"/>
                    </a:ext>
                  </a:extLst>
                </p:cNvPr>
                <p:cNvSpPr/>
                <p:nvPr/>
              </p:nvSpPr>
              <p:spPr>
                <a:xfrm>
                  <a:off x="6378434" y="3391905"/>
                  <a:ext cx="95243" cy="95243"/>
                </a:xfrm>
                <a:custGeom>
                  <a:avLst/>
                  <a:gdLst>
                    <a:gd name="connsiteX0" fmla="*/ 95243 w 95243"/>
                    <a:gd name="connsiteY0" fmla="*/ 47622 h 95243"/>
                    <a:gd name="connsiteX1" fmla="*/ 47621 w 95243"/>
                    <a:gd name="connsiteY1" fmla="*/ 95243 h 95243"/>
                    <a:gd name="connsiteX2" fmla="*/ 0 w 95243"/>
                    <a:gd name="connsiteY2" fmla="*/ 47622 h 95243"/>
                    <a:gd name="connsiteX3" fmla="*/ 47621 w 95243"/>
                    <a:gd name="connsiteY3" fmla="*/ 0 h 95243"/>
                    <a:gd name="connsiteX4" fmla="*/ 95243 w 95243"/>
                    <a:gd name="connsiteY4" fmla="*/ 47622 h 952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5243" h="95243">
                      <a:moveTo>
                        <a:pt x="95243" y="47622"/>
                      </a:moveTo>
                      <a:cubicBezTo>
                        <a:pt x="95243" y="73922"/>
                        <a:pt x="73923" y="95243"/>
                        <a:pt x="47621" y="95243"/>
                      </a:cubicBezTo>
                      <a:cubicBezTo>
                        <a:pt x="21321" y="95243"/>
                        <a:pt x="0" y="73922"/>
                        <a:pt x="0" y="47622"/>
                      </a:cubicBezTo>
                      <a:cubicBezTo>
                        <a:pt x="0" y="21321"/>
                        <a:pt x="21321" y="0"/>
                        <a:pt x="47621" y="0"/>
                      </a:cubicBezTo>
                      <a:cubicBezTo>
                        <a:pt x="73923" y="0"/>
                        <a:pt x="95243" y="21321"/>
                        <a:pt x="95243" y="47622"/>
                      </a:cubicBezTo>
                      <a:close/>
                    </a:path>
                  </a:pathLst>
                </a:custGeom>
                <a:noFill/>
                <a:ln w="6350" cap="flat">
                  <a:solidFill>
                    <a:schemeClr val="accent2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pt-BR" dirty="0">
                    <a:latin typeface="Montserrat" panose="00000500000000000000" pitchFamily="2" charset="0"/>
                  </a:endParaRPr>
                </a:p>
              </p:txBody>
            </p:sp>
          </p:grp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47F9498-1A9E-48B8-5282-E5ADE00AB8C6}"/>
              </a:ext>
            </a:extLst>
          </p:cNvPr>
          <p:cNvGrpSpPr/>
          <p:nvPr/>
        </p:nvGrpSpPr>
        <p:grpSpPr>
          <a:xfrm>
            <a:off x="7925256" y="1846637"/>
            <a:ext cx="3700589" cy="557525"/>
            <a:chOff x="839148" y="4371140"/>
            <a:chExt cx="3700589" cy="557525"/>
          </a:xfrm>
        </p:grpSpPr>
        <p:sp>
          <p:nvSpPr>
            <p:cNvPr id="141" name="Retângulo 27">
              <a:extLst>
                <a:ext uri="{FF2B5EF4-FFF2-40B4-BE49-F238E27FC236}">
                  <a16:creationId xmlns:a16="http://schemas.microsoft.com/office/drawing/2014/main" id="{34EA7BFA-971E-0361-F9DB-9768255A7229}"/>
                </a:ext>
              </a:extLst>
            </p:cNvPr>
            <p:cNvSpPr/>
            <p:nvPr/>
          </p:nvSpPr>
          <p:spPr>
            <a:xfrm>
              <a:off x="1403699" y="4371140"/>
              <a:ext cx="3136038" cy="557525"/>
            </a:xfrm>
            <a:prstGeom prst="rect">
              <a:avLst/>
            </a:prstGeom>
            <a:noFill/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ea typeface="Source Serif Pro" panose="02040603050405020204" pitchFamily="18" charset="0"/>
                  <a:cs typeface="Open Sans" panose="020B0606030504020204" pitchFamily="34" charset="0"/>
                </a:rPr>
                <a:t>Os brasileiros com renda entre 2 e 10 salários mínimos </a:t>
              </a:r>
              <a:r>
                <a:rPr kumimoji="0" lang="pt-BR" sz="9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ea typeface="Source Serif Pro" panose="02040603050405020204" pitchFamily="18" charset="0"/>
                  <a:cs typeface="Open Sans" panose="020B0606030504020204" pitchFamily="34" charset="0"/>
                </a:rPr>
                <a:t>destinam 1,46% de sua renda a produtos de beleza</a:t>
              </a:r>
              <a:r>
                <a:rPr kumimoji="0" lang="pt-BR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ea typeface="Source Serif Pro" panose="02040603050405020204" pitchFamily="18" charset="0"/>
                  <a:cs typeface="Open Sans" panose="020B0606030504020204" pitchFamily="34" charset="0"/>
                </a:rPr>
                <a:t>, superando os gastos com itens básicos como arroz e feijão, que representam 0,68%</a:t>
              </a:r>
              <a:endParaRPr kumimoji="0" lang="pt-BR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ea typeface="Source Serif Pro" panose="02040603050405020204" pitchFamily="18" charset="0"/>
                <a:cs typeface="Open Sans" panose="020B0606030504020204" pitchFamily="34" charset="0"/>
              </a:endParaRPr>
            </a:p>
          </p:txBody>
        </p:sp>
        <p:grpSp>
          <p:nvGrpSpPr>
            <p:cNvPr id="143" name="Agrupar 857">
              <a:extLst>
                <a:ext uri="{FF2B5EF4-FFF2-40B4-BE49-F238E27FC236}">
                  <a16:creationId xmlns:a16="http://schemas.microsoft.com/office/drawing/2014/main" id="{8440C903-021B-BDF3-763F-5A941FDD59B9}"/>
                </a:ext>
              </a:extLst>
            </p:cNvPr>
            <p:cNvGrpSpPr/>
            <p:nvPr/>
          </p:nvGrpSpPr>
          <p:grpSpPr>
            <a:xfrm>
              <a:off x="839148" y="4393477"/>
              <a:ext cx="353671" cy="358470"/>
              <a:chOff x="10582275" y="4186238"/>
              <a:chExt cx="350838" cy="355600"/>
            </a:xfrm>
          </p:grpSpPr>
          <p:sp>
            <p:nvSpPr>
              <p:cNvPr id="144" name="Freeform 775">
                <a:extLst>
                  <a:ext uri="{FF2B5EF4-FFF2-40B4-BE49-F238E27FC236}">
                    <a16:creationId xmlns:a16="http://schemas.microsoft.com/office/drawing/2014/main" id="{B2CE11B5-B9EA-D031-7919-7F79F10084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82275" y="4186238"/>
                <a:ext cx="201613" cy="203200"/>
              </a:xfrm>
              <a:custGeom>
                <a:avLst/>
                <a:gdLst>
                  <a:gd name="T0" fmla="*/ 42 w 60"/>
                  <a:gd name="T1" fmla="*/ 58 h 60"/>
                  <a:gd name="T2" fmla="*/ 30 w 60"/>
                  <a:gd name="T3" fmla="*/ 60 h 60"/>
                  <a:gd name="T4" fmla="*/ 0 w 60"/>
                  <a:gd name="T5" fmla="*/ 30 h 60"/>
                  <a:gd name="T6" fmla="*/ 30 w 60"/>
                  <a:gd name="T7" fmla="*/ 0 h 60"/>
                  <a:gd name="T8" fmla="*/ 60 w 60"/>
                  <a:gd name="T9" fmla="*/ 30 h 60"/>
                  <a:gd name="T10" fmla="*/ 58 w 60"/>
                  <a:gd name="T11" fmla="*/ 4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0" h="60">
                    <a:moveTo>
                      <a:pt x="42" y="58"/>
                    </a:moveTo>
                    <a:cubicBezTo>
                      <a:pt x="38" y="60"/>
                      <a:pt x="34" y="60"/>
                      <a:pt x="30" y="60"/>
                    </a:cubicBezTo>
                    <a:cubicBezTo>
                      <a:pt x="14" y="60"/>
                      <a:pt x="0" y="47"/>
                      <a:pt x="0" y="30"/>
                    </a:cubicBezTo>
                    <a:cubicBezTo>
                      <a:pt x="0" y="14"/>
                      <a:pt x="14" y="0"/>
                      <a:pt x="30" y="0"/>
                    </a:cubicBezTo>
                    <a:cubicBezTo>
                      <a:pt x="47" y="0"/>
                      <a:pt x="60" y="14"/>
                      <a:pt x="60" y="30"/>
                    </a:cubicBezTo>
                    <a:cubicBezTo>
                      <a:pt x="60" y="34"/>
                      <a:pt x="59" y="38"/>
                      <a:pt x="58" y="42"/>
                    </a:cubicBezTo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 sz="1000">
                  <a:latin typeface="Montserrat" panose="00000500000000000000" pitchFamily="2" charset="0"/>
                </a:endParaRPr>
              </a:p>
            </p:txBody>
          </p:sp>
          <p:sp>
            <p:nvSpPr>
              <p:cNvPr id="145" name="Freeform 776">
                <a:extLst>
                  <a:ext uri="{FF2B5EF4-FFF2-40B4-BE49-F238E27FC236}">
                    <a16:creationId xmlns:a16="http://schemas.microsoft.com/office/drawing/2014/main" id="{FFC7F9F9-63CA-BA14-57E2-EB57F4C486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83888" y="4362451"/>
                <a:ext cx="149225" cy="125413"/>
              </a:xfrm>
              <a:custGeom>
                <a:avLst/>
                <a:gdLst>
                  <a:gd name="T0" fmla="*/ 0 w 44"/>
                  <a:gd name="T1" fmla="*/ 7 h 37"/>
                  <a:gd name="T2" fmla="*/ 3 w 44"/>
                  <a:gd name="T3" fmla="*/ 5 h 37"/>
                  <a:gd name="T4" fmla="*/ 9 w 44"/>
                  <a:gd name="T5" fmla="*/ 4 h 37"/>
                  <a:gd name="T6" fmla="*/ 13 w 44"/>
                  <a:gd name="T7" fmla="*/ 2 h 37"/>
                  <a:gd name="T8" fmla="*/ 19 w 44"/>
                  <a:gd name="T9" fmla="*/ 3 h 37"/>
                  <a:gd name="T10" fmla="*/ 23 w 44"/>
                  <a:gd name="T11" fmla="*/ 1 h 37"/>
                  <a:gd name="T12" fmla="*/ 29 w 44"/>
                  <a:gd name="T13" fmla="*/ 3 h 37"/>
                  <a:gd name="T14" fmla="*/ 41 w 44"/>
                  <a:gd name="T15" fmla="*/ 23 h 37"/>
                  <a:gd name="T16" fmla="*/ 43 w 44"/>
                  <a:gd name="T17" fmla="*/ 35 h 37"/>
                  <a:gd name="T18" fmla="*/ 44 w 44"/>
                  <a:gd name="T1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4" h="37">
                    <a:moveTo>
                      <a:pt x="0" y="7"/>
                    </a:moveTo>
                    <a:cubicBezTo>
                      <a:pt x="3" y="5"/>
                      <a:pt x="3" y="5"/>
                      <a:pt x="3" y="5"/>
                    </a:cubicBezTo>
                    <a:cubicBezTo>
                      <a:pt x="5" y="3"/>
                      <a:pt x="7" y="3"/>
                      <a:pt x="9" y="4"/>
                    </a:cubicBezTo>
                    <a:cubicBezTo>
                      <a:pt x="13" y="2"/>
                      <a:pt x="13" y="2"/>
                      <a:pt x="13" y="2"/>
                    </a:cubicBezTo>
                    <a:cubicBezTo>
                      <a:pt x="15" y="1"/>
                      <a:pt x="18" y="1"/>
                      <a:pt x="19" y="3"/>
                    </a:cubicBezTo>
                    <a:cubicBezTo>
                      <a:pt x="23" y="1"/>
                      <a:pt x="23" y="1"/>
                      <a:pt x="23" y="1"/>
                    </a:cubicBezTo>
                    <a:cubicBezTo>
                      <a:pt x="25" y="0"/>
                      <a:pt x="28" y="0"/>
                      <a:pt x="29" y="3"/>
                    </a:cubicBezTo>
                    <a:cubicBezTo>
                      <a:pt x="41" y="23"/>
                      <a:pt x="41" y="23"/>
                      <a:pt x="41" y="23"/>
                    </a:cubicBezTo>
                    <a:cubicBezTo>
                      <a:pt x="43" y="27"/>
                      <a:pt x="41" y="32"/>
                      <a:pt x="43" y="35"/>
                    </a:cubicBezTo>
                    <a:cubicBezTo>
                      <a:pt x="44" y="37"/>
                      <a:pt x="44" y="37"/>
                      <a:pt x="44" y="37"/>
                    </a:cubicBezTo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 sz="1000">
                  <a:latin typeface="Montserrat" panose="00000500000000000000" pitchFamily="2" charset="0"/>
                </a:endParaRPr>
              </a:p>
            </p:txBody>
          </p:sp>
          <p:sp>
            <p:nvSpPr>
              <p:cNvPr id="146" name="Line 777">
                <a:extLst>
                  <a:ext uri="{FF2B5EF4-FFF2-40B4-BE49-F238E27FC236}">
                    <a16:creationId xmlns:a16="http://schemas.microsoft.com/office/drawing/2014/main" id="{AED4E7EE-629A-5737-2AB8-EE5252D02C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815638" y="4376739"/>
                <a:ext cx="19050" cy="31750"/>
              </a:xfrm>
              <a:prstGeom prst="line">
                <a:avLst/>
              </a:prstGeom>
              <a:noFill/>
              <a:ln w="6350" cap="flat">
                <a:solidFill>
                  <a:schemeClr val="accent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 sz="1000">
                  <a:latin typeface="Montserrat" panose="00000500000000000000" pitchFamily="2" charset="0"/>
                </a:endParaRPr>
              </a:p>
            </p:txBody>
          </p:sp>
          <p:sp>
            <p:nvSpPr>
              <p:cNvPr id="147" name="Line 778">
                <a:extLst>
                  <a:ext uri="{FF2B5EF4-FFF2-40B4-BE49-F238E27FC236}">
                    <a16:creationId xmlns:a16="http://schemas.microsoft.com/office/drawing/2014/main" id="{81EFE956-473C-E316-5B03-889515F49E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848975" y="4371976"/>
                <a:ext cx="15875" cy="26988"/>
              </a:xfrm>
              <a:prstGeom prst="line">
                <a:avLst/>
              </a:prstGeom>
              <a:noFill/>
              <a:ln w="6350" cap="flat">
                <a:solidFill>
                  <a:schemeClr val="accent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 sz="1000">
                  <a:latin typeface="Montserrat" panose="00000500000000000000" pitchFamily="2" charset="0"/>
                </a:endParaRPr>
              </a:p>
            </p:txBody>
          </p:sp>
          <p:sp>
            <p:nvSpPr>
              <p:cNvPr id="148" name="Freeform 779">
                <a:extLst>
                  <a:ext uri="{FF2B5EF4-FFF2-40B4-BE49-F238E27FC236}">
                    <a16:creationId xmlns:a16="http://schemas.microsoft.com/office/drawing/2014/main" id="{451CA0C6-32CD-2E0D-31FE-A78BD37E99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29913" y="4335463"/>
                <a:ext cx="107950" cy="206375"/>
              </a:xfrm>
              <a:custGeom>
                <a:avLst/>
                <a:gdLst>
                  <a:gd name="T0" fmla="*/ 23 w 32"/>
                  <a:gd name="T1" fmla="*/ 27 h 61"/>
                  <a:gd name="T2" fmla="*/ 9 w 32"/>
                  <a:gd name="T3" fmla="*/ 3 h 61"/>
                  <a:gd name="T4" fmla="*/ 3 w 32"/>
                  <a:gd name="T5" fmla="*/ 1 h 61"/>
                  <a:gd name="T6" fmla="*/ 1 w 32"/>
                  <a:gd name="T7" fmla="*/ 7 h 61"/>
                  <a:gd name="T8" fmla="*/ 18 w 32"/>
                  <a:gd name="T9" fmla="*/ 38 h 61"/>
                  <a:gd name="T10" fmla="*/ 18 w 32"/>
                  <a:gd name="T11" fmla="*/ 39 h 61"/>
                  <a:gd name="T12" fmla="*/ 7 w 32"/>
                  <a:gd name="T13" fmla="*/ 36 h 61"/>
                  <a:gd name="T14" fmla="*/ 1 w 32"/>
                  <a:gd name="T15" fmla="*/ 38 h 61"/>
                  <a:gd name="T16" fmla="*/ 4 w 32"/>
                  <a:gd name="T17" fmla="*/ 45 h 61"/>
                  <a:gd name="T18" fmla="*/ 27 w 32"/>
                  <a:gd name="T19" fmla="*/ 56 h 61"/>
                  <a:gd name="T20" fmla="*/ 31 w 32"/>
                  <a:gd name="T21" fmla="*/ 59 h 61"/>
                  <a:gd name="T22" fmla="*/ 32 w 32"/>
                  <a:gd name="T23" fmla="*/ 61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2" h="61">
                    <a:moveTo>
                      <a:pt x="23" y="27"/>
                    </a:moveTo>
                    <a:cubicBezTo>
                      <a:pt x="9" y="3"/>
                      <a:pt x="9" y="3"/>
                      <a:pt x="9" y="3"/>
                    </a:cubicBezTo>
                    <a:cubicBezTo>
                      <a:pt x="8" y="0"/>
                      <a:pt x="5" y="0"/>
                      <a:pt x="3" y="1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1" y="7"/>
                      <a:pt x="15" y="31"/>
                      <a:pt x="18" y="38"/>
                    </a:cubicBezTo>
                    <a:cubicBezTo>
                      <a:pt x="19" y="38"/>
                      <a:pt x="18" y="39"/>
                      <a:pt x="18" y="39"/>
                    </a:cubicBezTo>
                    <a:cubicBezTo>
                      <a:pt x="15" y="38"/>
                      <a:pt x="10" y="36"/>
                      <a:pt x="7" y="36"/>
                    </a:cubicBezTo>
                    <a:cubicBezTo>
                      <a:pt x="5" y="36"/>
                      <a:pt x="3" y="37"/>
                      <a:pt x="1" y="38"/>
                    </a:cubicBezTo>
                    <a:cubicBezTo>
                      <a:pt x="0" y="41"/>
                      <a:pt x="1" y="44"/>
                      <a:pt x="4" y="45"/>
                    </a:cubicBezTo>
                    <a:cubicBezTo>
                      <a:pt x="12" y="48"/>
                      <a:pt x="18" y="54"/>
                      <a:pt x="27" y="56"/>
                    </a:cubicBezTo>
                    <a:cubicBezTo>
                      <a:pt x="30" y="57"/>
                      <a:pt x="30" y="58"/>
                      <a:pt x="31" y="59"/>
                    </a:cubicBezTo>
                    <a:cubicBezTo>
                      <a:pt x="31" y="60"/>
                      <a:pt x="32" y="61"/>
                      <a:pt x="32" y="61"/>
                    </a:cubicBezTo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 sz="1000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49" name="Freeform 780">
                <a:extLst>
                  <a:ext uri="{FF2B5EF4-FFF2-40B4-BE49-F238E27FC236}">
                    <a16:creationId xmlns:a16="http://schemas.microsoft.com/office/drawing/2014/main" id="{04C11695-54A4-7234-3B85-91A71A21CB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60063" y="4251326"/>
                <a:ext cx="47625" cy="69850"/>
              </a:xfrm>
              <a:custGeom>
                <a:avLst/>
                <a:gdLst>
                  <a:gd name="T0" fmla="*/ 0 w 14"/>
                  <a:gd name="T1" fmla="*/ 14 h 21"/>
                  <a:gd name="T2" fmla="*/ 0 w 14"/>
                  <a:gd name="T3" fmla="*/ 16 h 21"/>
                  <a:gd name="T4" fmla="*/ 5 w 14"/>
                  <a:gd name="T5" fmla="*/ 21 h 21"/>
                  <a:gd name="T6" fmla="*/ 10 w 14"/>
                  <a:gd name="T7" fmla="*/ 21 h 21"/>
                  <a:gd name="T8" fmla="*/ 14 w 14"/>
                  <a:gd name="T9" fmla="*/ 16 h 21"/>
                  <a:gd name="T10" fmla="*/ 14 w 14"/>
                  <a:gd name="T11" fmla="*/ 15 h 21"/>
                  <a:gd name="T12" fmla="*/ 11 w 14"/>
                  <a:gd name="T13" fmla="*/ 11 h 21"/>
                  <a:gd name="T14" fmla="*/ 4 w 14"/>
                  <a:gd name="T15" fmla="*/ 9 h 21"/>
                  <a:gd name="T16" fmla="*/ 0 w 14"/>
                  <a:gd name="T17" fmla="*/ 5 h 21"/>
                  <a:gd name="T18" fmla="*/ 0 w 14"/>
                  <a:gd name="T19" fmla="*/ 4 h 21"/>
                  <a:gd name="T20" fmla="*/ 5 w 14"/>
                  <a:gd name="T21" fmla="*/ 0 h 21"/>
                  <a:gd name="T22" fmla="*/ 10 w 14"/>
                  <a:gd name="T23" fmla="*/ 0 h 21"/>
                  <a:gd name="T24" fmla="*/ 14 w 14"/>
                  <a:gd name="T25" fmla="*/ 4 h 21"/>
                  <a:gd name="T26" fmla="*/ 14 w 14"/>
                  <a:gd name="T27" fmla="*/ 7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21">
                    <a:moveTo>
                      <a:pt x="0" y="14"/>
                    </a:move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3" y="21"/>
                      <a:pt x="5" y="21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2" y="21"/>
                      <a:pt x="14" y="18"/>
                      <a:pt x="14" y="16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4" y="13"/>
                      <a:pt x="13" y="12"/>
                      <a:pt x="11" y="11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9"/>
                      <a:pt x="0" y="7"/>
                      <a:pt x="0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5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2" y="0"/>
                      <a:pt x="14" y="2"/>
                      <a:pt x="14" y="4"/>
                    </a:cubicBezTo>
                    <a:cubicBezTo>
                      <a:pt x="14" y="7"/>
                      <a:pt x="14" y="7"/>
                      <a:pt x="14" y="7"/>
                    </a:cubicBezTo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 sz="1000">
                  <a:latin typeface="Montserrat" panose="00000500000000000000" pitchFamily="2" charset="0"/>
                </a:endParaRPr>
              </a:p>
            </p:txBody>
          </p:sp>
          <p:sp>
            <p:nvSpPr>
              <p:cNvPr id="150" name="Line 781">
                <a:extLst>
                  <a:ext uri="{FF2B5EF4-FFF2-40B4-BE49-F238E27FC236}">
                    <a16:creationId xmlns:a16="http://schemas.microsoft.com/office/drawing/2014/main" id="{D7E3FAFA-986C-358A-B2E0-68E3481BAA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683875" y="4227513"/>
                <a:ext cx="0" cy="23813"/>
              </a:xfrm>
              <a:prstGeom prst="line">
                <a:avLst/>
              </a:prstGeom>
              <a:noFill/>
              <a:ln w="6350" cap="flat">
                <a:solidFill>
                  <a:schemeClr val="accent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 sz="1000">
                  <a:latin typeface="Montserrat" panose="00000500000000000000" pitchFamily="2" charset="0"/>
                </a:endParaRPr>
              </a:p>
            </p:txBody>
          </p:sp>
          <p:sp>
            <p:nvSpPr>
              <p:cNvPr id="151" name="Line 782">
                <a:extLst>
                  <a:ext uri="{FF2B5EF4-FFF2-40B4-BE49-F238E27FC236}">
                    <a16:creationId xmlns:a16="http://schemas.microsoft.com/office/drawing/2014/main" id="{776EF1D9-47B7-5B7E-731C-2374C728D3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683875" y="4321176"/>
                <a:ext cx="0" cy="23813"/>
              </a:xfrm>
              <a:prstGeom prst="line">
                <a:avLst/>
              </a:prstGeom>
              <a:noFill/>
              <a:ln w="6350" cap="flat">
                <a:solidFill>
                  <a:schemeClr val="accent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 sz="1000">
                  <a:latin typeface="Montserrat" panose="00000500000000000000" pitchFamily="2" charset="0"/>
                </a:endParaRPr>
              </a:p>
            </p:txBody>
          </p:sp>
        </p:grp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DC9B016-C6F1-0801-2480-F116AD503861}"/>
              </a:ext>
            </a:extLst>
          </p:cNvPr>
          <p:cNvGrpSpPr/>
          <p:nvPr/>
        </p:nvGrpSpPr>
        <p:grpSpPr>
          <a:xfrm>
            <a:off x="4201841" y="2454591"/>
            <a:ext cx="3304525" cy="416461"/>
            <a:chOff x="844018" y="3530245"/>
            <a:chExt cx="3304525" cy="416461"/>
          </a:xfrm>
        </p:grpSpPr>
        <p:sp>
          <p:nvSpPr>
            <p:cNvPr id="152" name="Retângulo 27">
              <a:extLst>
                <a:ext uri="{FF2B5EF4-FFF2-40B4-BE49-F238E27FC236}">
                  <a16:creationId xmlns:a16="http://schemas.microsoft.com/office/drawing/2014/main" id="{266C18B6-14FD-E08C-7961-64CD28E8DA4F}"/>
                </a:ext>
              </a:extLst>
            </p:cNvPr>
            <p:cNvSpPr/>
            <p:nvPr/>
          </p:nvSpPr>
          <p:spPr>
            <a:xfrm>
              <a:off x="1403698" y="3530245"/>
              <a:ext cx="2744845" cy="416461"/>
            </a:xfrm>
            <a:prstGeom prst="rect">
              <a:avLst/>
            </a:prstGeom>
            <a:noFill/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ea typeface="Source Serif Pro" panose="02040603050405020204" pitchFamily="18" charset="0"/>
                  <a:cs typeface="Open Sans" panose="020B0606030504020204" pitchFamily="34" charset="0"/>
                </a:rPr>
                <a:t>Os brasileiros dedicam, em média, </a:t>
              </a:r>
              <a:r>
                <a:rPr kumimoji="0" lang="pt-BR" sz="9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ea typeface="Source Serif Pro" panose="02040603050405020204" pitchFamily="18" charset="0"/>
                  <a:cs typeface="Open Sans" panose="020B0606030504020204" pitchFamily="34" charset="0"/>
                </a:rPr>
                <a:t>4,4 horas por semana </a:t>
              </a:r>
              <a:r>
                <a:rPr kumimoji="0" lang="pt-BR" sz="90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ea typeface="Source Serif Pro" panose="02040603050405020204" pitchFamily="18" charset="0"/>
                  <a:cs typeface="Open Sans" panose="020B0606030504020204" pitchFamily="34" charset="0"/>
                </a:rPr>
                <a:t>aos cuidados pessoais, </a:t>
              </a:r>
              <a:r>
                <a:rPr kumimoji="0" lang="pt-BR" sz="9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ea typeface="Source Serif Pro" panose="02040603050405020204" pitchFamily="18" charset="0"/>
                  <a:cs typeface="Open Sans" panose="020B0606030504020204" pitchFamily="34" charset="0"/>
                </a:rPr>
                <a:t>superando</a:t>
              </a:r>
              <a:r>
                <a:rPr kumimoji="0" lang="pt-BR" sz="90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ea typeface="Source Serif Pro" panose="02040603050405020204" pitchFamily="18" charset="0"/>
                  <a:cs typeface="Open Sans" panose="020B0606030504020204" pitchFamily="34" charset="0"/>
                </a:rPr>
                <a:t> a </a:t>
              </a:r>
              <a:r>
                <a:rPr kumimoji="0" lang="pt-BR" sz="9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ea typeface="Source Serif Pro" panose="02040603050405020204" pitchFamily="18" charset="0"/>
                  <a:cs typeface="Open Sans" panose="020B0606030504020204" pitchFamily="34" charset="0"/>
                </a:rPr>
                <a:t>média global </a:t>
              </a:r>
              <a:r>
                <a:rPr kumimoji="0" lang="pt-BR" sz="90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ea typeface="Source Serif Pro" panose="02040603050405020204" pitchFamily="18" charset="0"/>
                  <a:cs typeface="Open Sans" panose="020B0606030504020204" pitchFamily="34" charset="0"/>
                </a:rPr>
                <a:t>de 4 horas</a:t>
              </a:r>
            </a:p>
          </p:txBody>
        </p:sp>
        <p:grpSp>
          <p:nvGrpSpPr>
            <p:cNvPr id="153" name="Agrupar 84">
              <a:extLst>
                <a:ext uri="{FF2B5EF4-FFF2-40B4-BE49-F238E27FC236}">
                  <a16:creationId xmlns:a16="http://schemas.microsoft.com/office/drawing/2014/main" id="{0A728049-18D6-E914-A231-91625D06C38F}"/>
                </a:ext>
              </a:extLst>
            </p:cNvPr>
            <p:cNvGrpSpPr/>
            <p:nvPr/>
          </p:nvGrpSpPr>
          <p:grpSpPr>
            <a:xfrm>
              <a:off x="844018" y="3565582"/>
              <a:ext cx="343930" cy="345786"/>
              <a:chOff x="8724900" y="1074738"/>
              <a:chExt cx="293688" cy="295275"/>
            </a:xfrm>
          </p:grpSpPr>
          <p:sp>
            <p:nvSpPr>
              <p:cNvPr id="154" name="Oval 724">
                <a:extLst>
                  <a:ext uri="{FF2B5EF4-FFF2-40B4-BE49-F238E27FC236}">
                    <a16:creationId xmlns:a16="http://schemas.microsoft.com/office/drawing/2014/main" id="{DE742CDA-FB1F-394F-0131-9CB9ABD00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24900" y="1074738"/>
                <a:ext cx="293688" cy="295275"/>
              </a:xfrm>
              <a:prstGeom prst="ellipse">
                <a:avLst/>
              </a:prstGeom>
              <a:noFill/>
              <a:ln w="6350" cap="flat">
                <a:solidFill>
                  <a:schemeClr val="accent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pt-BR">
                  <a:latin typeface="Montserrat" panose="00000500000000000000" pitchFamily="2" charset="0"/>
                </a:endParaRPr>
              </a:p>
            </p:txBody>
          </p:sp>
          <p:sp>
            <p:nvSpPr>
              <p:cNvPr id="155" name="Line 725">
                <a:extLst>
                  <a:ext uri="{FF2B5EF4-FFF2-40B4-BE49-F238E27FC236}">
                    <a16:creationId xmlns:a16="http://schemas.microsoft.com/office/drawing/2014/main" id="{332F7D32-2D05-27AB-9E68-277A6F43C9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70950" y="1103313"/>
                <a:ext cx="0" cy="22225"/>
              </a:xfrm>
              <a:prstGeom prst="line">
                <a:avLst/>
              </a:prstGeom>
              <a:noFill/>
              <a:ln w="6350" cap="flat">
                <a:solidFill>
                  <a:schemeClr val="accent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pt-BR">
                  <a:latin typeface="Montserrat" panose="00000500000000000000" pitchFamily="2" charset="0"/>
                </a:endParaRPr>
              </a:p>
            </p:txBody>
          </p:sp>
          <p:sp>
            <p:nvSpPr>
              <p:cNvPr id="156" name="Line 726">
                <a:extLst>
                  <a:ext uri="{FF2B5EF4-FFF2-40B4-BE49-F238E27FC236}">
                    <a16:creationId xmlns:a16="http://schemas.microsoft.com/office/drawing/2014/main" id="{E43E9505-76DE-2510-A43D-78FF936A86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13800" y="1119188"/>
                <a:ext cx="9525" cy="19050"/>
              </a:xfrm>
              <a:prstGeom prst="line">
                <a:avLst/>
              </a:prstGeom>
              <a:noFill/>
              <a:ln w="6350" cap="flat">
                <a:solidFill>
                  <a:schemeClr val="accent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pt-BR">
                  <a:latin typeface="Montserrat" panose="00000500000000000000" pitchFamily="2" charset="0"/>
                </a:endParaRPr>
              </a:p>
            </p:txBody>
          </p:sp>
          <p:sp>
            <p:nvSpPr>
              <p:cNvPr id="157" name="Line 727">
                <a:extLst>
                  <a:ext uri="{FF2B5EF4-FFF2-40B4-BE49-F238E27FC236}">
                    <a16:creationId xmlns:a16="http://schemas.microsoft.com/office/drawing/2014/main" id="{090295AC-4BFE-5EA5-0C8E-1A8D33B261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769350" y="1163638"/>
                <a:ext cx="15875" cy="9525"/>
              </a:xfrm>
              <a:prstGeom prst="line">
                <a:avLst/>
              </a:prstGeom>
              <a:noFill/>
              <a:ln w="6350" cap="flat">
                <a:solidFill>
                  <a:schemeClr val="accent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pt-BR">
                  <a:latin typeface="Montserrat" panose="00000500000000000000" pitchFamily="2" charset="0"/>
                </a:endParaRPr>
              </a:p>
            </p:txBody>
          </p:sp>
          <p:sp>
            <p:nvSpPr>
              <p:cNvPr id="158" name="Line 728">
                <a:extLst>
                  <a:ext uri="{FF2B5EF4-FFF2-40B4-BE49-F238E27FC236}">
                    <a16:creationId xmlns:a16="http://schemas.microsoft.com/office/drawing/2014/main" id="{79F91372-3D07-4E65-7F2A-FFE6D0181E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753475" y="1223963"/>
                <a:ext cx="19050" cy="0"/>
              </a:xfrm>
              <a:prstGeom prst="line">
                <a:avLst/>
              </a:prstGeom>
              <a:noFill/>
              <a:ln w="6350" cap="flat">
                <a:solidFill>
                  <a:schemeClr val="accent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pt-BR">
                  <a:latin typeface="Montserrat" panose="00000500000000000000" pitchFamily="2" charset="0"/>
                </a:endParaRPr>
              </a:p>
            </p:txBody>
          </p:sp>
          <p:sp>
            <p:nvSpPr>
              <p:cNvPr id="159" name="Line 729">
                <a:extLst>
                  <a:ext uri="{FF2B5EF4-FFF2-40B4-BE49-F238E27FC236}">
                    <a16:creationId xmlns:a16="http://schemas.microsoft.com/office/drawing/2014/main" id="{81994C0F-0034-0533-22D4-B45463A66E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769350" y="1271588"/>
                <a:ext cx="15875" cy="12700"/>
              </a:xfrm>
              <a:prstGeom prst="line">
                <a:avLst/>
              </a:prstGeom>
              <a:noFill/>
              <a:ln w="6350" cap="flat">
                <a:solidFill>
                  <a:schemeClr val="accent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pt-BR">
                  <a:latin typeface="Montserrat" panose="00000500000000000000" pitchFamily="2" charset="0"/>
                </a:endParaRPr>
              </a:p>
            </p:txBody>
          </p:sp>
          <p:sp>
            <p:nvSpPr>
              <p:cNvPr id="160" name="Line 730">
                <a:extLst>
                  <a:ext uri="{FF2B5EF4-FFF2-40B4-BE49-F238E27FC236}">
                    <a16:creationId xmlns:a16="http://schemas.microsoft.com/office/drawing/2014/main" id="{73F07F16-50D6-3500-3284-A889582C78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13800" y="1309688"/>
                <a:ext cx="9525" cy="19050"/>
              </a:xfrm>
              <a:prstGeom prst="line">
                <a:avLst/>
              </a:prstGeom>
              <a:noFill/>
              <a:ln w="6350" cap="flat">
                <a:solidFill>
                  <a:schemeClr val="accent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pt-BR">
                  <a:latin typeface="Montserrat" panose="00000500000000000000" pitchFamily="2" charset="0"/>
                </a:endParaRPr>
              </a:p>
            </p:txBody>
          </p:sp>
          <p:sp>
            <p:nvSpPr>
              <p:cNvPr id="161" name="Line 731">
                <a:extLst>
                  <a:ext uri="{FF2B5EF4-FFF2-40B4-BE49-F238E27FC236}">
                    <a16:creationId xmlns:a16="http://schemas.microsoft.com/office/drawing/2014/main" id="{18C7F50E-49EC-E9B8-54DD-9DF109B893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70950" y="1322388"/>
                <a:ext cx="0" cy="22225"/>
              </a:xfrm>
              <a:prstGeom prst="line">
                <a:avLst/>
              </a:prstGeom>
              <a:noFill/>
              <a:ln w="6350" cap="flat">
                <a:solidFill>
                  <a:schemeClr val="accent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pt-BR">
                  <a:latin typeface="Montserrat" panose="00000500000000000000" pitchFamily="2" charset="0"/>
                </a:endParaRPr>
              </a:p>
            </p:txBody>
          </p:sp>
          <p:sp>
            <p:nvSpPr>
              <p:cNvPr id="162" name="Line 732">
                <a:extLst>
                  <a:ext uri="{FF2B5EF4-FFF2-40B4-BE49-F238E27FC236}">
                    <a16:creationId xmlns:a16="http://schemas.microsoft.com/office/drawing/2014/main" id="{363EC49E-F580-A7A6-9672-444BF8DF59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921750" y="1309688"/>
                <a:ext cx="9525" cy="19050"/>
              </a:xfrm>
              <a:prstGeom prst="line">
                <a:avLst/>
              </a:prstGeom>
              <a:noFill/>
              <a:ln w="6350" cap="flat">
                <a:solidFill>
                  <a:schemeClr val="accent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pt-BR">
                  <a:latin typeface="Montserrat" panose="00000500000000000000" pitchFamily="2" charset="0"/>
                </a:endParaRPr>
              </a:p>
            </p:txBody>
          </p:sp>
          <p:sp>
            <p:nvSpPr>
              <p:cNvPr id="163" name="Line 733">
                <a:extLst>
                  <a:ext uri="{FF2B5EF4-FFF2-40B4-BE49-F238E27FC236}">
                    <a16:creationId xmlns:a16="http://schemas.microsoft.com/office/drawing/2014/main" id="{56F37A23-796D-C832-D607-467752D142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956675" y="1271588"/>
                <a:ext cx="19050" cy="12700"/>
              </a:xfrm>
              <a:prstGeom prst="line">
                <a:avLst/>
              </a:prstGeom>
              <a:noFill/>
              <a:ln w="6350" cap="flat">
                <a:solidFill>
                  <a:schemeClr val="accent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pt-BR">
                  <a:latin typeface="Montserrat" panose="00000500000000000000" pitchFamily="2" charset="0"/>
                </a:endParaRPr>
              </a:p>
            </p:txBody>
          </p:sp>
          <p:sp>
            <p:nvSpPr>
              <p:cNvPr id="164" name="Line 734">
                <a:extLst>
                  <a:ext uri="{FF2B5EF4-FFF2-40B4-BE49-F238E27FC236}">
                    <a16:creationId xmlns:a16="http://schemas.microsoft.com/office/drawing/2014/main" id="{418E4C65-AFC9-0111-7902-98FCDEC14F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969375" y="1223963"/>
                <a:ext cx="20638" cy="0"/>
              </a:xfrm>
              <a:prstGeom prst="line">
                <a:avLst/>
              </a:prstGeom>
              <a:noFill/>
              <a:ln w="6350" cap="flat">
                <a:solidFill>
                  <a:schemeClr val="accent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pt-BR">
                  <a:latin typeface="Montserrat" panose="00000500000000000000" pitchFamily="2" charset="0"/>
                </a:endParaRPr>
              </a:p>
            </p:txBody>
          </p:sp>
          <p:sp>
            <p:nvSpPr>
              <p:cNvPr id="165" name="Line 735">
                <a:extLst>
                  <a:ext uri="{FF2B5EF4-FFF2-40B4-BE49-F238E27FC236}">
                    <a16:creationId xmlns:a16="http://schemas.microsoft.com/office/drawing/2014/main" id="{4CE4827B-A3F5-643F-724F-E5C9310115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956675" y="1163638"/>
                <a:ext cx="19050" cy="9525"/>
              </a:xfrm>
              <a:prstGeom prst="line">
                <a:avLst/>
              </a:prstGeom>
              <a:noFill/>
              <a:ln w="6350" cap="flat">
                <a:solidFill>
                  <a:schemeClr val="accent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pt-BR">
                  <a:latin typeface="Montserrat" panose="00000500000000000000" pitchFamily="2" charset="0"/>
                </a:endParaRPr>
              </a:p>
            </p:txBody>
          </p:sp>
          <p:sp>
            <p:nvSpPr>
              <p:cNvPr id="166" name="Line 736">
                <a:extLst>
                  <a:ext uri="{FF2B5EF4-FFF2-40B4-BE49-F238E27FC236}">
                    <a16:creationId xmlns:a16="http://schemas.microsoft.com/office/drawing/2014/main" id="{71824ACF-49D3-5AA6-F5BB-4AA622CB7A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921750" y="1119188"/>
                <a:ext cx="9525" cy="19050"/>
              </a:xfrm>
              <a:prstGeom prst="line">
                <a:avLst/>
              </a:prstGeom>
              <a:noFill/>
              <a:ln w="6350" cap="flat">
                <a:solidFill>
                  <a:schemeClr val="accent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pt-BR">
                  <a:latin typeface="Montserrat" panose="00000500000000000000" pitchFamily="2" charset="0"/>
                </a:endParaRPr>
              </a:p>
            </p:txBody>
          </p:sp>
          <p:sp>
            <p:nvSpPr>
              <p:cNvPr id="167" name="Freeform 737">
                <a:extLst>
                  <a:ext uri="{FF2B5EF4-FFF2-40B4-BE49-F238E27FC236}">
                    <a16:creationId xmlns:a16="http://schemas.microsoft.com/office/drawing/2014/main" id="{0B675DD5-2594-AAF8-71FF-B23A9EA82F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23325" y="1173163"/>
                <a:ext cx="92075" cy="63500"/>
              </a:xfrm>
              <a:custGeom>
                <a:avLst/>
                <a:gdLst>
                  <a:gd name="T0" fmla="*/ 0 w 58"/>
                  <a:gd name="T1" fmla="*/ 0 h 40"/>
                  <a:gd name="T2" fmla="*/ 30 w 58"/>
                  <a:gd name="T3" fmla="*/ 40 h 40"/>
                  <a:gd name="T4" fmla="*/ 58 w 58"/>
                  <a:gd name="T5" fmla="*/ 18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8" h="40">
                    <a:moveTo>
                      <a:pt x="0" y="0"/>
                    </a:moveTo>
                    <a:lnTo>
                      <a:pt x="30" y="40"/>
                    </a:lnTo>
                    <a:lnTo>
                      <a:pt x="58" y="18"/>
                    </a:lnTo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pt-BR">
                  <a:latin typeface="Montserrat" panose="00000500000000000000" pitchFamily="2" charset="0"/>
                </a:endParaRPr>
              </a:p>
            </p:txBody>
          </p:sp>
        </p:grp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5C25D0AA-CE39-425E-0EEA-F690BAE42E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0998" y="5522156"/>
            <a:ext cx="240181" cy="16315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6A5374C-D322-EE94-A5DD-3E036064DF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10998" y="4772836"/>
            <a:ext cx="240181" cy="163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109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51E2425-7684-408D-85A5-965A01729316}"/>
              </a:ext>
            </a:extLst>
          </p:cNvPr>
          <p:cNvSpPr/>
          <p:nvPr/>
        </p:nvSpPr>
        <p:spPr>
          <a:xfrm>
            <a:off x="4791075" y="4797279"/>
            <a:ext cx="7400925" cy="1182894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en-US" sz="1200" dirty="0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5F117493-0F54-EB9F-2AB1-CAE736DDF772}"/>
              </a:ext>
            </a:extLst>
          </p:cNvPr>
          <p:cNvSpPr/>
          <p:nvPr/>
        </p:nvSpPr>
        <p:spPr>
          <a:xfrm>
            <a:off x="1262721" y="1445646"/>
            <a:ext cx="5916613" cy="4534527"/>
          </a:xfrm>
          <a:prstGeom prst="roundRect">
            <a:avLst>
              <a:gd name="adj" fmla="val 7263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en-US" sz="1200" dirty="0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8680437A-057B-156D-75DD-AA136F169F4D}"/>
              </a:ext>
            </a:extLst>
          </p:cNvPr>
          <p:cNvSpPr/>
          <p:nvPr/>
        </p:nvSpPr>
        <p:spPr>
          <a:xfrm rot="5400000">
            <a:off x="-904075" y="2348248"/>
            <a:ext cx="4536000" cy="2727850"/>
          </a:xfrm>
          <a:prstGeom prst="round2SameRect">
            <a:avLst>
              <a:gd name="adj1" fmla="val 9218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TT Hoves Pro Trial" panose="020B0003020000020203" pitchFamily="34" charset="0"/>
              <a:ea typeface="Source Serif Pro" panose="020406030504050202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430EE1-7369-9D03-9DA1-D145C76ABE72}"/>
              </a:ext>
            </a:extLst>
          </p:cNvPr>
          <p:cNvSpPr/>
          <p:nvPr/>
        </p:nvSpPr>
        <p:spPr>
          <a:xfrm>
            <a:off x="7775694" y="1992742"/>
            <a:ext cx="1576012" cy="360105"/>
          </a:xfrm>
          <a:prstGeom prst="rect">
            <a:avLst/>
          </a:prstGeom>
          <a:noFill/>
          <a:ln w="6350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ctr"/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200"/>
              </a:spcAft>
            </a:pPr>
            <a:r>
              <a:rPr lang="pt-BR" sz="2800" b="1" spc="-20" dirty="0">
                <a:solidFill>
                  <a:srgbClr val="AD6AC0"/>
                </a:solidFill>
                <a:latin typeface="Montserrat" panose="00000500000000000000" pitchFamily="2" charset="0"/>
                <a:ea typeface="Source Serif Pro" panose="02040603050405020204" pitchFamily="18" charset="0"/>
                <a:cs typeface="+mj-cs"/>
              </a:rPr>
              <a:t>8 </a:t>
            </a:r>
            <a:r>
              <a:rPr lang="pt-BR" sz="1600" spc="-20" dirty="0">
                <a:solidFill>
                  <a:srgbClr val="AD6AC0"/>
                </a:solidFill>
                <a:latin typeface="Montserrat" panose="00000500000000000000" pitchFamily="2" charset="0"/>
                <a:ea typeface="Source Serif Pro" panose="02040603050405020204" pitchFamily="18" charset="0"/>
                <a:cs typeface="+mj-cs"/>
              </a:rPr>
              <a:t>produtos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AA7736-E6E2-5873-3BD6-D569E0EB4A4A}"/>
              </a:ext>
            </a:extLst>
          </p:cNvPr>
          <p:cNvSpPr/>
          <p:nvPr/>
        </p:nvSpPr>
        <p:spPr>
          <a:xfrm>
            <a:off x="9822081" y="1992742"/>
            <a:ext cx="1937868" cy="360105"/>
          </a:xfrm>
          <a:prstGeom prst="rect">
            <a:avLst/>
          </a:prstGeom>
          <a:noFill/>
          <a:ln w="6350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ctr"/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200"/>
              </a:spcAft>
            </a:pPr>
            <a:r>
              <a:rPr lang="pt-BR" sz="2800" b="1" spc="-20" dirty="0">
                <a:solidFill>
                  <a:schemeClr val="accent6"/>
                </a:solidFill>
                <a:latin typeface="Montserrat" panose="00000500000000000000" pitchFamily="2" charset="0"/>
                <a:ea typeface="Source Serif Pro" panose="02040603050405020204" pitchFamily="18" charset="0"/>
                <a:cs typeface="+mj-cs"/>
              </a:rPr>
              <a:t>22 </a:t>
            </a:r>
            <a:r>
              <a:rPr lang="pt-BR" sz="1600" spc="-20" dirty="0">
                <a:solidFill>
                  <a:schemeClr val="accent6"/>
                </a:solidFill>
                <a:latin typeface="Montserrat" panose="00000500000000000000" pitchFamily="2" charset="0"/>
                <a:ea typeface="Source Serif Pro" panose="02040603050405020204" pitchFamily="18" charset="0"/>
                <a:cs typeface="+mj-cs"/>
              </a:rPr>
              <a:t>produtos</a:t>
            </a:r>
            <a:endParaRPr lang="pt-BR" spc="-20" dirty="0">
              <a:solidFill>
                <a:schemeClr val="accent6"/>
              </a:solidFill>
              <a:latin typeface="Montserrat" panose="00000500000000000000" pitchFamily="2" charset="0"/>
              <a:ea typeface="Source Serif Pro" panose="02040603050405020204" pitchFamily="18" charset="0"/>
              <a:cs typeface="+mj-cs"/>
            </a:endParaRP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64933EF5-5697-1C19-AFCE-20B800FDD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Cuidar da beleza e do bem-estar faz parte da rotina diária da mulher brasileira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092B63-7113-8057-72A2-D01E7CBE5DB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0" tIns="36000" rIns="0" bIns="0" rtlCol="0">
            <a:spAutoFit/>
          </a:bodyPr>
          <a:lstStyle/>
          <a:p>
            <a:r>
              <a:rPr lang="pt-BR" sz="1050" dirty="0">
                <a:latin typeface="Montserrat Light" pitchFamily="2" charset="0"/>
              </a:rPr>
              <a:t>A preocupação das mulheres brasileiras com sua beleza evidencia a crescente relevância do mercado de cosméticos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5F4DA3-6038-F745-7DE9-17893D45A3D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pt-BR" dirty="0">
                <a:solidFill>
                  <a:schemeClr val="tx2"/>
                </a:solidFill>
                <a:latin typeface="Montserrat" panose="00000500000000000000" pitchFamily="2" charset="0"/>
              </a:rPr>
              <a:t>Fonte: </a:t>
            </a:r>
            <a:r>
              <a:rPr lang="pt-BR" dirty="0" err="1">
                <a:solidFill>
                  <a:schemeClr val="tx2"/>
                </a:solidFill>
                <a:latin typeface="Montserrat" panose="00000500000000000000" pitchFamily="2" charset="0"/>
              </a:rPr>
              <a:t>Picodi</a:t>
            </a:r>
            <a:r>
              <a:rPr lang="pt-BR" dirty="0">
                <a:solidFill>
                  <a:schemeClr val="tx2"/>
                </a:solidFill>
                <a:latin typeface="Montserrat" panose="00000500000000000000" pitchFamily="2" charset="0"/>
              </a:rPr>
              <a:t>, NBC, </a:t>
            </a:r>
            <a:r>
              <a:rPr lang="pt-BR" dirty="0" err="1">
                <a:solidFill>
                  <a:schemeClr val="tx2"/>
                </a:solidFill>
                <a:latin typeface="Montserrat" panose="00000500000000000000" pitchFamily="2" charset="0"/>
              </a:rPr>
              <a:t>MindMiners</a:t>
            </a:r>
            <a:r>
              <a:rPr lang="pt-BR" dirty="0">
                <a:solidFill>
                  <a:schemeClr val="tx2"/>
                </a:solidFill>
                <a:latin typeface="Montserrat" panose="00000500000000000000" pitchFamily="2" charset="0"/>
              </a:rPr>
              <a:t>, World </a:t>
            </a:r>
            <a:r>
              <a:rPr lang="pt-BR" dirty="0" err="1">
                <a:solidFill>
                  <a:schemeClr val="tx2"/>
                </a:solidFill>
                <a:latin typeface="Montserrat" panose="00000500000000000000" pitchFamily="2" charset="0"/>
              </a:rPr>
              <a:t>Population</a:t>
            </a:r>
            <a:r>
              <a:rPr lang="pt-BR" dirty="0">
                <a:solidFill>
                  <a:schemeClr val="tx2"/>
                </a:solidFill>
                <a:latin typeface="Montserrat" panose="00000500000000000000" pitchFamily="2" charset="0"/>
              </a:rPr>
              <a:t> Review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72937D3-4748-84AF-8B70-FC7F98104588}"/>
              </a:ext>
            </a:extLst>
          </p:cNvPr>
          <p:cNvSpPr/>
          <p:nvPr/>
        </p:nvSpPr>
        <p:spPr>
          <a:xfrm>
            <a:off x="5196863" y="2137355"/>
            <a:ext cx="1635342" cy="1702298"/>
          </a:xfrm>
          <a:prstGeom prst="rect">
            <a:avLst/>
          </a:prstGeom>
          <a:noFill/>
          <a:ln w="6350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t" anchorCtr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200"/>
              </a:spcAft>
            </a:pPr>
            <a:r>
              <a:rPr lang="en-US" sz="2400" b="1" spc="-20" dirty="0">
                <a:solidFill>
                  <a:srgbClr val="AD6AC0"/>
                </a:solidFill>
                <a:latin typeface="Montserrat" pitchFamily="2" charset="0"/>
                <a:ea typeface="Source Serif Pro" panose="02040603050405020204" pitchFamily="18" charset="0"/>
                <a:cs typeface="+mj-cs"/>
              </a:rPr>
              <a:t>55                   </a:t>
            </a:r>
            <a:r>
              <a:rPr lang="en-US" sz="1200" spc="-20" dirty="0" err="1">
                <a:solidFill>
                  <a:srgbClr val="AD6AC0"/>
                </a:solidFill>
                <a:latin typeface="Montserrat Medium" pitchFamily="2" charset="0"/>
                <a:ea typeface="Source Serif Pro" panose="02040603050405020204" pitchFamily="18" charset="0"/>
                <a:cs typeface="+mj-cs"/>
              </a:rPr>
              <a:t>minutos</a:t>
            </a:r>
            <a:endParaRPr lang="en-US" sz="1200" spc="-20" dirty="0">
              <a:solidFill>
                <a:srgbClr val="AD6AC0"/>
              </a:solidFill>
              <a:latin typeface="Montserrat Medium" pitchFamily="2" charset="0"/>
              <a:ea typeface="Source Serif Pro" panose="02040603050405020204" pitchFamily="18" charset="0"/>
              <a:cs typeface="+mj-cs"/>
            </a:endParaRP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</a:pPr>
            <a:r>
              <a:rPr lang="en-US" sz="900" dirty="0">
                <a:solidFill>
                  <a:schemeClr val="tx1"/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Do </a:t>
            </a:r>
            <a:r>
              <a:rPr lang="en-US" sz="900" dirty="0" err="1">
                <a:solidFill>
                  <a:schemeClr val="tx1"/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dia</a:t>
            </a:r>
            <a:r>
              <a:rPr lang="en-US" sz="900" dirty="0">
                <a:solidFill>
                  <a:schemeClr val="tx1"/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 das </a:t>
            </a:r>
            <a:r>
              <a:rPr lang="en-US" sz="900" dirty="0" err="1">
                <a:solidFill>
                  <a:schemeClr val="tx1"/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brasileiras</a:t>
            </a:r>
            <a:r>
              <a:rPr lang="en-US" sz="900" dirty="0">
                <a:solidFill>
                  <a:schemeClr val="tx1"/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                       </a:t>
            </a:r>
            <a:r>
              <a:rPr lang="en-US" sz="900" dirty="0" err="1">
                <a:solidFill>
                  <a:schemeClr val="tx1"/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são</a:t>
            </a:r>
            <a:r>
              <a:rPr lang="en-US" sz="900" dirty="0">
                <a:solidFill>
                  <a:schemeClr val="tx1"/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 </a:t>
            </a:r>
            <a:r>
              <a:rPr lang="en-US" sz="900" b="1" dirty="0" err="1">
                <a:solidFill>
                  <a:schemeClr val="tx1"/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destinados</a:t>
            </a:r>
            <a:r>
              <a:rPr lang="en-US" sz="900" b="1" dirty="0">
                <a:solidFill>
                  <a:schemeClr val="tx1"/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 para               </a:t>
            </a:r>
            <a:r>
              <a:rPr lang="en-US" sz="900" b="1" dirty="0" err="1">
                <a:solidFill>
                  <a:schemeClr val="tx1"/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rotina</a:t>
            </a:r>
            <a:r>
              <a:rPr lang="en-US" sz="900" b="1" dirty="0">
                <a:solidFill>
                  <a:schemeClr val="tx1"/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 de </a:t>
            </a:r>
            <a:r>
              <a:rPr lang="en-US" sz="900" b="1" dirty="0" err="1">
                <a:solidFill>
                  <a:schemeClr val="tx1"/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beleza</a:t>
            </a:r>
            <a:r>
              <a:rPr lang="en-US" sz="900" b="1" dirty="0">
                <a:solidFill>
                  <a:schemeClr val="tx1"/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 e </a:t>
            </a:r>
            <a:r>
              <a:rPr lang="en-US" sz="900" b="1" dirty="0" err="1">
                <a:solidFill>
                  <a:schemeClr val="tx1"/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bem</a:t>
            </a:r>
            <a:r>
              <a:rPr lang="en-US" sz="900" b="1" dirty="0">
                <a:solidFill>
                  <a:schemeClr val="tx1"/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 </a:t>
            </a:r>
            <a:r>
              <a:rPr lang="en-US" sz="900" b="1" dirty="0" err="1">
                <a:solidFill>
                  <a:schemeClr val="tx1"/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estar</a:t>
            </a:r>
            <a:r>
              <a:rPr lang="en-US" sz="900" dirty="0">
                <a:solidFill>
                  <a:schemeClr val="tx1"/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, </a:t>
            </a:r>
            <a:r>
              <a:rPr lang="en-US" sz="900" dirty="0" err="1">
                <a:solidFill>
                  <a:schemeClr val="tx1"/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evidenciando</a:t>
            </a:r>
            <a:r>
              <a:rPr lang="en-US" sz="900" dirty="0">
                <a:solidFill>
                  <a:schemeClr val="tx1"/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seu</a:t>
            </a:r>
            <a:r>
              <a:rPr lang="en-US" sz="900" dirty="0">
                <a:solidFill>
                  <a:schemeClr val="tx1"/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comprometimento</a:t>
            </a:r>
            <a:r>
              <a:rPr lang="en-US" sz="900" dirty="0">
                <a:solidFill>
                  <a:schemeClr val="tx1"/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 com                  o </a:t>
            </a:r>
            <a:r>
              <a:rPr lang="en-US" sz="900" dirty="0" err="1">
                <a:solidFill>
                  <a:schemeClr val="tx1"/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autocuidado</a:t>
            </a:r>
            <a:endParaRPr lang="en-US" sz="900" dirty="0">
              <a:solidFill>
                <a:schemeClr val="tx1"/>
              </a:solidFill>
              <a:latin typeface="Montserrat" panose="00000500000000000000" pitchFamily="2" charset="0"/>
              <a:ea typeface="Source Serif Pro" panose="020406030504050202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63635B5-E87E-4754-DB82-63A9FB7CA649}"/>
              </a:ext>
            </a:extLst>
          </p:cNvPr>
          <p:cNvSpPr txBox="1"/>
          <p:nvPr/>
        </p:nvSpPr>
        <p:spPr>
          <a:xfrm>
            <a:off x="620874" y="1622046"/>
            <a:ext cx="1463449" cy="1881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400" b="1" spc="-10" dirty="0">
                <a:solidFill>
                  <a:schemeClr val="bg1"/>
                </a:solidFill>
                <a:latin typeface="Montserrat" pitchFamily="2" charset="0"/>
                <a:ea typeface="Source Serif Pro Black" panose="02040903050405020204" pitchFamily="18" charset="0"/>
              </a:rPr>
              <a:t>Uma </a:t>
            </a:r>
            <a:r>
              <a:rPr lang="en-US" sz="1400" b="1" spc="-10" dirty="0" err="1">
                <a:solidFill>
                  <a:schemeClr val="bg1"/>
                </a:solidFill>
                <a:latin typeface="Montserrat" pitchFamily="2" charset="0"/>
                <a:ea typeface="Source Serif Pro Black" panose="02040903050405020204" pitchFamily="18" charset="0"/>
              </a:rPr>
              <a:t>pele</a:t>
            </a:r>
            <a:r>
              <a:rPr lang="en-US" sz="1400" b="1" spc="-10" dirty="0">
                <a:solidFill>
                  <a:schemeClr val="bg1"/>
                </a:solidFill>
                <a:latin typeface="Montserrat" pitchFamily="2" charset="0"/>
                <a:ea typeface="Source Serif Pro Black" panose="02040903050405020204" pitchFamily="18" charset="0"/>
              </a:rPr>
              <a:t> limpa e </a:t>
            </a:r>
            <a:r>
              <a:rPr lang="en-US" sz="1400" b="1" spc="-10" dirty="0" err="1">
                <a:solidFill>
                  <a:schemeClr val="bg1"/>
                </a:solidFill>
                <a:latin typeface="Montserrat" pitchFamily="2" charset="0"/>
                <a:ea typeface="Source Serif Pro Black" panose="02040903050405020204" pitchFamily="18" charset="0"/>
              </a:rPr>
              <a:t>saudável</a:t>
            </a:r>
            <a:r>
              <a:rPr lang="en-US" sz="1400" b="1" spc="-10" dirty="0">
                <a:solidFill>
                  <a:schemeClr val="bg1"/>
                </a:solidFill>
                <a:latin typeface="Montserrat" pitchFamily="2" charset="0"/>
                <a:ea typeface="Source Serif Pro Black" panose="02040903050405020204" pitchFamily="18" charset="0"/>
              </a:rPr>
              <a:t> é </a:t>
            </a:r>
            <a:r>
              <a:rPr lang="en-US" sz="1400" b="1" spc="-10" dirty="0" err="1">
                <a:solidFill>
                  <a:schemeClr val="bg1"/>
                </a:solidFill>
                <a:latin typeface="Montserrat" pitchFamily="2" charset="0"/>
                <a:ea typeface="Source Serif Pro Black" panose="02040903050405020204" pitchFamily="18" charset="0"/>
              </a:rPr>
              <a:t>sensação</a:t>
            </a:r>
            <a:r>
              <a:rPr lang="en-US" sz="1400" b="1" spc="-10" dirty="0">
                <a:solidFill>
                  <a:schemeClr val="bg1"/>
                </a:solidFill>
                <a:latin typeface="Montserrat" pitchFamily="2" charset="0"/>
                <a:ea typeface="Source Serif Pro Black" panose="02040903050405020204" pitchFamily="18" charset="0"/>
              </a:rPr>
              <a:t> de </a:t>
            </a:r>
            <a:r>
              <a:rPr lang="en-US" sz="1400" b="1" spc="-10" dirty="0" err="1">
                <a:solidFill>
                  <a:schemeClr val="bg1"/>
                </a:solidFill>
                <a:latin typeface="Montserrat" pitchFamily="2" charset="0"/>
                <a:ea typeface="Source Serif Pro Black" panose="02040903050405020204" pitchFamily="18" charset="0"/>
              </a:rPr>
              <a:t>bem-estar</a:t>
            </a:r>
            <a:r>
              <a:rPr lang="en-US" sz="1400" b="1" spc="-10" dirty="0">
                <a:solidFill>
                  <a:schemeClr val="bg1"/>
                </a:solidFill>
                <a:latin typeface="Montserrat" pitchFamily="2" charset="0"/>
                <a:ea typeface="Source Serif Pro Black" panose="02040903050405020204" pitchFamily="18" charset="0"/>
              </a:rPr>
              <a:t> para as </a:t>
            </a:r>
            <a:r>
              <a:rPr lang="en-US" sz="1400" b="1" spc="-10" dirty="0" err="1">
                <a:solidFill>
                  <a:schemeClr val="bg1"/>
                </a:solidFill>
                <a:latin typeface="Montserrat" pitchFamily="2" charset="0"/>
                <a:ea typeface="Source Serif Pro Black" panose="02040903050405020204" pitchFamily="18" charset="0"/>
              </a:rPr>
              <a:t>brasileiras</a:t>
            </a:r>
            <a:endParaRPr lang="pt-BR" sz="1400" b="1" spc="-10" dirty="0">
              <a:solidFill>
                <a:schemeClr val="bg1"/>
              </a:solidFill>
              <a:latin typeface="Montserrat" pitchFamily="2" charset="0"/>
              <a:ea typeface="Source Serif Pro Black" panose="02040903050405020204" pitchFamily="18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18B70CF-B50D-0846-A315-9F7372EC464D}"/>
              </a:ext>
            </a:extLst>
          </p:cNvPr>
          <p:cNvGrpSpPr/>
          <p:nvPr/>
        </p:nvGrpSpPr>
        <p:grpSpPr>
          <a:xfrm>
            <a:off x="2851762" y="2052035"/>
            <a:ext cx="2134962" cy="1610942"/>
            <a:chOff x="2450901" y="2052035"/>
            <a:chExt cx="2504619" cy="1419348"/>
          </a:xfrm>
        </p:grpSpPr>
        <p:graphicFrame>
          <p:nvGraphicFramePr>
            <p:cNvPr id="36" name="Content Placeholder 20">
              <a:extLst>
                <a:ext uri="{FF2B5EF4-FFF2-40B4-BE49-F238E27FC236}">
                  <a16:creationId xmlns:a16="http://schemas.microsoft.com/office/drawing/2014/main" id="{C6967D88-09AA-F1B8-E157-EC84D61E0559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911627343"/>
                </p:ext>
              </p:extLst>
            </p:nvPr>
          </p:nvGraphicFramePr>
          <p:xfrm>
            <a:off x="2450901" y="2052035"/>
            <a:ext cx="2504619" cy="141934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cxnSp>
          <p:nvCxnSpPr>
            <p:cNvPr id="37" name="Connector: Elbow 36">
              <a:extLst>
                <a:ext uri="{FF2B5EF4-FFF2-40B4-BE49-F238E27FC236}">
                  <a16:creationId xmlns:a16="http://schemas.microsoft.com/office/drawing/2014/main" id="{C2FBFF9E-684F-0DFA-9D86-3886580C73E8}"/>
                </a:ext>
              </a:extLst>
            </p:cNvPr>
            <p:cNvCxnSpPr/>
            <p:nvPr/>
          </p:nvCxnSpPr>
          <p:spPr>
            <a:xfrm flipV="1">
              <a:off x="3162986" y="2369856"/>
              <a:ext cx="862641" cy="304365"/>
            </a:xfrm>
            <a:prstGeom prst="bentConnector3">
              <a:avLst>
                <a:gd name="adj1" fmla="val 0"/>
              </a:avLst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8074760-5B00-1B9E-9842-6FCC2BACCAF2}"/>
                </a:ext>
              </a:extLst>
            </p:cNvPr>
            <p:cNvSpPr txBox="1"/>
            <p:nvPr/>
          </p:nvSpPr>
          <p:spPr>
            <a:xfrm flipH="1">
              <a:off x="3485628" y="2293859"/>
              <a:ext cx="360000" cy="14279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900" dirty="0">
                  <a:solidFill>
                    <a:schemeClr val="tx2"/>
                  </a:solidFill>
                  <a:latin typeface="Montserrat" panose="00000500000000000000" pitchFamily="2" charset="0"/>
                  <a:ea typeface="Source Serif Pro" panose="02040603050405020204" pitchFamily="18" charset="0"/>
                </a:rPr>
                <a:t>84</a:t>
              </a:r>
              <a:r>
                <a:rPr kumimoji="0" lang="pt-BR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Montserrat" panose="00000500000000000000" pitchFamily="2" charset="0"/>
                  <a:ea typeface="Source Serif Pro" panose="02040603050405020204" pitchFamily="18" charset="0"/>
                </a:rPr>
                <a:t>%</a:t>
              </a:r>
            </a:p>
          </p:txBody>
        </p:sp>
      </p:grpSp>
      <p:sp>
        <p:nvSpPr>
          <p:cNvPr id="52" name="Content Placeholder 12">
            <a:extLst>
              <a:ext uri="{FF2B5EF4-FFF2-40B4-BE49-F238E27FC236}">
                <a16:creationId xmlns:a16="http://schemas.microsoft.com/office/drawing/2014/main" id="{0EC38A79-CA0D-61B3-03D4-5F589817453C}"/>
              </a:ext>
            </a:extLst>
          </p:cNvPr>
          <p:cNvSpPr txBox="1">
            <a:spLocks/>
          </p:cNvSpPr>
          <p:nvPr/>
        </p:nvSpPr>
        <p:spPr>
          <a:xfrm>
            <a:off x="5196863" y="4058180"/>
            <a:ext cx="1772332" cy="1754519"/>
          </a:xfrm>
          <a:prstGeom prst="rect">
            <a:avLst/>
          </a:prstGeom>
        </p:spPr>
        <p:txBody>
          <a:bodyPr wrap="square" lIns="10800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000" kern="1200" spc="-20" baseline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defRPr>
            </a:lvl1pPr>
            <a:lvl2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00" kern="1200" spc="-20" baseline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defRPr>
            </a:lvl2pPr>
            <a:lvl3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Source Sans Pro" panose="020B0503030403020204" pitchFamily="34" charset="0"/>
              <a:buChar char="−"/>
              <a:defRPr sz="1000" kern="1200" spc="-20" baseline="0">
                <a:solidFill>
                  <a:schemeClr val="tx2"/>
                </a:solidFill>
                <a:latin typeface="TT Hoves Pro Trial" panose="020B0003020000020203" pitchFamily="34" charset="0"/>
                <a:ea typeface="Source Serif Pro Light" panose="02040303050405020204" pitchFamily="18" charset="0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100" b="0" kern="1200" spc="-20" baseline="0">
                <a:solidFill>
                  <a:schemeClr val="tx2"/>
                </a:solidFill>
                <a:latin typeface="TT Hoves Pro Trial Medium" panose="020B0003020000020203" pitchFamily="34" charset="0"/>
                <a:ea typeface="Source Serif Pro" panose="02040603050405020204" pitchFamily="18" charset="0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000" kern="1200">
                <a:solidFill>
                  <a:schemeClr val="tx2"/>
                </a:solidFill>
                <a:latin typeface="TT Hoves Pro Trial "/>
                <a:ea typeface="Source Serif Pro Black" panose="02040903050405020204" pitchFamily="18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400"/>
              </a:spcAft>
            </a:pPr>
            <a:r>
              <a:rPr kumimoji="0" lang="pt-BR" sz="1100" b="1" i="0" u="none" strike="noStrike" kern="1200" cap="none" spc="0" normalizeH="0" baseline="0" noProof="0" dirty="0">
                <a:ln>
                  <a:noFill/>
                </a:ln>
                <a:solidFill>
                  <a:srgbClr val="4B2582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</a:rPr>
              <a:t>#</a:t>
            </a: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4B2582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</a:rPr>
              <a:t>14</a:t>
            </a:r>
            <a:r>
              <a:rPr kumimoji="0" lang="pt-BR" sz="1100" b="1" i="0" u="none" strike="noStrike" kern="1200" cap="none" spc="0" normalizeH="0" baseline="0" noProof="0" dirty="0">
                <a:ln>
                  <a:noFill/>
                </a:ln>
                <a:solidFill>
                  <a:srgbClr val="4B2582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</a:rPr>
              <a:t> </a:t>
            </a:r>
            <a:r>
              <a:rPr kumimoji="0" lang="pt-BR" sz="1200" i="0" u="none" strike="noStrike" kern="1200" cap="none" spc="0" normalizeH="0" baseline="0" noProof="0" dirty="0">
                <a:ln>
                  <a:noFill/>
                </a:ln>
                <a:solidFill>
                  <a:srgbClr val="4B2582"/>
                </a:solidFill>
                <a:effectLst/>
                <a:uLnTx/>
                <a:uFillTx/>
                <a:latin typeface="Montserrat Medium" pitchFamily="2" charset="0"/>
                <a:ea typeface="+mn-ea"/>
              </a:rPr>
              <a:t>banhos</a:t>
            </a:r>
            <a:r>
              <a:rPr lang="pt-BR" sz="1200" spc="0" dirty="0">
                <a:solidFill>
                  <a:srgbClr val="4B2582"/>
                </a:solidFill>
                <a:latin typeface="Montserrat Medium" pitchFamily="2" charset="0"/>
                <a:ea typeface="+mn-ea"/>
              </a:rPr>
              <a:t>/semana</a:t>
            </a:r>
            <a:endParaRPr kumimoji="0" lang="pt-BR" sz="1100" i="0" u="none" strike="noStrike" kern="1200" cap="none" spc="0" normalizeH="0" baseline="0" noProof="0" dirty="0">
              <a:ln>
                <a:noFill/>
              </a:ln>
              <a:solidFill>
                <a:srgbClr val="4B2582"/>
              </a:solidFill>
              <a:effectLst/>
              <a:uLnTx/>
              <a:uFillTx/>
              <a:latin typeface="Montserrat Medium" pitchFamily="2" charset="0"/>
              <a:ea typeface="+mn-ea"/>
            </a:endParaRPr>
          </a:p>
          <a:p>
            <a:pPr>
              <a:spcAft>
                <a:spcPts val="400"/>
              </a:spcAft>
            </a:pPr>
            <a:r>
              <a:rPr lang="pt-BR" sz="900" dirty="0">
                <a:solidFill>
                  <a:schemeClr val="tx1"/>
                </a:solidFill>
                <a:latin typeface="Montserrat" panose="00000500000000000000" pitchFamily="2" charset="0"/>
              </a:rPr>
              <a:t>Desde 2021, o número médio de banhos no Brasil </a:t>
            </a:r>
            <a:r>
              <a:rPr lang="pt-BR" sz="900" b="1" dirty="0">
                <a:solidFill>
                  <a:schemeClr val="tx1"/>
                </a:solidFill>
                <a:latin typeface="Montserrat" panose="00000500000000000000" pitchFamily="2" charset="0"/>
              </a:rPr>
              <a:t>aumentou 65%, </a:t>
            </a:r>
            <a:r>
              <a:rPr lang="pt-BR" sz="900" dirty="0">
                <a:solidFill>
                  <a:schemeClr val="tx1"/>
                </a:solidFill>
                <a:latin typeface="Montserrat" panose="00000500000000000000" pitchFamily="2" charset="0"/>
              </a:rPr>
              <a:t>colocando  o país como </a:t>
            </a:r>
            <a:r>
              <a:rPr lang="pt-BR" sz="900" b="1" dirty="0">
                <a:solidFill>
                  <a:schemeClr val="tx1"/>
                </a:solidFill>
                <a:latin typeface="Montserrat" panose="00000500000000000000" pitchFamily="2" charset="0"/>
              </a:rPr>
              <a:t>líder global</a:t>
            </a:r>
            <a:r>
              <a:rPr lang="pt-BR" sz="900" dirty="0">
                <a:solidFill>
                  <a:schemeClr val="tx1"/>
                </a:solidFill>
                <a:latin typeface="Montserrat" panose="00000500000000000000" pitchFamily="2" charset="0"/>
              </a:rPr>
              <a:t> em frequência e </a:t>
            </a:r>
            <a:r>
              <a:rPr lang="pt-BR" sz="900" b="1" dirty="0">
                <a:solidFill>
                  <a:schemeClr val="tx1"/>
                </a:solidFill>
                <a:latin typeface="Montserrat" panose="00000500000000000000" pitchFamily="2" charset="0"/>
              </a:rPr>
              <a:t>impulsionando a demanda por produtos de </a:t>
            </a:r>
            <a:r>
              <a:rPr lang="pt-BR" sz="900" b="1" dirty="0" err="1">
                <a:solidFill>
                  <a:schemeClr val="tx1"/>
                </a:solidFill>
                <a:latin typeface="Montserrat" panose="00000500000000000000" pitchFamily="2" charset="0"/>
              </a:rPr>
              <a:t>Bodycare</a:t>
            </a:r>
            <a:endParaRPr lang="pt-BR" sz="900" b="1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77D94EE-4A09-7D5A-6EFB-45A3C9FA2CB6}"/>
              </a:ext>
            </a:extLst>
          </p:cNvPr>
          <p:cNvGrpSpPr/>
          <p:nvPr/>
        </p:nvGrpSpPr>
        <p:grpSpPr>
          <a:xfrm>
            <a:off x="2851762" y="4226014"/>
            <a:ext cx="2134962" cy="1559248"/>
            <a:chOff x="2450901" y="4120976"/>
            <a:chExt cx="2504619" cy="1559248"/>
          </a:xfrm>
        </p:grpSpPr>
        <p:graphicFrame>
          <p:nvGraphicFramePr>
            <p:cNvPr id="53" name="Content Placeholder 20">
              <a:extLst>
                <a:ext uri="{FF2B5EF4-FFF2-40B4-BE49-F238E27FC236}">
                  <a16:creationId xmlns:a16="http://schemas.microsoft.com/office/drawing/2014/main" id="{3EC65CED-4A09-2853-3DEF-951A4DB8E868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074459084"/>
                </p:ext>
              </p:extLst>
            </p:nvPr>
          </p:nvGraphicFramePr>
          <p:xfrm>
            <a:off x="2450901" y="4120976"/>
            <a:ext cx="2504619" cy="155924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cxnSp>
          <p:nvCxnSpPr>
            <p:cNvPr id="59" name="Connector: Elbow 58">
              <a:extLst>
                <a:ext uri="{FF2B5EF4-FFF2-40B4-BE49-F238E27FC236}">
                  <a16:creationId xmlns:a16="http://schemas.microsoft.com/office/drawing/2014/main" id="{08122D17-4F76-2A6A-C0DC-0551FFA9C2DE}"/>
                </a:ext>
              </a:extLst>
            </p:cNvPr>
            <p:cNvCxnSpPr/>
            <p:nvPr/>
          </p:nvCxnSpPr>
          <p:spPr>
            <a:xfrm flipV="1">
              <a:off x="3162986" y="4515562"/>
              <a:ext cx="862641" cy="276695"/>
            </a:xfrm>
            <a:prstGeom prst="bentConnector3">
              <a:avLst>
                <a:gd name="adj1" fmla="val 0"/>
              </a:avLst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AD9F0A2-442D-2B70-D138-0D71B849CB6C}"/>
                </a:ext>
              </a:extLst>
            </p:cNvPr>
            <p:cNvSpPr txBox="1"/>
            <p:nvPr/>
          </p:nvSpPr>
          <p:spPr>
            <a:xfrm flipH="1">
              <a:off x="3485628" y="4425730"/>
              <a:ext cx="360000" cy="14279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Montserrat" panose="00000500000000000000" pitchFamily="2" charset="0"/>
                  <a:ea typeface="Source Serif Pro" panose="02040603050405020204" pitchFamily="18" charset="0"/>
                </a:rPr>
                <a:t>65%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C1D9039-F73F-FCC3-F13D-26FF1BD8906A}"/>
              </a:ext>
            </a:extLst>
          </p:cNvPr>
          <p:cNvSpPr/>
          <p:nvPr/>
        </p:nvSpPr>
        <p:spPr>
          <a:xfrm>
            <a:off x="7715229" y="1452507"/>
            <a:ext cx="3940876" cy="611615"/>
          </a:xfrm>
          <a:prstGeom prst="rect">
            <a:avLst/>
          </a:prstGeom>
          <a:noFill/>
          <a:ln w="6350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ctr" anchorCtr="0">
            <a:spAutoFit/>
          </a:bodyPr>
          <a:lstStyle/>
          <a:p>
            <a:pPr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</a:pPr>
            <a:r>
              <a:rPr lang="pt-BR" sz="1200" b="1" spc="-10" dirty="0">
                <a:solidFill>
                  <a:schemeClr val="tx2"/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Brasileiras gastam em média R$ 1.530 por ano com 30 produtos em sua rotina de beleza</a:t>
            </a:r>
            <a:endParaRPr lang="en-US" sz="1200" b="1" spc="-10" dirty="0">
              <a:solidFill>
                <a:schemeClr val="tx2"/>
              </a:solidFill>
              <a:latin typeface="Montserrat" panose="00000500000000000000" pitchFamily="2" charset="0"/>
              <a:ea typeface="Source Serif Pro" panose="020406030504050202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BA8C42-1625-B9C7-5E9E-5CC9903D6436}"/>
              </a:ext>
            </a:extLst>
          </p:cNvPr>
          <p:cNvSpPr/>
          <p:nvPr/>
        </p:nvSpPr>
        <p:spPr>
          <a:xfrm>
            <a:off x="8125623" y="2377264"/>
            <a:ext cx="1576012" cy="226584"/>
          </a:xfrm>
          <a:prstGeom prst="rect">
            <a:avLst/>
          </a:prstGeom>
          <a:noFill/>
          <a:ln w="6350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ctr"/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200"/>
              </a:spcAft>
            </a:pPr>
            <a:r>
              <a:rPr lang="pt-BR" sz="900" dirty="0">
                <a:solidFill>
                  <a:schemeClr val="tx1"/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de uso recorrente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B98438A-5C4F-199B-4025-54AFFE61BD93}"/>
              </a:ext>
            </a:extLst>
          </p:cNvPr>
          <p:cNvSpPr/>
          <p:nvPr/>
        </p:nvSpPr>
        <p:spPr>
          <a:xfrm>
            <a:off x="10277103" y="2381307"/>
            <a:ext cx="1576012" cy="226584"/>
          </a:xfrm>
          <a:prstGeom prst="rect">
            <a:avLst/>
          </a:prstGeom>
          <a:noFill/>
          <a:ln w="6350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ctr"/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200"/>
              </a:spcAft>
            </a:pPr>
            <a:r>
              <a:rPr lang="pt-BR" sz="900" dirty="0">
                <a:solidFill>
                  <a:schemeClr val="tx1"/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de uso esporádico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AEE3E5F-393F-824D-145F-D0907C7BA35D}"/>
              </a:ext>
            </a:extLst>
          </p:cNvPr>
          <p:cNvGrpSpPr/>
          <p:nvPr/>
        </p:nvGrpSpPr>
        <p:grpSpPr>
          <a:xfrm>
            <a:off x="7705075" y="2740926"/>
            <a:ext cx="3961184" cy="1805562"/>
            <a:chOff x="7285040" y="3699658"/>
            <a:chExt cx="4614248" cy="2103237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93AB12A-1A56-7D89-ACAA-835EEE2CB991}"/>
                </a:ext>
              </a:extLst>
            </p:cNvPr>
            <p:cNvSpPr/>
            <p:nvPr/>
          </p:nvSpPr>
          <p:spPr>
            <a:xfrm>
              <a:off x="7285040" y="3699658"/>
              <a:ext cx="4614248" cy="2103234"/>
            </a:xfrm>
            <a:prstGeom prst="roundRect">
              <a:avLst>
                <a:gd name="adj" fmla="val 8726"/>
              </a:avLst>
            </a:prstGeom>
            <a:solidFill>
              <a:schemeClr val="accent2">
                <a:alpha val="50000"/>
              </a:schemeClr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2000"/>
                </a:lnSpc>
                <a:spcAft>
                  <a:spcPts val="800"/>
                </a:spcAft>
              </a:pPr>
              <a:endParaRPr lang="en-US" sz="1200" dirty="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C0154DB-5CC1-A434-3351-6A838A5B5811}"/>
                </a:ext>
              </a:extLst>
            </p:cNvPr>
            <p:cNvSpPr txBox="1"/>
            <p:nvPr/>
          </p:nvSpPr>
          <p:spPr>
            <a:xfrm>
              <a:off x="7491976" y="3916372"/>
              <a:ext cx="2044001" cy="15611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lang="pt-BR" sz="2800" b="1" dirty="0">
                  <a:solidFill>
                    <a:schemeClr val="bg2"/>
                  </a:solidFill>
                  <a:latin typeface="Montserrat" panose="00000500000000000000" pitchFamily="2" charset="0"/>
                  <a:ea typeface="Source Serif Pro SemiBold" panose="02040703050405020204" pitchFamily="18" charset="0"/>
                </a:rPr>
                <a:t>50</a:t>
              </a:r>
              <a:r>
                <a:rPr lang="pt-BR" sz="1400" b="1" dirty="0">
                  <a:solidFill>
                    <a:schemeClr val="bg2"/>
                  </a:solidFill>
                  <a:latin typeface="Montserrat" panose="00000500000000000000" pitchFamily="2" charset="0"/>
                  <a:ea typeface="Source Serif Pro SemiBold" panose="02040703050405020204" pitchFamily="18" charset="0"/>
                </a:rPr>
                <a:t>%</a:t>
              </a:r>
            </a:p>
            <a:p>
              <a:pPr>
                <a:lnSpc>
                  <a:spcPct val="112000"/>
                </a:lnSpc>
              </a:pPr>
              <a:r>
                <a:rPr lang="en-US" sz="900" dirty="0">
                  <a:latin typeface="Montserrat" panose="00000500000000000000" pitchFamily="2" charset="0"/>
                  <a:ea typeface="Source Serif Pro Black" panose="02040903050405020204" pitchFamily="18" charset="0"/>
                </a:rPr>
                <a:t>Dos </a:t>
              </a:r>
              <a:r>
                <a:rPr lang="en-US" sz="900" dirty="0" err="1">
                  <a:latin typeface="Montserrat" panose="00000500000000000000" pitchFamily="2" charset="0"/>
                  <a:ea typeface="Source Serif Pro Black" panose="02040903050405020204" pitchFamily="18" charset="0"/>
                </a:rPr>
                <a:t>produtos</a:t>
              </a:r>
              <a:r>
                <a:rPr lang="en-US" sz="900" dirty="0">
                  <a:latin typeface="Montserrat" panose="00000500000000000000" pitchFamily="2" charset="0"/>
                  <a:ea typeface="Source Serif Pro Black" panose="02040903050405020204" pitchFamily="18" charset="0"/>
                </a:rPr>
                <a:t> que a </a:t>
              </a:r>
              <a:r>
                <a:rPr lang="en-US" sz="900" dirty="0" err="1">
                  <a:latin typeface="Montserrat" panose="00000500000000000000" pitchFamily="2" charset="0"/>
                  <a:ea typeface="Source Serif Pro Black" panose="02040903050405020204" pitchFamily="18" charset="0"/>
                </a:rPr>
                <a:t>brasileira</a:t>
              </a:r>
              <a:r>
                <a:rPr lang="en-US" sz="900" dirty="0">
                  <a:latin typeface="Montserrat" panose="00000500000000000000" pitchFamily="2" charset="0"/>
                  <a:ea typeface="Source Serif Pro Black" panose="02040903050405020204" pitchFamily="18" charset="0"/>
                </a:rPr>
                <a:t> </a:t>
              </a:r>
              <a:r>
                <a:rPr lang="en-US" sz="900" dirty="0" err="1">
                  <a:latin typeface="Montserrat" panose="00000500000000000000" pitchFamily="2" charset="0"/>
                  <a:ea typeface="Source Serif Pro Black" panose="02040903050405020204" pitchFamily="18" charset="0"/>
                </a:rPr>
                <a:t>usa</a:t>
              </a:r>
              <a:r>
                <a:rPr lang="en-US" sz="900" dirty="0">
                  <a:latin typeface="Montserrat" panose="00000500000000000000" pitchFamily="2" charset="0"/>
                  <a:ea typeface="Source Serif Pro Black" panose="02040903050405020204" pitchFamily="18" charset="0"/>
                </a:rPr>
                <a:t> </a:t>
              </a:r>
              <a:r>
                <a:rPr lang="en-US" sz="900" dirty="0" err="1">
                  <a:latin typeface="Montserrat" panose="00000500000000000000" pitchFamily="2" charset="0"/>
                  <a:ea typeface="Source Serif Pro Black" panose="02040903050405020204" pitchFamily="18" charset="0"/>
                </a:rPr>
                <a:t>diariamente</a:t>
              </a:r>
              <a:r>
                <a:rPr lang="en-US" sz="900" dirty="0">
                  <a:latin typeface="Montserrat" panose="00000500000000000000" pitchFamily="2" charset="0"/>
                  <a:ea typeface="Source Serif Pro Black" panose="02040903050405020204" pitchFamily="18" charset="0"/>
                </a:rPr>
                <a:t>, </a:t>
              </a:r>
            </a:p>
            <a:p>
              <a:pPr>
                <a:lnSpc>
                  <a:spcPct val="112000"/>
                </a:lnSpc>
              </a:pPr>
              <a:r>
                <a:rPr lang="en-US" sz="900" b="1" dirty="0">
                  <a:latin typeface="Montserrat" panose="00000500000000000000" pitchFamily="2" charset="0"/>
                  <a:ea typeface="Source Serif Pro SemiBold" panose="02040703050405020204" pitchFamily="18" charset="0"/>
                </a:rPr>
                <a:t>4 </a:t>
              </a:r>
              <a:r>
                <a:rPr lang="en-US" sz="900" dirty="0" err="1">
                  <a:latin typeface="Montserrat" panose="00000500000000000000" pitchFamily="2" charset="0"/>
                  <a:ea typeface="Source Serif Pro Black" panose="02040903050405020204" pitchFamily="18" charset="0"/>
                </a:rPr>
                <a:t>são</a:t>
              </a:r>
              <a:r>
                <a:rPr lang="en-US" sz="900" dirty="0">
                  <a:latin typeface="Montserrat" panose="00000500000000000000" pitchFamily="2" charset="0"/>
                  <a:ea typeface="Source Serif Pro Black" panose="02040903050405020204" pitchFamily="18" charset="0"/>
                </a:rPr>
                <a:t> para </a:t>
              </a:r>
              <a:r>
                <a:rPr lang="en-US" sz="900" dirty="0" err="1">
                  <a:latin typeface="Montserrat" panose="00000500000000000000" pitchFamily="2" charset="0"/>
                  <a:ea typeface="Source Serif Pro Black" panose="02040903050405020204" pitchFamily="18" charset="0"/>
                </a:rPr>
                <a:t>sua</a:t>
              </a:r>
              <a:r>
                <a:rPr lang="en-US" sz="900" dirty="0">
                  <a:latin typeface="Montserrat" panose="00000500000000000000" pitchFamily="2" charset="0"/>
                  <a:ea typeface="Source Serif Pro Black" panose="02040903050405020204" pitchFamily="18" charset="0"/>
                </a:rPr>
                <a:t> </a:t>
              </a:r>
              <a:r>
                <a:rPr lang="en-US" sz="900" dirty="0" err="1">
                  <a:latin typeface="Montserrat" panose="00000500000000000000" pitchFamily="2" charset="0"/>
                  <a:ea typeface="Source Serif Pro Black" panose="02040903050405020204" pitchFamily="18" charset="0"/>
                </a:rPr>
                <a:t>rotina</a:t>
              </a:r>
              <a:r>
                <a:rPr lang="en-US" sz="900" dirty="0">
                  <a:latin typeface="Montserrat" panose="00000500000000000000" pitchFamily="2" charset="0"/>
                  <a:ea typeface="Source Serif Pro Black" panose="02040903050405020204" pitchFamily="18" charset="0"/>
                </a:rPr>
                <a:t> de </a:t>
              </a:r>
              <a:r>
                <a:rPr lang="en-US" sz="900" b="1" dirty="0" err="1">
                  <a:latin typeface="Montserrat" panose="00000500000000000000" pitchFamily="2" charset="0"/>
                  <a:ea typeface="Source Serif Pro Black" panose="02040903050405020204" pitchFamily="18" charset="0"/>
                </a:rPr>
                <a:t>cuidado</a:t>
              </a:r>
              <a:r>
                <a:rPr lang="en-US" sz="900" b="1" dirty="0">
                  <a:latin typeface="Montserrat" panose="00000500000000000000" pitchFamily="2" charset="0"/>
                  <a:ea typeface="Source Serif Pro Black" panose="02040903050405020204" pitchFamily="18" charset="0"/>
                </a:rPr>
                <a:t> corporal </a:t>
              </a:r>
              <a:r>
                <a:rPr lang="en-US" sz="900" dirty="0">
                  <a:latin typeface="Montserrat" panose="00000500000000000000" pitchFamily="2" charset="0"/>
                  <a:ea typeface="Source Serif Pro SemiBold" panose="02040703050405020204" pitchFamily="18" charset="0"/>
                </a:rPr>
                <a:t>e </a:t>
              </a:r>
              <a:r>
                <a:rPr lang="en-US" sz="900" dirty="0" err="1">
                  <a:latin typeface="Montserrat" panose="00000500000000000000" pitchFamily="2" charset="0"/>
                  <a:ea typeface="Source Serif Pro SemiBold" panose="02040703050405020204" pitchFamily="18" charset="0"/>
                </a:rPr>
                <a:t>essa</a:t>
              </a:r>
              <a:r>
                <a:rPr lang="en-US" sz="900" dirty="0">
                  <a:latin typeface="Montserrat" panose="00000500000000000000" pitchFamily="2" charset="0"/>
                  <a:ea typeface="Source Serif Pro SemiBold" panose="02040703050405020204" pitchFamily="18" charset="0"/>
                </a:rPr>
                <a:t> cesta </a:t>
              </a:r>
              <a:r>
                <a:rPr lang="en-US" sz="900" b="1" dirty="0" err="1">
                  <a:latin typeface="Montserrat" panose="00000500000000000000" pitchFamily="2" charset="0"/>
                  <a:ea typeface="Source Serif Pro SemiBold" panose="02040703050405020204" pitchFamily="18" charset="0"/>
                </a:rPr>
                <a:t>tende</a:t>
              </a:r>
              <a:r>
                <a:rPr lang="en-US" sz="900" b="1" dirty="0">
                  <a:latin typeface="Montserrat" panose="00000500000000000000" pitchFamily="2" charset="0"/>
                  <a:ea typeface="Source Serif Pro SemiBold" panose="02040703050405020204" pitchFamily="18" charset="0"/>
                </a:rPr>
                <a:t> a </a:t>
              </a:r>
              <a:r>
                <a:rPr lang="en-US" sz="900" b="1" dirty="0" err="1">
                  <a:latin typeface="Montserrat" panose="00000500000000000000" pitchFamily="2" charset="0"/>
                  <a:ea typeface="Source Serif Pro SemiBold" panose="02040703050405020204" pitchFamily="18" charset="0"/>
                </a:rPr>
                <a:t>aumentar</a:t>
              </a:r>
              <a:endParaRPr lang="pt-BR" sz="900" b="1" dirty="0">
                <a:latin typeface="Montserrat" panose="00000500000000000000" pitchFamily="2" charset="0"/>
                <a:ea typeface="Source Serif Pro SemiBold" panose="02040703050405020204" pitchFamily="18" charset="0"/>
              </a:endParaRPr>
            </a:p>
          </p:txBody>
        </p:sp>
        <p:pic>
          <p:nvPicPr>
            <p:cNvPr id="18" name="Picture 17" descr="A person with a towel on her head&#10;&#10;Description automatically generated">
              <a:extLst>
                <a:ext uri="{FF2B5EF4-FFF2-40B4-BE49-F238E27FC236}">
                  <a16:creationId xmlns:a16="http://schemas.microsoft.com/office/drawing/2014/main" id="{BA8C41ED-B9A3-3066-4D4F-F3DC307657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245" r="32774"/>
            <a:stretch/>
          </p:blipFill>
          <p:spPr>
            <a:xfrm>
              <a:off x="9610765" y="3699660"/>
              <a:ext cx="2288523" cy="2103235"/>
            </a:xfrm>
            <a:prstGeom prst="roundRect">
              <a:avLst>
                <a:gd name="adj" fmla="val 6569"/>
              </a:avLst>
            </a:prstGeom>
          </p:spPr>
        </p:pic>
      </p:grp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AA0C407-B868-43B7-05DD-E50893AE5B35}"/>
              </a:ext>
            </a:extLst>
          </p:cNvPr>
          <p:cNvSpPr/>
          <p:nvPr/>
        </p:nvSpPr>
        <p:spPr>
          <a:xfrm>
            <a:off x="4419600" y="-369569"/>
            <a:ext cx="45719" cy="4571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pic>
        <p:nvPicPr>
          <p:cNvPr id="38" name="Picture 37" descr="A group of women smiling&#10;&#10;Description automatically generated">
            <a:extLst>
              <a:ext uri="{FF2B5EF4-FFF2-40B4-BE49-F238E27FC236}">
                <a16:creationId xmlns:a16="http://schemas.microsoft.com/office/drawing/2014/main" id="{05B43074-1419-E09D-3CA1-1FFD72C317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72" y="3662977"/>
            <a:ext cx="1895454" cy="2116914"/>
          </a:xfrm>
          <a:prstGeom prst="roundRect">
            <a:avLst>
              <a:gd name="adj" fmla="val 9401"/>
            </a:avLst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88865482-273A-F415-A3C4-F3A210050753}"/>
              </a:ext>
            </a:extLst>
          </p:cNvPr>
          <p:cNvSpPr txBox="1"/>
          <p:nvPr/>
        </p:nvSpPr>
        <p:spPr>
          <a:xfrm flipH="1">
            <a:off x="2937988" y="1903035"/>
            <a:ext cx="2921976" cy="16658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i="0" u="none" strike="noStrike" kern="1200" cap="none" spc="10" normalizeH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Montserrat" pitchFamily="2" charset="0"/>
                <a:ea typeface="Source Serif Pro" panose="02040603050405020204" pitchFamily="18" charset="0"/>
              </a:rPr>
              <a:t>Minutos dedicados a beleza e bem estar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241E01C-AB36-5592-4C3E-66D95060E968}"/>
              </a:ext>
            </a:extLst>
          </p:cNvPr>
          <p:cNvSpPr txBox="1"/>
          <p:nvPr/>
        </p:nvSpPr>
        <p:spPr>
          <a:xfrm flipH="1">
            <a:off x="2937989" y="4051039"/>
            <a:ext cx="2335738" cy="16658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i="0" u="none" strike="noStrike" kern="1200" cap="none" spc="10" normalizeH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Montserrat" pitchFamily="2" charset="0"/>
                <a:ea typeface="Source Serif Pro" panose="02040603050405020204" pitchFamily="18" charset="0"/>
              </a:rPr>
              <a:t>Média # de banhos/semana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C7918A-EAFE-39D3-81BD-DFC57820AFFE}"/>
              </a:ext>
            </a:extLst>
          </p:cNvPr>
          <p:cNvSpPr txBox="1"/>
          <p:nvPr/>
        </p:nvSpPr>
        <p:spPr>
          <a:xfrm>
            <a:off x="7677129" y="5034783"/>
            <a:ext cx="10634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80</a:t>
            </a:r>
            <a:r>
              <a:rPr lang="en-US" sz="1600" b="1" dirty="0">
                <a:solidFill>
                  <a:schemeClr val="bg1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% </a:t>
            </a:r>
            <a:endParaRPr lang="pt-BR" sz="1600" dirty="0">
              <a:solidFill>
                <a:schemeClr val="bg1"/>
              </a:solidFill>
              <a:latin typeface="Montserrat" panose="00000500000000000000" pitchFamily="2" charset="0"/>
              <a:ea typeface="Source Serif Pro Black" panose="0204090305040502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95E7-0821-75B1-3CCE-F875172BD455}"/>
              </a:ext>
            </a:extLst>
          </p:cNvPr>
          <p:cNvSpPr txBox="1"/>
          <p:nvPr/>
        </p:nvSpPr>
        <p:spPr>
          <a:xfrm>
            <a:off x="9821065" y="5111727"/>
            <a:ext cx="214090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dos </a:t>
            </a:r>
            <a:r>
              <a:rPr lang="en-US" sz="1000" dirty="0" err="1">
                <a:solidFill>
                  <a:schemeClr val="bg1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brasileiros</a:t>
            </a:r>
            <a:r>
              <a:rPr lang="en-US" sz="1000" dirty="0">
                <a:solidFill>
                  <a:schemeClr val="bg1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pretendem</a:t>
            </a:r>
            <a:r>
              <a:rPr lang="en-US" sz="1000" dirty="0">
                <a:solidFill>
                  <a:schemeClr val="bg1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 </a:t>
            </a:r>
            <a:r>
              <a:rPr lang="en-US" sz="1000" b="1" dirty="0" err="1">
                <a:solidFill>
                  <a:schemeClr val="bg1"/>
                </a:solidFill>
                <a:latin typeface="Montserrat" pitchFamily="2" charset="0"/>
                <a:ea typeface="Source Serif Pro Black" panose="02040903050405020204" pitchFamily="18" charset="0"/>
              </a:rPr>
              <a:t>manter</a:t>
            </a:r>
            <a:r>
              <a:rPr lang="en-US" sz="1000" b="1" dirty="0">
                <a:solidFill>
                  <a:schemeClr val="bg1"/>
                </a:solidFill>
                <a:latin typeface="Montserrat" pitchFamily="2" charset="0"/>
                <a:ea typeface="Source Serif Pro Black" panose="02040903050405020204" pitchFamily="18" charset="0"/>
              </a:rPr>
              <a:t> </a:t>
            </a:r>
            <a:r>
              <a:rPr lang="en-US" sz="1000" b="1" dirty="0" err="1">
                <a:solidFill>
                  <a:schemeClr val="bg1"/>
                </a:solidFill>
                <a:latin typeface="Montserrat" pitchFamily="2" charset="0"/>
                <a:ea typeface="Source Serif Pro Black" panose="02040903050405020204" pitchFamily="18" charset="0"/>
              </a:rPr>
              <a:t>ou</a:t>
            </a:r>
            <a:r>
              <a:rPr lang="en-US" sz="1000" b="1" dirty="0">
                <a:solidFill>
                  <a:schemeClr val="bg1"/>
                </a:solidFill>
                <a:latin typeface="Montserrat" pitchFamily="2" charset="0"/>
                <a:ea typeface="Source Serif Pro Black" panose="02040903050405020204" pitchFamily="18" charset="0"/>
              </a:rPr>
              <a:t> </a:t>
            </a:r>
            <a:r>
              <a:rPr lang="en-US" sz="1000" b="1" dirty="0" err="1">
                <a:solidFill>
                  <a:schemeClr val="bg1"/>
                </a:solidFill>
                <a:latin typeface="Montserrat" pitchFamily="2" charset="0"/>
                <a:ea typeface="Source Serif Pro Black" panose="02040903050405020204" pitchFamily="18" charset="0"/>
              </a:rPr>
              <a:t>aumentar</a:t>
            </a:r>
            <a:r>
              <a:rPr lang="en-US" sz="1000" b="1" dirty="0">
                <a:solidFill>
                  <a:schemeClr val="bg1"/>
                </a:solidFill>
                <a:latin typeface="Montserrat" pitchFamily="2" charset="0"/>
                <a:ea typeface="Source Serif Pro Black" panose="02040903050405020204" pitchFamily="18" charset="0"/>
              </a:rPr>
              <a:t> o </a:t>
            </a:r>
            <a:r>
              <a:rPr lang="en-US" sz="1000" b="1" dirty="0" err="1">
                <a:solidFill>
                  <a:schemeClr val="bg1"/>
                </a:solidFill>
                <a:latin typeface="Montserrat" pitchFamily="2" charset="0"/>
                <a:ea typeface="Source Serif Pro Black" panose="02040903050405020204" pitchFamily="18" charset="0"/>
              </a:rPr>
              <a:t>gasto</a:t>
            </a:r>
            <a:r>
              <a:rPr lang="en-US" sz="1000" b="1" dirty="0">
                <a:solidFill>
                  <a:schemeClr val="bg1"/>
                </a:solidFill>
                <a:latin typeface="Montserrat" pitchFamily="2" charset="0"/>
                <a:ea typeface="Source Serif Pro Black" panose="02040903050405020204" pitchFamily="18" charset="0"/>
              </a:rPr>
              <a:t> com </a:t>
            </a:r>
            <a:r>
              <a:rPr lang="en-US" sz="1000" b="1" dirty="0" err="1">
                <a:solidFill>
                  <a:schemeClr val="bg1"/>
                </a:solidFill>
                <a:latin typeface="Montserrat" pitchFamily="2" charset="0"/>
                <a:ea typeface="Source Serif Pro Black" panose="02040903050405020204" pitchFamily="18" charset="0"/>
              </a:rPr>
              <a:t>cuidado</a:t>
            </a:r>
            <a:r>
              <a:rPr lang="en-US" sz="1000" b="1" dirty="0">
                <a:solidFill>
                  <a:schemeClr val="bg1"/>
                </a:solidFill>
                <a:latin typeface="Montserrat" pitchFamily="2" charset="0"/>
                <a:ea typeface="Source Serif Pro Black" panose="02040903050405020204" pitchFamily="18" charset="0"/>
              </a:rPr>
              <a:t> corporal</a:t>
            </a:r>
            <a:endParaRPr lang="pt-BR" sz="1000" b="1" dirty="0">
              <a:solidFill>
                <a:schemeClr val="bg1"/>
              </a:solidFill>
              <a:latin typeface="Montserrat" pitchFamily="2" charset="0"/>
              <a:ea typeface="Source Serif Pro Black" panose="02040903050405020204" pitchFamily="18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F2FE459-4DCE-1741-6EDF-17A40ECCA8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58" t="4906" r="13388" b="4906"/>
          <a:stretch/>
        </p:blipFill>
        <p:spPr>
          <a:xfrm>
            <a:off x="8757593" y="4865487"/>
            <a:ext cx="1046480" cy="1046478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249961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81681F50-654A-B169-A3CD-B0CA3AF00E5A}"/>
              </a:ext>
            </a:extLst>
          </p:cNvPr>
          <p:cNvSpPr/>
          <p:nvPr/>
        </p:nvSpPr>
        <p:spPr>
          <a:xfrm flipH="1">
            <a:off x="-4" y="4022041"/>
            <a:ext cx="12191999" cy="2835959"/>
          </a:xfrm>
          <a:prstGeom prst="round2SameRect">
            <a:avLst>
              <a:gd name="adj1" fmla="val 18091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9F95410-D6A5-9879-896E-33513BC5B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745259"/>
            <a:ext cx="11329099" cy="284693"/>
          </a:xfrm>
        </p:spPr>
        <p:txBody>
          <a:bodyPr/>
          <a:lstStyle/>
          <a:p>
            <a:r>
              <a:rPr lang="pt-BR" dirty="0"/>
              <a:t>Cada vez mais, </a:t>
            </a:r>
            <a:r>
              <a:rPr lang="pt-BR" dirty="0" err="1"/>
              <a:t>Bodycare</a:t>
            </a:r>
            <a:r>
              <a:rPr lang="pt-BR" dirty="0"/>
              <a:t> se destaca dentro do mercado de beleza e cuidados pessoais</a:t>
            </a:r>
          </a:p>
        </p:txBody>
      </p:sp>
      <p:sp>
        <p:nvSpPr>
          <p:cNvPr id="17" name="Rectangle: Top Corners Rounded 16">
            <a:extLst>
              <a:ext uri="{FF2B5EF4-FFF2-40B4-BE49-F238E27FC236}">
                <a16:creationId xmlns:a16="http://schemas.microsoft.com/office/drawing/2014/main" id="{7272CA59-3081-F0FF-6516-6BB76CD20DD9}"/>
              </a:ext>
            </a:extLst>
          </p:cNvPr>
          <p:cNvSpPr/>
          <p:nvPr/>
        </p:nvSpPr>
        <p:spPr>
          <a:xfrm flipH="1">
            <a:off x="731836" y="1461926"/>
            <a:ext cx="4825583" cy="4527713"/>
          </a:xfrm>
          <a:prstGeom prst="round2SameRect">
            <a:avLst>
              <a:gd name="adj1" fmla="val 7175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Montserrat" panose="00000500000000000000" pitchFamily="2" charset="0"/>
              <a:ea typeface="Source Serif Pro" panose="020406030504050202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092B63-7113-8057-72A2-D01E7CBE5DB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0" tIns="36000" rIns="0" bIns="0" rtlCol="0">
            <a:spAutoFit/>
          </a:bodyPr>
          <a:lstStyle/>
          <a:p>
            <a:r>
              <a:rPr lang="pt-BR" sz="1050" dirty="0">
                <a:latin typeface="Montserrat Light" pitchFamily="2" charset="0"/>
              </a:rPr>
              <a:t>A crescente demanda por </a:t>
            </a:r>
            <a:r>
              <a:rPr lang="pt-BR" sz="1050" dirty="0" err="1">
                <a:latin typeface="Montserrat Light" pitchFamily="2" charset="0"/>
              </a:rPr>
              <a:t>Bodycare</a:t>
            </a:r>
            <a:r>
              <a:rPr lang="pt-BR" sz="1050" dirty="0">
                <a:latin typeface="Montserrat Light" pitchFamily="2" charset="0"/>
              </a:rPr>
              <a:t> no Brasil fez com que o país se tornasse o segundo mercado mais relevante do mundo</a:t>
            </a:r>
            <a:endParaRPr lang="en-US" sz="1050" dirty="0">
              <a:latin typeface="Montserrat Light" pitchFamily="2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26F044F0-E7BC-9B2C-78E5-15E469BA364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10000"/>
                    <a:lumOff val="90000"/>
                  </a:schemeClr>
                </a:solidFill>
                <a:latin typeface="Montserrat" panose="00000500000000000000" pitchFamily="2" charset="0"/>
              </a:rPr>
              <a:t>Fonte: EMIS Market Line; Cosmetic Innovation; Elle Magazine; Pinterest</a:t>
            </a:r>
            <a:endParaRPr lang="pt-BR" dirty="0">
              <a:solidFill>
                <a:schemeClr val="tx2">
                  <a:lumMod val="10000"/>
                  <a:lumOff val="90000"/>
                </a:schemeClr>
              </a:solidFill>
              <a:latin typeface="Montserrat" panose="00000500000000000000" pitchFamily="2" charset="0"/>
            </a:endParaRPr>
          </a:p>
        </p:txBody>
      </p:sp>
      <p:graphicFrame>
        <p:nvGraphicFramePr>
          <p:cNvPr id="1034" name="Content Placeholder 20">
            <a:extLst>
              <a:ext uri="{FF2B5EF4-FFF2-40B4-BE49-F238E27FC236}">
                <a16:creationId xmlns:a16="http://schemas.microsoft.com/office/drawing/2014/main" id="{420E6CFC-111A-B6E4-AB70-7374A688FB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9194258"/>
              </p:ext>
            </p:extLst>
          </p:nvPr>
        </p:nvGraphicFramePr>
        <p:xfrm>
          <a:off x="5921051" y="4282191"/>
          <a:ext cx="5649278" cy="17026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35" name="Content Placeholder 10">
            <a:extLst>
              <a:ext uri="{FF2B5EF4-FFF2-40B4-BE49-F238E27FC236}">
                <a16:creationId xmlns:a16="http://schemas.microsoft.com/office/drawing/2014/main" id="{F02B27D5-2BD9-2E42-5EC3-9EE66ABD7D5C}"/>
              </a:ext>
            </a:extLst>
          </p:cNvPr>
          <p:cNvSpPr txBox="1">
            <a:spLocks/>
          </p:cNvSpPr>
          <p:nvPr/>
        </p:nvSpPr>
        <p:spPr>
          <a:xfrm>
            <a:off x="6002603" y="2594246"/>
            <a:ext cx="2234112" cy="14279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1pPr>
            <a:lvl2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2pPr>
            <a:lvl3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Source Sans Pro" panose="020B0503030403020204" pitchFamily="34" charset="0"/>
              <a:buChar char="−"/>
              <a:defRPr sz="1200" kern="1200">
                <a:solidFill>
                  <a:schemeClr val="tx1"/>
                </a:solidFill>
                <a:latin typeface="Source Serif Pro Light" panose="02040303050405020204" pitchFamily="18" charset="0"/>
                <a:ea typeface="Source Serif Pro Light" panose="02040303050405020204" pitchFamily="18" charset="0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2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kern="1200">
                <a:solidFill>
                  <a:schemeClr val="accent4"/>
                </a:solidFill>
                <a:latin typeface="Source Serif Pro Black" panose="02040903050405020204" pitchFamily="18" charset="0"/>
                <a:ea typeface="Source Serif Pro Black" panose="02040903050405020204" pitchFamily="18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900" b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ontserrat" panose="00000500000000000000" pitchFamily="2" charset="0"/>
              </a:rPr>
              <a:t>Mercado de </a:t>
            </a:r>
            <a:r>
              <a:rPr lang="pt-BR" sz="900" b="0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rPr>
              <a:t>B</a:t>
            </a:r>
            <a:r>
              <a:rPr kumimoji="0" lang="pt-BR" sz="900" b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ontserrat" panose="00000500000000000000" pitchFamily="2" charset="0"/>
              </a:rPr>
              <a:t>odycare</a:t>
            </a:r>
            <a:r>
              <a:rPr kumimoji="0" lang="pt-BR" sz="900" b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ontserrat" panose="00000500000000000000" pitchFamily="2" charset="0"/>
              </a:rPr>
              <a:t> no Brasil (R$ Bi)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C673C24-9A30-E654-CE6E-30CC27457A0C}"/>
              </a:ext>
            </a:extLst>
          </p:cNvPr>
          <p:cNvGrpSpPr/>
          <p:nvPr/>
        </p:nvGrpSpPr>
        <p:grpSpPr>
          <a:xfrm>
            <a:off x="6002603" y="2954410"/>
            <a:ext cx="764832" cy="764832"/>
            <a:chOff x="6027328" y="5234332"/>
            <a:chExt cx="764832" cy="764832"/>
          </a:xfrm>
          <a:solidFill>
            <a:srgbClr val="AE6AC0"/>
          </a:solidFill>
        </p:grpSpPr>
        <p:sp>
          <p:nvSpPr>
            <p:cNvPr id="37" name="Rectangle: Diagonal Corners Rounded 36">
              <a:extLst>
                <a:ext uri="{FF2B5EF4-FFF2-40B4-BE49-F238E27FC236}">
                  <a16:creationId xmlns:a16="http://schemas.microsoft.com/office/drawing/2014/main" id="{039B059F-F042-C983-7BC4-E4E899DC2A3E}"/>
                </a:ext>
              </a:extLst>
            </p:cNvPr>
            <p:cNvSpPr/>
            <p:nvPr/>
          </p:nvSpPr>
          <p:spPr>
            <a:xfrm>
              <a:off x="6027328" y="5234332"/>
              <a:ext cx="764832" cy="764832"/>
            </a:xfrm>
            <a:prstGeom prst="round2Diag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2000"/>
                </a:lnSpc>
                <a:spcAft>
                  <a:spcPts val="800"/>
                </a:spcAft>
              </a:pPr>
              <a:endParaRPr lang="pt-BR" sz="1200" dirty="0" err="1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</a:endParaRPr>
            </a:p>
          </p:txBody>
        </p:sp>
        <p:sp>
          <p:nvSpPr>
            <p:cNvPr id="1052" name="Content Placeholder 4">
              <a:extLst>
                <a:ext uri="{FF2B5EF4-FFF2-40B4-BE49-F238E27FC236}">
                  <a16:creationId xmlns:a16="http://schemas.microsoft.com/office/drawing/2014/main" id="{124CB03A-B2B6-54E1-1C59-0F3DF05CF1CD}"/>
                </a:ext>
              </a:extLst>
            </p:cNvPr>
            <p:cNvSpPr txBox="1">
              <a:spLocks/>
            </p:cNvSpPr>
            <p:nvPr/>
          </p:nvSpPr>
          <p:spPr>
            <a:xfrm>
              <a:off x="6140493" y="5289673"/>
              <a:ext cx="604803" cy="607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pt-BR"/>
              </a:defPPr>
              <a:lvl1pPr>
                <a:lnSpc>
                  <a:spcPct val="112000"/>
                </a:lnSpc>
                <a:defRPr sz="1600">
                  <a:latin typeface="TT Hoves Pro Trial Medium" panose="020B0003020000020203"/>
                  <a:ea typeface="Source Serif Pro Black" panose="02040903050405020204" pitchFamily="18" charset="0"/>
                </a:defRPr>
              </a:lvl1pPr>
              <a:lvl2pPr marL="108000" indent="-108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Clr>
                  <a:schemeClr val="bg2"/>
                </a:buClr>
                <a:buFont typeface="Arial" panose="020B0604020202020204" pitchFamily="34" charset="0"/>
                <a:buChar char="•"/>
                <a:defRPr sz="1000" kern="1200" spc="-20" baseline="0">
                  <a:solidFill>
                    <a:schemeClr val="tx2"/>
                  </a:solidFill>
                  <a:latin typeface="TT Hoves Pro Trial" panose="020B0003020000020203" pitchFamily="34" charset="0"/>
                  <a:ea typeface="Source Serif Pro" panose="02040603050405020204" pitchFamily="18" charset="0"/>
                  <a:cs typeface="+mn-cs"/>
                </a:defRPr>
              </a:lvl2pPr>
              <a:lvl3pPr marL="108000" indent="-108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Clr>
                  <a:schemeClr val="bg2"/>
                </a:buClr>
                <a:buFont typeface="Source Sans Pro" panose="020B0503030403020204" pitchFamily="34" charset="0"/>
                <a:buChar char="−"/>
                <a:defRPr sz="1000" kern="1200" spc="-20" baseline="0">
                  <a:solidFill>
                    <a:schemeClr val="tx2"/>
                  </a:solidFill>
                  <a:latin typeface="TT Hoves Pro Trial" panose="020B0003020000020203" pitchFamily="34" charset="0"/>
                  <a:ea typeface="Source Serif Pro Light" panose="02040303050405020204" pitchFamily="18" charset="0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100" b="0" kern="1200" spc="-20" baseline="0">
                  <a:solidFill>
                    <a:schemeClr val="tx2"/>
                  </a:solidFill>
                  <a:latin typeface="TT Hoves Pro Trial Medium" panose="020B0003020000020203" pitchFamily="34" charset="0"/>
                  <a:ea typeface="Source Serif Pro" panose="02040603050405020204" pitchFamily="18" charset="0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000" kern="1200">
                  <a:solidFill>
                    <a:schemeClr val="tx2"/>
                  </a:solidFill>
                  <a:latin typeface="TT Hoves Pro Trial "/>
                  <a:ea typeface="Source Serif Pro Black" panose="02040903050405020204" pitchFamily="18" charset="0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1100" b="1" dirty="0">
                  <a:solidFill>
                    <a:schemeClr val="bg1"/>
                  </a:solidFill>
                  <a:latin typeface="Montserrat" panose="00000500000000000000" pitchFamily="2" charset="0"/>
                  <a:ea typeface="+mn-ea"/>
                </a:rPr>
                <a:t>#</a:t>
              </a:r>
              <a:r>
                <a:rPr lang="pt-BR" sz="3200" b="1" dirty="0">
                  <a:solidFill>
                    <a:schemeClr val="bg1"/>
                  </a:solidFill>
                  <a:latin typeface="Montserrat" panose="00000500000000000000" pitchFamily="2" charset="0"/>
                  <a:ea typeface="+mn-ea"/>
                </a:rPr>
                <a:t>2</a:t>
              </a:r>
            </a:p>
          </p:txBody>
        </p:sp>
      </p:grpSp>
      <p:sp>
        <p:nvSpPr>
          <p:cNvPr id="1053" name="TextBox 1052">
            <a:extLst>
              <a:ext uri="{FF2B5EF4-FFF2-40B4-BE49-F238E27FC236}">
                <a16:creationId xmlns:a16="http://schemas.microsoft.com/office/drawing/2014/main" id="{12DD6FF0-A57E-56D7-4647-1201012237A6}"/>
              </a:ext>
            </a:extLst>
          </p:cNvPr>
          <p:cNvSpPr txBox="1"/>
          <p:nvPr/>
        </p:nvSpPr>
        <p:spPr>
          <a:xfrm>
            <a:off x="6871975" y="3128399"/>
            <a:ext cx="432175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dirty="0">
                <a:latin typeface="Montserrat" panose="00000500000000000000" pitchFamily="2" charset="0"/>
                <a:ea typeface="Source Serif Pro" panose="02040603050405020204" pitchFamily="18" charset="0"/>
              </a:rPr>
              <a:t>O Brasil é hoje o </a:t>
            </a:r>
            <a:r>
              <a:rPr lang="pt-BR" sz="1100" b="1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segundo maior mercado do setor</a:t>
            </a:r>
            <a:r>
              <a:rPr lang="pt-BR" sz="1100" b="1" dirty="0">
                <a:latin typeface="Montserrat" panose="00000500000000000000" pitchFamily="2" charset="0"/>
                <a:ea typeface="Source Serif Pro" panose="02040603050405020204" pitchFamily="18" charset="0"/>
              </a:rPr>
              <a:t> </a:t>
            </a:r>
            <a:r>
              <a:rPr lang="pt-BR" sz="1100" dirty="0">
                <a:latin typeface="Montserrat" panose="00000500000000000000" pitchFamily="2" charset="0"/>
                <a:ea typeface="Source Serif Pro" panose="02040603050405020204" pitchFamily="18" charset="0"/>
              </a:rPr>
              <a:t>global de </a:t>
            </a:r>
            <a:r>
              <a:rPr lang="pt-BR" sz="1100" dirty="0" err="1">
                <a:latin typeface="Montserrat" panose="00000500000000000000" pitchFamily="2" charset="0"/>
                <a:ea typeface="Source Serif Pro" panose="02040603050405020204" pitchFamily="18" charset="0"/>
              </a:rPr>
              <a:t>Bodycare</a:t>
            </a:r>
            <a:r>
              <a:rPr lang="pt-BR" sz="1100" dirty="0">
                <a:latin typeface="Montserrat" panose="00000500000000000000" pitchFamily="2" charset="0"/>
                <a:ea typeface="Source Serif Pro" panose="02040603050405020204" pitchFamily="18" charset="0"/>
              </a:rPr>
              <a:t>, com boas perspectivas de crescimento </a:t>
            </a:r>
            <a:endParaRPr lang="pt-BR" sz="1100" b="1" dirty="0">
              <a:latin typeface="Montserrat" panose="00000500000000000000" pitchFamily="2" charset="0"/>
              <a:ea typeface="Source Serif Pro" panose="020406030504050202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23DE79B-14C1-47DC-BFB1-6F4B78387B37}"/>
              </a:ext>
            </a:extLst>
          </p:cNvPr>
          <p:cNvGrpSpPr/>
          <p:nvPr/>
        </p:nvGrpSpPr>
        <p:grpSpPr>
          <a:xfrm>
            <a:off x="6315967" y="4339235"/>
            <a:ext cx="4674288" cy="606540"/>
            <a:chOff x="7661834" y="4508886"/>
            <a:chExt cx="3510811" cy="297083"/>
          </a:xfrm>
        </p:grpSpPr>
        <p:cxnSp>
          <p:nvCxnSpPr>
            <p:cNvPr id="1039" name="Connector: Elbow 1038">
              <a:extLst>
                <a:ext uri="{FF2B5EF4-FFF2-40B4-BE49-F238E27FC236}">
                  <a16:creationId xmlns:a16="http://schemas.microsoft.com/office/drawing/2014/main" id="{2A365ADE-3966-261F-A20A-56271967C8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1834" y="4543927"/>
              <a:ext cx="3510811" cy="262042"/>
            </a:xfrm>
            <a:prstGeom prst="bentConnector3">
              <a:avLst>
                <a:gd name="adj1" fmla="val 23"/>
              </a:avLst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8" name="TextBox 1037">
              <a:extLst>
                <a:ext uri="{FF2B5EF4-FFF2-40B4-BE49-F238E27FC236}">
                  <a16:creationId xmlns:a16="http://schemas.microsoft.com/office/drawing/2014/main" id="{1EC7C399-F2F4-B0D3-FFED-9D5A04C0DC79}"/>
                </a:ext>
              </a:extLst>
            </p:cNvPr>
            <p:cNvSpPr txBox="1"/>
            <p:nvPr/>
          </p:nvSpPr>
          <p:spPr>
            <a:xfrm flipH="1">
              <a:off x="9195107" y="4508886"/>
              <a:ext cx="468000" cy="77698"/>
            </a:xfrm>
            <a:prstGeom prst="rect">
              <a:avLst/>
            </a:prstGeom>
            <a:solidFill>
              <a:schemeClr val="accent3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Montserrat Medium" pitchFamily="2" charset="0"/>
                  <a:ea typeface="Source Serif Pro" panose="02040603050405020204" pitchFamily="18" charset="0"/>
                </a:rPr>
                <a:t>49%</a:t>
              </a:r>
            </a:p>
          </p:txBody>
        </p:sp>
      </p:grp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A8DE9F18-3361-26B7-0A56-02A98FF42FC5}"/>
              </a:ext>
            </a:extLst>
          </p:cNvPr>
          <p:cNvSpPr txBox="1">
            <a:spLocks/>
          </p:cNvSpPr>
          <p:nvPr/>
        </p:nvSpPr>
        <p:spPr>
          <a:xfrm>
            <a:off x="2063705" y="2902825"/>
            <a:ext cx="2997182" cy="4256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lnSpc>
                <a:spcPct val="112000"/>
              </a:lnSpc>
              <a:defRPr sz="1600">
                <a:latin typeface="TT Hoves Pro Trial Medium" panose="020B0003020000020203"/>
                <a:ea typeface="Source Serif Pro Black" panose="02040903050405020204" pitchFamily="18" charset="0"/>
              </a:defRPr>
            </a:lvl1pPr>
            <a:lvl2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00" kern="1200" spc="-20" baseline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defRPr>
            </a:lvl2pPr>
            <a:lvl3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Source Sans Pro" panose="020B0503030403020204" pitchFamily="34" charset="0"/>
              <a:buChar char="−"/>
              <a:defRPr sz="1000" kern="1200" spc="-20" baseline="0">
                <a:solidFill>
                  <a:schemeClr val="tx2"/>
                </a:solidFill>
                <a:latin typeface="TT Hoves Pro Trial" panose="020B0003020000020203" pitchFamily="34" charset="0"/>
                <a:ea typeface="Source Serif Pro Light" panose="02040303050405020204" pitchFamily="18" charset="0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100" b="0" kern="1200" spc="-20" baseline="0">
                <a:solidFill>
                  <a:schemeClr val="tx2"/>
                </a:solidFill>
                <a:latin typeface="TT Hoves Pro Trial Medium" panose="020B0003020000020203" pitchFamily="34" charset="0"/>
                <a:ea typeface="Source Serif Pro" panose="02040603050405020204" pitchFamily="18" charset="0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000" kern="1200">
                <a:solidFill>
                  <a:schemeClr val="tx2"/>
                </a:solidFill>
                <a:latin typeface="TT Hoves Pro Trial "/>
                <a:ea typeface="Source Serif Pro Black" panose="02040903050405020204" pitchFamily="18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000" b="1" dirty="0">
                <a:latin typeface="Montserrat" pitchFamily="2" charset="0"/>
                <a:ea typeface="+mn-ea"/>
              </a:rPr>
              <a:t>59% </a:t>
            </a:r>
            <a:r>
              <a:rPr lang="pt-BR" sz="1000" dirty="0">
                <a:latin typeface="Montserrat" pitchFamily="2" charset="0"/>
                <a:ea typeface="+mn-ea"/>
              </a:rPr>
              <a:t>das brasileiras consideram</a:t>
            </a:r>
            <a:r>
              <a:rPr lang="pt-BR" sz="1000" b="1" dirty="0">
                <a:latin typeface="Montserrat" pitchFamily="2" charset="0"/>
                <a:ea typeface="+mn-ea"/>
              </a:rPr>
              <a:t> essencial cuidar da pele do corpo</a:t>
            </a:r>
            <a:endParaRPr lang="pt-BR" sz="1000" spc="-20" dirty="0">
              <a:latin typeface="Montserrat Medium" pitchFamily="2" charset="0"/>
              <a:ea typeface="Source Serif Pro" panose="02040603050405020204" pitchFamily="18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A3E860F-5B03-B0B0-FCD0-7A688D479809}"/>
              </a:ext>
            </a:extLst>
          </p:cNvPr>
          <p:cNvSpPr/>
          <p:nvPr/>
        </p:nvSpPr>
        <p:spPr>
          <a:xfrm>
            <a:off x="1201745" y="2755652"/>
            <a:ext cx="719976" cy="719974"/>
          </a:xfrm>
          <a:prstGeom prst="ellipse">
            <a:avLst/>
          </a:prstGeom>
          <a:solidFill>
            <a:srgbClr val="F9EB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59" name="Content Placeholder 12">
            <a:extLst>
              <a:ext uri="{FF2B5EF4-FFF2-40B4-BE49-F238E27FC236}">
                <a16:creationId xmlns:a16="http://schemas.microsoft.com/office/drawing/2014/main" id="{BB40AA05-5FE4-BE5F-C97C-F4B37492B3E7}"/>
              </a:ext>
            </a:extLst>
          </p:cNvPr>
          <p:cNvSpPr txBox="1">
            <a:spLocks/>
          </p:cNvSpPr>
          <p:nvPr/>
        </p:nvSpPr>
        <p:spPr>
          <a:xfrm>
            <a:off x="2063705" y="4900600"/>
            <a:ext cx="2997181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000" kern="1200" spc="-20" baseline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defRPr>
            </a:lvl1pPr>
            <a:lvl2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00" kern="1200" spc="-20" baseline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defRPr>
            </a:lvl2pPr>
            <a:lvl3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Source Sans Pro" panose="020B0503030403020204" pitchFamily="34" charset="0"/>
              <a:buChar char="−"/>
              <a:defRPr sz="1000" kern="1200" spc="-20" baseline="0">
                <a:solidFill>
                  <a:schemeClr val="tx2"/>
                </a:solidFill>
                <a:latin typeface="TT Hoves Pro Trial" panose="020B0003020000020203" pitchFamily="34" charset="0"/>
                <a:ea typeface="Source Serif Pro Light" panose="02040303050405020204" pitchFamily="18" charset="0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100" b="0" kern="1200" spc="-20" baseline="0">
                <a:solidFill>
                  <a:schemeClr val="tx2"/>
                </a:solidFill>
                <a:latin typeface="TT Hoves Pro Trial Medium" panose="020B0003020000020203" pitchFamily="34" charset="0"/>
                <a:ea typeface="Source Serif Pro" panose="02040603050405020204" pitchFamily="18" charset="0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000" kern="1200">
                <a:solidFill>
                  <a:schemeClr val="tx2"/>
                </a:solidFill>
                <a:latin typeface="TT Hoves Pro Trial "/>
                <a:ea typeface="Source Serif Pro Black" panose="02040903050405020204" pitchFamily="18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pt-BR" dirty="0">
                <a:solidFill>
                  <a:schemeClr val="tx1"/>
                </a:solidFill>
                <a:latin typeface="Montserrat Medium" pitchFamily="2" charset="0"/>
              </a:rPr>
              <a:t>No ano passado, as </a:t>
            </a:r>
            <a:r>
              <a:rPr lang="pt-BR" b="1" dirty="0">
                <a:solidFill>
                  <a:schemeClr val="tx1"/>
                </a:solidFill>
                <a:latin typeface="Montserrat" pitchFamily="2" charset="0"/>
                <a:ea typeface="+mn-ea"/>
              </a:rPr>
              <a:t>pesquisas por “</a:t>
            </a:r>
            <a:r>
              <a:rPr lang="pt-BR" b="1" dirty="0" err="1">
                <a:solidFill>
                  <a:schemeClr val="tx1"/>
                </a:solidFill>
                <a:latin typeface="Montserrat" pitchFamily="2" charset="0"/>
                <a:ea typeface="+mn-ea"/>
              </a:rPr>
              <a:t>Bodycare</a:t>
            </a:r>
            <a:r>
              <a:rPr lang="pt-BR" b="1" dirty="0">
                <a:solidFill>
                  <a:schemeClr val="tx1"/>
                </a:solidFill>
                <a:latin typeface="Montserrat" pitchFamily="2" charset="0"/>
                <a:ea typeface="+mn-ea"/>
              </a:rPr>
              <a:t>" no Pinterest cresceram 1.025% </a:t>
            </a:r>
            <a:r>
              <a:rPr lang="pt-BR" dirty="0">
                <a:solidFill>
                  <a:schemeClr val="tx1"/>
                </a:solidFill>
                <a:latin typeface="Montserrat Medium" pitchFamily="2" charset="0"/>
              </a:rPr>
              <a:t>em comparação com o ano anterior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793DB6-2D4B-8729-AAB4-1A5BF13FB831}"/>
              </a:ext>
            </a:extLst>
          </p:cNvPr>
          <p:cNvGrpSpPr/>
          <p:nvPr/>
        </p:nvGrpSpPr>
        <p:grpSpPr>
          <a:xfrm>
            <a:off x="1201745" y="4817612"/>
            <a:ext cx="719976" cy="719974"/>
            <a:chOff x="1201745" y="4893450"/>
            <a:chExt cx="719976" cy="719974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E2340ED7-FA11-447B-5B6A-4F8550241E21}"/>
                </a:ext>
              </a:extLst>
            </p:cNvPr>
            <p:cNvSpPr/>
            <p:nvPr/>
          </p:nvSpPr>
          <p:spPr>
            <a:xfrm>
              <a:off x="1201745" y="4893450"/>
              <a:ext cx="719976" cy="719974"/>
            </a:xfrm>
            <a:prstGeom prst="ellipse">
              <a:avLst/>
            </a:prstGeom>
            <a:solidFill>
              <a:srgbClr val="F9EB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2000"/>
                </a:lnSpc>
                <a:spcAft>
                  <a:spcPts val="800"/>
                </a:spcAft>
              </a:pPr>
              <a:endParaRPr lang="pt-BR" sz="1200" dirty="0" err="1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</a:endParaRPr>
            </a:p>
          </p:txBody>
        </p:sp>
        <p:pic>
          <p:nvPicPr>
            <p:cNvPr id="53" name="Picture 52" descr="A red circle with a white letter in the middle&#10;&#10;Description automatically generated">
              <a:extLst>
                <a:ext uri="{FF2B5EF4-FFF2-40B4-BE49-F238E27FC236}">
                  <a16:creationId xmlns:a16="http://schemas.microsoft.com/office/drawing/2014/main" id="{5ED603F3-FBD2-C5C0-835C-A23973C891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37896" y="5029600"/>
              <a:ext cx="447675" cy="447675"/>
            </a:xfrm>
            <a:prstGeom prst="rect">
              <a:avLst/>
            </a:prstGeom>
          </p:spPr>
        </p:pic>
      </p:grpSp>
      <p:sp>
        <p:nvSpPr>
          <p:cNvPr id="24" name="Content Placeholder 4">
            <a:extLst>
              <a:ext uri="{FF2B5EF4-FFF2-40B4-BE49-F238E27FC236}">
                <a16:creationId xmlns:a16="http://schemas.microsoft.com/office/drawing/2014/main" id="{A93EDE30-DB50-3996-4352-C80168013C82}"/>
              </a:ext>
            </a:extLst>
          </p:cNvPr>
          <p:cNvSpPr txBox="1">
            <a:spLocks/>
          </p:cNvSpPr>
          <p:nvPr/>
        </p:nvSpPr>
        <p:spPr>
          <a:xfrm>
            <a:off x="2063705" y="3940263"/>
            <a:ext cx="2997182" cy="4256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pt-BR"/>
            </a:defPPr>
            <a:lvl1pPr>
              <a:lnSpc>
                <a:spcPct val="112000"/>
              </a:lnSpc>
              <a:defRPr sz="1600">
                <a:latin typeface="TT Hoves Pro Trial Medium" panose="020B0003020000020203"/>
                <a:ea typeface="Source Serif Pro Black" panose="02040903050405020204" pitchFamily="18" charset="0"/>
              </a:defRPr>
            </a:lvl1pPr>
            <a:lvl2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00" kern="1200" spc="-20" baseline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defRPr>
            </a:lvl2pPr>
            <a:lvl3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Source Sans Pro" panose="020B0503030403020204" pitchFamily="34" charset="0"/>
              <a:buChar char="−"/>
              <a:defRPr sz="1000" kern="1200" spc="-20" baseline="0">
                <a:solidFill>
                  <a:schemeClr val="tx2"/>
                </a:solidFill>
                <a:latin typeface="TT Hoves Pro Trial" panose="020B0003020000020203" pitchFamily="34" charset="0"/>
                <a:ea typeface="Source Serif Pro Light" panose="02040303050405020204" pitchFamily="18" charset="0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100" b="0" kern="1200" spc="-20" baseline="0">
                <a:solidFill>
                  <a:schemeClr val="tx2"/>
                </a:solidFill>
                <a:latin typeface="TT Hoves Pro Trial Medium" panose="020B0003020000020203" pitchFamily="34" charset="0"/>
                <a:ea typeface="Source Serif Pro" panose="02040603050405020204" pitchFamily="18" charset="0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000" kern="1200">
                <a:solidFill>
                  <a:schemeClr val="tx2"/>
                </a:solidFill>
                <a:latin typeface="TT Hoves Pro Trial "/>
                <a:ea typeface="Source Serif Pro Black" panose="02040903050405020204" pitchFamily="18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000" b="1" dirty="0">
                <a:latin typeface="Montserrat" pitchFamily="2" charset="0"/>
                <a:ea typeface="+mn-ea"/>
              </a:rPr>
              <a:t>#Bodycare </a:t>
            </a:r>
            <a:r>
              <a:rPr lang="pt-BR" sz="1000" spc="-20" dirty="0">
                <a:latin typeface="Montserrat Medium" pitchFamily="2" charset="0"/>
                <a:ea typeface="Source Serif Pro" panose="02040603050405020204" pitchFamily="18" charset="0"/>
              </a:rPr>
              <a:t>tem mais de </a:t>
            </a:r>
            <a:r>
              <a:rPr lang="pt-BR" sz="1000" b="1" dirty="0">
                <a:latin typeface="Montserrat" pitchFamily="2" charset="0"/>
                <a:ea typeface="+mn-ea"/>
              </a:rPr>
              <a:t>12 Bi visualizações </a:t>
            </a:r>
            <a:r>
              <a:rPr lang="pt-BR" sz="1000" spc="-20" dirty="0">
                <a:latin typeface="Montserrat Medium" pitchFamily="2" charset="0"/>
                <a:ea typeface="Source Serif Pro" panose="02040603050405020204" pitchFamily="18" charset="0"/>
              </a:rPr>
              <a:t>distribuídas em </a:t>
            </a:r>
            <a:r>
              <a:rPr lang="pt-BR" sz="1000" b="1" dirty="0">
                <a:latin typeface="Montserrat" pitchFamily="2" charset="0"/>
                <a:ea typeface="+mn-ea"/>
              </a:rPr>
              <a:t>mais de 730k vídeos</a:t>
            </a:r>
            <a:endParaRPr lang="pt-BR" sz="1000" spc="-20" dirty="0">
              <a:latin typeface="Montserrat Medium" pitchFamily="2" charset="0"/>
              <a:ea typeface="Source Serif Pro" panose="02040603050405020204" pitchFamily="18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E6A1F-EF6C-5F7D-9ED5-D810DB9E75C9}"/>
              </a:ext>
            </a:extLst>
          </p:cNvPr>
          <p:cNvGrpSpPr/>
          <p:nvPr/>
        </p:nvGrpSpPr>
        <p:grpSpPr>
          <a:xfrm>
            <a:off x="1201745" y="3793090"/>
            <a:ext cx="719976" cy="719974"/>
            <a:chOff x="1201745" y="3868928"/>
            <a:chExt cx="719976" cy="719974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73631BB-6B70-6383-44C6-677CD5BFE32C}"/>
                </a:ext>
              </a:extLst>
            </p:cNvPr>
            <p:cNvSpPr/>
            <p:nvPr/>
          </p:nvSpPr>
          <p:spPr>
            <a:xfrm>
              <a:off x="1201745" y="3868928"/>
              <a:ext cx="719976" cy="719974"/>
            </a:xfrm>
            <a:prstGeom prst="ellipse">
              <a:avLst/>
            </a:prstGeom>
            <a:solidFill>
              <a:srgbClr val="F9EB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2000"/>
                </a:lnSpc>
                <a:spcAft>
                  <a:spcPts val="800"/>
                </a:spcAft>
              </a:pPr>
              <a:endParaRPr lang="pt-BR" sz="1200" dirty="0" err="1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</a:endParaRPr>
            </a:p>
          </p:txBody>
        </p:sp>
        <p:pic>
          <p:nvPicPr>
            <p:cNvPr id="26" name="Picture 4" descr="Em terra de Tik Tok quem faz dancinha é rei - Unicap - Universidade  Católica de Pernambuco">
              <a:extLst>
                <a:ext uri="{FF2B5EF4-FFF2-40B4-BE49-F238E27FC236}">
                  <a16:creationId xmlns:a16="http://schemas.microsoft.com/office/drawing/2014/main" id="{FD73EB28-4731-743A-159A-D5451526FD9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534" r="23589"/>
            <a:stretch/>
          </p:blipFill>
          <p:spPr bwMode="auto">
            <a:xfrm>
              <a:off x="1342998" y="4022010"/>
              <a:ext cx="418421" cy="4138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00ADC56-78D4-DD13-5DEB-9353AD3520CB}"/>
              </a:ext>
            </a:extLst>
          </p:cNvPr>
          <p:cNvSpPr txBox="1"/>
          <p:nvPr/>
        </p:nvSpPr>
        <p:spPr>
          <a:xfrm>
            <a:off x="1095469" y="1750941"/>
            <a:ext cx="396541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spc="-10" dirty="0">
                <a:solidFill>
                  <a:schemeClr val="tx2"/>
                </a:solidFill>
                <a:latin typeface="Montserrat" pitchFamily="2" charset="0"/>
                <a:ea typeface="Source Serif Pro Black" panose="02040903050405020204" pitchFamily="18" charset="0"/>
                <a:cs typeface="Poppins" panose="00000500000000000000" pitchFamily="2" charset="0"/>
              </a:rPr>
              <a:t>Os consumidores brasileiros estão                cada vez mais engajados e conscientes em relação aos cuidados corporais...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A5C415-BED5-7878-1FA8-2492FE26A042}"/>
              </a:ext>
            </a:extLst>
          </p:cNvPr>
          <p:cNvSpPr txBox="1"/>
          <p:nvPr/>
        </p:nvSpPr>
        <p:spPr>
          <a:xfrm>
            <a:off x="5921052" y="1750941"/>
            <a:ext cx="472789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spc="-10" dirty="0">
                <a:solidFill>
                  <a:schemeClr val="tx2"/>
                </a:solidFill>
                <a:latin typeface="Montserrat" pitchFamily="2" charset="0"/>
                <a:ea typeface="Source Serif Pro Black" panose="02040903050405020204" pitchFamily="18" charset="0"/>
                <a:cs typeface="Poppins" panose="00000500000000000000" pitchFamily="2" charset="0"/>
              </a:rPr>
              <a:t>…</a:t>
            </a:r>
            <a:r>
              <a:rPr lang="pt-BR" sz="1400" b="1" spc="-10" dirty="0">
                <a:solidFill>
                  <a:schemeClr val="tx2"/>
                </a:solidFill>
                <a:latin typeface="Montserrat" pitchFamily="2" charset="0"/>
                <a:ea typeface="Source Serif Pro Black" panose="02040903050405020204" pitchFamily="18" charset="0"/>
                <a:cs typeface="Poppins" panose="00000500000000000000" pitchFamily="2" charset="0"/>
              </a:rPr>
              <a:t>impulsionando um crescimento acelerado  </a:t>
            </a:r>
            <a:r>
              <a:rPr lang="pt-BR" sz="1400" b="1" spc="-10" dirty="0" err="1">
                <a:solidFill>
                  <a:schemeClr val="tx2"/>
                </a:solidFill>
                <a:latin typeface="Montserrat" pitchFamily="2" charset="0"/>
                <a:ea typeface="Source Serif Pro Black" panose="02040903050405020204" pitchFamily="18" charset="0"/>
                <a:cs typeface="Poppins" panose="00000500000000000000" pitchFamily="2" charset="0"/>
              </a:rPr>
              <a:t>nomercado</a:t>
            </a:r>
            <a:r>
              <a:rPr lang="pt-BR" sz="1400" b="1" spc="-10" dirty="0">
                <a:solidFill>
                  <a:schemeClr val="tx2"/>
                </a:solidFill>
                <a:latin typeface="Montserrat" pitchFamily="2" charset="0"/>
                <a:ea typeface="Source Serif Pro Black" panose="02040903050405020204" pitchFamily="18" charset="0"/>
                <a:cs typeface="Poppins" panose="00000500000000000000" pitchFamily="2" charset="0"/>
              </a:rPr>
              <a:t>, que se beneficia das características e preferências desses consumidores</a:t>
            </a:r>
          </a:p>
        </p:txBody>
      </p:sp>
      <p:pic>
        <p:nvPicPr>
          <p:cNvPr id="6" name="Picture 5" descr="A pink letter on a black background&#10;&#10;Description automatically generated">
            <a:extLst>
              <a:ext uri="{FF2B5EF4-FFF2-40B4-BE49-F238E27FC236}">
                <a16:creationId xmlns:a16="http://schemas.microsoft.com/office/drawing/2014/main" id="{C2C040BC-1169-302E-DFC0-8B78877077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177" y="2922506"/>
            <a:ext cx="491112" cy="386267"/>
          </a:xfrm>
          <a:prstGeom prst="rect">
            <a:avLst/>
          </a:prstGeom>
        </p:spPr>
      </p:pic>
      <p:grpSp>
        <p:nvGrpSpPr>
          <p:cNvPr id="2" name="Agrupar 20">
            <a:extLst>
              <a:ext uri="{FF2B5EF4-FFF2-40B4-BE49-F238E27FC236}">
                <a16:creationId xmlns:a16="http://schemas.microsoft.com/office/drawing/2014/main" id="{3A49E104-A6AF-39E4-28CC-2B59ABC59CF5}"/>
              </a:ext>
            </a:extLst>
          </p:cNvPr>
          <p:cNvGrpSpPr/>
          <p:nvPr/>
        </p:nvGrpSpPr>
        <p:grpSpPr>
          <a:xfrm rot="5400000">
            <a:off x="1538085" y="6056143"/>
            <a:ext cx="200055" cy="1100408"/>
            <a:chOff x="11935695" y="2878796"/>
            <a:chExt cx="200055" cy="1100408"/>
          </a:xfrm>
        </p:grpSpPr>
        <p:sp>
          <p:nvSpPr>
            <p:cNvPr id="8" name="CaixaDeTexto 18">
              <a:extLst>
                <a:ext uri="{FF2B5EF4-FFF2-40B4-BE49-F238E27FC236}">
                  <a16:creationId xmlns:a16="http://schemas.microsoft.com/office/drawing/2014/main" id="{78ABD02F-A19B-0CAF-62A0-1A7DA943CE51}"/>
                </a:ext>
              </a:extLst>
            </p:cNvPr>
            <p:cNvSpPr txBox="1"/>
            <p:nvPr userDrawn="1"/>
          </p:nvSpPr>
          <p:spPr>
            <a:xfrm rot="16200000">
              <a:off x="11659671" y="3328970"/>
              <a:ext cx="752104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algn="ctr" defTabSz="914400" rtl="0" eaLnBrk="1" latinLnBrk="0" hangingPunct="1"/>
              <a:r>
                <a:rPr lang="pt-BR" sz="700" kern="1200" dirty="0">
                  <a:solidFill>
                    <a:schemeClr val="accent6"/>
                  </a:solidFill>
                  <a:latin typeface="Montserrat" panose="00000500000000000000" pitchFamily="2" charset="0"/>
                  <a:ea typeface="Source Serif Pro" panose="02040603050405020204" pitchFamily="18" charset="0"/>
                  <a:cs typeface="Arial" panose="020B0604020202020204" pitchFamily="34" charset="0"/>
                </a:rPr>
                <a:t>Confidencial </a:t>
              </a:r>
            </a:p>
          </p:txBody>
        </p:sp>
        <p:sp>
          <p:nvSpPr>
            <p:cNvPr id="9" name="Retângulo: Cantos Arredondados 19">
              <a:extLst>
                <a:ext uri="{FF2B5EF4-FFF2-40B4-BE49-F238E27FC236}">
                  <a16:creationId xmlns:a16="http://schemas.microsoft.com/office/drawing/2014/main" id="{08E5AEA5-ED43-1A73-A5F4-E32167BE0FF5}"/>
                </a:ext>
              </a:extLst>
            </p:cNvPr>
            <p:cNvSpPr/>
            <p:nvPr userDrawn="1"/>
          </p:nvSpPr>
          <p:spPr>
            <a:xfrm>
              <a:off x="11935695" y="2878796"/>
              <a:ext cx="200055" cy="1100408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sp>
        <p:nvSpPr>
          <p:cNvPr id="14" name="Espaço Reservado para Número de Slide 3">
            <a:extLst>
              <a:ext uri="{FF2B5EF4-FFF2-40B4-BE49-F238E27FC236}">
                <a16:creationId xmlns:a16="http://schemas.microsoft.com/office/drawing/2014/main" id="{185FEFC5-6E6D-7046-F633-49E278E6892B}"/>
              </a:ext>
            </a:extLst>
          </p:cNvPr>
          <p:cNvSpPr txBox="1">
            <a:spLocks/>
          </p:cNvSpPr>
          <p:nvPr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accent6"/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7</a:t>
            </a:fld>
            <a:endParaRPr lang="en-US" sz="700" b="0" kern="1200" dirty="0">
              <a:solidFill>
                <a:schemeClr val="accent6"/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  <p:pic>
        <p:nvPicPr>
          <p:cNvPr id="15" name="Picture 14" descr="A black and white logo&#10;&#10;Description automatically generated">
            <a:extLst>
              <a:ext uri="{FF2B5EF4-FFF2-40B4-BE49-F238E27FC236}">
                <a16:creationId xmlns:a16="http://schemas.microsoft.com/office/drawing/2014/main" id="{0C4E3F32-5901-E3DD-3F76-8D514C9B10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0" y="6196678"/>
            <a:ext cx="784112" cy="26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156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BCC2B66-5218-1E5D-5915-EFE9ED6D5161}"/>
              </a:ext>
            </a:extLst>
          </p:cNvPr>
          <p:cNvSpPr/>
          <p:nvPr/>
        </p:nvSpPr>
        <p:spPr>
          <a:xfrm>
            <a:off x="4791075" y="4172920"/>
            <a:ext cx="7400925" cy="18074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en-US" sz="1200" dirty="0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76377DBF-8766-EFF2-668C-71D13EC7398B}"/>
              </a:ext>
            </a:extLst>
          </p:cNvPr>
          <p:cNvSpPr txBox="1">
            <a:spLocks/>
          </p:cNvSpPr>
          <p:nvPr/>
        </p:nvSpPr>
        <p:spPr>
          <a:xfrm>
            <a:off x="7623230" y="4221041"/>
            <a:ext cx="1030477" cy="2372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lnSpc>
                <a:spcPct val="112000"/>
              </a:lnSpc>
              <a:defRPr sz="1600">
                <a:latin typeface="TT Hoves Pro Trial Medium" panose="020B0003020000020203"/>
                <a:ea typeface="Source Serif Pro Black" panose="02040903050405020204" pitchFamily="18" charset="0"/>
              </a:defRPr>
            </a:lvl1pPr>
            <a:lvl2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00" kern="1200" spc="-20" baseline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defRPr>
            </a:lvl2pPr>
            <a:lvl3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Source Sans Pro" panose="020B0503030403020204" pitchFamily="34" charset="0"/>
              <a:buChar char="−"/>
              <a:defRPr sz="1000" kern="1200" spc="-20" baseline="0">
                <a:solidFill>
                  <a:schemeClr val="tx2"/>
                </a:solidFill>
                <a:latin typeface="TT Hoves Pro Trial" panose="020B0003020000020203" pitchFamily="34" charset="0"/>
                <a:ea typeface="Source Serif Pro Light" panose="02040303050405020204" pitchFamily="18" charset="0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100" b="0" kern="1200" spc="-20" baseline="0">
                <a:solidFill>
                  <a:schemeClr val="tx2"/>
                </a:solidFill>
                <a:latin typeface="TT Hoves Pro Trial Medium" panose="020B0003020000020203" pitchFamily="34" charset="0"/>
                <a:ea typeface="Source Serif Pro" panose="02040603050405020204" pitchFamily="18" charset="0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000" kern="1200">
                <a:solidFill>
                  <a:schemeClr val="tx2"/>
                </a:solidFill>
                <a:latin typeface="TT Hoves Pro Trial "/>
                <a:ea typeface="Source Serif Pro Black" panose="02040903050405020204" pitchFamily="18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900" spc="-20" dirty="0">
                <a:solidFill>
                  <a:schemeClr val="accent3"/>
                </a:solidFill>
                <a:latin typeface="Montserrat SemiBold" pitchFamily="2" charset="0"/>
                <a:ea typeface="+mn-ea"/>
              </a:rPr>
              <a:t>Limpeza</a:t>
            </a:r>
            <a:endParaRPr lang="pt-BR" sz="900" spc="-20" dirty="0">
              <a:solidFill>
                <a:schemeClr val="accent3"/>
              </a:solidFill>
              <a:latin typeface="Montserrat SemiBold" pitchFamily="2" charset="0"/>
              <a:ea typeface="Source Serif Pro" panose="020406030504050202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CD9AAA0-99A5-D608-27EF-FFEBB4431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5492" y="3468986"/>
            <a:ext cx="1402604" cy="316246"/>
          </a:xfrm>
          <a:prstGeom prst="rect">
            <a:avLst/>
          </a:prstGeom>
        </p:spPr>
      </p:pic>
      <p:pic>
        <p:nvPicPr>
          <p:cNvPr id="16" name="Picture 15" descr="A logo on a black background&#10;&#10;Description automatically generated">
            <a:extLst>
              <a:ext uri="{FF2B5EF4-FFF2-40B4-BE49-F238E27FC236}">
                <a16:creationId xmlns:a16="http://schemas.microsoft.com/office/drawing/2014/main" id="{40B1B444-1288-956D-DACD-F8110F075D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97" b="26997"/>
          <a:stretch/>
        </p:blipFill>
        <p:spPr>
          <a:xfrm>
            <a:off x="7975011" y="3270479"/>
            <a:ext cx="1508288" cy="582660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3BB5B68B-65B1-85BA-AA69-CC65B05C7DFC}"/>
              </a:ext>
            </a:extLst>
          </p:cNvPr>
          <p:cNvSpPr/>
          <p:nvPr/>
        </p:nvSpPr>
        <p:spPr>
          <a:xfrm>
            <a:off x="7752908" y="4540791"/>
            <a:ext cx="771120" cy="7711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bg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B0A8F03-18CA-6291-387A-CD9CF5820830}"/>
              </a:ext>
            </a:extLst>
          </p:cNvPr>
          <p:cNvSpPr/>
          <p:nvPr/>
        </p:nvSpPr>
        <p:spPr>
          <a:xfrm>
            <a:off x="8930583" y="4540791"/>
            <a:ext cx="771120" cy="7711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bg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D732600-9AEB-C51E-C08A-C3CA6EB344C3}"/>
              </a:ext>
            </a:extLst>
          </p:cNvPr>
          <p:cNvSpPr/>
          <p:nvPr/>
        </p:nvSpPr>
        <p:spPr>
          <a:xfrm>
            <a:off x="9897400" y="4540791"/>
            <a:ext cx="771120" cy="7711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bg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6CF4623-0B76-0EF5-0B2A-D74393720FA8}"/>
              </a:ext>
            </a:extLst>
          </p:cNvPr>
          <p:cNvSpPr/>
          <p:nvPr/>
        </p:nvSpPr>
        <p:spPr>
          <a:xfrm>
            <a:off x="11054259" y="4540791"/>
            <a:ext cx="771120" cy="7711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bg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002E19-E843-A9BE-D265-54B64194BDE8}"/>
              </a:ext>
            </a:extLst>
          </p:cNvPr>
          <p:cNvSpPr txBox="1"/>
          <p:nvPr/>
        </p:nvSpPr>
        <p:spPr>
          <a:xfrm>
            <a:off x="7847858" y="1639488"/>
            <a:ext cx="3768670" cy="788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pt-BR" sz="1400" b="1" spc="-10" dirty="0">
                <a:solidFill>
                  <a:schemeClr val="tx2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Os produtos de </a:t>
            </a:r>
            <a:r>
              <a:rPr lang="pt-BR" sz="1400" b="1" spc="-10" dirty="0" err="1">
                <a:solidFill>
                  <a:schemeClr val="tx2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Bodycare</a:t>
            </a:r>
            <a:r>
              <a:rPr lang="pt-BR" sz="1400" b="1" spc="-10" dirty="0">
                <a:solidFill>
                  <a:schemeClr val="tx2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 da </a:t>
            </a:r>
            <a:r>
              <a:rPr lang="pt-BR" sz="1400" b="1" spc="-10" dirty="0" err="1">
                <a:solidFill>
                  <a:schemeClr val="tx2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Biocap</a:t>
            </a:r>
            <a:r>
              <a:rPr lang="pt-BR" sz="1400" b="1" spc="-10" dirty="0">
                <a:solidFill>
                  <a:schemeClr val="tx2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                              se encaixam na rotina com preços que cabem no bolso da brasileira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29F927-E635-224A-8AF5-EF5D74DAACD1}"/>
              </a:ext>
            </a:extLst>
          </p:cNvPr>
          <p:cNvSpPr txBox="1"/>
          <p:nvPr/>
        </p:nvSpPr>
        <p:spPr>
          <a:xfrm>
            <a:off x="7717167" y="5363949"/>
            <a:ext cx="842602" cy="56425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en-US" sz="800" dirty="0" err="1">
                <a:latin typeface="Montserrat Medium" pitchFamily="2" charset="0"/>
                <a:ea typeface="Source Serif Pro Black" panose="02040903050405020204" pitchFamily="18" charset="0"/>
              </a:rPr>
              <a:t>Sabonete</a:t>
            </a:r>
            <a:r>
              <a:rPr lang="en-US" sz="800" dirty="0">
                <a:latin typeface="Montserrat Medium" pitchFamily="2" charset="0"/>
                <a:ea typeface="Source Serif Pro Black" panose="02040903050405020204" pitchFamily="18" charset="0"/>
              </a:rPr>
              <a:t>             1,6L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en-US" sz="900" b="1" dirty="0">
                <a:latin typeface="Montserrat SemiBold" pitchFamily="2" charset="0"/>
                <a:ea typeface="Source Serif Pro Black" panose="02040903050405020204" pitchFamily="18" charset="0"/>
              </a:rPr>
              <a:t>R$ 19,80</a:t>
            </a:r>
            <a:endParaRPr lang="pt-BR" sz="900" b="1" dirty="0">
              <a:latin typeface="Montserrat SemiBold" pitchFamily="2" charset="0"/>
              <a:ea typeface="Source Serif Pro Black" panose="02040903050405020204" pitchFamily="18" charset="0"/>
            </a:endParaRPr>
          </a:p>
        </p:txBody>
      </p:sp>
      <p:pic>
        <p:nvPicPr>
          <p:cNvPr id="25" name="Picture 24" descr="A couple of white containers with labels&#10;&#10;Description automatically generated">
            <a:extLst>
              <a:ext uri="{FF2B5EF4-FFF2-40B4-BE49-F238E27FC236}">
                <a16:creationId xmlns:a16="http://schemas.microsoft.com/office/drawing/2014/main" id="{C30FCD97-19A3-13DA-AF6B-D69AEE83D1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499" y="4657845"/>
            <a:ext cx="974852" cy="53701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EEB2F54-28D1-E093-516C-FEB5CDF92CE0}"/>
              </a:ext>
            </a:extLst>
          </p:cNvPr>
          <p:cNvSpPr txBox="1"/>
          <p:nvPr/>
        </p:nvSpPr>
        <p:spPr>
          <a:xfrm>
            <a:off x="10924581" y="5367156"/>
            <a:ext cx="1030476" cy="56425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en-US" sz="800" dirty="0">
                <a:latin typeface="Montserrat Medium" pitchFamily="2" charset="0"/>
                <a:ea typeface="Source Serif Pro Black" panose="02040903050405020204" pitchFamily="18" charset="0"/>
              </a:rPr>
              <a:t>Creme                   </a:t>
            </a:r>
            <a:r>
              <a:rPr lang="en-US" sz="800" dirty="0" err="1">
                <a:latin typeface="Montserrat Medium" pitchFamily="2" charset="0"/>
                <a:ea typeface="Source Serif Pro Black" panose="02040903050405020204" pitchFamily="18" charset="0"/>
              </a:rPr>
              <a:t>esfoliante</a:t>
            </a:r>
            <a:r>
              <a:rPr lang="en-US" sz="800" dirty="0">
                <a:latin typeface="Montserrat Medium" pitchFamily="2" charset="0"/>
                <a:ea typeface="Source Serif Pro Black" panose="02040903050405020204" pitchFamily="18" charset="0"/>
              </a:rPr>
              <a:t> </a:t>
            </a:r>
            <a:r>
              <a:rPr lang="en-US" sz="800" dirty="0" err="1">
                <a:latin typeface="Montserrat Medium" pitchFamily="2" charset="0"/>
                <a:ea typeface="Source Serif Pro Black" panose="02040903050405020204" pitchFamily="18" charset="0"/>
              </a:rPr>
              <a:t>pés</a:t>
            </a:r>
            <a:endParaRPr lang="en-US" sz="800" dirty="0">
              <a:latin typeface="Montserrat Medium" pitchFamily="2" charset="0"/>
              <a:ea typeface="Source Serif Pro Black" panose="02040903050405020204" pitchFamily="18" charset="0"/>
            </a:endParaRP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en-US" sz="900" b="1" dirty="0">
                <a:latin typeface="Montserrat SemiBold" pitchFamily="2" charset="0"/>
                <a:ea typeface="Source Serif Pro Black" panose="02040903050405020204" pitchFamily="18" charset="0"/>
              </a:rPr>
              <a:t>R$ 19,00</a:t>
            </a:r>
            <a:endParaRPr lang="pt-BR" sz="900" b="1" dirty="0">
              <a:latin typeface="Montserrat SemiBold" pitchFamily="2" charset="0"/>
              <a:ea typeface="Source Serif Pro Black" panose="02040903050405020204" pitchFamily="18" charset="0"/>
            </a:endParaRPr>
          </a:p>
        </p:txBody>
      </p:sp>
      <p:pic>
        <p:nvPicPr>
          <p:cNvPr id="28" name="Picture 27" descr="A white bottle with a label on it&#10;&#10;Description automatically generated">
            <a:extLst>
              <a:ext uri="{FF2B5EF4-FFF2-40B4-BE49-F238E27FC236}">
                <a16:creationId xmlns:a16="http://schemas.microsoft.com/office/drawing/2014/main" id="{ED2EB491-7F08-BADC-21C8-87C26BC3E17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492" y="4575339"/>
            <a:ext cx="294936" cy="70202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2C9DD5F-0FAC-F224-4161-EC41BB590F3D}"/>
              </a:ext>
            </a:extLst>
          </p:cNvPr>
          <p:cNvSpPr txBox="1"/>
          <p:nvPr/>
        </p:nvSpPr>
        <p:spPr>
          <a:xfrm>
            <a:off x="9936532" y="5367156"/>
            <a:ext cx="692856" cy="56425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en-US" sz="800" dirty="0" err="1">
                <a:latin typeface="Montserrat Medium" pitchFamily="2" charset="0"/>
                <a:ea typeface="Source Serif Pro Black" panose="02040903050405020204" pitchFamily="18" charset="0"/>
              </a:rPr>
              <a:t>Loção</a:t>
            </a:r>
            <a:r>
              <a:rPr lang="en-US" sz="800" dirty="0">
                <a:latin typeface="Montserrat Medium" pitchFamily="2" charset="0"/>
                <a:ea typeface="Source Serif Pro Black" panose="02040903050405020204" pitchFamily="18" charset="0"/>
              </a:rPr>
              <a:t> </a:t>
            </a:r>
            <a:r>
              <a:rPr lang="en-US" sz="800" dirty="0" err="1">
                <a:latin typeface="Montserrat Medium" pitchFamily="2" charset="0"/>
                <a:ea typeface="Source Serif Pro Black" panose="02040903050405020204" pitchFamily="18" charset="0"/>
              </a:rPr>
              <a:t>anticelulite</a:t>
            </a:r>
            <a:endParaRPr lang="en-US" sz="800" dirty="0">
              <a:latin typeface="Montserrat Medium" pitchFamily="2" charset="0"/>
              <a:ea typeface="Source Serif Pro Black" panose="02040903050405020204" pitchFamily="18" charset="0"/>
            </a:endParaRP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en-US" sz="900" b="1" dirty="0">
                <a:latin typeface="Montserrat SemiBold" pitchFamily="2" charset="0"/>
                <a:ea typeface="Source Serif Pro Black" panose="02040903050405020204" pitchFamily="18" charset="0"/>
              </a:rPr>
              <a:t>R$ 26,30</a:t>
            </a:r>
            <a:endParaRPr lang="pt-BR" sz="900" b="1" dirty="0">
              <a:latin typeface="Montserrat SemiBold" pitchFamily="2" charset="0"/>
              <a:ea typeface="Source Serif Pro Black" panose="020409030504050202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080364F-7AF0-8C5E-B7F5-DCF84BDF5F07}"/>
              </a:ext>
            </a:extLst>
          </p:cNvPr>
          <p:cNvSpPr txBox="1"/>
          <p:nvPr/>
        </p:nvSpPr>
        <p:spPr>
          <a:xfrm>
            <a:off x="8805444" y="5367156"/>
            <a:ext cx="1021398" cy="56425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en-US" sz="800" dirty="0" err="1">
                <a:latin typeface="Montserrat Medium" pitchFamily="2" charset="0"/>
                <a:ea typeface="Source Serif Pro Black" panose="02040903050405020204" pitchFamily="18" charset="0"/>
              </a:rPr>
              <a:t>Loção</a:t>
            </a:r>
            <a:r>
              <a:rPr lang="en-US" sz="800" dirty="0">
                <a:latin typeface="Montserrat Medium" pitchFamily="2" charset="0"/>
                <a:ea typeface="Source Serif Pro Black" panose="02040903050405020204" pitchFamily="18" charset="0"/>
              </a:rPr>
              <a:t>                        500ml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en-US" sz="900" b="1" dirty="0">
                <a:latin typeface="Montserrat SemiBold" pitchFamily="2" charset="0"/>
                <a:ea typeface="Source Serif Pro Black" panose="02040903050405020204" pitchFamily="18" charset="0"/>
              </a:rPr>
              <a:t>R$ 15,60</a:t>
            </a:r>
            <a:endParaRPr lang="pt-BR" sz="900" b="1" dirty="0">
              <a:latin typeface="Montserrat SemiBold" pitchFamily="2" charset="0"/>
              <a:ea typeface="Source Serif Pro Black" panose="02040903050405020204" pitchFamily="18" charset="0"/>
            </a:endParaRPr>
          </a:p>
        </p:txBody>
      </p:sp>
      <p:sp>
        <p:nvSpPr>
          <p:cNvPr id="31" name="Content Placeholder 4">
            <a:extLst>
              <a:ext uri="{FF2B5EF4-FFF2-40B4-BE49-F238E27FC236}">
                <a16:creationId xmlns:a16="http://schemas.microsoft.com/office/drawing/2014/main" id="{F9922E36-3120-E22E-2C79-D46602D8A162}"/>
              </a:ext>
            </a:extLst>
          </p:cNvPr>
          <p:cNvSpPr txBox="1">
            <a:spLocks/>
          </p:cNvSpPr>
          <p:nvPr/>
        </p:nvSpPr>
        <p:spPr>
          <a:xfrm>
            <a:off x="8800905" y="4221041"/>
            <a:ext cx="1030477" cy="2372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lnSpc>
                <a:spcPct val="112000"/>
              </a:lnSpc>
              <a:defRPr sz="1600">
                <a:latin typeface="TT Hoves Pro Trial Medium" panose="020B0003020000020203"/>
                <a:ea typeface="Source Serif Pro Black" panose="02040903050405020204" pitchFamily="18" charset="0"/>
              </a:defRPr>
            </a:lvl1pPr>
            <a:lvl2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00" kern="1200" spc="-20" baseline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defRPr>
            </a:lvl2pPr>
            <a:lvl3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Source Sans Pro" panose="020B0503030403020204" pitchFamily="34" charset="0"/>
              <a:buChar char="−"/>
              <a:defRPr sz="1000" kern="1200" spc="-20" baseline="0">
                <a:solidFill>
                  <a:schemeClr val="tx2"/>
                </a:solidFill>
                <a:latin typeface="TT Hoves Pro Trial" panose="020B0003020000020203" pitchFamily="34" charset="0"/>
                <a:ea typeface="Source Serif Pro Light" panose="02040303050405020204" pitchFamily="18" charset="0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100" b="0" kern="1200" spc="-20" baseline="0">
                <a:solidFill>
                  <a:schemeClr val="tx2"/>
                </a:solidFill>
                <a:latin typeface="TT Hoves Pro Trial Medium" panose="020B0003020000020203" pitchFamily="34" charset="0"/>
                <a:ea typeface="Source Serif Pro" panose="02040603050405020204" pitchFamily="18" charset="0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000" kern="1200">
                <a:solidFill>
                  <a:schemeClr val="tx2"/>
                </a:solidFill>
                <a:latin typeface="TT Hoves Pro Trial "/>
                <a:ea typeface="Source Serif Pro Black" panose="02040903050405020204" pitchFamily="18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900" spc="-20" dirty="0">
                <a:solidFill>
                  <a:schemeClr val="accent3"/>
                </a:solidFill>
                <a:latin typeface="Montserrat SemiBold" pitchFamily="2" charset="0"/>
                <a:ea typeface="+mn-ea"/>
              </a:rPr>
              <a:t>Hidratação</a:t>
            </a:r>
            <a:endParaRPr lang="pt-BR" sz="900" spc="-20" dirty="0">
              <a:solidFill>
                <a:schemeClr val="accent3"/>
              </a:solidFill>
              <a:latin typeface="Montserrat SemiBold" pitchFamily="2" charset="0"/>
              <a:ea typeface="Source Serif Pro" panose="02040603050405020204" pitchFamily="18" charset="0"/>
            </a:endParaRPr>
          </a:p>
        </p:txBody>
      </p:sp>
      <p:sp>
        <p:nvSpPr>
          <p:cNvPr id="32" name="Content Placeholder 4">
            <a:extLst>
              <a:ext uri="{FF2B5EF4-FFF2-40B4-BE49-F238E27FC236}">
                <a16:creationId xmlns:a16="http://schemas.microsoft.com/office/drawing/2014/main" id="{5EE20B66-5AD5-49A8-6C91-38E3F98B3F92}"/>
              </a:ext>
            </a:extLst>
          </p:cNvPr>
          <p:cNvSpPr txBox="1">
            <a:spLocks/>
          </p:cNvSpPr>
          <p:nvPr/>
        </p:nvSpPr>
        <p:spPr>
          <a:xfrm>
            <a:off x="9767722" y="4221041"/>
            <a:ext cx="1030477" cy="2372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lnSpc>
                <a:spcPct val="112000"/>
              </a:lnSpc>
              <a:defRPr sz="1600">
                <a:latin typeface="TT Hoves Pro Trial Medium" panose="020B0003020000020203"/>
                <a:ea typeface="Source Serif Pro Black" panose="02040903050405020204" pitchFamily="18" charset="0"/>
              </a:defRPr>
            </a:lvl1pPr>
            <a:lvl2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00" kern="1200" spc="-20" baseline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defRPr>
            </a:lvl2pPr>
            <a:lvl3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Source Sans Pro" panose="020B0503030403020204" pitchFamily="34" charset="0"/>
              <a:buChar char="−"/>
              <a:defRPr sz="1000" kern="1200" spc="-20" baseline="0">
                <a:solidFill>
                  <a:schemeClr val="tx2"/>
                </a:solidFill>
                <a:latin typeface="TT Hoves Pro Trial" panose="020B0003020000020203" pitchFamily="34" charset="0"/>
                <a:ea typeface="Source Serif Pro Light" panose="02040303050405020204" pitchFamily="18" charset="0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100" b="0" kern="1200" spc="-20" baseline="0">
                <a:solidFill>
                  <a:schemeClr val="tx2"/>
                </a:solidFill>
                <a:latin typeface="TT Hoves Pro Trial Medium" panose="020B0003020000020203" pitchFamily="34" charset="0"/>
                <a:ea typeface="Source Serif Pro" panose="02040603050405020204" pitchFamily="18" charset="0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000" kern="1200">
                <a:solidFill>
                  <a:schemeClr val="tx2"/>
                </a:solidFill>
                <a:latin typeface="TT Hoves Pro Trial "/>
                <a:ea typeface="Source Serif Pro Black" panose="02040903050405020204" pitchFamily="18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900" spc="-20" dirty="0">
                <a:solidFill>
                  <a:schemeClr val="accent3"/>
                </a:solidFill>
                <a:latin typeface="Montserrat SemiBold" pitchFamily="2" charset="0"/>
                <a:ea typeface="+mn-ea"/>
              </a:rPr>
              <a:t>Tratamento</a:t>
            </a:r>
            <a:endParaRPr lang="pt-BR" sz="900" spc="-20" dirty="0">
              <a:solidFill>
                <a:schemeClr val="accent3"/>
              </a:solidFill>
              <a:latin typeface="Montserrat SemiBold" pitchFamily="2" charset="0"/>
              <a:ea typeface="Source Serif Pro" panose="02040603050405020204" pitchFamily="18" charset="0"/>
            </a:endParaRPr>
          </a:p>
        </p:txBody>
      </p:sp>
      <p:sp>
        <p:nvSpPr>
          <p:cNvPr id="33" name="Content Placeholder 4">
            <a:extLst>
              <a:ext uri="{FF2B5EF4-FFF2-40B4-BE49-F238E27FC236}">
                <a16:creationId xmlns:a16="http://schemas.microsoft.com/office/drawing/2014/main" id="{0FEFAC3B-3824-BBC2-9495-987D4AD73B87}"/>
              </a:ext>
            </a:extLst>
          </p:cNvPr>
          <p:cNvSpPr txBox="1">
            <a:spLocks/>
          </p:cNvSpPr>
          <p:nvPr/>
        </p:nvSpPr>
        <p:spPr>
          <a:xfrm>
            <a:off x="10924581" y="4221041"/>
            <a:ext cx="1030477" cy="2372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lnSpc>
                <a:spcPct val="112000"/>
              </a:lnSpc>
              <a:defRPr sz="1600">
                <a:latin typeface="TT Hoves Pro Trial Medium" panose="020B0003020000020203"/>
                <a:ea typeface="Source Serif Pro Black" panose="02040903050405020204" pitchFamily="18" charset="0"/>
              </a:defRPr>
            </a:lvl1pPr>
            <a:lvl2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00" kern="1200" spc="-20" baseline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defRPr>
            </a:lvl2pPr>
            <a:lvl3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Source Sans Pro" panose="020B0503030403020204" pitchFamily="34" charset="0"/>
              <a:buChar char="−"/>
              <a:defRPr sz="1000" kern="1200" spc="-20" baseline="0">
                <a:solidFill>
                  <a:schemeClr val="tx2"/>
                </a:solidFill>
                <a:latin typeface="TT Hoves Pro Trial" panose="020B0003020000020203" pitchFamily="34" charset="0"/>
                <a:ea typeface="Source Serif Pro Light" panose="02040303050405020204" pitchFamily="18" charset="0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100" b="0" kern="1200" spc="-20" baseline="0">
                <a:solidFill>
                  <a:schemeClr val="tx2"/>
                </a:solidFill>
                <a:latin typeface="TT Hoves Pro Trial Medium" panose="020B0003020000020203" pitchFamily="34" charset="0"/>
                <a:ea typeface="Source Serif Pro" panose="02040603050405020204" pitchFamily="18" charset="0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000" kern="1200">
                <a:solidFill>
                  <a:schemeClr val="tx2"/>
                </a:solidFill>
                <a:latin typeface="TT Hoves Pro Trial "/>
                <a:ea typeface="Source Serif Pro Black" panose="02040903050405020204" pitchFamily="18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900" spc="-20" dirty="0">
                <a:solidFill>
                  <a:schemeClr val="accent3"/>
                </a:solidFill>
                <a:latin typeface="Montserrat SemiBold" pitchFamily="2" charset="0"/>
                <a:ea typeface="+mn-ea"/>
              </a:rPr>
              <a:t>Esfoliação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379F700-65F3-19AB-F51A-2E3916110B6B}"/>
              </a:ext>
            </a:extLst>
          </p:cNvPr>
          <p:cNvSpPr txBox="1"/>
          <p:nvPr/>
        </p:nvSpPr>
        <p:spPr>
          <a:xfrm>
            <a:off x="7847856" y="2533718"/>
            <a:ext cx="3768672" cy="732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1100" dirty="0">
                <a:latin typeface="Montserrat" panose="00000500000000000000" pitchFamily="2" charset="0"/>
                <a:ea typeface="Source Serif Pro Black" panose="02040903050405020204" pitchFamily="18" charset="0"/>
              </a:rPr>
              <a:t>Os produtos de </a:t>
            </a:r>
            <a:r>
              <a:rPr lang="pt-BR" sz="1100" dirty="0" err="1">
                <a:latin typeface="Montserrat" panose="00000500000000000000" pitchFamily="2" charset="0"/>
                <a:ea typeface="Source Serif Pro Black" panose="02040903050405020204" pitchFamily="18" charset="0"/>
              </a:rPr>
              <a:t>Bodycare</a:t>
            </a:r>
            <a:r>
              <a:rPr lang="pt-BR" sz="1100" dirty="0">
                <a:latin typeface="Montserrat" panose="00000500000000000000" pitchFamily="2" charset="0"/>
                <a:ea typeface="Source Serif Pro Black" panose="02040903050405020204" pitchFamily="18" charset="0"/>
              </a:rPr>
              <a:t> da </a:t>
            </a:r>
            <a:r>
              <a:rPr lang="pt-BR" sz="1100" dirty="0" err="1">
                <a:latin typeface="Montserrat" panose="00000500000000000000" pitchFamily="2" charset="0"/>
                <a:ea typeface="Source Serif Pro Black" panose="02040903050405020204" pitchFamily="18" charset="0"/>
              </a:rPr>
              <a:t>Biocap</a:t>
            </a:r>
            <a:r>
              <a:rPr lang="pt-BR" sz="1100" dirty="0">
                <a:latin typeface="Montserrat" panose="00000500000000000000" pitchFamily="2" charset="0"/>
                <a:ea typeface="Source Serif Pro Black" panose="02040903050405020204" pitchFamily="18" charset="0"/>
              </a:rPr>
              <a:t> se encaixam na rotina com preços que cabem no bolso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1200" b="1" dirty="0">
                <a:solidFill>
                  <a:schemeClr val="bg2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R$ 13 – R$ 26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E43DD4D-B168-554C-9187-5BD451D93947}"/>
              </a:ext>
            </a:extLst>
          </p:cNvPr>
          <p:cNvGrpSpPr/>
          <p:nvPr/>
        </p:nvGrpSpPr>
        <p:grpSpPr>
          <a:xfrm>
            <a:off x="7782439" y="4622543"/>
            <a:ext cx="712058" cy="607618"/>
            <a:chOff x="7644576" y="4529108"/>
            <a:chExt cx="809763" cy="690993"/>
          </a:xfrm>
        </p:grpSpPr>
        <p:pic>
          <p:nvPicPr>
            <p:cNvPr id="36" name="Picture 35" descr="A group of bottles of liquid&#10;&#10;Description automatically generated">
              <a:extLst>
                <a:ext uri="{FF2B5EF4-FFF2-40B4-BE49-F238E27FC236}">
                  <a16:creationId xmlns:a16="http://schemas.microsoft.com/office/drawing/2014/main" id="{FF1B937C-E3D6-CA30-FB4E-D403EBE9618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66" r="79284"/>
            <a:stretch/>
          </p:blipFill>
          <p:spPr>
            <a:xfrm>
              <a:off x="7644576" y="4531489"/>
              <a:ext cx="337374" cy="648494"/>
            </a:xfrm>
            <a:prstGeom prst="rect">
              <a:avLst/>
            </a:prstGeom>
          </p:spPr>
        </p:pic>
        <p:pic>
          <p:nvPicPr>
            <p:cNvPr id="37" name="Picture 36" descr="A group of bottles of liquid&#10;&#10;Description automatically generated">
              <a:extLst>
                <a:ext uri="{FF2B5EF4-FFF2-40B4-BE49-F238E27FC236}">
                  <a16:creationId xmlns:a16="http://schemas.microsoft.com/office/drawing/2014/main" id="{B9FED378-045D-4109-0E56-EF11B3AAF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617" r="40667"/>
            <a:stretch/>
          </p:blipFill>
          <p:spPr>
            <a:xfrm>
              <a:off x="8083567" y="4529108"/>
              <a:ext cx="370772" cy="648494"/>
            </a:xfrm>
            <a:prstGeom prst="rect">
              <a:avLst/>
            </a:prstGeom>
          </p:spPr>
        </p:pic>
        <p:pic>
          <p:nvPicPr>
            <p:cNvPr id="38" name="Picture 37" descr="A group of bottles of liquid&#10;&#10;Description automatically generated">
              <a:extLst>
                <a:ext uri="{FF2B5EF4-FFF2-40B4-BE49-F238E27FC236}">
                  <a16:creationId xmlns:a16="http://schemas.microsoft.com/office/drawing/2014/main" id="{0F1BE56C-2036-9142-DC4C-3703CB170B6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932" r="59352"/>
            <a:stretch/>
          </p:blipFill>
          <p:spPr>
            <a:xfrm>
              <a:off x="7863572" y="4534092"/>
              <a:ext cx="392221" cy="686009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075AD3C-3AC3-5333-12D6-A3728BABA01D}"/>
              </a:ext>
            </a:extLst>
          </p:cNvPr>
          <p:cNvGrpSpPr/>
          <p:nvPr/>
        </p:nvGrpSpPr>
        <p:grpSpPr>
          <a:xfrm>
            <a:off x="9024405" y="4610865"/>
            <a:ext cx="583476" cy="630972"/>
            <a:chOff x="8919099" y="4512897"/>
            <a:chExt cx="663538" cy="717552"/>
          </a:xfrm>
        </p:grpSpPr>
        <p:pic>
          <p:nvPicPr>
            <p:cNvPr id="40" name="Picture 39" descr="A group of bottles of shampoo&#10;&#10;Description automatically generated">
              <a:extLst>
                <a:ext uri="{FF2B5EF4-FFF2-40B4-BE49-F238E27FC236}">
                  <a16:creationId xmlns:a16="http://schemas.microsoft.com/office/drawing/2014/main" id="{A36873DF-FE0A-B2BC-A84E-09FD2ED57AD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679" r="84264"/>
            <a:stretch/>
          </p:blipFill>
          <p:spPr>
            <a:xfrm>
              <a:off x="8919099" y="4528586"/>
              <a:ext cx="254794" cy="686173"/>
            </a:xfrm>
            <a:prstGeom prst="rect">
              <a:avLst/>
            </a:prstGeom>
          </p:spPr>
        </p:pic>
        <p:pic>
          <p:nvPicPr>
            <p:cNvPr id="41" name="Picture 40" descr="A group of bottles of shampoo&#10;&#10;Description automatically generated">
              <a:extLst>
                <a:ext uri="{FF2B5EF4-FFF2-40B4-BE49-F238E27FC236}">
                  <a16:creationId xmlns:a16="http://schemas.microsoft.com/office/drawing/2014/main" id="{2DB02A78-61AD-D71D-D1BC-9FCDBC29932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758" r="42827"/>
            <a:stretch/>
          </p:blipFill>
          <p:spPr>
            <a:xfrm>
              <a:off x="9327843" y="4528586"/>
              <a:ext cx="254794" cy="686173"/>
            </a:xfrm>
            <a:prstGeom prst="rect">
              <a:avLst/>
            </a:prstGeom>
          </p:spPr>
        </p:pic>
        <p:pic>
          <p:nvPicPr>
            <p:cNvPr id="42" name="Picture 41" descr="A group of bottles of shampoo&#10;&#10;Description automatically generated">
              <a:extLst>
                <a:ext uri="{FF2B5EF4-FFF2-40B4-BE49-F238E27FC236}">
                  <a16:creationId xmlns:a16="http://schemas.microsoft.com/office/drawing/2014/main" id="{BD61D1E2-591C-7096-23A6-C2E81057D3F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740" r="63845"/>
            <a:stretch/>
          </p:blipFill>
          <p:spPr>
            <a:xfrm>
              <a:off x="9117645" y="4512897"/>
              <a:ext cx="266446" cy="717552"/>
            </a:xfrm>
            <a:prstGeom prst="rect">
              <a:avLst/>
            </a:prstGeom>
          </p:spPr>
        </p:pic>
      </p:grpSp>
      <p:sp>
        <p:nvSpPr>
          <p:cNvPr id="24" name="Rectangle: Top Corners Rounded 23">
            <a:extLst>
              <a:ext uri="{FF2B5EF4-FFF2-40B4-BE49-F238E27FC236}">
                <a16:creationId xmlns:a16="http://schemas.microsoft.com/office/drawing/2014/main" id="{2DE3BC85-4218-A50E-412B-8AC5B575BD67}"/>
              </a:ext>
            </a:extLst>
          </p:cNvPr>
          <p:cNvSpPr/>
          <p:nvPr/>
        </p:nvSpPr>
        <p:spPr>
          <a:xfrm rot="5400000">
            <a:off x="1875380" y="-422906"/>
            <a:ext cx="3650735" cy="7401501"/>
          </a:xfrm>
          <a:prstGeom prst="round2SameRect">
            <a:avLst>
              <a:gd name="adj1" fmla="val 6011"/>
              <a:gd name="adj2" fmla="val 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TT Hoves Pro Trial" panose="020B0003020000020203" pitchFamily="34" charset="0"/>
              <a:ea typeface="Source Serif Pro" panose="02040603050405020204" pitchFamily="18" charset="0"/>
            </a:endParaRPr>
          </a:p>
        </p:txBody>
      </p:sp>
      <p:sp>
        <p:nvSpPr>
          <p:cNvPr id="12" name="Rectangle: Single Corner Rounded 11">
            <a:extLst>
              <a:ext uri="{FF2B5EF4-FFF2-40B4-BE49-F238E27FC236}">
                <a16:creationId xmlns:a16="http://schemas.microsoft.com/office/drawing/2014/main" id="{C737A127-8B7C-4D50-C33C-1D249FE9D303}"/>
              </a:ext>
            </a:extLst>
          </p:cNvPr>
          <p:cNvSpPr/>
          <p:nvPr/>
        </p:nvSpPr>
        <p:spPr>
          <a:xfrm rot="5400000">
            <a:off x="3082419" y="1661278"/>
            <a:ext cx="3656584" cy="4981576"/>
          </a:xfrm>
          <a:prstGeom prst="round1Rect">
            <a:avLst>
              <a:gd name="adj" fmla="val 741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TT Hoves Pro Trial" panose="020B0003020000020203" pitchFamily="34" charset="0"/>
              <a:ea typeface="Source Serif Pro" panose="020406030504050202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9278D4-D8D8-ADB0-88E4-411BAD1D1E44}"/>
              </a:ext>
            </a:extLst>
          </p:cNvPr>
          <p:cNvSpPr/>
          <p:nvPr/>
        </p:nvSpPr>
        <p:spPr>
          <a:xfrm rot="5400000">
            <a:off x="786317" y="1537451"/>
            <a:ext cx="3656584" cy="52292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TT Hoves Pro Trial" panose="020B0003020000020203" pitchFamily="34" charset="0"/>
              <a:ea typeface="Source Serif Pro" panose="020406030504050202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CD9F07F-BEBA-BC07-110F-E24ACFD3D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Bodycare</a:t>
            </a:r>
            <a:r>
              <a:rPr lang="pt-BR" dirty="0"/>
              <a:t> agora é parte da rotina diária, tornando-se um ritual essencial da brasileira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092B63-7113-8057-72A2-D01E7CBE5DB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0" tIns="36000" rIns="0" bIns="0" rtlCol="0">
            <a:spAutoFit/>
          </a:bodyPr>
          <a:lstStyle/>
          <a:p>
            <a:r>
              <a:rPr lang="pt-BR" sz="1050" dirty="0">
                <a:latin typeface="Montserrat Light" pitchFamily="2" charset="0"/>
              </a:rPr>
              <a:t>As brasileiras destinam parte de sua renda ao </a:t>
            </a:r>
            <a:r>
              <a:rPr lang="pt-BR" sz="1050" dirty="0" err="1">
                <a:latin typeface="Montserrat Light" pitchFamily="2" charset="0"/>
              </a:rPr>
              <a:t>Bodycare</a:t>
            </a:r>
            <a:r>
              <a:rPr lang="pt-BR" sz="1050" dirty="0">
                <a:latin typeface="Montserrat Light" pitchFamily="2" charset="0"/>
              </a:rPr>
              <a:t>, e os produtos da </a:t>
            </a:r>
            <a:r>
              <a:rPr lang="pt-BR" sz="1050" dirty="0" err="1">
                <a:latin typeface="Montserrat Light" pitchFamily="2" charset="0"/>
              </a:rPr>
              <a:t>Biocap</a:t>
            </a:r>
            <a:r>
              <a:rPr lang="pt-BR" sz="1050" dirty="0">
                <a:latin typeface="Montserrat Light" pitchFamily="2" charset="0"/>
              </a:rPr>
              <a:t> são ideais para uma rotina completa e acessível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5F4DA3-6038-F745-7DE9-17893D45A3D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pt-BR" dirty="0">
                <a:latin typeface="Montserrat" panose="00000500000000000000" pitchFamily="2" charset="0"/>
              </a:rPr>
              <a:t>Fonte: </a:t>
            </a:r>
            <a:r>
              <a:rPr lang="en-US" dirty="0">
                <a:latin typeface="Montserrat" panose="00000500000000000000" pitchFamily="2" charset="0"/>
              </a:rPr>
              <a:t>Cosmetic Innovation, </a:t>
            </a:r>
            <a:r>
              <a:rPr lang="en-US" dirty="0" err="1">
                <a:latin typeface="Montserrat" panose="00000500000000000000" pitchFamily="2" charset="0"/>
              </a:rPr>
              <a:t>MindMiners</a:t>
            </a:r>
            <a:r>
              <a:rPr lang="en-US" dirty="0">
                <a:latin typeface="Montserrat" panose="00000500000000000000" pitchFamily="2" charset="0"/>
              </a:rPr>
              <a:t>, </a:t>
            </a:r>
            <a:r>
              <a:rPr lang="en-US" dirty="0" err="1">
                <a:latin typeface="Montserrat" panose="00000500000000000000" pitchFamily="2" charset="0"/>
              </a:rPr>
              <a:t>Mantecorp</a:t>
            </a:r>
            <a:r>
              <a:rPr lang="en-US" dirty="0">
                <a:latin typeface="Montserrat" panose="00000500000000000000" pitchFamily="2" charset="0"/>
              </a:rPr>
              <a:t>, </a:t>
            </a:r>
            <a:r>
              <a:rPr lang="pt-BR" dirty="0">
                <a:latin typeface="Montserrat" panose="00000500000000000000" pitchFamily="2" charset="0"/>
              </a:rPr>
              <a:t>Companhia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9147FA-1881-3BBF-6D19-29E371E54341}"/>
              </a:ext>
            </a:extLst>
          </p:cNvPr>
          <p:cNvSpPr txBox="1"/>
          <p:nvPr/>
        </p:nvSpPr>
        <p:spPr>
          <a:xfrm>
            <a:off x="655051" y="1448056"/>
            <a:ext cx="5890603" cy="87571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pt-BR" sz="1400" b="1" spc="-10" dirty="0">
                <a:solidFill>
                  <a:schemeClr val="bg1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As rotinas diárias das mulheres brasileiras se sofisticaram, indo além da limpeza e hidratação mas sempre buscando produtos acessíveis para um cuidado completo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D949EF3-C86C-6F52-C88F-60C7704A8FC5}"/>
              </a:ext>
            </a:extLst>
          </p:cNvPr>
          <p:cNvSpPr/>
          <p:nvPr/>
        </p:nvSpPr>
        <p:spPr>
          <a:xfrm>
            <a:off x="5436777" y="2655365"/>
            <a:ext cx="461654" cy="454488"/>
          </a:xfrm>
          <a:prstGeom prst="ellipse">
            <a:avLst/>
          </a:prstGeom>
          <a:solidFill>
            <a:schemeClr val="accent6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Montserrat" panose="00000500000000000000" pitchFamily="2" charset="0"/>
              </a:rPr>
              <a:t>1</a:t>
            </a: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D0101D85-8B45-B55F-CE8F-91FB171A684A}"/>
              </a:ext>
            </a:extLst>
          </p:cNvPr>
          <p:cNvSpPr txBox="1">
            <a:spLocks/>
          </p:cNvSpPr>
          <p:nvPr/>
        </p:nvSpPr>
        <p:spPr>
          <a:xfrm>
            <a:off x="5921747" y="2723751"/>
            <a:ext cx="1110695" cy="3177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lnSpc>
                <a:spcPct val="112000"/>
              </a:lnSpc>
              <a:defRPr sz="1600">
                <a:latin typeface="TT Hoves Pro Trial Medium" panose="020B0003020000020203"/>
                <a:ea typeface="Source Serif Pro Black" panose="02040903050405020204" pitchFamily="18" charset="0"/>
              </a:defRPr>
            </a:lvl1pPr>
            <a:lvl2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00" kern="1200" spc="-20" baseline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defRPr>
            </a:lvl2pPr>
            <a:lvl3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Source Sans Pro" panose="020B0503030403020204" pitchFamily="34" charset="0"/>
              <a:buChar char="−"/>
              <a:defRPr sz="1000" kern="1200" spc="-20" baseline="0">
                <a:solidFill>
                  <a:schemeClr val="tx2"/>
                </a:solidFill>
                <a:latin typeface="TT Hoves Pro Trial" panose="020B0003020000020203" pitchFamily="34" charset="0"/>
                <a:ea typeface="Source Serif Pro Light" panose="02040303050405020204" pitchFamily="18" charset="0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100" b="0" kern="1200" spc="-20" baseline="0">
                <a:solidFill>
                  <a:schemeClr val="tx2"/>
                </a:solidFill>
                <a:latin typeface="TT Hoves Pro Trial Medium" panose="020B0003020000020203" pitchFamily="34" charset="0"/>
                <a:ea typeface="Source Serif Pro" panose="02040603050405020204" pitchFamily="18" charset="0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000" kern="1200">
                <a:solidFill>
                  <a:schemeClr val="tx2"/>
                </a:solidFill>
                <a:latin typeface="TT Hoves Pro Trial "/>
                <a:ea typeface="Source Serif Pro Black" panose="02040903050405020204" pitchFamily="18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spc="-20" dirty="0">
                <a:solidFill>
                  <a:schemeClr val="bg1"/>
                </a:solidFill>
                <a:latin typeface="Montserrat" pitchFamily="2" charset="0"/>
                <a:ea typeface="+mn-ea"/>
              </a:rPr>
              <a:t>Limpeza</a:t>
            </a:r>
            <a:endParaRPr lang="pt-BR" sz="1400" spc="-20" dirty="0">
              <a:solidFill>
                <a:schemeClr val="bg1"/>
              </a:solidFill>
              <a:latin typeface="Montserrat Medium" pitchFamily="2" charset="0"/>
              <a:ea typeface="Source Serif Pro" panose="02040603050405020204" pitchFamily="18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B22F54F-6B5C-BDD7-715B-0CA3DC9E8D22}"/>
              </a:ext>
            </a:extLst>
          </p:cNvPr>
          <p:cNvSpPr/>
          <p:nvPr/>
        </p:nvSpPr>
        <p:spPr>
          <a:xfrm>
            <a:off x="5436777" y="3547671"/>
            <a:ext cx="461654" cy="454488"/>
          </a:xfrm>
          <a:prstGeom prst="ellipse">
            <a:avLst/>
          </a:prstGeom>
          <a:solidFill>
            <a:schemeClr val="accent6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Montserrat" panose="00000500000000000000" pitchFamily="2" charset="0"/>
              </a:rPr>
              <a:t>2</a:t>
            </a:r>
          </a:p>
        </p:txBody>
      </p:sp>
      <p:sp>
        <p:nvSpPr>
          <p:cNvPr id="22" name="Content Placeholder 4">
            <a:extLst>
              <a:ext uri="{FF2B5EF4-FFF2-40B4-BE49-F238E27FC236}">
                <a16:creationId xmlns:a16="http://schemas.microsoft.com/office/drawing/2014/main" id="{0D36C0CE-6822-411A-C5AA-1C94E2EBD7EA}"/>
              </a:ext>
            </a:extLst>
          </p:cNvPr>
          <p:cNvSpPr txBox="1">
            <a:spLocks/>
          </p:cNvSpPr>
          <p:nvPr/>
        </p:nvSpPr>
        <p:spPr>
          <a:xfrm>
            <a:off x="5921747" y="3616057"/>
            <a:ext cx="1274761" cy="3177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lnSpc>
                <a:spcPct val="112000"/>
              </a:lnSpc>
              <a:defRPr sz="1600">
                <a:latin typeface="TT Hoves Pro Trial Medium" panose="020B0003020000020203"/>
                <a:ea typeface="Source Serif Pro Black" panose="02040903050405020204" pitchFamily="18" charset="0"/>
              </a:defRPr>
            </a:lvl1pPr>
            <a:lvl2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00" kern="1200" spc="-20" baseline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defRPr>
            </a:lvl2pPr>
            <a:lvl3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Source Sans Pro" panose="020B0503030403020204" pitchFamily="34" charset="0"/>
              <a:buChar char="−"/>
              <a:defRPr sz="1000" kern="1200" spc="-20" baseline="0">
                <a:solidFill>
                  <a:schemeClr val="tx2"/>
                </a:solidFill>
                <a:latin typeface="TT Hoves Pro Trial" panose="020B0003020000020203" pitchFamily="34" charset="0"/>
                <a:ea typeface="Source Serif Pro Light" panose="02040303050405020204" pitchFamily="18" charset="0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100" b="0" kern="1200" spc="-20" baseline="0">
                <a:solidFill>
                  <a:schemeClr val="tx2"/>
                </a:solidFill>
                <a:latin typeface="TT Hoves Pro Trial Medium" panose="020B0003020000020203" pitchFamily="34" charset="0"/>
                <a:ea typeface="Source Serif Pro" panose="02040603050405020204" pitchFamily="18" charset="0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000" kern="1200">
                <a:solidFill>
                  <a:schemeClr val="tx2"/>
                </a:solidFill>
                <a:latin typeface="TT Hoves Pro Trial "/>
                <a:ea typeface="Source Serif Pro Black" panose="02040903050405020204" pitchFamily="18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spc="-20" dirty="0">
                <a:solidFill>
                  <a:schemeClr val="bg1"/>
                </a:solidFill>
                <a:latin typeface="Montserrat" pitchFamily="2" charset="0"/>
                <a:ea typeface="+mn-ea"/>
              </a:rPr>
              <a:t>Hidratação</a:t>
            </a:r>
            <a:endParaRPr lang="pt-BR" sz="1400" spc="-20" dirty="0">
              <a:solidFill>
                <a:schemeClr val="bg1"/>
              </a:solidFill>
              <a:latin typeface="Montserrat Medium" pitchFamily="2" charset="0"/>
              <a:ea typeface="Source Serif Pro" panose="02040603050405020204" pitchFamily="18" charset="0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897C9469-A79B-585B-AC46-79F88F8FC5B6}"/>
              </a:ext>
            </a:extLst>
          </p:cNvPr>
          <p:cNvSpPr/>
          <p:nvPr/>
        </p:nvSpPr>
        <p:spPr>
          <a:xfrm>
            <a:off x="5436777" y="4439977"/>
            <a:ext cx="461654" cy="454488"/>
          </a:xfrm>
          <a:prstGeom prst="ellipse">
            <a:avLst/>
          </a:prstGeom>
          <a:solidFill>
            <a:schemeClr val="accent6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Montserrat" panose="00000500000000000000" pitchFamily="2" charset="0"/>
              </a:rPr>
              <a:t>3</a:t>
            </a:r>
          </a:p>
        </p:txBody>
      </p:sp>
      <p:sp>
        <p:nvSpPr>
          <p:cNvPr id="47" name="Content Placeholder 4">
            <a:extLst>
              <a:ext uri="{FF2B5EF4-FFF2-40B4-BE49-F238E27FC236}">
                <a16:creationId xmlns:a16="http://schemas.microsoft.com/office/drawing/2014/main" id="{5222293E-3CD6-0EA9-6C8E-D4199BC41969}"/>
              </a:ext>
            </a:extLst>
          </p:cNvPr>
          <p:cNvSpPr txBox="1">
            <a:spLocks/>
          </p:cNvSpPr>
          <p:nvPr/>
        </p:nvSpPr>
        <p:spPr>
          <a:xfrm>
            <a:off x="5921747" y="4508363"/>
            <a:ext cx="1110695" cy="3177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lnSpc>
                <a:spcPct val="112000"/>
              </a:lnSpc>
              <a:defRPr sz="1600">
                <a:latin typeface="TT Hoves Pro Trial Medium" panose="020B0003020000020203"/>
                <a:ea typeface="Source Serif Pro Black" panose="02040903050405020204" pitchFamily="18" charset="0"/>
              </a:defRPr>
            </a:lvl1pPr>
            <a:lvl2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00" kern="1200" spc="-20" baseline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defRPr>
            </a:lvl2pPr>
            <a:lvl3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Source Sans Pro" panose="020B0503030403020204" pitchFamily="34" charset="0"/>
              <a:buChar char="−"/>
              <a:defRPr sz="1000" kern="1200" spc="-20" baseline="0">
                <a:solidFill>
                  <a:schemeClr val="tx2"/>
                </a:solidFill>
                <a:latin typeface="TT Hoves Pro Trial" panose="020B0003020000020203" pitchFamily="34" charset="0"/>
                <a:ea typeface="Source Serif Pro Light" panose="02040303050405020204" pitchFamily="18" charset="0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100" b="0" kern="1200" spc="-20" baseline="0">
                <a:solidFill>
                  <a:schemeClr val="tx2"/>
                </a:solidFill>
                <a:latin typeface="TT Hoves Pro Trial Medium" panose="020B0003020000020203" pitchFamily="34" charset="0"/>
                <a:ea typeface="Source Serif Pro" panose="02040603050405020204" pitchFamily="18" charset="0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000" kern="1200">
                <a:solidFill>
                  <a:schemeClr val="tx2"/>
                </a:solidFill>
                <a:latin typeface="TT Hoves Pro Trial "/>
                <a:ea typeface="Source Serif Pro Black" panose="02040903050405020204" pitchFamily="18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spc="-20" dirty="0">
                <a:solidFill>
                  <a:schemeClr val="bg1"/>
                </a:solidFill>
                <a:latin typeface="Montserrat" pitchFamily="2" charset="0"/>
                <a:ea typeface="+mn-ea"/>
              </a:rPr>
              <a:t>Esfoliação</a:t>
            </a:r>
            <a:endParaRPr lang="pt-BR" sz="1400" spc="-20" dirty="0">
              <a:solidFill>
                <a:schemeClr val="bg1"/>
              </a:solidFill>
              <a:latin typeface="Montserrat Medium" pitchFamily="2" charset="0"/>
              <a:ea typeface="Source Serif Pro" panose="02040603050405020204" pitchFamily="18" charset="0"/>
            </a:endParaRPr>
          </a:p>
        </p:txBody>
      </p:sp>
      <p:sp>
        <p:nvSpPr>
          <p:cNvPr id="1025" name="Oval 1024">
            <a:extLst>
              <a:ext uri="{FF2B5EF4-FFF2-40B4-BE49-F238E27FC236}">
                <a16:creationId xmlns:a16="http://schemas.microsoft.com/office/drawing/2014/main" id="{BCF69912-F2E6-6FAD-7988-F107708C3822}"/>
              </a:ext>
            </a:extLst>
          </p:cNvPr>
          <p:cNvSpPr/>
          <p:nvPr/>
        </p:nvSpPr>
        <p:spPr>
          <a:xfrm>
            <a:off x="5436777" y="5332282"/>
            <a:ext cx="461654" cy="454488"/>
          </a:xfrm>
          <a:prstGeom prst="ellipse">
            <a:avLst/>
          </a:prstGeom>
          <a:solidFill>
            <a:schemeClr val="accent6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Montserrat" panose="00000500000000000000" pitchFamily="2" charset="0"/>
              </a:rPr>
              <a:t>4</a:t>
            </a:r>
          </a:p>
        </p:txBody>
      </p:sp>
      <p:sp>
        <p:nvSpPr>
          <p:cNvPr id="1024" name="Content Placeholder 4">
            <a:extLst>
              <a:ext uri="{FF2B5EF4-FFF2-40B4-BE49-F238E27FC236}">
                <a16:creationId xmlns:a16="http://schemas.microsoft.com/office/drawing/2014/main" id="{57637A55-4C34-E811-8CB8-D0F29ED5A2E7}"/>
              </a:ext>
            </a:extLst>
          </p:cNvPr>
          <p:cNvSpPr txBox="1">
            <a:spLocks/>
          </p:cNvSpPr>
          <p:nvPr/>
        </p:nvSpPr>
        <p:spPr>
          <a:xfrm>
            <a:off x="5921747" y="5400668"/>
            <a:ext cx="1274761" cy="3177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lnSpc>
                <a:spcPct val="112000"/>
              </a:lnSpc>
              <a:defRPr sz="1600">
                <a:latin typeface="TT Hoves Pro Trial Medium" panose="020B0003020000020203"/>
                <a:ea typeface="Source Serif Pro Black" panose="02040903050405020204" pitchFamily="18" charset="0"/>
              </a:defRPr>
            </a:lvl1pPr>
            <a:lvl2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00" kern="1200" spc="-20" baseline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defRPr>
            </a:lvl2pPr>
            <a:lvl3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Source Sans Pro" panose="020B0503030403020204" pitchFamily="34" charset="0"/>
              <a:buChar char="−"/>
              <a:defRPr sz="1000" kern="1200" spc="-20" baseline="0">
                <a:solidFill>
                  <a:schemeClr val="tx2"/>
                </a:solidFill>
                <a:latin typeface="TT Hoves Pro Trial" panose="020B0003020000020203" pitchFamily="34" charset="0"/>
                <a:ea typeface="Source Serif Pro Light" panose="02040303050405020204" pitchFamily="18" charset="0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100" b="0" kern="1200" spc="-20" baseline="0">
                <a:solidFill>
                  <a:schemeClr val="tx2"/>
                </a:solidFill>
                <a:latin typeface="TT Hoves Pro Trial Medium" panose="020B0003020000020203" pitchFamily="34" charset="0"/>
                <a:ea typeface="Source Serif Pro" panose="02040603050405020204" pitchFamily="18" charset="0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000" kern="1200">
                <a:solidFill>
                  <a:schemeClr val="tx2"/>
                </a:solidFill>
                <a:latin typeface="TT Hoves Pro Trial "/>
                <a:ea typeface="Source Serif Pro Black" panose="02040903050405020204" pitchFamily="18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spc="-20" dirty="0">
                <a:solidFill>
                  <a:schemeClr val="bg1"/>
                </a:solidFill>
                <a:latin typeface="Montserrat" pitchFamily="2" charset="0"/>
                <a:ea typeface="+mn-ea"/>
              </a:rPr>
              <a:t>Tratamento</a:t>
            </a:r>
            <a:endParaRPr lang="pt-BR" sz="1400" spc="-20" dirty="0">
              <a:solidFill>
                <a:schemeClr val="bg1"/>
              </a:solidFill>
              <a:latin typeface="Montserrat Medium" pitchFamily="2" charset="0"/>
              <a:ea typeface="Source Serif Pro" panose="02040603050405020204" pitchFamily="18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E202492-33C0-B43D-68A8-98BE81D4B380}"/>
              </a:ext>
            </a:extLst>
          </p:cNvPr>
          <p:cNvSpPr/>
          <p:nvPr/>
        </p:nvSpPr>
        <p:spPr>
          <a:xfrm>
            <a:off x="-7" y="2323770"/>
            <a:ext cx="5229231" cy="1262657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en-US" sz="1200" dirty="0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DEE8A64-4A9D-775A-0B9C-F2FD570B9F36}"/>
              </a:ext>
            </a:extLst>
          </p:cNvPr>
          <p:cNvSpPr txBox="1"/>
          <p:nvPr/>
        </p:nvSpPr>
        <p:spPr>
          <a:xfrm>
            <a:off x="636469" y="2623288"/>
            <a:ext cx="1209942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4800" b="1" dirty="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82</a:t>
            </a: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% </a:t>
            </a:r>
            <a:endParaRPr lang="pt-BR" sz="2000" dirty="0">
              <a:solidFill>
                <a:schemeClr val="bg2">
                  <a:lumMod val="50000"/>
                </a:schemeClr>
              </a:solidFill>
              <a:latin typeface="Montserrat" panose="00000500000000000000" pitchFamily="2" charset="0"/>
              <a:ea typeface="Source Serif Pro Black" panose="020409030504050202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C83A1BD-DB77-C6AE-3A20-AE80A6D07484}"/>
              </a:ext>
            </a:extLst>
          </p:cNvPr>
          <p:cNvSpPr txBox="1"/>
          <p:nvPr/>
        </p:nvSpPr>
        <p:spPr>
          <a:xfrm>
            <a:off x="3245955" y="2692698"/>
            <a:ext cx="1993554" cy="6921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0000"/>
              </a:lnSpc>
            </a:pPr>
            <a:r>
              <a:rPr lang="pt-BR" sz="900" dirty="0">
                <a:latin typeface="Montserrat" panose="00000500000000000000" pitchFamily="2" charset="0"/>
                <a:ea typeface="Source Serif Pro Black" panose="02040903050405020204" pitchFamily="18" charset="0"/>
              </a:rPr>
              <a:t>das mulheres desejam que seus produtos de cuidados corporais ofereçam benefícios além da simples hidratação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4FED896-8431-E40C-4345-F8C77FEA4624}"/>
              </a:ext>
            </a:extLst>
          </p:cNvPr>
          <p:cNvSpPr txBox="1"/>
          <p:nvPr/>
        </p:nvSpPr>
        <p:spPr>
          <a:xfrm>
            <a:off x="995378" y="4006461"/>
            <a:ext cx="3238462" cy="5232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lang="pt-BR" sz="1400" b="1" spc="-10" dirty="0">
                <a:latin typeface="Montserrat SemiBold" pitchFamily="2" charset="0"/>
                <a:ea typeface="Source Serif Pro Black" panose="02040903050405020204" pitchFamily="18" charset="0"/>
              </a:rPr>
              <a:t>Os brasileiros valorizam uma rotina acessível de Face e </a:t>
            </a:r>
            <a:r>
              <a:rPr lang="pt-BR" sz="1400" b="1" spc="-10" dirty="0" err="1">
                <a:latin typeface="Montserrat SemiBold" pitchFamily="2" charset="0"/>
                <a:ea typeface="Source Serif Pro Black" panose="02040903050405020204" pitchFamily="18" charset="0"/>
              </a:rPr>
              <a:t>Bodycare</a:t>
            </a:r>
            <a:endParaRPr lang="pt-BR" sz="1400" b="1" spc="-10" dirty="0">
              <a:latin typeface="Montserrat SemiBold" pitchFamily="2" charset="0"/>
              <a:ea typeface="Source Serif Pro Black" panose="02040903050405020204" pitchFamily="18" charset="0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741B235-19A6-DB9A-E582-832ECA20CC14}"/>
              </a:ext>
            </a:extLst>
          </p:cNvPr>
          <p:cNvGrpSpPr/>
          <p:nvPr/>
        </p:nvGrpSpPr>
        <p:grpSpPr>
          <a:xfrm>
            <a:off x="435909" y="4690778"/>
            <a:ext cx="4357400" cy="1267075"/>
            <a:chOff x="694063" y="4566724"/>
            <a:chExt cx="4357400" cy="1267075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D684777-27B7-55F6-3F7B-3D928237F39F}"/>
                </a:ext>
              </a:extLst>
            </p:cNvPr>
            <p:cNvSpPr/>
            <p:nvPr/>
          </p:nvSpPr>
          <p:spPr>
            <a:xfrm>
              <a:off x="3375446" y="4725765"/>
              <a:ext cx="355902" cy="431978"/>
            </a:xfrm>
            <a:prstGeom prst="rect">
              <a:avLst/>
            </a:prstGeom>
            <a:noFill/>
            <a:ln w="6350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08000" bIns="108000"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ts val="200"/>
                </a:spcAft>
              </a:pPr>
              <a:r>
                <a:rPr lang="pt-BR" sz="3200" b="1" spc="-20" dirty="0">
                  <a:solidFill>
                    <a:schemeClr val="accent3">
                      <a:lumMod val="40000"/>
                      <a:lumOff val="60000"/>
                    </a:schemeClr>
                  </a:solidFill>
                  <a:latin typeface="TT Hoves Pro Trial Medium" panose="020B0003020000020203" pitchFamily="34" charset="0"/>
                  <a:ea typeface="Source Serif Pro" panose="02040603050405020204" pitchFamily="18" charset="0"/>
                  <a:cs typeface="+mj-cs"/>
                </a:rPr>
                <a:t>=</a:t>
              </a:r>
            </a:p>
          </p:txBody>
        </p:sp>
        <p:sp>
          <p:nvSpPr>
            <p:cNvPr id="62" name="Division Sign 61">
              <a:extLst>
                <a:ext uri="{FF2B5EF4-FFF2-40B4-BE49-F238E27FC236}">
                  <a16:creationId xmlns:a16="http://schemas.microsoft.com/office/drawing/2014/main" id="{60528DCD-9761-1FB9-B0F6-DF2DE8753132}"/>
                </a:ext>
              </a:extLst>
            </p:cNvPr>
            <p:cNvSpPr/>
            <p:nvPr/>
          </p:nvSpPr>
          <p:spPr>
            <a:xfrm>
              <a:off x="1910968" y="4791655"/>
              <a:ext cx="303516" cy="344902"/>
            </a:xfrm>
            <a:prstGeom prst="mathDivide">
              <a:avLst>
                <a:gd name="adj1" fmla="val 10122"/>
                <a:gd name="adj2" fmla="val 5880"/>
                <a:gd name="adj3" fmla="val 7853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2000"/>
                </a:lnSpc>
                <a:spcAft>
                  <a:spcPts val="800"/>
                </a:spcAft>
              </a:pPr>
              <a:endParaRPr lang="pt-BR" sz="1200" dirty="0" err="1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</a:endParaRPr>
            </a:p>
          </p:txBody>
        </p:sp>
        <p:sp>
          <p:nvSpPr>
            <p:cNvPr id="1027" name="Rectangle 1026">
              <a:extLst>
                <a:ext uri="{FF2B5EF4-FFF2-40B4-BE49-F238E27FC236}">
                  <a16:creationId xmlns:a16="http://schemas.microsoft.com/office/drawing/2014/main" id="{6529F690-35B6-BDA7-9848-72955D091814}"/>
                </a:ext>
              </a:extLst>
            </p:cNvPr>
            <p:cNvSpPr/>
            <p:nvPr/>
          </p:nvSpPr>
          <p:spPr>
            <a:xfrm>
              <a:off x="694063" y="5369468"/>
              <a:ext cx="1283429" cy="464331"/>
            </a:xfrm>
            <a:prstGeom prst="rect">
              <a:avLst/>
            </a:prstGeom>
            <a:noFill/>
            <a:ln w="6350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08000" rIns="108000" bIns="108000" rtlCol="0" anchor="t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ts val="200"/>
                </a:spcAft>
              </a:pPr>
              <a:r>
                <a:rPr lang="pt-BR" sz="800" dirty="0">
                  <a:solidFill>
                    <a:schemeClr val="tx1"/>
                  </a:solidFill>
                  <a:latin typeface="Montserrat" panose="00000500000000000000" pitchFamily="2" charset="0"/>
                  <a:ea typeface="Source Serif Pro" panose="02040603050405020204" pitchFamily="18" charset="0"/>
                </a:rPr>
                <a:t>Gasto dos brasileiros em produtos por ano</a:t>
              </a:r>
            </a:p>
          </p:txBody>
        </p:sp>
        <p:sp>
          <p:nvSpPr>
            <p:cNvPr id="1028" name="Rectangle: Rounded Corners 1027">
              <a:extLst>
                <a:ext uri="{FF2B5EF4-FFF2-40B4-BE49-F238E27FC236}">
                  <a16:creationId xmlns:a16="http://schemas.microsoft.com/office/drawing/2014/main" id="{7D57AC2D-CB7D-CA4D-61A9-6C9F8202FE2B}"/>
                </a:ext>
              </a:extLst>
            </p:cNvPr>
            <p:cNvSpPr/>
            <p:nvPr/>
          </p:nvSpPr>
          <p:spPr>
            <a:xfrm>
              <a:off x="953361" y="4566724"/>
              <a:ext cx="764832" cy="76483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2000"/>
                </a:lnSpc>
                <a:spcAft>
                  <a:spcPts val="800"/>
                </a:spcAft>
              </a:pPr>
              <a:endParaRPr lang="pt-BR" sz="1200" dirty="0" err="1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</a:endParaRPr>
            </a:p>
          </p:txBody>
        </p:sp>
        <p:sp>
          <p:nvSpPr>
            <p:cNvPr id="1040" name="Content Placeholder 7">
              <a:extLst>
                <a:ext uri="{FF2B5EF4-FFF2-40B4-BE49-F238E27FC236}">
                  <a16:creationId xmlns:a16="http://schemas.microsoft.com/office/drawing/2014/main" id="{A9F04919-3BD0-4C95-373A-6243C1F7A8B8}"/>
                </a:ext>
              </a:extLst>
            </p:cNvPr>
            <p:cNvSpPr txBox="1">
              <a:spLocks/>
            </p:cNvSpPr>
            <p:nvPr/>
          </p:nvSpPr>
          <p:spPr>
            <a:xfrm>
              <a:off x="1049514" y="4811203"/>
              <a:ext cx="572526" cy="369332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Source Serif Pro" panose="02040603050405020204" pitchFamily="18" charset="0"/>
                  <a:ea typeface="Source Serif Pro" panose="02040603050405020204" pitchFamily="18" charset="0"/>
                  <a:cs typeface="+mn-cs"/>
                </a:defRPr>
              </a:lvl1pPr>
              <a:lvl2pPr marL="108000" indent="-108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Clr>
                  <a:schemeClr val="bg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Source Serif Pro" panose="02040603050405020204" pitchFamily="18" charset="0"/>
                  <a:ea typeface="Source Serif Pro" panose="02040603050405020204" pitchFamily="18" charset="0"/>
                  <a:cs typeface="+mn-cs"/>
                </a:defRPr>
              </a:lvl2pPr>
              <a:lvl3pPr marL="108000" indent="-108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Clr>
                  <a:schemeClr val="bg2"/>
                </a:buClr>
                <a:buFont typeface="Source Sans Pro" panose="020B0503030403020204" pitchFamily="34" charset="0"/>
                <a:buChar char="−"/>
                <a:defRPr sz="1200" kern="1200">
                  <a:solidFill>
                    <a:schemeClr val="tx1"/>
                  </a:solidFill>
                  <a:latin typeface="Source Serif Pro Light" panose="02040303050405020204" pitchFamily="18" charset="0"/>
                  <a:ea typeface="Source Serif Pro Light" panose="02040303050405020204" pitchFamily="18" charset="0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Source Serif Pro" panose="02040603050405020204" pitchFamily="18" charset="0"/>
                  <a:ea typeface="Source Serif Pro" panose="02040603050405020204" pitchFamily="18" charset="0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200" kern="1200">
                  <a:solidFill>
                    <a:schemeClr val="accent1"/>
                  </a:solidFill>
                  <a:latin typeface="Source Serif Pro Black" panose="02040903050405020204" pitchFamily="18" charset="0"/>
                  <a:ea typeface="Source Serif Pro Black" panose="02040903050405020204" pitchFamily="18" charset="0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lang="pt-BR" sz="2400" b="1" spc="-20" dirty="0">
                  <a:solidFill>
                    <a:schemeClr val="accent3">
                      <a:lumMod val="50000"/>
                    </a:schemeClr>
                  </a:solidFill>
                  <a:latin typeface="Montserrat" panose="00000500000000000000" pitchFamily="2" charset="0"/>
                  <a:ea typeface="Source Serif Pro SemiBold" panose="02040703050405020204" pitchFamily="18" charset="0"/>
                </a:rPr>
                <a:t>237</a:t>
              </a:r>
            </a:p>
          </p:txBody>
        </p:sp>
        <p:sp>
          <p:nvSpPr>
            <p:cNvPr id="1044" name="Content Placeholder 7">
              <a:extLst>
                <a:ext uri="{FF2B5EF4-FFF2-40B4-BE49-F238E27FC236}">
                  <a16:creationId xmlns:a16="http://schemas.microsoft.com/office/drawing/2014/main" id="{36FB5274-8FE8-BFF8-D432-4E115D69B806}"/>
                </a:ext>
              </a:extLst>
            </p:cNvPr>
            <p:cNvSpPr txBox="1">
              <a:spLocks/>
            </p:cNvSpPr>
            <p:nvPr/>
          </p:nvSpPr>
          <p:spPr>
            <a:xfrm>
              <a:off x="1083777" y="4680736"/>
              <a:ext cx="504000" cy="161583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Source Serif Pro" panose="02040603050405020204" pitchFamily="18" charset="0"/>
                  <a:ea typeface="Source Serif Pro" panose="02040603050405020204" pitchFamily="18" charset="0"/>
                  <a:cs typeface="+mn-cs"/>
                </a:defRPr>
              </a:lvl1pPr>
              <a:lvl2pPr marL="108000" indent="-108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Clr>
                  <a:schemeClr val="bg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Source Serif Pro" panose="02040603050405020204" pitchFamily="18" charset="0"/>
                  <a:ea typeface="Source Serif Pro" panose="02040603050405020204" pitchFamily="18" charset="0"/>
                  <a:cs typeface="+mn-cs"/>
                </a:defRPr>
              </a:lvl2pPr>
              <a:lvl3pPr marL="108000" indent="-108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Clr>
                  <a:schemeClr val="bg2"/>
                </a:buClr>
                <a:buFont typeface="Source Sans Pro" panose="020B0503030403020204" pitchFamily="34" charset="0"/>
                <a:buChar char="−"/>
                <a:defRPr sz="1200" kern="1200">
                  <a:solidFill>
                    <a:schemeClr val="tx1"/>
                  </a:solidFill>
                  <a:latin typeface="Source Serif Pro Light" panose="02040303050405020204" pitchFamily="18" charset="0"/>
                  <a:ea typeface="Source Serif Pro Light" panose="02040303050405020204" pitchFamily="18" charset="0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Source Serif Pro" panose="02040603050405020204" pitchFamily="18" charset="0"/>
                  <a:ea typeface="Source Serif Pro" panose="02040603050405020204" pitchFamily="18" charset="0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200" kern="1200">
                  <a:solidFill>
                    <a:schemeClr val="accent1"/>
                  </a:solidFill>
                  <a:latin typeface="Source Serif Pro Black" panose="02040903050405020204" pitchFamily="18" charset="0"/>
                  <a:ea typeface="Source Serif Pro Black" panose="02040903050405020204" pitchFamily="18" charset="0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lang="pt-BR" sz="1050" b="1" spc="-20" dirty="0">
                  <a:solidFill>
                    <a:schemeClr val="accent3">
                      <a:lumMod val="50000"/>
                    </a:schemeClr>
                  </a:solidFill>
                  <a:latin typeface="Montserrat" panose="00000500000000000000" pitchFamily="2" charset="0"/>
                  <a:cs typeface="+mj-cs"/>
                </a:rPr>
                <a:t>R$ </a:t>
              </a:r>
              <a:endParaRPr lang="pt-BR" sz="1600" dirty="0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047" name="Rectangle 1046">
              <a:extLst>
                <a:ext uri="{FF2B5EF4-FFF2-40B4-BE49-F238E27FC236}">
                  <a16:creationId xmlns:a16="http://schemas.microsoft.com/office/drawing/2014/main" id="{FE964747-0708-3338-0315-84E907AF564A}"/>
                </a:ext>
              </a:extLst>
            </p:cNvPr>
            <p:cNvSpPr/>
            <p:nvPr/>
          </p:nvSpPr>
          <p:spPr>
            <a:xfrm>
              <a:off x="3664822" y="5357979"/>
              <a:ext cx="1386641" cy="464331"/>
            </a:xfrm>
            <a:prstGeom prst="rect">
              <a:avLst/>
            </a:prstGeom>
            <a:noFill/>
            <a:ln w="6350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108000" rIns="108000" bIns="108000" rtlCol="0" anchor="t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ts val="200"/>
                </a:spcAft>
              </a:pPr>
              <a:r>
                <a:rPr lang="pt-BR" sz="800" dirty="0">
                  <a:solidFill>
                    <a:schemeClr val="tx1"/>
                  </a:solidFill>
                  <a:latin typeface="Montserrat" panose="00000500000000000000" pitchFamily="2" charset="0"/>
                  <a:ea typeface="Source Serif Pro" panose="02040603050405020204" pitchFamily="18" charset="0"/>
                </a:rPr>
                <a:t>Gasto médio por produto comprado</a:t>
              </a:r>
              <a:endParaRPr lang="en-US" sz="800" dirty="0">
                <a:solidFill>
                  <a:schemeClr val="tx1"/>
                </a:solidFill>
                <a:latin typeface="Montserrat" panose="00000500000000000000" pitchFamily="2" charset="0"/>
                <a:ea typeface="Source Serif Pro" panose="02040603050405020204" pitchFamily="18" charset="0"/>
              </a:endParaRPr>
            </a:p>
          </p:txBody>
        </p:sp>
        <p:sp>
          <p:nvSpPr>
            <p:cNvPr id="1048" name="Rectangle: Rounded Corners 1047">
              <a:extLst>
                <a:ext uri="{FF2B5EF4-FFF2-40B4-BE49-F238E27FC236}">
                  <a16:creationId xmlns:a16="http://schemas.microsoft.com/office/drawing/2014/main" id="{BA5D9534-17F2-11B2-84B1-191D8F67DD60}"/>
                </a:ext>
              </a:extLst>
            </p:cNvPr>
            <p:cNvSpPr/>
            <p:nvPr/>
          </p:nvSpPr>
          <p:spPr>
            <a:xfrm>
              <a:off x="3975726" y="4566724"/>
              <a:ext cx="764832" cy="764832"/>
            </a:xfrm>
            <a:prstGeom prst="round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2000"/>
                </a:lnSpc>
                <a:spcAft>
                  <a:spcPts val="800"/>
                </a:spcAft>
              </a:pPr>
              <a:endParaRPr lang="pt-BR" sz="1200" dirty="0" err="1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</a:endParaRPr>
            </a:p>
          </p:txBody>
        </p:sp>
        <p:sp>
          <p:nvSpPr>
            <p:cNvPr id="1049" name="Content Placeholder 7">
              <a:extLst>
                <a:ext uri="{FF2B5EF4-FFF2-40B4-BE49-F238E27FC236}">
                  <a16:creationId xmlns:a16="http://schemas.microsoft.com/office/drawing/2014/main" id="{A089C5CE-F58B-BC49-15B5-ADB3496DB5E7}"/>
                </a:ext>
              </a:extLst>
            </p:cNvPr>
            <p:cNvSpPr txBox="1">
              <a:spLocks/>
            </p:cNvSpPr>
            <p:nvPr/>
          </p:nvSpPr>
          <p:spPr>
            <a:xfrm>
              <a:off x="4121141" y="4811203"/>
              <a:ext cx="474002" cy="369332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Source Serif Pro" panose="02040603050405020204" pitchFamily="18" charset="0"/>
                  <a:ea typeface="Source Serif Pro" panose="02040603050405020204" pitchFamily="18" charset="0"/>
                  <a:cs typeface="+mn-cs"/>
                </a:defRPr>
              </a:lvl1pPr>
              <a:lvl2pPr marL="108000" indent="-108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Clr>
                  <a:schemeClr val="bg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Source Serif Pro" panose="02040603050405020204" pitchFamily="18" charset="0"/>
                  <a:ea typeface="Source Serif Pro" panose="02040603050405020204" pitchFamily="18" charset="0"/>
                  <a:cs typeface="+mn-cs"/>
                </a:defRPr>
              </a:lvl2pPr>
              <a:lvl3pPr marL="108000" indent="-108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Clr>
                  <a:schemeClr val="bg2"/>
                </a:buClr>
                <a:buFont typeface="Source Sans Pro" panose="020B0503030403020204" pitchFamily="34" charset="0"/>
                <a:buChar char="−"/>
                <a:defRPr sz="1200" kern="1200">
                  <a:solidFill>
                    <a:schemeClr val="tx1"/>
                  </a:solidFill>
                  <a:latin typeface="Source Serif Pro Light" panose="02040303050405020204" pitchFamily="18" charset="0"/>
                  <a:ea typeface="Source Serif Pro Light" panose="02040303050405020204" pitchFamily="18" charset="0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Source Serif Pro" panose="02040603050405020204" pitchFamily="18" charset="0"/>
                  <a:ea typeface="Source Serif Pro" panose="02040603050405020204" pitchFamily="18" charset="0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200" kern="1200">
                  <a:solidFill>
                    <a:schemeClr val="accent1"/>
                  </a:solidFill>
                  <a:latin typeface="Source Serif Pro Black" panose="02040903050405020204" pitchFamily="18" charset="0"/>
                  <a:ea typeface="Source Serif Pro Black" panose="02040903050405020204" pitchFamily="18" charset="0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lang="pt-BR" sz="2400" b="1" dirty="0">
                  <a:solidFill>
                    <a:schemeClr val="bg1"/>
                  </a:solidFill>
                  <a:latin typeface="Montserrat" panose="00000500000000000000" pitchFamily="2" charset="0"/>
                  <a:ea typeface="Source Serif Pro SemiBold" panose="02040703050405020204" pitchFamily="18" charset="0"/>
                </a:rPr>
                <a:t>22</a:t>
              </a:r>
              <a:endParaRPr lang="pt-BR" sz="24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050" name="Content Placeholder 7">
              <a:extLst>
                <a:ext uri="{FF2B5EF4-FFF2-40B4-BE49-F238E27FC236}">
                  <a16:creationId xmlns:a16="http://schemas.microsoft.com/office/drawing/2014/main" id="{E37DE59B-8A18-92A3-8A93-9B98BCE2DA11}"/>
                </a:ext>
              </a:extLst>
            </p:cNvPr>
            <p:cNvSpPr txBox="1">
              <a:spLocks/>
            </p:cNvSpPr>
            <p:nvPr/>
          </p:nvSpPr>
          <p:spPr>
            <a:xfrm>
              <a:off x="4106142" y="4680736"/>
              <a:ext cx="504000" cy="161583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Source Serif Pro" panose="02040603050405020204" pitchFamily="18" charset="0"/>
                  <a:ea typeface="Source Serif Pro" panose="02040603050405020204" pitchFamily="18" charset="0"/>
                  <a:cs typeface="+mn-cs"/>
                </a:defRPr>
              </a:lvl1pPr>
              <a:lvl2pPr marL="108000" indent="-108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Clr>
                  <a:schemeClr val="bg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Source Serif Pro" panose="02040603050405020204" pitchFamily="18" charset="0"/>
                  <a:ea typeface="Source Serif Pro" panose="02040603050405020204" pitchFamily="18" charset="0"/>
                  <a:cs typeface="+mn-cs"/>
                </a:defRPr>
              </a:lvl2pPr>
              <a:lvl3pPr marL="108000" indent="-108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Clr>
                  <a:schemeClr val="bg2"/>
                </a:buClr>
                <a:buFont typeface="Source Sans Pro" panose="020B0503030403020204" pitchFamily="34" charset="0"/>
                <a:buChar char="−"/>
                <a:defRPr sz="1200" kern="1200">
                  <a:solidFill>
                    <a:schemeClr val="tx1"/>
                  </a:solidFill>
                  <a:latin typeface="Source Serif Pro Light" panose="02040303050405020204" pitchFamily="18" charset="0"/>
                  <a:ea typeface="Source Serif Pro Light" panose="02040303050405020204" pitchFamily="18" charset="0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Source Serif Pro" panose="02040603050405020204" pitchFamily="18" charset="0"/>
                  <a:ea typeface="Source Serif Pro" panose="02040603050405020204" pitchFamily="18" charset="0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200" kern="1200">
                  <a:solidFill>
                    <a:schemeClr val="accent1"/>
                  </a:solidFill>
                  <a:latin typeface="Source Serif Pro Black" panose="02040903050405020204" pitchFamily="18" charset="0"/>
                  <a:ea typeface="Source Serif Pro Black" panose="02040903050405020204" pitchFamily="18" charset="0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lang="pt-BR" sz="1050" b="1" spc="-20" dirty="0">
                  <a:solidFill>
                    <a:schemeClr val="bg1"/>
                  </a:solidFill>
                  <a:latin typeface="Montserrat" panose="00000500000000000000" pitchFamily="2" charset="0"/>
                  <a:cs typeface="+mj-cs"/>
                </a:rPr>
                <a:t>R$ </a:t>
              </a:r>
              <a:endParaRPr lang="pt-BR" sz="105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051" name="Rectangle 1050">
              <a:extLst>
                <a:ext uri="{FF2B5EF4-FFF2-40B4-BE49-F238E27FC236}">
                  <a16:creationId xmlns:a16="http://schemas.microsoft.com/office/drawing/2014/main" id="{190D4CCF-23D4-3481-98BA-ED83A99AAF5F}"/>
                </a:ext>
              </a:extLst>
            </p:cNvPr>
            <p:cNvSpPr/>
            <p:nvPr/>
          </p:nvSpPr>
          <p:spPr>
            <a:xfrm>
              <a:off x="2147960" y="5357979"/>
              <a:ext cx="1294010" cy="464331"/>
            </a:xfrm>
            <a:prstGeom prst="rect">
              <a:avLst/>
            </a:prstGeom>
            <a:noFill/>
            <a:ln w="6350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108000" rIns="108000" bIns="108000" rtlCol="0" anchor="t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ts val="200"/>
                </a:spcAft>
              </a:pPr>
              <a:r>
                <a:rPr lang="pt-BR" sz="800" dirty="0">
                  <a:solidFill>
                    <a:schemeClr val="tx1"/>
                  </a:solidFill>
                  <a:latin typeface="Montserrat" panose="00000500000000000000" pitchFamily="2" charset="0"/>
                  <a:ea typeface="Source Serif Pro" panose="02040603050405020204" pitchFamily="18" charset="0"/>
                </a:rPr>
                <a:t>Número de produtos comprados por ano</a:t>
              </a:r>
            </a:p>
          </p:txBody>
        </p:sp>
        <p:sp>
          <p:nvSpPr>
            <p:cNvPr id="1052" name="Rectangle: Rounded Corners 1051">
              <a:extLst>
                <a:ext uri="{FF2B5EF4-FFF2-40B4-BE49-F238E27FC236}">
                  <a16:creationId xmlns:a16="http://schemas.microsoft.com/office/drawing/2014/main" id="{1F4BFF03-B599-A6EA-D4AC-E3352FA71BB2}"/>
                </a:ext>
              </a:extLst>
            </p:cNvPr>
            <p:cNvSpPr/>
            <p:nvPr/>
          </p:nvSpPr>
          <p:spPr>
            <a:xfrm>
              <a:off x="2412549" y="4566724"/>
              <a:ext cx="764832" cy="76483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2000"/>
                </a:lnSpc>
                <a:spcAft>
                  <a:spcPts val="800"/>
                </a:spcAft>
              </a:pPr>
              <a:endParaRPr lang="pt-BR" sz="1200" dirty="0" err="1">
                <a:solidFill>
                  <a:schemeClr val="bg1"/>
                </a:solidFill>
                <a:latin typeface="Source Serif Pro" panose="02040603050405020204" pitchFamily="18" charset="0"/>
                <a:ea typeface="Source Serif Pro" panose="02040603050405020204" pitchFamily="18" charset="0"/>
              </a:endParaRPr>
            </a:p>
          </p:txBody>
        </p:sp>
        <p:sp>
          <p:nvSpPr>
            <p:cNvPr id="1053" name="Content Placeholder 7">
              <a:extLst>
                <a:ext uri="{FF2B5EF4-FFF2-40B4-BE49-F238E27FC236}">
                  <a16:creationId xmlns:a16="http://schemas.microsoft.com/office/drawing/2014/main" id="{20D98D4F-6190-FA74-26B3-62DEE2F793C9}"/>
                </a:ext>
              </a:extLst>
            </p:cNvPr>
            <p:cNvSpPr txBox="1">
              <a:spLocks/>
            </p:cNvSpPr>
            <p:nvPr/>
          </p:nvSpPr>
          <p:spPr>
            <a:xfrm>
              <a:off x="2599102" y="4811203"/>
              <a:ext cx="391726" cy="369332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Source Serif Pro" panose="02040603050405020204" pitchFamily="18" charset="0"/>
                  <a:ea typeface="Source Serif Pro" panose="02040603050405020204" pitchFamily="18" charset="0"/>
                  <a:cs typeface="+mn-cs"/>
                </a:defRPr>
              </a:lvl1pPr>
              <a:lvl2pPr marL="108000" indent="-108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Clr>
                  <a:schemeClr val="bg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Source Serif Pro" panose="02040603050405020204" pitchFamily="18" charset="0"/>
                  <a:ea typeface="Source Serif Pro" panose="02040603050405020204" pitchFamily="18" charset="0"/>
                  <a:cs typeface="+mn-cs"/>
                </a:defRPr>
              </a:lvl2pPr>
              <a:lvl3pPr marL="108000" indent="-108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Clr>
                  <a:schemeClr val="bg2"/>
                </a:buClr>
                <a:buFont typeface="Source Sans Pro" panose="020B0503030403020204" pitchFamily="34" charset="0"/>
                <a:buChar char="−"/>
                <a:defRPr sz="1200" kern="1200">
                  <a:solidFill>
                    <a:schemeClr val="tx1"/>
                  </a:solidFill>
                  <a:latin typeface="Source Serif Pro Light" panose="02040303050405020204" pitchFamily="18" charset="0"/>
                  <a:ea typeface="Source Serif Pro Light" panose="02040303050405020204" pitchFamily="18" charset="0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Source Serif Pro" panose="02040603050405020204" pitchFamily="18" charset="0"/>
                  <a:ea typeface="Source Serif Pro" panose="02040603050405020204" pitchFamily="18" charset="0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200" kern="1200">
                  <a:solidFill>
                    <a:schemeClr val="accent1"/>
                  </a:solidFill>
                  <a:latin typeface="Source Serif Pro Black" panose="02040903050405020204" pitchFamily="18" charset="0"/>
                  <a:ea typeface="Source Serif Pro Black" panose="02040903050405020204" pitchFamily="18" charset="0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lang="pt-BR" sz="2400" b="1" dirty="0">
                  <a:solidFill>
                    <a:schemeClr val="accent3">
                      <a:lumMod val="50000"/>
                    </a:schemeClr>
                  </a:solidFill>
                  <a:latin typeface="Montserrat" panose="00000500000000000000" pitchFamily="2" charset="0"/>
                  <a:ea typeface="Source Serif Pro SemiBold" panose="02040703050405020204" pitchFamily="18" charset="0"/>
                </a:rPr>
                <a:t>11</a:t>
              </a:r>
              <a:endParaRPr lang="pt-BR" sz="2400" dirty="0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054" name="Content Placeholder 7">
              <a:extLst>
                <a:ext uri="{FF2B5EF4-FFF2-40B4-BE49-F238E27FC236}">
                  <a16:creationId xmlns:a16="http://schemas.microsoft.com/office/drawing/2014/main" id="{7EB419C1-5877-177C-593A-737563AEBB3A}"/>
                </a:ext>
              </a:extLst>
            </p:cNvPr>
            <p:cNvSpPr txBox="1">
              <a:spLocks/>
            </p:cNvSpPr>
            <p:nvPr/>
          </p:nvSpPr>
          <p:spPr>
            <a:xfrm>
              <a:off x="2542965" y="4680736"/>
              <a:ext cx="504000" cy="161583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Source Serif Pro" panose="02040603050405020204" pitchFamily="18" charset="0"/>
                  <a:ea typeface="Source Serif Pro" panose="02040603050405020204" pitchFamily="18" charset="0"/>
                  <a:cs typeface="+mn-cs"/>
                </a:defRPr>
              </a:lvl1pPr>
              <a:lvl2pPr marL="108000" indent="-108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Clr>
                  <a:schemeClr val="bg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Source Serif Pro" panose="02040603050405020204" pitchFamily="18" charset="0"/>
                  <a:ea typeface="Source Serif Pro" panose="02040603050405020204" pitchFamily="18" charset="0"/>
                  <a:cs typeface="+mn-cs"/>
                </a:defRPr>
              </a:lvl2pPr>
              <a:lvl3pPr marL="108000" indent="-108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Clr>
                  <a:schemeClr val="bg2"/>
                </a:buClr>
                <a:buFont typeface="Source Sans Pro" panose="020B0503030403020204" pitchFamily="34" charset="0"/>
                <a:buChar char="−"/>
                <a:defRPr sz="1200" kern="1200">
                  <a:solidFill>
                    <a:schemeClr val="tx1"/>
                  </a:solidFill>
                  <a:latin typeface="Source Serif Pro Light" panose="02040303050405020204" pitchFamily="18" charset="0"/>
                  <a:ea typeface="Source Serif Pro Light" panose="02040303050405020204" pitchFamily="18" charset="0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Source Serif Pro" panose="02040603050405020204" pitchFamily="18" charset="0"/>
                  <a:ea typeface="Source Serif Pro" panose="02040603050405020204" pitchFamily="18" charset="0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200" kern="1200">
                  <a:solidFill>
                    <a:schemeClr val="accent1"/>
                  </a:solidFill>
                  <a:latin typeface="Source Serif Pro Black" panose="02040903050405020204" pitchFamily="18" charset="0"/>
                  <a:ea typeface="Source Serif Pro Black" panose="02040903050405020204" pitchFamily="18" charset="0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lang="pt-BR" sz="1050" b="1" spc="-20" dirty="0">
                  <a:solidFill>
                    <a:schemeClr val="accent3">
                      <a:lumMod val="50000"/>
                    </a:schemeClr>
                  </a:solidFill>
                  <a:latin typeface="Montserrat" panose="00000500000000000000" pitchFamily="2" charset="0"/>
                  <a:cs typeface="+mj-cs"/>
                </a:rPr>
                <a:t>#</a:t>
              </a:r>
              <a:endParaRPr lang="pt-BR" sz="1600" dirty="0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  <p:pic>
        <p:nvPicPr>
          <p:cNvPr id="1055" name="Picture 1054" descr="A person applying cream on her shoulder&#10;&#10;Description automatically generated">
            <a:extLst>
              <a:ext uri="{FF2B5EF4-FFF2-40B4-BE49-F238E27FC236}">
                <a16:creationId xmlns:a16="http://schemas.microsoft.com/office/drawing/2014/main" id="{56D00633-1F4A-BC51-E813-759E34F204E9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99" r="3101"/>
          <a:stretch/>
        </p:blipFill>
        <p:spPr>
          <a:xfrm>
            <a:off x="1857143" y="2551307"/>
            <a:ext cx="1359792" cy="135979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406833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69AB16A-FCC9-2FF5-6F75-A9FB60BECBDD}"/>
              </a:ext>
            </a:extLst>
          </p:cNvPr>
          <p:cNvSpPr/>
          <p:nvPr/>
        </p:nvSpPr>
        <p:spPr>
          <a:xfrm flipH="1">
            <a:off x="-2" y="1585681"/>
            <a:ext cx="12191999" cy="120780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39" name="Rectangle: Top Corners Rounded 38">
            <a:extLst>
              <a:ext uri="{FF2B5EF4-FFF2-40B4-BE49-F238E27FC236}">
                <a16:creationId xmlns:a16="http://schemas.microsoft.com/office/drawing/2014/main" id="{2FCC1E1B-C0C3-E07A-9679-8CD5CCEA6767}"/>
              </a:ext>
            </a:extLst>
          </p:cNvPr>
          <p:cNvSpPr/>
          <p:nvPr/>
        </p:nvSpPr>
        <p:spPr>
          <a:xfrm rot="5400000">
            <a:off x="1231602" y="311447"/>
            <a:ext cx="1407030" cy="3765112"/>
          </a:xfrm>
          <a:prstGeom prst="round2SameRect">
            <a:avLst>
              <a:gd name="adj1" fmla="val 13941"/>
              <a:gd name="adj2" fmla="val 0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en-US" sz="1200" dirty="0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1EC3FFFC-C9F9-B029-C123-1E4F20A3F30E}"/>
              </a:ext>
            </a:extLst>
          </p:cNvPr>
          <p:cNvSpPr/>
          <p:nvPr/>
        </p:nvSpPr>
        <p:spPr>
          <a:xfrm flipH="1" flipV="1">
            <a:off x="4189352" y="2793486"/>
            <a:ext cx="7440126" cy="3196153"/>
          </a:xfrm>
          <a:prstGeom prst="round2SameRect">
            <a:avLst>
              <a:gd name="adj1" fmla="val 7708"/>
              <a:gd name="adj2" fmla="val 0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Montserrat" panose="00000500000000000000" pitchFamily="2" charset="0"/>
              <a:ea typeface="Source Serif Pro" panose="02040603050405020204" pitchFamily="18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BBE6855-72CF-8889-B994-B2004D54F6A2}"/>
              </a:ext>
            </a:extLst>
          </p:cNvPr>
          <p:cNvGrpSpPr/>
          <p:nvPr/>
        </p:nvGrpSpPr>
        <p:grpSpPr>
          <a:xfrm>
            <a:off x="5824222" y="2738146"/>
            <a:ext cx="794326" cy="3251493"/>
            <a:chOff x="5714855" y="2911242"/>
            <a:chExt cx="794326" cy="3046940"/>
          </a:xfrm>
        </p:grpSpPr>
        <p:cxnSp>
          <p:nvCxnSpPr>
            <p:cNvPr id="1073" name="Straight Connector 1072">
              <a:extLst>
                <a:ext uri="{FF2B5EF4-FFF2-40B4-BE49-F238E27FC236}">
                  <a16:creationId xmlns:a16="http://schemas.microsoft.com/office/drawing/2014/main" id="{20AACB8E-213E-76C0-B1E6-60AA2DFF0EEA}"/>
                </a:ext>
              </a:extLst>
            </p:cNvPr>
            <p:cNvCxnSpPr>
              <a:cxnSpLocks/>
            </p:cNvCxnSpPr>
            <p:nvPr/>
          </p:nvCxnSpPr>
          <p:spPr>
            <a:xfrm>
              <a:off x="6112018" y="2911242"/>
              <a:ext cx="0" cy="2960640"/>
            </a:xfrm>
            <a:prstGeom prst="line">
              <a:avLst/>
            </a:prstGeom>
            <a:ln w="6350">
              <a:solidFill>
                <a:schemeClr val="accent1">
                  <a:lumMod val="50000"/>
                  <a:alpha val="16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4" name="TextBox 1063">
              <a:extLst>
                <a:ext uri="{FF2B5EF4-FFF2-40B4-BE49-F238E27FC236}">
                  <a16:creationId xmlns:a16="http://schemas.microsoft.com/office/drawing/2014/main" id="{EC10BFF9-1919-20C8-4A35-45A9133EA373}"/>
                </a:ext>
              </a:extLst>
            </p:cNvPr>
            <p:cNvSpPr txBox="1"/>
            <p:nvPr/>
          </p:nvSpPr>
          <p:spPr>
            <a:xfrm>
              <a:off x="5714855" y="5740922"/>
              <a:ext cx="794326" cy="217260"/>
            </a:xfrm>
            <a:prstGeom prst="round2SameRect">
              <a:avLst/>
            </a:prstGeom>
            <a:solidFill>
              <a:schemeClr val="bg2">
                <a:lumMod val="60000"/>
                <a:lumOff val="40000"/>
              </a:schemeClr>
            </a:solidFill>
          </p:spPr>
          <p:txBody>
            <a:bodyPr wrap="square" lIns="0" rIns="0">
              <a:spAutoFit/>
            </a:bodyPr>
            <a:lstStyle/>
            <a:p>
              <a:pPr algn="ctr">
                <a:lnSpc>
                  <a:spcPct val="112000"/>
                </a:lnSpc>
              </a:pPr>
              <a:r>
                <a:rPr lang="en-US" sz="800" b="1" dirty="0">
                  <a:solidFill>
                    <a:schemeClr val="bg1"/>
                  </a:solidFill>
                  <a:latin typeface="Montserrat SemiBold" pitchFamily="2" charset="0"/>
                  <a:ea typeface="Source Serif Pro Black" panose="02040903050405020204" pitchFamily="18" charset="0"/>
                </a:rPr>
                <a:t>R$ 17,80</a:t>
              </a:r>
              <a:endParaRPr lang="pt-BR" sz="800" b="1" dirty="0">
                <a:solidFill>
                  <a:schemeClr val="bg1"/>
                </a:solidFill>
                <a:latin typeface="Montserrat SemiBold" pitchFamily="2" charset="0"/>
                <a:ea typeface="Source Serif Pro Black" panose="02040903050405020204" pitchFamily="18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BC680C8-39F4-72F4-F136-36F8F073F3B8}"/>
              </a:ext>
            </a:extLst>
          </p:cNvPr>
          <p:cNvGrpSpPr/>
          <p:nvPr/>
        </p:nvGrpSpPr>
        <p:grpSpPr>
          <a:xfrm>
            <a:off x="8794496" y="2749169"/>
            <a:ext cx="794326" cy="3240470"/>
            <a:chOff x="8957232" y="2732297"/>
            <a:chExt cx="794326" cy="3240470"/>
          </a:xfrm>
        </p:grpSpPr>
        <p:cxnSp>
          <p:nvCxnSpPr>
            <p:cNvPr id="1077" name="Straight Connector 1076">
              <a:extLst>
                <a:ext uri="{FF2B5EF4-FFF2-40B4-BE49-F238E27FC236}">
                  <a16:creationId xmlns:a16="http://schemas.microsoft.com/office/drawing/2014/main" id="{55D5CDAC-1D83-CF95-2D03-FB47EE23DBDE}"/>
                </a:ext>
              </a:extLst>
            </p:cNvPr>
            <p:cNvCxnSpPr>
              <a:cxnSpLocks/>
            </p:cNvCxnSpPr>
            <p:nvPr/>
          </p:nvCxnSpPr>
          <p:spPr>
            <a:xfrm>
              <a:off x="9354395" y="2732297"/>
              <a:ext cx="0" cy="3139585"/>
            </a:xfrm>
            <a:prstGeom prst="line">
              <a:avLst/>
            </a:prstGeom>
            <a:ln w="6350">
              <a:solidFill>
                <a:schemeClr val="accent1">
                  <a:lumMod val="50000"/>
                  <a:alpha val="16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8" name="TextBox 1067">
              <a:extLst>
                <a:ext uri="{FF2B5EF4-FFF2-40B4-BE49-F238E27FC236}">
                  <a16:creationId xmlns:a16="http://schemas.microsoft.com/office/drawing/2014/main" id="{7C2DACC4-77F8-05F9-C7E9-540BBB78C0CC}"/>
                </a:ext>
              </a:extLst>
            </p:cNvPr>
            <p:cNvSpPr txBox="1"/>
            <p:nvPr/>
          </p:nvSpPr>
          <p:spPr>
            <a:xfrm>
              <a:off x="8957232" y="5740922"/>
              <a:ext cx="794326" cy="231845"/>
            </a:xfrm>
            <a:prstGeom prst="round2SameRect">
              <a:avLst/>
            </a:prstGeom>
            <a:solidFill>
              <a:schemeClr val="bg2">
                <a:lumMod val="60000"/>
                <a:lumOff val="40000"/>
              </a:schemeClr>
            </a:solidFill>
          </p:spPr>
          <p:txBody>
            <a:bodyPr wrap="square" lIns="0" rIns="0">
              <a:spAutoFit/>
            </a:bodyPr>
            <a:lstStyle/>
            <a:p>
              <a:pPr algn="ctr">
                <a:lnSpc>
                  <a:spcPct val="112000"/>
                </a:lnSpc>
              </a:pPr>
              <a:r>
                <a:rPr lang="en-US" sz="800" b="1" dirty="0">
                  <a:solidFill>
                    <a:schemeClr val="bg1"/>
                  </a:solidFill>
                  <a:latin typeface="Montserrat SemiBold" pitchFamily="2" charset="0"/>
                  <a:ea typeface="Source Serif Pro Black" panose="02040903050405020204" pitchFamily="18" charset="0"/>
                </a:rPr>
                <a:t>R$ 155,20</a:t>
              </a:r>
              <a:endParaRPr lang="pt-BR" sz="800" b="1" dirty="0">
                <a:solidFill>
                  <a:schemeClr val="bg1"/>
                </a:solidFill>
                <a:latin typeface="Montserrat SemiBold" pitchFamily="2" charset="0"/>
                <a:ea typeface="Source Serif Pro Black" panose="02040903050405020204" pitchFamily="18" charset="0"/>
              </a:endParaRPr>
            </a:p>
          </p:txBody>
        </p:sp>
      </p:grpSp>
      <p:sp>
        <p:nvSpPr>
          <p:cNvPr id="61" name="Rectangle: Single Corner Rounded 60">
            <a:extLst>
              <a:ext uri="{FF2B5EF4-FFF2-40B4-BE49-F238E27FC236}">
                <a16:creationId xmlns:a16="http://schemas.microsoft.com/office/drawing/2014/main" id="{11C462A2-9269-250B-3D4A-4724335ECD0B}"/>
              </a:ext>
            </a:extLst>
          </p:cNvPr>
          <p:cNvSpPr/>
          <p:nvPr/>
        </p:nvSpPr>
        <p:spPr>
          <a:xfrm flipH="1">
            <a:off x="4189352" y="2342020"/>
            <a:ext cx="6580513" cy="451466"/>
          </a:xfrm>
          <a:prstGeom prst="round1Rect">
            <a:avLst>
              <a:gd name="adj" fmla="val 2485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TT Hoves Pro Trial" panose="020B0003020000020203" pitchFamily="34" charset="0"/>
              <a:ea typeface="Source Serif Pro" panose="02040603050405020204" pitchFamily="18" charset="0"/>
            </a:endParaRPr>
          </a:p>
        </p:txBody>
      </p:sp>
      <p:sp>
        <p:nvSpPr>
          <p:cNvPr id="4" name="Rectangle: Single Corner Rounded 3">
            <a:extLst>
              <a:ext uri="{FF2B5EF4-FFF2-40B4-BE49-F238E27FC236}">
                <a16:creationId xmlns:a16="http://schemas.microsoft.com/office/drawing/2014/main" id="{86C627EF-3AE4-F1C8-4780-E1F11EDD24CD}"/>
              </a:ext>
            </a:extLst>
          </p:cNvPr>
          <p:cNvSpPr/>
          <p:nvPr/>
        </p:nvSpPr>
        <p:spPr>
          <a:xfrm rot="10800000" flipV="1">
            <a:off x="9792372" y="2074491"/>
            <a:ext cx="2399625" cy="718991"/>
          </a:xfrm>
          <a:prstGeom prst="round1Rect">
            <a:avLst>
              <a:gd name="adj" fmla="val 2694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TT Hoves Pro Trial" panose="020B0003020000020203" pitchFamily="34" charset="0"/>
              <a:ea typeface="Source Serif Pro" panose="020406030504050202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31120D-F24D-EFED-A99E-C7AEB9747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745259"/>
            <a:ext cx="12654979" cy="284693"/>
          </a:xfrm>
        </p:spPr>
        <p:txBody>
          <a:bodyPr/>
          <a:lstStyle/>
          <a:p>
            <a:r>
              <a:rPr lang="pt-BR" dirty="0"/>
              <a:t>Brasileira opta por produtos de </a:t>
            </a:r>
            <a:r>
              <a:rPr lang="pt-BR" dirty="0" err="1"/>
              <a:t>Bodycare</a:t>
            </a:r>
            <a:r>
              <a:rPr lang="pt-BR" dirty="0"/>
              <a:t> acessíveis, onde a </a:t>
            </a:r>
            <a:r>
              <a:rPr lang="pt-BR" dirty="0" err="1"/>
              <a:t>Biocap</a:t>
            </a:r>
            <a:r>
              <a:rPr lang="pt-BR" dirty="0"/>
              <a:t> está muito bem posicionada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092B63-7113-8057-72A2-D01E7CBE5DB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0" tIns="36000" rIns="0" bIns="0" rtlCol="0">
            <a:spAutoFit/>
          </a:bodyPr>
          <a:lstStyle/>
          <a:p>
            <a:r>
              <a:rPr lang="pt-BR" sz="1050" dirty="0">
                <a:latin typeface="Montserrat Light" pitchFamily="2" charset="0"/>
              </a:rPr>
              <a:t>Preço é um fator crucial na decisão de compra de produtos de </a:t>
            </a:r>
            <a:r>
              <a:rPr lang="pt-BR" sz="1050" dirty="0" err="1">
                <a:latin typeface="Montserrat Light" pitchFamily="2" charset="0"/>
              </a:rPr>
              <a:t>Bodycare</a:t>
            </a:r>
            <a:r>
              <a:rPr lang="pt-BR" sz="1050" dirty="0">
                <a:latin typeface="Montserrat Light" pitchFamily="2" charset="0"/>
              </a:rPr>
              <a:t>, e os produtos da </a:t>
            </a:r>
            <a:r>
              <a:rPr lang="pt-BR" sz="1050" dirty="0" err="1">
                <a:latin typeface="Montserrat Light" pitchFamily="2" charset="0"/>
              </a:rPr>
              <a:t>Biocap</a:t>
            </a:r>
            <a:r>
              <a:rPr lang="pt-BR" sz="1050" dirty="0">
                <a:latin typeface="Montserrat Light" pitchFamily="2" charset="0"/>
              </a:rPr>
              <a:t> se destacam por oferecer preços competitivos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5F4DA3-6038-F745-7DE9-17893D45A3D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pt-BR" dirty="0">
                <a:latin typeface="Montserrat" panose="00000500000000000000" pitchFamily="2" charset="0"/>
              </a:rPr>
              <a:t>Fonte: Pesquisa ICTQ - Preferência do Consumidor de HPC - "Perfil de Consumo HPC“, Elaboração própria baseada nos sites das empresas</a:t>
            </a:r>
          </a:p>
        </p:txBody>
      </p:sp>
      <p:graphicFrame>
        <p:nvGraphicFramePr>
          <p:cNvPr id="1049" name="Chart 1048">
            <a:extLst>
              <a:ext uri="{FF2B5EF4-FFF2-40B4-BE49-F238E27FC236}">
                <a16:creationId xmlns:a16="http://schemas.microsoft.com/office/drawing/2014/main" id="{5EA64F9D-6741-CC04-856C-3FBE31F63E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4480159"/>
              </p:ext>
            </p:extLst>
          </p:nvPr>
        </p:nvGraphicFramePr>
        <p:xfrm>
          <a:off x="731838" y="3602645"/>
          <a:ext cx="3026943" cy="2395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50" name="Content Placeholder 10">
            <a:extLst>
              <a:ext uri="{FF2B5EF4-FFF2-40B4-BE49-F238E27FC236}">
                <a16:creationId xmlns:a16="http://schemas.microsoft.com/office/drawing/2014/main" id="{EC9B3ACA-417A-F1BD-DE50-750E17E278DE}"/>
              </a:ext>
            </a:extLst>
          </p:cNvPr>
          <p:cNvSpPr txBox="1">
            <a:spLocks/>
          </p:cNvSpPr>
          <p:nvPr/>
        </p:nvSpPr>
        <p:spPr>
          <a:xfrm>
            <a:off x="719635" y="3084333"/>
            <a:ext cx="2020475" cy="331497"/>
          </a:xfrm>
          <a:prstGeom prst="rect">
            <a:avLst/>
          </a:prstGeom>
        </p:spPr>
        <p:txBody>
          <a:bodyPr vert="horz" wrap="square" lIns="0" tIns="3600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1pPr>
            <a:lvl2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2pPr>
            <a:lvl3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Source Sans Pro" panose="020B0503030403020204" pitchFamily="34" charset="0"/>
              <a:buChar char="−"/>
              <a:defRPr sz="1200" kern="1200">
                <a:solidFill>
                  <a:schemeClr val="tx1"/>
                </a:solidFill>
                <a:latin typeface="Source Serif Pro Light" panose="02040303050405020204" pitchFamily="18" charset="0"/>
                <a:ea typeface="Source Serif Pro Light" panose="02040303050405020204" pitchFamily="18" charset="0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2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kern="1200">
                <a:solidFill>
                  <a:schemeClr val="accent4"/>
                </a:solidFill>
                <a:latin typeface="Source Serif Pro Black" panose="02040903050405020204" pitchFamily="18" charset="0"/>
                <a:ea typeface="Source Serif Pro Black" panose="02040903050405020204" pitchFamily="18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sz="900" b="0" dirty="0">
                <a:solidFill>
                  <a:srgbClr val="FFFFFF">
                    <a:lumMod val="50000"/>
                  </a:srgbClr>
                </a:solidFill>
                <a:latin typeface="Montserrat" panose="00000500000000000000" pitchFamily="2" charset="0"/>
              </a:rPr>
              <a:t>Fatores que influenciam a compra de produtos cosméticos </a:t>
            </a:r>
            <a:r>
              <a:rPr lang="en-US" sz="900" b="0" dirty="0">
                <a:solidFill>
                  <a:srgbClr val="FFFFFF">
                    <a:lumMod val="50000"/>
                  </a:srgbClr>
                </a:solidFill>
                <a:latin typeface="Montserrat" panose="00000500000000000000" pitchFamily="2" charset="0"/>
              </a:rPr>
              <a:t>(%)</a:t>
            </a:r>
            <a:endParaRPr lang="pt-BR" sz="900" b="0" dirty="0">
              <a:solidFill>
                <a:srgbClr val="FFFFFF">
                  <a:lumMod val="50000"/>
                </a:srgbClr>
              </a:solidFill>
              <a:latin typeface="Montserrat" panose="0000050000000000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3E24AD-CD65-12B1-4D9F-894CBB9656F9}"/>
              </a:ext>
            </a:extLst>
          </p:cNvPr>
          <p:cNvSpPr txBox="1"/>
          <p:nvPr/>
        </p:nvSpPr>
        <p:spPr>
          <a:xfrm>
            <a:off x="2052655" y="1704804"/>
            <a:ext cx="1539237" cy="9541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defTabSz="936000">
              <a:buClr>
                <a:schemeClr val="accent1"/>
              </a:buClr>
            </a:pPr>
            <a:r>
              <a:rPr lang="pt-BR" sz="1400" b="1" dirty="0">
                <a:solidFill>
                  <a:schemeClr val="bg1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Consumidores são altamente sensíveis aos preços...</a:t>
            </a:r>
          </a:p>
        </p:txBody>
      </p:sp>
      <p:sp>
        <p:nvSpPr>
          <p:cNvPr id="24" name="Content Placeholder 4">
            <a:extLst>
              <a:ext uri="{FF2B5EF4-FFF2-40B4-BE49-F238E27FC236}">
                <a16:creationId xmlns:a16="http://schemas.microsoft.com/office/drawing/2014/main" id="{89EFC538-E3CD-5EEE-3D83-AFA20362A8C2}"/>
              </a:ext>
            </a:extLst>
          </p:cNvPr>
          <p:cNvSpPr txBox="1">
            <a:spLocks/>
          </p:cNvSpPr>
          <p:nvPr/>
        </p:nvSpPr>
        <p:spPr>
          <a:xfrm>
            <a:off x="4780978" y="2435485"/>
            <a:ext cx="3415180" cy="2532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lnSpc>
                <a:spcPct val="112000"/>
              </a:lnSpc>
              <a:defRPr sz="1600">
                <a:latin typeface="TT Hoves Pro Trial Medium" panose="020B0003020000020203"/>
                <a:ea typeface="Source Serif Pro Black" panose="02040903050405020204" pitchFamily="18" charset="0"/>
              </a:defRPr>
            </a:lvl1pPr>
            <a:lvl2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00" kern="1200" spc="-20" baseline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defRPr>
            </a:lvl2pPr>
            <a:lvl3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Source Sans Pro" panose="020B0503030403020204" pitchFamily="34" charset="0"/>
              <a:buChar char="−"/>
              <a:defRPr sz="1000" kern="1200" spc="-20" baseline="0">
                <a:solidFill>
                  <a:schemeClr val="tx2"/>
                </a:solidFill>
                <a:latin typeface="TT Hoves Pro Trial" panose="020B0003020000020203" pitchFamily="34" charset="0"/>
                <a:ea typeface="Source Serif Pro Light" panose="02040303050405020204" pitchFamily="18" charset="0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100" b="0" kern="1200" spc="-20" baseline="0">
                <a:solidFill>
                  <a:schemeClr val="tx2"/>
                </a:solidFill>
                <a:latin typeface="TT Hoves Pro Trial Medium" panose="020B0003020000020203" pitchFamily="34" charset="0"/>
                <a:ea typeface="Source Serif Pro" panose="02040603050405020204" pitchFamily="18" charset="0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000" kern="1200">
                <a:solidFill>
                  <a:schemeClr val="tx2"/>
                </a:solidFill>
                <a:latin typeface="TT Hoves Pro Trial "/>
                <a:ea typeface="Source Serif Pro Black" panose="02040903050405020204" pitchFamily="18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000" spc="-20" dirty="0">
                <a:solidFill>
                  <a:schemeClr val="bg1"/>
                </a:solidFill>
                <a:latin typeface="Montserrat" pitchFamily="2" charset="0"/>
                <a:ea typeface="+mn-ea"/>
              </a:rPr>
              <a:t>Distribuição do Preço Loção Hidratante  ~500ml</a:t>
            </a:r>
            <a:endParaRPr lang="pt-BR" sz="1000" spc="-20" dirty="0">
              <a:solidFill>
                <a:schemeClr val="bg1"/>
              </a:solidFill>
              <a:latin typeface="Montserrat Medium" pitchFamily="2" charset="0"/>
              <a:ea typeface="Source Serif Pro" panose="02040603050405020204" pitchFamily="18" charset="0"/>
            </a:endParaRPr>
          </a:p>
        </p:txBody>
      </p:sp>
      <p:sp>
        <p:nvSpPr>
          <p:cNvPr id="1083" name="TextBox 1082">
            <a:extLst>
              <a:ext uri="{FF2B5EF4-FFF2-40B4-BE49-F238E27FC236}">
                <a16:creationId xmlns:a16="http://schemas.microsoft.com/office/drawing/2014/main" id="{E0ED8A20-7D99-6231-A3EF-12906A79A82C}"/>
              </a:ext>
            </a:extLst>
          </p:cNvPr>
          <p:cNvSpPr txBox="1"/>
          <p:nvPr/>
        </p:nvSpPr>
        <p:spPr>
          <a:xfrm>
            <a:off x="4221018" y="1739684"/>
            <a:ext cx="553188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defTabSz="936000">
              <a:buClr>
                <a:schemeClr val="accent1"/>
              </a:buClr>
            </a:pPr>
            <a:r>
              <a:rPr lang="pt-BR" sz="1400" b="1" dirty="0">
                <a:solidFill>
                  <a:schemeClr val="tx2">
                    <a:lumMod val="10000"/>
                    <a:lumOff val="90000"/>
                  </a:schemeClr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... e a </a:t>
            </a:r>
            <a:r>
              <a:rPr lang="pt-BR" sz="1400" b="1" dirty="0" err="1">
                <a:solidFill>
                  <a:schemeClr val="tx2">
                    <a:lumMod val="10000"/>
                    <a:lumOff val="90000"/>
                  </a:schemeClr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Biocap</a:t>
            </a:r>
            <a:r>
              <a:rPr lang="pt-BR" sz="1400" b="1" dirty="0">
                <a:solidFill>
                  <a:schemeClr val="tx2">
                    <a:lumMod val="10000"/>
                    <a:lumOff val="90000"/>
                  </a:schemeClr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 atende a necessidade do consumidor, destacando-se como uma opção acessível e competitiva 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DFD040E-B1E0-0683-6EE6-29C556256F36}"/>
              </a:ext>
            </a:extLst>
          </p:cNvPr>
          <p:cNvGrpSpPr/>
          <p:nvPr/>
        </p:nvGrpSpPr>
        <p:grpSpPr>
          <a:xfrm>
            <a:off x="6494975" y="2975741"/>
            <a:ext cx="2423094" cy="2555768"/>
            <a:chOff x="6632998" y="2975741"/>
            <a:chExt cx="2423094" cy="255576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24A83586-8942-69EA-660C-DF69859EF158}"/>
                </a:ext>
              </a:extLst>
            </p:cNvPr>
            <p:cNvGrpSpPr/>
            <p:nvPr/>
          </p:nvGrpSpPr>
          <p:grpSpPr>
            <a:xfrm>
              <a:off x="6761244" y="5165016"/>
              <a:ext cx="2236044" cy="366493"/>
              <a:chOff x="6761244" y="5165016"/>
              <a:chExt cx="2236044" cy="366493"/>
            </a:xfrm>
          </p:grpSpPr>
          <p:pic>
            <p:nvPicPr>
              <p:cNvPr id="5134" name="Picture 14" descr="The Body Shop Logo PNG Vectors Free Download">
                <a:extLst>
                  <a:ext uri="{FF2B5EF4-FFF2-40B4-BE49-F238E27FC236}">
                    <a16:creationId xmlns:a16="http://schemas.microsoft.com/office/drawing/2014/main" id="{01476EC6-BE53-35C5-8885-8BF2D3E71B8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61244" y="5165016"/>
                <a:ext cx="372704" cy="36649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148" name="Picture 28" descr="Cetaphil - Apotek 1">
                <a:extLst>
                  <a:ext uri="{FF2B5EF4-FFF2-40B4-BE49-F238E27FC236}">
                    <a16:creationId xmlns:a16="http://schemas.microsoft.com/office/drawing/2014/main" id="{4E6486D7-74FD-44B7-F2A0-13ECC9BA999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15224" y="5185698"/>
                <a:ext cx="616032" cy="32512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6" name="Picture 12">
                <a:extLst>
                  <a:ext uri="{FF2B5EF4-FFF2-40B4-BE49-F238E27FC236}">
                    <a16:creationId xmlns:a16="http://schemas.microsoft.com/office/drawing/2014/main" id="{59E032BB-C7B3-1DFF-DFF8-55346BD3562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07" t="18512" r="107" b="16015"/>
              <a:stretch/>
            </p:blipFill>
            <p:spPr bwMode="auto">
              <a:xfrm>
                <a:off x="8414880" y="5247482"/>
                <a:ext cx="582408" cy="20156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F224FD5-7500-B96D-7F04-B37EE8E5760F}"/>
                </a:ext>
              </a:extLst>
            </p:cNvPr>
            <p:cNvGrpSpPr/>
            <p:nvPr/>
          </p:nvGrpSpPr>
          <p:grpSpPr>
            <a:xfrm>
              <a:off x="6632998" y="2975741"/>
              <a:ext cx="2376716" cy="423642"/>
              <a:chOff x="6632998" y="2975741"/>
              <a:chExt cx="2376716" cy="423642"/>
            </a:xfrm>
          </p:grpSpPr>
          <p:pic>
            <p:nvPicPr>
              <p:cNvPr id="5130" name="Picture 10" descr="Hydratta – Flora">
                <a:extLst>
                  <a:ext uri="{FF2B5EF4-FFF2-40B4-BE49-F238E27FC236}">
                    <a16:creationId xmlns:a16="http://schemas.microsoft.com/office/drawing/2014/main" id="{FBF4780E-CB19-4556-BCBA-FC3046F4B7A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32998" y="3012213"/>
                <a:ext cx="629196" cy="38117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136" name="Picture 16" descr="L'Occitane Logo, symbol, meaning, history, PNG, brand">
                <a:extLst>
                  <a:ext uri="{FF2B5EF4-FFF2-40B4-BE49-F238E27FC236}">
                    <a16:creationId xmlns:a16="http://schemas.microsoft.com/office/drawing/2014/main" id="{94C3ED44-039E-962F-467C-2F1E11ECFDD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44990" y="2975741"/>
                <a:ext cx="756500" cy="42364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150" name="Picture 30">
                <a:extLst>
                  <a:ext uri="{FF2B5EF4-FFF2-40B4-BE49-F238E27FC236}">
                    <a16:creationId xmlns:a16="http://schemas.microsoft.com/office/drawing/2014/main" id="{FBCBA1B4-7F0A-F371-8DEC-75C35794F0C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38034" y="3085366"/>
                <a:ext cx="571680" cy="23486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6B9EAFF-064B-BA6C-87F8-A83B70987D01}"/>
                </a:ext>
              </a:extLst>
            </p:cNvPr>
            <p:cNvGrpSpPr/>
            <p:nvPr/>
          </p:nvGrpSpPr>
          <p:grpSpPr>
            <a:xfrm>
              <a:off x="6638113" y="3524440"/>
              <a:ext cx="2392344" cy="599193"/>
              <a:chOff x="6638113" y="3601085"/>
              <a:chExt cx="2392344" cy="599193"/>
            </a:xfrm>
          </p:grpSpPr>
          <p:pic>
            <p:nvPicPr>
              <p:cNvPr id="33" name="Picture 44" descr="Máscara Incolor 3 em 1 Vult 2,5g | VULT">
                <a:extLst>
                  <a:ext uri="{FF2B5EF4-FFF2-40B4-BE49-F238E27FC236}">
                    <a16:creationId xmlns:a16="http://schemas.microsoft.com/office/drawing/2014/main" id="{78563467-CFE7-40CC-E916-EF51E18B086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289" t="26382" r="15470" b="22623"/>
              <a:stretch/>
            </p:blipFill>
            <p:spPr bwMode="auto">
              <a:xfrm>
                <a:off x="6638113" y="3819021"/>
                <a:ext cx="618965" cy="2396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138" name="Picture 18" descr="Mantecorp Skincare added a new photo. - Mantecorp Skincare">
                <a:extLst>
                  <a:ext uri="{FF2B5EF4-FFF2-40B4-BE49-F238E27FC236}">
                    <a16:creationId xmlns:a16="http://schemas.microsoft.com/office/drawing/2014/main" id="{0D7D3D85-7DFA-0BD1-2E82-1F3EBA5E8FB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23643" y="3601085"/>
                <a:ext cx="599193" cy="59919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152" name="Picture 32" descr="ISDIN - By Brand - Products">
                <a:extLst>
                  <a:ext uri="{FF2B5EF4-FFF2-40B4-BE49-F238E27FC236}">
                    <a16:creationId xmlns:a16="http://schemas.microsoft.com/office/drawing/2014/main" id="{131C3E78-D8D7-AB8A-2217-8FF48AA3487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07325" y="3760810"/>
                <a:ext cx="623132" cy="35607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1EBE737-38C0-CC41-5631-4B71DA1AD2EA}"/>
                </a:ext>
              </a:extLst>
            </p:cNvPr>
            <p:cNvGrpSpPr/>
            <p:nvPr/>
          </p:nvGrpSpPr>
          <p:grpSpPr>
            <a:xfrm>
              <a:off x="6655867" y="4427410"/>
              <a:ext cx="2400225" cy="406725"/>
              <a:chOff x="6655867" y="4491991"/>
              <a:chExt cx="2400225" cy="406725"/>
            </a:xfrm>
          </p:grpSpPr>
          <p:pic>
            <p:nvPicPr>
              <p:cNvPr id="5132" name="Picture 12" descr="Granado Pharmácias Logo PNG Vector (AI) Free Download">
                <a:extLst>
                  <a:ext uri="{FF2B5EF4-FFF2-40B4-BE49-F238E27FC236}">
                    <a16:creationId xmlns:a16="http://schemas.microsoft.com/office/drawing/2014/main" id="{FC16DEC5-C003-7052-F489-2C2E6677029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55867" y="4610034"/>
                <a:ext cx="583458" cy="25477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146" name="Picture 26" descr="Neutrogena Logo and symbol, meaning, history, PNG, brand">
                <a:extLst>
                  <a:ext uri="{FF2B5EF4-FFF2-40B4-BE49-F238E27FC236}">
                    <a16:creationId xmlns:a16="http://schemas.microsoft.com/office/drawing/2014/main" id="{4AE3E19E-64DD-1574-F756-D60DA85B579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60093" y="4491991"/>
                <a:ext cx="726294" cy="4067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154" name="Picture 34" descr="Bioderma Logo and symbol, meaning, history, PNG, brand">
                <a:extLst>
                  <a:ext uri="{FF2B5EF4-FFF2-40B4-BE49-F238E27FC236}">
                    <a16:creationId xmlns:a16="http://schemas.microsoft.com/office/drawing/2014/main" id="{85F42CDE-275C-B0BB-4087-20F6EA78B3C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81690" y="4505678"/>
                <a:ext cx="674402" cy="3793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45" name="Picture 8" descr="Vichy Logo PNG Transparent – Brands Logos">
            <a:extLst>
              <a:ext uri="{FF2B5EF4-FFF2-40B4-BE49-F238E27FC236}">
                <a16:creationId xmlns:a16="http://schemas.microsoft.com/office/drawing/2014/main" id="{63F089CB-7B83-7F94-8577-C06E080628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00" b="32533"/>
          <a:stretch/>
        </p:blipFill>
        <p:spPr bwMode="auto">
          <a:xfrm>
            <a:off x="9930838" y="3934507"/>
            <a:ext cx="527178" cy="173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30">
            <a:extLst>
              <a:ext uri="{FF2B5EF4-FFF2-40B4-BE49-F238E27FC236}">
                <a16:creationId xmlns:a16="http://schemas.microsoft.com/office/drawing/2014/main" id="{6CE77FEA-4B54-B084-E121-F7CCE2266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4409" y="3468384"/>
            <a:ext cx="660036" cy="269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36" descr="Avene Logo, symbol, meaning, history, PNG, brand">
            <a:extLst>
              <a:ext uri="{FF2B5EF4-FFF2-40B4-BE49-F238E27FC236}">
                <a16:creationId xmlns:a16="http://schemas.microsoft.com/office/drawing/2014/main" id="{2AD185D2-3CDB-D740-E5FC-846B788D5B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709" b="1"/>
          <a:stretch/>
        </p:blipFill>
        <p:spPr bwMode="auto">
          <a:xfrm>
            <a:off x="9903462" y="3103020"/>
            <a:ext cx="581931" cy="169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56" name="Picture 36" descr="Clarins Logo PNG Vectors Free Download">
            <a:extLst>
              <a:ext uri="{FF2B5EF4-FFF2-40B4-BE49-F238E27FC236}">
                <a16:creationId xmlns:a16="http://schemas.microsoft.com/office/drawing/2014/main" id="{4D57D827-018C-668C-A351-70239F6C0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9467" y="4760995"/>
            <a:ext cx="589920" cy="257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58" name="Picture 38">
            <a:extLst>
              <a:ext uri="{FF2B5EF4-FFF2-40B4-BE49-F238E27FC236}">
                <a16:creationId xmlns:a16="http://schemas.microsoft.com/office/drawing/2014/main" id="{A34316A4-3439-5E95-E30B-887C9E6A57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8483" y="5214871"/>
            <a:ext cx="531888" cy="266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60" name="Picture 40" descr="Sampleo - Adcos - Stick Ultraleve FPS50">
            <a:extLst>
              <a:ext uri="{FF2B5EF4-FFF2-40B4-BE49-F238E27FC236}">
                <a16:creationId xmlns:a16="http://schemas.microsoft.com/office/drawing/2014/main" id="{3955BB26-83F2-E129-AF57-7A2AF229A3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0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81" b="31035"/>
          <a:stretch/>
        </p:blipFill>
        <p:spPr bwMode="auto">
          <a:xfrm>
            <a:off x="9850309" y="4304672"/>
            <a:ext cx="688236" cy="260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2">
            <a:extLst>
              <a:ext uri="{FF2B5EF4-FFF2-40B4-BE49-F238E27FC236}">
                <a16:creationId xmlns:a16="http://schemas.microsoft.com/office/drawing/2014/main" id="{8A953669-79DE-795D-EFED-12B8D2B153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biLevel thresh="75000"/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9327" y="4653855"/>
            <a:ext cx="369555" cy="365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Creme de Tratamento Skala Genetiqs 1kg | Lojas Bella Cosméticos">
            <a:extLst>
              <a:ext uri="{FF2B5EF4-FFF2-40B4-BE49-F238E27FC236}">
                <a16:creationId xmlns:a16="http://schemas.microsoft.com/office/drawing/2014/main" id="{808CED06-7475-F82A-23B6-E5CEE50D6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BEBA8EAE-BF5A-486C-A8C5-ECC9F3942E4B}">
                <a14:imgProps xmlns:a14="http://schemas.microsoft.com/office/drawing/2010/main">
                  <a14:imgLayer r:embed="rId2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6593" y="3505900"/>
            <a:ext cx="475022" cy="249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Monange Logo PNG Vector (EPS) Free Download">
            <a:extLst>
              <a:ext uri="{FF2B5EF4-FFF2-40B4-BE49-F238E27FC236}">
                <a16:creationId xmlns:a16="http://schemas.microsoft.com/office/drawing/2014/main" id="{3B45920A-765E-6F94-2F49-18C93DA5DE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4084" y="3910239"/>
            <a:ext cx="630211" cy="254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Paixao - Customer Brand - Coty">
            <a:extLst>
              <a:ext uri="{FF2B5EF4-FFF2-40B4-BE49-F238E27FC236}">
                <a16:creationId xmlns:a16="http://schemas.microsoft.com/office/drawing/2014/main" id="{FEBB6EE9-D882-EE72-AC98-2AC1AE6E6C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7438" y="4319377"/>
            <a:ext cx="513334" cy="179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Davene | Beleza na Web">
            <a:extLst>
              <a:ext uri="{FF2B5EF4-FFF2-40B4-BE49-F238E27FC236}">
                <a16:creationId xmlns:a16="http://schemas.microsoft.com/office/drawing/2014/main" id="{588A3966-0193-858F-2404-3591685AD3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5289" y="5109947"/>
            <a:ext cx="897629" cy="476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62" name="Picture 42" descr="Hidramais - Plena Cosméticos">
            <a:extLst>
              <a:ext uri="{FF2B5EF4-FFF2-40B4-BE49-F238E27FC236}">
                <a16:creationId xmlns:a16="http://schemas.microsoft.com/office/drawing/2014/main" id="{58316040-78AE-9A93-3878-BD76CCE52C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10" b="28877"/>
          <a:stretch/>
        </p:blipFill>
        <p:spPr bwMode="auto">
          <a:xfrm>
            <a:off x="4745644" y="3024177"/>
            <a:ext cx="956400" cy="326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5" name="Rectangle 1084">
            <a:extLst>
              <a:ext uri="{FF2B5EF4-FFF2-40B4-BE49-F238E27FC236}">
                <a16:creationId xmlns:a16="http://schemas.microsoft.com/office/drawing/2014/main" id="{0FB35EA3-A264-CF0D-8E89-E37C7681EF21}"/>
              </a:ext>
            </a:extLst>
          </p:cNvPr>
          <p:cNvSpPr/>
          <p:nvPr/>
        </p:nvSpPr>
        <p:spPr>
          <a:xfrm>
            <a:off x="4482893" y="5797561"/>
            <a:ext cx="1464902" cy="1920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r>
              <a:rPr lang="pt-BR" sz="800" b="1" dirty="0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25% </a:t>
            </a:r>
            <a:r>
              <a:rPr lang="pt-BR" sz="800" dirty="0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mais baratos</a:t>
            </a:r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2E10C5D7-76C9-2B7A-A5E2-4A1B9CBF3523}"/>
              </a:ext>
            </a:extLst>
          </p:cNvPr>
          <p:cNvSpPr/>
          <p:nvPr/>
        </p:nvSpPr>
        <p:spPr>
          <a:xfrm>
            <a:off x="9716640" y="5797561"/>
            <a:ext cx="1222912" cy="1920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r>
              <a:rPr lang="pt-BR" sz="800" b="1" dirty="0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25%</a:t>
            </a:r>
            <a:r>
              <a:rPr lang="pt-BR" sz="800" dirty="0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 mais caros</a:t>
            </a:r>
          </a:p>
        </p:txBody>
      </p:sp>
      <p:sp>
        <p:nvSpPr>
          <p:cNvPr id="1087" name="Content Placeholder 4">
            <a:extLst>
              <a:ext uri="{FF2B5EF4-FFF2-40B4-BE49-F238E27FC236}">
                <a16:creationId xmlns:a16="http://schemas.microsoft.com/office/drawing/2014/main" id="{D7C7BC5C-7EB0-18A3-2C68-7ADB3E86993E}"/>
              </a:ext>
            </a:extLst>
          </p:cNvPr>
          <p:cNvSpPr txBox="1">
            <a:spLocks/>
          </p:cNvSpPr>
          <p:nvPr/>
        </p:nvSpPr>
        <p:spPr>
          <a:xfrm>
            <a:off x="9963509" y="2178756"/>
            <a:ext cx="1013321" cy="51046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pt-BR"/>
            </a:defPPr>
            <a:lvl1pPr>
              <a:lnSpc>
                <a:spcPct val="112000"/>
              </a:lnSpc>
              <a:defRPr sz="1600">
                <a:latin typeface="TT Hoves Pro Trial Medium" panose="020B0003020000020203"/>
                <a:ea typeface="Source Serif Pro Black" panose="02040903050405020204" pitchFamily="18" charset="0"/>
              </a:defRPr>
            </a:lvl1pPr>
            <a:lvl2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00" kern="1200" spc="-20" baseline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defRPr>
            </a:lvl2pPr>
            <a:lvl3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Source Sans Pro" panose="020B0503030403020204" pitchFamily="34" charset="0"/>
              <a:buChar char="−"/>
              <a:defRPr sz="1000" kern="1200" spc="-20" baseline="0">
                <a:solidFill>
                  <a:schemeClr val="tx2"/>
                </a:solidFill>
                <a:latin typeface="TT Hoves Pro Trial" panose="020B0003020000020203" pitchFamily="34" charset="0"/>
                <a:ea typeface="Source Serif Pro Light" panose="02040303050405020204" pitchFamily="18" charset="0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100" b="0" kern="1200" spc="-20" baseline="0">
                <a:solidFill>
                  <a:schemeClr val="tx2"/>
                </a:solidFill>
                <a:latin typeface="TT Hoves Pro Trial Medium" panose="020B0003020000020203" pitchFamily="34" charset="0"/>
                <a:ea typeface="Source Serif Pro" panose="02040603050405020204" pitchFamily="18" charset="0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000" kern="1200">
                <a:solidFill>
                  <a:schemeClr val="tx2"/>
                </a:solidFill>
                <a:latin typeface="TT Hoves Pro Trial "/>
                <a:ea typeface="Source Serif Pro Black" panose="02040903050405020204" pitchFamily="18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pt-BR" sz="1000" spc="-20" dirty="0" err="1">
                <a:latin typeface="Montserrat" pitchFamily="2" charset="0"/>
                <a:ea typeface="+mn-ea"/>
              </a:rPr>
              <a:t>Hidramais</a:t>
            </a:r>
            <a:r>
              <a:rPr lang="pt-BR" sz="1000" spc="-20" dirty="0">
                <a:latin typeface="Montserrat" pitchFamily="2" charset="0"/>
                <a:ea typeface="+mn-ea"/>
              </a:rPr>
              <a:t>: </a:t>
            </a:r>
            <a:r>
              <a:rPr lang="pt-BR" sz="1200" b="1" spc="-20" dirty="0">
                <a:latin typeface="Montserrat" pitchFamily="2" charset="0"/>
                <a:ea typeface="+mn-ea"/>
              </a:rPr>
              <a:t>R$ 15,60</a:t>
            </a:r>
            <a:endParaRPr lang="pt-BR" sz="1000" b="1" spc="-20" dirty="0">
              <a:latin typeface="Montserrat Medium" pitchFamily="2" charset="0"/>
              <a:ea typeface="Source Serif Pro" panose="02040603050405020204" pitchFamily="18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DAD5A1F-B073-F7AD-386A-972DCB133F43}"/>
              </a:ext>
            </a:extLst>
          </p:cNvPr>
          <p:cNvGrpSpPr/>
          <p:nvPr/>
        </p:nvGrpSpPr>
        <p:grpSpPr>
          <a:xfrm>
            <a:off x="10907325" y="1464554"/>
            <a:ext cx="1172313" cy="1267743"/>
            <a:chOff x="8919099" y="4512897"/>
            <a:chExt cx="663538" cy="717552"/>
          </a:xfrm>
        </p:grpSpPr>
        <p:pic>
          <p:nvPicPr>
            <p:cNvPr id="7" name="Picture 6" descr="A group of bottles of shampoo&#10;&#10;Description automatically generated">
              <a:extLst>
                <a:ext uri="{FF2B5EF4-FFF2-40B4-BE49-F238E27FC236}">
                  <a16:creationId xmlns:a16="http://schemas.microsoft.com/office/drawing/2014/main" id="{550C26FA-826F-806E-3045-9A25FB755C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679" r="84264"/>
            <a:stretch/>
          </p:blipFill>
          <p:spPr>
            <a:xfrm>
              <a:off x="8919099" y="4528586"/>
              <a:ext cx="254794" cy="686173"/>
            </a:xfrm>
            <a:prstGeom prst="rect">
              <a:avLst/>
            </a:prstGeom>
          </p:spPr>
        </p:pic>
        <p:pic>
          <p:nvPicPr>
            <p:cNvPr id="8" name="Picture 7" descr="A group of bottles of shampoo&#10;&#10;Description automatically generated">
              <a:extLst>
                <a:ext uri="{FF2B5EF4-FFF2-40B4-BE49-F238E27FC236}">
                  <a16:creationId xmlns:a16="http://schemas.microsoft.com/office/drawing/2014/main" id="{59B4B1DD-E69F-A8CE-5676-9CDF928348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758" r="42827"/>
            <a:stretch/>
          </p:blipFill>
          <p:spPr>
            <a:xfrm>
              <a:off x="9327843" y="4528586"/>
              <a:ext cx="254794" cy="686173"/>
            </a:xfrm>
            <a:prstGeom prst="rect">
              <a:avLst/>
            </a:prstGeom>
          </p:spPr>
        </p:pic>
        <p:pic>
          <p:nvPicPr>
            <p:cNvPr id="9" name="Picture 8" descr="A group of bottles of shampoo&#10;&#10;Description automatically generated">
              <a:extLst>
                <a:ext uri="{FF2B5EF4-FFF2-40B4-BE49-F238E27FC236}">
                  <a16:creationId xmlns:a16="http://schemas.microsoft.com/office/drawing/2014/main" id="{684559E4-7410-876C-B1D1-E22329AF0F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740" r="63845"/>
            <a:stretch/>
          </p:blipFill>
          <p:spPr>
            <a:xfrm>
              <a:off x="9117645" y="4512897"/>
              <a:ext cx="266446" cy="717552"/>
            </a:xfrm>
            <a:prstGeom prst="rect">
              <a:avLst/>
            </a:prstGeom>
          </p:spPr>
        </p:pic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2A237B89-266A-0A65-F9C3-9004DCE7AFD6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1197194" y="2784661"/>
            <a:ext cx="1010533" cy="320497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89E4A979-F7CE-E92D-78BF-A984F3FE458B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1" t="6874" r="67778" b="1071"/>
          <a:stretch/>
        </p:blipFill>
        <p:spPr>
          <a:xfrm>
            <a:off x="0" y="1490487"/>
            <a:ext cx="1765822" cy="1407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044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Rectangle 1114">
            <a:extLst>
              <a:ext uri="{FF2B5EF4-FFF2-40B4-BE49-F238E27FC236}">
                <a16:creationId xmlns:a16="http://schemas.microsoft.com/office/drawing/2014/main" id="{23E573D2-7ACF-D32F-4423-CA98379AA6D6}"/>
              </a:ext>
            </a:extLst>
          </p:cNvPr>
          <p:cNvSpPr/>
          <p:nvPr/>
        </p:nvSpPr>
        <p:spPr>
          <a:xfrm>
            <a:off x="9996866" y="1549244"/>
            <a:ext cx="2195134" cy="2791475"/>
          </a:xfrm>
          <a:prstGeom prst="rect">
            <a:avLst/>
          </a:prstGeom>
          <a:solidFill>
            <a:srgbClr val="F5E8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1121" name="Rectangle: Single Corner Rounded 1120">
            <a:extLst>
              <a:ext uri="{FF2B5EF4-FFF2-40B4-BE49-F238E27FC236}">
                <a16:creationId xmlns:a16="http://schemas.microsoft.com/office/drawing/2014/main" id="{B80A24D9-7B89-0825-3021-ECC4107BF684}"/>
              </a:ext>
            </a:extLst>
          </p:cNvPr>
          <p:cNvSpPr/>
          <p:nvPr/>
        </p:nvSpPr>
        <p:spPr>
          <a:xfrm flipH="1">
            <a:off x="5975948" y="1549244"/>
            <a:ext cx="1822085" cy="2791475"/>
          </a:xfrm>
          <a:prstGeom prst="round1Rect">
            <a:avLst/>
          </a:prstGeom>
          <a:solidFill>
            <a:srgbClr val="EFD2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1072" name="Rectangle 1071">
            <a:extLst>
              <a:ext uri="{FF2B5EF4-FFF2-40B4-BE49-F238E27FC236}">
                <a16:creationId xmlns:a16="http://schemas.microsoft.com/office/drawing/2014/main" id="{E5493CF0-BA33-02DF-D6F8-D8623F97DB1A}"/>
              </a:ext>
            </a:extLst>
          </p:cNvPr>
          <p:cNvSpPr/>
          <p:nvPr/>
        </p:nvSpPr>
        <p:spPr>
          <a:xfrm>
            <a:off x="-366398" y="4154108"/>
            <a:ext cx="12558398" cy="1826516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en-US" sz="1000" dirty="0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pic>
        <p:nvPicPr>
          <p:cNvPr id="1126" name="Picture 1125">
            <a:extLst>
              <a:ext uri="{FF2B5EF4-FFF2-40B4-BE49-F238E27FC236}">
                <a16:creationId xmlns:a16="http://schemas.microsoft.com/office/drawing/2014/main" id="{E8454404-6FA6-DAC9-FB2F-194C29BE50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4" r="2621" b="585"/>
          <a:stretch/>
        </p:blipFill>
        <p:spPr>
          <a:xfrm>
            <a:off x="7794411" y="1551898"/>
            <a:ext cx="2563816" cy="2602209"/>
          </a:xfrm>
          <a:prstGeom prst="rect">
            <a:avLst/>
          </a:prstGeom>
        </p:spPr>
      </p:pic>
      <p:sp>
        <p:nvSpPr>
          <p:cNvPr id="1150" name="Rectangle: Single Corner Rounded 1149">
            <a:extLst>
              <a:ext uri="{FF2B5EF4-FFF2-40B4-BE49-F238E27FC236}">
                <a16:creationId xmlns:a16="http://schemas.microsoft.com/office/drawing/2014/main" id="{34CF1CFE-913C-3EAE-6E21-84B560410795}"/>
              </a:ext>
            </a:extLst>
          </p:cNvPr>
          <p:cNvSpPr/>
          <p:nvPr/>
        </p:nvSpPr>
        <p:spPr>
          <a:xfrm>
            <a:off x="1726374" y="5035381"/>
            <a:ext cx="4063537" cy="945242"/>
          </a:xfrm>
          <a:prstGeom prst="round1Rect">
            <a:avLst/>
          </a:prstGeom>
          <a:solidFill>
            <a:srgbClr val="FDC9C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en-US" sz="1200" dirty="0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1151" name="Rectangle: Single Corner Rounded 1150">
            <a:extLst>
              <a:ext uri="{FF2B5EF4-FFF2-40B4-BE49-F238E27FC236}">
                <a16:creationId xmlns:a16="http://schemas.microsoft.com/office/drawing/2014/main" id="{E2B8BD50-0C17-AF21-47D9-B1AE6B549041}"/>
              </a:ext>
            </a:extLst>
          </p:cNvPr>
          <p:cNvSpPr/>
          <p:nvPr/>
        </p:nvSpPr>
        <p:spPr>
          <a:xfrm>
            <a:off x="1659699" y="4150834"/>
            <a:ext cx="3546401" cy="886075"/>
          </a:xfrm>
          <a:prstGeom prst="round1Rect">
            <a:avLst/>
          </a:prstGeom>
          <a:solidFill>
            <a:srgbClr val="FDC9CD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en-US" sz="1200" dirty="0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1068" name="Rectangle: Single Corner Rounded 1067">
            <a:extLst>
              <a:ext uri="{FF2B5EF4-FFF2-40B4-BE49-F238E27FC236}">
                <a16:creationId xmlns:a16="http://schemas.microsoft.com/office/drawing/2014/main" id="{2E6B7F6D-C0FD-AD71-5C97-424BBBA780F9}"/>
              </a:ext>
            </a:extLst>
          </p:cNvPr>
          <p:cNvSpPr/>
          <p:nvPr/>
        </p:nvSpPr>
        <p:spPr>
          <a:xfrm>
            <a:off x="-396558" y="3199249"/>
            <a:ext cx="4752000" cy="1002895"/>
          </a:xfrm>
          <a:prstGeom prst="round1Rect">
            <a:avLst/>
          </a:prstGeom>
          <a:solidFill>
            <a:srgbClr val="FDC9CD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en-US" sz="1200" dirty="0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1070" name="Rectangle: Single Corner Rounded 1069">
            <a:extLst>
              <a:ext uri="{FF2B5EF4-FFF2-40B4-BE49-F238E27FC236}">
                <a16:creationId xmlns:a16="http://schemas.microsoft.com/office/drawing/2014/main" id="{5C2437E4-681E-75AD-9AD5-2A238FA292EA}"/>
              </a:ext>
            </a:extLst>
          </p:cNvPr>
          <p:cNvSpPr/>
          <p:nvPr/>
        </p:nvSpPr>
        <p:spPr>
          <a:xfrm>
            <a:off x="-396558" y="2347548"/>
            <a:ext cx="4063537" cy="853080"/>
          </a:xfrm>
          <a:prstGeom prst="round1Rect">
            <a:avLst/>
          </a:prstGeom>
          <a:solidFill>
            <a:srgbClr val="FDC9CD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en-US" sz="1200" dirty="0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1071" name="Rectangle: Single Corner Rounded 1070">
            <a:extLst>
              <a:ext uri="{FF2B5EF4-FFF2-40B4-BE49-F238E27FC236}">
                <a16:creationId xmlns:a16="http://schemas.microsoft.com/office/drawing/2014/main" id="{7E69C5AB-C8FE-9FA8-586F-D4D9C15FDE31}"/>
              </a:ext>
            </a:extLst>
          </p:cNvPr>
          <p:cNvSpPr/>
          <p:nvPr/>
        </p:nvSpPr>
        <p:spPr>
          <a:xfrm>
            <a:off x="-394415" y="1549245"/>
            <a:ext cx="3546401" cy="799682"/>
          </a:xfrm>
          <a:prstGeom prst="round1Rect">
            <a:avLst/>
          </a:prstGeom>
          <a:solidFill>
            <a:srgbClr val="FDC9CD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en-US" sz="1200" dirty="0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grpSp>
        <p:nvGrpSpPr>
          <p:cNvPr id="1149" name="Group 1148">
            <a:extLst>
              <a:ext uri="{FF2B5EF4-FFF2-40B4-BE49-F238E27FC236}">
                <a16:creationId xmlns:a16="http://schemas.microsoft.com/office/drawing/2014/main" id="{73BCEF64-E75D-CF4E-BD37-4C11B0C023AA}"/>
              </a:ext>
            </a:extLst>
          </p:cNvPr>
          <p:cNvGrpSpPr/>
          <p:nvPr/>
        </p:nvGrpSpPr>
        <p:grpSpPr>
          <a:xfrm>
            <a:off x="-2503055" y="1550837"/>
            <a:ext cx="6695286" cy="4429786"/>
            <a:chOff x="-2503055" y="1550837"/>
            <a:chExt cx="6547431" cy="4429786"/>
          </a:xfrm>
        </p:grpSpPr>
        <p:pic>
          <p:nvPicPr>
            <p:cNvPr id="1140" name="Picture 1139">
              <a:extLst>
                <a:ext uri="{FF2B5EF4-FFF2-40B4-BE49-F238E27FC236}">
                  <a16:creationId xmlns:a16="http://schemas.microsoft.com/office/drawing/2014/main" id="{A819566F-B842-9794-2067-9D9E83C68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-2503055" y="1550837"/>
              <a:ext cx="6547431" cy="4429786"/>
            </a:xfrm>
            <a:prstGeom prst="rect">
              <a:avLst/>
            </a:prstGeom>
          </p:spPr>
        </p:pic>
        <p:grpSp>
          <p:nvGrpSpPr>
            <p:cNvPr id="1143" name="Group 1142">
              <a:extLst>
                <a:ext uri="{FF2B5EF4-FFF2-40B4-BE49-F238E27FC236}">
                  <a16:creationId xmlns:a16="http://schemas.microsoft.com/office/drawing/2014/main" id="{2C8C1548-FF69-B42C-623D-E1D818F49E3E}"/>
                </a:ext>
              </a:extLst>
            </p:cNvPr>
            <p:cNvGrpSpPr/>
            <p:nvPr/>
          </p:nvGrpSpPr>
          <p:grpSpPr>
            <a:xfrm>
              <a:off x="643643" y="1720834"/>
              <a:ext cx="1145967" cy="570257"/>
              <a:chOff x="643643" y="1533662"/>
              <a:chExt cx="1145967" cy="595314"/>
            </a:xfrm>
          </p:grpSpPr>
          <p:sp>
            <p:nvSpPr>
              <p:cNvPr id="1066" name="TextBox 35">
                <a:extLst>
                  <a:ext uri="{FF2B5EF4-FFF2-40B4-BE49-F238E27FC236}">
                    <a16:creationId xmlns:a16="http://schemas.microsoft.com/office/drawing/2014/main" id="{65DDDBDE-A14C-5A2F-00E5-2754A8F57AD8}"/>
                  </a:ext>
                </a:extLst>
              </p:cNvPr>
              <p:cNvSpPr txBox="1"/>
              <p:nvPr/>
            </p:nvSpPr>
            <p:spPr>
              <a:xfrm>
                <a:off x="643643" y="1533662"/>
                <a:ext cx="957313" cy="307777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r>
                  <a:rPr lang="pt-BR" sz="1400" dirty="0">
                    <a:solidFill>
                      <a:schemeClr val="bg1"/>
                    </a:solidFill>
                    <a:latin typeface="Montserrat SemiBold" pitchFamily="2" charset="0"/>
                    <a:ea typeface="Source Serif Pro" panose="02040603050405020204" pitchFamily="18" charset="0"/>
                    <a:cs typeface="Poppins" panose="00000500000000000000" pitchFamily="2" charset="0"/>
                  </a:rPr>
                  <a:t>Classe A</a:t>
                </a:r>
              </a:p>
            </p:txBody>
          </p:sp>
          <p:sp>
            <p:nvSpPr>
              <p:cNvPr id="1096" name="TextBox 35">
                <a:extLst>
                  <a:ext uri="{FF2B5EF4-FFF2-40B4-BE49-F238E27FC236}">
                    <a16:creationId xmlns:a16="http://schemas.microsoft.com/office/drawing/2014/main" id="{7B42FCB5-2D99-215F-0609-0FEE291C40DD}"/>
                  </a:ext>
                </a:extLst>
              </p:cNvPr>
              <p:cNvSpPr txBox="1"/>
              <p:nvPr/>
            </p:nvSpPr>
            <p:spPr>
              <a:xfrm>
                <a:off x="643643" y="1759644"/>
                <a:ext cx="1145967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r>
                  <a:rPr lang="pt-BR" sz="900" dirty="0">
                    <a:solidFill>
                      <a:schemeClr val="bg1"/>
                    </a:solidFill>
                    <a:latin typeface="Montserrat" panose="00000500000000000000" pitchFamily="2" charset="0"/>
                    <a:ea typeface="Source Serif Pro" panose="02040603050405020204" pitchFamily="18" charset="0"/>
                    <a:cs typeface="Poppins" panose="00000500000000000000" pitchFamily="2" charset="0"/>
                  </a:rPr>
                  <a:t>15+ salários mínimos</a:t>
                </a:r>
              </a:p>
            </p:txBody>
          </p:sp>
        </p:grpSp>
        <p:grpSp>
          <p:nvGrpSpPr>
            <p:cNvPr id="1144" name="Group 1143">
              <a:extLst>
                <a:ext uri="{FF2B5EF4-FFF2-40B4-BE49-F238E27FC236}">
                  <a16:creationId xmlns:a16="http://schemas.microsoft.com/office/drawing/2014/main" id="{C08882D0-9BC7-1F5D-DE67-AC6C140F61A9}"/>
                </a:ext>
              </a:extLst>
            </p:cNvPr>
            <p:cNvGrpSpPr/>
            <p:nvPr/>
          </p:nvGrpSpPr>
          <p:grpSpPr>
            <a:xfrm>
              <a:off x="643643" y="2604471"/>
              <a:ext cx="1314784" cy="563047"/>
              <a:chOff x="643643" y="2437653"/>
              <a:chExt cx="1314784" cy="587787"/>
            </a:xfrm>
          </p:grpSpPr>
          <p:sp>
            <p:nvSpPr>
              <p:cNvPr id="1067" name="TextBox 36">
                <a:extLst>
                  <a:ext uri="{FF2B5EF4-FFF2-40B4-BE49-F238E27FC236}">
                    <a16:creationId xmlns:a16="http://schemas.microsoft.com/office/drawing/2014/main" id="{57D53F78-7B64-3D02-61B2-E62E7A4EEB23}"/>
                  </a:ext>
                </a:extLst>
              </p:cNvPr>
              <p:cNvSpPr txBox="1"/>
              <p:nvPr/>
            </p:nvSpPr>
            <p:spPr>
              <a:xfrm>
                <a:off x="643643" y="2437653"/>
                <a:ext cx="1027845" cy="307777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r>
                  <a:rPr lang="pt-BR" sz="1400" dirty="0">
                    <a:solidFill>
                      <a:schemeClr val="bg1"/>
                    </a:solidFill>
                    <a:latin typeface="Montserrat SemiBold" pitchFamily="2" charset="0"/>
                    <a:ea typeface="Source Serif Pro" panose="02040603050405020204" pitchFamily="18" charset="0"/>
                    <a:cs typeface="Poppins" panose="00000500000000000000" pitchFamily="2" charset="0"/>
                  </a:rPr>
                  <a:t>Classe B1</a:t>
                </a:r>
              </a:p>
            </p:txBody>
          </p:sp>
          <p:sp>
            <p:nvSpPr>
              <p:cNvPr id="1098" name="TextBox 35">
                <a:extLst>
                  <a:ext uri="{FF2B5EF4-FFF2-40B4-BE49-F238E27FC236}">
                    <a16:creationId xmlns:a16="http://schemas.microsoft.com/office/drawing/2014/main" id="{D84A6843-B488-640F-D93D-E83701EE499B}"/>
                  </a:ext>
                </a:extLst>
              </p:cNvPr>
              <p:cNvSpPr txBox="1"/>
              <p:nvPr/>
            </p:nvSpPr>
            <p:spPr>
              <a:xfrm>
                <a:off x="643643" y="2656108"/>
                <a:ext cx="1314784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r>
                  <a:rPr lang="pt-BR" sz="900" dirty="0">
                    <a:solidFill>
                      <a:schemeClr val="bg1"/>
                    </a:solidFill>
                    <a:latin typeface="Montserrat" panose="00000500000000000000" pitchFamily="2" charset="0"/>
                    <a:ea typeface="Source Serif Pro" panose="02040603050405020204" pitchFamily="18" charset="0"/>
                    <a:cs typeface="Poppins" panose="00000500000000000000" pitchFamily="2" charset="0"/>
                  </a:rPr>
                  <a:t>10 a 15 salários mínimos</a:t>
                </a:r>
              </a:p>
            </p:txBody>
          </p:sp>
        </p:grpSp>
        <p:grpSp>
          <p:nvGrpSpPr>
            <p:cNvPr id="1145" name="Group 1144">
              <a:extLst>
                <a:ext uri="{FF2B5EF4-FFF2-40B4-BE49-F238E27FC236}">
                  <a16:creationId xmlns:a16="http://schemas.microsoft.com/office/drawing/2014/main" id="{060151EB-32A1-58C3-8899-B3D0AC080122}"/>
                </a:ext>
              </a:extLst>
            </p:cNvPr>
            <p:cNvGrpSpPr/>
            <p:nvPr/>
          </p:nvGrpSpPr>
          <p:grpSpPr>
            <a:xfrm>
              <a:off x="643643" y="3486653"/>
              <a:ext cx="1268899" cy="569647"/>
              <a:chOff x="643643" y="3375461"/>
              <a:chExt cx="1268899" cy="594677"/>
            </a:xfrm>
          </p:grpSpPr>
          <p:sp>
            <p:nvSpPr>
              <p:cNvPr id="1033" name="TextBox 38">
                <a:extLst>
                  <a:ext uri="{FF2B5EF4-FFF2-40B4-BE49-F238E27FC236}">
                    <a16:creationId xmlns:a16="http://schemas.microsoft.com/office/drawing/2014/main" id="{7C8F26D2-5162-207D-05BB-18D292FAA5D8}"/>
                  </a:ext>
                </a:extLst>
              </p:cNvPr>
              <p:cNvSpPr txBox="1"/>
              <p:nvPr/>
            </p:nvSpPr>
            <p:spPr>
              <a:xfrm>
                <a:off x="643643" y="3375461"/>
                <a:ext cx="1063112" cy="307777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r>
                  <a:rPr lang="pt-BR" sz="1400" dirty="0">
                    <a:solidFill>
                      <a:schemeClr val="bg1"/>
                    </a:solidFill>
                    <a:latin typeface="Montserrat SemiBold" pitchFamily="2" charset="0"/>
                    <a:ea typeface="Source Serif Pro" panose="02040603050405020204" pitchFamily="18" charset="0"/>
                    <a:cs typeface="Poppins" panose="00000500000000000000" pitchFamily="2" charset="0"/>
                  </a:rPr>
                  <a:t>Classe B2</a:t>
                </a:r>
              </a:p>
            </p:txBody>
          </p:sp>
          <p:sp>
            <p:nvSpPr>
              <p:cNvPr id="1045" name="TextBox 35">
                <a:extLst>
                  <a:ext uri="{FF2B5EF4-FFF2-40B4-BE49-F238E27FC236}">
                    <a16:creationId xmlns:a16="http://schemas.microsoft.com/office/drawing/2014/main" id="{80AC6319-21BB-49FE-1190-0396DFF3693F}"/>
                  </a:ext>
                </a:extLst>
              </p:cNvPr>
              <p:cNvSpPr txBox="1"/>
              <p:nvPr/>
            </p:nvSpPr>
            <p:spPr>
              <a:xfrm>
                <a:off x="643643" y="3600806"/>
                <a:ext cx="1268899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r>
                  <a:rPr lang="pt-BR" sz="900" dirty="0">
                    <a:solidFill>
                      <a:schemeClr val="bg1"/>
                    </a:solidFill>
                    <a:latin typeface="Montserrat" panose="00000500000000000000" pitchFamily="2" charset="0"/>
                    <a:ea typeface="Source Serif Pro" panose="02040603050405020204" pitchFamily="18" charset="0"/>
                    <a:cs typeface="Poppins" panose="00000500000000000000" pitchFamily="2" charset="0"/>
                  </a:rPr>
                  <a:t>5 a 9 salários mínimos</a:t>
                </a:r>
              </a:p>
            </p:txBody>
          </p:sp>
        </p:grpSp>
        <p:grpSp>
          <p:nvGrpSpPr>
            <p:cNvPr id="1146" name="Group 1145">
              <a:extLst>
                <a:ext uri="{FF2B5EF4-FFF2-40B4-BE49-F238E27FC236}">
                  <a16:creationId xmlns:a16="http://schemas.microsoft.com/office/drawing/2014/main" id="{5F525F4A-DFB7-3400-AF9E-D107F8A61330}"/>
                </a:ext>
              </a:extLst>
            </p:cNvPr>
            <p:cNvGrpSpPr/>
            <p:nvPr/>
          </p:nvGrpSpPr>
          <p:grpSpPr>
            <a:xfrm>
              <a:off x="643643" y="4384552"/>
              <a:ext cx="1206694" cy="567485"/>
              <a:chOff x="643643" y="4278462"/>
              <a:chExt cx="1206694" cy="592420"/>
            </a:xfrm>
          </p:grpSpPr>
          <p:sp>
            <p:nvSpPr>
              <p:cNvPr id="1034" name="TextBox 39">
                <a:extLst>
                  <a:ext uri="{FF2B5EF4-FFF2-40B4-BE49-F238E27FC236}">
                    <a16:creationId xmlns:a16="http://schemas.microsoft.com/office/drawing/2014/main" id="{091C179B-D6BC-B3B5-E505-1B7081439F32}"/>
                  </a:ext>
                </a:extLst>
              </p:cNvPr>
              <p:cNvSpPr txBox="1"/>
              <p:nvPr/>
            </p:nvSpPr>
            <p:spPr>
              <a:xfrm>
                <a:off x="643643" y="4278462"/>
                <a:ext cx="1021433" cy="307777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r>
                  <a:rPr lang="pt-BR" sz="1400" dirty="0">
                    <a:solidFill>
                      <a:schemeClr val="bg1"/>
                    </a:solidFill>
                    <a:latin typeface="Montserrat SemiBold" pitchFamily="2" charset="0"/>
                    <a:ea typeface="Source Serif Pro" panose="02040603050405020204" pitchFamily="18" charset="0"/>
                    <a:cs typeface="Poppins" panose="00000500000000000000" pitchFamily="2" charset="0"/>
                  </a:rPr>
                  <a:t>Classe C1</a:t>
                </a:r>
              </a:p>
            </p:txBody>
          </p:sp>
          <p:sp>
            <p:nvSpPr>
              <p:cNvPr id="1046" name="TextBox 35">
                <a:extLst>
                  <a:ext uri="{FF2B5EF4-FFF2-40B4-BE49-F238E27FC236}">
                    <a16:creationId xmlns:a16="http://schemas.microsoft.com/office/drawing/2014/main" id="{EE5A19CB-BF47-5DB3-9EBB-BF3863EFAC8B}"/>
                  </a:ext>
                </a:extLst>
              </p:cNvPr>
              <p:cNvSpPr txBox="1"/>
              <p:nvPr/>
            </p:nvSpPr>
            <p:spPr>
              <a:xfrm>
                <a:off x="643643" y="4501550"/>
                <a:ext cx="1206694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r>
                  <a:rPr lang="pt-BR" sz="900" dirty="0">
                    <a:solidFill>
                      <a:schemeClr val="bg1"/>
                    </a:solidFill>
                    <a:latin typeface="Montserrat" panose="00000500000000000000" pitchFamily="2" charset="0"/>
                    <a:ea typeface="Source Serif Pro" panose="02040603050405020204" pitchFamily="18" charset="0"/>
                    <a:cs typeface="Poppins" panose="00000500000000000000" pitchFamily="2" charset="0"/>
                  </a:rPr>
                  <a:t>3 a 5 salários mínimos</a:t>
                </a:r>
              </a:p>
            </p:txBody>
          </p:sp>
        </p:grpSp>
        <p:grpSp>
          <p:nvGrpSpPr>
            <p:cNvPr id="1147" name="Group 1146">
              <a:extLst>
                <a:ext uri="{FF2B5EF4-FFF2-40B4-BE49-F238E27FC236}">
                  <a16:creationId xmlns:a16="http://schemas.microsoft.com/office/drawing/2014/main" id="{29572806-8154-5E04-4B61-A6254B2EE03A}"/>
                </a:ext>
              </a:extLst>
            </p:cNvPr>
            <p:cNvGrpSpPr/>
            <p:nvPr/>
          </p:nvGrpSpPr>
          <p:grpSpPr>
            <a:xfrm>
              <a:off x="643643" y="5308902"/>
              <a:ext cx="1460656" cy="577050"/>
              <a:chOff x="643643" y="5297859"/>
              <a:chExt cx="1460656" cy="602405"/>
            </a:xfrm>
          </p:grpSpPr>
          <p:sp>
            <p:nvSpPr>
              <p:cNvPr id="1035" name="TextBox 40">
                <a:extLst>
                  <a:ext uri="{FF2B5EF4-FFF2-40B4-BE49-F238E27FC236}">
                    <a16:creationId xmlns:a16="http://schemas.microsoft.com/office/drawing/2014/main" id="{AEB70436-985D-E93D-6716-2665DED6AB13}"/>
                  </a:ext>
                </a:extLst>
              </p:cNvPr>
              <p:cNvSpPr txBox="1"/>
              <p:nvPr/>
            </p:nvSpPr>
            <p:spPr>
              <a:xfrm>
                <a:off x="643643" y="5297859"/>
                <a:ext cx="1460656" cy="307777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r>
                  <a:rPr lang="pt-BR" sz="1400" dirty="0">
                    <a:solidFill>
                      <a:schemeClr val="bg1"/>
                    </a:solidFill>
                    <a:latin typeface="Montserrat SemiBold" pitchFamily="2" charset="0"/>
                    <a:ea typeface="Source Serif Pro" panose="02040603050405020204" pitchFamily="18" charset="0"/>
                    <a:cs typeface="Poppins" panose="00000500000000000000" pitchFamily="2" charset="0"/>
                  </a:rPr>
                  <a:t>Classe C2/D/E</a:t>
                </a:r>
              </a:p>
            </p:txBody>
          </p:sp>
          <p:sp>
            <p:nvSpPr>
              <p:cNvPr id="1047" name="TextBox 35">
                <a:extLst>
                  <a:ext uri="{FF2B5EF4-FFF2-40B4-BE49-F238E27FC236}">
                    <a16:creationId xmlns:a16="http://schemas.microsoft.com/office/drawing/2014/main" id="{1AA0BB70-A3FC-1CDE-6116-4E7682F97078}"/>
                  </a:ext>
                </a:extLst>
              </p:cNvPr>
              <p:cNvSpPr txBox="1"/>
              <p:nvPr/>
            </p:nvSpPr>
            <p:spPr>
              <a:xfrm>
                <a:off x="643643" y="5530932"/>
                <a:ext cx="1239067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r>
                  <a:rPr lang="pt-BR" sz="900" dirty="0">
                    <a:solidFill>
                      <a:schemeClr val="bg1"/>
                    </a:solidFill>
                    <a:latin typeface="Montserrat" panose="00000500000000000000" pitchFamily="2" charset="0"/>
                    <a:ea typeface="Source Serif Pro" panose="02040603050405020204" pitchFamily="18" charset="0"/>
                    <a:cs typeface="Poppins" panose="00000500000000000000" pitchFamily="2" charset="0"/>
                  </a:rPr>
                  <a:t>3 salários mínimos ou menos</a:t>
                </a: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CDCFD55-85AA-5D08-0A6A-85F3DF949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Biocap</a:t>
            </a:r>
            <a:r>
              <a:rPr lang="pt-BR" dirty="0"/>
              <a:t> está posicionada para capturar uma importante parcela do mercado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00199A-CE2E-4E90-BD6D-E9EDC1DF2E4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/>
          <a:p>
            <a:r>
              <a:rPr lang="pt-BR" sz="1050" dirty="0">
                <a:latin typeface="Montserrat Light" pitchFamily="2" charset="0"/>
              </a:rPr>
              <a:t>Com características competitivas, está posicionada na maior fatia de mercado do mercado de cuidados corporais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6D5355-6E8F-CDBB-0F71-19F5AE5E6EC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pt-BR" dirty="0"/>
              <a:t>Fonte: Exame, IBGE, </a:t>
            </a:r>
            <a:r>
              <a:rPr lang="pt-BR" dirty="0" err="1"/>
              <a:t>Cosmetic</a:t>
            </a:r>
            <a:r>
              <a:rPr lang="pt-BR" dirty="0"/>
              <a:t> </a:t>
            </a:r>
            <a:r>
              <a:rPr lang="pt-BR" dirty="0" err="1"/>
              <a:t>Innovation</a:t>
            </a:r>
            <a:r>
              <a:rPr lang="pt-BR" dirty="0"/>
              <a:t> e Companhia</a:t>
            </a:r>
          </a:p>
        </p:txBody>
      </p:sp>
      <p:pic>
        <p:nvPicPr>
          <p:cNvPr id="1106" name="Picture 2" descr="Creme de Massagem Hidramais FirmingDetox | Beleza na Web">
            <a:extLst>
              <a:ext uri="{FF2B5EF4-FFF2-40B4-BE49-F238E27FC236}">
                <a16:creationId xmlns:a16="http://schemas.microsoft.com/office/drawing/2014/main" id="{3F46145D-EA0E-643F-56AA-CFB845B31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552" y="4150834"/>
            <a:ext cx="1944325" cy="1032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7" name="Picture 1106">
            <a:extLst>
              <a:ext uri="{FF2B5EF4-FFF2-40B4-BE49-F238E27FC236}">
                <a16:creationId xmlns:a16="http://schemas.microsoft.com/office/drawing/2014/main" id="{816870EE-7BB9-17BC-6357-BF01706A2E97}"/>
              </a:ext>
            </a:extLst>
          </p:cNvPr>
          <p:cNvPicPr>
            <a:picLocks noChangeAspect="1"/>
          </p:cNvPicPr>
          <p:nvPr/>
        </p:nvPicPr>
        <p:blipFill>
          <a:blip r:embed="rId7">
            <a:biLevel thresh="75000"/>
          </a:blip>
          <a:stretch>
            <a:fillRect/>
          </a:stretch>
        </p:blipFill>
        <p:spPr>
          <a:xfrm>
            <a:off x="6277909" y="5353585"/>
            <a:ext cx="1389613" cy="313317"/>
          </a:xfrm>
          <a:prstGeom prst="rect">
            <a:avLst/>
          </a:prstGeom>
        </p:spPr>
      </p:pic>
      <p:sp>
        <p:nvSpPr>
          <p:cNvPr id="1114" name="TextBox 1113">
            <a:extLst>
              <a:ext uri="{FF2B5EF4-FFF2-40B4-BE49-F238E27FC236}">
                <a16:creationId xmlns:a16="http://schemas.microsoft.com/office/drawing/2014/main" id="{38CEAA25-3F80-9B87-400A-FFD5DEE3A679}"/>
              </a:ext>
            </a:extLst>
          </p:cNvPr>
          <p:cNvSpPr txBox="1"/>
          <p:nvPr/>
        </p:nvSpPr>
        <p:spPr>
          <a:xfrm>
            <a:off x="10543956" y="1969428"/>
            <a:ext cx="1288130" cy="15318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lang="pt-BR" sz="4000" b="1" dirty="0">
                <a:solidFill>
                  <a:schemeClr val="tx2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41</a:t>
            </a:r>
            <a:r>
              <a:rPr lang="pt-BR" sz="1600" b="1" dirty="0">
                <a:solidFill>
                  <a:schemeClr val="tx2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%</a:t>
            </a:r>
            <a:r>
              <a:rPr lang="pt-BR" sz="1100" dirty="0">
                <a:solidFill>
                  <a:schemeClr val="tx2"/>
                </a:solidFill>
                <a:latin typeface="Source Serif Pro" panose="02040603050405020204" pitchFamily="18" charset="0"/>
                <a:ea typeface="Source Serif Pro" panose="02040603050405020204" pitchFamily="18" charset="0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lang="pt-BR" sz="900" dirty="0">
                <a:latin typeface="Montserrat" panose="00000500000000000000" pitchFamily="2" charset="0"/>
                <a:ea typeface="Source Serif Pro" panose="02040603050405020204" pitchFamily="18" charset="0"/>
              </a:rPr>
              <a:t>da classe C, D e </a:t>
            </a:r>
            <a:r>
              <a:rPr lang="pt-BR" sz="900" dirty="0" err="1">
                <a:latin typeface="Montserrat" panose="00000500000000000000" pitchFamily="2" charset="0"/>
                <a:ea typeface="Source Serif Pro" panose="02040603050405020204" pitchFamily="18" charset="0"/>
              </a:rPr>
              <a:t>E</a:t>
            </a:r>
            <a:r>
              <a:rPr lang="pt-BR" sz="900" dirty="0">
                <a:latin typeface="Montserrat" panose="00000500000000000000" pitchFamily="2" charset="0"/>
                <a:ea typeface="Source Serif Pro" panose="02040603050405020204" pitchFamily="18" charset="0"/>
              </a:rPr>
              <a:t> pretendem aumentar o consumo de produtos de </a:t>
            </a:r>
            <a:r>
              <a:rPr lang="pt-BR" sz="900" dirty="0" err="1">
                <a:latin typeface="Montserrat" panose="00000500000000000000" pitchFamily="2" charset="0"/>
                <a:ea typeface="Source Serif Pro" panose="02040603050405020204" pitchFamily="18" charset="0"/>
              </a:rPr>
              <a:t>bodycare</a:t>
            </a:r>
            <a:r>
              <a:rPr lang="pt-BR" sz="900" dirty="0">
                <a:latin typeface="Montserrat" panose="00000500000000000000" pitchFamily="2" charset="0"/>
                <a:ea typeface="Source Serif Pro" panose="02040603050405020204" pitchFamily="18" charset="0"/>
              </a:rPr>
              <a:t> nos próximos anos</a:t>
            </a:r>
          </a:p>
        </p:txBody>
      </p:sp>
      <p:sp>
        <p:nvSpPr>
          <p:cNvPr id="1122" name="TextBox 1121">
            <a:extLst>
              <a:ext uri="{FF2B5EF4-FFF2-40B4-BE49-F238E27FC236}">
                <a16:creationId xmlns:a16="http://schemas.microsoft.com/office/drawing/2014/main" id="{BE839BC8-B914-34E6-E66A-C2DAC3727561}"/>
              </a:ext>
            </a:extLst>
          </p:cNvPr>
          <p:cNvSpPr txBox="1"/>
          <p:nvPr/>
        </p:nvSpPr>
        <p:spPr>
          <a:xfrm>
            <a:off x="6282489" y="1969428"/>
            <a:ext cx="1225677" cy="15318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lang="pt-BR" sz="4000" b="1" dirty="0">
                <a:solidFill>
                  <a:schemeClr val="tx2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56</a:t>
            </a:r>
            <a:r>
              <a:rPr lang="pt-BR" sz="1600" b="1" dirty="0">
                <a:solidFill>
                  <a:schemeClr val="tx2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%</a:t>
            </a:r>
            <a:r>
              <a:rPr lang="pt-BR" sz="4000" b="1" dirty="0">
                <a:solidFill>
                  <a:schemeClr val="tx2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lang="pt-BR" sz="900" dirty="0">
                <a:latin typeface="Montserrat" panose="00000500000000000000" pitchFamily="2" charset="0"/>
                <a:ea typeface="Source Serif Pro" panose="02040603050405020204" pitchFamily="18" charset="0"/>
              </a:rPr>
              <a:t>dos consumidores das classes C, D e </a:t>
            </a:r>
            <a:r>
              <a:rPr lang="pt-BR" sz="900" dirty="0" err="1">
                <a:latin typeface="Montserrat" panose="00000500000000000000" pitchFamily="2" charset="0"/>
                <a:ea typeface="Source Serif Pro" panose="02040603050405020204" pitchFamily="18" charset="0"/>
              </a:rPr>
              <a:t>E</a:t>
            </a:r>
            <a:r>
              <a:rPr lang="pt-BR" sz="900" dirty="0">
                <a:latin typeface="Montserrat" panose="00000500000000000000" pitchFamily="2" charset="0"/>
                <a:ea typeface="Source Serif Pro" panose="02040603050405020204" pitchFamily="18" charset="0"/>
              </a:rPr>
              <a:t> aumentaram suas compras de higiene e beleza </a:t>
            </a:r>
          </a:p>
        </p:txBody>
      </p:sp>
      <p:grpSp>
        <p:nvGrpSpPr>
          <p:cNvPr id="1142" name="Group 1141">
            <a:extLst>
              <a:ext uri="{FF2B5EF4-FFF2-40B4-BE49-F238E27FC236}">
                <a16:creationId xmlns:a16="http://schemas.microsoft.com/office/drawing/2014/main" id="{35BFEEB2-15F7-5D4A-7F44-70559601B808}"/>
              </a:ext>
            </a:extLst>
          </p:cNvPr>
          <p:cNvGrpSpPr/>
          <p:nvPr/>
        </p:nvGrpSpPr>
        <p:grpSpPr>
          <a:xfrm>
            <a:off x="8050864" y="4337614"/>
            <a:ext cx="1710446" cy="1459504"/>
            <a:chOff x="7660952" y="4178529"/>
            <a:chExt cx="1710446" cy="1459504"/>
          </a:xfrm>
        </p:grpSpPr>
        <p:grpSp>
          <p:nvGrpSpPr>
            <p:cNvPr id="1108" name="Group 1107">
              <a:extLst>
                <a:ext uri="{FF2B5EF4-FFF2-40B4-BE49-F238E27FC236}">
                  <a16:creationId xmlns:a16="http://schemas.microsoft.com/office/drawing/2014/main" id="{3E5DA6F3-5D20-9B41-78A0-FF1E020B803A}"/>
                </a:ext>
              </a:extLst>
            </p:cNvPr>
            <p:cNvGrpSpPr/>
            <p:nvPr/>
          </p:nvGrpSpPr>
          <p:grpSpPr>
            <a:xfrm>
              <a:off x="7908936" y="4178529"/>
              <a:ext cx="1214476" cy="1214474"/>
              <a:chOff x="9051558" y="4943245"/>
              <a:chExt cx="1003699" cy="1003696"/>
            </a:xfrm>
          </p:grpSpPr>
          <p:sp>
            <p:nvSpPr>
              <p:cNvPr id="1109" name="Oval 1108">
                <a:extLst>
                  <a:ext uri="{FF2B5EF4-FFF2-40B4-BE49-F238E27FC236}">
                    <a16:creationId xmlns:a16="http://schemas.microsoft.com/office/drawing/2014/main" id="{FA9BBDF3-254A-14FF-5CA7-4108456C7490}"/>
                  </a:ext>
                </a:extLst>
              </p:cNvPr>
              <p:cNvSpPr/>
              <p:nvPr/>
            </p:nvSpPr>
            <p:spPr>
              <a:xfrm>
                <a:off x="9051558" y="4943245"/>
                <a:ext cx="1003699" cy="100369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>
                  <a:lnSpc>
                    <a:spcPct val="112000"/>
                  </a:lnSpc>
                  <a:spcAft>
                    <a:spcPts val="800"/>
                  </a:spcAft>
                </a:pPr>
                <a:endParaRPr lang="pt-BR" sz="1200" dirty="0" err="1">
                  <a:solidFill>
                    <a:schemeClr val="tx1"/>
                  </a:solidFill>
                  <a:latin typeface="Source Serif Pro" panose="02040603050405020204" pitchFamily="18" charset="0"/>
                  <a:ea typeface="Source Serif Pro" panose="02040603050405020204" pitchFamily="18" charset="0"/>
                </a:endParaRPr>
              </a:p>
            </p:txBody>
          </p:sp>
          <p:sp>
            <p:nvSpPr>
              <p:cNvPr id="1110" name="Rectangle 1109">
                <a:extLst>
                  <a:ext uri="{FF2B5EF4-FFF2-40B4-BE49-F238E27FC236}">
                    <a16:creationId xmlns:a16="http://schemas.microsoft.com/office/drawing/2014/main" id="{2EE2C67F-88B2-2359-88A0-EDB12DCBE7DC}"/>
                  </a:ext>
                </a:extLst>
              </p:cNvPr>
              <p:cNvSpPr/>
              <p:nvPr/>
            </p:nvSpPr>
            <p:spPr>
              <a:xfrm>
                <a:off x="9119722" y="5324892"/>
                <a:ext cx="867370" cy="305233"/>
              </a:xfrm>
              <a:prstGeom prst="rect">
                <a:avLst/>
              </a:prstGeom>
              <a:effectLst/>
            </p:spPr>
            <p:txBody>
              <a:bodyPr wrap="square" lIns="0" tIns="0" rIns="0" bIns="0" anchor="t" anchorCtr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sz="1100" b="1" dirty="0">
                    <a:solidFill>
                      <a:schemeClr val="accent3">
                        <a:lumMod val="50000"/>
                      </a:schemeClr>
                    </a:solidFill>
                    <a:latin typeface="Montserrat" panose="00000500000000000000" pitchFamily="2" charset="0"/>
                    <a:ea typeface="Source Serif Pro" panose="02040603050405020204" pitchFamily="18" charset="0"/>
                    <a:cs typeface="Open Sans" panose="020B0606030504020204" pitchFamily="34" charset="0"/>
                  </a:rPr>
                  <a:t>R$ </a:t>
                </a:r>
                <a:r>
                  <a:rPr lang="pt-BR" sz="2400" b="1" dirty="0">
                    <a:solidFill>
                      <a:schemeClr val="accent3">
                        <a:lumMod val="50000"/>
                      </a:schemeClr>
                    </a:solidFill>
                    <a:latin typeface="Montserrat" panose="00000500000000000000" pitchFamily="2" charset="0"/>
                    <a:ea typeface="Source Serif Pro" panose="02040603050405020204" pitchFamily="18" charset="0"/>
                    <a:cs typeface="Open Sans" panose="020B0606030504020204" pitchFamily="34" charset="0"/>
                  </a:rPr>
                  <a:t>4,5</a:t>
                </a:r>
                <a:r>
                  <a:rPr kumimoji="0" lang="pt-BR" sz="1200" b="1" i="0" u="none" strike="noStrike" kern="1200" cap="none" spc="0" normalizeH="0" baseline="0" dirty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Montserrat" panose="00000500000000000000" pitchFamily="2" charset="0"/>
                    <a:ea typeface="Source Serif Pro" panose="02040603050405020204" pitchFamily="18" charset="0"/>
                    <a:cs typeface="Open Sans" panose="020B0606030504020204" pitchFamily="34" charset="0"/>
                  </a:rPr>
                  <a:t> </a:t>
                </a:r>
                <a:r>
                  <a:rPr lang="pt-BR" sz="1100" b="1" dirty="0">
                    <a:solidFill>
                      <a:schemeClr val="accent3">
                        <a:lumMod val="50000"/>
                      </a:schemeClr>
                    </a:solidFill>
                    <a:latin typeface="Montserrat" panose="00000500000000000000" pitchFamily="2" charset="0"/>
                    <a:ea typeface="Source Serif Pro" panose="02040603050405020204" pitchFamily="18" charset="0"/>
                    <a:cs typeface="Open Sans" panose="020B0606030504020204" pitchFamily="34" charset="0"/>
                  </a:rPr>
                  <a:t>B</a:t>
                </a:r>
                <a:r>
                  <a:rPr kumimoji="0" lang="pt-BR" sz="1100" b="1" i="0" u="none" strike="noStrike" kern="1200" cap="none" spc="0" normalizeH="0" baseline="0" dirty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Montserrat" panose="00000500000000000000" pitchFamily="2" charset="0"/>
                    <a:ea typeface="Source Serif Pro" panose="02040603050405020204" pitchFamily="18" charset="0"/>
                    <a:cs typeface="Open Sans" panose="020B0606030504020204" pitchFamily="34" charset="0"/>
                  </a:rPr>
                  <a:t>i</a:t>
                </a:r>
                <a:endParaRPr kumimoji="0" lang="pt-BR" sz="2000" b="1" i="0" u="none" strike="noStrike" kern="1200" cap="none" spc="0" normalizeH="0" baseline="0" dirty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effectLst/>
                  <a:uLnTx/>
                  <a:uFillTx/>
                  <a:latin typeface="Montserrat" panose="00000500000000000000" pitchFamily="2" charset="0"/>
                  <a:ea typeface="Source Serif Pro" panose="02040603050405020204" pitchFamily="18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1111" name="TextBox 1110">
              <a:extLst>
                <a:ext uri="{FF2B5EF4-FFF2-40B4-BE49-F238E27FC236}">
                  <a16:creationId xmlns:a16="http://schemas.microsoft.com/office/drawing/2014/main" id="{E941D08B-C48B-047F-7C90-30AB05595F02}"/>
                </a:ext>
              </a:extLst>
            </p:cNvPr>
            <p:cNvSpPr txBox="1"/>
            <p:nvPr/>
          </p:nvSpPr>
          <p:spPr>
            <a:xfrm>
              <a:off x="8215260" y="4391573"/>
              <a:ext cx="601831" cy="269369"/>
            </a:xfrm>
            <a:prstGeom prst="rect">
              <a:avLst/>
            </a:prstGeom>
            <a:noFill/>
          </p:spPr>
          <p:txBody>
            <a:bodyPr wrap="square" lIns="0" rIns="0">
              <a:spAutoFit/>
            </a:bodyPr>
            <a:lstStyle/>
            <a:p>
              <a:pPr algn="ctr">
                <a:lnSpc>
                  <a:spcPct val="112000"/>
                </a:lnSpc>
              </a:pPr>
              <a:r>
                <a:rPr lang="pt-BR" sz="1100" b="1" dirty="0">
                  <a:solidFill>
                    <a:schemeClr val="accent3">
                      <a:lumMod val="50000"/>
                    </a:schemeClr>
                  </a:solidFill>
                  <a:latin typeface="Montserrat SemiBold" pitchFamily="2" charset="0"/>
                  <a:ea typeface="Source Serif Pro Black" panose="02040903050405020204" pitchFamily="18" charset="0"/>
                </a:rPr>
                <a:t>TAM </a:t>
              </a:r>
            </a:p>
          </p:txBody>
        </p:sp>
        <p:sp>
          <p:nvSpPr>
            <p:cNvPr id="1123" name="TextBox 1122">
              <a:extLst>
                <a:ext uri="{FF2B5EF4-FFF2-40B4-BE49-F238E27FC236}">
                  <a16:creationId xmlns:a16="http://schemas.microsoft.com/office/drawing/2014/main" id="{7C379CB3-1196-DE5B-3DEC-781792EA0C71}"/>
                </a:ext>
              </a:extLst>
            </p:cNvPr>
            <p:cNvSpPr txBox="1"/>
            <p:nvPr/>
          </p:nvSpPr>
          <p:spPr>
            <a:xfrm>
              <a:off x="7660952" y="5471449"/>
              <a:ext cx="1710446" cy="16658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  <a:spcAft>
                  <a:spcPts val="800"/>
                </a:spcAft>
              </a:pPr>
              <a:r>
                <a:rPr lang="pt-BR" sz="1050" dirty="0">
                  <a:latin typeface="Montserrat" panose="00000500000000000000" pitchFamily="2" charset="0"/>
                  <a:ea typeface="Source Serif Pro" panose="02040603050405020204" pitchFamily="18" charset="0"/>
                </a:rPr>
                <a:t>Ticket </a:t>
              </a:r>
              <a:r>
                <a:rPr lang="pt-BR" sz="1000" dirty="0">
                  <a:latin typeface="Montserrat" panose="00000500000000000000" pitchFamily="2" charset="0"/>
                  <a:ea typeface="Source Serif Pro" panose="02040603050405020204" pitchFamily="18" charset="0"/>
                </a:rPr>
                <a:t>Médio</a:t>
              </a:r>
              <a:r>
                <a:rPr lang="pt-BR" sz="1050" dirty="0">
                  <a:latin typeface="Montserrat" panose="00000500000000000000" pitchFamily="2" charset="0"/>
                  <a:ea typeface="Source Serif Pro" panose="02040603050405020204" pitchFamily="18" charset="0"/>
                </a:rPr>
                <a:t>: </a:t>
              </a:r>
              <a:r>
                <a:rPr lang="pt-BR" sz="1050" b="1" dirty="0">
                  <a:latin typeface="Montserrat" panose="00000500000000000000" pitchFamily="2" charset="0"/>
                  <a:ea typeface="Source Serif Pro" panose="02040603050405020204" pitchFamily="18" charset="0"/>
                </a:rPr>
                <a:t>R$ 27,7</a:t>
              </a:r>
            </a:p>
          </p:txBody>
        </p:sp>
      </p:grpSp>
      <p:sp>
        <p:nvSpPr>
          <p:cNvPr id="1124" name="TextBox 1123">
            <a:extLst>
              <a:ext uri="{FF2B5EF4-FFF2-40B4-BE49-F238E27FC236}">
                <a16:creationId xmlns:a16="http://schemas.microsoft.com/office/drawing/2014/main" id="{EFA7C77D-6ADD-9523-8ACD-76980CE592B2}"/>
              </a:ext>
            </a:extLst>
          </p:cNvPr>
          <p:cNvSpPr txBox="1"/>
          <p:nvPr/>
        </p:nvSpPr>
        <p:spPr>
          <a:xfrm>
            <a:off x="9842177" y="4437931"/>
            <a:ext cx="2153279" cy="1258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1000" dirty="0">
                <a:latin typeface="Montserrat" panose="00000500000000000000" pitchFamily="2" charset="0"/>
                <a:ea typeface="Source Serif Pro Black" panose="02040903050405020204" pitchFamily="18" charset="0"/>
              </a:rPr>
              <a:t>Os produtos de </a:t>
            </a:r>
            <a:r>
              <a:rPr lang="pt-BR" sz="1000" dirty="0" err="1">
                <a:latin typeface="Montserrat" panose="00000500000000000000" pitchFamily="2" charset="0"/>
                <a:ea typeface="Source Serif Pro Black" panose="02040903050405020204" pitchFamily="18" charset="0"/>
              </a:rPr>
              <a:t>Bodycare</a:t>
            </a:r>
            <a:r>
              <a:rPr lang="pt-BR" sz="1000" dirty="0">
                <a:latin typeface="Montserrat" panose="00000500000000000000" pitchFamily="2" charset="0"/>
                <a:ea typeface="Source Serif Pro Black" panose="02040903050405020204" pitchFamily="18" charset="0"/>
              </a:rPr>
              <a:t> da </a:t>
            </a:r>
            <a:r>
              <a:rPr lang="pt-BR" sz="1000" dirty="0" err="1">
                <a:latin typeface="Montserrat" panose="00000500000000000000" pitchFamily="2" charset="0"/>
                <a:ea typeface="Source Serif Pro Black" panose="02040903050405020204" pitchFamily="18" charset="0"/>
              </a:rPr>
              <a:t>Biocap</a:t>
            </a:r>
            <a:r>
              <a:rPr lang="pt-BR" sz="1000" dirty="0">
                <a:latin typeface="Montserrat" panose="00000500000000000000" pitchFamily="2" charset="0"/>
                <a:ea typeface="Source Serif Pro Black" panose="02040903050405020204" pitchFamily="18" charset="0"/>
              </a:rPr>
              <a:t> se encaixam no ticket médio das classes C, D e </a:t>
            </a:r>
            <a:r>
              <a:rPr lang="pt-BR" sz="1000" dirty="0" err="1">
                <a:latin typeface="Montserrat" panose="00000500000000000000" pitchFamily="2" charset="0"/>
                <a:ea typeface="Source Serif Pro Black" panose="02040903050405020204" pitchFamily="18" charset="0"/>
              </a:rPr>
              <a:t>E</a:t>
            </a:r>
            <a:endParaRPr lang="pt-BR" sz="1000" dirty="0">
              <a:latin typeface="Montserrat" panose="00000500000000000000" pitchFamily="2" charset="0"/>
              <a:ea typeface="Source Serif Pro Black" panose="02040903050405020204" pitchFamily="18" charset="0"/>
            </a:endParaRPr>
          </a:p>
          <a:p>
            <a:pPr algn="ctr"/>
            <a:endParaRPr lang="pt-BR" sz="1000" dirty="0">
              <a:latin typeface="Montserrat" panose="00000500000000000000" pitchFamily="2" charset="0"/>
              <a:ea typeface="Source Serif Pro Black" panose="02040903050405020204" pitchFamily="18" charset="0"/>
            </a:endParaRP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lang="pt-BR" sz="1100" b="1" dirty="0">
                <a:latin typeface="Montserrat" panose="00000500000000000000" pitchFamily="2" charset="0"/>
                <a:ea typeface="Source Serif Pro Black" panose="02040903050405020204" pitchFamily="18" charset="0"/>
              </a:rPr>
              <a:t>Média preço </a:t>
            </a:r>
            <a:r>
              <a:rPr lang="pt-BR" sz="1100" b="1" dirty="0" err="1">
                <a:latin typeface="Montserrat" panose="00000500000000000000" pitchFamily="2" charset="0"/>
                <a:ea typeface="Source Serif Pro Black" panose="02040903050405020204" pitchFamily="18" charset="0"/>
              </a:rPr>
              <a:t>Biocap</a:t>
            </a:r>
            <a:r>
              <a:rPr lang="pt-BR" sz="1100" b="1" dirty="0">
                <a:latin typeface="Montserrat" panose="00000500000000000000" pitchFamily="2" charset="0"/>
                <a:ea typeface="Source Serif Pro Black" panose="02040903050405020204" pitchFamily="18" charset="0"/>
              </a:rPr>
              <a:t> 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lang="pt-BR" sz="1200" b="1" dirty="0">
                <a:solidFill>
                  <a:schemeClr val="bg1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R$ 13 – R$ 26</a:t>
            </a:r>
          </a:p>
        </p:txBody>
      </p:sp>
      <p:sp>
        <p:nvSpPr>
          <p:cNvPr id="1083" name="TextBox 1082">
            <a:extLst>
              <a:ext uri="{FF2B5EF4-FFF2-40B4-BE49-F238E27FC236}">
                <a16:creationId xmlns:a16="http://schemas.microsoft.com/office/drawing/2014/main" id="{0AF054B9-FB90-0811-39A9-506978306DA2}"/>
              </a:ext>
            </a:extLst>
          </p:cNvPr>
          <p:cNvSpPr txBox="1"/>
          <p:nvPr/>
        </p:nvSpPr>
        <p:spPr>
          <a:xfrm>
            <a:off x="1919336" y="1703484"/>
            <a:ext cx="1044000" cy="44909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US" sz="800" dirty="0">
                <a:latin typeface="Montserrat" panose="00000500000000000000" pitchFamily="2" charset="0"/>
                <a:ea typeface="Source Serif Pro" panose="02040603050405020204" pitchFamily="18" charset="0"/>
              </a:rPr>
              <a:t>2,9% da            </a:t>
            </a:r>
            <a:r>
              <a:rPr lang="en-US" sz="800" dirty="0" err="1">
                <a:latin typeface="Montserrat" panose="00000500000000000000" pitchFamily="2" charset="0"/>
                <a:ea typeface="Source Serif Pro" panose="02040603050405020204" pitchFamily="18" charset="0"/>
              </a:rPr>
              <a:t>população</a:t>
            </a:r>
            <a:r>
              <a:rPr lang="en-US" sz="800" dirty="0">
                <a:latin typeface="Montserrat" panose="00000500000000000000" pitchFamily="2" charset="0"/>
                <a:ea typeface="Source Serif Pro" panose="02040603050405020204" pitchFamily="18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  <a:ea typeface="Source Serif Pro" panose="02040603050405020204" pitchFamily="18" charset="0"/>
              </a:rPr>
              <a:t>brasileira</a:t>
            </a:r>
            <a:r>
              <a:rPr lang="en-US" sz="800" dirty="0">
                <a:latin typeface="Montserrat" panose="00000500000000000000" pitchFamily="2" charset="0"/>
                <a:ea typeface="Source Serif Pro" panose="02040603050405020204" pitchFamily="18" charset="0"/>
              </a:rPr>
              <a:t>                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US" sz="800" dirty="0">
                <a:solidFill>
                  <a:schemeClr val="tx2"/>
                </a:solidFill>
                <a:latin typeface="Montserrat SemiBold" pitchFamily="2" charset="0"/>
                <a:ea typeface="Source Serif Pro" panose="02040603050405020204" pitchFamily="18" charset="0"/>
              </a:rPr>
              <a:t>(6,2 </a:t>
            </a:r>
            <a:r>
              <a:rPr lang="en-US" sz="800" dirty="0" err="1">
                <a:solidFill>
                  <a:schemeClr val="tx2"/>
                </a:solidFill>
                <a:latin typeface="Montserrat SemiBold" pitchFamily="2" charset="0"/>
                <a:ea typeface="Source Serif Pro" panose="02040603050405020204" pitchFamily="18" charset="0"/>
              </a:rPr>
              <a:t>milhões</a:t>
            </a:r>
            <a:r>
              <a:rPr lang="en-US" sz="800" dirty="0">
                <a:solidFill>
                  <a:schemeClr val="tx2"/>
                </a:solidFill>
                <a:latin typeface="Montserrat SemiBold" pitchFamily="2" charset="0"/>
                <a:ea typeface="Source Serif Pro" panose="02040603050405020204" pitchFamily="18" charset="0"/>
              </a:rPr>
              <a:t>)</a:t>
            </a:r>
            <a:endParaRPr lang="pt-BR" sz="800" dirty="0">
              <a:solidFill>
                <a:schemeClr val="tx2"/>
              </a:solidFill>
              <a:latin typeface="Montserrat SemiBold" pitchFamily="2" charset="0"/>
              <a:ea typeface="Source Serif Pro" panose="02040603050405020204" pitchFamily="18" charset="0"/>
            </a:endParaRPr>
          </a:p>
        </p:txBody>
      </p:sp>
      <p:sp>
        <p:nvSpPr>
          <p:cNvPr id="1084" name="TextBox 1083">
            <a:extLst>
              <a:ext uri="{FF2B5EF4-FFF2-40B4-BE49-F238E27FC236}">
                <a16:creationId xmlns:a16="http://schemas.microsoft.com/office/drawing/2014/main" id="{59F1DC42-6B03-C06F-5DA1-17CC140482A3}"/>
              </a:ext>
            </a:extLst>
          </p:cNvPr>
          <p:cNvSpPr txBox="1"/>
          <p:nvPr/>
        </p:nvSpPr>
        <p:spPr>
          <a:xfrm>
            <a:off x="2567775" y="2541427"/>
            <a:ext cx="1044000" cy="44909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US" sz="800" dirty="0">
                <a:latin typeface="Montserrat" panose="00000500000000000000" pitchFamily="2" charset="0"/>
                <a:ea typeface="Source Serif Pro" panose="02040603050405020204" pitchFamily="18" charset="0"/>
              </a:rPr>
              <a:t>5,1% da             </a:t>
            </a:r>
            <a:r>
              <a:rPr lang="en-US" sz="800" dirty="0" err="1">
                <a:latin typeface="Montserrat" panose="00000500000000000000" pitchFamily="2" charset="0"/>
                <a:ea typeface="Source Serif Pro" panose="02040603050405020204" pitchFamily="18" charset="0"/>
              </a:rPr>
              <a:t>população</a:t>
            </a:r>
            <a:r>
              <a:rPr lang="en-US" sz="800" dirty="0">
                <a:latin typeface="Montserrat" panose="00000500000000000000" pitchFamily="2" charset="0"/>
                <a:ea typeface="Source Serif Pro" panose="02040603050405020204" pitchFamily="18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  <a:ea typeface="Source Serif Pro" panose="02040603050405020204" pitchFamily="18" charset="0"/>
              </a:rPr>
              <a:t>brasileira</a:t>
            </a:r>
            <a:r>
              <a:rPr lang="en-US" sz="800" dirty="0">
                <a:latin typeface="Montserrat" panose="00000500000000000000" pitchFamily="2" charset="0"/>
                <a:ea typeface="Source Serif Pro" panose="02040603050405020204" pitchFamily="18" charset="0"/>
              </a:rPr>
              <a:t>             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US" sz="800" dirty="0">
                <a:solidFill>
                  <a:schemeClr val="tx2"/>
                </a:solidFill>
                <a:latin typeface="Montserrat SemiBold" pitchFamily="2" charset="0"/>
                <a:ea typeface="Source Serif Pro" panose="02040603050405020204" pitchFamily="18" charset="0"/>
              </a:rPr>
              <a:t>(10,9 </a:t>
            </a:r>
            <a:r>
              <a:rPr lang="en-US" sz="800" dirty="0" err="1">
                <a:solidFill>
                  <a:schemeClr val="tx2"/>
                </a:solidFill>
                <a:latin typeface="Montserrat SemiBold" pitchFamily="2" charset="0"/>
                <a:ea typeface="Source Serif Pro" panose="02040603050405020204" pitchFamily="18" charset="0"/>
              </a:rPr>
              <a:t>milhões</a:t>
            </a:r>
            <a:r>
              <a:rPr lang="en-US" sz="800" dirty="0">
                <a:solidFill>
                  <a:schemeClr val="tx2"/>
                </a:solidFill>
                <a:latin typeface="Montserrat SemiBold" pitchFamily="2" charset="0"/>
                <a:ea typeface="Source Serif Pro" panose="02040603050405020204" pitchFamily="18" charset="0"/>
              </a:rPr>
              <a:t>)</a:t>
            </a:r>
            <a:endParaRPr lang="pt-BR" sz="800" dirty="0">
              <a:solidFill>
                <a:schemeClr val="tx2"/>
              </a:solidFill>
              <a:latin typeface="Montserrat SemiBold" pitchFamily="2" charset="0"/>
              <a:ea typeface="Source Serif Pro" panose="02040603050405020204" pitchFamily="18" charset="0"/>
            </a:endParaRPr>
          </a:p>
        </p:txBody>
      </p:sp>
      <p:sp>
        <p:nvSpPr>
          <p:cNvPr id="1085" name="TextBox 1084">
            <a:extLst>
              <a:ext uri="{FF2B5EF4-FFF2-40B4-BE49-F238E27FC236}">
                <a16:creationId xmlns:a16="http://schemas.microsoft.com/office/drawing/2014/main" id="{AE4C4F8F-EE64-7CC4-CBC4-B4CB881F2D45}"/>
              </a:ext>
            </a:extLst>
          </p:cNvPr>
          <p:cNvSpPr txBox="1"/>
          <p:nvPr/>
        </p:nvSpPr>
        <p:spPr>
          <a:xfrm>
            <a:off x="3098483" y="3484520"/>
            <a:ext cx="1044000" cy="44909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US" sz="800" dirty="0">
                <a:latin typeface="Montserrat" panose="00000500000000000000" pitchFamily="2" charset="0"/>
                <a:ea typeface="Source Serif Pro" panose="02040603050405020204" pitchFamily="18" charset="0"/>
              </a:rPr>
              <a:t>16,7% da              </a:t>
            </a:r>
            <a:r>
              <a:rPr lang="en-US" sz="800" dirty="0" err="1">
                <a:latin typeface="Montserrat" panose="00000500000000000000" pitchFamily="2" charset="0"/>
                <a:ea typeface="Source Serif Pro" panose="02040603050405020204" pitchFamily="18" charset="0"/>
              </a:rPr>
              <a:t>população</a:t>
            </a:r>
            <a:r>
              <a:rPr lang="en-US" sz="800" dirty="0">
                <a:latin typeface="Montserrat" panose="00000500000000000000" pitchFamily="2" charset="0"/>
                <a:ea typeface="Source Serif Pro" panose="02040603050405020204" pitchFamily="18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  <a:ea typeface="Source Serif Pro" panose="02040603050405020204" pitchFamily="18" charset="0"/>
              </a:rPr>
              <a:t>brasileira</a:t>
            </a:r>
            <a:r>
              <a:rPr lang="en-US" sz="800" dirty="0">
                <a:latin typeface="Montserrat" panose="00000500000000000000" pitchFamily="2" charset="0"/>
                <a:ea typeface="Source Serif Pro" panose="02040603050405020204" pitchFamily="18" charset="0"/>
              </a:rPr>
              <a:t>              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US" sz="800" dirty="0">
                <a:solidFill>
                  <a:schemeClr val="tx2"/>
                </a:solidFill>
                <a:latin typeface="Montserrat SemiBold" pitchFamily="2" charset="0"/>
                <a:ea typeface="Source Serif Pro" panose="02040603050405020204" pitchFamily="18" charset="0"/>
              </a:rPr>
              <a:t>(35,9 </a:t>
            </a:r>
            <a:r>
              <a:rPr lang="en-US" sz="800" dirty="0" err="1">
                <a:solidFill>
                  <a:schemeClr val="tx2"/>
                </a:solidFill>
                <a:latin typeface="Montserrat SemiBold" pitchFamily="2" charset="0"/>
                <a:ea typeface="Source Serif Pro" panose="02040603050405020204" pitchFamily="18" charset="0"/>
              </a:rPr>
              <a:t>milhões</a:t>
            </a:r>
            <a:r>
              <a:rPr lang="en-US" sz="800" dirty="0">
                <a:solidFill>
                  <a:schemeClr val="tx2"/>
                </a:solidFill>
                <a:latin typeface="Montserrat SemiBold" pitchFamily="2" charset="0"/>
                <a:ea typeface="Source Serif Pro" panose="02040603050405020204" pitchFamily="18" charset="0"/>
              </a:rPr>
              <a:t>)</a:t>
            </a:r>
            <a:endParaRPr lang="pt-BR" sz="800" dirty="0">
              <a:solidFill>
                <a:schemeClr val="tx2"/>
              </a:solidFill>
              <a:latin typeface="Montserrat SemiBold" pitchFamily="2" charset="0"/>
              <a:ea typeface="Source Serif Pro" panose="02040603050405020204" pitchFamily="18" charset="0"/>
            </a:endParaRPr>
          </a:p>
        </p:txBody>
      </p:sp>
      <p:sp>
        <p:nvSpPr>
          <p:cNvPr id="1086" name="TextBox 1085">
            <a:extLst>
              <a:ext uri="{FF2B5EF4-FFF2-40B4-BE49-F238E27FC236}">
                <a16:creationId xmlns:a16="http://schemas.microsoft.com/office/drawing/2014/main" id="{6308C4EC-CAEE-3097-5D53-1543B60E586C}"/>
              </a:ext>
            </a:extLst>
          </p:cNvPr>
          <p:cNvSpPr txBox="1"/>
          <p:nvPr/>
        </p:nvSpPr>
        <p:spPr>
          <a:xfrm>
            <a:off x="3861753" y="4369323"/>
            <a:ext cx="1044000" cy="44909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US" sz="800" dirty="0">
                <a:latin typeface="Montserrat" panose="00000500000000000000" pitchFamily="2" charset="0"/>
                <a:ea typeface="Source Serif Pro" panose="02040603050405020204" pitchFamily="18" charset="0"/>
              </a:rPr>
              <a:t>21,0% da            </a:t>
            </a:r>
            <a:r>
              <a:rPr lang="en-US" sz="800" dirty="0" err="1">
                <a:latin typeface="Montserrat" panose="00000500000000000000" pitchFamily="2" charset="0"/>
                <a:ea typeface="Source Serif Pro" panose="02040603050405020204" pitchFamily="18" charset="0"/>
              </a:rPr>
              <a:t>população</a:t>
            </a:r>
            <a:r>
              <a:rPr lang="en-US" sz="800" dirty="0">
                <a:latin typeface="Montserrat" panose="00000500000000000000" pitchFamily="2" charset="0"/>
                <a:ea typeface="Source Serif Pro" panose="02040603050405020204" pitchFamily="18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  <a:ea typeface="Source Serif Pro" panose="02040603050405020204" pitchFamily="18" charset="0"/>
              </a:rPr>
              <a:t>brasileira</a:t>
            </a:r>
            <a:r>
              <a:rPr lang="en-US" sz="800" dirty="0">
                <a:latin typeface="Montserrat" panose="00000500000000000000" pitchFamily="2" charset="0"/>
                <a:ea typeface="Source Serif Pro" panose="02040603050405020204" pitchFamily="18" charset="0"/>
              </a:rPr>
              <a:t>              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US" sz="800" dirty="0">
                <a:solidFill>
                  <a:schemeClr val="tx2"/>
                </a:solidFill>
                <a:latin typeface="Montserrat SemiBold" pitchFamily="2" charset="0"/>
                <a:ea typeface="Source Serif Pro" panose="02040603050405020204" pitchFamily="18" charset="0"/>
              </a:rPr>
              <a:t>(45,0 </a:t>
            </a:r>
            <a:r>
              <a:rPr lang="en-US" sz="800" dirty="0" err="1">
                <a:solidFill>
                  <a:schemeClr val="tx2"/>
                </a:solidFill>
                <a:latin typeface="Montserrat SemiBold" pitchFamily="2" charset="0"/>
                <a:ea typeface="Source Serif Pro" panose="02040603050405020204" pitchFamily="18" charset="0"/>
              </a:rPr>
              <a:t>milhões</a:t>
            </a:r>
            <a:r>
              <a:rPr lang="en-US" sz="800" dirty="0">
                <a:solidFill>
                  <a:schemeClr val="tx2"/>
                </a:solidFill>
                <a:latin typeface="Montserrat SemiBold" pitchFamily="2" charset="0"/>
                <a:ea typeface="Source Serif Pro" panose="02040603050405020204" pitchFamily="18" charset="0"/>
              </a:rPr>
              <a:t>)</a:t>
            </a:r>
            <a:endParaRPr lang="pt-BR" sz="800" dirty="0">
              <a:solidFill>
                <a:schemeClr val="tx2"/>
              </a:solidFill>
              <a:latin typeface="Montserrat SemiBold" pitchFamily="2" charset="0"/>
              <a:ea typeface="Source Serif Pro" panose="02040603050405020204" pitchFamily="18" charset="0"/>
            </a:endParaRPr>
          </a:p>
        </p:txBody>
      </p:sp>
      <p:sp>
        <p:nvSpPr>
          <p:cNvPr id="1103" name="TextBox 1102">
            <a:extLst>
              <a:ext uri="{FF2B5EF4-FFF2-40B4-BE49-F238E27FC236}">
                <a16:creationId xmlns:a16="http://schemas.microsoft.com/office/drawing/2014/main" id="{32EBD0E2-2806-5ECD-09AD-D418A69CD43B}"/>
              </a:ext>
            </a:extLst>
          </p:cNvPr>
          <p:cNvSpPr txBox="1"/>
          <p:nvPr/>
        </p:nvSpPr>
        <p:spPr>
          <a:xfrm>
            <a:off x="4416060" y="5283454"/>
            <a:ext cx="1044999" cy="44909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US" sz="800" dirty="0">
                <a:latin typeface="Montserrat" panose="00000500000000000000" pitchFamily="2" charset="0"/>
                <a:ea typeface="Source Serif Pro" panose="02040603050405020204" pitchFamily="18" charset="0"/>
              </a:rPr>
              <a:t>54,3% da            </a:t>
            </a:r>
            <a:r>
              <a:rPr lang="en-US" sz="800" dirty="0" err="1">
                <a:latin typeface="Montserrat" panose="00000500000000000000" pitchFamily="2" charset="0"/>
                <a:ea typeface="Source Serif Pro" panose="02040603050405020204" pitchFamily="18" charset="0"/>
              </a:rPr>
              <a:t>população</a:t>
            </a:r>
            <a:r>
              <a:rPr lang="en-US" sz="800" dirty="0">
                <a:latin typeface="Montserrat" panose="00000500000000000000" pitchFamily="2" charset="0"/>
                <a:ea typeface="Source Serif Pro" panose="02040603050405020204" pitchFamily="18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  <a:ea typeface="Source Serif Pro" panose="02040603050405020204" pitchFamily="18" charset="0"/>
              </a:rPr>
              <a:t>brasileira</a:t>
            </a:r>
            <a:r>
              <a:rPr lang="en-US" sz="800" dirty="0">
                <a:latin typeface="Montserrat" panose="00000500000000000000" pitchFamily="2" charset="0"/>
                <a:ea typeface="Source Serif Pro" panose="02040603050405020204" pitchFamily="18" charset="0"/>
              </a:rPr>
              <a:t>             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US" sz="800" dirty="0">
                <a:solidFill>
                  <a:schemeClr val="tx2"/>
                </a:solidFill>
                <a:latin typeface="Montserrat SemiBold" pitchFamily="2" charset="0"/>
                <a:ea typeface="Source Serif Pro" panose="02040603050405020204" pitchFamily="18" charset="0"/>
              </a:rPr>
              <a:t>(116,3 </a:t>
            </a:r>
            <a:r>
              <a:rPr lang="en-US" sz="800" dirty="0" err="1">
                <a:solidFill>
                  <a:schemeClr val="tx2"/>
                </a:solidFill>
                <a:latin typeface="Montserrat SemiBold" pitchFamily="2" charset="0"/>
                <a:ea typeface="Source Serif Pro" panose="02040603050405020204" pitchFamily="18" charset="0"/>
              </a:rPr>
              <a:t>milhões</a:t>
            </a:r>
            <a:r>
              <a:rPr lang="en-US" sz="800" dirty="0">
                <a:solidFill>
                  <a:schemeClr val="tx2"/>
                </a:solidFill>
                <a:latin typeface="Montserrat SemiBold" pitchFamily="2" charset="0"/>
                <a:ea typeface="Source Serif Pro" panose="02040603050405020204" pitchFamily="18" charset="0"/>
              </a:rPr>
              <a:t>)</a:t>
            </a:r>
            <a:endParaRPr lang="pt-BR" sz="800" dirty="0">
              <a:solidFill>
                <a:schemeClr val="tx2"/>
              </a:solidFill>
              <a:latin typeface="Montserrat SemiBold" pitchFamily="2" charset="0"/>
              <a:ea typeface="Source Serif Pro" panose="020406030504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3267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788C1D3-3582-2102-6884-3C8C263CF571}"/>
              </a:ext>
            </a:extLst>
          </p:cNvPr>
          <p:cNvSpPr/>
          <p:nvPr/>
        </p:nvSpPr>
        <p:spPr>
          <a:xfrm>
            <a:off x="839158" y="2812326"/>
            <a:ext cx="11379089" cy="1078280"/>
          </a:xfrm>
          <a:prstGeom prst="rect">
            <a:avLst/>
          </a:prstGeom>
          <a:solidFill>
            <a:schemeClr val="accent3">
              <a:lumMod val="40000"/>
              <a:lumOff val="6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en-US" sz="1200" dirty="0">
              <a:solidFill>
                <a:schemeClr val="bg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26" name="Rectangle: Top Corners Rounded 25">
            <a:extLst>
              <a:ext uri="{FF2B5EF4-FFF2-40B4-BE49-F238E27FC236}">
                <a16:creationId xmlns:a16="http://schemas.microsoft.com/office/drawing/2014/main" id="{05CB8203-B984-B71D-754B-C36645C85BA7}"/>
              </a:ext>
            </a:extLst>
          </p:cNvPr>
          <p:cNvSpPr/>
          <p:nvPr/>
        </p:nvSpPr>
        <p:spPr>
          <a:xfrm rot="5400000">
            <a:off x="1400927" y="2305108"/>
            <a:ext cx="1206000" cy="2095200"/>
          </a:xfrm>
          <a:prstGeom prst="round2Same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en-US" sz="1200" dirty="0">
              <a:solidFill>
                <a:schemeClr val="bg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AABF84DC-101E-6B93-FEAF-FAFD26F94476}"/>
              </a:ext>
            </a:extLst>
          </p:cNvPr>
          <p:cNvSpPr/>
          <p:nvPr/>
        </p:nvSpPr>
        <p:spPr>
          <a:xfrm rot="5400000">
            <a:off x="456177" y="2238666"/>
            <a:ext cx="1206000" cy="2228083"/>
          </a:xfrm>
          <a:prstGeom prst="round2Same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en-US" sz="1200" dirty="0">
              <a:solidFill>
                <a:schemeClr val="bg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F3EE13-C77D-00DA-BEA3-79FBE36C0857}"/>
              </a:ext>
            </a:extLst>
          </p:cNvPr>
          <p:cNvSpPr/>
          <p:nvPr/>
        </p:nvSpPr>
        <p:spPr>
          <a:xfrm>
            <a:off x="0" y="1548012"/>
            <a:ext cx="11700999" cy="1078280"/>
          </a:xfrm>
          <a:prstGeom prst="rect">
            <a:avLst/>
          </a:prstGeom>
          <a:solidFill>
            <a:schemeClr val="accent2">
              <a:lumMod val="9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en-US" sz="1200" dirty="0">
              <a:solidFill>
                <a:schemeClr val="bg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23" name="Rectangle: Top Corners Rounded 22">
            <a:extLst>
              <a:ext uri="{FF2B5EF4-FFF2-40B4-BE49-F238E27FC236}">
                <a16:creationId xmlns:a16="http://schemas.microsoft.com/office/drawing/2014/main" id="{F75DA0AA-3828-C093-EC21-B9A998B63F7D}"/>
              </a:ext>
            </a:extLst>
          </p:cNvPr>
          <p:cNvSpPr/>
          <p:nvPr/>
        </p:nvSpPr>
        <p:spPr>
          <a:xfrm rot="16200000" flipH="1">
            <a:off x="9585075" y="1039552"/>
            <a:ext cx="1206000" cy="2095200"/>
          </a:xfrm>
          <a:prstGeom prst="round2Same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en-US" sz="1200" dirty="0">
              <a:solidFill>
                <a:schemeClr val="bg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16ECED9D-6B21-9DAA-55A3-A87453F0CD0E}"/>
              </a:ext>
            </a:extLst>
          </p:cNvPr>
          <p:cNvSpPr/>
          <p:nvPr/>
        </p:nvSpPr>
        <p:spPr>
          <a:xfrm rot="16200000" flipH="1">
            <a:off x="10529825" y="973110"/>
            <a:ext cx="1206000" cy="2228083"/>
          </a:xfrm>
          <a:prstGeom prst="round2SameRect">
            <a:avLst/>
          </a:prstGeom>
          <a:solidFill>
            <a:srgbClr val="FDC9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en-US" sz="1200" dirty="0">
              <a:solidFill>
                <a:schemeClr val="bg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38" name="Title 37">
            <a:extLst>
              <a:ext uri="{FF2B5EF4-FFF2-40B4-BE49-F238E27FC236}">
                <a16:creationId xmlns:a16="http://schemas.microsoft.com/office/drawing/2014/main" id="{0C41CFE9-AF55-2F56-0054-FA8FFB0F6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/>
              <a:t>A </a:t>
            </a:r>
            <a:r>
              <a:rPr lang="en-US" sz="1800" dirty="0" err="1"/>
              <a:t>Biocap</a:t>
            </a:r>
            <a:r>
              <a:rPr lang="en-US" sz="1800" dirty="0"/>
              <a:t> se </a:t>
            </a:r>
            <a:r>
              <a:rPr lang="en-US" sz="1800" dirty="0" err="1"/>
              <a:t>diferencia</a:t>
            </a:r>
            <a:r>
              <a:rPr lang="en-US" sz="1800" dirty="0"/>
              <a:t> da </a:t>
            </a:r>
            <a:r>
              <a:rPr lang="en-US" sz="1800" dirty="0" err="1"/>
              <a:t>concorrência</a:t>
            </a:r>
            <a:r>
              <a:rPr lang="en-US" sz="1800" dirty="0"/>
              <a:t> </a:t>
            </a:r>
            <a:r>
              <a:rPr lang="en-US" sz="1800" dirty="0" err="1"/>
              <a:t>ao</a:t>
            </a:r>
            <a:r>
              <a:rPr lang="en-US" sz="1800" dirty="0"/>
              <a:t> </a:t>
            </a:r>
            <a:r>
              <a:rPr lang="en-US" sz="1800" dirty="0" err="1"/>
              <a:t>ofertar</a:t>
            </a:r>
            <a:r>
              <a:rPr lang="en-US" sz="1800" dirty="0"/>
              <a:t> </a:t>
            </a:r>
            <a:r>
              <a:rPr lang="en-US" sz="1800" dirty="0" err="1"/>
              <a:t>uma</a:t>
            </a:r>
            <a:r>
              <a:rPr lang="en-US" sz="1800" dirty="0"/>
              <a:t> </a:t>
            </a:r>
            <a:r>
              <a:rPr lang="en-US" sz="1800" dirty="0" err="1"/>
              <a:t>linha</a:t>
            </a:r>
            <a:r>
              <a:rPr lang="en-US" sz="1800" dirty="0"/>
              <a:t> </a:t>
            </a:r>
            <a:r>
              <a:rPr lang="en-US" sz="1800" dirty="0" err="1"/>
              <a:t>completa</a:t>
            </a:r>
            <a:r>
              <a:rPr lang="en-US" sz="1800" dirty="0"/>
              <a:t> e </a:t>
            </a:r>
            <a:r>
              <a:rPr lang="en-US" sz="1800" dirty="0" err="1"/>
              <a:t>focada</a:t>
            </a:r>
            <a:r>
              <a:rPr lang="en-US" sz="1800" dirty="0"/>
              <a:t> </a:t>
            </a:r>
            <a:r>
              <a:rPr lang="en-US" sz="1800" dirty="0" err="1"/>
              <a:t>em</a:t>
            </a:r>
            <a:r>
              <a:rPr lang="en-US" sz="1800" dirty="0"/>
              <a:t> </a:t>
            </a:r>
            <a:r>
              <a:rPr lang="en-US" sz="1800" dirty="0" err="1"/>
              <a:t>Bodycare</a:t>
            </a:r>
            <a:endParaRPr lang="pt-BR" sz="1800" dirty="0"/>
          </a:p>
        </p:txBody>
      </p:sp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AF688014-6EA7-5F02-69C1-7EA76DF8D78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0" tIns="36000" rIns="0" bIns="0" rtlCol="0">
            <a:spAutoFit/>
          </a:bodyPr>
          <a:lstStyle/>
          <a:p>
            <a:r>
              <a:rPr lang="en-US" sz="1050" dirty="0" err="1">
                <a:latin typeface="Montserrat Light" pitchFamily="2" charset="0"/>
              </a:rPr>
              <a:t>Biocap</a:t>
            </a:r>
            <a:r>
              <a:rPr lang="en-US" sz="1050" dirty="0">
                <a:latin typeface="Montserrat Light" pitchFamily="2" charset="0"/>
              </a:rPr>
              <a:t> se </a:t>
            </a:r>
            <a:r>
              <a:rPr lang="en-US" sz="1050" dirty="0" err="1">
                <a:latin typeface="Montserrat Light" pitchFamily="2" charset="0"/>
              </a:rPr>
              <a:t>especializa</a:t>
            </a:r>
            <a:r>
              <a:rPr lang="en-US" sz="1050" dirty="0">
                <a:latin typeface="Montserrat Light" pitchFamily="2" charset="0"/>
              </a:rPr>
              <a:t> </a:t>
            </a:r>
            <a:r>
              <a:rPr lang="en-US" sz="1050" dirty="0" err="1">
                <a:latin typeface="Montserrat Light" pitchFamily="2" charset="0"/>
              </a:rPr>
              <a:t>em</a:t>
            </a:r>
            <a:r>
              <a:rPr lang="en-US" sz="1050" dirty="0">
                <a:latin typeface="Montserrat Light" pitchFamily="2" charset="0"/>
              </a:rPr>
              <a:t> </a:t>
            </a:r>
            <a:r>
              <a:rPr lang="en-US" sz="1050" dirty="0" err="1">
                <a:latin typeface="Montserrat Light" pitchFamily="2" charset="0"/>
              </a:rPr>
              <a:t>Bodycare</a:t>
            </a:r>
            <a:r>
              <a:rPr lang="en-US" sz="1050" dirty="0">
                <a:latin typeface="Montserrat Light" pitchFamily="2" charset="0"/>
              </a:rPr>
              <a:t> com um </a:t>
            </a:r>
            <a:r>
              <a:rPr lang="en-US" sz="1050" dirty="0" err="1">
                <a:latin typeface="Montserrat Light" pitchFamily="2" charset="0"/>
              </a:rPr>
              <a:t>portfólio</a:t>
            </a:r>
            <a:r>
              <a:rPr lang="en-US" sz="1050" dirty="0">
                <a:latin typeface="Montserrat Light" pitchFamily="2" charset="0"/>
              </a:rPr>
              <a:t> </a:t>
            </a:r>
            <a:r>
              <a:rPr lang="en-US" sz="1050" dirty="0" err="1">
                <a:latin typeface="Montserrat Light" pitchFamily="2" charset="0"/>
              </a:rPr>
              <a:t>completo</a:t>
            </a:r>
            <a:r>
              <a:rPr lang="en-US" sz="1050" dirty="0">
                <a:latin typeface="Montserrat Light" pitchFamily="2" charset="0"/>
              </a:rPr>
              <a:t> </a:t>
            </a:r>
            <a:r>
              <a:rPr lang="en-US" sz="1050" dirty="0" err="1">
                <a:latin typeface="Montserrat Light" pitchFamily="2" charset="0"/>
              </a:rPr>
              <a:t>cobrindo</a:t>
            </a:r>
            <a:r>
              <a:rPr lang="en-US" sz="1050" dirty="0">
                <a:latin typeface="Montserrat Light" pitchFamily="2" charset="0"/>
              </a:rPr>
              <a:t> </a:t>
            </a:r>
            <a:r>
              <a:rPr lang="en-US" sz="1050" dirty="0" err="1">
                <a:latin typeface="Montserrat Light" pitchFamily="2" charset="0"/>
              </a:rPr>
              <a:t>todas</a:t>
            </a:r>
            <a:r>
              <a:rPr lang="en-US" sz="1050" dirty="0">
                <a:latin typeface="Montserrat Light" pitchFamily="2" charset="0"/>
              </a:rPr>
              <a:t> as </a:t>
            </a:r>
            <a:r>
              <a:rPr lang="en-US" sz="1050" dirty="0" err="1">
                <a:latin typeface="Montserrat Light" pitchFamily="2" charset="0"/>
              </a:rPr>
              <a:t>necessidades</a:t>
            </a:r>
            <a:r>
              <a:rPr lang="en-US" sz="1050" dirty="0">
                <a:latin typeface="Montserrat Light" pitchFamily="2" charset="0"/>
              </a:rPr>
              <a:t> da </a:t>
            </a:r>
            <a:r>
              <a:rPr lang="en-US" sz="1050" dirty="0" err="1">
                <a:latin typeface="Montserrat Light" pitchFamily="2" charset="0"/>
              </a:rPr>
              <a:t>mulher</a:t>
            </a:r>
            <a:r>
              <a:rPr lang="en-US" sz="1050" dirty="0">
                <a:latin typeface="Montserrat Light" pitchFamily="2" charset="0"/>
              </a:rPr>
              <a:t> </a:t>
            </a:r>
            <a:r>
              <a:rPr lang="en-US" sz="1050" dirty="0" err="1">
                <a:latin typeface="Montserrat Light" pitchFamily="2" charset="0"/>
              </a:rPr>
              <a:t>brasileira</a:t>
            </a:r>
            <a:endParaRPr lang="pt-BR" sz="1050" dirty="0">
              <a:latin typeface="Montserrat Light" pitchFamily="2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F14EA0-476F-7C77-042B-A73EEAC6C33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pt-BR"/>
              <a:t>Fonte: Companhia</a:t>
            </a:r>
            <a:br>
              <a:rPr lang="pt-BR"/>
            </a:br>
            <a:r>
              <a:rPr lang="pt-BR"/>
              <a:t>1) 2,5% das vendas vem da terceirização de produtos</a:t>
            </a:r>
            <a:endParaRPr lang="pt-BR" dirty="0"/>
          </a:p>
        </p:txBody>
      </p: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207E1179-B89D-E271-F369-81B2A358A6C8}"/>
              </a:ext>
            </a:extLst>
          </p:cNvPr>
          <p:cNvGrpSpPr/>
          <p:nvPr/>
        </p:nvGrpSpPr>
        <p:grpSpPr>
          <a:xfrm>
            <a:off x="9187882" y="1814963"/>
            <a:ext cx="798101" cy="544378"/>
            <a:chOff x="3698421" y="1733110"/>
            <a:chExt cx="812705" cy="544378"/>
          </a:xfrm>
        </p:grpSpPr>
        <p:sp>
          <p:nvSpPr>
            <p:cNvPr id="170" name="Retângulo 27">
              <a:extLst>
                <a:ext uri="{FF2B5EF4-FFF2-40B4-BE49-F238E27FC236}">
                  <a16:creationId xmlns:a16="http://schemas.microsoft.com/office/drawing/2014/main" id="{520E14AB-7978-F126-EEF7-F4A87641DAA0}"/>
                </a:ext>
              </a:extLst>
            </p:cNvPr>
            <p:cNvSpPr/>
            <p:nvPr/>
          </p:nvSpPr>
          <p:spPr>
            <a:xfrm>
              <a:off x="3698421" y="2073659"/>
              <a:ext cx="774604" cy="203829"/>
            </a:xfrm>
            <a:prstGeom prst="rect">
              <a:avLst/>
            </a:prstGeom>
            <a:noFill/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t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i="0" u="none" strike="noStrike" kern="1200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Montserrat" pitchFamily="2" charset="0"/>
                  <a:ea typeface="Source Serif Pro" panose="02040603050405020204" pitchFamily="18" charset="0"/>
                  <a:cs typeface="Open Sans" panose="020B0606030504020204" pitchFamily="34" charset="0"/>
                </a:rPr>
                <a:t>Vendas¹</a:t>
              </a: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8EBF6DAA-E3A2-4799-16B0-8284C0FF578F}"/>
                </a:ext>
              </a:extLst>
            </p:cNvPr>
            <p:cNvSpPr/>
            <p:nvPr/>
          </p:nvSpPr>
          <p:spPr>
            <a:xfrm>
              <a:off x="3736520" y="1733110"/>
              <a:ext cx="774606" cy="430887"/>
            </a:xfrm>
            <a:prstGeom prst="rect">
              <a:avLst/>
            </a:prstGeom>
            <a:effectLst/>
          </p:spPr>
          <p:txBody>
            <a:bodyPr wrap="square" lIns="0" tIns="0" rIns="0" bIns="0" anchor="t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2800" b="1" dirty="0">
                  <a:solidFill>
                    <a:schemeClr val="bg1"/>
                  </a:solidFill>
                  <a:latin typeface="Montserrat" pitchFamily="2" charset="0"/>
                  <a:ea typeface="Source Serif Pro" panose="02040603050405020204" pitchFamily="18" charset="0"/>
                  <a:cs typeface="Open Sans" panose="020B0606030504020204" pitchFamily="34" charset="0"/>
                </a:rPr>
                <a:t>82</a:t>
              </a:r>
              <a:r>
                <a:rPr kumimoji="0" lang="pt-BR" sz="1600" b="1" i="0" u="none" strike="noStrike" kern="1200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itchFamily="2" charset="0"/>
                  <a:ea typeface="Source Serif Pro" panose="02040603050405020204" pitchFamily="18" charset="0"/>
                  <a:cs typeface="Open Sans" panose="020B0606030504020204" pitchFamily="34" charset="0"/>
                </a:rPr>
                <a:t>%</a:t>
              </a:r>
              <a:endParaRPr kumimoji="0" lang="pt-BR" sz="24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itchFamily="2" charset="0"/>
                <a:ea typeface="Source Serif Pro" panose="02040603050405020204" pitchFamily="18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B41266CF-2256-E7DD-0C4C-5CA6FA662E35}"/>
              </a:ext>
            </a:extLst>
          </p:cNvPr>
          <p:cNvGrpSpPr/>
          <p:nvPr/>
        </p:nvGrpSpPr>
        <p:grpSpPr>
          <a:xfrm>
            <a:off x="2222013" y="3094834"/>
            <a:ext cx="771893" cy="548111"/>
            <a:chOff x="3707946" y="2847652"/>
            <a:chExt cx="803180" cy="548111"/>
          </a:xfrm>
        </p:grpSpPr>
        <p:sp>
          <p:nvSpPr>
            <p:cNvPr id="172" name="Retângulo 27">
              <a:extLst>
                <a:ext uri="{FF2B5EF4-FFF2-40B4-BE49-F238E27FC236}">
                  <a16:creationId xmlns:a16="http://schemas.microsoft.com/office/drawing/2014/main" id="{613D98E7-FBA0-9178-C755-0F061F395F44}"/>
                </a:ext>
              </a:extLst>
            </p:cNvPr>
            <p:cNvSpPr/>
            <p:nvPr/>
          </p:nvSpPr>
          <p:spPr>
            <a:xfrm>
              <a:off x="3707946" y="3191934"/>
              <a:ext cx="774604" cy="203829"/>
            </a:xfrm>
            <a:prstGeom prst="rect">
              <a:avLst/>
            </a:prstGeom>
            <a:noFill/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t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i="0" u="none" strike="noStrike" kern="1200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Montserrat" pitchFamily="2" charset="0"/>
                  <a:ea typeface="Source Serif Pro" panose="02040603050405020204" pitchFamily="18" charset="0"/>
                  <a:cs typeface="Open Sans" panose="020B0606030504020204" pitchFamily="34" charset="0"/>
                </a:rPr>
                <a:t>Vendas¹</a:t>
              </a: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46A062C9-5026-1261-251B-8476F63B4797}"/>
                </a:ext>
              </a:extLst>
            </p:cNvPr>
            <p:cNvSpPr/>
            <p:nvPr/>
          </p:nvSpPr>
          <p:spPr>
            <a:xfrm>
              <a:off x="3736520" y="2847652"/>
              <a:ext cx="774606" cy="430887"/>
            </a:xfrm>
            <a:prstGeom prst="rect">
              <a:avLst/>
            </a:prstGeom>
            <a:effectLst/>
          </p:spPr>
          <p:txBody>
            <a:bodyPr wrap="square" lIns="0" tIns="0" rIns="0" bIns="0" anchor="t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2800" b="1" dirty="0">
                  <a:solidFill>
                    <a:schemeClr val="bg1"/>
                  </a:solidFill>
                  <a:latin typeface="Montserrat" pitchFamily="2" charset="0"/>
                  <a:ea typeface="Source Serif Pro" panose="02040603050405020204" pitchFamily="18" charset="0"/>
                  <a:cs typeface="Open Sans" panose="020B0606030504020204" pitchFamily="34" charset="0"/>
                </a:rPr>
                <a:t>16</a:t>
              </a:r>
              <a:r>
                <a:rPr kumimoji="0" lang="pt-BR" sz="1600" b="1" i="0" u="none" strike="noStrike" kern="1200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itchFamily="2" charset="0"/>
                  <a:ea typeface="Source Serif Pro" panose="02040603050405020204" pitchFamily="18" charset="0"/>
                  <a:cs typeface="Open Sans" panose="020B0606030504020204" pitchFamily="34" charset="0"/>
                </a:rPr>
                <a:t>%</a:t>
              </a:r>
              <a:endParaRPr kumimoji="0" lang="pt-BR" sz="24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itchFamily="2" charset="0"/>
                <a:ea typeface="Source Serif Pro" panose="02040603050405020204" pitchFamily="18" charset="0"/>
                <a:cs typeface="Open Sans" panose="020B0606030504020204" pitchFamily="34" charset="0"/>
              </a:endParaRP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94C70ADB-B18C-505C-64B9-29F33785BA55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512991" y="3229558"/>
            <a:ext cx="1092373" cy="246298"/>
          </a:xfrm>
          <a:prstGeom prst="rect">
            <a:avLst/>
          </a:prstGeom>
        </p:spPr>
      </p:pic>
      <p:sp>
        <p:nvSpPr>
          <p:cNvPr id="89" name="Content Placeholder 6">
            <a:extLst>
              <a:ext uri="{FF2B5EF4-FFF2-40B4-BE49-F238E27FC236}">
                <a16:creationId xmlns:a16="http://schemas.microsoft.com/office/drawing/2014/main" id="{26D9B052-432A-CDC5-493E-8D30BC7D75A8}"/>
              </a:ext>
            </a:extLst>
          </p:cNvPr>
          <p:cNvSpPr txBox="1">
            <a:spLocks/>
          </p:cNvSpPr>
          <p:nvPr/>
        </p:nvSpPr>
        <p:spPr>
          <a:xfrm>
            <a:off x="3380840" y="3003609"/>
            <a:ext cx="981171" cy="32791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1pPr>
            <a:lvl2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2pPr>
            <a:lvl3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Source Sans Pro" panose="020B0503030403020204" pitchFamily="34" charset="0"/>
              <a:buChar char="−"/>
              <a:defRPr sz="1200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kern="1200">
                <a:solidFill>
                  <a:schemeClr val="accent3"/>
                </a:solidFill>
                <a:latin typeface="Source Serif Pro Light" panose="02040303050405020204" pitchFamily="18" charset="0"/>
                <a:ea typeface="Source Serif Pro Light" panose="02040303050405020204" pitchFamily="18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/>
            <a:r>
              <a:rPr lang="pt-BR" sz="1000" dirty="0">
                <a:solidFill>
                  <a:schemeClr val="accent4"/>
                </a:solidFill>
                <a:latin typeface="Montserrat" panose="00000500000000000000" pitchFamily="2" charset="0"/>
                <a:cs typeface="Poppins" panose="00000500000000000000" pitchFamily="2" charset="0"/>
              </a:rPr>
              <a:t>Linha          para cabelos</a:t>
            </a:r>
            <a:endParaRPr lang="en-US" sz="1000" dirty="0">
              <a:solidFill>
                <a:schemeClr val="accent4"/>
              </a:solidFill>
              <a:latin typeface="Montserrat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C0F0B85-F66E-458F-AAC9-A2F542171BBA}"/>
              </a:ext>
            </a:extLst>
          </p:cNvPr>
          <p:cNvGrpSpPr/>
          <p:nvPr/>
        </p:nvGrpSpPr>
        <p:grpSpPr>
          <a:xfrm>
            <a:off x="4328325" y="2960027"/>
            <a:ext cx="1197874" cy="846711"/>
            <a:chOff x="3795898" y="3141702"/>
            <a:chExt cx="1197874" cy="846711"/>
          </a:xfrm>
        </p:grpSpPr>
        <p:pic>
          <p:nvPicPr>
            <p:cNvPr id="83" name="Picture 82" descr="A group of bottles of shampoo&#10;&#10;Description automatically generated">
              <a:extLst>
                <a:ext uri="{FF2B5EF4-FFF2-40B4-BE49-F238E27FC236}">
                  <a16:creationId xmlns:a16="http://schemas.microsoft.com/office/drawing/2014/main" id="{465E7D76-E5CE-0747-06E2-30989C47FB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04250" y="3141702"/>
              <a:ext cx="981171" cy="546652"/>
            </a:xfrm>
            <a:prstGeom prst="rect">
              <a:avLst/>
            </a:prstGeom>
          </p:spPr>
        </p:pic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0F7FB935-8C3E-1E56-64D7-022AA4560852}"/>
                </a:ext>
              </a:extLst>
            </p:cNvPr>
            <p:cNvSpPr txBox="1"/>
            <p:nvPr/>
          </p:nvSpPr>
          <p:spPr>
            <a:xfrm>
              <a:off x="3795898" y="3726033"/>
              <a:ext cx="1197874" cy="2623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  <a:spcAft>
                  <a:spcPts val="800"/>
                </a:spcAft>
              </a:pPr>
              <a:r>
                <a:rPr lang="pt-BR" sz="800" dirty="0">
                  <a:latin typeface="Montserrat Medium" pitchFamily="2" charset="0"/>
                  <a:ea typeface="Source Serif Pro" panose="02040603050405020204" pitchFamily="18" charset="0"/>
                </a:rPr>
                <a:t>Shampoos e condicionadores 4,8L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1CB27F6-9D7B-49EC-A6B9-CF52873CF767}"/>
              </a:ext>
            </a:extLst>
          </p:cNvPr>
          <p:cNvGrpSpPr/>
          <p:nvPr/>
        </p:nvGrpSpPr>
        <p:grpSpPr>
          <a:xfrm>
            <a:off x="5739683" y="2896195"/>
            <a:ext cx="989978" cy="910543"/>
            <a:chOff x="5575922" y="3068768"/>
            <a:chExt cx="989978" cy="910543"/>
          </a:xfrm>
        </p:grpSpPr>
        <p:pic>
          <p:nvPicPr>
            <p:cNvPr id="70" name="Picture 69" descr="A bottle of hair dye and a dropper&#10;&#10;Description automatically generated">
              <a:extLst>
                <a:ext uri="{FF2B5EF4-FFF2-40B4-BE49-F238E27FC236}">
                  <a16:creationId xmlns:a16="http://schemas.microsoft.com/office/drawing/2014/main" id="{28A1B0C3-7DE5-43D7-1963-469D1D01BD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60660" y="3068768"/>
              <a:ext cx="420502" cy="607391"/>
            </a:xfrm>
            <a:prstGeom prst="rect">
              <a:avLst/>
            </a:prstGeom>
          </p:spPr>
        </p:pic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5B7D10BF-5EDC-D7C6-F941-9B0F314A75EB}"/>
                </a:ext>
              </a:extLst>
            </p:cNvPr>
            <p:cNvSpPr txBox="1"/>
            <p:nvPr/>
          </p:nvSpPr>
          <p:spPr>
            <a:xfrm>
              <a:off x="5575922" y="3716931"/>
              <a:ext cx="989978" cy="2623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  <a:spcAft>
                  <a:spcPts val="800"/>
                </a:spcAft>
              </a:pPr>
              <a:r>
                <a:rPr lang="pt-BR" sz="800" dirty="0">
                  <a:latin typeface="Montserrat Medium" pitchFamily="2" charset="0"/>
                  <a:ea typeface="Source Serif Pro" panose="02040603050405020204" pitchFamily="18" charset="0"/>
                </a:rPr>
                <a:t>Reparadores            de ponta</a:t>
              </a:r>
            </a:p>
          </p:txBody>
        </p:sp>
      </p:grpSp>
      <p:sp>
        <p:nvSpPr>
          <p:cNvPr id="92" name="Content Placeholder 6">
            <a:extLst>
              <a:ext uri="{FF2B5EF4-FFF2-40B4-BE49-F238E27FC236}">
                <a16:creationId xmlns:a16="http://schemas.microsoft.com/office/drawing/2014/main" id="{4AF217C5-95DA-FDF9-0A95-C2CFAF15B86A}"/>
              </a:ext>
            </a:extLst>
          </p:cNvPr>
          <p:cNvSpPr txBox="1">
            <a:spLocks/>
          </p:cNvSpPr>
          <p:nvPr/>
        </p:nvSpPr>
        <p:spPr>
          <a:xfrm>
            <a:off x="7255497" y="2995402"/>
            <a:ext cx="796819" cy="34432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1pPr>
            <a:lvl2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2pPr>
            <a:lvl3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Source Sans Pro" panose="020B0503030403020204" pitchFamily="34" charset="0"/>
              <a:buChar char="−"/>
              <a:defRPr sz="1200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kern="1200">
                <a:solidFill>
                  <a:schemeClr val="accent3"/>
                </a:solidFill>
                <a:latin typeface="Source Serif Pro Light" panose="02040303050405020204" pitchFamily="18" charset="0"/>
                <a:ea typeface="Source Serif Pro Light" panose="02040303050405020204" pitchFamily="18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/>
            <a:r>
              <a:rPr lang="pt-BR" sz="1050" dirty="0">
                <a:solidFill>
                  <a:schemeClr val="accent4"/>
                </a:solidFill>
                <a:latin typeface="Montserrat" panose="00000500000000000000" pitchFamily="2" charset="0"/>
                <a:cs typeface="Poppins" panose="00000500000000000000" pitchFamily="2" charset="0"/>
              </a:rPr>
              <a:t>Linha    para corpo</a:t>
            </a:r>
            <a:endParaRPr lang="en-US" sz="1050" dirty="0">
              <a:solidFill>
                <a:schemeClr val="accent4"/>
              </a:solidFill>
              <a:latin typeface="Montserrat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640634B8-2BBE-7B8B-039D-E5B885A08ACE}"/>
              </a:ext>
            </a:extLst>
          </p:cNvPr>
          <p:cNvGrpSpPr/>
          <p:nvPr/>
        </p:nvGrpSpPr>
        <p:grpSpPr>
          <a:xfrm>
            <a:off x="8315234" y="2910450"/>
            <a:ext cx="1150249" cy="896288"/>
            <a:chOff x="7847207" y="2688707"/>
            <a:chExt cx="1150249" cy="896288"/>
          </a:xfrm>
        </p:grpSpPr>
        <p:pic>
          <p:nvPicPr>
            <p:cNvPr id="96" name="Picture 95" descr="A group of soap dispensers&#10;&#10;Description automatically generated">
              <a:extLst>
                <a:ext uri="{FF2B5EF4-FFF2-40B4-BE49-F238E27FC236}">
                  <a16:creationId xmlns:a16="http://schemas.microsoft.com/office/drawing/2014/main" id="{BEB39337-F46E-F7EF-706B-CB9E94C330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47207" y="2688707"/>
              <a:ext cx="1150249" cy="673760"/>
            </a:xfrm>
            <a:prstGeom prst="rect">
              <a:avLst/>
            </a:prstGeom>
          </p:spPr>
        </p:pic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763EB49-D8D1-3529-A04C-B97BB9F06CA4}"/>
                </a:ext>
              </a:extLst>
            </p:cNvPr>
            <p:cNvSpPr txBox="1"/>
            <p:nvPr/>
          </p:nvSpPr>
          <p:spPr>
            <a:xfrm>
              <a:off x="8007941" y="3322615"/>
              <a:ext cx="792204" cy="2623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  <a:spcAft>
                  <a:spcPts val="800"/>
                </a:spcAft>
              </a:pPr>
              <a:r>
                <a:rPr lang="pt-BR" sz="800" dirty="0">
                  <a:latin typeface="Montserrat Medium" pitchFamily="2" charset="0"/>
                  <a:ea typeface="Source Serif Pro" panose="02040603050405020204" pitchFamily="18" charset="0"/>
                </a:rPr>
                <a:t>Sabonetes 500ml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870D896-2899-6C1B-53D9-C742086DE785}"/>
              </a:ext>
            </a:extLst>
          </p:cNvPr>
          <p:cNvGrpSpPr/>
          <p:nvPr/>
        </p:nvGrpSpPr>
        <p:grpSpPr>
          <a:xfrm>
            <a:off x="9728401" y="2967648"/>
            <a:ext cx="894115" cy="839090"/>
            <a:chOff x="9336935" y="2745905"/>
            <a:chExt cx="894115" cy="839090"/>
          </a:xfrm>
        </p:grpSpPr>
        <p:pic>
          <p:nvPicPr>
            <p:cNvPr id="100" name="Picture 99" descr="A group of bottles of liquid&#10;&#10;Description automatically generated">
              <a:extLst>
                <a:ext uri="{FF2B5EF4-FFF2-40B4-BE49-F238E27FC236}">
                  <a16:creationId xmlns:a16="http://schemas.microsoft.com/office/drawing/2014/main" id="{C5B9A890-BA32-1312-2FE8-E99C5049CDC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9730"/>
            <a:stretch/>
          </p:blipFill>
          <p:spPr>
            <a:xfrm>
              <a:off x="9336935" y="2745905"/>
              <a:ext cx="894115" cy="537534"/>
            </a:xfrm>
            <a:prstGeom prst="rect">
              <a:avLst/>
            </a:prstGeom>
          </p:spPr>
        </p:pic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1AE8CE1-B3BA-2299-202A-F08EDDC17524}"/>
                </a:ext>
              </a:extLst>
            </p:cNvPr>
            <p:cNvSpPr txBox="1"/>
            <p:nvPr/>
          </p:nvSpPr>
          <p:spPr>
            <a:xfrm>
              <a:off x="9445670" y="3322615"/>
              <a:ext cx="676644" cy="2623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  <a:spcAft>
                  <a:spcPts val="800"/>
                </a:spcAft>
              </a:pPr>
              <a:r>
                <a:rPr lang="pt-BR" sz="800" dirty="0">
                  <a:latin typeface="Montserrat Medium" pitchFamily="2" charset="0"/>
                  <a:ea typeface="Source Serif Pro" panose="02040603050405020204" pitchFamily="18" charset="0"/>
                </a:rPr>
                <a:t>Sabonetes 1,6L</a:t>
              </a: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5145EE96-13E9-8905-A3D6-DA4F61FF0EB8}"/>
              </a:ext>
            </a:extLst>
          </p:cNvPr>
          <p:cNvGrpSpPr/>
          <p:nvPr/>
        </p:nvGrpSpPr>
        <p:grpSpPr>
          <a:xfrm>
            <a:off x="10885436" y="2982211"/>
            <a:ext cx="978338" cy="824527"/>
            <a:chOff x="10640246" y="2760468"/>
            <a:chExt cx="978338" cy="824527"/>
          </a:xfrm>
        </p:grpSpPr>
        <p:pic>
          <p:nvPicPr>
            <p:cNvPr id="102" name="Picture 101" descr="A group of bottles of liquid&#10;&#10;Description automatically generated">
              <a:extLst>
                <a:ext uri="{FF2B5EF4-FFF2-40B4-BE49-F238E27FC236}">
                  <a16:creationId xmlns:a16="http://schemas.microsoft.com/office/drawing/2014/main" id="{D23D8A9C-2856-BC71-6D79-EF47B66CA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40246" y="2760468"/>
              <a:ext cx="978338" cy="511115"/>
            </a:xfrm>
            <a:prstGeom prst="rect">
              <a:avLst/>
            </a:prstGeom>
          </p:spPr>
        </p:pic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386A0615-B729-9188-6DA9-66C2F0B5D9C3}"/>
                </a:ext>
              </a:extLst>
            </p:cNvPr>
            <p:cNvSpPr txBox="1"/>
            <p:nvPr/>
          </p:nvSpPr>
          <p:spPr>
            <a:xfrm>
              <a:off x="10832904" y="3322615"/>
              <a:ext cx="599424" cy="2623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  <a:spcAft>
                  <a:spcPts val="800"/>
                </a:spcAft>
              </a:pPr>
              <a:r>
                <a:rPr lang="pt-BR" sz="800" dirty="0">
                  <a:latin typeface="Montserrat Medium" pitchFamily="2" charset="0"/>
                  <a:ea typeface="Source Serif Pro" panose="02040603050405020204" pitchFamily="18" charset="0"/>
                </a:rPr>
                <a:t>Sabonetes 2L</a:t>
              </a:r>
            </a:p>
          </p:txBody>
        </p:sp>
      </p:grpSp>
      <p:sp>
        <p:nvSpPr>
          <p:cNvPr id="107" name="Content Placeholder 6">
            <a:extLst>
              <a:ext uri="{FF2B5EF4-FFF2-40B4-BE49-F238E27FC236}">
                <a16:creationId xmlns:a16="http://schemas.microsoft.com/office/drawing/2014/main" id="{AE1A2763-D02F-DDB6-6CC5-A66511A58A73}"/>
              </a:ext>
            </a:extLst>
          </p:cNvPr>
          <p:cNvSpPr txBox="1">
            <a:spLocks/>
          </p:cNvSpPr>
          <p:nvPr/>
        </p:nvSpPr>
        <p:spPr>
          <a:xfrm>
            <a:off x="729659" y="1724980"/>
            <a:ext cx="1015461" cy="32791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1pPr>
            <a:lvl2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2pPr>
            <a:lvl3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Source Sans Pro" panose="020B0503030403020204" pitchFamily="34" charset="0"/>
              <a:buChar char="−"/>
              <a:defRPr sz="1200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kern="1200">
                <a:solidFill>
                  <a:schemeClr val="accent3"/>
                </a:solidFill>
                <a:latin typeface="Source Serif Pro Light" panose="02040303050405020204" pitchFamily="18" charset="0"/>
                <a:ea typeface="Source Serif Pro Light" panose="02040303050405020204" pitchFamily="18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/>
            <a:r>
              <a:rPr lang="pt-BR" sz="1000" dirty="0">
                <a:solidFill>
                  <a:schemeClr val="tx2"/>
                </a:solidFill>
                <a:latin typeface="Montserrat" panose="00000500000000000000" pitchFamily="2" charset="0"/>
                <a:cs typeface="Poppins" panose="00000500000000000000" pitchFamily="2" charset="0"/>
              </a:rPr>
              <a:t>Linha autocuidado</a:t>
            </a:r>
            <a:endParaRPr lang="en-US" sz="1000" dirty="0">
              <a:solidFill>
                <a:schemeClr val="tx2"/>
              </a:solidFill>
              <a:latin typeface="Montserrat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6C936874-3B6C-2C1D-512A-B57DA5F881A8}"/>
              </a:ext>
            </a:extLst>
          </p:cNvPr>
          <p:cNvGrpSpPr/>
          <p:nvPr/>
        </p:nvGrpSpPr>
        <p:grpSpPr>
          <a:xfrm>
            <a:off x="1882407" y="1658492"/>
            <a:ext cx="658413" cy="844924"/>
            <a:chOff x="4595409" y="1585236"/>
            <a:chExt cx="658413" cy="844924"/>
          </a:xfrm>
        </p:grpSpPr>
        <p:pic>
          <p:nvPicPr>
            <p:cNvPr id="108" name="Picture 107" descr="A group of bottles of shampoo&#10;&#10;Description automatically generated">
              <a:extLst>
                <a:ext uri="{FF2B5EF4-FFF2-40B4-BE49-F238E27FC236}">
                  <a16:creationId xmlns:a16="http://schemas.microsoft.com/office/drawing/2014/main" id="{A5E50FEA-300E-00ED-4981-84546EDCC5F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0905"/>
            <a:stretch/>
          </p:blipFill>
          <p:spPr>
            <a:xfrm>
              <a:off x="4595409" y="1585236"/>
              <a:ext cx="658413" cy="492546"/>
            </a:xfrm>
            <a:prstGeom prst="rect">
              <a:avLst/>
            </a:prstGeom>
          </p:spPr>
        </p:pic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A41152D9-7A84-05B7-1AB5-021B32699B45}"/>
                </a:ext>
              </a:extLst>
            </p:cNvPr>
            <p:cNvSpPr txBox="1"/>
            <p:nvPr/>
          </p:nvSpPr>
          <p:spPr>
            <a:xfrm>
              <a:off x="4595409" y="2167780"/>
              <a:ext cx="615354" cy="2623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  <a:spcAft>
                  <a:spcPts val="800"/>
                </a:spcAft>
              </a:pPr>
              <a:r>
                <a:rPr lang="pt-BR" sz="800" dirty="0">
                  <a:latin typeface="Montserrat Medium" pitchFamily="2" charset="0"/>
                  <a:ea typeface="Source Serif Pro" panose="02040603050405020204" pitchFamily="18" charset="0"/>
                </a:rPr>
                <a:t>Loções 500ml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FEC264A-800D-8583-C82B-DBA2471AE1FE}"/>
              </a:ext>
            </a:extLst>
          </p:cNvPr>
          <p:cNvGrpSpPr/>
          <p:nvPr/>
        </p:nvGrpSpPr>
        <p:grpSpPr>
          <a:xfrm>
            <a:off x="2662254" y="1608971"/>
            <a:ext cx="689558" cy="894445"/>
            <a:chOff x="1771068" y="1692164"/>
            <a:chExt cx="689558" cy="894445"/>
          </a:xfrm>
        </p:grpSpPr>
        <p:pic>
          <p:nvPicPr>
            <p:cNvPr id="110" name="Picture 109" descr="A group of bottles of liquid&#10;&#10;Description automatically generated">
              <a:extLst>
                <a:ext uri="{FF2B5EF4-FFF2-40B4-BE49-F238E27FC236}">
                  <a16:creationId xmlns:a16="http://schemas.microsoft.com/office/drawing/2014/main" id="{384F1907-1D48-DFAC-0D28-7BDC3CF02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8933"/>
            <a:stretch/>
          </p:blipFill>
          <p:spPr>
            <a:xfrm>
              <a:off x="1972412" y="1692164"/>
              <a:ext cx="286869" cy="591039"/>
            </a:xfrm>
            <a:prstGeom prst="rect">
              <a:avLst/>
            </a:prstGeom>
          </p:spPr>
        </p:pic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DE0060D2-4CDC-EECC-EC77-304CF8323A7F}"/>
                </a:ext>
              </a:extLst>
            </p:cNvPr>
            <p:cNvSpPr txBox="1"/>
            <p:nvPr/>
          </p:nvSpPr>
          <p:spPr>
            <a:xfrm>
              <a:off x="1771068" y="2324229"/>
              <a:ext cx="689558" cy="2623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  <a:spcAft>
                  <a:spcPts val="800"/>
                </a:spcAft>
              </a:pPr>
              <a:r>
                <a:rPr lang="pt-BR" sz="800" dirty="0">
                  <a:latin typeface="Montserrat Medium" pitchFamily="2" charset="0"/>
                  <a:ea typeface="Source Serif Pro" panose="02040603050405020204" pitchFamily="18" charset="0"/>
                </a:rPr>
                <a:t>Óleos corporais</a:t>
              </a:r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6F4D94A5-A99A-69C9-C266-774BB1061631}"/>
              </a:ext>
            </a:extLst>
          </p:cNvPr>
          <p:cNvGrpSpPr/>
          <p:nvPr/>
        </p:nvGrpSpPr>
        <p:grpSpPr>
          <a:xfrm>
            <a:off x="3503310" y="1613253"/>
            <a:ext cx="1069500" cy="890163"/>
            <a:chOff x="6161386" y="1539997"/>
            <a:chExt cx="1069500" cy="890163"/>
          </a:xfrm>
        </p:grpSpPr>
        <p:pic>
          <p:nvPicPr>
            <p:cNvPr id="115" name="Picture 114" descr="A couple of bottles of liquid&#10;&#10;Description automatically generated">
              <a:extLst>
                <a:ext uri="{FF2B5EF4-FFF2-40B4-BE49-F238E27FC236}">
                  <a16:creationId xmlns:a16="http://schemas.microsoft.com/office/drawing/2014/main" id="{560F72E8-6786-B20E-BFFF-3E47EA1DC4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78097" y="1539997"/>
              <a:ext cx="436076" cy="582473"/>
            </a:xfrm>
            <a:prstGeom prst="rect">
              <a:avLst/>
            </a:prstGeom>
          </p:spPr>
        </p:pic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74D3DA4E-73A1-A899-05B8-154CA2DB1EC8}"/>
                </a:ext>
              </a:extLst>
            </p:cNvPr>
            <p:cNvSpPr txBox="1"/>
            <p:nvPr/>
          </p:nvSpPr>
          <p:spPr>
            <a:xfrm>
              <a:off x="6161386" y="2167780"/>
              <a:ext cx="1069500" cy="2623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  <a:spcAft>
                  <a:spcPts val="800"/>
                </a:spcAft>
              </a:pPr>
              <a:r>
                <a:rPr lang="pt-BR" sz="800" dirty="0">
                  <a:latin typeface="Montserrat Medium" pitchFamily="2" charset="0"/>
                  <a:ea typeface="Source Serif Pro" panose="02040603050405020204" pitchFamily="18" charset="0"/>
                </a:rPr>
                <a:t>Sabonetes corporais e íntimos</a:t>
              </a:r>
            </a:p>
          </p:txBody>
        </p:sp>
      </p:grpSp>
      <p:sp>
        <p:nvSpPr>
          <p:cNvPr id="117" name="Content Placeholder 6">
            <a:extLst>
              <a:ext uri="{FF2B5EF4-FFF2-40B4-BE49-F238E27FC236}">
                <a16:creationId xmlns:a16="http://schemas.microsoft.com/office/drawing/2014/main" id="{F65ECEDB-3C38-611E-5B16-02F30E592F76}"/>
              </a:ext>
            </a:extLst>
          </p:cNvPr>
          <p:cNvSpPr txBox="1">
            <a:spLocks/>
          </p:cNvSpPr>
          <p:nvPr/>
        </p:nvSpPr>
        <p:spPr>
          <a:xfrm>
            <a:off x="4932055" y="1724980"/>
            <a:ext cx="976286" cy="32791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1pPr>
            <a:lvl2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2pPr>
            <a:lvl3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Source Sans Pro" panose="020B0503030403020204" pitchFamily="34" charset="0"/>
              <a:buChar char="−"/>
              <a:defRPr sz="1200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kern="1200">
                <a:solidFill>
                  <a:schemeClr val="accent3"/>
                </a:solidFill>
                <a:latin typeface="Source Serif Pro Light" panose="02040303050405020204" pitchFamily="18" charset="0"/>
                <a:ea typeface="Source Serif Pro Light" panose="02040303050405020204" pitchFamily="18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/>
            <a:r>
              <a:rPr lang="pt-BR" sz="1000" dirty="0">
                <a:solidFill>
                  <a:schemeClr val="tx2"/>
                </a:solidFill>
                <a:latin typeface="Montserrat" panose="00000500000000000000" pitchFamily="2" charset="0"/>
                <a:cs typeface="Poppins" panose="00000500000000000000" pitchFamily="2" charset="0"/>
              </a:rPr>
              <a:t>Linha profissional</a:t>
            </a:r>
            <a:endParaRPr lang="en-US" sz="1000" dirty="0">
              <a:solidFill>
                <a:schemeClr val="tx2"/>
              </a:solidFill>
              <a:latin typeface="Montserrat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C411F77-8C63-56FD-E82B-B67CE46542DA}"/>
              </a:ext>
            </a:extLst>
          </p:cNvPr>
          <p:cNvGrpSpPr/>
          <p:nvPr/>
        </p:nvGrpSpPr>
        <p:grpSpPr>
          <a:xfrm>
            <a:off x="5813715" y="1702899"/>
            <a:ext cx="914320" cy="800517"/>
            <a:chOff x="4667441" y="1786598"/>
            <a:chExt cx="914320" cy="800517"/>
          </a:xfrm>
        </p:grpSpPr>
        <p:pic>
          <p:nvPicPr>
            <p:cNvPr id="118" name="Picture 117">
              <a:extLst>
                <a:ext uri="{FF2B5EF4-FFF2-40B4-BE49-F238E27FC236}">
                  <a16:creationId xmlns:a16="http://schemas.microsoft.com/office/drawing/2014/main" id="{78F6D68D-E362-A8FF-9209-BD138E7BAF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20389" y="1786598"/>
              <a:ext cx="408425" cy="517261"/>
            </a:xfrm>
            <a:prstGeom prst="rect">
              <a:avLst/>
            </a:prstGeom>
          </p:spPr>
        </p:pic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2681AE57-64C3-3611-6CCE-01908A2D1B68}"/>
                </a:ext>
              </a:extLst>
            </p:cNvPr>
            <p:cNvSpPr txBox="1"/>
            <p:nvPr/>
          </p:nvSpPr>
          <p:spPr>
            <a:xfrm>
              <a:off x="4667441" y="2324735"/>
              <a:ext cx="914320" cy="2623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  <a:spcAft>
                  <a:spcPts val="800"/>
                </a:spcAft>
              </a:pPr>
              <a:r>
                <a:rPr lang="pt-BR" sz="800" dirty="0">
                  <a:latin typeface="Montserrat Medium" pitchFamily="2" charset="0"/>
                  <a:ea typeface="Source Serif Pro" panose="02040603050405020204" pitchFamily="18" charset="0"/>
                </a:rPr>
                <a:t>Modelagem corporal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A52F26B-D7E5-AE31-F74F-BC0D6100EDEA}"/>
              </a:ext>
            </a:extLst>
          </p:cNvPr>
          <p:cNvGrpSpPr/>
          <p:nvPr/>
        </p:nvGrpSpPr>
        <p:grpSpPr>
          <a:xfrm>
            <a:off x="6633409" y="1653768"/>
            <a:ext cx="925940" cy="849648"/>
            <a:chOff x="5889445" y="1734464"/>
            <a:chExt cx="925940" cy="849648"/>
          </a:xfrm>
        </p:grpSpPr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C867B22B-CB0B-DA30-4B50-3AB55A5AB222}"/>
                </a:ext>
              </a:extLst>
            </p:cNvPr>
            <p:cNvSpPr txBox="1"/>
            <p:nvPr/>
          </p:nvSpPr>
          <p:spPr>
            <a:xfrm>
              <a:off x="5889445" y="2321732"/>
              <a:ext cx="925940" cy="2623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  <a:spcAft>
                  <a:spcPts val="800"/>
                </a:spcAft>
              </a:pPr>
              <a:r>
                <a:rPr lang="pt-BR" sz="800" dirty="0">
                  <a:latin typeface="Montserrat Medium" pitchFamily="2" charset="0"/>
                  <a:ea typeface="Source Serif Pro" panose="02040603050405020204" pitchFamily="18" charset="0"/>
                </a:rPr>
                <a:t>Manicure e pedicure</a:t>
              </a:r>
            </a:p>
          </p:txBody>
        </p:sp>
        <p:pic>
          <p:nvPicPr>
            <p:cNvPr id="125" name="Picture 124" descr="A bottle and a container of hair care&#10;&#10;Description automatically generated">
              <a:extLst>
                <a:ext uri="{FF2B5EF4-FFF2-40B4-BE49-F238E27FC236}">
                  <a16:creationId xmlns:a16="http://schemas.microsoft.com/office/drawing/2014/main" id="{AD126172-3ADC-4A33-119D-4040297B77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69957" y="1734464"/>
              <a:ext cx="564917" cy="545095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30500F3-E7B6-2232-8EE3-2A9DCC12E759}"/>
              </a:ext>
            </a:extLst>
          </p:cNvPr>
          <p:cNvGrpSpPr/>
          <p:nvPr/>
        </p:nvGrpSpPr>
        <p:grpSpPr>
          <a:xfrm>
            <a:off x="7464723" y="1683640"/>
            <a:ext cx="858670" cy="819776"/>
            <a:chOff x="7149155" y="1764254"/>
            <a:chExt cx="858670" cy="819776"/>
          </a:xfrm>
        </p:grpSpPr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6AA7A1FA-07F7-56EC-58E8-37EFB78C1EC3}"/>
                </a:ext>
              </a:extLst>
            </p:cNvPr>
            <p:cNvSpPr txBox="1"/>
            <p:nvPr/>
          </p:nvSpPr>
          <p:spPr>
            <a:xfrm>
              <a:off x="7149155" y="2321650"/>
              <a:ext cx="858670" cy="2623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  <a:spcAft>
                  <a:spcPts val="800"/>
                </a:spcAft>
              </a:pPr>
              <a:r>
                <a:rPr lang="pt-BR" sz="800" dirty="0">
                  <a:latin typeface="Montserrat Medium" pitchFamily="2" charset="0"/>
                  <a:ea typeface="Source Serif Pro" panose="02040603050405020204" pitchFamily="18" charset="0"/>
                </a:rPr>
                <a:t>Óleos para massagem</a:t>
              </a:r>
            </a:p>
          </p:txBody>
        </p:sp>
        <p:pic>
          <p:nvPicPr>
            <p:cNvPr id="137" name="Picture 136" descr="A bottle of shampoo&#10;&#10;Description automatically generated">
              <a:extLst>
                <a:ext uri="{FF2B5EF4-FFF2-40B4-BE49-F238E27FC236}">
                  <a16:creationId xmlns:a16="http://schemas.microsoft.com/office/drawing/2014/main" id="{07FAF892-5F75-11CB-C18A-B0BDEA7B48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65867" y="1764254"/>
              <a:ext cx="225245" cy="514848"/>
            </a:xfrm>
            <a:prstGeom prst="rect">
              <a:avLst/>
            </a:prstGeom>
          </p:spPr>
        </p:pic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7BFEC249-74D0-440A-BE75-C01DB20E045B}"/>
              </a:ext>
            </a:extLst>
          </p:cNvPr>
          <p:cNvGrpSpPr/>
          <p:nvPr/>
        </p:nvGrpSpPr>
        <p:grpSpPr>
          <a:xfrm>
            <a:off x="8228767" y="1671902"/>
            <a:ext cx="826494" cy="831514"/>
            <a:chOff x="10741572" y="1598646"/>
            <a:chExt cx="826494" cy="831514"/>
          </a:xfrm>
        </p:grpSpPr>
        <p:pic>
          <p:nvPicPr>
            <p:cNvPr id="143" name="Picture 142" descr="A bottle of gel with a pink label&#10;&#10;Description automatically generated">
              <a:extLst>
                <a:ext uri="{FF2B5EF4-FFF2-40B4-BE49-F238E27FC236}">
                  <a16:creationId xmlns:a16="http://schemas.microsoft.com/office/drawing/2014/main" id="{6A76E3A3-1D11-C2CF-0881-15A800D24F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25348" y="1598646"/>
              <a:ext cx="258941" cy="529070"/>
            </a:xfrm>
            <a:prstGeom prst="rect">
              <a:avLst/>
            </a:prstGeom>
          </p:spPr>
        </p:pic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A9525CE4-BBE2-92E8-53B2-6811D635BDBF}"/>
                </a:ext>
              </a:extLst>
            </p:cNvPr>
            <p:cNvSpPr txBox="1"/>
            <p:nvPr/>
          </p:nvSpPr>
          <p:spPr>
            <a:xfrm>
              <a:off x="10741572" y="2167780"/>
              <a:ext cx="826494" cy="2623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  <a:spcAft>
                  <a:spcPts val="800"/>
                </a:spcAft>
              </a:pPr>
              <a:r>
                <a:rPr lang="pt-BR" sz="800" dirty="0">
                  <a:latin typeface="Montserrat Medium" pitchFamily="2" charset="0"/>
                  <a:ea typeface="Source Serif Pro" panose="02040603050405020204" pitchFamily="18" charset="0"/>
                </a:rPr>
                <a:t>Géis condutores</a:t>
              </a:r>
            </a:p>
          </p:txBody>
        </p:sp>
      </p:grpSp>
      <p:sp>
        <p:nvSpPr>
          <p:cNvPr id="156" name="Content Placeholder 6">
            <a:extLst>
              <a:ext uri="{FF2B5EF4-FFF2-40B4-BE49-F238E27FC236}">
                <a16:creationId xmlns:a16="http://schemas.microsoft.com/office/drawing/2014/main" id="{6D03A1DB-F5F3-01DC-51F3-2A60ADDF800A}"/>
              </a:ext>
            </a:extLst>
          </p:cNvPr>
          <p:cNvSpPr txBox="1">
            <a:spLocks/>
          </p:cNvSpPr>
          <p:nvPr/>
        </p:nvSpPr>
        <p:spPr>
          <a:xfrm>
            <a:off x="596867" y="4253637"/>
            <a:ext cx="3477192" cy="755335"/>
          </a:xfrm>
          <a:prstGeom prst="rect">
            <a:avLst/>
          </a:prstGeom>
        </p:spPr>
        <p:txBody>
          <a:bodyPr vert="horz" wrap="square" lIns="144000" tIns="0" rIns="0" bIns="0" rtlCol="0" anchor="ctr" anchorCtr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1pPr>
            <a:lvl2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2pPr>
            <a:lvl3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Source Sans Pro" panose="020B0503030403020204" pitchFamily="34" charset="0"/>
              <a:buChar char="−"/>
              <a:defRPr sz="1200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kern="1200">
                <a:solidFill>
                  <a:schemeClr val="accent3"/>
                </a:solidFill>
                <a:latin typeface="Source Serif Pro Light" panose="02040303050405020204" pitchFamily="18" charset="0"/>
                <a:ea typeface="Source Serif Pro Light" panose="02040303050405020204" pitchFamily="18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>
              <a:lnSpc>
                <a:spcPct val="120000"/>
              </a:lnSpc>
            </a:pPr>
            <a:r>
              <a:rPr lang="pt-BR" sz="1400" spc="-10" dirty="0">
                <a:latin typeface="Montserrat" panose="00000500000000000000" pitchFamily="2" charset="0"/>
                <a:cs typeface="Poppins" panose="00000500000000000000" pitchFamily="2" charset="0"/>
              </a:rPr>
              <a:t>Diferentemente da concorrência, </a:t>
            </a:r>
            <a:r>
              <a:rPr lang="pt-BR" sz="1400" spc="-10" dirty="0" err="1">
                <a:latin typeface="Montserrat" panose="00000500000000000000" pitchFamily="2" charset="0"/>
                <a:cs typeface="Poppins" panose="00000500000000000000" pitchFamily="2" charset="0"/>
              </a:rPr>
              <a:t>Biocap</a:t>
            </a:r>
            <a:r>
              <a:rPr lang="pt-BR" sz="1400" spc="-10" dirty="0">
                <a:latin typeface="Montserrat" panose="00000500000000000000" pitchFamily="2" charset="0"/>
                <a:cs typeface="Poppins" panose="00000500000000000000" pitchFamily="2" charset="0"/>
              </a:rPr>
              <a:t> é uma marca especializada em </a:t>
            </a:r>
            <a:r>
              <a:rPr lang="pt-BR" sz="1400" spc="-10" dirty="0" err="1">
                <a:latin typeface="Montserrat" panose="00000500000000000000" pitchFamily="2" charset="0"/>
                <a:cs typeface="Poppins" panose="00000500000000000000" pitchFamily="2" charset="0"/>
              </a:rPr>
              <a:t>Bodycare</a:t>
            </a:r>
            <a:r>
              <a:rPr lang="pt-BR" sz="1400" spc="-10" dirty="0">
                <a:latin typeface="Montserrat" panose="00000500000000000000" pitchFamily="2" charset="0"/>
                <a:cs typeface="Poppins" panose="00000500000000000000" pitchFamily="2" charset="0"/>
              </a:rPr>
              <a:t>...</a:t>
            </a:r>
            <a:endParaRPr lang="en-US" sz="1400" spc="-10" dirty="0">
              <a:latin typeface="Montserrat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491CA46-EAAA-48E4-ABCC-4BE2570D2E42}"/>
              </a:ext>
            </a:extLst>
          </p:cNvPr>
          <p:cNvGrpSpPr/>
          <p:nvPr/>
        </p:nvGrpSpPr>
        <p:grpSpPr>
          <a:xfrm>
            <a:off x="6470982" y="4379016"/>
            <a:ext cx="5363830" cy="1615972"/>
            <a:chOff x="6470982" y="4434221"/>
            <a:chExt cx="5363830" cy="1560767"/>
          </a:xfrm>
        </p:grpSpPr>
        <p:graphicFrame>
          <p:nvGraphicFramePr>
            <p:cNvPr id="153" name="Content Placeholder 20">
              <a:extLst>
                <a:ext uri="{FF2B5EF4-FFF2-40B4-BE49-F238E27FC236}">
                  <a16:creationId xmlns:a16="http://schemas.microsoft.com/office/drawing/2014/main" id="{B191D177-2042-4738-6746-35BFF6D85432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032883879"/>
                </p:ext>
              </p:extLst>
            </p:nvPr>
          </p:nvGraphicFramePr>
          <p:xfrm>
            <a:off x="6470982" y="4434221"/>
            <a:ext cx="5363830" cy="156076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6"/>
            </a:graphicData>
          </a:graphic>
        </p:graphicFrame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8B57D77-1063-63D3-A42E-99CB7704006E}"/>
                </a:ext>
              </a:extLst>
            </p:cNvPr>
            <p:cNvGrpSpPr/>
            <p:nvPr/>
          </p:nvGrpSpPr>
          <p:grpSpPr>
            <a:xfrm>
              <a:off x="7123068" y="4579543"/>
              <a:ext cx="3753309" cy="574264"/>
              <a:chOff x="6737393" y="4511939"/>
              <a:chExt cx="4249353" cy="200121"/>
            </a:xfrm>
          </p:grpSpPr>
          <p:cxnSp>
            <p:nvCxnSpPr>
              <p:cNvPr id="161" name="Connector: Elbow 160">
                <a:extLst>
                  <a:ext uri="{FF2B5EF4-FFF2-40B4-BE49-F238E27FC236}">
                    <a16:creationId xmlns:a16="http://schemas.microsoft.com/office/drawing/2014/main" id="{9C187D80-7157-BA03-80C2-17CC813BD73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37393" y="4541592"/>
                <a:ext cx="4249353" cy="170468"/>
              </a:xfrm>
              <a:prstGeom prst="bentConnector3">
                <a:avLst>
                  <a:gd name="adj1" fmla="val 23"/>
                </a:avLst>
              </a:prstGeom>
              <a:ln>
                <a:solidFill>
                  <a:schemeClr val="bg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130AA90D-06E4-B357-3C54-B7D32836C436}"/>
                  </a:ext>
                </a:extLst>
              </p:cNvPr>
              <p:cNvSpPr txBox="1"/>
              <p:nvPr/>
            </p:nvSpPr>
            <p:spPr>
              <a:xfrm flipH="1">
                <a:off x="8638054" y="4511939"/>
                <a:ext cx="495571" cy="5937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sz="1000" dirty="0">
                    <a:solidFill>
                      <a:schemeClr val="bg2"/>
                    </a:solidFill>
                    <a:latin typeface="Montserrat "/>
                    <a:ea typeface="Source Serif Pro" panose="02040603050405020204" pitchFamily="18" charset="0"/>
                  </a:rPr>
                  <a:t>+500</a:t>
                </a:r>
                <a:endParaRPr kumimoji="0" lang="pt-BR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Montserrat "/>
                  <a:ea typeface="Source Serif Pro" panose="02040603050405020204" pitchFamily="18" charset="0"/>
                </a:endParaRPr>
              </a:p>
            </p:txBody>
          </p:sp>
        </p:grpSp>
      </p:grpSp>
      <p:sp>
        <p:nvSpPr>
          <p:cNvPr id="164" name="Content Placeholder 10">
            <a:extLst>
              <a:ext uri="{FF2B5EF4-FFF2-40B4-BE49-F238E27FC236}">
                <a16:creationId xmlns:a16="http://schemas.microsoft.com/office/drawing/2014/main" id="{68F2E735-E319-CB56-6CFD-0763AB6F0397}"/>
              </a:ext>
            </a:extLst>
          </p:cNvPr>
          <p:cNvSpPr txBox="1">
            <a:spLocks/>
          </p:cNvSpPr>
          <p:nvPr/>
        </p:nvSpPr>
        <p:spPr>
          <a:xfrm>
            <a:off x="6470982" y="4288476"/>
            <a:ext cx="2526017" cy="179148"/>
          </a:xfrm>
          <a:prstGeom prst="rect">
            <a:avLst/>
          </a:prstGeom>
        </p:spPr>
        <p:txBody>
          <a:bodyPr vert="horz" wrap="square" lIns="0" tIns="3600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1pPr>
            <a:lvl2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2pPr>
            <a:lvl3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Source Sans Pro" panose="020B0503030403020204" pitchFamily="34" charset="0"/>
              <a:buChar char="−"/>
              <a:defRPr sz="1200" kern="1200">
                <a:solidFill>
                  <a:schemeClr val="tx1"/>
                </a:solidFill>
                <a:latin typeface="Source Serif Pro Light" panose="02040303050405020204" pitchFamily="18" charset="0"/>
                <a:ea typeface="Source Serif Pro Light" panose="02040303050405020204" pitchFamily="18" charset="0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2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kern="1200">
                <a:solidFill>
                  <a:schemeClr val="accent4"/>
                </a:solidFill>
                <a:latin typeface="Source Serif Pro Black" panose="02040903050405020204" pitchFamily="18" charset="0"/>
                <a:ea typeface="Source Serif Pro Black" panose="02040903050405020204" pitchFamily="18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sz="900" b="0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rPr>
              <a:t>Evolução do número de clientes (#)</a:t>
            </a:r>
          </a:p>
        </p:txBody>
      </p:sp>
      <p:sp>
        <p:nvSpPr>
          <p:cNvPr id="165" name="Content Placeholder 6">
            <a:extLst>
              <a:ext uri="{FF2B5EF4-FFF2-40B4-BE49-F238E27FC236}">
                <a16:creationId xmlns:a16="http://schemas.microsoft.com/office/drawing/2014/main" id="{196E0D7C-24E7-3718-7D1D-BC5094C9BD9B}"/>
              </a:ext>
            </a:extLst>
          </p:cNvPr>
          <p:cNvSpPr txBox="1">
            <a:spLocks/>
          </p:cNvSpPr>
          <p:nvPr/>
        </p:nvSpPr>
        <p:spPr>
          <a:xfrm>
            <a:off x="596865" y="5163960"/>
            <a:ext cx="3031921" cy="724173"/>
          </a:xfrm>
          <a:prstGeom prst="rect">
            <a:avLst/>
          </a:prstGeom>
        </p:spPr>
        <p:txBody>
          <a:bodyPr vert="horz" wrap="square" lIns="144000" tIns="0" rIns="0" bIns="0" rtlCol="0" anchor="ctr" anchorCtr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1pPr>
            <a:lvl2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2pPr>
            <a:lvl3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Source Sans Pro" panose="020B0503030403020204" pitchFamily="34" charset="0"/>
              <a:buChar char="−"/>
              <a:defRPr sz="1200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kern="1200">
                <a:solidFill>
                  <a:schemeClr val="accent3"/>
                </a:solidFill>
                <a:latin typeface="Source Serif Pro Light" panose="02040303050405020204" pitchFamily="18" charset="0"/>
                <a:ea typeface="Source Serif Pro Light" panose="02040303050405020204" pitchFamily="18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>
              <a:lnSpc>
                <a:spcPct val="120000"/>
              </a:lnSpc>
            </a:pPr>
            <a:r>
              <a:rPr lang="pt-BR" sz="1000" b="0" dirty="0">
                <a:latin typeface="Montserrat" panose="00000500000000000000" pitchFamily="2" charset="0"/>
                <a:cs typeface="Poppins" panose="00000500000000000000" pitchFamily="2" charset="0"/>
              </a:rPr>
              <a:t>A especialização impulsiona a </a:t>
            </a:r>
            <a:r>
              <a:rPr lang="pt-BR" sz="1000" dirty="0">
                <a:latin typeface="Montserrat" panose="00000500000000000000" pitchFamily="2" charset="0"/>
                <a:cs typeface="Poppins" panose="00000500000000000000" pitchFamily="2" charset="0"/>
              </a:rPr>
              <a:t>preferência dos consumidores </a:t>
            </a:r>
            <a:r>
              <a:rPr lang="pt-BR" sz="1000" b="0" dirty="0">
                <a:latin typeface="Montserrat" panose="00000500000000000000" pitchFamily="2" charset="0"/>
                <a:cs typeface="Poppins" panose="00000500000000000000" pitchFamily="2" charset="0"/>
              </a:rPr>
              <a:t>pelos produtos</a:t>
            </a:r>
            <a:r>
              <a:rPr lang="pt-BR" sz="1000" dirty="0">
                <a:latin typeface="Montserrat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dirty="0" err="1">
                <a:latin typeface="Montserrat" panose="00000500000000000000" pitchFamily="2" charset="0"/>
                <a:cs typeface="Poppins" panose="00000500000000000000" pitchFamily="2" charset="0"/>
              </a:rPr>
              <a:t>Biocap</a:t>
            </a:r>
            <a:r>
              <a:rPr lang="pt-BR" sz="1000" b="0" dirty="0">
                <a:latin typeface="Montserrat" panose="00000500000000000000" pitchFamily="2" charset="0"/>
                <a:cs typeface="Poppins" panose="00000500000000000000" pitchFamily="2" charset="0"/>
              </a:rPr>
              <a:t>, levando a um </a:t>
            </a:r>
            <a:r>
              <a:rPr lang="pt-BR" sz="1000" dirty="0">
                <a:latin typeface="Montserrat" panose="00000500000000000000" pitchFamily="2" charset="0"/>
                <a:cs typeface="Poppins" panose="00000500000000000000" pitchFamily="2" charset="0"/>
              </a:rPr>
              <a:t>aumento na base de clientes </a:t>
            </a:r>
            <a:r>
              <a:rPr lang="pt-BR" sz="1000" b="0" dirty="0">
                <a:latin typeface="Montserrat" panose="00000500000000000000" pitchFamily="2" charset="0"/>
                <a:cs typeface="Poppins" panose="00000500000000000000" pitchFamily="2" charset="0"/>
              </a:rPr>
              <a:t>e consequentemente nas vendas</a:t>
            </a:r>
            <a:endParaRPr lang="en-US" sz="1000" b="0" dirty="0">
              <a:latin typeface="Montserrat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050" name="Picture 2" descr="Creme de Massagem Hidramais FirmingDetox | Beleza na Web">
            <a:extLst>
              <a:ext uri="{FF2B5EF4-FFF2-40B4-BE49-F238E27FC236}">
                <a16:creationId xmlns:a16="http://schemas.microsoft.com/office/drawing/2014/main" id="{C336F300-C118-4C87-F9BD-81D7FC8A5D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98" t="10898" r="10898" b="10898"/>
          <a:stretch/>
        </p:blipFill>
        <p:spPr bwMode="auto">
          <a:xfrm>
            <a:off x="10474438" y="1702278"/>
            <a:ext cx="1449652" cy="769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: Diagonal Corners Rounded 14">
            <a:extLst>
              <a:ext uri="{FF2B5EF4-FFF2-40B4-BE49-F238E27FC236}">
                <a16:creationId xmlns:a16="http://schemas.microsoft.com/office/drawing/2014/main" id="{3A82C873-65A9-31A0-B68C-A551463FDDE7}"/>
              </a:ext>
            </a:extLst>
          </p:cNvPr>
          <p:cNvSpPr/>
          <p:nvPr/>
        </p:nvSpPr>
        <p:spPr>
          <a:xfrm>
            <a:off x="4427911" y="4283260"/>
            <a:ext cx="1529720" cy="1701615"/>
          </a:xfrm>
          <a:prstGeom prst="round2Diag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0E7A75-3673-8EC5-BE89-42480FE41E3D}"/>
              </a:ext>
            </a:extLst>
          </p:cNvPr>
          <p:cNvSpPr txBox="1"/>
          <p:nvPr/>
        </p:nvSpPr>
        <p:spPr>
          <a:xfrm>
            <a:off x="4585926" y="4562599"/>
            <a:ext cx="121369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508</a:t>
            </a:r>
            <a:endParaRPr lang="pt-BR" sz="1600" dirty="0">
              <a:solidFill>
                <a:schemeClr val="bg1"/>
              </a:solidFill>
              <a:latin typeface="Montserrat" panose="00000500000000000000" pitchFamily="2" charset="0"/>
              <a:ea typeface="Source Serif Pro Black" panose="0204090305040502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444577-7329-02AB-874C-9232120C4CEF}"/>
              </a:ext>
            </a:extLst>
          </p:cNvPr>
          <p:cNvSpPr txBox="1"/>
          <p:nvPr/>
        </p:nvSpPr>
        <p:spPr>
          <a:xfrm>
            <a:off x="4645859" y="5243871"/>
            <a:ext cx="1093824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pt-BR" sz="1000" dirty="0">
                <a:latin typeface="Montserrat" panose="00000500000000000000" pitchFamily="2" charset="0"/>
                <a:ea typeface="Source Serif Pro" panose="02040603050405020204" pitchFamily="18" charset="0"/>
                <a:cs typeface="Poppins" panose="00000500000000000000" pitchFamily="2" charset="0"/>
              </a:rPr>
              <a:t>Novos clientes nos últimos                 3 anos</a:t>
            </a:r>
            <a:endParaRPr lang="pt-BR" sz="1000" b="1" dirty="0">
              <a:latin typeface="Montserrat" panose="00000500000000000000" pitchFamily="2" charset="0"/>
              <a:ea typeface="Source Serif Pro" panose="02040603050405020204" pitchFamily="18" charset="0"/>
              <a:cs typeface="Poppins" panose="00000500000000000000" pitchFamily="2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7A44EC6-5099-F8D2-E719-D6436FA98AEF}"/>
              </a:ext>
            </a:extLst>
          </p:cNvPr>
          <p:cNvCxnSpPr>
            <a:cxnSpLocks/>
          </p:cNvCxnSpPr>
          <p:nvPr/>
        </p:nvCxnSpPr>
        <p:spPr>
          <a:xfrm>
            <a:off x="6992579" y="2883466"/>
            <a:ext cx="0" cy="936000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53EE25-BE85-E8FB-BCC5-C7819F23B7D6}"/>
              </a:ext>
            </a:extLst>
          </p:cNvPr>
          <p:cNvCxnSpPr>
            <a:cxnSpLocks/>
          </p:cNvCxnSpPr>
          <p:nvPr/>
        </p:nvCxnSpPr>
        <p:spPr>
          <a:xfrm>
            <a:off x="4724307" y="1619152"/>
            <a:ext cx="0" cy="936000"/>
          </a:xfrm>
          <a:prstGeom prst="line">
            <a:avLst/>
          </a:prstGeom>
          <a:ln>
            <a:solidFill>
              <a:schemeClr val="accent1">
                <a:alpha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5941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Box 101">
            <a:extLst>
              <a:ext uri="{FF2B5EF4-FFF2-40B4-BE49-F238E27FC236}">
                <a16:creationId xmlns:a16="http://schemas.microsoft.com/office/drawing/2014/main" id="{21C2FD47-DD7B-5D38-A4C0-7F3F4DDFDFC7}"/>
              </a:ext>
            </a:extLst>
          </p:cNvPr>
          <p:cNvSpPr txBox="1"/>
          <p:nvPr/>
        </p:nvSpPr>
        <p:spPr>
          <a:xfrm>
            <a:off x="6073028" y="1988880"/>
            <a:ext cx="1132957" cy="760978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Montserrat "/>
              </a:rPr>
              <a:t>“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  <a:latin typeface="Montserrat "/>
              </a:rPr>
              <a:t>Itens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Montserrat "/>
              </a:rPr>
              <a:t>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  <a:latin typeface="Montserrat "/>
              </a:rPr>
              <a:t>baratinhos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Montserrat "/>
              </a:rPr>
              <a:t> que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  <a:latin typeface="Montserrat "/>
              </a:rPr>
              <a:t>toda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Montserrat "/>
              </a:rPr>
              <a:t>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  <a:latin typeface="Montserrat "/>
              </a:rPr>
              <a:t>mulher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Montserrat "/>
              </a:rPr>
              <a:t>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  <a:latin typeface="Montserrat "/>
              </a:rPr>
              <a:t>deveria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Montserrat "/>
              </a:rPr>
              <a:t>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  <a:latin typeface="Montserrat "/>
              </a:rPr>
              <a:t>conhecer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Montserrat "/>
              </a:rPr>
              <a:t>: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  <a:latin typeface="Montserrat "/>
              </a:rPr>
              <a:t>hidratante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Montserrat "/>
              </a:rPr>
              <a:t>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  <a:latin typeface="Montserrat "/>
              </a:rPr>
              <a:t>hidramais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Montserrat "/>
              </a:rPr>
              <a:t>…"</a:t>
            </a:r>
            <a:endParaRPr lang="pt-BR" sz="800" dirty="0">
              <a:solidFill>
                <a:schemeClr val="bg2">
                  <a:lumMod val="50000"/>
                </a:schemeClr>
              </a:solidFill>
              <a:latin typeface="Montserrat 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0078821E-C361-1438-8CFF-08F511E376FF}"/>
              </a:ext>
            </a:extLst>
          </p:cNvPr>
          <p:cNvSpPr txBox="1"/>
          <p:nvPr/>
        </p:nvSpPr>
        <p:spPr>
          <a:xfrm>
            <a:off x="6073028" y="2766631"/>
            <a:ext cx="11199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>
                <a:solidFill>
                  <a:schemeClr val="accent3"/>
                </a:solidFill>
                <a:latin typeface="Montserrat SemiBold" pitchFamily="2" charset="0"/>
                <a:ea typeface="Source Serif Pro Light" panose="02040303050405020204" pitchFamily="18" charset="0"/>
              </a:rPr>
              <a:t>@kamilla.soares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11854C7-8188-AAAC-1704-1DE5E3A34760}"/>
              </a:ext>
            </a:extLst>
          </p:cNvPr>
          <p:cNvGrpSpPr/>
          <p:nvPr/>
        </p:nvGrpSpPr>
        <p:grpSpPr>
          <a:xfrm>
            <a:off x="5283403" y="1952492"/>
            <a:ext cx="794894" cy="1454623"/>
            <a:chOff x="5036401" y="1842291"/>
            <a:chExt cx="944604" cy="1728587"/>
          </a:xfrm>
        </p:grpSpPr>
        <p:pic>
          <p:nvPicPr>
            <p:cNvPr id="49" name="Picture 48" descr="A hand holding a bottle of shampoo&#10;&#10;Description automatically generated">
              <a:extLst>
                <a:ext uri="{FF2B5EF4-FFF2-40B4-BE49-F238E27FC236}">
                  <a16:creationId xmlns:a16="http://schemas.microsoft.com/office/drawing/2014/main" id="{D3F62311-E538-FED2-48E6-EE6DE3CBA9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0170"/>
            <a:stretch/>
          </p:blipFill>
          <p:spPr>
            <a:xfrm>
              <a:off x="5107706" y="1900897"/>
              <a:ext cx="808603" cy="1586967"/>
            </a:xfrm>
            <a:prstGeom prst="roundRect">
              <a:avLst>
                <a:gd name="adj" fmla="val 10188"/>
              </a:avLst>
            </a:prstGeom>
          </p:spPr>
        </p:pic>
        <p:pic>
          <p:nvPicPr>
            <p:cNvPr id="53" name="Imagem 57" descr="Placa com fundo preto&#10;&#10;Descrição gerada automaticamente com confiança média">
              <a:extLst>
                <a:ext uri="{FF2B5EF4-FFF2-40B4-BE49-F238E27FC236}">
                  <a16:creationId xmlns:a16="http://schemas.microsoft.com/office/drawing/2014/main" id="{E34CF3D0-C05C-2480-F834-DC341F628C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036401" y="1842291"/>
              <a:ext cx="944604" cy="1728587"/>
            </a:xfrm>
            <a:prstGeom prst="rect">
              <a:avLst/>
            </a:prstGeom>
          </p:spPr>
        </p:pic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0874573D-E37F-42DF-EED3-364D155E531D}"/>
              </a:ext>
            </a:extLst>
          </p:cNvPr>
          <p:cNvSpPr txBox="1"/>
          <p:nvPr/>
        </p:nvSpPr>
        <p:spPr>
          <a:xfrm>
            <a:off x="8265032" y="2778833"/>
            <a:ext cx="136462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>
                <a:solidFill>
                  <a:schemeClr val="accent3"/>
                </a:solidFill>
                <a:latin typeface="Montserrat SemiBold" pitchFamily="2" charset="0"/>
                <a:ea typeface="Source Serif Pro Light" panose="02040303050405020204" pitchFamily="18" charset="0"/>
              </a:rPr>
              <a:t>@lgadistribuidora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B26C66B-DDCD-77C9-A1BE-7FA55F2DC6DE}"/>
              </a:ext>
            </a:extLst>
          </p:cNvPr>
          <p:cNvSpPr txBox="1"/>
          <p:nvPr/>
        </p:nvSpPr>
        <p:spPr>
          <a:xfrm>
            <a:off x="8265032" y="1988880"/>
            <a:ext cx="1081121" cy="760978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Montserrat "/>
              </a:rPr>
              <a:t>“…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  <a:latin typeface="Montserrat "/>
              </a:rPr>
              <a:t>tudo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Montserrat "/>
              </a:rPr>
              <a:t>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  <a:latin typeface="Montserrat "/>
              </a:rPr>
              <a:t>isso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Montserrat "/>
              </a:rPr>
              <a:t>,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  <a:latin typeface="Montserrat "/>
              </a:rPr>
              <a:t>esse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Montserrat "/>
              </a:rPr>
              <a:t>  kit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  <a:latin typeface="Montserrat "/>
              </a:rPr>
              <a:t>maravilhoso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Montserrat "/>
              </a:rPr>
              <a:t> com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  <a:latin typeface="Montserrat "/>
              </a:rPr>
              <a:t>todos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Montserrat "/>
              </a:rPr>
              <a:t> esses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  <a:latin typeface="Montserrat "/>
              </a:rPr>
              <a:t>produtos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Montserrat "/>
              </a:rPr>
              <a:t>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  <a:latin typeface="Montserrat "/>
              </a:rPr>
              <a:t>está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Montserrat "/>
              </a:rPr>
              <a:t>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  <a:latin typeface="Montserrat "/>
              </a:rPr>
              <a:t>por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Montserrat "/>
              </a:rPr>
              <a:t>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  <a:latin typeface="Montserrat "/>
              </a:rPr>
              <a:t>apenas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Montserrat "/>
              </a:rPr>
              <a:t> R$269,90…" </a:t>
            </a:r>
            <a:endParaRPr lang="pt-BR" sz="800" dirty="0">
              <a:solidFill>
                <a:schemeClr val="bg2">
                  <a:lumMod val="50000"/>
                </a:schemeClr>
              </a:solidFill>
              <a:latin typeface="Montserrat 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21F94CA-8A7D-4726-15B9-ADC0A0985C99}"/>
              </a:ext>
            </a:extLst>
          </p:cNvPr>
          <p:cNvGrpSpPr/>
          <p:nvPr/>
        </p:nvGrpSpPr>
        <p:grpSpPr>
          <a:xfrm>
            <a:off x="7429403" y="1952492"/>
            <a:ext cx="794894" cy="1454623"/>
            <a:chOff x="7284569" y="1842291"/>
            <a:chExt cx="944604" cy="1728587"/>
          </a:xfrm>
        </p:grpSpPr>
        <p:pic>
          <p:nvPicPr>
            <p:cNvPr id="56" name="Picture 55" descr="A person holding a bottle&#10;&#10;Description automatically generated">
              <a:extLst>
                <a:ext uri="{FF2B5EF4-FFF2-40B4-BE49-F238E27FC236}">
                  <a16:creationId xmlns:a16="http://schemas.microsoft.com/office/drawing/2014/main" id="{C1D42957-A77A-DAB7-CB13-862A087F0B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52" b="9537"/>
            <a:stretch/>
          </p:blipFill>
          <p:spPr>
            <a:xfrm>
              <a:off x="7355212" y="1896604"/>
              <a:ext cx="803317" cy="1607376"/>
            </a:xfrm>
            <a:prstGeom prst="roundRect">
              <a:avLst>
                <a:gd name="adj" fmla="val 12517"/>
              </a:avLst>
            </a:prstGeom>
          </p:spPr>
        </p:pic>
        <p:pic>
          <p:nvPicPr>
            <p:cNvPr id="66" name="Imagem 57" descr="Placa com fundo preto&#10;&#10;Descrição gerada automaticamente com confiança média">
              <a:extLst>
                <a:ext uri="{FF2B5EF4-FFF2-40B4-BE49-F238E27FC236}">
                  <a16:creationId xmlns:a16="http://schemas.microsoft.com/office/drawing/2014/main" id="{1A748F21-3D1E-52C6-DBDB-473A0325FC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284569" y="1842291"/>
              <a:ext cx="944604" cy="1728587"/>
            </a:xfrm>
            <a:prstGeom prst="rect">
              <a:avLst/>
            </a:prstGeom>
          </p:spPr>
        </p:pic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21CAB898-25F8-44C0-C02E-CF325699B739}"/>
              </a:ext>
            </a:extLst>
          </p:cNvPr>
          <p:cNvSpPr txBox="1"/>
          <p:nvPr/>
        </p:nvSpPr>
        <p:spPr>
          <a:xfrm>
            <a:off x="10655730" y="1988880"/>
            <a:ext cx="993115" cy="760978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Montserrat "/>
              </a:rPr>
              <a:t>"Se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  <a:latin typeface="Montserrat "/>
              </a:rPr>
              <a:t>você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Montserrat "/>
              </a:rPr>
              <a:t>           usar antes              do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  <a:latin typeface="Montserrat "/>
              </a:rPr>
              <a:t>hidratante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Montserrat "/>
              </a:rPr>
              <a:t>          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  <a:latin typeface="Montserrat "/>
              </a:rPr>
              <a:t>vai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Montserrat "/>
              </a:rPr>
              <a:t>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  <a:latin typeface="Montserrat "/>
              </a:rPr>
              <a:t>ficar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Montserrat "/>
              </a:rPr>
              <a:t>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  <a:latin typeface="Montserrat "/>
              </a:rPr>
              <a:t>cheirosa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Montserrat "/>
              </a:rPr>
              <a:t> o  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  <a:latin typeface="Montserrat "/>
              </a:rPr>
              <a:t>dia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Montserrat "/>
              </a:rPr>
              <a:t>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  <a:latin typeface="Montserrat "/>
              </a:rPr>
              <a:t>todo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Montserrat "/>
              </a:rPr>
              <a:t>" </a:t>
            </a:r>
            <a:endParaRPr lang="pt-BR" sz="800" dirty="0">
              <a:solidFill>
                <a:schemeClr val="bg2">
                  <a:lumMod val="50000"/>
                </a:schemeClr>
              </a:solidFill>
              <a:latin typeface="Montserrat 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0D5C4539-1F92-17D1-4678-F6ACAE86A655}"/>
              </a:ext>
            </a:extLst>
          </p:cNvPr>
          <p:cNvSpPr txBox="1"/>
          <p:nvPr/>
        </p:nvSpPr>
        <p:spPr>
          <a:xfrm>
            <a:off x="10655730" y="2768383"/>
            <a:ext cx="13448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>
                <a:solidFill>
                  <a:schemeClr val="accent3"/>
                </a:solidFill>
                <a:latin typeface="Montserrat SemiBold" pitchFamily="2" charset="0"/>
                <a:ea typeface="Source Serif Pro Light" panose="02040303050405020204" pitchFamily="18" charset="0"/>
              </a:rPr>
              <a:t>@nessa_beautydicas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0F48E66-D8BD-AD94-DCDD-A916B582F4F7}"/>
              </a:ext>
            </a:extLst>
          </p:cNvPr>
          <p:cNvSpPr txBox="1"/>
          <p:nvPr/>
        </p:nvSpPr>
        <p:spPr>
          <a:xfrm>
            <a:off x="3655435" y="1988880"/>
            <a:ext cx="1275899" cy="1167243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800" dirty="0">
                <a:solidFill>
                  <a:schemeClr val="bg2">
                    <a:lumMod val="50000"/>
                  </a:schemeClr>
                </a:solidFill>
                <a:effectLst/>
                <a:latin typeface="Montserrat "/>
              </a:rPr>
              <a:t>“Eu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  <a:effectLst/>
                <a:latin typeface="Montserrat "/>
              </a:rPr>
              <a:t>paguei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effectLst/>
                <a:latin typeface="Montserrat "/>
              </a:rPr>
              <a:t> R$13,25    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  <a:effectLst/>
                <a:latin typeface="Montserrat "/>
              </a:rPr>
              <a:t>em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effectLst/>
                <a:latin typeface="Montserrat "/>
              </a:rPr>
              <a:t> 500ml,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  <a:effectLst/>
                <a:latin typeface="Montserrat "/>
              </a:rPr>
              <a:t>então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effectLst/>
                <a:latin typeface="Montserrat "/>
              </a:rPr>
              <a:t> vale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  <a:effectLst/>
                <a:latin typeface="Montserrat "/>
              </a:rPr>
              <a:t>muito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effectLst/>
                <a:latin typeface="Montserrat "/>
              </a:rPr>
              <a:t> a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  <a:effectLst/>
                <a:latin typeface="Montserrat "/>
              </a:rPr>
              <a:t>pena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effectLst/>
                <a:latin typeface="Montserrat "/>
              </a:rPr>
              <a:t>. Para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  <a:effectLst/>
                <a:latin typeface="Montserrat "/>
              </a:rPr>
              <a:t>quem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effectLst/>
                <a:latin typeface="Montserrat "/>
              </a:rPr>
              <a:t>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  <a:effectLst/>
                <a:latin typeface="Montserrat "/>
              </a:rPr>
              <a:t>está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effectLst/>
                <a:latin typeface="Montserrat "/>
              </a:rPr>
              <a:t>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  <a:effectLst/>
                <a:latin typeface="Montserrat "/>
              </a:rPr>
              <a:t>procurando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effectLst/>
                <a:latin typeface="Montserrat "/>
              </a:rPr>
              <a:t> um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  <a:effectLst/>
                <a:latin typeface="Montserrat "/>
              </a:rPr>
              <a:t>sabonete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effectLst/>
                <a:latin typeface="Montserrat "/>
              </a:rPr>
              <a:t>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  <a:effectLst/>
                <a:latin typeface="Montserrat "/>
              </a:rPr>
              <a:t>bem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effectLst/>
                <a:latin typeface="Montserrat "/>
              </a:rPr>
              <a:t>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  <a:effectLst/>
                <a:latin typeface="Montserrat "/>
              </a:rPr>
              <a:t>cheirosinho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effectLst/>
                <a:latin typeface="Montserrat "/>
              </a:rPr>
              <a:t> e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  <a:effectLst/>
                <a:latin typeface="Montserrat "/>
              </a:rPr>
              <a:t>não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effectLst/>
                <a:latin typeface="Montserrat "/>
              </a:rPr>
              <a:t>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  <a:latin typeface="Montserrat "/>
              </a:rPr>
              <a:t>que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  <a:effectLst/>
                <a:latin typeface="Montserrat "/>
              </a:rPr>
              <a:t>r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effectLst/>
                <a:latin typeface="Montserrat "/>
              </a:rPr>
              <a:t>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  <a:effectLst/>
                <a:latin typeface="Montserrat "/>
              </a:rPr>
              <a:t>gastar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effectLst/>
                <a:latin typeface="Montserrat "/>
              </a:rPr>
              <a:t>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  <a:effectLst/>
                <a:latin typeface="Montserrat "/>
              </a:rPr>
              <a:t>muito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Montserrat "/>
              </a:rPr>
              <a:t>,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  <a:latin typeface="Montserrat "/>
              </a:rPr>
              <a:t>pode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Montserrat "/>
              </a:rPr>
              <a:t>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  <a:latin typeface="Montserrat "/>
              </a:rPr>
              <a:t>investir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Montserrat "/>
              </a:rPr>
              <a:t> 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  <a:latin typeface="Montserrat "/>
              </a:rPr>
              <a:t>nessa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Montserrat "/>
              </a:rPr>
              <a:t> </a:t>
            </a:r>
            <a:r>
              <a:rPr lang="en-US" sz="800" dirty="0" err="1">
                <a:solidFill>
                  <a:schemeClr val="bg2">
                    <a:lumMod val="50000"/>
                  </a:schemeClr>
                </a:solidFill>
                <a:latin typeface="Montserrat "/>
              </a:rPr>
              <a:t>marca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effectLst/>
                <a:latin typeface="Montserrat "/>
              </a:rPr>
              <a:t> “ </a:t>
            </a:r>
            <a:endParaRPr lang="pt-BR" sz="800" dirty="0">
              <a:solidFill>
                <a:schemeClr val="bg2">
                  <a:lumMod val="50000"/>
                </a:schemeClr>
              </a:solidFill>
              <a:latin typeface="Montserrat "/>
              <a:ea typeface="Source Serif Pro Light" panose="02040303050405020204" pitchFamily="18" charset="0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BCFACCAA-40ED-A27F-D8C0-444D17432458}"/>
              </a:ext>
            </a:extLst>
          </p:cNvPr>
          <p:cNvSpPr txBox="1"/>
          <p:nvPr/>
        </p:nvSpPr>
        <p:spPr>
          <a:xfrm>
            <a:off x="3676769" y="3180869"/>
            <a:ext cx="141618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>
                <a:solidFill>
                  <a:schemeClr val="accent3"/>
                </a:solidFill>
                <a:latin typeface="Montserrat SemiBold" pitchFamily="2" charset="0"/>
                <a:ea typeface="Source Serif Pro Light" panose="02040303050405020204" pitchFamily="18" charset="0"/>
              </a:rPr>
              <a:t>@may_pessanha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89E2BDD-F46A-2ECB-78F7-090007E4D9C6}"/>
              </a:ext>
            </a:extLst>
          </p:cNvPr>
          <p:cNvGrpSpPr/>
          <p:nvPr/>
        </p:nvGrpSpPr>
        <p:grpSpPr>
          <a:xfrm>
            <a:off x="2840598" y="1952609"/>
            <a:ext cx="795436" cy="1454421"/>
            <a:chOff x="2554066" y="1842411"/>
            <a:chExt cx="945249" cy="1728347"/>
          </a:xfrm>
        </p:grpSpPr>
        <p:pic>
          <p:nvPicPr>
            <p:cNvPr id="36" name="Picture 35" descr="A hand holding a bottle of juice&#10;&#10;Description automatically generated">
              <a:extLst>
                <a:ext uri="{FF2B5EF4-FFF2-40B4-BE49-F238E27FC236}">
                  <a16:creationId xmlns:a16="http://schemas.microsoft.com/office/drawing/2014/main" id="{D652419C-8645-C45B-0535-FF65CA9DF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9614"/>
            <a:stretch/>
          </p:blipFill>
          <p:spPr>
            <a:xfrm>
              <a:off x="2625060" y="1903664"/>
              <a:ext cx="808026" cy="1581259"/>
            </a:xfrm>
            <a:prstGeom prst="roundRect">
              <a:avLst>
                <a:gd name="adj" fmla="val 9300"/>
              </a:avLst>
            </a:prstGeom>
          </p:spPr>
        </p:pic>
        <p:pic>
          <p:nvPicPr>
            <p:cNvPr id="21" name="Imagem 57" descr="Placa com fundo preto&#10;&#10;Descrição gerada automaticamente com confiança média">
              <a:extLst>
                <a:ext uri="{FF2B5EF4-FFF2-40B4-BE49-F238E27FC236}">
                  <a16:creationId xmlns:a16="http://schemas.microsoft.com/office/drawing/2014/main" id="{E72FAAFB-E386-FBE5-D74C-6D858FDABA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554066" y="1842411"/>
              <a:ext cx="945249" cy="1728347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9640CC5-84BE-158E-B43D-98704DD80337}"/>
              </a:ext>
            </a:extLst>
          </p:cNvPr>
          <p:cNvGrpSpPr/>
          <p:nvPr/>
        </p:nvGrpSpPr>
        <p:grpSpPr>
          <a:xfrm>
            <a:off x="9820104" y="1952492"/>
            <a:ext cx="794894" cy="1454623"/>
            <a:chOff x="9750876" y="1842291"/>
            <a:chExt cx="944604" cy="1728587"/>
          </a:xfrm>
        </p:grpSpPr>
        <p:pic>
          <p:nvPicPr>
            <p:cNvPr id="44" name="Picture 43" descr="A hand holding a bottle of shampoo&#10;&#10;Description automatically generated">
              <a:extLst>
                <a:ext uri="{FF2B5EF4-FFF2-40B4-BE49-F238E27FC236}">
                  <a16:creationId xmlns:a16="http://schemas.microsoft.com/office/drawing/2014/main" id="{8F07285F-15F6-0E1D-5B09-3A2194FCC4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98" b="9201"/>
            <a:stretch/>
          </p:blipFill>
          <p:spPr>
            <a:xfrm>
              <a:off x="9810303" y="1905568"/>
              <a:ext cx="825751" cy="1582760"/>
            </a:xfrm>
            <a:prstGeom prst="roundRect">
              <a:avLst>
                <a:gd name="adj" fmla="val 10611"/>
              </a:avLst>
            </a:prstGeom>
          </p:spPr>
        </p:pic>
        <p:pic>
          <p:nvPicPr>
            <p:cNvPr id="45" name="Imagem 57" descr="Placa com fundo preto&#10;&#10;Descrição gerada automaticamente com confiança média">
              <a:extLst>
                <a:ext uri="{FF2B5EF4-FFF2-40B4-BE49-F238E27FC236}">
                  <a16:creationId xmlns:a16="http://schemas.microsoft.com/office/drawing/2014/main" id="{013EBEB7-3817-F3BD-31AC-5D957C8CBF4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750876" y="1842291"/>
              <a:ext cx="944604" cy="1728587"/>
            </a:xfrm>
            <a:prstGeom prst="rect">
              <a:avLst/>
            </a:prstGeom>
          </p:spPr>
        </p:pic>
      </p:grpSp>
      <p:sp>
        <p:nvSpPr>
          <p:cNvPr id="30" name="Rectangle: Top Corners Rounded 29">
            <a:extLst>
              <a:ext uri="{FF2B5EF4-FFF2-40B4-BE49-F238E27FC236}">
                <a16:creationId xmlns:a16="http://schemas.microsoft.com/office/drawing/2014/main" id="{7BCC48F3-038A-6643-9162-AD04E8C076BC}"/>
              </a:ext>
            </a:extLst>
          </p:cNvPr>
          <p:cNvSpPr/>
          <p:nvPr/>
        </p:nvSpPr>
        <p:spPr>
          <a:xfrm flipH="1">
            <a:off x="1" y="4856148"/>
            <a:ext cx="12191999" cy="2092878"/>
          </a:xfrm>
          <a:prstGeom prst="round2SameRect">
            <a:avLst>
              <a:gd name="adj1" fmla="val 42939"/>
              <a:gd name="adj2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77" name="Rectangle: Diagonal Corners Rounded 76">
            <a:extLst>
              <a:ext uri="{FF2B5EF4-FFF2-40B4-BE49-F238E27FC236}">
                <a16:creationId xmlns:a16="http://schemas.microsoft.com/office/drawing/2014/main" id="{FE8A621F-570D-69DD-2212-54C02B5270FB}"/>
              </a:ext>
            </a:extLst>
          </p:cNvPr>
          <p:cNvSpPr/>
          <p:nvPr/>
        </p:nvSpPr>
        <p:spPr>
          <a:xfrm flipV="1">
            <a:off x="5427885" y="3879352"/>
            <a:ext cx="2133994" cy="2110351"/>
          </a:xfrm>
          <a:prstGeom prst="round2DiagRect">
            <a:avLst/>
          </a:prstGeom>
          <a:solidFill>
            <a:srgbClr val="EFC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Montserrat" panose="00000500000000000000" pitchFamily="2" charset="0"/>
              <a:ea typeface="Source Serif Pro" panose="02040603050405020204" pitchFamily="18" charset="0"/>
            </a:endParaRPr>
          </a:p>
        </p:txBody>
      </p:sp>
      <p:pic>
        <p:nvPicPr>
          <p:cNvPr id="84" name="Graphic 83" descr="Comment Like with solid fill">
            <a:extLst>
              <a:ext uri="{FF2B5EF4-FFF2-40B4-BE49-F238E27FC236}">
                <a16:creationId xmlns:a16="http://schemas.microsoft.com/office/drawing/2014/main" id="{93FE3946-99FF-7F9D-6A43-63EA92BA914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45183" y="3738101"/>
            <a:ext cx="531265" cy="5312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4D912B-F5BB-2C8C-0853-3F7B76CC4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Produtos da </a:t>
            </a:r>
            <a:r>
              <a:rPr lang="pt-BR" dirty="0" err="1"/>
              <a:t>Biocap</a:t>
            </a:r>
            <a:r>
              <a:rPr lang="pt-BR" dirty="0"/>
              <a:t> são uns dos queridinhos de </a:t>
            </a:r>
            <a:r>
              <a:rPr lang="pt-BR" dirty="0" err="1"/>
              <a:t>Bodycare</a:t>
            </a:r>
            <a:r>
              <a:rPr lang="pt-BR" dirty="0"/>
              <a:t> nas redes sociais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7F4C81-C32C-BE58-8524-E8815B29092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/>
          <a:p>
            <a:r>
              <a:rPr lang="pt-BR" sz="1050" dirty="0">
                <a:latin typeface="Montserrat Light" pitchFamily="2" charset="0"/>
              </a:rPr>
              <a:t>Consumidoras têm uma percepção de produtos bons e baratos ao comprar </a:t>
            </a:r>
            <a:r>
              <a:rPr lang="pt-BR" sz="1050" dirty="0" err="1">
                <a:latin typeface="Montserrat Light" pitchFamily="2" charset="0"/>
              </a:rPr>
              <a:t>Biocap</a:t>
            </a:r>
            <a:endParaRPr lang="pt-BR" sz="1050" dirty="0">
              <a:latin typeface="Montserrat Light" pitchFamily="2" charset="0"/>
            </a:endParaRPr>
          </a:p>
        </p:txBody>
      </p:sp>
      <p:sp>
        <p:nvSpPr>
          <p:cNvPr id="120" name="Text Placeholder 119">
            <a:extLst>
              <a:ext uri="{FF2B5EF4-FFF2-40B4-BE49-F238E27FC236}">
                <a16:creationId xmlns:a16="http://schemas.microsoft.com/office/drawing/2014/main" id="{5B066116-6C87-29AE-5542-EC4F3E77B71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10000"/>
                    <a:lumOff val="90000"/>
                  </a:schemeClr>
                </a:solidFill>
                <a:latin typeface="Montserrat" panose="00000500000000000000" pitchFamily="2" charset="0"/>
              </a:rPr>
              <a:t>Fonte: Redes </a:t>
            </a:r>
            <a:r>
              <a:rPr lang="en-US" dirty="0" err="1">
                <a:solidFill>
                  <a:schemeClr val="tx2">
                    <a:lumMod val="10000"/>
                    <a:lumOff val="90000"/>
                  </a:schemeClr>
                </a:solidFill>
                <a:latin typeface="Montserrat" panose="00000500000000000000" pitchFamily="2" charset="0"/>
              </a:rPr>
              <a:t>Sociais</a:t>
            </a:r>
            <a:r>
              <a:rPr lang="en-US" dirty="0">
                <a:solidFill>
                  <a:schemeClr val="tx2">
                    <a:lumMod val="10000"/>
                    <a:lumOff val="90000"/>
                  </a:schemeClr>
                </a:solidFill>
                <a:latin typeface="Montserrat" panose="00000500000000000000" pitchFamily="2" charset="0"/>
              </a:rPr>
              <a:t>, </a:t>
            </a:r>
            <a:r>
              <a:rPr lang="en-US" dirty="0" err="1">
                <a:solidFill>
                  <a:schemeClr val="tx2">
                    <a:lumMod val="10000"/>
                    <a:lumOff val="90000"/>
                  </a:schemeClr>
                </a:solidFill>
                <a:latin typeface="Montserrat" panose="00000500000000000000" pitchFamily="2" charset="0"/>
              </a:rPr>
              <a:t>Companhia</a:t>
            </a:r>
            <a:r>
              <a:rPr lang="en-US" dirty="0">
                <a:solidFill>
                  <a:schemeClr val="tx2">
                    <a:lumMod val="10000"/>
                    <a:lumOff val="90000"/>
                  </a:schemeClr>
                </a:solidFill>
                <a:latin typeface="Montserrat" panose="00000500000000000000" pitchFamily="2" charset="0"/>
              </a:rPr>
              <a:t>, </a:t>
            </a:r>
            <a:r>
              <a:rPr lang="en-US" dirty="0" err="1">
                <a:solidFill>
                  <a:schemeClr val="tx2">
                    <a:lumMod val="10000"/>
                    <a:lumOff val="90000"/>
                  </a:schemeClr>
                </a:solidFill>
                <a:latin typeface="Montserrat" panose="00000500000000000000" pitchFamily="2" charset="0"/>
              </a:rPr>
              <a:t>Avaliações</a:t>
            </a:r>
            <a:r>
              <a:rPr lang="en-US" dirty="0">
                <a:solidFill>
                  <a:schemeClr val="tx2">
                    <a:lumMod val="10000"/>
                    <a:lumOff val="9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dirty="0" err="1">
                <a:solidFill>
                  <a:schemeClr val="tx2">
                    <a:lumMod val="10000"/>
                    <a:lumOff val="90000"/>
                  </a:schemeClr>
                </a:solidFill>
                <a:latin typeface="Montserrat" panose="00000500000000000000" pitchFamily="2" charset="0"/>
              </a:rPr>
              <a:t>em</a:t>
            </a:r>
            <a:r>
              <a:rPr lang="en-US" dirty="0">
                <a:solidFill>
                  <a:schemeClr val="tx2">
                    <a:lumMod val="10000"/>
                    <a:lumOff val="90000"/>
                  </a:schemeClr>
                </a:solidFill>
                <a:latin typeface="Montserrat" panose="00000500000000000000" pitchFamily="2" charset="0"/>
              </a:rPr>
              <a:t> E-</a:t>
            </a:r>
            <a:r>
              <a:rPr lang="en-US" dirty="0" err="1">
                <a:solidFill>
                  <a:schemeClr val="tx2">
                    <a:lumMod val="10000"/>
                    <a:lumOff val="90000"/>
                  </a:schemeClr>
                </a:solidFill>
                <a:latin typeface="Montserrat" panose="00000500000000000000" pitchFamily="2" charset="0"/>
              </a:rPr>
              <a:t>Commerces</a:t>
            </a:r>
            <a:r>
              <a:rPr lang="en-US" dirty="0">
                <a:solidFill>
                  <a:schemeClr val="tx2">
                    <a:lumMod val="10000"/>
                    <a:lumOff val="9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dirty="0" err="1">
                <a:solidFill>
                  <a:schemeClr val="tx2">
                    <a:lumMod val="10000"/>
                    <a:lumOff val="90000"/>
                  </a:schemeClr>
                </a:solidFill>
                <a:latin typeface="Montserrat" panose="00000500000000000000" pitchFamily="2" charset="0"/>
              </a:rPr>
              <a:t>Especializados</a:t>
            </a:r>
            <a:endParaRPr lang="pt-BR" dirty="0">
              <a:solidFill>
                <a:schemeClr val="tx2">
                  <a:lumMod val="10000"/>
                  <a:lumOff val="90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Content Placeholder 7">
            <a:extLst>
              <a:ext uri="{FF2B5EF4-FFF2-40B4-BE49-F238E27FC236}">
                <a16:creationId xmlns:a16="http://schemas.microsoft.com/office/drawing/2014/main" id="{514A3F1C-253E-23C6-8972-45261BFA566A}"/>
              </a:ext>
            </a:extLst>
          </p:cNvPr>
          <p:cNvSpPr txBox="1">
            <a:spLocks/>
          </p:cNvSpPr>
          <p:nvPr/>
        </p:nvSpPr>
        <p:spPr>
          <a:xfrm>
            <a:off x="1838036" y="1519974"/>
            <a:ext cx="8515928" cy="24622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1pPr>
            <a:lvl2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2pPr>
            <a:lvl3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Source Sans Pro" panose="020B0503030403020204" pitchFamily="34" charset="0"/>
              <a:buChar char="−"/>
              <a:defRPr sz="1200" kern="1200">
                <a:solidFill>
                  <a:schemeClr val="tx1"/>
                </a:solidFill>
                <a:latin typeface="Source Serif Pro Light" panose="02040303050405020204" pitchFamily="18" charset="0"/>
                <a:ea typeface="Source Serif Pro Light" panose="02040303050405020204" pitchFamily="18" charset="0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Source Serif Pro Black" panose="02040903050405020204" pitchFamily="18" charset="0"/>
                <a:ea typeface="Source Serif Pro Black" panose="02040903050405020204" pitchFamily="18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lang="en-US" sz="1600" b="1" dirty="0" err="1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0"/>
              </a:rPr>
              <a:t>Clientes</a:t>
            </a: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0"/>
              </a:rPr>
              <a:t> da </a:t>
            </a:r>
            <a:r>
              <a:rPr lang="en-US" sz="1600" b="1" dirty="0" err="1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0"/>
              </a:rPr>
              <a:t>Biocap</a:t>
            </a: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1600" b="1" dirty="0" err="1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0"/>
              </a:rPr>
              <a:t>estão</a:t>
            </a: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1600" b="1" dirty="0" err="1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0"/>
              </a:rPr>
              <a:t>promovendo</a:t>
            </a: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0"/>
              </a:rPr>
              <a:t> a </a:t>
            </a:r>
            <a:r>
              <a:rPr lang="en-US" sz="1600" b="1" dirty="0" err="1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0"/>
              </a:rPr>
              <a:t>marca</a:t>
            </a: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1600" b="1" dirty="0" err="1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0"/>
              </a:rPr>
              <a:t>nas</a:t>
            </a: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1600" b="1" dirty="0" err="1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0"/>
              </a:rPr>
              <a:t>principais</a:t>
            </a: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0"/>
              </a:rPr>
              <a:t> redes </a:t>
            </a:r>
            <a:r>
              <a:rPr lang="en-US" sz="1600" b="1" dirty="0" err="1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0"/>
              </a:rPr>
              <a:t>sociais</a:t>
            </a:r>
            <a:endParaRPr lang="pt-BR" sz="1600" b="1" dirty="0">
              <a:solidFill>
                <a:schemeClr val="accent3">
                  <a:lumMod val="50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93CB3B3-5C3E-8008-9A1F-5619B3263F7B}"/>
              </a:ext>
            </a:extLst>
          </p:cNvPr>
          <p:cNvSpPr/>
          <p:nvPr/>
        </p:nvSpPr>
        <p:spPr>
          <a:xfrm>
            <a:off x="779198" y="1890743"/>
            <a:ext cx="592952" cy="59295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accent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5C70B4A-10F5-1E9A-4020-7EE273474B22}"/>
              </a:ext>
            </a:extLst>
          </p:cNvPr>
          <p:cNvSpPr/>
          <p:nvPr/>
        </p:nvSpPr>
        <p:spPr>
          <a:xfrm>
            <a:off x="779198" y="2768762"/>
            <a:ext cx="592952" cy="59295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accent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62" name="Retângulo 27">
            <a:extLst>
              <a:ext uri="{FF2B5EF4-FFF2-40B4-BE49-F238E27FC236}">
                <a16:creationId xmlns:a16="http://schemas.microsoft.com/office/drawing/2014/main" id="{51307FDB-B401-CE34-0462-ACA5AA0035D6}"/>
              </a:ext>
            </a:extLst>
          </p:cNvPr>
          <p:cNvSpPr/>
          <p:nvPr/>
        </p:nvSpPr>
        <p:spPr>
          <a:xfrm>
            <a:off x="1510770" y="2012367"/>
            <a:ext cx="912623" cy="349702"/>
          </a:xfrm>
          <a:prstGeom prst="rect">
            <a:avLst/>
          </a:prstGeom>
          <a:noFill/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7200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tserrat" panose="00000500000000000000" pitchFamily="2" charset="0"/>
                <a:ea typeface="Source Serif Pro" panose="02040603050405020204" pitchFamily="18" charset="0"/>
                <a:cs typeface="Open Sans" panose="020B0606030504020204" pitchFamily="34" charset="0"/>
              </a:rPr>
              <a:t>Publicações com a hashtag</a:t>
            </a:r>
          </a:p>
        </p:txBody>
      </p:sp>
      <p:pic>
        <p:nvPicPr>
          <p:cNvPr id="64" name="Picture 2">
            <a:extLst>
              <a:ext uri="{FF2B5EF4-FFF2-40B4-BE49-F238E27FC236}">
                <a16:creationId xmlns:a16="http://schemas.microsoft.com/office/drawing/2014/main" id="{D551421F-182F-5905-92FE-93D513F2E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354" y="2023899"/>
            <a:ext cx="326638" cy="326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" name="Retângulo 27">
            <a:extLst>
              <a:ext uri="{FF2B5EF4-FFF2-40B4-BE49-F238E27FC236}">
                <a16:creationId xmlns:a16="http://schemas.microsoft.com/office/drawing/2014/main" id="{8ECC05CD-AC74-546A-379F-54B0B1CC12E5}"/>
              </a:ext>
            </a:extLst>
          </p:cNvPr>
          <p:cNvSpPr/>
          <p:nvPr/>
        </p:nvSpPr>
        <p:spPr>
          <a:xfrm>
            <a:off x="1510770" y="2890386"/>
            <a:ext cx="883694" cy="349702"/>
          </a:xfrm>
          <a:prstGeom prst="rect">
            <a:avLst/>
          </a:prstGeom>
          <a:noFill/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7200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tserrat" panose="00000500000000000000" pitchFamily="2" charset="0"/>
                <a:ea typeface="Source Serif Pro" panose="02040603050405020204" pitchFamily="18" charset="0"/>
                <a:cs typeface="Open Sans" panose="020B0606030504020204" pitchFamily="34" charset="0"/>
              </a:rPr>
              <a:t>Visualizações da #Hidramais</a:t>
            </a:r>
          </a:p>
        </p:txBody>
      </p:sp>
      <p:pic>
        <p:nvPicPr>
          <p:cNvPr id="99" name="Picture 4" descr="Em terra de Tik Tok quem faz dancinha é rei - Unicap - Universidade  Católica de Pernambuco">
            <a:extLst>
              <a:ext uri="{FF2B5EF4-FFF2-40B4-BE49-F238E27FC236}">
                <a16:creationId xmlns:a16="http://schemas.microsoft.com/office/drawing/2014/main" id="{E52AE287-DA61-D8C2-D003-4FD481368F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34" r="23589"/>
          <a:stretch/>
        </p:blipFill>
        <p:spPr bwMode="auto">
          <a:xfrm>
            <a:off x="884496" y="2885588"/>
            <a:ext cx="363306" cy="35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6" name="Content Placeholder 10">
            <a:extLst>
              <a:ext uri="{FF2B5EF4-FFF2-40B4-BE49-F238E27FC236}">
                <a16:creationId xmlns:a16="http://schemas.microsoft.com/office/drawing/2014/main" id="{1B792856-1DCB-EDCB-9542-8AAA0D55496A}"/>
              </a:ext>
            </a:extLst>
          </p:cNvPr>
          <p:cNvSpPr txBox="1">
            <a:spLocks/>
          </p:cNvSpPr>
          <p:nvPr/>
        </p:nvSpPr>
        <p:spPr>
          <a:xfrm>
            <a:off x="7932994" y="3879352"/>
            <a:ext cx="2420970" cy="298731"/>
          </a:xfrm>
          <a:prstGeom prst="rect">
            <a:avLst/>
          </a:prstGeom>
        </p:spPr>
        <p:txBody>
          <a:bodyPr vert="horz" wrap="square" lIns="0" tIns="3600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1pPr>
            <a:lvl2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2pPr>
            <a:lvl3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Source Sans Pro" panose="020B0503030403020204" pitchFamily="34" charset="0"/>
              <a:buChar char="−"/>
              <a:defRPr sz="1200" kern="1200">
                <a:solidFill>
                  <a:schemeClr val="tx1"/>
                </a:solidFill>
                <a:latin typeface="Source Serif Pro Light" panose="02040303050405020204" pitchFamily="18" charset="0"/>
                <a:ea typeface="Source Serif Pro Light" panose="02040303050405020204" pitchFamily="18" charset="0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2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kern="1200">
                <a:solidFill>
                  <a:schemeClr val="accent4"/>
                </a:solidFill>
                <a:latin typeface="Source Serif Pro Black" panose="02040903050405020204" pitchFamily="18" charset="0"/>
                <a:ea typeface="Source Serif Pro Black" panose="02040903050405020204" pitchFamily="18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sz="800" b="0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rPr>
              <a:t>Classificação e avaliações em                                 e-commerce especializados (Beleza na Web) </a:t>
            </a: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D7B45DBD-C37C-3584-16FE-F13A60493FB4}"/>
              </a:ext>
            </a:extLst>
          </p:cNvPr>
          <p:cNvGrpSpPr/>
          <p:nvPr/>
        </p:nvGrpSpPr>
        <p:grpSpPr>
          <a:xfrm>
            <a:off x="8090119" y="5838160"/>
            <a:ext cx="668826" cy="128671"/>
            <a:chOff x="7433115" y="2989193"/>
            <a:chExt cx="735709" cy="155692"/>
          </a:xfrm>
        </p:grpSpPr>
        <p:pic>
          <p:nvPicPr>
            <p:cNvPr id="104" name="Graphic 103" descr="Star with solid fill">
              <a:extLst>
                <a:ext uri="{FF2B5EF4-FFF2-40B4-BE49-F238E27FC236}">
                  <a16:creationId xmlns:a16="http://schemas.microsoft.com/office/drawing/2014/main" id="{843B480B-569E-6D02-AAD0-BD47AE6515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433115" y="2989193"/>
              <a:ext cx="155692" cy="155692"/>
            </a:xfrm>
            <a:prstGeom prst="rect">
              <a:avLst/>
            </a:prstGeom>
          </p:spPr>
        </p:pic>
        <p:pic>
          <p:nvPicPr>
            <p:cNvPr id="105" name="Graphic 104" descr="Star with solid fill">
              <a:extLst>
                <a:ext uri="{FF2B5EF4-FFF2-40B4-BE49-F238E27FC236}">
                  <a16:creationId xmlns:a16="http://schemas.microsoft.com/office/drawing/2014/main" id="{A44271D2-6775-D7BA-0FD1-3D5ADB999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578342" y="2989193"/>
              <a:ext cx="155692" cy="155692"/>
            </a:xfrm>
            <a:prstGeom prst="rect">
              <a:avLst/>
            </a:prstGeom>
          </p:spPr>
        </p:pic>
        <p:pic>
          <p:nvPicPr>
            <p:cNvPr id="106" name="Graphic 105" descr="Star with solid fill">
              <a:extLst>
                <a:ext uri="{FF2B5EF4-FFF2-40B4-BE49-F238E27FC236}">
                  <a16:creationId xmlns:a16="http://schemas.microsoft.com/office/drawing/2014/main" id="{0769EBA4-1A0B-5E06-25E9-83098C99B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723570" y="2989193"/>
              <a:ext cx="155692" cy="155692"/>
            </a:xfrm>
            <a:prstGeom prst="rect">
              <a:avLst/>
            </a:prstGeom>
          </p:spPr>
        </p:pic>
        <p:pic>
          <p:nvPicPr>
            <p:cNvPr id="107" name="Graphic 106" descr="Star with solid fill">
              <a:extLst>
                <a:ext uri="{FF2B5EF4-FFF2-40B4-BE49-F238E27FC236}">
                  <a16:creationId xmlns:a16="http://schemas.microsoft.com/office/drawing/2014/main" id="{8A8C98AA-22F8-D269-A74B-4B043D28AF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868797" y="2989193"/>
              <a:ext cx="155692" cy="155692"/>
            </a:xfrm>
            <a:prstGeom prst="rect">
              <a:avLst/>
            </a:prstGeom>
          </p:spPr>
        </p:pic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8376D3B2-A8BE-5644-512D-B018F88C8DE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014024" y="2990085"/>
              <a:ext cx="154800" cy="154800"/>
              <a:chOff x="7324608" y="2452171"/>
              <a:chExt cx="155692" cy="155692"/>
            </a:xfrm>
          </p:grpSpPr>
          <p:pic>
            <p:nvPicPr>
              <p:cNvPr id="110" name="Graphic 109" descr="Star with solid fill">
                <a:extLst>
                  <a:ext uri="{FF2B5EF4-FFF2-40B4-BE49-F238E27FC236}">
                    <a16:creationId xmlns:a16="http://schemas.microsoft.com/office/drawing/2014/main" id="{79063664-8AEA-7E1B-7CAB-22956E7DB8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7324608" y="2452171"/>
                <a:ext cx="155692" cy="155692"/>
              </a:xfrm>
              <a:prstGeom prst="rect">
                <a:avLst/>
              </a:prstGeom>
            </p:spPr>
          </p:pic>
          <p:pic>
            <p:nvPicPr>
              <p:cNvPr id="111" name="Graphic 110" descr="Star with solid fill">
                <a:extLst>
                  <a:ext uri="{FF2B5EF4-FFF2-40B4-BE49-F238E27FC236}">
                    <a16:creationId xmlns:a16="http://schemas.microsoft.com/office/drawing/2014/main" id="{46B92F9F-438A-00D7-194C-5BD078EC219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 r="49950"/>
              <a:stretch/>
            </p:blipFill>
            <p:spPr>
              <a:xfrm>
                <a:off x="7324608" y="2452171"/>
                <a:ext cx="77924" cy="155692"/>
              </a:xfrm>
              <a:prstGeom prst="rect">
                <a:avLst/>
              </a:prstGeom>
            </p:spPr>
          </p:pic>
        </p:grpSp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D0852F97-AEED-81DE-4409-89B3F4052EA0}"/>
              </a:ext>
            </a:extLst>
          </p:cNvPr>
          <p:cNvSpPr txBox="1"/>
          <p:nvPr/>
        </p:nvSpPr>
        <p:spPr>
          <a:xfrm>
            <a:off x="7887686" y="5499495"/>
            <a:ext cx="1073692" cy="28469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300"/>
              </a:spcAft>
            </a:pPr>
            <a:r>
              <a:rPr lang="pt-BR" sz="800" spc="-20" dirty="0">
                <a:solidFill>
                  <a:schemeClr val="bg1"/>
                </a:solidFill>
                <a:latin typeface="Montserrat SemiBold" pitchFamily="2" charset="0"/>
                <a:ea typeface="Source Serif Pro" panose="02040603050405020204" pitchFamily="18" charset="0"/>
                <a:cs typeface="+mj-cs"/>
              </a:rPr>
              <a:t>Creme de Massagem</a:t>
            </a:r>
          </a:p>
          <a:p>
            <a:pPr algn="ctr">
              <a:spcAft>
                <a:spcPts val="300"/>
              </a:spcAft>
            </a:pPr>
            <a:r>
              <a:rPr lang="pt-BR" sz="800" spc="-20" dirty="0">
                <a:solidFill>
                  <a:schemeClr val="bg1"/>
                </a:solidFill>
                <a:latin typeface="Montserrat Medium" pitchFamily="2" charset="0"/>
                <a:ea typeface="Source Serif Pro" panose="02040603050405020204" pitchFamily="18" charset="0"/>
                <a:cs typeface="+mj-cs"/>
              </a:rPr>
              <a:t>1kg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9327AEFC-F03D-30F0-03D3-22805A741B60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24213" y="4366633"/>
            <a:ext cx="800638" cy="1013991"/>
          </a:xfrm>
          <a:prstGeom prst="rect">
            <a:avLst/>
          </a:prstGeom>
        </p:spPr>
      </p:pic>
      <p:grpSp>
        <p:nvGrpSpPr>
          <p:cNvPr id="126" name="Group 125">
            <a:extLst>
              <a:ext uri="{FF2B5EF4-FFF2-40B4-BE49-F238E27FC236}">
                <a16:creationId xmlns:a16="http://schemas.microsoft.com/office/drawing/2014/main" id="{23DE5985-88CE-9B4F-0552-A00C20B03955}"/>
              </a:ext>
            </a:extLst>
          </p:cNvPr>
          <p:cNvGrpSpPr/>
          <p:nvPr/>
        </p:nvGrpSpPr>
        <p:grpSpPr>
          <a:xfrm>
            <a:off x="10637475" y="5837363"/>
            <a:ext cx="669639" cy="128671"/>
            <a:chOff x="9440220" y="3010601"/>
            <a:chExt cx="736603" cy="155692"/>
          </a:xfrm>
        </p:grpSpPr>
        <p:pic>
          <p:nvPicPr>
            <p:cNvPr id="129" name="Graphic 128" descr="Star with solid fill">
              <a:extLst>
                <a:ext uri="{FF2B5EF4-FFF2-40B4-BE49-F238E27FC236}">
                  <a16:creationId xmlns:a16="http://schemas.microsoft.com/office/drawing/2014/main" id="{EC1AB02A-1429-91E6-008E-6BC851EFC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440220" y="3010601"/>
              <a:ext cx="155692" cy="155692"/>
            </a:xfrm>
            <a:prstGeom prst="rect">
              <a:avLst/>
            </a:prstGeom>
          </p:spPr>
        </p:pic>
        <p:pic>
          <p:nvPicPr>
            <p:cNvPr id="130" name="Graphic 129" descr="Star with solid fill">
              <a:extLst>
                <a:ext uri="{FF2B5EF4-FFF2-40B4-BE49-F238E27FC236}">
                  <a16:creationId xmlns:a16="http://schemas.microsoft.com/office/drawing/2014/main" id="{E5956043-59FA-1223-BD00-8F752ECBB5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585449" y="3010601"/>
              <a:ext cx="155692" cy="155692"/>
            </a:xfrm>
            <a:prstGeom prst="rect">
              <a:avLst/>
            </a:prstGeom>
          </p:spPr>
        </p:pic>
        <p:pic>
          <p:nvPicPr>
            <p:cNvPr id="131" name="Graphic 130" descr="Star with solid fill">
              <a:extLst>
                <a:ext uri="{FF2B5EF4-FFF2-40B4-BE49-F238E27FC236}">
                  <a16:creationId xmlns:a16="http://schemas.microsoft.com/office/drawing/2014/main" id="{9E330B76-5A08-F994-8AE1-116E1D250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730677" y="3010601"/>
              <a:ext cx="155692" cy="155692"/>
            </a:xfrm>
            <a:prstGeom prst="rect">
              <a:avLst/>
            </a:prstGeom>
          </p:spPr>
        </p:pic>
        <p:pic>
          <p:nvPicPr>
            <p:cNvPr id="132" name="Graphic 131" descr="Star with solid fill">
              <a:extLst>
                <a:ext uri="{FF2B5EF4-FFF2-40B4-BE49-F238E27FC236}">
                  <a16:creationId xmlns:a16="http://schemas.microsoft.com/office/drawing/2014/main" id="{25C048B7-BDCE-1306-4D70-2FD8E3D322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875904" y="3010601"/>
              <a:ext cx="155692" cy="155692"/>
            </a:xfrm>
            <a:prstGeom prst="rect">
              <a:avLst/>
            </a:prstGeom>
          </p:spPr>
        </p:pic>
        <p:pic>
          <p:nvPicPr>
            <p:cNvPr id="133" name="Graphic 132" descr="Star with solid fill">
              <a:extLst>
                <a:ext uri="{FF2B5EF4-FFF2-40B4-BE49-F238E27FC236}">
                  <a16:creationId xmlns:a16="http://schemas.microsoft.com/office/drawing/2014/main" id="{86416013-3947-1B1F-FD29-3A11D47AF5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021131" y="3010601"/>
              <a:ext cx="155692" cy="155692"/>
            </a:xfrm>
            <a:prstGeom prst="rect">
              <a:avLst/>
            </a:prstGeom>
          </p:spPr>
        </p:pic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4B234D52-593F-491C-B4DA-DAAF5C650EA4}"/>
              </a:ext>
            </a:extLst>
          </p:cNvPr>
          <p:cNvSpPr txBox="1"/>
          <p:nvPr/>
        </p:nvSpPr>
        <p:spPr>
          <a:xfrm>
            <a:off x="10522010" y="5499495"/>
            <a:ext cx="900568" cy="28469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pt-BR"/>
            </a:defPPr>
            <a:lvl1pPr algn="ctr">
              <a:lnSpc>
                <a:spcPct val="110000"/>
              </a:lnSpc>
              <a:spcAft>
                <a:spcPts val="800"/>
              </a:spcAft>
              <a:defRPr sz="800" spc="-20">
                <a:latin typeface="Montserrat Medium" pitchFamily="2" charset="0"/>
                <a:ea typeface="Source Serif Pro" panose="02040603050405020204" pitchFamily="18" charset="0"/>
                <a:cs typeface="+mj-cs"/>
              </a:defRPr>
            </a:lvl1pPr>
          </a:lstStyle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pt-BR" dirty="0">
                <a:solidFill>
                  <a:schemeClr val="bg1"/>
                </a:solidFill>
                <a:latin typeface="Montserrat SemiBold" pitchFamily="2" charset="0"/>
              </a:rPr>
              <a:t>Hidratante Loção 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pt-BR" dirty="0">
                <a:solidFill>
                  <a:schemeClr val="bg1"/>
                </a:solidFill>
                <a:latin typeface="Montserrat SemiBold" pitchFamily="2" charset="0"/>
              </a:rPr>
              <a:t>Corporal </a:t>
            </a:r>
            <a:r>
              <a:rPr lang="pt-BR" dirty="0">
                <a:solidFill>
                  <a:schemeClr val="bg1"/>
                </a:solidFill>
              </a:rPr>
              <a:t>500ml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D41F5C26-8137-2A3D-3ECE-D5DADCDAC401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682091" y="4101344"/>
            <a:ext cx="580406" cy="1274365"/>
          </a:xfrm>
          <a:prstGeom prst="rect">
            <a:avLst/>
          </a:prstGeom>
        </p:spPr>
      </p:pic>
      <p:grpSp>
        <p:nvGrpSpPr>
          <p:cNvPr id="113" name="Group 112">
            <a:extLst>
              <a:ext uri="{FF2B5EF4-FFF2-40B4-BE49-F238E27FC236}">
                <a16:creationId xmlns:a16="http://schemas.microsoft.com/office/drawing/2014/main" id="{4E11B501-7FF5-D433-A6AE-FB0D1C9B04C5}"/>
              </a:ext>
            </a:extLst>
          </p:cNvPr>
          <p:cNvGrpSpPr/>
          <p:nvPr/>
        </p:nvGrpSpPr>
        <p:grpSpPr>
          <a:xfrm>
            <a:off x="9428256" y="5836567"/>
            <a:ext cx="675320" cy="131861"/>
            <a:chOff x="8429400" y="3006742"/>
            <a:chExt cx="742854" cy="159551"/>
          </a:xfrm>
        </p:grpSpPr>
        <p:pic>
          <p:nvPicPr>
            <p:cNvPr id="117" name="Graphic 116" descr="Star with solid fill">
              <a:extLst>
                <a:ext uri="{FF2B5EF4-FFF2-40B4-BE49-F238E27FC236}">
                  <a16:creationId xmlns:a16="http://schemas.microsoft.com/office/drawing/2014/main" id="{CECA1425-CD22-F9FA-C55A-505A99EEC4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429400" y="3010601"/>
              <a:ext cx="155692" cy="155692"/>
            </a:xfrm>
            <a:prstGeom prst="rect">
              <a:avLst/>
            </a:prstGeom>
          </p:spPr>
        </p:pic>
        <p:pic>
          <p:nvPicPr>
            <p:cNvPr id="118" name="Graphic 117" descr="Star with solid fill">
              <a:extLst>
                <a:ext uri="{FF2B5EF4-FFF2-40B4-BE49-F238E27FC236}">
                  <a16:creationId xmlns:a16="http://schemas.microsoft.com/office/drawing/2014/main" id="{DA31612E-1574-8C42-7AEF-917DD8985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574631" y="3010601"/>
              <a:ext cx="155692" cy="155692"/>
            </a:xfrm>
            <a:prstGeom prst="rect">
              <a:avLst/>
            </a:prstGeom>
          </p:spPr>
        </p:pic>
        <p:pic>
          <p:nvPicPr>
            <p:cNvPr id="119" name="Graphic 118" descr="Star with solid fill">
              <a:extLst>
                <a:ext uri="{FF2B5EF4-FFF2-40B4-BE49-F238E27FC236}">
                  <a16:creationId xmlns:a16="http://schemas.microsoft.com/office/drawing/2014/main" id="{4B95FC79-2F3F-27FD-2B4C-831897DBA0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719859" y="3010601"/>
              <a:ext cx="155692" cy="155692"/>
            </a:xfrm>
            <a:prstGeom prst="rect">
              <a:avLst/>
            </a:prstGeom>
          </p:spPr>
        </p:pic>
        <p:pic>
          <p:nvPicPr>
            <p:cNvPr id="121" name="Graphic 120" descr="Star with solid fill">
              <a:extLst>
                <a:ext uri="{FF2B5EF4-FFF2-40B4-BE49-F238E27FC236}">
                  <a16:creationId xmlns:a16="http://schemas.microsoft.com/office/drawing/2014/main" id="{2BD15316-EE90-C832-5942-4466C37C6B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865086" y="3010601"/>
              <a:ext cx="155692" cy="155692"/>
            </a:xfrm>
            <a:prstGeom prst="rect">
              <a:avLst/>
            </a:prstGeom>
          </p:spPr>
        </p:pic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8833E93D-2A6C-937F-D62C-F2E9B7677F7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016646" y="3006742"/>
              <a:ext cx="155608" cy="156378"/>
              <a:chOff x="7330994" y="2447391"/>
              <a:chExt cx="156505" cy="157279"/>
            </a:xfrm>
          </p:grpSpPr>
          <p:pic>
            <p:nvPicPr>
              <p:cNvPr id="123" name="Graphic 122" descr="Star with solid fill">
                <a:extLst>
                  <a:ext uri="{FF2B5EF4-FFF2-40B4-BE49-F238E27FC236}">
                    <a16:creationId xmlns:a16="http://schemas.microsoft.com/office/drawing/2014/main" id="{EF1BCCA9-D2E4-94C4-9093-D82C6E284D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7331807" y="2447391"/>
                <a:ext cx="155692" cy="155692"/>
              </a:xfrm>
              <a:prstGeom prst="rect">
                <a:avLst/>
              </a:prstGeom>
            </p:spPr>
          </p:pic>
          <p:pic>
            <p:nvPicPr>
              <p:cNvPr id="124" name="Graphic 123" descr="Star with solid fill">
                <a:extLst>
                  <a:ext uri="{FF2B5EF4-FFF2-40B4-BE49-F238E27FC236}">
                    <a16:creationId xmlns:a16="http://schemas.microsoft.com/office/drawing/2014/main" id="{91EE944E-A884-7CDB-78E5-D902469FDCB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rcRect r="49950"/>
              <a:stretch/>
            </p:blipFill>
            <p:spPr>
              <a:xfrm>
                <a:off x="7330994" y="2448978"/>
                <a:ext cx="77924" cy="155692"/>
              </a:xfrm>
              <a:prstGeom prst="rect">
                <a:avLst/>
              </a:prstGeom>
            </p:spPr>
          </p:pic>
        </p:grpSp>
      </p:grpSp>
      <p:sp>
        <p:nvSpPr>
          <p:cNvPr id="116" name="TextBox 115">
            <a:extLst>
              <a:ext uri="{FF2B5EF4-FFF2-40B4-BE49-F238E27FC236}">
                <a16:creationId xmlns:a16="http://schemas.microsoft.com/office/drawing/2014/main" id="{AD820AA7-A241-A42F-E9C7-C24B13E5B803}"/>
              </a:ext>
            </a:extLst>
          </p:cNvPr>
          <p:cNvSpPr txBox="1"/>
          <p:nvPr/>
        </p:nvSpPr>
        <p:spPr>
          <a:xfrm>
            <a:off x="9317877" y="5499495"/>
            <a:ext cx="896079" cy="28469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pt-BR"/>
            </a:defPPr>
            <a:lvl1pPr algn="ctr">
              <a:lnSpc>
                <a:spcPct val="110000"/>
              </a:lnSpc>
              <a:spcAft>
                <a:spcPts val="800"/>
              </a:spcAft>
              <a:defRPr sz="800" spc="-20">
                <a:latin typeface="Montserrat Medium" pitchFamily="2" charset="0"/>
                <a:ea typeface="Source Serif Pro" panose="02040603050405020204" pitchFamily="18" charset="0"/>
                <a:cs typeface="+mj-cs"/>
              </a:defRPr>
            </a:lvl1pPr>
          </a:lstStyle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pt-BR" dirty="0">
                <a:solidFill>
                  <a:schemeClr val="bg1"/>
                </a:solidFill>
                <a:latin typeface="Montserrat SemiBold" pitchFamily="2" charset="0"/>
              </a:rPr>
              <a:t>Gel de Massagem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pt-BR" dirty="0">
                <a:solidFill>
                  <a:schemeClr val="bg1"/>
                </a:solidFill>
              </a:rPr>
              <a:t>500ml</a:t>
            </a: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7A7DC2B6-6ED4-FE9D-72EE-501CB12FCB44}"/>
              </a:ext>
            </a:extLst>
          </p:cNvPr>
          <p:cNvPicPr>
            <a:picLocks noChangeAspect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389477" y="4573733"/>
            <a:ext cx="752878" cy="779991"/>
          </a:xfrm>
          <a:prstGeom prst="rect">
            <a:avLst/>
          </a:prstGeom>
        </p:spPr>
      </p:pic>
      <p:sp>
        <p:nvSpPr>
          <p:cNvPr id="152" name="Oval 151">
            <a:extLst>
              <a:ext uri="{FF2B5EF4-FFF2-40B4-BE49-F238E27FC236}">
                <a16:creationId xmlns:a16="http://schemas.microsoft.com/office/drawing/2014/main" id="{74FBE027-07A5-6439-332E-12CD8A9ED0D1}"/>
              </a:ext>
            </a:extLst>
          </p:cNvPr>
          <p:cNvSpPr/>
          <p:nvPr/>
        </p:nvSpPr>
        <p:spPr>
          <a:xfrm>
            <a:off x="3915893" y="4096697"/>
            <a:ext cx="1186184" cy="1186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865FD2C2-0B49-5DDC-F85D-ECE202D9DA1B}"/>
              </a:ext>
            </a:extLst>
          </p:cNvPr>
          <p:cNvGrpSpPr>
            <a:grpSpLocks/>
          </p:cNvGrpSpPr>
          <p:nvPr/>
        </p:nvGrpSpPr>
        <p:grpSpPr>
          <a:xfrm>
            <a:off x="3945783" y="5375709"/>
            <a:ext cx="1126404" cy="232488"/>
            <a:chOff x="5024812" y="5439880"/>
            <a:chExt cx="898836" cy="159554"/>
          </a:xfrm>
        </p:grpSpPr>
        <p:pic>
          <p:nvPicPr>
            <p:cNvPr id="138" name="Graphic 137" descr="Star with solid fill">
              <a:extLst>
                <a:ext uri="{FF2B5EF4-FFF2-40B4-BE49-F238E27FC236}">
                  <a16:creationId xmlns:a16="http://schemas.microsoft.com/office/drawing/2014/main" id="{E3BFEECD-B86B-FF07-CB6A-130BFA93E6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024812" y="5443742"/>
              <a:ext cx="188387" cy="155692"/>
            </a:xfrm>
            <a:prstGeom prst="rect">
              <a:avLst/>
            </a:prstGeom>
          </p:spPr>
        </p:pic>
        <p:pic>
          <p:nvPicPr>
            <p:cNvPr id="139" name="Graphic 138" descr="Star with solid fill">
              <a:extLst>
                <a:ext uri="{FF2B5EF4-FFF2-40B4-BE49-F238E27FC236}">
                  <a16:creationId xmlns:a16="http://schemas.microsoft.com/office/drawing/2014/main" id="{1E2D5472-913F-326D-6C6F-876146D8AB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200537" y="5443742"/>
              <a:ext cx="188387" cy="155692"/>
            </a:xfrm>
            <a:prstGeom prst="rect">
              <a:avLst/>
            </a:prstGeom>
          </p:spPr>
        </p:pic>
        <p:pic>
          <p:nvPicPr>
            <p:cNvPr id="140" name="Graphic 139" descr="Star with solid fill">
              <a:extLst>
                <a:ext uri="{FF2B5EF4-FFF2-40B4-BE49-F238E27FC236}">
                  <a16:creationId xmlns:a16="http://schemas.microsoft.com/office/drawing/2014/main" id="{D1D27DD3-43D1-77F2-9045-7CE6B7A32B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376262" y="5443742"/>
              <a:ext cx="188387" cy="155692"/>
            </a:xfrm>
            <a:prstGeom prst="rect">
              <a:avLst/>
            </a:prstGeom>
          </p:spPr>
        </p:pic>
        <p:pic>
          <p:nvPicPr>
            <p:cNvPr id="141" name="Graphic 140" descr="Star with solid fill">
              <a:extLst>
                <a:ext uri="{FF2B5EF4-FFF2-40B4-BE49-F238E27FC236}">
                  <a16:creationId xmlns:a16="http://schemas.microsoft.com/office/drawing/2014/main" id="{DCFCCB56-304A-C345-968C-B6E53E0FC1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551987" y="5443742"/>
              <a:ext cx="188387" cy="155692"/>
            </a:xfrm>
            <a:prstGeom prst="rect">
              <a:avLst/>
            </a:prstGeom>
          </p:spPr>
        </p:pic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7CF55D5B-4F27-A866-DC7E-31E4DA631D4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735372" y="5439880"/>
              <a:ext cx="188276" cy="156381"/>
              <a:chOff x="7330994" y="2447388"/>
              <a:chExt cx="156497" cy="157282"/>
            </a:xfrm>
          </p:grpSpPr>
          <p:pic>
            <p:nvPicPr>
              <p:cNvPr id="143" name="Graphic 142" descr="Star with solid fill">
                <a:extLst>
                  <a:ext uri="{FF2B5EF4-FFF2-40B4-BE49-F238E27FC236}">
                    <a16:creationId xmlns:a16="http://schemas.microsoft.com/office/drawing/2014/main" id="{D01F02AD-83C4-F58C-8976-B1A8014321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7331799" y="2447388"/>
                <a:ext cx="155692" cy="155692"/>
              </a:xfrm>
              <a:prstGeom prst="rect">
                <a:avLst/>
              </a:prstGeom>
            </p:spPr>
          </p:pic>
          <p:pic>
            <p:nvPicPr>
              <p:cNvPr id="144" name="Graphic 143" descr="Star with solid fill">
                <a:extLst>
                  <a:ext uri="{FF2B5EF4-FFF2-40B4-BE49-F238E27FC236}">
                    <a16:creationId xmlns:a16="http://schemas.microsoft.com/office/drawing/2014/main" id="{58F9C973-BF71-128D-70B2-C4359FAB58A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 r="49950"/>
              <a:stretch/>
            </p:blipFill>
            <p:spPr>
              <a:xfrm>
                <a:off x="7330994" y="2448978"/>
                <a:ext cx="77924" cy="155692"/>
              </a:xfrm>
              <a:prstGeom prst="rect">
                <a:avLst/>
              </a:prstGeom>
            </p:spPr>
          </p:pic>
        </p:grpSp>
      </p:grpSp>
      <p:sp>
        <p:nvSpPr>
          <p:cNvPr id="136" name="Retângulo 27">
            <a:extLst>
              <a:ext uri="{FF2B5EF4-FFF2-40B4-BE49-F238E27FC236}">
                <a16:creationId xmlns:a16="http://schemas.microsoft.com/office/drawing/2014/main" id="{345225CF-260A-FEBC-0B3D-B318092468D3}"/>
              </a:ext>
            </a:extLst>
          </p:cNvPr>
          <p:cNvSpPr/>
          <p:nvPr/>
        </p:nvSpPr>
        <p:spPr>
          <a:xfrm>
            <a:off x="4190306" y="5701025"/>
            <a:ext cx="637359" cy="276999"/>
          </a:xfrm>
          <a:prstGeom prst="rect">
            <a:avLst/>
          </a:prstGeom>
          <a:noFill/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Medium" pitchFamily="2" charset="0"/>
                <a:ea typeface="Source Serif Pro" panose="02040603050405020204" pitchFamily="18" charset="0"/>
                <a:cs typeface="Open Sans" panose="020B0606030504020204" pitchFamily="34" charset="0"/>
              </a:rPr>
              <a:t>Avaliações de clientes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BE817C59-88AB-CABC-CA4C-F159162F6B37}"/>
              </a:ext>
            </a:extLst>
          </p:cNvPr>
          <p:cNvSpPr/>
          <p:nvPr/>
        </p:nvSpPr>
        <p:spPr>
          <a:xfrm>
            <a:off x="4093605" y="4505123"/>
            <a:ext cx="830760" cy="369332"/>
          </a:xfrm>
          <a:prstGeom prst="rect">
            <a:avLst/>
          </a:prstGeom>
          <a:effectLst/>
        </p:spPr>
        <p:txBody>
          <a:bodyPr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" panose="00000500000000000000" pitchFamily="2" charset="0"/>
                <a:ea typeface="Source Serif Pro" panose="02040603050405020204" pitchFamily="18" charset="0"/>
                <a:cs typeface="Open Sans" panose="020B0606030504020204" pitchFamily="34" charset="0"/>
              </a:rPr>
              <a:t>4.</a:t>
            </a:r>
            <a:r>
              <a:rPr lang="pt-BR" sz="2400" b="1" dirty="0">
                <a:solidFill>
                  <a:schemeClr val="tx2"/>
                </a:solidFill>
                <a:latin typeface="Montserrat" panose="00000500000000000000" pitchFamily="2" charset="0"/>
                <a:ea typeface="Source Serif Pro" panose="02040603050405020204" pitchFamily="18" charset="0"/>
                <a:cs typeface="Open Sans" panose="020B0606030504020204" pitchFamily="34" charset="0"/>
              </a:rPr>
              <a:t>4</a:t>
            </a:r>
            <a:r>
              <a:rPr kumimoji="0" lang="pt-BR" sz="1400" b="1" i="0" u="none" strike="noStrike" kern="1200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" panose="00000500000000000000" pitchFamily="2" charset="0"/>
                <a:ea typeface="Source Serif Pro" panose="02040603050405020204" pitchFamily="18" charset="0"/>
                <a:cs typeface="Open Sans" panose="020B0606030504020204" pitchFamily="34" charset="0"/>
              </a:rPr>
              <a:t>/5</a:t>
            </a:r>
            <a:endParaRPr kumimoji="0" lang="pt-BR" sz="2000" b="1" i="0" u="none" strike="noStrike" kern="1200" cap="none" spc="0" normalizeH="0" baseline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Montserrat" panose="00000500000000000000" pitchFamily="2" charset="0"/>
              <a:ea typeface="Source Serif Pro" panose="02040603050405020204" pitchFamily="18" charset="0"/>
              <a:cs typeface="Open Sans" panose="020B0606030504020204" pitchFamily="34" charset="0"/>
            </a:endParaRPr>
          </a:p>
        </p:txBody>
      </p:sp>
      <p:sp>
        <p:nvSpPr>
          <p:cNvPr id="79" name="Content Placeholder 6">
            <a:extLst>
              <a:ext uri="{FF2B5EF4-FFF2-40B4-BE49-F238E27FC236}">
                <a16:creationId xmlns:a16="http://schemas.microsoft.com/office/drawing/2014/main" id="{497746EE-365F-CFA1-F476-35F114A51162}"/>
              </a:ext>
            </a:extLst>
          </p:cNvPr>
          <p:cNvSpPr txBox="1">
            <a:spLocks/>
          </p:cNvSpPr>
          <p:nvPr/>
        </p:nvSpPr>
        <p:spPr>
          <a:xfrm>
            <a:off x="5677278" y="4278610"/>
            <a:ext cx="1635208" cy="1311834"/>
          </a:xfrm>
          <a:prstGeom prst="rect">
            <a:avLst/>
          </a:prstGeom>
        </p:spPr>
        <p:txBody>
          <a:bodyPr vert="horz" wrap="square" lIns="144000" tIns="0" rIns="0" bIns="0" rtlCol="0" anchor="ctr" anchorCtr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1pPr>
            <a:lvl2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2pPr>
            <a:lvl3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Source Sans Pro" panose="020B0503030403020204" pitchFamily="34" charset="0"/>
              <a:buChar char="−"/>
              <a:defRPr sz="1200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kern="1200">
                <a:solidFill>
                  <a:schemeClr val="accent3"/>
                </a:solidFill>
                <a:latin typeface="Source Serif Pro Light" panose="02040303050405020204" pitchFamily="18" charset="0"/>
                <a:ea typeface="Source Serif Pro Light" panose="02040303050405020204" pitchFamily="18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/>
            <a:r>
              <a:rPr lang="pt-BR" sz="900" dirty="0">
                <a:latin typeface="Montserrat" panose="00000500000000000000" pitchFamily="2" charset="0"/>
                <a:cs typeface="Poppins" panose="00000500000000000000" pitchFamily="2" charset="0"/>
              </a:rPr>
              <a:t>“</a:t>
            </a:r>
            <a:r>
              <a:rPr lang="pt-BR" sz="900" b="0" i="0" dirty="0">
                <a:effectLst/>
                <a:latin typeface="Montserrat" panose="00000500000000000000" pitchFamily="2" charset="0"/>
              </a:rPr>
              <a:t>Gosto muito dos produtos desta marca, ótimo custo benefício.</a:t>
            </a:r>
            <a:r>
              <a:rPr lang="pt-BR" sz="900" b="0" i="0" dirty="0">
                <a:effectLst/>
                <a:latin typeface="Montserrat" panose="00000500000000000000" pitchFamily="2" charset="0"/>
                <a:cs typeface="Poppins" panose="00000500000000000000" pitchFamily="2" charset="0"/>
              </a:rPr>
              <a:t>”</a:t>
            </a:r>
          </a:p>
          <a:p>
            <a:pPr lvl="3"/>
            <a:r>
              <a:rPr lang="pt-BR" sz="900" b="0" dirty="0">
                <a:latin typeface="Montserrat" panose="00000500000000000000" pitchFamily="2" charset="0"/>
                <a:cs typeface="Poppins" panose="00000500000000000000" pitchFamily="2" charset="0"/>
              </a:rPr>
              <a:t>“</a:t>
            </a:r>
            <a:r>
              <a:rPr lang="pt-BR" sz="900" b="0" i="0" dirty="0">
                <a:effectLst/>
                <a:latin typeface="Montserrat" panose="00000500000000000000" pitchFamily="2" charset="0"/>
              </a:rPr>
              <a:t>Gente eu amo essa marca, até agora os produtos que usei dela são ótimos. Aliás está sendo a minha preferida</a:t>
            </a:r>
            <a:r>
              <a:rPr lang="pt-BR" sz="900" b="0" i="0" dirty="0">
                <a:effectLst/>
                <a:latin typeface="Montserrat" panose="00000500000000000000" pitchFamily="2" charset="0"/>
                <a:cs typeface="Poppins" panose="00000500000000000000" pitchFamily="2" charset="0"/>
              </a:rPr>
              <a:t>”</a:t>
            </a:r>
            <a:endParaRPr lang="en-US" sz="900" dirty="0">
              <a:latin typeface="Montserrat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3E84C8E-F526-2C2A-8903-512559EE65A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60" r="37717"/>
          <a:stretch/>
        </p:blipFill>
        <p:spPr>
          <a:xfrm>
            <a:off x="888305" y="3853950"/>
            <a:ext cx="2761560" cy="2149066"/>
          </a:xfrm>
          <a:prstGeom prst="round2SameRect">
            <a:avLst>
              <a:gd name="adj1" fmla="val 10638"/>
              <a:gd name="adj2" fmla="val 0"/>
            </a:avLst>
          </a:prstGeom>
        </p:spPr>
      </p:pic>
      <p:grpSp>
        <p:nvGrpSpPr>
          <p:cNvPr id="3" name="Agrupar 20">
            <a:extLst>
              <a:ext uri="{FF2B5EF4-FFF2-40B4-BE49-F238E27FC236}">
                <a16:creationId xmlns:a16="http://schemas.microsoft.com/office/drawing/2014/main" id="{3EDE9AB8-9D73-4C7D-4B53-A3D9CCA5CEEF}"/>
              </a:ext>
            </a:extLst>
          </p:cNvPr>
          <p:cNvGrpSpPr/>
          <p:nvPr/>
        </p:nvGrpSpPr>
        <p:grpSpPr>
          <a:xfrm rot="5400000">
            <a:off x="1538085" y="6056143"/>
            <a:ext cx="200055" cy="1100408"/>
            <a:chOff x="11935695" y="2878796"/>
            <a:chExt cx="200055" cy="1100408"/>
          </a:xfrm>
        </p:grpSpPr>
        <p:sp>
          <p:nvSpPr>
            <p:cNvPr id="4" name="CaixaDeTexto 18">
              <a:extLst>
                <a:ext uri="{FF2B5EF4-FFF2-40B4-BE49-F238E27FC236}">
                  <a16:creationId xmlns:a16="http://schemas.microsoft.com/office/drawing/2014/main" id="{A0C2262F-54FB-2746-3B5A-69361CCF6DC6}"/>
                </a:ext>
              </a:extLst>
            </p:cNvPr>
            <p:cNvSpPr txBox="1"/>
            <p:nvPr userDrawn="1"/>
          </p:nvSpPr>
          <p:spPr>
            <a:xfrm rot="16200000">
              <a:off x="11659671" y="3328970"/>
              <a:ext cx="752104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algn="ctr" defTabSz="914400" rtl="0" eaLnBrk="1" latinLnBrk="0" hangingPunct="1"/>
              <a:r>
                <a:rPr lang="pt-BR" sz="700" kern="1200" dirty="0">
                  <a:solidFill>
                    <a:schemeClr val="accent6"/>
                  </a:solidFill>
                  <a:latin typeface="Montserrat" panose="00000500000000000000" pitchFamily="2" charset="0"/>
                  <a:ea typeface="Source Serif Pro" panose="02040603050405020204" pitchFamily="18" charset="0"/>
                  <a:cs typeface="Arial" panose="020B0604020202020204" pitchFamily="34" charset="0"/>
                </a:rPr>
                <a:t>Confidencial </a:t>
              </a:r>
            </a:p>
          </p:txBody>
        </p:sp>
        <p:sp>
          <p:nvSpPr>
            <p:cNvPr id="5" name="Retângulo: Cantos Arredondados 19">
              <a:extLst>
                <a:ext uri="{FF2B5EF4-FFF2-40B4-BE49-F238E27FC236}">
                  <a16:creationId xmlns:a16="http://schemas.microsoft.com/office/drawing/2014/main" id="{50CBFFC8-6A1D-E948-A833-3D7976B7C5EB}"/>
                </a:ext>
              </a:extLst>
            </p:cNvPr>
            <p:cNvSpPr/>
            <p:nvPr userDrawn="1"/>
          </p:nvSpPr>
          <p:spPr>
            <a:xfrm>
              <a:off x="11935695" y="2878796"/>
              <a:ext cx="200055" cy="1100408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C9F28E20-2EC6-8C66-3F0F-E1A844BDC5C0}"/>
              </a:ext>
            </a:extLst>
          </p:cNvPr>
          <p:cNvSpPr txBox="1">
            <a:spLocks/>
          </p:cNvSpPr>
          <p:nvPr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accent6"/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12</a:t>
            </a:fld>
            <a:endParaRPr lang="en-US" sz="700" b="0" kern="1200" dirty="0">
              <a:solidFill>
                <a:schemeClr val="accent6"/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  <p:pic>
        <p:nvPicPr>
          <p:cNvPr id="8" name="Picture 7" descr="A black and white logo&#10;&#10;Description automatically generated">
            <a:extLst>
              <a:ext uri="{FF2B5EF4-FFF2-40B4-BE49-F238E27FC236}">
                <a16:creationId xmlns:a16="http://schemas.microsoft.com/office/drawing/2014/main" id="{72B2E2CF-C5C6-21DA-81CA-82E67D4384C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0" y="6196678"/>
            <a:ext cx="784112" cy="26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501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Single Corner Rounded 1">
            <a:extLst>
              <a:ext uri="{FF2B5EF4-FFF2-40B4-BE49-F238E27FC236}">
                <a16:creationId xmlns:a16="http://schemas.microsoft.com/office/drawing/2014/main" id="{765A7B05-678C-4CB6-AA27-A1A930F14415}"/>
              </a:ext>
            </a:extLst>
          </p:cNvPr>
          <p:cNvSpPr/>
          <p:nvPr/>
        </p:nvSpPr>
        <p:spPr>
          <a:xfrm>
            <a:off x="-1" y="1626870"/>
            <a:ext cx="5609244" cy="4360864"/>
          </a:xfrm>
          <a:prstGeom prst="round1Rect">
            <a:avLst>
              <a:gd name="adj" fmla="val 1121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graphicFrame>
        <p:nvGraphicFramePr>
          <p:cNvPr id="56" name="Chart 55">
            <a:extLst>
              <a:ext uri="{FF2B5EF4-FFF2-40B4-BE49-F238E27FC236}">
                <a16:creationId xmlns:a16="http://schemas.microsoft.com/office/drawing/2014/main" id="{46C12F6A-BFA7-A66F-A0C6-AB0837004F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4657889"/>
              </p:ext>
            </p:extLst>
          </p:nvPr>
        </p:nvGraphicFramePr>
        <p:xfrm>
          <a:off x="5007383" y="2600418"/>
          <a:ext cx="4797708" cy="36202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3" name="Rectangle: Top Corners Rounded 82">
            <a:extLst>
              <a:ext uri="{FF2B5EF4-FFF2-40B4-BE49-F238E27FC236}">
                <a16:creationId xmlns:a16="http://schemas.microsoft.com/office/drawing/2014/main" id="{8535793A-F950-F3BA-AF6F-95459DB129A2}"/>
              </a:ext>
            </a:extLst>
          </p:cNvPr>
          <p:cNvSpPr/>
          <p:nvPr/>
        </p:nvSpPr>
        <p:spPr>
          <a:xfrm rot="16200000" flipH="1">
            <a:off x="9439731" y="3235466"/>
            <a:ext cx="3203285" cy="2301253"/>
          </a:xfrm>
          <a:prstGeom prst="round2SameRect">
            <a:avLst>
              <a:gd name="adj1" fmla="val 8483"/>
              <a:gd name="adj2" fmla="val 0"/>
            </a:avLst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84" name="Content Placeholder 6">
            <a:extLst>
              <a:ext uri="{FF2B5EF4-FFF2-40B4-BE49-F238E27FC236}">
                <a16:creationId xmlns:a16="http://schemas.microsoft.com/office/drawing/2014/main" id="{BBCFD7E7-D34E-2FD7-1EB8-3C324AFC7AB5}"/>
              </a:ext>
            </a:extLst>
          </p:cNvPr>
          <p:cNvSpPr txBox="1">
            <a:spLocks/>
          </p:cNvSpPr>
          <p:nvPr/>
        </p:nvSpPr>
        <p:spPr>
          <a:xfrm>
            <a:off x="9968842" y="2972082"/>
            <a:ext cx="2125553" cy="36067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1pPr>
            <a:lvl2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2pPr>
            <a:lvl3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Source Sans Pro" panose="020B0503030403020204" pitchFamily="34" charset="0"/>
              <a:buChar char="−"/>
              <a:defRPr sz="1200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kern="1200">
                <a:solidFill>
                  <a:schemeClr val="accent3"/>
                </a:solidFill>
                <a:latin typeface="Source Serif Pro Light" panose="02040303050405020204" pitchFamily="18" charset="0"/>
                <a:ea typeface="Source Serif Pro Light" panose="02040303050405020204" pitchFamily="18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 algn="ctr"/>
            <a:r>
              <a:rPr lang="pt-BR" sz="1100" dirty="0">
                <a:solidFill>
                  <a:schemeClr val="accent1">
                    <a:lumMod val="50000"/>
                  </a:schemeClr>
                </a:solidFill>
                <a:latin typeface="Montserrat" panose="00000500000000000000" pitchFamily="2" charset="0"/>
                <a:cs typeface="Poppins" panose="00000500000000000000" pitchFamily="2" charset="0"/>
              </a:rPr>
              <a:t>Portfólio destinado ao segmento profissional</a:t>
            </a:r>
            <a:endParaRPr lang="en-US" sz="1100" dirty="0">
              <a:solidFill>
                <a:schemeClr val="accent1">
                  <a:lumMod val="50000"/>
                </a:schemeClr>
              </a:solidFill>
              <a:latin typeface="Montserrat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E6A9EFC-7DAB-E0A0-FF28-C2A0F86B7D96}"/>
              </a:ext>
            </a:extLst>
          </p:cNvPr>
          <p:cNvGrpSpPr/>
          <p:nvPr/>
        </p:nvGrpSpPr>
        <p:grpSpPr>
          <a:xfrm>
            <a:off x="10350931" y="3573211"/>
            <a:ext cx="1361374" cy="2236887"/>
            <a:chOff x="5667075" y="3573211"/>
            <a:chExt cx="1361374" cy="2236887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B5961449-44E0-E82C-DF12-46E1DF56C478}"/>
                </a:ext>
              </a:extLst>
            </p:cNvPr>
            <p:cNvGrpSpPr/>
            <p:nvPr/>
          </p:nvGrpSpPr>
          <p:grpSpPr>
            <a:xfrm>
              <a:off x="5766012" y="4045870"/>
              <a:ext cx="1249974" cy="315104"/>
              <a:chOff x="5883883" y="4045870"/>
              <a:chExt cx="1249974" cy="315104"/>
            </a:xfrm>
          </p:grpSpPr>
          <p:pic>
            <p:nvPicPr>
              <p:cNvPr id="59" name="Picture 2" descr="Creme de Tratamento Skala Genetiqs 1kg | Lojas Bella Cosméticos">
                <a:extLst>
                  <a:ext uri="{FF2B5EF4-FFF2-40B4-BE49-F238E27FC236}">
                    <a16:creationId xmlns:a16="http://schemas.microsoft.com/office/drawing/2014/main" id="{32547110-F4B9-F2B8-9C47-F39B8378136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83883" y="4045870"/>
                <a:ext cx="600200" cy="3151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8B1A5EC1-8590-6CE9-74FB-56D5C4843076}"/>
                  </a:ext>
                </a:extLst>
              </p:cNvPr>
              <p:cNvGrpSpPr/>
              <p:nvPr/>
            </p:nvGrpSpPr>
            <p:grpSpPr>
              <a:xfrm>
                <a:off x="7011457" y="4142716"/>
                <a:ext cx="122400" cy="121413"/>
                <a:chOff x="771983" y="3431736"/>
                <a:chExt cx="91219" cy="91219"/>
              </a:xfrm>
            </p:grpSpPr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FA6A21B7-102F-1036-013E-B909420DB6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1983" y="3431736"/>
                  <a:ext cx="91219" cy="91219"/>
                </a:xfrm>
                <a:prstGeom prst="line">
                  <a:avLst/>
                </a:prstGeom>
                <a:ln w="44450" cap="rnd">
                  <a:solidFill>
                    <a:schemeClr val="accent2">
                      <a:lumMod val="50000"/>
                    </a:schemeClr>
                  </a:solidFill>
                  <a:headEnd type="none" w="sm" len="sm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D7BD07D9-66EB-ADE8-70EE-F55F12302F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71983" y="3431736"/>
                  <a:ext cx="91219" cy="91219"/>
                </a:xfrm>
                <a:prstGeom prst="line">
                  <a:avLst/>
                </a:prstGeom>
                <a:ln w="44450" cap="rnd">
                  <a:solidFill>
                    <a:schemeClr val="accent2">
                      <a:lumMod val="50000"/>
                    </a:schemeClr>
                  </a:solidFill>
                  <a:headEnd type="none" w="sm" len="sm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ED29E10F-ADA5-8A3B-EBB6-C8E3749EAACB}"/>
                </a:ext>
              </a:extLst>
            </p:cNvPr>
            <p:cNvGrpSpPr/>
            <p:nvPr/>
          </p:nvGrpSpPr>
          <p:grpSpPr>
            <a:xfrm>
              <a:off x="5667075" y="3573211"/>
              <a:ext cx="1361374" cy="272676"/>
              <a:chOff x="5784946" y="3573211"/>
              <a:chExt cx="1361374" cy="272676"/>
            </a:xfrm>
          </p:grpSpPr>
          <p:pic>
            <p:nvPicPr>
              <p:cNvPr id="62" name="Picture 42" descr="Hidramais - Plena Cosméticos">
                <a:extLst>
                  <a:ext uri="{FF2B5EF4-FFF2-40B4-BE49-F238E27FC236}">
                    <a16:creationId xmlns:a16="http://schemas.microsoft.com/office/drawing/2014/main" id="{4D8BCAEB-57F5-1EAD-89F6-2012A0782E9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0310" b="28877"/>
              <a:stretch/>
            </p:blipFill>
            <p:spPr bwMode="auto">
              <a:xfrm>
                <a:off x="5784946" y="3573211"/>
                <a:ext cx="798075" cy="27267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E00C0814-63BC-34A6-261F-A25508974E11}"/>
                  </a:ext>
                </a:extLst>
              </p:cNvPr>
              <p:cNvSpPr/>
              <p:nvPr/>
            </p:nvSpPr>
            <p:spPr>
              <a:xfrm>
                <a:off x="6966320" y="3637549"/>
                <a:ext cx="180000" cy="144000"/>
              </a:xfrm>
              <a:custGeom>
                <a:avLst/>
                <a:gdLst>
                  <a:gd name="connsiteX0" fmla="*/ 0 w 518474"/>
                  <a:gd name="connsiteY0" fmla="*/ 235670 h 377072"/>
                  <a:gd name="connsiteX1" fmla="*/ 141402 w 518474"/>
                  <a:gd name="connsiteY1" fmla="*/ 377072 h 377072"/>
                  <a:gd name="connsiteX2" fmla="*/ 518474 w 518474"/>
                  <a:gd name="connsiteY2" fmla="*/ 0 h 377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18474" h="377072">
                    <a:moveTo>
                      <a:pt x="0" y="235670"/>
                    </a:moveTo>
                    <a:lnTo>
                      <a:pt x="141402" y="377072"/>
                    </a:lnTo>
                    <a:lnTo>
                      <a:pt x="518474" y="0"/>
                    </a:lnTo>
                  </a:path>
                </a:pathLst>
              </a:custGeom>
              <a:noFill/>
              <a:ln w="50800" cap="rnd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00" dirty="0">
                  <a:solidFill>
                    <a:sysClr val="windowText" lastClr="000000"/>
                  </a:solidFill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B5F8CD9-C013-580F-471A-4F980B184BEF}"/>
                </a:ext>
              </a:extLst>
            </p:cNvPr>
            <p:cNvGrpSpPr/>
            <p:nvPr/>
          </p:nvGrpSpPr>
          <p:grpSpPr>
            <a:xfrm>
              <a:off x="5755175" y="5559275"/>
              <a:ext cx="1260811" cy="250823"/>
              <a:chOff x="5873046" y="5559275"/>
              <a:chExt cx="1260811" cy="250823"/>
            </a:xfrm>
          </p:grpSpPr>
          <p:pic>
            <p:nvPicPr>
              <p:cNvPr id="60" name="Picture 4" descr="Monange Logo PNG Vector (EPS) Free Download">
                <a:extLst>
                  <a:ext uri="{FF2B5EF4-FFF2-40B4-BE49-F238E27FC236}">
                    <a16:creationId xmlns:a16="http://schemas.microsoft.com/office/drawing/2014/main" id="{7216836B-8535-32B8-C5D3-067AD987F70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73046" y="5559275"/>
                <a:ext cx="621875" cy="2508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9D812104-A920-5AD1-30A6-1E35F9E490B6}"/>
                  </a:ext>
                </a:extLst>
              </p:cNvPr>
              <p:cNvGrpSpPr/>
              <p:nvPr/>
            </p:nvGrpSpPr>
            <p:grpSpPr>
              <a:xfrm>
                <a:off x="7011457" y="5623980"/>
                <a:ext cx="122400" cy="121413"/>
                <a:chOff x="771983" y="3431736"/>
                <a:chExt cx="91219" cy="91219"/>
              </a:xfrm>
            </p:grpSpPr>
            <p:cxnSp>
              <p:nvCxnSpPr>
                <p:cNvPr id="87" name="Straight Connector 86">
                  <a:extLst>
                    <a:ext uri="{FF2B5EF4-FFF2-40B4-BE49-F238E27FC236}">
                      <a16:creationId xmlns:a16="http://schemas.microsoft.com/office/drawing/2014/main" id="{B9F50110-9D2B-C422-DA63-CCF997F28C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1983" y="3431736"/>
                  <a:ext cx="91219" cy="91219"/>
                </a:xfrm>
                <a:prstGeom prst="line">
                  <a:avLst/>
                </a:prstGeom>
                <a:ln w="44450" cap="rnd">
                  <a:solidFill>
                    <a:schemeClr val="accent2">
                      <a:lumMod val="50000"/>
                    </a:schemeClr>
                  </a:solidFill>
                  <a:headEnd type="none" w="sm" len="sm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Straight Connector 87">
                  <a:extLst>
                    <a:ext uri="{FF2B5EF4-FFF2-40B4-BE49-F238E27FC236}">
                      <a16:creationId xmlns:a16="http://schemas.microsoft.com/office/drawing/2014/main" id="{C5A558A5-D95A-5073-CA7E-966BAEC15F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71983" y="3431736"/>
                  <a:ext cx="91219" cy="91219"/>
                </a:xfrm>
                <a:prstGeom prst="line">
                  <a:avLst/>
                </a:prstGeom>
                <a:ln w="44450" cap="rnd">
                  <a:solidFill>
                    <a:schemeClr val="accent2">
                      <a:lumMod val="50000"/>
                    </a:schemeClr>
                  </a:solidFill>
                  <a:headEnd type="none" w="sm" len="sm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C7E3FD9B-18B2-8498-6673-26F977C2D54B}"/>
                </a:ext>
              </a:extLst>
            </p:cNvPr>
            <p:cNvGrpSpPr/>
            <p:nvPr/>
          </p:nvGrpSpPr>
          <p:grpSpPr>
            <a:xfrm>
              <a:off x="5771290" y="5153076"/>
              <a:ext cx="1244696" cy="206216"/>
              <a:chOff x="5889161" y="5153076"/>
              <a:chExt cx="1244696" cy="206216"/>
            </a:xfrm>
          </p:grpSpPr>
          <p:pic>
            <p:nvPicPr>
              <p:cNvPr id="61" name="Picture 6" descr="Paixao - Customer Brand - Coty">
                <a:extLst>
                  <a:ext uri="{FF2B5EF4-FFF2-40B4-BE49-F238E27FC236}">
                    <a16:creationId xmlns:a16="http://schemas.microsoft.com/office/drawing/2014/main" id="{34C13FA2-3271-E408-BECC-125AE715B3E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89161" y="5153076"/>
                <a:ext cx="589646" cy="2062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F0FF8B71-9B76-7ABC-8E58-A6C2781BBE32}"/>
                  </a:ext>
                </a:extLst>
              </p:cNvPr>
              <p:cNvGrpSpPr/>
              <p:nvPr/>
            </p:nvGrpSpPr>
            <p:grpSpPr>
              <a:xfrm>
                <a:off x="7011457" y="5195478"/>
                <a:ext cx="122400" cy="121413"/>
                <a:chOff x="771983" y="3431736"/>
                <a:chExt cx="91219" cy="91219"/>
              </a:xfrm>
            </p:grpSpPr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E864D27E-9D46-0C45-AB80-267E2D4425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1983" y="3431736"/>
                  <a:ext cx="91219" cy="91219"/>
                </a:xfrm>
                <a:prstGeom prst="line">
                  <a:avLst/>
                </a:prstGeom>
                <a:ln w="44450" cap="rnd">
                  <a:solidFill>
                    <a:schemeClr val="accent2">
                      <a:lumMod val="50000"/>
                    </a:schemeClr>
                  </a:solidFill>
                  <a:headEnd type="none" w="sm" len="sm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20F2DD7B-0B50-2E4D-15D4-76C15C5232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71983" y="3431736"/>
                  <a:ext cx="91219" cy="91219"/>
                </a:xfrm>
                <a:prstGeom prst="line">
                  <a:avLst/>
                </a:prstGeom>
                <a:ln w="44450" cap="rnd">
                  <a:solidFill>
                    <a:schemeClr val="accent2">
                      <a:lumMod val="50000"/>
                    </a:schemeClr>
                  </a:solidFill>
                  <a:headEnd type="none" w="sm" len="sm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030BF40C-E85E-4712-C178-74499DC1564C}"/>
                </a:ext>
              </a:extLst>
            </p:cNvPr>
            <p:cNvGrpSpPr/>
            <p:nvPr/>
          </p:nvGrpSpPr>
          <p:grpSpPr>
            <a:xfrm>
              <a:off x="5868083" y="4560957"/>
              <a:ext cx="1147903" cy="392136"/>
              <a:chOff x="5985954" y="4560957"/>
              <a:chExt cx="1147903" cy="392136"/>
            </a:xfrm>
          </p:grpSpPr>
          <p:pic>
            <p:nvPicPr>
              <p:cNvPr id="58" name="Picture 22">
                <a:extLst>
                  <a:ext uri="{FF2B5EF4-FFF2-40B4-BE49-F238E27FC236}">
                    <a16:creationId xmlns:a16="http://schemas.microsoft.com/office/drawing/2014/main" id="{BED77078-C453-085E-3E0A-EB9CC6BF2DD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biLevel thresh="75000"/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85954" y="4560957"/>
                <a:ext cx="396058" cy="3921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FAF3A9AA-4FA3-DCC7-7B4E-20C139FEAB87}"/>
                  </a:ext>
                </a:extLst>
              </p:cNvPr>
              <p:cNvGrpSpPr/>
              <p:nvPr/>
            </p:nvGrpSpPr>
            <p:grpSpPr>
              <a:xfrm>
                <a:off x="7011457" y="4696319"/>
                <a:ext cx="122400" cy="121413"/>
                <a:chOff x="771983" y="3431736"/>
                <a:chExt cx="91219" cy="91219"/>
              </a:xfrm>
            </p:grpSpPr>
            <p:cxnSp>
              <p:nvCxnSpPr>
                <p:cNvPr id="93" name="Straight Connector 92">
                  <a:extLst>
                    <a:ext uri="{FF2B5EF4-FFF2-40B4-BE49-F238E27FC236}">
                      <a16:creationId xmlns:a16="http://schemas.microsoft.com/office/drawing/2014/main" id="{01E20E6C-853B-D168-2B36-7D83C77B82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1983" y="3431736"/>
                  <a:ext cx="91219" cy="91219"/>
                </a:xfrm>
                <a:prstGeom prst="line">
                  <a:avLst/>
                </a:prstGeom>
                <a:ln w="44450" cap="rnd">
                  <a:solidFill>
                    <a:schemeClr val="accent2">
                      <a:lumMod val="50000"/>
                    </a:schemeClr>
                  </a:solidFill>
                  <a:headEnd type="none" w="sm" len="sm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>
                  <a:extLst>
                    <a:ext uri="{FF2B5EF4-FFF2-40B4-BE49-F238E27FC236}">
                      <a16:creationId xmlns:a16="http://schemas.microsoft.com/office/drawing/2014/main" id="{3687384A-95ED-D4A9-28FE-A65D3065F7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71983" y="3431736"/>
                  <a:ext cx="91219" cy="91219"/>
                </a:xfrm>
                <a:prstGeom prst="line">
                  <a:avLst/>
                </a:prstGeom>
                <a:ln w="44450" cap="rnd">
                  <a:solidFill>
                    <a:schemeClr val="accent2">
                      <a:lumMod val="50000"/>
                    </a:schemeClr>
                  </a:solidFill>
                  <a:headEnd type="none" w="sm" len="sm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7403F93-F2B1-93D2-1AFF-FF4FC3A9CBB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25879" y="6175721"/>
            <a:ext cx="9275946" cy="111056"/>
          </a:xfrm>
        </p:spPr>
        <p:txBody>
          <a:bodyPr/>
          <a:lstStyle/>
          <a:p>
            <a:r>
              <a:rPr lang="pt-BR"/>
              <a:t>Fonte: Exame, Folha, Companhia</a:t>
            </a:r>
            <a:endParaRPr lang="pt-BR" dirty="0"/>
          </a:p>
        </p:txBody>
      </p:sp>
      <p:sp>
        <p:nvSpPr>
          <p:cNvPr id="38" name="Title 37">
            <a:extLst>
              <a:ext uri="{FF2B5EF4-FFF2-40B4-BE49-F238E27FC236}">
                <a16:creationId xmlns:a16="http://schemas.microsoft.com/office/drawing/2014/main" id="{0C41CFE9-AF55-2F56-0054-FA8FFB0F6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 err="1"/>
              <a:t>Biocap</a:t>
            </a:r>
            <a:r>
              <a:rPr lang="en-US" sz="1800" dirty="0"/>
              <a:t> </a:t>
            </a:r>
            <a:r>
              <a:rPr lang="en-US" sz="1800" dirty="0" err="1"/>
              <a:t>também</a:t>
            </a:r>
            <a:r>
              <a:rPr lang="en-US" sz="1800" dirty="0"/>
              <a:t> se </a:t>
            </a:r>
            <a:r>
              <a:rPr lang="en-US" sz="1800" dirty="0" err="1"/>
              <a:t>destaca</a:t>
            </a:r>
            <a:r>
              <a:rPr lang="en-US" sz="1800" dirty="0"/>
              <a:t> </a:t>
            </a:r>
            <a:r>
              <a:rPr lang="en-US" sz="1800" dirty="0" err="1"/>
              <a:t>por</a:t>
            </a:r>
            <a:r>
              <a:rPr lang="en-US" sz="1800" dirty="0"/>
              <a:t> </a:t>
            </a:r>
            <a:r>
              <a:rPr lang="en-US" sz="1800" dirty="0" err="1"/>
              <a:t>sua</a:t>
            </a:r>
            <a:r>
              <a:rPr lang="en-US" sz="1800" dirty="0"/>
              <a:t> </a:t>
            </a:r>
            <a:r>
              <a:rPr lang="en-US" sz="1800" dirty="0" err="1"/>
              <a:t>força</a:t>
            </a:r>
            <a:r>
              <a:rPr lang="en-US" sz="1800" dirty="0"/>
              <a:t> no mercado </a:t>
            </a:r>
            <a:r>
              <a:rPr lang="en-US" sz="1800" dirty="0" err="1"/>
              <a:t>profissional</a:t>
            </a:r>
            <a:endParaRPr lang="pt-BR" sz="1800" dirty="0"/>
          </a:p>
        </p:txBody>
      </p:sp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AF688014-6EA7-5F02-69C1-7EA76DF8D78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0" tIns="36000" rIns="0" bIns="0" rtlCol="0">
            <a:spAutoFit/>
          </a:bodyPr>
          <a:lstStyle/>
          <a:p>
            <a:r>
              <a:rPr lang="en-US" sz="1050" dirty="0" err="1">
                <a:latin typeface="Montserrat Light" pitchFamily="2" charset="0"/>
              </a:rPr>
              <a:t>Além</a:t>
            </a:r>
            <a:r>
              <a:rPr lang="en-US" sz="1050" dirty="0">
                <a:latin typeface="Montserrat Light" pitchFamily="2" charset="0"/>
              </a:rPr>
              <a:t> de </a:t>
            </a:r>
            <a:r>
              <a:rPr lang="en-US" sz="1050" dirty="0" err="1">
                <a:latin typeface="Montserrat Light" pitchFamily="2" charset="0"/>
              </a:rPr>
              <a:t>possuir</a:t>
            </a:r>
            <a:r>
              <a:rPr lang="en-US" sz="1050" dirty="0">
                <a:latin typeface="Montserrat Light" pitchFamily="2" charset="0"/>
              </a:rPr>
              <a:t> </a:t>
            </a:r>
            <a:r>
              <a:rPr lang="en-US" sz="1050" dirty="0" err="1">
                <a:latin typeface="Montserrat Light" pitchFamily="2" charset="0"/>
              </a:rPr>
              <a:t>uma</a:t>
            </a:r>
            <a:r>
              <a:rPr lang="en-US" sz="1050" dirty="0">
                <a:latin typeface="Montserrat Light" pitchFamily="2" charset="0"/>
              </a:rPr>
              <a:t> </a:t>
            </a:r>
            <a:r>
              <a:rPr lang="en-US" sz="1050" dirty="0" err="1">
                <a:latin typeface="Montserrat Light" pitchFamily="2" charset="0"/>
              </a:rPr>
              <a:t>linha</a:t>
            </a:r>
            <a:r>
              <a:rPr lang="en-US" sz="1050" dirty="0">
                <a:latin typeface="Montserrat Light" pitchFamily="2" charset="0"/>
              </a:rPr>
              <a:t> </a:t>
            </a:r>
            <a:r>
              <a:rPr lang="en-US" sz="1050" dirty="0" err="1">
                <a:latin typeface="Montserrat Light" pitchFamily="2" charset="0"/>
              </a:rPr>
              <a:t>completa</a:t>
            </a:r>
            <a:r>
              <a:rPr lang="en-US" sz="1050" dirty="0">
                <a:latin typeface="Montserrat Light" pitchFamily="2" charset="0"/>
              </a:rPr>
              <a:t> de </a:t>
            </a:r>
            <a:r>
              <a:rPr lang="en-US" sz="1050" dirty="0" err="1">
                <a:latin typeface="Montserrat Light" pitchFamily="2" charset="0"/>
              </a:rPr>
              <a:t>autocuidado</a:t>
            </a:r>
            <a:r>
              <a:rPr lang="en-US" sz="1050" dirty="0">
                <a:latin typeface="Montserrat Light" pitchFamily="2" charset="0"/>
              </a:rPr>
              <a:t>, a </a:t>
            </a:r>
            <a:r>
              <a:rPr lang="en-US" sz="1050" dirty="0" err="1">
                <a:latin typeface="Montserrat Light" pitchFamily="2" charset="0"/>
              </a:rPr>
              <a:t>Biocap</a:t>
            </a:r>
            <a:r>
              <a:rPr lang="en-US" sz="1050" dirty="0">
                <a:latin typeface="Montserrat Light" pitchFamily="2" charset="0"/>
              </a:rPr>
              <a:t> </a:t>
            </a:r>
            <a:r>
              <a:rPr lang="en-US" sz="1050" dirty="0" err="1">
                <a:latin typeface="Montserrat Light" pitchFamily="2" charset="0"/>
              </a:rPr>
              <a:t>também</a:t>
            </a:r>
            <a:r>
              <a:rPr lang="en-US" sz="1050" dirty="0">
                <a:latin typeface="Montserrat Light" pitchFamily="2" charset="0"/>
              </a:rPr>
              <a:t> </a:t>
            </a:r>
            <a:r>
              <a:rPr lang="en-US" sz="1050" dirty="0" err="1">
                <a:latin typeface="Montserrat Light" pitchFamily="2" charset="0"/>
              </a:rPr>
              <a:t>oferta</a:t>
            </a:r>
            <a:r>
              <a:rPr lang="en-US" sz="1050" dirty="0">
                <a:latin typeface="Montserrat Light" pitchFamily="2" charset="0"/>
              </a:rPr>
              <a:t> </a:t>
            </a:r>
            <a:r>
              <a:rPr lang="en-US" sz="1050" dirty="0" err="1">
                <a:latin typeface="Montserrat Light" pitchFamily="2" charset="0"/>
              </a:rPr>
              <a:t>produtos</a:t>
            </a:r>
            <a:r>
              <a:rPr lang="en-US" sz="1050" dirty="0">
                <a:latin typeface="Montserrat Light" pitchFamily="2" charset="0"/>
              </a:rPr>
              <a:t> </a:t>
            </a:r>
            <a:r>
              <a:rPr lang="en-US" sz="1050" dirty="0" err="1">
                <a:latin typeface="Montserrat Light" pitchFamily="2" charset="0"/>
              </a:rPr>
              <a:t>profissionais</a:t>
            </a:r>
            <a:r>
              <a:rPr lang="en-US" sz="1050" dirty="0">
                <a:latin typeface="Montserrat Light" pitchFamily="2" charset="0"/>
              </a:rPr>
              <a:t>, </a:t>
            </a:r>
            <a:r>
              <a:rPr lang="pt-BR" sz="1050" dirty="0">
                <a:latin typeface="Montserrat Light" pitchFamily="2" charset="0"/>
              </a:rPr>
              <a:t>o que a posiciona de forma competitiva frente aos seus concorrentes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671D2B-DAA7-142A-2DA4-F564D3F0974E}"/>
              </a:ext>
            </a:extLst>
          </p:cNvPr>
          <p:cNvSpPr txBox="1"/>
          <p:nvPr/>
        </p:nvSpPr>
        <p:spPr>
          <a:xfrm>
            <a:off x="760821" y="1775730"/>
            <a:ext cx="4087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Montserrat" panose="00000500000000000000" pitchFamily="2" charset="0"/>
                <a:ea typeface="Source Serif Pro" panose="02040603050405020204" pitchFamily="18" charset="0"/>
                <a:cs typeface="Poppins" panose="00000500000000000000" pitchFamily="2" charset="0"/>
              </a:rPr>
              <a:t>O mercado profissional de beleza              e bem-estar está em expansão...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C21618-BEA5-66FB-7C63-A483592E87E0}"/>
              </a:ext>
            </a:extLst>
          </p:cNvPr>
          <p:cNvSpPr txBox="1"/>
          <p:nvPr/>
        </p:nvSpPr>
        <p:spPr>
          <a:xfrm>
            <a:off x="2797618" y="5181100"/>
            <a:ext cx="2339035" cy="539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pt-BR" sz="900" dirty="0">
                <a:latin typeface="Montserrat Medium" pitchFamily="2" charset="0"/>
                <a:ea typeface="Source Serif Pro Black" panose="02040903050405020204" pitchFamily="18" charset="0"/>
              </a:rPr>
              <a:t>do total de </a:t>
            </a:r>
            <a:r>
              <a:rPr lang="pt-BR" sz="900" dirty="0" err="1">
                <a:latin typeface="Montserrat Medium" pitchFamily="2" charset="0"/>
                <a:ea typeface="Source Serif Pro Black" panose="02040903050405020204" pitchFamily="18" charset="0"/>
              </a:rPr>
              <a:t>MEIs</a:t>
            </a:r>
            <a:r>
              <a:rPr lang="pt-BR" sz="900" dirty="0">
                <a:latin typeface="Montserrat Medium" pitchFamily="2" charset="0"/>
                <a:ea typeface="Source Serif Pro Black" panose="02040903050405020204" pitchFamily="18" charset="0"/>
              </a:rPr>
              <a:t> no Brasil atuam como cabelereiros e em outros serviços profissionais de beleza </a:t>
            </a:r>
            <a:endParaRPr lang="pt-BR" sz="900" b="1" dirty="0">
              <a:solidFill>
                <a:srgbClr val="AD6ABF"/>
              </a:solidFill>
              <a:latin typeface="Montserrat Medium" pitchFamily="2" charset="0"/>
              <a:ea typeface="Source Serif Pro Black" panose="020409030504050202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7AB1E6-C645-DE14-9250-6E0C5D08133E}"/>
              </a:ext>
            </a:extLst>
          </p:cNvPr>
          <p:cNvSpPr txBox="1"/>
          <p:nvPr/>
        </p:nvSpPr>
        <p:spPr>
          <a:xfrm>
            <a:off x="1523818" y="5189404"/>
            <a:ext cx="122072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b="1" baseline="30000" dirty="0">
                <a:solidFill>
                  <a:schemeClr val="bg1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+</a:t>
            </a:r>
            <a:r>
              <a:rPr lang="en-US" sz="2800" b="1" dirty="0">
                <a:solidFill>
                  <a:schemeClr val="bg1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1,4</a:t>
            </a:r>
            <a:r>
              <a:rPr lang="en-US" sz="1100" b="1" dirty="0">
                <a:solidFill>
                  <a:schemeClr val="bg1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M </a:t>
            </a:r>
            <a:endParaRPr lang="pt-BR" sz="1100" dirty="0">
              <a:solidFill>
                <a:schemeClr val="bg1"/>
              </a:solidFill>
              <a:latin typeface="Montserrat" panose="00000500000000000000" pitchFamily="2" charset="0"/>
              <a:ea typeface="Source Serif Pro Black" panose="02040903050405020204" pitchFamily="18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5D5683E-44C3-F38C-D649-DAF99A9E30C8}"/>
              </a:ext>
            </a:extLst>
          </p:cNvPr>
          <p:cNvSpPr/>
          <p:nvPr/>
        </p:nvSpPr>
        <p:spPr>
          <a:xfrm>
            <a:off x="884533" y="5157909"/>
            <a:ext cx="586212" cy="586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grpSp>
        <p:nvGrpSpPr>
          <p:cNvPr id="28" name="Gráfico 3">
            <a:extLst>
              <a:ext uri="{FF2B5EF4-FFF2-40B4-BE49-F238E27FC236}">
                <a16:creationId xmlns:a16="http://schemas.microsoft.com/office/drawing/2014/main" id="{42A5FE1A-46B0-FA72-1C62-675D1E04B84D}"/>
              </a:ext>
            </a:extLst>
          </p:cNvPr>
          <p:cNvGrpSpPr/>
          <p:nvPr/>
        </p:nvGrpSpPr>
        <p:grpSpPr>
          <a:xfrm>
            <a:off x="1005474" y="5301952"/>
            <a:ext cx="344330" cy="298124"/>
            <a:chOff x="5939082" y="2687362"/>
            <a:chExt cx="247311" cy="235535"/>
          </a:xfrm>
          <a:noFill/>
        </p:grpSpPr>
        <p:sp>
          <p:nvSpPr>
            <p:cNvPr id="30" name="Forma Livre: Forma 219">
              <a:extLst>
                <a:ext uri="{FF2B5EF4-FFF2-40B4-BE49-F238E27FC236}">
                  <a16:creationId xmlns:a16="http://schemas.microsoft.com/office/drawing/2014/main" id="{BBD6F493-A03A-55FF-29F0-46547EC82F0F}"/>
                </a:ext>
              </a:extLst>
            </p:cNvPr>
            <p:cNvSpPr/>
            <p:nvPr/>
          </p:nvSpPr>
          <p:spPr>
            <a:xfrm>
              <a:off x="5939082" y="2805130"/>
              <a:ext cx="247311" cy="117767"/>
            </a:xfrm>
            <a:custGeom>
              <a:avLst/>
              <a:gdLst>
                <a:gd name="connsiteX0" fmla="*/ 0 w 247311"/>
                <a:gd name="connsiteY0" fmla="*/ 0 h 117767"/>
                <a:gd name="connsiteX1" fmla="*/ 247312 w 247311"/>
                <a:gd name="connsiteY1" fmla="*/ 0 h 117767"/>
                <a:gd name="connsiteX2" fmla="*/ 247312 w 247311"/>
                <a:gd name="connsiteY2" fmla="*/ 94214 h 117767"/>
                <a:gd name="connsiteX3" fmla="*/ 223758 w 247311"/>
                <a:gd name="connsiteY3" fmla="*/ 117768 h 117767"/>
                <a:gd name="connsiteX4" fmla="*/ 23553 w 247311"/>
                <a:gd name="connsiteY4" fmla="*/ 117768 h 117767"/>
                <a:gd name="connsiteX5" fmla="*/ 0 w 247311"/>
                <a:gd name="connsiteY5" fmla="*/ 94214 h 117767"/>
                <a:gd name="connsiteX6" fmla="*/ 0 w 247311"/>
                <a:gd name="connsiteY6" fmla="*/ 0 h 117767"/>
                <a:gd name="connsiteX7" fmla="*/ 0 w 247311"/>
                <a:gd name="connsiteY7" fmla="*/ 0 h 117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7311" h="117767">
                  <a:moveTo>
                    <a:pt x="0" y="0"/>
                  </a:moveTo>
                  <a:lnTo>
                    <a:pt x="247312" y="0"/>
                  </a:lnTo>
                  <a:lnTo>
                    <a:pt x="247312" y="94214"/>
                  </a:lnTo>
                  <a:cubicBezTo>
                    <a:pt x="247312" y="107227"/>
                    <a:pt x="236771" y="117768"/>
                    <a:pt x="223758" y="117768"/>
                  </a:cubicBezTo>
                  <a:lnTo>
                    <a:pt x="23553" y="117768"/>
                  </a:lnTo>
                  <a:cubicBezTo>
                    <a:pt x="10540" y="117768"/>
                    <a:pt x="0" y="107227"/>
                    <a:pt x="0" y="94214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chemeClr val="tx2"/>
              </a:solidFill>
              <a:prstDash val="solid"/>
              <a:miter/>
            </a:ln>
          </p:spPr>
          <p:txBody>
            <a:bodyPr tIns="0" rtlCol="0" anchor="ctr"/>
            <a:lstStyle/>
            <a:p>
              <a:endParaRPr lang="pt-BR" sz="1600">
                <a:latin typeface="Montserrat" panose="00000500000000000000" pitchFamily="2" charset="0"/>
              </a:endParaRPr>
            </a:p>
          </p:txBody>
        </p:sp>
        <p:sp>
          <p:nvSpPr>
            <p:cNvPr id="32" name="Forma Livre: Forma 220">
              <a:extLst>
                <a:ext uri="{FF2B5EF4-FFF2-40B4-BE49-F238E27FC236}">
                  <a16:creationId xmlns:a16="http://schemas.microsoft.com/office/drawing/2014/main" id="{E7AB21E1-FB70-5718-315E-151EAF5709A7}"/>
                </a:ext>
              </a:extLst>
            </p:cNvPr>
            <p:cNvSpPr/>
            <p:nvPr/>
          </p:nvSpPr>
          <p:spPr>
            <a:xfrm>
              <a:off x="5950858" y="2769800"/>
              <a:ext cx="223758" cy="35330"/>
            </a:xfrm>
            <a:custGeom>
              <a:avLst/>
              <a:gdLst>
                <a:gd name="connsiteX0" fmla="*/ 0 w 223758"/>
                <a:gd name="connsiteY0" fmla="*/ 0 h 35330"/>
                <a:gd name="connsiteX1" fmla="*/ 223758 w 223758"/>
                <a:gd name="connsiteY1" fmla="*/ 0 h 35330"/>
                <a:gd name="connsiteX2" fmla="*/ 223758 w 223758"/>
                <a:gd name="connsiteY2" fmla="*/ 35330 h 35330"/>
                <a:gd name="connsiteX3" fmla="*/ 0 w 223758"/>
                <a:gd name="connsiteY3" fmla="*/ 35330 h 35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758" h="35330">
                  <a:moveTo>
                    <a:pt x="0" y="0"/>
                  </a:moveTo>
                  <a:lnTo>
                    <a:pt x="223758" y="0"/>
                  </a:lnTo>
                  <a:lnTo>
                    <a:pt x="223758" y="35330"/>
                  </a:lnTo>
                  <a:lnTo>
                    <a:pt x="0" y="35330"/>
                  </a:lnTo>
                  <a:close/>
                </a:path>
              </a:pathLst>
            </a:custGeom>
            <a:noFill/>
            <a:ln w="6350" cap="flat">
              <a:solidFill>
                <a:schemeClr val="tx2"/>
              </a:solidFill>
              <a:prstDash val="solid"/>
              <a:miter/>
            </a:ln>
          </p:spPr>
          <p:txBody>
            <a:bodyPr tIns="0" rtlCol="0" anchor="ctr"/>
            <a:lstStyle/>
            <a:p>
              <a:endParaRPr lang="pt-BR" sz="1600">
                <a:latin typeface="Montserrat" panose="00000500000000000000" pitchFamily="2" charset="0"/>
              </a:endParaRPr>
            </a:p>
          </p:txBody>
        </p:sp>
        <p:sp>
          <p:nvSpPr>
            <p:cNvPr id="33" name="Forma Livre: Forma 221">
              <a:extLst>
                <a:ext uri="{FF2B5EF4-FFF2-40B4-BE49-F238E27FC236}">
                  <a16:creationId xmlns:a16="http://schemas.microsoft.com/office/drawing/2014/main" id="{48C5AD61-F7CD-0DD7-9FE9-3A7D96FF93DF}"/>
                </a:ext>
              </a:extLst>
            </p:cNvPr>
            <p:cNvSpPr/>
            <p:nvPr/>
          </p:nvSpPr>
          <p:spPr>
            <a:xfrm>
              <a:off x="5950858" y="2787465"/>
              <a:ext cx="223758" cy="5888"/>
            </a:xfrm>
            <a:custGeom>
              <a:avLst/>
              <a:gdLst>
                <a:gd name="connsiteX0" fmla="*/ 0 w 223758"/>
                <a:gd name="connsiteY0" fmla="*/ 0 h 5888"/>
                <a:gd name="connsiteX1" fmla="*/ 223758 w 223758"/>
                <a:gd name="connsiteY1" fmla="*/ 0 h 5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3758" h="5888">
                  <a:moveTo>
                    <a:pt x="0" y="0"/>
                  </a:moveTo>
                  <a:lnTo>
                    <a:pt x="223758" y="0"/>
                  </a:lnTo>
                </a:path>
              </a:pathLst>
            </a:custGeom>
            <a:ln w="6350" cap="flat">
              <a:solidFill>
                <a:schemeClr val="tx2"/>
              </a:solidFill>
              <a:prstDash val="solid"/>
              <a:miter/>
            </a:ln>
          </p:spPr>
          <p:txBody>
            <a:bodyPr tIns="0" rtlCol="0" anchor="ctr"/>
            <a:lstStyle/>
            <a:p>
              <a:endParaRPr lang="pt-BR" sz="1600">
                <a:latin typeface="Montserrat" panose="00000500000000000000" pitchFamily="2" charset="0"/>
              </a:endParaRPr>
            </a:p>
          </p:txBody>
        </p:sp>
        <p:sp>
          <p:nvSpPr>
            <p:cNvPr id="34" name="Forma Livre: Forma 222">
              <a:extLst>
                <a:ext uri="{FF2B5EF4-FFF2-40B4-BE49-F238E27FC236}">
                  <a16:creationId xmlns:a16="http://schemas.microsoft.com/office/drawing/2014/main" id="{11AECC35-4C1A-1B34-65E3-A8F534E4DAEC}"/>
                </a:ext>
              </a:extLst>
            </p:cNvPr>
            <p:cNvSpPr/>
            <p:nvPr/>
          </p:nvSpPr>
          <p:spPr>
            <a:xfrm>
              <a:off x="5956642" y="2687362"/>
              <a:ext cx="177943" cy="82437"/>
            </a:xfrm>
            <a:custGeom>
              <a:avLst/>
              <a:gdLst>
                <a:gd name="connsiteX0" fmla="*/ 105 w 177943"/>
                <a:gd name="connsiteY0" fmla="*/ 82437 h 82437"/>
                <a:gd name="connsiteX1" fmla="*/ 70765 w 177943"/>
                <a:gd name="connsiteY1" fmla="*/ 41219 h 82437"/>
                <a:gd name="connsiteX2" fmla="*/ 141426 w 177943"/>
                <a:gd name="connsiteY2" fmla="*/ 0 h 82437"/>
                <a:gd name="connsiteX3" fmla="*/ 164979 w 177943"/>
                <a:gd name="connsiteY3" fmla="*/ 52995 h 82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7943" h="82437">
                  <a:moveTo>
                    <a:pt x="105" y="82437"/>
                  </a:moveTo>
                  <a:cubicBezTo>
                    <a:pt x="105" y="82437"/>
                    <a:pt x="-5784" y="48226"/>
                    <a:pt x="70765" y="41219"/>
                  </a:cubicBezTo>
                  <a:cubicBezTo>
                    <a:pt x="147314" y="34211"/>
                    <a:pt x="141426" y="0"/>
                    <a:pt x="141426" y="0"/>
                  </a:cubicBezTo>
                  <a:cubicBezTo>
                    <a:pt x="141426" y="0"/>
                    <a:pt x="204372" y="19491"/>
                    <a:pt x="164979" y="52995"/>
                  </a:cubicBezTo>
                </a:path>
              </a:pathLst>
            </a:custGeom>
            <a:noFill/>
            <a:ln w="6350" cap="rnd">
              <a:solidFill>
                <a:schemeClr val="tx2"/>
              </a:solidFill>
              <a:prstDash val="solid"/>
              <a:miter/>
            </a:ln>
          </p:spPr>
          <p:txBody>
            <a:bodyPr tIns="0" rtlCol="0" anchor="ctr"/>
            <a:lstStyle/>
            <a:p>
              <a:endParaRPr lang="pt-BR" sz="1600">
                <a:latin typeface="Montserrat" panose="00000500000000000000" pitchFamily="2" charset="0"/>
              </a:endParaRPr>
            </a:p>
          </p:txBody>
        </p:sp>
        <p:sp>
          <p:nvSpPr>
            <p:cNvPr id="35" name="Forma Livre: Forma 223">
              <a:extLst>
                <a:ext uri="{FF2B5EF4-FFF2-40B4-BE49-F238E27FC236}">
                  <a16:creationId xmlns:a16="http://schemas.microsoft.com/office/drawing/2014/main" id="{AAB7177B-276D-41FC-690F-DD05BD1AFDC1}"/>
                </a:ext>
              </a:extLst>
            </p:cNvPr>
            <p:cNvSpPr/>
            <p:nvPr/>
          </p:nvSpPr>
          <p:spPr>
            <a:xfrm>
              <a:off x="6139287" y="2722693"/>
              <a:ext cx="23624" cy="47107"/>
            </a:xfrm>
            <a:custGeom>
              <a:avLst/>
              <a:gdLst>
                <a:gd name="connsiteX0" fmla="*/ 23553 w 23624"/>
                <a:gd name="connsiteY0" fmla="*/ 47107 h 47107"/>
                <a:gd name="connsiteX1" fmla="*/ 0 w 23624"/>
                <a:gd name="connsiteY1" fmla="*/ 0 h 47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624" h="47107">
                  <a:moveTo>
                    <a:pt x="23553" y="47107"/>
                  </a:moveTo>
                  <a:cubicBezTo>
                    <a:pt x="23553" y="47107"/>
                    <a:pt x="26144" y="3651"/>
                    <a:pt x="0" y="0"/>
                  </a:cubicBezTo>
                </a:path>
              </a:pathLst>
            </a:custGeom>
            <a:noFill/>
            <a:ln w="6350" cap="rnd">
              <a:solidFill>
                <a:schemeClr val="tx2"/>
              </a:solidFill>
              <a:prstDash val="solid"/>
              <a:miter/>
            </a:ln>
          </p:spPr>
          <p:txBody>
            <a:bodyPr tIns="0" rtlCol="0" anchor="ctr"/>
            <a:lstStyle/>
            <a:p>
              <a:endParaRPr lang="pt-BR" sz="1600">
                <a:latin typeface="Montserrat" panose="00000500000000000000" pitchFamily="2" charset="0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0FC875A8-A40F-61F6-F04F-549751BCBC8C}"/>
              </a:ext>
            </a:extLst>
          </p:cNvPr>
          <p:cNvSpPr txBox="1"/>
          <p:nvPr/>
        </p:nvSpPr>
        <p:spPr>
          <a:xfrm>
            <a:off x="2797617" y="4282058"/>
            <a:ext cx="1942917" cy="539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pt-BR" sz="900" dirty="0">
                <a:latin typeface="Montserrat Medium" pitchFamily="2" charset="0"/>
                <a:ea typeface="Source Serif Pro Black" panose="02040903050405020204" pitchFamily="18" charset="0"/>
              </a:rPr>
              <a:t>De </a:t>
            </a:r>
            <a:r>
              <a:rPr lang="pt-BR" sz="900" dirty="0" err="1">
                <a:latin typeface="Montserrat Medium" pitchFamily="2" charset="0"/>
                <a:ea typeface="Source Serif Pro Black" panose="02040903050405020204" pitchFamily="18" charset="0"/>
              </a:rPr>
              <a:t>jan</a:t>
            </a:r>
            <a:r>
              <a:rPr lang="pt-BR" sz="900" dirty="0">
                <a:latin typeface="Montserrat Medium" pitchFamily="2" charset="0"/>
                <a:ea typeface="Source Serif Pro Black" panose="02040903050405020204" pitchFamily="18" charset="0"/>
              </a:rPr>
              <a:t>/23 a set/23 +140 mil </a:t>
            </a:r>
            <a:r>
              <a:rPr lang="pt-BR" sz="900" dirty="0" err="1">
                <a:latin typeface="Montserrat Medium" pitchFamily="2" charset="0"/>
                <a:ea typeface="Source Serif Pro Black" panose="02040903050405020204" pitchFamily="18" charset="0"/>
              </a:rPr>
              <a:t>MEIs</a:t>
            </a:r>
            <a:r>
              <a:rPr lang="pt-BR" sz="900" dirty="0">
                <a:latin typeface="Montserrat Medium" pitchFamily="2" charset="0"/>
                <a:ea typeface="Source Serif Pro Black" panose="02040903050405020204" pitchFamily="18" charset="0"/>
              </a:rPr>
              <a:t> do ramo de beleza foram abertos no Brasil </a:t>
            </a:r>
            <a:endParaRPr lang="pt-BR" sz="900" b="1" dirty="0">
              <a:solidFill>
                <a:srgbClr val="AD6ABF"/>
              </a:solidFill>
              <a:latin typeface="Montserrat Medium" pitchFamily="2" charset="0"/>
              <a:ea typeface="Source Serif Pro Black" panose="020409030504050202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93B393-7EC4-67A9-7FCB-DD1540710E77}"/>
              </a:ext>
            </a:extLst>
          </p:cNvPr>
          <p:cNvSpPr txBox="1"/>
          <p:nvPr/>
        </p:nvSpPr>
        <p:spPr>
          <a:xfrm>
            <a:off x="1615903" y="4205724"/>
            <a:ext cx="1036556" cy="6924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524</a:t>
            </a:r>
          </a:p>
          <a:p>
            <a:pPr algn="ctr"/>
            <a:r>
              <a:rPr lang="en-US" sz="1050" b="1" dirty="0">
                <a:solidFill>
                  <a:schemeClr val="bg1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MEIs/</a:t>
            </a:r>
            <a:r>
              <a:rPr lang="en-US" sz="1050" b="1" dirty="0" err="1">
                <a:solidFill>
                  <a:schemeClr val="bg1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dia</a:t>
            </a:r>
            <a:r>
              <a:rPr lang="en-US" sz="1050" b="1" dirty="0">
                <a:solidFill>
                  <a:schemeClr val="bg1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 </a:t>
            </a:r>
            <a:endParaRPr lang="pt-BR" sz="1050" dirty="0">
              <a:solidFill>
                <a:schemeClr val="bg1"/>
              </a:solidFill>
              <a:latin typeface="Montserrat" panose="00000500000000000000" pitchFamily="2" charset="0"/>
              <a:ea typeface="Source Serif Pro Black" panose="020409030504050202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FE8A765-76BA-7103-3DCB-9144F4528E07}"/>
              </a:ext>
            </a:extLst>
          </p:cNvPr>
          <p:cNvSpPr/>
          <p:nvPr/>
        </p:nvSpPr>
        <p:spPr>
          <a:xfrm>
            <a:off x="884533" y="4258867"/>
            <a:ext cx="586212" cy="586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pic>
        <p:nvPicPr>
          <p:cNvPr id="7" name="Graphic 6" descr="Users outline">
            <a:extLst>
              <a:ext uri="{FF2B5EF4-FFF2-40B4-BE49-F238E27FC236}">
                <a16:creationId xmlns:a16="http://schemas.microsoft.com/office/drawing/2014/main" id="{56CCACCC-F84B-5323-267C-2E3EDE6CA38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43023" y="4317356"/>
            <a:ext cx="469232" cy="469232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6B8AF666-2346-EDE2-99C6-B8B29FCB520F}"/>
              </a:ext>
            </a:extLst>
          </p:cNvPr>
          <p:cNvSpPr/>
          <p:nvPr/>
        </p:nvSpPr>
        <p:spPr>
          <a:xfrm>
            <a:off x="884533" y="2552398"/>
            <a:ext cx="586212" cy="586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grpSp>
        <p:nvGrpSpPr>
          <p:cNvPr id="40" name="Gráfico 3">
            <a:extLst>
              <a:ext uri="{FF2B5EF4-FFF2-40B4-BE49-F238E27FC236}">
                <a16:creationId xmlns:a16="http://schemas.microsoft.com/office/drawing/2014/main" id="{8C7AC32E-84AD-CFAF-5EBD-8A924AFB7643}"/>
              </a:ext>
            </a:extLst>
          </p:cNvPr>
          <p:cNvGrpSpPr/>
          <p:nvPr/>
        </p:nvGrpSpPr>
        <p:grpSpPr>
          <a:xfrm>
            <a:off x="1043312" y="2670479"/>
            <a:ext cx="268654" cy="350049"/>
            <a:chOff x="6330868" y="3278803"/>
            <a:chExt cx="196447" cy="255966"/>
          </a:xfrm>
          <a:noFill/>
        </p:grpSpPr>
        <p:grpSp>
          <p:nvGrpSpPr>
            <p:cNvPr id="41" name="Gráfico 3">
              <a:extLst>
                <a:ext uri="{FF2B5EF4-FFF2-40B4-BE49-F238E27FC236}">
                  <a16:creationId xmlns:a16="http://schemas.microsoft.com/office/drawing/2014/main" id="{106F3242-2EDE-93A9-2C9B-0808E96CA5C9}"/>
                </a:ext>
              </a:extLst>
            </p:cNvPr>
            <p:cNvGrpSpPr/>
            <p:nvPr/>
          </p:nvGrpSpPr>
          <p:grpSpPr>
            <a:xfrm>
              <a:off x="6330868" y="3278803"/>
              <a:ext cx="196447" cy="255966"/>
              <a:chOff x="6330868" y="3278803"/>
              <a:chExt cx="196447" cy="255966"/>
            </a:xfrm>
            <a:noFill/>
          </p:grpSpPr>
          <p:sp>
            <p:nvSpPr>
              <p:cNvPr id="47" name="Forma Livre: Forma 392">
                <a:extLst>
                  <a:ext uri="{FF2B5EF4-FFF2-40B4-BE49-F238E27FC236}">
                    <a16:creationId xmlns:a16="http://schemas.microsoft.com/office/drawing/2014/main" id="{8ED8DDC0-D09C-68EF-3C89-FA563E822ED6}"/>
                  </a:ext>
                </a:extLst>
              </p:cNvPr>
              <p:cNvSpPr/>
              <p:nvPr/>
            </p:nvSpPr>
            <p:spPr>
              <a:xfrm>
                <a:off x="6330868" y="3320472"/>
                <a:ext cx="196447" cy="214297"/>
              </a:xfrm>
              <a:custGeom>
                <a:avLst/>
                <a:gdLst>
                  <a:gd name="connsiteX0" fmla="*/ 184836 w 196447"/>
                  <a:gd name="connsiteY0" fmla="*/ 0 h 214297"/>
                  <a:gd name="connsiteX1" fmla="*/ 11553 w 196447"/>
                  <a:gd name="connsiteY1" fmla="*/ 0 h 214297"/>
                  <a:gd name="connsiteX2" fmla="*/ 4 w 196447"/>
                  <a:gd name="connsiteY2" fmla="*/ 202035 h 214297"/>
                  <a:gd name="connsiteX3" fmla="*/ 11910 w 196447"/>
                  <a:gd name="connsiteY3" fmla="*/ 214298 h 214297"/>
                  <a:gd name="connsiteX4" fmla="*/ 184538 w 196447"/>
                  <a:gd name="connsiteY4" fmla="*/ 214298 h 214297"/>
                  <a:gd name="connsiteX5" fmla="*/ 196443 w 196447"/>
                  <a:gd name="connsiteY5" fmla="*/ 202035 h 214297"/>
                  <a:gd name="connsiteX6" fmla="*/ 184896 w 196447"/>
                  <a:gd name="connsiteY6" fmla="*/ 0 h 2142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6447" h="214297">
                    <a:moveTo>
                      <a:pt x="184836" y="0"/>
                    </a:moveTo>
                    <a:lnTo>
                      <a:pt x="11553" y="0"/>
                    </a:lnTo>
                    <a:lnTo>
                      <a:pt x="4" y="202035"/>
                    </a:lnTo>
                    <a:cubicBezTo>
                      <a:pt x="-174" y="208762"/>
                      <a:pt x="5183" y="214298"/>
                      <a:pt x="11910" y="214298"/>
                    </a:cubicBezTo>
                    <a:lnTo>
                      <a:pt x="184538" y="214298"/>
                    </a:lnTo>
                    <a:cubicBezTo>
                      <a:pt x="191265" y="214298"/>
                      <a:pt x="196622" y="208762"/>
                      <a:pt x="196443" y="202035"/>
                    </a:cubicBezTo>
                    <a:lnTo>
                      <a:pt x="184896" y="0"/>
                    </a:lnTo>
                    <a:close/>
                  </a:path>
                </a:pathLst>
              </a:custGeom>
              <a:noFill/>
              <a:ln w="6350" cap="flat">
                <a:solidFill>
                  <a:schemeClr val="tx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pt-BR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8" name="Forma Livre: Forma 393">
                <a:extLst>
                  <a:ext uri="{FF2B5EF4-FFF2-40B4-BE49-F238E27FC236}">
                    <a16:creationId xmlns:a16="http://schemas.microsoft.com/office/drawing/2014/main" id="{4561D254-F54E-DCB8-8CC2-AF8C9E652460}"/>
                  </a:ext>
                </a:extLst>
              </p:cNvPr>
              <p:cNvSpPr/>
              <p:nvPr/>
            </p:nvSpPr>
            <p:spPr>
              <a:xfrm>
                <a:off x="6390697" y="3278803"/>
                <a:ext cx="71432" cy="83337"/>
              </a:xfrm>
              <a:custGeom>
                <a:avLst/>
                <a:gdLst>
                  <a:gd name="connsiteX0" fmla="*/ 0 w 71432"/>
                  <a:gd name="connsiteY0" fmla="*/ 83338 h 83337"/>
                  <a:gd name="connsiteX1" fmla="*/ 0 w 71432"/>
                  <a:gd name="connsiteY1" fmla="*/ 35716 h 83337"/>
                  <a:gd name="connsiteX2" fmla="*/ 35716 w 71432"/>
                  <a:gd name="connsiteY2" fmla="*/ 0 h 83337"/>
                  <a:gd name="connsiteX3" fmla="*/ 35716 w 71432"/>
                  <a:gd name="connsiteY3" fmla="*/ 0 h 83337"/>
                  <a:gd name="connsiteX4" fmla="*/ 71433 w 71432"/>
                  <a:gd name="connsiteY4" fmla="*/ 35716 h 83337"/>
                  <a:gd name="connsiteX5" fmla="*/ 71433 w 71432"/>
                  <a:gd name="connsiteY5" fmla="*/ 83338 h 83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1432" h="83337">
                    <a:moveTo>
                      <a:pt x="0" y="83338"/>
                    </a:moveTo>
                    <a:lnTo>
                      <a:pt x="0" y="35716"/>
                    </a:lnTo>
                    <a:cubicBezTo>
                      <a:pt x="0" y="16013"/>
                      <a:pt x="16013" y="0"/>
                      <a:pt x="35716" y="0"/>
                    </a:cubicBezTo>
                    <a:lnTo>
                      <a:pt x="35716" y="0"/>
                    </a:lnTo>
                    <a:cubicBezTo>
                      <a:pt x="55420" y="0"/>
                      <a:pt x="71433" y="16013"/>
                      <a:pt x="71433" y="35716"/>
                    </a:cubicBezTo>
                    <a:lnTo>
                      <a:pt x="71433" y="83338"/>
                    </a:lnTo>
                  </a:path>
                </a:pathLst>
              </a:custGeom>
              <a:noFill/>
              <a:ln w="6350" cap="rnd">
                <a:solidFill>
                  <a:schemeClr val="tx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pt-BR"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42" name="Gráfico 3">
              <a:extLst>
                <a:ext uri="{FF2B5EF4-FFF2-40B4-BE49-F238E27FC236}">
                  <a16:creationId xmlns:a16="http://schemas.microsoft.com/office/drawing/2014/main" id="{64DD0B3C-E426-AA37-63CE-A3C6FC809E17}"/>
                </a:ext>
              </a:extLst>
            </p:cNvPr>
            <p:cNvGrpSpPr/>
            <p:nvPr/>
          </p:nvGrpSpPr>
          <p:grpSpPr>
            <a:xfrm>
              <a:off x="6378434" y="3391905"/>
              <a:ext cx="95243" cy="95243"/>
              <a:chOff x="6378434" y="3391905"/>
              <a:chExt cx="95243" cy="95243"/>
            </a:xfrm>
            <a:noFill/>
          </p:grpSpPr>
          <p:grpSp>
            <p:nvGrpSpPr>
              <p:cNvPr id="43" name="Gráfico 3">
                <a:extLst>
                  <a:ext uri="{FF2B5EF4-FFF2-40B4-BE49-F238E27FC236}">
                    <a16:creationId xmlns:a16="http://schemas.microsoft.com/office/drawing/2014/main" id="{9BCC26C1-4DAE-4445-370E-79EA50E7A323}"/>
                  </a:ext>
                </a:extLst>
              </p:cNvPr>
              <p:cNvGrpSpPr/>
              <p:nvPr/>
            </p:nvGrpSpPr>
            <p:grpSpPr>
              <a:xfrm>
                <a:off x="6408198" y="3409763"/>
                <a:ext cx="35716" cy="59527"/>
                <a:chOff x="6408198" y="3409763"/>
                <a:chExt cx="35716" cy="59527"/>
              </a:xfrm>
              <a:noFill/>
            </p:grpSpPr>
            <p:sp>
              <p:nvSpPr>
                <p:cNvPr id="45" name="Forma Livre: Forma 390">
                  <a:extLst>
                    <a:ext uri="{FF2B5EF4-FFF2-40B4-BE49-F238E27FC236}">
                      <a16:creationId xmlns:a16="http://schemas.microsoft.com/office/drawing/2014/main" id="{3C7338B5-3698-384F-E7A1-CCC3AEFACD59}"/>
                    </a:ext>
                  </a:extLst>
                </p:cNvPr>
                <p:cNvSpPr/>
                <p:nvPr/>
              </p:nvSpPr>
              <p:spPr>
                <a:xfrm>
                  <a:off x="6408198" y="3421668"/>
                  <a:ext cx="35716" cy="35716"/>
                </a:xfrm>
                <a:custGeom>
                  <a:avLst/>
                  <a:gdLst>
                    <a:gd name="connsiteX0" fmla="*/ 35716 w 35716"/>
                    <a:gd name="connsiteY0" fmla="*/ 0 h 35716"/>
                    <a:gd name="connsiteX1" fmla="*/ 0 w 35716"/>
                    <a:gd name="connsiteY1" fmla="*/ 0 h 35716"/>
                    <a:gd name="connsiteX2" fmla="*/ 0 w 35716"/>
                    <a:gd name="connsiteY2" fmla="*/ 17858 h 35716"/>
                    <a:gd name="connsiteX3" fmla="*/ 35716 w 35716"/>
                    <a:gd name="connsiteY3" fmla="*/ 17858 h 35716"/>
                    <a:gd name="connsiteX4" fmla="*/ 35716 w 35716"/>
                    <a:gd name="connsiteY4" fmla="*/ 35716 h 35716"/>
                    <a:gd name="connsiteX5" fmla="*/ 0 w 35716"/>
                    <a:gd name="connsiteY5" fmla="*/ 35716 h 35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716" h="35716">
                      <a:moveTo>
                        <a:pt x="35716" y="0"/>
                      </a:moveTo>
                      <a:lnTo>
                        <a:pt x="0" y="0"/>
                      </a:lnTo>
                      <a:lnTo>
                        <a:pt x="0" y="17858"/>
                      </a:lnTo>
                      <a:lnTo>
                        <a:pt x="35716" y="17858"/>
                      </a:lnTo>
                      <a:lnTo>
                        <a:pt x="35716" y="35716"/>
                      </a:lnTo>
                      <a:lnTo>
                        <a:pt x="0" y="35716"/>
                      </a:lnTo>
                    </a:path>
                  </a:pathLst>
                </a:custGeom>
                <a:noFill/>
                <a:ln w="6350" cap="rnd">
                  <a:solidFill>
                    <a:schemeClr val="tx2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pt-BR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6" name="Forma Livre: Forma 391">
                  <a:extLst>
                    <a:ext uri="{FF2B5EF4-FFF2-40B4-BE49-F238E27FC236}">
                      <a16:creationId xmlns:a16="http://schemas.microsoft.com/office/drawing/2014/main" id="{64D4A1CB-ED1B-0F37-39B0-E0BAAA41B78D}"/>
                    </a:ext>
                  </a:extLst>
                </p:cNvPr>
                <p:cNvSpPr/>
                <p:nvPr/>
              </p:nvSpPr>
              <p:spPr>
                <a:xfrm>
                  <a:off x="6426056" y="3409763"/>
                  <a:ext cx="5952" cy="59527"/>
                </a:xfrm>
                <a:custGeom>
                  <a:avLst/>
                  <a:gdLst>
                    <a:gd name="connsiteX0" fmla="*/ 0 w 5952"/>
                    <a:gd name="connsiteY0" fmla="*/ 0 h 59527"/>
                    <a:gd name="connsiteX1" fmla="*/ 0 w 5952"/>
                    <a:gd name="connsiteY1" fmla="*/ 59527 h 595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952" h="59527">
                      <a:moveTo>
                        <a:pt x="0" y="0"/>
                      </a:moveTo>
                      <a:lnTo>
                        <a:pt x="0" y="59527"/>
                      </a:lnTo>
                    </a:path>
                  </a:pathLst>
                </a:custGeom>
                <a:ln w="6350" cap="rnd">
                  <a:solidFill>
                    <a:schemeClr val="tx2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pt-BR">
                    <a:latin typeface="Montserrat" panose="00000500000000000000" pitchFamily="2" charset="0"/>
                  </a:endParaRPr>
                </a:p>
              </p:txBody>
            </p:sp>
          </p:grpSp>
          <p:sp>
            <p:nvSpPr>
              <p:cNvPr id="44" name="Forma Livre: Forma 389">
                <a:extLst>
                  <a:ext uri="{FF2B5EF4-FFF2-40B4-BE49-F238E27FC236}">
                    <a16:creationId xmlns:a16="http://schemas.microsoft.com/office/drawing/2014/main" id="{9BB5BB6A-E769-AE3E-C129-5D2E576FD79F}"/>
                  </a:ext>
                </a:extLst>
              </p:cNvPr>
              <p:cNvSpPr/>
              <p:nvPr/>
            </p:nvSpPr>
            <p:spPr>
              <a:xfrm>
                <a:off x="6378434" y="3391905"/>
                <a:ext cx="95243" cy="95243"/>
              </a:xfrm>
              <a:custGeom>
                <a:avLst/>
                <a:gdLst>
                  <a:gd name="connsiteX0" fmla="*/ 95243 w 95243"/>
                  <a:gd name="connsiteY0" fmla="*/ 47622 h 95243"/>
                  <a:gd name="connsiteX1" fmla="*/ 47621 w 95243"/>
                  <a:gd name="connsiteY1" fmla="*/ 95243 h 95243"/>
                  <a:gd name="connsiteX2" fmla="*/ 0 w 95243"/>
                  <a:gd name="connsiteY2" fmla="*/ 47622 h 95243"/>
                  <a:gd name="connsiteX3" fmla="*/ 47621 w 95243"/>
                  <a:gd name="connsiteY3" fmla="*/ 0 h 95243"/>
                  <a:gd name="connsiteX4" fmla="*/ 95243 w 95243"/>
                  <a:gd name="connsiteY4" fmla="*/ 47622 h 952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43" h="95243">
                    <a:moveTo>
                      <a:pt x="95243" y="47622"/>
                    </a:moveTo>
                    <a:cubicBezTo>
                      <a:pt x="95243" y="73922"/>
                      <a:pt x="73923" y="95243"/>
                      <a:pt x="47621" y="95243"/>
                    </a:cubicBezTo>
                    <a:cubicBezTo>
                      <a:pt x="21321" y="95243"/>
                      <a:pt x="0" y="73922"/>
                      <a:pt x="0" y="47622"/>
                    </a:cubicBezTo>
                    <a:cubicBezTo>
                      <a:pt x="0" y="21321"/>
                      <a:pt x="21321" y="0"/>
                      <a:pt x="47621" y="0"/>
                    </a:cubicBezTo>
                    <a:cubicBezTo>
                      <a:pt x="73923" y="0"/>
                      <a:pt x="95243" y="21321"/>
                      <a:pt x="95243" y="47622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tx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pt-BR" dirty="0">
                  <a:latin typeface="Montserrat" panose="00000500000000000000" pitchFamily="2" charset="0"/>
                </a:endParaRPr>
              </a:p>
            </p:txBody>
          </p: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F1C5832F-97B3-5F6C-A318-F2167572DDEB}"/>
              </a:ext>
            </a:extLst>
          </p:cNvPr>
          <p:cNvSpPr txBox="1"/>
          <p:nvPr/>
        </p:nvSpPr>
        <p:spPr>
          <a:xfrm>
            <a:off x="1523818" y="2583893"/>
            <a:ext cx="122072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1,5</a:t>
            </a:r>
            <a:r>
              <a:rPr lang="en-US" sz="1100" b="1" dirty="0">
                <a:solidFill>
                  <a:schemeClr val="bg1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Bi </a:t>
            </a:r>
            <a:endParaRPr lang="pt-BR" sz="1100" dirty="0">
              <a:solidFill>
                <a:schemeClr val="bg1"/>
              </a:solidFill>
              <a:latin typeface="Montserrat" panose="00000500000000000000" pitchFamily="2" charset="0"/>
              <a:ea typeface="Source Serif Pro Black" panose="02040903050405020204" pitchFamily="18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EE5769F-2603-8098-9078-0B1EA2293BC3}"/>
              </a:ext>
            </a:extLst>
          </p:cNvPr>
          <p:cNvSpPr txBox="1"/>
          <p:nvPr/>
        </p:nvSpPr>
        <p:spPr>
          <a:xfrm>
            <a:off x="2797617" y="2575589"/>
            <a:ext cx="1942918" cy="539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pt-BR" sz="900" dirty="0">
                <a:latin typeface="Montserrat Medium" pitchFamily="2" charset="0"/>
                <a:ea typeface="Source Serif Pro Black" panose="02040903050405020204" pitchFamily="18" charset="0"/>
              </a:rPr>
              <a:t>Massoterapia movimentou          R$ 1,5 Bi em 2023, 10% a mais do que no ano anterior</a:t>
            </a:r>
            <a:endParaRPr lang="pt-BR" sz="900" b="1" dirty="0">
              <a:solidFill>
                <a:srgbClr val="AD6ABF"/>
              </a:solidFill>
              <a:latin typeface="Montserrat Medium" pitchFamily="2" charset="0"/>
              <a:ea typeface="Source Serif Pro Black" panose="02040903050405020204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768A29B-C062-D1A1-9B9D-73364472C067}"/>
              </a:ext>
            </a:extLst>
          </p:cNvPr>
          <p:cNvSpPr txBox="1"/>
          <p:nvPr/>
        </p:nvSpPr>
        <p:spPr>
          <a:xfrm>
            <a:off x="1481686" y="3391320"/>
            <a:ext cx="130499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b="1" baseline="30000" dirty="0">
                <a:solidFill>
                  <a:schemeClr val="bg1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+</a:t>
            </a:r>
            <a:r>
              <a:rPr lang="en-US" sz="2800" b="1" dirty="0">
                <a:solidFill>
                  <a:schemeClr val="bg1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343</a:t>
            </a:r>
            <a:r>
              <a:rPr lang="en-US" sz="1100" b="1" dirty="0">
                <a:solidFill>
                  <a:schemeClr val="bg1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k </a:t>
            </a:r>
            <a:endParaRPr lang="pt-BR" sz="1100" dirty="0">
              <a:solidFill>
                <a:schemeClr val="bg1"/>
              </a:solidFill>
              <a:latin typeface="Montserrat" panose="00000500000000000000" pitchFamily="2" charset="0"/>
              <a:ea typeface="Source Serif Pro Black" panose="02040903050405020204" pitchFamily="18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0DAAD3A-E325-E731-BE6A-6E0E95BBBB47}"/>
              </a:ext>
            </a:extLst>
          </p:cNvPr>
          <p:cNvSpPr txBox="1"/>
          <p:nvPr/>
        </p:nvSpPr>
        <p:spPr>
          <a:xfrm>
            <a:off x="2797617" y="3383016"/>
            <a:ext cx="2268191" cy="539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pt-BR" sz="900" dirty="0">
                <a:latin typeface="Montserrat Medium" pitchFamily="2" charset="0"/>
                <a:ea typeface="Source Serif Pro Black" panose="02040903050405020204" pitchFamily="18" charset="0"/>
              </a:rPr>
              <a:t>Salões de beleza abertos no Brasil de 2020 a 2022, sendo o 4º maior mercado consumidor desse serviço</a:t>
            </a:r>
            <a:endParaRPr lang="pt-BR" sz="900" b="1" dirty="0">
              <a:solidFill>
                <a:srgbClr val="AD6ABF"/>
              </a:solidFill>
              <a:latin typeface="Montserrat Medium" pitchFamily="2" charset="0"/>
              <a:ea typeface="Source Serif Pro Black" panose="02040903050405020204" pitchFamily="18" charset="0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F3FEBD0-9AAB-0D76-D5B2-AE45E3C335B6}"/>
              </a:ext>
            </a:extLst>
          </p:cNvPr>
          <p:cNvSpPr/>
          <p:nvPr/>
        </p:nvSpPr>
        <p:spPr>
          <a:xfrm>
            <a:off x="884533" y="3359825"/>
            <a:ext cx="586212" cy="586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pic>
        <p:nvPicPr>
          <p:cNvPr id="53" name="Graphic 52" descr="Charm outline">
            <a:extLst>
              <a:ext uri="{FF2B5EF4-FFF2-40B4-BE49-F238E27FC236}">
                <a16:creationId xmlns:a16="http://schemas.microsoft.com/office/drawing/2014/main" id="{C267364D-8753-F87D-B291-4C5AA41DA20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43023" y="3418314"/>
            <a:ext cx="469232" cy="4692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1D2AE98-7F2E-122E-503E-64D0BF7AF9C7}"/>
              </a:ext>
            </a:extLst>
          </p:cNvPr>
          <p:cNvSpPr txBox="1"/>
          <p:nvPr/>
        </p:nvSpPr>
        <p:spPr>
          <a:xfrm>
            <a:off x="6284502" y="1626870"/>
            <a:ext cx="467879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1" dirty="0">
                <a:solidFill>
                  <a:schemeClr val="tx2"/>
                </a:solidFill>
                <a:latin typeface="Montserrat" panose="00000500000000000000" pitchFamily="2" charset="0"/>
                <a:ea typeface="Source Serif Pro" panose="02040603050405020204" pitchFamily="18" charset="0"/>
                <a:cs typeface="Poppins" panose="00000500000000000000" pitchFamily="2" charset="0"/>
              </a:rPr>
              <a:t>...e a </a:t>
            </a:r>
            <a:r>
              <a:rPr lang="pt-BR" sz="1400" b="1" dirty="0" err="1">
                <a:solidFill>
                  <a:schemeClr val="tx2"/>
                </a:solidFill>
                <a:latin typeface="Montserrat" panose="00000500000000000000" pitchFamily="2" charset="0"/>
                <a:ea typeface="Source Serif Pro" panose="02040603050405020204" pitchFamily="18" charset="0"/>
                <a:cs typeface="Poppins" panose="00000500000000000000" pitchFamily="2" charset="0"/>
              </a:rPr>
              <a:t>Biocap</a:t>
            </a:r>
            <a:r>
              <a:rPr lang="pt-BR" sz="1400" b="1" dirty="0">
                <a:solidFill>
                  <a:schemeClr val="tx2"/>
                </a:solidFill>
                <a:latin typeface="Montserrat" panose="00000500000000000000" pitchFamily="2" charset="0"/>
                <a:ea typeface="Source Serif Pro" panose="02040603050405020204" pitchFamily="18" charset="0"/>
                <a:cs typeface="Poppins" panose="00000500000000000000" pitchFamily="2" charset="0"/>
              </a:rPr>
              <a:t> já está posicionada para capturar uma fatia relevante deste segmento em ascensão, diferentemente de seus concorrentes</a:t>
            </a:r>
          </a:p>
        </p:txBody>
      </p:sp>
      <p:sp>
        <p:nvSpPr>
          <p:cNvPr id="57" name="Content Placeholder 10">
            <a:extLst>
              <a:ext uri="{FF2B5EF4-FFF2-40B4-BE49-F238E27FC236}">
                <a16:creationId xmlns:a16="http://schemas.microsoft.com/office/drawing/2014/main" id="{B863504D-A14D-5BBB-F13B-549E44D9CA59}"/>
              </a:ext>
            </a:extLst>
          </p:cNvPr>
          <p:cNvSpPr txBox="1">
            <a:spLocks/>
          </p:cNvSpPr>
          <p:nvPr/>
        </p:nvSpPr>
        <p:spPr>
          <a:xfrm>
            <a:off x="5978501" y="2637953"/>
            <a:ext cx="2515976" cy="194985"/>
          </a:xfrm>
          <a:prstGeom prst="rect">
            <a:avLst/>
          </a:prstGeom>
        </p:spPr>
        <p:txBody>
          <a:bodyPr vert="horz" wrap="square" lIns="0" tIns="36000" rIns="0" bIns="0" rtlCol="0" anchor="ctr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1pPr>
            <a:lvl2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2pPr>
            <a:lvl3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Source Sans Pro" panose="020B0503030403020204" pitchFamily="34" charset="0"/>
              <a:buChar char="−"/>
              <a:defRPr sz="1200" kern="1200">
                <a:solidFill>
                  <a:schemeClr val="tx1"/>
                </a:solidFill>
                <a:latin typeface="Source Serif Pro Light" panose="02040303050405020204" pitchFamily="18" charset="0"/>
                <a:ea typeface="Source Serif Pro Light" panose="02040303050405020204" pitchFamily="18" charset="0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2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kern="1200">
                <a:solidFill>
                  <a:schemeClr val="accent4"/>
                </a:solidFill>
                <a:latin typeface="Source Serif Pro Black" panose="02040903050405020204" pitchFamily="18" charset="0"/>
                <a:ea typeface="Source Serif Pro Black" panose="02040903050405020204" pitchFamily="18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sz="1000" b="0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rPr>
              <a:t>Distribuição de vendas por linhas (%)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703C61-73F2-ACC2-9C9E-5A1CDE71FEAF}"/>
              </a:ext>
            </a:extLst>
          </p:cNvPr>
          <p:cNvSpPr/>
          <p:nvPr/>
        </p:nvSpPr>
        <p:spPr>
          <a:xfrm>
            <a:off x="10532822" y="86951"/>
            <a:ext cx="1579980" cy="41794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r>
              <a:rPr lang="pt-BR" sz="1200" dirty="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</a:rPr>
              <a:t>Depoimento manicure e massagista</a:t>
            </a:r>
          </a:p>
        </p:txBody>
      </p:sp>
      <p:pic>
        <p:nvPicPr>
          <p:cNvPr id="63" name="Picture 62" descr="A person getting a hair washed&#10;&#10;Description automatically generated">
            <a:extLst>
              <a:ext uri="{FF2B5EF4-FFF2-40B4-BE49-F238E27FC236}">
                <a16:creationId xmlns:a16="http://schemas.microsoft.com/office/drawing/2014/main" id="{F94DCE5C-B28E-CFB0-0B34-57ADF70F8E0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1" r="768" b="19661"/>
          <a:stretch/>
        </p:blipFill>
        <p:spPr>
          <a:xfrm>
            <a:off x="5193886" y="4523287"/>
            <a:ext cx="1640204" cy="1464447"/>
          </a:xfrm>
          <a:prstGeom prst="round2SameRect">
            <a:avLst/>
          </a:prstGeom>
        </p:spPr>
      </p:pic>
    </p:spTree>
    <p:extLst>
      <p:ext uri="{BB962C8B-B14F-4D97-AF65-F5344CB8AC3E}">
        <p14:creationId xmlns:p14="http://schemas.microsoft.com/office/powerpoint/2010/main" val="3640783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25AD051-EF4F-BF04-BCA4-C4FF8F7A3F94}"/>
              </a:ext>
            </a:extLst>
          </p:cNvPr>
          <p:cNvSpPr/>
          <p:nvPr/>
        </p:nvSpPr>
        <p:spPr>
          <a:xfrm>
            <a:off x="0" y="1444142"/>
            <a:ext cx="12192001" cy="26325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40" name="Rectangle: Top Corners Rounded 39">
            <a:extLst>
              <a:ext uri="{FF2B5EF4-FFF2-40B4-BE49-F238E27FC236}">
                <a16:creationId xmlns:a16="http://schemas.microsoft.com/office/drawing/2014/main" id="{518F18A6-6735-7115-ECE0-00AFFD8406C6}"/>
              </a:ext>
            </a:extLst>
          </p:cNvPr>
          <p:cNvSpPr/>
          <p:nvPr/>
        </p:nvSpPr>
        <p:spPr>
          <a:xfrm>
            <a:off x="6240186" y="2300434"/>
            <a:ext cx="1176435" cy="1776266"/>
          </a:xfrm>
          <a:prstGeom prst="round2SameRect">
            <a:avLst>
              <a:gd name="adj1" fmla="val 7761"/>
              <a:gd name="adj2" fmla="val 0"/>
            </a:avLst>
          </a:prstGeom>
          <a:solidFill>
            <a:schemeClr val="accent4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37" name="Rectangle: Top Corners Rounded 36">
            <a:extLst>
              <a:ext uri="{FF2B5EF4-FFF2-40B4-BE49-F238E27FC236}">
                <a16:creationId xmlns:a16="http://schemas.microsoft.com/office/drawing/2014/main" id="{A69DDD30-6285-FBB6-772E-53CE2F5177A7}"/>
              </a:ext>
            </a:extLst>
          </p:cNvPr>
          <p:cNvSpPr/>
          <p:nvPr/>
        </p:nvSpPr>
        <p:spPr>
          <a:xfrm flipV="1">
            <a:off x="731838" y="1444142"/>
            <a:ext cx="3769253" cy="4485096"/>
          </a:xfrm>
          <a:prstGeom prst="round2SameRect">
            <a:avLst>
              <a:gd name="adj1" fmla="val 4868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092B63-7113-8057-72A2-D01E7CBE5D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33911"/>
            <a:ext cx="11102975" cy="210951"/>
          </a:xfrm>
        </p:spPr>
        <p:txBody>
          <a:bodyPr vert="horz" lIns="0" tIns="36000" rIns="0" bIns="0" rtlCol="0" anchor="t">
            <a:spAutoFit/>
          </a:bodyPr>
          <a:lstStyle/>
          <a:p>
            <a:r>
              <a:rPr lang="pt-BR" sz="1050" dirty="0">
                <a:latin typeface="Montserrat" pitchFamily="2" charset="0"/>
              </a:rPr>
              <a:t>Ao chegar à gôndola, a consumidora reconhece imediatamente o custo-benefício dos produtos da </a:t>
            </a:r>
            <a:r>
              <a:rPr lang="pt-BR" sz="1050" dirty="0" err="1">
                <a:latin typeface="Montserrat" pitchFamily="2" charset="0"/>
              </a:rPr>
              <a:t>Biocap</a:t>
            </a:r>
            <a:r>
              <a:rPr lang="pt-BR" sz="1050" dirty="0">
                <a:latin typeface="Montserrat" pitchFamily="2" charset="0"/>
              </a:rPr>
              <a:t>, o que influencia sua decisão de compra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4308520-3958-53BC-AD47-D092FE79440E}"/>
              </a:ext>
            </a:extLst>
          </p:cNvPr>
          <p:cNvSpPr txBox="1">
            <a:spLocks/>
          </p:cNvSpPr>
          <p:nvPr/>
        </p:nvSpPr>
        <p:spPr>
          <a:xfrm>
            <a:off x="731838" y="695324"/>
            <a:ext cx="11282362" cy="3270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lang="en-US" b="1" spc="-20" baseline="0">
                <a:solidFill>
                  <a:schemeClr val="tx2"/>
                </a:solidFill>
                <a:latin typeface="Montserrat" panose="00000500000000000000" pitchFamily="2" charset="0"/>
                <a:ea typeface="Source Serif Pro Black" panose="02040903050405020204" pitchFamily="18" charset="0"/>
                <a:cs typeface="+mj-cs"/>
              </a:defRPr>
            </a:lvl1pPr>
          </a:lstStyle>
          <a:p>
            <a:r>
              <a:rPr lang="pt-BR" dirty="0"/>
              <a:t>A </a:t>
            </a:r>
            <a:r>
              <a:rPr lang="pt-BR" dirty="0" err="1"/>
              <a:t>Biocap</a:t>
            </a:r>
            <a:r>
              <a:rPr lang="pt-BR" dirty="0"/>
              <a:t> está muito bem posicionada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5F4DA3-6038-F745-7DE9-17893D45A3D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1838" y="6198700"/>
            <a:ext cx="9275946" cy="112595"/>
          </a:xfrm>
        </p:spPr>
        <p:txBody>
          <a:bodyPr/>
          <a:lstStyle/>
          <a:p>
            <a:r>
              <a:rPr lang="pt-BR" dirty="0">
                <a:latin typeface="Montserrat" panose="00000500000000000000" pitchFamily="2" charset="0"/>
              </a:rPr>
              <a:t>Fonte: Pesquisa ICTQ - Preferência do Consumidor de HPC - "Perfil de Consumo HPC“, Elaboração própria baseada nos sites das empresas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0212D0D-3A37-FF0C-F4A2-BED4EB186356}"/>
              </a:ext>
            </a:extLst>
          </p:cNvPr>
          <p:cNvGrpSpPr/>
          <p:nvPr/>
        </p:nvGrpSpPr>
        <p:grpSpPr>
          <a:xfrm>
            <a:off x="10817841" y="2419629"/>
            <a:ext cx="897224" cy="897224"/>
            <a:chOff x="1249285" y="2263687"/>
            <a:chExt cx="897224" cy="897224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44719C9-C954-C155-5482-143E2E15E725}"/>
                </a:ext>
              </a:extLst>
            </p:cNvPr>
            <p:cNvSpPr/>
            <p:nvPr/>
          </p:nvSpPr>
          <p:spPr>
            <a:xfrm>
              <a:off x="1249285" y="2263687"/>
              <a:ext cx="897224" cy="897224"/>
            </a:xfrm>
            <a:prstGeom prst="ellipse">
              <a:avLst/>
            </a:prstGeom>
            <a:solidFill>
              <a:srgbClr val="F9EB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2000"/>
                </a:lnSpc>
                <a:spcAft>
                  <a:spcPts val="800"/>
                </a:spcAft>
              </a:pPr>
              <a:endParaRPr lang="pt-BR" sz="1200" dirty="0" err="1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</a:endParaRPr>
            </a:p>
          </p:txBody>
        </p:sp>
        <p:pic>
          <p:nvPicPr>
            <p:cNvPr id="4" name="Picture 22">
              <a:extLst>
                <a:ext uri="{FF2B5EF4-FFF2-40B4-BE49-F238E27FC236}">
                  <a16:creationId xmlns:a16="http://schemas.microsoft.com/office/drawing/2014/main" id="{DC6F987B-FE5C-8745-E22F-A8E3E8742D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06461" y="2522758"/>
              <a:ext cx="382873" cy="3790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BCEAA5E-C77A-E1AA-8A6E-1DE628A1CE39}"/>
              </a:ext>
            </a:extLst>
          </p:cNvPr>
          <p:cNvGrpSpPr/>
          <p:nvPr/>
        </p:nvGrpSpPr>
        <p:grpSpPr>
          <a:xfrm>
            <a:off x="8599351" y="2419629"/>
            <a:ext cx="897224" cy="897224"/>
            <a:chOff x="3401649" y="2263687"/>
            <a:chExt cx="897224" cy="897224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E87BA52B-9097-C377-BE67-014FF61AA36E}"/>
                </a:ext>
              </a:extLst>
            </p:cNvPr>
            <p:cNvSpPr/>
            <p:nvPr/>
          </p:nvSpPr>
          <p:spPr>
            <a:xfrm>
              <a:off x="3401649" y="2263687"/>
              <a:ext cx="897224" cy="897224"/>
            </a:xfrm>
            <a:prstGeom prst="ellipse">
              <a:avLst/>
            </a:prstGeom>
            <a:solidFill>
              <a:srgbClr val="F9EB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2000"/>
                </a:lnSpc>
                <a:spcAft>
                  <a:spcPts val="800"/>
                </a:spcAft>
              </a:pPr>
              <a:endParaRPr lang="pt-BR" sz="1200" dirty="0" err="1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</a:endParaRPr>
            </a:p>
          </p:txBody>
        </p:sp>
        <p:pic>
          <p:nvPicPr>
            <p:cNvPr id="7" name="Picture 4" descr="Monange Logo PNG Vector (EPS) Free Download">
              <a:extLst>
                <a:ext uri="{FF2B5EF4-FFF2-40B4-BE49-F238E27FC236}">
                  <a16:creationId xmlns:a16="http://schemas.microsoft.com/office/drawing/2014/main" id="{F905AA93-2F18-25F3-F23E-D67ECEED54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8230" y="2574347"/>
              <a:ext cx="684062" cy="2759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C8B0DEE-0066-BB21-E892-5FBAE4348DBD}"/>
              </a:ext>
            </a:extLst>
          </p:cNvPr>
          <p:cNvGrpSpPr/>
          <p:nvPr/>
        </p:nvGrpSpPr>
        <p:grpSpPr>
          <a:xfrm>
            <a:off x="7490106" y="2419629"/>
            <a:ext cx="897224" cy="897224"/>
            <a:chOff x="2325467" y="2263687"/>
            <a:chExt cx="897224" cy="897224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77EEBFD-E16D-0968-8242-B8D27A2A0827}"/>
                </a:ext>
              </a:extLst>
            </p:cNvPr>
            <p:cNvSpPr/>
            <p:nvPr/>
          </p:nvSpPr>
          <p:spPr>
            <a:xfrm>
              <a:off x="2325467" y="2263687"/>
              <a:ext cx="897224" cy="897224"/>
            </a:xfrm>
            <a:prstGeom prst="ellipse">
              <a:avLst/>
            </a:prstGeom>
            <a:solidFill>
              <a:srgbClr val="F9EB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2000"/>
                </a:lnSpc>
                <a:spcAft>
                  <a:spcPts val="800"/>
                </a:spcAft>
              </a:pPr>
              <a:endParaRPr lang="pt-BR" sz="1200" dirty="0" err="1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</a:endParaRPr>
            </a:p>
          </p:txBody>
        </p:sp>
        <p:pic>
          <p:nvPicPr>
            <p:cNvPr id="8" name="Picture 6" descr="Paixao - Customer Brand - Coty">
              <a:extLst>
                <a:ext uri="{FF2B5EF4-FFF2-40B4-BE49-F238E27FC236}">
                  <a16:creationId xmlns:a16="http://schemas.microsoft.com/office/drawing/2014/main" id="{B20F8823-CB00-F15C-30DD-5DFE7EE95A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0572" y="2602657"/>
              <a:ext cx="627015" cy="2192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866D3A9-4B88-E194-4CC5-F73BF0D366B2}"/>
              </a:ext>
            </a:extLst>
          </p:cNvPr>
          <p:cNvGrpSpPr/>
          <p:nvPr/>
        </p:nvGrpSpPr>
        <p:grpSpPr>
          <a:xfrm>
            <a:off x="9708596" y="2419629"/>
            <a:ext cx="897224" cy="897224"/>
            <a:chOff x="173103" y="2263687"/>
            <a:chExt cx="897224" cy="897224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79ADB23-59D5-CC6B-0335-C9C6D003BB58}"/>
                </a:ext>
              </a:extLst>
            </p:cNvPr>
            <p:cNvSpPr/>
            <p:nvPr/>
          </p:nvSpPr>
          <p:spPr>
            <a:xfrm>
              <a:off x="173103" y="2263687"/>
              <a:ext cx="897224" cy="897224"/>
            </a:xfrm>
            <a:prstGeom prst="ellipse">
              <a:avLst/>
            </a:prstGeom>
            <a:solidFill>
              <a:srgbClr val="F9EB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2000"/>
                </a:lnSpc>
                <a:spcAft>
                  <a:spcPts val="800"/>
                </a:spcAft>
              </a:pPr>
              <a:endParaRPr lang="pt-BR" sz="1200" dirty="0" err="1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</a:endParaRPr>
            </a:p>
          </p:txBody>
        </p:sp>
        <p:pic>
          <p:nvPicPr>
            <p:cNvPr id="9" name="Picture 8" descr="Davene | Beleza na Web">
              <a:extLst>
                <a:ext uri="{FF2B5EF4-FFF2-40B4-BE49-F238E27FC236}">
                  <a16:creationId xmlns:a16="http://schemas.microsoft.com/office/drawing/2014/main" id="{0A6030B8-A369-1099-F5EE-FC99D523B48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659" r="18116"/>
            <a:stretch/>
          </p:blipFill>
          <p:spPr bwMode="auto">
            <a:xfrm>
              <a:off x="318424" y="2465395"/>
              <a:ext cx="606582" cy="4938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52287A2-6D75-F9B9-A485-9DA978179CBA}"/>
              </a:ext>
            </a:extLst>
          </p:cNvPr>
          <p:cNvGrpSpPr/>
          <p:nvPr/>
        </p:nvGrpSpPr>
        <p:grpSpPr>
          <a:xfrm>
            <a:off x="6380861" y="2419629"/>
            <a:ext cx="897224" cy="897224"/>
            <a:chOff x="4472587" y="2263687"/>
            <a:chExt cx="897224" cy="897224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610D601-C53D-AC3D-E337-65AC784AED96}"/>
                </a:ext>
              </a:extLst>
            </p:cNvPr>
            <p:cNvSpPr/>
            <p:nvPr/>
          </p:nvSpPr>
          <p:spPr>
            <a:xfrm>
              <a:off x="4472587" y="2263687"/>
              <a:ext cx="897224" cy="897224"/>
            </a:xfrm>
            <a:prstGeom prst="ellipse">
              <a:avLst/>
            </a:prstGeom>
            <a:solidFill>
              <a:srgbClr val="F9EB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2000"/>
                </a:lnSpc>
                <a:spcAft>
                  <a:spcPts val="800"/>
                </a:spcAft>
              </a:pPr>
              <a:endParaRPr lang="pt-BR" sz="1200" dirty="0" err="1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</a:endParaRPr>
            </a:p>
          </p:txBody>
        </p:sp>
        <p:pic>
          <p:nvPicPr>
            <p:cNvPr id="13" name="Picture 42" descr="Hidramais - Plena Cosméticos">
              <a:extLst>
                <a:ext uri="{FF2B5EF4-FFF2-40B4-BE49-F238E27FC236}">
                  <a16:creationId xmlns:a16="http://schemas.microsoft.com/office/drawing/2014/main" id="{17BFCDEA-34C6-F58C-A5E1-7D2DE343BCB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0310" b="28877"/>
            <a:stretch/>
          </p:blipFill>
          <p:spPr bwMode="auto">
            <a:xfrm>
              <a:off x="4558438" y="2580454"/>
              <a:ext cx="725521" cy="247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3F97DF86-3081-4698-AC9F-AC2F9103FA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684898"/>
              </p:ext>
            </p:extLst>
          </p:nvPr>
        </p:nvGraphicFramePr>
        <p:xfrm>
          <a:off x="4864021" y="3450207"/>
          <a:ext cx="6970792" cy="5204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7382">
                  <a:extLst>
                    <a:ext uri="{9D8B030D-6E8A-4147-A177-3AD203B41FA5}">
                      <a16:colId xmlns:a16="http://schemas.microsoft.com/office/drawing/2014/main" val="3584654991"/>
                    </a:ext>
                  </a:extLst>
                </a:gridCol>
                <a:gridCol w="1112682">
                  <a:extLst>
                    <a:ext uri="{9D8B030D-6E8A-4147-A177-3AD203B41FA5}">
                      <a16:colId xmlns:a16="http://schemas.microsoft.com/office/drawing/2014/main" val="589653303"/>
                    </a:ext>
                  </a:extLst>
                </a:gridCol>
                <a:gridCol w="1112682">
                  <a:extLst>
                    <a:ext uri="{9D8B030D-6E8A-4147-A177-3AD203B41FA5}">
                      <a16:colId xmlns:a16="http://schemas.microsoft.com/office/drawing/2014/main" val="2432003592"/>
                    </a:ext>
                  </a:extLst>
                </a:gridCol>
                <a:gridCol w="1112682">
                  <a:extLst>
                    <a:ext uri="{9D8B030D-6E8A-4147-A177-3AD203B41FA5}">
                      <a16:colId xmlns:a16="http://schemas.microsoft.com/office/drawing/2014/main" val="758409283"/>
                    </a:ext>
                  </a:extLst>
                </a:gridCol>
                <a:gridCol w="1112682">
                  <a:extLst>
                    <a:ext uri="{9D8B030D-6E8A-4147-A177-3AD203B41FA5}">
                      <a16:colId xmlns:a16="http://schemas.microsoft.com/office/drawing/2014/main" val="1132808962"/>
                    </a:ext>
                  </a:extLst>
                </a:gridCol>
                <a:gridCol w="1112682">
                  <a:extLst>
                    <a:ext uri="{9D8B030D-6E8A-4147-A177-3AD203B41FA5}">
                      <a16:colId xmlns:a16="http://schemas.microsoft.com/office/drawing/2014/main" val="1126861866"/>
                    </a:ext>
                  </a:extLst>
                </a:gridCol>
              </a:tblGrid>
              <a:tr h="260246">
                <a:tc>
                  <a:txBody>
                    <a:bodyPr/>
                    <a:lstStyle/>
                    <a:p>
                      <a:r>
                        <a:rPr lang="pt-BR" sz="1000" b="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Montserrat SemiBold" pitchFamily="2" charset="0"/>
                        </a:rPr>
                        <a:t>Preço Hidratante</a:t>
                      </a:r>
                    </a:p>
                  </a:txBody>
                  <a:tcPr marL="72000" marT="37785" marB="3778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R$ 13,99</a:t>
                      </a:r>
                    </a:p>
                  </a:txBody>
                  <a:tcPr marT="37785" marB="3778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R$ 10,99</a:t>
                      </a:r>
                    </a:p>
                  </a:txBody>
                  <a:tcPr marT="37785" marB="3778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R$ 10,99</a:t>
                      </a:r>
                    </a:p>
                  </a:txBody>
                  <a:tcPr marT="37785" marB="3778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R$ 22,50</a:t>
                      </a:r>
                    </a:p>
                  </a:txBody>
                  <a:tcPr marT="37785" marB="3778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R$ 28,99</a:t>
                      </a:r>
                    </a:p>
                  </a:txBody>
                  <a:tcPr marT="37785" marB="3778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2170716"/>
                  </a:ext>
                </a:extLst>
              </a:tr>
              <a:tr h="260246">
                <a:tc>
                  <a:txBody>
                    <a:bodyPr/>
                    <a:lstStyle/>
                    <a:p>
                      <a:r>
                        <a:rPr lang="pt-BR" sz="1000" b="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Montserrat SemiBold" pitchFamily="2" charset="0"/>
                        </a:rPr>
                        <a:t>Volume (ml)</a:t>
                      </a:r>
                    </a:p>
                  </a:txBody>
                  <a:tcPr marL="72000" marT="37785" marB="3778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500ml</a:t>
                      </a:r>
                    </a:p>
                  </a:txBody>
                  <a:tcPr marT="37785" marB="3778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200ml</a:t>
                      </a:r>
                    </a:p>
                  </a:txBody>
                  <a:tcPr marT="37785" marB="3778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200ml</a:t>
                      </a:r>
                    </a:p>
                  </a:txBody>
                  <a:tcPr marT="37785" marB="3778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400ml</a:t>
                      </a:r>
                    </a:p>
                  </a:txBody>
                  <a:tcPr marT="37785" marB="3778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400ml</a:t>
                      </a:r>
                    </a:p>
                  </a:txBody>
                  <a:tcPr marT="37785" marB="3778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7918408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DEA439F7-5D90-CDB8-1283-92A20F3B1A78}"/>
              </a:ext>
            </a:extLst>
          </p:cNvPr>
          <p:cNvSpPr txBox="1"/>
          <p:nvPr/>
        </p:nvSpPr>
        <p:spPr>
          <a:xfrm>
            <a:off x="1035686" y="1643860"/>
            <a:ext cx="3161556" cy="1499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pt-BR" sz="1400" dirty="0">
                <a:solidFill>
                  <a:schemeClr val="bg1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A </a:t>
            </a:r>
            <a:r>
              <a:rPr lang="pt-BR" sz="1400" dirty="0" err="1">
                <a:solidFill>
                  <a:schemeClr val="bg1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Biocap</a:t>
            </a:r>
            <a:r>
              <a:rPr lang="pt-BR" sz="1400" dirty="0">
                <a:solidFill>
                  <a:schemeClr val="bg1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 possui um </a:t>
            </a:r>
            <a:r>
              <a:rPr lang="pt-BR" sz="1400" b="1" dirty="0">
                <a:solidFill>
                  <a:schemeClr val="bg1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excelente posicionamento de gôndola</a:t>
            </a:r>
            <a:r>
              <a:rPr lang="pt-BR" sz="1400" dirty="0">
                <a:solidFill>
                  <a:schemeClr val="bg1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, estrategicamente localizado ao lado dos principais concorrentes, garantindo </a:t>
            </a:r>
            <a:r>
              <a:rPr lang="pt-BR" sz="1400" b="1" dirty="0">
                <a:solidFill>
                  <a:schemeClr val="bg1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visibilidade e fácil acesso aos consumidores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767B04A-D48C-7161-54C9-68920699F43B}"/>
              </a:ext>
            </a:extLst>
          </p:cNvPr>
          <p:cNvSpPr txBox="1"/>
          <p:nvPr/>
        </p:nvSpPr>
        <p:spPr>
          <a:xfrm>
            <a:off x="5797295" y="1643860"/>
            <a:ext cx="61470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dirty="0">
                <a:solidFill>
                  <a:schemeClr val="tx2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A consumidora opta pelos produtos da </a:t>
            </a:r>
            <a:r>
              <a:rPr lang="pt-BR" sz="1400" dirty="0" err="1">
                <a:solidFill>
                  <a:schemeClr val="tx2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Biocap</a:t>
            </a:r>
            <a:r>
              <a:rPr lang="pt-BR" sz="1400" dirty="0">
                <a:solidFill>
                  <a:schemeClr val="tx2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 por </a:t>
            </a:r>
            <a:r>
              <a:rPr lang="pt-BR" sz="1400" b="1" dirty="0">
                <a:solidFill>
                  <a:schemeClr val="tx2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oferecerem um melhor custo-benefício em relação aos principais concorrentes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B1A6946-8681-5B5D-404E-6011C4F14255}"/>
              </a:ext>
            </a:extLst>
          </p:cNvPr>
          <p:cNvGrpSpPr/>
          <p:nvPr/>
        </p:nvGrpSpPr>
        <p:grpSpPr>
          <a:xfrm>
            <a:off x="1062496" y="3429001"/>
            <a:ext cx="3107936" cy="2253004"/>
            <a:chOff x="816591" y="2190142"/>
            <a:chExt cx="3717222" cy="2694693"/>
          </a:xfrm>
        </p:grpSpPr>
        <p:pic>
          <p:nvPicPr>
            <p:cNvPr id="11" name="Picture 10" descr="A shelf with bottles on it&#10;&#10;Description automatically generated">
              <a:extLst>
                <a:ext uri="{FF2B5EF4-FFF2-40B4-BE49-F238E27FC236}">
                  <a16:creationId xmlns:a16="http://schemas.microsoft.com/office/drawing/2014/main" id="{C64D3F8B-3D00-2D27-0859-B0723D21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463" r="-22029"/>
            <a:stretch/>
          </p:blipFill>
          <p:spPr>
            <a:xfrm>
              <a:off x="816591" y="2190142"/>
              <a:ext cx="2043015" cy="2694693"/>
            </a:xfrm>
            <a:prstGeom prst="roundRect">
              <a:avLst>
                <a:gd name="adj" fmla="val 5845"/>
              </a:avLst>
            </a:prstGeom>
          </p:spPr>
        </p:pic>
        <p:pic>
          <p:nvPicPr>
            <p:cNvPr id="14" name="Picture 13" descr="Shelves of products on a shelf&#10;&#10;Description automatically generated">
              <a:extLst>
                <a:ext uri="{FF2B5EF4-FFF2-40B4-BE49-F238E27FC236}">
                  <a16:creationId xmlns:a16="http://schemas.microsoft.com/office/drawing/2014/main" id="{52A5D75D-2C80-6733-4032-CCE8B2EC670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5959" t="1076" r="-1"/>
            <a:stretch/>
          </p:blipFill>
          <p:spPr>
            <a:xfrm>
              <a:off x="2164748" y="2190142"/>
              <a:ext cx="2369065" cy="2694693"/>
            </a:xfrm>
            <a:prstGeom prst="roundRect">
              <a:avLst>
                <a:gd name="adj" fmla="val 4082"/>
              </a:avLst>
            </a:prstGeom>
          </p:spPr>
        </p:pic>
      </p:grpSp>
      <p:pic>
        <p:nvPicPr>
          <p:cNvPr id="17" name="Picture 16" descr="A close-up of a person's feet&#10;&#10;Description automatically generated">
            <a:extLst>
              <a:ext uri="{FF2B5EF4-FFF2-40B4-BE49-F238E27FC236}">
                <a16:creationId xmlns:a16="http://schemas.microsoft.com/office/drawing/2014/main" id="{97363CED-ED7C-65DC-B3B8-72FD59C8E05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602" y="1454997"/>
            <a:ext cx="1447079" cy="175822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996F4EF-85EE-BED1-8620-C2BD09C352AB}"/>
              </a:ext>
            </a:extLst>
          </p:cNvPr>
          <p:cNvSpPr txBox="1"/>
          <p:nvPr/>
        </p:nvSpPr>
        <p:spPr>
          <a:xfrm>
            <a:off x="4864021" y="4337331"/>
            <a:ext cx="1247656" cy="1570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pt-BR" sz="1100" dirty="0">
                <a:latin typeface="Montserrat Medium" pitchFamily="2" charset="0"/>
                <a:ea typeface="Source Serif Pro Black" panose="02040903050405020204" pitchFamily="18" charset="0"/>
              </a:rPr>
              <a:t>O preço/ml                 dos produtos                da </a:t>
            </a:r>
            <a:r>
              <a:rPr lang="pt-BR" sz="1100" dirty="0" err="1">
                <a:latin typeface="Montserrat Medium" pitchFamily="2" charset="0"/>
                <a:ea typeface="Source Serif Pro Black" panose="02040903050405020204" pitchFamily="18" charset="0"/>
              </a:rPr>
              <a:t>Biocap</a:t>
            </a:r>
            <a:r>
              <a:rPr lang="pt-BR" sz="1100" dirty="0">
                <a:latin typeface="Montserrat Medium" pitchFamily="2" charset="0"/>
                <a:ea typeface="Source Serif Pro Black" panose="02040903050405020204" pitchFamily="18" charset="0"/>
              </a:rPr>
              <a:t>               é, no mínimo,                 </a:t>
            </a:r>
            <a:r>
              <a:rPr lang="pt-BR" sz="1100" b="1" dirty="0">
                <a:latin typeface="Montserrat" pitchFamily="2" charset="0"/>
                <a:ea typeface="Source Serif Pro Black" panose="02040903050405020204" pitchFamily="18" charset="0"/>
              </a:rPr>
              <a:t>50% mais barato </a:t>
            </a:r>
            <a:r>
              <a:rPr lang="pt-BR" sz="1100" dirty="0">
                <a:latin typeface="Montserrat Medium" pitchFamily="2" charset="0"/>
                <a:ea typeface="Source Serif Pro Black" panose="02040903050405020204" pitchFamily="18" charset="0"/>
              </a:rPr>
              <a:t>do            que o da concorrência</a:t>
            </a:r>
          </a:p>
        </p:txBody>
      </p:sp>
      <p:sp>
        <p:nvSpPr>
          <p:cNvPr id="19" name="Content Placeholder 10">
            <a:extLst>
              <a:ext uri="{FF2B5EF4-FFF2-40B4-BE49-F238E27FC236}">
                <a16:creationId xmlns:a16="http://schemas.microsoft.com/office/drawing/2014/main" id="{230DE16B-866A-7BAD-1AB2-1093F8D6A2ED}"/>
              </a:ext>
            </a:extLst>
          </p:cNvPr>
          <p:cNvSpPr txBox="1">
            <a:spLocks/>
          </p:cNvSpPr>
          <p:nvPr/>
        </p:nvSpPr>
        <p:spPr>
          <a:xfrm>
            <a:off x="6241071" y="4392081"/>
            <a:ext cx="3492704" cy="12695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1pPr>
            <a:lvl2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2pPr>
            <a:lvl3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Source Sans Pro" panose="020B0503030403020204" pitchFamily="34" charset="0"/>
              <a:buChar char="−"/>
              <a:defRPr sz="1200" kern="1200">
                <a:solidFill>
                  <a:schemeClr val="tx1"/>
                </a:solidFill>
                <a:latin typeface="Source Serif Pro Light" panose="02040303050405020204" pitchFamily="18" charset="0"/>
                <a:ea typeface="Source Serif Pro Light" panose="02040303050405020204" pitchFamily="18" charset="0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2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kern="1200">
                <a:solidFill>
                  <a:schemeClr val="accent4"/>
                </a:solidFill>
                <a:latin typeface="Source Serif Pro Black" panose="02040903050405020204" pitchFamily="18" charset="0"/>
                <a:ea typeface="Source Serif Pro Black" panose="02040903050405020204" pitchFamily="18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800" b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ontserrat" panose="00000500000000000000" pitchFamily="2" charset="0"/>
              </a:rPr>
              <a:t>Preço/ml (R$)</a:t>
            </a: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F868B7B5-9BB5-C1EF-ADB5-13A51C0E8A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7729950"/>
              </p:ext>
            </p:extLst>
          </p:nvPr>
        </p:nvGraphicFramePr>
        <p:xfrm>
          <a:off x="6241071" y="4598139"/>
          <a:ext cx="5593742" cy="13310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42A52C05-A18B-4372-06FF-4CFA75725B85}"/>
              </a:ext>
            </a:extLst>
          </p:cNvPr>
          <p:cNvGrpSpPr/>
          <p:nvPr/>
        </p:nvGrpSpPr>
        <p:grpSpPr>
          <a:xfrm>
            <a:off x="6771158" y="4676176"/>
            <a:ext cx="4176045" cy="420285"/>
            <a:chOff x="6730609" y="4485742"/>
            <a:chExt cx="4206347" cy="494994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5423F71-C451-3A58-7A76-D9E001BAC075}"/>
                </a:ext>
              </a:extLst>
            </p:cNvPr>
            <p:cNvGrpSpPr/>
            <p:nvPr/>
          </p:nvGrpSpPr>
          <p:grpSpPr>
            <a:xfrm>
              <a:off x="6732491" y="4720960"/>
              <a:ext cx="840712" cy="256186"/>
              <a:chOff x="7624567" y="4447960"/>
              <a:chExt cx="3510811" cy="358009"/>
            </a:xfrm>
          </p:grpSpPr>
          <p:cxnSp>
            <p:nvCxnSpPr>
              <p:cNvPr id="24" name="Connector: Elbow 23">
                <a:extLst>
                  <a:ext uri="{FF2B5EF4-FFF2-40B4-BE49-F238E27FC236}">
                    <a16:creationId xmlns:a16="http://schemas.microsoft.com/office/drawing/2014/main" id="{29F6B633-2F12-FDC7-FE47-4ACD8321040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24567" y="4543927"/>
                <a:ext cx="3510811" cy="262042"/>
              </a:xfrm>
              <a:prstGeom prst="bentConnector3">
                <a:avLst>
                  <a:gd name="adj1" fmla="val 23"/>
                </a:avLst>
              </a:prstGeom>
              <a:ln>
                <a:solidFill>
                  <a:schemeClr val="bg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DEEF564-86CA-FFCE-5979-5FF0AD6937B8}"/>
                  </a:ext>
                </a:extLst>
              </p:cNvPr>
              <p:cNvSpPr txBox="1"/>
              <p:nvPr/>
            </p:nvSpPr>
            <p:spPr>
              <a:xfrm flipH="1">
                <a:off x="8890240" y="4447960"/>
                <a:ext cx="1003201" cy="19955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Montserrat Medium" pitchFamily="2" charset="0"/>
                    <a:ea typeface="Source Serif Pro" panose="02040603050405020204" pitchFamily="18" charset="0"/>
                  </a:rPr>
                  <a:t>2x</a:t>
                </a: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96FE2734-F5B8-3E2B-56A6-6CD6D254E040}"/>
                </a:ext>
              </a:extLst>
            </p:cNvPr>
            <p:cNvGrpSpPr/>
            <p:nvPr/>
          </p:nvGrpSpPr>
          <p:grpSpPr>
            <a:xfrm>
              <a:off x="6730609" y="4485742"/>
              <a:ext cx="4206347" cy="494994"/>
              <a:chOff x="7654147" y="4504210"/>
              <a:chExt cx="3510811" cy="301759"/>
            </a:xfrm>
          </p:grpSpPr>
          <p:cxnSp>
            <p:nvCxnSpPr>
              <p:cNvPr id="42" name="Connector: Elbow 41">
                <a:extLst>
                  <a:ext uri="{FF2B5EF4-FFF2-40B4-BE49-F238E27FC236}">
                    <a16:creationId xmlns:a16="http://schemas.microsoft.com/office/drawing/2014/main" id="{12A3C89D-453C-FEC2-8E25-6DA938EF241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54147" y="4543927"/>
                <a:ext cx="3510811" cy="262042"/>
              </a:xfrm>
              <a:prstGeom prst="bentConnector3">
                <a:avLst>
                  <a:gd name="adj1" fmla="val 23"/>
                </a:avLst>
              </a:prstGeom>
              <a:ln>
                <a:solidFill>
                  <a:schemeClr val="bg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A0CFFEC-C860-321C-2E5A-1EA68E94F2C5}"/>
                  </a:ext>
                </a:extLst>
              </p:cNvPr>
              <p:cNvSpPr txBox="1"/>
              <p:nvPr/>
            </p:nvSpPr>
            <p:spPr>
              <a:xfrm flipH="1">
                <a:off x="9253304" y="4504210"/>
                <a:ext cx="351616" cy="8705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Montserrat Medium" pitchFamily="2" charset="0"/>
                    <a:ea typeface="Source Serif Pro" panose="02040603050405020204" pitchFamily="18" charset="0"/>
                  </a:rPr>
                  <a:t>2,6x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7219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: Top Corners Rounded 35">
            <a:extLst>
              <a:ext uri="{FF2B5EF4-FFF2-40B4-BE49-F238E27FC236}">
                <a16:creationId xmlns:a16="http://schemas.microsoft.com/office/drawing/2014/main" id="{ECAB6884-376F-E2DE-B633-3871CFAB5227}"/>
              </a:ext>
            </a:extLst>
          </p:cNvPr>
          <p:cNvSpPr/>
          <p:nvPr/>
        </p:nvSpPr>
        <p:spPr>
          <a:xfrm rot="5400000" flipH="1">
            <a:off x="2895012" y="806963"/>
            <a:ext cx="2282893" cy="8072928"/>
          </a:xfrm>
          <a:prstGeom prst="round2SameRect">
            <a:avLst>
              <a:gd name="adj1" fmla="val 6829"/>
              <a:gd name="adj2" fmla="val 0"/>
            </a:avLst>
          </a:prstGeom>
          <a:solidFill>
            <a:srgbClr val="F5EDEC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grpSp>
        <p:nvGrpSpPr>
          <p:cNvPr id="7268" name="Group 7267">
            <a:extLst>
              <a:ext uri="{FF2B5EF4-FFF2-40B4-BE49-F238E27FC236}">
                <a16:creationId xmlns:a16="http://schemas.microsoft.com/office/drawing/2014/main" id="{89465190-AB28-47A4-C9C3-EFAA99C33DE4}"/>
              </a:ext>
            </a:extLst>
          </p:cNvPr>
          <p:cNvGrpSpPr/>
          <p:nvPr/>
        </p:nvGrpSpPr>
        <p:grpSpPr>
          <a:xfrm>
            <a:off x="2450787" y="5203599"/>
            <a:ext cx="1631808" cy="595625"/>
            <a:chOff x="2384112" y="5280637"/>
            <a:chExt cx="1631808" cy="595625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6F9C9202-09D5-0332-4F28-DAB846B0A4AA}"/>
                </a:ext>
              </a:extLst>
            </p:cNvPr>
            <p:cNvSpPr/>
            <p:nvPr/>
          </p:nvSpPr>
          <p:spPr>
            <a:xfrm flipV="1">
              <a:off x="2384112" y="5280637"/>
              <a:ext cx="1631808" cy="595625"/>
            </a:xfrm>
            <a:custGeom>
              <a:avLst/>
              <a:gdLst>
                <a:gd name="connsiteX0" fmla="*/ 0 w 1569156"/>
                <a:gd name="connsiteY0" fmla="*/ 99273 h 595625"/>
                <a:gd name="connsiteX1" fmla="*/ 99273 w 1569156"/>
                <a:gd name="connsiteY1" fmla="*/ 0 h 595625"/>
                <a:gd name="connsiteX2" fmla="*/ 1469883 w 1569156"/>
                <a:gd name="connsiteY2" fmla="*/ 0 h 595625"/>
                <a:gd name="connsiteX3" fmla="*/ 1569156 w 1569156"/>
                <a:gd name="connsiteY3" fmla="*/ 99273 h 595625"/>
                <a:gd name="connsiteX4" fmla="*/ 1569156 w 1569156"/>
                <a:gd name="connsiteY4" fmla="*/ 496352 h 595625"/>
                <a:gd name="connsiteX5" fmla="*/ 1469883 w 1569156"/>
                <a:gd name="connsiteY5" fmla="*/ 595625 h 595625"/>
                <a:gd name="connsiteX6" fmla="*/ 99273 w 1569156"/>
                <a:gd name="connsiteY6" fmla="*/ 595625 h 595625"/>
                <a:gd name="connsiteX7" fmla="*/ 0 w 1569156"/>
                <a:gd name="connsiteY7" fmla="*/ 496352 h 595625"/>
                <a:gd name="connsiteX8" fmla="*/ 0 w 1569156"/>
                <a:gd name="connsiteY8" fmla="*/ 99273 h 595625"/>
                <a:gd name="connsiteX0" fmla="*/ 77230 w 1646386"/>
                <a:gd name="connsiteY0" fmla="*/ 99273 h 595625"/>
                <a:gd name="connsiteX1" fmla="*/ 14578 w 1646386"/>
                <a:gd name="connsiteY1" fmla="*/ 2381 h 595625"/>
                <a:gd name="connsiteX2" fmla="*/ 1547113 w 1646386"/>
                <a:gd name="connsiteY2" fmla="*/ 0 h 595625"/>
                <a:gd name="connsiteX3" fmla="*/ 1646386 w 1646386"/>
                <a:gd name="connsiteY3" fmla="*/ 99273 h 595625"/>
                <a:gd name="connsiteX4" fmla="*/ 1646386 w 1646386"/>
                <a:gd name="connsiteY4" fmla="*/ 496352 h 595625"/>
                <a:gd name="connsiteX5" fmla="*/ 1547113 w 1646386"/>
                <a:gd name="connsiteY5" fmla="*/ 595625 h 595625"/>
                <a:gd name="connsiteX6" fmla="*/ 176503 w 1646386"/>
                <a:gd name="connsiteY6" fmla="*/ 595625 h 595625"/>
                <a:gd name="connsiteX7" fmla="*/ 77230 w 1646386"/>
                <a:gd name="connsiteY7" fmla="*/ 496352 h 595625"/>
                <a:gd name="connsiteX8" fmla="*/ 77230 w 1646386"/>
                <a:gd name="connsiteY8" fmla="*/ 99273 h 595625"/>
                <a:gd name="connsiteX0" fmla="*/ 56054 w 1649022"/>
                <a:gd name="connsiteY0" fmla="*/ 137373 h 595625"/>
                <a:gd name="connsiteX1" fmla="*/ 17214 w 1649022"/>
                <a:gd name="connsiteY1" fmla="*/ 2381 h 595625"/>
                <a:gd name="connsiteX2" fmla="*/ 1549749 w 1649022"/>
                <a:gd name="connsiteY2" fmla="*/ 0 h 595625"/>
                <a:gd name="connsiteX3" fmla="*/ 1649022 w 1649022"/>
                <a:gd name="connsiteY3" fmla="*/ 99273 h 595625"/>
                <a:gd name="connsiteX4" fmla="*/ 1649022 w 1649022"/>
                <a:gd name="connsiteY4" fmla="*/ 496352 h 595625"/>
                <a:gd name="connsiteX5" fmla="*/ 1549749 w 1649022"/>
                <a:gd name="connsiteY5" fmla="*/ 595625 h 595625"/>
                <a:gd name="connsiteX6" fmla="*/ 179139 w 1649022"/>
                <a:gd name="connsiteY6" fmla="*/ 595625 h 595625"/>
                <a:gd name="connsiteX7" fmla="*/ 79866 w 1649022"/>
                <a:gd name="connsiteY7" fmla="*/ 496352 h 595625"/>
                <a:gd name="connsiteX8" fmla="*/ 56054 w 1649022"/>
                <a:gd name="connsiteY8" fmla="*/ 137373 h 595625"/>
                <a:gd name="connsiteX0" fmla="*/ 56054 w 1649022"/>
                <a:gd name="connsiteY0" fmla="*/ 137373 h 595625"/>
                <a:gd name="connsiteX1" fmla="*/ 17214 w 1649022"/>
                <a:gd name="connsiteY1" fmla="*/ 2381 h 595625"/>
                <a:gd name="connsiteX2" fmla="*/ 1549749 w 1649022"/>
                <a:gd name="connsiteY2" fmla="*/ 0 h 595625"/>
                <a:gd name="connsiteX3" fmla="*/ 1649022 w 1649022"/>
                <a:gd name="connsiteY3" fmla="*/ 99273 h 595625"/>
                <a:gd name="connsiteX4" fmla="*/ 1649022 w 1649022"/>
                <a:gd name="connsiteY4" fmla="*/ 496352 h 595625"/>
                <a:gd name="connsiteX5" fmla="*/ 1549749 w 1649022"/>
                <a:gd name="connsiteY5" fmla="*/ 595625 h 595625"/>
                <a:gd name="connsiteX6" fmla="*/ 179139 w 1649022"/>
                <a:gd name="connsiteY6" fmla="*/ 595625 h 595625"/>
                <a:gd name="connsiteX7" fmla="*/ 79866 w 1649022"/>
                <a:gd name="connsiteY7" fmla="*/ 496352 h 595625"/>
                <a:gd name="connsiteX8" fmla="*/ 56054 w 1649022"/>
                <a:gd name="connsiteY8" fmla="*/ 137373 h 595625"/>
                <a:gd name="connsiteX0" fmla="*/ 38840 w 1631808"/>
                <a:gd name="connsiteY0" fmla="*/ 137373 h 595625"/>
                <a:gd name="connsiteX1" fmla="*/ 0 w 1631808"/>
                <a:gd name="connsiteY1" fmla="*/ 2381 h 595625"/>
                <a:gd name="connsiteX2" fmla="*/ 1532535 w 1631808"/>
                <a:gd name="connsiteY2" fmla="*/ 0 h 595625"/>
                <a:gd name="connsiteX3" fmla="*/ 1631808 w 1631808"/>
                <a:gd name="connsiteY3" fmla="*/ 99273 h 595625"/>
                <a:gd name="connsiteX4" fmla="*/ 1631808 w 1631808"/>
                <a:gd name="connsiteY4" fmla="*/ 496352 h 595625"/>
                <a:gd name="connsiteX5" fmla="*/ 1532535 w 1631808"/>
                <a:gd name="connsiteY5" fmla="*/ 595625 h 595625"/>
                <a:gd name="connsiteX6" fmla="*/ 161925 w 1631808"/>
                <a:gd name="connsiteY6" fmla="*/ 595625 h 595625"/>
                <a:gd name="connsiteX7" fmla="*/ 62652 w 1631808"/>
                <a:gd name="connsiteY7" fmla="*/ 496352 h 595625"/>
                <a:gd name="connsiteX8" fmla="*/ 38840 w 1631808"/>
                <a:gd name="connsiteY8" fmla="*/ 137373 h 595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31808" h="595625">
                  <a:moveTo>
                    <a:pt x="38840" y="137373"/>
                  </a:moveTo>
                  <a:cubicBezTo>
                    <a:pt x="38840" y="82546"/>
                    <a:pt x="7085" y="64294"/>
                    <a:pt x="0" y="2381"/>
                  </a:cubicBezTo>
                  <a:lnTo>
                    <a:pt x="1532535" y="0"/>
                  </a:lnTo>
                  <a:cubicBezTo>
                    <a:pt x="1587362" y="0"/>
                    <a:pt x="1631808" y="44446"/>
                    <a:pt x="1631808" y="99273"/>
                  </a:cubicBezTo>
                  <a:lnTo>
                    <a:pt x="1631808" y="496352"/>
                  </a:lnTo>
                  <a:cubicBezTo>
                    <a:pt x="1631808" y="551179"/>
                    <a:pt x="1587362" y="595625"/>
                    <a:pt x="1532535" y="595625"/>
                  </a:cubicBezTo>
                  <a:lnTo>
                    <a:pt x="161925" y="595625"/>
                  </a:lnTo>
                  <a:cubicBezTo>
                    <a:pt x="107098" y="595625"/>
                    <a:pt x="62652" y="551179"/>
                    <a:pt x="62652" y="496352"/>
                  </a:cubicBezTo>
                  <a:lnTo>
                    <a:pt x="38840" y="13737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2000"/>
                </a:lnSpc>
                <a:spcAft>
                  <a:spcPts val="800"/>
                </a:spcAft>
              </a:pPr>
              <a:endParaRPr lang="pt-BR" sz="1200" dirty="0" err="1">
                <a:solidFill>
                  <a:schemeClr val="tx1"/>
                </a:solidFill>
                <a:latin typeface="Montserrat" panose="00000500000000000000" pitchFamily="2" charset="0"/>
                <a:ea typeface="Source Serif Pro" panose="02040603050405020204" pitchFamily="18" charset="0"/>
              </a:endParaRP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C59F105-F4B5-0FB3-25A3-0AB7110CD883}"/>
                </a:ext>
              </a:extLst>
            </p:cNvPr>
            <p:cNvGrpSpPr/>
            <p:nvPr/>
          </p:nvGrpSpPr>
          <p:grpSpPr>
            <a:xfrm>
              <a:off x="2792793" y="5423069"/>
              <a:ext cx="1222628" cy="336161"/>
              <a:chOff x="804898" y="5351245"/>
              <a:chExt cx="1222628" cy="336161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70180520-EA78-FD28-817B-EAB2E7110DF5}"/>
                  </a:ext>
                </a:extLst>
              </p:cNvPr>
              <p:cNvGrpSpPr/>
              <p:nvPr/>
            </p:nvGrpSpPr>
            <p:grpSpPr>
              <a:xfrm>
                <a:off x="804898" y="5351245"/>
                <a:ext cx="1222628" cy="120060"/>
                <a:chOff x="804898" y="5351245"/>
                <a:chExt cx="1222628" cy="120060"/>
              </a:xfrm>
            </p:grpSpPr>
            <p:sp>
              <p:nvSpPr>
                <p:cNvPr id="1116" name="Rectangle 1115">
                  <a:extLst>
                    <a:ext uri="{FF2B5EF4-FFF2-40B4-BE49-F238E27FC236}">
                      <a16:creationId xmlns:a16="http://schemas.microsoft.com/office/drawing/2014/main" id="{8AC15039-1F25-57C4-BB42-1293963B480B}"/>
                    </a:ext>
                  </a:extLst>
                </p:cNvPr>
                <p:cNvSpPr/>
                <p:nvPr/>
              </p:nvSpPr>
              <p:spPr>
                <a:xfrm>
                  <a:off x="804898" y="5359524"/>
                  <a:ext cx="231476" cy="111781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ctr"/>
                <a:lstStyle/>
                <a:p>
                  <a:pPr algn="ctr">
                    <a:lnSpc>
                      <a:spcPct val="112000"/>
                    </a:lnSpc>
                    <a:spcAft>
                      <a:spcPts val="800"/>
                    </a:spcAft>
                  </a:pPr>
                  <a:r>
                    <a:rPr lang="en-US" sz="600" b="1" dirty="0">
                      <a:solidFill>
                        <a:schemeClr val="bg1"/>
                      </a:solidFill>
                      <a:latin typeface="Montserrat" panose="00000500000000000000" pitchFamily="2" charset="0"/>
                      <a:ea typeface="Lato Light" panose="020F0502020204030203" pitchFamily="34" charset="0"/>
                      <a:cs typeface="Lato Light" panose="020F0502020204030203" pitchFamily="34" charset="0"/>
                    </a:rPr>
                    <a:t>#</a:t>
                  </a:r>
                </a:p>
              </p:txBody>
            </p:sp>
            <p:sp>
              <p:nvSpPr>
                <p:cNvPr id="1117" name="TextBox 1116">
                  <a:extLst>
                    <a:ext uri="{FF2B5EF4-FFF2-40B4-BE49-F238E27FC236}">
                      <a16:creationId xmlns:a16="http://schemas.microsoft.com/office/drawing/2014/main" id="{CBCBDA33-0844-3877-6309-EF4D9165E705}"/>
                    </a:ext>
                  </a:extLst>
                </p:cNvPr>
                <p:cNvSpPr txBox="1"/>
                <p:nvPr/>
              </p:nvSpPr>
              <p:spPr>
                <a:xfrm>
                  <a:off x="1027181" y="5351245"/>
                  <a:ext cx="1000345" cy="114944"/>
                </a:xfrm>
                <a:prstGeom prst="rect">
                  <a:avLst/>
                </a:prstGeom>
                <a:noFill/>
              </p:spPr>
              <p:txBody>
                <a:bodyPr wrap="square" lIns="72000" tIns="0" rIns="0" bIns="0" rtlCol="0" anchor="t">
                  <a:spAutoFit/>
                </a:bodyPr>
                <a:lstStyle/>
                <a:p>
                  <a:pPr algn="l">
                    <a:lnSpc>
                      <a:spcPct val="110000"/>
                    </a:lnSpc>
                    <a:spcAft>
                      <a:spcPts val="800"/>
                    </a:spcAft>
                  </a:pPr>
                  <a:r>
                    <a:rPr lang="pt-BR" sz="700" dirty="0">
                      <a:latin typeface="Montserrat Medium" pitchFamily="2" charset="0"/>
                    </a:rPr>
                    <a:t>Número de </a:t>
                  </a:r>
                  <a:r>
                    <a:rPr lang="pt-BR" sz="700" dirty="0" err="1">
                      <a:latin typeface="Montserrat Medium" pitchFamily="2" charset="0"/>
                    </a:rPr>
                    <a:t>PDV’s</a:t>
                  </a:r>
                  <a:endParaRPr lang="pt-BR" sz="700" dirty="0">
                    <a:latin typeface="Montserrat Medium" pitchFamily="2" charset="0"/>
                  </a:endParaRPr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83D104D5-E765-AE6E-36E8-3A23211E0737}"/>
                  </a:ext>
                </a:extLst>
              </p:cNvPr>
              <p:cNvGrpSpPr/>
              <p:nvPr/>
            </p:nvGrpSpPr>
            <p:grpSpPr>
              <a:xfrm>
                <a:off x="804898" y="5571234"/>
                <a:ext cx="1103438" cy="116172"/>
                <a:chOff x="804898" y="5547235"/>
                <a:chExt cx="1103438" cy="116172"/>
              </a:xfrm>
            </p:grpSpPr>
            <p:sp>
              <p:nvSpPr>
                <p:cNvPr id="1118" name="TextBox 1117">
                  <a:extLst>
                    <a:ext uri="{FF2B5EF4-FFF2-40B4-BE49-F238E27FC236}">
                      <a16:creationId xmlns:a16="http://schemas.microsoft.com/office/drawing/2014/main" id="{04413A4B-4FD3-96B3-9FF7-61F94F498E20}"/>
                    </a:ext>
                  </a:extLst>
                </p:cNvPr>
                <p:cNvSpPr txBox="1"/>
                <p:nvPr/>
              </p:nvSpPr>
              <p:spPr>
                <a:xfrm>
                  <a:off x="1028543" y="5547235"/>
                  <a:ext cx="879793" cy="111056"/>
                </a:xfrm>
                <a:prstGeom prst="rect">
                  <a:avLst/>
                </a:prstGeom>
                <a:noFill/>
              </p:spPr>
              <p:txBody>
                <a:bodyPr wrap="square" lIns="72000" tIns="0" rIns="0" bIns="0" rtlCol="0" anchor="t">
                  <a:spAutoFit/>
                </a:bodyPr>
                <a:lstStyle/>
                <a:p>
                  <a:pPr algn="l">
                    <a:lnSpc>
                      <a:spcPct val="110000"/>
                    </a:lnSpc>
                    <a:spcAft>
                      <a:spcPts val="800"/>
                    </a:spcAft>
                  </a:pPr>
                  <a:r>
                    <a:rPr lang="pt-BR" sz="700" dirty="0">
                      <a:latin typeface="Montserrat Medium" pitchFamily="2" charset="0"/>
                    </a:rPr>
                    <a:t>% das Vendas</a:t>
                  </a:r>
                </a:p>
              </p:txBody>
            </p:sp>
            <p:sp>
              <p:nvSpPr>
                <p:cNvPr id="1119" name="Rectangle 1118">
                  <a:extLst>
                    <a:ext uri="{FF2B5EF4-FFF2-40B4-BE49-F238E27FC236}">
                      <a16:creationId xmlns:a16="http://schemas.microsoft.com/office/drawing/2014/main" id="{C79854AB-02D8-40D4-3F81-D4BB2BD4C361}"/>
                    </a:ext>
                  </a:extLst>
                </p:cNvPr>
                <p:cNvSpPr/>
                <p:nvPr/>
              </p:nvSpPr>
              <p:spPr>
                <a:xfrm>
                  <a:off x="804898" y="5555407"/>
                  <a:ext cx="223646" cy="108000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ctr"/>
                <a:lstStyle/>
                <a:p>
                  <a:pPr algn="ctr">
                    <a:lnSpc>
                      <a:spcPct val="112000"/>
                    </a:lnSpc>
                    <a:spcAft>
                      <a:spcPts val="800"/>
                    </a:spcAft>
                  </a:pPr>
                  <a:r>
                    <a:rPr lang="en-US" sz="600" b="1" dirty="0">
                      <a:solidFill>
                        <a:schemeClr val="bg1"/>
                      </a:solidFill>
                      <a:latin typeface="Montserrat" panose="00000500000000000000" pitchFamily="2" charset="0"/>
                      <a:ea typeface="Lato Light" panose="020F0502020204030203" pitchFamily="34" charset="0"/>
                      <a:cs typeface="Lato Light" panose="020F0502020204030203" pitchFamily="34" charset="0"/>
                    </a:rPr>
                    <a:t>%</a:t>
                  </a:r>
                </a:p>
              </p:txBody>
            </p:sp>
          </p:grpSp>
        </p:grpSp>
      </p:grpSp>
      <p:grpSp>
        <p:nvGrpSpPr>
          <p:cNvPr id="7270" name="Group 7269">
            <a:extLst>
              <a:ext uri="{FF2B5EF4-FFF2-40B4-BE49-F238E27FC236}">
                <a16:creationId xmlns:a16="http://schemas.microsoft.com/office/drawing/2014/main" id="{649E8E89-DB45-5787-6224-E15EF60D876F}"/>
              </a:ext>
            </a:extLst>
          </p:cNvPr>
          <p:cNvGrpSpPr/>
          <p:nvPr/>
        </p:nvGrpSpPr>
        <p:grpSpPr>
          <a:xfrm>
            <a:off x="6125641" y="4473740"/>
            <a:ext cx="1684234" cy="250700"/>
            <a:chOff x="5955358" y="4472239"/>
            <a:chExt cx="1684234" cy="250700"/>
          </a:xfrm>
        </p:grpSpPr>
        <p:pic>
          <p:nvPicPr>
            <p:cNvPr id="7372" name="Picture 22" descr="LOJAS AMERICANAS | Iguatemi Campinas">
              <a:extLst>
                <a:ext uri="{FF2B5EF4-FFF2-40B4-BE49-F238E27FC236}">
                  <a16:creationId xmlns:a16="http://schemas.microsoft.com/office/drawing/2014/main" id="{B7C8C763-4039-1103-1B78-C0687ED61F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684" b="34684"/>
            <a:stretch/>
          </p:blipFill>
          <p:spPr bwMode="auto">
            <a:xfrm>
              <a:off x="5955358" y="4485329"/>
              <a:ext cx="775675" cy="2376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362" name="Picture 2">
              <a:extLst>
                <a:ext uri="{FF2B5EF4-FFF2-40B4-BE49-F238E27FC236}">
                  <a16:creationId xmlns:a16="http://schemas.microsoft.com/office/drawing/2014/main" id="{3CFBECF9-B90F-25CB-671C-1788DF40C1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61158" y="4472239"/>
              <a:ext cx="678434" cy="2273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271" name="Group 7270">
            <a:extLst>
              <a:ext uri="{FF2B5EF4-FFF2-40B4-BE49-F238E27FC236}">
                <a16:creationId xmlns:a16="http://schemas.microsoft.com/office/drawing/2014/main" id="{EAEEEB25-D387-EED0-1DFA-7651857E3D36}"/>
              </a:ext>
            </a:extLst>
          </p:cNvPr>
          <p:cNvGrpSpPr/>
          <p:nvPr/>
        </p:nvGrpSpPr>
        <p:grpSpPr>
          <a:xfrm>
            <a:off x="6162862" y="4041980"/>
            <a:ext cx="1644112" cy="251405"/>
            <a:chOff x="5992579" y="3994955"/>
            <a:chExt cx="1644112" cy="251405"/>
          </a:xfrm>
        </p:grpSpPr>
        <p:pic>
          <p:nvPicPr>
            <p:cNvPr id="7367" name="Picture 12" descr="Carreiras Magazine Luiza - Vem Ser Feliz!">
              <a:extLst>
                <a:ext uri="{FF2B5EF4-FFF2-40B4-BE49-F238E27FC236}">
                  <a16:creationId xmlns:a16="http://schemas.microsoft.com/office/drawing/2014/main" id="{749DE2BF-AD3E-CC84-246C-49BF2711257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27" t="1" r="8227" b="-2"/>
            <a:stretch/>
          </p:blipFill>
          <p:spPr bwMode="auto">
            <a:xfrm>
              <a:off x="5992579" y="4016290"/>
              <a:ext cx="647908" cy="2300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369" name="Picture 16" descr="Drogaria São Paulo">
              <a:extLst>
                <a:ext uri="{FF2B5EF4-FFF2-40B4-BE49-F238E27FC236}">
                  <a16:creationId xmlns:a16="http://schemas.microsoft.com/office/drawing/2014/main" id="{03DAE926-507B-1624-691F-008E3308160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43" t="25555" r="6976" b="24689"/>
            <a:stretch/>
          </p:blipFill>
          <p:spPr bwMode="auto">
            <a:xfrm>
              <a:off x="6907473" y="3994955"/>
              <a:ext cx="729218" cy="2273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265" name="Group 7264">
            <a:extLst>
              <a:ext uri="{FF2B5EF4-FFF2-40B4-BE49-F238E27FC236}">
                <a16:creationId xmlns:a16="http://schemas.microsoft.com/office/drawing/2014/main" id="{15EFE417-10CA-B7AA-3448-9198E4C60213}"/>
              </a:ext>
            </a:extLst>
          </p:cNvPr>
          <p:cNvGrpSpPr/>
          <p:nvPr/>
        </p:nvGrpSpPr>
        <p:grpSpPr>
          <a:xfrm>
            <a:off x="4495535" y="5465389"/>
            <a:ext cx="3320664" cy="358449"/>
            <a:chOff x="4125183" y="5502752"/>
            <a:chExt cx="3396460" cy="366631"/>
          </a:xfrm>
        </p:grpSpPr>
        <p:pic>
          <p:nvPicPr>
            <p:cNvPr id="7363" name="Picture 4" descr="Ramavi Cosméticos | Ribeirão Prêto SP">
              <a:extLst>
                <a:ext uri="{FF2B5EF4-FFF2-40B4-BE49-F238E27FC236}">
                  <a16:creationId xmlns:a16="http://schemas.microsoft.com/office/drawing/2014/main" id="{D8FD9247-79F4-A284-CF3B-D7BB0ED04B5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57" t="20385" r="8457" b="25097"/>
            <a:stretch/>
          </p:blipFill>
          <p:spPr bwMode="auto">
            <a:xfrm>
              <a:off x="4680777" y="5547180"/>
              <a:ext cx="425225" cy="2777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365" name="Picture 8" descr="Sendas Comércio Exterior e Armazéns Gerais | LinkedIn">
              <a:extLst>
                <a:ext uri="{FF2B5EF4-FFF2-40B4-BE49-F238E27FC236}">
                  <a16:creationId xmlns:a16="http://schemas.microsoft.com/office/drawing/2014/main" id="{B0F7304A-3B84-CAC0-C8A5-CD38F44201E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841"/>
            <a:stretch/>
          </p:blipFill>
          <p:spPr bwMode="auto">
            <a:xfrm>
              <a:off x="6470260" y="5502752"/>
              <a:ext cx="425526" cy="3666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368" name="Picture 14" descr="Como é trabalhar na empresa Shopper.com.br | 99jobs.com">
              <a:extLst>
                <a:ext uri="{FF2B5EF4-FFF2-40B4-BE49-F238E27FC236}">
                  <a16:creationId xmlns:a16="http://schemas.microsoft.com/office/drawing/2014/main" id="{C3B86E6C-72EA-20ED-D3BB-6F8860CA0D8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803" b="28803"/>
            <a:stretch/>
          </p:blipFill>
          <p:spPr bwMode="auto">
            <a:xfrm>
              <a:off x="5194169" y="5555765"/>
              <a:ext cx="614732" cy="2606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370" name="Picture 18" descr="ProFarma (PFRM3) tem alta de 43% no lucro líquido">
              <a:extLst>
                <a:ext uri="{FF2B5EF4-FFF2-40B4-BE49-F238E27FC236}">
                  <a16:creationId xmlns:a16="http://schemas.microsoft.com/office/drawing/2014/main" id="{F08DFDA3-3756-B7DE-11FD-7D8E8A8898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27682" y="5516740"/>
              <a:ext cx="423797" cy="2383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415" name="Picture 10" descr="Centro de Distribuição da Nissei - GGR COVEPI Renda FII">
              <a:extLst>
                <a:ext uri="{FF2B5EF4-FFF2-40B4-BE49-F238E27FC236}">
                  <a16:creationId xmlns:a16="http://schemas.microsoft.com/office/drawing/2014/main" id="{A341F177-886D-6E0E-8F7B-DA7200B5372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81" t="10081" r="10081" b="10081"/>
            <a:stretch/>
          </p:blipFill>
          <p:spPr bwMode="auto">
            <a:xfrm>
              <a:off x="7014568" y="5559298"/>
              <a:ext cx="507075" cy="2535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416" name="Picture 18" descr="Lojas Lívia (@amigalivia) / X">
              <a:extLst>
                <a:ext uri="{FF2B5EF4-FFF2-40B4-BE49-F238E27FC236}">
                  <a16:creationId xmlns:a16="http://schemas.microsoft.com/office/drawing/2014/main" id="{700400FF-BF3B-DB3E-1D7B-FF76FB997C9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763" b="11763"/>
            <a:stretch/>
          </p:blipFill>
          <p:spPr bwMode="auto">
            <a:xfrm>
              <a:off x="4125183" y="5530751"/>
              <a:ext cx="406199" cy="3106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261" name="Group 7260">
            <a:extLst>
              <a:ext uri="{FF2B5EF4-FFF2-40B4-BE49-F238E27FC236}">
                <a16:creationId xmlns:a16="http://schemas.microsoft.com/office/drawing/2014/main" id="{501AF167-D3D0-6777-4F08-8F1FE06C92C1}"/>
              </a:ext>
            </a:extLst>
          </p:cNvPr>
          <p:cNvGrpSpPr/>
          <p:nvPr/>
        </p:nvGrpSpPr>
        <p:grpSpPr>
          <a:xfrm>
            <a:off x="4495535" y="4978382"/>
            <a:ext cx="3311645" cy="233065"/>
            <a:chOff x="4125183" y="5025050"/>
            <a:chExt cx="3387235" cy="238385"/>
          </a:xfrm>
        </p:grpSpPr>
        <p:pic>
          <p:nvPicPr>
            <p:cNvPr id="7364" name="Picture 6" descr="PROPAGANDA ENGANOSA - Fikbella Perfumaria - Reclame Aqui">
              <a:extLst>
                <a:ext uri="{FF2B5EF4-FFF2-40B4-BE49-F238E27FC236}">
                  <a16:creationId xmlns:a16="http://schemas.microsoft.com/office/drawing/2014/main" id="{4FBA142F-3FC5-C8C2-B856-EC912C2CA88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145" b="28145"/>
            <a:stretch/>
          </p:blipFill>
          <p:spPr bwMode="auto">
            <a:xfrm>
              <a:off x="6181145" y="5033076"/>
              <a:ext cx="508659" cy="222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366" name="Picture 10" descr="Atacadão Dia a Dia - ABAAS">
              <a:extLst>
                <a:ext uri="{FF2B5EF4-FFF2-40B4-BE49-F238E27FC236}">
                  <a16:creationId xmlns:a16="http://schemas.microsoft.com/office/drawing/2014/main" id="{B0B098FA-9F45-1FC7-9C22-C8192ADE7A8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590" b="26590"/>
            <a:stretch/>
          </p:blipFill>
          <p:spPr bwMode="auto">
            <a:xfrm>
              <a:off x="4125183" y="5030611"/>
              <a:ext cx="485387" cy="2272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371" name="Picture 20" descr="Drogarias Pacheco inaugura loja ecológica em Paraty">
              <a:extLst>
                <a:ext uri="{FF2B5EF4-FFF2-40B4-BE49-F238E27FC236}">
                  <a16:creationId xmlns:a16="http://schemas.microsoft.com/office/drawing/2014/main" id="{0A66B38E-E2A5-E3DC-BA26-8E7DF7F078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82411" y="5076320"/>
              <a:ext cx="543376" cy="1358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31" descr="A black background with pink text&#10;&#10;Description automatically generated">
              <a:extLst>
                <a:ext uri="{FF2B5EF4-FFF2-40B4-BE49-F238E27FC236}">
                  <a16:creationId xmlns:a16="http://schemas.microsoft.com/office/drawing/2014/main" id="{79D4B18D-0F89-4794-1602-E66D4F9595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0614" b="30614"/>
            <a:stretch/>
          </p:blipFill>
          <p:spPr>
            <a:xfrm>
              <a:off x="5469981" y="5045049"/>
              <a:ext cx="566969" cy="198386"/>
            </a:xfrm>
            <a:prstGeom prst="rect">
              <a:avLst/>
            </a:prstGeom>
          </p:spPr>
        </p:pic>
        <p:pic>
          <p:nvPicPr>
            <p:cNvPr id="34" name="Picture 33" descr="A logo for a beauty brand&#10;&#10;Description automatically generated">
              <a:extLst>
                <a:ext uri="{FF2B5EF4-FFF2-40B4-BE49-F238E27FC236}">
                  <a16:creationId xmlns:a16="http://schemas.microsoft.com/office/drawing/2014/main" id="{A42589C3-F918-44DF-A914-DC29FB9C1F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695" b="20695"/>
            <a:stretch/>
          </p:blipFill>
          <p:spPr>
            <a:xfrm>
              <a:off x="6861645" y="5025050"/>
              <a:ext cx="650773" cy="238385"/>
            </a:xfrm>
            <a:prstGeom prst="rect">
              <a:avLst/>
            </a:prstGeom>
          </p:spPr>
        </p:pic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E803DD8-8CB8-4178-EF1F-19AAFD2882E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15397" y="6148647"/>
            <a:ext cx="9275946" cy="111056"/>
          </a:xfrm>
        </p:spPr>
        <p:txBody>
          <a:bodyPr/>
          <a:lstStyle/>
          <a:p>
            <a:r>
              <a:rPr lang="pt-BR"/>
              <a:t>Fonte: IBGE, Companhia</a:t>
            </a:r>
            <a:endParaRPr lang="pt-BR" dirty="0"/>
          </a:p>
        </p:txBody>
      </p:sp>
      <p:sp>
        <p:nvSpPr>
          <p:cNvPr id="1080" name="Title 1">
            <a:extLst>
              <a:ext uri="{FF2B5EF4-FFF2-40B4-BE49-F238E27FC236}">
                <a16:creationId xmlns:a16="http://schemas.microsoft.com/office/drawing/2014/main" id="{744E0C22-70C0-1732-00B9-2B16C7D9E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pt-BR" sz="1800" dirty="0"/>
              <a:t>Com ampla distribuição, a </a:t>
            </a:r>
            <a:r>
              <a:rPr lang="pt-BR" sz="1800" dirty="0" err="1"/>
              <a:t>Biocap</a:t>
            </a:r>
            <a:r>
              <a:rPr lang="pt-BR" sz="1800" dirty="0"/>
              <a:t> atende todo território brasileiro</a:t>
            </a:r>
          </a:p>
        </p:txBody>
      </p:sp>
      <p:sp>
        <p:nvSpPr>
          <p:cNvPr id="1081" name="Content Placeholder 39">
            <a:extLst>
              <a:ext uri="{FF2B5EF4-FFF2-40B4-BE49-F238E27FC236}">
                <a16:creationId xmlns:a16="http://schemas.microsoft.com/office/drawing/2014/main" id="{B9D975F1-5BA6-B96F-05FD-FBEFC51DB81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0" tIns="36000" rIns="0" bIns="0" rtlCol="0">
            <a:spAutoFit/>
          </a:bodyPr>
          <a:lstStyle/>
          <a:p>
            <a:r>
              <a:rPr lang="pt-BR" sz="1050" dirty="0">
                <a:latin typeface="Montserrat Light" pitchFamily="2" charset="0"/>
              </a:rPr>
              <a:t>A </a:t>
            </a:r>
            <a:r>
              <a:rPr lang="pt-BR" sz="1050" dirty="0" err="1">
                <a:latin typeface="Montserrat Light" pitchFamily="2" charset="0"/>
              </a:rPr>
              <a:t>Biocap</a:t>
            </a:r>
            <a:r>
              <a:rPr lang="pt-BR" sz="1050" dirty="0">
                <a:latin typeface="Montserrat Light" pitchFamily="2" charset="0"/>
              </a:rPr>
              <a:t> está presente em todos os canais de venda, com XXX </a:t>
            </a:r>
            <a:r>
              <a:rPr lang="pt-BR" sz="1050" dirty="0" err="1">
                <a:latin typeface="Montserrat Light" pitchFamily="2" charset="0"/>
              </a:rPr>
              <a:t>PDVs</a:t>
            </a:r>
            <a:r>
              <a:rPr lang="pt-BR" sz="1050" dirty="0">
                <a:latin typeface="Montserrat Light" pitchFamily="2" charset="0"/>
              </a:rPr>
              <a:t> em todo o Brasil, oferecendo uma vantagem competitiva significativa para a Companhia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48F043C-4ED5-A5F6-F20B-71BE1D512788}"/>
              </a:ext>
            </a:extLst>
          </p:cNvPr>
          <p:cNvGrpSpPr/>
          <p:nvPr/>
        </p:nvGrpSpPr>
        <p:grpSpPr>
          <a:xfrm>
            <a:off x="221624" y="1372350"/>
            <a:ext cx="4429648" cy="4440981"/>
            <a:chOff x="1369293" y="1446085"/>
            <a:chExt cx="4539900" cy="455151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1A8EE7F-C883-88C6-EA96-240D0AA150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69293" y="1446085"/>
              <a:ext cx="4539900" cy="4551513"/>
              <a:chOff x="1391" y="505"/>
              <a:chExt cx="3444" cy="3453"/>
            </a:xfrm>
            <a:solidFill>
              <a:schemeClr val="accent4"/>
            </a:solidFill>
            <a:effectLst/>
          </p:grpSpPr>
          <p:sp>
            <p:nvSpPr>
              <p:cNvPr id="5" name="Freeform 4">
                <a:extLst>
                  <a:ext uri="{FF2B5EF4-FFF2-40B4-BE49-F238E27FC236}">
                    <a16:creationId xmlns:a16="http://schemas.microsoft.com/office/drawing/2014/main" id="{F2C30A7C-3293-69E6-0B9A-0D868275A49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273" y="2075"/>
                <a:ext cx="283" cy="119"/>
              </a:xfrm>
              <a:custGeom>
                <a:avLst/>
                <a:gdLst/>
                <a:ahLst/>
                <a:cxnLst>
                  <a:cxn ang="0">
                    <a:pos x="283" y="119"/>
                  </a:cxn>
                  <a:cxn ang="0">
                    <a:pos x="277" y="112"/>
                  </a:cxn>
                  <a:cxn ang="0">
                    <a:pos x="268" y="105"/>
                  </a:cxn>
                  <a:cxn ang="0">
                    <a:pos x="260" y="105"/>
                  </a:cxn>
                  <a:cxn ang="0">
                    <a:pos x="253" y="104"/>
                  </a:cxn>
                  <a:cxn ang="0">
                    <a:pos x="248" y="97"/>
                  </a:cxn>
                  <a:cxn ang="0">
                    <a:pos x="184" y="97"/>
                  </a:cxn>
                  <a:cxn ang="0">
                    <a:pos x="179" y="89"/>
                  </a:cxn>
                  <a:cxn ang="0">
                    <a:pos x="175" y="85"/>
                  </a:cxn>
                  <a:cxn ang="0">
                    <a:pos x="171" y="81"/>
                  </a:cxn>
                  <a:cxn ang="0">
                    <a:pos x="163" y="62"/>
                  </a:cxn>
                  <a:cxn ang="0">
                    <a:pos x="151" y="61"/>
                  </a:cxn>
                  <a:cxn ang="0">
                    <a:pos x="140" y="61"/>
                  </a:cxn>
                  <a:cxn ang="0">
                    <a:pos x="139" y="56"/>
                  </a:cxn>
                  <a:cxn ang="0">
                    <a:pos x="136" y="52"/>
                  </a:cxn>
                  <a:cxn ang="0">
                    <a:pos x="132" y="50"/>
                  </a:cxn>
                  <a:cxn ang="0">
                    <a:pos x="128" y="47"/>
                  </a:cxn>
                  <a:cxn ang="0">
                    <a:pos x="120" y="46"/>
                  </a:cxn>
                  <a:cxn ang="0">
                    <a:pos x="113" y="44"/>
                  </a:cxn>
                  <a:cxn ang="0">
                    <a:pos x="106" y="44"/>
                  </a:cxn>
                  <a:cxn ang="0">
                    <a:pos x="98" y="44"/>
                  </a:cxn>
                  <a:cxn ang="0">
                    <a:pos x="95" y="38"/>
                  </a:cxn>
                  <a:cxn ang="0">
                    <a:pos x="85" y="34"/>
                  </a:cxn>
                  <a:cxn ang="0">
                    <a:pos x="80" y="30"/>
                  </a:cxn>
                  <a:cxn ang="0">
                    <a:pos x="76" y="24"/>
                  </a:cxn>
                  <a:cxn ang="0">
                    <a:pos x="72" y="21"/>
                  </a:cxn>
                  <a:cxn ang="0">
                    <a:pos x="71" y="17"/>
                  </a:cxn>
                  <a:cxn ang="0">
                    <a:pos x="63" y="13"/>
                  </a:cxn>
                  <a:cxn ang="0">
                    <a:pos x="56" y="16"/>
                  </a:cxn>
                  <a:cxn ang="0">
                    <a:pos x="51" y="19"/>
                  </a:cxn>
                  <a:cxn ang="0">
                    <a:pos x="48" y="23"/>
                  </a:cxn>
                  <a:cxn ang="0">
                    <a:pos x="40" y="19"/>
                  </a:cxn>
                  <a:cxn ang="0">
                    <a:pos x="40" y="11"/>
                  </a:cxn>
                  <a:cxn ang="0">
                    <a:pos x="36" y="7"/>
                  </a:cxn>
                  <a:cxn ang="0">
                    <a:pos x="29" y="3"/>
                  </a:cxn>
                  <a:cxn ang="0">
                    <a:pos x="20" y="0"/>
                  </a:cxn>
                  <a:cxn ang="0">
                    <a:pos x="13" y="3"/>
                  </a:cxn>
                  <a:cxn ang="0">
                    <a:pos x="1" y="7"/>
                  </a:cxn>
                  <a:cxn ang="0">
                    <a:pos x="0" y="15"/>
                  </a:cxn>
                </a:cxnLst>
                <a:rect l="0" t="0" r="r" b="b"/>
                <a:pathLst>
                  <a:path w="283" h="119">
                    <a:moveTo>
                      <a:pt x="283" y="119"/>
                    </a:moveTo>
                    <a:lnTo>
                      <a:pt x="277" y="112"/>
                    </a:lnTo>
                    <a:lnTo>
                      <a:pt x="268" y="105"/>
                    </a:lnTo>
                    <a:lnTo>
                      <a:pt x="260" y="105"/>
                    </a:lnTo>
                    <a:lnTo>
                      <a:pt x="253" y="104"/>
                    </a:lnTo>
                    <a:lnTo>
                      <a:pt x="248" y="97"/>
                    </a:lnTo>
                    <a:lnTo>
                      <a:pt x="184" y="97"/>
                    </a:lnTo>
                    <a:lnTo>
                      <a:pt x="179" y="89"/>
                    </a:lnTo>
                    <a:lnTo>
                      <a:pt x="175" y="85"/>
                    </a:lnTo>
                    <a:lnTo>
                      <a:pt x="171" y="81"/>
                    </a:lnTo>
                    <a:lnTo>
                      <a:pt x="163" y="62"/>
                    </a:lnTo>
                    <a:lnTo>
                      <a:pt x="151" y="61"/>
                    </a:lnTo>
                    <a:lnTo>
                      <a:pt x="140" y="61"/>
                    </a:lnTo>
                    <a:lnTo>
                      <a:pt x="139" y="56"/>
                    </a:lnTo>
                    <a:lnTo>
                      <a:pt x="136" y="52"/>
                    </a:lnTo>
                    <a:lnTo>
                      <a:pt x="132" y="50"/>
                    </a:lnTo>
                    <a:lnTo>
                      <a:pt x="128" y="47"/>
                    </a:lnTo>
                    <a:lnTo>
                      <a:pt x="120" y="46"/>
                    </a:lnTo>
                    <a:lnTo>
                      <a:pt x="113" y="44"/>
                    </a:lnTo>
                    <a:lnTo>
                      <a:pt x="106" y="44"/>
                    </a:lnTo>
                    <a:lnTo>
                      <a:pt x="98" y="44"/>
                    </a:lnTo>
                    <a:lnTo>
                      <a:pt x="95" y="38"/>
                    </a:lnTo>
                    <a:lnTo>
                      <a:pt x="85" y="34"/>
                    </a:lnTo>
                    <a:lnTo>
                      <a:pt x="80" y="30"/>
                    </a:lnTo>
                    <a:lnTo>
                      <a:pt x="76" y="24"/>
                    </a:lnTo>
                    <a:lnTo>
                      <a:pt x="72" y="21"/>
                    </a:lnTo>
                    <a:lnTo>
                      <a:pt x="71" y="17"/>
                    </a:lnTo>
                    <a:lnTo>
                      <a:pt x="63" y="13"/>
                    </a:lnTo>
                    <a:lnTo>
                      <a:pt x="56" y="16"/>
                    </a:lnTo>
                    <a:lnTo>
                      <a:pt x="51" y="19"/>
                    </a:lnTo>
                    <a:lnTo>
                      <a:pt x="48" y="23"/>
                    </a:lnTo>
                    <a:lnTo>
                      <a:pt x="40" y="19"/>
                    </a:lnTo>
                    <a:lnTo>
                      <a:pt x="40" y="11"/>
                    </a:lnTo>
                    <a:lnTo>
                      <a:pt x="36" y="7"/>
                    </a:lnTo>
                    <a:lnTo>
                      <a:pt x="29" y="3"/>
                    </a:lnTo>
                    <a:lnTo>
                      <a:pt x="20" y="0"/>
                    </a:lnTo>
                    <a:lnTo>
                      <a:pt x="13" y="3"/>
                    </a:lnTo>
                    <a:lnTo>
                      <a:pt x="1" y="7"/>
                    </a:lnTo>
                    <a:lnTo>
                      <a:pt x="0" y="15"/>
                    </a:lnTo>
                  </a:path>
                </a:pathLst>
              </a:custGeom>
              <a:solidFill>
                <a:srgbClr val="F0D1DF"/>
              </a:solidFill>
              <a:ln w="6350" cmpd="sng">
                <a:solidFill>
                  <a:srgbClr val="F0D1D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 sz="1200">
                  <a:latin typeface="Source Serif Pro" panose="02040603050405020204" pitchFamily="18" charset="0"/>
                  <a:ea typeface="Source Serif Pro" panose="02040603050405020204" pitchFamily="18" charset="0"/>
                </a:endParaRPr>
              </a:p>
            </p:txBody>
          </p:sp>
          <p:sp>
            <p:nvSpPr>
              <p:cNvPr id="8" name="Freeform 5">
                <a:extLst>
                  <a:ext uri="{FF2B5EF4-FFF2-40B4-BE49-F238E27FC236}">
                    <a16:creationId xmlns:a16="http://schemas.microsoft.com/office/drawing/2014/main" id="{69505DD2-090F-3BF3-9F86-98175BE366C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391" y="505"/>
                <a:ext cx="2468" cy="1693"/>
              </a:xfrm>
              <a:custGeom>
                <a:avLst/>
                <a:gdLst/>
                <a:ahLst/>
                <a:cxnLst>
                  <a:cxn ang="0">
                    <a:pos x="1010" y="1620"/>
                  </a:cxn>
                  <a:cxn ang="0">
                    <a:pos x="884" y="1588"/>
                  </a:cxn>
                  <a:cxn ang="0">
                    <a:pos x="758" y="1350"/>
                  </a:cxn>
                  <a:cxn ang="0">
                    <a:pos x="616" y="1395"/>
                  </a:cxn>
                  <a:cxn ang="0">
                    <a:pos x="502" y="1472"/>
                  </a:cxn>
                  <a:cxn ang="0">
                    <a:pos x="330" y="1469"/>
                  </a:cxn>
                  <a:cxn ang="0">
                    <a:pos x="158" y="1387"/>
                  </a:cxn>
                  <a:cxn ang="0">
                    <a:pos x="54" y="1273"/>
                  </a:cxn>
                  <a:cxn ang="0">
                    <a:pos x="0" y="1179"/>
                  </a:cxn>
                  <a:cxn ang="0">
                    <a:pos x="58" y="1064"/>
                  </a:cxn>
                  <a:cxn ang="0">
                    <a:pos x="108" y="939"/>
                  </a:cxn>
                  <a:cxn ang="0">
                    <a:pos x="233" y="887"/>
                  </a:cxn>
                  <a:cxn ang="0">
                    <a:pos x="341" y="874"/>
                  </a:cxn>
                  <a:cxn ang="0">
                    <a:pos x="383" y="624"/>
                  </a:cxn>
                  <a:cxn ang="0">
                    <a:pos x="330" y="523"/>
                  </a:cxn>
                  <a:cxn ang="0">
                    <a:pos x="391" y="440"/>
                  </a:cxn>
                  <a:cxn ang="0">
                    <a:pos x="533" y="321"/>
                  </a:cxn>
                  <a:cxn ang="0">
                    <a:pos x="742" y="394"/>
                  </a:cxn>
                  <a:cxn ang="0">
                    <a:pos x="851" y="328"/>
                  </a:cxn>
                  <a:cxn ang="0">
                    <a:pos x="874" y="268"/>
                  </a:cxn>
                  <a:cxn ang="0">
                    <a:pos x="840" y="145"/>
                  </a:cxn>
                  <a:cxn ang="0">
                    <a:pos x="962" y="147"/>
                  </a:cxn>
                  <a:cxn ang="0">
                    <a:pos x="1047" y="110"/>
                  </a:cxn>
                  <a:cxn ang="0">
                    <a:pos x="1157" y="27"/>
                  </a:cxn>
                  <a:cxn ang="0">
                    <a:pos x="1207" y="52"/>
                  </a:cxn>
                  <a:cxn ang="0">
                    <a:pos x="1242" y="148"/>
                  </a:cxn>
                  <a:cxn ang="0">
                    <a:pos x="1280" y="322"/>
                  </a:cxn>
                  <a:cxn ang="0">
                    <a:pos x="1392" y="333"/>
                  </a:cxn>
                  <a:cxn ang="0">
                    <a:pos x="1585" y="309"/>
                  </a:cxn>
                  <a:cxn ang="0">
                    <a:pos x="1666" y="263"/>
                  </a:cxn>
                  <a:cxn ang="0">
                    <a:pos x="1858" y="290"/>
                  </a:cxn>
                  <a:cxn ang="0">
                    <a:pos x="1928" y="159"/>
                  </a:cxn>
                  <a:cxn ang="0">
                    <a:pos x="2029" y="175"/>
                  </a:cxn>
                  <a:cxn ang="0">
                    <a:pos x="2066" y="305"/>
                  </a:cxn>
                  <a:cxn ang="0">
                    <a:pos x="2110" y="407"/>
                  </a:cxn>
                  <a:cxn ang="0">
                    <a:pos x="1997" y="506"/>
                  </a:cxn>
                  <a:cxn ang="0">
                    <a:pos x="1941" y="600"/>
                  </a:cxn>
                  <a:cxn ang="0">
                    <a:pos x="2051" y="676"/>
                  </a:cxn>
                  <a:cxn ang="0">
                    <a:pos x="2230" y="653"/>
                  </a:cxn>
                  <a:cxn ang="0">
                    <a:pos x="2268" y="589"/>
                  </a:cxn>
                  <a:cxn ang="0">
                    <a:pos x="2450" y="599"/>
                  </a:cxn>
                  <a:cxn ang="0">
                    <a:pos x="2422" y="743"/>
                  </a:cxn>
                  <a:cxn ang="0">
                    <a:pos x="2346" y="881"/>
                  </a:cxn>
                  <a:cxn ang="0">
                    <a:pos x="2307" y="974"/>
                  </a:cxn>
                  <a:cxn ang="0">
                    <a:pos x="2316" y="1118"/>
                  </a:cxn>
                  <a:cxn ang="0">
                    <a:pos x="2385" y="1207"/>
                  </a:cxn>
                  <a:cxn ang="0">
                    <a:pos x="2392" y="1335"/>
                  </a:cxn>
                  <a:cxn ang="0">
                    <a:pos x="2461" y="1420"/>
                  </a:cxn>
                  <a:cxn ang="0">
                    <a:pos x="2438" y="1527"/>
                  </a:cxn>
                  <a:cxn ang="0">
                    <a:pos x="2420" y="1644"/>
                  </a:cxn>
                  <a:cxn ang="0">
                    <a:pos x="2314" y="1689"/>
                  </a:cxn>
                  <a:cxn ang="0">
                    <a:pos x="2207" y="1656"/>
                  </a:cxn>
                  <a:cxn ang="0">
                    <a:pos x="2140" y="1589"/>
                  </a:cxn>
                  <a:cxn ang="0">
                    <a:pos x="2041" y="1574"/>
                  </a:cxn>
                  <a:cxn ang="0">
                    <a:pos x="2061" y="1431"/>
                  </a:cxn>
                  <a:cxn ang="0">
                    <a:pos x="1472" y="1261"/>
                  </a:cxn>
                  <a:cxn ang="0">
                    <a:pos x="1376" y="1167"/>
                  </a:cxn>
                  <a:cxn ang="0">
                    <a:pos x="1116" y="1319"/>
                  </a:cxn>
                  <a:cxn ang="0">
                    <a:pos x="1161" y="1442"/>
                  </a:cxn>
                  <a:cxn ang="0">
                    <a:pos x="1234" y="1530"/>
                  </a:cxn>
                  <a:cxn ang="0">
                    <a:pos x="1184" y="1666"/>
                  </a:cxn>
                </a:cxnLst>
                <a:rect l="0" t="0" r="r" b="b"/>
                <a:pathLst>
                  <a:path w="2473" h="1696">
                    <a:moveTo>
                      <a:pt x="1167" y="1692"/>
                    </a:moveTo>
                    <a:lnTo>
                      <a:pt x="1161" y="1685"/>
                    </a:lnTo>
                    <a:lnTo>
                      <a:pt x="1159" y="1682"/>
                    </a:lnTo>
                    <a:lnTo>
                      <a:pt x="1153" y="1679"/>
                    </a:lnTo>
                    <a:lnTo>
                      <a:pt x="1149" y="1678"/>
                    </a:lnTo>
                    <a:lnTo>
                      <a:pt x="1143" y="1677"/>
                    </a:lnTo>
                    <a:lnTo>
                      <a:pt x="1137" y="1677"/>
                    </a:lnTo>
                    <a:lnTo>
                      <a:pt x="1132" y="1670"/>
                    </a:lnTo>
                    <a:lnTo>
                      <a:pt x="1068" y="1670"/>
                    </a:lnTo>
                    <a:lnTo>
                      <a:pt x="1066" y="1666"/>
                    </a:lnTo>
                    <a:lnTo>
                      <a:pt x="1063" y="1663"/>
                    </a:lnTo>
                    <a:lnTo>
                      <a:pt x="1058" y="1656"/>
                    </a:lnTo>
                    <a:lnTo>
                      <a:pt x="1055" y="1654"/>
                    </a:lnTo>
                    <a:lnTo>
                      <a:pt x="1047" y="1635"/>
                    </a:lnTo>
                    <a:lnTo>
                      <a:pt x="1037" y="1634"/>
                    </a:lnTo>
                    <a:lnTo>
                      <a:pt x="1029" y="1632"/>
                    </a:lnTo>
                    <a:lnTo>
                      <a:pt x="1025" y="1632"/>
                    </a:lnTo>
                    <a:lnTo>
                      <a:pt x="1021" y="1628"/>
                    </a:lnTo>
                    <a:lnTo>
                      <a:pt x="1018" y="1624"/>
                    </a:lnTo>
                    <a:lnTo>
                      <a:pt x="1014" y="1621"/>
                    </a:lnTo>
                    <a:lnTo>
                      <a:pt x="1010" y="1620"/>
                    </a:lnTo>
                    <a:lnTo>
                      <a:pt x="1005" y="1619"/>
                    </a:lnTo>
                    <a:lnTo>
                      <a:pt x="998" y="1617"/>
                    </a:lnTo>
                    <a:lnTo>
                      <a:pt x="990" y="1616"/>
                    </a:lnTo>
                    <a:lnTo>
                      <a:pt x="983" y="1616"/>
                    </a:lnTo>
                    <a:lnTo>
                      <a:pt x="979" y="1611"/>
                    </a:lnTo>
                    <a:lnTo>
                      <a:pt x="970" y="1608"/>
                    </a:lnTo>
                    <a:lnTo>
                      <a:pt x="962" y="1600"/>
                    </a:lnTo>
                    <a:lnTo>
                      <a:pt x="959" y="1596"/>
                    </a:lnTo>
                    <a:lnTo>
                      <a:pt x="956" y="1592"/>
                    </a:lnTo>
                    <a:lnTo>
                      <a:pt x="946" y="1586"/>
                    </a:lnTo>
                    <a:lnTo>
                      <a:pt x="939" y="1589"/>
                    </a:lnTo>
                    <a:lnTo>
                      <a:pt x="935" y="1593"/>
                    </a:lnTo>
                    <a:lnTo>
                      <a:pt x="932" y="1596"/>
                    </a:lnTo>
                    <a:lnTo>
                      <a:pt x="924" y="1592"/>
                    </a:lnTo>
                    <a:lnTo>
                      <a:pt x="924" y="1582"/>
                    </a:lnTo>
                    <a:lnTo>
                      <a:pt x="917" y="1577"/>
                    </a:lnTo>
                    <a:lnTo>
                      <a:pt x="906" y="1574"/>
                    </a:lnTo>
                    <a:lnTo>
                      <a:pt x="904" y="1573"/>
                    </a:lnTo>
                    <a:lnTo>
                      <a:pt x="894" y="1577"/>
                    </a:lnTo>
                    <a:lnTo>
                      <a:pt x="885" y="1580"/>
                    </a:lnTo>
                    <a:lnTo>
                      <a:pt x="884" y="1588"/>
                    </a:lnTo>
                    <a:lnTo>
                      <a:pt x="853" y="1586"/>
                    </a:lnTo>
                    <a:lnTo>
                      <a:pt x="843" y="1577"/>
                    </a:lnTo>
                    <a:lnTo>
                      <a:pt x="836" y="1566"/>
                    </a:lnTo>
                    <a:lnTo>
                      <a:pt x="826" y="1559"/>
                    </a:lnTo>
                    <a:lnTo>
                      <a:pt x="816" y="1549"/>
                    </a:lnTo>
                    <a:lnTo>
                      <a:pt x="794" y="1543"/>
                    </a:lnTo>
                    <a:lnTo>
                      <a:pt x="790" y="1534"/>
                    </a:lnTo>
                    <a:lnTo>
                      <a:pt x="776" y="1519"/>
                    </a:lnTo>
                    <a:lnTo>
                      <a:pt x="777" y="1511"/>
                    </a:lnTo>
                    <a:lnTo>
                      <a:pt x="762" y="1496"/>
                    </a:lnTo>
                    <a:lnTo>
                      <a:pt x="762" y="1447"/>
                    </a:lnTo>
                    <a:lnTo>
                      <a:pt x="754" y="1438"/>
                    </a:lnTo>
                    <a:lnTo>
                      <a:pt x="751" y="1418"/>
                    </a:lnTo>
                    <a:lnTo>
                      <a:pt x="745" y="1410"/>
                    </a:lnTo>
                    <a:lnTo>
                      <a:pt x="759" y="1391"/>
                    </a:lnTo>
                    <a:lnTo>
                      <a:pt x="758" y="1380"/>
                    </a:lnTo>
                    <a:lnTo>
                      <a:pt x="758" y="1373"/>
                    </a:lnTo>
                    <a:lnTo>
                      <a:pt x="757" y="1366"/>
                    </a:lnTo>
                    <a:lnTo>
                      <a:pt x="757" y="1362"/>
                    </a:lnTo>
                    <a:lnTo>
                      <a:pt x="757" y="1357"/>
                    </a:lnTo>
                    <a:lnTo>
                      <a:pt x="758" y="1350"/>
                    </a:lnTo>
                    <a:lnTo>
                      <a:pt x="758" y="1343"/>
                    </a:lnTo>
                    <a:lnTo>
                      <a:pt x="761" y="1338"/>
                    </a:lnTo>
                    <a:lnTo>
                      <a:pt x="750" y="1330"/>
                    </a:lnTo>
                    <a:lnTo>
                      <a:pt x="743" y="1338"/>
                    </a:lnTo>
                    <a:lnTo>
                      <a:pt x="742" y="1348"/>
                    </a:lnTo>
                    <a:lnTo>
                      <a:pt x="732" y="1348"/>
                    </a:lnTo>
                    <a:lnTo>
                      <a:pt x="724" y="1337"/>
                    </a:lnTo>
                    <a:lnTo>
                      <a:pt x="715" y="1343"/>
                    </a:lnTo>
                    <a:lnTo>
                      <a:pt x="704" y="1342"/>
                    </a:lnTo>
                    <a:lnTo>
                      <a:pt x="692" y="1348"/>
                    </a:lnTo>
                    <a:lnTo>
                      <a:pt x="678" y="1346"/>
                    </a:lnTo>
                    <a:lnTo>
                      <a:pt x="672" y="1353"/>
                    </a:lnTo>
                    <a:lnTo>
                      <a:pt x="660" y="1354"/>
                    </a:lnTo>
                    <a:lnTo>
                      <a:pt x="654" y="1361"/>
                    </a:lnTo>
                    <a:lnTo>
                      <a:pt x="643" y="1361"/>
                    </a:lnTo>
                    <a:lnTo>
                      <a:pt x="643" y="1364"/>
                    </a:lnTo>
                    <a:lnTo>
                      <a:pt x="641" y="1368"/>
                    </a:lnTo>
                    <a:lnTo>
                      <a:pt x="637" y="1375"/>
                    </a:lnTo>
                    <a:lnTo>
                      <a:pt x="630" y="1383"/>
                    </a:lnTo>
                    <a:lnTo>
                      <a:pt x="626" y="1388"/>
                    </a:lnTo>
                    <a:lnTo>
                      <a:pt x="616" y="1395"/>
                    </a:lnTo>
                    <a:lnTo>
                      <a:pt x="611" y="1403"/>
                    </a:lnTo>
                    <a:lnTo>
                      <a:pt x="606" y="1412"/>
                    </a:lnTo>
                    <a:lnTo>
                      <a:pt x="602" y="1416"/>
                    </a:lnTo>
                    <a:lnTo>
                      <a:pt x="599" y="1419"/>
                    </a:lnTo>
                    <a:lnTo>
                      <a:pt x="584" y="1419"/>
                    </a:lnTo>
                    <a:lnTo>
                      <a:pt x="568" y="1438"/>
                    </a:lnTo>
                    <a:lnTo>
                      <a:pt x="562" y="1439"/>
                    </a:lnTo>
                    <a:lnTo>
                      <a:pt x="556" y="1435"/>
                    </a:lnTo>
                    <a:lnTo>
                      <a:pt x="550" y="1431"/>
                    </a:lnTo>
                    <a:lnTo>
                      <a:pt x="546" y="1430"/>
                    </a:lnTo>
                    <a:lnTo>
                      <a:pt x="544" y="1430"/>
                    </a:lnTo>
                    <a:lnTo>
                      <a:pt x="541" y="1430"/>
                    </a:lnTo>
                    <a:lnTo>
                      <a:pt x="535" y="1434"/>
                    </a:lnTo>
                    <a:lnTo>
                      <a:pt x="533" y="1437"/>
                    </a:lnTo>
                    <a:lnTo>
                      <a:pt x="527" y="1438"/>
                    </a:lnTo>
                    <a:lnTo>
                      <a:pt x="521" y="1439"/>
                    </a:lnTo>
                    <a:lnTo>
                      <a:pt x="515" y="1446"/>
                    </a:lnTo>
                    <a:lnTo>
                      <a:pt x="512" y="1450"/>
                    </a:lnTo>
                    <a:lnTo>
                      <a:pt x="507" y="1455"/>
                    </a:lnTo>
                    <a:lnTo>
                      <a:pt x="504" y="1460"/>
                    </a:lnTo>
                    <a:lnTo>
                      <a:pt x="502" y="1472"/>
                    </a:lnTo>
                    <a:lnTo>
                      <a:pt x="485" y="1472"/>
                    </a:lnTo>
                    <a:lnTo>
                      <a:pt x="480" y="1465"/>
                    </a:lnTo>
                    <a:lnTo>
                      <a:pt x="477" y="1462"/>
                    </a:lnTo>
                    <a:lnTo>
                      <a:pt x="472" y="1458"/>
                    </a:lnTo>
                    <a:lnTo>
                      <a:pt x="468" y="1455"/>
                    </a:lnTo>
                    <a:lnTo>
                      <a:pt x="457" y="1460"/>
                    </a:lnTo>
                    <a:lnTo>
                      <a:pt x="436" y="1461"/>
                    </a:lnTo>
                    <a:lnTo>
                      <a:pt x="423" y="1461"/>
                    </a:lnTo>
                    <a:lnTo>
                      <a:pt x="407" y="1462"/>
                    </a:lnTo>
                    <a:lnTo>
                      <a:pt x="399" y="1464"/>
                    </a:lnTo>
                    <a:lnTo>
                      <a:pt x="394" y="1461"/>
                    </a:lnTo>
                    <a:lnTo>
                      <a:pt x="388" y="1457"/>
                    </a:lnTo>
                    <a:lnTo>
                      <a:pt x="382" y="1453"/>
                    </a:lnTo>
                    <a:lnTo>
                      <a:pt x="375" y="1458"/>
                    </a:lnTo>
                    <a:lnTo>
                      <a:pt x="369" y="1461"/>
                    </a:lnTo>
                    <a:lnTo>
                      <a:pt x="363" y="1466"/>
                    </a:lnTo>
                    <a:lnTo>
                      <a:pt x="357" y="1470"/>
                    </a:lnTo>
                    <a:lnTo>
                      <a:pt x="352" y="1472"/>
                    </a:lnTo>
                    <a:lnTo>
                      <a:pt x="345" y="1474"/>
                    </a:lnTo>
                    <a:lnTo>
                      <a:pt x="341" y="1476"/>
                    </a:lnTo>
                    <a:lnTo>
                      <a:pt x="330" y="1469"/>
                    </a:lnTo>
                    <a:lnTo>
                      <a:pt x="324" y="1469"/>
                    </a:lnTo>
                    <a:lnTo>
                      <a:pt x="314" y="1469"/>
                    </a:lnTo>
                    <a:lnTo>
                      <a:pt x="305" y="1469"/>
                    </a:lnTo>
                    <a:lnTo>
                      <a:pt x="299" y="1469"/>
                    </a:lnTo>
                    <a:lnTo>
                      <a:pt x="301" y="1414"/>
                    </a:lnTo>
                    <a:lnTo>
                      <a:pt x="299" y="1361"/>
                    </a:lnTo>
                    <a:lnTo>
                      <a:pt x="305" y="1349"/>
                    </a:lnTo>
                    <a:lnTo>
                      <a:pt x="297" y="1335"/>
                    </a:lnTo>
                    <a:lnTo>
                      <a:pt x="284" y="1339"/>
                    </a:lnTo>
                    <a:lnTo>
                      <a:pt x="237" y="1384"/>
                    </a:lnTo>
                    <a:lnTo>
                      <a:pt x="232" y="1385"/>
                    </a:lnTo>
                    <a:lnTo>
                      <a:pt x="224" y="1385"/>
                    </a:lnTo>
                    <a:lnTo>
                      <a:pt x="218" y="1387"/>
                    </a:lnTo>
                    <a:lnTo>
                      <a:pt x="212" y="1387"/>
                    </a:lnTo>
                    <a:lnTo>
                      <a:pt x="203" y="1388"/>
                    </a:lnTo>
                    <a:lnTo>
                      <a:pt x="197" y="1391"/>
                    </a:lnTo>
                    <a:lnTo>
                      <a:pt x="190" y="1391"/>
                    </a:lnTo>
                    <a:lnTo>
                      <a:pt x="182" y="1389"/>
                    </a:lnTo>
                    <a:lnTo>
                      <a:pt x="174" y="1388"/>
                    </a:lnTo>
                    <a:lnTo>
                      <a:pt x="167" y="1388"/>
                    </a:lnTo>
                    <a:lnTo>
                      <a:pt x="158" y="1387"/>
                    </a:lnTo>
                    <a:lnTo>
                      <a:pt x="158" y="1372"/>
                    </a:lnTo>
                    <a:lnTo>
                      <a:pt x="144" y="1369"/>
                    </a:lnTo>
                    <a:lnTo>
                      <a:pt x="143" y="1364"/>
                    </a:lnTo>
                    <a:lnTo>
                      <a:pt x="141" y="1358"/>
                    </a:lnTo>
                    <a:lnTo>
                      <a:pt x="139" y="1353"/>
                    </a:lnTo>
                    <a:lnTo>
                      <a:pt x="135" y="1348"/>
                    </a:lnTo>
                    <a:lnTo>
                      <a:pt x="123" y="1348"/>
                    </a:lnTo>
                    <a:lnTo>
                      <a:pt x="104" y="1348"/>
                    </a:lnTo>
                    <a:lnTo>
                      <a:pt x="81" y="1346"/>
                    </a:lnTo>
                    <a:lnTo>
                      <a:pt x="69" y="1346"/>
                    </a:lnTo>
                    <a:lnTo>
                      <a:pt x="71" y="1339"/>
                    </a:lnTo>
                    <a:lnTo>
                      <a:pt x="70" y="1335"/>
                    </a:lnTo>
                    <a:lnTo>
                      <a:pt x="79" y="1326"/>
                    </a:lnTo>
                    <a:lnTo>
                      <a:pt x="85" y="1321"/>
                    </a:lnTo>
                    <a:lnTo>
                      <a:pt x="83" y="1315"/>
                    </a:lnTo>
                    <a:lnTo>
                      <a:pt x="82" y="1310"/>
                    </a:lnTo>
                    <a:lnTo>
                      <a:pt x="78" y="1300"/>
                    </a:lnTo>
                    <a:lnTo>
                      <a:pt x="71" y="1292"/>
                    </a:lnTo>
                    <a:lnTo>
                      <a:pt x="71" y="1276"/>
                    </a:lnTo>
                    <a:lnTo>
                      <a:pt x="62" y="1275"/>
                    </a:lnTo>
                    <a:lnTo>
                      <a:pt x="54" y="1273"/>
                    </a:lnTo>
                    <a:lnTo>
                      <a:pt x="47" y="1260"/>
                    </a:lnTo>
                    <a:lnTo>
                      <a:pt x="38" y="1253"/>
                    </a:lnTo>
                    <a:lnTo>
                      <a:pt x="32" y="1252"/>
                    </a:lnTo>
                    <a:lnTo>
                      <a:pt x="29" y="1246"/>
                    </a:lnTo>
                    <a:lnTo>
                      <a:pt x="25" y="1242"/>
                    </a:lnTo>
                    <a:lnTo>
                      <a:pt x="23" y="1238"/>
                    </a:lnTo>
                    <a:lnTo>
                      <a:pt x="19" y="1234"/>
                    </a:lnTo>
                    <a:lnTo>
                      <a:pt x="13" y="1230"/>
                    </a:lnTo>
                    <a:lnTo>
                      <a:pt x="11" y="1227"/>
                    </a:lnTo>
                    <a:lnTo>
                      <a:pt x="11" y="1223"/>
                    </a:lnTo>
                    <a:lnTo>
                      <a:pt x="12" y="1219"/>
                    </a:lnTo>
                    <a:lnTo>
                      <a:pt x="12" y="1217"/>
                    </a:lnTo>
                    <a:lnTo>
                      <a:pt x="12" y="1211"/>
                    </a:lnTo>
                    <a:lnTo>
                      <a:pt x="11" y="1207"/>
                    </a:lnTo>
                    <a:lnTo>
                      <a:pt x="6" y="1206"/>
                    </a:lnTo>
                    <a:lnTo>
                      <a:pt x="2" y="1205"/>
                    </a:lnTo>
                    <a:lnTo>
                      <a:pt x="2" y="1199"/>
                    </a:lnTo>
                    <a:lnTo>
                      <a:pt x="2" y="1195"/>
                    </a:lnTo>
                    <a:lnTo>
                      <a:pt x="2" y="1191"/>
                    </a:lnTo>
                    <a:lnTo>
                      <a:pt x="1" y="1187"/>
                    </a:lnTo>
                    <a:lnTo>
                      <a:pt x="0" y="1179"/>
                    </a:lnTo>
                    <a:lnTo>
                      <a:pt x="5" y="1173"/>
                    </a:lnTo>
                    <a:lnTo>
                      <a:pt x="8" y="1171"/>
                    </a:lnTo>
                    <a:lnTo>
                      <a:pt x="12" y="1167"/>
                    </a:lnTo>
                    <a:lnTo>
                      <a:pt x="16" y="1163"/>
                    </a:lnTo>
                    <a:lnTo>
                      <a:pt x="16" y="1159"/>
                    </a:lnTo>
                    <a:lnTo>
                      <a:pt x="12" y="1149"/>
                    </a:lnTo>
                    <a:lnTo>
                      <a:pt x="9" y="1147"/>
                    </a:lnTo>
                    <a:lnTo>
                      <a:pt x="13" y="1132"/>
                    </a:lnTo>
                    <a:lnTo>
                      <a:pt x="17" y="1126"/>
                    </a:lnTo>
                    <a:lnTo>
                      <a:pt x="20" y="1122"/>
                    </a:lnTo>
                    <a:lnTo>
                      <a:pt x="23" y="1118"/>
                    </a:lnTo>
                    <a:lnTo>
                      <a:pt x="25" y="1113"/>
                    </a:lnTo>
                    <a:lnTo>
                      <a:pt x="28" y="1106"/>
                    </a:lnTo>
                    <a:lnTo>
                      <a:pt x="29" y="1101"/>
                    </a:lnTo>
                    <a:lnTo>
                      <a:pt x="38" y="1097"/>
                    </a:lnTo>
                    <a:lnTo>
                      <a:pt x="43" y="1094"/>
                    </a:lnTo>
                    <a:lnTo>
                      <a:pt x="50" y="1090"/>
                    </a:lnTo>
                    <a:lnTo>
                      <a:pt x="56" y="1086"/>
                    </a:lnTo>
                    <a:lnTo>
                      <a:pt x="56" y="1079"/>
                    </a:lnTo>
                    <a:lnTo>
                      <a:pt x="58" y="1071"/>
                    </a:lnTo>
                    <a:lnTo>
                      <a:pt x="58" y="1064"/>
                    </a:lnTo>
                    <a:lnTo>
                      <a:pt x="58" y="1056"/>
                    </a:lnTo>
                    <a:lnTo>
                      <a:pt x="58" y="1048"/>
                    </a:lnTo>
                    <a:lnTo>
                      <a:pt x="58" y="1039"/>
                    </a:lnTo>
                    <a:lnTo>
                      <a:pt x="56" y="1030"/>
                    </a:lnTo>
                    <a:lnTo>
                      <a:pt x="55" y="1026"/>
                    </a:lnTo>
                    <a:lnTo>
                      <a:pt x="62" y="1018"/>
                    </a:lnTo>
                    <a:lnTo>
                      <a:pt x="66" y="1013"/>
                    </a:lnTo>
                    <a:lnTo>
                      <a:pt x="70" y="1006"/>
                    </a:lnTo>
                    <a:lnTo>
                      <a:pt x="73" y="1002"/>
                    </a:lnTo>
                    <a:lnTo>
                      <a:pt x="77" y="995"/>
                    </a:lnTo>
                    <a:lnTo>
                      <a:pt x="78" y="990"/>
                    </a:lnTo>
                    <a:lnTo>
                      <a:pt x="78" y="981"/>
                    </a:lnTo>
                    <a:lnTo>
                      <a:pt x="79" y="974"/>
                    </a:lnTo>
                    <a:lnTo>
                      <a:pt x="79" y="970"/>
                    </a:lnTo>
                    <a:lnTo>
                      <a:pt x="83" y="966"/>
                    </a:lnTo>
                    <a:lnTo>
                      <a:pt x="90" y="963"/>
                    </a:lnTo>
                    <a:lnTo>
                      <a:pt x="93" y="960"/>
                    </a:lnTo>
                    <a:lnTo>
                      <a:pt x="96" y="955"/>
                    </a:lnTo>
                    <a:lnTo>
                      <a:pt x="101" y="948"/>
                    </a:lnTo>
                    <a:lnTo>
                      <a:pt x="104" y="941"/>
                    </a:lnTo>
                    <a:lnTo>
                      <a:pt x="108" y="939"/>
                    </a:lnTo>
                    <a:lnTo>
                      <a:pt x="113" y="932"/>
                    </a:lnTo>
                    <a:lnTo>
                      <a:pt x="117" y="928"/>
                    </a:lnTo>
                    <a:lnTo>
                      <a:pt x="124" y="925"/>
                    </a:lnTo>
                    <a:lnTo>
                      <a:pt x="129" y="923"/>
                    </a:lnTo>
                    <a:lnTo>
                      <a:pt x="133" y="921"/>
                    </a:lnTo>
                    <a:lnTo>
                      <a:pt x="136" y="919"/>
                    </a:lnTo>
                    <a:lnTo>
                      <a:pt x="139" y="916"/>
                    </a:lnTo>
                    <a:lnTo>
                      <a:pt x="144" y="912"/>
                    </a:lnTo>
                    <a:lnTo>
                      <a:pt x="147" y="909"/>
                    </a:lnTo>
                    <a:lnTo>
                      <a:pt x="151" y="906"/>
                    </a:lnTo>
                    <a:lnTo>
                      <a:pt x="158" y="905"/>
                    </a:lnTo>
                    <a:lnTo>
                      <a:pt x="163" y="902"/>
                    </a:lnTo>
                    <a:lnTo>
                      <a:pt x="170" y="898"/>
                    </a:lnTo>
                    <a:lnTo>
                      <a:pt x="185" y="887"/>
                    </a:lnTo>
                    <a:lnTo>
                      <a:pt x="185" y="896"/>
                    </a:lnTo>
                    <a:lnTo>
                      <a:pt x="218" y="896"/>
                    </a:lnTo>
                    <a:lnTo>
                      <a:pt x="221" y="894"/>
                    </a:lnTo>
                    <a:lnTo>
                      <a:pt x="224" y="892"/>
                    </a:lnTo>
                    <a:lnTo>
                      <a:pt x="228" y="890"/>
                    </a:lnTo>
                    <a:lnTo>
                      <a:pt x="230" y="887"/>
                    </a:lnTo>
                    <a:lnTo>
                      <a:pt x="233" y="887"/>
                    </a:lnTo>
                    <a:lnTo>
                      <a:pt x="236" y="887"/>
                    </a:lnTo>
                    <a:lnTo>
                      <a:pt x="239" y="887"/>
                    </a:lnTo>
                    <a:lnTo>
                      <a:pt x="243" y="887"/>
                    </a:lnTo>
                    <a:lnTo>
                      <a:pt x="251" y="874"/>
                    </a:lnTo>
                    <a:lnTo>
                      <a:pt x="255" y="873"/>
                    </a:lnTo>
                    <a:lnTo>
                      <a:pt x="260" y="871"/>
                    </a:lnTo>
                    <a:lnTo>
                      <a:pt x="263" y="869"/>
                    </a:lnTo>
                    <a:lnTo>
                      <a:pt x="267" y="865"/>
                    </a:lnTo>
                    <a:lnTo>
                      <a:pt x="271" y="862"/>
                    </a:lnTo>
                    <a:lnTo>
                      <a:pt x="279" y="860"/>
                    </a:lnTo>
                    <a:lnTo>
                      <a:pt x="286" y="860"/>
                    </a:lnTo>
                    <a:lnTo>
                      <a:pt x="291" y="860"/>
                    </a:lnTo>
                    <a:lnTo>
                      <a:pt x="298" y="863"/>
                    </a:lnTo>
                    <a:lnTo>
                      <a:pt x="301" y="866"/>
                    </a:lnTo>
                    <a:lnTo>
                      <a:pt x="305" y="869"/>
                    </a:lnTo>
                    <a:lnTo>
                      <a:pt x="309" y="871"/>
                    </a:lnTo>
                    <a:lnTo>
                      <a:pt x="311" y="878"/>
                    </a:lnTo>
                    <a:lnTo>
                      <a:pt x="317" y="878"/>
                    </a:lnTo>
                    <a:lnTo>
                      <a:pt x="324" y="878"/>
                    </a:lnTo>
                    <a:lnTo>
                      <a:pt x="332" y="875"/>
                    </a:lnTo>
                    <a:lnTo>
                      <a:pt x="341" y="874"/>
                    </a:lnTo>
                    <a:lnTo>
                      <a:pt x="340" y="867"/>
                    </a:lnTo>
                    <a:lnTo>
                      <a:pt x="341" y="859"/>
                    </a:lnTo>
                    <a:lnTo>
                      <a:pt x="342" y="850"/>
                    </a:lnTo>
                    <a:lnTo>
                      <a:pt x="344" y="843"/>
                    </a:lnTo>
                    <a:lnTo>
                      <a:pt x="348" y="824"/>
                    </a:lnTo>
                    <a:lnTo>
                      <a:pt x="351" y="809"/>
                    </a:lnTo>
                    <a:lnTo>
                      <a:pt x="353" y="794"/>
                    </a:lnTo>
                    <a:lnTo>
                      <a:pt x="356" y="778"/>
                    </a:lnTo>
                    <a:lnTo>
                      <a:pt x="359" y="762"/>
                    </a:lnTo>
                    <a:lnTo>
                      <a:pt x="361" y="749"/>
                    </a:lnTo>
                    <a:lnTo>
                      <a:pt x="363" y="738"/>
                    </a:lnTo>
                    <a:lnTo>
                      <a:pt x="365" y="723"/>
                    </a:lnTo>
                    <a:lnTo>
                      <a:pt x="368" y="707"/>
                    </a:lnTo>
                    <a:lnTo>
                      <a:pt x="371" y="693"/>
                    </a:lnTo>
                    <a:lnTo>
                      <a:pt x="374" y="682"/>
                    </a:lnTo>
                    <a:lnTo>
                      <a:pt x="376" y="668"/>
                    </a:lnTo>
                    <a:lnTo>
                      <a:pt x="378" y="655"/>
                    </a:lnTo>
                    <a:lnTo>
                      <a:pt x="379" y="645"/>
                    </a:lnTo>
                    <a:lnTo>
                      <a:pt x="382" y="635"/>
                    </a:lnTo>
                    <a:lnTo>
                      <a:pt x="383" y="627"/>
                    </a:lnTo>
                    <a:lnTo>
                      <a:pt x="383" y="624"/>
                    </a:lnTo>
                    <a:lnTo>
                      <a:pt x="384" y="619"/>
                    </a:lnTo>
                    <a:lnTo>
                      <a:pt x="384" y="616"/>
                    </a:lnTo>
                    <a:lnTo>
                      <a:pt x="384" y="611"/>
                    </a:lnTo>
                    <a:lnTo>
                      <a:pt x="383" y="607"/>
                    </a:lnTo>
                    <a:lnTo>
                      <a:pt x="383" y="604"/>
                    </a:lnTo>
                    <a:lnTo>
                      <a:pt x="383" y="597"/>
                    </a:lnTo>
                    <a:lnTo>
                      <a:pt x="382" y="591"/>
                    </a:lnTo>
                    <a:lnTo>
                      <a:pt x="380" y="584"/>
                    </a:lnTo>
                    <a:lnTo>
                      <a:pt x="378" y="579"/>
                    </a:lnTo>
                    <a:lnTo>
                      <a:pt x="376" y="573"/>
                    </a:lnTo>
                    <a:lnTo>
                      <a:pt x="372" y="565"/>
                    </a:lnTo>
                    <a:lnTo>
                      <a:pt x="371" y="560"/>
                    </a:lnTo>
                    <a:lnTo>
                      <a:pt x="369" y="556"/>
                    </a:lnTo>
                    <a:lnTo>
                      <a:pt x="368" y="553"/>
                    </a:lnTo>
                    <a:lnTo>
                      <a:pt x="368" y="550"/>
                    </a:lnTo>
                    <a:lnTo>
                      <a:pt x="365" y="547"/>
                    </a:lnTo>
                    <a:lnTo>
                      <a:pt x="359" y="538"/>
                    </a:lnTo>
                    <a:lnTo>
                      <a:pt x="344" y="537"/>
                    </a:lnTo>
                    <a:lnTo>
                      <a:pt x="338" y="533"/>
                    </a:lnTo>
                    <a:lnTo>
                      <a:pt x="334" y="529"/>
                    </a:lnTo>
                    <a:lnTo>
                      <a:pt x="330" y="523"/>
                    </a:lnTo>
                    <a:lnTo>
                      <a:pt x="326" y="519"/>
                    </a:lnTo>
                    <a:lnTo>
                      <a:pt x="324" y="514"/>
                    </a:lnTo>
                    <a:lnTo>
                      <a:pt x="321" y="508"/>
                    </a:lnTo>
                    <a:lnTo>
                      <a:pt x="320" y="502"/>
                    </a:lnTo>
                    <a:lnTo>
                      <a:pt x="315" y="495"/>
                    </a:lnTo>
                    <a:lnTo>
                      <a:pt x="315" y="489"/>
                    </a:lnTo>
                    <a:lnTo>
                      <a:pt x="317" y="481"/>
                    </a:lnTo>
                    <a:lnTo>
                      <a:pt x="315" y="475"/>
                    </a:lnTo>
                    <a:lnTo>
                      <a:pt x="318" y="469"/>
                    </a:lnTo>
                    <a:lnTo>
                      <a:pt x="320" y="462"/>
                    </a:lnTo>
                    <a:lnTo>
                      <a:pt x="322" y="458"/>
                    </a:lnTo>
                    <a:lnTo>
                      <a:pt x="326" y="452"/>
                    </a:lnTo>
                    <a:lnTo>
                      <a:pt x="329" y="448"/>
                    </a:lnTo>
                    <a:lnTo>
                      <a:pt x="336" y="445"/>
                    </a:lnTo>
                    <a:lnTo>
                      <a:pt x="341" y="444"/>
                    </a:lnTo>
                    <a:lnTo>
                      <a:pt x="348" y="442"/>
                    </a:lnTo>
                    <a:lnTo>
                      <a:pt x="357" y="440"/>
                    </a:lnTo>
                    <a:lnTo>
                      <a:pt x="365" y="437"/>
                    </a:lnTo>
                    <a:lnTo>
                      <a:pt x="376" y="433"/>
                    </a:lnTo>
                    <a:lnTo>
                      <a:pt x="384" y="437"/>
                    </a:lnTo>
                    <a:lnTo>
                      <a:pt x="391" y="440"/>
                    </a:lnTo>
                    <a:lnTo>
                      <a:pt x="407" y="452"/>
                    </a:lnTo>
                    <a:lnTo>
                      <a:pt x="406" y="415"/>
                    </a:lnTo>
                    <a:lnTo>
                      <a:pt x="396" y="404"/>
                    </a:lnTo>
                    <a:lnTo>
                      <a:pt x="387" y="404"/>
                    </a:lnTo>
                    <a:lnTo>
                      <a:pt x="382" y="402"/>
                    </a:lnTo>
                    <a:lnTo>
                      <a:pt x="375" y="400"/>
                    </a:lnTo>
                    <a:lnTo>
                      <a:pt x="369" y="400"/>
                    </a:lnTo>
                    <a:lnTo>
                      <a:pt x="365" y="399"/>
                    </a:lnTo>
                    <a:lnTo>
                      <a:pt x="341" y="399"/>
                    </a:lnTo>
                    <a:lnTo>
                      <a:pt x="341" y="334"/>
                    </a:lnTo>
                    <a:lnTo>
                      <a:pt x="476" y="332"/>
                    </a:lnTo>
                    <a:lnTo>
                      <a:pt x="473" y="322"/>
                    </a:lnTo>
                    <a:lnTo>
                      <a:pt x="481" y="305"/>
                    </a:lnTo>
                    <a:lnTo>
                      <a:pt x="492" y="314"/>
                    </a:lnTo>
                    <a:lnTo>
                      <a:pt x="495" y="326"/>
                    </a:lnTo>
                    <a:lnTo>
                      <a:pt x="500" y="332"/>
                    </a:lnTo>
                    <a:lnTo>
                      <a:pt x="506" y="337"/>
                    </a:lnTo>
                    <a:lnTo>
                      <a:pt x="512" y="334"/>
                    </a:lnTo>
                    <a:lnTo>
                      <a:pt x="519" y="333"/>
                    </a:lnTo>
                    <a:lnTo>
                      <a:pt x="530" y="326"/>
                    </a:lnTo>
                    <a:lnTo>
                      <a:pt x="533" y="321"/>
                    </a:lnTo>
                    <a:lnTo>
                      <a:pt x="537" y="314"/>
                    </a:lnTo>
                    <a:lnTo>
                      <a:pt x="542" y="302"/>
                    </a:lnTo>
                    <a:lnTo>
                      <a:pt x="553" y="309"/>
                    </a:lnTo>
                    <a:lnTo>
                      <a:pt x="568" y="321"/>
                    </a:lnTo>
                    <a:lnTo>
                      <a:pt x="566" y="330"/>
                    </a:lnTo>
                    <a:lnTo>
                      <a:pt x="580" y="346"/>
                    </a:lnTo>
                    <a:lnTo>
                      <a:pt x="580" y="375"/>
                    </a:lnTo>
                    <a:lnTo>
                      <a:pt x="588" y="384"/>
                    </a:lnTo>
                    <a:lnTo>
                      <a:pt x="607" y="379"/>
                    </a:lnTo>
                    <a:lnTo>
                      <a:pt x="639" y="399"/>
                    </a:lnTo>
                    <a:lnTo>
                      <a:pt x="656" y="414"/>
                    </a:lnTo>
                    <a:lnTo>
                      <a:pt x="676" y="409"/>
                    </a:lnTo>
                    <a:lnTo>
                      <a:pt x="678" y="398"/>
                    </a:lnTo>
                    <a:lnTo>
                      <a:pt x="692" y="388"/>
                    </a:lnTo>
                    <a:lnTo>
                      <a:pt x="708" y="395"/>
                    </a:lnTo>
                    <a:lnTo>
                      <a:pt x="704" y="406"/>
                    </a:lnTo>
                    <a:lnTo>
                      <a:pt x="711" y="414"/>
                    </a:lnTo>
                    <a:lnTo>
                      <a:pt x="728" y="400"/>
                    </a:lnTo>
                    <a:lnTo>
                      <a:pt x="735" y="396"/>
                    </a:lnTo>
                    <a:lnTo>
                      <a:pt x="738" y="396"/>
                    </a:lnTo>
                    <a:lnTo>
                      <a:pt x="742" y="394"/>
                    </a:lnTo>
                    <a:lnTo>
                      <a:pt x="747" y="391"/>
                    </a:lnTo>
                    <a:lnTo>
                      <a:pt x="750" y="390"/>
                    </a:lnTo>
                    <a:lnTo>
                      <a:pt x="759" y="384"/>
                    </a:lnTo>
                    <a:lnTo>
                      <a:pt x="766" y="372"/>
                    </a:lnTo>
                    <a:lnTo>
                      <a:pt x="772" y="371"/>
                    </a:lnTo>
                    <a:lnTo>
                      <a:pt x="780" y="371"/>
                    </a:lnTo>
                    <a:lnTo>
                      <a:pt x="785" y="369"/>
                    </a:lnTo>
                    <a:lnTo>
                      <a:pt x="792" y="365"/>
                    </a:lnTo>
                    <a:lnTo>
                      <a:pt x="799" y="361"/>
                    </a:lnTo>
                    <a:lnTo>
                      <a:pt x="804" y="359"/>
                    </a:lnTo>
                    <a:lnTo>
                      <a:pt x="811" y="353"/>
                    </a:lnTo>
                    <a:lnTo>
                      <a:pt x="815" y="349"/>
                    </a:lnTo>
                    <a:lnTo>
                      <a:pt x="820" y="348"/>
                    </a:lnTo>
                    <a:lnTo>
                      <a:pt x="826" y="346"/>
                    </a:lnTo>
                    <a:lnTo>
                      <a:pt x="830" y="344"/>
                    </a:lnTo>
                    <a:lnTo>
                      <a:pt x="832" y="344"/>
                    </a:lnTo>
                    <a:lnTo>
                      <a:pt x="836" y="341"/>
                    </a:lnTo>
                    <a:lnTo>
                      <a:pt x="842" y="340"/>
                    </a:lnTo>
                    <a:lnTo>
                      <a:pt x="844" y="336"/>
                    </a:lnTo>
                    <a:lnTo>
                      <a:pt x="848" y="330"/>
                    </a:lnTo>
                    <a:lnTo>
                      <a:pt x="851" y="328"/>
                    </a:lnTo>
                    <a:lnTo>
                      <a:pt x="854" y="324"/>
                    </a:lnTo>
                    <a:lnTo>
                      <a:pt x="855" y="318"/>
                    </a:lnTo>
                    <a:lnTo>
                      <a:pt x="857" y="313"/>
                    </a:lnTo>
                    <a:lnTo>
                      <a:pt x="859" y="310"/>
                    </a:lnTo>
                    <a:lnTo>
                      <a:pt x="858" y="305"/>
                    </a:lnTo>
                    <a:lnTo>
                      <a:pt x="857" y="298"/>
                    </a:lnTo>
                    <a:lnTo>
                      <a:pt x="857" y="295"/>
                    </a:lnTo>
                    <a:lnTo>
                      <a:pt x="884" y="295"/>
                    </a:lnTo>
                    <a:lnTo>
                      <a:pt x="888" y="293"/>
                    </a:lnTo>
                    <a:lnTo>
                      <a:pt x="893" y="288"/>
                    </a:lnTo>
                    <a:lnTo>
                      <a:pt x="900" y="286"/>
                    </a:lnTo>
                    <a:lnTo>
                      <a:pt x="904" y="283"/>
                    </a:lnTo>
                    <a:lnTo>
                      <a:pt x="909" y="283"/>
                    </a:lnTo>
                    <a:lnTo>
                      <a:pt x="915" y="282"/>
                    </a:lnTo>
                    <a:lnTo>
                      <a:pt x="915" y="276"/>
                    </a:lnTo>
                    <a:lnTo>
                      <a:pt x="912" y="267"/>
                    </a:lnTo>
                    <a:lnTo>
                      <a:pt x="905" y="263"/>
                    </a:lnTo>
                    <a:lnTo>
                      <a:pt x="894" y="261"/>
                    </a:lnTo>
                    <a:lnTo>
                      <a:pt x="886" y="267"/>
                    </a:lnTo>
                    <a:lnTo>
                      <a:pt x="881" y="268"/>
                    </a:lnTo>
                    <a:lnTo>
                      <a:pt x="874" y="268"/>
                    </a:lnTo>
                    <a:lnTo>
                      <a:pt x="869" y="268"/>
                    </a:lnTo>
                    <a:lnTo>
                      <a:pt x="865" y="268"/>
                    </a:lnTo>
                    <a:lnTo>
                      <a:pt x="859" y="264"/>
                    </a:lnTo>
                    <a:lnTo>
                      <a:pt x="857" y="261"/>
                    </a:lnTo>
                    <a:lnTo>
                      <a:pt x="853" y="259"/>
                    </a:lnTo>
                    <a:lnTo>
                      <a:pt x="847" y="256"/>
                    </a:lnTo>
                    <a:lnTo>
                      <a:pt x="844" y="253"/>
                    </a:lnTo>
                    <a:lnTo>
                      <a:pt x="840" y="248"/>
                    </a:lnTo>
                    <a:lnTo>
                      <a:pt x="836" y="247"/>
                    </a:lnTo>
                    <a:lnTo>
                      <a:pt x="836" y="241"/>
                    </a:lnTo>
                    <a:lnTo>
                      <a:pt x="836" y="237"/>
                    </a:lnTo>
                    <a:lnTo>
                      <a:pt x="838" y="234"/>
                    </a:lnTo>
                    <a:lnTo>
                      <a:pt x="843" y="228"/>
                    </a:lnTo>
                    <a:lnTo>
                      <a:pt x="838" y="214"/>
                    </a:lnTo>
                    <a:lnTo>
                      <a:pt x="828" y="205"/>
                    </a:lnTo>
                    <a:lnTo>
                      <a:pt x="832" y="191"/>
                    </a:lnTo>
                    <a:lnTo>
                      <a:pt x="846" y="179"/>
                    </a:lnTo>
                    <a:lnTo>
                      <a:pt x="847" y="172"/>
                    </a:lnTo>
                    <a:lnTo>
                      <a:pt x="848" y="163"/>
                    </a:lnTo>
                    <a:lnTo>
                      <a:pt x="848" y="147"/>
                    </a:lnTo>
                    <a:lnTo>
                      <a:pt x="840" y="145"/>
                    </a:lnTo>
                    <a:lnTo>
                      <a:pt x="835" y="137"/>
                    </a:lnTo>
                    <a:lnTo>
                      <a:pt x="832" y="135"/>
                    </a:lnTo>
                    <a:lnTo>
                      <a:pt x="824" y="131"/>
                    </a:lnTo>
                    <a:lnTo>
                      <a:pt x="820" y="131"/>
                    </a:lnTo>
                    <a:lnTo>
                      <a:pt x="817" y="132"/>
                    </a:lnTo>
                    <a:lnTo>
                      <a:pt x="813" y="128"/>
                    </a:lnTo>
                    <a:lnTo>
                      <a:pt x="811" y="120"/>
                    </a:lnTo>
                    <a:lnTo>
                      <a:pt x="812" y="110"/>
                    </a:lnTo>
                    <a:lnTo>
                      <a:pt x="824" y="110"/>
                    </a:lnTo>
                    <a:lnTo>
                      <a:pt x="832" y="109"/>
                    </a:lnTo>
                    <a:lnTo>
                      <a:pt x="842" y="109"/>
                    </a:lnTo>
                    <a:lnTo>
                      <a:pt x="850" y="109"/>
                    </a:lnTo>
                    <a:lnTo>
                      <a:pt x="858" y="114"/>
                    </a:lnTo>
                    <a:lnTo>
                      <a:pt x="865" y="125"/>
                    </a:lnTo>
                    <a:lnTo>
                      <a:pt x="888" y="120"/>
                    </a:lnTo>
                    <a:lnTo>
                      <a:pt x="894" y="125"/>
                    </a:lnTo>
                    <a:lnTo>
                      <a:pt x="904" y="125"/>
                    </a:lnTo>
                    <a:lnTo>
                      <a:pt x="921" y="131"/>
                    </a:lnTo>
                    <a:lnTo>
                      <a:pt x="944" y="128"/>
                    </a:lnTo>
                    <a:lnTo>
                      <a:pt x="955" y="143"/>
                    </a:lnTo>
                    <a:lnTo>
                      <a:pt x="962" y="147"/>
                    </a:lnTo>
                    <a:lnTo>
                      <a:pt x="973" y="148"/>
                    </a:lnTo>
                    <a:lnTo>
                      <a:pt x="975" y="139"/>
                    </a:lnTo>
                    <a:lnTo>
                      <a:pt x="970" y="131"/>
                    </a:lnTo>
                    <a:lnTo>
                      <a:pt x="971" y="128"/>
                    </a:lnTo>
                    <a:lnTo>
                      <a:pt x="971" y="125"/>
                    </a:lnTo>
                    <a:lnTo>
                      <a:pt x="971" y="123"/>
                    </a:lnTo>
                    <a:lnTo>
                      <a:pt x="970" y="117"/>
                    </a:lnTo>
                    <a:lnTo>
                      <a:pt x="973" y="114"/>
                    </a:lnTo>
                    <a:lnTo>
                      <a:pt x="975" y="113"/>
                    </a:lnTo>
                    <a:lnTo>
                      <a:pt x="977" y="110"/>
                    </a:lnTo>
                    <a:lnTo>
                      <a:pt x="989" y="116"/>
                    </a:lnTo>
                    <a:lnTo>
                      <a:pt x="991" y="112"/>
                    </a:lnTo>
                    <a:lnTo>
                      <a:pt x="996" y="109"/>
                    </a:lnTo>
                    <a:lnTo>
                      <a:pt x="998" y="108"/>
                    </a:lnTo>
                    <a:lnTo>
                      <a:pt x="1001" y="106"/>
                    </a:lnTo>
                    <a:lnTo>
                      <a:pt x="1006" y="105"/>
                    </a:lnTo>
                    <a:lnTo>
                      <a:pt x="1010" y="105"/>
                    </a:lnTo>
                    <a:lnTo>
                      <a:pt x="1021" y="112"/>
                    </a:lnTo>
                    <a:lnTo>
                      <a:pt x="1032" y="105"/>
                    </a:lnTo>
                    <a:lnTo>
                      <a:pt x="1040" y="110"/>
                    </a:lnTo>
                    <a:lnTo>
                      <a:pt x="1047" y="110"/>
                    </a:lnTo>
                    <a:lnTo>
                      <a:pt x="1050" y="105"/>
                    </a:lnTo>
                    <a:lnTo>
                      <a:pt x="1058" y="97"/>
                    </a:lnTo>
                    <a:lnTo>
                      <a:pt x="1063" y="100"/>
                    </a:lnTo>
                    <a:lnTo>
                      <a:pt x="1075" y="101"/>
                    </a:lnTo>
                    <a:lnTo>
                      <a:pt x="1079" y="97"/>
                    </a:lnTo>
                    <a:lnTo>
                      <a:pt x="1082" y="96"/>
                    </a:lnTo>
                    <a:lnTo>
                      <a:pt x="1086" y="90"/>
                    </a:lnTo>
                    <a:lnTo>
                      <a:pt x="1089" y="86"/>
                    </a:lnTo>
                    <a:lnTo>
                      <a:pt x="1099" y="86"/>
                    </a:lnTo>
                    <a:lnTo>
                      <a:pt x="1099" y="78"/>
                    </a:lnTo>
                    <a:lnTo>
                      <a:pt x="1102" y="78"/>
                    </a:lnTo>
                    <a:lnTo>
                      <a:pt x="1108" y="78"/>
                    </a:lnTo>
                    <a:lnTo>
                      <a:pt x="1114" y="82"/>
                    </a:lnTo>
                    <a:lnTo>
                      <a:pt x="1121" y="77"/>
                    </a:lnTo>
                    <a:lnTo>
                      <a:pt x="1137" y="78"/>
                    </a:lnTo>
                    <a:lnTo>
                      <a:pt x="1143" y="69"/>
                    </a:lnTo>
                    <a:lnTo>
                      <a:pt x="1141" y="60"/>
                    </a:lnTo>
                    <a:lnTo>
                      <a:pt x="1152" y="50"/>
                    </a:lnTo>
                    <a:lnTo>
                      <a:pt x="1152" y="38"/>
                    </a:lnTo>
                    <a:lnTo>
                      <a:pt x="1159" y="31"/>
                    </a:lnTo>
                    <a:lnTo>
                      <a:pt x="1157" y="27"/>
                    </a:lnTo>
                    <a:lnTo>
                      <a:pt x="1156" y="20"/>
                    </a:lnTo>
                    <a:lnTo>
                      <a:pt x="1153" y="17"/>
                    </a:lnTo>
                    <a:lnTo>
                      <a:pt x="1148" y="12"/>
                    </a:lnTo>
                    <a:lnTo>
                      <a:pt x="1147" y="6"/>
                    </a:lnTo>
                    <a:lnTo>
                      <a:pt x="1151" y="4"/>
                    </a:lnTo>
                    <a:lnTo>
                      <a:pt x="1155" y="2"/>
                    </a:lnTo>
                    <a:lnTo>
                      <a:pt x="1166" y="0"/>
                    </a:lnTo>
                    <a:lnTo>
                      <a:pt x="1171" y="6"/>
                    </a:lnTo>
                    <a:lnTo>
                      <a:pt x="1179" y="8"/>
                    </a:lnTo>
                    <a:lnTo>
                      <a:pt x="1186" y="9"/>
                    </a:lnTo>
                    <a:lnTo>
                      <a:pt x="1195" y="12"/>
                    </a:lnTo>
                    <a:lnTo>
                      <a:pt x="1195" y="5"/>
                    </a:lnTo>
                    <a:lnTo>
                      <a:pt x="1206" y="1"/>
                    </a:lnTo>
                    <a:lnTo>
                      <a:pt x="1215" y="6"/>
                    </a:lnTo>
                    <a:lnTo>
                      <a:pt x="1215" y="15"/>
                    </a:lnTo>
                    <a:lnTo>
                      <a:pt x="1214" y="21"/>
                    </a:lnTo>
                    <a:lnTo>
                      <a:pt x="1211" y="27"/>
                    </a:lnTo>
                    <a:lnTo>
                      <a:pt x="1211" y="35"/>
                    </a:lnTo>
                    <a:lnTo>
                      <a:pt x="1211" y="40"/>
                    </a:lnTo>
                    <a:lnTo>
                      <a:pt x="1211" y="47"/>
                    </a:lnTo>
                    <a:lnTo>
                      <a:pt x="1207" y="52"/>
                    </a:lnTo>
                    <a:lnTo>
                      <a:pt x="1205" y="58"/>
                    </a:lnTo>
                    <a:lnTo>
                      <a:pt x="1206" y="65"/>
                    </a:lnTo>
                    <a:lnTo>
                      <a:pt x="1211" y="65"/>
                    </a:lnTo>
                    <a:lnTo>
                      <a:pt x="1215" y="70"/>
                    </a:lnTo>
                    <a:lnTo>
                      <a:pt x="1220" y="73"/>
                    </a:lnTo>
                    <a:lnTo>
                      <a:pt x="1225" y="74"/>
                    </a:lnTo>
                    <a:lnTo>
                      <a:pt x="1230" y="74"/>
                    </a:lnTo>
                    <a:lnTo>
                      <a:pt x="1234" y="77"/>
                    </a:lnTo>
                    <a:lnTo>
                      <a:pt x="1237" y="78"/>
                    </a:lnTo>
                    <a:lnTo>
                      <a:pt x="1241" y="81"/>
                    </a:lnTo>
                    <a:lnTo>
                      <a:pt x="1244" y="86"/>
                    </a:lnTo>
                    <a:lnTo>
                      <a:pt x="1245" y="91"/>
                    </a:lnTo>
                    <a:lnTo>
                      <a:pt x="1246" y="97"/>
                    </a:lnTo>
                    <a:lnTo>
                      <a:pt x="1244" y="102"/>
                    </a:lnTo>
                    <a:lnTo>
                      <a:pt x="1252" y="109"/>
                    </a:lnTo>
                    <a:lnTo>
                      <a:pt x="1260" y="118"/>
                    </a:lnTo>
                    <a:lnTo>
                      <a:pt x="1260" y="125"/>
                    </a:lnTo>
                    <a:lnTo>
                      <a:pt x="1256" y="129"/>
                    </a:lnTo>
                    <a:lnTo>
                      <a:pt x="1251" y="132"/>
                    </a:lnTo>
                    <a:lnTo>
                      <a:pt x="1246" y="139"/>
                    </a:lnTo>
                    <a:lnTo>
                      <a:pt x="1242" y="148"/>
                    </a:lnTo>
                    <a:lnTo>
                      <a:pt x="1233" y="156"/>
                    </a:lnTo>
                    <a:lnTo>
                      <a:pt x="1237" y="171"/>
                    </a:lnTo>
                    <a:lnTo>
                      <a:pt x="1230" y="175"/>
                    </a:lnTo>
                    <a:lnTo>
                      <a:pt x="1229" y="182"/>
                    </a:lnTo>
                    <a:lnTo>
                      <a:pt x="1228" y="189"/>
                    </a:lnTo>
                    <a:lnTo>
                      <a:pt x="1225" y="197"/>
                    </a:lnTo>
                    <a:lnTo>
                      <a:pt x="1224" y="202"/>
                    </a:lnTo>
                    <a:lnTo>
                      <a:pt x="1226" y="217"/>
                    </a:lnTo>
                    <a:lnTo>
                      <a:pt x="1224" y="224"/>
                    </a:lnTo>
                    <a:lnTo>
                      <a:pt x="1224" y="247"/>
                    </a:lnTo>
                    <a:lnTo>
                      <a:pt x="1238" y="266"/>
                    </a:lnTo>
                    <a:lnTo>
                      <a:pt x="1238" y="272"/>
                    </a:lnTo>
                    <a:lnTo>
                      <a:pt x="1238" y="280"/>
                    </a:lnTo>
                    <a:lnTo>
                      <a:pt x="1237" y="290"/>
                    </a:lnTo>
                    <a:lnTo>
                      <a:pt x="1249" y="291"/>
                    </a:lnTo>
                    <a:lnTo>
                      <a:pt x="1252" y="295"/>
                    </a:lnTo>
                    <a:lnTo>
                      <a:pt x="1255" y="302"/>
                    </a:lnTo>
                    <a:lnTo>
                      <a:pt x="1259" y="307"/>
                    </a:lnTo>
                    <a:lnTo>
                      <a:pt x="1264" y="311"/>
                    </a:lnTo>
                    <a:lnTo>
                      <a:pt x="1272" y="315"/>
                    </a:lnTo>
                    <a:lnTo>
                      <a:pt x="1280" y="322"/>
                    </a:lnTo>
                    <a:lnTo>
                      <a:pt x="1287" y="326"/>
                    </a:lnTo>
                    <a:lnTo>
                      <a:pt x="1295" y="333"/>
                    </a:lnTo>
                    <a:lnTo>
                      <a:pt x="1307" y="342"/>
                    </a:lnTo>
                    <a:lnTo>
                      <a:pt x="1314" y="348"/>
                    </a:lnTo>
                    <a:lnTo>
                      <a:pt x="1319" y="353"/>
                    </a:lnTo>
                    <a:lnTo>
                      <a:pt x="1325" y="359"/>
                    </a:lnTo>
                    <a:lnTo>
                      <a:pt x="1332" y="356"/>
                    </a:lnTo>
                    <a:lnTo>
                      <a:pt x="1337" y="353"/>
                    </a:lnTo>
                    <a:lnTo>
                      <a:pt x="1341" y="352"/>
                    </a:lnTo>
                    <a:lnTo>
                      <a:pt x="1344" y="352"/>
                    </a:lnTo>
                    <a:lnTo>
                      <a:pt x="1345" y="352"/>
                    </a:lnTo>
                    <a:lnTo>
                      <a:pt x="1348" y="353"/>
                    </a:lnTo>
                    <a:lnTo>
                      <a:pt x="1361" y="349"/>
                    </a:lnTo>
                    <a:lnTo>
                      <a:pt x="1360" y="344"/>
                    </a:lnTo>
                    <a:lnTo>
                      <a:pt x="1358" y="340"/>
                    </a:lnTo>
                    <a:lnTo>
                      <a:pt x="1361" y="336"/>
                    </a:lnTo>
                    <a:lnTo>
                      <a:pt x="1364" y="330"/>
                    </a:lnTo>
                    <a:lnTo>
                      <a:pt x="1371" y="329"/>
                    </a:lnTo>
                    <a:lnTo>
                      <a:pt x="1379" y="326"/>
                    </a:lnTo>
                    <a:lnTo>
                      <a:pt x="1387" y="330"/>
                    </a:lnTo>
                    <a:lnTo>
                      <a:pt x="1392" y="333"/>
                    </a:lnTo>
                    <a:lnTo>
                      <a:pt x="1400" y="328"/>
                    </a:lnTo>
                    <a:lnTo>
                      <a:pt x="1407" y="315"/>
                    </a:lnTo>
                    <a:lnTo>
                      <a:pt x="1417" y="315"/>
                    </a:lnTo>
                    <a:lnTo>
                      <a:pt x="1426" y="315"/>
                    </a:lnTo>
                    <a:lnTo>
                      <a:pt x="1434" y="321"/>
                    </a:lnTo>
                    <a:lnTo>
                      <a:pt x="1445" y="315"/>
                    </a:lnTo>
                    <a:lnTo>
                      <a:pt x="1456" y="307"/>
                    </a:lnTo>
                    <a:lnTo>
                      <a:pt x="1461" y="290"/>
                    </a:lnTo>
                    <a:lnTo>
                      <a:pt x="1475" y="299"/>
                    </a:lnTo>
                    <a:lnTo>
                      <a:pt x="1491" y="291"/>
                    </a:lnTo>
                    <a:lnTo>
                      <a:pt x="1496" y="295"/>
                    </a:lnTo>
                    <a:lnTo>
                      <a:pt x="1503" y="299"/>
                    </a:lnTo>
                    <a:lnTo>
                      <a:pt x="1511" y="305"/>
                    </a:lnTo>
                    <a:lnTo>
                      <a:pt x="1522" y="309"/>
                    </a:lnTo>
                    <a:lnTo>
                      <a:pt x="1535" y="307"/>
                    </a:lnTo>
                    <a:lnTo>
                      <a:pt x="1543" y="306"/>
                    </a:lnTo>
                    <a:lnTo>
                      <a:pt x="1550" y="306"/>
                    </a:lnTo>
                    <a:lnTo>
                      <a:pt x="1560" y="311"/>
                    </a:lnTo>
                    <a:lnTo>
                      <a:pt x="1568" y="314"/>
                    </a:lnTo>
                    <a:lnTo>
                      <a:pt x="1584" y="311"/>
                    </a:lnTo>
                    <a:lnTo>
                      <a:pt x="1585" y="309"/>
                    </a:lnTo>
                    <a:lnTo>
                      <a:pt x="1585" y="305"/>
                    </a:lnTo>
                    <a:lnTo>
                      <a:pt x="1585" y="288"/>
                    </a:lnTo>
                    <a:lnTo>
                      <a:pt x="1572" y="275"/>
                    </a:lnTo>
                    <a:lnTo>
                      <a:pt x="1574" y="271"/>
                    </a:lnTo>
                    <a:lnTo>
                      <a:pt x="1580" y="266"/>
                    </a:lnTo>
                    <a:lnTo>
                      <a:pt x="1582" y="263"/>
                    </a:lnTo>
                    <a:lnTo>
                      <a:pt x="1587" y="260"/>
                    </a:lnTo>
                    <a:lnTo>
                      <a:pt x="1595" y="247"/>
                    </a:lnTo>
                    <a:lnTo>
                      <a:pt x="1608" y="255"/>
                    </a:lnTo>
                    <a:lnTo>
                      <a:pt x="1614" y="256"/>
                    </a:lnTo>
                    <a:lnTo>
                      <a:pt x="1618" y="259"/>
                    </a:lnTo>
                    <a:lnTo>
                      <a:pt x="1619" y="263"/>
                    </a:lnTo>
                    <a:lnTo>
                      <a:pt x="1622" y="266"/>
                    </a:lnTo>
                    <a:lnTo>
                      <a:pt x="1624" y="267"/>
                    </a:lnTo>
                    <a:lnTo>
                      <a:pt x="1628" y="267"/>
                    </a:lnTo>
                    <a:lnTo>
                      <a:pt x="1632" y="268"/>
                    </a:lnTo>
                    <a:lnTo>
                      <a:pt x="1638" y="268"/>
                    </a:lnTo>
                    <a:lnTo>
                      <a:pt x="1645" y="268"/>
                    </a:lnTo>
                    <a:lnTo>
                      <a:pt x="1653" y="268"/>
                    </a:lnTo>
                    <a:lnTo>
                      <a:pt x="1659" y="266"/>
                    </a:lnTo>
                    <a:lnTo>
                      <a:pt x="1666" y="263"/>
                    </a:lnTo>
                    <a:lnTo>
                      <a:pt x="1673" y="260"/>
                    </a:lnTo>
                    <a:lnTo>
                      <a:pt x="1677" y="256"/>
                    </a:lnTo>
                    <a:lnTo>
                      <a:pt x="1688" y="257"/>
                    </a:lnTo>
                    <a:lnTo>
                      <a:pt x="1696" y="271"/>
                    </a:lnTo>
                    <a:lnTo>
                      <a:pt x="1701" y="270"/>
                    </a:lnTo>
                    <a:lnTo>
                      <a:pt x="1707" y="272"/>
                    </a:lnTo>
                    <a:lnTo>
                      <a:pt x="1711" y="272"/>
                    </a:lnTo>
                    <a:lnTo>
                      <a:pt x="1720" y="266"/>
                    </a:lnTo>
                    <a:lnTo>
                      <a:pt x="1726" y="268"/>
                    </a:lnTo>
                    <a:lnTo>
                      <a:pt x="1731" y="271"/>
                    </a:lnTo>
                    <a:lnTo>
                      <a:pt x="1740" y="282"/>
                    </a:lnTo>
                    <a:lnTo>
                      <a:pt x="1777" y="282"/>
                    </a:lnTo>
                    <a:lnTo>
                      <a:pt x="1782" y="279"/>
                    </a:lnTo>
                    <a:lnTo>
                      <a:pt x="1792" y="275"/>
                    </a:lnTo>
                    <a:lnTo>
                      <a:pt x="1796" y="275"/>
                    </a:lnTo>
                    <a:lnTo>
                      <a:pt x="1805" y="266"/>
                    </a:lnTo>
                    <a:lnTo>
                      <a:pt x="1809" y="278"/>
                    </a:lnTo>
                    <a:lnTo>
                      <a:pt x="1835" y="279"/>
                    </a:lnTo>
                    <a:lnTo>
                      <a:pt x="1839" y="291"/>
                    </a:lnTo>
                    <a:lnTo>
                      <a:pt x="1851" y="291"/>
                    </a:lnTo>
                    <a:lnTo>
                      <a:pt x="1858" y="290"/>
                    </a:lnTo>
                    <a:lnTo>
                      <a:pt x="1862" y="290"/>
                    </a:lnTo>
                    <a:lnTo>
                      <a:pt x="1867" y="288"/>
                    </a:lnTo>
                    <a:lnTo>
                      <a:pt x="1870" y="287"/>
                    </a:lnTo>
                    <a:lnTo>
                      <a:pt x="1874" y="284"/>
                    </a:lnTo>
                    <a:lnTo>
                      <a:pt x="1878" y="282"/>
                    </a:lnTo>
                    <a:lnTo>
                      <a:pt x="1881" y="278"/>
                    </a:lnTo>
                    <a:lnTo>
                      <a:pt x="1883" y="275"/>
                    </a:lnTo>
                    <a:lnTo>
                      <a:pt x="1885" y="272"/>
                    </a:lnTo>
                    <a:lnTo>
                      <a:pt x="1887" y="267"/>
                    </a:lnTo>
                    <a:lnTo>
                      <a:pt x="1890" y="261"/>
                    </a:lnTo>
                    <a:lnTo>
                      <a:pt x="1894" y="259"/>
                    </a:lnTo>
                    <a:lnTo>
                      <a:pt x="1898" y="255"/>
                    </a:lnTo>
                    <a:lnTo>
                      <a:pt x="1905" y="252"/>
                    </a:lnTo>
                    <a:lnTo>
                      <a:pt x="1905" y="237"/>
                    </a:lnTo>
                    <a:lnTo>
                      <a:pt x="1908" y="228"/>
                    </a:lnTo>
                    <a:lnTo>
                      <a:pt x="1912" y="213"/>
                    </a:lnTo>
                    <a:lnTo>
                      <a:pt x="1917" y="199"/>
                    </a:lnTo>
                    <a:lnTo>
                      <a:pt x="1925" y="193"/>
                    </a:lnTo>
                    <a:lnTo>
                      <a:pt x="1935" y="186"/>
                    </a:lnTo>
                    <a:lnTo>
                      <a:pt x="1935" y="167"/>
                    </a:lnTo>
                    <a:lnTo>
                      <a:pt x="1928" y="159"/>
                    </a:lnTo>
                    <a:lnTo>
                      <a:pt x="1936" y="154"/>
                    </a:lnTo>
                    <a:lnTo>
                      <a:pt x="1947" y="147"/>
                    </a:lnTo>
                    <a:lnTo>
                      <a:pt x="1954" y="143"/>
                    </a:lnTo>
                    <a:lnTo>
                      <a:pt x="1963" y="133"/>
                    </a:lnTo>
                    <a:lnTo>
                      <a:pt x="1970" y="127"/>
                    </a:lnTo>
                    <a:lnTo>
                      <a:pt x="1975" y="125"/>
                    </a:lnTo>
                    <a:lnTo>
                      <a:pt x="1982" y="124"/>
                    </a:lnTo>
                    <a:lnTo>
                      <a:pt x="1985" y="123"/>
                    </a:lnTo>
                    <a:lnTo>
                      <a:pt x="1986" y="114"/>
                    </a:lnTo>
                    <a:lnTo>
                      <a:pt x="1986" y="109"/>
                    </a:lnTo>
                    <a:lnTo>
                      <a:pt x="1981" y="91"/>
                    </a:lnTo>
                    <a:lnTo>
                      <a:pt x="1986" y="98"/>
                    </a:lnTo>
                    <a:lnTo>
                      <a:pt x="1993" y="106"/>
                    </a:lnTo>
                    <a:lnTo>
                      <a:pt x="1999" y="113"/>
                    </a:lnTo>
                    <a:lnTo>
                      <a:pt x="2003" y="121"/>
                    </a:lnTo>
                    <a:lnTo>
                      <a:pt x="2009" y="131"/>
                    </a:lnTo>
                    <a:lnTo>
                      <a:pt x="2010" y="136"/>
                    </a:lnTo>
                    <a:lnTo>
                      <a:pt x="2010" y="155"/>
                    </a:lnTo>
                    <a:lnTo>
                      <a:pt x="2001" y="170"/>
                    </a:lnTo>
                    <a:lnTo>
                      <a:pt x="2022" y="159"/>
                    </a:lnTo>
                    <a:lnTo>
                      <a:pt x="2029" y="175"/>
                    </a:lnTo>
                    <a:lnTo>
                      <a:pt x="2028" y="183"/>
                    </a:lnTo>
                    <a:lnTo>
                      <a:pt x="2028" y="191"/>
                    </a:lnTo>
                    <a:lnTo>
                      <a:pt x="2032" y="198"/>
                    </a:lnTo>
                    <a:lnTo>
                      <a:pt x="2033" y="203"/>
                    </a:lnTo>
                    <a:lnTo>
                      <a:pt x="2037" y="209"/>
                    </a:lnTo>
                    <a:lnTo>
                      <a:pt x="2037" y="216"/>
                    </a:lnTo>
                    <a:lnTo>
                      <a:pt x="2039" y="221"/>
                    </a:lnTo>
                    <a:lnTo>
                      <a:pt x="2043" y="230"/>
                    </a:lnTo>
                    <a:lnTo>
                      <a:pt x="2048" y="240"/>
                    </a:lnTo>
                    <a:lnTo>
                      <a:pt x="2048" y="244"/>
                    </a:lnTo>
                    <a:lnTo>
                      <a:pt x="2048" y="248"/>
                    </a:lnTo>
                    <a:lnTo>
                      <a:pt x="2047" y="252"/>
                    </a:lnTo>
                    <a:lnTo>
                      <a:pt x="2049" y="256"/>
                    </a:lnTo>
                    <a:lnTo>
                      <a:pt x="2049" y="260"/>
                    </a:lnTo>
                    <a:lnTo>
                      <a:pt x="2052" y="264"/>
                    </a:lnTo>
                    <a:lnTo>
                      <a:pt x="2056" y="270"/>
                    </a:lnTo>
                    <a:lnTo>
                      <a:pt x="2060" y="278"/>
                    </a:lnTo>
                    <a:lnTo>
                      <a:pt x="2052" y="290"/>
                    </a:lnTo>
                    <a:lnTo>
                      <a:pt x="2057" y="297"/>
                    </a:lnTo>
                    <a:lnTo>
                      <a:pt x="2061" y="299"/>
                    </a:lnTo>
                    <a:lnTo>
                      <a:pt x="2066" y="305"/>
                    </a:lnTo>
                    <a:lnTo>
                      <a:pt x="2070" y="311"/>
                    </a:lnTo>
                    <a:lnTo>
                      <a:pt x="2074" y="317"/>
                    </a:lnTo>
                    <a:lnTo>
                      <a:pt x="2082" y="321"/>
                    </a:lnTo>
                    <a:lnTo>
                      <a:pt x="2088" y="326"/>
                    </a:lnTo>
                    <a:lnTo>
                      <a:pt x="2097" y="330"/>
                    </a:lnTo>
                    <a:lnTo>
                      <a:pt x="2101" y="334"/>
                    </a:lnTo>
                    <a:lnTo>
                      <a:pt x="2107" y="334"/>
                    </a:lnTo>
                    <a:lnTo>
                      <a:pt x="2113" y="336"/>
                    </a:lnTo>
                    <a:lnTo>
                      <a:pt x="2117" y="336"/>
                    </a:lnTo>
                    <a:lnTo>
                      <a:pt x="2122" y="337"/>
                    </a:lnTo>
                    <a:lnTo>
                      <a:pt x="2130" y="340"/>
                    </a:lnTo>
                    <a:lnTo>
                      <a:pt x="2132" y="342"/>
                    </a:lnTo>
                    <a:lnTo>
                      <a:pt x="2134" y="346"/>
                    </a:lnTo>
                    <a:lnTo>
                      <a:pt x="2134" y="349"/>
                    </a:lnTo>
                    <a:lnTo>
                      <a:pt x="2134" y="355"/>
                    </a:lnTo>
                    <a:lnTo>
                      <a:pt x="2134" y="360"/>
                    </a:lnTo>
                    <a:lnTo>
                      <a:pt x="2130" y="373"/>
                    </a:lnTo>
                    <a:lnTo>
                      <a:pt x="2114" y="375"/>
                    </a:lnTo>
                    <a:lnTo>
                      <a:pt x="2125" y="392"/>
                    </a:lnTo>
                    <a:lnTo>
                      <a:pt x="2114" y="402"/>
                    </a:lnTo>
                    <a:lnTo>
                      <a:pt x="2110" y="407"/>
                    </a:lnTo>
                    <a:lnTo>
                      <a:pt x="2105" y="411"/>
                    </a:lnTo>
                    <a:lnTo>
                      <a:pt x="2101" y="415"/>
                    </a:lnTo>
                    <a:lnTo>
                      <a:pt x="2097" y="422"/>
                    </a:lnTo>
                    <a:lnTo>
                      <a:pt x="2090" y="427"/>
                    </a:lnTo>
                    <a:lnTo>
                      <a:pt x="2075" y="440"/>
                    </a:lnTo>
                    <a:lnTo>
                      <a:pt x="2070" y="449"/>
                    </a:lnTo>
                    <a:lnTo>
                      <a:pt x="2066" y="456"/>
                    </a:lnTo>
                    <a:lnTo>
                      <a:pt x="2060" y="467"/>
                    </a:lnTo>
                    <a:lnTo>
                      <a:pt x="2053" y="467"/>
                    </a:lnTo>
                    <a:lnTo>
                      <a:pt x="2048" y="467"/>
                    </a:lnTo>
                    <a:lnTo>
                      <a:pt x="2044" y="467"/>
                    </a:lnTo>
                    <a:lnTo>
                      <a:pt x="2040" y="469"/>
                    </a:lnTo>
                    <a:lnTo>
                      <a:pt x="2034" y="473"/>
                    </a:lnTo>
                    <a:lnTo>
                      <a:pt x="2029" y="476"/>
                    </a:lnTo>
                    <a:lnTo>
                      <a:pt x="2024" y="480"/>
                    </a:lnTo>
                    <a:lnTo>
                      <a:pt x="2020" y="485"/>
                    </a:lnTo>
                    <a:lnTo>
                      <a:pt x="2014" y="491"/>
                    </a:lnTo>
                    <a:lnTo>
                      <a:pt x="2010" y="496"/>
                    </a:lnTo>
                    <a:lnTo>
                      <a:pt x="2008" y="499"/>
                    </a:lnTo>
                    <a:lnTo>
                      <a:pt x="2002" y="502"/>
                    </a:lnTo>
                    <a:lnTo>
                      <a:pt x="1997" y="506"/>
                    </a:lnTo>
                    <a:lnTo>
                      <a:pt x="1993" y="510"/>
                    </a:lnTo>
                    <a:lnTo>
                      <a:pt x="1991" y="512"/>
                    </a:lnTo>
                    <a:lnTo>
                      <a:pt x="1985" y="521"/>
                    </a:lnTo>
                    <a:lnTo>
                      <a:pt x="1979" y="529"/>
                    </a:lnTo>
                    <a:lnTo>
                      <a:pt x="1974" y="537"/>
                    </a:lnTo>
                    <a:lnTo>
                      <a:pt x="1970" y="545"/>
                    </a:lnTo>
                    <a:lnTo>
                      <a:pt x="1967" y="552"/>
                    </a:lnTo>
                    <a:lnTo>
                      <a:pt x="1964" y="556"/>
                    </a:lnTo>
                    <a:lnTo>
                      <a:pt x="1962" y="560"/>
                    </a:lnTo>
                    <a:lnTo>
                      <a:pt x="1960" y="565"/>
                    </a:lnTo>
                    <a:lnTo>
                      <a:pt x="1959" y="569"/>
                    </a:lnTo>
                    <a:lnTo>
                      <a:pt x="1958" y="573"/>
                    </a:lnTo>
                    <a:lnTo>
                      <a:pt x="1955" y="576"/>
                    </a:lnTo>
                    <a:lnTo>
                      <a:pt x="1955" y="577"/>
                    </a:lnTo>
                    <a:lnTo>
                      <a:pt x="1951" y="580"/>
                    </a:lnTo>
                    <a:lnTo>
                      <a:pt x="1948" y="581"/>
                    </a:lnTo>
                    <a:lnTo>
                      <a:pt x="1947" y="581"/>
                    </a:lnTo>
                    <a:lnTo>
                      <a:pt x="1944" y="584"/>
                    </a:lnTo>
                    <a:lnTo>
                      <a:pt x="1943" y="588"/>
                    </a:lnTo>
                    <a:lnTo>
                      <a:pt x="1941" y="593"/>
                    </a:lnTo>
                    <a:lnTo>
                      <a:pt x="1941" y="600"/>
                    </a:lnTo>
                    <a:lnTo>
                      <a:pt x="1941" y="607"/>
                    </a:lnTo>
                    <a:lnTo>
                      <a:pt x="1951" y="628"/>
                    </a:lnTo>
                    <a:lnTo>
                      <a:pt x="1959" y="624"/>
                    </a:lnTo>
                    <a:lnTo>
                      <a:pt x="1964" y="622"/>
                    </a:lnTo>
                    <a:lnTo>
                      <a:pt x="1978" y="610"/>
                    </a:lnTo>
                    <a:lnTo>
                      <a:pt x="2005" y="601"/>
                    </a:lnTo>
                    <a:lnTo>
                      <a:pt x="2016" y="589"/>
                    </a:lnTo>
                    <a:lnTo>
                      <a:pt x="2037" y="588"/>
                    </a:lnTo>
                    <a:lnTo>
                      <a:pt x="2047" y="601"/>
                    </a:lnTo>
                    <a:lnTo>
                      <a:pt x="2053" y="614"/>
                    </a:lnTo>
                    <a:lnTo>
                      <a:pt x="2057" y="622"/>
                    </a:lnTo>
                    <a:lnTo>
                      <a:pt x="2066" y="630"/>
                    </a:lnTo>
                    <a:lnTo>
                      <a:pt x="2072" y="638"/>
                    </a:lnTo>
                    <a:lnTo>
                      <a:pt x="2075" y="650"/>
                    </a:lnTo>
                    <a:lnTo>
                      <a:pt x="2053" y="657"/>
                    </a:lnTo>
                    <a:lnTo>
                      <a:pt x="2026" y="657"/>
                    </a:lnTo>
                    <a:lnTo>
                      <a:pt x="2029" y="665"/>
                    </a:lnTo>
                    <a:lnTo>
                      <a:pt x="2028" y="688"/>
                    </a:lnTo>
                    <a:lnTo>
                      <a:pt x="2039" y="705"/>
                    </a:lnTo>
                    <a:lnTo>
                      <a:pt x="2039" y="682"/>
                    </a:lnTo>
                    <a:lnTo>
                      <a:pt x="2051" y="676"/>
                    </a:lnTo>
                    <a:lnTo>
                      <a:pt x="2051" y="664"/>
                    </a:lnTo>
                    <a:lnTo>
                      <a:pt x="2059" y="658"/>
                    </a:lnTo>
                    <a:lnTo>
                      <a:pt x="2074" y="664"/>
                    </a:lnTo>
                    <a:lnTo>
                      <a:pt x="2090" y="664"/>
                    </a:lnTo>
                    <a:lnTo>
                      <a:pt x="2097" y="664"/>
                    </a:lnTo>
                    <a:lnTo>
                      <a:pt x="2106" y="662"/>
                    </a:lnTo>
                    <a:lnTo>
                      <a:pt x="2114" y="661"/>
                    </a:lnTo>
                    <a:lnTo>
                      <a:pt x="2137" y="677"/>
                    </a:lnTo>
                    <a:lnTo>
                      <a:pt x="2134" y="664"/>
                    </a:lnTo>
                    <a:lnTo>
                      <a:pt x="2182" y="659"/>
                    </a:lnTo>
                    <a:lnTo>
                      <a:pt x="2173" y="674"/>
                    </a:lnTo>
                    <a:lnTo>
                      <a:pt x="2176" y="692"/>
                    </a:lnTo>
                    <a:lnTo>
                      <a:pt x="2194" y="674"/>
                    </a:lnTo>
                    <a:lnTo>
                      <a:pt x="2195" y="670"/>
                    </a:lnTo>
                    <a:lnTo>
                      <a:pt x="2198" y="666"/>
                    </a:lnTo>
                    <a:lnTo>
                      <a:pt x="2199" y="661"/>
                    </a:lnTo>
                    <a:lnTo>
                      <a:pt x="2203" y="654"/>
                    </a:lnTo>
                    <a:lnTo>
                      <a:pt x="2206" y="650"/>
                    </a:lnTo>
                    <a:lnTo>
                      <a:pt x="2209" y="645"/>
                    </a:lnTo>
                    <a:lnTo>
                      <a:pt x="2218" y="653"/>
                    </a:lnTo>
                    <a:lnTo>
                      <a:pt x="2230" y="653"/>
                    </a:lnTo>
                    <a:lnTo>
                      <a:pt x="2229" y="642"/>
                    </a:lnTo>
                    <a:lnTo>
                      <a:pt x="2230" y="637"/>
                    </a:lnTo>
                    <a:lnTo>
                      <a:pt x="2231" y="632"/>
                    </a:lnTo>
                    <a:lnTo>
                      <a:pt x="2233" y="628"/>
                    </a:lnTo>
                    <a:lnTo>
                      <a:pt x="2234" y="622"/>
                    </a:lnTo>
                    <a:lnTo>
                      <a:pt x="2241" y="632"/>
                    </a:lnTo>
                    <a:lnTo>
                      <a:pt x="2246" y="641"/>
                    </a:lnTo>
                    <a:lnTo>
                      <a:pt x="2256" y="643"/>
                    </a:lnTo>
                    <a:lnTo>
                      <a:pt x="2265" y="646"/>
                    </a:lnTo>
                    <a:lnTo>
                      <a:pt x="2265" y="632"/>
                    </a:lnTo>
                    <a:lnTo>
                      <a:pt x="2279" y="637"/>
                    </a:lnTo>
                    <a:lnTo>
                      <a:pt x="2292" y="639"/>
                    </a:lnTo>
                    <a:lnTo>
                      <a:pt x="2311" y="643"/>
                    </a:lnTo>
                    <a:lnTo>
                      <a:pt x="2323" y="637"/>
                    </a:lnTo>
                    <a:lnTo>
                      <a:pt x="2304" y="632"/>
                    </a:lnTo>
                    <a:lnTo>
                      <a:pt x="2290" y="631"/>
                    </a:lnTo>
                    <a:lnTo>
                      <a:pt x="2279" y="628"/>
                    </a:lnTo>
                    <a:lnTo>
                      <a:pt x="2276" y="622"/>
                    </a:lnTo>
                    <a:lnTo>
                      <a:pt x="2272" y="614"/>
                    </a:lnTo>
                    <a:lnTo>
                      <a:pt x="2268" y="608"/>
                    </a:lnTo>
                    <a:lnTo>
                      <a:pt x="2268" y="589"/>
                    </a:lnTo>
                    <a:lnTo>
                      <a:pt x="2271" y="580"/>
                    </a:lnTo>
                    <a:lnTo>
                      <a:pt x="2273" y="568"/>
                    </a:lnTo>
                    <a:lnTo>
                      <a:pt x="2283" y="561"/>
                    </a:lnTo>
                    <a:lnTo>
                      <a:pt x="2295" y="553"/>
                    </a:lnTo>
                    <a:lnTo>
                      <a:pt x="2303" y="553"/>
                    </a:lnTo>
                    <a:lnTo>
                      <a:pt x="2315" y="552"/>
                    </a:lnTo>
                    <a:lnTo>
                      <a:pt x="2325" y="561"/>
                    </a:lnTo>
                    <a:lnTo>
                      <a:pt x="2334" y="561"/>
                    </a:lnTo>
                    <a:lnTo>
                      <a:pt x="2345" y="560"/>
                    </a:lnTo>
                    <a:lnTo>
                      <a:pt x="2357" y="550"/>
                    </a:lnTo>
                    <a:lnTo>
                      <a:pt x="2366" y="556"/>
                    </a:lnTo>
                    <a:lnTo>
                      <a:pt x="2377" y="556"/>
                    </a:lnTo>
                    <a:lnTo>
                      <a:pt x="2380" y="565"/>
                    </a:lnTo>
                    <a:lnTo>
                      <a:pt x="2396" y="565"/>
                    </a:lnTo>
                    <a:lnTo>
                      <a:pt x="2407" y="562"/>
                    </a:lnTo>
                    <a:lnTo>
                      <a:pt x="2411" y="576"/>
                    </a:lnTo>
                    <a:lnTo>
                      <a:pt x="2424" y="584"/>
                    </a:lnTo>
                    <a:lnTo>
                      <a:pt x="2426" y="595"/>
                    </a:lnTo>
                    <a:lnTo>
                      <a:pt x="2438" y="595"/>
                    </a:lnTo>
                    <a:lnTo>
                      <a:pt x="2443" y="597"/>
                    </a:lnTo>
                    <a:lnTo>
                      <a:pt x="2450" y="599"/>
                    </a:lnTo>
                    <a:lnTo>
                      <a:pt x="2461" y="599"/>
                    </a:lnTo>
                    <a:lnTo>
                      <a:pt x="2465" y="607"/>
                    </a:lnTo>
                    <a:lnTo>
                      <a:pt x="2468" y="612"/>
                    </a:lnTo>
                    <a:lnTo>
                      <a:pt x="2472" y="618"/>
                    </a:lnTo>
                    <a:lnTo>
                      <a:pt x="2472" y="626"/>
                    </a:lnTo>
                    <a:lnTo>
                      <a:pt x="2470" y="631"/>
                    </a:lnTo>
                    <a:lnTo>
                      <a:pt x="2461" y="642"/>
                    </a:lnTo>
                    <a:lnTo>
                      <a:pt x="2460" y="650"/>
                    </a:lnTo>
                    <a:lnTo>
                      <a:pt x="2458" y="654"/>
                    </a:lnTo>
                    <a:lnTo>
                      <a:pt x="2450" y="665"/>
                    </a:lnTo>
                    <a:lnTo>
                      <a:pt x="2454" y="674"/>
                    </a:lnTo>
                    <a:lnTo>
                      <a:pt x="2458" y="678"/>
                    </a:lnTo>
                    <a:lnTo>
                      <a:pt x="2460" y="688"/>
                    </a:lnTo>
                    <a:lnTo>
                      <a:pt x="2455" y="697"/>
                    </a:lnTo>
                    <a:lnTo>
                      <a:pt x="2447" y="700"/>
                    </a:lnTo>
                    <a:lnTo>
                      <a:pt x="2439" y="705"/>
                    </a:lnTo>
                    <a:lnTo>
                      <a:pt x="2441" y="716"/>
                    </a:lnTo>
                    <a:lnTo>
                      <a:pt x="2441" y="731"/>
                    </a:lnTo>
                    <a:lnTo>
                      <a:pt x="2430" y="731"/>
                    </a:lnTo>
                    <a:lnTo>
                      <a:pt x="2426" y="736"/>
                    </a:lnTo>
                    <a:lnTo>
                      <a:pt x="2422" y="743"/>
                    </a:lnTo>
                    <a:lnTo>
                      <a:pt x="2422" y="754"/>
                    </a:lnTo>
                    <a:lnTo>
                      <a:pt x="2420" y="761"/>
                    </a:lnTo>
                    <a:lnTo>
                      <a:pt x="2416" y="769"/>
                    </a:lnTo>
                    <a:lnTo>
                      <a:pt x="2408" y="770"/>
                    </a:lnTo>
                    <a:lnTo>
                      <a:pt x="2401" y="771"/>
                    </a:lnTo>
                    <a:lnTo>
                      <a:pt x="2401" y="784"/>
                    </a:lnTo>
                    <a:lnTo>
                      <a:pt x="2400" y="789"/>
                    </a:lnTo>
                    <a:lnTo>
                      <a:pt x="2400" y="796"/>
                    </a:lnTo>
                    <a:lnTo>
                      <a:pt x="2393" y="800"/>
                    </a:lnTo>
                    <a:lnTo>
                      <a:pt x="2385" y="804"/>
                    </a:lnTo>
                    <a:lnTo>
                      <a:pt x="2383" y="817"/>
                    </a:lnTo>
                    <a:lnTo>
                      <a:pt x="2381" y="829"/>
                    </a:lnTo>
                    <a:lnTo>
                      <a:pt x="2380" y="838"/>
                    </a:lnTo>
                    <a:lnTo>
                      <a:pt x="2375" y="842"/>
                    </a:lnTo>
                    <a:lnTo>
                      <a:pt x="2369" y="846"/>
                    </a:lnTo>
                    <a:lnTo>
                      <a:pt x="2365" y="855"/>
                    </a:lnTo>
                    <a:lnTo>
                      <a:pt x="2364" y="858"/>
                    </a:lnTo>
                    <a:lnTo>
                      <a:pt x="2362" y="867"/>
                    </a:lnTo>
                    <a:lnTo>
                      <a:pt x="2362" y="874"/>
                    </a:lnTo>
                    <a:lnTo>
                      <a:pt x="2354" y="875"/>
                    </a:lnTo>
                    <a:lnTo>
                      <a:pt x="2346" y="881"/>
                    </a:lnTo>
                    <a:lnTo>
                      <a:pt x="2339" y="887"/>
                    </a:lnTo>
                    <a:lnTo>
                      <a:pt x="2333" y="890"/>
                    </a:lnTo>
                    <a:lnTo>
                      <a:pt x="2326" y="893"/>
                    </a:lnTo>
                    <a:lnTo>
                      <a:pt x="2321" y="896"/>
                    </a:lnTo>
                    <a:lnTo>
                      <a:pt x="2308" y="896"/>
                    </a:lnTo>
                    <a:lnTo>
                      <a:pt x="2296" y="913"/>
                    </a:lnTo>
                    <a:lnTo>
                      <a:pt x="2281" y="916"/>
                    </a:lnTo>
                    <a:lnTo>
                      <a:pt x="2260" y="939"/>
                    </a:lnTo>
                    <a:lnTo>
                      <a:pt x="2253" y="937"/>
                    </a:lnTo>
                    <a:lnTo>
                      <a:pt x="2246" y="939"/>
                    </a:lnTo>
                    <a:lnTo>
                      <a:pt x="2240" y="954"/>
                    </a:lnTo>
                    <a:lnTo>
                      <a:pt x="2230" y="955"/>
                    </a:lnTo>
                    <a:lnTo>
                      <a:pt x="2241" y="959"/>
                    </a:lnTo>
                    <a:lnTo>
                      <a:pt x="2252" y="960"/>
                    </a:lnTo>
                    <a:lnTo>
                      <a:pt x="2254" y="960"/>
                    </a:lnTo>
                    <a:lnTo>
                      <a:pt x="2263" y="955"/>
                    </a:lnTo>
                    <a:lnTo>
                      <a:pt x="2268" y="958"/>
                    </a:lnTo>
                    <a:lnTo>
                      <a:pt x="2272" y="959"/>
                    </a:lnTo>
                    <a:lnTo>
                      <a:pt x="2277" y="963"/>
                    </a:lnTo>
                    <a:lnTo>
                      <a:pt x="2302" y="963"/>
                    </a:lnTo>
                    <a:lnTo>
                      <a:pt x="2307" y="974"/>
                    </a:lnTo>
                    <a:lnTo>
                      <a:pt x="2315" y="975"/>
                    </a:lnTo>
                    <a:lnTo>
                      <a:pt x="2319" y="978"/>
                    </a:lnTo>
                    <a:lnTo>
                      <a:pt x="2323" y="981"/>
                    </a:lnTo>
                    <a:lnTo>
                      <a:pt x="2327" y="987"/>
                    </a:lnTo>
                    <a:lnTo>
                      <a:pt x="2337" y="990"/>
                    </a:lnTo>
                    <a:lnTo>
                      <a:pt x="2341" y="998"/>
                    </a:lnTo>
                    <a:lnTo>
                      <a:pt x="2343" y="1005"/>
                    </a:lnTo>
                    <a:lnTo>
                      <a:pt x="2341" y="1013"/>
                    </a:lnTo>
                    <a:lnTo>
                      <a:pt x="2339" y="1026"/>
                    </a:lnTo>
                    <a:lnTo>
                      <a:pt x="2341" y="1035"/>
                    </a:lnTo>
                    <a:lnTo>
                      <a:pt x="2343" y="1041"/>
                    </a:lnTo>
                    <a:lnTo>
                      <a:pt x="2339" y="1052"/>
                    </a:lnTo>
                    <a:lnTo>
                      <a:pt x="2339" y="1066"/>
                    </a:lnTo>
                    <a:lnTo>
                      <a:pt x="2333" y="1071"/>
                    </a:lnTo>
                    <a:lnTo>
                      <a:pt x="2334" y="1078"/>
                    </a:lnTo>
                    <a:lnTo>
                      <a:pt x="2333" y="1083"/>
                    </a:lnTo>
                    <a:lnTo>
                      <a:pt x="2334" y="1088"/>
                    </a:lnTo>
                    <a:lnTo>
                      <a:pt x="2329" y="1101"/>
                    </a:lnTo>
                    <a:lnTo>
                      <a:pt x="2325" y="1111"/>
                    </a:lnTo>
                    <a:lnTo>
                      <a:pt x="2322" y="1115"/>
                    </a:lnTo>
                    <a:lnTo>
                      <a:pt x="2316" y="1118"/>
                    </a:lnTo>
                    <a:lnTo>
                      <a:pt x="2311" y="1129"/>
                    </a:lnTo>
                    <a:lnTo>
                      <a:pt x="2315" y="1138"/>
                    </a:lnTo>
                    <a:lnTo>
                      <a:pt x="2325" y="1142"/>
                    </a:lnTo>
                    <a:lnTo>
                      <a:pt x="2327" y="1147"/>
                    </a:lnTo>
                    <a:lnTo>
                      <a:pt x="2330" y="1151"/>
                    </a:lnTo>
                    <a:lnTo>
                      <a:pt x="2334" y="1155"/>
                    </a:lnTo>
                    <a:lnTo>
                      <a:pt x="2338" y="1157"/>
                    </a:lnTo>
                    <a:lnTo>
                      <a:pt x="2341" y="1161"/>
                    </a:lnTo>
                    <a:lnTo>
                      <a:pt x="2343" y="1168"/>
                    </a:lnTo>
                    <a:lnTo>
                      <a:pt x="2348" y="1171"/>
                    </a:lnTo>
                    <a:lnTo>
                      <a:pt x="2352" y="1173"/>
                    </a:lnTo>
                    <a:lnTo>
                      <a:pt x="2356" y="1176"/>
                    </a:lnTo>
                    <a:lnTo>
                      <a:pt x="2357" y="1182"/>
                    </a:lnTo>
                    <a:lnTo>
                      <a:pt x="2358" y="1184"/>
                    </a:lnTo>
                    <a:lnTo>
                      <a:pt x="2358" y="1188"/>
                    </a:lnTo>
                    <a:lnTo>
                      <a:pt x="2358" y="1190"/>
                    </a:lnTo>
                    <a:lnTo>
                      <a:pt x="2365" y="1192"/>
                    </a:lnTo>
                    <a:lnTo>
                      <a:pt x="2366" y="1198"/>
                    </a:lnTo>
                    <a:lnTo>
                      <a:pt x="2369" y="1205"/>
                    </a:lnTo>
                    <a:lnTo>
                      <a:pt x="2376" y="1206"/>
                    </a:lnTo>
                    <a:lnTo>
                      <a:pt x="2385" y="1207"/>
                    </a:lnTo>
                    <a:lnTo>
                      <a:pt x="2387" y="1214"/>
                    </a:lnTo>
                    <a:lnTo>
                      <a:pt x="2419" y="1214"/>
                    </a:lnTo>
                    <a:lnTo>
                      <a:pt x="2420" y="1219"/>
                    </a:lnTo>
                    <a:lnTo>
                      <a:pt x="2419" y="1226"/>
                    </a:lnTo>
                    <a:lnTo>
                      <a:pt x="2419" y="1234"/>
                    </a:lnTo>
                    <a:lnTo>
                      <a:pt x="2418" y="1242"/>
                    </a:lnTo>
                    <a:lnTo>
                      <a:pt x="2411" y="1248"/>
                    </a:lnTo>
                    <a:lnTo>
                      <a:pt x="2400" y="1249"/>
                    </a:lnTo>
                    <a:lnTo>
                      <a:pt x="2396" y="1260"/>
                    </a:lnTo>
                    <a:lnTo>
                      <a:pt x="2384" y="1260"/>
                    </a:lnTo>
                    <a:lnTo>
                      <a:pt x="2383" y="1275"/>
                    </a:lnTo>
                    <a:lnTo>
                      <a:pt x="2383" y="1283"/>
                    </a:lnTo>
                    <a:lnTo>
                      <a:pt x="2380" y="1287"/>
                    </a:lnTo>
                    <a:lnTo>
                      <a:pt x="2379" y="1291"/>
                    </a:lnTo>
                    <a:lnTo>
                      <a:pt x="2369" y="1295"/>
                    </a:lnTo>
                    <a:lnTo>
                      <a:pt x="2362" y="1304"/>
                    </a:lnTo>
                    <a:lnTo>
                      <a:pt x="2370" y="1310"/>
                    </a:lnTo>
                    <a:lnTo>
                      <a:pt x="2376" y="1319"/>
                    </a:lnTo>
                    <a:lnTo>
                      <a:pt x="2383" y="1321"/>
                    </a:lnTo>
                    <a:lnTo>
                      <a:pt x="2384" y="1330"/>
                    </a:lnTo>
                    <a:lnTo>
                      <a:pt x="2392" y="1335"/>
                    </a:lnTo>
                    <a:lnTo>
                      <a:pt x="2397" y="1346"/>
                    </a:lnTo>
                    <a:lnTo>
                      <a:pt x="2408" y="1345"/>
                    </a:lnTo>
                    <a:lnTo>
                      <a:pt x="2411" y="1353"/>
                    </a:lnTo>
                    <a:lnTo>
                      <a:pt x="2404" y="1358"/>
                    </a:lnTo>
                    <a:lnTo>
                      <a:pt x="2401" y="1369"/>
                    </a:lnTo>
                    <a:lnTo>
                      <a:pt x="2404" y="1372"/>
                    </a:lnTo>
                    <a:lnTo>
                      <a:pt x="2407" y="1376"/>
                    </a:lnTo>
                    <a:lnTo>
                      <a:pt x="2411" y="1381"/>
                    </a:lnTo>
                    <a:lnTo>
                      <a:pt x="2416" y="1387"/>
                    </a:lnTo>
                    <a:lnTo>
                      <a:pt x="2418" y="1389"/>
                    </a:lnTo>
                    <a:lnTo>
                      <a:pt x="2418" y="1395"/>
                    </a:lnTo>
                    <a:lnTo>
                      <a:pt x="2419" y="1397"/>
                    </a:lnTo>
                    <a:lnTo>
                      <a:pt x="2422" y="1400"/>
                    </a:lnTo>
                    <a:lnTo>
                      <a:pt x="2426" y="1404"/>
                    </a:lnTo>
                    <a:lnTo>
                      <a:pt x="2428" y="1408"/>
                    </a:lnTo>
                    <a:lnTo>
                      <a:pt x="2433" y="1410"/>
                    </a:lnTo>
                    <a:lnTo>
                      <a:pt x="2435" y="1411"/>
                    </a:lnTo>
                    <a:lnTo>
                      <a:pt x="2439" y="1412"/>
                    </a:lnTo>
                    <a:lnTo>
                      <a:pt x="2450" y="1412"/>
                    </a:lnTo>
                    <a:lnTo>
                      <a:pt x="2451" y="1416"/>
                    </a:lnTo>
                    <a:lnTo>
                      <a:pt x="2461" y="1420"/>
                    </a:lnTo>
                    <a:lnTo>
                      <a:pt x="2465" y="1420"/>
                    </a:lnTo>
                    <a:lnTo>
                      <a:pt x="2473" y="1430"/>
                    </a:lnTo>
                    <a:lnTo>
                      <a:pt x="2449" y="1446"/>
                    </a:lnTo>
                    <a:lnTo>
                      <a:pt x="2437" y="1446"/>
                    </a:lnTo>
                    <a:lnTo>
                      <a:pt x="2430" y="1453"/>
                    </a:lnTo>
                    <a:lnTo>
                      <a:pt x="2428" y="1458"/>
                    </a:lnTo>
                    <a:lnTo>
                      <a:pt x="2427" y="1466"/>
                    </a:lnTo>
                    <a:lnTo>
                      <a:pt x="2428" y="1476"/>
                    </a:lnTo>
                    <a:lnTo>
                      <a:pt x="2423" y="1480"/>
                    </a:lnTo>
                    <a:lnTo>
                      <a:pt x="2418" y="1485"/>
                    </a:lnTo>
                    <a:lnTo>
                      <a:pt x="2411" y="1488"/>
                    </a:lnTo>
                    <a:lnTo>
                      <a:pt x="2408" y="1492"/>
                    </a:lnTo>
                    <a:lnTo>
                      <a:pt x="2406" y="1497"/>
                    </a:lnTo>
                    <a:lnTo>
                      <a:pt x="2403" y="1504"/>
                    </a:lnTo>
                    <a:lnTo>
                      <a:pt x="2401" y="1511"/>
                    </a:lnTo>
                    <a:lnTo>
                      <a:pt x="2401" y="1519"/>
                    </a:lnTo>
                    <a:lnTo>
                      <a:pt x="2401" y="1523"/>
                    </a:lnTo>
                    <a:lnTo>
                      <a:pt x="2415" y="1531"/>
                    </a:lnTo>
                    <a:lnTo>
                      <a:pt x="2423" y="1528"/>
                    </a:lnTo>
                    <a:lnTo>
                      <a:pt x="2428" y="1526"/>
                    </a:lnTo>
                    <a:lnTo>
                      <a:pt x="2438" y="1527"/>
                    </a:lnTo>
                    <a:lnTo>
                      <a:pt x="2439" y="1535"/>
                    </a:lnTo>
                    <a:lnTo>
                      <a:pt x="2433" y="1544"/>
                    </a:lnTo>
                    <a:lnTo>
                      <a:pt x="2420" y="1544"/>
                    </a:lnTo>
                    <a:lnTo>
                      <a:pt x="2416" y="1551"/>
                    </a:lnTo>
                    <a:lnTo>
                      <a:pt x="2424" y="1558"/>
                    </a:lnTo>
                    <a:lnTo>
                      <a:pt x="2433" y="1566"/>
                    </a:lnTo>
                    <a:lnTo>
                      <a:pt x="2427" y="1573"/>
                    </a:lnTo>
                    <a:lnTo>
                      <a:pt x="2416" y="1574"/>
                    </a:lnTo>
                    <a:lnTo>
                      <a:pt x="2416" y="1580"/>
                    </a:lnTo>
                    <a:lnTo>
                      <a:pt x="2415" y="1585"/>
                    </a:lnTo>
                    <a:lnTo>
                      <a:pt x="2416" y="1590"/>
                    </a:lnTo>
                    <a:lnTo>
                      <a:pt x="2418" y="1597"/>
                    </a:lnTo>
                    <a:lnTo>
                      <a:pt x="2422" y="1603"/>
                    </a:lnTo>
                    <a:lnTo>
                      <a:pt x="2426" y="1608"/>
                    </a:lnTo>
                    <a:lnTo>
                      <a:pt x="2424" y="1615"/>
                    </a:lnTo>
                    <a:lnTo>
                      <a:pt x="2424" y="1623"/>
                    </a:lnTo>
                    <a:lnTo>
                      <a:pt x="2416" y="1625"/>
                    </a:lnTo>
                    <a:lnTo>
                      <a:pt x="2416" y="1631"/>
                    </a:lnTo>
                    <a:lnTo>
                      <a:pt x="2416" y="1636"/>
                    </a:lnTo>
                    <a:lnTo>
                      <a:pt x="2418" y="1639"/>
                    </a:lnTo>
                    <a:lnTo>
                      <a:pt x="2420" y="1644"/>
                    </a:lnTo>
                    <a:lnTo>
                      <a:pt x="2426" y="1647"/>
                    </a:lnTo>
                    <a:lnTo>
                      <a:pt x="2430" y="1648"/>
                    </a:lnTo>
                    <a:lnTo>
                      <a:pt x="2430" y="1661"/>
                    </a:lnTo>
                    <a:lnTo>
                      <a:pt x="2423" y="1665"/>
                    </a:lnTo>
                    <a:lnTo>
                      <a:pt x="2415" y="1670"/>
                    </a:lnTo>
                    <a:lnTo>
                      <a:pt x="2414" y="1669"/>
                    </a:lnTo>
                    <a:lnTo>
                      <a:pt x="2410" y="1667"/>
                    </a:lnTo>
                    <a:lnTo>
                      <a:pt x="2406" y="1666"/>
                    </a:lnTo>
                    <a:lnTo>
                      <a:pt x="2401" y="1667"/>
                    </a:lnTo>
                    <a:lnTo>
                      <a:pt x="2396" y="1669"/>
                    </a:lnTo>
                    <a:lnTo>
                      <a:pt x="2389" y="1674"/>
                    </a:lnTo>
                    <a:lnTo>
                      <a:pt x="2385" y="1678"/>
                    </a:lnTo>
                    <a:lnTo>
                      <a:pt x="2383" y="1682"/>
                    </a:lnTo>
                    <a:lnTo>
                      <a:pt x="2379" y="1689"/>
                    </a:lnTo>
                    <a:lnTo>
                      <a:pt x="2368" y="1696"/>
                    </a:lnTo>
                    <a:lnTo>
                      <a:pt x="2353" y="1696"/>
                    </a:lnTo>
                    <a:lnTo>
                      <a:pt x="2346" y="1689"/>
                    </a:lnTo>
                    <a:lnTo>
                      <a:pt x="2333" y="1696"/>
                    </a:lnTo>
                    <a:lnTo>
                      <a:pt x="2326" y="1694"/>
                    </a:lnTo>
                    <a:lnTo>
                      <a:pt x="2321" y="1692"/>
                    </a:lnTo>
                    <a:lnTo>
                      <a:pt x="2314" y="1689"/>
                    </a:lnTo>
                    <a:lnTo>
                      <a:pt x="2308" y="1681"/>
                    </a:lnTo>
                    <a:lnTo>
                      <a:pt x="2304" y="1675"/>
                    </a:lnTo>
                    <a:lnTo>
                      <a:pt x="2303" y="1673"/>
                    </a:lnTo>
                    <a:lnTo>
                      <a:pt x="2292" y="1667"/>
                    </a:lnTo>
                    <a:lnTo>
                      <a:pt x="2288" y="1693"/>
                    </a:lnTo>
                    <a:lnTo>
                      <a:pt x="2281" y="1692"/>
                    </a:lnTo>
                    <a:lnTo>
                      <a:pt x="2277" y="1692"/>
                    </a:lnTo>
                    <a:lnTo>
                      <a:pt x="2269" y="1682"/>
                    </a:lnTo>
                    <a:lnTo>
                      <a:pt x="2264" y="1679"/>
                    </a:lnTo>
                    <a:lnTo>
                      <a:pt x="2258" y="1678"/>
                    </a:lnTo>
                    <a:lnTo>
                      <a:pt x="2257" y="1665"/>
                    </a:lnTo>
                    <a:lnTo>
                      <a:pt x="2254" y="1663"/>
                    </a:lnTo>
                    <a:lnTo>
                      <a:pt x="2248" y="1662"/>
                    </a:lnTo>
                    <a:lnTo>
                      <a:pt x="2238" y="1662"/>
                    </a:lnTo>
                    <a:lnTo>
                      <a:pt x="2231" y="1662"/>
                    </a:lnTo>
                    <a:lnTo>
                      <a:pt x="2226" y="1666"/>
                    </a:lnTo>
                    <a:lnTo>
                      <a:pt x="2221" y="1669"/>
                    </a:lnTo>
                    <a:lnTo>
                      <a:pt x="2217" y="1679"/>
                    </a:lnTo>
                    <a:lnTo>
                      <a:pt x="2205" y="1671"/>
                    </a:lnTo>
                    <a:lnTo>
                      <a:pt x="2206" y="1662"/>
                    </a:lnTo>
                    <a:lnTo>
                      <a:pt x="2207" y="1656"/>
                    </a:lnTo>
                    <a:lnTo>
                      <a:pt x="2209" y="1647"/>
                    </a:lnTo>
                    <a:lnTo>
                      <a:pt x="2209" y="1640"/>
                    </a:lnTo>
                    <a:lnTo>
                      <a:pt x="2206" y="1635"/>
                    </a:lnTo>
                    <a:lnTo>
                      <a:pt x="2202" y="1629"/>
                    </a:lnTo>
                    <a:lnTo>
                      <a:pt x="2196" y="1624"/>
                    </a:lnTo>
                    <a:lnTo>
                      <a:pt x="2192" y="1620"/>
                    </a:lnTo>
                    <a:lnTo>
                      <a:pt x="2192" y="1604"/>
                    </a:lnTo>
                    <a:lnTo>
                      <a:pt x="2187" y="1608"/>
                    </a:lnTo>
                    <a:lnTo>
                      <a:pt x="2180" y="1611"/>
                    </a:lnTo>
                    <a:lnTo>
                      <a:pt x="2172" y="1615"/>
                    </a:lnTo>
                    <a:lnTo>
                      <a:pt x="2165" y="1616"/>
                    </a:lnTo>
                    <a:lnTo>
                      <a:pt x="2164" y="1625"/>
                    </a:lnTo>
                    <a:lnTo>
                      <a:pt x="2155" y="1642"/>
                    </a:lnTo>
                    <a:lnTo>
                      <a:pt x="2151" y="1635"/>
                    </a:lnTo>
                    <a:lnTo>
                      <a:pt x="2151" y="1627"/>
                    </a:lnTo>
                    <a:lnTo>
                      <a:pt x="2151" y="1617"/>
                    </a:lnTo>
                    <a:lnTo>
                      <a:pt x="2151" y="1612"/>
                    </a:lnTo>
                    <a:lnTo>
                      <a:pt x="2148" y="1605"/>
                    </a:lnTo>
                    <a:lnTo>
                      <a:pt x="2145" y="1597"/>
                    </a:lnTo>
                    <a:lnTo>
                      <a:pt x="2144" y="1594"/>
                    </a:lnTo>
                    <a:lnTo>
                      <a:pt x="2140" y="1589"/>
                    </a:lnTo>
                    <a:lnTo>
                      <a:pt x="2136" y="1586"/>
                    </a:lnTo>
                    <a:lnTo>
                      <a:pt x="2134" y="1576"/>
                    </a:lnTo>
                    <a:lnTo>
                      <a:pt x="2128" y="1571"/>
                    </a:lnTo>
                    <a:lnTo>
                      <a:pt x="2124" y="1569"/>
                    </a:lnTo>
                    <a:lnTo>
                      <a:pt x="2115" y="1567"/>
                    </a:lnTo>
                    <a:lnTo>
                      <a:pt x="2110" y="1565"/>
                    </a:lnTo>
                    <a:lnTo>
                      <a:pt x="2097" y="1555"/>
                    </a:lnTo>
                    <a:lnTo>
                      <a:pt x="2093" y="1561"/>
                    </a:lnTo>
                    <a:lnTo>
                      <a:pt x="2088" y="1565"/>
                    </a:lnTo>
                    <a:lnTo>
                      <a:pt x="2084" y="1571"/>
                    </a:lnTo>
                    <a:lnTo>
                      <a:pt x="2080" y="1577"/>
                    </a:lnTo>
                    <a:lnTo>
                      <a:pt x="2072" y="1581"/>
                    </a:lnTo>
                    <a:lnTo>
                      <a:pt x="2070" y="1584"/>
                    </a:lnTo>
                    <a:lnTo>
                      <a:pt x="2064" y="1596"/>
                    </a:lnTo>
                    <a:lnTo>
                      <a:pt x="2060" y="1601"/>
                    </a:lnTo>
                    <a:lnTo>
                      <a:pt x="2052" y="1605"/>
                    </a:lnTo>
                    <a:lnTo>
                      <a:pt x="2047" y="1607"/>
                    </a:lnTo>
                    <a:lnTo>
                      <a:pt x="2045" y="1603"/>
                    </a:lnTo>
                    <a:lnTo>
                      <a:pt x="2041" y="1589"/>
                    </a:lnTo>
                    <a:lnTo>
                      <a:pt x="2041" y="1581"/>
                    </a:lnTo>
                    <a:lnTo>
                      <a:pt x="2041" y="1574"/>
                    </a:lnTo>
                    <a:lnTo>
                      <a:pt x="2044" y="1566"/>
                    </a:lnTo>
                    <a:lnTo>
                      <a:pt x="2047" y="1559"/>
                    </a:lnTo>
                    <a:lnTo>
                      <a:pt x="2047" y="1551"/>
                    </a:lnTo>
                    <a:lnTo>
                      <a:pt x="2047" y="1543"/>
                    </a:lnTo>
                    <a:lnTo>
                      <a:pt x="2048" y="1538"/>
                    </a:lnTo>
                    <a:lnTo>
                      <a:pt x="2051" y="1532"/>
                    </a:lnTo>
                    <a:lnTo>
                      <a:pt x="2051" y="1528"/>
                    </a:lnTo>
                    <a:lnTo>
                      <a:pt x="2048" y="1522"/>
                    </a:lnTo>
                    <a:lnTo>
                      <a:pt x="2045" y="1516"/>
                    </a:lnTo>
                    <a:lnTo>
                      <a:pt x="2036" y="1507"/>
                    </a:lnTo>
                    <a:lnTo>
                      <a:pt x="2045" y="1497"/>
                    </a:lnTo>
                    <a:lnTo>
                      <a:pt x="2052" y="1491"/>
                    </a:lnTo>
                    <a:lnTo>
                      <a:pt x="2059" y="1482"/>
                    </a:lnTo>
                    <a:lnTo>
                      <a:pt x="2060" y="1477"/>
                    </a:lnTo>
                    <a:lnTo>
                      <a:pt x="2059" y="1473"/>
                    </a:lnTo>
                    <a:lnTo>
                      <a:pt x="2059" y="1466"/>
                    </a:lnTo>
                    <a:lnTo>
                      <a:pt x="2056" y="1453"/>
                    </a:lnTo>
                    <a:lnTo>
                      <a:pt x="2052" y="1445"/>
                    </a:lnTo>
                    <a:lnTo>
                      <a:pt x="2055" y="1441"/>
                    </a:lnTo>
                    <a:lnTo>
                      <a:pt x="2057" y="1435"/>
                    </a:lnTo>
                    <a:lnTo>
                      <a:pt x="2061" y="1431"/>
                    </a:lnTo>
                    <a:lnTo>
                      <a:pt x="2066" y="1427"/>
                    </a:lnTo>
                    <a:lnTo>
                      <a:pt x="2067" y="1412"/>
                    </a:lnTo>
                    <a:lnTo>
                      <a:pt x="2071" y="1408"/>
                    </a:lnTo>
                    <a:lnTo>
                      <a:pt x="2076" y="1401"/>
                    </a:lnTo>
                    <a:lnTo>
                      <a:pt x="2078" y="1397"/>
                    </a:lnTo>
                    <a:lnTo>
                      <a:pt x="2078" y="1392"/>
                    </a:lnTo>
                    <a:lnTo>
                      <a:pt x="2079" y="1388"/>
                    </a:lnTo>
                    <a:lnTo>
                      <a:pt x="2079" y="1383"/>
                    </a:lnTo>
                    <a:lnTo>
                      <a:pt x="2079" y="1373"/>
                    </a:lnTo>
                    <a:lnTo>
                      <a:pt x="2087" y="1358"/>
                    </a:lnTo>
                    <a:lnTo>
                      <a:pt x="2084" y="1353"/>
                    </a:lnTo>
                    <a:lnTo>
                      <a:pt x="2017" y="1346"/>
                    </a:lnTo>
                    <a:lnTo>
                      <a:pt x="1804" y="1323"/>
                    </a:lnTo>
                    <a:lnTo>
                      <a:pt x="1654" y="1308"/>
                    </a:lnTo>
                    <a:lnTo>
                      <a:pt x="1576" y="1300"/>
                    </a:lnTo>
                    <a:lnTo>
                      <a:pt x="1543" y="1298"/>
                    </a:lnTo>
                    <a:lnTo>
                      <a:pt x="1515" y="1295"/>
                    </a:lnTo>
                    <a:lnTo>
                      <a:pt x="1508" y="1294"/>
                    </a:lnTo>
                    <a:lnTo>
                      <a:pt x="1495" y="1290"/>
                    </a:lnTo>
                    <a:lnTo>
                      <a:pt x="1479" y="1275"/>
                    </a:lnTo>
                    <a:lnTo>
                      <a:pt x="1472" y="1261"/>
                    </a:lnTo>
                    <a:lnTo>
                      <a:pt x="1462" y="1263"/>
                    </a:lnTo>
                    <a:lnTo>
                      <a:pt x="1458" y="1249"/>
                    </a:lnTo>
                    <a:lnTo>
                      <a:pt x="1449" y="1246"/>
                    </a:lnTo>
                    <a:lnTo>
                      <a:pt x="1435" y="1236"/>
                    </a:lnTo>
                    <a:lnTo>
                      <a:pt x="1434" y="1219"/>
                    </a:lnTo>
                    <a:lnTo>
                      <a:pt x="1427" y="1207"/>
                    </a:lnTo>
                    <a:lnTo>
                      <a:pt x="1427" y="1192"/>
                    </a:lnTo>
                    <a:lnTo>
                      <a:pt x="1425" y="1183"/>
                    </a:lnTo>
                    <a:lnTo>
                      <a:pt x="1422" y="1178"/>
                    </a:lnTo>
                    <a:lnTo>
                      <a:pt x="1418" y="1169"/>
                    </a:lnTo>
                    <a:lnTo>
                      <a:pt x="1414" y="1164"/>
                    </a:lnTo>
                    <a:lnTo>
                      <a:pt x="1410" y="1156"/>
                    </a:lnTo>
                    <a:lnTo>
                      <a:pt x="1406" y="1144"/>
                    </a:lnTo>
                    <a:lnTo>
                      <a:pt x="1403" y="1129"/>
                    </a:lnTo>
                    <a:lnTo>
                      <a:pt x="1391" y="1129"/>
                    </a:lnTo>
                    <a:lnTo>
                      <a:pt x="1388" y="1117"/>
                    </a:lnTo>
                    <a:lnTo>
                      <a:pt x="1387" y="1129"/>
                    </a:lnTo>
                    <a:lnTo>
                      <a:pt x="1385" y="1138"/>
                    </a:lnTo>
                    <a:lnTo>
                      <a:pt x="1385" y="1141"/>
                    </a:lnTo>
                    <a:lnTo>
                      <a:pt x="1380" y="1155"/>
                    </a:lnTo>
                    <a:lnTo>
                      <a:pt x="1376" y="1167"/>
                    </a:lnTo>
                    <a:lnTo>
                      <a:pt x="1373" y="1171"/>
                    </a:lnTo>
                    <a:lnTo>
                      <a:pt x="1371" y="1175"/>
                    </a:lnTo>
                    <a:lnTo>
                      <a:pt x="1369" y="1183"/>
                    </a:lnTo>
                    <a:lnTo>
                      <a:pt x="1368" y="1194"/>
                    </a:lnTo>
                    <a:lnTo>
                      <a:pt x="1367" y="1199"/>
                    </a:lnTo>
                    <a:lnTo>
                      <a:pt x="1369" y="1221"/>
                    </a:lnTo>
                    <a:lnTo>
                      <a:pt x="1356" y="1225"/>
                    </a:lnTo>
                    <a:lnTo>
                      <a:pt x="1353" y="1246"/>
                    </a:lnTo>
                    <a:lnTo>
                      <a:pt x="1228" y="1248"/>
                    </a:lnTo>
                    <a:lnTo>
                      <a:pt x="1114" y="1249"/>
                    </a:lnTo>
                    <a:lnTo>
                      <a:pt x="1110" y="1248"/>
                    </a:lnTo>
                    <a:lnTo>
                      <a:pt x="1110" y="1254"/>
                    </a:lnTo>
                    <a:lnTo>
                      <a:pt x="1110" y="1260"/>
                    </a:lnTo>
                    <a:lnTo>
                      <a:pt x="1097" y="1273"/>
                    </a:lnTo>
                    <a:lnTo>
                      <a:pt x="1102" y="1283"/>
                    </a:lnTo>
                    <a:lnTo>
                      <a:pt x="1108" y="1288"/>
                    </a:lnTo>
                    <a:lnTo>
                      <a:pt x="1113" y="1296"/>
                    </a:lnTo>
                    <a:lnTo>
                      <a:pt x="1113" y="1303"/>
                    </a:lnTo>
                    <a:lnTo>
                      <a:pt x="1114" y="1308"/>
                    </a:lnTo>
                    <a:lnTo>
                      <a:pt x="1116" y="1314"/>
                    </a:lnTo>
                    <a:lnTo>
                      <a:pt x="1116" y="1319"/>
                    </a:lnTo>
                    <a:lnTo>
                      <a:pt x="1117" y="1327"/>
                    </a:lnTo>
                    <a:lnTo>
                      <a:pt x="1114" y="1334"/>
                    </a:lnTo>
                    <a:lnTo>
                      <a:pt x="1112" y="1341"/>
                    </a:lnTo>
                    <a:lnTo>
                      <a:pt x="1108" y="1348"/>
                    </a:lnTo>
                    <a:lnTo>
                      <a:pt x="1106" y="1352"/>
                    </a:lnTo>
                    <a:lnTo>
                      <a:pt x="1105" y="1356"/>
                    </a:lnTo>
                    <a:lnTo>
                      <a:pt x="1101" y="1362"/>
                    </a:lnTo>
                    <a:lnTo>
                      <a:pt x="1097" y="1369"/>
                    </a:lnTo>
                    <a:lnTo>
                      <a:pt x="1097" y="1379"/>
                    </a:lnTo>
                    <a:lnTo>
                      <a:pt x="1097" y="1387"/>
                    </a:lnTo>
                    <a:lnTo>
                      <a:pt x="1098" y="1395"/>
                    </a:lnTo>
                    <a:lnTo>
                      <a:pt x="1102" y="1401"/>
                    </a:lnTo>
                    <a:lnTo>
                      <a:pt x="1109" y="1408"/>
                    </a:lnTo>
                    <a:lnTo>
                      <a:pt x="1117" y="1414"/>
                    </a:lnTo>
                    <a:lnTo>
                      <a:pt x="1122" y="1419"/>
                    </a:lnTo>
                    <a:lnTo>
                      <a:pt x="1130" y="1424"/>
                    </a:lnTo>
                    <a:lnTo>
                      <a:pt x="1136" y="1431"/>
                    </a:lnTo>
                    <a:lnTo>
                      <a:pt x="1141" y="1437"/>
                    </a:lnTo>
                    <a:lnTo>
                      <a:pt x="1149" y="1442"/>
                    </a:lnTo>
                    <a:lnTo>
                      <a:pt x="1159" y="1445"/>
                    </a:lnTo>
                    <a:lnTo>
                      <a:pt x="1161" y="1442"/>
                    </a:lnTo>
                    <a:lnTo>
                      <a:pt x="1167" y="1439"/>
                    </a:lnTo>
                    <a:lnTo>
                      <a:pt x="1172" y="1431"/>
                    </a:lnTo>
                    <a:lnTo>
                      <a:pt x="1180" y="1431"/>
                    </a:lnTo>
                    <a:lnTo>
                      <a:pt x="1186" y="1437"/>
                    </a:lnTo>
                    <a:lnTo>
                      <a:pt x="1191" y="1442"/>
                    </a:lnTo>
                    <a:lnTo>
                      <a:pt x="1201" y="1449"/>
                    </a:lnTo>
                    <a:lnTo>
                      <a:pt x="1202" y="1451"/>
                    </a:lnTo>
                    <a:lnTo>
                      <a:pt x="1206" y="1454"/>
                    </a:lnTo>
                    <a:lnTo>
                      <a:pt x="1209" y="1457"/>
                    </a:lnTo>
                    <a:lnTo>
                      <a:pt x="1210" y="1460"/>
                    </a:lnTo>
                    <a:lnTo>
                      <a:pt x="1222" y="1461"/>
                    </a:lnTo>
                    <a:lnTo>
                      <a:pt x="1232" y="1464"/>
                    </a:lnTo>
                    <a:lnTo>
                      <a:pt x="1233" y="1470"/>
                    </a:lnTo>
                    <a:lnTo>
                      <a:pt x="1232" y="1482"/>
                    </a:lnTo>
                    <a:lnTo>
                      <a:pt x="1226" y="1488"/>
                    </a:lnTo>
                    <a:lnTo>
                      <a:pt x="1224" y="1493"/>
                    </a:lnTo>
                    <a:lnTo>
                      <a:pt x="1222" y="1497"/>
                    </a:lnTo>
                    <a:lnTo>
                      <a:pt x="1226" y="1507"/>
                    </a:lnTo>
                    <a:lnTo>
                      <a:pt x="1232" y="1516"/>
                    </a:lnTo>
                    <a:lnTo>
                      <a:pt x="1234" y="1522"/>
                    </a:lnTo>
                    <a:lnTo>
                      <a:pt x="1234" y="1530"/>
                    </a:lnTo>
                    <a:lnTo>
                      <a:pt x="1233" y="1538"/>
                    </a:lnTo>
                    <a:lnTo>
                      <a:pt x="1233" y="1542"/>
                    </a:lnTo>
                    <a:lnTo>
                      <a:pt x="1229" y="1549"/>
                    </a:lnTo>
                    <a:lnTo>
                      <a:pt x="1229" y="1558"/>
                    </a:lnTo>
                    <a:lnTo>
                      <a:pt x="1229" y="1566"/>
                    </a:lnTo>
                    <a:lnTo>
                      <a:pt x="1229" y="1573"/>
                    </a:lnTo>
                    <a:lnTo>
                      <a:pt x="1226" y="1578"/>
                    </a:lnTo>
                    <a:lnTo>
                      <a:pt x="1221" y="1592"/>
                    </a:lnTo>
                    <a:lnTo>
                      <a:pt x="1220" y="1596"/>
                    </a:lnTo>
                    <a:lnTo>
                      <a:pt x="1218" y="1603"/>
                    </a:lnTo>
                    <a:lnTo>
                      <a:pt x="1217" y="1609"/>
                    </a:lnTo>
                    <a:lnTo>
                      <a:pt x="1218" y="1616"/>
                    </a:lnTo>
                    <a:lnTo>
                      <a:pt x="1210" y="1623"/>
                    </a:lnTo>
                    <a:lnTo>
                      <a:pt x="1210" y="1629"/>
                    </a:lnTo>
                    <a:lnTo>
                      <a:pt x="1210" y="1636"/>
                    </a:lnTo>
                    <a:lnTo>
                      <a:pt x="1207" y="1644"/>
                    </a:lnTo>
                    <a:lnTo>
                      <a:pt x="1202" y="1648"/>
                    </a:lnTo>
                    <a:lnTo>
                      <a:pt x="1199" y="1651"/>
                    </a:lnTo>
                    <a:lnTo>
                      <a:pt x="1195" y="1661"/>
                    </a:lnTo>
                    <a:lnTo>
                      <a:pt x="1193" y="1663"/>
                    </a:lnTo>
                    <a:lnTo>
                      <a:pt x="1184" y="1666"/>
                    </a:lnTo>
                    <a:lnTo>
                      <a:pt x="1179" y="1671"/>
                    </a:lnTo>
                    <a:lnTo>
                      <a:pt x="1174" y="1679"/>
                    </a:lnTo>
                    <a:lnTo>
                      <a:pt x="1170" y="1685"/>
                    </a:lnTo>
                    <a:lnTo>
                      <a:pt x="1167" y="1692"/>
                    </a:lnTo>
                    <a:close/>
                  </a:path>
                </a:pathLst>
              </a:custGeom>
              <a:solidFill>
                <a:schemeClr val="accent2"/>
              </a:solidFill>
              <a:ln w="6350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pt-BR" sz="1200">
                  <a:latin typeface="Source Serif Pro" panose="02040603050405020204" pitchFamily="18" charset="0"/>
                  <a:ea typeface="Source Serif Pro" panose="02040603050405020204" pitchFamily="18" charset="0"/>
                </a:endParaRPr>
              </a:p>
            </p:txBody>
          </p:sp>
          <p:sp>
            <p:nvSpPr>
              <p:cNvPr id="9" name="Freeform 6">
                <a:extLst>
                  <a:ext uri="{FF2B5EF4-FFF2-40B4-BE49-F238E27FC236}">
                    <a16:creationId xmlns:a16="http://schemas.microsoft.com/office/drawing/2014/main" id="{CA77A79D-C695-A100-A6CA-1D1C0CAE08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446" y="1006"/>
                <a:ext cx="213" cy="149"/>
              </a:xfrm>
              <a:custGeom>
                <a:avLst/>
                <a:gdLst/>
                <a:ahLst/>
                <a:cxnLst>
                  <a:cxn ang="0">
                    <a:pos x="29" y="0"/>
                  </a:cxn>
                  <a:cxn ang="0">
                    <a:pos x="21" y="1"/>
                  </a:cxn>
                  <a:cxn ang="0">
                    <a:pos x="17" y="6"/>
                  </a:cxn>
                  <a:cxn ang="0">
                    <a:pos x="12" y="13"/>
                  </a:cxn>
                  <a:cxn ang="0">
                    <a:pos x="5" y="19"/>
                  </a:cxn>
                  <a:cxn ang="0">
                    <a:pos x="5" y="29"/>
                  </a:cxn>
                  <a:cxn ang="0">
                    <a:pos x="2" y="40"/>
                  </a:cxn>
                  <a:cxn ang="0">
                    <a:pos x="8" y="50"/>
                  </a:cxn>
                  <a:cxn ang="0">
                    <a:pos x="16" y="52"/>
                  </a:cxn>
                  <a:cxn ang="0">
                    <a:pos x="15" y="58"/>
                  </a:cxn>
                  <a:cxn ang="0">
                    <a:pos x="4" y="54"/>
                  </a:cxn>
                  <a:cxn ang="0">
                    <a:pos x="0" y="60"/>
                  </a:cxn>
                  <a:cxn ang="0">
                    <a:pos x="0" y="71"/>
                  </a:cxn>
                  <a:cxn ang="0">
                    <a:pos x="8" y="75"/>
                  </a:cxn>
                  <a:cxn ang="0">
                    <a:pos x="17" y="85"/>
                  </a:cxn>
                  <a:cxn ang="0">
                    <a:pos x="21" y="95"/>
                  </a:cxn>
                  <a:cxn ang="0">
                    <a:pos x="25" y="104"/>
                  </a:cxn>
                  <a:cxn ang="0">
                    <a:pos x="20" y="113"/>
                  </a:cxn>
                  <a:cxn ang="0">
                    <a:pos x="13" y="118"/>
                  </a:cxn>
                  <a:cxn ang="0">
                    <a:pos x="23" y="132"/>
                  </a:cxn>
                  <a:cxn ang="0">
                    <a:pos x="34" y="143"/>
                  </a:cxn>
                  <a:cxn ang="0">
                    <a:pos x="47" y="148"/>
                  </a:cxn>
                  <a:cxn ang="0">
                    <a:pos x="63" y="148"/>
                  </a:cxn>
                  <a:cxn ang="0">
                    <a:pos x="74" y="149"/>
                  </a:cxn>
                  <a:cxn ang="0">
                    <a:pos x="81" y="144"/>
                  </a:cxn>
                  <a:cxn ang="0">
                    <a:pos x="90" y="145"/>
                  </a:cxn>
                  <a:cxn ang="0">
                    <a:pos x="101" y="147"/>
                  </a:cxn>
                  <a:cxn ang="0">
                    <a:pos x="110" y="136"/>
                  </a:cxn>
                  <a:cxn ang="0">
                    <a:pos x="117" y="133"/>
                  </a:cxn>
                  <a:cxn ang="0">
                    <a:pos x="140" y="133"/>
                  </a:cxn>
                  <a:cxn ang="0">
                    <a:pos x="147" y="128"/>
                  </a:cxn>
                  <a:cxn ang="0">
                    <a:pos x="158" y="125"/>
                  </a:cxn>
                  <a:cxn ang="0">
                    <a:pos x="163" y="117"/>
                  </a:cxn>
                  <a:cxn ang="0">
                    <a:pos x="164" y="95"/>
                  </a:cxn>
                  <a:cxn ang="0">
                    <a:pos x="174" y="93"/>
                  </a:cxn>
                  <a:cxn ang="0">
                    <a:pos x="183" y="82"/>
                  </a:cxn>
                  <a:cxn ang="0">
                    <a:pos x="189" y="67"/>
                  </a:cxn>
                  <a:cxn ang="0">
                    <a:pos x="195" y="55"/>
                  </a:cxn>
                  <a:cxn ang="0">
                    <a:pos x="202" y="47"/>
                  </a:cxn>
                  <a:cxn ang="0">
                    <a:pos x="205" y="32"/>
                  </a:cxn>
                  <a:cxn ang="0">
                    <a:pos x="214" y="27"/>
                  </a:cxn>
                  <a:cxn ang="0">
                    <a:pos x="212" y="12"/>
                  </a:cxn>
                  <a:cxn ang="0">
                    <a:pos x="205" y="12"/>
                  </a:cxn>
                  <a:cxn ang="0">
                    <a:pos x="189" y="16"/>
                  </a:cxn>
                  <a:cxn ang="0">
                    <a:pos x="178" y="19"/>
                  </a:cxn>
                  <a:cxn ang="0">
                    <a:pos x="168" y="16"/>
                  </a:cxn>
                  <a:cxn ang="0">
                    <a:pos x="162" y="10"/>
                  </a:cxn>
                  <a:cxn ang="0">
                    <a:pos x="150" y="5"/>
                  </a:cxn>
                  <a:cxn ang="0">
                    <a:pos x="136" y="5"/>
                  </a:cxn>
                  <a:cxn ang="0">
                    <a:pos x="121" y="8"/>
                  </a:cxn>
                  <a:cxn ang="0">
                    <a:pos x="109" y="14"/>
                  </a:cxn>
                  <a:cxn ang="0">
                    <a:pos x="94" y="17"/>
                  </a:cxn>
                  <a:cxn ang="0">
                    <a:pos x="78" y="17"/>
                  </a:cxn>
                  <a:cxn ang="0">
                    <a:pos x="70" y="10"/>
                  </a:cxn>
                  <a:cxn ang="0">
                    <a:pos x="52" y="9"/>
                  </a:cxn>
                  <a:cxn ang="0">
                    <a:pos x="48" y="5"/>
                  </a:cxn>
                  <a:cxn ang="0">
                    <a:pos x="42" y="4"/>
                  </a:cxn>
                  <a:cxn ang="0">
                    <a:pos x="29" y="0"/>
                  </a:cxn>
                </a:cxnLst>
                <a:rect l="0" t="0" r="r" b="b"/>
                <a:pathLst>
                  <a:path w="214" h="149">
                    <a:moveTo>
                      <a:pt x="29" y="0"/>
                    </a:moveTo>
                    <a:lnTo>
                      <a:pt x="21" y="1"/>
                    </a:lnTo>
                    <a:lnTo>
                      <a:pt x="17" y="6"/>
                    </a:lnTo>
                    <a:lnTo>
                      <a:pt x="12" y="13"/>
                    </a:lnTo>
                    <a:lnTo>
                      <a:pt x="5" y="19"/>
                    </a:lnTo>
                    <a:lnTo>
                      <a:pt x="5" y="29"/>
                    </a:lnTo>
                    <a:lnTo>
                      <a:pt x="2" y="40"/>
                    </a:lnTo>
                    <a:lnTo>
                      <a:pt x="8" y="50"/>
                    </a:lnTo>
                    <a:lnTo>
                      <a:pt x="16" y="52"/>
                    </a:lnTo>
                    <a:lnTo>
                      <a:pt x="15" y="58"/>
                    </a:lnTo>
                    <a:lnTo>
                      <a:pt x="4" y="54"/>
                    </a:lnTo>
                    <a:lnTo>
                      <a:pt x="0" y="60"/>
                    </a:lnTo>
                    <a:lnTo>
                      <a:pt x="0" y="71"/>
                    </a:lnTo>
                    <a:lnTo>
                      <a:pt x="8" y="75"/>
                    </a:lnTo>
                    <a:lnTo>
                      <a:pt x="17" y="85"/>
                    </a:lnTo>
                    <a:lnTo>
                      <a:pt x="21" y="95"/>
                    </a:lnTo>
                    <a:lnTo>
                      <a:pt x="25" y="104"/>
                    </a:lnTo>
                    <a:lnTo>
                      <a:pt x="20" y="113"/>
                    </a:lnTo>
                    <a:lnTo>
                      <a:pt x="13" y="118"/>
                    </a:lnTo>
                    <a:lnTo>
                      <a:pt x="23" y="132"/>
                    </a:lnTo>
                    <a:lnTo>
                      <a:pt x="34" y="143"/>
                    </a:lnTo>
                    <a:lnTo>
                      <a:pt x="47" y="148"/>
                    </a:lnTo>
                    <a:lnTo>
                      <a:pt x="63" y="148"/>
                    </a:lnTo>
                    <a:lnTo>
                      <a:pt x="74" y="149"/>
                    </a:lnTo>
                    <a:lnTo>
                      <a:pt x="81" y="144"/>
                    </a:lnTo>
                    <a:lnTo>
                      <a:pt x="90" y="145"/>
                    </a:lnTo>
                    <a:lnTo>
                      <a:pt x="101" y="147"/>
                    </a:lnTo>
                    <a:lnTo>
                      <a:pt x="110" y="136"/>
                    </a:lnTo>
                    <a:lnTo>
                      <a:pt x="117" y="133"/>
                    </a:lnTo>
                    <a:lnTo>
                      <a:pt x="140" y="133"/>
                    </a:lnTo>
                    <a:lnTo>
                      <a:pt x="147" y="128"/>
                    </a:lnTo>
                    <a:lnTo>
                      <a:pt x="158" y="125"/>
                    </a:lnTo>
                    <a:lnTo>
                      <a:pt x="163" y="117"/>
                    </a:lnTo>
                    <a:lnTo>
                      <a:pt x="164" y="95"/>
                    </a:lnTo>
                    <a:lnTo>
                      <a:pt x="174" y="93"/>
                    </a:lnTo>
                    <a:lnTo>
                      <a:pt x="183" y="82"/>
                    </a:lnTo>
                    <a:lnTo>
                      <a:pt x="189" y="67"/>
                    </a:lnTo>
                    <a:lnTo>
                      <a:pt x="195" y="55"/>
                    </a:lnTo>
                    <a:lnTo>
                      <a:pt x="202" y="47"/>
                    </a:lnTo>
                    <a:lnTo>
                      <a:pt x="205" y="32"/>
                    </a:lnTo>
                    <a:lnTo>
                      <a:pt x="214" y="27"/>
                    </a:lnTo>
                    <a:lnTo>
                      <a:pt x="212" y="12"/>
                    </a:lnTo>
                    <a:lnTo>
                      <a:pt x="205" y="12"/>
                    </a:lnTo>
                    <a:lnTo>
                      <a:pt x="189" y="16"/>
                    </a:lnTo>
                    <a:lnTo>
                      <a:pt x="178" y="19"/>
                    </a:lnTo>
                    <a:lnTo>
                      <a:pt x="168" y="16"/>
                    </a:lnTo>
                    <a:lnTo>
                      <a:pt x="162" y="10"/>
                    </a:lnTo>
                    <a:lnTo>
                      <a:pt x="150" y="5"/>
                    </a:lnTo>
                    <a:lnTo>
                      <a:pt x="136" y="5"/>
                    </a:lnTo>
                    <a:lnTo>
                      <a:pt x="121" y="8"/>
                    </a:lnTo>
                    <a:lnTo>
                      <a:pt x="109" y="14"/>
                    </a:lnTo>
                    <a:lnTo>
                      <a:pt x="94" y="17"/>
                    </a:lnTo>
                    <a:lnTo>
                      <a:pt x="78" y="17"/>
                    </a:lnTo>
                    <a:lnTo>
                      <a:pt x="70" y="10"/>
                    </a:lnTo>
                    <a:lnTo>
                      <a:pt x="52" y="9"/>
                    </a:lnTo>
                    <a:lnTo>
                      <a:pt x="48" y="5"/>
                    </a:lnTo>
                    <a:lnTo>
                      <a:pt x="42" y="4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6350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pt-BR" sz="1200">
                  <a:latin typeface="Source Serif Pro" panose="02040603050405020204" pitchFamily="18" charset="0"/>
                  <a:ea typeface="Source Serif Pro" panose="02040603050405020204" pitchFamily="18" charset="0"/>
                </a:endParaRPr>
              </a:p>
            </p:txBody>
          </p:sp>
          <p:sp>
            <p:nvSpPr>
              <p:cNvPr id="10" name="Freeform 7">
                <a:extLst>
                  <a:ext uri="{FF2B5EF4-FFF2-40B4-BE49-F238E27FC236}">
                    <a16:creationId xmlns:a16="http://schemas.microsoft.com/office/drawing/2014/main" id="{0006C924-5B4C-3083-5FAD-3756246146D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342" y="1045"/>
                <a:ext cx="57" cy="62"/>
              </a:xfrm>
              <a:custGeom>
                <a:avLst/>
                <a:gdLst/>
                <a:ahLst/>
                <a:cxnLst>
                  <a:cxn ang="0">
                    <a:pos x="26" y="6"/>
                  </a:cxn>
                  <a:cxn ang="0">
                    <a:pos x="21" y="17"/>
                  </a:cxn>
                  <a:cxn ang="0">
                    <a:pos x="16" y="27"/>
                  </a:cxn>
                  <a:cxn ang="0">
                    <a:pos x="19" y="33"/>
                  </a:cxn>
                  <a:cxn ang="0">
                    <a:pos x="16" y="42"/>
                  </a:cxn>
                  <a:cxn ang="0">
                    <a:pos x="11" y="50"/>
                  </a:cxn>
                  <a:cxn ang="0">
                    <a:pos x="5" y="52"/>
                  </a:cxn>
                  <a:cxn ang="0">
                    <a:pos x="0" y="58"/>
                  </a:cxn>
                  <a:cxn ang="0">
                    <a:pos x="5" y="62"/>
                  </a:cxn>
                  <a:cxn ang="0">
                    <a:pos x="17" y="62"/>
                  </a:cxn>
                  <a:cxn ang="0">
                    <a:pos x="28" y="54"/>
                  </a:cxn>
                  <a:cxn ang="0">
                    <a:pos x="40" y="47"/>
                  </a:cxn>
                  <a:cxn ang="0">
                    <a:pos x="48" y="35"/>
                  </a:cxn>
                  <a:cxn ang="0">
                    <a:pos x="51" y="25"/>
                  </a:cxn>
                  <a:cxn ang="0">
                    <a:pos x="57" y="16"/>
                  </a:cxn>
                  <a:cxn ang="0">
                    <a:pos x="51" y="8"/>
                  </a:cxn>
                  <a:cxn ang="0">
                    <a:pos x="38" y="0"/>
                  </a:cxn>
                  <a:cxn ang="0">
                    <a:pos x="32" y="2"/>
                  </a:cxn>
                  <a:cxn ang="0">
                    <a:pos x="26" y="6"/>
                  </a:cxn>
                </a:cxnLst>
                <a:rect l="0" t="0" r="r" b="b"/>
                <a:pathLst>
                  <a:path w="57" h="62">
                    <a:moveTo>
                      <a:pt x="26" y="6"/>
                    </a:moveTo>
                    <a:lnTo>
                      <a:pt x="21" y="17"/>
                    </a:lnTo>
                    <a:lnTo>
                      <a:pt x="16" y="27"/>
                    </a:lnTo>
                    <a:lnTo>
                      <a:pt x="19" y="33"/>
                    </a:lnTo>
                    <a:lnTo>
                      <a:pt x="16" y="42"/>
                    </a:lnTo>
                    <a:lnTo>
                      <a:pt x="11" y="50"/>
                    </a:lnTo>
                    <a:lnTo>
                      <a:pt x="5" y="52"/>
                    </a:lnTo>
                    <a:lnTo>
                      <a:pt x="0" y="58"/>
                    </a:lnTo>
                    <a:lnTo>
                      <a:pt x="5" y="62"/>
                    </a:lnTo>
                    <a:lnTo>
                      <a:pt x="17" y="62"/>
                    </a:lnTo>
                    <a:lnTo>
                      <a:pt x="28" y="54"/>
                    </a:lnTo>
                    <a:lnTo>
                      <a:pt x="40" y="47"/>
                    </a:lnTo>
                    <a:lnTo>
                      <a:pt x="48" y="35"/>
                    </a:lnTo>
                    <a:lnTo>
                      <a:pt x="51" y="25"/>
                    </a:lnTo>
                    <a:lnTo>
                      <a:pt x="57" y="16"/>
                    </a:lnTo>
                    <a:lnTo>
                      <a:pt x="51" y="8"/>
                    </a:lnTo>
                    <a:lnTo>
                      <a:pt x="38" y="0"/>
                    </a:lnTo>
                    <a:lnTo>
                      <a:pt x="32" y="2"/>
                    </a:lnTo>
                    <a:lnTo>
                      <a:pt x="26" y="6"/>
                    </a:lnTo>
                    <a:close/>
                  </a:path>
                </a:pathLst>
              </a:custGeom>
              <a:solidFill>
                <a:schemeClr val="accent2"/>
              </a:solidFill>
              <a:ln w="6350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pt-BR" sz="1200">
                  <a:latin typeface="Source Serif Pro" panose="02040603050405020204" pitchFamily="18" charset="0"/>
                  <a:ea typeface="Source Serif Pro" panose="02040603050405020204" pitchFamily="18" charset="0"/>
                </a:endParaRPr>
              </a:p>
            </p:txBody>
          </p:sp>
          <p:sp>
            <p:nvSpPr>
              <p:cNvPr id="11" name="Freeform 8">
                <a:extLst>
                  <a:ext uri="{FF2B5EF4-FFF2-40B4-BE49-F238E27FC236}">
                    <a16:creationId xmlns:a16="http://schemas.microsoft.com/office/drawing/2014/main" id="{057A3A10-9506-E0B1-F86B-F7F5DB40BA8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485" y="971"/>
                <a:ext cx="47" cy="29"/>
              </a:xfrm>
              <a:custGeom>
                <a:avLst/>
                <a:gdLst/>
                <a:ahLst/>
                <a:cxnLst>
                  <a:cxn ang="0">
                    <a:pos x="30" y="0"/>
                  </a:cxn>
                  <a:cxn ang="0">
                    <a:pos x="24" y="5"/>
                  </a:cxn>
                  <a:cxn ang="0">
                    <a:pos x="11" y="5"/>
                  </a:cxn>
                  <a:cxn ang="0">
                    <a:pos x="3" y="9"/>
                  </a:cxn>
                  <a:cxn ang="0">
                    <a:pos x="0" y="17"/>
                  </a:cxn>
                  <a:cxn ang="0">
                    <a:pos x="9" y="21"/>
                  </a:cxn>
                  <a:cxn ang="0">
                    <a:pos x="20" y="22"/>
                  </a:cxn>
                  <a:cxn ang="0">
                    <a:pos x="27" y="29"/>
                  </a:cxn>
                  <a:cxn ang="0">
                    <a:pos x="32" y="29"/>
                  </a:cxn>
                  <a:cxn ang="0">
                    <a:pos x="40" y="21"/>
                  </a:cxn>
                  <a:cxn ang="0">
                    <a:pos x="47" y="12"/>
                  </a:cxn>
                  <a:cxn ang="0">
                    <a:pos x="43" y="5"/>
                  </a:cxn>
                  <a:cxn ang="0">
                    <a:pos x="35" y="1"/>
                  </a:cxn>
                  <a:cxn ang="0">
                    <a:pos x="30" y="0"/>
                  </a:cxn>
                </a:cxnLst>
                <a:rect l="0" t="0" r="r" b="b"/>
                <a:pathLst>
                  <a:path w="47" h="29">
                    <a:moveTo>
                      <a:pt x="30" y="0"/>
                    </a:moveTo>
                    <a:lnTo>
                      <a:pt x="24" y="5"/>
                    </a:lnTo>
                    <a:lnTo>
                      <a:pt x="11" y="5"/>
                    </a:lnTo>
                    <a:lnTo>
                      <a:pt x="3" y="9"/>
                    </a:lnTo>
                    <a:lnTo>
                      <a:pt x="0" y="17"/>
                    </a:lnTo>
                    <a:lnTo>
                      <a:pt x="9" y="21"/>
                    </a:lnTo>
                    <a:lnTo>
                      <a:pt x="20" y="22"/>
                    </a:lnTo>
                    <a:lnTo>
                      <a:pt x="27" y="29"/>
                    </a:lnTo>
                    <a:lnTo>
                      <a:pt x="32" y="29"/>
                    </a:lnTo>
                    <a:lnTo>
                      <a:pt x="40" y="21"/>
                    </a:lnTo>
                    <a:lnTo>
                      <a:pt x="47" y="12"/>
                    </a:lnTo>
                    <a:lnTo>
                      <a:pt x="43" y="5"/>
                    </a:lnTo>
                    <a:lnTo>
                      <a:pt x="35" y="1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6350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pt-BR" sz="1200">
                  <a:latin typeface="Source Serif Pro" panose="02040603050405020204" pitchFamily="18" charset="0"/>
                  <a:ea typeface="Source Serif Pro" panose="02040603050405020204" pitchFamily="18" charset="0"/>
                </a:endParaRPr>
              </a:p>
            </p:txBody>
          </p:sp>
          <p:sp>
            <p:nvSpPr>
              <p:cNvPr id="13" name="Freeform 9">
                <a:extLst>
                  <a:ext uri="{FF2B5EF4-FFF2-40B4-BE49-F238E27FC236}">
                    <a16:creationId xmlns:a16="http://schemas.microsoft.com/office/drawing/2014/main" id="{BC5A3DD2-E52E-5337-30CA-26C23310000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531" y="985"/>
                <a:ext cx="42" cy="26"/>
              </a:xfrm>
              <a:custGeom>
                <a:avLst/>
                <a:gdLst/>
                <a:ahLst/>
                <a:cxnLst>
                  <a:cxn ang="0">
                    <a:pos x="9" y="7"/>
                  </a:cxn>
                  <a:cxn ang="0">
                    <a:pos x="4" y="11"/>
                  </a:cxn>
                  <a:cxn ang="0">
                    <a:pos x="0" y="19"/>
                  </a:cxn>
                  <a:cxn ang="0">
                    <a:pos x="2" y="23"/>
                  </a:cxn>
                  <a:cxn ang="0">
                    <a:pos x="9" y="25"/>
                  </a:cxn>
                  <a:cxn ang="0">
                    <a:pos x="21" y="26"/>
                  </a:cxn>
                  <a:cxn ang="0">
                    <a:pos x="32" y="19"/>
                  </a:cxn>
                  <a:cxn ang="0">
                    <a:pos x="40" y="11"/>
                  </a:cxn>
                  <a:cxn ang="0">
                    <a:pos x="42" y="2"/>
                  </a:cxn>
                  <a:cxn ang="0">
                    <a:pos x="34" y="0"/>
                  </a:cxn>
                  <a:cxn ang="0">
                    <a:pos x="25" y="2"/>
                  </a:cxn>
                  <a:cxn ang="0">
                    <a:pos x="17" y="2"/>
                  </a:cxn>
                  <a:cxn ang="0">
                    <a:pos x="9" y="7"/>
                  </a:cxn>
                </a:cxnLst>
                <a:rect l="0" t="0" r="r" b="b"/>
                <a:pathLst>
                  <a:path w="42" h="26">
                    <a:moveTo>
                      <a:pt x="9" y="7"/>
                    </a:moveTo>
                    <a:lnTo>
                      <a:pt x="4" y="11"/>
                    </a:lnTo>
                    <a:lnTo>
                      <a:pt x="0" y="19"/>
                    </a:lnTo>
                    <a:lnTo>
                      <a:pt x="2" y="23"/>
                    </a:lnTo>
                    <a:lnTo>
                      <a:pt x="9" y="25"/>
                    </a:lnTo>
                    <a:lnTo>
                      <a:pt x="21" y="26"/>
                    </a:lnTo>
                    <a:lnTo>
                      <a:pt x="32" y="19"/>
                    </a:lnTo>
                    <a:lnTo>
                      <a:pt x="40" y="11"/>
                    </a:lnTo>
                    <a:lnTo>
                      <a:pt x="42" y="2"/>
                    </a:lnTo>
                    <a:lnTo>
                      <a:pt x="34" y="0"/>
                    </a:lnTo>
                    <a:lnTo>
                      <a:pt x="25" y="2"/>
                    </a:lnTo>
                    <a:lnTo>
                      <a:pt x="17" y="2"/>
                    </a:lnTo>
                    <a:lnTo>
                      <a:pt x="9" y="7"/>
                    </a:lnTo>
                    <a:close/>
                  </a:path>
                </a:pathLst>
              </a:custGeom>
              <a:solidFill>
                <a:schemeClr val="accent2"/>
              </a:solidFill>
              <a:ln w="6350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pt-BR" sz="1200">
                  <a:latin typeface="Source Serif Pro" panose="02040603050405020204" pitchFamily="18" charset="0"/>
                  <a:ea typeface="Source Serif Pro" panose="02040603050405020204" pitchFamily="18" charset="0"/>
                </a:endParaRPr>
              </a:p>
            </p:txBody>
          </p:sp>
          <p:sp>
            <p:nvSpPr>
              <p:cNvPr id="14" name="Freeform 10">
                <a:extLst>
                  <a:ext uri="{FF2B5EF4-FFF2-40B4-BE49-F238E27FC236}">
                    <a16:creationId xmlns:a16="http://schemas.microsoft.com/office/drawing/2014/main" id="{EC8B5FCC-E8F3-1E7F-0132-B9801CDA10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411" y="988"/>
                <a:ext cx="31" cy="34"/>
              </a:xfrm>
              <a:custGeom>
                <a:avLst/>
                <a:gdLst/>
                <a:ahLst/>
                <a:cxnLst>
                  <a:cxn ang="0">
                    <a:pos x="9" y="5"/>
                  </a:cxn>
                  <a:cxn ang="0">
                    <a:pos x="8" y="18"/>
                  </a:cxn>
                  <a:cxn ang="0">
                    <a:pos x="0" y="26"/>
                  </a:cxn>
                  <a:cxn ang="0">
                    <a:pos x="5" y="34"/>
                  </a:cxn>
                  <a:cxn ang="0">
                    <a:pos x="9" y="34"/>
                  </a:cxn>
                  <a:cxn ang="0">
                    <a:pos x="15" y="34"/>
                  </a:cxn>
                  <a:cxn ang="0">
                    <a:pos x="21" y="32"/>
                  </a:cxn>
                  <a:cxn ang="0">
                    <a:pos x="25" y="30"/>
                  </a:cxn>
                  <a:cxn ang="0">
                    <a:pos x="31" y="19"/>
                  </a:cxn>
                  <a:cxn ang="0">
                    <a:pos x="28" y="14"/>
                  </a:cxn>
                  <a:cxn ang="0">
                    <a:pos x="21" y="5"/>
                  </a:cxn>
                  <a:cxn ang="0">
                    <a:pos x="19" y="0"/>
                  </a:cxn>
                  <a:cxn ang="0">
                    <a:pos x="9" y="5"/>
                  </a:cxn>
                </a:cxnLst>
                <a:rect l="0" t="0" r="r" b="b"/>
                <a:pathLst>
                  <a:path w="31" h="34">
                    <a:moveTo>
                      <a:pt x="9" y="5"/>
                    </a:moveTo>
                    <a:lnTo>
                      <a:pt x="8" y="18"/>
                    </a:lnTo>
                    <a:lnTo>
                      <a:pt x="0" y="26"/>
                    </a:lnTo>
                    <a:lnTo>
                      <a:pt x="5" y="34"/>
                    </a:lnTo>
                    <a:lnTo>
                      <a:pt x="9" y="34"/>
                    </a:lnTo>
                    <a:lnTo>
                      <a:pt x="15" y="34"/>
                    </a:lnTo>
                    <a:lnTo>
                      <a:pt x="21" y="32"/>
                    </a:lnTo>
                    <a:lnTo>
                      <a:pt x="25" y="30"/>
                    </a:lnTo>
                    <a:lnTo>
                      <a:pt x="31" y="19"/>
                    </a:lnTo>
                    <a:lnTo>
                      <a:pt x="28" y="14"/>
                    </a:lnTo>
                    <a:lnTo>
                      <a:pt x="21" y="5"/>
                    </a:lnTo>
                    <a:lnTo>
                      <a:pt x="19" y="0"/>
                    </a:lnTo>
                    <a:lnTo>
                      <a:pt x="9" y="5"/>
                    </a:lnTo>
                    <a:close/>
                  </a:path>
                </a:pathLst>
              </a:custGeom>
              <a:solidFill>
                <a:schemeClr val="accent2"/>
              </a:solidFill>
              <a:ln w="6350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pt-BR" sz="1200">
                  <a:latin typeface="Source Serif Pro" panose="02040603050405020204" pitchFamily="18" charset="0"/>
                  <a:ea typeface="Source Serif Pro" panose="02040603050405020204" pitchFamily="18" charset="0"/>
                </a:endParaRPr>
              </a:p>
            </p:txBody>
          </p:sp>
          <p:sp>
            <p:nvSpPr>
              <p:cNvPr id="15" name="Freeform 11">
                <a:extLst>
                  <a:ext uri="{FF2B5EF4-FFF2-40B4-BE49-F238E27FC236}">
                    <a16:creationId xmlns:a16="http://schemas.microsoft.com/office/drawing/2014/main" id="{5739666F-7110-201C-4CBA-533A9E9E79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332" y="1085"/>
                <a:ext cx="2" cy="2"/>
              </a:xfrm>
              <a:custGeom>
                <a:avLst/>
                <a:gdLst/>
                <a:ahLst/>
                <a:cxnLst>
                  <a:cxn ang="0">
                    <a:pos x="0" y="2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2" y="0"/>
                  </a:cxn>
                  <a:cxn ang="0">
                    <a:pos x="2" y="0"/>
                  </a:cxn>
                  <a:cxn ang="0">
                    <a:pos x="2" y="0"/>
                  </a:cxn>
                  <a:cxn ang="0">
                    <a:pos x="2" y="0"/>
                  </a:cxn>
                  <a:cxn ang="0">
                    <a:pos x="2" y="0"/>
                  </a:cxn>
                  <a:cxn ang="0">
                    <a:pos x="2" y="0"/>
                  </a:cxn>
                  <a:cxn ang="0">
                    <a:pos x="2" y="0"/>
                  </a:cxn>
                  <a:cxn ang="0">
                    <a:pos x="2" y="0"/>
                  </a:cxn>
                  <a:cxn ang="0">
                    <a:pos x="2" y="0"/>
                  </a:cxn>
                  <a:cxn ang="0">
                    <a:pos x="2" y="0"/>
                  </a:cxn>
                  <a:cxn ang="0">
                    <a:pos x="2" y="0"/>
                  </a:cxn>
                  <a:cxn ang="0">
                    <a:pos x="2" y="0"/>
                  </a:cxn>
                  <a:cxn ang="0">
                    <a:pos x="2" y="0"/>
                  </a:cxn>
                  <a:cxn ang="0">
                    <a:pos x="2" y="0"/>
                  </a:cxn>
                  <a:cxn ang="0">
                    <a:pos x="2" y="0"/>
                  </a:cxn>
                  <a:cxn ang="0">
                    <a:pos x="2" y="0"/>
                  </a:cxn>
                  <a:cxn ang="0">
                    <a:pos x="2" y="0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lnTo>
                      <a:pt x="0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0"/>
                    </a:lnTo>
                  </a:path>
                </a:pathLst>
              </a:custGeom>
              <a:grpFill/>
              <a:ln w="6350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 sz="1200">
                  <a:latin typeface="Source Serif Pro" panose="02040603050405020204" pitchFamily="18" charset="0"/>
                  <a:ea typeface="Source Serif Pro" panose="02040603050405020204" pitchFamily="18" charset="0"/>
                </a:endParaRPr>
              </a:p>
            </p:txBody>
          </p:sp>
          <p:sp>
            <p:nvSpPr>
              <p:cNvPr id="16" name="Freeform 12">
                <a:extLst>
                  <a:ext uri="{FF2B5EF4-FFF2-40B4-BE49-F238E27FC236}">
                    <a16:creationId xmlns:a16="http://schemas.microsoft.com/office/drawing/2014/main" id="{B308BB7E-3592-025F-4D4D-D518CAB5E1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486" y="1620"/>
                <a:ext cx="1337" cy="1493"/>
              </a:xfrm>
              <a:custGeom>
                <a:avLst/>
                <a:gdLst/>
                <a:ahLst/>
                <a:cxnLst>
                  <a:cxn ang="0">
                    <a:pos x="527" y="1474"/>
                  </a:cxn>
                  <a:cxn ang="0">
                    <a:pos x="487" y="1404"/>
                  </a:cxn>
                  <a:cxn ang="0">
                    <a:pos x="438" y="1315"/>
                  </a:cxn>
                  <a:cxn ang="0">
                    <a:pos x="369" y="1326"/>
                  </a:cxn>
                  <a:cxn ang="0">
                    <a:pos x="306" y="1303"/>
                  </a:cxn>
                  <a:cxn ang="0">
                    <a:pos x="307" y="1201"/>
                  </a:cxn>
                  <a:cxn ang="0">
                    <a:pos x="284" y="1095"/>
                  </a:cxn>
                  <a:cxn ang="0">
                    <a:pos x="317" y="1022"/>
                  </a:cxn>
                  <a:cxn ang="0">
                    <a:pos x="330" y="946"/>
                  </a:cxn>
                  <a:cxn ang="0">
                    <a:pos x="278" y="882"/>
                  </a:cxn>
                  <a:cxn ang="0">
                    <a:pos x="249" y="800"/>
                  </a:cxn>
                  <a:cxn ang="0">
                    <a:pos x="86" y="684"/>
                  </a:cxn>
                  <a:cxn ang="0">
                    <a:pos x="74" y="608"/>
                  </a:cxn>
                  <a:cxn ang="0">
                    <a:pos x="83" y="553"/>
                  </a:cxn>
                  <a:cxn ang="0">
                    <a:pos x="113" y="521"/>
                  </a:cxn>
                  <a:cxn ang="0">
                    <a:pos x="131" y="461"/>
                  </a:cxn>
                  <a:cxn ang="0">
                    <a:pos x="136" y="403"/>
                  </a:cxn>
                  <a:cxn ang="0">
                    <a:pos x="137" y="355"/>
                  </a:cxn>
                  <a:cxn ang="0">
                    <a:pos x="85" y="314"/>
                  </a:cxn>
                  <a:cxn ang="0">
                    <a:pos x="29" y="305"/>
                  </a:cxn>
                  <a:cxn ang="0">
                    <a:pos x="0" y="252"/>
                  </a:cxn>
                  <a:cxn ang="0">
                    <a:pos x="19" y="212"/>
                  </a:cxn>
                  <a:cxn ang="0">
                    <a:pos x="11" y="171"/>
                  </a:cxn>
                  <a:cxn ang="0">
                    <a:pos x="19" y="132"/>
                  </a:cxn>
                  <a:cxn ang="0">
                    <a:pos x="272" y="71"/>
                  </a:cxn>
                  <a:cxn ang="0">
                    <a:pos x="290" y="13"/>
                  </a:cxn>
                  <a:cxn ang="0">
                    <a:pos x="322" y="54"/>
                  </a:cxn>
                  <a:cxn ang="0">
                    <a:pos x="341" y="121"/>
                  </a:cxn>
                  <a:cxn ang="0">
                    <a:pos x="399" y="173"/>
                  </a:cxn>
                  <a:cxn ang="0">
                    <a:pos x="898" y="226"/>
                  </a:cxn>
                  <a:cxn ang="0">
                    <a:pos x="970" y="303"/>
                  </a:cxn>
                  <a:cxn ang="0">
                    <a:pos x="962" y="367"/>
                  </a:cxn>
                  <a:cxn ang="0">
                    <a:pos x="950" y="436"/>
                  </a:cxn>
                  <a:cxn ang="0">
                    <a:pos x="971" y="472"/>
                  </a:cxn>
                  <a:cxn ang="0">
                    <a:pos x="1031" y="454"/>
                  </a:cxn>
                  <a:cxn ang="0">
                    <a:pos x="1054" y="503"/>
                  </a:cxn>
                  <a:cxn ang="0">
                    <a:pos x="1095" y="504"/>
                  </a:cxn>
                  <a:cxn ang="0">
                    <a:pos x="1121" y="562"/>
                  </a:cxn>
                  <a:cxn ang="0">
                    <a:pos x="1172" y="565"/>
                  </a:cxn>
                  <a:cxn ang="0">
                    <a:pos x="1214" y="568"/>
                  </a:cxn>
                  <a:cxn ang="0">
                    <a:pos x="1282" y="572"/>
                  </a:cxn>
                  <a:cxn ang="0">
                    <a:pos x="1318" y="553"/>
                  </a:cxn>
                  <a:cxn ang="0">
                    <a:pos x="1314" y="623"/>
                  </a:cxn>
                  <a:cxn ang="0">
                    <a:pos x="1337" y="695"/>
                  </a:cxn>
                  <a:cxn ang="0">
                    <a:pos x="1298" y="704"/>
                  </a:cxn>
                  <a:cxn ang="0">
                    <a:pos x="1259" y="719"/>
                  </a:cxn>
                  <a:cxn ang="0">
                    <a:pos x="1232" y="811"/>
                  </a:cxn>
                  <a:cxn ang="0">
                    <a:pos x="1210" y="886"/>
                  </a:cxn>
                  <a:cxn ang="0">
                    <a:pos x="1190" y="962"/>
                  </a:cxn>
                  <a:cxn ang="0">
                    <a:pos x="1134" y="1021"/>
                  </a:cxn>
                  <a:cxn ang="0">
                    <a:pos x="1005" y="1020"/>
                  </a:cxn>
                  <a:cxn ang="0">
                    <a:pos x="937" y="1048"/>
                  </a:cxn>
                  <a:cxn ang="0">
                    <a:pos x="885" y="1106"/>
                  </a:cxn>
                  <a:cxn ang="0">
                    <a:pos x="873" y="1156"/>
                  </a:cxn>
                  <a:cxn ang="0">
                    <a:pos x="842" y="1198"/>
                  </a:cxn>
                  <a:cxn ang="0">
                    <a:pos x="805" y="1250"/>
                  </a:cxn>
                  <a:cxn ang="0">
                    <a:pos x="767" y="1303"/>
                  </a:cxn>
                  <a:cxn ang="0">
                    <a:pos x="715" y="1345"/>
                  </a:cxn>
                  <a:cxn ang="0">
                    <a:pos x="660" y="1379"/>
                  </a:cxn>
                  <a:cxn ang="0">
                    <a:pos x="631" y="1431"/>
                  </a:cxn>
                </a:cxnLst>
                <a:rect l="0" t="0" r="r" b="b"/>
                <a:pathLst>
                  <a:path w="1340" h="1496">
                    <a:moveTo>
                      <a:pt x="602" y="1496"/>
                    </a:moveTo>
                    <a:lnTo>
                      <a:pt x="589" y="1487"/>
                    </a:lnTo>
                    <a:lnTo>
                      <a:pt x="584" y="1480"/>
                    </a:lnTo>
                    <a:lnTo>
                      <a:pt x="579" y="1476"/>
                    </a:lnTo>
                    <a:lnTo>
                      <a:pt x="576" y="1472"/>
                    </a:lnTo>
                    <a:lnTo>
                      <a:pt x="569" y="1469"/>
                    </a:lnTo>
                    <a:lnTo>
                      <a:pt x="562" y="1465"/>
                    </a:lnTo>
                    <a:lnTo>
                      <a:pt x="556" y="1466"/>
                    </a:lnTo>
                    <a:lnTo>
                      <a:pt x="549" y="1468"/>
                    </a:lnTo>
                    <a:lnTo>
                      <a:pt x="533" y="1476"/>
                    </a:lnTo>
                    <a:lnTo>
                      <a:pt x="527" y="1474"/>
                    </a:lnTo>
                    <a:lnTo>
                      <a:pt x="519" y="1474"/>
                    </a:lnTo>
                    <a:lnTo>
                      <a:pt x="512" y="1474"/>
                    </a:lnTo>
                    <a:lnTo>
                      <a:pt x="507" y="1469"/>
                    </a:lnTo>
                    <a:lnTo>
                      <a:pt x="502" y="1465"/>
                    </a:lnTo>
                    <a:lnTo>
                      <a:pt x="500" y="1458"/>
                    </a:lnTo>
                    <a:lnTo>
                      <a:pt x="498" y="1453"/>
                    </a:lnTo>
                    <a:lnTo>
                      <a:pt x="498" y="1446"/>
                    </a:lnTo>
                    <a:lnTo>
                      <a:pt x="498" y="1442"/>
                    </a:lnTo>
                    <a:lnTo>
                      <a:pt x="498" y="1434"/>
                    </a:lnTo>
                    <a:lnTo>
                      <a:pt x="487" y="1416"/>
                    </a:lnTo>
                    <a:lnTo>
                      <a:pt x="487" y="1404"/>
                    </a:lnTo>
                    <a:lnTo>
                      <a:pt x="487" y="1391"/>
                    </a:lnTo>
                    <a:lnTo>
                      <a:pt x="487" y="1384"/>
                    </a:lnTo>
                    <a:lnTo>
                      <a:pt x="483" y="1375"/>
                    </a:lnTo>
                    <a:lnTo>
                      <a:pt x="483" y="1345"/>
                    </a:lnTo>
                    <a:lnTo>
                      <a:pt x="475" y="1344"/>
                    </a:lnTo>
                    <a:lnTo>
                      <a:pt x="475" y="1329"/>
                    </a:lnTo>
                    <a:lnTo>
                      <a:pt x="464" y="1317"/>
                    </a:lnTo>
                    <a:lnTo>
                      <a:pt x="453" y="1323"/>
                    </a:lnTo>
                    <a:lnTo>
                      <a:pt x="448" y="1321"/>
                    </a:lnTo>
                    <a:lnTo>
                      <a:pt x="442" y="1319"/>
                    </a:lnTo>
                    <a:lnTo>
                      <a:pt x="438" y="1315"/>
                    </a:lnTo>
                    <a:lnTo>
                      <a:pt x="434" y="1311"/>
                    </a:lnTo>
                    <a:lnTo>
                      <a:pt x="429" y="1307"/>
                    </a:lnTo>
                    <a:lnTo>
                      <a:pt x="425" y="1308"/>
                    </a:lnTo>
                    <a:lnTo>
                      <a:pt x="418" y="1311"/>
                    </a:lnTo>
                    <a:lnTo>
                      <a:pt x="411" y="1314"/>
                    </a:lnTo>
                    <a:lnTo>
                      <a:pt x="406" y="1317"/>
                    </a:lnTo>
                    <a:lnTo>
                      <a:pt x="399" y="1319"/>
                    </a:lnTo>
                    <a:lnTo>
                      <a:pt x="392" y="1326"/>
                    </a:lnTo>
                    <a:lnTo>
                      <a:pt x="383" y="1334"/>
                    </a:lnTo>
                    <a:lnTo>
                      <a:pt x="376" y="1329"/>
                    </a:lnTo>
                    <a:lnTo>
                      <a:pt x="369" y="1326"/>
                    </a:lnTo>
                    <a:lnTo>
                      <a:pt x="364" y="1322"/>
                    </a:lnTo>
                    <a:lnTo>
                      <a:pt x="357" y="1317"/>
                    </a:lnTo>
                    <a:lnTo>
                      <a:pt x="348" y="1322"/>
                    </a:lnTo>
                    <a:lnTo>
                      <a:pt x="341" y="1322"/>
                    </a:lnTo>
                    <a:lnTo>
                      <a:pt x="334" y="1322"/>
                    </a:lnTo>
                    <a:lnTo>
                      <a:pt x="329" y="1311"/>
                    </a:lnTo>
                    <a:lnTo>
                      <a:pt x="324" y="1313"/>
                    </a:lnTo>
                    <a:lnTo>
                      <a:pt x="317" y="1314"/>
                    </a:lnTo>
                    <a:lnTo>
                      <a:pt x="310" y="1314"/>
                    </a:lnTo>
                    <a:lnTo>
                      <a:pt x="306" y="1315"/>
                    </a:lnTo>
                    <a:lnTo>
                      <a:pt x="306" y="1303"/>
                    </a:lnTo>
                    <a:lnTo>
                      <a:pt x="298" y="1296"/>
                    </a:lnTo>
                    <a:lnTo>
                      <a:pt x="309" y="1290"/>
                    </a:lnTo>
                    <a:lnTo>
                      <a:pt x="311" y="1250"/>
                    </a:lnTo>
                    <a:lnTo>
                      <a:pt x="299" y="1241"/>
                    </a:lnTo>
                    <a:lnTo>
                      <a:pt x="303" y="1237"/>
                    </a:lnTo>
                    <a:lnTo>
                      <a:pt x="310" y="1233"/>
                    </a:lnTo>
                    <a:lnTo>
                      <a:pt x="310" y="1226"/>
                    </a:lnTo>
                    <a:lnTo>
                      <a:pt x="310" y="1219"/>
                    </a:lnTo>
                    <a:lnTo>
                      <a:pt x="310" y="1215"/>
                    </a:lnTo>
                    <a:lnTo>
                      <a:pt x="309" y="1207"/>
                    </a:lnTo>
                    <a:lnTo>
                      <a:pt x="307" y="1201"/>
                    </a:lnTo>
                    <a:lnTo>
                      <a:pt x="301" y="1194"/>
                    </a:lnTo>
                    <a:lnTo>
                      <a:pt x="295" y="1187"/>
                    </a:lnTo>
                    <a:lnTo>
                      <a:pt x="297" y="1168"/>
                    </a:lnTo>
                    <a:lnTo>
                      <a:pt x="279" y="1145"/>
                    </a:lnTo>
                    <a:lnTo>
                      <a:pt x="283" y="1144"/>
                    </a:lnTo>
                    <a:lnTo>
                      <a:pt x="293" y="1140"/>
                    </a:lnTo>
                    <a:lnTo>
                      <a:pt x="302" y="1125"/>
                    </a:lnTo>
                    <a:lnTo>
                      <a:pt x="287" y="1117"/>
                    </a:lnTo>
                    <a:lnTo>
                      <a:pt x="286" y="1110"/>
                    </a:lnTo>
                    <a:lnTo>
                      <a:pt x="283" y="1102"/>
                    </a:lnTo>
                    <a:lnTo>
                      <a:pt x="284" y="1095"/>
                    </a:lnTo>
                    <a:lnTo>
                      <a:pt x="286" y="1089"/>
                    </a:lnTo>
                    <a:lnTo>
                      <a:pt x="287" y="1083"/>
                    </a:lnTo>
                    <a:lnTo>
                      <a:pt x="288" y="1078"/>
                    </a:lnTo>
                    <a:lnTo>
                      <a:pt x="291" y="1072"/>
                    </a:lnTo>
                    <a:lnTo>
                      <a:pt x="293" y="1067"/>
                    </a:lnTo>
                    <a:lnTo>
                      <a:pt x="295" y="1059"/>
                    </a:lnTo>
                    <a:lnTo>
                      <a:pt x="297" y="1055"/>
                    </a:lnTo>
                    <a:lnTo>
                      <a:pt x="303" y="1047"/>
                    </a:lnTo>
                    <a:lnTo>
                      <a:pt x="309" y="1039"/>
                    </a:lnTo>
                    <a:lnTo>
                      <a:pt x="314" y="1031"/>
                    </a:lnTo>
                    <a:lnTo>
                      <a:pt x="317" y="1022"/>
                    </a:lnTo>
                    <a:lnTo>
                      <a:pt x="318" y="1016"/>
                    </a:lnTo>
                    <a:lnTo>
                      <a:pt x="320" y="1009"/>
                    </a:lnTo>
                    <a:lnTo>
                      <a:pt x="321" y="1002"/>
                    </a:lnTo>
                    <a:lnTo>
                      <a:pt x="322" y="995"/>
                    </a:lnTo>
                    <a:lnTo>
                      <a:pt x="325" y="989"/>
                    </a:lnTo>
                    <a:lnTo>
                      <a:pt x="329" y="983"/>
                    </a:lnTo>
                    <a:lnTo>
                      <a:pt x="332" y="977"/>
                    </a:lnTo>
                    <a:lnTo>
                      <a:pt x="337" y="966"/>
                    </a:lnTo>
                    <a:lnTo>
                      <a:pt x="334" y="956"/>
                    </a:lnTo>
                    <a:lnTo>
                      <a:pt x="332" y="954"/>
                    </a:lnTo>
                    <a:lnTo>
                      <a:pt x="330" y="946"/>
                    </a:lnTo>
                    <a:lnTo>
                      <a:pt x="328" y="936"/>
                    </a:lnTo>
                    <a:lnTo>
                      <a:pt x="326" y="931"/>
                    </a:lnTo>
                    <a:lnTo>
                      <a:pt x="325" y="927"/>
                    </a:lnTo>
                    <a:lnTo>
                      <a:pt x="328" y="924"/>
                    </a:lnTo>
                    <a:lnTo>
                      <a:pt x="324" y="923"/>
                    </a:lnTo>
                    <a:lnTo>
                      <a:pt x="325" y="909"/>
                    </a:lnTo>
                    <a:lnTo>
                      <a:pt x="310" y="901"/>
                    </a:lnTo>
                    <a:lnTo>
                      <a:pt x="297" y="902"/>
                    </a:lnTo>
                    <a:lnTo>
                      <a:pt x="291" y="889"/>
                    </a:lnTo>
                    <a:lnTo>
                      <a:pt x="278" y="889"/>
                    </a:lnTo>
                    <a:lnTo>
                      <a:pt x="278" y="882"/>
                    </a:lnTo>
                    <a:lnTo>
                      <a:pt x="275" y="875"/>
                    </a:lnTo>
                    <a:lnTo>
                      <a:pt x="274" y="873"/>
                    </a:lnTo>
                    <a:lnTo>
                      <a:pt x="264" y="854"/>
                    </a:lnTo>
                    <a:lnTo>
                      <a:pt x="267" y="839"/>
                    </a:lnTo>
                    <a:lnTo>
                      <a:pt x="259" y="830"/>
                    </a:lnTo>
                    <a:lnTo>
                      <a:pt x="263" y="824"/>
                    </a:lnTo>
                    <a:lnTo>
                      <a:pt x="268" y="821"/>
                    </a:lnTo>
                    <a:lnTo>
                      <a:pt x="276" y="804"/>
                    </a:lnTo>
                    <a:lnTo>
                      <a:pt x="264" y="793"/>
                    </a:lnTo>
                    <a:lnTo>
                      <a:pt x="255" y="799"/>
                    </a:lnTo>
                    <a:lnTo>
                      <a:pt x="249" y="800"/>
                    </a:lnTo>
                    <a:lnTo>
                      <a:pt x="230" y="800"/>
                    </a:lnTo>
                    <a:lnTo>
                      <a:pt x="216" y="790"/>
                    </a:lnTo>
                    <a:lnTo>
                      <a:pt x="210" y="793"/>
                    </a:lnTo>
                    <a:lnTo>
                      <a:pt x="203" y="796"/>
                    </a:lnTo>
                    <a:lnTo>
                      <a:pt x="113" y="794"/>
                    </a:lnTo>
                    <a:lnTo>
                      <a:pt x="113" y="780"/>
                    </a:lnTo>
                    <a:lnTo>
                      <a:pt x="114" y="773"/>
                    </a:lnTo>
                    <a:lnTo>
                      <a:pt x="106" y="754"/>
                    </a:lnTo>
                    <a:lnTo>
                      <a:pt x="110" y="727"/>
                    </a:lnTo>
                    <a:lnTo>
                      <a:pt x="83" y="689"/>
                    </a:lnTo>
                    <a:lnTo>
                      <a:pt x="86" y="684"/>
                    </a:lnTo>
                    <a:lnTo>
                      <a:pt x="89" y="677"/>
                    </a:lnTo>
                    <a:lnTo>
                      <a:pt x="91" y="670"/>
                    </a:lnTo>
                    <a:lnTo>
                      <a:pt x="93" y="664"/>
                    </a:lnTo>
                    <a:lnTo>
                      <a:pt x="96" y="658"/>
                    </a:lnTo>
                    <a:lnTo>
                      <a:pt x="97" y="650"/>
                    </a:lnTo>
                    <a:lnTo>
                      <a:pt x="98" y="642"/>
                    </a:lnTo>
                    <a:lnTo>
                      <a:pt x="94" y="637"/>
                    </a:lnTo>
                    <a:lnTo>
                      <a:pt x="89" y="629"/>
                    </a:lnTo>
                    <a:lnTo>
                      <a:pt x="83" y="623"/>
                    </a:lnTo>
                    <a:lnTo>
                      <a:pt x="79" y="618"/>
                    </a:lnTo>
                    <a:lnTo>
                      <a:pt x="74" y="608"/>
                    </a:lnTo>
                    <a:lnTo>
                      <a:pt x="79" y="600"/>
                    </a:lnTo>
                    <a:lnTo>
                      <a:pt x="87" y="589"/>
                    </a:lnTo>
                    <a:lnTo>
                      <a:pt x="81" y="585"/>
                    </a:lnTo>
                    <a:lnTo>
                      <a:pt x="74" y="583"/>
                    </a:lnTo>
                    <a:lnTo>
                      <a:pt x="70" y="575"/>
                    </a:lnTo>
                    <a:lnTo>
                      <a:pt x="71" y="572"/>
                    </a:lnTo>
                    <a:lnTo>
                      <a:pt x="73" y="568"/>
                    </a:lnTo>
                    <a:lnTo>
                      <a:pt x="75" y="564"/>
                    </a:lnTo>
                    <a:lnTo>
                      <a:pt x="78" y="560"/>
                    </a:lnTo>
                    <a:lnTo>
                      <a:pt x="82" y="557"/>
                    </a:lnTo>
                    <a:lnTo>
                      <a:pt x="83" y="553"/>
                    </a:lnTo>
                    <a:lnTo>
                      <a:pt x="87" y="550"/>
                    </a:lnTo>
                    <a:lnTo>
                      <a:pt x="89" y="549"/>
                    </a:lnTo>
                    <a:lnTo>
                      <a:pt x="96" y="546"/>
                    </a:lnTo>
                    <a:lnTo>
                      <a:pt x="98" y="544"/>
                    </a:lnTo>
                    <a:lnTo>
                      <a:pt x="100" y="539"/>
                    </a:lnTo>
                    <a:lnTo>
                      <a:pt x="101" y="537"/>
                    </a:lnTo>
                    <a:lnTo>
                      <a:pt x="104" y="533"/>
                    </a:lnTo>
                    <a:lnTo>
                      <a:pt x="106" y="530"/>
                    </a:lnTo>
                    <a:lnTo>
                      <a:pt x="110" y="527"/>
                    </a:lnTo>
                    <a:lnTo>
                      <a:pt x="112" y="525"/>
                    </a:lnTo>
                    <a:lnTo>
                      <a:pt x="113" y="521"/>
                    </a:lnTo>
                    <a:lnTo>
                      <a:pt x="114" y="517"/>
                    </a:lnTo>
                    <a:lnTo>
                      <a:pt x="113" y="506"/>
                    </a:lnTo>
                    <a:lnTo>
                      <a:pt x="121" y="499"/>
                    </a:lnTo>
                    <a:lnTo>
                      <a:pt x="120" y="492"/>
                    </a:lnTo>
                    <a:lnTo>
                      <a:pt x="121" y="488"/>
                    </a:lnTo>
                    <a:lnTo>
                      <a:pt x="121" y="484"/>
                    </a:lnTo>
                    <a:lnTo>
                      <a:pt x="123" y="479"/>
                    </a:lnTo>
                    <a:lnTo>
                      <a:pt x="124" y="475"/>
                    </a:lnTo>
                    <a:lnTo>
                      <a:pt x="125" y="469"/>
                    </a:lnTo>
                    <a:lnTo>
                      <a:pt x="129" y="465"/>
                    </a:lnTo>
                    <a:lnTo>
                      <a:pt x="131" y="461"/>
                    </a:lnTo>
                    <a:lnTo>
                      <a:pt x="131" y="456"/>
                    </a:lnTo>
                    <a:lnTo>
                      <a:pt x="132" y="450"/>
                    </a:lnTo>
                    <a:lnTo>
                      <a:pt x="132" y="445"/>
                    </a:lnTo>
                    <a:lnTo>
                      <a:pt x="132" y="438"/>
                    </a:lnTo>
                    <a:lnTo>
                      <a:pt x="132" y="432"/>
                    </a:lnTo>
                    <a:lnTo>
                      <a:pt x="136" y="425"/>
                    </a:lnTo>
                    <a:lnTo>
                      <a:pt x="136" y="421"/>
                    </a:lnTo>
                    <a:lnTo>
                      <a:pt x="137" y="417"/>
                    </a:lnTo>
                    <a:lnTo>
                      <a:pt x="139" y="413"/>
                    </a:lnTo>
                    <a:lnTo>
                      <a:pt x="137" y="409"/>
                    </a:lnTo>
                    <a:lnTo>
                      <a:pt x="136" y="403"/>
                    </a:lnTo>
                    <a:lnTo>
                      <a:pt x="135" y="396"/>
                    </a:lnTo>
                    <a:lnTo>
                      <a:pt x="131" y="392"/>
                    </a:lnTo>
                    <a:lnTo>
                      <a:pt x="128" y="386"/>
                    </a:lnTo>
                    <a:lnTo>
                      <a:pt x="125" y="380"/>
                    </a:lnTo>
                    <a:lnTo>
                      <a:pt x="127" y="376"/>
                    </a:lnTo>
                    <a:lnTo>
                      <a:pt x="129" y="372"/>
                    </a:lnTo>
                    <a:lnTo>
                      <a:pt x="132" y="369"/>
                    </a:lnTo>
                    <a:lnTo>
                      <a:pt x="135" y="365"/>
                    </a:lnTo>
                    <a:lnTo>
                      <a:pt x="136" y="363"/>
                    </a:lnTo>
                    <a:lnTo>
                      <a:pt x="136" y="357"/>
                    </a:lnTo>
                    <a:lnTo>
                      <a:pt x="137" y="355"/>
                    </a:lnTo>
                    <a:lnTo>
                      <a:pt x="135" y="347"/>
                    </a:lnTo>
                    <a:lnTo>
                      <a:pt x="128" y="344"/>
                    </a:lnTo>
                    <a:lnTo>
                      <a:pt x="121" y="344"/>
                    </a:lnTo>
                    <a:lnTo>
                      <a:pt x="116" y="343"/>
                    </a:lnTo>
                    <a:lnTo>
                      <a:pt x="113" y="343"/>
                    </a:lnTo>
                    <a:lnTo>
                      <a:pt x="112" y="340"/>
                    </a:lnTo>
                    <a:lnTo>
                      <a:pt x="108" y="337"/>
                    </a:lnTo>
                    <a:lnTo>
                      <a:pt x="105" y="334"/>
                    </a:lnTo>
                    <a:lnTo>
                      <a:pt x="100" y="329"/>
                    </a:lnTo>
                    <a:lnTo>
                      <a:pt x="91" y="322"/>
                    </a:lnTo>
                    <a:lnTo>
                      <a:pt x="85" y="314"/>
                    </a:lnTo>
                    <a:lnTo>
                      <a:pt x="77" y="314"/>
                    </a:lnTo>
                    <a:lnTo>
                      <a:pt x="73" y="318"/>
                    </a:lnTo>
                    <a:lnTo>
                      <a:pt x="69" y="322"/>
                    </a:lnTo>
                    <a:lnTo>
                      <a:pt x="64" y="325"/>
                    </a:lnTo>
                    <a:lnTo>
                      <a:pt x="60" y="328"/>
                    </a:lnTo>
                    <a:lnTo>
                      <a:pt x="55" y="325"/>
                    </a:lnTo>
                    <a:lnTo>
                      <a:pt x="48" y="322"/>
                    </a:lnTo>
                    <a:lnTo>
                      <a:pt x="44" y="318"/>
                    </a:lnTo>
                    <a:lnTo>
                      <a:pt x="39" y="314"/>
                    </a:lnTo>
                    <a:lnTo>
                      <a:pt x="33" y="309"/>
                    </a:lnTo>
                    <a:lnTo>
                      <a:pt x="29" y="305"/>
                    </a:lnTo>
                    <a:lnTo>
                      <a:pt x="27" y="302"/>
                    </a:lnTo>
                    <a:lnTo>
                      <a:pt x="19" y="297"/>
                    </a:lnTo>
                    <a:lnTo>
                      <a:pt x="15" y="291"/>
                    </a:lnTo>
                    <a:lnTo>
                      <a:pt x="8" y="287"/>
                    </a:lnTo>
                    <a:lnTo>
                      <a:pt x="4" y="284"/>
                    </a:lnTo>
                    <a:lnTo>
                      <a:pt x="2" y="279"/>
                    </a:lnTo>
                    <a:lnTo>
                      <a:pt x="1" y="275"/>
                    </a:lnTo>
                    <a:lnTo>
                      <a:pt x="0" y="271"/>
                    </a:lnTo>
                    <a:lnTo>
                      <a:pt x="0" y="263"/>
                    </a:lnTo>
                    <a:lnTo>
                      <a:pt x="0" y="258"/>
                    </a:lnTo>
                    <a:lnTo>
                      <a:pt x="0" y="252"/>
                    </a:lnTo>
                    <a:lnTo>
                      <a:pt x="2" y="248"/>
                    </a:lnTo>
                    <a:lnTo>
                      <a:pt x="5" y="245"/>
                    </a:lnTo>
                    <a:lnTo>
                      <a:pt x="6" y="241"/>
                    </a:lnTo>
                    <a:lnTo>
                      <a:pt x="8" y="237"/>
                    </a:lnTo>
                    <a:lnTo>
                      <a:pt x="9" y="235"/>
                    </a:lnTo>
                    <a:lnTo>
                      <a:pt x="9" y="231"/>
                    </a:lnTo>
                    <a:lnTo>
                      <a:pt x="12" y="228"/>
                    </a:lnTo>
                    <a:lnTo>
                      <a:pt x="15" y="225"/>
                    </a:lnTo>
                    <a:lnTo>
                      <a:pt x="16" y="221"/>
                    </a:lnTo>
                    <a:lnTo>
                      <a:pt x="17" y="216"/>
                    </a:lnTo>
                    <a:lnTo>
                      <a:pt x="19" y="212"/>
                    </a:lnTo>
                    <a:lnTo>
                      <a:pt x="19" y="209"/>
                    </a:lnTo>
                    <a:lnTo>
                      <a:pt x="19" y="205"/>
                    </a:lnTo>
                    <a:lnTo>
                      <a:pt x="19" y="201"/>
                    </a:lnTo>
                    <a:lnTo>
                      <a:pt x="20" y="198"/>
                    </a:lnTo>
                    <a:lnTo>
                      <a:pt x="17" y="194"/>
                    </a:lnTo>
                    <a:lnTo>
                      <a:pt x="16" y="191"/>
                    </a:lnTo>
                    <a:lnTo>
                      <a:pt x="16" y="186"/>
                    </a:lnTo>
                    <a:lnTo>
                      <a:pt x="16" y="183"/>
                    </a:lnTo>
                    <a:lnTo>
                      <a:pt x="16" y="179"/>
                    </a:lnTo>
                    <a:lnTo>
                      <a:pt x="13" y="175"/>
                    </a:lnTo>
                    <a:lnTo>
                      <a:pt x="11" y="171"/>
                    </a:lnTo>
                    <a:lnTo>
                      <a:pt x="8" y="168"/>
                    </a:lnTo>
                    <a:lnTo>
                      <a:pt x="5" y="166"/>
                    </a:lnTo>
                    <a:lnTo>
                      <a:pt x="2" y="160"/>
                    </a:lnTo>
                    <a:lnTo>
                      <a:pt x="0" y="156"/>
                    </a:lnTo>
                    <a:lnTo>
                      <a:pt x="4" y="154"/>
                    </a:lnTo>
                    <a:lnTo>
                      <a:pt x="6" y="151"/>
                    </a:lnTo>
                    <a:lnTo>
                      <a:pt x="9" y="147"/>
                    </a:lnTo>
                    <a:lnTo>
                      <a:pt x="13" y="143"/>
                    </a:lnTo>
                    <a:lnTo>
                      <a:pt x="13" y="137"/>
                    </a:lnTo>
                    <a:lnTo>
                      <a:pt x="13" y="129"/>
                    </a:lnTo>
                    <a:lnTo>
                      <a:pt x="19" y="132"/>
                    </a:lnTo>
                    <a:lnTo>
                      <a:pt x="106" y="131"/>
                    </a:lnTo>
                    <a:lnTo>
                      <a:pt x="197" y="131"/>
                    </a:lnTo>
                    <a:lnTo>
                      <a:pt x="256" y="129"/>
                    </a:lnTo>
                    <a:lnTo>
                      <a:pt x="260" y="108"/>
                    </a:lnTo>
                    <a:lnTo>
                      <a:pt x="272" y="104"/>
                    </a:lnTo>
                    <a:lnTo>
                      <a:pt x="271" y="98"/>
                    </a:lnTo>
                    <a:lnTo>
                      <a:pt x="271" y="94"/>
                    </a:lnTo>
                    <a:lnTo>
                      <a:pt x="270" y="89"/>
                    </a:lnTo>
                    <a:lnTo>
                      <a:pt x="270" y="81"/>
                    </a:lnTo>
                    <a:lnTo>
                      <a:pt x="271" y="77"/>
                    </a:lnTo>
                    <a:lnTo>
                      <a:pt x="272" y="71"/>
                    </a:lnTo>
                    <a:lnTo>
                      <a:pt x="272" y="66"/>
                    </a:lnTo>
                    <a:lnTo>
                      <a:pt x="274" y="61"/>
                    </a:lnTo>
                    <a:lnTo>
                      <a:pt x="275" y="55"/>
                    </a:lnTo>
                    <a:lnTo>
                      <a:pt x="278" y="52"/>
                    </a:lnTo>
                    <a:lnTo>
                      <a:pt x="280" y="46"/>
                    </a:lnTo>
                    <a:lnTo>
                      <a:pt x="282" y="42"/>
                    </a:lnTo>
                    <a:lnTo>
                      <a:pt x="284" y="35"/>
                    </a:lnTo>
                    <a:lnTo>
                      <a:pt x="287" y="30"/>
                    </a:lnTo>
                    <a:lnTo>
                      <a:pt x="290" y="25"/>
                    </a:lnTo>
                    <a:lnTo>
                      <a:pt x="290" y="20"/>
                    </a:lnTo>
                    <a:lnTo>
                      <a:pt x="290" y="13"/>
                    </a:lnTo>
                    <a:lnTo>
                      <a:pt x="293" y="0"/>
                    </a:lnTo>
                    <a:lnTo>
                      <a:pt x="295" y="13"/>
                    </a:lnTo>
                    <a:lnTo>
                      <a:pt x="306" y="12"/>
                    </a:lnTo>
                    <a:lnTo>
                      <a:pt x="307" y="20"/>
                    </a:lnTo>
                    <a:lnTo>
                      <a:pt x="307" y="27"/>
                    </a:lnTo>
                    <a:lnTo>
                      <a:pt x="310" y="32"/>
                    </a:lnTo>
                    <a:lnTo>
                      <a:pt x="311" y="38"/>
                    </a:lnTo>
                    <a:lnTo>
                      <a:pt x="315" y="43"/>
                    </a:lnTo>
                    <a:lnTo>
                      <a:pt x="317" y="47"/>
                    </a:lnTo>
                    <a:lnTo>
                      <a:pt x="320" y="50"/>
                    </a:lnTo>
                    <a:lnTo>
                      <a:pt x="322" y="54"/>
                    </a:lnTo>
                    <a:lnTo>
                      <a:pt x="324" y="59"/>
                    </a:lnTo>
                    <a:lnTo>
                      <a:pt x="326" y="63"/>
                    </a:lnTo>
                    <a:lnTo>
                      <a:pt x="328" y="69"/>
                    </a:lnTo>
                    <a:lnTo>
                      <a:pt x="329" y="74"/>
                    </a:lnTo>
                    <a:lnTo>
                      <a:pt x="330" y="79"/>
                    </a:lnTo>
                    <a:lnTo>
                      <a:pt x="330" y="86"/>
                    </a:lnTo>
                    <a:lnTo>
                      <a:pt x="330" y="92"/>
                    </a:lnTo>
                    <a:lnTo>
                      <a:pt x="338" y="102"/>
                    </a:lnTo>
                    <a:lnTo>
                      <a:pt x="337" y="109"/>
                    </a:lnTo>
                    <a:lnTo>
                      <a:pt x="337" y="119"/>
                    </a:lnTo>
                    <a:lnTo>
                      <a:pt x="341" y="121"/>
                    </a:lnTo>
                    <a:lnTo>
                      <a:pt x="345" y="124"/>
                    </a:lnTo>
                    <a:lnTo>
                      <a:pt x="351" y="128"/>
                    </a:lnTo>
                    <a:lnTo>
                      <a:pt x="361" y="132"/>
                    </a:lnTo>
                    <a:lnTo>
                      <a:pt x="365" y="146"/>
                    </a:lnTo>
                    <a:lnTo>
                      <a:pt x="376" y="146"/>
                    </a:lnTo>
                    <a:lnTo>
                      <a:pt x="378" y="151"/>
                    </a:lnTo>
                    <a:lnTo>
                      <a:pt x="380" y="158"/>
                    </a:lnTo>
                    <a:lnTo>
                      <a:pt x="387" y="164"/>
                    </a:lnTo>
                    <a:lnTo>
                      <a:pt x="392" y="168"/>
                    </a:lnTo>
                    <a:lnTo>
                      <a:pt x="395" y="171"/>
                    </a:lnTo>
                    <a:lnTo>
                      <a:pt x="399" y="173"/>
                    </a:lnTo>
                    <a:lnTo>
                      <a:pt x="406" y="175"/>
                    </a:lnTo>
                    <a:lnTo>
                      <a:pt x="417" y="178"/>
                    </a:lnTo>
                    <a:lnTo>
                      <a:pt x="426" y="179"/>
                    </a:lnTo>
                    <a:lnTo>
                      <a:pt x="438" y="179"/>
                    </a:lnTo>
                    <a:lnTo>
                      <a:pt x="452" y="181"/>
                    </a:lnTo>
                    <a:lnTo>
                      <a:pt x="498" y="186"/>
                    </a:lnTo>
                    <a:lnTo>
                      <a:pt x="560" y="191"/>
                    </a:lnTo>
                    <a:lnTo>
                      <a:pt x="603" y="197"/>
                    </a:lnTo>
                    <a:lnTo>
                      <a:pt x="678" y="204"/>
                    </a:lnTo>
                    <a:lnTo>
                      <a:pt x="781" y="214"/>
                    </a:lnTo>
                    <a:lnTo>
                      <a:pt x="898" y="226"/>
                    </a:lnTo>
                    <a:lnTo>
                      <a:pt x="987" y="236"/>
                    </a:lnTo>
                    <a:lnTo>
                      <a:pt x="990" y="241"/>
                    </a:lnTo>
                    <a:lnTo>
                      <a:pt x="986" y="251"/>
                    </a:lnTo>
                    <a:lnTo>
                      <a:pt x="982" y="256"/>
                    </a:lnTo>
                    <a:lnTo>
                      <a:pt x="982" y="266"/>
                    </a:lnTo>
                    <a:lnTo>
                      <a:pt x="982" y="271"/>
                    </a:lnTo>
                    <a:lnTo>
                      <a:pt x="981" y="278"/>
                    </a:lnTo>
                    <a:lnTo>
                      <a:pt x="979" y="284"/>
                    </a:lnTo>
                    <a:lnTo>
                      <a:pt x="974" y="290"/>
                    </a:lnTo>
                    <a:lnTo>
                      <a:pt x="970" y="295"/>
                    </a:lnTo>
                    <a:lnTo>
                      <a:pt x="970" y="303"/>
                    </a:lnTo>
                    <a:lnTo>
                      <a:pt x="969" y="310"/>
                    </a:lnTo>
                    <a:lnTo>
                      <a:pt x="966" y="313"/>
                    </a:lnTo>
                    <a:lnTo>
                      <a:pt x="962" y="317"/>
                    </a:lnTo>
                    <a:lnTo>
                      <a:pt x="958" y="325"/>
                    </a:lnTo>
                    <a:lnTo>
                      <a:pt x="955" y="329"/>
                    </a:lnTo>
                    <a:lnTo>
                      <a:pt x="958" y="333"/>
                    </a:lnTo>
                    <a:lnTo>
                      <a:pt x="960" y="340"/>
                    </a:lnTo>
                    <a:lnTo>
                      <a:pt x="962" y="348"/>
                    </a:lnTo>
                    <a:lnTo>
                      <a:pt x="963" y="353"/>
                    </a:lnTo>
                    <a:lnTo>
                      <a:pt x="963" y="360"/>
                    </a:lnTo>
                    <a:lnTo>
                      <a:pt x="962" y="367"/>
                    </a:lnTo>
                    <a:lnTo>
                      <a:pt x="958" y="371"/>
                    </a:lnTo>
                    <a:lnTo>
                      <a:pt x="954" y="375"/>
                    </a:lnTo>
                    <a:lnTo>
                      <a:pt x="951" y="379"/>
                    </a:lnTo>
                    <a:lnTo>
                      <a:pt x="939" y="391"/>
                    </a:lnTo>
                    <a:lnTo>
                      <a:pt x="946" y="396"/>
                    </a:lnTo>
                    <a:lnTo>
                      <a:pt x="950" y="402"/>
                    </a:lnTo>
                    <a:lnTo>
                      <a:pt x="952" y="407"/>
                    </a:lnTo>
                    <a:lnTo>
                      <a:pt x="954" y="411"/>
                    </a:lnTo>
                    <a:lnTo>
                      <a:pt x="952" y="417"/>
                    </a:lnTo>
                    <a:lnTo>
                      <a:pt x="951" y="422"/>
                    </a:lnTo>
                    <a:lnTo>
                      <a:pt x="950" y="436"/>
                    </a:lnTo>
                    <a:lnTo>
                      <a:pt x="951" y="442"/>
                    </a:lnTo>
                    <a:lnTo>
                      <a:pt x="947" y="448"/>
                    </a:lnTo>
                    <a:lnTo>
                      <a:pt x="944" y="457"/>
                    </a:lnTo>
                    <a:lnTo>
                      <a:pt x="944" y="465"/>
                    </a:lnTo>
                    <a:lnTo>
                      <a:pt x="944" y="472"/>
                    </a:lnTo>
                    <a:lnTo>
                      <a:pt x="946" y="480"/>
                    </a:lnTo>
                    <a:lnTo>
                      <a:pt x="950" y="490"/>
                    </a:lnTo>
                    <a:lnTo>
                      <a:pt x="955" y="490"/>
                    </a:lnTo>
                    <a:lnTo>
                      <a:pt x="962" y="486"/>
                    </a:lnTo>
                    <a:lnTo>
                      <a:pt x="967" y="480"/>
                    </a:lnTo>
                    <a:lnTo>
                      <a:pt x="971" y="472"/>
                    </a:lnTo>
                    <a:lnTo>
                      <a:pt x="973" y="467"/>
                    </a:lnTo>
                    <a:lnTo>
                      <a:pt x="978" y="463"/>
                    </a:lnTo>
                    <a:lnTo>
                      <a:pt x="983" y="460"/>
                    </a:lnTo>
                    <a:lnTo>
                      <a:pt x="986" y="454"/>
                    </a:lnTo>
                    <a:lnTo>
                      <a:pt x="990" y="450"/>
                    </a:lnTo>
                    <a:lnTo>
                      <a:pt x="993" y="445"/>
                    </a:lnTo>
                    <a:lnTo>
                      <a:pt x="1000" y="440"/>
                    </a:lnTo>
                    <a:lnTo>
                      <a:pt x="1012" y="448"/>
                    </a:lnTo>
                    <a:lnTo>
                      <a:pt x="1017" y="450"/>
                    </a:lnTo>
                    <a:lnTo>
                      <a:pt x="1025" y="453"/>
                    </a:lnTo>
                    <a:lnTo>
                      <a:pt x="1031" y="454"/>
                    </a:lnTo>
                    <a:lnTo>
                      <a:pt x="1035" y="456"/>
                    </a:lnTo>
                    <a:lnTo>
                      <a:pt x="1037" y="459"/>
                    </a:lnTo>
                    <a:lnTo>
                      <a:pt x="1037" y="464"/>
                    </a:lnTo>
                    <a:lnTo>
                      <a:pt x="1039" y="469"/>
                    </a:lnTo>
                    <a:lnTo>
                      <a:pt x="1043" y="472"/>
                    </a:lnTo>
                    <a:lnTo>
                      <a:pt x="1045" y="475"/>
                    </a:lnTo>
                    <a:lnTo>
                      <a:pt x="1047" y="479"/>
                    </a:lnTo>
                    <a:lnTo>
                      <a:pt x="1049" y="483"/>
                    </a:lnTo>
                    <a:lnTo>
                      <a:pt x="1051" y="487"/>
                    </a:lnTo>
                    <a:lnTo>
                      <a:pt x="1054" y="494"/>
                    </a:lnTo>
                    <a:lnTo>
                      <a:pt x="1054" y="503"/>
                    </a:lnTo>
                    <a:lnTo>
                      <a:pt x="1054" y="512"/>
                    </a:lnTo>
                    <a:lnTo>
                      <a:pt x="1054" y="518"/>
                    </a:lnTo>
                    <a:lnTo>
                      <a:pt x="1059" y="526"/>
                    </a:lnTo>
                    <a:lnTo>
                      <a:pt x="1067" y="510"/>
                    </a:lnTo>
                    <a:lnTo>
                      <a:pt x="1068" y="499"/>
                    </a:lnTo>
                    <a:lnTo>
                      <a:pt x="1075" y="498"/>
                    </a:lnTo>
                    <a:lnTo>
                      <a:pt x="1083" y="495"/>
                    </a:lnTo>
                    <a:lnTo>
                      <a:pt x="1090" y="492"/>
                    </a:lnTo>
                    <a:lnTo>
                      <a:pt x="1095" y="486"/>
                    </a:lnTo>
                    <a:lnTo>
                      <a:pt x="1095" y="494"/>
                    </a:lnTo>
                    <a:lnTo>
                      <a:pt x="1095" y="504"/>
                    </a:lnTo>
                    <a:lnTo>
                      <a:pt x="1099" y="507"/>
                    </a:lnTo>
                    <a:lnTo>
                      <a:pt x="1102" y="510"/>
                    </a:lnTo>
                    <a:lnTo>
                      <a:pt x="1105" y="512"/>
                    </a:lnTo>
                    <a:lnTo>
                      <a:pt x="1108" y="517"/>
                    </a:lnTo>
                    <a:lnTo>
                      <a:pt x="1110" y="519"/>
                    </a:lnTo>
                    <a:lnTo>
                      <a:pt x="1112" y="523"/>
                    </a:lnTo>
                    <a:lnTo>
                      <a:pt x="1112" y="527"/>
                    </a:lnTo>
                    <a:lnTo>
                      <a:pt x="1112" y="533"/>
                    </a:lnTo>
                    <a:lnTo>
                      <a:pt x="1110" y="537"/>
                    </a:lnTo>
                    <a:lnTo>
                      <a:pt x="1108" y="554"/>
                    </a:lnTo>
                    <a:lnTo>
                      <a:pt x="1121" y="562"/>
                    </a:lnTo>
                    <a:lnTo>
                      <a:pt x="1124" y="552"/>
                    </a:lnTo>
                    <a:lnTo>
                      <a:pt x="1128" y="550"/>
                    </a:lnTo>
                    <a:lnTo>
                      <a:pt x="1132" y="546"/>
                    </a:lnTo>
                    <a:lnTo>
                      <a:pt x="1134" y="546"/>
                    </a:lnTo>
                    <a:lnTo>
                      <a:pt x="1140" y="545"/>
                    </a:lnTo>
                    <a:lnTo>
                      <a:pt x="1145" y="545"/>
                    </a:lnTo>
                    <a:lnTo>
                      <a:pt x="1151" y="545"/>
                    </a:lnTo>
                    <a:lnTo>
                      <a:pt x="1157" y="546"/>
                    </a:lnTo>
                    <a:lnTo>
                      <a:pt x="1161" y="546"/>
                    </a:lnTo>
                    <a:lnTo>
                      <a:pt x="1161" y="561"/>
                    </a:lnTo>
                    <a:lnTo>
                      <a:pt x="1172" y="565"/>
                    </a:lnTo>
                    <a:lnTo>
                      <a:pt x="1176" y="568"/>
                    </a:lnTo>
                    <a:lnTo>
                      <a:pt x="1178" y="572"/>
                    </a:lnTo>
                    <a:lnTo>
                      <a:pt x="1180" y="575"/>
                    </a:lnTo>
                    <a:lnTo>
                      <a:pt x="1184" y="575"/>
                    </a:lnTo>
                    <a:lnTo>
                      <a:pt x="1186" y="575"/>
                    </a:lnTo>
                    <a:lnTo>
                      <a:pt x="1190" y="575"/>
                    </a:lnTo>
                    <a:lnTo>
                      <a:pt x="1193" y="576"/>
                    </a:lnTo>
                    <a:lnTo>
                      <a:pt x="1197" y="552"/>
                    </a:lnTo>
                    <a:lnTo>
                      <a:pt x="1205" y="556"/>
                    </a:lnTo>
                    <a:lnTo>
                      <a:pt x="1209" y="561"/>
                    </a:lnTo>
                    <a:lnTo>
                      <a:pt x="1214" y="568"/>
                    </a:lnTo>
                    <a:lnTo>
                      <a:pt x="1217" y="572"/>
                    </a:lnTo>
                    <a:lnTo>
                      <a:pt x="1222" y="573"/>
                    </a:lnTo>
                    <a:lnTo>
                      <a:pt x="1226" y="576"/>
                    </a:lnTo>
                    <a:lnTo>
                      <a:pt x="1230" y="579"/>
                    </a:lnTo>
                    <a:lnTo>
                      <a:pt x="1236" y="580"/>
                    </a:lnTo>
                    <a:lnTo>
                      <a:pt x="1249" y="572"/>
                    </a:lnTo>
                    <a:lnTo>
                      <a:pt x="1256" y="579"/>
                    </a:lnTo>
                    <a:lnTo>
                      <a:pt x="1269" y="579"/>
                    </a:lnTo>
                    <a:lnTo>
                      <a:pt x="1275" y="576"/>
                    </a:lnTo>
                    <a:lnTo>
                      <a:pt x="1279" y="573"/>
                    </a:lnTo>
                    <a:lnTo>
                      <a:pt x="1282" y="572"/>
                    </a:lnTo>
                    <a:lnTo>
                      <a:pt x="1283" y="568"/>
                    </a:lnTo>
                    <a:lnTo>
                      <a:pt x="1287" y="562"/>
                    </a:lnTo>
                    <a:lnTo>
                      <a:pt x="1288" y="560"/>
                    </a:lnTo>
                    <a:lnTo>
                      <a:pt x="1292" y="557"/>
                    </a:lnTo>
                    <a:lnTo>
                      <a:pt x="1295" y="554"/>
                    </a:lnTo>
                    <a:lnTo>
                      <a:pt x="1299" y="552"/>
                    </a:lnTo>
                    <a:lnTo>
                      <a:pt x="1304" y="550"/>
                    </a:lnTo>
                    <a:lnTo>
                      <a:pt x="1309" y="549"/>
                    </a:lnTo>
                    <a:lnTo>
                      <a:pt x="1311" y="550"/>
                    </a:lnTo>
                    <a:lnTo>
                      <a:pt x="1315" y="552"/>
                    </a:lnTo>
                    <a:lnTo>
                      <a:pt x="1318" y="553"/>
                    </a:lnTo>
                    <a:lnTo>
                      <a:pt x="1311" y="562"/>
                    </a:lnTo>
                    <a:lnTo>
                      <a:pt x="1321" y="571"/>
                    </a:lnTo>
                    <a:lnTo>
                      <a:pt x="1317" y="581"/>
                    </a:lnTo>
                    <a:lnTo>
                      <a:pt x="1319" y="587"/>
                    </a:lnTo>
                    <a:lnTo>
                      <a:pt x="1322" y="591"/>
                    </a:lnTo>
                    <a:lnTo>
                      <a:pt x="1322" y="599"/>
                    </a:lnTo>
                    <a:lnTo>
                      <a:pt x="1318" y="602"/>
                    </a:lnTo>
                    <a:lnTo>
                      <a:pt x="1315" y="606"/>
                    </a:lnTo>
                    <a:lnTo>
                      <a:pt x="1314" y="611"/>
                    </a:lnTo>
                    <a:lnTo>
                      <a:pt x="1313" y="619"/>
                    </a:lnTo>
                    <a:lnTo>
                      <a:pt x="1314" y="623"/>
                    </a:lnTo>
                    <a:lnTo>
                      <a:pt x="1315" y="627"/>
                    </a:lnTo>
                    <a:lnTo>
                      <a:pt x="1315" y="639"/>
                    </a:lnTo>
                    <a:lnTo>
                      <a:pt x="1319" y="643"/>
                    </a:lnTo>
                    <a:lnTo>
                      <a:pt x="1322" y="649"/>
                    </a:lnTo>
                    <a:lnTo>
                      <a:pt x="1327" y="655"/>
                    </a:lnTo>
                    <a:lnTo>
                      <a:pt x="1331" y="661"/>
                    </a:lnTo>
                    <a:lnTo>
                      <a:pt x="1334" y="665"/>
                    </a:lnTo>
                    <a:lnTo>
                      <a:pt x="1340" y="669"/>
                    </a:lnTo>
                    <a:lnTo>
                      <a:pt x="1340" y="677"/>
                    </a:lnTo>
                    <a:lnTo>
                      <a:pt x="1340" y="689"/>
                    </a:lnTo>
                    <a:lnTo>
                      <a:pt x="1337" y="695"/>
                    </a:lnTo>
                    <a:lnTo>
                      <a:pt x="1336" y="699"/>
                    </a:lnTo>
                    <a:lnTo>
                      <a:pt x="1334" y="701"/>
                    </a:lnTo>
                    <a:lnTo>
                      <a:pt x="1331" y="705"/>
                    </a:lnTo>
                    <a:lnTo>
                      <a:pt x="1329" y="709"/>
                    </a:lnTo>
                    <a:lnTo>
                      <a:pt x="1326" y="712"/>
                    </a:lnTo>
                    <a:lnTo>
                      <a:pt x="1321" y="714"/>
                    </a:lnTo>
                    <a:lnTo>
                      <a:pt x="1317" y="715"/>
                    </a:lnTo>
                    <a:lnTo>
                      <a:pt x="1310" y="714"/>
                    </a:lnTo>
                    <a:lnTo>
                      <a:pt x="1307" y="712"/>
                    </a:lnTo>
                    <a:lnTo>
                      <a:pt x="1300" y="707"/>
                    </a:lnTo>
                    <a:lnTo>
                      <a:pt x="1298" y="704"/>
                    </a:lnTo>
                    <a:lnTo>
                      <a:pt x="1294" y="700"/>
                    </a:lnTo>
                    <a:lnTo>
                      <a:pt x="1290" y="697"/>
                    </a:lnTo>
                    <a:lnTo>
                      <a:pt x="1288" y="695"/>
                    </a:lnTo>
                    <a:lnTo>
                      <a:pt x="1286" y="701"/>
                    </a:lnTo>
                    <a:lnTo>
                      <a:pt x="1284" y="705"/>
                    </a:lnTo>
                    <a:lnTo>
                      <a:pt x="1283" y="712"/>
                    </a:lnTo>
                    <a:lnTo>
                      <a:pt x="1282" y="719"/>
                    </a:lnTo>
                    <a:lnTo>
                      <a:pt x="1276" y="719"/>
                    </a:lnTo>
                    <a:lnTo>
                      <a:pt x="1268" y="720"/>
                    </a:lnTo>
                    <a:lnTo>
                      <a:pt x="1263" y="720"/>
                    </a:lnTo>
                    <a:lnTo>
                      <a:pt x="1259" y="719"/>
                    </a:lnTo>
                    <a:lnTo>
                      <a:pt x="1257" y="730"/>
                    </a:lnTo>
                    <a:lnTo>
                      <a:pt x="1265" y="736"/>
                    </a:lnTo>
                    <a:lnTo>
                      <a:pt x="1260" y="746"/>
                    </a:lnTo>
                    <a:lnTo>
                      <a:pt x="1259" y="769"/>
                    </a:lnTo>
                    <a:lnTo>
                      <a:pt x="1257" y="782"/>
                    </a:lnTo>
                    <a:lnTo>
                      <a:pt x="1264" y="792"/>
                    </a:lnTo>
                    <a:lnTo>
                      <a:pt x="1257" y="796"/>
                    </a:lnTo>
                    <a:lnTo>
                      <a:pt x="1252" y="801"/>
                    </a:lnTo>
                    <a:lnTo>
                      <a:pt x="1244" y="803"/>
                    </a:lnTo>
                    <a:lnTo>
                      <a:pt x="1237" y="805"/>
                    </a:lnTo>
                    <a:lnTo>
                      <a:pt x="1232" y="811"/>
                    </a:lnTo>
                    <a:lnTo>
                      <a:pt x="1226" y="816"/>
                    </a:lnTo>
                    <a:lnTo>
                      <a:pt x="1219" y="816"/>
                    </a:lnTo>
                    <a:lnTo>
                      <a:pt x="1213" y="817"/>
                    </a:lnTo>
                    <a:lnTo>
                      <a:pt x="1210" y="823"/>
                    </a:lnTo>
                    <a:lnTo>
                      <a:pt x="1206" y="828"/>
                    </a:lnTo>
                    <a:lnTo>
                      <a:pt x="1205" y="832"/>
                    </a:lnTo>
                    <a:lnTo>
                      <a:pt x="1202" y="839"/>
                    </a:lnTo>
                    <a:lnTo>
                      <a:pt x="1199" y="847"/>
                    </a:lnTo>
                    <a:lnTo>
                      <a:pt x="1203" y="855"/>
                    </a:lnTo>
                    <a:lnTo>
                      <a:pt x="1210" y="873"/>
                    </a:lnTo>
                    <a:lnTo>
                      <a:pt x="1210" y="886"/>
                    </a:lnTo>
                    <a:lnTo>
                      <a:pt x="1209" y="892"/>
                    </a:lnTo>
                    <a:lnTo>
                      <a:pt x="1206" y="898"/>
                    </a:lnTo>
                    <a:lnTo>
                      <a:pt x="1202" y="900"/>
                    </a:lnTo>
                    <a:lnTo>
                      <a:pt x="1191" y="905"/>
                    </a:lnTo>
                    <a:lnTo>
                      <a:pt x="1187" y="909"/>
                    </a:lnTo>
                    <a:lnTo>
                      <a:pt x="1184" y="915"/>
                    </a:lnTo>
                    <a:lnTo>
                      <a:pt x="1184" y="924"/>
                    </a:lnTo>
                    <a:lnTo>
                      <a:pt x="1184" y="931"/>
                    </a:lnTo>
                    <a:lnTo>
                      <a:pt x="1197" y="937"/>
                    </a:lnTo>
                    <a:lnTo>
                      <a:pt x="1203" y="948"/>
                    </a:lnTo>
                    <a:lnTo>
                      <a:pt x="1190" y="962"/>
                    </a:lnTo>
                    <a:lnTo>
                      <a:pt x="1187" y="973"/>
                    </a:lnTo>
                    <a:lnTo>
                      <a:pt x="1197" y="979"/>
                    </a:lnTo>
                    <a:lnTo>
                      <a:pt x="1198" y="989"/>
                    </a:lnTo>
                    <a:lnTo>
                      <a:pt x="1194" y="991"/>
                    </a:lnTo>
                    <a:lnTo>
                      <a:pt x="1187" y="997"/>
                    </a:lnTo>
                    <a:lnTo>
                      <a:pt x="1180" y="1001"/>
                    </a:lnTo>
                    <a:lnTo>
                      <a:pt x="1172" y="1006"/>
                    </a:lnTo>
                    <a:lnTo>
                      <a:pt x="1167" y="1010"/>
                    </a:lnTo>
                    <a:lnTo>
                      <a:pt x="1153" y="1010"/>
                    </a:lnTo>
                    <a:lnTo>
                      <a:pt x="1148" y="1021"/>
                    </a:lnTo>
                    <a:lnTo>
                      <a:pt x="1134" y="1021"/>
                    </a:lnTo>
                    <a:lnTo>
                      <a:pt x="1118" y="1010"/>
                    </a:lnTo>
                    <a:lnTo>
                      <a:pt x="1098" y="1009"/>
                    </a:lnTo>
                    <a:lnTo>
                      <a:pt x="1075" y="1010"/>
                    </a:lnTo>
                    <a:lnTo>
                      <a:pt x="1067" y="1006"/>
                    </a:lnTo>
                    <a:lnTo>
                      <a:pt x="1055" y="1013"/>
                    </a:lnTo>
                    <a:lnTo>
                      <a:pt x="1045" y="1018"/>
                    </a:lnTo>
                    <a:lnTo>
                      <a:pt x="1040" y="1021"/>
                    </a:lnTo>
                    <a:lnTo>
                      <a:pt x="1032" y="1021"/>
                    </a:lnTo>
                    <a:lnTo>
                      <a:pt x="1027" y="1022"/>
                    </a:lnTo>
                    <a:lnTo>
                      <a:pt x="1012" y="1018"/>
                    </a:lnTo>
                    <a:lnTo>
                      <a:pt x="1005" y="1020"/>
                    </a:lnTo>
                    <a:lnTo>
                      <a:pt x="998" y="1022"/>
                    </a:lnTo>
                    <a:lnTo>
                      <a:pt x="990" y="1022"/>
                    </a:lnTo>
                    <a:lnTo>
                      <a:pt x="981" y="1022"/>
                    </a:lnTo>
                    <a:lnTo>
                      <a:pt x="974" y="1022"/>
                    </a:lnTo>
                    <a:lnTo>
                      <a:pt x="969" y="1024"/>
                    </a:lnTo>
                    <a:lnTo>
                      <a:pt x="963" y="1025"/>
                    </a:lnTo>
                    <a:lnTo>
                      <a:pt x="956" y="1029"/>
                    </a:lnTo>
                    <a:lnTo>
                      <a:pt x="951" y="1035"/>
                    </a:lnTo>
                    <a:lnTo>
                      <a:pt x="948" y="1040"/>
                    </a:lnTo>
                    <a:lnTo>
                      <a:pt x="943" y="1044"/>
                    </a:lnTo>
                    <a:lnTo>
                      <a:pt x="937" y="1048"/>
                    </a:lnTo>
                    <a:lnTo>
                      <a:pt x="933" y="1052"/>
                    </a:lnTo>
                    <a:lnTo>
                      <a:pt x="929" y="1058"/>
                    </a:lnTo>
                    <a:lnTo>
                      <a:pt x="923" y="1062"/>
                    </a:lnTo>
                    <a:lnTo>
                      <a:pt x="919" y="1066"/>
                    </a:lnTo>
                    <a:lnTo>
                      <a:pt x="912" y="1071"/>
                    </a:lnTo>
                    <a:lnTo>
                      <a:pt x="905" y="1076"/>
                    </a:lnTo>
                    <a:lnTo>
                      <a:pt x="902" y="1091"/>
                    </a:lnTo>
                    <a:lnTo>
                      <a:pt x="898" y="1095"/>
                    </a:lnTo>
                    <a:lnTo>
                      <a:pt x="894" y="1098"/>
                    </a:lnTo>
                    <a:lnTo>
                      <a:pt x="888" y="1102"/>
                    </a:lnTo>
                    <a:lnTo>
                      <a:pt x="885" y="1106"/>
                    </a:lnTo>
                    <a:lnTo>
                      <a:pt x="884" y="1110"/>
                    </a:lnTo>
                    <a:lnTo>
                      <a:pt x="884" y="1118"/>
                    </a:lnTo>
                    <a:lnTo>
                      <a:pt x="884" y="1126"/>
                    </a:lnTo>
                    <a:lnTo>
                      <a:pt x="885" y="1133"/>
                    </a:lnTo>
                    <a:lnTo>
                      <a:pt x="886" y="1137"/>
                    </a:lnTo>
                    <a:lnTo>
                      <a:pt x="884" y="1138"/>
                    </a:lnTo>
                    <a:lnTo>
                      <a:pt x="881" y="1141"/>
                    </a:lnTo>
                    <a:lnTo>
                      <a:pt x="878" y="1144"/>
                    </a:lnTo>
                    <a:lnTo>
                      <a:pt x="875" y="1147"/>
                    </a:lnTo>
                    <a:lnTo>
                      <a:pt x="875" y="1156"/>
                    </a:lnTo>
                    <a:lnTo>
                      <a:pt x="873" y="1156"/>
                    </a:lnTo>
                    <a:lnTo>
                      <a:pt x="867" y="1159"/>
                    </a:lnTo>
                    <a:lnTo>
                      <a:pt x="863" y="1160"/>
                    </a:lnTo>
                    <a:lnTo>
                      <a:pt x="858" y="1163"/>
                    </a:lnTo>
                    <a:lnTo>
                      <a:pt x="857" y="1165"/>
                    </a:lnTo>
                    <a:lnTo>
                      <a:pt x="854" y="1170"/>
                    </a:lnTo>
                    <a:lnTo>
                      <a:pt x="851" y="1175"/>
                    </a:lnTo>
                    <a:lnTo>
                      <a:pt x="850" y="1178"/>
                    </a:lnTo>
                    <a:lnTo>
                      <a:pt x="847" y="1183"/>
                    </a:lnTo>
                    <a:lnTo>
                      <a:pt x="847" y="1191"/>
                    </a:lnTo>
                    <a:lnTo>
                      <a:pt x="844" y="1195"/>
                    </a:lnTo>
                    <a:lnTo>
                      <a:pt x="842" y="1198"/>
                    </a:lnTo>
                    <a:lnTo>
                      <a:pt x="839" y="1203"/>
                    </a:lnTo>
                    <a:lnTo>
                      <a:pt x="835" y="1206"/>
                    </a:lnTo>
                    <a:lnTo>
                      <a:pt x="831" y="1210"/>
                    </a:lnTo>
                    <a:lnTo>
                      <a:pt x="827" y="1213"/>
                    </a:lnTo>
                    <a:lnTo>
                      <a:pt x="821" y="1217"/>
                    </a:lnTo>
                    <a:lnTo>
                      <a:pt x="820" y="1218"/>
                    </a:lnTo>
                    <a:lnTo>
                      <a:pt x="817" y="1223"/>
                    </a:lnTo>
                    <a:lnTo>
                      <a:pt x="813" y="1233"/>
                    </a:lnTo>
                    <a:lnTo>
                      <a:pt x="811" y="1238"/>
                    </a:lnTo>
                    <a:lnTo>
                      <a:pt x="805" y="1238"/>
                    </a:lnTo>
                    <a:lnTo>
                      <a:pt x="805" y="1250"/>
                    </a:lnTo>
                    <a:lnTo>
                      <a:pt x="801" y="1257"/>
                    </a:lnTo>
                    <a:lnTo>
                      <a:pt x="799" y="1263"/>
                    </a:lnTo>
                    <a:lnTo>
                      <a:pt x="796" y="1267"/>
                    </a:lnTo>
                    <a:lnTo>
                      <a:pt x="792" y="1271"/>
                    </a:lnTo>
                    <a:lnTo>
                      <a:pt x="789" y="1276"/>
                    </a:lnTo>
                    <a:lnTo>
                      <a:pt x="785" y="1280"/>
                    </a:lnTo>
                    <a:lnTo>
                      <a:pt x="781" y="1284"/>
                    </a:lnTo>
                    <a:lnTo>
                      <a:pt x="780" y="1287"/>
                    </a:lnTo>
                    <a:lnTo>
                      <a:pt x="776" y="1292"/>
                    </a:lnTo>
                    <a:lnTo>
                      <a:pt x="772" y="1298"/>
                    </a:lnTo>
                    <a:lnTo>
                      <a:pt x="767" y="1303"/>
                    </a:lnTo>
                    <a:lnTo>
                      <a:pt x="765" y="1307"/>
                    </a:lnTo>
                    <a:lnTo>
                      <a:pt x="761" y="1313"/>
                    </a:lnTo>
                    <a:lnTo>
                      <a:pt x="757" y="1315"/>
                    </a:lnTo>
                    <a:lnTo>
                      <a:pt x="753" y="1318"/>
                    </a:lnTo>
                    <a:lnTo>
                      <a:pt x="747" y="1322"/>
                    </a:lnTo>
                    <a:lnTo>
                      <a:pt x="745" y="1326"/>
                    </a:lnTo>
                    <a:lnTo>
                      <a:pt x="739" y="1330"/>
                    </a:lnTo>
                    <a:lnTo>
                      <a:pt x="736" y="1335"/>
                    </a:lnTo>
                    <a:lnTo>
                      <a:pt x="728" y="1337"/>
                    </a:lnTo>
                    <a:lnTo>
                      <a:pt x="720" y="1340"/>
                    </a:lnTo>
                    <a:lnTo>
                      <a:pt x="715" y="1345"/>
                    </a:lnTo>
                    <a:lnTo>
                      <a:pt x="711" y="1349"/>
                    </a:lnTo>
                    <a:lnTo>
                      <a:pt x="707" y="1352"/>
                    </a:lnTo>
                    <a:lnTo>
                      <a:pt x="701" y="1354"/>
                    </a:lnTo>
                    <a:lnTo>
                      <a:pt x="696" y="1358"/>
                    </a:lnTo>
                    <a:lnTo>
                      <a:pt x="696" y="1360"/>
                    </a:lnTo>
                    <a:lnTo>
                      <a:pt x="693" y="1362"/>
                    </a:lnTo>
                    <a:lnTo>
                      <a:pt x="688" y="1364"/>
                    </a:lnTo>
                    <a:lnTo>
                      <a:pt x="682" y="1365"/>
                    </a:lnTo>
                    <a:lnTo>
                      <a:pt x="673" y="1377"/>
                    </a:lnTo>
                    <a:lnTo>
                      <a:pt x="666" y="1379"/>
                    </a:lnTo>
                    <a:lnTo>
                      <a:pt x="660" y="1379"/>
                    </a:lnTo>
                    <a:lnTo>
                      <a:pt x="657" y="1383"/>
                    </a:lnTo>
                    <a:lnTo>
                      <a:pt x="654" y="1385"/>
                    </a:lnTo>
                    <a:lnTo>
                      <a:pt x="651" y="1389"/>
                    </a:lnTo>
                    <a:lnTo>
                      <a:pt x="650" y="1393"/>
                    </a:lnTo>
                    <a:lnTo>
                      <a:pt x="647" y="1396"/>
                    </a:lnTo>
                    <a:lnTo>
                      <a:pt x="646" y="1400"/>
                    </a:lnTo>
                    <a:lnTo>
                      <a:pt x="643" y="1406"/>
                    </a:lnTo>
                    <a:lnTo>
                      <a:pt x="642" y="1414"/>
                    </a:lnTo>
                    <a:lnTo>
                      <a:pt x="641" y="1420"/>
                    </a:lnTo>
                    <a:lnTo>
                      <a:pt x="637" y="1426"/>
                    </a:lnTo>
                    <a:lnTo>
                      <a:pt x="631" y="1431"/>
                    </a:lnTo>
                    <a:lnTo>
                      <a:pt x="627" y="1442"/>
                    </a:lnTo>
                    <a:lnTo>
                      <a:pt x="623" y="1451"/>
                    </a:lnTo>
                    <a:lnTo>
                      <a:pt x="620" y="1458"/>
                    </a:lnTo>
                    <a:lnTo>
                      <a:pt x="611" y="1464"/>
                    </a:lnTo>
                    <a:lnTo>
                      <a:pt x="608" y="1472"/>
                    </a:lnTo>
                    <a:lnTo>
                      <a:pt x="603" y="1480"/>
                    </a:lnTo>
                    <a:lnTo>
                      <a:pt x="602" y="1489"/>
                    </a:lnTo>
                    <a:lnTo>
                      <a:pt x="602" y="1496"/>
                    </a:lnTo>
                    <a:close/>
                  </a:path>
                </a:pathLst>
              </a:custGeom>
              <a:solidFill>
                <a:schemeClr val="accent6"/>
              </a:solidFill>
              <a:ln w="6350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pt-BR" sz="1200">
                  <a:latin typeface="Source Serif Pro" panose="02040603050405020204" pitchFamily="18" charset="0"/>
                  <a:ea typeface="Source Serif Pro" panose="02040603050405020204" pitchFamily="18" charset="0"/>
                </a:endParaRPr>
              </a:p>
            </p:txBody>
          </p:sp>
          <p:sp>
            <p:nvSpPr>
              <p:cNvPr id="17" name="Freeform 13">
                <a:extLst>
                  <a:ext uri="{FF2B5EF4-FFF2-40B4-BE49-F238E27FC236}">
                    <a16:creationId xmlns:a16="http://schemas.microsoft.com/office/drawing/2014/main" id="{F0EBAA1F-B53E-B9FC-5006-1BD621B13E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615" y="1114"/>
                <a:ext cx="1220" cy="1582"/>
              </a:xfrm>
              <a:custGeom>
                <a:avLst/>
                <a:gdLst/>
                <a:ahLst/>
                <a:cxnLst>
                  <a:cxn ang="0">
                    <a:pos x="302" y="35"/>
                  </a:cxn>
                  <a:cxn ang="0">
                    <a:pos x="376" y="67"/>
                  </a:cxn>
                  <a:cxn ang="0">
                    <a:pos x="374" y="105"/>
                  </a:cxn>
                  <a:cxn ang="0">
                    <a:pos x="375" y="156"/>
                  </a:cxn>
                  <a:cxn ang="0">
                    <a:pos x="417" y="140"/>
                  </a:cxn>
                  <a:cxn ang="0">
                    <a:pos x="479" y="128"/>
                  </a:cxn>
                  <a:cxn ang="0">
                    <a:pos x="545" y="147"/>
                  </a:cxn>
                  <a:cxn ang="0">
                    <a:pos x="614" y="175"/>
                  </a:cxn>
                  <a:cxn ang="0">
                    <a:pos x="700" y="188"/>
                  </a:cxn>
                  <a:cxn ang="0">
                    <a:pos x="808" y="206"/>
                  </a:cxn>
                  <a:cxn ang="0">
                    <a:pos x="855" y="249"/>
                  </a:cxn>
                  <a:cxn ang="0">
                    <a:pos x="911" y="295"/>
                  </a:cxn>
                  <a:cxn ang="0">
                    <a:pos x="955" y="348"/>
                  </a:cxn>
                  <a:cxn ang="0">
                    <a:pos x="996" y="377"/>
                  </a:cxn>
                  <a:cxn ang="0">
                    <a:pos x="1077" y="422"/>
                  </a:cxn>
                  <a:cxn ang="0">
                    <a:pos x="1179" y="456"/>
                  </a:cxn>
                  <a:cxn ang="0">
                    <a:pos x="1201" y="541"/>
                  </a:cxn>
                  <a:cxn ang="0">
                    <a:pos x="1217" y="644"/>
                  </a:cxn>
                  <a:cxn ang="0">
                    <a:pos x="1199" y="702"/>
                  </a:cxn>
                  <a:cxn ang="0">
                    <a:pos x="1162" y="786"/>
                  </a:cxn>
                  <a:cxn ang="0">
                    <a:pos x="1098" y="855"/>
                  </a:cxn>
                  <a:cxn ang="0">
                    <a:pos x="1037" y="914"/>
                  </a:cxn>
                  <a:cxn ang="0">
                    <a:pos x="975" y="944"/>
                  </a:cxn>
                  <a:cxn ang="0">
                    <a:pos x="920" y="1041"/>
                  </a:cxn>
                  <a:cxn ang="0">
                    <a:pos x="863" y="1110"/>
                  </a:cxn>
                  <a:cxn ang="0">
                    <a:pos x="817" y="1094"/>
                  </a:cxn>
                  <a:cxn ang="0">
                    <a:pos x="789" y="1165"/>
                  </a:cxn>
                  <a:cxn ang="0">
                    <a:pos x="789" y="1254"/>
                  </a:cxn>
                  <a:cxn ang="0">
                    <a:pos x="790" y="1378"/>
                  </a:cxn>
                  <a:cxn ang="0">
                    <a:pos x="743" y="1497"/>
                  </a:cxn>
                  <a:cxn ang="0">
                    <a:pos x="723" y="1559"/>
                  </a:cxn>
                  <a:cxn ang="0">
                    <a:pos x="672" y="1559"/>
                  </a:cxn>
                  <a:cxn ang="0">
                    <a:pos x="627" y="1488"/>
                  </a:cxn>
                  <a:cxn ang="0">
                    <a:pos x="643" y="1450"/>
                  </a:cxn>
                  <a:cxn ang="0">
                    <a:pos x="681" y="1400"/>
                  </a:cxn>
                  <a:cxn ang="0">
                    <a:pos x="672" y="1351"/>
                  </a:cxn>
                  <a:cxn ang="0">
                    <a:pos x="585" y="1332"/>
                  </a:cxn>
                  <a:cxn ang="0">
                    <a:pos x="544" y="1274"/>
                  </a:cxn>
                  <a:cxn ang="0">
                    <a:pos x="483" y="1245"/>
                  </a:cxn>
                  <a:cxn ang="0">
                    <a:pos x="382" y="1191"/>
                  </a:cxn>
                  <a:cxn ang="0">
                    <a:pos x="274" y="1206"/>
                  </a:cxn>
                  <a:cxn ang="0">
                    <a:pos x="185" y="1222"/>
                  </a:cxn>
                  <a:cxn ang="0">
                    <a:pos x="183" y="1144"/>
                  </a:cxn>
                  <a:cxn ang="0">
                    <a:pos x="185" y="1088"/>
                  </a:cxn>
                  <a:cxn ang="0">
                    <a:pos x="187" y="1028"/>
                  </a:cxn>
                  <a:cxn ang="0">
                    <a:pos x="186" y="971"/>
                  </a:cxn>
                  <a:cxn ang="0">
                    <a:pos x="206" y="929"/>
                  </a:cxn>
                  <a:cxn ang="0">
                    <a:pos x="185" y="876"/>
                  </a:cxn>
                  <a:cxn ang="0">
                    <a:pos x="228" y="831"/>
                  </a:cxn>
                  <a:cxn ang="0">
                    <a:pos x="189" y="783"/>
                  </a:cxn>
                  <a:cxn ang="0">
                    <a:pos x="163" y="725"/>
                  </a:cxn>
                  <a:cxn ang="0">
                    <a:pos x="167" y="650"/>
                  </a:cxn>
                  <a:cxn ang="0">
                    <a:pos x="156" y="597"/>
                  </a:cxn>
                  <a:cxn ang="0">
                    <a:pos x="101" y="541"/>
                  </a:cxn>
                  <a:cxn ang="0">
                    <a:pos x="104" y="466"/>
                  </a:cxn>
                  <a:cxn ang="0">
                    <a:pos x="100" y="377"/>
                  </a:cxn>
                  <a:cxn ang="0">
                    <a:pos x="25" y="350"/>
                  </a:cxn>
                  <a:cxn ang="0">
                    <a:pos x="71" y="298"/>
                  </a:cxn>
                  <a:cxn ang="0">
                    <a:pos x="133" y="264"/>
                  </a:cxn>
                  <a:cxn ang="0">
                    <a:pos x="156" y="202"/>
                  </a:cxn>
                  <a:cxn ang="0">
                    <a:pos x="191" y="151"/>
                  </a:cxn>
                  <a:cxn ang="0">
                    <a:pos x="221" y="89"/>
                  </a:cxn>
                  <a:cxn ang="0">
                    <a:pos x="239" y="25"/>
                  </a:cxn>
                </a:cxnLst>
                <a:rect l="0" t="0" r="r" b="b"/>
                <a:pathLst>
                  <a:path w="1222" h="1585">
                    <a:moveTo>
                      <a:pt x="244" y="5"/>
                    </a:moveTo>
                    <a:lnTo>
                      <a:pt x="249" y="2"/>
                    </a:lnTo>
                    <a:lnTo>
                      <a:pt x="255" y="2"/>
                    </a:lnTo>
                    <a:lnTo>
                      <a:pt x="259" y="1"/>
                    </a:lnTo>
                    <a:lnTo>
                      <a:pt x="264" y="0"/>
                    </a:lnTo>
                    <a:lnTo>
                      <a:pt x="268" y="1"/>
                    </a:lnTo>
                    <a:lnTo>
                      <a:pt x="272" y="1"/>
                    </a:lnTo>
                    <a:lnTo>
                      <a:pt x="275" y="9"/>
                    </a:lnTo>
                    <a:lnTo>
                      <a:pt x="279" y="12"/>
                    </a:lnTo>
                    <a:lnTo>
                      <a:pt x="283" y="14"/>
                    </a:lnTo>
                    <a:lnTo>
                      <a:pt x="286" y="16"/>
                    </a:lnTo>
                    <a:lnTo>
                      <a:pt x="290" y="17"/>
                    </a:lnTo>
                    <a:lnTo>
                      <a:pt x="294" y="17"/>
                    </a:lnTo>
                    <a:lnTo>
                      <a:pt x="294" y="25"/>
                    </a:lnTo>
                    <a:lnTo>
                      <a:pt x="297" y="28"/>
                    </a:lnTo>
                    <a:lnTo>
                      <a:pt x="301" y="32"/>
                    </a:lnTo>
                    <a:lnTo>
                      <a:pt x="302" y="35"/>
                    </a:lnTo>
                    <a:lnTo>
                      <a:pt x="303" y="39"/>
                    </a:lnTo>
                    <a:lnTo>
                      <a:pt x="305" y="43"/>
                    </a:lnTo>
                    <a:lnTo>
                      <a:pt x="309" y="45"/>
                    </a:lnTo>
                    <a:lnTo>
                      <a:pt x="314" y="52"/>
                    </a:lnTo>
                    <a:lnTo>
                      <a:pt x="317" y="47"/>
                    </a:lnTo>
                    <a:lnTo>
                      <a:pt x="320" y="44"/>
                    </a:lnTo>
                    <a:lnTo>
                      <a:pt x="320" y="32"/>
                    </a:lnTo>
                    <a:lnTo>
                      <a:pt x="330" y="32"/>
                    </a:lnTo>
                    <a:lnTo>
                      <a:pt x="330" y="36"/>
                    </a:lnTo>
                    <a:lnTo>
                      <a:pt x="332" y="39"/>
                    </a:lnTo>
                    <a:lnTo>
                      <a:pt x="341" y="44"/>
                    </a:lnTo>
                    <a:lnTo>
                      <a:pt x="349" y="49"/>
                    </a:lnTo>
                    <a:lnTo>
                      <a:pt x="351" y="59"/>
                    </a:lnTo>
                    <a:lnTo>
                      <a:pt x="359" y="54"/>
                    </a:lnTo>
                    <a:lnTo>
                      <a:pt x="365" y="59"/>
                    </a:lnTo>
                    <a:lnTo>
                      <a:pt x="371" y="64"/>
                    </a:lnTo>
                    <a:lnTo>
                      <a:pt x="376" y="67"/>
                    </a:lnTo>
                    <a:lnTo>
                      <a:pt x="380" y="71"/>
                    </a:lnTo>
                    <a:lnTo>
                      <a:pt x="383" y="78"/>
                    </a:lnTo>
                    <a:lnTo>
                      <a:pt x="380" y="79"/>
                    </a:lnTo>
                    <a:lnTo>
                      <a:pt x="374" y="82"/>
                    </a:lnTo>
                    <a:lnTo>
                      <a:pt x="369" y="83"/>
                    </a:lnTo>
                    <a:lnTo>
                      <a:pt x="367" y="86"/>
                    </a:lnTo>
                    <a:lnTo>
                      <a:pt x="367" y="91"/>
                    </a:lnTo>
                    <a:lnTo>
                      <a:pt x="365" y="95"/>
                    </a:lnTo>
                    <a:lnTo>
                      <a:pt x="359" y="101"/>
                    </a:lnTo>
                    <a:lnTo>
                      <a:pt x="357" y="103"/>
                    </a:lnTo>
                    <a:lnTo>
                      <a:pt x="344" y="103"/>
                    </a:lnTo>
                    <a:lnTo>
                      <a:pt x="341" y="112"/>
                    </a:lnTo>
                    <a:lnTo>
                      <a:pt x="348" y="112"/>
                    </a:lnTo>
                    <a:lnTo>
                      <a:pt x="353" y="118"/>
                    </a:lnTo>
                    <a:lnTo>
                      <a:pt x="363" y="110"/>
                    </a:lnTo>
                    <a:lnTo>
                      <a:pt x="365" y="107"/>
                    </a:lnTo>
                    <a:lnTo>
                      <a:pt x="374" y="105"/>
                    </a:lnTo>
                    <a:lnTo>
                      <a:pt x="376" y="103"/>
                    </a:lnTo>
                    <a:lnTo>
                      <a:pt x="380" y="93"/>
                    </a:lnTo>
                    <a:lnTo>
                      <a:pt x="394" y="98"/>
                    </a:lnTo>
                    <a:lnTo>
                      <a:pt x="394" y="107"/>
                    </a:lnTo>
                    <a:lnTo>
                      <a:pt x="388" y="116"/>
                    </a:lnTo>
                    <a:lnTo>
                      <a:pt x="383" y="124"/>
                    </a:lnTo>
                    <a:lnTo>
                      <a:pt x="378" y="129"/>
                    </a:lnTo>
                    <a:lnTo>
                      <a:pt x="372" y="136"/>
                    </a:lnTo>
                    <a:lnTo>
                      <a:pt x="367" y="140"/>
                    </a:lnTo>
                    <a:lnTo>
                      <a:pt x="364" y="153"/>
                    </a:lnTo>
                    <a:lnTo>
                      <a:pt x="367" y="164"/>
                    </a:lnTo>
                    <a:lnTo>
                      <a:pt x="361" y="178"/>
                    </a:lnTo>
                    <a:lnTo>
                      <a:pt x="364" y="191"/>
                    </a:lnTo>
                    <a:lnTo>
                      <a:pt x="375" y="188"/>
                    </a:lnTo>
                    <a:lnTo>
                      <a:pt x="380" y="178"/>
                    </a:lnTo>
                    <a:lnTo>
                      <a:pt x="374" y="161"/>
                    </a:lnTo>
                    <a:lnTo>
                      <a:pt x="375" y="156"/>
                    </a:lnTo>
                    <a:lnTo>
                      <a:pt x="376" y="148"/>
                    </a:lnTo>
                    <a:lnTo>
                      <a:pt x="379" y="145"/>
                    </a:lnTo>
                    <a:lnTo>
                      <a:pt x="384" y="140"/>
                    </a:lnTo>
                    <a:lnTo>
                      <a:pt x="388" y="136"/>
                    </a:lnTo>
                    <a:lnTo>
                      <a:pt x="394" y="133"/>
                    </a:lnTo>
                    <a:lnTo>
                      <a:pt x="396" y="132"/>
                    </a:lnTo>
                    <a:lnTo>
                      <a:pt x="399" y="125"/>
                    </a:lnTo>
                    <a:lnTo>
                      <a:pt x="403" y="122"/>
                    </a:lnTo>
                    <a:lnTo>
                      <a:pt x="409" y="130"/>
                    </a:lnTo>
                    <a:lnTo>
                      <a:pt x="402" y="136"/>
                    </a:lnTo>
                    <a:lnTo>
                      <a:pt x="396" y="143"/>
                    </a:lnTo>
                    <a:lnTo>
                      <a:pt x="391" y="147"/>
                    </a:lnTo>
                    <a:lnTo>
                      <a:pt x="391" y="157"/>
                    </a:lnTo>
                    <a:lnTo>
                      <a:pt x="405" y="157"/>
                    </a:lnTo>
                    <a:lnTo>
                      <a:pt x="409" y="148"/>
                    </a:lnTo>
                    <a:lnTo>
                      <a:pt x="411" y="145"/>
                    </a:lnTo>
                    <a:lnTo>
                      <a:pt x="417" y="140"/>
                    </a:lnTo>
                    <a:lnTo>
                      <a:pt x="421" y="134"/>
                    </a:lnTo>
                    <a:lnTo>
                      <a:pt x="423" y="129"/>
                    </a:lnTo>
                    <a:lnTo>
                      <a:pt x="432" y="129"/>
                    </a:lnTo>
                    <a:lnTo>
                      <a:pt x="438" y="129"/>
                    </a:lnTo>
                    <a:lnTo>
                      <a:pt x="442" y="136"/>
                    </a:lnTo>
                    <a:lnTo>
                      <a:pt x="448" y="133"/>
                    </a:lnTo>
                    <a:lnTo>
                      <a:pt x="450" y="132"/>
                    </a:lnTo>
                    <a:lnTo>
                      <a:pt x="457" y="133"/>
                    </a:lnTo>
                    <a:lnTo>
                      <a:pt x="461" y="133"/>
                    </a:lnTo>
                    <a:lnTo>
                      <a:pt x="467" y="134"/>
                    </a:lnTo>
                    <a:lnTo>
                      <a:pt x="467" y="141"/>
                    </a:lnTo>
                    <a:lnTo>
                      <a:pt x="471" y="140"/>
                    </a:lnTo>
                    <a:lnTo>
                      <a:pt x="473" y="139"/>
                    </a:lnTo>
                    <a:lnTo>
                      <a:pt x="477" y="137"/>
                    </a:lnTo>
                    <a:lnTo>
                      <a:pt x="481" y="136"/>
                    </a:lnTo>
                    <a:lnTo>
                      <a:pt x="484" y="136"/>
                    </a:lnTo>
                    <a:lnTo>
                      <a:pt x="479" y="128"/>
                    </a:lnTo>
                    <a:lnTo>
                      <a:pt x="481" y="120"/>
                    </a:lnTo>
                    <a:lnTo>
                      <a:pt x="487" y="120"/>
                    </a:lnTo>
                    <a:lnTo>
                      <a:pt x="492" y="120"/>
                    </a:lnTo>
                    <a:lnTo>
                      <a:pt x="496" y="120"/>
                    </a:lnTo>
                    <a:lnTo>
                      <a:pt x="500" y="121"/>
                    </a:lnTo>
                    <a:lnTo>
                      <a:pt x="503" y="121"/>
                    </a:lnTo>
                    <a:lnTo>
                      <a:pt x="504" y="124"/>
                    </a:lnTo>
                    <a:lnTo>
                      <a:pt x="507" y="126"/>
                    </a:lnTo>
                    <a:lnTo>
                      <a:pt x="508" y="130"/>
                    </a:lnTo>
                    <a:lnTo>
                      <a:pt x="513" y="133"/>
                    </a:lnTo>
                    <a:lnTo>
                      <a:pt x="517" y="139"/>
                    </a:lnTo>
                    <a:lnTo>
                      <a:pt x="519" y="144"/>
                    </a:lnTo>
                    <a:lnTo>
                      <a:pt x="526" y="143"/>
                    </a:lnTo>
                    <a:lnTo>
                      <a:pt x="531" y="141"/>
                    </a:lnTo>
                    <a:lnTo>
                      <a:pt x="537" y="147"/>
                    </a:lnTo>
                    <a:lnTo>
                      <a:pt x="541" y="147"/>
                    </a:lnTo>
                    <a:lnTo>
                      <a:pt x="545" y="147"/>
                    </a:lnTo>
                    <a:lnTo>
                      <a:pt x="549" y="149"/>
                    </a:lnTo>
                    <a:lnTo>
                      <a:pt x="552" y="151"/>
                    </a:lnTo>
                    <a:lnTo>
                      <a:pt x="554" y="152"/>
                    </a:lnTo>
                    <a:lnTo>
                      <a:pt x="557" y="156"/>
                    </a:lnTo>
                    <a:lnTo>
                      <a:pt x="560" y="157"/>
                    </a:lnTo>
                    <a:lnTo>
                      <a:pt x="565" y="160"/>
                    </a:lnTo>
                    <a:lnTo>
                      <a:pt x="564" y="167"/>
                    </a:lnTo>
                    <a:lnTo>
                      <a:pt x="573" y="165"/>
                    </a:lnTo>
                    <a:lnTo>
                      <a:pt x="576" y="171"/>
                    </a:lnTo>
                    <a:lnTo>
                      <a:pt x="580" y="175"/>
                    </a:lnTo>
                    <a:lnTo>
                      <a:pt x="584" y="175"/>
                    </a:lnTo>
                    <a:lnTo>
                      <a:pt x="588" y="175"/>
                    </a:lnTo>
                    <a:lnTo>
                      <a:pt x="595" y="175"/>
                    </a:lnTo>
                    <a:lnTo>
                      <a:pt x="600" y="175"/>
                    </a:lnTo>
                    <a:lnTo>
                      <a:pt x="606" y="175"/>
                    </a:lnTo>
                    <a:lnTo>
                      <a:pt x="611" y="174"/>
                    </a:lnTo>
                    <a:lnTo>
                      <a:pt x="614" y="175"/>
                    </a:lnTo>
                    <a:lnTo>
                      <a:pt x="614" y="172"/>
                    </a:lnTo>
                    <a:lnTo>
                      <a:pt x="618" y="174"/>
                    </a:lnTo>
                    <a:lnTo>
                      <a:pt x="623" y="174"/>
                    </a:lnTo>
                    <a:lnTo>
                      <a:pt x="627" y="174"/>
                    </a:lnTo>
                    <a:lnTo>
                      <a:pt x="630" y="175"/>
                    </a:lnTo>
                    <a:lnTo>
                      <a:pt x="635" y="180"/>
                    </a:lnTo>
                    <a:lnTo>
                      <a:pt x="643" y="182"/>
                    </a:lnTo>
                    <a:lnTo>
                      <a:pt x="646" y="186"/>
                    </a:lnTo>
                    <a:lnTo>
                      <a:pt x="649" y="188"/>
                    </a:lnTo>
                    <a:lnTo>
                      <a:pt x="656" y="192"/>
                    </a:lnTo>
                    <a:lnTo>
                      <a:pt x="662" y="195"/>
                    </a:lnTo>
                    <a:lnTo>
                      <a:pt x="670" y="192"/>
                    </a:lnTo>
                    <a:lnTo>
                      <a:pt x="678" y="191"/>
                    </a:lnTo>
                    <a:lnTo>
                      <a:pt x="681" y="180"/>
                    </a:lnTo>
                    <a:lnTo>
                      <a:pt x="688" y="183"/>
                    </a:lnTo>
                    <a:lnTo>
                      <a:pt x="695" y="186"/>
                    </a:lnTo>
                    <a:lnTo>
                      <a:pt x="700" y="188"/>
                    </a:lnTo>
                    <a:lnTo>
                      <a:pt x="711" y="188"/>
                    </a:lnTo>
                    <a:lnTo>
                      <a:pt x="719" y="183"/>
                    </a:lnTo>
                    <a:lnTo>
                      <a:pt x="726" y="183"/>
                    </a:lnTo>
                    <a:lnTo>
                      <a:pt x="732" y="183"/>
                    </a:lnTo>
                    <a:lnTo>
                      <a:pt x="739" y="183"/>
                    </a:lnTo>
                    <a:lnTo>
                      <a:pt x="746" y="183"/>
                    </a:lnTo>
                    <a:lnTo>
                      <a:pt x="750" y="182"/>
                    </a:lnTo>
                    <a:lnTo>
                      <a:pt x="754" y="188"/>
                    </a:lnTo>
                    <a:lnTo>
                      <a:pt x="763" y="188"/>
                    </a:lnTo>
                    <a:lnTo>
                      <a:pt x="774" y="188"/>
                    </a:lnTo>
                    <a:lnTo>
                      <a:pt x="776" y="194"/>
                    </a:lnTo>
                    <a:lnTo>
                      <a:pt x="785" y="194"/>
                    </a:lnTo>
                    <a:lnTo>
                      <a:pt x="789" y="195"/>
                    </a:lnTo>
                    <a:lnTo>
                      <a:pt x="795" y="198"/>
                    </a:lnTo>
                    <a:lnTo>
                      <a:pt x="799" y="201"/>
                    </a:lnTo>
                    <a:lnTo>
                      <a:pt x="804" y="203"/>
                    </a:lnTo>
                    <a:lnTo>
                      <a:pt x="808" y="206"/>
                    </a:lnTo>
                    <a:lnTo>
                      <a:pt x="813" y="209"/>
                    </a:lnTo>
                    <a:lnTo>
                      <a:pt x="816" y="211"/>
                    </a:lnTo>
                    <a:lnTo>
                      <a:pt x="819" y="214"/>
                    </a:lnTo>
                    <a:lnTo>
                      <a:pt x="820" y="222"/>
                    </a:lnTo>
                    <a:lnTo>
                      <a:pt x="822" y="222"/>
                    </a:lnTo>
                    <a:lnTo>
                      <a:pt x="824" y="222"/>
                    </a:lnTo>
                    <a:lnTo>
                      <a:pt x="828" y="222"/>
                    </a:lnTo>
                    <a:lnTo>
                      <a:pt x="830" y="224"/>
                    </a:lnTo>
                    <a:lnTo>
                      <a:pt x="831" y="224"/>
                    </a:lnTo>
                    <a:lnTo>
                      <a:pt x="838" y="228"/>
                    </a:lnTo>
                    <a:lnTo>
                      <a:pt x="839" y="232"/>
                    </a:lnTo>
                    <a:lnTo>
                      <a:pt x="839" y="234"/>
                    </a:lnTo>
                    <a:lnTo>
                      <a:pt x="840" y="238"/>
                    </a:lnTo>
                    <a:lnTo>
                      <a:pt x="843" y="242"/>
                    </a:lnTo>
                    <a:lnTo>
                      <a:pt x="846" y="245"/>
                    </a:lnTo>
                    <a:lnTo>
                      <a:pt x="850" y="248"/>
                    </a:lnTo>
                    <a:lnTo>
                      <a:pt x="855" y="249"/>
                    </a:lnTo>
                    <a:lnTo>
                      <a:pt x="861" y="250"/>
                    </a:lnTo>
                    <a:lnTo>
                      <a:pt x="865" y="250"/>
                    </a:lnTo>
                    <a:lnTo>
                      <a:pt x="867" y="252"/>
                    </a:lnTo>
                    <a:lnTo>
                      <a:pt x="871" y="255"/>
                    </a:lnTo>
                    <a:lnTo>
                      <a:pt x="874" y="257"/>
                    </a:lnTo>
                    <a:lnTo>
                      <a:pt x="875" y="260"/>
                    </a:lnTo>
                    <a:lnTo>
                      <a:pt x="880" y="261"/>
                    </a:lnTo>
                    <a:lnTo>
                      <a:pt x="884" y="264"/>
                    </a:lnTo>
                    <a:lnTo>
                      <a:pt x="886" y="268"/>
                    </a:lnTo>
                    <a:lnTo>
                      <a:pt x="889" y="271"/>
                    </a:lnTo>
                    <a:lnTo>
                      <a:pt x="890" y="275"/>
                    </a:lnTo>
                    <a:lnTo>
                      <a:pt x="893" y="282"/>
                    </a:lnTo>
                    <a:lnTo>
                      <a:pt x="898" y="282"/>
                    </a:lnTo>
                    <a:lnTo>
                      <a:pt x="902" y="284"/>
                    </a:lnTo>
                    <a:lnTo>
                      <a:pt x="905" y="288"/>
                    </a:lnTo>
                    <a:lnTo>
                      <a:pt x="908" y="290"/>
                    </a:lnTo>
                    <a:lnTo>
                      <a:pt x="911" y="295"/>
                    </a:lnTo>
                    <a:lnTo>
                      <a:pt x="912" y="300"/>
                    </a:lnTo>
                    <a:lnTo>
                      <a:pt x="915" y="302"/>
                    </a:lnTo>
                    <a:lnTo>
                      <a:pt x="920" y="303"/>
                    </a:lnTo>
                    <a:lnTo>
                      <a:pt x="923" y="307"/>
                    </a:lnTo>
                    <a:lnTo>
                      <a:pt x="925" y="309"/>
                    </a:lnTo>
                    <a:lnTo>
                      <a:pt x="928" y="310"/>
                    </a:lnTo>
                    <a:lnTo>
                      <a:pt x="929" y="311"/>
                    </a:lnTo>
                    <a:lnTo>
                      <a:pt x="928" y="314"/>
                    </a:lnTo>
                    <a:lnTo>
                      <a:pt x="928" y="319"/>
                    </a:lnTo>
                    <a:lnTo>
                      <a:pt x="928" y="322"/>
                    </a:lnTo>
                    <a:lnTo>
                      <a:pt x="932" y="325"/>
                    </a:lnTo>
                    <a:lnTo>
                      <a:pt x="936" y="327"/>
                    </a:lnTo>
                    <a:lnTo>
                      <a:pt x="940" y="330"/>
                    </a:lnTo>
                    <a:lnTo>
                      <a:pt x="946" y="335"/>
                    </a:lnTo>
                    <a:lnTo>
                      <a:pt x="948" y="338"/>
                    </a:lnTo>
                    <a:lnTo>
                      <a:pt x="951" y="344"/>
                    </a:lnTo>
                    <a:lnTo>
                      <a:pt x="955" y="348"/>
                    </a:lnTo>
                    <a:lnTo>
                      <a:pt x="958" y="352"/>
                    </a:lnTo>
                    <a:lnTo>
                      <a:pt x="960" y="352"/>
                    </a:lnTo>
                    <a:lnTo>
                      <a:pt x="966" y="352"/>
                    </a:lnTo>
                    <a:lnTo>
                      <a:pt x="971" y="352"/>
                    </a:lnTo>
                    <a:lnTo>
                      <a:pt x="973" y="352"/>
                    </a:lnTo>
                    <a:lnTo>
                      <a:pt x="974" y="353"/>
                    </a:lnTo>
                    <a:lnTo>
                      <a:pt x="977" y="353"/>
                    </a:lnTo>
                    <a:lnTo>
                      <a:pt x="977" y="353"/>
                    </a:lnTo>
                    <a:lnTo>
                      <a:pt x="979" y="353"/>
                    </a:lnTo>
                    <a:lnTo>
                      <a:pt x="979" y="358"/>
                    </a:lnTo>
                    <a:lnTo>
                      <a:pt x="975" y="360"/>
                    </a:lnTo>
                    <a:lnTo>
                      <a:pt x="974" y="365"/>
                    </a:lnTo>
                    <a:lnTo>
                      <a:pt x="977" y="369"/>
                    </a:lnTo>
                    <a:lnTo>
                      <a:pt x="986" y="369"/>
                    </a:lnTo>
                    <a:lnTo>
                      <a:pt x="990" y="372"/>
                    </a:lnTo>
                    <a:lnTo>
                      <a:pt x="993" y="375"/>
                    </a:lnTo>
                    <a:lnTo>
                      <a:pt x="996" y="377"/>
                    </a:lnTo>
                    <a:lnTo>
                      <a:pt x="998" y="379"/>
                    </a:lnTo>
                    <a:lnTo>
                      <a:pt x="1000" y="383"/>
                    </a:lnTo>
                    <a:lnTo>
                      <a:pt x="1002" y="388"/>
                    </a:lnTo>
                    <a:lnTo>
                      <a:pt x="1004" y="389"/>
                    </a:lnTo>
                    <a:lnTo>
                      <a:pt x="1004" y="393"/>
                    </a:lnTo>
                    <a:lnTo>
                      <a:pt x="1008" y="398"/>
                    </a:lnTo>
                    <a:lnTo>
                      <a:pt x="1012" y="400"/>
                    </a:lnTo>
                    <a:lnTo>
                      <a:pt x="1027" y="400"/>
                    </a:lnTo>
                    <a:lnTo>
                      <a:pt x="1031" y="403"/>
                    </a:lnTo>
                    <a:lnTo>
                      <a:pt x="1035" y="406"/>
                    </a:lnTo>
                    <a:lnTo>
                      <a:pt x="1040" y="410"/>
                    </a:lnTo>
                    <a:lnTo>
                      <a:pt x="1047" y="414"/>
                    </a:lnTo>
                    <a:lnTo>
                      <a:pt x="1050" y="415"/>
                    </a:lnTo>
                    <a:lnTo>
                      <a:pt x="1055" y="418"/>
                    </a:lnTo>
                    <a:lnTo>
                      <a:pt x="1062" y="420"/>
                    </a:lnTo>
                    <a:lnTo>
                      <a:pt x="1072" y="419"/>
                    </a:lnTo>
                    <a:lnTo>
                      <a:pt x="1077" y="422"/>
                    </a:lnTo>
                    <a:lnTo>
                      <a:pt x="1079" y="423"/>
                    </a:lnTo>
                    <a:lnTo>
                      <a:pt x="1083" y="426"/>
                    </a:lnTo>
                    <a:lnTo>
                      <a:pt x="1085" y="427"/>
                    </a:lnTo>
                    <a:lnTo>
                      <a:pt x="1104" y="427"/>
                    </a:lnTo>
                    <a:lnTo>
                      <a:pt x="1109" y="425"/>
                    </a:lnTo>
                    <a:lnTo>
                      <a:pt x="1116" y="419"/>
                    </a:lnTo>
                    <a:lnTo>
                      <a:pt x="1122" y="427"/>
                    </a:lnTo>
                    <a:lnTo>
                      <a:pt x="1137" y="426"/>
                    </a:lnTo>
                    <a:lnTo>
                      <a:pt x="1147" y="434"/>
                    </a:lnTo>
                    <a:lnTo>
                      <a:pt x="1157" y="434"/>
                    </a:lnTo>
                    <a:lnTo>
                      <a:pt x="1162" y="438"/>
                    </a:lnTo>
                    <a:lnTo>
                      <a:pt x="1168" y="441"/>
                    </a:lnTo>
                    <a:lnTo>
                      <a:pt x="1170" y="442"/>
                    </a:lnTo>
                    <a:lnTo>
                      <a:pt x="1172" y="446"/>
                    </a:lnTo>
                    <a:lnTo>
                      <a:pt x="1175" y="449"/>
                    </a:lnTo>
                    <a:lnTo>
                      <a:pt x="1176" y="453"/>
                    </a:lnTo>
                    <a:lnTo>
                      <a:pt x="1179" y="456"/>
                    </a:lnTo>
                    <a:lnTo>
                      <a:pt x="1180" y="460"/>
                    </a:lnTo>
                    <a:lnTo>
                      <a:pt x="1182" y="462"/>
                    </a:lnTo>
                    <a:lnTo>
                      <a:pt x="1182" y="468"/>
                    </a:lnTo>
                    <a:lnTo>
                      <a:pt x="1182" y="473"/>
                    </a:lnTo>
                    <a:lnTo>
                      <a:pt x="1182" y="477"/>
                    </a:lnTo>
                    <a:lnTo>
                      <a:pt x="1182" y="483"/>
                    </a:lnTo>
                    <a:lnTo>
                      <a:pt x="1183" y="488"/>
                    </a:lnTo>
                    <a:lnTo>
                      <a:pt x="1183" y="492"/>
                    </a:lnTo>
                    <a:lnTo>
                      <a:pt x="1184" y="496"/>
                    </a:lnTo>
                    <a:lnTo>
                      <a:pt x="1186" y="500"/>
                    </a:lnTo>
                    <a:lnTo>
                      <a:pt x="1187" y="503"/>
                    </a:lnTo>
                    <a:lnTo>
                      <a:pt x="1184" y="511"/>
                    </a:lnTo>
                    <a:lnTo>
                      <a:pt x="1184" y="519"/>
                    </a:lnTo>
                    <a:lnTo>
                      <a:pt x="1191" y="523"/>
                    </a:lnTo>
                    <a:lnTo>
                      <a:pt x="1194" y="534"/>
                    </a:lnTo>
                    <a:lnTo>
                      <a:pt x="1197" y="537"/>
                    </a:lnTo>
                    <a:lnTo>
                      <a:pt x="1201" y="541"/>
                    </a:lnTo>
                    <a:lnTo>
                      <a:pt x="1202" y="545"/>
                    </a:lnTo>
                    <a:lnTo>
                      <a:pt x="1203" y="549"/>
                    </a:lnTo>
                    <a:lnTo>
                      <a:pt x="1202" y="553"/>
                    </a:lnTo>
                    <a:lnTo>
                      <a:pt x="1201" y="558"/>
                    </a:lnTo>
                    <a:lnTo>
                      <a:pt x="1201" y="562"/>
                    </a:lnTo>
                    <a:lnTo>
                      <a:pt x="1201" y="568"/>
                    </a:lnTo>
                    <a:lnTo>
                      <a:pt x="1201" y="573"/>
                    </a:lnTo>
                    <a:lnTo>
                      <a:pt x="1201" y="577"/>
                    </a:lnTo>
                    <a:lnTo>
                      <a:pt x="1198" y="582"/>
                    </a:lnTo>
                    <a:lnTo>
                      <a:pt x="1195" y="589"/>
                    </a:lnTo>
                    <a:lnTo>
                      <a:pt x="1203" y="599"/>
                    </a:lnTo>
                    <a:lnTo>
                      <a:pt x="1203" y="609"/>
                    </a:lnTo>
                    <a:lnTo>
                      <a:pt x="1217" y="616"/>
                    </a:lnTo>
                    <a:lnTo>
                      <a:pt x="1222" y="626"/>
                    </a:lnTo>
                    <a:lnTo>
                      <a:pt x="1221" y="632"/>
                    </a:lnTo>
                    <a:lnTo>
                      <a:pt x="1221" y="639"/>
                    </a:lnTo>
                    <a:lnTo>
                      <a:pt x="1217" y="644"/>
                    </a:lnTo>
                    <a:lnTo>
                      <a:pt x="1216" y="647"/>
                    </a:lnTo>
                    <a:lnTo>
                      <a:pt x="1216" y="659"/>
                    </a:lnTo>
                    <a:lnTo>
                      <a:pt x="1213" y="663"/>
                    </a:lnTo>
                    <a:lnTo>
                      <a:pt x="1210" y="667"/>
                    </a:lnTo>
                    <a:lnTo>
                      <a:pt x="1209" y="671"/>
                    </a:lnTo>
                    <a:lnTo>
                      <a:pt x="1209" y="673"/>
                    </a:lnTo>
                    <a:lnTo>
                      <a:pt x="1209" y="675"/>
                    </a:lnTo>
                    <a:lnTo>
                      <a:pt x="1206" y="677"/>
                    </a:lnTo>
                    <a:lnTo>
                      <a:pt x="1207" y="678"/>
                    </a:lnTo>
                    <a:lnTo>
                      <a:pt x="1207" y="681"/>
                    </a:lnTo>
                    <a:lnTo>
                      <a:pt x="1206" y="685"/>
                    </a:lnTo>
                    <a:lnTo>
                      <a:pt x="1206" y="689"/>
                    </a:lnTo>
                    <a:lnTo>
                      <a:pt x="1205" y="693"/>
                    </a:lnTo>
                    <a:lnTo>
                      <a:pt x="1205" y="697"/>
                    </a:lnTo>
                    <a:lnTo>
                      <a:pt x="1202" y="700"/>
                    </a:lnTo>
                    <a:lnTo>
                      <a:pt x="1201" y="702"/>
                    </a:lnTo>
                    <a:lnTo>
                      <a:pt x="1199" y="702"/>
                    </a:lnTo>
                    <a:lnTo>
                      <a:pt x="1199" y="709"/>
                    </a:lnTo>
                    <a:lnTo>
                      <a:pt x="1199" y="715"/>
                    </a:lnTo>
                    <a:lnTo>
                      <a:pt x="1197" y="720"/>
                    </a:lnTo>
                    <a:lnTo>
                      <a:pt x="1193" y="725"/>
                    </a:lnTo>
                    <a:lnTo>
                      <a:pt x="1190" y="731"/>
                    </a:lnTo>
                    <a:lnTo>
                      <a:pt x="1191" y="744"/>
                    </a:lnTo>
                    <a:lnTo>
                      <a:pt x="1186" y="750"/>
                    </a:lnTo>
                    <a:lnTo>
                      <a:pt x="1186" y="758"/>
                    </a:lnTo>
                    <a:lnTo>
                      <a:pt x="1176" y="762"/>
                    </a:lnTo>
                    <a:lnTo>
                      <a:pt x="1174" y="766"/>
                    </a:lnTo>
                    <a:lnTo>
                      <a:pt x="1172" y="769"/>
                    </a:lnTo>
                    <a:lnTo>
                      <a:pt x="1172" y="773"/>
                    </a:lnTo>
                    <a:lnTo>
                      <a:pt x="1168" y="774"/>
                    </a:lnTo>
                    <a:lnTo>
                      <a:pt x="1166" y="777"/>
                    </a:lnTo>
                    <a:lnTo>
                      <a:pt x="1163" y="778"/>
                    </a:lnTo>
                    <a:lnTo>
                      <a:pt x="1162" y="779"/>
                    </a:lnTo>
                    <a:lnTo>
                      <a:pt x="1162" y="786"/>
                    </a:lnTo>
                    <a:lnTo>
                      <a:pt x="1160" y="787"/>
                    </a:lnTo>
                    <a:lnTo>
                      <a:pt x="1153" y="791"/>
                    </a:lnTo>
                    <a:lnTo>
                      <a:pt x="1152" y="796"/>
                    </a:lnTo>
                    <a:lnTo>
                      <a:pt x="1152" y="801"/>
                    </a:lnTo>
                    <a:lnTo>
                      <a:pt x="1151" y="804"/>
                    </a:lnTo>
                    <a:lnTo>
                      <a:pt x="1151" y="812"/>
                    </a:lnTo>
                    <a:lnTo>
                      <a:pt x="1151" y="818"/>
                    </a:lnTo>
                    <a:lnTo>
                      <a:pt x="1144" y="821"/>
                    </a:lnTo>
                    <a:lnTo>
                      <a:pt x="1133" y="824"/>
                    </a:lnTo>
                    <a:lnTo>
                      <a:pt x="1132" y="829"/>
                    </a:lnTo>
                    <a:lnTo>
                      <a:pt x="1131" y="835"/>
                    </a:lnTo>
                    <a:lnTo>
                      <a:pt x="1118" y="835"/>
                    </a:lnTo>
                    <a:lnTo>
                      <a:pt x="1116" y="839"/>
                    </a:lnTo>
                    <a:lnTo>
                      <a:pt x="1112" y="843"/>
                    </a:lnTo>
                    <a:lnTo>
                      <a:pt x="1110" y="851"/>
                    </a:lnTo>
                    <a:lnTo>
                      <a:pt x="1104" y="852"/>
                    </a:lnTo>
                    <a:lnTo>
                      <a:pt x="1098" y="855"/>
                    </a:lnTo>
                    <a:lnTo>
                      <a:pt x="1095" y="858"/>
                    </a:lnTo>
                    <a:lnTo>
                      <a:pt x="1091" y="862"/>
                    </a:lnTo>
                    <a:lnTo>
                      <a:pt x="1089" y="864"/>
                    </a:lnTo>
                    <a:lnTo>
                      <a:pt x="1086" y="870"/>
                    </a:lnTo>
                    <a:lnTo>
                      <a:pt x="1083" y="875"/>
                    </a:lnTo>
                    <a:lnTo>
                      <a:pt x="1082" y="879"/>
                    </a:lnTo>
                    <a:lnTo>
                      <a:pt x="1079" y="882"/>
                    </a:lnTo>
                    <a:lnTo>
                      <a:pt x="1077" y="887"/>
                    </a:lnTo>
                    <a:lnTo>
                      <a:pt x="1072" y="891"/>
                    </a:lnTo>
                    <a:lnTo>
                      <a:pt x="1067" y="895"/>
                    </a:lnTo>
                    <a:lnTo>
                      <a:pt x="1063" y="898"/>
                    </a:lnTo>
                    <a:lnTo>
                      <a:pt x="1058" y="902"/>
                    </a:lnTo>
                    <a:lnTo>
                      <a:pt x="1054" y="906"/>
                    </a:lnTo>
                    <a:lnTo>
                      <a:pt x="1050" y="909"/>
                    </a:lnTo>
                    <a:lnTo>
                      <a:pt x="1048" y="912"/>
                    </a:lnTo>
                    <a:lnTo>
                      <a:pt x="1043" y="913"/>
                    </a:lnTo>
                    <a:lnTo>
                      <a:pt x="1037" y="914"/>
                    </a:lnTo>
                    <a:lnTo>
                      <a:pt x="1033" y="916"/>
                    </a:lnTo>
                    <a:lnTo>
                      <a:pt x="1031" y="920"/>
                    </a:lnTo>
                    <a:lnTo>
                      <a:pt x="1029" y="926"/>
                    </a:lnTo>
                    <a:lnTo>
                      <a:pt x="1027" y="926"/>
                    </a:lnTo>
                    <a:lnTo>
                      <a:pt x="1023" y="928"/>
                    </a:lnTo>
                    <a:lnTo>
                      <a:pt x="1019" y="930"/>
                    </a:lnTo>
                    <a:lnTo>
                      <a:pt x="1014" y="932"/>
                    </a:lnTo>
                    <a:lnTo>
                      <a:pt x="1010" y="932"/>
                    </a:lnTo>
                    <a:lnTo>
                      <a:pt x="1005" y="933"/>
                    </a:lnTo>
                    <a:lnTo>
                      <a:pt x="1002" y="936"/>
                    </a:lnTo>
                    <a:lnTo>
                      <a:pt x="989" y="947"/>
                    </a:lnTo>
                    <a:lnTo>
                      <a:pt x="994" y="934"/>
                    </a:lnTo>
                    <a:lnTo>
                      <a:pt x="985" y="928"/>
                    </a:lnTo>
                    <a:lnTo>
                      <a:pt x="982" y="934"/>
                    </a:lnTo>
                    <a:lnTo>
                      <a:pt x="979" y="937"/>
                    </a:lnTo>
                    <a:lnTo>
                      <a:pt x="977" y="940"/>
                    </a:lnTo>
                    <a:lnTo>
                      <a:pt x="975" y="944"/>
                    </a:lnTo>
                    <a:lnTo>
                      <a:pt x="974" y="949"/>
                    </a:lnTo>
                    <a:lnTo>
                      <a:pt x="971" y="952"/>
                    </a:lnTo>
                    <a:lnTo>
                      <a:pt x="963" y="964"/>
                    </a:lnTo>
                    <a:lnTo>
                      <a:pt x="963" y="978"/>
                    </a:lnTo>
                    <a:lnTo>
                      <a:pt x="958" y="978"/>
                    </a:lnTo>
                    <a:lnTo>
                      <a:pt x="952" y="978"/>
                    </a:lnTo>
                    <a:lnTo>
                      <a:pt x="947" y="979"/>
                    </a:lnTo>
                    <a:lnTo>
                      <a:pt x="943" y="979"/>
                    </a:lnTo>
                    <a:lnTo>
                      <a:pt x="939" y="984"/>
                    </a:lnTo>
                    <a:lnTo>
                      <a:pt x="938" y="987"/>
                    </a:lnTo>
                    <a:lnTo>
                      <a:pt x="936" y="1006"/>
                    </a:lnTo>
                    <a:lnTo>
                      <a:pt x="938" y="1011"/>
                    </a:lnTo>
                    <a:lnTo>
                      <a:pt x="935" y="1017"/>
                    </a:lnTo>
                    <a:lnTo>
                      <a:pt x="931" y="1026"/>
                    </a:lnTo>
                    <a:lnTo>
                      <a:pt x="928" y="1032"/>
                    </a:lnTo>
                    <a:lnTo>
                      <a:pt x="923" y="1038"/>
                    </a:lnTo>
                    <a:lnTo>
                      <a:pt x="920" y="1041"/>
                    </a:lnTo>
                    <a:lnTo>
                      <a:pt x="919" y="1046"/>
                    </a:lnTo>
                    <a:lnTo>
                      <a:pt x="915" y="1053"/>
                    </a:lnTo>
                    <a:lnTo>
                      <a:pt x="912" y="1059"/>
                    </a:lnTo>
                    <a:lnTo>
                      <a:pt x="908" y="1064"/>
                    </a:lnTo>
                    <a:lnTo>
                      <a:pt x="905" y="1068"/>
                    </a:lnTo>
                    <a:lnTo>
                      <a:pt x="901" y="1076"/>
                    </a:lnTo>
                    <a:lnTo>
                      <a:pt x="900" y="1080"/>
                    </a:lnTo>
                    <a:lnTo>
                      <a:pt x="894" y="1082"/>
                    </a:lnTo>
                    <a:lnTo>
                      <a:pt x="888" y="1083"/>
                    </a:lnTo>
                    <a:lnTo>
                      <a:pt x="885" y="1087"/>
                    </a:lnTo>
                    <a:lnTo>
                      <a:pt x="881" y="1090"/>
                    </a:lnTo>
                    <a:lnTo>
                      <a:pt x="878" y="1094"/>
                    </a:lnTo>
                    <a:lnTo>
                      <a:pt x="875" y="1096"/>
                    </a:lnTo>
                    <a:lnTo>
                      <a:pt x="871" y="1099"/>
                    </a:lnTo>
                    <a:lnTo>
                      <a:pt x="867" y="1102"/>
                    </a:lnTo>
                    <a:lnTo>
                      <a:pt x="866" y="1104"/>
                    </a:lnTo>
                    <a:lnTo>
                      <a:pt x="863" y="1110"/>
                    </a:lnTo>
                    <a:lnTo>
                      <a:pt x="861" y="1114"/>
                    </a:lnTo>
                    <a:lnTo>
                      <a:pt x="858" y="1118"/>
                    </a:lnTo>
                    <a:lnTo>
                      <a:pt x="855" y="1122"/>
                    </a:lnTo>
                    <a:lnTo>
                      <a:pt x="854" y="1123"/>
                    </a:lnTo>
                    <a:lnTo>
                      <a:pt x="846" y="1121"/>
                    </a:lnTo>
                    <a:lnTo>
                      <a:pt x="843" y="1114"/>
                    </a:lnTo>
                    <a:lnTo>
                      <a:pt x="836" y="1115"/>
                    </a:lnTo>
                    <a:lnTo>
                      <a:pt x="828" y="1118"/>
                    </a:lnTo>
                    <a:lnTo>
                      <a:pt x="828" y="1111"/>
                    </a:lnTo>
                    <a:lnTo>
                      <a:pt x="828" y="1109"/>
                    </a:lnTo>
                    <a:lnTo>
                      <a:pt x="831" y="1106"/>
                    </a:lnTo>
                    <a:lnTo>
                      <a:pt x="832" y="1100"/>
                    </a:lnTo>
                    <a:lnTo>
                      <a:pt x="834" y="1099"/>
                    </a:lnTo>
                    <a:lnTo>
                      <a:pt x="840" y="1098"/>
                    </a:lnTo>
                    <a:lnTo>
                      <a:pt x="830" y="1088"/>
                    </a:lnTo>
                    <a:lnTo>
                      <a:pt x="820" y="1086"/>
                    </a:lnTo>
                    <a:lnTo>
                      <a:pt x="817" y="1094"/>
                    </a:lnTo>
                    <a:lnTo>
                      <a:pt x="822" y="1103"/>
                    </a:lnTo>
                    <a:lnTo>
                      <a:pt x="813" y="1109"/>
                    </a:lnTo>
                    <a:lnTo>
                      <a:pt x="811" y="1113"/>
                    </a:lnTo>
                    <a:lnTo>
                      <a:pt x="808" y="1117"/>
                    </a:lnTo>
                    <a:lnTo>
                      <a:pt x="811" y="1123"/>
                    </a:lnTo>
                    <a:lnTo>
                      <a:pt x="812" y="1127"/>
                    </a:lnTo>
                    <a:lnTo>
                      <a:pt x="812" y="1131"/>
                    </a:lnTo>
                    <a:lnTo>
                      <a:pt x="813" y="1137"/>
                    </a:lnTo>
                    <a:lnTo>
                      <a:pt x="807" y="1137"/>
                    </a:lnTo>
                    <a:lnTo>
                      <a:pt x="803" y="1138"/>
                    </a:lnTo>
                    <a:lnTo>
                      <a:pt x="792" y="1142"/>
                    </a:lnTo>
                    <a:lnTo>
                      <a:pt x="790" y="1149"/>
                    </a:lnTo>
                    <a:lnTo>
                      <a:pt x="789" y="1153"/>
                    </a:lnTo>
                    <a:lnTo>
                      <a:pt x="786" y="1157"/>
                    </a:lnTo>
                    <a:lnTo>
                      <a:pt x="785" y="1160"/>
                    </a:lnTo>
                    <a:lnTo>
                      <a:pt x="788" y="1162"/>
                    </a:lnTo>
                    <a:lnTo>
                      <a:pt x="789" y="1165"/>
                    </a:lnTo>
                    <a:lnTo>
                      <a:pt x="792" y="1168"/>
                    </a:lnTo>
                    <a:lnTo>
                      <a:pt x="795" y="1171"/>
                    </a:lnTo>
                    <a:lnTo>
                      <a:pt x="799" y="1176"/>
                    </a:lnTo>
                    <a:lnTo>
                      <a:pt x="795" y="1181"/>
                    </a:lnTo>
                    <a:lnTo>
                      <a:pt x="785" y="1181"/>
                    </a:lnTo>
                    <a:lnTo>
                      <a:pt x="785" y="1194"/>
                    </a:lnTo>
                    <a:lnTo>
                      <a:pt x="792" y="1196"/>
                    </a:lnTo>
                    <a:lnTo>
                      <a:pt x="796" y="1203"/>
                    </a:lnTo>
                    <a:lnTo>
                      <a:pt x="795" y="1218"/>
                    </a:lnTo>
                    <a:lnTo>
                      <a:pt x="792" y="1221"/>
                    </a:lnTo>
                    <a:lnTo>
                      <a:pt x="789" y="1223"/>
                    </a:lnTo>
                    <a:lnTo>
                      <a:pt x="782" y="1226"/>
                    </a:lnTo>
                    <a:lnTo>
                      <a:pt x="773" y="1231"/>
                    </a:lnTo>
                    <a:lnTo>
                      <a:pt x="780" y="1235"/>
                    </a:lnTo>
                    <a:lnTo>
                      <a:pt x="789" y="1229"/>
                    </a:lnTo>
                    <a:lnTo>
                      <a:pt x="793" y="1241"/>
                    </a:lnTo>
                    <a:lnTo>
                      <a:pt x="789" y="1254"/>
                    </a:lnTo>
                    <a:lnTo>
                      <a:pt x="785" y="1258"/>
                    </a:lnTo>
                    <a:lnTo>
                      <a:pt x="780" y="1262"/>
                    </a:lnTo>
                    <a:lnTo>
                      <a:pt x="774" y="1273"/>
                    </a:lnTo>
                    <a:lnTo>
                      <a:pt x="780" y="1279"/>
                    </a:lnTo>
                    <a:lnTo>
                      <a:pt x="785" y="1283"/>
                    </a:lnTo>
                    <a:lnTo>
                      <a:pt x="788" y="1284"/>
                    </a:lnTo>
                    <a:lnTo>
                      <a:pt x="790" y="1291"/>
                    </a:lnTo>
                    <a:lnTo>
                      <a:pt x="793" y="1296"/>
                    </a:lnTo>
                    <a:lnTo>
                      <a:pt x="793" y="1328"/>
                    </a:lnTo>
                    <a:lnTo>
                      <a:pt x="786" y="1342"/>
                    </a:lnTo>
                    <a:lnTo>
                      <a:pt x="788" y="1347"/>
                    </a:lnTo>
                    <a:lnTo>
                      <a:pt x="788" y="1353"/>
                    </a:lnTo>
                    <a:lnTo>
                      <a:pt x="788" y="1357"/>
                    </a:lnTo>
                    <a:lnTo>
                      <a:pt x="792" y="1362"/>
                    </a:lnTo>
                    <a:lnTo>
                      <a:pt x="790" y="1370"/>
                    </a:lnTo>
                    <a:lnTo>
                      <a:pt x="790" y="1374"/>
                    </a:lnTo>
                    <a:lnTo>
                      <a:pt x="790" y="1378"/>
                    </a:lnTo>
                    <a:lnTo>
                      <a:pt x="792" y="1384"/>
                    </a:lnTo>
                    <a:lnTo>
                      <a:pt x="789" y="1388"/>
                    </a:lnTo>
                    <a:lnTo>
                      <a:pt x="786" y="1392"/>
                    </a:lnTo>
                    <a:lnTo>
                      <a:pt x="782" y="1397"/>
                    </a:lnTo>
                    <a:lnTo>
                      <a:pt x="777" y="1403"/>
                    </a:lnTo>
                    <a:lnTo>
                      <a:pt x="774" y="1405"/>
                    </a:lnTo>
                    <a:lnTo>
                      <a:pt x="773" y="1416"/>
                    </a:lnTo>
                    <a:lnTo>
                      <a:pt x="770" y="1423"/>
                    </a:lnTo>
                    <a:lnTo>
                      <a:pt x="768" y="1432"/>
                    </a:lnTo>
                    <a:lnTo>
                      <a:pt x="762" y="1446"/>
                    </a:lnTo>
                    <a:lnTo>
                      <a:pt x="759" y="1457"/>
                    </a:lnTo>
                    <a:lnTo>
                      <a:pt x="754" y="1471"/>
                    </a:lnTo>
                    <a:lnTo>
                      <a:pt x="750" y="1477"/>
                    </a:lnTo>
                    <a:lnTo>
                      <a:pt x="745" y="1482"/>
                    </a:lnTo>
                    <a:lnTo>
                      <a:pt x="743" y="1489"/>
                    </a:lnTo>
                    <a:lnTo>
                      <a:pt x="743" y="1494"/>
                    </a:lnTo>
                    <a:lnTo>
                      <a:pt x="743" y="1497"/>
                    </a:lnTo>
                    <a:lnTo>
                      <a:pt x="745" y="1502"/>
                    </a:lnTo>
                    <a:lnTo>
                      <a:pt x="745" y="1508"/>
                    </a:lnTo>
                    <a:lnTo>
                      <a:pt x="747" y="1512"/>
                    </a:lnTo>
                    <a:lnTo>
                      <a:pt x="747" y="1517"/>
                    </a:lnTo>
                    <a:lnTo>
                      <a:pt x="750" y="1521"/>
                    </a:lnTo>
                    <a:lnTo>
                      <a:pt x="751" y="1525"/>
                    </a:lnTo>
                    <a:lnTo>
                      <a:pt x="754" y="1529"/>
                    </a:lnTo>
                    <a:lnTo>
                      <a:pt x="749" y="1529"/>
                    </a:lnTo>
                    <a:lnTo>
                      <a:pt x="742" y="1531"/>
                    </a:lnTo>
                    <a:lnTo>
                      <a:pt x="739" y="1531"/>
                    </a:lnTo>
                    <a:lnTo>
                      <a:pt x="738" y="1536"/>
                    </a:lnTo>
                    <a:lnTo>
                      <a:pt x="735" y="1540"/>
                    </a:lnTo>
                    <a:lnTo>
                      <a:pt x="734" y="1543"/>
                    </a:lnTo>
                    <a:lnTo>
                      <a:pt x="731" y="1547"/>
                    </a:lnTo>
                    <a:lnTo>
                      <a:pt x="728" y="1550"/>
                    </a:lnTo>
                    <a:lnTo>
                      <a:pt x="726" y="1554"/>
                    </a:lnTo>
                    <a:lnTo>
                      <a:pt x="723" y="1559"/>
                    </a:lnTo>
                    <a:lnTo>
                      <a:pt x="719" y="1560"/>
                    </a:lnTo>
                    <a:lnTo>
                      <a:pt x="715" y="1563"/>
                    </a:lnTo>
                    <a:lnTo>
                      <a:pt x="711" y="1565"/>
                    </a:lnTo>
                    <a:lnTo>
                      <a:pt x="711" y="1567"/>
                    </a:lnTo>
                    <a:lnTo>
                      <a:pt x="710" y="1573"/>
                    </a:lnTo>
                    <a:lnTo>
                      <a:pt x="710" y="1577"/>
                    </a:lnTo>
                    <a:lnTo>
                      <a:pt x="708" y="1581"/>
                    </a:lnTo>
                    <a:lnTo>
                      <a:pt x="708" y="1583"/>
                    </a:lnTo>
                    <a:lnTo>
                      <a:pt x="705" y="1585"/>
                    </a:lnTo>
                    <a:lnTo>
                      <a:pt x="705" y="1582"/>
                    </a:lnTo>
                    <a:lnTo>
                      <a:pt x="700" y="1581"/>
                    </a:lnTo>
                    <a:lnTo>
                      <a:pt x="696" y="1579"/>
                    </a:lnTo>
                    <a:lnTo>
                      <a:pt x="693" y="1577"/>
                    </a:lnTo>
                    <a:lnTo>
                      <a:pt x="691" y="1574"/>
                    </a:lnTo>
                    <a:lnTo>
                      <a:pt x="687" y="1569"/>
                    </a:lnTo>
                    <a:lnTo>
                      <a:pt x="685" y="1567"/>
                    </a:lnTo>
                    <a:lnTo>
                      <a:pt x="672" y="1559"/>
                    </a:lnTo>
                    <a:lnTo>
                      <a:pt x="658" y="1551"/>
                    </a:lnTo>
                    <a:lnTo>
                      <a:pt x="656" y="1546"/>
                    </a:lnTo>
                    <a:lnTo>
                      <a:pt x="653" y="1539"/>
                    </a:lnTo>
                    <a:lnTo>
                      <a:pt x="649" y="1538"/>
                    </a:lnTo>
                    <a:lnTo>
                      <a:pt x="654" y="1535"/>
                    </a:lnTo>
                    <a:lnTo>
                      <a:pt x="654" y="1532"/>
                    </a:lnTo>
                    <a:lnTo>
                      <a:pt x="654" y="1525"/>
                    </a:lnTo>
                    <a:lnTo>
                      <a:pt x="654" y="1519"/>
                    </a:lnTo>
                    <a:lnTo>
                      <a:pt x="654" y="1516"/>
                    </a:lnTo>
                    <a:lnTo>
                      <a:pt x="650" y="1515"/>
                    </a:lnTo>
                    <a:lnTo>
                      <a:pt x="645" y="1513"/>
                    </a:lnTo>
                    <a:lnTo>
                      <a:pt x="642" y="1511"/>
                    </a:lnTo>
                    <a:lnTo>
                      <a:pt x="638" y="1507"/>
                    </a:lnTo>
                    <a:lnTo>
                      <a:pt x="638" y="1497"/>
                    </a:lnTo>
                    <a:lnTo>
                      <a:pt x="634" y="1496"/>
                    </a:lnTo>
                    <a:lnTo>
                      <a:pt x="627" y="1493"/>
                    </a:lnTo>
                    <a:lnTo>
                      <a:pt x="627" y="1488"/>
                    </a:lnTo>
                    <a:lnTo>
                      <a:pt x="627" y="1482"/>
                    </a:lnTo>
                    <a:lnTo>
                      <a:pt x="626" y="1480"/>
                    </a:lnTo>
                    <a:lnTo>
                      <a:pt x="626" y="1474"/>
                    </a:lnTo>
                    <a:lnTo>
                      <a:pt x="626" y="1469"/>
                    </a:lnTo>
                    <a:lnTo>
                      <a:pt x="627" y="1467"/>
                    </a:lnTo>
                    <a:lnTo>
                      <a:pt x="629" y="1465"/>
                    </a:lnTo>
                    <a:lnTo>
                      <a:pt x="630" y="1462"/>
                    </a:lnTo>
                    <a:lnTo>
                      <a:pt x="631" y="1458"/>
                    </a:lnTo>
                    <a:lnTo>
                      <a:pt x="631" y="1457"/>
                    </a:lnTo>
                    <a:lnTo>
                      <a:pt x="633" y="1454"/>
                    </a:lnTo>
                    <a:lnTo>
                      <a:pt x="633" y="1453"/>
                    </a:lnTo>
                    <a:lnTo>
                      <a:pt x="633" y="1450"/>
                    </a:lnTo>
                    <a:lnTo>
                      <a:pt x="633" y="1449"/>
                    </a:lnTo>
                    <a:lnTo>
                      <a:pt x="635" y="1449"/>
                    </a:lnTo>
                    <a:lnTo>
                      <a:pt x="638" y="1449"/>
                    </a:lnTo>
                    <a:lnTo>
                      <a:pt x="641" y="1450"/>
                    </a:lnTo>
                    <a:lnTo>
                      <a:pt x="643" y="1450"/>
                    </a:lnTo>
                    <a:lnTo>
                      <a:pt x="649" y="1450"/>
                    </a:lnTo>
                    <a:lnTo>
                      <a:pt x="658" y="1450"/>
                    </a:lnTo>
                    <a:lnTo>
                      <a:pt x="657" y="1447"/>
                    </a:lnTo>
                    <a:lnTo>
                      <a:pt x="656" y="1443"/>
                    </a:lnTo>
                    <a:lnTo>
                      <a:pt x="656" y="1439"/>
                    </a:lnTo>
                    <a:lnTo>
                      <a:pt x="656" y="1435"/>
                    </a:lnTo>
                    <a:lnTo>
                      <a:pt x="656" y="1430"/>
                    </a:lnTo>
                    <a:lnTo>
                      <a:pt x="656" y="1424"/>
                    </a:lnTo>
                    <a:lnTo>
                      <a:pt x="657" y="1420"/>
                    </a:lnTo>
                    <a:lnTo>
                      <a:pt x="670" y="1420"/>
                    </a:lnTo>
                    <a:lnTo>
                      <a:pt x="670" y="1417"/>
                    </a:lnTo>
                    <a:lnTo>
                      <a:pt x="673" y="1413"/>
                    </a:lnTo>
                    <a:lnTo>
                      <a:pt x="674" y="1411"/>
                    </a:lnTo>
                    <a:lnTo>
                      <a:pt x="677" y="1408"/>
                    </a:lnTo>
                    <a:lnTo>
                      <a:pt x="678" y="1404"/>
                    </a:lnTo>
                    <a:lnTo>
                      <a:pt x="681" y="1401"/>
                    </a:lnTo>
                    <a:lnTo>
                      <a:pt x="681" y="1400"/>
                    </a:lnTo>
                    <a:lnTo>
                      <a:pt x="685" y="1396"/>
                    </a:lnTo>
                    <a:lnTo>
                      <a:pt x="689" y="1393"/>
                    </a:lnTo>
                    <a:lnTo>
                      <a:pt x="691" y="1392"/>
                    </a:lnTo>
                    <a:lnTo>
                      <a:pt x="695" y="1389"/>
                    </a:lnTo>
                    <a:lnTo>
                      <a:pt x="697" y="1386"/>
                    </a:lnTo>
                    <a:lnTo>
                      <a:pt x="699" y="1385"/>
                    </a:lnTo>
                    <a:lnTo>
                      <a:pt x="700" y="1384"/>
                    </a:lnTo>
                    <a:lnTo>
                      <a:pt x="700" y="1369"/>
                    </a:lnTo>
                    <a:lnTo>
                      <a:pt x="696" y="1368"/>
                    </a:lnTo>
                    <a:lnTo>
                      <a:pt x="693" y="1366"/>
                    </a:lnTo>
                    <a:lnTo>
                      <a:pt x="689" y="1364"/>
                    </a:lnTo>
                    <a:lnTo>
                      <a:pt x="685" y="1362"/>
                    </a:lnTo>
                    <a:lnTo>
                      <a:pt x="681" y="1361"/>
                    </a:lnTo>
                    <a:lnTo>
                      <a:pt x="678" y="1358"/>
                    </a:lnTo>
                    <a:lnTo>
                      <a:pt x="677" y="1357"/>
                    </a:lnTo>
                    <a:lnTo>
                      <a:pt x="674" y="1354"/>
                    </a:lnTo>
                    <a:lnTo>
                      <a:pt x="672" y="1351"/>
                    </a:lnTo>
                    <a:lnTo>
                      <a:pt x="670" y="1350"/>
                    </a:lnTo>
                    <a:lnTo>
                      <a:pt x="668" y="1349"/>
                    </a:lnTo>
                    <a:lnTo>
                      <a:pt x="668" y="1339"/>
                    </a:lnTo>
                    <a:lnTo>
                      <a:pt x="654" y="1341"/>
                    </a:lnTo>
                    <a:lnTo>
                      <a:pt x="653" y="1341"/>
                    </a:lnTo>
                    <a:lnTo>
                      <a:pt x="647" y="1341"/>
                    </a:lnTo>
                    <a:lnTo>
                      <a:pt x="643" y="1342"/>
                    </a:lnTo>
                    <a:lnTo>
                      <a:pt x="638" y="1342"/>
                    </a:lnTo>
                    <a:lnTo>
                      <a:pt x="630" y="1337"/>
                    </a:lnTo>
                    <a:lnTo>
                      <a:pt x="620" y="1330"/>
                    </a:lnTo>
                    <a:lnTo>
                      <a:pt x="615" y="1331"/>
                    </a:lnTo>
                    <a:lnTo>
                      <a:pt x="608" y="1334"/>
                    </a:lnTo>
                    <a:lnTo>
                      <a:pt x="603" y="1334"/>
                    </a:lnTo>
                    <a:lnTo>
                      <a:pt x="598" y="1334"/>
                    </a:lnTo>
                    <a:lnTo>
                      <a:pt x="593" y="1334"/>
                    </a:lnTo>
                    <a:lnTo>
                      <a:pt x="589" y="1334"/>
                    </a:lnTo>
                    <a:lnTo>
                      <a:pt x="585" y="1332"/>
                    </a:lnTo>
                    <a:lnTo>
                      <a:pt x="584" y="1332"/>
                    </a:lnTo>
                    <a:lnTo>
                      <a:pt x="584" y="1328"/>
                    </a:lnTo>
                    <a:lnTo>
                      <a:pt x="581" y="1323"/>
                    </a:lnTo>
                    <a:lnTo>
                      <a:pt x="580" y="1319"/>
                    </a:lnTo>
                    <a:lnTo>
                      <a:pt x="579" y="1316"/>
                    </a:lnTo>
                    <a:lnTo>
                      <a:pt x="579" y="1314"/>
                    </a:lnTo>
                    <a:lnTo>
                      <a:pt x="576" y="1312"/>
                    </a:lnTo>
                    <a:lnTo>
                      <a:pt x="572" y="1308"/>
                    </a:lnTo>
                    <a:lnTo>
                      <a:pt x="569" y="1306"/>
                    </a:lnTo>
                    <a:lnTo>
                      <a:pt x="568" y="1301"/>
                    </a:lnTo>
                    <a:lnTo>
                      <a:pt x="566" y="1295"/>
                    </a:lnTo>
                    <a:lnTo>
                      <a:pt x="562" y="1292"/>
                    </a:lnTo>
                    <a:lnTo>
                      <a:pt x="558" y="1291"/>
                    </a:lnTo>
                    <a:lnTo>
                      <a:pt x="557" y="1284"/>
                    </a:lnTo>
                    <a:lnTo>
                      <a:pt x="554" y="1280"/>
                    </a:lnTo>
                    <a:lnTo>
                      <a:pt x="548" y="1273"/>
                    </a:lnTo>
                    <a:lnTo>
                      <a:pt x="544" y="1274"/>
                    </a:lnTo>
                    <a:lnTo>
                      <a:pt x="540" y="1276"/>
                    </a:lnTo>
                    <a:lnTo>
                      <a:pt x="535" y="1276"/>
                    </a:lnTo>
                    <a:lnTo>
                      <a:pt x="531" y="1277"/>
                    </a:lnTo>
                    <a:lnTo>
                      <a:pt x="526" y="1277"/>
                    </a:lnTo>
                    <a:lnTo>
                      <a:pt x="521" y="1273"/>
                    </a:lnTo>
                    <a:lnTo>
                      <a:pt x="515" y="1269"/>
                    </a:lnTo>
                    <a:lnTo>
                      <a:pt x="511" y="1269"/>
                    </a:lnTo>
                    <a:lnTo>
                      <a:pt x="508" y="1270"/>
                    </a:lnTo>
                    <a:lnTo>
                      <a:pt x="506" y="1269"/>
                    </a:lnTo>
                    <a:lnTo>
                      <a:pt x="502" y="1268"/>
                    </a:lnTo>
                    <a:lnTo>
                      <a:pt x="498" y="1265"/>
                    </a:lnTo>
                    <a:lnTo>
                      <a:pt x="495" y="1260"/>
                    </a:lnTo>
                    <a:lnTo>
                      <a:pt x="494" y="1257"/>
                    </a:lnTo>
                    <a:lnTo>
                      <a:pt x="487" y="1254"/>
                    </a:lnTo>
                    <a:lnTo>
                      <a:pt x="488" y="1250"/>
                    </a:lnTo>
                    <a:lnTo>
                      <a:pt x="486" y="1247"/>
                    </a:lnTo>
                    <a:lnTo>
                      <a:pt x="483" y="1245"/>
                    </a:lnTo>
                    <a:lnTo>
                      <a:pt x="480" y="1243"/>
                    </a:lnTo>
                    <a:lnTo>
                      <a:pt x="475" y="1243"/>
                    </a:lnTo>
                    <a:lnTo>
                      <a:pt x="472" y="1242"/>
                    </a:lnTo>
                    <a:lnTo>
                      <a:pt x="465" y="1237"/>
                    </a:lnTo>
                    <a:lnTo>
                      <a:pt x="460" y="1233"/>
                    </a:lnTo>
                    <a:lnTo>
                      <a:pt x="460" y="1225"/>
                    </a:lnTo>
                    <a:lnTo>
                      <a:pt x="378" y="1225"/>
                    </a:lnTo>
                    <a:lnTo>
                      <a:pt x="378" y="1223"/>
                    </a:lnTo>
                    <a:lnTo>
                      <a:pt x="378" y="1219"/>
                    </a:lnTo>
                    <a:lnTo>
                      <a:pt x="378" y="1215"/>
                    </a:lnTo>
                    <a:lnTo>
                      <a:pt x="376" y="1211"/>
                    </a:lnTo>
                    <a:lnTo>
                      <a:pt x="378" y="1207"/>
                    </a:lnTo>
                    <a:lnTo>
                      <a:pt x="378" y="1204"/>
                    </a:lnTo>
                    <a:lnTo>
                      <a:pt x="378" y="1200"/>
                    </a:lnTo>
                    <a:lnTo>
                      <a:pt x="379" y="1198"/>
                    </a:lnTo>
                    <a:lnTo>
                      <a:pt x="380" y="1195"/>
                    </a:lnTo>
                    <a:lnTo>
                      <a:pt x="382" y="1191"/>
                    </a:lnTo>
                    <a:lnTo>
                      <a:pt x="383" y="1187"/>
                    </a:lnTo>
                    <a:lnTo>
                      <a:pt x="384" y="1185"/>
                    </a:lnTo>
                    <a:lnTo>
                      <a:pt x="386" y="1181"/>
                    </a:lnTo>
                    <a:lnTo>
                      <a:pt x="382" y="1181"/>
                    </a:lnTo>
                    <a:lnTo>
                      <a:pt x="369" y="1180"/>
                    </a:lnTo>
                    <a:lnTo>
                      <a:pt x="349" y="1177"/>
                    </a:lnTo>
                    <a:lnTo>
                      <a:pt x="336" y="1177"/>
                    </a:lnTo>
                    <a:lnTo>
                      <a:pt x="330" y="1177"/>
                    </a:lnTo>
                    <a:lnTo>
                      <a:pt x="326" y="1179"/>
                    </a:lnTo>
                    <a:lnTo>
                      <a:pt x="321" y="1181"/>
                    </a:lnTo>
                    <a:lnTo>
                      <a:pt x="311" y="1181"/>
                    </a:lnTo>
                    <a:lnTo>
                      <a:pt x="306" y="1184"/>
                    </a:lnTo>
                    <a:lnTo>
                      <a:pt x="303" y="1188"/>
                    </a:lnTo>
                    <a:lnTo>
                      <a:pt x="302" y="1195"/>
                    </a:lnTo>
                    <a:lnTo>
                      <a:pt x="286" y="1204"/>
                    </a:lnTo>
                    <a:lnTo>
                      <a:pt x="280" y="1204"/>
                    </a:lnTo>
                    <a:lnTo>
                      <a:pt x="274" y="1206"/>
                    </a:lnTo>
                    <a:lnTo>
                      <a:pt x="268" y="1206"/>
                    </a:lnTo>
                    <a:lnTo>
                      <a:pt x="263" y="1214"/>
                    </a:lnTo>
                    <a:lnTo>
                      <a:pt x="256" y="1215"/>
                    </a:lnTo>
                    <a:lnTo>
                      <a:pt x="248" y="1218"/>
                    </a:lnTo>
                    <a:lnTo>
                      <a:pt x="244" y="1225"/>
                    </a:lnTo>
                    <a:lnTo>
                      <a:pt x="239" y="1231"/>
                    </a:lnTo>
                    <a:lnTo>
                      <a:pt x="235" y="1233"/>
                    </a:lnTo>
                    <a:lnTo>
                      <a:pt x="229" y="1234"/>
                    </a:lnTo>
                    <a:lnTo>
                      <a:pt x="225" y="1234"/>
                    </a:lnTo>
                    <a:lnTo>
                      <a:pt x="218" y="1238"/>
                    </a:lnTo>
                    <a:lnTo>
                      <a:pt x="213" y="1241"/>
                    </a:lnTo>
                    <a:lnTo>
                      <a:pt x="206" y="1242"/>
                    </a:lnTo>
                    <a:lnTo>
                      <a:pt x="199" y="1242"/>
                    </a:lnTo>
                    <a:lnTo>
                      <a:pt x="191" y="1243"/>
                    </a:lnTo>
                    <a:lnTo>
                      <a:pt x="189" y="1243"/>
                    </a:lnTo>
                    <a:lnTo>
                      <a:pt x="185" y="1234"/>
                    </a:lnTo>
                    <a:lnTo>
                      <a:pt x="185" y="1222"/>
                    </a:lnTo>
                    <a:lnTo>
                      <a:pt x="189" y="1221"/>
                    </a:lnTo>
                    <a:lnTo>
                      <a:pt x="194" y="1219"/>
                    </a:lnTo>
                    <a:lnTo>
                      <a:pt x="197" y="1215"/>
                    </a:lnTo>
                    <a:lnTo>
                      <a:pt x="199" y="1212"/>
                    </a:lnTo>
                    <a:lnTo>
                      <a:pt x="202" y="1208"/>
                    </a:lnTo>
                    <a:lnTo>
                      <a:pt x="204" y="1206"/>
                    </a:lnTo>
                    <a:lnTo>
                      <a:pt x="205" y="1202"/>
                    </a:lnTo>
                    <a:lnTo>
                      <a:pt x="208" y="1196"/>
                    </a:lnTo>
                    <a:lnTo>
                      <a:pt x="208" y="1191"/>
                    </a:lnTo>
                    <a:lnTo>
                      <a:pt x="208" y="1177"/>
                    </a:lnTo>
                    <a:lnTo>
                      <a:pt x="205" y="1173"/>
                    </a:lnTo>
                    <a:lnTo>
                      <a:pt x="199" y="1168"/>
                    </a:lnTo>
                    <a:lnTo>
                      <a:pt x="197" y="1164"/>
                    </a:lnTo>
                    <a:lnTo>
                      <a:pt x="193" y="1158"/>
                    </a:lnTo>
                    <a:lnTo>
                      <a:pt x="189" y="1153"/>
                    </a:lnTo>
                    <a:lnTo>
                      <a:pt x="183" y="1146"/>
                    </a:lnTo>
                    <a:lnTo>
                      <a:pt x="183" y="1144"/>
                    </a:lnTo>
                    <a:lnTo>
                      <a:pt x="185" y="1137"/>
                    </a:lnTo>
                    <a:lnTo>
                      <a:pt x="185" y="1134"/>
                    </a:lnTo>
                    <a:lnTo>
                      <a:pt x="183" y="1130"/>
                    </a:lnTo>
                    <a:lnTo>
                      <a:pt x="182" y="1127"/>
                    </a:lnTo>
                    <a:lnTo>
                      <a:pt x="181" y="1125"/>
                    </a:lnTo>
                    <a:lnTo>
                      <a:pt x="182" y="1122"/>
                    </a:lnTo>
                    <a:lnTo>
                      <a:pt x="182" y="1119"/>
                    </a:lnTo>
                    <a:lnTo>
                      <a:pt x="183" y="1115"/>
                    </a:lnTo>
                    <a:lnTo>
                      <a:pt x="183" y="1113"/>
                    </a:lnTo>
                    <a:lnTo>
                      <a:pt x="186" y="1110"/>
                    </a:lnTo>
                    <a:lnTo>
                      <a:pt x="187" y="1107"/>
                    </a:lnTo>
                    <a:lnTo>
                      <a:pt x="190" y="1106"/>
                    </a:lnTo>
                    <a:lnTo>
                      <a:pt x="189" y="1102"/>
                    </a:lnTo>
                    <a:lnTo>
                      <a:pt x="190" y="1098"/>
                    </a:lnTo>
                    <a:lnTo>
                      <a:pt x="187" y="1095"/>
                    </a:lnTo>
                    <a:lnTo>
                      <a:pt x="186" y="1091"/>
                    </a:lnTo>
                    <a:lnTo>
                      <a:pt x="185" y="1088"/>
                    </a:lnTo>
                    <a:lnTo>
                      <a:pt x="186" y="1084"/>
                    </a:lnTo>
                    <a:lnTo>
                      <a:pt x="189" y="1078"/>
                    </a:lnTo>
                    <a:lnTo>
                      <a:pt x="185" y="1073"/>
                    </a:lnTo>
                    <a:lnTo>
                      <a:pt x="179" y="1069"/>
                    </a:lnTo>
                    <a:lnTo>
                      <a:pt x="182" y="1065"/>
                    </a:lnTo>
                    <a:lnTo>
                      <a:pt x="185" y="1063"/>
                    </a:lnTo>
                    <a:lnTo>
                      <a:pt x="186" y="1060"/>
                    </a:lnTo>
                    <a:lnTo>
                      <a:pt x="191" y="1057"/>
                    </a:lnTo>
                    <a:lnTo>
                      <a:pt x="198" y="1052"/>
                    </a:lnTo>
                    <a:lnTo>
                      <a:pt x="201" y="1051"/>
                    </a:lnTo>
                    <a:lnTo>
                      <a:pt x="201" y="1044"/>
                    </a:lnTo>
                    <a:lnTo>
                      <a:pt x="201" y="1040"/>
                    </a:lnTo>
                    <a:lnTo>
                      <a:pt x="198" y="1037"/>
                    </a:lnTo>
                    <a:lnTo>
                      <a:pt x="193" y="1034"/>
                    </a:lnTo>
                    <a:lnTo>
                      <a:pt x="190" y="1033"/>
                    </a:lnTo>
                    <a:lnTo>
                      <a:pt x="189" y="1030"/>
                    </a:lnTo>
                    <a:lnTo>
                      <a:pt x="187" y="1028"/>
                    </a:lnTo>
                    <a:lnTo>
                      <a:pt x="187" y="1024"/>
                    </a:lnTo>
                    <a:lnTo>
                      <a:pt x="187" y="1021"/>
                    </a:lnTo>
                    <a:lnTo>
                      <a:pt x="187" y="1017"/>
                    </a:lnTo>
                    <a:lnTo>
                      <a:pt x="187" y="1015"/>
                    </a:lnTo>
                    <a:lnTo>
                      <a:pt x="195" y="1013"/>
                    </a:lnTo>
                    <a:lnTo>
                      <a:pt x="195" y="1009"/>
                    </a:lnTo>
                    <a:lnTo>
                      <a:pt x="195" y="1005"/>
                    </a:lnTo>
                    <a:lnTo>
                      <a:pt x="197" y="1001"/>
                    </a:lnTo>
                    <a:lnTo>
                      <a:pt x="197" y="998"/>
                    </a:lnTo>
                    <a:lnTo>
                      <a:pt x="194" y="994"/>
                    </a:lnTo>
                    <a:lnTo>
                      <a:pt x="193" y="993"/>
                    </a:lnTo>
                    <a:lnTo>
                      <a:pt x="190" y="990"/>
                    </a:lnTo>
                    <a:lnTo>
                      <a:pt x="189" y="986"/>
                    </a:lnTo>
                    <a:lnTo>
                      <a:pt x="187" y="980"/>
                    </a:lnTo>
                    <a:lnTo>
                      <a:pt x="186" y="976"/>
                    </a:lnTo>
                    <a:lnTo>
                      <a:pt x="186" y="974"/>
                    </a:lnTo>
                    <a:lnTo>
                      <a:pt x="186" y="971"/>
                    </a:lnTo>
                    <a:lnTo>
                      <a:pt x="187" y="968"/>
                    </a:lnTo>
                    <a:lnTo>
                      <a:pt x="187" y="964"/>
                    </a:lnTo>
                    <a:lnTo>
                      <a:pt x="191" y="963"/>
                    </a:lnTo>
                    <a:lnTo>
                      <a:pt x="195" y="963"/>
                    </a:lnTo>
                    <a:lnTo>
                      <a:pt x="198" y="963"/>
                    </a:lnTo>
                    <a:lnTo>
                      <a:pt x="201" y="959"/>
                    </a:lnTo>
                    <a:lnTo>
                      <a:pt x="202" y="956"/>
                    </a:lnTo>
                    <a:lnTo>
                      <a:pt x="201" y="953"/>
                    </a:lnTo>
                    <a:lnTo>
                      <a:pt x="199" y="952"/>
                    </a:lnTo>
                    <a:lnTo>
                      <a:pt x="197" y="949"/>
                    </a:lnTo>
                    <a:lnTo>
                      <a:pt x="194" y="947"/>
                    </a:lnTo>
                    <a:lnTo>
                      <a:pt x="191" y="945"/>
                    </a:lnTo>
                    <a:lnTo>
                      <a:pt x="186" y="941"/>
                    </a:lnTo>
                    <a:lnTo>
                      <a:pt x="191" y="934"/>
                    </a:lnTo>
                    <a:lnTo>
                      <a:pt x="198" y="934"/>
                    </a:lnTo>
                    <a:lnTo>
                      <a:pt x="202" y="934"/>
                    </a:lnTo>
                    <a:lnTo>
                      <a:pt x="206" y="929"/>
                    </a:lnTo>
                    <a:lnTo>
                      <a:pt x="210" y="925"/>
                    </a:lnTo>
                    <a:lnTo>
                      <a:pt x="209" y="918"/>
                    </a:lnTo>
                    <a:lnTo>
                      <a:pt x="199" y="916"/>
                    </a:lnTo>
                    <a:lnTo>
                      <a:pt x="186" y="921"/>
                    </a:lnTo>
                    <a:lnTo>
                      <a:pt x="183" y="918"/>
                    </a:lnTo>
                    <a:lnTo>
                      <a:pt x="172" y="913"/>
                    </a:lnTo>
                    <a:lnTo>
                      <a:pt x="172" y="909"/>
                    </a:lnTo>
                    <a:lnTo>
                      <a:pt x="172" y="905"/>
                    </a:lnTo>
                    <a:lnTo>
                      <a:pt x="172" y="902"/>
                    </a:lnTo>
                    <a:lnTo>
                      <a:pt x="174" y="897"/>
                    </a:lnTo>
                    <a:lnTo>
                      <a:pt x="174" y="894"/>
                    </a:lnTo>
                    <a:lnTo>
                      <a:pt x="175" y="890"/>
                    </a:lnTo>
                    <a:lnTo>
                      <a:pt x="177" y="886"/>
                    </a:lnTo>
                    <a:lnTo>
                      <a:pt x="179" y="882"/>
                    </a:lnTo>
                    <a:lnTo>
                      <a:pt x="181" y="881"/>
                    </a:lnTo>
                    <a:lnTo>
                      <a:pt x="182" y="878"/>
                    </a:lnTo>
                    <a:lnTo>
                      <a:pt x="185" y="876"/>
                    </a:lnTo>
                    <a:lnTo>
                      <a:pt x="189" y="875"/>
                    </a:lnTo>
                    <a:lnTo>
                      <a:pt x="190" y="872"/>
                    </a:lnTo>
                    <a:lnTo>
                      <a:pt x="194" y="871"/>
                    </a:lnTo>
                    <a:lnTo>
                      <a:pt x="197" y="868"/>
                    </a:lnTo>
                    <a:lnTo>
                      <a:pt x="199" y="866"/>
                    </a:lnTo>
                    <a:lnTo>
                      <a:pt x="199" y="862"/>
                    </a:lnTo>
                    <a:lnTo>
                      <a:pt x="198" y="859"/>
                    </a:lnTo>
                    <a:lnTo>
                      <a:pt x="198" y="856"/>
                    </a:lnTo>
                    <a:lnTo>
                      <a:pt x="198" y="854"/>
                    </a:lnTo>
                    <a:lnTo>
                      <a:pt x="198" y="851"/>
                    </a:lnTo>
                    <a:lnTo>
                      <a:pt x="199" y="848"/>
                    </a:lnTo>
                    <a:lnTo>
                      <a:pt x="199" y="844"/>
                    </a:lnTo>
                    <a:lnTo>
                      <a:pt x="201" y="841"/>
                    </a:lnTo>
                    <a:lnTo>
                      <a:pt x="208" y="836"/>
                    </a:lnTo>
                    <a:lnTo>
                      <a:pt x="220" y="836"/>
                    </a:lnTo>
                    <a:lnTo>
                      <a:pt x="222" y="833"/>
                    </a:lnTo>
                    <a:lnTo>
                      <a:pt x="228" y="831"/>
                    </a:lnTo>
                    <a:lnTo>
                      <a:pt x="232" y="828"/>
                    </a:lnTo>
                    <a:lnTo>
                      <a:pt x="244" y="820"/>
                    </a:lnTo>
                    <a:lnTo>
                      <a:pt x="236" y="810"/>
                    </a:lnTo>
                    <a:lnTo>
                      <a:pt x="232" y="810"/>
                    </a:lnTo>
                    <a:lnTo>
                      <a:pt x="222" y="805"/>
                    </a:lnTo>
                    <a:lnTo>
                      <a:pt x="221" y="802"/>
                    </a:lnTo>
                    <a:lnTo>
                      <a:pt x="216" y="802"/>
                    </a:lnTo>
                    <a:lnTo>
                      <a:pt x="210" y="801"/>
                    </a:lnTo>
                    <a:lnTo>
                      <a:pt x="206" y="801"/>
                    </a:lnTo>
                    <a:lnTo>
                      <a:pt x="202" y="800"/>
                    </a:lnTo>
                    <a:lnTo>
                      <a:pt x="198" y="797"/>
                    </a:lnTo>
                    <a:lnTo>
                      <a:pt x="197" y="794"/>
                    </a:lnTo>
                    <a:lnTo>
                      <a:pt x="194" y="793"/>
                    </a:lnTo>
                    <a:lnTo>
                      <a:pt x="193" y="790"/>
                    </a:lnTo>
                    <a:lnTo>
                      <a:pt x="190" y="787"/>
                    </a:lnTo>
                    <a:lnTo>
                      <a:pt x="189" y="786"/>
                    </a:lnTo>
                    <a:lnTo>
                      <a:pt x="189" y="783"/>
                    </a:lnTo>
                    <a:lnTo>
                      <a:pt x="189" y="779"/>
                    </a:lnTo>
                    <a:lnTo>
                      <a:pt x="189" y="778"/>
                    </a:lnTo>
                    <a:lnTo>
                      <a:pt x="186" y="775"/>
                    </a:lnTo>
                    <a:lnTo>
                      <a:pt x="183" y="773"/>
                    </a:lnTo>
                    <a:lnTo>
                      <a:pt x="181" y="770"/>
                    </a:lnTo>
                    <a:lnTo>
                      <a:pt x="179" y="766"/>
                    </a:lnTo>
                    <a:lnTo>
                      <a:pt x="177" y="763"/>
                    </a:lnTo>
                    <a:lnTo>
                      <a:pt x="175" y="762"/>
                    </a:lnTo>
                    <a:lnTo>
                      <a:pt x="172" y="759"/>
                    </a:lnTo>
                    <a:lnTo>
                      <a:pt x="174" y="755"/>
                    </a:lnTo>
                    <a:lnTo>
                      <a:pt x="175" y="747"/>
                    </a:lnTo>
                    <a:lnTo>
                      <a:pt x="181" y="743"/>
                    </a:lnTo>
                    <a:lnTo>
                      <a:pt x="181" y="735"/>
                    </a:lnTo>
                    <a:lnTo>
                      <a:pt x="167" y="735"/>
                    </a:lnTo>
                    <a:lnTo>
                      <a:pt x="166" y="731"/>
                    </a:lnTo>
                    <a:lnTo>
                      <a:pt x="164" y="727"/>
                    </a:lnTo>
                    <a:lnTo>
                      <a:pt x="163" y="725"/>
                    </a:lnTo>
                    <a:lnTo>
                      <a:pt x="158" y="721"/>
                    </a:lnTo>
                    <a:lnTo>
                      <a:pt x="155" y="719"/>
                    </a:lnTo>
                    <a:lnTo>
                      <a:pt x="154" y="711"/>
                    </a:lnTo>
                    <a:lnTo>
                      <a:pt x="147" y="709"/>
                    </a:lnTo>
                    <a:lnTo>
                      <a:pt x="143" y="700"/>
                    </a:lnTo>
                    <a:lnTo>
                      <a:pt x="133" y="694"/>
                    </a:lnTo>
                    <a:lnTo>
                      <a:pt x="140" y="685"/>
                    </a:lnTo>
                    <a:lnTo>
                      <a:pt x="143" y="684"/>
                    </a:lnTo>
                    <a:lnTo>
                      <a:pt x="150" y="681"/>
                    </a:lnTo>
                    <a:lnTo>
                      <a:pt x="150" y="680"/>
                    </a:lnTo>
                    <a:lnTo>
                      <a:pt x="152" y="675"/>
                    </a:lnTo>
                    <a:lnTo>
                      <a:pt x="154" y="673"/>
                    </a:lnTo>
                    <a:lnTo>
                      <a:pt x="154" y="669"/>
                    </a:lnTo>
                    <a:lnTo>
                      <a:pt x="155" y="665"/>
                    </a:lnTo>
                    <a:lnTo>
                      <a:pt x="155" y="658"/>
                    </a:lnTo>
                    <a:lnTo>
                      <a:pt x="155" y="650"/>
                    </a:lnTo>
                    <a:lnTo>
                      <a:pt x="167" y="650"/>
                    </a:lnTo>
                    <a:lnTo>
                      <a:pt x="171" y="639"/>
                    </a:lnTo>
                    <a:lnTo>
                      <a:pt x="175" y="639"/>
                    </a:lnTo>
                    <a:lnTo>
                      <a:pt x="179" y="638"/>
                    </a:lnTo>
                    <a:lnTo>
                      <a:pt x="183" y="636"/>
                    </a:lnTo>
                    <a:lnTo>
                      <a:pt x="186" y="634"/>
                    </a:lnTo>
                    <a:lnTo>
                      <a:pt x="189" y="632"/>
                    </a:lnTo>
                    <a:lnTo>
                      <a:pt x="189" y="630"/>
                    </a:lnTo>
                    <a:lnTo>
                      <a:pt x="190" y="626"/>
                    </a:lnTo>
                    <a:lnTo>
                      <a:pt x="190" y="621"/>
                    </a:lnTo>
                    <a:lnTo>
                      <a:pt x="190" y="619"/>
                    </a:lnTo>
                    <a:lnTo>
                      <a:pt x="190" y="615"/>
                    </a:lnTo>
                    <a:lnTo>
                      <a:pt x="191" y="611"/>
                    </a:lnTo>
                    <a:lnTo>
                      <a:pt x="190" y="608"/>
                    </a:lnTo>
                    <a:lnTo>
                      <a:pt x="190" y="604"/>
                    </a:lnTo>
                    <a:lnTo>
                      <a:pt x="175" y="604"/>
                    </a:lnTo>
                    <a:lnTo>
                      <a:pt x="158" y="605"/>
                    </a:lnTo>
                    <a:lnTo>
                      <a:pt x="156" y="597"/>
                    </a:lnTo>
                    <a:lnTo>
                      <a:pt x="148" y="596"/>
                    </a:lnTo>
                    <a:lnTo>
                      <a:pt x="141" y="595"/>
                    </a:lnTo>
                    <a:lnTo>
                      <a:pt x="140" y="592"/>
                    </a:lnTo>
                    <a:lnTo>
                      <a:pt x="137" y="586"/>
                    </a:lnTo>
                    <a:lnTo>
                      <a:pt x="136" y="582"/>
                    </a:lnTo>
                    <a:lnTo>
                      <a:pt x="129" y="580"/>
                    </a:lnTo>
                    <a:lnTo>
                      <a:pt x="129" y="574"/>
                    </a:lnTo>
                    <a:lnTo>
                      <a:pt x="128" y="572"/>
                    </a:lnTo>
                    <a:lnTo>
                      <a:pt x="125" y="566"/>
                    </a:lnTo>
                    <a:lnTo>
                      <a:pt x="124" y="563"/>
                    </a:lnTo>
                    <a:lnTo>
                      <a:pt x="121" y="561"/>
                    </a:lnTo>
                    <a:lnTo>
                      <a:pt x="116" y="557"/>
                    </a:lnTo>
                    <a:lnTo>
                      <a:pt x="113" y="554"/>
                    </a:lnTo>
                    <a:lnTo>
                      <a:pt x="112" y="550"/>
                    </a:lnTo>
                    <a:lnTo>
                      <a:pt x="108" y="546"/>
                    </a:lnTo>
                    <a:lnTo>
                      <a:pt x="104" y="543"/>
                    </a:lnTo>
                    <a:lnTo>
                      <a:pt x="101" y="541"/>
                    </a:lnTo>
                    <a:lnTo>
                      <a:pt x="98" y="537"/>
                    </a:lnTo>
                    <a:lnTo>
                      <a:pt x="97" y="534"/>
                    </a:lnTo>
                    <a:lnTo>
                      <a:pt x="96" y="531"/>
                    </a:lnTo>
                    <a:lnTo>
                      <a:pt x="87" y="528"/>
                    </a:lnTo>
                    <a:lnTo>
                      <a:pt x="85" y="524"/>
                    </a:lnTo>
                    <a:lnTo>
                      <a:pt x="82" y="518"/>
                    </a:lnTo>
                    <a:lnTo>
                      <a:pt x="85" y="515"/>
                    </a:lnTo>
                    <a:lnTo>
                      <a:pt x="86" y="511"/>
                    </a:lnTo>
                    <a:lnTo>
                      <a:pt x="89" y="508"/>
                    </a:lnTo>
                    <a:lnTo>
                      <a:pt x="92" y="507"/>
                    </a:lnTo>
                    <a:lnTo>
                      <a:pt x="94" y="504"/>
                    </a:lnTo>
                    <a:lnTo>
                      <a:pt x="100" y="491"/>
                    </a:lnTo>
                    <a:lnTo>
                      <a:pt x="105" y="480"/>
                    </a:lnTo>
                    <a:lnTo>
                      <a:pt x="104" y="474"/>
                    </a:lnTo>
                    <a:lnTo>
                      <a:pt x="104" y="472"/>
                    </a:lnTo>
                    <a:lnTo>
                      <a:pt x="105" y="469"/>
                    </a:lnTo>
                    <a:lnTo>
                      <a:pt x="104" y="466"/>
                    </a:lnTo>
                    <a:lnTo>
                      <a:pt x="104" y="461"/>
                    </a:lnTo>
                    <a:lnTo>
                      <a:pt x="110" y="454"/>
                    </a:lnTo>
                    <a:lnTo>
                      <a:pt x="110" y="450"/>
                    </a:lnTo>
                    <a:lnTo>
                      <a:pt x="110" y="445"/>
                    </a:lnTo>
                    <a:lnTo>
                      <a:pt x="110" y="442"/>
                    </a:lnTo>
                    <a:lnTo>
                      <a:pt x="114" y="431"/>
                    </a:lnTo>
                    <a:lnTo>
                      <a:pt x="112" y="426"/>
                    </a:lnTo>
                    <a:lnTo>
                      <a:pt x="112" y="419"/>
                    </a:lnTo>
                    <a:lnTo>
                      <a:pt x="110" y="415"/>
                    </a:lnTo>
                    <a:lnTo>
                      <a:pt x="110" y="411"/>
                    </a:lnTo>
                    <a:lnTo>
                      <a:pt x="112" y="404"/>
                    </a:lnTo>
                    <a:lnTo>
                      <a:pt x="113" y="399"/>
                    </a:lnTo>
                    <a:lnTo>
                      <a:pt x="116" y="395"/>
                    </a:lnTo>
                    <a:lnTo>
                      <a:pt x="112" y="388"/>
                    </a:lnTo>
                    <a:lnTo>
                      <a:pt x="108" y="380"/>
                    </a:lnTo>
                    <a:lnTo>
                      <a:pt x="102" y="379"/>
                    </a:lnTo>
                    <a:lnTo>
                      <a:pt x="100" y="377"/>
                    </a:lnTo>
                    <a:lnTo>
                      <a:pt x="96" y="375"/>
                    </a:lnTo>
                    <a:lnTo>
                      <a:pt x="94" y="371"/>
                    </a:lnTo>
                    <a:lnTo>
                      <a:pt x="90" y="369"/>
                    </a:lnTo>
                    <a:lnTo>
                      <a:pt x="89" y="368"/>
                    </a:lnTo>
                    <a:lnTo>
                      <a:pt x="86" y="364"/>
                    </a:lnTo>
                    <a:lnTo>
                      <a:pt x="81" y="364"/>
                    </a:lnTo>
                    <a:lnTo>
                      <a:pt x="78" y="364"/>
                    </a:lnTo>
                    <a:lnTo>
                      <a:pt x="75" y="360"/>
                    </a:lnTo>
                    <a:lnTo>
                      <a:pt x="73" y="353"/>
                    </a:lnTo>
                    <a:lnTo>
                      <a:pt x="59" y="353"/>
                    </a:lnTo>
                    <a:lnTo>
                      <a:pt x="48" y="353"/>
                    </a:lnTo>
                    <a:lnTo>
                      <a:pt x="46" y="352"/>
                    </a:lnTo>
                    <a:lnTo>
                      <a:pt x="42" y="349"/>
                    </a:lnTo>
                    <a:lnTo>
                      <a:pt x="36" y="346"/>
                    </a:lnTo>
                    <a:lnTo>
                      <a:pt x="34" y="345"/>
                    </a:lnTo>
                    <a:lnTo>
                      <a:pt x="28" y="348"/>
                    </a:lnTo>
                    <a:lnTo>
                      <a:pt x="25" y="350"/>
                    </a:lnTo>
                    <a:lnTo>
                      <a:pt x="20" y="349"/>
                    </a:lnTo>
                    <a:lnTo>
                      <a:pt x="15" y="349"/>
                    </a:lnTo>
                    <a:lnTo>
                      <a:pt x="12" y="349"/>
                    </a:lnTo>
                    <a:lnTo>
                      <a:pt x="0" y="345"/>
                    </a:lnTo>
                    <a:lnTo>
                      <a:pt x="11" y="344"/>
                    </a:lnTo>
                    <a:lnTo>
                      <a:pt x="13" y="337"/>
                    </a:lnTo>
                    <a:lnTo>
                      <a:pt x="16" y="329"/>
                    </a:lnTo>
                    <a:lnTo>
                      <a:pt x="20" y="329"/>
                    </a:lnTo>
                    <a:lnTo>
                      <a:pt x="24" y="327"/>
                    </a:lnTo>
                    <a:lnTo>
                      <a:pt x="29" y="329"/>
                    </a:lnTo>
                    <a:lnTo>
                      <a:pt x="31" y="329"/>
                    </a:lnTo>
                    <a:lnTo>
                      <a:pt x="35" y="323"/>
                    </a:lnTo>
                    <a:lnTo>
                      <a:pt x="44" y="315"/>
                    </a:lnTo>
                    <a:lnTo>
                      <a:pt x="52" y="306"/>
                    </a:lnTo>
                    <a:lnTo>
                      <a:pt x="59" y="304"/>
                    </a:lnTo>
                    <a:lnTo>
                      <a:pt x="67" y="303"/>
                    </a:lnTo>
                    <a:lnTo>
                      <a:pt x="71" y="298"/>
                    </a:lnTo>
                    <a:lnTo>
                      <a:pt x="77" y="290"/>
                    </a:lnTo>
                    <a:lnTo>
                      <a:pt x="79" y="286"/>
                    </a:lnTo>
                    <a:lnTo>
                      <a:pt x="81" y="287"/>
                    </a:lnTo>
                    <a:lnTo>
                      <a:pt x="85" y="286"/>
                    </a:lnTo>
                    <a:lnTo>
                      <a:pt x="89" y="286"/>
                    </a:lnTo>
                    <a:lnTo>
                      <a:pt x="90" y="286"/>
                    </a:lnTo>
                    <a:lnTo>
                      <a:pt x="96" y="283"/>
                    </a:lnTo>
                    <a:lnTo>
                      <a:pt x="100" y="282"/>
                    </a:lnTo>
                    <a:lnTo>
                      <a:pt x="104" y="282"/>
                    </a:lnTo>
                    <a:lnTo>
                      <a:pt x="108" y="279"/>
                    </a:lnTo>
                    <a:lnTo>
                      <a:pt x="113" y="276"/>
                    </a:lnTo>
                    <a:lnTo>
                      <a:pt x="116" y="272"/>
                    </a:lnTo>
                    <a:lnTo>
                      <a:pt x="119" y="269"/>
                    </a:lnTo>
                    <a:lnTo>
                      <a:pt x="123" y="267"/>
                    </a:lnTo>
                    <a:lnTo>
                      <a:pt x="125" y="265"/>
                    </a:lnTo>
                    <a:lnTo>
                      <a:pt x="128" y="264"/>
                    </a:lnTo>
                    <a:lnTo>
                      <a:pt x="133" y="264"/>
                    </a:lnTo>
                    <a:lnTo>
                      <a:pt x="133" y="261"/>
                    </a:lnTo>
                    <a:lnTo>
                      <a:pt x="133" y="260"/>
                    </a:lnTo>
                    <a:lnTo>
                      <a:pt x="133" y="257"/>
                    </a:lnTo>
                    <a:lnTo>
                      <a:pt x="133" y="253"/>
                    </a:lnTo>
                    <a:lnTo>
                      <a:pt x="135" y="250"/>
                    </a:lnTo>
                    <a:lnTo>
                      <a:pt x="135" y="248"/>
                    </a:lnTo>
                    <a:lnTo>
                      <a:pt x="136" y="244"/>
                    </a:lnTo>
                    <a:lnTo>
                      <a:pt x="137" y="242"/>
                    </a:lnTo>
                    <a:lnTo>
                      <a:pt x="139" y="240"/>
                    </a:lnTo>
                    <a:lnTo>
                      <a:pt x="140" y="237"/>
                    </a:lnTo>
                    <a:lnTo>
                      <a:pt x="143" y="234"/>
                    </a:lnTo>
                    <a:lnTo>
                      <a:pt x="146" y="232"/>
                    </a:lnTo>
                    <a:lnTo>
                      <a:pt x="151" y="228"/>
                    </a:lnTo>
                    <a:lnTo>
                      <a:pt x="152" y="222"/>
                    </a:lnTo>
                    <a:lnTo>
                      <a:pt x="152" y="217"/>
                    </a:lnTo>
                    <a:lnTo>
                      <a:pt x="154" y="210"/>
                    </a:lnTo>
                    <a:lnTo>
                      <a:pt x="156" y="202"/>
                    </a:lnTo>
                    <a:lnTo>
                      <a:pt x="156" y="195"/>
                    </a:lnTo>
                    <a:lnTo>
                      <a:pt x="158" y="192"/>
                    </a:lnTo>
                    <a:lnTo>
                      <a:pt x="163" y="190"/>
                    </a:lnTo>
                    <a:lnTo>
                      <a:pt x="167" y="188"/>
                    </a:lnTo>
                    <a:lnTo>
                      <a:pt x="171" y="186"/>
                    </a:lnTo>
                    <a:lnTo>
                      <a:pt x="171" y="182"/>
                    </a:lnTo>
                    <a:lnTo>
                      <a:pt x="171" y="180"/>
                    </a:lnTo>
                    <a:lnTo>
                      <a:pt x="172" y="178"/>
                    </a:lnTo>
                    <a:lnTo>
                      <a:pt x="174" y="175"/>
                    </a:lnTo>
                    <a:lnTo>
                      <a:pt x="172" y="171"/>
                    </a:lnTo>
                    <a:lnTo>
                      <a:pt x="174" y="161"/>
                    </a:lnTo>
                    <a:lnTo>
                      <a:pt x="177" y="160"/>
                    </a:lnTo>
                    <a:lnTo>
                      <a:pt x="182" y="160"/>
                    </a:lnTo>
                    <a:lnTo>
                      <a:pt x="187" y="159"/>
                    </a:lnTo>
                    <a:lnTo>
                      <a:pt x="189" y="156"/>
                    </a:lnTo>
                    <a:lnTo>
                      <a:pt x="190" y="153"/>
                    </a:lnTo>
                    <a:lnTo>
                      <a:pt x="191" y="151"/>
                    </a:lnTo>
                    <a:lnTo>
                      <a:pt x="193" y="145"/>
                    </a:lnTo>
                    <a:lnTo>
                      <a:pt x="193" y="143"/>
                    </a:lnTo>
                    <a:lnTo>
                      <a:pt x="193" y="139"/>
                    </a:lnTo>
                    <a:lnTo>
                      <a:pt x="193" y="134"/>
                    </a:lnTo>
                    <a:lnTo>
                      <a:pt x="194" y="130"/>
                    </a:lnTo>
                    <a:lnTo>
                      <a:pt x="197" y="128"/>
                    </a:lnTo>
                    <a:lnTo>
                      <a:pt x="199" y="122"/>
                    </a:lnTo>
                    <a:lnTo>
                      <a:pt x="204" y="121"/>
                    </a:lnTo>
                    <a:lnTo>
                      <a:pt x="212" y="121"/>
                    </a:lnTo>
                    <a:lnTo>
                      <a:pt x="212" y="117"/>
                    </a:lnTo>
                    <a:lnTo>
                      <a:pt x="212" y="110"/>
                    </a:lnTo>
                    <a:lnTo>
                      <a:pt x="212" y="105"/>
                    </a:lnTo>
                    <a:lnTo>
                      <a:pt x="210" y="98"/>
                    </a:lnTo>
                    <a:lnTo>
                      <a:pt x="210" y="95"/>
                    </a:lnTo>
                    <a:lnTo>
                      <a:pt x="213" y="94"/>
                    </a:lnTo>
                    <a:lnTo>
                      <a:pt x="218" y="90"/>
                    </a:lnTo>
                    <a:lnTo>
                      <a:pt x="221" y="89"/>
                    </a:lnTo>
                    <a:lnTo>
                      <a:pt x="226" y="87"/>
                    </a:lnTo>
                    <a:lnTo>
                      <a:pt x="228" y="85"/>
                    </a:lnTo>
                    <a:lnTo>
                      <a:pt x="229" y="80"/>
                    </a:lnTo>
                    <a:lnTo>
                      <a:pt x="229" y="78"/>
                    </a:lnTo>
                    <a:lnTo>
                      <a:pt x="229" y="72"/>
                    </a:lnTo>
                    <a:lnTo>
                      <a:pt x="229" y="68"/>
                    </a:lnTo>
                    <a:lnTo>
                      <a:pt x="226" y="66"/>
                    </a:lnTo>
                    <a:lnTo>
                      <a:pt x="224" y="60"/>
                    </a:lnTo>
                    <a:lnTo>
                      <a:pt x="221" y="55"/>
                    </a:lnTo>
                    <a:lnTo>
                      <a:pt x="224" y="52"/>
                    </a:lnTo>
                    <a:lnTo>
                      <a:pt x="226" y="47"/>
                    </a:lnTo>
                    <a:lnTo>
                      <a:pt x="229" y="45"/>
                    </a:lnTo>
                    <a:lnTo>
                      <a:pt x="231" y="40"/>
                    </a:lnTo>
                    <a:lnTo>
                      <a:pt x="232" y="35"/>
                    </a:lnTo>
                    <a:lnTo>
                      <a:pt x="233" y="32"/>
                    </a:lnTo>
                    <a:lnTo>
                      <a:pt x="235" y="29"/>
                    </a:lnTo>
                    <a:lnTo>
                      <a:pt x="239" y="25"/>
                    </a:lnTo>
                    <a:lnTo>
                      <a:pt x="241" y="21"/>
                    </a:lnTo>
                    <a:lnTo>
                      <a:pt x="243" y="17"/>
                    </a:lnTo>
                    <a:lnTo>
                      <a:pt x="243" y="12"/>
                    </a:lnTo>
                    <a:lnTo>
                      <a:pt x="243" y="9"/>
                    </a:lnTo>
                    <a:lnTo>
                      <a:pt x="244" y="5"/>
                    </a:lnTo>
                    <a:close/>
                  </a:path>
                </a:pathLst>
              </a:custGeom>
              <a:solidFill>
                <a:schemeClr val="accent3"/>
              </a:solidFill>
              <a:ln w="6350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pt-BR" sz="1200">
                  <a:latin typeface="Source Serif Pro" panose="02040603050405020204" pitchFamily="18" charset="0"/>
                  <a:ea typeface="Source Serif Pro" panose="02040603050405020204" pitchFamily="18" charset="0"/>
                </a:endParaRPr>
              </a:p>
            </p:txBody>
          </p:sp>
          <p:sp>
            <p:nvSpPr>
              <p:cNvPr id="18" name="Freeform 14">
                <a:extLst>
                  <a:ext uri="{FF2B5EF4-FFF2-40B4-BE49-F238E27FC236}">
                    <a16:creationId xmlns:a16="http://schemas.microsoft.com/office/drawing/2014/main" id="{EE515FBE-89F7-985E-98DB-004D94B67E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802" y="2966"/>
                <a:ext cx="773" cy="992"/>
              </a:xfrm>
              <a:custGeom>
                <a:avLst/>
                <a:gdLst/>
                <a:ahLst/>
                <a:cxnLst>
                  <a:cxn ang="0">
                    <a:pos x="297" y="113"/>
                  </a:cxn>
                  <a:cxn ang="0">
                    <a:pos x="324" y="71"/>
                  </a:cxn>
                  <a:cxn ang="0">
                    <a:pos x="337" y="35"/>
                  </a:cxn>
                  <a:cxn ang="0">
                    <a:pos x="361" y="22"/>
                  </a:cxn>
                  <a:cxn ang="0">
                    <a:pos x="386" y="8"/>
                  </a:cxn>
                  <a:cxn ang="0">
                    <a:pos x="434" y="8"/>
                  </a:cxn>
                  <a:cxn ang="0">
                    <a:pos x="460" y="0"/>
                  </a:cxn>
                  <a:cxn ang="0">
                    <a:pos x="490" y="11"/>
                  </a:cxn>
                  <a:cxn ang="0">
                    <a:pos x="525" y="17"/>
                  </a:cxn>
                  <a:cxn ang="0">
                    <a:pos x="561" y="42"/>
                  </a:cxn>
                  <a:cxn ang="0">
                    <a:pos x="607" y="53"/>
                  </a:cxn>
                  <a:cxn ang="0">
                    <a:pos x="645" y="62"/>
                  </a:cxn>
                  <a:cxn ang="0">
                    <a:pos x="664" y="102"/>
                  </a:cxn>
                  <a:cxn ang="0">
                    <a:pos x="661" y="147"/>
                  </a:cxn>
                  <a:cxn ang="0">
                    <a:pos x="680" y="171"/>
                  </a:cxn>
                  <a:cxn ang="0">
                    <a:pos x="700" y="206"/>
                  </a:cxn>
                  <a:cxn ang="0">
                    <a:pos x="745" y="224"/>
                  </a:cxn>
                  <a:cxn ang="0">
                    <a:pos x="766" y="250"/>
                  </a:cxn>
                  <a:cxn ang="0">
                    <a:pos x="743" y="295"/>
                  </a:cxn>
                  <a:cxn ang="0">
                    <a:pos x="724" y="335"/>
                  </a:cxn>
                  <a:cxn ang="0">
                    <a:pos x="718" y="374"/>
                  </a:cxn>
                  <a:cxn ang="0">
                    <a:pos x="712" y="418"/>
                  </a:cxn>
                  <a:cxn ang="0">
                    <a:pos x="727" y="461"/>
                  </a:cxn>
                  <a:cxn ang="0">
                    <a:pos x="716" y="513"/>
                  </a:cxn>
                  <a:cxn ang="0">
                    <a:pos x="704" y="541"/>
                  </a:cxn>
                  <a:cxn ang="0">
                    <a:pos x="688" y="546"/>
                  </a:cxn>
                  <a:cxn ang="0">
                    <a:pos x="668" y="567"/>
                  </a:cxn>
                  <a:cxn ang="0">
                    <a:pos x="629" y="602"/>
                  </a:cxn>
                  <a:cxn ang="0">
                    <a:pos x="599" y="643"/>
                  </a:cxn>
                  <a:cxn ang="0">
                    <a:pos x="573" y="692"/>
                  </a:cxn>
                  <a:cxn ang="0">
                    <a:pos x="534" y="753"/>
                  </a:cxn>
                  <a:cxn ang="0">
                    <a:pos x="498" y="801"/>
                  </a:cxn>
                  <a:cxn ang="0">
                    <a:pos x="449" y="832"/>
                  </a:cxn>
                  <a:cxn ang="0">
                    <a:pos x="418" y="834"/>
                  </a:cxn>
                  <a:cxn ang="0">
                    <a:pos x="476" y="807"/>
                  </a:cxn>
                  <a:cxn ang="0">
                    <a:pos x="503" y="765"/>
                  </a:cxn>
                  <a:cxn ang="0">
                    <a:pos x="526" y="724"/>
                  </a:cxn>
                  <a:cxn ang="0">
                    <a:pos x="523" y="714"/>
                  </a:cxn>
                  <a:cxn ang="0">
                    <a:pos x="486" y="706"/>
                  </a:cxn>
                  <a:cxn ang="0">
                    <a:pos x="464" y="778"/>
                  </a:cxn>
                  <a:cxn ang="0">
                    <a:pos x="429" y="804"/>
                  </a:cxn>
                  <a:cxn ang="0">
                    <a:pos x="399" y="838"/>
                  </a:cxn>
                  <a:cxn ang="0">
                    <a:pos x="406" y="873"/>
                  </a:cxn>
                  <a:cxn ang="0">
                    <a:pos x="376" y="936"/>
                  </a:cxn>
                  <a:cxn ang="0">
                    <a:pos x="378" y="907"/>
                  </a:cxn>
                  <a:cxn ang="0">
                    <a:pos x="371" y="867"/>
                  </a:cxn>
                  <a:cxn ang="0">
                    <a:pos x="348" y="901"/>
                  </a:cxn>
                  <a:cxn ang="0">
                    <a:pos x="360" y="928"/>
                  </a:cxn>
                  <a:cxn ang="0">
                    <a:pos x="371" y="940"/>
                  </a:cxn>
                  <a:cxn ang="0">
                    <a:pos x="338" y="979"/>
                  </a:cxn>
                  <a:cxn ang="0">
                    <a:pos x="333" y="928"/>
                  </a:cxn>
                  <a:cxn ang="0">
                    <a:pos x="279" y="831"/>
                  </a:cxn>
                  <a:cxn ang="0">
                    <a:pos x="174" y="757"/>
                  </a:cxn>
                  <a:cxn ang="0">
                    <a:pos x="48" y="656"/>
                  </a:cxn>
                  <a:cxn ang="0">
                    <a:pos x="160" y="517"/>
                  </a:cxn>
                  <a:cxn ang="0">
                    <a:pos x="320" y="407"/>
                  </a:cxn>
                  <a:cxn ang="0">
                    <a:pos x="320" y="349"/>
                  </a:cxn>
                  <a:cxn ang="0">
                    <a:pos x="307" y="290"/>
                  </a:cxn>
                  <a:cxn ang="0">
                    <a:pos x="258" y="275"/>
                  </a:cxn>
                  <a:cxn ang="0">
                    <a:pos x="275" y="200"/>
                  </a:cxn>
                </a:cxnLst>
                <a:rect l="0" t="0" r="r" b="b"/>
                <a:pathLst>
                  <a:path w="774" h="994">
                    <a:moveTo>
                      <a:pt x="285" y="147"/>
                    </a:moveTo>
                    <a:lnTo>
                      <a:pt x="286" y="140"/>
                    </a:lnTo>
                    <a:lnTo>
                      <a:pt x="286" y="135"/>
                    </a:lnTo>
                    <a:lnTo>
                      <a:pt x="286" y="132"/>
                    </a:lnTo>
                    <a:lnTo>
                      <a:pt x="287" y="128"/>
                    </a:lnTo>
                    <a:lnTo>
                      <a:pt x="290" y="125"/>
                    </a:lnTo>
                    <a:lnTo>
                      <a:pt x="290" y="123"/>
                    </a:lnTo>
                    <a:lnTo>
                      <a:pt x="291" y="121"/>
                    </a:lnTo>
                    <a:lnTo>
                      <a:pt x="293" y="117"/>
                    </a:lnTo>
                    <a:lnTo>
                      <a:pt x="294" y="115"/>
                    </a:lnTo>
                    <a:lnTo>
                      <a:pt x="297" y="113"/>
                    </a:lnTo>
                    <a:lnTo>
                      <a:pt x="301" y="112"/>
                    </a:lnTo>
                    <a:lnTo>
                      <a:pt x="303" y="111"/>
                    </a:lnTo>
                    <a:lnTo>
                      <a:pt x="306" y="105"/>
                    </a:lnTo>
                    <a:lnTo>
                      <a:pt x="307" y="100"/>
                    </a:lnTo>
                    <a:lnTo>
                      <a:pt x="310" y="93"/>
                    </a:lnTo>
                    <a:lnTo>
                      <a:pt x="312" y="89"/>
                    </a:lnTo>
                    <a:lnTo>
                      <a:pt x="314" y="82"/>
                    </a:lnTo>
                    <a:lnTo>
                      <a:pt x="317" y="80"/>
                    </a:lnTo>
                    <a:lnTo>
                      <a:pt x="321" y="77"/>
                    </a:lnTo>
                    <a:lnTo>
                      <a:pt x="322" y="74"/>
                    </a:lnTo>
                    <a:lnTo>
                      <a:pt x="324" y="71"/>
                    </a:lnTo>
                    <a:lnTo>
                      <a:pt x="325" y="69"/>
                    </a:lnTo>
                    <a:lnTo>
                      <a:pt x="325" y="65"/>
                    </a:lnTo>
                    <a:lnTo>
                      <a:pt x="325" y="61"/>
                    </a:lnTo>
                    <a:lnTo>
                      <a:pt x="326" y="57"/>
                    </a:lnTo>
                    <a:lnTo>
                      <a:pt x="328" y="53"/>
                    </a:lnTo>
                    <a:lnTo>
                      <a:pt x="329" y="50"/>
                    </a:lnTo>
                    <a:lnTo>
                      <a:pt x="332" y="46"/>
                    </a:lnTo>
                    <a:lnTo>
                      <a:pt x="333" y="43"/>
                    </a:lnTo>
                    <a:lnTo>
                      <a:pt x="334" y="40"/>
                    </a:lnTo>
                    <a:lnTo>
                      <a:pt x="336" y="38"/>
                    </a:lnTo>
                    <a:lnTo>
                      <a:pt x="337" y="35"/>
                    </a:lnTo>
                    <a:lnTo>
                      <a:pt x="340" y="35"/>
                    </a:lnTo>
                    <a:lnTo>
                      <a:pt x="341" y="32"/>
                    </a:lnTo>
                    <a:lnTo>
                      <a:pt x="343" y="31"/>
                    </a:lnTo>
                    <a:lnTo>
                      <a:pt x="347" y="30"/>
                    </a:lnTo>
                    <a:lnTo>
                      <a:pt x="349" y="30"/>
                    </a:lnTo>
                    <a:lnTo>
                      <a:pt x="353" y="28"/>
                    </a:lnTo>
                    <a:lnTo>
                      <a:pt x="355" y="28"/>
                    </a:lnTo>
                    <a:lnTo>
                      <a:pt x="356" y="28"/>
                    </a:lnTo>
                    <a:lnTo>
                      <a:pt x="357" y="26"/>
                    </a:lnTo>
                    <a:lnTo>
                      <a:pt x="360" y="24"/>
                    </a:lnTo>
                    <a:lnTo>
                      <a:pt x="361" y="22"/>
                    </a:lnTo>
                    <a:lnTo>
                      <a:pt x="363" y="20"/>
                    </a:lnTo>
                    <a:lnTo>
                      <a:pt x="364" y="17"/>
                    </a:lnTo>
                    <a:lnTo>
                      <a:pt x="364" y="16"/>
                    </a:lnTo>
                    <a:lnTo>
                      <a:pt x="368" y="15"/>
                    </a:lnTo>
                    <a:lnTo>
                      <a:pt x="370" y="15"/>
                    </a:lnTo>
                    <a:lnTo>
                      <a:pt x="374" y="13"/>
                    </a:lnTo>
                    <a:lnTo>
                      <a:pt x="376" y="12"/>
                    </a:lnTo>
                    <a:lnTo>
                      <a:pt x="378" y="11"/>
                    </a:lnTo>
                    <a:lnTo>
                      <a:pt x="382" y="9"/>
                    </a:lnTo>
                    <a:lnTo>
                      <a:pt x="384" y="8"/>
                    </a:lnTo>
                    <a:lnTo>
                      <a:pt x="386" y="8"/>
                    </a:lnTo>
                    <a:lnTo>
                      <a:pt x="388" y="5"/>
                    </a:lnTo>
                    <a:lnTo>
                      <a:pt x="391" y="5"/>
                    </a:lnTo>
                    <a:lnTo>
                      <a:pt x="395" y="5"/>
                    </a:lnTo>
                    <a:lnTo>
                      <a:pt x="399" y="5"/>
                    </a:lnTo>
                    <a:lnTo>
                      <a:pt x="405" y="5"/>
                    </a:lnTo>
                    <a:lnTo>
                      <a:pt x="410" y="7"/>
                    </a:lnTo>
                    <a:lnTo>
                      <a:pt x="415" y="7"/>
                    </a:lnTo>
                    <a:lnTo>
                      <a:pt x="421" y="7"/>
                    </a:lnTo>
                    <a:lnTo>
                      <a:pt x="425" y="8"/>
                    </a:lnTo>
                    <a:lnTo>
                      <a:pt x="430" y="8"/>
                    </a:lnTo>
                    <a:lnTo>
                      <a:pt x="434" y="8"/>
                    </a:lnTo>
                    <a:lnTo>
                      <a:pt x="437" y="9"/>
                    </a:lnTo>
                    <a:lnTo>
                      <a:pt x="441" y="9"/>
                    </a:lnTo>
                    <a:lnTo>
                      <a:pt x="444" y="8"/>
                    </a:lnTo>
                    <a:lnTo>
                      <a:pt x="446" y="8"/>
                    </a:lnTo>
                    <a:lnTo>
                      <a:pt x="448" y="7"/>
                    </a:lnTo>
                    <a:lnTo>
                      <a:pt x="450" y="7"/>
                    </a:lnTo>
                    <a:lnTo>
                      <a:pt x="452" y="5"/>
                    </a:lnTo>
                    <a:lnTo>
                      <a:pt x="453" y="3"/>
                    </a:lnTo>
                    <a:lnTo>
                      <a:pt x="456" y="1"/>
                    </a:lnTo>
                    <a:lnTo>
                      <a:pt x="457" y="0"/>
                    </a:lnTo>
                    <a:lnTo>
                      <a:pt x="460" y="0"/>
                    </a:lnTo>
                    <a:lnTo>
                      <a:pt x="464" y="0"/>
                    </a:lnTo>
                    <a:lnTo>
                      <a:pt x="467" y="1"/>
                    </a:lnTo>
                    <a:lnTo>
                      <a:pt x="468" y="3"/>
                    </a:lnTo>
                    <a:lnTo>
                      <a:pt x="469" y="4"/>
                    </a:lnTo>
                    <a:lnTo>
                      <a:pt x="472" y="7"/>
                    </a:lnTo>
                    <a:lnTo>
                      <a:pt x="473" y="8"/>
                    </a:lnTo>
                    <a:lnTo>
                      <a:pt x="475" y="11"/>
                    </a:lnTo>
                    <a:lnTo>
                      <a:pt x="477" y="9"/>
                    </a:lnTo>
                    <a:lnTo>
                      <a:pt x="482" y="9"/>
                    </a:lnTo>
                    <a:lnTo>
                      <a:pt x="486" y="9"/>
                    </a:lnTo>
                    <a:lnTo>
                      <a:pt x="490" y="11"/>
                    </a:lnTo>
                    <a:lnTo>
                      <a:pt x="495" y="11"/>
                    </a:lnTo>
                    <a:lnTo>
                      <a:pt x="498" y="11"/>
                    </a:lnTo>
                    <a:lnTo>
                      <a:pt x="499" y="12"/>
                    </a:lnTo>
                    <a:lnTo>
                      <a:pt x="502" y="13"/>
                    </a:lnTo>
                    <a:lnTo>
                      <a:pt x="504" y="13"/>
                    </a:lnTo>
                    <a:lnTo>
                      <a:pt x="507" y="13"/>
                    </a:lnTo>
                    <a:lnTo>
                      <a:pt x="511" y="13"/>
                    </a:lnTo>
                    <a:lnTo>
                      <a:pt x="515" y="15"/>
                    </a:lnTo>
                    <a:lnTo>
                      <a:pt x="518" y="15"/>
                    </a:lnTo>
                    <a:lnTo>
                      <a:pt x="522" y="16"/>
                    </a:lnTo>
                    <a:lnTo>
                      <a:pt x="525" y="17"/>
                    </a:lnTo>
                    <a:lnTo>
                      <a:pt x="529" y="17"/>
                    </a:lnTo>
                    <a:lnTo>
                      <a:pt x="531" y="20"/>
                    </a:lnTo>
                    <a:lnTo>
                      <a:pt x="535" y="23"/>
                    </a:lnTo>
                    <a:lnTo>
                      <a:pt x="538" y="24"/>
                    </a:lnTo>
                    <a:lnTo>
                      <a:pt x="542" y="27"/>
                    </a:lnTo>
                    <a:lnTo>
                      <a:pt x="545" y="28"/>
                    </a:lnTo>
                    <a:lnTo>
                      <a:pt x="549" y="31"/>
                    </a:lnTo>
                    <a:lnTo>
                      <a:pt x="552" y="34"/>
                    </a:lnTo>
                    <a:lnTo>
                      <a:pt x="556" y="36"/>
                    </a:lnTo>
                    <a:lnTo>
                      <a:pt x="558" y="39"/>
                    </a:lnTo>
                    <a:lnTo>
                      <a:pt x="561" y="42"/>
                    </a:lnTo>
                    <a:lnTo>
                      <a:pt x="564" y="44"/>
                    </a:lnTo>
                    <a:lnTo>
                      <a:pt x="568" y="47"/>
                    </a:lnTo>
                    <a:lnTo>
                      <a:pt x="571" y="49"/>
                    </a:lnTo>
                    <a:lnTo>
                      <a:pt x="575" y="50"/>
                    </a:lnTo>
                    <a:lnTo>
                      <a:pt x="580" y="51"/>
                    </a:lnTo>
                    <a:lnTo>
                      <a:pt x="585" y="53"/>
                    </a:lnTo>
                    <a:lnTo>
                      <a:pt x="591" y="53"/>
                    </a:lnTo>
                    <a:lnTo>
                      <a:pt x="595" y="54"/>
                    </a:lnTo>
                    <a:lnTo>
                      <a:pt x="599" y="54"/>
                    </a:lnTo>
                    <a:lnTo>
                      <a:pt x="602" y="54"/>
                    </a:lnTo>
                    <a:lnTo>
                      <a:pt x="607" y="53"/>
                    </a:lnTo>
                    <a:lnTo>
                      <a:pt x="611" y="53"/>
                    </a:lnTo>
                    <a:lnTo>
                      <a:pt x="615" y="53"/>
                    </a:lnTo>
                    <a:lnTo>
                      <a:pt x="619" y="51"/>
                    </a:lnTo>
                    <a:lnTo>
                      <a:pt x="623" y="53"/>
                    </a:lnTo>
                    <a:lnTo>
                      <a:pt x="627" y="53"/>
                    </a:lnTo>
                    <a:lnTo>
                      <a:pt x="631" y="54"/>
                    </a:lnTo>
                    <a:lnTo>
                      <a:pt x="635" y="55"/>
                    </a:lnTo>
                    <a:lnTo>
                      <a:pt x="638" y="57"/>
                    </a:lnTo>
                    <a:lnTo>
                      <a:pt x="641" y="59"/>
                    </a:lnTo>
                    <a:lnTo>
                      <a:pt x="642" y="61"/>
                    </a:lnTo>
                    <a:lnTo>
                      <a:pt x="645" y="62"/>
                    </a:lnTo>
                    <a:lnTo>
                      <a:pt x="645" y="65"/>
                    </a:lnTo>
                    <a:lnTo>
                      <a:pt x="646" y="67"/>
                    </a:lnTo>
                    <a:lnTo>
                      <a:pt x="649" y="71"/>
                    </a:lnTo>
                    <a:lnTo>
                      <a:pt x="650" y="74"/>
                    </a:lnTo>
                    <a:lnTo>
                      <a:pt x="653" y="78"/>
                    </a:lnTo>
                    <a:lnTo>
                      <a:pt x="656" y="82"/>
                    </a:lnTo>
                    <a:lnTo>
                      <a:pt x="658" y="86"/>
                    </a:lnTo>
                    <a:lnTo>
                      <a:pt x="661" y="90"/>
                    </a:lnTo>
                    <a:lnTo>
                      <a:pt x="662" y="93"/>
                    </a:lnTo>
                    <a:lnTo>
                      <a:pt x="662" y="97"/>
                    </a:lnTo>
                    <a:lnTo>
                      <a:pt x="664" y="102"/>
                    </a:lnTo>
                    <a:lnTo>
                      <a:pt x="664" y="107"/>
                    </a:lnTo>
                    <a:lnTo>
                      <a:pt x="664" y="111"/>
                    </a:lnTo>
                    <a:lnTo>
                      <a:pt x="662" y="113"/>
                    </a:lnTo>
                    <a:lnTo>
                      <a:pt x="662" y="117"/>
                    </a:lnTo>
                    <a:lnTo>
                      <a:pt x="661" y="121"/>
                    </a:lnTo>
                    <a:lnTo>
                      <a:pt x="660" y="125"/>
                    </a:lnTo>
                    <a:lnTo>
                      <a:pt x="660" y="128"/>
                    </a:lnTo>
                    <a:lnTo>
                      <a:pt x="660" y="132"/>
                    </a:lnTo>
                    <a:lnTo>
                      <a:pt x="661" y="136"/>
                    </a:lnTo>
                    <a:lnTo>
                      <a:pt x="661" y="142"/>
                    </a:lnTo>
                    <a:lnTo>
                      <a:pt x="661" y="147"/>
                    </a:lnTo>
                    <a:lnTo>
                      <a:pt x="660" y="156"/>
                    </a:lnTo>
                    <a:lnTo>
                      <a:pt x="664" y="156"/>
                    </a:lnTo>
                    <a:lnTo>
                      <a:pt x="666" y="158"/>
                    </a:lnTo>
                    <a:lnTo>
                      <a:pt x="669" y="158"/>
                    </a:lnTo>
                    <a:lnTo>
                      <a:pt x="672" y="158"/>
                    </a:lnTo>
                    <a:lnTo>
                      <a:pt x="674" y="159"/>
                    </a:lnTo>
                    <a:lnTo>
                      <a:pt x="677" y="160"/>
                    </a:lnTo>
                    <a:lnTo>
                      <a:pt x="679" y="162"/>
                    </a:lnTo>
                    <a:lnTo>
                      <a:pt x="679" y="165"/>
                    </a:lnTo>
                    <a:lnTo>
                      <a:pt x="679" y="169"/>
                    </a:lnTo>
                    <a:lnTo>
                      <a:pt x="680" y="171"/>
                    </a:lnTo>
                    <a:lnTo>
                      <a:pt x="680" y="175"/>
                    </a:lnTo>
                    <a:lnTo>
                      <a:pt x="680" y="181"/>
                    </a:lnTo>
                    <a:lnTo>
                      <a:pt x="681" y="186"/>
                    </a:lnTo>
                    <a:lnTo>
                      <a:pt x="681" y="192"/>
                    </a:lnTo>
                    <a:lnTo>
                      <a:pt x="681" y="196"/>
                    </a:lnTo>
                    <a:lnTo>
                      <a:pt x="684" y="200"/>
                    </a:lnTo>
                    <a:lnTo>
                      <a:pt x="685" y="204"/>
                    </a:lnTo>
                    <a:lnTo>
                      <a:pt x="689" y="204"/>
                    </a:lnTo>
                    <a:lnTo>
                      <a:pt x="692" y="205"/>
                    </a:lnTo>
                    <a:lnTo>
                      <a:pt x="696" y="205"/>
                    </a:lnTo>
                    <a:lnTo>
                      <a:pt x="700" y="206"/>
                    </a:lnTo>
                    <a:lnTo>
                      <a:pt x="704" y="206"/>
                    </a:lnTo>
                    <a:lnTo>
                      <a:pt x="708" y="208"/>
                    </a:lnTo>
                    <a:lnTo>
                      <a:pt x="714" y="208"/>
                    </a:lnTo>
                    <a:lnTo>
                      <a:pt x="718" y="208"/>
                    </a:lnTo>
                    <a:lnTo>
                      <a:pt x="723" y="208"/>
                    </a:lnTo>
                    <a:lnTo>
                      <a:pt x="728" y="208"/>
                    </a:lnTo>
                    <a:lnTo>
                      <a:pt x="732" y="208"/>
                    </a:lnTo>
                    <a:lnTo>
                      <a:pt x="737" y="208"/>
                    </a:lnTo>
                    <a:lnTo>
                      <a:pt x="741" y="208"/>
                    </a:lnTo>
                    <a:lnTo>
                      <a:pt x="749" y="220"/>
                    </a:lnTo>
                    <a:lnTo>
                      <a:pt x="745" y="224"/>
                    </a:lnTo>
                    <a:lnTo>
                      <a:pt x="742" y="227"/>
                    </a:lnTo>
                    <a:lnTo>
                      <a:pt x="742" y="231"/>
                    </a:lnTo>
                    <a:lnTo>
                      <a:pt x="742" y="233"/>
                    </a:lnTo>
                    <a:lnTo>
                      <a:pt x="741" y="237"/>
                    </a:lnTo>
                    <a:lnTo>
                      <a:pt x="745" y="240"/>
                    </a:lnTo>
                    <a:lnTo>
                      <a:pt x="751" y="245"/>
                    </a:lnTo>
                    <a:lnTo>
                      <a:pt x="753" y="244"/>
                    </a:lnTo>
                    <a:lnTo>
                      <a:pt x="755" y="243"/>
                    </a:lnTo>
                    <a:lnTo>
                      <a:pt x="759" y="243"/>
                    </a:lnTo>
                    <a:lnTo>
                      <a:pt x="762" y="243"/>
                    </a:lnTo>
                    <a:lnTo>
                      <a:pt x="766" y="250"/>
                    </a:lnTo>
                    <a:lnTo>
                      <a:pt x="769" y="256"/>
                    </a:lnTo>
                    <a:lnTo>
                      <a:pt x="774" y="260"/>
                    </a:lnTo>
                    <a:lnTo>
                      <a:pt x="773" y="270"/>
                    </a:lnTo>
                    <a:lnTo>
                      <a:pt x="766" y="274"/>
                    </a:lnTo>
                    <a:lnTo>
                      <a:pt x="758" y="279"/>
                    </a:lnTo>
                    <a:lnTo>
                      <a:pt x="755" y="282"/>
                    </a:lnTo>
                    <a:lnTo>
                      <a:pt x="754" y="283"/>
                    </a:lnTo>
                    <a:lnTo>
                      <a:pt x="751" y="287"/>
                    </a:lnTo>
                    <a:lnTo>
                      <a:pt x="749" y="291"/>
                    </a:lnTo>
                    <a:lnTo>
                      <a:pt x="746" y="293"/>
                    </a:lnTo>
                    <a:lnTo>
                      <a:pt x="743" y="295"/>
                    </a:lnTo>
                    <a:lnTo>
                      <a:pt x="739" y="297"/>
                    </a:lnTo>
                    <a:lnTo>
                      <a:pt x="737" y="299"/>
                    </a:lnTo>
                    <a:lnTo>
                      <a:pt x="734" y="304"/>
                    </a:lnTo>
                    <a:lnTo>
                      <a:pt x="731" y="306"/>
                    </a:lnTo>
                    <a:lnTo>
                      <a:pt x="728" y="309"/>
                    </a:lnTo>
                    <a:lnTo>
                      <a:pt x="730" y="316"/>
                    </a:lnTo>
                    <a:lnTo>
                      <a:pt x="730" y="320"/>
                    </a:lnTo>
                    <a:lnTo>
                      <a:pt x="730" y="324"/>
                    </a:lnTo>
                    <a:lnTo>
                      <a:pt x="730" y="328"/>
                    </a:lnTo>
                    <a:lnTo>
                      <a:pt x="730" y="332"/>
                    </a:lnTo>
                    <a:lnTo>
                      <a:pt x="724" y="335"/>
                    </a:lnTo>
                    <a:lnTo>
                      <a:pt x="724" y="337"/>
                    </a:lnTo>
                    <a:lnTo>
                      <a:pt x="724" y="341"/>
                    </a:lnTo>
                    <a:lnTo>
                      <a:pt x="726" y="344"/>
                    </a:lnTo>
                    <a:lnTo>
                      <a:pt x="726" y="347"/>
                    </a:lnTo>
                    <a:lnTo>
                      <a:pt x="718" y="351"/>
                    </a:lnTo>
                    <a:lnTo>
                      <a:pt x="722" y="356"/>
                    </a:lnTo>
                    <a:lnTo>
                      <a:pt x="720" y="359"/>
                    </a:lnTo>
                    <a:lnTo>
                      <a:pt x="719" y="362"/>
                    </a:lnTo>
                    <a:lnTo>
                      <a:pt x="719" y="363"/>
                    </a:lnTo>
                    <a:lnTo>
                      <a:pt x="718" y="370"/>
                    </a:lnTo>
                    <a:lnTo>
                      <a:pt x="718" y="374"/>
                    </a:lnTo>
                    <a:lnTo>
                      <a:pt x="716" y="378"/>
                    </a:lnTo>
                    <a:lnTo>
                      <a:pt x="718" y="380"/>
                    </a:lnTo>
                    <a:lnTo>
                      <a:pt x="715" y="383"/>
                    </a:lnTo>
                    <a:lnTo>
                      <a:pt x="712" y="387"/>
                    </a:lnTo>
                    <a:lnTo>
                      <a:pt x="711" y="391"/>
                    </a:lnTo>
                    <a:lnTo>
                      <a:pt x="710" y="395"/>
                    </a:lnTo>
                    <a:lnTo>
                      <a:pt x="710" y="399"/>
                    </a:lnTo>
                    <a:lnTo>
                      <a:pt x="710" y="403"/>
                    </a:lnTo>
                    <a:lnTo>
                      <a:pt x="710" y="409"/>
                    </a:lnTo>
                    <a:lnTo>
                      <a:pt x="711" y="413"/>
                    </a:lnTo>
                    <a:lnTo>
                      <a:pt x="712" y="418"/>
                    </a:lnTo>
                    <a:lnTo>
                      <a:pt x="714" y="421"/>
                    </a:lnTo>
                    <a:lnTo>
                      <a:pt x="715" y="424"/>
                    </a:lnTo>
                    <a:lnTo>
                      <a:pt x="716" y="425"/>
                    </a:lnTo>
                    <a:lnTo>
                      <a:pt x="719" y="429"/>
                    </a:lnTo>
                    <a:lnTo>
                      <a:pt x="722" y="433"/>
                    </a:lnTo>
                    <a:lnTo>
                      <a:pt x="724" y="438"/>
                    </a:lnTo>
                    <a:lnTo>
                      <a:pt x="730" y="448"/>
                    </a:lnTo>
                    <a:lnTo>
                      <a:pt x="728" y="452"/>
                    </a:lnTo>
                    <a:lnTo>
                      <a:pt x="728" y="456"/>
                    </a:lnTo>
                    <a:lnTo>
                      <a:pt x="727" y="459"/>
                    </a:lnTo>
                    <a:lnTo>
                      <a:pt x="727" y="461"/>
                    </a:lnTo>
                    <a:lnTo>
                      <a:pt x="723" y="469"/>
                    </a:lnTo>
                    <a:lnTo>
                      <a:pt x="722" y="473"/>
                    </a:lnTo>
                    <a:lnTo>
                      <a:pt x="719" y="479"/>
                    </a:lnTo>
                    <a:lnTo>
                      <a:pt x="719" y="483"/>
                    </a:lnTo>
                    <a:lnTo>
                      <a:pt x="719" y="487"/>
                    </a:lnTo>
                    <a:lnTo>
                      <a:pt x="719" y="491"/>
                    </a:lnTo>
                    <a:lnTo>
                      <a:pt x="722" y="496"/>
                    </a:lnTo>
                    <a:lnTo>
                      <a:pt x="719" y="500"/>
                    </a:lnTo>
                    <a:lnTo>
                      <a:pt x="718" y="503"/>
                    </a:lnTo>
                    <a:lnTo>
                      <a:pt x="716" y="509"/>
                    </a:lnTo>
                    <a:lnTo>
                      <a:pt x="716" y="513"/>
                    </a:lnTo>
                    <a:lnTo>
                      <a:pt x="716" y="518"/>
                    </a:lnTo>
                    <a:lnTo>
                      <a:pt x="716" y="522"/>
                    </a:lnTo>
                    <a:lnTo>
                      <a:pt x="716" y="525"/>
                    </a:lnTo>
                    <a:lnTo>
                      <a:pt x="716" y="529"/>
                    </a:lnTo>
                    <a:lnTo>
                      <a:pt x="715" y="533"/>
                    </a:lnTo>
                    <a:lnTo>
                      <a:pt x="715" y="536"/>
                    </a:lnTo>
                    <a:lnTo>
                      <a:pt x="714" y="538"/>
                    </a:lnTo>
                    <a:lnTo>
                      <a:pt x="712" y="541"/>
                    </a:lnTo>
                    <a:lnTo>
                      <a:pt x="710" y="541"/>
                    </a:lnTo>
                    <a:lnTo>
                      <a:pt x="707" y="541"/>
                    </a:lnTo>
                    <a:lnTo>
                      <a:pt x="704" y="541"/>
                    </a:lnTo>
                    <a:lnTo>
                      <a:pt x="701" y="540"/>
                    </a:lnTo>
                    <a:lnTo>
                      <a:pt x="701" y="537"/>
                    </a:lnTo>
                    <a:lnTo>
                      <a:pt x="700" y="534"/>
                    </a:lnTo>
                    <a:lnTo>
                      <a:pt x="699" y="530"/>
                    </a:lnTo>
                    <a:lnTo>
                      <a:pt x="699" y="523"/>
                    </a:lnTo>
                    <a:lnTo>
                      <a:pt x="693" y="532"/>
                    </a:lnTo>
                    <a:lnTo>
                      <a:pt x="687" y="532"/>
                    </a:lnTo>
                    <a:lnTo>
                      <a:pt x="683" y="532"/>
                    </a:lnTo>
                    <a:lnTo>
                      <a:pt x="683" y="538"/>
                    </a:lnTo>
                    <a:lnTo>
                      <a:pt x="685" y="544"/>
                    </a:lnTo>
                    <a:lnTo>
                      <a:pt x="688" y="546"/>
                    </a:lnTo>
                    <a:lnTo>
                      <a:pt x="691" y="549"/>
                    </a:lnTo>
                    <a:lnTo>
                      <a:pt x="695" y="552"/>
                    </a:lnTo>
                    <a:lnTo>
                      <a:pt x="693" y="556"/>
                    </a:lnTo>
                    <a:lnTo>
                      <a:pt x="693" y="560"/>
                    </a:lnTo>
                    <a:lnTo>
                      <a:pt x="689" y="560"/>
                    </a:lnTo>
                    <a:lnTo>
                      <a:pt x="685" y="560"/>
                    </a:lnTo>
                    <a:lnTo>
                      <a:pt x="681" y="561"/>
                    </a:lnTo>
                    <a:lnTo>
                      <a:pt x="679" y="563"/>
                    </a:lnTo>
                    <a:lnTo>
                      <a:pt x="673" y="563"/>
                    </a:lnTo>
                    <a:lnTo>
                      <a:pt x="670" y="564"/>
                    </a:lnTo>
                    <a:lnTo>
                      <a:pt x="668" y="567"/>
                    </a:lnTo>
                    <a:lnTo>
                      <a:pt x="665" y="569"/>
                    </a:lnTo>
                    <a:lnTo>
                      <a:pt x="661" y="573"/>
                    </a:lnTo>
                    <a:lnTo>
                      <a:pt x="657" y="576"/>
                    </a:lnTo>
                    <a:lnTo>
                      <a:pt x="654" y="580"/>
                    </a:lnTo>
                    <a:lnTo>
                      <a:pt x="650" y="583"/>
                    </a:lnTo>
                    <a:lnTo>
                      <a:pt x="646" y="585"/>
                    </a:lnTo>
                    <a:lnTo>
                      <a:pt x="641" y="590"/>
                    </a:lnTo>
                    <a:lnTo>
                      <a:pt x="638" y="591"/>
                    </a:lnTo>
                    <a:lnTo>
                      <a:pt x="635" y="595"/>
                    </a:lnTo>
                    <a:lnTo>
                      <a:pt x="631" y="599"/>
                    </a:lnTo>
                    <a:lnTo>
                      <a:pt x="629" y="602"/>
                    </a:lnTo>
                    <a:lnTo>
                      <a:pt x="625" y="606"/>
                    </a:lnTo>
                    <a:lnTo>
                      <a:pt x="622" y="610"/>
                    </a:lnTo>
                    <a:lnTo>
                      <a:pt x="619" y="612"/>
                    </a:lnTo>
                    <a:lnTo>
                      <a:pt x="620" y="614"/>
                    </a:lnTo>
                    <a:lnTo>
                      <a:pt x="618" y="616"/>
                    </a:lnTo>
                    <a:lnTo>
                      <a:pt x="615" y="619"/>
                    </a:lnTo>
                    <a:lnTo>
                      <a:pt x="612" y="623"/>
                    </a:lnTo>
                    <a:lnTo>
                      <a:pt x="608" y="629"/>
                    </a:lnTo>
                    <a:lnTo>
                      <a:pt x="606" y="634"/>
                    </a:lnTo>
                    <a:lnTo>
                      <a:pt x="602" y="639"/>
                    </a:lnTo>
                    <a:lnTo>
                      <a:pt x="599" y="643"/>
                    </a:lnTo>
                    <a:lnTo>
                      <a:pt x="598" y="648"/>
                    </a:lnTo>
                    <a:lnTo>
                      <a:pt x="595" y="650"/>
                    </a:lnTo>
                    <a:lnTo>
                      <a:pt x="592" y="653"/>
                    </a:lnTo>
                    <a:lnTo>
                      <a:pt x="589" y="657"/>
                    </a:lnTo>
                    <a:lnTo>
                      <a:pt x="585" y="661"/>
                    </a:lnTo>
                    <a:lnTo>
                      <a:pt x="580" y="664"/>
                    </a:lnTo>
                    <a:lnTo>
                      <a:pt x="580" y="669"/>
                    </a:lnTo>
                    <a:lnTo>
                      <a:pt x="579" y="675"/>
                    </a:lnTo>
                    <a:lnTo>
                      <a:pt x="577" y="680"/>
                    </a:lnTo>
                    <a:lnTo>
                      <a:pt x="575" y="685"/>
                    </a:lnTo>
                    <a:lnTo>
                      <a:pt x="573" y="692"/>
                    </a:lnTo>
                    <a:lnTo>
                      <a:pt x="571" y="697"/>
                    </a:lnTo>
                    <a:lnTo>
                      <a:pt x="569" y="703"/>
                    </a:lnTo>
                    <a:lnTo>
                      <a:pt x="567" y="710"/>
                    </a:lnTo>
                    <a:lnTo>
                      <a:pt x="562" y="719"/>
                    </a:lnTo>
                    <a:lnTo>
                      <a:pt x="560" y="724"/>
                    </a:lnTo>
                    <a:lnTo>
                      <a:pt x="556" y="728"/>
                    </a:lnTo>
                    <a:lnTo>
                      <a:pt x="553" y="733"/>
                    </a:lnTo>
                    <a:lnTo>
                      <a:pt x="548" y="737"/>
                    </a:lnTo>
                    <a:lnTo>
                      <a:pt x="542" y="743"/>
                    </a:lnTo>
                    <a:lnTo>
                      <a:pt x="538" y="749"/>
                    </a:lnTo>
                    <a:lnTo>
                      <a:pt x="534" y="753"/>
                    </a:lnTo>
                    <a:lnTo>
                      <a:pt x="531" y="757"/>
                    </a:lnTo>
                    <a:lnTo>
                      <a:pt x="527" y="761"/>
                    </a:lnTo>
                    <a:lnTo>
                      <a:pt x="523" y="766"/>
                    </a:lnTo>
                    <a:lnTo>
                      <a:pt x="519" y="772"/>
                    </a:lnTo>
                    <a:lnTo>
                      <a:pt x="517" y="776"/>
                    </a:lnTo>
                    <a:lnTo>
                      <a:pt x="513" y="781"/>
                    </a:lnTo>
                    <a:lnTo>
                      <a:pt x="510" y="786"/>
                    </a:lnTo>
                    <a:lnTo>
                      <a:pt x="507" y="791"/>
                    </a:lnTo>
                    <a:lnTo>
                      <a:pt x="504" y="795"/>
                    </a:lnTo>
                    <a:lnTo>
                      <a:pt x="500" y="797"/>
                    </a:lnTo>
                    <a:lnTo>
                      <a:pt x="498" y="801"/>
                    </a:lnTo>
                    <a:lnTo>
                      <a:pt x="494" y="804"/>
                    </a:lnTo>
                    <a:lnTo>
                      <a:pt x="491" y="807"/>
                    </a:lnTo>
                    <a:lnTo>
                      <a:pt x="487" y="811"/>
                    </a:lnTo>
                    <a:lnTo>
                      <a:pt x="483" y="813"/>
                    </a:lnTo>
                    <a:lnTo>
                      <a:pt x="477" y="815"/>
                    </a:lnTo>
                    <a:lnTo>
                      <a:pt x="473" y="818"/>
                    </a:lnTo>
                    <a:lnTo>
                      <a:pt x="467" y="820"/>
                    </a:lnTo>
                    <a:lnTo>
                      <a:pt x="461" y="823"/>
                    </a:lnTo>
                    <a:lnTo>
                      <a:pt x="457" y="826"/>
                    </a:lnTo>
                    <a:lnTo>
                      <a:pt x="453" y="828"/>
                    </a:lnTo>
                    <a:lnTo>
                      <a:pt x="449" y="832"/>
                    </a:lnTo>
                    <a:lnTo>
                      <a:pt x="445" y="835"/>
                    </a:lnTo>
                    <a:lnTo>
                      <a:pt x="442" y="839"/>
                    </a:lnTo>
                    <a:lnTo>
                      <a:pt x="440" y="842"/>
                    </a:lnTo>
                    <a:lnTo>
                      <a:pt x="436" y="845"/>
                    </a:lnTo>
                    <a:lnTo>
                      <a:pt x="433" y="847"/>
                    </a:lnTo>
                    <a:lnTo>
                      <a:pt x="432" y="850"/>
                    </a:lnTo>
                    <a:lnTo>
                      <a:pt x="423" y="854"/>
                    </a:lnTo>
                    <a:lnTo>
                      <a:pt x="421" y="846"/>
                    </a:lnTo>
                    <a:lnTo>
                      <a:pt x="417" y="840"/>
                    </a:lnTo>
                    <a:lnTo>
                      <a:pt x="414" y="834"/>
                    </a:lnTo>
                    <a:lnTo>
                      <a:pt x="418" y="834"/>
                    </a:lnTo>
                    <a:lnTo>
                      <a:pt x="421" y="832"/>
                    </a:lnTo>
                    <a:lnTo>
                      <a:pt x="438" y="832"/>
                    </a:lnTo>
                    <a:lnTo>
                      <a:pt x="444" y="828"/>
                    </a:lnTo>
                    <a:lnTo>
                      <a:pt x="440" y="823"/>
                    </a:lnTo>
                    <a:lnTo>
                      <a:pt x="442" y="819"/>
                    </a:lnTo>
                    <a:lnTo>
                      <a:pt x="446" y="815"/>
                    </a:lnTo>
                    <a:lnTo>
                      <a:pt x="449" y="809"/>
                    </a:lnTo>
                    <a:lnTo>
                      <a:pt x="457" y="811"/>
                    </a:lnTo>
                    <a:lnTo>
                      <a:pt x="468" y="813"/>
                    </a:lnTo>
                    <a:lnTo>
                      <a:pt x="472" y="809"/>
                    </a:lnTo>
                    <a:lnTo>
                      <a:pt x="476" y="807"/>
                    </a:lnTo>
                    <a:lnTo>
                      <a:pt x="479" y="804"/>
                    </a:lnTo>
                    <a:lnTo>
                      <a:pt x="482" y="800"/>
                    </a:lnTo>
                    <a:lnTo>
                      <a:pt x="483" y="796"/>
                    </a:lnTo>
                    <a:lnTo>
                      <a:pt x="484" y="792"/>
                    </a:lnTo>
                    <a:lnTo>
                      <a:pt x="486" y="786"/>
                    </a:lnTo>
                    <a:lnTo>
                      <a:pt x="486" y="782"/>
                    </a:lnTo>
                    <a:lnTo>
                      <a:pt x="486" y="778"/>
                    </a:lnTo>
                    <a:lnTo>
                      <a:pt x="486" y="772"/>
                    </a:lnTo>
                    <a:lnTo>
                      <a:pt x="490" y="769"/>
                    </a:lnTo>
                    <a:lnTo>
                      <a:pt x="496" y="768"/>
                    </a:lnTo>
                    <a:lnTo>
                      <a:pt x="503" y="765"/>
                    </a:lnTo>
                    <a:lnTo>
                      <a:pt x="506" y="760"/>
                    </a:lnTo>
                    <a:lnTo>
                      <a:pt x="510" y="753"/>
                    </a:lnTo>
                    <a:lnTo>
                      <a:pt x="510" y="747"/>
                    </a:lnTo>
                    <a:lnTo>
                      <a:pt x="510" y="742"/>
                    </a:lnTo>
                    <a:lnTo>
                      <a:pt x="515" y="741"/>
                    </a:lnTo>
                    <a:lnTo>
                      <a:pt x="522" y="741"/>
                    </a:lnTo>
                    <a:lnTo>
                      <a:pt x="522" y="737"/>
                    </a:lnTo>
                    <a:lnTo>
                      <a:pt x="523" y="734"/>
                    </a:lnTo>
                    <a:lnTo>
                      <a:pt x="522" y="730"/>
                    </a:lnTo>
                    <a:lnTo>
                      <a:pt x="523" y="724"/>
                    </a:lnTo>
                    <a:lnTo>
                      <a:pt x="526" y="724"/>
                    </a:lnTo>
                    <a:lnTo>
                      <a:pt x="530" y="724"/>
                    </a:lnTo>
                    <a:lnTo>
                      <a:pt x="531" y="728"/>
                    </a:lnTo>
                    <a:lnTo>
                      <a:pt x="533" y="733"/>
                    </a:lnTo>
                    <a:lnTo>
                      <a:pt x="540" y="735"/>
                    </a:lnTo>
                    <a:lnTo>
                      <a:pt x="541" y="728"/>
                    </a:lnTo>
                    <a:lnTo>
                      <a:pt x="546" y="726"/>
                    </a:lnTo>
                    <a:lnTo>
                      <a:pt x="546" y="708"/>
                    </a:lnTo>
                    <a:lnTo>
                      <a:pt x="541" y="703"/>
                    </a:lnTo>
                    <a:lnTo>
                      <a:pt x="534" y="703"/>
                    </a:lnTo>
                    <a:lnTo>
                      <a:pt x="527" y="707"/>
                    </a:lnTo>
                    <a:lnTo>
                      <a:pt x="523" y="714"/>
                    </a:lnTo>
                    <a:lnTo>
                      <a:pt x="513" y="711"/>
                    </a:lnTo>
                    <a:lnTo>
                      <a:pt x="508" y="700"/>
                    </a:lnTo>
                    <a:lnTo>
                      <a:pt x="504" y="695"/>
                    </a:lnTo>
                    <a:lnTo>
                      <a:pt x="500" y="689"/>
                    </a:lnTo>
                    <a:lnTo>
                      <a:pt x="498" y="685"/>
                    </a:lnTo>
                    <a:lnTo>
                      <a:pt x="495" y="679"/>
                    </a:lnTo>
                    <a:lnTo>
                      <a:pt x="486" y="670"/>
                    </a:lnTo>
                    <a:lnTo>
                      <a:pt x="487" y="680"/>
                    </a:lnTo>
                    <a:lnTo>
                      <a:pt x="490" y="689"/>
                    </a:lnTo>
                    <a:lnTo>
                      <a:pt x="488" y="699"/>
                    </a:lnTo>
                    <a:lnTo>
                      <a:pt x="486" y="706"/>
                    </a:lnTo>
                    <a:lnTo>
                      <a:pt x="488" y="708"/>
                    </a:lnTo>
                    <a:lnTo>
                      <a:pt x="490" y="716"/>
                    </a:lnTo>
                    <a:lnTo>
                      <a:pt x="487" y="722"/>
                    </a:lnTo>
                    <a:lnTo>
                      <a:pt x="484" y="724"/>
                    </a:lnTo>
                    <a:lnTo>
                      <a:pt x="476" y="728"/>
                    </a:lnTo>
                    <a:lnTo>
                      <a:pt x="471" y="731"/>
                    </a:lnTo>
                    <a:lnTo>
                      <a:pt x="471" y="746"/>
                    </a:lnTo>
                    <a:lnTo>
                      <a:pt x="475" y="762"/>
                    </a:lnTo>
                    <a:lnTo>
                      <a:pt x="468" y="768"/>
                    </a:lnTo>
                    <a:lnTo>
                      <a:pt x="467" y="776"/>
                    </a:lnTo>
                    <a:lnTo>
                      <a:pt x="464" y="778"/>
                    </a:lnTo>
                    <a:lnTo>
                      <a:pt x="461" y="781"/>
                    </a:lnTo>
                    <a:lnTo>
                      <a:pt x="456" y="782"/>
                    </a:lnTo>
                    <a:lnTo>
                      <a:pt x="452" y="784"/>
                    </a:lnTo>
                    <a:lnTo>
                      <a:pt x="450" y="789"/>
                    </a:lnTo>
                    <a:lnTo>
                      <a:pt x="449" y="792"/>
                    </a:lnTo>
                    <a:lnTo>
                      <a:pt x="442" y="793"/>
                    </a:lnTo>
                    <a:lnTo>
                      <a:pt x="438" y="795"/>
                    </a:lnTo>
                    <a:lnTo>
                      <a:pt x="434" y="795"/>
                    </a:lnTo>
                    <a:lnTo>
                      <a:pt x="432" y="795"/>
                    </a:lnTo>
                    <a:lnTo>
                      <a:pt x="430" y="800"/>
                    </a:lnTo>
                    <a:lnTo>
                      <a:pt x="429" y="804"/>
                    </a:lnTo>
                    <a:lnTo>
                      <a:pt x="429" y="813"/>
                    </a:lnTo>
                    <a:lnTo>
                      <a:pt x="425" y="815"/>
                    </a:lnTo>
                    <a:lnTo>
                      <a:pt x="421" y="816"/>
                    </a:lnTo>
                    <a:lnTo>
                      <a:pt x="417" y="818"/>
                    </a:lnTo>
                    <a:lnTo>
                      <a:pt x="415" y="820"/>
                    </a:lnTo>
                    <a:lnTo>
                      <a:pt x="413" y="823"/>
                    </a:lnTo>
                    <a:lnTo>
                      <a:pt x="407" y="824"/>
                    </a:lnTo>
                    <a:lnTo>
                      <a:pt x="407" y="835"/>
                    </a:lnTo>
                    <a:lnTo>
                      <a:pt x="405" y="835"/>
                    </a:lnTo>
                    <a:lnTo>
                      <a:pt x="401" y="835"/>
                    </a:lnTo>
                    <a:lnTo>
                      <a:pt x="399" y="838"/>
                    </a:lnTo>
                    <a:lnTo>
                      <a:pt x="399" y="840"/>
                    </a:lnTo>
                    <a:lnTo>
                      <a:pt x="399" y="849"/>
                    </a:lnTo>
                    <a:lnTo>
                      <a:pt x="402" y="850"/>
                    </a:lnTo>
                    <a:lnTo>
                      <a:pt x="407" y="850"/>
                    </a:lnTo>
                    <a:lnTo>
                      <a:pt x="407" y="853"/>
                    </a:lnTo>
                    <a:lnTo>
                      <a:pt x="409" y="855"/>
                    </a:lnTo>
                    <a:lnTo>
                      <a:pt x="409" y="859"/>
                    </a:lnTo>
                    <a:lnTo>
                      <a:pt x="409" y="862"/>
                    </a:lnTo>
                    <a:lnTo>
                      <a:pt x="409" y="866"/>
                    </a:lnTo>
                    <a:lnTo>
                      <a:pt x="407" y="869"/>
                    </a:lnTo>
                    <a:lnTo>
                      <a:pt x="406" y="873"/>
                    </a:lnTo>
                    <a:lnTo>
                      <a:pt x="402" y="881"/>
                    </a:lnTo>
                    <a:lnTo>
                      <a:pt x="398" y="890"/>
                    </a:lnTo>
                    <a:lnTo>
                      <a:pt x="394" y="900"/>
                    </a:lnTo>
                    <a:lnTo>
                      <a:pt x="394" y="912"/>
                    </a:lnTo>
                    <a:lnTo>
                      <a:pt x="392" y="915"/>
                    </a:lnTo>
                    <a:lnTo>
                      <a:pt x="390" y="919"/>
                    </a:lnTo>
                    <a:lnTo>
                      <a:pt x="387" y="923"/>
                    </a:lnTo>
                    <a:lnTo>
                      <a:pt x="384" y="925"/>
                    </a:lnTo>
                    <a:lnTo>
                      <a:pt x="383" y="929"/>
                    </a:lnTo>
                    <a:lnTo>
                      <a:pt x="379" y="932"/>
                    </a:lnTo>
                    <a:lnTo>
                      <a:pt x="376" y="936"/>
                    </a:lnTo>
                    <a:lnTo>
                      <a:pt x="376" y="932"/>
                    </a:lnTo>
                    <a:lnTo>
                      <a:pt x="379" y="927"/>
                    </a:lnTo>
                    <a:lnTo>
                      <a:pt x="382" y="921"/>
                    </a:lnTo>
                    <a:lnTo>
                      <a:pt x="380" y="921"/>
                    </a:lnTo>
                    <a:lnTo>
                      <a:pt x="378" y="920"/>
                    </a:lnTo>
                    <a:lnTo>
                      <a:pt x="375" y="919"/>
                    </a:lnTo>
                    <a:lnTo>
                      <a:pt x="372" y="916"/>
                    </a:lnTo>
                    <a:lnTo>
                      <a:pt x="374" y="913"/>
                    </a:lnTo>
                    <a:lnTo>
                      <a:pt x="375" y="911"/>
                    </a:lnTo>
                    <a:lnTo>
                      <a:pt x="376" y="908"/>
                    </a:lnTo>
                    <a:lnTo>
                      <a:pt x="378" y="907"/>
                    </a:lnTo>
                    <a:lnTo>
                      <a:pt x="379" y="904"/>
                    </a:lnTo>
                    <a:lnTo>
                      <a:pt x="379" y="901"/>
                    </a:lnTo>
                    <a:lnTo>
                      <a:pt x="379" y="896"/>
                    </a:lnTo>
                    <a:lnTo>
                      <a:pt x="379" y="889"/>
                    </a:lnTo>
                    <a:lnTo>
                      <a:pt x="379" y="884"/>
                    </a:lnTo>
                    <a:lnTo>
                      <a:pt x="379" y="878"/>
                    </a:lnTo>
                    <a:lnTo>
                      <a:pt x="379" y="874"/>
                    </a:lnTo>
                    <a:lnTo>
                      <a:pt x="378" y="871"/>
                    </a:lnTo>
                    <a:lnTo>
                      <a:pt x="375" y="869"/>
                    </a:lnTo>
                    <a:lnTo>
                      <a:pt x="374" y="866"/>
                    </a:lnTo>
                    <a:lnTo>
                      <a:pt x="371" y="867"/>
                    </a:lnTo>
                    <a:lnTo>
                      <a:pt x="367" y="870"/>
                    </a:lnTo>
                    <a:lnTo>
                      <a:pt x="364" y="873"/>
                    </a:lnTo>
                    <a:lnTo>
                      <a:pt x="363" y="876"/>
                    </a:lnTo>
                    <a:lnTo>
                      <a:pt x="361" y="880"/>
                    </a:lnTo>
                    <a:lnTo>
                      <a:pt x="360" y="884"/>
                    </a:lnTo>
                    <a:lnTo>
                      <a:pt x="359" y="888"/>
                    </a:lnTo>
                    <a:lnTo>
                      <a:pt x="357" y="892"/>
                    </a:lnTo>
                    <a:lnTo>
                      <a:pt x="355" y="894"/>
                    </a:lnTo>
                    <a:lnTo>
                      <a:pt x="353" y="897"/>
                    </a:lnTo>
                    <a:lnTo>
                      <a:pt x="352" y="900"/>
                    </a:lnTo>
                    <a:lnTo>
                      <a:pt x="348" y="901"/>
                    </a:lnTo>
                    <a:lnTo>
                      <a:pt x="351" y="905"/>
                    </a:lnTo>
                    <a:lnTo>
                      <a:pt x="353" y="908"/>
                    </a:lnTo>
                    <a:lnTo>
                      <a:pt x="352" y="909"/>
                    </a:lnTo>
                    <a:lnTo>
                      <a:pt x="351" y="912"/>
                    </a:lnTo>
                    <a:lnTo>
                      <a:pt x="351" y="915"/>
                    </a:lnTo>
                    <a:lnTo>
                      <a:pt x="353" y="915"/>
                    </a:lnTo>
                    <a:lnTo>
                      <a:pt x="355" y="916"/>
                    </a:lnTo>
                    <a:lnTo>
                      <a:pt x="359" y="917"/>
                    </a:lnTo>
                    <a:lnTo>
                      <a:pt x="361" y="919"/>
                    </a:lnTo>
                    <a:lnTo>
                      <a:pt x="361" y="923"/>
                    </a:lnTo>
                    <a:lnTo>
                      <a:pt x="360" y="928"/>
                    </a:lnTo>
                    <a:lnTo>
                      <a:pt x="359" y="932"/>
                    </a:lnTo>
                    <a:lnTo>
                      <a:pt x="357" y="936"/>
                    </a:lnTo>
                    <a:lnTo>
                      <a:pt x="355" y="942"/>
                    </a:lnTo>
                    <a:lnTo>
                      <a:pt x="353" y="947"/>
                    </a:lnTo>
                    <a:lnTo>
                      <a:pt x="341" y="958"/>
                    </a:lnTo>
                    <a:lnTo>
                      <a:pt x="348" y="955"/>
                    </a:lnTo>
                    <a:lnTo>
                      <a:pt x="351" y="954"/>
                    </a:lnTo>
                    <a:lnTo>
                      <a:pt x="355" y="950"/>
                    </a:lnTo>
                    <a:lnTo>
                      <a:pt x="360" y="947"/>
                    </a:lnTo>
                    <a:lnTo>
                      <a:pt x="364" y="944"/>
                    </a:lnTo>
                    <a:lnTo>
                      <a:pt x="371" y="940"/>
                    </a:lnTo>
                    <a:lnTo>
                      <a:pt x="368" y="946"/>
                    </a:lnTo>
                    <a:lnTo>
                      <a:pt x="365" y="950"/>
                    </a:lnTo>
                    <a:lnTo>
                      <a:pt x="363" y="954"/>
                    </a:lnTo>
                    <a:lnTo>
                      <a:pt x="359" y="958"/>
                    </a:lnTo>
                    <a:lnTo>
                      <a:pt x="357" y="959"/>
                    </a:lnTo>
                    <a:lnTo>
                      <a:pt x="353" y="962"/>
                    </a:lnTo>
                    <a:lnTo>
                      <a:pt x="351" y="965"/>
                    </a:lnTo>
                    <a:lnTo>
                      <a:pt x="347" y="967"/>
                    </a:lnTo>
                    <a:lnTo>
                      <a:pt x="345" y="970"/>
                    </a:lnTo>
                    <a:lnTo>
                      <a:pt x="343" y="973"/>
                    </a:lnTo>
                    <a:lnTo>
                      <a:pt x="338" y="979"/>
                    </a:lnTo>
                    <a:lnTo>
                      <a:pt x="337" y="983"/>
                    </a:lnTo>
                    <a:lnTo>
                      <a:pt x="332" y="988"/>
                    </a:lnTo>
                    <a:lnTo>
                      <a:pt x="325" y="994"/>
                    </a:lnTo>
                    <a:lnTo>
                      <a:pt x="318" y="988"/>
                    </a:lnTo>
                    <a:lnTo>
                      <a:pt x="314" y="982"/>
                    </a:lnTo>
                    <a:lnTo>
                      <a:pt x="314" y="966"/>
                    </a:lnTo>
                    <a:lnTo>
                      <a:pt x="314" y="943"/>
                    </a:lnTo>
                    <a:lnTo>
                      <a:pt x="318" y="939"/>
                    </a:lnTo>
                    <a:lnTo>
                      <a:pt x="321" y="935"/>
                    </a:lnTo>
                    <a:lnTo>
                      <a:pt x="325" y="931"/>
                    </a:lnTo>
                    <a:lnTo>
                      <a:pt x="333" y="928"/>
                    </a:lnTo>
                    <a:lnTo>
                      <a:pt x="343" y="912"/>
                    </a:lnTo>
                    <a:lnTo>
                      <a:pt x="338" y="905"/>
                    </a:lnTo>
                    <a:lnTo>
                      <a:pt x="330" y="897"/>
                    </a:lnTo>
                    <a:lnTo>
                      <a:pt x="325" y="888"/>
                    </a:lnTo>
                    <a:lnTo>
                      <a:pt x="318" y="881"/>
                    </a:lnTo>
                    <a:lnTo>
                      <a:pt x="312" y="874"/>
                    </a:lnTo>
                    <a:lnTo>
                      <a:pt x="293" y="858"/>
                    </a:lnTo>
                    <a:lnTo>
                      <a:pt x="285" y="850"/>
                    </a:lnTo>
                    <a:lnTo>
                      <a:pt x="283" y="846"/>
                    </a:lnTo>
                    <a:lnTo>
                      <a:pt x="280" y="838"/>
                    </a:lnTo>
                    <a:lnTo>
                      <a:pt x="279" y="831"/>
                    </a:lnTo>
                    <a:lnTo>
                      <a:pt x="266" y="819"/>
                    </a:lnTo>
                    <a:lnTo>
                      <a:pt x="249" y="804"/>
                    </a:lnTo>
                    <a:lnTo>
                      <a:pt x="239" y="803"/>
                    </a:lnTo>
                    <a:lnTo>
                      <a:pt x="229" y="801"/>
                    </a:lnTo>
                    <a:lnTo>
                      <a:pt x="220" y="788"/>
                    </a:lnTo>
                    <a:lnTo>
                      <a:pt x="209" y="774"/>
                    </a:lnTo>
                    <a:lnTo>
                      <a:pt x="201" y="770"/>
                    </a:lnTo>
                    <a:lnTo>
                      <a:pt x="191" y="766"/>
                    </a:lnTo>
                    <a:lnTo>
                      <a:pt x="186" y="766"/>
                    </a:lnTo>
                    <a:lnTo>
                      <a:pt x="181" y="768"/>
                    </a:lnTo>
                    <a:lnTo>
                      <a:pt x="174" y="757"/>
                    </a:lnTo>
                    <a:lnTo>
                      <a:pt x="171" y="750"/>
                    </a:lnTo>
                    <a:lnTo>
                      <a:pt x="160" y="742"/>
                    </a:lnTo>
                    <a:lnTo>
                      <a:pt x="141" y="727"/>
                    </a:lnTo>
                    <a:lnTo>
                      <a:pt x="123" y="727"/>
                    </a:lnTo>
                    <a:lnTo>
                      <a:pt x="105" y="712"/>
                    </a:lnTo>
                    <a:lnTo>
                      <a:pt x="94" y="701"/>
                    </a:lnTo>
                    <a:lnTo>
                      <a:pt x="86" y="696"/>
                    </a:lnTo>
                    <a:lnTo>
                      <a:pt x="70" y="684"/>
                    </a:lnTo>
                    <a:lnTo>
                      <a:pt x="63" y="676"/>
                    </a:lnTo>
                    <a:lnTo>
                      <a:pt x="52" y="661"/>
                    </a:lnTo>
                    <a:lnTo>
                      <a:pt x="48" y="656"/>
                    </a:lnTo>
                    <a:lnTo>
                      <a:pt x="36" y="665"/>
                    </a:lnTo>
                    <a:lnTo>
                      <a:pt x="16" y="685"/>
                    </a:lnTo>
                    <a:lnTo>
                      <a:pt x="0" y="688"/>
                    </a:lnTo>
                    <a:lnTo>
                      <a:pt x="17" y="650"/>
                    </a:lnTo>
                    <a:lnTo>
                      <a:pt x="24" y="645"/>
                    </a:lnTo>
                    <a:lnTo>
                      <a:pt x="77" y="600"/>
                    </a:lnTo>
                    <a:lnTo>
                      <a:pt x="81" y="587"/>
                    </a:lnTo>
                    <a:lnTo>
                      <a:pt x="101" y="575"/>
                    </a:lnTo>
                    <a:lnTo>
                      <a:pt x="102" y="557"/>
                    </a:lnTo>
                    <a:lnTo>
                      <a:pt x="137" y="518"/>
                    </a:lnTo>
                    <a:lnTo>
                      <a:pt x="160" y="517"/>
                    </a:lnTo>
                    <a:lnTo>
                      <a:pt x="164" y="503"/>
                    </a:lnTo>
                    <a:lnTo>
                      <a:pt x="156" y="498"/>
                    </a:lnTo>
                    <a:lnTo>
                      <a:pt x="162" y="487"/>
                    </a:lnTo>
                    <a:lnTo>
                      <a:pt x="173" y="487"/>
                    </a:lnTo>
                    <a:lnTo>
                      <a:pt x="210" y="455"/>
                    </a:lnTo>
                    <a:lnTo>
                      <a:pt x="222" y="440"/>
                    </a:lnTo>
                    <a:lnTo>
                      <a:pt x="258" y="429"/>
                    </a:lnTo>
                    <a:lnTo>
                      <a:pt x="285" y="413"/>
                    </a:lnTo>
                    <a:lnTo>
                      <a:pt x="305" y="410"/>
                    </a:lnTo>
                    <a:lnTo>
                      <a:pt x="313" y="409"/>
                    </a:lnTo>
                    <a:lnTo>
                      <a:pt x="320" y="407"/>
                    </a:lnTo>
                    <a:lnTo>
                      <a:pt x="320" y="402"/>
                    </a:lnTo>
                    <a:lnTo>
                      <a:pt x="320" y="397"/>
                    </a:lnTo>
                    <a:lnTo>
                      <a:pt x="318" y="390"/>
                    </a:lnTo>
                    <a:lnTo>
                      <a:pt x="318" y="386"/>
                    </a:lnTo>
                    <a:lnTo>
                      <a:pt x="321" y="382"/>
                    </a:lnTo>
                    <a:lnTo>
                      <a:pt x="322" y="378"/>
                    </a:lnTo>
                    <a:lnTo>
                      <a:pt x="324" y="375"/>
                    </a:lnTo>
                    <a:lnTo>
                      <a:pt x="329" y="368"/>
                    </a:lnTo>
                    <a:lnTo>
                      <a:pt x="322" y="359"/>
                    </a:lnTo>
                    <a:lnTo>
                      <a:pt x="321" y="355"/>
                    </a:lnTo>
                    <a:lnTo>
                      <a:pt x="320" y="349"/>
                    </a:lnTo>
                    <a:lnTo>
                      <a:pt x="318" y="347"/>
                    </a:lnTo>
                    <a:lnTo>
                      <a:pt x="320" y="341"/>
                    </a:lnTo>
                    <a:lnTo>
                      <a:pt x="320" y="337"/>
                    </a:lnTo>
                    <a:lnTo>
                      <a:pt x="317" y="330"/>
                    </a:lnTo>
                    <a:lnTo>
                      <a:pt x="316" y="320"/>
                    </a:lnTo>
                    <a:lnTo>
                      <a:pt x="310" y="313"/>
                    </a:lnTo>
                    <a:lnTo>
                      <a:pt x="310" y="309"/>
                    </a:lnTo>
                    <a:lnTo>
                      <a:pt x="309" y="304"/>
                    </a:lnTo>
                    <a:lnTo>
                      <a:pt x="309" y="298"/>
                    </a:lnTo>
                    <a:lnTo>
                      <a:pt x="307" y="294"/>
                    </a:lnTo>
                    <a:lnTo>
                      <a:pt x="307" y="290"/>
                    </a:lnTo>
                    <a:lnTo>
                      <a:pt x="302" y="287"/>
                    </a:lnTo>
                    <a:lnTo>
                      <a:pt x="298" y="285"/>
                    </a:lnTo>
                    <a:lnTo>
                      <a:pt x="297" y="281"/>
                    </a:lnTo>
                    <a:lnTo>
                      <a:pt x="294" y="277"/>
                    </a:lnTo>
                    <a:lnTo>
                      <a:pt x="291" y="275"/>
                    </a:lnTo>
                    <a:lnTo>
                      <a:pt x="283" y="270"/>
                    </a:lnTo>
                    <a:lnTo>
                      <a:pt x="280" y="270"/>
                    </a:lnTo>
                    <a:lnTo>
                      <a:pt x="276" y="270"/>
                    </a:lnTo>
                    <a:lnTo>
                      <a:pt x="272" y="271"/>
                    </a:lnTo>
                    <a:lnTo>
                      <a:pt x="266" y="270"/>
                    </a:lnTo>
                    <a:lnTo>
                      <a:pt x="258" y="275"/>
                    </a:lnTo>
                    <a:lnTo>
                      <a:pt x="258" y="256"/>
                    </a:lnTo>
                    <a:lnTo>
                      <a:pt x="260" y="252"/>
                    </a:lnTo>
                    <a:lnTo>
                      <a:pt x="262" y="248"/>
                    </a:lnTo>
                    <a:lnTo>
                      <a:pt x="264" y="243"/>
                    </a:lnTo>
                    <a:lnTo>
                      <a:pt x="266" y="239"/>
                    </a:lnTo>
                    <a:lnTo>
                      <a:pt x="268" y="236"/>
                    </a:lnTo>
                    <a:lnTo>
                      <a:pt x="270" y="231"/>
                    </a:lnTo>
                    <a:lnTo>
                      <a:pt x="270" y="219"/>
                    </a:lnTo>
                    <a:lnTo>
                      <a:pt x="271" y="208"/>
                    </a:lnTo>
                    <a:lnTo>
                      <a:pt x="272" y="205"/>
                    </a:lnTo>
                    <a:lnTo>
                      <a:pt x="275" y="200"/>
                    </a:lnTo>
                    <a:lnTo>
                      <a:pt x="278" y="196"/>
                    </a:lnTo>
                    <a:lnTo>
                      <a:pt x="280" y="189"/>
                    </a:lnTo>
                    <a:lnTo>
                      <a:pt x="282" y="182"/>
                    </a:lnTo>
                    <a:lnTo>
                      <a:pt x="283" y="177"/>
                    </a:lnTo>
                    <a:lnTo>
                      <a:pt x="285" y="171"/>
                    </a:lnTo>
                    <a:lnTo>
                      <a:pt x="286" y="160"/>
                    </a:lnTo>
                    <a:lnTo>
                      <a:pt x="285" y="156"/>
                    </a:lnTo>
                    <a:lnTo>
                      <a:pt x="283" y="152"/>
                    </a:lnTo>
                    <a:lnTo>
                      <a:pt x="285" y="147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6350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pt-BR" sz="1200">
                  <a:latin typeface="Source Serif Pro" panose="02040603050405020204" pitchFamily="18" charset="0"/>
                  <a:ea typeface="Source Serif Pro" panose="02040603050405020204" pitchFamily="18" charset="0"/>
                </a:endParaRPr>
              </a:p>
            </p:txBody>
          </p:sp>
          <p:sp>
            <p:nvSpPr>
              <p:cNvPr id="19" name="Freeform 15">
                <a:extLst>
                  <a:ext uri="{FF2B5EF4-FFF2-40B4-BE49-F238E27FC236}">
                    <a16:creationId xmlns:a16="http://schemas.microsoft.com/office/drawing/2014/main" id="{30EC61A5-97BB-6EB6-6BF3-E7B89FEBFD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180" y="2288"/>
                <a:ext cx="1139" cy="945"/>
              </a:xfrm>
              <a:custGeom>
                <a:avLst/>
                <a:gdLst/>
                <a:ahLst/>
                <a:cxnLst>
                  <a:cxn ang="0">
                    <a:pos x="1094" y="374"/>
                  </a:cxn>
                  <a:cxn ang="0">
                    <a:pos x="1074" y="320"/>
                  </a:cxn>
                  <a:cxn ang="0">
                    <a:pos x="1069" y="278"/>
                  </a:cxn>
                  <a:cxn ang="0">
                    <a:pos x="1092" y="262"/>
                  </a:cxn>
                  <a:cxn ang="0">
                    <a:pos x="1120" y="220"/>
                  </a:cxn>
                  <a:cxn ang="0">
                    <a:pos x="1119" y="184"/>
                  </a:cxn>
                  <a:cxn ang="0">
                    <a:pos x="1074" y="165"/>
                  </a:cxn>
                  <a:cxn ang="0">
                    <a:pos x="1020" y="153"/>
                  </a:cxn>
                  <a:cxn ang="0">
                    <a:pos x="1000" y="116"/>
                  </a:cxn>
                  <a:cxn ang="0">
                    <a:pos x="961" y="99"/>
                  </a:cxn>
                  <a:cxn ang="0">
                    <a:pos x="924" y="73"/>
                  </a:cxn>
                  <a:cxn ang="0">
                    <a:pos x="896" y="48"/>
                  </a:cxn>
                  <a:cxn ang="0">
                    <a:pos x="816" y="15"/>
                  </a:cxn>
                  <a:cxn ang="0">
                    <a:pos x="747" y="4"/>
                  </a:cxn>
                  <a:cxn ang="0">
                    <a:pos x="700" y="34"/>
                  </a:cxn>
                  <a:cxn ang="0">
                    <a:pos x="661" y="57"/>
                  </a:cxn>
                  <a:cxn ang="0">
                    <a:pos x="626" y="65"/>
                  </a:cxn>
                  <a:cxn ang="0">
                    <a:pos x="592" y="25"/>
                  </a:cxn>
                  <a:cxn ang="0">
                    <a:pos x="561" y="60"/>
                  </a:cxn>
                  <a:cxn ang="0">
                    <a:pos x="545" y="134"/>
                  </a:cxn>
                  <a:cxn ang="0">
                    <a:pos x="506" y="169"/>
                  </a:cxn>
                  <a:cxn ang="0">
                    <a:pos x="499" y="232"/>
                  </a:cxn>
                  <a:cxn ang="0">
                    <a:pos x="501" y="308"/>
                  </a:cxn>
                  <a:cxn ang="0">
                    <a:pos x="445" y="351"/>
                  </a:cxn>
                  <a:cxn ang="0">
                    <a:pos x="348" y="348"/>
                  </a:cxn>
                  <a:cxn ang="0">
                    <a:pos x="298" y="352"/>
                  </a:cxn>
                  <a:cxn ang="0">
                    <a:pos x="260" y="359"/>
                  </a:cxn>
                  <a:cxn ang="0">
                    <a:pos x="228" y="392"/>
                  </a:cxn>
                  <a:cxn ang="0">
                    <a:pos x="194" y="431"/>
                  </a:cxn>
                  <a:cxn ang="0">
                    <a:pos x="190" y="467"/>
                  </a:cxn>
                  <a:cxn ang="0">
                    <a:pos x="165" y="491"/>
                  </a:cxn>
                  <a:cxn ang="0">
                    <a:pos x="148" y="525"/>
                  </a:cxn>
                  <a:cxn ang="0">
                    <a:pos x="120" y="556"/>
                  </a:cxn>
                  <a:cxn ang="0">
                    <a:pos x="104" y="591"/>
                  </a:cxn>
                  <a:cxn ang="0">
                    <a:pos x="78" y="624"/>
                  </a:cxn>
                  <a:cxn ang="0">
                    <a:pos x="50" y="655"/>
                  </a:cxn>
                  <a:cxn ang="0">
                    <a:pos x="11" y="682"/>
                  </a:cxn>
                  <a:cxn ang="0">
                    <a:pos x="27" y="686"/>
                  </a:cxn>
                  <a:cxn ang="0">
                    <a:pos x="90" y="684"/>
                  </a:cxn>
                  <a:cxn ang="0">
                    <a:pos x="144" y="696"/>
                  </a:cxn>
                  <a:cxn ang="0">
                    <a:pos x="201" y="730"/>
                  </a:cxn>
                  <a:cxn ang="0">
                    <a:pos x="256" y="734"/>
                  </a:cxn>
                  <a:cxn ang="0">
                    <a:pos x="283" y="783"/>
                  </a:cxn>
                  <a:cxn ang="0">
                    <a:pos x="281" y="834"/>
                  </a:cxn>
                  <a:cxn ang="0">
                    <a:pos x="301" y="861"/>
                  </a:cxn>
                  <a:cxn ang="0">
                    <a:pos x="344" y="887"/>
                  </a:cxn>
                  <a:cxn ang="0">
                    <a:pos x="395" y="939"/>
                  </a:cxn>
                  <a:cxn ang="0">
                    <a:pos x="429" y="910"/>
                  </a:cxn>
                  <a:cxn ang="0">
                    <a:pos x="483" y="884"/>
                  </a:cxn>
                  <a:cxn ang="0">
                    <a:pos x="567" y="833"/>
                  </a:cxn>
                  <a:cxn ang="0">
                    <a:pos x="617" y="827"/>
                  </a:cxn>
                  <a:cxn ang="0">
                    <a:pos x="667" y="799"/>
                  </a:cxn>
                  <a:cxn ang="0">
                    <a:pos x="730" y="776"/>
                  </a:cxn>
                  <a:cxn ang="0">
                    <a:pos x="780" y="779"/>
                  </a:cxn>
                  <a:cxn ang="0">
                    <a:pos x="819" y="765"/>
                  </a:cxn>
                  <a:cxn ang="0">
                    <a:pos x="873" y="779"/>
                  </a:cxn>
                  <a:cxn ang="0">
                    <a:pos x="928" y="749"/>
                  </a:cxn>
                  <a:cxn ang="0">
                    <a:pos x="1000" y="718"/>
                  </a:cxn>
                  <a:cxn ang="0">
                    <a:pos x="1005" y="644"/>
                  </a:cxn>
                  <a:cxn ang="0">
                    <a:pos x="1054" y="597"/>
                  </a:cxn>
                  <a:cxn ang="0">
                    <a:pos x="1088" y="543"/>
                  </a:cxn>
                  <a:cxn ang="0">
                    <a:pos x="1125" y="504"/>
                  </a:cxn>
                  <a:cxn ang="0">
                    <a:pos x="1140" y="423"/>
                  </a:cxn>
                </a:cxnLst>
                <a:rect l="0" t="0" r="r" b="b"/>
                <a:pathLst>
                  <a:path w="1141" h="947">
                    <a:moveTo>
                      <a:pt x="1141" y="405"/>
                    </a:moveTo>
                    <a:lnTo>
                      <a:pt x="1136" y="402"/>
                    </a:lnTo>
                    <a:lnTo>
                      <a:pt x="1132" y="402"/>
                    </a:lnTo>
                    <a:lnTo>
                      <a:pt x="1129" y="400"/>
                    </a:lnTo>
                    <a:lnTo>
                      <a:pt x="1127" y="397"/>
                    </a:lnTo>
                    <a:lnTo>
                      <a:pt x="1125" y="394"/>
                    </a:lnTo>
                    <a:lnTo>
                      <a:pt x="1123" y="393"/>
                    </a:lnTo>
                    <a:lnTo>
                      <a:pt x="1121" y="390"/>
                    </a:lnTo>
                    <a:lnTo>
                      <a:pt x="1119" y="388"/>
                    </a:lnTo>
                    <a:lnTo>
                      <a:pt x="1113" y="385"/>
                    </a:lnTo>
                    <a:lnTo>
                      <a:pt x="1106" y="382"/>
                    </a:lnTo>
                    <a:lnTo>
                      <a:pt x="1098" y="377"/>
                    </a:lnTo>
                    <a:lnTo>
                      <a:pt x="1094" y="374"/>
                    </a:lnTo>
                    <a:lnTo>
                      <a:pt x="1092" y="369"/>
                    </a:lnTo>
                    <a:lnTo>
                      <a:pt x="1089" y="362"/>
                    </a:lnTo>
                    <a:lnTo>
                      <a:pt x="1085" y="361"/>
                    </a:lnTo>
                    <a:lnTo>
                      <a:pt x="1090" y="358"/>
                    </a:lnTo>
                    <a:lnTo>
                      <a:pt x="1089" y="354"/>
                    </a:lnTo>
                    <a:lnTo>
                      <a:pt x="1090" y="348"/>
                    </a:lnTo>
                    <a:lnTo>
                      <a:pt x="1090" y="344"/>
                    </a:lnTo>
                    <a:lnTo>
                      <a:pt x="1089" y="339"/>
                    </a:lnTo>
                    <a:lnTo>
                      <a:pt x="1081" y="338"/>
                    </a:lnTo>
                    <a:lnTo>
                      <a:pt x="1078" y="334"/>
                    </a:lnTo>
                    <a:lnTo>
                      <a:pt x="1074" y="330"/>
                    </a:lnTo>
                    <a:lnTo>
                      <a:pt x="1074" y="325"/>
                    </a:lnTo>
                    <a:lnTo>
                      <a:pt x="1074" y="320"/>
                    </a:lnTo>
                    <a:lnTo>
                      <a:pt x="1063" y="316"/>
                    </a:lnTo>
                    <a:lnTo>
                      <a:pt x="1063" y="315"/>
                    </a:lnTo>
                    <a:lnTo>
                      <a:pt x="1063" y="311"/>
                    </a:lnTo>
                    <a:lnTo>
                      <a:pt x="1063" y="308"/>
                    </a:lnTo>
                    <a:lnTo>
                      <a:pt x="1062" y="304"/>
                    </a:lnTo>
                    <a:lnTo>
                      <a:pt x="1062" y="301"/>
                    </a:lnTo>
                    <a:lnTo>
                      <a:pt x="1062" y="297"/>
                    </a:lnTo>
                    <a:lnTo>
                      <a:pt x="1062" y="293"/>
                    </a:lnTo>
                    <a:lnTo>
                      <a:pt x="1063" y="289"/>
                    </a:lnTo>
                    <a:lnTo>
                      <a:pt x="1065" y="286"/>
                    </a:lnTo>
                    <a:lnTo>
                      <a:pt x="1066" y="284"/>
                    </a:lnTo>
                    <a:lnTo>
                      <a:pt x="1067" y="280"/>
                    </a:lnTo>
                    <a:lnTo>
                      <a:pt x="1069" y="278"/>
                    </a:lnTo>
                    <a:lnTo>
                      <a:pt x="1069" y="276"/>
                    </a:lnTo>
                    <a:lnTo>
                      <a:pt x="1069" y="274"/>
                    </a:lnTo>
                    <a:lnTo>
                      <a:pt x="1069" y="272"/>
                    </a:lnTo>
                    <a:lnTo>
                      <a:pt x="1071" y="272"/>
                    </a:lnTo>
                    <a:lnTo>
                      <a:pt x="1073" y="272"/>
                    </a:lnTo>
                    <a:lnTo>
                      <a:pt x="1075" y="273"/>
                    </a:lnTo>
                    <a:lnTo>
                      <a:pt x="1079" y="273"/>
                    </a:lnTo>
                    <a:lnTo>
                      <a:pt x="1082" y="273"/>
                    </a:lnTo>
                    <a:lnTo>
                      <a:pt x="1089" y="273"/>
                    </a:lnTo>
                    <a:lnTo>
                      <a:pt x="1094" y="273"/>
                    </a:lnTo>
                    <a:lnTo>
                      <a:pt x="1093" y="270"/>
                    </a:lnTo>
                    <a:lnTo>
                      <a:pt x="1093" y="266"/>
                    </a:lnTo>
                    <a:lnTo>
                      <a:pt x="1092" y="262"/>
                    </a:lnTo>
                    <a:lnTo>
                      <a:pt x="1092" y="259"/>
                    </a:lnTo>
                    <a:lnTo>
                      <a:pt x="1093" y="254"/>
                    </a:lnTo>
                    <a:lnTo>
                      <a:pt x="1093" y="250"/>
                    </a:lnTo>
                    <a:lnTo>
                      <a:pt x="1093" y="246"/>
                    </a:lnTo>
                    <a:lnTo>
                      <a:pt x="1093" y="243"/>
                    </a:lnTo>
                    <a:lnTo>
                      <a:pt x="1098" y="243"/>
                    </a:lnTo>
                    <a:lnTo>
                      <a:pt x="1106" y="243"/>
                    </a:lnTo>
                    <a:lnTo>
                      <a:pt x="1108" y="239"/>
                    </a:lnTo>
                    <a:lnTo>
                      <a:pt x="1110" y="235"/>
                    </a:lnTo>
                    <a:lnTo>
                      <a:pt x="1113" y="230"/>
                    </a:lnTo>
                    <a:lnTo>
                      <a:pt x="1116" y="226"/>
                    </a:lnTo>
                    <a:lnTo>
                      <a:pt x="1117" y="223"/>
                    </a:lnTo>
                    <a:lnTo>
                      <a:pt x="1120" y="220"/>
                    </a:lnTo>
                    <a:lnTo>
                      <a:pt x="1124" y="218"/>
                    </a:lnTo>
                    <a:lnTo>
                      <a:pt x="1128" y="215"/>
                    </a:lnTo>
                    <a:lnTo>
                      <a:pt x="1131" y="212"/>
                    </a:lnTo>
                    <a:lnTo>
                      <a:pt x="1135" y="209"/>
                    </a:lnTo>
                    <a:lnTo>
                      <a:pt x="1137" y="207"/>
                    </a:lnTo>
                    <a:lnTo>
                      <a:pt x="1137" y="192"/>
                    </a:lnTo>
                    <a:lnTo>
                      <a:pt x="1133" y="191"/>
                    </a:lnTo>
                    <a:lnTo>
                      <a:pt x="1131" y="189"/>
                    </a:lnTo>
                    <a:lnTo>
                      <a:pt x="1128" y="189"/>
                    </a:lnTo>
                    <a:lnTo>
                      <a:pt x="1125" y="187"/>
                    </a:lnTo>
                    <a:lnTo>
                      <a:pt x="1123" y="185"/>
                    </a:lnTo>
                    <a:lnTo>
                      <a:pt x="1121" y="184"/>
                    </a:lnTo>
                    <a:lnTo>
                      <a:pt x="1119" y="184"/>
                    </a:lnTo>
                    <a:lnTo>
                      <a:pt x="1114" y="181"/>
                    </a:lnTo>
                    <a:lnTo>
                      <a:pt x="1112" y="180"/>
                    </a:lnTo>
                    <a:lnTo>
                      <a:pt x="1110" y="177"/>
                    </a:lnTo>
                    <a:lnTo>
                      <a:pt x="1108" y="174"/>
                    </a:lnTo>
                    <a:lnTo>
                      <a:pt x="1106" y="173"/>
                    </a:lnTo>
                    <a:lnTo>
                      <a:pt x="1104" y="170"/>
                    </a:lnTo>
                    <a:lnTo>
                      <a:pt x="1104" y="162"/>
                    </a:lnTo>
                    <a:lnTo>
                      <a:pt x="1098" y="162"/>
                    </a:lnTo>
                    <a:lnTo>
                      <a:pt x="1093" y="162"/>
                    </a:lnTo>
                    <a:lnTo>
                      <a:pt x="1086" y="164"/>
                    </a:lnTo>
                    <a:lnTo>
                      <a:pt x="1082" y="164"/>
                    </a:lnTo>
                    <a:lnTo>
                      <a:pt x="1078" y="165"/>
                    </a:lnTo>
                    <a:lnTo>
                      <a:pt x="1074" y="165"/>
                    </a:lnTo>
                    <a:lnTo>
                      <a:pt x="1070" y="162"/>
                    </a:lnTo>
                    <a:lnTo>
                      <a:pt x="1066" y="160"/>
                    </a:lnTo>
                    <a:lnTo>
                      <a:pt x="1061" y="155"/>
                    </a:lnTo>
                    <a:lnTo>
                      <a:pt x="1055" y="153"/>
                    </a:lnTo>
                    <a:lnTo>
                      <a:pt x="1044" y="157"/>
                    </a:lnTo>
                    <a:lnTo>
                      <a:pt x="1042" y="157"/>
                    </a:lnTo>
                    <a:lnTo>
                      <a:pt x="1038" y="157"/>
                    </a:lnTo>
                    <a:lnTo>
                      <a:pt x="1034" y="157"/>
                    </a:lnTo>
                    <a:lnTo>
                      <a:pt x="1029" y="157"/>
                    </a:lnTo>
                    <a:lnTo>
                      <a:pt x="1025" y="157"/>
                    </a:lnTo>
                    <a:lnTo>
                      <a:pt x="1023" y="155"/>
                    </a:lnTo>
                    <a:lnTo>
                      <a:pt x="1020" y="155"/>
                    </a:lnTo>
                    <a:lnTo>
                      <a:pt x="1020" y="153"/>
                    </a:lnTo>
                    <a:lnTo>
                      <a:pt x="1020" y="150"/>
                    </a:lnTo>
                    <a:lnTo>
                      <a:pt x="1019" y="147"/>
                    </a:lnTo>
                    <a:lnTo>
                      <a:pt x="1017" y="145"/>
                    </a:lnTo>
                    <a:lnTo>
                      <a:pt x="1016" y="142"/>
                    </a:lnTo>
                    <a:lnTo>
                      <a:pt x="1015" y="139"/>
                    </a:lnTo>
                    <a:lnTo>
                      <a:pt x="1015" y="137"/>
                    </a:lnTo>
                    <a:lnTo>
                      <a:pt x="1012" y="134"/>
                    </a:lnTo>
                    <a:lnTo>
                      <a:pt x="1008" y="131"/>
                    </a:lnTo>
                    <a:lnTo>
                      <a:pt x="1005" y="129"/>
                    </a:lnTo>
                    <a:lnTo>
                      <a:pt x="1004" y="126"/>
                    </a:lnTo>
                    <a:lnTo>
                      <a:pt x="1004" y="122"/>
                    </a:lnTo>
                    <a:lnTo>
                      <a:pt x="1002" y="118"/>
                    </a:lnTo>
                    <a:lnTo>
                      <a:pt x="1000" y="116"/>
                    </a:lnTo>
                    <a:lnTo>
                      <a:pt x="997" y="115"/>
                    </a:lnTo>
                    <a:lnTo>
                      <a:pt x="994" y="112"/>
                    </a:lnTo>
                    <a:lnTo>
                      <a:pt x="993" y="110"/>
                    </a:lnTo>
                    <a:lnTo>
                      <a:pt x="993" y="107"/>
                    </a:lnTo>
                    <a:lnTo>
                      <a:pt x="990" y="103"/>
                    </a:lnTo>
                    <a:lnTo>
                      <a:pt x="988" y="100"/>
                    </a:lnTo>
                    <a:lnTo>
                      <a:pt x="984" y="96"/>
                    </a:lnTo>
                    <a:lnTo>
                      <a:pt x="981" y="97"/>
                    </a:lnTo>
                    <a:lnTo>
                      <a:pt x="977" y="97"/>
                    </a:lnTo>
                    <a:lnTo>
                      <a:pt x="973" y="99"/>
                    </a:lnTo>
                    <a:lnTo>
                      <a:pt x="969" y="100"/>
                    </a:lnTo>
                    <a:lnTo>
                      <a:pt x="963" y="100"/>
                    </a:lnTo>
                    <a:lnTo>
                      <a:pt x="961" y="99"/>
                    </a:lnTo>
                    <a:lnTo>
                      <a:pt x="957" y="96"/>
                    </a:lnTo>
                    <a:lnTo>
                      <a:pt x="953" y="92"/>
                    </a:lnTo>
                    <a:lnTo>
                      <a:pt x="950" y="92"/>
                    </a:lnTo>
                    <a:lnTo>
                      <a:pt x="947" y="92"/>
                    </a:lnTo>
                    <a:lnTo>
                      <a:pt x="943" y="93"/>
                    </a:lnTo>
                    <a:lnTo>
                      <a:pt x="940" y="91"/>
                    </a:lnTo>
                    <a:lnTo>
                      <a:pt x="936" y="89"/>
                    </a:lnTo>
                    <a:lnTo>
                      <a:pt x="932" y="88"/>
                    </a:lnTo>
                    <a:lnTo>
                      <a:pt x="932" y="84"/>
                    </a:lnTo>
                    <a:lnTo>
                      <a:pt x="931" y="80"/>
                    </a:lnTo>
                    <a:lnTo>
                      <a:pt x="923" y="79"/>
                    </a:lnTo>
                    <a:lnTo>
                      <a:pt x="924" y="76"/>
                    </a:lnTo>
                    <a:lnTo>
                      <a:pt x="924" y="73"/>
                    </a:lnTo>
                    <a:lnTo>
                      <a:pt x="922" y="70"/>
                    </a:lnTo>
                    <a:lnTo>
                      <a:pt x="920" y="69"/>
                    </a:lnTo>
                    <a:lnTo>
                      <a:pt x="917" y="68"/>
                    </a:lnTo>
                    <a:lnTo>
                      <a:pt x="915" y="66"/>
                    </a:lnTo>
                    <a:lnTo>
                      <a:pt x="913" y="66"/>
                    </a:lnTo>
                    <a:lnTo>
                      <a:pt x="911" y="66"/>
                    </a:lnTo>
                    <a:lnTo>
                      <a:pt x="908" y="65"/>
                    </a:lnTo>
                    <a:lnTo>
                      <a:pt x="907" y="64"/>
                    </a:lnTo>
                    <a:lnTo>
                      <a:pt x="904" y="62"/>
                    </a:lnTo>
                    <a:lnTo>
                      <a:pt x="901" y="60"/>
                    </a:lnTo>
                    <a:lnTo>
                      <a:pt x="899" y="58"/>
                    </a:lnTo>
                    <a:lnTo>
                      <a:pt x="896" y="56"/>
                    </a:lnTo>
                    <a:lnTo>
                      <a:pt x="896" y="48"/>
                    </a:lnTo>
                    <a:lnTo>
                      <a:pt x="850" y="48"/>
                    </a:lnTo>
                    <a:lnTo>
                      <a:pt x="827" y="48"/>
                    </a:lnTo>
                    <a:lnTo>
                      <a:pt x="814" y="48"/>
                    </a:lnTo>
                    <a:lnTo>
                      <a:pt x="814" y="42"/>
                    </a:lnTo>
                    <a:lnTo>
                      <a:pt x="812" y="38"/>
                    </a:lnTo>
                    <a:lnTo>
                      <a:pt x="812" y="35"/>
                    </a:lnTo>
                    <a:lnTo>
                      <a:pt x="812" y="34"/>
                    </a:lnTo>
                    <a:lnTo>
                      <a:pt x="814" y="31"/>
                    </a:lnTo>
                    <a:lnTo>
                      <a:pt x="814" y="29"/>
                    </a:lnTo>
                    <a:lnTo>
                      <a:pt x="814" y="25"/>
                    </a:lnTo>
                    <a:lnTo>
                      <a:pt x="814" y="22"/>
                    </a:lnTo>
                    <a:lnTo>
                      <a:pt x="815" y="19"/>
                    </a:lnTo>
                    <a:lnTo>
                      <a:pt x="816" y="15"/>
                    </a:lnTo>
                    <a:lnTo>
                      <a:pt x="818" y="12"/>
                    </a:lnTo>
                    <a:lnTo>
                      <a:pt x="819" y="8"/>
                    </a:lnTo>
                    <a:lnTo>
                      <a:pt x="823" y="4"/>
                    </a:lnTo>
                    <a:lnTo>
                      <a:pt x="816" y="4"/>
                    </a:lnTo>
                    <a:lnTo>
                      <a:pt x="810" y="3"/>
                    </a:lnTo>
                    <a:lnTo>
                      <a:pt x="803" y="3"/>
                    </a:lnTo>
                    <a:lnTo>
                      <a:pt x="796" y="2"/>
                    </a:lnTo>
                    <a:lnTo>
                      <a:pt x="787" y="2"/>
                    </a:lnTo>
                    <a:lnTo>
                      <a:pt x="779" y="0"/>
                    </a:lnTo>
                    <a:lnTo>
                      <a:pt x="772" y="0"/>
                    </a:lnTo>
                    <a:lnTo>
                      <a:pt x="766" y="0"/>
                    </a:lnTo>
                    <a:lnTo>
                      <a:pt x="757" y="4"/>
                    </a:lnTo>
                    <a:lnTo>
                      <a:pt x="747" y="4"/>
                    </a:lnTo>
                    <a:lnTo>
                      <a:pt x="745" y="6"/>
                    </a:lnTo>
                    <a:lnTo>
                      <a:pt x="743" y="7"/>
                    </a:lnTo>
                    <a:lnTo>
                      <a:pt x="741" y="8"/>
                    </a:lnTo>
                    <a:lnTo>
                      <a:pt x="739" y="11"/>
                    </a:lnTo>
                    <a:lnTo>
                      <a:pt x="738" y="18"/>
                    </a:lnTo>
                    <a:lnTo>
                      <a:pt x="730" y="22"/>
                    </a:lnTo>
                    <a:lnTo>
                      <a:pt x="722" y="27"/>
                    </a:lnTo>
                    <a:lnTo>
                      <a:pt x="719" y="27"/>
                    </a:lnTo>
                    <a:lnTo>
                      <a:pt x="715" y="27"/>
                    </a:lnTo>
                    <a:lnTo>
                      <a:pt x="711" y="29"/>
                    </a:lnTo>
                    <a:lnTo>
                      <a:pt x="708" y="29"/>
                    </a:lnTo>
                    <a:lnTo>
                      <a:pt x="704" y="30"/>
                    </a:lnTo>
                    <a:lnTo>
                      <a:pt x="700" y="34"/>
                    </a:lnTo>
                    <a:lnTo>
                      <a:pt x="699" y="37"/>
                    </a:lnTo>
                    <a:lnTo>
                      <a:pt x="695" y="37"/>
                    </a:lnTo>
                    <a:lnTo>
                      <a:pt x="691" y="39"/>
                    </a:lnTo>
                    <a:lnTo>
                      <a:pt x="687" y="39"/>
                    </a:lnTo>
                    <a:lnTo>
                      <a:pt x="684" y="42"/>
                    </a:lnTo>
                    <a:lnTo>
                      <a:pt x="683" y="45"/>
                    </a:lnTo>
                    <a:lnTo>
                      <a:pt x="680" y="48"/>
                    </a:lnTo>
                    <a:lnTo>
                      <a:pt x="677" y="50"/>
                    </a:lnTo>
                    <a:lnTo>
                      <a:pt x="675" y="54"/>
                    </a:lnTo>
                    <a:lnTo>
                      <a:pt x="672" y="54"/>
                    </a:lnTo>
                    <a:lnTo>
                      <a:pt x="668" y="56"/>
                    </a:lnTo>
                    <a:lnTo>
                      <a:pt x="664" y="57"/>
                    </a:lnTo>
                    <a:lnTo>
                      <a:pt x="661" y="57"/>
                    </a:lnTo>
                    <a:lnTo>
                      <a:pt x="658" y="58"/>
                    </a:lnTo>
                    <a:lnTo>
                      <a:pt x="654" y="61"/>
                    </a:lnTo>
                    <a:lnTo>
                      <a:pt x="652" y="62"/>
                    </a:lnTo>
                    <a:lnTo>
                      <a:pt x="650" y="64"/>
                    </a:lnTo>
                    <a:lnTo>
                      <a:pt x="648" y="64"/>
                    </a:lnTo>
                    <a:lnTo>
                      <a:pt x="645" y="65"/>
                    </a:lnTo>
                    <a:lnTo>
                      <a:pt x="641" y="65"/>
                    </a:lnTo>
                    <a:lnTo>
                      <a:pt x="638" y="65"/>
                    </a:lnTo>
                    <a:lnTo>
                      <a:pt x="634" y="66"/>
                    </a:lnTo>
                    <a:lnTo>
                      <a:pt x="631" y="66"/>
                    </a:lnTo>
                    <a:lnTo>
                      <a:pt x="629" y="66"/>
                    </a:lnTo>
                    <a:lnTo>
                      <a:pt x="627" y="66"/>
                    </a:lnTo>
                    <a:lnTo>
                      <a:pt x="626" y="65"/>
                    </a:lnTo>
                    <a:lnTo>
                      <a:pt x="623" y="62"/>
                    </a:lnTo>
                    <a:lnTo>
                      <a:pt x="622" y="60"/>
                    </a:lnTo>
                    <a:lnTo>
                      <a:pt x="621" y="56"/>
                    </a:lnTo>
                    <a:lnTo>
                      <a:pt x="621" y="45"/>
                    </a:lnTo>
                    <a:lnTo>
                      <a:pt x="618" y="44"/>
                    </a:lnTo>
                    <a:lnTo>
                      <a:pt x="615" y="44"/>
                    </a:lnTo>
                    <a:lnTo>
                      <a:pt x="611" y="42"/>
                    </a:lnTo>
                    <a:lnTo>
                      <a:pt x="607" y="39"/>
                    </a:lnTo>
                    <a:lnTo>
                      <a:pt x="604" y="37"/>
                    </a:lnTo>
                    <a:lnTo>
                      <a:pt x="602" y="34"/>
                    </a:lnTo>
                    <a:lnTo>
                      <a:pt x="598" y="30"/>
                    </a:lnTo>
                    <a:lnTo>
                      <a:pt x="595" y="27"/>
                    </a:lnTo>
                    <a:lnTo>
                      <a:pt x="592" y="25"/>
                    </a:lnTo>
                    <a:lnTo>
                      <a:pt x="591" y="30"/>
                    </a:lnTo>
                    <a:lnTo>
                      <a:pt x="590" y="33"/>
                    </a:lnTo>
                    <a:lnTo>
                      <a:pt x="588" y="37"/>
                    </a:lnTo>
                    <a:lnTo>
                      <a:pt x="587" y="39"/>
                    </a:lnTo>
                    <a:lnTo>
                      <a:pt x="587" y="44"/>
                    </a:lnTo>
                    <a:lnTo>
                      <a:pt x="586" y="49"/>
                    </a:lnTo>
                    <a:lnTo>
                      <a:pt x="582" y="49"/>
                    </a:lnTo>
                    <a:lnTo>
                      <a:pt x="577" y="50"/>
                    </a:lnTo>
                    <a:lnTo>
                      <a:pt x="573" y="50"/>
                    </a:lnTo>
                    <a:lnTo>
                      <a:pt x="569" y="50"/>
                    </a:lnTo>
                    <a:lnTo>
                      <a:pt x="565" y="49"/>
                    </a:lnTo>
                    <a:lnTo>
                      <a:pt x="563" y="49"/>
                    </a:lnTo>
                    <a:lnTo>
                      <a:pt x="561" y="60"/>
                    </a:lnTo>
                    <a:lnTo>
                      <a:pt x="569" y="66"/>
                    </a:lnTo>
                    <a:lnTo>
                      <a:pt x="567" y="72"/>
                    </a:lnTo>
                    <a:lnTo>
                      <a:pt x="564" y="76"/>
                    </a:lnTo>
                    <a:lnTo>
                      <a:pt x="564" y="80"/>
                    </a:lnTo>
                    <a:lnTo>
                      <a:pt x="564" y="87"/>
                    </a:lnTo>
                    <a:lnTo>
                      <a:pt x="563" y="93"/>
                    </a:lnTo>
                    <a:lnTo>
                      <a:pt x="563" y="100"/>
                    </a:lnTo>
                    <a:lnTo>
                      <a:pt x="561" y="111"/>
                    </a:lnTo>
                    <a:lnTo>
                      <a:pt x="568" y="120"/>
                    </a:lnTo>
                    <a:lnTo>
                      <a:pt x="560" y="127"/>
                    </a:lnTo>
                    <a:lnTo>
                      <a:pt x="555" y="131"/>
                    </a:lnTo>
                    <a:lnTo>
                      <a:pt x="550" y="133"/>
                    </a:lnTo>
                    <a:lnTo>
                      <a:pt x="545" y="134"/>
                    </a:lnTo>
                    <a:lnTo>
                      <a:pt x="541" y="135"/>
                    </a:lnTo>
                    <a:lnTo>
                      <a:pt x="538" y="138"/>
                    </a:lnTo>
                    <a:lnTo>
                      <a:pt x="536" y="141"/>
                    </a:lnTo>
                    <a:lnTo>
                      <a:pt x="533" y="143"/>
                    </a:lnTo>
                    <a:lnTo>
                      <a:pt x="530" y="146"/>
                    </a:lnTo>
                    <a:lnTo>
                      <a:pt x="526" y="146"/>
                    </a:lnTo>
                    <a:lnTo>
                      <a:pt x="522" y="146"/>
                    </a:lnTo>
                    <a:lnTo>
                      <a:pt x="517" y="147"/>
                    </a:lnTo>
                    <a:lnTo>
                      <a:pt x="514" y="151"/>
                    </a:lnTo>
                    <a:lnTo>
                      <a:pt x="510" y="158"/>
                    </a:lnTo>
                    <a:lnTo>
                      <a:pt x="507" y="162"/>
                    </a:lnTo>
                    <a:lnTo>
                      <a:pt x="507" y="165"/>
                    </a:lnTo>
                    <a:lnTo>
                      <a:pt x="506" y="169"/>
                    </a:lnTo>
                    <a:lnTo>
                      <a:pt x="505" y="173"/>
                    </a:lnTo>
                    <a:lnTo>
                      <a:pt x="503" y="177"/>
                    </a:lnTo>
                    <a:lnTo>
                      <a:pt x="507" y="185"/>
                    </a:lnTo>
                    <a:lnTo>
                      <a:pt x="510" y="192"/>
                    </a:lnTo>
                    <a:lnTo>
                      <a:pt x="511" y="197"/>
                    </a:lnTo>
                    <a:lnTo>
                      <a:pt x="514" y="201"/>
                    </a:lnTo>
                    <a:lnTo>
                      <a:pt x="514" y="209"/>
                    </a:lnTo>
                    <a:lnTo>
                      <a:pt x="514" y="216"/>
                    </a:lnTo>
                    <a:lnTo>
                      <a:pt x="513" y="222"/>
                    </a:lnTo>
                    <a:lnTo>
                      <a:pt x="510" y="226"/>
                    </a:lnTo>
                    <a:lnTo>
                      <a:pt x="509" y="228"/>
                    </a:lnTo>
                    <a:lnTo>
                      <a:pt x="503" y="231"/>
                    </a:lnTo>
                    <a:lnTo>
                      <a:pt x="499" y="232"/>
                    </a:lnTo>
                    <a:lnTo>
                      <a:pt x="495" y="235"/>
                    </a:lnTo>
                    <a:lnTo>
                      <a:pt x="492" y="238"/>
                    </a:lnTo>
                    <a:lnTo>
                      <a:pt x="491" y="240"/>
                    </a:lnTo>
                    <a:lnTo>
                      <a:pt x="490" y="242"/>
                    </a:lnTo>
                    <a:lnTo>
                      <a:pt x="488" y="245"/>
                    </a:lnTo>
                    <a:lnTo>
                      <a:pt x="488" y="254"/>
                    </a:lnTo>
                    <a:lnTo>
                      <a:pt x="488" y="261"/>
                    </a:lnTo>
                    <a:lnTo>
                      <a:pt x="499" y="267"/>
                    </a:lnTo>
                    <a:lnTo>
                      <a:pt x="503" y="273"/>
                    </a:lnTo>
                    <a:lnTo>
                      <a:pt x="507" y="278"/>
                    </a:lnTo>
                    <a:lnTo>
                      <a:pt x="495" y="292"/>
                    </a:lnTo>
                    <a:lnTo>
                      <a:pt x="492" y="303"/>
                    </a:lnTo>
                    <a:lnTo>
                      <a:pt x="501" y="308"/>
                    </a:lnTo>
                    <a:lnTo>
                      <a:pt x="501" y="313"/>
                    </a:lnTo>
                    <a:lnTo>
                      <a:pt x="502" y="319"/>
                    </a:lnTo>
                    <a:lnTo>
                      <a:pt x="498" y="321"/>
                    </a:lnTo>
                    <a:lnTo>
                      <a:pt x="494" y="324"/>
                    </a:lnTo>
                    <a:lnTo>
                      <a:pt x="491" y="328"/>
                    </a:lnTo>
                    <a:lnTo>
                      <a:pt x="487" y="330"/>
                    </a:lnTo>
                    <a:lnTo>
                      <a:pt x="482" y="332"/>
                    </a:lnTo>
                    <a:lnTo>
                      <a:pt x="478" y="335"/>
                    </a:lnTo>
                    <a:lnTo>
                      <a:pt x="474" y="338"/>
                    </a:lnTo>
                    <a:lnTo>
                      <a:pt x="471" y="340"/>
                    </a:lnTo>
                    <a:lnTo>
                      <a:pt x="457" y="340"/>
                    </a:lnTo>
                    <a:lnTo>
                      <a:pt x="452" y="351"/>
                    </a:lnTo>
                    <a:lnTo>
                      <a:pt x="445" y="351"/>
                    </a:lnTo>
                    <a:lnTo>
                      <a:pt x="440" y="351"/>
                    </a:lnTo>
                    <a:lnTo>
                      <a:pt x="430" y="346"/>
                    </a:lnTo>
                    <a:lnTo>
                      <a:pt x="422" y="340"/>
                    </a:lnTo>
                    <a:lnTo>
                      <a:pt x="409" y="340"/>
                    </a:lnTo>
                    <a:lnTo>
                      <a:pt x="398" y="340"/>
                    </a:lnTo>
                    <a:lnTo>
                      <a:pt x="390" y="340"/>
                    </a:lnTo>
                    <a:lnTo>
                      <a:pt x="379" y="340"/>
                    </a:lnTo>
                    <a:lnTo>
                      <a:pt x="371" y="336"/>
                    </a:lnTo>
                    <a:lnTo>
                      <a:pt x="368" y="339"/>
                    </a:lnTo>
                    <a:lnTo>
                      <a:pt x="362" y="342"/>
                    </a:lnTo>
                    <a:lnTo>
                      <a:pt x="358" y="344"/>
                    </a:lnTo>
                    <a:lnTo>
                      <a:pt x="352" y="346"/>
                    </a:lnTo>
                    <a:lnTo>
                      <a:pt x="348" y="348"/>
                    </a:lnTo>
                    <a:lnTo>
                      <a:pt x="344" y="351"/>
                    </a:lnTo>
                    <a:lnTo>
                      <a:pt x="341" y="351"/>
                    </a:lnTo>
                    <a:lnTo>
                      <a:pt x="337" y="351"/>
                    </a:lnTo>
                    <a:lnTo>
                      <a:pt x="333" y="351"/>
                    </a:lnTo>
                    <a:lnTo>
                      <a:pt x="331" y="351"/>
                    </a:lnTo>
                    <a:lnTo>
                      <a:pt x="328" y="351"/>
                    </a:lnTo>
                    <a:lnTo>
                      <a:pt x="324" y="351"/>
                    </a:lnTo>
                    <a:lnTo>
                      <a:pt x="320" y="350"/>
                    </a:lnTo>
                    <a:lnTo>
                      <a:pt x="314" y="348"/>
                    </a:lnTo>
                    <a:lnTo>
                      <a:pt x="312" y="350"/>
                    </a:lnTo>
                    <a:lnTo>
                      <a:pt x="306" y="351"/>
                    </a:lnTo>
                    <a:lnTo>
                      <a:pt x="302" y="352"/>
                    </a:lnTo>
                    <a:lnTo>
                      <a:pt x="298" y="352"/>
                    </a:lnTo>
                    <a:lnTo>
                      <a:pt x="294" y="351"/>
                    </a:lnTo>
                    <a:lnTo>
                      <a:pt x="293" y="351"/>
                    </a:lnTo>
                    <a:lnTo>
                      <a:pt x="289" y="352"/>
                    </a:lnTo>
                    <a:lnTo>
                      <a:pt x="286" y="352"/>
                    </a:lnTo>
                    <a:lnTo>
                      <a:pt x="285" y="352"/>
                    </a:lnTo>
                    <a:lnTo>
                      <a:pt x="282" y="352"/>
                    </a:lnTo>
                    <a:lnTo>
                      <a:pt x="278" y="352"/>
                    </a:lnTo>
                    <a:lnTo>
                      <a:pt x="274" y="354"/>
                    </a:lnTo>
                    <a:lnTo>
                      <a:pt x="270" y="354"/>
                    </a:lnTo>
                    <a:lnTo>
                      <a:pt x="268" y="354"/>
                    </a:lnTo>
                    <a:lnTo>
                      <a:pt x="266" y="357"/>
                    </a:lnTo>
                    <a:lnTo>
                      <a:pt x="262" y="358"/>
                    </a:lnTo>
                    <a:lnTo>
                      <a:pt x="260" y="359"/>
                    </a:lnTo>
                    <a:lnTo>
                      <a:pt x="258" y="362"/>
                    </a:lnTo>
                    <a:lnTo>
                      <a:pt x="255" y="365"/>
                    </a:lnTo>
                    <a:lnTo>
                      <a:pt x="254" y="369"/>
                    </a:lnTo>
                    <a:lnTo>
                      <a:pt x="252" y="371"/>
                    </a:lnTo>
                    <a:lnTo>
                      <a:pt x="250" y="371"/>
                    </a:lnTo>
                    <a:lnTo>
                      <a:pt x="247" y="374"/>
                    </a:lnTo>
                    <a:lnTo>
                      <a:pt x="244" y="377"/>
                    </a:lnTo>
                    <a:lnTo>
                      <a:pt x="241" y="378"/>
                    </a:lnTo>
                    <a:lnTo>
                      <a:pt x="239" y="381"/>
                    </a:lnTo>
                    <a:lnTo>
                      <a:pt x="236" y="383"/>
                    </a:lnTo>
                    <a:lnTo>
                      <a:pt x="233" y="386"/>
                    </a:lnTo>
                    <a:lnTo>
                      <a:pt x="231" y="389"/>
                    </a:lnTo>
                    <a:lnTo>
                      <a:pt x="228" y="392"/>
                    </a:lnTo>
                    <a:lnTo>
                      <a:pt x="224" y="393"/>
                    </a:lnTo>
                    <a:lnTo>
                      <a:pt x="221" y="397"/>
                    </a:lnTo>
                    <a:lnTo>
                      <a:pt x="217" y="400"/>
                    </a:lnTo>
                    <a:lnTo>
                      <a:pt x="216" y="402"/>
                    </a:lnTo>
                    <a:lnTo>
                      <a:pt x="212" y="405"/>
                    </a:lnTo>
                    <a:lnTo>
                      <a:pt x="209" y="406"/>
                    </a:lnTo>
                    <a:lnTo>
                      <a:pt x="209" y="410"/>
                    </a:lnTo>
                    <a:lnTo>
                      <a:pt x="209" y="415"/>
                    </a:lnTo>
                    <a:lnTo>
                      <a:pt x="206" y="423"/>
                    </a:lnTo>
                    <a:lnTo>
                      <a:pt x="202" y="424"/>
                    </a:lnTo>
                    <a:lnTo>
                      <a:pt x="201" y="427"/>
                    </a:lnTo>
                    <a:lnTo>
                      <a:pt x="197" y="428"/>
                    </a:lnTo>
                    <a:lnTo>
                      <a:pt x="194" y="431"/>
                    </a:lnTo>
                    <a:lnTo>
                      <a:pt x="193" y="432"/>
                    </a:lnTo>
                    <a:lnTo>
                      <a:pt x="192" y="433"/>
                    </a:lnTo>
                    <a:lnTo>
                      <a:pt x="190" y="436"/>
                    </a:lnTo>
                    <a:lnTo>
                      <a:pt x="189" y="439"/>
                    </a:lnTo>
                    <a:lnTo>
                      <a:pt x="188" y="440"/>
                    </a:lnTo>
                    <a:lnTo>
                      <a:pt x="188" y="443"/>
                    </a:lnTo>
                    <a:lnTo>
                      <a:pt x="188" y="446"/>
                    </a:lnTo>
                    <a:lnTo>
                      <a:pt x="188" y="450"/>
                    </a:lnTo>
                    <a:lnTo>
                      <a:pt x="188" y="454"/>
                    </a:lnTo>
                    <a:lnTo>
                      <a:pt x="188" y="456"/>
                    </a:lnTo>
                    <a:lnTo>
                      <a:pt x="189" y="460"/>
                    </a:lnTo>
                    <a:lnTo>
                      <a:pt x="189" y="463"/>
                    </a:lnTo>
                    <a:lnTo>
                      <a:pt x="190" y="467"/>
                    </a:lnTo>
                    <a:lnTo>
                      <a:pt x="188" y="468"/>
                    </a:lnTo>
                    <a:lnTo>
                      <a:pt x="186" y="470"/>
                    </a:lnTo>
                    <a:lnTo>
                      <a:pt x="185" y="471"/>
                    </a:lnTo>
                    <a:lnTo>
                      <a:pt x="183" y="473"/>
                    </a:lnTo>
                    <a:lnTo>
                      <a:pt x="181" y="475"/>
                    </a:lnTo>
                    <a:lnTo>
                      <a:pt x="179" y="477"/>
                    </a:lnTo>
                    <a:lnTo>
                      <a:pt x="179" y="481"/>
                    </a:lnTo>
                    <a:lnTo>
                      <a:pt x="179" y="486"/>
                    </a:lnTo>
                    <a:lnTo>
                      <a:pt x="177" y="486"/>
                    </a:lnTo>
                    <a:lnTo>
                      <a:pt x="174" y="487"/>
                    </a:lnTo>
                    <a:lnTo>
                      <a:pt x="170" y="489"/>
                    </a:lnTo>
                    <a:lnTo>
                      <a:pt x="167" y="490"/>
                    </a:lnTo>
                    <a:lnTo>
                      <a:pt x="165" y="491"/>
                    </a:lnTo>
                    <a:lnTo>
                      <a:pt x="162" y="494"/>
                    </a:lnTo>
                    <a:lnTo>
                      <a:pt x="161" y="495"/>
                    </a:lnTo>
                    <a:lnTo>
                      <a:pt x="159" y="498"/>
                    </a:lnTo>
                    <a:lnTo>
                      <a:pt x="158" y="500"/>
                    </a:lnTo>
                    <a:lnTo>
                      <a:pt x="155" y="504"/>
                    </a:lnTo>
                    <a:lnTo>
                      <a:pt x="154" y="506"/>
                    </a:lnTo>
                    <a:lnTo>
                      <a:pt x="152" y="509"/>
                    </a:lnTo>
                    <a:lnTo>
                      <a:pt x="152" y="512"/>
                    </a:lnTo>
                    <a:lnTo>
                      <a:pt x="152" y="514"/>
                    </a:lnTo>
                    <a:lnTo>
                      <a:pt x="152" y="517"/>
                    </a:lnTo>
                    <a:lnTo>
                      <a:pt x="151" y="521"/>
                    </a:lnTo>
                    <a:lnTo>
                      <a:pt x="150" y="522"/>
                    </a:lnTo>
                    <a:lnTo>
                      <a:pt x="148" y="525"/>
                    </a:lnTo>
                    <a:lnTo>
                      <a:pt x="147" y="528"/>
                    </a:lnTo>
                    <a:lnTo>
                      <a:pt x="144" y="531"/>
                    </a:lnTo>
                    <a:lnTo>
                      <a:pt x="142" y="533"/>
                    </a:lnTo>
                    <a:lnTo>
                      <a:pt x="139" y="536"/>
                    </a:lnTo>
                    <a:lnTo>
                      <a:pt x="136" y="539"/>
                    </a:lnTo>
                    <a:lnTo>
                      <a:pt x="134" y="540"/>
                    </a:lnTo>
                    <a:lnTo>
                      <a:pt x="131" y="543"/>
                    </a:lnTo>
                    <a:lnTo>
                      <a:pt x="128" y="544"/>
                    </a:lnTo>
                    <a:lnTo>
                      <a:pt x="125" y="547"/>
                    </a:lnTo>
                    <a:lnTo>
                      <a:pt x="124" y="548"/>
                    </a:lnTo>
                    <a:lnTo>
                      <a:pt x="123" y="549"/>
                    </a:lnTo>
                    <a:lnTo>
                      <a:pt x="121" y="553"/>
                    </a:lnTo>
                    <a:lnTo>
                      <a:pt x="120" y="556"/>
                    </a:lnTo>
                    <a:lnTo>
                      <a:pt x="119" y="559"/>
                    </a:lnTo>
                    <a:lnTo>
                      <a:pt x="117" y="563"/>
                    </a:lnTo>
                    <a:lnTo>
                      <a:pt x="116" y="566"/>
                    </a:lnTo>
                    <a:lnTo>
                      <a:pt x="115" y="568"/>
                    </a:lnTo>
                    <a:lnTo>
                      <a:pt x="113" y="568"/>
                    </a:lnTo>
                    <a:lnTo>
                      <a:pt x="111" y="568"/>
                    </a:lnTo>
                    <a:lnTo>
                      <a:pt x="109" y="570"/>
                    </a:lnTo>
                    <a:lnTo>
                      <a:pt x="109" y="575"/>
                    </a:lnTo>
                    <a:lnTo>
                      <a:pt x="109" y="582"/>
                    </a:lnTo>
                    <a:lnTo>
                      <a:pt x="107" y="583"/>
                    </a:lnTo>
                    <a:lnTo>
                      <a:pt x="107" y="586"/>
                    </a:lnTo>
                    <a:lnTo>
                      <a:pt x="105" y="589"/>
                    </a:lnTo>
                    <a:lnTo>
                      <a:pt x="104" y="591"/>
                    </a:lnTo>
                    <a:lnTo>
                      <a:pt x="101" y="594"/>
                    </a:lnTo>
                    <a:lnTo>
                      <a:pt x="100" y="597"/>
                    </a:lnTo>
                    <a:lnTo>
                      <a:pt x="97" y="599"/>
                    </a:lnTo>
                    <a:lnTo>
                      <a:pt x="96" y="602"/>
                    </a:lnTo>
                    <a:lnTo>
                      <a:pt x="93" y="605"/>
                    </a:lnTo>
                    <a:lnTo>
                      <a:pt x="92" y="607"/>
                    </a:lnTo>
                    <a:lnTo>
                      <a:pt x="89" y="609"/>
                    </a:lnTo>
                    <a:lnTo>
                      <a:pt x="88" y="611"/>
                    </a:lnTo>
                    <a:lnTo>
                      <a:pt x="85" y="614"/>
                    </a:lnTo>
                    <a:lnTo>
                      <a:pt x="82" y="616"/>
                    </a:lnTo>
                    <a:lnTo>
                      <a:pt x="81" y="618"/>
                    </a:lnTo>
                    <a:lnTo>
                      <a:pt x="80" y="621"/>
                    </a:lnTo>
                    <a:lnTo>
                      <a:pt x="78" y="624"/>
                    </a:lnTo>
                    <a:lnTo>
                      <a:pt x="77" y="626"/>
                    </a:lnTo>
                    <a:lnTo>
                      <a:pt x="74" y="630"/>
                    </a:lnTo>
                    <a:lnTo>
                      <a:pt x="73" y="633"/>
                    </a:lnTo>
                    <a:lnTo>
                      <a:pt x="70" y="634"/>
                    </a:lnTo>
                    <a:lnTo>
                      <a:pt x="67" y="637"/>
                    </a:lnTo>
                    <a:lnTo>
                      <a:pt x="66" y="640"/>
                    </a:lnTo>
                    <a:lnTo>
                      <a:pt x="65" y="643"/>
                    </a:lnTo>
                    <a:lnTo>
                      <a:pt x="62" y="644"/>
                    </a:lnTo>
                    <a:lnTo>
                      <a:pt x="59" y="645"/>
                    </a:lnTo>
                    <a:lnTo>
                      <a:pt x="57" y="648"/>
                    </a:lnTo>
                    <a:lnTo>
                      <a:pt x="54" y="651"/>
                    </a:lnTo>
                    <a:lnTo>
                      <a:pt x="51" y="653"/>
                    </a:lnTo>
                    <a:lnTo>
                      <a:pt x="50" y="655"/>
                    </a:lnTo>
                    <a:lnTo>
                      <a:pt x="47" y="657"/>
                    </a:lnTo>
                    <a:lnTo>
                      <a:pt x="44" y="660"/>
                    </a:lnTo>
                    <a:lnTo>
                      <a:pt x="42" y="661"/>
                    </a:lnTo>
                    <a:lnTo>
                      <a:pt x="39" y="664"/>
                    </a:lnTo>
                    <a:lnTo>
                      <a:pt x="36" y="665"/>
                    </a:lnTo>
                    <a:lnTo>
                      <a:pt x="32" y="667"/>
                    </a:lnTo>
                    <a:lnTo>
                      <a:pt x="28" y="668"/>
                    </a:lnTo>
                    <a:lnTo>
                      <a:pt x="24" y="670"/>
                    </a:lnTo>
                    <a:lnTo>
                      <a:pt x="22" y="672"/>
                    </a:lnTo>
                    <a:lnTo>
                      <a:pt x="19" y="674"/>
                    </a:lnTo>
                    <a:lnTo>
                      <a:pt x="18" y="678"/>
                    </a:lnTo>
                    <a:lnTo>
                      <a:pt x="15" y="679"/>
                    </a:lnTo>
                    <a:lnTo>
                      <a:pt x="11" y="682"/>
                    </a:lnTo>
                    <a:lnTo>
                      <a:pt x="7" y="684"/>
                    </a:lnTo>
                    <a:lnTo>
                      <a:pt x="3" y="686"/>
                    </a:lnTo>
                    <a:lnTo>
                      <a:pt x="0" y="687"/>
                    </a:lnTo>
                    <a:lnTo>
                      <a:pt x="0" y="690"/>
                    </a:lnTo>
                    <a:lnTo>
                      <a:pt x="1" y="690"/>
                    </a:lnTo>
                    <a:lnTo>
                      <a:pt x="4" y="688"/>
                    </a:lnTo>
                    <a:lnTo>
                      <a:pt x="7" y="687"/>
                    </a:lnTo>
                    <a:lnTo>
                      <a:pt x="9" y="686"/>
                    </a:lnTo>
                    <a:lnTo>
                      <a:pt x="12" y="686"/>
                    </a:lnTo>
                    <a:lnTo>
                      <a:pt x="15" y="686"/>
                    </a:lnTo>
                    <a:lnTo>
                      <a:pt x="18" y="684"/>
                    </a:lnTo>
                    <a:lnTo>
                      <a:pt x="23" y="684"/>
                    </a:lnTo>
                    <a:lnTo>
                      <a:pt x="27" y="686"/>
                    </a:lnTo>
                    <a:lnTo>
                      <a:pt x="32" y="686"/>
                    </a:lnTo>
                    <a:lnTo>
                      <a:pt x="39" y="686"/>
                    </a:lnTo>
                    <a:lnTo>
                      <a:pt x="46" y="687"/>
                    </a:lnTo>
                    <a:lnTo>
                      <a:pt x="53" y="687"/>
                    </a:lnTo>
                    <a:lnTo>
                      <a:pt x="58" y="688"/>
                    </a:lnTo>
                    <a:lnTo>
                      <a:pt x="62" y="688"/>
                    </a:lnTo>
                    <a:lnTo>
                      <a:pt x="66" y="687"/>
                    </a:lnTo>
                    <a:lnTo>
                      <a:pt x="71" y="686"/>
                    </a:lnTo>
                    <a:lnTo>
                      <a:pt x="74" y="682"/>
                    </a:lnTo>
                    <a:lnTo>
                      <a:pt x="78" y="679"/>
                    </a:lnTo>
                    <a:lnTo>
                      <a:pt x="86" y="679"/>
                    </a:lnTo>
                    <a:lnTo>
                      <a:pt x="88" y="682"/>
                    </a:lnTo>
                    <a:lnTo>
                      <a:pt x="90" y="684"/>
                    </a:lnTo>
                    <a:lnTo>
                      <a:pt x="93" y="687"/>
                    </a:lnTo>
                    <a:lnTo>
                      <a:pt x="96" y="690"/>
                    </a:lnTo>
                    <a:lnTo>
                      <a:pt x="98" y="690"/>
                    </a:lnTo>
                    <a:lnTo>
                      <a:pt x="105" y="688"/>
                    </a:lnTo>
                    <a:lnTo>
                      <a:pt x="111" y="688"/>
                    </a:lnTo>
                    <a:lnTo>
                      <a:pt x="116" y="688"/>
                    </a:lnTo>
                    <a:lnTo>
                      <a:pt x="119" y="690"/>
                    </a:lnTo>
                    <a:lnTo>
                      <a:pt x="123" y="692"/>
                    </a:lnTo>
                    <a:lnTo>
                      <a:pt x="127" y="692"/>
                    </a:lnTo>
                    <a:lnTo>
                      <a:pt x="132" y="692"/>
                    </a:lnTo>
                    <a:lnTo>
                      <a:pt x="138" y="694"/>
                    </a:lnTo>
                    <a:lnTo>
                      <a:pt x="140" y="694"/>
                    </a:lnTo>
                    <a:lnTo>
                      <a:pt x="144" y="696"/>
                    </a:lnTo>
                    <a:lnTo>
                      <a:pt x="150" y="698"/>
                    </a:lnTo>
                    <a:lnTo>
                      <a:pt x="154" y="699"/>
                    </a:lnTo>
                    <a:lnTo>
                      <a:pt x="158" y="702"/>
                    </a:lnTo>
                    <a:lnTo>
                      <a:pt x="162" y="705"/>
                    </a:lnTo>
                    <a:lnTo>
                      <a:pt x="166" y="707"/>
                    </a:lnTo>
                    <a:lnTo>
                      <a:pt x="170" y="710"/>
                    </a:lnTo>
                    <a:lnTo>
                      <a:pt x="173" y="713"/>
                    </a:lnTo>
                    <a:lnTo>
                      <a:pt x="177" y="715"/>
                    </a:lnTo>
                    <a:lnTo>
                      <a:pt x="181" y="719"/>
                    </a:lnTo>
                    <a:lnTo>
                      <a:pt x="186" y="723"/>
                    </a:lnTo>
                    <a:lnTo>
                      <a:pt x="190" y="726"/>
                    </a:lnTo>
                    <a:lnTo>
                      <a:pt x="197" y="729"/>
                    </a:lnTo>
                    <a:lnTo>
                      <a:pt x="201" y="730"/>
                    </a:lnTo>
                    <a:lnTo>
                      <a:pt x="205" y="732"/>
                    </a:lnTo>
                    <a:lnTo>
                      <a:pt x="209" y="732"/>
                    </a:lnTo>
                    <a:lnTo>
                      <a:pt x="213" y="733"/>
                    </a:lnTo>
                    <a:lnTo>
                      <a:pt x="219" y="733"/>
                    </a:lnTo>
                    <a:lnTo>
                      <a:pt x="223" y="733"/>
                    </a:lnTo>
                    <a:lnTo>
                      <a:pt x="225" y="732"/>
                    </a:lnTo>
                    <a:lnTo>
                      <a:pt x="231" y="732"/>
                    </a:lnTo>
                    <a:lnTo>
                      <a:pt x="236" y="732"/>
                    </a:lnTo>
                    <a:lnTo>
                      <a:pt x="240" y="730"/>
                    </a:lnTo>
                    <a:lnTo>
                      <a:pt x="244" y="732"/>
                    </a:lnTo>
                    <a:lnTo>
                      <a:pt x="250" y="732"/>
                    </a:lnTo>
                    <a:lnTo>
                      <a:pt x="254" y="733"/>
                    </a:lnTo>
                    <a:lnTo>
                      <a:pt x="256" y="734"/>
                    </a:lnTo>
                    <a:lnTo>
                      <a:pt x="262" y="740"/>
                    </a:lnTo>
                    <a:lnTo>
                      <a:pt x="266" y="742"/>
                    </a:lnTo>
                    <a:lnTo>
                      <a:pt x="267" y="746"/>
                    </a:lnTo>
                    <a:lnTo>
                      <a:pt x="270" y="749"/>
                    </a:lnTo>
                    <a:lnTo>
                      <a:pt x="271" y="752"/>
                    </a:lnTo>
                    <a:lnTo>
                      <a:pt x="274" y="756"/>
                    </a:lnTo>
                    <a:lnTo>
                      <a:pt x="277" y="760"/>
                    </a:lnTo>
                    <a:lnTo>
                      <a:pt x="278" y="764"/>
                    </a:lnTo>
                    <a:lnTo>
                      <a:pt x="281" y="768"/>
                    </a:lnTo>
                    <a:lnTo>
                      <a:pt x="283" y="771"/>
                    </a:lnTo>
                    <a:lnTo>
                      <a:pt x="283" y="776"/>
                    </a:lnTo>
                    <a:lnTo>
                      <a:pt x="283" y="780"/>
                    </a:lnTo>
                    <a:lnTo>
                      <a:pt x="283" y="783"/>
                    </a:lnTo>
                    <a:lnTo>
                      <a:pt x="283" y="788"/>
                    </a:lnTo>
                    <a:lnTo>
                      <a:pt x="283" y="791"/>
                    </a:lnTo>
                    <a:lnTo>
                      <a:pt x="283" y="794"/>
                    </a:lnTo>
                    <a:lnTo>
                      <a:pt x="283" y="796"/>
                    </a:lnTo>
                    <a:lnTo>
                      <a:pt x="282" y="799"/>
                    </a:lnTo>
                    <a:lnTo>
                      <a:pt x="281" y="803"/>
                    </a:lnTo>
                    <a:lnTo>
                      <a:pt x="281" y="807"/>
                    </a:lnTo>
                    <a:lnTo>
                      <a:pt x="281" y="810"/>
                    </a:lnTo>
                    <a:lnTo>
                      <a:pt x="281" y="814"/>
                    </a:lnTo>
                    <a:lnTo>
                      <a:pt x="281" y="818"/>
                    </a:lnTo>
                    <a:lnTo>
                      <a:pt x="282" y="822"/>
                    </a:lnTo>
                    <a:lnTo>
                      <a:pt x="281" y="826"/>
                    </a:lnTo>
                    <a:lnTo>
                      <a:pt x="281" y="834"/>
                    </a:lnTo>
                    <a:lnTo>
                      <a:pt x="286" y="837"/>
                    </a:lnTo>
                    <a:lnTo>
                      <a:pt x="290" y="837"/>
                    </a:lnTo>
                    <a:lnTo>
                      <a:pt x="290" y="837"/>
                    </a:lnTo>
                    <a:lnTo>
                      <a:pt x="294" y="838"/>
                    </a:lnTo>
                    <a:lnTo>
                      <a:pt x="297" y="838"/>
                    </a:lnTo>
                    <a:lnTo>
                      <a:pt x="297" y="838"/>
                    </a:lnTo>
                    <a:lnTo>
                      <a:pt x="300" y="841"/>
                    </a:lnTo>
                    <a:lnTo>
                      <a:pt x="300" y="842"/>
                    </a:lnTo>
                    <a:lnTo>
                      <a:pt x="300" y="845"/>
                    </a:lnTo>
                    <a:lnTo>
                      <a:pt x="301" y="849"/>
                    </a:lnTo>
                    <a:lnTo>
                      <a:pt x="301" y="852"/>
                    </a:lnTo>
                    <a:lnTo>
                      <a:pt x="301" y="857"/>
                    </a:lnTo>
                    <a:lnTo>
                      <a:pt x="301" y="861"/>
                    </a:lnTo>
                    <a:lnTo>
                      <a:pt x="302" y="865"/>
                    </a:lnTo>
                    <a:lnTo>
                      <a:pt x="302" y="869"/>
                    </a:lnTo>
                    <a:lnTo>
                      <a:pt x="302" y="873"/>
                    </a:lnTo>
                    <a:lnTo>
                      <a:pt x="302" y="876"/>
                    </a:lnTo>
                    <a:lnTo>
                      <a:pt x="305" y="880"/>
                    </a:lnTo>
                    <a:lnTo>
                      <a:pt x="306" y="883"/>
                    </a:lnTo>
                    <a:lnTo>
                      <a:pt x="312" y="883"/>
                    </a:lnTo>
                    <a:lnTo>
                      <a:pt x="317" y="884"/>
                    </a:lnTo>
                    <a:lnTo>
                      <a:pt x="322" y="885"/>
                    </a:lnTo>
                    <a:lnTo>
                      <a:pt x="328" y="885"/>
                    </a:lnTo>
                    <a:lnTo>
                      <a:pt x="332" y="887"/>
                    </a:lnTo>
                    <a:lnTo>
                      <a:pt x="336" y="887"/>
                    </a:lnTo>
                    <a:lnTo>
                      <a:pt x="344" y="887"/>
                    </a:lnTo>
                    <a:lnTo>
                      <a:pt x="353" y="887"/>
                    </a:lnTo>
                    <a:lnTo>
                      <a:pt x="360" y="887"/>
                    </a:lnTo>
                    <a:lnTo>
                      <a:pt x="370" y="899"/>
                    </a:lnTo>
                    <a:lnTo>
                      <a:pt x="363" y="906"/>
                    </a:lnTo>
                    <a:lnTo>
                      <a:pt x="363" y="908"/>
                    </a:lnTo>
                    <a:lnTo>
                      <a:pt x="362" y="912"/>
                    </a:lnTo>
                    <a:lnTo>
                      <a:pt x="362" y="916"/>
                    </a:lnTo>
                    <a:lnTo>
                      <a:pt x="367" y="920"/>
                    </a:lnTo>
                    <a:lnTo>
                      <a:pt x="372" y="924"/>
                    </a:lnTo>
                    <a:lnTo>
                      <a:pt x="376" y="922"/>
                    </a:lnTo>
                    <a:lnTo>
                      <a:pt x="383" y="922"/>
                    </a:lnTo>
                    <a:lnTo>
                      <a:pt x="390" y="935"/>
                    </a:lnTo>
                    <a:lnTo>
                      <a:pt x="395" y="939"/>
                    </a:lnTo>
                    <a:lnTo>
                      <a:pt x="394" y="947"/>
                    </a:lnTo>
                    <a:lnTo>
                      <a:pt x="398" y="943"/>
                    </a:lnTo>
                    <a:lnTo>
                      <a:pt x="401" y="941"/>
                    </a:lnTo>
                    <a:lnTo>
                      <a:pt x="402" y="938"/>
                    </a:lnTo>
                    <a:lnTo>
                      <a:pt x="405" y="935"/>
                    </a:lnTo>
                    <a:lnTo>
                      <a:pt x="403" y="924"/>
                    </a:lnTo>
                    <a:lnTo>
                      <a:pt x="409" y="922"/>
                    </a:lnTo>
                    <a:lnTo>
                      <a:pt x="413" y="919"/>
                    </a:lnTo>
                    <a:lnTo>
                      <a:pt x="416" y="918"/>
                    </a:lnTo>
                    <a:lnTo>
                      <a:pt x="421" y="918"/>
                    </a:lnTo>
                    <a:lnTo>
                      <a:pt x="424" y="916"/>
                    </a:lnTo>
                    <a:lnTo>
                      <a:pt x="426" y="914"/>
                    </a:lnTo>
                    <a:lnTo>
                      <a:pt x="429" y="910"/>
                    </a:lnTo>
                    <a:lnTo>
                      <a:pt x="432" y="907"/>
                    </a:lnTo>
                    <a:lnTo>
                      <a:pt x="434" y="906"/>
                    </a:lnTo>
                    <a:lnTo>
                      <a:pt x="438" y="903"/>
                    </a:lnTo>
                    <a:lnTo>
                      <a:pt x="441" y="902"/>
                    </a:lnTo>
                    <a:lnTo>
                      <a:pt x="445" y="899"/>
                    </a:lnTo>
                    <a:lnTo>
                      <a:pt x="449" y="895"/>
                    </a:lnTo>
                    <a:lnTo>
                      <a:pt x="452" y="892"/>
                    </a:lnTo>
                    <a:lnTo>
                      <a:pt x="456" y="891"/>
                    </a:lnTo>
                    <a:lnTo>
                      <a:pt x="461" y="889"/>
                    </a:lnTo>
                    <a:lnTo>
                      <a:pt x="465" y="888"/>
                    </a:lnTo>
                    <a:lnTo>
                      <a:pt x="471" y="888"/>
                    </a:lnTo>
                    <a:lnTo>
                      <a:pt x="475" y="889"/>
                    </a:lnTo>
                    <a:lnTo>
                      <a:pt x="483" y="884"/>
                    </a:lnTo>
                    <a:lnTo>
                      <a:pt x="487" y="873"/>
                    </a:lnTo>
                    <a:lnTo>
                      <a:pt x="492" y="869"/>
                    </a:lnTo>
                    <a:lnTo>
                      <a:pt x="497" y="865"/>
                    </a:lnTo>
                    <a:lnTo>
                      <a:pt x="501" y="861"/>
                    </a:lnTo>
                    <a:lnTo>
                      <a:pt x="506" y="857"/>
                    </a:lnTo>
                    <a:lnTo>
                      <a:pt x="521" y="846"/>
                    </a:lnTo>
                    <a:lnTo>
                      <a:pt x="542" y="846"/>
                    </a:lnTo>
                    <a:lnTo>
                      <a:pt x="549" y="844"/>
                    </a:lnTo>
                    <a:lnTo>
                      <a:pt x="553" y="842"/>
                    </a:lnTo>
                    <a:lnTo>
                      <a:pt x="556" y="835"/>
                    </a:lnTo>
                    <a:lnTo>
                      <a:pt x="559" y="834"/>
                    </a:lnTo>
                    <a:lnTo>
                      <a:pt x="563" y="833"/>
                    </a:lnTo>
                    <a:lnTo>
                      <a:pt x="567" y="833"/>
                    </a:lnTo>
                    <a:lnTo>
                      <a:pt x="572" y="823"/>
                    </a:lnTo>
                    <a:lnTo>
                      <a:pt x="577" y="825"/>
                    </a:lnTo>
                    <a:lnTo>
                      <a:pt x="582" y="825"/>
                    </a:lnTo>
                    <a:lnTo>
                      <a:pt x="587" y="826"/>
                    </a:lnTo>
                    <a:lnTo>
                      <a:pt x="591" y="827"/>
                    </a:lnTo>
                    <a:lnTo>
                      <a:pt x="595" y="829"/>
                    </a:lnTo>
                    <a:lnTo>
                      <a:pt x="598" y="831"/>
                    </a:lnTo>
                    <a:lnTo>
                      <a:pt x="600" y="831"/>
                    </a:lnTo>
                    <a:lnTo>
                      <a:pt x="604" y="833"/>
                    </a:lnTo>
                    <a:lnTo>
                      <a:pt x="610" y="834"/>
                    </a:lnTo>
                    <a:lnTo>
                      <a:pt x="615" y="835"/>
                    </a:lnTo>
                    <a:lnTo>
                      <a:pt x="621" y="831"/>
                    </a:lnTo>
                    <a:lnTo>
                      <a:pt x="617" y="827"/>
                    </a:lnTo>
                    <a:lnTo>
                      <a:pt x="617" y="822"/>
                    </a:lnTo>
                    <a:lnTo>
                      <a:pt x="622" y="819"/>
                    </a:lnTo>
                    <a:lnTo>
                      <a:pt x="630" y="819"/>
                    </a:lnTo>
                    <a:lnTo>
                      <a:pt x="633" y="818"/>
                    </a:lnTo>
                    <a:lnTo>
                      <a:pt x="635" y="817"/>
                    </a:lnTo>
                    <a:lnTo>
                      <a:pt x="640" y="817"/>
                    </a:lnTo>
                    <a:lnTo>
                      <a:pt x="641" y="814"/>
                    </a:lnTo>
                    <a:lnTo>
                      <a:pt x="642" y="811"/>
                    </a:lnTo>
                    <a:lnTo>
                      <a:pt x="652" y="811"/>
                    </a:lnTo>
                    <a:lnTo>
                      <a:pt x="650" y="803"/>
                    </a:lnTo>
                    <a:lnTo>
                      <a:pt x="654" y="799"/>
                    </a:lnTo>
                    <a:lnTo>
                      <a:pt x="664" y="799"/>
                    </a:lnTo>
                    <a:lnTo>
                      <a:pt x="667" y="799"/>
                    </a:lnTo>
                    <a:lnTo>
                      <a:pt x="672" y="798"/>
                    </a:lnTo>
                    <a:lnTo>
                      <a:pt x="684" y="803"/>
                    </a:lnTo>
                    <a:lnTo>
                      <a:pt x="681" y="800"/>
                    </a:lnTo>
                    <a:lnTo>
                      <a:pt x="689" y="804"/>
                    </a:lnTo>
                    <a:lnTo>
                      <a:pt x="695" y="800"/>
                    </a:lnTo>
                    <a:lnTo>
                      <a:pt x="695" y="791"/>
                    </a:lnTo>
                    <a:lnTo>
                      <a:pt x="689" y="784"/>
                    </a:lnTo>
                    <a:lnTo>
                      <a:pt x="694" y="779"/>
                    </a:lnTo>
                    <a:lnTo>
                      <a:pt x="698" y="779"/>
                    </a:lnTo>
                    <a:lnTo>
                      <a:pt x="706" y="777"/>
                    </a:lnTo>
                    <a:lnTo>
                      <a:pt x="712" y="777"/>
                    </a:lnTo>
                    <a:lnTo>
                      <a:pt x="723" y="777"/>
                    </a:lnTo>
                    <a:lnTo>
                      <a:pt x="730" y="776"/>
                    </a:lnTo>
                    <a:lnTo>
                      <a:pt x="738" y="776"/>
                    </a:lnTo>
                    <a:lnTo>
                      <a:pt x="743" y="775"/>
                    </a:lnTo>
                    <a:lnTo>
                      <a:pt x="749" y="775"/>
                    </a:lnTo>
                    <a:lnTo>
                      <a:pt x="753" y="773"/>
                    </a:lnTo>
                    <a:lnTo>
                      <a:pt x="753" y="772"/>
                    </a:lnTo>
                    <a:lnTo>
                      <a:pt x="754" y="768"/>
                    </a:lnTo>
                    <a:lnTo>
                      <a:pt x="757" y="767"/>
                    </a:lnTo>
                    <a:lnTo>
                      <a:pt x="761" y="765"/>
                    </a:lnTo>
                    <a:lnTo>
                      <a:pt x="765" y="768"/>
                    </a:lnTo>
                    <a:lnTo>
                      <a:pt x="769" y="771"/>
                    </a:lnTo>
                    <a:lnTo>
                      <a:pt x="773" y="777"/>
                    </a:lnTo>
                    <a:lnTo>
                      <a:pt x="776" y="779"/>
                    </a:lnTo>
                    <a:lnTo>
                      <a:pt x="780" y="779"/>
                    </a:lnTo>
                    <a:lnTo>
                      <a:pt x="784" y="779"/>
                    </a:lnTo>
                    <a:lnTo>
                      <a:pt x="788" y="779"/>
                    </a:lnTo>
                    <a:lnTo>
                      <a:pt x="792" y="784"/>
                    </a:lnTo>
                    <a:lnTo>
                      <a:pt x="800" y="783"/>
                    </a:lnTo>
                    <a:lnTo>
                      <a:pt x="805" y="784"/>
                    </a:lnTo>
                    <a:lnTo>
                      <a:pt x="807" y="776"/>
                    </a:lnTo>
                    <a:lnTo>
                      <a:pt x="808" y="772"/>
                    </a:lnTo>
                    <a:lnTo>
                      <a:pt x="811" y="769"/>
                    </a:lnTo>
                    <a:lnTo>
                      <a:pt x="807" y="764"/>
                    </a:lnTo>
                    <a:lnTo>
                      <a:pt x="803" y="760"/>
                    </a:lnTo>
                    <a:lnTo>
                      <a:pt x="807" y="760"/>
                    </a:lnTo>
                    <a:lnTo>
                      <a:pt x="812" y="759"/>
                    </a:lnTo>
                    <a:lnTo>
                      <a:pt x="819" y="765"/>
                    </a:lnTo>
                    <a:lnTo>
                      <a:pt x="816" y="771"/>
                    </a:lnTo>
                    <a:lnTo>
                      <a:pt x="823" y="777"/>
                    </a:lnTo>
                    <a:lnTo>
                      <a:pt x="826" y="779"/>
                    </a:lnTo>
                    <a:lnTo>
                      <a:pt x="830" y="781"/>
                    </a:lnTo>
                    <a:lnTo>
                      <a:pt x="837" y="780"/>
                    </a:lnTo>
                    <a:lnTo>
                      <a:pt x="842" y="780"/>
                    </a:lnTo>
                    <a:lnTo>
                      <a:pt x="845" y="780"/>
                    </a:lnTo>
                    <a:lnTo>
                      <a:pt x="849" y="781"/>
                    </a:lnTo>
                    <a:lnTo>
                      <a:pt x="854" y="781"/>
                    </a:lnTo>
                    <a:lnTo>
                      <a:pt x="859" y="781"/>
                    </a:lnTo>
                    <a:lnTo>
                      <a:pt x="865" y="781"/>
                    </a:lnTo>
                    <a:lnTo>
                      <a:pt x="868" y="780"/>
                    </a:lnTo>
                    <a:lnTo>
                      <a:pt x="873" y="779"/>
                    </a:lnTo>
                    <a:lnTo>
                      <a:pt x="876" y="783"/>
                    </a:lnTo>
                    <a:lnTo>
                      <a:pt x="880" y="783"/>
                    </a:lnTo>
                    <a:lnTo>
                      <a:pt x="888" y="783"/>
                    </a:lnTo>
                    <a:lnTo>
                      <a:pt x="896" y="783"/>
                    </a:lnTo>
                    <a:lnTo>
                      <a:pt x="904" y="779"/>
                    </a:lnTo>
                    <a:lnTo>
                      <a:pt x="913" y="781"/>
                    </a:lnTo>
                    <a:lnTo>
                      <a:pt x="911" y="775"/>
                    </a:lnTo>
                    <a:lnTo>
                      <a:pt x="909" y="768"/>
                    </a:lnTo>
                    <a:lnTo>
                      <a:pt x="915" y="764"/>
                    </a:lnTo>
                    <a:lnTo>
                      <a:pt x="917" y="760"/>
                    </a:lnTo>
                    <a:lnTo>
                      <a:pt x="922" y="756"/>
                    </a:lnTo>
                    <a:lnTo>
                      <a:pt x="924" y="753"/>
                    </a:lnTo>
                    <a:lnTo>
                      <a:pt x="928" y="749"/>
                    </a:lnTo>
                    <a:lnTo>
                      <a:pt x="932" y="746"/>
                    </a:lnTo>
                    <a:lnTo>
                      <a:pt x="936" y="745"/>
                    </a:lnTo>
                    <a:lnTo>
                      <a:pt x="951" y="745"/>
                    </a:lnTo>
                    <a:lnTo>
                      <a:pt x="958" y="736"/>
                    </a:lnTo>
                    <a:lnTo>
                      <a:pt x="962" y="736"/>
                    </a:lnTo>
                    <a:lnTo>
                      <a:pt x="969" y="736"/>
                    </a:lnTo>
                    <a:lnTo>
                      <a:pt x="971" y="734"/>
                    </a:lnTo>
                    <a:lnTo>
                      <a:pt x="977" y="732"/>
                    </a:lnTo>
                    <a:lnTo>
                      <a:pt x="981" y="730"/>
                    </a:lnTo>
                    <a:lnTo>
                      <a:pt x="986" y="726"/>
                    </a:lnTo>
                    <a:lnTo>
                      <a:pt x="992" y="723"/>
                    </a:lnTo>
                    <a:lnTo>
                      <a:pt x="996" y="721"/>
                    </a:lnTo>
                    <a:lnTo>
                      <a:pt x="1000" y="718"/>
                    </a:lnTo>
                    <a:lnTo>
                      <a:pt x="1002" y="715"/>
                    </a:lnTo>
                    <a:lnTo>
                      <a:pt x="1002" y="710"/>
                    </a:lnTo>
                    <a:lnTo>
                      <a:pt x="1004" y="703"/>
                    </a:lnTo>
                    <a:lnTo>
                      <a:pt x="1000" y="698"/>
                    </a:lnTo>
                    <a:lnTo>
                      <a:pt x="997" y="696"/>
                    </a:lnTo>
                    <a:lnTo>
                      <a:pt x="993" y="690"/>
                    </a:lnTo>
                    <a:lnTo>
                      <a:pt x="994" y="680"/>
                    </a:lnTo>
                    <a:lnTo>
                      <a:pt x="992" y="671"/>
                    </a:lnTo>
                    <a:lnTo>
                      <a:pt x="996" y="663"/>
                    </a:lnTo>
                    <a:lnTo>
                      <a:pt x="998" y="659"/>
                    </a:lnTo>
                    <a:lnTo>
                      <a:pt x="1002" y="655"/>
                    </a:lnTo>
                    <a:lnTo>
                      <a:pt x="1005" y="649"/>
                    </a:lnTo>
                    <a:lnTo>
                      <a:pt x="1005" y="644"/>
                    </a:lnTo>
                    <a:lnTo>
                      <a:pt x="1008" y="643"/>
                    </a:lnTo>
                    <a:lnTo>
                      <a:pt x="1011" y="640"/>
                    </a:lnTo>
                    <a:lnTo>
                      <a:pt x="1015" y="634"/>
                    </a:lnTo>
                    <a:lnTo>
                      <a:pt x="1012" y="625"/>
                    </a:lnTo>
                    <a:lnTo>
                      <a:pt x="1019" y="622"/>
                    </a:lnTo>
                    <a:lnTo>
                      <a:pt x="1024" y="620"/>
                    </a:lnTo>
                    <a:lnTo>
                      <a:pt x="1034" y="624"/>
                    </a:lnTo>
                    <a:lnTo>
                      <a:pt x="1040" y="624"/>
                    </a:lnTo>
                    <a:lnTo>
                      <a:pt x="1040" y="613"/>
                    </a:lnTo>
                    <a:lnTo>
                      <a:pt x="1046" y="609"/>
                    </a:lnTo>
                    <a:lnTo>
                      <a:pt x="1050" y="606"/>
                    </a:lnTo>
                    <a:lnTo>
                      <a:pt x="1051" y="601"/>
                    </a:lnTo>
                    <a:lnTo>
                      <a:pt x="1054" y="597"/>
                    </a:lnTo>
                    <a:lnTo>
                      <a:pt x="1058" y="594"/>
                    </a:lnTo>
                    <a:lnTo>
                      <a:pt x="1063" y="591"/>
                    </a:lnTo>
                    <a:lnTo>
                      <a:pt x="1065" y="589"/>
                    </a:lnTo>
                    <a:lnTo>
                      <a:pt x="1067" y="586"/>
                    </a:lnTo>
                    <a:lnTo>
                      <a:pt x="1069" y="582"/>
                    </a:lnTo>
                    <a:lnTo>
                      <a:pt x="1069" y="570"/>
                    </a:lnTo>
                    <a:lnTo>
                      <a:pt x="1073" y="559"/>
                    </a:lnTo>
                    <a:lnTo>
                      <a:pt x="1075" y="556"/>
                    </a:lnTo>
                    <a:lnTo>
                      <a:pt x="1079" y="555"/>
                    </a:lnTo>
                    <a:lnTo>
                      <a:pt x="1081" y="552"/>
                    </a:lnTo>
                    <a:lnTo>
                      <a:pt x="1083" y="549"/>
                    </a:lnTo>
                    <a:lnTo>
                      <a:pt x="1086" y="545"/>
                    </a:lnTo>
                    <a:lnTo>
                      <a:pt x="1088" y="543"/>
                    </a:lnTo>
                    <a:lnTo>
                      <a:pt x="1090" y="537"/>
                    </a:lnTo>
                    <a:lnTo>
                      <a:pt x="1092" y="533"/>
                    </a:lnTo>
                    <a:lnTo>
                      <a:pt x="1094" y="529"/>
                    </a:lnTo>
                    <a:lnTo>
                      <a:pt x="1097" y="526"/>
                    </a:lnTo>
                    <a:lnTo>
                      <a:pt x="1100" y="522"/>
                    </a:lnTo>
                    <a:lnTo>
                      <a:pt x="1106" y="522"/>
                    </a:lnTo>
                    <a:lnTo>
                      <a:pt x="1110" y="520"/>
                    </a:lnTo>
                    <a:lnTo>
                      <a:pt x="1113" y="516"/>
                    </a:lnTo>
                    <a:lnTo>
                      <a:pt x="1117" y="513"/>
                    </a:lnTo>
                    <a:lnTo>
                      <a:pt x="1121" y="512"/>
                    </a:lnTo>
                    <a:lnTo>
                      <a:pt x="1113" y="505"/>
                    </a:lnTo>
                    <a:lnTo>
                      <a:pt x="1120" y="504"/>
                    </a:lnTo>
                    <a:lnTo>
                      <a:pt x="1125" y="504"/>
                    </a:lnTo>
                    <a:lnTo>
                      <a:pt x="1132" y="504"/>
                    </a:lnTo>
                    <a:lnTo>
                      <a:pt x="1136" y="498"/>
                    </a:lnTo>
                    <a:lnTo>
                      <a:pt x="1137" y="490"/>
                    </a:lnTo>
                    <a:lnTo>
                      <a:pt x="1135" y="486"/>
                    </a:lnTo>
                    <a:lnTo>
                      <a:pt x="1132" y="482"/>
                    </a:lnTo>
                    <a:lnTo>
                      <a:pt x="1132" y="474"/>
                    </a:lnTo>
                    <a:lnTo>
                      <a:pt x="1132" y="466"/>
                    </a:lnTo>
                    <a:lnTo>
                      <a:pt x="1136" y="459"/>
                    </a:lnTo>
                    <a:lnTo>
                      <a:pt x="1133" y="447"/>
                    </a:lnTo>
                    <a:lnTo>
                      <a:pt x="1135" y="443"/>
                    </a:lnTo>
                    <a:lnTo>
                      <a:pt x="1136" y="436"/>
                    </a:lnTo>
                    <a:lnTo>
                      <a:pt x="1137" y="428"/>
                    </a:lnTo>
                    <a:lnTo>
                      <a:pt x="1140" y="423"/>
                    </a:lnTo>
                    <a:lnTo>
                      <a:pt x="1141" y="416"/>
                    </a:lnTo>
                    <a:lnTo>
                      <a:pt x="1141" y="406"/>
                    </a:lnTo>
                    <a:lnTo>
                      <a:pt x="1141" y="406"/>
                    </a:lnTo>
                    <a:lnTo>
                      <a:pt x="1141" y="405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6350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pt-BR" sz="1200">
                  <a:latin typeface="Source Serif Pro" panose="02040603050405020204" pitchFamily="18" charset="0"/>
                  <a:ea typeface="Source Serif Pro" panose="02040603050405020204" pitchFamily="18" charset="0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F0E24EB-8ABD-A832-D0FB-9353E9CF08B8}"/>
                </a:ext>
              </a:extLst>
            </p:cNvPr>
            <p:cNvGrpSpPr/>
            <p:nvPr/>
          </p:nvGrpSpPr>
          <p:grpSpPr>
            <a:xfrm>
              <a:off x="2719588" y="2167146"/>
              <a:ext cx="2718594" cy="3224516"/>
              <a:chOff x="2719588" y="2167146"/>
              <a:chExt cx="2718594" cy="3224516"/>
            </a:xfrm>
          </p:grpSpPr>
          <p:sp>
            <p:nvSpPr>
              <p:cNvPr id="1106" name="Rectangle 1105">
                <a:extLst>
                  <a:ext uri="{FF2B5EF4-FFF2-40B4-BE49-F238E27FC236}">
                    <a16:creationId xmlns:a16="http://schemas.microsoft.com/office/drawing/2014/main" id="{19AB0003-4AA1-C8D2-E338-CD309A870024}"/>
                  </a:ext>
                </a:extLst>
              </p:cNvPr>
              <p:cNvSpPr/>
              <p:nvPr/>
            </p:nvSpPr>
            <p:spPr>
              <a:xfrm>
                <a:off x="3447876" y="3944827"/>
                <a:ext cx="480055" cy="144911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lnSpc>
                    <a:spcPct val="112000"/>
                  </a:lnSpc>
                  <a:spcAft>
                    <a:spcPts val="800"/>
                  </a:spcAft>
                </a:pPr>
                <a:r>
                  <a:rPr lang="pt-BR" sz="900" b="1" dirty="0">
                    <a:solidFill>
                      <a:schemeClr val="bg1"/>
                    </a:solidFill>
                    <a:latin typeface="Montserrat" panose="00000500000000000000" pitchFamily="2" charset="0"/>
                    <a:ea typeface="Lato" panose="020F0502020204030203" pitchFamily="34" charset="0"/>
                    <a:cs typeface="Lato" panose="020F0502020204030203" pitchFamily="34" charset="0"/>
                  </a:rPr>
                  <a:t>18%</a:t>
                </a:r>
              </a:p>
            </p:txBody>
          </p:sp>
          <p:sp>
            <p:nvSpPr>
              <p:cNvPr id="1107" name="Rectangle 1106">
                <a:extLst>
                  <a:ext uri="{FF2B5EF4-FFF2-40B4-BE49-F238E27FC236}">
                    <a16:creationId xmlns:a16="http://schemas.microsoft.com/office/drawing/2014/main" id="{58DE0EC8-8558-AA31-75CF-090D3109E2F0}"/>
                  </a:ext>
                </a:extLst>
              </p:cNvPr>
              <p:cNvSpPr/>
              <p:nvPr/>
            </p:nvSpPr>
            <p:spPr>
              <a:xfrm>
                <a:off x="3447876" y="3754744"/>
                <a:ext cx="480055" cy="144911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lnSpc>
                    <a:spcPct val="112000"/>
                  </a:lnSpc>
                  <a:spcAft>
                    <a:spcPts val="800"/>
                  </a:spcAft>
                </a:pPr>
                <a:r>
                  <a:rPr lang="pt-BR" sz="900" b="1" dirty="0">
                    <a:solidFill>
                      <a:schemeClr val="bg1"/>
                    </a:solidFill>
                    <a:latin typeface="Montserrat" panose="00000500000000000000" pitchFamily="2" charset="0"/>
                    <a:ea typeface="Lato" panose="020F0502020204030203" pitchFamily="34" charset="0"/>
                    <a:cs typeface="Lato" panose="020F0502020204030203" pitchFamily="34" charset="0"/>
                  </a:rPr>
                  <a:t>XXX</a:t>
                </a:r>
              </a:p>
            </p:txBody>
          </p:sp>
          <p:sp>
            <p:nvSpPr>
              <p:cNvPr id="1108" name="Rectangle 1107">
                <a:extLst>
                  <a:ext uri="{FF2B5EF4-FFF2-40B4-BE49-F238E27FC236}">
                    <a16:creationId xmlns:a16="http://schemas.microsoft.com/office/drawing/2014/main" id="{B1348823-A02D-AF30-B4B8-81FE1C196A0A}"/>
                  </a:ext>
                </a:extLst>
              </p:cNvPr>
              <p:cNvSpPr/>
              <p:nvPr/>
            </p:nvSpPr>
            <p:spPr>
              <a:xfrm>
                <a:off x="4472954" y="4507159"/>
                <a:ext cx="480055" cy="144911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lnSpc>
                    <a:spcPct val="112000"/>
                  </a:lnSpc>
                  <a:spcAft>
                    <a:spcPts val="800"/>
                  </a:spcAft>
                </a:pPr>
                <a:r>
                  <a:rPr lang="pt-BR" sz="900" b="1" dirty="0">
                    <a:solidFill>
                      <a:schemeClr val="bg1"/>
                    </a:solidFill>
                    <a:latin typeface="Montserrat" panose="00000500000000000000" pitchFamily="2" charset="0"/>
                    <a:ea typeface="Lato" panose="020F0502020204030203" pitchFamily="34" charset="0"/>
                    <a:cs typeface="Lato" panose="020F0502020204030203" pitchFamily="34" charset="0"/>
                  </a:rPr>
                  <a:t>52%</a:t>
                </a:r>
              </a:p>
            </p:txBody>
          </p:sp>
          <p:sp>
            <p:nvSpPr>
              <p:cNvPr id="1109" name="Rectangle 1108">
                <a:extLst>
                  <a:ext uri="{FF2B5EF4-FFF2-40B4-BE49-F238E27FC236}">
                    <a16:creationId xmlns:a16="http://schemas.microsoft.com/office/drawing/2014/main" id="{7C04213D-11DA-538D-DC29-65AABB51825D}"/>
                  </a:ext>
                </a:extLst>
              </p:cNvPr>
              <p:cNvSpPr/>
              <p:nvPr/>
            </p:nvSpPr>
            <p:spPr>
              <a:xfrm>
                <a:off x="4472954" y="4306834"/>
                <a:ext cx="480055" cy="144911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lnSpc>
                    <a:spcPct val="112000"/>
                  </a:lnSpc>
                  <a:spcAft>
                    <a:spcPts val="800"/>
                  </a:spcAft>
                </a:pPr>
                <a:r>
                  <a:rPr lang="pt-BR" sz="900" b="1" dirty="0">
                    <a:solidFill>
                      <a:schemeClr val="bg1"/>
                    </a:solidFill>
                    <a:latin typeface="Montserrat" panose="00000500000000000000" pitchFamily="2" charset="0"/>
                    <a:ea typeface="Lato" panose="020F0502020204030203" pitchFamily="34" charset="0"/>
                    <a:cs typeface="Lato" panose="020F0502020204030203" pitchFamily="34" charset="0"/>
                  </a:rPr>
                  <a:t>XXX</a:t>
                </a:r>
              </a:p>
            </p:txBody>
          </p:sp>
          <p:sp>
            <p:nvSpPr>
              <p:cNvPr id="1110" name="Rectangle 1109">
                <a:extLst>
                  <a:ext uri="{FF2B5EF4-FFF2-40B4-BE49-F238E27FC236}">
                    <a16:creationId xmlns:a16="http://schemas.microsoft.com/office/drawing/2014/main" id="{F91C0AFA-ABDF-ACF1-A06F-4B0ED96B2578}"/>
                  </a:ext>
                </a:extLst>
              </p:cNvPr>
              <p:cNvSpPr/>
              <p:nvPr/>
            </p:nvSpPr>
            <p:spPr>
              <a:xfrm>
                <a:off x="4958127" y="3142835"/>
                <a:ext cx="480055" cy="144911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lnSpc>
                    <a:spcPct val="112000"/>
                  </a:lnSpc>
                  <a:spcAft>
                    <a:spcPts val="800"/>
                  </a:spcAft>
                </a:pPr>
                <a:r>
                  <a:rPr lang="pt-BR" sz="900" b="1" dirty="0">
                    <a:solidFill>
                      <a:schemeClr val="bg1"/>
                    </a:solidFill>
                    <a:latin typeface="Montserrat" panose="00000500000000000000" pitchFamily="2" charset="0"/>
                    <a:ea typeface="Lato" panose="020F0502020204030203" pitchFamily="34" charset="0"/>
                    <a:cs typeface="Lato" panose="020F0502020204030203" pitchFamily="34" charset="0"/>
                  </a:rPr>
                  <a:t>12%</a:t>
                </a:r>
              </a:p>
            </p:txBody>
          </p:sp>
          <p:sp>
            <p:nvSpPr>
              <p:cNvPr id="1111" name="Rectangle 1110">
                <a:extLst>
                  <a:ext uri="{FF2B5EF4-FFF2-40B4-BE49-F238E27FC236}">
                    <a16:creationId xmlns:a16="http://schemas.microsoft.com/office/drawing/2014/main" id="{19233413-105F-8C19-5AF0-FCECE4DDEFED}"/>
                  </a:ext>
                </a:extLst>
              </p:cNvPr>
              <p:cNvSpPr/>
              <p:nvPr/>
            </p:nvSpPr>
            <p:spPr>
              <a:xfrm>
                <a:off x="4958127" y="2928437"/>
                <a:ext cx="480055" cy="144911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lnSpc>
                    <a:spcPct val="112000"/>
                  </a:lnSpc>
                  <a:spcAft>
                    <a:spcPts val="800"/>
                  </a:spcAft>
                </a:pPr>
                <a:r>
                  <a:rPr lang="pt-BR" sz="900" b="1" dirty="0">
                    <a:solidFill>
                      <a:schemeClr val="bg1"/>
                    </a:solidFill>
                    <a:latin typeface="Montserrat" panose="00000500000000000000" pitchFamily="2" charset="0"/>
                    <a:ea typeface="Lato" panose="020F0502020204030203" pitchFamily="34" charset="0"/>
                    <a:cs typeface="Lato" panose="020F0502020204030203" pitchFamily="34" charset="0"/>
                  </a:rPr>
                  <a:t>XXX</a:t>
                </a:r>
              </a:p>
            </p:txBody>
          </p:sp>
          <p:sp>
            <p:nvSpPr>
              <p:cNvPr id="1112" name="Rectangle 1111">
                <a:extLst>
                  <a:ext uri="{FF2B5EF4-FFF2-40B4-BE49-F238E27FC236}">
                    <a16:creationId xmlns:a16="http://schemas.microsoft.com/office/drawing/2014/main" id="{6E2602A8-3E0F-8930-A4F9-E3AFE834536C}"/>
                  </a:ext>
                </a:extLst>
              </p:cNvPr>
              <p:cNvSpPr/>
              <p:nvPr/>
            </p:nvSpPr>
            <p:spPr>
              <a:xfrm>
                <a:off x="3450671" y="5246751"/>
                <a:ext cx="480055" cy="144911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lnSpc>
                    <a:spcPct val="112000"/>
                  </a:lnSpc>
                  <a:spcAft>
                    <a:spcPts val="800"/>
                  </a:spcAft>
                </a:pPr>
                <a:r>
                  <a:rPr lang="pt-BR" sz="900" b="1" dirty="0">
                    <a:solidFill>
                      <a:schemeClr val="bg1"/>
                    </a:solidFill>
                    <a:latin typeface="Montserrat" panose="00000500000000000000" pitchFamily="2" charset="0"/>
                    <a:ea typeface="Lato" panose="020F0502020204030203" pitchFamily="34" charset="0"/>
                    <a:cs typeface="Lato" panose="020F0502020204030203" pitchFamily="34" charset="0"/>
                  </a:rPr>
                  <a:t>10%</a:t>
                </a:r>
              </a:p>
            </p:txBody>
          </p:sp>
          <p:sp>
            <p:nvSpPr>
              <p:cNvPr id="1113" name="Rectangle 1112">
                <a:extLst>
                  <a:ext uri="{FF2B5EF4-FFF2-40B4-BE49-F238E27FC236}">
                    <a16:creationId xmlns:a16="http://schemas.microsoft.com/office/drawing/2014/main" id="{00F524C8-E981-D264-002A-248914E1A791}"/>
                  </a:ext>
                </a:extLst>
              </p:cNvPr>
              <p:cNvSpPr/>
              <p:nvPr/>
            </p:nvSpPr>
            <p:spPr>
              <a:xfrm>
                <a:off x="3450671" y="5039250"/>
                <a:ext cx="480055" cy="160941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lnSpc>
                    <a:spcPct val="112000"/>
                  </a:lnSpc>
                  <a:spcAft>
                    <a:spcPts val="800"/>
                  </a:spcAft>
                </a:pPr>
                <a:r>
                  <a:rPr lang="pt-BR" sz="1000" b="1" dirty="0">
                    <a:solidFill>
                      <a:schemeClr val="bg1"/>
                    </a:solidFill>
                    <a:latin typeface="Montserrat" panose="00000500000000000000" pitchFamily="2" charset="0"/>
                    <a:ea typeface="Lato" panose="020F0502020204030203" pitchFamily="34" charset="0"/>
                    <a:cs typeface="Lato" panose="020F0502020204030203" pitchFamily="34" charset="0"/>
                  </a:rPr>
                  <a:t>XXX</a:t>
                </a:r>
              </a:p>
            </p:txBody>
          </p:sp>
          <p:sp>
            <p:nvSpPr>
              <p:cNvPr id="1114" name="Rectangle 1113">
                <a:extLst>
                  <a:ext uri="{FF2B5EF4-FFF2-40B4-BE49-F238E27FC236}">
                    <a16:creationId xmlns:a16="http://schemas.microsoft.com/office/drawing/2014/main" id="{4BB9FC57-DBCE-68A1-F609-8980025CAEC2}"/>
                  </a:ext>
                </a:extLst>
              </p:cNvPr>
              <p:cNvSpPr/>
              <p:nvPr/>
            </p:nvSpPr>
            <p:spPr>
              <a:xfrm>
                <a:off x="2719588" y="2357230"/>
                <a:ext cx="480055" cy="144911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lnSpc>
                    <a:spcPct val="112000"/>
                  </a:lnSpc>
                  <a:spcAft>
                    <a:spcPts val="800"/>
                  </a:spcAft>
                </a:pPr>
                <a:r>
                  <a:rPr lang="pt-BR" sz="900" b="1" dirty="0">
                    <a:solidFill>
                      <a:schemeClr val="bg1"/>
                    </a:solidFill>
                    <a:latin typeface="Montserrat" panose="00000500000000000000" pitchFamily="2" charset="0"/>
                    <a:ea typeface="Lato" panose="020F0502020204030203" pitchFamily="34" charset="0"/>
                    <a:cs typeface="Lato" panose="020F0502020204030203" pitchFamily="34" charset="0"/>
                  </a:rPr>
                  <a:t>8%</a:t>
                </a:r>
              </a:p>
            </p:txBody>
          </p:sp>
          <p:sp>
            <p:nvSpPr>
              <p:cNvPr id="1115" name="Rectangle 1114">
                <a:extLst>
                  <a:ext uri="{FF2B5EF4-FFF2-40B4-BE49-F238E27FC236}">
                    <a16:creationId xmlns:a16="http://schemas.microsoft.com/office/drawing/2014/main" id="{A52B7376-CCDE-CD72-78D9-2D93AE1EAE2F}"/>
                  </a:ext>
                </a:extLst>
              </p:cNvPr>
              <p:cNvSpPr/>
              <p:nvPr/>
            </p:nvSpPr>
            <p:spPr>
              <a:xfrm>
                <a:off x="2719588" y="2167146"/>
                <a:ext cx="480055" cy="144911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lnSpc>
                    <a:spcPct val="112000"/>
                  </a:lnSpc>
                  <a:spcAft>
                    <a:spcPts val="800"/>
                  </a:spcAft>
                </a:pPr>
                <a:r>
                  <a:rPr lang="pt-BR" sz="900" b="1" dirty="0">
                    <a:solidFill>
                      <a:schemeClr val="bg1"/>
                    </a:solidFill>
                    <a:latin typeface="Montserrat" panose="00000500000000000000" pitchFamily="2" charset="0"/>
                    <a:ea typeface="Lato" panose="020F0502020204030203" pitchFamily="34" charset="0"/>
                    <a:cs typeface="Lato" panose="020F0502020204030203" pitchFamily="34" charset="0"/>
                  </a:rPr>
                  <a:t>XXX</a:t>
                </a:r>
              </a:p>
            </p:txBody>
          </p:sp>
        </p:grpSp>
      </p:grpSp>
      <p:grpSp>
        <p:nvGrpSpPr>
          <p:cNvPr id="7274" name="Group 7273">
            <a:extLst>
              <a:ext uri="{FF2B5EF4-FFF2-40B4-BE49-F238E27FC236}">
                <a16:creationId xmlns:a16="http://schemas.microsoft.com/office/drawing/2014/main" id="{4D02E266-6FF7-2B3A-9719-C72691A28AAB}"/>
              </a:ext>
            </a:extLst>
          </p:cNvPr>
          <p:cNvGrpSpPr/>
          <p:nvPr/>
        </p:nvGrpSpPr>
        <p:grpSpPr>
          <a:xfrm>
            <a:off x="4396254" y="3871967"/>
            <a:ext cx="1552619" cy="867308"/>
            <a:chOff x="4225971" y="3871967"/>
            <a:chExt cx="1552619" cy="867308"/>
          </a:xfrm>
        </p:grpSpPr>
        <p:sp>
          <p:nvSpPr>
            <p:cNvPr id="7" name="Rectangle: Diagonal Corners Rounded 6">
              <a:extLst>
                <a:ext uri="{FF2B5EF4-FFF2-40B4-BE49-F238E27FC236}">
                  <a16:creationId xmlns:a16="http://schemas.microsoft.com/office/drawing/2014/main" id="{CA931E81-0391-CF00-3D37-3DFC764A7E69}"/>
                </a:ext>
              </a:extLst>
            </p:cNvPr>
            <p:cNvSpPr/>
            <p:nvPr/>
          </p:nvSpPr>
          <p:spPr>
            <a:xfrm flipV="1">
              <a:off x="4236893" y="3871967"/>
              <a:ext cx="1541697" cy="867308"/>
            </a:xfrm>
            <a:prstGeom prst="round2DiagRect">
              <a:avLst/>
            </a:prstGeom>
            <a:solidFill>
              <a:schemeClr val="accent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2000"/>
                </a:lnSpc>
                <a:spcAft>
                  <a:spcPts val="800"/>
                </a:spcAft>
              </a:pPr>
              <a:endParaRPr lang="pt-BR" sz="1200" dirty="0" err="1">
                <a:solidFill>
                  <a:schemeClr val="tx1"/>
                </a:solidFill>
                <a:latin typeface="Montserrat" panose="00000500000000000000" pitchFamily="2" charset="0"/>
                <a:ea typeface="Source Serif Pro" panose="02040603050405020204" pitchFamily="18" charset="0"/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2B83294-5FAB-8841-8177-0B4061E5CE15}"/>
                </a:ext>
              </a:extLst>
            </p:cNvPr>
            <p:cNvGrpSpPr/>
            <p:nvPr/>
          </p:nvGrpSpPr>
          <p:grpSpPr>
            <a:xfrm>
              <a:off x="4225971" y="3968151"/>
              <a:ext cx="1551398" cy="674940"/>
              <a:chOff x="4307090" y="1759852"/>
              <a:chExt cx="1563044" cy="586177"/>
            </a:xfrm>
          </p:grpSpPr>
          <p:sp>
            <p:nvSpPr>
              <p:cNvPr id="7525" name="TextBox 7524">
                <a:extLst>
                  <a:ext uri="{FF2B5EF4-FFF2-40B4-BE49-F238E27FC236}">
                    <a16:creationId xmlns:a16="http://schemas.microsoft.com/office/drawing/2014/main" id="{1F00A4CE-F0D0-F210-4E6D-F838B06A90D9}"/>
                  </a:ext>
                </a:extLst>
              </p:cNvPr>
              <p:cNvSpPr txBox="1"/>
              <p:nvPr/>
            </p:nvSpPr>
            <p:spPr>
              <a:xfrm>
                <a:off x="4307090" y="1759852"/>
                <a:ext cx="156304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Montserrat" panose="00000500000000000000" pitchFamily="2" charset="0"/>
                    <a:ea typeface="Source Serif Pro Black" panose="02040903050405020204" pitchFamily="18" charset="0"/>
                  </a:rPr>
                  <a:t>+</a:t>
                </a:r>
                <a:r>
                  <a:rPr lang="en-US" sz="2800" b="1" dirty="0">
                    <a:solidFill>
                      <a:schemeClr val="bg1"/>
                    </a:solidFill>
                    <a:latin typeface="Montserrat" panose="00000500000000000000" pitchFamily="2" charset="0"/>
                    <a:ea typeface="Source Serif Pro Black" panose="02040903050405020204" pitchFamily="18" charset="0"/>
                  </a:rPr>
                  <a:t>3.200</a:t>
                </a:r>
                <a:endParaRPr lang="pt-BR" sz="1100" dirty="0">
                  <a:solidFill>
                    <a:schemeClr val="bg1"/>
                  </a:solidFill>
                  <a:latin typeface="Montserrat" panose="00000500000000000000" pitchFamily="2" charset="0"/>
                  <a:ea typeface="Source Serif Pro Black" panose="02040903050405020204" pitchFamily="18" charset="0"/>
                </a:endParaRPr>
              </a:p>
            </p:txBody>
          </p:sp>
          <p:sp>
            <p:nvSpPr>
              <p:cNvPr id="7526" name="TextBox 7525">
                <a:extLst>
                  <a:ext uri="{FF2B5EF4-FFF2-40B4-BE49-F238E27FC236}">
                    <a16:creationId xmlns:a16="http://schemas.microsoft.com/office/drawing/2014/main" id="{F079E861-9EFF-CCA6-2AA2-0362AA7CCD46}"/>
                  </a:ext>
                </a:extLst>
              </p:cNvPr>
              <p:cNvSpPr txBox="1"/>
              <p:nvPr/>
            </p:nvSpPr>
            <p:spPr>
              <a:xfrm>
                <a:off x="4407116" y="2130585"/>
                <a:ext cx="1362993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800" dirty="0">
                    <a:latin typeface="Montserrat Medium" pitchFamily="2" charset="0"/>
                    <a:ea typeface="Source Serif Pro Black" panose="02040903050405020204" pitchFamily="18" charset="0"/>
                  </a:rPr>
                  <a:t>Clientes pelo Brasil</a:t>
                </a:r>
                <a:endParaRPr lang="pt-BR" sz="800" dirty="0">
                  <a:solidFill>
                    <a:srgbClr val="AD6ABF"/>
                  </a:solidFill>
                  <a:latin typeface="Montserrat" panose="00000500000000000000" pitchFamily="2" charset="0"/>
                  <a:ea typeface="Source Serif Pro Black" panose="02040903050405020204" pitchFamily="18" charset="0"/>
                </a:endParaRPr>
              </a:p>
            </p:txBody>
          </p:sp>
        </p:grpSp>
      </p:grpSp>
      <p:grpSp>
        <p:nvGrpSpPr>
          <p:cNvPr id="7527" name="Group 7526">
            <a:extLst>
              <a:ext uri="{FF2B5EF4-FFF2-40B4-BE49-F238E27FC236}">
                <a16:creationId xmlns:a16="http://schemas.microsoft.com/office/drawing/2014/main" id="{F811FB61-11DB-8D40-2C54-8215CCD230D5}"/>
              </a:ext>
            </a:extLst>
          </p:cNvPr>
          <p:cNvGrpSpPr/>
          <p:nvPr/>
        </p:nvGrpSpPr>
        <p:grpSpPr>
          <a:xfrm>
            <a:off x="730904" y="5635109"/>
            <a:ext cx="902837" cy="178146"/>
            <a:chOff x="583092" y="3244584"/>
            <a:chExt cx="901663" cy="196363"/>
          </a:xfrm>
        </p:grpSpPr>
        <p:sp>
          <p:nvSpPr>
            <p:cNvPr id="7528" name="Rectangle 7527">
              <a:extLst>
                <a:ext uri="{FF2B5EF4-FFF2-40B4-BE49-F238E27FC236}">
                  <a16:creationId xmlns:a16="http://schemas.microsoft.com/office/drawing/2014/main" id="{2C8E08A0-DA3B-5A1F-EEDB-FFAA71C85266}"/>
                </a:ext>
              </a:extLst>
            </p:cNvPr>
            <p:cNvSpPr/>
            <p:nvPr/>
          </p:nvSpPr>
          <p:spPr>
            <a:xfrm flipV="1">
              <a:off x="583092" y="3292946"/>
              <a:ext cx="99638" cy="9963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 dirty="0"/>
            </a:p>
          </p:txBody>
        </p:sp>
        <p:sp>
          <p:nvSpPr>
            <p:cNvPr id="7529" name="Rectangle 7528">
              <a:extLst>
                <a:ext uri="{FF2B5EF4-FFF2-40B4-BE49-F238E27FC236}">
                  <a16:creationId xmlns:a16="http://schemas.microsoft.com/office/drawing/2014/main" id="{95C6F343-E9DC-B8A7-0F53-8BACD05ED33A}"/>
                </a:ext>
              </a:extLst>
            </p:cNvPr>
            <p:cNvSpPr/>
            <p:nvPr/>
          </p:nvSpPr>
          <p:spPr>
            <a:xfrm>
              <a:off x="646282" y="3244584"/>
              <a:ext cx="838473" cy="1963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900" b="1" dirty="0">
                  <a:solidFill>
                    <a:schemeClr val="tx1"/>
                  </a:solidFill>
                  <a:latin typeface="Montserrat" panose="00000500000000000000" pitchFamily="2" charset="0"/>
                </a:rPr>
                <a:t>6% </a:t>
              </a:r>
              <a:r>
                <a:rPr lang="pt-BR" sz="9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do PIB</a:t>
              </a:r>
            </a:p>
          </p:txBody>
        </p:sp>
      </p:grpSp>
      <p:grpSp>
        <p:nvGrpSpPr>
          <p:cNvPr id="7530" name="Group 7529">
            <a:extLst>
              <a:ext uri="{FF2B5EF4-FFF2-40B4-BE49-F238E27FC236}">
                <a16:creationId xmlns:a16="http://schemas.microsoft.com/office/drawing/2014/main" id="{A0A57AAC-C3C0-455E-5B98-21CC18383AA3}"/>
              </a:ext>
            </a:extLst>
          </p:cNvPr>
          <p:cNvGrpSpPr/>
          <p:nvPr/>
        </p:nvGrpSpPr>
        <p:grpSpPr>
          <a:xfrm>
            <a:off x="731498" y="4794840"/>
            <a:ext cx="902837" cy="178146"/>
            <a:chOff x="583092" y="3484328"/>
            <a:chExt cx="901663" cy="196363"/>
          </a:xfrm>
        </p:grpSpPr>
        <p:sp>
          <p:nvSpPr>
            <p:cNvPr id="7531" name="Rectangle 7530">
              <a:extLst>
                <a:ext uri="{FF2B5EF4-FFF2-40B4-BE49-F238E27FC236}">
                  <a16:creationId xmlns:a16="http://schemas.microsoft.com/office/drawing/2014/main" id="{97AEFB18-B641-C7FA-A4D8-04AC8F3FA6A7}"/>
                </a:ext>
              </a:extLst>
            </p:cNvPr>
            <p:cNvSpPr/>
            <p:nvPr/>
          </p:nvSpPr>
          <p:spPr>
            <a:xfrm flipV="1">
              <a:off x="583092" y="3532690"/>
              <a:ext cx="99638" cy="9963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 dirty="0"/>
            </a:p>
          </p:txBody>
        </p:sp>
        <p:sp>
          <p:nvSpPr>
            <p:cNvPr id="7532" name="Rectangle 7531">
              <a:extLst>
                <a:ext uri="{FF2B5EF4-FFF2-40B4-BE49-F238E27FC236}">
                  <a16:creationId xmlns:a16="http://schemas.microsoft.com/office/drawing/2014/main" id="{3DE2044E-AB77-C463-AABA-EEA5F30DF9D0}"/>
                </a:ext>
              </a:extLst>
            </p:cNvPr>
            <p:cNvSpPr/>
            <p:nvPr/>
          </p:nvSpPr>
          <p:spPr>
            <a:xfrm>
              <a:off x="646282" y="3484328"/>
              <a:ext cx="838473" cy="1963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900" b="1" dirty="0">
                  <a:solidFill>
                    <a:schemeClr val="tx1"/>
                  </a:solidFill>
                  <a:latin typeface="Montserrat" panose="00000500000000000000" pitchFamily="2" charset="0"/>
                </a:rPr>
                <a:t>15% </a:t>
              </a:r>
              <a:r>
                <a:rPr lang="pt-BR" sz="9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do PIB</a:t>
              </a:r>
            </a:p>
          </p:txBody>
        </p:sp>
      </p:grpSp>
      <p:grpSp>
        <p:nvGrpSpPr>
          <p:cNvPr id="7533" name="Group 7532">
            <a:extLst>
              <a:ext uri="{FF2B5EF4-FFF2-40B4-BE49-F238E27FC236}">
                <a16:creationId xmlns:a16="http://schemas.microsoft.com/office/drawing/2014/main" id="{5E8A07CD-D6FA-837D-A311-72E2D69A0C9A}"/>
              </a:ext>
            </a:extLst>
          </p:cNvPr>
          <p:cNvGrpSpPr/>
          <p:nvPr/>
        </p:nvGrpSpPr>
        <p:grpSpPr>
          <a:xfrm>
            <a:off x="731498" y="4374706"/>
            <a:ext cx="902837" cy="178146"/>
            <a:chOff x="583092" y="3724072"/>
            <a:chExt cx="901663" cy="196363"/>
          </a:xfrm>
        </p:grpSpPr>
        <p:sp>
          <p:nvSpPr>
            <p:cNvPr id="7534" name="Rectangle 7533">
              <a:extLst>
                <a:ext uri="{FF2B5EF4-FFF2-40B4-BE49-F238E27FC236}">
                  <a16:creationId xmlns:a16="http://schemas.microsoft.com/office/drawing/2014/main" id="{BB21DD98-32B0-BC12-AB37-C49C30A48DD5}"/>
                </a:ext>
              </a:extLst>
            </p:cNvPr>
            <p:cNvSpPr/>
            <p:nvPr/>
          </p:nvSpPr>
          <p:spPr>
            <a:xfrm flipV="1">
              <a:off x="583092" y="3772434"/>
              <a:ext cx="99638" cy="9963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/>
            </a:p>
          </p:txBody>
        </p:sp>
        <p:sp>
          <p:nvSpPr>
            <p:cNvPr id="7535" name="Rectangle 7534">
              <a:extLst>
                <a:ext uri="{FF2B5EF4-FFF2-40B4-BE49-F238E27FC236}">
                  <a16:creationId xmlns:a16="http://schemas.microsoft.com/office/drawing/2014/main" id="{7B42F836-1834-CBF8-FD26-A3643B50470A}"/>
                </a:ext>
              </a:extLst>
            </p:cNvPr>
            <p:cNvSpPr/>
            <p:nvPr/>
          </p:nvSpPr>
          <p:spPr>
            <a:xfrm>
              <a:off x="646282" y="3724072"/>
              <a:ext cx="838473" cy="1963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900" b="1" dirty="0">
                  <a:solidFill>
                    <a:schemeClr val="tx1"/>
                  </a:solidFill>
                  <a:latin typeface="Montserrat" panose="00000500000000000000" pitchFamily="2" charset="0"/>
                </a:rPr>
                <a:t>17%</a:t>
              </a:r>
              <a:r>
                <a:rPr lang="pt-BR" sz="9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do PIB</a:t>
              </a:r>
            </a:p>
          </p:txBody>
        </p:sp>
      </p:grpSp>
      <p:grpSp>
        <p:nvGrpSpPr>
          <p:cNvPr id="7536" name="Group 7535">
            <a:extLst>
              <a:ext uri="{FF2B5EF4-FFF2-40B4-BE49-F238E27FC236}">
                <a16:creationId xmlns:a16="http://schemas.microsoft.com/office/drawing/2014/main" id="{A10AFAC9-3835-1331-F4D7-E1D562E2340C}"/>
              </a:ext>
            </a:extLst>
          </p:cNvPr>
          <p:cNvGrpSpPr/>
          <p:nvPr/>
        </p:nvGrpSpPr>
        <p:grpSpPr>
          <a:xfrm>
            <a:off x="731498" y="3954572"/>
            <a:ext cx="902837" cy="178146"/>
            <a:chOff x="583092" y="3963816"/>
            <a:chExt cx="901663" cy="196363"/>
          </a:xfrm>
        </p:grpSpPr>
        <p:sp>
          <p:nvSpPr>
            <p:cNvPr id="7537" name="Rectangle 7536">
              <a:extLst>
                <a:ext uri="{FF2B5EF4-FFF2-40B4-BE49-F238E27FC236}">
                  <a16:creationId xmlns:a16="http://schemas.microsoft.com/office/drawing/2014/main" id="{3E4D006B-B629-8738-B545-4EB27EB5A03B}"/>
                </a:ext>
              </a:extLst>
            </p:cNvPr>
            <p:cNvSpPr/>
            <p:nvPr/>
          </p:nvSpPr>
          <p:spPr>
            <a:xfrm flipV="1">
              <a:off x="583092" y="4012178"/>
              <a:ext cx="99638" cy="99638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/>
            </a:p>
          </p:txBody>
        </p:sp>
        <p:sp>
          <p:nvSpPr>
            <p:cNvPr id="7538" name="Rectangle 7537">
              <a:extLst>
                <a:ext uri="{FF2B5EF4-FFF2-40B4-BE49-F238E27FC236}">
                  <a16:creationId xmlns:a16="http://schemas.microsoft.com/office/drawing/2014/main" id="{04DE8968-B463-8852-B1B2-0D37ED36401F}"/>
                </a:ext>
              </a:extLst>
            </p:cNvPr>
            <p:cNvSpPr/>
            <p:nvPr/>
          </p:nvSpPr>
          <p:spPr>
            <a:xfrm>
              <a:off x="646282" y="3963816"/>
              <a:ext cx="838473" cy="1963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900" b="1" dirty="0">
                  <a:solidFill>
                    <a:schemeClr val="tx1"/>
                  </a:solidFill>
                  <a:latin typeface="Montserrat" panose="00000500000000000000" pitchFamily="2" charset="0"/>
                </a:rPr>
                <a:t>52%</a:t>
              </a:r>
              <a:r>
                <a:rPr lang="pt-BR" sz="9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do PIB</a:t>
              </a:r>
            </a:p>
          </p:txBody>
        </p:sp>
      </p:grpSp>
      <p:grpSp>
        <p:nvGrpSpPr>
          <p:cNvPr id="7539" name="Group 7538">
            <a:extLst>
              <a:ext uri="{FF2B5EF4-FFF2-40B4-BE49-F238E27FC236}">
                <a16:creationId xmlns:a16="http://schemas.microsoft.com/office/drawing/2014/main" id="{7D093FD5-5BFE-7AEA-0F6B-16F8B63F9234}"/>
              </a:ext>
            </a:extLst>
          </p:cNvPr>
          <p:cNvGrpSpPr/>
          <p:nvPr/>
        </p:nvGrpSpPr>
        <p:grpSpPr>
          <a:xfrm>
            <a:off x="731498" y="5214974"/>
            <a:ext cx="902837" cy="178146"/>
            <a:chOff x="582437" y="4162612"/>
            <a:chExt cx="901663" cy="196363"/>
          </a:xfrm>
        </p:grpSpPr>
        <p:sp>
          <p:nvSpPr>
            <p:cNvPr id="7540" name="Rectangle 7539">
              <a:extLst>
                <a:ext uri="{FF2B5EF4-FFF2-40B4-BE49-F238E27FC236}">
                  <a16:creationId xmlns:a16="http://schemas.microsoft.com/office/drawing/2014/main" id="{92831F08-5B63-611C-9DCA-A9E50EB11E07}"/>
                </a:ext>
              </a:extLst>
            </p:cNvPr>
            <p:cNvSpPr/>
            <p:nvPr/>
          </p:nvSpPr>
          <p:spPr>
            <a:xfrm flipV="1">
              <a:off x="582437" y="4210974"/>
              <a:ext cx="99638" cy="99638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/>
            </a:p>
          </p:txBody>
        </p:sp>
        <p:sp>
          <p:nvSpPr>
            <p:cNvPr id="7541" name="Rectangle 7540">
              <a:extLst>
                <a:ext uri="{FF2B5EF4-FFF2-40B4-BE49-F238E27FC236}">
                  <a16:creationId xmlns:a16="http://schemas.microsoft.com/office/drawing/2014/main" id="{3A516561-E83A-D73E-387C-17F169A92AA3}"/>
                </a:ext>
              </a:extLst>
            </p:cNvPr>
            <p:cNvSpPr/>
            <p:nvPr/>
          </p:nvSpPr>
          <p:spPr>
            <a:xfrm>
              <a:off x="645627" y="4162612"/>
              <a:ext cx="838473" cy="1963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900" b="1" dirty="0">
                  <a:solidFill>
                    <a:schemeClr val="tx1"/>
                  </a:solidFill>
                  <a:latin typeface="Montserrat" panose="00000500000000000000" pitchFamily="2" charset="0"/>
                </a:rPr>
                <a:t>10% </a:t>
              </a:r>
              <a:r>
                <a:rPr lang="pt-BR" sz="9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do PIB</a:t>
              </a:r>
            </a:p>
          </p:txBody>
        </p:sp>
      </p:grpSp>
      <p:grpSp>
        <p:nvGrpSpPr>
          <p:cNvPr id="7269" name="Group 7268">
            <a:extLst>
              <a:ext uri="{FF2B5EF4-FFF2-40B4-BE49-F238E27FC236}">
                <a16:creationId xmlns:a16="http://schemas.microsoft.com/office/drawing/2014/main" id="{DC09029B-4797-40B2-6635-ADC6FA04F131}"/>
              </a:ext>
            </a:extLst>
          </p:cNvPr>
          <p:cNvGrpSpPr/>
          <p:nvPr/>
        </p:nvGrpSpPr>
        <p:grpSpPr>
          <a:xfrm>
            <a:off x="4911952" y="2077879"/>
            <a:ext cx="6922860" cy="1381138"/>
            <a:chOff x="5472643" y="2144459"/>
            <a:chExt cx="6362169" cy="1381138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FBAD1D4-104B-CF53-63AE-42ECE66F2ACE}"/>
                </a:ext>
              </a:extLst>
            </p:cNvPr>
            <p:cNvSpPr/>
            <p:nvPr/>
          </p:nvSpPr>
          <p:spPr>
            <a:xfrm>
              <a:off x="5472643" y="2154120"/>
              <a:ext cx="836896" cy="1349479"/>
            </a:xfrm>
            <a:prstGeom prst="rect">
              <a:avLst/>
            </a:prstGeom>
            <a:solidFill>
              <a:srgbClr val="FDC9CD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2000"/>
                </a:lnSpc>
                <a:spcAft>
                  <a:spcPts val="800"/>
                </a:spcAft>
              </a:pPr>
              <a:endParaRPr lang="pt-BR" sz="1200" dirty="0" err="1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</a:endParaRPr>
            </a:p>
          </p:txBody>
        </p:sp>
        <p:graphicFrame>
          <p:nvGraphicFramePr>
            <p:cNvPr id="30" name="Chart 29">
              <a:extLst>
                <a:ext uri="{FF2B5EF4-FFF2-40B4-BE49-F238E27FC236}">
                  <a16:creationId xmlns:a16="http://schemas.microsoft.com/office/drawing/2014/main" id="{46DF26F0-4F3A-D8C3-7E51-84EE32C90C7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385825203"/>
                </p:ext>
              </p:extLst>
            </p:nvPr>
          </p:nvGraphicFramePr>
          <p:xfrm>
            <a:off x="5490512" y="2144459"/>
            <a:ext cx="6344300" cy="138113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8"/>
            </a:graphicData>
          </a:graphic>
        </p:graphicFrame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DCAB786B-90EF-A546-783E-D8544DA40898}"/>
              </a:ext>
            </a:extLst>
          </p:cNvPr>
          <p:cNvSpPr txBox="1"/>
          <p:nvPr/>
        </p:nvSpPr>
        <p:spPr>
          <a:xfrm>
            <a:off x="4911952" y="1463697"/>
            <a:ext cx="6922860" cy="30777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US" sz="1400" b="1" dirty="0">
                <a:solidFill>
                  <a:schemeClr val="tx2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A </a:t>
            </a:r>
            <a:r>
              <a:rPr lang="en-US" sz="1400" b="1" dirty="0" err="1">
                <a:solidFill>
                  <a:schemeClr val="tx2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Biocap</a:t>
            </a:r>
            <a:r>
              <a:rPr lang="en-US" sz="1400" b="1" dirty="0">
                <a:solidFill>
                  <a:schemeClr val="tx2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 </a:t>
            </a:r>
            <a:r>
              <a:rPr lang="en-US" sz="1400" b="1" dirty="0" err="1">
                <a:solidFill>
                  <a:schemeClr val="tx2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tem</a:t>
            </a:r>
            <a:r>
              <a:rPr lang="en-US" sz="1400" b="1" dirty="0">
                <a:solidFill>
                  <a:schemeClr val="tx2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 </a:t>
            </a:r>
            <a:r>
              <a:rPr lang="en-US" sz="1400" b="1" dirty="0" err="1">
                <a:solidFill>
                  <a:schemeClr val="tx2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presença</a:t>
            </a:r>
            <a:r>
              <a:rPr lang="en-US" sz="1400" b="1" dirty="0">
                <a:solidFill>
                  <a:schemeClr val="tx2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 </a:t>
            </a:r>
            <a:r>
              <a:rPr lang="en-US" sz="1400" b="1" dirty="0" err="1">
                <a:solidFill>
                  <a:schemeClr val="tx2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nos</a:t>
            </a:r>
            <a:r>
              <a:rPr lang="en-US" sz="1400" b="1" dirty="0">
                <a:solidFill>
                  <a:schemeClr val="tx2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 </a:t>
            </a:r>
            <a:r>
              <a:rPr lang="en-US" sz="1400" b="1" dirty="0" err="1">
                <a:solidFill>
                  <a:schemeClr val="tx2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principais</a:t>
            </a:r>
            <a:r>
              <a:rPr lang="en-US" sz="1400" b="1" dirty="0">
                <a:solidFill>
                  <a:schemeClr val="tx2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 </a:t>
            </a:r>
            <a:r>
              <a:rPr lang="en-US" sz="1400" b="1" dirty="0" err="1">
                <a:solidFill>
                  <a:schemeClr val="tx2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canais</a:t>
            </a:r>
            <a:r>
              <a:rPr lang="en-US" sz="1400" b="1" dirty="0">
                <a:solidFill>
                  <a:schemeClr val="tx2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 de </a:t>
            </a:r>
            <a:r>
              <a:rPr lang="en-US" sz="1400" b="1" dirty="0" err="1">
                <a:solidFill>
                  <a:schemeClr val="tx2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venda</a:t>
            </a:r>
            <a:r>
              <a:rPr lang="en-US" sz="1400" b="1" dirty="0">
                <a:solidFill>
                  <a:schemeClr val="tx2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 da </a:t>
            </a:r>
            <a:r>
              <a:rPr lang="en-US" sz="1400" b="1" dirty="0" err="1">
                <a:solidFill>
                  <a:schemeClr val="tx2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indústria</a:t>
            </a:r>
            <a:r>
              <a:rPr lang="en-US" sz="1400" b="1" dirty="0">
                <a:solidFill>
                  <a:schemeClr val="tx2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…</a:t>
            </a:r>
            <a:endParaRPr lang="pt-BR" sz="1400" b="1" dirty="0">
              <a:solidFill>
                <a:schemeClr val="tx2"/>
              </a:solidFill>
              <a:latin typeface="Montserrat" panose="00000500000000000000" pitchFamily="2" charset="0"/>
              <a:ea typeface="Source Serif Pro Black" panose="02040903050405020204" pitchFamily="18" charset="0"/>
            </a:endParaRPr>
          </a:p>
        </p:txBody>
      </p:sp>
      <p:sp>
        <p:nvSpPr>
          <p:cNvPr id="38" name="Content Placeholder 10">
            <a:extLst>
              <a:ext uri="{FF2B5EF4-FFF2-40B4-BE49-F238E27FC236}">
                <a16:creationId xmlns:a16="http://schemas.microsoft.com/office/drawing/2014/main" id="{BF10CD23-5CC9-C978-6440-E09D321C16C4}"/>
              </a:ext>
            </a:extLst>
          </p:cNvPr>
          <p:cNvSpPr txBox="1">
            <a:spLocks/>
          </p:cNvSpPr>
          <p:nvPr/>
        </p:nvSpPr>
        <p:spPr>
          <a:xfrm>
            <a:off x="4911952" y="1754620"/>
            <a:ext cx="3160972" cy="179148"/>
          </a:xfrm>
          <a:prstGeom prst="rect">
            <a:avLst/>
          </a:prstGeom>
        </p:spPr>
        <p:txBody>
          <a:bodyPr vert="horz" wrap="square" lIns="0" tIns="3600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1pPr>
            <a:lvl2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2pPr>
            <a:lvl3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Source Sans Pro" panose="020B0503030403020204" pitchFamily="34" charset="0"/>
              <a:buChar char="−"/>
              <a:defRPr sz="1200" kern="1200">
                <a:solidFill>
                  <a:schemeClr val="tx1"/>
                </a:solidFill>
                <a:latin typeface="Source Serif Pro Light" panose="02040303050405020204" pitchFamily="18" charset="0"/>
                <a:ea typeface="Source Serif Pro Light" panose="02040303050405020204" pitchFamily="18" charset="0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2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kern="1200">
                <a:solidFill>
                  <a:schemeClr val="accent4"/>
                </a:solidFill>
                <a:latin typeface="Source Serif Pro Black" panose="02040903050405020204" pitchFamily="18" charset="0"/>
                <a:ea typeface="Source Serif Pro Black" panose="02040903050405020204" pitchFamily="18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900" b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ontserrat" panose="00000500000000000000" pitchFamily="2" charset="0"/>
              </a:rPr>
              <a:t>Distribuição de vendas por canal (%)</a:t>
            </a:r>
          </a:p>
        </p:txBody>
      </p:sp>
      <p:sp>
        <p:nvSpPr>
          <p:cNvPr id="7236" name="TextBox 7235">
            <a:extLst>
              <a:ext uri="{FF2B5EF4-FFF2-40B4-BE49-F238E27FC236}">
                <a16:creationId xmlns:a16="http://schemas.microsoft.com/office/drawing/2014/main" id="{8B2D269B-31F0-F00B-B073-787F6BBD1D37}"/>
              </a:ext>
            </a:extLst>
          </p:cNvPr>
          <p:cNvSpPr txBox="1"/>
          <p:nvPr/>
        </p:nvSpPr>
        <p:spPr>
          <a:xfrm>
            <a:off x="8387134" y="3719582"/>
            <a:ext cx="3641466" cy="600164"/>
          </a:xfrm>
          <a:prstGeom prst="rect">
            <a:avLst/>
          </a:prstGeom>
          <a:noFill/>
          <a:ln>
            <a:noFill/>
          </a:ln>
        </p:spPr>
        <p:txBody>
          <a:bodyPr wrap="square" lIns="0" rtlCol="0">
            <a:spAutoFit/>
          </a:bodyPr>
          <a:lstStyle>
            <a:defPPr>
              <a:defRPr lang="pt-BR"/>
            </a:defPPr>
            <a:lvl1pPr>
              <a:defRPr sz="1200" b="1">
                <a:latin typeface="Lato" panose="020F0502020204030203" pitchFamily="34" charset="0"/>
                <a:ea typeface="Source Serif Pro" panose="02040603050405020204" pitchFamily="18" charset="0"/>
              </a:defRPr>
            </a:lvl1pPr>
          </a:lstStyle>
          <a:p>
            <a:pPr marL="0" lvl="1"/>
            <a:r>
              <a:rPr lang="en-US" sz="1100" b="1" dirty="0">
                <a:solidFill>
                  <a:schemeClr val="tx2"/>
                </a:solidFill>
                <a:latin typeface="Montserrat" panose="00000500000000000000" pitchFamily="2" charset="0"/>
              </a:rPr>
              <a:t>…</a:t>
            </a:r>
            <a:r>
              <a:rPr lang="pt-BR" sz="1100" b="1" dirty="0">
                <a:solidFill>
                  <a:schemeClr val="tx2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impulsionada pelo seu forte desempenho comercial, garantindo uma cobertura completa do território brasileiro</a:t>
            </a:r>
            <a:endParaRPr lang="en-US" sz="1100" b="1" dirty="0">
              <a:solidFill>
                <a:schemeClr val="tx2"/>
              </a:solidFill>
              <a:latin typeface="Montserrat" panose="00000500000000000000" pitchFamily="2" charset="0"/>
            </a:endParaRPr>
          </a:p>
        </p:txBody>
      </p:sp>
      <p:grpSp>
        <p:nvGrpSpPr>
          <p:cNvPr id="7237" name="Group 7236">
            <a:extLst>
              <a:ext uri="{FF2B5EF4-FFF2-40B4-BE49-F238E27FC236}">
                <a16:creationId xmlns:a16="http://schemas.microsoft.com/office/drawing/2014/main" id="{C81E8A5C-3FCF-1D54-359E-8E39061A997A}"/>
              </a:ext>
            </a:extLst>
          </p:cNvPr>
          <p:cNvGrpSpPr/>
          <p:nvPr/>
        </p:nvGrpSpPr>
        <p:grpSpPr>
          <a:xfrm>
            <a:off x="8407153" y="4530663"/>
            <a:ext cx="1088735" cy="545865"/>
            <a:chOff x="6199040" y="4981850"/>
            <a:chExt cx="1088735" cy="545865"/>
          </a:xfrm>
        </p:grpSpPr>
        <p:sp>
          <p:nvSpPr>
            <p:cNvPr id="7238" name="TextBox 7237">
              <a:extLst>
                <a:ext uri="{FF2B5EF4-FFF2-40B4-BE49-F238E27FC236}">
                  <a16:creationId xmlns:a16="http://schemas.microsoft.com/office/drawing/2014/main" id="{D4462CC2-A703-1CF1-09EB-AE10685AC7D2}"/>
                </a:ext>
              </a:extLst>
            </p:cNvPr>
            <p:cNvSpPr txBox="1"/>
            <p:nvPr/>
          </p:nvSpPr>
          <p:spPr>
            <a:xfrm>
              <a:off x="6199040" y="4981850"/>
              <a:ext cx="1016944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pt-BR" dirty="0">
                  <a:solidFill>
                    <a:schemeClr val="accent3">
                      <a:lumMod val="50000"/>
                    </a:schemeClr>
                  </a:solidFill>
                  <a:latin typeface="Montserrat ExtraBold" pitchFamily="2" charset="0"/>
                  <a:ea typeface="Source Serif Pro Black" panose="02040903050405020204" pitchFamily="18" charset="0"/>
                </a:rPr>
                <a:t>XXX</a:t>
              </a:r>
              <a:endParaRPr lang="en-US" sz="1100" dirty="0" err="1">
                <a:solidFill>
                  <a:schemeClr val="accent3">
                    <a:lumMod val="50000"/>
                  </a:schemeClr>
                </a:solidFill>
                <a:latin typeface="Montserrat ExtraBold" pitchFamily="2" charset="0"/>
                <a:ea typeface="Source Serif Pro Black" panose="02040903050405020204" pitchFamily="18" charset="0"/>
              </a:endParaRPr>
            </a:p>
          </p:txBody>
        </p:sp>
        <p:sp>
          <p:nvSpPr>
            <p:cNvPr id="7239" name="TextBox 7238">
              <a:extLst>
                <a:ext uri="{FF2B5EF4-FFF2-40B4-BE49-F238E27FC236}">
                  <a16:creationId xmlns:a16="http://schemas.microsoft.com/office/drawing/2014/main" id="{5D5CA604-335A-CF62-4390-8C1CBF5DFED6}"/>
                </a:ext>
              </a:extLst>
            </p:cNvPr>
            <p:cNvSpPr txBox="1"/>
            <p:nvPr/>
          </p:nvSpPr>
          <p:spPr>
            <a:xfrm>
              <a:off x="6199040" y="5228984"/>
              <a:ext cx="1088735" cy="298731"/>
            </a:xfrm>
            <a:prstGeom prst="rect">
              <a:avLst/>
            </a:prstGeom>
          </p:spPr>
          <p:txBody>
            <a:bodyPr vert="horz" wrap="square" lIns="0" tIns="36000" rIns="0" bIns="0" rtlCol="0">
              <a:spAutoFit/>
            </a:bodyPr>
            <a:lstStyle>
              <a:lvl1pPr indent="0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200">
                  <a:solidFill>
                    <a:srgbClr val="000000"/>
                  </a:solidFill>
                  <a:latin typeface="Lato Light" panose="020F0302020204030203" pitchFamily="34" charset="0"/>
                  <a:ea typeface="Source Serif Pro Light" panose="02040303050405020204" pitchFamily="18" charset="0"/>
                </a:defRPr>
              </a:lvl1pPr>
              <a:lvl2pPr marL="108000" indent="-108000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Clr>
                  <a:schemeClr val="bg2"/>
                </a:buClr>
                <a:buFont typeface="Arial" panose="020B0604020202020204" pitchFamily="34" charset="0"/>
                <a:buChar char="•"/>
                <a:defRPr sz="1200">
                  <a:latin typeface="Source Serif Pro" panose="02040603050405020204" pitchFamily="18" charset="0"/>
                  <a:ea typeface="Source Serif Pro" panose="02040603050405020204" pitchFamily="18" charset="0"/>
                </a:defRPr>
              </a:lvl2pPr>
              <a:lvl3pPr marL="108000" indent="-108000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Clr>
                  <a:schemeClr val="bg2"/>
                </a:buClr>
                <a:buFont typeface="Source Sans Pro" panose="020B0503030403020204" pitchFamily="34" charset="0"/>
                <a:buChar char="−"/>
                <a:defRPr sz="1200">
                  <a:latin typeface="Source Serif Pro Light" panose="02040303050405020204" pitchFamily="18" charset="0"/>
                  <a:ea typeface="Source Serif Pro Light" panose="02040303050405020204" pitchFamily="18" charset="0"/>
                </a:defRPr>
              </a:lvl3pPr>
              <a:lvl4pPr marL="0" indent="0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200" b="1">
                  <a:latin typeface="Source Serif Pro" panose="02040603050405020204" pitchFamily="18" charset="0"/>
                  <a:ea typeface="Source Serif Pro" panose="02040603050405020204" pitchFamily="18" charset="0"/>
                </a:defRPr>
              </a:lvl4pPr>
              <a:lvl5pPr marL="0" indent="0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200">
                  <a:solidFill>
                    <a:schemeClr val="accent1"/>
                  </a:solidFill>
                  <a:latin typeface="Source Serif Pro Black" panose="02040903050405020204" pitchFamily="18" charset="0"/>
                  <a:ea typeface="Source Serif Pro Black" panose="02040903050405020204" pitchFamily="18" charset="0"/>
                </a:defRPr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r>
                <a:rPr lang="pt-BR" sz="800" dirty="0">
                  <a:solidFill>
                    <a:schemeClr val="tx1"/>
                  </a:solidFill>
                  <a:latin typeface="Montserrat" panose="00000500000000000000" pitchFamily="2" charset="0"/>
                  <a:ea typeface="Lato" panose="020F0502020204030203" pitchFamily="34" charset="0"/>
                  <a:cs typeface="Lato" panose="020F0502020204030203" pitchFamily="34" charset="0"/>
                </a:rPr>
                <a:t>Presença em </a:t>
              </a:r>
              <a:r>
                <a:rPr lang="pt-BR" sz="800" dirty="0" err="1">
                  <a:solidFill>
                    <a:schemeClr val="tx1"/>
                  </a:solidFill>
                  <a:latin typeface="Montserrat" panose="00000500000000000000" pitchFamily="2" charset="0"/>
                  <a:ea typeface="Lato" panose="020F0502020204030203" pitchFamily="34" charset="0"/>
                  <a:cs typeface="Lato" panose="020F0502020204030203" pitchFamily="34" charset="0"/>
                </a:rPr>
                <a:t>PDVs</a:t>
              </a:r>
              <a:r>
                <a:rPr lang="pt-BR" sz="800" dirty="0">
                  <a:solidFill>
                    <a:schemeClr val="tx1"/>
                  </a:solidFill>
                  <a:latin typeface="Montserrat" panose="00000500000000000000" pitchFamily="2" charset="0"/>
                  <a:ea typeface="Lato" panose="020F0502020204030203" pitchFamily="34" charset="0"/>
                  <a:cs typeface="Lato" panose="020F0502020204030203" pitchFamily="34" charset="0"/>
                </a:rPr>
                <a:t> de todo o Brasil</a:t>
              </a:r>
              <a:endParaRPr lang="en-US" sz="800" dirty="0">
                <a:solidFill>
                  <a:schemeClr val="tx1"/>
                </a:solidFill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7240" name="Group 7239">
            <a:extLst>
              <a:ext uri="{FF2B5EF4-FFF2-40B4-BE49-F238E27FC236}">
                <a16:creationId xmlns:a16="http://schemas.microsoft.com/office/drawing/2014/main" id="{B8504223-C7A2-F738-F59A-B4A891E0430E}"/>
              </a:ext>
            </a:extLst>
          </p:cNvPr>
          <p:cNvGrpSpPr/>
          <p:nvPr/>
        </p:nvGrpSpPr>
        <p:grpSpPr>
          <a:xfrm>
            <a:off x="8407153" y="5324076"/>
            <a:ext cx="948685" cy="545865"/>
            <a:chOff x="6199040" y="5552091"/>
            <a:chExt cx="948685" cy="545865"/>
          </a:xfrm>
        </p:grpSpPr>
        <p:sp>
          <p:nvSpPr>
            <p:cNvPr id="7241" name="TextBox 7240">
              <a:extLst>
                <a:ext uri="{FF2B5EF4-FFF2-40B4-BE49-F238E27FC236}">
                  <a16:creationId xmlns:a16="http://schemas.microsoft.com/office/drawing/2014/main" id="{3A39D4C9-6010-5640-BF7B-0C65E76EC27E}"/>
                </a:ext>
              </a:extLst>
            </p:cNvPr>
            <p:cNvSpPr txBox="1"/>
            <p:nvPr/>
          </p:nvSpPr>
          <p:spPr>
            <a:xfrm>
              <a:off x="6199040" y="5552091"/>
              <a:ext cx="948685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pt-BR" sz="1200" b="1" baseline="20000" dirty="0">
                  <a:solidFill>
                    <a:schemeClr val="accent3">
                      <a:lumMod val="50000"/>
                    </a:schemeClr>
                  </a:solidFill>
                  <a:latin typeface="Montserrat ExtraBold" pitchFamily="2" charset="0"/>
                  <a:ea typeface="Source Serif Pro Black" panose="02040903050405020204" pitchFamily="18" charset="0"/>
                </a:rPr>
                <a:t>+</a:t>
              </a:r>
              <a:r>
                <a:rPr lang="pt-BR" dirty="0">
                  <a:solidFill>
                    <a:schemeClr val="accent3">
                      <a:lumMod val="50000"/>
                    </a:schemeClr>
                  </a:solidFill>
                  <a:latin typeface="Montserrat ExtraBold" pitchFamily="2" charset="0"/>
                  <a:ea typeface="Source Serif Pro Black" panose="02040903050405020204" pitchFamily="18" charset="0"/>
                </a:rPr>
                <a:t>XXX</a:t>
              </a:r>
              <a:endParaRPr lang="en-US" dirty="0" err="1">
                <a:solidFill>
                  <a:schemeClr val="accent3">
                    <a:lumMod val="50000"/>
                  </a:schemeClr>
                </a:solidFill>
                <a:latin typeface="Montserrat ExtraBold" pitchFamily="2" charset="0"/>
                <a:ea typeface="Source Serif Pro Black" panose="02040903050405020204" pitchFamily="18" charset="0"/>
              </a:endParaRPr>
            </a:p>
          </p:txBody>
        </p:sp>
        <p:sp>
          <p:nvSpPr>
            <p:cNvPr id="7244" name="TextBox 7243">
              <a:extLst>
                <a:ext uri="{FF2B5EF4-FFF2-40B4-BE49-F238E27FC236}">
                  <a16:creationId xmlns:a16="http://schemas.microsoft.com/office/drawing/2014/main" id="{FA1D5F6B-AD03-A852-FA82-14530E62D8F5}"/>
                </a:ext>
              </a:extLst>
            </p:cNvPr>
            <p:cNvSpPr txBox="1"/>
            <p:nvPr/>
          </p:nvSpPr>
          <p:spPr>
            <a:xfrm>
              <a:off x="6199041" y="5799225"/>
              <a:ext cx="875982" cy="298731"/>
            </a:xfrm>
            <a:prstGeom prst="rect">
              <a:avLst/>
            </a:prstGeom>
          </p:spPr>
          <p:txBody>
            <a:bodyPr vert="horz" wrap="square" lIns="0" tIns="36000" rIns="0" bIns="0" rtlCol="0">
              <a:spAutoFit/>
            </a:bodyPr>
            <a:lstStyle>
              <a:lvl1pPr indent="0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200">
                  <a:solidFill>
                    <a:srgbClr val="000000"/>
                  </a:solidFill>
                  <a:latin typeface="Lato Light" panose="020F0302020204030203" pitchFamily="34" charset="0"/>
                  <a:ea typeface="Source Serif Pro Light" panose="02040303050405020204" pitchFamily="18" charset="0"/>
                </a:defRPr>
              </a:lvl1pPr>
              <a:lvl2pPr marL="108000" indent="-108000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Clr>
                  <a:schemeClr val="bg2"/>
                </a:buClr>
                <a:buFont typeface="Arial" panose="020B0604020202020204" pitchFamily="34" charset="0"/>
                <a:buChar char="•"/>
                <a:defRPr sz="1200">
                  <a:latin typeface="Source Serif Pro" panose="02040603050405020204" pitchFamily="18" charset="0"/>
                  <a:ea typeface="Source Serif Pro" panose="02040603050405020204" pitchFamily="18" charset="0"/>
                </a:defRPr>
              </a:lvl2pPr>
              <a:lvl3pPr marL="108000" indent="-108000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Clr>
                  <a:schemeClr val="bg2"/>
                </a:buClr>
                <a:buFont typeface="Source Sans Pro" panose="020B0503030403020204" pitchFamily="34" charset="0"/>
                <a:buChar char="−"/>
                <a:defRPr sz="1200">
                  <a:latin typeface="Source Serif Pro Light" panose="02040303050405020204" pitchFamily="18" charset="0"/>
                  <a:ea typeface="Source Serif Pro Light" panose="02040303050405020204" pitchFamily="18" charset="0"/>
                </a:defRPr>
              </a:lvl3pPr>
              <a:lvl4pPr marL="0" indent="0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200" b="1">
                  <a:latin typeface="Source Serif Pro" panose="02040603050405020204" pitchFamily="18" charset="0"/>
                  <a:ea typeface="Source Serif Pro" panose="02040603050405020204" pitchFamily="18" charset="0"/>
                </a:defRPr>
              </a:lvl4pPr>
              <a:lvl5pPr marL="0" indent="0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200">
                  <a:solidFill>
                    <a:schemeClr val="accent1"/>
                  </a:solidFill>
                  <a:latin typeface="Source Serif Pro Black" panose="02040903050405020204" pitchFamily="18" charset="0"/>
                  <a:ea typeface="Source Serif Pro Black" panose="02040903050405020204" pitchFamily="18" charset="0"/>
                </a:defRPr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r>
                <a:rPr lang="en-US" sz="800" dirty="0" err="1">
                  <a:solidFill>
                    <a:schemeClr val="tx1"/>
                  </a:solidFill>
                  <a:latin typeface="Montserrat" panose="00000500000000000000" pitchFamily="2" charset="0"/>
                  <a:ea typeface="Lato" panose="020F0502020204030203" pitchFamily="34" charset="0"/>
                  <a:cs typeface="Lato" panose="020F0502020204030203" pitchFamily="34" charset="0"/>
                </a:rPr>
                <a:t>Presença</a:t>
              </a:r>
              <a:r>
                <a:rPr lang="en-US" sz="800" dirty="0">
                  <a:solidFill>
                    <a:schemeClr val="tx1"/>
                  </a:solidFill>
                  <a:latin typeface="Montserrat" panose="00000500000000000000" pitchFamily="2" charset="0"/>
                  <a:ea typeface="Lato" panose="020F0502020204030203" pitchFamily="34" charset="0"/>
                  <a:cs typeface="Lato" panose="020F0502020204030203" pitchFamily="34" charset="0"/>
                </a:rPr>
                <a:t> </a:t>
              </a:r>
              <a:r>
                <a:rPr lang="en-US" sz="800" dirty="0" err="1">
                  <a:solidFill>
                    <a:schemeClr val="tx1"/>
                  </a:solidFill>
                  <a:latin typeface="Montserrat" panose="00000500000000000000" pitchFamily="2" charset="0"/>
                  <a:ea typeface="Lato" panose="020F0502020204030203" pitchFamily="34" charset="0"/>
                  <a:cs typeface="Lato" panose="020F0502020204030203" pitchFamily="34" charset="0"/>
                </a:rPr>
                <a:t>direta</a:t>
              </a:r>
              <a:r>
                <a:rPr lang="en-US" sz="800" dirty="0">
                  <a:solidFill>
                    <a:schemeClr val="tx1"/>
                  </a:solidFill>
                  <a:latin typeface="Montserrat" panose="00000500000000000000" pitchFamily="2" charset="0"/>
                  <a:ea typeface="Lato" panose="020F0502020204030203" pitchFamily="34" charset="0"/>
                  <a:cs typeface="Lato" panose="020F0502020204030203" pitchFamily="34" charset="0"/>
                </a:rPr>
                <a:t> no PDV</a:t>
              </a:r>
            </a:p>
          </p:txBody>
        </p:sp>
      </p:grpSp>
      <p:grpSp>
        <p:nvGrpSpPr>
          <p:cNvPr id="7245" name="Group 7244">
            <a:extLst>
              <a:ext uri="{FF2B5EF4-FFF2-40B4-BE49-F238E27FC236}">
                <a16:creationId xmlns:a16="http://schemas.microsoft.com/office/drawing/2014/main" id="{1EC62A5E-0A76-C222-F17B-7B1BB0FF9455}"/>
              </a:ext>
            </a:extLst>
          </p:cNvPr>
          <p:cNvGrpSpPr/>
          <p:nvPr/>
        </p:nvGrpSpPr>
        <p:grpSpPr>
          <a:xfrm>
            <a:off x="9729415" y="4530663"/>
            <a:ext cx="875983" cy="545865"/>
            <a:chOff x="8581581" y="4895309"/>
            <a:chExt cx="875983" cy="545865"/>
          </a:xfrm>
        </p:grpSpPr>
        <p:sp>
          <p:nvSpPr>
            <p:cNvPr id="7246" name="TextBox 7245">
              <a:extLst>
                <a:ext uri="{FF2B5EF4-FFF2-40B4-BE49-F238E27FC236}">
                  <a16:creationId xmlns:a16="http://schemas.microsoft.com/office/drawing/2014/main" id="{D716F44E-980A-5C43-C355-A7E7558BF09C}"/>
                </a:ext>
              </a:extLst>
            </p:cNvPr>
            <p:cNvSpPr txBox="1"/>
            <p:nvPr/>
          </p:nvSpPr>
          <p:spPr>
            <a:xfrm>
              <a:off x="8581581" y="4895309"/>
              <a:ext cx="61763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pt-BR" dirty="0">
                  <a:solidFill>
                    <a:schemeClr val="accent3">
                      <a:lumMod val="50000"/>
                    </a:schemeClr>
                  </a:solidFill>
                  <a:latin typeface="Montserrat ExtraBold" pitchFamily="2" charset="0"/>
                  <a:ea typeface="Source Serif Pro Black" panose="02040903050405020204" pitchFamily="18" charset="0"/>
                </a:rPr>
                <a:t>XXX</a:t>
              </a:r>
              <a:endParaRPr lang="en-US" dirty="0" err="1">
                <a:solidFill>
                  <a:schemeClr val="accent3">
                    <a:lumMod val="50000"/>
                  </a:schemeClr>
                </a:solidFill>
                <a:latin typeface="Montserrat ExtraBold" pitchFamily="2" charset="0"/>
                <a:ea typeface="Source Serif Pro Black" panose="02040903050405020204" pitchFamily="18" charset="0"/>
              </a:endParaRPr>
            </a:p>
          </p:txBody>
        </p:sp>
        <p:sp>
          <p:nvSpPr>
            <p:cNvPr id="7247" name="TextBox 7246">
              <a:extLst>
                <a:ext uri="{FF2B5EF4-FFF2-40B4-BE49-F238E27FC236}">
                  <a16:creationId xmlns:a16="http://schemas.microsoft.com/office/drawing/2014/main" id="{6F707415-4201-D508-A3A2-6F37A1F4E09A}"/>
                </a:ext>
              </a:extLst>
            </p:cNvPr>
            <p:cNvSpPr txBox="1"/>
            <p:nvPr/>
          </p:nvSpPr>
          <p:spPr>
            <a:xfrm>
              <a:off x="8581582" y="5142443"/>
              <a:ext cx="875982" cy="298731"/>
            </a:xfrm>
            <a:prstGeom prst="rect">
              <a:avLst/>
            </a:prstGeom>
          </p:spPr>
          <p:txBody>
            <a:bodyPr vert="horz" wrap="square" lIns="0" tIns="36000" rIns="0" bIns="0" rtlCol="0">
              <a:spAutoFit/>
            </a:bodyPr>
            <a:lstStyle>
              <a:lvl1pPr indent="0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200">
                  <a:solidFill>
                    <a:srgbClr val="000000"/>
                  </a:solidFill>
                  <a:latin typeface="Lato Light" panose="020F0302020204030203" pitchFamily="34" charset="0"/>
                  <a:ea typeface="Source Serif Pro Light" panose="02040303050405020204" pitchFamily="18" charset="0"/>
                </a:defRPr>
              </a:lvl1pPr>
              <a:lvl2pPr marL="108000" indent="-108000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Clr>
                  <a:schemeClr val="bg2"/>
                </a:buClr>
                <a:buFont typeface="Arial" panose="020B0604020202020204" pitchFamily="34" charset="0"/>
                <a:buChar char="•"/>
                <a:defRPr sz="1200">
                  <a:latin typeface="Source Serif Pro" panose="02040603050405020204" pitchFamily="18" charset="0"/>
                  <a:ea typeface="Source Serif Pro" panose="02040603050405020204" pitchFamily="18" charset="0"/>
                </a:defRPr>
              </a:lvl2pPr>
              <a:lvl3pPr marL="108000" indent="-108000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Clr>
                  <a:schemeClr val="bg2"/>
                </a:buClr>
                <a:buFont typeface="Source Sans Pro" panose="020B0503030403020204" pitchFamily="34" charset="0"/>
                <a:buChar char="−"/>
                <a:defRPr sz="1200">
                  <a:latin typeface="Source Serif Pro Light" panose="02040303050405020204" pitchFamily="18" charset="0"/>
                  <a:ea typeface="Source Serif Pro Light" panose="02040303050405020204" pitchFamily="18" charset="0"/>
                </a:defRPr>
              </a:lvl3pPr>
              <a:lvl4pPr marL="0" indent="0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200" b="1">
                  <a:latin typeface="Source Serif Pro" panose="02040603050405020204" pitchFamily="18" charset="0"/>
                  <a:ea typeface="Source Serif Pro" panose="02040603050405020204" pitchFamily="18" charset="0"/>
                </a:defRPr>
              </a:lvl4pPr>
              <a:lvl5pPr marL="0" indent="0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200">
                  <a:solidFill>
                    <a:schemeClr val="accent1"/>
                  </a:solidFill>
                  <a:latin typeface="Source Serif Pro Black" panose="02040903050405020204" pitchFamily="18" charset="0"/>
                  <a:ea typeface="Source Serif Pro Black" panose="02040903050405020204" pitchFamily="18" charset="0"/>
                </a:defRPr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r>
                <a:rPr lang="en-US" sz="800" dirty="0" err="1">
                  <a:solidFill>
                    <a:schemeClr val="tx1"/>
                  </a:solidFill>
                  <a:latin typeface="Montserrat" panose="00000500000000000000" pitchFamily="2" charset="0"/>
                  <a:ea typeface="Lato" panose="020F0502020204030203" pitchFamily="34" charset="0"/>
                  <a:cs typeface="Lato" panose="020F0502020204030203" pitchFamily="34" charset="0"/>
                </a:rPr>
                <a:t>Distribuidores</a:t>
              </a:r>
              <a:r>
                <a:rPr lang="en-US" sz="800" dirty="0">
                  <a:solidFill>
                    <a:schemeClr val="tx1"/>
                  </a:solidFill>
                  <a:latin typeface="Montserrat" panose="00000500000000000000" pitchFamily="2" charset="0"/>
                  <a:ea typeface="Lato" panose="020F0502020204030203" pitchFamily="34" charset="0"/>
                  <a:cs typeface="Lato" panose="020F0502020204030203" pitchFamily="34" charset="0"/>
                </a:rPr>
                <a:t> B2B</a:t>
              </a:r>
            </a:p>
          </p:txBody>
        </p:sp>
      </p:grpSp>
      <p:grpSp>
        <p:nvGrpSpPr>
          <p:cNvPr id="7248" name="Group 7247">
            <a:extLst>
              <a:ext uri="{FF2B5EF4-FFF2-40B4-BE49-F238E27FC236}">
                <a16:creationId xmlns:a16="http://schemas.microsoft.com/office/drawing/2014/main" id="{06BFEF6C-F9EF-558C-5D11-FE6C5B818AD7}"/>
              </a:ext>
            </a:extLst>
          </p:cNvPr>
          <p:cNvGrpSpPr/>
          <p:nvPr/>
        </p:nvGrpSpPr>
        <p:grpSpPr>
          <a:xfrm>
            <a:off x="9729415" y="5324076"/>
            <a:ext cx="875982" cy="545865"/>
            <a:chOff x="8581581" y="5552091"/>
            <a:chExt cx="875982" cy="545865"/>
          </a:xfrm>
        </p:grpSpPr>
        <p:sp>
          <p:nvSpPr>
            <p:cNvPr id="7249" name="TextBox 7248">
              <a:extLst>
                <a:ext uri="{FF2B5EF4-FFF2-40B4-BE49-F238E27FC236}">
                  <a16:creationId xmlns:a16="http://schemas.microsoft.com/office/drawing/2014/main" id="{58637DCF-5FCB-700B-5597-AF9CE928EC0B}"/>
                </a:ext>
              </a:extLst>
            </p:cNvPr>
            <p:cNvSpPr txBox="1"/>
            <p:nvPr/>
          </p:nvSpPr>
          <p:spPr>
            <a:xfrm>
              <a:off x="8581581" y="5552091"/>
              <a:ext cx="801397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pt-BR" dirty="0">
                  <a:solidFill>
                    <a:schemeClr val="accent3">
                      <a:lumMod val="50000"/>
                    </a:schemeClr>
                  </a:solidFill>
                  <a:latin typeface="Montserrat ExtraBold" pitchFamily="2" charset="0"/>
                  <a:ea typeface="Source Serif Pro Black" panose="02040903050405020204" pitchFamily="18" charset="0"/>
                </a:rPr>
                <a:t>XXX</a:t>
              </a:r>
              <a:endParaRPr lang="en-US" dirty="0" err="1">
                <a:solidFill>
                  <a:schemeClr val="accent3">
                    <a:lumMod val="50000"/>
                  </a:schemeClr>
                </a:solidFill>
                <a:latin typeface="Montserrat ExtraBold" pitchFamily="2" charset="0"/>
                <a:ea typeface="Source Serif Pro Black" panose="02040903050405020204" pitchFamily="18" charset="0"/>
              </a:endParaRPr>
            </a:p>
          </p:txBody>
        </p:sp>
        <p:sp>
          <p:nvSpPr>
            <p:cNvPr id="7250" name="TextBox 7249">
              <a:extLst>
                <a:ext uri="{FF2B5EF4-FFF2-40B4-BE49-F238E27FC236}">
                  <a16:creationId xmlns:a16="http://schemas.microsoft.com/office/drawing/2014/main" id="{5B79BD8C-E14D-7450-3A16-A574613A3D73}"/>
                </a:ext>
              </a:extLst>
            </p:cNvPr>
            <p:cNvSpPr txBox="1"/>
            <p:nvPr/>
          </p:nvSpPr>
          <p:spPr>
            <a:xfrm>
              <a:off x="8581581" y="5799225"/>
              <a:ext cx="875982" cy="298731"/>
            </a:xfrm>
            <a:prstGeom prst="rect">
              <a:avLst/>
            </a:prstGeom>
          </p:spPr>
          <p:txBody>
            <a:bodyPr vert="horz" wrap="square" lIns="0" tIns="36000" rIns="0" bIns="0" rtlCol="0">
              <a:spAutoFit/>
            </a:bodyPr>
            <a:lstStyle>
              <a:lvl1pPr indent="0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200">
                  <a:solidFill>
                    <a:srgbClr val="000000"/>
                  </a:solidFill>
                  <a:latin typeface="Lato Light" panose="020F0302020204030203" pitchFamily="34" charset="0"/>
                  <a:ea typeface="Source Serif Pro Light" panose="02040303050405020204" pitchFamily="18" charset="0"/>
                </a:defRPr>
              </a:lvl1pPr>
              <a:lvl2pPr marL="108000" indent="-108000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Clr>
                  <a:schemeClr val="bg2"/>
                </a:buClr>
                <a:buFont typeface="Arial" panose="020B0604020202020204" pitchFamily="34" charset="0"/>
                <a:buChar char="•"/>
                <a:defRPr sz="1200">
                  <a:latin typeface="Source Serif Pro" panose="02040603050405020204" pitchFamily="18" charset="0"/>
                  <a:ea typeface="Source Serif Pro" panose="02040603050405020204" pitchFamily="18" charset="0"/>
                </a:defRPr>
              </a:lvl2pPr>
              <a:lvl3pPr marL="108000" indent="-108000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Clr>
                  <a:schemeClr val="bg2"/>
                </a:buClr>
                <a:buFont typeface="Source Sans Pro" panose="020B0503030403020204" pitchFamily="34" charset="0"/>
                <a:buChar char="−"/>
                <a:defRPr sz="1200">
                  <a:latin typeface="Source Serif Pro Light" panose="02040303050405020204" pitchFamily="18" charset="0"/>
                  <a:ea typeface="Source Serif Pro Light" panose="02040303050405020204" pitchFamily="18" charset="0"/>
                </a:defRPr>
              </a:lvl3pPr>
              <a:lvl4pPr marL="0" indent="0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200" b="1">
                  <a:latin typeface="Source Serif Pro" panose="02040603050405020204" pitchFamily="18" charset="0"/>
                  <a:ea typeface="Source Serif Pro" panose="02040603050405020204" pitchFamily="18" charset="0"/>
                </a:defRPr>
              </a:lvl4pPr>
              <a:lvl5pPr marL="0" indent="0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200">
                  <a:solidFill>
                    <a:schemeClr val="accent1"/>
                  </a:solidFill>
                  <a:latin typeface="Source Serif Pro Black" panose="02040903050405020204" pitchFamily="18" charset="0"/>
                  <a:ea typeface="Source Serif Pro Black" panose="02040903050405020204" pitchFamily="18" charset="0"/>
                </a:defRPr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r>
                <a:rPr lang="en-US" sz="800" dirty="0" err="1">
                  <a:solidFill>
                    <a:schemeClr val="tx1"/>
                  </a:solidFill>
                  <a:latin typeface="Montserrat" panose="00000500000000000000" pitchFamily="2" charset="0"/>
                  <a:ea typeface="Lato" panose="020F0502020204030203" pitchFamily="34" charset="0"/>
                  <a:cs typeface="Lato" panose="020F0502020204030203" pitchFamily="34" charset="0"/>
                </a:rPr>
                <a:t>Representantes</a:t>
              </a:r>
              <a:r>
                <a:rPr lang="en-US" sz="800" dirty="0">
                  <a:solidFill>
                    <a:schemeClr val="tx1"/>
                  </a:solidFill>
                  <a:latin typeface="Montserrat" panose="00000500000000000000" pitchFamily="2" charset="0"/>
                  <a:ea typeface="Lato" panose="020F0502020204030203" pitchFamily="34" charset="0"/>
                  <a:cs typeface="Lato" panose="020F0502020204030203" pitchFamily="34" charset="0"/>
                </a:rPr>
                <a:t> de </a:t>
              </a:r>
              <a:r>
                <a:rPr lang="en-US" sz="800" dirty="0" err="1">
                  <a:solidFill>
                    <a:schemeClr val="tx1"/>
                  </a:solidFill>
                  <a:latin typeface="Montserrat" panose="00000500000000000000" pitchFamily="2" charset="0"/>
                  <a:ea typeface="Lato" panose="020F0502020204030203" pitchFamily="34" charset="0"/>
                  <a:cs typeface="Lato" panose="020F0502020204030203" pitchFamily="34" charset="0"/>
                </a:rPr>
                <a:t>vendas</a:t>
              </a:r>
              <a:endParaRPr lang="en-US" sz="800" dirty="0">
                <a:solidFill>
                  <a:schemeClr val="tx1"/>
                </a:solidFill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7251" name="Group 7250">
            <a:extLst>
              <a:ext uri="{FF2B5EF4-FFF2-40B4-BE49-F238E27FC236}">
                <a16:creationId xmlns:a16="http://schemas.microsoft.com/office/drawing/2014/main" id="{1BDAF5BC-7A62-4201-0791-17C6235762C4}"/>
              </a:ext>
            </a:extLst>
          </p:cNvPr>
          <p:cNvGrpSpPr/>
          <p:nvPr/>
        </p:nvGrpSpPr>
        <p:grpSpPr>
          <a:xfrm>
            <a:off x="11087440" y="4530663"/>
            <a:ext cx="726210" cy="545865"/>
            <a:chOff x="10504351" y="4895309"/>
            <a:chExt cx="1257995" cy="545865"/>
          </a:xfrm>
        </p:grpSpPr>
        <p:sp>
          <p:nvSpPr>
            <p:cNvPr id="7252" name="TextBox 7251">
              <a:extLst>
                <a:ext uri="{FF2B5EF4-FFF2-40B4-BE49-F238E27FC236}">
                  <a16:creationId xmlns:a16="http://schemas.microsoft.com/office/drawing/2014/main" id="{9DC72008-9AF2-759D-C60B-FA95EE69F5FC}"/>
                </a:ext>
              </a:extLst>
            </p:cNvPr>
            <p:cNvSpPr txBox="1"/>
            <p:nvPr/>
          </p:nvSpPr>
          <p:spPr>
            <a:xfrm>
              <a:off x="10504351" y="4895309"/>
              <a:ext cx="1257995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pt-BR" dirty="0">
                  <a:solidFill>
                    <a:schemeClr val="accent3">
                      <a:lumMod val="50000"/>
                    </a:schemeClr>
                  </a:solidFill>
                  <a:latin typeface="Montserrat ExtraBold" pitchFamily="2" charset="0"/>
                  <a:ea typeface="Source Serif Pro Black" panose="02040903050405020204" pitchFamily="18" charset="0"/>
                </a:rPr>
                <a:t>XXX</a:t>
              </a:r>
              <a:r>
                <a:rPr lang="pt-BR" sz="1100" b="1" dirty="0">
                  <a:solidFill>
                    <a:schemeClr val="accent3">
                      <a:lumMod val="50000"/>
                    </a:schemeClr>
                  </a:solidFill>
                  <a:latin typeface="Montserrat ExtraBold" pitchFamily="2" charset="0"/>
                  <a:ea typeface="Source Serif Pro Black" panose="02040903050405020204" pitchFamily="18" charset="0"/>
                </a:rPr>
                <a:t>%</a:t>
              </a:r>
              <a:endParaRPr lang="en-US" sz="1100" b="1" dirty="0" err="1">
                <a:solidFill>
                  <a:schemeClr val="accent3">
                    <a:lumMod val="50000"/>
                  </a:schemeClr>
                </a:solidFill>
                <a:latin typeface="Montserrat ExtraBold" pitchFamily="2" charset="0"/>
                <a:ea typeface="Source Serif Pro Black" panose="02040903050405020204" pitchFamily="18" charset="0"/>
              </a:endParaRPr>
            </a:p>
          </p:txBody>
        </p:sp>
        <p:sp>
          <p:nvSpPr>
            <p:cNvPr id="7253" name="TextBox 7252">
              <a:extLst>
                <a:ext uri="{FF2B5EF4-FFF2-40B4-BE49-F238E27FC236}">
                  <a16:creationId xmlns:a16="http://schemas.microsoft.com/office/drawing/2014/main" id="{37C566B7-9ABE-6305-D5CC-6972762AE244}"/>
                </a:ext>
              </a:extLst>
            </p:cNvPr>
            <p:cNvSpPr txBox="1"/>
            <p:nvPr/>
          </p:nvSpPr>
          <p:spPr>
            <a:xfrm>
              <a:off x="10504351" y="5142443"/>
              <a:ext cx="1019856" cy="298731"/>
            </a:xfrm>
            <a:prstGeom prst="rect">
              <a:avLst/>
            </a:prstGeom>
          </p:spPr>
          <p:txBody>
            <a:bodyPr vert="horz" wrap="square" lIns="0" tIns="36000" rIns="0" bIns="0" rtlCol="0">
              <a:spAutoFit/>
            </a:bodyPr>
            <a:lstStyle>
              <a:lvl1pPr indent="0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200">
                  <a:solidFill>
                    <a:srgbClr val="000000"/>
                  </a:solidFill>
                  <a:latin typeface="Lato Light" panose="020F0302020204030203" pitchFamily="34" charset="0"/>
                  <a:ea typeface="Source Serif Pro Light" panose="02040303050405020204" pitchFamily="18" charset="0"/>
                </a:defRPr>
              </a:lvl1pPr>
              <a:lvl2pPr marL="108000" indent="-108000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Clr>
                  <a:schemeClr val="bg2"/>
                </a:buClr>
                <a:buFont typeface="Arial" panose="020B0604020202020204" pitchFamily="34" charset="0"/>
                <a:buChar char="•"/>
                <a:defRPr sz="1200">
                  <a:latin typeface="Source Serif Pro" panose="02040603050405020204" pitchFamily="18" charset="0"/>
                  <a:ea typeface="Source Serif Pro" panose="02040603050405020204" pitchFamily="18" charset="0"/>
                </a:defRPr>
              </a:lvl2pPr>
              <a:lvl3pPr marL="108000" indent="-108000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Clr>
                  <a:schemeClr val="bg2"/>
                </a:buClr>
                <a:buFont typeface="Source Sans Pro" panose="020B0503030403020204" pitchFamily="34" charset="0"/>
                <a:buChar char="−"/>
                <a:defRPr sz="1200">
                  <a:latin typeface="Source Serif Pro Light" panose="02040303050405020204" pitchFamily="18" charset="0"/>
                  <a:ea typeface="Source Serif Pro Light" panose="02040303050405020204" pitchFamily="18" charset="0"/>
                </a:defRPr>
              </a:lvl3pPr>
              <a:lvl4pPr marL="0" indent="0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200" b="1">
                  <a:latin typeface="Source Serif Pro" panose="02040603050405020204" pitchFamily="18" charset="0"/>
                  <a:ea typeface="Source Serif Pro" panose="02040603050405020204" pitchFamily="18" charset="0"/>
                </a:defRPr>
              </a:lvl4pPr>
              <a:lvl5pPr marL="0" indent="0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200">
                  <a:solidFill>
                    <a:schemeClr val="accent1"/>
                  </a:solidFill>
                  <a:latin typeface="Source Serif Pro Black" panose="02040903050405020204" pitchFamily="18" charset="0"/>
                  <a:ea typeface="Source Serif Pro Black" panose="02040903050405020204" pitchFamily="18" charset="0"/>
                </a:defRPr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r>
                <a:rPr lang="en-US" sz="800" dirty="0">
                  <a:solidFill>
                    <a:schemeClr val="tx1"/>
                  </a:solidFill>
                  <a:latin typeface="Montserrat" panose="00000500000000000000" pitchFamily="2" charset="0"/>
                  <a:ea typeface="Lato" panose="020F0502020204030203" pitchFamily="34" charset="0"/>
                  <a:cs typeface="Lato" panose="020F0502020204030203" pitchFamily="34" charset="0"/>
                </a:rPr>
                <a:t>Venda </a:t>
              </a:r>
              <a:r>
                <a:rPr lang="en-US" sz="800" dirty="0" err="1">
                  <a:solidFill>
                    <a:schemeClr val="tx1"/>
                  </a:solidFill>
                  <a:latin typeface="Montserrat" panose="00000500000000000000" pitchFamily="2" charset="0"/>
                  <a:ea typeface="Lato" panose="020F0502020204030203" pitchFamily="34" charset="0"/>
                  <a:cs typeface="Lato" panose="020F0502020204030203" pitchFamily="34" charset="0"/>
                </a:rPr>
                <a:t>direta</a:t>
              </a:r>
              <a:endParaRPr lang="en-US" sz="800" dirty="0">
                <a:solidFill>
                  <a:schemeClr val="tx1"/>
                </a:solidFill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7254" name="Group 7253">
            <a:extLst>
              <a:ext uri="{FF2B5EF4-FFF2-40B4-BE49-F238E27FC236}">
                <a16:creationId xmlns:a16="http://schemas.microsoft.com/office/drawing/2014/main" id="{D0A23314-854C-9F9B-BE62-AB238D5B4EDE}"/>
              </a:ext>
            </a:extLst>
          </p:cNvPr>
          <p:cNvGrpSpPr/>
          <p:nvPr/>
        </p:nvGrpSpPr>
        <p:grpSpPr>
          <a:xfrm>
            <a:off x="11087437" y="5324076"/>
            <a:ext cx="941162" cy="410443"/>
            <a:chOff x="10504351" y="5552091"/>
            <a:chExt cx="1556103" cy="410443"/>
          </a:xfrm>
        </p:grpSpPr>
        <p:sp>
          <p:nvSpPr>
            <p:cNvPr id="7255" name="TextBox 7254">
              <a:extLst>
                <a:ext uri="{FF2B5EF4-FFF2-40B4-BE49-F238E27FC236}">
                  <a16:creationId xmlns:a16="http://schemas.microsoft.com/office/drawing/2014/main" id="{6CB0F797-E891-2037-DCD2-A9D5417C3D16}"/>
                </a:ext>
              </a:extLst>
            </p:cNvPr>
            <p:cNvSpPr txBox="1"/>
            <p:nvPr/>
          </p:nvSpPr>
          <p:spPr>
            <a:xfrm>
              <a:off x="10504351" y="5799225"/>
              <a:ext cx="1556103" cy="163309"/>
            </a:xfrm>
            <a:prstGeom prst="rect">
              <a:avLst/>
            </a:prstGeom>
          </p:spPr>
          <p:txBody>
            <a:bodyPr vert="horz" wrap="square" lIns="0" tIns="36000" rIns="0" bIns="0" rtlCol="0">
              <a:spAutoFit/>
            </a:bodyPr>
            <a:lstStyle>
              <a:lvl1pPr indent="0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200">
                  <a:solidFill>
                    <a:srgbClr val="000000"/>
                  </a:solidFill>
                  <a:latin typeface="Lato Light" panose="020F0302020204030203" pitchFamily="34" charset="0"/>
                  <a:ea typeface="Source Serif Pro Light" panose="02040303050405020204" pitchFamily="18" charset="0"/>
                </a:defRPr>
              </a:lvl1pPr>
              <a:lvl2pPr marL="108000" indent="-108000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Clr>
                  <a:schemeClr val="bg2"/>
                </a:buClr>
                <a:buFont typeface="Arial" panose="020B0604020202020204" pitchFamily="34" charset="0"/>
                <a:buChar char="•"/>
                <a:defRPr sz="1200">
                  <a:latin typeface="Source Serif Pro" panose="02040603050405020204" pitchFamily="18" charset="0"/>
                  <a:ea typeface="Source Serif Pro" panose="02040603050405020204" pitchFamily="18" charset="0"/>
                </a:defRPr>
              </a:lvl2pPr>
              <a:lvl3pPr marL="108000" indent="-108000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Clr>
                  <a:schemeClr val="bg2"/>
                </a:buClr>
                <a:buFont typeface="Source Sans Pro" panose="020B0503030403020204" pitchFamily="34" charset="0"/>
                <a:buChar char="−"/>
                <a:defRPr sz="1200">
                  <a:latin typeface="Source Serif Pro Light" panose="02040303050405020204" pitchFamily="18" charset="0"/>
                  <a:ea typeface="Source Serif Pro Light" panose="02040303050405020204" pitchFamily="18" charset="0"/>
                </a:defRPr>
              </a:lvl3pPr>
              <a:lvl4pPr marL="0" indent="0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200" b="1">
                  <a:latin typeface="Source Serif Pro" panose="02040603050405020204" pitchFamily="18" charset="0"/>
                  <a:ea typeface="Source Serif Pro" panose="02040603050405020204" pitchFamily="18" charset="0"/>
                </a:defRPr>
              </a:lvl4pPr>
              <a:lvl5pPr marL="0" indent="0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200">
                  <a:solidFill>
                    <a:schemeClr val="accent1"/>
                  </a:solidFill>
                  <a:latin typeface="Source Serif Pro Black" panose="02040903050405020204" pitchFamily="18" charset="0"/>
                  <a:ea typeface="Source Serif Pro Black" panose="02040903050405020204" pitchFamily="18" charset="0"/>
                </a:defRPr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r>
                <a:rPr lang="en-US" sz="800" dirty="0">
                  <a:solidFill>
                    <a:schemeClr val="tx1"/>
                  </a:solidFill>
                  <a:latin typeface="Montserrat" panose="00000500000000000000" pitchFamily="2" charset="0"/>
                  <a:ea typeface="Lato" panose="020F0502020204030203" pitchFamily="34" charset="0"/>
                  <a:cs typeface="Lato" panose="020F0502020204030203" pitchFamily="34" charset="0"/>
                </a:rPr>
                <a:t>Venda </a:t>
              </a:r>
              <a:r>
                <a:rPr lang="en-US" sz="800" dirty="0" err="1">
                  <a:solidFill>
                    <a:schemeClr val="tx1"/>
                  </a:solidFill>
                  <a:latin typeface="Montserrat" panose="00000500000000000000" pitchFamily="2" charset="0"/>
                  <a:ea typeface="Lato" panose="020F0502020204030203" pitchFamily="34" charset="0"/>
                  <a:cs typeface="Lato" panose="020F0502020204030203" pitchFamily="34" charset="0"/>
                </a:rPr>
                <a:t>distribuidor</a:t>
              </a:r>
              <a:endParaRPr lang="en-US" sz="800" dirty="0">
                <a:solidFill>
                  <a:schemeClr val="tx1"/>
                </a:solidFill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256" name="TextBox 7255">
              <a:extLst>
                <a:ext uri="{FF2B5EF4-FFF2-40B4-BE49-F238E27FC236}">
                  <a16:creationId xmlns:a16="http://schemas.microsoft.com/office/drawing/2014/main" id="{3AF57353-4F57-8FD1-EF96-0B9FBB80E0F3}"/>
                </a:ext>
              </a:extLst>
            </p:cNvPr>
            <p:cNvSpPr txBox="1"/>
            <p:nvPr/>
          </p:nvSpPr>
          <p:spPr>
            <a:xfrm>
              <a:off x="10504351" y="5552091"/>
              <a:ext cx="1098948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pt-BR" dirty="0">
                  <a:solidFill>
                    <a:schemeClr val="accent3">
                      <a:lumMod val="50000"/>
                    </a:schemeClr>
                  </a:solidFill>
                  <a:latin typeface="Montserrat ExtraBold" pitchFamily="2" charset="0"/>
                  <a:ea typeface="Source Serif Pro Black" panose="02040903050405020204" pitchFamily="18" charset="0"/>
                </a:rPr>
                <a:t>XXX</a:t>
              </a:r>
              <a:r>
                <a:rPr lang="pt-BR" sz="1100" b="1" dirty="0">
                  <a:solidFill>
                    <a:schemeClr val="accent3">
                      <a:lumMod val="50000"/>
                    </a:schemeClr>
                  </a:solidFill>
                  <a:latin typeface="Montserrat ExtraBold" pitchFamily="2" charset="0"/>
                  <a:ea typeface="Source Serif Pro Black" panose="02040903050405020204" pitchFamily="18" charset="0"/>
                </a:rPr>
                <a:t>%</a:t>
              </a:r>
              <a:endParaRPr lang="en-US" sz="1100" b="1" dirty="0" err="1">
                <a:solidFill>
                  <a:schemeClr val="accent3">
                    <a:lumMod val="50000"/>
                  </a:schemeClr>
                </a:solidFill>
                <a:latin typeface="Montserrat ExtraBold" pitchFamily="2" charset="0"/>
                <a:ea typeface="Source Serif Pro Black" panose="02040903050405020204" pitchFamily="18" charset="0"/>
              </a:endParaRPr>
            </a:p>
          </p:txBody>
        </p:sp>
      </p:grpSp>
      <p:sp>
        <p:nvSpPr>
          <p:cNvPr id="7276" name="Rectangle 7275">
            <a:extLst>
              <a:ext uri="{FF2B5EF4-FFF2-40B4-BE49-F238E27FC236}">
                <a16:creationId xmlns:a16="http://schemas.microsoft.com/office/drawing/2014/main" id="{FCAD1FE7-5285-F17A-3E39-7D3FF145D9AD}"/>
              </a:ext>
            </a:extLst>
          </p:cNvPr>
          <p:cNvSpPr/>
          <p:nvPr/>
        </p:nvSpPr>
        <p:spPr>
          <a:xfrm>
            <a:off x="8419723" y="1970542"/>
            <a:ext cx="3331085" cy="556393"/>
          </a:xfrm>
          <a:prstGeom prst="rect">
            <a:avLst/>
          </a:prstGeom>
          <a:noFill/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12000"/>
              </a:lnSpc>
              <a:spcAft>
                <a:spcPts val="800"/>
              </a:spcAft>
            </a:pPr>
            <a:r>
              <a:rPr lang="en-US" sz="900" dirty="0" err="1">
                <a:solidFill>
                  <a:schemeClr val="accent6">
                    <a:lumMod val="90000"/>
                  </a:schemeClr>
                </a:solidFill>
                <a:latin typeface="Montserrat Medium" pitchFamily="2" charset="0"/>
                <a:ea typeface="Source Serif Pro Black" panose="02040903050405020204" pitchFamily="18" charset="0"/>
              </a:rPr>
              <a:t>Biocap</a:t>
            </a:r>
            <a:r>
              <a:rPr lang="en-US" sz="900" dirty="0">
                <a:solidFill>
                  <a:schemeClr val="accent6">
                    <a:lumMod val="90000"/>
                  </a:schemeClr>
                </a:solidFill>
                <a:latin typeface="Montserrat Medium" pitchFamily="2" charset="0"/>
                <a:ea typeface="Source Serif Pro Black" panose="02040903050405020204" pitchFamily="18" charset="0"/>
              </a:rPr>
              <a:t> se </a:t>
            </a:r>
            <a:r>
              <a:rPr lang="en-US" sz="900" dirty="0" err="1">
                <a:solidFill>
                  <a:schemeClr val="accent6">
                    <a:lumMod val="90000"/>
                  </a:schemeClr>
                </a:solidFill>
                <a:latin typeface="Montserrat Medium" pitchFamily="2" charset="0"/>
                <a:ea typeface="Source Serif Pro Black" panose="02040903050405020204" pitchFamily="18" charset="0"/>
              </a:rPr>
              <a:t>utiliza</a:t>
            </a:r>
            <a:r>
              <a:rPr lang="en-US" sz="900" dirty="0">
                <a:solidFill>
                  <a:schemeClr val="accent6">
                    <a:lumMod val="90000"/>
                  </a:schemeClr>
                </a:solidFill>
                <a:latin typeface="Montserrat Medium" pitchFamily="2" charset="0"/>
                <a:ea typeface="Source Serif Pro Black" panose="02040903050405020204" pitchFamily="18" charset="0"/>
              </a:rPr>
              <a:t> dos </a:t>
            </a:r>
            <a:r>
              <a:rPr lang="en-US" sz="900" dirty="0" err="1">
                <a:solidFill>
                  <a:schemeClr val="accent6">
                    <a:lumMod val="90000"/>
                  </a:schemeClr>
                </a:solidFill>
                <a:latin typeface="Montserrat Medium" pitchFamily="2" charset="0"/>
                <a:ea typeface="Source Serif Pro Black" panose="02040903050405020204" pitchFamily="18" charset="0"/>
              </a:rPr>
              <a:t>distribuidores</a:t>
            </a:r>
            <a:r>
              <a:rPr lang="en-US" sz="900" dirty="0">
                <a:solidFill>
                  <a:schemeClr val="accent6">
                    <a:lumMod val="90000"/>
                  </a:schemeClr>
                </a:solidFill>
                <a:latin typeface="Montserrat Medium" pitchFamily="2" charset="0"/>
                <a:ea typeface="Source Serif Pro Black" panose="02040903050405020204" pitchFamily="18" charset="0"/>
              </a:rPr>
              <a:t> para </a:t>
            </a:r>
            <a:r>
              <a:rPr lang="en-US" sz="900" dirty="0" err="1">
                <a:solidFill>
                  <a:schemeClr val="accent6">
                    <a:lumMod val="90000"/>
                  </a:schemeClr>
                </a:solidFill>
                <a:latin typeface="Montserrat Medium" pitchFamily="2" charset="0"/>
                <a:ea typeface="Source Serif Pro Black" panose="02040903050405020204" pitchFamily="18" charset="0"/>
              </a:rPr>
              <a:t>aumentar</a:t>
            </a:r>
            <a:r>
              <a:rPr lang="en-US" sz="900" dirty="0">
                <a:solidFill>
                  <a:schemeClr val="accent6">
                    <a:lumMod val="90000"/>
                  </a:schemeClr>
                </a:solidFill>
                <a:latin typeface="Montserrat Medium" pitchFamily="2" charset="0"/>
                <a:ea typeface="Source Serif Pro Black" panose="02040903050405020204" pitchFamily="18" charset="0"/>
              </a:rPr>
              <a:t> </a:t>
            </a:r>
            <a:r>
              <a:rPr lang="en-US" sz="900" dirty="0" err="1">
                <a:solidFill>
                  <a:schemeClr val="accent6">
                    <a:lumMod val="90000"/>
                  </a:schemeClr>
                </a:solidFill>
                <a:latin typeface="Montserrat Medium" pitchFamily="2" charset="0"/>
                <a:ea typeface="Source Serif Pro Black" panose="02040903050405020204" pitchFamily="18" charset="0"/>
              </a:rPr>
              <a:t>sua</a:t>
            </a:r>
            <a:r>
              <a:rPr lang="en-US" sz="900" dirty="0">
                <a:solidFill>
                  <a:schemeClr val="accent6">
                    <a:lumMod val="90000"/>
                  </a:schemeClr>
                </a:solidFill>
                <a:latin typeface="Montserrat Medium" pitchFamily="2" charset="0"/>
                <a:ea typeface="Source Serif Pro Black" panose="02040903050405020204" pitchFamily="18" charset="0"/>
              </a:rPr>
              <a:t> </a:t>
            </a:r>
            <a:r>
              <a:rPr lang="en-US" sz="900" dirty="0" err="1">
                <a:solidFill>
                  <a:schemeClr val="accent6">
                    <a:lumMod val="90000"/>
                  </a:schemeClr>
                </a:solidFill>
                <a:latin typeface="Montserrat Medium" pitchFamily="2" charset="0"/>
                <a:ea typeface="Source Serif Pro Black" panose="02040903050405020204" pitchFamily="18" charset="0"/>
              </a:rPr>
              <a:t>capilaridade</a:t>
            </a:r>
            <a:r>
              <a:rPr lang="en-US" sz="900" dirty="0">
                <a:solidFill>
                  <a:schemeClr val="accent6">
                    <a:lumMod val="90000"/>
                  </a:schemeClr>
                </a:solidFill>
                <a:latin typeface="Montserrat Medium" pitchFamily="2" charset="0"/>
                <a:ea typeface="Source Serif Pro Black" panose="02040903050405020204" pitchFamily="18" charset="0"/>
              </a:rPr>
              <a:t> e </a:t>
            </a:r>
            <a:r>
              <a:rPr lang="en-US" sz="900" dirty="0" err="1">
                <a:solidFill>
                  <a:schemeClr val="accent6">
                    <a:lumMod val="90000"/>
                  </a:schemeClr>
                </a:solidFill>
                <a:latin typeface="Montserrat Medium" pitchFamily="2" charset="0"/>
                <a:ea typeface="Source Serif Pro Black" panose="02040903050405020204" pitchFamily="18" charset="0"/>
              </a:rPr>
              <a:t>atingir</a:t>
            </a:r>
            <a:r>
              <a:rPr lang="en-US" sz="900" dirty="0">
                <a:solidFill>
                  <a:schemeClr val="accent6">
                    <a:lumMod val="90000"/>
                  </a:schemeClr>
                </a:solidFill>
                <a:latin typeface="Montserrat Medium" pitchFamily="2" charset="0"/>
                <a:ea typeface="Source Serif Pro Black" panose="02040903050405020204" pitchFamily="18" charset="0"/>
              </a:rPr>
              <a:t>, </a:t>
            </a:r>
            <a:r>
              <a:rPr lang="en-US" sz="900" dirty="0" err="1">
                <a:solidFill>
                  <a:schemeClr val="accent6">
                    <a:lumMod val="90000"/>
                  </a:schemeClr>
                </a:solidFill>
                <a:latin typeface="Montserrat Medium" pitchFamily="2" charset="0"/>
                <a:ea typeface="Source Serif Pro Black" panose="02040903050405020204" pitchFamily="18" charset="0"/>
              </a:rPr>
              <a:t>também</a:t>
            </a:r>
            <a:r>
              <a:rPr lang="en-US" sz="900" dirty="0">
                <a:solidFill>
                  <a:schemeClr val="accent6">
                    <a:lumMod val="90000"/>
                  </a:schemeClr>
                </a:solidFill>
                <a:latin typeface="Montserrat Medium" pitchFamily="2" charset="0"/>
                <a:ea typeface="Source Serif Pro Black" panose="02040903050405020204" pitchFamily="18" charset="0"/>
              </a:rPr>
              <a:t>, </a:t>
            </a:r>
            <a:r>
              <a:rPr lang="en-US" sz="900" dirty="0" err="1">
                <a:solidFill>
                  <a:schemeClr val="accent6">
                    <a:lumMod val="90000"/>
                  </a:schemeClr>
                </a:solidFill>
                <a:latin typeface="Montserrat Medium" pitchFamily="2" charset="0"/>
                <a:ea typeface="Source Serif Pro Black" panose="02040903050405020204" pitchFamily="18" charset="0"/>
              </a:rPr>
              <a:t>pequenos</a:t>
            </a:r>
            <a:r>
              <a:rPr lang="en-US" sz="900" dirty="0">
                <a:solidFill>
                  <a:schemeClr val="accent6">
                    <a:lumMod val="90000"/>
                  </a:schemeClr>
                </a:solidFill>
                <a:latin typeface="Montserrat Medium" pitchFamily="2" charset="0"/>
                <a:ea typeface="Source Serif Pro Black" panose="02040903050405020204" pitchFamily="18" charset="0"/>
              </a:rPr>
              <a:t> </a:t>
            </a:r>
            <a:r>
              <a:rPr lang="en-US" sz="900" dirty="0" err="1">
                <a:solidFill>
                  <a:schemeClr val="accent6">
                    <a:lumMod val="90000"/>
                  </a:schemeClr>
                </a:solidFill>
                <a:latin typeface="Montserrat Medium" pitchFamily="2" charset="0"/>
                <a:ea typeface="Source Serif Pro Black" panose="02040903050405020204" pitchFamily="18" charset="0"/>
              </a:rPr>
              <a:t>varejistas</a:t>
            </a:r>
            <a:endParaRPr lang="pt-BR" sz="900" dirty="0" err="1">
              <a:solidFill>
                <a:schemeClr val="accent6">
                  <a:lumMod val="90000"/>
                </a:schemeClr>
              </a:solidFill>
              <a:latin typeface="Montserrat Medium" pitchFamily="2" charset="0"/>
              <a:ea typeface="Source Serif Pro" panose="020406030504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669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1A76CF6-1B3F-05E7-0CAE-D89E7635D4B8}"/>
              </a:ext>
            </a:extLst>
          </p:cNvPr>
          <p:cNvGrpSpPr/>
          <p:nvPr/>
        </p:nvGrpSpPr>
        <p:grpSpPr>
          <a:xfrm>
            <a:off x="1471613" y="2381660"/>
            <a:ext cx="2732982" cy="1713085"/>
            <a:chOff x="1471613" y="2381660"/>
            <a:chExt cx="2732982" cy="1713085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4BA3AADD-C592-82D7-2E94-FC26B32ECA73}"/>
                </a:ext>
              </a:extLst>
            </p:cNvPr>
            <p:cNvCxnSpPr>
              <a:cxnSpLocks/>
            </p:cNvCxnSpPr>
            <p:nvPr/>
          </p:nvCxnSpPr>
          <p:spPr>
            <a:xfrm>
              <a:off x="4204595" y="2400300"/>
              <a:ext cx="0" cy="1694445"/>
            </a:xfrm>
            <a:prstGeom prst="line">
              <a:avLst/>
            </a:prstGeom>
            <a:ln w="6350">
              <a:solidFill>
                <a:schemeClr val="bg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EDC3EA90-DDF1-70D1-F08D-9FDE784C22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71613" y="2381660"/>
              <a:ext cx="2707481" cy="0"/>
            </a:xfrm>
            <a:prstGeom prst="line">
              <a:avLst/>
            </a:prstGeom>
            <a:ln w="6350">
              <a:solidFill>
                <a:schemeClr val="bg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2FCDB969-844D-FDA4-BEFF-2D9CABE15772}"/>
              </a:ext>
            </a:extLst>
          </p:cNvPr>
          <p:cNvSpPr/>
          <p:nvPr/>
        </p:nvSpPr>
        <p:spPr>
          <a:xfrm flipH="1">
            <a:off x="-13" y="4915220"/>
            <a:ext cx="12191999" cy="19427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1080" name="Title 1">
            <a:extLst>
              <a:ext uri="{FF2B5EF4-FFF2-40B4-BE49-F238E27FC236}">
                <a16:creationId xmlns:a16="http://schemas.microsoft.com/office/drawing/2014/main" id="{744E0C22-70C0-1732-00B9-2B16C7D9E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pt-BR" sz="1800" dirty="0"/>
              <a:t>A </a:t>
            </a:r>
            <a:r>
              <a:rPr lang="pt-BR" sz="1800" dirty="0" err="1"/>
              <a:t>Biocap</a:t>
            </a:r>
            <a:r>
              <a:rPr lang="pt-BR" sz="1800" dirty="0"/>
              <a:t> está posicionada estrategicamente para capturar o potencial do mercado</a:t>
            </a:r>
          </a:p>
        </p:txBody>
      </p:sp>
      <p:sp>
        <p:nvSpPr>
          <p:cNvPr id="1081" name="Content Placeholder 39">
            <a:extLst>
              <a:ext uri="{FF2B5EF4-FFF2-40B4-BE49-F238E27FC236}">
                <a16:creationId xmlns:a16="http://schemas.microsoft.com/office/drawing/2014/main" id="{B9D975F1-5BA6-B96F-05FD-FBEFC51DB81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0" tIns="36000" rIns="0" bIns="0" rtlCol="0" anchor="t">
            <a:spAutoFit/>
          </a:bodyPr>
          <a:lstStyle/>
          <a:p>
            <a:r>
              <a:rPr lang="pt-BR" sz="1050" dirty="0">
                <a:latin typeface="Montserrat" pitchFamily="2" charset="0"/>
              </a:rPr>
              <a:t>A </a:t>
            </a:r>
            <a:r>
              <a:rPr lang="pt-BR" sz="1050" dirty="0" err="1">
                <a:latin typeface="Montserrat" pitchFamily="2" charset="0"/>
              </a:rPr>
              <a:t>Biocap</a:t>
            </a:r>
            <a:r>
              <a:rPr lang="pt-BR" sz="1050" dirty="0">
                <a:latin typeface="Montserrat" pitchFamily="2" charset="0"/>
              </a:rPr>
              <a:t> possui posicionamento único no mercado ao ofertar uma linha completa, combinando forte crescimento e rentabilidade acima dos competidores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6CE1D5B-1138-0525-3884-00E907C8222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  <a:latin typeface="Montserrat" panose="00000500000000000000" pitchFamily="2" charset="0"/>
              </a:rPr>
              <a:t>Fonte: IBGE, Companhia, Capital IQ</a:t>
            </a:r>
            <a:b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  <a:latin typeface="Montserrat" panose="00000500000000000000" pitchFamily="2" charset="0"/>
              </a:rPr>
            </a:br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  <a:latin typeface="Montserrat" panose="00000500000000000000" pitchFamily="2" charset="0"/>
              </a:rPr>
              <a:t>1) </a:t>
            </a:r>
            <a:r>
              <a:rPr lang="pt-BR" dirty="0" err="1">
                <a:solidFill>
                  <a:schemeClr val="tx2">
                    <a:lumMod val="10000"/>
                    <a:lumOff val="90000"/>
                  </a:schemeClr>
                </a:solidFill>
                <a:latin typeface="Montserrat" panose="00000500000000000000" pitchFamily="2" charset="0"/>
              </a:rPr>
              <a:t>Biocap</a:t>
            </a:r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  <a:latin typeface="Montserrat" panose="00000500000000000000" pitchFamily="2" charset="0"/>
              </a:rPr>
              <a:t>: EBITDA contábil YTD</a:t>
            </a:r>
          </a:p>
        </p:txBody>
      </p:sp>
      <p:sp>
        <p:nvSpPr>
          <p:cNvPr id="6" name="Content Placeholder 46">
            <a:extLst>
              <a:ext uri="{FF2B5EF4-FFF2-40B4-BE49-F238E27FC236}">
                <a16:creationId xmlns:a16="http://schemas.microsoft.com/office/drawing/2014/main" id="{4575B519-B7AF-0729-DF72-C6369916854D}"/>
              </a:ext>
            </a:extLst>
          </p:cNvPr>
          <p:cNvSpPr txBox="1">
            <a:spLocks/>
          </p:cNvSpPr>
          <p:nvPr/>
        </p:nvSpPr>
        <p:spPr>
          <a:xfrm>
            <a:off x="731837" y="1544107"/>
            <a:ext cx="4621944" cy="17447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1pPr>
            <a:lvl2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2pPr>
            <a:lvl3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Source Sans Pro" panose="020B0503030403020204" pitchFamily="34" charset="0"/>
              <a:buChar char="−"/>
              <a:defRPr sz="1200" kern="1200">
                <a:solidFill>
                  <a:schemeClr val="tx1"/>
                </a:solidFill>
                <a:latin typeface="Source Serif Pro Light" panose="02040303050405020204" pitchFamily="18" charset="0"/>
                <a:ea typeface="Source Serif Pro Light" panose="02040303050405020204" pitchFamily="18" charset="0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2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kern="1200">
                <a:solidFill>
                  <a:schemeClr val="accent4"/>
                </a:solidFill>
                <a:latin typeface="Source Serif Pro Black" panose="02040903050405020204" pitchFamily="18" charset="0"/>
                <a:ea typeface="Source Serif Pro Black" panose="02040903050405020204" pitchFamily="18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100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rPr>
              <a:t>Margem EBITDA LTM¹ </a:t>
            </a:r>
            <a:r>
              <a:rPr lang="pt-BR" sz="1100" dirty="0" err="1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rPr>
              <a:t>vs</a:t>
            </a:r>
            <a:r>
              <a:rPr lang="pt-BR" sz="1100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rPr>
              <a:t> CAGR Receita Bruta 2021-2023</a:t>
            </a:r>
          </a:p>
        </p:txBody>
      </p:sp>
      <p:sp>
        <p:nvSpPr>
          <p:cNvPr id="31" name="object 95">
            <a:extLst>
              <a:ext uri="{FF2B5EF4-FFF2-40B4-BE49-F238E27FC236}">
                <a16:creationId xmlns:a16="http://schemas.microsoft.com/office/drawing/2014/main" id="{1AFE6875-FB39-E42D-56CA-806E1C7208AA}"/>
              </a:ext>
            </a:extLst>
          </p:cNvPr>
          <p:cNvSpPr txBox="1"/>
          <p:nvPr/>
        </p:nvSpPr>
        <p:spPr>
          <a:xfrm>
            <a:off x="483051" y="5215379"/>
            <a:ext cx="5907622" cy="49673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algn="ctr">
              <a:lnSpc>
                <a:spcPct val="100800"/>
              </a:lnSpc>
              <a:spcBef>
                <a:spcPts val="85"/>
              </a:spcBef>
            </a:pPr>
            <a:r>
              <a:rPr lang="pt-BR" sz="1600" b="1" spc="40" dirty="0">
                <a:solidFill>
                  <a:schemeClr val="bg1"/>
                </a:solidFill>
                <a:latin typeface="Montserrat" panose="00000500000000000000" pitchFamily="2" charset="0"/>
                <a:ea typeface="Source Serif Pro" panose="02040603050405020204" pitchFamily="18" charset="0"/>
                <a:cs typeface="Verdana"/>
              </a:rPr>
              <a:t>Posicionamento estratégico combinando performance e rentabilidade acima do mercado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92D8F40-2676-CF84-A734-0D902C9DCE19}"/>
              </a:ext>
            </a:extLst>
          </p:cNvPr>
          <p:cNvGrpSpPr/>
          <p:nvPr/>
        </p:nvGrpSpPr>
        <p:grpSpPr>
          <a:xfrm>
            <a:off x="736255" y="1908429"/>
            <a:ext cx="5468112" cy="2736897"/>
            <a:chOff x="717411" y="1997485"/>
            <a:chExt cx="5771028" cy="3908707"/>
          </a:xfrm>
        </p:grpSpPr>
        <p:graphicFrame>
          <p:nvGraphicFramePr>
            <p:cNvPr id="8" name="Chart 7">
              <a:extLst>
                <a:ext uri="{FF2B5EF4-FFF2-40B4-BE49-F238E27FC236}">
                  <a16:creationId xmlns:a16="http://schemas.microsoft.com/office/drawing/2014/main" id="{27694090-0C9D-010E-B426-0FDA70416FA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694785998"/>
                </p:ext>
              </p:extLst>
            </p:nvPr>
          </p:nvGraphicFramePr>
          <p:xfrm>
            <a:off x="1151757" y="1997485"/>
            <a:ext cx="5336682" cy="338560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9" name="Content Placeholder 2">
              <a:extLst>
                <a:ext uri="{FF2B5EF4-FFF2-40B4-BE49-F238E27FC236}">
                  <a16:creationId xmlns:a16="http://schemas.microsoft.com/office/drawing/2014/main" id="{D14D0A60-0CFF-7D1E-0A03-256F5F002501}"/>
                </a:ext>
              </a:extLst>
            </p:cNvPr>
            <p:cNvSpPr txBox="1">
              <a:spLocks/>
            </p:cNvSpPr>
            <p:nvPr/>
          </p:nvSpPr>
          <p:spPr>
            <a:xfrm>
              <a:off x="1493505" y="5672962"/>
              <a:ext cx="4780037" cy="233230"/>
            </a:xfrm>
            <a:prstGeom prst="rect">
              <a:avLst/>
            </a:prstGeom>
            <a:noFill/>
          </p:spPr>
          <p:txBody>
            <a:bodyPr vert="horz" wrap="square" lIns="0" tIns="36000" rIns="0" bIns="0" rtlCol="0">
              <a:spAutoFit/>
            </a:bodyPr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Source Serif Pro Light" panose="02040303050405020204" pitchFamily="18" charset="0"/>
                  <a:ea typeface="Source Serif Pro Light" panose="02040303050405020204" pitchFamily="18" charset="0"/>
                  <a:cs typeface="+mn-cs"/>
                </a:defRPr>
              </a:lvl1pPr>
              <a:lvl2pPr marL="108000" indent="-108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Clr>
                  <a:schemeClr val="bg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Source Serif Pro" panose="02040603050405020204" pitchFamily="18" charset="0"/>
                  <a:ea typeface="Source Serif Pro" panose="02040603050405020204" pitchFamily="18" charset="0"/>
                  <a:cs typeface="+mn-cs"/>
                </a:defRPr>
              </a:lvl2pPr>
              <a:lvl3pPr marL="108000" indent="-108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Clr>
                  <a:schemeClr val="bg2"/>
                </a:buClr>
                <a:buFont typeface="Source Sans Pro" panose="020B0503030403020204" pitchFamily="34" charset="0"/>
                <a:buChar char="−"/>
                <a:defRPr sz="1200" kern="1200">
                  <a:solidFill>
                    <a:schemeClr val="tx1"/>
                  </a:solidFill>
                  <a:latin typeface="Source Serif Pro Light" panose="02040303050405020204" pitchFamily="18" charset="0"/>
                  <a:ea typeface="Source Serif Pro Light" panose="02040303050405020204" pitchFamily="18" charset="0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Source Serif Pro" panose="02040603050405020204" pitchFamily="18" charset="0"/>
                  <a:ea typeface="Source Serif Pro" panose="02040603050405020204" pitchFamily="18" charset="0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200" kern="1200">
                  <a:solidFill>
                    <a:schemeClr val="accent1"/>
                  </a:solidFill>
                  <a:latin typeface="Source Serif Pro Black" panose="02040903050405020204" pitchFamily="18" charset="0"/>
                  <a:ea typeface="Source Serif Pro Black" panose="02040903050405020204" pitchFamily="18" charset="0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lang="en-US" sz="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 Medium" pitchFamily="2" charset="0"/>
                  <a:ea typeface="+mn-ea"/>
                  <a:cs typeface="+mn-cs"/>
                </a:defRPr>
              </a:pPr>
              <a:r>
                <a:rPr lang="pt-BR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 Medium" pitchFamily="2" charset="0"/>
                  <a:ea typeface="+mn-ea"/>
                </a:rPr>
                <a:t>CAGR Receita Bruta 2021-2023</a:t>
              </a:r>
            </a:p>
          </p:txBody>
        </p:sp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F3D9B427-0C14-5A47-FB57-4B5D37E3409C}"/>
                </a:ext>
              </a:extLst>
            </p:cNvPr>
            <p:cNvSpPr txBox="1">
              <a:spLocks/>
            </p:cNvSpPr>
            <p:nvPr/>
          </p:nvSpPr>
          <p:spPr>
            <a:xfrm rot="16200000">
              <a:off x="-733079" y="3497032"/>
              <a:ext cx="3073335" cy="172356"/>
            </a:xfrm>
            <a:prstGeom prst="rect">
              <a:avLst/>
            </a:prstGeom>
            <a:noFill/>
          </p:spPr>
          <p:txBody>
            <a:bodyPr vert="horz" wrap="square" lIns="0" tIns="36000" rIns="0" bIns="0" rtlCol="0">
              <a:spAutoFit/>
            </a:bodyPr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Source Serif Pro Light" panose="02040303050405020204" pitchFamily="18" charset="0"/>
                  <a:ea typeface="Source Serif Pro Light" panose="02040303050405020204" pitchFamily="18" charset="0"/>
                  <a:cs typeface="+mn-cs"/>
                </a:defRPr>
              </a:lvl1pPr>
              <a:lvl2pPr marL="108000" indent="-108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Clr>
                  <a:schemeClr val="bg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Source Serif Pro" panose="02040603050405020204" pitchFamily="18" charset="0"/>
                  <a:ea typeface="Source Serif Pro" panose="02040603050405020204" pitchFamily="18" charset="0"/>
                  <a:cs typeface="+mn-cs"/>
                </a:defRPr>
              </a:lvl2pPr>
              <a:lvl3pPr marL="108000" indent="-108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Clr>
                  <a:schemeClr val="bg2"/>
                </a:buClr>
                <a:buFont typeface="Source Sans Pro" panose="020B0503030403020204" pitchFamily="34" charset="0"/>
                <a:buChar char="−"/>
                <a:defRPr sz="1200" kern="1200">
                  <a:solidFill>
                    <a:schemeClr val="tx1"/>
                  </a:solidFill>
                  <a:latin typeface="Source Serif Pro Light" panose="02040303050405020204" pitchFamily="18" charset="0"/>
                  <a:ea typeface="Source Serif Pro Light" panose="02040303050405020204" pitchFamily="18" charset="0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Source Serif Pro" panose="02040603050405020204" pitchFamily="18" charset="0"/>
                  <a:ea typeface="Source Serif Pro" panose="02040603050405020204" pitchFamily="18" charset="0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200" kern="1200">
                  <a:solidFill>
                    <a:schemeClr val="accent1"/>
                  </a:solidFill>
                  <a:latin typeface="Source Serif Pro Black" panose="02040903050405020204" pitchFamily="18" charset="0"/>
                  <a:ea typeface="Source Serif Pro Black" panose="02040903050405020204" pitchFamily="18" charset="0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lang="en-US" sz="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 Medium" pitchFamily="2" charset="0"/>
                  <a:ea typeface="+mn-ea"/>
                  <a:cs typeface="+mn-cs"/>
                </a:defRPr>
              </a:pPr>
              <a:r>
                <a:rPr lang="pt-BR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 Medium" pitchFamily="2" charset="0"/>
                  <a:ea typeface="+mn-ea"/>
                </a:rPr>
                <a:t>Margem EBITDA LTM</a:t>
              </a:r>
            </a:p>
          </p:txBody>
        </p:sp>
        <p:pic>
          <p:nvPicPr>
            <p:cNvPr id="14" name="Picture 8">
              <a:extLst>
                <a:ext uri="{FF2B5EF4-FFF2-40B4-BE49-F238E27FC236}">
                  <a16:creationId xmlns:a16="http://schemas.microsoft.com/office/drawing/2014/main" id="{C97C9068-6763-F609-989A-93C139FD5F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6137" y="3026695"/>
              <a:ext cx="631151" cy="1135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0" descr="Unilever Logo: valor, história, PNG">
              <a:extLst>
                <a:ext uri="{FF2B5EF4-FFF2-40B4-BE49-F238E27FC236}">
                  <a16:creationId xmlns:a16="http://schemas.microsoft.com/office/drawing/2014/main" id="{29B4F42F-5A2E-A1B2-8559-D583BC1AE7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12733" y="3493617"/>
              <a:ext cx="514145" cy="2879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4" descr="Logo - Coty - Zamboni">
              <a:extLst>
                <a:ext uri="{FF2B5EF4-FFF2-40B4-BE49-F238E27FC236}">
                  <a16:creationId xmlns:a16="http://schemas.microsoft.com/office/drawing/2014/main" id="{E5927688-1C0E-4AC3-5B0F-DC17F99930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7334" y="3505914"/>
              <a:ext cx="478583" cy="1710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6" descr="Beiersdorf Logo: valor, história, PNG">
              <a:extLst>
                <a:ext uri="{FF2B5EF4-FFF2-40B4-BE49-F238E27FC236}">
                  <a16:creationId xmlns:a16="http://schemas.microsoft.com/office/drawing/2014/main" id="{5D908B1D-D603-F080-73C4-0180A6119E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5259" y="3894809"/>
              <a:ext cx="592552" cy="3318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0" name="Picture 2" descr="ÍONZ é a nova agência digital da BIOCAP - ABC da Comunicação">
            <a:extLst>
              <a:ext uri="{FF2B5EF4-FFF2-40B4-BE49-F238E27FC236}">
                <a16:creationId xmlns:a16="http://schemas.microsoft.com/office/drawing/2014/main" id="{3932FE0B-9BA2-DE2C-EC1C-FE17426E5B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701" b="48656"/>
          <a:stretch/>
        </p:blipFill>
        <p:spPr bwMode="auto">
          <a:xfrm>
            <a:off x="4305045" y="2261715"/>
            <a:ext cx="973461" cy="239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P&amp;G abandona compromisso de sustentabilidade na compra de celulose">
            <a:extLst>
              <a:ext uri="{FF2B5EF4-FFF2-40B4-BE49-F238E27FC236}">
                <a16:creationId xmlns:a16="http://schemas.microsoft.com/office/drawing/2014/main" id="{F00D5C7B-E483-9314-421E-91A141D40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485" y="2083195"/>
            <a:ext cx="399443" cy="266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Rectangle: Top Corners Rounded 29">
            <a:extLst>
              <a:ext uri="{FF2B5EF4-FFF2-40B4-BE49-F238E27FC236}">
                <a16:creationId xmlns:a16="http://schemas.microsoft.com/office/drawing/2014/main" id="{ABE384CD-4D52-3556-5667-9683760DCFAB}"/>
              </a:ext>
            </a:extLst>
          </p:cNvPr>
          <p:cNvSpPr/>
          <p:nvPr/>
        </p:nvSpPr>
        <p:spPr>
          <a:xfrm flipH="1">
            <a:off x="6532657" y="1461926"/>
            <a:ext cx="4825583" cy="4527713"/>
          </a:xfrm>
          <a:prstGeom prst="round2SameRect">
            <a:avLst>
              <a:gd name="adj1" fmla="val 4886"/>
              <a:gd name="adj2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r>
              <a:rPr lang="pt-BR" sz="1200" dirty="0">
                <a:solidFill>
                  <a:schemeClr val="tx1"/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 </a:t>
            </a:r>
          </a:p>
        </p:txBody>
      </p:sp>
      <p:sp>
        <p:nvSpPr>
          <p:cNvPr id="32" name="Content Placeholder 4">
            <a:extLst>
              <a:ext uri="{FF2B5EF4-FFF2-40B4-BE49-F238E27FC236}">
                <a16:creationId xmlns:a16="http://schemas.microsoft.com/office/drawing/2014/main" id="{EB756382-839E-855C-856A-B245B16628AE}"/>
              </a:ext>
            </a:extLst>
          </p:cNvPr>
          <p:cNvSpPr txBox="1">
            <a:spLocks/>
          </p:cNvSpPr>
          <p:nvPr/>
        </p:nvSpPr>
        <p:spPr>
          <a:xfrm>
            <a:off x="7864526" y="2902825"/>
            <a:ext cx="2997182" cy="59798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lnSpc>
                <a:spcPct val="112000"/>
              </a:lnSpc>
              <a:defRPr sz="1600">
                <a:latin typeface="TT Hoves Pro Trial Medium" panose="020B0003020000020203"/>
                <a:ea typeface="Source Serif Pro Black" panose="02040903050405020204" pitchFamily="18" charset="0"/>
              </a:defRPr>
            </a:lvl1pPr>
            <a:lvl2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00" kern="1200" spc="-20" baseline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defRPr>
            </a:lvl2pPr>
            <a:lvl3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Source Sans Pro" panose="020B0503030403020204" pitchFamily="34" charset="0"/>
              <a:buChar char="−"/>
              <a:defRPr sz="1000" kern="1200" spc="-20" baseline="0">
                <a:solidFill>
                  <a:schemeClr val="tx2"/>
                </a:solidFill>
                <a:latin typeface="TT Hoves Pro Trial" panose="020B0003020000020203" pitchFamily="34" charset="0"/>
                <a:ea typeface="Source Serif Pro Light" panose="02040303050405020204" pitchFamily="18" charset="0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100" b="0" kern="1200" spc="-20" baseline="0">
                <a:solidFill>
                  <a:schemeClr val="tx2"/>
                </a:solidFill>
                <a:latin typeface="TT Hoves Pro Trial Medium" panose="020B0003020000020203" pitchFamily="34" charset="0"/>
                <a:ea typeface="Source Serif Pro" panose="02040603050405020204" pitchFamily="18" charset="0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000" kern="1200">
                <a:solidFill>
                  <a:schemeClr val="tx2"/>
                </a:solidFill>
                <a:latin typeface="TT Hoves Pro Trial "/>
                <a:ea typeface="Source Serif Pro Black" panose="02040903050405020204" pitchFamily="18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+mn-ea"/>
              </a:rPr>
              <a:t>Portfólio Completo e Focado</a:t>
            </a:r>
          </a:p>
          <a:p>
            <a:r>
              <a:rPr lang="pt-BR" sz="1000" dirty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+mn-ea"/>
              </a:rPr>
              <a:t>A companhia possui um portfólio completo e focado em </a:t>
            </a:r>
            <a:r>
              <a:rPr lang="pt-BR" sz="1000" dirty="0" err="1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+mn-ea"/>
              </a:rPr>
              <a:t>Bodycare</a:t>
            </a:r>
            <a:endParaRPr lang="pt-BR" sz="1000" dirty="0">
              <a:solidFill>
                <a:schemeClr val="bg1">
                  <a:lumMod val="95000"/>
                </a:schemeClr>
              </a:solidFill>
              <a:latin typeface="Montserrat" pitchFamily="2" charset="0"/>
              <a:ea typeface="+mn-ea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67B5795-FBE8-F616-9800-92BC1C64CA38}"/>
              </a:ext>
            </a:extLst>
          </p:cNvPr>
          <p:cNvSpPr/>
          <p:nvPr/>
        </p:nvSpPr>
        <p:spPr>
          <a:xfrm>
            <a:off x="7002566" y="2755652"/>
            <a:ext cx="719976" cy="719974"/>
          </a:xfrm>
          <a:prstGeom prst="ellipse">
            <a:avLst/>
          </a:prstGeom>
          <a:solidFill>
            <a:srgbClr val="F9EB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34" name="Content Placeholder 12">
            <a:extLst>
              <a:ext uri="{FF2B5EF4-FFF2-40B4-BE49-F238E27FC236}">
                <a16:creationId xmlns:a16="http://schemas.microsoft.com/office/drawing/2014/main" id="{9F291802-F1E6-667A-CF03-EBC312E1F77B}"/>
              </a:ext>
            </a:extLst>
          </p:cNvPr>
          <p:cNvSpPr txBox="1">
            <a:spLocks/>
          </p:cNvSpPr>
          <p:nvPr/>
        </p:nvSpPr>
        <p:spPr>
          <a:xfrm>
            <a:off x="7864526" y="4900600"/>
            <a:ext cx="2997181" cy="77764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000" kern="1200" spc="-20" baseline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defRPr>
            </a:lvl1pPr>
            <a:lvl2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00" kern="1200" spc="-20" baseline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defRPr>
            </a:lvl2pPr>
            <a:lvl3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Source Sans Pro" panose="020B0503030403020204" pitchFamily="34" charset="0"/>
              <a:buChar char="−"/>
              <a:defRPr sz="1000" kern="1200" spc="-20" baseline="0">
                <a:solidFill>
                  <a:schemeClr val="tx2"/>
                </a:solidFill>
                <a:latin typeface="TT Hoves Pro Trial" panose="020B0003020000020203" pitchFamily="34" charset="0"/>
                <a:ea typeface="Source Serif Pro Light" panose="02040303050405020204" pitchFamily="18" charset="0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100" b="0" kern="1200" spc="-20" baseline="0">
                <a:solidFill>
                  <a:schemeClr val="tx2"/>
                </a:solidFill>
                <a:latin typeface="TT Hoves Pro Trial Medium" panose="020B0003020000020203" pitchFamily="34" charset="0"/>
                <a:ea typeface="Source Serif Pro" panose="02040603050405020204" pitchFamily="18" charset="0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000" kern="1200">
                <a:solidFill>
                  <a:schemeClr val="tx2"/>
                </a:solidFill>
                <a:latin typeface="TT Hoves Pro Trial "/>
                <a:ea typeface="Source Serif Pro Black" panose="02040903050405020204" pitchFamily="18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pt-BR" b="1" dirty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+mn-ea"/>
              </a:rPr>
              <a:t>Capilaridade Nacional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Montserrat "/>
              </a:rPr>
              <a:t>A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latin typeface="Montserrat "/>
              </a:rPr>
              <a:t>Biocap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Montserrat "/>
              </a:rPr>
              <a:t> distribui seus produtos através de todos os canais de venda, garantindo presença em XXX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latin typeface="Montserrat "/>
              </a:rPr>
              <a:t>PDVs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Montserrat "/>
              </a:rPr>
              <a:t> ao redor do Brasil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28F866E-3D4D-817C-FBEF-A4E42403BD5C}"/>
              </a:ext>
            </a:extLst>
          </p:cNvPr>
          <p:cNvSpPr/>
          <p:nvPr/>
        </p:nvSpPr>
        <p:spPr>
          <a:xfrm>
            <a:off x="7002566" y="4817612"/>
            <a:ext cx="719976" cy="719974"/>
          </a:xfrm>
          <a:prstGeom prst="ellipse">
            <a:avLst/>
          </a:prstGeom>
          <a:solidFill>
            <a:srgbClr val="F9EB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38" name="Content Placeholder 4">
            <a:extLst>
              <a:ext uri="{FF2B5EF4-FFF2-40B4-BE49-F238E27FC236}">
                <a16:creationId xmlns:a16="http://schemas.microsoft.com/office/drawing/2014/main" id="{B06B5AF4-000E-D107-31B2-0F0275EC1784}"/>
              </a:ext>
            </a:extLst>
          </p:cNvPr>
          <p:cNvSpPr txBox="1">
            <a:spLocks/>
          </p:cNvSpPr>
          <p:nvPr/>
        </p:nvSpPr>
        <p:spPr>
          <a:xfrm>
            <a:off x="7864526" y="3854085"/>
            <a:ext cx="2997182" cy="5979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pt-BR"/>
            </a:defPPr>
            <a:lvl1pPr>
              <a:lnSpc>
                <a:spcPct val="112000"/>
              </a:lnSpc>
              <a:defRPr sz="1600">
                <a:latin typeface="TT Hoves Pro Trial Medium" panose="020B0003020000020203"/>
                <a:ea typeface="Source Serif Pro Black" panose="02040903050405020204" pitchFamily="18" charset="0"/>
              </a:defRPr>
            </a:lvl1pPr>
            <a:lvl2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00" kern="1200" spc="-20" baseline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defRPr>
            </a:lvl2pPr>
            <a:lvl3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Source Sans Pro" panose="020B0503030403020204" pitchFamily="34" charset="0"/>
              <a:buChar char="−"/>
              <a:defRPr sz="1000" kern="1200" spc="-20" baseline="0">
                <a:solidFill>
                  <a:schemeClr val="tx2"/>
                </a:solidFill>
                <a:latin typeface="TT Hoves Pro Trial" panose="020B0003020000020203" pitchFamily="34" charset="0"/>
                <a:ea typeface="Source Serif Pro Light" panose="02040303050405020204" pitchFamily="18" charset="0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100" b="0" kern="1200" spc="-20" baseline="0">
                <a:solidFill>
                  <a:schemeClr val="tx2"/>
                </a:solidFill>
                <a:latin typeface="TT Hoves Pro Trial Medium" panose="020B0003020000020203" pitchFamily="34" charset="0"/>
                <a:ea typeface="Source Serif Pro" panose="02040603050405020204" pitchFamily="18" charset="0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000" kern="1200">
                <a:solidFill>
                  <a:schemeClr val="tx2"/>
                </a:solidFill>
                <a:latin typeface="TT Hoves Pro Trial "/>
                <a:ea typeface="Source Serif Pro Black" panose="02040903050405020204" pitchFamily="18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+mn-ea"/>
              </a:rPr>
              <a:t>Preços acessíveis</a:t>
            </a:r>
          </a:p>
          <a:p>
            <a:r>
              <a:rPr lang="pt-BR" sz="1000" dirty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+mn-ea"/>
              </a:rPr>
              <a:t>Os produtos da </a:t>
            </a:r>
            <a:r>
              <a:rPr lang="pt-BR" sz="1000" dirty="0" err="1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+mn-ea"/>
              </a:rPr>
              <a:t>Biocap</a:t>
            </a:r>
            <a:r>
              <a:rPr lang="pt-BR" sz="1000" dirty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+mn-ea"/>
              </a:rPr>
              <a:t> são ideais para uma rotina completa e acessível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8E5D729-FA0C-840D-2E2A-21BD24DBECE6}"/>
              </a:ext>
            </a:extLst>
          </p:cNvPr>
          <p:cNvSpPr/>
          <p:nvPr/>
        </p:nvSpPr>
        <p:spPr>
          <a:xfrm>
            <a:off x="7002566" y="3793090"/>
            <a:ext cx="719976" cy="719974"/>
          </a:xfrm>
          <a:prstGeom prst="ellipse">
            <a:avLst/>
          </a:prstGeom>
          <a:solidFill>
            <a:srgbClr val="F9EB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2DE4927-ED03-785A-E39A-F1064E9A6BA4}"/>
              </a:ext>
            </a:extLst>
          </p:cNvPr>
          <p:cNvSpPr txBox="1"/>
          <p:nvPr/>
        </p:nvSpPr>
        <p:spPr>
          <a:xfrm>
            <a:off x="6896290" y="1607211"/>
            <a:ext cx="41336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2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A </a:t>
            </a:r>
            <a:r>
              <a:rPr lang="pt-BR" sz="1400" b="1" dirty="0" err="1">
                <a:solidFill>
                  <a:schemeClr val="tx2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Biocap</a:t>
            </a:r>
            <a:r>
              <a:rPr lang="pt-BR" sz="1400" b="1" dirty="0">
                <a:solidFill>
                  <a:schemeClr val="tx2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 opera com a combinação perfeita de performance e rentabilidade, posicionando-se de forma a capturar o mercado das classe C, D e </a:t>
            </a:r>
            <a:r>
              <a:rPr lang="pt-BR" sz="1400" b="1" dirty="0" err="1">
                <a:solidFill>
                  <a:schemeClr val="tx2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E</a:t>
            </a:r>
            <a:endParaRPr lang="pt-BR" sz="1400" b="1" dirty="0">
              <a:solidFill>
                <a:schemeClr val="tx2"/>
              </a:solidFill>
              <a:latin typeface="Montserrat" panose="00000500000000000000" pitchFamily="2" charset="0"/>
              <a:ea typeface="Source Serif Pro Black" panose="02040903050405020204" pitchFamily="18" charset="0"/>
            </a:endParaRPr>
          </a:p>
        </p:txBody>
      </p:sp>
      <p:pic>
        <p:nvPicPr>
          <p:cNvPr id="13" name="Graphic 12" descr="Inventory outline">
            <a:extLst>
              <a:ext uri="{FF2B5EF4-FFF2-40B4-BE49-F238E27FC236}">
                <a16:creationId xmlns:a16="http://schemas.microsoft.com/office/drawing/2014/main" id="{6AF8C61C-95B0-CCE9-C28E-4A846DC0881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04476" y="2822839"/>
            <a:ext cx="516155" cy="516155"/>
          </a:xfrm>
          <a:prstGeom prst="rect">
            <a:avLst/>
          </a:prstGeom>
        </p:spPr>
      </p:pic>
      <p:pic>
        <p:nvPicPr>
          <p:cNvPr id="19" name="Graphic 18" descr="Tag outline">
            <a:extLst>
              <a:ext uri="{FF2B5EF4-FFF2-40B4-BE49-F238E27FC236}">
                <a16:creationId xmlns:a16="http://schemas.microsoft.com/office/drawing/2014/main" id="{980F20DF-8ADA-ACC5-B3AF-51A2049E5EA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096760" y="3933832"/>
            <a:ext cx="516155" cy="516155"/>
          </a:xfrm>
          <a:prstGeom prst="rect">
            <a:avLst/>
          </a:prstGeom>
        </p:spPr>
      </p:pic>
      <p:pic>
        <p:nvPicPr>
          <p:cNvPr id="21" name="Graphic 20" descr="Truck outline">
            <a:extLst>
              <a:ext uri="{FF2B5EF4-FFF2-40B4-BE49-F238E27FC236}">
                <a16:creationId xmlns:a16="http://schemas.microsoft.com/office/drawing/2014/main" id="{219B318C-6AD4-5BE8-5E7C-8843E7AE7F6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096761" y="4915220"/>
            <a:ext cx="516155" cy="516155"/>
          </a:xfrm>
          <a:prstGeom prst="rect">
            <a:avLst/>
          </a:prstGeom>
        </p:spPr>
      </p:pic>
      <p:grpSp>
        <p:nvGrpSpPr>
          <p:cNvPr id="2" name="Agrupar 20">
            <a:extLst>
              <a:ext uri="{FF2B5EF4-FFF2-40B4-BE49-F238E27FC236}">
                <a16:creationId xmlns:a16="http://schemas.microsoft.com/office/drawing/2014/main" id="{5442D9FE-6737-7DB8-1B1F-518900A2F8A2}"/>
              </a:ext>
            </a:extLst>
          </p:cNvPr>
          <p:cNvGrpSpPr/>
          <p:nvPr/>
        </p:nvGrpSpPr>
        <p:grpSpPr>
          <a:xfrm rot="5400000">
            <a:off x="1538085" y="6056143"/>
            <a:ext cx="200055" cy="1100408"/>
            <a:chOff x="11935695" y="2878796"/>
            <a:chExt cx="200055" cy="1100408"/>
          </a:xfrm>
        </p:grpSpPr>
        <p:sp>
          <p:nvSpPr>
            <p:cNvPr id="3" name="CaixaDeTexto 18">
              <a:extLst>
                <a:ext uri="{FF2B5EF4-FFF2-40B4-BE49-F238E27FC236}">
                  <a16:creationId xmlns:a16="http://schemas.microsoft.com/office/drawing/2014/main" id="{2FC53058-1AA4-81C3-645B-CB8FDEA7DD5E}"/>
                </a:ext>
              </a:extLst>
            </p:cNvPr>
            <p:cNvSpPr txBox="1"/>
            <p:nvPr userDrawn="1"/>
          </p:nvSpPr>
          <p:spPr>
            <a:xfrm rot="16200000">
              <a:off x="11659671" y="3328970"/>
              <a:ext cx="752104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algn="ctr" defTabSz="914400" rtl="0" eaLnBrk="1" latinLnBrk="0" hangingPunct="1"/>
              <a:r>
                <a:rPr lang="pt-BR" sz="700" kern="1200" dirty="0">
                  <a:solidFill>
                    <a:schemeClr val="accent6"/>
                  </a:solidFill>
                  <a:latin typeface="Montserrat" panose="00000500000000000000" pitchFamily="2" charset="0"/>
                  <a:ea typeface="Source Serif Pro" panose="02040603050405020204" pitchFamily="18" charset="0"/>
                  <a:cs typeface="Arial" panose="020B0604020202020204" pitchFamily="34" charset="0"/>
                </a:rPr>
                <a:t>Confidencial </a:t>
              </a:r>
            </a:p>
          </p:txBody>
        </p:sp>
        <p:sp>
          <p:nvSpPr>
            <p:cNvPr id="4" name="Retângulo: Cantos Arredondados 19">
              <a:extLst>
                <a:ext uri="{FF2B5EF4-FFF2-40B4-BE49-F238E27FC236}">
                  <a16:creationId xmlns:a16="http://schemas.microsoft.com/office/drawing/2014/main" id="{0DCBC664-8DDC-2918-B95B-E0B6AA9CC65E}"/>
                </a:ext>
              </a:extLst>
            </p:cNvPr>
            <p:cNvSpPr/>
            <p:nvPr userDrawn="1"/>
          </p:nvSpPr>
          <p:spPr>
            <a:xfrm>
              <a:off x="11935695" y="2878796"/>
              <a:ext cx="200055" cy="1100408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sp>
        <p:nvSpPr>
          <p:cNvPr id="16" name="Espaço Reservado para Número de Slide 3">
            <a:extLst>
              <a:ext uri="{FF2B5EF4-FFF2-40B4-BE49-F238E27FC236}">
                <a16:creationId xmlns:a16="http://schemas.microsoft.com/office/drawing/2014/main" id="{5B2741BB-AD7D-9094-4ECA-6133D292A159}"/>
              </a:ext>
            </a:extLst>
          </p:cNvPr>
          <p:cNvSpPr txBox="1">
            <a:spLocks/>
          </p:cNvSpPr>
          <p:nvPr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accent6"/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16</a:t>
            </a:fld>
            <a:endParaRPr lang="en-US" sz="700" b="0" kern="1200" dirty="0">
              <a:solidFill>
                <a:schemeClr val="accent6"/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  <p:pic>
        <p:nvPicPr>
          <p:cNvPr id="20" name="Picture 19" descr="A black and white logo&#10;&#10;Description automatically generated">
            <a:extLst>
              <a:ext uri="{FF2B5EF4-FFF2-40B4-BE49-F238E27FC236}">
                <a16:creationId xmlns:a16="http://schemas.microsoft.com/office/drawing/2014/main" id="{CE04F785-CD7E-4B59-37DA-6623122F5C5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0" y="6196678"/>
            <a:ext cx="784112" cy="26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679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885256E-41C4-7B83-2876-41A4259AE200}"/>
              </a:ext>
            </a:extLst>
          </p:cNvPr>
          <p:cNvSpPr/>
          <p:nvPr/>
        </p:nvSpPr>
        <p:spPr>
          <a:xfrm>
            <a:off x="0" y="1444142"/>
            <a:ext cx="12192001" cy="86778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197" name="Rectangle: Top Corners Rounded 196">
            <a:extLst>
              <a:ext uri="{FF2B5EF4-FFF2-40B4-BE49-F238E27FC236}">
                <a16:creationId xmlns:a16="http://schemas.microsoft.com/office/drawing/2014/main" id="{9F91469F-2F64-A4BA-2A32-B862CB1E9BEE}"/>
              </a:ext>
            </a:extLst>
          </p:cNvPr>
          <p:cNvSpPr/>
          <p:nvPr/>
        </p:nvSpPr>
        <p:spPr>
          <a:xfrm flipV="1">
            <a:off x="9583026" y="1444142"/>
            <a:ext cx="2264726" cy="2284913"/>
          </a:xfrm>
          <a:prstGeom prst="round2SameRect">
            <a:avLst>
              <a:gd name="adj1" fmla="val 11494"/>
              <a:gd name="adj2" fmla="val 0"/>
            </a:avLst>
          </a:prstGeom>
          <a:solidFill>
            <a:srgbClr val="F9EB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Source Serif Pro" panose="02040603050405020204" pitchFamily="18" charset="0"/>
              <a:ea typeface="Source Serif Pro" panose="02040603050405020204" pitchFamily="18" charset="0"/>
              <a:cs typeface="+mn-cs"/>
            </a:endParaRPr>
          </a:p>
        </p:txBody>
      </p:sp>
      <p:pic>
        <p:nvPicPr>
          <p:cNvPr id="11" name="Picture 10" descr="A pink container with a white label&#10;&#10;Description automatically generated">
            <a:extLst>
              <a:ext uri="{FF2B5EF4-FFF2-40B4-BE49-F238E27FC236}">
                <a16:creationId xmlns:a16="http://schemas.microsoft.com/office/drawing/2014/main" id="{0540C4D6-5BB8-0698-AB5F-3963868B6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1625" r="51461" b="10852"/>
          <a:stretch/>
        </p:blipFill>
        <p:spPr>
          <a:xfrm>
            <a:off x="9583027" y="1438520"/>
            <a:ext cx="2264725" cy="867600"/>
          </a:xfrm>
          <a:prstGeom prst="rect">
            <a:avLst/>
          </a:prstGeom>
        </p:spPr>
      </p:pic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46355962-CCB9-782B-316C-2C558C78B5B8}"/>
              </a:ext>
            </a:extLst>
          </p:cNvPr>
          <p:cNvCxnSpPr>
            <a:cxnSpLocks/>
          </p:cNvCxnSpPr>
          <p:nvPr/>
        </p:nvCxnSpPr>
        <p:spPr>
          <a:xfrm>
            <a:off x="5639550" y="2537786"/>
            <a:ext cx="0" cy="3215314"/>
          </a:xfrm>
          <a:prstGeom prst="line">
            <a:avLst/>
          </a:prstGeom>
          <a:ln>
            <a:solidFill>
              <a:srgbClr val="F5E7FD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B15BACB-7258-E1C9-7A0A-C9B8155DA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Sólida performance financeira sustenta o potencial de crescimento da </a:t>
            </a:r>
            <a:r>
              <a:rPr lang="pt-BR" dirty="0" err="1"/>
              <a:t>Biocap</a:t>
            </a:r>
            <a:r>
              <a:rPr lang="pt-BR" dirty="0"/>
              <a:t> </a:t>
            </a:r>
            <a:r>
              <a:rPr lang="pt-BR" sz="1000" b="0" dirty="0"/>
              <a:t>(1/3)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2BAEDE-F361-7CA7-519C-708B4C125E1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838" y="1052961"/>
            <a:ext cx="11102975" cy="210951"/>
          </a:xfrm>
        </p:spPr>
        <p:txBody>
          <a:bodyPr vert="horz" lIns="0" tIns="36000" rIns="0" bIns="0" rtlCol="0">
            <a:spAutoFit/>
          </a:bodyPr>
          <a:lstStyle/>
          <a:p>
            <a:r>
              <a:rPr lang="pt-BR" sz="1050" dirty="0" err="1">
                <a:latin typeface="Montserrat Light" pitchFamily="2" charset="0"/>
              </a:rPr>
              <a:t>Biocap</a:t>
            </a:r>
            <a:r>
              <a:rPr lang="pt-BR" sz="1050" dirty="0">
                <a:latin typeface="Montserrat Light" pitchFamily="2" charset="0"/>
              </a:rPr>
              <a:t> terá um crescimento de vendas ano após ano pautado na ampliação da base de clientes, projetando vendas de R$ 224M em 2029</a:t>
            </a:r>
          </a:p>
        </p:txBody>
      </p:sp>
      <p:sp>
        <p:nvSpPr>
          <p:cNvPr id="120" name="Text Placeholder 119">
            <a:extLst>
              <a:ext uri="{FF2B5EF4-FFF2-40B4-BE49-F238E27FC236}">
                <a16:creationId xmlns:a16="http://schemas.microsoft.com/office/drawing/2014/main" id="{5B066116-6C87-29AE-5542-EC4F3E77B71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US" dirty="0">
                <a:latin typeface="Montserrat" panose="00000500000000000000" pitchFamily="2" charset="0"/>
              </a:rPr>
              <a:t>Fonte: </a:t>
            </a:r>
            <a:r>
              <a:rPr lang="en-US" dirty="0" err="1">
                <a:latin typeface="Montserrat" panose="00000500000000000000" pitchFamily="2" charset="0"/>
              </a:rPr>
              <a:t>Companhia</a:t>
            </a:r>
            <a:endParaRPr lang="pt-BR" dirty="0">
              <a:latin typeface="Montserrat" panose="00000500000000000000" pitchFamily="2" charset="0"/>
            </a:endParaRPr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8D3DFC28-2354-F89B-E722-53EE86A386EF}"/>
              </a:ext>
            </a:extLst>
          </p:cNvPr>
          <p:cNvSpPr/>
          <p:nvPr/>
        </p:nvSpPr>
        <p:spPr>
          <a:xfrm>
            <a:off x="731837" y="1650790"/>
            <a:ext cx="461654" cy="454488"/>
          </a:xfrm>
          <a:prstGeom prst="ellipse">
            <a:avLst/>
          </a:prstGeom>
          <a:solidFill>
            <a:schemeClr val="accent2">
              <a:lumMod val="90000"/>
            </a:schemeClr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rPr>
              <a:t>1</a:t>
            </a: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B80E0B51-73F6-E344-4976-D463E3B4AB28}"/>
              </a:ext>
            </a:extLst>
          </p:cNvPr>
          <p:cNvSpPr/>
          <p:nvPr/>
        </p:nvSpPr>
        <p:spPr>
          <a:xfrm>
            <a:off x="6070772" y="1650790"/>
            <a:ext cx="461654" cy="454488"/>
          </a:xfrm>
          <a:prstGeom prst="ellipse">
            <a:avLst/>
          </a:prstGeom>
          <a:solidFill>
            <a:schemeClr val="accent2">
              <a:lumMod val="90000"/>
            </a:schemeClr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rPr>
              <a:t>2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2F5E0478-9AB9-B2CD-F173-F16BD6F64002}"/>
              </a:ext>
            </a:extLst>
          </p:cNvPr>
          <p:cNvSpPr txBox="1"/>
          <p:nvPr/>
        </p:nvSpPr>
        <p:spPr>
          <a:xfrm flipH="1">
            <a:off x="1239536" y="1662591"/>
            <a:ext cx="2873262" cy="430887"/>
          </a:xfrm>
          <a:prstGeom prst="rect">
            <a:avLst/>
          </a:prstGeom>
          <a:noFill/>
        </p:spPr>
        <p:txBody>
          <a:bodyPr wrap="square" lIns="18000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pt-BR" sz="1400" b="1" dirty="0">
                <a:solidFill>
                  <a:schemeClr val="bg1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Crescimento nos principais canais de venda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7B99532C-C558-E960-8AAC-1A342BA65EAB}"/>
              </a:ext>
            </a:extLst>
          </p:cNvPr>
          <p:cNvSpPr txBox="1"/>
          <p:nvPr/>
        </p:nvSpPr>
        <p:spPr>
          <a:xfrm flipH="1">
            <a:off x="6570219" y="1766978"/>
            <a:ext cx="2744404" cy="222112"/>
          </a:xfrm>
          <a:prstGeom prst="rect">
            <a:avLst/>
          </a:prstGeom>
          <a:noFill/>
        </p:spPr>
        <p:txBody>
          <a:bodyPr wrap="square" lIns="18000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pt-BR" sz="1400" b="1" dirty="0">
                <a:solidFill>
                  <a:schemeClr val="bg1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Ampliar base de clientes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C72731BB-FEB0-08C6-6447-92FF2C36E2A5}"/>
              </a:ext>
            </a:extLst>
          </p:cNvPr>
          <p:cNvSpPr txBox="1"/>
          <p:nvPr/>
        </p:nvSpPr>
        <p:spPr>
          <a:xfrm flipH="1">
            <a:off x="9800143" y="2869829"/>
            <a:ext cx="1830492" cy="5998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  <a:defRPr/>
            </a:pPr>
            <a:r>
              <a:rPr lang="pt-BR" sz="900" dirty="0">
                <a:solidFill>
                  <a:srgbClr val="111111"/>
                </a:solidFill>
                <a:latin typeface="Montserrat Medium" pitchFamily="2" charset="0"/>
                <a:ea typeface="Source Serif Pro Light" panose="02040303050405020204" pitchFamily="18" charset="0"/>
              </a:rPr>
              <a:t>Aumentar cobertura nacional com forte presença em </a:t>
            </a:r>
            <a:r>
              <a:rPr lang="pt-BR" sz="900" dirty="0" err="1">
                <a:solidFill>
                  <a:srgbClr val="111111"/>
                </a:solidFill>
                <a:latin typeface="Montserrat Medium" pitchFamily="2" charset="0"/>
                <a:ea typeface="Source Serif Pro Light" panose="02040303050405020204" pitchFamily="18" charset="0"/>
              </a:rPr>
              <a:t>PDVs</a:t>
            </a:r>
            <a:r>
              <a:rPr lang="pt-BR" sz="900" dirty="0">
                <a:solidFill>
                  <a:srgbClr val="111111"/>
                </a:solidFill>
                <a:latin typeface="Montserrat Medium" pitchFamily="2" charset="0"/>
                <a:ea typeface="Source Serif Pro Light" panose="02040303050405020204" pitchFamily="18" charset="0"/>
              </a:rPr>
              <a:t>                            e consequentemente o </a:t>
            </a:r>
            <a:r>
              <a:rPr lang="pt-BR" sz="900" dirty="0" err="1">
                <a:solidFill>
                  <a:srgbClr val="111111"/>
                </a:solidFill>
                <a:latin typeface="Montserrat Medium" pitchFamily="2" charset="0"/>
                <a:ea typeface="Source Serif Pro Light" panose="02040303050405020204" pitchFamily="18" charset="0"/>
              </a:rPr>
              <a:t>share</a:t>
            </a:r>
            <a:r>
              <a:rPr lang="pt-BR" sz="900" dirty="0">
                <a:solidFill>
                  <a:srgbClr val="111111"/>
                </a:solidFill>
                <a:latin typeface="Montserrat Medium" pitchFamily="2" charset="0"/>
                <a:ea typeface="Source Serif Pro Light" panose="02040303050405020204" pitchFamily="18" charset="0"/>
              </a:rPr>
              <a:t> </a:t>
            </a:r>
            <a:r>
              <a:rPr lang="pt-BR" sz="900" dirty="0" err="1">
                <a:solidFill>
                  <a:srgbClr val="111111"/>
                </a:solidFill>
                <a:latin typeface="Montserrat Medium" pitchFamily="2" charset="0"/>
                <a:ea typeface="Source Serif Pro Light" panose="02040303050405020204" pitchFamily="18" charset="0"/>
              </a:rPr>
              <a:t>of</a:t>
            </a:r>
            <a:r>
              <a:rPr lang="pt-BR" sz="900" dirty="0">
                <a:solidFill>
                  <a:srgbClr val="111111"/>
                </a:solidFill>
                <a:latin typeface="Montserrat Medium" pitchFamily="2" charset="0"/>
                <a:ea typeface="Source Serif Pro Light" panose="02040303050405020204" pitchFamily="18" charset="0"/>
              </a:rPr>
              <a:t> mind da </a:t>
            </a:r>
            <a:r>
              <a:rPr lang="pt-BR" sz="900" dirty="0" err="1">
                <a:solidFill>
                  <a:srgbClr val="111111"/>
                </a:solidFill>
                <a:latin typeface="Montserrat Medium" pitchFamily="2" charset="0"/>
                <a:ea typeface="Source Serif Pro Light" panose="02040303050405020204" pitchFamily="18" charset="0"/>
              </a:rPr>
              <a:t>Biocap</a:t>
            </a:r>
            <a:endParaRPr lang="pt-BR" sz="900" dirty="0">
              <a:solidFill>
                <a:srgbClr val="111111"/>
              </a:solidFill>
              <a:latin typeface="Montserrat Medium" pitchFamily="2" charset="0"/>
              <a:ea typeface="Source Serif Pro Light" panose="02040303050405020204" pitchFamily="18" charset="0"/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AC68AC5A-B4D1-6786-EC09-973CC5CB72CF}"/>
              </a:ext>
            </a:extLst>
          </p:cNvPr>
          <p:cNvSpPr txBox="1"/>
          <p:nvPr/>
        </p:nvSpPr>
        <p:spPr>
          <a:xfrm flipH="1">
            <a:off x="9672014" y="2537786"/>
            <a:ext cx="208675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Alavanca de Vendas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983818DB-E137-5707-D02C-D2B63DFE3DC3}"/>
              </a:ext>
            </a:extLst>
          </p:cNvPr>
          <p:cNvSpPr txBox="1"/>
          <p:nvPr/>
        </p:nvSpPr>
        <p:spPr>
          <a:xfrm flipH="1">
            <a:off x="6243445" y="2756685"/>
            <a:ext cx="1356222" cy="2951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ontserrat Medium" pitchFamily="2" charset="0"/>
                <a:ea typeface="Source Serif Pro Light" panose="02040303050405020204" pitchFamily="18" charset="0"/>
              </a:rPr>
              <a:t>Ampliar a base de pequenos vare</a:t>
            </a:r>
            <a:r>
              <a:rPr lang="pt-BR" sz="900" dirty="0" err="1">
                <a:solidFill>
                  <a:srgbClr val="111111"/>
                </a:solidFill>
                <a:latin typeface="Montserrat Medium" pitchFamily="2" charset="0"/>
                <a:ea typeface="Source Serif Pro Light" panose="02040303050405020204" pitchFamily="18" charset="0"/>
              </a:rPr>
              <a:t>jistas</a:t>
            </a:r>
            <a:r>
              <a:rPr lang="pt-BR" sz="900" dirty="0">
                <a:solidFill>
                  <a:srgbClr val="111111"/>
                </a:solidFill>
                <a:latin typeface="Montserrat Medium" pitchFamily="2" charset="0"/>
                <a:ea typeface="Source Serif Pro Light" panose="02040303050405020204" pitchFamily="18" charset="0"/>
              </a:rPr>
              <a:t> </a:t>
            </a:r>
            <a:endParaRPr kumimoji="0" lang="pt-BR" sz="900" b="0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Montserrat Medium" pitchFamily="2" charset="0"/>
              <a:ea typeface="Source Serif Pro Light" panose="02040303050405020204" pitchFamily="18" charset="0"/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DE32DE80-A42E-6B80-CB68-05BB26029A67}"/>
              </a:ext>
            </a:extLst>
          </p:cNvPr>
          <p:cNvSpPr txBox="1"/>
          <p:nvPr/>
        </p:nvSpPr>
        <p:spPr>
          <a:xfrm flipH="1">
            <a:off x="6243445" y="3200004"/>
            <a:ext cx="1964919" cy="3606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/>
            </a:pPr>
            <a:r>
              <a:rPr lang="pt-BR" sz="1100" b="1" dirty="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  <a:ea typeface="Source Serif Pro Light" panose="02040303050405020204" pitchFamily="18" charset="0"/>
              </a:rPr>
              <a:t>Perfumarias Especializadas e Alimentar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22EB778-5A8B-B8F2-B382-43306E5A9615}"/>
              </a:ext>
            </a:extLst>
          </p:cNvPr>
          <p:cNvSpPr txBox="1"/>
          <p:nvPr/>
        </p:nvSpPr>
        <p:spPr>
          <a:xfrm flipH="1">
            <a:off x="6243445" y="3644955"/>
            <a:ext cx="2016421" cy="1427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ontserrat Medium" pitchFamily="2" charset="0"/>
                <a:ea typeface="Source Serif Pro Light" panose="02040303050405020204" pitchFamily="18" charset="0"/>
              </a:rPr>
              <a:t>Expandir presença profissional</a:t>
            </a:r>
          </a:p>
        </p:txBody>
      </p:sp>
      <p:graphicFrame>
        <p:nvGraphicFramePr>
          <p:cNvPr id="180" name="Chart 179">
            <a:extLst>
              <a:ext uri="{FF2B5EF4-FFF2-40B4-BE49-F238E27FC236}">
                <a16:creationId xmlns:a16="http://schemas.microsoft.com/office/drawing/2014/main" id="{D29D5279-F001-ED58-6C53-D652DE57CA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0507039"/>
              </p:ext>
            </p:extLst>
          </p:nvPr>
        </p:nvGraphicFramePr>
        <p:xfrm>
          <a:off x="731838" y="4367062"/>
          <a:ext cx="11102973" cy="17546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5" name="TextBox 184">
            <a:extLst>
              <a:ext uri="{FF2B5EF4-FFF2-40B4-BE49-F238E27FC236}">
                <a16:creationId xmlns:a16="http://schemas.microsoft.com/office/drawing/2014/main" id="{7301E04D-479A-283A-9ADE-09E252741B58}"/>
              </a:ext>
            </a:extLst>
          </p:cNvPr>
          <p:cNvSpPr txBox="1"/>
          <p:nvPr/>
        </p:nvSpPr>
        <p:spPr>
          <a:xfrm>
            <a:off x="711860" y="4353681"/>
            <a:ext cx="1996231" cy="14279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pt-BR"/>
            </a:defPPr>
            <a:lvl1pPr marR="0" lvl="0" indent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800" b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ontserrat" panose="00000500000000000000" pitchFamily="2" charset="0"/>
                <a:ea typeface="Source Serif Pro" panose="02040603050405020204" pitchFamily="18" charset="0"/>
              </a:defRPr>
            </a:lvl1pPr>
            <a:lvl2pPr marL="108000" indent="-1080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latin typeface="Source Serif Pro" panose="02040603050405020204" pitchFamily="18" charset="0"/>
                <a:ea typeface="Source Serif Pro" panose="02040603050405020204" pitchFamily="18" charset="0"/>
              </a:defRPr>
            </a:lvl2pPr>
            <a:lvl3pPr marL="108000" indent="-1080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Source Sans Pro" panose="020B0503030403020204" pitchFamily="34" charset="0"/>
              <a:buChar char="−"/>
              <a:defRPr sz="1200">
                <a:latin typeface="Source Serif Pro Light" panose="02040303050405020204" pitchFamily="18" charset="0"/>
                <a:ea typeface="Source Serif Pro Light" panose="02040303050405020204" pitchFamily="18" charset="0"/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b="1">
                <a:solidFill>
                  <a:schemeClr val="accent2"/>
                </a:solidFill>
                <a:latin typeface="Source Serif Pro" panose="02040603050405020204" pitchFamily="18" charset="0"/>
                <a:ea typeface="Source Serif Pro" panose="02040603050405020204" pitchFamily="18" charset="0"/>
              </a:defRPr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Source Serif Pro Black" panose="02040903050405020204" pitchFamily="18" charset="0"/>
                <a:ea typeface="Source Serif Pro Black" panose="02040903050405020204" pitchFamily="18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pt-BR" sz="900" dirty="0"/>
              <a:t>Evolução da Receita Bruta (R$ M)</a:t>
            </a:r>
            <a:endParaRPr lang="en-US" sz="900" dirty="0" err="1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765D0DD-0DF0-E4B9-1CAE-BE01CE146473}"/>
              </a:ext>
            </a:extLst>
          </p:cNvPr>
          <p:cNvGrpSpPr/>
          <p:nvPr/>
        </p:nvGrpSpPr>
        <p:grpSpPr>
          <a:xfrm>
            <a:off x="556423" y="3172244"/>
            <a:ext cx="14373517" cy="1852070"/>
            <a:chOff x="556423" y="3105569"/>
            <a:chExt cx="14373517" cy="1852070"/>
          </a:xfrm>
        </p:grpSpPr>
        <p:sp>
          <p:nvSpPr>
            <p:cNvPr id="186" name="Arc 185">
              <a:extLst>
                <a:ext uri="{FF2B5EF4-FFF2-40B4-BE49-F238E27FC236}">
                  <a16:creationId xmlns:a16="http://schemas.microsoft.com/office/drawing/2014/main" id="{05D71152-EB96-BA8F-9E65-528BEFFC2830}"/>
                </a:ext>
              </a:extLst>
            </p:cNvPr>
            <p:cNvSpPr/>
            <p:nvPr/>
          </p:nvSpPr>
          <p:spPr>
            <a:xfrm rot="4831319" flipV="1">
              <a:off x="3809909" y="531876"/>
              <a:ext cx="1057649" cy="7564622"/>
            </a:xfrm>
            <a:prstGeom prst="arc">
              <a:avLst>
                <a:gd name="adj1" fmla="val 16546346"/>
                <a:gd name="adj2" fmla="val 2930731"/>
              </a:avLst>
            </a:prstGeom>
            <a:ln w="12700">
              <a:solidFill>
                <a:srgbClr val="AD6AC0"/>
              </a:solidFill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B7AB9720-1DF5-6A10-8011-E7CA055C286E}"/>
                </a:ext>
              </a:extLst>
            </p:cNvPr>
            <p:cNvSpPr/>
            <p:nvPr/>
          </p:nvSpPr>
          <p:spPr>
            <a:xfrm>
              <a:off x="5585550" y="4579910"/>
              <a:ext cx="108000" cy="108000"/>
            </a:xfrm>
            <a:prstGeom prst="ellipse">
              <a:avLst/>
            </a:prstGeom>
            <a:solidFill>
              <a:srgbClr val="AD6A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2000"/>
                </a:lnSpc>
                <a:spcAft>
                  <a:spcPts val="800"/>
                </a:spcAft>
              </a:pPr>
              <a:endParaRPr lang="pt-BR" sz="1200" dirty="0" err="1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</a:endParaRPr>
            </a:p>
          </p:txBody>
        </p:sp>
        <p:sp>
          <p:nvSpPr>
            <p:cNvPr id="191" name="Arc 190">
              <a:extLst>
                <a:ext uri="{FF2B5EF4-FFF2-40B4-BE49-F238E27FC236}">
                  <a16:creationId xmlns:a16="http://schemas.microsoft.com/office/drawing/2014/main" id="{CF829A4B-2D13-0A9E-5247-5CAACD8FB867}"/>
                </a:ext>
              </a:extLst>
            </p:cNvPr>
            <p:cNvSpPr/>
            <p:nvPr/>
          </p:nvSpPr>
          <p:spPr>
            <a:xfrm rot="4831319" flipV="1">
              <a:off x="9370308" y="-1396413"/>
              <a:ext cx="1057649" cy="10061614"/>
            </a:xfrm>
            <a:prstGeom prst="arc">
              <a:avLst>
                <a:gd name="adj1" fmla="val 16546516"/>
                <a:gd name="adj2" fmla="val 3294670"/>
              </a:avLst>
            </a:prstGeom>
            <a:ln w="12700">
              <a:solidFill>
                <a:srgbClr val="AD6AC0"/>
              </a:solidFill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E07C51AF-32E6-8BCC-766E-AA7312B1F6BA}"/>
                </a:ext>
              </a:extLst>
            </p:cNvPr>
            <p:cNvSpPr/>
            <p:nvPr/>
          </p:nvSpPr>
          <p:spPr>
            <a:xfrm>
              <a:off x="11040486" y="3960721"/>
              <a:ext cx="108000" cy="108000"/>
            </a:xfrm>
            <a:prstGeom prst="ellipse">
              <a:avLst/>
            </a:prstGeom>
            <a:solidFill>
              <a:srgbClr val="AD6A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2000"/>
                </a:lnSpc>
                <a:spcAft>
                  <a:spcPts val="800"/>
                </a:spcAft>
              </a:pPr>
              <a:endParaRPr lang="pt-BR" sz="1200" dirty="0" err="1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</a:endParaRP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BDBF698C-6E35-416C-4891-0C7646E46B0E}"/>
                </a:ext>
              </a:extLst>
            </p:cNvPr>
            <p:cNvSpPr txBox="1"/>
            <p:nvPr/>
          </p:nvSpPr>
          <p:spPr>
            <a:xfrm flipH="1">
              <a:off x="2831248" y="4783168"/>
              <a:ext cx="386893" cy="17447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D6AC0"/>
                  </a:solidFill>
                  <a:effectLst/>
                  <a:uLnTx/>
                  <a:uFillTx/>
                  <a:latin typeface="Montserrat "/>
                  <a:ea typeface="Source Serif Pro" panose="02040603050405020204" pitchFamily="18" charset="0"/>
                </a:rPr>
                <a:t>52%</a:t>
              </a: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6B78DA64-09A2-9B16-17C5-941EB7E256B2}"/>
                </a:ext>
              </a:extLst>
            </p:cNvPr>
            <p:cNvSpPr txBox="1"/>
            <p:nvPr/>
          </p:nvSpPr>
          <p:spPr>
            <a:xfrm flipH="1">
              <a:off x="8356257" y="4138507"/>
              <a:ext cx="386893" cy="17447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1100" b="1" dirty="0">
                  <a:solidFill>
                    <a:srgbClr val="AD6AC0"/>
                  </a:solidFill>
                  <a:latin typeface="Montserrat "/>
                  <a:ea typeface="Source Serif Pro" panose="02040603050405020204" pitchFamily="18" charset="0"/>
                </a:rPr>
                <a:t>81</a:t>
              </a:r>
              <a:r>
                <a:rPr kumimoji="0" lang="pt-BR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D6AC0"/>
                  </a:solidFill>
                  <a:effectLst/>
                  <a:uLnTx/>
                  <a:uFillTx/>
                  <a:latin typeface="Montserrat "/>
                  <a:ea typeface="Source Serif Pro" panose="02040603050405020204" pitchFamily="18" charset="0"/>
                </a:rPr>
                <a:t>%</a:t>
              </a:r>
            </a:p>
          </p:txBody>
        </p:sp>
      </p:grpSp>
      <p:sp>
        <p:nvSpPr>
          <p:cNvPr id="206" name="TextBox 205">
            <a:extLst>
              <a:ext uri="{FF2B5EF4-FFF2-40B4-BE49-F238E27FC236}">
                <a16:creationId xmlns:a16="http://schemas.microsoft.com/office/drawing/2014/main" id="{F4E4094D-7CF3-09A3-2386-E097A110D074}"/>
              </a:ext>
            </a:extLst>
          </p:cNvPr>
          <p:cNvSpPr txBox="1"/>
          <p:nvPr/>
        </p:nvSpPr>
        <p:spPr>
          <a:xfrm flipH="1">
            <a:off x="7494542" y="2521784"/>
            <a:ext cx="648000" cy="252000"/>
          </a:xfrm>
          <a:prstGeom prst="roundRect">
            <a:avLst/>
          </a:prstGeom>
          <a:solidFill>
            <a:schemeClr val="bg2">
              <a:lumMod val="20000"/>
              <a:lumOff val="80000"/>
              <a:alpha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pt-BR" sz="1100" b="1" dirty="0">
                <a:solidFill>
                  <a:srgbClr val="00B050"/>
                </a:solidFill>
                <a:latin typeface="Montserrat "/>
                <a:ea typeface="Source Serif Pro" panose="02040603050405020204" pitchFamily="18" charset="0"/>
              </a:rPr>
              <a:t>+83</a:t>
            </a:r>
            <a:r>
              <a:rPr kumimoji="0" lang="pt-BR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"/>
                <a:ea typeface="Source Serif Pro" panose="02040603050405020204" pitchFamily="18" charset="0"/>
              </a:rPr>
              <a:t>%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9578F445-2150-0B42-9116-EBF99E29DAC1}"/>
              </a:ext>
            </a:extLst>
          </p:cNvPr>
          <p:cNvSpPr txBox="1"/>
          <p:nvPr/>
        </p:nvSpPr>
        <p:spPr>
          <a:xfrm flipH="1">
            <a:off x="8347682" y="3254342"/>
            <a:ext cx="648000" cy="252000"/>
          </a:xfrm>
          <a:prstGeom prst="roundRect">
            <a:avLst/>
          </a:prstGeom>
          <a:solidFill>
            <a:schemeClr val="bg2">
              <a:lumMod val="20000"/>
              <a:lumOff val="80000"/>
              <a:alpha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"/>
                <a:ea typeface="Source Serif Pro" panose="02040603050405020204" pitchFamily="18" charset="0"/>
              </a:rPr>
              <a:t>+92%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82CF1694-94D8-CC26-9EC3-7A31783E41F0}"/>
              </a:ext>
            </a:extLst>
          </p:cNvPr>
          <p:cNvSpPr txBox="1"/>
          <p:nvPr/>
        </p:nvSpPr>
        <p:spPr>
          <a:xfrm flipH="1">
            <a:off x="731837" y="3062589"/>
            <a:ext cx="2106882" cy="1744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/>
            </a:pPr>
            <a:r>
              <a:rPr lang="pt-BR" sz="1100" b="1" dirty="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  <a:ea typeface="Source Serif Pro Light" panose="02040303050405020204" pitchFamily="18" charset="0"/>
              </a:rPr>
              <a:t>Perfumarias Especializadas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CD7FE4BC-3D07-568A-6E1E-41B3EF4728DF}"/>
              </a:ext>
            </a:extLst>
          </p:cNvPr>
          <p:cNvSpPr txBox="1"/>
          <p:nvPr/>
        </p:nvSpPr>
        <p:spPr>
          <a:xfrm flipH="1">
            <a:off x="731837" y="2534374"/>
            <a:ext cx="2106882" cy="1744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Montserrat" panose="00000500000000000000" pitchFamily="2" charset="0"/>
                <a:ea typeface="Source Serif Pro Light" panose="02040303050405020204" pitchFamily="18" charset="0"/>
              </a:rPr>
              <a:t>Distribuidores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274EB0F2-62A6-970E-792A-57021B6BCEFA}"/>
              </a:ext>
            </a:extLst>
          </p:cNvPr>
          <p:cNvSpPr txBox="1"/>
          <p:nvPr/>
        </p:nvSpPr>
        <p:spPr>
          <a:xfrm flipH="1">
            <a:off x="731837" y="2756685"/>
            <a:ext cx="2156381" cy="1427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pt-BR" sz="900" dirty="0">
                <a:solidFill>
                  <a:srgbClr val="111111"/>
                </a:solidFill>
                <a:latin typeface="Montserrat Medium" pitchFamily="2" charset="0"/>
                <a:ea typeface="Source Serif Pro Light" panose="02040303050405020204" pitchFamily="18" charset="0"/>
              </a:rPr>
              <a:t>Aumento de #XXX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A5512126-3500-00A1-AEB9-38490D0C7A13}"/>
              </a:ext>
            </a:extLst>
          </p:cNvPr>
          <p:cNvSpPr txBox="1"/>
          <p:nvPr/>
        </p:nvSpPr>
        <p:spPr>
          <a:xfrm flipH="1">
            <a:off x="731837" y="3280104"/>
            <a:ext cx="2156381" cy="1427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pt-BR" sz="900" dirty="0">
                <a:solidFill>
                  <a:srgbClr val="111111"/>
                </a:solidFill>
                <a:latin typeface="Montserrat Medium" pitchFamily="2" charset="0"/>
                <a:ea typeface="Source Serif Pro Light" panose="02040303050405020204" pitchFamily="18" charset="0"/>
              </a:rPr>
              <a:t>Aumento de #XXX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9AE5ED42-83CB-EE49-67CA-0357D7A8DDFE}"/>
              </a:ext>
            </a:extLst>
          </p:cNvPr>
          <p:cNvSpPr txBox="1"/>
          <p:nvPr/>
        </p:nvSpPr>
        <p:spPr>
          <a:xfrm flipH="1">
            <a:off x="731837" y="3593235"/>
            <a:ext cx="2106882" cy="1744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/>
            </a:pPr>
            <a:r>
              <a:rPr lang="pt-BR" sz="1100" b="1" dirty="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  <a:ea typeface="Source Serif Pro Light" panose="02040303050405020204" pitchFamily="18" charset="0"/>
              </a:rPr>
              <a:t>Atacado e Super (Alimentar)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799BE464-7794-CC64-A313-3C3AE2E4FE8F}"/>
              </a:ext>
            </a:extLst>
          </p:cNvPr>
          <p:cNvSpPr txBox="1"/>
          <p:nvPr/>
        </p:nvSpPr>
        <p:spPr>
          <a:xfrm flipH="1">
            <a:off x="731837" y="3810750"/>
            <a:ext cx="2156381" cy="1427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pt-BR" sz="900" dirty="0">
                <a:solidFill>
                  <a:srgbClr val="111111"/>
                </a:solidFill>
                <a:latin typeface="Montserrat Medium" pitchFamily="2" charset="0"/>
                <a:ea typeface="Source Serif Pro Light" panose="02040303050405020204" pitchFamily="18" charset="0"/>
              </a:rPr>
              <a:t>Aumento de #XXX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1C3FDE-F5F5-F06B-4A48-1E3D6EFC8FD8}"/>
              </a:ext>
            </a:extLst>
          </p:cNvPr>
          <p:cNvSpPr txBox="1"/>
          <p:nvPr/>
        </p:nvSpPr>
        <p:spPr>
          <a:xfrm flipH="1">
            <a:off x="6243445" y="2534374"/>
            <a:ext cx="1267234" cy="1744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/>
            </a:pPr>
            <a:r>
              <a:rPr lang="pt-BR" sz="1100" b="1" dirty="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  <a:ea typeface="Source Serif Pro Light" panose="02040303050405020204" pitchFamily="18" charset="0"/>
              </a:rPr>
              <a:t>Distribuidores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CEAD2C82-643B-983F-A161-BF203776AB0B}"/>
              </a:ext>
            </a:extLst>
          </p:cNvPr>
          <p:cNvSpPr txBox="1"/>
          <p:nvPr/>
        </p:nvSpPr>
        <p:spPr>
          <a:xfrm flipH="1">
            <a:off x="1918801" y="2521784"/>
            <a:ext cx="648000" cy="252000"/>
          </a:xfrm>
          <a:prstGeom prst="roundRect">
            <a:avLst/>
          </a:prstGeom>
          <a:solidFill>
            <a:schemeClr val="bg2">
              <a:lumMod val="20000"/>
              <a:lumOff val="80000"/>
              <a:alpha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pt-BR" sz="1100" b="1" dirty="0">
                <a:solidFill>
                  <a:srgbClr val="00B050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+118%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5B4184D3-0708-1F67-D406-F7B0AA793D6A}"/>
              </a:ext>
            </a:extLst>
          </p:cNvPr>
          <p:cNvSpPr txBox="1"/>
          <p:nvPr/>
        </p:nvSpPr>
        <p:spPr>
          <a:xfrm flipH="1">
            <a:off x="2974994" y="3569229"/>
            <a:ext cx="648000" cy="252000"/>
          </a:xfrm>
          <a:prstGeom prst="roundRect">
            <a:avLst/>
          </a:prstGeom>
          <a:solidFill>
            <a:schemeClr val="bg2">
              <a:lumMod val="20000"/>
              <a:lumOff val="80000"/>
              <a:alpha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"/>
                <a:ea typeface="Source Serif Pro" panose="02040603050405020204" pitchFamily="18" charset="0"/>
              </a:rPr>
              <a:t>+45%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F46D610-CCBE-D827-CE72-26D68A6CEB9F}"/>
              </a:ext>
            </a:extLst>
          </p:cNvPr>
          <p:cNvSpPr txBox="1"/>
          <p:nvPr/>
        </p:nvSpPr>
        <p:spPr>
          <a:xfrm flipH="1">
            <a:off x="2983600" y="3008882"/>
            <a:ext cx="648000" cy="252000"/>
          </a:xfrm>
          <a:prstGeom prst="roundRect">
            <a:avLst/>
          </a:prstGeom>
          <a:solidFill>
            <a:schemeClr val="bg2">
              <a:lumMod val="20000"/>
              <a:lumOff val="80000"/>
              <a:alpha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pt-BR" sz="1100" b="1" dirty="0">
                <a:solidFill>
                  <a:srgbClr val="00B050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+24%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9571D2D-C197-A2AE-4606-0551DA7CB2CA}"/>
              </a:ext>
            </a:extLst>
          </p:cNvPr>
          <p:cNvCxnSpPr>
            <a:cxnSpLocks/>
          </p:cNvCxnSpPr>
          <p:nvPr/>
        </p:nvCxnSpPr>
        <p:spPr>
          <a:xfrm>
            <a:off x="5639550" y="1444142"/>
            <a:ext cx="0" cy="840227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58901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8572C60C-1331-DC77-326F-4F7D831F3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000" dirty="0"/>
              <a:t>Sólida performance financeira sustenta o potencial de crescimento da </a:t>
            </a:r>
            <a:r>
              <a:rPr lang="pt-BR" sz="2000" dirty="0" err="1"/>
              <a:t>Biocap</a:t>
            </a:r>
            <a:r>
              <a:rPr lang="pt-BR" sz="2000" dirty="0"/>
              <a:t> </a:t>
            </a:r>
            <a:r>
              <a:rPr lang="pt-BR" sz="1000" b="0" dirty="0"/>
              <a:t>(2/3)</a:t>
            </a:r>
            <a:endParaRPr lang="pt-BR" sz="1100" b="0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03D4CBD9-164E-167E-6B04-D5B2431F81D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0" tIns="36000" rIns="0" bIns="0" rtlCol="0">
            <a:spAutoFit/>
          </a:bodyPr>
          <a:lstStyle/>
          <a:p>
            <a:r>
              <a:rPr lang="pt-BR" sz="1050" dirty="0">
                <a:latin typeface="Montserrat Light" pitchFamily="2" charset="0"/>
              </a:rPr>
              <a:t>A expansão da base de clientes permite diluição de despesas e consequentemente um crescimento em ritmo acelerado</a:t>
            </a:r>
          </a:p>
        </p:txBody>
      </p:sp>
      <p:sp>
        <p:nvSpPr>
          <p:cNvPr id="120" name="Text Placeholder 119">
            <a:extLst>
              <a:ext uri="{FF2B5EF4-FFF2-40B4-BE49-F238E27FC236}">
                <a16:creationId xmlns:a16="http://schemas.microsoft.com/office/drawing/2014/main" id="{5B066116-6C87-29AE-5542-EC4F3E77B71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US" dirty="0">
                <a:latin typeface="Montserrat" panose="00000500000000000000" pitchFamily="2" charset="0"/>
              </a:rPr>
              <a:t>Fonte: </a:t>
            </a:r>
            <a:r>
              <a:rPr lang="en-US" dirty="0" err="1">
                <a:latin typeface="Montserrat" panose="00000500000000000000" pitchFamily="2" charset="0"/>
              </a:rPr>
              <a:t>Companhia</a:t>
            </a:r>
            <a:br>
              <a:rPr lang="pt-BR" dirty="0">
                <a:latin typeface="Montserrat" panose="00000500000000000000" pitchFamily="2" charset="0"/>
              </a:rPr>
            </a:br>
            <a:r>
              <a:rPr lang="pt-BR" dirty="0">
                <a:latin typeface="Montserrat" panose="00000500000000000000" pitchFamily="2" charset="0"/>
              </a:rPr>
              <a:t>1) EBITDA contábil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7301E04D-479A-283A-9ADE-09E252741B58}"/>
              </a:ext>
            </a:extLst>
          </p:cNvPr>
          <p:cNvSpPr txBox="1"/>
          <p:nvPr/>
        </p:nvSpPr>
        <p:spPr>
          <a:xfrm>
            <a:off x="731837" y="1609725"/>
            <a:ext cx="3175549" cy="1586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lang="pt-BR" sz="1000" b="1" dirty="0">
                <a:latin typeface="Montserrat" panose="00000500000000000000" pitchFamily="2" charset="0"/>
                <a:ea typeface="Source Serif Pro" panose="02040603050405020204" pitchFamily="18" charset="0"/>
              </a:rPr>
              <a:t>Evolução EBITDA¹ (R$ M) e Margem EBITDA (%)</a:t>
            </a:r>
            <a:endParaRPr lang="en-US" sz="1000" b="1" dirty="0" err="1">
              <a:latin typeface="Montserrat" panose="00000500000000000000" pitchFamily="2" charset="0"/>
              <a:ea typeface="Source Serif Pro" panose="02040603050405020204" pitchFamily="18" charset="0"/>
            </a:endParaRPr>
          </a:p>
        </p:txBody>
      </p:sp>
      <p:sp>
        <p:nvSpPr>
          <p:cNvPr id="197" name="Rectangle: Single Corner Rounded 196">
            <a:extLst>
              <a:ext uri="{FF2B5EF4-FFF2-40B4-BE49-F238E27FC236}">
                <a16:creationId xmlns:a16="http://schemas.microsoft.com/office/drawing/2014/main" id="{9F91469F-2F64-A4BA-2A32-B862CB1E9BEE}"/>
              </a:ext>
            </a:extLst>
          </p:cNvPr>
          <p:cNvSpPr/>
          <p:nvPr/>
        </p:nvSpPr>
        <p:spPr>
          <a:xfrm flipH="1">
            <a:off x="6177694" y="1609725"/>
            <a:ext cx="5564953" cy="2057879"/>
          </a:xfrm>
          <a:prstGeom prst="round1Rect">
            <a:avLst>
              <a:gd name="adj" fmla="val 12886"/>
            </a:avLst>
          </a:prstGeom>
          <a:solidFill>
            <a:srgbClr val="F3D7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Source Serif Pro" panose="02040603050405020204" pitchFamily="18" charset="0"/>
              <a:ea typeface="Source Serif Pro" panose="02040603050405020204" pitchFamily="18" charset="0"/>
              <a:cs typeface="+mn-cs"/>
            </a:endParaRPr>
          </a:p>
        </p:txBody>
      </p:sp>
      <p:sp>
        <p:nvSpPr>
          <p:cNvPr id="4" name="Rectangle: Single Corner Rounded 3">
            <a:extLst>
              <a:ext uri="{FF2B5EF4-FFF2-40B4-BE49-F238E27FC236}">
                <a16:creationId xmlns:a16="http://schemas.microsoft.com/office/drawing/2014/main" id="{435AFF9B-C219-B0A3-CAEA-D13DEBFD6690}"/>
              </a:ext>
            </a:extLst>
          </p:cNvPr>
          <p:cNvSpPr/>
          <p:nvPr/>
        </p:nvSpPr>
        <p:spPr>
          <a:xfrm flipH="1" flipV="1">
            <a:off x="6177695" y="3667604"/>
            <a:ext cx="5564953" cy="2057879"/>
          </a:xfrm>
          <a:prstGeom prst="round1Rect">
            <a:avLst>
              <a:gd name="adj" fmla="val 13358"/>
            </a:avLst>
          </a:prstGeom>
          <a:solidFill>
            <a:srgbClr val="FDBB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Source Serif Pro" panose="02040603050405020204" pitchFamily="18" charset="0"/>
              <a:ea typeface="Source Serif Pro" panose="02040603050405020204" pitchFamily="18" charset="0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B5CD835-B94D-E7ED-AE83-63C0F3101D35}"/>
              </a:ext>
            </a:extLst>
          </p:cNvPr>
          <p:cNvGrpSpPr/>
          <p:nvPr/>
        </p:nvGrpSpPr>
        <p:grpSpPr>
          <a:xfrm>
            <a:off x="6569568" y="1805466"/>
            <a:ext cx="2712871" cy="1666397"/>
            <a:chOff x="6908593" y="1855456"/>
            <a:chExt cx="2712871" cy="166639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DCE1794-A787-7144-4398-928E19D8F060}"/>
                </a:ext>
              </a:extLst>
            </p:cNvPr>
            <p:cNvSpPr txBox="1"/>
            <p:nvPr/>
          </p:nvSpPr>
          <p:spPr>
            <a:xfrm>
              <a:off x="6908593" y="1855456"/>
              <a:ext cx="2285787" cy="64120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1200" b="1" dirty="0">
                  <a:solidFill>
                    <a:srgbClr val="C18F83"/>
                  </a:solidFill>
                  <a:latin typeface="Montserrat" panose="00000500000000000000" pitchFamily="2" charset="0"/>
                  <a:ea typeface="Source Serif Pro Black" panose="02040903050405020204" pitchFamily="18" charset="0"/>
                </a:rPr>
                <a:t>1ª fase: </a:t>
              </a:r>
            </a:p>
            <a:p>
              <a:pPr marL="0" marR="0" lvl="0" indent="0" algn="l" defTabSz="914400" rtl="0" eaLnBrk="1" fontAlgn="auto" latinLnBrk="0" hangingPunct="1"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1400" b="1" dirty="0">
                  <a:solidFill>
                    <a:schemeClr val="tx2"/>
                  </a:solidFill>
                  <a:latin typeface="Montserrat" panose="00000500000000000000" pitchFamily="2" charset="0"/>
                  <a:ea typeface="Source Serif Pro Black" panose="02040903050405020204" pitchFamily="18" charset="0"/>
                </a:rPr>
                <a:t>Investimentos em força comercial e marketing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D9839FB-5AF7-2A4B-986B-F5C7B79CA7E2}"/>
                </a:ext>
              </a:extLst>
            </p:cNvPr>
            <p:cNvSpPr txBox="1"/>
            <p:nvPr/>
          </p:nvSpPr>
          <p:spPr>
            <a:xfrm>
              <a:off x="6908593" y="2617310"/>
              <a:ext cx="2712871" cy="9045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900" dirty="0">
                  <a:solidFill>
                    <a:srgbClr val="111111"/>
                  </a:solidFill>
                  <a:latin typeface="Montserrat Medium" pitchFamily="2" charset="0"/>
                  <a:ea typeface="Source Serif Pro Light" panose="02040303050405020204" pitchFamily="18" charset="0"/>
                </a:rPr>
                <a:t>A </a:t>
              </a:r>
              <a:r>
                <a:rPr lang="pt-BR" sz="900" dirty="0" err="1">
                  <a:solidFill>
                    <a:srgbClr val="111111"/>
                  </a:solidFill>
                  <a:latin typeface="Montserrat Medium" pitchFamily="2" charset="0"/>
                  <a:ea typeface="Source Serif Pro Light" panose="02040303050405020204" pitchFamily="18" charset="0"/>
                </a:rPr>
                <a:t>Biocap</a:t>
              </a:r>
              <a:r>
                <a:rPr lang="pt-BR" sz="900" dirty="0">
                  <a:solidFill>
                    <a:srgbClr val="111111"/>
                  </a:solidFill>
                  <a:latin typeface="Montserrat Medium" pitchFamily="2" charset="0"/>
                  <a:ea typeface="Source Serif Pro Light" panose="02040303050405020204" pitchFamily="18" charset="0"/>
                </a:rPr>
                <a:t> planeja investir em força comercial    e marketing para expandir sua base de clientes e aumentar sua presença em </a:t>
              </a:r>
              <a:r>
                <a:rPr lang="pt-BR" sz="900" dirty="0" err="1">
                  <a:solidFill>
                    <a:srgbClr val="111111"/>
                  </a:solidFill>
                  <a:latin typeface="Montserrat Medium" pitchFamily="2" charset="0"/>
                  <a:ea typeface="Source Serif Pro Light" panose="02040303050405020204" pitchFamily="18" charset="0"/>
                </a:rPr>
                <a:t>PDVs</a:t>
              </a:r>
              <a:r>
                <a:rPr lang="pt-BR" sz="900" dirty="0">
                  <a:solidFill>
                    <a:srgbClr val="111111"/>
                  </a:solidFill>
                  <a:latin typeface="Montserrat Medium" pitchFamily="2" charset="0"/>
                  <a:ea typeface="Source Serif Pro Light" panose="02040303050405020204" pitchFamily="18" charset="0"/>
                </a:rPr>
                <a:t> em todo o Brasil. Com isso, buscam fortalecer sua capilaridade nacional e alcançar uma maior cobertura em todo o território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B5D36C2-1F00-44E3-94FB-409FFD22D345}"/>
              </a:ext>
            </a:extLst>
          </p:cNvPr>
          <p:cNvGrpSpPr/>
          <p:nvPr/>
        </p:nvGrpSpPr>
        <p:grpSpPr>
          <a:xfrm>
            <a:off x="6569568" y="3936744"/>
            <a:ext cx="2465986" cy="1519598"/>
            <a:chOff x="6908593" y="3943921"/>
            <a:chExt cx="2465986" cy="151959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7213C8A-4D16-AC1E-116E-026D0E637E9F}"/>
                </a:ext>
              </a:extLst>
            </p:cNvPr>
            <p:cNvSpPr txBox="1"/>
            <p:nvPr/>
          </p:nvSpPr>
          <p:spPr>
            <a:xfrm flipH="1">
              <a:off x="6908593" y="3943921"/>
              <a:ext cx="2027153" cy="64120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1200" b="1" dirty="0">
                  <a:solidFill>
                    <a:schemeClr val="bg1"/>
                  </a:solidFill>
                  <a:latin typeface="Montserrat" panose="00000500000000000000" pitchFamily="2" charset="0"/>
                  <a:ea typeface="Source Serif Pro Black" panose="02040903050405020204" pitchFamily="18" charset="0"/>
                </a:rPr>
                <a:t>2ª fase: </a:t>
              </a:r>
            </a:p>
            <a:p>
              <a:pPr marL="0" marR="0" lvl="0" indent="0" algn="l" defTabSz="914400" rtl="0" eaLnBrk="1" fontAlgn="auto" latinLnBrk="0" hangingPunct="1"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1400" b="1" dirty="0">
                  <a:solidFill>
                    <a:schemeClr val="tx2"/>
                  </a:solidFill>
                  <a:latin typeface="Montserrat" panose="00000500000000000000" pitchFamily="2" charset="0"/>
                  <a:ea typeface="Source Serif Pro Black" panose="02040903050405020204" pitchFamily="18" charset="0"/>
                </a:rPr>
                <a:t>Diluição de despesas e </a:t>
              </a:r>
              <a:r>
                <a:rPr lang="pt-BR" sz="1400" b="1" dirty="0" err="1">
                  <a:solidFill>
                    <a:schemeClr val="tx2"/>
                  </a:solidFill>
                  <a:latin typeface="Montserrat" panose="00000500000000000000" pitchFamily="2" charset="0"/>
                  <a:ea typeface="Source Serif Pro Black" panose="02040903050405020204" pitchFamily="18" charset="0"/>
                </a:rPr>
                <a:t>rampagem</a:t>
              </a:r>
              <a:r>
                <a:rPr lang="pt-BR" sz="1400" b="1" dirty="0">
                  <a:solidFill>
                    <a:schemeClr val="tx2"/>
                  </a:solidFill>
                  <a:latin typeface="Montserrat" panose="00000500000000000000" pitchFamily="2" charset="0"/>
                  <a:ea typeface="Source Serif Pro Black" panose="02040903050405020204" pitchFamily="18" charset="0"/>
                </a:rPr>
                <a:t> EBITDA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9BD960D-E960-9EB4-38A8-FFDDF178CF9A}"/>
                </a:ext>
              </a:extLst>
            </p:cNvPr>
            <p:cNvSpPr txBox="1"/>
            <p:nvPr/>
          </p:nvSpPr>
          <p:spPr>
            <a:xfrm flipH="1">
              <a:off x="6908593" y="4711325"/>
              <a:ext cx="2465986" cy="75219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900" dirty="0">
                  <a:solidFill>
                    <a:srgbClr val="111111"/>
                  </a:solidFill>
                  <a:latin typeface="Montserrat Medium" pitchFamily="2" charset="0"/>
                  <a:ea typeface="Source Serif Pro Light" panose="02040303050405020204" pitchFamily="18" charset="0"/>
                </a:rPr>
                <a:t>Em um segundo estágio, a expansão comercial permitirá que a </a:t>
              </a:r>
              <a:r>
                <a:rPr lang="pt-BR" sz="900" dirty="0" err="1">
                  <a:solidFill>
                    <a:srgbClr val="111111"/>
                  </a:solidFill>
                  <a:latin typeface="Montserrat Medium" pitchFamily="2" charset="0"/>
                  <a:ea typeface="Source Serif Pro Light" panose="02040303050405020204" pitchFamily="18" charset="0"/>
                </a:rPr>
                <a:t>Biocap</a:t>
              </a:r>
              <a:r>
                <a:rPr lang="pt-BR" sz="900" dirty="0">
                  <a:solidFill>
                    <a:srgbClr val="111111"/>
                  </a:solidFill>
                  <a:latin typeface="Montserrat Medium" pitchFamily="2" charset="0"/>
                  <a:ea typeface="Source Serif Pro Light" panose="02040303050405020204" pitchFamily="18" charset="0"/>
                </a:rPr>
                <a:t> se            torne mais presente em pequenos varejos  e no canal alimentar, diluindo despesas              e gerando margens mais elevadas</a:t>
              </a:r>
            </a:p>
          </p:txBody>
        </p:sp>
      </p:grpSp>
      <p:graphicFrame>
        <p:nvGraphicFramePr>
          <p:cNvPr id="3" name="Content Placeholder 20">
            <a:extLst>
              <a:ext uri="{FF2B5EF4-FFF2-40B4-BE49-F238E27FC236}">
                <a16:creationId xmlns:a16="http://schemas.microsoft.com/office/drawing/2014/main" id="{1805C3C3-37B2-9268-0F08-7BE70267E7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6403383"/>
              </p:ext>
            </p:extLst>
          </p:nvPr>
        </p:nvGraphicFramePr>
        <p:xfrm>
          <a:off x="704071" y="2328725"/>
          <a:ext cx="4963304" cy="30561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FCF0F3A-D7E7-2871-FE74-486A2F295E88}"/>
              </a:ext>
            </a:extLst>
          </p:cNvPr>
          <p:cNvSpPr/>
          <p:nvPr/>
        </p:nvSpPr>
        <p:spPr>
          <a:xfrm>
            <a:off x="3939942" y="2689581"/>
            <a:ext cx="1271714" cy="370720"/>
          </a:xfrm>
          <a:custGeom>
            <a:avLst/>
            <a:gdLst>
              <a:gd name="connsiteX0" fmla="*/ 0 w 561315"/>
              <a:gd name="connsiteY0" fmla="*/ 561314 h 561314"/>
              <a:gd name="connsiteX1" fmla="*/ 217283 w 561315"/>
              <a:gd name="connsiteY1" fmla="*/ 144855 h 561314"/>
              <a:gd name="connsiteX2" fmla="*/ 561315 w 561315"/>
              <a:gd name="connsiteY2" fmla="*/ 0 h 561314"/>
              <a:gd name="connsiteX0" fmla="*/ 0 w 561315"/>
              <a:gd name="connsiteY0" fmla="*/ 561314 h 561314"/>
              <a:gd name="connsiteX1" fmla="*/ 561315 w 561315"/>
              <a:gd name="connsiteY1" fmla="*/ 0 h 561314"/>
              <a:gd name="connsiteX0" fmla="*/ 0 w 526878"/>
              <a:gd name="connsiteY0" fmla="*/ 568725 h 568725"/>
              <a:gd name="connsiteX1" fmla="*/ 526878 w 526878"/>
              <a:gd name="connsiteY1" fmla="*/ 0 h 568725"/>
              <a:gd name="connsiteX0" fmla="*/ 0 w 546679"/>
              <a:gd name="connsiteY0" fmla="*/ 665058 h 665058"/>
              <a:gd name="connsiteX1" fmla="*/ 546679 w 546679"/>
              <a:gd name="connsiteY1" fmla="*/ 0 h 665058"/>
              <a:gd name="connsiteX0" fmla="*/ 0 w 526878"/>
              <a:gd name="connsiteY0" fmla="*/ 583545 h 583545"/>
              <a:gd name="connsiteX1" fmla="*/ 526878 w 526878"/>
              <a:gd name="connsiteY1" fmla="*/ 0 h 583545"/>
              <a:gd name="connsiteX0" fmla="*/ 0 w 526878"/>
              <a:gd name="connsiteY0" fmla="*/ 583852 h 583852"/>
              <a:gd name="connsiteX1" fmla="*/ 526878 w 526878"/>
              <a:gd name="connsiteY1" fmla="*/ 307 h 583852"/>
              <a:gd name="connsiteX0" fmla="*/ 0 w 525156"/>
              <a:gd name="connsiteY0" fmla="*/ 561639 h 561639"/>
              <a:gd name="connsiteX1" fmla="*/ 525156 w 525156"/>
              <a:gd name="connsiteY1" fmla="*/ 323 h 561639"/>
              <a:gd name="connsiteX0" fmla="*/ 0 w 525156"/>
              <a:gd name="connsiteY0" fmla="*/ 602858 h 602858"/>
              <a:gd name="connsiteX1" fmla="*/ 525156 w 525156"/>
              <a:gd name="connsiteY1" fmla="*/ 41542 h 602858"/>
              <a:gd name="connsiteX0" fmla="*/ 0 w 525156"/>
              <a:gd name="connsiteY0" fmla="*/ 624865 h 624865"/>
              <a:gd name="connsiteX1" fmla="*/ 525156 w 525156"/>
              <a:gd name="connsiteY1" fmla="*/ 63549 h 624865"/>
              <a:gd name="connsiteX0" fmla="*/ 0 w 513103"/>
              <a:gd name="connsiteY0" fmla="*/ 599059 h 599060"/>
              <a:gd name="connsiteX1" fmla="*/ 513103 w 513103"/>
              <a:gd name="connsiteY1" fmla="*/ 67384 h 599060"/>
              <a:gd name="connsiteX0" fmla="*/ 0 w 493302"/>
              <a:gd name="connsiteY0" fmla="*/ 576821 h 576821"/>
              <a:gd name="connsiteX1" fmla="*/ 493302 w 493302"/>
              <a:gd name="connsiteY1" fmla="*/ 71082 h 576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93302" h="576821">
                <a:moveTo>
                  <a:pt x="0" y="576821"/>
                </a:moveTo>
                <a:cubicBezTo>
                  <a:pt x="134302" y="104423"/>
                  <a:pt x="219532" y="-127142"/>
                  <a:pt x="493302" y="71082"/>
                </a:cubicBezTo>
              </a:path>
            </a:pathLst>
          </a:custGeom>
          <a:noFill/>
          <a:ln w="9525">
            <a:solidFill>
              <a:schemeClr val="accent3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019033F-A5BB-3C7C-B948-ADCFF9285B0D}"/>
              </a:ext>
            </a:extLst>
          </p:cNvPr>
          <p:cNvSpPr/>
          <p:nvPr/>
        </p:nvSpPr>
        <p:spPr>
          <a:xfrm rot="2292632">
            <a:off x="3281694" y="2923660"/>
            <a:ext cx="465445" cy="475121"/>
          </a:xfrm>
          <a:custGeom>
            <a:avLst/>
            <a:gdLst>
              <a:gd name="connsiteX0" fmla="*/ 0 w 561315"/>
              <a:gd name="connsiteY0" fmla="*/ 561314 h 561314"/>
              <a:gd name="connsiteX1" fmla="*/ 217283 w 561315"/>
              <a:gd name="connsiteY1" fmla="*/ 144855 h 561314"/>
              <a:gd name="connsiteX2" fmla="*/ 561315 w 561315"/>
              <a:gd name="connsiteY2" fmla="*/ 0 h 561314"/>
              <a:gd name="connsiteX0" fmla="*/ 0 w 561315"/>
              <a:gd name="connsiteY0" fmla="*/ 561314 h 561314"/>
              <a:gd name="connsiteX1" fmla="*/ 194821 w 561315"/>
              <a:gd name="connsiteY1" fmla="*/ 186212 h 561314"/>
              <a:gd name="connsiteX2" fmla="*/ 561315 w 561315"/>
              <a:gd name="connsiteY2" fmla="*/ 0 h 561314"/>
              <a:gd name="connsiteX0" fmla="*/ 0 w 561315"/>
              <a:gd name="connsiteY0" fmla="*/ 561314 h 561314"/>
              <a:gd name="connsiteX1" fmla="*/ 144069 w 561315"/>
              <a:gd name="connsiteY1" fmla="*/ 248148 h 561314"/>
              <a:gd name="connsiteX2" fmla="*/ 561315 w 561315"/>
              <a:gd name="connsiteY2" fmla="*/ 0 h 561314"/>
              <a:gd name="connsiteX0" fmla="*/ 0 w 608555"/>
              <a:gd name="connsiteY0" fmla="*/ 665480 h 665480"/>
              <a:gd name="connsiteX1" fmla="*/ 144069 w 608555"/>
              <a:gd name="connsiteY1" fmla="*/ 352314 h 665480"/>
              <a:gd name="connsiteX2" fmla="*/ 608555 w 608555"/>
              <a:gd name="connsiteY2" fmla="*/ 1 h 665480"/>
              <a:gd name="connsiteX0" fmla="*/ 1 w 607649"/>
              <a:gd name="connsiteY0" fmla="*/ 606518 h 606518"/>
              <a:gd name="connsiteX1" fmla="*/ 143163 w 607649"/>
              <a:gd name="connsiteY1" fmla="*/ 352313 h 606518"/>
              <a:gd name="connsiteX2" fmla="*/ 607649 w 607649"/>
              <a:gd name="connsiteY2" fmla="*/ 0 h 606518"/>
              <a:gd name="connsiteX0" fmla="*/ 0 w 607648"/>
              <a:gd name="connsiteY0" fmla="*/ 606518 h 606518"/>
              <a:gd name="connsiteX1" fmla="*/ 204264 w 607648"/>
              <a:gd name="connsiteY1" fmla="*/ 279915 h 606518"/>
              <a:gd name="connsiteX2" fmla="*/ 607648 w 607648"/>
              <a:gd name="connsiteY2" fmla="*/ 0 h 606518"/>
              <a:gd name="connsiteX0" fmla="*/ 0 w 607648"/>
              <a:gd name="connsiteY0" fmla="*/ 606518 h 606518"/>
              <a:gd name="connsiteX1" fmla="*/ 607648 w 607648"/>
              <a:gd name="connsiteY1" fmla="*/ 0 h 606518"/>
              <a:gd name="connsiteX0" fmla="*/ 0 w 607648"/>
              <a:gd name="connsiteY0" fmla="*/ 606518 h 606518"/>
              <a:gd name="connsiteX1" fmla="*/ 607648 w 607648"/>
              <a:gd name="connsiteY1" fmla="*/ 0 h 606518"/>
              <a:gd name="connsiteX0" fmla="*/ 0 w 607648"/>
              <a:gd name="connsiteY0" fmla="*/ 606518 h 606518"/>
              <a:gd name="connsiteX1" fmla="*/ 607648 w 607648"/>
              <a:gd name="connsiteY1" fmla="*/ 0 h 606518"/>
              <a:gd name="connsiteX0" fmla="*/ 0 w 625664"/>
              <a:gd name="connsiteY0" fmla="*/ 526528 h 526528"/>
              <a:gd name="connsiteX1" fmla="*/ 625664 w 625664"/>
              <a:gd name="connsiteY1" fmla="*/ 0 h 526528"/>
              <a:gd name="connsiteX0" fmla="*/ 0 w 625664"/>
              <a:gd name="connsiteY0" fmla="*/ 526528 h 526528"/>
              <a:gd name="connsiteX1" fmla="*/ 625664 w 625664"/>
              <a:gd name="connsiteY1" fmla="*/ 0 h 526528"/>
              <a:gd name="connsiteX0" fmla="*/ 0 w 662752"/>
              <a:gd name="connsiteY0" fmla="*/ 534227 h 534227"/>
              <a:gd name="connsiteX1" fmla="*/ 662752 w 662752"/>
              <a:gd name="connsiteY1" fmla="*/ 0 h 534227"/>
              <a:gd name="connsiteX0" fmla="*/ 0 w 662752"/>
              <a:gd name="connsiteY0" fmla="*/ 534227 h 534227"/>
              <a:gd name="connsiteX1" fmla="*/ 662752 w 662752"/>
              <a:gd name="connsiteY1" fmla="*/ 0 h 534227"/>
              <a:gd name="connsiteX0" fmla="*/ 0 w 662752"/>
              <a:gd name="connsiteY0" fmla="*/ 534227 h 534227"/>
              <a:gd name="connsiteX1" fmla="*/ 662752 w 662752"/>
              <a:gd name="connsiteY1" fmla="*/ 0 h 534227"/>
              <a:gd name="connsiteX0" fmla="*/ 0 w 662752"/>
              <a:gd name="connsiteY0" fmla="*/ 534227 h 534227"/>
              <a:gd name="connsiteX1" fmla="*/ 662752 w 662752"/>
              <a:gd name="connsiteY1" fmla="*/ 0 h 534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62752" h="534227">
                <a:moveTo>
                  <a:pt x="0" y="534227"/>
                </a:moveTo>
                <a:cubicBezTo>
                  <a:pt x="118994" y="265326"/>
                  <a:pt x="228648" y="149460"/>
                  <a:pt x="662752" y="0"/>
                </a:cubicBezTo>
              </a:path>
            </a:pathLst>
          </a:custGeom>
          <a:noFill/>
          <a:ln w="9525">
            <a:solidFill>
              <a:schemeClr val="accent3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6E04A50-486B-B310-CEC1-6D949DC0E8F1}"/>
              </a:ext>
            </a:extLst>
          </p:cNvPr>
          <p:cNvSpPr/>
          <p:nvPr/>
        </p:nvSpPr>
        <p:spPr>
          <a:xfrm>
            <a:off x="3225698" y="2024731"/>
            <a:ext cx="2335502" cy="421936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</a:pPr>
            <a:r>
              <a:rPr lang="pt-BR" sz="1100" b="1" dirty="0">
                <a:solidFill>
                  <a:schemeClr val="tx2"/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CAGR</a:t>
            </a:r>
            <a:r>
              <a:rPr lang="pt-BR" sz="700" b="1" kern="0" dirty="0">
                <a:solidFill>
                  <a:schemeClr val="tx2"/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29-26</a:t>
            </a:r>
            <a:r>
              <a:rPr lang="pt-BR" sz="1100" b="1" dirty="0">
                <a:solidFill>
                  <a:schemeClr val="tx2"/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: </a:t>
            </a:r>
            <a:r>
              <a:rPr lang="pt-BR" sz="1100" b="1" dirty="0">
                <a:solidFill>
                  <a:schemeClr val="accent6"/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24%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8CEE3C7-9BD4-F640-84DC-1FD333124A72}"/>
              </a:ext>
            </a:extLst>
          </p:cNvPr>
          <p:cNvSpPr/>
          <p:nvPr/>
        </p:nvSpPr>
        <p:spPr>
          <a:xfrm>
            <a:off x="729951" y="2024731"/>
            <a:ext cx="2335503" cy="421936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</a:pPr>
            <a:r>
              <a:rPr lang="pt-BR" sz="1100" b="1" dirty="0">
                <a:solidFill>
                  <a:schemeClr val="tx2"/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CAGR</a:t>
            </a:r>
            <a:r>
              <a:rPr lang="pt-BR" sz="700" b="1" kern="0" dirty="0">
                <a:solidFill>
                  <a:schemeClr val="tx2"/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24x21</a:t>
            </a:r>
            <a:r>
              <a:rPr lang="pt-BR" sz="1100" b="1" dirty="0">
                <a:solidFill>
                  <a:schemeClr val="tx2"/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: </a:t>
            </a:r>
            <a:r>
              <a:rPr lang="pt-BR" sz="1100" b="1" dirty="0">
                <a:solidFill>
                  <a:schemeClr val="bg2"/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67%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D915FA-BF6B-2CA1-AF4A-DEEFFA064428}"/>
              </a:ext>
            </a:extLst>
          </p:cNvPr>
          <p:cNvSpPr txBox="1"/>
          <p:nvPr/>
        </p:nvSpPr>
        <p:spPr>
          <a:xfrm flipH="1">
            <a:off x="3002956" y="5520290"/>
            <a:ext cx="840400" cy="222112"/>
          </a:xfrm>
          <a:prstGeom prst="rect">
            <a:avLst/>
          </a:prstGeom>
          <a:noFill/>
        </p:spPr>
        <p:txBody>
          <a:bodyPr wrap="square" lIns="18000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pt-BR" sz="1400" b="1" dirty="0">
                <a:solidFill>
                  <a:schemeClr val="accent1">
                    <a:lumMod val="75000"/>
                  </a:schemeClr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1ª fase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02D341-130D-6A56-B9B5-042C7F19B9EC}"/>
              </a:ext>
            </a:extLst>
          </p:cNvPr>
          <p:cNvSpPr txBox="1"/>
          <p:nvPr/>
        </p:nvSpPr>
        <p:spPr>
          <a:xfrm flipH="1">
            <a:off x="4337556" y="5520290"/>
            <a:ext cx="840400" cy="222112"/>
          </a:xfrm>
          <a:prstGeom prst="rect">
            <a:avLst/>
          </a:prstGeom>
          <a:noFill/>
        </p:spPr>
        <p:txBody>
          <a:bodyPr wrap="square" lIns="18000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pt-BR" sz="1400" b="1" dirty="0">
                <a:solidFill>
                  <a:schemeClr val="accent6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2ª fase</a:t>
            </a: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D998F5F6-0F92-033A-774B-B57666B151CE}"/>
              </a:ext>
            </a:extLst>
          </p:cNvPr>
          <p:cNvSpPr/>
          <p:nvPr/>
        </p:nvSpPr>
        <p:spPr>
          <a:xfrm rot="5400000">
            <a:off x="3351357" y="4912386"/>
            <a:ext cx="155448" cy="937474"/>
          </a:xfrm>
          <a:prstGeom prst="rightBrace">
            <a:avLst>
              <a:gd name="adj1" fmla="val 33864"/>
              <a:gd name="adj2" fmla="val 50000"/>
            </a:avLst>
          </a:prstGeom>
          <a:ln>
            <a:solidFill>
              <a:schemeClr val="accent1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4383D91F-E236-5544-7525-A8E04032B657}"/>
              </a:ext>
            </a:extLst>
          </p:cNvPr>
          <p:cNvSpPr/>
          <p:nvPr/>
        </p:nvSpPr>
        <p:spPr>
          <a:xfrm rot="5400000">
            <a:off x="4728570" y="4626218"/>
            <a:ext cx="155448" cy="1509812"/>
          </a:xfrm>
          <a:prstGeom prst="rightBrace">
            <a:avLst>
              <a:gd name="adj1" fmla="val 33864"/>
              <a:gd name="adj2" fmla="val 50000"/>
            </a:avLst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5" name="Picture 24" descr="A person with a towel on her head and a brush&#10;&#10;Description automatically generated">
            <a:extLst>
              <a:ext uri="{FF2B5EF4-FFF2-40B4-BE49-F238E27FC236}">
                <a16:creationId xmlns:a16="http://schemas.microsoft.com/office/drawing/2014/main" id="{8AEEE699-3A44-355A-883F-8723E14BFF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79" r="38318" b="-1"/>
          <a:stretch/>
        </p:blipFill>
        <p:spPr>
          <a:xfrm flipH="1">
            <a:off x="9391650" y="1609725"/>
            <a:ext cx="2800349" cy="4115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0996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D10658FC-4423-035E-9652-532A31353F1D}"/>
              </a:ext>
            </a:extLst>
          </p:cNvPr>
          <p:cNvSpPr/>
          <p:nvPr/>
        </p:nvSpPr>
        <p:spPr>
          <a:xfrm flipH="1">
            <a:off x="-13" y="4681728"/>
            <a:ext cx="12191999" cy="2176272"/>
          </a:xfrm>
          <a:prstGeom prst="round2SameRect">
            <a:avLst>
              <a:gd name="adj1" fmla="val 31933"/>
              <a:gd name="adj2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14" name="Rectangle: Top Corners Rounded 13">
            <a:extLst>
              <a:ext uri="{FF2B5EF4-FFF2-40B4-BE49-F238E27FC236}">
                <a16:creationId xmlns:a16="http://schemas.microsoft.com/office/drawing/2014/main" id="{F0C010B3-42B5-9A7C-400A-6EE292307000}"/>
              </a:ext>
            </a:extLst>
          </p:cNvPr>
          <p:cNvSpPr/>
          <p:nvPr/>
        </p:nvSpPr>
        <p:spPr>
          <a:xfrm>
            <a:off x="746597" y="1449388"/>
            <a:ext cx="3548159" cy="4532632"/>
          </a:xfrm>
          <a:prstGeom prst="round2SameRect">
            <a:avLst>
              <a:gd name="adj1" fmla="val 6971"/>
              <a:gd name="adj2" fmla="val 0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17" name="Rectangle: Top Corners Rounded 16">
            <a:extLst>
              <a:ext uri="{FF2B5EF4-FFF2-40B4-BE49-F238E27FC236}">
                <a16:creationId xmlns:a16="http://schemas.microsoft.com/office/drawing/2014/main" id="{05E2B3EA-948A-D5D6-227D-4602EB4873A6}"/>
              </a:ext>
            </a:extLst>
          </p:cNvPr>
          <p:cNvSpPr/>
          <p:nvPr/>
        </p:nvSpPr>
        <p:spPr>
          <a:xfrm>
            <a:off x="4520907" y="1449388"/>
            <a:ext cx="3548159" cy="4532632"/>
          </a:xfrm>
          <a:prstGeom prst="round2SameRect">
            <a:avLst>
              <a:gd name="adj1" fmla="val 6716"/>
              <a:gd name="adj2" fmla="val 0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BA7CC6CA-4977-9140-BF2A-9B051A581104}"/>
              </a:ext>
            </a:extLst>
          </p:cNvPr>
          <p:cNvSpPr/>
          <p:nvPr/>
        </p:nvSpPr>
        <p:spPr>
          <a:xfrm>
            <a:off x="8295216" y="1449388"/>
            <a:ext cx="3548159" cy="4532632"/>
          </a:xfrm>
          <a:prstGeom prst="round2SameRect">
            <a:avLst>
              <a:gd name="adj1" fmla="val 6461"/>
              <a:gd name="adj2" fmla="val 0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D0DFC6-7CB7-6898-2002-FC4EDBB91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Sólida performance financeira sustenta o potencial de crescimento da </a:t>
            </a:r>
            <a:r>
              <a:rPr lang="pt-BR" dirty="0" err="1"/>
              <a:t>Biocap</a:t>
            </a:r>
            <a:r>
              <a:rPr lang="pt-BR" dirty="0"/>
              <a:t> </a:t>
            </a:r>
            <a:r>
              <a:rPr lang="pt-BR" sz="1000" b="0" dirty="0"/>
              <a:t>(3/3)</a:t>
            </a:r>
            <a:endParaRPr lang="pt-BR" sz="1800" b="0" dirty="0"/>
          </a:p>
        </p:txBody>
      </p:sp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A118428-5553-0DAD-A6E8-CB07B7A85F6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0" tIns="36000" rIns="0" bIns="0" rtlCol="0">
            <a:spAutoFit/>
          </a:bodyPr>
          <a:lstStyle/>
          <a:p>
            <a:r>
              <a:rPr lang="pt-BR" sz="1050" dirty="0">
                <a:latin typeface="Montserrat Light" pitchFamily="2" charset="0"/>
              </a:rPr>
              <a:t>A </a:t>
            </a:r>
            <a:r>
              <a:rPr lang="pt-BR" sz="1050" dirty="0" err="1">
                <a:latin typeface="Montserrat Light" pitchFamily="2" charset="0"/>
              </a:rPr>
              <a:t>Biocap</a:t>
            </a:r>
            <a:r>
              <a:rPr lang="pt-BR" sz="1050" dirty="0">
                <a:latin typeface="Montserrat Light" pitchFamily="2" charset="0"/>
              </a:rPr>
              <a:t> registrou forte crescimento nos últimos anos, aliado a uma robusta situação financeira com alta geração de caixa</a:t>
            </a:r>
          </a:p>
        </p:txBody>
      </p:sp>
      <p:sp>
        <p:nvSpPr>
          <p:cNvPr id="120" name="Text Placeholder 119">
            <a:extLst>
              <a:ext uri="{FF2B5EF4-FFF2-40B4-BE49-F238E27FC236}">
                <a16:creationId xmlns:a16="http://schemas.microsoft.com/office/drawing/2014/main" id="{5B066116-6C87-29AE-5542-EC4F3E77B71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10000"/>
                    <a:lumOff val="90000"/>
                  </a:schemeClr>
                </a:solidFill>
                <a:latin typeface="Montserrat" panose="00000500000000000000" pitchFamily="2" charset="0"/>
              </a:rPr>
              <a:t>Fonte: </a:t>
            </a:r>
            <a:r>
              <a:rPr lang="en-US" dirty="0" err="1">
                <a:solidFill>
                  <a:schemeClr val="tx2">
                    <a:lumMod val="10000"/>
                    <a:lumOff val="90000"/>
                  </a:schemeClr>
                </a:solidFill>
                <a:latin typeface="Montserrat" panose="00000500000000000000" pitchFamily="2" charset="0"/>
              </a:rPr>
              <a:t>Companhia</a:t>
            </a:r>
            <a:endParaRPr lang="pt-BR" dirty="0">
              <a:solidFill>
                <a:schemeClr val="tx2">
                  <a:lumMod val="10000"/>
                  <a:lumOff val="90000"/>
                </a:schemeClr>
              </a:solidFill>
              <a:latin typeface="Montserrat" panose="00000500000000000000" pitchFamily="2" charset="0"/>
            </a:endParaRPr>
          </a:p>
        </p:txBody>
      </p:sp>
      <p:graphicFrame>
        <p:nvGraphicFramePr>
          <p:cNvPr id="4" name="Content Placeholder 20">
            <a:extLst>
              <a:ext uri="{FF2B5EF4-FFF2-40B4-BE49-F238E27FC236}">
                <a16:creationId xmlns:a16="http://schemas.microsoft.com/office/drawing/2014/main" id="{21BBF936-37CF-755B-16B5-F337D32AC6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0033875"/>
              </p:ext>
            </p:extLst>
          </p:nvPr>
        </p:nvGraphicFramePr>
        <p:xfrm>
          <a:off x="993030" y="2282322"/>
          <a:ext cx="3055292" cy="3402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ontent Placeholder 20">
            <a:extLst>
              <a:ext uri="{FF2B5EF4-FFF2-40B4-BE49-F238E27FC236}">
                <a16:creationId xmlns:a16="http://schemas.microsoft.com/office/drawing/2014/main" id="{41BA2B39-A972-6E16-805D-8EB345D13F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0052677"/>
              </p:ext>
            </p:extLst>
          </p:nvPr>
        </p:nvGraphicFramePr>
        <p:xfrm>
          <a:off x="4689415" y="2437573"/>
          <a:ext cx="3211142" cy="32473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ontent Placeholder 20">
            <a:extLst>
              <a:ext uri="{FF2B5EF4-FFF2-40B4-BE49-F238E27FC236}">
                <a16:creationId xmlns:a16="http://schemas.microsoft.com/office/drawing/2014/main" id="{FB778297-F7EF-5A84-08BD-44971A7C7B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0868834"/>
              </p:ext>
            </p:extLst>
          </p:nvPr>
        </p:nvGraphicFramePr>
        <p:xfrm>
          <a:off x="8463724" y="2055088"/>
          <a:ext cx="3211142" cy="36298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17F06FC-5439-D98E-87C1-34675F4B731F}"/>
              </a:ext>
            </a:extLst>
          </p:cNvPr>
          <p:cNvSpPr txBox="1"/>
          <p:nvPr/>
        </p:nvSpPr>
        <p:spPr>
          <a:xfrm>
            <a:off x="1652154" y="2048060"/>
            <a:ext cx="1737044" cy="389513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bg2"/>
            </a:solidFill>
            <a:prstDash val="solid"/>
          </a:ln>
        </p:spPr>
        <p:txBody>
          <a:bodyPr wrap="square" rtlCol="0" anchor="ctr" anchorCtr="0">
            <a:spAutoFit/>
          </a:bodyPr>
          <a:lstStyle/>
          <a:p>
            <a:pPr algn="ctr">
              <a:defRPr/>
            </a:pPr>
            <a:r>
              <a:rPr kumimoji="0" lang="pt-BR" sz="1200" b="1" i="0" u="none" strike="noStrike" kern="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Source Serif Pro" panose="02040603050405020204" pitchFamily="18" charset="0"/>
                <a:ea typeface="Source Serif Pro" panose="02040603050405020204" pitchFamily="18" charset="0"/>
              </a:rPr>
              <a:t> </a:t>
            </a:r>
            <a:r>
              <a:rPr kumimoji="0" lang="pt-BR" sz="1200" b="1" i="0" u="none" strike="noStrike" kern="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ontserrat" panose="00000500000000000000" pitchFamily="2" charset="0"/>
                <a:ea typeface="Source Serif Pro" panose="02040603050405020204" pitchFamily="18" charset="0"/>
              </a:rPr>
              <a:t>CAGR</a:t>
            </a:r>
            <a:r>
              <a:rPr kumimoji="0" lang="pt-BR" sz="700" b="1" i="0" u="none" strike="noStrike" kern="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ontserrat" panose="00000500000000000000" pitchFamily="2" charset="0"/>
                <a:ea typeface="Source Serif Pro" panose="02040603050405020204" pitchFamily="18" charset="0"/>
              </a:rPr>
              <a:t>21-2</a:t>
            </a:r>
            <a:r>
              <a:rPr lang="pt-BR" sz="700" b="1" kern="0" dirty="0">
                <a:solidFill>
                  <a:schemeClr val="bg2"/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3</a:t>
            </a:r>
            <a:r>
              <a:rPr lang="pt-BR" sz="1200" b="1" kern="0" dirty="0">
                <a:solidFill>
                  <a:schemeClr val="bg2"/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:</a:t>
            </a:r>
            <a:r>
              <a:rPr lang="pt-BR" sz="700" b="1" kern="0" dirty="0">
                <a:solidFill>
                  <a:schemeClr val="bg2"/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  </a:t>
            </a:r>
            <a:r>
              <a:rPr kumimoji="0" lang="pt-BR" sz="1200" b="1" i="0" u="none" strike="noStrike" kern="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ontserrat" panose="00000500000000000000" pitchFamily="2" charset="0"/>
                <a:ea typeface="Source Serif Pro" panose="02040603050405020204" pitchFamily="18" charset="0"/>
              </a:rPr>
              <a:t>21%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109A74-0E63-3BFE-543C-AEADDCCC0324}"/>
              </a:ext>
            </a:extLst>
          </p:cNvPr>
          <p:cNvSpPr txBox="1"/>
          <p:nvPr/>
        </p:nvSpPr>
        <p:spPr>
          <a:xfrm>
            <a:off x="8358687" y="1659219"/>
            <a:ext cx="3421216" cy="41125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 b="1" dirty="0">
                <a:solidFill>
                  <a:schemeClr val="tx2"/>
                </a:solidFill>
                <a:latin typeface="Montserrat" pitchFamily="2" charset="0"/>
                <a:ea typeface="Source Serif Pro Light" panose="02040303050405020204" pitchFamily="18" charset="0"/>
              </a:rPr>
              <a:t>Geração de Caixa Operacional e % do EBITDA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 dirty="0">
                <a:solidFill>
                  <a:schemeClr val="tx2"/>
                </a:solidFill>
                <a:latin typeface="Montserrat" pitchFamily="2" charset="0"/>
                <a:ea typeface="Source Serif Pro Light" panose="02040303050405020204" pitchFamily="18" charset="0"/>
              </a:rPr>
              <a:t>(R$ M e % do EBITDA)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14F705-8B85-0CD5-C4D5-A68A9D7616B2}"/>
              </a:ext>
            </a:extLst>
          </p:cNvPr>
          <p:cNvSpPr txBox="1"/>
          <p:nvPr/>
        </p:nvSpPr>
        <p:spPr>
          <a:xfrm>
            <a:off x="4903299" y="1659219"/>
            <a:ext cx="2783376" cy="24198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 b="1" dirty="0">
                <a:solidFill>
                  <a:schemeClr val="tx2"/>
                </a:solidFill>
                <a:latin typeface="Montserrat" pitchFamily="2" charset="0"/>
                <a:ea typeface="Source Serif Pro Light" panose="02040303050405020204" pitchFamily="18" charset="0"/>
              </a:rPr>
              <a:t>EBITDA e Margem EBITDA </a:t>
            </a:r>
            <a:r>
              <a:rPr lang="pt-BR" sz="1100" dirty="0">
                <a:solidFill>
                  <a:schemeClr val="tx2"/>
                </a:solidFill>
                <a:latin typeface="Montserrat" pitchFamily="2" charset="0"/>
                <a:ea typeface="Source Serif Pro Light" panose="02040303050405020204" pitchFamily="18" charset="0"/>
              </a:rPr>
              <a:t>(R$ M e %)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E6B19E-0028-201B-9EE5-E1A25F91C379}"/>
              </a:ext>
            </a:extLst>
          </p:cNvPr>
          <p:cNvSpPr txBox="1"/>
          <p:nvPr/>
        </p:nvSpPr>
        <p:spPr>
          <a:xfrm>
            <a:off x="1511300" y="1659219"/>
            <a:ext cx="2018754" cy="24198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 b="1" dirty="0">
                <a:solidFill>
                  <a:schemeClr val="tx2"/>
                </a:solidFill>
                <a:latin typeface="Montserrat" pitchFamily="2" charset="0"/>
                <a:ea typeface="Source Serif Pro Light" panose="02040303050405020204" pitchFamily="18" charset="0"/>
              </a:rPr>
              <a:t>Receita Bruta </a:t>
            </a:r>
            <a:r>
              <a:rPr lang="pt-BR" sz="1100" dirty="0">
                <a:solidFill>
                  <a:schemeClr val="tx2"/>
                </a:solidFill>
                <a:latin typeface="Montserrat" pitchFamily="2" charset="0"/>
                <a:ea typeface="Source Serif Pro Light" panose="02040303050405020204" pitchFamily="18" charset="0"/>
              </a:rPr>
              <a:t>(R$ M)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D923A5-B84B-038F-A97D-D7F335E3D3DC}"/>
              </a:ext>
            </a:extLst>
          </p:cNvPr>
          <p:cNvSpPr txBox="1"/>
          <p:nvPr/>
        </p:nvSpPr>
        <p:spPr>
          <a:xfrm>
            <a:off x="5426464" y="2048060"/>
            <a:ext cx="1737044" cy="389513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bg2"/>
            </a:solidFill>
            <a:prstDash val="solid"/>
          </a:ln>
        </p:spPr>
        <p:txBody>
          <a:bodyPr wrap="square" rtlCol="0" anchor="ctr" anchorCtr="0">
            <a:spAutoFit/>
          </a:bodyPr>
          <a:lstStyle/>
          <a:p>
            <a:pPr algn="ctr">
              <a:defRPr/>
            </a:pPr>
            <a:r>
              <a:rPr kumimoji="0" lang="pt-BR" sz="1200" b="1" i="0" u="none" strike="noStrike" kern="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Source Serif Pro" panose="02040603050405020204" pitchFamily="18" charset="0"/>
                <a:ea typeface="Source Serif Pro" panose="02040603050405020204" pitchFamily="18" charset="0"/>
              </a:rPr>
              <a:t> </a:t>
            </a:r>
            <a:r>
              <a:rPr kumimoji="0" lang="pt-BR" sz="1200" b="1" i="0" u="none" strike="noStrike" kern="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ontserrat" panose="00000500000000000000" pitchFamily="2" charset="0"/>
                <a:ea typeface="Source Serif Pro" panose="02040603050405020204" pitchFamily="18" charset="0"/>
              </a:rPr>
              <a:t>CAGR</a:t>
            </a:r>
            <a:r>
              <a:rPr kumimoji="0" lang="pt-BR" sz="700" b="1" i="0" u="none" strike="noStrike" kern="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ontserrat" panose="00000500000000000000" pitchFamily="2" charset="0"/>
                <a:ea typeface="Source Serif Pro" panose="02040603050405020204" pitchFamily="18" charset="0"/>
              </a:rPr>
              <a:t>21-2</a:t>
            </a:r>
            <a:r>
              <a:rPr lang="pt-BR" sz="700" b="1" kern="0" dirty="0">
                <a:solidFill>
                  <a:schemeClr val="bg2"/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3</a:t>
            </a:r>
            <a:r>
              <a:rPr lang="pt-BR" sz="1200" b="1" kern="0" dirty="0">
                <a:solidFill>
                  <a:schemeClr val="bg2"/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:</a:t>
            </a:r>
            <a:r>
              <a:rPr lang="pt-BR" sz="700" b="1" kern="0" dirty="0">
                <a:solidFill>
                  <a:schemeClr val="bg2"/>
                </a:solidFill>
                <a:latin typeface="Montserrat" panose="00000500000000000000" pitchFamily="2" charset="0"/>
                <a:ea typeface="Source Serif Pro" panose="02040603050405020204" pitchFamily="18" charset="0"/>
              </a:rPr>
              <a:t>  </a:t>
            </a:r>
            <a:r>
              <a:rPr kumimoji="0" lang="pt-BR" sz="1200" b="1" i="0" u="none" strike="noStrike" kern="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ontserrat" panose="00000500000000000000" pitchFamily="2" charset="0"/>
                <a:ea typeface="Source Serif Pro" panose="02040603050405020204" pitchFamily="18" charset="0"/>
              </a:rPr>
              <a:t>109%</a:t>
            </a:r>
          </a:p>
        </p:txBody>
      </p:sp>
      <p:grpSp>
        <p:nvGrpSpPr>
          <p:cNvPr id="8" name="Agrupar 20">
            <a:extLst>
              <a:ext uri="{FF2B5EF4-FFF2-40B4-BE49-F238E27FC236}">
                <a16:creationId xmlns:a16="http://schemas.microsoft.com/office/drawing/2014/main" id="{441C3CCA-9493-039F-00B5-BF8A14B37E39}"/>
              </a:ext>
            </a:extLst>
          </p:cNvPr>
          <p:cNvGrpSpPr/>
          <p:nvPr/>
        </p:nvGrpSpPr>
        <p:grpSpPr>
          <a:xfrm rot="5400000">
            <a:off x="1538085" y="6056143"/>
            <a:ext cx="200055" cy="1100408"/>
            <a:chOff x="11935695" y="2878796"/>
            <a:chExt cx="200055" cy="1100408"/>
          </a:xfrm>
        </p:grpSpPr>
        <p:sp>
          <p:nvSpPr>
            <p:cNvPr id="9" name="CaixaDeTexto 18">
              <a:extLst>
                <a:ext uri="{FF2B5EF4-FFF2-40B4-BE49-F238E27FC236}">
                  <a16:creationId xmlns:a16="http://schemas.microsoft.com/office/drawing/2014/main" id="{49D0A291-F6DD-A80C-886C-14E475C73142}"/>
                </a:ext>
              </a:extLst>
            </p:cNvPr>
            <p:cNvSpPr txBox="1"/>
            <p:nvPr userDrawn="1"/>
          </p:nvSpPr>
          <p:spPr>
            <a:xfrm rot="16200000">
              <a:off x="11659671" y="3328970"/>
              <a:ext cx="752104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algn="ctr" defTabSz="914400" rtl="0" eaLnBrk="1" latinLnBrk="0" hangingPunct="1"/>
              <a:r>
                <a:rPr lang="pt-BR" sz="700" kern="1200" dirty="0">
                  <a:solidFill>
                    <a:schemeClr val="accent6"/>
                  </a:solidFill>
                  <a:latin typeface="Montserrat" panose="00000500000000000000" pitchFamily="2" charset="0"/>
                  <a:ea typeface="Source Serif Pro" panose="02040603050405020204" pitchFamily="18" charset="0"/>
                  <a:cs typeface="Arial" panose="020B0604020202020204" pitchFamily="34" charset="0"/>
                </a:rPr>
                <a:t>Confidencial </a:t>
              </a:r>
            </a:p>
          </p:txBody>
        </p:sp>
        <p:sp>
          <p:nvSpPr>
            <p:cNvPr id="10" name="Retângulo: Cantos Arredondados 19">
              <a:extLst>
                <a:ext uri="{FF2B5EF4-FFF2-40B4-BE49-F238E27FC236}">
                  <a16:creationId xmlns:a16="http://schemas.microsoft.com/office/drawing/2014/main" id="{0A225AAE-D055-08FB-5016-499E44A966E1}"/>
                </a:ext>
              </a:extLst>
            </p:cNvPr>
            <p:cNvSpPr/>
            <p:nvPr userDrawn="1"/>
          </p:nvSpPr>
          <p:spPr>
            <a:xfrm>
              <a:off x="11935695" y="2878796"/>
              <a:ext cx="200055" cy="1100408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sp>
        <p:nvSpPr>
          <p:cNvPr id="15" name="Espaço Reservado para Número de Slide 3">
            <a:extLst>
              <a:ext uri="{FF2B5EF4-FFF2-40B4-BE49-F238E27FC236}">
                <a16:creationId xmlns:a16="http://schemas.microsoft.com/office/drawing/2014/main" id="{A2DA6E7E-34BD-2BA1-FDE9-08B49ACF0060}"/>
              </a:ext>
            </a:extLst>
          </p:cNvPr>
          <p:cNvSpPr txBox="1">
            <a:spLocks/>
          </p:cNvSpPr>
          <p:nvPr/>
        </p:nvSpPr>
        <p:spPr>
          <a:xfrm>
            <a:off x="731837" y="6494464"/>
            <a:ext cx="280194" cy="363536"/>
          </a:xfrm>
          <a:prstGeom prst="rect">
            <a:avLst/>
          </a:prstGeom>
        </p:spPr>
        <p:txBody>
          <a:bodyPr vert="horz" lIns="0" tIns="72000" rIns="0" bIns="0" rtlCol="0" anchor="t" anchorCtr="0"/>
          <a:lstStyle>
            <a:defPPr>
              <a:defRPr lang="pt-BR"/>
            </a:defPPr>
            <a:lvl1pPr lvl="0" algn="ctr">
              <a:defRPr sz="700" b="0">
                <a:solidFill>
                  <a:schemeClr val="tx2"/>
                </a:solidFill>
                <a:latin typeface="TT Hoves Pro Trial" panose="020B0003020000020203" pitchFamily="34" charset="0"/>
                <a:ea typeface="Source Serif Pro" panose="020406030504050202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D040F07-03C9-435C-8770-1A5512E66C10}" type="slidenum">
              <a:rPr lang="en-US" sz="700" b="0" kern="1200" smtClean="0">
                <a:solidFill>
                  <a:schemeClr val="accent6"/>
                </a:solidFill>
                <a:latin typeface="TT Hoves Pro Trial" panose="020B0003020000020203" pitchFamily="34" charset="0"/>
                <a:ea typeface="Source Serif Pro" panose="02040603050405020204" pitchFamily="18" charset="0"/>
                <a:cs typeface="+mn-cs"/>
              </a:rPr>
              <a:pPr lvl="0"/>
              <a:t>19</a:t>
            </a:fld>
            <a:endParaRPr lang="en-US" sz="700" b="0" kern="1200" dirty="0">
              <a:solidFill>
                <a:schemeClr val="accent6"/>
              </a:solidFill>
              <a:latin typeface="TT Hoves Pro Trial" panose="020B0003020000020203" pitchFamily="34" charset="0"/>
              <a:ea typeface="Source Serif Pro" panose="02040603050405020204" pitchFamily="18" charset="0"/>
              <a:cs typeface="+mn-cs"/>
            </a:endParaRPr>
          </a:p>
        </p:txBody>
      </p:sp>
      <p:pic>
        <p:nvPicPr>
          <p:cNvPr id="16" name="Picture 15" descr="A black and white logo&#10;&#10;Description automatically generated">
            <a:extLst>
              <a:ext uri="{FF2B5EF4-FFF2-40B4-BE49-F238E27FC236}">
                <a16:creationId xmlns:a16="http://schemas.microsoft.com/office/drawing/2014/main" id="{D2FB0EB2-DE76-E22E-A947-104FC5DA01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0" y="6196678"/>
            <a:ext cx="784112" cy="26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965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Rectangle 1154">
            <a:extLst>
              <a:ext uri="{FF2B5EF4-FFF2-40B4-BE49-F238E27FC236}">
                <a16:creationId xmlns:a16="http://schemas.microsoft.com/office/drawing/2014/main" id="{5EEE035B-6463-CB98-1BB2-3C2F2403E739}"/>
              </a:ext>
            </a:extLst>
          </p:cNvPr>
          <p:cNvSpPr/>
          <p:nvPr/>
        </p:nvSpPr>
        <p:spPr>
          <a:xfrm>
            <a:off x="6795643" y="4863661"/>
            <a:ext cx="5394978" cy="1121215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7BCBE24-E524-6685-8019-7CF6E9878C5B}"/>
              </a:ext>
            </a:extLst>
          </p:cNvPr>
          <p:cNvSpPr/>
          <p:nvPr/>
        </p:nvSpPr>
        <p:spPr>
          <a:xfrm>
            <a:off x="1042301" y="1449388"/>
            <a:ext cx="5962650" cy="4535488"/>
          </a:xfrm>
          <a:prstGeom prst="roundRect">
            <a:avLst>
              <a:gd name="adj" fmla="val 6016"/>
            </a:avLst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en-US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  <a:cs typeface="Poppins" panose="00000500000000000000" pitchFamily="2" charset="0"/>
            </a:endParaRPr>
          </a:p>
        </p:txBody>
      </p:sp>
      <p:sp>
        <p:nvSpPr>
          <p:cNvPr id="1080" name="Title 1">
            <a:extLst>
              <a:ext uri="{FF2B5EF4-FFF2-40B4-BE49-F238E27FC236}">
                <a16:creationId xmlns:a16="http://schemas.microsoft.com/office/drawing/2014/main" id="{744E0C22-70C0-1732-00B9-2B16C7D9E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pt-BR" sz="1800" dirty="0"/>
              <a:t>O crescimento da </a:t>
            </a:r>
            <a:r>
              <a:rPr lang="pt-BR" sz="1800" dirty="0" err="1"/>
              <a:t>Biocap</a:t>
            </a:r>
            <a:r>
              <a:rPr lang="pt-BR" sz="1800" dirty="0"/>
              <a:t> é suportado por uma estrutura com capacidade de expansão</a:t>
            </a:r>
          </a:p>
        </p:txBody>
      </p:sp>
      <p:sp>
        <p:nvSpPr>
          <p:cNvPr id="1081" name="Content Placeholder 39">
            <a:extLst>
              <a:ext uri="{FF2B5EF4-FFF2-40B4-BE49-F238E27FC236}">
                <a16:creationId xmlns:a16="http://schemas.microsoft.com/office/drawing/2014/main" id="{B9D975F1-5BA6-B96F-05FD-FBEFC51DB81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0" tIns="36000" rIns="0" bIns="0" rtlCol="0">
            <a:spAutoFit/>
          </a:bodyPr>
          <a:lstStyle/>
          <a:p>
            <a:r>
              <a:rPr lang="pt-BR" sz="1050" dirty="0">
                <a:latin typeface="Montserrat Light" pitchFamily="2" charset="0"/>
              </a:rPr>
              <a:t>A fábrica, estrategicamente localizada, tem o potencial de aumentar a capacidade produtiva para 3.240un/mês, acompanhando o crescimento da base de clientes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5FDD435-8A93-E4C7-050C-312DFB9C4B10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pt-BR" dirty="0"/>
              <a:t>Fonte: Companhia</a:t>
            </a:r>
          </a:p>
        </p:txBody>
      </p: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E6DAB2C6-27F3-7C77-D0A1-C0959CA9F5C0}"/>
              </a:ext>
            </a:extLst>
          </p:cNvPr>
          <p:cNvSpPr/>
          <p:nvPr/>
        </p:nvSpPr>
        <p:spPr>
          <a:xfrm>
            <a:off x="2733415" y="4186517"/>
            <a:ext cx="1547800" cy="1646605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marL="171450" indent="-171450"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900" dirty="0" err="1">
                <a:latin typeface="Montserrat" panose="00000500000000000000" pitchFamily="2" charset="0"/>
                <a:ea typeface="Source Serif Pro Black" panose="02040903050405020204" pitchFamily="18" charset="0"/>
              </a:rPr>
              <a:t>Construída</a:t>
            </a:r>
            <a:r>
              <a:rPr lang="en-US" sz="900" dirty="0">
                <a:latin typeface="Montserrat" panose="00000500000000000000" pitchFamily="2" charset="0"/>
                <a:ea typeface="Source Serif Pro Black" panose="02040903050405020204" pitchFamily="18" charset="0"/>
              </a:rPr>
              <a:t> </a:t>
            </a:r>
            <a:r>
              <a:rPr lang="en-US" sz="900" dirty="0" err="1">
                <a:latin typeface="Montserrat" panose="00000500000000000000" pitchFamily="2" charset="0"/>
                <a:ea typeface="Source Serif Pro Black" panose="02040903050405020204" pitchFamily="18" charset="0"/>
              </a:rPr>
              <a:t>em</a:t>
            </a:r>
            <a:r>
              <a:rPr lang="en-US" sz="900" dirty="0">
                <a:latin typeface="Montserrat" panose="00000500000000000000" pitchFamily="2" charset="0"/>
                <a:ea typeface="Source Serif Pro Black" panose="02040903050405020204" pitchFamily="18" charset="0"/>
              </a:rPr>
              <a:t> </a:t>
            </a:r>
            <a:r>
              <a:rPr lang="en-US" sz="900" b="1" dirty="0">
                <a:latin typeface="Montserrat" panose="00000500000000000000" pitchFamily="2" charset="0"/>
                <a:ea typeface="Source Serif Pro Black" panose="02040903050405020204" pitchFamily="18" charset="0"/>
              </a:rPr>
              <a:t>1976</a:t>
            </a:r>
          </a:p>
          <a:p>
            <a:pPr marL="171450" indent="-171450"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900" dirty="0" err="1">
                <a:latin typeface="Montserrat" panose="00000500000000000000" pitchFamily="2" charset="0"/>
                <a:ea typeface="Source Serif Pro Black" panose="02040903050405020204" pitchFamily="18" charset="0"/>
              </a:rPr>
              <a:t>Localizada</a:t>
            </a:r>
            <a:r>
              <a:rPr lang="en-US" sz="900" dirty="0">
                <a:latin typeface="Montserrat" panose="00000500000000000000" pitchFamily="2" charset="0"/>
                <a:ea typeface="Source Serif Pro Black" panose="02040903050405020204" pitchFamily="18" charset="0"/>
              </a:rPr>
              <a:t> </a:t>
            </a:r>
            <a:r>
              <a:rPr lang="en-US" sz="900" dirty="0" err="1">
                <a:latin typeface="Montserrat" panose="00000500000000000000" pitchFamily="2" charset="0"/>
                <a:ea typeface="Source Serif Pro Black" panose="02040903050405020204" pitchFamily="18" charset="0"/>
              </a:rPr>
              <a:t>em</a:t>
            </a:r>
            <a:r>
              <a:rPr lang="en-US" sz="900" dirty="0">
                <a:latin typeface="Montserrat" panose="00000500000000000000" pitchFamily="2" charset="0"/>
                <a:ea typeface="Source Serif Pro Black" panose="02040903050405020204" pitchFamily="18" charset="0"/>
              </a:rPr>
              <a:t> </a:t>
            </a:r>
            <a:r>
              <a:rPr lang="en-US" sz="900" b="1" dirty="0">
                <a:latin typeface="Montserrat" panose="00000500000000000000" pitchFamily="2" charset="0"/>
                <a:ea typeface="Source Serif Pro Black" panose="02040903050405020204" pitchFamily="18" charset="0"/>
              </a:rPr>
              <a:t>Trindade, Goiás</a:t>
            </a:r>
          </a:p>
          <a:p>
            <a:pPr marL="171450" indent="-171450"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900" dirty="0" err="1">
                <a:latin typeface="Montserrat" panose="00000500000000000000" pitchFamily="2" charset="0"/>
                <a:ea typeface="Source Serif Pro Black" panose="02040903050405020204" pitchFamily="18" charset="0"/>
              </a:rPr>
              <a:t>Fábrica</a:t>
            </a:r>
            <a:r>
              <a:rPr lang="en-US" sz="900" dirty="0">
                <a:latin typeface="Montserrat" panose="00000500000000000000" pitchFamily="2" charset="0"/>
                <a:ea typeface="Source Serif Pro Black" panose="02040903050405020204" pitchFamily="18" charset="0"/>
              </a:rPr>
              <a:t> </a:t>
            </a:r>
            <a:r>
              <a:rPr lang="en-US" sz="900" dirty="0" err="1">
                <a:latin typeface="Montserrat" panose="00000500000000000000" pitchFamily="2" charset="0"/>
                <a:ea typeface="Source Serif Pro Black" panose="02040903050405020204" pitchFamily="18" charset="0"/>
              </a:rPr>
              <a:t>situada</a:t>
            </a:r>
            <a:r>
              <a:rPr lang="en-US" sz="900" dirty="0">
                <a:latin typeface="Montserrat" panose="00000500000000000000" pitchFamily="2" charset="0"/>
                <a:ea typeface="Source Serif Pro Black" panose="02040903050405020204" pitchFamily="18" charset="0"/>
              </a:rPr>
              <a:t> </a:t>
            </a:r>
            <a:r>
              <a:rPr lang="en-US" sz="900" dirty="0" err="1">
                <a:latin typeface="Montserrat" panose="00000500000000000000" pitchFamily="2" charset="0"/>
                <a:ea typeface="Source Serif Pro Black" panose="02040903050405020204" pitchFamily="18" charset="0"/>
              </a:rPr>
              <a:t>na</a:t>
            </a:r>
            <a:r>
              <a:rPr lang="en-US" sz="900" dirty="0">
                <a:latin typeface="Montserrat" panose="00000500000000000000" pitchFamily="2" charset="0"/>
                <a:ea typeface="Source Serif Pro Black" panose="02040903050405020204" pitchFamily="18" charset="0"/>
              </a:rPr>
              <a:t> </a:t>
            </a:r>
            <a:r>
              <a:rPr lang="en-US" sz="900" b="1" dirty="0" err="1">
                <a:latin typeface="Montserrat" panose="00000500000000000000" pitchFamily="2" charset="0"/>
                <a:ea typeface="Source Serif Pro Black" panose="02040903050405020204" pitchFamily="18" charset="0"/>
              </a:rPr>
              <a:t>região</a:t>
            </a:r>
            <a:r>
              <a:rPr lang="en-US" sz="900" b="1" dirty="0">
                <a:latin typeface="Montserrat" panose="00000500000000000000" pitchFamily="2" charset="0"/>
                <a:ea typeface="Source Serif Pro Black" panose="02040903050405020204" pitchFamily="18" charset="0"/>
              </a:rPr>
              <a:t> central do </a:t>
            </a:r>
            <a:r>
              <a:rPr lang="en-US" sz="900" b="1" dirty="0" err="1">
                <a:latin typeface="Montserrat" panose="00000500000000000000" pitchFamily="2" charset="0"/>
                <a:ea typeface="Source Serif Pro Black" panose="02040903050405020204" pitchFamily="18" charset="0"/>
              </a:rPr>
              <a:t>Brasil</a:t>
            </a:r>
            <a:r>
              <a:rPr lang="en-US" sz="900" b="1" dirty="0">
                <a:latin typeface="Montserrat" panose="00000500000000000000" pitchFamily="2" charset="0"/>
                <a:ea typeface="Source Serif Pro Black" panose="02040903050405020204" pitchFamily="18" charset="0"/>
              </a:rPr>
              <a:t> </a:t>
            </a:r>
            <a:r>
              <a:rPr lang="en-US" sz="900" dirty="0" err="1">
                <a:latin typeface="Montserrat" panose="00000500000000000000" pitchFamily="2" charset="0"/>
                <a:ea typeface="Source Serif Pro Black" panose="02040903050405020204" pitchFamily="18" charset="0"/>
              </a:rPr>
              <a:t>corroborando</a:t>
            </a:r>
            <a:r>
              <a:rPr lang="en-US" sz="900" dirty="0">
                <a:latin typeface="Montserrat" panose="00000500000000000000" pitchFamily="2" charset="0"/>
                <a:ea typeface="Source Serif Pro Black" panose="02040903050405020204" pitchFamily="18" charset="0"/>
              </a:rPr>
              <a:t> para o</a:t>
            </a:r>
            <a:r>
              <a:rPr lang="en-US" sz="900" b="1" dirty="0">
                <a:latin typeface="Montserrat" panose="00000500000000000000" pitchFamily="2" charset="0"/>
                <a:ea typeface="Source Serif Pro Black" panose="02040903050405020204" pitchFamily="18" charset="0"/>
              </a:rPr>
              <a:t> </a:t>
            </a:r>
            <a:r>
              <a:rPr lang="en-US" sz="900" b="1" dirty="0" err="1">
                <a:latin typeface="Montserrat" panose="00000500000000000000" pitchFamily="2" charset="0"/>
                <a:ea typeface="Source Serif Pro Black" panose="02040903050405020204" pitchFamily="18" charset="0"/>
              </a:rPr>
              <a:t>abastecimento</a:t>
            </a:r>
            <a:r>
              <a:rPr lang="en-US" sz="900" b="1" dirty="0">
                <a:latin typeface="Montserrat" panose="00000500000000000000" pitchFamily="2" charset="0"/>
                <a:ea typeface="Source Serif Pro Black" panose="02040903050405020204" pitchFamily="18" charset="0"/>
              </a:rPr>
              <a:t> do mercado </a:t>
            </a:r>
            <a:r>
              <a:rPr lang="en-US" sz="900" b="1" dirty="0" err="1">
                <a:latin typeface="Montserrat" panose="00000500000000000000" pitchFamily="2" charset="0"/>
                <a:ea typeface="Source Serif Pro Black" panose="02040903050405020204" pitchFamily="18" charset="0"/>
              </a:rPr>
              <a:t>nacional</a:t>
            </a:r>
            <a:endParaRPr lang="en-US" sz="900" b="1" dirty="0">
              <a:latin typeface="Montserrat" panose="00000500000000000000" pitchFamily="2" charset="0"/>
              <a:ea typeface="Source Serif Pro Black" panose="02040903050405020204" pitchFamily="18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B3DE819-97D9-A5C0-23FE-5A926F1E437E}"/>
              </a:ext>
            </a:extLst>
          </p:cNvPr>
          <p:cNvGrpSpPr/>
          <p:nvPr/>
        </p:nvGrpSpPr>
        <p:grpSpPr>
          <a:xfrm>
            <a:off x="7493976" y="2155161"/>
            <a:ext cx="1324812" cy="522748"/>
            <a:chOff x="8088739" y="2068371"/>
            <a:chExt cx="1324812" cy="522748"/>
          </a:xfrm>
        </p:grpSpPr>
        <p:sp>
          <p:nvSpPr>
            <p:cNvPr id="1109" name="Retângulo 27">
              <a:extLst>
                <a:ext uri="{FF2B5EF4-FFF2-40B4-BE49-F238E27FC236}">
                  <a16:creationId xmlns:a16="http://schemas.microsoft.com/office/drawing/2014/main" id="{60F68536-E4D5-1371-9BEB-2B8CF57F7392}"/>
                </a:ext>
              </a:extLst>
            </p:cNvPr>
            <p:cNvSpPr/>
            <p:nvPr/>
          </p:nvSpPr>
          <p:spPr>
            <a:xfrm>
              <a:off x="8088741" y="2377352"/>
              <a:ext cx="987694" cy="213767"/>
            </a:xfrm>
            <a:prstGeom prst="rect">
              <a:avLst/>
            </a:prstGeom>
            <a:noFill/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t" anchorCtr="0">
              <a:spAutoFit/>
            </a:bodyPr>
            <a:lstStyle/>
            <a:p>
              <a:pPr>
                <a:lnSpc>
                  <a:spcPts val="1138"/>
                </a:lnSpc>
              </a:pPr>
              <a:r>
                <a:rPr lang="en-US" sz="900" dirty="0">
                  <a:solidFill>
                    <a:schemeClr val="tx1"/>
                  </a:solidFill>
                  <a:latin typeface="Montserrat Medium" pitchFamily="2" charset="0"/>
                  <a:ea typeface="Source Serif Pro Black" panose="02040903050405020204" pitchFamily="18" charset="0"/>
                </a:rPr>
                <a:t>de </a:t>
              </a:r>
              <a:r>
                <a:rPr lang="en-US" sz="900" dirty="0" err="1">
                  <a:solidFill>
                    <a:schemeClr val="tx1"/>
                  </a:solidFill>
                  <a:latin typeface="Montserrat Medium" pitchFamily="2" charset="0"/>
                  <a:ea typeface="Source Serif Pro Black" panose="02040903050405020204" pitchFamily="18" charset="0"/>
                </a:rPr>
                <a:t>área</a:t>
              </a:r>
              <a:r>
                <a:rPr lang="en-US" sz="900" dirty="0">
                  <a:solidFill>
                    <a:schemeClr val="tx1"/>
                  </a:solidFill>
                  <a:latin typeface="Montserrat Medium" pitchFamily="2" charset="0"/>
                  <a:ea typeface="Source Serif Pro Black" panose="02040903050405020204" pitchFamily="18" charset="0"/>
                </a:rPr>
                <a:t> total</a:t>
              </a:r>
            </a:p>
          </p:txBody>
        </p:sp>
        <p:sp>
          <p:nvSpPr>
            <p:cNvPr id="1110" name="Rectangle 1109">
              <a:extLst>
                <a:ext uri="{FF2B5EF4-FFF2-40B4-BE49-F238E27FC236}">
                  <a16:creationId xmlns:a16="http://schemas.microsoft.com/office/drawing/2014/main" id="{02A87BBE-A72A-39D6-9DDF-1BE37A202F6A}"/>
                </a:ext>
              </a:extLst>
            </p:cNvPr>
            <p:cNvSpPr/>
            <p:nvPr/>
          </p:nvSpPr>
          <p:spPr>
            <a:xfrm>
              <a:off x="8088739" y="2068371"/>
              <a:ext cx="1324812" cy="369332"/>
            </a:xfrm>
            <a:prstGeom prst="rect">
              <a:avLst/>
            </a:prstGeom>
            <a:effectLst/>
          </p:spPr>
          <p:txBody>
            <a:bodyPr wrap="square" lIns="0" tIns="0" rIns="0" bIns="0" anchor="b" anchorCtr="0">
              <a:spAutoFit/>
            </a:bodyPr>
            <a:lstStyle/>
            <a:p>
              <a:r>
                <a:rPr lang="en-US" sz="2400" b="1" dirty="0">
                  <a:solidFill>
                    <a:srgbClr val="AD6ABF"/>
                  </a:solidFill>
                  <a:latin typeface="Montserrat" panose="00000500000000000000" pitchFamily="2" charset="0"/>
                  <a:ea typeface="Source Serif Pro Black" panose="02040903050405020204" pitchFamily="18" charset="0"/>
                </a:rPr>
                <a:t>12.000</a:t>
              </a:r>
              <a:r>
                <a:rPr lang="en-US" sz="1400" b="1" dirty="0">
                  <a:solidFill>
                    <a:srgbClr val="AD6ABF"/>
                  </a:solidFill>
                  <a:latin typeface="Montserrat" panose="00000500000000000000" pitchFamily="2" charset="0"/>
                  <a:ea typeface="Source Serif Pro Black" panose="02040903050405020204" pitchFamily="18" charset="0"/>
                </a:rPr>
                <a:t>m²</a:t>
              </a:r>
            </a:p>
          </p:txBody>
        </p:sp>
      </p:grpSp>
      <p:sp>
        <p:nvSpPr>
          <p:cNvPr id="1114" name="Content Placeholder 6">
            <a:extLst>
              <a:ext uri="{FF2B5EF4-FFF2-40B4-BE49-F238E27FC236}">
                <a16:creationId xmlns:a16="http://schemas.microsoft.com/office/drawing/2014/main" id="{C686409A-AE0B-B21C-6559-7A765C1874B5}"/>
              </a:ext>
            </a:extLst>
          </p:cNvPr>
          <p:cNvSpPr txBox="1">
            <a:spLocks/>
          </p:cNvSpPr>
          <p:nvPr/>
        </p:nvSpPr>
        <p:spPr>
          <a:xfrm>
            <a:off x="7440348" y="1733743"/>
            <a:ext cx="3879043" cy="19037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1pPr>
            <a:lvl2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2pPr>
            <a:lvl3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Source Sans Pro" panose="020B0503030403020204" pitchFamily="34" charset="0"/>
              <a:buChar char="−"/>
              <a:defRPr sz="1200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kern="1200">
                <a:solidFill>
                  <a:schemeClr val="accent3"/>
                </a:solidFill>
                <a:latin typeface="Source Serif Pro Light" panose="02040303050405020204" pitchFamily="18" charset="0"/>
                <a:ea typeface="Source Serif Pro Light" panose="02040303050405020204" pitchFamily="18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/>
            <a:r>
              <a:rPr lang="pt-BR" dirty="0">
                <a:solidFill>
                  <a:schemeClr val="tx2"/>
                </a:solidFill>
                <a:latin typeface="Montserrat" panose="00000500000000000000" pitchFamily="2" charset="0"/>
                <a:cs typeface="Poppins" panose="00000500000000000000" pitchFamily="2" charset="0"/>
              </a:rPr>
              <a:t>Planta moderna com capacidade de expansão</a:t>
            </a:r>
            <a:endParaRPr lang="en-US" dirty="0">
              <a:solidFill>
                <a:schemeClr val="tx2"/>
              </a:solidFill>
              <a:latin typeface="Montserrat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1180218-F143-2978-62D0-4A18930A6F10}"/>
              </a:ext>
            </a:extLst>
          </p:cNvPr>
          <p:cNvGrpSpPr/>
          <p:nvPr/>
        </p:nvGrpSpPr>
        <p:grpSpPr>
          <a:xfrm>
            <a:off x="9122586" y="2155161"/>
            <a:ext cx="1324812" cy="516016"/>
            <a:chOff x="9482110" y="2068371"/>
            <a:chExt cx="1324812" cy="516016"/>
          </a:xfrm>
        </p:grpSpPr>
        <p:sp>
          <p:nvSpPr>
            <p:cNvPr id="1140" name="Retângulo 27">
              <a:extLst>
                <a:ext uri="{FF2B5EF4-FFF2-40B4-BE49-F238E27FC236}">
                  <a16:creationId xmlns:a16="http://schemas.microsoft.com/office/drawing/2014/main" id="{AC9AFEEF-6B42-31AA-053B-D5E413DFF9D0}"/>
                </a:ext>
              </a:extLst>
            </p:cNvPr>
            <p:cNvSpPr/>
            <p:nvPr/>
          </p:nvSpPr>
          <p:spPr>
            <a:xfrm>
              <a:off x="9482112" y="2377352"/>
              <a:ext cx="1196876" cy="207035"/>
            </a:xfrm>
            <a:prstGeom prst="rect">
              <a:avLst/>
            </a:prstGeom>
            <a:noFill/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t" anchorCtr="0">
              <a:spAutoFit/>
            </a:bodyPr>
            <a:lstStyle/>
            <a:p>
              <a:pPr>
                <a:lnSpc>
                  <a:spcPts val="1138"/>
                </a:lnSpc>
              </a:pPr>
              <a:r>
                <a:rPr lang="en-US" sz="900" dirty="0">
                  <a:solidFill>
                    <a:schemeClr val="tx1"/>
                  </a:solidFill>
                  <a:latin typeface="Montserrat Medium" pitchFamily="2" charset="0"/>
                  <a:ea typeface="Source Serif Pro Black" panose="02040903050405020204" pitchFamily="18" charset="0"/>
                </a:rPr>
                <a:t>de </a:t>
              </a:r>
              <a:r>
                <a:rPr lang="en-US" sz="900" dirty="0" err="1">
                  <a:solidFill>
                    <a:schemeClr val="tx1"/>
                  </a:solidFill>
                  <a:latin typeface="Montserrat Medium" pitchFamily="2" charset="0"/>
                  <a:ea typeface="Source Serif Pro Black" panose="02040903050405020204" pitchFamily="18" charset="0"/>
                </a:rPr>
                <a:t>área</a:t>
              </a:r>
              <a:r>
                <a:rPr lang="en-US" sz="900" dirty="0">
                  <a:solidFill>
                    <a:schemeClr val="tx1"/>
                  </a:solidFill>
                  <a:latin typeface="Montserrat Medium" pitchFamily="2" charset="0"/>
                  <a:ea typeface="Source Serif Pro Black" panose="02040903050405020204" pitchFamily="18" charset="0"/>
                </a:rPr>
                <a:t> </a:t>
              </a:r>
              <a:r>
                <a:rPr lang="en-US" sz="900" dirty="0" err="1">
                  <a:solidFill>
                    <a:schemeClr val="tx1"/>
                  </a:solidFill>
                  <a:latin typeface="Montserrat Medium" pitchFamily="2" charset="0"/>
                  <a:ea typeface="Source Serif Pro Black" panose="02040903050405020204" pitchFamily="18" charset="0"/>
                </a:rPr>
                <a:t>construída</a:t>
              </a:r>
              <a:endParaRPr lang="en-US" sz="900" dirty="0">
                <a:solidFill>
                  <a:schemeClr val="tx1"/>
                </a:solidFill>
                <a:latin typeface="Montserrat Medium" pitchFamily="2" charset="0"/>
                <a:ea typeface="Source Serif Pro Black" panose="02040903050405020204" pitchFamily="18" charset="0"/>
              </a:endParaRPr>
            </a:p>
          </p:txBody>
        </p:sp>
        <p:sp>
          <p:nvSpPr>
            <p:cNvPr id="1141" name="Rectangle 1140">
              <a:extLst>
                <a:ext uri="{FF2B5EF4-FFF2-40B4-BE49-F238E27FC236}">
                  <a16:creationId xmlns:a16="http://schemas.microsoft.com/office/drawing/2014/main" id="{33EC910D-D2A1-C2F0-6184-88C51C895792}"/>
                </a:ext>
              </a:extLst>
            </p:cNvPr>
            <p:cNvSpPr/>
            <p:nvPr/>
          </p:nvSpPr>
          <p:spPr>
            <a:xfrm>
              <a:off x="9482110" y="2068371"/>
              <a:ext cx="1324812" cy="369332"/>
            </a:xfrm>
            <a:prstGeom prst="rect">
              <a:avLst/>
            </a:prstGeom>
            <a:effectLst/>
          </p:spPr>
          <p:txBody>
            <a:bodyPr wrap="square" lIns="0" tIns="0" rIns="0" bIns="0" anchor="b" anchorCtr="0">
              <a:spAutoFit/>
            </a:bodyPr>
            <a:lstStyle/>
            <a:p>
              <a:r>
                <a:rPr lang="en-US" sz="2400" b="1" dirty="0">
                  <a:solidFill>
                    <a:srgbClr val="AD6ABF"/>
                  </a:solidFill>
                  <a:latin typeface="Montserrat" panose="00000500000000000000" pitchFamily="2" charset="0"/>
                  <a:ea typeface="Source Serif Pro Black" panose="02040903050405020204" pitchFamily="18" charset="0"/>
                </a:rPr>
                <a:t>5.500</a:t>
              </a:r>
              <a:r>
                <a:rPr lang="en-US" sz="1400" b="1" dirty="0">
                  <a:solidFill>
                    <a:srgbClr val="AD6ABF"/>
                  </a:solidFill>
                  <a:latin typeface="Montserrat" panose="00000500000000000000" pitchFamily="2" charset="0"/>
                  <a:ea typeface="Source Serif Pro Black" panose="02040903050405020204" pitchFamily="18" charset="0"/>
                </a:rPr>
                <a:t>m²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E5EBFA1-1CCD-6927-A235-A24AF85FC6BC}"/>
              </a:ext>
            </a:extLst>
          </p:cNvPr>
          <p:cNvGrpSpPr/>
          <p:nvPr/>
        </p:nvGrpSpPr>
        <p:grpSpPr>
          <a:xfrm>
            <a:off x="10751196" y="2155161"/>
            <a:ext cx="960513" cy="663813"/>
            <a:chOff x="10751196" y="2068371"/>
            <a:chExt cx="960513" cy="663813"/>
          </a:xfrm>
        </p:grpSpPr>
        <p:sp>
          <p:nvSpPr>
            <p:cNvPr id="1143" name="Retângulo 27">
              <a:extLst>
                <a:ext uri="{FF2B5EF4-FFF2-40B4-BE49-F238E27FC236}">
                  <a16:creationId xmlns:a16="http://schemas.microsoft.com/office/drawing/2014/main" id="{E5C4C196-4D35-FBCD-8BA8-E67419C5EC5C}"/>
                </a:ext>
              </a:extLst>
            </p:cNvPr>
            <p:cNvSpPr/>
            <p:nvPr/>
          </p:nvSpPr>
          <p:spPr>
            <a:xfrm>
              <a:off x="10751198" y="2377352"/>
              <a:ext cx="868147" cy="354832"/>
            </a:xfrm>
            <a:prstGeom prst="rect">
              <a:avLst/>
            </a:prstGeom>
            <a:noFill/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t" anchorCtr="0">
              <a:spAutoFit/>
            </a:bodyPr>
            <a:lstStyle/>
            <a:p>
              <a:pPr>
                <a:lnSpc>
                  <a:spcPts val="1138"/>
                </a:lnSpc>
              </a:pPr>
              <a:r>
                <a:rPr lang="en-US" sz="900" dirty="0">
                  <a:solidFill>
                    <a:schemeClr val="tx1"/>
                  </a:solidFill>
                  <a:latin typeface="Montserrat Medium" pitchFamily="2" charset="0"/>
                  <a:ea typeface="Source Serif Pro Black" panose="02040903050405020204" pitchFamily="18" charset="0"/>
                </a:rPr>
                <a:t>de </a:t>
              </a:r>
              <a:r>
                <a:rPr lang="en-US" sz="900" dirty="0" err="1">
                  <a:solidFill>
                    <a:schemeClr val="tx1"/>
                  </a:solidFill>
                  <a:latin typeface="Montserrat Medium" pitchFamily="2" charset="0"/>
                  <a:ea typeface="Source Serif Pro Black" panose="02040903050405020204" pitchFamily="18" charset="0"/>
                </a:rPr>
                <a:t>potencial</a:t>
              </a:r>
              <a:r>
                <a:rPr lang="en-US" sz="900" dirty="0">
                  <a:solidFill>
                    <a:schemeClr val="tx1"/>
                  </a:solidFill>
                  <a:latin typeface="Montserrat Medium" pitchFamily="2" charset="0"/>
                  <a:ea typeface="Source Serif Pro Black" panose="02040903050405020204" pitchFamily="18" charset="0"/>
                </a:rPr>
                <a:t>                     de </a:t>
              </a:r>
              <a:r>
                <a:rPr lang="en-US" sz="900" dirty="0" err="1">
                  <a:solidFill>
                    <a:schemeClr val="tx1"/>
                  </a:solidFill>
                  <a:latin typeface="Montserrat Medium" pitchFamily="2" charset="0"/>
                  <a:ea typeface="Source Serif Pro Black" panose="02040903050405020204" pitchFamily="18" charset="0"/>
                </a:rPr>
                <a:t>expansão</a:t>
              </a:r>
              <a:endParaRPr lang="en-US" sz="900" dirty="0">
                <a:solidFill>
                  <a:schemeClr val="tx1"/>
                </a:solidFill>
                <a:latin typeface="Montserrat Medium" pitchFamily="2" charset="0"/>
                <a:ea typeface="Source Serif Pro Black" panose="02040903050405020204" pitchFamily="18" charset="0"/>
              </a:endParaRPr>
            </a:p>
          </p:txBody>
        </p:sp>
        <p:sp>
          <p:nvSpPr>
            <p:cNvPr id="1144" name="Rectangle 1143">
              <a:extLst>
                <a:ext uri="{FF2B5EF4-FFF2-40B4-BE49-F238E27FC236}">
                  <a16:creationId xmlns:a16="http://schemas.microsoft.com/office/drawing/2014/main" id="{E71F88EF-0991-E7BC-CA19-047D7D9F0DF4}"/>
                </a:ext>
              </a:extLst>
            </p:cNvPr>
            <p:cNvSpPr/>
            <p:nvPr/>
          </p:nvSpPr>
          <p:spPr>
            <a:xfrm>
              <a:off x="10751196" y="2068371"/>
              <a:ext cx="960513" cy="369332"/>
            </a:xfrm>
            <a:prstGeom prst="rect">
              <a:avLst/>
            </a:prstGeom>
            <a:effectLst/>
          </p:spPr>
          <p:txBody>
            <a:bodyPr wrap="square" lIns="0" tIns="0" rIns="0" bIns="0" anchor="b" anchorCtr="0">
              <a:spAutoFit/>
            </a:bodyPr>
            <a:lstStyle/>
            <a:p>
              <a:r>
                <a:rPr lang="en-US" sz="2400" b="1" dirty="0">
                  <a:solidFill>
                    <a:srgbClr val="AD6ABF"/>
                  </a:solidFill>
                  <a:latin typeface="Montserrat" panose="00000500000000000000" pitchFamily="2" charset="0"/>
                  <a:ea typeface="Source Serif Pro Black" panose="02040903050405020204" pitchFamily="18" charset="0"/>
                </a:rPr>
                <a:t>600</a:t>
              </a:r>
              <a:r>
                <a:rPr lang="en-US" sz="1400" b="1" dirty="0">
                  <a:solidFill>
                    <a:srgbClr val="AD6ABF"/>
                  </a:solidFill>
                  <a:latin typeface="Montserrat" panose="00000500000000000000" pitchFamily="2" charset="0"/>
                  <a:ea typeface="Source Serif Pro Black" panose="02040903050405020204" pitchFamily="18" charset="0"/>
                </a:rPr>
                <a:t>m²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5938A9C-A93A-B071-97C2-583524165297}"/>
              </a:ext>
            </a:extLst>
          </p:cNvPr>
          <p:cNvGrpSpPr/>
          <p:nvPr/>
        </p:nvGrpSpPr>
        <p:grpSpPr>
          <a:xfrm>
            <a:off x="7493976" y="3848624"/>
            <a:ext cx="1324812" cy="522748"/>
            <a:chOff x="8088739" y="3646740"/>
            <a:chExt cx="1324812" cy="522748"/>
          </a:xfrm>
        </p:grpSpPr>
        <p:sp>
          <p:nvSpPr>
            <p:cNvPr id="1146" name="Retângulo 27">
              <a:extLst>
                <a:ext uri="{FF2B5EF4-FFF2-40B4-BE49-F238E27FC236}">
                  <a16:creationId xmlns:a16="http://schemas.microsoft.com/office/drawing/2014/main" id="{70F39097-1941-9A07-504E-98D82448BA39}"/>
                </a:ext>
              </a:extLst>
            </p:cNvPr>
            <p:cNvSpPr/>
            <p:nvPr/>
          </p:nvSpPr>
          <p:spPr>
            <a:xfrm>
              <a:off x="8088741" y="3955721"/>
              <a:ext cx="1121934" cy="213767"/>
            </a:xfrm>
            <a:prstGeom prst="rect">
              <a:avLst/>
            </a:prstGeom>
            <a:noFill/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t" anchorCtr="0">
              <a:spAutoFit/>
            </a:bodyPr>
            <a:lstStyle/>
            <a:p>
              <a:pPr>
                <a:lnSpc>
                  <a:spcPts val="1138"/>
                </a:lnSpc>
              </a:pPr>
              <a:r>
                <a:rPr lang="en-US" sz="900" dirty="0" err="1">
                  <a:solidFill>
                    <a:schemeClr val="tx1"/>
                  </a:solidFill>
                  <a:latin typeface="Montserrat Medium" pitchFamily="2" charset="0"/>
                  <a:ea typeface="Source Serif Pro Black" panose="02040903050405020204" pitchFamily="18" charset="0"/>
                </a:rPr>
                <a:t>unidades</a:t>
              </a:r>
              <a:r>
                <a:rPr lang="en-US" sz="900" dirty="0">
                  <a:solidFill>
                    <a:schemeClr val="tx1"/>
                  </a:solidFill>
                  <a:latin typeface="Montserrat Medium" pitchFamily="2" charset="0"/>
                  <a:ea typeface="Source Serif Pro Black" panose="02040903050405020204" pitchFamily="18" charset="0"/>
                </a:rPr>
                <a:t>/</a:t>
              </a:r>
              <a:r>
                <a:rPr lang="en-US" sz="900" dirty="0" err="1">
                  <a:solidFill>
                    <a:schemeClr val="tx1"/>
                  </a:solidFill>
                  <a:latin typeface="Montserrat Medium" pitchFamily="2" charset="0"/>
                  <a:ea typeface="Source Serif Pro Black" panose="02040903050405020204" pitchFamily="18" charset="0"/>
                </a:rPr>
                <a:t>mês</a:t>
              </a:r>
              <a:endParaRPr lang="en-US" sz="900" dirty="0">
                <a:solidFill>
                  <a:schemeClr val="tx1"/>
                </a:solidFill>
                <a:latin typeface="Montserrat Medium" pitchFamily="2" charset="0"/>
                <a:ea typeface="Source Serif Pro Black" panose="02040903050405020204" pitchFamily="18" charset="0"/>
              </a:endParaRPr>
            </a:p>
          </p:txBody>
        </p:sp>
        <p:sp>
          <p:nvSpPr>
            <p:cNvPr id="1147" name="Rectangle 1146">
              <a:extLst>
                <a:ext uri="{FF2B5EF4-FFF2-40B4-BE49-F238E27FC236}">
                  <a16:creationId xmlns:a16="http://schemas.microsoft.com/office/drawing/2014/main" id="{BD660D3E-AB88-C105-D1EB-951EE11928B1}"/>
                </a:ext>
              </a:extLst>
            </p:cNvPr>
            <p:cNvSpPr/>
            <p:nvPr/>
          </p:nvSpPr>
          <p:spPr>
            <a:xfrm>
              <a:off x="8088739" y="3646740"/>
              <a:ext cx="1324812" cy="369332"/>
            </a:xfrm>
            <a:prstGeom prst="rect">
              <a:avLst/>
            </a:prstGeom>
            <a:effectLst/>
          </p:spPr>
          <p:txBody>
            <a:bodyPr wrap="square" lIns="0" tIns="0" rIns="0" bIns="0" anchor="b" anchorCtr="0">
              <a:spAutoFit/>
            </a:bodyPr>
            <a:lstStyle/>
            <a:p>
              <a:r>
                <a:rPr lang="en-US" sz="2400" b="1" dirty="0">
                  <a:solidFill>
                    <a:srgbClr val="AD6ABF"/>
                  </a:solidFill>
                  <a:latin typeface="Montserrat" panose="00000500000000000000" pitchFamily="2" charset="0"/>
                  <a:ea typeface="Source Serif Pro Black" panose="02040903050405020204" pitchFamily="18" charset="0"/>
                </a:rPr>
                <a:t>+1M</a:t>
              </a:r>
              <a:endParaRPr lang="en-US" sz="1400" b="1" dirty="0">
                <a:solidFill>
                  <a:srgbClr val="AD6ABF"/>
                </a:solidFill>
                <a:latin typeface="Montserrat" panose="00000500000000000000" pitchFamily="2" charset="0"/>
                <a:ea typeface="Source Serif Pro Black" panose="02040903050405020204" pitchFamily="18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C5D3A50-56DF-11CD-F26D-767CAFAB3C20}"/>
              </a:ext>
            </a:extLst>
          </p:cNvPr>
          <p:cNvGrpSpPr/>
          <p:nvPr/>
        </p:nvGrpSpPr>
        <p:grpSpPr>
          <a:xfrm>
            <a:off x="9186553" y="3848624"/>
            <a:ext cx="1196878" cy="522748"/>
            <a:chOff x="9482110" y="3646740"/>
            <a:chExt cx="1196878" cy="522748"/>
          </a:xfrm>
        </p:grpSpPr>
        <p:sp>
          <p:nvSpPr>
            <p:cNvPr id="1149" name="Retângulo 27">
              <a:extLst>
                <a:ext uri="{FF2B5EF4-FFF2-40B4-BE49-F238E27FC236}">
                  <a16:creationId xmlns:a16="http://schemas.microsoft.com/office/drawing/2014/main" id="{6CA7A89F-4273-9ABF-5462-1C519A46D348}"/>
                </a:ext>
              </a:extLst>
            </p:cNvPr>
            <p:cNvSpPr/>
            <p:nvPr/>
          </p:nvSpPr>
          <p:spPr>
            <a:xfrm>
              <a:off x="9482112" y="3955721"/>
              <a:ext cx="1196876" cy="213767"/>
            </a:xfrm>
            <a:prstGeom prst="rect">
              <a:avLst/>
            </a:prstGeom>
            <a:noFill/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t" anchorCtr="0">
              <a:spAutoFit/>
            </a:bodyPr>
            <a:lstStyle/>
            <a:p>
              <a:pPr>
                <a:lnSpc>
                  <a:spcPts val="1138"/>
                </a:lnSpc>
              </a:pPr>
              <a:r>
                <a:rPr lang="en-US" sz="900" dirty="0" err="1">
                  <a:solidFill>
                    <a:schemeClr val="tx1"/>
                  </a:solidFill>
                  <a:latin typeface="Montserrat Medium" pitchFamily="2" charset="0"/>
                  <a:ea typeface="Source Serif Pro Black" panose="02040903050405020204" pitchFamily="18" charset="0"/>
                </a:rPr>
                <a:t>toneladas</a:t>
              </a:r>
              <a:r>
                <a:rPr lang="en-US" sz="900" dirty="0">
                  <a:solidFill>
                    <a:schemeClr val="tx1"/>
                  </a:solidFill>
                  <a:latin typeface="Montserrat Medium" pitchFamily="2" charset="0"/>
                  <a:ea typeface="Source Serif Pro Black" panose="02040903050405020204" pitchFamily="18" charset="0"/>
                </a:rPr>
                <a:t>/</a:t>
              </a:r>
              <a:r>
                <a:rPr lang="en-US" sz="900" dirty="0" err="1">
                  <a:solidFill>
                    <a:schemeClr val="tx1"/>
                  </a:solidFill>
                  <a:latin typeface="Montserrat Medium" pitchFamily="2" charset="0"/>
                  <a:ea typeface="Source Serif Pro Black" panose="02040903050405020204" pitchFamily="18" charset="0"/>
                </a:rPr>
                <a:t>mês</a:t>
              </a:r>
              <a:endParaRPr lang="en-US" sz="900" dirty="0">
                <a:solidFill>
                  <a:schemeClr val="tx1"/>
                </a:solidFill>
                <a:latin typeface="Montserrat Medium" pitchFamily="2" charset="0"/>
                <a:ea typeface="Source Serif Pro Black" panose="02040903050405020204" pitchFamily="18" charset="0"/>
              </a:endParaRPr>
            </a:p>
          </p:txBody>
        </p:sp>
        <p:sp>
          <p:nvSpPr>
            <p:cNvPr id="1150" name="Rectangle 1149">
              <a:extLst>
                <a:ext uri="{FF2B5EF4-FFF2-40B4-BE49-F238E27FC236}">
                  <a16:creationId xmlns:a16="http://schemas.microsoft.com/office/drawing/2014/main" id="{B9D4BF45-8FB5-DE50-6D36-0334E3AE7E8B}"/>
                </a:ext>
              </a:extLst>
            </p:cNvPr>
            <p:cNvSpPr/>
            <p:nvPr/>
          </p:nvSpPr>
          <p:spPr>
            <a:xfrm>
              <a:off x="9482110" y="3646740"/>
              <a:ext cx="707853" cy="369332"/>
            </a:xfrm>
            <a:prstGeom prst="rect">
              <a:avLst/>
            </a:prstGeom>
            <a:effectLst/>
          </p:spPr>
          <p:txBody>
            <a:bodyPr wrap="square" lIns="0" tIns="0" rIns="0" bIns="0" anchor="b" anchorCtr="0">
              <a:spAutoFit/>
            </a:bodyPr>
            <a:lstStyle/>
            <a:p>
              <a:r>
                <a:rPr lang="en-US" sz="2400" b="1" dirty="0">
                  <a:solidFill>
                    <a:srgbClr val="AD6ABF"/>
                  </a:solidFill>
                  <a:latin typeface="Montserrat" panose="00000500000000000000" pitchFamily="2" charset="0"/>
                  <a:ea typeface="Source Serif Pro Black" panose="02040903050405020204" pitchFamily="18" charset="0"/>
                </a:rPr>
                <a:t>646</a:t>
              </a:r>
              <a:endParaRPr lang="en-US" sz="1400" b="1" dirty="0">
                <a:solidFill>
                  <a:srgbClr val="AD6ABF"/>
                </a:solidFill>
                <a:latin typeface="Montserrat" panose="00000500000000000000" pitchFamily="2" charset="0"/>
                <a:ea typeface="Source Serif Pro Black" panose="02040903050405020204" pitchFamily="18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13DFACE-B5C1-35BC-3779-AE4D7C557E2B}"/>
              </a:ext>
            </a:extLst>
          </p:cNvPr>
          <p:cNvGrpSpPr/>
          <p:nvPr/>
        </p:nvGrpSpPr>
        <p:grpSpPr>
          <a:xfrm>
            <a:off x="10751196" y="3848624"/>
            <a:ext cx="960513" cy="663813"/>
            <a:chOff x="10751196" y="3646740"/>
            <a:chExt cx="960513" cy="663813"/>
          </a:xfrm>
        </p:grpSpPr>
        <p:sp>
          <p:nvSpPr>
            <p:cNvPr id="1152" name="Retângulo 27">
              <a:extLst>
                <a:ext uri="{FF2B5EF4-FFF2-40B4-BE49-F238E27FC236}">
                  <a16:creationId xmlns:a16="http://schemas.microsoft.com/office/drawing/2014/main" id="{7EADD5EB-7A26-D050-7DEF-64791CB9AC1D}"/>
                </a:ext>
              </a:extLst>
            </p:cNvPr>
            <p:cNvSpPr/>
            <p:nvPr/>
          </p:nvSpPr>
          <p:spPr>
            <a:xfrm>
              <a:off x="10751198" y="3955721"/>
              <a:ext cx="960511" cy="354832"/>
            </a:xfrm>
            <a:prstGeom prst="rect">
              <a:avLst/>
            </a:prstGeom>
            <a:noFill/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t" anchorCtr="0">
              <a:spAutoFit/>
            </a:bodyPr>
            <a:lstStyle/>
            <a:p>
              <a:pPr>
                <a:lnSpc>
                  <a:spcPts val="1138"/>
                </a:lnSpc>
              </a:pPr>
              <a:r>
                <a:rPr lang="en-US" sz="900" dirty="0">
                  <a:solidFill>
                    <a:schemeClr val="tx1"/>
                  </a:solidFill>
                  <a:latin typeface="Montserrat Medium" pitchFamily="2" charset="0"/>
                  <a:ea typeface="Source Serif Pro Black" panose="02040903050405020204" pitchFamily="18" charset="0"/>
                </a:rPr>
                <a:t>de </a:t>
              </a:r>
              <a:r>
                <a:rPr lang="en-US" sz="900" dirty="0" err="1">
                  <a:solidFill>
                    <a:schemeClr val="tx1"/>
                  </a:solidFill>
                  <a:latin typeface="Montserrat Medium" pitchFamily="2" charset="0"/>
                  <a:ea typeface="Source Serif Pro Black" panose="02040903050405020204" pitchFamily="18" charset="0"/>
                </a:rPr>
                <a:t>capacidade</a:t>
              </a:r>
              <a:r>
                <a:rPr lang="en-US" sz="900" dirty="0">
                  <a:solidFill>
                    <a:schemeClr val="tx1"/>
                  </a:solidFill>
                  <a:latin typeface="Montserrat Medium" pitchFamily="2" charset="0"/>
                  <a:ea typeface="Source Serif Pro Black" panose="02040903050405020204" pitchFamily="18" charset="0"/>
                </a:rPr>
                <a:t> </a:t>
              </a:r>
              <a:r>
                <a:rPr lang="en-US" sz="900" dirty="0" err="1">
                  <a:solidFill>
                    <a:schemeClr val="tx1"/>
                  </a:solidFill>
                  <a:latin typeface="Montserrat Medium" pitchFamily="2" charset="0"/>
                  <a:ea typeface="Source Serif Pro Black" panose="02040903050405020204" pitchFamily="18" charset="0"/>
                </a:rPr>
                <a:t>utilizada</a:t>
              </a:r>
              <a:endParaRPr lang="en-US" sz="900" dirty="0">
                <a:solidFill>
                  <a:schemeClr val="tx1"/>
                </a:solidFill>
                <a:latin typeface="Montserrat Medium" pitchFamily="2" charset="0"/>
                <a:ea typeface="Source Serif Pro Black" panose="02040903050405020204" pitchFamily="18" charset="0"/>
              </a:endParaRPr>
            </a:p>
          </p:txBody>
        </p:sp>
        <p:sp>
          <p:nvSpPr>
            <p:cNvPr id="1153" name="Rectangle 1152">
              <a:extLst>
                <a:ext uri="{FF2B5EF4-FFF2-40B4-BE49-F238E27FC236}">
                  <a16:creationId xmlns:a16="http://schemas.microsoft.com/office/drawing/2014/main" id="{FF8B6586-AED2-6591-EC1B-181B7817ED35}"/>
                </a:ext>
              </a:extLst>
            </p:cNvPr>
            <p:cNvSpPr/>
            <p:nvPr/>
          </p:nvSpPr>
          <p:spPr>
            <a:xfrm>
              <a:off x="10751196" y="3646740"/>
              <a:ext cx="621823" cy="369332"/>
            </a:xfrm>
            <a:prstGeom prst="rect">
              <a:avLst/>
            </a:prstGeom>
            <a:effectLst/>
          </p:spPr>
          <p:txBody>
            <a:bodyPr wrap="square" lIns="0" tIns="0" rIns="0" bIns="0" anchor="b" anchorCtr="0">
              <a:spAutoFit/>
            </a:bodyPr>
            <a:lstStyle/>
            <a:p>
              <a:r>
                <a:rPr lang="en-US" sz="2400" b="1" dirty="0">
                  <a:solidFill>
                    <a:srgbClr val="AD6ABF"/>
                  </a:solidFill>
                  <a:latin typeface="Montserrat" panose="00000500000000000000" pitchFamily="2" charset="0"/>
                  <a:ea typeface="Source Serif Pro Black" panose="02040903050405020204" pitchFamily="18" charset="0"/>
                </a:rPr>
                <a:t>70</a:t>
              </a:r>
              <a:r>
                <a:rPr lang="en-US" sz="1400" b="1" dirty="0">
                  <a:solidFill>
                    <a:srgbClr val="AD6ABF"/>
                  </a:solidFill>
                  <a:latin typeface="Montserrat" panose="00000500000000000000" pitchFamily="2" charset="0"/>
                  <a:ea typeface="Source Serif Pro Black" panose="02040903050405020204" pitchFamily="18" charset="0"/>
                </a:rPr>
                <a:t>%</a:t>
              </a:r>
            </a:p>
          </p:txBody>
        </p:sp>
      </p:grpSp>
      <p:sp>
        <p:nvSpPr>
          <p:cNvPr id="1154" name="Content Placeholder 6">
            <a:extLst>
              <a:ext uri="{FF2B5EF4-FFF2-40B4-BE49-F238E27FC236}">
                <a16:creationId xmlns:a16="http://schemas.microsoft.com/office/drawing/2014/main" id="{A6578EB6-D06A-D560-E1DA-C045E65323F1}"/>
              </a:ext>
            </a:extLst>
          </p:cNvPr>
          <p:cNvSpPr txBox="1">
            <a:spLocks/>
          </p:cNvSpPr>
          <p:nvPr/>
        </p:nvSpPr>
        <p:spPr>
          <a:xfrm>
            <a:off x="7440348" y="3262856"/>
            <a:ext cx="4340837" cy="39350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1pPr>
            <a:lvl2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2pPr>
            <a:lvl3pPr marL="108000" indent="-108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Source Sans Pro" panose="020B0503030403020204" pitchFamily="34" charset="0"/>
              <a:buChar char="−"/>
              <a:defRPr sz="1200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kern="1200">
                <a:solidFill>
                  <a:schemeClr val="accent3"/>
                </a:solidFill>
                <a:latin typeface="Source Serif Pro Light" panose="02040303050405020204" pitchFamily="18" charset="0"/>
                <a:ea typeface="Source Serif Pro Light" panose="02040303050405020204" pitchFamily="18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/>
            <a:r>
              <a:rPr lang="pt-BR" dirty="0">
                <a:solidFill>
                  <a:schemeClr val="tx2"/>
                </a:solidFill>
                <a:latin typeface="Montserrat" panose="00000500000000000000" pitchFamily="2" charset="0"/>
                <a:cs typeface="Poppins" panose="00000500000000000000" pitchFamily="2" charset="0"/>
              </a:rPr>
              <a:t>Apenas 70% da capacidade produtiva sendo utilizada, com espaço para mais dois turnos adicionais</a:t>
            </a:r>
            <a:endParaRPr lang="en-US" dirty="0">
              <a:solidFill>
                <a:schemeClr val="tx2"/>
              </a:solidFill>
              <a:latin typeface="Montserrat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56" name="Rectangle 1155">
            <a:extLst>
              <a:ext uri="{FF2B5EF4-FFF2-40B4-BE49-F238E27FC236}">
                <a16:creationId xmlns:a16="http://schemas.microsoft.com/office/drawing/2014/main" id="{424715A5-BD04-FDBF-896F-842726D4A7BF}"/>
              </a:ext>
            </a:extLst>
          </p:cNvPr>
          <p:cNvSpPr/>
          <p:nvPr/>
        </p:nvSpPr>
        <p:spPr>
          <a:xfrm>
            <a:off x="7004951" y="5124186"/>
            <a:ext cx="5185669" cy="60016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buClr>
                <a:srgbClr val="222F44"/>
              </a:buClr>
            </a:pPr>
            <a:r>
              <a:rPr lang="pt-BR" sz="1100" dirty="0">
                <a:solidFill>
                  <a:schemeClr val="bg1"/>
                </a:solidFill>
                <a:latin typeface="Montserrat Medium" pitchFamily="2" charset="0"/>
                <a:ea typeface="Source Serif Pro Black" panose="02040903050405020204" pitchFamily="18" charset="0"/>
              </a:rPr>
              <a:t>Todo maquinário passou por atualizações significativas </a:t>
            </a:r>
          </a:p>
          <a:p>
            <a:pPr algn="ctr">
              <a:buClr>
                <a:srgbClr val="222F44"/>
              </a:buClr>
            </a:pPr>
            <a:r>
              <a:rPr lang="pt-BR" sz="1100" dirty="0">
                <a:solidFill>
                  <a:schemeClr val="bg1"/>
                </a:solidFill>
                <a:latin typeface="Montserrat Medium" pitchFamily="2" charset="0"/>
                <a:ea typeface="Source Serif Pro Black" panose="02040903050405020204" pitchFamily="18" charset="0"/>
              </a:rPr>
              <a:t>nas partes mecânica e eletrônica, possibilitando realizar </a:t>
            </a:r>
          </a:p>
          <a:p>
            <a:pPr algn="ctr">
              <a:buClr>
                <a:srgbClr val="222F44"/>
              </a:buClr>
            </a:pPr>
            <a:r>
              <a:rPr lang="pt-BR" sz="1100" dirty="0">
                <a:solidFill>
                  <a:schemeClr val="bg1"/>
                </a:solidFill>
                <a:latin typeface="Montserrat Medium" pitchFamily="2" charset="0"/>
                <a:ea typeface="Source Serif Pro Black" panose="02040903050405020204" pitchFamily="18" charset="0"/>
              </a:rPr>
              <a:t>manutenções preditivas e preventivas com eficácia</a:t>
            </a:r>
            <a:endParaRPr lang="en-US" sz="1100" dirty="0">
              <a:solidFill>
                <a:schemeClr val="bg1"/>
              </a:solidFill>
              <a:latin typeface="Montserrat Medium" pitchFamily="2" charset="0"/>
              <a:ea typeface="Source Serif Pro Black" panose="02040903050405020204" pitchFamily="18" charset="0"/>
            </a:endParaRPr>
          </a:p>
        </p:txBody>
      </p:sp>
      <p:grpSp>
        <p:nvGrpSpPr>
          <p:cNvPr id="1137" name="Group 1136">
            <a:extLst>
              <a:ext uri="{FF2B5EF4-FFF2-40B4-BE49-F238E27FC236}">
                <a16:creationId xmlns:a16="http://schemas.microsoft.com/office/drawing/2014/main" id="{DEC55C63-6240-F985-0D82-65A3CFCA0471}"/>
              </a:ext>
            </a:extLst>
          </p:cNvPr>
          <p:cNvGrpSpPr/>
          <p:nvPr/>
        </p:nvGrpSpPr>
        <p:grpSpPr>
          <a:xfrm>
            <a:off x="1380" y="1449388"/>
            <a:ext cx="2342220" cy="4535488"/>
            <a:chOff x="4509431" y="1640531"/>
            <a:chExt cx="3222479" cy="4303524"/>
          </a:xfrm>
          <a:solidFill>
            <a:schemeClr val="accent4">
              <a:lumMod val="20000"/>
              <a:lumOff val="80000"/>
            </a:schemeClr>
          </a:solidFill>
          <a:effectLst/>
        </p:grpSpPr>
        <p:sp>
          <p:nvSpPr>
            <p:cNvPr id="1133" name="Rectangle 1132">
              <a:extLst>
                <a:ext uri="{FF2B5EF4-FFF2-40B4-BE49-F238E27FC236}">
                  <a16:creationId xmlns:a16="http://schemas.microsoft.com/office/drawing/2014/main" id="{C6AAC085-65F7-C3E2-7CE8-AF82D358361C}"/>
                </a:ext>
              </a:extLst>
            </p:cNvPr>
            <p:cNvSpPr/>
            <p:nvPr/>
          </p:nvSpPr>
          <p:spPr>
            <a:xfrm>
              <a:off x="4509431" y="1640531"/>
              <a:ext cx="3222479" cy="215466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2000"/>
                </a:lnSpc>
                <a:spcAft>
                  <a:spcPts val="800"/>
                </a:spcAft>
              </a:pPr>
              <a:r>
                <a:rPr lang="pt-BR" sz="1200" dirty="0">
                  <a:solidFill>
                    <a:schemeClr val="tx1"/>
                  </a:solidFill>
                  <a:latin typeface="Montserrat" panose="00000500000000000000" pitchFamily="2" charset="0"/>
                  <a:ea typeface="Source Serif Pro" panose="02040603050405020204" pitchFamily="18" charset="0"/>
                </a:rPr>
                <a:t>Foto Fábrica</a:t>
              </a:r>
            </a:p>
          </p:txBody>
        </p:sp>
        <p:sp>
          <p:nvSpPr>
            <p:cNvPr id="1134" name="Rectangle 1133">
              <a:extLst>
                <a:ext uri="{FF2B5EF4-FFF2-40B4-BE49-F238E27FC236}">
                  <a16:creationId xmlns:a16="http://schemas.microsoft.com/office/drawing/2014/main" id="{0E5A454B-A159-28EF-2BB6-87C8BF374C81}"/>
                </a:ext>
              </a:extLst>
            </p:cNvPr>
            <p:cNvSpPr/>
            <p:nvPr/>
          </p:nvSpPr>
          <p:spPr>
            <a:xfrm>
              <a:off x="4509431" y="3789395"/>
              <a:ext cx="3222479" cy="21546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12000"/>
                </a:lnSpc>
                <a:spcAft>
                  <a:spcPts val="800"/>
                </a:spcAft>
              </a:pPr>
              <a:r>
                <a:rPr lang="pt-BR" sz="1200" dirty="0">
                  <a:solidFill>
                    <a:schemeClr val="tx1"/>
                  </a:solidFill>
                  <a:latin typeface="Montserrat" panose="00000500000000000000" pitchFamily="2" charset="0"/>
                  <a:ea typeface="Source Serif Pro" panose="02040603050405020204" pitchFamily="18" charset="0"/>
                </a:rPr>
                <a:t>Foto CD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E3571B5-B516-FFF3-64FD-7DEF09EE5BC5}"/>
              </a:ext>
            </a:extLst>
          </p:cNvPr>
          <p:cNvGrpSpPr/>
          <p:nvPr/>
        </p:nvGrpSpPr>
        <p:grpSpPr>
          <a:xfrm>
            <a:off x="3000452" y="2099670"/>
            <a:ext cx="3729060" cy="3712102"/>
            <a:chOff x="2948360" y="2115952"/>
            <a:chExt cx="3696346" cy="367953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2B3134F-E9B9-B1F1-395A-2D4C7BE37CA8}"/>
                </a:ext>
              </a:extLst>
            </p:cNvPr>
            <p:cNvGrpSpPr/>
            <p:nvPr/>
          </p:nvGrpSpPr>
          <p:grpSpPr>
            <a:xfrm>
              <a:off x="2948360" y="2115952"/>
              <a:ext cx="3696346" cy="3679538"/>
              <a:chOff x="2948360" y="2115952"/>
              <a:chExt cx="3696346" cy="3679538"/>
            </a:xfrm>
          </p:grpSpPr>
          <p:sp>
            <p:nvSpPr>
              <p:cNvPr id="1204" name="Freeform 6">
                <a:extLst>
                  <a:ext uri="{FF2B5EF4-FFF2-40B4-BE49-F238E27FC236}">
                    <a16:creationId xmlns:a16="http://schemas.microsoft.com/office/drawing/2014/main" id="{C9703E4A-980B-35A1-CDE9-8E871A7648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4729" y="2329820"/>
                <a:ext cx="1330181" cy="1277356"/>
              </a:xfrm>
              <a:custGeom>
                <a:avLst/>
                <a:gdLst/>
                <a:ahLst/>
                <a:cxnLst>
                  <a:cxn ang="0">
                    <a:pos x="30" y="166"/>
                  </a:cxn>
                  <a:cxn ang="0">
                    <a:pos x="101" y="212"/>
                  </a:cxn>
                  <a:cxn ang="0">
                    <a:pos x="27" y="423"/>
                  </a:cxn>
                  <a:cxn ang="0">
                    <a:pos x="57" y="481"/>
                  </a:cxn>
                  <a:cxn ang="0">
                    <a:pos x="95" y="537"/>
                  </a:cxn>
                  <a:cxn ang="0">
                    <a:pos x="407" y="535"/>
                  </a:cxn>
                  <a:cxn ang="0">
                    <a:pos x="441" y="470"/>
                  </a:cxn>
                  <a:cxn ang="0">
                    <a:pos x="469" y="410"/>
                  </a:cxn>
                  <a:cxn ang="0">
                    <a:pos x="487" y="376"/>
                  </a:cxn>
                  <a:cxn ang="0">
                    <a:pos x="510" y="326"/>
                  </a:cxn>
                  <a:cxn ang="0">
                    <a:pos x="554" y="265"/>
                  </a:cxn>
                  <a:cxn ang="0">
                    <a:pos x="580" y="200"/>
                  </a:cxn>
                  <a:cxn ang="0">
                    <a:pos x="578" y="165"/>
                  </a:cxn>
                  <a:cxn ang="0">
                    <a:pos x="547" y="158"/>
                  </a:cxn>
                  <a:cxn ang="0">
                    <a:pos x="530" y="150"/>
                  </a:cxn>
                  <a:cxn ang="0">
                    <a:pos x="510" y="151"/>
                  </a:cxn>
                  <a:cxn ang="0">
                    <a:pos x="485" y="173"/>
                  </a:cxn>
                  <a:cxn ang="0">
                    <a:pos x="479" y="193"/>
                  </a:cxn>
                  <a:cxn ang="0">
                    <a:pos x="436" y="222"/>
                  </a:cxn>
                  <a:cxn ang="0">
                    <a:pos x="440" y="200"/>
                  </a:cxn>
                  <a:cxn ang="0">
                    <a:pos x="415" y="213"/>
                  </a:cxn>
                  <a:cxn ang="0">
                    <a:pos x="388" y="205"/>
                  </a:cxn>
                  <a:cxn ang="0">
                    <a:pos x="372" y="213"/>
                  </a:cxn>
                  <a:cxn ang="0">
                    <a:pos x="367" y="229"/>
                  </a:cxn>
                  <a:cxn ang="0">
                    <a:pos x="342" y="207"/>
                  </a:cxn>
                  <a:cxn ang="0">
                    <a:pos x="340" y="199"/>
                  </a:cxn>
                  <a:cxn ang="0">
                    <a:pos x="378" y="197"/>
                  </a:cxn>
                  <a:cxn ang="0">
                    <a:pos x="409" y="198"/>
                  </a:cxn>
                  <a:cxn ang="0">
                    <a:pos x="443" y="192"/>
                  </a:cxn>
                  <a:cxn ang="0">
                    <a:pos x="476" y="152"/>
                  </a:cxn>
                  <a:cxn ang="0">
                    <a:pos x="441" y="127"/>
                  </a:cxn>
                  <a:cxn ang="0">
                    <a:pos x="393" y="124"/>
                  </a:cxn>
                  <a:cxn ang="0">
                    <a:pos x="373" y="156"/>
                  </a:cxn>
                  <a:cxn ang="0">
                    <a:pos x="348" y="174"/>
                  </a:cxn>
                  <a:cxn ang="0">
                    <a:pos x="308" y="200"/>
                  </a:cxn>
                  <a:cxn ang="0">
                    <a:pos x="321" y="251"/>
                  </a:cxn>
                  <a:cxn ang="0">
                    <a:pos x="304" y="213"/>
                  </a:cxn>
                  <a:cxn ang="0">
                    <a:pos x="292" y="188"/>
                  </a:cxn>
                  <a:cxn ang="0">
                    <a:pos x="238" y="206"/>
                  </a:cxn>
                  <a:cxn ang="0">
                    <a:pos x="186" y="228"/>
                  </a:cxn>
                  <a:cxn ang="0">
                    <a:pos x="168" y="264"/>
                  </a:cxn>
                  <a:cxn ang="0">
                    <a:pos x="175" y="227"/>
                  </a:cxn>
                  <a:cxn ang="0">
                    <a:pos x="149" y="214"/>
                  </a:cxn>
                  <a:cxn ang="0">
                    <a:pos x="154" y="204"/>
                  </a:cxn>
                  <a:cxn ang="0">
                    <a:pos x="172" y="209"/>
                  </a:cxn>
                  <a:cxn ang="0">
                    <a:pos x="201" y="223"/>
                  </a:cxn>
                  <a:cxn ang="0">
                    <a:pos x="255" y="198"/>
                  </a:cxn>
                  <a:cxn ang="0">
                    <a:pos x="319" y="175"/>
                  </a:cxn>
                  <a:cxn ang="0">
                    <a:pos x="297" y="153"/>
                  </a:cxn>
                  <a:cxn ang="0">
                    <a:pos x="266" y="90"/>
                  </a:cxn>
                  <a:cxn ang="0">
                    <a:pos x="232" y="50"/>
                  </a:cxn>
                  <a:cxn ang="0">
                    <a:pos x="192" y="6"/>
                  </a:cxn>
                  <a:cxn ang="0">
                    <a:pos x="151" y="7"/>
                  </a:cxn>
                  <a:cxn ang="0">
                    <a:pos x="111" y="29"/>
                  </a:cxn>
                  <a:cxn ang="0">
                    <a:pos x="67" y="39"/>
                  </a:cxn>
                  <a:cxn ang="0">
                    <a:pos x="21" y="57"/>
                  </a:cxn>
                </a:cxnLst>
                <a:rect l="0" t="0" r="r" b="b"/>
                <a:pathLst>
                  <a:path w="586" h="563">
                    <a:moveTo>
                      <a:pt x="4" y="113"/>
                    </a:moveTo>
                    <a:cubicBezTo>
                      <a:pt x="5" y="117"/>
                      <a:pt x="5" y="122"/>
                      <a:pt x="5" y="126"/>
                    </a:cubicBezTo>
                    <a:cubicBezTo>
                      <a:pt x="5" y="129"/>
                      <a:pt x="5" y="133"/>
                      <a:pt x="6" y="134"/>
                    </a:cubicBezTo>
                    <a:cubicBezTo>
                      <a:pt x="8" y="134"/>
                      <a:pt x="9" y="136"/>
                      <a:pt x="10" y="138"/>
                    </a:cubicBezTo>
                    <a:cubicBezTo>
                      <a:pt x="10" y="139"/>
                      <a:pt x="10" y="142"/>
                      <a:pt x="11" y="143"/>
                    </a:cubicBezTo>
                    <a:cubicBezTo>
                      <a:pt x="11" y="145"/>
                      <a:pt x="14" y="148"/>
                      <a:pt x="18" y="151"/>
                    </a:cubicBezTo>
                    <a:cubicBezTo>
                      <a:pt x="21" y="154"/>
                      <a:pt x="25" y="158"/>
                      <a:pt x="25" y="160"/>
                    </a:cubicBezTo>
                    <a:cubicBezTo>
                      <a:pt x="26" y="162"/>
                      <a:pt x="28" y="165"/>
                      <a:pt x="30" y="166"/>
                    </a:cubicBezTo>
                    <a:cubicBezTo>
                      <a:pt x="32" y="168"/>
                      <a:pt x="36" y="170"/>
                      <a:pt x="38" y="172"/>
                    </a:cubicBezTo>
                    <a:cubicBezTo>
                      <a:pt x="40" y="173"/>
                      <a:pt x="45" y="177"/>
                      <a:pt x="49" y="179"/>
                    </a:cubicBezTo>
                    <a:cubicBezTo>
                      <a:pt x="52" y="181"/>
                      <a:pt x="58" y="185"/>
                      <a:pt x="60" y="187"/>
                    </a:cubicBezTo>
                    <a:cubicBezTo>
                      <a:pt x="63" y="189"/>
                      <a:pt x="67" y="190"/>
                      <a:pt x="70" y="191"/>
                    </a:cubicBezTo>
                    <a:cubicBezTo>
                      <a:pt x="72" y="191"/>
                      <a:pt x="77" y="193"/>
                      <a:pt x="79" y="194"/>
                    </a:cubicBezTo>
                    <a:cubicBezTo>
                      <a:pt x="82" y="195"/>
                      <a:pt x="85" y="197"/>
                      <a:pt x="86" y="199"/>
                    </a:cubicBezTo>
                    <a:cubicBezTo>
                      <a:pt x="87" y="200"/>
                      <a:pt x="91" y="203"/>
                      <a:pt x="94" y="205"/>
                    </a:cubicBezTo>
                    <a:cubicBezTo>
                      <a:pt x="97" y="207"/>
                      <a:pt x="101" y="210"/>
                      <a:pt x="101" y="212"/>
                    </a:cubicBezTo>
                    <a:cubicBezTo>
                      <a:pt x="102" y="213"/>
                      <a:pt x="105" y="214"/>
                      <a:pt x="107" y="213"/>
                    </a:cubicBezTo>
                    <a:cubicBezTo>
                      <a:pt x="109" y="213"/>
                      <a:pt x="113" y="213"/>
                      <a:pt x="116" y="214"/>
                    </a:cubicBezTo>
                    <a:cubicBezTo>
                      <a:pt x="118" y="215"/>
                      <a:pt x="113" y="233"/>
                      <a:pt x="104" y="253"/>
                    </a:cubicBezTo>
                    <a:cubicBezTo>
                      <a:pt x="100" y="260"/>
                      <a:pt x="100" y="260"/>
                      <a:pt x="100" y="260"/>
                    </a:cubicBezTo>
                    <a:cubicBezTo>
                      <a:pt x="91" y="280"/>
                      <a:pt x="76" y="313"/>
                      <a:pt x="68" y="333"/>
                    </a:cubicBezTo>
                    <a:cubicBezTo>
                      <a:pt x="32" y="412"/>
                      <a:pt x="32" y="412"/>
                      <a:pt x="32" y="412"/>
                    </a:cubicBezTo>
                    <a:cubicBezTo>
                      <a:pt x="32" y="412"/>
                      <a:pt x="31" y="414"/>
                      <a:pt x="30" y="417"/>
                    </a:cubicBezTo>
                    <a:cubicBezTo>
                      <a:pt x="28" y="419"/>
                      <a:pt x="27" y="422"/>
                      <a:pt x="27" y="423"/>
                    </a:cubicBezTo>
                    <a:cubicBezTo>
                      <a:pt x="27" y="424"/>
                      <a:pt x="27" y="427"/>
                      <a:pt x="28" y="429"/>
                    </a:cubicBezTo>
                    <a:cubicBezTo>
                      <a:pt x="29" y="431"/>
                      <a:pt x="31" y="435"/>
                      <a:pt x="33" y="437"/>
                    </a:cubicBezTo>
                    <a:cubicBezTo>
                      <a:pt x="35" y="439"/>
                      <a:pt x="38" y="443"/>
                      <a:pt x="39" y="445"/>
                    </a:cubicBezTo>
                    <a:cubicBezTo>
                      <a:pt x="40" y="447"/>
                      <a:pt x="40" y="449"/>
                      <a:pt x="40" y="449"/>
                    </a:cubicBezTo>
                    <a:cubicBezTo>
                      <a:pt x="40" y="449"/>
                      <a:pt x="41" y="450"/>
                      <a:pt x="43" y="452"/>
                    </a:cubicBezTo>
                    <a:cubicBezTo>
                      <a:pt x="44" y="454"/>
                      <a:pt x="46" y="457"/>
                      <a:pt x="48" y="460"/>
                    </a:cubicBezTo>
                    <a:cubicBezTo>
                      <a:pt x="50" y="462"/>
                      <a:pt x="52" y="467"/>
                      <a:pt x="52" y="469"/>
                    </a:cubicBezTo>
                    <a:cubicBezTo>
                      <a:pt x="53" y="472"/>
                      <a:pt x="55" y="477"/>
                      <a:pt x="57" y="481"/>
                    </a:cubicBezTo>
                    <a:cubicBezTo>
                      <a:pt x="58" y="485"/>
                      <a:pt x="60" y="490"/>
                      <a:pt x="61" y="493"/>
                    </a:cubicBezTo>
                    <a:cubicBezTo>
                      <a:pt x="62" y="495"/>
                      <a:pt x="63" y="499"/>
                      <a:pt x="63" y="502"/>
                    </a:cubicBezTo>
                    <a:cubicBezTo>
                      <a:pt x="63" y="505"/>
                      <a:pt x="64" y="509"/>
                      <a:pt x="65" y="512"/>
                    </a:cubicBezTo>
                    <a:cubicBezTo>
                      <a:pt x="66" y="515"/>
                      <a:pt x="68" y="517"/>
                      <a:pt x="69" y="517"/>
                    </a:cubicBezTo>
                    <a:cubicBezTo>
                      <a:pt x="71" y="517"/>
                      <a:pt x="73" y="519"/>
                      <a:pt x="74" y="521"/>
                    </a:cubicBezTo>
                    <a:cubicBezTo>
                      <a:pt x="76" y="523"/>
                      <a:pt x="79" y="525"/>
                      <a:pt x="82" y="527"/>
                    </a:cubicBezTo>
                    <a:cubicBezTo>
                      <a:pt x="85" y="528"/>
                      <a:pt x="89" y="531"/>
                      <a:pt x="90" y="534"/>
                    </a:cubicBezTo>
                    <a:cubicBezTo>
                      <a:pt x="91" y="536"/>
                      <a:pt x="94" y="538"/>
                      <a:pt x="95" y="537"/>
                    </a:cubicBezTo>
                    <a:cubicBezTo>
                      <a:pt x="97" y="537"/>
                      <a:pt x="100" y="538"/>
                      <a:pt x="101" y="540"/>
                    </a:cubicBezTo>
                    <a:cubicBezTo>
                      <a:pt x="102" y="542"/>
                      <a:pt x="105" y="544"/>
                      <a:pt x="106" y="544"/>
                    </a:cubicBezTo>
                    <a:cubicBezTo>
                      <a:pt x="108" y="543"/>
                      <a:pt x="111" y="544"/>
                      <a:pt x="113" y="545"/>
                    </a:cubicBezTo>
                    <a:cubicBezTo>
                      <a:pt x="115" y="546"/>
                      <a:pt x="116" y="546"/>
                      <a:pt x="116" y="546"/>
                    </a:cubicBezTo>
                    <a:cubicBezTo>
                      <a:pt x="394" y="563"/>
                      <a:pt x="394" y="563"/>
                      <a:pt x="394" y="563"/>
                    </a:cubicBezTo>
                    <a:cubicBezTo>
                      <a:pt x="394" y="563"/>
                      <a:pt x="395" y="561"/>
                      <a:pt x="397" y="558"/>
                    </a:cubicBezTo>
                    <a:cubicBezTo>
                      <a:pt x="398" y="555"/>
                      <a:pt x="400" y="550"/>
                      <a:pt x="401" y="547"/>
                    </a:cubicBezTo>
                    <a:cubicBezTo>
                      <a:pt x="402" y="544"/>
                      <a:pt x="405" y="538"/>
                      <a:pt x="407" y="535"/>
                    </a:cubicBezTo>
                    <a:cubicBezTo>
                      <a:pt x="410" y="532"/>
                      <a:pt x="413" y="527"/>
                      <a:pt x="415" y="525"/>
                    </a:cubicBezTo>
                    <a:cubicBezTo>
                      <a:pt x="417" y="522"/>
                      <a:pt x="420" y="520"/>
                      <a:pt x="421" y="520"/>
                    </a:cubicBezTo>
                    <a:cubicBezTo>
                      <a:pt x="422" y="520"/>
                      <a:pt x="425" y="518"/>
                      <a:pt x="426" y="516"/>
                    </a:cubicBezTo>
                    <a:cubicBezTo>
                      <a:pt x="427" y="513"/>
                      <a:pt x="429" y="510"/>
                      <a:pt x="430" y="508"/>
                    </a:cubicBezTo>
                    <a:cubicBezTo>
                      <a:pt x="430" y="506"/>
                      <a:pt x="432" y="503"/>
                      <a:pt x="434" y="501"/>
                    </a:cubicBezTo>
                    <a:cubicBezTo>
                      <a:pt x="436" y="499"/>
                      <a:pt x="438" y="495"/>
                      <a:pt x="439" y="492"/>
                    </a:cubicBezTo>
                    <a:cubicBezTo>
                      <a:pt x="439" y="490"/>
                      <a:pt x="441" y="484"/>
                      <a:pt x="442" y="480"/>
                    </a:cubicBezTo>
                    <a:cubicBezTo>
                      <a:pt x="443" y="476"/>
                      <a:pt x="443" y="472"/>
                      <a:pt x="441" y="470"/>
                    </a:cubicBezTo>
                    <a:cubicBezTo>
                      <a:pt x="440" y="468"/>
                      <a:pt x="437" y="465"/>
                      <a:pt x="436" y="463"/>
                    </a:cubicBezTo>
                    <a:cubicBezTo>
                      <a:pt x="435" y="461"/>
                      <a:pt x="436" y="457"/>
                      <a:pt x="437" y="455"/>
                    </a:cubicBezTo>
                    <a:cubicBezTo>
                      <a:pt x="439" y="453"/>
                      <a:pt x="440" y="449"/>
                      <a:pt x="440" y="446"/>
                    </a:cubicBezTo>
                    <a:cubicBezTo>
                      <a:pt x="440" y="443"/>
                      <a:pt x="441" y="438"/>
                      <a:pt x="442" y="435"/>
                    </a:cubicBezTo>
                    <a:cubicBezTo>
                      <a:pt x="443" y="431"/>
                      <a:pt x="446" y="427"/>
                      <a:pt x="449" y="426"/>
                    </a:cubicBezTo>
                    <a:cubicBezTo>
                      <a:pt x="452" y="425"/>
                      <a:pt x="456" y="423"/>
                      <a:pt x="460" y="422"/>
                    </a:cubicBezTo>
                    <a:cubicBezTo>
                      <a:pt x="463" y="421"/>
                      <a:pt x="466" y="418"/>
                      <a:pt x="466" y="417"/>
                    </a:cubicBezTo>
                    <a:cubicBezTo>
                      <a:pt x="466" y="415"/>
                      <a:pt x="468" y="412"/>
                      <a:pt x="469" y="410"/>
                    </a:cubicBezTo>
                    <a:cubicBezTo>
                      <a:pt x="470" y="408"/>
                      <a:pt x="473" y="407"/>
                      <a:pt x="475" y="406"/>
                    </a:cubicBezTo>
                    <a:cubicBezTo>
                      <a:pt x="476" y="405"/>
                      <a:pt x="478" y="403"/>
                      <a:pt x="478" y="401"/>
                    </a:cubicBezTo>
                    <a:cubicBezTo>
                      <a:pt x="478" y="399"/>
                      <a:pt x="479" y="397"/>
                      <a:pt x="480" y="396"/>
                    </a:cubicBezTo>
                    <a:cubicBezTo>
                      <a:pt x="481" y="396"/>
                      <a:pt x="482" y="394"/>
                      <a:pt x="482" y="392"/>
                    </a:cubicBezTo>
                    <a:cubicBezTo>
                      <a:pt x="482" y="390"/>
                      <a:pt x="483" y="388"/>
                      <a:pt x="484" y="388"/>
                    </a:cubicBezTo>
                    <a:cubicBezTo>
                      <a:pt x="485" y="387"/>
                      <a:pt x="485" y="385"/>
                      <a:pt x="485" y="384"/>
                    </a:cubicBezTo>
                    <a:cubicBezTo>
                      <a:pt x="484" y="383"/>
                      <a:pt x="484" y="381"/>
                      <a:pt x="484" y="379"/>
                    </a:cubicBezTo>
                    <a:cubicBezTo>
                      <a:pt x="484" y="378"/>
                      <a:pt x="485" y="377"/>
                      <a:pt x="487" y="376"/>
                    </a:cubicBezTo>
                    <a:cubicBezTo>
                      <a:pt x="488" y="375"/>
                      <a:pt x="489" y="374"/>
                      <a:pt x="488" y="372"/>
                    </a:cubicBezTo>
                    <a:cubicBezTo>
                      <a:pt x="487" y="371"/>
                      <a:pt x="485" y="369"/>
                      <a:pt x="484" y="367"/>
                    </a:cubicBezTo>
                    <a:cubicBezTo>
                      <a:pt x="483" y="366"/>
                      <a:pt x="480" y="365"/>
                      <a:pt x="478" y="364"/>
                    </a:cubicBezTo>
                    <a:cubicBezTo>
                      <a:pt x="476" y="363"/>
                      <a:pt x="473" y="362"/>
                      <a:pt x="470" y="361"/>
                    </a:cubicBezTo>
                    <a:cubicBezTo>
                      <a:pt x="468" y="360"/>
                      <a:pt x="466" y="360"/>
                      <a:pt x="466" y="360"/>
                    </a:cubicBezTo>
                    <a:cubicBezTo>
                      <a:pt x="466" y="360"/>
                      <a:pt x="466" y="359"/>
                      <a:pt x="466" y="358"/>
                    </a:cubicBezTo>
                    <a:cubicBezTo>
                      <a:pt x="466" y="356"/>
                      <a:pt x="475" y="349"/>
                      <a:pt x="486" y="340"/>
                    </a:cubicBezTo>
                    <a:cubicBezTo>
                      <a:pt x="497" y="332"/>
                      <a:pt x="507" y="326"/>
                      <a:pt x="510" y="326"/>
                    </a:cubicBezTo>
                    <a:cubicBezTo>
                      <a:pt x="512" y="326"/>
                      <a:pt x="515" y="324"/>
                      <a:pt x="517" y="321"/>
                    </a:cubicBezTo>
                    <a:cubicBezTo>
                      <a:pt x="519" y="318"/>
                      <a:pt x="522" y="315"/>
                      <a:pt x="524" y="313"/>
                    </a:cubicBezTo>
                    <a:cubicBezTo>
                      <a:pt x="525" y="312"/>
                      <a:pt x="527" y="309"/>
                      <a:pt x="527" y="307"/>
                    </a:cubicBezTo>
                    <a:cubicBezTo>
                      <a:pt x="527" y="305"/>
                      <a:pt x="529" y="303"/>
                      <a:pt x="531" y="302"/>
                    </a:cubicBezTo>
                    <a:cubicBezTo>
                      <a:pt x="532" y="301"/>
                      <a:pt x="535" y="298"/>
                      <a:pt x="537" y="296"/>
                    </a:cubicBezTo>
                    <a:cubicBezTo>
                      <a:pt x="539" y="294"/>
                      <a:pt x="541" y="289"/>
                      <a:pt x="541" y="286"/>
                    </a:cubicBezTo>
                    <a:cubicBezTo>
                      <a:pt x="542" y="283"/>
                      <a:pt x="544" y="278"/>
                      <a:pt x="546" y="275"/>
                    </a:cubicBezTo>
                    <a:cubicBezTo>
                      <a:pt x="548" y="272"/>
                      <a:pt x="552" y="267"/>
                      <a:pt x="554" y="265"/>
                    </a:cubicBezTo>
                    <a:cubicBezTo>
                      <a:pt x="557" y="262"/>
                      <a:pt x="559" y="258"/>
                      <a:pt x="559" y="255"/>
                    </a:cubicBezTo>
                    <a:cubicBezTo>
                      <a:pt x="559" y="253"/>
                      <a:pt x="560" y="250"/>
                      <a:pt x="560" y="248"/>
                    </a:cubicBezTo>
                    <a:cubicBezTo>
                      <a:pt x="561" y="247"/>
                      <a:pt x="562" y="245"/>
                      <a:pt x="562" y="244"/>
                    </a:cubicBezTo>
                    <a:cubicBezTo>
                      <a:pt x="561" y="243"/>
                      <a:pt x="563" y="240"/>
                      <a:pt x="566" y="238"/>
                    </a:cubicBezTo>
                    <a:cubicBezTo>
                      <a:pt x="568" y="235"/>
                      <a:pt x="571" y="230"/>
                      <a:pt x="571" y="227"/>
                    </a:cubicBezTo>
                    <a:cubicBezTo>
                      <a:pt x="572" y="224"/>
                      <a:pt x="573" y="220"/>
                      <a:pt x="575" y="218"/>
                    </a:cubicBezTo>
                    <a:cubicBezTo>
                      <a:pt x="577" y="217"/>
                      <a:pt x="579" y="212"/>
                      <a:pt x="580" y="209"/>
                    </a:cubicBezTo>
                    <a:cubicBezTo>
                      <a:pt x="581" y="205"/>
                      <a:pt x="581" y="201"/>
                      <a:pt x="580" y="200"/>
                    </a:cubicBezTo>
                    <a:cubicBezTo>
                      <a:pt x="579" y="198"/>
                      <a:pt x="579" y="196"/>
                      <a:pt x="580" y="195"/>
                    </a:cubicBezTo>
                    <a:cubicBezTo>
                      <a:pt x="581" y="195"/>
                      <a:pt x="582" y="192"/>
                      <a:pt x="582" y="189"/>
                    </a:cubicBezTo>
                    <a:cubicBezTo>
                      <a:pt x="582" y="186"/>
                      <a:pt x="583" y="182"/>
                      <a:pt x="584" y="179"/>
                    </a:cubicBezTo>
                    <a:cubicBezTo>
                      <a:pt x="585" y="176"/>
                      <a:pt x="586" y="173"/>
                      <a:pt x="586" y="173"/>
                    </a:cubicBezTo>
                    <a:cubicBezTo>
                      <a:pt x="586" y="173"/>
                      <a:pt x="584" y="174"/>
                      <a:pt x="581" y="174"/>
                    </a:cubicBezTo>
                    <a:cubicBezTo>
                      <a:pt x="579" y="175"/>
                      <a:pt x="578" y="174"/>
                      <a:pt x="579" y="172"/>
                    </a:cubicBezTo>
                    <a:cubicBezTo>
                      <a:pt x="580" y="170"/>
                      <a:pt x="581" y="167"/>
                      <a:pt x="580" y="166"/>
                    </a:cubicBezTo>
                    <a:cubicBezTo>
                      <a:pt x="580" y="164"/>
                      <a:pt x="579" y="164"/>
                      <a:pt x="578" y="165"/>
                    </a:cubicBezTo>
                    <a:cubicBezTo>
                      <a:pt x="578" y="167"/>
                      <a:pt x="576" y="168"/>
                      <a:pt x="574" y="168"/>
                    </a:cubicBezTo>
                    <a:cubicBezTo>
                      <a:pt x="572" y="168"/>
                      <a:pt x="569" y="168"/>
                      <a:pt x="567" y="168"/>
                    </a:cubicBezTo>
                    <a:cubicBezTo>
                      <a:pt x="565" y="168"/>
                      <a:pt x="563" y="167"/>
                      <a:pt x="562" y="166"/>
                    </a:cubicBezTo>
                    <a:cubicBezTo>
                      <a:pt x="562" y="166"/>
                      <a:pt x="561" y="164"/>
                      <a:pt x="561" y="163"/>
                    </a:cubicBezTo>
                    <a:cubicBezTo>
                      <a:pt x="561" y="161"/>
                      <a:pt x="560" y="160"/>
                      <a:pt x="558" y="160"/>
                    </a:cubicBezTo>
                    <a:cubicBezTo>
                      <a:pt x="557" y="161"/>
                      <a:pt x="555" y="160"/>
                      <a:pt x="554" y="158"/>
                    </a:cubicBezTo>
                    <a:cubicBezTo>
                      <a:pt x="553" y="157"/>
                      <a:pt x="551" y="157"/>
                      <a:pt x="549" y="158"/>
                    </a:cubicBezTo>
                    <a:cubicBezTo>
                      <a:pt x="548" y="160"/>
                      <a:pt x="547" y="159"/>
                      <a:pt x="547" y="158"/>
                    </a:cubicBezTo>
                    <a:cubicBezTo>
                      <a:pt x="547" y="156"/>
                      <a:pt x="546" y="156"/>
                      <a:pt x="544" y="157"/>
                    </a:cubicBezTo>
                    <a:cubicBezTo>
                      <a:pt x="543" y="158"/>
                      <a:pt x="541" y="158"/>
                      <a:pt x="541" y="156"/>
                    </a:cubicBezTo>
                    <a:cubicBezTo>
                      <a:pt x="541" y="155"/>
                      <a:pt x="540" y="154"/>
                      <a:pt x="539" y="155"/>
                    </a:cubicBezTo>
                    <a:cubicBezTo>
                      <a:pt x="538" y="156"/>
                      <a:pt x="537" y="156"/>
                      <a:pt x="537" y="155"/>
                    </a:cubicBezTo>
                    <a:cubicBezTo>
                      <a:pt x="537" y="154"/>
                      <a:pt x="536" y="154"/>
                      <a:pt x="535" y="154"/>
                    </a:cubicBezTo>
                    <a:cubicBezTo>
                      <a:pt x="535" y="154"/>
                      <a:pt x="534" y="153"/>
                      <a:pt x="534" y="152"/>
                    </a:cubicBezTo>
                    <a:cubicBezTo>
                      <a:pt x="534" y="150"/>
                      <a:pt x="534" y="149"/>
                      <a:pt x="533" y="149"/>
                    </a:cubicBezTo>
                    <a:cubicBezTo>
                      <a:pt x="532" y="148"/>
                      <a:pt x="531" y="149"/>
                      <a:pt x="530" y="150"/>
                    </a:cubicBezTo>
                    <a:cubicBezTo>
                      <a:pt x="529" y="151"/>
                      <a:pt x="529" y="152"/>
                      <a:pt x="528" y="151"/>
                    </a:cubicBezTo>
                    <a:cubicBezTo>
                      <a:pt x="527" y="150"/>
                      <a:pt x="526" y="150"/>
                      <a:pt x="526" y="150"/>
                    </a:cubicBezTo>
                    <a:cubicBezTo>
                      <a:pt x="525" y="151"/>
                      <a:pt x="525" y="153"/>
                      <a:pt x="526" y="154"/>
                    </a:cubicBezTo>
                    <a:cubicBezTo>
                      <a:pt x="526" y="155"/>
                      <a:pt x="526" y="155"/>
                      <a:pt x="524" y="155"/>
                    </a:cubicBezTo>
                    <a:cubicBezTo>
                      <a:pt x="523" y="155"/>
                      <a:pt x="521" y="154"/>
                      <a:pt x="520" y="152"/>
                    </a:cubicBezTo>
                    <a:cubicBezTo>
                      <a:pt x="520" y="151"/>
                      <a:pt x="518" y="150"/>
                      <a:pt x="517" y="151"/>
                    </a:cubicBezTo>
                    <a:cubicBezTo>
                      <a:pt x="516" y="152"/>
                      <a:pt x="515" y="152"/>
                      <a:pt x="514" y="153"/>
                    </a:cubicBezTo>
                    <a:cubicBezTo>
                      <a:pt x="513" y="153"/>
                      <a:pt x="511" y="152"/>
                      <a:pt x="510" y="151"/>
                    </a:cubicBezTo>
                    <a:cubicBezTo>
                      <a:pt x="510" y="150"/>
                      <a:pt x="508" y="150"/>
                      <a:pt x="508" y="150"/>
                    </a:cubicBezTo>
                    <a:cubicBezTo>
                      <a:pt x="507" y="151"/>
                      <a:pt x="506" y="152"/>
                      <a:pt x="505" y="152"/>
                    </a:cubicBezTo>
                    <a:cubicBezTo>
                      <a:pt x="504" y="153"/>
                      <a:pt x="501" y="153"/>
                      <a:pt x="500" y="153"/>
                    </a:cubicBezTo>
                    <a:cubicBezTo>
                      <a:pt x="498" y="153"/>
                      <a:pt x="495" y="154"/>
                      <a:pt x="494" y="155"/>
                    </a:cubicBezTo>
                    <a:cubicBezTo>
                      <a:pt x="493" y="157"/>
                      <a:pt x="492" y="158"/>
                      <a:pt x="491" y="158"/>
                    </a:cubicBezTo>
                    <a:cubicBezTo>
                      <a:pt x="490" y="158"/>
                      <a:pt x="488" y="159"/>
                      <a:pt x="487" y="161"/>
                    </a:cubicBezTo>
                    <a:cubicBezTo>
                      <a:pt x="486" y="163"/>
                      <a:pt x="485" y="166"/>
                      <a:pt x="485" y="168"/>
                    </a:cubicBezTo>
                    <a:cubicBezTo>
                      <a:pt x="486" y="170"/>
                      <a:pt x="486" y="172"/>
                      <a:pt x="485" y="173"/>
                    </a:cubicBezTo>
                    <a:cubicBezTo>
                      <a:pt x="485" y="175"/>
                      <a:pt x="483" y="177"/>
                      <a:pt x="482" y="178"/>
                    </a:cubicBezTo>
                    <a:cubicBezTo>
                      <a:pt x="480" y="180"/>
                      <a:pt x="479" y="182"/>
                      <a:pt x="478" y="184"/>
                    </a:cubicBezTo>
                    <a:cubicBezTo>
                      <a:pt x="477" y="186"/>
                      <a:pt x="478" y="187"/>
                      <a:pt x="479" y="187"/>
                    </a:cubicBezTo>
                    <a:cubicBezTo>
                      <a:pt x="481" y="186"/>
                      <a:pt x="483" y="186"/>
                      <a:pt x="484" y="185"/>
                    </a:cubicBezTo>
                    <a:cubicBezTo>
                      <a:pt x="486" y="185"/>
                      <a:pt x="488" y="185"/>
                      <a:pt x="488" y="185"/>
                    </a:cubicBezTo>
                    <a:cubicBezTo>
                      <a:pt x="489" y="186"/>
                      <a:pt x="488" y="187"/>
                      <a:pt x="487" y="188"/>
                    </a:cubicBezTo>
                    <a:cubicBezTo>
                      <a:pt x="485" y="188"/>
                      <a:pt x="483" y="190"/>
                      <a:pt x="483" y="191"/>
                    </a:cubicBezTo>
                    <a:cubicBezTo>
                      <a:pt x="482" y="192"/>
                      <a:pt x="480" y="193"/>
                      <a:pt x="479" y="193"/>
                    </a:cubicBezTo>
                    <a:cubicBezTo>
                      <a:pt x="477" y="193"/>
                      <a:pt x="475" y="192"/>
                      <a:pt x="474" y="190"/>
                    </a:cubicBezTo>
                    <a:cubicBezTo>
                      <a:pt x="473" y="188"/>
                      <a:pt x="471" y="187"/>
                      <a:pt x="469" y="187"/>
                    </a:cubicBezTo>
                    <a:cubicBezTo>
                      <a:pt x="468" y="187"/>
                      <a:pt x="466" y="189"/>
                      <a:pt x="464" y="190"/>
                    </a:cubicBezTo>
                    <a:cubicBezTo>
                      <a:pt x="463" y="192"/>
                      <a:pt x="460" y="195"/>
                      <a:pt x="458" y="198"/>
                    </a:cubicBezTo>
                    <a:cubicBezTo>
                      <a:pt x="456" y="201"/>
                      <a:pt x="453" y="203"/>
                      <a:pt x="451" y="203"/>
                    </a:cubicBezTo>
                    <a:cubicBezTo>
                      <a:pt x="449" y="203"/>
                      <a:pt x="446" y="205"/>
                      <a:pt x="444" y="207"/>
                    </a:cubicBezTo>
                    <a:cubicBezTo>
                      <a:pt x="442" y="209"/>
                      <a:pt x="440" y="213"/>
                      <a:pt x="439" y="215"/>
                    </a:cubicBezTo>
                    <a:cubicBezTo>
                      <a:pt x="438" y="217"/>
                      <a:pt x="437" y="220"/>
                      <a:pt x="436" y="222"/>
                    </a:cubicBezTo>
                    <a:cubicBezTo>
                      <a:pt x="436" y="224"/>
                      <a:pt x="434" y="227"/>
                      <a:pt x="433" y="229"/>
                    </a:cubicBezTo>
                    <a:cubicBezTo>
                      <a:pt x="432" y="232"/>
                      <a:pt x="431" y="234"/>
                      <a:pt x="431" y="234"/>
                    </a:cubicBezTo>
                    <a:cubicBezTo>
                      <a:pt x="431" y="234"/>
                      <a:pt x="431" y="232"/>
                      <a:pt x="431" y="230"/>
                    </a:cubicBezTo>
                    <a:cubicBezTo>
                      <a:pt x="431" y="228"/>
                      <a:pt x="431" y="225"/>
                      <a:pt x="431" y="224"/>
                    </a:cubicBezTo>
                    <a:cubicBezTo>
                      <a:pt x="430" y="222"/>
                      <a:pt x="430" y="220"/>
                      <a:pt x="431" y="218"/>
                    </a:cubicBezTo>
                    <a:cubicBezTo>
                      <a:pt x="432" y="217"/>
                      <a:pt x="433" y="214"/>
                      <a:pt x="433" y="213"/>
                    </a:cubicBezTo>
                    <a:cubicBezTo>
                      <a:pt x="433" y="211"/>
                      <a:pt x="435" y="208"/>
                      <a:pt x="437" y="206"/>
                    </a:cubicBezTo>
                    <a:cubicBezTo>
                      <a:pt x="438" y="203"/>
                      <a:pt x="440" y="201"/>
                      <a:pt x="440" y="200"/>
                    </a:cubicBezTo>
                    <a:cubicBezTo>
                      <a:pt x="440" y="199"/>
                      <a:pt x="438" y="198"/>
                      <a:pt x="437" y="199"/>
                    </a:cubicBezTo>
                    <a:cubicBezTo>
                      <a:pt x="435" y="199"/>
                      <a:pt x="433" y="200"/>
                      <a:pt x="432" y="200"/>
                    </a:cubicBezTo>
                    <a:cubicBezTo>
                      <a:pt x="432" y="200"/>
                      <a:pt x="430" y="201"/>
                      <a:pt x="428" y="202"/>
                    </a:cubicBezTo>
                    <a:cubicBezTo>
                      <a:pt x="427" y="203"/>
                      <a:pt x="425" y="204"/>
                      <a:pt x="423" y="204"/>
                    </a:cubicBezTo>
                    <a:cubicBezTo>
                      <a:pt x="422" y="204"/>
                      <a:pt x="420" y="205"/>
                      <a:pt x="419" y="205"/>
                    </a:cubicBezTo>
                    <a:cubicBezTo>
                      <a:pt x="418" y="205"/>
                      <a:pt x="417" y="207"/>
                      <a:pt x="417" y="208"/>
                    </a:cubicBezTo>
                    <a:cubicBezTo>
                      <a:pt x="416" y="209"/>
                      <a:pt x="416" y="211"/>
                      <a:pt x="416" y="212"/>
                    </a:cubicBezTo>
                    <a:cubicBezTo>
                      <a:pt x="417" y="213"/>
                      <a:pt x="416" y="213"/>
                      <a:pt x="415" y="213"/>
                    </a:cubicBezTo>
                    <a:cubicBezTo>
                      <a:pt x="414" y="213"/>
                      <a:pt x="414" y="211"/>
                      <a:pt x="414" y="209"/>
                    </a:cubicBezTo>
                    <a:cubicBezTo>
                      <a:pt x="414" y="207"/>
                      <a:pt x="413" y="205"/>
                      <a:pt x="412" y="204"/>
                    </a:cubicBezTo>
                    <a:cubicBezTo>
                      <a:pt x="411" y="203"/>
                      <a:pt x="409" y="201"/>
                      <a:pt x="408" y="201"/>
                    </a:cubicBezTo>
                    <a:cubicBezTo>
                      <a:pt x="406" y="201"/>
                      <a:pt x="404" y="202"/>
                      <a:pt x="403" y="203"/>
                    </a:cubicBezTo>
                    <a:cubicBezTo>
                      <a:pt x="402" y="204"/>
                      <a:pt x="400" y="205"/>
                      <a:pt x="399" y="204"/>
                    </a:cubicBezTo>
                    <a:cubicBezTo>
                      <a:pt x="397" y="204"/>
                      <a:pt x="395" y="204"/>
                      <a:pt x="394" y="205"/>
                    </a:cubicBezTo>
                    <a:cubicBezTo>
                      <a:pt x="392" y="206"/>
                      <a:pt x="391" y="206"/>
                      <a:pt x="390" y="206"/>
                    </a:cubicBezTo>
                    <a:cubicBezTo>
                      <a:pt x="389" y="206"/>
                      <a:pt x="389" y="206"/>
                      <a:pt x="388" y="205"/>
                    </a:cubicBezTo>
                    <a:cubicBezTo>
                      <a:pt x="387" y="204"/>
                      <a:pt x="386" y="203"/>
                      <a:pt x="384" y="202"/>
                    </a:cubicBezTo>
                    <a:cubicBezTo>
                      <a:pt x="383" y="201"/>
                      <a:pt x="381" y="201"/>
                      <a:pt x="380" y="201"/>
                    </a:cubicBezTo>
                    <a:cubicBezTo>
                      <a:pt x="379" y="201"/>
                      <a:pt x="378" y="201"/>
                      <a:pt x="377" y="202"/>
                    </a:cubicBezTo>
                    <a:cubicBezTo>
                      <a:pt x="376" y="203"/>
                      <a:pt x="376" y="204"/>
                      <a:pt x="376" y="205"/>
                    </a:cubicBezTo>
                    <a:cubicBezTo>
                      <a:pt x="377" y="206"/>
                      <a:pt x="376" y="207"/>
                      <a:pt x="376" y="206"/>
                    </a:cubicBezTo>
                    <a:cubicBezTo>
                      <a:pt x="375" y="205"/>
                      <a:pt x="374" y="205"/>
                      <a:pt x="373" y="206"/>
                    </a:cubicBezTo>
                    <a:cubicBezTo>
                      <a:pt x="372" y="206"/>
                      <a:pt x="371" y="207"/>
                      <a:pt x="371" y="209"/>
                    </a:cubicBezTo>
                    <a:cubicBezTo>
                      <a:pt x="371" y="210"/>
                      <a:pt x="371" y="212"/>
                      <a:pt x="372" y="213"/>
                    </a:cubicBezTo>
                    <a:cubicBezTo>
                      <a:pt x="372" y="214"/>
                      <a:pt x="371" y="213"/>
                      <a:pt x="370" y="212"/>
                    </a:cubicBezTo>
                    <a:cubicBezTo>
                      <a:pt x="369" y="210"/>
                      <a:pt x="367" y="209"/>
                      <a:pt x="366" y="209"/>
                    </a:cubicBezTo>
                    <a:cubicBezTo>
                      <a:pt x="365" y="208"/>
                      <a:pt x="364" y="209"/>
                      <a:pt x="364" y="211"/>
                    </a:cubicBezTo>
                    <a:cubicBezTo>
                      <a:pt x="363" y="212"/>
                      <a:pt x="363" y="214"/>
                      <a:pt x="363" y="216"/>
                    </a:cubicBezTo>
                    <a:cubicBezTo>
                      <a:pt x="362" y="217"/>
                      <a:pt x="363" y="219"/>
                      <a:pt x="363" y="221"/>
                    </a:cubicBezTo>
                    <a:cubicBezTo>
                      <a:pt x="363" y="222"/>
                      <a:pt x="364" y="224"/>
                      <a:pt x="365" y="225"/>
                    </a:cubicBezTo>
                    <a:cubicBezTo>
                      <a:pt x="366" y="226"/>
                      <a:pt x="368" y="228"/>
                      <a:pt x="368" y="229"/>
                    </a:cubicBezTo>
                    <a:cubicBezTo>
                      <a:pt x="369" y="230"/>
                      <a:pt x="369" y="230"/>
                      <a:pt x="367" y="229"/>
                    </a:cubicBezTo>
                    <a:cubicBezTo>
                      <a:pt x="366" y="228"/>
                      <a:pt x="364" y="227"/>
                      <a:pt x="363" y="225"/>
                    </a:cubicBezTo>
                    <a:cubicBezTo>
                      <a:pt x="362" y="224"/>
                      <a:pt x="361" y="221"/>
                      <a:pt x="360" y="219"/>
                    </a:cubicBezTo>
                    <a:cubicBezTo>
                      <a:pt x="360" y="217"/>
                      <a:pt x="360" y="214"/>
                      <a:pt x="361" y="212"/>
                    </a:cubicBezTo>
                    <a:cubicBezTo>
                      <a:pt x="361" y="210"/>
                      <a:pt x="360" y="207"/>
                      <a:pt x="358" y="206"/>
                    </a:cubicBezTo>
                    <a:cubicBezTo>
                      <a:pt x="356" y="204"/>
                      <a:pt x="355" y="202"/>
                      <a:pt x="354" y="202"/>
                    </a:cubicBezTo>
                    <a:cubicBezTo>
                      <a:pt x="354" y="201"/>
                      <a:pt x="352" y="200"/>
                      <a:pt x="350" y="200"/>
                    </a:cubicBezTo>
                    <a:cubicBezTo>
                      <a:pt x="348" y="200"/>
                      <a:pt x="346" y="201"/>
                      <a:pt x="345" y="202"/>
                    </a:cubicBezTo>
                    <a:cubicBezTo>
                      <a:pt x="344" y="204"/>
                      <a:pt x="343" y="206"/>
                      <a:pt x="342" y="207"/>
                    </a:cubicBezTo>
                    <a:cubicBezTo>
                      <a:pt x="342" y="208"/>
                      <a:pt x="341" y="210"/>
                      <a:pt x="342" y="212"/>
                    </a:cubicBezTo>
                    <a:cubicBezTo>
                      <a:pt x="343" y="214"/>
                      <a:pt x="343" y="215"/>
                      <a:pt x="343" y="216"/>
                    </a:cubicBezTo>
                    <a:cubicBezTo>
                      <a:pt x="343" y="217"/>
                      <a:pt x="344" y="218"/>
                      <a:pt x="345" y="220"/>
                    </a:cubicBezTo>
                    <a:cubicBezTo>
                      <a:pt x="346" y="222"/>
                      <a:pt x="345" y="222"/>
                      <a:pt x="344" y="221"/>
                    </a:cubicBezTo>
                    <a:cubicBezTo>
                      <a:pt x="342" y="219"/>
                      <a:pt x="340" y="215"/>
                      <a:pt x="340" y="212"/>
                    </a:cubicBezTo>
                    <a:cubicBezTo>
                      <a:pt x="339" y="209"/>
                      <a:pt x="339" y="206"/>
                      <a:pt x="341" y="205"/>
                    </a:cubicBezTo>
                    <a:cubicBezTo>
                      <a:pt x="342" y="203"/>
                      <a:pt x="343" y="202"/>
                      <a:pt x="342" y="201"/>
                    </a:cubicBezTo>
                    <a:cubicBezTo>
                      <a:pt x="341" y="200"/>
                      <a:pt x="340" y="199"/>
                      <a:pt x="340" y="199"/>
                    </a:cubicBezTo>
                    <a:cubicBezTo>
                      <a:pt x="339" y="198"/>
                      <a:pt x="340" y="198"/>
                      <a:pt x="342" y="198"/>
                    </a:cubicBezTo>
                    <a:cubicBezTo>
                      <a:pt x="343" y="197"/>
                      <a:pt x="345" y="196"/>
                      <a:pt x="346" y="195"/>
                    </a:cubicBezTo>
                    <a:cubicBezTo>
                      <a:pt x="347" y="194"/>
                      <a:pt x="348" y="194"/>
                      <a:pt x="349" y="195"/>
                    </a:cubicBezTo>
                    <a:cubicBezTo>
                      <a:pt x="351" y="196"/>
                      <a:pt x="353" y="196"/>
                      <a:pt x="354" y="197"/>
                    </a:cubicBezTo>
                    <a:cubicBezTo>
                      <a:pt x="355" y="197"/>
                      <a:pt x="357" y="198"/>
                      <a:pt x="358" y="199"/>
                    </a:cubicBezTo>
                    <a:cubicBezTo>
                      <a:pt x="358" y="200"/>
                      <a:pt x="361" y="201"/>
                      <a:pt x="364" y="202"/>
                    </a:cubicBezTo>
                    <a:cubicBezTo>
                      <a:pt x="367" y="202"/>
                      <a:pt x="371" y="202"/>
                      <a:pt x="373" y="201"/>
                    </a:cubicBezTo>
                    <a:cubicBezTo>
                      <a:pt x="375" y="199"/>
                      <a:pt x="377" y="198"/>
                      <a:pt x="378" y="197"/>
                    </a:cubicBezTo>
                    <a:cubicBezTo>
                      <a:pt x="378" y="197"/>
                      <a:pt x="378" y="196"/>
                      <a:pt x="378" y="196"/>
                    </a:cubicBezTo>
                    <a:cubicBezTo>
                      <a:pt x="378" y="196"/>
                      <a:pt x="379" y="197"/>
                      <a:pt x="381" y="197"/>
                    </a:cubicBezTo>
                    <a:cubicBezTo>
                      <a:pt x="382" y="198"/>
                      <a:pt x="384" y="199"/>
                      <a:pt x="385" y="201"/>
                    </a:cubicBezTo>
                    <a:cubicBezTo>
                      <a:pt x="386" y="202"/>
                      <a:pt x="388" y="203"/>
                      <a:pt x="390" y="202"/>
                    </a:cubicBezTo>
                    <a:cubicBezTo>
                      <a:pt x="392" y="202"/>
                      <a:pt x="393" y="201"/>
                      <a:pt x="392" y="200"/>
                    </a:cubicBezTo>
                    <a:cubicBezTo>
                      <a:pt x="392" y="199"/>
                      <a:pt x="394" y="198"/>
                      <a:pt x="397" y="199"/>
                    </a:cubicBezTo>
                    <a:cubicBezTo>
                      <a:pt x="400" y="199"/>
                      <a:pt x="403" y="199"/>
                      <a:pt x="404" y="198"/>
                    </a:cubicBezTo>
                    <a:cubicBezTo>
                      <a:pt x="405" y="197"/>
                      <a:pt x="408" y="197"/>
                      <a:pt x="409" y="198"/>
                    </a:cubicBezTo>
                    <a:cubicBezTo>
                      <a:pt x="411" y="199"/>
                      <a:pt x="414" y="199"/>
                      <a:pt x="415" y="200"/>
                    </a:cubicBezTo>
                    <a:cubicBezTo>
                      <a:pt x="416" y="200"/>
                      <a:pt x="418" y="199"/>
                      <a:pt x="419" y="197"/>
                    </a:cubicBezTo>
                    <a:cubicBezTo>
                      <a:pt x="419" y="196"/>
                      <a:pt x="420" y="195"/>
                      <a:pt x="421" y="196"/>
                    </a:cubicBezTo>
                    <a:cubicBezTo>
                      <a:pt x="422" y="197"/>
                      <a:pt x="424" y="198"/>
                      <a:pt x="425" y="197"/>
                    </a:cubicBezTo>
                    <a:cubicBezTo>
                      <a:pt x="427" y="196"/>
                      <a:pt x="429" y="194"/>
                      <a:pt x="430" y="193"/>
                    </a:cubicBezTo>
                    <a:cubicBezTo>
                      <a:pt x="431" y="191"/>
                      <a:pt x="432" y="191"/>
                      <a:pt x="433" y="192"/>
                    </a:cubicBezTo>
                    <a:cubicBezTo>
                      <a:pt x="434" y="192"/>
                      <a:pt x="436" y="193"/>
                      <a:pt x="437" y="193"/>
                    </a:cubicBezTo>
                    <a:cubicBezTo>
                      <a:pt x="438" y="193"/>
                      <a:pt x="441" y="193"/>
                      <a:pt x="443" y="192"/>
                    </a:cubicBezTo>
                    <a:cubicBezTo>
                      <a:pt x="445" y="192"/>
                      <a:pt x="450" y="190"/>
                      <a:pt x="453" y="189"/>
                    </a:cubicBezTo>
                    <a:cubicBezTo>
                      <a:pt x="457" y="187"/>
                      <a:pt x="460" y="184"/>
                      <a:pt x="461" y="183"/>
                    </a:cubicBezTo>
                    <a:cubicBezTo>
                      <a:pt x="462" y="181"/>
                      <a:pt x="463" y="178"/>
                      <a:pt x="463" y="176"/>
                    </a:cubicBezTo>
                    <a:cubicBezTo>
                      <a:pt x="463" y="174"/>
                      <a:pt x="464" y="171"/>
                      <a:pt x="466" y="170"/>
                    </a:cubicBezTo>
                    <a:cubicBezTo>
                      <a:pt x="468" y="169"/>
                      <a:pt x="470" y="167"/>
                      <a:pt x="470" y="165"/>
                    </a:cubicBezTo>
                    <a:cubicBezTo>
                      <a:pt x="470" y="163"/>
                      <a:pt x="471" y="161"/>
                      <a:pt x="472" y="160"/>
                    </a:cubicBezTo>
                    <a:cubicBezTo>
                      <a:pt x="474" y="159"/>
                      <a:pt x="475" y="157"/>
                      <a:pt x="475" y="156"/>
                    </a:cubicBezTo>
                    <a:cubicBezTo>
                      <a:pt x="474" y="154"/>
                      <a:pt x="475" y="153"/>
                      <a:pt x="476" y="152"/>
                    </a:cubicBezTo>
                    <a:cubicBezTo>
                      <a:pt x="476" y="151"/>
                      <a:pt x="478" y="149"/>
                      <a:pt x="478" y="146"/>
                    </a:cubicBezTo>
                    <a:cubicBezTo>
                      <a:pt x="479" y="143"/>
                      <a:pt x="480" y="139"/>
                      <a:pt x="481" y="138"/>
                    </a:cubicBezTo>
                    <a:cubicBezTo>
                      <a:pt x="482" y="136"/>
                      <a:pt x="482" y="134"/>
                      <a:pt x="481" y="133"/>
                    </a:cubicBezTo>
                    <a:cubicBezTo>
                      <a:pt x="481" y="132"/>
                      <a:pt x="478" y="131"/>
                      <a:pt x="476" y="131"/>
                    </a:cubicBezTo>
                    <a:cubicBezTo>
                      <a:pt x="474" y="131"/>
                      <a:pt x="469" y="130"/>
                      <a:pt x="466" y="130"/>
                    </a:cubicBezTo>
                    <a:cubicBezTo>
                      <a:pt x="463" y="129"/>
                      <a:pt x="458" y="128"/>
                      <a:pt x="456" y="127"/>
                    </a:cubicBezTo>
                    <a:cubicBezTo>
                      <a:pt x="454" y="126"/>
                      <a:pt x="450" y="125"/>
                      <a:pt x="448" y="125"/>
                    </a:cubicBezTo>
                    <a:cubicBezTo>
                      <a:pt x="446" y="125"/>
                      <a:pt x="443" y="126"/>
                      <a:pt x="441" y="127"/>
                    </a:cubicBezTo>
                    <a:cubicBezTo>
                      <a:pt x="439" y="128"/>
                      <a:pt x="437" y="129"/>
                      <a:pt x="436" y="130"/>
                    </a:cubicBezTo>
                    <a:cubicBezTo>
                      <a:pt x="436" y="131"/>
                      <a:pt x="435" y="131"/>
                      <a:pt x="434" y="131"/>
                    </a:cubicBezTo>
                    <a:cubicBezTo>
                      <a:pt x="433" y="131"/>
                      <a:pt x="429" y="130"/>
                      <a:pt x="426" y="130"/>
                    </a:cubicBezTo>
                    <a:cubicBezTo>
                      <a:pt x="423" y="130"/>
                      <a:pt x="416" y="129"/>
                      <a:pt x="412" y="128"/>
                    </a:cubicBezTo>
                    <a:cubicBezTo>
                      <a:pt x="412" y="128"/>
                      <a:pt x="412" y="128"/>
                      <a:pt x="410" y="127"/>
                    </a:cubicBezTo>
                    <a:cubicBezTo>
                      <a:pt x="408" y="126"/>
                      <a:pt x="408" y="126"/>
                      <a:pt x="408" y="126"/>
                    </a:cubicBezTo>
                    <a:cubicBezTo>
                      <a:pt x="405" y="125"/>
                      <a:pt x="401" y="124"/>
                      <a:pt x="400" y="124"/>
                    </a:cubicBezTo>
                    <a:cubicBezTo>
                      <a:pt x="398" y="124"/>
                      <a:pt x="395" y="124"/>
                      <a:pt x="393" y="124"/>
                    </a:cubicBezTo>
                    <a:cubicBezTo>
                      <a:pt x="391" y="124"/>
                      <a:pt x="387" y="125"/>
                      <a:pt x="384" y="127"/>
                    </a:cubicBezTo>
                    <a:cubicBezTo>
                      <a:pt x="381" y="129"/>
                      <a:pt x="378" y="133"/>
                      <a:pt x="377" y="135"/>
                    </a:cubicBezTo>
                    <a:cubicBezTo>
                      <a:pt x="376" y="137"/>
                      <a:pt x="376" y="140"/>
                      <a:pt x="376" y="141"/>
                    </a:cubicBezTo>
                    <a:cubicBezTo>
                      <a:pt x="376" y="143"/>
                      <a:pt x="378" y="145"/>
                      <a:pt x="379" y="147"/>
                    </a:cubicBezTo>
                    <a:cubicBezTo>
                      <a:pt x="381" y="148"/>
                      <a:pt x="380" y="149"/>
                      <a:pt x="378" y="148"/>
                    </a:cubicBezTo>
                    <a:cubicBezTo>
                      <a:pt x="376" y="147"/>
                      <a:pt x="373" y="147"/>
                      <a:pt x="373" y="149"/>
                    </a:cubicBezTo>
                    <a:cubicBezTo>
                      <a:pt x="373" y="150"/>
                      <a:pt x="373" y="152"/>
                      <a:pt x="373" y="152"/>
                    </a:cubicBezTo>
                    <a:cubicBezTo>
                      <a:pt x="374" y="153"/>
                      <a:pt x="374" y="154"/>
                      <a:pt x="373" y="156"/>
                    </a:cubicBezTo>
                    <a:cubicBezTo>
                      <a:pt x="372" y="157"/>
                      <a:pt x="371" y="159"/>
                      <a:pt x="371" y="160"/>
                    </a:cubicBezTo>
                    <a:cubicBezTo>
                      <a:pt x="371" y="161"/>
                      <a:pt x="371" y="162"/>
                      <a:pt x="371" y="162"/>
                    </a:cubicBezTo>
                    <a:cubicBezTo>
                      <a:pt x="371" y="162"/>
                      <a:pt x="370" y="162"/>
                      <a:pt x="368" y="161"/>
                    </a:cubicBezTo>
                    <a:cubicBezTo>
                      <a:pt x="366" y="161"/>
                      <a:pt x="365" y="161"/>
                      <a:pt x="364" y="162"/>
                    </a:cubicBezTo>
                    <a:cubicBezTo>
                      <a:pt x="363" y="163"/>
                      <a:pt x="362" y="164"/>
                      <a:pt x="361" y="165"/>
                    </a:cubicBezTo>
                    <a:cubicBezTo>
                      <a:pt x="360" y="166"/>
                      <a:pt x="358" y="167"/>
                      <a:pt x="357" y="168"/>
                    </a:cubicBezTo>
                    <a:cubicBezTo>
                      <a:pt x="355" y="169"/>
                      <a:pt x="353" y="170"/>
                      <a:pt x="352" y="171"/>
                    </a:cubicBezTo>
                    <a:cubicBezTo>
                      <a:pt x="351" y="172"/>
                      <a:pt x="349" y="173"/>
                      <a:pt x="348" y="174"/>
                    </a:cubicBezTo>
                    <a:cubicBezTo>
                      <a:pt x="347" y="175"/>
                      <a:pt x="345" y="176"/>
                      <a:pt x="344" y="177"/>
                    </a:cubicBezTo>
                    <a:cubicBezTo>
                      <a:pt x="343" y="178"/>
                      <a:pt x="340" y="180"/>
                      <a:pt x="339" y="180"/>
                    </a:cubicBezTo>
                    <a:cubicBezTo>
                      <a:pt x="338" y="181"/>
                      <a:pt x="335" y="182"/>
                      <a:pt x="333" y="183"/>
                    </a:cubicBezTo>
                    <a:cubicBezTo>
                      <a:pt x="332" y="183"/>
                      <a:pt x="329" y="185"/>
                      <a:pt x="327" y="186"/>
                    </a:cubicBezTo>
                    <a:cubicBezTo>
                      <a:pt x="325" y="187"/>
                      <a:pt x="321" y="188"/>
                      <a:pt x="320" y="189"/>
                    </a:cubicBezTo>
                    <a:cubicBezTo>
                      <a:pt x="318" y="190"/>
                      <a:pt x="315" y="191"/>
                      <a:pt x="313" y="192"/>
                    </a:cubicBezTo>
                    <a:cubicBezTo>
                      <a:pt x="311" y="192"/>
                      <a:pt x="309" y="193"/>
                      <a:pt x="308" y="194"/>
                    </a:cubicBezTo>
                    <a:cubicBezTo>
                      <a:pt x="307" y="194"/>
                      <a:pt x="307" y="197"/>
                      <a:pt x="308" y="200"/>
                    </a:cubicBezTo>
                    <a:cubicBezTo>
                      <a:pt x="308" y="202"/>
                      <a:pt x="309" y="206"/>
                      <a:pt x="309" y="207"/>
                    </a:cubicBezTo>
                    <a:cubicBezTo>
                      <a:pt x="309" y="209"/>
                      <a:pt x="309" y="212"/>
                      <a:pt x="310" y="213"/>
                    </a:cubicBezTo>
                    <a:cubicBezTo>
                      <a:pt x="311" y="215"/>
                      <a:pt x="312" y="218"/>
                      <a:pt x="314" y="220"/>
                    </a:cubicBezTo>
                    <a:cubicBezTo>
                      <a:pt x="315" y="222"/>
                      <a:pt x="317" y="226"/>
                      <a:pt x="318" y="228"/>
                    </a:cubicBezTo>
                    <a:cubicBezTo>
                      <a:pt x="318" y="230"/>
                      <a:pt x="319" y="234"/>
                      <a:pt x="320" y="237"/>
                    </a:cubicBezTo>
                    <a:cubicBezTo>
                      <a:pt x="320" y="240"/>
                      <a:pt x="321" y="245"/>
                      <a:pt x="322" y="249"/>
                    </a:cubicBezTo>
                    <a:cubicBezTo>
                      <a:pt x="322" y="252"/>
                      <a:pt x="323" y="256"/>
                      <a:pt x="323" y="256"/>
                    </a:cubicBezTo>
                    <a:cubicBezTo>
                      <a:pt x="323" y="256"/>
                      <a:pt x="322" y="254"/>
                      <a:pt x="321" y="251"/>
                    </a:cubicBezTo>
                    <a:cubicBezTo>
                      <a:pt x="320" y="249"/>
                      <a:pt x="318" y="246"/>
                      <a:pt x="316" y="245"/>
                    </a:cubicBezTo>
                    <a:cubicBezTo>
                      <a:pt x="315" y="244"/>
                      <a:pt x="314" y="242"/>
                      <a:pt x="314" y="240"/>
                    </a:cubicBezTo>
                    <a:cubicBezTo>
                      <a:pt x="314" y="238"/>
                      <a:pt x="314" y="236"/>
                      <a:pt x="314" y="234"/>
                    </a:cubicBezTo>
                    <a:cubicBezTo>
                      <a:pt x="314" y="232"/>
                      <a:pt x="314" y="230"/>
                      <a:pt x="313" y="229"/>
                    </a:cubicBezTo>
                    <a:cubicBezTo>
                      <a:pt x="313" y="228"/>
                      <a:pt x="312" y="227"/>
                      <a:pt x="311" y="226"/>
                    </a:cubicBezTo>
                    <a:cubicBezTo>
                      <a:pt x="310" y="226"/>
                      <a:pt x="309" y="225"/>
                      <a:pt x="309" y="224"/>
                    </a:cubicBezTo>
                    <a:cubicBezTo>
                      <a:pt x="309" y="223"/>
                      <a:pt x="309" y="220"/>
                      <a:pt x="308" y="219"/>
                    </a:cubicBezTo>
                    <a:cubicBezTo>
                      <a:pt x="307" y="217"/>
                      <a:pt x="305" y="215"/>
                      <a:pt x="304" y="213"/>
                    </a:cubicBezTo>
                    <a:cubicBezTo>
                      <a:pt x="303" y="212"/>
                      <a:pt x="302" y="209"/>
                      <a:pt x="302" y="207"/>
                    </a:cubicBezTo>
                    <a:cubicBezTo>
                      <a:pt x="302" y="204"/>
                      <a:pt x="302" y="201"/>
                      <a:pt x="303" y="200"/>
                    </a:cubicBezTo>
                    <a:cubicBezTo>
                      <a:pt x="303" y="199"/>
                      <a:pt x="303" y="197"/>
                      <a:pt x="302" y="196"/>
                    </a:cubicBezTo>
                    <a:cubicBezTo>
                      <a:pt x="302" y="195"/>
                      <a:pt x="302" y="194"/>
                      <a:pt x="302" y="193"/>
                    </a:cubicBezTo>
                    <a:cubicBezTo>
                      <a:pt x="303" y="193"/>
                      <a:pt x="304" y="192"/>
                      <a:pt x="304" y="192"/>
                    </a:cubicBezTo>
                    <a:cubicBezTo>
                      <a:pt x="305" y="192"/>
                      <a:pt x="305" y="192"/>
                      <a:pt x="305" y="191"/>
                    </a:cubicBezTo>
                    <a:cubicBezTo>
                      <a:pt x="305" y="190"/>
                      <a:pt x="303" y="189"/>
                      <a:pt x="301" y="189"/>
                    </a:cubicBezTo>
                    <a:cubicBezTo>
                      <a:pt x="299" y="188"/>
                      <a:pt x="295" y="188"/>
                      <a:pt x="292" y="188"/>
                    </a:cubicBezTo>
                    <a:cubicBezTo>
                      <a:pt x="289" y="188"/>
                      <a:pt x="285" y="189"/>
                      <a:pt x="283" y="190"/>
                    </a:cubicBezTo>
                    <a:cubicBezTo>
                      <a:pt x="281" y="191"/>
                      <a:pt x="278" y="193"/>
                      <a:pt x="277" y="193"/>
                    </a:cubicBezTo>
                    <a:cubicBezTo>
                      <a:pt x="276" y="194"/>
                      <a:pt x="273" y="195"/>
                      <a:pt x="271" y="197"/>
                    </a:cubicBezTo>
                    <a:cubicBezTo>
                      <a:pt x="270" y="198"/>
                      <a:pt x="266" y="200"/>
                      <a:pt x="264" y="200"/>
                    </a:cubicBezTo>
                    <a:cubicBezTo>
                      <a:pt x="262" y="201"/>
                      <a:pt x="258" y="202"/>
                      <a:pt x="256" y="202"/>
                    </a:cubicBezTo>
                    <a:cubicBezTo>
                      <a:pt x="254" y="203"/>
                      <a:pt x="252" y="203"/>
                      <a:pt x="250" y="203"/>
                    </a:cubicBezTo>
                    <a:cubicBezTo>
                      <a:pt x="248" y="203"/>
                      <a:pt x="246" y="204"/>
                      <a:pt x="245" y="204"/>
                    </a:cubicBezTo>
                    <a:cubicBezTo>
                      <a:pt x="243" y="204"/>
                      <a:pt x="240" y="205"/>
                      <a:pt x="238" y="206"/>
                    </a:cubicBezTo>
                    <a:cubicBezTo>
                      <a:pt x="235" y="207"/>
                      <a:pt x="231" y="209"/>
                      <a:pt x="229" y="211"/>
                    </a:cubicBezTo>
                    <a:cubicBezTo>
                      <a:pt x="227" y="213"/>
                      <a:pt x="225" y="217"/>
                      <a:pt x="225" y="220"/>
                    </a:cubicBezTo>
                    <a:cubicBezTo>
                      <a:pt x="224" y="222"/>
                      <a:pt x="222" y="225"/>
                      <a:pt x="220" y="226"/>
                    </a:cubicBezTo>
                    <a:cubicBezTo>
                      <a:pt x="218" y="226"/>
                      <a:pt x="216" y="227"/>
                      <a:pt x="214" y="228"/>
                    </a:cubicBezTo>
                    <a:cubicBezTo>
                      <a:pt x="213" y="229"/>
                      <a:pt x="211" y="229"/>
                      <a:pt x="209" y="229"/>
                    </a:cubicBezTo>
                    <a:cubicBezTo>
                      <a:pt x="208" y="229"/>
                      <a:pt x="205" y="229"/>
                      <a:pt x="203" y="229"/>
                    </a:cubicBezTo>
                    <a:cubicBezTo>
                      <a:pt x="201" y="229"/>
                      <a:pt x="197" y="229"/>
                      <a:pt x="194" y="228"/>
                    </a:cubicBezTo>
                    <a:cubicBezTo>
                      <a:pt x="191" y="228"/>
                      <a:pt x="188" y="228"/>
                      <a:pt x="186" y="228"/>
                    </a:cubicBezTo>
                    <a:cubicBezTo>
                      <a:pt x="184" y="229"/>
                      <a:pt x="182" y="231"/>
                      <a:pt x="182" y="233"/>
                    </a:cubicBezTo>
                    <a:cubicBezTo>
                      <a:pt x="181" y="236"/>
                      <a:pt x="179" y="241"/>
                      <a:pt x="178" y="245"/>
                    </a:cubicBezTo>
                    <a:cubicBezTo>
                      <a:pt x="177" y="249"/>
                      <a:pt x="175" y="255"/>
                      <a:pt x="174" y="258"/>
                    </a:cubicBezTo>
                    <a:cubicBezTo>
                      <a:pt x="173" y="262"/>
                      <a:pt x="171" y="266"/>
                      <a:pt x="171" y="269"/>
                    </a:cubicBezTo>
                    <a:cubicBezTo>
                      <a:pt x="170" y="271"/>
                      <a:pt x="168" y="274"/>
                      <a:pt x="167" y="276"/>
                    </a:cubicBezTo>
                    <a:cubicBezTo>
                      <a:pt x="166" y="278"/>
                      <a:pt x="164" y="279"/>
                      <a:pt x="164" y="279"/>
                    </a:cubicBezTo>
                    <a:cubicBezTo>
                      <a:pt x="164" y="279"/>
                      <a:pt x="165" y="276"/>
                      <a:pt x="165" y="273"/>
                    </a:cubicBezTo>
                    <a:cubicBezTo>
                      <a:pt x="165" y="270"/>
                      <a:pt x="167" y="266"/>
                      <a:pt x="168" y="264"/>
                    </a:cubicBezTo>
                    <a:cubicBezTo>
                      <a:pt x="169" y="262"/>
                      <a:pt x="170" y="260"/>
                      <a:pt x="171" y="258"/>
                    </a:cubicBezTo>
                    <a:cubicBezTo>
                      <a:pt x="172" y="257"/>
                      <a:pt x="172" y="255"/>
                      <a:pt x="171" y="254"/>
                    </a:cubicBezTo>
                    <a:cubicBezTo>
                      <a:pt x="170" y="253"/>
                      <a:pt x="170" y="251"/>
                      <a:pt x="171" y="250"/>
                    </a:cubicBezTo>
                    <a:cubicBezTo>
                      <a:pt x="171" y="249"/>
                      <a:pt x="172" y="246"/>
                      <a:pt x="173" y="245"/>
                    </a:cubicBezTo>
                    <a:cubicBezTo>
                      <a:pt x="173" y="243"/>
                      <a:pt x="173" y="241"/>
                      <a:pt x="173" y="239"/>
                    </a:cubicBezTo>
                    <a:cubicBezTo>
                      <a:pt x="173" y="238"/>
                      <a:pt x="173" y="236"/>
                      <a:pt x="174" y="235"/>
                    </a:cubicBezTo>
                    <a:cubicBezTo>
                      <a:pt x="175" y="234"/>
                      <a:pt x="176" y="231"/>
                      <a:pt x="177" y="229"/>
                    </a:cubicBezTo>
                    <a:cubicBezTo>
                      <a:pt x="178" y="226"/>
                      <a:pt x="177" y="225"/>
                      <a:pt x="175" y="227"/>
                    </a:cubicBezTo>
                    <a:cubicBezTo>
                      <a:pt x="173" y="228"/>
                      <a:pt x="171" y="227"/>
                      <a:pt x="172" y="226"/>
                    </a:cubicBezTo>
                    <a:cubicBezTo>
                      <a:pt x="173" y="224"/>
                      <a:pt x="174" y="222"/>
                      <a:pt x="175" y="221"/>
                    </a:cubicBezTo>
                    <a:cubicBezTo>
                      <a:pt x="177" y="220"/>
                      <a:pt x="177" y="219"/>
                      <a:pt x="176" y="218"/>
                    </a:cubicBezTo>
                    <a:cubicBezTo>
                      <a:pt x="175" y="218"/>
                      <a:pt x="172" y="218"/>
                      <a:pt x="171" y="219"/>
                    </a:cubicBezTo>
                    <a:cubicBezTo>
                      <a:pt x="169" y="219"/>
                      <a:pt x="166" y="220"/>
                      <a:pt x="164" y="221"/>
                    </a:cubicBezTo>
                    <a:cubicBezTo>
                      <a:pt x="162" y="221"/>
                      <a:pt x="159" y="221"/>
                      <a:pt x="158" y="221"/>
                    </a:cubicBezTo>
                    <a:cubicBezTo>
                      <a:pt x="157" y="221"/>
                      <a:pt x="155" y="219"/>
                      <a:pt x="153" y="218"/>
                    </a:cubicBezTo>
                    <a:cubicBezTo>
                      <a:pt x="151" y="217"/>
                      <a:pt x="149" y="215"/>
                      <a:pt x="149" y="214"/>
                    </a:cubicBezTo>
                    <a:cubicBezTo>
                      <a:pt x="149" y="213"/>
                      <a:pt x="151" y="213"/>
                      <a:pt x="152" y="213"/>
                    </a:cubicBezTo>
                    <a:cubicBezTo>
                      <a:pt x="153" y="213"/>
                      <a:pt x="156" y="215"/>
                      <a:pt x="158" y="216"/>
                    </a:cubicBezTo>
                    <a:cubicBezTo>
                      <a:pt x="159" y="217"/>
                      <a:pt x="161" y="217"/>
                      <a:pt x="160" y="216"/>
                    </a:cubicBezTo>
                    <a:cubicBezTo>
                      <a:pt x="160" y="215"/>
                      <a:pt x="161" y="214"/>
                      <a:pt x="163" y="215"/>
                    </a:cubicBezTo>
                    <a:cubicBezTo>
                      <a:pt x="165" y="215"/>
                      <a:pt x="166" y="215"/>
                      <a:pt x="165" y="214"/>
                    </a:cubicBezTo>
                    <a:cubicBezTo>
                      <a:pt x="164" y="213"/>
                      <a:pt x="163" y="212"/>
                      <a:pt x="161" y="211"/>
                    </a:cubicBezTo>
                    <a:cubicBezTo>
                      <a:pt x="160" y="210"/>
                      <a:pt x="158" y="208"/>
                      <a:pt x="156" y="207"/>
                    </a:cubicBezTo>
                    <a:cubicBezTo>
                      <a:pt x="155" y="205"/>
                      <a:pt x="154" y="204"/>
                      <a:pt x="154" y="204"/>
                    </a:cubicBezTo>
                    <a:cubicBezTo>
                      <a:pt x="154" y="204"/>
                      <a:pt x="155" y="204"/>
                      <a:pt x="156" y="204"/>
                    </a:cubicBezTo>
                    <a:cubicBezTo>
                      <a:pt x="157" y="204"/>
                      <a:pt x="160" y="205"/>
                      <a:pt x="162" y="206"/>
                    </a:cubicBezTo>
                    <a:cubicBezTo>
                      <a:pt x="164" y="207"/>
                      <a:pt x="167" y="209"/>
                      <a:pt x="168" y="210"/>
                    </a:cubicBezTo>
                    <a:cubicBezTo>
                      <a:pt x="169" y="212"/>
                      <a:pt x="171" y="213"/>
                      <a:pt x="173" y="213"/>
                    </a:cubicBezTo>
                    <a:cubicBezTo>
                      <a:pt x="175" y="213"/>
                      <a:pt x="177" y="212"/>
                      <a:pt x="178" y="210"/>
                    </a:cubicBezTo>
                    <a:cubicBezTo>
                      <a:pt x="179" y="209"/>
                      <a:pt x="179" y="208"/>
                      <a:pt x="178" y="209"/>
                    </a:cubicBezTo>
                    <a:cubicBezTo>
                      <a:pt x="176" y="210"/>
                      <a:pt x="174" y="210"/>
                      <a:pt x="173" y="210"/>
                    </a:cubicBezTo>
                    <a:cubicBezTo>
                      <a:pt x="172" y="210"/>
                      <a:pt x="172" y="210"/>
                      <a:pt x="172" y="209"/>
                    </a:cubicBezTo>
                    <a:cubicBezTo>
                      <a:pt x="173" y="208"/>
                      <a:pt x="173" y="206"/>
                      <a:pt x="174" y="205"/>
                    </a:cubicBezTo>
                    <a:cubicBezTo>
                      <a:pt x="175" y="204"/>
                      <a:pt x="176" y="204"/>
                      <a:pt x="178" y="204"/>
                    </a:cubicBezTo>
                    <a:cubicBezTo>
                      <a:pt x="179" y="204"/>
                      <a:pt x="181" y="204"/>
                      <a:pt x="181" y="205"/>
                    </a:cubicBezTo>
                    <a:cubicBezTo>
                      <a:pt x="182" y="205"/>
                      <a:pt x="184" y="206"/>
                      <a:pt x="185" y="206"/>
                    </a:cubicBezTo>
                    <a:cubicBezTo>
                      <a:pt x="186" y="207"/>
                      <a:pt x="189" y="207"/>
                      <a:pt x="190" y="208"/>
                    </a:cubicBezTo>
                    <a:cubicBezTo>
                      <a:pt x="192" y="209"/>
                      <a:pt x="195" y="210"/>
                      <a:pt x="198" y="211"/>
                    </a:cubicBezTo>
                    <a:cubicBezTo>
                      <a:pt x="200" y="212"/>
                      <a:pt x="202" y="214"/>
                      <a:pt x="201" y="216"/>
                    </a:cubicBezTo>
                    <a:cubicBezTo>
                      <a:pt x="201" y="218"/>
                      <a:pt x="201" y="221"/>
                      <a:pt x="201" y="223"/>
                    </a:cubicBezTo>
                    <a:cubicBezTo>
                      <a:pt x="201" y="224"/>
                      <a:pt x="203" y="225"/>
                      <a:pt x="205" y="226"/>
                    </a:cubicBezTo>
                    <a:cubicBezTo>
                      <a:pt x="207" y="227"/>
                      <a:pt x="211" y="227"/>
                      <a:pt x="213" y="226"/>
                    </a:cubicBezTo>
                    <a:cubicBezTo>
                      <a:pt x="215" y="225"/>
                      <a:pt x="218" y="224"/>
                      <a:pt x="219" y="222"/>
                    </a:cubicBezTo>
                    <a:cubicBezTo>
                      <a:pt x="221" y="221"/>
                      <a:pt x="222" y="217"/>
                      <a:pt x="222" y="215"/>
                    </a:cubicBezTo>
                    <a:cubicBezTo>
                      <a:pt x="223" y="212"/>
                      <a:pt x="224" y="209"/>
                      <a:pt x="226" y="208"/>
                    </a:cubicBezTo>
                    <a:cubicBezTo>
                      <a:pt x="228" y="207"/>
                      <a:pt x="232" y="205"/>
                      <a:pt x="235" y="203"/>
                    </a:cubicBezTo>
                    <a:cubicBezTo>
                      <a:pt x="238" y="202"/>
                      <a:pt x="243" y="200"/>
                      <a:pt x="246" y="200"/>
                    </a:cubicBezTo>
                    <a:cubicBezTo>
                      <a:pt x="249" y="199"/>
                      <a:pt x="253" y="198"/>
                      <a:pt x="255" y="198"/>
                    </a:cubicBezTo>
                    <a:cubicBezTo>
                      <a:pt x="257" y="197"/>
                      <a:pt x="260" y="197"/>
                      <a:pt x="262" y="196"/>
                    </a:cubicBezTo>
                    <a:cubicBezTo>
                      <a:pt x="265" y="195"/>
                      <a:pt x="269" y="193"/>
                      <a:pt x="273" y="191"/>
                    </a:cubicBezTo>
                    <a:cubicBezTo>
                      <a:pt x="277" y="188"/>
                      <a:pt x="283" y="186"/>
                      <a:pt x="286" y="186"/>
                    </a:cubicBezTo>
                    <a:cubicBezTo>
                      <a:pt x="290" y="185"/>
                      <a:pt x="294" y="184"/>
                      <a:pt x="296" y="184"/>
                    </a:cubicBezTo>
                    <a:cubicBezTo>
                      <a:pt x="299" y="183"/>
                      <a:pt x="302" y="181"/>
                      <a:pt x="304" y="180"/>
                    </a:cubicBezTo>
                    <a:cubicBezTo>
                      <a:pt x="307" y="179"/>
                      <a:pt x="309" y="179"/>
                      <a:pt x="311" y="181"/>
                    </a:cubicBezTo>
                    <a:cubicBezTo>
                      <a:pt x="312" y="182"/>
                      <a:pt x="314" y="182"/>
                      <a:pt x="315" y="181"/>
                    </a:cubicBezTo>
                    <a:cubicBezTo>
                      <a:pt x="316" y="180"/>
                      <a:pt x="318" y="178"/>
                      <a:pt x="319" y="175"/>
                    </a:cubicBezTo>
                    <a:cubicBezTo>
                      <a:pt x="320" y="173"/>
                      <a:pt x="321" y="170"/>
                      <a:pt x="323" y="169"/>
                    </a:cubicBezTo>
                    <a:cubicBezTo>
                      <a:pt x="324" y="168"/>
                      <a:pt x="326" y="166"/>
                      <a:pt x="327" y="165"/>
                    </a:cubicBezTo>
                    <a:cubicBezTo>
                      <a:pt x="329" y="163"/>
                      <a:pt x="330" y="162"/>
                      <a:pt x="330" y="162"/>
                    </a:cubicBezTo>
                    <a:cubicBezTo>
                      <a:pt x="330" y="162"/>
                      <a:pt x="327" y="163"/>
                      <a:pt x="323" y="165"/>
                    </a:cubicBezTo>
                    <a:cubicBezTo>
                      <a:pt x="320" y="166"/>
                      <a:pt x="316" y="167"/>
                      <a:pt x="314" y="168"/>
                    </a:cubicBezTo>
                    <a:cubicBezTo>
                      <a:pt x="312" y="168"/>
                      <a:pt x="309" y="167"/>
                      <a:pt x="306" y="166"/>
                    </a:cubicBezTo>
                    <a:cubicBezTo>
                      <a:pt x="304" y="165"/>
                      <a:pt x="301" y="162"/>
                      <a:pt x="301" y="159"/>
                    </a:cubicBezTo>
                    <a:cubicBezTo>
                      <a:pt x="301" y="156"/>
                      <a:pt x="299" y="153"/>
                      <a:pt x="297" y="153"/>
                    </a:cubicBezTo>
                    <a:cubicBezTo>
                      <a:pt x="296" y="153"/>
                      <a:pt x="294" y="152"/>
                      <a:pt x="294" y="150"/>
                    </a:cubicBezTo>
                    <a:cubicBezTo>
                      <a:pt x="294" y="149"/>
                      <a:pt x="293" y="146"/>
                      <a:pt x="291" y="144"/>
                    </a:cubicBezTo>
                    <a:cubicBezTo>
                      <a:pt x="290" y="143"/>
                      <a:pt x="289" y="140"/>
                      <a:pt x="289" y="138"/>
                    </a:cubicBezTo>
                    <a:cubicBezTo>
                      <a:pt x="289" y="136"/>
                      <a:pt x="288" y="133"/>
                      <a:pt x="287" y="130"/>
                    </a:cubicBezTo>
                    <a:cubicBezTo>
                      <a:pt x="285" y="128"/>
                      <a:pt x="282" y="125"/>
                      <a:pt x="279" y="122"/>
                    </a:cubicBezTo>
                    <a:cubicBezTo>
                      <a:pt x="277" y="120"/>
                      <a:pt x="273" y="116"/>
                      <a:pt x="272" y="113"/>
                    </a:cubicBezTo>
                    <a:cubicBezTo>
                      <a:pt x="271" y="111"/>
                      <a:pt x="269" y="105"/>
                      <a:pt x="268" y="101"/>
                    </a:cubicBezTo>
                    <a:cubicBezTo>
                      <a:pt x="266" y="98"/>
                      <a:pt x="266" y="92"/>
                      <a:pt x="266" y="90"/>
                    </a:cubicBezTo>
                    <a:cubicBezTo>
                      <a:pt x="267" y="87"/>
                      <a:pt x="267" y="84"/>
                      <a:pt x="265" y="83"/>
                    </a:cubicBezTo>
                    <a:cubicBezTo>
                      <a:pt x="264" y="82"/>
                      <a:pt x="262" y="80"/>
                      <a:pt x="260" y="79"/>
                    </a:cubicBezTo>
                    <a:cubicBezTo>
                      <a:pt x="259" y="78"/>
                      <a:pt x="256" y="75"/>
                      <a:pt x="254" y="72"/>
                    </a:cubicBezTo>
                    <a:cubicBezTo>
                      <a:pt x="253" y="69"/>
                      <a:pt x="251" y="65"/>
                      <a:pt x="251" y="63"/>
                    </a:cubicBezTo>
                    <a:cubicBezTo>
                      <a:pt x="251" y="60"/>
                      <a:pt x="250" y="57"/>
                      <a:pt x="248" y="56"/>
                    </a:cubicBezTo>
                    <a:cubicBezTo>
                      <a:pt x="247" y="55"/>
                      <a:pt x="245" y="53"/>
                      <a:pt x="243" y="53"/>
                    </a:cubicBezTo>
                    <a:cubicBezTo>
                      <a:pt x="241" y="52"/>
                      <a:pt x="239" y="52"/>
                      <a:pt x="237" y="52"/>
                    </a:cubicBezTo>
                    <a:cubicBezTo>
                      <a:pt x="236" y="52"/>
                      <a:pt x="233" y="52"/>
                      <a:pt x="232" y="50"/>
                    </a:cubicBezTo>
                    <a:cubicBezTo>
                      <a:pt x="230" y="49"/>
                      <a:pt x="228" y="48"/>
                      <a:pt x="227" y="47"/>
                    </a:cubicBezTo>
                    <a:cubicBezTo>
                      <a:pt x="226" y="47"/>
                      <a:pt x="223" y="45"/>
                      <a:pt x="222" y="44"/>
                    </a:cubicBezTo>
                    <a:cubicBezTo>
                      <a:pt x="220" y="43"/>
                      <a:pt x="217" y="40"/>
                      <a:pt x="215" y="39"/>
                    </a:cubicBezTo>
                    <a:cubicBezTo>
                      <a:pt x="212" y="37"/>
                      <a:pt x="206" y="35"/>
                      <a:pt x="202" y="35"/>
                    </a:cubicBezTo>
                    <a:cubicBezTo>
                      <a:pt x="197" y="35"/>
                      <a:pt x="192" y="31"/>
                      <a:pt x="192" y="27"/>
                    </a:cubicBezTo>
                    <a:cubicBezTo>
                      <a:pt x="191" y="23"/>
                      <a:pt x="191" y="17"/>
                      <a:pt x="193" y="15"/>
                    </a:cubicBezTo>
                    <a:cubicBezTo>
                      <a:pt x="194" y="12"/>
                      <a:pt x="196" y="10"/>
                      <a:pt x="196" y="10"/>
                    </a:cubicBezTo>
                    <a:cubicBezTo>
                      <a:pt x="192" y="6"/>
                      <a:pt x="192" y="6"/>
                      <a:pt x="192" y="6"/>
                    </a:cubicBezTo>
                    <a:cubicBezTo>
                      <a:pt x="192" y="6"/>
                      <a:pt x="190" y="6"/>
                      <a:pt x="189" y="6"/>
                    </a:cubicBezTo>
                    <a:cubicBezTo>
                      <a:pt x="187" y="6"/>
                      <a:pt x="184" y="4"/>
                      <a:pt x="183" y="3"/>
                    </a:cubicBezTo>
                    <a:cubicBezTo>
                      <a:pt x="182" y="1"/>
                      <a:pt x="179" y="0"/>
                      <a:pt x="178" y="0"/>
                    </a:cubicBezTo>
                    <a:cubicBezTo>
                      <a:pt x="176" y="1"/>
                      <a:pt x="173" y="1"/>
                      <a:pt x="172" y="2"/>
                    </a:cubicBezTo>
                    <a:cubicBezTo>
                      <a:pt x="170" y="3"/>
                      <a:pt x="168" y="3"/>
                      <a:pt x="167" y="3"/>
                    </a:cubicBezTo>
                    <a:cubicBezTo>
                      <a:pt x="166" y="3"/>
                      <a:pt x="164" y="4"/>
                      <a:pt x="162" y="6"/>
                    </a:cubicBezTo>
                    <a:cubicBezTo>
                      <a:pt x="160" y="8"/>
                      <a:pt x="158" y="8"/>
                      <a:pt x="157" y="8"/>
                    </a:cubicBezTo>
                    <a:cubicBezTo>
                      <a:pt x="156" y="7"/>
                      <a:pt x="154" y="6"/>
                      <a:pt x="151" y="7"/>
                    </a:cubicBezTo>
                    <a:cubicBezTo>
                      <a:pt x="149" y="7"/>
                      <a:pt x="145" y="6"/>
                      <a:pt x="143" y="6"/>
                    </a:cubicBezTo>
                    <a:cubicBezTo>
                      <a:pt x="141" y="5"/>
                      <a:pt x="137" y="7"/>
                      <a:pt x="134" y="10"/>
                    </a:cubicBezTo>
                    <a:cubicBezTo>
                      <a:pt x="131" y="13"/>
                      <a:pt x="131" y="17"/>
                      <a:pt x="133" y="19"/>
                    </a:cubicBezTo>
                    <a:cubicBezTo>
                      <a:pt x="135" y="22"/>
                      <a:pt x="137" y="25"/>
                      <a:pt x="138" y="27"/>
                    </a:cubicBezTo>
                    <a:cubicBezTo>
                      <a:pt x="139" y="29"/>
                      <a:pt x="138" y="31"/>
                      <a:pt x="136" y="32"/>
                    </a:cubicBezTo>
                    <a:cubicBezTo>
                      <a:pt x="135" y="33"/>
                      <a:pt x="131" y="34"/>
                      <a:pt x="129" y="33"/>
                    </a:cubicBezTo>
                    <a:cubicBezTo>
                      <a:pt x="126" y="32"/>
                      <a:pt x="122" y="31"/>
                      <a:pt x="120" y="31"/>
                    </a:cubicBezTo>
                    <a:cubicBezTo>
                      <a:pt x="117" y="30"/>
                      <a:pt x="114" y="29"/>
                      <a:pt x="111" y="29"/>
                    </a:cubicBezTo>
                    <a:cubicBezTo>
                      <a:pt x="108" y="29"/>
                      <a:pt x="106" y="28"/>
                      <a:pt x="106" y="28"/>
                    </a:cubicBezTo>
                    <a:cubicBezTo>
                      <a:pt x="106" y="28"/>
                      <a:pt x="105" y="29"/>
                      <a:pt x="103" y="30"/>
                    </a:cubicBezTo>
                    <a:cubicBezTo>
                      <a:pt x="101" y="30"/>
                      <a:pt x="98" y="31"/>
                      <a:pt x="96" y="31"/>
                    </a:cubicBezTo>
                    <a:cubicBezTo>
                      <a:pt x="93" y="31"/>
                      <a:pt x="90" y="30"/>
                      <a:pt x="89" y="29"/>
                    </a:cubicBezTo>
                    <a:cubicBezTo>
                      <a:pt x="87" y="27"/>
                      <a:pt x="84" y="27"/>
                      <a:pt x="82" y="28"/>
                    </a:cubicBezTo>
                    <a:cubicBezTo>
                      <a:pt x="80" y="29"/>
                      <a:pt x="77" y="29"/>
                      <a:pt x="75" y="29"/>
                    </a:cubicBezTo>
                    <a:cubicBezTo>
                      <a:pt x="74" y="29"/>
                      <a:pt x="72" y="31"/>
                      <a:pt x="71" y="33"/>
                    </a:cubicBezTo>
                    <a:cubicBezTo>
                      <a:pt x="70" y="35"/>
                      <a:pt x="69" y="37"/>
                      <a:pt x="67" y="39"/>
                    </a:cubicBezTo>
                    <a:cubicBezTo>
                      <a:pt x="66" y="40"/>
                      <a:pt x="63" y="40"/>
                      <a:pt x="61" y="40"/>
                    </a:cubicBezTo>
                    <a:cubicBezTo>
                      <a:pt x="58" y="39"/>
                      <a:pt x="56" y="39"/>
                      <a:pt x="55" y="40"/>
                    </a:cubicBezTo>
                    <a:cubicBezTo>
                      <a:pt x="54" y="41"/>
                      <a:pt x="52" y="42"/>
                      <a:pt x="49" y="43"/>
                    </a:cubicBezTo>
                    <a:cubicBezTo>
                      <a:pt x="46" y="44"/>
                      <a:pt x="44" y="45"/>
                      <a:pt x="43" y="47"/>
                    </a:cubicBezTo>
                    <a:cubicBezTo>
                      <a:pt x="42" y="48"/>
                      <a:pt x="39" y="48"/>
                      <a:pt x="36" y="47"/>
                    </a:cubicBezTo>
                    <a:cubicBezTo>
                      <a:pt x="33" y="46"/>
                      <a:pt x="31" y="47"/>
                      <a:pt x="30" y="48"/>
                    </a:cubicBezTo>
                    <a:cubicBezTo>
                      <a:pt x="30" y="49"/>
                      <a:pt x="28" y="51"/>
                      <a:pt x="25" y="52"/>
                    </a:cubicBezTo>
                    <a:cubicBezTo>
                      <a:pt x="23" y="53"/>
                      <a:pt x="21" y="55"/>
                      <a:pt x="21" y="57"/>
                    </a:cubicBezTo>
                    <a:cubicBezTo>
                      <a:pt x="21" y="58"/>
                      <a:pt x="19" y="60"/>
                      <a:pt x="16" y="61"/>
                    </a:cubicBezTo>
                    <a:cubicBezTo>
                      <a:pt x="14" y="61"/>
                      <a:pt x="11" y="62"/>
                      <a:pt x="10" y="63"/>
                    </a:cubicBezTo>
                    <a:cubicBezTo>
                      <a:pt x="9" y="64"/>
                      <a:pt x="6" y="63"/>
                      <a:pt x="4" y="62"/>
                    </a:cubicBezTo>
                    <a:cubicBezTo>
                      <a:pt x="2" y="60"/>
                      <a:pt x="0" y="58"/>
                      <a:pt x="0" y="58"/>
                    </a:cubicBezTo>
                    <a:cubicBezTo>
                      <a:pt x="3" y="107"/>
                      <a:pt x="3" y="107"/>
                      <a:pt x="3" y="107"/>
                    </a:cubicBezTo>
                    <a:cubicBezTo>
                      <a:pt x="3" y="107"/>
                      <a:pt x="3" y="110"/>
                      <a:pt x="4" y="1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407924" tIns="203962" rIns="407924" bIns="20396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246" dirty="0"/>
              </a:p>
            </p:txBody>
          </p:sp>
          <p:sp>
            <p:nvSpPr>
              <p:cNvPr id="1205" name="Freeform 7">
                <a:extLst>
                  <a:ext uri="{FF2B5EF4-FFF2-40B4-BE49-F238E27FC236}">
                    <a16:creationId xmlns:a16="http://schemas.microsoft.com/office/drawing/2014/main" id="{01579DC3-0ECF-BBE7-E66E-E76F8F88B9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3873" y="2702201"/>
                <a:ext cx="717433" cy="941211"/>
              </a:xfrm>
              <a:custGeom>
                <a:avLst/>
                <a:gdLst/>
                <a:ahLst/>
                <a:cxnLst>
                  <a:cxn ang="0">
                    <a:pos x="114" y="36"/>
                  </a:cxn>
                  <a:cxn ang="0">
                    <a:pos x="96" y="71"/>
                  </a:cxn>
                  <a:cxn ang="0">
                    <a:pos x="80" y="102"/>
                  </a:cxn>
                  <a:cxn ang="0">
                    <a:pos x="61" y="134"/>
                  </a:cxn>
                  <a:cxn ang="0">
                    <a:pos x="20" y="167"/>
                  </a:cxn>
                  <a:cxn ang="0">
                    <a:pos x="21" y="181"/>
                  </a:cxn>
                  <a:cxn ang="0">
                    <a:pos x="51" y="196"/>
                  </a:cxn>
                  <a:cxn ang="0">
                    <a:pos x="58" y="227"/>
                  </a:cxn>
                  <a:cxn ang="0">
                    <a:pos x="54" y="256"/>
                  </a:cxn>
                  <a:cxn ang="0">
                    <a:pos x="47" y="276"/>
                  </a:cxn>
                  <a:cxn ang="0">
                    <a:pos x="52" y="285"/>
                  </a:cxn>
                  <a:cxn ang="0">
                    <a:pos x="86" y="306"/>
                  </a:cxn>
                  <a:cxn ang="0">
                    <a:pos x="93" y="328"/>
                  </a:cxn>
                  <a:cxn ang="0">
                    <a:pos x="73" y="351"/>
                  </a:cxn>
                  <a:cxn ang="0">
                    <a:pos x="88" y="376"/>
                  </a:cxn>
                  <a:cxn ang="0">
                    <a:pos x="98" y="404"/>
                  </a:cxn>
                  <a:cxn ang="0">
                    <a:pos x="120" y="410"/>
                  </a:cxn>
                  <a:cxn ang="0">
                    <a:pos x="125" y="375"/>
                  </a:cxn>
                  <a:cxn ang="0">
                    <a:pos x="124" y="344"/>
                  </a:cxn>
                  <a:cxn ang="0">
                    <a:pos x="147" y="295"/>
                  </a:cxn>
                  <a:cxn ang="0">
                    <a:pos x="184" y="279"/>
                  </a:cxn>
                  <a:cxn ang="0">
                    <a:pos x="217" y="255"/>
                  </a:cxn>
                  <a:cxn ang="0">
                    <a:pos x="258" y="251"/>
                  </a:cxn>
                  <a:cxn ang="0">
                    <a:pos x="252" y="211"/>
                  </a:cxn>
                  <a:cxn ang="0">
                    <a:pos x="261" y="160"/>
                  </a:cxn>
                  <a:cxn ang="0">
                    <a:pos x="268" y="130"/>
                  </a:cxn>
                  <a:cxn ang="0">
                    <a:pos x="302" y="99"/>
                  </a:cxn>
                  <a:cxn ang="0">
                    <a:pos x="308" y="79"/>
                  </a:cxn>
                  <a:cxn ang="0">
                    <a:pos x="294" y="80"/>
                  </a:cxn>
                  <a:cxn ang="0">
                    <a:pos x="275" y="73"/>
                  </a:cxn>
                  <a:cxn ang="0">
                    <a:pos x="244" y="60"/>
                  </a:cxn>
                  <a:cxn ang="0">
                    <a:pos x="233" y="65"/>
                  </a:cxn>
                  <a:cxn ang="0">
                    <a:pos x="220" y="69"/>
                  </a:cxn>
                  <a:cxn ang="0">
                    <a:pos x="205" y="79"/>
                  </a:cxn>
                  <a:cxn ang="0">
                    <a:pos x="211" y="64"/>
                  </a:cxn>
                  <a:cxn ang="0">
                    <a:pos x="194" y="81"/>
                  </a:cxn>
                  <a:cxn ang="0">
                    <a:pos x="179" y="94"/>
                  </a:cxn>
                  <a:cxn ang="0">
                    <a:pos x="184" y="75"/>
                  </a:cxn>
                  <a:cxn ang="0">
                    <a:pos x="196" y="57"/>
                  </a:cxn>
                  <a:cxn ang="0">
                    <a:pos x="185" y="56"/>
                  </a:cxn>
                  <a:cxn ang="0">
                    <a:pos x="186" y="49"/>
                  </a:cxn>
                  <a:cxn ang="0">
                    <a:pos x="184" y="33"/>
                  </a:cxn>
                  <a:cxn ang="0">
                    <a:pos x="176" y="23"/>
                  </a:cxn>
                  <a:cxn ang="0">
                    <a:pos x="172" y="17"/>
                  </a:cxn>
                  <a:cxn ang="0">
                    <a:pos x="157" y="26"/>
                  </a:cxn>
                  <a:cxn ang="0">
                    <a:pos x="153" y="17"/>
                  </a:cxn>
                  <a:cxn ang="0">
                    <a:pos x="147" y="16"/>
                  </a:cxn>
                  <a:cxn ang="0">
                    <a:pos x="140" y="11"/>
                  </a:cxn>
                  <a:cxn ang="0">
                    <a:pos x="131" y="5"/>
                  </a:cxn>
                  <a:cxn ang="0">
                    <a:pos x="120" y="0"/>
                  </a:cxn>
                </a:cxnLst>
                <a:rect l="0" t="0" r="r" b="b"/>
                <a:pathLst>
                  <a:path w="316" h="415">
                    <a:moveTo>
                      <a:pt x="116" y="16"/>
                    </a:moveTo>
                    <a:cubicBezTo>
                      <a:pt x="116" y="19"/>
                      <a:pt x="115" y="22"/>
                      <a:pt x="114" y="22"/>
                    </a:cubicBezTo>
                    <a:cubicBezTo>
                      <a:pt x="113" y="23"/>
                      <a:pt x="113" y="25"/>
                      <a:pt x="114" y="27"/>
                    </a:cubicBezTo>
                    <a:cubicBezTo>
                      <a:pt x="115" y="28"/>
                      <a:pt x="115" y="32"/>
                      <a:pt x="114" y="36"/>
                    </a:cubicBezTo>
                    <a:cubicBezTo>
                      <a:pt x="113" y="39"/>
                      <a:pt x="111" y="44"/>
                      <a:pt x="109" y="45"/>
                    </a:cubicBezTo>
                    <a:cubicBezTo>
                      <a:pt x="107" y="47"/>
                      <a:pt x="106" y="51"/>
                      <a:pt x="105" y="54"/>
                    </a:cubicBezTo>
                    <a:cubicBezTo>
                      <a:pt x="105" y="57"/>
                      <a:pt x="102" y="62"/>
                      <a:pt x="100" y="65"/>
                    </a:cubicBezTo>
                    <a:cubicBezTo>
                      <a:pt x="97" y="67"/>
                      <a:pt x="95" y="70"/>
                      <a:pt x="96" y="71"/>
                    </a:cubicBezTo>
                    <a:cubicBezTo>
                      <a:pt x="96" y="72"/>
                      <a:pt x="95" y="74"/>
                      <a:pt x="94" y="75"/>
                    </a:cubicBezTo>
                    <a:cubicBezTo>
                      <a:pt x="94" y="77"/>
                      <a:pt x="93" y="80"/>
                      <a:pt x="93" y="82"/>
                    </a:cubicBezTo>
                    <a:cubicBezTo>
                      <a:pt x="93" y="85"/>
                      <a:pt x="91" y="89"/>
                      <a:pt x="88" y="92"/>
                    </a:cubicBezTo>
                    <a:cubicBezTo>
                      <a:pt x="86" y="94"/>
                      <a:pt x="82" y="99"/>
                      <a:pt x="80" y="102"/>
                    </a:cubicBezTo>
                    <a:cubicBezTo>
                      <a:pt x="78" y="105"/>
                      <a:pt x="76" y="110"/>
                      <a:pt x="75" y="113"/>
                    </a:cubicBezTo>
                    <a:cubicBezTo>
                      <a:pt x="75" y="116"/>
                      <a:pt x="73" y="121"/>
                      <a:pt x="71" y="123"/>
                    </a:cubicBezTo>
                    <a:cubicBezTo>
                      <a:pt x="69" y="125"/>
                      <a:pt x="66" y="128"/>
                      <a:pt x="65" y="129"/>
                    </a:cubicBezTo>
                    <a:cubicBezTo>
                      <a:pt x="63" y="130"/>
                      <a:pt x="61" y="132"/>
                      <a:pt x="61" y="134"/>
                    </a:cubicBezTo>
                    <a:cubicBezTo>
                      <a:pt x="61" y="136"/>
                      <a:pt x="59" y="139"/>
                      <a:pt x="58" y="140"/>
                    </a:cubicBezTo>
                    <a:cubicBezTo>
                      <a:pt x="56" y="142"/>
                      <a:pt x="53" y="145"/>
                      <a:pt x="51" y="148"/>
                    </a:cubicBezTo>
                    <a:cubicBezTo>
                      <a:pt x="49" y="151"/>
                      <a:pt x="46" y="153"/>
                      <a:pt x="44" y="153"/>
                    </a:cubicBezTo>
                    <a:cubicBezTo>
                      <a:pt x="41" y="153"/>
                      <a:pt x="31" y="159"/>
                      <a:pt x="20" y="167"/>
                    </a:cubicBezTo>
                    <a:cubicBezTo>
                      <a:pt x="9" y="176"/>
                      <a:pt x="0" y="183"/>
                      <a:pt x="0" y="185"/>
                    </a:cubicBezTo>
                    <a:cubicBezTo>
                      <a:pt x="0" y="186"/>
                      <a:pt x="0" y="187"/>
                      <a:pt x="0" y="187"/>
                    </a:cubicBezTo>
                    <a:cubicBezTo>
                      <a:pt x="0" y="187"/>
                      <a:pt x="4" y="185"/>
                      <a:pt x="8" y="182"/>
                    </a:cubicBezTo>
                    <a:cubicBezTo>
                      <a:pt x="13" y="180"/>
                      <a:pt x="18" y="179"/>
                      <a:pt x="21" y="181"/>
                    </a:cubicBezTo>
                    <a:cubicBezTo>
                      <a:pt x="23" y="183"/>
                      <a:pt x="27" y="184"/>
                      <a:pt x="30" y="183"/>
                    </a:cubicBezTo>
                    <a:cubicBezTo>
                      <a:pt x="33" y="182"/>
                      <a:pt x="36" y="183"/>
                      <a:pt x="37" y="186"/>
                    </a:cubicBezTo>
                    <a:cubicBezTo>
                      <a:pt x="38" y="188"/>
                      <a:pt x="41" y="191"/>
                      <a:pt x="44" y="192"/>
                    </a:cubicBezTo>
                    <a:cubicBezTo>
                      <a:pt x="47" y="193"/>
                      <a:pt x="50" y="194"/>
                      <a:pt x="51" y="196"/>
                    </a:cubicBezTo>
                    <a:cubicBezTo>
                      <a:pt x="53" y="197"/>
                      <a:pt x="54" y="200"/>
                      <a:pt x="54" y="203"/>
                    </a:cubicBezTo>
                    <a:cubicBezTo>
                      <a:pt x="55" y="205"/>
                      <a:pt x="55" y="208"/>
                      <a:pt x="56" y="211"/>
                    </a:cubicBezTo>
                    <a:cubicBezTo>
                      <a:pt x="57" y="213"/>
                      <a:pt x="57" y="216"/>
                      <a:pt x="57" y="218"/>
                    </a:cubicBezTo>
                    <a:cubicBezTo>
                      <a:pt x="56" y="220"/>
                      <a:pt x="57" y="224"/>
                      <a:pt x="58" y="227"/>
                    </a:cubicBezTo>
                    <a:cubicBezTo>
                      <a:pt x="59" y="229"/>
                      <a:pt x="59" y="232"/>
                      <a:pt x="58" y="233"/>
                    </a:cubicBezTo>
                    <a:cubicBezTo>
                      <a:pt x="57" y="234"/>
                      <a:pt x="56" y="236"/>
                      <a:pt x="56" y="238"/>
                    </a:cubicBezTo>
                    <a:cubicBezTo>
                      <a:pt x="56" y="239"/>
                      <a:pt x="56" y="243"/>
                      <a:pt x="55" y="246"/>
                    </a:cubicBezTo>
                    <a:cubicBezTo>
                      <a:pt x="54" y="249"/>
                      <a:pt x="54" y="253"/>
                      <a:pt x="54" y="256"/>
                    </a:cubicBezTo>
                    <a:cubicBezTo>
                      <a:pt x="54" y="259"/>
                      <a:pt x="53" y="262"/>
                      <a:pt x="52" y="263"/>
                    </a:cubicBezTo>
                    <a:cubicBezTo>
                      <a:pt x="51" y="264"/>
                      <a:pt x="49" y="266"/>
                      <a:pt x="47" y="267"/>
                    </a:cubicBezTo>
                    <a:cubicBezTo>
                      <a:pt x="45" y="268"/>
                      <a:pt x="43" y="271"/>
                      <a:pt x="44" y="272"/>
                    </a:cubicBezTo>
                    <a:cubicBezTo>
                      <a:pt x="44" y="274"/>
                      <a:pt x="45" y="275"/>
                      <a:pt x="47" y="276"/>
                    </a:cubicBezTo>
                    <a:cubicBezTo>
                      <a:pt x="48" y="276"/>
                      <a:pt x="50" y="277"/>
                      <a:pt x="51" y="278"/>
                    </a:cubicBezTo>
                    <a:cubicBezTo>
                      <a:pt x="52" y="279"/>
                      <a:pt x="51" y="280"/>
                      <a:pt x="50" y="281"/>
                    </a:cubicBezTo>
                    <a:cubicBezTo>
                      <a:pt x="49" y="282"/>
                      <a:pt x="48" y="283"/>
                      <a:pt x="48" y="283"/>
                    </a:cubicBezTo>
                    <a:cubicBezTo>
                      <a:pt x="48" y="283"/>
                      <a:pt x="50" y="284"/>
                      <a:pt x="52" y="285"/>
                    </a:cubicBezTo>
                    <a:cubicBezTo>
                      <a:pt x="54" y="287"/>
                      <a:pt x="57" y="290"/>
                      <a:pt x="60" y="293"/>
                    </a:cubicBezTo>
                    <a:cubicBezTo>
                      <a:pt x="62" y="296"/>
                      <a:pt x="66" y="301"/>
                      <a:pt x="69" y="305"/>
                    </a:cubicBezTo>
                    <a:cubicBezTo>
                      <a:pt x="72" y="308"/>
                      <a:pt x="75" y="310"/>
                      <a:pt x="77" y="309"/>
                    </a:cubicBezTo>
                    <a:cubicBezTo>
                      <a:pt x="79" y="309"/>
                      <a:pt x="83" y="307"/>
                      <a:pt x="86" y="306"/>
                    </a:cubicBezTo>
                    <a:cubicBezTo>
                      <a:pt x="89" y="305"/>
                      <a:pt x="93" y="305"/>
                      <a:pt x="94" y="307"/>
                    </a:cubicBezTo>
                    <a:cubicBezTo>
                      <a:pt x="96" y="308"/>
                      <a:pt x="97" y="311"/>
                      <a:pt x="97" y="314"/>
                    </a:cubicBezTo>
                    <a:cubicBezTo>
                      <a:pt x="96" y="317"/>
                      <a:pt x="96" y="321"/>
                      <a:pt x="96" y="323"/>
                    </a:cubicBezTo>
                    <a:cubicBezTo>
                      <a:pt x="96" y="326"/>
                      <a:pt x="95" y="328"/>
                      <a:pt x="93" y="328"/>
                    </a:cubicBezTo>
                    <a:cubicBezTo>
                      <a:pt x="92" y="328"/>
                      <a:pt x="89" y="328"/>
                      <a:pt x="87" y="329"/>
                    </a:cubicBezTo>
                    <a:cubicBezTo>
                      <a:pt x="85" y="330"/>
                      <a:pt x="82" y="333"/>
                      <a:pt x="80" y="335"/>
                    </a:cubicBezTo>
                    <a:cubicBezTo>
                      <a:pt x="78" y="337"/>
                      <a:pt x="77" y="340"/>
                      <a:pt x="77" y="342"/>
                    </a:cubicBezTo>
                    <a:cubicBezTo>
                      <a:pt x="77" y="344"/>
                      <a:pt x="75" y="348"/>
                      <a:pt x="73" y="351"/>
                    </a:cubicBezTo>
                    <a:cubicBezTo>
                      <a:pt x="72" y="353"/>
                      <a:pt x="72" y="356"/>
                      <a:pt x="75" y="357"/>
                    </a:cubicBezTo>
                    <a:cubicBezTo>
                      <a:pt x="78" y="358"/>
                      <a:pt x="80" y="362"/>
                      <a:pt x="81" y="365"/>
                    </a:cubicBezTo>
                    <a:cubicBezTo>
                      <a:pt x="81" y="367"/>
                      <a:pt x="82" y="371"/>
                      <a:pt x="82" y="372"/>
                    </a:cubicBezTo>
                    <a:cubicBezTo>
                      <a:pt x="83" y="373"/>
                      <a:pt x="85" y="375"/>
                      <a:pt x="88" y="376"/>
                    </a:cubicBezTo>
                    <a:cubicBezTo>
                      <a:pt x="90" y="377"/>
                      <a:pt x="91" y="380"/>
                      <a:pt x="89" y="383"/>
                    </a:cubicBezTo>
                    <a:cubicBezTo>
                      <a:pt x="88" y="385"/>
                      <a:pt x="88" y="389"/>
                      <a:pt x="89" y="390"/>
                    </a:cubicBezTo>
                    <a:cubicBezTo>
                      <a:pt x="90" y="392"/>
                      <a:pt x="92" y="394"/>
                      <a:pt x="93" y="396"/>
                    </a:cubicBezTo>
                    <a:cubicBezTo>
                      <a:pt x="94" y="398"/>
                      <a:pt x="96" y="402"/>
                      <a:pt x="98" y="404"/>
                    </a:cubicBezTo>
                    <a:cubicBezTo>
                      <a:pt x="99" y="407"/>
                      <a:pt x="102" y="409"/>
                      <a:pt x="105" y="409"/>
                    </a:cubicBezTo>
                    <a:cubicBezTo>
                      <a:pt x="107" y="409"/>
                      <a:pt x="111" y="411"/>
                      <a:pt x="114" y="412"/>
                    </a:cubicBezTo>
                    <a:cubicBezTo>
                      <a:pt x="116" y="414"/>
                      <a:pt x="118" y="415"/>
                      <a:pt x="118" y="415"/>
                    </a:cubicBezTo>
                    <a:cubicBezTo>
                      <a:pt x="118" y="415"/>
                      <a:pt x="119" y="413"/>
                      <a:pt x="120" y="410"/>
                    </a:cubicBezTo>
                    <a:cubicBezTo>
                      <a:pt x="121" y="407"/>
                      <a:pt x="122" y="403"/>
                      <a:pt x="123" y="400"/>
                    </a:cubicBezTo>
                    <a:cubicBezTo>
                      <a:pt x="124" y="397"/>
                      <a:pt x="124" y="393"/>
                      <a:pt x="124" y="390"/>
                    </a:cubicBezTo>
                    <a:cubicBezTo>
                      <a:pt x="124" y="387"/>
                      <a:pt x="124" y="383"/>
                      <a:pt x="125" y="381"/>
                    </a:cubicBezTo>
                    <a:cubicBezTo>
                      <a:pt x="126" y="378"/>
                      <a:pt x="126" y="376"/>
                      <a:pt x="125" y="375"/>
                    </a:cubicBezTo>
                    <a:cubicBezTo>
                      <a:pt x="125" y="374"/>
                      <a:pt x="124" y="373"/>
                      <a:pt x="123" y="372"/>
                    </a:cubicBezTo>
                    <a:cubicBezTo>
                      <a:pt x="122" y="371"/>
                      <a:pt x="122" y="369"/>
                      <a:pt x="122" y="367"/>
                    </a:cubicBezTo>
                    <a:cubicBezTo>
                      <a:pt x="122" y="366"/>
                      <a:pt x="122" y="362"/>
                      <a:pt x="121" y="358"/>
                    </a:cubicBezTo>
                    <a:cubicBezTo>
                      <a:pt x="120" y="354"/>
                      <a:pt x="122" y="348"/>
                      <a:pt x="124" y="344"/>
                    </a:cubicBezTo>
                    <a:cubicBezTo>
                      <a:pt x="126" y="340"/>
                      <a:pt x="130" y="334"/>
                      <a:pt x="132" y="329"/>
                    </a:cubicBezTo>
                    <a:cubicBezTo>
                      <a:pt x="133" y="325"/>
                      <a:pt x="136" y="320"/>
                      <a:pt x="137" y="317"/>
                    </a:cubicBezTo>
                    <a:cubicBezTo>
                      <a:pt x="137" y="315"/>
                      <a:pt x="139" y="310"/>
                      <a:pt x="140" y="306"/>
                    </a:cubicBezTo>
                    <a:cubicBezTo>
                      <a:pt x="141" y="303"/>
                      <a:pt x="144" y="298"/>
                      <a:pt x="147" y="295"/>
                    </a:cubicBezTo>
                    <a:cubicBezTo>
                      <a:pt x="150" y="293"/>
                      <a:pt x="155" y="291"/>
                      <a:pt x="158" y="290"/>
                    </a:cubicBezTo>
                    <a:cubicBezTo>
                      <a:pt x="162" y="290"/>
                      <a:pt x="167" y="288"/>
                      <a:pt x="169" y="286"/>
                    </a:cubicBezTo>
                    <a:cubicBezTo>
                      <a:pt x="171" y="284"/>
                      <a:pt x="174" y="283"/>
                      <a:pt x="176" y="283"/>
                    </a:cubicBezTo>
                    <a:cubicBezTo>
                      <a:pt x="177" y="284"/>
                      <a:pt x="181" y="282"/>
                      <a:pt x="184" y="279"/>
                    </a:cubicBezTo>
                    <a:cubicBezTo>
                      <a:pt x="187" y="276"/>
                      <a:pt x="191" y="273"/>
                      <a:pt x="194" y="272"/>
                    </a:cubicBezTo>
                    <a:cubicBezTo>
                      <a:pt x="196" y="270"/>
                      <a:pt x="200" y="267"/>
                      <a:pt x="202" y="265"/>
                    </a:cubicBezTo>
                    <a:cubicBezTo>
                      <a:pt x="204" y="262"/>
                      <a:pt x="208" y="259"/>
                      <a:pt x="209" y="258"/>
                    </a:cubicBezTo>
                    <a:cubicBezTo>
                      <a:pt x="211" y="257"/>
                      <a:pt x="215" y="256"/>
                      <a:pt x="217" y="255"/>
                    </a:cubicBezTo>
                    <a:cubicBezTo>
                      <a:pt x="220" y="255"/>
                      <a:pt x="224" y="255"/>
                      <a:pt x="227" y="257"/>
                    </a:cubicBezTo>
                    <a:cubicBezTo>
                      <a:pt x="230" y="258"/>
                      <a:pt x="235" y="259"/>
                      <a:pt x="238" y="259"/>
                    </a:cubicBezTo>
                    <a:cubicBezTo>
                      <a:pt x="240" y="258"/>
                      <a:pt x="246" y="258"/>
                      <a:pt x="249" y="258"/>
                    </a:cubicBezTo>
                    <a:cubicBezTo>
                      <a:pt x="253" y="258"/>
                      <a:pt x="257" y="255"/>
                      <a:pt x="258" y="251"/>
                    </a:cubicBezTo>
                    <a:cubicBezTo>
                      <a:pt x="259" y="248"/>
                      <a:pt x="261" y="243"/>
                      <a:pt x="261" y="240"/>
                    </a:cubicBezTo>
                    <a:cubicBezTo>
                      <a:pt x="261" y="237"/>
                      <a:pt x="260" y="234"/>
                      <a:pt x="258" y="233"/>
                    </a:cubicBezTo>
                    <a:cubicBezTo>
                      <a:pt x="256" y="231"/>
                      <a:pt x="253" y="227"/>
                      <a:pt x="252" y="224"/>
                    </a:cubicBezTo>
                    <a:cubicBezTo>
                      <a:pt x="251" y="220"/>
                      <a:pt x="251" y="215"/>
                      <a:pt x="252" y="211"/>
                    </a:cubicBezTo>
                    <a:cubicBezTo>
                      <a:pt x="253" y="208"/>
                      <a:pt x="256" y="203"/>
                      <a:pt x="259" y="199"/>
                    </a:cubicBezTo>
                    <a:cubicBezTo>
                      <a:pt x="261" y="196"/>
                      <a:pt x="263" y="188"/>
                      <a:pt x="263" y="183"/>
                    </a:cubicBezTo>
                    <a:cubicBezTo>
                      <a:pt x="263" y="177"/>
                      <a:pt x="262" y="171"/>
                      <a:pt x="261" y="169"/>
                    </a:cubicBezTo>
                    <a:cubicBezTo>
                      <a:pt x="260" y="167"/>
                      <a:pt x="260" y="163"/>
                      <a:pt x="261" y="160"/>
                    </a:cubicBezTo>
                    <a:cubicBezTo>
                      <a:pt x="262" y="157"/>
                      <a:pt x="262" y="154"/>
                      <a:pt x="261" y="152"/>
                    </a:cubicBezTo>
                    <a:cubicBezTo>
                      <a:pt x="260" y="151"/>
                      <a:pt x="259" y="148"/>
                      <a:pt x="259" y="145"/>
                    </a:cubicBezTo>
                    <a:cubicBezTo>
                      <a:pt x="259" y="143"/>
                      <a:pt x="260" y="139"/>
                      <a:pt x="262" y="137"/>
                    </a:cubicBezTo>
                    <a:cubicBezTo>
                      <a:pt x="264" y="135"/>
                      <a:pt x="266" y="132"/>
                      <a:pt x="268" y="130"/>
                    </a:cubicBezTo>
                    <a:cubicBezTo>
                      <a:pt x="269" y="129"/>
                      <a:pt x="271" y="126"/>
                      <a:pt x="271" y="123"/>
                    </a:cubicBezTo>
                    <a:cubicBezTo>
                      <a:pt x="272" y="121"/>
                      <a:pt x="274" y="117"/>
                      <a:pt x="276" y="115"/>
                    </a:cubicBezTo>
                    <a:cubicBezTo>
                      <a:pt x="278" y="112"/>
                      <a:pt x="283" y="109"/>
                      <a:pt x="286" y="109"/>
                    </a:cubicBezTo>
                    <a:cubicBezTo>
                      <a:pt x="290" y="109"/>
                      <a:pt x="297" y="104"/>
                      <a:pt x="302" y="99"/>
                    </a:cubicBezTo>
                    <a:cubicBezTo>
                      <a:pt x="306" y="93"/>
                      <a:pt x="311" y="88"/>
                      <a:pt x="313" y="87"/>
                    </a:cubicBezTo>
                    <a:cubicBezTo>
                      <a:pt x="314" y="85"/>
                      <a:pt x="316" y="84"/>
                      <a:pt x="316" y="84"/>
                    </a:cubicBezTo>
                    <a:cubicBezTo>
                      <a:pt x="316" y="84"/>
                      <a:pt x="314" y="83"/>
                      <a:pt x="313" y="82"/>
                    </a:cubicBezTo>
                    <a:cubicBezTo>
                      <a:pt x="312" y="80"/>
                      <a:pt x="309" y="79"/>
                      <a:pt x="308" y="79"/>
                    </a:cubicBezTo>
                    <a:cubicBezTo>
                      <a:pt x="307" y="79"/>
                      <a:pt x="306" y="80"/>
                      <a:pt x="306" y="82"/>
                    </a:cubicBezTo>
                    <a:cubicBezTo>
                      <a:pt x="306" y="83"/>
                      <a:pt x="304" y="83"/>
                      <a:pt x="303" y="83"/>
                    </a:cubicBezTo>
                    <a:cubicBezTo>
                      <a:pt x="302" y="82"/>
                      <a:pt x="300" y="81"/>
                      <a:pt x="299" y="81"/>
                    </a:cubicBezTo>
                    <a:cubicBezTo>
                      <a:pt x="298" y="81"/>
                      <a:pt x="295" y="81"/>
                      <a:pt x="294" y="80"/>
                    </a:cubicBezTo>
                    <a:cubicBezTo>
                      <a:pt x="292" y="80"/>
                      <a:pt x="289" y="79"/>
                      <a:pt x="288" y="79"/>
                    </a:cubicBezTo>
                    <a:cubicBezTo>
                      <a:pt x="286" y="79"/>
                      <a:pt x="284" y="78"/>
                      <a:pt x="283" y="77"/>
                    </a:cubicBezTo>
                    <a:cubicBezTo>
                      <a:pt x="282" y="76"/>
                      <a:pt x="280" y="75"/>
                      <a:pt x="279" y="75"/>
                    </a:cubicBezTo>
                    <a:cubicBezTo>
                      <a:pt x="278" y="75"/>
                      <a:pt x="276" y="74"/>
                      <a:pt x="275" y="73"/>
                    </a:cubicBezTo>
                    <a:cubicBezTo>
                      <a:pt x="274" y="72"/>
                      <a:pt x="271" y="70"/>
                      <a:pt x="269" y="69"/>
                    </a:cubicBezTo>
                    <a:cubicBezTo>
                      <a:pt x="267" y="68"/>
                      <a:pt x="264" y="66"/>
                      <a:pt x="261" y="65"/>
                    </a:cubicBezTo>
                    <a:cubicBezTo>
                      <a:pt x="259" y="64"/>
                      <a:pt x="255" y="62"/>
                      <a:pt x="253" y="61"/>
                    </a:cubicBezTo>
                    <a:cubicBezTo>
                      <a:pt x="250" y="60"/>
                      <a:pt x="246" y="59"/>
                      <a:pt x="244" y="60"/>
                    </a:cubicBezTo>
                    <a:cubicBezTo>
                      <a:pt x="241" y="60"/>
                      <a:pt x="239" y="61"/>
                      <a:pt x="239" y="63"/>
                    </a:cubicBezTo>
                    <a:cubicBezTo>
                      <a:pt x="239" y="64"/>
                      <a:pt x="239" y="66"/>
                      <a:pt x="238" y="67"/>
                    </a:cubicBezTo>
                    <a:cubicBezTo>
                      <a:pt x="237" y="67"/>
                      <a:pt x="236" y="67"/>
                      <a:pt x="235" y="66"/>
                    </a:cubicBezTo>
                    <a:cubicBezTo>
                      <a:pt x="234" y="64"/>
                      <a:pt x="233" y="64"/>
                      <a:pt x="233" y="65"/>
                    </a:cubicBezTo>
                    <a:cubicBezTo>
                      <a:pt x="232" y="66"/>
                      <a:pt x="231" y="67"/>
                      <a:pt x="230" y="67"/>
                    </a:cubicBezTo>
                    <a:cubicBezTo>
                      <a:pt x="229" y="67"/>
                      <a:pt x="227" y="66"/>
                      <a:pt x="227" y="66"/>
                    </a:cubicBezTo>
                    <a:cubicBezTo>
                      <a:pt x="227" y="66"/>
                      <a:pt x="226" y="66"/>
                      <a:pt x="225" y="67"/>
                    </a:cubicBezTo>
                    <a:cubicBezTo>
                      <a:pt x="224" y="67"/>
                      <a:pt x="222" y="68"/>
                      <a:pt x="220" y="69"/>
                    </a:cubicBezTo>
                    <a:cubicBezTo>
                      <a:pt x="219" y="69"/>
                      <a:pt x="216" y="70"/>
                      <a:pt x="215" y="71"/>
                    </a:cubicBezTo>
                    <a:cubicBezTo>
                      <a:pt x="213" y="72"/>
                      <a:pt x="211" y="74"/>
                      <a:pt x="211" y="75"/>
                    </a:cubicBezTo>
                    <a:cubicBezTo>
                      <a:pt x="210" y="76"/>
                      <a:pt x="209" y="78"/>
                      <a:pt x="207" y="79"/>
                    </a:cubicBezTo>
                    <a:cubicBezTo>
                      <a:pt x="206" y="80"/>
                      <a:pt x="205" y="80"/>
                      <a:pt x="205" y="79"/>
                    </a:cubicBezTo>
                    <a:cubicBezTo>
                      <a:pt x="205" y="78"/>
                      <a:pt x="204" y="78"/>
                      <a:pt x="203" y="78"/>
                    </a:cubicBezTo>
                    <a:cubicBezTo>
                      <a:pt x="201" y="78"/>
                      <a:pt x="201" y="77"/>
                      <a:pt x="201" y="76"/>
                    </a:cubicBezTo>
                    <a:cubicBezTo>
                      <a:pt x="202" y="74"/>
                      <a:pt x="204" y="72"/>
                      <a:pt x="206" y="70"/>
                    </a:cubicBezTo>
                    <a:cubicBezTo>
                      <a:pt x="208" y="69"/>
                      <a:pt x="210" y="66"/>
                      <a:pt x="211" y="64"/>
                    </a:cubicBezTo>
                    <a:cubicBezTo>
                      <a:pt x="211" y="62"/>
                      <a:pt x="210" y="61"/>
                      <a:pt x="208" y="61"/>
                    </a:cubicBezTo>
                    <a:cubicBezTo>
                      <a:pt x="205" y="62"/>
                      <a:pt x="203" y="63"/>
                      <a:pt x="201" y="65"/>
                    </a:cubicBezTo>
                    <a:cubicBezTo>
                      <a:pt x="200" y="67"/>
                      <a:pt x="198" y="70"/>
                      <a:pt x="197" y="72"/>
                    </a:cubicBezTo>
                    <a:cubicBezTo>
                      <a:pt x="196" y="75"/>
                      <a:pt x="195" y="79"/>
                      <a:pt x="194" y="81"/>
                    </a:cubicBezTo>
                    <a:cubicBezTo>
                      <a:pt x="194" y="83"/>
                      <a:pt x="192" y="87"/>
                      <a:pt x="189" y="89"/>
                    </a:cubicBezTo>
                    <a:cubicBezTo>
                      <a:pt x="187" y="91"/>
                      <a:pt x="183" y="94"/>
                      <a:pt x="181" y="96"/>
                    </a:cubicBezTo>
                    <a:cubicBezTo>
                      <a:pt x="179" y="97"/>
                      <a:pt x="178" y="98"/>
                      <a:pt x="178" y="98"/>
                    </a:cubicBezTo>
                    <a:cubicBezTo>
                      <a:pt x="178" y="97"/>
                      <a:pt x="178" y="96"/>
                      <a:pt x="179" y="94"/>
                    </a:cubicBezTo>
                    <a:cubicBezTo>
                      <a:pt x="180" y="93"/>
                      <a:pt x="181" y="91"/>
                      <a:pt x="182" y="90"/>
                    </a:cubicBezTo>
                    <a:cubicBezTo>
                      <a:pt x="182" y="89"/>
                      <a:pt x="182" y="87"/>
                      <a:pt x="182" y="86"/>
                    </a:cubicBezTo>
                    <a:cubicBezTo>
                      <a:pt x="182" y="85"/>
                      <a:pt x="182" y="83"/>
                      <a:pt x="182" y="82"/>
                    </a:cubicBezTo>
                    <a:cubicBezTo>
                      <a:pt x="182" y="81"/>
                      <a:pt x="183" y="78"/>
                      <a:pt x="184" y="75"/>
                    </a:cubicBezTo>
                    <a:cubicBezTo>
                      <a:pt x="185" y="72"/>
                      <a:pt x="186" y="69"/>
                      <a:pt x="187" y="67"/>
                    </a:cubicBezTo>
                    <a:cubicBezTo>
                      <a:pt x="187" y="66"/>
                      <a:pt x="188" y="64"/>
                      <a:pt x="189" y="62"/>
                    </a:cubicBezTo>
                    <a:cubicBezTo>
                      <a:pt x="189" y="60"/>
                      <a:pt x="191" y="59"/>
                      <a:pt x="192" y="59"/>
                    </a:cubicBezTo>
                    <a:cubicBezTo>
                      <a:pt x="194" y="59"/>
                      <a:pt x="196" y="59"/>
                      <a:pt x="196" y="57"/>
                    </a:cubicBezTo>
                    <a:cubicBezTo>
                      <a:pt x="196" y="56"/>
                      <a:pt x="196" y="54"/>
                      <a:pt x="195" y="52"/>
                    </a:cubicBezTo>
                    <a:cubicBezTo>
                      <a:pt x="195" y="49"/>
                      <a:pt x="193" y="48"/>
                      <a:pt x="193" y="48"/>
                    </a:cubicBezTo>
                    <a:cubicBezTo>
                      <a:pt x="192" y="48"/>
                      <a:pt x="190" y="49"/>
                      <a:pt x="189" y="51"/>
                    </a:cubicBezTo>
                    <a:cubicBezTo>
                      <a:pt x="187" y="52"/>
                      <a:pt x="186" y="54"/>
                      <a:pt x="185" y="56"/>
                    </a:cubicBezTo>
                    <a:cubicBezTo>
                      <a:pt x="185" y="58"/>
                      <a:pt x="184" y="58"/>
                      <a:pt x="183" y="57"/>
                    </a:cubicBezTo>
                    <a:cubicBezTo>
                      <a:pt x="183" y="55"/>
                      <a:pt x="181" y="54"/>
                      <a:pt x="180" y="54"/>
                    </a:cubicBezTo>
                    <a:cubicBezTo>
                      <a:pt x="178" y="54"/>
                      <a:pt x="179" y="53"/>
                      <a:pt x="181" y="52"/>
                    </a:cubicBezTo>
                    <a:cubicBezTo>
                      <a:pt x="183" y="51"/>
                      <a:pt x="185" y="49"/>
                      <a:pt x="186" y="49"/>
                    </a:cubicBezTo>
                    <a:cubicBezTo>
                      <a:pt x="187" y="48"/>
                      <a:pt x="188" y="47"/>
                      <a:pt x="189" y="46"/>
                    </a:cubicBezTo>
                    <a:cubicBezTo>
                      <a:pt x="189" y="45"/>
                      <a:pt x="190" y="42"/>
                      <a:pt x="190" y="41"/>
                    </a:cubicBezTo>
                    <a:cubicBezTo>
                      <a:pt x="191" y="40"/>
                      <a:pt x="190" y="37"/>
                      <a:pt x="189" y="36"/>
                    </a:cubicBezTo>
                    <a:cubicBezTo>
                      <a:pt x="188" y="35"/>
                      <a:pt x="185" y="33"/>
                      <a:pt x="184" y="33"/>
                    </a:cubicBezTo>
                    <a:cubicBezTo>
                      <a:pt x="182" y="32"/>
                      <a:pt x="182" y="31"/>
                      <a:pt x="182" y="31"/>
                    </a:cubicBezTo>
                    <a:cubicBezTo>
                      <a:pt x="183" y="30"/>
                      <a:pt x="182" y="29"/>
                      <a:pt x="181" y="29"/>
                    </a:cubicBezTo>
                    <a:cubicBezTo>
                      <a:pt x="180" y="28"/>
                      <a:pt x="179" y="26"/>
                      <a:pt x="178" y="24"/>
                    </a:cubicBezTo>
                    <a:cubicBezTo>
                      <a:pt x="177" y="22"/>
                      <a:pt x="176" y="22"/>
                      <a:pt x="176" y="23"/>
                    </a:cubicBezTo>
                    <a:cubicBezTo>
                      <a:pt x="175" y="24"/>
                      <a:pt x="174" y="24"/>
                      <a:pt x="174" y="24"/>
                    </a:cubicBezTo>
                    <a:cubicBezTo>
                      <a:pt x="173" y="23"/>
                      <a:pt x="173" y="21"/>
                      <a:pt x="174" y="20"/>
                    </a:cubicBezTo>
                    <a:cubicBezTo>
                      <a:pt x="175" y="18"/>
                      <a:pt x="176" y="16"/>
                      <a:pt x="175" y="15"/>
                    </a:cubicBezTo>
                    <a:cubicBezTo>
                      <a:pt x="175" y="14"/>
                      <a:pt x="173" y="15"/>
                      <a:pt x="172" y="17"/>
                    </a:cubicBezTo>
                    <a:cubicBezTo>
                      <a:pt x="170" y="19"/>
                      <a:pt x="169" y="19"/>
                      <a:pt x="168" y="18"/>
                    </a:cubicBezTo>
                    <a:cubicBezTo>
                      <a:pt x="167" y="16"/>
                      <a:pt x="164" y="16"/>
                      <a:pt x="162" y="18"/>
                    </a:cubicBezTo>
                    <a:cubicBezTo>
                      <a:pt x="160" y="19"/>
                      <a:pt x="159" y="21"/>
                      <a:pt x="159" y="22"/>
                    </a:cubicBezTo>
                    <a:cubicBezTo>
                      <a:pt x="159" y="23"/>
                      <a:pt x="158" y="25"/>
                      <a:pt x="157" y="26"/>
                    </a:cubicBezTo>
                    <a:cubicBezTo>
                      <a:pt x="156" y="27"/>
                      <a:pt x="155" y="27"/>
                      <a:pt x="154" y="27"/>
                    </a:cubicBezTo>
                    <a:cubicBezTo>
                      <a:pt x="153" y="27"/>
                      <a:pt x="152" y="25"/>
                      <a:pt x="152" y="24"/>
                    </a:cubicBezTo>
                    <a:cubicBezTo>
                      <a:pt x="153" y="23"/>
                      <a:pt x="153" y="21"/>
                      <a:pt x="152" y="21"/>
                    </a:cubicBezTo>
                    <a:cubicBezTo>
                      <a:pt x="151" y="20"/>
                      <a:pt x="152" y="18"/>
                      <a:pt x="153" y="17"/>
                    </a:cubicBezTo>
                    <a:cubicBezTo>
                      <a:pt x="154" y="15"/>
                      <a:pt x="155" y="14"/>
                      <a:pt x="155" y="13"/>
                    </a:cubicBezTo>
                    <a:cubicBezTo>
                      <a:pt x="155" y="12"/>
                      <a:pt x="154" y="11"/>
                      <a:pt x="154" y="11"/>
                    </a:cubicBezTo>
                    <a:cubicBezTo>
                      <a:pt x="153" y="11"/>
                      <a:pt x="152" y="12"/>
                      <a:pt x="150" y="14"/>
                    </a:cubicBezTo>
                    <a:cubicBezTo>
                      <a:pt x="149" y="16"/>
                      <a:pt x="148" y="17"/>
                      <a:pt x="147" y="16"/>
                    </a:cubicBezTo>
                    <a:cubicBezTo>
                      <a:pt x="146" y="16"/>
                      <a:pt x="146" y="14"/>
                      <a:pt x="147" y="13"/>
                    </a:cubicBezTo>
                    <a:cubicBezTo>
                      <a:pt x="148" y="12"/>
                      <a:pt x="148" y="10"/>
                      <a:pt x="146" y="10"/>
                    </a:cubicBezTo>
                    <a:cubicBezTo>
                      <a:pt x="145" y="9"/>
                      <a:pt x="143" y="9"/>
                      <a:pt x="143" y="9"/>
                    </a:cubicBezTo>
                    <a:cubicBezTo>
                      <a:pt x="142" y="10"/>
                      <a:pt x="141" y="11"/>
                      <a:pt x="140" y="11"/>
                    </a:cubicBezTo>
                    <a:cubicBezTo>
                      <a:pt x="139" y="12"/>
                      <a:pt x="138" y="11"/>
                      <a:pt x="137" y="10"/>
                    </a:cubicBezTo>
                    <a:cubicBezTo>
                      <a:pt x="137" y="9"/>
                      <a:pt x="136" y="7"/>
                      <a:pt x="136" y="5"/>
                    </a:cubicBezTo>
                    <a:cubicBezTo>
                      <a:pt x="136" y="4"/>
                      <a:pt x="135" y="4"/>
                      <a:pt x="134" y="5"/>
                    </a:cubicBezTo>
                    <a:cubicBezTo>
                      <a:pt x="133" y="6"/>
                      <a:pt x="131" y="6"/>
                      <a:pt x="131" y="5"/>
                    </a:cubicBezTo>
                    <a:cubicBezTo>
                      <a:pt x="130" y="4"/>
                      <a:pt x="128" y="3"/>
                      <a:pt x="127" y="4"/>
                    </a:cubicBezTo>
                    <a:cubicBezTo>
                      <a:pt x="125" y="4"/>
                      <a:pt x="124" y="3"/>
                      <a:pt x="124" y="2"/>
                    </a:cubicBezTo>
                    <a:cubicBezTo>
                      <a:pt x="124" y="1"/>
                      <a:pt x="123" y="0"/>
                      <a:pt x="122" y="0"/>
                    </a:cubicBezTo>
                    <a:cubicBezTo>
                      <a:pt x="121" y="0"/>
                      <a:pt x="120" y="0"/>
                      <a:pt x="120" y="0"/>
                    </a:cubicBezTo>
                    <a:cubicBezTo>
                      <a:pt x="120" y="0"/>
                      <a:pt x="119" y="3"/>
                      <a:pt x="118" y="6"/>
                    </a:cubicBezTo>
                    <a:cubicBezTo>
                      <a:pt x="117" y="9"/>
                      <a:pt x="116" y="13"/>
                      <a:pt x="116" y="1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407924" tIns="203962" rIns="407924" bIns="20396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246">
                  <a:solidFill>
                    <a:srgbClr val="410B30"/>
                  </a:solidFill>
                </a:endParaRPr>
              </a:p>
            </p:txBody>
          </p:sp>
          <p:sp>
            <p:nvSpPr>
              <p:cNvPr id="1206" name="Freeform 8">
                <a:extLst>
                  <a:ext uri="{FF2B5EF4-FFF2-40B4-BE49-F238E27FC236}">
                    <a16:creationId xmlns:a16="http://schemas.microsoft.com/office/drawing/2014/main" id="{9FD99FAD-6A6D-A754-43C4-1A7DFC1835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7937" y="3264353"/>
                <a:ext cx="1152503" cy="1097758"/>
              </a:xfrm>
              <a:custGeom>
                <a:avLst/>
                <a:gdLst/>
                <a:ahLst/>
                <a:cxnLst>
                  <a:cxn ang="0">
                    <a:pos x="192" y="483"/>
                  </a:cxn>
                  <a:cxn ang="0">
                    <a:pos x="210" y="472"/>
                  </a:cxn>
                  <a:cxn ang="0">
                    <a:pos x="231" y="454"/>
                  </a:cxn>
                  <a:cxn ang="0">
                    <a:pos x="256" y="449"/>
                  </a:cxn>
                  <a:cxn ang="0">
                    <a:pos x="284" y="467"/>
                  </a:cxn>
                  <a:cxn ang="0">
                    <a:pos x="316" y="463"/>
                  </a:cxn>
                  <a:cxn ang="0">
                    <a:pos x="338" y="463"/>
                  </a:cxn>
                  <a:cxn ang="0">
                    <a:pos x="352" y="450"/>
                  </a:cxn>
                  <a:cxn ang="0">
                    <a:pos x="348" y="471"/>
                  </a:cxn>
                  <a:cxn ang="0">
                    <a:pos x="355" y="483"/>
                  </a:cxn>
                  <a:cxn ang="0">
                    <a:pos x="376" y="483"/>
                  </a:cxn>
                  <a:cxn ang="0">
                    <a:pos x="376" y="471"/>
                  </a:cxn>
                  <a:cxn ang="0">
                    <a:pos x="381" y="439"/>
                  </a:cxn>
                  <a:cxn ang="0">
                    <a:pos x="396" y="424"/>
                  </a:cxn>
                  <a:cxn ang="0">
                    <a:pos x="403" y="404"/>
                  </a:cxn>
                  <a:cxn ang="0">
                    <a:pos x="421" y="390"/>
                  </a:cxn>
                  <a:cxn ang="0">
                    <a:pos x="434" y="382"/>
                  </a:cxn>
                  <a:cxn ang="0">
                    <a:pos x="442" y="363"/>
                  </a:cxn>
                  <a:cxn ang="0">
                    <a:pos x="462" y="348"/>
                  </a:cxn>
                  <a:cxn ang="0">
                    <a:pos x="473" y="322"/>
                  </a:cxn>
                  <a:cxn ang="0">
                    <a:pos x="479" y="303"/>
                  </a:cxn>
                  <a:cxn ang="0">
                    <a:pos x="484" y="283"/>
                  </a:cxn>
                  <a:cxn ang="0">
                    <a:pos x="491" y="264"/>
                  </a:cxn>
                  <a:cxn ang="0">
                    <a:pos x="496" y="250"/>
                  </a:cxn>
                  <a:cxn ang="0">
                    <a:pos x="490" y="236"/>
                  </a:cxn>
                  <a:cxn ang="0">
                    <a:pos x="488" y="212"/>
                  </a:cxn>
                  <a:cxn ang="0">
                    <a:pos x="488" y="192"/>
                  </a:cxn>
                  <a:cxn ang="0">
                    <a:pos x="490" y="163"/>
                  </a:cxn>
                  <a:cxn ang="0">
                    <a:pos x="499" y="137"/>
                  </a:cxn>
                  <a:cxn ang="0">
                    <a:pos x="507" y="117"/>
                  </a:cxn>
                  <a:cxn ang="0">
                    <a:pos x="227" y="96"/>
                  </a:cxn>
                  <a:cxn ang="0">
                    <a:pos x="209" y="88"/>
                  </a:cxn>
                  <a:cxn ang="0">
                    <a:pos x="188" y="72"/>
                  </a:cxn>
                  <a:cxn ang="0">
                    <a:pos x="177" y="53"/>
                  </a:cxn>
                  <a:cxn ang="0">
                    <a:pos x="166" y="20"/>
                  </a:cxn>
                  <a:cxn ang="0">
                    <a:pos x="154" y="0"/>
                  </a:cxn>
                  <a:cxn ang="0">
                    <a:pos x="148" y="18"/>
                  </a:cxn>
                  <a:cxn ang="0">
                    <a:pos x="147" y="35"/>
                  </a:cxn>
                  <a:cxn ang="0">
                    <a:pos x="142" y="54"/>
                  </a:cxn>
                  <a:cxn ang="0">
                    <a:pos x="3" y="69"/>
                  </a:cxn>
                  <a:cxn ang="0">
                    <a:pos x="4" y="87"/>
                  </a:cxn>
                  <a:cxn ang="0">
                    <a:pos x="4" y="100"/>
                  </a:cxn>
                  <a:cxn ang="0">
                    <a:pos x="5" y="118"/>
                  </a:cxn>
                  <a:cxn ang="0">
                    <a:pos x="6" y="141"/>
                  </a:cxn>
                  <a:cxn ang="0">
                    <a:pos x="7" y="161"/>
                  </a:cxn>
                  <a:cxn ang="0">
                    <a:pos x="34" y="171"/>
                  </a:cxn>
                  <a:cxn ang="0">
                    <a:pos x="76" y="178"/>
                  </a:cxn>
                  <a:cxn ang="0">
                    <a:pos x="74" y="192"/>
                  </a:cxn>
                  <a:cxn ang="0">
                    <a:pos x="80" y="220"/>
                  </a:cxn>
                  <a:cxn ang="0">
                    <a:pos x="75" y="251"/>
                  </a:cxn>
                  <a:cxn ang="0">
                    <a:pos x="60" y="277"/>
                  </a:cxn>
                  <a:cxn ang="0">
                    <a:pos x="44" y="292"/>
                  </a:cxn>
                  <a:cxn ang="0">
                    <a:pos x="58" y="308"/>
                  </a:cxn>
                  <a:cxn ang="0">
                    <a:pos x="64" y="332"/>
                  </a:cxn>
                  <a:cxn ang="0">
                    <a:pos x="59" y="362"/>
                  </a:cxn>
                  <a:cxn ang="0">
                    <a:pos x="72" y="396"/>
                  </a:cxn>
                  <a:cxn ang="0">
                    <a:pos x="148" y="409"/>
                  </a:cxn>
                  <a:cxn ang="0">
                    <a:pos x="147" y="431"/>
                  </a:cxn>
                  <a:cxn ang="0">
                    <a:pos x="155" y="455"/>
                  </a:cxn>
                  <a:cxn ang="0">
                    <a:pos x="175" y="466"/>
                  </a:cxn>
                </a:cxnLst>
                <a:rect l="0" t="0" r="r" b="b"/>
                <a:pathLst>
                  <a:path w="508" h="484">
                    <a:moveTo>
                      <a:pt x="184" y="476"/>
                    </a:moveTo>
                    <a:cubicBezTo>
                      <a:pt x="185" y="477"/>
                      <a:pt x="188" y="478"/>
                      <a:pt x="189" y="480"/>
                    </a:cubicBezTo>
                    <a:cubicBezTo>
                      <a:pt x="191" y="481"/>
                      <a:pt x="192" y="483"/>
                      <a:pt x="192" y="483"/>
                    </a:cubicBezTo>
                    <a:cubicBezTo>
                      <a:pt x="192" y="483"/>
                      <a:pt x="193" y="481"/>
                      <a:pt x="195" y="480"/>
                    </a:cubicBezTo>
                    <a:cubicBezTo>
                      <a:pt x="198" y="478"/>
                      <a:pt x="201" y="476"/>
                      <a:pt x="203" y="476"/>
                    </a:cubicBezTo>
                    <a:cubicBezTo>
                      <a:pt x="205" y="476"/>
                      <a:pt x="208" y="474"/>
                      <a:pt x="210" y="472"/>
                    </a:cubicBezTo>
                    <a:cubicBezTo>
                      <a:pt x="211" y="470"/>
                      <a:pt x="213" y="466"/>
                      <a:pt x="215" y="464"/>
                    </a:cubicBezTo>
                    <a:cubicBezTo>
                      <a:pt x="216" y="462"/>
                      <a:pt x="219" y="458"/>
                      <a:pt x="221" y="457"/>
                    </a:cubicBezTo>
                    <a:cubicBezTo>
                      <a:pt x="223" y="455"/>
                      <a:pt x="227" y="454"/>
                      <a:pt x="231" y="454"/>
                    </a:cubicBezTo>
                    <a:cubicBezTo>
                      <a:pt x="235" y="454"/>
                      <a:pt x="240" y="453"/>
                      <a:pt x="243" y="451"/>
                    </a:cubicBezTo>
                    <a:cubicBezTo>
                      <a:pt x="245" y="449"/>
                      <a:pt x="249" y="447"/>
                      <a:pt x="251" y="447"/>
                    </a:cubicBezTo>
                    <a:cubicBezTo>
                      <a:pt x="252" y="447"/>
                      <a:pt x="255" y="448"/>
                      <a:pt x="256" y="449"/>
                    </a:cubicBezTo>
                    <a:cubicBezTo>
                      <a:pt x="258" y="450"/>
                      <a:pt x="261" y="452"/>
                      <a:pt x="264" y="453"/>
                    </a:cubicBezTo>
                    <a:cubicBezTo>
                      <a:pt x="267" y="454"/>
                      <a:pt x="272" y="457"/>
                      <a:pt x="274" y="460"/>
                    </a:cubicBezTo>
                    <a:cubicBezTo>
                      <a:pt x="277" y="462"/>
                      <a:pt x="281" y="465"/>
                      <a:pt x="284" y="467"/>
                    </a:cubicBezTo>
                    <a:cubicBezTo>
                      <a:pt x="287" y="468"/>
                      <a:pt x="292" y="469"/>
                      <a:pt x="296" y="469"/>
                    </a:cubicBezTo>
                    <a:cubicBezTo>
                      <a:pt x="299" y="468"/>
                      <a:pt x="305" y="466"/>
                      <a:pt x="307" y="465"/>
                    </a:cubicBezTo>
                    <a:cubicBezTo>
                      <a:pt x="310" y="463"/>
                      <a:pt x="314" y="462"/>
                      <a:pt x="316" y="463"/>
                    </a:cubicBezTo>
                    <a:cubicBezTo>
                      <a:pt x="319" y="464"/>
                      <a:pt x="323" y="465"/>
                      <a:pt x="325" y="466"/>
                    </a:cubicBezTo>
                    <a:cubicBezTo>
                      <a:pt x="327" y="467"/>
                      <a:pt x="330" y="467"/>
                      <a:pt x="332" y="466"/>
                    </a:cubicBezTo>
                    <a:cubicBezTo>
                      <a:pt x="333" y="466"/>
                      <a:pt x="336" y="464"/>
                      <a:pt x="338" y="463"/>
                    </a:cubicBezTo>
                    <a:cubicBezTo>
                      <a:pt x="340" y="461"/>
                      <a:pt x="344" y="458"/>
                      <a:pt x="345" y="457"/>
                    </a:cubicBezTo>
                    <a:cubicBezTo>
                      <a:pt x="347" y="455"/>
                      <a:pt x="349" y="453"/>
                      <a:pt x="349" y="452"/>
                    </a:cubicBezTo>
                    <a:cubicBezTo>
                      <a:pt x="350" y="451"/>
                      <a:pt x="351" y="450"/>
                      <a:pt x="352" y="450"/>
                    </a:cubicBezTo>
                    <a:cubicBezTo>
                      <a:pt x="354" y="450"/>
                      <a:pt x="354" y="452"/>
                      <a:pt x="354" y="455"/>
                    </a:cubicBezTo>
                    <a:cubicBezTo>
                      <a:pt x="354" y="457"/>
                      <a:pt x="353" y="461"/>
                      <a:pt x="352" y="463"/>
                    </a:cubicBezTo>
                    <a:cubicBezTo>
                      <a:pt x="351" y="466"/>
                      <a:pt x="349" y="469"/>
                      <a:pt x="348" y="471"/>
                    </a:cubicBezTo>
                    <a:cubicBezTo>
                      <a:pt x="346" y="473"/>
                      <a:pt x="344" y="475"/>
                      <a:pt x="344" y="477"/>
                    </a:cubicBezTo>
                    <a:cubicBezTo>
                      <a:pt x="343" y="478"/>
                      <a:pt x="345" y="481"/>
                      <a:pt x="348" y="482"/>
                    </a:cubicBezTo>
                    <a:cubicBezTo>
                      <a:pt x="350" y="483"/>
                      <a:pt x="354" y="484"/>
                      <a:pt x="355" y="483"/>
                    </a:cubicBezTo>
                    <a:cubicBezTo>
                      <a:pt x="356" y="483"/>
                      <a:pt x="359" y="483"/>
                      <a:pt x="360" y="483"/>
                    </a:cubicBezTo>
                    <a:cubicBezTo>
                      <a:pt x="361" y="483"/>
                      <a:pt x="364" y="483"/>
                      <a:pt x="367" y="483"/>
                    </a:cubicBezTo>
                    <a:cubicBezTo>
                      <a:pt x="369" y="483"/>
                      <a:pt x="373" y="483"/>
                      <a:pt x="376" y="483"/>
                    </a:cubicBezTo>
                    <a:cubicBezTo>
                      <a:pt x="378" y="483"/>
                      <a:pt x="380" y="483"/>
                      <a:pt x="380" y="483"/>
                    </a:cubicBezTo>
                    <a:cubicBezTo>
                      <a:pt x="380" y="483"/>
                      <a:pt x="379" y="482"/>
                      <a:pt x="379" y="480"/>
                    </a:cubicBezTo>
                    <a:cubicBezTo>
                      <a:pt x="378" y="478"/>
                      <a:pt x="377" y="474"/>
                      <a:pt x="376" y="471"/>
                    </a:cubicBezTo>
                    <a:cubicBezTo>
                      <a:pt x="375" y="468"/>
                      <a:pt x="375" y="462"/>
                      <a:pt x="375" y="459"/>
                    </a:cubicBezTo>
                    <a:cubicBezTo>
                      <a:pt x="375" y="455"/>
                      <a:pt x="376" y="450"/>
                      <a:pt x="377" y="447"/>
                    </a:cubicBezTo>
                    <a:cubicBezTo>
                      <a:pt x="378" y="444"/>
                      <a:pt x="380" y="440"/>
                      <a:pt x="381" y="439"/>
                    </a:cubicBezTo>
                    <a:cubicBezTo>
                      <a:pt x="382" y="437"/>
                      <a:pt x="384" y="434"/>
                      <a:pt x="385" y="433"/>
                    </a:cubicBezTo>
                    <a:cubicBezTo>
                      <a:pt x="386" y="432"/>
                      <a:pt x="389" y="430"/>
                      <a:pt x="390" y="429"/>
                    </a:cubicBezTo>
                    <a:cubicBezTo>
                      <a:pt x="392" y="429"/>
                      <a:pt x="394" y="426"/>
                      <a:pt x="396" y="424"/>
                    </a:cubicBezTo>
                    <a:cubicBezTo>
                      <a:pt x="397" y="422"/>
                      <a:pt x="399" y="419"/>
                      <a:pt x="400" y="416"/>
                    </a:cubicBezTo>
                    <a:cubicBezTo>
                      <a:pt x="400" y="414"/>
                      <a:pt x="401" y="411"/>
                      <a:pt x="401" y="410"/>
                    </a:cubicBezTo>
                    <a:cubicBezTo>
                      <a:pt x="401" y="408"/>
                      <a:pt x="402" y="406"/>
                      <a:pt x="403" y="404"/>
                    </a:cubicBezTo>
                    <a:cubicBezTo>
                      <a:pt x="404" y="402"/>
                      <a:pt x="406" y="399"/>
                      <a:pt x="409" y="397"/>
                    </a:cubicBezTo>
                    <a:cubicBezTo>
                      <a:pt x="412" y="395"/>
                      <a:pt x="415" y="393"/>
                      <a:pt x="416" y="392"/>
                    </a:cubicBezTo>
                    <a:cubicBezTo>
                      <a:pt x="418" y="391"/>
                      <a:pt x="420" y="390"/>
                      <a:pt x="421" y="390"/>
                    </a:cubicBezTo>
                    <a:cubicBezTo>
                      <a:pt x="422" y="390"/>
                      <a:pt x="424" y="388"/>
                      <a:pt x="425" y="387"/>
                    </a:cubicBezTo>
                    <a:cubicBezTo>
                      <a:pt x="427" y="386"/>
                      <a:pt x="429" y="385"/>
                      <a:pt x="430" y="385"/>
                    </a:cubicBezTo>
                    <a:cubicBezTo>
                      <a:pt x="431" y="385"/>
                      <a:pt x="433" y="384"/>
                      <a:pt x="434" y="382"/>
                    </a:cubicBezTo>
                    <a:cubicBezTo>
                      <a:pt x="436" y="380"/>
                      <a:pt x="437" y="377"/>
                      <a:pt x="438" y="375"/>
                    </a:cubicBezTo>
                    <a:cubicBezTo>
                      <a:pt x="438" y="372"/>
                      <a:pt x="439" y="370"/>
                      <a:pt x="440" y="369"/>
                    </a:cubicBezTo>
                    <a:cubicBezTo>
                      <a:pt x="441" y="368"/>
                      <a:pt x="442" y="365"/>
                      <a:pt x="442" y="363"/>
                    </a:cubicBezTo>
                    <a:cubicBezTo>
                      <a:pt x="442" y="360"/>
                      <a:pt x="444" y="357"/>
                      <a:pt x="445" y="355"/>
                    </a:cubicBezTo>
                    <a:cubicBezTo>
                      <a:pt x="447" y="354"/>
                      <a:pt x="450" y="352"/>
                      <a:pt x="453" y="352"/>
                    </a:cubicBezTo>
                    <a:cubicBezTo>
                      <a:pt x="455" y="351"/>
                      <a:pt x="459" y="349"/>
                      <a:pt x="462" y="348"/>
                    </a:cubicBezTo>
                    <a:cubicBezTo>
                      <a:pt x="465" y="346"/>
                      <a:pt x="469" y="341"/>
                      <a:pt x="470" y="337"/>
                    </a:cubicBezTo>
                    <a:cubicBezTo>
                      <a:pt x="471" y="333"/>
                      <a:pt x="472" y="329"/>
                      <a:pt x="472" y="328"/>
                    </a:cubicBezTo>
                    <a:cubicBezTo>
                      <a:pt x="473" y="327"/>
                      <a:pt x="473" y="324"/>
                      <a:pt x="473" y="322"/>
                    </a:cubicBezTo>
                    <a:cubicBezTo>
                      <a:pt x="473" y="320"/>
                      <a:pt x="474" y="317"/>
                      <a:pt x="475" y="315"/>
                    </a:cubicBezTo>
                    <a:cubicBezTo>
                      <a:pt x="476" y="312"/>
                      <a:pt x="477" y="310"/>
                      <a:pt x="478" y="308"/>
                    </a:cubicBezTo>
                    <a:cubicBezTo>
                      <a:pt x="478" y="307"/>
                      <a:pt x="479" y="305"/>
                      <a:pt x="479" y="303"/>
                    </a:cubicBezTo>
                    <a:cubicBezTo>
                      <a:pt x="479" y="301"/>
                      <a:pt x="479" y="298"/>
                      <a:pt x="479" y="296"/>
                    </a:cubicBezTo>
                    <a:cubicBezTo>
                      <a:pt x="479" y="294"/>
                      <a:pt x="481" y="291"/>
                      <a:pt x="482" y="289"/>
                    </a:cubicBezTo>
                    <a:cubicBezTo>
                      <a:pt x="483" y="287"/>
                      <a:pt x="484" y="285"/>
                      <a:pt x="484" y="283"/>
                    </a:cubicBezTo>
                    <a:cubicBezTo>
                      <a:pt x="484" y="282"/>
                      <a:pt x="485" y="279"/>
                      <a:pt x="486" y="278"/>
                    </a:cubicBezTo>
                    <a:cubicBezTo>
                      <a:pt x="487" y="276"/>
                      <a:pt x="489" y="274"/>
                      <a:pt x="490" y="272"/>
                    </a:cubicBezTo>
                    <a:cubicBezTo>
                      <a:pt x="490" y="270"/>
                      <a:pt x="491" y="266"/>
                      <a:pt x="491" y="264"/>
                    </a:cubicBezTo>
                    <a:cubicBezTo>
                      <a:pt x="491" y="262"/>
                      <a:pt x="492" y="259"/>
                      <a:pt x="494" y="258"/>
                    </a:cubicBezTo>
                    <a:cubicBezTo>
                      <a:pt x="495" y="256"/>
                      <a:pt x="496" y="254"/>
                      <a:pt x="496" y="253"/>
                    </a:cubicBezTo>
                    <a:cubicBezTo>
                      <a:pt x="496" y="251"/>
                      <a:pt x="496" y="250"/>
                      <a:pt x="496" y="250"/>
                    </a:cubicBezTo>
                    <a:cubicBezTo>
                      <a:pt x="496" y="250"/>
                      <a:pt x="495" y="249"/>
                      <a:pt x="494" y="249"/>
                    </a:cubicBezTo>
                    <a:cubicBezTo>
                      <a:pt x="492" y="248"/>
                      <a:pt x="491" y="246"/>
                      <a:pt x="490" y="245"/>
                    </a:cubicBezTo>
                    <a:cubicBezTo>
                      <a:pt x="489" y="243"/>
                      <a:pt x="490" y="239"/>
                      <a:pt x="490" y="236"/>
                    </a:cubicBezTo>
                    <a:cubicBezTo>
                      <a:pt x="491" y="233"/>
                      <a:pt x="491" y="228"/>
                      <a:pt x="490" y="227"/>
                    </a:cubicBezTo>
                    <a:cubicBezTo>
                      <a:pt x="489" y="225"/>
                      <a:pt x="488" y="222"/>
                      <a:pt x="488" y="221"/>
                    </a:cubicBezTo>
                    <a:cubicBezTo>
                      <a:pt x="488" y="219"/>
                      <a:pt x="488" y="215"/>
                      <a:pt x="488" y="212"/>
                    </a:cubicBezTo>
                    <a:cubicBezTo>
                      <a:pt x="489" y="209"/>
                      <a:pt x="488" y="205"/>
                      <a:pt x="488" y="203"/>
                    </a:cubicBezTo>
                    <a:cubicBezTo>
                      <a:pt x="487" y="202"/>
                      <a:pt x="487" y="199"/>
                      <a:pt x="488" y="198"/>
                    </a:cubicBezTo>
                    <a:cubicBezTo>
                      <a:pt x="488" y="196"/>
                      <a:pt x="488" y="194"/>
                      <a:pt x="488" y="192"/>
                    </a:cubicBezTo>
                    <a:cubicBezTo>
                      <a:pt x="487" y="191"/>
                      <a:pt x="487" y="188"/>
                      <a:pt x="487" y="185"/>
                    </a:cubicBezTo>
                    <a:cubicBezTo>
                      <a:pt x="488" y="182"/>
                      <a:pt x="489" y="177"/>
                      <a:pt x="489" y="175"/>
                    </a:cubicBezTo>
                    <a:cubicBezTo>
                      <a:pt x="489" y="173"/>
                      <a:pt x="490" y="167"/>
                      <a:pt x="490" y="163"/>
                    </a:cubicBezTo>
                    <a:cubicBezTo>
                      <a:pt x="490" y="159"/>
                      <a:pt x="492" y="153"/>
                      <a:pt x="493" y="150"/>
                    </a:cubicBezTo>
                    <a:cubicBezTo>
                      <a:pt x="494" y="147"/>
                      <a:pt x="496" y="143"/>
                      <a:pt x="496" y="142"/>
                    </a:cubicBezTo>
                    <a:cubicBezTo>
                      <a:pt x="497" y="141"/>
                      <a:pt x="498" y="139"/>
                      <a:pt x="499" y="137"/>
                    </a:cubicBezTo>
                    <a:cubicBezTo>
                      <a:pt x="501" y="135"/>
                      <a:pt x="501" y="132"/>
                      <a:pt x="501" y="130"/>
                    </a:cubicBezTo>
                    <a:cubicBezTo>
                      <a:pt x="501" y="128"/>
                      <a:pt x="502" y="125"/>
                      <a:pt x="503" y="124"/>
                    </a:cubicBezTo>
                    <a:cubicBezTo>
                      <a:pt x="505" y="122"/>
                      <a:pt x="506" y="119"/>
                      <a:pt x="507" y="117"/>
                    </a:cubicBezTo>
                    <a:cubicBezTo>
                      <a:pt x="507" y="115"/>
                      <a:pt x="508" y="114"/>
                      <a:pt x="508" y="114"/>
                    </a:cubicBezTo>
                    <a:cubicBezTo>
                      <a:pt x="230" y="97"/>
                      <a:pt x="230" y="97"/>
                      <a:pt x="230" y="97"/>
                    </a:cubicBezTo>
                    <a:cubicBezTo>
                      <a:pt x="230" y="97"/>
                      <a:pt x="229" y="97"/>
                      <a:pt x="227" y="96"/>
                    </a:cubicBezTo>
                    <a:cubicBezTo>
                      <a:pt x="225" y="95"/>
                      <a:pt x="222" y="94"/>
                      <a:pt x="220" y="95"/>
                    </a:cubicBezTo>
                    <a:cubicBezTo>
                      <a:pt x="219" y="95"/>
                      <a:pt x="216" y="93"/>
                      <a:pt x="215" y="91"/>
                    </a:cubicBezTo>
                    <a:cubicBezTo>
                      <a:pt x="214" y="89"/>
                      <a:pt x="211" y="88"/>
                      <a:pt x="209" y="88"/>
                    </a:cubicBezTo>
                    <a:cubicBezTo>
                      <a:pt x="208" y="89"/>
                      <a:pt x="205" y="87"/>
                      <a:pt x="204" y="85"/>
                    </a:cubicBezTo>
                    <a:cubicBezTo>
                      <a:pt x="203" y="82"/>
                      <a:pt x="199" y="79"/>
                      <a:pt x="196" y="78"/>
                    </a:cubicBezTo>
                    <a:cubicBezTo>
                      <a:pt x="193" y="76"/>
                      <a:pt x="190" y="74"/>
                      <a:pt x="188" y="72"/>
                    </a:cubicBezTo>
                    <a:cubicBezTo>
                      <a:pt x="187" y="70"/>
                      <a:pt x="185" y="68"/>
                      <a:pt x="183" y="68"/>
                    </a:cubicBezTo>
                    <a:cubicBezTo>
                      <a:pt x="182" y="68"/>
                      <a:pt x="180" y="66"/>
                      <a:pt x="179" y="63"/>
                    </a:cubicBezTo>
                    <a:cubicBezTo>
                      <a:pt x="178" y="60"/>
                      <a:pt x="177" y="56"/>
                      <a:pt x="177" y="53"/>
                    </a:cubicBezTo>
                    <a:cubicBezTo>
                      <a:pt x="177" y="50"/>
                      <a:pt x="176" y="46"/>
                      <a:pt x="175" y="44"/>
                    </a:cubicBezTo>
                    <a:cubicBezTo>
                      <a:pt x="174" y="41"/>
                      <a:pt x="172" y="36"/>
                      <a:pt x="171" y="32"/>
                    </a:cubicBezTo>
                    <a:cubicBezTo>
                      <a:pt x="169" y="28"/>
                      <a:pt x="167" y="23"/>
                      <a:pt x="166" y="20"/>
                    </a:cubicBezTo>
                    <a:cubicBezTo>
                      <a:pt x="166" y="18"/>
                      <a:pt x="164" y="13"/>
                      <a:pt x="162" y="11"/>
                    </a:cubicBezTo>
                    <a:cubicBezTo>
                      <a:pt x="160" y="8"/>
                      <a:pt x="158" y="5"/>
                      <a:pt x="157" y="3"/>
                    </a:cubicBezTo>
                    <a:cubicBezTo>
                      <a:pt x="155" y="1"/>
                      <a:pt x="154" y="0"/>
                      <a:pt x="154" y="0"/>
                    </a:cubicBezTo>
                    <a:cubicBezTo>
                      <a:pt x="154" y="0"/>
                      <a:pt x="153" y="2"/>
                      <a:pt x="152" y="4"/>
                    </a:cubicBezTo>
                    <a:cubicBezTo>
                      <a:pt x="151" y="6"/>
                      <a:pt x="150" y="9"/>
                      <a:pt x="150" y="11"/>
                    </a:cubicBezTo>
                    <a:cubicBezTo>
                      <a:pt x="150" y="13"/>
                      <a:pt x="149" y="16"/>
                      <a:pt x="148" y="18"/>
                    </a:cubicBezTo>
                    <a:cubicBezTo>
                      <a:pt x="146" y="20"/>
                      <a:pt x="145" y="23"/>
                      <a:pt x="145" y="24"/>
                    </a:cubicBezTo>
                    <a:cubicBezTo>
                      <a:pt x="144" y="25"/>
                      <a:pt x="145" y="27"/>
                      <a:pt x="146" y="28"/>
                    </a:cubicBezTo>
                    <a:cubicBezTo>
                      <a:pt x="147" y="30"/>
                      <a:pt x="147" y="33"/>
                      <a:pt x="147" y="35"/>
                    </a:cubicBezTo>
                    <a:cubicBezTo>
                      <a:pt x="147" y="36"/>
                      <a:pt x="147" y="40"/>
                      <a:pt x="146" y="42"/>
                    </a:cubicBezTo>
                    <a:cubicBezTo>
                      <a:pt x="145" y="44"/>
                      <a:pt x="144" y="47"/>
                      <a:pt x="143" y="48"/>
                    </a:cubicBezTo>
                    <a:cubicBezTo>
                      <a:pt x="142" y="50"/>
                      <a:pt x="142" y="52"/>
                      <a:pt x="142" y="54"/>
                    </a:cubicBezTo>
                    <a:cubicBezTo>
                      <a:pt x="142" y="55"/>
                      <a:pt x="141" y="58"/>
                      <a:pt x="141" y="60"/>
                    </a:cubicBezTo>
                    <a:cubicBezTo>
                      <a:pt x="140" y="62"/>
                      <a:pt x="140" y="63"/>
                      <a:pt x="140" y="63"/>
                    </a:cubicBezTo>
                    <a:cubicBezTo>
                      <a:pt x="3" y="69"/>
                      <a:pt x="3" y="69"/>
                      <a:pt x="3" y="69"/>
                    </a:cubicBezTo>
                    <a:cubicBezTo>
                      <a:pt x="3" y="69"/>
                      <a:pt x="3" y="71"/>
                      <a:pt x="4" y="73"/>
                    </a:cubicBezTo>
                    <a:cubicBezTo>
                      <a:pt x="4" y="75"/>
                      <a:pt x="4" y="78"/>
                      <a:pt x="4" y="80"/>
                    </a:cubicBezTo>
                    <a:cubicBezTo>
                      <a:pt x="3" y="82"/>
                      <a:pt x="3" y="85"/>
                      <a:pt x="4" y="87"/>
                    </a:cubicBezTo>
                    <a:cubicBezTo>
                      <a:pt x="5" y="88"/>
                      <a:pt x="4" y="91"/>
                      <a:pt x="3" y="92"/>
                    </a:cubicBezTo>
                    <a:cubicBezTo>
                      <a:pt x="1" y="92"/>
                      <a:pt x="0" y="94"/>
                      <a:pt x="1" y="95"/>
                    </a:cubicBezTo>
                    <a:cubicBezTo>
                      <a:pt x="3" y="96"/>
                      <a:pt x="4" y="98"/>
                      <a:pt x="4" y="100"/>
                    </a:cubicBezTo>
                    <a:cubicBezTo>
                      <a:pt x="4" y="102"/>
                      <a:pt x="4" y="105"/>
                      <a:pt x="5" y="106"/>
                    </a:cubicBezTo>
                    <a:cubicBezTo>
                      <a:pt x="5" y="108"/>
                      <a:pt x="5" y="111"/>
                      <a:pt x="5" y="112"/>
                    </a:cubicBezTo>
                    <a:cubicBezTo>
                      <a:pt x="4" y="113"/>
                      <a:pt x="4" y="116"/>
                      <a:pt x="5" y="118"/>
                    </a:cubicBezTo>
                    <a:cubicBezTo>
                      <a:pt x="5" y="121"/>
                      <a:pt x="5" y="125"/>
                      <a:pt x="5" y="127"/>
                    </a:cubicBezTo>
                    <a:cubicBezTo>
                      <a:pt x="4" y="129"/>
                      <a:pt x="4" y="133"/>
                      <a:pt x="4" y="135"/>
                    </a:cubicBezTo>
                    <a:cubicBezTo>
                      <a:pt x="4" y="137"/>
                      <a:pt x="5" y="140"/>
                      <a:pt x="6" y="141"/>
                    </a:cubicBezTo>
                    <a:cubicBezTo>
                      <a:pt x="8" y="143"/>
                      <a:pt x="9" y="146"/>
                      <a:pt x="8" y="147"/>
                    </a:cubicBezTo>
                    <a:cubicBezTo>
                      <a:pt x="8" y="149"/>
                      <a:pt x="8" y="152"/>
                      <a:pt x="8" y="154"/>
                    </a:cubicBezTo>
                    <a:cubicBezTo>
                      <a:pt x="8" y="156"/>
                      <a:pt x="7" y="159"/>
                      <a:pt x="7" y="161"/>
                    </a:cubicBezTo>
                    <a:cubicBezTo>
                      <a:pt x="6" y="162"/>
                      <a:pt x="6" y="165"/>
                      <a:pt x="7" y="167"/>
                    </a:cubicBezTo>
                    <a:cubicBezTo>
                      <a:pt x="7" y="168"/>
                      <a:pt x="10" y="170"/>
                      <a:pt x="11" y="170"/>
                    </a:cubicBezTo>
                    <a:cubicBezTo>
                      <a:pt x="13" y="171"/>
                      <a:pt x="23" y="171"/>
                      <a:pt x="34" y="171"/>
                    </a:cubicBezTo>
                    <a:cubicBezTo>
                      <a:pt x="44" y="171"/>
                      <a:pt x="54" y="172"/>
                      <a:pt x="55" y="173"/>
                    </a:cubicBezTo>
                    <a:cubicBezTo>
                      <a:pt x="57" y="174"/>
                      <a:pt x="61" y="174"/>
                      <a:pt x="65" y="173"/>
                    </a:cubicBezTo>
                    <a:cubicBezTo>
                      <a:pt x="68" y="173"/>
                      <a:pt x="74" y="175"/>
                      <a:pt x="76" y="178"/>
                    </a:cubicBezTo>
                    <a:cubicBezTo>
                      <a:pt x="76" y="178"/>
                      <a:pt x="76" y="178"/>
                      <a:pt x="77" y="181"/>
                    </a:cubicBezTo>
                    <a:cubicBezTo>
                      <a:pt x="78" y="184"/>
                      <a:pt x="78" y="184"/>
                      <a:pt x="78" y="184"/>
                    </a:cubicBezTo>
                    <a:cubicBezTo>
                      <a:pt x="78" y="186"/>
                      <a:pt x="76" y="190"/>
                      <a:pt x="74" y="192"/>
                    </a:cubicBezTo>
                    <a:cubicBezTo>
                      <a:pt x="72" y="195"/>
                      <a:pt x="70" y="199"/>
                      <a:pt x="71" y="203"/>
                    </a:cubicBezTo>
                    <a:cubicBezTo>
                      <a:pt x="72" y="206"/>
                      <a:pt x="74" y="211"/>
                      <a:pt x="76" y="212"/>
                    </a:cubicBezTo>
                    <a:cubicBezTo>
                      <a:pt x="78" y="214"/>
                      <a:pt x="79" y="218"/>
                      <a:pt x="80" y="220"/>
                    </a:cubicBezTo>
                    <a:cubicBezTo>
                      <a:pt x="80" y="223"/>
                      <a:pt x="80" y="226"/>
                      <a:pt x="81" y="229"/>
                    </a:cubicBezTo>
                    <a:cubicBezTo>
                      <a:pt x="82" y="231"/>
                      <a:pt x="81" y="235"/>
                      <a:pt x="80" y="239"/>
                    </a:cubicBezTo>
                    <a:cubicBezTo>
                      <a:pt x="78" y="243"/>
                      <a:pt x="76" y="249"/>
                      <a:pt x="75" y="251"/>
                    </a:cubicBezTo>
                    <a:cubicBezTo>
                      <a:pt x="74" y="254"/>
                      <a:pt x="72" y="258"/>
                      <a:pt x="70" y="260"/>
                    </a:cubicBezTo>
                    <a:cubicBezTo>
                      <a:pt x="67" y="262"/>
                      <a:pt x="64" y="265"/>
                      <a:pt x="63" y="268"/>
                    </a:cubicBezTo>
                    <a:cubicBezTo>
                      <a:pt x="62" y="271"/>
                      <a:pt x="61" y="275"/>
                      <a:pt x="60" y="277"/>
                    </a:cubicBezTo>
                    <a:cubicBezTo>
                      <a:pt x="60" y="279"/>
                      <a:pt x="58" y="281"/>
                      <a:pt x="55" y="282"/>
                    </a:cubicBezTo>
                    <a:cubicBezTo>
                      <a:pt x="53" y="284"/>
                      <a:pt x="49" y="286"/>
                      <a:pt x="47" y="288"/>
                    </a:cubicBezTo>
                    <a:cubicBezTo>
                      <a:pt x="45" y="290"/>
                      <a:pt x="44" y="292"/>
                      <a:pt x="44" y="292"/>
                    </a:cubicBezTo>
                    <a:cubicBezTo>
                      <a:pt x="44" y="292"/>
                      <a:pt x="46" y="293"/>
                      <a:pt x="49" y="295"/>
                    </a:cubicBezTo>
                    <a:cubicBezTo>
                      <a:pt x="51" y="296"/>
                      <a:pt x="55" y="299"/>
                      <a:pt x="56" y="301"/>
                    </a:cubicBezTo>
                    <a:cubicBezTo>
                      <a:pt x="58" y="303"/>
                      <a:pt x="59" y="306"/>
                      <a:pt x="58" y="308"/>
                    </a:cubicBezTo>
                    <a:cubicBezTo>
                      <a:pt x="58" y="309"/>
                      <a:pt x="57" y="311"/>
                      <a:pt x="57" y="313"/>
                    </a:cubicBezTo>
                    <a:cubicBezTo>
                      <a:pt x="57" y="315"/>
                      <a:pt x="58" y="319"/>
                      <a:pt x="59" y="321"/>
                    </a:cubicBezTo>
                    <a:cubicBezTo>
                      <a:pt x="60" y="324"/>
                      <a:pt x="62" y="329"/>
                      <a:pt x="64" y="332"/>
                    </a:cubicBezTo>
                    <a:cubicBezTo>
                      <a:pt x="65" y="336"/>
                      <a:pt x="66" y="343"/>
                      <a:pt x="66" y="348"/>
                    </a:cubicBezTo>
                    <a:cubicBezTo>
                      <a:pt x="66" y="353"/>
                      <a:pt x="63" y="357"/>
                      <a:pt x="60" y="357"/>
                    </a:cubicBezTo>
                    <a:cubicBezTo>
                      <a:pt x="57" y="357"/>
                      <a:pt x="56" y="360"/>
                      <a:pt x="59" y="362"/>
                    </a:cubicBezTo>
                    <a:cubicBezTo>
                      <a:pt x="62" y="365"/>
                      <a:pt x="65" y="369"/>
                      <a:pt x="66" y="371"/>
                    </a:cubicBezTo>
                    <a:cubicBezTo>
                      <a:pt x="67" y="373"/>
                      <a:pt x="69" y="378"/>
                      <a:pt x="70" y="382"/>
                    </a:cubicBezTo>
                    <a:cubicBezTo>
                      <a:pt x="70" y="385"/>
                      <a:pt x="71" y="392"/>
                      <a:pt x="72" y="396"/>
                    </a:cubicBezTo>
                    <a:cubicBezTo>
                      <a:pt x="72" y="401"/>
                      <a:pt x="73" y="406"/>
                      <a:pt x="74" y="407"/>
                    </a:cubicBezTo>
                    <a:cubicBezTo>
                      <a:pt x="74" y="408"/>
                      <a:pt x="91" y="409"/>
                      <a:pt x="110" y="409"/>
                    </a:cubicBezTo>
                    <a:cubicBezTo>
                      <a:pt x="129" y="410"/>
                      <a:pt x="146" y="410"/>
                      <a:pt x="148" y="409"/>
                    </a:cubicBezTo>
                    <a:cubicBezTo>
                      <a:pt x="150" y="408"/>
                      <a:pt x="152" y="410"/>
                      <a:pt x="152" y="413"/>
                    </a:cubicBezTo>
                    <a:cubicBezTo>
                      <a:pt x="152" y="416"/>
                      <a:pt x="151" y="420"/>
                      <a:pt x="150" y="422"/>
                    </a:cubicBezTo>
                    <a:cubicBezTo>
                      <a:pt x="148" y="424"/>
                      <a:pt x="147" y="428"/>
                      <a:pt x="147" y="431"/>
                    </a:cubicBezTo>
                    <a:cubicBezTo>
                      <a:pt x="147" y="435"/>
                      <a:pt x="148" y="439"/>
                      <a:pt x="149" y="441"/>
                    </a:cubicBezTo>
                    <a:cubicBezTo>
                      <a:pt x="150" y="443"/>
                      <a:pt x="151" y="447"/>
                      <a:pt x="151" y="449"/>
                    </a:cubicBezTo>
                    <a:cubicBezTo>
                      <a:pt x="151" y="451"/>
                      <a:pt x="153" y="454"/>
                      <a:pt x="155" y="455"/>
                    </a:cubicBezTo>
                    <a:cubicBezTo>
                      <a:pt x="157" y="456"/>
                      <a:pt x="160" y="458"/>
                      <a:pt x="163" y="460"/>
                    </a:cubicBezTo>
                    <a:cubicBezTo>
                      <a:pt x="166" y="461"/>
                      <a:pt x="169" y="462"/>
                      <a:pt x="170" y="462"/>
                    </a:cubicBezTo>
                    <a:cubicBezTo>
                      <a:pt x="171" y="462"/>
                      <a:pt x="173" y="464"/>
                      <a:pt x="175" y="466"/>
                    </a:cubicBezTo>
                    <a:cubicBezTo>
                      <a:pt x="177" y="468"/>
                      <a:pt x="179" y="469"/>
                      <a:pt x="179" y="469"/>
                    </a:cubicBezTo>
                    <a:cubicBezTo>
                      <a:pt x="179" y="469"/>
                      <a:pt x="182" y="475"/>
                      <a:pt x="184" y="47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407924" tIns="203962" rIns="407924" bIns="20396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246"/>
              </a:p>
            </p:txBody>
          </p:sp>
          <p:sp>
            <p:nvSpPr>
              <p:cNvPr id="1207" name="Freeform 9">
                <a:extLst>
                  <a:ext uri="{FF2B5EF4-FFF2-40B4-BE49-F238E27FC236}">
                    <a16:creationId xmlns:a16="http://schemas.microsoft.com/office/drawing/2014/main" id="{8E8E0A57-446F-BE41-6924-EAF1DD989A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6829" y="2203700"/>
                <a:ext cx="506141" cy="556082"/>
              </a:xfrm>
              <a:custGeom>
                <a:avLst/>
                <a:gdLst/>
                <a:ahLst/>
                <a:cxnLst>
                  <a:cxn ang="0">
                    <a:pos x="11" y="112"/>
                  </a:cxn>
                  <a:cxn ang="0">
                    <a:pos x="31" y="121"/>
                  </a:cxn>
                  <a:cxn ang="0">
                    <a:pos x="41" y="127"/>
                  </a:cxn>
                  <a:cxn ang="0">
                    <a:pos x="52" y="130"/>
                  </a:cxn>
                  <a:cxn ang="0">
                    <a:pos x="60" y="140"/>
                  </a:cxn>
                  <a:cxn ang="0">
                    <a:pos x="69" y="156"/>
                  </a:cxn>
                  <a:cxn ang="0">
                    <a:pos x="75" y="167"/>
                  </a:cxn>
                  <a:cxn ang="0">
                    <a:pos x="81" y="190"/>
                  </a:cxn>
                  <a:cxn ang="0">
                    <a:pos x="96" y="207"/>
                  </a:cxn>
                  <a:cxn ang="0">
                    <a:pos x="100" y="221"/>
                  </a:cxn>
                  <a:cxn ang="0">
                    <a:pos x="106" y="230"/>
                  </a:cxn>
                  <a:cxn ang="0">
                    <a:pos x="115" y="243"/>
                  </a:cxn>
                  <a:cxn ang="0">
                    <a:pos x="132" y="242"/>
                  </a:cxn>
                  <a:cxn ang="0">
                    <a:pos x="141" y="234"/>
                  </a:cxn>
                  <a:cxn ang="0">
                    <a:pos x="148" y="219"/>
                  </a:cxn>
                  <a:cxn ang="0">
                    <a:pos x="158" y="205"/>
                  </a:cxn>
                  <a:cxn ang="0">
                    <a:pos x="172" y="191"/>
                  </a:cxn>
                  <a:cxn ang="0">
                    <a:pos x="187" y="183"/>
                  </a:cxn>
                  <a:cxn ang="0">
                    <a:pos x="196" y="168"/>
                  </a:cxn>
                  <a:cxn ang="0">
                    <a:pos x="209" y="162"/>
                  </a:cxn>
                  <a:cxn ang="0">
                    <a:pos x="217" y="159"/>
                  </a:cxn>
                  <a:cxn ang="0">
                    <a:pos x="210" y="156"/>
                  </a:cxn>
                  <a:cxn ang="0">
                    <a:pos x="208" y="155"/>
                  </a:cxn>
                  <a:cxn ang="0">
                    <a:pos x="219" y="144"/>
                  </a:cxn>
                  <a:cxn ang="0">
                    <a:pos x="215" y="141"/>
                  </a:cxn>
                  <a:cxn ang="0">
                    <a:pos x="222" y="133"/>
                  </a:cxn>
                  <a:cxn ang="0">
                    <a:pos x="218" y="118"/>
                  </a:cxn>
                  <a:cxn ang="0">
                    <a:pos x="202" y="114"/>
                  </a:cxn>
                  <a:cxn ang="0">
                    <a:pos x="189" y="103"/>
                  </a:cxn>
                  <a:cxn ang="0">
                    <a:pos x="183" y="101"/>
                  </a:cxn>
                  <a:cxn ang="0">
                    <a:pos x="185" y="93"/>
                  </a:cxn>
                  <a:cxn ang="0">
                    <a:pos x="182" y="83"/>
                  </a:cxn>
                  <a:cxn ang="0">
                    <a:pos x="177" y="71"/>
                  </a:cxn>
                  <a:cxn ang="0">
                    <a:pos x="174" y="60"/>
                  </a:cxn>
                  <a:cxn ang="0">
                    <a:pos x="169" y="43"/>
                  </a:cxn>
                  <a:cxn ang="0">
                    <a:pos x="167" y="24"/>
                  </a:cxn>
                  <a:cxn ang="0">
                    <a:pos x="160" y="10"/>
                  </a:cxn>
                  <a:cxn ang="0">
                    <a:pos x="149" y="2"/>
                  </a:cxn>
                  <a:cxn ang="0">
                    <a:pos x="151" y="13"/>
                  </a:cxn>
                  <a:cxn ang="0">
                    <a:pos x="144" y="10"/>
                  </a:cxn>
                  <a:cxn ang="0">
                    <a:pos x="139" y="14"/>
                  </a:cxn>
                  <a:cxn ang="0">
                    <a:pos x="129" y="26"/>
                  </a:cxn>
                  <a:cxn ang="0">
                    <a:pos x="114" y="48"/>
                  </a:cxn>
                  <a:cxn ang="0">
                    <a:pos x="106" y="63"/>
                  </a:cxn>
                  <a:cxn ang="0">
                    <a:pos x="102" y="74"/>
                  </a:cxn>
                  <a:cxn ang="0">
                    <a:pos x="94" y="87"/>
                  </a:cxn>
                  <a:cxn ang="0">
                    <a:pos x="78" y="94"/>
                  </a:cxn>
                  <a:cxn ang="0">
                    <a:pos x="70" y="92"/>
                  </a:cxn>
                  <a:cxn ang="0">
                    <a:pos x="51" y="89"/>
                  </a:cxn>
                  <a:cxn ang="0">
                    <a:pos x="32" y="96"/>
                  </a:cxn>
                  <a:cxn ang="0">
                    <a:pos x="12" y="92"/>
                  </a:cxn>
                  <a:cxn ang="0">
                    <a:pos x="5" y="87"/>
                  </a:cxn>
                  <a:cxn ang="0">
                    <a:pos x="1" y="104"/>
                  </a:cxn>
                </a:cxnLst>
                <a:rect l="0" t="0" r="r" b="b"/>
                <a:pathLst>
                  <a:path w="223" h="245">
                    <a:moveTo>
                      <a:pt x="1" y="104"/>
                    </a:moveTo>
                    <a:cubicBezTo>
                      <a:pt x="1" y="108"/>
                      <a:pt x="6" y="112"/>
                      <a:pt x="11" y="112"/>
                    </a:cubicBezTo>
                    <a:cubicBezTo>
                      <a:pt x="15" y="112"/>
                      <a:pt x="21" y="114"/>
                      <a:pt x="24" y="116"/>
                    </a:cubicBezTo>
                    <a:cubicBezTo>
                      <a:pt x="26" y="117"/>
                      <a:pt x="29" y="120"/>
                      <a:pt x="31" y="121"/>
                    </a:cubicBezTo>
                    <a:cubicBezTo>
                      <a:pt x="32" y="122"/>
                      <a:pt x="35" y="124"/>
                      <a:pt x="36" y="124"/>
                    </a:cubicBezTo>
                    <a:cubicBezTo>
                      <a:pt x="37" y="125"/>
                      <a:pt x="39" y="126"/>
                      <a:pt x="41" y="127"/>
                    </a:cubicBezTo>
                    <a:cubicBezTo>
                      <a:pt x="42" y="129"/>
                      <a:pt x="45" y="129"/>
                      <a:pt x="46" y="129"/>
                    </a:cubicBezTo>
                    <a:cubicBezTo>
                      <a:pt x="48" y="129"/>
                      <a:pt x="50" y="129"/>
                      <a:pt x="52" y="130"/>
                    </a:cubicBezTo>
                    <a:cubicBezTo>
                      <a:pt x="54" y="130"/>
                      <a:pt x="56" y="132"/>
                      <a:pt x="57" y="133"/>
                    </a:cubicBezTo>
                    <a:cubicBezTo>
                      <a:pt x="59" y="134"/>
                      <a:pt x="60" y="137"/>
                      <a:pt x="60" y="140"/>
                    </a:cubicBezTo>
                    <a:cubicBezTo>
                      <a:pt x="60" y="142"/>
                      <a:pt x="62" y="146"/>
                      <a:pt x="63" y="149"/>
                    </a:cubicBezTo>
                    <a:cubicBezTo>
                      <a:pt x="65" y="152"/>
                      <a:pt x="68" y="155"/>
                      <a:pt x="69" y="156"/>
                    </a:cubicBezTo>
                    <a:cubicBezTo>
                      <a:pt x="71" y="157"/>
                      <a:pt x="73" y="159"/>
                      <a:pt x="74" y="160"/>
                    </a:cubicBezTo>
                    <a:cubicBezTo>
                      <a:pt x="76" y="161"/>
                      <a:pt x="76" y="164"/>
                      <a:pt x="75" y="167"/>
                    </a:cubicBezTo>
                    <a:cubicBezTo>
                      <a:pt x="75" y="169"/>
                      <a:pt x="75" y="175"/>
                      <a:pt x="77" y="178"/>
                    </a:cubicBezTo>
                    <a:cubicBezTo>
                      <a:pt x="78" y="182"/>
                      <a:pt x="80" y="188"/>
                      <a:pt x="81" y="190"/>
                    </a:cubicBezTo>
                    <a:cubicBezTo>
                      <a:pt x="82" y="193"/>
                      <a:pt x="86" y="197"/>
                      <a:pt x="88" y="199"/>
                    </a:cubicBezTo>
                    <a:cubicBezTo>
                      <a:pt x="91" y="202"/>
                      <a:pt x="94" y="205"/>
                      <a:pt x="96" y="207"/>
                    </a:cubicBezTo>
                    <a:cubicBezTo>
                      <a:pt x="97" y="210"/>
                      <a:pt x="98" y="213"/>
                      <a:pt x="98" y="215"/>
                    </a:cubicBezTo>
                    <a:cubicBezTo>
                      <a:pt x="98" y="217"/>
                      <a:pt x="99" y="220"/>
                      <a:pt x="100" y="221"/>
                    </a:cubicBezTo>
                    <a:cubicBezTo>
                      <a:pt x="102" y="223"/>
                      <a:pt x="103" y="226"/>
                      <a:pt x="103" y="227"/>
                    </a:cubicBezTo>
                    <a:cubicBezTo>
                      <a:pt x="103" y="229"/>
                      <a:pt x="105" y="230"/>
                      <a:pt x="106" y="230"/>
                    </a:cubicBezTo>
                    <a:cubicBezTo>
                      <a:pt x="108" y="230"/>
                      <a:pt x="110" y="233"/>
                      <a:pt x="110" y="236"/>
                    </a:cubicBezTo>
                    <a:cubicBezTo>
                      <a:pt x="110" y="239"/>
                      <a:pt x="113" y="242"/>
                      <a:pt x="115" y="243"/>
                    </a:cubicBezTo>
                    <a:cubicBezTo>
                      <a:pt x="118" y="244"/>
                      <a:pt x="121" y="245"/>
                      <a:pt x="123" y="245"/>
                    </a:cubicBezTo>
                    <a:cubicBezTo>
                      <a:pt x="125" y="244"/>
                      <a:pt x="129" y="243"/>
                      <a:pt x="132" y="242"/>
                    </a:cubicBezTo>
                    <a:cubicBezTo>
                      <a:pt x="136" y="240"/>
                      <a:pt x="139" y="239"/>
                      <a:pt x="139" y="239"/>
                    </a:cubicBezTo>
                    <a:cubicBezTo>
                      <a:pt x="139" y="239"/>
                      <a:pt x="140" y="237"/>
                      <a:pt x="141" y="234"/>
                    </a:cubicBezTo>
                    <a:cubicBezTo>
                      <a:pt x="142" y="232"/>
                      <a:pt x="143" y="228"/>
                      <a:pt x="144" y="226"/>
                    </a:cubicBezTo>
                    <a:cubicBezTo>
                      <a:pt x="144" y="224"/>
                      <a:pt x="146" y="221"/>
                      <a:pt x="148" y="219"/>
                    </a:cubicBezTo>
                    <a:cubicBezTo>
                      <a:pt x="150" y="217"/>
                      <a:pt x="153" y="214"/>
                      <a:pt x="154" y="212"/>
                    </a:cubicBezTo>
                    <a:cubicBezTo>
                      <a:pt x="155" y="210"/>
                      <a:pt x="157" y="207"/>
                      <a:pt x="158" y="205"/>
                    </a:cubicBezTo>
                    <a:cubicBezTo>
                      <a:pt x="159" y="203"/>
                      <a:pt x="161" y="200"/>
                      <a:pt x="163" y="199"/>
                    </a:cubicBezTo>
                    <a:cubicBezTo>
                      <a:pt x="165" y="197"/>
                      <a:pt x="169" y="193"/>
                      <a:pt x="172" y="191"/>
                    </a:cubicBezTo>
                    <a:cubicBezTo>
                      <a:pt x="175" y="189"/>
                      <a:pt x="179" y="187"/>
                      <a:pt x="181" y="186"/>
                    </a:cubicBezTo>
                    <a:cubicBezTo>
                      <a:pt x="182" y="186"/>
                      <a:pt x="185" y="184"/>
                      <a:pt x="187" y="183"/>
                    </a:cubicBezTo>
                    <a:cubicBezTo>
                      <a:pt x="189" y="182"/>
                      <a:pt x="191" y="179"/>
                      <a:pt x="192" y="177"/>
                    </a:cubicBezTo>
                    <a:cubicBezTo>
                      <a:pt x="193" y="174"/>
                      <a:pt x="195" y="170"/>
                      <a:pt x="196" y="168"/>
                    </a:cubicBezTo>
                    <a:cubicBezTo>
                      <a:pt x="197" y="165"/>
                      <a:pt x="200" y="163"/>
                      <a:pt x="202" y="162"/>
                    </a:cubicBezTo>
                    <a:cubicBezTo>
                      <a:pt x="204" y="162"/>
                      <a:pt x="207" y="161"/>
                      <a:pt x="209" y="162"/>
                    </a:cubicBezTo>
                    <a:cubicBezTo>
                      <a:pt x="211" y="162"/>
                      <a:pt x="214" y="161"/>
                      <a:pt x="215" y="160"/>
                    </a:cubicBezTo>
                    <a:cubicBezTo>
                      <a:pt x="216" y="159"/>
                      <a:pt x="217" y="159"/>
                      <a:pt x="217" y="159"/>
                    </a:cubicBezTo>
                    <a:cubicBezTo>
                      <a:pt x="217" y="159"/>
                      <a:pt x="216" y="158"/>
                      <a:pt x="214" y="157"/>
                    </a:cubicBezTo>
                    <a:cubicBezTo>
                      <a:pt x="213" y="156"/>
                      <a:pt x="211" y="156"/>
                      <a:pt x="210" y="156"/>
                    </a:cubicBezTo>
                    <a:cubicBezTo>
                      <a:pt x="209" y="156"/>
                      <a:pt x="207" y="157"/>
                      <a:pt x="206" y="157"/>
                    </a:cubicBezTo>
                    <a:cubicBezTo>
                      <a:pt x="205" y="158"/>
                      <a:pt x="206" y="157"/>
                      <a:pt x="208" y="155"/>
                    </a:cubicBezTo>
                    <a:cubicBezTo>
                      <a:pt x="210" y="154"/>
                      <a:pt x="213" y="151"/>
                      <a:pt x="214" y="149"/>
                    </a:cubicBezTo>
                    <a:cubicBezTo>
                      <a:pt x="216" y="147"/>
                      <a:pt x="218" y="145"/>
                      <a:pt x="219" y="144"/>
                    </a:cubicBezTo>
                    <a:cubicBezTo>
                      <a:pt x="220" y="143"/>
                      <a:pt x="220" y="142"/>
                      <a:pt x="218" y="141"/>
                    </a:cubicBezTo>
                    <a:cubicBezTo>
                      <a:pt x="217" y="141"/>
                      <a:pt x="215" y="141"/>
                      <a:pt x="215" y="141"/>
                    </a:cubicBezTo>
                    <a:cubicBezTo>
                      <a:pt x="214" y="141"/>
                      <a:pt x="215" y="140"/>
                      <a:pt x="217" y="139"/>
                    </a:cubicBezTo>
                    <a:cubicBezTo>
                      <a:pt x="220" y="138"/>
                      <a:pt x="222" y="135"/>
                      <a:pt x="222" y="133"/>
                    </a:cubicBezTo>
                    <a:cubicBezTo>
                      <a:pt x="223" y="131"/>
                      <a:pt x="223" y="127"/>
                      <a:pt x="222" y="125"/>
                    </a:cubicBezTo>
                    <a:cubicBezTo>
                      <a:pt x="222" y="123"/>
                      <a:pt x="220" y="120"/>
                      <a:pt x="218" y="118"/>
                    </a:cubicBezTo>
                    <a:cubicBezTo>
                      <a:pt x="216" y="116"/>
                      <a:pt x="213" y="115"/>
                      <a:pt x="211" y="115"/>
                    </a:cubicBezTo>
                    <a:cubicBezTo>
                      <a:pt x="209" y="115"/>
                      <a:pt x="205" y="114"/>
                      <a:pt x="202" y="114"/>
                    </a:cubicBezTo>
                    <a:cubicBezTo>
                      <a:pt x="198" y="113"/>
                      <a:pt x="194" y="111"/>
                      <a:pt x="193" y="109"/>
                    </a:cubicBezTo>
                    <a:cubicBezTo>
                      <a:pt x="192" y="107"/>
                      <a:pt x="190" y="104"/>
                      <a:pt x="189" y="103"/>
                    </a:cubicBezTo>
                    <a:cubicBezTo>
                      <a:pt x="188" y="102"/>
                      <a:pt x="186" y="102"/>
                      <a:pt x="185" y="102"/>
                    </a:cubicBezTo>
                    <a:cubicBezTo>
                      <a:pt x="184" y="103"/>
                      <a:pt x="183" y="102"/>
                      <a:pt x="183" y="101"/>
                    </a:cubicBezTo>
                    <a:cubicBezTo>
                      <a:pt x="183" y="100"/>
                      <a:pt x="184" y="98"/>
                      <a:pt x="185" y="97"/>
                    </a:cubicBezTo>
                    <a:cubicBezTo>
                      <a:pt x="186" y="96"/>
                      <a:pt x="186" y="94"/>
                      <a:pt x="185" y="93"/>
                    </a:cubicBezTo>
                    <a:cubicBezTo>
                      <a:pt x="185" y="92"/>
                      <a:pt x="184" y="89"/>
                      <a:pt x="184" y="88"/>
                    </a:cubicBezTo>
                    <a:cubicBezTo>
                      <a:pt x="183" y="86"/>
                      <a:pt x="183" y="84"/>
                      <a:pt x="182" y="83"/>
                    </a:cubicBezTo>
                    <a:cubicBezTo>
                      <a:pt x="182" y="81"/>
                      <a:pt x="181" y="78"/>
                      <a:pt x="180" y="76"/>
                    </a:cubicBezTo>
                    <a:cubicBezTo>
                      <a:pt x="179" y="74"/>
                      <a:pt x="178" y="71"/>
                      <a:pt x="177" y="71"/>
                    </a:cubicBezTo>
                    <a:cubicBezTo>
                      <a:pt x="176" y="70"/>
                      <a:pt x="175" y="68"/>
                      <a:pt x="176" y="67"/>
                    </a:cubicBezTo>
                    <a:cubicBezTo>
                      <a:pt x="176" y="65"/>
                      <a:pt x="175" y="62"/>
                      <a:pt x="174" y="60"/>
                    </a:cubicBezTo>
                    <a:cubicBezTo>
                      <a:pt x="173" y="57"/>
                      <a:pt x="172" y="53"/>
                      <a:pt x="171" y="50"/>
                    </a:cubicBezTo>
                    <a:cubicBezTo>
                      <a:pt x="170" y="48"/>
                      <a:pt x="169" y="44"/>
                      <a:pt x="169" y="43"/>
                    </a:cubicBezTo>
                    <a:cubicBezTo>
                      <a:pt x="169" y="41"/>
                      <a:pt x="169" y="35"/>
                      <a:pt x="169" y="30"/>
                    </a:cubicBezTo>
                    <a:cubicBezTo>
                      <a:pt x="169" y="24"/>
                      <a:pt x="168" y="21"/>
                      <a:pt x="167" y="24"/>
                    </a:cubicBezTo>
                    <a:cubicBezTo>
                      <a:pt x="166" y="27"/>
                      <a:pt x="164" y="25"/>
                      <a:pt x="164" y="21"/>
                    </a:cubicBezTo>
                    <a:cubicBezTo>
                      <a:pt x="164" y="17"/>
                      <a:pt x="162" y="12"/>
                      <a:pt x="160" y="10"/>
                    </a:cubicBezTo>
                    <a:cubicBezTo>
                      <a:pt x="159" y="8"/>
                      <a:pt x="156" y="4"/>
                      <a:pt x="153" y="3"/>
                    </a:cubicBezTo>
                    <a:cubicBezTo>
                      <a:pt x="151" y="1"/>
                      <a:pt x="149" y="0"/>
                      <a:pt x="149" y="2"/>
                    </a:cubicBezTo>
                    <a:cubicBezTo>
                      <a:pt x="148" y="3"/>
                      <a:pt x="148" y="6"/>
                      <a:pt x="149" y="7"/>
                    </a:cubicBezTo>
                    <a:cubicBezTo>
                      <a:pt x="149" y="8"/>
                      <a:pt x="150" y="11"/>
                      <a:pt x="151" y="13"/>
                    </a:cubicBezTo>
                    <a:cubicBezTo>
                      <a:pt x="151" y="15"/>
                      <a:pt x="151" y="15"/>
                      <a:pt x="149" y="12"/>
                    </a:cubicBezTo>
                    <a:cubicBezTo>
                      <a:pt x="147" y="10"/>
                      <a:pt x="145" y="9"/>
                      <a:pt x="144" y="10"/>
                    </a:cubicBezTo>
                    <a:cubicBezTo>
                      <a:pt x="142" y="11"/>
                      <a:pt x="141" y="11"/>
                      <a:pt x="141" y="11"/>
                    </a:cubicBezTo>
                    <a:cubicBezTo>
                      <a:pt x="141" y="11"/>
                      <a:pt x="140" y="12"/>
                      <a:pt x="139" y="14"/>
                    </a:cubicBezTo>
                    <a:cubicBezTo>
                      <a:pt x="137" y="15"/>
                      <a:pt x="136" y="17"/>
                      <a:pt x="135" y="18"/>
                    </a:cubicBezTo>
                    <a:cubicBezTo>
                      <a:pt x="135" y="19"/>
                      <a:pt x="132" y="23"/>
                      <a:pt x="129" y="26"/>
                    </a:cubicBezTo>
                    <a:cubicBezTo>
                      <a:pt x="126" y="30"/>
                      <a:pt x="122" y="35"/>
                      <a:pt x="120" y="39"/>
                    </a:cubicBezTo>
                    <a:cubicBezTo>
                      <a:pt x="119" y="42"/>
                      <a:pt x="116" y="46"/>
                      <a:pt x="114" y="48"/>
                    </a:cubicBezTo>
                    <a:cubicBezTo>
                      <a:pt x="112" y="49"/>
                      <a:pt x="110" y="51"/>
                      <a:pt x="110" y="53"/>
                    </a:cubicBezTo>
                    <a:cubicBezTo>
                      <a:pt x="110" y="55"/>
                      <a:pt x="108" y="59"/>
                      <a:pt x="106" y="63"/>
                    </a:cubicBezTo>
                    <a:cubicBezTo>
                      <a:pt x="105" y="66"/>
                      <a:pt x="103" y="69"/>
                      <a:pt x="103" y="70"/>
                    </a:cubicBezTo>
                    <a:cubicBezTo>
                      <a:pt x="102" y="70"/>
                      <a:pt x="102" y="72"/>
                      <a:pt x="102" y="74"/>
                    </a:cubicBezTo>
                    <a:cubicBezTo>
                      <a:pt x="101" y="76"/>
                      <a:pt x="101" y="79"/>
                      <a:pt x="100" y="81"/>
                    </a:cubicBezTo>
                    <a:cubicBezTo>
                      <a:pt x="99" y="82"/>
                      <a:pt x="96" y="85"/>
                      <a:pt x="94" y="87"/>
                    </a:cubicBezTo>
                    <a:cubicBezTo>
                      <a:pt x="92" y="88"/>
                      <a:pt x="88" y="91"/>
                      <a:pt x="86" y="92"/>
                    </a:cubicBezTo>
                    <a:cubicBezTo>
                      <a:pt x="84" y="94"/>
                      <a:pt x="80" y="95"/>
                      <a:pt x="78" y="94"/>
                    </a:cubicBezTo>
                    <a:cubicBezTo>
                      <a:pt x="76" y="94"/>
                      <a:pt x="73" y="93"/>
                      <a:pt x="73" y="94"/>
                    </a:cubicBezTo>
                    <a:cubicBezTo>
                      <a:pt x="72" y="94"/>
                      <a:pt x="71" y="93"/>
                      <a:pt x="70" y="92"/>
                    </a:cubicBezTo>
                    <a:cubicBezTo>
                      <a:pt x="69" y="91"/>
                      <a:pt x="65" y="91"/>
                      <a:pt x="61" y="91"/>
                    </a:cubicBezTo>
                    <a:cubicBezTo>
                      <a:pt x="58" y="91"/>
                      <a:pt x="53" y="90"/>
                      <a:pt x="51" y="89"/>
                    </a:cubicBezTo>
                    <a:cubicBezTo>
                      <a:pt x="48" y="88"/>
                      <a:pt x="44" y="89"/>
                      <a:pt x="42" y="91"/>
                    </a:cubicBezTo>
                    <a:cubicBezTo>
                      <a:pt x="39" y="93"/>
                      <a:pt x="35" y="95"/>
                      <a:pt x="32" y="96"/>
                    </a:cubicBezTo>
                    <a:cubicBezTo>
                      <a:pt x="29" y="97"/>
                      <a:pt x="24" y="97"/>
                      <a:pt x="21" y="96"/>
                    </a:cubicBezTo>
                    <a:cubicBezTo>
                      <a:pt x="17" y="95"/>
                      <a:pt x="14" y="93"/>
                      <a:pt x="12" y="92"/>
                    </a:cubicBezTo>
                    <a:cubicBezTo>
                      <a:pt x="11" y="90"/>
                      <a:pt x="10" y="89"/>
                      <a:pt x="10" y="89"/>
                    </a:cubicBezTo>
                    <a:cubicBezTo>
                      <a:pt x="5" y="87"/>
                      <a:pt x="5" y="87"/>
                      <a:pt x="5" y="87"/>
                    </a:cubicBezTo>
                    <a:cubicBezTo>
                      <a:pt x="5" y="87"/>
                      <a:pt x="3" y="89"/>
                      <a:pt x="2" y="92"/>
                    </a:cubicBezTo>
                    <a:cubicBezTo>
                      <a:pt x="0" y="94"/>
                      <a:pt x="0" y="100"/>
                      <a:pt x="1" y="10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407924" tIns="203962" rIns="407924" bIns="20396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246"/>
              </a:p>
            </p:txBody>
          </p:sp>
          <p:sp>
            <p:nvSpPr>
              <p:cNvPr id="1208" name="Freeform 10">
                <a:extLst>
                  <a:ext uri="{FF2B5EF4-FFF2-40B4-BE49-F238E27FC236}">
                    <a16:creationId xmlns:a16="http://schemas.microsoft.com/office/drawing/2014/main" id="{EF0A7BE4-0207-89F1-9974-08F00B0957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6345" y="3343760"/>
                <a:ext cx="741443" cy="388009"/>
              </a:xfrm>
              <a:custGeom>
                <a:avLst/>
                <a:gdLst/>
                <a:ahLst/>
                <a:cxnLst>
                  <a:cxn ang="0">
                    <a:pos x="273" y="87"/>
                  </a:cxn>
                  <a:cxn ang="0">
                    <a:pos x="218" y="64"/>
                  </a:cxn>
                  <a:cxn ang="0">
                    <a:pos x="164" y="40"/>
                  </a:cxn>
                  <a:cxn ang="0">
                    <a:pos x="101" y="25"/>
                  </a:cxn>
                  <a:cxn ang="0">
                    <a:pos x="45" y="13"/>
                  </a:cxn>
                  <a:cxn ang="0">
                    <a:pos x="9" y="0"/>
                  </a:cxn>
                  <a:cxn ang="0">
                    <a:pos x="6" y="11"/>
                  </a:cxn>
                  <a:cxn ang="0">
                    <a:pos x="2" y="23"/>
                  </a:cxn>
                  <a:cxn ang="0">
                    <a:pos x="11" y="35"/>
                  </a:cxn>
                  <a:cxn ang="0">
                    <a:pos x="18" y="48"/>
                  </a:cxn>
                  <a:cxn ang="0">
                    <a:pos x="27" y="61"/>
                  </a:cxn>
                  <a:cxn ang="0">
                    <a:pos x="36" y="72"/>
                  </a:cxn>
                  <a:cxn ang="0">
                    <a:pos x="47" y="83"/>
                  </a:cxn>
                  <a:cxn ang="0">
                    <a:pos x="44" y="98"/>
                  </a:cxn>
                  <a:cxn ang="0">
                    <a:pos x="48" y="104"/>
                  </a:cxn>
                  <a:cxn ang="0">
                    <a:pos x="73" y="106"/>
                  </a:cxn>
                  <a:cxn ang="0">
                    <a:pos x="85" y="119"/>
                  </a:cxn>
                  <a:cxn ang="0">
                    <a:pos x="93" y="128"/>
                  </a:cxn>
                  <a:cxn ang="0">
                    <a:pos x="120" y="126"/>
                  </a:cxn>
                  <a:cxn ang="0">
                    <a:pos x="139" y="111"/>
                  </a:cxn>
                  <a:cxn ang="0">
                    <a:pos x="155" y="99"/>
                  </a:cxn>
                  <a:cxn ang="0">
                    <a:pos x="155" y="108"/>
                  </a:cxn>
                  <a:cxn ang="0">
                    <a:pos x="156" y="141"/>
                  </a:cxn>
                  <a:cxn ang="0">
                    <a:pos x="165" y="169"/>
                  </a:cxn>
                  <a:cxn ang="0">
                    <a:pos x="197" y="164"/>
                  </a:cxn>
                  <a:cxn ang="0">
                    <a:pos x="209" y="164"/>
                  </a:cxn>
                  <a:cxn ang="0">
                    <a:pos x="230" y="166"/>
                  </a:cxn>
                  <a:cxn ang="0">
                    <a:pos x="247" y="169"/>
                  </a:cxn>
                  <a:cxn ang="0">
                    <a:pos x="261" y="158"/>
                  </a:cxn>
                  <a:cxn ang="0">
                    <a:pos x="275" y="148"/>
                  </a:cxn>
                  <a:cxn ang="0">
                    <a:pos x="286" y="145"/>
                  </a:cxn>
                  <a:cxn ang="0">
                    <a:pos x="299" y="133"/>
                  </a:cxn>
                  <a:cxn ang="0">
                    <a:pos x="316" y="122"/>
                  </a:cxn>
                  <a:cxn ang="0">
                    <a:pos x="327" y="112"/>
                  </a:cxn>
                  <a:cxn ang="0">
                    <a:pos x="296" y="95"/>
                  </a:cxn>
                </a:cxnLst>
                <a:rect l="0" t="0" r="r" b="b"/>
                <a:pathLst>
                  <a:path w="327" h="171">
                    <a:moveTo>
                      <a:pt x="296" y="95"/>
                    </a:moveTo>
                    <a:cubicBezTo>
                      <a:pt x="290" y="93"/>
                      <a:pt x="280" y="89"/>
                      <a:pt x="273" y="87"/>
                    </a:cubicBezTo>
                    <a:cubicBezTo>
                      <a:pt x="266" y="84"/>
                      <a:pt x="254" y="79"/>
                      <a:pt x="246" y="76"/>
                    </a:cubicBezTo>
                    <a:cubicBezTo>
                      <a:pt x="238" y="73"/>
                      <a:pt x="226" y="68"/>
                      <a:pt x="218" y="64"/>
                    </a:cubicBezTo>
                    <a:cubicBezTo>
                      <a:pt x="210" y="60"/>
                      <a:pt x="197" y="54"/>
                      <a:pt x="190" y="50"/>
                    </a:cubicBezTo>
                    <a:cubicBezTo>
                      <a:pt x="182" y="47"/>
                      <a:pt x="170" y="42"/>
                      <a:pt x="164" y="40"/>
                    </a:cubicBezTo>
                    <a:cubicBezTo>
                      <a:pt x="158" y="37"/>
                      <a:pt x="144" y="33"/>
                      <a:pt x="134" y="31"/>
                    </a:cubicBezTo>
                    <a:cubicBezTo>
                      <a:pt x="125" y="30"/>
                      <a:pt x="109" y="26"/>
                      <a:pt x="101" y="25"/>
                    </a:cubicBezTo>
                    <a:cubicBezTo>
                      <a:pt x="92" y="23"/>
                      <a:pt x="80" y="20"/>
                      <a:pt x="73" y="20"/>
                    </a:cubicBezTo>
                    <a:cubicBezTo>
                      <a:pt x="66" y="19"/>
                      <a:pt x="53" y="16"/>
                      <a:pt x="45" y="13"/>
                    </a:cubicBezTo>
                    <a:cubicBezTo>
                      <a:pt x="36" y="10"/>
                      <a:pt x="24" y="6"/>
                      <a:pt x="19" y="3"/>
                    </a:cubicBezTo>
                    <a:cubicBezTo>
                      <a:pt x="13" y="1"/>
                      <a:pt x="9" y="0"/>
                      <a:pt x="9" y="0"/>
                    </a:cubicBezTo>
                    <a:cubicBezTo>
                      <a:pt x="9" y="0"/>
                      <a:pt x="9" y="2"/>
                      <a:pt x="10" y="5"/>
                    </a:cubicBezTo>
                    <a:cubicBezTo>
                      <a:pt x="11" y="8"/>
                      <a:pt x="9" y="11"/>
                      <a:pt x="6" y="11"/>
                    </a:cubicBezTo>
                    <a:cubicBezTo>
                      <a:pt x="4" y="12"/>
                      <a:pt x="1" y="14"/>
                      <a:pt x="1" y="16"/>
                    </a:cubicBezTo>
                    <a:cubicBezTo>
                      <a:pt x="0" y="18"/>
                      <a:pt x="1" y="21"/>
                      <a:pt x="2" y="23"/>
                    </a:cubicBezTo>
                    <a:cubicBezTo>
                      <a:pt x="3" y="25"/>
                      <a:pt x="6" y="27"/>
                      <a:pt x="8" y="29"/>
                    </a:cubicBezTo>
                    <a:cubicBezTo>
                      <a:pt x="10" y="30"/>
                      <a:pt x="12" y="33"/>
                      <a:pt x="11" y="35"/>
                    </a:cubicBezTo>
                    <a:cubicBezTo>
                      <a:pt x="10" y="37"/>
                      <a:pt x="11" y="39"/>
                      <a:pt x="13" y="40"/>
                    </a:cubicBezTo>
                    <a:cubicBezTo>
                      <a:pt x="14" y="41"/>
                      <a:pt x="16" y="44"/>
                      <a:pt x="18" y="48"/>
                    </a:cubicBezTo>
                    <a:cubicBezTo>
                      <a:pt x="19" y="51"/>
                      <a:pt x="21" y="55"/>
                      <a:pt x="22" y="56"/>
                    </a:cubicBezTo>
                    <a:cubicBezTo>
                      <a:pt x="24" y="58"/>
                      <a:pt x="26" y="60"/>
                      <a:pt x="27" y="61"/>
                    </a:cubicBezTo>
                    <a:cubicBezTo>
                      <a:pt x="29" y="62"/>
                      <a:pt x="30" y="64"/>
                      <a:pt x="31" y="66"/>
                    </a:cubicBezTo>
                    <a:cubicBezTo>
                      <a:pt x="32" y="68"/>
                      <a:pt x="34" y="71"/>
                      <a:pt x="36" y="72"/>
                    </a:cubicBezTo>
                    <a:cubicBezTo>
                      <a:pt x="38" y="73"/>
                      <a:pt x="41" y="75"/>
                      <a:pt x="43" y="77"/>
                    </a:cubicBezTo>
                    <a:cubicBezTo>
                      <a:pt x="44" y="79"/>
                      <a:pt x="46" y="82"/>
                      <a:pt x="47" y="83"/>
                    </a:cubicBezTo>
                    <a:cubicBezTo>
                      <a:pt x="47" y="85"/>
                      <a:pt x="48" y="88"/>
                      <a:pt x="48" y="91"/>
                    </a:cubicBezTo>
                    <a:cubicBezTo>
                      <a:pt x="47" y="93"/>
                      <a:pt x="46" y="97"/>
                      <a:pt x="44" y="98"/>
                    </a:cubicBezTo>
                    <a:cubicBezTo>
                      <a:pt x="43" y="99"/>
                      <a:pt x="41" y="101"/>
                      <a:pt x="41" y="102"/>
                    </a:cubicBezTo>
                    <a:cubicBezTo>
                      <a:pt x="41" y="104"/>
                      <a:pt x="44" y="105"/>
                      <a:pt x="48" y="104"/>
                    </a:cubicBezTo>
                    <a:cubicBezTo>
                      <a:pt x="53" y="104"/>
                      <a:pt x="59" y="104"/>
                      <a:pt x="62" y="105"/>
                    </a:cubicBezTo>
                    <a:cubicBezTo>
                      <a:pt x="65" y="105"/>
                      <a:pt x="70" y="106"/>
                      <a:pt x="73" y="106"/>
                    </a:cubicBezTo>
                    <a:cubicBezTo>
                      <a:pt x="76" y="106"/>
                      <a:pt x="80" y="109"/>
                      <a:pt x="81" y="112"/>
                    </a:cubicBezTo>
                    <a:cubicBezTo>
                      <a:pt x="82" y="115"/>
                      <a:pt x="84" y="118"/>
                      <a:pt x="85" y="119"/>
                    </a:cubicBezTo>
                    <a:cubicBezTo>
                      <a:pt x="85" y="121"/>
                      <a:pt x="86" y="123"/>
                      <a:pt x="86" y="125"/>
                    </a:cubicBezTo>
                    <a:cubicBezTo>
                      <a:pt x="86" y="126"/>
                      <a:pt x="89" y="128"/>
                      <a:pt x="93" y="128"/>
                    </a:cubicBezTo>
                    <a:cubicBezTo>
                      <a:pt x="97" y="128"/>
                      <a:pt x="104" y="127"/>
                      <a:pt x="108" y="127"/>
                    </a:cubicBezTo>
                    <a:cubicBezTo>
                      <a:pt x="112" y="127"/>
                      <a:pt x="117" y="127"/>
                      <a:pt x="120" y="126"/>
                    </a:cubicBezTo>
                    <a:cubicBezTo>
                      <a:pt x="122" y="125"/>
                      <a:pt x="126" y="123"/>
                      <a:pt x="129" y="121"/>
                    </a:cubicBezTo>
                    <a:cubicBezTo>
                      <a:pt x="132" y="118"/>
                      <a:pt x="136" y="114"/>
                      <a:pt x="139" y="111"/>
                    </a:cubicBezTo>
                    <a:cubicBezTo>
                      <a:pt x="142" y="109"/>
                      <a:pt x="146" y="105"/>
                      <a:pt x="148" y="103"/>
                    </a:cubicBezTo>
                    <a:cubicBezTo>
                      <a:pt x="150" y="102"/>
                      <a:pt x="153" y="100"/>
                      <a:pt x="155" y="99"/>
                    </a:cubicBezTo>
                    <a:cubicBezTo>
                      <a:pt x="157" y="98"/>
                      <a:pt x="157" y="99"/>
                      <a:pt x="156" y="101"/>
                    </a:cubicBezTo>
                    <a:cubicBezTo>
                      <a:pt x="155" y="104"/>
                      <a:pt x="155" y="107"/>
                      <a:pt x="155" y="108"/>
                    </a:cubicBezTo>
                    <a:cubicBezTo>
                      <a:pt x="156" y="109"/>
                      <a:pt x="156" y="111"/>
                      <a:pt x="156" y="113"/>
                    </a:cubicBezTo>
                    <a:cubicBezTo>
                      <a:pt x="156" y="115"/>
                      <a:pt x="156" y="128"/>
                      <a:pt x="156" y="141"/>
                    </a:cubicBezTo>
                    <a:cubicBezTo>
                      <a:pt x="156" y="155"/>
                      <a:pt x="158" y="166"/>
                      <a:pt x="159" y="166"/>
                    </a:cubicBezTo>
                    <a:cubicBezTo>
                      <a:pt x="160" y="166"/>
                      <a:pt x="163" y="167"/>
                      <a:pt x="165" y="169"/>
                    </a:cubicBezTo>
                    <a:cubicBezTo>
                      <a:pt x="167" y="171"/>
                      <a:pt x="174" y="170"/>
                      <a:pt x="180" y="168"/>
                    </a:cubicBezTo>
                    <a:cubicBezTo>
                      <a:pt x="185" y="165"/>
                      <a:pt x="193" y="163"/>
                      <a:pt x="197" y="164"/>
                    </a:cubicBezTo>
                    <a:cubicBezTo>
                      <a:pt x="201" y="164"/>
                      <a:pt x="204" y="164"/>
                      <a:pt x="204" y="164"/>
                    </a:cubicBezTo>
                    <a:cubicBezTo>
                      <a:pt x="204" y="164"/>
                      <a:pt x="206" y="164"/>
                      <a:pt x="209" y="164"/>
                    </a:cubicBezTo>
                    <a:cubicBezTo>
                      <a:pt x="211" y="164"/>
                      <a:pt x="216" y="164"/>
                      <a:pt x="219" y="164"/>
                    </a:cubicBezTo>
                    <a:cubicBezTo>
                      <a:pt x="222" y="164"/>
                      <a:pt x="227" y="165"/>
                      <a:pt x="230" y="166"/>
                    </a:cubicBezTo>
                    <a:cubicBezTo>
                      <a:pt x="233" y="166"/>
                      <a:pt x="237" y="168"/>
                      <a:pt x="240" y="169"/>
                    </a:cubicBezTo>
                    <a:cubicBezTo>
                      <a:pt x="242" y="171"/>
                      <a:pt x="245" y="170"/>
                      <a:pt x="247" y="169"/>
                    </a:cubicBezTo>
                    <a:cubicBezTo>
                      <a:pt x="249" y="167"/>
                      <a:pt x="252" y="165"/>
                      <a:pt x="255" y="164"/>
                    </a:cubicBezTo>
                    <a:cubicBezTo>
                      <a:pt x="257" y="163"/>
                      <a:pt x="260" y="160"/>
                      <a:pt x="261" y="158"/>
                    </a:cubicBezTo>
                    <a:cubicBezTo>
                      <a:pt x="262" y="156"/>
                      <a:pt x="265" y="153"/>
                      <a:pt x="267" y="152"/>
                    </a:cubicBezTo>
                    <a:cubicBezTo>
                      <a:pt x="269" y="150"/>
                      <a:pt x="273" y="149"/>
                      <a:pt x="275" y="148"/>
                    </a:cubicBezTo>
                    <a:cubicBezTo>
                      <a:pt x="278" y="148"/>
                      <a:pt x="281" y="148"/>
                      <a:pt x="282" y="148"/>
                    </a:cubicBezTo>
                    <a:cubicBezTo>
                      <a:pt x="284" y="148"/>
                      <a:pt x="285" y="146"/>
                      <a:pt x="286" y="145"/>
                    </a:cubicBezTo>
                    <a:cubicBezTo>
                      <a:pt x="287" y="143"/>
                      <a:pt x="289" y="141"/>
                      <a:pt x="291" y="140"/>
                    </a:cubicBezTo>
                    <a:cubicBezTo>
                      <a:pt x="293" y="139"/>
                      <a:pt x="296" y="135"/>
                      <a:pt x="299" y="133"/>
                    </a:cubicBezTo>
                    <a:cubicBezTo>
                      <a:pt x="301" y="130"/>
                      <a:pt x="304" y="128"/>
                      <a:pt x="306" y="129"/>
                    </a:cubicBezTo>
                    <a:cubicBezTo>
                      <a:pt x="307" y="129"/>
                      <a:pt x="312" y="126"/>
                      <a:pt x="316" y="122"/>
                    </a:cubicBezTo>
                    <a:cubicBezTo>
                      <a:pt x="319" y="118"/>
                      <a:pt x="324" y="114"/>
                      <a:pt x="325" y="113"/>
                    </a:cubicBezTo>
                    <a:cubicBezTo>
                      <a:pt x="326" y="112"/>
                      <a:pt x="327" y="112"/>
                      <a:pt x="327" y="112"/>
                    </a:cubicBezTo>
                    <a:cubicBezTo>
                      <a:pt x="327" y="112"/>
                      <a:pt x="323" y="108"/>
                      <a:pt x="317" y="105"/>
                    </a:cubicBezTo>
                    <a:cubicBezTo>
                      <a:pt x="311" y="101"/>
                      <a:pt x="302" y="96"/>
                      <a:pt x="296" y="95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407924" tIns="203962" rIns="407924" bIns="20396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246"/>
              </a:p>
            </p:txBody>
          </p:sp>
          <p:sp>
            <p:nvSpPr>
              <p:cNvPr id="1209" name="Freeform 11">
                <a:extLst>
                  <a:ext uri="{FF2B5EF4-FFF2-40B4-BE49-F238E27FC236}">
                    <a16:creationId xmlns:a16="http://schemas.microsoft.com/office/drawing/2014/main" id="{6DC20D3E-5956-5E87-70D4-03487AD817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7721" y="3362052"/>
                <a:ext cx="703986" cy="581054"/>
              </a:xfrm>
              <a:custGeom>
                <a:avLst/>
                <a:gdLst/>
                <a:ahLst/>
                <a:cxnLst>
                  <a:cxn ang="0">
                    <a:pos x="291" y="232"/>
                  </a:cxn>
                  <a:cxn ang="0">
                    <a:pos x="308" y="203"/>
                  </a:cxn>
                  <a:cxn ang="0">
                    <a:pos x="304" y="176"/>
                  </a:cxn>
                  <a:cxn ang="0">
                    <a:pos x="306" y="148"/>
                  </a:cxn>
                  <a:cxn ang="0">
                    <a:pos x="293" y="137"/>
                  </a:cxn>
                  <a:cxn ang="0">
                    <a:pos x="239" y="134"/>
                  </a:cxn>
                  <a:cxn ang="0">
                    <a:pos x="236" y="118"/>
                  </a:cxn>
                  <a:cxn ang="0">
                    <a:pos x="232" y="99"/>
                  </a:cxn>
                  <a:cxn ang="0">
                    <a:pos x="233" y="76"/>
                  </a:cxn>
                  <a:cxn ang="0">
                    <a:pos x="229" y="59"/>
                  </a:cxn>
                  <a:cxn ang="0">
                    <a:pos x="232" y="44"/>
                  </a:cxn>
                  <a:cxn ang="0">
                    <a:pos x="227" y="31"/>
                  </a:cxn>
                  <a:cxn ang="0">
                    <a:pos x="210" y="36"/>
                  </a:cxn>
                  <a:cxn ang="0">
                    <a:pos x="193" y="19"/>
                  </a:cxn>
                  <a:cxn ang="0">
                    <a:pos x="172" y="2"/>
                  </a:cxn>
                  <a:cxn ang="0">
                    <a:pos x="138" y="5"/>
                  </a:cxn>
                  <a:cxn ang="0">
                    <a:pos x="122" y="25"/>
                  </a:cxn>
                  <a:cxn ang="0">
                    <a:pos x="118" y="36"/>
                  </a:cxn>
                  <a:cxn ang="0">
                    <a:pos x="102" y="46"/>
                  </a:cxn>
                  <a:cxn ang="0">
                    <a:pos x="84" y="52"/>
                  </a:cxn>
                  <a:cxn ang="0">
                    <a:pos x="72" y="66"/>
                  </a:cxn>
                  <a:cxn ang="0">
                    <a:pos x="58" y="69"/>
                  </a:cxn>
                  <a:cxn ang="0">
                    <a:pos x="39" y="74"/>
                  </a:cxn>
                  <a:cxn ang="0">
                    <a:pos x="15" y="74"/>
                  </a:cxn>
                  <a:cxn ang="0">
                    <a:pos x="2" y="87"/>
                  </a:cxn>
                  <a:cxn ang="0">
                    <a:pos x="7" y="97"/>
                  </a:cxn>
                  <a:cxn ang="0">
                    <a:pos x="29" y="91"/>
                  </a:cxn>
                  <a:cxn ang="0">
                    <a:pos x="52" y="89"/>
                  </a:cxn>
                  <a:cxn ang="0">
                    <a:pos x="59" y="83"/>
                  </a:cxn>
                  <a:cxn ang="0">
                    <a:pos x="65" y="96"/>
                  </a:cxn>
                  <a:cxn ang="0">
                    <a:pos x="60" y="119"/>
                  </a:cxn>
                  <a:cxn ang="0">
                    <a:pos x="65" y="138"/>
                  </a:cxn>
                  <a:cxn ang="0">
                    <a:pos x="66" y="163"/>
                  </a:cxn>
                  <a:cxn ang="0">
                    <a:pos x="74" y="177"/>
                  </a:cxn>
                  <a:cxn ang="0">
                    <a:pos x="85" y="187"/>
                  </a:cxn>
                  <a:cxn ang="0">
                    <a:pos x="100" y="196"/>
                  </a:cxn>
                  <a:cxn ang="0">
                    <a:pos x="114" y="208"/>
                  </a:cxn>
                  <a:cxn ang="0">
                    <a:pos x="141" y="208"/>
                  </a:cxn>
                  <a:cxn ang="0">
                    <a:pos x="166" y="215"/>
                  </a:cxn>
                  <a:cxn ang="0">
                    <a:pos x="178" y="226"/>
                  </a:cxn>
                  <a:cxn ang="0">
                    <a:pos x="196" y="233"/>
                  </a:cxn>
                  <a:cxn ang="0">
                    <a:pos x="217" y="244"/>
                  </a:cxn>
                  <a:cxn ang="0">
                    <a:pos x="236" y="251"/>
                  </a:cxn>
                  <a:cxn ang="0">
                    <a:pos x="254" y="249"/>
                  </a:cxn>
                  <a:cxn ang="0">
                    <a:pos x="275" y="252"/>
                  </a:cxn>
                </a:cxnLst>
                <a:rect l="0" t="0" r="r" b="b"/>
                <a:pathLst>
                  <a:path w="310" h="256">
                    <a:moveTo>
                      <a:pt x="283" y="246"/>
                    </a:moveTo>
                    <a:cubicBezTo>
                      <a:pt x="286" y="245"/>
                      <a:pt x="288" y="243"/>
                      <a:pt x="288" y="241"/>
                    </a:cubicBezTo>
                    <a:cubicBezTo>
                      <a:pt x="289" y="239"/>
                      <a:pt x="290" y="235"/>
                      <a:pt x="291" y="232"/>
                    </a:cubicBezTo>
                    <a:cubicBezTo>
                      <a:pt x="292" y="229"/>
                      <a:pt x="295" y="226"/>
                      <a:pt x="298" y="224"/>
                    </a:cubicBezTo>
                    <a:cubicBezTo>
                      <a:pt x="300" y="222"/>
                      <a:pt x="302" y="218"/>
                      <a:pt x="303" y="215"/>
                    </a:cubicBezTo>
                    <a:cubicBezTo>
                      <a:pt x="304" y="213"/>
                      <a:pt x="306" y="207"/>
                      <a:pt x="308" y="203"/>
                    </a:cubicBezTo>
                    <a:cubicBezTo>
                      <a:pt x="309" y="199"/>
                      <a:pt x="310" y="195"/>
                      <a:pt x="309" y="193"/>
                    </a:cubicBezTo>
                    <a:cubicBezTo>
                      <a:pt x="308" y="190"/>
                      <a:pt x="308" y="187"/>
                      <a:pt x="308" y="184"/>
                    </a:cubicBezTo>
                    <a:cubicBezTo>
                      <a:pt x="307" y="182"/>
                      <a:pt x="306" y="178"/>
                      <a:pt x="304" y="176"/>
                    </a:cubicBezTo>
                    <a:cubicBezTo>
                      <a:pt x="302" y="175"/>
                      <a:pt x="300" y="170"/>
                      <a:pt x="299" y="167"/>
                    </a:cubicBezTo>
                    <a:cubicBezTo>
                      <a:pt x="298" y="163"/>
                      <a:pt x="300" y="159"/>
                      <a:pt x="302" y="156"/>
                    </a:cubicBezTo>
                    <a:cubicBezTo>
                      <a:pt x="304" y="154"/>
                      <a:pt x="306" y="150"/>
                      <a:pt x="306" y="148"/>
                    </a:cubicBezTo>
                    <a:cubicBezTo>
                      <a:pt x="306" y="148"/>
                      <a:pt x="306" y="148"/>
                      <a:pt x="305" y="145"/>
                    </a:cubicBezTo>
                    <a:cubicBezTo>
                      <a:pt x="304" y="142"/>
                      <a:pt x="304" y="142"/>
                      <a:pt x="304" y="142"/>
                    </a:cubicBezTo>
                    <a:cubicBezTo>
                      <a:pt x="302" y="139"/>
                      <a:pt x="296" y="137"/>
                      <a:pt x="293" y="137"/>
                    </a:cubicBezTo>
                    <a:cubicBezTo>
                      <a:pt x="289" y="138"/>
                      <a:pt x="285" y="138"/>
                      <a:pt x="283" y="137"/>
                    </a:cubicBezTo>
                    <a:cubicBezTo>
                      <a:pt x="282" y="136"/>
                      <a:pt x="272" y="135"/>
                      <a:pt x="262" y="135"/>
                    </a:cubicBezTo>
                    <a:cubicBezTo>
                      <a:pt x="251" y="135"/>
                      <a:pt x="241" y="135"/>
                      <a:pt x="239" y="134"/>
                    </a:cubicBezTo>
                    <a:cubicBezTo>
                      <a:pt x="238" y="134"/>
                      <a:pt x="235" y="132"/>
                      <a:pt x="235" y="131"/>
                    </a:cubicBezTo>
                    <a:cubicBezTo>
                      <a:pt x="234" y="129"/>
                      <a:pt x="234" y="126"/>
                      <a:pt x="235" y="125"/>
                    </a:cubicBezTo>
                    <a:cubicBezTo>
                      <a:pt x="235" y="123"/>
                      <a:pt x="236" y="120"/>
                      <a:pt x="236" y="118"/>
                    </a:cubicBezTo>
                    <a:cubicBezTo>
                      <a:pt x="236" y="116"/>
                      <a:pt x="236" y="113"/>
                      <a:pt x="236" y="111"/>
                    </a:cubicBezTo>
                    <a:cubicBezTo>
                      <a:pt x="237" y="110"/>
                      <a:pt x="236" y="107"/>
                      <a:pt x="234" y="105"/>
                    </a:cubicBezTo>
                    <a:cubicBezTo>
                      <a:pt x="233" y="104"/>
                      <a:pt x="232" y="101"/>
                      <a:pt x="232" y="99"/>
                    </a:cubicBezTo>
                    <a:cubicBezTo>
                      <a:pt x="232" y="97"/>
                      <a:pt x="232" y="93"/>
                      <a:pt x="233" y="91"/>
                    </a:cubicBezTo>
                    <a:cubicBezTo>
                      <a:pt x="233" y="89"/>
                      <a:pt x="233" y="85"/>
                      <a:pt x="233" y="82"/>
                    </a:cubicBezTo>
                    <a:cubicBezTo>
                      <a:pt x="232" y="80"/>
                      <a:pt x="232" y="77"/>
                      <a:pt x="233" y="76"/>
                    </a:cubicBezTo>
                    <a:cubicBezTo>
                      <a:pt x="233" y="75"/>
                      <a:pt x="233" y="72"/>
                      <a:pt x="233" y="70"/>
                    </a:cubicBezTo>
                    <a:cubicBezTo>
                      <a:pt x="232" y="69"/>
                      <a:pt x="232" y="66"/>
                      <a:pt x="232" y="64"/>
                    </a:cubicBezTo>
                    <a:cubicBezTo>
                      <a:pt x="232" y="62"/>
                      <a:pt x="231" y="60"/>
                      <a:pt x="229" y="59"/>
                    </a:cubicBezTo>
                    <a:cubicBezTo>
                      <a:pt x="228" y="58"/>
                      <a:pt x="229" y="56"/>
                      <a:pt x="231" y="56"/>
                    </a:cubicBezTo>
                    <a:cubicBezTo>
                      <a:pt x="232" y="55"/>
                      <a:pt x="233" y="52"/>
                      <a:pt x="232" y="51"/>
                    </a:cubicBezTo>
                    <a:cubicBezTo>
                      <a:pt x="231" y="49"/>
                      <a:pt x="231" y="46"/>
                      <a:pt x="232" y="44"/>
                    </a:cubicBezTo>
                    <a:cubicBezTo>
                      <a:pt x="232" y="42"/>
                      <a:pt x="232" y="39"/>
                      <a:pt x="232" y="37"/>
                    </a:cubicBezTo>
                    <a:cubicBezTo>
                      <a:pt x="231" y="35"/>
                      <a:pt x="231" y="33"/>
                      <a:pt x="231" y="33"/>
                    </a:cubicBezTo>
                    <a:cubicBezTo>
                      <a:pt x="231" y="33"/>
                      <a:pt x="229" y="33"/>
                      <a:pt x="227" y="31"/>
                    </a:cubicBezTo>
                    <a:cubicBezTo>
                      <a:pt x="225" y="30"/>
                      <a:pt x="222" y="30"/>
                      <a:pt x="220" y="31"/>
                    </a:cubicBezTo>
                    <a:cubicBezTo>
                      <a:pt x="219" y="33"/>
                      <a:pt x="217" y="34"/>
                      <a:pt x="216" y="36"/>
                    </a:cubicBezTo>
                    <a:cubicBezTo>
                      <a:pt x="215" y="37"/>
                      <a:pt x="212" y="37"/>
                      <a:pt x="210" y="36"/>
                    </a:cubicBezTo>
                    <a:cubicBezTo>
                      <a:pt x="207" y="35"/>
                      <a:pt x="205" y="32"/>
                      <a:pt x="204" y="30"/>
                    </a:cubicBezTo>
                    <a:cubicBezTo>
                      <a:pt x="203" y="28"/>
                      <a:pt x="201" y="25"/>
                      <a:pt x="198" y="24"/>
                    </a:cubicBezTo>
                    <a:cubicBezTo>
                      <a:pt x="196" y="23"/>
                      <a:pt x="194" y="21"/>
                      <a:pt x="193" y="19"/>
                    </a:cubicBezTo>
                    <a:cubicBezTo>
                      <a:pt x="192" y="17"/>
                      <a:pt x="189" y="15"/>
                      <a:pt x="187" y="14"/>
                    </a:cubicBezTo>
                    <a:cubicBezTo>
                      <a:pt x="186" y="14"/>
                      <a:pt x="183" y="11"/>
                      <a:pt x="181" y="9"/>
                    </a:cubicBezTo>
                    <a:cubicBezTo>
                      <a:pt x="179" y="6"/>
                      <a:pt x="175" y="3"/>
                      <a:pt x="172" y="2"/>
                    </a:cubicBezTo>
                    <a:cubicBezTo>
                      <a:pt x="169" y="1"/>
                      <a:pt x="163" y="0"/>
                      <a:pt x="159" y="0"/>
                    </a:cubicBezTo>
                    <a:cubicBezTo>
                      <a:pt x="155" y="0"/>
                      <a:pt x="149" y="1"/>
                      <a:pt x="145" y="1"/>
                    </a:cubicBezTo>
                    <a:cubicBezTo>
                      <a:pt x="142" y="2"/>
                      <a:pt x="138" y="4"/>
                      <a:pt x="138" y="5"/>
                    </a:cubicBezTo>
                    <a:cubicBezTo>
                      <a:pt x="138" y="7"/>
                      <a:pt x="135" y="10"/>
                      <a:pt x="132" y="12"/>
                    </a:cubicBezTo>
                    <a:cubicBezTo>
                      <a:pt x="130" y="14"/>
                      <a:pt x="126" y="17"/>
                      <a:pt x="124" y="18"/>
                    </a:cubicBezTo>
                    <a:cubicBezTo>
                      <a:pt x="123" y="20"/>
                      <a:pt x="122" y="23"/>
                      <a:pt x="122" y="25"/>
                    </a:cubicBezTo>
                    <a:cubicBezTo>
                      <a:pt x="123" y="26"/>
                      <a:pt x="124" y="29"/>
                      <a:pt x="124" y="31"/>
                    </a:cubicBezTo>
                    <a:cubicBezTo>
                      <a:pt x="124" y="32"/>
                      <a:pt x="122" y="33"/>
                      <a:pt x="120" y="33"/>
                    </a:cubicBezTo>
                    <a:cubicBezTo>
                      <a:pt x="119" y="33"/>
                      <a:pt x="118" y="35"/>
                      <a:pt x="118" y="36"/>
                    </a:cubicBezTo>
                    <a:cubicBezTo>
                      <a:pt x="118" y="38"/>
                      <a:pt x="117" y="40"/>
                      <a:pt x="117" y="41"/>
                    </a:cubicBezTo>
                    <a:cubicBezTo>
                      <a:pt x="116" y="42"/>
                      <a:pt x="113" y="44"/>
                      <a:pt x="110" y="44"/>
                    </a:cubicBezTo>
                    <a:cubicBezTo>
                      <a:pt x="107" y="45"/>
                      <a:pt x="104" y="46"/>
                      <a:pt x="102" y="46"/>
                    </a:cubicBezTo>
                    <a:cubicBezTo>
                      <a:pt x="100" y="47"/>
                      <a:pt x="97" y="48"/>
                      <a:pt x="96" y="49"/>
                    </a:cubicBezTo>
                    <a:cubicBezTo>
                      <a:pt x="94" y="49"/>
                      <a:pt x="91" y="49"/>
                      <a:pt x="89" y="49"/>
                    </a:cubicBezTo>
                    <a:cubicBezTo>
                      <a:pt x="87" y="49"/>
                      <a:pt x="85" y="51"/>
                      <a:pt x="84" y="52"/>
                    </a:cubicBezTo>
                    <a:cubicBezTo>
                      <a:pt x="83" y="54"/>
                      <a:pt x="82" y="56"/>
                      <a:pt x="82" y="57"/>
                    </a:cubicBezTo>
                    <a:cubicBezTo>
                      <a:pt x="82" y="59"/>
                      <a:pt x="80" y="62"/>
                      <a:pt x="78" y="64"/>
                    </a:cubicBezTo>
                    <a:cubicBezTo>
                      <a:pt x="76" y="67"/>
                      <a:pt x="73" y="68"/>
                      <a:pt x="72" y="66"/>
                    </a:cubicBezTo>
                    <a:cubicBezTo>
                      <a:pt x="71" y="65"/>
                      <a:pt x="70" y="63"/>
                      <a:pt x="68" y="63"/>
                    </a:cubicBezTo>
                    <a:cubicBezTo>
                      <a:pt x="67" y="62"/>
                      <a:pt x="65" y="63"/>
                      <a:pt x="63" y="64"/>
                    </a:cubicBezTo>
                    <a:cubicBezTo>
                      <a:pt x="62" y="65"/>
                      <a:pt x="60" y="67"/>
                      <a:pt x="58" y="69"/>
                    </a:cubicBezTo>
                    <a:cubicBezTo>
                      <a:pt x="57" y="70"/>
                      <a:pt x="55" y="71"/>
                      <a:pt x="53" y="71"/>
                    </a:cubicBezTo>
                    <a:cubicBezTo>
                      <a:pt x="51" y="71"/>
                      <a:pt x="48" y="72"/>
                      <a:pt x="46" y="74"/>
                    </a:cubicBezTo>
                    <a:cubicBezTo>
                      <a:pt x="45" y="75"/>
                      <a:pt x="41" y="75"/>
                      <a:pt x="39" y="74"/>
                    </a:cubicBezTo>
                    <a:cubicBezTo>
                      <a:pt x="37" y="72"/>
                      <a:pt x="33" y="71"/>
                      <a:pt x="30" y="71"/>
                    </a:cubicBezTo>
                    <a:cubicBezTo>
                      <a:pt x="27" y="71"/>
                      <a:pt x="23" y="71"/>
                      <a:pt x="21" y="71"/>
                    </a:cubicBezTo>
                    <a:cubicBezTo>
                      <a:pt x="18" y="71"/>
                      <a:pt x="16" y="72"/>
                      <a:pt x="15" y="74"/>
                    </a:cubicBezTo>
                    <a:cubicBezTo>
                      <a:pt x="15" y="75"/>
                      <a:pt x="14" y="77"/>
                      <a:pt x="13" y="79"/>
                    </a:cubicBezTo>
                    <a:cubicBezTo>
                      <a:pt x="12" y="80"/>
                      <a:pt x="10" y="82"/>
                      <a:pt x="8" y="83"/>
                    </a:cubicBezTo>
                    <a:cubicBezTo>
                      <a:pt x="6" y="84"/>
                      <a:pt x="4" y="86"/>
                      <a:pt x="2" y="87"/>
                    </a:cubicBezTo>
                    <a:cubicBezTo>
                      <a:pt x="0" y="89"/>
                      <a:pt x="0" y="92"/>
                      <a:pt x="1" y="94"/>
                    </a:cubicBezTo>
                    <a:cubicBezTo>
                      <a:pt x="2" y="97"/>
                      <a:pt x="2" y="99"/>
                      <a:pt x="2" y="99"/>
                    </a:cubicBezTo>
                    <a:cubicBezTo>
                      <a:pt x="2" y="99"/>
                      <a:pt x="4" y="98"/>
                      <a:pt x="7" y="97"/>
                    </a:cubicBezTo>
                    <a:cubicBezTo>
                      <a:pt x="10" y="96"/>
                      <a:pt x="13" y="95"/>
                      <a:pt x="14" y="95"/>
                    </a:cubicBezTo>
                    <a:cubicBezTo>
                      <a:pt x="15" y="94"/>
                      <a:pt x="18" y="93"/>
                      <a:pt x="21" y="93"/>
                    </a:cubicBezTo>
                    <a:cubicBezTo>
                      <a:pt x="23" y="92"/>
                      <a:pt x="27" y="91"/>
                      <a:pt x="29" y="91"/>
                    </a:cubicBezTo>
                    <a:cubicBezTo>
                      <a:pt x="31" y="91"/>
                      <a:pt x="34" y="91"/>
                      <a:pt x="36" y="90"/>
                    </a:cubicBezTo>
                    <a:cubicBezTo>
                      <a:pt x="37" y="90"/>
                      <a:pt x="41" y="89"/>
                      <a:pt x="44" y="89"/>
                    </a:cubicBezTo>
                    <a:cubicBezTo>
                      <a:pt x="47" y="88"/>
                      <a:pt x="51" y="88"/>
                      <a:pt x="52" y="89"/>
                    </a:cubicBezTo>
                    <a:cubicBezTo>
                      <a:pt x="53" y="90"/>
                      <a:pt x="54" y="89"/>
                      <a:pt x="55" y="87"/>
                    </a:cubicBezTo>
                    <a:cubicBezTo>
                      <a:pt x="56" y="85"/>
                      <a:pt x="57" y="84"/>
                      <a:pt x="58" y="84"/>
                    </a:cubicBezTo>
                    <a:cubicBezTo>
                      <a:pt x="58" y="83"/>
                      <a:pt x="59" y="83"/>
                      <a:pt x="59" y="83"/>
                    </a:cubicBezTo>
                    <a:cubicBezTo>
                      <a:pt x="59" y="83"/>
                      <a:pt x="60" y="84"/>
                      <a:pt x="60" y="85"/>
                    </a:cubicBezTo>
                    <a:cubicBezTo>
                      <a:pt x="61" y="86"/>
                      <a:pt x="62" y="88"/>
                      <a:pt x="63" y="89"/>
                    </a:cubicBezTo>
                    <a:cubicBezTo>
                      <a:pt x="64" y="91"/>
                      <a:pt x="65" y="94"/>
                      <a:pt x="65" y="96"/>
                    </a:cubicBezTo>
                    <a:cubicBezTo>
                      <a:pt x="65" y="98"/>
                      <a:pt x="65" y="101"/>
                      <a:pt x="65" y="103"/>
                    </a:cubicBezTo>
                    <a:cubicBezTo>
                      <a:pt x="65" y="105"/>
                      <a:pt x="64" y="110"/>
                      <a:pt x="63" y="113"/>
                    </a:cubicBezTo>
                    <a:cubicBezTo>
                      <a:pt x="61" y="116"/>
                      <a:pt x="60" y="119"/>
                      <a:pt x="60" y="119"/>
                    </a:cubicBezTo>
                    <a:cubicBezTo>
                      <a:pt x="60" y="119"/>
                      <a:pt x="60" y="121"/>
                      <a:pt x="60" y="123"/>
                    </a:cubicBezTo>
                    <a:cubicBezTo>
                      <a:pt x="61" y="125"/>
                      <a:pt x="62" y="129"/>
                      <a:pt x="63" y="131"/>
                    </a:cubicBezTo>
                    <a:cubicBezTo>
                      <a:pt x="64" y="133"/>
                      <a:pt x="65" y="136"/>
                      <a:pt x="65" y="138"/>
                    </a:cubicBezTo>
                    <a:cubicBezTo>
                      <a:pt x="65" y="140"/>
                      <a:pt x="65" y="144"/>
                      <a:pt x="64" y="146"/>
                    </a:cubicBezTo>
                    <a:cubicBezTo>
                      <a:pt x="64" y="149"/>
                      <a:pt x="63" y="153"/>
                      <a:pt x="64" y="155"/>
                    </a:cubicBezTo>
                    <a:cubicBezTo>
                      <a:pt x="64" y="157"/>
                      <a:pt x="65" y="161"/>
                      <a:pt x="66" y="163"/>
                    </a:cubicBezTo>
                    <a:cubicBezTo>
                      <a:pt x="67" y="164"/>
                      <a:pt x="69" y="167"/>
                      <a:pt x="70" y="169"/>
                    </a:cubicBezTo>
                    <a:cubicBezTo>
                      <a:pt x="72" y="170"/>
                      <a:pt x="72" y="172"/>
                      <a:pt x="72" y="174"/>
                    </a:cubicBezTo>
                    <a:cubicBezTo>
                      <a:pt x="71" y="175"/>
                      <a:pt x="72" y="176"/>
                      <a:pt x="74" y="177"/>
                    </a:cubicBezTo>
                    <a:cubicBezTo>
                      <a:pt x="76" y="177"/>
                      <a:pt x="79" y="179"/>
                      <a:pt x="80" y="181"/>
                    </a:cubicBezTo>
                    <a:cubicBezTo>
                      <a:pt x="81" y="183"/>
                      <a:pt x="82" y="185"/>
                      <a:pt x="82" y="185"/>
                    </a:cubicBezTo>
                    <a:cubicBezTo>
                      <a:pt x="82" y="185"/>
                      <a:pt x="83" y="186"/>
                      <a:pt x="85" y="187"/>
                    </a:cubicBezTo>
                    <a:cubicBezTo>
                      <a:pt x="86" y="187"/>
                      <a:pt x="89" y="189"/>
                      <a:pt x="91" y="190"/>
                    </a:cubicBezTo>
                    <a:cubicBezTo>
                      <a:pt x="92" y="191"/>
                      <a:pt x="94" y="192"/>
                      <a:pt x="95" y="193"/>
                    </a:cubicBezTo>
                    <a:cubicBezTo>
                      <a:pt x="96" y="194"/>
                      <a:pt x="98" y="195"/>
                      <a:pt x="100" y="196"/>
                    </a:cubicBezTo>
                    <a:cubicBezTo>
                      <a:pt x="102" y="196"/>
                      <a:pt x="104" y="198"/>
                      <a:pt x="104" y="200"/>
                    </a:cubicBezTo>
                    <a:cubicBezTo>
                      <a:pt x="105" y="202"/>
                      <a:pt x="106" y="204"/>
                      <a:pt x="107" y="206"/>
                    </a:cubicBezTo>
                    <a:cubicBezTo>
                      <a:pt x="109" y="207"/>
                      <a:pt x="111" y="208"/>
                      <a:pt x="114" y="208"/>
                    </a:cubicBezTo>
                    <a:cubicBezTo>
                      <a:pt x="116" y="208"/>
                      <a:pt x="120" y="208"/>
                      <a:pt x="123" y="209"/>
                    </a:cubicBezTo>
                    <a:cubicBezTo>
                      <a:pt x="126" y="210"/>
                      <a:pt x="130" y="209"/>
                      <a:pt x="132" y="209"/>
                    </a:cubicBezTo>
                    <a:cubicBezTo>
                      <a:pt x="135" y="208"/>
                      <a:pt x="138" y="208"/>
                      <a:pt x="141" y="208"/>
                    </a:cubicBezTo>
                    <a:cubicBezTo>
                      <a:pt x="144" y="209"/>
                      <a:pt x="148" y="211"/>
                      <a:pt x="151" y="212"/>
                    </a:cubicBezTo>
                    <a:cubicBezTo>
                      <a:pt x="154" y="214"/>
                      <a:pt x="159" y="215"/>
                      <a:pt x="161" y="214"/>
                    </a:cubicBezTo>
                    <a:cubicBezTo>
                      <a:pt x="163" y="213"/>
                      <a:pt x="165" y="214"/>
                      <a:pt x="166" y="215"/>
                    </a:cubicBezTo>
                    <a:cubicBezTo>
                      <a:pt x="167" y="216"/>
                      <a:pt x="169" y="218"/>
                      <a:pt x="170" y="219"/>
                    </a:cubicBezTo>
                    <a:cubicBezTo>
                      <a:pt x="170" y="221"/>
                      <a:pt x="172" y="222"/>
                      <a:pt x="174" y="223"/>
                    </a:cubicBezTo>
                    <a:cubicBezTo>
                      <a:pt x="175" y="223"/>
                      <a:pt x="177" y="224"/>
                      <a:pt x="178" y="226"/>
                    </a:cubicBezTo>
                    <a:cubicBezTo>
                      <a:pt x="179" y="227"/>
                      <a:pt x="181" y="228"/>
                      <a:pt x="182" y="228"/>
                    </a:cubicBezTo>
                    <a:cubicBezTo>
                      <a:pt x="184" y="227"/>
                      <a:pt x="186" y="228"/>
                      <a:pt x="188" y="229"/>
                    </a:cubicBezTo>
                    <a:cubicBezTo>
                      <a:pt x="190" y="230"/>
                      <a:pt x="193" y="232"/>
                      <a:pt x="196" y="233"/>
                    </a:cubicBezTo>
                    <a:cubicBezTo>
                      <a:pt x="199" y="233"/>
                      <a:pt x="203" y="234"/>
                      <a:pt x="206" y="233"/>
                    </a:cubicBezTo>
                    <a:cubicBezTo>
                      <a:pt x="208" y="233"/>
                      <a:pt x="211" y="234"/>
                      <a:pt x="212" y="237"/>
                    </a:cubicBezTo>
                    <a:cubicBezTo>
                      <a:pt x="213" y="239"/>
                      <a:pt x="215" y="242"/>
                      <a:pt x="217" y="244"/>
                    </a:cubicBezTo>
                    <a:cubicBezTo>
                      <a:pt x="219" y="246"/>
                      <a:pt x="222" y="248"/>
                      <a:pt x="223" y="250"/>
                    </a:cubicBezTo>
                    <a:cubicBezTo>
                      <a:pt x="224" y="251"/>
                      <a:pt x="227" y="252"/>
                      <a:pt x="229" y="251"/>
                    </a:cubicBezTo>
                    <a:cubicBezTo>
                      <a:pt x="231" y="250"/>
                      <a:pt x="234" y="250"/>
                      <a:pt x="236" y="251"/>
                    </a:cubicBezTo>
                    <a:cubicBezTo>
                      <a:pt x="238" y="252"/>
                      <a:pt x="241" y="252"/>
                      <a:pt x="243" y="251"/>
                    </a:cubicBezTo>
                    <a:cubicBezTo>
                      <a:pt x="245" y="251"/>
                      <a:pt x="248" y="250"/>
                      <a:pt x="249" y="251"/>
                    </a:cubicBezTo>
                    <a:cubicBezTo>
                      <a:pt x="250" y="251"/>
                      <a:pt x="253" y="250"/>
                      <a:pt x="254" y="249"/>
                    </a:cubicBezTo>
                    <a:cubicBezTo>
                      <a:pt x="256" y="248"/>
                      <a:pt x="260" y="249"/>
                      <a:pt x="264" y="252"/>
                    </a:cubicBezTo>
                    <a:cubicBezTo>
                      <a:pt x="268" y="254"/>
                      <a:pt x="272" y="256"/>
                      <a:pt x="272" y="256"/>
                    </a:cubicBezTo>
                    <a:cubicBezTo>
                      <a:pt x="272" y="256"/>
                      <a:pt x="273" y="254"/>
                      <a:pt x="275" y="252"/>
                    </a:cubicBezTo>
                    <a:cubicBezTo>
                      <a:pt x="277" y="250"/>
                      <a:pt x="281" y="248"/>
                      <a:pt x="283" y="24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407924" tIns="203962" rIns="407924" bIns="20396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246"/>
              </a:p>
            </p:txBody>
          </p:sp>
          <p:sp>
            <p:nvSpPr>
              <p:cNvPr id="1210" name="Freeform 12">
                <a:extLst>
                  <a:ext uri="{FF2B5EF4-FFF2-40B4-BE49-F238E27FC236}">
                    <a16:creationId xmlns:a16="http://schemas.microsoft.com/office/drawing/2014/main" id="{59CB658E-83BB-87DF-7454-BAFC9D4D17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0947" y="2115952"/>
                <a:ext cx="608905" cy="680938"/>
              </a:xfrm>
              <a:custGeom>
                <a:avLst/>
                <a:gdLst/>
                <a:ahLst/>
                <a:cxnLst>
                  <a:cxn ang="0">
                    <a:pos x="82" y="146"/>
                  </a:cxn>
                  <a:cxn ang="0">
                    <a:pos x="92" y="158"/>
                  </a:cxn>
                  <a:cxn ang="0">
                    <a:pos x="94" y="170"/>
                  </a:cxn>
                  <a:cxn ang="0">
                    <a:pos x="101" y="188"/>
                  </a:cxn>
                  <a:cxn ang="0">
                    <a:pos x="105" y="200"/>
                  </a:cxn>
                  <a:cxn ang="0">
                    <a:pos x="102" y="214"/>
                  </a:cxn>
                  <a:cxn ang="0">
                    <a:pos x="102" y="231"/>
                  </a:cxn>
                  <a:cxn ang="0">
                    <a:pos x="103" y="242"/>
                  </a:cxn>
                  <a:cxn ang="0">
                    <a:pos x="110" y="255"/>
                  </a:cxn>
                  <a:cxn ang="0">
                    <a:pos x="113" y="268"/>
                  </a:cxn>
                  <a:cxn ang="0">
                    <a:pos x="109" y="274"/>
                  </a:cxn>
                  <a:cxn ang="0">
                    <a:pos x="112" y="279"/>
                  </a:cxn>
                  <a:cxn ang="0">
                    <a:pos x="132" y="294"/>
                  </a:cxn>
                  <a:cxn ang="0">
                    <a:pos x="145" y="290"/>
                  </a:cxn>
                  <a:cxn ang="0">
                    <a:pos x="155" y="264"/>
                  </a:cxn>
                  <a:cxn ang="0">
                    <a:pos x="172" y="261"/>
                  </a:cxn>
                  <a:cxn ang="0">
                    <a:pos x="188" y="272"/>
                  </a:cxn>
                  <a:cxn ang="0">
                    <a:pos x="202" y="261"/>
                  </a:cxn>
                  <a:cxn ang="0">
                    <a:pos x="212" y="233"/>
                  </a:cxn>
                  <a:cxn ang="0">
                    <a:pos x="268" y="224"/>
                  </a:cxn>
                  <a:cxn ang="0">
                    <a:pos x="262" y="175"/>
                  </a:cxn>
                  <a:cxn ang="0">
                    <a:pos x="244" y="165"/>
                  </a:cxn>
                  <a:cxn ang="0">
                    <a:pos x="231" y="151"/>
                  </a:cxn>
                  <a:cxn ang="0">
                    <a:pos x="226" y="132"/>
                  </a:cxn>
                  <a:cxn ang="0">
                    <a:pos x="219" y="120"/>
                  </a:cxn>
                  <a:cxn ang="0">
                    <a:pos x="219" y="103"/>
                  </a:cxn>
                  <a:cxn ang="0">
                    <a:pos x="225" y="82"/>
                  </a:cxn>
                  <a:cxn ang="0">
                    <a:pos x="234" y="65"/>
                  </a:cxn>
                  <a:cxn ang="0">
                    <a:pos x="230" y="44"/>
                  </a:cxn>
                  <a:cxn ang="0">
                    <a:pos x="216" y="33"/>
                  </a:cxn>
                  <a:cxn ang="0">
                    <a:pos x="216" y="17"/>
                  </a:cxn>
                  <a:cxn ang="0">
                    <a:pos x="210" y="2"/>
                  </a:cxn>
                  <a:cxn ang="0">
                    <a:pos x="191" y="2"/>
                  </a:cxn>
                  <a:cxn ang="0">
                    <a:pos x="188" y="8"/>
                  </a:cxn>
                  <a:cxn ang="0">
                    <a:pos x="181" y="23"/>
                  </a:cxn>
                  <a:cxn ang="0">
                    <a:pos x="166" y="34"/>
                  </a:cxn>
                  <a:cxn ang="0">
                    <a:pos x="154" y="38"/>
                  </a:cxn>
                  <a:cxn ang="0">
                    <a:pos x="142" y="47"/>
                  </a:cxn>
                  <a:cxn ang="0">
                    <a:pos x="128" y="52"/>
                  </a:cxn>
                  <a:cxn ang="0">
                    <a:pos x="112" y="54"/>
                  </a:cxn>
                  <a:cxn ang="0">
                    <a:pos x="96" y="57"/>
                  </a:cxn>
                  <a:cxn ang="0">
                    <a:pos x="92" y="69"/>
                  </a:cxn>
                  <a:cxn ang="0">
                    <a:pos x="81" y="77"/>
                  </a:cxn>
                  <a:cxn ang="0">
                    <a:pos x="66" y="64"/>
                  </a:cxn>
                  <a:cxn ang="0">
                    <a:pos x="54" y="65"/>
                  </a:cxn>
                  <a:cxn ang="0">
                    <a:pos x="39" y="65"/>
                  </a:cxn>
                  <a:cxn ang="0">
                    <a:pos x="29" y="58"/>
                  </a:cxn>
                  <a:cxn ang="0">
                    <a:pos x="14" y="56"/>
                  </a:cxn>
                  <a:cxn ang="0">
                    <a:pos x="1" y="50"/>
                  </a:cxn>
                  <a:cxn ang="0">
                    <a:pos x="5" y="60"/>
                  </a:cxn>
                  <a:cxn ang="0">
                    <a:pos x="20" y="75"/>
                  </a:cxn>
                  <a:cxn ang="0">
                    <a:pos x="25" y="94"/>
                  </a:cxn>
                  <a:cxn ang="0">
                    <a:pos x="33" y="114"/>
                  </a:cxn>
                  <a:cxn ang="0">
                    <a:pos x="38" y="129"/>
                  </a:cxn>
                  <a:cxn ang="0">
                    <a:pos x="57" y="131"/>
                  </a:cxn>
                  <a:cxn ang="0">
                    <a:pos x="65" y="139"/>
                  </a:cxn>
                  <a:cxn ang="0">
                    <a:pos x="77" y="144"/>
                  </a:cxn>
                </a:cxnLst>
                <a:rect l="0" t="0" r="r" b="b"/>
                <a:pathLst>
                  <a:path w="268" h="300">
                    <a:moveTo>
                      <a:pt x="77" y="144"/>
                    </a:moveTo>
                    <a:cubicBezTo>
                      <a:pt x="78" y="145"/>
                      <a:pt x="81" y="146"/>
                      <a:pt x="82" y="146"/>
                    </a:cubicBezTo>
                    <a:cubicBezTo>
                      <a:pt x="84" y="146"/>
                      <a:pt x="87" y="147"/>
                      <a:pt x="89" y="149"/>
                    </a:cubicBezTo>
                    <a:cubicBezTo>
                      <a:pt x="91" y="150"/>
                      <a:pt x="93" y="154"/>
                      <a:pt x="92" y="158"/>
                    </a:cubicBezTo>
                    <a:cubicBezTo>
                      <a:pt x="92" y="161"/>
                      <a:pt x="91" y="165"/>
                      <a:pt x="91" y="165"/>
                    </a:cubicBezTo>
                    <a:cubicBezTo>
                      <a:pt x="90" y="166"/>
                      <a:pt x="92" y="168"/>
                      <a:pt x="94" y="170"/>
                    </a:cubicBezTo>
                    <a:cubicBezTo>
                      <a:pt x="95" y="172"/>
                      <a:pt x="98" y="177"/>
                      <a:pt x="99" y="180"/>
                    </a:cubicBezTo>
                    <a:cubicBezTo>
                      <a:pt x="99" y="183"/>
                      <a:pt x="101" y="187"/>
                      <a:pt x="101" y="188"/>
                    </a:cubicBezTo>
                    <a:cubicBezTo>
                      <a:pt x="102" y="190"/>
                      <a:pt x="103" y="192"/>
                      <a:pt x="104" y="194"/>
                    </a:cubicBezTo>
                    <a:cubicBezTo>
                      <a:pt x="104" y="196"/>
                      <a:pt x="105" y="199"/>
                      <a:pt x="105" y="200"/>
                    </a:cubicBezTo>
                    <a:cubicBezTo>
                      <a:pt x="106" y="201"/>
                      <a:pt x="105" y="204"/>
                      <a:pt x="104" y="205"/>
                    </a:cubicBezTo>
                    <a:cubicBezTo>
                      <a:pt x="103" y="206"/>
                      <a:pt x="102" y="210"/>
                      <a:pt x="102" y="214"/>
                    </a:cubicBezTo>
                    <a:cubicBezTo>
                      <a:pt x="102" y="217"/>
                      <a:pt x="102" y="222"/>
                      <a:pt x="102" y="224"/>
                    </a:cubicBezTo>
                    <a:cubicBezTo>
                      <a:pt x="101" y="226"/>
                      <a:pt x="101" y="230"/>
                      <a:pt x="102" y="231"/>
                    </a:cubicBezTo>
                    <a:cubicBezTo>
                      <a:pt x="103" y="233"/>
                      <a:pt x="103" y="235"/>
                      <a:pt x="102" y="236"/>
                    </a:cubicBezTo>
                    <a:cubicBezTo>
                      <a:pt x="102" y="237"/>
                      <a:pt x="102" y="240"/>
                      <a:pt x="103" y="242"/>
                    </a:cubicBezTo>
                    <a:cubicBezTo>
                      <a:pt x="104" y="245"/>
                      <a:pt x="106" y="248"/>
                      <a:pt x="107" y="249"/>
                    </a:cubicBezTo>
                    <a:cubicBezTo>
                      <a:pt x="108" y="250"/>
                      <a:pt x="109" y="252"/>
                      <a:pt x="110" y="255"/>
                    </a:cubicBezTo>
                    <a:cubicBezTo>
                      <a:pt x="111" y="257"/>
                      <a:pt x="112" y="260"/>
                      <a:pt x="113" y="262"/>
                    </a:cubicBezTo>
                    <a:cubicBezTo>
                      <a:pt x="113" y="264"/>
                      <a:pt x="113" y="267"/>
                      <a:pt x="113" y="268"/>
                    </a:cubicBezTo>
                    <a:cubicBezTo>
                      <a:pt x="112" y="269"/>
                      <a:pt x="110" y="270"/>
                      <a:pt x="108" y="270"/>
                    </a:cubicBezTo>
                    <a:cubicBezTo>
                      <a:pt x="107" y="269"/>
                      <a:pt x="107" y="271"/>
                      <a:pt x="109" y="274"/>
                    </a:cubicBezTo>
                    <a:cubicBezTo>
                      <a:pt x="109" y="274"/>
                      <a:pt x="109" y="274"/>
                      <a:pt x="111" y="277"/>
                    </a:cubicBezTo>
                    <a:cubicBezTo>
                      <a:pt x="112" y="279"/>
                      <a:pt x="112" y="279"/>
                      <a:pt x="112" y="279"/>
                    </a:cubicBezTo>
                    <a:cubicBezTo>
                      <a:pt x="117" y="283"/>
                      <a:pt x="122" y="287"/>
                      <a:pt x="125" y="288"/>
                    </a:cubicBezTo>
                    <a:cubicBezTo>
                      <a:pt x="127" y="289"/>
                      <a:pt x="130" y="292"/>
                      <a:pt x="132" y="294"/>
                    </a:cubicBezTo>
                    <a:cubicBezTo>
                      <a:pt x="134" y="296"/>
                      <a:pt x="137" y="299"/>
                      <a:pt x="140" y="299"/>
                    </a:cubicBezTo>
                    <a:cubicBezTo>
                      <a:pt x="142" y="300"/>
                      <a:pt x="145" y="296"/>
                      <a:pt x="145" y="290"/>
                    </a:cubicBezTo>
                    <a:cubicBezTo>
                      <a:pt x="146" y="284"/>
                      <a:pt x="147" y="276"/>
                      <a:pt x="148" y="273"/>
                    </a:cubicBezTo>
                    <a:cubicBezTo>
                      <a:pt x="148" y="271"/>
                      <a:pt x="152" y="266"/>
                      <a:pt x="155" y="264"/>
                    </a:cubicBezTo>
                    <a:cubicBezTo>
                      <a:pt x="158" y="262"/>
                      <a:pt x="162" y="260"/>
                      <a:pt x="164" y="260"/>
                    </a:cubicBezTo>
                    <a:cubicBezTo>
                      <a:pt x="166" y="259"/>
                      <a:pt x="170" y="260"/>
                      <a:pt x="172" y="261"/>
                    </a:cubicBezTo>
                    <a:cubicBezTo>
                      <a:pt x="174" y="262"/>
                      <a:pt x="177" y="265"/>
                      <a:pt x="179" y="267"/>
                    </a:cubicBezTo>
                    <a:cubicBezTo>
                      <a:pt x="181" y="269"/>
                      <a:pt x="185" y="271"/>
                      <a:pt x="188" y="272"/>
                    </a:cubicBezTo>
                    <a:cubicBezTo>
                      <a:pt x="190" y="272"/>
                      <a:pt x="195" y="271"/>
                      <a:pt x="198" y="269"/>
                    </a:cubicBezTo>
                    <a:cubicBezTo>
                      <a:pt x="201" y="267"/>
                      <a:pt x="203" y="263"/>
                      <a:pt x="202" y="261"/>
                    </a:cubicBezTo>
                    <a:cubicBezTo>
                      <a:pt x="201" y="259"/>
                      <a:pt x="201" y="253"/>
                      <a:pt x="203" y="249"/>
                    </a:cubicBezTo>
                    <a:cubicBezTo>
                      <a:pt x="204" y="244"/>
                      <a:pt x="208" y="237"/>
                      <a:pt x="212" y="233"/>
                    </a:cubicBezTo>
                    <a:cubicBezTo>
                      <a:pt x="216" y="229"/>
                      <a:pt x="230" y="225"/>
                      <a:pt x="243" y="225"/>
                    </a:cubicBezTo>
                    <a:cubicBezTo>
                      <a:pt x="257" y="224"/>
                      <a:pt x="268" y="224"/>
                      <a:pt x="268" y="224"/>
                    </a:cubicBezTo>
                    <a:cubicBezTo>
                      <a:pt x="265" y="175"/>
                      <a:pt x="265" y="175"/>
                      <a:pt x="265" y="175"/>
                    </a:cubicBezTo>
                    <a:cubicBezTo>
                      <a:pt x="265" y="175"/>
                      <a:pt x="264" y="175"/>
                      <a:pt x="262" y="175"/>
                    </a:cubicBezTo>
                    <a:cubicBezTo>
                      <a:pt x="260" y="175"/>
                      <a:pt x="256" y="174"/>
                      <a:pt x="253" y="172"/>
                    </a:cubicBezTo>
                    <a:cubicBezTo>
                      <a:pt x="250" y="171"/>
                      <a:pt x="246" y="167"/>
                      <a:pt x="244" y="165"/>
                    </a:cubicBezTo>
                    <a:cubicBezTo>
                      <a:pt x="241" y="163"/>
                      <a:pt x="238" y="159"/>
                      <a:pt x="237" y="157"/>
                    </a:cubicBezTo>
                    <a:cubicBezTo>
                      <a:pt x="235" y="155"/>
                      <a:pt x="232" y="152"/>
                      <a:pt x="231" y="151"/>
                    </a:cubicBezTo>
                    <a:cubicBezTo>
                      <a:pt x="229" y="150"/>
                      <a:pt x="228" y="145"/>
                      <a:pt x="228" y="141"/>
                    </a:cubicBezTo>
                    <a:cubicBezTo>
                      <a:pt x="229" y="136"/>
                      <a:pt x="228" y="132"/>
                      <a:pt x="226" y="132"/>
                    </a:cubicBezTo>
                    <a:cubicBezTo>
                      <a:pt x="225" y="132"/>
                      <a:pt x="223" y="130"/>
                      <a:pt x="222" y="128"/>
                    </a:cubicBezTo>
                    <a:cubicBezTo>
                      <a:pt x="222" y="126"/>
                      <a:pt x="220" y="123"/>
                      <a:pt x="219" y="120"/>
                    </a:cubicBezTo>
                    <a:cubicBezTo>
                      <a:pt x="218" y="117"/>
                      <a:pt x="218" y="113"/>
                      <a:pt x="218" y="111"/>
                    </a:cubicBezTo>
                    <a:cubicBezTo>
                      <a:pt x="218" y="109"/>
                      <a:pt x="219" y="105"/>
                      <a:pt x="219" y="103"/>
                    </a:cubicBezTo>
                    <a:cubicBezTo>
                      <a:pt x="220" y="101"/>
                      <a:pt x="221" y="96"/>
                      <a:pt x="223" y="93"/>
                    </a:cubicBezTo>
                    <a:cubicBezTo>
                      <a:pt x="225" y="89"/>
                      <a:pt x="226" y="84"/>
                      <a:pt x="225" y="82"/>
                    </a:cubicBezTo>
                    <a:cubicBezTo>
                      <a:pt x="224" y="79"/>
                      <a:pt x="226" y="75"/>
                      <a:pt x="228" y="73"/>
                    </a:cubicBezTo>
                    <a:cubicBezTo>
                      <a:pt x="230" y="71"/>
                      <a:pt x="233" y="67"/>
                      <a:pt x="234" y="65"/>
                    </a:cubicBezTo>
                    <a:cubicBezTo>
                      <a:pt x="235" y="62"/>
                      <a:pt x="235" y="57"/>
                      <a:pt x="234" y="54"/>
                    </a:cubicBezTo>
                    <a:cubicBezTo>
                      <a:pt x="233" y="51"/>
                      <a:pt x="231" y="46"/>
                      <a:pt x="230" y="44"/>
                    </a:cubicBezTo>
                    <a:cubicBezTo>
                      <a:pt x="230" y="41"/>
                      <a:pt x="228" y="37"/>
                      <a:pt x="225" y="36"/>
                    </a:cubicBezTo>
                    <a:cubicBezTo>
                      <a:pt x="223" y="34"/>
                      <a:pt x="219" y="33"/>
                      <a:pt x="216" y="33"/>
                    </a:cubicBezTo>
                    <a:cubicBezTo>
                      <a:pt x="213" y="33"/>
                      <a:pt x="212" y="30"/>
                      <a:pt x="213" y="28"/>
                    </a:cubicBezTo>
                    <a:cubicBezTo>
                      <a:pt x="214" y="25"/>
                      <a:pt x="216" y="20"/>
                      <a:pt x="216" y="17"/>
                    </a:cubicBezTo>
                    <a:cubicBezTo>
                      <a:pt x="217" y="14"/>
                      <a:pt x="217" y="10"/>
                      <a:pt x="216" y="9"/>
                    </a:cubicBezTo>
                    <a:cubicBezTo>
                      <a:pt x="215" y="7"/>
                      <a:pt x="213" y="4"/>
                      <a:pt x="210" y="2"/>
                    </a:cubicBezTo>
                    <a:cubicBezTo>
                      <a:pt x="208" y="1"/>
                      <a:pt x="204" y="0"/>
                      <a:pt x="201" y="1"/>
                    </a:cubicBezTo>
                    <a:cubicBezTo>
                      <a:pt x="199" y="2"/>
                      <a:pt x="194" y="2"/>
                      <a:pt x="191" y="2"/>
                    </a:cubicBezTo>
                    <a:cubicBezTo>
                      <a:pt x="188" y="2"/>
                      <a:pt x="186" y="2"/>
                      <a:pt x="186" y="2"/>
                    </a:cubicBezTo>
                    <a:cubicBezTo>
                      <a:pt x="186" y="2"/>
                      <a:pt x="187" y="5"/>
                      <a:pt x="188" y="8"/>
                    </a:cubicBezTo>
                    <a:cubicBezTo>
                      <a:pt x="189" y="11"/>
                      <a:pt x="189" y="15"/>
                      <a:pt x="188" y="17"/>
                    </a:cubicBezTo>
                    <a:cubicBezTo>
                      <a:pt x="187" y="19"/>
                      <a:pt x="184" y="22"/>
                      <a:pt x="181" y="23"/>
                    </a:cubicBezTo>
                    <a:cubicBezTo>
                      <a:pt x="178" y="25"/>
                      <a:pt x="175" y="28"/>
                      <a:pt x="174" y="30"/>
                    </a:cubicBezTo>
                    <a:cubicBezTo>
                      <a:pt x="173" y="32"/>
                      <a:pt x="169" y="34"/>
                      <a:pt x="166" y="34"/>
                    </a:cubicBezTo>
                    <a:cubicBezTo>
                      <a:pt x="162" y="33"/>
                      <a:pt x="159" y="34"/>
                      <a:pt x="158" y="35"/>
                    </a:cubicBezTo>
                    <a:cubicBezTo>
                      <a:pt x="157" y="36"/>
                      <a:pt x="155" y="38"/>
                      <a:pt x="154" y="38"/>
                    </a:cubicBezTo>
                    <a:cubicBezTo>
                      <a:pt x="152" y="39"/>
                      <a:pt x="149" y="41"/>
                      <a:pt x="148" y="43"/>
                    </a:cubicBezTo>
                    <a:cubicBezTo>
                      <a:pt x="147" y="45"/>
                      <a:pt x="144" y="47"/>
                      <a:pt x="142" y="47"/>
                    </a:cubicBezTo>
                    <a:cubicBezTo>
                      <a:pt x="141" y="47"/>
                      <a:pt x="138" y="49"/>
                      <a:pt x="135" y="50"/>
                    </a:cubicBezTo>
                    <a:cubicBezTo>
                      <a:pt x="133" y="52"/>
                      <a:pt x="130" y="53"/>
                      <a:pt x="128" y="52"/>
                    </a:cubicBezTo>
                    <a:cubicBezTo>
                      <a:pt x="126" y="51"/>
                      <a:pt x="123" y="52"/>
                      <a:pt x="122" y="53"/>
                    </a:cubicBezTo>
                    <a:cubicBezTo>
                      <a:pt x="120" y="54"/>
                      <a:pt x="116" y="55"/>
                      <a:pt x="112" y="54"/>
                    </a:cubicBezTo>
                    <a:cubicBezTo>
                      <a:pt x="109" y="53"/>
                      <a:pt x="104" y="53"/>
                      <a:pt x="102" y="55"/>
                    </a:cubicBezTo>
                    <a:cubicBezTo>
                      <a:pt x="100" y="56"/>
                      <a:pt x="97" y="57"/>
                      <a:pt x="96" y="57"/>
                    </a:cubicBezTo>
                    <a:cubicBezTo>
                      <a:pt x="94" y="57"/>
                      <a:pt x="92" y="59"/>
                      <a:pt x="91" y="61"/>
                    </a:cubicBezTo>
                    <a:cubicBezTo>
                      <a:pt x="91" y="63"/>
                      <a:pt x="91" y="67"/>
                      <a:pt x="92" y="69"/>
                    </a:cubicBezTo>
                    <a:cubicBezTo>
                      <a:pt x="93" y="71"/>
                      <a:pt x="92" y="74"/>
                      <a:pt x="89" y="76"/>
                    </a:cubicBezTo>
                    <a:cubicBezTo>
                      <a:pt x="87" y="77"/>
                      <a:pt x="83" y="78"/>
                      <a:pt x="81" y="77"/>
                    </a:cubicBezTo>
                    <a:cubicBezTo>
                      <a:pt x="79" y="76"/>
                      <a:pt x="75" y="73"/>
                      <a:pt x="73" y="71"/>
                    </a:cubicBezTo>
                    <a:cubicBezTo>
                      <a:pt x="71" y="68"/>
                      <a:pt x="68" y="65"/>
                      <a:pt x="66" y="64"/>
                    </a:cubicBezTo>
                    <a:cubicBezTo>
                      <a:pt x="65" y="62"/>
                      <a:pt x="62" y="62"/>
                      <a:pt x="60" y="63"/>
                    </a:cubicBezTo>
                    <a:cubicBezTo>
                      <a:pt x="58" y="65"/>
                      <a:pt x="56" y="66"/>
                      <a:pt x="54" y="65"/>
                    </a:cubicBezTo>
                    <a:cubicBezTo>
                      <a:pt x="53" y="64"/>
                      <a:pt x="50" y="64"/>
                      <a:pt x="48" y="64"/>
                    </a:cubicBezTo>
                    <a:cubicBezTo>
                      <a:pt x="45" y="63"/>
                      <a:pt x="41" y="64"/>
                      <a:pt x="39" y="65"/>
                    </a:cubicBezTo>
                    <a:cubicBezTo>
                      <a:pt x="36" y="65"/>
                      <a:pt x="34" y="65"/>
                      <a:pt x="33" y="64"/>
                    </a:cubicBezTo>
                    <a:cubicBezTo>
                      <a:pt x="32" y="62"/>
                      <a:pt x="31" y="60"/>
                      <a:pt x="29" y="58"/>
                    </a:cubicBezTo>
                    <a:cubicBezTo>
                      <a:pt x="28" y="56"/>
                      <a:pt x="25" y="55"/>
                      <a:pt x="22" y="55"/>
                    </a:cubicBezTo>
                    <a:cubicBezTo>
                      <a:pt x="20" y="55"/>
                      <a:pt x="16" y="56"/>
                      <a:pt x="14" y="56"/>
                    </a:cubicBezTo>
                    <a:cubicBezTo>
                      <a:pt x="11" y="57"/>
                      <a:pt x="8" y="55"/>
                      <a:pt x="6" y="53"/>
                    </a:cubicBezTo>
                    <a:cubicBezTo>
                      <a:pt x="4" y="51"/>
                      <a:pt x="1" y="49"/>
                      <a:pt x="1" y="50"/>
                    </a:cubicBezTo>
                    <a:cubicBezTo>
                      <a:pt x="0" y="51"/>
                      <a:pt x="0" y="53"/>
                      <a:pt x="1" y="55"/>
                    </a:cubicBezTo>
                    <a:cubicBezTo>
                      <a:pt x="2" y="56"/>
                      <a:pt x="4" y="59"/>
                      <a:pt x="5" y="60"/>
                    </a:cubicBezTo>
                    <a:cubicBezTo>
                      <a:pt x="5" y="62"/>
                      <a:pt x="8" y="65"/>
                      <a:pt x="10" y="67"/>
                    </a:cubicBezTo>
                    <a:cubicBezTo>
                      <a:pt x="12" y="69"/>
                      <a:pt x="17" y="73"/>
                      <a:pt x="20" y="75"/>
                    </a:cubicBezTo>
                    <a:cubicBezTo>
                      <a:pt x="23" y="77"/>
                      <a:pt x="26" y="81"/>
                      <a:pt x="25" y="83"/>
                    </a:cubicBezTo>
                    <a:cubicBezTo>
                      <a:pt x="24" y="85"/>
                      <a:pt x="24" y="90"/>
                      <a:pt x="25" y="94"/>
                    </a:cubicBezTo>
                    <a:cubicBezTo>
                      <a:pt x="25" y="98"/>
                      <a:pt x="27" y="103"/>
                      <a:pt x="28" y="105"/>
                    </a:cubicBezTo>
                    <a:cubicBezTo>
                      <a:pt x="29" y="107"/>
                      <a:pt x="32" y="112"/>
                      <a:pt x="33" y="114"/>
                    </a:cubicBezTo>
                    <a:cubicBezTo>
                      <a:pt x="34" y="117"/>
                      <a:pt x="35" y="121"/>
                      <a:pt x="34" y="124"/>
                    </a:cubicBezTo>
                    <a:cubicBezTo>
                      <a:pt x="34" y="127"/>
                      <a:pt x="35" y="129"/>
                      <a:pt x="38" y="129"/>
                    </a:cubicBezTo>
                    <a:cubicBezTo>
                      <a:pt x="41" y="130"/>
                      <a:pt x="45" y="130"/>
                      <a:pt x="47" y="130"/>
                    </a:cubicBezTo>
                    <a:cubicBezTo>
                      <a:pt x="49" y="130"/>
                      <a:pt x="54" y="130"/>
                      <a:pt x="57" y="131"/>
                    </a:cubicBezTo>
                    <a:cubicBezTo>
                      <a:pt x="60" y="131"/>
                      <a:pt x="63" y="133"/>
                      <a:pt x="63" y="135"/>
                    </a:cubicBezTo>
                    <a:cubicBezTo>
                      <a:pt x="64" y="137"/>
                      <a:pt x="65" y="139"/>
                      <a:pt x="65" y="139"/>
                    </a:cubicBezTo>
                    <a:cubicBezTo>
                      <a:pt x="65" y="139"/>
                      <a:pt x="67" y="139"/>
                      <a:pt x="69" y="140"/>
                    </a:cubicBezTo>
                    <a:cubicBezTo>
                      <a:pt x="72" y="141"/>
                      <a:pt x="75" y="142"/>
                      <a:pt x="77" y="14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407924" tIns="203962" rIns="407924" bIns="20396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246"/>
              </a:p>
            </p:txBody>
          </p:sp>
          <p:sp>
            <p:nvSpPr>
              <p:cNvPr id="1211" name="Freeform 14">
                <a:extLst>
                  <a:ext uri="{FF2B5EF4-FFF2-40B4-BE49-F238E27FC236}">
                    <a16:creationId xmlns:a16="http://schemas.microsoft.com/office/drawing/2014/main" id="{45E99D57-6D63-9E14-3835-E3FEEB027A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3420" y="3938477"/>
                <a:ext cx="1098718" cy="884546"/>
              </a:xfrm>
              <a:custGeom>
                <a:avLst/>
                <a:gdLst/>
                <a:ahLst/>
                <a:cxnLst>
                  <a:cxn ang="0">
                    <a:pos x="197" y="28"/>
                  </a:cxn>
                  <a:cxn ang="0">
                    <a:pos x="183" y="47"/>
                  </a:cxn>
                  <a:cxn ang="0">
                    <a:pos x="179" y="71"/>
                  </a:cxn>
                  <a:cxn ang="0">
                    <a:pos x="161" y="89"/>
                  </a:cxn>
                  <a:cxn ang="0">
                    <a:pos x="168" y="122"/>
                  </a:cxn>
                  <a:cxn ang="0">
                    <a:pos x="157" y="142"/>
                  </a:cxn>
                  <a:cxn ang="0">
                    <a:pos x="162" y="167"/>
                  </a:cxn>
                  <a:cxn ang="0">
                    <a:pos x="145" y="181"/>
                  </a:cxn>
                  <a:cxn ang="0">
                    <a:pos x="109" y="180"/>
                  </a:cxn>
                  <a:cxn ang="0">
                    <a:pos x="69" y="189"/>
                  </a:cxn>
                  <a:cxn ang="0">
                    <a:pos x="32" y="196"/>
                  </a:cxn>
                  <a:cxn ang="0">
                    <a:pos x="20" y="215"/>
                  </a:cxn>
                  <a:cxn ang="0">
                    <a:pos x="5" y="232"/>
                  </a:cxn>
                  <a:cxn ang="0">
                    <a:pos x="2" y="254"/>
                  </a:cxn>
                  <a:cxn ang="0">
                    <a:pos x="21" y="248"/>
                  </a:cxn>
                  <a:cxn ang="0">
                    <a:pos x="50" y="252"/>
                  </a:cxn>
                  <a:cxn ang="0">
                    <a:pos x="76" y="256"/>
                  </a:cxn>
                  <a:cxn ang="0">
                    <a:pos x="86" y="267"/>
                  </a:cxn>
                  <a:cxn ang="0">
                    <a:pos x="102" y="262"/>
                  </a:cxn>
                  <a:cxn ang="0">
                    <a:pos x="130" y="260"/>
                  </a:cxn>
                  <a:cxn ang="0">
                    <a:pos x="155" y="259"/>
                  </a:cxn>
                  <a:cxn ang="0">
                    <a:pos x="160" y="271"/>
                  </a:cxn>
                  <a:cxn ang="0">
                    <a:pos x="163" y="300"/>
                  </a:cxn>
                  <a:cxn ang="0">
                    <a:pos x="180" y="322"/>
                  </a:cxn>
                  <a:cxn ang="0">
                    <a:pos x="183" y="353"/>
                  </a:cxn>
                  <a:cxn ang="0">
                    <a:pos x="191" y="381"/>
                  </a:cxn>
                  <a:cxn ang="0">
                    <a:pos x="221" y="385"/>
                  </a:cxn>
                  <a:cxn ang="0">
                    <a:pos x="252" y="374"/>
                  </a:cxn>
                  <a:cxn ang="0">
                    <a:pos x="289" y="362"/>
                  </a:cxn>
                  <a:cxn ang="0">
                    <a:pos x="327" y="359"/>
                  </a:cxn>
                  <a:cxn ang="0">
                    <a:pos x="354" y="350"/>
                  </a:cxn>
                  <a:cxn ang="0">
                    <a:pos x="369" y="329"/>
                  </a:cxn>
                  <a:cxn ang="0">
                    <a:pos x="385" y="307"/>
                  </a:cxn>
                  <a:cxn ang="0">
                    <a:pos x="392" y="281"/>
                  </a:cxn>
                  <a:cxn ang="0">
                    <a:pos x="415" y="266"/>
                  </a:cxn>
                  <a:cxn ang="0">
                    <a:pos x="431" y="234"/>
                  </a:cxn>
                  <a:cxn ang="0">
                    <a:pos x="432" y="212"/>
                  </a:cxn>
                  <a:cxn ang="0">
                    <a:pos x="431" y="187"/>
                  </a:cxn>
                  <a:cxn ang="0">
                    <a:pos x="460" y="176"/>
                  </a:cxn>
                  <a:cxn ang="0">
                    <a:pos x="460" y="164"/>
                  </a:cxn>
                  <a:cxn ang="0">
                    <a:pos x="462" y="127"/>
                  </a:cxn>
                  <a:cxn ang="0">
                    <a:pos x="478" y="107"/>
                  </a:cxn>
                  <a:cxn ang="0">
                    <a:pos x="460" y="78"/>
                  </a:cxn>
                  <a:cxn ang="0">
                    <a:pos x="429" y="73"/>
                  </a:cxn>
                  <a:cxn ang="0">
                    <a:pos x="396" y="45"/>
                  </a:cxn>
                  <a:cxn ang="0">
                    <a:pos x="353" y="22"/>
                  </a:cxn>
                  <a:cxn ang="0">
                    <a:pos x="318" y="18"/>
                  </a:cxn>
                  <a:cxn ang="0">
                    <a:pos x="293" y="1"/>
                  </a:cxn>
                  <a:cxn ang="0">
                    <a:pos x="252" y="26"/>
                  </a:cxn>
                  <a:cxn ang="0">
                    <a:pos x="225" y="38"/>
                  </a:cxn>
                  <a:cxn ang="0">
                    <a:pos x="215" y="27"/>
                  </a:cxn>
                </a:cxnLst>
                <a:rect l="0" t="0" r="r" b="b"/>
                <a:pathLst>
                  <a:path w="484" h="390">
                    <a:moveTo>
                      <a:pt x="210" y="24"/>
                    </a:moveTo>
                    <a:cubicBezTo>
                      <a:pt x="209" y="23"/>
                      <a:pt x="208" y="21"/>
                      <a:pt x="206" y="19"/>
                    </a:cubicBezTo>
                    <a:cubicBezTo>
                      <a:pt x="205" y="18"/>
                      <a:pt x="202" y="18"/>
                      <a:pt x="201" y="19"/>
                    </a:cubicBezTo>
                    <a:cubicBezTo>
                      <a:pt x="199" y="21"/>
                      <a:pt x="197" y="25"/>
                      <a:pt x="197" y="28"/>
                    </a:cubicBezTo>
                    <a:cubicBezTo>
                      <a:pt x="197" y="31"/>
                      <a:pt x="195" y="33"/>
                      <a:pt x="193" y="33"/>
                    </a:cubicBezTo>
                    <a:cubicBezTo>
                      <a:pt x="190" y="32"/>
                      <a:pt x="187" y="33"/>
                      <a:pt x="185" y="34"/>
                    </a:cubicBezTo>
                    <a:cubicBezTo>
                      <a:pt x="184" y="36"/>
                      <a:pt x="183" y="39"/>
                      <a:pt x="184" y="41"/>
                    </a:cubicBezTo>
                    <a:cubicBezTo>
                      <a:pt x="184" y="44"/>
                      <a:pt x="184" y="46"/>
                      <a:pt x="183" y="47"/>
                    </a:cubicBezTo>
                    <a:cubicBezTo>
                      <a:pt x="183" y="48"/>
                      <a:pt x="182" y="49"/>
                      <a:pt x="182" y="51"/>
                    </a:cubicBezTo>
                    <a:cubicBezTo>
                      <a:pt x="182" y="53"/>
                      <a:pt x="182" y="56"/>
                      <a:pt x="183" y="58"/>
                    </a:cubicBezTo>
                    <a:cubicBezTo>
                      <a:pt x="183" y="60"/>
                      <a:pt x="183" y="64"/>
                      <a:pt x="184" y="66"/>
                    </a:cubicBezTo>
                    <a:cubicBezTo>
                      <a:pt x="184" y="68"/>
                      <a:pt x="182" y="70"/>
                      <a:pt x="179" y="71"/>
                    </a:cubicBezTo>
                    <a:cubicBezTo>
                      <a:pt x="176" y="71"/>
                      <a:pt x="171" y="73"/>
                      <a:pt x="168" y="74"/>
                    </a:cubicBezTo>
                    <a:cubicBezTo>
                      <a:pt x="165" y="76"/>
                      <a:pt x="162" y="77"/>
                      <a:pt x="162" y="77"/>
                    </a:cubicBezTo>
                    <a:cubicBezTo>
                      <a:pt x="162" y="77"/>
                      <a:pt x="162" y="79"/>
                      <a:pt x="162" y="81"/>
                    </a:cubicBezTo>
                    <a:cubicBezTo>
                      <a:pt x="162" y="84"/>
                      <a:pt x="162" y="87"/>
                      <a:pt x="161" y="89"/>
                    </a:cubicBezTo>
                    <a:cubicBezTo>
                      <a:pt x="160" y="90"/>
                      <a:pt x="159" y="94"/>
                      <a:pt x="158" y="96"/>
                    </a:cubicBezTo>
                    <a:cubicBezTo>
                      <a:pt x="158" y="98"/>
                      <a:pt x="159" y="101"/>
                      <a:pt x="161" y="102"/>
                    </a:cubicBezTo>
                    <a:cubicBezTo>
                      <a:pt x="163" y="103"/>
                      <a:pt x="166" y="107"/>
                      <a:pt x="167" y="111"/>
                    </a:cubicBezTo>
                    <a:cubicBezTo>
                      <a:pt x="168" y="115"/>
                      <a:pt x="169" y="120"/>
                      <a:pt x="168" y="122"/>
                    </a:cubicBezTo>
                    <a:cubicBezTo>
                      <a:pt x="167" y="124"/>
                      <a:pt x="166" y="126"/>
                      <a:pt x="164" y="127"/>
                    </a:cubicBezTo>
                    <a:cubicBezTo>
                      <a:pt x="163" y="127"/>
                      <a:pt x="160" y="130"/>
                      <a:pt x="158" y="132"/>
                    </a:cubicBezTo>
                    <a:cubicBezTo>
                      <a:pt x="156" y="134"/>
                      <a:pt x="154" y="137"/>
                      <a:pt x="154" y="138"/>
                    </a:cubicBezTo>
                    <a:cubicBezTo>
                      <a:pt x="153" y="139"/>
                      <a:pt x="155" y="141"/>
                      <a:pt x="157" y="142"/>
                    </a:cubicBezTo>
                    <a:cubicBezTo>
                      <a:pt x="160" y="143"/>
                      <a:pt x="162" y="146"/>
                      <a:pt x="162" y="148"/>
                    </a:cubicBezTo>
                    <a:cubicBezTo>
                      <a:pt x="162" y="150"/>
                      <a:pt x="162" y="153"/>
                      <a:pt x="161" y="155"/>
                    </a:cubicBezTo>
                    <a:cubicBezTo>
                      <a:pt x="160" y="156"/>
                      <a:pt x="160" y="159"/>
                      <a:pt x="160" y="161"/>
                    </a:cubicBezTo>
                    <a:cubicBezTo>
                      <a:pt x="160" y="162"/>
                      <a:pt x="161" y="165"/>
                      <a:pt x="162" y="167"/>
                    </a:cubicBezTo>
                    <a:cubicBezTo>
                      <a:pt x="162" y="168"/>
                      <a:pt x="161" y="170"/>
                      <a:pt x="160" y="171"/>
                    </a:cubicBezTo>
                    <a:cubicBezTo>
                      <a:pt x="159" y="171"/>
                      <a:pt x="158" y="172"/>
                      <a:pt x="158" y="172"/>
                    </a:cubicBezTo>
                    <a:cubicBezTo>
                      <a:pt x="158" y="172"/>
                      <a:pt x="156" y="173"/>
                      <a:pt x="154" y="175"/>
                    </a:cubicBezTo>
                    <a:cubicBezTo>
                      <a:pt x="151" y="177"/>
                      <a:pt x="148" y="179"/>
                      <a:pt x="145" y="181"/>
                    </a:cubicBezTo>
                    <a:cubicBezTo>
                      <a:pt x="143" y="183"/>
                      <a:pt x="140" y="184"/>
                      <a:pt x="137" y="185"/>
                    </a:cubicBezTo>
                    <a:cubicBezTo>
                      <a:pt x="135" y="186"/>
                      <a:pt x="131" y="185"/>
                      <a:pt x="129" y="184"/>
                    </a:cubicBezTo>
                    <a:cubicBezTo>
                      <a:pt x="126" y="183"/>
                      <a:pt x="122" y="182"/>
                      <a:pt x="120" y="181"/>
                    </a:cubicBezTo>
                    <a:cubicBezTo>
                      <a:pt x="118" y="181"/>
                      <a:pt x="113" y="180"/>
                      <a:pt x="109" y="180"/>
                    </a:cubicBezTo>
                    <a:cubicBezTo>
                      <a:pt x="105" y="179"/>
                      <a:pt x="99" y="179"/>
                      <a:pt x="96" y="180"/>
                    </a:cubicBezTo>
                    <a:cubicBezTo>
                      <a:pt x="93" y="180"/>
                      <a:pt x="89" y="181"/>
                      <a:pt x="86" y="183"/>
                    </a:cubicBezTo>
                    <a:cubicBezTo>
                      <a:pt x="83" y="185"/>
                      <a:pt x="79" y="187"/>
                      <a:pt x="77" y="189"/>
                    </a:cubicBezTo>
                    <a:cubicBezTo>
                      <a:pt x="74" y="190"/>
                      <a:pt x="71" y="190"/>
                      <a:pt x="69" y="189"/>
                    </a:cubicBezTo>
                    <a:cubicBezTo>
                      <a:pt x="68" y="188"/>
                      <a:pt x="64" y="188"/>
                      <a:pt x="61" y="189"/>
                    </a:cubicBezTo>
                    <a:cubicBezTo>
                      <a:pt x="58" y="190"/>
                      <a:pt x="54" y="191"/>
                      <a:pt x="52" y="191"/>
                    </a:cubicBezTo>
                    <a:cubicBezTo>
                      <a:pt x="49" y="191"/>
                      <a:pt x="45" y="192"/>
                      <a:pt x="41" y="193"/>
                    </a:cubicBezTo>
                    <a:cubicBezTo>
                      <a:pt x="38" y="193"/>
                      <a:pt x="34" y="195"/>
                      <a:pt x="32" y="196"/>
                    </a:cubicBezTo>
                    <a:cubicBezTo>
                      <a:pt x="30" y="197"/>
                      <a:pt x="28" y="200"/>
                      <a:pt x="27" y="202"/>
                    </a:cubicBezTo>
                    <a:cubicBezTo>
                      <a:pt x="26" y="204"/>
                      <a:pt x="25" y="206"/>
                      <a:pt x="25" y="207"/>
                    </a:cubicBezTo>
                    <a:cubicBezTo>
                      <a:pt x="24" y="208"/>
                      <a:pt x="24" y="210"/>
                      <a:pt x="23" y="212"/>
                    </a:cubicBezTo>
                    <a:cubicBezTo>
                      <a:pt x="23" y="213"/>
                      <a:pt x="21" y="214"/>
                      <a:pt x="20" y="215"/>
                    </a:cubicBezTo>
                    <a:cubicBezTo>
                      <a:pt x="19" y="216"/>
                      <a:pt x="16" y="218"/>
                      <a:pt x="13" y="220"/>
                    </a:cubicBezTo>
                    <a:cubicBezTo>
                      <a:pt x="11" y="223"/>
                      <a:pt x="8" y="226"/>
                      <a:pt x="7" y="227"/>
                    </a:cubicBezTo>
                    <a:cubicBezTo>
                      <a:pt x="6" y="228"/>
                      <a:pt x="5" y="229"/>
                      <a:pt x="5" y="229"/>
                    </a:cubicBezTo>
                    <a:cubicBezTo>
                      <a:pt x="5" y="229"/>
                      <a:pt x="5" y="230"/>
                      <a:pt x="5" y="232"/>
                    </a:cubicBezTo>
                    <a:cubicBezTo>
                      <a:pt x="5" y="233"/>
                      <a:pt x="4" y="235"/>
                      <a:pt x="3" y="237"/>
                    </a:cubicBezTo>
                    <a:cubicBezTo>
                      <a:pt x="2" y="238"/>
                      <a:pt x="1" y="241"/>
                      <a:pt x="1" y="242"/>
                    </a:cubicBezTo>
                    <a:cubicBezTo>
                      <a:pt x="0" y="244"/>
                      <a:pt x="0" y="246"/>
                      <a:pt x="1" y="248"/>
                    </a:cubicBezTo>
                    <a:cubicBezTo>
                      <a:pt x="1" y="249"/>
                      <a:pt x="2" y="252"/>
                      <a:pt x="2" y="254"/>
                    </a:cubicBezTo>
                    <a:cubicBezTo>
                      <a:pt x="2" y="255"/>
                      <a:pt x="3" y="257"/>
                      <a:pt x="3" y="257"/>
                    </a:cubicBezTo>
                    <a:cubicBezTo>
                      <a:pt x="3" y="257"/>
                      <a:pt x="4" y="256"/>
                      <a:pt x="6" y="255"/>
                    </a:cubicBezTo>
                    <a:cubicBezTo>
                      <a:pt x="8" y="254"/>
                      <a:pt x="12" y="252"/>
                      <a:pt x="14" y="251"/>
                    </a:cubicBezTo>
                    <a:cubicBezTo>
                      <a:pt x="16" y="251"/>
                      <a:pt x="19" y="249"/>
                      <a:pt x="21" y="248"/>
                    </a:cubicBezTo>
                    <a:cubicBezTo>
                      <a:pt x="23" y="246"/>
                      <a:pt x="26" y="246"/>
                      <a:pt x="28" y="247"/>
                    </a:cubicBezTo>
                    <a:cubicBezTo>
                      <a:pt x="30" y="247"/>
                      <a:pt x="33" y="248"/>
                      <a:pt x="35" y="249"/>
                    </a:cubicBezTo>
                    <a:cubicBezTo>
                      <a:pt x="38" y="249"/>
                      <a:pt x="41" y="250"/>
                      <a:pt x="43" y="251"/>
                    </a:cubicBezTo>
                    <a:cubicBezTo>
                      <a:pt x="46" y="251"/>
                      <a:pt x="49" y="252"/>
                      <a:pt x="50" y="252"/>
                    </a:cubicBezTo>
                    <a:cubicBezTo>
                      <a:pt x="52" y="252"/>
                      <a:pt x="55" y="252"/>
                      <a:pt x="57" y="252"/>
                    </a:cubicBezTo>
                    <a:cubicBezTo>
                      <a:pt x="60" y="251"/>
                      <a:pt x="63" y="252"/>
                      <a:pt x="64" y="252"/>
                    </a:cubicBezTo>
                    <a:cubicBezTo>
                      <a:pt x="66" y="253"/>
                      <a:pt x="69" y="253"/>
                      <a:pt x="71" y="254"/>
                    </a:cubicBezTo>
                    <a:cubicBezTo>
                      <a:pt x="74" y="254"/>
                      <a:pt x="75" y="255"/>
                      <a:pt x="76" y="256"/>
                    </a:cubicBezTo>
                    <a:cubicBezTo>
                      <a:pt x="76" y="257"/>
                      <a:pt x="76" y="259"/>
                      <a:pt x="75" y="261"/>
                    </a:cubicBezTo>
                    <a:cubicBezTo>
                      <a:pt x="75" y="263"/>
                      <a:pt x="76" y="265"/>
                      <a:pt x="77" y="266"/>
                    </a:cubicBezTo>
                    <a:cubicBezTo>
                      <a:pt x="78" y="267"/>
                      <a:pt x="80" y="268"/>
                      <a:pt x="81" y="267"/>
                    </a:cubicBezTo>
                    <a:cubicBezTo>
                      <a:pt x="83" y="266"/>
                      <a:pt x="85" y="266"/>
                      <a:pt x="86" y="267"/>
                    </a:cubicBezTo>
                    <a:cubicBezTo>
                      <a:pt x="87" y="267"/>
                      <a:pt x="88" y="268"/>
                      <a:pt x="90" y="270"/>
                    </a:cubicBezTo>
                    <a:cubicBezTo>
                      <a:pt x="91" y="271"/>
                      <a:pt x="92" y="271"/>
                      <a:pt x="93" y="268"/>
                    </a:cubicBezTo>
                    <a:cubicBezTo>
                      <a:pt x="93" y="265"/>
                      <a:pt x="94" y="263"/>
                      <a:pt x="96" y="263"/>
                    </a:cubicBezTo>
                    <a:cubicBezTo>
                      <a:pt x="97" y="263"/>
                      <a:pt x="100" y="262"/>
                      <a:pt x="102" y="262"/>
                    </a:cubicBezTo>
                    <a:cubicBezTo>
                      <a:pt x="105" y="262"/>
                      <a:pt x="108" y="261"/>
                      <a:pt x="110" y="261"/>
                    </a:cubicBezTo>
                    <a:cubicBezTo>
                      <a:pt x="111" y="261"/>
                      <a:pt x="114" y="260"/>
                      <a:pt x="116" y="260"/>
                    </a:cubicBezTo>
                    <a:cubicBezTo>
                      <a:pt x="118" y="260"/>
                      <a:pt x="121" y="260"/>
                      <a:pt x="124" y="260"/>
                    </a:cubicBezTo>
                    <a:cubicBezTo>
                      <a:pt x="126" y="261"/>
                      <a:pt x="129" y="261"/>
                      <a:pt x="130" y="260"/>
                    </a:cubicBezTo>
                    <a:cubicBezTo>
                      <a:pt x="131" y="260"/>
                      <a:pt x="134" y="258"/>
                      <a:pt x="136" y="257"/>
                    </a:cubicBezTo>
                    <a:cubicBezTo>
                      <a:pt x="138" y="256"/>
                      <a:pt x="140" y="255"/>
                      <a:pt x="142" y="256"/>
                    </a:cubicBezTo>
                    <a:cubicBezTo>
                      <a:pt x="143" y="257"/>
                      <a:pt x="146" y="258"/>
                      <a:pt x="149" y="258"/>
                    </a:cubicBezTo>
                    <a:cubicBezTo>
                      <a:pt x="152" y="257"/>
                      <a:pt x="155" y="258"/>
                      <a:pt x="155" y="259"/>
                    </a:cubicBezTo>
                    <a:cubicBezTo>
                      <a:pt x="155" y="259"/>
                      <a:pt x="155" y="259"/>
                      <a:pt x="155" y="259"/>
                    </a:cubicBezTo>
                    <a:cubicBezTo>
                      <a:pt x="155" y="260"/>
                      <a:pt x="156" y="261"/>
                      <a:pt x="157" y="263"/>
                    </a:cubicBezTo>
                    <a:cubicBezTo>
                      <a:pt x="159" y="264"/>
                      <a:pt x="160" y="266"/>
                      <a:pt x="160" y="268"/>
                    </a:cubicBezTo>
                    <a:cubicBezTo>
                      <a:pt x="160" y="269"/>
                      <a:pt x="160" y="271"/>
                      <a:pt x="160" y="271"/>
                    </a:cubicBezTo>
                    <a:cubicBezTo>
                      <a:pt x="160" y="271"/>
                      <a:pt x="160" y="272"/>
                      <a:pt x="160" y="275"/>
                    </a:cubicBezTo>
                    <a:cubicBezTo>
                      <a:pt x="159" y="277"/>
                      <a:pt x="161" y="280"/>
                      <a:pt x="163" y="283"/>
                    </a:cubicBezTo>
                    <a:cubicBezTo>
                      <a:pt x="165" y="285"/>
                      <a:pt x="166" y="289"/>
                      <a:pt x="165" y="292"/>
                    </a:cubicBezTo>
                    <a:cubicBezTo>
                      <a:pt x="164" y="295"/>
                      <a:pt x="163" y="298"/>
                      <a:pt x="163" y="300"/>
                    </a:cubicBezTo>
                    <a:cubicBezTo>
                      <a:pt x="163" y="302"/>
                      <a:pt x="163" y="304"/>
                      <a:pt x="163" y="306"/>
                    </a:cubicBezTo>
                    <a:cubicBezTo>
                      <a:pt x="164" y="308"/>
                      <a:pt x="165" y="313"/>
                      <a:pt x="167" y="316"/>
                    </a:cubicBezTo>
                    <a:cubicBezTo>
                      <a:pt x="169" y="319"/>
                      <a:pt x="172" y="322"/>
                      <a:pt x="174" y="322"/>
                    </a:cubicBezTo>
                    <a:cubicBezTo>
                      <a:pt x="176" y="321"/>
                      <a:pt x="179" y="321"/>
                      <a:pt x="180" y="322"/>
                    </a:cubicBezTo>
                    <a:cubicBezTo>
                      <a:pt x="181" y="322"/>
                      <a:pt x="184" y="323"/>
                      <a:pt x="186" y="324"/>
                    </a:cubicBezTo>
                    <a:cubicBezTo>
                      <a:pt x="188" y="326"/>
                      <a:pt x="189" y="328"/>
                      <a:pt x="188" y="331"/>
                    </a:cubicBezTo>
                    <a:cubicBezTo>
                      <a:pt x="187" y="333"/>
                      <a:pt x="185" y="338"/>
                      <a:pt x="184" y="342"/>
                    </a:cubicBezTo>
                    <a:cubicBezTo>
                      <a:pt x="184" y="345"/>
                      <a:pt x="183" y="350"/>
                      <a:pt x="183" y="353"/>
                    </a:cubicBezTo>
                    <a:cubicBezTo>
                      <a:pt x="184" y="355"/>
                      <a:pt x="183" y="358"/>
                      <a:pt x="182" y="360"/>
                    </a:cubicBezTo>
                    <a:cubicBezTo>
                      <a:pt x="181" y="361"/>
                      <a:pt x="181" y="364"/>
                      <a:pt x="183" y="366"/>
                    </a:cubicBezTo>
                    <a:cubicBezTo>
                      <a:pt x="185" y="368"/>
                      <a:pt x="187" y="372"/>
                      <a:pt x="189" y="374"/>
                    </a:cubicBezTo>
                    <a:cubicBezTo>
                      <a:pt x="190" y="376"/>
                      <a:pt x="191" y="379"/>
                      <a:pt x="191" y="381"/>
                    </a:cubicBezTo>
                    <a:cubicBezTo>
                      <a:pt x="191" y="382"/>
                      <a:pt x="192" y="385"/>
                      <a:pt x="194" y="387"/>
                    </a:cubicBezTo>
                    <a:cubicBezTo>
                      <a:pt x="195" y="389"/>
                      <a:pt x="199" y="390"/>
                      <a:pt x="202" y="390"/>
                    </a:cubicBezTo>
                    <a:cubicBezTo>
                      <a:pt x="205" y="390"/>
                      <a:pt x="210" y="390"/>
                      <a:pt x="214" y="389"/>
                    </a:cubicBezTo>
                    <a:cubicBezTo>
                      <a:pt x="218" y="389"/>
                      <a:pt x="221" y="387"/>
                      <a:pt x="221" y="385"/>
                    </a:cubicBezTo>
                    <a:cubicBezTo>
                      <a:pt x="221" y="383"/>
                      <a:pt x="222" y="381"/>
                      <a:pt x="223" y="379"/>
                    </a:cubicBezTo>
                    <a:cubicBezTo>
                      <a:pt x="224" y="378"/>
                      <a:pt x="226" y="378"/>
                      <a:pt x="227" y="379"/>
                    </a:cubicBezTo>
                    <a:cubicBezTo>
                      <a:pt x="229" y="380"/>
                      <a:pt x="233" y="380"/>
                      <a:pt x="237" y="379"/>
                    </a:cubicBezTo>
                    <a:cubicBezTo>
                      <a:pt x="241" y="377"/>
                      <a:pt x="248" y="375"/>
                      <a:pt x="252" y="374"/>
                    </a:cubicBezTo>
                    <a:cubicBezTo>
                      <a:pt x="256" y="372"/>
                      <a:pt x="259" y="371"/>
                      <a:pt x="259" y="371"/>
                    </a:cubicBezTo>
                    <a:cubicBezTo>
                      <a:pt x="259" y="371"/>
                      <a:pt x="263" y="370"/>
                      <a:pt x="266" y="368"/>
                    </a:cubicBezTo>
                    <a:cubicBezTo>
                      <a:pt x="270" y="366"/>
                      <a:pt x="276" y="365"/>
                      <a:pt x="280" y="364"/>
                    </a:cubicBezTo>
                    <a:cubicBezTo>
                      <a:pt x="283" y="364"/>
                      <a:pt x="288" y="363"/>
                      <a:pt x="289" y="362"/>
                    </a:cubicBezTo>
                    <a:cubicBezTo>
                      <a:pt x="291" y="361"/>
                      <a:pt x="294" y="360"/>
                      <a:pt x="297" y="359"/>
                    </a:cubicBezTo>
                    <a:cubicBezTo>
                      <a:pt x="299" y="358"/>
                      <a:pt x="304" y="358"/>
                      <a:pt x="307" y="358"/>
                    </a:cubicBezTo>
                    <a:cubicBezTo>
                      <a:pt x="310" y="359"/>
                      <a:pt x="315" y="358"/>
                      <a:pt x="318" y="358"/>
                    </a:cubicBezTo>
                    <a:cubicBezTo>
                      <a:pt x="320" y="357"/>
                      <a:pt x="324" y="357"/>
                      <a:pt x="327" y="359"/>
                    </a:cubicBezTo>
                    <a:cubicBezTo>
                      <a:pt x="329" y="360"/>
                      <a:pt x="332" y="360"/>
                      <a:pt x="332" y="360"/>
                    </a:cubicBezTo>
                    <a:cubicBezTo>
                      <a:pt x="332" y="359"/>
                      <a:pt x="334" y="357"/>
                      <a:pt x="337" y="356"/>
                    </a:cubicBezTo>
                    <a:cubicBezTo>
                      <a:pt x="339" y="354"/>
                      <a:pt x="346" y="352"/>
                      <a:pt x="351" y="350"/>
                    </a:cubicBezTo>
                    <a:cubicBezTo>
                      <a:pt x="351" y="350"/>
                      <a:pt x="351" y="350"/>
                      <a:pt x="354" y="350"/>
                    </a:cubicBezTo>
                    <a:cubicBezTo>
                      <a:pt x="356" y="349"/>
                      <a:pt x="356" y="349"/>
                      <a:pt x="356" y="349"/>
                    </a:cubicBezTo>
                    <a:cubicBezTo>
                      <a:pt x="360" y="347"/>
                      <a:pt x="363" y="344"/>
                      <a:pt x="363" y="342"/>
                    </a:cubicBezTo>
                    <a:cubicBezTo>
                      <a:pt x="363" y="340"/>
                      <a:pt x="364" y="337"/>
                      <a:pt x="365" y="335"/>
                    </a:cubicBezTo>
                    <a:cubicBezTo>
                      <a:pt x="366" y="334"/>
                      <a:pt x="368" y="330"/>
                      <a:pt x="369" y="329"/>
                    </a:cubicBezTo>
                    <a:cubicBezTo>
                      <a:pt x="370" y="327"/>
                      <a:pt x="372" y="323"/>
                      <a:pt x="373" y="321"/>
                    </a:cubicBezTo>
                    <a:cubicBezTo>
                      <a:pt x="374" y="319"/>
                      <a:pt x="375" y="315"/>
                      <a:pt x="376" y="313"/>
                    </a:cubicBezTo>
                    <a:cubicBezTo>
                      <a:pt x="376" y="311"/>
                      <a:pt x="378" y="309"/>
                      <a:pt x="381" y="308"/>
                    </a:cubicBezTo>
                    <a:cubicBezTo>
                      <a:pt x="383" y="307"/>
                      <a:pt x="385" y="307"/>
                      <a:pt x="385" y="307"/>
                    </a:cubicBezTo>
                    <a:cubicBezTo>
                      <a:pt x="385" y="307"/>
                      <a:pt x="385" y="305"/>
                      <a:pt x="386" y="304"/>
                    </a:cubicBezTo>
                    <a:cubicBezTo>
                      <a:pt x="387" y="302"/>
                      <a:pt x="388" y="299"/>
                      <a:pt x="388" y="296"/>
                    </a:cubicBezTo>
                    <a:cubicBezTo>
                      <a:pt x="389" y="294"/>
                      <a:pt x="390" y="290"/>
                      <a:pt x="390" y="288"/>
                    </a:cubicBezTo>
                    <a:cubicBezTo>
                      <a:pt x="390" y="285"/>
                      <a:pt x="391" y="282"/>
                      <a:pt x="392" y="281"/>
                    </a:cubicBezTo>
                    <a:cubicBezTo>
                      <a:pt x="393" y="280"/>
                      <a:pt x="398" y="280"/>
                      <a:pt x="403" y="280"/>
                    </a:cubicBezTo>
                    <a:cubicBezTo>
                      <a:pt x="403" y="280"/>
                      <a:pt x="403" y="280"/>
                      <a:pt x="406" y="278"/>
                    </a:cubicBezTo>
                    <a:cubicBezTo>
                      <a:pt x="409" y="277"/>
                      <a:pt x="409" y="277"/>
                      <a:pt x="409" y="277"/>
                    </a:cubicBezTo>
                    <a:cubicBezTo>
                      <a:pt x="411" y="273"/>
                      <a:pt x="414" y="268"/>
                      <a:pt x="415" y="266"/>
                    </a:cubicBezTo>
                    <a:cubicBezTo>
                      <a:pt x="417" y="264"/>
                      <a:pt x="419" y="261"/>
                      <a:pt x="419" y="258"/>
                    </a:cubicBezTo>
                    <a:cubicBezTo>
                      <a:pt x="420" y="255"/>
                      <a:pt x="422" y="252"/>
                      <a:pt x="424" y="250"/>
                    </a:cubicBezTo>
                    <a:cubicBezTo>
                      <a:pt x="426" y="248"/>
                      <a:pt x="428" y="245"/>
                      <a:pt x="429" y="243"/>
                    </a:cubicBezTo>
                    <a:cubicBezTo>
                      <a:pt x="430" y="241"/>
                      <a:pt x="431" y="236"/>
                      <a:pt x="431" y="234"/>
                    </a:cubicBezTo>
                    <a:cubicBezTo>
                      <a:pt x="431" y="231"/>
                      <a:pt x="430" y="227"/>
                      <a:pt x="428" y="224"/>
                    </a:cubicBezTo>
                    <a:cubicBezTo>
                      <a:pt x="427" y="222"/>
                      <a:pt x="424" y="219"/>
                      <a:pt x="423" y="218"/>
                    </a:cubicBezTo>
                    <a:cubicBezTo>
                      <a:pt x="422" y="217"/>
                      <a:pt x="423" y="215"/>
                      <a:pt x="427" y="215"/>
                    </a:cubicBezTo>
                    <a:cubicBezTo>
                      <a:pt x="430" y="215"/>
                      <a:pt x="432" y="214"/>
                      <a:pt x="432" y="212"/>
                    </a:cubicBezTo>
                    <a:cubicBezTo>
                      <a:pt x="432" y="211"/>
                      <a:pt x="431" y="209"/>
                      <a:pt x="430" y="208"/>
                    </a:cubicBezTo>
                    <a:cubicBezTo>
                      <a:pt x="429" y="207"/>
                      <a:pt x="428" y="205"/>
                      <a:pt x="429" y="203"/>
                    </a:cubicBezTo>
                    <a:cubicBezTo>
                      <a:pt x="430" y="201"/>
                      <a:pt x="429" y="197"/>
                      <a:pt x="427" y="195"/>
                    </a:cubicBezTo>
                    <a:cubicBezTo>
                      <a:pt x="426" y="193"/>
                      <a:pt x="428" y="190"/>
                      <a:pt x="431" y="187"/>
                    </a:cubicBezTo>
                    <a:cubicBezTo>
                      <a:pt x="435" y="185"/>
                      <a:pt x="438" y="182"/>
                      <a:pt x="437" y="180"/>
                    </a:cubicBezTo>
                    <a:cubicBezTo>
                      <a:pt x="437" y="179"/>
                      <a:pt x="440" y="177"/>
                      <a:pt x="443" y="176"/>
                    </a:cubicBezTo>
                    <a:cubicBezTo>
                      <a:pt x="446" y="176"/>
                      <a:pt x="450" y="175"/>
                      <a:pt x="452" y="175"/>
                    </a:cubicBezTo>
                    <a:cubicBezTo>
                      <a:pt x="454" y="175"/>
                      <a:pt x="458" y="175"/>
                      <a:pt x="460" y="176"/>
                    </a:cubicBezTo>
                    <a:cubicBezTo>
                      <a:pt x="463" y="177"/>
                      <a:pt x="465" y="178"/>
                      <a:pt x="465" y="178"/>
                    </a:cubicBezTo>
                    <a:cubicBezTo>
                      <a:pt x="465" y="178"/>
                      <a:pt x="465" y="177"/>
                      <a:pt x="466" y="175"/>
                    </a:cubicBezTo>
                    <a:cubicBezTo>
                      <a:pt x="466" y="174"/>
                      <a:pt x="466" y="171"/>
                      <a:pt x="464" y="169"/>
                    </a:cubicBezTo>
                    <a:cubicBezTo>
                      <a:pt x="463" y="167"/>
                      <a:pt x="461" y="165"/>
                      <a:pt x="460" y="164"/>
                    </a:cubicBezTo>
                    <a:cubicBezTo>
                      <a:pt x="459" y="163"/>
                      <a:pt x="458" y="160"/>
                      <a:pt x="456" y="158"/>
                    </a:cubicBezTo>
                    <a:cubicBezTo>
                      <a:pt x="455" y="156"/>
                      <a:pt x="454" y="153"/>
                      <a:pt x="453" y="151"/>
                    </a:cubicBezTo>
                    <a:cubicBezTo>
                      <a:pt x="452" y="149"/>
                      <a:pt x="453" y="142"/>
                      <a:pt x="454" y="137"/>
                    </a:cubicBezTo>
                    <a:cubicBezTo>
                      <a:pt x="456" y="132"/>
                      <a:pt x="459" y="127"/>
                      <a:pt x="462" y="127"/>
                    </a:cubicBezTo>
                    <a:cubicBezTo>
                      <a:pt x="465" y="127"/>
                      <a:pt x="467" y="125"/>
                      <a:pt x="466" y="122"/>
                    </a:cubicBezTo>
                    <a:cubicBezTo>
                      <a:pt x="466" y="120"/>
                      <a:pt x="467" y="117"/>
                      <a:pt x="469" y="116"/>
                    </a:cubicBezTo>
                    <a:cubicBezTo>
                      <a:pt x="471" y="115"/>
                      <a:pt x="473" y="113"/>
                      <a:pt x="473" y="112"/>
                    </a:cubicBezTo>
                    <a:cubicBezTo>
                      <a:pt x="473" y="111"/>
                      <a:pt x="476" y="108"/>
                      <a:pt x="478" y="107"/>
                    </a:cubicBezTo>
                    <a:cubicBezTo>
                      <a:pt x="480" y="106"/>
                      <a:pt x="483" y="102"/>
                      <a:pt x="484" y="99"/>
                    </a:cubicBezTo>
                    <a:cubicBezTo>
                      <a:pt x="484" y="96"/>
                      <a:pt x="484" y="92"/>
                      <a:pt x="482" y="90"/>
                    </a:cubicBezTo>
                    <a:cubicBezTo>
                      <a:pt x="480" y="87"/>
                      <a:pt x="476" y="84"/>
                      <a:pt x="472" y="83"/>
                    </a:cubicBezTo>
                    <a:cubicBezTo>
                      <a:pt x="468" y="81"/>
                      <a:pt x="463" y="79"/>
                      <a:pt x="460" y="78"/>
                    </a:cubicBezTo>
                    <a:cubicBezTo>
                      <a:pt x="458" y="76"/>
                      <a:pt x="453" y="75"/>
                      <a:pt x="450" y="73"/>
                    </a:cubicBezTo>
                    <a:cubicBezTo>
                      <a:pt x="446" y="72"/>
                      <a:pt x="442" y="71"/>
                      <a:pt x="440" y="71"/>
                    </a:cubicBezTo>
                    <a:cubicBezTo>
                      <a:pt x="439" y="72"/>
                      <a:pt x="436" y="72"/>
                      <a:pt x="435" y="73"/>
                    </a:cubicBezTo>
                    <a:cubicBezTo>
                      <a:pt x="433" y="74"/>
                      <a:pt x="431" y="74"/>
                      <a:pt x="429" y="73"/>
                    </a:cubicBezTo>
                    <a:cubicBezTo>
                      <a:pt x="426" y="72"/>
                      <a:pt x="424" y="69"/>
                      <a:pt x="423" y="66"/>
                    </a:cubicBezTo>
                    <a:cubicBezTo>
                      <a:pt x="422" y="63"/>
                      <a:pt x="418" y="57"/>
                      <a:pt x="414" y="53"/>
                    </a:cubicBezTo>
                    <a:cubicBezTo>
                      <a:pt x="410" y="49"/>
                      <a:pt x="406" y="46"/>
                      <a:pt x="404" y="46"/>
                    </a:cubicBezTo>
                    <a:cubicBezTo>
                      <a:pt x="402" y="46"/>
                      <a:pt x="398" y="46"/>
                      <a:pt x="396" y="45"/>
                    </a:cubicBezTo>
                    <a:cubicBezTo>
                      <a:pt x="393" y="45"/>
                      <a:pt x="390" y="44"/>
                      <a:pt x="388" y="43"/>
                    </a:cubicBezTo>
                    <a:cubicBezTo>
                      <a:pt x="386" y="43"/>
                      <a:pt x="381" y="40"/>
                      <a:pt x="376" y="37"/>
                    </a:cubicBezTo>
                    <a:cubicBezTo>
                      <a:pt x="372" y="34"/>
                      <a:pt x="366" y="30"/>
                      <a:pt x="364" y="28"/>
                    </a:cubicBezTo>
                    <a:cubicBezTo>
                      <a:pt x="361" y="26"/>
                      <a:pt x="356" y="23"/>
                      <a:pt x="353" y="22"/>
                    </a:cubicBezTo>
                    <a:cubicBezTo>
                      <a:pt x="349" y="21"/>
                      <a:pt x="345" y="20"/>
                      <a:pt x="343" y="21"/>
                    </a:cubicBezTo>
                    <a:cubicBezTo>
                      <a:pt x="341" y="21"/>
                      <a:pt x="337" y="22"/>
                      <a:pt x="335" y="23"/>
                    </a:cubicBezTo>
                    <a:cubicBezTo>
                      <a:pt x="333" y="24"/>
                      <a:pt x="329" y="24"/>
                      <a:pt x="326" y="23"/>
                    </a:cubicBezTo>
                    <a:cubicBezTo>
                      <a:pt x="323" y="22"/>
                      <a:pt x="320" y="20"/>
                      <a:pt x="318" y="18"/>
                    </a:cubicBezTo>
                    <a:cubicBezTo>
                      <a:pt x="317" y="16"/>
                      <a:pt x="317" y="12"/>
                      <a:pt x="317" y="9"/>
                    </a:cubicBezTo>
                    <a:cubicBezTo>
                      <a:pt x="318" y="6"/>
                      <a:pt x="316" y="3"/>
                      <a:pt x="312" y="2"/>
                    </a:cubicBezTo>
                    <a:cubicBezTo>
                      <a:pt x="309" y="1"/>
                      <a:pt x="304" y="0"/>
                      <a:pt x="302" y="0"/>
                    </a:cubicBezTo>
                    <a:cubicBezTo>
                      <a:pt x="299" y="0"/>
                      <a:pt x="295" y="0"/>
                      <a:pt x="293" y="1"/>
                    </a:cubicBezTo>
                    <a:cubicBezTo>
                      <a:pt x="290" y="1"/>
                      <a:pt x="286" y="3"/>
                      <a:pt x="282" y="6"/>
                    </a:cubicBezTo>
                    <a:cubicBezTo>
                      <a:pt x="278" y="8"/>
                      <a:pt x="273" y="11"/>
                      <a:pt x="270" y="13"/>
                    </a:cubicBezTo>
                    <a:cubicBezTo>
                      <a:pt x="267" y="15"/>
                      <a:pt x="263" y="18"/>
                      <a:pt x="260" y="19"/>
                    </a:cubicBezTo>
                    <a:cubicBezTo>
                      <a:pt x="258" y="21"/>
                      <a:pt x="254" y="24"/>
                      <a:pt x="252" y="26"/>
                    </a:cubicBezTo>
                    <a:cubicBezTo>
                      <a:pt x="250" y="28"/>
                      <a:pt x="247" y="30"/>
                      <a:pt x="245" y="30"/>
                    </a:cubicBezTo>
                    <a:cubicBezTo>
                      <a:pt x="243" y="30"/>
                      <a:pt x="240" y="31"/>
                      <a:pt x="238" y="34"/>
                    </a:cubicBezTo>
                    <a:cubicBezTo>
                      <a:pt x="235" y="36"/>
                      <a:pt x="232" y="37"/>
                      <a:pt x="230" y="37"/>
                    </a:cubicBezTo>
                    <a:cubicBezTo>
                      <a:pt x="228" y="37"/>
                      <a:pt x="226" y="37"/>
                      <a:pt x="225" y="38"/>
                    </a:cubicBezTo>
                    <a:cubicBezTo>
                      <a:pt x="224" y="38"/>
                      <a:pt x="223" y="37"/>
                      <a:pt x="223" y="35"/>
                    </a:cubicBezTo>
                    <a:cubicBezTo>
                      <a:pt x="223" y="33"/>
                      <a:pt x="222" y="30"/>
                      <a:pt x="222" y="29"/>
                    </a:cubicBezTo>
                    <a:cubicBezTo>
                      <a:pt x="221" y="28"/>
                      <a:pt x="220" y="27"/>
                      <a:pt x="220" y="27"/>
                    </a:cubicBezTo>
                    <a:cubicBezTo>
                      <a:pt x="220" y="27"/>
                      <a:pt x="218" y="27"/>
                      <a:pt x="215" y="27"/>
                    </a:cubicBezTo>
                    <a:cubicBezTo>
                      <a:pt x="213" y="27"/>
                      <a:pt x="210" y="26"/>
                      <a:pt x="210" y="2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407924" tIns="203962" rIns="407924" bIns="20396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246"/>
              </a:p>
            </p:txBody>
          </p:sp>
          <p:sp>
            <p:nvSpPr>
              <p:cNvPr id="1212" name="Freeform 15">
                <a:extLst>
                  <a:ext uri="{FF2B5EF4-FFF2-40B4-BE49-F238E27FC236}">
                    <a16:creationId xmlns:a16="http://schemas.microsoft.com/office/drawing/2014/main" id="{404FEF2D-DECD-F5F3-3EDD-380D1601B3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63202" y="4078917"/>
                <a:ext cx="93160" cy="61465"/>
              </a:xfrm>
              <a:custGeom>
                <a:avLst/>
                <a:gdLst/>
                <a:ahLst/>
                <a:cxnLst>
                  <a:cxn ang="0">
                    <a:pos x="40" y="11"/>
                  </a:cxn>
                  <a:cxn ang="0">
                    <a:pos x="38" y="3"/>
                  </a:cxn>
                  <a:cxn ang="0">
                    <a:pos x="19" y="0"/>
                  </a:cxn>
                  <a:cxn ang="0">
                    <a:pos x="3" y="0"/>
                  </a:cxn>
                  <a:cxn ang="0">
                    <a:pos x="3" y="6"/>
                  </a:cxn>
                  <a:cxn ang="0">
                    <a:pos x="1" y="14"/>
                  </a:cxn>
                  <a:cxn ang="0">
                    <a:pos x="1" y="21"/>
                  </a:cxn>
                  <a:cxn ang="0">
                    <a:pos x="2" y="26"/>
                  </a:cxn>
                  <a:cxn ang="0">
                    <a:pos x="39" y="27"/>
                  </a:cxn>
                  <a:cxn ang="0">
                    <a:pos x="40" y="21"/>
                  </a:cxn>
                  <a:cxn ang="0">
                    <a:pos x="40" y="11"/>
                  </a:cxn>
                </a:cxnLst>
                <a:rect l="0" t="0" r="r" b="b"/>
                <a:pathLst>
                  <a:path w="41" h="27">
                    <a:moveTo>
                      <a:pt x="40" y="11"/>
                    </a:moveTo>
                    <a:cubicBezTo>
                      <a:pt x="40" y="8"/>
                      <a:pt x="39" y="5"/>
                      <a:pt x="38" y="3"/>
                    </a:cubicBezTo>
                    <a:cubicBezTo>
                      <a:pt x="36" y="2"/>
                      <a:pt x="28" y="0"/>
                      <a:pt x="19" y="0"/>
                    </a:cubicBezTo>
                    <a:cubicBezTo>
                      <a:pt x="11" y="0"/>
                      <a:pt x="3" y="0"/>
                      <a:pt x="3" y="0"/>
                    </a:cubicBezTo>
                    <a:cubicBezTo>
                      <a:pt x="3" y="0"/>
                      <a:pt x="3" y="3"/>
                      <a:pt x="3" y="6"/>
                    </a:cubicBezTo>
                    <a:cubicBezTo>
                      <a:pt x="3" y="9"/>
                      <a:pt x="2" y="13"/>
                      <a:pt x="1" y="14"/>
                    </a:cubicBezTo>
                    <a:cubicBezTo>
                      <a:pt x="0" y="15"/>
                      <a:pt x="0" y="19"/>
                      <a:pt x="1" y="21"/>
                    </a:cubicBezTo>
                    <a:cubicBezTo>
                      <a:pt x="1" y="24"/>
                      <a:pt x="2" y="26"/>
                      <a:pt x="2" y="26"/>
                    </a:cubicBezTo>
                    <a:cubicBezTo>
                      <a:pt x="39" y="27"/>
                      <a:pt x="39" y="27"/>
                      <a:pt x="39" y="27"/>
                    </a:cubicBezTo>
                    <a:cubicBezTo>
                      <a:pt x="39" y="27"/>
                      <a:pt x="40" y="24"/>
                      <a:pt x="40" y="21"/>
                    </a:cubicBezTo>
                    <a:cubicBezTo>
                      <a:pt x="40" y="18"/>
                      <a:pt x="41" y="13"/>
                      <a:pt x="40" y="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407924" tIns="203962" rIns="407924" bIns="20396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246">
                  <a:solidFill>
                    <a:srgbClr val="410B30"/>
                  </a:solidFill>
                </a:endParaRPr>
              </a:p>
            </p:txBody>
          </p:sp>
          <p:sp>
            <p:nvSpPr>
              <p:cNvPr id="1213" name="Freeform 16">
                <a:extLst>
                  <a:ext uri="{FF2B5EF4-FFF2-40B4-BE49-F238E27FC236}">
                    <a16:creationId xmlns:a16="http://schemas.microsoft.com/office/drawing/2014/main" id="{3C2238E0-10E1-A214-E6B3-BF04FD0B8B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32790" y="3076065"/>
                <a:ext cx="494615" cy="841326"/>
              </a:xfrm>
              <a:custGeom>
                <a:avLst/>
                <a:gdLst/>
                <a:ahLst/>
                <a:cxnLst>
                  <a:cxn ang="0">
                    <a:pos x="191" y="225"/>
                  </a:cxn>
                  <a:cxn ang="0">
                    <a:pos x="182" y="204"/>
                  </a:cxn>
                  <a:cxn ang="0">
                    <a:pos x="174" y="186"/>
                  </a:cxn>
                  <a:cxn ang="0">
                    <a:pos x="170" y="163"/>
                  </a:cxn>
                  <a:cxn ang="0">
                    <a:pos x="186" y="149"/>
                  </a:cxn>
                  <a:cxn ang="0">
                    <a:pos x="187" y="128"/>
                  </a:cxn>
                  <a:cxn ang="0">
                    <a:pos x="162" y="126"/>
                  </a:cxn>
                  <a:cxn ang="0">
                    <a:pos x="141" y="104"/>
                  </a:cxn>
                  <a:cxn ang="0">
                    <a:pos x="140" y="97"/>
                  </a:cxn>
                  <a:cxn ang="0">
                    <a:pos x="145" y="84"/>
                  </a:cxn>
                  <a:cxn ang="0">
                    <a:pos x="149" y="59"/>
                  </a:cxn>
                  <a:cxn ang="0">
                    <a:pos x="150" y="39"/>
                  </a:cxn>
                  <a:cxn ang="0">
                    <a:pos x="144" y="17"/>
                  </a:cxn>
                  <a:cxn ang="0">
                    <a:pos x="123" y="4"/>
                  </a:cxn>
                  <a:cxn ang="0">
                    <a:pos x="93" y="8"/>
                  </a:cxn>
                  <a:cxn ang="0">
                    <a:pos x="111" y="15"/>
                  </a:cxn>
                  <a:cxn ang="0">
                    <a:pos x="111" y="27"/>
                  </a:cxn>
                  <a:cxn ang="0">
                    <a:pos x="109" y="40"/>
                  </a:cxn>
                  <a:cxn ang="0">
                    <a:pos x="102" y="54"/>
                  </a:cxn>
                  <a:cxn ang="0">
                    <a:pos x="87" y="70"/>
                  </a:cxn>
                  <a:cxn ang="0">
                    <a:pos x="67" y="94"/>
                  </a:cxn>
                  <a:cxn ang="0">
                    <a:pos x="68" y="118"/>
                  </a:cxn>
                  <a:cxn ang="0">
                    <a:pos x="61" y="149"/>
                  </a:cxn>
                  <a:cxn ang="0">
                    <a:pos x="48" y="168"/>
                  </a:cxn>
                  <a:cxn ang="0">
                    <a:pos x="28" y="195"/>
                  </a:cxn>
                  <a:cxn ang="0">
                    <a:pos x="20" y="214"/>
                  </a:cxn>
                  <a:cxn ang="0">
                    <a:pos x="12" y="234"/>
                  </a:cxn>
                  <a:cxn ang="0">
                    <a:pos x="3" y="260"/>
                  </a:cxn>
                  <a:cxn ang="0">
                    <a:pos x="1" y="289"/>
                  </a:cxn>
                  <a:cxn ang="0">
                    <a:pos x="1" y="309"/>
                  </a:cxn>
                  <a:cxn ang="0">
                    <a:pos x="3" y="333"/>
                  </a:cxn>
                  <a:cxn ang="0">
                    <a:pos x="9" y="347"/>
                  </a:cxn>
                  <a:cxn ang="0">
                    <a:pos x="21" y="329"/>
                  </a:cxn>
                  <a:cxn ang="0">
                    <a:pos x="21" y="351"/>
                  </a:cxn>
                  <a:cxn ang="0">
                    <a:pos x="54" y="365"/>
                  </a:cxn>
                  <a:cxn ang="0">
                    <a:pos x="75" y="345"/>
                  </a:cxn>
                  <a:cxn ang="0">
                    <a:pos x="85" y="368"/>
                  </a:cxn>
                  <a:cxn ang="0">
                    <a:pos x="93" y="364"/>
                  </a:cxn>
                  <a:cxn ang="0">
                    <a:pos x="114" y="363"/>
                  </a:cxn>
                  <a:cxn ang="0">
                    <a:pos x="131" y="363"/>
                  </a:cxn>
                  <a:cxn ang="0">
                    <a:pos x="163" y="362"/>
                  </a:cxn>
                  <a:cxn ang="0">
                    <a:pos x="192" y="350"/>
                  </a:cxn>
                  <a:cxn ang="0">
                    <a:pos x="196" y="337"/>
                  </a:cxn>
                  <a:cxn ang="0">
                    <a:pos x="200" y="312"/>
                  </a:cxn>
                  <a:cxn ang="0">
                    <a:pos x="200" y="293"/>
                  </a:cxn>
                  <a:cxn ang="0">
                    <a:pos x="186" y="286"/>
                  </a:cxn>
                  <a:cxn ang="0">
                    <a:pos x="195" y="262"/>
                  </a:cxn>
                  <a:cxn ang="0">
                    <a:pos x="217" y="241"/>
                  </a:cxn>
                  <a:cxn ang="0">
                    <a:pos x="207" y="233"/>
                  </a:cxn>
                </a:cxnLst>
                <a:rect l="0" t="0" r="r" b="b"/>
                <a:pathLst>
                  <a:path w="218" h="371">
                    <a:moveTo>
                      <a:pt x="207" y="233"/>
                    </a:moveTo>
                    <a:cubicBezTo>
                      <a:pt x="204" y="232"/>
                      <a:pt x="200" y="230"/>
                      <a:pt x="198" y="230"/>
                    </a:cubicBezTo>
                    <a:cubicBezTo>
                      <a:pt x="195" y="230"/>
                      <a:pt x="192" y="228"/>
                      <a:pt x="191" y="225"/>
                    </a:cubicBezTo>
                    <a:cubicBezTo>
                      <a:pt x="189" y="223"/>
                      <a:pt x="187" y="219"/>
                      <a:pt x="186" y="217"/>
                    </a:cubicBezTo>
                    <a:cubicBezTo>
                      <a:pt x="185" y="215"/>
                      <a:pt x="183" y="213"/>
                      <a:pt x="182" y="211"/>
                    </a:cubicBezTo>
                    <a:cubicBezTo>
                      <a:pt x="181" y="210"/>
                      <a:pt x="181" y="206"/>
                      <a:pt x="182" y="204"/>
                    </a:cubicBezTo>
                    <a:cubicBezTo>
                      <a:pt x="184" y="201"/>
                      <a:pt x="183" y="198"/>
                      <a:pt x="181" y="197"/>
                    </a:cubicBezTo>
                    <a:cubicBezTo>
                      <a:pt x="178" y="196"/>
                      <a:pt x="176" y="194"/>
                      <a:pt x="175" y="193"/>
                    </a:cubicBezTo>
                    <a:cubicBezTo>
                      <a:pt x="175" y="192"/>
                      <a:pt x="174" y="188"/>
                      <a:pt x="174" y="186"/>
                    </a:cubicBezTo>
                    <a:cubicBezTo>
                      <a:pt x="173" y="183"/>
                      <a:pt x="171" y="179"/>
                      <a:pt x="168" y="178"/>
                    </a:cubicBezTo>
                    <a:cubicBezTo>
                      <a:pt x="165" y="177"/>
                      <a:pt x="165" y="174"/>
                      <a:pt x="166" y="172"/>
                    </a:cubicBezTo>
                    <a:cubicBezTo>
                      <a:pt x="168" y="169"/>
                      <a:pt x="170" y="165"/>
                      <a:pt x="170" y="163"/>
                    </a:cubicBezTo>
                    <a:cubicBezTo>
                      <a:pt x="170" y="161"/>
                      <a:pt x="171" y="158"/>
                      <a:pt x="173" y="156"/>
                    </a:cubicBezTo>
                    <a:cubicBezTo>
                      <a:pt x="175" y="154"/>
                      <a:pt x="178" y="151"/>
                      <a:pt x="180" y="150"/>
                    </a:cubicBezTo>
                    <a:cubicBezTo>
                      <a:pt x="182" y="149"/>
                      <a:pt x="185" y="149"/>
                      <a:pt x="186" y="149"/>
                    </a:cubicBezTo>
                    <a:cubicBezTo>
                      <a:pt x="188" y="149"/>
                      <a:pt x="189" y="147"/>
                      <a:pt x="189" y="144"/>
                    </a:cubicBezTo>
                    <a:cubicBezTo>
                      <a:pt x="189" y="142"/>
                      <a:pt x="189" y="138"/>
                      <a:pt x="190" y="135"/>
                    </a:cubicBezTo>
                    <a:cubicBezTo>
                      <a:pt x="190" y="132"/>
                      <a:pt x="189" y="129"/>
                      <a:pt x="187" y="128"/>
                    </a:cubicBezTo>
                    <a:cubicBezTo>
                      <a:pt x="186" y="126"/>
                      <a:pt x="182" y="126"/>
                      <a:pt x="179" y="127"/>
                    </a:cubicBezTo>
                    <a:cubicBezTo>
                      <a:pt x="176" y="128"/>
                      <a:pt x="172" y="130"/>
                      <a:pt x="170" y="130"/>
                    </a:cubicBezTo>
                    <a:cubicBezTo>
                      <a:pt x="168" y="131"/>
                      <a:pt x="165" y="129"/>
                      <a:pt x="162" y="126"/>
                    </a:cubicBezTo>
                    <a:cubicBezTo>
                      <a:pt x="159" y="122"/>
                      <a:pt x="155" y="117"/>
                      <a:pt x="153" y="114"/>
                    </a:cubicBezTo>
                    <a:cubicBezTo>
                      <a:pt x="150" y="111"/>
                      <a:pt x="147" y="108"/>
                      <a:pt x="145" y="106"/>
                    </a:cubicBezTo>
                    <a:cubicBezTo>
                      <a:pt x="143" y="105"/>
                      <a:pt x="141" y="104"/>
                      <a:pt x="141" y="104"/>
                    </a:cubicBezTo>
                    <a:cubicBezTo>
                      <a:pt x="141" y="104"/>
                      <a:pt x="142" y="103"/>
                      <a:pt x="143" y="102"/>
                    </a:cubicBezTo>
                    <a:cubicBezTo>
                      <a:pt x="144" y="101"/>
                      <a:pt x="145" y="100"/>
                      <a:pt x="144" y="99"/>
                    </a:cubicBezTo>
                    <a:cubicBezTo>
                      <a:pt x="143" y="98"/>
                      <a:pt x="141" y="97"/>
                      <a:pt x="140" y="97"/>
                    </a:cubicBezTo>
                    <a:cubicBezTo>
                      <a:pt x="138" y="96"/>
                      <a:pt x="137" y="95"/>
                      <a:pt x="137" y="93"/>
                    </a:cubicBezTo>
                    <a:cubicBezTo>
                      <a:pt x="136" y="92"/>
                      <a:pt x="138" y="89"/>
                      <a:pt x="140" y="88"/>
                    </a:cubicBezTo>
                    <a:cubicBezTo>
                      <a:pt x="142" y="87"/>
                      <a:pt x="144" y="85"/>
                      <a:pt x="145" y="84"/>
                    </a:cubicBezTo>
                    <a:cubicBezTo>
                      <a:pt x="146" y="83"/>
                      <a:pt x="147" y="80"/>
                      <a:pt x="147" y="77"/>
                    </a:cubicBezTo>
                    <a:cubicBezTo>
                      <a:pt x="147" y="74"/>
                      <a:pt x="147" y="70"/>
                      <a:pt x="148" y="67"/>
                    </a:cubicBezTo>
                    <a:cubicBezTo>
                      <a:pt x="149" y="64"/>
                      <a:pt x="149" y="60"/>
                      <a:pt x="149" y="59"/>
                    </a:cubicBezTo>
                    <a:cubicBezTo>
                      <a:pt x="149" y="57"/>
                      <a:pt x="150" y="55"/>
                      <a:pt x="151" y="54"/>
                    </a:cubicBezTo>
                    <a:cubicBezTo>
                      <a:pt x="152" y="53"/>
                      <a:pt x="152" y="50"/>
                      <a:pt x="151" y="48"/>
                    </a:cubicBezTo>
                    <a:cubicBezTo>
                      <a:pt x="150" y="45"/>
                      <a:pt x="149" y="41"/>
                      <a:pt x="150" y="39"/>
                    </a:cubicBezTo>
                    <a:cubicBezTo>
                      <a:pt x="150" y="37"/>
                      <a:pt x="150" y="34"/>
                      <a:pt x="149" y="32"/>
                    </a:cubicBezTo>
                    <a:cubicBezTo>
                      <a:pt x="148" y="29"/>
                      <a:pt x="148" y="26"/>
                      <a:pt x="147" y="24"/>
                    </a:cubicBezTo>
                    <a:cubicBezTo>
                      <a:pt x="147" y="21"/>
                      <a:pt x="146" y="18"/>
                      <a:pt x="144" y="17"/>
                    </a:cubicBezTo>
                    <a:cubicBezTo>
                      <a:pt x="143" y="15"/>
                      <a:pt x="140" y="14"/>
                      <a:pt x="137" y="13"/>
                    </a:cubicBezTo>
                    <a:cubicBezTo>
                      <a:pt x="134" y="12"/>
                      <a:pt x="131" y="9"/>
                      <a:pt x="130" y="7"/>
                    </a:cubicBezTo>
                    <a:cubicBezTo>
                      <a:pt x="129" y="4"/>
                      <a:pt x="126" y="3"/>
                      <a:pt x="123" y="4"/>
                    </a:cubicBezTo>
                    <a:cubicBezTo>
                      <a:pt x="120" y="5"/>
                      <a:pt x="116" y="4"/>
                      <a:pt x="114" y="2"/>
                    </a:cubicBezTo>
                    <a:cubicBezTo>
                      <a:pt x="111" y="0"/>
                      <a:pt x="106" y="1"/>
                      <a:pt x="101" y="3"/>
                    </a:cubicBezTo>
                    <a:cubicBezTo>
                      <a:pt x="97" y="6"/>
                      <a:pt x="93" y="8"/>
                      <a:pt x="93" y="8"/>
                    </a:cubicBezTo>
                    <a:cubicBezTo>
                      <a:pt x="93" y="8"/>
                      <a:pt x="95" y="8"/>
                      <a:pt x="97" y="9"/>
                    </a:cubicBezTo>
                    <a:cubicBezTo>
                      <a:pt x="100" y="10"/>
                      <a:pt x="103" y="11"/>
                      <a:pt x="105" y="12"/>
                    </a:cubicBezTo>
                    <a:cubicBezTo>
                      <a:pt x="107" y="13"/>
                      <a:pt x="110" y="14"/>
                      <a:pt x="111" y="15"/>
                    </a:cubicBezTo>
                    <a:cubicBezTo>
                      <a:pt x="112" y="17"/>
                      <a:pt x="114" y="19"/>
                      <a:pt x="115" y="20"/>
                    </a:cubicBezTo>
                    <a:cubicBezTo>
                      <a:pt x="116" y="22"/>
                      <a:pt x="115" y="23"/>
                      <a:pt x="114" y="24"/>
                    </a:cubicBezTo>
                    <a:cubicBezTo>
                      <a:pt x="112" y="25"/>
                      <a:pt x="111" y="26"/>
                      <a:pt x="111" y="27"/>
                    </a:cubicBezTo>
                    <a:cubicBezTo>
                      <a:pt x="111" y="29"/>
                      <a:pt x="111" y="31"/>
                      <a:pt x="112" y="32"/>
                    </a:cubicBezTo>
                    <a:cubicBezTo>
                      <a:pt x="112" y="33"/>
                      <a:pt x="112" y="35"/>
                      <a:pt x="111" y="36"/>
                    </a:cubicBezTo>
                    <a:cubicBezTo>
                      <a:pt x="110" y="36"/>
                      <a:pt x="109" y="38"/>
                      <a:pt x="109" y="40"/>
                    </a:cubicBezTo>
                    <a:cubicBezTo>
                      <a:pt x="109" y="42"/>
                      <a:pt x="108" y="44"/>
                      <a:pt x="107" y="44"/>
                    </a:cubicBezTo>
                    <a:cubicBezTo>
                      <a:pt x="106" y="45"/>
                      <a:pt x="105" y="47"/>
                      <a:pt x="105" y="49"/>
                    </a:cubicBezTo>
                    <a:cubicBezTo>
                      <a:pt x="105" y="51"/>
                      <a:pt x="103" y="53"/>
                      <a:pt x="102" y="54"/>
                    </a:cubicBezTo>
                    <a:cubicBezTo>
                      <a:pt x="100" y="55"/>
                      <a:pt x="97" y="56"/>
                      <a:pt x="96" y="58"/>
                    </a:cubicBezTo>
                    <a:cubicBezTo>
                      <a:pt x="95" y="60"/>
                      <a:pt x="93" y="63"/>
                      <a:pt x="93" y="65"/>
                    </a:cubicBezTo>
                    <a:cubicBezTo>
                      <a:pt x="93" y="66"/>
                      <a:pt x="90" y="69"/>
                      <a:pt x="87" y="70"/>
                    </a:cubicBezTo>
                    <a:cubicBezTo>
                      <a:pt x="83" y="71"/>
                      <a:pt x="79" y="73"/>
                      <a:pt x="76" y="74"/>
                    </a:cubicBezTo>
                    <a:cubicBezTo>
                      <a:pt x="73" y="75"/>
                      <a:pt x="70" y="79"/>
                      <a:pt x="69" y="83"/>
                    </a:cubicBezTo>
                    <a:cubicBezTo>
                      <a:pt x="68" y="86"/>
                      <a:pt x="67" y="91"/>
                      <a:pt x="67" y="94"/>
                    </a:cubicBezTo>
                    <a:cubicBezTo>
                      <a:pt x="67" y="97"/>
                      <a:pt x="66" y="101"/>
                      <a:pt x="64" y="103"/>
                    </a:cubicBezTo>
                    <a:cubicBezTo>
                      <a:pt x="63" y="105"/>
                      <a:pt x="62" y="109"/>
                      <a:pt x="63" y="111"/>
                    </a:cubicBezTo>
                    <a:cubicBezTo>
                      <a:pt x="64" y="113"/>
                      <a:pt x="67" y="116"/>
                      <a:pt x="68" y="118"/>
                    </a:cubicBezTo>
                    <a:cubicBezTo>
                      <a:pt x="70" y="120"/>
                      <a:pt x="70" y="124"/>
                      <a:pt x="69" y="128"/>
                    </a:cubicBezTo>
                    <a:cubicBezTo>
                      <a:pt x="68" y="132"/>
                      <a:pt x="66" y="138"/>
                      <a:pt x="66" y="140"/>
                    </a:cubicBezTo>
                    <a:cubicBezTo>
                      <a:pt x="65" y="143"/>
                      <a:pt x="63" y="147"/>
                      <a:pt x="61" y="149"/>
                    </a:cubicBezTo>
                    <a:cubicBezTo>
                      <a:pt x="59" y="151"/>
                      <a:pt x="57" y="154"/>
                      <a:pt x="57" y="156"/>
                    </a:cubicBezTo>
                    <a:cubicBezTo>
                      <a:pt x="56" y="158"/>
                      <a:pt x="54" y="161"/>
                      <a:pt x="53" y="164"/>
                    </a:cubicBezTo>
                    <a:cubicBezTo>
                      <a:pt x="52" y="166"/>
                      <a:pt x="49" y="168"/>
                      <a:pt x="48" y="168"/>
                    </a:cubicBezTo>
                    <a:cubicBezTo>
                      <a:pt x="47" y="168"/>
                      <a:pt x="44" y="170"/>
                      <a:pt x="42" y="173"/>
                    </a:cubicBezTo>
                    <a:cubicBezTo>
                      <a:pt x="40" y="175"/>
                      <a:pt x="37" y="180"/>
                      <a:pt x="34" y="183"/>
                    </a:cubicBezTo>
                    <a:cubicBezTo>
                      <a:pt x="32" y="186"/>
                      <a:pt x="29" y="192"/>
                      <a:pt x="28" y="195"/>
                    </a:cubicBezTo>
                    <a:cubicBezTo>
                      <a:pt x="27" y="198"/>
                      <a:pt x="25" y="203"/>
                      <a:pt x="24" y="206"/>
                    </a:cubicBezTo>
                    <a:cubicBezTo>
                      <a:pt x="22" y="209"/>
                      <a:pt x="21" y="211"/>
                      <a:pt x="21" y="211"/>
                    </a:cubicBezTo>
                    <a:cubicBezTo>
                      <a:pt x="21" y="211"/>
                      <a:pt x="20" y="212"/>
                      <a:pt x="20" y="214"/>
                    </a:cubicBezTo>
                    <a:cubicBezTo>
                      <a:pt x="19" y="216"/>
                      <a:pt x="18" y="219"/>
                      <a:pt x="16" y="221"/>
                    </a:cubicBezTo>
                    <a:cubicBezTo>
                      <a:pt x="15" y="222"/>
                      <a:pt x="14" y="225"/>
                      <a:pt x="14" y="227"/>
                    </a:cubicBezTo>
                    <a:cubicBezTo>
                      <a:pt x="14" y="229"/>
                      <a:pt x="14" y="232"/>
                      <a:pt x="12" y="234"/>
                    </a:cubicBezTo>
                    <a:cubicBezTo>
                      <a:pt x="11" y="236"/>
                      <a:pt x="10" y="238"/>
                      <a:pt x="9" y="239"/>
                    </a:cubicBezTo>
                    <a:cubicBezTo>
                      <a:pt x="9" y="240"/>
                      <a:pt x="7" y="244"/>
                      <a:pt x="6" y="247"/>
                    </a:cubicBezTo>
                    <a:cubicBezTo>
                      <a:pt x="5" y="250"/>
                      <a:pt x="3" y="256"/>
                      <a:pt x="3" y="260"/>
                    </a:cubicBezTo>
                    <a:cubicBezTo>
                      <a:pt x="3" y="264"/>
                      <a:pt x="2" y="270"/>
                      <a:pt x="2" y="272"/>
                    </a:cubicBezTo>
                    <a:cubicBezTo>
                      <a:pt x="2" y="274"/>
                      <a:pt x="1" y="279"/>
                      <a:pt x="0" y="282"/>
                    </a:cubicBezTo>
                    <a:cubicBezTo>
                      <a:pt x="0" y="285"/>
                      <a:pt x="0" y="288"/>
                      <a:pt x="1" y="289"/>
                    </a:cubicBezTo>
                    <a:cubicBezTo>
                      <a:pt x="1" y="291"/>
                      <a:pt x="1" y="293"/>
                      <a:pt x="1" y="295"/>
                    </a:cubicBezTo>
                    <a:cubicBezTo>
                      <a:pt x="0" y="296"/>
                      <a:pt x="0" y="299"/>
                      <a:pt x="1" y="300"/>
                    </a:cubicBezTo>
                    <a:cubicBezTo>
                      <a:pt x="1" y="302"/>
                      <a:pt x="2" y="306"/>
                      <a:pt x="1" y="309"/>
                    </a:cubicBezTo>
                    <a:cubicBezTo>
                      <a:pt x="1" y="312"/>
                      <a:pt x="1" y="316"/>
                      <a:pt x="1" y="318"/>
                    </a:cubicBezTo>
                    <a:cubicBezTo>
                      <a:pt x="1" y="319"/>
                      <a:pt x="2" y="322"/>
                      <a:pt x="3" y="324"/>
                    </a:cubicBezTo>
                    <a:cubicBezTo>
                      <a:pt x="4" y="325"/>
                      <a:pt x="4" y="330"/>
                      <a:pt x="3" y="333"/>
                    </a:cubicBezTo>
                    <a:cubicBezTo>
                      <a:pt x="3" y="336"/>
                      <a:pt x="2" y="340"/>
                      <a:pt x="3" y="342"/>
                    </a:cubicBezTo>
                    <a:cubicBezTo>
                      <a:pt x="4" y="343"/>
                      <a:pt x="5" y="345"/>
                      <a:pt x="7" y="346"/>
                    </a:cubicBezTo>
                    <a:cubicBezTo>
                      <a:pt x="8" y="346"/>
                      <a:pt x="9" y="347"/>
                      <a:pt x="9" y="347"/>
                    </a:cubicBezTo>
                    <a:cubicBezTo>
                      <a:pt x="9" y="347"/>
                      <a:pt x="10" y="344"/>
                      <a:pt x="12" y="341"/>
                    </a:cubicBezTo>
                    <a:cubicBezTo>
                      <a:pt x="13" y="337"/>
                      <a:pt x="15" y="334"/>
                      <a:pt x="16" y="332"/>
                    </a:cubicBezTo>
                    <a:cubicBezTo>
                      <a:pt x="17" y="331"/>
                      <a:pt x="19" y="330"/>
                      <a:pt x="21" y="329"/>
                    </a:cubicBezTo>
                    <a:cubicBezTo>
                      <a:pt x="23" y="328"/>
                      <a:pt x="24" y="330"/>
                      <a:pt x="23" y="332"/>
                    </a:cubicBezTo>
                    <a:cubicBezTo>
                      <a:pt x="21" y="335"/>
                      <a:pt x="20" y="340"/>
                      <a:pt x="19" y="343"/>
                    </a:cubicBezTo>
                    <a:cubicBezTo>
                      <a:pt x="19" y="346"/>
                      <a:pt x="20" y="350"/>
                      <a:pt x="21" y="351"/>
                    </a:cubicBezTo>
                    <a:cubicBezTo>
                      <a:pt x="22" y="353"/>
                      <a:pt x="27" y="355"/>
                      <a:pt x="31" y="357"/>
                    </a:cubicBezTo>
                    <a:cubicBezTo>
                      <a:pt x="34" y="358"/>
                      <a:pt x="41" y="360"/>
                      <a:pt x="44" y="362"/>
                    </a:cubicBezTo>
                    <a:cubicBezTo>
                      <a:pt x="48" y="363"/>
                      <a:pt x="52" y="365"/>
                      <a:pt x="54" y="365"/>
                    </a:cubicBezTo>
                    <a:cubicBezTo>
                      <a:pt x="55" y="365"/>
                      <a:pt x="57" y="363"/>
                      <a:pt x="59" y="360"/>
                    </a:cubicBezTo>
                    <a:cubicBezTo>
                      <a:pt x="60" y="358"/>
                      <a:pt x="63" y="352"/>
                      <a:pt x="66" y="348"/>
                    </a:cubicBezTo>
                    <a:cubicBezTo>
                      <a:pt x="69" y="345"/>
                      <a:pt x="73" y="343"/>
                      <a:pt x="75" y="345"/>
                    </a:cubicBezTo>
                    <a:cubicBezTo>
                      <a:pt x="78" y="347"/>
                      <a:pt x="80" y="351"/>
                      <a:pt x="81" y="353"/>
                    </a:cubicBezTo>
                    <a:cubicBezTo>
                      <a:pt x="83" y="356"/>
                      <a:pt x="84" y="359"/>
                      <a:pt x="84" y="361"/>
                    </a:cubicBezTo>
                    <a:cubicBezTo>
                      <a:pt x="85" y="364"/>
                      <a:pt x="85" y="366"/>
                      <a:pt x="85" y="368"/>
                    </a:cubicBezTo>
                    <a:cubicBezTo>
                      <a:pt x="85" y="369"/>
                      <a:pt x="85" y="370"/>
                      <a:pt x="86" y="370"/>
                    </a:cubicBezTo>
                    <a:cubicBezTo>
                      <a:pt x="87" y="371"/>
                      <a:pt x="88" y="369"/>
                      <a:pt x="88" y="367"/>
                    </a:cubicBezTo>
                    <a:cubicBezTo>
                      <a:pt x="89" y="365"/>
                      <a:pt x="91" y="364"/>
                      <a:pt x="93" y="364"/>
                    </a:cubicBezTo>
                    <a:cubicBezTo>
                      <a:pt x="94" y="364"/>
                      <a:pt x="98" y="363"/>
                      <a:pt x="101" y="363"/>
                    </a:cubicBezTo>
                    <a:cubicBezTo>
                      <a:pt x="104" y="362"/>
                      <a:pt x="108" y="361"/>
                      <a:pt x="109" y="361"/>
                    </a:cubicBezTo>
                    <a:cubicBezTo>
                      <a:pt x="110" y="361"/>
                      <a:pt x="113" y="362"/>
                      <a:pt x="114" y="363"/>
                    </a:cubicBezTo>
                    <a:cubicBezTo>
                      <a:pt x="116" y="364"/>
                      <a:pt x="120" y="367"/>
                      <a:pt x="125" y="369"/>
                    </a:cubicBezTo>
                    <a:cubicBezTo>
                      <a:pt x="129" y="371"/>
                      <a:pt x="132" y="371"/>
                      <a:pt x="131" y="368"/>
                    </a:cubicBezTo>
                    <a:cubicBezTo>
                      <a:pt x="130" y="366"/>
                      <a:pt x="130" y="363"/>
                      <a:pt x="131" y="363"/>
                    </a:cubicBezTo>
                    <a:cubicBezTo>
                      <a:pt x="132" y="362"/>
                      <a:pt x="135" y="363"/>
                      <a:pt x="137" y="365"/>
                    </a:cubicBezTo>
                    <a:cubicBezTo>
                      <a:pt x="140" y="367"/>
                      <a:pt x="145" y="367"/>
                      <a:pt x="149" y="365"/>
                    </a:cubicBezTo>
                    <a:cubicBezTo>
                      <a:pt x="153" y="364"/>
                      <a:pt x="159" y="362"/>
                      <a:pt x="163" y="362"/>
                    </a:cubicBezTo>
                    <a:cubicBezTo>
                      <a:pt x="166" y="362"/>
                      <a:pt x="171" y="360"/>
                      <a:pt x="173" y="357"/>
                    </a:cubicBezTo>
                    <a:cubicBezTo>
                      <a:pt x="176" y="355"/>
                      <a:pt x="180" y="353"/>
                      <a:pt x="183" y="352"/>
                    </a:cubicBezTo>
                    <a:cubicBezTo>
                      <a:pt x="185" y="352"/>
                      <a:pt x="189" y="351"/>
                      <a:pt x="192" y="350"/>
                    </a:cubicBezTo>
                    <a:cubicBezTo>
                      <a:pt x="194" y="350"/>
                      <a:pt x="196" y="349"/>
                      <a:pt x="196" y="349"/>
                    </a:cubicBezTo>
                    <a:cubicBezTo>
                      <a:pt x="196" y="349"/>
                      <a:pt x="197" y="347"/>
                      <a:pt x="198" y="345"/>
                    </a:cubicBezTo>
                    <a:cubicBezTo>
                      <a:pt x="199" y="343"/>
                      <a:pt x="198" y="339"/>
                      <a:pt x="196" y="337"/>
                    </a:cubicBezTo>
                    <a:cubicBezTo>
                      <a:pt x="194" y="334"/>
                      <a:pt x="192" y="330"/>
                      <a:pt x="192" y="326"/>
                    </a:cubicBezTo>
                    <a:cubicBezTo>
                      <a:pt x="192" y="323"/>
                      <a:pt x="192" y="319"/>
                      <a:pt x="193" y="318"/>
                    </a:cubicBezTo>
                    <a:cubicBezTo>
                      <a:pt x="194" y="316"/>
                      <a:pt x="197" y="314"/>
                      <a:pt x="200" y="312"/>
                    </a:cubicBezTo>
                    <a:cubicBezTo>
                      <a:pt x="203" y="311"/>
                      <a:pt x="203" y="308"/>
                      <a:pt x="200" y="307"/>
                    </a:cubicBezTo>
                    <a:cubicBezTo>
                      <a:pt x="197" y="305"/>
                      <a:pt x="197" y="303"/>
                      <a:pt x="200" y="301"/>
                    </a:cubicBezTo>
                    <a:cubicBezTo>
                      <a:pt x="203" y="299"/>
                      <a:pt x="203" y="296"/>
                      <a:pt x="200" y="293"/>
                    </a:cubicBezTo>
                    <a:cubicBezTo>
                      <a:pt x="200" y="293"/>
                      <a:pt x="200" y="293"/>
                      <a:pt x="197" y="292"/>
                    </a:cubicBezTo>
                    <a:cubicBezTo>
                      <a:pt x="194" y="291"/>
                      <a:pt x="194" y="291"/>
                      <a:pt x="194" y="291"/>
                    </a:cubicBezTo>
                    <a:cubicBezTo>
                      <a:pt x="191" y="291"/>
                      <a:pt x="188" y="288"/>
                      <a:pt x="186" y="286"/>
                    </a:cubicBezTo>
                    <a:cubicBezTo>
                      <a:pt x="184" y="283"/>
                      <a:pt x="184" y="279"/>
                      <a:pt x="186" y="277"/>
                    </a:cubicBezTo>
                    <a:cubicBezTo>
                      <a:pt x="188" y="275"/>
                      <a:pt x="191" y="272"/>
                      <a:pt x="192" y="270"/>
                    </a:cubicBezTo>
                    <a:cubicBezTo>
                      <a:pt x="193" y="268"/>
                      <a:pt x="194" y="264"/>
                      <a:pt x="195" y="262"/>
                    </a:cubicBezTo>
                    <a:cubicBezTo>
                      <a:pt x="195" y="259"/>
                      <a:pt x="199" y="254"/>
                      <a:pt x="202" y="251"/>
                    </a:cubicBezTo>
                    <a:cubicBezTo>
                      <a:pt x="205" y="248"/>
                      <a:pt x="210" y="246"/>
                      <a:pt x="212" y="246"/>
                    </a:cubicBezTo>
                    <a:cubicBezTo>
                      <a:pt x="215" y="245"/>
                      <a:pt x="217" y="243"/>
                      <a:pt x="217" y="241"/>
                    </a:cubicBezTo>
                    <a:cubicBezTo>
                      <a:pt x="218" y="239"/>
                      <a:pt x="218" y="238"/>
                      <a:pt x="218" y="238"/>
                    </a:cubicBezTo>
                    <a:cubicBezTo>
                      <a:pt x="211" y="236"/>
                      <a:pt x="211" y="236"/>
                      <a:pt x="211" y="236"/>
                    </a:cubicBezTo>
                    <a:cubicBezTo>
                      <a:pt x="211" y="236"/>
                      <a:pt x="209" y="235"/>
                      <a:pt x="207" y="23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407924" tIns="203962" rIns="407924" bIns="20396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246"/>
              </a:p>
            </p:txBody>
          </p:sp>
          <p:sp>
            <p:nvSpPr>
              <p:cNvPr id="1214" name="Freeform 17">
                <a:extLst>
                  <a:ext uri="{FF2B5EF4-FFF2-40B4-BE49-F238E27FC236}">
                    <a16:creationId xmlns:a16="http://schemas.microsoft.com/office/drawing/2014/main" id="{0746F363-99BB-755B-C5F1-2A0EC4519E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06902" y="2896685"/>
                <a:ext cx="414902" cy="523428"/>
              </a:xfrm>
              <a:custGeom>
                <a:avLst/>
                <a:gdLst/>
                <a:ahLst/>
                <a:cxnLst>
                  <a:cxn ang="0">
                    <a:pos x="1" y="22"/>
                  </a:cxn>
                  <a:cxn ang="0">
                    <a:pos x="6" y="44"/>
                  </a:cxn>
                  <a:cxn ang="0">
                    <a:pos x="13" y="63"/>
                  </a:cxn>
                  <a:cxn ang="0">
                    <a:pos x="9" y="85"/>
                  </a:cxn>
                  <a:cxn ang="0">
                    <a:pos x="14" y="105"/>
                  </a:cxn>
                  <a:cxn ang="0">
                    <a:pos x="20" y="126"/>
                  </a:cxn>
                  <a:cxn ang="0">
                    <a:pos x="23" y="151"/>
                  </a:cxn>
                  <a:cxn ang="0">
                    <a:pos x="26" y="169"/>
                  </a:cxn>
                  <a:cxn ang="0">
                    <a:pos x="38" y="180"/>
                  </a:cxn>
                  <a:cxn ang="0">
                    <a:pos x="33" y="196"/>
                  </a:cxn>
                  <a:cxn ang="0">
                    <a:pos x="29" y="207"/>
                  </a:cxn>
                  <a:cxn ang="0">
                    <a:pos x="46" y="208"/>
                  </a:cxn>
                  <a:cxn ang="0">
                    <a:pos x="67" y="207"/>
                  </a:cxn>
                  <a:cxn ang="0">
                    <a:pos x="83" y="216"/>
                  </a:cxn>
                  <a:cxn ang="0">
                    <a:pos x="94" y="227"/>
                  </a:cxn>
                  <a:cxn ang="0">
                    <a:pos x="106" y="229"/>
                  </a:cxn>
                  <a:cxn ang="0">
                    <a:pos x="116" y="222"/>
                  </a:cxn>
                  <a:cxn ang="0">
                    <a:pos x="122" y="210"/>
                  </a:cxn>
                  <a:cxn ang="0">
                    <a:pos x="118" y="200"/>
                  </a:cxn>
                  <a:cxn ang="0">
                    <a:pos x="116" y="188"/>
                  </a:cxn>
                  <a:cxn ang="0">
                    <a:pos x="122" y="171"/>
                  </a:cxn>
                  <a:cxn ang="0">
                    <a:pos x="123" y="163"/>
                  </a:cxn>
                  <a:cxn ang="0">
                    <a:pos x="132" y="152"/>
                  </a:cxn>
                  <a:cxn ang="0">
                    <a:pos x="145" y="138"/>
                  </a:cxn>
                  <a:cxn ang="0">
                    <a:pos x="159" y="114"/>
                  </a:cxn>
                  <a:cxn ang="0">
                    <a:pos x="178" y="99"/>
                  </a:cxn>
                  <a:cxn ang="0">
                    <a:pos x="182" y="95"/>
                  </a:cxn>
                  <a:cxn ang="0">
                    <a:pos x="169" y="89"/>
                  </a:cxn>
                  <a:cxn ang="0">
                    <a:pos x="159" y="78"/>
                  </a:cxn>
                  <a:cxn ang="0">
                    <a:pos x="143" y="62"/>
                  </a:cxn>
                  <a:cxn ang="0">
                    <a:pos x="126" y="45"/>
                  </a:cxn>
                  <a:cxn ang="0">
                    <a:pos x="111" y="32"/>
                  </a:cxn>
                  <a:cxn ang="0">
                    <a:pos x="91" y="20"/>
                  </a:cxn>
                  <a:cxn ang="0">
                    <a:pos x="68" y="5"/>
                  </a:cxn>
                  <a:cxn ang="0">
                    <a:pos x="42" y="1"/>
                  </a:cxn>
                  <a:cxn ang="0">
                    <a:pos x="22" y="3"/>
                  </a:cxn>
                  <a:cxn ang="0">
                    <a:pos x="8" y="4"/>
                  </a:cxn>
                  <a:cxn ang="0">
                    <a:pos x="7" y="9"/>
                  </a:cxn>
                </a:cxnLst>
                <a:rect l="0" t="0" r="r" b="b"/>
                <a:pathLst>
                  <a:path w="183" h="231">
                    <a:moveTo>
                      <a:pt x="4" y="14"/>
                    </a:moveTo>
                    <a:cubicBezTo>
                      <a:pt x="3" y="16"/>
                      <a:pt x="1" y="20"/>
                      <a:pt x="1" y="22"/>
                    </a:cubicBezTo>
                    <a:cubicBezTo>
                      <a:pt x="0" y="24"/>
                      <a:pt x="0" y="29"/>
                      <a:pt x="1" y="32"/>
                    </a:cubicBezTo>
                    <a:cubicBezTo>
                      <a:pt x="3" y="36"/>
                      <a:pt x="5" y="41"/>
                      <a:pt x="6" y="44"/>
                    </a:cubicBezTo>
                    <a:cubicBezTo>
                      <a:pt x="8" y="47"/>
                      <a:pt x="10" y="52"/>
                      <a:pt x="11" y="55"/>
                    </a:cubicBezTo>
                    <a:cubicBezTo>
                      <a:pt x="12" y="58"/>
                      <a:pt x="13" y="62"/>
                      <a:pt x="13" y="63"/>
                    </a:cubicBezTo>
                    <a:cubicBezTo>
                      <a:pt x="13" y="65"/>
                      <a:pt x="12" y="69"/>
                      <a:pt x="10" y="73"/>
                    </a:cubicBezTo>
                    <a:cubicBezTo>
                      <a:pt x="9" y="76"/>
                      <a:pt x="8" y="82"/>
                      <a:pt x="9" y="85"/>
                    </a:cubicBezTo>
                    <a:cubicBezTo>
                      <a:pt x="10" y="89"/>
                      <a:pt x="12" y="93"/>
                      <a:pt x="12" y="95"/>
                    </a:cubicBezTo>
                    <a:cubicBezTo>
                      <a:pt x="13" y="97"/>
                      <a:pt x="14" y="102"/>
                      <a:pt x="14" y="105"/>
                    </a:cubicBezTo>
                    <a:cubicBezTo>
                      <a:pt x="15" y="108"/>
                      <a:pt x="16" y="113"/>
                      <a:pt x="18" y="114"/>
                    </a:cubicBezTo>
                    <a:cubicBezTo>
                      <a:pt x="19" y="116"/>
                      <a:pt x="20" y="121"/>
                      <a:pt x="20" y="126"/>
                    </a:cubicBezTo>
                    <a:cubicBezTo>
                      <a:pt x="20" y="130"/>
                      <a:pt x="20" y="137"/>
                      <a:pt x="21" y="141"/>
                    </a:cubicBezTo>
                    <a:cubicBezTo>
                      <a:pt x="22" y="144"/>
                      <a:pt x="23" y="149"/>
                      <a:pt x="23" y="151"/>
                    </a:cubicBezTo>
                    <a:cubicBezTo>
                      <a:pt x="24" y="154"/>
                      <a:pt x="24" y="158"/>
                      <a:pt x="24" y="161"/>
                    </a:cubicBezTo>
                    <a:cubicBezTo>
                      <a:pt x="24" y="163"/>
                      <a:pt x="25" y="167"/>
                      <a:pt x="26" y="169"/>
                    </a:cubicBezTo>
                    <a:cubicBezTo>
                      <a:pt x="28" y="170"/>
                      <a:pt x="30" y="173"/>
                      <a:pt x="32" y="174"/>
                    </a:cubicBezTo>
                    <a:cubicBezTo>
                      <a:pt x="35" y="175"/>
                      <a:pt x="37" y="178"/>
                      <a:pt x="38" y="180"/>
                    </a:cubicBezTo>
                    <a:cubicBezTo>
                      <a:pt x="39" y="182"/>
                      <a:pt x="39" y="185"/>
                      <a:pt x="37" y="187"/>
                    </a:cubicBezTo>
                    <a:cubicBezTo>
                      <a:pt x="36" y="190"/>
                      <a:pt x="34" y="193"/>
                      <a:pt x="33" y="196"/>
                    </a:cubicBezTo>
                    <a:cubicBezTo>
                      <a:pt x="32" y="198"/>
                      <a:pt x="30" y="201"/>
                      <a:pt x="30" y="203"/>
                    </a:cubicBezTo>
                    <a:cubicBezTo>
                      <a:pt x="29" y="205"/>
                      <a:pt x="29" y="207"/>
                      <a:pt x="29" y="207"/>
                    </a:cubicBezTo>
                    <a:cubicBezTo>
                      <a:pt x="29" y="207"/>
                      <a:pt x="31" y="207"/>
                      <a:pt x="35" y="207"/>
                    </a:cubicBezTo>
                    <a:cubicBezTo>
                      <a:pt x="38" y="207"/>
                      <a:pt x="43" y="207"/>
                      <a:pt x="46" y="208"/>
                    </a:cubicBezTo>
                    <a:cubicBezTo>
                      <a:pt x="49" y="209"/>
                      <a:pt x="53" y="209"/>
                      <a:pt x="55" y="208"/>
                    </a:cubicBezTo>
                    <a:cubicBezTo>
                      <a:pt x="58" y="207"/>
                      <a:pt x="63" y="207"/>
                      <a:pt x="67" y="207"/>
                    </a:cubicBezTo>
                    <a:cubicBezTo>
                      <a:pt x="71" y="207"/>
                      <a:pt x="75" y="209"/>
                      <a:pt x="76" y="211"/>
                    </a:cubicBezTo>
                    <a:cubicBezTo>
                      <a:pt x="77" y="212"/>
                      <a:pt x="80" y="215"/>
                      <a:pt x="83" y="216"/>
                    </a:cubicBezTo>
                    <a:cubicBezTo>
                      <a:pt x="85" y="217"/>
                      <a:pt x="88" y="219"/>
                      <a:pt x="89" y="221"/>
                    </a:cubicBezTo>
                    <a:cubicBezTo>
                      <a:pt x="90" y="222"/>
                      <a:pt x="92" y="225"/>
                      <a:pt x="94" y="227"/>
                    </a:cubicBezTo>
                    <a:cubicBezTo>
                      <a:pt x="97" y="229"/>
                      <a:pt x="99" y="231"/>
                      <a:pt x="101" y="231"/>
                    </a:cubicBezTo>
                    <a:cubicBezTo>
                      <a:pt x="102" y="231"/>
                      <a:pt x="104" y="230"/>
                      <a:pt x="106" y="229"/>
                    </a:cubicBezTo>
                    <a:cubicBezTo>
                      <a:pt x="107" y="228"/>
                      <a:pt x="110" y="226"/>
                      <a:pt x="112" y="224"/>
                    </a:cubicBezTo>
                    <a:cubicBezTo>
                      <a:pt x="114" y="223"/>
                      <a:pt x="116" y="222"/>
                      <a:pt x="116" y="222"/>
                    </a:cubicBezTo>
                    <a:cubicBezTo>
                      <a:pt x="116" y="222"/>
                      <a:pt x="117" y="220"/>
                      <a:pt x="119" y="217"/>
                    </a:cubicBezTo>
                    <a:cubicBezTo>
                      <a:pt x="120" y="214"/>
                      <a:pt x="122" y="211"/>
                      <a:pt x="122" y="210"/>
                    </a:cubicBezTo>
                    <a:cubicBezTo>
                      <a:pt x="123" y="209"/>
                      <a:pt x="122" y="207"/>
                      <a:pt x="121" y="205"/>
                    </a:cubicBezTo>
                    <a:cubicBezTo>
                      <a:pt x="120" y="204"/>
                      <a:pt x="119" y="202"/>
                      <a:pt x="118" y="200"/>
                    </a:cubicBezTo>
                    <a:cubicBezTo>
                      <a:pt x="118" y="199"/>
                      <a:pt x="117" y="196"/>
                      <a:pt x="116" y="194"/>
                    </a:cubicBezTo>
                    <a:cubicBezTo>
                      <a:pt x="115" y="192"/>
                      <a:pt x="115" y="190"/>
                      <a:pt x="116" y="188"/>
                    </a:cubicBezTo>
                    <a:cubicBezTo>
                      <a:pt x="117" y="187"/>
                      <a:pt x="118" y="183"/>
                      <a:pt x="119" y="181"/>
                    </a:cubicBezTo>
                    <a:cubicBezTo>
                      <a:pt x="120" y="178"/>
                      <a:pt x="121" y="174"/>
                      <a:pt x="122" y="171"/>
                    </a:cubicBezTo>
                    <a:cubicBezTo>
                      <a:pt x="123" y="169"/>
                      <a:pt x="124" y="166"/>
                      <a:pt x="124" y="166"/>
                    </a:cubicBezTo>
                    <a:cubicBezTo>
                      <a:pt x="124" y="166"/>
                      <a:pt x="123" y="165"/>
                      <a:pt x="123" y="163"/>
                    </a:cubicBezTo>
                    <a:cubicBezTo>
                      <a:pt x="123" y="161"/>
                      <a:pt x="124" y="157"/>
                      <a:pt x="126" y="155"/>
                    </a:cubicBezTo>
                    <a:cubicBezTo>
                      <a:pt x="128" y="153"/>
                      <a:pt x="130" y="151"/>
                      <a:pt x="132" y="152"/>
                    </a:cubicBezTo>
                    <a:cubicBezTo>
                      <a:pt x="134" y="152"/>
                      <a:pt x="137" y="150"/>
                      <a:pt x="139" y="148"/>
                    </a:cubicBezTo>
                    <a:cubicBezTo>
                      <a:pt x="142" y="145"/>
                      <a:pt x="144" y="141"/>
                      <a:pt x="145" y="138"/>
                    </a:cubicBezTo>
                    <a:cubicBezTo>
                      <a:pt x="146" y="135"/>
                      <a:pt x="149" y="130"/>
                      <a:pt x="151" y="127"/>
                    </a:cubicBezTo>
                    <a:cubicBezTo>
                      <a:pt x="153" y="124"/>
                      <a:pt x="156" y="118"/>
                      <a:pt x="159" y="114"/>
                    </a:cubicBezTo>
                    <a:cubicBezTo>
                      <a:pt x="162" y="109"/>
                      <a:pt x="166" y="105"/>
                      <a:pt x="168" y="104"/>
                    </a:cubicBezTo>
                    <a:cubicBezTo>
                      <a:pt x="170" y="102"/>
                      <a:pt x="174" y="100"/>
                      <a:pt x="178" y="99"/>
                    </a:cubicBezTo>
                    <a:cubicBezTo>
                      <a:pt x="181" y="98"/>
                      <a:pt x="183" y="98"/>
                      <a:pt x="183" y="98"/>
                    </a:cubicBezTo>
                    <a:cubicBezTo>
                      <a:pt x="183" y="98"/>
                      <a:pt x="183" y="96"/>
                      <a:pt x="182" y="95"/>
                    </a:cubicBezTo>
                    <a:cubicBezTo>
                      <a:pt x="181" y="93"/>
                      <a:pt x="179" y="92"/>
                      <a:pt x="177" y="91"/>
                    </a:cubicBezTo>
                    <a:cubicBezTo>
                      <a:pt x="175" y="91"/>
                      <a:pt x="172" y="90"/>
                      <a:pt x="169" y="89"/>
                    </a:cubicBezTo>
                    <a:cubicBezTo>
                      <a:pt x="167" y="88"/>
                      <a:pt x="165" y="85"/>
                      <a:pt x="164" y="83"/>
                    </a:cubicBezTo>
                    <a:cubicBezTo>
                      <a:pt x="163" y="81"/>
                      <a:pt x="161" y="79"/>
                      <a:pt x="159" y="78"/>
                    </a:cubicBezTo>
                    <a:cubicBezTo>
                      <a:pt x="158" y="77"/>
                      <a:pt x="154" y="74"/>
                      <a:pt x="152" y="71"/>
                    </a:cubicBezTo>
                    <a:cubicBezTo>
                      <a:pt x="149" y="68"/>
                      <a:pt x="145" y="64"/>
                      <a:pt x="143" y="62"/>
                    </a:cubicBezTo>
                    <a:cubicBezTo>
                      <a:pt x="141" y="59"/>
                      <a:pt x="138" y="56"/>
                      <a:pt x="136" y="53"/>
                    </a:cubicBezTo>
                    <a:cubicBezTo>
                      <a:pt x="133" y="50"/>
                      <a:pt x="129" y="47"/>
                      <a:pt x="126" y="45"/>
                    </a:cubicBezTo>
                    <a:cubicBezTo>
                      <a:pt x="123" y="43"/>
                      <a:pt x="119" y="40"/>
                      <a:pt x="117" y="38"/>
                    </a:cubicBezTo>
                    <a:cubicBezTo>
                      <a:pt x="115" y="36"/>
                      <a:pt x="113" y="34"/>
                      <a:pt x="111" y="32"/>
                    </a:cubicBezTo>
                    <a:cubicBezTo>
                      <a:pt x="109" y="30"/>
                      <a:pt x="105" y="27"/>
                      <a:pt x="102" y="26"/>
                    </a:cubicBezTo>
                    <a:cubicBezTo>
                      <a:pt x="99" y="24"/>
                      <a:pt x="94" y="21"/>
                      <a:pt x="91" y="20"/>
                    </a:cubicBezTo>
                    <a:cubicBezTo>
                      <a:pt x="89" y="18"/>
                      <a:pt x="83" y="15"/>
                      <a:pt x="80" y="13"/>
                    </a:cubicBezTo>
                    <a:cubicBezTo>
                      <a:pt x="76" y="10"/>
                      <a:pt x="70" y="7"/>
                      <a:pt x="68" y="5"/>
                    </a:cubicBezTo>
                    <a:cubicBezTo>
                      <a:pt x="65" y="4"/>
                      <a:pt x="59" y="2"/>
                      <a:pt x="55" y="1"/>
                    </a:cubicBezTo>
                    <a:cubicBezTo>
                      <a:pt x="50" y="1"/>
                      <a:pt x="44" y="0"/>
                      <a:pt x="42" y="1"/>
                    </a:cubicBezTo>
                    <a:cubicBezTo>
                      <a:pt x="39" y="1"/>
                      <a:pt x="35" y="1"/>
                      <a:pt x="32" y="2"/>
                    </a:cubicBezTo>
                    <a:cubicBezTo>
                      <a:pt x="30" y="2"/>
                      <a:pt x="25" y="2"/>
                      <a:pt x="22" y="3"/>
                    </a:cubicBezTo>
                    <a:cubicBezTo>
                      <a:pt x="19" y="3"/>
                      <a:pt x="15" y="3"/>
                      <a:pt x="13" y="2"/>
                    </a:cubicBezTo>
                    <a:cubicBezTo>
                      <a:pt x="11" y="2"/>
                      <a:pt x="9" y="3"/>
                      <a:pt x="8" y="4"/>
                    </a:cubicBezTo>
                    <a:cubicBezTo>
                      <a:pt x="8" y="5"/>
                      <a:pt x="7" y="6"/>
                      <a:pt x="7" y="6"/>
                    </a:cubicBezTo>
                    <a:cubicBezTo>
                      <a:pt x="7" y="6"/>
                      <a:pt x="7" y="7"/>
                      <a:pt x="7" y="9"/>
                    </a:cubicBezTo>
                    <a:cubicBezTo>
                      <a:pt x="6" y="10"/>
                      <a:pt x="5" y="12"/>
                      <a:pt x="4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407924" tIns="203962" rIns="407924" bIns="20396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246">
                  <a:solidFill>
                    <a:srgbClr val="410B30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215" name="Freeform 18">
                <a:extLst>
                  <a:ext uri="{FF2B5EF4-FFF2-40B4-BE49-F238E27FC236}">
                    <a16:creationId xmlns:a16="http://schemas.microsoft.com/office/drawing/2014/main" id="{160C51E3-893C-6127-CC8F-91401E12F0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62677" y="3111951"/>
                <a:ext cx="358237" cy="224736"/>
              </a:xfrm>
              <a:custGeom>
                <a:avLst/>
                <a:gdLst/>
                <a:ahLst/>
                <a:cxnLst>
                  <a:cxn ang="0">
                    <a:pos x="45" y="6"/>
                  </a:cxn>
                  <a:cxn ang="0">
                    <a:pos x="36" y="16"/>
                  </a:cxn>
                  <a:cxn ang="0">
                    <a:pos x="28" y="29"/>
                  </a:cxn>
                  <a:cxn ang="0">
                    <a:pos x="22" y="40"/>
                  </a:cxn>
                  <a:cxn ang="0">
                    <a:pos x="16" y="50"/>
                  </a:cxn>
                  <a:cxn ang="0">
                    <a:pos x="9" y="54"/>
                  </a:cxn>
                  <a:cxn ang="0">
                    <a:pos x="3" y="57"/>
                  </a:cxn>
                  <a:cxn ang="0">
                    <a:pos x="0" y="65"/>
                  </a:cxn>
                  <a:cxn ang="0">
                    <a:pos x="1" y="68"/>
                  </a:cxn>
                  <a:cxn ang="0">
                    <a:pos x="6" y="70"/>
                  </a:cxn>
                  <a:cxn ang="0">
                    <a:pos x="16" y="73"/>
                  </a:cxn>
                  <a:cxn ang="0">
                    <a:pos x="25" y="71"/>
                  </a:cxn>
                  <a:cxn ang="0">
                    <a:pos x="32" y="67"/>
                  </a:cxn>
                  <a:cxn ang="0">
                    <a:pos x="36" y="63"/>
                  </a:cxn>
                  <a:cxn ang="0">
                    <a:pos x="44" y="58"/>
                  </a:cxn>
                  <a:cxn ang="0">
                    <a:pos x="51" y="56"/>
                  </a:cxn>
                  <a:cxn ang="0">
                    <a:pos x="58" y="55"/>
                  </a:cxn>
                  <a:cxn ang="0">
                    <a:pos x="61" y="58"/>
                  </a:cxn>
                  <a:cxn ang="0">
                    <a:pos x="56" y="66"/>
                  </a:cxn>
                  <a:cxn ang="0">
                    <a:pos x="52" y="73"/>
                  </a:cxn>
                  <a:cxn ang="0">
                    <a:pos x="49" y="78"/>
                  </a:cxn>
                  <a:cxn ang="0">
                    <a:pos x="48" y="81"/>
                  </a:cxn>
                  <a:cxn ang="0">
                    <a:pos x="50" y="85"/>
                  </a:cxn>
                  <a:cxn ang="0">
                    <a:pos x="57" y="89"/>
                  </a:cxn>
                  <a:cxn ang="0">
                    <a:pos x="66" y="88"/>
                  </a:cxn>
                  <a:cxn ang="0">
                    <a:pos x="75" y="88"/>
                  </a:cxn>
                  <a:cxn ang="0">
                    <a:pos x="80" y="95"/>
                  </a:cxn>
                  <a:cxn ang="0">
                    <a:pos x="85" y="98"/>
                  </a:cxn>
                  <a:cxn ang="0">
                    <a:pos x="90" y="92"/>
                  </a:cxn>
                  <a:cxn ang="0">
                    <a:pos x="92" y="85"/>
                  </a:cxn>
                  <a:cxn ang="0">
                    <a:pos x="93" y="79"/>
                  </a:cxn>
                  <a:cxn ang="0">
                    <a:pos x="95" y="72"/>
                  </a:cxn>
                  <a:cxn ang="0">
                    <a:pos x="100" y="72"/>
                  </a:cxn>
                  <a:cxn ang="0">
                    <a:pos x="111" y="77"/>
                  </a:cxn>
                  <a:cxn ang="0">
                    <a:pos x="123" y="79"/>
                  </a:cxn>
                  <a:cxn ang="0">
                    <a:pos x="133" y="79"/>
                  </a:cxn>
                  <a:cxn ang="0">
                    <a:pos x="144" y="81"/>
                  </a:cxn>
                  <a:cxn ang="0">
                    <a:pos x="154" y="84"/>
                  </a:cxn>
                  <a:cxn ang="0">
                    <a:pos x="158" y="85"/>
                  </a:cxn>
                  <a:cxn ang="0">
                    <a:pos x="158" y="82"/>
                  </a:cxn>
                  <a:cxn ang="0">
                    <a:pos x="156" y="75"/>
                  </a:cxn>
                  <a:cxn ang="0">
                    <a:pos x="154" y="66"/>
                  </a:cxn>
                  <a:cxn ang="0">
                    <a:pos x="152" y="56"/>
                  </a:cxn>
                  <a:cxn ang="0">
                    <a:pos x="149" y="44"/>
                  </a:cxn>
                  <a:cxn ang="0">
                    <a:pos x="145" y="31"/>
                  </a:cxn>
                  <a:cxn ang="0">
                    <a:pos x="138" y="22"/>
                  </a:cxn>
                  <a:cxn ang="0">
                    <a:pos x="129" y="19"/>
                  </a:cxn>
                  <a:cxn ang="0">
                    <a:pos x="121" y="17"/>
                  </a:cxn>
                  <a:cxn ang="0">
                    <a:pos x="116" y="17"/>
                  </a:cxn>
                  <a:cxn ang="0">
                    <a:pos x="109" y="17"/>
                  </a:cxn>
                  <a:cxn ang="0">
                    <a:pos x="101" y="16"/>
                  </a:cxn>
                  <a:cxn ang="0">
                    <a:pos x="99" y="16"/>
                  </a:cxn>
                  <a:cxn ang="0">
                    <a:pos x="97" y="16"/>
                  </a:cxn>
                  <a:cxn ang="0">
                    <a:pos x="82" y="13"/>
                  </a:cxn>
                  <a:cxn ang="0">
                    <a:pos x="76" y="9"/>
                  </a:cxn>
                  <a:cxn ang="0">
                    <a:pos x="69" y="7"/>
                  </a:cxn>
                  <a:cxn ang="0">
                    <a:pos x="62" y="3"/>
                  </a:cxn>
                  <a:cxn ang="0">
                    <a:pos x="60" y="0"/>
                  </a:cxn>
                  <a:cxn ang="0">
                    <a:pos x="55" y="1"/>
                  </a:cxn>
                  <a:cxn ang="0">
                    <a:pos x="45" y="6"/>
                  </a:cxn>
                </a:cxnLst>
                <a:rect l="0" t="0" r="r" b="b"/>
                <a:pathLst>
                  <a:path w="158" h="99">
                    <a:moveTo>
                      <a:pt x="45" y="6"/>
                    </a:moveTo>
                    <a:cubicBezTo>
                      <a:pt x="43" y="7"/>
                      <a:pt x="39" y="11"/>
                      <a:pt x="36" y="16"/>
                    </a:cubicBezTo>
                    <a:cubicBezTo>
                      <a:pt x="33" y="20"/>
                      <a:pt x="30" y="26"/>
                      <a:pt x="28" y="29"/>
                    </a:cubicBezTo>
                    <a:cubicBezTo>
                      <a:pt x="26" y="32"/>
                      <a:pt x="23" y="37"/>
                      <a:pt x="22" y="40"/>
                    </a:cubicBezTo>
                    <a:cubicBezTo>
                      <a:pt x="21" y="43"/>
                      <a:pt x="19" y="47"/>
                      <a:pt x="16" y="50"/>
                    </a:cubicBezTo>
                    <a:cubicBezTo>
                      <a:pt x="14" y="52"/>
                      <a:pt x="11" y="54"/>
                      <a:pt x="9" y="54"/>
                    </a:cubicBezTo>
                    <a:cubicBezTo>
                      <a:pt x="7" y="53"/>
                      <a:pt x="5" y="55"/>
                      <a:pt x="3" y="57"/>
                    </a:cubicBezTo>
                    <a:cubicBezTo>
                      <a:pt x="1" y="59"/>
                      <a:pt x="0" y="63"/>
                      <a:pt x="0" y="65"/>
                    </a:cubicBezTo>
                    <a:cubicBezTo>
                      <a:pt x="0" y="67"/>
                      <a:pt x="1" y="68"/>
                      <a:pt x="1" y="68"/>
                    </a:cubicBezTo>
                    <a:cubicBezTo>
                      <a:pt x="1" y="68"/>
                      <a:pt x="3" y="69"/>
                      <a:pt x="6" y="70"/>
                    </a:cubicBezTo>
                    <a:cubicBezTo>
                      <a:pt x="8" y="71"/>
                      <a:pt x="13" y="73"/>
                      <a:pt x="16" y="73"/>
                    </a:cubicBezTo>
                    <a:cubicBezTo>
                      <a:pt x="19" y="74"/>
                      <a:pt x="24" y="73"/>
                      <a:pt x="25" y="71"/>
                    </a:cubicBezTo>
                    <a:cubicBezTo>
                      <a:pt x="27" y="70"/>
                      <a:pt x="30" y="68"/>
                      <a:pt x="32" y="67"/>
                    </a:cubicBezTo>
                    <a:cubicBezTo>
                      <a:pt x="34" y="66"/>
                      <a:pt x="36" y="65"/>
                      <a:pt x="36" y="63"/>
                    </a:cubicBezTo>
                    <a:cubicBezTo>
                      <a:pt x="37" y="61"/>
                      <a:pt x="41" y="59"/>
                      <a:pt x="44" y="58"/>
                    </a:cubicBezTo>
                    <a:cubicBezTo>
                      <a:pt x="47" y="56"/>
                      <a:pt x="50" y="55"/>
                      <a:pt x="51" y="56"/>
                    </a:cubicBezTo>
                    <a:cubicBezTo>
                      <a:pt x="52" y="56"/>
                      <a:pt x="55" y="56"/>
                      <a:pt x="58" y="55"/>
                    </a:cubicBezTo>
                    <a:cubicBezTo>
                      <a:pt x="60" y="55"/>
                      <a:pt x="62" y="56"/>
                      <a:pt x="61" y="58"/>
                    </a:cubicBezTo>
                    <a:cubicBezTo>
                      <a:pt x="61" y="60"/>
                      <a:pt x="58" y="64"/>
                      <a:pt x="56" y="66"/>
                    </a:cubicBezTo>
                    <a:cubicBezTo>
                      <a:pt x="54" y="68"/>
                      <a:pt x="52" y="71"/>
                      <a:pt x="52" y="73"/>
                    </a:cubicBezTo>
                    <a:cubicBezTo>
                      <a:pt x="51" y="75"/>
                      <a:pt x="50" y="77"/>
                      <a:pt x="49" y="78"/>
                    </a:cubicBezTo>
                    <a:cubicBezTo>
                      <a:pt x="49" y="78"/>
                      <a:pt x="48" y="80"/>
                      <a:pt x="48" y="81"/>
                    </a:cubicBezTo>
                    <a:cubicBezTo>
                      <a:pt x="47" y="82"/>
                      <a:pt x="49" y="84"/>
                      <a:pt x="50" y="85"/>
                    </a:cubicBezTo>
                    <a:cubicBezTo>
                      <a:pt x="52" y="86"/>
                      <a:pt x="55" y="87"/>
                      <a:pt x="57" y="89"/>
                    </a:cubicBezTo>
                    <a:cubicBezTo>
                      <a:pt x="59" y="90"/>
                      <a:pt x="63" y="89"/>
                      <a:pt x="66" y="88"/>
                    </a:cubicBezTo>
                    <a:cubicBezTo>
                      <a:pt x="69" y="87"/>
                      <a:pt x="73" y="87"/>
                      <a:pt x="75" y="88"/>
                    </a:cubicBezTo>
                    <a:cubicBezTo>
                      <a:pt x="77" y="89"/>
                      <a:pt x="79" y="93"/>
                      <a:pt x="80" y="95"/>
                    </a:cubicBezTo>
                    <a:cubicBezTo>
                      <a:pt x="80" y="98"/>
                      <a:pt x="83" y="99"/>
                      <a:pt x="85" y="98"/>
                    </a:cubicBezTo>
                    <a:cubicBezTo>
                      <a:pt x="87" y="98"/>
                      <a:pt x="89" y="95"/>
                      <a:pt x="90" y="92"/>
                    </a:cubicBezTo>
                    <a:cubicBezTo>
                      <a:pt x="90" y="89"/>
                      <a:pt x="91" y="86"/>
                      <a:pt x="92" y="85"/>
                    </a:cubicBezTo>
                    <a:cubicBezTo>
                      <a:pt x="92" y="84"/>
                      <a:pt x="93" y="82"/>
                      <a:pt x="93" y="79"/>
                    </a:cubicBezTo>
                    <a:cubicBezTo>
                      <a:pt x="93" y="76"/>
                      <a:pt x="94" y="73"/>
                      <a:pt x="95" y="72"/>
                    </a:cubicBezTo>
                    <a:cubicBezTo>
                      <a:pt x="95" y="70"/>
                      <a:pt x="98" y="71"/>
                      <a:pt x="100" y="72"/>
                    </a:cubicBezTo>
                    <a:cubicBezTo>
                      <a:pt x="103" y="74"/>
                      <a:pt x="108" y="77"/>
                      <a:pt x="111" y="77"/>
                    </a:cubicBezTo>
                    <a:cubicBezTo>
                      <a:pt x="115" y="78"/>
                      <a:pt x="120" y="79"/>
                      <a:pt x="123" y="79"/>
                    </a:cubicBezTo>
                    <a:cubicBezTo>
                      <a:pt x="125" y="79"/>
                      <a:pt x="130" y="79"/>
                      <a:pt x="133" y="79"/>
                    </a:cubicBezTo>
                    <a:cubicBezTo>
                      <a:pt x="136" y="79"/>
                      <a:pt x="141" y="80"/>
                      <a:pt x="144" y="81"/>
                    </a:cubicBezTo>
                    <a:cubicBezTo>
                      <a:pt x="148" y="83"/>
                      <a:pt x="152" y="84"/>
                      <a:pt x="154" y="84"/>
                    </a:cubicBezTo>
                    <a:cubicBezTo>
                      <a:pt x="157" y="85"/>
                      <a:pt x="158" y="85"/>
                      <a:pt x="158" y="85"/>
                    </a:cubicBezTo>
                    <a:cubicBezTo>
                      <a:pt x="158" y="85"/>
                      <a:pt x="158" y="84"/>
                      <a:pt x="158" y="82"/>
                    </a:cubicBezTo>
                    <a:cubicBezTo>
                      <a:pt x="158" y="81"/>
                      <a:pt x="157" y="78"/>
                      <a:pt x="156" y="75"/>
                    </a:cubicBezTo>
                    <a:cubicBezTo>
                      <a:pt x="155" y="73"/>
                      <a:pt x="154" y="69"/>
                      <a:pt x="154" y="66"/>
                    </a:cubicBezTo>
                    <a:cubicBezTo>
                      <a:pt x="154" y="64"/>
                      <a:pt x="153" y="59"/>
                      <a:pt x="152" y="56"/>
                    </a:cubicBezTo>
                    <a:cubicBezTo>
                      <a:pt x="152" y="53"/>
                      <a:pt x="150" y="47"/>
                      <a:pt x="149" y="44"/>
                    </a:cubicBezTo>
                    <a:cubicBezTo>
                      <a:pt x="148" y="40"/>
                      <a:pt x="146" y="34"/>
                      <a:pt x="145" y="31"/>
                    </a:cubicBezTo>
                    <a:cubicBezTo>
                      <a:pt x="143" y="27"/>
                      <a:pt x="140" y="23"/>
                      <a:pt x="138" y="22"/>
                    </a:cubicBezTo>
                    <a:cubicBezTo>
                      <a:pt x="136" y="21"/>
                      <a:pt x="132" y="19"/>
                      <a:pt x="129" y="19"/>
                    </a:cubicBezTo>
                    <a:cubicBezTo>
                      <a:pt x="126" y="19"/>
                      <a:pt x="122" y="18"/>
                      <a:pt x="121" y="17"/>
                    </a:cubicBezTo>
                    <a:cubicBezTo>
                      <a:pt x="119" y="16"/>
                      <a:pt x="117" y="16"/>
                      <a:pt x="116" y="17"/>
                    </a:cubicBezTo>
                    <a:cubicBezTo>
                      <a:pt x="115" y="17"/>
                      <a:pt x="112" y="17"/>
                      <a:pt x="109" y="17"/>
                    </a:cubicBezTo>
                    <a:cubicBezTo>
                      <a:pt x="107" y="17"/>
                      <a:pt x="103" y="17"/>
                      <a:pt x="101" y="16"/>
                    </a:cubicBezTo>
                    <a:cubicBezTo>
                      <a:pt x="101" y="16"/>
                      <a:pt x="101" y="16"/>
                      <a:pt x="99" y="16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90" y="16"/>
                      <a:pt x="84" y="14"/>
                      <a:pt x="82" y="13"/>
                    </a:cubicBezTo>
                    <a:cubicBezTo>
                      <a:pt x="80" y="11"/>
                      <a:pt x="78" y="9"/>
                      <a:pt x="76" y="9"/>
                    </a:cubicBezTo>
                    <a:cubicBezTo>
                      <a:pt x="75" y="9"/>
                      <a:pt x="71" y="8"/>
                      <a:pt x="69" y="7"/>
                    </a:cubicBezTo>
                    <a:cubicBezTo>
                      <a:pt x="66" y="7"/>
                      <a:pt x="63" y="5"/>
                      <a:pt x="62" y="3"/>
                    </a:cubicBezTo>
                    <a:cubicBezTo>
                      <a:pt x="61" y="1"/>
                      <a:pt x="60" y="0"/>
                      <a:pt x="60" y="0"/>
                    </a:cubicBezTo>
                    <a:cubicBezTo>
                      <a:pt x="60" y="0"/>
                      <a:pt x="58" y="0"/>
                      <a:pt x="55" y="1"/>
                    </a:cubicBezTo>
                    <a:cubicBezTo>
                      <a:pt x="51" y="2"/>
                      <a:pt x="47" y="4"/>
                      <a:pt x="45" y="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407924" tIns="203962" rIns="407924" bIns="20396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246">
                  <a:solidFill>
                    <a:srgbClr val="410B30"/>
                  </a:solidFill>
                </a:endParaRPr>
              </a:p>
            </p:txBody>
          </p:sp>
          <p:sp>
            <p:nvSpPr>
              <p:cNvPr id="1216" name="Freeform 19">
                <a:extLst>
                  <a:ext uri="{FF2B5EF4-FFF2-40B4-BE49-F238E27FC236}">
                    <a16:creationId xmlns:a16="http://schemas.microsoft.com/office/drawing/2014/main" id="{6F499646-1501-C381-D25F-7D1C896CD0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4279" y="2880706"/>
                <a:ext cx="567606" cy="817317"/>
              </a:xfrm>
              <a:custGeom>
                <a:avLst/>
                <a:gdLst/>
                <a:ahLst/>
                <a:cxnLst>
                  <a:cxn ang="0">
                    <a:pos x="168" y="25"/>
                  </a:cxn>
                  <a:cxn ang="0">
                    <a:pos x="153" y="39"/>
                  </a:cxn>
                  <a:cxn ang="0">
                    <a:pos x="144" y="53"/>
                  </a:cxn>
                  <a:cxn ang="0">
                    <a:pos x="143" y="68"/>
                  </a:cxn>
                  <a:cxn ang="0">
                    <a:pos x="143" y="85"/>
                  </a:cxn>
                  <a:cxn ang="0">
                    <a:pos x="141" y="115"/>
                  </a:cxn>
                  <a:cxn ang="0">
                    <a:pos x="134" y="140"/>
                  </a:cxn>
                  <a:cxn ang="0">
                    <a:pos x="143" y="156"/>
                  </a:cxn>
                  <a:cxn ang="0">
                    <a:pos x="131" y="174"/>
                  </a:cxn>
                  <a:cxn ang="0">
                    <a:pos x="109" y="173"/>
                  </a:cxn>
                  <a:cxn ang="0">
                    <a:pos x="91" y="174"/>
                  </a:cxn>
                  <a:cxn ang="0">
                    <a:pos x="76" y="188"/>
                  </a:cxn>
                  <a:cxn ang="0">
                    <a:pos x="58" y="199"/>
                  </a:cxn>
                  <a:cxn ang="0">
                    <a:pos x="40" y="206"/>
                  </a:cxn>
                  <a:cxn ang="0">
                    <a:pos x="22" y="222"/>
                  </a:cxn>
                  <a:cxn ang="0">
                    <a:pos x="14" y="245"/>
                  </a:cxn>
                  <a:cxn ang="0">
                    <a:pos x="3" y="274"/>
                  </a:cxn>
                  <a:cxn ang="0">
                    <a:pos x="5" y="288"/>
                  </a:cxn>
                  <a:cxn ang="0">
                    <a:pos x="7" y="297"/>
                  </a:cxn>
                  <a:cxn ang="0">
                    <a:pos x="5" y="316"/>
                  </a:cxn>
                  <a:cxn ang="0">
                    <a:pos x="0" y="331"/>
                  </a:cxn>
                  <a:cxn ang="0">
                    <a:pos x="11" y="333"/>
                  </a:cxn>
                  <a:cxn ang="0">
                    <a:pos x="23" y="347"/>
                  </a:cxn>
                  <a:cxn ang="0">
                    <a:pos x="47" y="359"/>
                  </a:cxn>
                  <a:cxn ang="0">
                    <a:pos x="68" y="348"/>
                  </a:cxn>
                  <a:cxn ang="0">
                    <a:pos x="87" y="341"/>
                  </a:cxn>
                  <a:cxn ang="0">
                    <a:pos x="100" y="317"/>
                  </a:cxn>
                  <a:cxn ang="0">
                    <a:pos x="98" y="303"/>
                  </a:cxn>
                  <a:cxn ang="0">
                    <a:pos x="103" y="294"/>
                  </a:cxn>
                  <a:cxn ang="0">
                    <a:pos x="113" y="293"/>
                  </a:cxn>
                  <a:cxn ang="0">
                    <a:pos x="130" y="295"/>
                  </a:cxn>
                  <a:cxn ang="0">
                    <a:pos x="142" y="301"/>
                  </a:cxn>
                  <a:cxn ang="0">
                    <a:pos x="159" y="297"/>
                  </a:cxn>
                  <a:cxn ang="0">
                    <a:pos x="181" y="289"/>
                  </a:cxn>
                  <a:cxn ang="0">
                    <a:pos x="189" y="283"/>
                  </a:cxn>
                  <a:cxn ang="0">
                    <a:pos x="202" y="272"/>
                  </a:cxn>
                  <a:cxn ang="0">
                    <a:pos x="210" y="266"/>
                  </a:cxn>
                  <a:cxn ang="0">
                    <a:pos x="224" y="253"/>
                  </a:cxn>
                  <a:cxn ang="0">
                    <a:pos x="239" y="243"/>
                  </a:cxn>
                  <a:cxn ang="0">
                    <a:pos x="242" y="228"/>
                  </a:cxn>
                  <a:cxn ang="0">
                    <a:pos x="240" y="216"/>
                  </a:cxn>
                  <a:cxn ang="0">
                    <a:pos x="240" y="208"/>
                  </a:cxn>
                  <a:cxn ang="0">
                    <a:pos x="244" y="197"/>
                  </a:cxn>
                  <a:cxn ang="0">
                    <a:pos x="249" y="181"/>
                  </a:cxn>
                  <a:cxn ang="0">
                    <a:pos x="237" y="170"/>
                  </a:cxn>
                  <a:cxn ang="0">
                    <a:pos x="234" y="152"/>
                  </a:cxn>
                  <a:cxn ang="0">
                    <a:pos x="231" y="127"/>
                  </a:cxn>
                  <a:cxn ang="0">
                    <a:pos x="225" y="106"/>
                  </a:cxn>
                  <a:cxn ang="0">
                    <a:pos x="220" y="86"/>
                  </a:cxn>
                  <a:cxn ang="0">
                    <a:pos x="224" y="64"/>
                  </a:cxn>
                  <a:cxn ang="0">
                    <a:pos x="217" y="45"/>
                  </a:cxn>
                  <a:cxn ang="0">
                    <a:pos x="212" y="23"/>
                  </a:cxn>
                  <a:cxn ang="0">
                    <a:pos x="218" y="10"/>
                  </a:cxn>
                  <a:cxn ang="0">
                    <a:pos x="216" y="6"/>
                  </a:cxn>
                  <a:cxn ang="0">
                    <a:pos x="207" y="4"/>
                  </a:cxn>
                  <a:cxn ang="0">
                    <a:pos x="198" y="0"/>
                  </a:cxn>
                  <a:cxn ang="0">
                    <a:pos x="184" y="15"/>
                  </a:cxn>
                </a:cxnLst>
                <a:rect l="0" t="0" r="r" b="b"/>
                <a:pathLst>
                  <a:path w="250" h="360">
                    <a:moveTo>
                      <a:pt x="184" y="15"/>
                    </a:moveTo>
                    <a:cubicBezTo>
                      <a:pt x="179" y="20"/>
                      <a:pt x="172" y="25"/>
                      <a:pt x="168" y="25"/>
                    </a:cubicBezTo>
                    <a:cubicBezTo>
                      <a:pt x="165" y="25"/>
                      <a:pt x="160" y="28"/>
                      <a:pt x="158" y="31"/>
                    </a:cubicBezTo>
                    <a:cubicBezTo>
                      <a:pt x="156" y="33"/>
                      <a:pt x="154" y="37"/>
                      <a:pt x="153" y="39"/>
                    </a:cubicBezTo>
                    <a:cubicBezTo>
                      <a:pt x="153" y="42"/>
                      <a:pt x="151" y="45"/>
                      <a:pt x="150" y="46"/>
                    </a:cubicBezTo>
                    <a:cubicBezTo>
                      <a:pt x="148" y="48"/>
                      <a:pt x="146" y="51"/>
                      <a:pt x="144" y="53"/>
                    </a:cubicBezTo>
                    <a:cubicBezTo>
                      <a:pt x="142" y="55"/>
                      <a:pt x="141" y="59"/>
                      <a:pt x="141" y="61"/>
                    </a:cubicBezTo>
                    <a:cubicBezTo>
                      <a:pt x="141" y="64"/>
                      <a:pt x="142" y="67"/>
                      <a:pt x="143" y="68"/>
                    </a:cubicBezTo>
                    <a:cubicBezTo>
                      <a:pt x="144" y="70"/>
                      <a:pt x="144" y="73"/>
                      <a:pt x="143" y="76"/>
                    </a:cubicBezTo>
                    <a:cubicBezTo>
                      <a:pt x="142" y="79"/>
                      <a:pt x="142" y="83"/>
                      <a:pt x="143" y="85"/>
                    </a:cubicBezTo>
                    <a:cubicBezTo>
                      <a:pt x="144" y="87"/>
                      <a:pt x="145" y="93"/>
                      <a:pt x="145" y="99"/>
                    </a:cubicBezTo>
                    <a:cubicBezTo>
                      <a:pt x="145" y="104"/>
                      <a:pt x="143" y="112"/>
                      <a:pt x="141" y="115"/>
                    </a:cubicBezTo>
                    <a:cubicBezTo>
                      <a:pt x="138" y="119"/>
                      <a:pt x="135" y="124"/>
                      <a:pt x="134" y="127"/>
                    </a:cubicBezTo>
                    <a:cubicBezTo>
                      <a:pt x="133" y="131"/>
                      <a:pt x="133" y="136"/>
                      <a:pt x="134" y="140"/>
                    </a:cubicBezTo>
                    <a:cubicBezTo>
                      <a:pt x="135" y="143"/>
                      <a:pt x="138" y="147"/>
                      <a:pt x="140" y="149"/>
                    </a:cubicBezTo>
                    <a:cubicBezTo>
                      <a:pt x="142" y="150"/>
                      <a:pt x="143" y="153"/>
                      <a:pt x="143" y="156"/>
                    </a:cubicBezTo>
                    <a:cubicBezTo>
                      <a:pt x="143" y="159"/>
                      <a:pt x="141" y="164"/>
                      <a:pt x="140" y="167"/>
                    </a:cubicBezTo>
                    <a:cubicBezTo>
                      <a:pt x="139" y="171"/>
                      <a:pt x="135" y="174"/>
                      <a:pt x="131" y="174"/>
                    </a:cubicBezTo>
                    <a:cubicBezTo>
                      <a:pt x="128" y="174"/>
                      <a:pt x="122" y="174"/>
                      <a:pt x="120" y="175"/>
                    </a:cubicBezTo>
                    <a:cubicBezTo>
                      <a:pt x="117" y="175"/>
                      <a:pt x="112" y="174"/>
                      <a:pt x="109" y="173"/>
                    </a:cubicBezTo>
                    <a:cubicBezTo>
                      <a:pt x="106" y="171"/>
                      <a:pt x="102" y="171"/>
                      <a:pt x="99" y="171"/>
                    </a:cubicBezTo>
                    <a:cubicBezTo>
                      <a:pt x="97" y="172"/>
                      <a:pt x="93" y="173"/>
                      <a:pt x="91" y="174"/>
                    </a:cubicBezTo>
                    <a:cubicBezTo>
                      <a:pt x="90" y="175"/>
                      <a:pt x="86" y="178"/>
                      <a:pt x="84" y="181"/>
                    </a:cubicBezTo>
                    <a:cubicBezTo>
                      <a:pt x="82" y="183"/>
                      <a:pt x="78" y="186"/>
                      <a:pt x="76" y="188"/>
                    </a:cubicBezTo>
                    <a:cubicBezTo>
                      <a:pt x="73" y="189"/>
                      <a:pt x="69" y="192"/>
                      <a:pt x="66" y="195"/>
                    </a:cubicBezTo>
                    <a:cubicBezTo>
                      <a:pt x="63" y="198"/>
                      <a:pt x="59" y="200"/>
                      <a:pt x="58" y="199"/>
                    </a:cubicBezTo>
                    <a:cubicBezTo>
                      <a:pt x="56" y="199"/>
                      <a:pt x="53" y="200"/>
                      <a:pt x="51" y="202"/>
                    </a:cubicBezTo>
                    <a:cubicBezTo>
                      <a:pt x="49" y="204"/>
                      <a:pt x="44" y="206"/>
                      <a:pt x="40" y="206"/>
                    </a:cubicBezTo>
                    <a:cubicBezTo>
                      <a:pt x="37" y="207"/>
                      <a:pt x="32" y="209"/>
                      <a:pt x="29" y="211"/>
                    </a:cubicBezTo>
                    <a:cubicBezTo>
                      <a:pt x="26" y="214"/>
                      <a:pt x="23" y="219"/>
                      <a:pt x="22" y="222"/>
                    </a:cubicBezTo>
                    <a:cubicBezTo>
                      <a:pt x="21" y="226"/>
                      <a:pt x="19" y="231"/>
                      <a:pt x="19" y="233"/>
                    </a:cubicBezTo>
                    <a:cubicBezTo>
                      <a:pt x="18" y="236"/>
                      <a:pt x="15" y="241"/>
                      <a:pt x="14" y="245"/>
                    </a:cubicBezTo>
                    <a:cubicBezTo>
                      <a:pt x="12" y="250"/>
                      <a:pt x="8" y="256"/>
                      <a:pt x="6" y="260"/>
                    </a:cubicBezTo>
                    <a:cubicBezTo>
                      <a:pt x="4" y="264"/>
                      <a:pt x="2" y="270"/>
                      <a:pt x="3" y="274"/>
                    </a:cubicBezTo>
                    <a:cubicBezTo>
                      <a:pt x="4" y="278"/>
                      <a:pt x="4" y="282"/>
                      <a:pt x="4" y="283"/>
                    </a:cubicBezTo>
                    <a:cubicBezTo>
                      <a:pt x="4" y="285"/>
                      <a:pt x="4" y="287"/>
                      <a:pt x="5" y="288"/>
                    </a:cubicBezTo>
                    <a:cubicBezTo>
                      <a:pt x="6" y="289"/>
                      <a:pt x="7" y="290"/>
                      <a:pt x="7" y="291"/>
                    </a:cubicBezTo>
                    <a:cubicBezTo>
                      <a:pt x="8" y="292"/>
                      <a:pt x="8" y="294"/>
                      <a:pt x="7" y="297"/>
                    </a:cubicBezTo>
                    <a:cubicBezTo>
                      <a:pt x="6" y="299"/>
                      <a:pt x="6" y="303"/>
                      <a:pt x="6" y="306"/>
                    </a:cubicBezTo>
                    <a:cubicBezTo>
                      <a:pt x="6" y="309"/>
                      <a:pt x="6" y="313"/>
                      <a:pt x="5" y="316"/>
                    </a:cubicBezTo>
                    <a:cubicBezTo>
                      <a:pt x="4" y="319"/>
                      <a:pt x="3" y="323"/>
                      <a:pt x="2" y="326"/>
                    </a:cubicBezTo>
                    <a:cubicBezTo>
                      <a:pt x="1" y="329"/>
                      <a:pt x="0" y="331"/>
                      <a:pt x="0" y="331"/>
                    </a:cubicBezTo>
                    <a:cubicBezTo>
                      <a:pt x="7" y="333"/>
                      <a:pt x="7" y="333"/>
                      <a:pt x="7" y="333"/>
                    </a:cubicBezTo>
                    <a:cubicBezTo>
                      <a:pt x="7" y="333"/>
                      <a:pt x="9" y="333"/>
                      <a:pt x="11" y="333"/>
                    </a:cubicBezTo>
                    <a:cubicBezTo>
                      <a:pt x="14" y="333"/>
                      <a:pt x="17" y="335"/>
                      <a:pt x="18" y="338"/>
                    </a:cubicBezTo>
                    <a:cubicBezTo>
                      <a:pt x="20" y="340"/>
                      <a:pt x="22" y="345"/>
                      <a:pt x="23" y="347"/>
                    </a:cubicBezTo>
                    <a:cubicBezTo>
                      <a:pt x="24" y="350"/>
                      <a:pt x="29" y="354"/>
                      <a:pt x="34" y="356"/>
                    </a:cubicBezTo>
                    <a:cubicBezTo>
                      <a:pt x="38" y="358"/>
                      <a:pt x="44" y="360"/>
                      <a:pt x="47" y="359"/>
                    </a:cubicBezTo>
                    <a:cubicBezTo>
                      <a:pt x="50" y="359"/>
                      <a:pt x="55" y="356"/>
                      <a:pt x="58" y="354"/>
                    </a:cubicBezTo>
                    <a:cubicBezTo>
                      <a:pt x="61" y="351"/>
                      <a:pt x="66" y="348"/>
                      <a:pt x="68" y="348"/>
                    </a:cubicBezTo>
                    <a:cubicBezTo>
                      <a:pt x="71" y="347"/>
                      <a:pt x="74" y="347"/>
                      <a:pt x="76" y="348"/>
                    </a:cubicBezTo>
                    <a:cubicBezTo>
                      <a:pt x="78" y="348"/>
                      <a:pt x="83" y="345"/>
                      <a:pt x="87" y="341"/>
                    </a:cubicBezTo>
                    <a:cubicBezTo>
                      <a:pt x="92" y="337"/>
                      <a:pt x="96" y="330"/>
                      <a:pt x="97" y="327"/>
                    </a:cubicBezTo>
                    <a:cubicBezTo>
                      <a:pt x="98" y="323"/>
                      <a:pt x="100" y="319"/>
                      <a:pt x="100" y="317"/>
                    </a:cubicBezTo>
                    <a:cubicBezTo>
                      <a:pt x="101" y="315"/>
                      <a:pt x="101" y="313"/>
                      <a:pt x="101" y="312"/>
                    </a:cubicBezTo>
                    <a:cubicBezTo>
                      <a:pt x="100" y="310"/>
                      <a:pt x="99" y="306"/>
                      <a:pt x="98" y="303"/>
                    </a:cubicBezTo>
                    <a:cubicBezTo>
                      <a:pt x="98" y="299"/>
                      <a:pt x="98" y="296"/>
                      <a:pt x="99" y="296"/>
                    </a:cubicBezTo>
                    <a:cubicBezTo>
                      <a:pt x="100" y="296"/>
                      <a:pt x="102" y="295"/>
                      <a:pt x="103" y="294"/>
                    </a:cubicBezTo>
                    <a:cubicBezTo>
                      <a:pt x="104" y="293"/>
                      <a:pt x="106" y="292"/>
                      <a:pt x="107" y="292"/>
                    </a:cubicBezTo>
                    <a:cubicBezTo>
                      <a:pt x="109" y="291"/>
                      <a:pt x="111" y="292"/>
                      <a:pt x="113" y="293"/>
                    </a:cubicBezTo>
                    <a:cubicBezTo>
                      <a:pt x="116" y="294"/>
                      <a:pt x="119" y="294"/>
                      <a:pt x="122" y="294"/>
                    </a:cubicBezTo>
                    <a:cubicBezTo>
                      <a:pt x="125" y="294"/>
                      <a:pt x="129" y="294"/>
                      <a:pt x="130" y="295"/>
                    </a:cubicBezTo>
                    <a:cubicBezTo>
                      <a:pt x="132" y="295"/>
                      <a:pt x="134" y="296"/>
                      <a:pt x="136" y="298"/>
                    </a:cubicBezTo>
                    <a:cubicBezTo>
                      <a:pt x="137" y="300"/>
                      <a:pt x="140" y="301"/>
                      <a:pt x="142" y="301"/>
                    </a:cubicBezTo>
                    <a:cubicBezTo>
                      <a:pt x="144" y="301"/>
                      <a:pt x="148" y="301"/>
                      <a:pt x="150" y="300"/>
                    </a:cubicBezTo>
                    <a:cubicBezTo>
                      <a:pt x="152" y="300"/>
                      <a:pt x="156" y="298"/>
                      <a:pt x="159" y="297"/>
                    </a:cubicBezTo>
                    <a:cubicBezTo>
                      <a:pt x="162" y="295"/>
                      <a:pt x="167" y="292"/>
                      <a:pt x="171" y="291"/>
                    </a:cubicBezTo>
                    <a:cubicBezTo>
                      <a:pt x="175" y="289"/>
                      <a:pt x="179" y="289"/>
                      <a:pt x="181" y="289"/>
                    </a:cubicBezTo>
                    <a:cubicBezTo>
                      <a:pt x="182" y="290"/>
                      <a:pt x="185" y="290"/>
                      <a:pt x="186" y="289"/>
                    </a:cubicBezTo>
                    <a:cubicBezTo>
                      <a:pt x="187" y="287"/>
                      <a:pt x="188" y="285"/>
                      <a:pt x="189" y="283"/>
                    </a:cubicBezTo>
                    <a:cubicBezTo>
                      <a:pt x="189" y="281"/>
                      <a:pt x="192" y="279"/>
                      <a:pt x="195" y="278"/>
                    </a:cubicBezTo>
                    <a:cubicBezTo>
                      <a:pt x="197" y="277"/>
                      <a:pt x="200" y="275"/>
                      <a:pt x="202" y="272"/>
                    </a:cubicBezTo>
                    <a:cubicBezTo>
                      <a:pt x="204" y="270"/>
                      <a:pt x="206" y="267"/>
                      <a:pt x="208" y="267"/>
                    </a:cubicBezTo>
                    <a:cubicBezTo>
                      <a:pt x="209" y="266"/>
                      <a:pt x="210" y="266"/>
                      <a:pt x="210" y="266"/>
                    </a:cubicBezTo>
                    <a:cubicBezTo>
                      <a:pt x="210" y="266"/>
                      <a:pt x="212" y="263"/>
                      <a:pt x="215" y="260"/>
                    </a:cubicBezTo>
                    <a:cubicBezTo>
                      <a:pt x="218" y="256"/>
                      <a:pt x="221" y="253"/>
                      <a:pt x="224" y="253"/>
                    </a:cubicBezTo>
                    <a:cubicBezTo>
                      <a:pt x="226" y="252"/>
                      <a:pt x="229" y="251"/>
                      <a:pt x="232" y="250"/>
                    </a:cubicBezTo>
                    <a:cubicBezTo>
                      <a:pt x="234" y="248"/>
                      <a:pt x="237" y="246"/>
                      <a:pt x="239" y="243"/>
                    </a:cubicBezTo>
                    <a:cubicBezTo>
                      <a:pt x="241" y="241"/>
                      <a:pt x="243" y="237"/>
                      <a:pt x="243" y="235"/>
                    </a:cubicBezTo>
                    <a:cubicBezTo>
                      <a:pt x="244" y="233"/>
                      <a:pt x="244" y="229"/>
                      <a:pt x="242" y="228"/>
                    </a:cubicBezTo>
                    <a:cubicBezTo>
                      <a:pt x="241" y="226"/>
                      <a:pt x="240" y="223"/>
                      <a:pt x="241" y="222"/>
                    </a:cubicBezTo>
                    <a:cubicBezTo>
                      <a:pt x="241" y="221"/>
                      <a:pt x="241" y="218"/>
                      <a:pt x="240" y="216"/>
                    </a:cubicBezTo>
                    <a:cubicBezTo>
                      <a:pt x="239" y="215"/>
                      <a:pt x="238" y="212"/>
                      <a:pt x="239" y="211"/>
                    </a:cubicBezTo>
                    <a:cubicBezTo>
                      <a:pt x="239" y="209"/>
                      <a:pt x="240" y="208"/>
                      <a:pt x="240" y="208"/>
                    </a:cubicBezTo>
                    <a:cubicBezTo>
                      <a:pt x="240" y="208"/>
                      <a:pt x="240" y="206"/>
                      <a:pt x="241" y="204"/>
                    </a:cubicBezTo>
                    <a:cubicBezTo>
                      <a:pt x="241" y="202"/>
                      <a:pt x="243" y="199"/>
                      <a:pt x="244" y="197"/>
                    </a:cubicBezTo>
                    <a:cubicBezTo>
                      <a:pt x="245" y="194"/>
                      <a:pt x="247" y="191"/>
                      <a:pt x="248" y="188"/>
                    </a:cubicBezTo>
                    <a:cubicBezTo>
                      <a:pt x="250" y="186"/>
                      <a:pt x="250" y="183"/>
                      <a:pt x="249" y="181"/>
                    </a:cubicBezTo>
                    <a:cubicBezTo>
                      <a:pt x="248" y="179"/>
                      <a:pt x="246" y="176"/>
                      <a:pt x="243" y="175"/>
                    </a:cubicBezTo>
                    <a:cubicBezTo>
                      <a:pt x="241" y="174"/>
                      <a:pt x="239" y="171"/>
                      <a:pt x="237" y="170"/>
                    </a:cubicBezTo>
                    <a:cubicBezTo>
                      <a:pt x="236" y="168"/>
                      <a:pt x="235" y="164"/>
                      <a:pt x="235" y="162"/>
                    </a:cubicBezTo>
                    <a:cubicBezTo>
                      <a:pt x="235" y="159"/>
                      <a:pt x="235" y="155"/>
                      <a:pt x="234" y="152"/>
                    </a:cubicBezTo>
                    <a:cubicBezTo>
                      <a:pt x="234" y="150"/>
                      <a:pt x="233" y="145"/>
                      <a:pt x="232" y="142"/>
                    </a:cubicBezTo>
                    <a:cubicBezTo>
                      <a:pt x="231" y="138"/>
                      <a:pt x="231" y="131"/>
                      <a:pt x="231" y="127"/>
                    </a:cubicBezTo>
                    <a:cubicBezTo>
                      <a:pt x="231" y="122"/>
                      <a:pt x="230" y="117"/>
                      <a:pt x="229" y="115"/>
                    </a:cubicBezTo>
                    <a:cubicBezTo>
                      <a:pt x="227" y="114"/>
                      <a:pt x="226" y="109"/>
                      <a:pt x="225" y="106"/>
                    </a:cubicBezTo>
                    <a:cubicBezTo>
                      <a:pt x="225" y="103"/>
                      <a:pt x="224" y="98"/>
                      <a:pt x="223" y="96"/>
                    </a:cubicBezTo>
                    <a:cubicBezTo>
                      <a:pt x="223" y="94"/>
                      <a:pt x="221" y="90"/>
                      <a:pt x="220" y="86"/>
                    </a:cubicBezTo>
                    <a:cubicBezTo>
                      <a:pt x="219" y="83"/>
                      <a:pt x="220" y="77"/>
                      <a:pt x="221" y="74"/>
                    </a:cubicBezTo>
                    <a:cubicBezTo>
                      <a:pt x="223" y="70"/>
                      <a:pt x="224" y="66"/>
                      <a:pt x="224" y="64"/>
                    </a:cubicBezTo>
                    <a:cubicBezTo>
                      <a:pt x="224" y="63"/>
                      <a:pt x="223" y="59"/>
                      <a:pt x="222" y="56"/>
                    </a:cubicBezTo>
                    <a:cubicBezTo>
                      <a:pt x="221" y="53"/>
                      <a:pt x="219" y="48"/>
                      <a:pt x="217" y="45"/>
                    </a:cubicBezTo>
                    <a:cubicBezTo>
                      <a:pt x="216" y="42"/>
                      <a:pt x="214" y="37"/>
                      <a:pt x="212" y="33"/>
                    </a:cubicBezTo>
                    <a:cubicBezTo>
                      <a:pt x="211" y="30"/>
                      <a:pt x="211" y="25"/>
                      <a:pt x="212" y="23"/>
                    </a:cubicBezTo>
                    <a:cubicBezTo>
                      <a:pt x="212" y="21"/>
                      <a:pt x="214" y="17"/>
                      <a:pt x="215" y="15"/>
                    </a:cubicBezTo>
                    <a:cubicBezTo>
                      <a:pt x="216" y="13"/>
                      <a:pt x="217" y="11"/>
                      <a:pt x="218" y="10"/>
                    </a:cubicBezTo>
                    <a:cubicBezTo>
                      <a:pt x="218" y="8"/>
                      <a:pt x="218" y="7"/>
                      <a:pt x="218" y="7"/>
                    </a:cubicBezTo>
                    <a:cubicBezTo>
                      <a:pt x="218" y="7"/>
                      <a:pt x="217" y="7"/>
                      <a:pt x="216" y="6"/>
                    </a:cubicBezTo>
                    <a:cubicBezTo>
                      <a:pt x="215" y="5"/>
                      <a:pt x="213" y="4"/>
                      <a:pt x="212" y="5"/>
                    </a:cubicBezTo>
                    <a:cubicBezTo>
                      <a:pt x="211" y="5"/>
                      <a:pt x="209" y="5"/>
                      <a:pt x="207" y="4"/>
                    </a:cubicBezTo>
                    <a:cubicBezTo>
                      <a:pt x="206" y="4"/>
                      <a:pt x="203" y="3"/>
                      <a:pt x="201" y="2"/>
                    </a:cubicBezTo>
                    <a:cubicBezTo>
                      <a:pt x="199" y="1"/>
                      <a:pt x="198" y="0"/>
                      <a:pt x="198" y="0"/>
                    </a:cubicBezTo>
                    <a:cubicBezTo>
                      <a:pt x="198" y="0"/>
                      <a:pt x="196" y="1"/>
                      <a:pt x="195" y="3"/>
                    </a:cubicBezTo>
                    <a:cubicBezTo>
                      <a:pt x="193" y="4"/>
                      <a:pt x="188" y="9"/>
                      <a:pt x="184" y="15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407924" tIns="203962" rIns="407924" bIns="20396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246">
                  <a:solidFill>
                    <a:srgbClr val="410B30"/>
                  </a:solidFill>
                </a:endParaRPr>
              </a:p>
            </p:txBody>
          </p:sp>
          <p:sp>
            <p:nvSpPr>
              <p:cNvPr id="1217" name="Freeform 20">
                <a:extLst>
                  <a:ext uri="{FF2B5EF4-FFF2-40B4-BE49-F238E27FC236}">
                    <a16:creationId xmlns:a16="http://schemas.microsoft.com/office/drawing/2014/main" id="{7F1875C7-6A1A-D3A2-3D99-EEBB2950BC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8360" y="2375309"/>
                <a:ext cx="1760447" cy="1275436"/>
              </a:xfrm>
              <a:custGeom>
                <a:avLst/>
                <a:gdLst/>
                <a:ahLst/>
                <a:cxnLst>
                  <a:cxn ang="0">
                    <a:pos x="331" y="537"/>
                  </a:cxn>
                  <a:cxn ang="0">
                    <a:pos x="362" y="537"/>
                  </a:cxn>
                  <a:cxn ang="0">
                    <a:pos x="384" y="526"/>
                  </a:cxn>
                  <a:cxn ang="0">
                    <a:pos x="400" y="515"/>
                  </a:cxn>
                  <a:cxn ang="0">
                    <a:pos x="426" y="507"/>
                  </a:cxn>
                  <a:cxn ang="0">
                    <a:pos x="440" y="494"/>
                  </a:cxn>
                  <a:cxn ang="0">
                    <a:pos x="454" y="468"/>
                  </a:cxn>
                  <a:cxn ang="0">
                    <a:pos x="497" y="472"/>
                  </a:cxn>
                  <a:cxn ang="0">
                    <a:pos x="520" y="493"/>
                  </a:cxn>
                  <a:cxn ang="0">
                    <a:pos x="543" y="494"/>
                  </a:cxn>
                  <a:cxn ang="0">
                    <a:pos x="686" y="481"/>
                  </a:cxn>
                  <a:cxn ang="0">
                    <a:pos x="690" y="455"/>
                  </a:cxn>
                  <a:cxn ang="0">
                    <a:pos x="696" y="431"/>
                  </a:cxn>
                  <a:cxn ang="0">
                    <a:pos x="686" y="407"/>
                  </a:cxn>
                  <a:cxn ang="0">
                    <a:pos x="726" y="311"/>
                  </a:cxn>
                  <a:cxn ang="0">
                    <a:pos x="765" y="191"/>
                  </a:cxn>
                  <a:cxn ang="0">
                    <a:pos x="737" y="172"/>
                  </a:cxn>
                  <a:cxn ang="0">
                    <a:pos x="696" y="150"/>
                  </a:cxn>
                  <a:cxn ang="0">
                    <a:pos x="669" y="121"/>
                  </a:cxn>
                  <a:cxn ang="0">
                    <a:pos x="662" y="91"/>
                  </a:cxn>
                  <a:cxn ang="0">
                    <a:pos x="596" y="110"/>
                  </a:cxn>
                  <a:cxn ang="0">
                    <a:pos x="572" y="128"/>
                  </a:cxn>
                  <a:cxn ang="0">
                    <a:pos x="541" y="134"/>
                  </a:cxn>
                  <a:cxn ang="0">
                    <a:pos x="518" y="149"/>
                  </a:cxn>
                  <a:cxn ang="0">
                    <a:pos x="501" y="131"/>
                  </a:cxn>
                  <a:cxn ang="0">
                    <a:pos x="500" y="110"/>
                  </a:cxn>
                  <a:cxn ang="0">
                    <a:pos x="495" y="85"/>
                  </a:cxn>
                  <a:cxn ang="0">
                    <a:pos x="497" y="55"/>
                  </a:cxn>
                  <a:cxn ang="0">
                    <a:pos x="484" y="26"/>
                  </a:cxn>
                  <a:cxn ang="0">
                    <a:pos x="470" y="5"/>
                  </a:cxn>
                  <a:cxn ang="0">
                    <a:pos x="451" y="5"/>
                  </a:cxn>
                  <a:cxn ang="0">
                    <a:pos x="428" y="17"/>
                  </a:cxn>
                  <a:cxn ang="0">
                    <a:pos x="410" y="38"/>
                  </a:cxn>
                  <a:cxn ang="0">
                    <a:pos x="389" y="47"/>
                  </a:cxn>
                  <a:cxn ang="0">
                    <a:pos x="369" y="64"/>
                  </a:cxn>
                  <a:cxn ang="0">
                    <a:pos x="358" y="66"/>
                  </a:cxn>
                  <a:cxn ang="0">
                    <a:pos x="340" y="68"/>
                  </a:cxn>
                  <a:cxn ang="0">
                    <a:pos x="310" y="63"/>
                  </a:cxn>
                  <a:cxn ang="0">
                    <a:pos x="288" y="50"/>
                  </a:cxn>
                  <a:cxn ang="0">
                    <a:pos x="282" y="23"/>
                  </a:cxn>
                  <a:cxn ang="0">
                    <a:pos x="254" y="26"/>
                  </a:cxn>
                  <a:cxn ang="0">
                    <a:pos x="235" y="22"/>
                  </a:cxn>
                  <a:cxn ang="0">
                    <a:pos x="208" y="33"/>
                  </a:cxn>
                  <a:cxn ang="0">
                    <a:pos x="168" y="35"/>
                  </a:cxn>
                  <a:cxn ang="0">
                    <a:pos x="182" y="65"/>
                  </a:cxn>
                  <a:cxn ang="0">
                    <a:pos x="184" y="82"/>
                  </a:cxn>
                  <a:cxn ang="0">
                    <a:pos x="155" y="89"/>
                  </a:cxn>
                  <a:cxn ang="0">
                    <a:pos x="173" y="139"/>
                  </a:cxn>
                  <a:cxn ang="0">
                    <a:pos x="184" y="176"/>
                  </a:cxn>
                  <a:cxn ang="0">
                    <a:pos x="168" y="281"/>
                  </a:cxn>
                  <a:cxn ang="0">
                    <a:pos x="154" y="310"/>
                  </a:cxn>
                  <a:cxn ang="0">
                    <a:pos x="128" y="306"/>
                  </a:cxn>
                  <a:cxn ang="0">
                    <a:pos x="103" y="318"/>
                  </a:cxn>
                  <a:cxn ang="0">
                    <a:pos x="77" y="324"/>
                  </a:cxn>
                  <a:cxn ang="0">
                    <a:pos x="52" y="345"/>
                  </a:cxn>
                  <a:cxn ang="0">
                    <a:pos x="32" y="365"/>
                  </a:cxn>
                  <a:cxn ang="0">
                    <a:pos x="22" y="406"/>
                  </a:cxn>
                  <a:cxn ang="0">
                    <a:pos x="3" y="436"/>
                  </a:cxn>
                  <a:cxn ang="0">
                    <a:pos x="36" y="463"/>
                  </a:cxn>
                  <a:cxn ang="0">
                    <a:pos x="155" y="490"/>
                  </a:cxn>
                  <a:cxn ang="0">
                    <a:pos x="264" y="537"/>
                  </a:cxn>
                  <a:cxn ang="0">
                    <a:pos x="317" y="557"/>
                  </a:cxn>
                </a:cxnLst>
                <a:rect l="0" t="0" r="r" b="b"/>
                <a:pathLst>
                  <a:path w="776" h="562">
                    <a:moveTo>
                      <a:pt x="318" y="550"/>
                    </a:moveTo>
                    <a:cubicBezTo>
                      <a:pt x="320" y="549"/>
                      <a:pt x="322" y="547"/>
                      <a:pt x="324" y="546"/>
                    </a:cubicBezTo>
                    <a:cubicBezTo>
                      <a:pt x="326" y="545"/>
                      <a:pt x="328" y="543"/>
                      <a:pt x="329" y="542"/>
                    </a:cubicBezTo>
                    <a:cubicBezTo>
                      <a:pt x="330" y="540"/>
                      <a:pt x="331" y="538"/>
                      <a:pt x="331" y="537"/>
                    </a:cubicBezTo>
                    <a:cubicBezTo>
                      <a:pt x="332" y="535"/>
                      <a:pt x="334" y="534"/>
                      <a:pt x="337" y="534"/>
                    </a:cubicBezTo>
                    <a:cubicBezTo>
                      <a:pt x="339" y="534"/>
                      <a:pt x="343" y="534"/>
                      <a:pt x="346" y="534"/>
                    </a:cubicBezTo>
                    <a:cubicBezTo>
                      <a:pt x="349" y="534"/>
                      <a:pt x="353" y="535"/>
                      <a:pt x="355" y="537"/>
                    </a:cubicBezTo>
                    <a:cubicBezTo>
                      <a:pt x="357" y="538"/>
                      <a:pt x="361" y="538"/>
                      <a:pt x="362" y="537"/>
                    </a:cubicBezTo>
                    <a:cubicBezTo>
                      <a:pt x="364" y="535"/>
                      <a:pt x="367" y="534"/>
                      <a:pt x="369" y="534"/>
                    </a:cubicBezTo>
                    <a:cubicBezTo>
                      <a:pt x="371" y="534"/>
                      <a:pt x="373" y="533"/>
                      <a:pt x="374" y="532"/>
                    </a:cubicBezTo>
                    <a:cubicBezTo>
                      <a:pt x="376" y="530"/>
                      <a:pt x="378" y="528"/>
                      <a:pt x="379" y="527"/>
                    </a:cubicBezTo>
                    <a:cubicBezTo>
                      <a:pt x="381" y="526"/>
                      <a:pt x="383" y="525"/>
                      <a:pt x="384" y="526"/>
                    </a:cubicBezTo>
                    <a:cubicBezTo>
                      <a:pt x="386" y="526"/>
                      <a:pt x="387" y="528"/>
                      <a:pt x="388" y="529"/>
                    </a:cubicBezTo>
                    <a:cubicBezTo>
                      <a:pt x="389" y="531"/>
                      <a:pt x="392" y="530"/>
                      <a:pt x="394" y="527"/>
                    </a:cubicBezTo>
                    <a:cubicBezTo>
                      <a:pt x="396" y="525"/>
                      <a:pt x="398" y="522"/>
                      <a:pt x="398" y="520"/>
                    </a:cubicBezTo>
                    <a:cubicBezTo>
                      <a:pt x="398" y="519"/>
                      <a:pt x="399" y="517"/>
                      <a:pt x="400" y="515"/>
                    </a:cubicBezTo>
                    <a:cubicBezTo>
                      <a:pt x="401" y="514"/>
                      <a:pt x="403" y="512"/>
                      <a:pt x="405" y="512"/>
                    </a:cubicBezTo>
                    <a:cubicBezTo>
                      <a:pt x="407" y="512"/>
                      <a:pt x="410" y="512"/>
                      <a:pt x="412" y="512"/>
                    </a:cubicBezTo>
                    <a:cubicBezTo>
                      <a:pt x="413" y="511"/>
                      <a:pt x="416" y="510"/>
                      <a:pt x="418" y="509"/>
                    </a:cubicBezTo>
                    <a:cubicBezTo>
                      <a:pt x="420" y="509"/>
                      <a:pt x="423" y="508"/>
                      <a:pt x="426" y="507"/>
                    </a:cubicBezTo>
                    <a:cubicBezTo>
                      <a:pt x="429" y="507"/>
                      <a:pt x="432" y="505"/>
                      <a:pt x="433" y="504"/>
                    </a:cubicBezTo>
                    <a:cubicBezTo>
                      <a:pt x="433" y="503"/>
                      <a:pt x="434" y="501"/>
                      <a:pt x="434" y="499"/>
                    </a:cubicBezTo>
                    <a:cubicBezTo>
                      <a:pt x="434" y="498"/>
                      <a:pt x="435" y="496"/>
                      <a:pt x="436" y="496"/>
                    </a:cubicBezTo>
                    <a:cubicBezTo>
                      <a:pt x="438" y="496"/>
                      <a:pt x="440" y="495"/>
                      <a:pt x="440" y="494"/>
                    </a:cubicBezTo>
                    <a:cubicBezTo>
                      <a:pt x="440" y="492"/>
                      <a:pt x="439" y="489"/>
                      <a:pt x="438" y="488"/>
                    </a:cubicBezTo>
                    <a:cubicBezTo>
                      <a:pt x="438" y="486"/>
                      <a:pt x="439" y="483"/>
                      <a:pt x="440" y="481"/>
                    </a:cubicBezTo>
                    <a:cubicBezTo>
                      <a:pt x="442" y="480"/>
                      <a:pt x="446" y="477"/>
                      <a:pt x="448" y="475"/>
                    </a:cubicBezTo>
                    <a:cubicBezTo>
                      <a:pt x="451" y="473"/>
                      <a:pt x="454" y="470"/>
                      <a:pt x="454" y="468"/>
                    </a:cubicBezTo>
                    <a:cubicBezTo>
                      <a:pt x="454" y="467"/>
                      <a:pt x="458" y="465"/>
                      <a:pt x="461" y="464"/>
                    </a:cubicBezTo>
                    <a:cubicBezTo>
                      <a:pt x="465" y="464"/>
                      <a:pt x="471" y="463"/>
                      <a:pt x="475" y="463"/>
                    </a:cubicBezTo>
                    <a:cubicBezTo>
                      <a:pt x="479" y="463"/>
                      <a:pt x="485" y="464"/>
                      <a:pt x="488" y="465"/>
                    </a:cubicBezTo>
                    <a:cubicBezTo>
                      <a:pt x="491" y="466"/>
                      <a:pt x="495" y="469"/>
                      <a:pt x="497" y="472"/>
                    </a:cubicBezTo>
                    <a:cubicBezTo>
                      <a:pt x="499" y="474"/>
                      <a:pt x="502" y="477"/>
                      <a:pt x="503" y="477"/>
                    </a:cubicBezTo>
                    <a:cubicBezTo>
                      <a:pt x="505" y="478"/>
                      <a:pt x="508" y="480"/>
                      <a:pt x="509" y="482"/>
                    </a:cubicBezTo>
                    <a:cubicBezTo>
                      <a:pt x="510" y="484"/>
                      <a:pt x="512" y="486"/>
                      <a:pt x="514" y="487"/>
                    </a:cubicBezTo>
                    <a:cubicBezTo>
                      <a:pt x="517" y="488"/>
                      <a:pt x="519" y="491"/>
                      <a:pt x="520" y="493"/>
                    </a:cubicBezTo>
                    <a:cubicBezTo>
                      <a:pt x="521" y="495"/>
                      <a:pt x="523" y="498"/>
                      <a:pt x="526" y="499"/>
                    </a:cubicBezTo>
                    <a:cubicBezTo>
                      <a:pt x="528" y="500"/>
                      <a:pt x="531" y="500"/>
                      <a:pt x="532" y="499"/>
                    </a:cubicBezTo>
                    <a:cubicBezTo>
                      <a:pt x="533" y="497"/>
                      <a:pt x="535" y="496"/>
                      <a:pt x="536" y="494"/>
                    </a:cubicBezTo>
                    <a:cubicBezTo>
                      <a:pt x="538" y="493"/>
                      <a:pt x="541" y="493"/>
                      <a:pt x="543" y="494"/>
                    </a:cubicBezTo>
                    <a:cubicBezTo>
                      <a:pt x="545" y="496"/>
                      <a:pt x="547" y="496"/>
                      <a:pt x="547" y="496"/>
                    </a:cubicBezTo>
                    <a:cubicBezTo>
                      <a:pt x="684" y="490"/>
                      <a:pt x="684" y="490"/>
                      <a:pt x="684" y="490"/>
                    </a:cubicBezTo>
                    <a:cubicBezTo>
                      <a:pt x="684" y="490"/>
                      <a:pt x="684" y="489"/>
                      <a:pt x="685" y="487"/>
                    </a:cubicBezTo>
                    <a:cubicBezTo>
                      <a:pt x="685" y="485"/>
                      <a:pt x="686" y="482"/>
                      <a:pt x="686" y="481"/>
                    </a:cubicBezTo>
                    <a:cubicBezTo>
                      <a:pt x="686" y="479"/>
                      <a:pt x="686" y="477"/>
                      <a:pt x="687" y="475"/>
                    </a:cubicBezTo>
                    <a:cubicBezTo>
                      <a:pt x="688" y="474"/>
                      <a:pt x="689" y="471"/>
                      <a:pt x="690" y="469"/>
                    </a:cubicBezTo>
                    <a:cubicBezTo>
                      <a:pt x="691" y="467"/>
                      <a:pt x="691" y="463"/>
                      <a:pt x="691" y="462"/>
                    </a:cubicBezTo>
                    <a:cubicBezTo>
                      <a:pt x="691" y="460"/>
                      <a:pt x="691" y="457"/>
                      <a:pt x="690" y="455"/>
                    </a:cubicBezTo>
                    <a:cubicBezTo>
                      <a:pt x="689" y="454"/>
                      <a:pt x="688" y="452"/>
                      <a:pt x="689" y="451"/>
                    </a:cubicBezTo>
                    <a:cubicBezTo>
                      <a:pt x="689" y="450"/>
                      <a:pt x="690" y="447"/>
                      <a:pt x="692" y="445"/>
                    </a:cubicBezTo>
                    <a:cubicBezTo>
                      <a:pt x="693" y="443"/>
                      <a:pt x="694" y="440"/>
                      <a:pt x="694" y="438"/>
                    </a:cubicBezTo>
                    <a:cubicBezTo>
                      <a:pt x="694" y="436"/>
                      <a:pt x="695" y="433"/>
                      <a:pt x="696" y="431"/>
                    </a:cubicBezTo>
                    <a:cubicBezTo>
                      <a:pt x="697" y="429"/>
                      <a:pt x="698" y="427"/>
                      <a:pt x="698" y="427"/>
                    </a:cubicBezTo>
                    <a:cubicBezTo>
                      <a:pt x="698" y="427"/>
                      <a:pt x="698" y="425"/>
                      <a:pt x="697" y="423"/>
                    </a:cubicBezTo>
                    <a:cubicBezTo>
                      <a:pt x="696" y="421"/>
                      <a:pt x="693" y="417"/>
                      <a:pt x="691" y="415"/>
                    </a:cubicBezTo>
                    <a:cubicBezTo>
                      <a:pt x="689" y="413"/>
                      <a:pt x="687" y="409"/>
                      <a:pt x="686" y="407"/>
                    </a:cubicBezTo>
                    <a:cubicBezTo>
                      <a:pt x="685" y="405"/>
                      <a:pt x="685" y="402"/>
                      <a:pt x="685" y="401"/>
                    </a:cubicBezTo>
                    <a:cubicBezTo>
                      <a:pt x="685" y="400"/>
                      <a:pt x="686" y="397"/>
                      <a:pt x="688" y="395"/>
                    </a:cubicBezTo>
                    <a:cubicBezTo>
                      <a:pt x="689" y="392"/>
                      <a:pt x="690" y="390"/>
                      <a:pt x="690" y="390"/>
                    </a:cubicBezTo>
                    <a:cubicBezTo>
                      <a:pt x="726" y="311"/>
                      <a:pt x="726" y="311"/>
                      <a:pt x="726" y="311"/>
                    </a:cubicBezTo>
                    <a:cubicBezTo>
                      <a:pt x="734" y="291"/>
                      <a:pt x="749" y="258"/>
                      <a:pt x="758" y="238"/>
                    </a:cubicBezTo>
                    <a:cubicBezTo>
                      <a:pt x="762" y="231"/>
                      <a:pt x="762" y="231"/>
                      <a:pt x="762" y="231"/>
                    </a:cubicBezTo>
                    <a:cubicBezTo>
                      <a:pt x="771" y="211"/>
                      <a:pt x="776" y="193"/>
                      <a:pt x="774" y="192"/>
                    </a:cubicBezTo>
                    <a:cubicBezTo>
                      <a:pt x="771" y="191"/>
                      <a:pt x="767" y="191"/>
                      <a:pt x="765" y="191"/>
                    </a:cubicBezTo>
                    <a:cubicBezTo>
                      <a:pt x="763" y="192"/>
                      <a:pt x="760" y="191"/>
                      <a:pt x="759" y="190"/>
                    </a:cubicBezTo>
                    <a:cubicBezTo>
                      <a:pt x="759" y="188"/>
                      <a:pt x="755" y="185"/>
                      <a:pt x="752" y="183"/>
                    </a:cubicBezTo>
                    <a:cubicBezTo>
                      <a:pt x="749" y="181"/>
                      <a:pt x="745" y="178"/>
                      <a:pt x="744" y="177"/>
                    </a:cubicBezTo>
                    <a:cubicBezTo>
                      <a:pt x="743" y="175"/>
                      <a:pt x="740" y="173"/>
                      <a:pt x="737" y="172"/>
                    </a:cubicBezTo>
                    <a:cubicBezTo>
                      <a:pt x="735" y="171"/>
                      <a:pt x="730" y="169"/>
                      <a:pt x="728" y="169"/>
                    </a:cubicBezTo>
                    <a:cubicBezTo>
                      <a:pt x="725" y="168"/>
                      <a:pt x="721" y="167"/>
                      <a:pt x="718" y="165"/>
                    </a:cubicBezTo>
                    <a:cubicBezTo>
                      <a:pt x="716" y="163"/>
                      <a:pt x="710" y="159"/>
                      <a:pt x="707" y="157"/>
                    </a:cubicBezTo>
                    <a:cubicBezTo>
                      <a:pt x="703" y="155"/>
                      <a:pt x="698" y="151"/>
                      <a:pt x="696" y="150"/>
                    </a:cubicBezTo>
                    <a:cubicBezTo>
                      <a:pt x="694" y="148"/>
                      <a:pt x="690" y="146"/>
                      <a:pt x="688" y="144"/>
                    </a:cubicBezTo>
                    <a:cubicBezTo>
                      <a:pt x="686" y="143"/>
                      <a:pt x="684" y="140"/>
                      <a:pt x="683" y="138"/>
                    </a:cubicBezTo>
                    <a:cubicBezTo>
                      <a:pt x="683" y="136"/>
                      <a:pt x="679" y="132"/>
                      <a:pt x="676" y="129"/>
                    </a:cubicBezTo>
                    <a:cubicBezTo>
                      <a:pt x="672" y="126"/>
                      <a:pt x="669" y="123"/>
                      <a:pt x="669" y="121"/>
                    </a:cubicBezTo>
                    <a:cubicBezTo>
                      <a:pt x="668" y="120"/>
                      <a:pt x="668" y="117"/>
                      <a:pt x="668" y="116"/>
                    </a:cubicBezTo>
                    <a:cubicBezTo>
                      <a:pt x="667" y="114"/>
                      <a:pt x="666" y="112"/>
                      <a:pt x="664" y="112"/>
                    </a:cubicBezTo>
                    <a:cubicBezTo>
                      <a:pt x="663" y="111"/>
                      <a:pt x="663" y="107"/>
                      <a:pt x="663" y="104"/>
                    </a:cubicBezTo>
                    <a:cubicBezTo>
                      <a:pt x="663" y="100"/>
                      <a:pt x="663" y="95"/>
                      <a:pt x="662" y="91"/>
                    </a:cubicBezTo>
                    <a:cubicBezTo>
                      <a:pt x="661" y="88"/>
                      <a:pt x="661" y="85"/>
                      <a:pt x="661" y="85"/>
                    </a:cubicBezTo>
                    <a:cubicBezTo>
                      <a:pt x="661" y="85"/>
                      <a:pt x="650" y="85"/>
                      <a:pt x="636" y="86"/>
                    </a:cubicBezTo>
                    <a:cubicBezTo>
                      <a:pt x="623" y="86"/>
                      <a:pt x="609" y="90"/>
                      <a:pt x="605" y="94"/>
                    </a:cubicBezTo>
                    <a:cubicBezTo>
                      <a:pt x="601" y="98"/>
                      <a:pt x="597" y="105"/>
                      <a:pt x="596" y="110"/>
                    </a:cubicBezTo>
                    <a:cubicBezTo>
                      <a:pt x="594" y="114"/>
                      <a:pt x="594" y="120"/>
                      <a:pt x="595" y="122"/>
                    </a:cubicBezTo>
                    <a:cubicBezTo>
                      <a:pt x="596" y="124"/>
                      <a:pt x="594" y="128"/>
                      <a:pt x="591" y="130"/>
                    </a:cubicBezTo>
                    <a:cubicBezTo>
                      <a:pt x="588" y="132"/>
                      <a:pt x="583" y="133"/>
                      <a:pt x="581" y="133"/>
                    </a:cubicBezTo>
                    <a:cubicBezTo>
                      <a:pt x="578" y="132"/>
                      <a:pt x="574" y="130"/>
                      <a:pt x="572" y="128"/>
                    </a:cubicBezTo>
                    <a:cubicBezTo>
                      <a:pt x="570" y="126"/>
                      <a:pt x="567" y="123"/>
                      <a:pt x="565" y="122"/>
                    </a:cubicBezTo>
                    <a:cubicBezTo>
                      <a:pt x="563" y="121"/>
                      <a:pt x="559" y="120"/>
                      <a:pt x="557" y="121"/>
                    </a:cubicBezTo>
                    <a:cubicBezTo>
                      <a:pt x="555" y="121"/>
                      <a:pt x="551" y="123"/>
                      <a:pt x="548" y="125"/>
                    </a:cubicBezTo>
                    <a:cubicBezTo>
                      <a:pt x="545" y="127"/>
                      <a:pt x="541" y="132"/>
                      <a:pt x="541" y="134"/>
                    </a:cubicBezTo>
                    <a:cubicBezTo>
                      <a:pt x="540" y="137"/>
                      <a:pt x="539" y="145"/>
                      <a:pt x="538" y="151"/>
                    </a:cubicBezTo>
                    <a:cubicBezTo>
                      <a:pt x="538" y="157"/>
                      <a:pt x="535" y="161"/>
                      <a:pt x="533" y="160"/>
                    </a:cubicBezTo>
                    <a:cubicBezTo>
                      <a:pt x="530" y="160"/>
                      <a:pt x="527" y="157"/>
                      <a:pt x="525" y="155"/>
                    </a:cubicBezTo>
                    <a:cubicBezTo>
                      <a:pt x="523" y="153"/>
                      <a:pt x="520" y="150"/>
                      <a:pt x="518" y="149"/>
                    </a:cubicBezTo>
                    <a:cubicBezTo>
                      <a:pt x="515" y="148"/>
                      <a:pt x="510" y="144"/>
                      <a:pt x="505" y="140"/>
                    </a:cubicBezTo>
                    <a:cubicBezTo>
                      <a:pt x="505" y="140"/>
                      <a:pt x="505" y="140"/>
                      <a:pt x="504" y="138"/>
                    </a:cubicBezTo>
                    <a:cubicBezTo>
                      <a:pt x="502" y="135"/>
                      <a:pt x="502" y="135"/>
                      <a:pt x="502" y="135"/>
                    </a:cubicBezTo>
                    <a:cubicBezTo>
                      <a:pt x="500" y="132"/>
                      <a:pt x="500" y="130"/>
                      <a:pt x="501" y="131"/>
                    </a:cubicBezTo>
                    <a:cubicBezTo>
                      <a:pt x="503" y="131"/>
                      <a:pt x="505" y="130"/>
                      <a:pt x="506" y="129"/>
                    </a:cubicBezTo>
                    <a:cubicBezTo>
                      <a:pt x="506" y="128"/>
                      <a:pt x="506" y="125"/>
                      <a:pt x="506" y="123"/>
                    </a:cubicBezTo>
                    <a:cubicBezTo>
                      <a:pt x="505" y="121"/>
                      <a:pt x="504" y="118"/>
                      <a:pt x="503" y="116"/>
                    </a:cubicBezTo>
                    <a:cubicBezTo>
                      <a:pt x="502" y="113"/>
                      <a:pt x="501" y="111"/>
                      <a:pt x="500" y="110"/>
                    </a:cubicBezTo>
                    <a:cubicBezTo>
                      <a:pt x="499" y="109"/>
                      <a:pt x="497" y="106"/>
                      <a:pt x="496" y="103"/>
                    </a:cubicBezTo>
                    <a:cubicBezTo>
                      <a:pt x="495" y="101"/>
                      <a:pt x="495" y="98"/>
                      <a:pt x="495" y="97"/>
                    </a:cubicBezTo>
                    <a:cubicBezTo>
                      <a:pt x="496" y="96"/>
                      <a:pt x="496" y="94"/>
                      <a:pt x="495" y="92"/>
                    </a:cubicBezTo>
                    <a:cubicBezTo>
                      <a:pt x="494" y="91"/>
                      <a:pt x="494" y="87"/>
                      <a:pt x="495" y="85"/>
                    </a:cubicBezTo>
                    <a:cubicBezTo>
                      <a:pt x="495" y="83"/>
                      <a:pt x="495" y="78"/>
                      <a:pt x="495" y="75"/>
                    </a:cubicBezTo>
                    <a:cubicBezTo>
                      <a:pt x="495" y="71"/>
                      <a:pt x="496" y="67"/>
                      <a:pt x="497" y="66"/>
                    </a:cubicBezTo>
                    <a:cubicBezTo>
                      <a:pt x="498" y="65"/>
                      <a:pt x="499" y="62"/>
                      <a:pt x="498" y="61"/>
                    </a:cubicBezTo>
                    <a:cubicBezTo>
                      <a:pt x="498" y="60"/>
                      <a:pt x="497" y="57"/>
                      <a:pt x="497" y="55"/>
                    </a:cubicBezTo>
                    <a:cubicBezTo>
                      <a:pt x="496" y="53"/>
                      <a:pt x="495" y="51"/>
                      <a:pt x="494" y="49"/>
                    </a:cubicBezTo>
                    <a:cubicBezTo>
                      <a:pt x="494" y="48"/>
                      <a:pt x="492" y="44"/>
                      <a:pt x="492" y="41"/>
                    </a:cubicBezTo>
                    <a:cubicBezTo>
                      <a:pt x="491" y="38"/>
                      <a:pt x="488" y="33"/>
                      <a:pt x="487" y="31"/>
                    </a:cubicBezTo>
                    <a:cubicBezTo>
                      <a:pt x="485" y="29"/>
                      <a:pt x="483" y="27"/>
                      <a:pt x="484" y="26"/>
                    </a:cubicBezTo>
                    <a:cubicBezTo>
                      <a:pt x="484" y="26"/>
                      <a:pt x="485" y="22"/>
                      <a:pt x="485" y="19"/>
                    </a:cubicBezTo>
                    <a:cubicBezTo>
                      <a:pt x="486" y="15"/>
                      <a:pt x="484" y="11"/>
                      <a:pt x="482" y="10"/>
                    </a:cubicBezTo>
                    <a:cubicBezTo>
                      <a:pt x="480" y="8"/>
                      <a:pt x="477" y="7"/>
                      <a:pt x="475" y="7"/>
                    </a:cubicBezTo>
                    <a:cubicBezTo>
                      <a:pt x="474" y="7"/>
                      <a:pt x="471" y="6"/>
                      <a:pt x="470" y="5"/>
                    </a:cubicBezTo>
                    <a:cubicBezTo>
                      <a:pt x="468" y="3"/>
                      <a:pt x="465" y="2"/>
                      <a:pt x="462" y="1"/>
                    </a:cubicBezTo>
                    <a:cubicBezTo>
                      <a:pt x="460" y="0"/>
                      <a:pt x="458" y="0"/>
                      <a:pt x="458" y="0"/>
                    </a:cubicBezTo>
                    <a:cubicBezTo>
                      <a:pt x="458" y="0"/>
                      <a:pt x="457" y="1"/>
                      <a:pt x="456" y="2"/>
                    </a:cubicBezTo>
                    <a:cubicBezTo>
                      <a:pt x="455" y="3"/>
                      <a:pt x="453" y="5"/>
                      <a:pt x="451" y="5"/>
                    </a:cubicBezTo>
                    <a:cubicBezTo>
                      <a:pt x="450" y="6"/>
                      <a:pt x="447" y="7"/>
                      <a:pt x="445" y="8"/>
                    </a:cubicBezTo>
                    <a:cubicBezTo>
                      <a:pt x="443" y="8"/>
                      <a:pt x="440" y="10"/>
                      <a:pt x="439" y="11"/>
                    </a:cubicBezTo>
                    <a:cubicBezTo>
                      <a:pt x="437" y="12"/>
                      <a:pt x="435" y="12"/>
                      <a:pt x="433" y="13"/>
                    </a:cubicBezTo>
                    <a:cubicBezTo>
                      <a:pt x="432" y="13"/>
                      <a:pt x="430" y="15"/>
                      <a:pt x="428" y="17"/>
                    </a:cubicBezTo>
                    <a:cubicBezTo>
                      <a:pt x="427" y="19"/>
                      <a:pt x="425" y="23"/>
                      <a:pt x="425" y="25"/>
                    </a:cubicBezTo>
                    <a:cubicBezTo>
                      <a:pt x="425" y="28"/>
                      <a:pt x="424" y="31"/>
                      <a:pt x="422" y="32"/>
                    </a:cubicBezTo>
                    <a:cubicBezTo>
                      <a:pt x="420" y="33"/>
                      <a:pt x="417" y="35"/>
                      <a:pt x="416" y="37"/>
                    </a:cubicBezTo>
                    <a:cubicBezTo>
                      <a:pt x="414" y="39"/>
                      <a:pt x="411" y="39"/>
                      <a:pt x="410" y="38"/>
                    </a:cubicBezTo>
                    <a:cubicBezTo>
                      <a:pt x="409" y="37"/>
                      <a:pt x="407" y="37"/>
                      <a:pt x="405" y="38"/>
                    </a:cubicBezTo>
                    <a:cubicBezTo>
                      <a:pt x="403" y="40"/>
                      <a:pt x="400" y="42"/>
                      <a:pt x="400" y="44"/>
                    </a:cubicBezTo>
                    <a:cubicBezTo>
                      <a:pt x="399" y="45"/>
                      <a:pt x="397" y="46"/>
                      <a:pt x="394" y="46"/>
                    </a:cubicBezTo>
                    <a:cubicBezTo>
                      <a:pt x="392" y="46"/>
                      <a:pt x="390" y="47"/>
                      <a:pt x="389" y="47"/>
                    </a:cubicBezTo>
                    <a:cubicBezTo>
                      <a:pt x="388" y="48"/>
                      <a:pt x="384" y="49"/>
                      <a:pt x="381" y="51"/>
                    </a:cubicBezTo>
                    <a:cubicBezTo>
                      <a:pt x="378" y="52"/>
                      <a:pt x="375" y="55"/>
                      <a:pt x="375" y="57"/>
                    </a:cubicBezTo>
                    <a:cubicBezTo>
                      <a:pt x="375" y="58"/>
                      <a:pt x="374" y="60"/>
                      <a:pt x="374" y="61"/>
                    </a:cubicBezTo>
                    <a:cubicBezTo>
                      <a:pt x="373" y="62"/>
                      <a:pt x="371" y="63"/>
                      <a:pt x="369" y="64"/>
                    </a:cubicBezTo>
                    <a:cubicBezTo>
                      <a:pt x="367" y="64"/>
                      <a:pt x="365" y="66"/>
                      <a:pt x="364" y="69"/>
                    </a:cubicBezTo>
                    <a:cubicBezTo>
                      <a:pt x="364" y="71"/>
                      <a:pt x="362" y="74"/>
                      <a:pt x="360" y="75"/>
                    </a:cubicBezTo>
                    <a:cubicBezTo>
                      <a:pt x="358" y="76"/>
                      <a:pt x="357" y="75"/>
                      <a:pt x="357" y="73"/>
                    </a:cubicBezTo>
                    <a:cubicBezTo>
                      <a:pt x="357" y="71"/>
                      <a:pt x="357" y="68"/>
                      <a:pt x="358" y="66"/>
                    </a:cubicBezTo>
                    <a:cubicBezTo>
                      <a:pt x="359" y="64"/>
                      <a:pt x="358" y="62"/>
                      <a:pt x="357" y="61"/>
                    </a:cubicBezTo>
                    <a:cubicBezTo>
                      <a:pt x="355" y="60"/>
                      <a:pt x="353" y="60"/>
                      <a:pt x="351" y="60"/>
                    </a:cubicBezTo>
                    <a:cubicBezTo>
                      <a:pt x="349" y="61"/>
                      <a:pt x="346" y="62"/>
                      <a:pt x="345" y="63"/>
                    </a:cubicBezTo>
                    <a:cubicBezTo>
                      <a:pt x="343" y="64"/>
                      <a:pt x="341" y="66"/>
                      <a:pt x="340" y="68"/>
                    </a:cubicBezTo>
                    <a:cubicBezTo>
                      <a:pt x="339" y="70"/>
                      <a:pt x="336" y="71"/>
                      <a:pt x="333" y="72"/>
                    </a:cubicBezTo>
                    <a:cubicBezTo>
                      <a:pt x="330" y="73"/>
                      <a:pt x="327" y="72"/>
                      <a:pt x="325" y="72"/>
                    </a:cubicBezTo>
                    <a:cubicBezTo>
                      <a:pt x="323" y="71"/>
                      <a:pt x="319" y="70"/>
                      <a:pt x="318" y="69"/>
                    </a:cubicBezTo>
                    <a:cubicBezTo>
                      <a:pt x="316" y="68"/>
                      <a:pt x="313" y="65"/>
                      <a:pt x="310" y="63"/>
                    </a:cubicBezTo>
                    <a:cubicBezTo>
                      <a:pt x="308" y="60"/>
                      <a:pt x="304" y="57"/>
                      <a:pt x="301" y="55"/>
                    </a:cubicBezTo>
                    <a:cubicBezTo>
                      <a:pt x="299" y="54"/>
                      <a:pt x="296" y="52"/>
                      <a:pt x="296" y="52"/>
                    </a:cubicBezTo>
                    <a:cubicBezTo>
                      <a:pt x="296" y="52"/>
                      <a:pt x="294" y="53"/>
                      <a:pt x="292" y="53"/>
                    </a:cubicBezTo>
                    <a:cubicBezTo>
                      <a:pt x="290" y="53"/>
                      <a:pt x="288" y="52"/>
                      <a:pt x="288" y="50"/>
                    </a:cubicBezTo>
                    <a:cubicBezTo>
                      <a:pt x="288" y="48"/>
                      <a:pt x="288" y="45"/>
                      <a:pt x="289" y="43"/>
                    </a:cubicBezTo>
                    <a:cubicBezTo>
                      <a:pt x="289" y="41"/>
                      <a:pt x="289" y="38"/>
                      <a:pt x="288" y="36"/>
                    </a:cubicBezTo>
                    <a:cubicBezTo>
                      <a:pt x="288" y="34"/>
                      <a:pt x="287" y="32"/>
                      <a:pt x="286" y="30"/>
                    </a:cubicBezTo>
                    <a:cubicBezTo>
                      <a:pt x="285" y="28"/>
                      <a:pt x="283" y="25"/>
                      <a:pt x="282" y="23"/>
                    </a:cubicBezTo>
                    <a:cubicBezTo>
                      <a:pt x="280" y="20"/>
                      <a:pt x="278" y="17"/>
                      <a:pt x="276" y="15"/>
                    </a:cubicBezTo>
                    <a:cubicBezTo>
                      <a:pt x="275" y="14"/>
                      <a:pt x="272" y="13"/>
                      <a:pt x="269" y="14"/>
                    </a:cubicBezTo>
                    <a:cubicBezTo>
                      <a:pt x="266" y="15"/>
                      <a:pt x="263" y="18"/>
                      <a:pt x="261" y="20"/>
                    </a:cubicBezTo>
                    <a:cubicBezTo>
                      <a:pt x="260" y="21"/>
                      <a:pt x="256" y="24"/>
                      <a:pt x="254" y="26"/>
                    </a:cubicBezTo>
                    <a:cubicBezTo>
                      <a:pt x="251" y="28"/>
                      <a:pt x="248" y="29"/>
                      <a:pt x="246" y="28"/>
                    </a:cubicBezTo>
                    <a:cubicBezTo>
                      <a:pt x="245" y="27"/>
                      <a:pt x="243" y="26"/>
                      <a:pt x="243" y="24"/>
                    </a:cubicBezTo>
                    <a:cubicBezTo>
                      <a:pt x="242" y="23"/>
                      <a:pt x="240" y="21"/>
                      <a:pt x="239" y="21"/>
                    </a:cubicBezTo>
                    <a:cubicBezTo>
                      <a:pt x="238" y="20"/>
                      <a:pt x="236" y="21"/>
                      <a:pt x="235" y="22"/>
                    </a:cubicBezTo>
                    <a:cubicBezTo>
                      <a:pt x="234" y="23"/>
                      <a:pt x="234" y="25"/>
                      <a:pt x="235" y="28"/>
                    </a:cubicBezTo>
                    <a:cubicBezTo>
                      <a:pt x="235" y="30"/>
                      <a:pt x="234" y="31"/>
                      <a:pt x="232" y="31"/>
                    </a:cubicBezTo>
                    <a:cubicBezTo>
                      <a:pt x="230" y="31"/>
                      <a:pt x="226" y="31"/>
                      <a:pt x="222" y="32"/>
                    </a:cubicBezTo>
                    <a:cubicBezTo>
                      <a:pt x="219" y="33"/>
                      <a:pt x="212" y="33"/>
                      <a:pt x="208" y="33"/>
                    </a:cubicBezTo>
                    <a:cubicBezTo>
                      <a:pt x="204" y="33"/>
                      <a:pt x="197" y="34"/>
                      <a:pt x="193" y="34"/>
                    </a:cubicBezTo>
                    <a:cubicBezTo>
                      <a:pt x="188" y="34"/>
                      <a:pt x="183" y="33"/>
                      <a:pt x="182" y="33"/>
                    </a:cubicBezTo>
                    <a:cubicBezTo>
                      <a:pt x="180" y="33"/>
                      <a:pt x="178" y="33"/>
                      <a:pt x="176" y="33"/>
                    </a:cubicBezTo>
                    <a:cubicBezTo>
                      <a:pt x="174" y="33"/>
                      <a:pt x="171" y="34"/>
                      <a:pt x="168" y="35"/>
                    </a:cubicBezTo>
                    <a:cubicBezTo>
                      <a:pt x="165" y="36"/>
                      <a:pt x="163" y="39"/>
                      <a:pt x="162" y="41"/>
                    </a:cubicBezTo>
                    <a:cubicBezTo>
                      <a:pt x="161" y="44"/>
                      <a:pt x="161" y="50"/>
                      <a:pt x="162" y="55"/>
                    </a:cubicBezTo>
                    <a:cubicBezTo>
                      <a:pt x="163" y="59"/>
                      <a:pt x="166" y="63"/>
                      <a:pt x="169" y="64"/>
                    </a:cubicBezTo>
                    <a:cubicBezTo>
                      <a:pt x="172" y="65"/>
                      <a:pt x="178" y="65"/>
                      <a:pt x="182" y="65"/>
                    </a:cubicBezTo>
                    <a:cubicBezTo>
                      <a:pt x="185" y="64"/>
                      <a:pt x="190" y="67"/>
                      <a:pt x="191" y="70"/>
                    </a:cubicBezTo>
                    <a:cubicBezTo>
                      <a:pt x="192" y="73"/>
                      <a:pt x="194" y="77"/>
                      <a:pt x="194" y="79"/>
                    </a:cubicBezTo>
                    <a:cubicBezTo>
                      <a:pt x="194" y="81"/>
                      <a:pt x="192" y="83"/>
                      <a:pt x="191" y="83"/>
                    </a:cubicBezTo>
                    <a:cubicBezTo>
                      <a:pt x="190" y="84"/>
                      <a:pt x="187" y="83"/>
                      <a:pt x="184" y="82"/>
                    </a:cubicBezTo>
                    <a:cubicBezTo>
                      <a:pt x="182" y="81"/>
                      <a:pt x="179" y="80"/>
                      <a:pt x="177" y="81"/>
                    </a:cubicBezTo>
                    <a:cubicBezTo>
                      <a:pt x="175" y="82"/>
                      <a:pt x="172" y="84"/>
                      <a:pt x="171" y="84"/>
                    </a:cubicBezTo>
                    <a:cubicBezTo>
                      <a:pt x="170" y="85"/>
                      <a:pt x="167" y="86"/>
                      <a:pt x="164" y="87"/>
                    </a:cubicBezTo>
                    <a:cubicBezTo>
                      <a:pt x="161" y="87"/>
                      <a:pt x="157" y="88"/>
                      <a:pt x="155" y="89"/>
                    </a:cubicBezTo>
                    <a:cubicBezTo>
                      <a:pt x="154" y="90"/>
                      <a:pt x="153" y="97"/>
                      <a:pt x="153" y="105"/>
                    </a:cubicBezTo>
                    <a:cubicBezTo>
                      <a:pt x="154" y="114"/>
                      <a:pt x="156" y="122"/>
                      <a:pt x="158" y="125"/>
                    </a:cubicBezTo>
                    <a:cubicBezTo>
                      <a:pt x="159" y="127"/>
                      <a:pt x="163" y="131"/>
                      <a:pt x="166" y="133"/>
                    </a:cubicBezTo>
                    <a:cubicBezTo>
                      <a:pt x="169" y="135"/>
                      <a:pt x="172" y="138"/>
                      <a:pt x="173" y="139"/>
                    </a:cubicBezTo>
                    <a:cubicBezTo>
                      <a:pt x="174" y="140"/>
                      <a:pt x="175" y="142"/>
                      <a:pt x="174" y="144"/>
                    </a:cubicBezTo>
                    <a:cubicBezTo>
                      <a:pt x="174" y="146"/>
                      <a:pt x="176" y="150"/>
                      <a:pt x="178" y="153"/>
                    </a:cubicBezTo>
                    <a:cubicBezTo>
                      <a:pt x="180" y="157"/>
                      <a:pt x="183" y="162"/>
                      <a:pt x="184" y="166"/>
                    </a:cubicBezTo>
                    <a:cubicBezTo>
                      <a:pt x="185" y="169"/>
                      <a:pt x="185" y="174"/>
                      <a:pt x="184" y="176"/>
                    </a:cubicBezTo>
                    <a:cubicBezTo>
                      <a:pt x="183" y="178"/>
                      <a:pt x="181" y="183"/>
                      <a:pt x="181" y="185"/>
                    </a:cubicBezTo>
                    <a:cubicBezTo>
                      <a:pt x="181" y="188"/>
                      <a:pt x="180" y="199"/>
                      <a:pt x="178" y="209"/>
                    </a:cubicBezTo>
                    <a:cubicBezTo>
                      <a:pt x="176" y="220"/>
                      <a:pt x="174" y="238"/>
                      <a:pt x="172" y="250"/>
                    </a:cubicBezTo>
                    <a:cubicBezTo>
                      <a:pt x="170" y="262"/>
                      <a:pt x="168" y="276"/>
                      <a:pt x="168" y="281"/>
                    </a:cubicBezTo>
                    <a:cubicBezTo>
                      <a:pt x="167" y="285"/>
                      <a:pt x="165" y="294"/>
                      <a:pt x="164" y="300"/>
                    </a:cubicBezTo>
                    <a:cubicBezTo>
                      <a:pt x="162" y="305"/>
                      <a:pt x="161" y="310"/>
                      <a:pt x="161" y="310"/>
                    </a:cubicBezTo>
                    <a:cubicBezTo>
                      <a:pt x="161" y="310"/>
                      <a:pt x="160" y="310"/>
                      <a:pt x="159" y="309"/>
                    </a:cubicBezTo>
                    <a:cubicBezTo>
                      <a:pt x="157" y="309"/>
                      <a:pt x="155" y="309"/>
                      <a:pt x="154" y="310"/>
                    </a:cubicBezTo>
                    <a:cubicBezTo>
                      <a:pt x="152" y="311"/>
                      <a:pt x="150" y="310"/>
                      <a:pt x="149" y="308"/>
                    </a:cubicBezTo>
                    <a:cubicBezTo>
                      <a:pt x="147" y="306"/>
                      <a:pt x="145" y="304"/>
                      <a:pt x="143" y="304"/>
                    </a:cubicBezTo>
                    <a:cubicBezTo>
                      <a:pt x="142" y="303"/>
                      <a:pt x="139" y="303"/>
                      <a:pt x="136" y="304"/>
                    </a:cubicBezTo>
                    <a:cubicBezTo>
                      <a:pt x="134" y="305"/>
                      <a:pt x="130" y="306"/>
                      <a:pt x="128" y="306"/>
                    </a:cubicBezTo>
                    <a:cubicBezTo>
                      <a:pt x="125" y="307"/>
                      <a:pt x="122" y="310"/>
                      <a:pt x="120" y="312"/>
                    </a:cubicBezTo>
                    <a:cubicBezTo>
                      <a:pt x="119" y="314"/>
                      <a:pt x="117" y="316"/>
                      <a:pt x="115" y="316"/>
                    </a:cubicBezTo>
                    <a:cubicBezTo>
                      <a:pt x="114" y="315"/>
                      <a:pt x="111" y="315"/>
                      <a:pt x="109" y="315"/>
                    </a:cubicBezTo>
                    <a:cubicBezTo>
                      <a:pt x="107" y="315"/>
                      <a:pt x="104" y="317"/>
                      <a:pt x="103" y="318"/>
                    </a:cubicBezTo>
                    <a:cubicBezTo>
                      <a:pt x="101" y="319"/>
                      <a:pt x="100" y="320"/>
                      <a:pt x="99" y="320"/>
                    </a:cubicBezTo>
                    <a:cubicBezTo>
                      <a:pt x="98" y="320"/>
                      <a:pt x="95" y="321"/>
                      <a:pt x="92" y="322"/>
                    </a:cubicBezTo>
                    <a:cubicBezTo>
                      <a:pt x="90" y="323"/>
                      <a:pt x="86" y="324"/>
                      <a:pt x="84" y="323"/>
                    </a:cubicBezTo>
                    <a:cubicBezTo>
                      <a:pt x="82" y="322"/>
                      <a:pt x="79" y="322"/>
                      <a:pt x="77" y="324"/>
                    </a:cubicBezTo>
                    <a:cubicBezTo>
                      <a:pt x="75" y="326"/>
                      <a:pt x="71" y="329"/>
                      <a:pt x="69" y="332"/>
                    </a:cubicBezTo>
                    <a:cubicBezTo>
                      <a:pt x="66" y="334"/>
                      <a:pt x="63" y="336"/>
                      <a:pt x="60" y="336"/>
                    </a:cubicBezTo>
                    <a:cubicBezTo>
                      <a:pt x="58" y="337"/>
                      <a:pt x="56" y="338"/>
                      <a:pt x="55" y="340"/>
                    </a:cubicBezTo>
                    <a:cubicBezTo>
                      <a:pt x="55" y="342"/>
                      <a:pt x="53" y="344"/>
                      <a:pt x="52" y="345"/>
                    </a:cubicBezTo>
                    <a:cubicBezTo>
                      <a:pt x="50" y="346"/>
                      <a:pt x="47" y="347"/>
                      <a:pt x="46" y="349"/>
                    </a:cubicBezTo>
                    <a:cubicBezTo>
                      <a:pt x="44" y="350"/>
                      <a:pt x="40" y="352"/>
                      <a:pt x="38" y="353"/>
                    </a:cubicBezTo>
                    <a:cubicBezTo>
                      <a:pt x="36" y="355"/>
                      <a:pt x="33" y="357"/>
                      <a:pt x="33" y="359"/>
                    </a:cubicBezTo>
                    <a:cubicBezTo>
                      <a:pt x="33" y="360"/>
                      <a:pt x="33" y="363"/>
                      <a:pt x="32" y="365"/>
                    </a:cubicBezTo>
                    <a:cubicBezTo>
                      <a:pt x="32" y="367"/>
                      <a:pt x="32" y="371"/>
                      <a:pt x="32" y="374"/>
                    </a:cubicBezTo>
                    <a:cubicBezTo>
                      <a:pt x="32" y="378"/>
                      <a:pt x="30" y="383"/>
                      <a:pt x="28" y="387"/>
                    </a:cubicBezTo>
                    <a:cubicBezTo>
                      <a:pt x="26" y="390"/>
                      <a:pt x="24" y="395"/>
                      <a:pt x="22" y="397"/>
                    </a:cubicBezTo>
                    <a:cubicBezTo>
                      <a:pt x="21" y="399"/>
                      <a:pt x="21" y="403"/>
                      <a:pt x="22" y="406"/>
                    </a:cubicBezTo>
                    <a:cubicBezTo>
                      <a:pt x="24" y="409"/>
                      <a:pt x="25" y="414"/>
                      <a:pt x="25" y="417"/>
                    </a:cubicBezTo>
                    <a:cubicBezTo>
                      <a:pt x="25" y="419"/>
                      <a:pt x="23" y="422"/>
                      <a:pt x="20" y="423"/>
                    </a:cubicBezTo>
                    <a:cubicBezTo>
                      <a:pt x="17" y="424"/>
                      <a:pt x="13" y="426"/>
                      <a:pt x="11" y="428"/>
                    </a:cubicBezTo>
                    <a:cubicBezTo>
                      <a:pt x="9" y="430"/>
                      <a:pt x="5" y="434"/>
                      <a:pt x="3" y="436"/>
                    </a:cubicBezTo>
                    <a:cubicBezTo>
                      <a:pt x="1" y="438"/>
                      <a:pt x="0" y="442"/>
                      <a:pt x="0" y="445"/>
                    </a:cubicBezTo>
                    <a:cubicBezTo>
                      <a:pt x="0" y="448"/>
                      <a:pt x="0" y="450"/>
                      <a:pt x="0" y="450"/>
                    </a:cubicBezTo>
                    <a:cubicBezTo>
                      <a:pt x="0" y="450"/>
                      <a:pt x="4" y="451"/>
                      <a:pt x="10" y="453"/>
                    </a:cubicBezTo>
                    <a:cubicBezTo>
                      <a:pt x="15" y="456"/>
                      <a:pt x="27" y="460"/>
                      <a:pt x="36" y="463"/>
                    </a:cubicBezTo>
                    <a:cubicBezTo>
                      <a:pt x="44" y="466"/>
                      <a:pt x="57" y="469"/>
                      <a:pt x="64" y="470"/>
                    </a:cubicBezTo>
                    <a:cubicBezTo>
                      <a:pt x="71" y="470"/>
                      <a:pt x="83" y="473"/>
                      <a:pt x="92" y="475"/>
                    </a:cubicBezTo>
                    <a:cubicBezTo>
                      <a:pt x="100" y="476"/>
                      <a:pt x="116" y="480"/>
                      <a:pt x="125" y="481"/>
                    </a:cubicBezTo>
                    <a:cubicBezTo>
                      <a:pt x="135" y="483"/>
                      <a:pt x="149" y="487"/>
                      <a:pt x="155" y="490"/>
                    </a:cubicBezTo>
                    <a:cubicBezTo>
                      <a:pt x="161" y="492"/>
                      <a:pt x="173" y="497"/>
                      <a:pt x="181" y="500"/>
                    </a:cubicBezTo>
                    <a:cubicBezTo>
                      <a:pt x="188" y="504"/>
                      <a:pt x="201" y="510"/>
                      <a:pt x="209" y="514"/>
                    </a:cubicBezTo>
                    <a:cubicBezTo>
                      <a:pt x="217" y="518"/>
                      <a:pt x="229" y="523"/>
                      <a:pt x="237" y="526"/>
                    </a:cubicBezTo>
                    <a:cubicBezTo>
                      <a:pt x="245" y="529"/>
                      <a:pt x="257" y="534"/>
                      <a:pt x="264" y="537"/>
                    </a:cubicBezTo>
                    <a:cubicBezTo>
                      <a:pt x="271" y="539"/>
                      <a:pt x="281" y="543"/>
                      <a:pt x="287" y="545"/>
                    </a:cubicBezTo>
                    <a:cubicBezTo>
                      <a:pt x="293" y="546"/>
                      <a:pt x="302" y="551"/>
                      <a:pt x="308" y="555"/>
                    </a:cubicBezTo>
                    <a:cubicBezTo>
                      <a:pt x="314" y="558"/>
                      <a:pt x="318" y="562"/>
                      <a:pt x="318" y="562"/>
                    </a:cubicBezTo>
                    <a:cubicBezTo>
                      <a:pt x="318" y="562"/>
                      <a:pt x="318" y="560"/>
                      <a:pt x="317" y="557"/>
                    </a:cubicBezTo>
                    <a:cubicBezTo>
                      <a:pt x="316" y="555"/>
                      <a:pt x="316" y="552"/>
                      <a:pt x="318" y="55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407924" tIns="203962" rIns="407924" bIns="20396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246" dirty="0"/>
              </a:p>
            </p:txBody>
          </p:sp>
          <p:sp>
            <p:nvSpPr>
              <p:cNvPr id="1218" name="Freeform 21">
                <a:extLst>
                  <a:ext uri="{FF2B5EF4-FFF2-40B4-BE49-F238E27FC236}">
                    <a16:creationId xmlns:a16="http://schemas.microsoft.com/office/drawing/2014/main" id="{523E7648-0A3D-1503-EECC-10D2BF27CF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93542" y="3337124"/>
                <a:ext cx="651164" cy="226659"/>
              </a:xfrm>
              <a:custGeom>
                <a:avLst/>
                <a:gdLst/>
                <a:ahLst/>
                <a:cxnLst>
                  <a:cxn ang="0">
                    <a:pos x="265" y="15"/>
                  </a:cxn>
                  <a:cxn ang="0">
                    <a:pos x="249" y="29"/>
                  </a:cxn>
                  <a:cxn ang="0">
                    <a:pos x="234" y="33"/>
                  </a:cxn>
                  <a:cxn ang="0">
                    <a:pos x="217" y="33"/>
                  </a:cxn>
                  <a:cxn ang="0">
                    <a:pos x="207" y="38"/>
                  </a:cxn>
                  <a:cxn ang="0">
                    <a:pos x="191" y="49"/>
                  </a:cxn>
                  <a:cxn ang="0">
                    <a:pos x="181" y="35"/>
                  </a:cxn>
                  <a:cxn ang="0">
                    <a:pos x="183" y="21"/>
                  </a:cxn>
                  <a:cxn ang="0">
                    <a:pos x="188" y="14"/>
                  </a:cxn>
                  <a:cxn ang="0">
                    <a:pos x="184" y="7"/>
                  </a:cxn>
                  <a:cxn ang="0">
                    <a:pos x="173" y="7"/>
                  </a:cxn>
                  <a:cxn ang="0">
                    <a:pos x="164" y="14"/>
                  </a:cxn>
                  <a:cxn ang="0">
                    <a:pos x="147" y="23"/>
                  </a:cxn>
                  <a:cxn ang="0">
                    <a:pos x="133" y="25"/>
                  </a:cxn>
                  <a:cxn ang="0">
                    <a:pos x="124" y="22"/>
                  </a:cxn>
                  <a:cxn ang="0">
                    <a:pos x="117" y="15"/>
                  </a:cxn>
                  <a:cxn ang="0">
                    <a:pos x="107" y="22"/>
                  </a:cxn>
                  <a:cxn ang="0">
                    <a:pos x="95" y="20"/>
                  </a:cxn>
                  <a:cxn ang="0">
                    <a:pos x="84" y="9"/>
                  </a:cxn>
                  <a:cxn ang="0">
                    <a:pos x="68" y="0"/>
                  </a:cxn>
                  <a:cxn ang="0">
                    <a:pos x="47" y="1"/>
                  </a:cxn>
                  <a:cxn ang="0">
                    <a:pos x="30" y="0"/>
                  </a:cxn>
                  <a:cxn ang="0">
                    <a:pos x="30" y="8"/>
                  </a:cxn>
                  <a:cxn ang="0">
                    <a:pos x="32" y="20"/>
                  </a:cxn>
                  <a:cxn ang="0">
                    <a:pos x="29" y="35"/>
                  </a:cxn>
                  <a:cxn ang="0">
                    <a:pos x="14" y="45"/>
                  </a:cxn>
                  <a:cxn ang="0">
                    <a:pos x="0" y="58"/>
                  </a:cxn>
                  <a:cxn ang="0">
                    <a:pos x="14" y="67"/>
                  </a:cxn>
                  <a:cxn ang="0">
                    <a:pos x="20" y="81"/>
                  </a:cxn>
                  <a:cxn ang="0">
                    <a:pos x="24" y="92"/>
                  </a:cxn>
                  <a:cxn ang="0">
                    <a:pos x="29" y="99"/>
                  </a:cxn>
                  <a:cxn ang="0">
                    <a:pos x="41" y="91"/>
                  </a:cxn>
                  <a:cxn ang="0">
                    <a:pos x="47" y="78"/>
                  </a:cxn>
                  <a:cxn ang="0">
                    <a:pos x="60" y="73"/>
                  </a:cxn>
                  <a:cxn ang="0">
                    <a:pos x="71" y="65"/>
                  </a:cxn>
                  <a:cxn ang="0">
                    <a:pos x="82" y="58"/>
                  </a:cxn>
                  <a:cxn ang="0">
                    <a:pos x="92" y="61"/>
                  </a:cxn>
                  <a:cxn ang="0">
                    <a:pos x="101" y="67"/>
                  </a:cxn>
                  <a:cxn ang="0">
                    <a:pos x="114" y="75"/>
                  </a:cxn>
                  <a:cxn ang="0">
                    <a:pos x="123" y="76"/>
                  </a:cxn>
                  <a:cxn ang="0">
                    <a:pos x="131" y="85"/>
                  </a:cxn>
                  <a:cxn ang="0">
                    <a:pos x="137" y="88"/>
                  </a:cxn>
                  <a:cxn ang="0">
                    <a:pos x="151" y="79"/>
                  </a:cxn>
                  <a:cxn ang="0">
                    <a:pos x="158" y="78"/>
                  </a:cxn>
                  <a:cxn ang="0">
                    <a:pos x="168" y="82"/>
                  </a:cxn>
                  <a:cxn ang="0">
                    <a:pos x="176" y="91"/>
                  </a:cxn>
                  <a:cxn ang="0">
                    <a:pos x="191" y="98"/>
                  </a:cxn>
                  <a:cxn ang="0">
                    <a:pos x="211" y="95"/>
                  </a:cxn>
                  <a:cxn ang="0">
                    <a:pos x="221" y="91"/>
                  </a:cxn>
                  <a:cxn ang="0">
                    <a:pos x="238" y="83"/>
                  </a:cxn>
                  <a:cxn ang="0">
                    <a:pos x="257" y="82"/>
                  </a:cxn>
                  <a:cxn ang="0">
                    <a:pos x="271" y="85"/>
                  </a:cxn>
                  <a:cxn ang="0">
                    <a:pos x="275" y="74"/>
                  </a:cxn>
                  <a:cxn ang="0">
                    <a:pos x="281" y="54"/>
                  </a:cxn>
                  <a:cxn ang="0">
                    <a:pos x="286" y="29"/>
                  </a:cxn>
                  <a:cxn ang="0">
                    <a:pos x="283" y="22"/>
                  </a:cxn>
                </a:cxnLst>
                <a:rect l="0" t="0" r="r" b="b"/>
                <a:pathLst>
                  <a:path w="287" h="100">
                    <a:moveTo>
                      <a:pt x="274" y="17"/>
                    </a:moveTo>
                    <a:cubicBezTo>
                      <a:pt x="272" y="16"/>
                      <a:pt x="268" y="15"/>
                      <a:pt x="265" y="15"/>
                    </a:cubicBezTo>
                    <a:cubicBezTo>
                      <a:pt x="262" y="16"/>
                      <a:pt x="259" y="18"/>
                      <a:pt x="257" y="22"/>
                    </a:cubicBezTo>
                    <a:cubicBezTo>
                      <a:pt x="255" y="25"/>
                      <a:pt x="252" y="28"/>
                      <a:pt x="249" y="29"/>
                    </a:cubicBezTo>
                    <a:cubicBezTo>
                      <a:pt x="246" y="29"/>
                      <a:pt x="243" y="31"/>
                      <a:pt x="241" y="32"/>
                    </a:cubicBezTo>
                    <a:cubicBezTo>
                      <a:pt x="239" y="33"/>
                      <a:pt x="236" y="34"/>
                      <a:pt x="234" y="33"/>
                    </a:cubicBezTo>
                    <a:cubicBezTo>
                      <a:pt x="232" y="32"/>
                      <a:pt x="228" y="31"/>
                      <a:pt x="225" y="31"/>
                    </a:cubicBezTo>
                    <a:cubicBezTo>
                      <a:pt x="222" y="31"/>
                      <a:pt x="218" y="32"/>
                      <a:pt x="217" y="33"/>
                    </a:cubicBezTo>
                    <a:cubicBezTo>
                      <a:pt x="216" y="34"/>
                      <a:pt x="214" y="35"/>
                      <a:pt x="213" y="34"/>
                    </a:cubicBezTo>
                    <a:cubicBezTo>
                      <a:pt x="212" y="34"/>
                      <a:pt x="209" y="36"/>
                      <a:pt x="207" y="38"/>
                    </a:cubicBezTo>
                    <a:cubicBezTo>
                      <a:pt x="205" y="41"/>
                      <a:pt x="202" y="45"/>
                      <a:pt x="200" y="47"/>
                    </a:cubicBezTo>
                    <a:cubicBezTo>
                      <a:pt x="197" y="50"/>
                      <a:pt x="193" y="51"/>
                      <a:pt x="191" y="49"/>
                    </a:cubicBezTo>
                    <a:cubicBezTo>
                      <a:pt x="188" y="48"/>
                      <a:pt x="185" y="44"/>
                      <a:pt x="185" y="41"/>
                    </a:cubicBezTo>
                    <a:cubicBezTo>
                      <a:pt x="185" y="38"/>
                      <a:pt x="183" y="36"/>
                      <a:pt x="181" y="35"/>
                    </a:cubicBezTo>
                    <a:cubicBezTo>
                      <a:pt x="179" y="35"/>
                      <a:pt x="179" y="33"/>
                      <a:pt x="180" y="30"/>
                    </a:cubicBezTo>
                    <a:cubicBezTo>
                      <a:pt x="181" y="28"/>
                      <a:pt x="183" y="24"/>
                      <a:pt x="183" y="21"/>
                    </a:cubicBezTo>
                    <a:cubicBezTo>
                      <a:pt x="184" y="18"/>
                      <a:pt x="185" y="16"/>
                      <a:pt x="185" y="16"/>
                    </a:cubicBezTo>
                    <a:cubicBezTo>
                      <a:pt x="186" y="16"/>
                      <a:pt x="187" y="15"/>
                      <a:pt x="188" y="14"/>
                    </a:cubicBezTo>
                    <a:cubicBezTo>
                      <a:pt x="189" y="12"/>
                      <a:pt x="189" y="11"/>
                      <a:pt x="188" y="10"/>
                    </a:cubicBezTo>
                    <a:cubicBezTo>
                      <a:pt x="188" y="10"/>
                      <a:pt x="186" y="8"/>
                      <a:pt x="184" y="7"/>
                    </a:cubicBezTo>
                    <a:cubicBezTo>
                      <a:pt x="182" y="6"/>
                      <a:pt x="179" y="6"/>
                      <a:pt x="177" y="6"/>
                    </a:cubicBezTo>
                    <a:cubicBezTo>
                      <a:pt x="176" y="6"/>
                      <a:pt x="174" y="7"/>
                      <a:pt x="173" y="7"/>
                    </a:cubicBezTo>
                    <a:cubicBezTo>
                      <a:pt x="172" y="7"/>
                      <a:pt x="170" y="8"/>
                      <a:pt x="169" y="9"/>
                    </a:cubicBezTo>
                    <a:cubicBezTo>
                      <a:pt x="168" y="11"/>
                      <a:pt x="166" y="13"/>
                      <a:pt x="164" y="14"/>
                    </a:cubicBezTo>
                    <a:cubicBezTo>
                      <a:pt x="163" y="14"/>
                      <a:pt x="159" y="17"/>
                      <a:pt x="156" y="19"/>
                    </a:cubicBezTo>
                    <a:cubicBezTo>
                      <a:pt x="153" y="21"/>
                      <a:pt x="149" y="23"/>
                      <a:pt x="147" y="23"/>
                    </a:cubicBezTo>
                    <a:cubicBezTo>
                      <a:pt x="145" y="23"/>
                      <a:pt x="141" y="24"/>
                      <a:pt x="139" y="25"/>
                    </a:cubicBezTo>
                    <a:cubicBezTo>
                      <a:pt x="136" y="26"/>
                      <a:pt x="134" y="26"/>
                      <a:pt x="133" y="25"/>
                    </a:cubicBezTo>
                    <a:cubicBezTo>
                      <a:pt x="133" y="23"/>
                      <a:pt x="131" y="22"/>
                      <a:pt x="130" y="22"/>
                    </a:cubicBezTo>
                    <a:cubicBezTo>
                      <a:pt x="129" y="23"/>
                      <a:pt x="126" y="23"/>
                      <a:pt x="124" y="22"/>
                    </a:cubicBezTo>
                    <a:cubicBezTo>
                      <a:pt x="122" y="22"/>
                      <a:pt x="119" y="20"/>
                      <a:pt x="118" y="19"/>
                    </a:cubicBezTo>
                    <a:cubicBezTo>
                      <a:pt x="118" y="17"/>
                      <a:pt x="117" y="15"/>
                      <a:pt x="117" y="15"/>
                    </a:cubicBezTo>
                    <a:cubicBezTo>
                      <a:pt x="117" y="15"/>
                      <a:pt x="115" y="16"/>
                      <a:pt x="113" y="17"/>
                    </a:cubicBezTo>
                    <a:cubicBezTo>
                      <a:pt x="111" y="19"/>
                      <a:pt x="108" y="21"/>
                      <a:pt x="107" y="22"/>
                    </a:cubicBezTo>
                    <a:cubicBezTo>
                      <a:pt x="105" y="23"/>
                      <a:pt x="103" y="24"/>
                      <a:pt x="102" y="24"/>
                    </a:cubicBezTo>
                    <a:cubicBezTo>
                      <a:pt x="100" y="24"/>
                      <a:pt x="98" y="22"/>
                      <a:pt x="95" y="20"/>
                    </a:cubicBezTo>
                    <a:cubicBezTo>
                      <a:pt x="93" y="18"/>
                      <a:pt x="91" y="15"/>
                      <a:pt x="90" y="14"/>
                    </a:cubicBezTo>
                    <a:cubicBezTo>
                      <a:pt x="89" y="12"/>
                      <a:pt x="86" y="10"/>
                      <a:pt x="84" y="9"/>
                    </a:cubicBezTo>
                    <a:cubicBezTo>
                      <a:pt x="81" y="8"/>
                      <a:pt x="78" y="5"/>
                      <a:pt x="77" y="4"/>
                    </a:cubicBezTo>
                    <a:cubicBezTo>
                      <a:pt x="76" y="2"/>
                      <a:pt x="72" y="0"/>
                      <a:pt x="68" y="0"/>
                    </a:cubicBezTo>
                    <a:cubicBezTo>
                      <a:pt x="64" y="0"/>
                      <a:pt x="59" y="0"/>
                      <a:pt x="56" y="1"/>
                    </a:cubicBezTo>
                    <a:cubicBezTo>
                      <a:pt x="54" y="2"/>
                      <a:pt x="50" y="2"/>
                      <a:pt x="47" y="1"/>
                    </a:cubicBezTo>
                    <a:cubicBezTo>
                      <a:pt x="44" y="0"/>
                      <a:pt x="39" y="0"/>
                      <a:pt x="36" y="0"/>
                    </a:cubicBezTo>
                    <a:cubicBezTo>
                      <a:pt x="32" y="0"/>
                      <a:pt x="30" y="0"/>
                      <a:pt x="30" y="0"/>
                    </a:cubicBezTo>
                    <a:cubicBezTo>
                      <a:pt x="30" y="0"/>
                      <a:pt x="29" y="1"/>
                      <a:pt x="29" y="3"/>
                    </a:cubicBezTo>
                    <a:cubicBezTo>
                      <a:pt x="28" y="4"/>
                      <a:pt x="29" y="7"/>
                      <a:pt x="30" y="8"/>
                    </a:cubicBezTo>
                    <a:cubicBezTo>
                      <a:pt x="31" y="10"/>
                      <a:pt x="31" y="13"/>
                      <a:pt x="31" y="14"/>
                    </a:cubicBezTo>
                    <a:cubicBezTo>
                      <a:pt x="30" y="15"/>
                      <a:pt x="31" y="18"/>
                      <a:pt x="32" y="20"/>
                    </a:cubicBezTo>
                    <a:cubicBezTo>
                      <a:pt x="34" y="21"/>
                      <a:pt x="34" y="25"/>
                      <a:pt x="33" y="27"/>
                    </a:cubicBezTo>
                    <a:cubicBezTo>
                      <a:pt x="33" y="29"/>
                      <a:pt x="31" y="33"/>
                      <a:pt x="29" y="35"/>
                    </a:cubicBezTo>
                    <a:cubicBezTo>
                      <a:pt x="27" y="38"/>
                      <a:pt x="24" y="40"/>
                      <a:pt x="22" y="42"/>
                    </a:cubicBezTo>
                    <a:cubicBezTo>
                      <a:pt x="19" y="43"/>
                      <a:pt x="16" y="44"/>
                      <a:pt x="14" y="45"/>
                    </a:cubicBezTo>
                    <a:cubicBezTo>
                      <a:pt x="11" y="45"/>
                      <a:pt x="8" y="48"/>
                      <a:pt x="5" y="52"/>
                    </a:cubicBezTo>
                    <a:cubicBezTo>
                      <a:pt x="2" y="55"/>
                      <a:pt x="0" y="58"/>
                      <a:pt x="0" y="58"/>
                    </a:cubicBezTo>
                    <a:cubicBezTo>
                      <a:pt x="0" y="58"/>
                      <a:pt x="2" y="59"/>
                      <a:pt x="6" y="61"/>
                    </a:cubicBezTo>
                    <a:cubicBezTo>
                      <a:pt x="9" y="62"/>
                      <a:pt x="12" y="65"/>
                      <a:pt x="14" y="67"/>
                    </a:cubicBezTo>
                    <a:cubicBezTo>
                      <a:pt x="15" y="69"/>
                      <a:pt x="17" y="72"/>
                      <a:pt x="17" y="74"/>
                    </a:cubicBezTo>
                    <a:cubicBezTo>
                      <a:pt x="17" y="76"/>
                      <a:pt x="18" y="79"/>
                      <a:pt x="20" y="81"/>
                    </a:cubicBezTo>
                    <a:cubicBezTo>
                      <a:pt x="21" y="82"/>
                      <a:pt x="23" y="84"/>
                      <a:pt x="24" y="85"/>
                    </a:cubicBezTo>
                    <a:cubicBezTo>
                      <a:pt x="25" y="86"/>
                      <a:pt x="25" y="89"/>
                      <a:pt x="24" y="92"/>
                    </a:cubicBezTo>
                    <a:cubicBezTo>
                      <a:pt x="23" y="94"/>
                      <a:pt x="23" y="96"/>
                      <a:pt x="23" y="96"/>
                    </a:cubicBezTo>
                    <a:cubicBezTo>
                      <a:pt x="24" y="97"/>
                      <a:pt x="27" y="98"/>
                      <a:pt x="29" y="99"/>
                    </a:cubicBezTo>
                    <a:cubicBezTo>
                      <a:pt x="31" y="100"/>
                      <a:pt x="34" y="99"/>
                      <a:pt x="35" y="97"/>
                    </a:cubicBezTo>
                    <a:cubicBezTo>
                      <a:pt x="37" y="95"/>
                      <a:pt x="40" y="93"/>
                      <a:pt x="41" y="91"/>
                    </a:cubicBezTo>
                    <a:cubicBezTo>
                      <a:pt x="42" y="89"/>
                      <a:pt x="44" y="86"/>
                      <a:pt x="44" y="83"/>
                    </a:cubicBezTo>
                    <a:cubicBezTo>
                      <a:pt x="44" y="80"/>
                      <a:pt x="46" y="78"/>
                      <a:pt x="47" y="78"/>
                    </a:cubicBezTo>
                    <a:cubicBezTo>
                      <a:pt x="49" y="78"/>
                      <a:pt x="52" y="78"/>
                      <a:pt x="54" y="78"/>
                    </a:cubicBezTo>
                    <a:cubicBezTo>
                      <a:pt x="56" y="78"/>
                      <a:pt x="59" y="76"/>
                      <a:pt x="60" y="73"/>
                    </a:cubicBezTo>
                    <a:cubicBezTo>
                      <a:pt x="62" y="70"/>
                      <a:pt x="64" y="68"/>
                      <a:pt x="66" y="68"/>
                    </a:cubicBezTo>
                    <a:cubicBezTo>
                      <a:pt x="68" y="67"/>
                      <a:pt x="70" y="66"/>
                      <a:pt x="71" y="65"/>
                    </a:cubicBezTo>
                    <a:cubicBezTo>
                      <a:pt x="73" y="63"/>
                      <a:pt x="75" y="61"/>
                      <a:pt x="76" y="60"/>
                    </a:cubicBezTo>
                    <a:cubicBezTo>
                      <a:pt x="78" y="59"/>
                      <a:pt x="80" y="58"/>
                      <a:pt x="82" y="58"/>
                    </a:cubicBezTo>
                    <a:cubicBezTo>
                      <a:pt x="84" y="58"/>
                      <a:pt x="86" y="58"/>
                      <a:pt x="87" y="58"/>
                    </a:cubicBezTo>
                    <a:cubicBezTo>
                      <a:pt x="89" y="58"/>
                      <a:pt x="91" y="59"/>
                      <a:pt x="92" y="61"/>
                    </a:cubicBezTo>
                    <a:cubicBezTo>
                      <a:pt x="93" y="63"/>
                      <a:pt x="95" y="65"/>
                      <a:pt x="96" y="65"/>
                    </a:cubicBezTo>
                    <a:cubicBezTo>
                      <a:pt x="98" y="65"/>
                      <a:pt x="100" y="66"/>
                      <a:pt x="101" y="67"/>
                    </a:cubicBezTo>
                    <a:cubicBezTo>
                      <a:pt x="102" y="69"/>
                      <a:pt x="105" y="70"/>
                      <a:pt x="108" y="71"/>
                    </a:cubicBezTo>
                    <a:cubicBezTo>
                      <a:pt x="110" y="71"/>
                      <a:pt x="113" y="73"/>
                      <a:pt x="114" y="75"/>
                    </a:cubicBezTo>
                    <a:cubicBezTo>
                      <a:pt x="115" y="77"/>
                      <a:pt x="117" y="77"/>
                      <a:pt x="119" y="75"/>
                    </a:cubicBezTo>
                    <a:cubicBezTo>
                      <a:pt x="120" y="73"/>
                      <a:pt x="122" y="73"/>
                      <a:pt x="123" y="76"/>
                    </a:cubicBezTo>
                    <a:cubicBezTo>
                      <a:pt x="124" y="79"/>
                      <a:pt x="126" y="81"/>
                      <a:pt x="127" y="81"/>
                    </a:cubicBezTo>
                    <a:cubicBezTo>
                      <a:pt x="128" y="81"/>
                      <a:pt x="130" y="83"/>
                      <a:pt x="131" y="85"/>
                    </a:cubicBezTo>
                    <a:cubicBezTo>
                      <a:pt x="132" y="87"/>
                      <a:pt x="132" y="89"/>
                      <a:pt x="132" y="89"/>
                    </a:cubicBezTo>
                    <a:cubicBezTo>
                      <a:pt x="132" y="89"/>
                      <a:pt x="134" y="89"/>
                      <a:pt x="137" y="88"/>
                    </a:cubicBezTo>
                    <a:cubicBezTo>
                      <a:pt x="139" y="88"/>
                      <a:pt x="143" y="86"/>
                      <a:pt x="146" y="85"/>
                    </a:cubicBezTo>
                    <a:cubicBezTo>
                      <a:pt x="148" y="84"/>
                      <a:pt x="150" y="81"/>
                      <a:pt x="151" y="79"/>
                    </a:cubicBezTo>
                    <a:cubicBezTo>
                      <a:pt x="152" y="77"/>
                      <a:pt x="154" y="75"/>
                      <a:pt x="154" y="76"/>
                    </a:cubicBezTo>
                    <a:cubicBezTo>
                      <a:pt x="155" y="76"/>
                      <a:pt x="157" y="77"/>
                      <a:pt x="158" y="78"/>
                    </a:cubicBezTo>
                    <a:cubicBezTo>
                      <a:pt x="159" y="79"/>
                      <a:pt x="161" y="79"/>
                      <a:pt x="162" y="79"/>
                    </a:cubicBezTo>
                    <a:cubicBezTo>
                      <a:pt x="164" y="79"/>
                      <a:pt x="166" y="80"/>
                      <a:pt x="168" y="82"/>
                    </a:cubicBezTo>
                    <a:cubicBezTo>
                      <a:pt x="169" y="83"/>
                      <a:pt x="171" y="85"/>
                      <a:pt x="172" y="86"/>
                    </a:cubicBezTo>
                    <a:cubicBezTo>
                      <a:pt x="173" y="87"/>
                      <a:pt x="175" y="89"/>
                      <a:pt x="176" y="91"/>
                    </a:cubicBezTo>
                    <a:cubicBezTo>
                      <a:pt x="177" y="93"/>
                      <a:pt x="179" y="95"/>
                      <a:pt x="182" y="95"/>
                    </a:cubicBezTo>
                    <a:cubicBezTo>
                      <a:pt x="184" y="96"/>
                      <a:pt x="188" y="97"/>
                      <a:pt x="191" y="98"/>
                    </a:cubicBezTo>
                    <a:cubicBezTo>
                      <a:pt x="194" y="98"/>
                      <a:pt x="199" y="98"/>
                      <a:pt x="202" y="98"/>
                    </a:cubicBezTo>
                    <a:cubicBezTo>
                      <a:pt x="205" y="97"/>
                      <a:pt x="209" y="96"/>
                      <a:pt x="211" y="95"/>
                    </a:cubicBezTo>
                    <a:cubicBezTo>
                      <a:pt x="212" y="95"/>
                      <a:pt x="215" y="94"/>
                      <a:pt x="216" y="94"/>
                    </a:cubicBezTo>
                    <a:cubicBezTo>
                      <a:pt x="218" y="94"/>
                      <a:pt x="220" y="93"/>
                      <a:pt x="221" y="91"/>
                    </a:cubicBezTo>
                    <a:cubicBezTo>
                      <a:pt x="222" y="90"/>
                      <a:pt x="224" y="87"/>
                      <a:pt x="227" y="86"/>
                    </a:cubicBezTo>
                    <a:cubicBezTo>
                      <a:pt x="229" y="84"/>
                      <a:pt x="234" y="83"/>
                      <a:pt x="238" y="83"/>
                    </a:cubicBezTo>
                    <a:cubicBezTo>
                      <a:pt x="242" y="83"/>
                      <a:pt x="247" y="82"/>
                      <a:pt x="249" y="81"/>
                    </a:cubicBezTo>
                    <a:cubicBezTo>
                      <a:pt x="252" y="81"/>
                      <a:pt x="255" y="81"/>
                      <a:pt x="257" y="82"/>
                    </a:cubicBezTo>
                    <a:cubicBezTo>
                      <a:pt x="259" y="83"/>
                      <a:pt x="263" y="84"/>
                      <a:pt x="266" y="84"/>
                    </a:cubicBezTo>
                    <a:cubicBezTo>
                      <a:pt x="269" y="84"/>
                      <a:pt x="271" y="85"/>
                      <a:pt x="271" y="85"/>
                    </a:cubicBezTo>
                    <a:cubicBezTo>
                      <a:pt x="271" y="85"/>
                      <a:pt x="271" y="83"/>
                      <a:pt x="272" y="81"/>
                    </a:cubicBezTo>
                    <a:cubicBezTo>
                      <a:pt x="273" y="78"/>
                      <a:pt x="274" y="75"/>
                      <a:pt x="275" y="74"/>
                    </a:cubicBezTo>
                    <a:cubicBezTo>
                      <a:pt x="276" y="72"/>
                      <a:pt x="277" y="68"/>
                      <a:pt x="278" y="66"/>
                    </a:cubicBezTo>
                    <a:cubicBezTo>
                      <a:pt x="278" y="63"/>
                      <a:pt x="280" y="57"/>
                      <a:pt x="281" y="54"/>
                    </a:cubicBezTo>
                    <a:cubicBezTo>
                      <a:pt x="282" y="50"/>
                      <a:pt x="283" y="44"/>
                      <a:pt x="284" y="40"/>
                    </a:cubicBezTo>
                    <a:cubicBezTo>
                      <a:pt x="285" y="36"/>
                      <a:pt x="285" y="31"/>
                      <a:pt x="286" y="29"/>
                    </a:cubicBezTo>
                    <a:cubicBezTo>
                      <a:pt x="287" y="26"/>
                      <a:pt x="287" y="24"/>
                      <a:pt x="287" y="24"/>
                    </a:cubicBezTo>
                    <a:cubicBezTo>
                      <a:pt x="287" y="24"/>
                      <a:pt x="285" y="23"/>
                      <a:pt x="283" y="22"/>
                    </a:cubicBezTo>
                    <a:cubicBezTo>
                      <a:pt x="281" y="21"/>
                      <a:pt x="277" y="19"/>
                      <a:pt x="274" y="1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407924" tIns="203962" rIns="407924" bIns="20396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246">
                  <a:solidFill>
                    <a:srgbClr val="410B30"/>
                  </a:solidFill>
                </a:endParaRPr>
              </a:p>
            </p:txBody>
          </p:sp>
          <p:sp>
            <p:nvSpPr>
              <p:cNvPr id="1219" name="Freeform 22">
                <a:extLst>
                  <a:ext uri="{FF2B5EF4-FFF2-40B4-BE49-F238E27FC236}">
                    <a16:creationId xmlns:a16="http://schemas.microsoft.com/office/drawing/2014/main" id="{0F433482-8A23-CF60-627D-6F311C5039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81230" y="3493716"/>
                <a:ext cx="315018" cy="181520"/>
              </a:xfrm>
              <a:custGeom>
                <a:avLst/>
                <a:gdLst/>
                <a:ahLst/>
                <a:cxnLst>
                  <a:cxn ang="0">
                    <a:pos x="125" y="7"/>
                  </a:cxn>
                  <a:cxn ang="0">
                    <a:pos x="117" y="6"/>
                  </a:cxn>
                  <a:cxn ang="0">
                    <a:pos x="106" y="8"/>
                  </a:cxn>
                  <a:cxn ang="0">
                    <a:pos x="95" y="11"/>
                  </a:cxn>
                  <a:cxn ang="0">
                    <a:pos x="89" y="16"/>
                  </a:cxn>
                  <a:cxn ang="0">
                    <a:pos x="84" y="19"/>
                  </a:cxn>
                  <a:cxn ang="0">
                    <a:pos x="79" y="20"/>
                  </a:cxn>
                  <a:cxn ang="0">
                    <a:pos x="70" y="23"/>
                  </a:cxn>
                  <a:cxn ang="0">
                    <a:pos x="59" y="23"/>
                  </a:cxn>
                  <a:cxn ang="0">
                    <a:pos x="50" y="20"/>
                  </a:cxn>
                  <a:cxn ang="0">
                    <a:pos x="44" y="16"/>
                  </a:cxn>
                  <a:cxn ang="0">
                    <a:pos x="40" y="11"/>
                  </a:cxn>
                  <a:cxn ang="0">
                    <a:pos x="36" y="7"/>
                  </a:cxn>
                  <a:cxn ang="0">
                    <a:pos x="30" y="4"/>
                  </a:cxn>
                  <a:cxn ang="0">
                    <a:pos x="26" y="3"/>
                  </a:cxn>
                  <a:cxn ang="0">
                    <a:pos x="22" y="1"/>
                  </a:cxn>
                  <a:cxn ang="0">
                    <a:pos x="19" y="4"/>
                  </a:cxn>
                  <a:cxn ang="0">
                    <a:pos x="14" y="10"/>
                  </a:cxn>
                  <a:cxn ang="0">
                    <a:pos x="5" y="13"/>
                  </a:cxn>
                  <a:cxn ang="0">
                    <a:pos x="0" y="14"/>
                  </a:cxn>
                  <a:cxn ang="0">
                    <a:pos x="1" y="20"/>
                  </a:cxn>
                  <a:cxn ang="0">
                    <a:pos x="4" y="26"/>
                  </a:cxn>
                  <a:cxn ang="0">
                    <a:pos x="9" y="29"/>
                  </a:cxn>
                  <a:cxn ang="0">
                    <a:pos x="10" y="31"/>
                  </a:cxn>
                  <a:cxn ang="0">
                    <a:pos x="13" y="32"/>
                  </a:cxn>
                  <a:cxn ang="0">
                    <a:pos x="19" y="36"/>
                  </a:cxn>
                  <a:cxn ang="0">
                    <a:pos x="25" y="39"/>
                  </a:cxn>
                  <a:cxn ang="0">
                    <a:pos x="32" y="41"/>
                  </a:cxn>
                  <a:cxn ang="0">
                    <a:pos x="40" y="44"/>
                  </a:cxn>
                  <a:cxn ang="0">
                    <a:pos x="50" y="51"/>
                  </a:cxn>
                  <a:cxn ang="0">
                    <a:pos x="57" y="58"/>
                  </a:cxn>
                  <a:cxn ang="0">
                    <a:pos x="60" y="64"/>
                  </a:cxn>
                  <a:cxn ang="0">
                    <a:pos x="66" y="67"/>
                  </a:cxn>
                  <a:cxn ang="0">
                    <a:pos x="71" y="72"/>
                  </a:cxn>
                  <a:cxn ang="0">
                    <a:pos x="76" y="78"/>
                  </a:cxn>
                  <a:cxn ang="0">
                    <a:pos x="79" y="80"/>
                  </a:cxn>
                  <a:cxn ang="0">
                    <a:pos x="81" y="79"/>
                  </a:cxn>
                  <a:cxn ang="0">
                    <a:pos x="84" y="75"/>
                  </a:cxn>
                  <a:cxn ang="0">
                    <a:pos x="90" y="68"/>
                  </a:cxn>
                  <a:cxn ang="0">
                    <a:pos x="98" y="59"/>
                  </a:cxn>
                  <a:cxn ang="0">
                    <a:pos x="103" y="53"/>
                  </a:cxn>
                  <a:cxn ang="0">
                    <a:pos x="105" y="46"/>
                  </a:cxn>
                  <a:cxn ang="0">
                    <a:pos x="108" y="44"/>
                  </a:cxn>
                  <a:cxn ang="0">
                    <a:pos x="116" y="39"/>
                  </a:cxn>
                  <a:cxn ang="0">
                    <a:pos x="125" y="30"/>
                  </a:cxn>
                  <a:cxn ang="0">
                    <a:pos x="132" y="22"/>
                  </a:cxn>
                  <a:cxn ang="0">
                    <a:pos x="137" y="14"/>
                  </a:cxn>
                  <a:cxn ang="0">
                    <a:pos x="139" y="10"/>
                  </a:cxn>
                  <a:cxn ang="0">
                    <a:pos x="134" y="9"/>
                  </a:cxn>
                  <a:cxn ang="0">
                    <a:pos x="125" y="7"/>
                  </a:cxn>
                </a:cxnLst>
                <a:rect l="0" t="0" r="r" b="b"/>
                <a:pathLst>
                  <a:path w="139" h="80">
                    <a:moveTo>
                      <a:pt x="125" y="7"/>
                    </a:moveTo>
                    <a:cubicBezTo>
                      <a:pt x="123" y="6"/>
                      <a:pt x="120" y="6"/>
                      <a:pt x="117" y="6"/>
                    </a:cubicBezTo>
                    <a:cubicBezTo>
                      <a:pt x="115" y="7"/>
                      <a:pt x="110" y="8"/>
                      <a:pt x="106" y="8"/>
                    </a:cubicBezTo>
                    <a:cubicBezTo>
                      <a:pt x="102" y="8"/>
                      <a:pt x="97" y="9"/>
                      <a:pt x="95" y="11"/>
                    </a:cubicBezTo>
                    <a:cubicBezTo>
                      <a:pt x="92" y="12"/>
                      <a:pt x="90" y="15"/>
                      <a:pt x="89" y="16"/>
                    </a:cubicBezTo>
                    <a:cubicBezTo>
                      <a:pt x="88" y="18"/>
                      <a:pt x="86" y="19"/>
                      <a:pt x="84" y="19"/>
                    </a:cubicBezTo>
                    <a:cubicBezTo>
                      <a:pt x="83" y="19"/>
                      <a:pt x="80" y="20"/>
                      <a:pt x="79" y="20"/>
                    </a:cubicBezTo>
                    <a:cubicBezTo>
                      <a:pt x="77" y="21"/>
                      <a:pt x="73" y="22"/>
                      <a:pt x="70" y="23"/>
                    </a:cubicBezTo>
                    <a:cubicBezTo>
                      <a:pt x="67" y="23"/>
                      <a:pt x="62" y="23"/>
                      <a:pt x="59" y="23"/>
                    </a:cubicBezTo>
                    <a:cubicBezTo>
                      <a:pt x="56" y="22"/>
                      <a:pt x="52" y="21"/>
                      <a:pt x="50" y="20"/>
                    </a:cubicBezTo>
                    <a:cubicBezTo>
                      <a:pt x="47" y="20"/>
                      <a:pt x="45" y="18"/>
                      <a:pt x="44" y="16"/>
                    </a:cubicBezTo>
                    <a:cubicBezTo>
                      <a:pt x="43" y="14"/>
                      <a:pt x="41" y="12"/>
                      <a:pt x="40" y="11"/>
                    </a:cubicBezTo>
                    <a:cubicBezTo>
                      <a:pt x="39" y="10"/>
                      <a:pt x="37" y="8"/>
                      <a:pt x="36" y="7"/>
                    </a:cubicBezTo>
                    <a:cubicBezTo>
                      <a:pt x="34" y="5"/>
                      <a:pt x="32" y="4"/>
                      <a:pt x="30" y="4"/>
                    </a:cubicBezTo>
                    <a:cubicBezTo>
                      <a:pt x="29" y="4"/>
                      <a:pt x="27" y="4"/>
                      <a:pt x="26" y="3"/>
                    </a:cubicBezTo>
                    <a:cubicBezTo>
                      <a:pt x="25" y="2"/>
                      <a:pt x="23" y="1"/>
                      <a:pt x="22" y="1"/>
                    </a:cubicBezTo>
                    <a:cubicBezTo>
                      <a:pt x="22" y="0"/>
                      <a:pt x="20" y="2"/>
                      <a:pt x="19" y="4"/>
                    </a:cubicBezTo>
                    <a:cubicBezTo>
                      <a:pt x="18" y="6"/>
                      <a:pt x="16" y="9"/>
                      <a:pt x="14" y="10"/>
                    </a:cubicBezTo>
                    <a:cubicBezTo>
                      <a:pt x="11" y="11"/>
                      <a:pt x="7" y="13"/>
                      <a:pt x="5" y="13"/>
                    </a:cubicBezTo>
                    <a:cubicBezTo>
                      <a:pt x="2" y="14"/>
                      <a:pt x="0" y="14"/>
                      <a:pt x="0" y="14"/>
                    </a:cubicBezTo>
                    <a:cubicBezTo>
                      <a:pt x="0" y="14"/>
                      <a:pt x="0" y="17"/>
                      <a:pt x="1" y="20"/>
                    </a:cubicBezTo>
                    <a:cubicBezTo>
                      <a:pt x="1" y="23"/>
                      <a:pt x="2" y="26"/>
                      <a:pt x="4" y="26"/>
                    </a:cubicBezTo>
                    <a:cubicBezTo>
                      <a:pt x="6" y="26"/>
                      <a:pt x="8" y="27"/>
                      <a:pt x="9" y="29"/>
                    </a:cubicBezTo>
                    <a:cubicBezTo>
                      <a:pt x="9" y="30"/>
                      <a:pt x="10" y="31"/>
                      <a:pt x="10" y="31"/>
                    </a:cubicBezTo>
                    <a:cubicBezTo>
                      <a:pt x="10" y="31"/>
                      <a:pt x="11" y="32"/>
                      <a:pt x="13" y="32"/>
                    </a:cubicBezTo>
                    <a:cubicBezTo>
                      <a:pt x="15" y="33"/>
                      <a:pt x="18" y="35"/>
                      <a:pt x="19" y="36"/>
                    </a:cubicBezTo>
                    <a:cubicBezTo>
                      <a:pt x="21" y="37"/>
                      <a:pt x="24" y="38"/>
                      <a:pt x="25" y="39"/>
                    </a:cubicBezTo>
                    <a:cubicBezTo>
                      <a:pt x="27" y="40"/>
                      <a:pt x="30" y="41"/>
                      <a:pt x="32" y="41"/>
                    </a:cubicBezTo>
                    <a:cubicBezTo>
                      <a:pt x="35" y="41"/>
                      <a:pt x="38" y="43"/>
                      <a:pt x="40" y="44"/>
                    </a:cubicBezTo>
                    <a:cubicBezTo>
                      <a:pt x="42" y="46"/>
                      <a:pt x="46" y="49"/>
                      <a:pt x="50" y="51"/>
                    </a:cubicBezTo>
                    <a:cubicBezTo>
                      <a:pt x="53" y="53"/>
                      <a:pt x="56" y="56"/>
                      <a:pt x="57" y="58"/>
                    </a:cubicBezTo>
                    <a:cubicBezTo>
                      <a:pt x="57" y="60"/>
                      <a:pt x="59" y="62"/>
                      <a:pt x="60" y="64"/>
                    </a:cubicBezTo>
                    <a:cubicBezTo>
                      <a:pt x="62" y="65"/>
                      <a:pt x="64" y="67"/>
                      <a:pt x="66" y="67"/>
                    </a:cubicBezTo>
                    <a:cubicBezTo>
                      <a:pt x="68" y="67"/>
                      <a:pt x="70" y="69"/>
                      <a:pt x="71" y="72"/>
                    </a:cubicBezTo>
                    <a:cubicBezTo>
                      <a:pt x="72" y="74"/>
                      <a:pt x="74" y="77"/>
                      <a:pt x="76" y="78"/>
                    </a:cubicBezTo>
                    <a:cubicBezTo>
                      <a:pt x="78" y="79"/>
                      <a:pt x="79" y="80"/>
                      <a:pt x="79" y="80"/>
                    </a:cubicBezTo>
                    <a:cubicBezTo>
                      <a:pt x="79" y="80"/>
                      <a:pt x="80" y="80"/>
                      <a:pt x="81" y="79"/>
                    </a:cubicBezTo>
                    <a:cubicBezTo>
                      <a:pt x="83" y="78"/>
                      <a:pt x="84" y="76"/>
                      <a:pt x="84" y="75"/>
                    </a:cubicBezTo>
                    <a:cubicBezTo>
                      <a:pt x="84" y="73"/>
                      <a:pt x="86" y="70"/>
                      <a:pt x="90" y="68"/>
                    </a:cubicBezTo>
                    <a:cubicBezTo>
                      <a:pt x="93" y="65"/>
                      <a:pt x="97" y="61"/>
                      <a:pt x="98" y="59"/>
                    </a:cubicBezTo>
                    <a:cubicBezTo>
                      <a:pt x="99" y="57"/>
                      <a:pt x="101" y="54"/>
                      <a:pt x="103" y="53"/>
                    </a:cubicBezTo>
                    <a:cubicBezTo>
                      <a:pt x="104" y="51"/>
                      <a:pt x="105" y="48"/>
                      <a:pt x="105" y="46"/>
                    </a:cubicBezTo>
                    <a:cubicBezTo>
                      <a:pt x="105" y="44"/>
                      <a:pt x="106" y="43"/>
                      <a:pt x="108" y="44"/>
                    </a:cubicBezTo>
                    <a:cubicBezTo>
                      <a:pt x="110" y="44"/>
                      <a:pt x="114" y="42"/>
                      <a:pt x="116" y="39"/>
                    </a:cubicBezTo>
                    <a:cubicBezTo>
                      <a:pt x="118" y="37"/>
                      <a:pt x="122" y="32"/>
                      <a:pt x="125" y="30"/>
                    </a:cubicBezTo>
                    <a:cubicBezTo>
                      <a:pt x="128" y="28"/>
                      <a:pt x="131" y="24"/>
                      <a:pt x="132" y="22"/>
                    </a:cubicBezTo>
                    <a:cubicBezTo>
                      <a:pt x="134" y="20"/>
                      <a:pt x="136" y="16"/>
                      <a:pt x="137" y="14"/>
                    </a:cubicBezTo>
                    <a:cubicBezTo>
                      <a:pt x="138" y="11"/>
                      <a:pt x="139" y="10"/>
                      <a:pt x="139" y="10"/>
                    </a:cubicBezTo>
                    <a:cubicBezTo>
                      <a:pt x="139" y="10"/>
                      <a:pt x="137" y="9"/>
                      <a:pt x="134" y="9"/>
                    </a:cubicBezTo>
                    <a:cubicBezTo>
                      <a:pt x="131" y="9"/>
                      <a:pt x="127" y="8"/>
                      <a:pt x="125" y="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407924" tIns="203962" rIns="407924" bIns="20396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246">
                  <a:solidFill>
                    <a:srgbClr val="410B30"/>
                  </a:solidFill>
                </a:endParaRPr>
              </a:p>
            </p:txBody>
          </p:sp>
          <p:sp>
            <p:nvSpPr>
              <p:cNvPr id="1220" name="Freeform 23">
                <a:extLst>
                  <a:ext uri="{FF2B5EF4-FFF2-40B4-BE49-F238E27FC236}">
                    <a16:creationId xmlns:a16="http://schemas.microsoft.com/office/drawing/2014/main" id="{1895767F-7532-04AE-1F7C-2426F9B86C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82805" y="3556099"/>
                <a:ext cx="184401" cy="211292"/>
              </a:xfrm>
              <a:custGeom>
                <a:avLst/>
                <a:gdLst/>
                <a:ahLst/>
                <a:cxnLst>
                  <a:cxn ang="0">
                    <a:pos x="73" y="41"/>
                  </a:cxn>
                  <a:cxn ang="0">
                    <a:pos x="68" y="36"/>
                  </a:cxn>
                  <a:cxn ang="0">
                    <a:pos x="62" y="33"/>
                  </a:cxn>
                  <a:cxn ang="0">
                    <a:pos x="59" y="27"/>
                  </a:cxn>
                  <a:cxn ang="0">
                    <a:pos x="52" y="20"/>
                  </a:cxn>
                  <a:cxn ang="0">
                    <a:pos x="42" y="13"/>
                  </a:cxn>
                  <a:cxn ang="0">
                    <a:pos x="34" y="10"/>
                  </a:cxn>
                  <a:cxn ang="0">
                    <a:pos x="27" y="8"/>
                  </a:cxn>
                  <a:cxn ang="0">
                    <a:pos x="21" y="5"/>
                  </a:cxn>
                  <a:cxn ang="0">
                    <a:pos x="15" y="1"/>
                  </a:cxn>
                  <a:cxn ang="0">
                    <a:pos x="12" y="0"/>
                  </a:cxn>
                  <a:cxn ang="0">
                    <a:pos x="12" y="5"/>
                  </a:cxn>
                  <a:cxn ang="0">
                    <a:pos x="14" y="14"/>
                  </a:cxn>
                  <a:cxn ang="0">
                    <a:pos x="19" y="22"/>
                  </a:cxn>
                  <a:cxn ang="0">
                    <a:pos x="21" y="33"/>
                  </a:cxn>
                  <a:cxn ang="0">
                    <a:pos x="19" y="42"/>
                  </a:cxn>
                  <a:cxn ang="0">
                    <a:pos x="16" y="50"/>
                  </a:cxn>
                  <a:cxn ang="0">
                    <a:pos x="12" y="54"/>
                  </a:cxn>
                  <a:cxn ang="0">
                    <a:pos x="7" y="53"/>
                  </a:cxn>
                  <a:cxn ang="0">
                    <a:pos x="1" y="56"/>
                  </a:cxn>
                  <a:cxn ang="0">
                    <a:pos x="3" y="65"/>
                  </a:cxn>
                  <a:cxn ang="0">
                    <a:pos x="8" y="75"/>
                  </a:cxn>
                  <a:cxn ang="0">
                    <a:pos x="10" y="82"/>
                  </a:cxn>
                  <a:cxn ang="0">
                    <a:pos x="14" y="88"/>
                  </a:cxn>
                  <a:cxn ang="0">
                    <a:pos x="22" y="91"/>
                  </a:cxn>
                  <a:cxn ang="0">
                    <a:pos x="29" y="92"/>
                  </a:cxn>
                  <a:cxn ang="0">
                    <a:pos x="32" y="93"/>
                  </a:cxn>
                  <a:cxn ang="0">
                    <a:pos x="32" y="90"/>
                  </a:cxn>
                  <a:cxn ang="0">
                    <a:pos x="35" y="84"/>
                  </a:cxn>
                  <a:cxn ang="0">
                    <a:pos x="37" y="84"/>
                  </a:cxn>
                  <a:cxn ang="0">
                    <a:pos x="37" y="88"/>
                  </a:cxn>
                  <a:cxn ang="0">
                    <a:pos x="41" y="85"/>
                  </a:cxn>
                  <a:cxn ang="0">
                    <a:pos x="45" y="80"/>
                  </a:cxn>
                  <a:cxn ang="0">
                    <a:pos x="46" y="76"/>
                  </a:cxn>
                  <a:cxn ang="0">
                    <a:pos x="49" y="69"/>
                  </a:cxn>
                  <a:cxn ang="0">
                    <a:pos x="54" y="64"/>
                  </a:cxn>
                  <a:cxn ang="0">
                    <a:pos x="61" y="60"/>
                  </a:cxn>
                  <a:cxn ang="0">
                    <a:pos x="69" y="54"/>
                  </a:cxn>
                  <a:cxn ang="0">
                    <a:pos x="77" y="51"/>
                  </a:cxn>
                  <a:cxn ang="0">
                    <a:pos x="81" y="49"/>
                  </a:cxn>
                  <a:cxn ang="0">
                    <a:pos x="78" y="47"/>
                  </a:cxn>
                  <a:cxn ang="0">
                    <a:pos x="73" y="41"/>
                  </a:cxn>
                </a:cxnLst>
                <a:rect l="0" t="0" r="r" b="b"/>
                <a:pathLst>
                  <a:path w="81" h="93">
                    <a:moveTo>
                      <a:pt x="73" y="41"/>
                    </a:moveTo>
                    <a:cubicBezTo>
                      <a:pt x="72" y="38"/>
                      <a:pt x="70" y="36"/>
                      <a:pt x="68" y="36"/>
                    </a:cubicBezTo>
                    <a:cubicBezTo>
                      <a:pt x="66" y="36"/>
                      <a:pt x="64" y="34"/>
                      <a:pt x="62" y="33"/>
                    </a:cubicBezTo>
                    <a:cubicBezTo>
                      <a:pt x="61" y="31"/>
                      <a:pt x="59" y="29"/>
                      <a:pt x="59" y="27"/>
                    </a:cubicBezTo>
                    <a:cubicBezTo>
                      <a:pt x="58" y="25"/>
                      <a:pt x="55" y="22"/>
                      <a:pt x="52" y="20"/>
                    </a:cubicBezTo>
                    <a:cubicBezTo>
                      <a:pt x="48" y="18"/>
                      <a:pt x="44" y="15"/>
                      <a:pt x="42" y="13"/>
                    </a:cubicBezTo>
                    <a:cubicBezTo>
                      <a:pt x="40" y="12"/>
                      <a:pt x="37" y="10"/>
                      <a:pt x="34" y="10"/>
                    </a:cubicBezTo>
                    <a:cubicBezTo>
                      <a:pt x="32" y="10"/>
                      <a:pt x="29" y="9"/>
                      <a:pt x="27" y="8"/>
                    </a:cubicBezTo>
                    <a:cubicBezTo>
                      <a:pt x="26" y="7"/>
                      <a:pt x="23" y="6"/>
                      <a:pt x="21" y="5"/>
                    </a:cubicBezTo>
                    <a:cubicBezTo>
                      <a:pt x="20" y="4"/>
                      <a:pt x="17" y="2"/>
                      <a:pt x="15" y="1"/>
                    </a:cubicBezTo>
                    <a:cubicBezTo>
                      <a:pt x="13" y="1"/>
                      <a:pt x="12" y="0"/>
                      <a:pt x="12" y="0"/>
                    </a:cubicBezTo>
                    <a:cubicBezTo>
                      <a:pt x="12" y="0"/>
                      <a:pt x="12" y="2"/>
                      <a:pt x="12" y="5"/>
                    </a:cubicBezTo>
                    <a:cubicBezTo>
                      <a:pt x="11" y="7"/>
                      <a:pt x="13" y="11"/>
                      <a:pt x="14" y="14"/>
                    </a:cubicBezTo>
                    <a:cubicBezTo>
                      <a:pt x="16" y="16"/>
                      <a:pt x="18" y="20"/>
                      <a:pt x="19" y="22"/>
                    </a:cubicBezTo>
                    <a:cubicBezTo>
                      <a:pt x="20" y="24"/>
                      <a:pt x="21" y="29"/>
                      <a:pt x="21" y="33"/>
                    </a:cubicBezTo>
                    <a:cubicBezTo>
                      <a:pt x="20" y="36"/>
                      <a:pt x="19" y="41"/>
                      <a:pt x="19" y="42"/>
                    </a:cubicBezTo>
                    <a:cubicBezTo>
                      <a:pt x="19" y="44"/>
                      <a:pt x="17" y="47"/>
                      <a:pt x="16" y="50"/>
                    </a:cubicBezTo>
                    <a:cubicBezTo>
                      <a:pt x="15" y="52"/>
                      <a:pt x="13" y="54"/>
                      <a:pt x="12" y="54"/>
                    </a:cubicBezTo>
                    <a:cubicBezTo>
                      <a:pt x="11" y="54"/>
                      <a:pt x="8" y="54"/>
                      <a:pt x="7" y="53"/>
                    </a:cubicBezTo>
                    <a:cubicBezTo>
                      <a:pt x="5" y="53"/>
                      <a:pt x="3" y="54"/>
                      <a:pt x="1" y="56"/>
                    </a:cubicBezTo>
                    <a:cubicBezTo>
                      <a:pt x="0" y="58"/>
                      <a:pt x="1" y="62"/>
                      <a:pt x="3" y="65"/>
                    </a:cubicBezTo>
                    <a:cubicBezTo>
                      <a:pt x="4" y="68"/>
                      <a:pt x="7" y="73"/>
                      <a:pt x="8" y="75"/>
                    </a:cubicBezTo>
                    <a:cubicBezTo>
                      <a:pt x="9" y="78"/>
                      <a:pt x="10" y="81"/>
                      <a:pt x="10" y="82"/>
                    </a:cubicBezTo>
                    <a:cubicBezTo>
                      <a:pt x="10" y="84"/>
                      <a:pt x="12" y="86"/>
                      <a:pt x="14" y="88"/>
                    </a:cubicBezTo>
                    <a:cubicBezTo>
                      <a:pt x="16" y="89"/>
                      <a:pt x="20" y="91"/>
                      <a:pt x="22" y="91"/>
                    </a:cubicBezTo>
                    <a:cubicBezTo>
                      <a:pt x="25" y="91"/>
                      <a:pt x="28" y="92"/>
                      <a:pt x="29" y="92"/>
                    </a:cubicBezTo>
                    <a:cubicBezTo>
                      <a:pt x="31" y="93"/>
                      <a:pt x="32" y="93"/>
                      <a:pt x="32" y="93"/>
                    </a:cubicBezTo>
                    <a:cubicBezTo>
                      <a:pt x="32" y="93"/>
                      <a:pt x="32" y="92"/>
                      <a:pt x="32" y="90"/>
                    </a:cubicBezTo>
                    <a:cubicBezTo>
                      <a:pt x="32" y="89"/>
                      <a:pt x="33" y="86"/>
                      <a:pt x="35" y="84"/>
                    </a:cubicBezTo>
                    <a:cubicBezTo>
                      <a:pt x="36" y="83"/>
                      <a:pt x="37" y="82"/>
                      <a:pt x="37" y="84"/>
                    </a:cubicBezTo>
                    <a:cubicBezTo>
                      <a:pt x="37" y="85"/>
                      <a:pt x="37" y="87"/>
                      <a:pt x="37" y="88"/>
                    </a:cubicBezTo>
                    <a:cubicBezTo>
                      <a:pt x="38" y="89"/>
                      <a:pt x="40" y="87"/>
                      <a:pt x="41" y="85"/>
                    </a:cubicBezTo>
                    <a:cubicBezTo>
                      <a:pt x="42" y="83"/>
                      <a:pt x="44" y="81"/>
                      <a:pt x="45" y="80"/>
                    </a:cubicBezTo>
                    <a:cubicBezTo>
                      <a:pt x="46" y="79"/>
                      <a:pt x="46" y="77"/>
                      <a:pt x="46" y="76"/>
                    </a:cubicBezTo>
                    <a:cubicBezTo>
                      <a:pt x="46" y="74"/>
                      <a:pt x="48" y="71"/>
                      <a:pt x="49" y="69"/>
                    </a:cubicBezTo>
                    <a:cubicBezTo>
                      <a:pt x="50" y="67"/>
                      <a:pt x="53" y="65"/>
                      <a:pt x="54" y="64"/>
                    </a:cubicBezTo>
                    <a:cubicBezTo>
                      <a:pt x="56" y="63"/>
                      <a:pt x="59" y="61"/>
                      <a:pt x="61" y="60"/>
                    </a:cubicBezTo>
                    <a:cubicBezTo>
                      <a:pt x="63" y="58"/>
                      <a:pt x="67" y="56"/>
                      <a:pt x="69" y="54"/>
                    </a:cubicBezTo>
                    <a:cubicBezTo>
                      <a:pt x="72" y="53"/>
                      <a:pt x="75" y="51"/>
                      <a:pt x="77" y="51"/>
                    </a:cubicBezTo>
                    <a:cubicBezTo>
                      <a:pt x="79" y="50"/>
                      <a:pt x="81" y="49"/>
                      <a:pt x="81" y="49"/>
                    </a:cubicBezTo>
                    <a:cubicBezTo>
                      <a:pt x="81" y="49"/>
                      <a:pt x="80" y="48"/>
                      <a:pt x="78" y="47"/>
                    </a:cubicBezTo>
                    <a:cubicBezTo>
                      <a:pt x="76" y="46"/>
                      <a:pt x="74" y="43"/>
                      <a:pt x="73" y="4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407924" tIns="203962" rIns="407924" bIns="20396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246">
                  <a:solidFill>
                    <a:srgbClr val="410B30"/>
                  </a:solidFill>
                </a:endParaRPr>
              </a:p>
            </p:txBody>
          </p:sp>
          <p:sp>
            <p:nvSpPr>
              <p:cNvPr id="1221" name="Freeform 24">
                <a:extLst>
                  <a:ext uri="{FF2B5EF4-FFF2-40B4-BE49-F238E27FC236}">
                    <a16:creationId xmlns:a16="http://schemas.microsoft.com/office/drawing/2014/main" id="{49060CC8-4B98-B1B9-3562-950BC613F7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92815" y="3421380"/>
                <a:ext cx="910476" cy="1004598"/>
              </a:xfrm>
              <a:custGeom>
                <a:avLst/>
                <a:gdLst/>
                <a:ahLst/>
                <a:cxnLst>
                  <a:cxn ang="0">
                    <a:pos x="375" y="123"/>
                  </a:cxn>
                  <a:cxn ang="0">
                    <a:pos x="379" y="102"/>
                  </a:cxn>
                  <a:cxn ang="0">
                    <a:pos x="386" y="70"/>
                  </a:cxn>
                  <a:cxn ang="0">
                    <a:pos x="378" y="46"/>
                  </a:cxn>
                  <a:cxn ang="0">
                    <a:pos x="368" y="27"/>
                  </a:cxn>
                  <a:cxn ang="0">
                    <a:pos x="351" y="17"/>
                  </a:cxn>
                  <a:cxn ang="0">
                    <a:pos x="329" y="3"/>
                  </a:cxn>
                  <a:cxn ang="0">
                    <a:pos x="308" y="7"/>
                  </a:cxn>
                  <a:cxn ang="0">
                    <a:pos x="284" y="20"/>
                  </a:cxn>
                  <a:cxn ang="0">
                    <a:pos x="266" y="41"/>
                  </a:cxn>
                  <a:cxn ang="0">
                    <a:pos x="257" y="23"/>
                  </a:cxn>
                  <a:cxn ang="0">
                    <a:pos x="237" y="0"/>
                  </a:cxn>
                  <a:cxn ang="0">
                    <a:pos x="216" y="17"/>
                  </a:cxn>
                  <a:cxn ang="0">
                    <a:pos x="186" y="31"/>
                  </a:cxn>
                  <a:cxn ang="0">
                    <a:pos x="157" y="29"/>
                  </a:cxn>
                  <a:cxn ang="0">
                    <a:pos x="130" y="28"/>
                  </a:cxn>
                  <a:cxn ang="0">
                    <a:pos x="127" y="51"/>
                  </a:cxn>
                  <a:cxn ang="0">
                    <a:pos x="95" y="82"/>
                  </a:cxn>
                  <a:cxn ang="0">
                    <a:pos x="50" y="81"/>
                  </a:cxn>
                  <a:cxn ang="0">
                    <a:pos x="33" y="70"/>
                  </a:cxn>
                  <a:cxn ang="0">
                    <a:pos x="8" y="99"/>
                  </a:cxn>
                  <a:cxn ang="0">
                    <a:pos x="13" y="121"/>
                  </a:cxn>
                  <a:cxn ang="0">
                    <a:pos x="16" y="141"/>
                  </a:cxn>
                  <a:cxn ang="0">
                    <a:pos x="14" y="174"/>
                  </a:cxn>
                  <a:cxn ang="0">
                    <a:pos x="15" y="197"/>
                  </a:cxn>
                  <a:cxn ang="0">
                    <a:pos x="13" y="239"/>
                  </a:cxn>
                  <a:cxn ang="0">
                    <a:pos x="20" y="272"/>
                  </a:cxn>
                  <a:cxn ang="0">
                    <a:pos x="21" y="286"/>
                  </a:cxn>
                  <a:cxn ang="0">
                    <a:pos x="48" y="274"/>
                  </a:cxn>
                  <a:cxn ang="0">
                    <a:pos x="89" y="249"/>
                  </a:cxn>
                  <a:cxn ang="0">
                    <a:pos x="114" y="266"/>
                  </a:cxn>
                  <a:cxn ang="0">
                    <a:pos x="149" y="270"/>
                  </a:cxn>
                  <a:cxn ang="0">
                    <a:pos x="192" y="293"/>
                  </a:cxn>
                  <a:cxn ang="0">
                    <a:pos x="225" y="321"/>
                  </a:cxn>
                  <a:cxn ang="0">
                    <a:pos x="256" y="326"/>
                  </a:cxn>
                  <a:cxn ang="0">
                    <a:pos x="274" y="355"/>
                  </a:cxn>
                  <a:cxn ang="0">
                    <a:pos x="258" y="375"/>
                  </a:cxn>
                  <a:cxn ang="0">
                    <a:pos x="256" y="412"/>
                  </a:cxn>
                  <a:cxn ang="0">
                    <a:pos x="283" y="443"/>
                  </a:cxn>
                  <a:cxn ang="0">
                    <a:pos x="306" y="417"/>
                  </a:cxn>
                  <a:cxn ang="0">
                    <a:pos x="309" y="389"/>
                  </a:cxn>
                  <a:cxn ang="0">
                    <a:pos x="316" y="361"/>
                  </a:cxn>
                  <a:cxn ang="0">
                    <a:pos x="324" y="332"/>
                  </a:cxn>
                  <a:cxn ang="0">
                    <a:pos x="323" y="269"/>
                  </a:cxn>
                  <a:cxn ang="0">
                    <a:pos x="323" y="254"/>
                  </a:cxn>
                  <a:cxn ang="0">
                    <a:pos x="323" y="240"/>
                  </a:cxn>
                  <a:cxn ang="0">
                    <a:pos x="323" y="228"/>
                  </a:cxn>
                  <a:cxn ang="0">
                    <a:pos x="332" y="212"/>
                  </a:cxn>
                  <a:cxn ang="0">
                    <a:pos x="334" y="199"/>
                  </a:cxn>
                  <a:cxn ang="0">
                    <a:pos x="337" y="196"/>
                  </a:cxn>
                  <a:cxn ang="0">
                    <a:pos x="346" y="196"/>
                  </a:cxn>
                  <a:cxn ang="0">
                    <a:pos x="370" y="191"/>
                  </a:cxn>
                  <a:cxn ang="0">
                    <a:pos x="390" y="162"/>
                  </a:cxn>
                  <a:cxn ang="0">
                    <a:pos x="399" y="141"/>
                  </a:cxn>
                </a:cxnLst>
                <a:rect l="0" t="0" r="r" b="b"/>
                <a:pathLst>
                  <a:path w="401" h="443">
                    <a:moveTo>
                      <a:pt x="389" y="139"/>
                    </a:moveTo>
                    <a:cubicBezTo>
                      <a:pt x="387" y="139"/>
                      <a:pt x="383" y="137"/>
                      <a:pt x="381" y="136"/>
                    </a:cubicBezTo>
                    <a:cubicBezTo>
                      <a:pt x="379" y="134"/>
                      <a:pt x="377" y="132"/>
                      <a:pt x="377" y="130"/>
                    </a:cubicBezTo>
                    <a:cubicBezTo>
                      <a:pt x="377" y="129"/>
                      <a:pt x="376" y="126"/>
                      <a:pt x="375" y="123"/>
                    </a:cubicBezTo>
                    <a:cubicBezTo>
                      <a:pt x="374" y="121"/>
                      <a:pt x="371" y="116"/>
                      <a:pt x="370" y="113"/>
                    </a:cubicBezTo>
                    <a:cubicBezTo>
                      <a:pt x="368" y="110"/>
                      <a:pt x="367" y="106"/>
                      <a:pt x="368" y="104"/>
                    </a:cubicBezTo>
                    <a:cubicBezTo>
                      <a:pt x="370" y="102"/>
                      <a:pt x="372" y="101"/>
                      <a:pt x="374" y="101"/>
                    </a:cubicBezTo>
                    <a:cubicBezTo>
                      <a:pt x="375" y="102"/>
                      <a:pt x="378" y="102"/>
                      <a:pt x="379" y="102"/>
                    </a:cubicBezTo>
                    <a:cubicBezTo>
                      <a:pt x="380" y="102"/>
                      <a:pt x="382" y="100"/>
                      <a:pt x="383" y="98"/>
                    </a:cubicBezTo>
                    <a:cubicBezTo>
                      <a:pt x="384" y="95"/>
                      <a:pt x="386" y="92"/>
                      <a:pt x="386" y="90"/>
                    </a:cubicBezTo>
                    <a:cubicBezTo>
                      <a:pt x="386" y="89"/>
                      <a:pt x="387" y="84"/>
                      <a:pt x="388" y="81"/>
                    </a:cubicBezTo>
                    <a:cubicBezTo>
                      <a:pt x="388" y="77"/>
                      <a:pt x="387" y="72"/>
                      <a:pt x="386" y="70"/>
                    </a:cubicBezTo>
                    <a:cubicBezTo>
                      <a:pt x="385" y="68"/>
                      <a:pt x="383" y="64"/>
                      <a:pt x="381" y="62"/>
                    </a:cubicBezTo>
                    <a:cubicBezTo>
                      <a:pt x="380" y="59"/>
                      <a:pt x="378" y="55"/>
                      <a:pt x="379" y="53"/>
                    </a:cubicBezTo>
                    <a:cubicBezTo>
                      <a:pt x="379" y="50"/>
                      <a:pt x="379" y="48"/>
                      <a:pt x="379" y="48"/>
                    </a:cubicBezTo>
                    <a:cubicBezTo>
                      <a:pt x="379" y="48"/>
                      <a:pt x="378" y="47"/>
                      <a:pt x="378" y="46"/>
                    </a:cubicBezTo>
                    <a:cubicBezTo>
                      <a:pt x="377" y="44"/>
                      <a:pt x="375" y="43"/>
                      <a:pt x="373" y="43"/>
                    </a:cubicBezTo>
                    <a:cubicBezTo>
                      <a:pt x="371" y="43"/>
                      <a:pt x="370" y="40"/>
                      <a:pt x="370" y="37"/>
                    </a:cubicBezTo>
                    <a:cubicBezTo>
                      <a:pt x="369" y="34"/>
                      <a:pt x="369" y="31"/>
                      <a:pt x="369" y="31"/>
                    </a:cubicBezTo>
                    <a:cubicBezTo>
                      <a:pt x="369" y="31"/>
                      <a:pt x="369" y="29"/>
                      <a:pt x="368" y="27"/>
                    </a:cubicBezTo>
                    <a:cubicBezTo>
                      <a:pt x="367" y="25"/>
                      <a:pt x="365" y="23"/>
                      <a:pt x="364" y="23"/>
                    </a:cubicBezTo>
                    <a:cubicBezTo>
                      <a:pt x="363" y="23"/>
                      <a:pt x="361" y="21"/>
                      <a:pt x="360" y="18"/>
                    </a:cubicBezTo>
                    <a:cubicBezTo>
                      <a:pt x="359" y="15"/>
                      <a:pt x="357" y="15"/>
                      <a:pt x="356" y="17"/>
                    </a:cubicBezTo>
                    <a:cubicBezTo>
                      <a:pt x="354" y="19"/>
                      <a:pt x="352" y="19"/>
                      <a:pt x="351" y="17"/>
                    </a:cubicBezTo>
                    <a:cubicBezTo>
                      <a:pt x="350" y="15"/>
                      <a:pt x="347" y="13"/>
                      <a:pt x="345" y="13"/>
                    </a:cubicBezTo>
                    <a:cubicBezTo>
                      <a:pt x="342" y="12"/>
                      <a:pt x="339" y="11"/>
                      <a:pt x="338" y="9"/>
                    </a:cubicBezTo>
                    <a:cubicBezTo>
                      <a:pt x="337" y="8"/>
                      <a:pt x="335" y="7"/>
                      <a:pt x="333" y="7"/>
                    </a:cubicBezTo>
                    <a:cubicBezTo>
                      <a:pt x="332" y="7"/>
                      <a:pt x="330" y="5"/>
                      <a:pt x="329" y="3"/>
                    </a:cubicBezTo>
                    <a:cubicBezTo>
                      <a:pt x="328" y="1"/>
                      <a:pt x="326" y="0"/>
                      <a:pt x="324" y="0"/>
                    </a:cubicBezTo>
                    <a:cubicBezTo>
                      <a:pt x="323" y="0"/>
                      <a:pt x="321" y="0"/>
                      <a:pt x="319" y="0"/>
                    </a:cubicBezTo>
                    <a:cubicBezTo>
                      <a:pt x="317" y="0"/>
                      <a:pt x="315" y="1"/>
                      <a:pt x="313" y="2"/>
                    </a:cubicBezTo>
                    <a:cubicBezTo>
                      <a:pt x="312" y="3"/>
                      <a:pt x="310" y="5"/>
                      <a:pt x="308" y="7"/>
                    </a:cubicBezTo>
                    <a:cubicBezTo>
                      <a:pt x="307" y="8"/>
                      <a:pt x="305" y="9"/>
                      <a:pt x="303" y="10"/>
                    </a:cubicBezTo>
                    <a:cubicBezTo>
                      <a:pt x="301" y="10"/>
                      <a:pt x="299" y="12"/>
                      <a:pt x="297" y="15"/>
                    </a:cubicBezTo>
                    <a:cubicBezTo>
                      <a:pt x="296" y="18"/>
                      <a:pt x="293" y="20"/>
                      <a:pt x="291" y="20"/>
                    </a:cubicBezTo>
                    <a:cubicBezTo>
                      <a:pt x="289" y="20"/>
                      <a:pt x="286" y="20"/>
                      <a:pt x="284" y="20"/>
                    </a:cubicBezTo>
                    <a:cubicBezTo>
                      <a:pt x="283" y="20"/>
                      <a:pt x="281" y="22"/>
                      <a:pt x="281" y="25"/>
                    </a:cubicBezTo>
                    <a:cubicBezTo>
                      <a:pt x="281" y="28"/>
                      <a:pt x="279" y="31"/>
                      <a:pt x="278" y="33"/>
                    </a:cubicBezTo>
                    <a:cubicBezTo>
                      <a:pt x="277" y="35"/>
                      <a:pt x="274" y="37"/>
                      <a:pt x="272" y="39"/>
                    </a:cubicBezTo>
                    <a:cubicBezTo>
                      <a:pt x="271" y="41"/>
                      <a:pt x="268" y="42"/>
                      <a:pt x="266" y="41"/>
                    </a:cubicBezTo>
                    <a:cubicBezTo>
                      <a:pt x="264" y="40"/>
                      <a:pt x="261" y="39"/>
                      <a:pt x="260" y="38"/>
                    </a:cubicBezTo>
                    <a:cubicBezTo>
                      <a:pt x="260" y="38"/>
                      <a:pt x="260" y="36"/>
                      <a:pt x="261" y="34"/>
                    </a:cubicBezTo>
                    <a:cubicBezTo>
                      <a:pt x="262" y="31"/>
                      <a:pt x="262" y="28"/>
                      <a:pt x="261" y="27"/>
                    </a:cubicBezTo>
                    <a:cubicBezTo>
                      <a:pt x="260" y="26"/>
                      <a:pt x="258" y="24"/>
                      <a:pt x="257" y="23"/>
                    </a:cubicBezTo>
                    <a:cubicBezTo>
                      <a:pt x="255" y="21"/>
                      <a:pt x="254" y="18"/>
                      <a:pt x="254" y="16"/>
                    </a:cubicBezTo>
                    <a:cubicBezTo>
                      <a:pt x="254" y="14"/>
                      <a:pt x="252" y="11"/>
                      <a:pt x="251" y="9"/>
                    </a:cubicBezTo>
                    <a:cubicBezTo>
                      <a:pt x="249" y="7"/>
                      <a:pt x="246" y="4"/>
                      <a:pt x="243" y="3"/>
                    </a:cubicBezTo>
                    <a:cubicBezTo>
                      <a:pt x="239" y="1"/>
                      <a:pt x="237" y="0"/>
                      <a:pt x="237" y="0"/>
                    </a:cubicBezTo>
                    <a:cubicBezTo>
                      <a:pt x="237" y="0"/>
                      <a:pt x="236" y="0"/>
                      <a:pt x="235" y="1"/>
                    </a:cubicBezTo>
                    <a:cubicBezTo>
                      <a:pt x="233" y="1"/>
                      <a:pt x="231" y="4"/>
                      <a:pt x="229" y="6"/>
                    </a:cubicBezTo>
                    <a:cubicBezTo>
                      <a:pt x="227" y="9"/>
                      <a:pt x="224" y="11"/>
                      <a:pt x="222" y="12"/>
                    </a:cubicBezTo>
                    <a:cubicBezTo>
                      <a:pt x="219" y="13"/>
                      <a:pt x="216" y="15"/>
                      <a:pt x="216" y="17"/>
                    </a:cubicBezTo>
                    <a:cubicBezTo>
                      <a:pt x="215" y="19"/>
                      <a:pt x="214" y="21"/>
                      <a:pt x="213" y="23"/>
                    </a:cubicBezTo>
                    <a:cubicBezTo>
                      <a:pt x="212" y="24"/>
                      <a:pt x="209" y="24"/>
                      <a:pt x="208" y="23"/>
                    </a:cubicBezTo>
                    <a:cubicBezTo>
                      <a:pt x="206" y="23"/>
                      <a:pt x="202" y="23"/>
                      <a:pt x="198" y="25"/>
                    </a:cubicBezTo>
                    <a:cubicBezTo>
                      <a:pt x="194" y="26"/>
                      <a:pt x="189" y="29"/>
                      <a:pt x="186" y="31"/>
                    </a:cubicBezTo>
                    <a:cubicBezTo>
                      <a:pt x="183" y="32"/>
                      <a:pt x="179" y="34"/>
                      <a:pt x="177" y="34"/>
                    </a:cubicBezTo>
                    <a:cubicBezTo>
                      <a:pt x="175" y="35"/>
                      <a:pt x="171" y="35"/>
                      <a:pt x="169" y="35"/>
                    </a:cubicBezTo>
                    <a:cubicBezTo>
                      <a:pt x="167" y="35"/>
                      <a:pt x="164" y="34"/>
                      <a:pt x="163" y="32"/>
                    </a:cubicBezTo>
                    <a:cubicBezTo>
                      <a:pt x="161" y="30"/>
                      <a:pt x="159" y="29"/>
                      <a:pt x="157" y="29"/>
                    </a:cubicBezTo>
                    <a:cubicBezTo>
                      <a:pt x="156" y="28"/>
                      <a:pt x="152" y="28"/>
                      <a:pt x="149" y="28"/>
                    </a:cubicBezTo>
                    <a:cubicBezTo>
                      <a:pt x="146" y="28"/>
                      <a:pt x="143" y="28"/>
                      <a:pt x="140" y="27"/>
                    </a:cubicBezTo>
                    <a:cubicBezTo>
                      <a:pt x="138" y="26"/>
                      <a:pt x="136" y="25"/>
                      <a:pt x="134" y="26"/>
                    </a:cubicBezTo>
                    <a:cubicBezTo>
                      <a:pt x="133" y="26"/>
                      <a:pt x="131" y="27"/>
                      <a:pt x="130" y="28"/>
                    </a:cubicBezTo>
                    <a:cubicBezTo>
                      <a:pt x="129" y="29"/>
                      <a:pt x="127" y="30"/>
                      <a:pt x="126" y="30"/>
                    </a:cubicBezTo>
                    <a:cubicBezTo>
                      <a:pt x="125" y="30"/>
                      <a:pt x="125" y="33"/>
                      <a:pt x="125" y="37"/>
                    </a:cubicBezTo>
                    <a:cubicBezTo>
                      <a:pt x="126" y="40"/>
                      <a:pt x="127" y="44"/>
                      <a:pt x="128" y="46"/>
                    </a:cubicBezTo>
                    <a:cubicBezTo>
                      <a:pt x="128" y="47"/>
                      <a:pt x="128" y="49"/>
                      <a:pt x="127" y="51"/>
                    </a:cubicBezTo>
                    <a:cubicBezTo>
                      <a:pt x="127" y="53"/>
                      <a:pt x="125" y="57"/>
                      <a:pt x="124" y="61"/>
                    </a:cubicBezTo>
                    <a:cubicBezTo>
                      <a:pt x="123" y="64"/>
                      <a:pt x="119" y="71"/>
                      <a:pt x="114" y="75"/>
                    </a:cubicBezTo>
                    <a:cubicBezTo>
                      <a:pt x="110" y="79"/>
                      <a:pt x="105" y="82"/>
                      <a:pt x="103" y="82"/>
                    </a:cubicBezTo>
                    <a:cubicBezTo>
                      <a:pt x="101" y="81"/>
                      <a:pt x="98" y="81"/>
                      <a:pt x="95" y="82"/>
                    </a:cubicBezTo>
                    <a:cubicBezTo>
                      <a:pt x="93" y="82"/>
                      <a:pt x="88" y="85"/>
                      <a:pt x="85" y="88"/>
                    </a:cubicBezTo>
                    <a:cubicBezTo>
                      <a:pt x="82" y="90"/>
                      <a:pt x="77" y="93"/>
                      <a:pt x="74" y="93"/>
                    </a:cubicBezTo>
                    <a:cubicBezTo>
                      <a:pt x="71" y="94"/>
                      <a:pt x="65" y="92"/>
                      <a:pt x="61" y="90"/>
                    </a:cubicBezTo>
                    <a:cubicBezTo>
                      <a:pt x="56" y="88"/>
                      <a:pt x="51" y="84"/>
                      <a:pt x="50" y="81"/>
                    </a:cubicBezTo>
                    <a:cubicBezTo>
                      <a:pt x="49" y="79"/>
                      <a:pt x="47" y="74"/>
                      <a:pt x="45" y="72"/>
                    </a:cubicBezTo>
                    <a:cubicBezTo>
                      <a:pt x="44" y="69"/>
                      <a:pt x="41" y="67"/>
                      <a:pt x="38" y="67"/>
                    </a:cubicBezTo>
                    <a:cubicBezTo>
                      <a:pt x="36" y="67"/>
                      <a:pt x="34" y="67"/>
                      <a:pt x="34" y="67"/>
                    </a:cubicBezTo>
                    <a:cubicBezTo>
                      <a:pt x="34" y="67"/>
                      <a:pt x="34" y="68"/>
                      <a:pt x="33" y="70"/>
                    </a:cubicBezTo>
                    <a:cubicBezTo>
                      <a:pt x="33" y="72"/>
                      <a:pt x="31" y="74"/>
                      <a:pt x="28" y="75"/>
                    </a:cubicBezTo>
                    <a:cubicBezTo>
                      <a:pt x="26" y="75"/>
                      <a:pt x="21" y="77"/>
                      <a:pt x="18" y="80"/>
                    </a:cubicBezTo>
                    <a:cubicBezTo>
                      <a:pt x="15" y="83"/>
                      <a:pt x="11" y="88"/>
                      <a:pt x="11" y="91"/>
                    </a:cubicBezTo>
                    <a:cubicBezTo>
                      <a:pt x="10" y="93"/>
                      <a:pt x="9" y="97"/>
                      <a:pt x="8" y="99"/>
                    </a:cubicBezTo>
                    <a:cubicBezTo>
                      <a:pt x="7" y="101"/>
                      <a:pt x="4" y="104"/>
                      <a:pt x="2" y="106"/>
                    </a:cubicBezTo>
                    <a:cubicBezTo>
                      <a:pt x="0" y="108"/>
                      <a:pt x="0" y="112"/>
                      <a:pt x="2" y="115"/>
                    </a:cubicBezTo>
                    <a:cubicBezTo>
                      <a:pt x="4" y="117"/>
                      <a:pt x="7" y="120"/>
                      <a:pt x="10" y="120"/>
                    </a:cubicBezTo>
                    <a:cubicBezTo>
                      <a:pt x="10" y="120"/>
                      <a:pt x="10" y="120"/>
                      <a:pt x="13" y="121"/>
                    </a:cubicBezTo>
                    <a:cubicBezTo>
                      <a:pt x="16" y="122"/>
                      <a:pt x="16" y="122"/>
                      <a:pt x="16" y="122"/>
                    </a:cubicBezTo>
                    <a:cubicBezTo>
                      <a:pt x="19" y="125"/>
                      <a:pt x="19" y="128"/>
                      <a:pt x="16" y="130"/>
                    </a:cubicBezTo>
                    <a:cubicBezTo>
                      <a:pt x="13" y="132"/>
                      <a:pt x="13" y="134"/>
                      <a:pt x="16" y="136"/>
                    </a:cubicBezTo>
                    <a:cubicBezTo>
                      <a:pt x="19" y="137"/>
                      <a:pt x="19" y="140"/>
                      <a:pt x="16" y="141"/>
                    </a:cubicBezTo>
                    <a:cubicBezTo>
                      <a:pt x="13" y="143"/>
                      <a:pt x="10" y="145"/>
                      <a:pt x="9" y="147"/>
                    </a:cubicBezTo>
                    <a:cubicBezTo>
                      <a:pt x="8" y="148"/>
                      <a:pt x="8" y="152"/>
                      <a:pt x="8" y="155"/>
                    </a:cubicBezTo>
                    <a:cubicBezTo>
                      <a:pt x="8" y="159"/>
                      <a:pt x="10" y="163"/>
                      <a:pt x="12" y="166"/>
                    </a:cubicBezTo>
                    <a:cubicBezTo>
                      <a:pt x="14" y="168"/>
                      <a:pt x="15" y="172"/>
                      <a:pt x="14" y="174"/>
                    </a:cubicBezTo>
                    <a:cubicBezTo>
                      <a:pt x="13" y="176"/>
                      <a:pt x="12" y="178"/>
                      <a:pt x="12" y="178"/>
                    </a:cubicBezTo>
                    <a:cubicBezTo>
                      <a:pt x="12" y="178"/>
                      <a:pt x="13" y="180"/>
                      <a:pt x="15" y="182"/>
                    </a:cubicBezTo>
                    <a:cubicBezTo>
                      <a:pt x="17" y="185"/>
                      <a:pt x="17" y="188"/>
                      <a:pt x="15" y="190"/>
                    </a:cubicBezTo>
                    <a:cubicBezTo>
                      <a:pt x="14" y="193"/>
                      <a:pt x="14" y="196"/>
                      <a:pt x="15" y="197"/>
                    </a:cubicBezTo>
                    <a:cubicBezTo>
                      <a:pt x="17" y="199"/>
                      <a:pt x="17" y="202"/>
                      <a:pt x="15" y="204"/>
                    </a:cubicBezTo>
                    <a:cubicBezTo>
                      <a:pt x="14" y="206"/>
                      <a:pt x="12" y="209"/>
                      <a:pt x="11" y="212"/>
                    </a:cubicBezTo>
                    <a:cubicBezTo>
                      <a:pt x="10" y="214"/>
                      <a:pt x="9" y="220"/>
                      <a:pt x="10" y="224"/>
                    </a:cubicBezTo>
                    <a:cubicBezTo>
                      <a:pt x="10" y="229"/>
                      <a:pt x="12" y="235"/>
                      <a:pt x="13" y="239"/>
                    </a:cubicBezTo>
                    <a:cubicBezTo>
                      <a:pt x="14" y="242"/>
                      <a:pt x="18" y="246"/>
                      <a:pt x="20" y="248"/>
                    </a:cubicBezTo>
                    <a:cubicBezTo>
                      <a:pt x="22" y="249"/>
                      <a:pt x="23" y="251"/>
                      <a:pt x="22" y="253"/>
                    </a:cubicBezTo>
                    <a:cubicBezTo>
                      <a:pt x="21" y="254"/>
                      <a:pt x="21" y="258"/>
                      <a:pt x="22" y="262"/>
                    </a:cubicBezTo>
                    <a:cubicBezTo>
                      <a:pt x="23" y="266"/>
                      <a:pt x="22" y="270"/>
                      <a:pt x="20" y="272"/>
                    </a:cubicBezTo>
                    <a:cubicBezTo>
                      <a:pt x="18" y="273"/>
                      <a:pt x="16" y="275"/>
                      <a:pt x="16" y="275"/>
                    </a:cubicBezTo>
                    <a:cubicBezTo>
                      <a:pt x="16" y="275"/>
                      <a:pt x="17" y="276"/>
                      <a:pt x="18" y="277"/>
                    </a:cubicBezTo>
                    <a:cubicBezTo>
                      <a:pt x="18" y="278"/>
                      <a:pt x="19" y="281"/>
                      <a:pt x="19" y="283"/>
                    </a:cubicBezTo>
                    <a:cubicBezTo>
                      <a:pt x="19" y="285"/>
                      <a:pt x="20" y="286"/>
                      <a:pt x="21" y="286"/>
                    </a:cubicBezTo>
                    <a:cubicBezTo>
                      <a:pt x="22" y="285"/>
                      <a:pt x="24" y="285"/>
                      <a:pt x="26" y="285"/>
                    </a:cubicBezTo>
                    <a:cubicBezTo>
                      <a:pt x="28" y="285"/>
                      <a:pt x="31" y="284"/>
                      <a:pt x="34" y="282"/>
                    </a:cubicBezTo>
                    <a:cubicBezTo>
                      <a:pt x="36" y="279"/>
                      <a:pt x="39" y="278"/>
                      <a:pt x="41" y="278"/>
                    </a:cubicBezTo>
                    <a:cubicBezTo>
                      <a:pt x="43" y="278"/>
                      <a:pt x="46" y="276"/>
                      <a:pt x="48" y="274"/>
                    </a:cubicBezTo>
                    <a:cubicBezTo>
                      <a:pt x="50" y="272"/>
                      <a:pt x="54" y="269"/>
                      <a:pt x="56" y="267"/>
                    </a:cubicBezTo>
                    <a:cubicBezTo>
                      <a:pt x="59" y="266"/>
                      <a:pt x="63" y="263"/>
                      <a:pt x="66" y="261"/>
                    </a:cubicBezTo>
                    <a:cubicBezTo>
                      <a:pt x="69" y="259"/>
                      <a:pt x="74" y="256"/>
                      <a:pt x="78" y="254"/>
                    </a:cubicBezTo>
                    <a:cubicBezTo>
                      <a:pt x="82" y="251"/>
                      <a:pt x="86" y="249"/>
                      <a:pt x="89" y="249"/>
                    </a:cubicBezTo>
                    <a:cubicBezTo>
                      <a:pt x="91" y="248"/>
                      <a:pt x="95" y="248"/>
                      <a:pt x="98" y="248"/>
                    </a:cubicBezTo>
                    <a:cubicBezTo>
                      <a:pt x="100" y="248"/>
                      <a:pt x="105" y="249"/>
                      <a:pt x="108" y="250"/>
                    </a:cubicBezTo>
                    <a:cubicBezTo>
                      <a:pt x="112" y="251"/>
                      <a:pt x="114" y="254"/>
                      <a:pt x="113" y="257"/>
                    </a:cubicBezTo>
                    <a:cubicBezTo>
                      <a:pt x="113" y="260"/>
                      <a:pt x="113" y="264"/>
                      <a:pt x="114" y="266"/>
                    </a:cubicBezTo>
                    <a:cubicBezTo>
                      <a:pt x="116" y="268"/>
                      <a:pt x="119" y="270"/>
                      <a:pt x="122" y="271"/>
                    </a:cubicBezTo>
                    <a:cubicBezTo>
                      <a:pt x="125" y="272"/>
                      <a:pt x="129" y="272"/>
                      <a:pt x="131" y="271"/>
                    </a:cubicBezTo>
                    <a:cubicBezTo>
                      <a:pt x="133" y="270"/>
                      <a:pt x="137" y="269"/>
                      <a:pt x="139" y="269"/>
                    </a:cubicBezTo>
                    <a:cubicBezTo>
                      <a:pt x="141" y="268"/>
                      <a:pt x="145" y="269"/>
                      <a:pt x="149" y="270"/>
                    </a:cubicBezTo>
                    <a:cubicBezTo>
                      <a:pt x="152" y="271"/>
                      <a:pt x="157" y="274"/>
                      <a:pt x="160" y="276"/>
                    </a:cubicBezTo>
                    <a:cubicBezTo>
                      <a:pt x="162" y="278"/>
                      <a:pt x="168" y="282"/>
                      <a:pt x="172" y="285"/>
                    </a:cubicBezTo>
                    <a:cubicBezTo>
                      <a:pt x="177" y="288"/>
                      <a:pt x="182" y="291"/>
                      <a:pt x="184" y="291"/>
                    </a:cubicBezTo>
                    <a:cubicBezTo>
                      <a:pt x="186" y="292"/>
                      <a:pt x="189" y="293"/>
                      <a:pt x="192" y="293"/>
                    </a:cubicBezTo>
                    <a:cubicBezTo>
                      <a:pt x="194" y="294"/>
                      <a:pt x="198" y="294"/>
                      <a:pt x="200" y="294"/>
                    </a:cubicBezTo>
                    <a:cubicBezTo>
                      <a:pt x="202" y="294"/>
                      <a:pt x="206" y="297"/>
                      <a:pt x="210" y="301"/>
                    </a:cubicBezTo>
                    <a:cubicBezTo>
                      <a:pt x="214" y="305"/>
                      <a:pt x="218" y="311"/>
                      <a:pt x="219" y="314"/>
                    </a:cubicBezTo>
                    <a:cubicBezTo>
                      <a:pt x="220" y="317"/>
                      <a:pt x="222" y="320"/>
                      <a:pt x="225" y="321"/>
                    </a:cubicBezTo>
                    <a:cubicBezTo>
                      <a:pt x="227" y="322"/>
                      <a:pt x="229" y="322"/>
                      <a:pt x="231" y="321"/>
                    </a:cubicBezTo>
                    <a:cubicBezTo>
                      <a:pt x="232" y="320"/>
                      <a:pt x="235" y="320"/>
                      <a:pt x="236" y="319"/>
                    </a:cubicBezTo>
                    <a:cubicBezTo>
                      <a:pt x="238" y="319"/>
                      <a:pt x="242" y="320"/>
                      <a:pt x="246" y="321"/>
                    </a:cubicBezTo>
                    <a:cubicBezTo>
                      <a:pt x="249" y="323"/>
                      <a:pt x="254" y="324"/>
                      <a:pt x="256" y="326"/>
                    </a:cubicBezTo>
                    <a:cubicBezTo>
                      <a:pt x="259" y="327"/>
                      <a:pt x="264" y="329"/>
                      <a:pt x="268" y="331"/>
                    </a:cubicBezTo>
                    <a:cubicBezTo>
                      <a:pt x="272" y="332"/>
                      <a:pt x="276" y="335"/>
                      <a:pt x="278" y="338"/>
                    </a:cubicBezTo>
                    <a:cubicBezTo>
                      <a:pt x="280" y="340"/>
                      <a:pt x="280" y="344"/>
                      <a:pt x="280" y="347"/>
                    </a:cubicBezTo>
                    <a:cubicBezTo>
                      <a:pt x="279" y="350"/>
                      <a:pt x="276" y="354"/>
                      <a:pt x="274" y="355"/>
                    </a:cubicBezTo>
                    <a:cubicBezTo>
                      <a:pt x="272" y="356"/>
                      <a:pt x="269" y="359"/>
                      <a:pt x="269" y="360"/>
                    </a:cubicBezTo>
                    <a:cubicBezTo>
                      <a:pt x="269" y="361"/>
                      <a:pt x="267" y="363"/>
                      <a:pt x="265" y="364"/>
                    </a:cubicBezTo>
                    <a:cubicBezTo>
                      <a:pt x="263" y="365"/>
                      <a:pt x="262" y="368"/>
                      <a:pt x="262" y="370"/>
                    </a:cubicBezTo>
                    <a:cubicBezTo>
                      <a:pt x="263" y="373"/>
                      <a:pt x="261" y="375"/>
                      <a:pt x="258" y="375"/>
                    </a:cubicBezTo>
                    <a:cubicBezTo>
                      <a:pt x="255" y="375"/>
                      <a:pt x="252" y="380"/>
                      <a:pt x="250" y="385"/>
                    </a:cubicBezTo>
                    <a:cubicBezTo>
                      <a:pt x="249" y="390"/>
                      <a:pt x="248" y="397"/>
                      <a:pt x="249" y="399"/>
                    </a:cubicBezTo>
                    <a:cubicBezTo>
                      <a:pt x="250" y="401"/>
                      <a:pt x="251" y="404"/>
                      <a:pt x="252" y="406"/>
                    </a:cubicBezTo>
                    <a:cubicBezTo>
                      <a:pt x="254" y="408"/>
                      <a:pt x="255" y="411"/>
                      <a:pt x="256" y="412"/>
                    </a:cubicBezTo>
                    <a:cubicBezTo>
                      <a:pt x="257" y="413"/>
                      <a:pt x="259" y="415"/>
                      <a:pt x="260" y="417"/>
                    </a:cubicBezTo>
                    <a:cubicBezTo>
                      <a:pt x="262" y="419"/>
                      <a:pt x="262" y="422"/>
                      <a:pt x="262" y="423"/>
                    </a:cubicBezTo>
                    <a:cubicBezTo>
                      <a:pt x="261" y="425"/>
                      <a:pt x="261" y="426"/>
                      <a:pt x="261" y="426"/>
                    </a:cubicBezTo>
                    <a:cubicBezTo>
                      <a:pt x="283" y="443"/>
                      <a:pt x="283" y="443"/>
                      <a:pt x="283" y="443"/>
                    </a:cubicBezTo>
                    <a:cubicBezTo>
                      <a:pt x="283" y="443"/>
                      <a:pt x="285" y="441"/>
                      <a:pt x="287" y="438"/>
                    </a:cubicBezTo>
                    <a:cubicBezTo>
                      <a:pt x="288" y="435"/>
                      <a:pt x="292" y="432"/>
                      <a:pt x="294" y="431"/>
                    </a:cubicBezTo>
                    <a:cubicBezTo>
                      <a:pt x="297" y="430"/>
                      <a:pt x="300" y="427"/>
                      <a:pt x="303" y="424"/>
                    </a:cubicBezTo>
                    <a:cubicBezTo>
                      <a:pt x="305" y="421"/>
                      <a:pt x="306" y="418"/>
                      <a:pt x="306" y="417"/>
                    </a:cubicBezTo>
                    <a:cubicBezTo>
                      <a:pt x="305" y="415"/>
                      <a:pt x="305" y="412"/>
                      <a:pt x="305" y="411"/>
                    </a:cubicBezTo>
                    <a:cubicBezTo>
                      <a:pt x="305" y="409"/>
                      <a:pt x="305" y="406"/>
                      <a:pt x="305" y="404"/>
                    </a:cubicBezTo>
                    <a:cubicBezTo>
                      <a:pt x="305" y="402"/>
                      <a:pt x="306" y="398"/>
                      <a:pt x="306" y="397"/>
                    </a:cubicBezTo>
                    <a:cubicBezTo>
                      <a:pt x="307" y="395"/>
                      <a:pt x="308" y="391"/>
                      <a:pt x="309" y="389"/>
                    </a:cubicBezTo>
                    <a:cubicBezTo>
                      <a:pt x="309" y="386"/>
                      <a:pt x="310" y="383"/>
                      <a:pt x="310" y="381"/>
                    </a:cubicBezTo>
                    <a:cubicBezTo>
                      <a:pt x="310" y="379"/>
                      <a:pt x="311" y="377"/>
                      <a:pt x="311" y="376"/>
                    </a:cubicBezTo>
                    <a:cubicBezTo>
                      <a:pt x="312" y="374"/>
                      <a:pt x="313" y="371"/>
                      <a:pt x="313" y="368"/>
                    </a:cubicBezTo>
                    <a:cubicBezTo>
                      <a:pt x="314" y="366"/>
                      <a:pt x="315" y="362"/>
                      <a:pt x="316" y="361"/>
                    </a:cubicBezTo>
                    <a:cubicBezTo>
                      <a:pt x="316" y="359"/>
                      <a:pt x="317" y="357"/>
                      <a:pt x="318" y="355"/>
                    </a:cubicBezTo>
                    <a:cubicBezTo>
                      <a:pt x="318" y="353"/>
                      <a:pt x="319" y="350"/>
                      <a:pt x="320" y="348"/>
                    </a:cubicBezTo>
                    <a:cubicBezTo>
                      <a:pt x="321" y="346"/>
                      <a:pt x="323" y="342"/>
                      <a:pt x="324" y="339"/>
                    </a:cubicBezTo>
                    <a:cubicBezTo>
                      <a:pt x="325" y="336"/>
                      <a:pt x="325" y="333"/>
                      <a:pt x="324" y="332"/>
                    </a:cubicBezTo>
                    <a:cubicBezTo>
                      <a:pt x="323" y="330"/>
                      <a:pt x="322" y="323"/>
                      <a:pt x="322" y="315"/>
                    </a:cubicBezTo>
                    <a:cubicBezTo>
                      <a:pt x="322" y="307"/>
                      <a:pt x="321" y="297"/>
                      <a:pt x="321" y="292"/>
                    </a:cubicBezTo>
                    <a:cubicBezTo>
                      <a:pt x="320" y="287"/>
                      <a:pt x="320" y="281"/>
                      <a:pt x="321" y="278"/>
                    </a:cubicBezTo>
                    <a:cubicBezTo>
                      <a:pt x="322" y="275"/>
                      <a:pt x="323" y="270"/>
                      <a:pt x="323" y="269"/>
                    </a:cubicBezTo>
                    <a:cubicBezTo>
                      <a:pt x="324" y="267"/>
                      <a:pt x="325" y="264"/>
                      <a:pt x="325" y="262"/>
                    </a:cubicBezTo>
                    <a:cubicBezTo>
                      <a:pt x="325" y="261"/>
                      <a:pt x="324" y="259"/>
                      <a:pt x="323" y="259"/>
                    </a:cubicBezTo>
                    <a:cubicBezTo>
                      <a:pt x="323" y="259"/>
                      <a:pt x="322" y="258"/>
                      <a:pt x="321" y="256"/>
                    </a:cubicBezTo>
                    <a:cubicBezTo>
                      <a:pt x="321" y="255"/>
                      <a:pt x="322" y="254"/>
                      <a:pt x="323" y="254"/>
                    </a:cubicBezTo>
                    <a:cubicBezTo>
                      <a:pt x="324" y="253"/>
                      <a:pt x="324" y="252"/>
                      <a:pt x="324" y="250"/>
                    </a:cubicBezTo>
                    <a:cubicBezTo>
                      <a:pt x="323" y="249"/>
                      <a:pt x="323" y="247"/>
                      <a:pt x="323" y="246"/>
                    </a:cubicBezTo>
                    <a:cubicBezTo>
                      <a:pt x="323" y="245"/>
                      <a:pt x="322" y="244"/>
                      <a:pt x="322" y="242"/>
                    </a:cubicBezTo>
                    <a:cubicBezTo>
                      <a:pt x="321" y="241"/>
                      <a:pt x="322" y="240"/>
                      <a:pt x="323" y="240"/>
                    </a:cubicBezTo>
                    <a:cubicBezTo>
                      <a:pt x="324" y="240"/>
                      <a:pt x="325" y="239"/>
                      <a:pt x="326" y="238"/>
                    </a:cubicBezTo>
                    <a:cubicBezTo>
                      <a:pt x="326" y="237"/>
                      <a:pt x="326" y="235"/>
                      <a:pt x="326" y="233"/>
                    </a:cubicBezTo>
                    <a:cubicBezTo>
                      <a:pt x="325" y="230"/>
                      <a:pt x="324" y="229"/>
                      <a:pt x="324" y="230"/>
                    </a:cubicBezTo>
                    <a:cubicBezTo>
                      <a:pt x="323" y="231"/>
                      <a:pt x="323" y="230"/>
                      <a:pt x="323" y="228"/>
                    </a:cubicBezTo>
                    <a:cubicBezTo>
                      <a:pt x="323" y="226"/>
                      <a:pt x="324" y="223"/>
                      <a:pt x="325" y="223"/>
                    </a:cubicBezTo>
                    <a:cubicBezTo>
                      <a:pt x="326" y="222"/>
                      <a:pt x="327" y="220"/>
                      <a:pt x="328" y="219"/>
                    </a:cubicBezTo>
                    <a:cubicBezTo>
                      <a:pt x="329" y="218"/>
                      <a:pt x="331" y="217"/>
                      <a:pt x="331" y="216"/>
                    </a:cubicBezTo>
                    <a:cubicBezTo>
                      <a:pt x="332" y="215"/>
                      <a:pt x="332" y="214"/>
                      <a:pt x="332" y="212"/>
                    </a:cubicBezTo>
                    <a:cubicBezTo>
                      <a:pt x="332" y="211"/>
                      <a:pt x="333" y="209"/>
                      <a:pt x="334" y="209"/>
                    </a:cubicBezTo>
                    <a:cubicBezTo>
                      <a:pt x="336" y="208"/>
                      <a:pt x="337" y="206"/>
                      <a:pt x="338" y="205"/>
                    </a:cubicBezTo>
                    <a:cubicBezTo>
                      <a:pt x="338" y="204"/>
                      <a:pt x="337" y="203"/>
                      <a:pt x="337" y="202"/>
                    </a:cubicBezTo>
                    <a:cubicBezTo>
                      <a:pt x="336" y="201"/>
                      <a:pt x="335" y="200"/>
                      <a:pt x="334" y="199"/>
                    </a:cubicBezTo>
                    <a:cubicBezTo>
                      <a:pt x="333" y="199"/>
                      <a:pt x="332" y="197"/>
                      <a:pt x="332" y="196"/>
                    </a:cubicBezTo>
                    <a:cubicBezTo>
                      <a:pt x="331" y="194"/>
                      <a:pt x="331" y="193"/>
                      <a:pt x="332" y="193"/>
                    </a:cubicBezTo>
                    <a:cubicBezTo>
                      <a:pt x="333" y="192"/>
                      <a:pt x="334" y="193"/>
                      <a:pt x="334" y="194"/>
                    </a:cubicBezTo>
                    <a:cubicBezTo>
                      <a:pt x="334" y="196"/>
                      <a:pt x="336" y="196"/>
                      <a:pt x="337" y="196"/>
                    </a:cubicBezTo>
                    <a:cubicBezTo>
                      <a:pt x="338" y="196"/>
                      <a:pt x="339" y="194"/>
                      <a:pt x="340" y="192"/>
                    </a:cubicBezTo>
                    <a:cubicBezTo>
                      <a:pt x="340" y="191"/>
                      <a:pt x="341" y="189"/>
                      <a:pt x="342" y="190"/>
                    </a:cubicBezTo>
                    <a:cubicBezTo>
                      <a:pt x="343" y="190"/>
                      <a:pt x="344" y="191"/>
                      <a:pt x="345" y="192"/>
                    </a:cubicBezTo>
                    <a:cubicBezTo>
                      <a:pt x="345" y="193"/>
                      <a:pt x="346" y="195"/>
                      <a:pt x="346" y="196"/>
                    </a:cubicBezTo>
                    <a:cubicBezTo>
                      <a:pt x="346" y="198"/>
                      <a:pt x="346" y="201"/>
                      <a:pt x="346" y="204"/>
                    </a:cubicBezTo>
                    <a:cubicBezTo>
                      <a:pt x="346" y="206"/>
                      <a:pt x="347" y="208"/>
                      <a:pt x="349" y="208"/>
                    </a:cubicBezTo>
                    <a:cubicBezTo>
                      <a:pt x="351" y="208"/>
                      <a:pt x="355" y="205"/>
                      <a:pt x="360" y="201"/>
                    </a:cubicBezTo>
                    <a:cubicBezTo>
                      <a:pt x="364" y="198"/>
                      <a:pt x="369" y="193"/>
                      <a:pt x="370" y="191"/>
                    </a:cubicBezTo>
                    <a:cubicBezTo>
                      <a:pt x="372" y="189"/>
                      <a:pt x="374" y="186"/>
                      <a:pt x="374" y="185"/>
                    </a:cubicBezTo>
                    <a:cubicBezTo>
                      <a:pt x="374" y="184"/>
                      <a:pt x="376" y="181"/>
                      <a:pt x="379" y="179"/>
                    </a:cubicBezTo>
                    <a:cubicBezTo>
                      <a:pt x="381" y="177"/>
                      <a:pt x="384" y="173"/>
                      <a:pt x="385" y="172"/>
                    </a:cubicBezTo>
                    <a:cubicBezTo>
                      <a:pt x="387" y="170"/>
                      <a:pt x="389" y="166"/>
                      <a:pt x="390" y="162"/>
                    </a:cubicBezTo>
                    <a:cubicBezTo>
                      <a:pt x="392" y="159"/>
                      <a:pt x="394" y="154"/>
                      <a:pt x="396" y="152"/>
                    </a:cubicBezTo>
                    <a:cubicBezTo>
                      <a:pt x="397" y="149"/>
                      <a:pt x="399" y="146"/>
                      <a:pt x="400" y="144"/>
                    </a:cubicBezTo>
                    <a:cubicBezTo>
                      <a:pt x="401" y="143"/>
                      <a:pt x="401" y="141"/>
                      <a:pt x="400" y="141"/>
                    </a:cubicBezTo>
                    <a:cubicBezTo>
                      <a:pt x="399" y="141"/>
                      <a:pt x="399" y="141"/>
                      <a:pt x="399" y="141"/>
                    </a:cubicBezTo>
                    <a:cubicBezTo>
                      <a:pt x="399" y="141"/>
                      <a:pt x="398" y="141"/>
                      <a:pt x="396" y="140"/>
                    </a:cubicBezTo>
                    <a:cubicBezTo>
                      <a:pt x="395" y="140"/>
                      <a:pt x="392" y="139"/>
                      <a:pt x="389" y="139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407924" tIns="203962" rIns="407924" bIns="20396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246">
                  <a:solidFill>
                    <a:srgbClr val="410B30"/>
                  </a:solidFill>
                </a:endParaRPr>
              </a:p>
            </p:txBody>
          </p:sp>
          <p:sp>
            <p:nvSpPr>
              <p:cNvPr id="1222" name="Freeform 25">
                <a:extLst>
                  <a:ext uri="{FF2B5EF4-FFF2-40B4-BE49-F238E27FC236}">
                    <a16:creationId xmlns:a16="http://schemas.microsoft.com/office/drawing/2014/main" id="{713FFEA9-E725-DB74-543D-0637DBBEE3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4606" y="3224843"/>
                <a:ext cx="390890" cy="238185"/>
              </a:xfrm>
              <a:custGeom>
                <a:avLst/>
                <a:gdLst/>
                <a:ahLst/>
                <a:cxnLst>
                  <a:cxn ang="0">
                    <a:pos x="169" y="44"/>
                  </a:cxn>
                  <a:cxn ang="0">
                    <a:pos x="166" y="30"/>
                  </a:cxn>
                  <a:cxn ang="0">
                    <a:pos x="152" y="26"/>
                  </a:cxn>
                  <a:cxn ang="0">
                    <a:pos x="131" y="24"/>
                  </a:cxn>
                  <a:cxn ang="0">
                    <a:pos x="108" y="17"/>
                  </a:cxn>
                  <a:cxn ang="0">
                    <a:pos x="101" y="24"/>
                  </a:cxn>
                  <a:cxn ang="0">
                    <a:pos x="98" y="37"/>
                  </a:cxn>
                  <a:cxn ang="0">
                    <a:pos x="88" y="40"/>
                  </a:cxn>
                  <a:cxn ang="0">
                    <a:pos x="74" y="33"/>
                  </a:cxn>
                  <a:cxn ang="0">
                    <a:pos x="58" y="30"/>
                  </a:cxn>
                  <a:cxn ang="0">
                    <a:pos x="57" y="23"/>
                  </a:cxn>
                  <a:cxn ang="0">
                    <a:pos x="64" y="11"/>
                  </a:cxn>
                  <a:cxn ang="0">
                    <a:pos x="66" y="0"/>
                  </a:cxn>
                  <a:cxn ang="0">
                    <a:pos x="52" y="3"/>
                  </a:cxn>
                  <a:cxn ang="0">
                    <a:pos x="40" y="12"/>
                  </a:cxn>
                  <a:cxn ang="0">
                    <a:pos x="24" y="18"/>
                  </a:cxn>
                  <a:cxn ang="0">
                    <a:pos x="9" y="13"/>
                  </a:cxn>
                  <a:cxn ang="0">
                    <a:pos x="4" y="28"/>
                  </a:cxn>
                  <a:cxn ang="0">
                    <a:pos x="1" y="41"/>
                  </a:cxn>
                  <a:cxn ang="0">
                    <a:pos x="6" y="52"/>
                  </a:cxn>
                  <a:cxn ang="0">
                    <a:pos x="4" y="64"/>
                  </a:cxn>
                  <a:cxn ang="0">
                    <a:pos x="2" y="73"/>
                  </a:cxn>
                  <a:cxn ang="0">
                    <a:pos x="14" y="76"/>
                  </a:cxn>
                  <a:cxn ang="0">
                    <a:pos x="23" y="79"/>
                  </a:cxn>
                  <a:cxn ang="0">
                    <a:pos x="40" y="73"/>
                  </a:cxn>
                  <a:cxn ang="0">
                    <a:pos x="53" y="63"/>
                  </a:cxn>
                  <a:cxn ang="0">
                    <a:pos x="61" y="60"/>
                  </a:cxn>
                  <a:cxn ang="0">
                    <a:pos x="72" y="64"/>
                  </a:cxn>
                  <a:cxn ang="0">
                    <a:pos x="69" y="70"/>
                  </a:cxn>
                  <a:cxn ang="0">
                    <a:pos x="64" y="84"/>
                  </a:cxn>
                  <a:cxn ang="0">
                    <a:pos x="69" y="95"/>
                  </a:cxn>
                  <a:cxn ang="0">
                    <a:pos x="84" y="101"/>
                  </a:cxn>
                  <a:cxn ang="0">
                    <a:pos x="97" y="88"/>
                  </a:cxn>
                  <a:cxn ang="0">
                    <a:pos x="109" y="85"/>
                  </a:cxn>
                  <a:cxn ang="0">
                    <a:pos x="125" y="86"/>
                  </a:cxn>
                  <a:cxn ang="0">
                    <a:pos x="141" y="76"/>
                  </a:cxn>
                  <a:cxn ang="0">
                    <a:pos x="158" y="71"/>
                  </a:cxn>
                  <a:cxn ang="0">
                    <a:pos x="171" y="78"/>
                  </a:cxn>
                  <a:cxn ang="0">
                    <a:pos x="172" y="66"/>
                  </a:cxn>
                </a:cxnLst>
                <a:rect l="0" t="0" r="r" b="b"/>
                <a:pathLst>
                  <a:path w="172" h="105">
                    <a:moveTo>
                      <a:pt x="171" y="54"/>
                    </a:moveTo>
                    <a:cubicBezTo>
                      <a:pt x="170" y="51"/>
                      <a:pt x="169" y="46"/>
                      <a:pt x="169" y="44"/>
                    </a:cubicBezTo>
                    <a:cubicBezTo>
                      <a:pt x="168" y="42"/>
                      <a:pt x="167" y="38"/>
                      <a:pt x="167" y="35"/>
                    </a:cubicBezTo>
                    <a:cubicBezTo>
                      <a:pt x="167" y="32"/>
                      <a:pt x="166" y="30"/>
                      <a:pt x="166" y="30"/>
                    </a:cubicBezTo>
                    <a:cubicBezTo>
                      <a:pt x="166" y="30"/>
                      <a:pt x="165" y="30"/>
                      <a:pt x="162" y="29"/>
                    </a:cubicBezTo>
                    <a:cubicBezTo>
                      <a:pt x="160" y="29"/>
                      <a:pt x="156" y="28"/>
                      <a:pt x="152" y="26"/>
                    </a:cubicBezTo>
                    <a:cubicBezTo>
                      <a:pt x="149" y="25"/>
                      <a:pt x="144" y="24"/>
                      <a:pt x="141" y="24"/>
                    </a:cubicBezTo>
                    <a:cubicBezTo>
                      <a:pt x="138" y="24"/>
                      <a:pt x="133" y="24"/>
                      <a:pt x="131" y="24"/>
                    </a:cubicBezTo>
                    <a:cubicBezTo>
                      <a:pt x="128" y="24"/>
                      <a:pt x="123" y="23"/>
                      <a:pt x="119" y="22"/>
                    </a:cubicBezTo>
                    <a:cubicBezTo>
                      <a:pt x="116" y="22"/>
                      <a:pt x="111" y="19"/>
                      <a:pt x="108" y="17"/>
                    </a:cubicBezTo>
                    <a:cubicBezTo>
                      <a:pt x="106" y="16"/>
                      <a:pt x="103" y="15"/>
                      <a:pt x="103" y="17"/>
                    </a:cubicBezTo>
                    <a:cubicBezTo>
                      <a:pt x="102" y="18"/>
                      <a:pt x="101" y="21"/>
                      <a:pt x="101" y="24"/>
                    </a:cubicBezTo>
                    <a:cubicBezTo>
                      <a:pt x="101" y="27"/>
                      <a:pt x="100" y="29"/>
                      <a:pt x="100" y="30"/>
                    </a:cubicBezTo>
                    <a:cubicBezTo>
                      <a:pt x="99" y="31"/>
                      <a:pt x="98" y="34"/>
                      <a:pt x="98" y="37"/>
                    </a:cubicBezTo>
                    <a:cubicBezTo>
                      <a:pt x="97" y="40"/>
                      <a:pt x="95" y="43"/>
                      <a:pt x="93" y="43"/>
                    </a:cubicBezTo>
                    <a:cubicBezTo>
                      <a:pt x="91" y="44"/>
                      <a:pt x="88" y="43"/>
                      <a:pt x="88" y="40"/>
                    </a:cubicBezTo>
                    <a:cubicBezTo>
                      <a:pt x="87" y="38"/>
                      <a:pt x="85" y="34"/>
                      <a:pt x="83" y="33"/>
                    </a:cubicBezTo>
                    <a:cubicBezTo>
                      <a:pt x="81" y="32"/>
                      <a:pt x="77" y="32"/>
                      <a:pt x="74" y="33"/>
                    </a:cubicBezTo>
                    <a:cubicBezTo>
                      <a:pt x="71" y="34"/>
                      <a:pt x="67" y="35"/>
                      <a:pt x="65" y="34"/>
                    </a:cubicBezTo>
                    <a:cubicBezTo>
                      <a:pt x="63" y="32"/>
                      <a:pt x="60" y="31"/>
                      <a:pt x="58" y="30"/>
                    </a:cubicBezTo>
                    <a:cubicBezTo>
                      <a:pt x="57" y="29"/>
                      <a:pt x="55" y="27"/>
                      <a:pt x="56" y="26"/>
                    </a:cubicBezTo>
                    <a:cubicBezTo>
                      <a:pt x="56" y="25"/>
                      <a:pt x="57" y="23"/>
                      <a:pt x="57" y="23"/>
                    </a:cubicBezTo>
                    <a:cubicBezTo>
                      <a:pt x="58" y="22"/>
                      <a:pt x="59" y="20"/>
                      <a:pt x="60" y="18"/>
                    </a:cubicBezTo>
                    <a:cubicBezTo>
                      <a:pt x="60" y="16"/>
                      <a:pt x="62" y="13"/>
                      <a:pt x="64" y="11"/>
                    </a:cubicBezTo>
                    <a:cubicBezTo>
                      <a:pt x="66" y="9"/>
                      <a:pt x="69" y="5"/>
                      <a:pt x="69" y="3"/>
                    </a:cubicBezTo>
                    <a:cubicBezTo>
                      <a:pt x="70" y="1"/>
                      <a:pt x="68" y="0"/>
                      <a:pt x="66" y="0"/>
                    </a:cubicBezTo>
                    <a:cubicBezTo>
                      <a:pt x="63" y="1"/>
                      <a:pt x="60" y="1"/>
                      <a:pt x="59" y="1"/>
                    </a:cubicBezTo>
                    <a:cubicBezTo>
                      <a:pt x="58" y="0"/>
                      <a:pt x="55" y="1"/>
                      <a:pt x="52" y="3"/>
                    </a:cubicBezTo>
                    <a:cubicBezTo>
                      <a:pt x="49" y="4"/>
                      <a:pt x="45" y="6"/>
                      <a:pt x="44" y="8"/>
                    </a:cubicBezTo>
                    <a:cubicBezTo>
                      <a:pt x="44" y="10"/>
                      <a:pt x="42" y="11"/>
                      <a:pt x="40" y="12"/>
                    </a:cubicBezTo>
                    <a:cubicBezTo>
                      <a:pt x="38" y="13"/>
                      <a:pt x="35" y="15"/>
                      <a:pt x="33" y="16"/>
                    </a:cubicBezTo>
                    <a:cubicBezTo>
                      <a:pt x="32" y="18"/>
                      <a:pt x="27" y="19"/>
                      <a:pt x="24" y="18"/>
                    </a:cubicBezTo>
                    <a:cubicBezTo>
                      <a:pt x="21" y="18"/>
                      <a:pt x="16" y="16"/>
                      <a:pt x="14" y="15"/>
                    </a:cubicBezTo>
                    <a:cubicBezTo>
                      <a:pt x="11" y="14"/>
                      <a:pt x="9" y="13"/>
                      <a:pt x="9" y="13"/>
                    </a:cubicBezTo>
                    <a:cubicBezTo>
                      <a:pt x="9" y="13"/>
                      <a:pt x="8" y="16"/>
                      <a:pt x="7" y="18"/>
                    </a:cubicBezTo>
                    <a:cubicBezTo>
                      <a:pt x="6" y="21"/>
                      <a:pt x="5" y="25"/>
                      <a:pt x="4" y="28"/>
                    </a:cubicBezTo>
                    <a:cubicBezTo>
                      <a:pt x="3" y="30"/>
                      <a:pt x="2" y="34"/>
                      <a:pt x="1" y="35"/>
                    </a:cubicBezTo>
                    <a:cubicBezTo>
                      <a:pt x="0" y="37"/>
                      <a:pt x="0" y="39"/>
                      <a:pt x="1" y="41"/>
                    </a:cubicBezTo>
                    <a:cubicBezTo>
                      <a:pt x="2" y="43"/>
                      <a:pt x="3" y="46"/>
                      <a:pt x="3" y="47"/>
                    </a:cubicBezTo>
                    <a:cubicBezTo>
                      <a:pt x="4" y="49"/>
                      <a:pt x="5" y="51"/>
                      <a:pt x="6" y="52"/>
                    </a:cubicBezTo>
                    <a:cubicBezTo>
                      <a:pt x="7" y="54"/>
                      <a:pt x="8" y="56"/>
                      <a:pt x="7" y="57"/>
                    </a:cubicBezTo>
                    <a:cubicBezTo>
                      <a:pt x="7" y="58"/>
                      <a:pt x="5" y="61"/>
                      <a:pt x="4" y="64"/>
                    </a:cubicBezTo>
                    <a:cubicBezTo>
                      <a:pt x="2" y="67"/>
                      <a:pt x="1" y="69"/>
                      <a:pt x="1" y="69"/>
                    </a:cubicBezTo>
                    <a:cubicBezTo>
                      <a:pt x="1" y="69"/>
                      <a:pt x="2" y="71"/>
                      <a:pt x="2" y="73"/>
                    </a:cubicBezTo>
                    <a:cubicBezTo>
                      <a:pt x="3" y="74"/>
                      <a:pt x="6" y="76"/>
                      <a:pt x="8" y="76"/>
                    </a:cubicBezTo>
                    <a:cubicBezTo>
                      <a:pt x="10" y="77"/>
                      <a:pt x="13" y="77"/>
                      <a:pt x="14" y="76"/>
                    </a:cubicBezTo>
                    <a:cubicBezTo>
                      <a:pt x="15" y="76"/>
                      <a:pt x="17" y="77"/>
                      <a:pt x="17" y="79"/>
                    </a:cubicBezTo>
                    <a:cubicBezTo>
                      <a:pt x="18" y="80"/>
                      <a:pt x="20" y="80"/>
                      <a:pt x="23" y="79"/>
                    </a:cubicBezTo>
                    <a:cubicBezTo>
                      <a:pt x="25" y="78"/>
                      <a:pt x="29" y="77"/>
                      <a:pt x="31" y="77"/>
                    </a:cubicBezTo>
                    <a:cubicBezTo>
                      <a:pt x="33" y="77"/>
                      <a:pt x="37" y="75"/>
                      <a:pt x="40" y="73"/>
                    </a:cubicBezTo>
                    <a:cubicBezTo>
                      <a:pt x="43" y="71"/>
                      <a:pt x="47" y="68"/>
                      <a:pt x="48" y="68"/>
                    </a:cubicBezTo>
                    <a:cubicBezTo>
                      <a:pt x="50" y="67"/>
                      <a:pt x="52" y="65"/>
                      <a:pt x="53" y="63"/>
                    </a:cubicBezTo>
                    <a:cubicBezTo>
                      <a:pt x="54" y="62"/>
                      <a:pt x="56" y="61"/>
                      <a:pt x="57" y="61"/>
                    </a:cubicBezTo>
                    <a:cubicBezTo>
                      <a:pt x="58" y="61"/>
                      <a:pt x="60" y="60"/>
                      <a:pt x="61" y="60"/>
                    </a:cubicBezTo>
                    <a:cubicBezTo>
                      <a:pt x="63" y="60"/>
                      <a:pt x="66" y="60"/>
                      <a:pt x="68" y="61"/>
                    </a:cubicBezTo>
                    <a:cubicBezTo>
                      <a:pt x="70" y="62"/>
                      <a:pt x="72" y="64"/>
                      <a:pt x="72" y="64"/>
                    </a:cubicBezTo>
                    <a:cubicBezTo>
                      <a:pt x="73" y="65"/>
                      <a:pt x="73" y="66"/>
                      <a:pt x="72" y="68"/>
                    </a:cubicBezTo>
                    <a:cubicBezTo>
                      <a:pt x="71" y="69"/>
                      <a:pt x="70" y="70"/>
                      <a:pt x="69" y="70"/>
                    </a:cubicBezTo>
                    <a:cubicBezTo>
                      <a:pt x="69" y="70"/>
                      <a:pt x="68" y="72"/>
                      <a:pt x="67" y="75"/>
                    </a:cubicBezTo>
                    <a:cubicBezTo>
                      <a:pt x="67" y="78"/>
                      <a:pt x="65" y="82"/>
                      <a:pt x="64" y="84"/>
                    </a:cubicBezTo>
                    <a:cubicBezTo>
                      <a:pt x="63" y="87"/>
                      <a:pt x="63" y="89"/>
                      <a:pt x="65" y="89"/>
                    </a:cubicBezTo>
                    <a:cubicBezTo>
                      <a:pt x="67" y="90"/>
                      <a:pt x="69" y="92"/>
                      <a:pt x="69" y="95"/>
                    </a:cubicBezTo>
                    <a:cubicBezTo>
                      <a:pt x="69" y="98"/>
                      <a:pt x="72" y="102"/>
                      <a:pt x="75" y="103"/>
                    </a:cubicBezTo>
                    <a:cubicBezTo>
                      <a:pt x="77" y="105"/>
                      <a:pt x="81" y="104"/>
                      <a:pt x="84" y="101"/>
                    </a:cubicBezTo>
                    <a:cubicBezTo>
                      <a:pt x="86" y="99"/>
                      <a:pt x="89" y="95"/>
                      <a:pt x="91" y="92"/>
                    </a:cubicBezTo>
                    <a:cubicBezTo>
                      <a:pt x="93" y="90"/>
                      <a:pt x="96" y="88"/>
                      <a:pt x="97" y="88"/>
                    </a:cubicBezTo>
                    <a:cubicBezTo>
                      <a:pt x="98" y="89"/>
                      <a:pt x="100" y="88"/>
                      <a:pt x="101" y="87"/>
                    </a:cubicBezTo>
                    <a:cubicBezTo>
                      <a:pt x="102" y="86"/>
                      <a:pt x="106" y="85"/>
                      <a:pt x="109" y="85"/>
                    </a:cubicBezTo>
                    <a:cubicBezTo>
                      <a:pt x="112" y="85"/>
                      <a:pt x="116" y="86"/>
                      <a:pt x="118" y="87"/>
                    </a:cubicBezTo>
                    <a:cubicBezTo>
                      <a:pt x="120" y="88"/>
                      <a:pt x="123" y="87"/>
                      <a:pt x="125" y="86"/>
                    </a:cubicBezTo>
                    <a:cubicBezTo>
                      <a:pt x="127" y="85"/>
                      <a:pt x="130" y="83"/>
                      <a:pt x="133" y="83"/>
                    </a:cubicBezTo>
                    <a:cubicBezTo>
                      <a:pt x="136" y="82"/>
                      <a:pt x="139" y="79"/>
                      <a:pt x="141" y="76"/>
                    </a:cubicBezTo>
                    <a:cubicBezTo>
                      <a:pt x="143" y="72"/>
                      <a:pt x="146" y="70"/>
                      <a:pt x="149" y="69"/>
                    </a:cubicBezTo>
                    <a:cubicBezTo>
                      <a:pt x="152" y="69"/>
                      <a:pt x="156" y="70"/>
                      <a:pt x="158" y="71"/>
                    </a:cubicBezTo>
                    <a:cubicBezTo>
                      <a:pt x="161" y="73"/>
                      <a:pt x="165" y="75"/>
                      <a:pt x="167" y="76"/>
                    </a:cubicBezTo>
                    <a:cubicBezTo>
                      <a:pt x="169" y="77"/>
                      <a:pt x="171" y="78"/>
                      <a:pt x="171" y="78"/>
                    </a:cubicBezTo>
                    <a:cubicBezTo>
                      <a:pt x="171" y="78"/>
                      <a:pt x="171" y="77"/>
                      <a:pt x="172" y="76"/>
                    </a:cubicBezTo>
                    <a:cubicBezTo>
                      <a:pt x="172" y="74"/>
                      <a:pt x="172" y="70"/>
                      <a:pt x="172" y="66"/>
                    </a:cubicBezTo>
                    <a:cubicBezTo>
                      <a:pt x="172" y="62"/>
                      <a:pt x="172" y="57"/>
                      <a:pt x="171" y="5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407924" tIns="203962" rIns="407924" bIns="20396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246">
                  <a:solidFill>
                    <a:srgbClr val="410B30"/>
                  </a:solidFill>
                </a:endParaRPr>
              </a:p>
            </p:txBody>
          </p:sp>
          <p:sp>
            <p:nvSpPr>
              <p:cNvPr id="1223" name="Freeform 26">
                <a:extLst>
                  <a:ext uri="{FF2B5EF4-FFF2-40B4-BE49-F238E27FC236}">
                    <a16:creationId xmlns:a16="http://schemas.microsoft.com/office/drawing/2014/main" id="{A201DE43-6C87-7A0D-A0E6-5410F82025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7351" y="4203859"/>
                <a:ext cx="698225" cy="712629"/>
              </a:xfrm>
              <a:custGeom>
                <a:avLst/>
                <a:gdLst/>
                <a:ahLst/>
                <a:cxnLst>
                  <a:cxn ang="0">
                    <a:pos x="175" y="300"/>
                  </a:cxn>
                  <a:cxn ang="0">
                    <a:pos x="189" y="277"/>
                  </a:cxn>
                  <a:cxn ang="0">
                    <a:pos x="209" y="256"/>
                  </a:cxn>
                  <a:cxn ang="0">
                    <a:pos x="224" y="242"/>
                  </a:cxn>
                  <a:cxn ang="0">
                    <a:pos x="245" y="226"/>
                  </a:cxn>
                  <a:cxn ang="0">
                    <a:pos x="260" y="203"/>
                  </a:cxn>
                  <a:cxn ang="0">
                    <a:pos x="268" y="188"/>
                  </a:cxn>
                  <a:cxn ang="0">
                    <a:pos x="278" y="165"/>
                  </a:cxn>
                  <a:cxn ang="0">
                    <a:pos x="295" y="145"/>
                  </a:cxn>
                  <a:cxn ang="0">
                    <a:pos x="306" y="132"/>
                  </a:cxn>
                  <a:cxn ang="0">
                    <a:pos x="304" y="117"/>
                  </a:cxn>
                  <a:cxn ang="0">
                    <a:pos x="308" y="104"/>
                  </a:cxn>
                  <a:cxn ang="0">
                    <a:pos x="291" y="93"/>
                  </a:cxn>
                  <a:cxn ang="0">
                    <a:pos x="261" y="80"/>
                  </a:cxn>
                  <a:cxn ang="0">
                    <a:pos x="240" y="70"/>
                  </a:cxn>
                  <a:cxn ang="0">
                    <a:pos x="225" y="58"/>
                  </a:cxn>
                  <a:cxn ang="0">
                    <a:pos x="217" y="39"/>
                  </a:cxn>
                  <a:cxn ang="0">
                    <a:pos x="203" y="36"/>
                  </a:cxn>
                  <a:cxn ang="0">
                    <a:pos x="184" y="35"/>
                  </a:cxn>
                  <a:cxn ang="0">
                    <a:pos x="188" y="16"/>
                  </a:cxn>
                  <a:cxn ang="0">
                    <a:pos x="185" y="5"/>
                  </a:cxn>
                  <a:cxn ang="0">
                    <a:pos x="168" y="19"/>
                  </a:cxn>
                  <a:cxn ang="0">
                    <a:pos x="143" y="18"/>
                  </a:cxn>
                  <a:cxn ang="0">
                    <a:pos x="110" y="13"/>
                  </a:cxn>
                  <a:cxn ang="0">
                    <a:pos x="87" y="0"/>
                  </a:cxn>
                  <a:cxn ang="0">
                    <a:pos x="57" y="10"/>
                  </a:cxn>
                  <a:cxn ang="0">
                    <a:pos x="39" y="29"/>
                  </a:cxn>
                  <a:cxn ang="0">
                    <a:pos x="25" y="33"/>
                  </a:cxn>
                  <a:cxn ang="0">
                    <a:pos x="16" y="28"/>
                  </a:cxn>
                  <a:cxn ang="0">
                    <a:pos x="20" y="65"/>
                  </a:cxn>
                  <a:cxn ang="0">
                    <a:pos x="8" y="125"/>
                  </a:cxn>
                  <a:cxn ang="0">
                    <a:pos x="8" y="134"/>
                  </a:cxn>
                  <a:cxn ang="0">
                    <a:pos x="0" y="142"/>
                  </a:cxn>
                  <a:cxn ang="0">
                    <a:pos x="5" y="152"/>
                  </a:cxn>
                  <a:cxn ang="0">
                    <a:pos x="12" y="170"/>
                  </a:cxn>
                  <a:cxn ang="0">
                    <a:pos x="12" y="191"/>
                  </a:cxn>
                  <a:cxn ang="0">
                    <a:pos x="11" y="211"/>
                  </a:cxn>
                  <a:cxn ang="0">
                    <a:pos x="9" y="227"/>
                  </a:cxn>
                  <a:cxn ang="0">
                    <a:pos x="28" y="230"/>
                  </a:cxn>
                  <a:cxn ang="0">
                    <a:pos x="49" y="233"/>
                  </a:cxn>
                  <a:cxn ang="0">
                    <a:pos x="64" y="232"/>
                  </a:cxn>
                  <a:cxn ang="0">
                    <a:pos x="76" y="225"/>
                  </a:cxn>
                  <a:cxn ang="0">
                    <a:pos x="98" y="236"/>
                  </a:cxn>
                  <a:cxn ang="0">
                    <a:pos x="110" y="254"/>
                  </a:cxn>
                  <a:cxn ang="0">
                    <a:pos x="113" y="276"/>
                  </a:cxn>
                  <a:cxn ang="0">
                    <a:pos x="115" y="295"/>
                  </a:cxn>
                  <a:cxn ang="0">
                    <a:pos x="132" y="312"/>
                  </a:cxn>
                  <a:cxn ang="0">
                    <a:pos x="154" y="304"/>
                  </a:cxn>
                  <a:cxn ang="0">
                    <a:pos x="168" y="314"/>
                  </a:cxn>
                </a:cxnLst>
                <a:rect l="0" t="0" r="r" b="b"/>
                <a:pathLst>
                  <a:path w="308" h="314">
                    <a:moveTo>
                      <a:pt x="173" y="312"/>
                    </a:moveTo>
                    <a:cubicBezTo>
                      <a:pt x="174" y="311"/>
                      <a:pt x="174" y="309"/>
                      <a:pt x="174" y="308"/>
                    </a:cubicBezTo>
                    <a:cubicBezTo>
                      <a:pt x="174" y="307"/>
                      <a:pt x="175" y="303"/>
                      <a:pt x="175" y="300"/>
                    </a:cubicBezTo>
                    <a:cubicBezTo>
                      <a:pt x="176" y="296"/>
                      <a:pt x="177" y="292"/>
                      <a:pt x="178" y="290"/>
                    </a:cubicBezTo>
                    <a:cubicBezTo>
                      <a:pt x="179" y="287"/>
                      <a:pt x="182" y="285"/>
                      <a:pt x="184" y="283"/>
                    </a:cubicBezTo>
                    <a:cubicBezTo>
                      <a:pt x="185" y="282"/>
                      <a:pt x="188" y="279"/>
                      <a:pt x="189" y="277"/>
                    </a:cubicBezTo>
                    <a:cubicBezTo>
                      <a:pt x="190" y="275"/>
                      <a:pt x="192" y="271"/>
                      <a:pt x="193" y="267"/>
                    </a:cubicBezTo>
                    <a:cubicBezTo>
                      <a:pt x="194" y="263"/>
                      <a:pt x="197" y="260"/>
                      <a:pt x="200" y="259"/>
                    </a:cubicBezTo>
                    <a:cubicBezTo>
                      <a:pt x="203" y="258"/>
                      <a:pt x="207" y="256"/>
                      <a:pt x="209" y="256"/>
                    </a:cubicBezTo>
                    <a:cubicBezTo>
                      <a:pt x="211" y="255"/>
                      <a:pt x="214" y="252"/>
                      <a:pt x="216" y="250"/>
                    </a:cubicBezTo>
                    <a:cubicBezTo>
                      <a:pt x="218" y="248"/>
                      <a:pt x="220" y="246"/>
                      <a:pt x="220" y="246"/>
                    </a:cubicBezTo>
                    <a:cubicBezTo>
                      <a:pt x="220" y="246"/>
                      <a:pt x="222" y="244"/>
                      <a:pt x="224" y="242"/>
                    </a:cubicBezTo>
                    <a:cubicBezTo>
                      <a:pt x="226" y="240"/>
                      <a:pt x="230" y="237"/>
                      <a:pt x="233" y="236"/>
                    </a:cubicBezTo>
                    <a:cubicBezTo>
                      <a:pt x="235" y="235"/>
                      <a:pt x="238" y="234"/>
                      <a:pt x="239" y="233"/>
                    </a:cubicBezTo>
                    <a:cubicBezTo>
                      <a:pt x="240" y="232"/>
                      <a:pt x="243" y="229"/>
                      <a:pt x="245" y="226"/>
                    </a:cubicBezTo>
                    <a:cubicBezTo>
                      <a:pt x="247" y="223"/>
                      <a:pt x="250" y="219"/>
                      <a:pt x="251" y="217"/>
                    </a:cubicBezTo>
                    <a:cubicBezTo>
                      <a:pt x="253" y="215"/>
                      <a:pt x="256" y="212"/>
                      <a:pt x="257" y="210"/>
                    </a:cubicBezTo>
                    <a:cubicBezTo>
                      <a:pt x="258" y="208"/>
                      <a:pt x="260" y="205"/>
                      <a:pt x="260" y="203"/>
                    </a:cubicBezTo>
                    <a:cubicBezTo>
                      <a:pt x="260" y="201"/>
                      <a:pt x="260" y="199"/>
                      <a:pt x="261" y="199"/>
                    </a:cubicBezTo>
                    <a:cubicBezTo>
                      <a:pt x="262" y="198"/>
                      <a:pt x="264" y="196"/>
                      <a:pt x="266" y="195"/>
                    </a:cubicBezTo>
                    <a:cubicBezTo>
                      <a:pt x="267" y="193"/>
                      <a:pt x="268" y="190"/>
                      <a:pt x="268" y="188"/>
                    </a:cubicBezTo>
                    <a:cubicBezTo>
                      <a:pt x="268" y="186"/>
                      <a:pt x="270" y="182"/>
                      <a:pt x="271" y="179"/>
                    </a:cubicBezTo>
                    <a:cubicBezTo>
                      <a:pt x="272" y="177"/>
                      <a:pt x="274" y="174"/>
                      <a:pt x="275" y="172"/>
                    </a:cubicBezTo>
                    <a:cubicBezTo>
                      <a:pt x="276" y="171"/>
                      <a:pt x="277" y="167"/>
                      <a:pt x="278" y="165"/>
                    </a:cubicBezTo>
                    <a:cubicBezTo>
                      <a:pt x="278" y="162"/>
                      <a:pt x="280" y="158"/>
                      <a:pt x="282" y="156"/>
                    </a:cubicBezTo>
                    <a:cubicBezTo>
                      <a:pt x="283" y="153"/>
                      <a:pt x="286" y="150"/>
                      <a:pt x="288" y="149"/>
                    </a:cubicBezTo>
                    <a:cubicBezTo>
                      <a:pt x="289" y="147"/>
                      <a:pt x="292" y="145"/>
                      <a:pt x="295" y="145"/>
                    </a:cubicBezTo>
                    <a:cubicBezTo>
                      <a:pt x="298" y="145"/>
                      <a:pt x="301" y="145"/>
                      <a:pt x="302" y="144"/>
                    </a:cubicBezTo>
                    <a:cubicBezTo>
                      <a:pt x="303" y="143"/>
                      <a:pt x="305" y="140"/>
                      <a:pt x="305" y="137"/>
                    </a:cubicBezTo>
                    <a:cubicBezTo>
                      <a:pt x="305" y="134"/>
                      <a:pt x="306" y="132"/>
                      <a:pt x="306" y="132"/>
                    </a:cubicBezTo>
                    <a:cubicBezTo>
                      <a:pt x="306" y="132"/>
                      <a:pt x="305" y="130"/>
                      <a:pt x="305" y="129"/>
                    </a:cubicBezTo>
                    <a:cubicBezTo>
                      <a:pt x="305" y="127"/>
                      <a:pt x="304" y="124"/>
                      <a:pt x="304" y="123"/>
                    </a:cubicBezTo>
                    <a:cubicBezTo>
                      <a:pt x="303" y="121"/>
                      <a:pt x="303" y="119"/>
                      <a:pt x="304" y="117"/>
                    </a:cubicBezTo>
                    <a:cubicBezTo>
                      <a:pt x="304" y="116"/>
                      <a:pt x="305" y="113"/>
                      <a:pt x="306" y="112"/>
                    </a:cubicBezTo>
                    <a:cubicBezTo>
                      <a:pt x="307" y="110"/>
                      <a:pt x="308" y="108"/>
                      <a:pt x="308" y="107"/>
                    </a:cubicBezTo>
                    <a:cubicBezTo>
                      <a:pt x="308" y="105"/>
                      <a:pt x="308" y="104"/>
                      <a:pt x="308" y="104"/>
                    </a:cubicBezTo>
                    <a:cubicBezTo>
                      <a:pt x="308" y="104"/>
                      <a:pt x="306" y="103"/>
                      <a:pt x="305" y="101"/>
                    </a:cubicBezTo>
                    <a:cubicBezTo>
                      <a:pt x="303" y="100"/>
                      <a:pt x="300" y="98"/>
                      <a:pt x="298" y="97"/>
                    </a:cubicBezTo>
                    <a:cubicBezTo>
                      <a:pt x="297" y="97"/>
                      <a:pt x="294" y="95"/>
                      <a:pt x="291" y="93"/>
                    </a:cubicBezTo>
                    <a:cubicBezTo>
                      <a:pt x="289" y="91"/>
                      <a:pt x="285" y="90"/>
                      <a:pt x="282" y="89"/>
                    </a:cubicBezTo>
                    <a:cubicBezTo>
                      <a:pt x="279" y="89"/>
                      <a:pt x="275" y="87"/>
                      <a:pt x="272" y="86"/>
                    </a:cubicBezTo>
                    <a:cubicBezTo>
                      <a:pt x="269" y="85"/>
                      <a:pt x="264" y="82"/>
                      <a:pt x="261" y="80"/>
                    </a:cubicBezTo>
                    <a:cubicBezTo>
                      <a:pt x="258" y="77"/>
                      <a:pt x="254" y="75"/>
                      <a:pt x="253" y="75"/>
                    </a:cubicBezTo>
                    <a:cubicBezTo>
                      <a:pt x="251" y="75"/>
                      <a:pt x="248" y="74"/>
                      <a:pt x="246" y="72"/>
                    </a:cubicBezTo>
                    <a:cubicBezTo>
                      <a:pt x="245" y="71"/>
                      <a:pt x="242" y="70"/>
                      <a:pt x="240" y="70"/>
                    </a:cubicBezTo>
                    <a:cubicBezTo>
                      <a:pt x="239" y="71"/>
                      <a:pt x="235" y="71"/>
                      <a:pt x="231" y="70"/>
                    </a:cubicBezTo>
                    <a:cubicBezTo>
                      <a:pt x="228" y="69"/>
                      <a:pt x="225" y="66"/>
                      <a:pt x="225" y="65"/>
                    </a:cubicBezTo>
                    <a:cubicBezTo>
                      <a:pt x="225" y="64"/>
                      <a:pt x="225" y="60"/>
                      <a:pt x="225" y="58"/>
                    </a:cubicBezTo>
                    <a:cubicBezTo>
                      <a:pt x="226" y="55"/>
                      <a:pt x="224" y="53"/>
                      <a:pt x="222" y="52"/>
                    </a:cubicBezTo>
                    <a:cubicBezTo>
                      <a:pt x="220" y="51"/>
                      <a:pt x="219" y="49"/>
                      <a:pt x="219" y="46"/>
                    </a:cubicBezTo>
                    <a:cubicBezTo>
                      <a:pt x="218" y="44"/>
                      <a:pt x="218" y="40"/>
                      <a:pt x="217" y="39"/>
                    </a:cubicBezTo>
                    <a:cubicBezTo>
                      <a:pt x="216" y="38"/>
                      <a:pt x="216" y="36"/>
                      <a:pt x="216" y="36"/>
                    </a:cubicBezTo>
                    <a:cubicBezTo>
                      <a:pt x="216" y="36"/>
                      <a:pt x="214" y="36"/>
                      <a:pt x="212" y="36"/>
                    </a:cubicBezTo>
                    <a:cubicBezTo>
                      <a:pt x="209" y="36"/>
                      <a:pt x="205" y="36"/>
                      <a:pt x="203" y="36"/>
                    </a:cubicBezTo>
                    <a:cubicBezTo>
                      <a:pt x="200" y="36"/>
                      <a:pt x="197" y="36"/>
                      <a:pt x="196" y="36"/>
                    </a:cubicBezTo>
                    <a:cubicBezTo>
                      <a:pt x="195" y="36"/>
                      <a:pt x="192" y="36"/>
                      <a:pt x="191" y="36"/>
                    </a:cubicBezTo>
                    <a:cubicBezTo>
                      <a:pt x="190" y="37"/>
                      <a:pt x="186" y="36"/>
                      <a:pt x="184" y="35"/>
                    </a:cubicBezTo>
                    <a:cubicBezTo>
                      <a:pt x="181" y="34"/>
                      <a:pt x="179" y="31"/>
                      <a:pt x="180" y="30"/>
                    </a:cubicBezTo>
                    <a:cubicBezTo>
                      <a:pt x="180" y="28"/>
                      <a:pt x="182" y="26"/>
                      <a:pt x="184" y="24"/>
                    </a:cubicBezTo>
                    <a:cubicBezTo>
                      <a:pt x="185" y="22"/>
                      <a:pt x="187" y="19"/>
                      <a:pt x="188" y="16"/>
                    </a:cubicBezTo>
                    <a:cubicBezTo>
                      <a:pt x="189" y="14"/>
                      <a:pt x="190" y="10"/>
                      <a:pt x="190" y="8"/>
                    </a:cubicBezTo>
                    <a:cubicBezTo>
                      <a:pt x="190" y="5"/>
                      <a:pt x="190" y="3"/>
                      <a:pt x="188" y="3"/>
                    </a:cubicBezTo>
                    <a:cubicBezTo>
                      <a:pt x="187" y="3"/>
                      <a:pt x="186" y="4"/>
                      <a:pt x="185" y="5"/>
                    </a:cubicBezTo>
                    <a:cubicBezTo>
                      <a:pt x="185" y="6"/>
                      <a:pt x="183" y="8"/>
                      <a:pt x="181" y="10"/>
                    </a:cubicBezTo>
                    <a:cubicBezTo>
                      <a:pt x="180" y="11"/>
                      <a:pt x="176" y="14"/>
                      <a:pt x="174" y="16"/>
                    </a:cubicBezTo>
                    <a:cubicBezTo>
                      <a:pt x="172" y="17"/>
                      <a:pt x="169" y="19"/>
                      <a:pt x="168" y="19"/>
                    </a:cubicBezTo>
                    <a:cubicBezTo>
                      <a:pt x="166" y="20"/>
                      <a:pt x="163" y="20"/>
                      <a:pt x="161" y="19"/>
                    </a:cubicBezTo>
                    <a:cubicBezTo>
                      <a:pt x="159" y="18"/>
                      <a:pt x="155" y="17"/>
                      <a:pt x="152" y="16"/>
                    </a:cubicBezTo>
                    <a:cubicBezTo>
                      <a:pt x="150" y="15"/>
                      <a:pt x="146" y="16"/>
                      <a:pt x="143" y="18"/>
                    </a:cubicBezTo>
                    <a:cubicBezTo>
                      <a:pt x="141" y="19"/>
                      <a:pt x="135" y="21"/>
                      <a:pt x="132" y="22"/>
                    </a:cubicBezTo>
                    <a:cubicBezTo>
                      <a:pt x="128" y="22"/>
                      <a:pt x="123" y="21"/>
                      <a:pt x="120" y="20"/>
                    </a:cubicBezTo>
                    <a:cubicBezTo>
                      <a:pt x="117" y="18"/>
                      <a:pt x="113" y="15"/>
                      <a:pt x="110" y="13"/>
                    </a:cubicBezTo>
                    <a:cubicBezTo>
                      <a:pt x="108" y="10"/>
                      <a:pt x="103" y="7"/>
                      <a:pt x="100" y="6"/>
                    </a:cubicBezTo>
                    <a:cubicBezTo>
                      <a:pt x="97" y="5"/>
                      <a:pt x="94" y="3"/>
                      <a:pt x="92" y="2"/>
                    </a:cubicBezTo>
                    <a:cubicBezTo>
                      <a:pt x="91" y="1"/>
                      <a:pt x="88" y="0"/>
                      <a:pt x="87" y="0"/>
                    </a:cubicBezTo>
                    <a:cubicBezTo>
                      <a:pt x="85" y="0"/>
                      <a:pt x="81" y="2"/>
                      <a:pt x="79" y="4"/>
                    </a:cubicBezTo>
                    <a:cubicBezTo>
                      <a:pt x="76" y="6"/>
                      <a:pt x="71" y="7"/>
                      <a:pt x="67" y="7"/>
                    </a:cubicBezTo>
                    <a:cubicBezTo>
                      <a:pt x="63" y="7"/>
                      <a:pt x="59" y="8"/>
                      <a:pt x="57" y="10"/>
                    </a:cubicBezTo>
                    <a:cubicBezTo>
                      <a:pt x="55" y="11"/>
                      <a:pt x="52" y="15"/>
                      <a:pt x="51" y="17"/>
                    </a:cubicBezTo>
                    <a:cubicBezTo>
                      <a:pt x="49" y="19"/>
                      <a:pt x="47" y="23"/>
                      <a:pt x="46" y="25"/>
                    </a:cubicBezTo>
                    <a:cubicBezTo>
                      <a:pt x="44" y="27"/>
                      <a:pt x="41" y="29"/>
                      <a:pt x="39" y="29"/>
                    </a:cubicBezTo>
                    <a:cubicBezTo>
                      <a:pt x="37" y="29"/>
                      <a:pt x="34" y="31"/>
                      <a:pt x="31" y="33"/>
                    </a:cubicBezTo>
                    <a:cubicBezTo>
                      <a:pt x="29" y="34"/>
                      <a:pt x="28" y="36"/>
                      <a:pt x="28" y="36"/>
                    </a:cubicBezTo>
                    <a:cubicBezTo>
                      <a:pt x="28" y="36"/>
                      <a:pt x="27" y="34"/>
                      <a:pt x="25" y="33"/>
                    </a:cubicBezTo>
                    <a:cubicBezTo>
                      <a:pt x="24" y="31"/>
                      <a:pt x="21" y="30"/>
                      <a:pt x="20" y="29"/>
                    </a:cubicBezTo>
                    <a:cubicBezTo>
                      <a:pt x="18" y="28"/>
                      <a:pt x="15" y="22"/>
                      <a:pt x="15" y="22"/>
                    </a:cubicBezTo>
                    <a:cubicBezTo>
                      <a:pt x="15" y="22"/>
                      <a:pt x="16" y="25"/>
                      <a:pt x="16" y="28"/>
                    </a:cubicBezTo>
                    <a:cubicBezTo>
                      <a:pt x="17" y="32"/>
                      <a:pt x="19" y="38"/>
                      <a:pt x="21" y="42"/>
                    </a:cubicBezTo>
                    <a:cubicBezTo>
                      <a:pt x="23" y="46"/>
                      <a:pt x="25" y="51"/>
                      <a:pt x="24" y="52"/>
                    </a:cubicBezTo>
                    <a:cubicBezTo>
                      <a:pt x="23" y="54"/>
                      <a:pt x="21" y="59"/>
                      <a:pt x="20" y="65"/>
                    </a:cubicBezTo>
                    <a:cubicBezTo>
                      <a:pt x="18" y="70"/>
                      <a:pt x="16" y="77"/>
                      <a:pt x="15" y="81"/>
                    </a:cubicBezTo>
                    <a:cubicBezTo>
                      <a:pt x="15" y="85"/>
                      <a:pt x="12" y="95"/>
                      <a:pt x="8" y="103"/>
                    </a:cubicBezTo>
                    <a:cubicBezTo>
                      <a:pt x="5" y="111"/>
                      <a:pt x="5" y="121"/>
                      <a:pt x="8" y="125"/>
                    </a:cubicBezTo>
                    <a:cubicBezTo>
                      <a:pt x="12" y="128"/>
                      <a:pt x="14" y="131"/>
                      <a:pt x="14" y="131"/>
                    </a:cubicBezTo>
                    <a:cubicBezTo>
                      <a:pt x="14" y="131"/>
                      <a:pt x="13" y="131"/>
                      <a:pt x="12" y="132"/>
                    </a:cubicBezTo>
                    <a:cubicBezTo>
                      <a:pt x="11" y="133"/>
                      <a:pt x="9" y="133"/>
                      <a:pt x="8" y="134"/>
                    </a:cubicBezTo>
                    <a:cubicBezTo>
                      <a:pt x="8" y="134"/>
                      <a:pt x="6" y="135"/>
                      <a:pt x="5" y="137"/>
                    </a:cubicBezTo>
                    <a:cubicBezTo>
                      <a:pt x="3" y="138"/>
                      <a:pt x="2" y="140"/>
                      <a:pt x="1" y="140"/>
                    </a:cubicBezTo>
                    <a:cubicBezTo>
                      <a:pt x="0" y="141"/>
                      <a:pt x="0" y="142"/>
                      <a:pt x="0" y="142"/>
                    </a:cubicBezTo>
                    <a:cubicBezTo>
                      <a:pt x="0" y="142"/>
                      <a:pt x="0" y="142"/>
                      <a:pt x="1" y="143"/>
                    </a:cubicBezTo>
                    <a:cubicBezTo>
                      <a:pt x="1" y="144"/>
                      <a:pt x="2" y="146"/>
                      <a:pt x="3" y="148"/>
                    </a:cubicBezTo>
                    <a:cubicBezTo>
                      <a:pt x="3" y="149"/>
                      <a:pt x="4" y="151"/>
                      <a:pt x="5" y="152"/>
                    </a:cubicBezTo>
                    <a:cubicBezTo>
                      <a:pt x="6" y="152"/>
                      <a:pt x="6" y="155"/>
                      <a:pt x="7" y="157"/>
                    </a:cubicBezTo>
                    <a:cubicBezTo>
                      <a:pt x="7" y="160"/>
                      <a:pt x="8" y="163"/>
                      <a:pt x="10" y="164"/>
                    </a:cubicBezTo>
                    <a:cubicBezTo>
                      <a:pt x="11" y="165"/>
                      <a:pt x="12" y="168"/>
                      <a:pt x="12" y="170"/>
                    </a:cubicBezTo>
                    <a:cubicBezTo>
                      <a:pt x="12" y="172"/>
                      <a:pt x="13" y="175"/>
                      <a:pt x="14" y="177"/>
                    </a:cubicBezTo>
                    <a:cubicBezTo>
                      <a:pt x="14" y="178"/>
                      <a:pt x="15" y="181"/>
                      <a:pt x="14" y="183"/>
                    </a:cubicBezTo>
                    <a:cubicBezTo>
                      <a:pt x="14" y="185"/>
                      <a:pt x="13" y="189"/>
                      <a:pt x="12" y="191"/>
                    </a:cubicBezTo>
                    <a:cubicBezTo>
                      <a:pt x="12" y="193"/>
                      <a:pt x="11" y="195"/>
                      <a:pt x="10" y="197"/>
                    </a:cubicBezTo>
                    <a:cubicBezTo>
                      <a:pt x="10" y="198"/>
                      <a:pt x="10" y="202"/>
                      <a:pt x="11" y="204"/>
                    </a:cubicBezTo>
                    <a:cubicBezTo>
                      <a:pt x="12" y="206"/>
                      <a:pt x="12" y="209"/>
                      <a:pt x="11" y="211"/>
                    </a:cubicBezTo>
                    <a:cubicBezTo>
                      <a:pt x="10" y="212"/>
                      <a:pt x="10" y="215"/>
                      <a:pt x="11" y="217"/>
                    </a:cubicBezTo>
                    <a:cubicBezTo>
                      <a:pt x="11" y="219"/>
                      <a:pt x="11" y="222"/>
                      <a:pt x="10" y="224"/>
                    </a:cubicBezTo>
                    <a:cubicBezTo>
                      <a:pt x="10" y="225"/>
                      <a:pt x="9" y="227"/>
                      <a:pt x="9" y="227"/>
                    </a:cubicBezTo>
                    <a:cubicBezTo>
                      <a:pt x="9" y="227"/>
                      <a:pt x="10" y="227"/>
                      <a:pt x="12" y="228"/>
                    </a:cubicBezTo>
                    <a:cubicBezTo>
                      <a:pt x="14" y="228"/>
                      <a:pt x="17" y="228"/>
                      <a:pt x="18" y="228"/>
                    </a:cubicBezTo>
                    <a:cubicBezTo>
                      <a:pt x="19" y="228"/>
                      <a:pt x="23" y="229"/>
                      <a:pt x="28" y="230"/>
                    </a:cubicBezTo>
                    <a:cubicBezTo>
                      <a:pt x="32" y="232"/>
                      <a:pt x="37" y="232"/>
                      <a:pt x="38" y="232"/>
                    </a:cubicBezTo>
                    <a:cubicBezTo>
                      <a:pt x="40" y="231"/>
                      <a:pt x="42" y="231"/>
                      <a:pt x="44" y="232"/>
                    </a:cubicBezTo>
                    <a:cubicBezTo>
                      <a:pt x="46" y="233"/>
                      <a:pt x="48" y="233"/>
                      <a:pt x="49" y="233"/>
                    </a:cubicBezTo>
                    <a:cubicBezTo>
                      <a:pt x="50" y="233"/>
                      <a:pt x="52" y="234"/>
                      <a:pt x="54" y="234"/>
                    </a:cubicBezTo>
                    <a:cubicBezTo>
                      <a:pt x="56" y="235"/>
                      <a:pt x="58" y="235"/>
                      <a:pt x="59" y="234"/>
                    </a:cubicBezTo>
                    <a:cubicBezTo>
                      <a:pt x="60" y="233"/>
                      <a:pt x="62" y="232"/>
                      <a:pt x="64" y="232"/>
                    </a:cubicBezTo>
                    <a:cubicBezTo>
                      <a:pt x="65" y="232"/>
                      <a:pt x="67" y="230"/>
                      <a:pt x="68" y="229"/>
                    </a:cubicBezTo>
                    <a:cubicBezTo>
                      <a:pt x="69" y="227"/>
                      <a:pt x="71" y="226"/>
                      <a:pt x="72" y="225"/>
                    </a:cubicBezTo>
                    <a:cubicBezTo>
                      <a:pt x="73" y="224"/>
                      <a:pt x="75" y="224"/>
                      <a:pt x="76" y="225"/>
                    </a:cubicBezTo>
                    <a:cubicBezTo>
                      <a:pt x="76" y="226"/>
                      <a:pt x="78" y="228"/>
                      <a:pt x="80" y="230"/>
                    </a:cubicBezTo>
                    <a:cubicBezTo>
                      <a:pt x="82" y="232"/>
                      <a:pt x="86" y="234"/>
                      <a:pt x="89" y="234"/>
                    </a:cubicBezTo>
                    <a:cubicBezTo>
                      <a:pt x="91" y="234"/>
                      <a:pt x="96" y="235"/>
                      <a:pt x="98" y="236"/>
                    </a:cubicBezTo>
                    <a:cubicBezTo>
                      <a:pt x="101" y="237"/>
                      <a:pt x="104" y="240"/>
                      <a:pt x="105" y="243"/>
                    </a:cubicBezTo>
                    <a:cubicBezTo>
                      <a:pt x="106" y="245"/>
                      <a:pt x="107" y="248"/>
                      <a:pt x="109" y="249"/>
                    </a:cubicBezTo>
                    <a:cubicBezTo>
                      <a:pt x="110" y="250"/>
                      <a:pt x="111" y="252"/>
                      <a:pt x="110" y="254"/>
                    </a:cubicBezTo>
                    <a:cubicBezTo>
                      <a:pt x="109" y="256"/>
                      <a:pt x="109" y="259"/>
                      <a:pt x="109" y="262"/>
                    </a:cubicBezTo>
                    <a:cubicBezTo>
                      <a:pt x="109" y="264"/>
                      <a:pt x="110" y="267"/>
                      <a:pt x="111" y="269"/>
                    </a:cubicBezTo>
                    <a:cubicBezTo>
                      <a:pt x="113" y="271"/>
                      <a:pt x="113" y="274"/>
                      <a:pt x="113" y="276"/>
                    </a:cubicBezTo>
                    <a:cubicBezTo>
                      <a:pt x="113" y="278"/>
                      <a:pt x="113" y="280"/>
                      <a:pt x="113" y="282"/>
                    </a:cubicBezTo>
                    <a:cubicBezTo>
                      <a:pt x="113" y="283"/>
                      <a:pt x="113" y="286"/>
                      <a:pt x="113" y="288"/>
                    </a:cubicBezTo>
                    <a:cubicBezTo>
                      <a:pt x="113" y="290"/>
                      <a:pt x="114" y="293"/>
                      <a:pt x="115" y="295"/>
                    </a:cubicBezTo>
                    <a:cubicBezTo>
                      <a:pt x="116" y="297"/>
                      <a:pt x="117" y="301"/>
                      <a:pt x="118" y="304"/>
                    </a:cubicBezTo>
                    <a:cubicBezTo>
                      <a:pt x="119" y="307"/>
                      <a:pt x="121" y="310"/>
                      <a:pt x="123" y="311"/>
                    </a:cubicBezTo>
                    <a:cubicBezTo>
                      <a:pt x="125" y="312"/>
                      <a:pt x="129" y="312"/>
                      <a:pt x="132" y="312"/>
                    </a:cubicBezTo>
                    <a:cubicBezTo>
                      <a:pt x="135" y="311"/>
                      <a:pt x="138" y="310"/>
                      <a:pt x="140" y="309"/>
                    </a:cubicBezTo>
                    <a:cubicBezTo>
                      <a:pt x="142" y="308"/>
                      <a:pt x="145" y="306"/>
                      <a:pt x="147" y="305"/>
                    </a:cubicBezTo>
                    <a:cubicBezTo>
                      <a:pt x="149" y="304"/>
                      <a:pt x="152" y="304"/>
                      <a:pt x="154" y="304"/>
                    </a:cubicBezTo>
                    <a:cubicBezTo>
                      <a:pt x="155" y="305"/>
                      <a:pt x="159" y="308"/>
                      <a:pt x="161" y="310"/>
                    </a:cubicBezTo>
                    <a:cubicBezTo>
                      <a:pt x="163" y="312"/>
                      <a:pt x="164" y="314"/>
                      <a:pt x="164" y="314"/>
                    </a:cubicBezTo>
                    <a:cubicBezTo>
                      <a:pt x="164" y="314"/>
                      <a:pt x="166" y="314"/>
                      <a:pt x="168" y="314"/>
                    </a:cubicBezTo>
                    <a:cubicBezTo>
                      <a:pt x="170" y="313"/>
                      <a:pt x="172" y="312"/>
                      <a:pt x="173" y="3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407924" tIns="203962" rIns="407924" bIns="20396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246"/>
              </a:p>
            </p:txBody>
          </p:sp>
          <p:sp>
            <p:nvSpPr>
              <p:cNvPr id="1224" name="Freeform 27">
                <a:extLst>
                  <a:ext uri="{FF2B5EF4-FFF2-40B4-BE49-F238E27FC236}">
                    <a16:creationId xmlns:a16="http://schemas.microsoft.com/office/drawing/2014/main" id="{4AEA24F9-B0B2-76E0-9D3B-B69362DA7C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7983" y="5050161"/>
                <a:ext cx="498457" cy="341910"/>
              </a:xfrm>
              <a:custGeom>
                <a:avLst/>
                <a:gdLst/>
                <a:ahLst/>
                <a:cxnLst>
                  <a:cxn ang="0">
                    <a:pos x="188" y="3"/>
                  </a:cxn>
                  <a:cxn ang="0">
                    <a:pos x="172" y="10"/>
                  </a:cxn>
                  <a:cxn ang="0">
                    <a:pos x="156" y="3"/>
                  </a:cxn>
                  <a:cxn ang="0">
                    <a:pos x="142" y="3"/>
                  </a:cxn>
                  <a:cxn ang="0">
                    <a:pos x="128" y="7"/>
                  </a:cxn>
                  <a:cxn ang="0">
                    <a:pos x="110" y="13"/>
                  </a:cxn>
                  <a:cxn ang="0">
                    <a:pos x="104" y="23"/>
                  </a:cxn>
                  <a:cxn ang="0">
                    <a:pos x="92" y="26"/>
                  </a:cxn>
                  <a:cxn ang="0">
                    <a:pos x="71" y="23"/>
                  </a:cxn>
                  <a:cxn ang="0">
                    <a:pos x="52" y="17"/>
                  </a:cxn>
                  <a:cxn ang="0">
                    <a:pos x="36" y="15"/>
                  </a:cxn>
                  <a:cxn ang="0">
                    <a:pos x="18" y="10"/>
                  </a:cxn>
                  <a:cxn ang="0">
                    <a:pos x="5" y="10"/>
                  </a:cxn>
                  <a:cxn ang="0">
                    <a:pos x="2" y="24"/>
                  </a:cxn>
                  <a:cxn ang="0">
                    <a:pos x="3" y="39"/>
                  </a:cxn>
                  <a:cxn ang="0">
                    <a:pos x="0" y="52"/>
                  </a:cxn>
                  <a:cxn ang="0">
                    <a:pos x="13" y="51"/>
                  </a:cxn>
                  <a:cxn ang="0">
                    <a:pos x="26" y="52"/>
                  </a:cxn>
                  <a:cxn ang="0">
                    <a:pos x="38" y="54"/>
                  </a:cxn>
                  <a:cxn ang="0">
                    <a:pos x="51" y="56"/>
                  </a:cxn>
                  <a:cxn ang="0">
                    <a:pos x="63" y="58"/>
                  </a:cxn>
                  <a:cxn ang="0">
                    <a:pos x="73" y="63"/>
                  </a:cxn>
                  <a:cxn ang="0">
                    <a:pos x="83" y="69"/>
                  </a:cxn>
                  <a:cxn ang="0">
                    <a:pos x="93" y="73"/>
                  </a:cxn>
                  <a:cxn ang="0">
                    <a:pos x="103" y="79"/>
                  </a:cxn>
                  <a:cxn ang="0">
                    <a:pos x="111" y="85"/>
                  </a:cxn>
                  <a:cxn ang="0">
                    <a:pos x="119" y="95"/>
                  </a:cxn>
                  <a:cxn ang="0">
                    <a:pos x="122" y="100"/>
                  </a:cxn>
                  <a:cxn ang="0">
                    <a:pos x="127" y="107"/>
                  </a:cxn>
                  <a:cxn ang="0">
                    <a:pos x="141" y="112"/>
                  </a:cxn>
                  <a:cxn ang="0">
                    <a:pos x="153" y="114"/>
                  </a:cxn>
                  <a:cxn ang="0">
                    <a:pos x="161" y="113"/>
                  </a:cxn>
                  <a:cxn ang="0">
                    <a:pos x="161" y="113"/>
                  </a:cxn>
                  <a:cxn ang="0">
                    <a:pos x="161" y="120"/>
                  </a:cxn>
                  <a:cxn ang="0">
                    <a:pos x="154" y="132"/>
                  </a:cxn>
                  <a:cxn ang="0">
                    <a:pos x="148" y="143"/>
                  </a:cxn>
                  <a:cxn ang="0">
                    <a:pos x="152" y="147"/>
                  </a:cxn>
                  <a:cxn ang="0">
                    <a:pos x="163" y="149"/>
                  </a:cxn>
                  <a:cxn ang="0">
                    <a:pos x="168" y="146"/>
                  </a:cxn>
                  <a:cxn ang="0">
                    <a:pos x="181" y="134"/>
                  </a:cxn>
                  <a:cxn ang="0">
                    <a:pos x="197" y="122"/>
                  </a:cxn>
                  <a:cxn ang="0">
                    <a:pos x="201" y="114"/>
                  </a:cxn>
                  <a:cxn ang="0">
                    <a:pos x="210" y="94"/>
                  </a:cxn>
                  <a:cxn ang="0">
                    <a:pos x="218" y="75"/>
                  </a:cxn>
                  <a:cxn ang="0">
                    <a:pos x="216" y="69"/>
                  </a:cxn>
                  <a:cxn ang="0">
                    <a:pos x="211" y="69"/>
                  </a:cxn>
                  <a:cxn ang="0">
                    <a:pos x="212" y="60"/>
                  </a:cxn>
                  <a:cxn ang="0">
                    <a:pos x="211" y="52"/>
                  </a:cxn>
                  <a:cxn ang="0">
                    <a:pos x="210" y="42"/>
                  </a:cxn>
                  <a:cxn ang="0">
                    <a:pos x="210" y="28"/>
                  </a:cxn>
                  <a:cxn ang="0">
                    <a:pos x="207" y="13"/>
                  </a:cxn>
                  <a:cxn ang="0">
                    <a:pos x="213" y="10"/>
                  </a:cxn>
                  <a:cxn ang="0">
                    <a:pos x="213" y="0"/>
                  </a:cxn>
                  <a:cxn ang="0">
                    <a:pos x="196" y="1"/>
                  </a:cxn>
                </a:cxnLst>
                <a:rect l="0" t="0" r="r" b="b"/>
                <a:pathLst>
                  <a:path w="220" h="151">
                    <a:moveTo>
                      <a:pt x="196" y="1"/>
                    </a:moveTo>
                    <a:cubicBezTo>
                      <a:pt x="192" y="1"/>
                      <a:pt x="189" y="2"/>
                      <a:pt x="188" y="3"/>
                    </a:cubicBezTo>
                    <a:cubicBezTo>
                      <a:pt x="187" y="3"/>
                      <a:pt x="184" y="6"/>
                      <a:pt x="180" y="8"/>
                    </a:cubicBezTo>
                    <a:cubicBezTo>
                      <a:pt x="177" y="10"/>
                      <a:pt x="173" y="11"/>
                      <a:pt x="172" y="10"/>
                    </a:cubicBezTo>
                    <a:cubicBezTo>
                      <a:pt x="171" y="10"/>
                      <a:pt x="168" y="8"/>
                      <a:pt x="166" y="6"/>
                    </a:cubicBezTo>
                    <a:cubicBezTo>
                      <a:pt x="163" y="5"/>
                      <a:pt x="159" y="3"/>
                      <a:pt x="156" y="3"/>
                    </a:cubicBezTo>
                    <a:cubicBezTo>
                      <a:pt x="153" y="3"/>
                      <a:pt x="149" y="3"/>
                      <a:pt x="147" y="4"/>
                    </a:cubicBezTo>
                    <a:cubicBezTo>
                      <a:pt x="145" y="4"/>
                      <a:pt x="143" y="3"/>
                      <a:pt x="142" y="3"/>
                    </a:cubicBezTo>
                    <a:cubicBezTo>
                      <a:pt x="141" y="2"/>
                      <a:pt x="139" y="2"/>
                      <a:pt x="136" y="2"/>
                    </a:cubicBezTo>
                    <a:cubicBezTo>
                      <a:pt x="134" y="2"/>
                      <a:pt x="131" y="4"/>
                      <a:pt x="128" y="7"/>
                    </a:cubicBezTo>
                    <a:cubicBezTo>
                      <a:pt x="126" y="9"/>
                      <a:pt x="118" y="12"/>
                      <a:pt x="112" y="13"/>
                    </a:cubicBezTo>
                    <a:cubicBezTo>
                      <a:pt x="112" y="13"/>
                      <a:pt x="112" y="13"/>
                      <a:pt x="110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5" y="16"/>
                      <a:pt x="104" y="21"/>
                      <a:pt x="104" y="23"/>
                    </a:cubicBezTo>
                    <a:cubicBezTo>
                      <a:pt x="104" y="26"/>
                      <a:pt x="102" y="28"/>
                      <a:pt x="100" y="28"/>
                    </a:cubicBezTo>
                    <a:cubicBezTo>
                      <a:pt x="98" y="28"/>
                      <a:pt x="94" y="28"/>
                      <a:pt x="92" y="26"/>
                    </a:cubicBezTo>
                    <a:cubicBezTo>
                      <a:pt x="89" y="25"/>
                      <a:pt x="84" y="25"/>
                      <a:pt x="81" y="25"/>
                    </a:cubicBezTo>
                    <a:cubicBezTo>
                      <a:pt x="78" y="25"/>
                      <a:pt x="73" y="24"/>
                      <a:pt x="71" y="23"/>
                    </a:cubicBezTo>
                    <a:cubicBezTo>
                      <a:pt x="68" y="21"/>
                      <a:pt x="63" y="19"/>
                      <a:pt x="60" y="19"/>
                    </a:cubicBezTo>
                    <a:cubicBezTo>
                      <a:pt x="57" y="18"/>
                      <a:pt x="53" y="17"/>
                      <a:pt x="52" y="17"/>
                    </a:cubicBezTo>
                    <a:cubicBezTo>
                      <a:pt x="50" y="16"/>
                      <a:pt x="47" y="16"/>
                      <a:pt x="45" y="15"/>
                    </a:cubicBezTo>
                    <a:cubicBezTo>
                      <a:pt x="43" y="15"/>
                      <a:pt x="39" y="15"/>
                      <a:pt x="36" y="15"/>
                    </a:cubicBezTo>
                    <a:cubicBezTo>
                      <a:pt x="33" y="16"/>
                      <a:pt x="29" y="15"/>
                      <a:pt x="26" y="13"/>
                    </a:cubicBezTo>
                    <a:cubicBezTo>
                      <a:pt x="23" y="11"/>
                      <a:pt x="20" y="10"/>
                      <a:pt x="18" y="10"/>
                    </a:cubicBezTo>
                    <a:cubicBezTo>
                      <a:pt x="16" y="11"/>
                      <a:pt x="13" y="11"/>
                      <a:pt x="10" y="10"/>
                    </a:cubicBezTo>
                    <a:cubicBezTo>
                      <a:pt x="7" y="10"/>
                      <a:pt x="5" y="10"/>
                      <a:pt x="5" y="10"/>
                    </a:cubicBezTo>
                    <a:cubicBezTo>
                      <a:pt x="5" y="10"/>
                      <a:pt x="5" y="11"/>
                      <a:pt x="4" y="14"/>
                    </a:cubicBezTo>
                    <a:cubicBezTo>
                      <a:pt x="3" y="16"/>
                      <a:pt x="2" y="20"/>
                      <a:pt x="2" y="24"/>
                    </a:cubicBezTo>
                    <a:cubicBezTo>
                      <a:pt x="2" y="27"/>
                      <a:pt x="2" y="31"/>
                      <a:pt x="2" y="33"/>
                    </a:cubicBezTo>
                    <a:cubicBezTo>
                      <a:pt x="2" y="34"/>
                      <a:pt x="3" y="37"/>
                      <a:pt x="3" y="39"/>
                    </a:cubicBezTo>
                    <a:cubicBezTo>
                      <a:pt x="3" y="41"/>
                      <a:pt x="3" y="44"/>
                      <a:pt x="2" y="47"/>
                    </a:cubicBezTo>
                    <a:cubicBezTo>
                      <a:pt x="1" y="50"/>
                      <a:pt x="0" y="52"/>
                      <a:pt x="0" y="52"/>
                    </a:cubicBezTo>
                    <a:cubicBezTo>
                      <a:pt x="0" y="52"/>
                      <a:pt x="2" y="52"/>
                      <a:pt x="4" y="53"/>
                    </a:cubicBezTo>
                    <a:cubicBezTo>
                      <a:pt x="6" y="53"/>
                      <a:pt x="10" y="52"/>
                      <a:pt x="13" y="51"/>
                    </a:cubicBezTo>
                    <a:cubicBezTo>
                      <a:pt x="17" y="49"/>
                      <a:pt x="20" y="49"/>
                      <a:pt x="21" y="50"/>
                    </a:cubicBezTo>
                    <a:cubicBezTo>
                      <a:pt x="21" y="51"/>
                      <a:pt x="24" y="52"/>
                      <a:pt x="26" y="52"/>
                    </a:cubicBezTo>
                    <a:cubicBezTo>
                      <a:pt x="28" y="51"/>
                      <a:pt x="31" y="52"/>
                      <a:pt x="32" y="53"/>
                    </a:cubicBezTo>
                    <a:cubicBezTo>
                      <a:pt x="34" y="54"/>
                      <a:pt x="36" y="54"/>
                      <a:pt x="38" y="54"/>
                    </a:cubicBezTo>
                    <a:cubicBezTo>
                      <a:pt x="39" y="54"/>
                      <a:pt x="42" y="55"/>
                      <a:pt x="44" y="55"/>
                    </a:cubicBezTo>
                    <a:cubicBezTo>
                      <a:pt x="45" y="56"/>
                      <a:pt x="48" y="56"/>
                      <a:pt x="51" y="56"/>
                    </a:cubicBezTo>
                    <a:cubicBezTo>
                      <a:pt x="53" y="56"/>
                      <a:pt x="56" y="56"/>
                      <a:pt x="58" y="57"/>
                    </a:cubicBezTo>
                    <a:cubicBezTo>
                      <a:pt x="59" y="58"/>
                      <a:pt x="62" y="58"/>
                      <a:pt x="63" y="58"/>
                    </a:cubicBezTo>
                    <a:cubicBezTo>
                      <a:pt x="64" y="57"/>
                      <a:pt x="66" y="57"/>
                      <a:pt x="68" y="58"/>
                    </a:cubicBezTo>
                    <a:cubicBezTo>
                      <a:pt x="69" y="59"/>
                      <a:pt x="71" y="61"/>
                      <a:pt x="73" y="63"/>
                    </a:cubicBezTo>
                    <a:cubicBezTo>
                      <a:pt x="75" y="64"/>
                      <a:pt x="77" y="67"/>
                      <a:pt x="77" y="68"/>
                    </a:cubicBezTo>
                    <a:cubicBezTo>
                      <a:pt x="78" y="70"/>
                      <a:pt x="80" y="70"/>
                      <a:pt x="83" y="69"/>
                    </a:cubicBezTo>
                    <a:cubicBezTo>
                      <a:pt x="85" y="68"/>
                      <a:pt x="87" y="68"/>
                      <a:pt x="88" y="69"/>
                    </a:cubicBezTo>
                    <a:cubicBezTo>
                      <a:pt x="89" y="70"/>
                      <a:pt x="91" y="72"/>
                      <a:pt x="93" y="73"/>
                    </a:cubicBezTo>
                    <a:cubicBezTo>
                      <a:pt x="96" y="74"/>
                      <a:pt x="98" y="75"/>
                      <a:pt x="100" y="76"/>
                    </a:cubicBezTo>
                    <a:cubicBezTo>
                      <a:pt x="101" y="76"/>
                      <a:pt x="103" y="77"/>
                      <a:pt x="103" y="79"/>
                    </a:cubicBezTo>
                    <a:cubicBezTo>
                      <a:pt x="104" y="80"/>
                      <a:pt x="106" y="82"/>
                      <a:pt x="108" y="82"/>
                    </a:cubicBezTo>
                    <a:cubicBezTo>
                      <a:pt x="110" y="82"/>
                      <a:pt x="111" y="84"/>
                      <a:pt x="111" y="85"/>
                    </a:cubicBezTo>
                    <a:cubicBezTo>
                      <a:pt x="111" y="87"/>
                      <a:pt x="113" y="89"/>
                      <a:pt x="115" y="90"/>
                    </a:cubicBezTo>
                    <a:cubicBezTo>
                      <a:pt x="117" y="91"/>
                      <a:pt x="119" y="93"/>
                      <a:pt x="119" y="95"/>
                    </a:cubicBezTo>
                    <a:cubicBezTo>
                      <a:pt x="119" y="96"/>
                      <a:pt x="119" y="98"/>
                      <a:pt x="120" y="98"/>
                    </a:cubicBezTo>
                    <a:cubicBezTo>
                      <a:pt x="121" y="98"/>
                      <a:pt x="122" y="99"/>
                      <a:pt x="122" y="100"/>
                    </a:cubicBezTo>
                    <a:cubicBezTo>
                      <a:pt x="122" y="101"/>
                      <a:pt x="123" y="103"/>
                      <a:pt x="125" y="103"/>
                    </a:cubicBezTo>
                    <a:cubicBezTo>
                      <a:pt x="126" y="103"/>
                      <a:pt x="127" y="105"/>
                      <a:pt x="127" y="107"/>
                    </a:cubicBezTo>
                    <a:cubicBezTo>
                      <a:pt x="127" y="108"/>
                      <a:pt x="129" y="110"/>
                      <a:pt x="132" y="110"/>
                    </a:cubicBezTo>
                    <a:cubicBezTo>
                      <a:pt x="135" y="111"/>
                      <a:pt x="138" y="111"/>
                      <a:pt x="141" y="112"/>
                    </a:cubicBezTo>
                    <a:cubicBezTo>
                      <a:pt x="143" y="112"/>
                      <a:pt x="146" y="113"/>
                      <a:pt x="147" y="114"/>
                    </a:cubicBezTo>
                    <a:cubicBezTo>
                      <a:pt x="148" y="115"/>
                      <a:pt x="150" y="115"/>
                      <a:pt x="153" y="114"/>
                    </a:cubicBezTo>
                    <a:cubicBezTo>
                      <a:pt x="155" y="113"/>
                      <a:pt x="157" y="112"/>
                      <a:pt x="158" y="113"/>
                    </a:cubicBezTo>
                    <a:cubicBezTo>
                      <a:pt x="159" y="113"/>
                      <a:pt x="160" y="113"/>
                      <a:pt x="161" y="113"/>
                    </a:cubicBezTo>
                    <a:cubicBezTo>
                      <a:pt x="161" y="112"/>
                      <a:pt x="162" y="112"/>
                      <a:pt x="162" y="112"/>
                    </a:cubicBezTo>
                    <a:cubicBezTo>
                      <a:pt x="162" y="112"/>
                      <a:pt x="161" y="112"/>
                      <a:pt x="161" y="113"/>
                    </a:cubicBezTo>
                    <a:cubicBezTo>
                      <a:pt x="161" y="113"/>
                      <a:pt x="161" y="114"/>
                      <a:pt x="162" y="115"/>
                    </a:cubicBezTo>
                    <a:cubicBezTo>
                      <a:pt x="163" y="116"/>
                      <a:pt x="163" y="119"/>
                      <a:pt x="161" y="120"/>
                    </a:cubicBezTo>
                    <a:cubicBezTo>
                      <a:pt x="159" y="122"/>
                      <a:pt x="157" y="124"/>
                      <a:pt x="156" y="126"/>
                    </a:cubicBezTo>
                    <a:cubicBezTo>
                      <a:pt x="155" y="127"/>
                      <a:pt x="154" y="130"/>
                      <a:pt x="154" y="132"/>
                    </a:cubicBezTo>
                    <a:cubicBezTo>
                      <a:pt x="154" y="135"/>
                      <a:pt x="153" y="137"/>
                      <a:pt x="152" y="139"/>
                    </a:cubicBezTo>
                    <a:cubicBezTo>
                      <a:pt x="150" y="140"/>
                      <a:pt x="149" y="142"/>
                      <a:pt x="148" y="143"/>
                    </a:cubicBezTo>
                    <a:cubicBezTo>
                      <a:pt x="146" y="144"/>
                      <a:pt x="147" y="146"/>
                      <a:pt x="148" y="147"/>
                    </a:cubicBezTo>
                    <a:cubicBezTo>
                      <a:pt x="149" y="149"/>
                      <a:pt x="151" y="149"/>
                      <a:pt x="152" y="147"/>
                    </a:cubicBezTo>
                    <a:cubicBezTo>
                      <a:pt x="153" y="145"/>
                      <a:pt x="155" y="145"/>
                      <a:pt x="157" y="145"/>
                    </a:cubicBezTo>
                    <a:cubicBezTo>
                      <a:pt x="159" y="146"/>
                      <a:pt x="161" y="148"/>
                      <a:pt x="163" y="149"/>
                    </a:cubicBezTo>
                    <a:cubicBezTo>
                      <a:pt x="164" y="150"/>
                      <a:pt x="165" y="151"/>
                      <a:pt x="165" y="151"/>
                    </a:cubicBezTo>
                    <a:cubicBezTo>
                      <a:pt x="165" y="151"/>
                      <a:pt x="167" y="149"/>
                      <a:pt x="168" y="146"/>
                    </a:cubicBezTo>
                    <a:cubicBezTo>
                      <a:pt x="170" y="144"/>
                      <a:pt x="173" y="141"/>
                      <a:pt x="174" y="139"/>
                    </a:cubicBezTo>
                    <a:cubicBezTo>
                      <a:pt x="175" y="138"/>
                      <a:pt x="178" y="136"/>
                      <a:pt x="181" y="134"/>
                    </a:cubicBezTo>
                    <a:cubicBezTo>
                      <a:pt x="183" y="132"/>
                      <a:pt x="187" y="129"/>
                      <a:pt x="189" y="127"/>
                    </a:cubicBezTo>
                    <a:cubicBezTo>
                      <a:pt x="191" y="125"/>
                      <a:pt x="195" y="122"/>
                      <a:pt x="197" y="122"/>
                    </a:cubicBezTo>
                    <a:cubicBezTo>
                      <a:pt x="199" y="121"/>
                      <a:pt x="200" y="120"/>
                      <a:pt x="200" y="119"/>
                    </a:cubicBezTo>
                    <a:cubicBezTo>
                      <a:pt x="200" y="118"/>
                      <a:pt x="200" y="116"/>
                      <a:pt x="201" y="114"/>
                    </a:cubicBezTo>
                    <a:cubicBezTo>
                      <a:pt x="202" y="113"/>
                      <a:pt x="205" y="109"/>
                      <a:pt x="206" y="105"/>
                    </a:cubicBezTo>
                    <a:cubicBezTo>
                      <a:pt x="207" y="102"/>
                      <a:pt x="209" y="97"/>
                      <a:pt x="210" y="94"/>
                    </a:cubicBezTo>
                    <a:cubicBezTo>
                      <a:pt x="211" y="91"/>
                      <a:pt x="212" y="87"/>
                      <a:pt x="214" y="84"/>
                    </a:cubicBezTo>
                    <a:cubicBezTo>
                      <a:pt x="215" y="81"/>
                      <a:pt x="217" y="77"/>
                      <a:pt x="218" y="75"/>
                    </a:cubicBezTo>
                    <a:cubicBezTo>
                      <a:pt x="219" y="73"/>
                      <a:pt x="220" y="70"/>
                      <a:pt x="219" y="69"/>
                    </a:cubicBezTo>
                    <a:cubicBezTo>
                      <a:pt x="218" y="68"/>
                      <a:pt x="217" y="68"/>
                      <a:pt x="216" y="69"/>
                    </a:cubicBezTo>
                    <a:cubicBezTo>
                      <a:pt x="214" y="70"/>
                      <a:pt x="213" y="71"/>
                      <a:pt x="212" y="71"/>
                    </a:cubicBezTo>
                    <a:cubicBezTo>
                      <a:pt x="211" y="71"/>
                      <a:pt x="211" y="71"/>
                      <a:pt x="211" y="69"/>
                    </a:cubicBezTo>
                    <a:cubicBezTo>
                      <a:pt x="212" y="68"/>
                      <a:pt x="212" y="66"/>
                      <a:pt x="211" y="65"/>
                    </a:cubicBezTo>
                    <a:cubicBezTo>
                      <a:pt x="211" y="63"/>
                      <a:pt x="211" y="61"/>
                      <a:pt x="212" y="60"/>
                    </a:cubicBezTo>
                    <a:cubicBezTo>
                      <a:pt x="213" y="59"/>
                      <a:pt x="213" y="57"/>
                      <a:pt x="213" y="56"/>
                    </a:cubicBezTo>
                    <a:cubicBezTo>
                      <a:pt x="212" y="55"/>
                      <a:pt x="211" y="53"/>
                      <a:pt x="211" y="52"/>
                    </a:cubicBezTo>
                    <a:cubicBezTo>
                      <a:pt x="211" y="51"/>
                      <a:pt x="211" y="49"/>
                      <a:pt x="211" y="48"/>
                    </a:cubicBezTo>
                    <a:cubicBezTo>
                      <a:pt x="210" y="47"/>
                      <a:pt x="210" y="44"/>
                      <a:pt x="210" y="42"/>
                    </a:cubicBezTo>
                    <a:cubicBezTo>
                      <a:pt x="210" y="40"/>
                      <a:pt x="210" y="37"/>
                      <a:pt x="209" y="36"/>
                    </a:cubicBezTo>
                    <a:cubicBezTo>
                      <a:pt x="208" y="34"/>
                      <a:pt x="209" y="30"/>
                      <a:pt x="210" y="28"/>
                    </a:cubicBezTo>
                    <a:cubicBezTo>
                      <a:pt x="211" y="25"/>
                      <a:pt x="211" y="21"/>
                      <a:pt x="209" y="20"/>
                    </a:cubicBezTo>
                    <a:cubicBezTo>
                      <a:pt x="208" y="18"/>
                      <a:pt x="207" y="15"/>
                      <a:pt x="207" y="13"/>
                    </a:cubicBezTo>
                    <a:cubicBezTo>
                      <a:pt x="207" y="12"/>
                      <a:pt x="208" y="11"/>
                      <a:pt x="210" y="13"/>
                    </a:cubicBezTo>
                    <a:cubicBezTo>
                      <a:pt x="211" y="14"/>
                      <a:pt x="213" y="13"/>
                      <a:pt x="213" y="10"/>
                    </a:cubicBezTo>
                    <a:cubicBezTo>
                      <a:pt x="213" y="8"/>
                      <a:pt x="213" y="4"/>
                      <a:pt x="213" y="3"/>
                    </a:cubicBezTo>
                    <a:cubicBezTo>
                      <a:pt x="213" y="1"/>
                      <a:pt x="213" y="0"/>
                      <a:pt x="213" y="0"/>
                    </a:cubicBezTo>
                    <a:cubicBezTo>
                      <a:pt x="213" y="0"/>
                      <a:pt x="210" y="0"/>
                      <a:pt x="207" y="0"/>
                    </a:cubicBezTo>
                    <a:cubicBezTo>
                      <a:pt x="205" y="1"/>
                      <a:pt x="199" y="1"/>
                      <a:pt x="19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407924" tIns="203962" rIns="407924" bIns="20396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246"/>
              </a:p>
            </p:txBody>
          </p:sp>
          <p:sp>
            <p:nvSpPr>
              <p:cNvPr id="1225" name="Freeform 28">
                <a:extLst>
                  <a:ext uri="{FF2B5EF4-FFF2-40B4-BE49-F238E27FC236}">
                    <a16:creationId xmlns:a16="http://schemas.microsoft.com/office/drawing/2014/main" id="{B6D2194E-1252-BC89-4DC6-CC9E05E619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97369" y="4323387"/>
                <a:ext cx="231461" cy="349594"/>
              </a:xfrm>
              <a:custGeom>
                <a:avLst/>
                <a:gdLst/>
                <a:ahLst/>
                <a:cxnLst>
                  <a:cxn ang="0">
                    <a:pos x="75" y="1"/>
                  </a:cxn>
                  <a:cxn ang="0">
                    <a:pos x="67" y="0"/>
                  </a:cxn>
                  <a:cxn ang="0">
                    <a:pos x="58" y="1"/>
                  </a:cxn>
                  <a:cxn ang="0">
                    <a:pos x="52" y="5"/>
                  </a:cxn>
                  <a:cxn ang="0">
                    <a:pos x="46" y="12"/>
                  </a:cxn>
                  <a:cxn ang="0">
                    <a:pos x="42" y="20"/>
                  </a:cxn>
                  <a:cxn ang="0">
                    <a:pos x="44" y="28"/>
                  </a:cxn>
                  <a:cxn ang="0">
                    <a:pos x="45" y="33"/>
                  </a:cxn>
                  <a:cxn ang="0">
                    <a:pos x="47" y="37"/>
                  </a:cxn>
                  <a:cxn ang="0">
                    <a:pos x="42" y="40"/>
                  </a:cxn>
                  <a:cxn ang="0">
                    <a:pos x="38" y="43"/>
                  </a:cxn>
                  <a:cxn ang="0">
                    <a:pos x="43" y="49"/>
                  </a:cxn>
                  <a:cxn ang="0">
                    <a:pos x="46" y="59"/>
                  </a:cxn>
                  <a:cxn ang="0">
                    <a:pos x="44" y="68"/>
                  </a:cxn>
                  <a:cxn ang="0">
                    <a:pos x="39" y="75"/>
                  </a:cxn>
                  <a:cxn ang="0">
                    <a:pos x="34" y="83"/>
                  </a:cxn>
                  <a:cxn ang="0">
                    <a:pos x="30" y="91"/>
                  </a:cxn>
                  <a:cxn ang="0">
                    <a:pos x="24" y="102"/>
                  </a:cxn>
                  <a:cxn ang="0">
                    <a:pos x="21" y="103"/>
                  </a:cxn>
                  <a:cxn ang="0">
                    <a:pos x="18" y="105"/>
                  </a:cxn>
                  <a:cxn ang="0">
                    <a:pos x="7" y="106"/>
                  </a:cxn>
                  <a:cxn ang="0">
                    <a:pos x="5" y="113"/>
                  </a:cxn>
                  <a:cxn ang="0">
                    <a:pos x="3" y="121"/>
                  </a:cxn>
                  <a:cxn ang="0">
                    <a:pos x="1" y="129"/>
                  </a:cxn>
                  <a:cxn ang="0">
                    <a:pos x="0" y="132"/>
                  </a:cxn>
                  <a:cxn ang="0">
                    <a:pos x="3" y="133"/>
                  </a:cxn>
                  <a:cxn ang="0">
                    <a:pos x="6" y="137"/>
                  </a:cxn>
                  <a:cxn ang="0">
                    <a:pos x="8" y="143"/>
                  </a:cxn>
                  <a:cxn ang="0">
                    <a:pos x="16" y="147"/>
                  </a:cxn>
                  <a:cxn ang="0">
                    <a:pos x="26" y="150"/>
                  </a:cxn>
                  <a:cxn ang="0">
                    <a:pos x="35" y="152"/>
                  </a:cxn>
                  <a:cxn ang="0">
                    <a:pos x="38" y="154"/>
                  </a:cxn>
                  <a:cxn ang="0">
                    <a:pos x="41" y="150"/>
                  </a:cxn>
                  <a:cxn ang="0">
                    <a:pos x="44" y="142"/>
                  </a:cxn>
                  <a:cxn ang="0">
                    <a:pos x="48" y="137"/>
                  </a:cxn>
                  <a:cxn ang="0">
                    <a:pos x="54" y="134"/>
                  </a:cxn>
                  <a:cxn ang="0">
                    <a:pos x="61" y="128"/>
                  </a:cxn>
                  <a:cxn ang="0">
                    <a:pos x="68" y="120"/>
                  </a:cxn>
                  <a:cxn ang="0">
                    <a:pos x="73" y="109"/>
                  </a:cxn>
                  <a:cxn ang="0">
                    <a:pos x="78" y="96"/>
                  </a:cxn>
                  <a:cxn ang="0">
                    <a:pos x="86" y="87"/>
                  </a:cxn>
                  <a:cxn ang="0">
                    <a:pos x="93" y="79"/>
                  </a:cxn>
                  <a:cxn ang="0">
                    <a:pos x="97" y="67"/>
                  </a:cxn>
                  <a:cxn ang="0">
                    <a:pos x="97" y="55"/>
                  </a:cxn>
                  <a:cxn ang="0">
                    <a:pos x="98" y="41"/>
                  </a:cxn>
                  <a:cxn ang="0">
                    <a:pos x="100" y="27"/>
                  </a:cxn>
                  <a:cxn ang="0">
                    <a:pos x="102" y="20"/>
                  </a:cxn>
                  <a:cxn ang="0">
                    <a:pos x="80" y="3"/>
                  </a:cxn>
                  <a:cxn ang="0">
                    <a:pos x="75" y="1"/>
                  </a:cxn>
                </a:cxnLst>
                <a:rect l="0" t="0" r="r" b="b"/>
                <a:pathLst>
                  <a:path w="102" h="154">
                    <a:moveTo>
                      <a:pt x="75" y="1"/>
                    </a:moveTo>
                    <a:cubicBezTo>
                      <a:pt x="73" y="0"/>
                      <a:pt x="69" y="0"/>
                      <a:pt x="67" y="0"/>
                    </a:cubicBezTo>
                    <a:cubicBezTo>
                      <a:pt x="65" y="0"/>
                      <a:pt x="61" y="1"/>
                      <a:pt x="58" y="1"/>
                    </a:cubicBezTo>
                    <a:cubicBezTo>
                      <a:pt x="55" y="2"/>
                      <a:pt x="52" y="4"/>
                      <a:pt x="52" y="5"/>
                    </a:cubicBezTo>
                    <a:cubicBezTo>
                      <a:pt x="53" y="7"/>
                      <a:pt x="50" y="10"/>
                      <a:pt x="46" y="12"/>
                    </a:cubicBezTo>
                    <a:cubicBezTo>
                      <a:pt x="43" y="15"/>
                      <a:pt x="41" y="18"/>
                      <a:pt x="42" y="20"/>
                    </a:cubicBezTo>
                    <a:cubicBezTo>
                      <a:pt x="44" y="22"/>
                      <a:pt x="45" y="26"/>
                      <a:pt x="44" y="28"/>
                    </a:cubicBezTo>
                    <a:cubicBezTo>
                      <a:pt x="43" y="30"/>
                      <a:pt x="44" y="32"/>
                      <a:pt x="45" y="33"/>
                    </a:cubicBezTo>
                    <a:cubicBezTo>
                      <a:pt x="46" y="34"/>
                      <a:pt x="47" y="36"/>
                      <a:pt x="47" y="37"/>
                    </a:cubicBezTo>
                    <a:cubicBezTo>
                      <a:pt x="47" y="39"/>
                      <a:pt x="45" y="40"/>
                      <a:pt x="42" y="40"/>
                    </a:cubicBezTo>
                    <a:cubicBezTo>
                      <a:pt x="38" y="40"/>
                      <a:pt x="37" y="42"/>
                      <a:pt x="38" y="43"/>
                    </a:cubicBezTo>
                    <a:cubicBezTo>
                      <a:pt x="39" y="44"/>
                      <a:pt x="42" y="47"/>
                      <a:pt x="43" y="49"/>
                    </a:cubicBezTo>
                    <a:cubicBezTo>
                      <a:pt x="45" y="52"/>
                      <a:pt x="46" y="56"/>
                      <a:pt x="46" y="59"/>
                    </a:cubicBezTo>
                    <a:cubicBezTo>
                      <a:pt x="46" y="61"/>
                      <a:pt x="45" y="66"/>
                      <a:pt x="44" y="68"/>
                    </a:cubicBezTo>
                    <a:cubicBezTo>
                      <a:pt x="43" y="70"/>
                      <a:pt x="41" y="73"/>
                      <a:pt x="39" y="75"/>
                    </a:cubicBezTo>
                    <a:cubicBezTo>
                      <a:pt x="37" y="77"/>
                      <a:pt x="35" y="80"/>
                      <a:pt x="34" y="83"/>
                    </a:cubicBezTo>
                    <a:cubicBezTo>
                      <a:pt x="34" y="86"/>
                      <a:pt x="32" y="89"/>
                      <a:pt x="30" y="91"/>
                    </a:cubicBezTo>
                    <a:cubicBezTo>
                      <a:pt x="29" y="93"/>
                      <a:pt x="26" y="98"/>
                      <a:pt x="24" y="102"/>
                    </a:cubicBezTo>
                    <a:cubicBezTo>
                      <a:pt x="24" y="102"/>
                      <a:pt x="24" y="102"/>
                      <a:pt x="21" y="103"/>
                    </a:cubicBezTo>
                    <a:cubicBezTo>
                      <a:pt x="18" y="105"/>
                      <a:pt x="18" y="105"/>
                      <a:pt x="18" y="105"/>
                    </a:cubicBezTo>
                    <a:cubicBezTo>
                      <a:pt x="13" y="105"/>
                      <a:pt x="8" y="105"/>
                      <a:pt x="7" y="106"/>
                    </a:cubicBezTo>
                    <a:cubicBezTo>
                      <a:pt x="6" y="107"/>
                      <a:pt x="5" y="110"/>
                      <a:pt x="5" y="113"/>
                    </a:cubicBezTo>
                    <a:cubicBezTo>
                      <a:pt x="5" y="115"/>
                      <a:pt x="4" y="119"/>
                      <a:pt x="3" y="121"/>
                    </a:cubicBezTo>
                    <a:cubicBezTo>
                      <a:pt x="3" y="124"/>
                      <a:pt x="2" y="127"/>
                      <a:pt x="1" y="129"/>
                    </a:cubicBezTo>
                    <a:cubicBezTo>
                      <a:pt x="0" y="130"/>
                      <a:pt x="0" y="132"/>
                      <a:pt x="0" y="132"/>
                    </a:cubicBezTo>
                    <a:cubicBezTo>
                      <a:pt x="0" y="132"/>
                      <a:pt x="1" y="132"/>
                      <a:pt x="3" y="133"/>
                    </a:cubicBezTo>
                    <a:cubicBezTo>
                      <a:pt x="4" y="133"/>
                      <a:pt x="5" y="136"/>
                      <a:pt x="6" y="137"/>
                    </a:cubicBezTo>
                    <a:cubicBezTo>
                      <a:pt x="6" y="139"/>
                      <a:pt x="7" y="142"/>
                      <a:pt x="8" y="143"/>
                    </a:cubicBezTo>
                    <a:cubicBezTo>
                      <a:pt x="10" y="144"/>
                      <a:pt x="13" y="146"/>
                      <a:pt x="16" y="147"/>
                    </a:cubicBezTo>
                    <a:cubicBezTo>
                      <a:pt x="18" y="148"/>
                      <a:pt x="23" y="150"/>
                      <a:pt x="26" y="150"/>
                    </a:cubicBezTo>
                    <a:cubicBezTo>
                      <a:pt x="30" y="150"/>
                      <a:pt x="33" y="151"/>
                      <a:pt x="35" y="152"/>
                    </a:cubicBezTo>
                    <a:cubicBezTo>
                      <a:pt x="37" y="153"/>
                      <a:pt x="38" y="154"/>
                      <a:pt x="38" y="154"/>
                    </a:cubicBezTo>
                    <a:cubicBezTo>
                      <a:pt x="38" y="154"/>
                      <a:pt x="39" y="152"/>
                      <a:pt x="41" y="150"/>
                    </a:cubicBezTo>
                    <a:cubicBezTo>
                      <a:pt x="42" y="148"/>
                      <a:pt x="43" y="144"/>
                      <a:pt x="44" y="142"/>
                    </a:cubicBezTo>
                    <a:cubicBezTo>
                      <a:pt x="44" y="140"/>
                      <a:pt x="46" y="138"/>
                      <a:pt x="48" y="137"/>
                    </a:cubicBezTo>
                    <a:cubicBezTo>
                      <a:pt x="49" y="137"/>
                      <a:pt x="52" y="135"/>
                      <a:pt x="54" y="134"/>
                    </a:cubicBezTo>
                    <a:cubicBezTo>
                      <a:pt x="56" y="133"/>
                      <a:pt x="59" y="130"/>
                      <a:pt x="61" y="128"/>
                    </a:cubicBezTo>
                    <a:cubicBezTo>
                      <a:pt x="63" y="126"/>
                      <a:pt x="66" y="123"/>
                      <a:pt x="68" y="120"/>
                    </a:cubicBezTo>
                    <a:cubicBezTo>
                      <a:pt x="69" y="117"/>
                      <a:pt x="72" y="112"/>
                      <a:pt x="73" y="109"/>
                    </a:cubicBezTo>
                    <a:cubicBezTo>
                      <a:pt x="74" y="107"/>
                      <a:pt x="76" y="101"/>
                      <a:pt x="78" y="96"/>
                    </a:cubicBezTo>
                    <a:cubicBezTo>
                      <a:pt x="80" y="92"/>
                      <a:pt x="83" y="88"/>
                      <a:pt x="86" y="87"/>
                    </a:cubicBezTo>
                    <a:cubicBezTo>
                      <a:pt x="88" y="86"/>
                      <a:pt x="91" y="82"/>
                      <a:pt x="93" y="79"/>
                    </a:cubicBezTo>
                    <a:cubicBezTo>
                      <a:pt x="95" y="75"/>
                      <a:pt x="96" y="70"/>
                      <a:pt x="97" y="67"/>
                    </a:cubicBezTo>
                    <a:cubicBezTo>
                      <a:pt x="97" y="64"/>
                      <a:pt x="97" y="58"/>
                      <a:pt x="97" y="55"/>
                    </a:cubicBezTo>
                    <a:cubicBezTo>
                      <a:pt x="97" y="52"/>
                      <a:pt x="97" y="46"/>
                      <a:pt x="98" y="41"/>
                    </a:cubicBezTo>
                    <a:cubicBezTo>
                      <a:pt x="98" y="37"/>
                      <a:pt x="99" y="30"/>
                      <a:pt x="100" y="27"/>
                    </a:cubicBezTo>
                    <a:cubicBezTo>
                      <a:pt x="101" y="23"/>
                      <a:pt x="102" y="20"/>
                      <a:pt x="102" y="20"/>
                    </a:cubicBezTo>
                    <a:cubicBezTo>
                      <a:pt x="80" y="3"/>
                      <a:pt x="80" y="3"/>
                      <a:pt x="80" y="3"/>
                    </a:cubicBezTo>
                    <a:cubicBezTo>
                      <a:pt x="80" y="3"/>
                      <a:pt x="78" y="2"/>
                      <a:pt x="7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407924" tIns="203962" rIns="407924" bIns="20396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246"/>
              </a:p>
            </p:txBody>
          </p:sp>
          <p:sp>
            <p:nvSpPr>
              <p:cNvPr id="1226" name="Freeform 29">
                <a:extLst>
                  <a:ext uri="{FF2B5EF4-FFF2-40B4-BE49-F238E27FC236}">
                    <a16:creationId xmlns:a16="http://schemas.microsoft.com/office/drawing/2014/main" id="{2046A6DF-ED24-FD8F-06E7-3433334242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4684" y="4724535"/>
                <a:ext cx="612747" cy="417783"/>
              </a:xfrm>
              <a:custGeom>
                <a:avLst/>
                <a:gdLst/>
                <a:ahLst/>
                <a:cxnLst>
                  <a:cxn ang="0">
                    <a:pos x="258" y="114"/>
                  </a:cxn>
                  <a:cxn ang="0">
                    <a:pos x="251" y="106"/>
                  </a:cxn>
                  <a:cxn ang="0">
                    <a:pos x="242" y="98"/>
                  </a:cxn>
                  <a:cxn ang="0">
                    <a:pos x="222" y="94"/>
                  </a:cxn>
                  <a:cxn ang="0">
                    <a:pos x="221" y="80"/>
                  </a:cxn>
                  <a:cxn ang="0">
                    <a:pos x="213" y="65"/>
                  </a:cxn>
                  <a:cxn ang="0">
                    <a:pos x="210" y="52"/>
                  </a:cxn>
                  <a:cxn ang="0">
                    <a:pos x="208" y="35"/>
                  </a:cxn>
                  <a:cxn ang="0">
                    <a:pos x="198" y="21"/>
                  </a:cxn>
                  <a:cxn ang="0">
                    <a:pos x="172" y="18"/>
                  </a:cxn>
                  <a:cxn ang="0">
                    <a:pos x="149" y="10"/>
                  </a:cxn>
                  <a:cxn ang="0">
                    <a:pos x="133" y="5"/>
                  </a:cxn>
                  <a:cxn ang="0">
                    <a:pos x="112" y="1"/>
                  </a:cxn>
                  <a:cxn ang="0">
                    <a:pos x="96" y="2"/>
                  </a:cxn>
                  <a:cxn ang="0">
                    <a:pos x="74" y="1"/>
                  </a:cxn>
                  <a:cxn ang="0">
                    <a:pos x="64" y="4"/>
                  </a:cxn>
                  <a:cxn ang="0">
                    <a:pos x="48" y="13"/>
                  </a:cxn>
                  <a:cxn ang="0">
                    <a:pos x="37" y="31"/>
                  </a:cxn>
                  <a:cxn ang="0">
                    <a:pos x="26" y="44"/>
                  </a:cxn>
                  <a:cxn ang="0">
                    <a:pos x="22" y="62"/>
                  </a:cxn>
                  <a:cxn ang="0">
                    <a:pos x="16" y="68"/>
                  </a:cxn>
                  <a:cxn ang="0">
                    <a:pos x="12" y="72"/>
                  </a:cxn>
                  <a:cxn ang="0">
                    <a:pos x="13" y="85"/>
                  </a:cxn>
                  <a:cxn ang="0">
                    <a:pos x="10" y="99"/>
                  </a:cxn>
                  <a:cxn ang="0">
                    <a:pos x="7" y="113"/>
                  </a:cxn>
                  <a:cxn ang="0">
                    <a:pos x="1" y="127"/>
                  </a:cxn>
                  <a:cxn ang="0">
                    <a:pos x="0" y="134"/>
                  </a:cxn>
                  <a:cxn ang="0">
                    <a:pos x="3" y="139"/>
                  </a:cxn>
                  <a:cxn ang="0">
                    <a:pos x="13" y="137"/>
                  </a:cxn>
                  <a:cxn ang="0">
                    <a:pos x="26" y="139"/>
                  </a:cxn>
                  <a:cxn ang="0">
                    <a:pos x="35" y="160"/>
                  </a:cxn>
                  <a:cxn ang="0">
                    <a:pos x="43" y="166"/>
                  </a:cxn>
                  <a:cxn ang="0">
                    <a:pos x="59" y="169"/>
                  </a:cxn>
                  <a:cxn ang="0">
                    <a:pos x="78" y="171"/>
                  </a:cxn>
                  <a:cxn ang="0">
                    <a:pos x="93" y="175"/>
                  </a:cxn>
                  <a:cxn ang="0">
                    <a:pos x="114" y="181"/>
                  </a:cxn>
                  <a:cxn ang="0">
                    <a:pos x="133" y="184"/>
                  </a:cxn>
                  <a:cxn ang="0">
                    <a:pos x="140" y="169"/>
                  </a:cxn>
                  <a:cxn ang="0">
                    <a:pos x="145" y="169"/>
                  </a:cxn>
                  <a:cxn ang="0">
                    <a:pos x="169" y="158"/>
                  </a:cxn>
                  <a:cxn ang="0">
                    <a:pos x="180" y="160"/>
                  </a:cxn>
                  <a:cxn ang="0">
                    <a:pos x="199" y="162"/>
                  </a:cxn>
                  <a:cxn ang="0">
                    <a:pos x="213" y="164"/>
                  </a:cxn>
                  <a:cxn ang="0">
                    <a:pos x="229" y="157"/>
                  </a:cxn>
                  <a:cxn ang="0">
                    <a:pos x="246" y="156"/>
                  </a:cxn>
                  <a:cxn ang="0">
                    <a:pos x="246" y="152"/>
                  </a:cxn>
                  <a:cxn ang="0">
                    <a:pos x="254" y="145"/>
                  </a:cxn>
                  <a:cxn ang="0">
                    <a:pos x="247" y="138"/>
                  </a:cxn>
                  <a:cxn ang="0">
                    <a:pos x="245" y="134"/>
                  </a:cxn>
                  <a:cxn ang="0">
                    <a:pos x="253" y="133"/>
                  </a:cxn>
                  <a:cxn ang="0">
                    <a:pos x="256" y="127"/>
                  </a:cxn>
                  <a:cxn ang="0">
                    <a:pos x="262" y="132"/>
                  </a:cxn>
                  <a:cxn ang="0">
                    <a:pos x="268" y="130"/>
                  </a:cxn>
                  <a:cxn ang="0">
                    <a:pos x="267" y="125"/>
                  </a:cxn>
                </a:cxnLst>
                <a:rect l="0" t="0" r="r" b="b"/>
                <a:pathLst>
                  <a:path w="270" h="184">
                    <a:moveTo>
                      <a:pt x="264" y="118"/>
                    </a:moveTo>
                    <a:cubicBezTo>
                      <a:pt x="263" y="115"/>
                      <a:pt x="260" y="114"/>
                      <a:pt x="258" y="114"/>
                    </a:cubicBezTo>
                    <a:cubicBezTo>
                      <a:pt x="256" y="114"/>
                      <a:pt x="254" y="114"/>
                      <a:pt x="252" y="113"/>
                    </a:cubicBezTo>
                    <a:cubicBezTo>
                      <a:pt x="251" y="112"/>
                      <a:pt x="251" y="109"/>
                      <a:pt x="251" y="106"/>
                    </a:cubicBezTo>
                    <a:cubicBezTo>
                      <a:pt x="251" y="103"/>
                      <a:pt x="250" y="100"/>
                      <a:pt x="248" y="99"/>
                    </a:cubicBezTo>
                    <a:cubicBezTo>
                      <a:pt x="247" y="98"/>
                      <a:pt x="244" y="98"/>
                      <a:pt x="242" y="98"/>
                    </a:cubicBezTo>
                    <a:cubicBezTo>
                      <a:pt x="239" y="98"/>
                      <a:pt x="235" y="98"/>
                      <a:pt x="231" y="97"/>
                    </a:cubicBezTo>
                    <a:cubicBezTo>
                      <a:pt x="228" y="97"/>
                      <a:pt x="224" y="96"/>
                      <a:pt x="222" y="94"/>
                    </a:cubicBezTo>
                    <a:cubicBezTo>
                      <a:pt x="221" y="93"/>
                      <a:pt x="220" y="90"/>
                      <a:pt x="221" y="88"/>
                    </a:cubicBezTo>
                    <a:cubicBezTo>
                      <a:pt x="222" y="85"/>
                      <a:pt x="222" y="81"/>
                      <a:pt x="221" y="80"/>
                    </a:cubicBezTo>
                    <a:cubicBezTo>
                      <a:pt x="220" y="78"/>
                      <a:pt x="219" y="76"/>
                      <a:pt x="218" y="74"/>
                    </a:cubicBezTo>
                    <a:cubicBezTo>
                      <a:pt x="218" y="72"/>
                      <a:pt x="215" y="68"/>
                      <a:pt x="213" y="65"/>
                    </a:cubicBezTo>
                    <a:cubicBezTo>
                      <a:pt x="212" y="62"/>
                      <a:pt x="210" y="59"/>
                      <a:pt x="210" y="58"/>
                    </a:cubicBezTo>
                    <a:cubicBezTo>
                      <a:pt x="211" y="57"/>
                      <a:pt x="210" y="54"/>
                      <a:pt x="210" y="52"/>
                    </a:cubicBezTo>
                    <a:cubicBezTo>
                      <a:pt x="209" y="51"/>
                      <a:pt x="208" y="47"/>
                      <a:pt x="208" y="44"/>
                    </a:cubicBezTo>
                    <a:cubicBezTo>
                      <a:pt x="208" y="42"/>
                      <a:pt x="208" y="38"/>
                      <a:pt x="208" y="35"/>
                    </a:cubicBezTo>
                    <a:cubicBezTo>
                      <a:pt x="207" y="33"/>
                      <a:pt x="206" y="29"/>
                      <a:pt x="205" y="28"/>
                    </a:cubicBezTo>
                    <a:cubicBezTo>
                      <a:pt x="204" y="26"/>
                      <a:pt x="201" y="23"/>
                      <a:pt x="198" y="21"/>
                    </a:cubicBezTo>
                    <a:cubicBezTo>
                      <a:pt x="195" y="19"/>
                      <a:pt x="190" y="17"/>
                      <a:pt x="187" y="17"/>
                    </a:cubicBezTo>
                    <a:cubicBezTo>
                      <a:pt x="185" y="17"/>
                      <a:pt x="178" y="18"/>
                      <a:pt x="172" y="18"/>
                    </a:cubicBezTo>
                    <a:cubicBezTo>
                      <a:pt x="166" y="18"/>
                      <a:pt x="160" y="16"/>
                      <a:pt x="158" y="15"/>
                    </a:cubicBezTo>
                    <a:cubicBezTo>
                      <a:pt x="156" y="13"/>
                      <a:pt x="152" y="11"/>
                      <a:pt x="149" y="10"/>
                    </a:cubicBezTo>
                    <a:cubicBezTo>
                      <a:pt x="146" y="9"/>
                      <a:pt x="142" y="7"/>
                      <a:pt x="140" y="6"/>
                    </a:cubicBezTo>
                    <a:cubicBezTo>
                      <a:pt x="139" y="4"/>
                      <a:pt x="135" y="4"/>
                      <a:pt x="133" y="5"/>
                    </a:cubicBezTo>
                    <a:cubicBezTo>
                      <a:pt x="130" y="6"/>
                      <a:pt x="126" y="6"/>
                      <a:pt x="123" y="5"/>
                    </a:cubicBezTo>
                    <a:cubicBezTo>
                      <a:pt x="120" y="4"/>
                      <a:pt x="115" y="2"/>
                      <a:pt x="112" y="1"/>
                    </a:cubicBezTo>
                    <a:cubicBezTo>
                      <a:pt x="109" y="0"/>
                      <a:pt x="105" y="0"/>
                      <a:pt x="103" y="1"/>
                    </a:cubicBezTo>
                    <a:cubicBezTo>
                      <a:pt x="101" y="2"/>
                      <a:pt x="98" y="3"/>
                      <a:pt x="96" y="2"/>
                    </a:cubicBezTo>
                    <a:cubicBezTo>
                      <a:pt x="95" y="1"/>
                      <a:pt x="91" y="1"/>
                      <a:pt x="87" y="1"/>
                    </a:cubicBezTo>
                    <a:cubicBezTo>
                      <a:pt x="83" y="1"/>
                      <a:pt x="77" y="1"/>
                      <a:pt x="74" y="1"/>
                    </a:cubicBezTo>
                    <a:cubicBezTo>
                      <a:pt x="70" y="0"/>
                      <a:pt x="68" y="0"/>
                      <a:pt x="68" y="0"/>
                    </a:cubicBezTo>
                    <a:cubicBezTo>
                      <a:pt x="68" y="0"/>
                      <a:pt x="66" y="2"/>
                      <a:pt x="64" y="4"/>
                    </a:cubicBezTo>
                    <a:cubicBezTo>
                      <a:pt x="62" y="6"/>
                      <a:pt x="59" y="9"/>
                      <a:pt x="57" y="10"/>
                    </a:cubicBezTo>
                    <a:cubicBezTo>
                      <a:pt x="55" y="10"/>
                      <a:pt x="51" y="12"/>
                      <a:pt x="48" y="13"/>
                    </a:cubicBezTo>
                    <a:cubicBezTo>
                      <a:pt x="45" y="14"/>
                      <a:pt x="42" y="17"/>
                      <a:pt x="41" y="21"/>
                    </a:cubicBezTo>
                    <a:cubicBezTo>
                      <a:pt x="40" y="25"/>
                      <a:pt x="38" y="29"/>
                      <a:pt x="37" y="31"/>
                    </a:cubicBezTo>
                    <a:cubicBezTo>
                      <a:pt x="36" y="33"/>
                      <a:pt x="33" y="36"/>
                      <a:pt x="32" y="37"/>
                    </a:cubicBezTo>
                    <a:cubicBezTo>
                      <a:pt x="30" y="39"/>
                      <a:pt x="27" y="41"/>
                      <a:pt x="26" y="44"/>
                    </a:cubicBezTo>
                    <a:cubicBezTo>
                      <a:pt x="25" y="46"/>
                      <a:pt x="24" y="50"/>
                      <a:pt x="23" y="54"/>
                    </a:cubicBezTo>
                    <a:cubicBezTo>
                      <a:pt x="23" y="57"/>
                      <a:pt x="22" y="61"/>
                      <a:pt x="22" y="62"/>
                    </a:cubicBezTo>
                    <a:cubicBezTo>
                      <a:pt x="22" y="63"/>
                      <a:pt x="22" y="65"/>
                      <a:pt x="21" y="66"/>
                    </a:cubicBezTo>
                    <a:cubicBezTo>
                      <a:pt x="20" y="66"/>
                      <a:pt x="18" y="67"/>
                      <a:pt x="16" y="68"/>
                    </a:cubicBezTo>
                    <a:cubicBezTo>
                      <a:pt x="14" y="68"/>
                      <a:pt x="12" y="68"/>
                      <a:pt x="12" y="68"/>
                    </a:cubicBezTo>
                    <a:cubicBezTo>
                      <a:pt x="12" y="68"/>
                      <a:pt x="12" y="70"/>
                      <a:pt x="12" y="72"/>
                    </a:cubicBezTo>
                    <a:cubicBezTo>
                      <a:pt x="12" y="74"/>
                      <a:pt x="12" y="77"/>
                      <a:pt x="13" y="80"/>
                    </a:cubicBezTo>
                    <a:cubicBezTo>
                      <a:pt x="14" y="82"/>
                      <a:pt x="14" y="84"/>
                      <a:pt x="13" y="85"/>
                    </a:cubicBezTo>
                    <a:cubicBezTo>
                      <a:pt x="12" y="86"/>
                      <a:pt x="12" y="89"/>
                      <a:pt x="12" y="91"/>
                    </a:cubicBezTo>
                    <a:cubicBezTo>
                      <a:pt x="12" y="94"/>
                      <a:pt x="11" y="97"/>
                      <a:pt x="10" y="99"/>
                    </a:cubicBezTo>
                    <a:cubicBezTo>
                      <a:pt x="10" y="100"/>
                      <a:pt x="8" y="103"/>
                      <a:pt x="8" y="105"/>
                    </a:cubicBezTo>
                    <a:cubicBezTo>
                      <a:pt x="7" y="107"/>
                      <a:pt x="6" y="111"/>
                      <a:pt x="7" y="113"/>
                    </a:cubicBezTo>
                    <a:cubicBezTo>
                      <a:pt x="7" y="115"/>
                      <a:pt x="6" y="118"/>
                      <a:pt x="5" y="120"/>
                    </a:cubicBezTo>
                    <a:cubicBezTo>
                      <a:pt x="4" y="122"/>
                      <a:pt x="2" y="125"/>
                      <a:pt x="1" y="127"/>
                    </a:cubicBezTo>
                    <a:cubicBezTo>
                      <a:pt x="0" y="129"/>
                      <a:pt x="0" y="129"/>
                      <a:pt x="0" y="129"/>
                    </a:cubicBezTo>
                    <a:cubicBezTo>
                      <a:pt x="0" y="130"/>
                      <a:pt x="0" y="132"/>
                      <a:pt x="0" y="134"/>
                    </a:cubicBezTo>
                    <a:cubicBezTo>
                      <a:pt x="0" y="135"/>
                      <a:pt x="0" y="137"/>
                      <a:pt x="0" y="137"/>
                    </a:cubicBezTo>
                    <a:cubicBezTo>
                      <a:pt x="0" y="137"/>
                      <a:pt x="1" y="138"/>
                      <a:pt x="3" y="139"/>
                    </a:cubicBezTo>
                    <a:cubicBezTo>
                      <a:pt x="5" y="140"/>
                      <a:pt x="8" y="139"/>
                      <a:pt x="9" y="138"/>
                    </a:cubicBezTo>
                    <a:cubicBezTo>
                      <a:pt x="10" y="137"/>
                      <a:pt x="12" y="136"/>
                      <a:pt x="13" y="137"/>
                    </a:cubicBezTo>
                    <a:cubicBezTo>
                      <a:pt x="14" y="137"/>
                      <a:pt x="16" y="137"/>
                      <a:pt x="18" y="137"/>
                    </a:cubicBezTo>
                    <a:cubicBezTo>
                      <a:pt x="21" y="137"/>
                      <a:pt x="24" y="138"/>
                      <a:pt x="26" y="139"/>
                    </a:cubicBezTo>
                    <a:cubicBezTo>
                      <a:pt x="28" y="140"/>
                      <a:pt x="30" y="144"/>
                      <a:pt x="31" y="147"/>
                    </a:cubicBezTo>
                    <a:cubicBezTo>
                      <a:pt x="31" y="151"/>
                      <a:pt x="33" y="156"/>
                      <a:pt x="35" y="160"/>
                    </a:cubicBezTo>
                    <a:cubicBezTo>
                      <a:pt x="37" y="163"/>
                      <a:pt x="38" y="166"/>
                      <a:pt x="38" y="166"/>
                    </a:cubicBezTo>
                    <a:cubicBezTo>
                      <a:pt x="38" y="166"/>
                      <a:pt x="40" y="166"/>
                      <a:pt x="43" y="166"/>
                    </a:cubicBezTo>
                    <a:cubicBezTo>
                      <a:pt x="46" y="167"/>
                      <a:pt x="49" y="167"/>
                      <a:pt x="51" y="166"/>
                    </a:cubicBezTo>
                    <a:cubicBezTo>
                      <a:pt x="53" y="166"/>
                      <a:pt x="56" y="167"/>
                      <a:pt x="59" y="169"/>
                    </a:cubicBezTo>
                    <a:cubicBezTo>
                      <a:pt x="62" y="171"/>
                      <a:pt x="66" y="172"/>
                      <a:pt x="69" y="171"/>
                    </a:cubicBezTo>
                    <a:cubicBezTo>
                      <a:pt x="72" y="171"/>
                      <a:pt x="76" y="171"/>
                      <a:pt x="78" y="171"/>
                    </a:cubicBezTo>
                    <a:cubicBezTo>
                      <a:pt x="80" y="172"/>
                      <a:pt x="83" y="172"/>
                      <a:pt x="85" y="173"/>
                    </a:cubicBezTo>
                    <a:cubicBezTo>
                      <a:pt x="86" y="173"/>
                      <a:pt x="90" y="174"/>
                      <a:pt x="93" y="175"/>
                    </a:cubicBezTo>
                    <a:cubicBezTo>
                      <a:pt x="96" y="175"/>
                      <a:pt x="101" y="177"/>
                      <a:pt x="104" y="179"/>
                    </a:cubicBezTo>
                    <a:cubicBezTo>
                      <a:pt x="106" y="180"/>
                      <a:pt x="111" y="181"/>
                      <a:pt x="114" y="181"/>
                    </a:cubicBezTo>
                    <a:cubicBezTo>
                      <a:pt x="117" y="181"/>
                      <a:pt x="122" y="181"/>
                      <a:pt x="125" y="182"/>
                    </a:cubicBezTo>
                    <a:cubicBezTo>
                      <a:pt x="127" y="184"/>
                      <a:pt x="131" y="184"/>
                      <a:pt x="133" y="184"/>
                    </a:cubicBezTo>
                    <a:cubicBezTo>
                      <a:pt x="135" y="184"/>
                      <a:pt x="137" y="182"/>
                      <a:pt x="137" y="179"/>
                    </a:cubicBezTo>
                    <a:cubicBezTo>
                      <a:pt x="137" y="177"/>
                      <a:pt x="138" y="172"/>
                      <a:pt x="140" y="169"/>
                    </a:cubicBezTo>
                    <a:cubicBezTo>
                      <a:pt x="140" y="169"/>
                      <a:pt x="140" y="169"/>
                      <a:pt x="143" y="169"/>
                    </a:cubicBezTo>
                    <a:cubicBezTo>
                      <a:pt x="145" y="169"/>
                      <a:pt x="145" y="169"/>
                      <a:pt x="145" y="169"/>
                    </a:cubicBezTo>
                    <a:cubicBezTo>
                      <a:pt x="151" y="168"/>
                      <a:pt x="159" y="165"/>
                      <a:pt x="161" y="163"/>
                    </a:cubicBezTo>
                    <a:cubicBezTo>
                      <a:pt x="164" y="160"/>
                      <a:pt x="167" y="158"/>
                      <a:pt x="169" y="158"/>
                    </a:cubicBezTo>
                    <a:cubicBezTo>
                      <a:pt x="172" y="158"/>
                      <a:pt x="174" y="158"/>
                      <a:pt x="175" y="159"/>
                    </a:cubicBezTo>
                    <a:cubicBezTo>
                      <a:pt x="176" y="159"/>
                      <a:pt x="178" y="160"/>
                      <a:pt x="180" y="160"/>
                    </a:cubicBezTo>
                    <a:cubicBezTo>
                      <a:pt x="182" y="159"/>
                      <a:pt x="186" y="159"/>
                      <a:pt x="189" y="159"/>
                    </a:cubicBezTo>
                    <a:cubicBezTo>
                      <a:pt x="192" y="159"/>
                      <a:pt x="196" y="161"/>
                      <a:pt x="199" y="162"/>
                    </a:cubicBezTo>
                    <a:cubicBezTo>
                      <a:pt x="201" y="164"/>
                      <a:pt x="204" y="166"/>
                      <a:pt x="205" y="166"/>
                    </a:cubicBezTo>
                    <a:cubicBezTo>
                      <a:pt x="206" y="167"/>
                      <a:pt x="210" y="166"/>
                      <a:pt x="213" y="164"/>
                    </a:cubicBezTo>
                    <a:cubicBezTo>
                      <a:pt x="217" y="162"/>
                      <a:pt x="220" y="159"/>
                      <a:pt x="221" y="159"/>
                    </a:cubicBezTo>
                    <a:cubicBezTo>
                      <a:pt x="222" y="158"/>
                      <a:pt x="225" y="157"/>
                      <a:pt x="229" y="157"/>
                    </a:cubicBezTo>
                    <a:cubicBezTo>
                      <a:pt x="232" y="157"/>
                      <a:pt x="238" y="157"/>
                      <a:pt x="240" y="156"/>
                    </a:cubicBezTo>
                    <a:cubicBezTo>
                      <a:pt x="243" y="156"/>
                      <a:pt x="246" y="156"/>
                      <a:pt x="246" y="156"/>
                    </a:cubicBezTo>
                    <a:cubicBezTo>
                      <a:pt x="246" y="156"/>
                      <a:pt x="245" y="155"/>
                      <a:pt x="244" y="154"/>
                    </a:cubicBezTo>
                    <a:cubicBezTo>
                      <a:pt x="244" y="154"/>
                      <a:pt x="244" y="153"/>
                      <a:pt x="246" y="152"/>
                    </a:cubicBezTo>
                    <a:cubicBezTo>
                      <a:pt x="248" y="151"/>
                      <a:pt x="250" y="150"/>
                      <a:pt x="251" y="149"/>
                    </a:cubicBezTo>
                    <a:cubicBezTo>
                      <a:pt x="251" y="148"/>
                      <a:pt x="253" y="146"/>
                      <a:pt x="254" y="145"/>
                    </a:cubicBezTo>
                    <a:cubicBezTo>
                      <a:pt x="255" y="143"/>
                      <a:pt x="255" y="142"/>
                      <a:pt x="254" y="141"/>
                    </a:cubicBezTo>
                    <a:cubicBezTo>
                      <a:pt x="253" y="140"/>
                      <a:pt x="249" y="139"/>
                      <a:pt x="247" y="138"/>
                    </a:cubicBezTo>
                    <a:cubicBezTo>
                      <a:pt x="244" y="138"/>
                      <a:pt x="242" y="136"/>
                      <a:pt x="242" y="135"/>
                    </a:cubicBezTo>
                    <a:cubicBezTo>
                      <a:pt x="242" y="134"/>
                      <a:pt x="244" y="133"/>
                      <a:pt x="245" y="134"/>
                    </a:cubicBezTo>
                    <a:cubicBezTo>
                      <a:pt x="247" y="135"/>
                      <a:pt x="249" y="135"/>
                      <a:pt x="250" y="135"/>
                    </a:cubicBezTo>
                    <a:cubicBezTo>
                      <a:pt x="251" y="135"/>
                      <a:pt x="252" y="134"/>
                      <a:pt x="253" y="133"/>
                    </a:cubicBezTo>
                    <a:cubicBezTo>
                      <a:pt x="253" y="132"/>
                      <a:pt x="253" y="131"/>
                      <a:pt x="254" y="130"/>
                    </a:cubicBezTo>
                    <a:cubicBezTo>
                      <a:pt x="255" y="129"/>
                      <a:pt x="256" y="127"/>
                      <a:pt x="256" y="127"/>
                    </a:cubicBezTo>
                    <a:cubicBezTo>
                      <a:pt x="257" y="127"/>
                      <a:pt x="258" y="127"/>
                      <a:pt x="259" y="128"/>
                    </a:cubicBezTo>
                    <a:cubicBezTo>
                      <a:pt x="260" y="129"/>
                      <a:pt x="261" y="130"/>
                      <a:pt x="262" y="132"/>
                    </a:cubicBezTo>
                    <a:cubicBezTo>
                      <a:pt x="262" y="133"/>
                      <a:pt x="263" y="134"/>
                      <a:pt x="264" y="133"/>
                    </a:cubicBezTo>
                    <a:cubicBezTo>
                      <a:pt x="265" y="132"/>
                      <a:pt x="267" y="130"/>
                      <a:pt x="268" y="130"/>
                    </a:cubicBezTo>
                    <a:cubicBezTo>
                      <a:pt x="269" y="129"/>
                      <a:pt x="270" y="128"/>
                      <a:pt x="270" y="128"/>
                    </a:cubicBezTo>
                    <a:cubicBezTo>
                      <a:pt x="270" y="128"/>
                      <a:pt x="269" y="127"/>
                      <a:pt x="267" y="125"/>
                    </a:cubicBezTo>
                    <a:cubicBezTo>
                      <a:pt x="266" y="124"/>
                      <a:pt x="264" y="120"/>
                      <a:pt x="264" y="118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407924" tIns="203962" rIns="407924" bIns="20396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246"/>
              </a:p>
            </p:txBody>
          </p:sp>
          <p:sp>
            <p:nvSpPr>
              <p:cNvPr id="1227" name="Freeform 30">
                <a:extLst>
                  <a:ext uri="{FF2B5EF4-FFF2-40B4-BE49-F238E27FC236}">
                    <a16:creationId xmlns:a16="http://schemas.microsoft.com/office/drawing/2014/main" id="{C01AC289-89F9-E2E3-3014-C775E07D12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6372" y="5136293"/>
                <a:ext cx="716471" cy="655965"/>
              </a:xfrm>
              <a:custGeom>
                <a:avLst/>
                <a:gdLst/>
                <a:ahLst/>
                <a:cxnLst>
                  <a:cxn ang="0">
                    <a:pos x="299" y="98"/>
                  </a:cxn>
                  <a:cxn ang="0">
                    <a:pos x="305" y="83"/>
                  </a:cxn>
                  <a:cxn ang="0">
                    <a:pos x="313" y="66"/>
                  </a:cxn>
                  <a:cxn ang="0">
                    <a:pos x="304" y="65"/>
                  </a:cxn>
                  <a:cxn ang="0">
                    <a:pos x="283" y="61"/>
                  </a:cxn>
                  <a:cxn ang="0">
                    <a:pos x="273" y="51"/>
                  </a:cxn>
                  <a:cxn ang="0">
                    <a:pos x="266" y="41"/>
                  </a:cxn>
                  <a:cxn ang="0">
                    <a:pos x="254" y="30"/>
                  </a:cxn>
                  <a:cxn ang="0">
                    <a:pos x="239" y="20"/>
                  </a:cxn>
                  <a:cxn ang="0">
                    <a:pos x="224" y="14"/>
                  </a:cxn>
                  <a:cxn ang="0">
                    <a:pos x="209" y="8"/>
                  </a:cxn>
                  <a:cxn ang="0">
                    <a:pos x="189" y="5"/>
                  </a:cxn>
                  <a:cxn ang="0">
                    <a:pos x="172" y="1"/>
                  </a:cxn>
                  <a:cxn ang="0">
                    <a:pos x="151" y="3"/>
                  </a:cxn>
                  <a:cxn ang="0">
                    <a:pos x="137" y="10"/>
                  </a:cxn>
                  <a:cxn ang="0">
                    <a:pos x="125" y="16"/>
                  </a:cxn>
                  <a:cxn ang="0">
                    <a:pos x="113" y="22"/>
                  </a:cxn>
                  <a:cxn ang="0">
                    <a:pos x="96" y="35"/>
                  </a:cxn>
                  <a:cxn ang="0">
                    <a:pos x="75" y="56"/>
                  </a:cxn>
                  <a:cxn ang="0">
                    <a:pos x="57" y="76"/>
                  </a:cxn>
                  <a:cxn ang="0">
                    <a:pos x="33" y="105"/>
                  </a:cxn>
                  <a:cxn ang="0">
                    <a:pos x="12" y="129"/>
                  </a:cxn>
                  <a:cxn ang="0">
                    <a:pos x="0" y="145"/>
                  </a:cxn>
                  <a:cxn ang="0">
                    <a:pos x="19" y="142"/>
                  </a:cxn>
                  <a:cxn ang="0">
                    <a:pos x="44" y="150"/>
                  </a:cxn>
                  <a:cxn ang="0">
                    <a:pos x="65" y="175"/>
                  </a:cxn>
                  <a:cxn ang="0">
                    <a:pos x="81" y="171"/>
                  </a:cxn>
                  <a:cxn ang="0">
                    <a:pos x="101" y="191"/>
                  </a:cxn>
                  <a:cxn ang="0">
                    <a:pos x="125" y="205"/>
                  </a:cxn>
                  <a:cxn ang="0">
                    <a:pos x="152" y="226"/>
                  </a:cxn>
                  <a:cxn ang="0">
                    <a:pos x="173" y="251"/>
                  </a:cxn>
                  <a:cxn ang="0">
                    <a:pos x="183" y="248"/>
                  </a:cxn>
                  <a:cxn ang="0">
                    <a:pos x="193" y="235"/>
                  </a:cxn>
                  <a:cxn ang="0">
                    <a:pos x="198" y="249"/>
                  </a:cxn>
                  <a:cxn ang="0">
                    <a:pos x="197" y="264"/>
                  </a:cxn>
                  <a:cxn ang="0">
                    <a:pos x="188" y="280"/>
                  </a:cxn>
                  <a:cxn ang="0">
                    <a:pos x="190" y="282"/>
                  </a:cxn>
                  <a:cxn ang="0">
                    <a:pos x="204" y="252"/>
                  </a:cxn>
                  <a:cxn ang="0">
                    <a:pos x="218" y="230"/>
                  </a:cxn>
                  <a:cxn ang="0">
                    <a:pos x="240" y="212"/>
                  </a:cxn>
                  <a:cxn ang="0">
                    <a:pos x="266" y="188"/>
                  </a:cxn>
                  <a:cxn ang="0">
                    <a:pos x="292" y="147"/>
                  </a:cxn>
                  <a:cxn ang="0">
                    <a:pos x="313" y="106"/>
                  </a:cxn>
                  <a:cxn ang="0">
                    <a:pos x="308" y="96"/>
                  </a:cxn>
                </a:cxnLst>
                <a:rect l="0" t="0" r="r" b="b"/>
                <a:pathLst>
                  <a:path w="316" h="289">
                    <a:moveTo>
                      <a:pt x="308" y="96"/>
                    </a:moveTo>
                    <a:cubicBezTo>
                      <a:pt x="306" y="96"/>
                      <a:pt x="304" y="96"/>
                      <a:pt x="303" y="98"/>
                    </a:cubicBezTo>
                    <a:cubicBezTo>
                      <a:pt x="302" y="100"/>
                      <a:pt x="300" y="100"/>
                      <a:pt x="299" y="98"/>
                    </a:cubicBezTo>
                    <a:cubicBezTo>
                      <a:pt x="298" y="97"/>
                      <a:pt x="297" y="95"/>
                      <a:pt x="299" y="94"/>
                    </a:cubicBezTo>
                    <a:cubicBezTo>
                      <a:pt x="300" y="93"/>
                      <a:pt x="301" y="91"/>
                      <a:pt x="303" y="90"/>
                    </a:cubicBezTo>
                    <a:cubicBezTo>
                      <a:pt x="304" y="88"/>
                      <a:pt x="305" y="86"/>
                      <a:pt x="305" y="83"/>
                    </a:cubicBezTo>
                    <a:cubicBezTo>
                      <a:pt x="305" y="81"/>
                      <a:pt x="306" y="78"/>
                      <a:pt x="307" y="77"/>
                    </a:cubicBezTo>
                    <a:cubicBezTo>
                      <a:pt x="308" y="75"/>
                      <a:pt x="310" y="73"/>
                      <a:pt x="312" y="71"/>
                    </a:cubicBezTo>
                    <a:cubicBezTo>
                      <a:pt x="314" y="70"/>
                      <a:pt x="314" y="67"/>
                      <a:pt x="313" y="66"/>
                    </a:cubicBezTo>
                    <a:cubicBezTo>
                      <a:pt x="312" y="65"/>
                      <a:pt x="312" y="64"/>
                      <a:pt x="312" y="64"/>
                    </a:cubicBezTo>
                    <a:cubicBezTo>
                      <a:pt x="311" y="64"/>
                      <a:pt x="310" y="64"/>
                      <a:pt x="309" y="64"/>
                    </a:cubicBezTo>
                    <a:cubicBezTo>
                      <a:pt x="308" y="63"/>
                      <a:pt x="306" y="64"/>
                      <a:pt x="304" y="65"/>
                    </a:cubicBezTo>
                    <a:cubicBezTo>
                      <a:pt x="301" y="66"/>
                      <a:pt x="299" y="66"/>
                      <a:pt x="298" y="65"/>
                    </a:cubicBezTo>
                    <a:cubicBezTo>
                      <a:pt x="297" y="64"/>
                      <a:pt x="294" y="63"/>
                      <a:pt x="292" y="63"/>
                    </a:cubicBezTo>
                    <a:cubicBezTo>
                      <a:pt x="289" y="62"/>
                      <a:pt x="286" y="62"/>
                      <a:pt x="283" y="61"/>
                    </a:cubicBezTo>
                    <a:cubicBezTo>
                      <a:pt x="280" y="61"/>
                      <a:pt x="278" y="59"/>
                      <a:pt x="278" y="58"/>
                    </a:cubicBezTo>
                    <a:cubicBezTo>
                      <a:pt x="278" y="56"/>
                      <a:pt x="277" y="54"/>
                      <a:pt x="276" y="54"/>
                    </a:cubicBezTo>
                    <a:cubicBezTo>
                      <a:pt x="274" y="54"/>
                      <a:pt x="273" y="52"/>
                      <a:pt x="273" y="51"/>
                    </a:cubicBezTo>
                    <a:cubicBezTo>
                      <a:pt x="273" y="50"/>
                      <a:pt x="272" y="49"/>
                      <a:pt x="271" y="49"/>
                    </a:cubicBezTo>
                    <a:cubicBezTo>
                      <a:pt x="270" y="49"/>
                      <a:pt x="270" y="47"/>
                      <a:pt x="270" y="46"/>
                    </a:cubicBezTo>
                    <a:cubicBezTo>
                      <a:pt x="270" y="44"/>
                      <a:pt x="268" y="42"/>
                      <a:pt x="266" y="41"/>
                    </a:cubicBezTo>
                    <a:cubicBezTo>
                      <a:pt x="264" y="40"/>
                      <a:pt x="262" y="38"/>
                      <a:pt x="262" y="36"/>
                    </a:cubicBezTo>
                    <a:cubicBezTo>
                      <a:pt x="262" y="35"/>
                      <a:pt x="261" y="33"/>
                      <a:pt x="259" y="33"/>
                    </a:cubicBezTo>
                    <a:cubicBezTo>
                      <a:pt x="257" y="33"/>
                      <a:pt x="255" y="31"/>
                      <a:pt x="254" y="30"/>
                    </a:cubicBezTo>
                    <a:cubicBezTo>
                      <a:pt x="254" y="28"/>
                      <a:pt x="252" y="27"/>
                      <a:pt x="251" y="27"/>
                    </a:cubicBezTo>
                    <a:cubicBezTo>
                      <a:pt x="249" y="26"/>
                      <a:pt x="247" y="25"/>
                      <a:pt x="244" y="24"/>
                    </a:cubicBezTo>
                    <a:cubicBezTo>
                      <a:pt x="242" y="23"/>
                      <a:pt x="240" y="21"/>
                      <a:pt x="239" y="20"/>
                    </a:cubicBezTo>
                    <a:cubicBezTo>
                      <a:pt x="238" y="19"/>
                      <a:pt x="236" y="19"/>
                      <a:pt x="234" y="20"/>
                    </a:cubicBezTo>
                    <a:cubicBezTo>
                      <a:pt x="231" y="21"/>
                      <a:pt x="229" y="21"/>
                      <a:pt x="228" y="19"/>
                    </a:cubicBezTo>
                    <a:cubicBezTo>
                      <a:pt x="228" y="18"/>
                      <a:pt x="226" y="15"/>
                      <a:pt x="224" y="14"/>
                    </a:cubicBezTo>
                    <a:cubicBezTo>
                      <a:pt x="222" y="12"/>
                      <a:pt x="220" y="10"/>
                      <a:pt x="219" y="9"/>
                    </a:cubicBezTo>
                    <a:cubicBezTo>
                      <a:pt x="217" y="8"/>
                      <a:pt x="215" y="8"/>
                      <a:pt x="214" y="9"/>
                    </a:cubicBezTo>
                    <a:cubicBezTo>
                      <a:pt x="213" y="9"/>
                      <a:pt x="210" y="9"/>
                      <a:pt x="209" y="8"/>
                    </a:cubicBezTo>
                    <a:cubicBezTo>
                      <a:pt x="207" y="7"/>
                      <a:pt x="204" y="7"/>
                      <a:pt x="202" y="7"/>
                    </a:cubicBezTo>
                    <a:cubicBezTo>
                      <a:pt x="199" y="7"/>
                      <a:pt x="196" y="7"/>
                      <a:pt x="195" y="6"/>
                    </a:cubicBezTo>
                    <a:cubicBezTo>
                      <a:pt x="193" y="6"/>
                      <a:pt x="190" y="5"/>
                      <a:pt x="189" y="5"/>
                    </a:cubicBezTo>
                    <a:cubicBezTo>
                      <a:pt x="187" y="5"/>
                      <a:pt x="185" y="5"/>
                      <a:pt x="183" y="4"/>
                    </a:cubicBezTo>
                    <a:cubicBezTo>
                      <a:pt x="182" y="3"/>
                      <a:pt x="179" y="2"/>
                      <a:pt x="177" y="3"/>
                    </a:cubicBezTo>
                    <a:cubicBezTo>
                      <a:pt x="175" y="3"/>
                      <a:pt x="172" y="2"/>
                      <a:pt x="172" y="1"/>
                    </a:cubicBezTo>
                    <a:cubicBezTo>
                      <a:pt x="171" y="0"/>
                      <a:pt x="168" y="0"/>
                      <a:pt x="164" y="2"/>
                    </a:cubicBezTo>
                    <a:cubicBezTo>
                      <a:pt x="161" y="3"/>
                      <a:pt x="157" y="4"/>
                      <a:pt x="155" y="4"/>
                    </a:cubicBezTo>
                    <a:cubicBezTo>
                      <a:pt x="153" y="3"/>
                      <a:pt x="151" y="3"/>
                      <a:pt x="151" y="3"/>
                    </a:cubicBezTo>
                    <a:cubicBezTo>
                      <a:pt x="151" y="3"/>
                      <a:pt x="150" y="3"/>
                      <a:pt x="148" y="3"/>
                    </a:cubicBezTo>
                    <a:cubicBezTo>
                      <a:pt x="146" y="3"/>
                      <a:pt x="144" y="4"/>
                      <a:pt x="142" y="6"/>
                    </a:cubicBezTo>
                    <a:cubicBezTo>
                      <a:pt x="140" y="8"/>
                      <a:pt x="138" y="9"/>
                      <a:pt x="137" y="10"/>
                    </a:cubicBezTo>
                    <a:cubicBezTo>
                      <a:pt x="136" y="10"/>
                      <a:pt x="135" y="11"/>
                      <a:pt x="134" y="13"/>
                    </a:cubicBezTo>
                    <a:cubicBezTo>
                      <a:pt x="133" y="14"/>
                      <a:pt x="131" y="15"/>
                      <a:pt x="129" y="15"/>
                    </a:cubicBezTo>
                    <a:cubicBezTo>
                      <a:pt x="128" y="15"/>
                      <a:pt x="126" y="15"/>
                      <a:pt x="125" y="16"/>
                    </a:cubicBezTo>
                    <a:cubicBezTo>
                      <a:pt x="124" y="17"/>
                      <a:pt x="122" y="18"/>
                      <a:pt x="121" y="18"/>
                    </a:cubicBezTo>
                    <a:cubicBezTo>
                      <a:pt x="119" y="18"/>
                      <a:pt x="118" y="19"/>
                      <a:pt x="117" y="19"/>
                    </a:cubicBezTo>
                    <a:cubicBezTo>
                      <a:pt x="117" y="20"/>
                      <a:pt x="115" y="21"/>
                      <a:pt x="113" y="22"/>
                    </a:cubicBezTo>
                    <a:cubicBezTo>
                      <a:pt x="111" y="23"/>
                      <a:pt x="109" y="24"/>
                      <a:pt x="108" y="26"/>
                    </a:cubicBezTo>
                    <a:cubicBezTo>
                      <a:pt x="108" y="27"/>
                      <a:pt x="106" y="29"/>
                      <a:pt x="104" y="31"/>
                    </a:cubicBezTo>
                    <a:cubicBezTo>
                      <a:pt x="102" y="33"/>
                      <a:pt x="99" y="34"/>
                      <a:pt x="96" y="35"/>
                    </a:cubicBezTo>
                    <a:cubicBezTo>
                      <a:pt x="94" y="36"/>
                      <a:pt x="90" y="37"/>
                      <a:pt x="89" y="39"/>
                    </a:cubicBezTo>
                    <a:cubicBezTo>
                      <a:pt x="87" y="41"/>
                      <a:pt x="83" y="45"/>
                      <a:pt x="80" y="47"/>
                    </a:cubicBezTo>
                    <a:cubicBezTo>
                      <a:pt x="77" y="50"/>
                      <a:pt x="75" y="54"/>
                      <a:pt x="75" y="56"/>
                    </a:cubicBezTo>
                    <a:cubicBezTo>
                      <a:pt x="75" y="58"/>
                      <a:pt x="74" y="59"/>
                      <a:pt x="73" y="60"/>
                    </a:cubicBezTo>
                    <a:cubicBezTo>
                      <a:pt x="71" y="60"/>
                      <a:pt x="68" y="62"/>
                      <a:pt x="66" y="65"/>
                    </a:cubicBezTo>
                    <a:cubicBezTo>
                      <a:pt x="64" y="68"/>
                      <a:pt x="60" y="73"/>
                      <a:pt x="57" y="76"/>
                    </a:cubicBezTo>
                    <a:cubicBezTo>
                      <a:pt x="54" y="79"/>
                      <a:pt x="50" y="84"/>
                      <a:pt x="49" y="86"/>
                    </a:cubicBezTo>
                    <a:cubicBezTo>
                      <a:pt x="48" y="88"/>
                      <a:pt x="44" y="92"/>
                      <a:pt x="42" y="95"/>
                    </a:cubicBezTo>
                    <a:cubicBezTo>
                      <a:pt x="39" y="98"/>
                      <a:pt x="35" y="103"/>
                      <a:pt x="33" y="105"/>
                    </a:cubicBezTo>
                    <a:cubicBezTo>
                      <a:pt x="31" y="107"/>
                      <a:pt x="28" y="113"/>
                      <a:pt x="25" y="117"/>
                    </a:cubicBezTo>
                    <a:cubicBezTo>
                      <a:pt x="23" y="121"/>
                      <a:pt x="19" y="124"/>
                      <a:pt x="16" y="125"/>
                    </a:cubicBezTo>
                    <a:cubicBezTo>
                      <a:pt x="14" y="125"/>
                      <a:pt x="12" y="127"/>
                      <a:pt x="12" y="129"/>
                    </a:cubicBezTo>
                    <a:cubicBezTo>
                      <a:pt x="12" y="130"/>
                      <a:pt x="11" y="133"/>
                      <a:pt x="9" y="134"/>
                    </a:cubicBezTo>
                    <a:cubicBezTo>
                      <a:pt x="8" y="136"/>
                      <a:pt x="5" y="138"/>
                      <a:pt x="4" y="141"/>
                    </a:cubicBezTo>
                    <a:cubicBezTo>
                      <a:pt x="2" y="143"/>
                      <a:pt x="0" y="145"/>
                      <a:pt x="0" y="145"/>
                    </a:cubicBezTo>
                    <a:cubicBezTo>
                      <a:pt x="0" y="145"/>
                      <a:pt x="3" y="145"/>
                      <a:pt x="6" y="146"/>
                    </a:cubicBezTo>
                    <a:cubicBezTo>
                      <a:pt x="10" y="146"/>
                      <a:pt x="13" y="146"/>
                      <a:pt x="14" y="146"/>
                    </a:cubicBezTo>
                    <a:cubicBezTo>
                      <a:pt x="15" y="145"/>
                      <a:pt x="17" y="143"/>
                      <a:pt x="19" y="142"/>
                    </a:cubicBezTo>
                    <a:cubicBezTo>
                      <a:pt x="20" y="140"/>
                      <a:pt x="23" y="139"/>
                      <a:pt x="25" y="138"/>
                    </a:cubicBezTo>
                    <a:cubicBezTo>
                      <a:pt x="27" y="137"/>
                      <a:pt x="31" y="138"/>
                      <a:pt x="34" y="141"/>
                    </a:cubicBezTo>
                    <a:cubicBezTo>
                      <a:pt x="37" y="143"/>
                      <a:pt x="41" y="147"/>
                      <a:pt x="44" y="150"/>
                    </a:cubicBezTo>
                    <a:cubicBezTo>
                      <a:pt x="46" y="152"/>
                      <a:pt x="51" y="156"/>
                      <a:pt x="54" y="159"/>
                    </a:cubicBezTo>
                    <a:cubicBezTo>
                      <a:pt x="57" y="161"/>
                      <a:pt x="61" y="165"/>
                      <a:pt x="62" y="167"/>
                    </a:cubicBezTo>
                    <a:cubicBezTo>
                      <a:pt x="63" y="169"/>
                      <a:pt x="64" y="173"/>
                      <a:pt x="65" y="175"/>
                    </a:cubicBezTo>
                    <a:cubicBezTo>
                      <a:pt x="65" y="177"/>
                      <a:pt x="66" y="179"/>
                      <a:pt x="68" y="180"/>
                    </a:cubicBezTo>
                    <a:cubicBezTo>
                      <a:pt x="70" y="180"/>
                      <a:pt x="73" y="178"/>
                      <a:pt x="75" y="176"/>
                    </a:cubicBezTo>
                    <a:cubicBezTo>
                      <a:pt x="76" y="173"/>
                      <a:pt x="79" y="171"/>
                      <a:pt x="81" y="171"/>
                    </a:cubicBezTo>
                    <a:cubicBezTo>
                      <a:pt x="83" y="172"/>
                      <a:pt x="86" y="174"/>
                      <a:pt x="88" y="176"/>
                    </a:cubicBezTo>
                    <a:cubicBezTo>
                      <a:pt x="89" y="179"/>
                      <a:pt x="92" y="183"/>
                      <a:pt x="94" y="185"/>
                    </a:cubicBezTo>
                    <a:cubicBezTo>
                      <a:pt x="96" y="187"/>
                      <a:pt x="99" y="190"/>
                      <a:pt x="101" y="191"/>
                    </a:cubicBezTo>
                    <a:cubicBezTo>
                      <a:pt x="103" y="192"/>
                      <a:pt x="106" y="193"/>
                      <a:pt x="108" y="194"/>
                    </a:cubicBezTo>
                    <a:cubicBezTo>
                      <a:pt x="109" y="195"/>
                      <a:pt x="113" y="197"/>
                      <a:pt x="116" y="198"/>
                    </a:cubicBezTo>
                    <a:cubicBezTo>
                      <a:pt x="119" y="200"/>
                      <a:pt x="123" y="203"/>
                      <a:pt x="125" y="205"/>
                    </a:cubicBezTo>
                    <a:cubicBezTo>
                      <a:pt x="127" y="208"/>
                      <a:pt x="131" y="211"/>
                      <a:pt x="134" y="213"/>
                    </a:cubicBezTo>
                    <a:cubicBezTo>
                      <a:pt x="137" y="215"/>
                      <a:pt x="142" y="217"/>
                      <a:pt x="144" y="219"/>
                    </a:cubicBezTo>
                    <a:cubicBezTo>
                      <a:pt x="147" y="220"/>
                      <a:pt x="150" y="223"/>
                      <a:pt x="152" y="226"/>
                    </a:cubicBezTo>
                    <a:cubicBezTo>
                      <a:pt x="154" y="228"/>
                      <a:pt x="156" y="232"/>
                      <a:pt x="157" y="235"/>
                    </a:cubicBezTo>
                    <a:cubicBezTo>
                      <a:pt x="157" y="237"/>
                      <a:pt x="160" y="241"/>
                      <a:pt x="163" y="244"/>
                    </a:cubicBezTo>
                    <a:cubicBezTo>
                      <a:pt x="166" y="247"/>
                      <a:pt x="170" y="250"/>
                      <a:pt x="173" y="251"/>
                    </a:cubicBezTo>
                    <a:cubicBezTo>
                      <a:pt x="175" y="253"/>
                      <a:pt x="177" y="254"/>
                      <a:pt x="177" y="254"/>
                    </a:cubicBezTo>
                    <a:cubicBezTo>
                      <a:pt x="177" y="254"/>
                      <a:pt x="178" y="253"/>
                      <a:pt x="179" y="252"/>
                    </a:cubicBezTo>
                    <a:cubicBezTo>
                      <a:pt x="181" y="251"/>
                      <a:pt x="182" y="249"/>
                      <a:pt x="183" y="248"/>
                    </a:cubicBezTo>
                    <a:cubicBezTo>
                      <a:pt x="183" y="246"/>
                      <a:pt x="185" y="244"/>
                      <a:pt x="187" y="243"/>
                    </a:cubicBezTo>
                    <a:cubicBezTo>
                      <a:pt x="188" y="243"/>
                      <a:pt x="190" y="241"/>
                      <a:pt x="190" y="240"/>
                    </a:cubicBezTo>
                    <a:cubicBezTo>
                      <a:pt x="190" y="238"/>
                      <a:pt x="191" y="236"/>
                      <a:pt x="193" y="235"/>
                    </a:cubicBezTo>
                    <a:cubicBezTo>
                      <a:pt x="194" y="233"/>
                      <a:pt x="195" y="234"/>
                      <a:pt x="195" y="236"/>
                    </a:cubicBezTo>
                    <a:cubicBezTo>
                      <a:pt x="194" y="238"/>
                      <a:pt x="195" y="241"/>
                      <a:pt x="196" y="243"/>
                    </a:cubicBezTo>
                    <a:cubicBezTo>
                      <a:pt x="197" y="244"/>
                      <a:pt x="198" y="247"/>
                      <a:pt x="198" y="249"/>
                    </a:cubicBezTo>
                    <a:cubicBezTo>
                      <a:pt x="198" y="250"/>
                      <a:pt x="196" y="254"/>
                      <a:pt x="195" y="257"/>
                    </a:cubicBezTo>
                    <a:cubicBezTo>
                      <a:pt x="194" y="260"/>
                      <a:pt x="194" y="262"/>
                      <a:pt x="195" y="261"/>
                    </a:cubicBezTo>
                    <a:cubicBezTo>
                      <a:pt x="196" y="260"/>
                      <a:pt x="197" y="262"/>
                      <a:pt x="197" y="264"/>
                    </a:cubicBezTo>
                    <a:cubicBezTo>
                      <a:pt x="196" y="266"/>
                      <a:pt x="195" y="269"/>
                      <a:pt x="194" y="271"/>
                    </a:cubicBezTo>
                    <a:cubicBezTo>
                      <a:pt x="194" y="273"/>
                      <a:pt x="192" y="275"/>
                      <a:pt x="191" y="276"/>
                    </a:cubicBezTo>
                    <a:cubicBezTo>
                      <a:pt x="190" y="277"/>
                      <a:pt x="189" y="279"/>
                      <a:pt x="188" y="280"/>
                    </a:cubicBezTo>
                    <a:cubicBezTo>
                      <a:pt x="187" y="281"/>
                      <a:pt x="185" y="284"/>
                      <a:pt x="183" y="286"/>
                    </a:cubicBezTo>
                    <a:cubicBezTo>
                      <a:pt x="182" y="289"/>
                      <a:pt x="182" y="289"/>
                      <a:pt x="184" y="288"/>
                    </a:cubicBezTo>
                    <a:cubicBezTo>
                      <a:pt x="186" y="286"/>
                      <a:pt x="188" y="284"/>
                      <a:pt x="190" y="282"/>
                    </a:cubicBezTo>
                    <a:cubicBezTo>
                      <a:pt x="192" y="280"/>
                      <a:pt x="194" y="277"/>
                      <a:pt x="195" y="276"/>
                    </a:cubicBezTo>
                    <a:cubicBezTo>
                      <a:pt x="197" y="274"/>
                      <a:pt x="199" y="270"/>
                      <a:pt x="200" y="267"/>
                    </a:cubicBezTo>
                    <a:cubicBezTo>
                      <a:pt x="201" y="263"/>
                      <a:pt x="203" y="257"/>
                      <a:pt x="204" y="252"/>
                    </a:cubicBezTo>
                    <a:cubicBezTo>
                      <a:pt x="205" y="248"/>
                      <a:pt x="207" y="243"/>
                      <a:pt x="208" y="241"/>
                    </a:cubicBezTo>
                    <a:cubicBezTo>
                      <a:pt x="209" y="239"/>
                      <a:pt x="211" y="236"/>
                      <a:pt x="213" y="235"/>
                    </a:cubicBezTo>
                    <a:cubicBezTo>
                      <a:pt x="214" y="234"/>
                      <a:pt x="216" y="232"/>
                      <a:pt x="218" y="230"/>
                    </a:cubicBezTo>
                    <a:cubicBezTo>
                      <a:pt x="220" y="228"/>
                      <a:pt x="222" y="225"/>
                      <a:pt x="223" y="224"/>
                    </a:cubicBezTo>
                    <a:cubicBezTo>
                      <a:pt x="224" y="223"/>
                      <a:pt x="227" y="221"/>
                      <a:pt x="230" y="219"/>
                    </a:cubicBezTo>
                    <a:cubicBezTo>
                      <a:pt x="232" y="217"/>
                      <a:pt x="237" y="214"/>
                      <a:pt x="240" y="212"/>
                    </a:cubicBezTo>
                    <a:cubicBezTo>
                      <a:pt x="243" y="210"/>
                      <a:pt x="247" y="206"/>
                      <a:pt x="250" y="204"/>
                    </a:cubicBezTo>
                    <a:cubicBezTo>
                      <a:pt x="253" y="202"/>
                      <a:pt x="257" y="198"/>
                      <a:pt x="259" y="196"/>
                    </a:cubicBezTo>
                    <a:cubicBezTo>
                      <a:pt x="261" y="193"/>
                      <a:pt x="264" y="190"/>
                      <a:pt x="266" y="188"/>
                    </a:cubicBezTo>
                    <a:cubicBezTo>
                      <a:pt x="268" y="186"/>
                      <a:pt x="271" y="181"/>
                      <a:pt x="274" y="178"/>
                    </a:cubicBezTo>
                    <a:cubicBezTo>
                      <a:pt x="276" y="174"/>
                      <a:pt x="280" y="167"/>
                      <a:pt x="283" y="164"/>
                    </a:cubicBezTo>
                    <a:cubicBezTo>
                      <a:pt x="286" y="160"/>
                      <a:pt x="290" y="152"/>
                      <a:pt x="292" y="147"/>
                    </a:cubicBezTo>
                    <a:cubicBezTo>
                      <a:pt x="294" y="142"/>
                      <a:pt x="297" y="134"/>
                      <a:pt x="299" y="130"/>
                    </a:cubicBezTo>
                    <a:cubicBezTo>
                      <a:pt x="301" y="126"/>
                      <a:pt x="304" y="119"/>
                      <a:pt x="306" y="116"/>
                    </a:cubicBezTo>
                    <a:cubicBezTo>
                      <a:pt x="307" y="113"/>
                      <a:pt x="311" y="109"/>
                      <a:pt x="313" y="106"/>
                    </a:cubicBezTo>
                    <a:cubicBezTo>
                      <a:pt x="315" y="104"/>
                      <a:pt x="316" y="102"/>
                      <a:pt x="316" y="102"/>
                    </a:cubicBezTo>
                    <a:cubicBezTo>
                      <a:pt x="316" y="102"/>
                      <a:pt x="315" y="101"/>
                      <a:pt x="314" y="100"/>
                    </a:cubicBezTo>
                    <a:cubicBezTo>
                      <a:pt x="312" y="99"/>
                      <a:pt x="310" y="97"/>
                      <a:pt x="308" y="9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407924" tIns="203962" rIns="407924" bIns="20396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246"/>
              </a:p>
            </p:txBody>
          </p:sp>
          <p:sp>
            <p:nvSpPr>
              <p:cNvPr id="1228" name="Freeform 32">
                <a:extLst>
                  <a:ext uri="{FF2B5EF4-FFF2-40B4-BE49-F238E27FC236}">
                    <a16:creationId xmlns:a16="http://schemas.microsoft.com/office/drawing/2014/main" id="{C7E16D25-4DB5-31D1-395E-588D2DAAF5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24347" y="4600337"/>
                <a:ext cx="379366" cy="249709"/>
              </a:xfrm>
              <a:custGeom>
                <a:avLst/>
                <a:gdLst/>
                <a:ahLst/>
                <a:cxnLst>
                  <a:cxn ang="0">
                    <a:pos x="145" y="15"/>
                  </a:cxn>
                  <a:cxn ang="0">
                    <a:pos x="135" y="5"/>
                  </a:cxn>
                  <a:cxn ang="0">
                    <a:pos x="129" y="0"/>
                  </a:cxn>
                  <a:cxn ang="0">
                    <a:pos x="120" y="6"/>
                  </a:cxn>
                  <a:cxn ang="0">
                    <a:pos x="113" y="22"/>
                  </a:cxn>
                  <a:cxn ang="0">
                    <a:pos x="107" y="35"/>
                  </a:cxn>
                  <a:cxn ang="0">
                    <a:pos x="98" y="43"/>
                  </a:cxn>
                  <a:cxn ang="0">
                    <a:pos x="81" y="49"/>
                  </a:cxn>
                  <a:cxn ang="0">
                    <a:pos x="71" y="52"/>
                  </a:cxn>
                  <a:cxn ang="0">
                    <a:pos x="51" y="51"/>
                  </a:cxn>
                  <a:cxn ang="0">
                    <a:pos x="33" y="55"/>
                  </a:cxn>
                  <a:cxn ang="0">
                    <a:pos x="10" y="61"/>
                  </a:cxn>
                  <a:cxn ang="0">
                    <a:pos x="6" y="69"/>
                  </a:cxn>
                  <a:cxn ang="0">
                    <a:pos x="17" y="75"/>
                  </a:cxn>
                  <a:cxn ang="0">
                    <a:pos x="28" y="79"/>
                  </a:cxn>
                  <a:cxn ang="0">
                    <a:pos x="14" y="86"/>
                  </a:cxn>
                  <a:cxn ang="0">
                    <a:pos x="1" y="96"/>
                  </a:cxn>
                  <a:cxn ang="0">
                    <a:pos x="4" y="110"/>
                  </a:cxn>
                  <a:cxn ang="0">
                    <a:pos x="10" y="108"/>
                  </a:cxn>
                  <a:cxn ang="0">
                    <a:pos x="6" y="103"/>
                  </a:cxn>
                  <a:cxn ang="0">
                    <a:pos x="13" y="97"/>
                  </a:cxn>
                  <a:cxn ang="0">
                    <a:pos x="20" y="94"/>
                  </a:cxn>
                  <a:cxn ang="0">
                    <a:pos x="28" y="98"/>
                  </a:cxn>
                  <a:cxn ang="0">
                    <a:pos x="40" y="92"/>
                  </a:cxn>
                  <a:cxn ang="0">
                    <a:pos x="43" y="97"/>
                  </a:cxn>
                  <a:cxn ang="0">
                    <a:pos x="36" y="98"/>
                  </a:cxn>
                  <a:cxn ang="0">
                    <a:pos x="47" y="99"/>
                  </a:cxn>
                  <a:cxn ang="0">
                    <a:pos x="56" y="98"/>
                  </a:cxn>
                  <a:cxn ang="0">
                    <a:pos x="72" y="97"/>
                  </a:cxn>
                  <a:cxn ang="0">
                    <a:pos x="92" y="97"/>
                  </a:cxn>
                  <a:cxn ang="0">
                    <a:pos x="106" y="97"/>
                  </a:cxn>
                  <a:cxn ang="0">
                    <a:pos x="117" y="98"/>
                  </a:cxn>
                  <a:cxn ang="0">
                    <a:pos x="119" y="88"/>
                  </a:cxn>
                  <a:cxn ang="0">
                    <a:pos x="121" y="77"/>
                  </a:cxn>
                  <a:cxn ang="0">
                    <a:pos x="137" y="68"/>
                  </a:cxn>
                  <a:cxn ang="0">
                    <a:pos x="151" y="64"/>
                  </a:cxn>
                  <a:cxn ang="0">
                    <a:pos x="162" y="57"/>
                  </a:cxn>
                  <a:cxn ang="0">
                    <a:pos x="162" y="45"/>
                  </a:cxn>
                  <a:cxn ang="0">
                    <a:pos x="163" y="32"/>
                  </a:cxn>
                  <a:cxn ang="0">
                    <a:pos x="167" y="22"/>
                  </a:cxn>
                  <a:cxn ang="0">
                    <a:pos x="155" y="18"/>
                  </a:cxn>
                </a:cxnLst>
                <a:rect l="0" t="0" r="r" b="b"/>
                <a:pathLst>
                  <a:path w="167" h="110">
                    <a:moveTo>
                      <a:pt x="155" y="18"/>
                    </a:moveTo>
                    <a:cubicBezTo>
                      <a:pt x="152" y="18"/>
                      <a:pt x="147" y="16"/>
                      <a:pt x="145" y="15"/>
                    </a:cubicBezTo>
                    <a:cubicBezTo>
                      <a:pt x="142" y="14"/>
                      <a:pt x="139" y="12"/>
                      <a:pt x="137" y="11"/>
                    </a:cubicBezTo>
                    <a:cubicBezTo>
                      <a:pt x="136" y="10"/>
                      <a:pt x="135" y="7"/>
                      <a:pt x="135" y="5"/>
                    </a:cubicBezTo>
                    <a:cubicBezTo>
                      <a:pt x="134" y="4"/>
                      <a:pt x="133" y="1"/>
                      <a:pt x="132" y="1"/>
                    </a:cubicBezTo>
                    <a:cubicBezTo>
                      <a:pt x="130" y="0"/>
                      <a:pt x="129" y="0"/>
                      <a:pt x="129" y="0"/>
                    </a:cubicBezTo>
                    <a:cubicBezTo>
                      <a:pt x="129" y="0"/>
                      <a:pt x="127" y="0"/>
                      <a:pt x="125" y="1"/>
                    </a:cubicBezTo>
                    <a:cubicBezTo>
                      <a:pt x="122" y="2"/>
                      <a:pt x="120" y="4"/>
                      <a:pt x="120" y="6"/>
                    </a:cubicBezTo>
                    <a:cubicBezTo>
                      <a:pt x="119" y="8"/>
                      <a:pt x="118" y="12"/>
                      <a:pt x="117" y="14"/>
                    </a:cubicBezTo>
                    <a:cubicBezTo>
                      <a:pt x="116" y="16"/>
                      <a:pt x="114" y="20"/>
                      <a:pt x="113" y="22"/>
                    </a:cubicBezTo>
                    <a:cubicBezTo>
                      <a:pt x="112" y="23"/>
                      <a:pt x="110" y="27"/>
                      <a:pt x="109" y="28"/>
                    </a:cubicBezTo>
                    <a:cubicBezTo>
                      <a:pt x="108" y="30"/>
                      <a:pt x="107" y="33"/>
                      <a:pt x="107" y="35"/>
                    </a:cubicBezTo>
                    <a:cubicBezTo>
                      <a:pt x="107" y="37"/>
                      <a:pt x="104" y="40"/>
                      <a:pt x="100" y="42"/>
                    </a:cubicBezTo>
                    <a:cubicBezTo>
                      <a:pt x="100" y="42"/>
                      <a:pt x="100" y="42"/>
                      <a:pt x="98" y="43"/>
                    </a:cubicBezTo>
                    <a:cubicBezTo>
                      <a:pt x="95" y="43"/>
                      <a:pt x="95" y="43"/>
                      <a:pt x="95" y="43"/>
                    </a:cubicBezTo>
                    <a:cubicBezTo>
                      <a:pt x="90" y="45"/>
                      <a:pt x="83" y="47"/>
                      <a:pt x="81" y="49"/>
                    </a:cubicBezTo>
                    <a:cubicBezTo>
                      <a:pt x="78" y="50"/>
                      <a:pt x="76" y="52"/>
                      <a:pt x="76" y="53"/>
                    </a:cubicBezTo>
                    <a:cubicBezTo>
                      <a:pt x="76" y="53"/>
                      <a:pt x="73" y="53"/>
                      <a:pt x="71" y="52"/>
                    </a:cubicBezTo>
                    <a:cubicBezTo>
                      <a:pt x="68" y="50"/>
                      <a:pt x="64" y="50"/>
                      <a:pt x="62" y="51"/>
                    </a:cubicBezTo>
                    <a:cubicBezTo>
                      <a:pt x="59" y="51"/>
                      <a:pt x="54" y="52"/>
                      <a:pt x="51" y="51"/>
                    </a:cubicBezTo>
                    <a:cubicBezTo>
                      <a:pt x="48" y="51"/>
                      <a:pt x="43" y="51"/>
                      <a:pt x="41" y="52"/>
                    </a:cubicBezTo>
                    <a:cubicBezTo>
                      <a:pt x="38" y="53"/>
                      <a:pt x="35" y="54"/>
                      <a:pt x="33" y="55"/>
                    </a:cubicBezTo>
                    <a:cubicBezTo>
                      <a:pt x="32" y="56"/>
                      <a:pt x="27" y="57"/>
                      <a:pt x="24" y="57"/>
                    </a:cubicBezTo>
                    <a:cubicBezTo>
                      <a:pt x="20" y="58"/>
                      <a:pt x="14" y="59"/>
                      <a:pt x="10" y="61"/>
                    </a:cubicBezTo>
                    <a:cubicBezTo>
                      <a:pt x="7" y="63"/>
                      <a:pt x="3" y="64"/>
                      <a:pt x="3" y="64"/>
                    </a:cubicBezTo>
                    <a:cubicBezTo>
                      <a:pt x="3" y="64"/>
                      <a:pt x="4" y="66"/>
                      <a:pt x="6" y="69"/>
                    </a:cubicBezTo>
                    <a:cubicBezTo>
                      <a:pt x="7" y="71"/>
                      <a:pt x="11" y="74"/>
                      <a:pt x="15" y="75"/>
                    </a:cubicBezTo>
                    <a:cubicBezTo>
                      <a:pt x="15" y="75"/>
                      <a:pt x="15" y="75"/>
                      <a:pt x="17" y="75"/>
                    </a:cubicBezTo>
                    <a:cubicBezTo>
                      <a:pt x="20" y="75"/>
                      <a:pt x="20" y="75"/>
                      <a:pt x="20" y="75"/>
                    </a:cubicBezTo>
                    <a:cubicBezTo>
                      <a:pt x="24" y="75"/>
                      <a:pt x="28" y="76"/>
                      <a:pt x="28" y="79"/>
                    </a:cubicBezTo>
                    <a:cubicBezTo>
                      <a:pt x="28" y="81"/>
                      <a:pt x="26" y="83"/>
                      <a:pt x="23" y="84"/>
                    </a:cubicBezTo>
                    <a:cubicBezTo>
                      <a:pt x="21" y="85"/>
                      <a:pt x="17" y="86"/>
                      <a:pt x="14" y="86"/>
                    </a:cubicBezTo>
                    <a:cubicBezTo>
                      <a:pt x="11" y="86"/>
                      <a:pt x="7" y="88"/>
                      <a:pt x="5" y="89"/>
                    </a:cubicBezTo>
                    <a:cubicBezTo>
                      <a:pt x="3" y="91"/>
                      <a:pt x="1" y="94"/>
                      <a:pt x="1" y="96"/>
                    </a:cubicBezTo>
                    <a:cubicBezTo>
                      <a:pt x="0" y="98"/>
                      <a:pt x="1" y="102"/>
                      <a:pt x="2" y="105"/>
                    </a:cubicBezTo>
                    <a:cubicBezTo>
                      <a:pt x="3" y="108"/>
                      <a:pt x="4" y="110"/>
                      <a:pt x="4" y="110"/>
                    </a:cubicBezTo>
                    <a:cubicBezTo>
                      <a:pt x="4" y="110"/>
                      <a:pt x="5" y="110"/>
                      <a:pt x="6" y="110"/>
                    </a:cubicBezTo>
                    <a:cubicBezTo>
                      <a:pt x="8" y="110"/>
                      <a:pt x="9" y="109"/>
                      <a:pt x="10" y="108"/>
                    </a:cubicBezTo>
                    <a:cubicBezTo>
                      <a:pt x="11" y="107"/>
                      <a:pt x="11" y="106"/>
                      <a:pt x="9" y="105"/>
                    </a:cubicBezTo>
                    <a:cubicBezTo>
                      <a:pt x="8" y="105"/>
                      <a:pt x="6" y="104"/>
                      <a:pt x="6" y="103"/>
                    </a:cubicBezTo>
                    <a:cubicBezTo>
                      <a:pt x="6" y="102"/>
                      <a:pt x="7" y="100"/>
                      <a:pt x="8" y="99"/>
                    </a:cubicBezTo>
                    <a:cubicBezTo>
                      <a:pt x="10" y="98"/>
                      <a:pt x="12" y="97"/>
                      <a:pt x="13" y="97"/>
                    </a:cubicBezTo>
                    <a:cubicBezTo>
                      <a:pt x="15" y="97"/>
                      <a:pt x="16" y="96"/>
                      <a:pt x="17" y="95"/>
                    </a:cubicBezTo>
                    <a:cubicBezTo>
                      <a:pt x="17" y="93"/>
                      <a:pt x="18" y="93"/>
                      <a:pt x="20" y="94"/>
                    </a:cubicBezTo>
                    <a:cubicBezTo>
                      <a:pt x="21" y="95"/>
                      <a:pt x="23" y="96"/>
                      <a:pt x="24" y="97"/>
                    </a:cubicBezTo>
                    <a:cubicBezTo>
                      <a:pt x="25" y="98"/>
                      <a:pt x="27" y="98"/>
                      <a:pt x="28" y="98"/>
                    </a:cubicBezTo>
                    <a:cubicBezTo>
                      <a:pt x="29" y="98"/>
                      <a:pt x="32" y="97"/>
                      <a:pt x="34" y="95"/>
                    </a:cubicBezTo>
                    <a:cubicBezTo>
                      <a:pt x="35" y="94"/>
                      <a:pt x="38" y="93"/>
                      <a:pt x="40" y="92"/>
                    </a:cubicBezTo>
                    <a:cubicBezTo>
                      <a:pt x="42" y="92"/>
                      <a:pt x="44" y="93"/>
                      <a:pt x="45" y="94"/>
                    </a:cubicBezTo>
                    <a:cubicBezTo>
                      <a:pt x="46" y="95"/>
                      <a:pt x="45" y="97"/>
                      <a:pt x="43" y="97"/>
                    </a:cubicBezTo>
                    <a:cubicBezTo>
                      <a:pt x="41" y="97"/>
                      <a:pt x="39" y="97"/>
                      <a:pt x="38" y="97"/>
                    </a:cubicBezTo>
                    <a:cubicBezTo>
                      <a:pt x="38" y="97"/>
                      <a:pt x="37" y="97"/>
                      <a:pt x="36" y="98"/>
                    </a:cubicBezTo>
                    <a:cubicBezTo>
                      <a:pt x="35" y="99"/>
                      <a:pt x="36" y="100"/>
                      <a:pt x="39" y="100"/>
                    </a:cubicBezTo>
                    <a:cubicBezTo>
                      <a:pt x="41" y="100"/>
                      <a:pt x="44" y="100"/>
                      <a:pt x="47" y="99"/>
                    </a:cubicBezTo>
                    <a:cubicBezTo>
                      <a:pt x="49" y="99"/>
                      <a:pt x="51" y="98"/>
                      <a:pt x="52" y="99"/>
                    </a:cubicBezTo>
                    <a:cubicBezTo>
                      <a:pt x="53" y="99"/>
                      <a:pt x="55" y="98"/>
                      <a:pt x="56" y="98"/>
                    </a:cubicBezTo>
                    <a:cubicBezTo>
                      <a:pt x="58" y="97"/>
                      <a:pt x="60" y="96"/>
                      <a:pt x="63" y="96"/>
                    </a:cubicBezTo>
                    <a:cubicBezTo>
                      <a:pt x="65" y="96"/>
                      <a:pt x="69" y="97"/>
                      <a:pt x="72" y="97"/>
                    </a:cubicBezTo>
                    <a:cubicBezTo>
                      <a:pt x="75" y="97"/>
                      <a:pt x="80" y="97"/>
                      <a:pt x="83" y="97"/>
                    </a:cubicBezTo>
                    <a:cubicBezTo>
                      <a:pt x="86" y="97"/>
                      <a:pt x="90" y="97"/>
                      <a:pt x="92" y="97"/>
                    </a:cubicBezTo>
                    <a:cubicBezTo>
                      <a:pt x="95" y="96"/>
                      <a:pt x="98" y="96"/>
                      <a:pt x="100" y="96"/>
                    </a:cubicBezTo>
                    <a:cubicBezTo>
                      <a:pt x="101" y="96"/>
                      <a:pt x="104" y="97"/>
                      <a:pt x="106" y="97"/>
                    </a:cubicBezTo>
                    <a:cubicBezTo>
                      <a:pt x="108" y="97"/>
                      <a:pt x="111" y="98"/>
                      <a:pt x="113" y="99"/>
                    </a:cubicBezTo>
                    <a:cubicBezTo>
                      <a:pt x="115" y="99"/>
                      <a:pt x="117" y="99"/>
                      <a:pt x="117" y="98"/>
                    </a:cubicBezTo>
                    <a:cubicBezTo>
                      <a:pt x="117" y="97"/>
                      <a:pt x="117" y="95"/>
                      <a:pt x="118" y="93"/>
                    </a:cubicBezTo>
                    <a:cubicBezTo>
                      <a:pt x="119" y="92"/>
                      <a:pt x="120" y="89"/>
                      <a:pt x="119" y="88"/>
                    </a:cubicBezTo>
                    <a:cubicBezTo>
                      <a:pt x="118" y="87"/>
                      <a:pt x="118" y="84"/>
                      <a:pt x="118" y="82"/>
                    </a:cubicBezTo>
                    <a:cubicBezTo>
                      <a:pt x="118" y="80"/>
                      <a:pt x="120" y="78"/>
                      <a:pt x="121" y="77"/>
                    </a:cubicBezTo>
                    <a:cubicBezTo>
                      <a:pt x="123" y="76"/>
                      <a:pt x="126" y="74"/>
                      <a:pt x="129" y="72"/>
                    </a:cubicBezTo>
                    <a:cubicBezTo>
                      <a:pt x="131" y="71"/>
                      <a:pt x="135" y="69"/>
                      <a:pt x="137" y="68"/>
                    </a:cubicBezTo>
                    <a:cubicBezTo>
                      <a:pt x="139" y="67"/>
                      <a:pt x="142" y="66"/>
                      <a:pt x="145" y="66"/>
                    </a:cubicBezTo>
                    <a:cubicBezTo>
                      <a:pt x="147" y="65"/>
                      <a:pt x="150" y="64"/>
                      <a:pt x="151" y="64"/>
                    </a:cubicBezTo>
                    <a:cubicBezTo>
                      <a:pt x="152" y="63"/>
                      <a:pt x="155" y="62"/>
                      <a:pt x="157" y="61"/>
                    </a:cubicBezTo>
                    <a:cubicBezTo>
                      <a:pt x="160" y="60"/>
                      <a:pt x="162" y="58"/>
                      <a:pt x="162" y="57"/>
                    </a:cubicBezTo>
                    <a:cubicBezTo>
                      <a:pt x="163" y="56"/>
                      <a:pt x="163" y="54"/>
                      <a:pt x="163" y="53"/>
                    </a:cubicBezTo>
                    <a:cubicBezTo>
                      <a:pt x="162" y="51"/>
                      <a:pt x="162" y="48"/>
                      <a:pt x="162" y="45"/>
                    </a:cubicBezTo>
                    <a:cubicBezTo>
                      <a:pt x="162" y="42"/>
                      <a:pt x="162" y="39"/>
                      <a:pt x="161" y="38"/>
                    </a:cubicBezTo>
                    <a:cubicBezTo>
                      <a:pt x="160" y="36"/>
                      <a:pt x="161" y="33"/>
                      <a:pt x="163" y="32"/>
                    </a:cubicBezTo>
                    <a:cubicBezTo>
                      <a:pt x="165" y="30"/>
                      <a:pt x="167" y="27"/>
                      <a:pt x="167" y="25"/>
                    </a:cubicBezTo>
                    <a:cubicBezTo>
                      <a:pt x="167" y="23"/>
                      <a:pt x="167" y="22"/>
                      <a:pt x="167" y="22"/>
                    </a:cubicBezTo>
                    <a:cubicBezTo>
                      <a:pt x="167" y="22"/>
                      <a:pt x="166" y="21"/>
                      <a:pt x="164" y="20"/>
                    </a:cubicBezTo>
                    <a:cubicBezTo>
                      <a:pt x="162" y="19"/>
                      <a:pt x="159" y="18"/>
                      <a:pt x="155" y="18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407924" tIns="203962" rIns="407924" bIns="20396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246"/>
              </a:p>
            </p:txBody>
          </p:sp>
          <p:sp>
            <p:nvSpPr>
              <p:cNvPr id="1229" name="Freeform 33">
                <a:extLst>
                  <a:ext uri="{FF2B5EF4-FFF2-40B4-BE49-F238E27FC236}">
                    <a16:creationId xmlns:a16="http://schemas.microsoft.com/office/drawing/2014/main" id="{DE847105-3F3D-8603-98F6-A0F38CDB64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80503" y="2425819"/>
                <a:ext cx="21129" cy="29774"/>
              </a:xfrm>
              <a:custGeom>
                <a:avLst/>
                <a:gdLst/>
                <a:ahLst/>
                <a:cxnLst>
                  <a:cxn ang="0">
                    <a:pos x="1" y="6"/>
                  </a:cxn>
                  <a:cxn ang="0">
                    <a:pos x="1" y="9"/>
                  </a:cxn>
                  <a:cxn ang="0">
                    <a:pos x="3" y="12"/>
                  </a:cxn>
                  <a:cxn ang="0">
                    <a:pos x="7" y="12"/>
                  </a:cxn>
                  <a:cxn ang="0">
                    <a:pos x="9" y="9"/>
                  </a:cxn>
                  <a:cxn ang="0">
                    <a:pos x="6" y="5"/>
                  </a:cxn>
                  <a:cxn ang="0">
                    <a:pos x="4" y="1"/>
                  </a:cxn>
                  <a:cxn ang="0">
                    <a:pos x="1" y="1"/>
                  </a:cxn>
                  <a:cxn ang="0">
                    <a:pos x="0" y="3"/>
                  </a:cxn>
                  <a:cxn ang="0">
                    <a:pos x="1" y="6"/>
                  </a:cxn>
                </a:cxnLst>
                <a:rect l="0" t="0" r="r" b="b"/>
                <a:pathLst>
                  <a:path w="9" h="13">
                    <a:moveTo>
                      <a:pt x="1" y="6"/>
                    </a:moveTo>
                    <a:cubicBezTo>
                      <a:pt x="1" y="6"/>
                      <a:pt x="0" y="8"/>
                      <a:pt x="1" y="9"/>
                    </a:cubicBezTo>
                    <a:cubicBezTo>
                      <a:pt x="1" y="10"/>
                      <a:pt x="2" y="11"/>
                      <a:pt x="3" y="12"/>
                    </a:cubicBezTo>
                    <a:cubicBezTo>
                      <a:pt x="4" y="13"/>
                      <a:pt x="6" y="13"/>
                      <a:pt x="7" y="12"/>
                    </a:cubicBezTo>
                    <a:cubicBezTo>
                      <a:pt x="8" y="11"/>
                      <a:pt x="9" y="10"/>
                      <a:pt x="9" y="9"/>
                    </a:cubicBezTo>
                    <a:cubicBezTo>
                      <a:pt x="8" y="8"/>
                      <a:pt x="7" y="6"/>
                      <a:pt x="6" y="5"/>
                    </a:cubicBezTo>
                    <a:cubicBezTo>
                      <a:pt x="5" y="4"/>
                      <a:pt x="4" y="2"/>
                      <a:pt x="4" y="1"/>
                    </a:cubicBezTo>
                    <a:cubicBezTo>
                      <a:pt x="3" y="0"/>
                      <a:pt x="2" y="0"/>
                      <a:pt x="1" y="1"/>
                    </a:cubicBezTo>
                    <a:cubicBezTo>
                      <a:pt x="0" y="1"/>
                      <a:pt x="0" y="3"/>
                      <a:pt x="0" y="3"/>
                    </a:cubicBezTo>
                    <a:cubicBezTo>
                      <a:pt x="1" y="4"/>
                      <a:pt x="1" y="5"/>
                      <a:pt x="1" y="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407924" tIns="203962" rIns="407924" bIns="20396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246"/>
              </a:p>
            </p:txBody>
          </p:sp>
          <p:sp>
            <p:nvSpPr>
              <p:cNvPr id="1230" name="Freeform 34">
                <a:extLst>
                  <a:ext uri="{FF2B5EF4-FFF2-40B4-BE49-F238E27FC236}">
                    <a16:creationId xmlns:a16="http://schemas.microsoft.com/office/drawing/2014/main" id="{0A3A8602-60E1-CAE0-89D1-0B542D7E25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41638" y="2677141"/>
                <a:ext cx="79716" cy="90279"/>
              </a:xfrm>
              <a:custGeom>
                <a:avLst/>
                <a:gdLst/>
                <a:ahLst/>
                <a:cxnLst>
                  <a:cxn ang="0">
                    <a:pos x="32" y="0"/>
                  </a:cxn>
                  <a:cxn ang="0">
                    <a:pos x="26" y="2"/>
                  </a:cxn>
                  <a:cxn ang="0">
                    <a:pos x="20" y="6"/>
                  </a:cxn>
                  <a:cxn ang="0">
                    <a:pos x="16" y="11"/>
                  </a:cxn>
                  <a:cxn ang="0">
                    <a:pos x="14" y="18"/>
                  </a:cxn>
                  <a:cxn ang="0">
                    <a:pos x="11" y="24"/>
                  </a:cxn>
                  <a:cxn ang="0">
                    <a:pos x="8" y="27"/>
                  </a:cxn>
                  <a:cxn ang="0">
                    <a:pos x="4" y="30"/>
                  </a:cxn>
                  <a:cxn ang="0">
                    <a:pos x="2" y="34"/>
                  </a:cxn>
                  <a:cxn ang="0">
                    <a:pos x="1" y="38"/>
                  </a:cxn>
                  <a:cxn ang="0">
                    <a:pos x="2" y="40"/>
                  </a:cxn>
                  <a:cxn ang="0">
                    <a:pos x="10" y="38"/>
                  </a:cxn>
                  <a:cxn ang="0">
                    <a:pos x="20" y="33"/>
                  </a:cxn>
                  <a:cxn ang="0">
                    <a:pos x="27" y="26"/>
                  </a:cxn>
                  <a:cxn ang="0">
                    <a:pos x="31" y="18"/>
                  </a:cxn>
                  <a:cxn ang="0">
                    <a:pos x="34" y="11"/>
                  </a:cxn>
                  <a:cxn ang="0">
                    <a:pos x="35" y="4"/>
                  </a:cxn>
                  <a:cxn ang="0">
                    <a:pos x="32" y="0"/>
                  </a:cxn>
                </a:cxnLst>
                <a:rect l="0" t="0" r="r" b="b"/>
                <a:pathLst>
                  <a:path w="35" h="40">
                    <a:moveTo>
                      <a:pt x="32" y="0"/>
                    </a:moveTo>
                    <a:cubicBezTo>
                      <a:pt x="30" y="0"/>
                      <a:pt x="27" y="1"/>
                      <a:pt x="26" y="2"/>
                    </a:cubicBezTo>
                    <a:cubicBezTo>
                      <a:pt x="24" y="2"/>
                      <a:pt x="21" y="4"/>
                      <a:pt x="20" y="6"/>
                    </a:cubicBezTo>
                    <a:cubicBezTo>
                      <a:pt x="19" y="7"/>
                      <a:pt x="17" y="10"/>
                      <a:pt x="16" y="11"/>
                    </a:cubicBezTo>
                    <a:cubicBezTo>
                      <a:pt x="15" y="13"/>
                      <a:pt x="14" y="16"/>
                      <a:pt x="14" y="18"/>
                    </a:cubicBezTo>
                    <a:cubicBezTo>
                      <a:pt x="13" y="20"/>
                      <a:pt x="12" y="23"/>
                      <a:pt x="11" y="24"/>
                    </a:cubicBezTo>
                    <a:cubicBezTo>
                      <a:pt x="10" y="25"/>
                      <a:pt x="9" y="27"/>
                      <a:pt x="8" y="27"/>
                    </a:cubicBezTo>
                    <a:cubicBezTo>
                      <a:pt x="7" y="27"/>
                      <a:pt x="5" y="29"/>
                      <a:pt x="4" y="30"/>
                    </a:cubicBezTo>
                    <a:cubicBezTo>
                      <a:pt x="3" y="31"/>
                      <a:pt x="2" y="33"/>
                      <a:pt x="2" y="34"/>
                    </a:cubicBezTo>
                    <a:cubicBezTo>
                      <a:pt x="2" y="35"/>
                      <a:pt x="1" y="37"/>
                      <a:pt x="1" y="38"/>
                    </a:cubicBezTo>
                    <a:cubicBezTo>
                      <a:pt x="0" y="39"/>
                      <a:pt x="1" y="40"/>
                      <a:pt x="2" y="40"/>
                    </a:cubicBezTo>
                    <a:cubicBezTo>
                      <a:pt x="3" y="40"/>
                      <a:pt x="6" y="39"/>
                      <a:pt x="10" y="38"/>
                    </a:cubicBezTo>
                    <a:cubicBezTo>
                      <a:pt x="13" y="37"/>
                      <a:pt x="18" y="34"/>
                      <a:pt x="20" y="33"/>
                    </a:cubicBezTo>
                    <a:cubicBezTo>
                      <a:pt x="22" y="31"/>
                      <a:pt x="26" y="28"/>
                      <a:pt x="27" y="26"/>
                    </a:cubicBezTo>
                    <a:cubicBezTo>
                      <a:pt x="28" y="24"/>
                      <a:pt x="30" y="20"/>
                      <a:pt x="31" y="18"/>
                    </a:cubicBezTo>
                    <a:cubicBezTo>
                      <a:pt x="32" y="16"/>
                      <a:pt x="33" y="13"/>
                      <a:pt x="34" y="11"/>
                    </a:cubicBezTo>
                    <a:cubicBezTo>
                      <a:pt x="35" y="10"/>
                      <a:pt x="35" y="6"/>
                      <a:pt x="35" y="4"/>
                    </a:cubicBezTo>
                    <a:cubicBezTo>
                      <a:pt x="35" y="2"/>
                      <a:pt x="33" y="0"/>
                      <a:pt x="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407924" tIns="203962" rIns="407924" bIns="20396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246"/>
              </a:p>
            </p:txBody>
          </p:sp>
          <p:sp>
            <p:nvSpPr>
              <p:cNvPr id="1231" name="Freeform 35">
                <a:extLst>
                  <a:ext uri="{FF2B5EF4-FFF2-40B4-BE49-F238E27FC236}">
                    <a16:creationId xmlns:a16="http://schemas.microsoft.com/office/drawing/2014/main" id="{CE654120-B6F2-A113-31DD-8A7983CE25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8121" y="2685698"/>
                <a:ext cx="29774" cy="36497"/>
              </a:xfrm>
              <a:custGeom>
                <a:avLst/>
                <a:gdLst/>
                <a:ahLst/>
                <a:cxnLst>
                  <a:cxn ang="0">
                    <a:pos x="2" y="16"/>
                  </a:cxn>
                  <a:cxn ang="0">
                    <a:pos x="6" y="12"/>
                  </a:cxn>
                  <a:cxn ang="0">
                    <a:pos x="11" y="6"/>
                  </a:cxn>
                  <a:cxn ang="0">
                    <a:pos x="13" y="2"/>
                  </a:cxn>
                  <a:cxn ang="0">
                    <a:pos x="10" y="0"/>
                  </a:cxn>
                  <a:cxn ang="0">
                    <a:pos x="5" y="4"/>
                  </a:cxn>
                  <a:cxn ang="0">
                    <a:pos x="2" y="8"/>
                  </a:cxn>
                  <a:cxn ang="0">
                    <a:pos x="1" y="12"/>
                  </a:cxn>
                  <a:cxn ang="0">
                    <a:pos x="0" y="15"/>
                  </a:cxn>
                  <a:cxn ang="0">
                    <a:pos x="2" y="16"/>
                  </a:cxn>
                </a:cxnLst>
                <a:rect l="0" t="0" r="r" b="b"/>
                <a:pathLst>
                  <a:path w="13" h="16">
                    <a:moveTo>
                      <a:pt x="2" y="16"/>
                    </a:moveTo>
                    <a:cubicBezTo>
                      <a:pt x="2" y="15"/>
                      <a:pt x="4" y="14"/>
                      <a:pt x="6" y="12"/>
                    </a:cubicBezTo>
                    <a:cubicBezTo>
                      <a:pt x="8" y="10"/>
                      <a:pt x="10" y="7"/>
                      <a:pt x="11" y="6"/>
                    </a:cubicBezTo>
                    <a:cubicBezTo>
                      <a:pt x="13" y="5"/>
                      <a:pt x="13" y="3"/>
                      <a:pt x="13" y="2"/>
                    </a:cubicBezTo>
                    <a:cubicBezTo>
                      <a:pt x="13" y="0"/>
                      <a:pt x="11" y="0"/>
                      <a:pt x="10" y="0"/>
                    </a:cubicBezTo>
                    <a:cubicBezTo>
                      <a:pt x="8" y="1"/>
                      <a:pt x="6" y="2"/>
                      <a:pt x="5" y="4"/>
                    </a:cubicBezTo>
                    <a:cubicBezTo>
                      <a:pt x="4" y="5"/>
                      <a:pt x="3" y="7"/>
                      <a:pt x="2" y="8"/>
                    </a:cubicBezTo>
                    <a:cubicBezTo>
                      <a:pt x="1" y="9"/>
                      <a:pt x="1" y="11"/>
                      <a:pt x="1" y="12"/>
                    </a:cubicBezTo>
                    <a:cubicBezTo>
                      <a:pt x="0" y="13"/>
                      <a:pt x="0" y="14"/>
                      <a:pt x="0" y="15"/>
                    </a:cubicBezTo>
                    <a:cubicBezTo>
                      <a:pt x="0" y="16"/>
                      <a:pt x="1" y="16"/>
                      <a:pt x="2" y="1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407924" tIns="203962" rIns="407924" bIns="20396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246"/>
              </a:p>
            </p:txBody>
          </p:sp>
          <p:sp>
            <p:nvSpPr>
              <p:cNvPr id="1232" name="Freeform 36">
                <a:extLst>
                  <a:ext uri="{FF2B5EF4-FFF2-40B4-BE49-F238E27FC236}">
                    <a16:creationId xmlns:a16="http://schemas.microsoft.com/office/drawing/2014/main" id="{34E10A9D-C27B-D79A-D24F-C067C325A6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30739" y="2632091"/>
                <a:ext cx="40337" cy="24971"/>
              </a:xfrm>
              <a:custGeom>
                <a:avLst/>
                <a:gdLst/>
                <a:ahLst/>
                <a:cxnLst>
                  <a:cxn ang="0">
                    <a:pos x="15" y="7"/>
                  </a:cxn>
                  <a:cxn ang="0">
                    <a:pos x="18" y="3"/>
                  </a:cxn>
                  <a:cxn ang="0">
                    <a:pos x="15" y="0"/>
                  </a:cxn>
                  <a:cxn ang="0">
                    <a:pos x="10" y="1"/>
                  </a:cxn>
                  <a:cxn ang="0">
                    <a:pos x="4" y="3"/>
                  </a:cxn>
                  <a:cxn ang="0">
                    <a:pos x="1" y="6"/>
                  </a:cxn>
                  <a:cxn ang="0">
                    <a:pos x="1" y="10"/>
                  </a:cxn>
                  <a:cxn ang="0">
                    <a:pos x="5" y="11"/>
                  </a:cxn>
                  <a:cxn ang="0">
                    <a:pos x="10" y="10"/>
                  </a:cxn>
                  <a:cxn ang="0">
                    <a:pos x="15" y="7"/>
                  </a:cxn>
                </a:cxnLst>
                <a:rect l="0" t="0" r="r" b="b"/>
                <a:pathLst>
                  <a:path w="18" h="11">
                    <a:moveTo>
                      <a:pt x="15" y="7"/>
                    </a:moveTo>
                    <a:cubicBezTo>
                      <a:pt x="17" y="6"/>
                      <a:pt x="18" y="4"/>
                      <a:pt x="18" y="3"/>
                    </a:cubicBezTo>
                    <a:cubicBezTo>
                      <a:pt x="18" y="1"/>
                      <a:pt x="17" y="0"/>
                      <a:pt x="15" y="0"/>
                    </a:cubicBezTo>
                    <a:cubicBezTo>
                      <a:pt x="13" y="0"/>
                      <a:pt x="11" y="1"/>
                      <a:pt x="10" y="1"/>
                    </a:cubicBezTo>
                    <a:cubicBezTo>
                      <a:pt x="9" y="2"/>
                      <a:pt x="6" y="3"/>
                      <a:pt x="4" y="3"/>
                    </a:cubicBezTo>
                    <a:cubicBezTo>
                      <a:pt x="2" y="3"/>
                      <a:pt x="1" y="4"/>
                      <a:pt x="1" y="6"/>
                    </a:cubicBezTo>
                    <a:cubicBezTo>
                      <a:pt x="0" y="7"/>
                      <a:pt x="1" y="9"/>
                      <a:pt x="1" y="10"/>
                    </a:cubicBezTo>
                    <a:cubicBezTo>
                      <a:pt x="1" y="11"/>
                      <a:pt x="3" y="11"/>
                      <a:pt x="5" y="11"/>
                    </a:cubicBezTo>
                    <a:cubicBezTo>
                      <a:pt x="6" y="11"/>
                      <a:pt x="9" y="11"/>
                      <a:pt x="10" y="10"/>
                    </a:cubicBezTo>
                    <a:cubicBezTo>
                      <a:pt x="11" y="9"/>
                      <a:pt x="14" y="8"/>
                      <a:pt x="15" y="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407924" tIns="203962" rIns="407924" bIns="20396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246"/>
              </a:p>
            </p:txBody>
          </p:sp>
          <p:sp>
            <p:nvSpPr>
              <p:cNvPr id="1233" name="Freeform 37">
                <a:extLst>
                  <a:ext uri="{FF2B5EF4-FFF2-40B4-BE49-F238E27FC236}">
                    <a16:creationId xmlns:a16="http://schemas.microsoft.com/office/drawing/2014/main" id="{4D52A0D9-EBB3-DFB0-07C6-B50C2F5B59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80635" y="2578305"/>
                <a:ext cx="18248" cy="36497"/>
              </a:xfrm>
              <a:custGeom>
                <a:avLst/>
                <a:gdLst/>
                <a:ahLst/>
                <a:cxnLst>
                  <a:cxn ang="0">
                    <a:pos x="7" y="9"/>
                  </a:cxn>
                  <a:cxn ang="0">
                    <a:pos x="7" y="4"/>
                  </a:cxn>
                  <a:cxn ang="0">
                    <a:pos x="5" y="0"/>
                  </a:cxn>
                  <a:cxn ang="0">
                    <a:pos x="3" y="3"/>
                  </a:cxn>
                  <a:cxn ang="0">
                    <a:pos x="1" y="10"/>
                  </a:cxn>
                  <a:cxn ang="0">
                    <a:pos x="0" y="14"/>
                  </a:cxn>
                  <a:cxn ang="0">
                    <a:pos x="2" y="15"/>
                  </a:cxn>
                  <a:cxn ang="0">
                    <a:pos x="6" y="13"/>
                  </a:cxn>
                  <a:cxn ang="0">
                    <a:pos x="7" y="9"/>
                  </a:cxn>
                </a:cxnLst>
                <a:rect l="0" t="0" r="r" b="b"/>
                <a:pathLst>
                  <a:path w="8" h="16">
                    <a:moveTo>
                      <a:pt x="7" y="9"/>
                    </a:moveTo>
                    <a:cubicBezTo>
                      <a:pt x="7" y="8"/>
                      <a:pt x="6" y="5"/>
                      <a:pt x="7" y="4"/>
                    </a:cubicBezTo>
                    <a:cubicBezTo>
                      <a:pt x="7" y="2"/>
                      <a:pt x="6" y="0"/>
                      <a:pt x="5" y="0"/>
                    </a:cubicBezTo>
                    <a:cubicBezTo>
                      <a:pt x="4" y="0"/>
                      <a:pt x="3" y="1"/>
                      <a:pt x="3" y="3"/>
                    </a:cubicBezTo>
                    <a:cubicBezTo>
                      <a:pt x="2" y="5"/>
                      <a:pt x="1" y="8"/>
                      <a:pt x="1" y="10"/>
                    </a:cubicBezTo>
                    <a:cubicBezTo>
                      <a:pt x="1" y="11"/>
                      <a:pt x="0" y="13"/>
                      <a:pt x="0" y="14"/>
                    </a:cubicBezTo>
                    <a:cubicBezTo>
                      <a:pt x="0" y="15"/>
                      <a:pt x="1" y="16"/>
                      <a:pt x="2" y="15"/>
                    </a:cubicBezTo>
                    <a:cubicBezTo>
                      <a:pt x="3" y="15"/>
                      <a:pt x="5" y="14"/>
                      <a:pt x="6" y="13"/>
                    </a:cubicBezTo>
                    <a:cubicBezTo>
                      <a:pt x="7" y="13"/>
                      <a:pt x="8" y="11"/>
                      <a:pt x="7" y="9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407924" tIns="203962" rIns="407924" bIns="20396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246"/>
              </a:p>
            </p:txBody>
          </p:sp>
          <p:sp>
            <p:nvSpPr>
              <p:cNvPr id="1234" name="Freeform 38">
                <a:extLst>
                  <a:ext uri="{FF2B5EF4-FFF2-40B4-BE49-F238E27FC236}">
                    <a16:creationId xmlns:a16="http://schemas.microsoft.com/office/drawing/2014/main" id="{36A4E20C-78DB-3744-4F48-8E3A1E3C9B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6492" y="2616725"/>
                <a:ext cx="22090" cy="17288"/>
              </a:xfrm>
              <a:custGeom>
                <a:avLst/>
                <a:gdLst/>
                <a:ahLst/>
                <a:cxnLst>
                  <a:cxn ang="0">
                    <a:pos x="7" y="7"/>
                  </a:cxn>
                  <a:cxn ang="0">
                    <a:pos x="9" y="4"/>
                  </a:cxn>
                  <a:cxn ang="0">
                    <a:pos x="6" y="0"/>
                  </a:cxn>
                  <a:cxn ang="0">
                    <a:pos x="2" y="0"/>
                  </a:cxn>
                  <a:cxn ang="0">
                    <a:pos x="1" y="3"/>
                  </a:cxn>
                  <a:cxn ang="0">
                    <a:pos x="3" y="6"/>
                  </a:cxn>
                  <a:cxn ang="0">
                    <a:pos x="7" y="7"/>
                  </a:cxn>
                </a:cxnLst>
                <a:rect l="0" t="0" r="r" b="b"/>
                <a:pathLst>
                  <a:path w="10" h="8">
                    <a:moveTo>
                      <a:pt x="7" y="7"/>
                    </a:moveTo>
                    <a:cubicBezTo>
                      <a:pt x="9" y="7"/>
                      <a:pt x="10" y="5"/>
                      <a:pt x="9" y="4"/>
                    </a:cubicBezTo>
                    <a:cubicBezTo>
                      <a:pt x="8" y="2"/>
                      <a:pt x="7" y="0"/>
                      <a:pt x="6" y="0"/>
                    </a:cubicBezTo>
                    <a:cubicBezTo>
                      <a:pt x="5" y="0"/>
                      <a:pt x="3" y="0"/>
                      <a:pt x="2" y="0"/>
                    </a:cubicBezTo>
                    <a:cubicBezTo>
                      <a:pt x="1" y="0"/>
                      <a:pt x="0" y="2"/>
                      <a:pt x="1" y="3"/>
                    </a:cubicBezTo>
                    <a:cubicBezTo>
                      <a:pt x="2" y="4"/>
                      <a:pt x="3" y="5"/>
                      <a:pt x="3" y="6"/>
                    </a:cubicBezTo>
                    <a:cubicBezTo>
                      <a:pt x="4" y="7"/>
                      <a:pt x="6" y="8"/>
                      <a:pt x="7" y="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407924" tIns="203962" rIns="407924" bIns="20396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246"/>
              </a:p>
            </p:txBody>
          </p:sp>
          <p:sp>
            <p:nvSpPr>
              <p:cNvPr id="1235" name="Freeform 39">
                <a:extLst>
                  <a:ext uri="{FF2B5EF4-FFF2-40B4-BE49-F238E27FC236}">
                    <a16:creationId xmlns:a16="http://schemas.microsoft.com/office/drawing/2014/main" id="{771065AD-0B18-127F-AFA7-4C871907A2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99539" y="2574465"/>
                <a:ext cx="24971" cy="24971"/>
              </a:xfrm>
              <a:custGeom>
                <a:avLst/>
                <a:gdLst/>
                <a:ahLst/>
                <a:cxnLst>
                  <a:cxn ang="0">
                    <a:pos x="7" y="8"/>
                  </a:cxn>
                  <a:cxn ang="0">
                    <a:pos x="11" y="3"/>
                  </a:cxn>
                  <a:cxn ang="0">
                    <a:pos x="9" y="0"/>
                  </a:cxn>
                  <a:cxn ang="0">
                    <a:pos x="5" y="1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" y="11"/>
                  </a:cxn>
                  <a:cxn ang="0">
                    <a:pos x="7" y="8"/>
                  </a:cxn>
                </a:cxnLst>
                <a:rect l="0" t="0" r="r" b="b"/>
                <a:pathLst>
                  <a:path w="11" h="11">
                    <a:moveTo>
                      <a:pt x="7" y="8"/>
                    </a:moveTo>
                    <a:cubicBezTo>
                      <a:pt x="9" y="7"/>
                      <a:pt x="11" y="5"/>
                      <a:pt x="11" y="3"/>
                    </a:cubicBezTo>
                    <a:cubicBezTo>
                      <a:pt x="11" y="2"/>
                      <a:pt x="10" y="0"/>
                      <a:pt x="9" y="0"/>
                    </a:cubicBezTo>
                    <a:cubicBezTo>
                      <a:pt x="8" y="0"/>
                      <a:pt x="6" y="0"/>
                      <a:pt x="5" y="1"/>
                    </a:cubicBezTo>
                    <a:cubicBezTo>
                      <a:pt x="4" y="2"/>
                      <a:pt x="3" y="3"/>
                      <a:pt x="2" y="4"/>
                    </a:cubicBezTo>
                    <a:cubicBezTo>
                      <a:pt x="1" y="5"/>
                      <a:pt x="0" y="6"/>
                      <a:pt x="0" y="8"/>
                    </a:cubicBezTo>
                    <a:cubicBezTo>
                      <a:pt x="0" y="9"/>
                      <a:pt x="0" y="11"/>
                      <a:pt x="1" y="11"/>
                    </a:cubicBezTo>
                    <a:cubicBezTo>
                      <a:pt x="2" y="11"/>
                      <a:pt x="5" y="10"/>
                      <a:pt x="7" y="8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407924" tIns="203962" rIns="407924" bIns="20396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246"/>
              </a:p>
            </p:txBody>
          </p:sp>
          <p:sp>
            <p:nvSpPr>
              <p:cNvPr id="1236" name="Freeform 40">
                <a:extLst>
                  <a:ext uri="{FF2B5EF4-FFF2-40B4-BE49-F238E27FC236}">
                    <a16:creationId xmlns:a16="http://schemas.microsoft.com/office/drawing/2014/main" id="{75424356-FA6A-4384-E77D-72639C306D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88407" y="2600922"/>
                <a:ext cx="77795" cy="38417"/>
              </a:xfrm>
              <a:custGeom>
                <a:avLst/>
                <a:gdLst/>
                <a:ahLst/>
                <a:cxnLst>
                  <a:cxn ang="0">
                    <a:pos x="12" y="3"/>
                  </a:cxn>
                  <a:cxn ang="0">
                    <a:pos x="8" y="5"/>
                  </a:cxn>
                  <a:cxn ang="0">
                    <a:pos x="3" y="6"/>
                  </a:cxn>
                  <a:cxn ang="0">
                    <a:pos x="1" y="11"/>
                  </a:cxn>
                  <a:cxn ang="0">
                    <a:pos x="8" y="14"/>
                  </a:cxn>
                  <a:cxn ang="0">
                    <a:pos x="16" y="16"/>
                  </a:cxn>
                  <a:cxn ang="0">
                    <a:pos x="22" y="15"/>
                  </a:cxn>
                  <a:cxn ang="0">
                    <a:pos x="28" y="9"/>
                  </a:cxn>
                  <a:cxn ang="0">
                    <a:pos x="33" y="5"/>
                  </a:cxn>
                  <a:cxn ang="0">
                    <a:pos x="33" y="2"/>
                  </a:cxn>
                  <a:cxn ang="0">
                    <a:pos x="26" y="1"/>
                  </a:cxn>
                  <a:cxn ang="0">
                    <a:pos x="18" y="1"/>
                  </a:cxn>
                  <a:cxn ang="0">
                    <a:pos x="12" y="3"/>
                  </a:cxn>
                </a:cxnLst>
                <a:rect l="0" t="0" r="r" b="b"/>
                <a:pathLst>
                  <a:path w="34" h="17">
                    <a:moveTo>
                      <a:pt x="12" y="3"/>
                    </a:moveTo>
                    <a:cubicBezTo>
                      <a:pt x="11" y="4"/>
                      <a:pt x="9" y="4"/>
                      <a:pt x="8" y="5"/>
                    </a:cubicBezTo>
                    <a:cubicBezTo>
                      <a:pt x="6" y="5"/>
                      <a:pt x="4" y="6"/>
                      <a:pt x="3" y="6"/>
                    </a:cubicBezTo>
                    <a:cubicBezTo>
                      <a:pt x="1" y="7"/>
                      <a:pt x="0" y="9"/>
                      <a:pt x="1" y="11"/>
                    </a:cubicBezTo>
                    <a:cubicBezTo>
                      <a:pt x="2" y="13"/>
                      <a:pt x="5" y="14"/>
                      <a:pt x="8" y="14"/>
                    </a:cubicBezTo>
                    <a:cubicBezTo>
                      <a:pt x="11" y="14"/>
                      <a:pt x="15" y="15"/>
                      <a:pt x="16" y="16"/>
                    </a:cubicBezTo>
                    <a:cubicBezTo>
                      <a:pt x="18" y="17"/>
                      <a:pt x="21" y="16"/>
                      <a:pt x="22" y="15"/>
                    </a:cubicBezTo>
                    <a:cubicBezTo>
                      <a:pt x="23" y="13"/>
                      <a:pt x="26" y="11"/>
                      <a:pt x="28" y="9"/>
                    </a:cubicBezTo>
                    <a:cubicBezTo>
                      <a:pt x="30" y="8"/>
                      <a:pt x="32" y="6"/>
                      <a:pt x="33" y="5"/>
                    </a:cubicBezTo>
                    <a:cubicBezTo>
                      <a:pt x="34" y="4"/>
                      <a:pt x="33" y="3"/>
                      <a:pt x="33" y="2"/>
                    </a:cubicBezTo>
                    <a:cubicBezTo>
                      <a:pt x="32" y="1"/>
                      <a:pt x="29" y="0"/>
                      <a:pt x="26" y="1"/>
                    </a:cubicBezTo>
                    <a:cubicBezTo>
                      <a:pt x="24" y="1"/>
                      <a:pt x="20" y="1"/>
                      <a:pt x="18" y="1"/>
                    </a:cubicBezTo>
                    <a:cubicBezTo>
                      <a:pt x="16" y="1"/>
                      <a:pt x="13" y="2"/>
                      <a:pt x="12" y="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407924" tIns="203962" rIns="407924" bIns="20396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246"/>
              </a:p>
            </p:txBody>
          </p:sp>
          <p:sp>
            <p:nvSpPr>
              <p:cNvPr id="1237" name="Freeform 41">
                <a:extLst>
                  <a:ext uri="{FF2B5EF4-FFF2-40B4-BE49-F238E27FC236}">
                    <a16:creationId xmlns:a16="http://schemas.microsoft.com/office/drawing/2014/main" id="{873CE092-96E7-DC8A-8001-1776A33533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46076" y="2626151"/>
                <a:ext cx="38417" cy="21129"/>
              </a:xfrm>
              <a:custGeom>
                <a:avLst/>
                <a:gdLst/>
                <a:ahLst/>
                <a:cxnLst>
                  <a:cxn ang="0">
                    <a:pos x="1" y="4"/>
                  </a:cxn>
                  <a:cxn ang="0">
                    <a:pos x="0" y="6"/>
                  </a:cxn>
                  <a:cxn ang="0">
                    <a:pos x="4" y="8"/>
                  </a:cxn>
                  <a:cxn ang="0">
                    <a:pos x="11" y="9"/>
                  </a:cxn>
                  <a:cxn ang="0">
                    <a:pos x="16" y="7"/>
                  </a:cxn>
                  <a:cxn ang="0">
                    <a:pos x="16" y="2"/>
                  </a:cxn>
                  <a:cxn ang="0">
                    <a:pos x="11" y="0"/>
                  </a:cxn>
                  <a:cxn ang="0">
                    <a:pos x="5" y="1"/>
                  </a:cxn>
                  <a:cxn ang="0">
                    <a:pos x="1" y="4"/>
                  </a:cxn>
                </a:cxnLst>
                <a:rect l="0" t="0" r="r" b="b"/>
                <a:pathLst>
                  <a:path w="17" h="9">
                    <a:moveTo>
                      <a:pt x="1" y="4"/>
                    </a:moveTo>
                    <a:cubicBezTo>
                      <a:pt x="0" y="4"/>
                      <a:pt x="0" y="6"/>
                      <a:pt x="0" y="6"/>
                    </a:cubicBezTo>
                    <a:cubicBezTo>
                      <a:pt x="0" y="7"/>
                      <a:pt x="1" y="8"/>
                      <a:pt x="4" y="8"/>
                    </a:cubicBezTo>
                    <a:cubicBezTo>
                      <a:pt x="6" y="9"/>
                      <a:pt x="9" y="9"/>
                      <a:pt x="11" y="9"/>
                    </a:cubicBezTo>
                    <a:cubicBezTo>
                      <a:pt x="12" y="9"/>
                      <a:pt x="15" y="8"/>
                      <a:pt x="16" y="7"/>
                    </a:cubicBezTo>
                    <a:cubicBezTo>
                      <a:pt x="17" y="5"/>
                      <a:pt x="17" y="3"/>
                      <a:pt x="16" y="2"/>
                    </a:cubicBezTo>
                    <a:cubicBezTo>
                      <a:pt x="15" y="1"/>
                      <a:pt x="12" y="0"/>
                      <a:pt x="11" y="0"/>
                    </a:cubicBezTo>
                    <a:cubicBezTo>
                      <a:pt x="9" y="0"/>
                      <a:pt x="7" y="1"/>
                      <a:pt x="5" y="1"/>
                    </a:cubicBezTo>
                    <a:cubicBezTo>
                      <a:pt x="4" y="2"/>
                      <a:pt x="2" y="3"/>
                      <a:pt x="1" y="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407924" tIns="203962" rIns="407924" bIns="20396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246"/>
              </a:p>
            </p:txBody>
          </p:sp>
          <p:sp>
            <p:nvSpPr>
              <p:cNvPr id="1238" name="Freeform 42">
                <a:extLst>
                  <a:ext uri="{FF2B5EF4-FFF2-40B4-BE49-F238E27FC236}">
                    <a16:creationId xmlns:a16="http://schemas.microsoft.com/office/drawing/2014/main" id="{2ACF9686-9AD5-B2A5-F0C0-46A8543F14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9665" y="2833341"/>
                <a:ext cx="21129" cy="1536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1"/>
                  </a:cxn>
                  <a:cxn ang="0">
                    <a:pos x="0" y="3"/>
                  </a:cxn>
                  <a:cxn ang="0">
                    <a:pos x="3" y="5"/>
                  </a:cxn>
                  <a:cxn ang="0">
                    <a:pos x="5" y="5"/>
                  </a:cxn>
                  <a:cxn ang="0">
                    <a:pos x="8" y="6"/>
                  </a:cxn>
                  <a:cxn ang="0">
                    <a:pos x="9" y="5"/>
                  </a:cxn>
                  <a:cxn ang="0">
                    <a:pos x="6" y="0"/>
                  </a:cxn>
                </a:cxnLst>
                <a:rect l="0" t="0" r="r" b="b"/>
                <a:pathLst>
                  <a:path w="9" h="7">
                    <a:moveTo>
                      <a:pt x="6" y="0"/>
                    </a:moveTo>
                    <a:cubicBezTo>
                      <a:pt x="5" y="0"/>
                      <a:pt x="3" y="0"/>
                      <a:pt x="1" y="1"/>
                    </a:cubicBezTo>
                    <a:cubicBezTo>
                      <a:pt x="0" y="2"/>
                      <a:pt x="0" y="3"/>
                      <a:pt x="0" y="3"/>
                    </a:cubicBezTo>
                    <a:cubicBezTo>
                      <a:pt x="1" y="4"/>
                      <a:pt x="2" y="5"/>
                      <a:pt x="3" y="5"/>
                    </a:cubicBezTo>
                    <a:cubicBezTo>
                      <a:pt x="3" y="6"/>
                      <a:pt x="4" y="6"/>
                      <a:pt x="5" y="5"/>
                    </a:cubicBezTo>
                    <a:cubicBezTo>
                      <a:pt x="6" y="4"/>
                      <a:pt x="7" y="5"/>
                      <a:pt x="8" y="6"/>
                    </a:cubicBezTo>
                    <a:cubicBezTo>
                      <a:pt x="9" y="7"/>
                      <a:pt x="9" y="7"/>
                      <a:pt x="9" y="5"/>
                    </a:cubicBezTo>
                    <a:cubicBezTo>
                      <a:pt x="9" y="3"/>
                      <a:pt x="7" y="1"/>
                      <a:pt x="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407924" tIns="203962" rIns="407924" bIns="20396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246"/>
              </a:p>
            </p:txBody>
          </p:sp>
          <p:sp>
            <p:nvSpPr>
              <p:cNvPr id="1239" name="Freeform 43">
                <a:extLst>
                  <a:ext uri="{FF2B5EF4-FFF2-40B4-BE49-F238E27FC236}">
                    <a16:creationId xmlns:a16="http://schemas.microsoft.com/office/drawing/2014/main" id="{5970AE2B-3512-ECE0-8BBC-6FF2702A06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81057" y="2828976"/>
                <a:ext cx="11525" cy="1536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" y="2"/>
                  </a:cxn>
                  <a:cxn ang="0">
                    <a:pos x="2" y="6"/>
                  </a:cxn>
                  <a:cxn ang="0">
                    <a:pos x="4" y="6"/>
                  </a:cxn>
                  <a:cxn ang="0">
                    <a:pos x="4" y="4"/>
                  </a:cxn>
                  <a:cxn ang="0">
                    <a:pos x="4" y="1"/>
                  </a:cxn>
                  <a:cxn ang="0">
                    <a:pos x="2" y="0"/>
                  </a:cxn>
                </a:cxnLst>
                <a:rect l="0" t="0" r="r" b="b"/>
                <a:pathLst>
                  <a:path w="5" h="7">
                    <a:moveTo>
                      <a:pt x="2" y="0"/>
                    </a:moveTo>
                    <a:cubicBezTo>
                      <a:pt x="1" y="1"/>
                      <a:pt x="0" y="2"/>
                      <a:pt x="1" y="2"/>
                    </a:cubicBezTo>
                    <a:cubicBezTo>
                      <a:pt x="1" y="3"/>
                      <a:pt x="2" y="5"/>
                      <a:pt x="2" y="6"/>
                    </a:cubicBezTo>
                    <a:cubicBezTo>
                      <a:pt x="2" y="7"/>
                      <a:pt x="3" y="7"/>
                      <a:pt x="4" y="6"/>
                    </a:cubicBezTo>
                    <a:cubicBezTo>
                      <a:pt x="4" y="6"/>
                      <a:pt x="5" y="5"/>
                      <a:pt x="4" y="4"/>
                    </a:cubicBezTo>
                    <a:cubicBezTo>
                      <a:pt x="4" y="3"/>
                      <a:pt x="4" y="2"/>
                      <a:pt x="4" y="1"/>
                    </a:cubicBezTo>
                    <a:cubicBezTo>
                      <a:pt x="4" y="0"/>
                      <a:pt x="3" y="0"/>
                      <a:pt x="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407924" tIns="203962" rIns="407924" bIns="20396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246"/>
              </a:p>
            </p:txBody>
          </p:sp>
          <p:sp>
            <p:nvSpPr>
              <p:cNvPr id="1240" name="Freeform 44">
                <a:extLst>
                  <a:ext uri="{FF2B5EF4-FFF2-40B4-BE49-F238E27FC236}">
                    <a16:creationId xmlns:a16="http://schemas.microsoft.com/office/drawing/2014/main" id="{A55E804E-28C5-EB1E-B8D6-8730E5BA4A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04440" y="3977854"/>
                <a:ext cx="6724" cy="18248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0" y="6"/>
                  </a:cxn>
                  <a:cxn ang="0">
                    <a:pos x="1" y="7"/>
                  </a:cxn>
                  <a:cxn ang="0">
                    <a:pos x="3" y="4"/>
                  </a:cxn>
                  <a:cxn ang="0">
                    <a:pos x="2" y="1"/>
                  </a:cxn>
                  <a:cxn ang="0">
                    <a:pos x="1" y="1"/>
                  </a:cxn>
                </a:cxnLst>
                <a:rect l="0" t="0" r="r" b="b"/>
                <a:pathLst>
                  <a:path w="3" h="8">
                    <a:moveTo>
                      <a:pt x="1" y="1"/>
                    </a:moveTo>
                    <a:cubicBezTo>
                      <a:pt x="1" y="2"/>
                      <a:pt x="1" y="4"/>
                      <a:pt x="0" y="6"/>
                    </a:cubicBezTo>
                    <a:cubicBezTo>
                      <a:pt x="0" y="7"/>
                      <a:pt x="0" y="8"/>
                      <a:pt x="1" y="7"/>
                    </a:cubicBezTo>
                    <a:cubicBezTo>
                      <a:pt x="2" y="7"/>
                      <a:pt x="2" y="6"/>
                      <a:pt x="3" y="4"/>
                    </a:cubicBezTo>
                    <a:cubicBezTo>
                      <a:pt x="3" y="3"/>
                      <a:pt x="3" y="1"/>
                      <a:pt x="2" y="1"/>
                    </a:cubicBezTo>
                    <a:cubicBezTo>
                      <a:pt x="1" y="0"/>
                      <a:pt x="1" y="0"/>
                      <a:pt x="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407924" tIns="203962" rIns="407924" bIns="20396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246">
                  <a:solidFill>
                    <a:srgbClr val="410B30"/>
                  </a:solidFill>
                </a:endParaRPr>
              </a:p>
            </p:txBody>
          </p:sp>
          <p:sp>
            <p:nvSpPr>
              <p:cNvPr id="1241" name="Freeform 45">
                <a:extLst>
                  <a:ext uri="{FF2B5EF4-FFF2-40B4-BE49-F238E27FC236}">
                    <a16:creationId xmlns:a16="http://schemas.microsoft.com/office/drawing/2014/main" id="{B36CD0B4-8D1D-F6C6-70A4-2AC0279A29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87503" y="4869952"/>
                <a:ext cx="18248" cy="23050"/>
              </a:xfrm>
              <a:custGeom>
                <a:avLst/>
                <a:gdLst/>
                <a:ahLst/>
                <a:cxnLst>
                  <a:cxn ang="0">
                    <a:pos x="7" y="1"/>
                  </a:cxn>
                  <a:cxn ang="0">
                    <a:pos x="4" y="1"/>
                  </a:cxn>
                  <a:cxn ang="0">
                    <a:pos x="1" y="5"/>
                  </a:cxn>
                  <a:cxn ang="0">
                    <a:pos x="2" y="9"/>
                  </a:cxn>
                  <a:cxn ang="0">
                    <a:pos x="5" y="10"/>
                  </a:cxn>
                  <a:cxn ang="0">
                    <a:pos x="7" y="8"/>
                  </a:cxn>
                  <a:cxn ang="0">
                    <a:pos x="7" y="4"/>
                  </a:cxn>
                  <a:cxn ang="0">
                    <a:pos x="7" y="1"/>
                  </a:cxn>
                </a:cxnLst>
                <a:rect l="0" t="0" r="r" b="b"/>
                <a:pathLst>
                  <a:path w="8" h="10">
                    <a:moveTo>
                      <a:pt x="7" y="1"/>
                    </a:moveTo>
                    <a:cubicBezTo>
                      <a:pt x="6" y="1"/>
                      <a:pt x="5" y="0"/>
                      <a:pt x="4" y="1"/>
                    </a:cubicBezTo>
                    <a:cubicBezTo>
                      <a:pt x="3" y="1"/>
                      <a:pt x="2" y="3"/>
                      <a:pt x="1" y="5"/>
                    </a:cubicBezTo>
                    <a:cubicBezTo>
                      <a:pt x="0" y="7"/>
                      <a:pt x="1" y="9"/>
                      <a:pt x="2" y="9"/>
                    </a:cubicBezTo>
                    <a:cubicBezTo>
                      <a:pt x="3" y="9"/>
                      <a:pt x="4" y="9"/>
                      <a:pt x="5" y="10"/>
                    </a:cubicBezTo>
                    <a:cubicBezTo>
                      <a:pt x="6" y="10"/>
                      <a:pt x="7" y="9"/>
                      <a:pt x="7" y="8"/>
                    </a:cubicBezTo>
                    <a:cubicBezTo>
                      <a:pt x="6" y="7"/>
                      <a:pt x="6" y="5"/>
                      <a:pt x="7" y="4"/>
                    </a:cubicBezTo>
                    <a:cubicBezTo>
                      <a:pt x="8" y="3"/>
                      <a:pt x="7" y="1"/>
                      <a:pt x="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407924" tIns="203962" rIns="407924" bIns="20396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246"/>
              </a:p>
            </p:txBody>
          </p:sp>
          <p:sp>
            <p:nvSpPr>
              <p:cNvPr id="1242" name="Freeform 46">
                <a:extLst>
                  <a:ext uri="{FF2B5EF4-FFF2-40B4-BE49-F238E27FC236}">
                    <a16:creationId xmlns:a16="http://schemas.microsoft.com/office/drawing/2014/main" id="{6A450918-240A-2CC3-FC70-598458B01F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79835" y="4817215"/>
                <a:ext cx="23050" cy="11525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3" y="1"/>
                  </a:cxn>
                  <a:cxn ang="0">
                    <a:pos x="1" y="4"/>
                  </a:cxn>
                  <a:cxn ang="0">
                    <a:pos x="3" y="5"/>
                  </a:cxn>
                  <a:cxn ang="0">
                    <a:pos x="9" y="4"/>
                  </a:cxn>
                  <a:cxn ang="0">
                    <a:pos x="9" y="2"/>
                  </a:cxn>
                  <a:cxn ang="0">
                    <a:pos x="6" y="0"/>
                  </a:cxn>
                </a:cxnLst>
                <a:rect l="0" t="0" r="r" b="b"/>
                <a:pathLst>
                  <a:path w="10" h="5">
                    <a:moveTo>
                      <a:pt x="6" y="0"/>
                    </a:moveTo>
                    <a:cubicBezTo>
                      <a:pt x="5" y="0"/>
                      <a:pt x="4" y="0"/>
                      <a:pt x="3" y="1"/>
                    </a:cubicBezTo>
                    <a:cubicBezTo>
                      <a:pt x="2" y="2"/>
                      <a:pt x="1" y="3"/>
                      <a:pt x="1" y="4"/>
                    </a:cubicBezTo>
                    <a:cubicBezTo>
                      <a:pt x="0" y="4"/>
                      <a:pt x="2" y="5"/>
                      <a:pt x="3" y="5"/>
                    </a:cubicBezTo>
                    <a:cubicBezTo>
                      <a:pt x="5" y="5"/>
                      <a:pt x="7" y="5"/>
                      <a:pt x="9" y="4"/>
                    </a:cubicBezTo>
                    <a:cubicBezTo>
                      <a:pt x="10" y="3"/>
                      <a:pt x="10" y="2"/>
                      <a:pt x="9" y="2"/>
                    </a:cubicBezTo>
                    <a:cubicBezTo>
                      <a:pt x="8" y="1"/>
                      <a:pt x="6" y="0"/>
                      <a:pt x="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407924" tIns="203962" rIns="407924" bIns="20396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246"/>
              </a:p>
            </p:txBody>
          </p:sp>
          <p:sp>
            <p:nvSpPr>
              <p:cNvPr id="1243" name="Freeform 47">
                <a:extLst>
                  <a:ext uri="{FF2B5EF4-FFF2-40B4-BE49-F238E27FC236}">
                    <a16:creationId xmlns:a16="http://schemas.microsoft.com/office/drawing/2014/main" id="{439E3324-D1E1-47D1-AD25-5F88505B5E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93950" y="5702330"/>
                <a:ext cx="63388" cy="93160"/>
              </a:xfrm>
              <a:custGeom>
                <a:avLst/>
                <a:gdLst/>
                <a:ahLst/>
                <a:cxnLst>
                  <a:cxn ang="0">
                    <a:pos x="27" y="7"/>
                  </a:cxn>
                  <a:cxn ang="0">
                    <a:pos x="26" y="4"/>
                  </a:cxn>
                  <a:cxn ang="0">
                    <a:pos x="20" y="1"/>
                  </a:cxn>
                  <a:cxn ang="0">
                    <a:pos x="16" y="0"/>
                  </a:cxn>
                  <a:cxn ang="0">
                    <a:pos x="12" y="4"/>
                  </a:cxn>
                  <a:cxn ang="0">
                    <a:pos x="10" y="9"/>
                  </a:cxn>
                  <a:cxn ang="0">
                    <a:pos x="5" y="13"/>
                  </a:cxn>
                  <a:cxn ang="0">
                    <a:pos x="1" y="17"/>
                  </a:cxn>
                  <a:cxn ang="0">
                    <a:pos x="1" y="24"/>
                  </a:cxn>
                  <a:cxn ang="0">
                    <a:pos x="2" y="32"/>
                  </a:cxn>
                  <a:cxn ang="0">
                    <a:pos x="0" y="36"/>
                  </a:cxn>
                  <a:cxn ang="0">
                    <a:pos x="4" y="41"/>
                  </a:cxn>
                  <a:cxn ang="0">
                    <a:pos x="6" y="38"/>
                  </a:cxn>
                  <a:cxn ang="0">
                    <a:pos x="12" y="33"/>
                  </a:cxn>
                  <a:cxn ang="0">
                    <a:pos x="15" y="27"/>
                  </a:cxn>
                  <a:cxn ang="0">
                    <a:pos x="18" y="19"/>
                  </a:cxn>
                  <a:cxn ang="0">
                    <a:pos x="23" y="12"/>
                  </a:cxn>
                  <a:cxn ang="0">
                    <a:pos x="27" y="7"/>
                  </a:cxn>
                </a:cxnLst>
                <a:rect l="0" t="0" r="r" b="b"/>
                <a:pathLst>
                  <a:path w="28" h="41">
                    <a:moveTo>
                      <a:pt x="27" y="7"/>
                    </a:moveTo>
                    <a:cubicBezTo>
                      <a:pt x="28" y="6"/>
                      <a:pt x="27" y="4"/>
                      <a:pt x="26" y="4"/>
                    </a:cubicBezTo>
                    <a:cubicBezTo>
                      <a:pt x="24" y="3"/>
                      <a:pt x="21" y="2"/>
                      <a:pt x="20" y="1"/>
                    </a:cubicBezTo>
                    <a:cubicBezTo>
                      <a:pt x="19" y="1"/>
                      <a:pt x="17" y="0"/>
                      <a:pt x="16" y="0"/>
                    </a:cubicBezTo>
                    <a:cubicBezTo>
                      <a:pt x="15" y="0"/>
                      <a:pt x="13" y="2"/>
                      <a:pt x="12" y="4"/>
                    </a:cubicBezTo>
                    <a:cubicBezTo>
                      <a:pt x="12" y="6"/>
                      <a:pt x="10" y="8"/>
                      <a:pt x="10" y="9"/>
                    </a:cubicBezTo>
                    <a:cubicBezTo>
                      <a:pt x="9" y="10"/>
                      <a:pt x="7" y="12"/>
                      <a:pt x="5" y="13"/>
                    </a:cubicBezTo>
                    <a:cubicBezTo>
                      <a:pt x="3" y="14"/>
                      <a:pt x="1" y="16"/>
                      <a:pt x="1" y="17"/>
                    </a:cubicBezTo>
                    <a:cubicBezTo>
                      <a:pt x="1" y="18"/>
                      <a:pt x="1" y="21"/>
                      <a:pt x="1" y="24"/>
                    </a:cubicBezTo>
                    <a:cubicBezTo>
                      <a:pt x="1" y="26"/>
                      <a:pt x="2" y="30"/>
                      <a:pt x="2" y="32"/>
                    </a:cubicBezTo>
                    <a:cubicBezTo>
                      <a:pt x="2" y="33"/>
                      <a:pt x="1" y="35"/>
                      <a:pt x="0" y="36"/>
                    </a:cubicBezTo>
                    <a:cubicBezTo>
                      <a:pt x="4" y="41"/>
                      <a:pt x="4" y="41"/>
                      <a:pt x="4" y="41"/>
                    </a:cubicBezTo>
                    <a:cubicBezTo>
                      <a:pt x="4" y="41"/>
                      <a:pt x="5" y="40"/>
                      <a:pt x="6" y="38"/>
                    </a:cubicBezTo>
                    <a:cubicBezTo>
                      <a:pt x="8" y="37"/>
                      <a:pt x="10" y="35"/>
                      <a:pt x="12" y="33"/>
                    </a:cubicBezTo>
                    <a:cubicBezTo>
                      <a:pt x="13" y="32"/>
                      <a:pt x="15" y="29"/>
                      <a:pt x="15" y="27"/>
                    </a:cubicBezTo>
                    <a:cubicBezTo>
                      <a:pt x="15" y="25"/>
                      <a:pt x="17" y="21"/>
                      <a:pt x="18" y="19"/>
                    </a:cubicBezTo>
                    <a:cubicBezTo>
                      <a:pt x="19" y="17"/>
                      <a:pt x="22" y="14"/>
                      <a:pt x="23" y="12"/>
                    </a:cubicBezTo>
                    <a:cubicBezTo>
                      <a:pt x="24" y="11"/>
                      <a:pt x="26" y="8"/>
                      <a:pt x="27" y="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407924" tIns="203962" rIns="407924" bIns="20396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246"/>
              </a:p>
            </p:txBody>
          </p:sp>
          <p:sp>
            <p:nvSpPr>
              <p:cNvPr id="1245" name="Freeform 31">
                <a:extLst>
                  <a:ext uri="{FF2B5EF4-FFF2-40B4-BE49-F238E27FC236}">
                    <a16:creationId xmlns:a16="http://schemas.microsoft.com/office/drawing/2014/main" id="{B798CD99-9C6D-B939-4F21-E92A94FEB2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04382" y="4459897"/>
                <a:ext cx="832683" cy="573371"/>
              </a:xfrm>
              <a:custGeom>
                <a:avLst/>
                <a:gdLst/>
                <a:ahLst/>
                <a:cxnLst>
                  <a:cxn ang="0">
                    <a:pos x="353" y="147"/>
                  </a:cxn>
                  <a:cxn ang="0">
                    <a:pos x="359" y="136"/>
                  </a:cxn>
                  <a:cxn ang="0">
                    <a:pos x="345" y="130"/>
                  </a:cxn>
                  <a:cxn ang="0">
                    <a:pos x="320" y="133"/>
                  </a:cxn>
                  <a:cxn ang="0">
                    <a:pos x="304" y="139"/>
                  </a:cxn>
                  <a:cxn ang="0">
                    <a:pos x="277" y="141"/>
                  </a:cxn>
                  <a:cxn ang="0">
                    <a:pos x="266" y="120"/>
                  </a:cxn>
                  <a:cxn ang="0">
                    <a:pos x="267" y="96"/>
                  </a:cxn>
                  <a:cxn ang="0">
                    <a:pos x="263" y="76"/>
                  </a:cxn>
                  <a:cxn ang="0">
                    <a:pos x="246" y="60"/>
                  </a:cxn>
                  <a:cxn ang="0">
                    <a:pos x="246" y="37"/>
                  </a:cxn>
                  <a:cxn ang="0">
                    <a:pos x="243" y="22"/>
                  </a:cxn>
                  <a:cxn ang="0">
                    <a:pos x="238" y="13"/>
                  </a:cxn>
                  <a:cxn ang="0">
                    <a:pos x="219" y="11"/>
                  </a:cxn>
                  <a:cxn ang="0">
                    <a:pos x="199" y="14"/>
                  </a:cxn>
                  <a:cxn ang="0">
                    <a:pos x="179" y="17"/>
                  </a:cxn>
                  <a:cxn ang="0">
                    <a:pos x="169" y="21"/>
                  </a:cxn>
                  <a:cxn ang="0">
                    <a:pos x="158" y="15"/>
                  </a:cxn>
                  <a:cxn ang="0">
                    <a:pos x="147" y="6"/>
                  </a:cxn>
                  <a:cxn ang="0">
                    <a:pos x="126" y="5"/>
                  </a:cxn>
                  <a:cxn ang="0">
                    <a:pos x="104" y="2"/>
                  </a:cxn>
                  <a:cxn ang="0">
                    <a:pos x="86" y="11"/>
                  </a:cxn>
                  <a:cxn ang="0">
                    <a:pos x="75" y="24"/>
                  </a:cxn>
                  <a:cxn ang="0">
                    <a:pos x="58" y="44"/>
                  </a:cxn>
                  <a:cxn ang="0">
                    <a:pos x="48" y="67"/>
                  </a:cxn>
                  <a:cxn ang="0">
                    <a:pos x="40" y="82"/>
                  </a:cxn>
                  <a:cxn ang="0">
                    <a:pos x="25" y="105"/>
                  </a:cxn>
                  <a:cxn ang="0">
                    <a:pos x="4" y="121"/>
                  </a:cxn>
                  <a:cxn ang="0">
                    <a:pos x="19" y="126"/>
                  </a:cxn>
                  <a:cxn ang="0">
                    <a:pos x="44" y="126"/>
                  </a:cxn>
                  <a:cxn ang="0">
                    <a:pos x="72" y="131"/>
                  </a:cxn>
                  <a:cxn ang="0">
                    <a:pos x="104" y="143"/>
                  </a:cxn>
                  <a:cxn ang="0">
                    <a:pos x="137" y="153"/>
                  </a:cxn>
                  <a:cxn ang="0">
                    <a:pos x="142" y="177"/>
                  </a:cxn>
                  <a:cxn ang="0">
                    <a:pos x="150" y="199"/>
                  </a:cxn>
                  <a:cxn ang="0">
                    <a:pos x="154" y="219"/>
                  </a:cxn>
                  <a:cxn ang="0">
                    <a:pos x="180" y="224"/>
                  </a:cxn>
                  <a:cxn ang="0">
                    <a:pos x="190" y="239"/>
                  </a:cxn>
                  <a:cxn ang="0">
                    <a:pos x="202" y="253"/>
                  </a:cxn>
                  <a:cxn ang="0">
                    <a:pos x="204" y="243"/>
                  </a:cxn>
                  <a:cxn ang="0">
                    <a:pos x="221" y="230"/>
                  </a:cxn>
                  <a:cxn ang="0">
                    <a:pos x="243" y="216"/>
                  </a:cxn>
                  <a:cxn ang="0">
                    <a:pos x="269" y="201"/>
                  </a:cxn>
                  <a:cxn ang="0">
                    <a:pos x="284" y="193"/>
                  </a:cxn>
                  <a:cxn ang="0">
                    <a:pos x="301" y="190"/>
                  </a:cxn>
                  <a:cxn ang="0">
                    <a:pos x="313" y="187"/>
                  </a:cxn>
                  <a:cxn ang="0">
                    <a:pos x="331" y="174"/>
                  </a:cxn>
                  <a:cxn ang="0">
                    <a:pos x="343" y="171"/>
                  </a:cxn>
                </a:cxnLst>
                <a:rect l="0" t="0" r="r" b="b"/>
                <a:pathLst>
                  <a:path w="367" h="253">
                    <a:moveTo>
                      <a:pt x="340" y="157"/>
                    </a:moveTo>
                    <a:cubicBezTo>
                      <a:pt x="340" y="155"/>
                      <a:pt x="342" y="152"/>
                      <a:pt x="344" y="150"/>
                    </a:cubicBezTo>
                    <a:cubicBezTo>
                      <a:pt x="346" y="149"/>
                      <a:pt x="350" y="147"/>
                      <a:pt x="353" y="147"/>
                    </a:cubicBezTo>
                    <a:cubicBezTo>
                      <a:pt x="356" y="147"/>
                      <a:pt x="360" y="146"/>
                      <a:pt x="362" y="145"/>
                    </a:cubicBezTo>
                    <a:cubicBezTo>
                      <a:pt x="365" y="144"/>
                      <a:pt x="367" y="142"/>
                      <a:pt x="367" y="140"/>
                    </a:cubicBezTo>
                    <a:cubicBezTo>
                      <a:pt x="367" y="137"/>
                      <a:pt x="363" y="136"/>
                      <a:pt x="359" y="136"/>
                    </a:cubicBezTo>
                    <a:cubicBezTo>
                      <a:pt x="359" y="136"/>
                      <a:pt x="359" y="136"/>
                      <a:pt x="356" y="136"/>
                    </a:cubicBezTo>
                    <a:cubicBezTo>
                      <a:pt x="354" y="136"/>
                      <a:pt x="354" y="136"/>
                      <a:pt x="354" y="136"/>
                    </a:cubicBezTo>
                    <a:cubicBezTo>
                      <a:pt x="350" y="135"/>
                      <a:pt x="346" y="132"/>
                      <a:pt x="345" y="130"/>
                    </a:cubicBezTo>
                    <a:cubicBezTo>
                      <a:pt x="343" y="127"/>
                      <a:pt x="342" y="125"/>
                      <a:pt x="342" y="125"/>
                    </a:cubicBezTo>
                    <a:cubicBezTo>
                      <a:pt x="342" y="125"/>
                      <a:pt x="339" y="126"/>
                      <a:pt x="335" y="128"/>
                    </a:cubicBezTo>
                    <a:cubicBezTo>
                      <a:pt x="331" y="129"/>
                      <a:pt x="324" y="131"/>
                      <a:pt x="320" y="133"/>
                    </a:cubicBezTo>
                    <a:cubicBezTo>
                      <a:pt x="316" y="134"/>
                      <a:pt x="312" y="134"/>
                      <a:pt x="310" y="133"/>
                    </a:cubicBezTo>
                    <a:cubicBezTo>
                      <a:pt x="309" y="132"/>
                      <a:pt x="307" y="132"/>
                      <a:pt x="306" y="133"/>
                    </a:cubicBezTo>
                    <a:cubicBezTo>
                      <a:pt x="305" y="135"/>
                      <a:pt x="304" y="137"/>
                      <a:pt x="304" y="139"/>
                    </a:cubicBezTo>
                    <a:cubicBezTo>
                      <a:pt x="304" y="141"/>
                      <a:pt x="301" y="143"/>
                      <a:pt x="297" y="143"/>
                    </a:cubicBezTo>
                    <a:cubicBezTo>
                      <a:pt x="293" y="144"/>
                      <a:pt x="288" y="144"/>
                      <a:pt x="285" y="144"/>
                    </a:cubicBezTo>
                    <a:cubicBezTo>
                      <a:pt x="282" y="144"/>
                      <a:pt x="278" y="143"/>
                      <a:pt x="277" y="141"/>
                    </a:cubicBezTo>
                    <a:cubicBezTo>
                      <a:pt x="275" y="139"/>
                      <a:pt x="274" y="136"/>
                      <a:pt x="274" y="135"/>
                    </a:cubicBezTo>
                    <a:cubicBezTo>
                      <a:pt x="274" y="133"/>
                      <a:pt x="273" y="130"/>
                      <a:pt x="272" y="128"/>
                    </a:cubicBezTo>
                    <a:cubicBezTo>
                      <a:pt x="270" y="126"/>
                      <a:pt x="268" y="122"/>
                      <a:pt x="266" y="120"/>
                    </a:cubicBezTo>
                    <a:cubicBezTo>
                      <a:pt x="264" y="118"/>
                      <a:pt x="264" y="115"/>
                      <a:pt x="265" y="114"/>
                    </a:cubicBezTo>
                    <a:cubicBezTo>
                      <a:pt x="266" y="112"/>
                      <a:pt x="267" y="109"/>
                      <a:pt x="266" y="107"/>
                    </a:cubicBezTo>
                    <a:cubicBezTo>
                      <a:pt x="266" y="104"/>
                      <a:pt x="267" y="99"/>
                      <a:pt x="267" y="96"/>
                    </a:cubicBezTo>
                    <a:cubicBezTo>
                      <a:pt x="268" y="92"/>
                      <a:pt x="270" y="87"/>
                      <a:pt x="271" y="85"/>
                    </a:cubicBezTo>
                    <a:cubicBezTo>
                      <a:pt x="272" y="82"/>
                      <a:pt x="271" y="80"/>
                      <a:pt x="269" y="78"/>
                    </a:cubicBezTo>
                    <a:cubicBezTo>
                      <a:pt x="267" y="77"/>
                      <a:pt x="264" y="76"/>
                      <a:pt x="263" y="76"/>
                    </a:cubicBezTo>
                    <a:cubicBezTo>
                      <a:pt x="262" y="75"/>
                      <a:pt x="259" y="75"/>
                      <a:pt x="257" y="76"/>
                    </a:cubicBezTo>
                    <a:cubicBezTo>
                      <a:pt x="255" y="76"/>
                      <a:pt x="252" y="73"/>
                      <a:pt x="250" y="70"/>
                    </a:cubicBezTo>
                    <a:cubicBezTo>
                      <a:pt x="248" y="67"/>
                      <a:pt x="247" y="62"/>
                      <a:pt x="246" y="60"/>
                    </a:cubicBezTo>
                    <a:cubicBezTo>
                      <a:pt x="246" y="58"/>
                      <a:pt x="246" y="56"/>
                      <a:pt x="246" y="54"/>
                    </a:cubicBezTo>
                    <a:cubicBezTo>
                      <a:pt x="246" y="52"/>
                      <a:pt x="247" y="49"/>
                      <a:pt x="248" y="46"/>
                    </a:cubicBezTo>
                    <a:cubicBezTo>
                      <a:pt x="249" y="43"/>
                      <a:pt x="248" y="39"/>
                      <a:pt x="246" y="37"/>
                    </a:cubicBezTo>
                    <a:cubicBezTo>
                      <a:pt x="244" y="34"/>
                      <a:pt x="242" y="31"/>
                      <a:pt x="243" y="29"/>
                    </a:cubicBezTo>
                    <a:cubicBezTo>
                      <a:pt x="243" y="26"/>
                      <a:pt x="243" y="25"/>
                      <a:pt x="243" y="25"/>
                    </a:cubicBezTo>
                    <a:cubicBezTo>
                      <a:pt x="243" y="25"/>
                      <a:pt x="243" y="23"/>
                      <a:pt x="243" y="22"/>
                    </a:cubicBezTo>
                    <a:cubicBezTo>
                      <a:pt x="243" y="20"/>
                      <a:pt x="242" y="18"/>
                      <a:pt x="240" y="17"/>
                    </a:cubicBezTo>
                    <a:cubicBezTo>
                      <a:pt x="239" y="15"/>
                      <a:pt x="238" y="14"/>
                      <a:pt x="238" y="13"/>
                    </a:cubicBezTo>
                    <a:cubicBezTo>
                      <a:pt x="238" y="13"/>
                      <a:pt x="238" y="13"/>
                      <a:pt x="238" y="13"/>
                    </a:cubicBezTo>
                    <a:cubicBezTo>
                      <a:pt x="238" y="12"/>
                      <a:pt x="235" y="11"/>
                      <a:pt x="232" y="12"/>
                    </a:cubicBezTo>
                    <a:cubicBezTo>
                      <a:pt x="229" y="12"/>
                      <a:pt x="226" y="11"/>
                      <a:pt x="225" y="10"/>
                    </a:cubicBezTo>
                    <a:cubicBezTo>
                      <a:pt x="223" y="9"/>
                      <a:pt x="221" y="10"/>
                      <a:pt x="219" y="11"/>
                    </a:cubicBezTo>
                    <a:cubicBezTo>
                      <a:pt x="217" y="12"/>
                      <a:pt x="214" y="14"/>
                      <a:pt x="213" y="14"/>
                    </a:cubicBezTo>
                    <a:cubicBezTo>
                      <a:pt x="212" y="15"/>
                      <a:pt x="209" y="15"/>
                      <a:pt x="207" y="14"/>
                    </a:cubicBezTo>
                    <a:cubicBezTo>
                      <a:pt x="204" y="14"/>
                      <a:pt x="201" y="14"/>
                      <a:pt x="199" y="14"/>
                    </a:cubicBezTo>
                    <a:cubicBezTo>
                      <a:pt x="197" y="14"/>
                      <a:pt x="194" y="15"/>
                      <a:pt x="193" y="15"/>
                    </a:cubicBezTo>
                    <a:cubicBezTo>
                      <a:pt x="191" y="15"/>
                      <a:pt x="188" y="16"/>
                      <a:pt x="185" y="16"/>
                    </a:cubicBezTo>
                    <a:cubicBezTo>
                      <a:pt x="183" y="16"/>
                      <a:pt x="180" y="17"/>
                      <a:pt x="179" y="17"/>
                    </a:cubicBezTo>
                    <a:cubicBezTo>
                      <a:pt x="177" y="17"/>
                      <a:pt x="176" y="19"/>
                      <a:pt x="176" y="22"/>
                    </a:cubicBezTo>
                    <a:cubicBezTo>
                      <a:pt x="175" y="25"/>
                      <a:pt x="174" y="25"/>
                      <a:pt x="173" y="24"/>
                    </a:cubicBezTo>
                    <a:cubicBezTo>
                      <a:pt x="171" y="22"/>
                      <a:pt x="170" y="21"/>
                      <a:pt x="169" y="21"/>
                    </a:cubicBezTo>
                    <a:cubicBezTo>
                      <a:pt x="168" y="20"/>
                      <a:pt x="166" y="20"/>
                      <a:pt x="164" y="21"/>
                    </a:cubicBezTo>
                    <a:cubicBezTo>
                      <a:pt x="163" y="22"/>
                      <a:pt x="161" y="21"/>
                      <a:pt x="160" y="20"/>
                    </a:cubicBezTo>
                    <a:cubicBezTo>
                      <a:pt x="159" y="19"/>
                      <a:pt x="158" y="17"/>
                      <a:pt x="158" y="15"/>
                    </a:cubicBezTo>
                    <a:cubicBezTo>
                      <a:pt x="159" y="13"/>
                      <a:pt x="159" y="11"/>
                      <a:pt x="159" y="10"/>
                    </a:cubicBezTo>
                    <a:cubicBezTo>
                      <a:pt x="158" y="9"/>
                      <a:pt x="157" y="8"/>
                      <a:pt x="154" y="8"/>
                    </a:cubicBezTo>
                    <a:cubicBezTo>
                      <a:pt x="152" y="7"/>
                      <a:pt x="149" y="7"/>
                      <a:pt x="147" y="6"/>
                    </a:cubicBezTo>
                    <a:cubicBezTo>
                      <a:pt x="146" y="6"/>
                      <a:pt x="143" y="5"/>
                      <a:pt x="140" y="6"/>
                    </a:cubicBezTo>
                    <a:cubicBezTo>
                      <a:pt x="138" y="6"/>
                      <a:pt x="135" y="6"/>
                      <a:pt x="133" y="6"/>
                    </a:cubicBezTo>
                    <a:cubicBezTo>
                      <a:pt x="132" y="6"/>
                      <a:pt x="129" y="5"/>
                      <a:pt x="126" y="5"/>
                    </a:cubicBezTo>
                    <a:cubicBezTo>
                      <a:pt x="124" y="4"/>
                      <a:pt x="121" y="3"/>
                      <a:pt x="118" y="3"/>
                    </a:cubicBezTo>
                    <a:cubicBezTo>
                      <a:pt x="116" y="2"/>
                      <a:pt x="113" y="1"/>
                      <a:pt x="111" y="1"/>
                    </a:cubicBezTo>
                    <a:cubicBezTo>
                      <a:pt x="109" y="0"/>
                      <a:pt x="106" y="0"/>
                      <a:pt x="104" y="2"/>
                    </a:cubicBezTo>
                    <a:cubicBezTo>
                      <a:pt x="102" y="3"/>
                      <a:pt x="99" y="5"/>
                      <a:pt x="97" y="5"/>
                    </a:cubicBezTo>
                    <a:cubicBezTo>
                      <a:pt x="95" y="6"/>
                      <a:pt x="91" y="8"/>
                      <a:pt x="89" y="9"/>
                    </a:cubicBezTo>
                    <a:cubicBezTo>
                      <a:pt x="87" y="10"/>
                      <a:pt x="86" y="11"/>
                      <a:pt x="86" y="11"/>
                    </a:cubicBezTo>
                    <a:cubicBezTo>
                      <a:pt x="86" y="11"/>
                      <a:pt x="85" y="13"/>
                      <a:pt x="85" y="16"/>
                    </a:cubicBezTo>
                    <a:cubicBezTo>
                      <a:pt x="85" y="19"/>
                      <a:pt x="83" y="22"/>
                      <a:pt x="82" y="23"/>
                    </a:cubicBezTo>
                    <a:cubicBezTo>
                      <a:pt x="81" y="24"/>
                      <a:pt x="78" y="24"/>
                      <a:pt x="75" y="24"/>
                    </a:cubicBezTo>
                    <a:cubicBezTo>
                      <a:pt x="72" y="24"/>
                      <a:pt x="69" y="26"/>
                      <a:pt x="68" y="28"/>
                    </a:cubicBezTo>
                    <a:cubicBezTo>
                      <a:pt x="66" y="29"/>
                      <a:pt x="63" y="32"/>
                      <a:pt x="62" y="35"/>
                    </a:cubicBezTo>
                    <a:cubicBezTo>
                      <a:pt x="60" y="37"/>
                      <a:pt x="58" y="41"/>
                      <a:pt x="58" y="44"/>
                    </a:cubicBezTo>
                    <a:cubicBezTo>
                      <a:pt x="57" y="46"/>
                      <a:pt x="56" y="50"/>
                      <a:pt x="55" y="51"/>
                    </a:cubicBezTo>
                    <a:cubicBezTo>
                      <a:pt x="54" y="53"/>
                      <a:pt x="52" y="56"/>
                      <a:pt x="51" y="58"/>
                    </a:cubicBezTo>
                    <a:cubicBezTo>
                      <a:pt x="50" y="61"/>
                      <a:pt x="48" y="65"/>
                      <a:pt x="48" y="67"/>
                    </a:cubicBezTo>
                    <a:cubicBezTo>
                      <a:pt x="48" y="69"/>
                      <a:pt x="47" y="72"/>
                      <a:pt x="46" y="74"/>
                    </a:cubicBezTo>
                    <a:cubicBezTo>
                      <a:pt x="44" y="75"/>
                      <a:pt x="42" y="77"/>
                      <a:pt x="41" y="78"/>
                    </a:cubicBezTo>
                    <a:cubicBezTo>
                      <a:pt x="40" y="78"/>
                      <a:pt x="40" y="80"/>
                      <a:pt x="40" y="82"/>
                    </a:cubicBezTo>
                    <a:cubicBezTo>
                      <a:pt x="40" y="84"/>
                      <a:pt x="38" y="87"/>
                      <a:pt x="37" y="89"/>
                    </a:cubicBezTo>
                    <a:cubicBezTo>
                      <a:pt x="36" y="91"/>
                      <a:pt x="33" y="94"/>
                      <a:pt x="31" y="96"/>
                    </a:cubicBezTo>
                    <a:cubicBezTo>
                      <a:pt x="30" y="98"/>
                      <a:pt x="27" y="102"/>
                      <a:pt x="25" y="105"/>
                    </a:cubicBezTo>
                    <a:cubicBezTo>
                      <a:pt x="23" y="108"/>
                      <a:pt x="20" y="111"/>
                      <a:pt x="19" y="112"/>
                    </a:cubicBezTo>
                    <a:cubicBezTo>
                      <a:pt x="18" y="113"/>
                      <a:pt x="15" y="114"/>
                      <a:pt x="13" y="115"/>
                    </a:cubicBezTo>
                    <a:cubicBezTo>
                      <a:pt x="10" y="116"/>
                      <a:pt x="6" y="119"/>
                      <a:pt x="4" y="121"/>
                    </a:cubicBezTo>
                    <a:cubicBezTo>
                      <a:pt x="2" y="123"/>
                      <a:pt x="0" y="125"/>
                      <a:pt x="0" y="125"/>
                    </a:cubicBezTo>
                    <a:cubicBezTo>
                      <a:pt x="0" y="125"/>
                      <a:pt x="2" y="125"/>
                      <a:pt x="6" y="126"/>
                    </a:cubicBezTo>
                    <a:cubicBezTo>
                      <a:pt x="9" y="126"/>
                      <a:pt x="15" y="126"/>
                      <a:pt x="19" y="126"/>
                    </a:cubicBezTo>
                    <a:cubicBezTo>
                      <a:pt x="23" y="126"/>
                      <a:pt x="27" y="126"/>
                      <a:pt x="28" y="127"/>
                    </a:cubicBezTo>
                    <a:cubicBezTo>
                      <a:pt x="30" y="128"/>
                      <a:pt x="33" y="127"/>
                      <a:pt x="35" y="126"/>
                    </a:cubicBezTo>
                    <a:cubicBezTo>
                      <a:pt x="37" y="125"/>
                      <a:pt x="41" y="125"/>
                      <a:pt x="44" y="126"/>
                    </a:cubicBezTo>
                    <a:cubicBezTo>
                      <a:pt x="47" y="127"/>
                      <a:pt x="52" y="129"/>
                      <a:pt x="55" y="130"/>
                    </a:cubicBezTo>
                    <a:cubicBezTo>
                      <a:pt x="58" y="131"/>
                      <a:pt x="62" y="131"/>
                      <a:pt x="65" y="130"/>
                    </a:cubicBezTo>
                    <a:cubicBezTo>
                      <a:pt x="67" y="129"/>
                      <a:pt x="71" y="129"/>
                      <a:pt x="72" y="131"/>
                    </a:cubicBezTo>
                    <a:cubicBezTo>
                      <a:pt x="74" y="132"/>
                      <a:pt x="78" y="134"/>
                      <a:pt x="81" y="135"/>
                    </a:cubicBezTo>
                    <a:cubicBezTo>
                      <a:pt x="84" y="136"/>
                      <a:pt x="88" y="138"/>
                      <a:pt x="90" y="140"/>
                    </a:cubicBezTo>
                    <a:cubicBezTo>
                      <a:pt x="92" y="141"/>
                      <a:pt x="98" y="143"/>
                      <a:pt x="104" y="143"/>
                    </a:cubicBezTo>
                    <a:cubicBezTo>
                      <a:pt x="110" y="143"/>
                      <a:pt x="117" y="142"/>
                      <a:pt x="119" y="142"/>
                    </a:cubicBezTo>
                    <a:cubicBezTo>
                      <a:pt x="122" y="142"/>
                      <a:pt x="127" y="144"/>
                      <a:pt x="130" y="146"/>
                    </a:cubicBezTo>
                    <a:cubicBezTo>
                      <a:pt x="133" y="148"/>
                      <a:pt x="136" y="151"/>
                      <a:pt x="137" y="153"/>
                    </a:cubicBezTo>
                    <a:cubicBezTo>
                      <a:pt x="138" y="154"/>
                      <a:pt x="139" y="158"/>
                      <a:pt x="140" y="160"/>
                    </a:cubicBezTo>
                    <a:cubicBezTo>
                      <a:pt x="140" y="163"/>
                      <a:pt x="140" y="167"/>
                      <a:pt x="140" y="169"/>
                    </a:cubicBezTo>
                    <a:cubicBezTo>
                      <a:pt x="140" y="172"/>
                      <a:pt x="141" y="176"/>
                      <a:pt x="142" y="177"/>
                    </a:cubicBezTo>
                    <a:cubicBezTo>
                      <a:pt x="142" y="179"/>
                      <a:pt x="143" y="182"/>
                      <a:pt x="142" y="183"/>
                    </a:cubicBezTo>
                    <a:cubicBezTo>
                      <a:pt x="142" y="184"/>
                      <a:pt x="144" y="187"/>
                      <a:pt x="145" y="190"/>
                    </a:cubicBezTo>
                    <a:cubicBezTo>
                      <a:pt x="147" y="193"/>
                      <a:pt x="150" y="197"/>
                      <a:pt x="150" y="199"/>
                    </a:cubicBezTo>
                    <a:cubicBezTo>
                      <a:pt x="151" y="201"/>
                      <a:pt x="152" y="203"/>
                      <a:pt x="153" y="205"/>
                    </a:cubicBezTo>
                    <a:cubicBezTo>
                      <a:pt x="154" y="206"/>
                      <a:pt x="154" y="210"/>
                      <a:pt x="153" y="213"/>
                    </a:cubicBezTo>
                    <a:cubicBezTo>
                      <a:pt x="152" y="215"/>
                      <a:pt x="153" y="218"/>
                      <a:pt x="154" y="219"/>
                    </a:cubicBezTo>
                    <a:cubicBezTo>
                      <a:pt x="156" y="221"/>
                      <a:pt x="160" y="222"/>
                      <a:pt x="163" y="222"/>
                    </a:cubicBezTo>
                    <a:cubicBezTo>
                      <a:pt x="167" y="223"/>
                      <a:pt x="171" y="223"/>
                      <a:pt x="174" y="223"/>
                    </a:cubicBezTo>
                    <a:cubicBezTo>
                      <a:pt x="176" y="223"/>
                      <a:pt x="179" y="223"/>
                      <a:pt x="180" y="224"/>
                    </a:cubicBezTo>
                    <a:cubicBezTo>
                      <a:pt x="182" y="225"/>
                      <a:pt x="183" y="228"/>
                      <a:pt x="183" y="231"/>
                    </a:cubicBezTo>
                    <a:cubicBezTo>
                      <a:pt x="183" y="234"/>
                      <a:pt x="183" y="237"/>
                      <a:pt x="184" y="238"/>
                    </a:cubicBezTo>
                    <a:cubicBezTo>
                      <a:pt x="186" y="239"/>
                      <a:pt x="188" y="239"/>
                      <a:pt x="190" y="239"/>
                    </a:cubicBezTo>
                    <a:cubicBezTo>
                      <a:pt x="192" y="239"/>
                      <a:pt x="195" y="240"/>
                      <a:pt x="196" y="243"/>
                    </a:cubicBezTo>
                    <a:cubicBezTo>
                      <a:pt x="196" y="245"/>
                      <a:pt x="198" y="249"/>
                      <a:pt x="199" y="250"/>
                    </a:cubicBezTo>
                    <a:cubicBezTo>
                      <a:pt x="201" y="252"/>
                      <a:pt x="202" y="253"/>
                      <a:pt x="202" y="253"/>
                    </a:cubicBezTo>
                    <a:cubicBezTo>
                      <a:pt x="202" y="253"/>
                      <a:pt x="203" y="252"/>
                      <a:pt x="204" y="251"/>
                    </a:cubicBezTo>
                    <a:cubicBezTo>
                      <a:pt x="205" y="250"/>
                      <a:pt x="206" y="248"/>
                      <a:pt x="206" y="246"/>
                    </a:cubicBezTo>
                    <a:cubicBezTo>
                      <a:pt x="206" y="245"/>
                      <a:pt x="205" y="244"/>
                      <a:pt x="204" y="243"/>
                    </a:cubicBezTo>
                    <a:cubicBezTo>
                      <a:pt x="203" y="243"/>
                      <a:pt x="203" y="242"/>
                      <a:pt x="205" y="241"/>
                    </a:cubicBezTo>
                    <a:cubicBezTo>
                      <a:pt x="207" y="240"/>
                      <a:pt x="211" y="237"/>
                      <a:pt x="214" y="235"/>
                    </a:cubicBezTo>
                    <a:cubicBezTo>
                      <a:pt x="217" y="233"/>
                      <a:pt x="220" y="231"/>
                      <a:pt x="221" y="230"/>
                    </a:cubicBezTo>
                    <a:cubicBezTo>
                      <a:pt x="223" y="229"/>
                      <a:pt x="225" y="227"/>
                      <a:pt x="227" y="227"/>
                    </a:cubicBezTo>
                    <a:cubicBezTo>
                      <a:pt x="228" y="226"/>
                      <a:pt x="232" y="224"/>
                      <a:pt x="234" y="223"/>
                    </a:cubicBezTo>
                    <a:cubicBezTo>
                      <a:pt x="236" y="221"/>
                      <a:pt x="240" y="218"/>
                      <a:pt x="243" y="216"/>
                    </a:cubicBezTo>
                    <a:cubicBezTo>
                      <a:pt x="246" y="214"/>
                      <a:pt x="249" y="212"/>
                      <a:pt x="251" y="210"/>
                    </a:cubicBezTo>
                    <a:cubicBezTo>
                      <a:pt x="252" y="209"/>
                      <a:pt x="256" y="207"/>
                      <a:pt x="259" y="205"/>
                    </a:cubicBezTo>
                    <a:cubicBezTo>
                      <a:pt x="262" y="204"/>
                      <a:pt x="267" y="202"/>
                      <a:pt x="269" y="201"/>
                    </a:cubicBezTo>
                    <a:cubicBezTo>
                      <a:pt x="271" y="201"/>
                      <a:pt x="273" y="200"/>
                      <a:pt x="274" y="200"/>
                    </a:cubicBezTo>
                    <a:cubicBezTo>
                      <a:pt x="275" y="200"/>
                      <a:pt x="277" y="199"/>
                      <a:pt x="279" y="198"/>
                    </a:cubicBezTo>
                    <a:cubicBezTo>
                      <a:pt x="280" y="196"/>
                      <a:pt x="282" y="194"/>
                      <a:pt x="284" y="193"/>
                    </a:cubicBezTo>
                    <a:cubicBezTo>
                      <a:pt x="286" y="192"/>
                      <a:pt x="288" y="191"/>
                      <a:pt x="289" y="190"/>
                    </a:cubicBezTo>
                    <a:cubicBezTo>
                      <a:pt x="290" y="190"/>
                      <a:pt x="292" y="189"/>
                      <a:pt x="294" y="189"/>
                    </a:cubicBezTo>
                    <a:cubicBezTo>
                      <a:pt x="296" y="189"/>
                      <a:pt x="299" y="190"/>
                      <a:pt x="301" y="190"/>
                    </a:cubicBezTo>
                    <a:cubicBezTo>
                      <a:pt x="303" y="190"/>
                      <a:pt x="306" y="191"/>
                      <a:pt x="308" y="192"/>
                    </a:cubicBezTo>
                    <a:cubicBezTo>
                      <a:pt x="309" y="193"/>
                      <a:pt x="311" y="193"/>
                      <a:pt x="311" y="192"/>
                    </a:cubicBezTo>
                    <a:cubicBezTo>
                      <a:pt x="312" y="191"/>
                      <a:pt x="312" y="189"/>
                      <a:pt x="313" y="187"/>
                    </a:cubicBezTo>
                    <a:cubicBezTo>
                      <a:pt x="313" y="185"/>
                      <a:pt x="315" y="183"/>
                      <a:pt x="317" y="182"/>
                    </a:cubicBezTo>
                    <a:cubicBezTo>
                      <a:pt x="319" y="181"/>
                      <a:pt x="323" y="180"/>
                      <a:pt x="325" y="178"/>
                    </a:cubicBezTo>
                    <a:cubicBezTo>
                      <a:pt x="328" y="177"/>
                      <a:pt x="330" y="175"/>
                      <a:pt x="331" y="174"/>
                    </a:cubicBezTo>
                    <a:cubicBezTo>
                      <a:pt x="332" y="173"/>
                      <a:pt x="334" y="173"/>
                      <a:pt x="335" y="173"/>
                    </a:cubicBezTo>
                    <a:cubicBezTo>
                      <a:pt x="337" y="173"/>
                      <a:pt x="339" y="172"/>
                      <a:pt x="340" y="172"/>
                    </a:cubicBezTo>
                    <a:cubicBezTo>
                      <a:pt x="342" y="172"/>
                      <a:pt x="343" y="171"/>
                      <a:pt x="343" y="171"/>
                    </a:cubicBezTo>
                    <a:cubicBezTo>
                      <a:pt x="343" y="171"/>
                      <a:pt x="342" y="169"/>
                      <a:pt x="341" y="166"/>
                    </a:cubicBezTo>
                    <a:cubicBezTo>
                      <a:pt x="340" y="163"/>
                      <a:pt x="339" y="159"/>
                      <a:pt x="340" y="15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407924" tIns="203962" rIns="407924" bIns="20396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246"/>
              </a:p>
            </p:txBody>
          </p:sp>
          <p:sp>
            <p:nvSpPr>
              <p:cNvPr id="1244" name="Freeform 13">
                <a:extLst>
                  <a:ext uri="{FF2B5EF4-FFF2-40B4-BE49-F238E27FC236}">
                    <a16:creationId xmlns:a16="http://schemas.microsoft.com/office/drawing/2014/main" id="{385CDBFD-864D-DFE4-FC37-EEEC90AF4C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90979" y="3757963"/>
                <a:ext cx="724156" cy="726076"/>
              </a:xfrm>
              <a:custGeom>
                <a:avLst/>
                <a:gdLst/>
                <a:ahLst/>
                <a:cxnLst>
                  <a:cxn ang="0">
                    <a:pos x="275" y="34"/>
                  </a:cxn>
                  <a:cxn ang="0">
                    <a:pos x="243" y="35"/>
                  </a:cxn>
                  <a:cxn ang="0">
                    <a:pos x="226" y="35"/>
                  </a:cxn>
                  <a:cxn ang="0">
                    <a:pos x="205" y="36"/>
                  </a:cxn>
                  <a:cxn ang="0">
                    <a:pos x="197" y="40"/>
                  </a:cxn>
                  <a:cxn ang="0">
                    <a:pos x="187" y="17"/>
                  </a:cxn>
                  <a:cxn ang="0">
                    <a:pos x="166" y="37"/>
                  </a:cxn>
                  <a:cxn ang="0">
                    <a:pos x="133" y="23"/>
                  </a:cxn>
                  <a:cxn ang="0">
                    <a:pos x="133" y="1"/>
                  </a:cxn>
                  <a:cxn ang="0">
                    <a:pos x="121" y="19"/>
                  </a:cxn>
                  <a:cxn ang="0">
                    <a:pos x="116" y="33"/>
                  </a:cxn>
                  <a:cxn ang="0">
                    <a:pos x="109" y="52"/>
                  </a:cxn>
                  <a:cxn ang="0">
                    <a:pos x="104" y="72"/>
                  </a:cxn>
                  <a:cxn ang="0">
                    <a:pos x="98" y="91"/>
                  </a:cxn>
                  <a:cxn ang="0">
                    <a:pos x="87" y="117"/>
                  </a:cxn>
                  <a:cxn ang="0">
                    <a:pos x="67" y="132"/>
                  </a:cxn>
                  <a:cxn ang="0">
                    <a:pos x="59" y="151"/>
                  </a:cxn>
                  <a:cxn ang="0">
                    <a:pos x="46" y="159"/>
                  </a:cxn>
                  <a:cxn ang="0">
                    <a:pos x="28" y="173"/>
                  </a:cxn>
                  <a:cxn ang="0">
                    <a:pos x="21" y="193"/>
                  </a:cxn>
                  <a:cxn ang="0">
                    <a:pos x="6" y="208"/>
                  </a:cxn>
                  <a:cxn ang="0">
                    <a:pos x="1" y="240"/>
                  </a:cxn>
                  <a:cxn ang="0">
                    <a:pos x="6" y="255"/>
                  </a:cxn>
                  <a:cxn ang="0">
                    <a:pos x="14" y="274"/>
                  </a:cxn>
                  <a:cxn ang="0">
                    <a:pos x="29" y="286"/>
                  </a:cxn>
                  <a:cxn ang="0">
                    <a:pos x="50" y="296"/>
                  </a:cxn>
                  <a:cxn ang="0">
                    <a:pos x="80" y="309"/>
                  </a:cxn>
                  <a:cxn ang="0">
                    <a:pos x="97" y="320"/>
                  </a:cxn>
                  <a:cxn ang="0">
                    <a:pos x="112" y="306"/>
                  </a:cxn>
                  <a:cxn ang="0">
                    <a:pos x="119" y="293"/>
                  </a:cxn>
                  <a:cxn ang="0">
                    <a:pos x="144" y="282"/>
                  </a:cxn>
                  <a:cxn ang="0">
                    <a:pos x="169" y="280"/>
                  </a:cxn>
                  <a:cxn ang="0">
                    <a:pos x="201" y="271"/>
                  </a:cxn>
                  <a:cxn ang="0">
                    <a:pos x="229" y="276"/>
                  </a:cxn>
                  <a:cxn ang="0">
                    <a:pos x="250" y="263"/>
                  </a:cxn>
                  <a:cxn ang="0">
                    <a:pos x="252" y="252"/>
                  </a:cxn>
                  <a:cxn ang="0">
                    <a:pos x="249" y="233"/>
                  </a:cxn>
                  <a:cxn ang="0">
                    <a:pos x="256" y="218"/>
                  </a:cxn>
                  <a:cxn ang="0">
                    <a:pos x="253" y="193"/>
                  </a:cxn>
                  <a:cxn ang="0">
                    <a:pos x="254" y="172"/>
                  </a:cxn>
                  <a:cxn ang="0">
                    <a:pos x="216" y="162"/>
                  </a:cxn>
                  <a:cxn ang="0">
                    <a:pos x="218" y="141"/>
                  </a:cxn>
                  <a:cxn ang="0">
                    <a:pos x="255" y="152"/>
                  </a:cxn>
                  <a:cxn ang="0">
                    <a:pos x="260" y="165"/>
                  </a:cxn>
                  <a:cxn ang="0">
                    <a:pos x="275" y="149"/>
                  </a:cxn>
                  <a:cxn ang="0">
                    <a:pos x="276" y="132"/>
                  </a:cxn>
                  <a:cxn ang="0">
                    <a:pos x="289" y="119"/>
                  </a:cxn>
                  <a:cxn ang="0">
                    <a:pos x="302" y="115"/>
                  </a:cxn>
                  <a:cxn ang="0">
                    <a:pos x="316" y="115"/>
                  </a:cxn>
                  <a:cxn ang="0">
                    <a:pos x="316" y="91"/>
                  </a:cxn>
                  <a:cxn ang="0">
                    <a:pos x="307" y="55"/>
                  </a:cxn>
                  <a:cxn ang="0">
                    <a:pos x="311" y="33"/>
                  </a:cxn>
                  <a:cxn ang="0">
                    <a:pos x="304" y="22"/>
                  </a:cxn>
                </a:cxnLst>
                <a:rect l="0" t="0" r="r" b="b"/>
                <a:pathLst>
                  <a:path w="319" h="320">
                    <a:moveTo>
                      <a:pt x="295" y="24"/>
                    </a:moveTo>
                    <a:cubicBezTo>
                      <a:pt x="292" y="25"/>
                      <a:pt x="288" y="27"/>
                      <a:pt x="285" y="29"/>
                    </a:cubicBezTo>
                    <a:cubicBezTo>
                      <a:pt x="283" y="32"/>
                      <a:pt x="278" y="34"/>
                      <a:pt x="275" y="34"/>
                    </a:cubicBezTo>
                    <a:cubicBezTo>
                      <a:pt x="271" y="34"/>
                      <a:pt x="265" y="36"/>
                      <a:pt x="261" y="37"/>
                    </a:cubicBezTo>
                    <a:cubicBezTo>
                      <a:pt x="257" y="39"/>
                      <a:pt x="252" y="39"/>
                      <a:pt x="249" y="37"/>
                    </a:cubicBezTo>
                    <a:cubicBezTo>
                      <a:pt x="247" y="35"/>
                      <a:pt x="244" y="34"/>
                      <a:pt x="243" y="35"/>
                    </a:cubicBezTo>
                    <a:cubicBezTo>
                      <a:pt x="242" y="35"/>
                      <a:pt x="242" y="38"/>
                      <a:pt x="243" y="40"/>
                    </a:cubicBezTo>
                    <a:cubicBezTo>
                      <a:pt x="244" y="43"/>
                      <a:pt x="241" y="43"/>
                      <a:pt x="237" y="41"/>
                    </a:cubicBezTo>
                    <a:cubicBezTo>
                      <a:pt x="232" y="39"/>
                      <a:pt x="228" y="36"/>
                      <a:pt x="226" y="35"/>
                    </a:cubicBezTo>
                    <a:cubicBezTo>
                      <a:pt x="225" y="34"/>
                      <a:pt x="222" y="33"/>
                      <a:pt x="221" y="33"/>
                    </a:cubicBezTo>
                    <a:cubicBezTo>
                      <a:pt x="220" y="33"/>
                      <a:pt x="216" y="34"/>
                      <a:pt x="213" y="35"/>
                    </a:cubicBezTo>
                    <a:cubicBezTo>
                      <a:pt x="210" y="35"/>
                      <a:pt x="206" y="36"/>
                      <a:pt x="205" y="36"/>
                    </a:cubicBezTo>
                    <a:cubicBezTo>
                      <a:pt x="203" y="36"/>
                      <a:pt x="201" y="37"/>
                      <a:pt x="200" y="39"/>
                    </a:cubicBezTo>
                    <a:cubicBezTo>
                      <a:pt x="200" y="41"/>
                      <a:pt x="199" y="43"/>
                      <a:pt x="198" y="42"/>
                    </a:cubicBezTo>
                    <a:cubicBezTo>
                      <a:pt x="197" y="42"/>
                      <a:pt x="197" y="41"/>
                      <a:pt x="197" y="40"/>
                    </a:cubicBezTo>
                    <a:cubicBezTo>
                      <a:pt x="197" y="38"/>
                      <a:pt x="197" y="36"/>
                      <a:pt x="196" y="33"/>
                    </a:cubicBezTo>
                    <a:cubicBezTo>
                      <a:pt x="196" y="31"/>
                      <a:pt x="195" y="28"/>
                      <a:pt x="193" y="25"/>
                    </a:cubicBezTo>
                    <a:cubicBezTo>
                      <a:pt x="192" y="23"/>
                      <a:pt x="190" y="19"/>
                      <a:pt x="187" y="17"/>
                    </a:cubicBezTo>
                    <a:cubicBezTo>
                      <a:pt x="185" y="15"/>
                      <a:pt x="181" y="17"/>
                      <a:pt x="178" y="20"/>
                    </a:cubicBezTo>
                    <a:cubicBezTo>
                      <a:pt x="175" y="24"/>
                      <a:pt x="172" y="30"/>
                      <a:pt x="171" y="32"/>
                    </a:cubicBezTo>
                    <a:cubicBezTo>
                      <a:pt x="169" y="35"/>
                      <a:pt x="167" y="37"/>
                      <a:pt x="166" y="37"/>
                    </a:cubicBezTo>
                    <a:cubicBezTo>
                      <a:pt x="164" y="37"/>
                      <a:pt x="160" y="35"/>
                      <a:pt x="156" y="34"/>
                    </a:cubicBezTo>
                    <a:cubicBezTo>
                      <a:pt x="153" y="32"/>
                      <a:pt x="146" y="30"/>
                      <a:pt x="143" y="29"/>
                    </a:cubicBezTo>
                    <a:cubicBezTo>
                      <a:pt x="139" y="27"/>
                      <a:pt x="134" y="25"/>
                      <a:pt x="133" y="23"/>
                    </a:cubicBezTo>
                    <a:cubicBezTo>
                      <a:pt x="132" y="22"/>
                      <a:pt x="131" y="18"/>
                      <a:pt x="131" y="15"/>
                    </a:cubicBezTo>
                    <a:cubicBezTo>
                      <a:pt x="132" y="12"/>
                      <a:pt x="133" y="7"/>
                      <a:pt x="135" y="4"/>
                    </a:cubicBezTo>
                    <a:cubicBezTo>
                      <a:pt x="136" y="2"/>
                      <a:pt x="135" y="0"/>
                      <a:pt x="133" y="1"/>
                    </a:cubicBezTo>
                    <a:cubicBezTo>
                      <a:pt x="131" y="2"/>
                      <a:pt x="129" y="3"/>
                      <a:pt x="128" y="4"/>
                    </a:cubicBezTo>
                    <a:cubicBezTo>
                      <a:pt x="127" y="6"/>
                      <a:pt x="125" y="9"/>
                      <a:pt x="124" y="13"/>
                    </a:cubicBezTo>
                    <a:cubicBezTo>
                      <a:pt x="122" y="16"/>
                      <a:pt x="121" y="19"/>
                      <a:pt x="121" y="19"/>
                    </a:cubicBezTo>
                    <a:cubicBezTo>
                      <a:pt x="121" y="19"/>
                      <a:pt x="121" y="20"/>
                      <a:pt x="121" y="22"/>
                    </a:cubicBezTo>
                    <a:cubicBezTo>
                      <a:pt x="121" y="23"/>
                      <a:pt x="120" y="25"/>
                      <a:pt x="119" y="27"/>
                    </a:cubicBezTo>
                    <a:cubicBezTo>
                      <a:pt x="117" y="28"/>
                      <a:pt x="116" y="31"/>
                      <a:pt x="116" y="33"/>
                    </a:cubicBezTo>
                    <a:cubicBezTo>
                      <a:pt x="116" y="35"/>
                      <a:pt x="115" y="39"/>
                      <a:pt x="115" y="41"/>
                    </a:cubicBezTo>
                    <a:cubicBezTo>
                      <a:pt x="114" y="43"/>
                      <a:pt x="112" y="45"/>
                      <a:pt x="111" y="47"/>
                    </a:cubicBezTo>
                    <a:cubicBezTo>
                      <a:pt x="110" y="48"/>
                      <a:pt x="109" y="51"/>
                      <a:pt x="109" y="52"/>
                    </a:cubicBezTo>
                    <a:cubicBezTo>
                      <a:pt x="109" y="54"/>
                      <a:pt x="108" y="56"/>
                      <a:pt x="107" y="58"/>
                    </a:cubicBezTo>
                    <a:cubicBezTo>
                      <a:pt x="106" y="60"/>
                      <a:pt x="104" y="63"/>
                      <a:pt x="104" y="65"/>
                    </a:cubicBezTo>
                    <a:cubicBezTo>
                      <a:pt x="104" y="67"/>
                      <a:pt x="104" y="70"/>
                      <a:pt x="104" y="72"/>
                    </a:cubicBezTo>
                    <a:cubicBezTo>
                      <a:pt x="104" y="74"/>
                      <a:pt x="103" y="76"/>
                      <a:pt x="103" y="77"/>
                    </a:cubicBezTo>
                    <a:cubicBezTo>
                      <a:pt x="102" y="79"/>
                      <a:pt x="101" y="81"/>
                      <a:pt x="100" y="84"/>
                    </a:cubicBezTo>
                    <a:cubicBezTo>
                      <a:pt x="99" y="86"/>
                      <a:pt x="98" y="89"/>
                      <a:pt x="98" y="91"/>
                    </a:cubicBezTo>
                    <a:cubicBezTo>
                      <a:pt x="98" y="93"/>
                      <a:pt x="98" y="96"/>
                      <a:pt x="97" y="97"/>
                    </a:cubicBezTo>
                    <a:cubicBezTo>
                      <a:pt x="97" y="98"/>
                      <a:pt x="96" y="102"/>
                      <a:pt x="95" y="106"/>
                    </a:cubicBezTo>
                    <a:cubicBezTo>
                      <a:pt x="94" y="110"/>
                      <a:pt x="90" y="115"/>
                      <a:pt x="87" y="117"/>
                    </a:cubicBezTo>
                    <a:cubicBezTo>
                      <a:pt x="84" y="118"/>
                      <a:pt x="80" y="120"/>
                      <a:pt x="78" y="121"/>
                    </a:cubicBezTo>
                    <a:cubicBezTo>
                      <a:pt x="75" y="121"/>
                      <a:pt x="72" y="123"/>
                      <a:pt x="70" y="124"/>
                    </a:cubicBezTo>
                    <a:cubicBezTo>
                      <a:pt x="69" y="126"/>
                      <a:pt x="67" y="129"/>
                      <a:pt x="67" y="132"/>
                    </a:cubicBezTo>
                    <a:cubicBezTo>
                      <a:pt x="67" y="134"/>
                      <a:pt x="66" y="137"/>
                      <a:pt x="65" y="138"/>
                    </a:cubicBezTo>
                    <a:cubicBezTo>
                      <a:pt x="64" y="139"/>
                      <a:pt x="63" y="141"/>
                      <a:pt x="63" y="144"/>
                    </a:cubicBezTo>
                    <a:cubicBezTo>
                      <a:pt x="62" y="146"/>
                      <a:pt x="61" y="149"/>
                      <a:pt x="59" y="151"/>
                    </a:cubicBezTo>
                    <a:cubicBezTo>
                      <a:pt x="58" y="153"/>
                      <a:pt x="56" y="154"/>
                      <a:pt x="55" y="154"/>
                    </a:cubicBezTo>
                    <a:cubicBezTo>
                      <a:pt x="54" y="154"/>
                      <a:pt x="52" y="155"/>
                      <a:pt x="50" y="156"/>
                    </a:cubicBezTo>
                    <a:cubicBezTo>
                      <a:pt x="49" y="157"/>
                      <a:pt x="47" y="159"/>
                      <a:pt x="46" y="159"/>
                    </a:cubicBezTo>
                    <a:cubicBezTo>
                      <a:pt x="45" y="159"/>
                      <a:pt x="43" y="160"/>
                      <a:pt x="41" y="161"/>
                    </a:cubicBezTo>
                    <a:cubicBezTo>
                      <a:pt x="40" y="162"/>
                      <a:pt x="37" y="164"/>
                      <a:pt x="34" y="166"/>
                    </a:cubicBezTo>
                    <a:cubicBezTo>
                      <a:pt x="31" y="168"/>
                      <a:pt x="29" y="171"/>
                      <a:pt x="28" y="173"/>
                    </a:cubicBezTo>
                    <a:cubicBezTo>
                      <a:pt x="27" y="175"/>
                      <a:pt x="26" y="177"/>
                      <a:pt x="26" y="179"/>
                    </a:cubicBezTo>
                    <a:cubicBezTo>
                      <a:pt x="26" y="180"/>
                      <a:pt x="25" y="183"/>
                      <a:pt x="25" y="185"/>
                    </a:cubicBezTo>
                    <a:cubicBezTo>
                      <a:pt x="24" y="188"/>
                      <a:pt x="22" y="191"/>
                      <a:pt x="21" y="193"/>
                    </a:cubicBezTo>
                    <a:cubicBezTo>
                      <a:pt x="19" y="195"/>
                      <a:pt x="17" y="198"/>
                      <a:pt x="15" y="198"/>
                    </a:cubicBezTo>
                    <a:cubicBezTo>
                      <a:pt x="14" y="199"/>
                      <a:pt x="11" y="201"/>
                      <a:pt x="10" y="202"/>
                    </a:cubicBezTo>
                    <a:cubicBezTo>
                      <a:pt x="9" y="203"/>
                      <a:pt x="7" y="206"/>
                      <a:pt x="6" y="208"/>
                    </a:cubicBezTo>
                    <a:cubicBezTo>
                      <a:pt x="5" y="209"/>
                      <a:pt x="3" y="213"/>
                      <a:pt x="2" y="216"/>
                    </a:cubicBezTo>
                    <a:cubicBezTo>
                      <a:pt x="1" y="219"/>
                      <a:pt x="0" y="224"/>
                      <a:pt x="0" y="228"/>
                    </a:cubicBezTo>
                    <a:cubicBezTo>
                      <a:pt x="0" y="231"/>
                      <a:pt x="0" y="237"/>
                      <a:pt x="1" y="240"/>
                    </a:cubicBezTo>
                    <a:cubicBezTo>
                      <a:pt x="2" y="243"/>
                      <a:pt x="3" y="247"/>
                      <a:pt x="4" y="249"/>
                    </a:cubicBezTo>
                    <a:cubicBezTo>
                      <a:pt x="4" y="251"/>
                      <a:pt x="5" y="252"/>
                      <a:pt x="5" y="252"/>
                    </a:cubicBezTo>
                    <a:cubicBezTo>
                      <a:pt x="5" y="252"/>
                      <a:pt x="5" y="254"/>
                      <a:pt x="6" y="255"/>
                    </a:cubicBezTo>
                    <a:cubicBezTo>
                      <a:pt x="7" y="256"/>
                      <a:pt x="7" y="260"/>
                      <a:pt x="8" y="262"/>
                    </a:cubicBezTo>
                    <a:cubicBezTo>
                      <a:pt x="8" y="265"/>
                      <a:pt x="9" y="267"/>
                      <a:pt x="11" y="268"/>
                    </a:cubicBezTo>
                    <a:cubicBezTo>
                      <a:pt x="13" y="269"/>
                      <a:pt x="15" y="271"/>
                      <a:pt x="14" y="274"/>
                    </a:cubicBezTo>
                    <a:cubicBezTo>
                      <a:pt x="14" y="276"/>
                      <a:pt x="14" y="280"/>
                      <a:pt x="14" y="281"/>
                    </a:cubicBezTo>
                    <a:cubicBezTo>
                      <a:pt x="14" y="282"/>
                      <a:pt x="17" y="285"/>
                      <a:pt x="20" y="286"/>
                    </a:cubicBezTo>
                    <a:cubicBezTo>
                      <a:pt x="24" y="287"/>
                      <a:pt x="28" y="287"/>
                      <a:pt x="29" y="286"/>
                    </a:cubicBezTo>
                    <a:cubicBezTo>
                      <a:pt x="31" y="286"/>
                      <a:pt x="34" y="287"/>
                      <a:pt x="35" y="288"/>
                    </a:cubicBezTo>
                    <a:cubicBezTo>
                      <a:pt x="37" y="290"/>
                      <a:pt x="40" y="291"/>
                      <a:pt x="42" y="291"/>
                    </a:cubicBezTo>
                    <a:cubicBezTo>
                      <a:pt x="43" y="291"/>
                      <a:pt x="47" y="293"/>
                      <a:pt x="50" y="296"/>
                    </a:cubicBezTo>
                    <a:cubicBezTo>
                      <a:pt x="53" y="298"/>
                      <a:pt x="58" y="301"/>
                      <a:pt x="61" y="302"/>
                    </a:cubicBezTo>
                    <a:cubicBezTo>
                      <a:pt x="64" y="303"/>
                      <a:pt x="68" y="305"/>
                      <a:pt x="71" y="305"/>
                    </a:cubicBezTo>
                    <a:cubicBezTo>
                      <a:pt x="74" y="306"/>
                      <a:pt x="78" y="307"/>
                      <a:pt x="80" y="309"/>
                    </a:cubicBezTo>
                    <a:cubicBezTo>
                      <a:pt x="83" y="311"/>
                      <a:pt x="86" y="313"/>
                      <a:pt x="87" y="313"/>
                    </a:cubicBezTo>
                    <a:cubicBezTo>
                      <a:pt x="89" y="314"/>
                      <a:pt x="92" y="316"/>
                      <a:pt x="94" y="317"/>
                    </a:cubicBezTo>
                    <a:cubicBezTo>
                      <a:pt x="95" y="319"/>
                      <a:pt x="97" y="320"/>
                      <a:pt x="97" y="320"/>
                    </a:cubicBezTo>
                    <a:cubicBezTo>
                      <a:pt x="97" y="320"/>
                      <a:pt x="98" y="319"/>
                      <a:pt x="99" y="318"/>
                    </a:cubicBezTo>
                    <a:cubicBezTo>
                      <a:pt x="100" y="317"/>
                      <a:pt x="103" y="314"/>
                      <a:pt x="105" y="311"/>
                    </a:cubicBezTo>
                    <a:cubicBezTo>
                      <a:pt x="108" y="309"/>
                      <a:pt x="111" y="307"/>
                      <a:pt x="112" y="306"/>
                    </a:cubicBezTo>
                    <a:cubicBezTo>
                      <a:pt x="113" y="305"/>
                      <a:pt x="115" y="304"/>
                      <a:pt x="115" y="303"/>
                    </a:cubicBezTo>
                    <a:cubicBezTo>
                      <a:pt x="116" y="301"/>
                      <a:pt x="116" y="299"/>
                      <a:pt x="117" y="298"/>
                    </a:cubicBezTo>
                    <a:cubicBezTo>
                      <a:pt x="117" y="297"/>
                      <a:pt x="118" y="295"/>
                      <a:pt x="119" y="293"/>
                    </a:cubicBezTo>
                    <a:cubicBezTo>
                      <a:pt x="120" y="291"/>
                      <a:pt x="122" y="288"/>
                      <a:pt x="124" y="287"/>
                    </a:cubicBezTo>
                    <a:cubicBezTo>
                      <a:pt x="126" y="286"/>
                      <a:pt x="130" y="284"/>
                      <a:pt x="133" y="284"/>
                    </a:cubicBezTo>
                    <a:cubicBezTo>
                      <a:pt x="137" y="283"/>
                      <a:pt x="141" y="282"/>
                      <a:pt x="144" y="282"/>
                    </a:cubicBezTo>
                    <a:cubicBezTo>
                      <a:pt x="146" y="282"/>
                      <a:pt x="150" y="281"/>
                      <a:pt x="153" y="280"/>
                    </a:cubicBezTo>
                    <a:cubicBezTo>
                      <a:pt x="156" y="279"/>
                      <a:pt x="160" y="279"/>
                      <a:pt x="161" y="280"/>
                    </a:cubicBezTo>
                    <a:cubicBezTo>
                      <a:pt x="163" y="281"/>
                      <a:pt x="166" y="281"/>
                      <a:pt x="169" y="280"/>
                    </a:cubicBezTo>
                    <a:cubicBezTo>
                      <a:pt x="171" y="278"/>
                      <a:pt x="175" y="276"/>
                      <a:pt x="178" y="274"/>
                    </a:cubicBezTo>
                    <a:cubicBezTo>
                      <a:pt x="181" y="272"/>
                      <a:pt x="185" y="271"/>
                      <a:pt x="188" y="271"/>
                    </a:cubicBezTo>
                    <a:cubicBezTo>
                      <a:pt x="191" y="270"/>
                      <a:pt x="197" y="270"/>
                      <a:pt x="201" y="271"/>
                    </a:cubicBezTo>
                    <a:cubicBezTo>
                      <a:pt x="205" y="271"/>
                      <a:pt x="210" y="272"/>
                      <a:pt x="212" y="272"/>
                    </a:cubicBezTo>
                    <a:cubicBezTo>
                      <a:pt x="214" y="273"/>
                      <a:pt x="218" y="274"/>
                      <a:pt x="221" y="275"/>
                    </a:cubicBezTo>
                    <a:cubicBezTo>
                      <a:pt x="223" y="276"/>
                      <a:pt x="227" y="277"/>
                      <a:pt x="229" y="276"/>
                    </a:cubicBezTo>
                    <a:cubicBezTo>
                      <a:pt x="232" y="275"/>
                      <a:pt x="235" y="274"/>
                      <a:pt x="237" y="272"/>
                    </a:cubicBezTo>
                    <a:cubicBezTo>
                      <a:pt x="240" y="270"/>
                      <a:pt x="243" y="268"/>
                      <a:pt x="246" y="266"/>
                    </a:cubicBezTo>
                    <a:cubicBezTo>
                      <a:pt x="248" y="264"/>
                      <a:pt x="250" y="263"/>
                      <a:pt x="250" y="263"/>
                    </a:cubicBezTo>
                    <a:cubicBezTo>
                      <a:pt x="250" y="263"/>
                      <a:pt x="251" y="262"/>
                      <a:pt x="252" y="262"/>
                    </a:cubicBezTo>
                    <a:cubicBezTo>
                      <a:pt x="253" y="261"/>
                      <a:pt x="254" y="259"/>
                      <a:pt x="254" y="258"/>
                    </a:cubicBezTo>
                    <a:cubicBezTo>
                      <a:pt x="253" y="256"/>
                      <a:pt x="252" y="253"/>
                      <a:pt x="252" y="252"/>
                    </a:cubicBezTo>
                    <a:cubicBezTo>
                      <a:pt x="252" y="250"/>
                      <a:pt x="252" y="247"/>
                      <a:pt x="253" y="246"/>
                    </a:cubicBezTo>
                    <a:cubicBezTo>
                      <a:pt x="254" y="244"/>
                      <a:pt x="254" y="241"/>
                      <a:pt x="254" y="239"/>
                    </a:cubicBezTo>
                    <a:cubicBezTo>
                      <a:pt x="254" y="237"/>
                      <a:pt x="252" y="234"/>
                      <a:pt x="249" y="233"/>
                    </a:cubicBezTo>
                    <a:cubicBezTo>
                      <a:pt x="247" y="232"/>
                      <a:pt x="245" y="230"/>
                      <a:pt x="246" y="229"/>
                    </a:cubicBezTo>
                    <a:cubicBezTo>
                      <a:pt x="246" y="228"/>
                      <a:pt x="248" y="225"/>
                      <a:pt x="250" y="223"/>
                    </a:cubicBezTo>
                    <a:cubicBezTo>
                      <a:pt x="252" y="221"/>
                      <a:pt x="255" y="218"/>
                      <a:pt x="256" y="218"/>
                    </a:cubicBezTo>
                    <a:cubicBezTo>
                      <a:pt x="258" y="217"/>
                      <a:pt x="259" y="215"/>
                      <a:pt x="260" y="213"/>
                    </a:cubicBezTo>
                    <a:cubicBezTo>
                      <a:pt x="261" y="211"/>
                      <a:pt x="260" y="206"/>
                      <a:pt x="259" y="202"/>
                    </a:cubicBezTo>
                    <a:cubicBezTo>
                      <a:pt x="258" y="198"/>
                      <a:pt x="255" y="194"/>
                      <a:pt x="253" y="193"/>
                    </a:cubicBezTo>
                    <a:cubicBezTo>
                      <a:pt x="251" y="192"/>
                      <a:pt x="250" y="189"/>
                      <a:pt x="250" y="187"/>
                    </a:cubicBezTo>
                    <a:cubicBezTo>
                      <a:pt x="251" y="185"/>
                      <a:pt x="252" y="181"/>
                      <a:pt x="253" y="180"/>
                    </a:cubicBezTo>
                    <a:cubicBezTo>
                      <a:pt x="254" y="178"/>
                      <a:pt x="254" y="175"/>
                      <a:pt x="254" y="172"/>
                    </a:cubicBezTo>
                    <a:cubicBezTo>
                      <a:pt x="254" y="170"/>
                      <a:pt x="254" y="168"/>
                      <a:pt x="254" y="168"/>
                    </a:cubicBezTo>
                    <a:cubicBezTo>
                      <a:pt x="217" y="167"/>
                      <a:pt x="217" y="167"/>
                      <a:pt x="217" y="167"/>
                    </a:cubicBezTo>
                    <a:cubicBezTo>
                      <a:pt x="217" y="167"/>
                      <a:pt x="216" y="165"/>
                      <a:pt x="216" y="162"/>
                    </a:cubicBezTo>
                    <a:cubicBezTo>
                      <a:pt x="215" y="160"/>
                      <a:pt x="215" y="156"/>
                      <a:pt x="216" y="155"/>
                    </a:cubicBezTo>
                    <a:cubicBezTo>
                      <a:pt x="217" y="154"/>
                      <a:pt x="218" y="150"/>
                      <a:pt x="218" y="147"/>
                    </a:cubicBezTo>
                    <a:cubicBezTo>
                      <a:pt x="218" y="144"/>
                      <a:pt x="218" y="141"/>
                      <a:pt x="218" y="141"/>
                    </a:cubicBezTo>
                    <a:cubicBezTo>
                      <a:pt x="218" y="141"/>
                      <a:pt x="226" y="141"/>
                      <a:pt x="234" y="141"/>
                    </a:cubicBezTo>
                    <a:cubicBezTo>
                      <a:pt x="243" y="141"/>
                      <a:pt x="251" y="143"/>
                      <a:pt x="253" y="144"/>
                    </a:cubicBezTo>
                    <a:cubicBezTo>
                      <a:pt x="254" y="146"/>
                      <a:pt x="255" y="149"/>
                      <a:pt x="255" y="152"/>
                    </a:cubicBezTo>
                    <a:cubicBezTo>
                      <a:pt x="256" y="154"/>
                      <a:pt x="255" y="159"/>
                      <a:pt x="255" y="162"/>
                    </a:cubicBezTo>
                    <a:cubicBezTo>
                      <a:pt x="255" y="165"/>
                      <a:pt x="254" y="168"/>
                      <a:pt x="254" y="168"/>
                    </a:cubicBezTo>
                    <a:cubicBezTo>
                      <a:pt x="254" y="168"/>
                      <a:pt x="257" y="167"/>
                      <a:pt x="260" y="165"/>
                    </a:cubicBezTo>
                    <a:cubicBezTo>
                      <a:pt x="263" y="164"/>
                      <a:pt x="268" y="162"/>
                      <a:pt x="271" y="162"/>
                    </a:cubicBezTo>
                    <a:cubicBezTo>
                      <a:pt x="274" y="161"/>
                      <a:pt x="276" y="159"/>
                      <a:pt x="276" y="157"/>
                    </a:cubicBezTo>
                    <a:cubicBezTo>
                      <a:pt x="275" y="155"/>
                      <a:pt x="275" y="151"/>
                      <a:pt x="275" y="149"/>
                    </a:cubicBezTo>
                    <a:cubicBezTo>
                      <a:pt x="274" y="147"/>
                      <a:pt x="274" y="144"/>
                      <a:pt x="274" y="142"/>
                    </a:cubicBezTo>
                    <a:cubicBezTo>
                      <a:pt x="274" y="140"/>
                      <a:pt x="275" y="139"/>
                      <a:pt x="275" y="138"/>
                    </a:cubicBezTo>
                    <a:cubicBezTo>
                      <a:pt x="276" y="137"/>
                      <a:pt x="276" y="135"/>
                      <a:pt x="276" y="132"/>
                    </a:cubicBezTo>
                    <a:cubicBezTo>
                      <a:pt x="275" y="130"/>
                      <a:pt x="276" y="127"/>
                      <a:pt x="277" y="125"/>
                    </a:cubicBezTo>
                    <a:cubicBezTo>
                      <a:pt x="279" y="124"/>
                      <a:pt x="282" y="123"/>
                      <a:pt x="285" y="124"/>
                    </a:cubicBezTo>
                    <a:cubicBezTo>
                      <a:pt x="287" y="124"/>
                      <a:pt x="289" y="122"/>
                      <a:pt x="289" y="119"/>
                    </a:cubicBezTo>
                    <a:cubicBezTo>
                      <a:pt x="289" y="116"/>
                      <a:pt x="291" y="112"/>
                      <a:pt x="293" y="110"/>
                    </a:cubicBezTo>
                    <a:cubicBezTo>
                      <a:pt x="294" y="109"/>
                      <a:pt x="297" y="109"/>
                      <a:pt x="298" y="110"/>
                    </a:cubicBezTo>
                    <a:cubicBezTo>
                      <a:pt x="300" y="112"/>
                      <a:pt x="301" y="114"/>
                      <a:pt x="302" y="115"/>
                    </a:cubicBezTo>
                    <a:cubicBezTo>
                      <a:pt x="302" y="117"/>
                      <a:pt x="305" y="118"/>
                      <a:pt x="307" y="118"/>
                    </a:cubicBezTo>
                    <a:cubicBezTo>
                      <a:pt x="310" y="118"/>
                      <a:pt x="312" y="118"/>
                      <a:pt x="312" y="118"/>
                    </a:cubicBezTo>
                    <a:cubicBezTo>
                      <a:pt x="312" y="118"/>
                      <a:pt x="314" y="116"/>
                      <a:pt x="316" y="115"/>
                    </a:cubicBezTo>
                    <a:cubicBezTo>
                      <a:pt x="318" y="113"/>
                      <a:pt x="319" y="109"/>
                      <a:pt x="318" y="105"/>
                    </a:cubicBezTo>
                    <a:cubicBezTo>
                      <a:pt x="317" y="101"/>
                      <a:pt x="317" y="97"/>
                      <a:pt x="318" y="96"/>
                    </a:cubicBezTo>
                    <a:cubicBezTo>
                      <a:pt x="319" y="94"/>
                      <a:pt x="318" y="92"/>
                      <a:pt x="316" y="91"/>
                    </a:cubicBezTo>
                    <a:cubicBezTo>
                      <a:pt x="314" y="89"/>
                      <a:pt x="310" y="85"/>
                      <a:pt x="309" y="82"/>
                    </a:cubicBezTo>
                    <a:cubicBezTo>
                      <a:pt x="308" y="78"/>
                      <a:pt x="306" y="72"/>
                      <a:pt x="306" y="67"/>
                    </a:cubicBezTo>
                    <a:cubicBezTo>
                      <a:pt x="305" y="63"/>
                      <a:pt x="306" y="57"/>
                      <a:pt x="307" y="55"/>
                    </a:cubicBezTo>
                    <a:cubicBezTo>
                      <a:pt x="308" y="52"/>
                      <a:pt x="310" y="49"/>
                      <a:pt x="311" y="47"/>
                    </a:cubicBezTo>
                    <a:cubicBezTo>
                      <a:pt x="313" y="45"/>
                      <a:pt x="313" y="42"/>
                      <a:pt x="311" y="40"/>
                    </a:cubicBezTo>
                    <a:cubicBezTo>
                      <a:pt x="310" y="39"/>
                      <a:pt x="310" y="36"/>
                      <a:pt x="311" y="33"/>
                    </a:cubicBezTo>
                    <a:cubicBezTo>
                      <a:pt x="313" y="31"/>
                      <a:pt x="313" y="28"/>
                      <a:pt x="311" y="25"/>
                    </a:cubicBezTo>
                    <a:cubicBezTo>
                      <a:pt x="309" y="23"/>
                      <a:pt x="308" y="21"/>
                      <a:pt x="308" y="21"/>
                    </a:cubicBezTo>
                    <a:cubicBezTo>
                      <a:pt x="308" y="21"/>
                      <a:pt x="306" y="22"/>
                      <a:pt x="304" y="22"/>
                    </a:cubicBezTo>
                    <a:cubicBezTo>
                      <a:pt x="301" y="23"/>
                      <a:pt x="297" y="24"/>
                      <a:pt x="295" y="2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407924" tIns="203962" rIns="407924" bIns="203962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246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774AD63-4CF0-0EE8-A20E-48ECA54E27D5}"/>
                </a:ext>
              </a:extLst>
            </p:cNvPr>
            <p:cNvGrpSpPr/>
            <p:nvPr/>
          </p:nvGrpSpPr>
          <p:grpSpPr>
            <a:xfrm>
              <a:off x="4891346" y="3770984"/>
              <a:ext cx="723385" cy="728176"/>
              <a:chOff x="4891346" y="3770984"/>
              <a:chExt cx="723385" cy="728176"/>
            </a:xfrm>
          </p:grpSpPr>
          <p:sp>
            <p:nvSpPr>
              <p:cNvPr id="1135" name="Freeform 76">
                <a:extLst>
                  <a:ext uri="{FF2B5EF4-FFF2-40B4-BE49-F238E27FC236}">
                    <a16:creationId xmlns:a16="http://schemas.microsoft.com/office/drawing/2014/main" id="{A3561D84-4B95-4353-7789-C735BF84F58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891346" y="3770984"/>
                <a:ext cx="723385" cy="728176"/>
              </a:xfrm>
              <a:custGeom>
                <a:avLst/>
                <a:gdLst/>
                <a:ahLst/>
                <a:cxnLst>
                  <a:cxn ang="0">
                    <a:pos x="412" y="830"/>
                  </a:cxn>
                  <a:cxn ang="0">
                    <a:pos x="476" y="828"/>
                  </a:cxn>
                  <a:cxn ang="0">
                    <a:pos x="527" y="812"/>
                  </a:cxn>
                  <a:cxn ang="0">
                    <a:pos x="600" y="820"/>
                  </a:cxn>
                  <a:cxn ang="0">
                    <a:pos x="637" y="812"/>
                  </a:cxn>
                  <a:cxn ang="0">
                    <a:pos x="689" y="791"/>
                  </a:cxn>
                  <a:cxn ang="0">
                    <a:pos x="687" y="759"/>
                  </a:cxn>
                  <a:cxn ang="0">
                    <a:pos x="698" y="711"/>
                  </a:cxn>
                  <a:cxn ang="0">
                    <a:pos x="691" y="663"/>
                  </a:cxn>
                  <a:cxn ang="0">
                    <a:pos x="717" y="616"/>
                  </a:cxn>
                  <a:cxn ang="0">
                    <a:pos x="708" y="561"/>
                  </a:cxn>
                  <a:cxn ang="0">
                    <a:pos x="756" y="521"/>
                  </a:cxn>
                  <a:cxn ang="0">
                    <a:pos x="785" y="488"/>
                  </a:cxn>
                  <a:cxn ang="0">
                    <a:pos x="785" y="411"/>
                  </a:cxn>
                  <a:cxn ang="0">
                    <a:pos x="819" y="398"/>
                  </a:cxn>
                  <a:cxn ang="0">
                    <a:pos x="838" y="373"/>
                  </a:cxn>
                  <a:cxn ang="0">
                    <a:pos x="871" y="392"/>
                  </a:cxn>
                  <a:cxn ang="0">
                    <a:pos x="902" y="355"/>
                  </a:cxn>
                  <a:cxn ang="0">
                    <a:pos x="890" y="315"/>
                  </a:cxn>
                  <a:cxn ang="0">
                    <a:pos x="867" y="269"/>
                  </a:cxn>
                  <a:cxn ang="0">
                    <a:pos x="877" y="227"/>
                  </a:cxn>
                  <a:cxn ang="0">
                    <a:pos x="875" y="187"/>
                  </a:cxn>
                  <a:cxn ang="0">
                    <a:pos x="867" y="160"/>
                  </a:cxn>
                  <a:cxn ang="0">
                    <a:pos x="827" y="175"/>
                  </a:cxn>
                  <a:cxn ang="0">
                    <a:pos x="783" y="198"/>
                  </a:cxn>
                  <a:cxn ang="0">
                    <a:pos x="742" y="196"/>
                  </a:cxn>
                  <a:cxn ang="0">
                    <a:pos x="696" y="160"/>
                  </a:cxn>
                  <a:cxn ang="0">
                    <a:pos x="675" y="192"/>
                  </a:cxn>
                  <a:cxn ang="0">
                    <a:pos x="646" y="154"/>
                  </a:cxn>
                  <a:cxn ang="0">
                    <a:pos x="597" y="160"/>
                  </a:cxn>
                  <a:cxn ang="0">
                    <a:pos x="575" y="142"/>
                  </a:cxn>
                  <a:cxn ang="0">
                    <a:pos x="556" y="93"/>
                  </a:cxn>
                  <a:cxn ang="0">
                    <a:pos x="516" y="87"/>
                  </a:cxn>
                  <a:cxn ang="0">
                    <a:pos x="495" y="110"/>
                  </a:cxn>
                  <a:cxn ang="0">
                    <a:pos x="474" y="39"/>
                  </a:cxn>
                  <a:cxn ang="0">
                    <a:pos x="437" y="14"/>
                  </a:cxn>
                  <a:cxn ang="0">
                    <a:pos x="395" y="29"/>
                  </a:cxn>
                  <a:cxn ang="0">
                    <a:pos x="355" y="71"/>
                  </a:cxn>
                  <a:cxn ang="0">
                    <a:pos x="349" y="85"/>
                  </a:cxn>
                  <a:cxn ang="0">
                    <a:pos x="316" y="202"/>
                  </a:cxn>
                  <a:cxn ang="0">
                    <a:pos x="293" y="275"/>
                  </a:cxn>
                  <a:cxn ang="0">
                    <a:pos x="295" y="336"/>
                  </a:cxn>
                  <a:cxn ang="0">
                    <a:pos x="265" y="365"/>
                  </a:cxn>
                  <a:cxn ang="0">
                    <a:pos x="199" y="400"/>
                  </a:cxn>
                  <a:cxn ang="0">
                    <a:pos x="163" y="465"/>
                  </a:cxn>
                  <a:cxn ang="0">
                    <a:pos x="111" y="490"/>
                  </a:cxn>
                  <a:cxn ang="0">
                    <a:pos x="90" y="555"/>
                  </a:cxn>
                  <a:cxn ang="0">
                    <a:pos x="44" y="593"/>
                  </a:cxn>
                  <a:cxn ang="0">
                    <a:pos x="11" y="626"/>
                  </a:cxn>
                  <a:cxn ang="0">
                    <a:pos x="0" y="682"/>
                  </a:cxn>
                  <a:cxn ang="0">
                    <a:pos x="6" y="726"/>
                  </a:cxn>
                  <a:cxn ang="0">
                    <a:pos x="36" y="760"/>
                  </a:cxn>
                  <a:cxn ang="0">
                    <a:pos x="38" y="795"/>
                  </a:cxn>
                  <a:cxn ang="0">
                    <a:pos x="75" y="822"/>
                  </a:cxn>
                  <a:cxn ang="0">
                    <a:pos x="144" y="864"/>
                  </a:cxn>
                  <a:cxn ang="0">
                    <a:pos x="228" y="916"/>
                  </a:cxn>
                  <a:cxn ang="0">
                    <a:pos x="272" y="935"/>
                  </a:cxn>
                  <a:cxn ang="0">
                    <a:pos x="295" y="897"/>
                  </a:cxn>
                  <a:cxn ang="0">
                    <a:pos x="345" y="854"/>
                  </a:cxn>
                </a:cxnLst>
                <a:rect l="0" t="0" r="r" b="b"/>
                <a:pathLst>
                  <a:path w="902" h="941">
                    <a:moveTo>
                      <a:pt x="370" y="831"/>
                    </a:moveTo>
                    <a:lnTo>
                      <a:pt x="393" y="830"/>
                    </a:lnTo>
                    <a:lnTo>
                      <a:pt x="412" y="830"/>
                    </a:lnTo>
                    <a:lnTo>
                      <a:pt x="437" y="826"/>
                    </a:lnTo>
                    <a:lnTo>
                      <a:pt x="455" y="830"/>
                    </a:lnTo>
                    <a:lnTo>
                      <a:pt x="476" y="828"/>
                    </a:lnTo>
                    <a:lnTo>
                      <a:pt x="495" y="818"/>
                    </a:lnTo>
                    <a:lnTo>
                      <a:pt x="514" y="808"/>
                    </a:lnTo>
                    <a:lnTo>
                      <a:pt x="527" y="812"/>
                    </a:lnTo>
                    <a:lnTo>
                      <a:pt x="552" y="812"/>
                    </a:lnTo>
                    <a:lnTo>
                      <a:pt x="587" y="812"/>
                    </a:lnTo>
                    <a:lnTo>
                      <a:pt x="600" y="820"/>
                    </a:lnTo>
                    <a:lnTo>
                      <a:pt x="612" y="828"/>
                    </a:lnTo>
                    <a:lnTo>
                      <a:pt x="631" y="828"/>
                    </a:lnTo>
                    <a:lnTo>
                      <a:pt x="637" y="812"/>
                    </a:lnTo>
                    <a:lnTo>
                      <a:pt x="656" y="812"/>
                    </a:lnTo>
                    <a:lnTo>
                      <a:pt x="669" y="803"/>
                    </a:lnTo>
                    <a:lnTo>
                      <a:pt x="689" y="791"/>
                    </a:lnTo>
                    <a:lnTo>
                      <a:pt x="700" y="782"/>
                    </a:lnTo>
                    <a:lnTo>
                      <a:pt x="698" y="768"/>
                    </a:lnTo>
                    <a:lnTo>
                      <a:pt x="687" y="759"/>
                    </a:lnTo>
                    <a:lnTo>
                      <a:pt x="691" y="743"/>
                    </a:lnTo>
                    <a:lnTo>
                      <a:pt x="706" y="724"/>
                    </a:lnTo>
                    <a:lnTo>
                      <a:pt x="698" y="711"/>
                    </a:lnTo>
                    <a:lnTo>
                      <a:pt x="681" y="699"/>
                    </a:lnTo>
                    <a:lnTo>
                      <a:pt x="681" y="676"/>
                    </a:lnTo>
                    <a:lnTo>
                      <a:pt x="691" y="663"/>
                    </a:lnTo>
                    <a:lnTo>
                      <a:pt x="710" y="653"/>
                    </a:lnTo>
                    <a:lnTo>
                      <a:pt x="717" y="636"/>
                    </a:lnTo>
                    <a:lnTo>
                      <a:pt x="717" y="616"/>
                    </a:lnTo>
                    <a:lnTo>
                      <a:pt x="710" y="599"/>
                    </a:lnTo>
                    <a:lnTo>
                      <a:pt x="704" y="580"/>
                    </a:lnTo>
                    <a:lnTo>
                      <a:pt x="708" y="561"/>
                    </a:lnTo>
                    <a:lnTo>
                      <a:pt x="721" y="538"/>
                    </a:lnTo>
                    <a:lnTo>
                      <a:pt x="740" y="536"/>
                    </a:lnTo>
                    <a:lnTo>
                      <a:pt x="756" y="521"/>
                    </a:lnTo>
                    <a:lnTo>
                      <a:pt x="775" y="515"/>
                    </a:lnTo>
                    <a:lnTo>
                      <a:pt x="794" y="501"/>
                    </a:lnTo>
                    <a:lnTo>
                      <a:pt x="785" y="488"/>
                    </a:lnTo>
                    <a:lnTo>
                      <a:pt x="788" y="436"/>
                    </a:lnTo>
                    <a:lnTo>
                      <a:pt x="796" y="423"/>
                    </a:lnTo>
                    <a:lnTo>
                      <a:pt x="785" y="411"/>
                    </a:lnTo>
                    <a:lnTo>
                      <a:pt x="786" y="398"/>
                    </a:lnTo>
                    <a:lnTo>
                      <a:pt x="802" y="400"/>
                    </a:lnTo>
                    <a:lnTo>
                      <a:pt x="819" y="398"/>
                    </a:lnTo>
                    <a:lnTo>
                      <a:pt x="823" y="380"/>
                    </a:lnTo>
                    <a:lnTo>
                      <a:pt x="829" y="365"/>
                    </a:lnTo>
                    <a:lnTo>
                      <a:pt x="838" y="373"/>
                    </a:lnTo>
                    <a:lnTo>
                      <a:pt x="844" y="380"/>
                    </a:lnTo>
                    <a:lnTo>
                      <a:pt x="857" y="390"/>
                    </a:lnTo>
                    <a:lnTo>
                      <a:pt x="871" y="392"/>
                    </a:lnTo>
                    <a:lnTo>
                      <a:pt x="882" y="386"/>
                    </a:lnTo>
                    <a:lnTo>
                      <a:pt x="894" y="373"/>
                    </a:lnTo>
                    <a:lnTo>
                      <a:pt x="902" y="355"/>
                    </a:lnTo>
                    <a:lnTo>
                      <a:pt x="902" y="340"/>
                    </a:lnTo>
                    <a:lnTo>
                      <a:pt x="902" y="329"/>
                    </a:lnTo>
                    <a:lnTo>
                      <a:pt x="890" y="315"/>
                    </a:lnTo>
                    <a:lnTo>
                      <a:pt x="879" y="300"/>
                    </a:lnTo>
                    <a:lnTo>
                      <a:pt x="867" y="284"/>
                    </a:lnTo>
                    <a:lnTo>
                      <a:pt x="867" y="269"/>
                    </a:lnTo>
                    <a:lnTo>
                      <a:pt x="865" y="254"/>
                    </a:lnTo>
                    <a:lnTo>
                      <a:pt x="867" y="236"/>
                    </a:lnTo>
                    <a:lnTo>
                      <a:pt x="877" y="227"/>
                    </a:lnTo>
                    <a:lnTo>
                      <a:pt x="877" y="215"/>
                    </a:lnTo>
                    <a:lnTo>
                      <a:pt x="869" y="202"/>
                    </a:lnTo>
                    <a:lnTo>
                      <a:pt x="875" y="187"/>
                    </a:lnTo>
                    <a:lnTo>
                      <a:pt x="863" y="175"/>
                    </a:lnTo>
                    <a:lnTo>
                      <a:pt x="871" y="162"/>
                    </a:lnTo>
                    <a:lnTo>
                      <a:pt x="867" y="160"/>
                    </a:lnTo>
                    <a:lnTo>
                      <a:pt x="854" y="158"/>
                    </a:lnTo>
                    <a:lnTo>
                      <a:pt x="840" y="164"/>
                    </a:lnTo>
                    <a:lnTo>
                      <a:pt x="827" y="175"/>
                    </a:lnTo>
                    <a:lnTo>
                      <a:pt x="819" y="189"/>
                    </a:lnTo>
                    <a:lnTo>
                      <a:pt x="802" y="198"/>
                    </a:lnTo>
                    <a:lnTo>
                      <a:pt x="783" y="198"/>
                    </a:lnTo>
                    <a:lnTo>
                      <a:pt x="773" y="187"/>
                    </a:lnTo>
                    <a:lnTo>
                      <a:pt x="756" y="200"/>
                    </a:lnTo>
                    <a:lnTo>
                      <a:pt x="742" y="196"/>
                    </a:lnTo>
                    <a:lnTo>
                      <a:pt x="725" y="187"/>
                    </a:lnTo>
                    <a:lnTo>
                      <a:pt x="710" y="167"/>
                    </a:lnTo>
                    <a:lnTo>
                      <a:pt x="696" y="160"/>
                    </a:lnTo>
                    <a:lnTo>
                      <a:pt x="694" y="175"/>
                    </a:lnTo>
                    <a:lnTo>
                      <a:pt x="692" y="194"/>
                    </a:lnTo>
                    <a:lnTo>
                      <a:pt x="675" y="192"/>
                    </a:lnTo>
                    <a:lnTo>
                      <a:pt x="664" y="179"/>
                    </a:lnTo>
                    <a:lnTo>
                      <a:pt x="648" y="173"/>
                    </a:lnTo>
                    <a:lnTo>
                      <a:pt x="646" y="154"/>
                    </a:lnTo>
                    <a:lnTo>
                      <a:pt x="629" y="150"/>
                    </a:lnTo>
                    <a:lnTo>
                      <a:pt x="612" y="152"/>
                    </a:lnTo>
                    <a:lnTo>
                      <a:pt x="597" y="160"/>
                    </a:lnTo>
                    <a:lnTo>
                      <a:pt x="589" y="175"/>
                    </a:lnTo>
                    <a:lnTo>
                      <a:pt x="572" y="164"/>
                    </a:lnTo>
                    <a:lnTo>
                      <a:pt x="575" y="142"/>
                    </a:lnTo>
                    <a:lnTo>
                      <a:pt x="577" y="119"/>
                    </a:lnTo>
                    <a:lnTo>
                      <a:pt x="568" y="104"/>
                    </a:lnTo>
                    <a:lnTo>
                      <a:pt x="556" y="93"/>
                    </a:lnTo>
                    <a:lnTo>
                      <a:pt x="554" y="68"/>
                    </a:lnTo>
                    <a:lnTo>
                      <a:pt x="541" y="77"/>
                    </a:lnTo>
                    <a:lnTo>
                      <a:pt x="516" y="87"/>
                    </a:lnTo>
                    <a:lnTo>
                      <a:pt x="514" y="102"/>
                    </a:lnTo>
                    <a:lnTo>
                      <a:pt x="501" y="123"/>
                    </a:lnTo>
                    <a:lnTo>
                      <a:pt x="495" y="110"/>
                    </a:lnTo>
                    <a:lnTo>
                      <a:pt x="495" y="79"/>
                    </a:lnTo>
                    <a:lnTo>
                      <a:pt x="487" y="54"/>
                    </a:lnTo>
                    <a:lnTo>
                      <a:pt x="474" y="39"/>
                    </a:lnTo>
                    <a:lnTo>
                      <a:pt x="472" y="27"/>
                    </a:lnTo>
                    <a:lnTo>
                      <a:pt x="455" y="20"/>
                    </a:lnTo>
                    <a:lnTo>
                      <a:pt x="437" y="14"/>
                    </a:lnTo>
                    <a:lnTo>
                      <a:pt x="420" y="0"/>
                    </a:lnTo>
                    <a:lnTo>
                      <a:pt x="407" y="12"/>
                    </a:lnTo>
                    <a:lnTo>
                      <a:pt x="395" y="29"/>
                    </a:lnTo>
                    <a:lnTo>
                      <a:pt x="380" y="37"/>
                    </a:lnTo>
                    <a:lnTo>
                      <a:pt x="372" y="58"/>
                    </a:lnTo>
                    <a:lnTo>
                      <a:pt x="355" y="71"/>
                    </a:lnTo>
                    <a:lnTo>
                      <a:pt x="347" y="71"/>
                    </a:lnTo>
                    <a:lnTo>
                      <a:pt x="347" y="66"/>
                    </a:lnTo>
                    <a:lnTo>
                      <a:pt x="349" y="85"/>
                    </a:lnTo>
                    <a:lnTo>
                      <a:pt x="338" y="137"/>
                    </a:lnTo>
                    <a:lnTo>
                      <a:pt x="328" y="167"/>
                    </a:lnTo>
                    <a:lnTo>
                      <a:pt x="316" y="202"/>
                    </a:lnTo>
                    <a:lnTo>
                      <a:pt x="299" y="227"/>
                    </a:lnTo>
                    <a:lnTo>
                      <a:pt x="299" y="256"/>
                    </a:lnTo>
                    <a:lnTo>
                      <a:pt x="293" y="275"/>
                    </a:lnTo>
                    <a:lnTo>
                      <a:pt x="293" y="300"/>
                    </a:lnTo>
                    <a:lnTo>
                      <a:pt x="295" y="321"/>
                    </a:lnTo>
                    <a:lnTo>
                      <a:pt x="295" y="336"/>
                    </a:lnTo>
                    <a:lnTo>
                      <a:pt x="278" y="338"/>
                    </a:lnTo>
                    <a:lnTo>
                      <a:pt x="265" y="348"/>
                    </a:lnTo>
                    <a:lnTo>
                      <a:pt x="265" y="365"/>
                    </a:lnTo>
                    <a:lnTo>
                      <a:pt x="238" y="365"/>
                    </a:lnTo>
                    <a:lnTo>
                      <a:pt x="213" y="379"/>
                    </a:lnTo>
                    <a:lnTo>
                      <a:pt x="199" y="400"/>
                    </a:lnTo>
                    <a:lnTo>
                      <a:pt x="194" y="428"/>
                    </a:lnTo>
                    <a:lnTo>
                      <a:pt x="182" y="450"/>
                    </a:lnTo>
                    <a:lnTo>
                      <a:pt x="163" y="465"/>
                    </a:lnTo>
                    <a:lnTo>
                      <a:pt x="148" y="469"/>
                    </a:lnTo>
                    <a:lnTo>
                      <a:pt x="126" y="474"/>
                    </a:lnTo>
                    <a:lnTo>
                      <a:pt x="111" y="490"/>
                    </a:lnTo>
                    <a:lnTo>
                      <a:pt x="92" y="513"/>
                    </a:lnTo>
                    <a:lnTo>
                      <a:pt x="90" y="536"/>
                    </a:lnTo>
                    <a:lnTo>
                      <a:pt x="90" y="555"/>
                    </a:lnTo>
                    <a:lnTo>
                      <a:pt x="73" y="557"/>
                    </a:lnTo>
                    <a:lnTo>
                      <a:pt x="63" y="576"/>
                    </a:lnTo>
                    <a:lnTo>
                      <a:pt x="44" y="593"/>
                    </a:lnTo>
                    <a:lnTo>
                      <a:pt x="38" y="613"/>
                    </a:lnTo>
                    <a:lnTo>
                      <a:pt x="23" y="613"/>
                    </a:lnTo>
                    <a:lnTo>
                      <a:pt x="11" y="626"/>
                    </a:lnTo>
                    <a:lnTo>
                      <a:pt x="6" y="647"/>
                    </a:lnTo>
                    <a:lnTo>
                      <a:pt x="0" y="663"/>
                    </a:lnTo>
                    <a:lnTo>
                      <a:pt x="0" y="682"/>
                    </a:lnTo>
                    <a:lnTo>
                      <a:pt x="6" y="707"/>
                    </a:lnTo>
                    <a:lnTo>
                      <a:pt x="4" y="722"/>
                    </a:lnTo>
                    <a:lnTo>
                      <a:pt x="6" y="726"/>
                    </a:lnTo>
                    <a:lnTo>
                      <a:pt x="11" y="735"/>
                    </a:lnTo>
                    <a:lnTo>
                      <a:pt x="11" y="757"/>
                    </a:lnTo>
                    <a:lnTo>
                      <a:pt x="36" y="760"/>
                    </a:lnTo>
                    <a:lnTo>
                      <a:pt x="57" y="768"/>
                    </a:lnTo>
                    <a:lnTo>
                      <a:pt x="54" y="783"/>
                    </a:lnTo>
                    <a:lnTo>
                      <a:pt x="38" y="795"/>
                    </a:lnTo>
                    <a:lnTo>
                      <a:pt x="40" y="814"/>
                    </a:lnTo>
                    <a:lnTo>
                      <a:pt x="63" y="814"/>
                    </a:lnTo>
                    <a:lnTo>
                      <a:pt x="75" y="822"/>
                    </a:lnTo>
                    <a:lnTo>
                      <a:pt x="105" y="831"/>
                    </a:lnTo>
                    <a:lnTo>
                      <a:pt x="130" y="853"/>
                    </a:lnTo>
                    <a:lnTo>
                      <a:pt x="144" y="864"/>
                    </a:lnTo>
                    <a:lnTo>
                      <a:pt x="169" y="889"/>
                    </a:lnTo>
                    <a:lnTo>
                      <a:pt x="194" y="899"/>
                    </a:lnTo>
                    <a:lnTo>
                      <a:pt x="228" y="916"/>
                    </a:lnTo>
                    <a:lnTo>
                      <a:pt x="245" y="924"/>
                    </a:lnTo>
                    <a:lnTo>
                      <a:pt x="261" y="941"/>
                    </a:lnTo>
                    <a:lnTo>
                      <a:pt x="272" y="935"/>
                    </a:lnTo>
                    <a:lnTo>
                      <a:pt x="282" y="927"/>
                    </a:lnTo>
                    <a:lnTo>
                      <a:pt x="286" y="908"/>
                    </a:lnTo>
                    <a:lnTo>
                      <a:pt x="295" y="897"/>
                    </a:lnTo>
                    <a:lnTo>
                      <a:pt x="315" y="881"/>
                    </a:lnTo>
                    <a:lnTo>
                      <a:pt x="330" y="866"/>
                    </a:lnTo>
                    <a:lnTo>
                      <a:pt x="345" y="854"/>
                    </a:lnTo>
                    <a:lnTo>
                      <a:pt x="357" y="841"/>
                    </a:lnTo>
                    <a:lnTo>
                      <a:pt x="370" y="831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mpd="sng">
                <a:solidFill>
                  <a:schemeClr val="accent4"/>
                </a:solidFill>
                <a:round/>
                <a:headEnd/>
                <a:tailEnd/>
              </a:ln>
            </p:spPr>
            <p:txBody>
              <a:bodyPr/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100" dirty="0">
                  <a:latin typeface="Poppins" panose="00000500000000000000" pitchFamily="2" charset="0"/>
                  <a:ea typeface="Roboto" pitchFamily="2" charset="0"/>
                  <a:cs typeface="Poppins" panose="00000500000000000000" pitchFamily="2" charset="0"/>
                </a:endParaRPr>
              </a:p>
            </p:txBody>
          </p:sp>
          <p:pic>
            <p:nvPicPr>
              <p:cNvPr id="1115" name="Graphic 1114" descr="Marker with solid fill">
                <a:extLst>
                  <a:ext uri="{FF2B5EF4-FFF2-40B4-BE49-F238E27FC236}">
                    <a16:creationId xmlns:a16="http://schemas.microsoft.com/office/drawing/2014/main" id="{EF414C40-5619-354E-5957-C5DAAB1ED2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070715" y="4002545"/>
                <a:ext cx="338391" cy="342262"/>
              </a:xfrm>
              <a:prstGeom prst="rect">
                <a:avLst/>
              </a:prstGeom>
            </p:spPr>
          </p:pic>
        </p:grpSp>
      </p:grpSp>
      <p:sp>
        <p:nvSpPr>
          <p:cNvPr id="1107" name="Rectangle 1106">
            <a:extLst>
              <a:ext uri="{FF2B5EF4-FFF2-40B4-BE49-F238E27FC236}">
                <a16:creationId xmlns:a16="http://schemas.microsoft.com/office/drawing/2014/main" id="{E9273B75-A1D2-6183-D1E3-AFFA563A57B2}"/>
              </a:ext>
            </a:extLst>
          </p:cNvPr>
          <p:cNvSpPr/>
          <p:nvPr/>
        </p:nvSpPr>
        <p:spPr>
          <a:xfrm>
            <a:off x="2417078" y="1565359"/>
            <a:ext cx="4587873" cy="336769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>
              <a:spcBef>
                <a:spcPts val="600"/>
              </a:spcBef>
              <a:buClr>
                <a:srgbClr val="222F44"/>
              </a:buClr>
            </a:pPr>
            <a:r>
              <a:rPr lang="en-US" sz="1600" b="1" dirty="0" err="1">
                <a:solidFill>
                  <a:schemeClr val="bg1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Estrategicamente</a:t>
            </a:r>
            <a:r>
              <a:rPr lang="en-US" sz="1600" b="1" dirty="0">
                <a:solidFill>
                  <a:schemeClr val="bg1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Montserrat" panose="00000500000000000000" pitchFamily="2" charset="0"/>
                <a:ea typeface="Source Serif Pro Black" panose="02040903050405020204" pitchFamily="18" charset="0"/>
              </a:rPr>
              <a:t>Localizada</a:t>
            </a:r>
            <a:endParaRPr lang="en-US" sz="1600" b="1" dirty="0">
              <a:solidFill>
                <a:schemeClr val="bg1"/>
              </a:solidFill>
              <a:latin typeface="Montserrat" panose="00000500000000000000" pitchFamily="2" charset="0"/>
              <a:ea typeface="Source Serif Pro Black" panose="020409030504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5890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B7A45028-A249-C25E-0A55-956712AD437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97" r="2193"/>
          <a:stretch/>
        </p:blipFill>
        <p:spPr>
          <a:xfrm>
            <a:off x="-1422399" y="0"/>
            <a:ext cx="9258594" cy="6858000"/>
          </a:xfrm>
          <a:prstGeom prst="roundRect">
            <a:avLst>
              <a:gd name="adj" fmla="val 8080"/>
            </a:avLst>
          </a:prstGeom>
        </p:spPr>
      </p:pic>
      <p:sp>
        <p:nvSpPr>
          <p:cNvPr id="5" name="CaixaDeTexto 7">
            <a:extLst>
              <a:ext uri="{FF2B5EF4-FFF2-40B4-BE49-F238E27FC236}">
                <a16:creationId xmlns:a16="http://schemas.microsoft.com/office/drawing/2014/main" id="{FD79ACCB-6AB3-CFDA-77F6-6FE014E6C0F3}"/>
              </a:ext>
            </a:extLst>
          </p:cNvPr>
          <p:cNvSpPr txBox="1"/>
          <p:nvPr/>
        </p:nvSpPr>
        <p:spPr>
          <a:xfrm>
            <a:off x="8751094" y="2166411"/>
            <a:ext cx="2343243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 w="12700"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Montserrat" panose="00000500000000000000" pitchFamily="2" charset="0"/>
                <a:ea typeface="Source Serif Pro Black" panose="02040903050405020204" pitchFamily="18" charset="0"/>
                <a:cs typeface="Times New Roman" panose="02020603050405020304" pitchFamily="18" charset="0"/>
              </a:rPr>
              <a:t>Índice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19B2507-8B0D-3D8A-57C3-12C3C7A7CE7F}"/>
              </a:ext>
            </a:extLst>
          </p:cNvPr>
          <p:cNvGrpSpPr/>
          <p:nvPr/>
        </p:nvGrpSpPr>
        <p:grpSpPr>
          <a:xfrm>
            <a:off x="8751095" y="2978611"/>
            <a:ext cx="2595636" cy="169277"/>
            <a:chOff x="8751095" y="2921461"/>
            <a:chExt cx="2595636" cy="169277"/>
          </a:xfrm>
        </p:grpSpPr>
        <p:sp>
          <p:nvSpPr>
            <p:cNvPr id="6" name="CaixaDeTexto 25">
              <a:extLst>
                <a:ext uri="{FF2B5EF4-FFF2-40B4-BE49-F238E27FC236}">
                  <a16:creationId xmlns:a16="http://schemas.microsoft.com/office/drawing/2014/main" id="{836ACABD-C067-6692-CF33-DE75424446FF}"/>
                </a:ext>
              </a:extLst>
            </p:cNvPr>
            <p:cNvSpPr txBox="1"/>
            <p:nvPr/>
          </p:nvSpPr>
          <p:spPr>
            <a:xfrm>
              <a:off x="8751095" y="2921461"/>
              <a:ext cx="2094705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pt-BR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ource Serif Pro" panose="02040603050405020204" pitchFamily="18" charset="0"/>
                  <a:ea typeface="Source Serif Pro" panose="02040603050405020204" pitchFamily="18" charset="0"/>
                  <a:cs typeface="Arial" panose="020B0604020202020204" pitchFamily="34" charset="0"/>
                </a:defRPr>
              </a:lvl1pPr>
            </a:lstStyle>
            <a:p>
              <a:r>
                <a:rPr lang="pt-BR" sz="1100" dirty="0">
                  <a:solidFill>
                    <a:schemeClr val="accent1">
                      <a:lumMod val="90000"/>
                    </a:schemeClr>
                  </a:solidFill>
                  <a:latin typeface="Montserrat" panose="00000500000000000000" pitchFamily="2" charset="0"/>
                </a:rPr>
                <a:t>Sumário</a:t>
              </a:r>
              <a:r>
                <a:rPr lang="pt-BR" sz="1100" b="1" dirty="0">
                  <a:latin typeface="Montserrat" panose="00000500000000000000" pitchFamily="2" charset="0"/>
                </a:rPr>
                <a:t> </a:t>
              </a:r>
              <a:r>
                <a:rPr lang="pt-BR" sz="1100" dirty="0">
                  <a:solidFill>
                    <a:schemeClr val="accent1">
                      <a:lumMod val="90000"/>
                    </a:schemeClr>
                  </a:solidFill>
                  <a:latin typeface="Montserrat" panose="00000500000000000000" pitchFamily="2" charset="0"/>
                </a:rPr>
                <a:t>Executivo</a:t>
              </a:r>
            </a:p>
          </p:txBody>
        </p:sp>
        <p:sp>
          <p:nvSpPr>
            <p:cNvPr id="7" name="CaixaDeTexto 27">
              <a:extLst>
                <a:ext uri="{FF2B5EF4-FFF2-40B4-BE49-F238E27FC236}">
                  <a16:creationId xmlns:a16="http://schemas.microsoft.com/office/drawing/2014/main" id="{833A7633-5D9D-D710-BB1F-7CFAAA5B6E35}"/>
                </a:ext>
              </a:extLst>
            </p:cNvPr>
            <p:cNvSpPr txBox="1"/>
            <p:nvPr/>
          </p:nvSpPr>
          <p:spPr>
            <a:xfrm>
              <a:off x="10918283" y="2921461"/>
              <a:ext cx="428448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pt-BR"/>
              </a:defPPr>
              <a:lvl1pPr marR="0" lvl="0" indent="0" algn="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100" b="0" i="0" u="none" strike="noStrike" cap="none" spc="0" normalizeH="0" baseline="0">
                  <a:ln>
                    <a:noFill/>
                  </a:ln>
                  <a:solidFill>
                    <a:schemeClr val="accent1">
                      <a:lumMod val="90000"/>
                    </a:schemeClr>
                  </a:solidFill>
                  <a:effectLst/>
                  <a:uLnTx/>
                  <a:uFillTx/>
                  <a:latin typeface="Montserrat" panose="00000500000000000000" pitchFamily="2" charset="0"/>
                  <a:ea typeface="Source Serif Pro" panose="02040603050405020204" pitchFamily="18" charset="0"/>
                  <a:cs typeface="Arial" panose="020B0604020202020204" pitchFamily="34" charset="0"/>
                </a:defRPr>
              </a:lvl1pPr>
            </a:lstStyle>
            <a:p>
              <a:r>
                <a:rPr lang="pt-BR" dirty="0"/>
                <a:t>XXX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1E0EABE-90B2-1316-4A4F-579056DE689B}"/>
              </a:ext>
            </a:extLst>
          </p:cNvPr>
          <p:cNvGrpSpPr/>
          <p:nvPr/>
        </p:nvGrpSpPr>
        <p:grpSpPr>
          <a:xfrm>
            <a:off x="8751095" y="3524316"/>
            <a:ext cx="2595636" cy="169277"/>
            <a:chOff x="8751095" y="3467166"/>
            <a:chExt cx="2595636" cy="169277"/>
          </a:xfrm>
        </p:grpSpPr>
        <p:sp>
          <p:nvSpPr>
            <p:cNvPr id="8" name="CaixaDeTexto 22">
              <a:extLst>
                <a:ext uri="{FF2B5EF4-FFF2-40B4-BE49-F238E27FC236}">
                  <a16:creationId xmlns:a16="http://schemas.microsoft.com/office/drawing/2014/main" id="{559327CA-F2B3-A860-9BCD-619CB95B8F7B}"/>
                </a:ext>
              </a:extLst>
            </p:cNvPr>
            <p:cNvSpPr txBox="1"/>
            <p:nvPr/>
          </p:nvSpPr>
          <p:spPr>
            <a:xfrm>
              <a:off x="8751095" y="3467166"/>
              <a:ext cx="1644924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pt-BR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ource Serif Pro" panose="02040603050405020204" pitchFamily="18" charset="0"/>
                  <a:ea typeface="Source Serif Pro" panose="02040603050405020204" pitchFamily="18" charset="0"/>
                  <a:cs typeface="Arial" panose="020B0604020202020204" pitchFamily="34" charset="0"/>
                </a:defRPr>
              </a:lvl1pPr>
            </a:lstStyle>
            <a:p>
              <a:r>
                <a:rPr lang="pt-BR" sz="1100" dirty="0">
                  <a:solidFill>
                    <a:schemeClr val="accent1">
                      <a:lumMod val="90000"/>
                    </a:schemeClr>
                  </a:solidFill>
                  <a:latin typeface="Montserrat" panose="00000500000000000000" pitchFamily="2" charset="0"/>
                </a:rPr>
                <a:t>Tese de Investimento</a:t>
              </a:r>
            </a:p>
          </p:txBody>
        </p:sp>
        <p:sp>
          <p:nvSpPr>
            <p:cNvPr id="9" name="CaixaDeTexto 24">
              <a:extLst>
                <a:ext uri="{FF2B5EF4-FFF2-40B4-BE49-F238E27FC236}">
                  <a16:creationId xmlns:a16="http://schemas.microsoft.com/office/drawing/2014/main" id="{A72CB28D-71D0-8D0B-7B60-70C8F1B7D856}"/>
                </a:ext>
              </a:extLst>
            </p:cNvPr>
            <p:cNvSpPr txBox="1"/>
            <p:nvPr/>
          </p:nvSpPr>
          <p:spPr>
            <a:xfrm>
              <a:off x="10918283" y="3467166"/>
              <a:ext cx="428448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pt-BR"/>
              </a:defPPr>
              <a:lvl1pPr marR="0" lvl="0" indent="0" algn="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ource Serif Pro" panose="02040603050405020204" pitchFamily="18" charset="0"/>
                  <a:ea typeface="Source Serif Pro" panose="02040603050405020204" pitchFamily="18" charset="0"/>
                  <a:cs typeface="Arial" panose="020B0604020202020204" pitchFamily="34" charset="0"/>
                </a:defRPr>
              </a:lvl1pPr>
            </a:lstStyle>
            <a:p>
              <a:r>
                <a:rPr lang="pt-BR" sz="1100" dirty="0">
                  <a:solidFill>
                    <a:schemeClr val="accent1">
                      <a:lumMod val="90000"/>
                    </a:schemeClr>
                  </a:solidFill>
                  <a:latin typeface="Montserrat" panose="00000500000000000000" pitchFamily="2" charset="0"/>
                </a:rPr>
                <a:t>XXX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96D47C7-2091-0424-6A87-11647777CB6E}"/>
              </a:ext>
            </a:extLst>
          </p:cNvPr>
          <p:cNvGrpSpPr/>
          <p:nvPr/>
        </p:nvGrpSpPr>
        <p:grpSpPr>
          <a:xfrm>
            <a:off x="8751095" y="4070021"/>
            <a:ext cx="2595636" cy="169277"/>
            <a:chOff x="8751095" y="4012871"/>
            <a:chExt cx="2595636" cy="169277"/>
          </a:xfrm>
        </p:grpSpPr>
        <p:sp>
          <p:nvSpPr>
            <p:cNvPr id="10" name="CaixaDeTexto 19">
              <a:extLst>
                <a:ext uri="{FF2B5EF4-FFF2-40B4-BE49-F238E27FC236}">
                  <a16:creationId xmlns:a16="http://schemas.microsoft.com/office/drawing/2014/main" id="{3B7EA016-3379-9159-CFE1-4950F0C21F58}"/>
                </a:ext>
              </a:extLst>
            </p:cNvPr>
            <p:cNvSpPr txBox="1"/>
            <p:nvPr/>
          </p:nvSpPr>
          <p:spPr>
            <a:xfrm>
              <a:off x="8751095" y="4012871"/>
              <a:ext cx="1978782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1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ea typeface="Source Serif Pro" panose="02040603050405020204" pitchFamily="18" charset="0"/>
                  <a:cs typeface="Arial" panose="020B0604020202020204" pitchFamily="34" charset="0"/>
                </a:rPr>
                <a:t>Overview da Companhia</a:t>
              </a:r>
            </a:p>
          </p:txBody>
        </p:sp>
        <p:sp>
          <p:nvSpPr>
            <p:cNvPr id="11" name="CaixaDeTexto 21">
              <a:extLst>
                <a:ext uri="{FF2B5EF4-FFF2-40B4-BE49-F238E27FC236}">
                  <a16:creationId xmlns:a16="http://schemas.microsoft.com/office/drawing/2014/main" id="{A7E2E72D-E3C4-251D-6587-B98D4A3D984F}"/>
                </a:ext>
              </a:extLst>
            </p:cNvPr>
            <p:cNvSpPr txBox="1"/>
            <p:nvPr/>
          </p:nvSpPr>
          <p:spPr>
            <a:xfrm>
              <a:off x="10918283" y="4012871"/>
              <a:ext cx="428448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1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ea typeface="Source Serif Pro" panose="02040603050405020204" pitchFamily="18" charset="0"/>
                  <a:cs typeface="Arial" panose="020B0604020202020204" pitchFamily="34" charset="0"/>
                </a:rPr>
                <a:t>XXX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6D03923-8C23-8BC1-7802-E3C399320153}"/>
              </a:ext>
            </a:extLst>
          </p:cNvPr>
          <p:cNvGrpSpPr/>
          <p:nvPr/>
        </p:nvGrpSpPr>
        <p:grpSpPr>
          <a:xfrm>
            <a:off x="8751095" y="4615726"/>
            <a:ext cx="2595636" cy="169277"/>
            <a:chOff x="8751095" y="4558576"/>
            <a:chExt cx="2595636" cy="169277"/>
          </a:xfrm>
        </p:grpSpPr>
        <p:sp>
          <p:nvSpPr>
            <p:cNvPr id="12" name="CaixaDeTexto 16">
              <a:extLst>
                <a:ext uri="{FF2B5EF4-FFF2-40B4-BE49-F238E27FC236}">
                  <a16:creationId xmlns:a16="http://schemas.microsoft.com/office/drawing/2014/main" id="{2583548C-E4E2-C6EC-C6B5-AB33E9F6FFD7}"/>
                </a:ext>
              </a:extLst>
            </p:cNvPr>
            <p:cNvSpPr txBox="1"/>
            <p:nvPr/>
          </p:nvSpPr>
          <p:spPr>
            <a:xfrm>
              <a:off x="8751095" y="4558576"/>
              <a:ext cx="1978782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90000"/>
                    </a:schemeClr>
                  </a:solidFill>
                  <a:effectLst/>
                  <a:uLnTx/>
                  <a:uFillTx/>
                  <a:latin typeface="Montserrat" panose="00000500000000000000" pitchFamily="2" charset="0"/>
                  <a:ea typeface="Source Serif Pro" panose="02040603050405020204" pitchFamily="18" charset="0"/>
                  <a:cs typeface="Arial" panose="020B0604020202020204" pitchFamily="34" charset="0"/>
                </a:rPr>
                <a:t>Informações Financeiras</a:t>
              </a:r>
            </a:p>
          </p:txBody>
        </p:sp>
        <p:sp>
          <p:nvSpPr>
            <p:cNvPr id="13" name="CaixaDeTexto 18">
              <a:extLst>
                <a:ext uri="{FF2B5EF4-FFF2-40B4-BE49-F238E27FC236}">
                  <a16:creationId xmlns:a16="http://schemas.microsoft.com/office/drawing/2014/main" id="{6882C907-1E39-1D54-CB86-66513C81CE4F}"/>
                </a:ext>
              </a:extLst>
            </p:cNvPr>
            <p:cNvSpPr txBox="1"/>
            <p:nvPr/>
          </p:nvSpPr>
          <p:spPr>
            <a:xfrm>
              <a:off x="10918283" y="4558576"/>
              <a:ext cx="428448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90000"/>
                    </a:schemeClr>
                  </a:solidFill>
                  <a:effectLst/>
                  <a:uLnTx/>
                  <a:uFillTx/>
                  <a:latin typeface="Montserrat" panose="00000500000000000000" pitchFamily="2" charset="0"/>
                  <a:ea typeface="Source Serif Pro" panose="02040603050405020204" pitchFamily="18" charset="0"/>
                  <a:cs typeface="Arial" panose="020B0604020202020204" pitchFamily="34" charset="0"/>
                </a:rPr>
                <a:t>XXX</a:t>
              </a:r>
            </a:p>
          </p:txBody>
        </p:sp>
      </p:grpSp>
      <p:pic>
        <p:nvPicPr>
          <p:cNvPr id="19" name="Gráfico 14">
            <a:extLst>
              <a:ext uri="{FF2B5EF4-FFF2-40B4-BE49-F238E27FC236}">
                <a16:creationId xmlns:a16="http://schemas.microsoft.com/office/drawing/2014/main" id="{7FF966E9-9692-C967-EC1C-C3B983BB7C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92538" y="307274"/>
            <a:ext cx="451161" cy="386290"/>
          </a:xfrm>
          <a:prstGeom prst="rect">
            <a:avLst/>
          </a:prstGeom>
        </p:spPr>
      </p:pic>
      <p:pic>
        <p:nvPicPr>
          <p:cNvPr id="20" name="Picture 19" descr="A black and white logo&#10;&#10;Description automatically generated">
            <a:extLst>
              <a:ext uri="{FF2B5EF4-FFF2-40B4-BE49-F238E27FC236}">
                <a16:creationId xmlns:a16="http://schemas.microsoft.com/office/drawing/2014/main" id="{04ED3035-EF34-8B9A-B443-931BF8084F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9900" y="6095907"/>
            <a:ext cx="1196500" cy="40457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1ACC8B2A-CA78-19AF-45B9-DD4338E373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752600" y="-161925"/>
            <a:ext cx="1752600" cy="7286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3188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B7A45028-A249-C25E-0A55-956712AD437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4" r="12476"/>
          <a:stretch/>
        </p:blipFill>
        <p:spPr>
          <a:xfrm>
            <a:off x="-1422399" y="0"/>
            <a:ext cx="9258594" cy="6858000"/>
          </a:xfrm>
          <a:prstGeom prst="roundRect">
            <a:avLst>
              <a:gd name="adj" fmla="val 8080"/>
            </a:avLst>
          </a:prstGeom>
        </p:spPr>
      </p:pic>
      <p:sp>
        <p:nvSpPr>
          <p:cNvPr id="5" name="CaixaDeTexto 7">
            <a:extLst>
              <a:ext uri="{FF2B5EF4-FFF2-40B4-BE49-F238E27FC236}">
                <a16:creationId xmlns:a16="http://schemas.microsoft.com/office/drawing/2014/main" id="{FD79ACCB-6AB3-CFDA-77F6-6FE014E6C0F3}"/>
              </a:ext>
            </a:extLst>
          </p:cNvPr>
          <p:cNvSpPr txBox="1"/>
          <p:nvPr/>
        </p:nvSpPr>
        <p:spPr>
          <a:xfrm>
            <a:off x="8751094" y="2166411"/>
            <a:ext cx="2343243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 w="12700"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Montserrat" panose="00000500000000000000" pitchFamily="2" charset="0"/>
                <a:ea typeface="Source Serif Pro Black" panose="02040903050405020204" pitchFamily="18" charset="0"/>
                <a:cs typeface="Times New Roman" panose="02020603050405020304" pitchFamily="18" charset="0"/>
              </a:rPr>
              <a:t>Índice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19B2507-8B0D-3D8A-57C3-12C3C7A7CE7F}"/>
              </a:ext>
            </a:extLst>
          </p:cNvPr>
          <p:cNvGrpSpPr/>
          <p:nvPr/>
        </p:nvGrpSpPr>
        <p:grpSpPr>
          <a:xfrm>
            <a:off x="8751095" y="2978611"/>
            <a:ext cx="2595636" cy="169277"/>
            <a:chOff x="8751095" y="2921461"/>
            <a:chExt cx="2595636" cy="169277"/>
          </a:xfrm>
        </p:grpSpPr>
        <p:sp>
          <p:nvSpPr>
            <p:cNvPr id="6" name="CaixaDeTexto 25">
              <a:extLst>
                <a:ext uri="{FF2B5EF4-FFF2-40B4-BE49-F238E27FC236}">
                  <a16:creationId xmlns:a16="http://schemas.microsoft.com/office/drawing/2014/main" id="{836ACABD-C067-6692-CF33-DE75424446FF}"/>
                </a:ext>
              </a:extLst>
            </p:cNvPr>
            <p:cNvSpPr txBox="1"/>
            <p:nvPr/>
          </p:nvSpPr>
          <p:spPr>
            <a:xfrm>
              <a:off x="8751095" y="2921461"/>
              <a:ext cx="2094705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pt-BR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ource Serif Pro" panose="02040603050405020204" pitchFamily="18" charset="0"/>
                  <a:ea typeface="Source Serif Pro" panose="02040603050405020204" pitchFamily="18" charset="0"/>
                  <a:cs typeface="Arial" panose="020B0604020202020204" pitchFamily="34" charset="0"/>
                </a:defRPr>
              </a:lvl1pPr>
            </a:lstStyle>
            <a:p>
              <a:r>
                <a:rPr lang="pt-BR" sz="1100" dirty="0">
                  <a:solidFill>
                    <a:schemeClr val="accent1">
                      <a:lumMod val="90000"/>
                    </a:schemeClr>
                  </a:solidFill>
                  <a:latin typeface="Montserrat" panose="00000500000000000000" pitchFamily="2" charset="0"/>
                </a:rPr>
                <a:t>Sumário Executivo</a:t>
              </a:r>
            </a:p>
          </p:txBody>
        </p:sp>
        <p:sp>
          <p:nvSpPr>
            <p:cNvPr id="7" name="CaixaDeTexto 27">
              <a:extLst>
                <a:ext uri="{FF2B5EF4-FFF2-40B4-BE49-F238E27FC236}">
                  <a16:creationId xmlns:a16="http://schemas.microsoft.com/office/drawing/2014/main" id="{833A7633-5D9D-D710-BB1F-7CFAAA5B6E35}"/>
                </a:ext>
              </a:extLst>
            </p:cNvPr>
            <p:cNvSpPr txBox="1"/>
            <p:nvPr/>
          </p:nvSpPr>
          <p:spPr>
            <a:xfrm>
              <a:off x="10918283" y="2921461"/>
              <a:ext cx="428448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pt-BR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ource Serif Pro" panose="02040603050405020204" pitchFamily="18" charset="0"/>
                  <a:ea typeface="Source Serif Pro" panose="02040603050405020204" pitchFamily="18" charset="0"/>
                  <a:cs typeface="Arial" panose="020B0604020202020204" pitchFamily="34" charset="0"/>
                </a:defRPr>
              </a:lvl1pPr>
            </a:lstStyle>
            <a:p>
              <a:pPr algn="r"/>
              <a:r>
                <a:rPr lang="pt-BR" sz="1100" dirty="0">
                  <a:solidFill>
                    <a:schemeClr val="accent1">
                      <a:lumMod val="90000"/>
                    </a:schemeClr>
                  </a:solidFill>
                  <a:latin typeface="Montserrat" panose="00000500000000000000" pitchFamily="2" charset="0"/>
                </a:rPr>
                <a:t>XXX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1E0EABE-90B2-1316-4A4F-579056DE689B}"/>
              </a:ext>
            </a:extLst>
          </p:cNvPr>
          <p:cNvGrpSpPr/>
          <p:nvPr/>
        </p:nvGrpSpPr>
        <p:grpSpPr>
          <a:xfrm>
            <a:off x="8751095" y="3524316"/>
            <a:ext cx="2595636" cy="169277"/>
            <a:chOff x="8751095" y="3467166"/>
            <a:chExt cx="2595636" cy="169277"/>
          </a:xfrm>
        </p:grpSpPr>
        <p:sp>
          <p:nvSpPr>
            <p:cNvPr id="8" name="CaixaDeTexto 22">
              <a:extLst>
                <a:ext uri="{FF2B5EF4-FFF2-40B4-BE49-F238E27FC236}">
                  <a16:creationId xmlns:a16="http://schemas.microsoft.com/office/drawing/2014/main" id="{559327CA-F2B3-A860-9BCD-619CB95B8F7B}"/>
                </a:ext>
              </a:extLst>
            </p:cNvPr>
            <p:cNvSpPr txBox="1"/>
            <p:nvPr/>
          </p:nvSpPr>
          <p:spPr>
            <a:xfrm>
              <a:off x="8751095" y="3467166"/>
              <a:ext cx="1644924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pt-BR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ource Serif Pro" panose="02040603050405020204" pitchFamily="18" charset="0"/>
                  <a:ea typeface="Source Serif Pro" panose="02040603050405020204" pitchFamily="18" charset="0"/>
                  <a:cs typeface="Arial" panose="020B0604020202020204" pitchFamily="34" charset="0"/>
                </a:defRPr>
              </a:lvl1pPr>
            </a:lstStyle>
            <a:p>
              <a:r>
                <a:rPr lang="pt-BR" sz="1100" dirty="0">
                  <a:solidFill>
                    <a:schemeClr val="accent1">
                      <a:lumMod val="90000"/>
                    </a:schemeClr>
                  </a:solidFill>
                  <a:latin typeface="Montserrat" panose="00000500000000000000" pitchFamily="2" charset="0"/>
                </a:rPr>
                <a:t>Tese de Investimento</a:t>
              </a:r>
            </a:p>
          </p:txBody>
        </p:sp>
        <p:sp>
          <p:nvSpPr>
            <p:cNvPr id="9" name="CaixaDeTexto 24">
              <a:extLst>
                <a:ext uri="{FF2B5EF4-FFF2-40B4-BE49-F238E27FC236}">
                  <a16:creationId xmlns:a16="http://schemas.microsoft.com/office/drawing/2014/main" id="{A72CB28D-71D0-8D0B-7B60-70C8F1B7D856}"/>
                </a:ext>
              </a:extLst>
            </p:cNvPr>
            <p:cNvSpPr txBox="1"/>
            <p:nvPr/>
          </p:nvSpPr>
          <p:spPr>
            <a:xfrm>
              <a:off x="10918283" y="3467166"/>
              <a:ext cx="428448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pt-BR"/>
              </a:defPPr>
              <a:lvl1pPr marR="0" lvl="0" indent="0" algn="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ource Serif Pro" panose="02040603050405020204" pitchFamily="18" charset="0"/>
                  <a:ea typeface="Source Serif Pro" panose="02040603050405020204" pitchFamily="18" charset="0"/>
                  <a:cs typeface="Arial" panose="020B0604020202020204" pitchFamily="34" charset="0"/>
                </a:defRPr>
              </a:lvl1pPr>
            </a:lstStyle>
            <a:p>
              <a:r>
                <a:rPr lang="pt-BR" sz="1100" dirty="0">
                  <a:solidFill>
                    <a:schemeClr val="accent1">
                      <a:lumMod val="90000"/>
                    </a:schemeClr>
                  </a:solidFill>
                  <a:latin typeface="Montserrat" panose="00000500000000000000" pitchFamily="2" charset="0"/>
                </a:rPr>
                <a:t>XXX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96D47C7-2091-0424-6A87-11647777CB6E}"/>
              </a:ext>
            </a:extLst>
          </p:cNvPr>
          <p:cNvGrpSpPr/>
          <p:nvPr/>
        </p:nvGrpSpPr>
        <p:grpSpPr>
          <a:xfrm>
            <a:off x="8751095" y="4070021"/>
            <a:ext cx="2595636" cy="169277"/>
            <a:chOff x="8751095" y="4012871"/>
            <a:chExt cx="2595636" cy="169277"/>
          </a:xfrm>
        </p:grpSpPr>
        <p:sp>
          <p:nvSpPr>
            <p:cNvPr id="10" name="CaixaDeTexto 19">
              <a:extLst>
                <a:ext uri="{FF2B5EF4-FFF2-40B4-BE49-F238E27FC236}">
                  <a16:creationId xmlns:a16="http://schemas.microsoft.com/office/drawing/2014/main" id="{3B7EA016-3379-9159-CFE1-4950F0C21F58}"/>
                </a:ext>
              </a:extLst>
            </p:cNvPr>
            <p:cNvSpPr txBox="1"/>
            <p:nvPr/>
          </p:nvSpPr>
          <p:spPr>
            <a:xfrm>
              <a:off x="8751095" y="4012871"/>
              <a:ext cx="1978782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90000"/>
                    </a:schemeClr>
                  </a:solidFill>
                  <a:effectLst/>
                  <a:uLnTx/>
                  <a:uFillTx/>
                  <a:latin typeface="Montserrat" panose="00000500000000000000" pitchFamily="2" charset="0"/>
                  <a:ea typeface="Source Serif Pro" panose="02040603050405020204" pitchFamily="18" charset="0"/>
                  <a:cs typeface="Arial" panose="020B0604020202020204" pitchFamily="34" charset="0"/>
                </a:rPr>
                <a:t>Overview da Companhia</a:t>
              </a:r>
            </a:p>
          </p:txBody>
        </p:sp>
        <p:sp>
          <p:nvSpPr>
            <p:cNvPr id="11" name="CaixaDeTexto 21">
              <a:extLst>
                <a:ext uri="{FF2B5EF4-FFF2-40B4-BE49-F238E27FC236}">
                  <a16:creationId xmlns:a16="http://schemas.microsoft.com/office/drawing/2014/main" id="{A7E2E72D-E3C4-251D-6587-B98D4A3D984F}"/>
                </a:ext>
              </a:extLst>
            </p:cNvPr>
            <p:cNvSpPr txBox="1"/>
            <p:nvPr/>
          </p:nvSpPr>
          <p:spPr>
            <a:xfrm>
              <a:off x="10918283" y="4012871"/>
              <a:ext cx="428448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90000"/>
                    </a:schemeClr>
                  </a:solidFill>
                  <a:effectLst/>
                  <a:uLnTx/>
                  <a:uFillTx/>
                  <a:latin typeface="Montserrat" panose="00000500000000000000" pitchFamily="2" charset="0"/>
                  <a:ea typeface="Source Serif Pro" panose="02040603050405020204" pitchFamily="18" charset="0"/>
                  <a:cs typeface="Arial" panose="020B0604020202020204" pitchFamily="34" charset="0"/>
                </a:rPr>
                <a:t>XXX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6D03923-8C23-8BC1-7802-E3C399320153}"/>
              </a:ext>
            </a:extLst>
          </p:cNvPr>
          <p:cNvGrpSpPr/>
          <p:nvPr/>
        </p:nvGrpSpPr>
        <p:grpSpPr>
          <a:xfrm>
            <a:off x="8751095" y="4615726"/>
            <a:ext cx="2595636" cy="169277"/>
            <a:chOff x="8751095" y="4558576"/>
            <a:chExt cx="2595636" cy="169277"/>
          </a:xfrm>
        </p:grpSpPr>
        <p:sp>
          <p:nvSpPr>
            <p:cNvPr id="12" name="CaixaDeTexto 16">
              <a:extLst>
                <a:ext uri="{FF2B5EF4-FFF2-40B4-BE49-F238E27FC236}">
                  <a16:creationId xmlns:a16="http://schemas.microsoft.com/office/drawing/2014/main" id="{2583548C-E4E2-C6EC-C6B5-AB33E9F6FFD7}"/>
                </a:ext>
              </a:extLst>
            </p:cNvPr>
            <p:cNvSpPr txBox="1"/>
            <p:nvPr/>
          </p:nvSpPr>
          <p:spPr>
            <a:xfrm>
              <a:off x="8751095" y="4558576"/>
              <a:ext cx="1978782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ea typeface="Source Serif Pro" panose="02040603050405020204" pitchFamily="18" charset="0"/>
                  <a:cs typeface="Arial" panose="020B0604020202020204" pitchFamily="34" charset="0"/>
                </a:rPr>
                <a:t>Informações Financeiras</a:t>
              </a:r>
            </a:p>
          </p:txBody>
        </p:sp>
        <p:sp>
          <p:nvSpPr>
            <p:cNvPr id="13" name="CaixaDeTexto 18">
              <a:extLst>
                <a:ext uri="{FF2B5EF4-FFF2-40B4-BE49-F238E27FC236}">
                  <a16:creationId xmlns:a16="http://schemas.microsoft.com/office/drawing/2014/main" id="{6882C907-1E39-1D54-CB86-66513C81CE4F}"/>
                </a:ext>
              </a:extLst>
            </p:cNvPr>
            <p:cNvSpPr txBox="1"/>
            <p:nvPr/>
          </p:nvSpPr>
          <p:spPr>
            <a:xfrm>
              <a:off x="10918283" y="4558576"/>
              <a:ext cx="428448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ea typeface="Source Serif Pro" panose="02040603050405020204" pitchFamily="18" charset="0"/>
                  <a:cs typeface="Arial" panose="020B0604020202020204" pitchFamily="34" charset="0"/>
                </a:rPr>
                <a:t>XXX</a:t>
              </a:r>
            </a:p>
          </p:txBody>
        </p:sp>
      </p:grpSp>
      <p:pic>
        <p:nvPicPr>
          <p:cNvPr id="19" name="Gráfico 14">
            <a:extLst>
              <a:ext uri="{FF2B5EF4-FFF2-40B4-BE49-F238E27FC236}">
                <a16:creationId xmlns:a16="http://schemas.microsoft.com/office/drawing/2014/main" id="{7FF966E9-9692-C967-EC1C-C3B983BB7C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92538" y="307274"/>
            <a:ext cx="451161" cy="386290"/>
          </a:xfrm>
          <a:prstGeom prst="rect">
            <a:avLst/>
          </a:prstGeom>
        </p:spPr>
      </p:pic>
      <p:pic>
        <p:nvPicPr>
          <p:cNvPr id="20" name="Picture 19" descr="A black and white logo&#10;&#10;Description automatically generated">
            <a:extLst>
              <a:ext uri="{FF2B5EF4-FFF2-40B4-BE49-F238E27FC236}">
                <a16:creationId xmlns:a16="http://schemas.microsoft.com/office/drawing/2014/main" id="{04ED3035-EF34-8B9A-B443-931BF8084F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9900" y="6095907"/>
            <a:ext cx="1196500" cy="40457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1ACC8B2A-CA78-19AF-45B9-DD4338E373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752600" y="-161925"/>
            <a:ext cx="1752600" cy="7286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7346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39263F3-B46E-EF84-FCD4-137D228ED90C}"/>
              </a:ext>
            </a:extLst>
          </p:cNvPr>
          <p:cNvSpPr/>
          <p:nvPr/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pic>
        <p:nvPicPr>
          <p:cNvPr id="25" name="Picture 24" descr="A person with a mask on her face&#10;&#10;Description automatically generated">
            <a:extLst>
              <a:ext uri="{FF2B5EF4-FFF2-40B4-BE49-F238E27FC236}">
                <a16:creationId xmlns:a16="http://schemas.microsoft.com/office/drawing/2014/main" id="{CE197BC6-079A-DBB0-5EDF-1841C17510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833"/>
          <a:stretch/>
        </p:blipFill>
        <p:spPr>
          <a:xfrm>
            <a:off x="0" y="0"/>
            <a:ext cx="12192000" cy="3396203"/>
          </a:xfrm>
          <a:prstGeom prst="round2SameRect">
            <a:avLst>
              <a:gd name="adj1" fmla="val 0"/>
              <a:gd name="adj2" fmla="val 26562"/>
            </a:avLst>
          </a:prstGeom>
        </p:spPr>
      </p:pic>
      <p:sp>
        <p:nvSpPr>
          <p:cNvPr id="26" name="Rectangle: Diagonal Corners Rounded 25">
            <a:extLst>
              <a:ext uri="{FF2B5EF4-FFF2-40B4-BE49-F238E27FC236}">
                <a16:creationId xmlns:a16="http://schemas.microsoft.com/office/drawing/2014/main" id="{266A2F3F-22C3-48E8-CE14-3644B7551545}"/>
              </a:ext>
            </a:extLst>
          </p:cNvPr>
          <p:cNvSpPr/>
          <p:nvPr/>
        </p:nvSpPr>
        <p:spPr>
          <a:xfrm>
            <a:off x="3789471" y="2680385"/>
            <a:ext cx="4613059" cy="1727146"/>
          </a:xfrm>
          <a:prstGeom prst="round2DiagRect">
            <a:avLst>
              <a:gd name="adj1" fmla="val 23481"/>
              <a:gd name="adj2" fmla="val 0"/>
            </a:avLst>
          </a:prstGeom>
          <a:solidFill>
            <a:srgbClr val="E2C0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pic>
        <p:nvPicPr>
          <p:cNvPr id="7" name="Gráfico 14">
            <a:extLst>
              <a:ext uri="{FF2B5EF4-FFF2-40B4-BE49-F238E27FC236}">
                <a16:creationId xmlns:a16="http://schemas.microsoft.com/office/drawing/2014/main" id="{1814ACFD-2AAE-E4D5-8AFE-996D3EFE04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92538" y="307274"/>
            <a:ext cx="451161" cy="386290"/>
          </a:xfrm>
          <a:prstGeom prst="rect">
            <a:avLst/>
          </a:prstGeom>
        </p:spPr>
      </p:pic>
      <p:pic>
        <p:nvPicPr>
          <p:cNvPr id="8" name="Picture 7" descr="A black and white logo&#10;&#10;Description automatically generated">
            <a:extLst>
              <a:ext uri="{FF2B5EF4-FFF2-40B4-BE49-F238E27FC236}">
                <a16:creationId xmlns:a16="http://schemas.microsoft.com/office/drawing/2014/main" id="{8C7FA9A5-F870-FA30-48E5-1425D799F6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7624" y="3064364"/>
            <a:ext cx="2836752" cy="95918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6FE1DC33-52D2-1468-B983-54DF0ACB0F4C}"/>
              </a:ext>
            </a:extLst>
          </p:cNvPr>
          <p:cNvGrpSpPr/>
          <p:nvPr/>
        </p:nvGrpSpPr>
        <p:grpSpPr>
          <a:xfrm>
            <a:off x="1811313" y="5082850"/>
            <a:ext cx="1723566" cy="558102"/>
            <a:chOff x="10066012" y="1865257"/>
            <a:chExt cx="1434689" cy="558102"/>
          </a:xfrm>
        </p:grpSpPr>
        <p:sp>
          <p:nvSpPr>
            <p:cNvPr id="11" name="Text Placeholder 3">
              <a:extLst>
                <a:ext uri="{FF2B5EF4-FFF2-40B4-BE49-F238E27FC236}">
                  <a16:creationId xmlns:a16="http://schemas.microsoft.com/office/drawing/2014/main" id="{CF102E0C-2401-3764-8B42-1D53F6A36E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66012" y="1865257"/>
              <a:ext cx="13320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defRPr sz="1200" b="1" kern="1200">
                  <a:solidFill>
                    <a:schemeClr val="accent2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lvl1pPr>
              <a:lvl2pPr marL="180975" indent="-180975" algn="l" rtl="0" eaLnBrk="0" fontAlgn="base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9B9F"/>
                </a:buClr>
                <a:buSzPct val="100000"/>
                <a:buFont typeface="Wingdings" panose="05000000000000000000" pitchFamily="2" charset="2"/>
                <a:buChar char="§"/>
                <a:defRPr sz="1000" kern="1200">
                  <a:solidFill>
                    <a:schemeClr val="accent2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lvl2pPr>
              <a:lvl3pPr marL="338138" indent="-163513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5A9B9F"/>
                </a:buClr>
                <a:buSzPct val="110000"/>
                <a:buFont typeface="Arial" panose="020B0604020202020204" pitchFamily="34" charset="0"/>
                <a:buChar char="•"/>
                <a:defRPr sz="1400" kern="1200">
                  <a:solidFill>
                    <a:schemeClr val="accent2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lvl3pPr>
              <a:lvl4pPr marL="533400" indent="-17462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5A9B9F"/>
                </a:buClr>
                <a:buSzPct val="90000"/>
                <a:buFont typeface="Wingdings" panose="05000000000000000000" pitchFamily="2" charset="2"/>
                <a:buChar char="§"/>
                <a:defRPr sz="1300" kern="1200">
                  <a:solidFill>
                    <a:schemeClr val="accent2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lvl4pPr>
              <a:lvl5pPr marL="719138" indent="-185738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5A9B9F"/>
                </a:buClr>
                <a:buSzPct val="100000"/>
                <a:buFont typeface="Arial" panose="020B0604020202020204" pitchFamily="34" charset="0"/>
                <a:buChar char="•"/>
                <a:defRPr sz="1200" kern="1200">
                  <a:solidFill>
                    <a:schemeClr val="accent2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lvl5pPr>
              <a:lvl6pPr marL="631825" indent="-10953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ct val="100000"/>
                <a:buFont typeface="Arial" pitchFamily="34" charset="0"/>
                <a:buChar char="•"/>
                <a:defRPr sz="1100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125444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lang="pt-BR" altLang="pt-BR" sz="1400" dirty="0">
                  <a:solidFill>
                    <a:schemeClr val="accent2">
                      <a:lumMod val="90000"/>
                    </a:schemeClr>
                  </a:solidFill>
                  <a:latin typeface="Montserrat" panose="00000500000000000000" pitchFamily="2" charset="0"/>
                  <a:ea typeface="Source Serif Pro" panose="02040603050405020204" pitchFamily="18" charset="0"/>
                  <a:cs typeface="Poppins" panose="00000500000000000000" pitchFamily="2" charset="0"/>
                </a:rPr>
                <a:t>Felipe </a:t>
              </a:r>
              <a:r>
                <a:rPr lang="pt-BR" altLang="pt-BR" sz="1400" dirty="0" err="1">
                  <a:solidFill>
                    <a:schemeClr val="accent2">
                      <a:lumMod val="90000"/>
                    </a:schemeClr>
                  </a:solidFill>
                  <a:latin typeface="Montserrat" panose="00000500000000000000" pitchFamily="2" charset="0"/>
                  <a:ea typeface="Source Serif Pro" panose="02040603050405020204" pitchFamily="18" charset="0"/>
                  <a:cs typeface="Poppins" panose="00000500000000000000" pitchFamily="2" charset="0"/>
                </a:rPr>
                <a:t>Toja</a:t>
              </a:r>
              <a:endParaRPr kumimoji="0" lang="pt-BR" altLang="pt-BR" sz="14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90000"/>
                  </a:schemeClr>
                </a:solidFill>
                <a:effectLst/>
                <a:uLnTx/>
                <a:uFillTx/>
                <a:latin typeface="Montserrat" panose="00000500000000000000" pitchFamily="2" charset="0"/>
                <a:ea typeface="Source Serif Pro" panose="02040603050405020204" pitchFamily="18" charset="0"/>
                <a:cs typeface="Poppins" panose="00000500000000000000" pitchFamily="2" charset="0"/>
              </a:endParaRPr>
            </a:p>
          </p:txBody>
        </p:sp>
        <p:sp>
          <p:nvSpPr>
            <p:cNvPr id="10" name="Text Placeholder 3">
              <a:extLst>
                <a:ext uri="{FF2B5EF4-FFF2-40B4-BE49-F238E27FC236}">
                  <a16:creationId xmlns:a16="http://schemas.microsoft.com/office/drawing/2014/main" id="{54F513B2-E7F1-6F22-AFB5-23BFF38957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67696" y="2079739"/>
              <a:ext cx="1433005" cy="3436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defRPr sz="1200" b="1" kern="1200">
                  <a:solidFill>
                    <a:schemeClr val="accent2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lvl1pPr>
              <a:lvl2pPr marL="180975" indent="-180975" algn="l" rtl="0" eaLnBrk="0" fontAlgn="base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9B9F"/>
                </a:buClr>
                <a:buSzPct val="100000"/>
                <a:buFont typeface="Wingdings" panose="05000000000000000000" pitchFamily="2" charset="2"/>
                <a:buChar char="§"/>
                <a:defRPr sz="1000" kern="1200">
                  <a:solidFill>
                    <a:schemeClr val="accent2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lvl2pPr>
              <a:lvl3pPr marL="338138" indent="-163513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5A9B9F"/>
                </a:buClr>
                <a:buSzPct val="110000"/>
                <a:buFont typeface="Arial" panose="020B0604020202020204" pitchFamily="34" charset="0"/>
                <a:buChar char="•"/>
                <a:defRPr sz="1400" kern="1200">
                  <a:solidFill>
                    <a:schemeClr val="accent2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lvl3pPr>
              <a:lvl4pPr marL="533400" indent="-17462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5A9B9F"/>
                </a:buClr>
                <a:buSzPct val="90000"/>
                <a:buFont typeface="Wingdings" panose="05000000000000000000" pitchFamily="2" charset="2"/>
                <a:buChar char="§"/>
                <a:defRPr sz="1300" kern="1200">
                  <a:solidFill>
                    <a:schemeClr val="accent2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lvl4pPr>
              <a:lvl5pPr marL="719138" indent="-185738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5A9B9F"/>
                </a:buClr>
                <a:buSzPct val="100000"/>
                <a:buFont typeface="Arial" panose="020B0604020202020204" pitchFamily="34" charset="0"/>
                <a:buChar char="•"/>
                <a:defRPr sz="1200" kern="1200">
                  <a:solidFill>
                    <a:schemeClr val="accent2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lvl5pPr>
              <a:lvl6pPr marL="631825" indent="-10953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ct val="100000"/>
                <a:buFont typeface="Arial" pitchFamily="34" charset="0"/>
                <a:buChar char="•"/>
                <a:defRPr sz="1100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125444" eaLnBrk="1" fontAlgn="auto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BR" altLang="pt-BR" sz="900" b="0" dirty="0">
                  <a:solidFill>
                    <a:schemeClr val="bg1"/>
                  </a:solidFill>
                  <a:latin typeface="Montserrat" panose="00000500000000000000" pitchFamily="2" charset="0"/>
                  <a:ea typeface="Source Serif Pro" panose="02040603050405020204" pitchFamily="18" charset="0"/>
                  <a:cs typeface="Poppins" panose="00000500000000000000" pitchFamily="2" charset="0"/>
                </a:rPr>
                <a:t>felipe.toja@igcp.com.br</a:t>
              </a:r>
            </a:p>
            <a:p>
              <a:pPr algn="ctr" defTabSz="1125444" eaLnBrk="1" fontAlgn="auto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BR" altLang="pt-BR" sz="900" b="0" dirty="0">
                  <a:solidFill>
                    <a:schemeClr val="bg1"/>
                  </a:solidFill>
                  <a:latin typeface="Montserrat" panose="00000500000000000000" pitchFamily="2" charset="0"/>
                  <a:ea typeface="Source Serif Pro" panose="02040603050405020204" pitchFamily="18" charset="0"/>
                  <a:cs typeface="Poppins" panose="00000500000000000000" pitchFamily="2" charset="0"/>
                </a:rPr>
                <a:t>55 11 3815-3533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C57101E-A15F-146A-0DAB-361B6CA63B63}"/>
              </a:ext>
            </a:extLst>
          </p:cNvPr>
          <p:cNvGrpSpPr/>
          <p:nvPr/>
        </p:nvGrpSpPr>
        <p:grpSpPr>
          <a:xfrm>
            <a:off x="5295900" y="5082850"/>
            <a:ext cx="1600200" cy="558102"/>
            <a:chOff x="10067696" y="2636422"/>
            <a:chExt cx="1332000" cy="558102"/>
          </a:xfrm>
        </p:grpSpPr>
        <p:sp>
          <p:nvSpPr>
            <p:cNvPr id="13" name="Text Placeholder 1">
              <a:extLst>
                <a:ext uri="{FF2B5EF4-FFF2-40B4-BE49-F238E27FC236}">
                  <a16:creationId xmlns:a16="http://schemas.microsoft.com/office/drawing/2014/main" id="{B241D4DC-FF9C-9338-13DB-18705EDD6B0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0069382" y="2850904"/>
              <a:ext cx="1327526" cy="34362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1125444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itchFamily="34" charset="0"/>
                <a:buNone/>
                <a:defRPr sz="1477" b="1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1pPr>
              <a:lvl2pPr marL="222744" indent="-222744" algn="l" defTabSz="1125444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ct val="100000"/>
                <a:buFont typeface="Wingdings" pitchFamily="2" charset="2"/>
                <a:buChar char="§"/>
                <a:defRPr sz="1231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2pPr>
              <a:lvl3pPr marL="416180" indent="-201252" algn="l" defTabSz="1125444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ct val="110000"/>
                <a:buFont typeface="Wingdings" panose="05000000000000000000" pitchFamily="2" charset="2"/>
                <a:buChar char="§"/>
                <a:defRPr sz="1477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3pPr>
              <a:lvl4pPr marL="656509" indent="-214928" algn="l" defTabSz="1125444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ct val="90000"/>
                <a:buFont typeface="Wingdings" pitchFamily="2" charset="2"/>
                <a:buChar char="§"/>
                <a:defRPr sz="1477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4pPr>
              <a:lvl5pPr marL="885115" indent="-228606" algn="l" defTabSz="1125444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ct val="100000"/>
                <a:buFont typeface="Wingdings" panose="05000000000000000000" pitchFamily="2" charset="2"/>
                <a:buChar char="§"/>
                <a:defRPr sz="1477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5pPr>
              <a:lvl6pPr marL="777650" indent="-134819" algn="l" defTabSz="1125444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ct val="100000"/>
                <a:buFont typeface="Arial" pitchFamily="34" charset="0"/>
                <a:buChar char="•"/>
                <a:defRPr sz="1354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6pPr>
              <a:lvl7pPr marL="3657691" indent="-281361" algn="l" defTabSz="1125444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6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20413" indent="-281361" algn="l" defTabSz="1125444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6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3135" indent="-281361" algn="l" defTabSz="1125444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6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BR" altLang="pt-BR" sz="900" b="0" dirty="0">
                  <a:solidFill>
                    <a:schemeClr val="bg1"/>
                  </a:solidFill>
                  <a:latin typeface="Montserrat" panose="00000500000000000000" pitchFamily="2" charset="0"/>
                  <a:ea typeface="Source Serif Pro" panose="02040603050405020204" pitchFamily="18" charset="0"/>
                  <a:cs typeface="Poppins" panose="00000500000000000000" pitchFamily="2" charset="0"/>
                </a:rPr>
                <a:t>pedro.brum@igcp.com.br</a:t>
              </a:r>
            </a:p>
            <a:p>
              <a:pPr algn="ctr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BR" altLang="pt-BR" sz="900" b="0" dirty="0">
                  <a:solidFill>
                    <a:schemeClr val="bg1"/>
                  </a:solidFill>
                  <a:latin typeface="Montserrat" panose="00000500000000000000" pitchFamily="2" charset="0"/>
                  <a:ea typeface="Source Serif Pro" panose="02040603050405020204" pitchFamily="18" charset="0"/>
                  <a:cs typeface="Poppins" panose="00000500000000000000" pitchFamily="2" charset="0"/>
                </a:rPr>
                <a:t>55 11 3815-3533</a:t>
              </a:r>
            </a:p>
          </p:txBody>
        </p:sp>
        <p:sp>
          <p:nvSpPr>
            <p:cNvPr id="14" name="Text Placeholder 1">
              <a:extLst>
                <a:ext uri="{FF2B5EF4-FFF2-40B4-BE49-F238E27FC236}">
                  <a16:creationId xmlns:a16="http://schemas.microsoft.com/office/drawing/2014/main" id="{48B0D636-CD48-D243-A55B-E8243C9900D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0067696" y="2636422"/>
              <a:ext cx="1332000" cy="215444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1125444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itchFamily="34" charset="0"/>
                <a:buNone/>
                <a:defRPr sz="1477" b="1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1pPr>
              <a:lvl2pPr marL="222744" indent="-222744" algn="l" defTabSz="1125444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ct val="100000"/>
                <a:buFont typeface="Wingdings" pitchFamily="2" charset="2"/>
                <a:buChar char="§"/>
                <a:defRPr sz="1231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2pPr>
              <a:lvl3pPr marL="416180" indent="-201252" algn="l" defTabSz="1125444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ct val="110000"/>
                <a:buFont typeface="Wingdings" panose="05000000000000000000" pitchFamily="2" charset="2"/>
                <a:buChar char="§"/>
                <a:defRPr sz="1477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3pPr>
              <a:lvl4pPr marL="656509" indent="-214928" algn="l" defTabSz="1125444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ct val="90000"/>
                <a:buFont typeface="Wingdings" pitchFamily="2" charset="2"/>
                <a:buChar char="§"/>
                <a:defRPr sz="1477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4pPr>
              <a:lvl5pPr marL="885115" indent="-228606" algn="l" defTabSz="1125444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ct val="100000"/>
                <a:buFont typeface="Wingdings" panose="05000000000000000000" pitchFamily="2" charset="2"/>
                <a:buChar char="§"/>
                <a:defRPr sz="1477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5pPr>
              <a:lvl6pPr marL="777650" indent="-134819" algn="l" defTabSz="1125444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ct val="100000"/>
                <a:buFont typeface="Arial" pitchFamily="34" charset="0"/>
                <a:buChar char="•"/>
                <a:defRPr sz="1354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6pPr>
              <a:lvl7pPr marL="3657691" indent="-281361" algn="l" defTabSz="1125444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6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20413" indent="-281361" algn="l" defTabSz="1125444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6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3135" indent="-281361" algn="l" defTabSz="1125444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6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BR" altLang="pt-BR" sz="1400" dirty="0">
                  <a:solidFill>
                    <a:schemeClr val="accent2">
                      <a:lumMod val="90000"/>
                    </a:schemeClr>
                  </a:solidFill>
                  <a:latin typeface="Montserrat" panose="00000500000000000000" pitchFamily="2" charset="0"/>
                  <a:ea typeface="Source Serif Pro" panose="02040603050405020204" pitchFamily="18" charset="0"/>
                  <a:cs typeface="Poppins" panose="00000500000000000000" pitchFamily="2" charset="0"/>
                </a:rPr>
                <a:t>Pedro Brum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3F5914D-2CF4-D382-B60F-3428D81B2AFE}"/>
              </a:ext>
            </a:extLst>
          </p:cNvPr>
          <p:cNvGrpSpPr/>
          <p:nvPr/>
        </p:nvGrpSpPr>
        <p:grpSpPr>
          <a:xfrm>
            <a:off x="8115556" y="5082850"/>
            <a:ext cx="2806698" cy="558102"/>
            <a:chOff x="9786713" y="3517109"/>
            <a:chExt cx="2336284" cy="558102"/>
          </a:xfrm>
        </p:grpSpPr>
        <p:sp>
          <p:nvSpPr>
            <p:cNvPr id="16" name="Text Placeholder 1">
              <a:extLst>
                <a:ext uri="{FF2B5EF4-FFF2-40B4-BE49-F238E27FC236}">
                  <a16:creationId xmlns:a16="http://schemas.microsoft.com/office/drawing/2014/main" id="{7CCEAE40-92C1-B746-89A8-9FF42EEE066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0069382" y="3731591"/>
              <a:ext cx="1774320" cy="34362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1125444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itchFamily="34" charset="0"/>
                <a:buNone/>
                <a:defRPr sz="1477" b="1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1pPr>
              <a:lvl2pPr marL="222744" indent="-222744" algn="l" defTabSz="1125444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ct val="100000"/>
                <a:buFont typeface="Wingdings" pitchFamily="2" charset="2"/>
                <a:buChar char="§"/>
                <a:defRPr sz="1231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2pPr>
              <a:lvl3pPr marL="416180" indent="-201252" algn="l" defTabSz="1125444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ct val="110000"/>
                <a:buFont typeface="Wingdings" panose="05000000000000000000" pitchFamily="2" charset="2"/>
                <a:buChar char="§"/>
                <a:defRPr sz="1477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3pPr>
              <a:lvl4pPr marL="656509" indent="-214928" algn="l" defTabSz="1125444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ct val="90000"/>
                <a:buFont typeface="Wingdings" pitchFamily="2" charset="2"/>
                <a:buChar char="§"/>
                <a:defRPr sz="1477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4pPr>
              <a:lvl5pPr marL="885115" indent="-228606" algn="l" defTabSz="1125444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ct val="100000"/>
                <a:buFont typeface="Wingdings" panose="05000000000000000000" pitchFamily="2" charset="2"/>
                <a:buChar char="§"/>
                <a:defRPr sz="1477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5pPr>
              <a:lvl6pPr marL="777650" indent="-134819" algn="l" defTabSz="1125444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ct val="100000"/>
                <a:buFont typeface="Arial" pitchFamily="34" charset="0"/>
                <a:buChar char="•"/>
                <a:defRPr sz="1354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6pPr>
              <a:lvl7pPr marL="3657691" indent="-281361" algn="l" defTabSz="1125444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6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20413" indent="-281361" algn="l" defTabSz="1125444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6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3135" indent="-281361" algn="l" defTabSz="1125444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6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indent="0" algn="ctr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pt-BR" altLang="pt-BR" sz="900" b="0" dirty="0">
                  <a:solidFill>
                    <a:schemeClr val="bg1"/>
                  </a:solidFill>
                  <a:latin typeface="Montserrat" panose="00000500000000000000" pitchFamily="2" charset="0"/>
                  <a:ea typeface="Source Serif Pro" panose="02040603050405020204" pitchFamily="18" charset="0"/>
                  <a:cs typeface="Poppins" panose="00000500000000000000" pitchFamily="2" charset="0"/>
                </a:rPr>
                <a:t>maria.cardoso@igcp.com.br</a:t>
              </a:r>
            </a:p>
            <a:p>
              <a:pPr marR="0" lvl="0" indent="0" algn="ctr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pt-BR" altLang="pt-BR" sz="900" b="0" dirty="0">
                  <a:solidFill>
                    <a:schemeClr val="bg1"/>
                  </a:solidFill>
                  <a:latin typeface="Montserrat" panose="00000500000000000000" pitchFamily="2" charset="0"/>
                  <a:ea typeface="Source Serif Pro" panose="02040603050405020204" pitchFamily="18" charset="0"/>
                  <a:cs typeface="Poppins" panose="00000500000000000000" pitchFamily="2" charset="0"/>
                </a:rPr>
                <a:t>55 11 3815-3533</a:t>
              </a:r>
            </a:p>
          </p:txBody>
        </p:sp>
        <p:sp>
          <p:nvSpPr>
            <p:cNvPr id="17" name="Text Placeholder 1">
              <a:extLst>
                <a:ext uri="{FF2B5EF4-FFF2-40B4-BE49-F238E27FC236}">
                  <a16:creationId xmlns:a16="http://schemas.microsoft.com/office/drawing/2014/main" id="{376386AC-BC20-88FF-2503-53E1E24435D1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86713" y="3517109"/>
              <a:ext cx="2336284" cy="215444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1125444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itchFamily="34" charset="0"/>
                <a:buNone/>
                <a:defRPr sz="1477" b="1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1pPr>
              <a:lvl2pPr marL="222744" indent="-222744" algn="l" defTabSz="1125444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ct val="100000"/>
                <a:buFont typeface="Wingdings" pitchFamily="2" charset="2"/>
                <a:buChar char="§"/>
                <a:defRPr sz="1231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2pPr>
              <a:lvl3pPr marL="416180" indent="-201252" algn="l" defTabSz="1125444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ct val="110000"/>
                <a:buFont typeface="Wingdings" panose="05000000000000000000" pitchFamily="2" charset="2"/>
                <a:buChar char="§"/>
                <a:defRPr sz="1477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3pPr>
              <a:lvl4pPr marL="656509" indent="-214928" algn="l" defTabSz="1125444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ct val="90000"/>
                <a:buFont typeface="Wingdings" pitchFamily="2" charset="2"/>
                <a:buChar char="§"/>
                <a:defRPr sz="1477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4pPr>
              <a:lvl5pPr marL="885115" indent="-228606" algn="l" defTabSz="1125444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ct val="100000"/>
                <a:buFont typeface="Wingdings" panose="05000000000000000000" pitchFamily="2" charset="2"/>
                <a:buChar char="§"/>
                <a:defRPr sz="1477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5pPr>
              <a:lvl6pPr marL="777650" indent="-134819" algn="l" defTabSz="1125444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ct val="100000"/>
                <a:buFont typeface="Arial" pitchFamily="34" charset="0"/>
                <a:buChar char="•"/>
                <a:defRPr sz="1354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6pPr>
              <a:lvl7pPr marL="3657691" indent="-281361" algn="l" defTabSz="1125444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6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20413" indent="-281361" algn="l" defTabSz="1125444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6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3135" indent="-281361" algn="l" defTabSz="1125444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6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BR" altLang="pt-BR" sz="1400" dirty="0">
                  <a:solidFill>
                    <a:schemeClr val="accent2">
                      <a:lumMod val="90000"/>
                    </a:schemeClr>
                  </a:solidFill>
                  <a:latin typeface="Montserrat" panose="00000500000000000000" pitchFamily="2" charset="0"/>
                  <a:ea typeface="Source Serif Pro" panose="02040603050405020204" pitchFamily="18" charset="0"/>
                  <a:cs typeface="Poppins" panose="00000500000000000000" pitchFamily="2" charset="0"/>
                </a:rPr>
                <a:t>Maria Eugênia Cardoso</a:t>
              </a:r>
            </a:p>
          </p:txBody>
        </p:sp>
      </p:grp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3D30F1D4-56E5-EFBD-E401-B024516C8B20}"/>
              </a:ext>
            </a:extLst>
          </p:cNvPr>
          <p:cNvSpPr txBox="1">
            <a:spLocks noChangeArrowheads="1"/>
          </p:cNvSpPr>
          <p:nvPr/>
        </p:nvSpPr>
        <p:spPr>
          <a:xfrm>
            <a:off x="2712438" y="6316270"/>
            <a:ext cx="718403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112544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123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222744" indent="-222744" algn="l" defTabSz="112544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Wingdings" pitchFamily="2" charset="2"/>
              <a:buChar char="§"/>
              <a:defRPr sz="1477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416180" indent="-201252" algn="l" defTabSz="112544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10000"/>
              <a:buFont typeface="Wingdings" panose="05000000000000000000" pitchFamily="2" charset="2"/>
              <a:buChar char="§"/>
              <a:defRPr sz="1477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656509" indent="-214928" algn="l" defTabSz="112544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90000"/>
              <a:buFont typeface="Wingdings" pitchFamily="2" charset="2"/>
              <a:buChar char="§"/>
              <a:defRPr sz="1477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885115" indent="-228606" algn="l" defTabSz="112544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Wingdings" panose="05000000000000000000" pitchFamily="2" charset="2"/>
              <a:buChar char="§"/>
              <a:defRPr sz="1477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777650" indent="-134819" algn="l" defTabSz="112544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Arial" pitchFamily="34" charset="0"/>
              <a:buChar char="•"/>
              <a:defRPr sz="1354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3657691" indent="-281361" algn="l" defTabSz="112544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20413" indent="-281361" algn="l" defTabSz="112544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3135" indent="-281361" algn="l" defTabSz="112544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kumimoji="0" lang="pt-BR" altLang="pt-BR" sz="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Montserrat" panose="00000500000000000000" pitchFamily="2" charset="0"/>
                <a:ea typeface="Source Serif Pro Light" panose="02040303050405020204" pitchFamily="18" charset="0"/>
                <a:cs typeface="Poppins" panose="00000500000000000000" pitchFamily="2" charset="0"/>
              </a:rPr>
              <a:t>Avenida Brigadeiro Faria Lima, 2.277, 6º andar</a:t>
            </a:r>
            <a:r>
              <a:rPr lang="pt-BR" altLang="pt-BR" sz="800" dirty="0">
                <a:solidFill>
                  <a:schemeClr val="accent1"/>
                </a:solidFill>
                <a:latin typeface="Montserrat" panose="00000500000000000000" pitchFamily="2" charset="0"/>
                <a:ea typeface="Source Serif Pro Light" panose="02040303050405020204" pitchFamily="18" charset="0"/>
                <a:cs typeface="Poppins" panose="00000500000000000000" pitchFamily="2" charset="0"/>
              </a:rPr>
              <a:t> - </a:t>
            </a:r>
            <a:r>
              <a:rPr kumimoji="0" lang="pt-BR" altLang="pt-BR" sz="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Montserrat" panose="00000500000000000000" pitchFamily="2" charset="0"/>
                <a:ea typeface="Source Serif Pro Light" panose="02040303050405020204" pitchFamily="18" charset="0"/>
                <a:cs typeface="Poppins" panose="00000500000000000000" pitchFamily="2" charset="0"/>
              </a:rPr>
              <a:t>01452-000, Jardim  Paulistano, São Paulo  -  55 11 3815-3533</a:t>
            </a:r>
          </a:p>
          <a:p>
            <a:pPr marL="0" marR="0" lvl="0" indent="0" algn="ctr" defTabSz="11254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BR" altLang="pt-BR" sz="8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Montserrat" panose="00000500000000000000" pitchFamily="2" charset="0"/>
              <a:ea typeface="Source Serif Pro Light" panose="02040303050405020204" pitchFamily="18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6224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H_FLYSHEET_STYLE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Capa">
  <a:themeElements>
    <a:clrScheme name="Biocap">
      <a:dk1>
        <a:srgbClr val="000000"/>
      </a:dk1>
      <a:lt1>
        <a:srgbClr val="FFFFFF"/>
      </a:lt1>
      <a:dk2>
        <a:srgbClr val="4A290C"/>
      </a:dk2>
      <a:lt2>
        <a:srgbClr val="BB8A80"/>
      </a:lt2>
      <a:accent1>
        <a:srgbClr val="E5D0CB"/>
      </a:accent1>
      <a:accent2>
        <a:srgbClr val="F3D7D9"/>
      </a:accent2>
      <a:accent3>
        <a:srgbClr val="AD6AC0"/>
      </a:accent3>
      <a:accent4>
        <a:srgbClr val="4B2582"/>
      </a:accent4>
      <a:accent5>
        <a:srgbClr val="F5E7FD"/>
      </a:accent5>
      <a:accent6>
        <a:srgbClr val="FF99CC"/>
      </a:accent6>
      <a:hlink>
        <a:srgbClr val="AD6AC0"/>
      </a:hlink>
      <a:folHlink>
        <a:srgbClr val="F3D7D9"/>
      </a:folHlink>
    </a:clrScheme>
    <a:fontScheme name="Personalizada 1">
      <a:majorFont>
        <a:latin typeface="Source Serif Pro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wrap="square" lIns="0" tIns="0" rIns="0" bIns="0" rtlCol="0" anchor="ctr"/>
      <a:lstStyle>
        <a:defPPr algn="ctr">
          <a:lnSpc>
            <a:spcPct val="112000"/>
          </a:lnSpc>
          <a:spcAft>
            <a:spcPts val="800"/>
          </a:spcAft>
          <a:defRPr sz="1200" dirty="0" err="1" smtClean="0">
            <a:solidFill>
              <a:schemeClr val="tx1"/>
            </a:solidFill>
            <a:latin typeface="Source Serif Pro" panose="02040603050405020204" pitchFamily="18" charset="0"/>
            <a:ea typeface="Source Serif Pro" panose="02040603050405020204" pitchFamily="18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110000"/>
          </a:lnSpc>
          <a:spcAft>
            <a:spcPts val="800"/>
          </a:spcAft>
          <a:defRPr sz="1200" dirty="0" err="1" smtClean="0">
            <a:latin typeface="Source Serif Pro" panose="02040603050405020204" pitchFamily="18" charset="0"/>
            <a:ea typeface="Source Serif Pro" panose="020406030504050202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ntrodução">
  <a:themeElements>
    <a:clrScheme name="Biocap">
      <a:dk1>
        <a:srgbClr val="000000"/>
      </a:dk1>
      <a:lt1>
        <a:srgbClr val="FFFFFF"/>
      </a:lt1>
      <a:dk2>
        <a:srgbClr val="4A290C"/>
      </a:dk2>
      <a:lt2>
        <a:srgbClr val="BB8A80"/>
      </a:lt2>
      <a:accent1>
        <a:srgbClr val="E5D0CB"/>
      </a:accent1>
      <a:accent2>
        <a:srgbClr val="F3D7D9"/>
      </a:accent2>
      <a:accent3>
        <a:srgbClr val="AD6AC0"/>
      </a:accent3>
      <a:accent4>
        <a:srgbClr val="4B2582"/>
      </a:accent4>
      <a:accent5>
        <a:srgbClr val="F5E7FD"/>
      </a:accent5>
      <a:accent6>
        <a:srgbClr val="FF99CC"/>
      </a:accent6>
      <a:hlink>
        <a:srgbClr val="AD6AC0"/>
      </a:hlink>
      <a:folHlink>
        <a:srgbClr val="F3D7D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wrap="square" lIns="0" tIns="0" rIns="0" bIns="0" rtlCol="0" anchor="ctr"/>
      <a:lstStyle>
        <a:defPPr algn="ctr">
          <a:lnSpc>
            <a:spcPct val="112000"/>
          </a:lnSpc>
          <a:spcAft>
            <a:spcPts val="800"/>
          </a:spcAft>
          <a:defRPr sz="1200" dirty="0" err="1" smtClean="0">
            <a:solidFill>
              <a:schemeClr val="tx1"/>
            </a:solidFill>
            <a:latin typeface="Source Serif Pro" panose="02040603050405020204" pitchFamily="18" charset="0"/>
            <a:ea typeface="Source Serif Pro" panose="02040603050405020204" pitchFamily="18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110000"/>
          </a:lnSpc>
          <a:spcAft>
            <a:spcPts val="800"/>
          </a:spcAft>
          <a:defRPr sz="1200" dirty="0" err="1" smtClean="0">
            <a:latin typeface="Source Serif Pro" panose="02040603050405020204" pitchFamily="18" charset="0"/>
            <a:ea typeface="Source Serif Pro" panose="020406030504050202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se de Investimento">
  <a:themeElements>
    <a:clrScheme name="Biocap">
      <a:dk1>
        <a:srgbClr val="000000"/>
      </a:dk1>
      <a:lt1>
        <a:srgbClr val="FFFFFF"/>
      </a:lt1>
      <a:dk2>
        <a:srgbClr val="4A290C"/>
      </a:dk2>
      <a:lt2>
        <a:srgbClr val="BB8A80"/>
      </a:lt2>
      <a:accent1>
        <a:srgbClr val="E5D0CB"/>
      </a:accent1>
      <a:accent2>
        <a:srgbClr val="F3D7D9"/>
      </a:accent2>
      <a:accent3>
        <a:srgbClr val="AD6AC0"/>
      </a:accent3>
      <a:accent4>
        <a:srgbClr val="4B2582"/>
      </a:accent4>
      <a:accent5>
        <a:srgbClr val="F5E7FD"/>
      </a:accent5>
      <a:accent6>
        <a:srgbClr val="FDBBC0"/>
      </a:accent6>
      <a:hlink>
        <a:srgbClr val="AD6AC0"/>
      </a:hlink>
      <a:folHlink>
        <a:srgbClr val="F3D7D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wrap="square" lIns="0" tIns="0" rIns="0" bIns="0" rtlCol="0" anchor="ctr"/>
      <a:lstStyle>
        <a:defPPr algn="ctr">
          <a:lnSpc>
            <a:spcPct val="112000"/>
          </a:lnSpc>
          <a:spcAft>
            <a:spcPts val="800"/>
          </a:spcAft>
          <a:defRPr sz="1200" dirty="0" err="1" smtClean="0">
            <a:solidFill>
              <a:schemeClr val="tx1"/>
            </a:solidFill>
            <a:latin typeface="Source Serif Pro" panose="02040603050405020204" pitchFamily="18" charset="0"/>
            <a:ea typeface="Source Serif Pro" panose="02040603050405020204" pitchFamily="18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110000"/>
          </a:lnSpc>
          <a:spcAft>
            <a:spcPts val="800"/>
          </a:spcAft>
          <a:defRPr sz="1200" dirty="0" err="1" smtClean="0">
            <a:latin typeface="Source Serif Pro" panose="02040603050405020204" pitchFamily="18" charset="0"/>
            <a:ea typeface="Source Serif Pro" panose="020406030504050202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verview da Companhia">
  <a:themeElements>
    <a:clrScheme name="Biocap">
      <a:dk1>
        <a:srgbClr val="000000"/>
      </a:dk1>
      <a:lt1>
        <a:srgbClr val="FFFFFF"/>
      </a:lt1>
      <a:dk2>
        <a:srgbClr val="4A290C"/>
      </a:dk2>
      <a:lt2>
        <a:srgbClr val="BB8A80"/>
      </a:lt2>
      <a:accent1>
        <a:srgbClr val="E5D0CB"/>
      </a:accent1>
      <a:accent2>
        <a:srgbClr val="F3D7D9"/>
      </a:accent2>
      <a:accent3>
        <a:srgbClr val="AD6AC0"/>
      </a:accent3>
      <a:accent4>
        <a:srgbClr val="4B2582"/>
      </a:accent4>
      <a:accent5>
        <a:srgbClr val="F5E7FD"/>
      </a:accent5>
      <a:accent6>
        <a:srgbClr val="FF99CC"/>
      </a:accent6>
      <a:hlink>
        <a:srgbClr val="AD6AC0"/>
      </a:hlink>
      <a:folHlink>
        <a:srgbClr val="F3D7D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wrap="square" lIns="0" tIns="0" rIns="0" bIns="0" rtlCol="0" anchor="ctr"/>
      <a:lstStyle>
        <a:defPPr algn="ctr">
          <a:lnSpc>
            <a:spcPct val="112000"/>
          </a:lnSpc>
          <a:spcAft>
            <a:spcPts val="800"/>
          </a:spcAft>
          <a:defRPr sz="1200" dirty="0" err="1" smtClean="0">
            <a:solidFill>
              <a:schemeClr val="tx1"/>
            </a:solidFill>
            <a:latin typeface="Source Serif Pro" panose="02040603050405020204" pitchFamily="18" charset="0"/>
            <a:ea typeface="Source Serif Pro" panose="02040603050405020204" pitchFamily="18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110000"/>
          </a:lnSpc>
          <a:spcAft>
            <a:spcPts val="800"/>
          </a:spcAft>
          <a:defRPr sz="1200" dirty="0" err="1" smtClean="0">
            <a:latin typeface="Source Serif Pro" panose="02040603050405020204" pitchFamily="18" charset="0"/>
            <a:ea typeface="Source Serif Pro" panose="020406030504050202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Informações Financeiras">
  <a:themeElements>
    <a:clrScheme name="Biocap">
      <a:dk1>
        <a:srgbClr val="000000"/>
      </a:dk1>
      <a:lt1>
        <a:srgbClr val="FFFFFF"/>
      </a:lt1>
      <a:dk2>
        <a:srgbClr val="4A290C"/>
      </a:dk2>
      <a:lt2>
        <a:srgbClr val="BB8A80"/>
      </a:lt2>
      <a:accent1>
        <a:srgbClr val="E5D0CB"/>
      </a:accent1>
      <a:accent2>
        <a:srgbClr val="F3D7D9"/>
      </a:accent2>
      <a:accent3>
        <a:srgbClr val="AD6AC0"/>
      </a:accent3>
      <a:accent4>
        <a:srgbClr val="4B2582"/>
      </a:accent4>
      <a:accent5>
        <a:srgbClr val="F5E7FD"/>
      </a:accent5>
      <a:accent6>
        <a:srgbClr val="FF99CC"/>
      </a:accent6>
      <a:hlink>
        <a:srgbClr val="AD6AC0"/>
      </a:hlink>
      <a:folHlink>
        <a:srgbClr val="F3D7D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wrap="square" lIns="0" tIns="0" rIns="0" bIns="0" rtlCol="0" anchor="ctr"/>
      <a:lstStyle>
        <a:defPPr algn="ctr">
          <a:lnSpc>
            <a:spcPct val="112000"/>
          </a:lnSpc>
          <a:spcAft>
            <a:spcPts val="800"/>
          </a:spcAft>
          <a:defRPr sz="1200" dirty="0" err="1" smtClean="0">
            <a:solidFill>
              <a:schemeClr val="tx1"/>
            </a:solidFill>
            <a:latin typeface="Source Serif Pro" panose="02040603050405020204" pitchFamily="18" charset="0"/>
            <a:ea typeface="Source Serif Pro" panose="02040603050405020204" pitchFamily="18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110000"/>
          </a:lnSpc>
          <a:spcAft>
            <a:spcPts val="800"/>
          </a:spcAft>
          <a:defRPr sz="1200" dirty="0" err="1" smtClean="0">
            <a:latin typeface="Source Serif Pro" panose="02040603050405020204" pitchFamily="18" charset="0"/>
            <a:ea typeface="Source Serif Pro" panose="020406030504050202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Appendix">
  <a:themeElements>
    <a:clrScheme name="Biocap">
      <a:dk1>
        <a:srgbClr val="000000"/>
      </a:dk1>
      <a:lt1>
        <a:srgbClr val="FFFFFF"/>
      </a:lt1>
      <a:dk2>
        <a:srgbClr val="4A290C"/>
      </a:dk2>
      <a:lt2>
        <a:srgbClr val="BB8A80"/>
      </a:lt2>
      <a:accent1>
        <a:srgbClr val="E5D0CB"/>
      </a:accent1>
      <a:accent2>
        <a:srgbClr val="F3D7D9"/>
      </a:accent2>
      <a:accent3>
        <a:srgbClr val="AD6AC0"/>
      </a:accent3>
      <a:accent4>
        <a:srgbClr val="4B2582"/>
      </a:accent4>
      <a:accent5>
        <a:srgbClr val="F5E7FD"/>
      </a:accent5>
      <a:accent6>
        <a:srgbClr val="FF99CC"/>
      </a:accent6>
      <a:hlink>
        <a:srgbClr val="AD6AC0"/>
      </a:hlink>
      <a:folHlink>
        <a:srgbClr val="F3D7D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wrap="square" lIns="0" tIns="0" rIns="0" bIns="0" rtlCol="0" anchor="ctr"/>
      <a:lstStyle>
        <a:defPPr algn="ctr">
          <a:lnSpc>
            <a:spcPct val="112000"/>
          </a:lnSpc>
          <a:spcAft>
            <a:spcPts val="800"/>
          </a:spcAft>
          <a:defRPr sz="1200" dirty="0" err="1" smtClean="0">
            <a:solidFill>
              <a:schemeClr val="tx1"/>
            </a:solidFill>
            <a:latin typeface="Source Serif Pro" panose="02040603050405020204" pitchFamily="18" charset="0"/>
            <a:ea typeface="Source Serif Pro" panose="02040603050405020204" pitchFamily="18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110000"/>
          </a:lnSpc>
          <a:spcAft>
            <a:spcPts val="800"/>
          </a:spcAft>
          <a:defRPr sz="1200" dirty="0" err="1" smtClean="0">
            <a:latin typeface="Source Serif Pro" panose="02040603050405020204" pitchFamily="18" charset="0"/>
            <a:ea typeface="Source Serif Pro" panose="020406030504050202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Disclaimer">
  <a:themeElements>
    <a:clrScheme name="Biocap">
      <a:dk1>
        <a:srgbClr val="000000"/>
      </a:dk1>
      <a:lt1>
        <a:srgbClr val="FFFFFF"/>
      </a:lt1>
      <a:dk2>
        <a:srgbClr val="4A290C"/>
      </a:dk2>
      <a:lt2>
        <a:srgbClr val="BB8A80"/>
      </a:lt2>
      <a:accent1>
        <a:srgbClr val="E5D0CB"/>
      </a:accent1>
      <a:accent2>
        <a:srgbClr val="F3D7D9"/>
      </a:accent2>
      <a:accent3>
        <a:srgbClr val="AD6AC0"/>
      </a:accent3>
      <a:accent4>
        <a:srgbClr val="4B2582"/>
      </a:accent4>
      <a:accent5>
        <a:srgbClr val="F5E7FD"/>
      </a:accent5>
      <a:accent6>
        <a:srgbClr val="FF99CC"/>
      </a:accent6>
      <a:hlink>
        <a:srgbClr val="AD6AC0"/>
      </a:hlink>
      <a:folHlink>
        <a:srgbClr val="F3D7D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wrap="square" lIns="0" tIns="0" rIns="0" bIns="0" rtlCol="0" anchor="ctr"/>
      <a:lstStyle>
        <a:defPPr algn="ctr">
          <a:lnSpc>
            <a:spcPct val="112000"/>
          </a:lnSpc>
          <a:spcAft>
            <a:spcPts val="800"/>
          </a:spcAft>
          <a:defRPr sz="1200" dirty="0" err="1" smtClean="0">
            <a:solidFill>
              <a:schemeClr val="tx1"/>
            </a:solidFill>
            <a:latin typeface="Source Serif Pro" panose="02040603050405020204" pitchFamily="18" charset="0"/>
            <a:ea typeface="Source Serif Pro" panose="02040603050405020204" pitchFamily="18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110000"/>
          </a:lnSpc>
          <a:spcAft>
            <a:spcPts val="800"/>
          </a:spcAft>
          <a:defRPr sz="1200" dirty="0" err="1" smtClean="0">
            <a:latin typeface="Source Serif Pro" panose="02040603050405020204" pitchFamily="18" charset="0"/>
            <a:ea typeface="Source Serif Pro" panose="020406030504050202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Seção Editável">
  <a:themeElements>
    <a:clrScheme name="Biocap">
      <a:dk1>
        <a:srgbClr val="000000"/>
      </a:dk1>
      <a:lt1>
        <a:srgbClr val="FFFFFF"/>
      </a:lt1>
      <a:dk2>
        <a:srgbClr val="4A290C"/>
      </a:dk2>
      <a:lt2>
        <a:srgbClr val="BB8A80"/>
      </a:lt2>
      <a:accent1>
        <a:srgbClr val="E5D0CB"/>
      </a:accent1>
      <a:accent2>
        <a:srgbClr val="F3D7D9"/>
      </a:accent2>
      <a:accent3>
        <a:srgbClr val="AD6AC0"/>
      </a:accent3>
      <a:accent4>
        <a:srgbClr val="4B2582"/>
      </a:accent4>
      <a:accent5>
        <a:srgbClr val="F5E7FD"/>
      </a:accent5>
      <a:accent6>
        <a:srgbClr val="FF99CC"/>
      </a:accent6>
      <a:hlink>
        <a:srgbClr val="AD6AC0"/>
      </a:hlink>
      <a:folHlink>
        <a:srgbClr val="F3D7D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wrap="square" lIns="0" tIns="0" rIns="0" bIns="0" rtlCol="0" anchor="ctr"/>
      <a:lstStyle>
        <a:defPPr algn="ctr">
          <a:lnSpc>
            <a:spcPct val="112000"/>
          </a:lnSpc>
          <a:spcAft>
            <a:spcPts val="800"/>
          </a:spcAft>
          <a:defRPr sz="1200" dirty="0" err="1" smtClean="0">
            <a:solidFill>
              <a:schemeClr val="tx1"/>
            </a:solidFill>
            <a:latin typeface="Source Serif Pro" panose="02040603050405020204" pitchFamily="18" charset="0"/>
            <a:ea typeface="Source Serif Pro" panose="02040603050405020204" pitchFamily="18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110000"/>
          </a:lnSpc>
          <a:spcAft>
            <a:spcPts val="800"/>
          </a:spcAft>
          <a:defRPr sz="1200" dirty="0" err="1" smtClean="0">
            <a:latin typeface="Source Serif Pro" panose="02040603050405020204" pitchFamily="18" charset="0"/>
            <a:ea typeface="Source Serif Pro" panose="020406030504050202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_Introdução">
  <a:themeElements>
    <a:clrScheme name="Labotrat">
      <a:dk1>
        <a:srgbClr val="000000"/>
      </a:dk1>
      <a:lt1>
        <a:srgbClr val="FFFFFF"/>
      </a:lt1>
      <a:dk2>
        <a:srgbClr val="000000"/>
      </a:dk2>
      <a:lt2>
        <a:srgbClr val="9B14FC"/>
      </a:lt2>
      <a:accent1>
        <a:srgbClr val="35A7FF"/>
      </a:accent1>
      <a:accent2>
        <a:srgbClr val="FF5CC5"/>
      </a:accent2>
      <a:accent3>
        <a:srgbClr val="FF8BFB"/>
      </a:accent3>
      <a:accent4>
        <a:srgbClr val="FFF9BF"/>
      </a:accent4>
      <a:accent5>
        <a:srgbClr val="D52CFB"/>
      </a:accent5>
      <a:accent6>
        <a:srgbClr val="FFBA23"/>
      </a:accent6>
      <a:hlink>
        <a:srgbClr val="9B14FC"/>
      </a:hlink>
      <a:folHlink>
        <a:srgbClr val="FF5CC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wrap="square" lIns="0" tIns="0" rIns="0" bIns="0" rtlCol="0" anchor="ctr"/>
      <a:lstStyle>
        <a:defPPr algn="ctr">
          <a:lnSpc>
            <a:spcPct val="112000"/>
          </a:lnSpc>
          <a:spcAft>
            <a:spcPts val="800"/>
          </a:spcAft>
          <a:defRPr sz="1200" dirty="0" err="1" smtClean="0">
            <a:solidFill>
              <a:schemeClr val="tx1"/>
            </a:solidFill>
            <a:latin typeface="Source Serif Pro" panose="02040603050405020204" pitchFamily="18" charset="0"/>
            <a:ea typeface="Source Serif Pro" panose="02040603050405020204" pitchFamily="18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110000"/>
          </a:lnSpc>
          <a:spcAft>
            <a:spcPts val="800"/>
          </a:spcAft>
          <a:defRPr sz="1200" dirty="0" err="1" smtClean="0">
            <a:latin typeface="Source Serif Pro" panose="02040603050405020204" pitchFamily="18" charset="0"/>
            <a:ea typeface="Source Serif Pro" panose="020406030504050202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1e9bfca-b15d-42a1-8dcf-95c0c272d15d">
      <Terms xmlns="http://schemas.microsoft.com/office/infopath/2007/PartnerControls"/>
    </lcf76f155ced4ddcb4097134ff3c332f>
    <TaxCatchAll xmlns="e0fe94fd-770b-4845-a80c-675d8764887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F65D74D3F636646A8B0DBA7B90C3472" ma:contentTypeVersion="15" ma:contentTypeDescription="Crie um novo documento." ma:contentTypeScope="" ma:versionID="0f284fed690633c9884de595f769fb09">
  <xsd:schema xmlns:xsd="http://www.w3.org/2001/XMLSchema" xmlns:xs="http://www.w3.org/2001/XMLSchema" xmlns:p="http://schemas.microsoft.com/office/2006/metadata/properties" xmlns:ns2="41e9bfca-b15d-42a1-8dcf-95c0c272d15d" xmlns:ns3="e0fe94fd-770b-4845-a80c-675d8764887f" targetNamespace="http://schemas.microsoft.com/office/2006/metadata/properties" ma:root="true" ma:fieldsID="8d0a3e35247f31691ff616978b1fe65f" ns2:_="" ns3:_="">
    <xsd:import namespace="41e9bfca-b15d-42a1-8dcf-95c0c272d15d"/>
    <xsd:import namespace="e0fe94fd-770b-4845-a80c-675d8764887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e9bfca-b15d-42a1-8dcf-95c0c272d1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c7d46ea2-efa8-4cae-a764-a25d3811283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fe94fd-770b-4845-a80c-675d8764887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1c4ccec-714b-4c13-a97a-9137f379a04f}" ma:internalName="TaxCatchAll" ma:showField="CatchAllData" ma:web="e0fe94fd-770b-4845-a80c-675d8764887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3DA6931-0CEE-4545-991E-366B92E00A6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94AB1C-04C4-4ED0-A9BF-2E9ADCFA2C99}">
  <ds:schemaRefs>
    <ds:schemaRef ds:uri="http://www.w3.org/XML/1998/namespace"/>
    <ds:schemaRef ds:uri="http://purl.org/dc/elements/1.1/"/>
    <ds:schemaRef ds:uri="http://schemas.microsoft.com/office/2006/documentManagement/types"/>
    <ds:schemaRef ds:uri="41e9bfca-b15d-42a1-8dcf-95c0c272d15d"/>
    <ds:schemaRef ds:uri="http://schemas.microsoft.com/office/2006/metadata/properties"/>
    <ds:schemaRef ds:uri="http://purl.org/dc/terms/"/>
    <ds:schemaRef ds:uri="e0fe94fd-770b-4845-a80c-675d8764887f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356C9CC-829B-4A3D-82D3-9E7D823F1F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1e9bfca-b15d-42a1-8dcf-95c0c272d15d"/>
    <ds:schemaRef ds:uri="e0fe94fd-770b-4845-a80c-675d8764887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639168ec-16d4-4a2c-9ce2-09cc4ca9bfe8}" enabled="1" method="Standard" siteId="{9a6e48f1-2427-4aa1-b4c9-ee7623d0c26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73121</TotalTime>
  <Words>2976</Words>
  <Application>Microsoft Office PowerPoint</Application>
  <PresentationFormat>Widescreen</PresentationFormat>
  <Paragraphs>457</Paragraphs>
  <Slides>23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23</vt:i4>
      </vt:variant>
    </vt:vector>
  </HeadingPairs>
  <TitlesOfParts>
    <vt:vector size="48" baseType="lpstr">
      <vt:lpstr>Aptos</vt:lpstr>
      <vt:lpstr>Arial</vt:lpstr>
      <vt:lpstr>Calibri</vt:lpstr>
      <vt:lpstr>Montserrat</vt:lpstr>
      <vt:lpstr>Montserrat </vt:lpstr>
      <vt:lpstr>Montserrat ExtraBold</vt:lpstr>
      <vt:lpstr>Montserrat Light</vt:lpstr>
      <vt:lpstr>Montserrat Medium</vt:lpstr>
      <vt:lpstr>Montserrat SemiBold</vt:lpstr>
      <vt:lpstr>Poppins</vt:lpstr>
      <vt:lpstr>Source Sans Pro</vt:lpstr>
      <vt:lpstr>Source Serif Pro</vt:lpstr>
      <vt:lpstr>Source Serif Pro Light</vt:lpstr>
      <vt:lpstr>TT Hoves Pro Trial</vt:lpstr>
      <vt:lpstr>TT Hoves Pro Trial </vt:lpstr>
      <vt:lpstr>TT Hoves Pro Trial Medium</vt:lpstr>
      <vt:lpstr>Capa</vt:lpstr>
      <vt:lpstr>Introdução</vt:lpstr>
      <vt:lpstr>Tese de Investimento</vt:lpstr>
      <vt:lpstr>Overview da Companhia</vt:lpstr>
      <vt:lpstr>Informações Financeiras</vt:lpstr>
      <vt:lpstr>Appendix</vt:lpstr>
      <vt:lpstr>Disclaimer</vt:lpstr>
      <vt:lpstr>Seção Editável</vt:lpstr>
      <vt:lpstr>1_Introdução</vt:lpstr>
      <vt:lpstr>Projeto XXX</vt:lpstr>
      <vt:lpstr>PowerPoint Presentation</vt:lpstr>
      <vt:lpstr>PowerPoint Presentation</vt:lpstr>
      <vt:lpstr>Sumário - Tese de Investimento</vt:lpstr>
      <vt:lpstr>Brasil é referência global no mercado de beleza e cuidados pessoais</vt:lpstr>
      <vt:lpstr>Cuidar da beleza e do bem-estar faz parte da rotina diária da mulher brasileira</vt:lpstr>
      <vt:lpstr>Cada vez mais, Bodycare se destaca dentro do mercado de beleza e cuidados pessoais</vt:lpstr>
      <vt:lpstr>Bodycare agora é parte da rotina diária, tornando-se um ritual essencial da brasileira</vt:lpstr>
      <vt:lpstr>Brasileira opta por produtos de Bodycare acessíveis, onde a Biocap está muito bem posicionada </vt:lpstr>
      <vt:lpstr>Biocap está posicionada para capturar uma importante parcela do mercado</vt:lpstr>
      <vt:lpstr>A Biocap se diferencia da concorrência ao ofertar uma linha completa e focada em Bodycare</vt:lpstr>
      <vt:lpstr>Produtos da Biocap são uns dos queridinhos de Bodycare nas redes sociais</vt:lpstr>
      <vt:lpstr>Biocap também se destaca por sua força no mercado profissional</vt:lpstr>
      <vt:lpstr>PowerPoint Presentation</vt:lpstr>
      <vt:lpstr>Com ampla distribuição, a Biocap atende todo território brasileiro</vt:lpstr>
      <vt:lpstr>A Biocap está posicionada estrategicamente para capturar o potencial do mercado</vt:lpstr>
      <vt:lpstr>Sólida performance financeira sustenta o potencial de crescimento da Biocap (1/3)</vt:lpstr>
      <vt:lpstr>Sólida performance financeira sustenta o potencial de crescimento da Biocap (2/3)</vt:lpstr>
      <vt:lpstr>Sólida performance financeira sustenta o potencial de crescimento da Biocap (3/3)</vt:lpstr>
      <vt:lpstr>O crescimento da Biocap é suportado por uma estrutura com capacidade de expansão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Taiane Bezerra</dc:creator>
  <cp:lastModifiedBy>Tais Pires</cp:lastModifiedBy>
  <cp:revision>719</cp:revision>
  <dcterms:created xsi:type="dcterms:W3CDTF">2022-12-01T15:58:43Z</dcterms:created>
  <dcterms:modified xsi:type="dcterms:W3CDTF">2025-10-08T13:10:39Z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0x0101009F65D74D3F636646A8B0DBA7B90C3472</vt:lpwstr>
  </property>
  <property fmtid="{D5CDD505-2E9C-101B-9397-08002B2CF9AE}" pid="3" name="MediaServiceImageTags">
    <vt:lpwstr/>
  </property>
</Properties>
</file>
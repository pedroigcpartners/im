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1Q25</c:v>
                </c:pt>
              </c:strCache>
            </c:strRef>
          </c:tx>
          <c:spPr>
            <a:solidFill>
              <a:srgbClr val="D9DEE5"/>
            </a:solidFill>
            <a:effectLst/>
          </c:spPr>
          <c:invertIfNegative val="0"/>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cat>
            <c:multiLvlStrRef>
              <c:f>Sheet1!$A$2:$A$3</c:f>
              <c:multiLvlStrCache>
                <c:ptCount val="2"/>
                <c:lvl>
                  <c:pt idx="0">
                    <c:v>AGM Caetano</c:v>
                  </c:pt>
                  <c:pt idx="1">
                    <c:v>AGM Alpha</c:v>
                  </c:pt>
                </c:lvl>
              </c:multiLvlStrCache>
            </c:multiLvlStrRef>
          </c:cat>
          <c:val>
            <c:numRef>
              <c:f>Sheet1!$B$2:$B$3</c:f>
              <c:numCache>
                <c:formatCode>General</c:formatCode>
                <c:ptCount val="2"/>
                <c:pt idx="0">
                  <c:v>26.6</c:v>
                </c:pt>
                <c:pt idx="1">
                  <c:v>4.2</c:v>
                </c:pt>
              </c:numCache>
            </c:numRef>
          </c:val>
        </c:ser>
        <c:ser>
          <c:idx val="1"/>
          <c:order val="1"/>
          <c:tx>
            <c:strRef>
              <c:f>Sheet1!$C$1</c:f>
              <c:strCache>
                <c:ptCount val="1"/>
                <c:pt idx="0">
                  <c:v>1Q26</c:v>
                </c:pt>
              </c:strCache>
            </c:strRef>
          </c:tx>
          <c:spPr>
            <a:solidFill>
              <a:srgbClr val="F35B1A"/>
            </a:solidFill>
            <a:effectLst/>
          </c:spPr>
          <c:invertIfNegative val="0"/>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cat>
            <c:multiLvlStrRef>
              <c:f>Sheet1!$A$2:$A$3</c:f>
              <c:multiLvlStrCache>
                <c:ptCount val="2"/>
                <c:lvl>
                  <c:pt idx="0">
                    <c:v>AGM Caetano</c:v>
                  </c:pt>
                  <c:pt idx="1">
                    <c:v>AGM Alpha</c:v>
                  </c:pt>
                </c:lvl>
              </c:multiLvlStrCache>
            </c:multiLvlStrRef>
          </c:cat>
          <c:val>
            <c:numRef>
              <c:f>Sheet1!$C$2:$C$3</c:f>
              <c:numCache>
                <c:formatCode>General</c:formatCode>
                <c:ptCount val="2"/>
                <c:pt idx="0">
                  <c:v>36.2</c:v>
                </c:pt>
                <c:pt idx="1">
                  <c:v>7.3</c:v>
                </c:pt>
              </c:numCache>
            </c:numRef>
          </c:val>
        </c:ser>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gapWidth val="5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C7683"/>
                </a:solidFill>
                <a:latin typeface="Poppins"/>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6C7683"/>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revenues</c:v>
                </c:pt>
              </c:strCache>
            </c:strRef>
          </c:tx>
          <c:spPr>
            <a:solidFill>
              <a:srgbClr val="2C3A4F"/>
            </a:solidFill>
            <a:effectLst/>
          </c:spPr>
          <c:invertIfNegative val="0"/>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cat>
            <c:multiLvlStrRef>
              <c:f>Sheet1!$A$2:$A$6</c:f>
              <c:multiLvlStrCache>
                <c:ptCount val="5"/>
                <c:lvl>
                  <c:pt idx="0">
                    <c:v>2022</c:v>
                  </c:pt>
                  <c:pt idx="1">
                    <c:v>2023</c:v>
                  </c:pt>
                  <c:pt idx="2">
                    <c:v>2024</c:v>
                  </c:pt>
                  <c:pt idx="3">
                    <c:v>2025</c:v>
                  </c:pt>
                  <c:pt idx="4">
                    <c:v>2026E</c:v>
                  </c:pt>
                </c:lvl>
              </c:multiLvlStrCache>
            </c:multiLvlStrRef>
          </c:cat>
          <c:val>
            <c:numRef>
              <c:f>Sheet1!$B$2:$B$6</c:f>
              <c:numCache>
                <c:formatCode>General</c:formatCode>
                <c:ptCount val="5"/>
                <c:pt idx="0">
                  <c:v/>
                </c:pt>
                <c:pt idx="1">
                  <c:v/>
                </c:pt>
                <c:pt idx="2">
                  <c:v/>
                </c:pt>
                <c:pt idx="3">
                  <c:v>140</c:v>
                </c:pt>
                <c:pt idx="4">
                  <c:v/>
                </c:pt>
              </c:numCache>
            </c:numRef>
          </c:val>
        </c:ser>
        <c:ser>
          <c:idx val="1"/>
          <c:order val="1"/>
          <c:tx>
            <c:strRef>
              <c:f>Sheet1!$C$1</c:f>
              <c:strCache>
                <c:ptCount val="1"/>
                <c:pt idx="0">
                  <c:v>EBITDA</c:v>
                </c:pt>
              </c:strCache>
            </c:strRef>
          </c:tx>
          <c:spPr>
            <a:solidFill>
              <a:srgbClr val="F35B1A"/>
            </a:solidFill>
            <a:effectLst/>
          </c:spPr>
          <c:invertIfNegative val="0"/>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cat>
            <c:multiLvlStrRef>
              <c:f>Sheet1!$A$2:$A$6</c:f>
              <c:multiLvlStrCache>
                <c:ptCount val="5"/>
                <c:lvl>
                  <c:pt idx="0">
                    <c:v>2022</c:v>
                  </c:pt>
                  <c:pt idx="1">
                    <c:v>2023</c:v>
                  </c:pt>
                  <c:pt idx="2">
                    <c:v>2024</c:v>
                  </c:pt>
                  <c:pt idx="3">
                    <c:v>2025</c:v>
                  </c:pt>
                  <c:pt idx="4">
                    <c:v>2026E</c:v>
                  </c:pt>
                </c:lvl>
              </c:multiLvlStrCache>
            </c:multiLvlStrRef>
          </c:cat>
          <c:val>
            <c:numRef>
              <c:f>Sheet1!$C$2:$C$6</c:f>
              <c:numCache>
                <c:formatCode>General</c:formatCode>
                <c:ptCount val="5"/>
                <c:pt idx="0">
                  <c:v/>
                </c:pt>
                <c:pt idx="1">
                  <c:v/>
                </c:pt>
                <c:pt idx="2">
                  <c:v/>
                </c:pt>
                <c:pt idx="3">
                  <c:v>36</c:v>
                </c:pt>
                <c:pt idx="4">
                  <c:v/>
                </c:pt>
              </c:numCache>
            </c:numRef>
          </c:val>
        </c:ser>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gapWidth val="5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C7683"/>
                </a:solidFill>
                <a:latin typeface="Poppins"/>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800">
              <a:solidFill>
                <a:srgbClr val="6C7683"/>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1Q25</c:v>
                </c:pt>
              </c:strCache>
            </c:strRef>
          </c:tx>
          <c:spPr>
            <a:solidFill>
              <a:srgbClr val="D9DEE5"/>
            </a:solidFill>
            <a:effectLst/>
          </c:spPr>
          <c:invertIfNegative val="0"/>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cat>
            <c:multiLvlStrRef>
              <c:f>Sheet1!$A$2:$A$4</c:f>
              <c:multiLvlStrCache>
                <c:ptCount val="3"/>
                <c:lvl>
                  <c:pt idx="0">
                    <c:v>AGM Caetano</c:v>
                  </c:pt>
                  <c:pt idx="1">
                    <c:v>AGM Alpha</c:v>
                  </c:pt>
                  <c:pt idx="2">
                    <c:v>Total</c:v>
                  </c:pt>
                </c:lvl>
              </c:multiLvlStrCache>
            </c:multiLvlStrRef>
          </c:cat>
          <c:val>
            <c:numRef>
              <c:f>Sheet1!$B$2:$B$4</c:f>
              <c:numCache>
                <c:formatCode>General</c:formatCode>
                <c:ptCount val="3"/>
                <c:pt idx="0">
                  <c:v>26.6</c:v>
                </c:pt>
                <c:pt idx="1">
                  <c:v>4.2</c:v>
                </c:pt>
                <c:pt idx="2">
                  <c:v>30.8</c:v>
                </c:pt>
              </c:numCache>
            </c:numRef>
          </c:val>
        </c:ser>
        <c:ser>
          <c:idx val="1"/>
          <c:order val="1"/>
          <c:tx>
            <c:strRef>
              <c:f>Sheet1!$C$1</c:f>
              <c:strCache>
                <c:ptCount val="1"/>
                <c:pt idx="0">
                  <c:v>1Q26</c:v>
                </c:pt>
              </c:strCache>
            </c:strRef>
          </c:tx>
          <c:spPr>
            <a:solidFill>
              <a:srgbClr val="F35B1A"/>
            </a:solidFill>
            <a:effectLst/>
          </c:spPr>
          <c:invertIfNegative val="0"/>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cat>
            <c:multiLvlStrRef>
              <c:f>Sheet1!$A$2:$A$4</c:f>
              <c:multiLvlStrCache>
                <c:ptCount val="3"/>
                <c:lvl>
                  <c:pt idx="0">
                    <c:v>AGM Caetano</c:v>
                  </c:pt>
                  <c:pt idx="1">
                    <c:v>AGM Alpha</c:v>
                  </c:pt>
                  <c:pt idx="2">
                    <c:v>Total</c:v>
                  </c:pt>
                </c:lvl>
              </c:multiLvlStrCache>
            </c:multiLvlStrRef>
          </c:cat>
          <c:val>
            <c:numRef>
              <c:f>Sheet1!$C$2:$C$4</c:f>
              <c:numCache>
                <c:formatCode>General</c:formatCode>
                <c:ptCount val="3"/>
                <c:pt idx="0">
                  <c:v>36.2</c:v>
                </c:pt>
                <c:pt idx="1">
                  <c:v>7.3</c:v>
                </c:pt>
                <c:pt idx="2">
                  <c:v>43.5</c:v>
                </c:pt>
              </c:numCache>
            </c:numRef>
          </c:val>
        </c:ser>
        <c:dLbls>
          <c:numFmt formatCode="#,##0" sourceLinked="0"/>
          <c:txPr>
            <a:bodyPr/>
            <a:lstStyle/>
            <a:p>
              <a:pPr>
                <a:defRPr b="0" i="0" strike="noStrike" sz="900" u="none">
                  <a:solidFill>
                    <a:srgbClr val="2C3A4F"/>
                  </a:solidFill>
                  <a:latin typeface="Poppins SemiBold"/>
                </a:defRPr>
              </a:pPr>
            </a:p>
          </c:txPr>
          <c:showLegendKey val="0"/>
          <c:showVal val="1"/>
          <c:showCatName val="0"/>
          <c:showSerName val="0"/>
          <c:showPercent val="0"/>
          <c:showBubbleSize val="0"/>
          <c:showLeaderLines val="0"/>
        </c:dLbls>
        <c:gapWidth val="5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C7683"/>
                </a:solidFill>
                <a:latin typeface="Poppins"/>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6C7683"/>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slideLayout" Target="../slideLayouts/slideLayout1.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5.png"/><Relationship Id="rId7" Type="http://schemas.openxmlformats.org/officeDocument/2006/relationships/image" Target="../media/image-18-5.png"/><Relationship Id="rId8" Type="http://schemas.openxmlformats.org/officeDocument/2006/relationships/image" Target="../media/image-18-5.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26-1.png"/><Relationship Id="rId2" Type="http://schemas.openxmlformats.org/officeDocument/2006/relationships/image" Target="../media/image-26-2.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p:bgPr>
    </p:bg>
    <p:spTree>
      <p:nvGrpSpPr>
        <p:cNvPr id="1" name=""/>
        <p:cNvGrpSpPr/>
        <p:nvPr/>
      </p:nvGrpSpPr>
      <p:grpSpPr>
        <a:xfrm>
          <a:off x="0" y="0"/>
          <a:ext cx="0" cy="0"/>
          <a:chOff x="0" y="0"/>
          <a:chExt cx="0" cy="0"/>
        </a:xfrm>
      </p:grpSpPr>
      <p:pic>
        <p:nvPicPr>
          <p:cNvPr id="2" name="Image 0" descr="assets/cover_buses.jpeg">    </p:cNvPr>
          <p:cNvPicPr>
            <a:picLocks noChangeAspect="1"/>
          </p:cNvPicPr>
          <p:nvPr/>
        </p:nvPicPr>
        <p:blipFill>
          <a:blip r:embed="rId1"/>
          <a:srcRect l="0" r="0" t="0" b="0"/>
          <a:stretch/>
        </p:blipFill>
        <p:spPr>
          <a:xfrm>
            <a:off x="0" y="0"/>
            <a:ext cx="7452360" cy="6858000"/>
          </a:xfrm>
          <a:prstGeom prst="rect">
            <a:avLst/>
          </a:prstGeom>
        </p:spPr>
      </p:pic>
      <p:sp>
        <p:nvSpPr>
          <p:cNvPr id="3" name="Shape 0"/>
          <p:cNvSpPr/>
          <p:nvPr/>
        </p:nvSpPr>
        <p:spPr>
          <a:xfrm>
            <a:off x="0" y="0"/>
            <a:ext cx="7452360" cy="6858000"/>
          </a:xfrm>
          <a:prstGeom prst="rect">
            <a:avLst/>
          </a:prstGeom>
          <a:solidFill>
            <a:srgbClr val="141A24">
              <a:alpha val="30000"/>
            </a:srgbClr>
          </a:solidFill>
          <a:ln/>
        </p:spPr>
      </p:sp>
      <p:sp>
        <p:nvSpPr>
          <p:cNvPr id="4" name="Shape 1"/>
          <p:cNvSpPr/>
          <p:nvPr/>
        </p:nvSpPr>
        <p:spPr>
          <a:xfrm>
            <a:off x="7452360" y="0"/>
            <a:ext cx="4739335" cy="6858000"/>
          </a:xfrm>
          <a:prstGeom prst="rect">
            <a:avLst/>
          </a:prstGeom>
          <a:solidFill>
            <a:srgbClr val="141A24"/>
          </a:solidFill>
          <a:ln/>
        </p:spPr>
      </p:sp>
      <p:sp>
        <p:nvSpPr>
          <p:cNvPr id="5" name="Shape 2"/>
          <p:cNvSpPr/>
          <p:nvPr/>
        </p:nvSpPr>
        <p:spPr>
          <a:xfrm>
            <a:off x="7452360" y="0"/>
            <a:ext cx="45720" cy="6858000"/>
          </a:xfrm>
          <a:prstGeom prst="rect">
            <a:avLst/>
          </a:prstGeom>
          <a:solidFill>
            <a:srgbClr val="F35B1A"/>
          </a:solidFill>
          <a:ln/>
        </p:spPr>
      </p:sp>
      <p:pic>
        <p:nvPicPr>
          <p:cNvPr id="6" name="Image 1" descr="assets/stripes_orange.png">    </p:cNvPr>
          <p:cNvPicPr>
            <a:picLocks noChangeAspect="1"/>
          </p:cNvPicPr>
          <p:nvPr/>
        </p:nvPicPr>
        <p:blipFill>
          <a:blip r:embed="rId2">
            <a:alphaModFix amt="62000"/>
          </a:blip>
          <a:stretch>
            <a:fillRect/>
          </a:stretch>
        </p:blipFill>
        <p:spPr>
          <a:xfrm>
            <a:off x="9905695" y="4572000"/>
            <a:ext cx="2286000" cy="2286000"/>
          </a:xfrm>
          <a:prstGeom prst="rect">
            <a:avLst/>
          </a:prstGeom>
        </p:spPr>
      </p:pic>
      <p:pic>
        <p:nvPicPr>
          <p:cNvPr id="7" name="Image 2" descr="assets/mobi_logo_black.png">    </p:cNvPr>
          <p:cNvPicPr>
            <a:picLocks noChangeAspect="1"/>
          </p:cNvPicPr>
          <p:nvPr/>
        </p:nvPicPr>
        <p:blipFill>
          <a:blip r:embed="rId3"/>
          <a:stretch>
            <a:fillRect/>
          </a:stretch>
        </p:blipFill>
        <p:spPr>
          <a:xfrm>
            <a:off x="8110728" y="1481328"/>
            <a:ext cx="3200400" cy="1025128"/>
          </a:xfrm>
          <a:prstGeom prst="rect">
            <a:avLst/>
          </a:prstGeom>
        </p:spPr>
      </p:pic>
      <p:sp>
        <p:nvSpPr>
          <p:cNvPr id="8" name="Shape 3"/>
          <p:cNvSpPr/>
          <p:nvPr/>
        </p:nvSpPr>
        <p:spPr>
          <a:xfrm>
            <a:off x="8129016" y="2880360"/>
            <a:ext cx="3154680" cy="786384"/>
          </a:xfrm>
          <a:prstGeom prst="roundRect">
            <a:avLst>
              <a:gd name="adj" fmla="val 6977"/>
            </a:avLst>
          </a:prstGeom>
          <a:ln w="19050">
            <a:solidFill>
              <a:srgbClr val="F35B1A"/>
            </a:solidFill>
            <a:prstDash val="solid"/>
          </a:ln>
        </p:spPr>
      </p:sp>
      <p:sp>
        <p:nvSpPr>
          <p:cNvPr id="9" name="Text 4"/>
          <p:cNvSpPr/>
          <p:nvPr/>
        </p:nvSpPr>
        <p:spPr>
          <a:xfrm>
            <a:off x="8129016" y="2880360"/>
            <a:ext cx="3154680" cy="786384"/>
          </a:xfrm>
          <a:prstGeom prst="rect">
            <a:avLst/>
          </a:prstGeom>
          <a:noFill/>
          <a:ln/>
        </p:spPr>
        <p:txBody>
          <a:bodyPr wrap="square" lIns="0" tIns="0" rIns="0" bIns="0" rtlCol="0" anchor="ctr"/>
          <a:lstStyle/>
          <a:p>
            <a:pPr algn="ctr" indent="0" marL="0">
              <a:buNone/>
            </a:pPr>
            <a:r>
              <a:rPr lang="en-US" sz="1800" spc="200" kern="0" dirty="0">
                <a:solidFill>
                  <a:srgbClr val="FFFFFF"/>
                </a:solidFill>
                <a:latin typeface="Poppins SemiBold" pitchFamily="34" charset="0"/>
                <a:ea typeface="Poppins SemiBold" pitchFamily="34" charset="-122"/>
                <a:cs typeface="Poppins SemiBold" pitchFamily="34" charset="-120"/>
              </a:rPr>
              <a:t>PROJECT COMPASS</a:t>
            </a:r>
            <a:endParaRPr lang="en-US" sz="1800" dirty="0"/>
          </a:p>
        </p:txBody>
      </p:sp>
      <p:sp>
        <p:nvSpPr>
          <p:cNvPr id="10" name="Text 5"/>
          <p:cNvSpPr/>
          <p:nvPr/>
        </p:nvSpPr>
        <p:spPr>
          <a:xfrm>
            <a:off x="8129016" y="3858768"/>
            <a:ext cx="3154680" cy="292608"/>
          </a:xfrm>
          <a:prstGeom prst="rect">
            <a:avLst/>
          </a:prstGeom>
          <a:noFill/>
          <a:ln/>
        </p:spPr>
        <p:txBody>
          <a:bodyPr wrap="square" lIns="0" tIns="0" rIns="0" bIns="0" rtlCol="0" anchor="ctr"/>
          <a:lstStyle/>
          <a:p>
            <a:pPr algn="ctr" indent="0" marL="0">
              <a:buNone/>
            </a:pPr>
            <a:r>
              <a:rPr lang="en-US" sz="1050" dirty="0">
                <a:solidFill>
                  <a:srgbClr val="C7CDD6"/>
                </a:solidFill>
                <a:latin typeface="Poppins" pitchFamily="34" charset="0"/>
                <a:ea typeface="Poppins" pitchFamily="34" charset="-122"/>
                <a:cs typeface="Poppins" pitchFamily="34" charset="-120"/>
              </a:rPr>
              <a:t>Confidential Information Memorandum</a:t>
            </a:r>
            <a:endParaRPr lang="en-US" sz="1050" dirty="0"/>
          </a:p>
        </p:txBody>
      </p:sp>
      <p:sp>
        <p:nvSpPr>
          <p:cNvPr id="11" name="Text 6"/>
          <p:cNvSpPr/>
          <p:nvPr/>
        </p:nvSpPr>
        <p:spPr>
          <a:xfrm>
            <a:off x="8129016" y="4187952"/>
            <a:ext cx="3154680" cy="274320"/>
          </a:xfrm>
          <a:prstGeom prst="rect">
            <a:avLst/>
          </a:prstGeom>
          <a:noFill/>
          <a:ln/>
        </p:spPr>
        <p:txBody>
          <a:bodyPr wrap="square" lIns="0" tIns="0" rIns="0" bIns="0" rtlCol="0" anchor="ctr"/>
          <a:lstStyle/>
          <a:p>
            <a:pPr algn="ctr" indent="0" marL="0">
              <a:buNone/>
            </a:pPr>
            <a:r>
              <a:rPr lang="en-US" sz="900" spc="100" kern="0" dirty="0">
                <a:solidFill>
                  <a:srgbClr val="F35B1A"/>
                </a:solidFill>
                <a:latin typeface="Poppins Medium" pitchFamily="34" charset="0"/>
                <a:ea typeface="Poppins Medium" pitchFamily="34" charset="-122"/>
                <a:cs typeface="Poppins Medium" pitchFamily="34" charset="-120"/>
              </a:rPr>
              <a:t>São Paulo  ·  2026</a:t>
            </a:r>
            <a:endParaRPr lang="en-US" sz="900" dirty="0"/>
          </a:p>
        </p:txBody>
      </p:sp>
      <p:pic>
        <p:nvPicPr>
          <p:cNvPr id="12" name="Image 3" descr="assets/igc_white.png">    </p:cNvPr>
          <p:cNvPicPr>
            <a:picLocks noChangeAspect="1"/>
          </p:cNvPicPr>
          <p:nvPr/>
        </p:nvPicPr>
        <p:blipFill>
          <a:blip r:embed="rId4"/>
          <a:stretch>
            <a:fillRect/>
          </a:stretch>
        </p:blipFill>
        <p:spPr>
          <a:xfrm>
            <a:off x="10929823" y="384048"/>
            <a:ext cx="530352" cy="458460"/>
          </a:xfrm>
          <a:prstGeom prst="rect">
            <a:avLst/>
          </a:prstGeom>
        </p:spPr>
      </p:pic>
      <p:sp>
        <p:nvSpPr>
          <p:cNvPr id="13" name="Text 7"/>
          <p:cNvSpPr/>
          <p:nvPr/>
        </p:nvSpPr>
        <p:spPr>
          <a:xfrm>
            <a:off x="731520" y="6291072"/>
            <a:ext cx="6400800" cy="274320"/>
          </a:xfrm>
          <a:prstGeom prst="rect">
            <a:avLst/>
          </a:prstGeom>
          <a:noFill/>
          <a:ln/>
        </p:spPr>
        <p:txBody>
          <a:bodyPr wrap="square" lIns="0" tIns="0" rIns="0" bIns="0" rtlCol="0" anchor="ctr"/>
          <a:lstStyle/>
          <a:p>
            <a:pPr indent="0" marL="0">
              <a:buNone/>
            </a:pPr>
            <a:r>
              <a:rPr lang="en-US" sz="1000" dirty="0">
                <a:solidFill>
                  <a:srgbClr val="E8ECF1"/>
                </a:solidFill>
                <a:latin typeface="Poppins Medium" pitchFamily="34" charset="0"/>
                <a:ea typeface="Poppins Medium" pitchFamily="34" charset="-122"/>
                <a:cs typeface="Poppins Medium" pitchFamily="34" charset="-120"/>
              </a:rPr>
              <a:t>Urban mobility platform  ·  Midwest &amp; Southeast of Brazil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7315200" cy="548640"/>
          </a:xfrm>
          <a:prstGeom prst="rect">
            <a:avLst/>
          </a:prstGeom>
          <a:noFill/>
          <a:ln/>
        </p:spPr>
        <p:txBody>
          <a:bodyPr wrap="square" lIns="0" tIns="0" rIns="0" bIns="0" rtlCol="0" anchor="ctr"/>
          <a:lstStyle/>
          <a:p>
            <a:pPr indent="0" marL="0">
              <a:buNone/>
            </a:pPr>
            <a:r>
              <a:rPr lang="en-US" sz="2400" dirty="0">
                <a:solidFill>
                  <a:srgbClr val="141A24"/>
                </a:solidFill>
                <a:latin typeface="Poppins SemiBold" pitchFamily="34" charset="0"/>
                <a:ea typeface="Poppins SemiBold" pitchFamily="34" charset="-122"/>
                <a:cs typeface="Poppins SemiBold" pitchFamily="34" charset="-120"/>
              </a:rPr>
              <a:t>Disclaimer</a:t>
            </a:r>
            <a:endParaRPr lang="en-US" sz="2400" dirty="0"/>
          </a:p>
        </p:txBody>
      </p:sp>
      <p:sp>
        <p:nvSpPr>
          <p:cNvPr id="3" name="Text 1"/>
          <p:cNvSpPr/>
          <p:nvPr/>
        </p:nvSpPr>
        <p:spPr>
          <a:xfrm>
            <a:off x="731520" y="969264"/>
            <a:ext cx="7315200" cy="256032"/>
          </a:xfrm>
          <a:prstGeom prst="rect">
            <a:avLst/>
          </a:prstGeom>
          <a:noFill/>
          <a:ln/>
        </p:spPr>
        <p:txBody>
          <a:bodyPr wrap="square" lIns="0" tIns="0" rIns="0" bIns="0" rtlCol="0" anchor="ctr"/>
          <a:lstStyle/>
          <a:p>
            <a:pPr indent="0" marL="0">
              <a:buNone/>
            </a:pPr>
            <a:r>
              <a:rPr lang="en-US" sz="900" dirty="0">
                <a:solidFill>
                  <a:srgbClr val="F35B1A"/>
                </a:solidFill>
                <a:latin typeface="Poppins Medium" pitchFamily="34" charset="0"/>
                <a:ea typeface="Poppins Medium" pitchFamily="34" charset="-122"/>
                <a:cs typeface="Poppins Medium" pitchFamily="34" charset="-120"/>
              </a:rPr>
              <a:t>Project Compass</a:t>
            </a:r>
            <a:endParaRPr lang="en-US" sz="900" dirty="0"/>
          </a:p>
        </p:txBody>
      </p:sp>
      <p:sp>
        <p:nvSpPr>
          <p:cNvPr id="4" name="Shape 2"/>
          <p:cNvSpPr/>
          <p:nvPr/>
        </p:nvSpPr>
        <p:spPr>
          <a:xfrm>
            <a:off x="731520" y="1298448"/>
            <a:ext cx="822960" cy="27432"/>
          </a:xfrm>
          <a:prstGeom prst="rect">
            <a:avLst/>
          </a:prstGeom>
          <a:solidFill>
            <a:srgbClr val="F35B1A"/>
          </a:solidFill>
          <a:ln/>
        </p:spPr>
      </p:sp>
      <p:sp>
        <p:nvSpPr>
          <p:cNvPr id="5" name="Text 3"/>
          <p:cNvSpPr/>
          <p:nvPr/>
        </p:nvSpPr>
        <p:spPr>
          <a:xfrm>
            <a:off x="731520" y="1481328"/>
            <a:ext cx="5029200" cy="3200400"/>
          </a:xfrm>
          <a:prstGeom prst="rect">
            <a:avLst/>
          </a:prstGeom>
          <a:noFill/>
          <a:ln/>
        </p:spPr>
        <p:txBody>
          <a:bodyPr wrap="square" lIns="0" tIns="0" rIns="0" bIns="0" rtlCol="0" anchor="t"/>
          <a:lstStyle/>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IGC has been retained by MOBI (“Company”; “Mobi”), on an exclusive basis, to advise the Company in its M&amp;A process (“Transaction”). This material (“Information Memorandum”) describes and summarizes the Company, its assets, market and economic and financial indicators and has been prepared exclusively to assist the recipient in deciding whether it wishes to proceed with a further investigation of a possible Transaction with the Company. In no event shall the recipient use any of this information for any commercial purposes or for purposes other than the one for which this memorandum is furnished.</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All information contained in this Information Memorandum has been prepared based on the documents and/or information provided by the Company or obtained directly by IGC through legal sources and/or through independent research. IGC has not investigated, verified or audited the documents and information used for its preparation. This Information Memorandum contains statements, estimates and projections provided by the Client concerning anticipated future performance, which may or may not prove to be correct. No representations, expressed or implied, are made as to their accuracy.</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This Memorandum of Information is not intended to form any part of the basis of any investment decision or other evaluation, or any decision to participate in the Transaction process, and should not be considered a recommendation by the Company or IGC to any reader. Each reader must make its own valuation of the Transaction in order to determine whether to continue with its participation in the process. No liability is or shall be attributed to the members of IGC, including its partners, directors or employees, in connection with the accuracy or completeness of the information contained herein.</a:t>
            </a:r>
            <a:endParaRPr lang="en-US" sz="750" dirty="0"/>
          </a:p>
        </p:txBody>
      </p:sp>
      <p:sp>
        <p:nvSpPr>
          <p:cNvPr id="6" name="Text 4"/>
          <p:cNvSpPr/>
          <p:nvPr/>
        </p:nvSpPr>
        <p:spPr>
          <a:xfrm>
            <a:off x="6053328" y="1481328"/>
            <a:ext cx="5029200" cy="3200400"/>
          </a:xfrm>
          <a:prstGeom prst="rect">
            <a:avLst/>
          </a:prstGeom>
          <a:noFill/>
          <a:ln/>
        </p:spPr>
        <p:txBody>
          <a:bodyPr wrap="square" lIns="0" tIns="0" rIns="0" bIns="0" rtlCol="0" anchor="t"/>
          <a:lstStyle/>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This material belongs to IGC and shall not be copied, reproduced, distributed and/or disclosed, in whole or in part, including by digital media, to any third party without the express and prior written consent of IGC. By accepting this material, the recipient agrees to return it as soon as requested by IGC, and to maintain strict confidentiality over all information contained herein.</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Since the existence of the Transaction is not publicly disclosed and may not be known by members of the Company or third parties, the recipient agrees not to approach or contact any officer, employee, client, supplier or representative of the Company without the express written permission of IGC. In furnishing this material, IGC undertakes no obligation to provide access to additional information, to update it, or to correct any inaccuracies which may become apparent, and reserves the right, at any time and without notice, to change the procedure for the Transaction or terminate negotiations prior to the execution of any binding agreement.</a:t>
            </a:r>
            <a:endParaRPr lang="en-US" sz="750" dirty="0"/>
          </a:p>
          <a:p>
            <a:pPr algn="just" indent="0" marL="0">
              <a:lnSpc>
                <a:spcPct val="116000"/>
              </a:lnSpc>
              <a:spcAft>
                <a:spcPts val="900"/>
              </a:spcAft>
              <a:buNone/>
            </a:pPr>
            <a:r>
              <a:rPr lang="en-US" sz="750" dirty="0">
                <a:solidFill>
                  <a:srgbClr val="55606D"/>
                </a:solidFill>
                <a:latin typeface="Poppins" pitchFamily="34" charset="0"/>
                <a:ea typeface="Poppins" pitchFamily="34" charset="-122"/>
                <a:cs typeface="Poppins" pitchFamily="34" charset="-120"/>
              </a:rPr>
              <a:t>All communications, questions and/or requests regarding this material shall be addressed directly to IGC.</a:t>
            </a:r>
            <a:endParaRPr lang="en-US" sz="750" dirty="0"/>
          </a:p>
        </p:txBody>
      </p:sp>
      <p:sp>
        <p:nvSpPr>
          <p:cNvPr id="7" name="Shape 5"/>
          <p:cNvSpPr/>
          <p:nvPr/>
        </p:nvSpPr>
        <p:spPr>
          <a:xfrm>
            <a:off x="6053328" y="4828032"/>
            <a:ext cx="4315968" cy="1207008"/>
          </a:xfrm>
          <a:prstGeom prst="roundRect">
            <a:avLst>
              <a:gd name="adj" fmla="val 7576"/>
            </a:avLst>
          </a:prstGeom>
          <a:solidFill>
            <a:srgbClr val="141A24"/>
          </a:solidFill>
          <a:ln/>
        </p:spPr>
      </p:sp>
      <p:sp>
        <p:nvSpPr>
          <p:cNvPr id="8" name="Shape 6"/>
          <p:cNvSpPr/>
          <p:nvPr/>
        </p:nvSpPr>
        <p:spPr>
          <a:xfrm>
            <a:off x="6053328" y="5047488"/>
            <a:ext cx="50292" cy="768096"/>
          </a:xfrm>
          <a:prstGeom prst="rect">
            <a:avLst/>
          </a:prstGeom>
          <a:solidFill>
            <a:srgbClr val="F35B1A"/>
          </a:solidFill>
          <a:ln/>
        </p:spPr>
      </p:sp>
      <p:sp>
        <p:nvSpPr>
          <p:cNvPr id="9" name="Text 7"/>
          <p:cNvSpPr/>
          <p:nvPr/>
        </p:nvSpPr>
        <p:spPr>
          <a:xfrm>
            <a:off x="6291072" y="4956048"/>
            <a:ext cx="3291840" cy="274320"/>
          </a:xfrm>
          <a:prstGeom prst="rect">
            <a:avLst/>
          </a:prstGeom>
          <a:noFill/>
          <a:ln/>
        </p:spPr>
        <p:txBody>
          <a:bodyPr wrap="square" lIns="0" tIns="0" rIns="0" bIns="0" rtlCol="0" anchor="ctr"/>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Bruno Iervolino</a:t>
            </a:r>
            <a:endParaRPr lang="en-US" sz="1200" dirty="0"/>
          </a:p>
        </p:txBody>
      </p:sp>
      <p:sp>
        <p:nvSpPr>
          <p:cNvPr id="10" name="Text 8"/>
          <p:cNvSpPr/>
          <p:nvPr/>
        </p:nvSpPr>
        <p:spPr>
          <a:xfrm>
            <a:off x="6291072" y="5212080"/>
            <a:ext cx="3291840" cy="219456"/>
          </a:xfrm>
          <a:prstGeom prst="rect">
            <a:avLst/>
          </a:prstGeom>
          <a:noFill/>
          <a:ln/>
        </p:spPr>
        <p:txBody>
          <a:bodyPr wrap="square" lIns="0" tIns="0" rIns="0" bIns="0" rtlCol="0" anchor="ctr"/>
          <a:lstStyle/>
          <a:p>
            <a:pPr indent="0" marL="0">
              <a:buNone/>
            </a:pPr>
            <a:r>
              <a:rPr lang="en-US" sz="900" dirty="0">
                <a:solidFill>
                  <a:srgbClr val="F35B1A"/>
                </a:solidFill>
                <a:latin typeface="Poppins Medium" pitchFamily="34" charset="0"/>
                <a:ea typeface="Poppins Medium" pitchFamily="34" charset="-122"/>
                <a:cs typeface="Poppins Medium" pitchFamily="34" charset="-120"/>
              </a:rPr>
              <a:t>IGC Partners</a:t>
            </a:r>
            <a:endParaRPr lang="en-US" sz="900" dirty="0"/>
          </a:p>
        </p:txBody>
      </p:sp>
      <p:sp>
        <p:nvSpPr>
          <p:cNvPr id="11" name="Text 9"/>
          <p:cNvSpPr/>
          <p:nvPr/>
        </p:nvSpPr>
        <p:spPr>
          <a:xfrm>
            <a:off x="6291072" y="5431536"/>
            <a:ext cx="3840480" cy="566928"/>
          </a:xfrm>
          <a:prstGeom prst="rect">
            <a:avLst/>
          </a:prstGeom>
          <a:noFill/>
          <a:ln/>
        </p:spPr>
        <p:txBody>
          <a:bodyPr wrap="square" lIns="0" tIns="0" rIns="0" bIns="0" rtlCol="0" anchor="t"/>
          <a:lstStyle/>
          <a:p>
            <a:pPr indent="0" marL="0">
              <a:lnSpc>
                <a:spcPct val="120000"/>
              </a:lnSpc>
              <a:buNone/>
            </a:pPr>
            <a:r>
              <a:rPr lang="en-US" sz="750" dirty="0">
                <a:solidFill>
                  <a:srgbClr val="C7CDD6"/>
                </a:solidFill>
                <a:latin typeface="Poppins" pitchFamily="34" charset="0"/>
                <a:ea typeface="Poppins" pitchFamily="34" charset="-122"/>
                <a:cs typeface="Poppins" pitchFamily="34" charset="-120"/>
              </a:rPr>
              <a:t>Av. Brigadeiro Faria Lima, 2277 — 6th floor</a:t>
            </a:r>
            <a:endParaRPr lang="en-US" sz="750" dirty="0"/>
          </a:p>
          <a:p>
            <a:pPr indent="0" marL="0">
              <a:lnSpc>
                <a:spcPct val="120000"/>
              </a:lnSpc>
              <a:buNone/>
            </a:pPr>
            <a:r>
              <a:rPr lang="en-US" sz="750" dirty="0">
                <a:solidFill>
                  <a:srgbClr val="C7CDD6"/>
                </a:solidFill>
                <a:latin typeface="Poppins" pitchFamily="34" charset="0"/>
                <a:ea typeface="Poppins" pitchFamily="34" charset="-122"/>
                <a:cs typeface="Poppins" pitchFamily="34" charset="-120"/>
              </a:rPr>
              <a:t>01452-000  São Paulo – SP    Tel: (55 11) 3815-3533</a:t>
            </a:r>
            <a:endParaRPr lang="en-US" sz="750" dirty="0"/>
          </a:p>
          <a:p>
            <a:pPr indent="0" marL="0">
              <a:lnSpc>
                <a:spcPct val="120000"/>
              </a:lnSpc>
              <a:buNone/>
            </a:pPr>
            <a:r>
              <a:rPr lang="en-US" sz="750" dirty="0">
                <a:solidFill>
                  <a:srgbClr val="C7CDD6"/>
                </a:solidFill>
                <a:latin typeface="Poppins" pitchFamily="34" charset="0"/>
                <a:ea typeface="Poppins" pitchFamily="34" charset="-122"/>
                <a:cs typeface="Poppins" pitchFamily="34" charset="-120"/>
              </a:rPr>
              <a:t>bruno.iervolino@igcp.com.br</a:t>
            </a:r>
            <a:endParaRPr lang="en-US" sz="750" dirty="0"/>
          </a:p>
        </p:txBody>
      </p:sp>
      <p:sp>
        <p:nvSpPr>
          <p:cNvPr id="12" name="Shape 10"/>
          <p:cNvSpPr/>
          <p:nvPr/>
        </p:nvSpPr>
        <p:spPr>
          <a:xfrm>
            <a:off x="10474452" y="4988052"/>
            <a:ext cx="886968" cy="886968"/>
          </a:xfrm>
          <a:prstGeom prst="ellipse">
            <a:avLst/>
          </a:prstGeom>
          <a:solidFill>
            <a:srgbClr val="141A24"/>
          </a:solidFill>
          <a:ln/>
          <a:effectLst>
            <a:outerShdw sx="100000" sy="100000" kx="0" ky="0" algn="bl" rotWithShape="0" blurRad="88900" dist="25400" dir="5400000">
              <a:srgbClr val="9AA3AD">
                <a:alpha val="30000"/>
              </a:srgbClr>
            </a:outerShdw>
          </a:effectLst>
        </p:spPr>
      </p:sp>
      <p:pic>
        <p:nvPicPr>
          <p:cNvPr id="13" name="Image 0" descr="assets/mobi_bus_front.png">    </p:cNvPr>
          <p:cNvPicPr>
            <a:picLocks noChangeAspect="1"/>
          </p:cNvPicPr>
          <p:nvPr/>
        </p:nvPicPr>
        <p:blipFill>
          <a:blip r:embed="rId1"/>
          <a:srcRect l="0" r="0" t="0" b="0"/>
          <a:stretch/>
        </p:blipFill>
        <p:spPr>
          <a:xfrm>
            <a:off x="10515600" y="5029200"/>
            <a:ext cx="804672" cy="804672"/>
          </a:xfrm>
          <a:prstGeom prst="ellipse">
            <a:avLst/>
          </a:prstGeom>
        </p:spPr>
      </p:pic>
      <p:pic>
        <p:nvPicPr>
          <p:cNvPr id="14"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15" name="Text 11"/>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A24"/>
        </a:solidFill>
      </p:bgPr>
    </p:bg>
    <p:spTree>
      <p:nvGrpSpPr>
        <p:cNvPr id="1" name=""/>
        <p:cNvGrpSpPr/>
        <p:nvPr/>
      </p:nvGrpSpPr>
      <p:grpSpPr>
        <a:xfrm>
          <a:off x="0" y="0"/>
          <a:ext cx="0" cy="0"/>
          <a:chOff x="0" y="0"/>
          <a:chExt cx="0" cy="0"/>
        </a:xfrm>
      </p:grpSpPr>
      <p:pic>
        <p:nvPicPr>
          <p:cNvPr id="2" name="Image 0" descr="assets/stripes_orange.png">    </p:cNvPr>
          <p:cNvPicPr>
            <a:picLocks noChangeAspect="1"/>
          </p:cNvPicPr>
          <p:nvPr/>
        </p:nvPicPr>
        <p:blipFill>
          <a:blip r:embed="rId1">
            <a:alphaModFix amt="38000"/>
          </a:blip>
          <a:stretch>
            <a:fillRect/>
          </a:stretch>
        </p:blipFill>
        <p:spPr>
          <a:xfrm>
            <a:off x="-640080" y="4572000"/>
            <a:ext cx="2286000" cy="2286000"/>
          </a:xfrm>
          <a:prstGeom prst="rect">
            <a:avLst/>
          </a:prstGeom>
        </p:spPr>
      </p:pic>
      <p:pic>
        <p:nvPicPr>
          <p:cNvPr id="3" name="Image 1" descr="assets/mobi_fleet2.png">    </p:cNvPr>
          <p:cNvPicPr>
            <a:picLocks noChangeAspect="1"/>
          </p:cNvPicPr>
          <p:nvPr/>
        </p:nvPicPr>
        <p:blipFill>
          <a:blip r:embed="rId2"/>
          <a:srcRect l="0" r="0" t="0" b="0"/>
          <a:stretch/>
        </p:blipFill>
        <p:spPr>
          <a:xfrm>
            <a:off x="6858000" y="0"/>
            <a:ext cx="5333695" cy="6858000"/>
          </a:xfrm>
          <a:prstGeom prst="rect">
            <a:avLst/>
          </a:prstGeom>
        </p:spPr>
      </p:pic>
      <p:sp>
        <p:nvSpPr>
          <p:cNvPr id="4" name="Shape 0"/>
          <p:cNvSpPr/>
          <p:nvPr/>
        </p:nvSpPr>
        <p:spPr>
          <a:xfrm>
            <a:off x="6858000" y="0"/>
            <a:ext cx="5333695" cy="6858000"/>
          </a:xfrm>
          <a:prstGeom prst="rect">
            <a:avLst/>
          </a:prstGeom>
          <a:solidFill>
            <a:srgbClr val="141A24">
              <a:alpha val="42000"/>
            </a:srgbClr>
          </a:solidFill>
          <a:ln/>
        </p:spPr>
      </p:sp>
      <p:sp>
        <p:nvSpPr>
          <p:cNvPr id="5" name="Shape 1"/>
          <p:cNvSpPr/>
          <p:nvPr/>
        </p:nvSpPr>
        <p:spPr>
          <a:xfrm>
            <a:off x="6858000" y="0"/>
            <a:ext cx="41148" cy="6858000"/>
          </a:xfrm>
          <a:prstGeom prst="rect">
            <a:avLst/>
          </a:prstGeom>
          <a:solidFill>
            <a:srgbClr val="F35B1A"/>
          </a:solidFill>
          <a:ln/>
        </p:spPr>
      </p:sp>
      <p:sp>
        <p:nvSpPr>
          <p:cNvPr id="6"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a:off x="731520" y="2395728"/>
            <a:ext cx="1371600" cy="32004"/>
          </a:xfrm>
          <a:prstGeom prst="rect">
            <a:avLst/>
          </a:prstGeom>
          <a:solidFill>
            <a:srgbClr val="F35B1A"/>
          </a:solidFill>
          <a:ln/>
        </p:spPr>
      </p:sp>
      <p:sp>
        <p:nvSpPr>
          <p:cNvPr id="9" name="Shape 5"/>
          <p:cNvSpPr/>
          <p:nvPr/>
        </p:nvSpPr>
        <p:spPr>
          <a:xfrm rot="5400000">
            <a:off x="749808" y="2871216"/>
            <a:ext cx="173736" cy="173736"/>
          </a:xfrm>
          <a:prstGeom prst="triangle">
            <a:avLst/>
          </a:prstGeom>
          <a:solidFill>
            <a:srgbClr val="F35B1A"/>
          </a:solidFill>
          <a:ln/>
        </p:spPr>
      </p:sp>
      <p:sp>
        <p:nvSpPr>
          <p:cNvPr id="10"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INTRODUCTION</a:t>
            </a:r>
            <a:endParaRPr lang="en-US" sz="1100" dirty="0"/>
          </a:p>
        </p:txBody>
      </p:sp>
      <p:sp>
        <p:nvSpPr>
          <p:cNvPr id="11"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F35B1A"/>
                </a:solidFill>
                <a:latin typeface="Poppins Medium" pitchFamily="34" charset="0"/>
                <a:ea typeface="Poppins Medium" pitchFamily="34" charset="-122"/>
                <a:cs typeface="Poppins Medium" pitchFamily="34" charset="-120"/>
              </a:rPr>
              <a:t>04</a:t>
            </a:r>
            <a:endParaRPr lang="en-US" sz="1200" dirty="0"/>
          </a:p>
        </p:txBody>
      </p:sp>
      <p:sp>
        <p:nvSpPr>
          <p:cNvPr id="12" name="Shape 8"/>
          <p:cNvSpPr/>
          <p:nvPr/>
        </p:nvSpPr>
        <p:spPr>
          <a:xfrm rot="5400000">
            <a:off x="749808" y="3593592"/>
            <a:ext cx="173736" cy="173736"/>
          </a:xfrm>
          <a:prstGeom prst="triangle">
            <a:avLst/>
          </a:prstGeom>
          <a:solidFill>
            <a:srgbClr val="4A5563"/>
          </a:solidFill>
          <a:ln/>
        </p:spPr>
      </p:sp>
      <p:sp>
        <p:nvSpPr>
          <p:cNvPr id="13"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INVESTMENT THESIS</a:t>
            </a:r>
            <a:endParaRPr lang="en-US" sz="1100" dirty="0"/>
          </a:p>
        </p:txBody>
      </p:sp>
      <p:sp>
        <p:nvSpPr>
          <p:cNvPr id="14"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10</a:t>
            </a:r>
            <a:endParaRPr lang="en-US" sz="1200" dirty="0"/>
          </a:p>
        </p:txBody>
      </p:sp>
      <p:sp>
        <p:nvSpPr>
          <p:cNvPr id="15" name="Shape 11"/>
          <p:cNvSpPr/>
          <p:nvPr/>
        </p:nvSpPr>
        <p:spPr>
          <a:xfrm rot="5400000">
            <a:off x="749808" y="4315968"/>
            <a:ext cx="173736" cy="173736"/>
          </a:xfrm>
          <a:prstGeom prst="triangle">
            <a:avLst/>
          </a:prstGeom>
          <a:solidFill>
            <a:srgbClr val="4A5563"/>
          </a:solidFill>
          <a:ln/>
        </p:spPr>
      </p:sp>
      <p:sp>
        <p:nvSpPr>
          <p:cNvPr id="16"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COMPANY OVERVIEW</a:t>
            </a:r>
            <a:endParaRPr lang="en-US" sz="1100" dirty="0"/>
          </a:p>
        </p:txBody>
      </p:sp>
      <p:sp>
        <p:nvSpPr>
          <p:cNvPr id="17"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17</a:t>
            </a:r>
            <a:endParaRPr lang="en-US" sz="1200" dirty="0"/>
          </a:p>
        </p:txBody>
      </p:sp>
      <p:sp>
        <p:nvSpPr>
          <p:cNvPr id="18" name="Shape 14"/>
          <p:cNvSpPr/>
          <p:nvPr/>
        </p:nvSpPr>
        <p:spPr>
          <a:xfrm rot="5400000">
            <a:off x="749808" y="5038344"/>
            <a:ext cx="173736" cy="173736"/>
          </a:xfrm>
          <a:prstGeom prst="triangle">
            <a:avLst/>
          </a:prstGeom>
          <a:solidFill>
            <a:srgbClr val="4A5563"/>
          </a:solidFill>
          <a:ln/>
        </p:spPr>
      </p:sp>
      <p:sp>
        <p:nvSpPr>
          <p:cNvPr id="19"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FINANCIAL HIGHLIGHTS</a:t>
            </a:r>
            <a:endParaRPr lang="en-US" sz="1100" dirty="0"/>
          </a:p>
        </p:txBody>
      </p:sp>
      <p:sp>
        <p:nvSpPr>
          <p:cNvPr id="20"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25</a:t>
            </a:r>
            <a:endParaRPr lang="en-US" sz="1200" dirty="0"/>
          </a:p>
        </p:txBody>
      </p:sp>
      <p:pic>
        <p:nvPicPr>
          <p:cNvPr id="21" name="Image 2" descr="assets/igc_white.png">    </p:cNvPr>
          <p:cNvPicPr>
            <a:picLocks noChangeAspect="1"/>
          </p:cNvPicPr>
          <p:nvPr/>
        </p:nvPicPr>
        <p:blipFill>
          <a:blip r:embed="rId3"/>
          <a:stretch>
            <a:fillRect/>
          </a:stretch>
        </p:blipFill>
        <p:spPr>
          <a:xfrm>
            <a:off x="10957255" y="384048"/>
            <a:ext cx="502920" cy="434746"/>
          </a:xfrm>
          <a:prstGeom prst="rect">
            <a:avLst/>
          </a:prstGeom>
        </p:spPr>
      </p:pic>
      <p:pic>
        <p:nvPicPr>
          <p:cNvPr id="22" name="Image 3" descr="assets/mobi_logo_black.png">    </p:cNvPr>
          <p:cNvPicPr>
            <a:picLocks noChangeAspect="1"/>
          </p:cNvPicPr>
          <p:nvPr/>
        </p:nvPicPr>
        <p:blipFill>
          <a:blip r:embed="rId4"/>
          <a:stretch>
            <a:fillRect/>
          </a:stretch>
        </p:blipFill>
        <p:spPr>
          <a:xfrm>
            <a:off x="731520" y="5897880"/>
            <a:ext cx="1234440" cy="395407"/>
          </a:xfrm>
          <a:prstGeom prst="rect">
            <a:avLst/>
          </a:prstGeom>
        </p:spPr>
      </p:pic>
      <p:sp>
        <p:nvSpPr>
          <p:cNvPr id="23"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325880" cy="310896"/>
          </a:xfrm>
          <a:prstGeom prst="roundRect">
            <a:avLst>
              <a:gd name="adj" fmla="val 25000"/>
            </a:avLst>
          </a:prstGeom>
          <a:solidFill>
            <a:srgbClr val="FDE9DE"/>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Mobi at a glance</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An urban mobility platform with +20 years of operations, serving employees of large corporations and residents of condominiums</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Jan-2026 fleet register. (1) Aggregate fleet per Company materials; 373 owned vehicles per the Jan-26 register. (2) Average age per Company materials; ~6 years based on chassis manufacture year — to reconcile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4</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783080"/>
            <a:ext cx="3611880" cy="1298448"/>
          </a:xfrm>
          <a:prstGeom prst="roundRect">
            <a:avLst>
              <a:gd name="adj" fmla="val 5634"/>
            </a:avLst>
          </a:prstGeom>
          <a:solidFill>
            <a:srgbClr val="F4F6F8"/>
          </a:solidFill>
          <a:ln w="12700">
            <a:solidFill>
              <a:srgbClr val="E2E6EB"/>
            </a:solidFill>
            <a:prstDash val="solid"/>
          </a:ln>
        </p:spPr>
      </p:sp>
      <p:sp>
        <p:nvSpPr>
          <p:cNvPr id="11" name="Shape 7"/>
          <p:cNvSpPr/>
          <p:nvPr/>
        </p:nvSpPr>
        <p:spPr>
          <a:xfrm>
            <a:off x="932688" y="2002536"/>
            <a:ext cx="402336" cy="402336"/>
          </a:xfrm>
          <a:prstGeom prst="ellipse">
            <a:avLst/>
          </a:prstGeom>
          <a:solidFill>
            <a:srgbClr val="FDE9DE"/>
          </a:solidFill>
          <a:ln/>
        </p:spPr>
      </p:sp>
      <p:pic>
        <p:nvPicPr>
          <p:cNvPr id="12" name="Image 2" descr="assets/icons/truck_orange.png">    </p:cNvPr>
          <p:cNvPicPr>
            <a:picLocks noChangeAspect="1"/>
          </p:cNvPicPr>
          <p:nvPr/>
        </p:nvPicPr>
        <p:blipFill>
          <a:blip r:embed="rId3"/>
          <a:stretch>
            <a:fillRect/>
          </a:stretch>
        </p:blipFill>
        <p:spPr>
          <a:xfrm>
            <a:off x="1041319" y="2111167"/>
            <a:ext cx="185075" cy="185075"/>
          </a:xfrm>
          <a:prstGeom prst="rect">
            <a:avLst/>
          </a:prstGeom>
        </p:spPr>
      </p:pic>
      <p:sp>
        <p:nvSpPr>
          <p:cNvPr id="13" name="Text 8"/>
          <p:cNvSpPr/>
          <p:nvPr/>
        </p:nvSpPr>
        <p:spPr>
          <a:xfrm>
            <a:off x="1444752" y="2002536"/>
            <a:ext cx="2697480" cy="310896"/>
          </a:xfrm>
          <a:prstGeom prst="rect">
            <a:avLst/>
          </a:prstGeom>
          <a:noFill/>
          <a:ln/>
        </p:spPr>
        <p:txBody>
          <a:bodyPr wrap="square" lIns="0" tIns="0" rIns="0" bIns="0" rtlCol="0" anchor="ctr"/>
          <a:lstStyle/>
          <a:p>
            <a:pPr indent="0" marL="0">
              <a:buNone/>
            </a:pPr>
            <a:r>
              <a:rPr lang="en-US" sz="1050" dirty="0">
                <a:solidFill>
                  <a:srgbClr val="141A24"/>
                </a:solidFill>
                <a:latin typeface="Poppins SemiBold" pitchFamily="34" charset="0"/>
                <a:ea typeface="Poppins SemiBold" pitchFamily="34" charset="-122"/>
                <a:cs typeface="Poppins SemiBold" pitchFamily="34" charset="-120"/>
              </a:rPr>
              <a:t>Essential mobility platform</a:t>
            </a:r>
            <a:endParaRPr lang="en-US" sz="1050" dirty="0"/>
          </a:p>
        </p:txBody>
      </p:sp>
      <p:sp>
        <p:nvSpPr>
          <p:cNvPr id="14" name="Text 9"/>
          <p:cNvSpPr/>
          <p:nvPr/>
        </p:nvSpPr>
        <p:spPr>
          <a:xfrm>
            <a:off x="950976" y="2404872"/>
            <a:ext cx="3172968" cy="548640"/>
          </a:xfrm>
          <a:prstGeom prst="rect">
            <a:avLst/>
          </a:prstGeom>
          <a:noFill/>
          <a:ln/>
        </p:spPr>
        <p:txBody>
          <a:bodyPr wrap="square" lIns="0" tIns="0" rIns="0" bIns="0" rtlCol="0" anchor="t"/>
          <a:lstStyle/>
          <a:p>
            <a:pPr indent="0" marL="0">
              <a:lnSpc>
                <a:spcPct val="114000"/>
              </a:lnSpc>
              <a:buNone/>
            </a:pPr>
            <a:r>
              <a:rPr lang="en-US" sz="800" dirty="0">
                <a:solidFill>
                  <a:srgbClr val="6C7683"/>
                </a:solidFill>
                <a:latin typeface="Poppins" pitchFamily="34" charset="0"/>
                <a:ea typeface="Poppins" pitchFamily="34" charset="-122"/>
                <a:cs typeface="Poppins" pitchFamily="34" charset="-120"/>
              </a:rPr>
              <a:t>Route-optimized transportation for corporations and condominiums, underpinning a recurring-revenue model</a:t>
            </a:r>
            <a:endParaRPr lang="en-US" sz="800" dirty="0"/>
          </a:p>
        </p:txBody>
      </p:sp>
      <p:sp>
        <p:nvSpPr>
          <p:cNvPr id="15" name="Shape 10"/>
          <p:cNvSpPr/>
          <p:nvPr/>
        </p:nvSpPr>
        <p:spPr>
          <a:xfrm>
            <a:off x="4599432" y="1783080"/>
            <a:ext cx="3611880" cy="1298448"/>
          </a:xfrm>
          <a:prstGeom prst="roundRect">
            <a:avLst>
              <a:gd name="adj" fmla="val 5634"/>
            </a:avLst>
          </a:prstGeom>
          <a:solidFill>
            <a:srgbClr val="F4F6F8"/>
          </a:solidFill>
          <a:ln w="12700">
            <a:solidFill>
              <a:srgbClr val="E2E6EB"/>
            </a:solidFill>
            <a:prstDash val="solid"/>
          </a:ln>
        </p:spPr>
      </p:sp>
      <p:sp>
        <p:nvSpPr>
          <p:cNvPr id="16" name="Shape 11"/>
          <p:cNvSpPr/>
          <p:nvPr/>
        </p:nvSpPr>
        <p:spPr>
          <a:xfrm>
            <a:off x="4800600" y="2002536"/>
            <a:ext cx="402336" cy="402336"/>
          </a:xfrm>
          <a:prstGeom prst="ellipse">
            <a:avLst/>
          </a:prstGeom>
          <a:solidFill>
            <a:srgbClr val="FDE9DE"/>
          </a:solidFill>
          <a:ln/>
        </p:spPr>
      </p:sp>
      <p:pic>
        <p:nvPicPr>
          <p:cNvPr id="17" name="Image 3" descr="assets/icons/settings_orange.png">    </p:cNvPr>
          <p:cNvPicPr>
            <a:picLocks noChangeAspect="1"/>
          </p:cNvPicPr>
          <p:nvPr/>
        </p:nvPicPr>
        <p:blipFill>
          <a:blip r:embed="rId4"/>
          <a:stretch>
            <a:fillRect/>
          </a:stretch>
        </p:blipFill>
        <p:spPr>
          <a:xfrm>
            <a:off x="4909231" y="2111167"/>
            <a:ext cx="185075" cy="185075"/>
          </a:xfrm>
          <a:prstGeom prst="rect">
            <a:avLst/>
          </a:prstGeom>
        </p:spPr>
      </p:pic>
      <p:sp>
        <p:nvSpPr>
          <p:cNvPr id="18" name="Text 12"/>
          <p:cNvSpPr/>
          <p:nvPr/>
        </p:nvSpPr>
        <p:spPr>
          <a:xfrm>
            <a:off x="5312664" y="2002536"/>
            <a:ext cx="2697480" cy="310896"/>
          </a:xfrm>
          <a:prstGeom prst="rect">
            <a:avLst/>
          </a:prstGeom>
          <a:noFill/>
          <a:ln/>
        </p:spPr>
        <p:txBody>
          <a:bodyPr wrap="square" lIns="0" tIns="0" rIns="0" bIns="0" rtlCol="0" anchor="ctr"/>
          <a:lstStyle/>
          <a:p>
            <a:pPr indent="0" marL="0">
              <a:buNone/>
            </a:pPr>
            <a:r>
              <a:rPr lang="en-US" sz="1050" dirty="0">
                <a:solidFill>
                  <a:srgbClr val="141A24"/>
                </a:solidFill>
                <a:latin typeface="Poppins SemiBold" pitchFamily="34" charset="0"/>
                <a:ea typeface="Poppins SemiBold" pitchFamily="34" charset="-122"/>
                <a:cs typeface="Poppins SemiBold" pitchFamily="34" charset="-120"/>
              </a:rPr>
              <a:t>Scaled operational platform</a:t>
            </a:r>
            <a:endParaRPr lang="en-US" sz="1050" dirty="0"/>
          </a:p>
        </p:txBody>
      </p:sp>
      <p:sp>
        <p:nvSpPr>
          <p:cNvPr id="19" name="Text 13"/>
          <p:cNvSpPr/>
          <p:nvPr/>
        </p:nvSpPr>
        <p:spPr>
          <a:xfrm>
            <a:off x="4818888" y="2404872"/>
            <a:ext cx="3172968" cy="548640"/>
          </a:xfrm>
          <a:prstGeom prst="rect">
            <a:avLst/>
          </a:prstGeom>
          <a:noFill/>
          <a:ln/>
        </p:spPr>
        <p:txBody>
          <a:bodyPr wrap="square" lIns="0" tIns="0" rIns="0" bIns="0" rtlCol="0" anchor="t"/>
          <a:lstStyle/>
          <a:p>
            <a:pPr indent="0" marL="0">
              <a:lnSpc>
                <a:spcPct val="114000"/>
              </a:lnSpc>
              <a:buNone/>
            </a:pPr>
            <a:r>
              <a:rPr lang="en-US" sz="800" dirty="0">
                <a:solidFill>
                  <a:srgbClr val="6C7683"/>
                </a:solidFill>
                <a:latin typeface="Poppins" pitchFamily="34" charset="0"/>
                <a:ea typeface="Poppins" pitchFamily="34" charset="-122"/>
                <a:cs typeface="Poppins" pitchFamily="34" charset="-120"/>
              </a:rPr>
              <a:t>Modern fleet backed by intensive monitoring and telemetry, tailored to each client's needs</a:t>
            </a:r>
            <a:endParaRPr lang="en-US" sz="800" dirty="0"/>
          </a:p>
        </p:txBody>
      </p:sp>
      <p:sp>
        <p:nvSpPr>
          <p:cNvPr id="20" name="Shape 14"/>
          <p:cNvSpPr/>
          <p:nvPr/>
        </p:nvSpPr>
        <p:spPr>
          <a:xfrm>
            <a:off x="731520" y="3300984"/>
            <a:ext cx="3611880" cy="1298448"/>
          </a:xfrm>
          <a:prstGeom prst="roundRect">
            <a:avLst>
              <a:gd name="adj" fmla="val 5634"/>
            </a:avLst>
          </a:prstGeom>
          <a:solidFill>
            <a:srgbClr val="F4F6F8"/>
          </a:solidFill>
          <a:ln w="12700">
            <a:solidFill>
              <a:srgbClr val="E2E6EB"/>
            </a:solidFill>
            <a:prstDash val="solid"/>
          </a:ln>
        </p:spPr>
      </p:sp>
      <p:sp>
        <p:nvSpPr>
          <p:cNvPr id="21" name="Shape 15"/>
          <p:cNvSpPr/>
          <p:nvPr/>
        </p:nvSpPr>
        <p:spPr>
          <a:xfrm>
            <a:off x="932688" y="3520440"/>
            <a:ext cx="402336" cy="402336"/>
          </a:xfrm>
          <a:prstGeom prst="ellipse">
            <a:avLst/>
          </a:prstGeom>
          <a:solidFill>
            <a:srgbClr val="FDE9DE"/>
          </a:solidFill>
          <a:ln/>
        </p:spPr>
      </p:sp>
      <p:pic>
        <p:nvPicPr>
          <p:cNvPr id="22" name="Image 4" descr="assets/icons/repeat_orange.png">    </p:cNvPr>
          <p:cNvPicPr>
            <a:picLocks noChangeAspect="1"/>
          </p:cNvPicPr>
          <p:nvPr/>
        </p:nvPicPr>
        <p:blipFill>
          <a:blip r:embed="rId5"/>
          <a:stretch>
            <a:fillRect/>
          </a:stretch>
        </p:blipFill>
        <p:spPr>
          <a:xfrm>
            <a:off x="1041319" y="3629071"/>
            <a:ext cx="185075" cy="185075"/>
          </a:xfrm>
          <a:prstGeom prst="rect">
            <a:avLst/>
          </a:prstGeom>
        </p:spPr>
      </p:pic>
      <p:sp>
        <p:nvSpPr>
          <p:cNvPr id="23" name="Text 16"/>
          <p:cNvSpPr/>
          <p:nvPr/>
        </p:nvSpPr>
        <p:spPr>
          <a:xfrm>
            <a:off x="1444752" y="3520440"/>
            <a:ext cx="2697480" cy="310896"/>
          </a:xfrm>
          <a:prstGeom prst="rect">
            <a:avLst/>
          </a:prstGeom>
          <a:noFill/>
          <a:ln/>
        </p:spPr>
        <p:txBody>
          <a:bodyPr wrap="square" lIns="0" tIns="0" rIns="0" bIns="0" rtlCol="0" anchor="ctr"/>
          <a:lstStyle/>
          <a:p>
            <a:pPr indent="0" marL="0">
              <a:buNone/>
            </a:pPr>
            <a:r>
              <a:rPr lang="en-US" sz="1050" dirty="0">
                <a:solidFill>
                  <a:srgbClr val="141A24"/>
                </a:solidFill>
                <a:latin typeface="Poppins SemiBold" pitchFamily="34" charset="0"/>
                <a:ea typeface="Poppins SemiBold" pitchFamily="34" charset="-122"/>
                <a:cs typeface="Poppins SemiBold" pitchFamily="34" charset="-120"/>
              </a:rPr>
              <a:t>Visible, resilient cash flow</a:t>
            </a:r>
            <a:endParaRPr lang="en-US" sz="1050" dirty="0"/>
          </a:p>
        </p:txBody>
      </p:sp>
      <p:sp>
        <p:nvSpPr>
          <p:cNvPr id="24" name="Text 17"/>
          <p:cNvSpPr/>
          <p:nvPr/>
        </p:nvSpPr>
        <p:spPr>
          <a:xfrm>
            <a:off x="950976" y="3922776"/>
            <a:ext cx="3172968" cy="548640"/>
          </a:xfrm>
          <a:prstGeom prst="rect">
            <a:avLst/>
          </a:prstGeom>
          <a:noFill/>
          <a:ln/>
        </p:spPr>
        <p:txBody>
          <a:bodyPr wrap="square" lIns="0" tIns="0" rIns="0" bIns="0" rtlCol="0" anchor="t"/>
          <a:lstStyle/>
          <a:p>
            <a:pPr indent="0" marL="0">
              <a:lnSpc>
                <a:spcPct val="114000"/>
              </a:lnSpc>
              <a:buNone/>
            </a:pPr>
            <a:r>
              <a:rPr lang="en-US" sz="800" dirty="0">
                <a:solidFill>
                  <a:srgbClr val="6C7683"/>
                </a:solidFill>
                <a:latin typeface="Poppins" pitchFamily="34" charset="0"/>
                <a:ea typeface="Poppins" pitchFamily="34" charset="-122"/>
                <a:cs typeface="Poppins" pitchFamily="34" charset="-120"/>
              </a:rPr>
              <a:t>Long-term contracts (3–5 years) with built-in price adjustment mechanisms supporting margin resilience</a:t>
            </a:r>
            <a:endParaRPr lang="en-US" sz="800" dirty="0"/>
          </a:p>
        </p:txBody>
      </p:sp>
      <p:sp>
        <p:nvSpPr>
          <p:cNvPr id="25" name="Shape 18"/>
          <p:cNvSpPr/>
          <p:nvPr/>
        </p:nvSpPr>
        <p:spPr>
          <a:xfrm>
            <a:off x="4599432" y="3300984"/>
            <a:ext cx="3611880" cy="1298448"/>
          </a:xfrm>
          <a:prstGeom prst="roundRect">
            <a:avLst>
              <a:gd name="adj" fmla="val 5634"/>
            </a:avLst>
          </a:prstGeom>
          <a:solidFill>
            <a:srgbClr val="F4F6F8"/>
          </a:solidFill>
          <a:ln w="12700">
            <a:solidFill>
              <a:srgbClr val="E2E6EB"/>
            </a:solidFill>
            <a:prstDash val="solid"/>
          </a:ln>
        </p:spPr>
      </p:sp>
      <p:sp>
        <p:nvSpPr>
          <p:cNvPr id="26" name="Shape 19"/>
          <p:cNvSpPr/>
          <p:nvPr/>
        </p:nvSpPr>
        <p:spPr>
          <a:xfrm>
            <a:off x="4800600" y="3520440"/>
            <a:ext cx="402336" cy="402336"/>
          </a:xfrm>
          <a:prstGeom prst="ellipse">
            <a:avLst/>
          </a:prstGeom>
          <a:solidFill>
            <a:srgbClr val="FDE9DE"/>
          </a:solidFill>
          <a:ln/>
        </p:spPr>
      </p:sp>
      <p:pic>
        <p:nvPicPr>
          <p:cNvPr id="27" name="Image 5" descr="assets/icons/mappin_orange.png">    </p:cNvPr>
          <p:cNvPicPr>
            <a:picLocks noChangeAspect="1"/>
          </p:cNvPicPr>
          <p:nvPr/>
        </p:nvPicPr>
        <p:blipFill>
          <a:blip r:embed="rId6"/>
          <a:stretch>
            <a:fillRect/>
          </a:stretch>
        </p:blipFill>
        <p:spPr>
          <a:xfrm>
            <a:off x="4909231" y="3629071"/>
            <a:ext cx="185075" cy="185075"/>
          </a:xfrm>
          <a:prstGeom prst="rect">
            <a:avLst/>
          </a:prstGeom>
        </p:spPr>
      </p:pic>
      <p:sp>
        <p:nvSpPr>
          <p:cNvPr id="28" name="Text 20"/>
          <p:cNvSpPr/>
          <p:nvPr/>
        </p:nvSpPr>
        <p:spPr>
          <a:xfrm>
            <a:off x="5312664" y="3520440"/>
            <a:ext cx="2697480" cy="310896"/>
          </a:xfrm>
          <a:prstGeom prst="rect">
            <a:avLst/>
          </a:prstGeom>
          <a:noFill/>
          <a:ln/>
        </p:spPr>
        <p:txBody>
          <a:bodyPr wrap="square" lIns="0" tIns="0" rIns="0" bIns="0" rtlCol="0" anchor="ctr"/>
          <a:lstStyle/>
          <a:p>
            <a:pPr indent="0" marL="0">
              <a:buNone/>
            </a:pPr>
            <a:r>
              <a:rPr lang="en-US" sz="1050" dirty="0">
                <a:solidFill>
                  <a:srgbClr val="141A24"/>
                </a:solidFill>
                <a:latin typeface="Poppins SemiBold" pitchFamily="34" charset="0"/>
                <a:ea typeface="Poppins SemiBold" pitchFamily="34" charset="-122"/>
                <a:cs typeface="Poppins SemiBold" pitchFamily="34" charset="-120"/>
              </a:rPr>
              <a:t>Strategic footprint</a:t>
            </a:r>
            <a:endParaRPr lang="en-US" sz="1050" dirty="0"/>
          </a:p>
        </p:txBody>
      </p:sp>
      <p:sp>
        <p:nvSpPr>
          <p:cNvPr id="29" name="Text 21"/>
          <p:cNvSpPr/>
          <p:nvPr/>
        </p:nvSpPr>
        <p:spPr>
          <a:xfrm>
            <a:off x="4818888" y="3922776"/>
            <a:ext cx="3172968" cy="548640"/>
          </a:xfrm>
          <a:prstGeom prst="rect">
            <a:avLst/>
          </a:prstGeom>
          <a:noFill/>
          <a:ln/>
        </p:spPr>
        <p:txBody>
          <a:bodyPr wrap="square" lIns="0" tIns="0" rIns="0" bIns="0" rtlCol="0" anchor="t"/>
          <a:lstStyle/>
          <a:p>
            <a:pPr indent="0" marL="0">
              <a:lnSpc>
                <a:spcPct val="114000"/>
              </a:lnSpc>
              <a:buNone/>
            </a:pPr>
            <a:r>
              <a:rPr lang="en-US" sz="800" dirty="0">
                <a:solidFill>
                  <a:srgbClr val="6C7683"/>
                </a:solidFill>
                <a:latin typeface="Poppins" pitchFamily="34" charset="0"/>
                <a:ea typeface="Poppins" pitchFamily="34" charset="-122"/>
                <a:cs typeface="Poppins" pitchFamily="34" charset="-120"/>
              </a:rPr>
              <a:t>Headquarters in Goiânia plus 10 operational bases across Goiás, the Federal District and Minas Gerais</a:t>
            </a:r>
            <a:endParaRPr lang="en-US" sz="800" dirty="0"/>
          </a:p>
        </p:txBody>
      </p:sp>
      <p:sp>
        <p:nvSpPr>
          <p:cNvPr id="30" name="Shape 22"/>
          <p:cNvSpPr/>
          <p:nvPr/>
        </p:nvSpPr>
        <p:spPr>
          <a:xfrm>
            <a:off x="8467344" y="1783080"/>
            <a:ext cx="2992831" cy="2816352"/>
          </a:xfrm>
          <a:prstGeom prst="roundRect">
            <a:avLst>
              <a:gd name="adj" fmla="val 3247"/>
            </a:avLst>
          </a:prstGeom>
          <a:solidFill>
            <a:srgbClr val="141A24"/>
          </a:solidFill>
          <a:ln/>
        </p:spPr>
      </p:sp>
      <p:pic>
        <p:nvPicPr>
          <p:cNvPr id="31" name="Image 6" descr="assets/stripes_orange.png">    </p:cNvPr>
          <p:cNvPicPr>
            <a:picLocks noChangeAspect="1"/>
          </p:cNvPicPr>
          <p:nvPr/>
        </p:nvPicPr>
        <p:blipFill>
          <a:blip r:embed="rId7">
            <a:alphaModFix amt="28000"/>
          </a:blip>
          <a:stretch>
            <a:fillRect/>
          </a:stretch>
        </p:blipFill>
        <p:spPr>
          <a:xfrm>
            <a:off x="10088575" y="3227832"/>
            <a:ext cx="1371600" cy="1371600"/>
          </a:xfrm>
          <a:prstGeom prst="rect">
            <a:avLst/>
          </a:prstGeom>
        </p:spPr>
      </p:pic>
      <p:sp>
        <p:nvSpPr>
          <p:cNvPr id="32" name="Text 23"/>
          <p:cNvSpPr/>
          <p:nvPr/>
        </p:nvSpPr>
        <p:spPr>
          <a:xfrm>
            <a:off x="8723376" y="1984248"/>
            <a:ext cx="2480767" cy="219456"/>
          </a:xfrm>
          <a:prstGeom prst="rect">
            <a:avLst/>
          </a:prstGeom>
          <a:noFill/>
          <a:ln/>
        </p:spPr>
        <p:txBody>
          <a:bodyPr wrap="square" lIns="0" tIns="0" rIns="0" bIns="0" rtlCol="0" anchor="ctr"/>
          <a:lstStyle/>
          <a:p>
            <a:pPr indent="0" marL="0">
              <a:buNone/>
            </a:pPr>
            <a:r>
              <a:rPr lang="en-US" sz="800" spc="150" kern="0" dirty="0">
                <a:solidFill>
                  <a:srgbClr val="F35B1A"/>
                </a:solidFill>
                <a:latin typeface="Poppins SemiBold" pitchFamily="34" charset="0"/>
                <a:ea typeface="Poppins SemiBold" pitchFamily="34" charset="-122"/>
                <a:cs typeface="Poppins SemiBold" pitchFamily="34" charset="-120"/>
              </a:rPr>
              <a:t>KEY HIGHLIGHTS</a:t>
            </a:r>
            <a:endParaRPr lang="en-US" sz="800" dirty="0"/>
          </a:p>
        </p:txBody>
      </p:sp>
      <p:sp>
        <p:nvSpPr>
          <p:cNvPr id="33" name="Text 24"/>
          <p:cNvSpPr/>
          <p:nvPr/>
        </p:nvSpPr>
        <p:spPr>
          <a:xfrm>
            <a:off x="8723376" y="2313432"/>
            <a:ext cx="2480767" cy="27432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BRL 140 Mn</a:t>
            </a:r>
            <a:endParaRPr lang="en-US" sz="1500" dirty="0"/>
          </a:p>
        </p:txBody>
      </p:sp>
      <p:sp>
        <p:nvSpPr>
          <p:cNvPr id="34" name="Text 25"/>
          <p:cNvSpPr/>
          <p:nvPr/>
        </p:nvSpPr>
        <p:spPr>
          <a:xfrm>
            <a:off x="8723376" y="2569464"/>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Net revenues 2025</a:t>
            </a:r>
            <a:endParaRPr lang="en-US" sz="800" dirty="0"/>
          </a:p>
        </p:txBody>
      </p:sp>
      <p:sp>
        <p:nvSpPr>
          <p:cNvPr id="35" name="Shape 26"/>
          <p:cNvSpPr/>
          <p:nvPr/>
        </p:nvSpPr>
        <p:spPr>
          <a:xfrm>
            <a:off x="8723376" y="2807208"/>
            <a:ext cx="2480767" cy="10973"/>
          </a:xfrm>
          <a:prstGeom prst="rect">
            <a:avLst/>
          </a:prstGeom>
          <a:solidFill>
            <a:srgbClr val="323E50"/>
          </a:solidFill>
          <a:ln/>
        </p:spPr>
      </p:sp>
      <p:sp>
        <p:nvSpPr>
          <p:cNvPr id="36" name="Text 27"/>
          <p:cNvSpPr/>
          <p:nvPr/>
        </p:nvSpPr>
        <p:spPr>
          <a:xfrm>
            <a:off x="8723376" y="2889504"/>
            <a:ext cx="2480767" cy="27432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BRL 36 Mn</a:t>
            </a:r>
            <a:endParaRPr lang="en-US" sz="1500" dirty="0"/>
          </a:p>
        </p:txBody>
      </p:sp>
      <p:sp>
        <p:nvSpPr>
          <p:cNvPr id="37" name="Text 28"/>
          <p:cNvSpPr/>
          <p:nvPr/>
        </p:nvSpPr>
        <p:spPr>
          <a:xfrm>
            <a:off x="8723376" y="3145536"/>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EBITDA 2025 (~26% margin)</a:t>
            </a:r>
            <a:endParaRPr lang="en-US" sz="800" dirty="0"/>
          </a:p>
        </p:txBody>
      </p:sp>
      <p:sp>
        <p:nvSpPr>
          <p:cNvPr id="38" name="Shape 29"/>
          <p:cNvSpPr/>
          <p:nvPr/>
        </p:nvSpPr>
        <p:spPr>
          <a:xfrm>
            <a:off x="8723376" y="3383280"/>
            <a:ext cx="2480767" cy="10973"/>
          </a:xfrm>
          <a:prstGeom prst="rect">
            <a:avLst/>
          </a:prstGeom>
          <a:solidFill>
            <a:srgbClr val="323E50"/>
          </a:solidFill>
          <a:ln/>
        </p:spPr>
      </p:sp>
      <p:sp>
        <p:nvSpPr>
          <p:cNvPr id="39" name="Text 30"/>
          <p:cNvSpPr/>
          <p:nvPr/>
        </p:nvSpPr>
        <p:spPr>
          <a:xfrm>
            <a:off x="8723376" y="3465576"/>
            <a:ext cx="2480767" cy="27432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+50</a:t>
            </a:r>
            <a:endParaRPr lang="en-US" sz="1500" dirty="0"/>
          </a:p>
        </p:txBody>
      </p:sp>
      <p:sp>
        <p:nvSpPr>
          <p:cNvPr id="40" name="Text 31"/>
          <p:cNvSpPr/>
          <p:nvPr/>
        </p:nvSpPr>
        <p:spPr>
          <a:xfrm>
            <a:off x="8723376" y="3721608"/>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Clients</a:t>
            </a:r>
            <a:endParaRPr lang="en-US" sz="800" dirty="0"/>
          </a:p>
        </p:txBody>
      </p:sp>
      <p:sp>
        <p:nvSpPr>
          <p:cNvPr id="41" name="Shape 32"/>
          <p:cNvSpPr/>
          <p:nvPr/>
        </p:nvSpPr>
        <p:spPr>
          <a:xfrm>
            <a:off x="8723376" y="3959352"/>
            <a:ext cx="2480767" cy="10973"/>
          </a:xfrm>
          <a:prstGeom prst="rect">
            <a:avLst/>
          </a:prstGeom>
          <a:solidFill>
            <a:srgbClr val="323E50"/>
          </a:solidFill>
          <a:ln/>
        </p:spPr>
      </p:sp>
      <p:sp>
        <p:nvSpPr>
          <p:cNvPr id="42" name="Text 33"/>
          <p:cNvSpPr/>
          <p:nvPr/>
        </p:nvSpPr>
        <p:spPr>
          <a:xfrm>
            <a:off x="8723376" y="4041648"/>
            <a:ext cx="2480767" cy="274320"/>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+400</a:t>
            </a:r>
            <a:endParaRPr lang="en-US" sz="1500" dirty="0"/>
          </a:p>
        </p:txBody>
      </p:sp>
      <p:sp>
        <p:nvSpPr>
          <p:cNvPr id="43" name="Text 34"/>
          <p:cNvSpPr/>
          <p:nvPr/>
        </p:nvSpPr>
        <p:spPr>
          <a:xfrm>
            <a:off x="8723376" y="4297680"/>
            <a:ext cx="2480767"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Vehicles¹</a:t>
            </a:r>
            <a:endParaRPr lang="en-US" sz="800" dirty="0"/>
          </a:p>
        </p:txBody>
      </p:sp>
      <p:sp>
        <p:nvSpPr>
          <p:cNvPr id="44" name="Shape 35"/>
          <p:cNvSpPr/>
          <p:nvPr/>
        </p:nvSpPr>
        <p:spPr>
          <a:xfrm>
            <a:off x="731520" y="4855464"/>
            <a:ext cx="2331720" cy="786384"/>
          </a:xfrm>
          <a:prstGeom prst="roundRect">
            <a:avLst>
              <a:gd name="adj" fmla="val 8140"/>
            </a:avLst>
          </a:prstGeom>
          <a:solidFill>
            <a:srgbClr val="F4F6F8"/>
          </a:solidFill>
          <a:ln w="12700">
            <a:solidFill>
              <a:srgbClr val="E2E6EB"/>
            </a:solidFill>
            <a:prstDash val="solid"/>
          </a:ln>
        </p:spPr>
      </p:sp>
      <p:sp>
        <p:nvSpPr>
          <p:cNvPr id="45" name="Shape 36"/>
          <p:cNvSpPr/>
          <p:nvPr/>
        </p:nvSpPr>
        <p:spPr>
          <a:xfrm>
            <a:off x="731520" y="5044196"/>
            <a:ext cx="50292" cy="408920"/>
          </a:xfrm>
          <a:prstGeom prst="rect">
            <a:avLst/>
          </a:prstGeom>
          <a:solidFill>
            <a:srgbClr val="F35B1A"/>
          </a:solidFill>
          <a:ln/>
        </p:spPr>
      </p:sp>
      <p:sp>
        <p:nvSpPr>
          <p:cNvPr id="46" name="Text 37"/>
          <p:cNvSpPr/>
          <p:nvPr/>
        </p:nvSpPr>
        <p:spPr>
          <a:xfrm>
            <a:off x="950976" y="4981285"/>
            <a:ext cx="1965960" cy="330281"/>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BRL 200 Mn</a:t>
            </a:r>
            <a:endParaRPr lang="en-US" sz="1800" dirty="0"/>
          </a:p>
        </p:txBody>
      </p:sp>
      <p:sp>
        <p:nvSpPr>
          <p:cNvPr id="47" name="Text 38"/>
          <p:cNvSpPr/>
          <p:nvPr/>
        </p:nvSpPr>
        <p:spPr>
          <a:xfrm>
            <a:off x="950976" y="5295839"/>
            <a:ext cx="1965960"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Value of the fleet</a:t>
            </a:r>
            <a:endParaRPr lang="en-US" sz="800" dirty="0"/>
          </a:p>
        </p:txBody>
      </p:sp>
      <p:sp>
        <p:nvSpPr>
          <p:cNvPr id="48" name="Shape 39"/>
          <p:cNvSpPr/>
          <p:nvPr/>
        </p:nvSpPr>
        <p:spPr>
          <a:xfrm>
            <a:off x="3218688" y="4855464"/>
            <a:ext cx="2331720" cy="786384"/>
          </a:xfrm>
          <a:prstGeom prst="roundRect">
            <a:avLst>
              <a:gd name="adj" fmla="val 8140"/>
            </a:avLst>
          </a:prstGeom>
          <a:solidFill>
            <a:srgbClr val="F4F6F8"/>
          </a:solidFill>
          <a:ln w="12700">
            <a:solidFill>
              <a:srgbClr val="E2E6EB"/>
            </a:solidFill>
            <a:prstDash val="solid"/>
          </a:ln>
        </p:spPr>
      </p:sp>
      <p:sp>
        <p:nvSpPr>
          <p:cNvPr id="49" name="Shape 40"/>
          <p:cNvSpPr/>
          <p:nvPr/>
        </p:nvSpPr>
        <p:spPr>
          <a:xfrm>
            <a:off x="3218688" y="5044196"/>
            <a:ext cx="50292" cy="408920"/>
          </a:xfrm>
          <a:prstGeom prst="rect">
            <a:avLst/>
          </a:prstGeom>
          <a:solidFill>
            <a:srgbClr val="F35B1A"/>
          </a:solidFill>
          <a:ln/>
        </p:spPr>
      </p:sp>
      <p:sp>
        <p:nvSpPr>
          <p:cNvPr id="50" name="Text 41"/>
          <p:cNvSpPr/>
          <p:nvPr/>
        </p:nvSpPr>
        <p:spPr>
          <a:xfrm>
            <a:off x="3438144" y="4981285"/>
            <a:ext cx="1965960" cy="330281"/>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4 years</a:t>
            </a:r>
            <a:endParaRPr lang="en-US" sz="1800" dirty="0"/>
          </a:p>
        </p:txBody>
      </p:sp>
      <p:sp>
        <p:nvSpPr>
          <p:cNvPr id="51" name="Text 42"/>
          <p:cNvSpPr/>
          <p:nvPr/>
        </p:nvSpPr>
        <p:spPr>
          <a:xfrm>
            <a:off x="3438144" y="5295839"/>
            <a:ext cx="1965960" cy="251643"/>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Average fleet age²</a:t>
            </a:r>
            <a:endParaRPr lang="en-US" sz="800" dirty="0"/>
          </a:p>
        </p:txBody>
      </p:sp>
      <p:sp>
        <p:nvSpPr>
          <p:cNvPr id="52" name="Text 43"/>
          <p:cNvSpPr/>
          <p:nvPr/>
        </p:nvSpPr>
        <p:spPr>
          <a:xfrm>
            <a:off x="5852160" y="4873752"/>
            <a:ext cx="2743200" cy="201168"/>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SELECTED CLIENTS</a:t>
            </a:r>
            <a:endParaRPr lang="en-US" sz="800" dirty="0"/>
          </a:p>
        </p:txBody>
      </p:sp>
      <p:sp>
        <p:nvSpPr>
          <p:cNvPr id="53" name="Shape 44"/>
          <p:cNvSpPr/>
          <p:nvPr/>
        </p:nvSpPr>
        <p:spPr>
          <a:xfrm>
            <a:off x="5852160" y="5111496"/>
            <a:ext cx="1298448" cy="530352"/>
          </a:xfrm>
          <a:prstGeom prst="roundRect">
            <a:avLst>
              <a:gd name="adj" fmla="val 12069"/>
            </a:avLst>
          </a:prstGeom>
          <a:solidFill>
            <a:srgbClr val="FFFFFF"/>
          </a:solidFill>
          <a:ln w="12700">
            <a:solidFill>
              <a:srgbClr val="E2E6EB"/>
            </a:solidFill>
            <a:prstDash val="solid"/>
          </a:ln>
        </p:spPr>
      </p:sp>
      <p:pic>
        <p:nvPicPr>
          <p:cNvPr id="54" name="Image 7" descr="assets/cli_heineken.png">    </p:cNvPr>
          <p:cNvPicPr>
            <a:picLocks noChangeAspect="1"/>
          </p:cNvPicPr>
          <p:nvPr/>
        </p:nvPicPr>
        <p:blipFill>
          <a:blip r:embed="rId8"/>
          <a:stretch>
            <a:fillRect/>
          </a:stretch>
        </p:blipFill>
        <p:spPr>
          <a:xfrm>
            <a:off x="5971032" y="5241798"/>
            <a:ext cx="1060704" cy="269748"/>
          </a:xfrm>
          <a:prstGeom prst="rect">
            <a:avLst/>
          </a:prstGeom>
        </p:spPr>
      </p:pic>
      <p:sp>
        <p:nvSpPr>
          <p:cNvPr id="55" name="Shape 45"/>
          <p:cNvSpPr/>
          <p:nvPr/>
        </p:nvSpPr>
        <p:spPr>
          <a:xfrm>
            <a:off x="7269480" y="5111496"/>
            <a:ext cx="1298448" cy="530352"/>
          </a:xfrm>
          <a:prstGeom prst="roundRect">
            <a:avLst>
              <a:gd name="adj" fmla="val 12069"/>
            </a:avLst>
          </a:prstGeom>
          <a:solidFill>
            <a:srgbClr val="FFFFFF"/>
          </a:solidFill>
          <a:ln w="12700">
            <a:solidFill>
              <a:srgbClr val="E2E6EB"/>
            </a:solidFill>
            <a:prstDash val="solid"/>
          </a:ln>
        </p:spPr>
      </p:sp>
      <p:pic>
        <p:nvPicPr>
          <p:cNvPr id="56" name="Image 8" descr="assets/cli_roche.png">    </p:cNvPr>
          <p:cNvPicPr>
            <a:picLocks noChangeAspect="1"/>
          </p:cNvPicPr>
          <p:nvPr/>
        </p:nvPicPr>
        <p:blipFill>
          <a:blip r:embed="rId9"/>
          <a:stretch>
            <a:fillRect/>
          </a:stretch>
        </p:blipFill>
        <p:spPr>
          <a:xfrm>
            <a:off x="7645442" y="5230368"/>
            <a:ext cx="546524" cy="292608"/>
          </a:xfrm>
          <a:prstGeom prst="rect">
            <a:avLst/>
          </a:prstGeom>
        </p:spPr>
      </p:pic>
      <p:sp>
        <p:nvSpPr>
          <p:cNvPr id="57" name="Shape 46"/>
          <p:cNvSpPr/>
          <p:nvPr/>
        </p:nvSpPr>
        <p:spPr>
          <a:xfrm>
            <a:off x="8686800" y="5111496"/>
            <a:ext cx="1298448" cy="530352"/>
          </a:xfrm>
          <a:prstGeom prst="roundRect">
            <a:avLst>
              <a:gd name="adj" fmla="val 12069"/>
            </a:avLst>
          </a:prstGeom>
          <a:solidFill>
            <a:srgbClr val="FFFFFF"/>
          </a:solidFill>
          <a:ln w="12700">
            <a:solidFill>
              <a:srgbClr val="E2E6EB"/>
            </a:solidFill>
            <a:prstDash val="solid"/>
          </a:ln>
        </p:spPr>
      </p:sp>
      <p:pic>
        <p:nvPicPr>
          <p:cNvPr id="58" name="Image 9" descr="assets/cli_kraftheinz.png">    </p:cNvPr>
          <p:cNvPicPr>
            <a:picLocks noChangeAspect="1"/>
          </p:cNvPicPr>
          <p:nvPr/>
        </p:nvPicPr>
        <p:blipFill>
          <a:blip r:embed="rId10"/>
          <a:stretch>
            <a:fillRect/>
          </a:stretch>
        </p:blipFill>
        <p:spPr>
          <a:xfrm>
            <a:off x="8805672" y="5263972"/>
            <a:ext cx="1060704" cy="225400"/>
          </a:xfrm>
          <a:prstGeom prst="rect">
            <a:avLst/>
          </a:prstGeom>
        </p:spPr>
      </p:pic>
      <p:sp>
        <p:nvSpPr>
          <p:cNvPr id="59" name="Shape 47"/>
          <p:cNvSpPr/>
          <p:nvPr/>
        </p:nvSpPr>
        <p:spPr>
          <a:xfrm>
            <a:off x="10104120" y="5111496"/>
            <a:ext cx="1298448" cy="530352"/>
          </a:xfrm>
          <a:prstGeom prst="roundRect">
            <a:avLst>
              <a:gd name="adj" fmla="val 12069"/>
            </a:avLst>
          </a:prstGeom>
          <a:solidFill>
            <a:srgbClr val="FFFFFF"/>
          </a:solidFill>
          <a:ln w="12700">
            <a:solidFill>
              <a:srgbClr val="E2E6EB"/>
            </a:solidFill>
            <a:prstDash val="solid"/>
          </a:ln>
        </p:spPr>
      </p:sp>
      <p:pic>
        <p:nvPicPr>
          <p:cNvPr id="60" name="Image 10" descr="assets/cli_cargill.png">    </p:cNvPr>
          <p:cNvPicPr>
            <a:picLocks noChangeAspect="1"/>
          </p:cNvPicPr>
          <p:nvPr/>
        </p:nvPicPr>
        <p:blipFill>
          <a:blip r:embed="rId11"/>
          <a:stretch>
            <a:fillRect/>
          </a:stretch>
        </p:blipFill>
        <p:spPr>
          <a:xfrm>
            <a:off x="10317512" y="5230368"/>
            <a:ext cx="871664" cy="292608"/>
          </a:xfrm>
          <a:prstGeom prst="rect">
            <a:avLst/>
          </a:prstGeom>
        </p:spPr>
      </p:pic>
      <p:sp>
        <p:nvSpPr>
          <p:cNvPr id="61" name="Shape 48"/>
          <p:cNvSpPr/>
          <p:nvPr/>
        </p:nvSpPr>
        <p:spPr>
          <a:xfrm>
            <a:off x="0" y="6172200"/>
            <a:ext cx="12191695" cy="685800"/>
          </a:xfrm>
          <a:prstGeom prst="rect">
            <a:avLst/>
          </a:prstGeom>
          <a:solidFill>
            <a:srgbClr val="141A24"/>
          </a:solidFill>
          <a:ln/>
        </p:spPr>
      </p:sp>
      <p:sp>
        <p:nvSpPr>
          <p:cNvPr id="62" name="Shape 49"/>
          <p:cNvSpPr/>
          <p:nvPr/>
        </p:nvSpPr>
        <p:spPr>
          <a:xfrm>
            <a:off x="0" y="6172200"/>
            <a:ext cx="118872" cy="685800"/>
          </a:xfrm>
          <a:prstGeom prst="rect">
            <a:avLst/>
          </a:prstGeom>
          <a:solidFill>
            <a:srgbClr val="F35B1A"/>
          </a:solidFill>
          <a:ln/>
        </p:spPr>
      </p:sp>
      <p:sp>
        <p:nvSpPr>
          <p:cNvPr id="63" name="Text 50"/>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recurring, contracted mobility platform with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BRL 140 Mn</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of net revenues and a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fully-owned fleet</a:t>
            </a:r>
            <a:endParaRPr lang="en-US" sz="1200" dirty="0"/>
          </a:p>
        </p:txBody>
      </p:sp>
      <p:pic>
        <p:nvPicPr>
          <p:cNvPr id="64" name="Image 11" descr="assets/igc_white.png">    </p:cNvPr>
          <p:cNvPicPr>
            <a:picLocks noChangeAspect="1"/>
          </p:cNvPicPr>
          <p:nvPr/>
        </p:nvPicPr>
        <p:blipFill>
          <a:blip r:embed="rId12"/>
          <a:stretch>
            <a:fillRect/>
          </a:stretch>
        </p:blipFill>
        <p:spPr>
          <a:xfrm>
            <a:off x="731520" y="6387084"/>
            <a:ext cx="274320" cy="237134"/>
          </a:xfrm>
          <a:prstGeom prst="rect">
            <a:avLst/>
          </a:prstGeom>
        </p:spPr>
      </p:pic>
      <p:sp>
        <p:nvSpPr>
          <p:cNvPr id="65" name="Text 51"/>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4</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325880" cy="310896"/>
          </a:xfrm>
          <a:prstGeom prst="roundRect">
            <a:avLst>
              <a:gd name="adj" fmla="val 25000"/>
            </a:avLst>
          </a:prstGeom>
          <a:solidFill>
            <a:srgbClr val="FDE9DE"/>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What Mobi does</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Mobi operates dedicated employee-transportation contracts (fretamento) — planning, running and monitoring fixed routes on behalf of its clients</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Illustrative representation of the service model; contract-level operating metrics to be confirmed with management.</a:t>
            </a:r>
            <a:endParaRPr lang="en-US" sz="700" dirty="0"/>
          </a:p>
        </p:txBody>
      </p:sp>
      <p:sp>
        <p:nvSpPr>
          <p:cNvPr id="8" name="Shape 5"/>
          <p:cNvSpPr/>
          <p:nvPr/>
        </p:nvSpPr>
        <p:spPr>
          <a:xfrm>
            <a:off x="731520" y="1874520"/>
            <a:ext cx="1975104" cy="2286000"/>
          </a:xfrm>
          <a:prstGeom prst="roundRect">
            <a:avLst>
              <a:gd name="adj" fmla="val 3704"/>
            </a:avLst>
          </a:prstGeom>
          <a:solidFill>
            <a:srgbClr val="F4F6F8"/>
          </a:solidFill>
          <a:ln w="12700">
            <a:solidFill>
              <a:srgbClr val="E2E6EB"/>
            </a:solidFill>
            <a:prstDash val="solid"/>
          </a:ln>
        </p:spPr>
      </p:sp>
      <p:sp>
        <p:nvSpPr>
          <p:cNvPr id="9" name="Shape 6"/>
          <p:cNvSpPr/>
          <p:nvPr/>
        </p:nvSpPr>
        <p:spPr>
          <a:xfrm>
            <a:off x="731520" y="1874520"/>
            <a:ext cx="1975104" cy="41148"/>
          </a:xfrm>
          <a:prstGeom prst="rect">
            <a:avLst/>
          </a:prstGeom>
          <a:solidFill>
            <a:srgbClr val="F35B1A"/>
          </a:solidFill>
          <a:ln/>
        </p:spPr>
      </p:sp>
      <p:sp>
        <p:nvSpPr>
          <p:cNvPr id="10" name="Shape 7"/>
          <p:cNvSpPr/>
          <p:nvPr/>
        </p:nvSpPr>
        <p:spPr>
          <a:xfrm>
            <a:off x="1481328" y="2148840"/>
            <a:ext cx="475488" cy="475488"/>
          </a:xfrm>
          <a:prstGeom prst="ellipse">
            <a:avLst/>
          </a:prstGeom>
          <a:solidFill>
            <a:srgbClr val="FDE9DE"/>
          </a:solidFill>
          <a:ln/>
        </p:spPr>
      </p:sp>
      <p:pic>
        <p:nvPicPr>
          <p:cNvPr id="11" name="Image 1" descr="assets/icons/mappin_orange.png">    </p:cNvPr>
          <p:cNvPicPr>
            <a:picLocks noChangeAspect="1"/>
          </p:cNvPicPr>
          <p:nvPr/>
        </p:nvPicPr>
        <p:blipFill>
          <a:blip r:embed="rId2"/>
          <a:stretch>
            <a:fillRect/>
          </a:stretch>
        </p:blipFill>
        <p:spPr>
          <a:xfrm>
            <a:off x="1609710" y="2277222"/>
            <a:ext cx="218724" cy="218724"/>
          </a:xfrm>
          <a:prstGeom prst="rect">
            <a:avLst/>
          </a:prstGeom>
        </p:spPr>
      </p:pic>
      <p:sp>
        <p:nvSpPr>
          <p:cNvPr id="12" name="Text 8"/>
          <p:cNvSpPr/>
          <p:nvPr/>
        </p:nvSpPr>
        <p:spPr>
          <a:xfrm>
            <a:off x="859536" y="2743200"/>
            <a:ext cx="1719072" cy="310896"/>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Route design</a:t>
            </a:r>
            <a:endParaRPr lang="en-US" sz="1000" dirty="0"/>
          </a:p>
        </p:txBody>
      </p:sp>
      <p:sp>
        <p:nvSpPr>
          <p:cNvPr id="13" name="Text 9"/>
          <p:cNvSpPr/>
          <p:nvPr/>
        </p:nvSpPr>
        <p:spPr>
          <a:xfrm>
            <a:off x="877824" y="3081528"/>
            <a:ext cx="1682496" cy="914400"/>
          </a:xfrm>
          <a:prstGeom prst="rect">
            <a:avLst/>
          </a:prstGeom>
          <a:noFill/>
          <a:ln/>
        </p:spPr>
        <p:txBody>
          <a:bodyPr wrap="square" lIns="0" tIns="0" rIns="0" bIns="0" rtlCol="0" anchor="t"/>
          <a:lstStyle/>
          <a:p>
            <a:pPr algn="ctr" indent="0" marL="0">
              <a:lnSpc>
                <a:spcPct val="116000"/>
              </a:lnSpc>
              <a:buNone/>
            </a:pPr>
            <a:r>
              <a:rPr lang="en-US" sz="800" dirty="0">
                <a:solidFill>
                  <a:srgbClr val="6C7683"/>
                </a:solidFill>
                <a:latin typeface="Poppins" pitchFamily="34" charset="0"/>
                <a:ea typeface="Poppins" pitchFamily="34" charset="-122"/>
                <a:cs typeface="Poppins" pitchFamily="34" charset="-120"/>
              </a:rPr>
              <a:t>Routes, stops and shift windows are planned around each client's sites and headcount</a:t>
            </a:r>
            <a:endParaRPr lang="en-US" sz="800" dirty="0"/>
          </a:p>
        </p:txBody>
      </p:sp>
      <p:sp>
        <p:nvSpPr>
          <p:cNvPr id="14" name="Shape 10"/>
          <p:cNvSpPr/>
          <p:nvPr/>
        </p:nvSpPr>
        <p:spPr>
          <a:xfrm rot="5400000">
            <a:off x="2747772" y="2948940"/>
            <a:ext cx="137160" cy="137160"/>
          </a:xfrm>
          <a:prstGeom prst="triangle">
            <a:avLst/>
          </a:prstGeom>
          <a:solidFill>
            <a:srgbClr val="F35B1A"/>
          </a:solidFill>
          <a:ln/>
        </p:spPr>
      </p:sp>
      <p:sp>
        <p:nvSpPr>
          <p:cNvPr id="15" name="Shape 11"/>
          <p:cNvSpPr/>
          <p:nvPr/>
        </p:nvSpPr>
        <p:spPr>
          <a:xfrm>
            <a:off x="2926080" y="1874520"/>
            <a:ext cx="1975104" cy="2286000"/>
          </a:xfrm>
          <a:prstGeom prst="roundRect">
            <a:avLst>
              <a:gd name="adj" fmla="val 3704"/>
            </a:avLst>
          </a:prstGeom>
          <a:solidFill>
            <a:srgbClr val="F4F6F8"/>
          </a:solidFill>
          <a:ln w="12700">
            <a:solidFill>
              <a:srgbClr val="E2E6EB"/>
            </a:solidFill>
            <a:prstDash val="solid"/>
          </a:ln>
        </p:spPr>
      </p:sp>
      <p:sp>
        <p:nvSpPr>
          <p:cNvPr id="16" name="Shape 12"/>
          <p:cNvSpPr/>
          <p:nvPr/>
        </p:nvSpPr>
        <p:spPr>
          <a:xfrm>
            <a:off x="2926080" y="1874520"/>
            <a:ext cx="1975104" cy="41148"/>
          </a:xfrm>
          <a:prstGeom prst="rect">
            <a:avLst/>
          </a:prstGeom>
          <a:solidFill>
            <a:srgbClr val="F35B1A"/>
          </a:solidFill>
          <a:ln/>
        </p:spPr>
      </p:sp>
      <p:sp>
        <p:nvSpPr>
          <p:cNvPr id="17" name="Shape 13"/>
          <p:cNvSpPr/>
          <p:nvPr/>
        </p:nvSpPr>
        <p:spPr>
          <a:xfrm>
            <a:off x="3675888" y="2148840"/>
            <a:ext cx="475488" cy="475488"/>
          </a:xfrm>
          <a:prstGeom prst="ellipse">
            <a:avLst/>
          </a:prstGeom>
          <a:solidFill>
            <a:srgbClr val="FDE9DE"/>
          </a:solidFill>
          <a:ln/>
        </p:spPr>
      </p:sp>
      <p:pic>
        <p:nvPicPr>
          <p:cNvPr id="18" name="Image 2" descr="assets/icons/truck_orange.png">    </p:cNvPr>
          <p:cNvPicPr>
            <a:picLocks noChangeAspect="1"/>
          </p:cNvPicPr>
          <p:nvPr/>
        </p:nvPicPr>
        <p:blipFill>
          <a:blip r:embed="rId3"/>
          <a:stretch>
            <a:fillRect/>
          </a:stretch>
        </p:blipFill>
        <p:spPr>
          <a:xfrm>
            <a:off x="3804270" y="2277222"/>
            <a:ext cx="218724" cy="218724"/>
          </a:xfrm>
          <a:prstGeom prst="rect">
            <a:avLst/>
          </a:prstGeom>
        </p:spPr>
      </p:pic>
      <p:sp>
        <p:nvSpPr>
          <p:cNvPr id="19" name="Text 14"/>
          <p:cNvSpPr/>
          <p:nvPr/>
        </p:nvSpPr>
        <p:spPr>
          <a:xfrm>
            <a:off x="3054096" y="2743200"/>
            <a:ext cx="1719072" cy="310896"/>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Fleet allocation</a:t>
            </a:r>
            <a:endParaRPr lang="en-US" sz="1000" dirty="0"/>
          </a:p>
        </p:txBody>
      </p:sp>
      <p:sp>
        <p:nvSpPr>
          <p:cNvPr id="20" name="Text 15"/>
          <p:cNvSpPr/>
          <p:nvPr/>
        </p:nvSpPr>
        <p:spPr>
          <a:xfrm>
            <a:off x="3072384" y="3081528"/>
            <a:ext cx="1682496" cy="914400"/>
          </a:xfrm>
          <a:prstGeom prst="rect">
            <a:avLst/>
          </a:prstGeom>
          <a:noFill/>
          <a:ln/>
        </p:spPr>
        <p:txBody>
          <a:bodyPr wrap="square" lIns="0" tIns="0" rIns="0" bIns="0" rtlCol="0" anchor="t"/>
          <a:lstStyle/>
          <a:p>
            <a:pPr algn="ctr" indent="0" marL="0">
              <a:lnSpc>
                <a:spcPct val="116000"/>
              </a:lnSpc>
              <a:buNone/>
            </a:pPr>
            <a:r>
              <a:rPr lang="en-US" sz="800" dirty="0">
                <a:solidFill>
                  <a:srgbClr val="6C7683"/>
                </a:solidFill>
                <a:latin typeface="Poppins" pitchFamily="34" charset="0"/>
                <a:ea typeface="Poppins" pitchFamily="34" charset="-122"/>
                <a:cs typeface="Poppins" pitchFamily="34" charset="-120"/>
              </a:rPr>
              <a:t>Dedicated vehicles and drivers are assigned to the contract from the owned fleet</a:t>
            </a:r>
            <a:endParaRPr lang="en-US" sz="800" dirty="0"/>
          </a:p>
        </p:txBody>
      </p:sp>
      <p:sp>
        <p:nvSpPr>
          <p:cNvPr id="21" name="Shape 16"/>
          <p:cNvSpPr/>
          <p:nvPr/>
        </p:nvSpPr>
        <p:spPr>
          <a:xfrm rot="5400000">
            <a:off x="4942332" y="2948940"/>
            <a:ext cx="137160" cy="137160"/>
          </a:xfrm>
          <a:prstGeom prst="triangle">
            <a:avLst/>
          </a:prstGeom>
          <a:solidFill>
            <a:srgbClr val="F35B1A"/>
          </a:solidFill>
          <a:ln/>
        </p:spPr>
      </p:sp>
      <p:sp>
        <p:nvSpPr>
          <p:cNvPr id="22" name="Shape 17"/>
          <p:cNvSpPr/>
          <p:nvPr/>
        </p:nvSpPr>
        <p:spPr>
          <a:xfrm>
            <a:off x="5120640" y="1874520"/>
            <a:ext cx="1975104" cy="2286000"/>
          </a:xfrm>
          <a:prstGeom prst="roundRect">
            <a:avLst>
              <a:gd name="adj" fmla="val 3704"/>
            </a:avLst>
          </a:prstGeom>
          <a:solidFill>
            <a:srgbClr val="F4F6F8"/>
          </a:solidFill>
          <a:ln w="12700">
            <a:solidFill>
              <a:srgbClr val="E2E6EB"/>
            </a:solidFill>
            <a:prstDash val="solid"/>
          </a:ln>
        </p:spPr>
      </p:sp>
      <p:sp>
        <p:nvSpPr>
          <p:cNvPr id="23" name="Shape 18"/>
          <p:cNvSpPr/>
          <p:nvPr/>
        </p:nvSpPr>
        <p:spPr>
          <a:xfrm>
            <a:off x="5120640" y="1874520"/>
            <a:ext cx="1975104" cy="41148"/>
          </a:xfrm>
          <a:prstGeom prst="rect">
            <a:avLst/>
          </a:prstGeom>
          <a:solidFill>
            <a:srgbClr val="F35B1A"/>
          </a:solidFill>
          <a:ln/>
        </p:spPr>
      </p:sp>
      <p:sp>
        <p:nvSpPr>
          <p:cNvPr id="24" name="Shape 19"/>
          <p:cNvSpPr/>
          <p:nvPr/>
        </p:nvSpPr>
        <p:spPr>
          <a:xfrm>
            <a:off x="5870448" y="2148840"/>
            <a:ext cx="475488" cy="475488"/>
          </a:xfrm>
          <a:prstGeom prst="ellipse">
            <a:avLst/>
          </a:prstGeom>
          <a:solidFill>
            <a:srgbClr val="FDE9DE"/>
          </a:solidFill>
          <a:ln/>
        </p:spPr>
      </p:sp>
      <p:pic>
        <p:nvPicPr>
          <p:cNvPr id="25" name="Image 3" descr="assets/icons/activity_orange.png">    </p:cNvPr>
          <p:cNvPicPr>
            <a:picLocks noChangeAspect="1"/>
          </p:cNvPicPr>
          <p:nvPr/>
        </p:nvPicPr>
        <p:blipFill>
          <a:blip r:embed="rId4"/>
          <a:stretch>
            <a:fillRect/>
          </a:stretch>
        </p:blipFill>
        <p:spPr>
          <a:xfrm>
            <a:off x="5998830" y="2277222"/>
            <a:ext cx="218724" cy="218724"/>
          </a:xfrm>
          <a:prstGeom prst="rect">
            <a:avLst/>
          </a:prstGeom>
        </p:spPr>
      </p:pic>
      <p:sp>
        <p:nvSpPr>
          <p:cNvPr id="26" name="Text 20"/>
          <p:cNvSpPr/>
          <p:nvPr/>
        </p:nvSpPr>
        <p:spPr>
          <a:xfrm>
            <a:off x="5248656" y="2743200"/>
            <a:ext cx="1719072" cy="310896"/>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Live monitoring</a:t>
            </a:r>
            <a:endParaRPr lang="en-US" sz="1000" dirty="0"/>
          </a:p>
        </p:txBody>
      </p:sp>
      <p:sp>
        <p:nvSpPr>
          <p:cNvPr id="27" name="Text 21"/>
          <p:cNvSpPr/>
          <p:nvPr/>
        </p:nvSpPr>
        <p:spPr>
          <a:xfrm>
            <a:off x="5266944" y="3081528"/>
            <a:ext cx="1682496" cy="914400"/>
          </a:xfrm>
          <a:prstGeom prst="rect">
            <a:avLst/>
          </a:prstGeom>
          <a:noFill/>
          <a:ln/>
        </p:spPr>
        <p:txBody>
          <a:bodyPr wrap="square" lIns="0" tIns="0" rIns="0" bIns="0" rtlCol="0" anchor="t"/>
          <a:lstStyle/>
          <a:p>
            <a:pPr algn="ctr" indent="0" marL="0">
              <a:lnSpc>
                <a:spcPct val="116000"/>
              </a:lnSpc>
              <a:buNone/>
            </a:pPr>
            <a:r>
              <a:rPr lang="en-US" sz="800" dirty="0">
                <a:solidFill>
                  <a:srgbClr val="6C7683"/>
                </a:solidFill>
                <a:latin typeface="Poppins" pitchFamily="34" charset="0"/>
                <a:ea typeface="Poppins" pitchFamily="34" charset="-122"/>
                <a:cs typeface="Poppins" pitchFamily="34" charset="-120"/>
              </a:rPr>
              <a:t>GPS telemetry and driver-fatigue monitoring track every trip across all bases</a:t>
            </a:r>
            <a:endParaRPr lang="en-US" sz="800" dirty="0"/>
          </a:p>
        </p:txBody>
      </p:sp>
      <p:sp>
        <p:nvSpPr>
          <p:cNvPr id="28" name="Shape 22"/>
          <p:cNvSpPr/>
          <p:nvPr/>
        </p:nvSpPr>
        <p:spPr>
          <a:xfrm rot="5400000">
            <a:off x="7136892" y="2948940"/>
            <a:ext cx="137160" cy="137160"/>
          </a:xfrm>
          <a:prstGeom prst="triangle">
            <a:avLst/>
          </a:prstGeom>
          <a:solidFill>
            <a:srgbClr val="F35B1A"/>
          </a:solidFill>
          <a:ln/>
        </p:spPr>
      </p:sp>
      <p:sp>
        <p:nvSpPr>
          <p:cNvPr id="29" name="Shape 23"/>
          <p:cNvSpPr/>
          <p:nvPr/>
        </p:nvSpPr>
        <p:spPr>
          <a:xfrm>
            <a:off x="7315200" y="1874520"/>
            <a:ext cx="1975104" cy="2286000"/>
          </a:xfrm>
          <a:prstGeom prst="roundRect">
            <a:avLst>
              <a:gd name="adj" fmla="val 3704"/>
            </a:avLst>
          </a:prstGeom>
          <a:solidFill>
            <a:srgbClr val="F4F6F8"/>
          </a:solidFill>
          <a:ln w="12700">
            <a:solidFill>
              <a:srgbClr val="E2E6EB"/>
            </a:solidFill>
            <a:prstDash val="solid"/>
          </a:ln>
        </p:spPr>
      </p:sp>
      <p:sp>
        <p:nvSpPr>
          <p:cNvPr id="30" name="Shape 24"/>
          <p:cNvSpPr/>
          <p:nvPr/>
        </p:nvSpPr>
        <p:spPr>
          <a:xfrm>
            <a:off x="7315200" y="1874520"/>
            <a:ext cx="1975104" cy="41148"/>
          </a:xfrm>
          <a:prstGeom prst="rect">
            <a:avLst/>
          </a:prstGeom>
          <a:solidFill>
            <a:srgbClr val="F35B1A"/>
          </a:solidFill>
          <a:ln/>
        </p:spPr>
      </p:sp>
      <p:sp>
        <p:nvSpPr>
          <p:cNvPr id="31" name="Shape 25"/>
          <p:cNvSpPr/>
          <p:nvPr/>
        </p:nvSpPr>
        <p:spPr>
          <a:xfrm>
            <a:off x="8065008" y="2148840"/>
            <a:ext cx="475488" cy="475488"/>
          </a:xfrm>
          <a:prstGeom prst="ellipse">
            <a:avLst/>
          </a:prstGeom>
          <a:solidFill>
            <a:srgbClr val="FDE9DE"/>
          </a:solidFill>
          <a:ln/>
        </p:spPr>
      </p:sp>
      <p:pic>
        <p:nvPicPr>
          <p:cNvPr id="32" name="Image 4" descr="assets/icons/tool_orange.png">    </p:cNvPr>
          <p:cNvPicPr>
            <a:picLocks noChangeAspect="1"/>
          </p:cNvPicPr>
          <p:nvPr/>
        </p:nvPicPr>
        <p:blipFill>
          <a:blip r:embed="rId5"/>
          <a:stretch>
            <a:fillRect/>
          </a:stretch>
        </p:blipFill>
        <p:spPr>
          <a:xfrm>
            <a:off x="8193390" y="2277222"/>
            <a:ext cx="218724" cy="218724"/>
          </a:xfrm>
          <a:prstGeom prst="rect">
            <a:avLst/>
          </a:prstGeom>
        </p:spPr>
      </p:pic>
      <p:sp>
        <p:nvSpPr>
          <p:cNvPr id="33" name="Text 26"/>
          <p:cNvSpPr/>
          <p:nvPr/>
        </p:nvSpPr>
        <p:spPr>
          <a:xfrm>
            <a:off x="7443216" y="2743200"/>
            <a:ext cx="1719072" cy="310896"/>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Maintenance</a:t>
            </a:r>
            <a:endParaRPr lang="en-US" sz="1000" dirty="0"/>
          </a:p>
        </p:txBody>
      </p:sp>
      <p:sp>
        <p:nvSpPr>
          <p:cNvPr id="34" name="Text 27"/>
          <p:cNvSpPr/>
          <p:nvPr/>
        </p:nvSpPr>
        <p:spPr>
          <a:xfrm>
            <a:off x="7461504" y="3081528"/>
            <a:ext cx="1682496" cy="914400"/>
          </a:xfrm>
          <a:prstGeom prst="rect">
            <a:avLst/>
          </a:prstGeom>
          <a:noFill/>
          <a:ln/>
        </p:spPr>
        <p:txBody>
          <a:bodyPr wrap="square" lIns="0" tIns="0" rIns="0" bIns="0" rtlCol="0" anchor="t"/>
          <a:lstStyle/>
          <a:p>
            <a:pPr algn="ctr" indent="0" marL="0">
              <a:lnSpc>
                <a:spcPct val="116000"/>
              </a:lnSpc>
              <a:buNone/>
            </a:pPr>
            <a:r>
              <a:rPr lang="en-US" sz="800" dirty="0">
                <a:solidFill>
                  <a:srgbClr val="6C7683"/>
                </a:solidFill>
                <a:latin typeface="Poppins" pitchFamily="34" charset="0"/>
                <a:ea typeface="Poppins" pitchFamily="34" charset="-122"/>
                <a:cs typeface="Poppins" pitchFamily="34" charset="-120"/>
              </a:rPr>
              <a:t>Preventive and corrective maintenance keeps contracted vehicles available</a:t>
            </a:r>
            <a:endParaRPr lang="en-US" sz="800" dirty="0"/>
          </a:p>
        </p:txBody>
      </p:sp>
      <p:sp>
        <p:nvSpPr>
          <p:cNvPr id="35" name="Shape 28"/>
          <p:cNvSpPr/>
          <p:nvPr/>
        </p:nvSpPr>
        <p:spPr>
          <a:xfrm rot="5400000">
            <a:off x="9331452" y="2948940"/>
            <a:ext cx="137160" cy="137160"/>
          </a:xfrm>
          <a:prstGeom prst="triangle">
            <a:avLst/>
          </a:prstGeom>
          <a:solidFill>
            <a:srgbClr val="F35B1A"/>
          </a:solidFill>
          <a:ln/>
        </p:spPr>
      </p:sp>
      <p:sp>
        <p:nvSpPr>
          <p:cNvPr id="36" name="Shape 29"/>
          <p:cNvSpPr/>
          <p:nvPr/>
        </p:nvSpPr>
        <p:spPr>
          <a:xfrm>
            <a:off x="9509760" y="1874520"/>
            <a:ext cx="1975104" cy="2286000"/>
          </a:xfrm>
          <a:prstGeom prst="roundRect">
            <a:avLst>
              <a:gd name="adj" fmla="val 3704"/>
            </a:avLst>
          </a:prstGeom>
          <a:solidFill>
            <a:srgbClr val="F4F6F8"/>
          </a:solidFill>
          <a:ln w="12700">
            <a:solidFill>
              <a:srgbClr val="E2E6EB"/>
            </a:solidFill>
            <a:prstDash val="solid"/>
          </a:ln>
        </p:spPr>
      </p:sp>
      <p:sp>
        <p:nvSpPr>
          <p:cNvPr id="37" name="Shape 30"/>
          <p:cNvSpPr/>
          <p:nvPr/>
        </p:nvSpPr>
        <p:spPr>
          <a:xfrm>
            <a:off x="9509760" y="1874520"/>
            <a:ext cx="1975104" cy="41148"/>
          </a:xfrm>
          <a:prstGeom prst="rect">
            <a:avLst/>
          </a:prstGeom>
          <a:solidFill>
            <a:srgbClr val="F35B1A"/>
          </a:solidFill>
          <a:ln/>
        </p:spPr>
      </p:sp>
      <p:sp>
        <p:nvSpPr>
          <p:cNvPr id="38" name="Shape 31"/>
          <p:cNvSpPr/>
          <p:nvPr/>
        </p:nvSpPr>
        <p:spPr>
          <a:xfrm>
            <a:off x="10259568" y="2148840"/>
            <a:ext cx="475488" cy="475488"/>
          </a:xfrm>
          <a:prstGeom prst="ellipse">
            <a:avLst/>
          </a:prstGeom>
          <a:solidFill>
            <a:srgbClr val="FDE9DE"/>
          </a:solidFill>
          <a:ln/>
        </p:spPr>
      </p:sp>
      <p:pic>
        <p:nvPicPr>
          <p:cNvPr id="39" name="Image 5" descr="assets/icons/barchart_orange.png">    </p:cNvPr>
          <p:cNvPicPr>
            <a:picLocks noChangeAspect="1"/>
          </p:cNvPicPr>
          <p:nvPr/>
        </p:nvPicPr>
        <p:blipFill>
          <a:blip r:embed="rId6"/>
          <a:stretch>
            <a:fillRect/>
          </a:stretch>
        </p:blipFill>
        <p:spPr>
          <a:xfrm>
            <a:off x="10387950" y="2277222"/>
            <a:ext cx="218724" cy="218724"/>
          </a:xfrm>
          <a:prstGeom prst="rect">
            <a:avLst/>
          </a:prstGeom>
        </p:spPr>
      </p:pic>
      <p:sp>
        <p:nvSpPr>
          <p:cNvPr id="40" name="Text 32"/>
          <p:cNvSpPr/>
          <p:nvPr/>
        </p:nvSpPr>
        <p:spPr>
          <a:xfrm>
            <a:off x="9637776" y="2743200"/>
            <a:ext cx="1719072" cy="310896"/>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Reporting &amp; billing</a:t>
            </a:r>
            <a:endParaRPr lang="en-US" sz="1000" dirty="0"/>
          </a:p>
        </p:txBody>
      </p:sp>
      <p:sp>
        <p:nvSpPr>
          <p:cNvPr id="41" name="Text 33"/>
          <p:cNvSpPr/>
          <p:nvPr/>
        </p:nvSpPr>
        <p:spPr>
          <a:xfrm>
            <a:off x="9656064" y="3081528"/>
            <a:ext cx="1682496" cy="914400"/>
          </a:xfrm>
          <a:prstGeom prst="rect">
            <a:avLst/>
          </a:prstGeom>
          <a:noFill/>
          <a:ln/>
        </p:spPr>
        <p:txBody>
          <a:bodyPr wrap="square" lIns="0" tIns="0" rIns="0" bIns="0" rtlCol="0" anchor="t"/>
          <a:lstStyle/>
          <a:p>
            <a:pPr algn="ctr" indent="0" marL="0">
              <a:lnSpc>
                <a:spcPct val="116000"/>
              </a:lnSpc>
              <a:buNone/>
            </a:pPr>
            <a:r>
              <a:rPr lang="en-US" sz="800" dirty="0">
                <a:solidFill>
                  <a:srgbClr val="6C7683"/>
                </a:solidFill>
                <a:latin typeface="Poppins" pitchFamily="34" charset="0"/>
                <a:ea typeface="Poppins" pitchFamily="34" charset="-122"/>
                <a:cs typeface="Poppins" pitchFamily="34" charset="-120"/>
              </a:rPr>
              <a:t>Recurring monthly billing with contractual price-adjustment mechanisms</a:t>
            </a:r>
            <a:endParaRPr lang="en-US" sz="800" dirty="0"/>
          </a:p>
        </p:txBody>
      </p:sp>
      <p:sp>
        <p:nvSpPr>
          <p:cNvPr id="42" name="Shape 34"/>
          <p:cNvSpPr/>
          <p:nvPr/>
        </p:nvSpPr>
        <p:spPr>
          <a:xfrm rot="5400000">
            <a:off x="731520" y="4535424"/>
            <a:ext cx="137160" cy="137160"/>
          </a:xfrm>
          <a:prstGeom prst="triangle">
            <a:avLst/>
          </a:prstGeom>
          <a:solidFill>
            <a:srgbClr val="F35B1A"/>
          </a:solidFill>
          <a:ln/>
        </p:spPr>
      </p:sp>
      <p:sp>
        <p:nvSpPr>
          <p:cNvPr id="43" name="Text 35"/>
          <p:cNvSpPr/>
          <p:nvPr/>
        </p:nvSpPr>
        <p:spPr>
          <a:xfrm>
            <a:off x="969264" y="4471416"/>
            <a:ext cx="3149498" cy="256032"/>
          </a:xfrm>
          <a:prstGeom prst="rect">
            <a:avLst/>
          </a:prstGeom>
          <a:noFill/>
          <a:ln/>
        </p:spPr>
        <p:txBody>
          <a:bodyPr wrap="square" lIns="0" tIns="0" rIns="0" bIns="0" rtlCol="0" anchor="ctr"/>
          <a:lstStyle/>
          <a:p>
            <a:pPr indent="0" marL="0">
              <a:buNone/>
            </a:pPr>
            <a:r>
              <a:rPr lang="en-US" sz="1000" dirty="0">
                <a:solidFill>
                  <a:srgbClr val="C6470F"/>
                </a:solidFill>
                <a:latin typeface="Poppins SemiBold" pitchFamily="34" charset="0"/>
                <a:ea typeface="Poppins SemiBold" pitchFamily="34" charset="-122"/>
                <a:cs typeface="Poppins SemiBold" pitchFamily="34" charset="-120"/>
              </a:rPr>
              <a:t>Dedicated, not shared</a:t>
            </a:r>
            <a:endParaRPr lang="en-US" sz="1000" dirty="0"/>
          </a:p>
        </p:txBody>
      </p:sp>
      <p:sp>
        <p:nvSpPr>
          <p:cNvPr id="44" name="Text 36"/>
          <p:cNvSpPr/>
          <p:nvPr/>
        </p:nvSpPr>
        <p:spPr>
          <a:xfrm>
            <a:off x="969264" y="4745736"/>
            <a:ext cx="3149498"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Vehicles and drivers are committed to a single client contract, which is what makes revenue recurring and predictable</a:t>
            </a:r>
            <a:endParaRPr lang="en-US" sz="800" dirty="0"/>
          </a:p>
        </p:txBody>
      </p:sp>
      <p:sp>
        <p:nvSpPr>
          <p:cNvPr id="45" name="Shape 37"/>
          <p:cNvSpPr/>
          <p:nvPr/>
        </p:nvSpPr>
        <p:spPr>
          <a:xfrm rot="5400000">
            <a:off x="4383938" y="4535424"/>
            <a:ext cx="137160" cy="137160"/>
          </a:xfrm>
          <a:prstGeom prst="triangle">
            <a:avLst/>
          </a:prstGeom>
          <a:solidFill>
            <a:srgbClr val="F35B1A"/>
          </a:solidFill>
          <a:ln/>
        </p:spPr>
      </p:sp>
      <p:sp>
        <p:nvSpPr>
          <p:cNvPr id="46" name="Text 38"/>
          <p:cNvSpPr/>
          <p:nvPr/>
        </p:nvSpPr>
        <p:spPr>
          <a:xfrm>
            <a:off x="4621682" y="4471416"/>
            <a:ext cx="3149498" cy="256032"/>
          </a:xfrm>
          <a:prstGeom prst="rect">
            <a:avLst/>
          </a:prstGeom>
          <a:noFill/>
          <a:ln/>
        </p:spPr>
        <p:txBody>
          <a:bodyPr wrap="square" lIns="0" tIns="0" rIns="0" bIns="0" rtlCol="0" anchor="ctr"/>
          <a:lstStyle/>
          <a:p>
            <a:pPr indent="0" marL="0">
              <a:buNone/>
            </a:pPr>
            <a:r>
              <a:rPr lang="en-US" sz="1000" dirty="0">
                <a:solidFill>
                  <a:srgbClr val="C6470F"/>
                </a:solidFill>
                <a:latin typeface="Poppins SemiBold" pitchFamily="34" charset="0"/>
                <a:ea typeface="Poppins SemiBold" pitchFamily="34" charset="-122"/>
                <a:cs typeface="Poppins SemiBold" pitchFamily="34" charset="-120"/>
              </a:rPr>
              <a:t>Owned, not leased</a:t>
            </a:r>
            <a:endParaRPr lang="en-US" sz="1000" dirty="0"/>
          </a:p>
        </p:txBody>
      </p:sp>
      <p:sp>
        <p:nvSpPr>
          <p:cNvPr id="47" name="Text 39"/>
          <p:cNvSpPr/>
          <p:nvPr/>
        </p:nvSpPr>
        <p:spPr>
          <a:xfrm>
            <a:off x="4621682" y="4745736"/>
            <a:ext cx="3149498"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100% of the operating fleet is owned, giving Mobi control over service quality, availability and asset value</a:t>
            </a:r>
            <a:endParaRPr lang="en-US" sz="800" dirty="0"/>
          </a:p>
        </p:txBody>
      </p:sp>
      <p:sp>
        <p:nvSpPr>
          <p:cNvPr id="48" name="Shape 40"/>
          <p:cNvSpPr/>
          <p:nvPr/>
        </p:nvSpPr>
        <p:spPr>
          <a:xfrm rot="5400000">
            <a:off x="8036357" y="4535424"/>
            <a:ext cx="137160" cy="137160"/>
          </a:xfrm>
          <a:prstGeom prst="triangle">
            <a:avLst/>
          </a:prstGeom>
          <a:solidFill>
            <a:srgbClr val="F35B1A"/>
          </a:solidFill>
          <a:ln/>
        </p:spPr>
      </p:sp>
      <p:sp>
        <p:nvSpPr>
          <p:cNvPr id="49" name="Text 41"/>
          <p:cNvSpPr/>
          <p:nvPr/>
        </p:nvSpPr>
        <p:spPr>
          <a:xfrm>
            <a:off x="8274101" y="4471416"/>
            <a:ext cx="3149498" cy="256032"/>
          </a:xfrm>
          <a:prstGeom prst="rect">
            <a:avLst/>
          </a:prstGeom>
          <a:noFill/>
          <a:ln/>
        </p:spPr>
        <p:txBody>
          <a:bodyPr wrap="square" lIns="0" tIns="0" rIns="0" bIns="0" rtlCol="0" anchor="ctr"/>
          <a:lstStyle/>
          <a:p>
            <a:pPr indent="0" marL="0">
              <a:buNone/>
            </a:pPr>
            <a:r>
              <a:rPr lang="en-US" sz="1000" dirty="0">
                <a:solidFill>
                  <a:srgbClr val="C6470F"/>
                </a:solidFill>
                <a:latin typeface="Poppins SemiBold" pitchFamily="34" charset="0"/>
                <a:ea typeface="Poppins SemiBold" pitchFamily="34" charset="-122"/>
                <a:cs typeface="Poppins SemiBold" pitchFamily="34" charset="-120"/>
              </a:rPr>
              <a:t>Contracted, not spot</a:t>
            </a:r>
            <a:endParaRPr lang="en-US" sz="1000" dirty="0"/>
          </a:p>
        </p:txBody>
      </p:sp>
      <p:sp>
        <p:nvSpPr>
          <p:cNvPr id="50" name="Text 42"/>
          <p:cNvSpPr/>
          <p:nvPr/>
        </p:nvSpPr>
        <p:spPr>
          <a:xfrm>
            <a:off x="8274101" y="4745736"/>
            <a:ext cx="3149498"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3–5 year contracts with IPCA, collective-bargaining and diesel pass-through clauses protect margin over the cycle</a:t>
            </a:r>
            <a:endParaRPr lang="en-US" sz="800" dirty="0"/>
          </a:p>
        </p:txBody>
      </p:sp>
      <p:sp>
        <p:nvSpPr>
          <p:cNvPr id="51" name="Shape 43"/>
          <p:cNvSpPr/>
          <p:nvPr/>
        </p:nvSpPr>
        <p:spPr>
          <a:xfrm>
            <a:off x="0" y="6172200"/>
            <a:ext cx="12191695" cy="685800"/>
          </a:xfrm>
          <a:prstGeom prst="rect">
            <a:avLst/>
          </a:prstGeom>
          <a:solidFill>
            <a:srgbClr val="141A24"/>
          </a:solidFill>
          <a:ln/>
        </p:spPr>
      </p:sp>
      <p:sp>
        <p:nvSpPr>
          <p:cNvPr id="52" name="Shape 44"/>
          <p:cNvSpPr/>
          <p:nvPr/>
        </p:nvSpPr>
        <p:spPr>
          <a:xfrm>
            <a:off x="0" y="6172200"/>
            <a:ext cx="118872" cy="685800"/>
          </a:xfrm>
          <a:prstGeom prst="rect">
            <a:avLst/>
          </a:prstGeom>
          <a:solidFill>
            <a:srgbClr val="F35B1A"/>
          </a:solidFill>
          <a:ln/>
        </p:spPr>
      </p:sp>
      <p:sp>
        <p:nvSpPr>
          <p:cNvPr id="53" name="Text 45"/>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dedicated, owned and contracted</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service model — the source of Mobi's revenue visibility</a:t>
            </a:r>
            <a:endParaRPr lang="en-US" sz="1200" dirty="0"/>
          </a:p>
        </p:txBody>
      </p:sp>
      <p:pic>
        <p:nvPicPr>
          <p:cNvPr id="54" name="Image 6" descr="assets/igc_white.png">    </p:cNvPr>
          <p:cNvPicPr>
            <a:picLocks noChangeAspect="1"/>
          </p:cNvPicPr>
          <p:nvPr/>
        </p:nvPicPr>
        <p:blipFill>
          <a:blip r:embed="rId7"/>
          <a:stretch>
            <a:fillRect/>
          </a:stretch>
        </p:blipFill>
        <p:spPr>
          <a:xfrm>
            <a:off x="731520" y="6387084"/>
            <a:ext cx="274320" cy="237134"/>
          </a:xfrm>
          <a:prstGeom prst="rect">
            <a:avLst/>
          </a:prstGeom>
        </p:spPr>
      </p:pic>
      <p:sp>
        <p:nvSpPr>
          <p:cNvPr id="55" name="Text 46"/>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5</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325880" cy="310896"/>
          </a:xfrm>
          <a:prstGeom prst="roundRect">
            <a:avLst>
              <a:gd name="adj" fmla="val 25000"/>
            </a:avLst>
          </a:prstGeom>
          <a:solidFill>
            <a:srgbClr val="FDE9DE"/>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Two client fronts on one operating platform</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The same fleet, bases and monitoring infrastructure serve corporate employee transportation and condominium residents</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Project Compass teaser. Revenue split between client fronts to be confirmed with management.</a:t>
            </a:r>
            <a:endParaRPr lang="en-US" sz="700" dirty="0"/>
          </a:p>
        </p:txBody>
      </p:sp>
      <p:sp>
        <p:nvSpPr>
          <p:cNvPr id="8" name="Shape 5"/>
          <p:cNvSpPr/>
          <p:nvPr/>
        </p:nvSpPr>
        <p:spPr>
          <a:xfrm>
            <a:off x="731520" y="1828800"/>
            <a:ext cx="5230368" cy="3063240"/>
          </a:xfrm>
          <a:prstGeom prst="roundRect">
            <a:avLst>
              <a:gd name="adj" fmla="val 2985"/>
            </a:avLst>
          </a:prstGeom>
          <a:solidFill>
            <a:srgbClr val="F4F6F8"/>
          </a:solidFill>
          <a:ln w="12700">
            <a:solidFill>
              <a:srgbClr val="E2E6EB"/>
            </a:solidFill>
            <a:prstDash val="solid"/>
          </a:ln>
        </p:spPr>
      </p:sp>
      <p:sp>
        <p:nvSpPr>
          <p:cNvPr id="9" name="Shape 6"/>
          <p:cNvSpPr/>
          <p:nvPr/>
        </p:nvSpPr>
        <p:spPr>
          <a:xfrm>
            <a:off x="1005840" y="2103120"/>
            <a:ext cx="512064" cy="512064"/>
          </a:xfrm>
          <a:prstGeom prst="ellipse">
            <a:avLst/>
          </a:prstGeom>
          <a:solidFill>
            <a:srgbClr val="FDE9DE"/>
          </a:solidFill>
          <a:ln/>
        </p:spPr>
      </p:sp>
      <p:pic>
        <p:nvPicPr>
          <p:cNvPr id="10" name="Image 1" descr="assets/icons/briefcase_orange.png">    </p:cNvPr>
          <p:cNvPicPr>
            <a:picLocks noChangeAspect="1"/>
          </p:cNvPicPr>
          <p:nvPr/>
        </p:nvPicPr>
        <p:blipFill>
          <a:blip r:embed="rId2"/>
          <a:stretch>
            <a:fillRect/>
          </a:stretch>
        </p:blipFill>
        <p:spPr>
          <a:xfrm>
            <a:off x="1144097" y="2241377"/>
            <a:ext cx="235549" cy="235549"/>
          </a:xfrm>
          <a:prstGeom prst="rect">
            <a:avLst/>
          </a:prstGeom>
        </p:spPr>
      </p:pic>
      <p:sp>
        <p:nvSpPr>
          <p:cNvPr id="11" name="Text 7"/>
          <p:cNvSpPr/>
          <p:nvPr/>
        </p:nvSpPr>
        <p:spPr>
          <a:xfrm>
            <a:off x="1645920" y="2121408"/>
            <a:ext cx="4041648" cy="475488"/>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Corporate employee transportation</a:t>
            </a:r>
            <a:endParaRPr lang="en-US" sz="1200" dirty="0"/>
          </a:p>
        </p:txBody>
      </p:sp>
      <p:sp>
        <p:nvSpPr>
          <p:cNvPr id="12" name="Text 8"/>
          <p:cNvSpPr/>
          <p:nvPr/>
        </p:nvSpPr>
        <p:spPr>
          <a:xfrm>
            <a:off x="1024128" y="2724912"/>
            <a:ext cx="4645152" cy="548640"/>
          </a:xfrm>
          <a:prstGeom prst="rect">
            <a:avLst/>
          </a:prstGeom>
          <a:noFill/>
          <a:ln/>
        </p:spPr>
        <p:txBody>
          <a:bodyPr wrap="square" lIns="0" tIns="0" rIns="0" bIns="0" rtlCol="0" anchor="t"/>
          <a:lstStyle/>
          <a:p>
            <a:pPr indent="0" marL="0">
              <a:lnSpc>
                <a:spcPct val="116000"/>
              </a:lnSpc>
              <a:buNone/>
            </a:pPr>
            <a:r>
              <a:rPr lang="en-US" sz="900" dirty="0">
                <a:solidFill>
                  <a:srgbClr val="6C7683"/>
                </a:solidFill>
                <a:latin typeface="Poppins" pitchFamily="34" charset="0"/>
                <a:ea typeface="Poppins" pitchFamily="34" charset="-122"/>
                <a:cs typeface="Poppins" pitchFamily="34" charset="-120"/>
              </a:rPr>
              <a:t>Route-optimized transportation of employees to and from industrial, agribusiness and consumer-goods sites — the core of the platform</a:t>
            </a:r>
            <a:endParaRPr lang="en-US" sz="900" dirty="0"/>
          </a:p>
        </p:txBody>
      </p:sp>
      <p:sp>
        <p:nvSpPr>
          <p:cNvPr id="13" name="Shape 9"/>
          <p:cNvSpPr/>
          <p:nvPr/>
        </p:nvSpPr>
        <p:spPr>
          <a:xfrm rot="5400000">
            <a:off x="1042416" y="3419856"/>
            <a:ext cx="128016" cy="128016"/>
          </a:xfrm>
          <a:prstGeom prst="triangle">
            <a:avLst/>
          </a:prstGeom>
          <a:solidFill>
            <a:srgbClr val="F35B1A"/>
          </a:solidFill>
          <a:ln/>
        </p:spPr>
      </p:sp>
      <p:sp>
        <p:nvSpPr>
          <p:cNvPr id="14" name="Text 10"/>
          <p:cNvSpPr/>
          <p:nvPr/>
        </p:nvSpPr>
        <p:spPr>
          <a:xfrm>
            <a:off x="1298448" y="3337560"/>
            <a:ext cx="4352544" cy="438912"/>
          </a:xfrm>
          <a:prstGeom prst="rect">
            <a:avLst/>
          </a:prstGeom>
          <a:noFill/>
          <a:ln/>
        </p:spPr>
        <p:txBody>
          <a:bodyPr wrap="square" lIns="0" tIns="0" rIns="0" bIns="0" rtlCol="0" anchor="t"/>
          <a:lstStyle/>
          <a:p>
            <a:pPr indent="0" marL="0">
              <a:lnSpc>
                <a:spcPct val="114000"/>
              </a:lnSpc>
              <a:buNone/>
            </a:pPr>
            <a:r>
              <a:rPr lang="en-US" sz="850" dirty="0">
                <a:solidFill>
                  <a:srgbClr val="2B333E"/>
                </a:solidFill>
                <a:latin typeface="Poppins" pitchFamily="34" charset="0"/>
                <a:ea typeface="Poppins" pitchFamily="34" charset="-122"/>
                <a:cs typeface="Poppins" pitchFamily="34" charset="-120"/>
              </a:rPr>
              <a:t>Blue-chip client base including Heineken, Roche, Kraft Heinz and Cargill</a:t>
            </a:r>
            <a:endParaRPr lang="en-US" sz="850" dirty="0"/>
          </a:p>
        </p:txBody>
      </p:sp>
      <p:sp>
        <p:nvSpPr>
          <p:cNvPr id="15" name="Shape 11"/>
          <p:cNvSpPr/>
          <p:nvPr/>
        </p:nvSpPr>
        <p:spPr>
          <a:xfrm rot="5400000">
            <a:off x="1042416" y="3904488"/>
            <a:ext cx="128016" cy="128016"/>
          </a:xfrm>
          <a:prstGeom prst="triangle">
            <a:avLst/>
          </a:prstGeom>
          <a:solidFill>
            <a:srgbClr val="F35B1A"/>
          </a:solidFill>
          <a:ln/>
        </p:spPr>
      </p:sp>
      <p:sp>
        <p:nvSpPr>
          <p:cNvPr id="16" name="Text 12"/>
          <p:cNvSpPr/>
          <p:nvPr/>
        </p:nvSpPr>
        <p:spPr>
          <a:xfrm>
            <a:off x="1298448" y="3822192"/>
            <a:ext cx="4352544" cy="438912"/>
          </a:xfrm>
          <a:prstGeom prst="rect">
            <a:avLst/>
          </a:prstGeom>
          <a:noFill/>
          <a:ln/>
        </p:spPr>
        <p:txBody>
          <a:bodyPr wrap="square" lIns="0" tIns="0" rIns="0" bIns="0" rtlCol="0" anchor="t"/>
          <a:lstStyle/>
          <a:p>
            <a:pPr indent="0" marL="0">
              <a:lnSpc>
                <a:spcPct val="114000"/>
              </a:lnSpc>
              <a:buNone/>
            </a:pPr>
            <a:r>
              <a:rPr lang="en-US" sz="850" dirty="0">
                <a:solidFill>
                  <a:srgbClr val="2B333E"/>
                </a:solidFill>
                <a:latin typeface="Poppins" pitchFamily="34" charset="0"/>
                <a:ea typeface="Poppins" pitchFamily="34" charset="-122"/>
                <a:cs typeface="Poppins" pitchFamily="34" charset="-120"/>
              </a:rPr>
              <a:t>Long-term contracts (3–5 years) with price-adjustment mechanisms</a:t>
            </a:r>
            <a:endParaRPr lang="en-US" sz="850" dirty="0"/>
          </a:p>
        </p:txBody>
      </p:sp>
      <p:sp>
        <p:nvSpPr>
          <p:cNvPr id="17" name="Shape 13"/>
          <p:cNvSpPr/>
          <p:nvPr/>
        </p:nvSpPr>
        <p:spPr>
          <a:xfrm rot="5400000">
            <a:off x="1042416" y="4389120"/>
            <a:ext cx="128016" cy="128016"/>
          </a:xfrm>
          <a:prstGeom prst="triangle">
            <a:avLst/>
          </a:prstGeom>
          <a:solidFill>
            <a:srgbClr val="F35B1A"/>
          </a:solidFill>
          <a:ln/>
        </p:spPr>
      </p:sp>
      <p:sp>
        <p:nvSpPr>
          <p:cNvPr id="18" name="Text 14"/>
          <p:cNvSpPr/>
          <p:nvPr/>
        </p:nvSpPr>
        <p:spPr>
          <a:xfrm>
            <a:off x="1298448" y="4306824"/>
            <a:ext cx="4352544" cy="438912"/>
          </a:xfrm>
          <a:prstGeom prst="rect">
            <a:avLst/>
          </a:prstGeom>
          <a:noFill/>
          <a:ln/>
        </p:spPr>
        <p:txBody>
          <a:bodyPr wrap="square" lIns="0" tIns="0" rIns="0" bIns="0" rtlCol="0" anchor="t"/>
          <a:lstStyle/>
          <a:p>
            <a:pPr indent="0" marL="0">
              <a:lnSpc>
                <a:spcPct val="114000"/>
              </a:lnSpc>
              <a:buNone/>
            </a:pPr>
            <a:r>
              <a:rPr lang="en-US" sz="850" dirty="0">
                <a:solidFill>
                  <a:srgbClr val="2B333E"/>
                </a:solidFill>
                <a:latin typeface="Poppins" pitchFamily="34" charset="0"/>
                <a:ea typeface="Poppins" pitchFamily="34" charset="-122"/>
                <a:cs typeface="Poppins" pitchFamily="34" charset="-120"/>
              </a:rPr>
              <a:t>Driven by clients' operational needs and NR-31 compliance requirements</a:t>
            </a:r>
            <a:endParaRPr lang="en-US" sz="850" dirty="0"/>
          </a:p>
        </p:txBody>
      </p:sp>
      <p:sp>
        <p:nvSpPr>
          <p:cNvPr id="19" name="Shape 15"/>
          <p:cNvSpPr/>
          <p:nvPr/>
        </p:nvSpPr>
        <p:spPr>
          <a:xfrm>
            <a:off x="6227064" y="1828800"/>
            <a:ext cx="5230368" cy="3063240"/>
          </a:xfrm>
          <a:prstGeom prst="roundRect">
            <a:avLst>
              <a:gd name="adj" fmla="val 2985"/>
            </a:avLst>
          </a:prstGeom>
          <a:solidFill>
            <a:srgbClr val="FDE9DE"/>
          </a:solidFill>
          <a:ln/>
        </p:spPr>
      </p:sp>
      <p:sp>
        <p:nvSpPr>
          <p:cNvPr id="20" name="Shape 16"/>
          <p:cNvSpPr/>
          <p:nvPr/>
        </p:nvSpPr>
        <p:spPr>
          <a:xfrm>
            <a:off x="6501384" y="2103120"/>
            <a:ext cx="512064" cy="512064"/>
          </a:xfrm>
          <a:prstGeom prst="ellipse">
            <a:avLst/>
          </a:prstGeom>
          <a:solidFill>
            <a:srgbClr val="FFFFFF"/>
          </a:solidFill>
          <a:ln/>
        </p:spPr>
      </p:sp>
      <p:pic>
        <p:nvPicPr>
          <p:cNvPr id="21" name="Image 2" descr="assets/icons/home_orange.png">    </p:cNvPr>
          <p:cNvPicPr>
            <a:picLocks noChangeAspect="1"/>
          </p:cNvPicPr>
          <p:nvPr/>
        </p:nvPicPr>
        <p:blipFill>
          <a:blip r:embed="rId3"/>
          <a:stretch>
            <a:fillRect/>
          </a:stretch>
        </p:blipFill>
        <p:spPr>
          <a:xfrm>
            <a:off x="6639641" y="2241377"/>
            <a:ext cx="235549" cy="235549"/>
          </a:xfrm>
          <a:prstGeom prst="rect">
            <a:avLst/>
          </a:prstGeom>
        </p:spPr>
      </p:pic>
      <p:sp>
        <p:nvSpPr>
          <p:cNvPr id="22" name="Text 17"/>
          <p:cNvSpPr/>
          <p:nvPr/>
        </p:nvSpPr>
        <p:spPr>
          <a:xfrm>
            <a:off x="7141464" y="2121408"/>
            <a:ext cx="4041648" cy="475488"/>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Condominium &amp; urban mobility</a:t>
            </a:r>
            <a:endParaRPr lang="en-US" sz="1200" dirty="0"/>
          </a:p>
        </p:txBody>
      </p:sp>
      <p:sp>
        <p:nvSpPr>
          <p:cNvPr id="23" name="Text 18"/>
          <p:cNvSpPr/>
          <p:nvPr/>
        </p:nvSpPr>
        <p:spPr>
          <a:xfrm>
            <a:off x="6519672" y="2724912"/>
            <a:ext cx="4645152" cy="548640"/>
          </a:xfrm>
          <a:prstGeom prst="rect">
            <a:avLst/>
          </a:prstGeom>
          <a:noFill/>
          <a:ln/>
        </p:spPr>
        <p:txBody>
          <a:bodyPr wrap="square" lIns="0" tIns="0" rIns="0" bIns="0" rtlCol="0" anchor="t"/>
          <a:lstStyle/>
          <a:p>
            <a:pPr indent="0" marL="0">
              <a:lnSpc>
                <a:spcPct val="116000"/>
              </a:lnSpc>
              <a:buNone/>
            </a:pPr>
            <a:r>
              <a:rPr lang="en-US" sz="900" dirty="0">
                <a:solidFill>
                  <a:srgbClr val="6C7683"/>
                </a:solidFill>
                <a:latin typeface="Poppins" pitchFamily="34" charset="0"/>
                <a:ea typeface="Poppins" pitchFamily="34" charset="-122"/>
                <a:cs typeface="Poppins" pitchFamily="34" charset="-120"/>
              </a:rPr>
              <a:t>Transportation for residents of condominiums, extending the platform beyond the corporate segment using the same operating base</a:t>
            </a:r>
            <a:endParaRPr lang="en-US" sz="900" dirty="0"/>
          </a:p>
        </p:txBody>
      </p:sp>
      <p:sp>
        <p:nvSpPr>
          <p:cNvPr id="24" name="Shape 19"/>
          <p:cNvSpPr/>
          <p:nvPr/>
        </p:nvSpPr>
        <p:spPr>
          <a:xfrm rot="5400000">
            <a:off x="6537960" y="3419856"/>
            <a:ext cx="128016" cy="128016"/>
          </a:xfrm>
          <a:prstGeom prst="triangle">
            <a:avLst/>
          </a:prstGeom>
          <a:solidFill>
            <a:srgbClr val="F35B1A"/>
          </a:solidFill>
          <a:ln/>
        </p:spPr>
      </p:sp>
      <p:sp>
        <p:nvSpPr>
          <p:cNvPr id="25" name="Text 20"/>
          <p:cNvSpPr/>
          <p:nvPr/>
        </p:nvSpPr>
        <p:spPr>
          <a:xfrm>
            <a:off x="6793992" y="3337560"/>
            <a:ext cx="4352544" cy="438912"/>
          </a:xfrm>
          <a:prstGeom prst="rect">
            <a:avLst/>
          </a:prstGeom>
          <a:noFill/>
          <a:ln/>
        </p:spPr>
        <p:txBody>
          <a:bodyPr wrap="square" lIns="0" tIns="0" rIns="0" bIns="0" rtlCol="0" anchor="t"/>
          <a:lstStyle/>
          <a:p>
            <a:pPr indent="0" marL="0">
              <a:lnSpc>
                <a:spcPct val="114000"/>
              </a:lnSpc>
              <a:buNone/>
            </a:pPr>
            <a:r>
              <a:rPr lang="en-US" sz="850" dirty="0">
                <a:solidFill>
                  <a:srgbClr val="2B333E"/>
                </a:solidFill>
                <a:latin typeface="Poppins" pitchFamily="34" charset="0"/>
                <a:ea typeface="Poppins" pitchFamily="34" charset="-122"/>
                <a:cs typeface="Poppins" pitchFamily="34" charset="-120"/>
              </a:rPr>
              <a:t>Same fleet, operational bases and monitoring standards</a:t>
            </a:r>
            <a:endParaRPr lang="en-US" sz="850" dirty="0"/>
          </a:p>
        </p:txBody>
      </p:sp>
      <p:sp>
        <p:nvSpPr>
          <p:cNvPr id="26" name="Shape 21"/>
          <p:cNvSpPr/>
          <p:nvPr/>
        </p:nvSpPr>
        <p:spPr>
          <a:xfrm rot="5400000">
            <a:off x="6537960" y="3904488"/>
            <a:ext cx="128016" cy="128016"/>
          </a:xfrm>
          <a:prstGeom prst="triangle">
            <a:avLst/>
          </a:prstGeom>
          <a:solidFill>
            <a:srgbClr val="F35B1A"/>
          </a:solidFill>
          <a:ln/>
        </p:spPr>
      </p:sp>
      <p:sp>
        <p:nvSpPr>
          <p:cNvPr id="27" name="Text 22"/>
          <p:cNvSpPr/>
          <p:nvPr/>
        </p:nvSpPr>
        <p:spPr>
          <a:xfrm>
            <a:off x="6793992" y="3822192"/>
            <a:ext cx="4352544" cy="438912"/>
          </a:xfrm>
          <a:prstGeom prst="rect">
            <a:avLst/>
          </a:prstGeom>
          <a:noFill/>
          <a:ln/>
        </p:spPr>
        <p:txBody>
          <a:bodyPr wrap="square" lIns="0" tIns="0" rIns="0" bIns="0" rtlCol="0" anchor="t"/>
          <a:lstStyle/>
          <a:p>
            <a:pPr indent="0" marL="0">
              <a:lnSpc>
                <a:spcPct val="114000"/>
              </a:lnSpc>
              <a:buNone/>
            </a:pPr>
            <a:r>
              <a:rPr lang="en-US" sz="850" dirty="0">
                <a:solidFill>
                  <a:srgbClr val="2B333E"/>
                </a:solidFill>
                <a:latin typeface="Poppins" pitchFamily="34" charset="0"/>
                <a:ea typeface="Poppins" pitchFamily="34" charset="-122"/>
                <a:cs typeface="Poppins" pitchFamily="34" charset="-120"/>
              </a:rPr>
              <a:t>Broadens the addressable market beyond corporate contracts</a:t>
            </a:r>
            <a:endParaRPr lang="en-US" sz="850" dirty="0"/>
          </a:p>
        </p:txBody>
      </p:sp>
      <p:sp>
        <p:nvSpPr>
          <p:cNvPr id="28" name="Shape 23"/>
          <p:cNvSpPr/>
          <p:nvPr/>
        </p:nvSpPr>
        <p:spPr>
          <a:xfrm rot="5400000">
            <a:off x="6537960" y="4389120"/>
            <a:ext cx="128016" cy="128016"/>
          </a:xfrm>
          <a:prstGeom prst="triangle">
            <a:avLst/>
          </a:prstGeom>
          <a:solidFill>
            <a:srgbClr val="F35B1A"/>
          </a:solidFill>
          <a:ln/>
        </p:spPr>
      </p:sp>
      <p:sp>
        <p:nvSpPr>
          <p:cNvPr id="29" name="Text 24"/>
          <p:cNvSpPr/>
          <p:nvPr/>
        </p:nvSpPr>
        <p:spPr>
          <a:xfrm>
            <a:off x="6793992" y="4306824"/>
            <a:ext cx="4352544" cy="438912"/>
          </a:xfrm>
          <a:prstGeom prst="rect">
            <a:avLst/>
          </a:prstGeom>
          <a:noFill/>
          <a:ln/>
        </p:spPr>
        <p:txBody>
          <a:bodyPr wrap="square" lIns="0" tIns="0" rIns="0" bIns="0" rtlCol="0" anchor="t"/>
          <a:lstStyle/>
          <a:p>
            <a:pPr indent="0" marL="0">
              <a:lnSpc>
                <a:spcPct val="114000"/>
              </a:lnSpc>
              <a:buNone/>
            </a:pPr>
            <a:r>
              <a:rPr lang="en-US" sz="850" dirty="0">
                <a:solidFill>
                  <a:srgbClr val="2B333E"/>
                </a:solidFill>
                <a:latin typeface="Poppins" pitchFamily="34" charset="0"/>
                <a:ea typeface="Poppins" pitchFamily="34" charset="-122"/>
                <a:cs typeface="Poppins" pitchFamily="34" charset="-120"/>
              </a:rPr>
              <a:t>Segment economics to be confirmed with management</a:t>
            </a:r>
            <a:endParaRPr lang="en-US" sz="850" dirty="0"/>
          </a:p>
        </p:txBody>
      </p:sp>
      <p:sp>
        <p:nvSpPr>
          <p:cNvPr id="30" name="Shape 25"/>
          <p:cNvSpPr/>
          <p:nvPr/>
        </p:nvSpPr>
        <p:spPr>
          <a:xfrm>
            <a:off x="0" y="6172200"/>
            <a:ext cx="12191695" cy="685800"/>
          </a:xfrm>
          <a:prstGeom prst="rect">
            <a:avLst/>
          </a:prstGeom>
          <a:solidFill>
            <a:srgbClr val="141A24"/>
          </a:solidFill>
          <a:ln/>
        </p:spPr>
      </p:sp>
      <p:sp>
        <p:nvSpPr>
          <p:cNvPr id="31" name="Shape 26"/>
          <p:cNvSpPr/>
          <p:nvPr/>
        </p:nvSpPr>
        <p:spPr>
          <a:xfrm>
            <a:off x="0" y="6172200"/>
            <a:ext cx="118872" cy="685800"/>
          </a:xfrm>
          <a:prstGeom prst="rect">
            <a:avLst/>
          </a:prstGeom>
          <a:solidFill>
            <a:srgbClr val="F35B1A"/>
          </a:solidFill>
          <a:ln/>
        </p:spPr>
      </p:sp>
      <p:sp>
        <p:nvSpPr>
          <p:cNvPr id="32" name="Text 27"/>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One platform,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two demand pools</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 corporate contracts and condominium mobility</a:t>
            </a:r>
            <a:endParaRPr lang="en-US" sz="1200" dirty="0"/>
          </a:p>
        </p:txBody>
      </p:sp>
      <p:pic>
        <p:nvPicPr>
          <p:cNvPr id="33" name="Image 3" descr="assets/igc_white.png">    </p:cNvPr>
          <p:cNvPicPr>
            <a:picLocks noChangeAspect="1"/>
          </p:cNvPicPr>
          <p:nvPr/>
        </p:nvPicPr>
        <p:blipFill>
          <a:blip r:embed="rId4"/>
          <a:stretch>
            <a:fillRect/>
          </a:stretch>
        </p:blipFill>
        <p:spPr>
          <a:xfrm>
            <a:off x="731520" y="6387084"/>
            <a:ext cx="274320" cy="237134"/>
          </a:xfrm>
          <a:prstGeom prst="rect">
            <a:avLst/>
          </a:prstGeom>
        </p:spPr>
      </p:pic>
      <p:sp>
        <p:nvSpPr>
          <p:cNvPr id="34" name="Text 28"/>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6</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325880" cy="310896"/>
          </a:xfrm>
          <a:prstGeom prst="roundRect">
            <a:avLst>
              <a:gd name="adj" fmla="val 25000"/>
            </a:avLst>
          </a:prstGeom>
          <a:solidFill>
            <a:srgbClr val="FDE9DE"/>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Recent momentum across both operating entities</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Gross revenue grew +41.3% year-on-year in the first quarter, with both operating entities expanding</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1Q gross revenue by operating entity, 1Q26 vs. 1Q25. Entity-level scope of operations to be confirmed with management.</a:t>
            </a:r>
            <a:endParaRPr lang="en-US" sz="700" dirty="0"/>
          </a:p>
        </p:txBody>
      </p:sp>
      <p:sp>
        <p:nvSpPr>
          <p:cNvPr id="8" name="Shape 5"/>
          <p:cNvSpPr/>
          <p:nvPr/>
        </p:nvSpPr>
        <p:spPr>
          <a:xfrm>
            <a:off x="731520" y="1783080"/>
            <a:ext cx="6675120" cy="3886200"/>
          </a:xfrm>
          <a:prstGeom prst="roundRect">
            <a:avLst>
              <a:gd name="adj" fmla="val 2118"/>
            </a:avLst>
          </a:prstGeom>
          <a:solidFill>
            <a:srgbClr val="F4F6F8"/>
          </a:solidFill>
          <a:ln w="12700">
            <a:solidFill>
              <a:srgbClr val="E2E6EB"/>
            </a:solidFill>
            <a:prstDash val="solid"/>
          </a:ln>
        </p:spPr>
      </p:sp>
      <p:sp>
        <p:nvSpPr>
          <p:cNvPr id="9" name="Text 6"/>
          <p:cNvSpPr/>
          <p:nvPr/>
        </p:nvSpPr>
        <p:spPr>
          <a:xfrm>
            <a:off x="1024128" y="1938528"/>
            <a:ext cx="5120640" cy="274320"/>
          </a:xfrm>
          <a:prstGeom prst="rect">
            <a:avLst/>
          </a:prstGeom>
          <a:noFill/>
          <a:ln/>
        </p:spPr>
        <p:txBody>
          <a:bodyPr wrap="square" lIns="0" tIns="0" rIns="0" bIns="0" rtlCol="0" anchor="ctr"/>
          <a:lstStyle/>
          <a:p>
            <a:pPr indent="0" marL="0">
              <a:buNone/>
            </a:pPr>
            <a:r>
              <a:rPr lang="en-US" sz="1000" dirty="0">
                <a:solidFill>
                  <a:srgbClr val="141A24"/>
                </a:solidFill>
                <a:latin typeface="Poppins SemiBold" pitchFamily="34" charset="0"/>
                <a:ea typeface="Poppins SemiBold" pitchFamily="34" charset="-122"/>
                <a:cs typeface="Poppins SemiBold" pitchFamily="34" charset="-120"/>
              </a:rPr>
              <a:t>Gross revenue by operating entity — 1Q25 vs. 1Q26</a:t>
            </a:r>
            <a:endParaRPr lang="en-US" sz="1000" dirty="0"/>
          </a:p>
        </p:txBody>
      </p:sp>
      <p:sp>
        <p:nvSpPr>
          <p:cNvPr id="10" name="Text 7"/>
          <p:cNvSpPr/>
          <p:nvPr/>
        </p:nvSpPr>
        <p:spPr>
          <a:xfrm>
            <a:off x="1024128" y="2212848"/>
            <a:ext cx="1828800" cy="20116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BRL Mn</a:t>
            </a:r>
            <a:endParaRPr lang="en-US" sz="800" dirty="0"/>
          </a:p>
        </p:txBody>
      </p:sp>
      <p:sp>
        <p:nvSpPr>
          <p:cNvPr id="11" name="Shape 8"/>
          <p:cNvSpPr/>
          <p:nvPr/>
        </p:nvSpPr>
        <p:spPr>
          <a:xfrm>
            <a:off x="5870448" y="1920240"/>
            <a:ext cx="1371600" cy="384048"/>
          </a:xfrm>
          <a:prstGeom prst="roundRect">
            <a:avLst>
              <a:gd name="adj" fmla="val 19048"/>
            </a:avLst>
          </a:prstGeom>
          <a:solidFill>
            <a:srgbClr val="F35B1A"/>
          </a:solidFill>
          <a:ln/>
        </p:spPr>
      </p:sp>
      <p:sp>
        <p:nvSpPr>
          <p:cNvPr id="12" name="Text 9"/>
          <p:cNvSpPr/>
          <p:nvPr/>
        </p:nvSpPr>
        <p:spPr>
          <a:xfrm>
            <a:off x="5870448" y="1920240"/>
            <a:ext cx="137160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+41.3% YoY</a:t>
            </a:r>
            <a:endParaRPr lang="en-US" sz="1000" dirty="0"/>
          </a:p>
        </p:txBody>
      </p:sp>
      <p:graphicFrame>
        <p:nvGraphicFramePr>
          <p:cNvPr id="13" name="Chart 0" descr=""/>
          <p:cNvGraphicFramePr/>
          <p:nvPr/>
        </p:nvGraphicFramePr>
        <p:xfrm>
          <a:off x="1005840" y="2487168"/>
          <a:ext cx="6126480" cy="297180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7680960" y="1783080"/>
            <a:ext cx="3779215" cy="1874520"/>
          </a:xfrm>
          <a:prstGeom prst="roundRect">
            <a:avLst>
              <a:gd name="adj" fmla="val 4390"/>
            </a:avLst>
          </a:prstGeom>
          <a:solidFill>
            <a:srgbClr val="F4F6F8"/>
          </a:solidFill>
          <a:ln w="12700">
            <a:solidFill>
              <a:srgbClr val="E2E6EB"/>
            </a:solidFill>
            <a:prstDash val="solid"/>
          </a:ln>
        </p:spPr>
      </p:sp>
      <p:sp>
        <p:nvSpPr>
          <p:cNvPr id="15" name="Text 11"/>
          <p:cNvSpPr/>
          <p:nvPr/>
        </p:nvSpPr>
        <p:spPr>
          <a:xfrm>
            <a:off x="7936992" y="1965960"/>
            <a:ext cx="3267151" cy="274320"/>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AGM Caetano</a:t>
            </a:r>
            <a:endParaRPr lang="en-US" sz="1200" dirty="0"/>
          </a:p>
        </p:txBody>
      </p:sp>
      <p:sp>
        <p:nvSpPr>
          <p:cNvPr id="16" name="Text 12"/>
          <p:cNvSpPr/>
          <p:nvPr/>
        </p:nvSpPr>
        <p:spPr>
          <a:xfrm>
            <a:off x="7936992" y="2258568"/>
            <a:ext cx="3267151" cy="219456"/>
          </a:xfrm>
          <a:prstGeom prst="rect">
            <a:avLst/>
          </a:prstGeom>
          <a:noFill/>
          <a:ln/>
        </p:spPr>
        <p:txBody>
          <a:bodyPr wrap="square" lIns="0" tIns="0" rIns="0" bIns="0" rtlCol="0" anchor="ctr"/>
          <a:lstStyle/>
          <a:p>
            <a:pPr indent="0" marL="0">
              <a:buNone/>
            </a:pPr>
            <a:r>
              <a:rPr lang="en-US" sz="850" dirty="0">
                <a:solidFill>
                  <a:srgbClr val="6C7683"/>
                </a:solidFill>
                <a:latin typeface="Poppins" pitchFamily="34" charset="0"/>
                <a:ea typeface="Poppins" pitchFamily="34" charset="-122"/>
                <a:cs typeface="Poppins" pitchFamily="34" charset="-120"/>
              </a:rPr>
              <a:t>Core operating entity</a:t>
            </a:r>
            <a:endParaRPr lang="en-US" sz="850" dirty="0"/>
          </a:p>
        </p:txBody>
      </p:sp>
      <p:sp>
        <p:nvSpPr>
          <p:cNvPr id="17" name="Text 13"/>
          <p:cNvSpPr/>
          <p:nvPr/>
        </p:nvSpPr>
        <p:spPr>
          <a:xfrm>
            <a:off x="7936992" y="2715768"/>
            <a:ext cx="3267151" cy="329184"/>
          </a:xfrm>
          <a:prstGeom prst="rect">
            <a:avLst/>
          </a:prstGeom>
          <a:noFill/>
          <a:ln/>
        </p:spPr>
        <p:txBody>
          <a:bodyPr wrap="square" lIns="0" tIns="0" rIns="0" bIns="0" rtlCol="0" anchor="ctr"/>
          <a:lstStyle/>
          <a:p>
            <a:pPr indent="0" marL="0">
              <a:buNone/>
            </a:pPr>
            <a:r>
              <a:rPr lang="en-US" sz="1500" dirty="0">
                <a:solidFill>
                  <a:srgbClr val="141A24"/>
                </a:solidFill>
                <a:latin typeface="Poppins SemiBold" pitchFamily="34" charset="0"/>
                <a:ea typeface="Poppins SemiBold" pitchFamily="34" charset="-122"/>
                <a:cs typeface="Poppins SemiBold" pitchFamily="34" charset="-120"/>
              </a:rPr>
              <a:t>BRL 36.2 Mn</a:t>
            </a:r>
            <a:pPr indent="0" marL="0">
              <a:buNone/>
            </a:pPr>
            <a:r>
              <a:rPr lang="en-US" sz="800" dirty="0">
                <a:solidFill>
                  <a:srgbClr val="6C7683"/>
                </a:solidFill>
                <a:latin typeface="Poppins" pitchFamily="34" charset="0"/>
                <a:ea typeface="Poppins" pitchFamily="34" charset="-122"/>
                <a:cs typeface="Poppins" pitchFamily="34" charset="-120"/>
              </a:rPr>
              <a:t>   1Q26</a:t>
            </a:r>
            <a:endParaRPr lang="en-US" sz="1500" dirty="0"/>
          </a:p>
        </p:txBody>
      </p:sp>
      <p:sp>
        <p:nvSpPr>
          <p:cNvPr id="18" name="Shape 14"/>
          <p:cNvSpPr/>
          <p:nvPr/>
        </p:nvSpPr>
        <p:spPr>
          <a:xfrm>
            <a:off x="7936992" y="3136392"/>
            <a:ext cx="1051560" cy="292608"/>
          </a:xfrm>
          <a:prstGeom prst="roundRect">
            <a:avLst>
              <a:gd name="adj" fmla="val 18750"/>
            </a:avLst>
          </a:prstGeom>
          <a:solidFill>
            <a:srgbClr val="F35B1A"/>
          </a:solidFill>
          <a:ln/>
        </p:spPr>
      </p:sp>
      <p:sp>
        <p:nvSpPr>
          <p:cNvPr id="19" name="Text 15"/>
          <p:cNvSpPr/>
          <p:nvPr/>
        </p:nvSpPr>
        <p:spPr>
          <a:xfrm>
            <a:off x="7936992" y="3136392"/>
            <a:ext cx="10515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Poppins SemiBold" pitchFamily="34" charset="0"/>
                <a:ea typeface="Poppins SemiBold" pitchFamily="34" charset="-122"/>
                <a:cs typeface="Poppins SemiBold" pitchFamily="34" charset="-120"/>
              </a:rPr>
              <a:t>+36% YoY</a:t>
            </a:r>
            <a:endParaRPr lang="en-US" sz="900" dirty="0"/>
          </a:p>
        </p:txBody>
      </p:sp>
      <p:sp>
        <p:nvSpPr>
          <p:cNvPr id="20" name="Text 16"/>
          <p:cNvSpPr/>
          <p:nvPr/>
        </p:nvSpPr>
        <p:spPr>
          <a:xfrm>
            <a:off x="9070848" y="3136392"/>
            <a:ext cx="2133295" cy="29260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from BRL 26.6 Mn in 1Q25</a:t>
            </a:r>
            <a:endParaRPr lang="en-US" sz="800" dirty="0"/>
          </a:p>
        </p:txBody>
      </p:sp>
      <p:sp>
        <p:nvSpPr>
          <p:cNvPr id="21" name="Shape 17"/>
          <p:cNvSpPr/>
          <p:nvPr/>
        </p:nvSpPr>
        <p:spPr>
          <a:xfrm>
            <a:off x="7680960" y="3794760"/>
            <a:ext cx="3779215" cy="1874520"/>
          </a:xfrm>
          <a:prstGeom prst="roundRect">
            <a:avLst>
              <a:gd name="adj" fmla="val 4390"/>
            </a:avLst>
          </a:prstGeom>
          <a:solidFill>
            <a:srgbClr val="141A24"/>
          </a:solidFill>
          <a:ln/>
        </p:spPr>
      </p:sp>
      <p:sp>
        <p:nvSpPr>
          <p:cNvPr id="22" name="Text 18"/>
          <p:cNvSpPr/>
          <p:nvPr/>
        </p:nvSpPr>
        <p:spPr>
          <a:xfrm>
            <a:off x="7936992" y="3977640"/>
            <a:ext cx="3267151" cy="274320"/>
          </a:xfrm>
          <a:prstGeom prst="rect">
            <a:avLst/>
          </a:prstGeom>
          <a:noFill/>
          <a:ln/>
        </p:spPr>
        <p:txBody>
          <a:bodyPr wrap="square" lIns="0" tIns="0" rIns="0" bIns="0" rtlCol="0" anchor="ctr"/>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AGM Alpha</a:t>
            </a:r>
            <a:endParaRPr lang="en-US" sz="1200" dirty="0"/>
          </a:p>
        </p:txBody>
      </p:sp>
      <p:sp>
        <p:nvSpPr>
          <p:cNvPr id="23" name="Text 19"/>
          <p:cNvSpPr/>
          <p:nvPr/>
        </p:nvSpPr>
        <p:spPr>
          <a:xfrm>
            <a:off x="7936992" y="4270248"/>
            <a:ext cx="3267151" cy="219456"/>
          </a:xfrm>
          <a:prstGeom prst="rect">
            <a:avLst/>
          </a:prstGeom>
          <a:noFill/>
          <a:ln/>
        </p:spPr>
        <p:txBody>
          <a:bodyPr wrap="square" lIns="0" tIns="0" rIns="0" bIns="0" rtlCol="0" anchor="ctr"/>
          <a:lstStyle/>
          <a:p>
            <a:pPr indent="0" marL="0">
              <a:buNone/>
            </a:pPr>
            <a:r>
              <a:rPr lang="en-US" sz="850" dirty="0">
                <a:solidFill>
                  <a:srgbClr val="8B95A5"/>
                </a:solidFill>
                <a:latin typeface="Poppins" pitchFamily="34" charset="0"/>
                <a:ea typeface="Poppins" pitchFamily="34" charset="-122"/>
                <a:cs typeface="Poppins" pitchFamily="34" charset="-120"/>
              </a:rPr>
              <a:t>Matriz Brasília</a:t>
            </a:r>
            <a:endParaRPr lang="en-US" sz="850" dirty="0"/>
          </a:p>
        </p:txBody>
      </p:sp>
      <p:sp>
        <p:nvSpPr>
          <p:cNvPr id="24" name="Text 20"/>
          <p:cNvSpPr/>
          <p:nvPr/>
        </p:nvSpPr>
        <p:spPr>
          <a:xfrm>
            <a:off x="7936992" y="4727448"/>
            <a:ext cx="3267151" cy="329184"/>
          </a:xfrm>
          <a:prstGeom prst="rect">
            <a:avLst/>
          </a:prstGeom>
          <a:noFill/>
          <a:ln/>
        </p:spPr>
        <p:txBody>
          <a:bodyPr wrap="square" lIns="0" tIns="0" rIns="0" bIns="0"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BRL 7.3 Mn</a:t>
            </a:r>
            <a:pPr indent="0" marL="0">
              <a:buNone/>
            </a:pPr>
            <a:r>
              <a:rPr lang="en-US" sz="800" dirty="0">
                <a:solidFill>
                  <a:srgbClr val="8B95A5"/>
                </a:solidFill>
                <a:latin typeface="Poppins" pitchFamily="34" charset="0"/>
                <a:ea typeface="Poppins" pitchFamily="34" charset="-122"/>
                <a:cs typeface="Poppins" pitchFamily="34" charset="-120"/>
              </a:rPr>
              <a:t>   1Q26</a:t>
            </a:r>
            <a:endParaRPr lang="en-US" sz="1500" dirty="0"/>
          </a:p>
        </p:txBody>
      </p:sp>
      <p:sp>
        <p:nvSpPr>
          <p:cNvPr id="25" name="Shape 21"/>
          <p:cNvSpPr/>
          <p:nvPr/>
        </p:nvSpPr>
        <p:spPr>
          <a:xfrm>
            <a:off x="7936992" y="5148072"/>
            <a:ext cx="1051560" cy="292608"/>
          </a:xfrm>
          <a:prstGeom prst="roundRect">
            <a:avLst>
              <a:gd name="adj" fmla="val 18750"/>
            </a:avLst>
          </a:prstGeom>
          <a:solidFill>
            <a:srgbClr val="F35B1A"/>
          </a:solidFill>
          <a:ln/>
        </p:spPr>
      </p:sp>
      <p:sp>
        <p:nvSpPr>
          <p:cNvPr id="26" name="Text 22"/>
          <p:cNvSpPr/>
          <p:nvPr/>
        </p:nvSpPr>
        <p:spPr>
          <a:xfrm>
            <a:off x="7936992" y="5148072"/>
            <a:ext cx="10515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Poppins SemiBold" pitchFamily="34" charset="0"/>
                <a:ea typeface="Poppins SemiBold" pitchFamily="34" charset="-122"/>
                <a:cs typeface="Poppins SemiBold" pitchFamily="34" charset="-120"/>
              </a:rPr>
              <a:t>+74% YoY</a:t>
            </a:r>
            <a:endParaRPr lang="en-US" sz="900" dirty="0"/>
          </a:p>
        </p:txBody>
      </p:sp>
      <p:sp>
        <p:nvSpPr>
          <p:cNvPr id="27" name="Text 23"/>
          <p:cNvSpPr/>
          <p:nvPr/>
        </p:nvSpPr>
        <p:spPr>
          <a:xfrm>
            <a:off x="9070848" y="5148072"/>
            <a:ext cx="2133295" cy="29260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from BRL 4.2 Mn in 1Q25</a:t>
            </a:r>
            <a:endParaRPr lang="en-US" sz="800" dirty="0"/>
          </a:p>
        </p:txBody>
      </p:sp>
      <p:sp>
        <p:nvSpPr>
          <p:cNvPr id="28" name="Shape 24"/>
          <p:cNvSpPr/>
          <p:nvPr/>
        </p:nvSpPr>
        <p:spPr>
          <a:xfrm>
            <a:off x="0" y="6172200"/>
            <a:ext cx="12191695" cy="685800"/>
          </a:xfrm>
          <a:prstGeom prst="rect">
            <a:avLst/>
          </a:prstGeom>
          <a:solidFill>
            <a:srgbClr val="141A24"/>
          </a:solidFill>
          <a:ln/>
        </p:spPr>
      </p:sp>
      <p:sp>
        <p:nvSpPr>
          <p:cNvPr id="29" name="Shape 25"/>
          <p:cNvSpPr/>
          <p:nvPr/>
        </p:nvSpPr>
        <p:spPr>
          <a:xfrm>
            <a:off x="0" y="6172200"/>
            <a:ext cx="118872" cy="685800"/>
          </a:xfrm>
          <a:prstGeom prst="rect">
            <a:avLst/>
          </a:prstGeom>
          <a:solidFill>
            <a:srgbClr val="F35B1A"/>
          </a:solidFill>
          <a:ln/>
        </p:spPr>
      </p:sp>
      <p:sp>
        <p:nvSpPr>
          <p:cNvPr id="30" name="Text 26"/>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Both entities growing — a combined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+41.3% YoY</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in 1Q gross revenue</a:t>
            </a:r>
            <a:endParaRPr lang="en-US" sz="1200" dirty="0"/>
          </a:p>
        </p:txBody>
      </p:sp>
      <p:pic>
        <p:nvPicPr>
          <p:cNvPr id="31" name="Image 1" descr="assets/igc_white.png">    </p:cNvPr>
          <p:cNvPicPr>
            <a:picLocks noChangeAspect="1"/>
          </p:cNvPicPr>
          <p:nvPr/>
        </p:nvPicPr>
        <p:blipFill>
          <a:blip r:embed="rId3"/>
          <a:stretch>
            <a:fillRect/>
          </a:stretch>
        </p:blipFill>
        <p:spPr>
          <a:xfrm>
            <a:off x="731520" y="6387084"/>
            <a:ext cx="274320" cy="237134"/>
          </a:xfrm>
          <a:prstGeom prst="rect">
            <a:avLst/>
          </a:prstGeom>
        </p:spPr>
      </p:pic>
      <p:sp>
        <p:nvSpPr>
          <p:cNvPr id="32" name="Text 27"/>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7</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325880" cy="310896"/>
          </a:xfrm>
          <a:prstGeom prst="roundRect">
            <a:avLst>
              <a:gd name="adj" fmla="val 25000"/>
            </a:avLst>
          </a:prstGeom>
          <a:solidFill>
            <a:srgbClr val="FDE9DE"/>
          </a:solidFill>
          <a:ln/>
        </p:spPr>
      </p:sp>
      <p:sp>
        <p:nvSpPr>
          <p:cNvPr id="4" name="Text 1"/>
          <p:cNvSpPr/>
          <p:nvPr/>
        </p:nvSpPr>
        <p:spPr>
          <a:xfrm>
            <a:off x="731520" y="310896"/>
            <a:ext cx="1325880"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A structurally supported corporate mobility market</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Demand for outsourced employee transportation is underpinned by regulation, labour scarcity and client operating needs</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press research. NR-31 = Brazilian rural-labour safety regulation governing worker transport. Market sizing and share data to be developed with management.</a:t>
            </a:r>
            <a:endParaRPr lang="en-US" sz="700" dirty="0"/>
          </a:p>
        </p:txBody>
      </p:sp>
      <p:sp>
        <p:nvSpPr>
          <p:cNvPr id="8" name="Shape 5"/>
          <p:cNvSpPr/>
          <p:nvPr/>
        </p:nvSpPr>
        <p:spPr>
          <a:xfrm>
            <a:off x="731520" y="1828800"/>
            <a:ext cx="2517572" cy="3127248"/>
          </a:xfrm>
          <a:prstGeom prst="roundRect">
            <a:avLst>
              <a:gd name="adj" fmla="val 3269"/>
            </a:avLst>
          </a:prstGeom>
          <a:solidFill>
            <a:srgbClr val="F4F6F8"/>
          </a:solidFill>
          <a:ln w="12700">
            <a:solidFill>
              <a:srgbClr val="E2E6EB"/>
            </a:solidFill>
            <a:prstDash val="solid"/>
          </a:ln>
        </p:spPr>
      </p:sp>
      <p:sp>
        <p:nvSpPr>
          <p:cNvPr id="9" name="Shape 6"/>
          <p:cNvSpPr/>
          <p:nvPr/>
        </p:nvSpPr>
        <p:spPr>
          <a:xfrm>
            <a:off x="731520" y="1828800"/>
            <a:ext cx="2517572" cy="41148"/>
          </a:xfrm>
          <a:prstGeom prst="rect">
            <a:avLst/>
          </a:prstGeom>
          <a:solidFill>
            <a:srgbClr val="F35B1A"/>
          </a:solidFill>
          <a:ln/>
        </p:spPr>
      </p:sp>
      <p:sp>
        <p:nvSpPr>
          <p:cNvPr id="10" name="Shape 7"/>
          <p:cNvSpPr/>
          <p:nvPr/>
        </p:nvSpPr>
        <p:spPr>
          <a:xfrm>
            <a:off x="950976" y="2103120"/>
            <a:ext cx="457200" cy="457200"/>
          </a:xfrm>
          <a:prstGeom prst="ellipse">
            <a:avLst/>
          </a:prstGeom>
          <a:solidFill>
            <a:srgbClr val="FDE9DE"/>
          </a:solidFill>
          <a:ln/>
        </p:spPr>
      </p:sp>
      <p:pic>
        <p:nvPicPr>
          <p:cNvPr id="11" name="Image 1" descr="assets/icons/shield_orange.png">    </p:cNvPr>
          <p:cNvPicPr>
            <a:picLocks noChangeAspect="1"/>
          </p:cNvPicPr>
          <p:nvPr/>
        </p:nvPicPr>
        <p:blipFill>
          <a:blip r:embed="rId2"/>
          <a:stretch>
            <a:fillRect/>
          </a:stretch>
        </p:blipFill>
        <p:spPr>
          <a:xfrm>
            <a:off x="1074420" y="2226564"/>
            <a:ext cx="210312" cy="210312"/>
          </a:xfrm>
          <a:prstGeom prst="rect">
            <a:avLst/>
          </a:prstGeom>
        </p:spPr>
      </p:pic>
      <p:sp>
        <p:nvSpPr>
          <p:cNvPr id="12" name="Text 8"/>
          <p:cNvSpPr/>
          <p:nvPr/>
        </p:nvSpPr>
        <p:spPr>
          <a:xfrm>
            <a:off x="932688" y="2670048"/>
            <a:ext cx="2115236" cy="457200"/>
          </a:xfrm>
          <a:prstGeom prst="rect">
            <a:avLst/>
          </a:prstGeom>
          <a:noFill/>
          <a:ln/>
        </p:spPr>
        <p:txBody>
          <a:bodyPr wrap="square" lIns="0" tIns="0" rIns="0" bIns="0" rtlCol="0" anchor="t"/>
          <a:lstStyle/>
          <a:p>
            <a:pPr indent="0" marL="0">
              <a:lnSpc>
                <a:spcPct val="110000"/>
              </a:lnSpc>
              <a:buNone/>
            </a:pPr>
            <a:r>
              <a:rPr lang="en-US" sz="1000" dirty="0">
                <a:solidFill>
                  <a:srgbClr val="141A24"/>
                </a:solidFill>
                <a:latin typeface="Poppins SemiBold" pitchFamily="34" charset="0"/>
                <a:ea typeface="Poppins SemiBold" pitchFamily="34" charset="-122"/>
                <a:cs typeface="Poppins SemiBold" pitchFamily="34" charset="-120"/>
              </a:rPr>
              <a:t>Regulatory requirement</a:t>
            </a:r>
            <a:endParaRPr lang="en-US" sz="1000" dirty="0"/>
          </a:p>
        </p:txBody>
      </p:sp>
      <p:sp>
        <p:nvSpPr>
          <p:cNvPr id="13" name="Text 9"/>
          <p:cNvSpPr/>
          <p:nvPr/>
        </p:nvSpPr>
        <p:spPr>
          <a:xfrm>
            <a:off x="932688" y="3163824"/>
            <a:ext cx="2115236" cy="1645920"/>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NR-31 and related labour regulations require compliant employee transport where adequate public transit is unavailable, making the service non-discretionary for many industrial and agribusiness sites</a:t>
            </a:r>
            <a:endParaRPr lang="en-US" sz="800" dirty="0"/>
          </a:p>
        </p:txBody>
      </p:sp>
      <p:sp>
        <p:nvSpPr>
          <p:cNvPr id="14" name="Shape 10"/>
          <p:cNvSpPr/>
          <p:nvPr/>
        </p:nvSpPr>
        <p:spPr>
          <a:xfrm>
            <a:off x="3468548" y="1828800"/>
            <a:ext cx="2517572" cy="3127248"/>
          </a:xfrm>
          <a:prstGeom prst="roundRect">
            <a:avLst>
              <a:gd name="adj" fmla="val 3269"/>
            </a:avLst>
          </a:prstGeom>
          <a:solidFill>
            <a:srgbClr val="F4F6F8"/>
          </a:solidFill>
          <a:ln w="12700">
            <a:solidFill>
              <a:srgbClr val="E2E6EB"/>
            </a:solidFill>
            <a:prstDash val="solid"/>
          </a:ln>
        </p:spPr>
      </p:sp>
      <p:sp>
        <p:nvSpPr>
          <p:cNvPr id="15" name="Shape 11"/>
          <p:cNvSpPr/>
          <p:nvPr/>
        </p:nvSpPr>
        <p:spPr>
          <a:xfrm>
            <a:off x="3468548" y="1828800"/>
            <a:ext cx="2517572" cy="41148"/>
          </a:xfrm>
          <a:prstGeom prst="rect">
            <a:avLst/>
          </a:prstGeom>
          <a:solidFill>
            <a:srgbClr val="F35B1A"/>
          </a:solidFill>
          <a:ln/>
        </p:spPr>
      </p:sp>
      <p:sp>
        <p:nvSpPr>
          <p:cNvPr id="16" name="Shape 12"/>
          <p:cNvSpPr/>
          <p:nvPr/>
        </p:nvSpPr>
        <p:spPr>
          <a:xfrm>
            <a:off x="3688004" y="2103120"/>
            <a:ext cx="457200" cy="457200"/>
          </a:xfrm>
          <a:prstGeom prst="ellipse">
            <a:avLst/>
          </a:prstGeom>
          <a:solidFill>
            <a:srgbClr val="FDE9DE"/>
          </a:solidFill>
          <a:ln/>
        </p:spPr>
      </p:sp>
      <p:pic>
        <p:nvPicPr>
          <p:cNvPr id="17" name="Image 2" descr="assets/icons/users_orange.png">    </p:cNvPr>
          <p:cNvPicPr>
            <a:picLocks noChangeAspect="1"/>
          </p:cNvPicPr>
          <p:nvPr/>
        </p:nvPicPr>
        <p:blipFill>
          <a:blip r:embed="rId3"/>
          <a:stretch>
            <a:fillRect/>
          </a:stretch>
        </p:blipFill>
        <p:spPr>
          <a:xfrm>
            <a:off x="3811448" y="2226564"/>
            <a:ext cx="210312" cy="210312"/>
          </a:xfrm>
          <a:prstGeom prst="rect">
            <a:avLst/>
          </a:prstGeom>
        </p:spPr>
      </p:pic>
      <p:sp>
        <p:nvSpPr>
          <p:cNvPr id="18" name="Text 13"/>
          <p:cNvSpPr/>
          <p:nvPr/>
        </p:nvSpPr>
        <p:spPr>
          <a:xfrm>
            <a:off x="3669716" y="2670048"/>
            <a:ext cx="2115236" cy="457200"/>
          </a:xfrm>
          <a:prstGeom prst="rect">
            <a:avLst/>
          </a:prstGeom>
          <a:noFill/>
          <a:ln/>
        </p:spPr>
        <p:txBody>
          <a:bodyPr wrap="square" lIns="0" tIns="0" rIns="0" bIns="0" rtlCol="0" anchor="t"/>
          <a:lstStyle/>
          <a:p>
            <a:pPr indent="0" marL="0">
              <a:lnSpc>
                <a:spcPct val="110000"/>
              </a:lnSpc>
              <a:buNone/>
            </a:pPr>
            <a:r>
              <a:rPr lang="en-US" sz="1000" dirty="0">
                <a:solidFill>
                  <a:srgbClr val="141A24"/>
                </a:solidFill>
                <a:latin typeface="Poppins SemiBold" pitchFamily="34" charset="0"/>
                <a:ea typeface="Poppins SemiBold" pitchFamily="34" charset="-122"/>
                <a:cs typeface="Poppins SemiBold" pitchFamily="34" charset="-120"/>
              </a:rPr>
              <a:t>Professional driver shortage</a:t>
            </a:r>
            <a:endParaRPr lang="en-US" sz="1000" dirty="0"/>
          </a:p>
        </p:txBody>
      </p:sp>
      <p:sp>
        <p:nvSpPr>
          <p:cNvPr id="19" name="Text 14"/>
          <p:cNvSpPr/>
          <p:nvPr/>
        </p:nvSpPr>
        <p:spPr>
          <a:xfrm>
            <a:off x="3669716" y="3163824"/>
            <a:ext cx="2115236" cy="1645920"/>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A national shortage of qualified professional drivers raises the barrier to entry and favours operators that can recruit, train and retain drivers at scale</a:t>
            </a:r>
            <a:endParaRPr lang="en-US" sz="800" dirty="0"/>
          </a:p>
        </p:txBody>
      </p:sp>
      <p:sp>
        <p:nvSpPr>
          <p:cNvPr id="20" name="Shape 15"/>
          <p:cNvSpPr/>
          <p:nvPr/>
        </p:nvSpPr>
        <p:spPr>
          <a:xfrm>
            <a:off x="6205576" y="1828800"/>
            <a:ext cx="2517572" cy="3127248"/>
          </a:xfrm>
          <a:prstGeom prst="roundRect">
            <a:avLst>
              <a:gd name="adj" fmla="val 3269"/>
            </a:avLst>
          </a:prstGeom>
          <a:solidFill>
            <a:srgbClr val="F4F6F8"/>
          </a:solidFill>
          <a:ln w="12700">
            <a:solidFill>
              <a:srgbClr val="E2E6EB"/>
            </a:solidFill>
            <a:prstDash val="solid"/>
          </a:ln>
        </p:spPr>
      </p:sp>
      <p:sp>
        <p:nvSpPr>
          <p:cNvPr id="21" name="Shape 16"/>
          <p:cNvSpPr/>
          <p:nvPr/>
        </p:nvSpPr>
        <p:spPr>
          <a:xfrm>
            <a:off x="6205576" y="1828800"/>
            <a:ext cx="2517572" cy="41148"/>
          </a:xfrm>
          <a:prstGeom prst="rect">
            <a:avLst/>
          </a:prstGeom>
          <a:solidFill>
            <a:srgbClr val="F35B1A"/>
          </a:solidFill>
          <a:ln/>
        </p:spPr>
      </p:sp>
      <p:sp>
        <p:nvSpPr>
          <p:cNvPr id="22" name="Shape 17"/>
          <p:cNvSpPr/>
          <p:nvPr/>
        </p:nvSpPr>
        <p:spPr>
          <a:xfrm>
            <a:off x="6425032" y="2103120"/>
            <a:ext cx="457200" cy="457200"/>
          </a:xfrm>
          <a:prstGeom prst="ellipse">
            <a:avLst/>
          </a:prstGeom>
          <a:solidFill>
            <a:srgbClr val="FDE9DE"/>
          </a:solidFill>
          <a:ln/>
        </p:spPr>
      </p:sp>
      <p:pic>
        <p:nvPicPr>
          <p:cNvPr id="23" name="Image 3" descr="assets/icons/briefcase_orange.png">    </p:cNvPr>
          <p:cNvPicPr>
            <a:picLocks noChangeAspect="1"/>
          </p:cNvPicPr>
          <p:nvPr/>
        </p:nvPicPr>
        <p:blipFill>
          <a:blip r:embed="rId4"/>
          <a:stretch>
            <a:fillRect/>
          </a:stretch>
        </p:blipFill>
        <p:spPr>
          <a:xfrm>
            <a:off x="6548476" y="2226564"/>
            <a:ext cx="210312" cy="210312"/>
          </a:xfrm>
          <a:prstGeom prst="rect">
            <a:avLst/>
          </a:prstGeom>
        </p:spPr>
      </p:pic>
      <p:sp>
        <p:nvSpPr>
          <p:cNvPr id="24" name="Text 18"/>
          <p:cNvSpPr/>
          <p:nvPr/>
        </p:nvSpPr>
        <p:spPr>
          <a:xfrm>
            <a:off x="6406744" y="2670048"/>
            <a:ext cx="2115236" cy="457200"/>
          </a:xfrm>
          <a:prstGeom prst="rect">
            <a:avLst/>
          </a:prstGeom>
          <a:noFill/>
          <a:ln/>
        </p:spPr>
        <p:txBody>
          <a:bodyPr wrap="square" lIns="0" tIns="0" rIns="0" bIns="0" rtlCol="0" anchor="t"/>
          <a:lstStyle/>
          <a:p>
            <a:pPr indent="0" marL="0">
              <a:lnSpc>
                <a:spcPct val="110000"/>
              </a:lnSpc>
              <a:buNone/>
            </a:pPr>
            <a:r>
              <a:rPr lang="en-US" sz="1000" dirty="0">
                <a:solidFill>
                  <a:srgbClr val="141A24"/>
                </a:solidFill>
                <a:latin typeface="Poppins SemiBold" pitchFamily="34" charset="0"/>
                <a:ea typeface="Poppins SemiBold" pitchFamily="34" charset="-122"/>
                <a:cs typeface="Poppins SemiBold" pitchFamily="34" charset="-120"/>
              </a:rPr>
              <a:t>Outsourcing of non-core logistics</a:t>
            </a:r>
            <a:endParaRPr lang="en-US" sz="1000" dirty="0"/>
          </a:p>
        </p:txBody>
      </p:sp>
      <p:sp>
        <p:nvSpPr>
          <p:cNvPr id="25" name="Text 19"/>
          <p:cNvSpPr/>
          <p:nvPr/>
        </p:nvSpPr>
        <p:spPr>
          <a:xfrm>
            <a:off x="6406744" y="3163824"/>
            <a:ext cx="2115236" cy="1645920"/>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Corporations increasingly outsource employee transportation to specialised operators rather than running fleets in-house, converting fixed assets into contracted service costs</a:t>
            </a:r>
            <a:endParaRPr lang="en-US" sz="800" dirty="0"/>
          </a:p>
        </p:txBody>
      </p:sp>
      <p:sp>
        <p:nvSpPr>
          <p:cNvPr id="26" name="Shape 20"/>
          <p:cNvSpPr/>
          <p:nvPr/>
        </p:nvSpPr>
        <p:spPr>
          <a:xfrm>
            <a:off x="8942603" y="1828800"/>
            <a:ext cx="2517572" cy="3127248"/>
          </a:xfrm>
          <a:prstGeom prst="roundRect">
            <a:avLst>
              <a:gd name="adj" fmla="val 3269"/>
            </a:avLst>
          </a:prstGeom>
          <a:solidFill>
            <a:srgbClr val="F4F6F8"/>
          </a:solidFill>
          <a:ln w="12700">
            <a:solidFill>
              <a:srgbClr val="E2E6EB"/>
            </a:solidFill>
            <a:prstDash val="solid"/>
          </a:ln>
        </p:spPr>
      </p:sp>
      <p:sp>
        <p:nvSpPr>
          <p:cNvPr id="27" name="Shape 21"/>
          <p:cNvSpPr/>
          <p:nvPr/>
        </p:nvSpPr>
        <p:spPr>
          <a:xfrm>
            <a:off x="8942603" y="1828800"/>
            <a:ext cx="2517572" cy="41148"/>
          </a:xfrm>
          <a:prstGeom prst="rect">
            <a:avLst/>
          </a:prstGeom>
          <a:solidFill>
            <a:srgbClr val="F35B1A"/>
          </a:solidFill>
          <a:ln/>
        </p:spPr>
      </p:sp>
      <p:sp>
        <p:nvSpPr>
          <p:cNvPr id="28" name="Shape 22"/>
          <p:cNvSpPr/>
          <p:nvPr/>
        </p:nvSpPr>
        <p:spPr>
          <a:xfrm>
            <a:off x="9162059" y="2103120"/>
            <a:ext cx="457200" cy="457200"/>
          </a:xfrm>
          <a:prstGeom prst="ellipse">
            <a:avLst/>
          </a:prstGeom>
          <a:solidFill>
            <a:srgbClr val="FDE9DE"/>
          </a:solidFill>
          <a:ln/>
        </p:spPr>
      </p:sp>
      <p:pic>
        <p:nvPicPr>
          <p:cNvPr id="29" name="Image 4" descr="assets/icons/layers_orange.png">    </p:cNvPr>
          <p:cNvPicPr>
            <a:picLocks noChangeAspect="1"/>
          </p:cNvPicPr>
          <p:nvPr/>
        </p:nvPicPr>
        <p:blipFill>
          <a:blip r:embed="rId5"/>
          <a:stretch>
            <a:fillRect/>
          </a:stretch>
        </p:blipFill>
        <p:spPr>
          <a:xfrm>
            <a:off x="9285503" y="2226564"/>
            <a:ext cx="210312" cy="210312"/>
          </a:xfrm>
          <a:prstGeom prst="rect">
            <a:avLst/>
          </a:prstGeom>
        </p:spPr>
      </p:pic>
      <p:sp>
        <p:nvSpPr>
          <p:cNvPr id="30" name="Text 23"/>
          <p:cNvSpPr/>
          <p:nvPr/>
        </p:nvSpPr>
        <p:spPr>
          <a:xfrm>
            <a:off x="9143771" y="2670048"/>
            <a:ext cx="2115236" cy="457200"/>
          </a:xfrm>
          <a:prstGeom prst="rect">
            <a:avLst/>
          </a:prstGeom>
          <a:noFill/>
          <a:ln/>
        </p:spPr>
        <p:txBody>
          <a:bodyPr wrap="square" lIns="0" tIns="0" rIns="0" bIns="0" rtlCol="0" anchor="t"/>
          <a:lstStyle/>
          <a:p>
            <a:pPr indent="0" marL="0">
              <a:lnSpc>
                <a:spcPct val="110000"/>
              </a:lnSpc>
              <a:buNone/>
            </a:pPr>
            <a:r>
              <a:rPr lang="en-US" sz="1000" dirty="0">
                <a:solidFill>
                  <a:srgbClr val="141A24"/>
                </a:solidFill>
                <a:latin typeface="Poppins SemiBold" pitchFamily="34" charset="0"/>
                <a:ea typeface="Poppins SemiBold" pitchFamily="34" charset="-122"/>
                <a:cs typeface="Poppins SemiBold" pitchFamily="34" charset="-120"/>
              </a:rPr>
              <a:t>Fragmented supplier base</a:t>
            </a:r>
            <a:endParaRPr lang="en-US" sz="1000" dirty="0"/>
          </a:p>
        </p:txBody>
      </p:sp>
      <p:sp>
        <p:nvSpPr>
          <p:cNvPr id="31" name="Text 24"/>
          <p:cNvSpPr/>
          <p:nvPr/>
        </p:nvSpPr>
        <p:spPr>
          <a:xfrm>
            <a:off x="9143771" y="3163824"/>
            <a:ext cx="2115236" cy="1645920"/>
          </a:xfrm>
          <a:prstGeom prst="rect">
            <a:avLst/>
          </a:prstGeom>
          <a:noFill/>
          <a:ln/>
        </p:spPr>
        <p:txBody>
          <a:bodyPr wrap="square" lIns="0" tIns="0" rIns="0" bIns="0" rtlCol="0" anchor="t"/>
          <a:lstStyle/>
          <a:p>
            <a:pPr indent="0" marL="0">
              <a:lnSpc>
                <a:spcPct val="118000"/>
              </a:lnSpc>
              <a:buNone/>
            </a:pPr>
            <a:r>
              <a:rPr lang="en-US" sz="800" dirty="0">
                <a:solidFill>
                  <a:srgbClr val="6C7683"/>
                </a:solidFill>
                <a:latin typeface="Poppins" pitchFamily="34" charset="0"/>
                <a:ea typeface="Poppins" pitchFamily="34" charset="-122"/>
                <a:cs typeface="Poppins" pitchFamily="34" charset="-120"/>
              </a:rPr>
              <a:t>The Brazilian fretamento market remains highly fragmented among small regional operators, creating consolidation opportunity for platforms with scale and governance</a:t>
            </a:r>
            <a:endParaRPr lang="en-US" sz="800" dirty="0"/>
          </a:p>
        </p:txBody>
      </p:sp>
      <p:sp>
        <p:nvSpPr>
          <p:cNvPr id="32" name="Text 25"/>
          <p:cNvSpPr/>
          <p:nvPr/>
        </p:nvSpPr>
        <p:spPr>
          <a:xfrm>
            <a:off x="731520" y="5248656"/>
            <a:ext cx="2517572" cy="310896"/>
          </a:xfrm>
          <a:prstGeom prst="rect">
            <a:avLst/>
          </a:prstGeom>
          <a:noFill/>
          <a:ln/>
        </p:spPr>
        <p:txBody>
          <a:bodyPr wrap="square" lIns="0" tIns="0" rIns="0" bIns="0" rtlCol="0" anchor="ctr"/>
          <a:lstStyle/>
          <a:p>
            <a:pPr indent="0" marL="0">
              <a:buNone/>
            </a:pPr>
            <a:r>
              <a:rPr lang="en-US" sz="1600" dirty="0">
                <a:solidFill>
                  <a:srgbClr val="F35B1A"/>
                </a:solidFill>
                <a:latin typeface="Poppins SemiBold" pitchFamily="34" charset="0"/>
                <a:ea typeface="Poppins SemiBold" pitchFamily="34" charset="-122"/>
                <a:cs typeface="Poppins SemiBold" pitchFamily="34" charset="-120"/>
              </a:rPr>
              <a:t>+20 years</a:t>
            </a:r>
            <a:endParaRPr lang="en-US" sz="1600" dirty="0"/>
          </a:p>
        </p:txBody>
      </p:sp>
      <p:sp>
        <p:nvSpPr>
          <p:cNvPr id="33" name="Text 26"/>
          <p:cNvSpPr/>
          <p:nvPr/>
        </p:nvSpPr>
        <p:spPr>
          <a:xfrm>
            <a:off x="731520" y="5541264"/>
            <a:ext cx="2517572" cy="219456"/>
          </a:xfrm>
          <a:prstGeom prst="rect">
            <a:avLst/>
          </a:prstGeom>
          <a:noFill/>
          <a:ln/>
        </p:spPr>
        <p:txBody>
          <a:bodyPr wrap="square" lIns="0" tIns="0" rIns="0" bIns="0" rtlCol="0" anchor="ctr"/>
          <a:lstStyle/>
          <a:p>
            <a:pPr indent="0" marL="0">
              <a:buNone/>
            </a:pPr>
            <a:r>
              <a:rPr lang="en-US" sz="850" dirty="0">
                <a:solidFill>
                  <a:srgbClr val="6C7683"/>
                </a:solidFill>
                <a:latin typeface="Poppins" pitchFamily="34" charset="0"/>
                <a:ea typeface="Poppins" pitchFamily="34" charset="-122"/>
                <a:cs typeface="Poppins" pitchFamily="34" charset="-120"/>
              </a:rPr>
              <a:t>of operations</a:t>
            </a:r>
            <a:endParaRPr lang="en-US" sz="850" dirty="0"/>
          </a:p>
        </p:txBody>
      </p:sp>
      <p:sp>
        <p:nvSpPr>
          <p:cNvPr id="34" name="Text 27"/>
          <p:cNvSpPr/>
          <p:nvPr/>
        </p:nvSpPr>
        <p:spPr>
          <a:xfrm>
            <a:off x="3468548" y="5248656"/>
            <a:ext cx="2517572" cy="310896"/>
          </a:xfrm>
          <a:prstGeom prst="rect">
            <a:avLst/>
          </a:prstGeom>
          <a:noFill/>
          <a:ln/>
        </p:spPr>
        <p:txBody>
          <a:bodyPr wrap="square" lIns="0" tIns="0" rIns="0" bIns="0" rtlCol="0" anchor="ctr"/>
          <a:lstStyle/>
          <a:p>
            <a:pPr indent="0" marL="0">
              <a:buNone/>
            </a:pPr>
            <a:r>
              <a:rPr lang="en-US" sz="1600" dirty="0">
                <a:solidFill>
                  <a:srgbClr val="F35B1A"/>
                </a:solidFill>
                <a:latin typeface="Poppins SemiBold" pitchFamily="34" charset="0"/>
                <a:ea typeface="Poppins SemiBold" pitchFamily="34" charset="-122"/>
                <a:cs typeface="Poppins SemiBold" pitchFamily="34" charset="-120"/>
              </a:rPr>
              <a:t>3 states</a:t>
            </a:r>
            <a:endParaRPr lang="en-US" sz="1600" dirty="0"/>
          </a:p>
        </p:txBody>
      </p:sp>
      <p:sp>
        <p:nvSpPr>
          <p:cNvPr id="35" name="Text 28"/>
          <p:cNvSpPr/>
          <p:nvPr/>
        </p:nvSpPr>
        <p:spPr>
          <a:xfrm>
            <a:off x="3468548" y="5541264"/>
            <a:ext cx="2517572" cy="219456"/>
          </a:xfrm>
          <a:prstGeom prst="rect">
            <a:avLst/>
          </a:prstGeom>
          <a:noFill/>
          <a:ln/>
        </p:spPr>
        <p:txBody>
          <a:bodyPr wrap="square" lIns="0" tIns="0" rIns="0" bIns="0" rtlCol="0" anchor="ctr"/>
          <a:lstStyle/>
          <a:p>
            <a:pPr indent="0" marL="0">
              <a:buNone/>
            </a:pPr>
            <a:r>
              <a:rPr lang="en-US" sz="850" dirty="0">
                <a:solidFill>
                  <a:srgbClr val="6C7683"/>
                </a:solidFill>
                <a:latin typeface="Poppins" pitchFamily="34" charset="0"/>
                <a:ea typeface="Poppins" pitchFamily="34" charset="-122"/>
                <a:cs typeface="Poppins" pitchFamily="34" charset="-120"/>
              </a:rPr>
              <a:t>GO · DF · MG</a:t>
            </a:r>
            <a:endParaRPr lang="en-US" sz="850" dirty="0"/>
          </a:p>
        </p:txBody>
      </p:sp>
      <p:sp>
        <p:nvSpPr>
          <p:cNvPr id="36" name="Text 29"/>
          <p:cNvSpPr/>
          <p:nvPr/>
        </p:nvSpPr>
        <p:spPr>
          <a:xfrm>
            <a:off x="6205576" y="5248656"/>
            <a:ext cx="2517572" cy="310896"/>
          </a:xfrm>
          <a:prstGeom prst="rect">
            <a:avLst/>
          </a:prstGeom>
          <a:noFill/>
          <a:ln/>
        </p:spPr>
        <p:txBody>
          <a:bodyPr wrap="square" lIns="0" tIns="0" rIns="0" bIns="0" rtlCol="0" anchor="ctr"/>
          <a:lstStyle/>
          <a:p>
            <a:pPr indent="0" marL="0">
              <a:buNone/>
            </a:pPr>
            <a:r>
              <a:rPr lang="en-US" sz="1600" dirty="0">
                <a:solidFill>
                  <a:srgbClr val="F35B1A"/>
                </a:solidFill>
                <a:latin typeface="Poppins SemiBold" pitchFamily="34" charset="0"/>
                <a:ea typeface="Poppins SemiBold" pitchFamily="34" charset="-122"/>
                <a:cs typeface="Poppins SemiBold" pitchFamily="34" charset="-120"/>
              </a:rPr>
              <a:t>10 bases</a:t>
            </a:r>
            <a:endParaRPr lang="en-US" sz="1600" dirty="0"/>
          </a:p>
        </p:txBody>
      </p:sp>
      <p:sp>
        <p:nvSpPr>
          <p:cNvPr id="37" name="Text 30"/>
          <p:cNvSpPr/>
          <p:nvPr/>
        </p:nvSpPr>
        <p:spPr>
          <a:xfrm>
            <a:off x="6205576" y="5541264"/>
            <a:ext cx="2517572" cy="219456"/>
          </a:xfrm>
          <a:prstGeom prst="rect">
            <a:avLst/>
          </a:prstGeom>
          <a:noFill/>
          <a:ln/>
        </p:spPr>
        <p:txBody>
          <a:bodyPr wrap="square" lIns="0" tIns="0" rIns="0" bIns="0" rtlCol="0" anchor="ctr"/>
          <a:lstStyle/>
          <a:p>
            <a:pPr indent="0" marL="0">
              <a:buNone/>
            </a:pPr>
            <a:r>
              <a:rPr lang="en-US" sz="850" dirty="0">
                <a:solidFill>
                  <a:srgbClr val="6C7683"/>
                </a:solidFill>
                <a:latin typeface="Poppins" pitchFamily="34" charset="0"/>
                <a:ea typeface="Poppins" pitchFamily="34" charset="-122"/>
                <a:cs typeface="Poppins" pitchFamily="34" charset="-120"/>
              </a:rPr>
              <a:t>plus headquarters</a:t>
            </a:r>
            <a:endParaRPr lang="en-US" sz="850" dirty="0"/>
          </a:p>
        </p:txBody>
      </p:sp>
      <p:sp>
        <p:nvSpPr>
          <p:cNvPr id="38" name="Text 31"/>
          <p:cNvSpPr/>
          <p:nvPr/>
        </p:nvSpPr>
        <p:spPr>
          <a:xfrm>
            <a:off x="8942603" y="5248656"/>
            <a:ext cx="2517572" cy="310896"/>
          </a:xfrm>
          <a:prstGeom prst="rect">
            <a:avLst/>
          </a:prstGeom>
          <a:noFill/>
          <a:ln/>
        </p:spPr>
        <p:txBody>
          <a:bodyPr wrap="square" lIns="0" tIns="0" rIns="0" bIns="0" rtlCol="0" anchor="ctr"/>
          <a:lstStyle/>
          <a:p>
            <a:pPr indent="0" marL="0">
              <a:buNone/>
            </a:pPr>
            <a:r>
              <a:rPr lang="en-US" sz="1600" dirty="0">
                <a:solidFill>
                  <a:srgbClr val="F35B1A"/>
                </a:solidFill>
                <a:latin typeface="Poppins SemiBold" pitchFamily="34" charset="0"/>
                <a:ea typeface="Poppins SemiBold" pitchFamily="34" charset="-122"/>
                <a:cs typeface="Poppins SemiBold" pitchFamily="34" charset="-120"/>
              </a:rPr>
              <a:t>100%</a:t>
            </a:r>
            <a:endParaRPr lang="en-US" sz="1600" dirty="0"/>
          </a:p>
        </p:txBody>
      </p:sp>
      <p:sp>
        <p:nvSpPr>
          <p:cNvPr id="39" name="Text 32"/>
          <p:cNvSpPr/>
          <p:nvPr/>
        </p:nvSpPr>
        <p:spPr>
          <a:xfrm>
            <a:off x="8942603" y="5541264"/>
            <a:ext cx="2517572" cy="219456"/>
          </a:xfrm>
          <a:prstGeom prst="rect">
            <a:avLst/>
          </a:prstGeom>
          <a:noFill/>
          <a:ln/>
        </p:spPr>
        <p:txBody>
          <a:bodyPr wrap="square" lIns="0" tIns="0" rIns="0" bIns="0" rtlCol="0" anchor="ctr"/>
          <a:lstStyle/>
          <a:p>
            <a:pPr indent="0" marL="0">
              <a:buNone/>
            </a:pPr>
            <a:r>
              <a:rPr lang="en-US" sz="850" dirty="0">
                <a:solidFill>
                  <a:srgbClr val="6C7683"/>
                </a:solidFill>
                <a:latin typeface="Poppins" pitchFamily="34" charset="0"/>
                <a:ea typeface="Poppins" pitchFamily="34" charset="-122"/>
                <a:cs typeface="Poppins" pitchFamily="34" charset="-120"/>
              </a:rPr>
              <a:t>owned fleet</a:t>
            </a:r>
            <a:endParaRPr lang="en-US" sz="850" dirty="0"/>
          </a:p>
        </p:txBody>
      </p:sp>
      <p:sp>
        <p:nvSpPr>
          <p:cNvPr id="40" name="Shape 33"/>
          <p:cNvSpPr/>
          <p:nvPr/>
        </p:nvSpPr>
        <p:spPr>
          <a:xfrm>
            <a:off x="0" y="6172200"/>
            <a:ext cx="12191695" cy="685800"/>
          </a:xfrm>
          <a:prstGeom prst="rect">
            <a:avLst/>
          </a:prstGeom>
          <a:solidFill>
            <a:srgbClr val="141A24"/>
          </a:solidFill>
          <a:ln/>
        </p:spPr>
      </p:sp>
      <p:sp>
        <p:nvSpPr>
          <p:cNvPr id="41" name="Shape 34"/>
          <p:cNvSpPr/>
          <p:nvPr/>
        </p:nvSpPr>
        <p:spPr>
          <a:xfrm>
            <a:off x="0" y="6172200"/>
            <a:ext cx="118872" cy="685800"/>
          </a:xfrm>
          <a:prstGeom prst="rect">
            <a:avLst/>
          </a:prstGeom>
          <a:solidFill>
            <a:srgbClr val="F35B1A"/>
          </a:solidFill>
          <a:ln/>
        </p:spPr>
      </p:sp>
      <p:sp>
        <p:nvSpPr>
          <p:cNvPr id="42" name="Text 35"/>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Demand is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structural, not cyclical</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 and the supplier base is fragmented</a:t>
            </a:r>
            <a:endParaRPr lang="en-US" sz="1200" dirty="0"/>
          </a:p>
        </p:txBody>
      </p:sp>
      <p:pic>
        <p:nvPicPr>
          <p:cNvPr id="43" name="Image 5" descr="assets/igc_white.png">    </p:cNvPr>
          <p:cNvPicPr>
            <a:picLocks noChangeAspect="1"/>
          </p:cNvPicPr>
          <p:nvPr/>
        </p:nvPicPr>
        <p:blipFill>
          <a:blip r:embed="rId6"/>
          <a:stretch>
            <a:fillRect/>
          </a:stretch>
        </p:blipFill>
        <p:spPr>
          <a:xfrm>
            <a:off x="731520" y="6387084"/>
            <a:ext cx="274320" cy="237134"/>
          </a:xfrm>
          <a:prstGeom prst="rect">
            <a:avLst/>
          </a:prstGeom>
        </p:spPr>
      </p:pic>
      <p:sp>
        <p:nvSpPr>
          <p:cNvPr id="44" name="Text 36"/>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8</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A24"/>
        </a:solidFill>
      </p:bgPr>
    </p:bg>
    <p:spTree>
      <p:nvGrpSpPr>
        <p:cNvPr id="1" name=""/>
        <p:cNvGrpSpPr/>
        <p:nvPr/>
      </p:nvGrpSpPr>
      <p:grpSpPr>
        <a:xfrm>
          <a:off x="0" y="0"/>
          <a:ext cx="0" cy="0"/>
          <a:chOff x="0" y="0"/>
          <a:chExt cx="0" cy="0"/>
        </a:xfrm>
      </p:grpSpPr>
      <p:pic>
        <p:nvPicPr>
          <p:cNvPr id="2" name="Image 0" descr="assets/stripes_orange.png">    </p:cNvPr>
          <p:cNvPicPr>
            <a:picLocks noChangeAspect="1"/>
          </p:cNvPicPr>
          <p:nvPr/>
        </p:nvPicPr>
        <p:blipFill>
          <a:blip r:embed="rId1">
            <a:alphaModFix amt="38000"/>
          </a:blip>
          <a:stretch>
            <a:fillRect/>
          </a:stretch>
        </p:blipFill>
        <p:spPr>
          <a:xfrm>
            <a:off x="-640080" y="4572000"/>
            <a:ext cx="2286000" cy="2286000"/>
          </a:xfrm>
          <a:prstGeom prst="rect">
            <a:avLst/>
          </a:prstGeom>
        </p:spPr>
      </p:pic>
      <p:pic>
        <p:nvPicPr>
          <p:cNvPr id="3" name="Image 1" descr="assets/mobi_fleet2.png">    </p:cNvPr>
          <p:cNvPicPr>
            <a:picLocks noChangeAspect="1"/>
          </p:cNvPicPr>
          <p:nvPr/>
        </p:nvPicPr>
        <p:blipFill>
          <a:blip r:embed="rId2"/>
          <a:srcRect l="0" r="0" t="0" b="0"/>
          <a:stretch/>
        </p:blipFill>
        <p:spPr>
          <a:xfrm>
            <a:off x="6858000" y="0"/>
            <a:ext cx="5333695" cy="6858000"/>
          </a:xfrm>
          <a:prstGeom prst="rect">
            <a:avLst/>
          </a:prstGeom>
        </p:spPr>
      </p:pic>
      <p:sp>
        <p:nvSpPr>
          <p:cNvPr id="4" name="Shape 0"/>
          <p:cNvSpPr/>
          <p:nvPr/>
        </p:nvSpPr>
        <p:spPr>
          <a:xfrm>
            <a:off x="6858000" y="0"/>
            <a:ext cx="5333695" cy="6858000"/>
          </a:xfrm>
          <a:prstGeom prst="rect">
            <a:avLst/>
          </a:prstGeom>
          <a:solidFill>
            <a:srgbClr val="141A24">
              <a:alpha val="42000"/>
            </a:srgbClr>
          </a:solidFill>
          <a:ln/>
        </p:spPr>
      </p:sp>
      <p:sp>
        <p:nvSpPr>
          <p:cNvPr id="5" name="Shape 1"/>
          <p:cNvSpPr/>
          <p:nvPr/>
        </p:nvSpPr>
        <p:spPr>
          <a:xfrm>
            <a:off x="6858000" y="0"/>
            <a:ext cx="41148" cy="6858000"/>
          </a:xfrm>
          <a:prstGeom prst="rect">
            <a:avLst/>
          </a:prstGeom>
          <a:solidFill>
            <a:srgbClr val="F35B1A"/>
          </a:solidFill>
          <a:ln/>
        </p:spPr>
      </p:sp>
      <p:sp>
        <p:nvSpPr>
          <p:cNvPr id="6"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a:off x="731520" y="2395728"/>
            <a:ext cx="1371600" cy="32004"/>
          </a:xfrm>
          <a:prstGeom prst="rect">
            <a:avLst/>
          </a:prstGeom>
          <a:solidFill>
            <a:srgbClr val="F35B1A"/>
          </a:solidFill>
          <a:ln/>
        </p:spPr>
      </p:sp>
      <p:sp>
        <p:nvSpPr>
          <p:cNvPr id="9" name="Shape 5"/>
          <p:cNvSpPr/>
          <p:nvPr/>
        </p:nvSpPr>
        <p:spPr>
          <a:xfrm rot="5400000">
            <a:off x="749808" y="2871216"/>
            <a:ext cx="173736" cy="173736"/>
          </a:xfrm>
          <a:prstGeom prst="triangle">
            <a:avLst/>
          </a:prstGeom>
          <a:solidFill>
            <a:srgbClr val="4A5563"/>
          </a:solidFill>
          <a:ln/>
        </p:spPr>
      </p:sp>
      <p:sp>
        <p:nvSpPr>
          <p:cNvPr id="10"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INTRODUCTION</a:t>
            </a:r>
            <a:endParaRPr lang="en-US" sz="1100" dirty="0"/>
          </a:p>
        </p:txBody>
      </p:sp>
      <p:sp>
        <p:nvSpPr>
          <p:cNvPr id="11"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04</a:t>
            </a:r>
            <a:endParaRPr lang="en-US" sz="1200" dirty="0"/>
          </a:p>
        </p:txBody>
      </p:sp>
      <p:sp>
        <p:nvSpPr>
          <p:cNvPr id="12" name="Shape 8"/>
          <p:cNvSpPr/>
          <p:nvPr/>
        </p:nvSpPr>
        <p:spPr>
          <a:xfrm rot="5400000">
            <a:off x="749808" y="3593592"/>
            <a:ext cx="173736" cy="173736"/>
          </a:xfrm>
          <a:prstGeom prst="triangle">
            <a:avLst/>
          </a:prstGeom>
          <a:solidFill>
            <a:srgbClr val="F35B1A"/>
          </a:solidFill>
          <a:ln/>
        </p:spPr>
      </p:sp>
      <p:sp>
        <p:nvSpPr>
          <p:cNvPr id="13"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INVESTMENT THESIS</a:t>
            </a:r>
            <a:endParaRPr lang="en-US" sz="1100" dirty="0"/>
          </a:p>
        </p:txBody>
      </p:sp>
      <p:sp>
        <p:nvSpPr>
          <p:cNvPr id="14"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F35B1A"/>
                </a:solidFill>
                <a:latin typeface="Poppins Medium" pitchFamily="34" charset="0"/>
                <a:ea typeface="Poppins Medium" pitchFamily="34" charset="-122"/>
                <a:cs typeface="Poppins Medium" pitchFamily="34" charset="-120"/>
              </a:rPr>
              <a:t>10</a:t>
            </a:r>
            <a:endParaRPr lang="en-US" sz="1200" dirty="0"/>
          </a:p>
        </p:txBody>
      </p:sp>
      <p:sp>
        <p:nvSpPr>
          <p:cNvPr id="15" name="Shape 11"/>
          <p:cNvSpPr/>
          <p:nvPr/>
        </p:nvSpPr>
        <p:spPr>
          <a:xfrm rot="5400000">
            <a:off x="749808" y="4315968"/>
            <a:ext cx="173736" cy="173736"/>
          </a:xfrm>
          <a:prstGeom prst="triangle">
            <a:avLst/>
          </a:prstGeom>
          <a:solidFill>
            <a:srgbClr val="4A5563"/>
          </a:solidFill>
          <a:ln/>
        </p:spPr>
      </p:sp>
      <p:sp>
        <p:nvSpPr>
          <p:cNvPr id="16"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COMPANY OVERVIEW</a:t>
            </a:r>
            <a:endParaRPr lang="en-US" sz="1100" dirty="0"/>
          </a:p>
        </p:txBody>
      </p:sp>
      <p:sp>
        <p:nvSpPr>
          <p:cNvPr id="17"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17</a:t>
            </a:r>
            <a:endParaRPr lang="en-US" sz="1200" dirty="0"/>
          </a:p>
        </p:txBody>
      </p:sp>
      <p:sp>
        <p:nvSpPr>
          <p:cNvPr id="18" name="Shape 14"/>
          <p:cNvSpPr/>
          <p:nvPr/>
        </p:nvSpPr>
        <p:spPr>
          <a:xfrm rot="5400000">
            <a:off x="749808" y="5038344"/>
            <a:ext cx="173736" cy="173736"/>
          </a:xfrm>
          <a:prstGeom prst="triangle">
            <a:avLst/>
          </a:prstGeom>
          <a:solidFill>
            <a:srgbClr val="4A5563"/>
          </a:solidFill>
          <a:ln/>
        </p:spPr>
      </p:sp>
      <p:sp>
        <p:nvSpPr>
          <p:cNvPr id="19"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FINANCIAL HIGHLIGHTS</a:t>
            </a:r>
            <a:endParaRPr lang="en-US" sz="1100" dirty="0"/>
          </a:p>
        </p:txBody>
      </p:sp>
      <p:sp>
        <p:nvSpPr>
          <p:cNvPr id="20"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25</a:t>
            </a:r>
            <a:endParaRPr lang="en-US" sz="1200" dirty="0"/>
          </a:p>
        </p:txBody>
      </p:sp>
      <p:pic>
        <p:nvPicPr>
          <p:cNvPr id="21" name="Image 2" descr="assets/igc_white.png">    </p:cNvPr>
          <p:cNvPicPr>
            <a:picLocks noChangeAspect="1"/>
          </p:cNvPicPr>
          <p:nvPr/>
        </p:nvPicPr>
        <p:blipFill>
          <a:blip r:embed="rId3"/>
          <a:stretch>
            <a:fillRect/>
          </a:stretch>
        </p:blipFill>
        <p:spPr>
          <a:xfrm>
            <a:off x="10957255" y="384048"/>
            <a:ext cx="502920" cy="434746"/>
          </a:xfrm>
          <a:prstGeom prst="rect">
            <a:avLst/>
          </a:prstGeom>
        </p:spPr>
      </p:pic>
      <p:pic>
        <p:nvPicPr>
          <p:cNvPr id="22" name="Image 3" descr="assets/mobi_logo_black.png">    </p:cNvPr>
          <p:cNvPicPr>
            <a:picLocks noChangeAspect="1"/>
          </p:cNvPicPr>
          <p:nvPr/>
        </p:nvPicPr>
        <p:blipFill>
          <a:blip r:embed="rId4"/>
          <a:stretch>
            <a:fillRect/>
          </a:stretch>
        </p:blipFill>
        <p:spPr>
          <a:xfrm>
            <a:off x="731520" y="5897880"/>
            <a:ext cx="1234440" cy="395407"/>
          </a:xfrm>
          <a:prstGeom prst="rect">
            <a:avLst/>
          </a:prstGeom>
        </p:spPr>
      </p:pic>
      <p:sp>
        <p:nvSpPr>
          <p:cNvPr id="23"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548994" cy="310896"/>
          </a:xfrm>
          <a:prstGeom prst="roundRect">
            <a:avLst>
              <a:gd name="adj" fmla="val 25000"/>
            </a:avLst>
          </a:prstGeom>
          <a:solidFill>
            <a:srgbClr val="FDE9DE"/>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Mobi is well positioned for continued growth</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A resilient, contracted business model supported by strong structural value drivers</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press research. NR-31 = Brazilian rural-labour safety regulation on worker transport.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10</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810512"/>
            <a:ext cx="420624" cy="420624"/>
          </a:xfrm>
          <a:prstGeom prst="ellipse">
            <a:avLst/>
          </a:prstGeom>
          <a:solidFill>
            <a:srgbClr val="F35B1A"/>
          </a:solidFill>
          <a:ln/>
        </p:spPr>
      </p:sp>
      <p:sp>
        <p:nvSpPr>
          <p:cNvPr id="11" name="Text 7"/>
          <p:cNvSpPr/>
          <p:nvPr/>
        </p:nvSpPr>
        <p:spPr>
          <a:xfrm>
            <a:off x="731520" y="181051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1</a:t>
            </a:r>
            <a:endParaRPr lang="en-US" sz="1400" dirty="0"/>
          </a:p>
        </p:txBody>
      </p:sp>
      <p:sp>
        <p:nvSpPr>
          <p:cNvPr id="12" name="Text 8"/>
          <p:cNvSpPr/>
          <p:nvPr/>
        </p:nvSpPr>
        <p:spPr>
          <a:xfrm>
            <a:off x="1335024" y="1737360"/>
            <a:ext cx="6858000" cy="676656"/>
          </a:xfrm>
          <a:prstGeom prst="rect">
            <a:avLst/>
          </a:prstGeom>
          <a:noFill/>
          <a:ln/>
        </p:spPr>
        <p:txBody>
          <a:bodyPr wrap="square" lIns="0" tIns="0" rIns="0" bIns="0" rtlCol="0" anchor="ctr"/>
          <a:lstStyle/>
          <a:p>
            <a:pPr indent="0" marL="0">
              <a:lnSpc>
                <a:spcPct val="116000"/>
              </a:lnSpc>
              <a:buNone/>
            </a:pPr>
            <a:r>
              <a:rPr lang="en-US" sz="950" dirty="0">
                <a:solidFill>
                  <a:srgbClr val="141A24"/>
                </a:solidFill>
                <a:latin typeface="Poppins SemiBold" pitchFamily="34" charset="0"/>
                <a:ea typeface="Poppins SemiBold" pitchFamily="34" charset="-122"/>
                <a:cs typeface="Poppins SemiBold" pitchFamily="34" charset="-120"/>
              </a:rPr>
              <a:t>Essential mobility platform in a structurally growing market</a:t>
            </a:r>
            <a:pPr indent="0" marL="0">
              <a:lnSpc>
                <a:spcPct val="116000"/>
              </a:lnSpc>
              <a:buNone/>
            </a:pPr>
            <a:r>
              <a:rPr lang="en-US" sz="950" dirty="0">
                <a:solidFill>
                  <a:srgbClr val="F35B1A"/>
                </a:solidFill>
                <a:latin typeface="Poppins" pitchFamily="34" charset="0"/>
                <a:ea typeface="Poppins" pitchFamily="34" charset="-122"/>
                <a:cs typeface="Poppins" pitchFamily="34" charset="-120"/>
              </a:rPr>
              <a:t>  —  </a:t>
            </a:r>
            <a:pPr indent="0" marL="0">
              <a:lnSpc>
                <a:spcPct val="116000"/>
              </a:lnSpc>
              <a:buNone/>
            </a:pPr>
            <a:r>
              <a:rPr lang="en-US" sz="950" dirty="0">
                <a:solidFill>
                  <a:srgbClr val="6C7683"/>
                </a:solidFill>
                <a:latin typeface="Poppins" pitchFamily="34" charset="0"/>
                <a:ea typeface="Poppins" pitchFamily="34" charset="-122"/>
                <a:cs typeface="Poppins" pitchFamily="34" charset="-120"/>
              </a:rPr>
              <a:t>Consistent demand from corporations and condominiums, a national driver shortage and labour regulations (NR-31) sustain recurring demand</a:t>
            </a:r>
            <a:endParaRPr lang="en-US" sz="950" dirty="0"/>
          </a:p>
        </p:txBody>
      </p:sp>
      <p:sp>
        <p:nvSpPr>
          <p:cNvPr id="13" name="Shape 9"/>
          <p:cNvSpPr/>
          <p:nvPr/>
        </p:nvSpPr>
        <p:spPr>
          <a:xfrm>
            <a:off x="1335024" y="2450592"/>
            <a:ext cx="6858000" cy="9144"/>
          </a:xfrm>
          <a:prstGeom prst="rect">
            <a:avLst/>
          </a:prstGeom>
          <a:solidFill>
            <a:srgbClr val="E2E6EB"/>
          </a:solidFill>
          <a:ln/>
        </p:spPr>
      </p:sp>
      <p:sp>
        <p:nvSpPr>
          <p:cNvPr id="14" name="Shape 10"/>
          <p:cNvSpPr/>
          <p:nvPr/>
        </p:nvSpPr>
        <p:spPr>
          <a:xfrm>
            <a:off x="731520" y="2578608"/>
            <a:ext cx="420624" cy="420624"/>
          </a:xfrm>
          <a:prstGeom prst="ellipse">
            <a:avLst/>
          </a:prstGeom>
          <a:solidFill>
            <a:srgbClr val="F35B1A"/>
          </a:solidFill>
          <a:ln/>
        </p:spPr>
      </p:sp>
      <p:sp>
        <p:nvSpPr>
          <p:cNvPr id="15" name="Text 11"/>
          <p:cNvSpPr/>
          <p:nvPr/>
        </p:nvSpPr>
        <p:spPr>
          <a:xfrm>
            <a:off x="731520" y="257860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2</a:t>
            </a:r>
            <a:endParaRPr lang="en-US" sz="1400" dirty="0"/>
          </a:p>
        </p:txBody>
      </p:sp>
      <p:sp>
        <p:nvSpPr>
          <p:cNvPr id="16" name="Text 12"/>
          <p:cNvSpPr/>
          <p:nvPr/>
        </p:nvSpPr>
        <p:spPr>
          <a:xfrm>
            <a:off x="1335024" y="2505456"/>
            <a:ext cx="6858000" cy="676656"/>
          </a:xfrm>
          <a:prstGeom prst="rect">
            <a:avLst/>
          </a:prstGeom>
          <a:noFill/>
          <a:ln/>
        </p:spPr>
        <p:txBody>
          <a:bodyPr wrap="square" lIns="0" tIns="0" rIns="0" bIns="0" rtlCol="0" anchor="ctr"/>
          <a:lstStyle/>
          <a:p>
            <a:pPr indent="0" marL="0">
              <a:lnSpc>
                <a:spcPct val="116000"/>
              </a:lnSpc>
              <a:buNone/>
            </a:pPr>
            <a:r>
              <a:rPr lang="en-US" sz="950" dirty="0">
                <a:solidFill>
                  <a:srgbClr val="141A24"/>
                </a:solidFill>
                <a:latin typeface="Poppins SemiBold" pitchFamily="34" charset="0"/>
                <a:ea typeface="Poppins SemiBold" pitchFamily="34" charset="-122"/>
                <a:cs typeface="Poppins SemiBold" pitchFamily="34" charset="-120"/>
              </a:rPr>
              <a:t>Solid, contracted revenue model with high stickiness</a:t>
            </a:r>
            <a:pPr indent="0" marL="0">
              <a:lnSpc>
                <a:spcPct val="116000"/>
              </a:lnSpc>
              <a:buNone/>
            </a:pPr>
            <a:r>
              <a:rPr lang="en-US" sz="950" dirty="0">
                <a:solidFill>
                  <a:srgbClr val="F35B1A"/>
                </a:solidFill>
                <a:latin typeface="Poppins" pitchFamily="34" charset="0"/>
                <a:ea typeface="Poppins" pitchFamily="34" charset="-122"/>
                <a:cs typeface="Poppins" pitchFamily="34" charset="-120"/>
              </a:rPr>
              <a:t>  —  </a:t>
            </a:r>
            <a:pPr indent="0" marL="0">
              <a:lnSpc>
                <a:spcPct val="116000"/>
              </a:lnSpc>
              <a:buNone/>
            </a:pPr>
            <a:r>
              <a:rPr lang="en-US" sz="950" dirty="0">
                <a:solidFill>
                  <a:srgbClr val="6C7683"/>
                </a:solidFill>
                <a:latin typeface="Poppins" pitchFamily="34" charset="0"/>
                <a:ea typeface="Poppins" pitchFamily="34" charset="-122"/>
                <a:cs typeface="Poppins" pitchFamily="34" charset="-120"/>
              </a:rPr>
              <a:t>Long-term contracts (3–5 years) with IPCA, collective-bargaining and diesel pass-through adjustments protecting margins</a:t>
            </a:r>
            <a:endParaRPr lang="en-US" sz="950" dirty="0"/>
          </a:p>
        </p:txBody>
      </p:sp>
      <p:sp>
        <p:nvSpPr>
          <p:cNvPr id="17" name="Shape 13"/>
          <p:cNvSpPr/>
          <p:nvPr/>
        </p:nvSpPr>
        <p:spPr>
          <a:xfrm>
            <a:off x="1335024" y="3218688"/>
            <a:ext cx="6858000" cy="9144"/>
          </a:xfrm>
          <a:prstGeom prst="rect">
            <a:avLst/>
          </a:prstGeom>
          <a:solidFill>
            <a:srgbClr val="E2E6EB"/>
          </a:solidFill>
          <a:ln/>
        </p:spPr>
      </p:sp>
      <p:sp>
        <p:nvSpPr>
          <p:cNvPr id="18" name="Shape 14"/>
          <p:cNvSpPr/>
          <p:nvPr/>
        </p:nvSpPr>
        <p:spPr>
          <a:xfrm>
            <a:off x="731520" y="3346704"/>
            <a:ext cx="420624" cy="420624"/>
          </a:xfrm>
          <a:prstGeom prst="ellipse">
            <a:avLst/>
          </a:prstGeom>
          <a:solidFill>
            <a:srgbClr val="F35B1A"/>
          </a:solidFill>
          <a:ln/>
        </p:spPr>
      </p:sp>
      <p:sp>
        <p:nvSpPr>
          <p:cNvPr id="19" name="Text 15"/>
          <p:cNvSpPr/>
          <p:nvPr/>
        </p:nvSpPr>
        <p:spPr>
          <a:xfrm>
            <a:off x="731520" y="3346704"/>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3</a:t>
            </a:r>
            <a:endParaRPr lang="en-US" sz="1400" dirty="0"/>
          </a:p>
        </p:txBody>
      </p:sp>
      <p:sp>
        <p:nvSpPr>
          <p:cNvPr id="20" name="Text 16"/>
          <p:cNvSpPr/>
          <p:nvPr/>
        </p:nvSpPr>
        <p:spPr>
          <a:xfrm>
            <a:off x="1335024" y="3273552"/>
            <a:ext cx="6858000" cy="676656"/>
          </a:xfrm>
          <a:prstGeom prst="rect">
            <a:avLst/>
          </a:prstGeom>
          <a:noFill/>
          <a:ln/>
        </p:spPr>
        <p:txBody>
          <a:bodyPr wrap="square" lIns="0" tIns="0" rIns="0" bIns="0" rtlCol="0" anchor="ctr"/>
          <a:lstStyle/>
          <a:p>
            <a:pPr indent="0" marL="0">
              <a:lnSpc>
                <a:spcPct val="116000"/>
              </a:lnSpc>
              <a:buNone/>
            </a:pPr>
            <a:r>
              <a:rPr lang="en-US" sz="950" dirty="0">
                <a:solidFill>
                  <a:srgbClr val="141A24"/>
                </a:solidFill>
                <a:latin typeface="Poppins SemiBold" pitchFamily="34" charset="0"/>
                <a:ea typeface="Poppins SemiBold" pitchFamily="34" charset="-122"/>
                <a:cs typeface="Poppins SemiBold" pitchFamily="34" charset="-120"/>
              </a:rPr>
              <a:t>An asset base that compounds competitive advantage</a:t>
            </a:r>
            <a:pPr indent="0" marL="0">
              <a:lnSpc>
                <a:spcPct val="116000"/>
              </a:lnSpc>
              <a:buNone/>
            </a:pPr>
            <a:r>
              <a:rPr lang="en-US" sz="950" dirty="0">
                <a:solidFill>
                  <a:srgbClr val="F35B1A"/>
                </a:solidFill>
                <a:latin typeface="Poppins" pitchFamily="34" charset="0"/>
                <a:ea typeface="Poppins" pitchFamily="34" charset="-122"/>
                <a:cs typeface="Poppins" pitchFamily="34" charset="-120"/>
              </a:rPr>
              <a:t>  —  </a:t>
            </a:r>
            <a:pPr indent="0" marL="0">
              <a:lnSpc>
                <a:spcPct val="116000"/>
              </a:lnSpc>
              <a:buNone/>
            </a:pPr>
            <a:r>
              <a:rPr lang="en-US" sz="950" dirty="0">
                <a:solidFill>
                  <a:srgbClr val="6C7683"/>
                </a:solidFill>
                <a:latin typeface="Poppins" pitchFamily="34" charset="0"/>
                <a:ea typeface="Poppins" pitchFamily="34" charset="-122"/>
                <a:cs typeface="Poppins" pitchFamily="34" charset="-120"/>
              </a:rPr>
              <a:t>A modern, 100% owned fleet of 373 vehicles creating operational flexibility and hard-to-replicate barriers</a:t>
            </a:r>
            <a:endParaRPr lang="en-US" sz="950" dirty="0"/>
          </a:p>
        </p:txBody>
      </p:sp>
      <p:sp>
        <p:nvSpPr>
          <p:cNvPr id="21" name="Shape 17"/>
          <p:cNvSpPr/>
          <p:nvPr/>
        </p:nvSpPr>
        <p:spPr>
          <a:xfrm>
            <a:off x="1335024" y="3986784"/>
            <a:ext cx="6858000" cy="9144"/>
          </a:xfrm>
          <a:prstGeom prst="rect">
            <a:avLst/>
          </a:prstGeom>
          <a:solidFill>
            <a:srgbClr val="E2E6EB"/>
          </a:solidFill>
          <a:ln/>
        </p:spPr>
      </p:sp>
      <p:sp>
        <p:nvSpPr>
          <p:cNvPr id="22" name="Shape 18"/>
          <p:cNvSpPr/>
          <p:nvPr/>
        </p:nvSpPr>
        <p:spPr>
          <a:xfrm>
            <a:off x="731520" y="4114800"/>
            <a:ext cx="420624" cy="420624"/>
          </a:xfrm>
          <a:prstGeom prst="ellipse">
            <a:avLst/>
          </a:prstGeom>
          <a:solidFill>
            <a:srgbClr val="F35B1A"/>
          </a:solidFill>
          <a:ln/>
        </p:spPr>
      </p:sp>
      <p:sp>
        <p:nvSpPr>
          <p:cNvPr id="23" name="Text 19"/>
          <p:cNvSpPr/>
          <p:nvPr/>
        </p:nvSpPr>
        <p:spPr>
          <a:xfrm>
            <a:off x="731520" y="4114800"/>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4</a:t>
            </a:r>
            <a:endParaRPr lang="en-US" sz="1400" dirty="0"/>
          </a:p>
        </p:txBody>
      </p:sp>
      <p:sp>
        <p:nvSpPr>
          <p:cNvPr id="24" name="Text 20"/>
          <p:cNvSpPr/>
          <p:nvPr/>
        </p:nvSpPr>
        <p:spPr>
          <a:xfrm>
            <a:off x="1335024" y="4041648"/>
            <a:ext cx="6858000" cy="676656"/>
          </a:xfrm>
          <a:prstGeom prst="rect">
            <a:avLst/>
          </a:prstGeom>
          <a:noFill/>
          <a:ln/>
        </p:spPr>
        <p:txBody>
          <a:bodyPr wrap="square" lIns="0" tIns="0" rIns="0" bIns="0" rtlCol="0" anchor="ctr"/>
          <a:lstStyle/>
          <a:p>
            <a:pPr indent="0" marL="0">
              <a:lnSpc>
                <a:spcPct val="116000"/>
              </a:lnSpc>
              <a:buNone/>
            </a:pPr>
            <a:r>
              <a:rPr lang="en-US" sz="950" dirty="0">
                <a:solidFill>
                  <a:srgbClr val="141A24"/>
                </a:solidFill>
                <a:latin typeface="Poppins SemiBold" pitchFamily="34" charset="0"/>
                <a:ea typeface="Poppins SemiBold" pitchFamily="34" charset="-122"/>
                <a:cs typeface="Poppins SemiBold" pitchFamily="34" charset="-120"/>
              </a:rPr>
              <a:t>Integrated capabilities delivering a full-service edge</a:t>
            </a:r>
            <a:pPr indent="0" marL="0">
              <a:lnSpc>
                <a:spcPct val="116000"/>
              </a:lnSpc>
              <a:buNone/>
            </a:pPr>
            <a:r>
              <a:rPr lang="en-US" sz="950" dirty="0">
                <a:solidFill>
                  <a:srgbClr val="F35B1A"/>
                </a:solidFill>
                <a:latin typeface="Poppins" pitchFamily="34" charset="0"/>
                <a:ea typeface="Poppins" pitchFamily="34" charset="-122"/>
                <a:cs typeface="Poppins" pitchFamily="34" charset="-120"/>
              </a:rPr>
              <a:t>  —  </a:t>
            </a:r>
            <a:pPr indent="0" marL="0">
              <a:lnSpc>
                <a:spcPct val="116000"/>
              </a:lnSpc>
              <a:buNone/>
            </a:pPr>
            <a:r>
              <a:rPr lang="en-US" sz="950" dirty="0">
                <a:solidFill>
                  <a:srgbClr val="6C7683"/>
                </a:solidFill>
                <a:latin typeface="Poppins" pitchFamily="34" charset="0"/>
                <a:ea typeface="Poppins" pitchFamily="34" charset="-122"/>
                <a:cs typeface="Poppins" pitchFamily="34" charset="-120"/>
              </a:rPr>
              <a:t>GPS telemetry and driver monitoring, with in-house maintenance [TBC], for a high-uptime operation</a:t>
            </a:r>
            <a:endParaRPr lang="en-US" sz="950" dirty="0"/>
          </a:p>
        </p:txBody>
      </p:sp>
      <p:sp>
        <p:nvSpPr>
          <p:cNvPr id="25" name="Shape 21"/>
          <p:cNvSpPr/>
          <p:nvPr/>
        </p:nvSpPr>
        <p:spPr>
          <a:xfrm>
            <a:off x="1335024" y="4754880"/>
            <a:ext cx="6858000" cy="9144"/>
          </a:xfrm>
          <a:prstGeom prst="rect">
            <a:avLst/>
          </a:prstGeom>
          <a:solidFill>
            <a:srgbClr val="E2E6EB"/>
          </a:solidFill>
          <a:ln/>
        </p:spPr>
      </p:sp>
      <p:sp>
        <p:nvSpPr>
          <p:cNvPr id="26" name="Shape 22"/>
          <p:cNvSpPr/>
          <p:nvPr/>
        </p:nvSpPr>
        <p:spPr>
          <a:xfrm>
            <a:off x="731520" y="4882896"/>
            <a:ext cx="420624" cy="420624"/>
          </a:xfrm>
          <a:prstGeom prst="ellipse">
            <a:avLst/>
          </a:prstGeom>
          <a:solidFill>
            <a:srgbClr val="F35B1A"/>
          </a:solidFill>
          <a:ln/>
        </p:spPr>
      </p:sp>
      <p:sp>
        <p:nvSpPr>
          <p:cNvPr id="27" name="Text 23"/>
          <p:cNvSpPr/>
          <p:nvPr/>
        </p:nvSpPr>
        <p:spPr>
          <a:xfrm>
            <a:off x="731520" y="4882896"/>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5</a:t>
            </a:r>
            <a:endParaRPr lang="en-US" sz="1400" dirty="0"/>
          </a:p>
        </p:txBody>
      </p:sp>
      <p:sp>
        <p:nvSpPr>
          <p:cNvPr id="28" name="Text 24"/>
          <p:cNvSpPr/>
          <p:nvPr/>
        </p:nvSpPr>
        <p:spPr>
          <a:xfrm>
            <a:off x="1335024" y="4809744"/>
            <a:ext cx="6858000" cy="676656"/>
          </a:xfrm>
          <a:prstGeom prst="rect">
            <a:avLst/>
          </a:prstGeom>
          <a:noFill/>
          <a:ln/>
        </p:spPr>
        <p:txBody>
          <a:bodyPr wrap="square" lIns="0" tIns="0" rIns="0" bIns="0" rtlCol="0" anchor="ctr"/>
          <a:lstStyle/>
          <a:p>
            <a:pPr indent="0" marL="0">
              <a:lnSpc>
                <a:spcPct val="116000"/>
              </a:lnSpc>
              <a:buNone/>
            </a:pPr>
            <a:r>
              <a:rPr lang="en-US" sz="950" dirty="0">
                <a:solidFill>
                  <a:srgbClr val="141A24"/>
                </a:solidFill>
                <a:latin typeface="Poppins SemiBold" pitchFamily="34" charset="0"/>
                <a:ea typeface="Poppins SemiBold" pitchFamily="34" charset="-122"/>
                <a:cs typeface="Poppins SemiBold" pitchFamily="34" charset="-120"/>
              </a:rPr>
              <a:t>Multiple, executable growth avenues</a:t>
            </a:r>
            <a:pPr indent="0" marL="0">
              <a:lnSpc>
                <a:spcPct val="116000"/>
              </a:lnSpc>
              <a:buNone/>
            </a:pPr>
            <a:r>
              <a:rPr lang="en-US" sz="950" dirty="0">
                <a:solidFill>
                  <a:srgbClr val="F35B1A"/>
                </a:solidFill>
                <a:latin typeface="Poppins" pitchFamily="34" charset="0"/>
                <a:ea typeface="Poppins" pitchFamily="34" charset="-122"/>
                <a:cs typeface="Poppins" pitchFamily="34" charset="-120"/>
              </a:rPr>
              <a:t>  —  </a:t>
            </a:r>
            <a:pPr indent="0" marL="0">
              <a:lnSpc>
                <a:spcPct val="116000"/>
              </a:lnSpc>
              <a:buNone/>
            </a:pPr>
            <a:r>
              <a:rPr lang="en-US" sz="950" dirty="0">
                <a:solidFill>
                  <a:srgbClr val="6C7683"/>
                </a:solidFill>
                <a:latin typeface="Poppins" pitchFamily="34" charset="0"/>
                <a:ea typeface="Poppins" pitchFamily="34" charset="-122"/>
                <a:cs typeface="Poppins" pitchFamily="34" charset="-120"/>
              </a:rPr>
              <a:t>Geographic expansion, fleet electrification, technology-enabled services and consolidation of a fragmented market</a:t>
            </a:r>
            <a:endParaRPr lang="en-US" sz="950" dirty="0"/>
          </a:p>
        </p:txBody>
      </p:sp>
      <p:sp>
        <p:nvSpPr>
          <p:cNvPr id="29" name="Shape 25"/>
          <p:cNvSpPr/>
          <p:nvPr/>
        </p:nvSpPr>
        <p:spPr>
          <a:xfrm>
            <a:off x="8865108" y="1833372"/>
            <a:ext cx="2002536" cy="2002536"/>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30" name="Image 2" descr="assets/mobi_microbus.png">    </p:cNvPr>
          <p:cNvPicPr>
            <a:picLocks noChangeAspect="1"/>
          </p:cNvPicPr>
          <p:nvPr/>
        </p:nvPicPr>
        <p:blipFill>
          <a:blip r:embed="rId3"/>
          <a:srcRect l="0" r="0" t="0" b="0"/>
          <a:stretch/>
        </p:blipFill>
        <p:spPr>
          <a:xfrm>
            <a:off x="8906256" y="1874520"/>
            <a:ext cx="1920240" cy="1920240"/>
          </a:xfrm>
          <a:prstGeom prst="ellipse">
            <a:avLst/>
          </a:prstGeom>
        </p:spPr>
      </p:pic>
      <p:sp>
        <p:nvSpPr>
          <p:cNvPr id="31" name="Shape 26"/>
          <p:cNvSpPr/>
          <p:nvPr/>
        </p:nvSpPr>
        <p:spPr>
          <a:xfrm>
            <a:off x="8371332" y="4000500"/>
            <a:ext cx="1453896" cy="1453896"/>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32" name="Image 3" descr="assets/mobi_bus_front.png">    </p:cNvPr>
          <p:cNvPicPr>
            <a:picLocks noChangeAspect="1"/>
          </p:cNvPicPr>
          <p:nvPr/>
        </p:nvPicPr>
        <p:blipFill>
          <a:blip r:embed="rId4"/>
          <a:srcRect l="0" r="0" t="0" b="0"/>
          <a:stretch/>
        </p:blipFill>
        <p:spPr>
          <a:xfrm>
            <a:off x="8412480" y="4041648"/>
            <a:ext cx="1371600" cy="1371600"/>
          </a:xfrm>
          <a:prstGeom prst="ellipse">
            <a:avLst/>
          </a:prstGeom>
        </p:spPr>
      </p:pic>
      <p:sp>
        <p:nvSpPr>
          <p:cNvPr id="33" name="Shape 27"/>
          <p:cNvSpPr/>
          <p:nvPr/>
        </p:nvSpPr>
        <p:spPr>
          <a:xfrm>
            <a:off x="9925812" y="4000500"/>
            <a:ext cx="1453896" cy="1453896"/>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34" name="Image 4" descr="assets/mobi_van.png">    </p:cNvPr>
          <p:cNvPicPr>
            <a:picLocks noChangeAspect="1"/>
          </p:cNvPicPr>
          <p:nvPr/>
        </p:nvPicPr>
        <p:blipFill>
          <a:blip r:embed="rId5"/>
          <a:srcRect l="0" r="0" t="0" b="0"/>
          <a:stretch/>
        </p:blipFill>
        <p:spPr>
          <a:xfrm>
            <a:off x="9966960" y="4041648"/>
            <a:ext cx="1371600" cy="1371600"/>
          </a:xfrm>
          <a:prstGeom prst="ellipse">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548994" cy="310896"/>
          </a:xfrm>
          <a:prstGeom prst="roundRect">
            <a:avLst>
              <a:gd name="adj" fmla="val 25000"/>
            </a:avLst>
          </a:prstGeom>
          <a:solidFill>
            <a:srgbClr val="FDE9DE"/>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35B1A"/>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1</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A solid track record with blue-chip clients</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Long-term contracts across industrial, agribusiness and consumer-goods sectors — serving +50 clients</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Client relationship metrics (contracts delivered, years of relationship, share of revenue) to be confirmed with management.</a:t>
            </a:r>
            <a:endParaRPr lang="en-US" sz="700" dirty="0"/>
          </a:p>
        </p:txBody>
      </p:sp>
      <p:sp>
        <p:nvSpPr>
          <p:cNvPr id="10" name="Text 7"/>
          <p:cNvSpPr/>
          <p:nvPr/>
        </p:nvSpPr>
        <p:spPr>
          <a:xfrm>
            <a:off x="731520" y="1783080"/>
            <a:ext cx="4572000"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SELECTED CLIENTS</a:t>
            </a:r>
            <a:endParaRPr lang="en-US" sz="800" dirty="0"/>
          </a:p>
        </p:txBody>
      </p:sp>
      <p:sp>
        <p:nvSpPr>
          <p:cNvPr id="11" name="Shape 8"/>
          <p:cNvSpPr/>
          <p:nvPr/>
        </p:nvSpPr>
        <p:spPr>
          <a:xfrm>
            <a:off x="731520" y="2084832"/>
            <a:ext cx="2084832" cy="932688"/>
          </a:xfrm>
          <a:prstGeom prst="roundRect">
            <a:avLst>
              <a:gd name="adj" fmla="val 6863"/>
            </a:avLst>
          </a:prstGeom>
          <a:solidFill>
            <a:srgbClr val="FFFFFF"/>
          </a:solidFill>
          <a:ln w="12700">
            <a:solidFill>
              <a:srgbClr val="E2E6EB"/>
            </a:solidFill>
            <a:prstDash val="solid"/>
          </a:ln>
        </p:spPr>
      </p:sp>
      <p:pic>
        <p:nvPicPr>
          <p:cNvPr id="12" name="Image 1" descr="assets/cli_heineken.png">    </p:cNvPr>
          <p:cNvPicPr>
            <a:picLocks noChangeAspect="1"/>
          </p:cNvPicPr>
          <p:nvPr/>
        </p:nvPicPr>
        <p:blipFill>
          <a:blip r:embed="rId2"/>
          <a:stretch>
            <a:fillRect/>
          </a:stretch>
        </p:blipFill>
        <p:spPr>
          <a:xfrm>
            <a:off x="914400" y="2332587"/>
            <a:ext cx="1719072" cy="437178"/>
          </a:xfrm>
          <a:prstGeom prst="rect">
            <a:avLst/>
          </a:prstGeom>
        </p:spPr>
      </p:pic>
      <p:sp>
        <p:nvSpPr>
          <p:cNvPr id="13" name="Shape 9"/>
          <p:cNvSpPr/>
          <p:nvPr/>
        </p:nvSpPr>
        <p:spPr>
          <a:xfrm>
            <a:off x="2999232" y="2084832"/>
            <a:ext cx="2084832" cy="932688"/>
          </a:xfrm>
          <a:prstGeom prst="roundRect">
            <a:avLst>
              <a:gd name="adj" fmla="val 6863"/>
            </a:avLst>
          </a:prstGeom>
          <a:solidFill>
            <a:srgbClr val="FFFFFF"/>
          </a:solidFill>
          <a:ln w="12700">
            <a:solidFill>
              <a:srgbClr val="E2E6EB"/>
            </a:solidFill>
            <a:prstDash val="solid"/>
          </a:ln>
        </p:spPr>
      </p:sp>
      <p:pic>
        <p:nvPicPr>
          <p:cNvPr id="14" name="Image 2" descr="assets/cli_roche.png">    </p:cNvPr>
          <p:cNvPicPr>
            <a:picLocks noChangeAspect="1"/>
          </p:cNvPicPr>
          <p:nvPr/>
        </p:nvPicPr>
        <p:blipFill>
          <a:blip r:embed="rId3"/>
          <a:stretch>
            <a:fillRect/>
          </a:stretch>
        </p:blipFill>
        <p:spPr>
          <a:xfrm>
            <a:off x="3512203" y="2267712"/>
            <a:ext cx="1058890" cy="566928"/>
          </a:xfrm>
          <a:prstGeom prst="rect">
            <a:avLst/>
          </a:prstGeom>
        </p:spPr>
      </p:pic>
      <p:sp>
        <p:nvSpPr>
          <p:cNvPr id="15" name="Shape 10"/>
          <p:cNvSpPr/>
          <p:nvPr/>
        </p:nvSpPr>
        <p:spPr>
          <a:xfrm>
            <a:off x="5266944" y="2084832"/>
            <a:ext cx="2084832" cy="932688"/>
          </a:xfrm>
          <a:prstGeom prst="roundRect">
            <a:avLst>
              <a:gd name="adj" fmla="val 6863"/>
            </a:avLst>
          </a:prstGeom>
          <a:solidFill>
            <a:srgbClr val="FFFFFF"/>
          </a:solidFill>
          <a:ln w="12700">
            <a:solidFill>
              <a:srgbClr val="E2E6EB"/>
            </a:solidFill>
            <a:prstDash val="solid"/>
          </a:ln>
        </p:spPr>
      </p:sp>
      <p:pic>
        <p:nvPicPr>
          <p:cNvPr id="16" name="Image 3" descr="assets/cli_kraftheinz.png">    </p:cNvPr>
          <p:cNvPicPr>
            <a:picLocks noChangeAspect="1"/>
          </p:cNvPicPr>
          <p:nvPr/>
        </p:nvPicPr>
        <p:blipFill>
          <a:blip r:embed="rId4"/>
          <a:stretch>
            <a:fillRect/>
          </a:stretch>
        </p:blipFill>
        <p:spPr>
          <a:xfrm>
            <a:off x="5449824" y="2368525"/>
            <a:ext cx="1719072" cy="365303"/>
          </a:xfrm>
          <a:prstGeom prst="rect">
            <a:avLst/>
          </a:prstGeom>
        </p:spPr>
      </p:pic>
      <p:sp>
        <p:nvSpPr>
          <p:cNvPr id="17" name="Shape 11"/>
          <p:cNvSpPr/>
          <p:nvPr/>
        </p:nvSpPr>
        <p:spPr>
          <a:xfrm>
            <a:off x="731520" y="3200400"/>
            <a:ext cx="2084832" cy="932688"/>
          </a:xfrm>
          <a:prstGeom prst="roundRect">
            <a:avLst>
              <a:gd name="adj" fmla="val 6863"/>
            </a:avLst>
          </a:prstGeom>
          <a:solidFill>
            <a:srgbClr val="FFFFFF"/>
          </a:solidFill>
          <a:ln w="12700">
            <a:solidFill>
              <a:srgbClr val="E2E6EB"/>
            </a:solidFill>
            <a:prstDash val="solid"/>
          </a:ln>
        </p:spPr>
      </p:sp>
      <p:pic>
        <p:nvPicPr>
          <p:cNvPr id="18" name="Image 4" descr="assets/cli_cargill.png">    </p:cNvPr>
          <p:cNvPicPr>
            <a:picLocks noChangeAspect="1"/>
          </p:cNvPicPr>
          <p:nvPr/>
        </p:nvPicPr>
        <p:blipFill>
          <a:blip r:embed="rId5"/>
          <a:stretch>
            <a:fillRect/>
          </a:stretch>
        </p:blipFill>
        <p:spPr>
          <a:xfrm>
            <a:off x="929512" y="3383280"/>
            <a:ext cx="1688849" cy="566928"/>
          </a:xfrm>
          <a:prstGeom prst="rect">
            <a:avLst/>
          </a:prstGeom>
        </p:spPr>
      </p:pic>
      <p:sp>
        <p:nvSpPr>
          <p:cNvPr id="19" name="Shape 12"/>
          <p:cNvSpPr/>
          <p:nvPr/>
        </p:nvSpPr>
        <p:spPr>
          <a:xfrm>
            <a:off x="2999232" y="3200400"/>
            <a:ext cx="2084832" cy="932688"/>
          </a:xfrm>
          <a:prstGeom prst="roundRect">
            <a:avLst>
              <a:gd name="adj" fmla="val 6863"/>
            </a:avLst>
          </a:prstGeom>
          <a:solidFill>
            <a:srgbClr val="FFFFFF"/>
          </a:solidFill>
          <a:ln w="12700">
            <a:solidFill>
              <a:srgbClr val="E2E6EB"/>
            </a:solidFill>
            <a:prstDash val="solid"/>
          </a:ln>
        </p:spPr>
      </p:sp>
      <p:pic>
        <p:nvPicPr>
          <p:cNvPr id="20" name="Image 5" descr="assets/cli_votorantim.png">    </p:cNvPr>
          <p:cNvPicPr>
            <a:picLocks noChangeAspect="1"/>
          </p:cNvPicPr>
          <p:nvPr/>
        </p:nvPicPr>
        <p:blipFill>
          <a:blip r:embed="rId6"/>
          <a:stretch>
            <a:fillRect/>
          </a:stretch>
        </p:blipFill>
        <p:spPr>
          <a:xfrm>
            <a:off x="3182112" y="3441292"/>
            <a:ext cx="1719072" cy="450904"/>
          </a:xfrm>
          <a:prstGeom prst="rect">
            <a:avLst/>
          </a:prstGeom>
        </p:spPr>
      </p:pic>
      <p:sp>
        <p:nvSpPr>
          <p:cNvPr id="21" name="Shape 13"/>
          <p:cNvSpPr/>
          <p:nvPr/>
        </p:nvSpPr>
        <p:spPr>
          <a:xfrm>
            <a:off x="5266944" y="3200400"/>
            <a:ext cx="2084832" cy="932688"/>
          </a:xfrm>
          <a:prstGeom prst="roundRect">
            <a:avLst>
              <a:gd name="adj" fmla="val 6863"/>
            </a:avLst>
          </a:prstGeom>
          <a:solidFill>
            <a:srgbClr val="FFFFFF"/>
          </a:solidFill>
          <a:ln w="12700">
            <a:solidFill>
              <a:srgbClr val="E2E6EB"/>
            </a:solidFill>
            <a:prstDash val="solid"/>
          </a:ln>
        </p:spPr>
      </p:sp>
      <p:pic>
        <p:nvPicPr>
          <p:cNvPr id="22" name="Image 6" descr="assets/cli_jbs.png">    </p:cNvPr>
          <p:cNvPicPr>
            <a:picLocks noChangeAspect="1"/>
          </p:cNvPicPr>
          <p:nvPr/>
        </p:nvPicPr>
        <p:blipFill>
          <a:blip r:embed="rId7"/>
          <a:stretch>
            <a:fillRect/>
          </a:stretch>
        </p:blipFill>
        <p:spPr>
          <a:xfrm>
            <a:off x="5731206" y="3383280"/>
            <a:ext cx="1156309" cy="566928"/>
          </a:xfrm>
          <a:prstGeom prst="rect">
            <a:avLst/>
          </a:prstGeom>
        </p:spPr>
      </p:pic>
      <p:sp>
        <p:nvSpPr>
          <p:cNvPr id="23" name="Shape 14"/>
          <p:cNvSpPr/>
          <p:nvPr/>
        </p:nvSpPr>
        <p:spPr>
          <a:xfrm>
            <a:off x="731520" y="4315968"/>
            <a:ext cx="2084832" cy="932688"/>
          </a:xfrm>
          <a:prstGeom prst="roundRect">
            <a:avLst>
              <a:gd name="adj" fmla="val 6863"/>
            </a:avLst>
          </a:prstGeom>
          <a:solidFill>
            <a:srgbClr val="FFFFFF"/>
          </a:solidFill>
          <a:ln w="12700">
            <a:solidFill>
              <a:srgbClr val="E2E6EB"/>
            </a:solidFill>
            <a:prstDash val="solid"/>
          </a:ln>
        </p:spPr>
      </p:sp>
      <p:pic>
        <p:nvPicPr>
          <p:cNvPr id="24" name="Image 7" descr="assets/cli_mbrf.png">    </p:cNvPr>
          <p:cNvPicPr>
            <a:picLocks noChangeAspect="1"/>
          </p:cNvPicPr>
          <p:nvPr/>
        </p:nvPicPr>
        <p:blipFill>
          <a:blip r:embed="rId8"/>
          <a:stretch>
            <a:fillRect/>
          </a:stretch>
        </p:blipFill>
        <p:spPr>
          <a:xfrm>
            <a:off x="914400" y="4511204"/>
            <a:ext cx="1719072" cy="542216"/>
          </a:xfrm>
          <a:prstGeom prst="rect">
            <a:avLst/>
          </a:prstGeom>
        </p:spPr>
      </p:pic>
      <p:sp>
        <p:nvSpPr>
          <p:cNvPr id="25" name="Text 15"/>
          <p:cNvSpPr/>
          <p:nvPr/>
        </p:nvSpPr>
        <p:spPr>
          <a:xfrm>
            <a:off x="7808976" y="1783080"/>
            <a:ext cx="3651199"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PORTFOLIO CHARACTERISTICS</a:t>
            </a:r>
            <a:endParaRPr lang="en-US" sz="800" dirty="0"/>
          </a:p>
        </p:txBody>
      </p:sp>
      <p:sp>
        <p:nvSpPr>
          <p:cNvPr id="26" name="Shape 16"/>
          <p:cNvSpPr/>
          <p:nvPr/>
        </p:nvSpPr>
        <p:spPr>
          <a:xfrm>
            <a:off x="7808976" y="2084832"/>
            <a:ext cx="3651199" cy="658368"/>
          </a:xfrm>
          <a:prstGeom prst="roundRect">
            <a:avLst>
              <a:gd name="adj" fmla="val 9722"/>
            </a:avLst>
          </a:prstGeom>
          <a:solidFill>
            <a:srgbClr val="F4F6F8"/>
          </a:solidFill>
          <a:ln w="12700">
            <a:solidFill>
              <a:srgbClr val="E2E6EB"/>
            </a:solidFill>
            <a:prstDash val="solid"/>
          </a:ln>
        </p:spPr>
      </p:sp>
      <p:sp>
        <p:nvSpPr>
          <p:cNvPr id="27" name="Shape 17"/>
          <p:cNvSpPr/>
          <p:nvPr/>
        </p:nvSpPr>
        <p:spPr>
          <a:xfrm>
            <a:off x="7973568" y="2212848"/>
            <a:ext cx="402336" cy="402336"/>
          </a:xfrm>
          <a:prstGeom prst="ellipse">
            <a:avLst/>
          </a:prstGeom>
          <a:solidFill>
            <a:srgbClr val="FDE9DE"/>
          </a:solidFill>
          <a:ln/>
        </p:spPr>
      </p:sp>
      <p:pic>
        <p:nvPicPr>
          <p:cNvPr id="28" name="Image 8" descr="assets/icons/users_orange.png">    </p:cNvPr>
          <p:cNvPicPr>
            <a:picLocks noChangeAspect="1"/>
          </p:cNvPicPr>
          <p:nvPr/>
        </p:nvPicPr>
        <p:blipFill>
          <a:blip r:embed="rId9"/>
          <a:stretch>
            <a:fillRect/>
          </a:stretch>
        </p:blipFill>
        <p:spPr>
          <a:xfrm>
            <a:off x="8082199" y="2321479"/>
            <a:ext cx="185075" cy="185075"/>
          </a:xfrm>
          <a:prstGeom prst="rect">
            <a:avLst/>
          </a:prstGeom>
        </p:spPr>
      </p:pic>
      <p:sp>
        <p:nvSpPr>
          <p:cNvPr id="29" name="Text 18"/>
          <p:cNvSpPr/>
          <p:nvPr/>
        </p:nvSpPr>
        <p:spPr>
          <a:xfrm>
            <a:off x="8503920" y="2157984"/>
            <a:ext cx="2782519" cy="310896"/>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+50</a:t>
            </a:r>
            <a:endParaRPr lang="en-US" sz="1200" dirty="0"/>
          </a:p>
        </p:txBody>
      </p:sp>
      <p:sp>
        <p:nvSpPr>
          <p:cNvPr id="30" name="Text 19"/>
          <p:cNvSpPr/>
          <p:nvPr/>
        </p:nvSpPr>
        <p:spPr>
          <a:xfrm>
            <a:off x="8503920" y="2450592"/>
            <a:ext cx="2782519"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clients served</a:t>
            </a:r>
            <a:endParaRPr lang="en-US" sz="800" dirty="0"/>
          </a:p>
        </p:txBody>
      </p:sp>
      <p:sp>
        <p:nvSpPr>
          <p:cNvPr id="31" name="Shape 20"/>
          <p:cNvSpPr/>
          <p:nvPr/>
        </p:nvSpPr>
        <p:spPr>
          <a:xfrm>
            <a:off x="7808976" y="2871216"/>
            <a:ext cx="3651199" cy="658368"/>
          </a:xfrm>
          <a:prstGeom prst="roundRect">
            <a:avLst>
              <a:gd name="adj" fmla="val 9722"/>
            </a:avLst>
          </a:prstGeom>
          <a:solidFill>
            <a:srgbClr val="F4F6F8"/>
          </a:solidFill>
          <a:ln w="12700">
            <a:solidFill>
              <a:srgbClr val="E2E6EB"/>
            </a:solidFill>
            <a:prstDash val="solid"/>
          </a:ln>
        </p:spPr>
      </p:sp>
      <p:sp>
        <p:nvSpPr>
          <p:cNvPr id="32" name="Shape 21"/>
          <p:cNvSpPr/>
          <p:nvPr/>
        </p:nvSpPr>
        <p:spPr>
          <a:xfrm>
            <a:off x="7973568" y="2999232"/>
            <a:ext cx="402336" cy="402336"/>
          </a:xfrm>
          <a:prstGeom prst="ellipse">
            <a:avLst/>
          </a:prstGeom>
          <a:solidFill>
            <a:srgbClr val="FDE9DE"/>
          </a:solidFill>
          <a:ln/>
        </p:spPr>
      </p:sp>
      <p:pic>
        <p:nvPicPr>
          <p:cNvPr id="33" name="Image 9" descr="assets/icons/clock_orange.png">    </p:cNvPr>
          <p:cNvPicPr>
            <a:picLocks noChangeAspect="1"/>
          </p:cNvPicPr>
          <p:nvPr/>
        </p:nvPicPr>
        <p:blipFill>
          <a:blip r:embed="rId10"/>
          <a:stretch>
            <a:fillRect/>
          </a:stretch>
        </p:blipFill>
        <p:spPr>
          <a:xfrm>
            <a:off x="8082199" y="3107863"/>
            <a:ext cx="185075" cy="185075"/>
          </a:xfrm>
          <a:prstGeom prst="rect">
            <a:avLst/>
          </a:prstGeom>
        </p:spPr>
      </p:pic>
      <p:sp>
        <p:nvSpPr>
          <p:cNvPr id="34" name="Text 22"/>
          <p:cNvSpPr/>
          <p:nvPr/>
        </p:nvSpPr>
        <p:spPr>
          <a:xfrm>
            <a:off x="8503920" y="2944368"/>
            <a:ext cx="2782519" cy="310896"/>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3–5 years</a:t>
            </a:r>
            <a:endParaRPr lang="en-US" sz="1200" dirty="0"/>
          </a:p>
        </p:txBody>
      </p:sp>
      <p:sp>
        <p:nvSpPr>
          <p:cNvPr id="35" name="Text 23"/>
          <p:cNvSpPr/>
          <p:nvPr/>
        </p:nvSpPr>
        <p:spPr>
          <a:xfrm>
            <a:off x="8503920" y="3236976"/>
            <a:ext cx="2782519"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average contract term</a:t>
            </a:r>
            <a:endParaRPr lang="en-US" sz="800" dirty="0"/>
          </a:p>
        </p:txBody>
      </p:sp>
      <p:sp>
        <p:nvSpPr>
          <p:cNvPr id="36" name="Shape 24"/>
          <p:cNvSpPr/>
          <p:nvPr/>
        </p:nvSpPr>
        <p:spPr>
          <a:xfrm>
            <a:off x="7808976" y="3657600"/>
            <a:ext cx="3651199" cy="658368"/>
          </a:xfrm>
          <a:prstGeom prst="roundRect">
            <a:avLst>
              <a:gd name="adj" fmla="val 9722"/>
            </a:avLst>
          </a:prstGeom>
          <a:solidFill>
            <a:srgbClr val="F4F6F8"/>
          </a:solidFill>
          <a:ln w="12700">
            <a:solidFill>
              <a:srgbClr val="E2E6EB"/>
            </a:solidFill>
            <a:prstDash val="solid"/>
          </a:ln>
        </p:spPr>
      </p:sp>
      <p:sp>
        <p:nvSpPr>
          <p:cNvPr id="37" name="Shape 25"/>
          <p:cNvSpPr/>
          <p:nvPr/>
        </p:nvSpPr>
        <p:spPr>
          <a:xfrm>
            <a:off x="7973568" y="3785616"/>
            <a:ext cx="402336" cy="402336"/>
          </a:xfrm>
          <a:prstGeom prst="ellipse">
            <a:avLst/>
          </a:prstGeom>
          <a:solidFill>
            <a:srgbClr val="FDE9DE"/>
          </a:solidFill>
          <a:ln/>
        </p:spPr>
      </p:sp>
      <p:pic>
        <p:nvPicPr>
          <p:cNvPr id="38" name="Image 10" descr="assets/icons/repeat_orange.png">    </p:cNvPr>
          <p:cNvPicPr>
            <a:picLocks noChangeAspect="1"/>
          </p:cNvPicPr>
          <p:nvPr/>
        </p:nvPicPr>
        <p:blipFill>
          <a:blip r:embed="rId11"/>
          <a:stretch>
            <a:fillRect/>
          </a:stretch>
        </p:blipFill>
        <p:spPr>
          <a:xfrm>
            <a:off x="8082199" y="3894247"/>
            <a:ext cx="185075" cy="185075"/>
          </a:xfrm>
          <a:prstGeom prst="rect">
            <a:avLst/>
          </a:prstGeom>
        </p:spPr>
      </p:pic>
      <p:sp>
        <p:nvSpPr>
          <p:cNvPr id="39" name="Text 26"/>
          <p:cNvSpPr/>
          <p:nvPr/>
        </p:nvSpPr>
        <p:spPr>
          <a:xfrm>
            <a:off x="8503920" y="3730752"/>
            <a:ext cx="2782519" cy="310896"/>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Recurring</a:t>
            </a:r>
            <a:endParaRPr lang="en-US" sz="1200" dirty="0"/>
          </a:p>
        </p:txBody>
      </p:sp>
      <p:sp>
        <p:nvSpPr>
          <p:cNvPr id="40" name="Text 27"/>
          <p:cNvSpPr/>
          <p:nvPr/>
        </p:nvSpPr>
        <p:spPr>
          <a:xfrm>
            <a:off x="8503920" y="4023360"/>
            <a:ext cx="2782519"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revenue contract model</a:t>
            </a:r>
            <a:endParaRPr lang="en-US" sz="800" dirty="0"/>
          </a:p>
        </p:txBody>
      </p:sp>
      <p:sp>
        <p:nvSpPr>
          <p:cNvPr id="41" name="Shape 28"/>
          <p:cNvSpPr/>
          <p:nvPr/>
        </p:nvSpPr>
        <p:spPr>
          <a:xfrm>
            <a:off x="7808976" y="4443984"/>
            <a:ext cx="3651199" cy="658368"/>
          </a:xfrm>
          <a:prstGeom prst="roundRect">
            <a:avLst>
              <a:gd name="adj" fmla="val 9722"/>
            </a:avLst>
          </a:prstGeom>
          <a:solidFill>
            <a:srgbClr val="F4F6F8"/>
          </a:solidFill>
          <a:ln w="12700">
            <a:solidFill>
              <a:srgbClr val="E2E6EB"/>
            </a:solidFill>
            <a:prstDash val="solid"/>
          </a:ln>
        </p:spPr>
      </p:sp>
      <p:sp>
        <p:nvSpPr>
          <p:cNvPr id="42" name="Shape 29"/>
          <p:cNvSpPr/>
          <p:nvPr/>
        </p:nvSpPr>
        <p:spPr>
          <a:xfrm>
            <a:off x="7973568" y="4572000"/>
            <a:ext cx="402336" cy="402336"/>
          </a:xfrm>
          <a:prstGeom prst="ellipse">
            <a:avLst/>
          </a:prstGeom>
          <a:solidFill>
            <a:srgbClr val="FDE9DE"/>
          </a:solidFill>
          <a:ln/>
        </p:spPr>
      </p:sp>
      <p:pic>
        <p:nvPicPr>
          <p:cNvPr id="43" name="Image 11" descr="assets/icons/barchart_orange.png">    </p:cNvPr>
          <p:cNvPicPr>
            <a:picLocks noChangeAspect="1"/>
          </p:cNvPicPr>
          <p:nvPr/>
        </p:nvPicPr>
        <p:blipFill>
          <a:blip r:embed="rId12"/>
          <a:stretch>
            <a:fillRect/>
          </a:stretch>
        </p:blipFill>
        <p:spPr>
          <a:xfrm>
            <a:off x="8082199" y="4680631"/>
            <a:ext cx="185075" cy="185075"/>
          </a:xfrm>
          <a:prstGeom prst="rect">
            <a:avLst/>
          </a:prstGeom>
        </p:spPr>
      </p:pic>
      <p:sp>
        <p:nvSpPr>
          <p:cNvPr id="44" name="Text 30"/>
          <p:cNvSpPr/>
          <p:nvPr/>
        </p:nvSpPr>
        <p:spPr>
          <a:xfrm>
            <a:off x="8503920" y="4517136"/>
            <a:ext cx="2782519" cy="310896"/>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[XXX]</a:t>
            </a:r>
            <a:endParaRPr lang="en-US" sz="1200" dirty="0"/>
          </a:p>
        </p:txBody>
      </p:sp>
      <p:sp>
        <p:nvSpPr>
          <p:cNvPr id="45" name="Text 31"/>
          <p:cNvSpPr/>
          <p:nvPr/>
        </p:nvSpPr>
        <p:spPr>
          <a:xfrm>
            <a:off x="8503920" y="4809744"/>
            <a:ext cx="2782519"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contract backlog</a:t>
            </a:r>
            <a:endParaRPr lang="en-US" sz="800" dirty="0"/>
          </a:p>
        </p:txBody>
      </p:sp>
      <p:sp>
        <p:nvSpPr>
          <p:cNvPr id="46" name="Shape 32"/>
          <p:cNvSpPr/>
          <p:nvPr/>
        </p:nvSpPr>
        <p:spPr>
          <a:xfrm>
            <a:off x="0" y="6172200"/>
            <a:ext cx="12191695" cy="685800"/>
          </a:xfrm>
          <a:prstGeom prst="rect">
            <a:avLst/>
          </a:prstGeom>
          <a:solidFill>
            <a:srgbClr val="141A24"/>
          </a:solidFill>
          <a:ln/>
        </p:spPr>
      </p:sp>
      <p:sp>
        <p:nvSpPr>
          <p:cNvPr id="47" name="Shape 33"/>
          <p:cNvSpPr/>
          <p:nvPr/>
        </p:nvSpPr>
        <p:spPr>
          <a:xfrm>
            <a:off x="0" y="6172200"/>
            <a:ext cx="118872" cy="685800"/>
          </a:xfrm>
          <a:prstGeom prst="rect">
            <a:avLst/>
          </a:prstGeom>
          <a:solidFill>
            <a:srgbClr val="F35B1A"/>
          </a:solidFill>
          <a:ln/>
        </p:spPr>
      </p:sp>
      <p:sp>
        <p:nvSpPr>
          <p:cNvPr id="48" name="Text 34"/>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recurring, contracted revenue base with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blue-chip clients</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underpins visibility and resilience</a:t>
            </a:r>
            <a:endParaRPr lang="en-US" sz="1200" dirty="0"/>
          </a:p>
        </p:txBody>
      </p:sp>
      <p:pic>
        <p:nvPicPr>
          <p:cNvPr id="49" name="Image 12" descr="assets/igc_white.png">    </p:cNvPr>
          <p:cNvPicPr>
            <a:picLocks noChangeAspect="1"/>
          </p:cNvPicPr>
          <p:nvPr/>
        </p:nvPicPr>
        <p:blipFill>
          <a:blip r:embed="rId13"/>
          <a:stretch>
            <a:fillRect/>
          </a:stretch>
        </p:blipFill>
        <p:spPr>
          <a:xfrm>
            <a:off x="731520" y="6387084"/>
            <a:ext cx="274320" cy="237134"/>
          </a:xfrm>
          <a:prstGeom prst="rect">
            <a:avLst/>
          </a:prstGeom>
        </p:spPr>
      </p:pic>
      <p:sp>
        <p:nvSpPr>
          <p:cNvPr id="50" name="Text 35"/>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11</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548994" cy="310896"/>
          </a:xfrm>
          <a:prstGeom prst="roundRect">
            <a:avLst>
              <a:gd name="adj" fmla="val 25000"/>
            </a:avLst>
          </a:prstGeom>
          <a:solidFill>
            <a:srgbClr val="FDE9DE"/>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35B1A"/>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2</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A contracted revenue model built for stickiness</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Long-term contracts with built-in adjustment mechanisms transfer the main cost risks and protect margin over the cycle</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Contract terms per Company materials; contract-level economics and backlog to be confirmed with management. IPCA = Brazilian consumer price index; CBA = collective bargaining agreement.</a:t>
            </a:r>
            <a:endParaRPr lang="en-US" sz="700" dirty="0"/>
          </a:p>
        </p:txBody>
      </p:sp>
      <p:sp>
        <p:nvSpPr>
          <p:cNvPr id="10" name="Text 7"/>
          <p:cNvSpPr/>
          <p:nvPr/>
        </p:nvSpPr>
        <p:spPr>
          <a:xfrm>
            <a:off x="731520" y="1755648"/>
            <a:ext cx="5486400"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BUILT-IN PRICE ADJUSTMENT MECHANISMS</a:t>
            </a:r>
            <a:endParaRPr lang="en-US" sz="800" dirty="0"/>
          </a:p>
        </p:txBody>
      </p:sp>
      <p:sp>
        <p:nvSpPr>
          <p:cNvPr id="11" name="Shape 8"/>
          <p:cNvSpPr/>
          <p:nvPr/>
        </p:nvSpPr>
        <p:spPr>
          <a:xfrm>
            <a:off x="731520" y="2048256"/>
            <a:ext cx="2164080" cy="1481328"/>
          </a:xfrm>
          <a:prstGeom prst="roundRect">
            <a:avLst>
              <a:gd name="adj" fmla="val 4938"/>
            </a:avLst>
          </a:prstGeom>
          <a:solidFill>
            <a:srgbClr val="F4F6F8"/>
          </a:solidFill>
          <a:ln w="12700">
            <a:solidFill>
              <a:srgbClr val="E2E6EB"/>
            </a:solidFill>
            <a:prstDash val="solid"/>
          </a:ln>
        </p:spPr>
      </p:sp>
      <p:sp>
        <p:nvSpPr>
          <p:cNvPr id="12" name="Shape 9"/>
          <p:cNvSpPr/>
          <p:nvPr/>
        </p:nvSpPr>
        <p:spPr>
          <a:xfrm>
            <a:off x="731520" y="2048256"/>
            <a:ext cx="2164080" cy="36576"/>
          </a:xfrm>
          <a:prstGeom prst="rect">
            <a:avLst/>
          </a:prstGeom>
          <a:solidFill>
            <a:srgbClr val="F35B1A"/>
          </a:solidFill>
          <a:ln/>
        </p:spPr>
      </p:sp>
      <p:sp>
        <p:nvSpPr>
          <p:cNvPr id="13" name="Shape 10"/>
          <p:cNvSpPr/>
          <p:nvPr/>
        </p:nvSpPr>
        <p:spPr>
          <a:xfrm>
            <a:off x="1594104" y="2249424"/>
            <a:ext cx="438912" cy="438912"/>
          </a:xfrm>
          <a:prstGeom prst="ellipse">
            <a:avLst/>
          </a:prstGeom>
          <a:solidFill>
            <a:srgbClr val="FDE9DE"/>
          </a:solidFill>
          <a:ln/>
        </p:spPr>
      </p:sp>
      <p:pic>
        <p:nvPicPr>
          <p:cNvPr id="14" name="Image 1" descr="assets/icons/trendup_orange.png">    </p:cNvPr>
          <p:cNvPicPr>
            <a:picLocks noChangeAspect="1"/>
          </p:cNvPicPr>
          <p:nvPr/>
        </p:nvPicPr>
        <p:blipFill>
          <a:blip r:embed="rId2"/>
          <a:stretch>
            <a:fillRect/>
          </a:stretch>
        </p:blipFill>
        <p:spPr>
          <a:xfrm>
            <a:off x="1712610" y="2367930"/>
            <a:ext cx="201900" cy="201900"/>
          </a:xfrm>
          <a:prstGeom prst="rect">
            <a:avLst/>
          </a:prstGeom>
        </p:spPr>
      </p:pic>
      <p:sp>
        <p:nvSpPr>
          <p:cNvPr id="15" name="Text 11"/>
          <p:cNvSpPr/>
          <p:nvPr/>
        </p:nvSpPr>
        <p:spPr>
          <a:xfrm>
            <a:off x="841248" y="2761488"/>
            <a:ext cx="1944624"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IPCA</a:t>
            </a:r>
            <a:endParaRPr lang="en-US" sz="1050" dirty="0"/>
          </a:p>
        </p:txBody>
      </p:sp>
      <p:sp>
        <p:nvSpPr>
          <p:cNvPr id="16" name="Text 12"/>
          <p:cNvSpPr/>
          <p:nvPr/>
        </p:nvSpPr>
        <p:spPr>
          <a:xfrm>
            <a:off x="859536" y="3054096"/>
            <a:ext cx="1908048" cy="438912"/>
          </a:xfrm>
          <a:prstGeom prst="rect">
            <a:avLst/>
          </a:prstGeom>
          <a:noFill/>
          <a:ln/>
        </p:spPr>
        <p:txBody>
          <a:bodyPr wrap="square" lIns="0" tIns="0" rIns="0" bIns="0" rtlCol="0" anchor="t"/>
          <a:lstStyle/>
          <a:p>
            <a:pPr algn="ctr" indent="0" marL="0">
              <a:lnSpc>
                <a:spcPct val="114000"/>
              </a:lnSpc>
              <a:buNone/>
            </a:pPr>
            <a:r>
              <a:rPr lang="en-US" sz="800" dirty="0">
                <a:solidFill>
                  <a:srgbClr val="6C7683"/>
                </a:solidFill>
                <a:latin typeface="Poppins" pitchFamily="34" charset="0"/>
                <a:ea typeface="Poppins" pitchFamily="34" charset="-122"/>
                <a:cs typeface="Poppins" pitchFamily="34" charset="-120"/>
              </a:rPr>
              <a:t>General inflation indexation applied to the contract value</a:t>
            </a:r>
            <a:endParaRPr lang="en-US" sz="800" dirty="0"/>
          </a:p>
        </p:txBody>
      </p:sp>
      <p:sp>
        <p:nvSpPr>
          <p:cNvPr id="17" name="Shape 13"/>
          <p:cNvSpPr/>
          <p:nvPr/>
        </p:nvSpPr>
        <p:spPr>
          <a:xfrm>
            <a:off x="3078480" y="2048256"/>
            <a:ext cx="2164080" cy="1481328"/>
          </a:xfrm>
          <a:prstGeom prst="roundRect">
            <a:avLst>
              <a:gd name="adj" fmla="val 4938"/>
            </a:avLst>
          </a:prstGeom>
          <a:solidFill>
            <a:srgbClr val="F4F6F8"/>
          </a:solidFill>
          <a:ln w="12700">
            <a:solidFill>
              <a:srgbClr val="E2E6EB"/>
            </a:solidFill>
            <a:prstDash val="solid"/>
          </a:ln>
        </p:spPr>
      </p:sp>
      <p:sp>
        <p:nvSpPr>
          <p:cNvPr id="18" name="Shape 14"/>
          <p:cNvSpPr/>
          <p:nvPr/>
        </p:nvSpPr>
        <p:spPr>
          <a:xfrm>
            <a:off x="3078480" y="2048256"/>
            <a:ext cx="2164080" cy="36576"/>
          </a:xfrm>
          <a:prstGeom prst="rect">
            <a:avLst/>
          </a:prstGeom>
          <a:solidFill>
            <a:srgbClr val="F35B1A"/>
          </a:solidFill>
          <a:ln/>
        </p:spPr>
      </p:sp>
      <p:sp>
        <p:nvSpPr>
          <p:cNvPr id="19" name="Shape 15"/>
          <p:cNvSpPr/>
          <p:nvPr/>
        </p:nvSpPr>
        <p:spPr>
          <a:xfrm>
            <a:off x="3941064" y="2249424"/>
            <a:ext cx="438912" cy="438912"/>
          </a:xfrm>
          <a:prstGeom prst="ellipse">
            <a:avLst/>
          </a:prstGeom>
          <a:solidFill>
            <a:srgbClr val="FDE9DE"/>
          </a:solidFill>
          <a:ln/>
        </p:spPr>
      </p:sp>
      <p:pic>
        <p:nvPicPr>
          <p:cNvPr id="20" name="Image 2" descr="assets/icons/users_orange.png">    </p:cNvPr>
          <p:cNvPicPr>
            <a:picLocks noChangeAspect="1"/>
          </p:cNvPicPr>
          <p:nvPr/>
        </p:nvPicPr>
        <p:blipFill>
          <a:blip r:embed="rId3"/>
          <a:stretch>
            <a:fillRect/>
          </a:stretch>
        </p:blipFill>
        <p:spPr>
          <a:xfrm>
            <a:off x="4059570" y="2367930"/>
            <a:ext cx="201900" cy="201900"/>
          </a:xfrm>
          <a:prstGeom prst="rect">
            <a:avLst/>
          </a:prstGeom>
        </p:spPr>
      </p:pic>
      <p:sp>
        <p:nvSpPr>
          <p:cNvPr id="21" name="Text 16"/>
          <p:cNvSpPr/>
          <p:nvPr/>
        </p:nvSpPr>
        <p:spPr>
          <a:xfrm>
            <a:off x="3188208" y="2761488"/>
            <a:ext cx="1944624"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Collective bargaining</a:t>
            </a:r>
            <a:endParaRPr lang="en-US" sz="1050" dirty="0"/>
          </a:p>
        </p:txBody>
      </p:sp>
      <p:sp>
        <p:nvSpPr>
          <p:cNvPr id="22" name="Text 17"/>
          <p:cNvSpPr/>
          <p:nvPr/>
        </p:nvSpPr>
        <p:spPr>
          <a:xfrm>
            <a:off x="3206496" y="3054096"/>
            <a:ext cx="1908048" cy="438912"/>
          </a:xfrm>
          <a:prstGeom prst="rect">
            <a:avLst/>
          </a:prstGeom>
          <a:noFill/>
          <a:ln/>
        </p:spPr>
        <p:txBody>
          <a:bodyPr wrap="square" lIns="0" tIns="0" rIns="0" bIns="0" rtlCol="0" anchor="t"/>
          <a:lstStyle/>
          <a:p>
            <a:pPr algn="ctr" indent="0" marL="0">
              <a:lnSpc>
                <a:spcPct val="114000"/>
              </a:lnSpc>
              <a:buNone/>
            </a:pPr>
            <a:r>
              <a:rPr lang="en-US" sz="800" dirty="0">
                <a:solidFill>
                  <a:srgbClr val="6C7683"/>
                </a:solidFill>
                <a:latin typeface="Poppins" pitchFamily="34" charset="0"/>
                <a:ea typeface="Poppins" pitchFamily="34" charset="-122"/>
                <a:cs typeface="Poppins" pitchFamily="34" charset="-120"/>
              </a:rPr>
              <a:t>Driver wage increases negotiated sector-wide are passed through</a:t>
            </a:r>
            <a:endParaRPr lang="en-US" sz="800" dirty="0"/>
          </a:p>
        </p:txBody>
      </p:sp>
      <p:sp>
        <p:nvSpPr>
          <p:cNvPr id="23" name="Shape 18"/>
          <p:cNvSpPr/>
          <p:nvPr/>
        </p:nvSpPr>
        <p:spPr>
          <a:xfrm>
            <a:off x="5425440" y="2048256"/>
            <a:ext cx="2164080" cy="1481328"/>
          </a:xfrm>
          <a:prstGeom prst="roundRect">
            <a:avLst>
              <a:gd name="adj" fmla="val 4938"/>
            </a:avLst>
          </a:prstGeom>
          <a:solidFill>
            <a:srgbClr val="F4F6F8"/>
          </a:solidFill>
          <a:ln w="12700">
            <a:solidFill>
              <a:srgbClr val="E2E6EB"/>
            </a:solidFill>
            <a:prstDash val="solid"/>
          </a:ln>
        </p:spPr>
      </p:sp>
      <p:sp>
        <p:nvSpPr>
          <p:cNvPr id="24" name="Shape 19"/>
          <p:cNvSpPr/>
          <p:nvPr/>
        </p:nvSpPr>
        <p:spPr>
          <a:xfrm>
            <a:off x="5425440" y="2048256"/>
            <a:ext cx="2164080" cy="36576"/>
          </a:xfrm>
          <a:prstGeom prst="rect">
            <a:avLst/>
          </a:prstGeom>
          <a:solidFill>
            <a:srgbClr val="F35B1A"/>
          </a:solidFill>
          <a:ln/>
        </p:spPr>
      </p:sp>
      <p:sp>
        <p:nvSpPr>
          <p:cNvPr id="25" name="Shape 20"/>
          <p:cNvSpPr/>
          <p:nvPr/>
        </p:nvSpPr>
        <p:spPr>
          <a:xfrm>
            <a:off x="6288024" y="2249424"/>
            <a:ext cx="438912" cy="438912"/>
          </a:xfrm>
          <a:prstGeom prst="ellipse">
            <a:avLst/>
          </a:prstGeom>
          <a:solidFill>
            <a:srgbClr val="FDE9DE"/>
          </a:solidFill>
          <a:ln/>
        </p:spPr>
      </p:sp>
      <p:pic>
        <p:nvPicPr>
          <p:cNvPr id="26" name="Image 3" descr="assets/icons/zap_orange.png">    </p:cNvPr>
          <p:cNvPicPr>
            <a:picLocks noChangeAspect="1"/>
          </p:cNvPicPr>
          <p:nvPr/>
        </p:nvPicPr>
        <p:blipFill>
          <a:blip r:embed="rId4"/>
          <a:stretch>
            <a:fillRect/>
          </a:stretch>
        </p:blipFill>
        <p:spPr>
          <a:xfrm>
            <a:off x="6406530" y="2367930"/>
            <a:ext cx="201900" cy="201900"/>
          </a:xfrm>
          <a:prstGeom prst="rect">
            <a:avLst/>
          </a:prstGeom>
        </p:spPr>
      </p:pic>
      <p:sp>
        <p:nvSpPr>
          <p:cNvPr id="27" name="Text 21"/>
          <p:cNvSpPr/>
          <p:nvPr/>
        </p:nvSpPr>
        <p:spPr>
          <a:xfrm>
            <a:off x="5535168" y="2761488"/>
            <a:ext cx="1944624"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Diesel variation</a:t>
            </a:r>
            <a:endParaRPr lang="en-US" sz="1050" dirty="0"/>
          </a:p>
        </p:txBody>
      </p:sp>
      <p:sp>
        <p:nvSpPr>
          <p:cNvPr id="28" name="Text 22"/>
          <p:cNvSpPr/>
          <p:nvPr/>
        </p:nvSpPr>
        <p:spPr>
          <a:xfrm>
            <a:off x="5553456" y="3054096"/>
            <a:ext cx="1908048" cy="438912"/>
          </a:xfrm>
          <a:prstGeom prst="rect">
            <a:avLst/>
          </a:prstGeom>
          <a:noFill/>
          <a:ln/>
        </p:spPr>
        <p:txBody>
          <a:bodyPr wrap="square" lIns="0" tIns="0" rIns="0" bIns="0" rtlCol="0" anchor="t"/>
          <a:lstStyle/>
          <a:p>
            <a:pPr algn="ctr" indent="0" marL="0">
              <a:lnSpc>
                <a:spcPct val="114000"/>
              </a:lnSpc>
              <a:buNone/>
            </a:pPr>
            <a:r>
              <a:rPr lang="en-US" sz="800" dirty="0">
                <a:solidFill>
                  <a:srgbClr val="6C7683"/>
                </a:solidFill>
                <a:latin typeface="Poppins" pitchFamily="34" charset="0"/>
                <a:ea typeface="Poppins" pitchFamily="34" charset="-122"/>
                <a:cs typeface="Poppins" pitchFamily="34" charset="-120"/>
              </a:rPr>
              <a:t>Fuel price movements — the largest variable cost — are passed through</a:t>
            </a:r>
            <a:endParaRPr lang="en-US" sz="800" dirty="0"/>
          </a:p>
        </p:txBody>
      </p:sp>
      <p:sp>
        <p:nvSpPr>
          <p:cNvPr id="29" name="Text 23"/>
          <p:cNvSpPr/>
          <p:nvPr/>
        </p:nvSpPr>
        <p:spPr>
          <a:xfrm>
            <a:off x="731520" y="3712464"/>
            <a:ext cx="5486400"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WHY CLIENTS RENEW</a:t>
            </a:r>
            <a:endParaRPr lang="en-US" sz="800" dirty="0"/>
          </a:p>
        </p:txBody>
      </p:sp>
      <p:sp>
        <p:nvSpPr>
          <p:cNvPr id="30" name="Shape 24"/>
          <p:cNvSpPr/>
          <p:nvPr/>
        </p:nvSpPr>
        <p:spPr>
          <a:xfrm rot="5400000">
            <a:off x="731520" y="4069080"/>
            <a:ext cx="137160" cy="137160"/>
          </a:xfrm>
          <a:prstGeom prst="triangle">
            <a:avLst/>
          </a:prstGeom>
          <a:solidFill>
            <a:srgbClr val="F35B1A"/>
          </a:solidFill>
          <a:ln/>
        </p:spPr>
      </p:sp>
      <p:sp>
        <p:nvSpPr>
          <p:cNvPr id="31" name="Text 25"/>
          <p:cNvSpPr/>
          <p:nvPr/>
        </p:nvSpPr>
        <p:spPr>
          <a:xfrm>
            <a:off x="969264" y="4005072"/>
            <a:ext cx="6583680" cy="512064"/>
          </a:xfrm>
          <a:prstGeom prst="rect">
            <a:avLst/>
          </a:prstGeom>
          <a:noFill/>
          <a:ln/>
        </p:spPr>
        <p:txBody>
          <a:bodyPr wrap="square" lIns="0" tIns="0" rIns="0" bIns="0" rtlCol="0" anchor="t"/>
          <a:lstStyle/>
          <a:p>
            <a:pPr indent="0" marL="0">
              <a:lnSpc>
                <a:spcPct val="114000"/>
              </a:lnSpc>
              <a:buNone/>
            </a:pPr>
            <a:r>
              <a:rPr lang="en-US" sz="850" dirty="0">
                <a:solidFill>
                  <a:srgbClr val="141A24"/>
                </a:solidFill>
                <a:latin typeface="Poppins SemiBold" pitchFamily="34" charset="0"/>
                <a:ea typeface="Poppins SemiBold" pitchFamily="34" charset="-122"/>
                <a:cs typeface="Poppins SemiBold" pitchFamily="34" charset="-120"/>
              </a:rPr>
              <a:t>Operational embedding  —  </a:t>
            </a:r>
            <a:pPr indent="0" marL="0">
              <a:lnSpc>
                <a:spcPct val="114000"/>
              </a:lnSpc>
              <a:buNone/>
            </a:pPr>
            <a:r>
              <a:rPr lang="en-US" sz="850" dirty="0">
                <a:solidFill>
                  <a:srgbClr val="6C7683"/>
                </a:solidFill>
                <a:latin typeface="Poppins" pitchFamily="34" charset="0"/>
                <a:ea typeface="Poppins" pitchFamily="34" charset="-122"/>
                <a:cs typeface="Poppins" pitchFamily="34" charset="-120"/>
              </a:rPr>
              <a:t>Routes, shift windows and stops are designed around the client's own operation — switching supplier means redesigning it</a:t>
            </a:r>
            <a:endParaRPr lang="en-US" sz="850" dirty="0"/>
          </a:p>
        </p:txBody>
      </p:sp>
      <p:sp>
        <p:nvSpPr>
          <p:cNvPr id="32" name="Shape 26"/>
          <p:cNvSpPr/>
          <p:nvPr/>
        </p:nvSpPr>
        <p:spPr>
          <a:xfrm rot="5400000">
            <a:off x="731520" y="4636008"/>
            <a:ext cx="137160" cy="137160"/>
          </a:xfrm>
          <a:prstGeom prst="triangle">
            <a:avLst/>
          </a:prstGeom>
          <a:solidFill>
            <a:srgbClr val="F35B1A"/>
          </a:solidFill>
          <a:ln/>
        </p:spPr>
      </p:sp>
      <p:sp>
        <p:nvSpPr>
          <p:cNvPr id="33" name="Text 27"/>
          <p:cNvSpPr/>
          <p:nvPr/>
        </p:nvSpPr>
        <p:spPr>
          <a:xfrm>
            <a:off x="969264" y="4572000"/>
            <a:ext cx="6583680" cy="512064"/>
          </a:xfrm>
          <a:prstGeom prst="rect">
            <a:avLst/>
          </a:prstGeom>
          <a:noFill/>
          <a:ln/>
        </p:spPr>
        <p:txBody>
          <a:bodyPr wrap="square" lIns="0" tIns="0" rIns="0" bIns="0" rtlCol="0" anchor="t"/>
          <a:lstStyle/>
          <a:p>
            <a:pPr indent="0" marL="0">
              <a:lnSpc>
                <a:spcPct val="114000"/>
              </a:lnSpc>
              <a:buNone/>
            </a:pPr>
            <a:r>
              <a:rPr lang="en-US" sz="850" dirty="0">
                <a:solidFill>
                  <a:srgbClr val="141A24"/>
                </a:solidFill>
                <a:latin typeface="Poppins SemiBold" pitchFamily="34" charset="0"/>
                <a:ea typeface="Poppins SemiBold" pitchFamily="34" charset="-122"/>
                <a:cs typeface="Poppins SemiBold" pitchFamily="34" charset="-120"/>
              </a:rPr>
              <a:t>Compliance exposure  —  </a:t>
            </a:r>
            <a:pPr indent="0" marL="0">
              <a:lnSpc>
                <a:spcPct val="114000"/>
              </a:lnSpc>
              <a:buNone/>
            </a:pPr>
            <a:r>
              <a:rPr lang="en-US" sz="850" dirty="0">
                <a:solidFill>
                  <a:srgbClr val="6C7683"/>
                </a:solidFill>
                <a:latin typeface="Poppins" pitchFamily="34" charset="0"/>
                <a:ea typeface="Poppins" pitchFamily="34" charset="-122"/>
                <a:cs typeface="Poppins" pitchFamily="34" charset="-120"/>
              </a:rPr>
              <a:t>Employee transport carries labour and safety obligations; an established, compliant operator lowers the client's risk</a:t>
            </a:r>
            <a:endParaRPr lang="en-US" sz="850" dirty="0"/>
          </a:p>
        </p:txBody>
      </p:sp>
      <p:sp>
        <p:nvSpPr>
          <p:cNvPr id="34" name="Shape 28"/>
          <p:cNvSpPr/>
          <p:nvPr/>
        </p:nvSpPr>
        <p:spPr>
          <a:xfrm rot="5400000">
            <a:off x="731520" y="5202936"/>
            <a:ext cx="137160" cy="137160"/>
          </a:xfrm>
          <a:prstGeom prst="triangle">
            <a:avLst/>
          </a:prstGeom>
          <a:solidFill>
            <a:srgbClr val="F35B1A"/>
          </a:solidFill>
          <a:ln/>
        </p:spPr>
      </p:sp>
      <p:sp>
        <p:nvSpPr>
          <p:cNvPr id="35" name="Text 29"/>
          <p:cNvSpPr/>
          <p:nvPr/>
        </p:nvSpPr>
        <p:spPr>
          <a:xfrm>
            <a:off x="969264" y="5138928"/>
            <a:ext cx="6583680" cy="512064"/>
          </a:xfrm>
          <a:prstGeom prst="rect">
            <a:avLst/>
          </a:prstGeom>
          <a:noFill/>
          <a:ln/>
        </p:spPr>
        <p:txBody>
          <a:bodyPr wrap="square" lIns="0" tIns="0" rIns="0" bIns="0" rtlCol="0" anchor="t"/>
          <a:lstStyle/>
          <a:p>
            <a:pPr indent="0" marL="0">
              <a:lnSpc>
                <a:spcPct val="114000"/>
              </a:lnSpc>
              <a:buNone/>
            </a:pPr>
            <a:r>
              <a:rPr lang="en-US" sz="850" dirty="0">
                <a:solidFill>
                  <a:srgbClr val="141A24"/>
                </a:solidFill>
                <a:latin typeface="Poppins SemiBold" pitchFamily="34" charset="0"/>
                <a:ea typeface="Poppins SemiBold" pitchFamily="34" charset="-122"/>
                <a:cs typeface="Poppins SemiBold" pitchFamily="34" charset="-120"/>
              </a:rPr>
              <a:t>Dedicated assets  —  </a:t>
            </a:r>
            <a:pPr indent="0" marL="0">
              <a:lnSpc>
                <a:spcPct val="114000"/>
              </a:lnSpc>
              <a:buNone/>
            </a:pPr>
            <a:r>
              <a:rPr lang="en-US" sz="850" dirty="0">
                <a:solidFill>
                  <a:srgbClr val="6C7683"/>
                </a:solidFill>
                <a:latin typeface="Poppins" pitchFamily="34" charset="0"/>
                <a:ea typeface="Poppins" pitchFamily="34" charset="-122"/>
                <a:cs typeface="Poppins" pitchFamily="34" charset="-120"/>
              </a:rPr>
              <a:t>Vehicles and drivers are committed to the contract, so service continuity does not depend on spot capacity</a:t>
            </a:r>
            <a:endParaRPr lang="en-US" sz="850" dirty="0"/>
          </a:p>
        </p:txBody>
      </p:sp>
      <p:sp>
        <p:nvSpPr>
          <p:cNvPr id="36" name="Shape 30"/>
          <p:cNvSpPr/>
          <p:nvPr/>
        </p:nvSpPr>
        <p:spPr>
          <a:xfrm>
            <a:off x="7772400" y="1755648"/>
            <a:ext cx="3687775" cy="3931920"/>
          </a:xfrm>
          <a:prstGeom prst="roundRect">
            <a:avLst>
              <a:gd name="adj" fmla="val 2480"/>
            </a:avLst>
          </a:prstGeom>
          <a:solidFill>
            <a:srgbClr val="141A24"/>
          </a:solidFill>
          <a:ln/>
        </p:spPr>
      </p:sp>
      <p:pic>
        <p:nvPicPr>
          <p:cNvPr id="37" name="Image 4" descr="assets/stripes_orange.png">    </p:cNvPr>
          <p:cNvPicPr>
            <a:picLocks noChangeAspect="1"/>
          </p:cNvPicPr>
          <p:nvPr/>
        </p:nvPicPr>
        <p:blipFill>
          <a:blip r:embed="rId5">
            <a:alphaModFix amt="26000"/>
          </a:blip>
          <a:stretch>
            <a:fillRect/>
          </a:stretch>
        </p:blipFill>
        <p:spPr>
          <a:xfrm>
            <a:off x="10180015" y="4407408"/>
            <a:ext cx="1280160" cy="1280160"/>
          </a:xfrm>
          <a:prstGeom prst="rect">
            <a:avLst/>
          </a:prstGeom>
        </p:spPr>
      </p:pic>
      <p:sp>
        <p:nvSpPr>
          <p:cNvPr id="38" name="Text 31"/>
          <p:cNvSpPr/>
          <p:nvPr/>
        </p:nvSpPr>
        <p:spPr>
          <a:xfrm>
            <a:off x="8028432" y="1956816"/>
            <a:ext cx="3175711"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CONTRACT PROFILE</a:t>
            </a:r>
            <a:endParaRPr lang="en-US" sz="800" dirty="0"/>
          </a:p>
        </p:txBody>
      </p:sp>
      <p:sp>
        <p:nvSpPr>
          <p:cNvPr id="39" name="Text 32"/>
          <p:cNvSpPr/>
          <p:nvPr/>
        </p:nvSpPr>
        <p:spPr>
          <a:xfrm>
            <a:off x="8028432" y="2304288"/>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3–5 years</a:t>
            </a:r>
            <a:endParaRPr lang="en-US" sz="1400" dirty="0"/>
          </a:p>
        </p:txBody>
      </p:sp>
      <p:sp>
        <p:nvSpPr>
          <p:cNvPr id="40" name="Text 33"/>
          <p:cNvSpPr/>
          <p:nvPr/>
        </p:nvSpPr>
        <p:spPr>
          <a:xfrm>
            <a:off x="8028432" y="2578608"/>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Typical contract term</a:t>
            </a:r>
            <a:endParaRPr lang="en-US" sz="800" dirty="0"/>
          </a:p>
        </p:txBody>
      </p:sp>
      <p:sp>
        <p:nvSpPr>
          <p:cNvPr id="41" name="Shape 34"/>
          <p:cNvSpPr/>
          <p:nvPr/>
        </p:nvSpPr>
        <p:spPr>
          <a:xfrm>
            <a:off x="8028432" y="2852928"/>
            <a:ext cx="3175711" cy="10973"/>
          </a:xfrm>
          <a:prstGeom prst="rect">
            <a:avLst/>
          </a:prstGeom>
          <a:solidFill>
            <a:srgbClr val="323E50"/>
          </a:solidFill>
          <a:ln/>
        </p:spPr>
      </p:sp>
      <p:sp>
        <p:nvSpPr>
          <p:cNvPr id="42" name="Text 35"/>
          <p:cNvSpPr/>
          <p:nvPr/>
        </p:nvSpPr>
        <p:spPr>
          <a:xfrm>
            <a:off x="8028432" y="2971800"/>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Monthly</a:t>
            </a:r>
            <a:endParaRPr lang="en-US" sz="1400" dirty="0"/>
          </a:p>
        </p:txBody>
      </p:sp>
      <p:sp>
        <p:nvSpPr>
          <p:cNvPr id="43" name="Text 36"/>
          <p:cNvSpPr/>
          <p:nvPr/>
        </p:nvSpPr>
        <p:spPr>
          <a:xfrm>
            <a:off x="8028432" y="3246120"/>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Recurring billing cycle</a:t>
            </a:r>
            <a:endParaRPr lang="en-US" sz="800" dirty="0"/>
          </a:p>
        </p:txBody>
      </p:sp>
      <p:sp>
        <p:nvSpPr>
          <p:cNvPr id="44" name="Shape 37"/>
          <p:cNvSpPr/>
          <p:nvPr/>
        </p:nvSpPr>
        <p:spPr>
          <a:xfrm>
            <a:off x="8028432" y="3520440"/>
            <a:ext cx="3175711" cy="10973"/>
          </a:xfrm>
          <a:prstGeom prst="rect">
            <a:avLst/>
          </a:prstGeom>
          <a:solidFill>
            <a:srgbClr val="323E50"/>
          </a:solidFill>
          <a:ln/>
        </p:spPr>
      </p:sp>
      <p:sp>
        <p:nvSpPr>
          <p:cNvPr id="45" name="Text 38"/>
          <p:cNvSpPr/>
          <p:nvPr/>
        </p:nvSpPr>
        <p:spPr>
          <a:xfrm>
            <a:off x="8028432" y="3639312"/>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Dedicated</a:t>
            </a:r>
            <a:endParaRPr lang="en-US" sz="1400" dirty="0"/>
          </a:p>
        </p:txBody>
      </p:sp>
      <p:sp>
        <p:nvSpPr>
          <p:cNvPr id="46" name="Text 39"/>
          <p:cNvSpPr/>
          <p:nvPr/>
        </p:nvSpPr>
        <p:spPr>
          <a:xfrm>
            <a:off x="8028432" y="3913632"/>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Vehicles and drivers per contract</a:t>
            </a:r>
            <a:endParaRPr lang="en-US" sz="800" dirty="0"/>
          </a:p>
        </p:txBody>
      </p:sp>
      <p:sp>
        <p:nvSpPr>
          <p:cNvPr id="47" name="Shape 40"/>
          <p:cNvSpPr/>
          <p:nvPr/>
        </p:nvSpPr>
        <p:spPr>
          <a:xfrm>
            <a:off x="8028432" y="4187952"/>
            <a:ext cx="3175711" cy="10973"/>
          </a:xfrm>
          <a:prstGeom prst="rect">
            <a:avLst/>
          </a:prstGeom>
          <a:solidFill>
            <a:srgbClr val="323E50"/>
          </a:solidFill>
          <a:ln/>
        </p:spPr>
      </p:sp>
      <p:sp>
        <p:nvSpPr>
          <p:cNvPr id="48" name="Text 41"/>
          <p:cNvSpPr/>
          <p:nvPr/>
        </p:nvSpPr>
        <p:spPr>
          <a:xfrm>
            <a:off x="8028432" y="4306824"/>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[XXX]</a:t>
            </a:r>
            <a:endParaRPr lang="en-US" sz="1400" dirty="0"/>
          </a:p>
        </p:txBody>
      </p:sp>
      <p:sp>
        <p:nvSpPr>
          <p:cNvPr id="49" name="Text 42"/>
          <p:cNvSpPr/>
          <p:nvPr/>
        </p:nvSpPr>
        <p:spPr>
          <a:xfrm>
            <a:off x="8028432" y="4581144"/>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Contract backlog</a:t>
            </a:r>
            <a:endParaRPr lang="en-US" sz="800" dirty="0"/>
          </a:p>
        </p:txBody>
      </p:sp>
      <p:sp>
        <p:nvSpPr>
          <p:cNvPr id="50" name="Shape 43"/>
          <p:cNvSpPr/>
          <p:nvPr/>
        </p:nvSpPr>
        <p:spPr>
          <a:xfrm>
            <a:off x="8028432" y="4855464"/>
            <a:ext cx="3175711" cy="10973"/>
          </a:xfrm>
          <a:prstGeom prst="rect">
            <a:avLst/>
          </a:prstGeom>
          <a:solidFill>
            <a:srgbClr val="323E50"/>
          </a:solidFill>
          <a:ln/>
        </p:spPr>
      </p:sp>
      <p:sp>
        <p:nvSpPr>
          <p:cNvPr id="51" name="Text 44"/>
          <p:cNvSpPr/>
          <p:nvPr/>
        </p:nvSpPr>
        <p:spPr>
          <a:xfrm>
            <a:off x="8028432" y="4974336"/>
            <a:ext cx="3175711"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[XXX]</a:t>
            </a:r>
            <a:endParaRPr lang="en-US" sz="1400" dirty="0"/>
          </a:p>
        </p:txBody>
      </p:sp>
      <p:sp>
        <p:nvSpPr>
          <p:cNvPr id="52" name="Text 45"/>
          <p:cNvSpPr/>
          <p:nvPr/>
        </p:nvSpPr>
        <p:spPr>
          <a:xfrm>
            <a:off x="8028432" y="5248656"/>
            <a:ext cx="3175711"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Contracts executed recently</a:t>
            </a:r>
            <a:endParaRPr lang="en-US" sz="800" dirty="0"/>
          </a:p>
        </p:txBody>
      </p:sp>
      <p:sp>
        <p:nvSpPr>
          <p:cNvPr id="53" name="Shape 46"/>
          <p:cNvSpPr/>
          <p:nvPr/>
        </p:nvSpPr>
        <p:spPr>
          <a:xfrm>
            <a:off x="0" y="6172200"/>
            <a:ext cx="12191695" cy="685800"/>
          </a:xfrm>
          <a:prstGeom prst="rect">
            <a:avLst/>
          </a:prstGeom>
          <a:solidFill>
            <a:srgbClr val="141A24"/>
          </a:solidFill>
          <a:ln/>
        </p:spPr>
      </p:sp>
      <p:sp>
        <p:nvSpPr>
          <p:cNvPr id="54" name="Shape 47"/>
          <p:cNvSpPr/>
          <p:nvPr/>
        </p:nvSpPr>
        <p:spPr>
          <a:xfrm>
            <a:off x="0" y="6172200"/>
            <a:ext cx="118872" cy="685800"/>
          </a:xfrm>
          <a:prstGeom prst="rect">
            <a:avLst/>
          </a:prstGeom>
          <a:solidFill>
            <a:srgbClr val="F35B1A"/>
          </a:solidFill>
          <a:ln/>
        </p:spPr>
      </p:sp>
      <p:sp>
        <p:nvSpPr>
          <p:cNvPr id="55" name="Text 48"/>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Contracts that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pass through the main cost risks</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and are costly for clients to unwind</a:t>
            </a:r>
            <a:endParaRPr lang="en-US" sz="1200" dirty="0"/>
          </a:p>
        </p:txBody>
      </p:sp>
      <p:pic>
        <p:nvPicPr>
          <p:cNvPr id="56" name="Image 5" descr="assets/igc_white.png">    </p:cNvPr>
          <p:cNvPicPr>
            <a:picLocks noChangeAspect="1"/>
          </p:cNvPicPr>
          <p:nvPr/>
        </p:nvPicPr>
        <p:blipFill>
          <a:blip r:embed="rId6"/>
          <a:stretch>
            <a:fillRect/>
          </a:stretch>
        </p:blipFill>
        <p:spPr>
          <a:xfrm>
            <a:off x="731520" y="6387084"/>
            <a:ext cx="274320" cy="237134"/>
          </a:xfrm>
          <a:prstGeom prst="rect">
            <a:avLst/>
          </a:prstGeom>
        </p:spPr>
      </p:pic>
      <p:sp>
        <p:nvSpPr>
          <p:cNvPr id="57" name="Text 49"/>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12</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548994" cy="310896"/>
          </a:xfrm>
          <a:prstGeom prst="roundRect">
            <a:avLst>
              <a:gd name="adj" fmla="val 25000"/>
            </a:avLst>
          </a:prstGeom>
          <a:solidFill>
            <a:srgbClr val="FDE9DE"/>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35B1A"/>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3</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A modern, fully-owned fleet tailored to client needs</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373 owned vehicles across buses, micro-buses and vans, sourced from leading chassis brands</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Jan-2026 fleet register. (1) Average age per Company materials; ~6 years based on chassis manufacture year — to reconcile with management. (2) 373 owned vehicles per the Jan-26 register; +400 aggregate fleet per Company materials. (3) Value of the fleet per Company materials.</a:t>
            </a:r>
            <a:endParaRPr lang="en-US" sz="700" dirty="0"/>
          </a:p>
        </p:txBody>
      </p:sp>
      <p:sp>
        <p:nvSpPr>
          <p:cNvPr id="10" name="Shape 7"/>
          <p:cNvSpPr/>
          <p:nvPr/>
        </p:nvSpPr>
        <p:spPr>
          <a:xfrm>
            <a:off x="731520" y="1783080"/>
            <a:ext cx="2743200" cy="3291840"/>
          </a:xfrm>
          <a:prstGeom prst="roundRect">
            <a:avLst>
              <a:gd name="adj" fmla="val 3333"/>
            </a:avLst>
          </a:prstGeom>
          <a:solidFill>
            <a:srgbClr val="141A24"/>
          </a:solidFill>
          <a:ln/>
        </p:spPr>
      </p:sp>
      <p:sp>
        <p:nvSpPr>
          <p:cNvPr id="11" name="Shape 8"/>
          <p:cNvSpPr/>
          <p:nvPr/>
        </p:nvSpPr>
        <p:spPr>
          <a:xfrm>
            <a:off x="731520" y="2057400"/>
            <a:ext cx="50292" cy="2743200"/>
          </a:xfrm>
          <a:prstGeom prst="rect">
            <a:avLst/>
          </a:prstGeom>
          <a:solidFill>
            <a:srgbClr val="F35B1A"/>
          </a:solidFill>
          <a:ln/>
        </p:spPr>
      </p:sp>
      <p:sp>
        <p:nvSpPr>
          <p:cNvPr id="12" name="Text 9"/>
          <p:cNvSpPr/>
          <p:nvPr/>
        </p:nvSpPr>
        <p:spPr>
          <a:xfrm>
            <a:off x="1005840" y="1938528"/>
            <a:ext cx="2194560"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HIGHLIGHTS</a:t>
            </a:r>
            <a:endParaRPr lang="en-US" sz="800" dirty="0"/>
          </a:p>
        </p:txBody>
      </p:sp>
      <p:sp>
        <p:nvSpPr>
          <p:cNvPr id="13" name="Text 10"/>
          <p:cNvSpPr/>
          <p:nvPr/>
        </p:nvSpPr>
        <p:spPr>
          <a:xfrm>
            <a:off x="1005840" y="2304288"/>
            <a:ext cx="2194560" cy="329184"/>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4 years</a:t>
            </a:r>
            <a:endParaRPr lang="en-US" sz="1600" dirty="0"/>
          </a:p>
        </p:txBody>
      </p:sp>
      <p:sp>
        <p:nvSpPr>
          <p:cNvPr id="14" name="Text 11"/>
          <p:cNvSpPr/>
          <p:nvPr/>
        </p:nvSpPr>
        <p:spPr>
          <a:xfrm>
            <a:off x="1005840" y="2615184"/>
            <a:ext cx="2194560"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Average fleet age¹</a:t>
            </a:r>
            <a:endParaRPr lang="en-US" sz="800" dirty="0"/>
          </a:p>
        </p:txBody>
      </p:sp>
      <p:sp>
        <p:nvSpPr>
          <p:cNvPr id="15" name="Text 12"/>
          <p:cNvSpPr/>
          <p:nvPr/>
        </p:nvSpPr>
        <p:spPr>
          <a:xfrm>
            <a:off x="1005840" y="2999232"/>
            <a:ext cx="2194560" cy="329184"/>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+400</a:t>
            </a:r>
            <a:endParaRPr lang="en-US" sz="1600" dirty="0"/>
          </a:p>
        </p:txBody>
      </p:sp>
      <p:sp>
        <p:nvSpPr>
          <p:cNvPr id="16" name="Text 13"/>
          <p:cNvSpPr/>
          <p:nvPr/>
        </p:nvSpPr>
        <p:spPr>
          <a:xfrm>
            <a:off x="1005840" y="3310128"/>
            <a:ext cx="2194560"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Vehicles²</a:t>
            </a:r>
            <a:endParaRPr lang="en-US" sz="800" dirty="0"/>
          </a:p>
        </p:txBody>
      </p:sp>
      <p:sp>
        <p:nvSpPr>
          <p:cNvPr id="17" name="Text 14"/>
          <p:cNvSpPr/>
          <p:nvPr/>
        </p:nvSpPr>
        <p:spPr>
          <a:xfrm>
            <a:off x="1005840" y="3694176"/>
            <a:ext cx="2194560" cy="329184"/>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BRL 200 Mn</a:t>
            </a:r>
            <a:endParaRPr lang="en-US" sz="1600" dirty="0"/>
          </a:p>
        </p:txBody>
      </p:sp>
      <p:sp>
        <p:nvSpPr>
          <p:cNvPr id="18" name="Text 15"/>
          <p:cNvSpPr/>
          <p:nvPr/>
        </p:nvSpPr>
        <p:spPr>
          <a:xfrm>
            <a:off x="1005840" y="4005072"/>
            <a:ext cx="2194560"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Value of the fleet³</a:t>
            </a:r>
            <a:endParaRPr lang="en-US" sz="800" dirty="0"/>
          </a:p>
        </p:txBody>
      </p:sp>
      <p:sp>
        <p:nvSpPr>
          <p:cNvPr id="19" name="Text 16"/>
          <p:cNvSpPr/>
          <p:nvPr/>
        </p:nvSpPr>
        <p:spPr>
          <a:xfrm>
            <a:off x="1005840" y="4389120"/>
            <a:ext cx="2194560" cy="329184"/>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100%</a:t>
            </a:r>
            <a:endParaRPr lang="en-US" sz="1600" dirty="0"/>
          </a:p>
        </p:txBody>
      </p:sp>
      <p:sp>
        <p:nvSpPr>
          <p:cNvPr id="20" name="Text 17"/>
          <p:cNvSpPr/>
          <p:nvPr/>
        </p:nvSpPr>
        <p:spPr>
          <a:xfrm>
            <a:off x="1005840" y="4700016"/>
            <a:ext cx="2194560" cy="201168"/>
          </a:xfrm>
          <a:prstGeom prst="rect">
            <a:avLst/>
          </a:prstGeom>
          <a:noFill/>
          <a:ln/>
        </p:spPr>
        <p:txBody>
          <a:bodyPr wrap="square" lIns="0" tIns="0" rIns="0" bIns="0" rtlCol="0" anchor="ctr"/>
          <a:lstStyle/>
          <a:p>
            <a:pPr indent="0" marL="0">
              <a:buNone/>
            </a:pPr>
            <a:r>
              <a:rPr lang="en-US" sz="800" dirty="0">
                <a:solidFill>
                  <a:srgbClr val="8B95A5"/>
                </a:solidFill>
                <a:latin typeface="Poppins" pitchFamily="34" charset="0"/>
                <a:ea typeface="Poppins" pitchFamily="34" charset="-122"/>
                <a:cs typeface="Poppins" pitchFamily="34" charset="-120"/>
              </a:rPr>
              <a:t>Owned fleet</a:t>
            </a:r>
            <a:endParaRPr lang="en-US" sz="800" dirty="0"/>
          </a:p>
        </p:txBody>
      </p:sp>
      <p:sp>
        <p:nvSpPr>
          <p:cNvPr id="21" name="Text 18"/>
          <p:cNvSpPr/>
          <p:nvPr/>
        </p:nvSpPr>
        <p:spPr>
          <a:xfrm>
            <a:off x="3858768" y="1783080"/>
            <a:ext cx="4206240"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FLEET COMPOSITION  (OWNED, JAN-26)</a:t>
            </a:r>
            <a:endParaRPr lang="en-US" sz="800" dirty="0"/>
          </a:p>
        </p:txBody>
      </p:sp>
      <p:sp>
        <p:nvSpPr>
          <p:cNvPr id="22" name="Text 19"/>
          <p:cNvSpPr/>
          <p:nvPr/>
        </p:nvSpPr>
        <p:spPr>
          <a:xfrm>
            <a:off x="3858768" y="2139696"/>
            <a:ext cx="2103120" cy="219456"/>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Bus</a:t>
            </a:r>
            <a:endParaRPr lang="en-US" sz="900" dirty="0"/>
          </a:p>
        </p:txBody>
      </p:sp>
      <p:sp>
        <p:nvSpPr>
          <p:cNvPr id="23" name="Text 20"/>
          <p:cNvSpPr/>
          <p:nvPr/>
        </p:nvSpPr>
        <p:spPr>
          <a:xfrm>
            <a:off x="7059168" y="2139696"/>
            <a:ext cx="1005840" cy="219456"/>
          </a:xfrm>
          <a:prstGeom prst="rect">
            <a:avLst/>
          </a:prstGeom>
          <a:noFill/>
          <a:ln/>
        </p:spPr>
        <p:txBody>
          <a:bodyPr wrap="square" lIns="0" tIns="0" rIns="0" bIns="0" rtlCol="0" anchor="ctr"/>
          <a:lstStyle/>
          <a:p>
            <a:pPr algn="r" indent="0" marL="0">
              <a:buNone/>
            </a:pPr>
            <a:r>
              <a:rPr lang="en-US" sz="900" dirty="0">
                <a:solidFill>
                  <a:srgbClr val="141A24"/>
                </a:solidFill>
                <a:latin typeface="Poppins SemiBold" pitchFamily="34" charset="0"/>
                <a:ea typeface="Poppins SemiBold" pitchFamily="34" charset="-122"/>
                <a:cs typeface="Poppins SemiBold" pitchFamily="34" charset="-120"/>
              </a:rPr>
              <a:t>223 un.</a:t>
            </a:r>
            <a:endParaRPr lang="en-US" sz="900" dirty="0"/>
          </a:p>
        </p:txBody>
      </p:sp>
      <p:sp>
        <p:nvSpPr>
          <p:cNvPr id="24" name="Shape 21"/>
          <p:cNvSpPr/>
          <p:nvPr/>
        </p:nvSpPr>
        <p:spPr>
          <a:xfrm>
            <a:off x="3858768" y="2395728"/>
            <a:ext cx="4206240" cy="128016"/>
          </a:xfrm>
          <a:prstGeom prst="roundRect">
            <a:avLst>
              <a:gd name="adj" fmla="val 50000"/>
            </a:avLst>
          </a:prstGeom>
          <a:solidFill>
            <a:srgbClr val="EDF0F3"/>
          </a:solidFill>
          <a:ln/>
        </p:spPr>
      </p:sp>
      <p:sp>
        <p:nvSpPr>
          <p:cNvPr id="25" name="Shape 22"/>
          <p:cNvSpPr/>
          <p:nvPr/>
        </p:nvSpPr>
        <p:spPr>
          <a:xfrm>
            <a:off x="3858768" y="2395728"/>
            <a:ext cx="4206240" cy="128016"/>
          </a:xfrm>
          <a:prstGeom prst="roundRect">
            <a:avLst>
              <a:gd name="adj" fmla="val 50000"/>
            </a:avLst>
          </a:prstGeom>
          <a:solidFill>
            <a:srgbClr val="F35B1A"/>
          </a:solidFill>
          <a:ln/>
        </p:spPr>
      </p:sp>
      <p:sp>
        <p:nvSpPr>
          <p:cNvPr id="26" name="Text 23"/>
          <p:cNvSpPr/>
          <p:nvPr/>
        </p:nvSpPr>
        <p:spPr>
          <a:xfrm>
            <a:off x="3858768" y="2642616"/>
            <a:ext cx="2103120" cy="219456"/>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Micro-bus</a:t>
            </a:r>
            <a:endParaRPr lang="en-US" sz="900" dirty="0"/>
          </a:p>
        </p:txBody>
      </p:sp>
      <p:sp>
        <p:nvSpPr>
          <p:cNvPr id="27" name="Text 24"/>
          <p:cNvSpPr/>
          <p:nvPr/>
        </p:nvSpPr>
        <p:spPr>
          <a:xfrm>
            <a:off x="7059168" y="2642616"/>
            <a:ext cx="1005840" cy="219456"/>
          </a:xfrm>
          <a:prstGeom prst="rect">
            <a:avLst/>
          </a:prstGeom>
          <a:noFill/>
          <a:ln/>
        </p:spPr>
        <p:txBody>
          <a:bodyPr wrap="square" lIns="0" tIns="0" rIns="0" bIns="0" rtlCol="0" anchor="ctr"/>
          <a:lstStyle/>
          <a:p>
            <a:pPr algn="r" indent="0" marL="0">
              <a:buNone/>
            </a:pPr>
            <a:r>
              <a:rPr lang="en-US" sz="900" dirty="0">
                <a:solidFill>
                  <a:srgbClr val="141A24"/>
                </a:solidFill>
                <a:latin typeface="Poppins SemiBold" pitchFamily="34" charset="0"/>
                <a:ea typeface="Poppins SemiBold" pitchFamily="34" charset="-122"/>
                <a:cs typeface="Poppins SemiBold" pitchFamily="34" charset="-120"/>
              </a:rPr>
              <a:t>74 un.</a:t>
            </a:r>
            <a:endParaRPr lang="en-US" sz="900" dirty="0"/>
          </a:p>
        </p:txBody>
      </p:sp>
      <p:sp>
        <p:nvSpPr>
          <p:cNvPr id="28" name="Shape 25"/>
          <p:cNvSpPr/>
          <p:nvPr/>
        </p:nvSpPr>
        <p:spPr>
          <a:xfrm>
            <a:off x="3858768" y="2898648"/>
            <a:ext cx="4206240" cy="128016"/>
          </a:xfrm>
          <a:prstGeom prst="roundRect">
            <a:avLst>
              <a:gd name="adj" fmla="val 50000"/>
            </a:avLst>
          </a:prstGeom>
          <a:solidFill>
            <a:srgbClr val="EDF0F3"/>
          </a:solidFill>
          <a:ln/>
        </p:spPr>
      </p:sp>
      <p:sp>
        <p:nvSpPr>
          <p:cNvPr id="29" name="Shape 26"/>
          <p:cNvSpPr/>
          <p:nvPr/>
        </p:nvSpPr>
        <p:spPr>
          <a:xfrm>
            <a:off x="3858768" y="2898648"/>
            <a:ext cx="1395793" cy="128016"/>
          </a:xfrm>
          <a:prstGeom prst="roundRect">
            <a:avLst>
              <a:gd name="adj" fmla="val 50000"/>
            </a:avLst>
          </a:prstGeom>
          <a:solidFill>
            <a:srgbClr val="F35B1A"/>
          </a:solidFill>
          <a:ln/>
        </p:spPr>
      </p:sp>
      <p:sp>
        <p:nvSpPr>
          <p:cNvPr id="30" name="Text 27"/>
          <p:cNvSpPr/>
          <p:nvPr/>
        </p:nvSpPr>
        <p:spPr>
          <a:xfrm>
            <a:off x="3858768" y="3145536"/>
            <a:ext cx="2103120" cy="219456"/>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Van</a:t>
            </a:r>
            <a:endParaRPr lang="en-US" sz="900" dirty="0"/>
          </a:p>
        </p:txBody>
      </p:sp>
      <p:sp>
        <p:nvSpPr>
          <p:cNvPr id="31" name="Text 28"/>
          <p:cNvSpPr/>
          <p:nvPr/>
        </p:nvSpPr>
        <p:spPr>
          <a:xfrm>
            <a:off x="7059168" y="3145536"/>
            <a:ext cx="1005840" cy="219456"/>
          </a:xfrm>
          <a:prstGeom prst="rect">
            <a:avLst/>
          </a:prstGeom>
          <a:noFill/>
          <a:ln/>
        </p:spPr>
        <p:txBody>
          <a:bodyPr wrap="square" lIns="0" tIns="0" rIns="0" bIns="0" rtlCol="0" anchor="ctr"/>
          <a:lstStyle/>
          <a:p>
            <a:pPr algn="r" indent="0" marL="0">
              <a:buNone/>
            </a:pPr>
            <a:r>
              <a:rPr lang="en-US" sz="900" dirty="0">
                <a:solidFill>
                  <a:srgbClr val="141A24"/>
                </a:solidFill>
                <a:latin typeface="Poppins SemiBold" pitchFamily="34" charset="0"/>
                <a:ea typeface="Poppins SemiBold" pitchFamily="34" charset="-122"/>
                <a:cs typeface="Poppins SemiBold" pitchFamily="34" charset="-120"/>
              </a:rPr>
              <a:t>55 un.</a:t>
            </a:r>
            <a:endParaRPr lang="en-US" sz="900" dirty="0"/>
          </a:p>
        </p:txBody>
      </p:sp>
      <p:sp>
        <p:nvSpPr>
          <p:cNvPr id="32" name="Shape 29"/>
          <p:cNvSpPr/>
          <p:nvPr/>
        </p:nvSpPr>
        <p:spPr>
          <a:xfrm>
            <a:off x="3858768" y="3401568"/>
            <a:ext cx="4206240" cy="128016"/>
          </a:xfrm>
          <a:prstGeom prst="roundRect">
            <a:avLst>
              <a:gd name="adj" fmla="val 50000"/>
            </a:avLst>
          </a:prstGeom>
          <a:solidFill>
            <a:srgbClr val="EDF0F3"/>
          </a:solidFill>
          <a:ln/>
        </p:spPr>
      </p:sp>
      <p:sp>
        <p:nvSpPr>
          <p:cNvPr id="33" name="Shape 30"/>
          <p:cNvSpPr/>
          <p:nvPr/>
        </p:nvSpPr>
        <p:spPr>
          <a:xfrm>
            <a:off x="3858768" y="3401568"/>
            <a:ext cx="1037413" cy="128016"/>
          </a:xfrm>
          <a:prstGeom prst="roundRect">
            <a:avLst>
              <a:gd name="adj" fmla="val 50000"/>
            </a:avLst>
          </a:prstGeom>
          <a:solidFill>
            <a:srgbClr val="F35B1A"/>
          </a:solidFill>
          <a:ln/>
        </p:spPr>
      </p:sp>
      <p:sp>
        <p:nvSpPr>
          <p:cNvPr id="34" name="Text 31"/>
          <p:cNvSpPr/>
          <p:nvPr/>
        </p:nvSpPr>
        <p:spPr>
          <a:xfrm>
            <a:off x="3858768" y="3648456"/>
            <a:ext cx="2103120" cy="219456"/>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Support vehicle</a:t>
            </a:r>
            <a:endParaRPr lang="en-US" sz="900" dirty="0"/>
          </a:p>
        </p:txBody>
      </p:sp>
      <p:sp>
        <p:nvSpPr>
          <p:cNvPr id="35" name="Text 32"/>
          <p:cNvSpPr/>
          <p:nvPr/>
        </p:nvSpPr>
        <p:spPr>
          <a:xfrm>
            <a:off x="7059168" y="3648456"/>
            <a:ext cx="1005840" cy="219456"/>
          </a:xfrm>
          <a:prstGeom prst="rect">
            <a:avLst/>
          </a:prstGeom>
          <a:noFill/>
          <a:ln/>
        </p:spPr>
        <p:txBody>
          <a:bodyPr wrap="square" lIns="0" tIns="0" rIns="0" bIns="0" rtlCol="0" anchor="ctr"/>
          <a:lstStyle/>
          <a:p>
            <a:pPr algn="r" indent="0" marL="0">
              <a:buNone/>
            </a:pPr>
            <a:r>
              <a:rPr lang="en-US" sz="900" dirty="0">
                <a:solidFill>
                  <a:srgbClr val="141A24"/>
                </a:solidFill>
                <a:latin typeface="Poppins SemiBold" pitchFamily="34" charset="0"/>
                <a:ea typeface="Poppins SemiBold" pitchFamily="34" charset="-122"/>
                <a:cs typeface="Poppins SemiBold" pitchFamily="34" charset="-120"/>
              </a:rPr>
              <a:t>17 un.</a:t>
            </a:r>
            <a:endParaRPr lang="en-US" sz="900" dirty="0"/>
          </a:p>
        </p:txBody>
      </p:sp>
      <p:sp>
        <p:nvSpPr>
          <p:cNvPr id="36" name="Shape 33"/>
          <p:cNvSpPr/>
          <p:nvPr/>
        </p:nvSpPr>
        <p:spPr>
          <a:xfrm>
            <a:off x="3858768" y="3904488"/>
            <a:ext cx="4206240" cy="128016"/>
          </a:xfrm>
          <a:prstGeom prst="roundRect">
            <a:avLst>
              <a:gd name="adj" fmla="val 50000"/>
            </a:avLst>
          </a:prstGeom>
          <a:solidFill>
            <a:srgbClr val="EDF0F3"/>
          </a:solidFill>
          <a:ln/>
        </p:spPr>
      </p:sp>
      <p:sp>
        <p:nvSpPr>
          <p:cNvPr id="37" name="Shape 34"/>
          <p:cNvSpPr/>
          <p:nvPr/>
        </p:nvSpPr>
        <p:spPr>
          <a:xfrm>
            <a:off x="3858768" y="3904488"/>
            <a:ext cx="320655" cy="128016"/>
          </a:xfrm>
          <a:prstGeom prst="roundRect">
            <a:avLst>
              <a:gd name="adj" fmla="val 50000"/>
            </a:avLst>
          </a:prstGeom>
          <a:solidFill>
            <a:srgbClr val="F35B1A"/>
          </a:solidFill>
          <a:ln/>
        </p:spPr>
      </p:sp>
      <p:sp>
        <p:nvSpPr>
          <p:cNvPr id="38" name="Text 35"/>
          <p:cNvSpPr/>
          <p:nvPr/>
        </p:nvSpPr>
        <p:spPr>
          <a:xfrm>
            <a:off x="3858768" y="4151376"/>
            <a:ext cx="2103120" cy="219456"/>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Truck</a:t>
            </a:r>
            <a:endParaRPr lang="en-US" sz="900" dirty="0"/>
          </a:p>
        </p:txBody>
      </p:sp>
      <p:sp>
        <p:nvSpPr>
          <p:cNvPr id="39" name="Text 36"/>
          <p:cNvSpPr/>
          <p:nvPr/>
        </p:nvSpPr>
        <p:spPr>
          <a:xfrm>
            <a:off x="7059168" y="4151376"/>
            <a:ext cx="1005840" cy="219456"/>
          </a:xfrm>
          <a:prstGeom prst="rect">
            <a:avLst/>
          </a:prstGeom>
          <a:noFill/>
          <a:ln/>
        </p:spPr>
        <p:txBody>
          <a:bodyPr wrap="square" lIns="0" tIns="0" rIns="0" bIns="0" rtlCol="0" anchor="ctr"/>
          <a:lstStyle/>
          <a:p>
            <a:pPr algn="r" indent="0" marL="0">
              <a:buNone/>
            </a:pPr>
            <a:r>
              <a:rPr lang="en-US" sz="900" dirty="0">
                <a:solidFill>
                  <a:srgbClr val="141A24"/>
                </a:solidFill>
                <a:latin typeface="Poppins SemiBold" pitchFamily="34" charset="0"/>
                <a:ea typeface="Poppins SemiBold" pitchFamily="34" charset="-122"/>
                <a:cs typeface="Poppins SemiBold" pitchFamily="34" charset="-120"/>
              </a:rPr>
              <a:t>2 un.</a:t>
            </a:r>
            <a:endParaRPr lang="en-US" sz="900" dirty="0"/>
          </a:p>
        </p:txBody>
      </p:sp>
      <p:sp>
        <p:nvSpPr>
          <p:cNvPr id="40" name="Shape 37"/>
          <p:cNvSpPr/>
          <p:nvPr/>
        </p:nvSpPr>
        <p:spPr>
          <a:xfrm>
            <a:off x="3858768" y="4407408"/>
            <a:ext cx="4206240" cy="128016"/>
          </a:xfrm>
          <a:prstGeom prst="roundRect">
            <a:avLst>
              <a:gd name="adj" fmla="val 50000"/>
            </a:avLst>
          </a:prstGeom>
          <a:solidFill>
            <a:srgbClr val="EDF0F3"/>
          </a:solidFill>
          <a:ln/>
        </p:spPr>
      </p:sp>
      <p:sp>
        <p:nvSpPr>
          <p:cNvPr id="41" name="Shape 38"/>
          <p:cNvSpPr/>
          <p:nvPr/>
        </p:nvSpPr>
        <p:spPr>
          <a:xfrm>
            <a:off x="3858768" y="4407408"/>
            <a:ext cx="128016" cy="128016"/>
          </a:xfrm>
          <a:prstGeom prst="roundRect">
            <a:avLst>
              <a:gd name="adj" fmla="val 50000"/>
            </a:avLst>
          </a:prstGeom>
          <a:solidFill>
            <a:srgbClr val="F35B1A"/>
          </a:solidFill>
          <a:ln/>
        </p:spPr>
      </p:sp>
      <p:sp>
        <p:nvSpPr>
          <p:cNvPr id="42" name="Text 39"/>
          <p:cNvSpPr/>
          <p:nvPr/>
        </p:nvSpPr>
        <p:spPr>
          <a:xfrm>
            <a:off x="3858768" y="4654296"/>
            <a:ext cx="2103120" cy="219456"/>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Pickup truck</a:t>
            </a:r>
            <a:endParaRPr lang="en-US" sz="900" dirty="0"/>
          </a:p>
        </p:txBody>
      </p:sp>
      <p:sp>
        <p:nvSpPr>
          <p:cNvPr id="43" name="Text 40"/>
          <p:cNvSpPr/>
          <p:nvPr/>
        </p:nvSpPr>
        <p:spPr>
          <a:xfrm>
            <a:off x="7059168" y="4654296"/>
            <a:ext cx="1005840" cy="219456"/>
          </a:xfrm>
          <a:prstGeom prst="rect">
            <a:avLst/>
          </a:prstGeom>
          <a:noFill/>
          <a:ln/>
        </p:spPr>
        <p:txBody>
          <a:bodyPr wrap="square" lIns="0" tIns="0" rIns="0" bIns="0" rtlCol="0" anchor="ctr"/>
          <a:lstStyle/>
          <a:p>
            <a:pPr algn="r" indent="0" marL="0">
              <a:buNone/>
            </a:pPr>
            <a:r>
              <a:rPr lang="en-US" sz="900" dirty="0">
                <a:solidFill>
                  <a:srgbClr val="141A24"/>
                </a:solidFill>
                <a:latin typeface="Poppins SemiBold" pitchFamily="34" charset="0"/>
                <a:ea typeface="Poppins SemiBold" pitchFamily="34" charset="-122"/>
                <a:cs typeface="Poppins SemiBold" pitchFamily="34" charset="-120"/>
              </a:rPr>
              <a:t>2 un.</a:t>
            </a:r>
            <a:endParaRPr lang="en-US" sz="900" dirty="0"/>
          </a:p>
        </p:txBody>
      </p:sp>
      <p:sp>
        <p:nvSpPr>
          <p:cNvPr id="44" name="Shape 41"/>
          <p:cNvSpPr/>
          <p:nvPr/>
        </p:nvSpPr>
        <p:spPr>
          <a:xfrm>
            <a:off x="3858768" y="4910328"/>
            <a:ext cx="4206240" cy="128016"/>
          </a:xfrm>
          <a:prstGeom prst="roundRect">
            <a:avLst>
              <a:gd name="adj" fmla="val 50000"/>
            </a:avLst>
          </a:prstGeom>
          <a:solidFill>
            <a:srgbClr val="EDF0F3"/>
          </a:solidFill>
          <a:ln/>
        </p:spPr>
      </p:sp>
      <p:sp>
        <p:nvSpPr>
          <p:cNvPr id="45" name="Shape 42"/>
          <p:cNvSpPr/>
          <p:nvPr/>
        </p:nvSpPr>
        <p:spPr>
          <a:xfrm>
            <a:off x="3858768" y="4910328"/>
            <a:ext cx="128016" cy="128016"/>
          </a:xfrm>
          <a:prstGeom prst="roundRect">
            <a:avLst>
              <a:gd name="adj" fmla="val 50000"/>
            </a:avLst>
          </a:prstGeom>
          <a:solidFill>
            <a:srgbClr val="F35B1A"/>
          </a:solidFill>
          <a:ln/>
        </p:spPr>
      </p:sp>
      <p:sp>
        <p:nvSpPr>
          <p:cNvPr id="46" name="Shape 43"/>
          <p:cNvSpPr/>
          <p:nvPr/>
        </p:nvSpPr>
        <p:spPr>
          <a:xfrm>
            <a:off x="9332824" y="1769364"/>
            <a:ext cx="1271016" cy="1271016"/>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47" name="Image 1" descr="assets/mobi_van.png">    </p:cNvPr>
          <p:cNvPicPr>
            <a:picLocks noChangeAspect="1"/>
          </p:cNvPicPr>
          <p:nvPr/>
        </p:nvPicPr>
        <p:blipFill>
          <a:blip r:embed="rId2"/>
          <a:srcRect l="0" r="0" t="0" b="0"/>
          <a:stretch/>
        </p:blipFill>
        <p:spPr>
          <a:xfrm>
            <a:off x="9373972" y="1810512"/>
            <a:ext cx="1188720" cy="1188720"/>
          </a:xfrm>
          <a:prstGeom prst="ellipse">
            <a:avLst/>
          </a:prstGeom>
        </p:spPr>
      </p:pic>
      <p:sp>
        <p:nvSpPr>
          <p:cNvPr id="48" name="Text 44"/>
          <p:cNvSpPr/>
          <p:nvPr/>
        </p:nvSpPr>
        <p:spPr>
          <a:xfrm>
            <a:off x="8476488" y="3182112"/>
            <a:ext cx="2983687"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LEADING CHASSIS &amp; EQUIPMENT BRANDS</a:t>
            </a:r>
            <a:endParaRPr lang="en-US" sz="800" dirty="0"/>
          </a:p>
        </p:txBody>
      </p:sp>
      <p:sp>
        <p:nvSpPr>
          <p:cNvPr id="49" name="Shape 45"/>
          <p:cNvSpPr/>
          <p:nvPr/>
        </p:nvSpPr>
        <p:spPr>
          <a:xfrm>
            <a:off x="8476488" y="3474720"/>
            <a:ext cx="1418692" cy="621792"/>
          </a:xfrm>
          <a:prstGeom prst="roundRect">
            <a:avLst>
              <a:gd name="adj" fmla="val 10294"/>
            </a:avLst>
          </a:prstGeom>
          <a:solidFill>
            <a:srgbClr val="FFFFFF"/>
          </a:solidFill>
          <a:ln w="12700">
            <a:solidFill>
              <a:srgbClr val="E2E6EB"/>
            </a:solidFill>
            <a:prstDash val="solid"/>
          </a:ln>
        </p:spPr>
      </p:sp>
      <p:pic>
        <p:nvPicPr>
          <p:cNvPr id="50" name="Image 2" descr="assets/br_mercedes.png">    </p:cNvPr>
          <p:cNvPicPr>
            <a:picLocks noChangeAspect="1"/>
          </p:cNvPicPr>
          <p:nvPr/>
        </p:nvPicPr>
        <p:blipFill>
          <a:blip r:embed="rId3"/>
          <a:stretch>
            <a:fillRect/>
          </a:stretch>
        </p:blipFill>
        <p:spPr>
          <a:xfrm>
            <a:off x="8895122" y="3575304"/>
            <a:ext cx="581424" cy="420624"/>
          </a:xfrm>
          <a:prstGeom prst="rect">
            <a:avLst/>
          </a:prstGeom>
        </p:spPr>
      </p:pic>
      <p:sp>
        <p:nvSpPr>
          <p:cNvPr id="51" name="Shape 46"/>
          <p:cNvSpPr/>
          <p:nvPr/>
        </p:nvSpPr>
        <p:spPr>
          <a:xfrm>
            <a:off x="10041484" y="3474720"/>
            <a:ext cx="1418692" cy="621792"/>
          </a:xfrm>
          <a:prstGeom prst="roundRect">
            <a:avLst>
              <a:gd name="adj" fmla="val 10294"/>
            </a:avLst>
          </a:prstGeom>
          <a:solidFill>
            <a:srgbClr val="FFFFFF"/>
          </a:solidFill>
          <a:ln w="12700">
            <a:solidFill>
              <a:srgbClr val="E2E6EB"/>
            </a:solidFill>
            <a:prstDash val="solid"/>
          </a:ln>
        </p:spPr>
      </p:sp>
      <p:pic>
        <p:nvPicPr>
          <p:cNvPr id="52" name="Image 3" descr="assets/br_volvo.png">    </p:cNvPr>
          <p:cNvPicPr>
            <a:picLocks noChangeAspect="1"/>
          </p:cNvPicPr>
          <p:nvPr/>
        </p:nvPicPr>
        <p:blipFill>
          <a:blip r:embed="rId4"/>
          <a:stretch>
            <a:fillRect/>
          </a:stretch>
        </p:blipFill>
        <p:spPr>
          <a:xfrm>
            <a:off x="10540517" y="3575304"/>
            <a:ext cx="420624" cy="420624"/>
          </a:xfrm>
          <a:prstGeom prst="rect">
            <a:avLst/>
          </a:prstGeom>
        </p:spPr>
      </p:pic>
      <p:sp>
        <p:nvSpPr>
          <p:cNvPr id="53" name="Shape 47"/>
          <p:cNvSpPr/>
          <p:nvPr/>
        </p:nvSpPr>
        <p:spPr>
          <a:xfrm>
            <a:off x="8476488" y="4224528"/>
            <a:ext cx="1418692" cy="621792"/>
          </a:xfrm>
          <a:prstGeom prst="roundRect">
            <a:avLst>
              <a:gd name="adj" fmla="val 10294"/>
            </a:avLst>
          </a:prstGeom>
          <a:solidFill>
            <a:srgbClr val="FFFFFF"/>
          </a:solidFill>
          <a:ln w="12700">
            <a:solidFill>
              <a:srgbClr val="E2E6EB"/>
            </a:solidFill>
            <a:prstDash val="solid"/>
          </a:ln>
        </p:spPr>
      </p:sp>
      <p:pic>
        <p:nvPicPr>
          <p:cNvPr id="54" name="Image 4" descr="assets/br_scania.png">    </p:cNvPr>
          <p:cNvPicPr>
            <a:picLocks noChangeAspect="1"/>
          </p:cNvPicPr>
          <p:nvPr/>
        </p:nvPicPr>
        <p:blipFill>
          <a:blip r:embed="rId5"/>
          <a:stretch>
            <a:fillRect/>
          </a:stretch>
        </p:blipFill>
        <p:spPr>
          <a:xfrm>
            <a:off x="8975522" y="4325112"/>
            <a:ext cx="420624" cy="420624"/>
          </a:xfrm>
          <a:prstGeom prst="rect">
            <a:avLst/>
          </a:prstGeom>
        </p:spPr>
      </p:pic>
      <p:sp>
        <p:nvSpPr>
          <p:cNvPr id="55" name="Shape 48"/>
          <p:cNvSpPr/>
          <p:nvPr/>
        </p:nvSpPr>
        <p:spPr>
          <a:xfrm>
            <a:off x="10041484" y="4224528"/>
            <a:ext cx="1418692" cy="621792"/>
          </a:xfrm>
          <a:prstGeom prst="roundRect">
            <a:avLst>
              <a:gd name="adj" fmla="val 10294"/>
            </a:avLst>
          </a:prstGeom>
          <a:solidFill>
            <a:srgbClr val="FFFFFF"/>
          </a:solidFill>
          <a:ln w="12700">
            <a:solidFill>
              <a:srgbClr val="E2E6EB"/>
            </a:solidFill>
            <a:prstDash val="solid"/>
          </a:ln>
        </p:spPr>
      </p:sp>
      <p:pic>
        <p:nvPicPr>
          <p:cNvPr id="56" name="Image 5" descr="assets/br_ford.png">    </p:cNvPr>
          <p:cNvPicPr>
            <a:picLocks noChangeAspect="1"/>
          </p:cNvPicPr>
          <p:nvPr/>
        </p:nvPicPr>
        <p:blipFill>
          <a:blip r:embed="rId6"/>
          <a:stretch>
            <a:fillRect/>
          </a:stretch>
        </p:blipFill>
        <p:spPr>
          <a:xfrm>
            <a:off x="10473729" y="4325112"/>
            <a:ext cx="554201" cy="420624"/>
          </a:xfrm>
          <a:prstGeom prst="rect">
            <a:avLst/>
          </a:prstGeom>
        </p:spPr>
      </p:pic>
      <p:sp>
        <p:nvSpPr>
          <p:cNvPr id="57" name="Shape 49"/>
          <p:cNvSpPr/>
          <p:nvPr/>
        </p:nvSpPr>
        <p:spPr>
          <a:xfrm>
            <a:off x="8476488" y="4974336"/>
            <a:ext cx="1418692" cy="621792"/>
          </a:xfrm>
          <a:prstGeom prst="roundRect">
            <a:avLst>
              <a:gd name="adj" fmla="val 10294"/>
            </a:avLst>
          </a:prstGeom>
          <a:solidFill>
            <a:srgbClr val="FFFFFF"/>
          </a:solidFill>
          <a:ln w="12700">
            <a:solidFill>
              <a:srgbClr val="E2E6EB"/>
            </a:solidFill>
            <a:prstDash val="solid"/>
          </a:ln>
        </p:spPr>
      </p:sp>
      <p:pic>
        <p:nvPicPr>
          <p:cNvPr id="58" name="Image 6" descr="assets/br_hyundai.png">    </p:cNvPr>
          <p:cNvPicPr>
            <a:picLocks noChangeAspect="1"/>
          </p:cNvPicPr>
          <p:nvPr/>
        </p:nvPicPr>
        <p:blipFill>
          <a:blip r:embed="rId7"/>
          <a:stretch>
            <a:fillRect/>
          </a:stretch>
        </p:blipFill>
        <p:spPr>
          <a:xfrm>
            <a:off x="8858682" y="5074920"/>
            <a:ext cx="654304" cy="420624"/>
          </a:xfrm>
          <a:prstGeom prst="rect">
            <a:avLst/>
          </a:prstGeom>
        </p:spPr>
      </p:pic>
      <p:sp>
        <p:nvSpPr>
          <p:cNvPr id="59" name="Shape 50"/>
          <p:cNvSpPr/>
          <p:nvPr/>
        </p:nvSpPr>
        <p:spPr>
          <a:xfrm>
            <a:off x="10041484" y="4974336"/>
            <a:ext cx="1418692" cy="621792"/>
          </a:xfrm>
          <a:prstGeom prst="roundRect">
            <a:avLst>
              <a:gd name="adj" fmla="val 10294"/>
            </a:avLst>
          </a:prstGeom>
          <a:solidFill>
            <a:srgbClr val="FFFFFF"/>
          </a:solidFill>
          <a:ln w="12700">
            <a:solidFill>
              <a:srgbClr val="E2E6EB"/>
            </a:solidFill>
            <a:prstDash val="solid"/>
          </a:ln>
        </p:spPr>
      </p:sp>
      <p:pic>
        <p:nvPicPr>
          <p:cNvPr id="60" name="Image 7" descr="assets/br_cat.png">    </p:cNvPr>
          <p:cNvPicPr>
            <a:picLocks noChangeAspect="1"/>
          </p:cNvPicPr>
          <p:nvPr/>
        </p:nvPicPr>
        <p:blipFill>
          <a:blip r:embed="rId8"/>
          <a:stretch>
            <a:fillRect/>
          </a:stretch>
        </p:blipFill>
        <p:spPr>
          <a:xfrm>
            <a:off x="10460136" y="5074920"/>
            <a:ext cx="581386" cy="420624"/>
          </a:xfrm>
          <a:prstGeom prst="rect">
            <a:avLst/>
          </a:prstGeom>
        </p:spPr>
      </p:pic>
      <p:sp>
        <p:nvSpPr>
          <p:cNvPr id="61" name="Shape 51"/>
          <p:cNvSpPr/>
          <p:nvPr/>
        </p:nvSpPr>
        <p:spPr>
          <a:xfrm>
            <a:off x="0" y="6172200"/>
            <a:ext cx="12191695" cy="685800"/>
          </a:xfrm>
          <a:prstGeom prst="rect">
            <a:avLst/>
          </a:prstGeom>
          <a:solidFill>
            <a:srgbClr val="141A24"/>
          </a:solidFill>
          <a:ln/>
        </p:spPr>
      </p:sp>
      <p:sp>
        <p:nvSpPr>
          <p:cNvPr id="62" name="Shape 52"/>
          <p:cNvSpPr/>
          <p:nvPr/>
        </p:nvSpPr>
        <p:spPr>
          <a:xfrm>
            <a:off x="0" y="6172200"/>
            <a:ext cx="118872" cy="685800"/>
          </a:xfrm>
          <a:prstGeom prst="rect">
            <a:avLst/>
          </a:prstGeom>
          <a:solidFill>
            <a:srgbClr val="F35B1A"/>
          </a:solidFill>
          <a:ln/>
        </p:spPr>
      </p:sp>
      <p:sp>
        <p:nvSpPr>
          <p:cNvPr id="63" name="Text 53"/>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fully-owned, modern fleet</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creates operational flexibility and barriers that are hard to replicate</a:t>
            </a:r>
            <a:endParaRPr lang="en-US" sz="1200" dirty="0"/>
          </a:p>
        </p:txBody>
      </p:sp>
      <p:pic>
        <p:nvPicPr>
          <p:cNvPr id="64" name="Image 8" descr="assets/igc_white.png">    </p:cNvPr>
          <p:cNvPicPr>
            <a:picLocks noChangeAspect="1"/>
          </p:cNvPicPr>
          <p:nvPr/>
        </p:nvPicPr>
        <p:blipFill>
          <a:blip r:embed="rId9"/>
          <a:stretch>
            <a:fillRect/>
          </a:stretch>
        </p:blipFill>
        <p:spPr>
          <a:xfrm>
            <a:off x="731520" y="6387084"/>
            <a:ext cx="274320" cy="237134"/>
          </a:xfrm>
          <a:prstGeom prst="rect">
            <a:avLst/>
          </a:prstGeom>
        </p:spPr>
      </p:pic>
      <p:sp>
        <p:nvSpPr>
          <p:cNvPr id="65" name="Text 54"/>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13</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548994" cy="310896"/>
          </a:xfrm>
          <a:prstGeom prst="roundRect">
            <a:avLst>
              <a:gd name="adj" fmla="val 25000"/>
            </a:avLst>
          </a:prstGeom>
          <a:solidFill>
            <a:srgbClr val="FDE9DE"/>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35B1A"/>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4</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Technology-enabled operations support high reliability</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GPS telemetry, driver monitoring and operational discipline keep the fleet running reliably across all bases</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Availability and preventive-maintenance metrics, and the scope of in-house maintenance, to be confirmed with management.</a:t>
            </a:r>
            <a:endParaRPr lang="en-US" sz="700" dirty="0"/>
          </a:p>
        </p:txBody>
      </p:sp>
      <p:sp>
        <p:nvSpPr>
          <p:cNvPr id="10" name="Shape 7"/>
          <p:cNvSpPr/>
          <p:nvPr/>
        </p:nvSpPr>
        <p:spPr>
          <a:xfrm>
            <a:off x="731520" y="1783080"/>
            <a:ext cx="5227168" cy="1773936"/>
          </a:xfrm>
          <a:prstGeom prst="roundRect">
            <a:avLst>
              <a:gd name="adj" fmla="val 4639"/>
            </a:avLst>
          </a:prstGeom>
          <a:solidFill>
            <a:srgbClr val="F4F6F8"/>
          </a:solidFill>
          <a:ln w="12700">
            <a:solidFill>
              <a:srgbClr val="E2E6EB"/>
            </a:solidFill>
            <a:prstDash val="solid"/>
          </a:ln>
        </p:spPr>
      </p:sp>
      <p:sp>
        <p:nvSpPr>
          <p:cNvPr id="11" name="Shape 8"/>
          <p:cNvSpPr/>
          <p:nvPr/>
        </p:nvSpPr>
        <p:spPr>
          <a:xfrm>
            <a:off x="969264" y="2002536"/>
            <a:ext cx="457200" cy="457200"/>
          </a:xfrm>
          <a:prstGeom prst="ellipse">
            <a:avLst/>
          </a:prstGeom>
          <a:solidFill>
            <a:srgbClr val="FDE9DE"/>
          </a:solidFill>
          <a:ln/>
        </p:spPr>
      </p:sp>
      <p:pic>
        <p:nvPicPr>
          <p:cNvPr id="12" name="Image 1" descr="assets/icons/activity_orange.png">    </p:cNvPr>
          <p:cNvPicPr>
            <a:picLocks noChangeAspect="1"/>
          </p:cNvPicPr>
          <p:nvPr/>
        </p:nvPicPr>
        <p:blipFill>
          <a:blip r:embed="rId2"/>
          <a:stretch>
            <a:fillRect/>
          </a:stretch>
        </p:blipFill>
        <p:spPr>
          <a:xfrm>
            <a:off x="1092708" y="2125980"/>
            <a:ext cx="210312" cy="210312"/>
          </a:xfrm>
          <a:prstGeom prst="rect">
            <a:avLst/>
          </a:prstGeom>
        </p:spPr>
      </p:pic>
      <p:sp>
        <p:nvSpPr>
          <p:cNvPr id="13" name="Text 9"/>
          <p:cNvSpPr/>
          <p:nvPr/>
        </p:nvSpPr>
        <p:spPr>
          <a:xfrm>
            <a:off x="1517904" y="2002536"/>
            <a:ext cx="4221328" cy="457200"/>
          </a:xfrm>
          <a:prstGeom prst="rect">
            <a:avLst/>
          </a:prstGeom>
          <a:noFill/>
          <a:ln/>
        </p:spPr>
        <p:txBody>
          <a:bodyPr wrap="square" lIns="0" tIns="0" rIns="0" bIns="0" rtlCol="0" anchor="ctr"/>
          <a:lstStyle/>
          <a:p>
            <a:pPr indent="0" marL="0">
              <a:lnSpc>
                <a:spcPct val="108000"/>
              </a:lnSpc>
              <a:buNone/>
            </a:pPr>
            <a:r>
              <a:rPr lang="en-US" sz="1050" dirty="0">
                <a:solidFill>
                  <a:srgbClr val="141A24"/>
                </a:solidFill>
                <a:latin typeface="Poppins SemiBold" pitchFamily="34" charset="0"/>
                <a:ea typeface="Poppins SemiBold" pitchFamily="34" charset="-122"/>
                <a:cs typeface="Poppins SemiBold" pitchFamily="34" charset="-120"/>
              </a:rPr>
              <a:t>GPS Telemetry &amp; Driver Monitoring</a:t>
            </a:r>
            <a:endParaRPr lang="en-US" sz="1050" dirty="0"/>
          </a:p>
        </p:txBody>
      </p:sp>
      <p:sp>
        <p:nvSpPr>
          <p:cNvPr id="14" name="Text 10"/>
          <p:cNvSpPr/>
          <p:nvPr/>
        </p:nvSpPr>
        <p:spPr>
          <a:xfrm>
            <a:off x="987552" y="2496312"/>
            <a:ext cx="4715104" cy="384048"/>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GPS-based tracking and AI-powered driver-fatigue monitoring provide continuous oversight across all bases</a:t>
            </a:r>
            <a:endParaRPr lang="en-US" sz="800" dirty="0"/>
          </a:p>
        </p:txBody>
      </p:sp>
      <p:sp>
        <p:nvSpPr>
          <p:cNvPr id="15" name="Shape 11"/>
          <p:cNvSpPr/>
          <p:nvPr/>
        </p:nvSpPr>
        <p:spPr>
          <a:xfrm>
            <a:off x="987552" y="2935224"/>
            <a:ext cx="1225296" cy="548640"/>
          </a:xfrm>
          <a:prstGeom prst="roundRect">
            <a:avLst>
              <a:gd name="adj" fmla="val 11667"/>
            </a:avLst>
          </a:prstGeom>
          <a:solidFill>
            <a:srgbClr val="FFFFFF"/>
          </a:solidFill>
          <a:ln w="12700">
            <a:solidFill>
              <a:srgbClr val="E2E6EB"/>
            </a:solidFill>
            <a:prstDash val="solid"/>
          </a:ln>
        </p:spPr>
      </p:sp>
      <p:pic>
        <p:nvPicPr>
          <p:cNvPr id="16" name="Image 2" descr="assets/sw_ituran.png">    </p:cNvPr>
          <p:cNvPicPr>
            <a:picLocks noChangeAspect="1"/>
          </p:cNvPicPr>
          <p:nvPr/>
        </p:nvPicPr>
        <p:blipFill>
          <a:blip r:embed="rId3"/>
          <a:stretch>
            <a:fillRect/>
          </a:stretch>
        </p:blipFill>
        <p:spPr>
          <a:xfrm>
            <a:off x="1200752" y="3026664"/>
            <a:ext cx="798897" cy="365760"/>
          </a:xfrm>
          <a:prstGeom prst="rect">
            <a:avLst/>
          </a:prstGeom>
        </p:spPr>
      </p:pic>
      <p:sp>
        <p:nvSpPr>
          <p:cNvPr id="17" name="Shape 12"/>
          <p:cNvSpPr/>
          <p:nvPr/>
        </p:nvSpPr>
        <p:spPr>
          <a:xfrm>
            <a:off x="2295144" y="2935224"/>
            <a:ext cx="1225296" cy="548640"/>
          </a:xfrm>
          <a:prstGeom prst="roundRect">
            <a:avLst>
              <a:gd name="adj" fmla="val 11667"/>
            </a:avLst>
          </a:prstGeom>
          <a:solidFill>
            <a:srgbClr val="FFFFFF"/>
          </a:solidFill>
          <a:ln w="12700">
            <a:solidFill>
              <a:srgbClr val="E2E6EB"/>
            </a:solidFill>
            <a:prstDash val="solid"/>
          </a:ln>
        </p:spPr>
      </p:sp>
      <p:pic>
        <p:nvPicPr>
          <p:cNvPr id="18" name="Image 3" descr="assets/sw_vtraxx.png">    </p:cNvPr>
          <p:cNvPicPr>
            <a:picLocks noChangeAspect="1"/>
          </p:cNvPicPr>
          <p:nvPr/>
        </p:nvPicPr>
        <p:blipFill>
          <a:blip r:embed="rId4"/>
          <a:stretch>
            <a:fillRect/>
          </a:stretch>
        </p:blipFill>
        <p:spPr>
          <a:xfrm>
            <a:off x="2407920" y="3026664"/>
            <a:ext cx="999744" cy="365760"/>
          </a:xfrm>
          <a:prstGeom prst="rect">
            <a:avLst/>
          </a:prstGeom>
        </p:spPr>
      </p:pic>
      <p:sp>
        <p:nvSpPr>
          <p:cNvPr id="19" name="Shape 13"/>
          <p:cNvSpPr/>
          <p:nvPr/>
        </p:nvSpPr>
        <p:spPr>
          <a:xfrm>
            <a:off x="6233008" y="1783080"/>
            <a:ext cx="5227168" cy="1773936"/>
          </a:xfrm>
          <a:prstGeom prst="roundRect">
            <a:avLst>
              <a:gd name="adj" fmla="val 4639"/>
            </a:avLst>
          </a:prstGeom>
          <a:solidFill>
            <a:srgbClr val="F4F6F8"/>
          </a:solidFill>
          <a:ln w="12700">
            <a:solidFill>
              <a:srgbClr val="E2E6EB"/>
            </a:solidFill>
            <a:prstDash val="solid"/>
          </a:ln>
        </p:spPr>
      </p:sp>
      <p:sp>
        <p:nvSpPr>
          <p:cNvPr id="20" name="Shape 14"/>
          <p:cNvSpPr/>
          <p:nvPr/>
        </p:nvSpPr>
        <p:spPr>
          <a:xfrm>
            <a:off x="6470752" y="2002536"/>
            <a:ext cx="457200" cy="457200"/>
          </a:xfrm>
          <a:prstGeom prst="ellipse">
            <a:avLst/>
          </a:prstGeom>
          <a:solidFill>
            <a:srgbClr val="FDE9DE"/>
          </a:solidFill>
          <a:ln/>
        </p:spPr>
      </p:sp>
      <p:pic>
        <p:nvPicPr>
          <p:cNvPr id="21" name="Image 4" descr="assets/icons/cpu_orange.png">    </p:cNvPr>
          <p:cNvPicPr>
            <a:picLocks noChangeAspect="1"/>
          </p:cNvPicPr>
          <p:nvPr/>
        </p:nvPicPr>
        <p:blipFill>
          <a:blip r:embed="rId5"/>
          <a:stretch>
            <a:fillRect/>
          </a:stretch>
        </p:blipFill>
        <p:spPr>
          <a:xfrm>
            <a:off x="6594196" y="2125980"/>
            <a:ext cx="210312" cy="210312"/>
          </a:xfrm>
          <a:prstGeom prst="rect">
            <a:avLst/>
          </a:prstGeom>
        </p:spPr>
      </p:pic>
      <p:sp>
        <p:nvSpPr>
          <p:cNvPr id="22" name="Text 15"/>
          <p:cNvSpPr/>
          <p:nvPr/>
        </p:nvSpPr>
        <p:spPr>
          <a:xfrm>
            <a:off x="7019392" y="2002536"/>
            <a:ext cx="4221328" cy="457200"/>
          </a:xfrm>
          <a:prstGeom prst="rect">
            <a:avLst/>
          </a:prstGeom>
          <a:noFill/>
          <a:ln/>
        </p:spPr>
        <p:txBody>
          <a:bodyPr wrap="square" lIns="0" tIns="0" rIns="0" bIns="0" rtlCol="0" anchor="ctr"/>
          <a:lstStyle/>
          <a:p>
            <a:pPr indent="0" marL="0">
              <a:lnSpc>
                <a:spcPct val="108000"/>
              </a:lnSpc>
              <a:buNone/>
            </a:pPr>
            <a:r>
              <a:rPr lang="en-US" sz="1050" dirty="0">
                <a:solidFill>
                  <a:srgbClr val="141A24"/>
                </a:solidFill>
                <a:latin typeface="Poppins SemiBold" pitchFamily="34" charset="0"/>
                <a:ea typeface="Poppins SemiBold" pitchFamily="34" charset="-122"/>
                <a:cs typeface="Poppins SemiBold" pitchFamily="34" charset="-120"/>
              </a:rPr>
              <a:t>ERP &amp; Management</a:t>
            </a:r>
            <a:endParaRPr lang="en-US" sz="1050" dirty="0"/>
          </a:p>
        </p:txBody>
      </p:sp>
      <p:sp>
        <p:nvSpPr>
          <p:cNvPr id="23" name="Text 16"/>
          <p:cNvSpPr/>
          <p:nvPr/>
        </p:nvSpPr>
        <p:spPr>
          <a:xfrm>
            <a:off x="6489040" y="2496312"/>
            <a:ext cx="4715104" cy="384048"/>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TOTVS Protheus underpins enterprise resource planning and back-office control</a:t>
            </a:r>
            <a:endParaRPr lang="en-US" sz="800" dirty="0"/>
          </a:p>
        </p:txBody>
      </p:sp>
      <p:sp>
        <p:nvSpPr>
          <p:cNvPr id="24" name="Shape 17"/>
          <p:cNvSpPr/>
          <p:nvPr/>
        </p:nvSpPr>
        <p:spPr>
          <a:xfrm>
            <a:off x="6489040" y="2935224"/>
            <a:ext cx="1225296" cy="548640"/>
          </a:xfrm>
          <a:prstGeom prst="roundRect">
            <a:avLst>
              <a:gd name="adj" fmla="val 11667"/>
            </a:avLst>
          </a:prstGeom>
          <a:solidFill>
            <a:srgbClr val="FFFFFF"/>
          </a:solidFill>
          <a:ln w="12700">
            <a:solidFill>
              <a:srgbClr val="E2E6EB"/>
            </a:solidFill>
            <a:prstDash val="solid"/>
          </a:ln>
        </p:spPr>
      </p:sp>
      <p:pic>
        <p:nvPicPr>
          <p:cNvPr id="25" name="Image 5" descr="assets/sw_totvs.png">    </p:cNvPr>
          <p:cNvPicPr>
            <a:picLocks noChangeAspect="1"/>
          </p:cNvPicPr>
          <p:nvPr/>
        </p:nvPicPr>
        <p:blipFill>
          <a:blip r:embed="rId6"/>
          <a:stretch>
            <a:fillRect/>
          </a:stretch>
        </p:blipFill>
        <p:spPr>
          <a:xfrm>
            <a:off x="6698276" y="3026664"/>
            <a:ext cx="806824" cy="365760"/>
          </a:xfrm>
          <a:prstGeom prst="rect">
            <a:avLst/>
          </a:prstGeom>
        </p:spPr>
      </p:pic>
      <p:sp>
        <p:nvSpPr>
          <p:cNvPr id="26" name="Shape 18"/>
          <p:cNvSpPr/>
          <p:nvPr/>
        </p:nvSpPr>
        <p:spPr>
          <a:xfrm>
            <a:off x="731520" y="3776472"/>
            <a:ext cx="5227168" cy="1773936"/>
          </a:xfrm>
          <a:prstGeom prst="roundRect">
            <a:avLst>
              <a:gd name="adj" fmla="val 4639"/>
            </a:avLst>
          </a:prstGeom>
          <a:solidFill>
            <a:srgbClr val="F4F6F8"/>
          </a:solidFill>
          <a:ln w="12700">
            <a:solidFill>
              <a:srgbClr val="E2E6EB"/>
            </a:solidFill>
            <a:prstDash val="solid"/>
          </a:ln>
        </p:spPr>
      </p:sp>
      <p:sp>
        <p:nvSpPr>
          <p:cNvPr id="27" name="Shape 19"/>
          <p:cNvSpPr/>
          <p:nvPr/>
        </p:nvSpPr>
        <p:spPr>
          <a:xfrm>
            <a:off x="969264" y="3995928"/>
            <a:ext cx="457200" cy="457200"/>
          </a:xfrm>
          <a:prstGeom prst="ellipse">
            <a:avLst/>
          </a:prstGeom>
          <a:solidFill>
            <a:srgbClr val="FDE9DE"/>
          </a:solidFill>
          <a:ln/>
        </p:spPr>
      </p:sp>
      <p:pic>
        <p:nvPicPr>
          <p:cNvPr id="28" name="Image 6" descr="assets/icons/tool_orange.png">    </p:cNvPr>
          <p:cNvPicPr>
            <a:picLocks noChangeAspect="1"/>
          </p:cNvPicPr>
          <p:nvPr/>
        </p:nvPicPr>
        <p:blipFill>
          <a:blip r:embed="rId7"/>
          <a:stretch>
            <a:fillRect/>
          </a:stretch>
        </p:blipFill>
        <p:spPr>
          <a:xfrm>
            <a:off x="1092708" y="4119372"/>
            <a:ext cx="210312" cy="210312"/>
          </a:xfrm>
          <a:prstGeom prst="rect">
            <a:avLst/>
          </a:prstGeom>
        </p:spPr>
      </p:pic>
      <p:sp>
        <p:nvSpPr>
          <p:cNvPr id="29" name="Text 20"/>
          <p:cNvSpPr/>
          <p:nvPr/>
        </p:nvSpPr>
        <p:spPr>
          <a:xfrm>
            <a:off x="1517904" y="3995928"/>
            <a:ext cx="4221328" cy="457200"/>
          </a:xfrm>
          <a:prstGeom prst="rect">
            <a:avLst/>
          </a:prstGeom>
          <a:noFill/>
          <a:ln/>
        </p:spPr>
        <p:txBody>
          <a:bodyPr wrap="square" lIns="0" tIns="0" rIns="0" bIns="0" rtlCol="0" anchor="ctr"/>
          <a:lstStyle/>
          <a:p>
            <a:pPr indent="0" marL="0">
              <a:lnSpc>
                <a:spcPct val="108000"/>
              </a:lnSpc>
              <a:buNone/>
            </a:pPr>
            <a:r>
              <a:rPr lang="en-US" sz="1050" dirty="0">
                <a:solidFill>
                  <a:srgbClr val="141A24"/>
                </a:solidFill>
                <a:latin typeface="Poppins SemiBold" pitchFamily="34" charset="0"/>
                <a:ea typeface="Poppins SemiBold" pitchFamily="34" charset="-122"/>
                <a:cs typeface="Poppins SemiBold" pitchFamily="34" charset="-120"/>
              </a:rPr>
              <a:t>Fleet &amp; Maintenance Management</a:t>
            </a:r>
            <a:endParaRPr lang="en-US" sz="1050" dirty="0"/>
          </a:p>
        </p:txBody>
      </p:sp>
      <p:sp>
        <p:nvSpPr>
          <p:cNvPr id="30" name="Text 21"/>
          <p:cNvSpPr/>
          <p:nvPr/>
        </p:nvSpPr>
        <p:spPr>
          <a:xfrm>
            <a:off x="987552" y="4489704"/>
            <a:ext cx="4715104" cy="384048"/>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Specialized systems manage maintenance workflows, parts and fleet operations</a:t>
            </a:r>
            <a:endParaRPr lang="en-US" sz="800" dirty="0"/>
          </a:p>
        </p:txBody>
      </p:sp>
      <p:sp>
        <p:nvSpPr>
          <p:cNvPr id="31" name="Shape 22"/>
          <p:cNvSpPr/>
          <p:nvPr/>
        </p:nvSpPr>
        <p:spPr>
          <a:xfrm>
            <a:off x="987552" y="4928616"/>
            <a:ext cx="1096480" cy="548640"/>
          </a:xfrm>
          <a:prstGeom prst="roundRect">
            <a:avLst>
              <a:gd name="adj" fmla="val 11667"/>
            </a:avLst>
          </a:prstGeom>
          <a:solidFill>
            <a:srgbClr val="FFFFFF"/>
          </a:solidFill>
          <a:ln w="12700">
            <a:solidFill>
              <a:srgbClr val="E2E6EB"/>
            </a:solidFill>
            <a:prstDash val="solid"/>
          </a:ln>
        </p:spPr>
      </p:sp>
      <p:pic>
        <p:nvPicPr>
          <p:cNvPr id="32" name="Image 7" descr="assets/sw_truckscontrol.png">    </p:cNvPr>
          <p:cNvPicPr>
            <a:picLocks noChangeAspect="1"/>
          </p:cNvPicPr>
          <p:nvPr/>
        </p:nvPicPr>
        <p:blipFill>
          <a:blip r:embed="rId8"/>
          <a:stretch>
            <a:fillRect/>
          </a:stretch>
        </p:blipFill>
        <p:spPr>
          <a:xfrm>
            <a:off x="1078992" y="5045089"/>
            <a:ext cx="913600" cy="315694"/>
          </a:xfrm>
          <a:prstGeom prst="rect">
            <a:avLst/>
          </a:prstGeom>
        </p:spPr>
      </p:pic>
      <p:sp>
        <p:nvSpPr>
          <p:cNvPr id="33" name="Shape 23"/>
          <p:cNvSpPr/>
          <p:nvPr/>
        </p:nvSpPr>
        <p:spPr>
          <a:xfrm>
            <a:off x="2166328" y="4928616"/>
            <a:ext cx="1096480" cy="548640"/>
          </a:xfrm>
          <a:prstGeom prst="roundRect">
            <a:avLst>
              <a:gd name="adj" fmla="val 11667"/>
            </a:avLst>
          </a:prstGeom>
          <a:solidFill>
            <a:srgbClr val="FFFFFF"/>
          </a:solidFill>
          <a:ln w="12700">
            <a:solidFill>
              <a:srgbClr val="E2E6EB"/>
            </a:solidFill>
            <a:prstDash val="solid"/>
          </a:ln>
        </p:spPr>
      </p:sp>
      <p:pic>
        <p:nvPicPr>
          <p:cNvPr id="34" name="Image 8" descr="assets/sw_zion.png">    </p:cNvPr>
          <p:cNvPicPr>
            <a:picLocks noChangeAspect="1"/>
          </p:cNvPicPr>
          <p:nvPr/>
        </p:nvPicPr>
        <p:blipFill>
          <a:blip r:embed="rId9"/>
          <a:stretch>
            <a:fillRect/>
          </a:stretch>
        </p:blipFill>
        <p:spPr>
          <a:xfrm>
            <a:off x="2520258" y="5020056"/>
            <a:ext cx="388620" cy="365760"/>
          </a:xfrm>
          <a:prstGeom prst="rect">
            <a:avLst/>
          </a:prstGeom>
        </p:spPr>
      </p:pic>
      <p:sp>
        <p:nvSpPr>
          <p:cNvPr id="35" name="Shape 24"/>
          <p:cNvSpPr/>
          <p:nvPr/>
        </p:nvSpPr>
        <p:spPr>
          <a:xfrm>
            <a:off x="3345104" y="4928616"/>
            <a:ext cx="1096480" cy="548640"/>
          </a:xfrm>
          <a:prstGeom prst="roundRect">
            <a:avLst>
              <a:gd name="adj" fmla="val 11667"/>
            </a:avLst>
          </a:prstGeom>
          <a:solidFill>
            <a:srgbClr val="FFFFFF"/>
          </a:solidFill>
          <a:ln w="12700">
            <a:solidFill>
              <a:srgbClr val="E2E6EB"/>
            </a:solidFill>
            <a:prstDash val="solid"/>
          </a:ln>
        </p:spPr>
      </p:sp>
      <p:pic>
        <p:nvPicPr>
          <p:cNvPr id="36" name="Image 9" descr="assets/sw_opensystem.png">    </p:cNvPr>
          <p:cNvPicPr>
            <a:picLocks noChangeAspect="1"/>
          </p:cNvPicPr>
          <p:nvPr/>
        </p:nvPicPr>
        <p:blipFill>
          <a:blip r:embed="rId10"/>
          <a:stretch>
            <a:fillRect/>
          </a:stretch>
        </p:blipFill>
        <p:spPr>
          <a:xfrm>
            <a:off x="3436544" y="5038564"/>
            <a:ext cx="913600" cy="328743"/>
          </a:xfrm>
          <a:prstGeom prst="rect">
            <a:avLst/>
          </a:prstGeom>
        </p:spPr>
      </p:pic>
      <p:sp>
        <p:nvSpPr>
          <p:cNvPr id="37" name="Shape 25"/>
          <p:cNvSpPr/>
          <p:nvPr/>
        </p:nvSpPr>
        <p:spPr>
          <a:xfrm>
            <a:off x="4523880" y="4928616"/>
            <a:ext cx="1096480" cy="548640"/>
          </a:xfrm>
          <a:prstGeom prst="roundRect">
            <a:avLst>
              <a:gd name="adj" fmla="val 11667"/>
            </a:avLst>
          </a:prstGeom>
          <a:solidFill>
            <a:srgbClr val="FFFFFF"/>
          </a:solidFill>
          <a:ln w="12700">
            <a:solidFill>
              <a:srgbClr val="E2E6EB"/>
            </a:solidFill>
            <a:prstDash val="solid"/>
          </a:ln>
        </p:spPr>
      </p:sp>
      <p:pic>
        <p:nvPicPr>
          <p:cNvPr id="38" name="Image 10" descr="assets/sw_monaco.png">    </p:cNvPr>
          <p:cNvPicPr>
            <a:picLocks noChangeAspect="1"/>
          </p:cNvPicPr>
          <p:nvPr/>
        </p:nvPicPr>
        <p:blipFill>
          <a:blip r:embed="rId11"/>
          <a:stretch>
            <a:fillRect/>
          </a:stretch>
        </p:blipFill>
        <p:spPr>
          <a:xfrm>
            <a:off x="4785174" y="5020056"/>
            <a:ext cx="573891" cy="365760"/>
          </a:xfrm>
          <a:prstGeom prst="rect">
            <a:avLst/>
          </a:prstGeom>
        </p:spPr>
      </p:pic>
      <p:sp>
        <p:nvSpPr>
          <p:cNvPr id="39" name="Shape 26"/>
          <p:cNvSpPr/>
          <p:nvPr/>
        </p:nvSpPr>
        <p:spPr>
          <a:xfrm>
            <a:off x="6233008" y="3776472"/>
            <a:ext cx="5227168" cy="1773936"/>
          </a:xfrm>
          <a:prstGeom prst="roundRect">
            <a:avLst>
              <a:gd name="adj" fmla="val 4639"/>
            </a:avLst>
          </a:prstGeom>
          <a:solidFill>
            <a:srgbClr val="F4F6F8"/>
          </a:solidFill>
          <a:ln w="12700">
            <a:solidFill>
              <a:srgbClr val="E2E6EB"/>
            </a:solidFill>
            <a:prstDash val="solid"/>
          </a:ln>
        </p:spPr>
      </p:sp>
      <p:sp>
        <p:nvSpPr>
          <p:cNvPr id="40" name="Shape 27"/>
          <p:cNvSpPr/>
          <p:nvPr/>
        </p:nvSpPr>
        <p:spPr>
          <a:xfrm>
            <a:off x="6470752" y="3995928"/>
            <a:ext cx="457200" cy="457200"/>
          </a:xfrm>
          <a:prstGeom prst="ellipse">
            <a:avLst/>
          </a:prstGeom>
          <a:solidFill>
            <a:srgbClr val="FDE9DE"/>
          </a:solidFill>
          <a:ln/>
        </p:spPr>
      </p:sp>
      <p:pic>
        <p:nvPicPr>
          <p:cNvPr id="41" name="Image 11" descr="assets/icons/shield_orange.png">    </p:cNvPr>
          <p:cNvPicPr>
            <a:picLocks noChangeAspect="1"/>
          </p:cNvPicPr>
          <p:nvPr/>
        </p:nvPicPr>
        <p:blipFill>
          <a:blip r:embed="rId12"/>
          <a:stretch>
            <a:fillRect/>
          </a:stretch>
        </p:blipFill>
        <p:spPr>
          <a:xfrm>
            <a:off x="6594196" y="4119372"/>
            <a:ext cx="210312" cy="210312"/>
          </a:xfrm>
          <a:prstGeom prst="rect">
            <a:avLst/>
          </a:prstGeom>
        </p:spPr>
      </p:pic>
      <p:sp>
        <p:nvSpPr>
          <p:cNvPr id="42" name="Text 28"/>
          <p:cNvSpPr/>
          <p:nvPr/>
        </p:nvSpPr>
        <p:spPr>
          <a:xfrm>
            <a:off x="7019392" y="3995928"/>
            <a:ext cx="4221328" cy="457200"/>
          </a:xfrm>
          <a:prstGeom prst="rect">
            <a:avLst/>
          </a:prstGeom>
          <a:noFill/>
          <a:ln/>
        </p:spPr>
        <p:txBody>
          <a:bodyPr wrap="square" lIns="0" tIns="0" rIns="0" bIns="0" rtlCol="0" anchor="ctr"/>
          <a:lstStyle/>
          <a:p>
            <a:pPr indent="0" marL="0">
              <a:lnSpc>
                <a:spcPct val="108000"/>
              </a:lnSpc>
              <a:buNone/>
            </a:pPr>
            <a:r>
              <a:rPr lang="en-US" sz="1050" dirty="0">
                <a:solidFill>
                  <a:srgbClr val="141A24"/>
                </a:solidFill>
                <a:latin typeface="Poppins SemiBold" pitchFamily="34" charset="0"/>
                <a:ea typeface="Poppins SemiBold" pitchFamily="34" charset="-122"/>
                <a:cs typeface="Poppins SemiBold" pitchFamily="34" charset="-120"/>
              </a:rPr>
              <a:t>Safety, PPE &amp; Inspection</a:t>
            </a:r>
            <a:endParaRPr lang="en-US" sz="1050" dirty="0"/>
          </a:p>
        </p:txBody>
      </p:sp>
      <p:sp>
        <p:nvSpPr>
          <p:cNvPr id="43" name="Text 29"/>
          <p:cNvSpPr/>
          <p:nvPr/>
        </p:nvSpPr>
        <p:spPr>
          <a:xfrm>
            <a:off x="6489040" y="4489704"/>
            <a:ext cx="4715104" cy="384048"/>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Digital checklists, PPE control and safety management reinforce operational discipline</a:t>
            </a:r>
            <a:endParaRPr lang="en-US" sz="800" dirty="0"/>
          </a:p>
        </p:txBody>
      </p:sp>
      <p:sp>
        <p:nvSpPr>
          <p:cNvPr id="44" name="Shape 30"/>
          <p:cNvSpPr/>
          <p:nvPr/>
        </p:nvSpPr>
        <p:spPr>
          <a:xfrm>
            <a:off x="6489040" y="4928616"/>
            <a:ext cx="1225296" cy="548640"/>
          </a:xfrm>
          <a:prstGeom prst="roundRect">
            <a:avLst>
              <a:gd name="adj" fmla="val 11667"/>
            </a:avLst>
          </a:prstGeom>
          <a:solidFill>
            <a:srgbClr val="FFFFFF"/>
          </a:solidFill>
          <a:ln w="12700">
            <a:solidFill>
              <a:srgbClr val="E2E6EB"/>
            </a:solidFill>
            <a:prstDash val="solid"/>
          </a:ln>
        </p:spPr>
      </p:sp>
      <p:pic>
        <p:nvPicPr>
          <p:cNvPr id="45" name="Image 12" descr="assets/sw_sisma.png">    </p:cNvPr>
          <p:cNvPicPr>
            <a:picLocks noChangeAspect="1"/>
          </p:cNvPicPr>
          <p:nvPr/>
        </p:nvPicPr>
        <p:blipFill>
          <a:blip r:embed="rId13"/>
          <a:stretch>
            <a:fillRect/>
          </a:stretch>
        </p:blipFill>
        <p:spPr>
          <a:xfrm>
            <a:off x="6826868" y="5020056"/>
            <a:ext cx="549639" cy="365760"/>
          </a:xfrm>
          <a:prstGeom prst="rect">
            <a:avLst/>
          </a:prstGeom>
        </p:spPr>
      </p:pic>
      <p:sp>
        <p:nvSpPr>
          <p:cNvPr id="46" name="Shape 31"/>
          <p:cNvSpPr/>
          <p:nvPr/>
        </p:nvSpPr>
        <p:spPr>
          <a:xfrm>
            <a:off x="7796632" y="4928616"/>
            <a:ext cx="1225296" cy="548640"/>
          </a:xfrm>
          <a:prstGeom prst="roundRect">
            <a:avLst>
              <a:gd name="adj" fmla="val 11667"/>
            </a:avLst>
          </a:prstGeom>
          <a:solidFill>
            <a:srgbClr val="FFFFFF"/>
          </a:solidFill>
          <a:ln w="12700">
            <a:solidFill>
              <a:srgbClr val="E2E6EB"/>
            </a:solidFill>
            <a:prstDash val="solid"/>
          </a:ln>
        </p:spPr>
      </p:sp>
      <p:pic>
        <p:nvPicPr>
          <p:cNvPr id="47" name="Image 13" descr="assets/sw_onsafety.png">    </p:cNvPr>
          <p:cNvPicPr>
            <a:picLocks noChangeAspect="1"/>
          </p:cNvPicPr>
          <p:nvPr/>
        </p:nvPicPr>
        <p:blipFill>
          <a:blip r:embed="rId14"/>
          <a:stretch>
            <a:fillRect/>
          </a:stretch>
        </p:blipFill>
        <p:spPr>
          <a:xfrm>
            <a:off x="7888072" y="5030937"/>
            <a:ext cx="1042416" cy="343997"/>
          </a:xfrm>
          <a:prstGeom prst="rect">
            <a:avLst/>
          </a:prstGeom>
        </p:spPr>
      </p:pic>
      <p:sp>
        <p:nvSpPr>
          <p:cNvPr id="48" name="Shape 32"/>
          <p:cNvSpPr/>
          <p:nvPr/>
        </p:nvSpPr>
        <p:spPr>
          <a:xfrm>
            <a:off x="9104224" y="4928616"/>
            <a:ext cx="1225296" cy="548640"/>
          </a:xfrm>
          <a:prstGeom prst="roundRect">
            <a:avLst>
              <a:gd name="adj" fmla="val 11667"/>
            </a:avLst>
          </a:prstGeom>
          <a:solidFill>
            <a:srgbClr val="FFFFFF"/>
          </a:solidFill>
          <a:ln w="12700">
            <a:solidFill>
              <a:srgbClr val="E2E6EB"/>
            </a:solidFill>
            <a:prstDash val="solid"/>
          </a:ln>
        </p:spPr>
      </p:sp>
      <p:pic>
        <p:nvPicPr>
          <p:cNvPr id="49" name="Image 14" descr="assets/sw_checklistfacil.png">    </p:cNvPr>
          <p:cNvPicPr>
            <a:picLocks noChangeAspect="1"/>
          </p:cNvPicPr>
          <p:nvPr/>
        </p:nvPicPr>
        <p:blipFill>
          <a:blip r:embed="rId15"/>
          <a:stretch>
            <a:fillRect/>
          </a:stretch>
        </p:blipFill>
        <p:spPr>
          <a:xfrm>
            <a:off x="9533992" y="5020056"/>
            <a:ext cx="365760" cy="365760"/>
          </a:xfrm>
          <a:prstGeom prst="rect">
            <a:avLst/>
          </a:prstGeom>
        </p:spPr>
      </p:pic>
      <p:sp>
        <p:nvSpPr>
          <p:cNvPr id="50" name="Shape 33"/>
          <p:cNvSpPr/>
          <p:nvPr/>
        </p:nvSpPr>
        <p:spPr>
          <a:xfrm>
            <a:off x="0" y="6172200"/>
            <a:ext cx="12191695" cy="685800"/>
          </a:xfrm>
          <a:prstGeom prst="rect">
            <a:avLst/>
          </a:prstGeom>
          <a:solidFill>
            <a:srgbClr val="141A24"/>
          </a:solidFill>
          <a:ln/>
        </p:spPr>
      </p:sp>
      <p:sp>
        <p:nvSpPr>
          <p:cNvPr id="51" name="Shape 34"/>
          <p:cNvSpPr/>
          <p:nvPr/>
        </p:nvSpPr>
        <p:spPr>
          <a:xfrm>
            <a:off x="0" y="6172200"/>
            <a:ext cx="118872" cy="685800"/>
          </a:xfrm>
          <a:prstGeom prst="rect">
            <a:avLst/>
          </a:prstGeom>
          <a:solidFill>
            <a:srgbClr val="F35B1A"/>
          </a:solidFill>
          <a:ln/>
        </p:spPr>
      </p:sp>
      <p:sp>
        <p:nvSpPr>
          <p:cNvPr id="52" name="Text 35"/>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Intensive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monitoring and telemetry</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ensure a high level of service across the network</a:t>
            </a:r>
            <a:endParaRPr lang="en-US" sz="1200" dirty="0"/>
          </a:p>
        </p:txBody>
      </p:sp>
      <p:pic>
        <p:nvPicPr>
          <p:cNvPr id="53" name="Image 15" descr="assets/igc_white.png">    </p:cNvPr>
          <p:cNvPicPr>
            <a:picLocks noChangeAspect="1"/>
          </p:cNvPicPr>
          <p:nvPr/>
        </p:nvPicPr>
        <p:blipFill>
          <a:blip r:embed="rId16"/>
          <a:stretch>
            <a:fillRect/>
          </a:stretch>
        </p:blipFill>
        <p:spPr>
          <a:xfrm>
            <a:off x="731520" y="6387084"/>
            <a:ext cx="274320" cy="237134"/>
          </a:xfrm>
          <a:prstGeom prst="rect">
            <a:avLst/>
          </a:prstGeom>
        </p:spPr>
      </p:pic>
      <p:sp>
        <p:nvSpPr>
          <p:cNvPr id="54" name="Text 36"/>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14</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548994" cy="310896"/>
          </a:xfrm>
          <a:prstGeom prst="roundRect">
            <a:avLst>
              <a:gd name="adj" fmla="val 25000"/>
            </a:avLst>
          </a:prstGeom>
          <a:solidFill>
            <a:srgbClr val="FDE9DE"/>
          </a:solidFill>
          <a:ln/>
        </p:spPr>
      </p:sp>
      <p:sp>
        <p:nvSpPr>
          <p:cNvPr id="4" name="Text 1"/>
          <p:cNvSpPr/>
          <p:nvPr/>
        </p:nvSpPr>
        <p:spPr>
          <a:xfrm>
            <a:off x="731520" y="310896"/>
            <a:ext cx="1548994"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58952"/>
            <a:ext cx="420624" cy="420624"/>
          </a:xfrm>
          <a:prstGeom prst="ellipse">
            <a:avLst/>
          </a:prstGeom>
          <a:solidFill>
            <a:srgbClr val="F35B1A"/>
          </a:solidFill>
          <a:ln/>
        </p:spPr>
      </p:sp>
      <p:sp>
        <p:nvSpPr>
          <p:cNvPr id="6" name="Text 3"/>
          <p:cNvSpPr/>
          <p:nvPr/>
        </p:nvSpPr>
        <p:spPr>
          <a:xfrm>
            <a:off x="731520" y="75895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5</a:t>
            </a:r>
            <a:endParaRPr lang="en-US" sz="1400" dirty="0"/>
          </a:p>
        </p:txBody>
      </p:sp>
      <p:sp>
        <p:nvSpPr>
          <p:cNvPr id="7" name="Text 4"/>
          <p:cNvSpPr/>
          <p:nvPr/>
        </p:nvSpPr>
        <p:spPr>
          <a:xfrm>
            <a:off x="1335024" y="722376"/>
            <a:ext cx="9622231"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Multiple avenues for continued value creation</a:t>
            </a:r>
            <a:endParaRPr lang="en-US" sz="1800" dirty="0"/>
          </a:p>
        </p:txBody>
      </p:sp>
      <p:sp>
        <p:nvSpPr>
          <p:cNvPr id="8" name="Text 5"/>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Geographic expansion, consolidation and fleet electrification position Mobi for a sustained growth trajectory</a:t>
            </a:r>
            <a:endParaRPr lang="en-US" sz="1050" dirty="0"/>
          </a:p>
        </p:txBody>
      </p:sp>
      <p:sp>
        <p:nvSpPr>
          <p:cNvPr id="9" name="Text 6"/>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press research. Growth avenues to be validated with management.</a:t>
            </a:r>
            <a:endParaRPr lang="en-US" sz="700" dirty="0"/>
          </a:p>
        </p:txBody>
      </p:sp>
      <p:sp>
        <p:nvSpPr>
          <p:cNvPr id="10" name="Shape 7"/>
          <p:cNvSpPr/>
          <p:nvPr/>
        </p:nvSpPr>
        <p:spPr>
          <a:xfrm>
            <a:off x="731520" y="1783080"/>
            <a:ext cx="3405530" cy="3566160"/>
          </a:xfrm>
          <a:prstGeom prst="roundRect">
            <a:avLst>
              <a:gd name="adj" fmla="val 2685"/>
            </a:avLst>
          </a:prstGeom>
          <a:solidFill>
            <a:srgbClr val="F4F6F8"/>
          </a:solidFill>
          <a:ln w="12700">
            <a:solidFill>
              <a:srgbClr val="E2E6EB"/>
            </a:solidFill>
            <a:prstDash val="solid"/>
          </a:ln>
        </p:spPr>
      </p:sp>
      <p:sp>
        <p:nvSpPr>
          <p:cNvPr id="11" name="Shape 8"/>
          <p:cNvSpPr/>
          <p:nvPr/>
        </p:nvSpPr>
        <p:spPr>
          <a:xfrm>
            <a:off x="731520" y="1783080"/>
            <a:ext cx="3405530" cy="45720"/>
          </a:xfrm>
          <a:prstGeom prst="rect">
            <a:avLst/>
          </a:prstGeom>
          <a:solidFill>
            <a:srgbClr val="F35B1A"/>
          </a:solidFill>
          <a:ln/>
        </p:spPr>
      </p:sp>
      <p:sp>
        <p:nvSpPr>
          <p:cNvPr id="12" name="Shape 9"/>
          <p:cNvSpPr/>
          <p:nvPr/>
        </p:nvSpPr>
        <p:spPr>
          <a:xfrm>
            <a:off x="987552" y="2075688"/>
            <a:ext cx="493776" cy="493776"/>
          </a:xfrm>
          <a:prstGeom prst="ellipse">
            <a:avLst/>
          </a:prstGeom>
          <a:solidFill>
            <a:srgbClr val="FDE9DE"/>
          </a:solidFill>
          <a:ln/>
        </p:spPr>
      </p:sp>
      <p:pic>
        <p:nvPicPr>
          <p:cNvPr id="13" name="Image 1" descr="assets/icons/mappin_orange.png">    </p:cNvPr>
          <p:cNvPicPr>
            <a:picLocks noChangeAspect="1"/>
          </p:cNvPicPr>
          <p:nvPr/>
        </p:nvPicPr>
        <p:blipFill>
          <a:blip r:embed="rId2"/>
          <a:stretch>
            <a:fillRect/>
          </a:stretch>
        </p:blipFill>
        <p:spPr>
          <a:xfrm>
            <a:off x="1120872" y="2209008"/>
            <a:ext cx="227137" cy="227137"/>
          </a:xfrm>
          <a:prstGeom prst="rect">
            <a:avLst/>
          </a:prstGeom>
        </p:spPr>
      </p:pic>
      <p:sp>
        <p:nvSpPr>
          <p:cNvPr id="14" name="Text 10"/>
          <p:cNvSpPr/>
          <p:nvPr/>
        </p:nvSpPr>
        <p:spPr>
          <a:xfrm>
            <a:off x="3478682" y="2057400"/>
            <a:ext cx="457200" cy="457200"/>
          </a:xfrm>
          <a:prstGeom prst="rect">
            <a:avLst/>
          </a:prstGeom>
          <a:noFill/>
          <a:ln/>
        </p:spPr>
        <p:txBody>
          <a:bodyPr wrap="square" lIns="0" tIns="0" rIns="0" bIns="0" rtlCol="0" anchor="ctr"/>
          <a:lstStyle/>
          <a:p>
            <a:pPr algn="r" indent="0" marL="0">
              <a:buNone/>
            </a:pPr>
            <a:r>
              <a:rPr lang="en-US" sz="2000" dirty="0">
                <a:solidFill>
                  <a:srgbClr val="FBD9C6"/>
                </a:solidFill>
                <a:latin typeface="Poppins SemiBold" pitchFamily="34" charset="0"/>
                <a:ea typeface="Poppins SemiBold" pitchFamily="34" charset="-122"/>
                <a:cs typeface="Poppins SemiBold" pitchFamily="34" charset="-120"/>
              </a:rPr>
              <a:t>A</a:t>
            </a:r>
            <a:endParaRPr lang="en-US" sz="2000" dirty="0"/>
          </a:p>
        </p:txBody>
      </p:sp>
      <p:sp>
        <p:nvSpPr>
          <p:cNvPr id="15" name="Text 11"/>
          <p:cNvSpPr/>
          <p:nvPr/>
        </p:nvSpPr>
        <p:spPr>
          <a:xfrm>
            <a:off x="987552" y="2697480"/>
            <a:ext cx="2893466" cy="603504"/>
          </a:xfrm>
          <a:prstGeom prst="rect">
            <a:avLst/>
          </a:prstGeom>
          <a:noFill/>
          <a:ln/>
        </p:spPr>
        <p:txBody>
          <a:bodyPr wrap="square" lIns="0" tIns="0" rIns="0" bIns="0" rtlCol="0" anchor="t"/>
          <a:lstStyle/>
          <a:p>
            <a:pPr indent="0" marL="0">
              <a:lnSpc>
                <a:spcPct val="110000"/>
              </a:lnSpc>
              <a:buNone/>
            </a:pPr>
            <a:r>
              <a:rPr lang="en-US" sz="1100" dirty="0">
                <a:solidFill>
                  <a:srgbClr val="141A24"/>
                </a:solidFill>
                <a:latin typeface="Poppins SemiBold" pitchFamily="34" charset="0"/>
                <a:ea typeface="Poppins SemiBold" pitchFamily="34" charset="-122"/>
                <a:cs typeface="Poppins SemiBold" pitchFamily="34" charset="-120"/>
              </a:rPr>
              <a:t>Deepen share &amp; expand geographically</a:t>
            </a:r>
            <a:endParaRPr lang="en-US" sz="1100" dirty="0"/>
          </a:p>
        </p:txBody>
      </p:sp>
      <p:sp>
        <p:nvSpPr>
          <p:cNvPr id="16" name="Shape 12"/>
          <p:cNvSpPr/>
          <p:nvPr/>
        </p:nvSpPr>
        <p:spPr>
          <a:xfrm rot="5400000">
            <a:off x="1005840" y="3456432"/>
            <a:ext cx="118872" cy="118872"/>
          </a:xfrm>
          <a:prstGeom prst="triangle">
            <a:avLst/>
          </a:prstGeom>
          <a:solidFill>
            <a:srgbClr val="F35B1A"/>
          </a:solidFill>
          <a:ln/>
        </p:spPr>
      </p:sp>
      <p:sp>
        <p:nvSpPr>
          <p:cNvPr id="17" name="Text 13"/>
          <p:cNvSpPr/>
          <p:nvPr/>
        </p:nvSpPr>
        <p:spPr>
          <a:xfrm>
            <a:off x="1243584" y="3383280"/>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Grow wallet share with existing clients and win new logos</a:t>
            </a:r>
            <a:endParaRPr lang="en-US" sz="800" dirty="0"/>
          </a:p>
        </p:txBody>
      </p:sp>
      <p:sp>
        <p:nvSpPr>
          <p:cNvPr id="18" name="Shape 14"/>
          <p:cNvSpPr/>
          <p:nvPr/>
        </p:nvSpPr>
        <p:spPr>
          <a:xfrm rot="5400000">
            <a:off x="1005840" y="4114800"/>
            <a:ext cx="118872" cy="118872"/>
          </a:xfrm>
          <a:prstGeom prst="triangle">
            <a:avLst/>
          </a:prstGeom>
          <a:solidFill>
            <a:srgbClr val="F35B1A"/>
          </a:solidFill>
          <a:ln/>
        </p:spPr>
      </p:sp>
      <p:sp>
        <p:nvSpPr>
          <p:cNvPr id="19" name="Text 15"/>
          <p:cNvSpPr/>
          <p:nvPr/>
        </p:nvSpPr>
        <p:spPr>
          <a:xfrm>
            <a:off x="1243584" y="4041648"/>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Expand within the GO–DF–MG corridor and selectively into adjacent regions</a:t>
            </a:r>
            <a:endParaRPr lang="en-US" sz="800" dirty="0"/>
          </a:p>
        </p:txBody>
      </p:sp>
      <p:sp>
        <p:nvSpPr>
          <p:cNvPr id="20" name="Shape 16"/>
          <p:cNvSpPr/>
          <p:nvPr/>
        </p:nvSpPr>
        <p:spPr>
          <a:xfrm rot="5400000">
            <a:off x="1005840" y="4773168"/>
            <a:ext cx="118872" cy="118872"/>
          </a:xfrm>
          <a:prstGeom prst="triangle">
            <a:avLst/>
          </a:prstGeom>
          <a:solidFill>
            <a:srgbClr val="F35B1A"/>
          </a:solidFill>
          <a:ln/>
        </p:spPr>
      </p:sp>
      <p:sp>
        <p:nvSpPr>
          <p:cNvPr id="21" name="Text 17"/>
          <p:cNvSpPr/>
          <p:nvPr/>
        </p:nvSpPr>
        <p:spPr>
          <a:xfrm>
            <a:off x="1243584" y="4700016"/>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Leverage the existing base network to serve new sites</a:t>
            </a:r>
            <a:endParaRPr lang="en-US" sz="800" dirty="0"/>
          </a:p>
        </p:txBody>
      </p:sp>
      <p:sp>
        <p:nvSpPr>
          <p:cNvPr id="22" name="Shape 18"/>
          <p:cNvSpPr/>
          <p:nvPr/>
        </p:nvSpPr>
        <p:spPr>
          <a:xfrm>
            <a:off x="4393082" y="1783080"/>
            <a:ext cx="3405530" cy="3566160"/>
          </a:xfrm>
          <a:prstGeom prst="roundRect">
            <a:avLst>
              <a:gd name="adj" fmla="val 2685"/>
            </a:avLst>
          </a:prstGeom>
          <a:solidFill>
            <a:srgbClr val="F4F6F8"/>
          </a:solidFill>
          <a:ln w="12700">
            <a:solidFill>
              <a:srgbClr val="E2E6EB"/>
            </a:solidFill>
            <a:prstDash val="solid"/>
          </a:ln>
        </p:spPr>
      </p:sp>
      <p:sp>
        <p:nvSpPr>
          <p:cNvPr id="23" name="Shape 19"/>
          <p:cNvSpPr/>
          <p:nvPr/>
        </p:nvSpPr>
        <p:spPr>
          <a:xfrm>
            <a:off x="4393082" y="1783080"/>
            <a:ext cx="3405530" cy="45720"/>
          </a:xfrm>
          <a:prstGeom prst="rect">
            <a:avLst/>
          </a:prstGeom>
          <a:solidFill>
            <a:srgbClr val="F35B1A"/>
          </a:solidFill>
          <a:ln/>
        </p:spPr>
      </p:sp>
      <p:sp>
        <p:nvSpPr>
          <p:cNvPr id="24" name="Shape 20"/>
          <p:cNvSpPr/>
          <p:nvPr/>
        </p:nvSpPr>
        <p:spPr>
          <a:xfrm>
            <a:off x="4649114" y="2075688"/>
            <a:ext cx="493776" cy="493776"/>
          </a:xfrm>
          <a:prstGeom prst="ellipse">
            <a:avLst/>
          </a:prstGeom>
          <a:solidFill>
            <a:srgbClr val="FDE9DE"/>
          </a:solidFill>
          <a:ln/>
        </p:spPr>
      </p:sp>
      <p:pic>
        <p:nvPicPr>
          <p:cNvPr id="25" name="Image 2" descr="assets/icons/zap_orange.png">    </p:cNvPr>
          <p:cNvPicPr>
            <a:picLocks noChangeAspect="1"/>
          </p:cNvPicPr>
          <p:nvPr/>
        </p:nvPicPr>
        <p:blipFill>
          <a:blip r:embed="rId3"/>
          <a:stretch>
            <a:fillRect/>
          </a:stretch>
        </p:blipFill>
        <p:spPr>
          <a:xfrm>
            <a:off x="4782434" y="2209008"/>
            <a:ext cx="227137" cy="227137"/>
          </a:xfrm>
          <a:prstGeom prst="rect">
            <a:avLst/>
          </a:prstGeom>
        </p:spPr>
      </p:pic>
      <p:sp>
        <p:nvSpPr>
          <p:cNvPr id="26" name="Text 21"/>
          <p:cNvSpPr/>
          <p:nvPr/>
        </p:nvSpPr>
        <p:spPr>
          <a:xfrm>
            <a:off x="7140245" y="2057400"/>
            <a:ext cx="457200" cy="457200"/>
          </a:xfrm>
          <a:prstGeom prst="rect">
            <a:avLst/>
          </a:prstGeom>
          <a:noFill/>
          <a:ln/>
        </p:spPr>
        <p:txBody>
          <a:bodyPr wrap="square" lIns="0" tIns="0" rIns="0" bIns="0" rtlCol="0" anchor="ctr"/>
          <a:lstStyle/>
          <a:p>
            <a:pPr algn="r" indent="0" marL="0">
              <a:buNone/>
            </a:pPr>
            <a:r>
              <a:rPr lang="en-US" sz="2000" dirty="0">
                <a:solidFill>
                  <a:srgbClr val="FBD9C6"/>
                </a:solidFill>
                <a:latin typeface="Poppins SemiBold" pitchFamily="34" charset="0"/>
                <a:ea typeface="Poppins SemiBold" pitchFamily="34" charset="-122"/>
                <a:cs typeface="Poppins SemiBold" pitchFamily="34" charset="-120"/>
              </a:rPr>
              <a:t>B</a:t>
            </a:r>
            <a:endParaRPr lang="en-US" sz="2000" dirty="0"/>
          </a:p>
        </p:txBody>
      </p:sp>
      <p:sp>
        <p:nvSpPr>
          <p:cNvPr id="27" name="Text 22"/>
          <p:cNvSpPr/>
          <p:nvPr/>
        </p:nvSpPr>
        <p:spPr>
          <a:xfrm>
            <a:off x="4649114" y="2697480"/>
            <a:ext cx="2893466" cy="603504"/>
          </a:xfrm>
          <a:prstGeom prst="rect">
            <a:avLst/>
          </a:prstGeom>
          <a:noFill/>
          <a:ln/>
        </p:spPr>
        <p:txBody>
          <a:bodyPr wrap="square" lIns="0" tIns="0" rIns="0" bIns="0" rtlCol="0" anchor="t"/>
          <a:lstStyle/>
          <a:p>
            <a:pPr indent="0" marL="0">
              <a:lnSpc>
                <a:spcPct val="110000"/>
              </a:lnSpc>
              <a:buNone/>
            </a:pPr>
            <a:r>
              <a:rPr lang="en-US" sz="1100" dirty="0">
                <a:solidFill>
                  <a:srgbClr val="141A24"/>
                </a:solidFill>
                <a:latin typeface="Poppins SemiBold" pitchFamily="34" charset="0"/>
                <a:ea typeface="Poppins SemiBold" pitchFamily="34" charset="-122"/>
                <a:cs typeface="Poppins SemiBold" pitchFamily="34" charset="-120"/>
              </a:rPr>
              <a:t>Electrification &amp; tech-enabled services</a:t>
            </a:r>
            <a:endParaRPr lang="en-US" sz="1100" dirty="0"/>
          </a:p>
        </p:txBody>
      </p:sp>
      <p:sp>
        <p:nvSpPr>
          <p:cNvPr id="28" name="Shape 23"/>
          <p:cNvSpPr/>
          <p:nvPr/>
        </p:nvSpPr>
        <p:spPr>
          <a:xfrm rot="5400000">
            <a:off x="4667402" y="3456432"/>
            <a:ext cx="118872" cy="118872"/>
          </a:xfrm>
          <a:prstGeom prst="triangle">
            <a:avLst/>
          </a:prstGeom>
          <a:solidFill>
            <a:srgbClr val="F35B1A"/>
          </a:solidFill>
          <a:ln/>
        </p:spPr>
      </p:sp>
      <p:sp>
        <p:nvSpPr>
          <p:cNvPr id="29" name="Text 24"/>
          <p:cNvSpPr/>
          <p:nvPr/>
        </p:nvSpPr>
        <p:spPr>
          <a:xfrm>
            <a:off x="4905146" y="3383280"/>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Gradual fleet electrification aligned to clients' ESG and Scope-3 goals</a:t>
            </a:r>
            <a:endParaRPr lang="en-US" sz="800" dirty="0"/>
          </a:p>
        </p:txBody>
      </p:sp>
      <p:sp>
        <p:nvSpPr>
          <p:cNvPr id="30" name="Shape 25"/>
          <p:cNvSpPr/>
          <p:nvPr/>
        </p:nvSpPr>
        <p:spPr>
          <a:xfrm rot="5400000">
            <a:off x="4667402" y="4114800"/>
            <a:ext cx="118872" cy="118872"/>
          </a:xfrm>
          <a:prstGeom prst="triangle">
            <a:avLst/>
          </a:prstGeom>
          <a:solidFill>
            <a:srgbClr val="F35B1A"/>
          </a:solidFill>
          <a:ln/>
        </p:spPr>
      </p:sp>
      <p:sp>
        <p:nvSpPr>
          <p:cNvPr id="31" name="Text 26"/>
          <p:cNvSpPr/>
          <p:nvPr/>
        </p:nvSpPr>
        <p:spPr>
          <a:xfrm>
            <a:off x="4905146" y="4041648"/>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A technology layer — route optimization, booking apps, carbon dashboards</a:t>
            </a:r>
            <a:endParaRPr lang="en-US" sz="800" dirty="0"/>
          </a:p>
        </p:txBody>
      </p:sp>
      <p:sp>
        <p:nvSpPr>
          <p:cNvPr id="32" name="Shape 27"/>
          <p:cNvSpPr/>
          <p:nvPr/>
        </p:nvSpPr>
        <p:spPr>
          <a:xfrm rot="5400000">
            <a:off x="4667402" y="4773168"/>
            <a:ext cx="118872" cy="118872"/>
          </a:xfrm>
          <a:prstGeom prst="triangle">
            <a:avLst/>
          </a:prstGeom>
          <a:solidFill>
            <a:srgbClr val="F35B1A"/>
          </a:solidFill>
          <a:ln/>
        </p:spPr>
      </p:sp>
      <p:sp>
        <p:nvSpPr>
          <p:cNvPr id="33" name="Text 28"/>
          <p:cNvSpPr/>
          <p:nvPr/>
        </p:nvSpPr>
        <p:spPr>
          <a:xfrm>
            <a:off x="4905146" y="4700016"/>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Driver capacitation and retention programmes addressing the labour bottleneck</a:t>
            </a:r>
            <a:endParaRPr lang="en-US" sz="800" dirty="0"/>
          </a:p>
        </p:txBody>
      </p:sp>
      <p:sp>
        <p:nvSpPr>
          <p:cNvPr id="34" name="Shape 29"/>
          <p:cNvSpPr/>
          <p:nvPr/>
        </p:nvSpPr>
        <p:spPr>
          <a:xfrm>
            <a:off x="8054645" y="1783080"/>
            <a:ext cx="3405530" cy="3566160"/>
          </a:xfrm>
          <a:prstGeom prst="roundRect">
            <a:avLst>
              <a:gd name="adj" fmla="val 2685"/>
            </a:avLst>
          </a:prstGeom>
          <a:solidFill>
            <a:srgbClr val="F4F6F8"/>
          </a:solidFill>
          <a:ln w="12700">
            <a:solidFill>
              <a:srgbClr val="E2E6EB"/>
            </a:solidFill>
            <a:prstDash val="solid"/>
          </a:ln>
        </p:spPr>
      </p:sp>
      <p:sp>
        <p:nvSpPr>
          <p:cNvPr id="35" name="Shape 30"/>
          <p:cNvSpPr/>
          <p:nvPr/>
        </p:nvSpPr>
        <p:spPr>
          <a:xfrm>
            <a:off x="8054645" y="1783080"/>
            <a:ext cx="3405530" cy="45720"/>
          </a:xfrm>
          <a:prstGeom prst="rect">
            <a:avLst/>
          </a:prstGeom>
          <a:solidFill>
            <a:srgbClr val="F35B1A"/>
          </a:solidFill>
          <a:ln/>
        </p:spPr>
      </p:sp>
      <p:sp>
        <p:nvSpPr>
          <p:cNvPr id="36" name="Shape 31"/>
          <p:cNvSpPr/>
          <p:nvPr/>
        </p:nvSpPr>
        <p:spPr>
          <a:xfrm>
            <a:off x="8310677" y="2075688"/>
            <a:ext cx="493776" cy="493776"/>
          </a:xfrm>
          <a:prstGeom prst="ellipse">
            <a:avLst/>
          </a:prstGeom>
          <a:solidFill>
            <a:srgbClr val="FDE9DE"/>
          </a:solidFill>
          <a:ln/>
        </p:spPr>
      </p:sp>
      <p:pic>
        <p:nvPicPr>
          <p:cNvPr id="37" name="Image 3" descr="assets/icons/layers_orange.png">    </p:cNvPr>
          <p:cNvPicPr>
            <a:picLocks noChangeAspect="1"/>
          </p:cNvPicPr>
          <p:nvPr/>
        </p:nvPicPr>
        <p:blipFill>
          <a:blip r:embed="rId4"/>
          <a:stretch>
            <a:fillRect/>
          </a:stretch>
        </p:blipFill>
        <p:spPr>
          <a:xfrm>
            <a:off x="8443996" y="2209008"/>
            <a:ext cx="227137" cy="227137"/>
          </a:xfrm>
          <a:prstGeom prst="rect">
            <a:avLst/>
          </a:prstGeom>
        </p:spPr>
      </p:pic>
      <p:sp>
        <p:nvSpPr>
          <p:cNvPr id="38" name="Text 32"/>
          <p:cNvSpPr/>
          <p:nvPr/>
        </p:nvSpPr>
        <p:spPr>
          <a:xfrm>
            <a:off x="10801807" y="2057400"/>
            <a:ext cx="457200" cy="457200"/>
          </a:xfrm>
          <a:prstGeom prst="rect">
            <a:avLst/>
          </a:prstGeom>
          <a:noFill/>
          <a:ln/>
        </p:spPr>
        <p:txBody>
          <a:bodyPr wrap="square" lIns="0" tIns="0" rIns="0" bIns="0" rtlCol="0" anchor="ctr"/>
          <a:lstStyle/>
          <a:p>
            <a:pPr algn="r" indent="0" marL="0">
              <a:buNone/>
            </a:pPr>
            <a:r>
              <a:rPr lang="en-US" sz="2000" dirty="0">
                <a:solidFill>
                  <a:srgbClr val="FBD9C6"/>
                </a:solidFill>
                <a:latin typeface="Poppins SemiBold" pitchFamily="34" charset="0"/>
                <a:ea typeface="Poppins SemiBold" pitchFamily="34" charset="-122"/>
                <a:cs typeface="Poppins SemiBold" pitchFamily="34" charset="-120"/>
              </a:rPr>
              <a:t>C</a:t>
            </a:r>
            <a:endParaRPr lang="en-US" sz="2000" dirty="0"/>
          </a:p>
        </p:txBody>
      </p:sp>
      <p:sp>
        <p:nvSpPr>
          <p:cNvPr id="39" name="Text 33"/>
          <p:cNvSpPr/>
          <p:nvPr/>
        </p:nvSpPr>
        <p:spPr>
          <a:xfrm>
            <a:off x="8310677" y="2697480"/>
            <a:ext cx="2893466" cy="603504"/>
          </a:xfrm>
          <a:prstGeom prst="rect">
            <a:avLst/>
          </a:prstGeom>
          <a:noFill/>
          <a:ln/>
        </p:spPr>
        <p:txBody>
          <a:bodyPr wrap="square" lIns="0" tIns="0" rIns="0" bIns="0" rtlCol="0" anchor="t"/>
          <a:lstStyle/>
          <a:p>
            <a:pPr indent="0" marL="0">
              <a:lnSpc>
                <a:spcPct val="110000"/>
              </a:lnSpc>
              <a:buNone/>
            </a:pPr>
            <a:r>
              <a:rPr lang="en-US" sz="1100" dirty="0">
                <a:solidFill>
                  <a:srgbClr val="141A24"/>
                </a:solidFill>
                <a:latin typeface="Poppins SemiBold" pitchFamily="34" charset="0"/>
                <a:ea typeface="Poppins SemiBold" pitchFamily="34" charset="-122"/>
                <a:cs typeface="Poppins SemiBold" pitchFamily="34" charset="-120"/>
              </a:rPr>
              <a:t>Consolidate a fragmented market</a:t>
            </a:r>
            <a:endParaRPr lang="en-US" sz="1100" dirty="0"/>
          </a:p>
        </p:txBody>
      </p:sp>
      <p:sp>
        <p:nvSpPr>
          <p:cNvPr id="40" name="Shape 34"/>
          <p:cNvSpPr/>
          <p:nvPr/>
        </p:nvSpPr>
        <p:spPr>
          <a:xfrm rot="5400000">
            <a:off x="8328965" y="3456432"/>
            <a:ext cx="118872" cy="118872"/>
          </a:xfrm>
          <a:prstGeom prst="triangle">
            <a:avLst/>
          </a:prstGeom>
          <a:solidFill>
            <a:srgbClr val="F35B1A"/>
          </a:solidFill>
          <a:ln/>
        </p:spPr>
      </p:sp>
      <p:sp>
        <p:nvSpPr>
          <p:cNvPr id="41" name="Text 35"/>
          <p:cNvSpPr/>
          <p:nvPr/>
        </p:nvSpPr>
        <p:spPr>
          <a:xfrm>
            <a:off x="8566709" y="3383280"/>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A highly fragmented Brazilian market with consolidation already underway</a:t>
            </a:r>
            <a:endParaRPr lang="en-US" sz="800" dirty="0"/>
          </a:p>
        </p:txBody>
      </p:sp>
      <p:sp>
        <p:nvSpPr>
          <p:cNvPr id="42" name="Shape 36"/>
          <p:cNvSpPr/>
          <p:nvPr/>
        </p:nvSpPr>
        <p:spPr>
          <a:xfrm rot="5400000">
            <a:off x="8328965" y="4114800"/>
            <a:ext cx="118872" cy="118872"/>
          </a:xfrm>
          <a:prstGeom prst="triangle">
            <a:avLst/>
          </a:prstGeom>
          <a:solidFill>
            <a:srgbClr val="F35B1A"/>
          </a:solidFill>
          <a:ln/>
        </p:spPr>
      </p:sp>
      <p:sp>
        <p:nvSpPr>
          <p:cNvPr id="43" name="Text 37"/>
          <p:cNvSpPr/>
          <p:nvPr/>
        </p:nvSpPr>
        <p:spPr>
          <a:xfrm>
            <a:off x="8566709" y="4041648"/>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Mobi's scale and track record position it as a natural consolidation platform</a:t>
            </a:r>
            <a:endParaRPr lang="en-US" sz="800" dirty="0"/>
          </a:p>
        </p:txBody>
      </p:sp>
      <p:sp>
        <p:nvSpPr>
          <p:cNvPr id="44" name="Shape 38"/>
          <p:cNvSpPr/>
          <p:nvPr/>
        </p:nvSpPr>
        <p:spPr>
          <a:xfrm rot="5400000">
            <a:off x="8328965" y="4773168"/>
            <a:ext cx="118872" cy="118872"/>
          </a:xfrm>
          <a:prstGeom prst="triangle">
            <a:avLst/>
          </a:prstGeom>
          <a:solidFill>
            <a:srgbClr val="F35B1A"/>
          </a:solidFill>
          <a:ln/>
        </p:spPr>
      </p:sp>
      <p:sp>
        <p:nvSpPr>
          <p:cNvPr id="45" name="Text 39"/>
          <p:cNvSpPr/>
          <p:nvPr/>
        </p:nvSpPr>
        <p:spPr>
          <a:xfrm>
            <a:off x="8566709" y="4700016"/>
            <a:ext cx="2619146" cy="603504"/>
          </a:xfrm>
          <a:prstGeom prst="rect">
            <a:avLst/>
          </a:prstGeom>
          <a:noFill/>
          <a:ln/>
        </p:spPr>
        <p:txBody>
          <a:bodyPr wrap="square" lIns="0" tIns="0" rIns="0" bIns="0" rtlCol="0" anchor="t"/>
          <a:lstStyle/>
          <a:p>
            <a:pPr indent="0" marL="0">
              <a:lnSpc>
                <a:spcPct val="116000"/>
              </a:lnSpc>
              <a:buNone/>
            </a:pPr>
            <a:r>
              <a:rPr lang="en-US" sz="800" dirty="0">
                <a:solidFill>
                  <a:srgbClr val="6C7683"/>
                </a:solidFill>
                <a:latin typeface="Poppins" pitchFamily="34" charset="0"/>
                <a:ea typeface="Poppins" pitchFamily="34" charset="-122"/>
                <a:cs typeface="Poppins" pitchFamily="34" charset="-120"/>
              </a:rPr>
              <a:t>Selective acquisition of smaller regional fretamento operators</a:t>
            </a:r>
            <a:endParaRPr lang="en-US" sz="800" dirty="0"/>
          </a:p>
        </p:txBody>
      </p:sp>
      <p:sp>
        <p:nvSpPr>
          <p:cNvPr id="46" name="Shape 40"/>
          <p:cNvSpPr/>
          <p:nvPr/>
        </p:nvSpPr>
        <p:spPr>
          <a:xfrm>
            <a:off x="0" y="6172200"/>
            <a:ext cx="12191695" cy="685800"/>
          </a:xfrm>
          <a:prstGeom prst="rect">
            <a:avLst/>
          </a:prstGeom>
          <a:solidFill>
            <a:srgbClr val="141A24"/>
          </a:solidFill>
          <a:ln/>
        </p:spPr>
      </p:sp>
      <p:sp>
        <p:nvSpPr>
          <p:cNvPr id="47" name="Shape 41"/>
          <p:cNvSpPr/>
          <p:nvPr/>
        </p:nvSpPr>
        <p:spPr>
          <a:xfrm>
            <a:off x="0" y="6172200"/>
            <a:ext cx="118872" cy="685800"/>
          </a:xfrm>
          <a:prstGeom prst="rect">
            <a:avLst/>
          </a:prstGeom>
          <a:solidFill>
            <a:srgbClr val="F35B1A"/>
          </a:solidFill>
          <a:ln/>
        </p:spPr>
      </p:sp>
      <p:sp>
        <p:nvSpPr>
          <p:cNvPr id="48" name="Text 42"/>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clear and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executable path</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for continued value creation</a:t>
            </a:r>
            <a:endParaRPr lang="en-US" sz="1200" dirty="0"/>
          </a:p>
        </p:txBody>
      </p:sp>
      <p:pic>
        <p:nvPicPr>
          <p:cNvPr id="49" name="Image 4" descr="assets/igc_white.png">    </p:cNvPr>
          <p:cNvPicPr>
            <a:picLocks noChangeAspect="1"/>
          </p:cNvPicPr>
          <p:nvPr/>
        </p:nvPicPr>
        <p:blipFill>
          <a:blip r:embed="rId5"/>
          <a:stretch>
            <a:fillRect/>
          </a:stretch>
        </p:blipFill>
        <p:spPr>
          <a:xfrm>
            <a:off x="731520" y="6387084"/>
            <a:ext cx="274320" cy="237134"/>
          </a:xfrm>
          <a:prstGeom prst="rect">
            <a:avLst/>
          </a:prstGeom>
        </p:spPr>
      </p:pic>
      <p:sp>
        <p:nvSpPr>
          <p:cNvPr id="50" name="Text 43"/>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15</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A24"/>
        </a:solidFill>
      </p:bgPr>
    </p:bg>
    <p:spTree>
      <p:nvGrpSpPr>
        <p:cNvPr id="1" name=""/>
        <p:cNvGrpSpPr/>
        <p:nvPr/>
      </p:nvGrpSpPr>
      <p:grpSpPr>
        <a:xfrm>
          <a:off x="0" y="0"/>
          <a:ext cx="0" cy="0"/>
          <a:chOff x="0" y="0"/>
          <a:chExt cx="0" cy="0"/>
        </a:xfrm>
      </p:grpSpPr>
      <p:pic>
        <p:nvPicPr>
          <p:cNvPr id="2" name="Image 0" descr="assets/stripes_orange.png">    </p:cNvPr>
          <p:cNvPicPr>
            <a:picLocks noChangeAspect="1"/>
          </p:cNvPicPr>
          <p:nvPr/>
        </p:nvPicPr>
        <p:blipFill>
          <a:blip r:embed="rId1">
            <a:alphaModFix amt="38000"/>
          </a:blip>
          <a:stretch>
            <a:fillRect/>
          </a:stretch>
        </p:blipFill>
        <p:spPr>
          <a:xfrm>
            <a:off x="-640080" y="4572000"/>
            <a:ext cx="2286000" cy="2286000"/>
          </a:xfrm>
          <a:prstGeom prst="rect">
            <a:avLst/>
          </a:prstGeom>
        </p:spPr>
      </p:pic>
      <p:pic>
        <p:nvPicPr>
          <p:cNvPr id="3" name="Image 1" descr="assets/mobi_fleet2.png">    </p:cNvPr>
          <p:cNvPicPr>
            <a:picLocks noChangeAspect="1"/>
          </p:cNvPicPr>
          <p:nvPr/>
        </p:nvPicPr>
        <p:blipFill>
          <a:blip r:embed="rId2"/>
          <a:srcRect l="0" r="0" t="0" b="0"/>
          <a:stretch/>
        </p:blipFill>
        <p:spPr>
          <a:xfrm>
            <a:off x="6858000" y="0"/>
            <a:ext cx="5333695" cy="6858000"/>
          </a:xfrm>
          <a:prstGeom prst="rect">
            <a:avLst/>
          </a:prstGeom>
        </p:spPr>
      </p:pic>
      <p:sp>
        <p:nvSpPr>
          <p:cNvPr id="4" name="Shape 0"/>
          <p:cNvSpPr/>
          <p:nvPr/>
        </p:nvSpPr>
        <p:spPr>
          <a:xfrm>
            <a:off x="6858000" y="0"/>
            <a:ext cx="5333695" cy="6858000"/>
          </a:xfrm>
          <a:prstGeom prst="rect">
            <a:avLst/>
          </a:prstGeom>
          <a:solidFill>
            <a:srgbClr val="141A24">
              <a:alpha val="42000"/>
            </a:srgbClr>
          </a:solidFill>
          <a:ln/>
        </p:spPr>
      </p:sp>
      <p:sp>
        <p:nvSpPr>
          <p:cNvPr id="5" name="Shape 1"/>
          <p:cNvSpPr/>
          <p:nvPr/>
        </p:nvSpPr>
        <p:spPr>
          <a:xfrm>
            <a:off x="6858000" y="0"/>
            <a:ext cx="41148" cy="6858000"/>
          </a:xfrm>
          <a:prstGeom prst="rect">
            <a:avLst/>
          </a:prstGeom>
          <a:solidFill>
            <a:srgbClr val="F35B1A"/>
          </a:solidFill>
          <a:ln/>
        </p:spPr>
      </p:sp>
      <p:sp>
        <p:nvSpPr>
          <p:cNvPr id="6"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a:off x="731520" y="2395728"/>
            <a:ext cx="1371600" cy="32004"/>
          </a:xfrm>
          <a:prstGeom prst="rect">
            <a:avLst/>
          </a:prstGeom>
          <a:solidFill>
            <a:srgbClr val="F35B1A"/>
          </a:solidFill>
          <a:ln/>
        </p:spPr>
      </p:sp>
      <p:sp>
        <p:nvSpPr>
          <p:cNvPr id="9" name="Shape 5"/>
          <p:cNvSpPr/>
          <p:nvPr/>
        </p:nvSpPr>
        <p:spPr>
          <a:xfrm rot="5400000">
            <a:off x="749808" y="2871216"/>
            <a:ext cx="173736" cy="173736"/>
          </a:xfrm>
          <a:prstGeom prst="triangle">
            <a:avLst/>
          </a:prstGeom>
          <a:solidFill>
            <a:srgbClr val="4A5563"/>
          </a:solidFill>
          <a:ln/>
        </p:spPr>
      </p:sp>
      <p:sp>
        <p:nvSpPr>
          <p:cNvPr id="10"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INTRODUCTION</a:t>
            </a:r>
            <a:endParaRPr lang="en-US" sz="1100" dirty="0"/>
          </a:p>
        </p:txBody>
      </p:sp>
      <p:sp>
        <p:nvSpPr>
          <p:cNvPr id="11"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04</a:t>
            </a:r>
            <a:endParaRPr lang="en-US" sz="1200" dirty="0"/>
          </a:p>
        </p:txBody>
      </p:sp>
      <p:sp>
        <p:nvSpPr>
          <p:cNvPr id="12" name="Shape 8"/>
          <p:cNvSpPr/>
          <p:nvPr/>
        </p:nvSpPr>
        <p:spPr>
          <a:xfrm rot="5400000">
            <a:off x="749808" y="3593592"/>
            <a:ext cx="173736" cy="173736"/>
          </a:xfrm>
          <a:prstGeom prst="triangle">
            <a:avLst/>
          </a:prstGeom>
          <a:solidFill>
            <a:srgbClr val="4A5563"/>
          </a:solidFill>
          <a:ln/>
        </p:spPr>
      </p:sp>
      <p:sp>
        <p:nvSpPr>
          <p:cNvPr id="13"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INVESTMENT THESIS</a:t>
            </a:r>
            <a:endParaRPr lang="en-US" sz="1100" dirty="0"/>
          </a:p>
        </p:txBody>
      </p:sp>
      <p:sp>
        <p:nvSpPr>
          <p:cNvPr id="14"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10</a:t>
            </a:r>
            <a:endParaRPr lang="en-US" sz="1200" dirty="0"/>
          </a:p>
        </p:txBody>
      </p:sp>
      <p:sp>
        <p:nvSpPr>
          <p:cNvPr id="15" name="Shape 11"/>
          <p:cNvSpPr/>
          <p:nvPr/>
        </p:nvSpPr>
        <p:spPr>
          <a:xfrm rot="5400000">
            <a:off x="749808" y="4315968"/>
            <a:ext cx="173736" cy="173736"/>
          </a:xfrm>
          <a:prstGeom prst="triangle">
            <a:avLst/>
          </a:prstGeom>
          <a:solidFill>
            <a:srgbClr val="F35B1A"/>
          </a:solidFill>
          <a:ln/>
        </p:spPr>
      </p:sp>
      <p:sp>
        <p:nvSpPr>
          <p:cNvPr id="16"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COMPANY OVERVIEW</a:t>
            </a:r>
            <a:endParaRPr lang="en-US" sz="1100" dirty="0"/>
          </a:p>
        </p:txBody>
      </p:sp>
      <p:sp>
        <p:nvSpPr>
          <p:cNvPr id="17"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F35B1A"/>
                </a:solidFill>
                <a:latin typeface="Poppins Medium" pitchFamily="34" charset="0"/>
                <a:ea typeface="Poppins Medium" pitchFamily="34" charset="-122"/>
                <a:cs typeface="Poppins Medium" pitchFamily="34" charset="-120"/>
              </a:rPr>
              <a:t>17</a:t>
            </a:r>
            <a:endParaRPr lang="en-US" sz="1200" dirty="0"/>
          </a:p>
        </p:txBody>
      </p:sp>
      <p:sp>
        <p:nvSpPr>
          <p:cNvPr id="18" name="Shape 14"/>
          <p:cNvSpPr/>
          <p:nvPr/>
        </p:nvSpPr>
        <p:spPr>
          <a:xfrm rot="5400000">
            <a:off x="749808" y="5038344"/>
            <a:ext cx="173736" cy="173736"/>
          </a:xfrm>
          <a:prstGeom prst="triangle">
            <a:avLst/>
          </a:prstGeom>
          <a:solidFill>
            <a:srgbClr val="4A5563"/>
          </a:solidFill>
          <a:ln/>
        </p:spPr>
      </p:sp>
      <p:sp>
        <p:nvSpPr>
          <p:cNvPr id="19"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FINANCIAL HIGHLIGHTS</a:t>
            </a:r>
            <a:endParaRPr lang="en-US" sz="1100" dirty="0"/>
          </a:p>
        </p:txBody>
      </p:sp>
      <p:sp>
        <p:nvSpPr>
          <p:cNvPr id="20"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25</a:t>
            </a:r>
            <a:endParaRPr lang="en-US" sz="1200" dirty="0"/>
          </a:p>
        </p:txBody>
      </p:sp>
      <p:pic>
        <p:nvPicPr>
          <p:cNvPr id="21" name="Image 2" descr="assets/igc_white.png">    </p:cNvPr>
          <p:cNvPicPr>
            <a:picLocks noChangeAspect="1"/>
          </p:cNvPicPr>
          <p:nvPr/>
        </p:nvPicPr>
        <p:blipFill>
          <a:blip r:embed="rId3"/>
          <a:stretch>
            <a:fillRect/>
          </a:stretch>
        </p:blipFill>
        <p:spPr>
          <a:xfrm>
            <a:off x="10957255" y="384048"/>
            <a:ext cx="502920" cy="434746"/>
          </a:xfrm>
          <a:prstGeom prst="rect">
            <a:avLst/>
          </a:prstGeom>
        </p:spPr>
      </p:pic>
      <p:pic>
        <p:nvPicPr>
          <p:cNvPr id="22" name="Image 3" descr="assets/mobi_logo_black.png">    </p:cNvPr>
          <p:cNvPicPr>
            <a:picLocks noChangeAspect="1"/>
          </p:cNvPicPr>
          <p:nvPr/>
        </p:nvPicPr>
        <p:blipFill>
          <a:blip r:embed="rId4"/>
          <a:stretch>
            <a:fillRect/>
          </a:stretch>
        </p:blipFill>
        <p:spPr>
          <a:xfrm>
            <a:off x="731520" y="5897880"/>
            <a:ext cx="1234440" cy="395407"/>
          </a:xfrm>
          <a:prstGeom prst="rect">
            <a:avLst/>
          </a:prstGeom>
        </p:spPr>
      </p:pic>
      <p:sp>
        <p:nvSpPr>
          <p:cNvPr id="23"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A track record built over more than 20 years</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Mobi has +20 years of experience in urban mobility and corporate employee transportation</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Foundation year and milestone dates to be confirmed with management.</a:t>
            </a:r>
            <a:endParaRPr lang="en-US" sz="700" dirty="0"/>
          </a:p>
        </p:txBody>
      </p:sp>
      <p:sp>
        <p:nvSpPr>
          <p:cNvPr id="8" name="Shape 5"/>
          <p:cNvSpPr/>
          <p:nvPr/>
        </p:nvSpPr>
        <p:spPr>
          <a:xfrm>
            <a:off x="731520" y="1965960"/>
            <a:ext cx="1955536" cy="1965960"/>
          </a:xfrm>
          <a:prstGeom prst="roundRect">
            <a:avLst>
              <a:gd name="adj" fmla="val 4676"/>
            </a:avLst>
          </a:prstGeom>
          <a:solidFill>
            <a:srgbClr val="FDE9DE"/>
          </a:solidFill>
          <a:ln/>
        </p:spPr>
      </p:sp>
      <p:sp>
        <p:nvSpPr>
          <p:cNvPr id="9" name="Text 6"/>
          <p:cNvSpPr/>
          <p:nvPr/>
        </p:nvSpPr>
        <p:spPr>
          <a:xfrm>
            <a:off x="950976" y="2221992"/>
            <a:ext cx="1516624" cy="384048"/>
          </a:xfrm>
          <a:prstGeom prst="rect">
            <a:avLst/>
          </a:prstGeom>
          <a:noFill/>
          <a:ln/>
        </p:spPr>
        <p:txBody>
          <a:bodyPr wrap="square" lIns="0" tIns="0" rIns="0" bIns="0" rtlCol="0" anchor="ctr"/>
          <a:lstStyle/>
          <a:p>
            <a:pPr indent="0" marL="0">
              <a:buNone/>
            </a:pPr>
            <a:r>
              <a:rPr lang="en-US" sz="1600" dirty="0">
                <a:solidFill>
                  <a:srgbClr val="C6470F"/>
                </a:solidFill>
                <a:latin typeface="Poppins SemiBold" pitchFamily="34" charset="0"/>
                <a:ea typeface="Poppins SemiBold" pitchFamily="34" charset="-122"/>
                <a:cs typeface="Poppins SemiBold" pitchFamily="34" charset="-120"/>
              </a:rPr>
              <a:t>[Year TBC]</a:t>
            </a:r>
            <a:endParaRPr lang="en-US" sz="1600" dirty="0"/>
          </a:p>
        </p:txBody>
      </p:sp>
      <p:sp>
        <p:nvSpPr>
          <p:cNvPr id="10" name="Shape 7"/>
          <p:cNvSpPr/>
          <p:nvPr/>
        </p:nvSpPr>
        <p:spPr>
          <a:xfrm>
            <a:off x="950976" y="2679192"/>
            <a:ext cx="640080" cy="27432"/>
          </a:xfrm>
          <a:prstGeom prst="rect">
            <a:avLst/>
          </a:prstGeom>
          <a:solidFill>
            <a:srgbClr val="F35B1A"/>
          </a:solidFill>
          <a:ln/>
        </p:spPr>
      </p:sp>
      <p:sp>
        <p:nvSpPr>
          <p:cNvPr id="11" name="Text 8"/>
          <p:cNvSpPr/>
          <p:nvPr/>
        </p:nvSpPr>
        <p:spPr>
          <a:xfrm>
            <a:off x="950976" y="2825496"/>
            <a:ext cx="1516624" cy="822960"/>
          </a:xfrm>
          <a:prstGeom prst="rect">
            <a:avLst/>
          </a:prstGeom>
          <a:noFill/>
          <a:ln/>
        </p:spPr>
        <p:txBody>
          <a:bodyPr wrap="square" lIns="0" tIns="0" rIns="0" bIns="0" rtlCol="0" anchor="t"/>
          <a:lstStyle/>
          <a:p>
            <a:pPr indent="0" marL="0">
              <a:lnSpc>
                <a:spcPct val="116000"/>
              </a:lnSpc>
              <a:buNone/>
            </a:pPr>
            <a:r>
              <a:rPr lang="en-US" sz="900" dirty="0">
                <a:solidFill>
                  <a:srgbClr val="2B333E"/>
                </a:solidFill>
                <a:latin typeface="Poppins" pitchFamily="34" charset="0"/>
                <a:ea typeface="Poppins" pitchFamily="34" charset="-122"/>
                <a:cs typeface="Poppins" pitchFamily="34" charset="-120"/>
              </a:rPr>
              <a:t>Foundation of Mobi</a:t>
            </a:r>
            <a:endParaRPr lang="en-US" sz="900" dirty="0"/>
          </a:p>
        </p:txBody>
      </p:sp>
      <p:sp>
        <p:nvSpPr>
          <p:cNvPr id="12" name="Shape 9"/>
          <p:cNvSpPr/>
          <p:nvPr/>
        </p:nvSpPr>
        <p:spPr>
          <a:xfrm rot="5400000">
            <a:off x="2737348" y="2880360"/>
            <a:ext cx="137160" cy="137160"/>
          </a:xfrm>
          <a:prstGeom prst="triangle">
            <a:avLst/>
          </a:prstGeom>
          <a:solidFill>
            <a:srgbClr val="F35B1A"/>
          </a:solidFill>
          <a:ln/>
        </p:spPr>
      </p:sp>
      <p:sp>
        <p:nvSpPr>
          <p:cNvPr id="13" name="Shape 10"/>
          <p:cNvSpPr/>
          <p:nvPr/>
        </p:nvSpPr>
        <p:spPr>
          <a:xfrm>
            <a:off x="2924800" y="1965960"/>
            <a:ext cx="1955536" cy="1965960"/>
          </a:xfrm>
          <a:prstGeom prst="roundRect">
            <a:avLst>
              <a:gd name="adj" fmla="val 4676"/>
            </a:avLst>
          </a:prstGeom>
          <a:solidFill>
            <a:srgbClr val="FDE9DE"/>
          </a:solidFill>
          <a:ln/>
        </p:spPr>
      </p:sp>
      <p:sp>
        <p:nvSpPr>
          <p:cNvPr id="14" name="Text 11"/>
          <p:cNvSpPr/>
          <p:nvPr/>
        </p:nvSpPr>
        <p:spPr>
          <a:xfrm>
            <a:off x="3144256" y="2221992"/>
            <a:ext cx="1516624" cy="384048"/>
          </a:xfrm>
          <a:prstGeom prst="rect">
            <a:avLst/>
          </a:prstGeom>
          <a:noFill/>
          <a:ln/>
        </p:spPr>
        <p:txBody>
          <a:bodyPr wrap="square" lIns="0" tIns="0" rIns="0" bIns="0" rtlCol="0" anchor="ctr"/>
          <a:lstStyle/>
          <a:p>
            <a:pPr indent="0" marL="0">
              <a:buNone/>
            </a:pPr>
            <a:r>
              <a:rPr lang="en-US" sz="1600" dirty="0">
                <a:solidFill>
                  <a:srgbClr val="C6470F"/>
                </a:solidFill>
                <a:latin typeface="Poppins SemiBold" pitchFamily="34" charset="0"/>
                <a:ea typeface="Poppins SemiBold" pitchFamily="34" charset="-122"/>
                <a:cs typeface="Poppins SemiBold" pitchFamily="34" charset="-120"/>
              </a:rPr>
              <a:t>[Year]</a:t>
            </a:r>
            <a:endParaRPr lang="en-US" sz="1600" dirty="0"/>
          </a:p>
        </p:txBody>
      </p:sp>
      <p:sp>
        <p:nvSpPr>
          <p:cNvPr id="15" name="Shape 12"/>
          <p:cNvSpPr/>
          <p:nvPr/>
        </p:nvSpPr>
        <p:spPr>
          <a:xfrm>
            <a:off x="3144256" y="2679192"/>
            <a:ext cx="640080" cy="27432"/>
          </a:xfrm>
          <a:prstGeom prst="rect">
            <a:avLst/>
          </a:prstGeom>
          <a:solidFill>
            <a:srgbClr val="F35B1A"/>
          </a:solidFill>
          <a:ln/>
        </p:spPr>
      </p:sp>
      <p:sp>
        <p:nvSpPr>
          <p:cNvPr id="16" name="Text 13"/>
          <p:cNvSpPr/>
          <p:nvPr/>
        </p:nvSpPr>
        <p:spPr>
          <a:xfrm>
            <a:off x="3144256" y="2825496"/>
            <a:ext cx="1516624" cy="822960"/>
          </a:xfrm>
          <a:prstGeom prst="rect">
            <a:avLst/>
          </a:prstGeom>
          <a:noFill/>
          <a:ln/>
        </p:spPr>
        <p:txBody>
          <a:bodyPr wrap="square" lIns="0" tIns="0" rIns="0" bIns="0" rtlCol="0" anchor="t"/>
          <a:lstStyle/>
          <a:p>
            <a:pPr indent="0" marL="0">
              <a:lnSpc>
                <a:spcPct val="116000"/>
              </a:lnSpc>
              <a:buNone/>
            </a:pPr>
            <a:r>
              <a:rPr lang="en-US" sz="900" dirty="0">
                <a:solidFill>
                  <a:srgbClr val="2B333E"/>
                </a:solidFill>
                <a:latin typeface="Poppins" pitchFamily="34" charset="0"/>
                <a:ea typeface="Poppins" pitchFamily="34" charset="-122"/>
                <a:cs typeface="Poppins" pitchFamily="34" charset="-120"/>
              </a:rPr>
              <a:t>[Milestone — TBC]</a:t>
            </a:r>
            <a:endParaRPr lang="en-US" sz="900" dirty="0"/>
          </a:p>
        </p:txBody>
      </p:sp>
      <p:sp>
        <p:nvSpPr>
          <p:cNvPr id="17" name="Shape 14"/>
          <p:cNvSpPr/>
          <p:nvPr/>
        </p:nvSpPr>
        <p:spPr>
          <a:xfrm rot="5400000">
            <a:off x="4930628" y="2880360"/>
            <a:ext cx="137160" cy="137160"/>
          </a:xfrm>
          <a:prstGeom prst="triangle">
            <a:avLst/>
          </a:prstGeom>
          <a:solidFill>
            <a:srgbClr val="F35B1A"/>
          </a:solidFill>
          <a:ln/>
        </p:spPr>
      </p:sp>
      <p:sp>
        <p:nvSpPr>
          <p:cNvPr id="18" name="Shape 15"/>
          <p:cNvSpPr/>
          <p:nvPr/>
        </p:nvSpPr>
        <p:spPr>
          <a:xfrm>
            <a:off x="5118080" y="1965960"/>
            <a:ext cx="1955536" cy="1965960"/>
          </a:xfrm>
          <a:prstGeom prst="roundRect">
            <a:avLst>
              <a:gd name="adj" fmla="val 4676"/>
            </a:avLst>
          </a:prstGeom>
          <a:solidFill>
            <a:srgbClr val="FDE9DE"/>
          </a:solidFill>
          <a:ln/>
        </p:spPr>
      </p:sp>
      <p:sp>
        <p:nvSpPr>
          <p:cNvPr id="19" name="Text 16"/>
          <p:cNvSpPr/>
          <p:nvPr/>
        </p:nvSpPr>
        <p:spPr>
          <a:xfrm>
            <a:off x="5337536" y="2221992"/>
            <a:ext cx="1516624" cy="384048"/>
          </a:xfrm>
          <a:prstGeom prst="rect">
            <a:avLst/>
          </a:prstGeom>
          <a:noFill/>
          <a:ln/>
        </p:spPr>
        <p:txBody>
          <a:bodyPr wrap="square" lIns="0" tIns="0" rIns="0" bIns="0" rtlCol="0" anchor="ctr"/>
          <a:lstStyle/>
          <a:p>
            <a:pPr indent="0" marL="0">
              <a:buNone/>
            </a:pPr>
            <a:r>
              <a:rPr lang="en-US" sz="1600" dirty="0">
                <a:solidFill>
                  <a:srgbClr val="C6470F"/>
                </a:solidFill>
                <a:latin typeface="Poppins SemiBold" pitchFamily="34" charset="0"/>
                <a:ea typeface="Poppins SemiBold" pitchFamily="34" charset="-122"/>
                <a:cs typeface="Poppins SemiBold" pitchFamily="34" charset="-120"/>
              </a:rPr>
              <a:t>[Year]</a:t>
            </a:r>
            <a:endParaRPr lang="en-US" sz="1600" dirty="0"/>
          </a:p>
        </p:txBody>
      </p:sp>
      <p:sp>
        <p:nvSpPr>
          <p:cNvPr id="20" name="Shape 17"/>
          <p:cNvSpPr/>
          <p:nvPr/>
        </p:nvSpPr>
        <p:spPr>
          <a:xfrm>
            <a:off x="5337536" y="2679192"/>
            <a:ext cx="640080" cy="27432"/>
          </a:xfrm>
          <a:prstGeom prst="rect">
            <a:avLst/>
          </a:prstGeom>
          <a:solidFill>
            <a:srgbClr val="F35B1A"/>
          </a:solidFill>
          <a:ln/>
        </p:spPr>
      </p:sp>
      <p:sp>
        <p:nvSpPr>
          <p:cNvPr id="21" name="Text 18"/>
          <p:cNvSpPr/>
          <p:nvPr/>
        </p:nvSpPr>
        <p:spPr>
          <a:xfrm>
            <a:off x="5337536" y="2825496"/>
            <a:ext cx="1516624" cy="822960"/>
          </a:xfrm>
          <a:prstGeom prst="rect">
            <a:avLst/>
          </a:prstGeom>
          <a:noFill/>
          <a:ln/>
        </p:spPr>
        <p:txBody>
          <a:bodyPr wrap="square" lIns="0" tIns="0" rIns="0" bIns="0" rtlCol="0" anchor="t"/>
          <a:lstStyle/>
          <a:p>
            <a:pPr indent="0" marL="0">
              <a:lnSpc>
                <a:spcPct val="116000"/>
              </a:lnSpc>
              <a:buNone/>
            </a:pPr>
            <a:r>
              <a:rPr lang="en-US" sz="900" dirty="0">
                <a:solidFill>
                  <a:srgbClr val="2B333E"/>
                </a:solidFill>
                <a:latin typeface="Poppins" pitchFamily="34" charset="0"/>
                <a:ea typeface="Poppins" pitchFamily="34" charset="-122"/>
                <a:cs typeface="Poppins" pitchFamily="34" charset="-120"/>
              </a:rPr>
              <a:t>[Milestone — TBC]</a:t>
            </a:r>
            <a:endParaRPr lang="en-US" sz="900" dirty="0"/>
          </a:p>
        </p:txBody>
      </p:sp>
      <p:sp>
        <p:nvSpPr>
          <p:cNvPr id="22" name="Shape 19"/>
          <p:cNvSpPr/>
          <p:nvPr/>
        </p:nvSpPr>
        <p:spPr>
          <a:xfrm rot="5400000">
            <a:off x="7123908" y="2880360"/>
            <a:ext cx="137160" cy="137160"/>
          </a:xfrm>
          <a:prstGeom prst="triangle">
            <a:avLst/>
          </a:prstGeom>
          <a:solidFill>
            <a:srgbClr val="F35B1A"/>
          </a:solidFill>
          <a:ln/>
        </p:spPr>
      </p:sp>
      <p:sp>
        <p:nvSpPr>
          <p:cNvPr id="23" name="Shape 20"/>
          <p:cNvSpPr/>
          <p:nvPr/>
        </p:nvSpPr>
        <p:spPr>
          <a:xfrm>
            <a:off x="7311360" y="1965960"/>
            <a:ext cx="1955536" cy="1965960"/>
          </a:xfrm>
          <a:prstGeom prst="roundRect">
            <a:avLst>
              <a:gd name="adj" fmla="val 4676"/>
            </a:avLst>
          </a:prstGeom>
          <a:solidFill>
            <a:srgbClr val="F35B1A"/>
          </a:solidFill>
          <a:ln/>
        </p:spPr>
      </p:sp>
      <p:sp>
        <p:nvSpPr>
          <p:cNvPr id="24" name="Text 21"/>
          <p:cNvSpPr/>
          <p:nvPr/>
        </p:nvSpPr>
        <p:spPr>
          <a:xfrm>
            <a:off x="7530816" y="2221992"/>
            <a:ext cx="1516624" cy="384048"/>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2025</a:t>
            </a:r>
            <a:endParaRPr lang="en-US" sz="1600" dirty="0"/>
          </a:p>
        </p:txBody>
      </p:sp>
      <p:sp>
        <p:nvSpPr>
          <p:cNvPr id="25" name="Shape 22"/>
          <p:cNvSpPr/>
          <p:nvPr/>
        </p:nvSpPr>
        <p:spPr>
          <a:xfrm>
            <a:off x="7530816" y="2679192"/>
            <a:ext cx="640080" cy="27432"/>
          </a:xfrm>
          <a:prstGeom prst="rect">
            <a:avLst/>
          </a:prstGeom>
          <a:solidFill>
            <a:srgbClr val="FFFFFF"/>
          </a:solidFill>
          <a:ln/>
        </p:spPr>
      </p:sp>
      <p:sp>
        <p:nvSpPr>
          <p:cNvPr id="26" name="Text 23"/>
          <p:cNvSpPr/>
          <p:nvPr/>
        </p:nvSpPr>
        <p:spPr>
          <a:xfrm>
            <a:off x="7530816" y="2825496"/>
            <a:ext cx="1516624" cy="822960"/>
          </a:xfrm>
          <a:prstGeom prst="rect">
            <a:avLst/>
          </a:prstGeom>
          <a:noFill/>
          <a:ln/>
        </p:spPr>
        <p:txBody>
          <a:bodyPr wrap="square" lIns="0" tIns="0" rIns="0" bIns="0" rtlCol="0" anchor="t"/>
          <a:lstStyle/>
          <a:p>
            <a:pPr indent="0" marL="0">
              <a:lnSpc>
                <a:spcPct val="116000"/>
              </a:lnSpc>
              <a:buNone/>
            </a:pPr>
            <a:r>
              <a:rPr lang="en-US" sz="900" dirty="0">
                <a:solidFill>
                  <a:srgbClr val="FFFFFF"/>
                </a:solidFill>
                <a:latin typeface="Poppins" pitchFamily="34" charset="0"/>
                <a:ea typeface="Poppins" pitchFamily="34" charset="-122"/>
                <a:cs typeface="Poppins" pitchFamily="34" charset="-120"/>
              </a:rPr>
              <a:t>BRL 140 Mn net revenues</a:t>
            </a:r>
            <a:endParaRPr lang="en-US" sz="900" dirty="0"/>
          </a:p>
        </p:txBody>
      </p:sp>
      <p:sp>
        <p:nvSpPr>
          <p:cNvPr id="27" name="Shape 24"/>
          <p:cNvSpPr/>
          <p:nvPr/>
        </p:nvSpPr>
        <p:spPr>
          <a:xfrm rot="5400000">
            <a:off x="9317187" y="2880360"/>
            <a:ext cx="137160" cy="137160"/>
          </a:xfrm>
          <a:prstGeom prst="triangle">
            <a:avLst/>
          </a:prstGeom>
          <a:solidFill>
            <a:srgbClr val="F35B1A"/>
          </a:solidFill>
          <a:ln/>
        </p:spPr>
      </p:sp>
      <p:sp>
        <p:nvSpPr>
          <p:cNvPr id="28" name="Shape 25"/>
          <p:cNvSpPr/>
          <p:nvPr/>
        </p:nvSpPr>
        <p:spPr>
          <a:xfrm>
            <a:off x="9504639" y="1965960"/>
            <a:ext cx="1955536" cy="1965960"/>
          </a:xfrm>
          <a:prstGeom prst="roundRect">
            <a:avLst>
              <a:gd name="adj" fmla="val 4676"/>
            </a:avLst>
          </a:prstGeom>
          <a:solidFill>
            <a:srgbClr val="141A24"/>
          </a:solidFill>
          <a:ln/>
        </p:spPr>
      </p:sp>
      <p:sp>
        <p:nvSpPr>
          <p:cNvPr id="29" name="Text 26"/>
          <p:cNvSpPr/>
          <p:nvPr/>
        </p:nvSpPr>
        <p:spPr>
          <a:xfrm>
            <a:off x="9724095" y="2221992"/>
            <a:ext cx="1516624" cy="384048"/>
          </a:xfrm>
          <a:prstGeom prst="rect">
            <a:avLst/>
          </a:prstGeom>
          <a:noFill/>
          <a:ln/>
        </p:spPr>
        <p:txBody>
          <a:bodyPr wrap="square" lIns="0" tIns="0" rIns="0" bIns="0" rtlCol="0" anchor="ctr"/>
          <a:lstStyle/>
          <a:p>
            <a:pPr indent="0" marL="0">
              <a:buNone/>
            </a:pPr>
            <a:r>
              <a:rPr lang="en-US" sz="1600" dirty="0">
                <a:solidFill>
                  <a:srgbClr val="FFFFFF"/>
                </a:solidFill>
                <a:latin typeface="Poppins SemiBold" pitchFamily="34" charset="0"/>
                <a:ea typeface="Poppins SemiBold" pitchFamily="34" charset="-122"/>
                <a:cs typeface="Poppins SemiBold" pitchFamily="34" charset="-120"/>
              </a:rPr>
              <a:t>2026E</a:t>
            </a:r>
            <a:endParaRPr lang="en-US" sz="1600" dirty="0"/>
          </a:p>
        </p:txBody>
      </p:sp>
      <p:sp>
        <p:nvSpPr>
          <p:cNvPr id="30" name="Shape 27"/>
          <p:cNvSpPr/>
          <p:nvPr/>
        </p:nvSpPr>
        <p:spPr>
          <a:xfrm>
            <a:off x="9724095" y="2679192"/>
            <a:ext cx="640080" cy="27432"/>
          </a:xfrm>
          <a:prstGeom prst="rect">
            <a:avLst/>
          </a:prstGeom>
          <a:solidFill>
            <a:srgbClr val="F35B1A"/>
          </a:solidFill>
          <a:ln/>
        </p:spPr>
      </p:sp>
      <p:sp>
        <p:nvSpPr>
          <p:cNvPr id="31" name="Text 28"/>
          <p:cNvSpPr/>
          <p:nvPr/>
        </p:nvSpPr>
        <p:spPr>
          <a:xfrm>
            <a:off x="9724095" y="2825496"/>
            <a:ext cx="1516624" cy="822960"/>
          </a:xfrm>
          <a:prstGeom prst="rect">
            <a:avLst/>
          </a:prstGeom>
          <a:noFill/>
          <a:ln/>
        </p:spPr>
        <p:txBody>
          <a:bodyPr wrap="square" lIns="0" tIns="0" rIns="0" bIns="0" rtlCol="0" anchor="t"/>
          <a:lstStyle/>
          <a:p>
            <a:pPr indent="0" marL="0">
              <a:lnSpc>
                <a:spcPct val="116000"/>
              </a:lnSpc>
              <a:buNone/>
            </a:pPr>
            <a:r>
              <a:rPr lang="en-US" sz="900" dirty="0">
                <a:solidFill>
                  <a:srgbClr val="C7CDD6"/>
                </a:solidFill>
                <a:latin typeface="Poppins" pitchFamily="34" charset="0"/>
                <a:ea typeface="Poppins" pitchFamily="34" charset="-122"/>
                <a:cs typeface="Poppins" pitchFamily="34" charset="-120"/>
              </a:rPr>
              <a:t>Positioned for continued growth</a:t>
            </a:r>
            <a:endParaRPr lang="en-US" sz="900" dirty="0"/>
          </a:p>
        </p:txBody>
      </p:sp>
      <p:sp>
        <p:nvSpPr>
          <p:cNvPr id="32" name="Shape 29"/>
          <p:cNvSpPr/>
          <p:nvPr/>
        </p:nvSpPr>
        <p:spPr>
          <a:xfrm>
            <a:off x="731520" y="4343400"/>
            <a:ext cx="1955536" cy="749808"/>
          </a:xfrm>
          <a:prstGeom prst="roundRect">
            <a:avLst>
              <a:gd name="adj" fmla="val 8537"/>
            </a:avLst>
          </a:prstGeom>
          <a:solidFill>
            <a:srgbClr val="F4F6F8"/>
          </a:solidFill>
          <a:ln w="12700">
            <a:solidFill>
              <a:srgbClr val="E2E6EB"/>
            </a:solidFill>
            <a:prstDash val="solid"/>
          </a:ln>
        </p:spPr>
      </p:sp>
      <p:sp>
        <p:nvSpPr>
          <p:cNvPr id="33" name="Text 30"/>
          <p:cNvSpPr/>
          <p:nvPr/>
        </p:nvSpPr>
        <p:spPr>
          <a:xfrm>
            <a:off x="914400" y="4434840"/>
            <a:ext cx="1589776" cy="329184"/>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+20</a:t>
            </a:r>
            <a:endParaRPr lang="en-US" sz="1600" dirty="0"/>
          </a:p>
        </p:txBody>
      </p:sp>
      <p:sp>
        <p:nvSpPr>
          <p:cNvPr id="34" name="Text 31"/>
          <p:cNvSpPr/>
          <p:nvPr/>
        </p:nvSpPr>
        <p:spPr>
          <a:xfrm>
            <a:off x="91440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years of operations</a:t>
            </a:r>
            <a:endParaRPr lang="en-US" sz="800" dirty="0"/>
          </a:p>
        </p:txBody>
      </p:sp>
      <p:sp>
        <p:nvSpPr>
          <p:cNvPr id="35" name="Shape 32"/>
          <p:cNvSpPr/>
          <p:nvPr/>
        </p:nvSpPr>
        <p:spPr>
          <a:xfrm>
            <a:off x="2924800" y="4343400"/>
            <a:ext cx="1955536" cy="749808"/>
          </a:xfrm>
          <a:prstGeom prst="roundRect">
            <a:avLst>
              <a:gd name="adj" fmla="val 8537"/>
            </a:avLst>
          </a:prstGeom>
          <a:solidFill>
            <a:srgbClr val="F4F6F8"/>
          </a:solidFill>
          <a:ln w="12700">
            <a:solidFill>
              <a:srgbClr val="E2E6EB"/>
            </a:solidFill>
            <a:prstDash val="solid"/>
          </a:ln>
        </p:spPr>
      </p:sp>
      <p:sp>
        <p:nvSpPr>
          <p:cNvPr id="36" name="Text 33"/>
          <p:cNvSpPr/>
          <p:nvPr/>
        </p:nvSpPr>
        <p:spPr>
          <a:xfrm>
            <a:off x="3107680" y="4434840"/>
            <a:ext cx="1589776" cy="329184"/>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+50</a:t>
            </a:r>
            <a:endParaRPr lang="en-US" sz="1600" dirty="0"/>
          </a:p>
        </p:txBody>
      </p:sp>
      <p:sp>
        <p:nvSpPr>
          <p:cNvPr id="37" name="Text 34"/>
          <p:cNvSpPr/>
          <p:nvPr/>
        </p:nvSpPr>
        <p:spPr>
          <a:xfrm>
            <a:off x="310768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clients served</a:t>
            </a:r>
            <a:endParaRPr lang="en-US" sz="800" dirty="0"/>
          </a:p>
        </p:txBody>
      </p:sp>
      <p:sp>
        <p:nvSpPr>
          <p:cNvPr id="38" name="Shape 35"/>
          <p:cNvSpPr/>
          <p:nvPr/>
        </p:nvSpPr>
        <p:spPr>
          <a:xfrm>
            <a:off x="5118080" y="4343400"/>
            <a:ext cx="1955536" cy="749808"/>
          </a:xfrm>
          <a:prstGeom prst="roundRect">
            <a:avLst>
              <a:gd name="adj" fmla="val 8537"/>
            </a:avLst>
          </a:prstGeom>
          <a:solidFill>
            <a:srgbClr val="F4F6F8"/>
          </a:solidFill>
          <a:ln w="12700">
            <a:solidFill>
              <a:srgbClr val="E2E6EB"/>
            </a:solidFill>
            <a:prstDash val="solid"/>
          </a:ln>
        </p:spPr>
      </p:sp>
      <p:sp>
        <p:nvSpPr>
          <p:cNvPr id="39" name="Text 36"/>
          <p:cNvSpPr/>
          <p:nvPr/>
        </p:nvSpPr>
        <p:spPr>
          <a:xfrm>
            <a:off x="5300960" y="4434840"/>
            <a:ext cx="1589776" cy="329184"/>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373</a:t>
            </a:r>
            <a:endParaRPr lang="en-US" sz="1600" dirty="0"/>
          </a:p>
        </p:txBody>
      </p:sp>
      <p:sp>
        <p:nvSpPr>
          <p:cNvPr id="40" name="Text 37"/>
          <p:cNvSpPr/>
          <p:nvPr/>
        </p:nvSpPr>
        <p:spPr>
          <a:xfrm>
            <a:off x="530096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owned vehicles</a:t>
            </a:r>
            <a:endParaRPr lang="en-US" sz="800" dirty="0"/>
          </a:p>
        </p:txBody>
      </p:sp>
      <p:sp>
        <p:nvSpPr>
          <p:cNvPr id="41" name="Shape 38"/>
          <p:cNvSpPr/>
          <p:nvPr/>
        </p:nvSpPr>
        <p:spPr>
          <a:xfrm>
            <a:off x="7311360" y="4343400"/>
            <a:ext cx="1955536" cy="749808"/>
          </a:xfrm>
          <a:prstGeom prst="roundRect">
            <a:avLst>
              <a:gd name="adj" fmla="val 8537"/>
            </a:avLst>
          </a:prstGeom>
          <a:solidFill>
            <a:srgbClr val="F4F6F8"/>
          </a:solidFill>
          <a:ln w="12700">
            <a:solidFill>
              <a:srgbClr val="E2E6EB"/>
            </a:solidFill>
            <a:prstDash val="solid"/>
          </a:ln>
        </p:spPr>
      </p:sp>
      <p:sp>
        <p:nvSpPr>
          <p:cNvPr id="42" name="Text 39"/>
          <p:cNvSpPr/>
          <p:nvPr/>
        </p:nvSpPr>
        <p:spPr>
          <a:xfrm>
            <a:off x="7494240" y="4434840"/>
            <a:ext cx="1589776" cy="329184"/>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10</a:t>
            </a:r>
            <a:endParaRPr lang="en-US" sz="1600" dirty="0"/>
          </a:p>
        </p:txBody>
      </p:sp>
      <p:sp>
        <p:nvSpPr>
          <p:cNvPr id="43" name="Text 40"/>
          <p:cNvSpPr/>
          <p:nvPr/>
        </p:nvSpPr>
        <p:spPr>
          <a:xfrm>
            <a:off x="7494240"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operational bases</a:t>
            </a:r>
            <a:endParaRPr lang="en-US" sz="800" dirty="0"/>
          </a:p>
        </p:txBody>
      </p:sp>
      <p:sp>
        <p:nvSpPr>
          <p:cNvPr id="44" name="Shape 41"/>
          <p:cNvSpPr/>
          <p:nvPr/>
        </p:nvSpPr>
        <p:spPr>
          <a:xfrm>
            <a:off x="9504639" y="4343400"/>
            <a:ext cx="1955536" cy="749808"/>
          </a:xfrm>
          <a:prstGeom prst="roundRect">
            <a:avLst>
              <a:gd name="adj" fmla="val 8537"/>
            </a:avLst>
          </a:prstGeom>
          <a:solidFill>
            <a:srgbClr val="F4F6F8"/>
          </a:solidFill>
          <a:ln w="12700">
            <a:solidFill>
              <a:srgbClr val="E2E6EB"/>
            </a:solidFill>
            <a:prstDash val="solid"/>
          </a:ln>
        </p:spPr>
      </p:sp>
      <p:sp>
        <p:nvSpPr>
          <p:cNvPr id="45" name="Text 42"/>
          <p:cNvSpPr/>
          <p:nvPr/>
        </p:nvSpPr>
        <p:spPr>
          <a:xfrm>
            <a:off x="9687519" y="4434840"/>
            <a:ext cx="1589776" cy="329184"/>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3</a:t>
            </a:r>
            <a:endParaRPr lang="en-US" sz="1600" dirty="0"/>
          </a:p>
        </p:txBody>
      </p:sp>
      <p:sp>
        <p:nvSpPr>
          <p:cNvPr id="46" name="Text 43"/>
          <p:cNvSpPr/>
          <p:nvPr/>
        </p:nvSpPr>
        <p:spPr>
          <a:xfrm>
            <a:off x="9687519" y="4764024"/>
            <a:ext cx="1589776"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states covered</a:t>
            </a:r>
            <a:endParaRPr lang="en-US" sz="800" dirty="0"/>
          </a:p>
        </p:txBody>
      </p:sp>
      <p:sp>
        <p:nvSpPr>
          <p:cNvPr id="47" name="Shape 44"/>
          <p:cNvSpPr/>
          <p:nvPr/>
        </p:nvSpPr>
        <p:spPr>
          <a:xfrm>
            <a:off x="0" y="6172200"/>
            <a:ext cx="12191695" cy="685800"/>
          </a:xfrm>
          <a:prstGeom prst="rect">
            <a:avLst/>
          </a:prstGeom>
          <a:solidFill>
            <a:srgbClr val="141A24"/>
          </a:solidFill>
          <a:ln/>
        </p:spPr>
      </p:sp>
      <p:sp>
        <p:nvSpPr>
          <p:cNvPr id="48" name="Shape 45"/>
          <p:cNvSpPr/>
          <p:nvPr/>
        </p:nvSpPr>
        <p:spPr>
          <a:xfrm>
            <a:off x="0" y="6172200"/>
            <a:ext cx="118872" cy="685800"/>
          </a:xfrm>
          <a:prstGeom prst="rect">
            <a:avLst/>
          </a:prstGeom>
          <a:solidFill>
            <a:srgbClr val="F35B1A"/>
          </a:solidFill>
          <a:ln/>
        </p:spPr>
      </p:sp>
      <p:sp>
        <p:nvSpPr>
          <p:cNvPr id="49" name="Text 46"/>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More than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two decades</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of disciplined operation, positioned for its next phase of growth</a:t>
            </a:r>
            <a:endParaRPr lang="en-US" sz="1200" dirty="0"/>
          </a:p>
        </p:txBody>
      </p:sp>
      <p:pic>
        <p:nvPicPr>
          <p:cNvPr id="50" name="Image 1" descr="assets/igc_white.png">    </p:cNvPr>
          <p:cNvPicPr>
            <a:picLocks noChangeAspect="1"/>
          </p:cNvPicPr>
          <p:nvPr/>
        </p:nvPicPr>
        <p:blipFill>
          <a:blip r:embed="rId2"/>
          <a:stretch>
            <a:fillRect/>
          </a:stretch>
        </p:blipFill>
        <p:spPr>
          <a:xfrm>
            <a:off x="731520" y="6387084"/>
            <a:ext cx="274320" cy="237134"/>
          </a:xfrm>
          <a:prstGeom prst="rect">
            <a:avLst/>
          </a:prstGeom>
        </p:spPr>
      </p:pic>
      <p:sp>
        <p:nvSpPr>
          <p:cNvPr id="51" name="Text 47"/>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17</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Strategically positioned across the Midwest and Southeast</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From its Goiânia headquarters to 10 operational bases across Goiás, the Federal District and Minas Gerais</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Jan-2026 fleet register.</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18</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pic>
        <p:nvPicPr>
          <p:cNvPr id="10" name="Image 2" descr="assets/brazil_map.png">    </p:cNvPr>
          <p:cNvPicPr>
            <a:picLocks noChangeAspect="1"/>
          </p:cNvPicPr>
          <p:nvPr/>
        </p:nvPicPr>
        <p:blipFill>
          <a:blip r:embed="rId3"/>
          <a:stretch>
            <a:fillRect/>
          </a:stretch>
        </p:blipFill>
        <p:spPr>
          <a:xfrm>
            <a:off x="731520" y="1783080"/>
            <a:ext cx="3200400" cy="3005070"/>
          </a:xfrm>
          <a:prstGeom prst="rect">
            <a:avLst/>
          </a:prstGeom>
        </p:spPr>
      </p:pic>
      <p:sp>
        <p:nvSpPr>
          <p:cNvPr id="11" name="Shape 6"/>
          <p:cNvSpPr/>
          <p:nvPr/>
        </p:nvSpPr>
        <p:spPr>
          <a:xfrm>
            <a:off x="777240" y="4956048"/>
            <a:ext cx="146304" cy="146304"/>
          </a:xfrm>
          <a:prstGeom prst="rect">
            <a:avLst/>
          </a:prstGeom>
          <a:solidFill>
            <a:srgbClr val="F35B1A"/>
          </a:solidFill>
          <a:ln/>
        </p:spPr>
      </p:sp>
      <p:sp>
        <p:nvSpPr>
          <p:cNvPr id="12" name="Text 7"/>
          <p:cNvSpPr/>
          <p:nvPr/>
        </p:nvSpPr>
        <p:spPr>
          <a:xfrm>
            <a:off x="1005840" y="4919472"/>
            <a:ext cx="2743200"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States with operational bases</a:t>
            </a:r>
            <a:endParaRPr lang="en-US" sz="800" dirty="0"/>
          </a:p>
        </p:txBody>
      </p:sp>
      <p:sp>
        <p:nvSpPr>
          <p:cNvPr id="13" name="Shape 8"/>
          <p:cNvSpPr/>
          <p:nvPr/>
        </p:nvSpPr>
        <p:spPr>
          <a:xfrm>
            <a:off x="4251960" y="1783080"/>
            <a:ext cx="7208215" cy="841248"/>
          </a:xfrm>
          <a:prstGeom prst="roundRect">
            <a:avLst>
              <a:gd name="adj" fmla="val 9783"/>
            </a:avLst>
          </a:prstGeom>
          <a:solidFill>
            <a:srgbClr val="141A24"/>
          </a:solidFill>
          <a:ln/>
        </p:spPr>
      </p:sp>
      <p:sp>
        <p:nvSpPr>
          <p:cNvPr id="14" name="Shape 9"/>
          <p:cNvSpPr/>
          <p:nvPr/>
        </p:nvSpPr>
        <p:spPr>
          <a:xfrm>
            <a:off x="4251960" y="1783080"/>
            <a:ext cx="50292" cy="841248"/>
          </a:xfrm>
          <a:prstGeom prst="rect">
            <a:avLst/>
          </a:prstGeom>
          <a:solidFill>
            <a:srgbClr val="F35B1A"/>
          </a:solidFill>
          <a:ln/>
        </p:spPr>
      </p:sp>
      <p:sp>
        <p:nvSpPr>
          <p:cNvPr id="15" name="Shape 10"/>
          <p:cNvSpPr/>
          <p:nvPr/>
        </p:nvSpPr>
        <p:spPr>
          <a:xfrm>
            <a:off x="4507992" y="1956816"/>
            <a:ext cx="493776" cy="493776"/>
          </a:xfrm>
          <a:prstGeom prst="ellipse">
            <a:avLst/>
          </a:prstGeom>
          <a:solidFill>
            <a:srgbClr val="1F2734"/>
          </a:solidFill>
          <a:ln/>
        </p:spPr>
      </p:sp>
      <p:pic>
        <p:nvPicPr>
          <p:cNvPr id="16" name="Image 3" descr="assets/icons/home_orange.png">    </p:cNvPr>
          <p:cNvPicPr>
            <a:picLocks noChangeAspect="1"/>
          </p:cNvPicPr>
          <p:nvPr/>
        </p:nvPicPr>
        <p:blipFill>
          <a:blip r:embed="rId4"/>
          <a:stretch>
            <a:fillRect/>
          </a:stretch>
        </p:blipFill>
        <p:spPr>
          <a:xfrm>
            <a:off x="4641312" y="2090136"/>
            <a:ext cx="227137" cy="227137"/>
          </a:xfrm>
          <a:prstGeom prst="rect">
            <a:avLst/>
          </a:prstGeom>
        </p:spPr>
      </p:pic>
      <p:sp>
        <p:nvSpPr>
          <p:cNvPr id="17" name="Text 11"/>
          <p:cNvSpPr/>
          <p:nvPr/>
        </p:nvSpPr>
        <p:spPr>
          <a:xfrm>
            <a:off x="5166360" y="1920240"/>
            <a:ext cx="6110935" cy="274320"/>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Headquarters — Goiânia, GO</a:t>
            </a:r>
            <a:endParaRPr lang="en-US" sz="1100" dirty="0"/>
          </a:p>
        </p:txBody>
      </p:sp>
      <p:sp>
        <p:nvSpPr>
          <p:cNvPr id="18" name="Text 12"/>
          <p:cNvSpPr/>
          <p:nvPr/>
        </p:nvSpPr>
        <p:spPr>
          <a:xfrm>
            <a:off x="5166360" y="2194560"/>
            <a:ext cx="6065215" cy="365760"/>
          </a:xfrm>
          <a:prstGeom prst="rect">
            <a:avLst/>
          </a:prstGeom>
          <a:noFill/>
          <a:ln/>
        </p:spPr>
        <p:txBody>
          <a:bodyPr wrap="square" lIns="0" tIns="0" rIns="0" bIns="0" rtlCol="0" anchor="t"/>
          <a:lstStyle/>
          <a:p>
            <a:pPr indent="0" marL="0">
              <a:lnSpc>
                <a:spcPct val="114000"/>
              </a:lnSpc>
              <a:buNone/>
            </a:pPr>
            <a:r>
              <a:rPr lang="en-US" sz="800" dirty="0">
                <a:solidFill>
                  <a:srgbClr val="8B95A5"/>
                </a:solidFill>
                <a:latin typeface="Poppins" pitchFamily="34" charset="0"/>
                <a:ea typeface="Poppins" pitchFamily="34" charset="-122"/>
                <a:cs typeface="Poppins" pitchFamily="34" charset="-120"/>
              </a:rPr>
              <a:t>Corporate HQ (Garagem Central) centralizing fleet management, monitoring infrastructure and administration</a:t>
            </a:r>
            <a:endParaRPr lang="en-US" sz="800" dirty="0"/>
          </a:p>
        </p:txBody>
      </p:sp>
      <p:sp>
        <p:nvSpPr>
          <p:cNvPr id="19" name="Text 13"/>
          <p:cNvSpPr/>
          <p:nvPr/>
        </p:nvSpPr>
        <p:spPr>
          <a:xfrm>
            <a:off x="4251960" y="2761488"/>
            <a:ext cx="7208215"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10 ACTIVE OPERATIONAL BASES</a:t>
            </a:r>
            <a:endParaRPr lang="en-US" sz="800" dirty="0"/>
          </a:p>
        </p:txBody>
      </p:sp>
      <p:sp>
        <p:nvSpPr>
          <p:cNvPr id="20" name="Shape 14"/>
          <p:cNvSpPr/>
          <p:nvPr/>
        </p:nvSpPr>
        <p:spPr>
          <a:xfrm>
            <a:off x="4251960" y="3054096"/>
            <a:ext cx="329184" cy="329184"/>
          </a:xfrm>
          <a:prstGeom prst="ellipse">
            <a:avLst/>
          </a:prstGeom>
          <a:solidFill>
            <a:srgbClr val="FDE9DE"/>
          </a:solidFill>
          <a:ln/>
        </p:spPr>
      </p:sp>
      <p:pic>
        <p:nvPicPr>
          <p:cNvPr id="21" name="Image 4" descr="assets/icons/mappin_orange.png">    </p:cNvPr>
          <p:cNvPicPr>
            <a:picLocks noChangeAspect="1"/>
          </p:cNvPicPr>
          <p:nvPr/>
        </p:nvPicPr>
        <p:blipFill>
          <a:blip r:embed="rId5"/>
          <a:stretch>
            <a:fillRect/>
          </a:stretch>
        </p:blipFill>
        <p:spPr>
          <a:xfrm>
            <a:off x="4340840" y="3142976"/>
            <a:ext cx="151425" cy="151425"/>
          </a:xfrm>
          <a:prstGeom prst="rect">
            <a:avLst/>
          </a:prstGeom>
        </p:spPr>
      </p:pic>
      <p:sp>
        <p:nvSpPr>
          <p:cNvPr id="22" name="Text 15"/>
          <p:cNvSpPr/>
          <p:nvPr/>
        </p:nvSpPr>
        <p:spPr>
          <a:xfrm>
            <a:off x="4709160" y="3026664"/>
            <a:ext cx="6659575" cy="237744"/>
          </a:xfrm>
          <a:prstGeom prst="rect">
            <a:avLst/>
          </a:prstGeom>
          <a:noFill/>
          <a:ln/>
        </p:spPr>
        <p:txBody>
          <a:bodyPr wrap="square" lIns="0" tIns="0" rIns="0" bIns="0" rtlCol="0" anchor="ctr"/>
          <a:lstStyle/>
          <a:p>
            <a:pPr indent="0" marL="0">
              <a:buNone/>
            </a:pPr>
            <a:r>
              <a:rPr lang="en-US" sz="950" dirty="0">
                <a:solidFill>
                  <a:srgbClr val="141A24"/>
                </a:solidFill>
                <a:latin typeface="Poppins SemiBold" pitchFamily="34" charset="0"/>
                <a:ea typeface="Poppins SemiBold" pitchFamily="34" charset="-122"/>
                <a:cs typeface="Poppins SemiBold" pitchFamily="34" charset="-120"/>
              </a:rPr>
              <a:t>Anápolis – GO</a:t>
            </a:r>
            <a:endParaRPr lang="en-US" sz="950" dirty="0"/>
          </a:p>
        </p:txBody>
      </p:sp>
      <p:sp>
        <p:nvSpPr>
          <p:cNvPr id="23" name="Text 16"/>
          <p:cNvSpPr/>
          <p:nvPr/>
        </p:nvSpPr>
        <p:spPr>
          <a:xfrm>
            <a:off x="4709160" y="3246120"/>
            <a:ext cx="6659575" cy="274320"/>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Largest base outside HQ, supporting fleet availability across the Goiás corridor</a:t>
            </a:r>
            <a:endParaRPr lang="en-US" sz="800" dirty="0"/>
          </a:p>
        </p:txBody>
      </p:sp>
      <p:sp>
        <p:nvSpPr>
          <p:cNvPr id="24" name="Shape 17"/>
          <p:cNvSpPr/>
          <p:nvPr/>
        </p:nvSpPr>
        <p:spPr>
          <a:xfrm>
            <a:off x="4251960" y="3621024"/>
            <a:ext cx="329184" cy="329184"/>
          </a:xfrm>
          <a:prstGeom prst="ellipse">
            <a:avLst/>
          </a:prstGeom>
          <a:solidFill>
            <a:srgbClr val="FDE9DE"/>
          </a:solidFill>
          <a:ln/>
        </p:spPr>
      </p:sp>
      <p:pic>
        <p:nvPicPr>
          <p:cNvPr id="25" name="Image 5" descr="assets/icons/mappin_orange.png">    </p:cNvPr>
          <p:cNvPicPr>
            <a:picLocks noChangeAspect="1"/>
          </p:cNvPicPr>
          <p:nvPr/>
        </p:nvPicPr>
        <p:blipFill>
          <a:blip r:embed="rId6"/>
          <a:stretch>
            <a:fillRect/>
          </a:stretch>
        </p:blipFill>
        <p:spPr>
          <a:xfrm>
            <a:off x="4340840" y="3709904"/>
            <a:ext cx="151425" cy="151425"/>
          </a:xfrm>
          <a:prstGeom prst="rect">
            <a:avLst/>
          </a:prstGeom>
        </p:spPr>
      </p:pic>
      <p:sp>
        <p:nvSpPr>
          <p:cNvPr id="26" name="Text 18"/>
          <p:cNvSpPr/>
          <p:nvPr/>
        </p:nvSpPr>
        <p:spPr>
          <a:xfrm>
            <a:off x="4709160" y="3593592"/>
            <a:ext cx="6659575" cy="237744"/>
          </a:xfrm>
          <a:prstGeom prst="rect">
            <a:avLst/>
          </a:prstGeom>
          <a:noFill/>
          <a:ln/>
        </p:spPr>
        <p:txBody>
          <a:bodyPr wrap="square" lIns="0" tIns="0" rIns="0" bIns="0" rtlCol="0" anchor="ctr"/>
          <a:lstStyle/>
          <a:p>
            <a:pPr indent="0" marL="0">
              <a:buNone/>
            </a:pPr>
            <a:r>
              <a:rPr lang="en-US" sz="950" dirty="0">
                <a:solidFill>
                  <a:srgbClr val="141A24"/>
                </a:solidFill>
                <a:latin typeface="Poppins SemiBold" pitchFamily="34" charset="0"/>
                <a:ea typeface="Poppins SemiBold" pitchFamily="34" charset="-122"/>
                <a:cs typeface="Poppins SemiBold" pitchFamily="34" charset="-120"/>
              </a:rPr>
              <a:t>Brasília – DF</a:t>
            </a:r>
            <a:endParaRPr lang="en-US" sz="950" dirty="0"/>
          </a:p>
        </p:txBody>
      </p:sp>
      <p:sp>
        <p:nvSpPr>
          <p:cNvPr id="27" name="Text 19"/>
          <p:cNvSpPr/>
          <p:nvPr/>
        </p:nvSpPr>
        <p:spPr>
          <a:xfrm>
            <a:off x="4709160" y="3813048"/>
            <a:ext cx="6659575" cy="274320"/>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Garagem BSB supporting operations across the Federal District</a:t>
            </a:r>
            <a:endParaRPr lang="en-US" sz="800" dirty="0"/>
          </a:p>
        </p:txBody>
      </p:sp>
      <p:sp>
        <p:nvSpPr>
          <p:cNvPr id="28" name="Shape 20"/>
          <p:cNvSpPr/>
          <p:nvPr/>
        </p:nvSpPr>
        <p:spPr>
          <a:xfrm>
            <a:off x="4251960" y="4187952"/>
            <a:ext cx="329184" cy="329184"/>
          </a:xfrm>
          <a:prstGeom prst="ellipse">
            <a:avLst/>
          </a:prstGeom>
          <a:solidFill>
            <a:srgbClr val="FDE9DE"/>
          </a:solidFill>
          <a:ln/>
        </p:spPr>
      </p:sp>
      <p:pic>
        <p:nvPicPr>
          <p:cNvPr id="29" name="Image 6" descr="assets/icons/mappin_orange.png">    </p:cNvPr>
          <p:cNvPicPr>
            <a:picLocks noChangeAspect="1"/>
          </p:cNvPicPr>
          <p:nvPr/>
        </p:nvPicPr>
        <p:blipFill>
          <a:blip r:embed="rId7"/>
          <a:stretch>
            <a:fillRect/>
          </a:stretch>
        </p:blipFill>
        <p:spPr>
          <a:xfrm>
            <a:off x="4340840" y="4276832"/>
            <a:ext cx="151425" cy="151425"/>
          </a:xfrm>
          <a:prstGeom prst="rect">
            <a:avLst/>
          </a:prstGeom>
        </p:spPr>
      </p:pic>
      <p:sp>
        <p:nvSpPr>
          <p:cNvPr id="30" name="Text 21"/>
          <p:cNvSpPr/>
          <p:nvPr/>
        </p:nvSpPr>
        <p:spPr>
          <a:xfrm>
            <a:off x="4709160" y="4160520"/>
            <a:ext cx="6659575" cy="237744"/>
          </a:xfrm>
          <a:prstGeom prst="rect">
            <a:avLst/>
          </a:prstGeom>
          <a:noFill/>
          <a:ln/>
        </p:spPr>
        <p:txBody>
          <a:bodyPr wrap="square" lIns="0" tIns="0" rIns="0" bIns="0" rtlCol="0" anchor="ctr"/>
          <a:lstStyle/>
          <a:p>
            <a:pPr indent="0" marL="0">
              <a:buNone/>
            </a:pPr>
            <a:r>
              <a:rPr lang="en-US" sz="950" dirty="0">
                <a:solidFill>
                  <a:srgbClr val="141A24"/>
                </a:solidFill>
                <a:latin typeface="Poppins SemiBold" pitchFamily="34" charset="0"/>
                <a:ea typeface="Poppins SemiBold" pitchFamily="34" charset="-122"/>
                <a:cs typeface="Poppins SemiBold" pitchFamily="34" charset="-120"/>
              </a:rPr>
              <a:t>Senador Canedo – GO</a:t>
            </a:r>
            <a:endParaRPr lang="en-US" sz="950" dirty="0"/>
          </a:p>
        </p:txBody>
      </p:sp>
      <p:sp>
        <p:nvSpPr>
          <p:cNvPr id="31" name="Text 22"/>
          <p:cNvSpPr/>
          <p:nvPr/>
        </p:nvSpPr>
        <p:spPr>
          <a:xfrm>
            <a:off x="4709160" y="4379976"/>
            <a:ext cx="6659575" cy="274320"/>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Support base close to client sites, enabling faster response times</a:t>
            </a:r>
            <a:endParaRPr lang="en-US" sz="800" dirty="0"/>
          </a:p>
        </p:txBody>
      </p:sp>
      <p:sp>
        <p:nvSpPr>
          <p:cNvPr id="32" name="Shape 23"/>
          <p:cNvSpPr/>
          <p:nvPr/>
        </p:nvSpPr>
        <p:spPr>
          <a:xfrm>
            <a:off x="4251960" y="4754880"/>
            <a:ext cx="329184" cy="329184"/>
          </a:xfrm>
          <a:prstGeom prst="ellipse">
            <a:avLst/>
          </a:prstGeom>
          <a:solidFill>
            <a:srgbClr val="FDE9DE"/>
          </a:solidFill>
          <a:ln/>
        </p:spPr>
      </p:sp>
      <p:pic>
        <p:nvPicPr>
          <p:cNvPr id="33" name="Image 7" descr="assets/icons/mappin_orange.png">    </p:cNvPr>
          <p:cNvPicPr>
            <a:picLocks noChangeAspect="1"/>
          </p:cNvPicPr>
          <p:nvPr/>
        </p:nvPicPr>
        <p:blipFill>
          <a:blip r:embed="rId8"/>
          <a:stretch>
            <a:fillRect/>
          </a:stretch>
        </p:blipFill>
        <p:spPr>
          <a:xfrm>
            <a:off x="4340840" y="4843760"/>
            <a:ext cx="151425" cy="151425"/>
          </a:xfrm>
          <a:prstGeom prst="rect">
            <a:avLst/>
          </a:prstGeom>
        </p:spPr>
      </p:pic>
      <p:sp>
        <p:nvSpPr>
          <p:cNvPr id="34" name="Text 24"/>
          <p:cNvSpPr/>
          <p:nvPr/>
        </p:nvSpPr>
        <p:spPr>
          <a:xfrm>
            <a:off x="4709160" y="4727448"/>
            <a:ext cx="6659575" cy="237744"/>
          </a:xfrm>
          <a:prstGeom prst="rect">
            <a:avLst/>
          </a:prstGeom>
          <a:noFill/>
          <a:ln/>
        </p:spPr>
        <p:txBody>
          <a:bodyPr wrap="square" lIns="0" tIns="0" rIns="0" bIns="0" rtlCol="0" anchor="ctr"/>
          <a:lstStyle/>
          <a:p>
            <a:pPr indent="0" marL="0">
              <a:buNone/>
            </a:pPr>
            <a:r>
              <a:rPr lang="en-US" sz="950" dirty="0">
                <a:solidFill>
                  <a:srgbClr val="141A24"/>
                </a:solidFill>
                <a:latin typeface="Poppins SemiBold" pitchFamily="34" charset="0"/>
                <a:ea typeface="Poppins SemiBold" pitchFamily="34" charset="-122"/>
                <a:cs typeface="Poppins SemiBold" pitchFamily="34" charset="-120"/>
              </a:rPr>
              <a:t>Uberlândia – MG</a:t>
            </a:r>
            <a:endParaRPr lang="en-US" sz="950" dirty="0"/>
          </a:p>
        </p:txBody>
      </p:sp>
      <p:sp>
        <p:nvSpPr>
          <p:cNvPr id="35" name="Text 25"/>
          <p:cNvSpPr/>
          <p:nvPr/>
        </p:nvSpPr>
        <p:spPr>
          <a:xfrm>
            <a:off x="4709160" y="4946904"/>
            <a:ext cx="6659575" cy="274320"/>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Serving the Triângulo Mineiro region with strong execution oversight</a:t>
            </a:r>
            <a:endParaRPr lang="en-US" sz="800" dirty="0"/>
          </a:p>
        </p:txBody>
      </p:sp>
      <p:sp>
        <p:nvSpPr>
          <p:cNvPr id="36" name="Text 26"/>
          <p:cNvSpPr/>
          <p:nvPr/>
        </p:nvSpPr>
        <p:spPr>
          <a:xfrm>
            <a:off x="4251960" y="5358384"/>
            <a:ext cx="7208215" cy="237744"/>
          </a:xfrm>
          <a:prstGeom prst="rect">
            <a:avLst/>
          </a:prstGeom>
          <a:noFill/>
          <a:ln/>
        </p:spPr>
        <p:txBody>
          <a:bodyPr wrap="square" lIns="0" tIns="0" rIns="0" bIns="0" rtlCol="0" anchor="ctr"/>
          <a:lstStyle/>
          <a:p>
            <a:pPr indent="0" marL="0">
              <a:buNone/>
            </a:pPr>
            <a:r>
              <a:rPr lang="en-US" sz="850" dirty="0">
                <a:solidFill>
                  <a:srgbClr val="C6470F"/>
                </a:solidFill>
                <a:latin typeface="Poppins Medium" pitchFamily="34" charset="0"/>
                <a:ea typeface="Poppins Medium" pitchFamily="34" charset="-122"/>
                <a:cs typeface="Poppins Medium" pitchFamily="34" charset="-120"/>
              </a:rPr>
              <a:t>Further bases: Nerópolis, Alexânia, Rio Verde, Pires do Rio and Itumbiara</a:t>
            </a:r>
            <a:endParaRPr lang="en-US" sz="850" dirty="0"/>
          </a:p>
        </p:txBody>
      </p:sp>
      <p:sp>
        <p:nvSpPr>
          <p:cNvPr id="37" name="Text 27"/>
          <p:cNvSpPr/>
          <p:nvPr/>
        </p:nvSpPr>
        <p:spPr>
          <a:xfrm>
            <a:off x="731520" y="5230368"/>
            <a:ext cx="1600200" cy="274320"/>
          </a:xfrm>
          <a:prstGeom prst="rect">
            <a:avLst/>
          </a:prstGeom>
          <a:noFill/>
          <a:ln/>
        </p:spPr>
        <p:txBody>
          <a:bodyPr wrap="square" lIns="0" tIns="0" rIns="0" bIns="0" rtlCol="0" anchor="ctr"/>
          <a:lstStyle/>
          <a:p>
            <a:pPr indent="0" marL="0">
              <a:buNone/>
            </a:pPr>
            <a:r>
              <a:rPr lang="en-US" sz="1400" dirty="0">
                <a:solidFill>
                  <a:srgbClr val="F35B1A"/>
                </a:solidFill>
                <a:latin typeface="Poppins SemiBold" pitchFamily="34" charset="0"/>
                <a:ea typeface="Poppins SemiBold" pitchFamily="34" charset="-122"/>
                <a:cs typeface="Poppins SemiBold" pitchFamily="34" charset="-120"/>
              </a:rPr>
              <a:t>1</a:t>
            </a:r>
            <a:endParaRPr lang="en-US" sz="1400" dirty="0"/>
          </a:p>
        </p:txBody>
      </p:sp>
      <p:sp>
        <p:nvSpPr>
          <p:cNvPr id="38" name="Text 28"/>
          <p:cNvSpPr/>
          <p:nvPr/>
        </p:nvSpPr>
        <p:spPr>
          <a:xfrm>
            <a:off x="1298448" y="5230368"/>
            <a:ext cx="103327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Headquarters</a:t>
            </a:r>
            <a:endParaRPr lang="en-US" sz="800" dirty="0"/>
          </a:p>
        </p:txBody>
      </p:sp>
      <p:sp>
        <p:nvSpPr>
          <p:cNvPr id="39" name="Text 29"/>
          <p:cNvSpPr/>
          <p:nvPr/>
        </p:nvSpPr>
        <p:spPr>
          <a:xfrm>
            <a:off x="2331720" y="5230368"/>
            <a:ext cx="1600200" cy="274320"/>
          </a:xfrm>
          <a:prstGeom prst="rect">
            <a:avLst/>
          </a:prstGeom>
          <a:noFill/>
          <a:ln/>
        </p:spPr>
        <p:txBody>
          <a:bodyPr wrap="square" lIns="0" tIns="0" rIns="0" bIns="0" rtlCol="0" anchor="ctr"/>
          <a:lstStyle/>
          <a:p>
            <a:pPr indent="0" marL="0">
              <a:buNone/>
            </a:pPr>
            <a:r>
              <a:rPr lang="en-US" sz="1400" dirty="0">
                <a:solidFill>
                  <a:srgbClr val="F35B1A"/>
                </a:solidFill>
                <a:latin typeface="Poppins SemiBold" pitchFamily="34" charset="0"/>
                <a:ea typeface="Poppins SemiBold" pitchFamily="34" charset="-122"/>
                <a:cs typeface="Poppins SemiBold" pitchFamily="34" charset="-120"/>
              </a:rPr>
              <a:t>10</a:t>
            </a:r>
            <a:endParaRPr lang="en-US" sz="1400" dirty="0"/>
          </a:p>
        </p:txBody>
      </p:sp>
      <p:sp>
        <p:nvSpPr>
          <p:cNvPr id="40" name="Text 30"/>
          <p:cNvSpPr/>
          <p:nvPr/>
        </p:nvSpPr>
        <p:spPr>
          <a:xfrm>
            <a:off x="2898648" y="5230368"/>
            <a:ext cx="103327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Operational bases</a:t>
            </a:r>
            <a:endParaRPr lang="en-US" sz="800" dirty="0"/>
          </a:p>
        </p:txBody>
      </p:sp>
      <p:sp>
        <p:nvSpPr>
          <p:cNvPr id="41" name="Text 31"/>
          <p:cNvSpPr/>
          <p:nvPr/>
        </p:nvSpPr>
        <p:spPr>
          <a:xfrm>
            <a:off x="731520" y="5733288"/>
            <a:ext cx="1600200" cy="274320"/>
          </a:xfrm>
          <a:prstGeom prst="rect">
            <a:avLst/>
          </a:prstGeom>
          <a:noFill/>
          <a:ln/>
        </p:spPr>
        <p:txBody>
          <a:bodyPr wrap="square" lIns="0" tIns="0" rIns="0" bIns="0" rtlCol="0" anchor="ctr"/>
          <a:lstStyle/>
          <a:p>
            <a:pPr indent="0" marL="0">
              <a:buNone/>
            </a:pPr>
            <a:r>
              <a:rPr lang="en-US" sz="1400" dirty="0">
                <a:solidFill>
                  <a:srgbClr val="F35B1A"/>
                </a:solidFill>
                <a:latin typeface="Poppins SemiBold" pitchFamily="34" charset="0"/>
                <a:ea typeface="Poppins SemiBold" pitchFamily="34" charset="-122"/>
                <a:cs typeface="Poppins SemiBold" pitchFamily="34" charset="-120"/>
              </a:rPr>
              <a:t>3</a:t>
            </a:r>
            <a:endParaRPr lang="en-US" sz="1400" dirty="0"/>
          </a:p>
        </p:txBody>
      </p:sp>
      <p:sp>
        <p:nvSpPr>
          <p:cNvPr id="42" name="Text 32"/>
          <p:cNvSpPr/>
          <p:nvPr/>
        </p:nvSpPr>
        <p:spPr>
          <a:xfrm>
            <a:off x="1298448" y="5733288"/>
            <a:ext cx="103327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States covered</a:t>
            </a:r>
            <a:endParaRPr lang="en-US" sz="800" dirty="0"/>
          </a:p>
        </p:txBody>
      </p:sp>
      <p:sp>
        <p:nvSpPr>
          <p:cNvPr id="43" name="Text 33"/>
          <p:cNvSpPr/>
          <p:nvPr/>
        </p:nvSpPr>
        <p:spPr>
          <a:xfrm>
            <a:off x="2331720" y="5733288"/>
            <a:ext cx="1600200" cy="274320"/>
          </a:xfrm>
          <a:prstGeom prst="rect">
            <a:avLst/>
          </a:prstGeom>
          <a:noFill/>
          <a:ln/>
        </p:spPr>
        <p:txBody>
          <a:bodyPr wrap="square" lIns="0" tIns="0" rIns="0" bIns="0" rtlCol="0" anchor="ctr"/>
          <a:lstStyle/>
          <a:p>
            <a:pPr indent="0" marL="0">
              <a:buNone/>
            </a:pPr>
            <a:r>
              <a:rPr lang="en-US" sz="1400" dirty="0">
                <a:solidFill>
                  <a:srgbClr val="F35B1A"/>
                </a:solidFill>
                <a:latin typeface="Poppins SemiBold" pitchFamily="34" charset="0"/>
                <a:ea typeface="Poppins SemiBold" pitchFamily="34" charset="-122"/>
                <a:cs typeface="Poppins SemiBold" pitchFamily="34" charset="-120"/>
              </a:rPr>
              <a:t>373</a:t>
            </a:r>
            <a:endParaRPr lang="en-US" sz="1400" dirty="0"/>
          </a:p>
        </p:txBody>
      </p:sp>
      <p:sp>
        <p:nvSpPr>
          <p:cNvPr id="44" name="Text 34"/>
          <p:cNvSpPr/>
          <p:nvPr/>
        </p:nvSpPr>
        <p:spPr>
          <a:xfrm>
            <a:off x="2898648" y="5733288"/>
            <a:ext cx="103327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Owned vehicles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A recurring, contract-based operating model</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Revenue is generated through long-term transportation contracts operated across two entities and a network of bases</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Revenue split and contract economics to be confirmed with management.</a:t>
            </a:r>
            <a:endParaRPr lang="en-US" sz="700" dirty="0"/>
          </a:p>
        </p:txBody>
      </p:sp>
      <p:sp>
        <p:nvSpPr>
          <p:cNvPr id="8" name="Shape 5"/>
          <p:cNvSpPr/>
          <p:nvPr/>
        </p:nvSpPr>
        <p:spPr>
          <a:xfrm>
            <a:off x="1679905" y="1787652"/>
            <a:ext cx="1508760" cy="1508760"/>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9" name="Image 1" descr="assets/mobi_microbus.png">    </p:cNvPr>
          <p:cNvPicPr>
            <a:picLocks noChangeAspect="1"/>
          </p:cNvPicPr>
          <p:nvPr/>
        </p:nvPicPr>
        <p:blipFill>
          <a:blip r:embed="rId2"/>
          <a:srcRect l="0" r="0" t="0" b="0"/>
          <a:stretch/>
        </p:blipFill>
        <p:spPr>
          <a:xfrm>
            <a:off x="1721053" y="1828800"/>
            <a:ext cx="1426464" cy="1426464"/>
          </a:xfrm>
          <a:prstGeom prst="ellipse">
            <a:avLst/>
          </a:prstGeom>
        </p:spPr>
      </p:pic>
      <p:sp>
        <p:nvSpPr>
          <p:cNvPr id="10" name="Shape 6"/>
          <p:cNvSpPr/>
          <p:nvPr/>
        </p:nvSpPr>
        <p:spPr>
          <a:xfrm>
            <a:off x="1662853" y="1770600"/>
            <a:ext cx="484998" cy="484998"/>
          </a:xfrm>
          <a:prstGeom prst="ellipse">
            <a:avLst/>
          </a:prstGeom>
          <a:solidFill>
            <a:srgbClr val="F35B1A"/>
          </a:solidFill>
          <a:ln w="25400">
            <a:solidFill>
              <a:srgbClr val="FFFFFF"/>
            </a:solidFill>
            <a:prstDash val="solid"/>
          </a:ln>
        </p:spPr>
      </p:sp>
      <p:sp>
        <p:nvSpPr>
          <p:cNvPr id="11" name="Text 7"/>
          <p:cNvSpPr/>
          <p:nvPr/>
        </p:nvSpPr>
        <p:spPr>
          <a:xfrm>
            <a:off x="1662853" y="1770600"/>
            <a:ext cx="484998" cy="484998"/>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2" name="Shape 8"/>
          <p:cNvSpPr/>
          <p:nvPr/>
        </p:nvSpPr>
        <p:spPr>
          <a:xfrm>
            <a:off x="731520" y="3493008"/>
            <a:ext cx="3405530" cy="2148840"/>
          </a:xfrm>
          <a:prstGeom prst="roundRect">
            <a:avLst>
              <a:gd name="adj" fmla="val 3830"/>
            </a:avLst>
          </a:prstGeom>
          <a:solidFill>
            <a:srgbClr val="F4F6F8"/>
          </a:solidFill>
          <a:ln w="12700">
            <a:solidFill>
              <a:srgbClr val="E2E6EB"/>
            </a:solidFill>
            <a:prstDash val="solid"/>
          </a:ln>
        </p:spPr>
      </p:sp>
      <p:sp>
        <p:nvSpPr>
          <p:cNvPr id="13" name="Text 9"/>
          <p:cNvSpPr/>
          <p:nvPr/>
        </p:nvSpPr>
        <p:spPr>
          <a:xfrm>
            <a:off x="950976" y="3657600"/>
            <a:ext cx="2966618" cy="310896"/>
          </a:xfrm>
          <a:prstGeom prst="rect">
            <a:avLst/>
          </a:prstGeom>
          <a:noFill/>
          <a:ln/>
        </p:spPr>
        <p:txBody>
          <a:bodyPr wrap="square" lIns="0" tIns="0" rIns="0" bIns="0" rtlCol="0" anchor="ctr"/>
          <a:lstStyle/>
          <a:p>
            <a:pPr algn="ctr" indent="0" marL="0">
              <a:buNone/>
            </a:pPr>
            <a:r>
              <a:rPr lang="en-US" sz="1100" dirty="0">
                <a:solidFill>
                  <a:srgbClr val="141A24"/>
                </a:solidFill>
                <a:latin typeface="Poppins SemiBold" pitchFamily="34" charset="0"/>
                <a:ea typeface="Poppins SemiBold" pitchFamily="34" charset="-122"/>
                <a:cs typeface="Poppins SemiBold" pitchFamily="34" charset="-120"/>
              </a:rPr>
              <a:t>Dedicated fleet contracts</a:t>
            </a:r>
            <a:endParaRPr lang="en-US" sz="1100" dirty="0"/>
          </a:p>
        </p:txBody>
      </p:sp>
      <p:sp>
        <p:nvSpPr>
          <p:cNvPr id="14" name="Text 10"/>
          <p:cNvSpPr/>
          <p:nvPr/>
        </p:nvSpPr>
        <p:spPr>
          <a:xfrm>
            <a:off x="969264" y="4041648"/>
            <a:ext cx="2930042" cy="1463040"/>
          </a:xfrm>
          <a:prstGeom prst="rect">
            <a:avLst/>
          </a:prstGeom>
          <a:noFill/>
          <a:ln/>
        </p:spPr>
        <p:txBody>
          <a:bodyPr wrap="square" lIns="0" tIns="0" rIns="0" bIns="0" rtlCol="0" anchor="t"/>
          <a:lstStyle/>
          <a:p>
            <a:pPr algn="ctr" indent="0" marL="0">
              <a:lnSpc>
                <a:spcPct val="116000"/>
              </a:lnSpc>
              <a:buNone/>
            </a:pPr>
            <a:r>
              <a:rPr lang="en-US" sz="850" dirty="0">
                <a:solidFill>
                  <a:srgbClr val="6C7683"/>
                </a:solidFill>
                <a:latin typeface="Poppins" pitchFamily="34" charset="0"/>
                <a:ea typeface="Poppins" pitchFamily="34" charset="-122"/>
                <a:cs typeface="Poppins" pitchFamily="34" charset="-120"/>
              </a:rPr>
              <a:t>Long-term contracts (3–5 years) providing dedicated vehicles, drivers and routes, billed on a recurring monthly basis</a:t>
            </a:r>
            <a:endParaRPr lang="en-US" sz="850" dirty="0"/>
          </a:p>
        </p:txBody>
      </p:sp>
      <p:sp>
        <p:nvSpPr>
          <p:cNvPr id="15" name="Shape 11"/>
          <p:cNvSpPr/>
          <p:nvPr/>
        </p:nvSpPr>
        <p:spPr>
          <a:xfrm>
            <a:off x="5341468" y="1787652"/>
            <a:ext cx="1508760" cy="1508760"/>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16" name="Image 2" descr="assets/mobi_bus_front.png">    </p:cNvPr>
          <p:cNvPicPr>
            <a:picLocks noChangeAspect="1"/>
          </p:cNvPicPr>
          <p:nvPr/>
        </p:nvPicPr>
        <p:blipFill>
          <a:blip r:embed="rId3"/>
          <a:srcRect l="0" r="0" t="0" b="0"/>
          <a:stretch/>
        </p:blipFill>
        <p:spPr>
          <a:xfrm>
            <a:off x="5382616" y="1828800"/>
            <a:ext cx="1426464" cy="1426464"/>
          </a:xfrm>
          <a:prstGeom prst="ellipse">
            <a:avLst/>
          </a:prstGeom>
        </p:spPr>
      </p:pic>
      <p:sp>
        <p:nvSpPr>
          <p:cNvPr id="17" name="Shape 12"/>
          <p:cNvSpPr/>
          <p:nvPr/>
        </p:nvSpPr>
        <p:spPr>
          <a:xfrm>
            <a:off x="5324416" y="1770600"/>
            <a:ext cx="484998" cy="484998"/>
          </a:xfrm>
          <a:prstGeom prst="ellipse">
            <a:avLst/>
          </a:prstGeom>
          <a:solidFill>
            <a:srgbClr val="F35B1A"/>
          </a:solidFill>
          <a:ln w="25400">
            <a:solidFill>
              <a:srgbClr val="FFFFFF"/>
            </a:solidFill>
            <a:prstDash val="solid"/>
          </a:ln>
        </p:spPr>
      </p:sp>
      <p:sp>
        <p:nvSpPr>
          <p:cNvPr id="18" name="Text 13"/>
          <p:cNvSpPr/>
          <p:nvPr/>
        </p:nvSpPr>
        <p:spPr>
          <a:xfrm>
            <a:off x="5324416" y="1770600"/>
            <a:ext cx="484998" cy="484998"/>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19" name="Shape 14"/>
          <p:cNvSpPr/>
          <p:nvPr/>
        </p:nvSpPr>
        <p:spPr>
          <a:xfrm>
            <a:off x="4393082" y="3493008"/>
            <a:ext cx="3405530" cy="2148840"/>
          </a:xfrm>
          <a:prstGeom prst="roundRect">
            <a:avLst>
              <a:gd name="adj" fmla="val 3830"/>
            </a:avLst>
          </a:prstGeom>
          <a:solidFill>
            <a:srgbClr val="F4F6F8"/>
          </a:solidFill>
          <a:ln w="12700">
            <a:solidFill>
              <a:srgbClr val="E2E6EB"/>
            </a:solidFill>
            <a:prstDash val="solid"/>
          </a:ln>
        </p:spPr>
      </p:sp>
      <p:sp>
        <p:nvSpPr>
          <p:cNvPr id="20" name="Text 15"/>
          <p:cNvSpPr/>
          <p:nvPr/>
        </p:nvSpPr>
        <p:spPr>
          <a:xfrm>
            <a:off x="4612538" y="3657600"/>
            <a:ext cx="2966618" cy="310896"/>
          </a:xfrm>
          <a:prstGeom prst="rect">
            <a:avLst/>
          </a:prstGeom>
          <a:noFill/>
          <a:ln/>
        </p:spPr>
        <p:txBody>
          <a:bodyPr wrap="square" lIns="0" tIns="0" rIns="0" bIns="0" rtlCol="0" anchor="ctr"/>
          <a:lstStyle/>
          <a:p>
            <a:pPr algn="ctr" indent="0" marL="0">
              <a:buNone/>
            </a:pPr>
            <a:r>
              <a:rPr lang="en-US" sz="1100" dirty="0">
                <a:solidFill>
                  <a:srgbClr val="141A24"/>
                </a:solidFill>
                <a:latin typeface="Poppins SemiBold" pitchFamily="34" charset="0"/>
                <a:ea typeface="Poppins SemiBold" pitchFamily="34" charset="-122"/>
                <a:cs typeface="Poppins SemiBold" pitchFamily="34" charset="-120"/>
              </a:rPr>
              <a:t>Route &amp; shift management</a:t>
            </a:r>
            <a:endParaRPr lang="en-US" sz="1100" dirty="0"/>
          </a:p>
        </p:txBody>
      </p:sp>
      <p:sp>
        <p:nvSpPr>
          <p:cNvPr id="21" name="Text 16"/>
          <p:cNvSpPr/>
          <p:nvPr/>
        </p:nvSpPr>
        <p:spPr>
          <a:xfrm>
            <a:off x="4630826" y="4041648"/>
            <a:ext cx="2930042" cy="1463040"/>
          </a:xfrm>
          <a:prstGeom prst="rect">
            <a:avLst/>
          </a:prstGeom>
          <a:noFill/>
          <a:ln/>
        </p:spPr>
        <p:txBody>
          <a:bodyPr wrap="square" lIns="0" tIns="0" rIns="0" bIns="0" rtlCol="0" anchor="t"/>
          <a:lstStyle/>
          <a:p>
            <a:pPr algn="ctr" indent="0" marL="0">
              <a:lnSpc>
                <a:spcPct val="116000"/>
              </a:lnSpc>
              <a:buNone/>
            </a:pPr>
            <a:r>
              <a:rPr lang="en-US" sz="850" dirty="0">
                <a:solidFill>
                  <a:srgbClr val="6C7683"/>
                </a:solidFill>
                <a:latin typeface="Poppins" pitchFamily="34" charset="0"/>
                <a:ea typeface="Poppins" pitchFamily="34" charset="-122"/>
                <a:cs typeface="Poppins" pitchFamily="34" charset="-120"/>
              </a:rPr>
              <a:t>Transportation planned around client shifts, sites and condominium routes, with telemetry ensuring reliability and safety</a:t>
            </a:r>
            <a:endParaRPr lang="en-US" sz="850" dirty="0"/>
          </a:p>
        </p:txBody>
      </p:sp>
      <p:sp>
        <p:nvSpPr>
          <p:cNvPr id="22" name="Shape 17"/>
          <p:cNvSpPr/>
          <p:nvPr/>
        </p:nvSpPr>
        <p:spPr>
          <a:xfrm>
            <a:off x="9003030" y="1787652"/>
            <a:ext cx="1508760" cy="1508760"/>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23" name="Image 3" descr="assets/mobi_van.png">    </p:cNvPr>
          <p:cNvPicPr>
            <a:picLocks noChangeAspect="1"/>
          </p:cNvPicPr>
          <p:nvPr/>
        </p:nvPicPr>
        <p:blipFill>
          <a:blip r:embed="rId4"/>
          <a:srcRect l="0" r="0" t="0" b="0"/>
          <a:stretch/>
        </p:blipFill>
        <p:spPr>
          <a:xfrm>
            <a:off x="9044178" y="1828800"/>
            <a:ext cx="1426464" cy="1426464"/>
          </a:xfrm>
          <a:prstGeom prst="ellipse">
            <a:avLst/>
          </a:prstGeom>
        </p:spPr>
      </p:pic>
      <p:sp>
        <p:nvSpPr>
          <p:cNvPr id="24" name="Shape 18"/>
          <p:cNvSpPr/>
          <p:nvPr/>
        </p:nvSpPr>
        <p:spPr>
          <a:xfrm>
            <a:off x="8985978" y="1770600"/>
            <a:ext cx="484998" cy="484998"/>
          </a:xfrm>
          <a:prstGeom prst="ellipse">
            <a:avLst/>
          </a:prstGeom>
          <a:solidFill>
            <a:srgbClr val="F35B1A"/>
          </a:solidFill>
          <a:ln w="25400">
            <a:solidFill>
              <a:srgbClr val="FFFFFF"/>
            </a:solidFill>
            <a:prstDash val="solid"/>
          </a:ln>
        </p:spPr>
      </p:sp>
      <p:sp>
        <p:nvSpPr>
          <p:cNvPr id="25" name="Text 19"/>
          <p:cNvSpPr/>
          <p:nvPr/>
        </p:nvSpPr>
        <p:spPr>
          <a:xfrm>
            <a:off x="8985978" y="1770600"/>
            <a:ext cx="484998" cy="484998"/>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6" name="Shape 20"/>
          <p:cNvSpPr/>
          <p:nvPr/>
        </p:nvSpPr>
        <p:spPr>
          <a:xfrm>
            <a:off x="8054645" y="3493008"/>
            <a:ext cx="3405530" cy="2148840"/>
          </a:xfrm>
          <a:prstGeom prst="roundRect">
            <a:avLst>
              <a:gd name="adj" fmla="val 3830"/>
            </a:avLst>
          </a:prstGeom>
          <a:solidFill>
            <a:srgbClr val="F4F6F8"/>
          </a:solidFill>
          <a:ln w="12700">
            <a:solidFill>
              <a:srgbClr val="E2E6EB"/>
            </a:solidFill>
            <a:prstDash val="solid"/>
          </a:ln>
        </p:spPr>
      </p:sp>
      <p:sp>
        <p:nvSpPr>
          <p:cNvPr id="27" name="Text 21"/>
          <p:cNvSpPr/>
          <p:nvPr/>
        </p:nvSpPr>
        <p:spPr>
          <a:xfrm>
            <a:off x="8274101" y="3657600"/>
            <a:ext cx="2966618" cy="310896"/>
          </a:xfrm>
          <a:prstGeom prst="rect">
            <a:avLst/>
          </a:prstGeom>
          <a:noFill/>
          <a:ln/>
        </p:spPr>
        <p:txBody>
          <a:bodyPr wrap="square" lIns="0" tIns="0" rIns="0" bIns="0" rtlCol="0" anchor="ctr"/>
          <a:lstStyle/>
          <a:p>
            <a:pPr algn="ctr" indent="0" marL="0">
              <a:buNone/>
            </a:pPr>
            <a:r>
              <a:rPr lang="en-US" sz="1100" dirty="0">
                <a:solidFill>
                  <a:srgbClr val="141A24"/>
                </a:solidFill>
                <a:latin typeface="Poppins SemiBold" pitchFamily="34" charset="0"/>
                <a:ea typeface="Poppins SemiBold" pitchFamily="34" charset="-122"/>
                <a:cs typeface="Poppins SemiBold" pitchFamily="34" charset="-120"/>
              </a:rPr>
              <a:t>Two operating entities</a:t>
            </a:r>
            <a:endParaRPr lang="en-US" sz="1100" dirty="0"/>
          </a:p>
        </p:txBody>
      </p:sp>
      <p:sp>
        <p:nvSpPr>
          <p:cNvPr id="28" name="Text 22"/>
          <p:cNvSpPr/>
          <p:nvPr/>
        </p:nvSpPr>
        <p:spPr>
          <a:xfrm>
            <a:off x="8292389" y="4041648"/>
            <a:ext cx="2930042" cy="1463040"/>
          </a:xfrm>
          <a:prstGeom prst="rect">
            <a:avLst/>
          </a:prstGeom>
          <a:noFill/>
          <a:ln/>
        </p:spPr>
        <p:txBody>
          <a:bodyPr wrap="square" lIns="0" tIns="0" rIns="0" bIns="0" rtlCol="0" anchor="t"/>
          <a:lstStyle/>
          <a:p>
            <a:pPr algn="ctr" indent="0" marL="0">
              <a:lnSpc>
                <a:spcPct val="116000"/>
              </a:lnSpc>
              <a:buNone/>
            </a:pPr>
            <a:r>
              <a:rPr lang="en-US" sz="850" dirty="0">
                <a:solidFill>
                  <a:srgbClr val="6C7683"/>
                </a:solidFill>
                <a:latin typeface="Poppins" pitchFamily="34" charset="0"/>
                <a:ea typeface="Poppins" pitchFamily="34" charset="-122"/>
                <a:cs typeface="Poppins" pitchFamily="34" charset="-120"/>
              </a:rPr>
              <a:t>Revenue consolidated across AGM Caetano and AGM Alpha, together reaching BRL 140 Mn of net revenues in 2025</a:t>
            </a:r>
            <a:endParaRPr lang="en-US" sz="850" dirty="0"/>
          </a:p>
        </p:txBody>
      </p:sp>
      <p:sp>
        <p:nvSpPr>
          <p:cNvPr id="29" name="Shape 23"/>
          <p:cNvSpPr/>
          <p:nvPr/>
        </p:nvSpPr>
        <p:spPr>
          <a:xfrm>
            <a:off x="0" y="6172200"/>
            <a:ext cx="12191695" cy="685800"/>
          </a:xfrm>
          <a:prstGeom prst="rect">
            <a:avLst/>
          </a:prstGeom>
          <a:solidFill>
            <a:srgbClr val="141A24"/>
          </a:solidFill>
          <a:ln/>
        </p:spPr>
      </p:sp>
      <p:sp>
        <p:nvSpPr>
          <p:cNvPr id="30" name="Shape 24"/>
          <p:cNvSpPr/>
          <p:nvPr/>
        </p:nvSpPr>
        <p:spPr>
          <a:xfrm>
            <a:off x="0" y="6172200"/>
            <a:ext cx="118872" cy="685800"/>
          </a:xfrm>
          <a:prstGeom prst="rect">
            <a:avLst/>
          </a:prstGeom>
          <a:solidFill>
            <a:srgbClr val="F35B1A"/>
          </a:solidFill>
          <a:ln/>
        </p:spPr>
      </p:sp>
      <p:sp>
        <p:nvSpPr>
          <p:cNvPr id="31" name="Text 25"/>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Revenue anchored in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dedicated, long-term contracts</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across a network of operational bases</a:t>
            </a:r>
            <a:endParaRPr lang="en-US" sz="1200" dirty="0"/>
          </a:p>
        </p:txBody>
      </p:sp>
      <p:pic>
        <p:nvPicPr>
          <p:cNvPr id="32" name="Image 4" descr="assets/igc_white.png">    </p:cNvPr>
          <p:cNvPicPr>
            <a:picLocks noChangeAspect="1"/>
          </p:cNvPicPr>
          <p:nvPr/>
        </p:nvPicPr>
        <p:blipFill>
          <a:blip r:embed="rId5"/>
          <a:stretch>
            <a:fillRect/>
          </a:stretch>
        </p:blipFill>
        <p:spPr>
          <a:xfrm>
            <a:off x="731520" y="6387084"/>
            <a:ext cx="274320" cy="237134"/>
          </a:xfrm>
          <a:prstGeom prst="rect">
            <a:avLst/>
          </a:prstGeom>
        </p:spPr>
      </p:pic>
      <p:sp>
        <p:nvSpPr>
          <p:cNvPr id="33" name="Text 26"/>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19</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Success case: Cargill operation</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An illustrative long-term client relationship — contract values, terms and milestones to be confirmed with the Company</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 relationship details, contract values and milestone dates to be confirmed with management.</a:t>
            </a:r>
            <a:endParaRPr lang="en-US" sz="700" dirty="0"/>
          </a:p>
        </p:txBody>
      </p:sp>
      <p:sp>
        <p:nvSpPr>
          <p:cNvPr id="8" name="Shape 5"/>
          <p:cNvSpPr/>
          <p:nvPr/>
        </p:nvSpPr>
        <p:spPr>
          <a:xfrm>
            <a:off x="731520" y="1783080"/>
            <a:ext cx="2286000" cy="3913632"/>
          </a:xfrm>
          <a:prstGeom prst="roundRect">
            <a:avLst>
              <a:gd name="adj" fmla="val 4000"/>
            </a:avLst>
          </a:prstGeom>
          <a:solidFill>
            <a:srgbClr val="141A24"/>
          </a:solidFill>
          <a:ln/>
        </p:spPr>
      </p:sp>
      <p:sp>
        <p:nvSpPr>
          <p:cNvPr id="9" name="Text 6"/>
          <p:cNvSpPr/>
          <p:nvPr/>
        </p:nvSpPr>
        <p:spPr>
          <a:xfrm>
            <a:off x="969264" y="2002536"/>
            <a:ext cx="1810512"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SUCCESS CASES</a:t>
            </a:r>
            <a:endParaRPr lang="en-US" sz="800" dirty="0"/>
          </a:p>
        </p:txBody>
      </p:sp>
      <p:sp>
        <p:nvSpPr>
          <p:cNvPr id="10" name="Shape 7"/>
          <p:cNvSpPr/>
          <p:nvPr/>
        </p:nvSpPr>
        <p:spPr>
          <a:xfrm>
            <a:off x="877824" y="2386584"/>
            <a:ext cx="1993392" cy="713232"/>
          </a:xfrm>
          <a:prstGeom prst="roundRect">
            <a:avLst>
              <a:gd name="adj" fmla="val 8974"/>
            </a:avLst>
          </a:prstGeom>
          <a:solidFill>
            <a:srgbClr val="F35B1A"/>
          </a:solidFill>
          <a:ln/>
        </p:spPr>
      </p:sp>
      <p:sp>
        <p:nvSpPr>
          <p:cNvPr id="11" name="Shape 8"/>
          <p:cNvSpPr/>
          <p:nvPr/>
        </p:nvSpPr>
        <p:spPr>
          <a:xfrm rot="5400000">
            <a:off x="1005840" y="2670048"/>
            <a:ext cx="137160" cy="137160"/>
          </a:xfrm>
          <a:prstGeom prst="triangle">
            <a:avLst/>
          </a:prstGeom>
          <a:solidFill>
            <a:srgbClr val="FFFFFF"/>
          </a:solidFill>
          <a:ln/>
        </p:spPr>
      </p:sp>
      <p:sp>
        <p:nvSpPr>
          <p:cNvPr id="12" name="Text 9"/>
          <p:cNvSpPr/>
          <p:nvPr/>
        </p:nvSpPr>
        <p:spPr>
          <a:xfrm>
            <a:off x="1243584" y="2459736"/>
            <a:ext cx="1572768" cy="274320"/>
          </a:xfrm>
          <a:prstGeom prst="rect">
            <a:avLst/>
          </a:prstGeom>
          <a:noFill/>
          <a:ln/>
        </p:spPr>
        <p:txBody>
          <a:bodyPr wrap="square" lIns="0" tIns="0" rIns="0" bIns="0" rtlCol="0" anchor="ctr"/>
          <a:lstStyle/>
          <a:p>
            <a:pPr indent="0" marL="0">
              <a:buNone/>
            </a:pPr>
            <a:r>
              <a:rPr lang="en-US" sz="1000" dirty="0">
                <a:solidFill>
                  <a:srgbClr val="FFFFFF"/>
                </a:solidFill>
                <a:latin typeface="Poppins SemiBold" pitchFamily="34" charset="0"/>
                <a:ea typeface="Poppins SemiBold" pitchFamily="34" charset="-122"/>
                <a:cs typeface="Poppins SemiBold" pitchFamily="34" charset="-120"/>
              </a:rPr>
              <a:t>Cargill</a:t>
            </a:r>
            <a:endParaRPr lang="en-US" sz="1000" dirty="0"/>
          </a:p>
        </p:txBody>
      </p:sp>
      <p:sp>
        <p:nvSpPr>
          <p:cNvPr id="13" name="Text 10"/>
          <p:cNvSpPr/>
          <p:nvPr/>
        </p:nvSpPr>
        <p:spPr>
          <a:xfrm>
            <a:off x="1243584" y="2715768"/>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FBD9C6"/>
                </a:solidFill>
                <a:latin typeface="Poppins" pitchFamily="34" charset="0"/>
                <a:ea typeface="Poppins" pitchFamily="34" charset="-122"/>
                <a:cs typeface="Poppins" pitchFamily="34" charset="-120"/>
              </a:rPr>
              <a:t>Agribusiness &amp; food ingredients</a:t>
            </a:r>
            <a:endParaRPr lang="en-US" sz="750" dirty="0"/>
          </a:p>
        </p:txBody>
      </p:sp>
      <p:sp>
        <p:nvSpPr>
          <p:cNvPr id="14" name="Shape 11"/>
          <p:cNvSpPr/>
          <p:nvPr/>
        </p:nvSpPr>
        <p:spPr>
          <a:xfrm rot="5400000">
            <a:off x="1005840" y="3511296"/>
            <a:ext cx="137160" cy="137160"/>
          </a:xfrm>
          <a:prstGeom prst="triangle">
            <a:avLst/>
          </a:prstGeom>
          <a:solidFill>
            <a:srgbClr val="4A5563"/>
          </a:solidFill>
          <a:ln/>
        </p:spPr>
      </p:sp>
      <p:sp>
        <p:nvSpPr>
          <p:cNvPr id="15" name="Text 12"/>
          <p:cNvSpPr/>
          <p:nvPr/>
        </p:nvSpPr>
        <p:spPr>
          <a:xfrm>
            <a:off x="1243584" y="3300984"/>
            <a:ext cx="1572768" cy="274320"/>
          </a:xfrm>
          <a:prstGeom prst="rect">
            <a:avLst/>
          </a:prstGeom>
          <a:noFill/>
          <a:ln/>
        </p:spPr>
        <p:txBody>
          <a:bodyPr wrap="square" lIns="0" tIns="0" rIns="0" bIns="0" rtlCol="0" anchor="ctr"/>
          <a:lstStyle/>
          <a:p>
            <a:pPr indent="0" marL="0">
              <a:buNone/>
            </a:pPr>
            <a:r>
              <a:rPr lang="en-US" sz="1000" dirty="0">
                <a:solidFill>
                  <a:srgbClr val="8B95A5"/>
                </a:solidFill>
                <a:latin typeface="Poppins Medium" pitchFamily="34" charset="0"/>
                <a:ea typeface="Poppins Medium" pitchFamily="34" charset="-122"/>
                <a:cs typeface="Poppins Medium" pitchFamily="34" charset="-120"/>
              </a:rPr>
              <a:t>JBS</a:t>
            </a:r>
            <a:endParaRPr lang="en-US" sz="1000" dirty="0"/>
          </a:p>
        </p:txBody>
      </p:sp>
      <p:sp>
        <p:nvSpPr>
          <p:cNvPr id="16" name="Text 13"/>
          <p:cNvSpPr/>
          <p:nvPr/>
        </p:nvSpPr>
        <p:spPr>
          <a:xfrm>
            <a:off x="1243584" y="3557016"/>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5C6674"/>
                </a:solidFill>
                <a:latin typeface="Poppins" pitchFamily="34" charset="0"/>
                <a:ea typeface="Poppins" pitchFamily="34" charset="-122"/>
                <a:cs typeface="Poppins" pitchFamily="34" charset="-120"/>
              </a:rPr>
              <a:t>Protein &amp; food processing</a:t>
            </a:r>
            <a:endParaRPr lang="en-US" sz="750" dirty="0"/>
          </a:p>
        </p:txBody>
      </p:sp>
      <p:sp>
        <p:nvSpPr>
          <p:cNvPr id="17" name="Shape 14"/>
          <p:cNvSpPr/>
          <p:nvPr/>
        </p:nvSpPr>
        <p:spPr>
          <a:xfrm rot="5400000">
            <a:off x="1005840" y="4352544"/>
            <a:ext cx="137160" cy="137160"/>
          </a:xfrm>
          <a:prstGeom prst="triangle">
            <a:avLst/>
          </a:prstGeom>
          <a:solidFill>
            <a:srgbClr val="4A5563"/>
          </a:solidFill>
          <a:ln/>
        </p:spPr>
      </p:sp>
      <p:sp>
        <p:nvSpPr>
          <p:cNvPr id="18" name="Text 15"/>
          <p:cNvSpPr/>
          <p:nvPr/>
        </p:nvSpPr>
        <p:spPr>
          <a:xfrm>
            <a:off x="1243584" y="4142232"/>
            <a:ext cx="1572768" cy="274320"/>
          </a:xfrm>
          <a:prstGeom prst="rect">
            <a:avLst/>
          </a:prstGeom>
          <a:noFill/>
          <a:ln/>
        </p:spPr>
        <p:txBody>
          <a:bodyPr wrap="square" lIns="0" tIns="0" rIns="0" bIns="0" rtlCol="0" anchor="ctr"/>
          <a:lstStyle/>
          <a:p>
            <a:pPr indent="0" marL="0">
              <a:buNone/>
            </a:pPr>
            <a:r>
              <a:rPr lang="en-US" sz="1000" dirty="0">
                <a:solidFill>
                  <a:srgbClr val="8B95A5"/>
                </a:solidFill>
                <a:latin typeface="Poppins Medium" pitchFamily="34" charset="0"/>
                <a:ea typeface="Poppins Medium" pitchFamily="34" charset="-122"/>
                <a:cs typeface="Poppins Medium" pitchFamily="34" charset="-120"/>
              </a:rPr>
              <a:t>Votorantim Cimentos</a:t>
            </a:r>
            <a:endParaRPr lang="en-US" sz="1000" dirty="0"/>
          </a:p>
        </p:txBody>
      </p:sp>
      <p:sp>
        <p:nvSpPr>
          <p:cNvPr id="19" name="Text 16"/>
          <p:cNvSpPr/>
          <p:nvPr/>
        </p:nvSpPr>
        <p:spPr>
          <a:xfrm>
            <a:off x="1243584" y="4398264"/>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5C6674"/>
                </a:solidFill>
                <a:latin typeface="Poppins" pitchFamily="34" charset="0"/>
                <a:ea typeface="Poppins" pitchFamily="34" charset="-122"/>
                <a:cs typeface="Poppins" pitchFamily="34" charset="-120"/>
              </a:rPr>
              <a:t>Cement &amp; building materials</a:t>
            </a:r>
            <a:endParaRPr lang="en-US" sz="750" dirty="0"/>
          </a:p>
        </p:txBody>
      </p:sp>
      <p:sp>
        <p:nvSpPr>
          <p:cNvPr id="20" name="Shape 17"/>
          <p:cNvSpPr/>
          <p:nvPr/>
        </p:nvSpPr>
        <p:spPr>
          <a:xfrm>
            <a:off x="969264" y="4782312"/>
            <a:ext cx="1810512" cy="676656"/>
          </a:xfrm>
          <a:prstGeom prst="roundRect">
            <a:avLst>
              <a:gd name="adj" fmla="val 9459"/>
            </a:avLst>
          </a:prstGeom>
          <a:solidFill>
            <a:srgbClr val="FFFFFF"/>
          </a:solidFill>
          <a:ln/>
        </p:spPr>
      </p:sp>
      <p:pic>
        <p:nvPicPr>
          <p:cNvPr id="21" name="Image 1" descr="assets/cli_cargill.png">    </p:cNvPr>
          <p:cNvPicPr>
            <a:picLocks noChangeAspect="1"/>
          </p:cNvPicPr>
          <p:nvPr/>
        </p:nvPicPr>
        <p:blipFill>
          <a:blip r:embed="rId2"/>
          <a:stretch>
            <a:fillRect/>
          </a:stretch>
        </p:blipFill>
        <p:spPr>
          <a:xfrm>
            <a:off x="1193533" y="4892040"/>
            <a:ext cx="1361975" cy="457200"/>
          </a:xfrm>
          <a:prstGeom prst="rect">
            <a:avLst/>
          </a:prstGeom>
        </p:spPr>
      </p:pic>
      <p:sp>
        <p:nvSpPr>
          <p:cNvPr id="22" name="Shape 18"/>
          <p:cNvSpPr/>
          <p:nvPr/>
        </p:nvSpPr>
        <p:spPr>
          <a:xfrm>
            <a:off x="3383280" y="1783080"/>
            <a:ext cx="3910432" cy="1572768"/>
          </a:xfrm>
          <a:prstGeom prst="roundRect">
            <a:avLst>
              <a:gd name="adj" fmla="val 5233"/>
            </a:avLst>
          </a:prstGeom>
          <a:solidFill>
            <a:srgbClr val="F4F6F8"/>
          </a:solidFill>
          <a:ln w="12700">
            <a:solidFill>
              <a:srgbClr val="E2E6EB"/>
            </a:solidFill>
            <a:prstDash val="solid"/>
          </a:ln>
        </p:spPr>
      </p:sp>
      <p:sp>
        <p:nvSpPr>
          <p:cNvPr id="23" name="Text 19"/>
          <p:cNvSpPr/>
          <p:nvPr/>
        </p:nvSpPr>
        <p:spPr>
          <a:xfrm>
            <a:off x="3621024" y="1965960"/>
            <a:ext cx="3434944" cy="219456"/>
          </a:xfrm>
          <a:prstGeom prst="rect">
            <a:avLst/>
          </a:prstGeom>
          <a:noFill/>
          <a:ln/>
        </p:spPr>
        <p:txBody>
          <a:bodyPr wrap="square" lIns="0" tIns="0" rIns="0" bIns="0" rtlCol="0" anchor="ctr"/>
          <a:lstStyle/>
          <a:p>
            <a:pPr indent="0" marL="0">
              <a:buNone/>
            </a:pPr>
            <a:r>
              <a:rPr lang="en-US" sz="800" spc="130" kern="0" dirty="0">
                <a:solidFill>
                  <a:srgbClr val="6C7683"/>
                </a:solidFill>
                <a:latin typeface="Poppins SemiBold" pitchFamily="34" charset="0"/>
                <a:ea typeface="Poppins SemiBold" pitchFamily="34" charset="-122"/>
                <a:cs typeface="Poppins SemiBold" pitchFamily="34" charset="-120"/>
              </a:rPr>
              <a:t>START OF CONTRACT</a:t>
            </a:r>
            <a:endParaRPr lang="en-US" sz="800" dirty="0"/>
          </a:p>
        </p:txBody>
      </p:sp>
      <p:sp>
        <p:nvSpPr>
          <p:cNvPr id="24" name="Text 20"/>
          <p:cNvSpPr/>
          <p:nvPr/>
        </p:nvSpPr>
        <p:spPr>
          <a:xfrm>
            <a:off x="3621024" y="2240280"/>
            <a:ext cx="3434944" cy="365760"/>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BRL [XXX]k</a:t>
            </a:r>
            <a:endParaRPr lang="en-US" sz="1600" dirty="0"/>
          </a:p>
        </p:txBody>
      </p:sp>
      <p:sp>
        <p:nvSpPr>
          <p:cNvPr id="25" name="Text 21"/>
          <p:cNvSpPr/>
          <p:nvPr/>
        </p:nvSpPr>
        <p:spPr>
          <a:xfrm>
            <a:off x="3621024" y="2587752"/>
            <a:ext cx="3434944" cy="20116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value</a:t>
            </a:r>
            <a:endParaRPr lang="en-US" sz="800" dirty="0"/>
          </a:p>
        </p:txBody>
      </p:sp>
      <p:sp>
        <p:nvSpPr>
          <p:cNvPr id="26" name="Text 22"/>
          <p:cNvSpPr/>
          <p:nvPr/>
        </p:nvSpPr>
        <p:spPr>
          <a:xfrm>
            <a:off x="3621024" y="2825496"/>
            <a:ext cx="3434944" cy="274320"/>
          </a:xfrm>
          <a:prstGeom prst="rect">
            <a:avLst/>
          </a:prstGeom>
          <a:noFill/>
          <a:ln/>
        </p:spPr>
        <p:txBody>
          <a:bodyPr wrap="square" lIns="0" tIns="0" rIns="0" bIns="0" rtlCol="0" anchor="ctr"/>
          <a:lstStyle/>
          <a:p>
            <a:pPr indent="0" marL="0">
              <a:buNone/>
            </a:pPr>
            <a:r>
              <a:rPr lang="en-US" sz="1200" dirty="0">
                <a:solidFill>
                  <a:srgbClr val="C6470F"/>
                </a:solidFill>
                <a:latin typeface="Poppins SemiBold" pitchFamily="34" charset="0"/>
                <a:ea typeface="Poppins SemiBold" pitchFamily="34" charset="-122"/>
                <a:cs typeface="Poppins SemiBold" pitchFamily="34" charset="-120"/>
              </a:rPr>
              <a:t>[X] months</a:t>
            </a:r>
            <a:endParaRPr lang="en-US" sz="1200" dirty="0"/>
          </a:p>
        </p:txBody>
      </p:sp>
      <p:sp>
        <p:nvSpPr>
          <p:cNvPr id="27" name="Text 23"/>
          <p:cNvSpPr/>
          <p:nvPr/>
        </p:nvSpPr>
        <p:spPr>
          <a:xfrm>
            <a:off x="4754880" y="2825496"/>
            <a:ext cx="235595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term</a:t>
            </a:r>
            <a:endParaRPr lang="en-US" sz="800" dirty="0"/>
          </a:p>
        </p:txBody>
      </p:sp>
      <p:sp>
        <p:nvSpPr>
          <p:cNvPr id="28" name="Shape 24"/>
          <p:cNvSpPr/>
          <p:nvPr/>
        </p:nvSpPr>
        <p:spPr>
          <a:xfrm>
            <a:off x="7549744" y="1783080"/>
            <a:ext cx="3910432" cy="1572768"/>
          </a:xfrm>
          <a:prstGeom prst="roundRect">
            <a:avLst>
              <a:gd name="adj" fmla="val 5233"/>
            </a:avLst>
          </a:prstGeom>
          <a:solidFill>
            <a:srgbClr val="FDE9DE"/>
          </a:solidFill>
          <a:ln/>
        </p:spPr>
      </p:sp>
      <p:sp>
        <p:nvSpPr>
          <p:cNvPr id="29" name="Text 25"/>
          <p:cNvSpPr/>
          <p:nvPr/>
        </p:nvSpPr>
        <p:spPr>
          <a:xfrm>
            <a:off x="7787488" y="1965960"/>
            <a:ext cx="3434944" cy="219456"/>
          </a:xfrm>
          <a:prstGeom prst="rect">
            <a:avLst/>
          </a:prstGeom>
          <a:noFill/>
          <a:ln/>
        </p:spPr>
        <p:txBody>
          <a:bodyPr wrap="square" lIns="0" tIns="0" rIns="0" bIns="0" rtlCol="0" anchor="ctr"/>
          <a:lstStyle/>
          <a:p>
            <a:pPr indent="0" marL="0">
              <a:buNone/>
            </a:pPr>
            <a:r>
              <a:rPr lang="en-US" sz="800" spc="130" kern="0" dirty="0">
                <a:solidFill>
                  <a:srgbClr val="C6470F"/>
                </a:solidFill>
                <a:latin typeface="Poppins SemiBold" pitchFamily="34" charset="0"/>
                <a:ea typeface="Poppins SemiBold" pitchFamily="34" charset="-122"/>
                <a:cs typeface="Poppins SemiBold" pitchFamily="34" charset="-120"/>
              </a:rPr>
              <a:t>CURRENT CONTRACT</a:t>
            </a:r>
            <a:endParaRPr lang="en-US" sz="800" dirty="0"/>
          </a:p>
        </p:txBody>
      </p:sp>
      <p:sp>
        <p:nvSpPr>
          <p:cNvPr id="30" name="Text 26"/>
          <p:cNvSpPr/>
          <p:nvPr/>
        </p:nvSpPr>
        <p:spPr>
          <a:xfrm>
            <a:off x="7787488" y="2240280"/>
            <a:ext cx="3434944" cy="365760"/>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BRL [XXX] Mn</a:t>
            </a:r>
            <a:endParaRPr lang="en-US" sz="1600" dirty="0"/>
          </a:p>
        </p:txBody>
      </p:sp>
      <p:sp>
        <p:nvSpPr>
          <p:cNvPr id="31" name="Text 27"/>
          <p:cNvSpPr/>
          <p:nvPr/>
        </p:nvSpPr>
        <p:spPr>
          <a:xfrm>
            <a:off x="7787488" y="2587752"/>
            <a:ext cx="3434944" cy="20116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value</a:t>
            </a:r>
            <a:endParaRPr lang="en-US" sz="800" dirty="0"/>
          </a:p>
        </p:txBody>
      </p:sp>
      <p:sp>
        <p:nvSpPr>
          <p:cNvPr id="32" name="Text 28"/>
          <p:cNvSpPr/>
          <p:nvPr/>
        </p:nvSpPr>
        <p:spPr>
          <a:xfrm>
            <a:off x="7787488" y="2825496"/>
            <a:ext cx="3434944" cy="274320"/>
          </a:xfrm>
          <a:prstGeom prst="rect">
            <a:avLst/>
          </a:prstGeom>
          <a:noFill/>
          <a:ln/>
        </p:spPr>
        <p:txBody>
          <a:bodyPr wrap="square" lIns="0" tIns="0" rIns="0" bIns="0" rtlCol="0" anchor="ctr"/>
          <a:lstStyle/>
          <a:p>
            <a:pPr indent="0" marL="0">
              <a:buNone/>
            </a:pPr>
            <a:r>
              <a:rPr lang="en-US" sz="1200" dirty="0">
                <a:solidFill>
                  <a:srgbClr val="C6470F"/>
                </a:solidFill>
                <a:latin typeface="Poppins SemiBold" pitchFamily="34" charset="0"/>
                <a:ea typeface="Poppins SemiBold" pitchFamily="34" charset="-122"/>
                <a:cs typeface="Poppins SemiBold" pitchFamily="34" charset="-120"/>
              </a:rPr>
              <a:t>[X] years</a:t>
            </a:r>
            <a:endParaRPr lang="en-US" sz="1200" dirty="0"/>
          </a:p>
        </p:txBody>
      </p:sp>
      <p:sp>
        <p:nvSpPr>
          <p:cNvPr id="33" name="Text 29"/>
          <p:cNvSpPr/>
          <p:nvPr/>
        </p:nvSpPr>
        <p:spPr>
          <a:xfrm>
            <a:off x="8921344" y="2825496"/>
            <a:ext cx="235595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term</a:t>
            </a:r>
            <a:endParaRPr lang="en-US" sz="800" dirty="0"/>
          </a:p>
        </p:txBody>
      </p:sp>
      <p:sp>
        <p:nvSpPr>
          <p:cNvPr id="34" name="Text 30"/>
          <p:cNvSpPr/>
          <p:nvPr/>
        </p:nvSpPr>
        <p:spPr>
          <a:xfrm>
            <a:off x="3383280" y="3575304"/>
            <a:ext cx="8076895"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RELATIONSHIP TIMELINE</a:t>
            </a:r>
            <a:endParaRPr lang="en-US" sz="800" dirty="0"/>
          </a:p>
        </p:txBody>
      </p:sp>
      <p:sp>
        <p:nvSpPr>
          <p:cNvPr id="35" name="Shape 31"/>
          <p:cNvSpPr/>
          <p:nvPr/>
        </p:nvSpPr>
        <p:spPr>
          <a:xfrm>
            <a:off x="3474720" y="4178808"/>
            <a:ext cx="7711135" cy="22860"/>
          </a:xfrm>
          <a:prstGeom prst="rect">
            <a:avLst/>
          </a:prstGeom>
          <a:solidFill>
            <a:srgbClr val="E2E6EB"/>
          </a:solidFill>
          <a:ln/>
        </p:spPr>
      </p:sp>
      <p:sp>
        <p:nvSpPr>
          <p:cNvPr id="36" name="Shape 32"/>
          <p:cNvSpPr/>
          <p:nvPr/>
        </p:nvSpPr>
        <p:spPr>
          <a:xfrm>
            <a:off x="3406140" y="4114800"/>
            <a:ext cx="137160" cy="137160"/>
          </a:xfrm>
          <a:prstGeom prst="ellipse">
            <a:avLst/>
          </a:prstGeom>
          <a:solidFill>
            <a:srgbClr val="F35B1A"/>
          </a:solidFill>
          <a:ln/>
        </p:spPr>
      </p:sp>
      <p:sp>
        <p:nvSpPr>
          <p:cNvPr id="37" name="Text 33"/>
          <p:cNvSpPr/>
          <p:nvPr/>
        </p:nvSpPr>
        <p:spPr>
          <a:xfrm>
            <a:off x="3017520"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38" name="Text 34"/>
          <p:cNvSpPr/>
          <p:nvPr/>
        </p:nvSpPr>
        <p:spPr>
          <a:xfrm>
            <a:off x="2907792"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39" name="Shape 35"/>
          <p:cNvSpPr/>
          <p:nvPr/>
        </p:nvSpPr>
        <p:spPr>
          <a:xfrm>
            <a:off x="5707971" y="4114800"/>
            <a:ext cx="137160" cy="137160"/>
          </a:xfrm>
          <a:prstGeom prst="ellipse">
            <a:avLst/>
          </a:prstGeom>
          <a:solidFill>
            <a:srgbClr val="F35B1A"/>
          </a:solidFill>
          <a:ln/>
        </p:spPr>
      </p:sp>
      <p:sp>
        <p:nvSpPr>
          <p:cNvPr id="40" name="Text 36"/>
          <p:cNvSpPr/>
          <p:nvPr/>
        </p:nvSpPr>
        <p:spPr>
          <a:xfrm>
            <a:off x="5319351"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1" name="Text 37"/>
          <p:cNvSpPr/>
          <p:nvPr/>
        </p:nvSpPr>
        <p:spPr>
          <a:xfrm>
            <a:off x="5209623"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2" name="Shape 38"/>
          <p:cNvSpPr/>
          <p:nvPr/>
        </p:nvSpPr>
        <p:spPr>
          <a:xfrm>
            <a:off x="8009803" y="4114800"/>
            <a:ext cx="137160" cy="137160"/>
          </a:xfrm>
          <a:prstGeom prst="ellipse">
            <a:avLst/>
          </a:prstGeom>
          <a:solidFill>
            <a:srgbClr val="F35B1A"/>
          </a:solidFill>
          <a:ln/>
        </p:spPr>
      </p:sp>
      <p:sp>
        <p:nvSpPr>
          <p:cNvPr id="43" name="Text 39"/>
          <p:cNvSpPr/>
          <p:nvPr/>
        </p:nvSpPr>
        <p:spPr>
          <a:xfrm>
            <a:off x="7621183"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4" name="Text 40"/>
          <p:cNvSpPr/>
          <p:nvPr/>
        </p:nvSpPr>
        <p:spPr>
          <a:xfrm>
            <a:off x="7511455"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5" name="Shape 41"/>
          <p:cNvSpPr/>
          <p:nvPr/>
        </p:nvSpPr>
        <p:spPr>
          <a:xfrm>
            <a:off x="10311634" y="4114800"/>
            <a:ext cx="137160" cy="137160"/>
          </a:xfrm>
          <a:prstGeom prst="ellipse">
            <a:avLst/>
          </a:prstGeom>
          <a:solidFill>
            <a:srgbClr val="F35B1A"/>
          </a:solidFill>
          <a:ln/>
        </p:spPr>
      </p:sp>
      <p:sp>
        <p:nvSpPr>
          <p:cNvPr id="46" name="Text 42"/>
          <p:cNvSpPr/>
          <p:nvPr/>
        </p:nvSpPr>
        <p:spPr>
          <a:xfrm>
            <a:off x="9923014"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7" name="Text 43"/>
          <p:cNvSpPr/>
          <p:nvPr/>
        </p:nvSpPr>
        <p:spPr>
          <a:xfrm>
            <a:off x="9813286"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8" name="Shape 44"/>
          <p:cNvSpPr/>
          <p:nvPr/>
        </p:nvSpPr>
        <p:spPr>
          <a:xfrm>
            <a:off x="3383280" y="4928616"/>
            <a:ext cx="8076895" cy="731520"/>
          </a:xfrm>
          <a:prstGeom prst="roundRect">
            <a:avLst>
              <a:gd name="adj" fmla="val 10000"/>
            </a:avLst>
          </a:prstGeom>
          <a:solidFill>
            <a:srgbClr val="F4F6F8"/>
          </a:solidFill>
          <a:ln w="12700">
            <a:solidFill>
              <a:srgbClr val="E2E6EB"/>
            </a:solidFill>
            <a:prstDash val="solid"/>
          </a:ln>
        </p:spPr>
      </p:sp>
      <p:sp>
        <p:nvSpPr>
          <p:cNvPr id="49" name="Text 45"/>
          <p:cNvSpPr/>
          <p:nvPr/>
        </p:nvSpPr>
        <p:spPr>
          <a:xfrm>
            <a:off x="3621024" y="5038344"/>
            <a:ext cx="7601407" cy="237744"/>
          </a:xfrm>
          <a:prstGeom prst="rect">
            <a:avLst/>
          </a:prstGeom>
          <a:noFill/>
          <a:ln/>
        </p:spPr>
        <p:txBody>
          <a:bodyPr wrap="square" lIns="0" tIns="0" rIns="0" bIns="0" rtlCol="0" anchor="ctr"/>
          <a:lstStyle/>
          <a:p>
            <a:pPr indent="0" marL="0">
              <a:buNone/>
            </a:pPr>
            <a:r>
              <a:rPr lang="en-US" sz="900" dirty="0">
                <a:solidFill>
                  <a:srgbClr val="C6470F"/>
                </a:solidFill>
                <a:latin typeface="Poppins Medium" pitchFamily="34" charset="0"/>
                <a:ea typeface="Poppins Medium" pitchFamily="34" charset="-122"/>
                <a:cs typeface="Poppins Medium" pitchFamily="34" charset="-120"/>
              </a:rPr>
              <a:t>[Service scope — to be confirmed with the Company]</a:t>
            </a:r>
            <a:endParaRPr lang="en-US" sz="900" dirty="0"/>
          </a:p>
        </p:txBody>
      </p:sp>
      <p:sp>
        <p:nvSpPr>
          <p:cNvPr id="50" name="Text 46"/>
          <p:cNvSpPr/>
          <p:nvPr/>
        </p:nvSpPr>
        <p:spPr>
          <a:xfrm>
            <a:off x="3621024" y="5276088"/>
            <a:ext cx="7601407"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[Relationship highlights, contracted routes and headcount served to be confirmed]</a:t>
            </a:r>
            <a:endParaRPr lang="en-US" sz="800" dirty="0"/>
          </a:p>
        </p:txBody>
      </p:sp>
      <p:sp>
        <p:nvSpPr>
          <p:cNvPr id="51" name="Shape 47"/>
          <p:cNvSpPr/>
          <p:nvPr/>
        </p:nvSpPr>
        <p:spPr>
          <a:xfrm>
            <a:off x="0" y="6172200"/>
            <a:ext cx="12191695" cy="685800"/>
          </a:xfrm>
          <a:prstGeom prst="rect">
            <a:avLst/>
          </a:prstGeom>
          <a:solidFill>
            <a:srgbClr val="141A24"/>
          </a:solidFill>
          <a:ln/>
        </p:spPr>
      </p:sp>
      <p:sp>
        <p:nvSpPr>
          <p:cNvPr id="52" name="Shape 48"/>
          <p:cNvSpPr/>
          <p:nvPr/>
        </p:nvSpPr>
        <p:spPr>
          <a:xfrm>
            <a:off x="0" y="6172200"/>
            <a:ext cx="118872" cy="685800"/>
          </a:xfrm>
          <a:prstGeom prst="rect">
            <a:avLst/>
          </a:prstGeom>
          <a:solidFill>
            <a:srgbClr val="F35B1A"/>
          </a:solidFill>
          <a:ln/>
        </p:spPr>
      </p:sp>
      <p:sp>
        <p:nvSpPr>
          <p:cNvPr id="53" name="Text 49"/>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long-standing relationship</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with Cargill — details to be confirmed with the Company</a:t>
            </a:r>
            <a:endParaRPr lang="en-US" sz="1200" dirty="0"/>
          </a:p>
        </p:txBody>
      </p:sp>
      <p:pic>
        <p:nvPicPr>
          <p:cNvPr id="54" name="Image 2" descr="assets/igc_white.png">    </p:cNvPr>
          <p:cNvPicPr>
            <a:picLocks noChangeAspect="1"/>
          </p:cNvPicPr>
          <p:nvPr/>
        </p:nvPicPr>
        <p:blipFill>
          <a:blip r:embed="rId3"/>
          <a:stretch>
            <a:fillRect/>
          </a:stretch>
        </p:blipFill>
        <p:spPr>
          <a:xfrm>
            <a:off x="731520" y="6387084"/>
            <a:ext cx="274320" cy="237134"/>
          </a:xfrm>
          <a:prstGeom prst="rect">
            <a:avLst/>
          </a:prstGeom>
        </p:spPr>
      </p:pic>
      <p:sp>
        <p:nvSpPr>
          <p:cNvPr id="55" name="Text 50"/>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20</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Success case: JBS operation</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An illustrative long-term client relationship — contract values, terms and milestones to be confirmed with the Company</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 relationship details, contract values and milestone dates to be confirmed with management.</a:t>
            </a:r>
            <a:endParaRPr lang="en-US" sz="700" dirty="0"/>
          </a:p>
        </p:txBody>
      </p:sp>
      <p:sp>
        <p:nvSpPr>
          <p:cNvPr id="8" name="Shape 5"/>
          <p:cNvSpPr/>
          <p:nvPr/>
        </p:nvSpPr>
        <p:spPr>
          <a:xfrm>
            <a:off x="731520" y="1783080"/>
            <a:ext cx="2286000" cy="3913632"/>
          </a:xfrm>
          <a:prstGeom prst="roundRect">
            <a:avLst>
              <a:gd name="adj" fmla="val 4000"/>
            </a:avLst>
          </a:prstGeom>
          <a:solidFill>
            <a:srgbClr val="141A24"/>
          </a:solidFill>
          <a:ln/>
        </p:spPr>
      </p:sp>
      <p:sp>
        <p:nvSpPr>
          <p:cNvPr id="9" name="Text 6"/>
          <p:cNvSpPr/>
          <p:nvPr/>
        </p:nvSpPr>
        <p:spPr>
          <a:xfrm>
            <a:off x="969264" y="2002536"/>
            <a:ext cx="1810512"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SUCCESS CASES</a:t>
            </a:r>
            <a:endParaRPr lang="en-US" sz="800" dirty="0"/>
          </a:p>
        </p:txBody>
      </p:sp>
      <p:sp>
        <p:nvSpPr>
          <p:cNvPr id="10" name="Shape 7"/>
          <p:cNvSpPr/>
          <p:nvPr/>
        </p:nvSpPr>
        <p:spPr>
          <a:xfrm rot="5400000">
            <a:off x="1005840" y="2670048"/>
            <a:ext cx="137160" cy="137160"/>
          </a:xfrm>
          <a:prstGeom prst="triangle">
            <a:avLst/>
          </a:prstGeom>
          <a:solidFill>
            <a:srgbClr val="4A5563"/>
          </a:solidFill>
          <a:ln/>
        </p:spPr>
      </p:sp>
      <p:sp>
        <p:nvSpPr>
          <p:cNvPr id="11" name="Text 8"/>
          <p:cNvSpPr/>
          <p:nvPr/>
        </p:nvSpPr>
        <p:spPr>
          <a:xfrm>
            <a:off x="1243584" y="2459736"/>
            <a:ext cx="1572768" cy="274320"/>
          </a:xfrm>
          <a:prstGeom prst="rect">
            <a:avLst/>
          </a:prstGeom>
          <a:noFill/>
          <a:ln/>
        </p:spPr>
        <p:txBody>
          <a:bodyPr wrap="square" lIns="0" tIns="0" rIns="0" bIns="0" rtlCol="0" anchor="ctr"/>
          <a:lstStyle/>
          <a:p>
            <a:pPr indent="0" marL="0">
              <a:buNone/>
            </a:pPr>
            <a:r>
              <a:rPr lang="en-US" sz="1000" dirty="0">
                <a:solidFill>
                  <a:srgbClr val="8B95A5"/>
                </a:solidFill>
                <a:latin typeface="Poppins Medium" pitchFamily="34" charset="0"/>
                <a:ea typeface="Poppins Medium" pitchFamily="34" charset="-122"/>
                <a:cs typeface="Poppins Medium" pitchFamily="34" charset="-120"/>
              </a:rPr>
              <a:t>Cargill</a:t>
            </a:r>
            <a:endParaRPr lang="en-US" sz="1000" dirty="0"/>
          </a:p>
        </p:txBody>
      </p:sp>
      <p:sp>
        <p:nvSpPr>
          <p:cNvPr id="12" name="Text 9"/>
          <p:cNvSpPr/>
          <p:nvPr/>
        </p:nvSpPr>
        <p:spPr>
          <a:xfrm>
            <a:off x="1243584" y="2715768"/>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5C6674"/>
                </a:solidFill>
                <a:latin typeface="Poppins" pitchFamily="34" charset="0"/>
                <a:ea typeface="Poppins" pitchFamily="34" charset="-122"/>
                <a:cs typeface="Poppins" pitchFamily="34" charset="-120"/>
              </a:rPr>
              <a:t>Agribusiness &amp; food ingredients</a:t>
            </a:r>
            <a:endParaRPr lang="en-US" sz="750" dirty="0"/>
          </a:p>
        </p:txBody>
      </p:sp>
      <p:sp>
        <p:nvSpPr>
          <p:cNvPr id="13" name="Shape 10"/>
          <p:cNvSpPr/>
          <p:nvPr/>
        </p:nvSpPr>
        <p:spPr>
          <a:xfrm>
            <a:off x="877824" y="3227832"/>
            <a:ext cx="1993392" cy="713232"/>
          </a:xfrm>
          <a:prstGeom prst="roundRect">
            <a:avLst>
              <a:gd name="adj" fmla="val 8974"/>
            </a:avLst>
          </a:prstGeom>
          <a:solidFill>
            <a:srgbClr val="F35B1A"/>
          </a:solidFill>
          <a:ln/>
        </p:spPr>
      </p:sp>
      <p:sp>
        <p:nvSpPr>
          <p:cNvPr id="14" name="Shape 11"/>
          <p:cNvSpPr/>
          <p:nvPr/>
        </p:nvSpPr>
        <p:spPr>
          <a:xfrm rot="5400000">
            <a:off x="1005840" y="3511296"/>
            <a:ext cx="137160" cy="137160"/>
          </a:xfrm>
          <a:prstGeom prst="triangle">
            <a:avLst/>
          </a:prstGeom>
          <a:solidFill>
            <a:srgbClr val="FFFFFF"/>
          </a:solidFill>
          <a:ln/>
        </p:spPr>
      </p:sp>
      <p:sp>
        <p:nvSpPr>
          <p:cNvPr id="15" name="Text 12"/>
          <p:cNvSpPr/>
          <p:nvPr/>
        </p:nvSpPr>
        <p:spPr>
          <a:xfrm>
            <a:off x="1243584" y="3300984"/>
            <a:ext cx="1572768" cy="274320"/>
          </a:xfrm>
          <a:prstGeom prst="rect">
            <a:avLst/>
          </a:prstGeom>
          <a:noFill/>
          <a:ln/>
        </p:spPr>
        <p:txBody>
          <a:bodyPr wrap="square" lIns="0" tIns="0" rIns="0" bIns="0" rtlCol="0" anchor="ctr"/>
          <a:lstStyle/>
          <a:p>
            <a:pPr indent="0" marL="0">
              <a:buNone/>
            </a:pPr>
            <a:r>
              <a:rPr lang="en-US" sz="1000" dirty="0">
                <a:solidFill>
                  <a:srgbClr val="FFFFFF"/>
                </a:solidFill>
                <a:latin typeface="Poppins SemiBold" pitchFamily="34" charset="0"/>
                <a:ea typeface="Poppins SemiBold" pitchFamily="34" charset="-122"/>
                <a:cs typeface="Poppins SemiBold" pitchFamily="34" charset="-120"/>
              </a:rPr>
              <a:t>JBS</a:t>
            </a:r>
            <a:endParaRPr lang="en-US" sz="1000" dirty="0"/>
          </a:p>
        </p:txBody>
      </p:sp>
      <p:sp>
        <p:nvSpPr>
          <p:cNvPr id="16" name="Text 13"/>
          <p:cNvSpPr/>
          <p:nvPr/>
        </p:nvSpPr>
        <p:spPr>
          <a:xfrm>
            <a:off x="1243584" y="3557016"/>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FBD9C6"/>
                </a:solidFill>
                <a:latin typeface="Poppins" pitchFamily="34" charset="0"/>
                <a:ea typeface="Poppins" pitchFamily="34" charset="-122"/>
                <a:cs typeface="Poppins" pitchFamily="34" charset="-120"/>
              </a:rPr>
              <a:t>Protein &amp; food processing</a:t>
            </a:r>
            <a:endParaRPr lang="en-US" sz="750" dirty="0"/>
          </a:p>
        </p:txBody>
      </p:sp>
      <p:sp>
        <p:nvSpPr>
          <p:cNvPr id="17" name="Shape 14"/>
          <p:cNvSpPr/>
          <p:nvPr/>
        </p:nvSpPr>
        <p:spPr>
          <a:xfrm rot="5400000">
            <a:off x="1005840" y="4352544"/>
            <a:ext cx="137160" cy="137160"/>
          </a:xfrm>
          <a:prstGeom prst="triangle">
            <a:avLst/>
          </a:prstGeom>
          <a:solidFill>
            <a:srgbClr val="4A5563"/>
          </a:solidFill>
          <a:ln/>
        </p:spPr>
      </p:sp>
      <p:sp>
        <p:nvSpPr>
          <p:cNvPr id="18" name="Text 15"/>
          <p:cNvSpPr/>
          <p:nvPr/>
        </p:nvSpPr>
        <p:spPr>
          <a:xfrm>
            <a:off x="1243584" y="4142232"/>
            <a:ext cx="1572768" cy="274320"/>
          </a:xfrm>
          <a:prstGeom prst="rect">
            <a:avLst/>
          </a:prstGeom>
          <a:noFill/>
          <a:ln/>
        </p:spPr>
        <p:txBody>
          <a:bodyPr wrap="square" lIns="0" tIns="0" rIns="0" bIns="0" rtlCol="0" anchor="ctr"/>
          <a:lstStyle/>
          <a:p>
            <a:pPr indent="0" marL="0">
              <a:buNone/>
            </a:pPr>
            <a:r>
              <a:rPr lang="en-US" sz="1000" dirty="0">
                <a:solidFill>
                  <a:srgbClr val="8B95A5"/>
                </a:solidFill>
                <a:latin typeface="Poppins Medium" pitchFamily="34" charset="0"/>
                <a:ea typeface="Poppins Medium" pitchFamily="34" charset="-122"/>
                <a:cs typeface="Poppins Medium" pitchFamily="34" charset="-120"/>
              </a:rPr>
              <a:t>Votorantim Cimentos</a:t>
            </a:r>
            <a:endParaRPr lang="en-US" sz="1000" dirty="0"/>
          </a:p>
        </p:txBody>
      </p:sp>
      <p:sp>
        <p:nvSpPr>
          <p:cNvPr id="19" name="Text 16"/>
          <p:cNvSpPr/>
          <p:nvPr/>
        </p:nvSpPr>
        <p:spPr>
          <a:xfrm>
            <a:off x="1243584" y="4398264"/>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5C6674"/>
                </a:solidFill>
                <a:latin typeface="Poppins" pitchFamily="34" charset="0"/>
                <a:ea typeface="Poppins" pitchFamily="34" charset="-122"/>
                <a:cs typeface="Poppins" pitchFamily="34" charset="-120"/>
              </a:rPr>
              <a:t>Cement &amp; building materials</a:t>
            </a:r>
            <a:endParaRPr lang="en-US" sz="750" dirty="0"/>
          </a:p>
        </p:txBody>
      </p:sp>
      <p:sp>
        <p:nvSpPr>
          <p:cNvPr id="20" name="Shape 17"/>
          <p:cNvSpPr/>
          <p:nvPr/>
        </p:nvSpPr>
        <p:spPr>
          <a:xfrm>
            <a:off x="969264" y="4782312"/>
            <a:ext cx="1810512" cy="676656"/>
          </a:xfrm>
          <a:prstGeom prst="roundRect">
            <a:avLst>
              <a:gd name="adj" fmla="val 9459"/>
            </a:avLst>
          </a:prstGeom>
          <a:solidFill>
            <a:srgbClr val="FFFFFF"/>
          </a:solidFill>
          <a:ln/>
        </p:spPr>
      </p:sp>
      <p:pic>
        <p:nvPicPr>
          <p:cNvPr id="21" name="Image 1" descr="assets/cli_jbs.png">    </p:cNvPr>
          <p:cNvPicPr>
            <a:picLocks noChangeAspect="1"/>
          </p:cNvPicPr>
          <p:nvPr/>
        </p:nvPicPr>
        <p:blipFill>
          <a:blip r:embed="rId2"/>
          <a:stretch>
            <a:fillRect/>
          </a:stretch>
        </p:blipFill>
        <p:spPr>
          <a:xfrm>
            <a:off x="1408267" y="4892040"/>
            <a:ext cx="932507" cy="457200"/>
          </a:xfrm>
          <a:prstGeom prst="rect">
            <a:avLst/>
          </a:prstGeom>
        </p:spPr>
      </p:pic>
      <p:sp>
        <p:nvSpPr>
          <p:cNvPr id="22" name="Shape 18"/>
          <p:cNvSpPr/>
          <p:nvPr/>
        </p:nvSpPr>
        <p:spPr>
          <a:xfrm>
            <a:off x="3383280" y="1783080"/>
            <a:ext cx="3910432" cy="1572768"/>
          </a:xfrm>
          <a:prstGeom prst="roundRect">
            <a:avLst>
              <a:gd name="adj" fmla="val 5233"/>
            </a:avLst>
          </a:prstGeom>
          <a:solidFill>
            <a:srgbClr val="F4F6F8"/>
          </a:solidFill>
          <a:ln w="12700">
            <a:solidFill>
              <a:srgbClr val="E2E6EB"/>
            </a:solidFill>
            <a:prstDash val="solid"/>
          </a:ln>
        </p:spPr>
      </p:sp>
      <p:sp>
        <p:nvSpPr>
          <p:cNvPr id="23" name="Text 19"/>
          <p:cNvSpPr/>
          <p:nvPr/>
        </p:nvSpPr>
        <p:spPr>
          <a:xfrm>
            <a:off x="3621024" y="1965960"/>
            <a:ext cx="3434944" cy="219456"/>
          </a:xfrm>
          <a:prstGeom prst="rect">
            <a:avLst/>
          </a:prstGeom>
          <a:noFill/>
          <a:ln/>
        </p:spPr>
        <p:txBody>
          <a:bodyPr wrap="square" lIns="0" tIns="0" rIns="0" bIns="0" rtlCol="0" anchor="ctr"/>
          <a:lstStyle/>
          <a:p>
            <a:pPr indent="0" marL="0">
              <a:buNone/>
            </a:pPr>
            <a:r>
              <a:rPr lang="en-US" sz="800" spc="130" kern="0" dirty="0">
                <a:solidFill>
                  <a:srgbClr val="6C7683"/>
                </a:solidFill>
                <a:latin typeface="Poppins SemiBold" pitchFamily="34" charset="0"/>
                <a:ea typeface="Poppins SemiBold" pitchFamily="34" charset="-122"/>
                <a:cs typeface="Poppins SemiBold" pitchFamily="34" charset="-120"/>
              </a:rPr>
              <a:t>START OF CONTRACT</a:t>
            </a:r>
            <a:endParaRPr lang="en-US" sz="800" dirty="0"/>
          </a:p>
        </p:txBody>
      </p:sp>
      <p:sp>
        <p:nvSpPr>
          <p:cNvPr id="24" name="Text 20"/>
          <p:cNvSpPr/>
          <p:nvPr/>
        </p:nvSpPr>
        <p:spPr>
          <a:xfrm>
            <a:off x="3621024" y="2240280"/>
            <a:ext cx="3434944" cy="365760"/>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BRL [XXX]k</a:t>
            </a:r>
            <a:endParaRPr lang="en-US" sz="1600" dirty="0"/>
          </a:p>
        </p:txBody>
      </p:sp>
      <p:sp>
        <p:nvSpPr>
          <p:cNvPr id="25" name="Text 21"/>
          <p:cNvSpPr/>
          <p:nvPr/>
        </p:nvSpPr>
        <p:spPr>
          <a:xfrm>
            <a:off x="3621024" y="2587752"/>
            <a:ext cx="3434944" cy="20116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value</a:t>
            </a:r>
            <a:endParaRPr lang="en-US" sz="800" dirty="0"/>
          </a:p>
        </p:txBody>
      </p:sp>
      <p:sp>
        <p:nvSpPr>
          <p:cNvPr id="26" name="Text 22"/>
          <p:cNvSpPr/>
          <p:nvPr/>
        </p:nvSpPr>
        <p:spPr>
          <a:xfrm>
            <a:off x="3621024" y="2825496"/>
            <a:ext cx="3434944" cy="274320"/>
          </a:xfrm>
          <a:prstGeom prst="rect">
            <a:avLst/>
          </a:prstGeom>
          <a:noFill/>
          <a:ln/>
        </p:spPr>
        <p:txBody>
          <a:bodyPr wrap="square" lIns="0" tIns="0" rIns="0" bIns="0" rtlCol="0" anchor="ctr"/>
          <a:lstStyle/>
          <a:p>
            <a:pPr indent="0" marL="0">
              <a:buNone/>
            </a:pPr>
            <a:r>
              <a:rPr lang="en-US" sz="1200" dirty="0">
                <a:solidFill>
                  <a:srgbClr val="C6470F"/>
                </a:solidFill>
                <a:latin typeface="Poppins SemiBold" pitchFamily="34" charset="0"/>
                <a:ea typeface="Poppins SemiBold" pitchFamily="34" charset="-122"/>
                <a:cs typeface="Poppins SemiBold" pitchFamily="34" charset="-120"/>
              </a:rPr>
              <a:t>[X] months</a:t>
            </a:r>
            <a:endParaRPr lang="en-US" sz="1200" dirty="0"/>
          </a:p>
        </p:txBody>
      </p:sp>
      <p:sp>
        <p:nvSpPr>
          <p:cNvPr id="27" name="Text 23"/>
          <p:cNvSpPr/>
          <p:nvPr/>
        </p:nvSpPr>
        <p:spPr>
          <a:xfrm>
            <a:off x="4754880" y="2825496"/>
            <a:ext cx="235595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term</a:t>
            </a:r>
            <a:endParaRPr lang="en-US" sz="800" dirty="0"/>
          </a:p>
        </p:txBody>
      </p:sp>
      <p:sp>
        <p:nvSpPr>
          <p:cNvPr id="28" name="Shape 24"/>
          <p:cNvSpPr/>
          <p:nvPr/>
        </p:nvSpPr>
        <p:spPr>
          <a:xfrm>
            <a:off x="7549744" y="1783080"/>
            <a:ext cx="3910432" cy="1572768"/>
          </a:xfrm>
          <a:prstGeom prst="roundRect">
            <a:avLst>
              <a:gd name="adj" fmla="val 5233"/>
            </a:avLst>
          </a:prstGeom>
          <a:solidFill>
            <a:srgbClr val="FDE9DE"/>
          </a:solidFill>
          <a:ln/>
        </p:spPr>
      </p:sp>
      <p:sp>
        <p:nvSpPr>
          <p:cNvPr id="29" name="Text 25"/>
          <p:cNvSpPr/>
          <p:nvPr/>
        </p:nvSpPr>
        <p:spPr>
          <a:xfrm>
            <a:off x="7787488" y="1965960"/>
            <a:ext cx="3434944" cy="219456"/>
          </a:xfrm>
          <a:prstGeom prst="rect">
            <a:avLst/>
          </a:prstGeom>
          <a:noFill/>
          <a:ln/>
        </p:spPr>
        <p:txBody>
          <a:bodyPr wrap="square" lIns="0" tIns="0" rIns="0" bIns="0" rtlCol="0" anchor="ctr"/>
          <a:lstStyle/>
          <a:p>
            <a:pPr indent="0" marL="0">
              <a:buNone/>
            </a:pPr>
            <a:r>
              <a:rPr lang="en-US" sz="800" spc="130" kern="0" dirty="0">
                <a:solidFill>
                  <a:srgbClr val="C6470F"/>
                </a:solidFill>
                <a:latin typeface="Poppins SemiBold" pitchFamily="34" charset="0"/>
                <a:ea typeface="Poppins SemiBold" pitchFamily="34" charset="-122"/>
                <a:cs typeface="Poppins SemiBold" pitchFamily="34" charset="-120"/>
              </a:rPr>
              <a:t>CURRENT CONTRACT</a:t>
            </a:r>
            <a:endParaRPr lang="en-US" sz="800" dirty="0"/>
          </a:p>
        </p:txBody>
      </p:sp>
      <p:sp>
        <p:nvSpPr>
          <p:cNvPr id="30" name="Text 26"/>
          <p:cNvSpPr/>
          <p:nvPr/>
        </p:nvSpPr>
        <p:spPr>
          <a:xfrm>
            <a:off x="7787488" y="2240280"/>
            <a:ext cx="3434944" cy="365760"/>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BRL [XXX] Mn</a:t>
            </a:r>
            <a:endParaRPr lang="en-US" sz="1600" dirty="0"/>
          </a:p>
        </p:txBody>
      </p:sp>
      <p:sp>
        <p:nvSpPr>
          <p:cNvPr id="31" name="Text 27"/>
          <p:cNvSpPr/>
          <p:nvPr/>
        </p:nvSpPr>
        <p:spPr>
          <a:xfrm>
            <a:off x="7787488" y="2587752"/>
            <a:ext cx="3434944" cy="20116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value</a:t>
            </a:r>
            <a:endParaRPr lang="en-US" sz="800" dirty="0"/>
          </a:p>
        </p:txBody>
      </p:sp>
      <p:sp>
        <p:nvSpPr>
          <p:cNvPr id="32" name="Text 28"/>
          <p:cNvSpPr/>
          <p:nvPr/>
        </p:nvSpPr>
        <p:spPr>
          <a:xfrm>
            <a:off x="7787488" y="2825496"/>
            <a:ext cx="3434944" cy="274320"/>
          </a:xfrm>
          <a:prstGeom prst="rect">
            <a:avLst/>
          </a:prstGeom>
          <a:noFill/>
          <a:ln/>
        </p:spPr>
        <p:txBody>
          <a:bodyPr wrap="square" lIns="0" tIns="0" rIns="0" bIns="0" rtlCol="0" anchor="ctr"/>
          <a:lstStyle/>
          <a:p>
            <a:pPr indent="0" marL="0">
              <a:buNone/>
            </a:pPr>
            <a:r>
              <a:rPr lang="en-US" sz="1200" dirty="0">
                <a:solidFill>
                  <a:srgbClr val="C6470F"/>
                </a:solidFill>
                <a:latin typeface="Poppins SemiBold" pitchFamily="34" charset="0"/>
                <a:ea typeface="Poppins SemiBold" pitchFamily="34" charset="-122"/>
                <a:cs typeface="Poppins SemiBold" pitchFamily="34" charset="-120"/>
              </a:rPr>
              <a:t>[X] years</a:t>
            </a:r>
            <a:endParaRPr lang="en-US" sz="1200" dirty="0"/>
          </a:p>
        </p:txBody>
      </p:sp>
      <p:sp>
        <p:nvSpPr>
          <p:cNvPr id="33" name="Text 29"/>
          <p:cNvSpPr/>
          <p:nvPr/>
        </p:nvSpPr>
        <p:spPr>
          <a:xfrm>
            <a:off x="8921344" y="2825496"/>
            <a:ext cx="235595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term</a:t>
            </a:r>
            <a:endParaRPr lang="en-US" sz="800" dirty="0"/>
          </a:p>
        </p:txBody>
      </p:sp>
      <p:sp>
        <p:nvSpPr>
          <p:cNvPr id="34" name="Text 30"/>
          <p:cNvSpPr/>
          <p:nvPr/>
        </p:nvSpPr>
        <p:spPr>
          <a:xfrm>
            <a:off x="3383280" y="3575304"/>
            <a:ext cx="8076895"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RELATIONSHIP TIMELINE</a:t>
            </a:r>
            <a:endParaRPr lang="en-US" sz="800" dirty="0"/>
          </a:p>
        </p:txBody>
      </p:sp>
      <p:sp>
        <p:nvSpPr>
          <p:cNvPr id="35" name="Shape 31"/>
          <p:cNvSpPr/>
          <p:nvPr/>
        </p:nvSpPr>
        <p:spPr>
          <a:xfrm>
            <a:off x="3474720" y="4178808"/>
            <a:ext cx="7711135" cy="22860"/>
          </a:xfrm>
          <a:prstGeom prst="rect">
            <a:avLst/>
          </a:prstGeom>
          <a:solidFill>
            <a:srgbClr val="E2E6EB"/>
          </a:solidFill>
          <a:ln/>
        </p:spPr>
      </p:sp>
      <p:sp>
        <p:nvSpPr>
          <p:cNvPr id="36" name="Shape 32"/>
          <p:cNvSpPr/>
          <p:nvPr/>
        </p:nvSpPr>
        <p:spPr>
          <a:xfrm>
            <a:off x="3406140" y="4114800"/>
            <a:ext cx="137160" cy="137160"/>
          </a:xfrm>
          <a:prstGeom prst="ellipse">
            <a:avLst/>
          </a:prstGeom>
          <a:solidFill>
            <a:srgbClr val="F35B1A"/>
          </a:solidFill>
          <a:ln/>
        </p:spPr>
      </p:sp>
      <p:sp>
        <p:nvSpPr>
          <p:cNvPr id="37" name="Text 33"/>
          <p:cNvSpPr/>
          <p:nvPr/>
        </p:nvSpPr>
        <p:spPr>
          <a:xfrm>
            <a:off x="3017520"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38" name="Text 34"/>
          <p:cNvSpPr/>
          <p:nvPr/>
        </p:nvSpPr>
        <p:spPr>
          <a:xfrm>
            <a:off x="2907792"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39" name="Shape 35"/>
          <p:cNvSpPr/>
          <p:nvPr/>
        </p:nvSpPr>
        <p:spPr>
          <a:xfrm>
            <a:off x="5707971" y="4114800"/>
            <a:ext cx="137160" cy="137160"/>
          </a:xfrm>
          <a:prstGeom prst="ellipse">
            <a:avLst/>
          </a:prstGeom>
          <a:solidFill>
            <a:srgbClr val="F35B1A"/>
          </a:solidFill>
          <a:ln/>
        </p:spPr>
      </p:sp>
      <p:sp>
        <p:nvSpPr>
          <p:cNvPr id="40" name="Text 36"/>
          <p:cNvSpPr/>
          <p:nvPr/>
        </p:nvSpPr>
        <p:spPr>
          <a:xfrm>
            <a:off x="5319351"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1" name="Text 37"/>
          <p:cNvSpPr/>
          <p:nvPr/>
        </p:nvSpPr>
        <p:spPr>
          <a:xfrm>
            <a:off x="5209623"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2" name="Shape 38"/>
          <p:cNvSpPr/>
          <p:nvPr/>
        </p:nvSpPr>
        <p:spPr>
          <a:xfrm>
            <a:off x="8009803" y="4114800"/>
            <a:ext cx="137160" cy="137160"/>
          </a:xfrm>
          <a:prstGeom prst="ellipse">
            <a:avLst/>
          </a:prstGeom>
          <a:solidFill>
            <a:srgbClr val="F35B1A"/>
          </a:solidFill>
          <a:ln/>
        </p:spPr>
      </p:sp>
      <p:sp>
        <p:nvSpPr>
          <p:cNvPr id="43" name="Text 39"/>
          <p:cNvSpPr/>
          <p:nvPr/>
        </p:nvSpPr>
        <p:spPr>
          <a:xfrm>
            <a:off x="7621183"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4" name="Text 40"/>
          <p:cNvSpPr/>
          <p:nvPr/>
        </p:nvSpPr>
        <p:spPr>
          <a:xfrm>
            <a:off x="7511455"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5" name="Shape 41"/>
          <p:cNvSpPr/>
          <p:nvPr/>
        </p:nvSpPr>
        <p:spPr>
          <a:xfrm>
            <a:off x="10311634" y="4114800"/>
            <a:ext cx="137160" cy="137160"/>
          </a:xfrm>
          <a:prstGeom prst="ellipse">
            <a:avLst/>
          </a:prstGeom>
          <a:solidFill>
            <a:srgbClr val="F35B1A"/>
          </a:solidFill>
          <a:ln/>
        </p:spPr>
      </p:sp>
      <p:sp>
        <p:nvSpPr>
          <p:cNvPr id="46" name="Text 42"/>
          <p:cNvSpPr/>
          <p:nvPr/>
        </p:nvSpPr>
        <p:spPr>
          <a:xfrm>
            <a:off x="9923014"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7" name="Text 43"/>
          <p:cNvSpPr/>
          <p:nvPr/>
        </p:nvSpPr>
        <p:spPr>
          <a:xfrm>
            <a:off x="9813286"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8" name="Shape 44"/>
          <p:cNvSpPr/>
          <p:nvPr/>
        </p:nvSpPr>
        <p:spPr>
          <a:xfrm>
            <a:off x="3383280" y="4928616"/>
            <a:ext cx="8076895" cy="731520"/>
          </a:xfrm>
          <a:prstGeom prst="roundRect">
            <a:avLst>
              <a:gd name="adj" fmla="val 10000"/>
            </a:avLst>
          </a:prstGeom>
          <a:solidFill>
            <a:srgbClr val="F4F6F8"/>
          </a:solidFill>
          <a:ln w="12700">
            <a:solidFill>
              <a:srgbClr val="E2E6EB"/>
            </a:solidFill>
            <a:prstDash val="solid"/>
          </a:ln>
        </p:spPr>
      </p:sp>
      <p:sp>
        <p:nvSpPr>
          <p:cNvPr id="49" name="Text 45"/>
          <p:cNvSpPr/>
          <p:nvPr/>
        </p:nvSpPr>
        <p:spPr>
          <a:xfrm>
            <a:off x="3621024" y="5038344"/>
            <a:ext cx="7601407" cy="237744"/>
          </a:xfrm>
          <a:prstGeom prst="rect">
            <a:avLst/>
          </a:prstGeom>
          <a:noFill/>
          <a:ln/>
        </p:spPr>
        <p:txBody>
          <a:bodyPr wrap="square" lIns="0" tIns="0" rIns="0" bIns="0" rtlCol="0" anchor="ctr"/>
          <a:lstStyle/>
          <a:p>
            <a:pPr indent="0" marL="0">
              <a:buNone/>
            </a:pPr>
            <a:r>
              <a:rPr lang="en-US" sz="900" dirty="0">
                <a:solidFill>
                  <a:srgbClr val="C6470F"/>
                </a:solidFill>
                <a:latin typeface="Poppins Medium" pitchFamily="34" charset="0"/>
                <a:ea typeface="Poppins Medium" pitchFamily="34" charset="-122"/>
                <a:cs typeface="Poppins Medium" pitchFamily="34" charset="-120"/>
              </a:rPr>
              <a:t>[Service scope — to be confirmed with the Company]</a:t>
            </a:r>
            <a:endParaRPr lang="en-US" sz="900" dirty="0"/>
          </a:p>
        </p:txBody>
      </p:sp>
      <p:sp>
        <p:nvSpPr>
          <p:cNvPr id="50" name="Text 46"/>
          <p:cNvSpPr/>
          <p:nvPr/>
        </p:nvSpPr>
        <p:spPr>
          <a:xfrm>
            <a:off x="3621024" y="5276088"/>
            <a:ext cx="7601407"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[Relationship highlights, contracted routes and headcount served to be confirmed]</a:t>
            </a:r>
            <a:endParaRPr lang="en-US" sz="800" dirty="0"/>
          </a:p>
        </p:txBody>
      </p:sp>
      <p:sp>
        <p:nvSpPr>
          <p:cNvPr id="51" name="Shape 47"/>
          <p:cNvSpPr/>
          <p:nvPr/>
        </p:nvSpPr>
        <p:spPr>
          <a:xfrm>
            <a:off x="0" y="6172200"/>
            <a:ext cx="12191695" cy="685800"/>
          </a:xfrm>
          <a:prstGeom prst="rect">
            <a:avLst/>
          </a:prstGeom>
          <a:solidFill>
            <a:srgbClr val="141A24"/>
          </a:solidFill>
          <a:ln/>
        </p:spPr>
      </p:sp>
      <p:sp>
        <p:nvSpPr>
          <p:cNvPr id="52" name="Shape 48"/>
          <p:cNvSpPr/>
          <p:nvPr/>
        </p:nvSpPr>
        <p:spPr>
          <a:xfrm>
            <a:off x="0" y="6172200"/>
            <a:ext cx="118872" cy="685800"/>
          </a:xfrm>
          <a:prstGeom prst="rect">
            <a:avLst/>
          </a:prstGeom>
          <a:solidFill>
            <a:srgbClr val="F35B1A"/>
          </a:solidFill>
          <a:ln/>
        </p:spPr>
      </p:sp>
      <p:sp>
        <p:nvSpPr>
          <p:cNvPr id="53" name="Text 49"/>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long-standing relationship</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with JBS — details to be confirmed with the Company</a:t>
            </a:r>
            <a:endParaRPr lang="en-US" sz="1200" dirty="0"/>
          </a:p>
        </p:txBody>
      </p:sp>
      <p:pic>
        <p:nvPicPr>
          <p:cNvPr id="54" name="Image 2" descr="assets/igc_white.png">    </p:cNvPr>
          <p:cNvPicPr>
            <a:picLocks noChangeAspect="1"/>
          </p:cNvPicPr>
          <p:nvPr/>
        </p:nvPicPr>
        <p:blipFill>
          <a:blip r:embed="rId3"/>
          <a:stretch>
            <a:fillRect/>
          </a:stretch>
        </p:blipFill>
        <p:spPr>
          <a:xfrm>
            <a:off x="731520" y="6387084"/>
            <a:ext cx="274320" cy="237134"/>
          </a:xfrm>
          <a:prstGeom prst="rect">
            <a:avLst/>
          </a:prstGeom>
        </p:spPr>
      </p:pic>
      <p:sp>
        <p:nvSpPr>
          <p:cNvPr id="55" name="Text 50"/>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21</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Success case: Votorantim Cimentos operation</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An illustrative long-term client relationship — contract values, terms and milestones to be confirmed with the Company</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 relationship details, contract values and milestone dates to be confirmed with management.</a:t>
            </a:r>
            <a:endParaRPr lang="en-US" sz="700" dirty="0"/>
          </a:p>
        </p:txBody>
      </p:sp>
      <p:sp>
        <p:nvSpPr>
          <p:cNvPr id="8" name="Shape 5"/>
          <p:cNvSpPr/>
          <p:nvPr/>
        </p:nvSpPr>
        <p:spPr>
          <a:xfrm>
            <a:off x="731520" y="1783080"/>
            <a:ext cx="2286000" cy="3913632"/>
          </a:xfrm>
          <a:prstGeom prst="roundRect">
            <a:avLst>
              <a:gd name="adj" fmla="val 4000"/>
            </a:avLst>
          </a:prstGeom>
          <a:solidFill>
            <a:srgbClr val="141A24"/>
          </a:solidFill>
          <a:ln/>
        </p:spPr>
      </p:sp>
      <p:sp>
        <p:nvSpPr>
          <p:cNvPr id="9" name="Text 6"/>
          <p:cNvSpPr/>
          <p:nvPr/>
        </p:nvSpPr>
        <p:spPr>
          <a:xfrm>
            <a:off x="969264" y="2002536"/>
            <a:ext cx="1810512"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SUCCESS CASES</a:t>
            </a:r>
            <a:endParaRPr lang="en-US" sz="800" dirty="0"/>
          </a:p>
        </p:txBody>
      </p:sp>
      <p:sp>
        <p:nvSpPr>
          <p:cNvPr id="10" name="Shape 7"/>
          <p:cNvSpPr/>
          <p:nvPr/>
        </p:nvSpPr>
        <p:spPr>
          <a:xfrm rot="5400000">
            <a:off x="1005840" y="2670048"/>
            <a:ext cx="137160" cy="137160"/>
          </a:xfrm>
          <a:prstGeom prst="triangle">
            <a:avLst/>
          </a:prstGeom>
          <a:solidFill>
            <a:srgbClr val="4A5563"/>
          </a:solidFill>
          <a:ln/>
        </p:spPr>
      </p:sp>
      <p:sp>
        <p:nvSpPr>
          <p:cNvPr id="11" name="Text 8"/>
          <p:cNvSpPr/>
          <p:nvPr/>
        </p:nvSpPr>
        <p:spPr>
          <a:xfrm>
            <a:off x="1243584" y="2459736"/>
            <a:ext cx="1572768" cy="274320"/>
          </a:xfrm>
          <a:prstGeom prst="rect">
            <a:avLst/>
          </a:prstGeom>
          <a:noFill/>
          <a:ln/>
        </p:spPr>
        <p:txBody>
          <a:bodyPr wrap="square" lIns="0" tIns="0" rIns="0" bIns="0" rtlCol="0" anchor="ctr"/>
          <a:lstStyle/>
          <a:p>
            <a:pPr indent="0" marL="0">
              <a:buNone/>
            </a:pPr>
            <a:r>
              <a:rPr lang="en-US" sz="1000" dirty="0">
                <a:solidFill>
                  <a:srgbClr val="8B95A5"/>
                </a:solidFill>
                <a:latin typeface="Poppins Medium" pitchFamily="34" charset="0"/>
                <a:ea typeface="Poppins Medium" pitchFamily="34" charset="-122"/>
                <a:cs typeface="Poppins Medium" pitchFamily="34" charset="-120"/>
              </a:rPr>
              <a:t>Cargill</a:t>
            </a:r>
            <a:endParaRPr lang="en-US" sz="1000" dirty="0"/>
          </a:p>
        </p:txBody>
      </p:sp>
      <p:sp>
        <p:nvSpPr>
          <p:cNvPr id="12" name="Text 9"/>
          <p:cNvSpPr/>
          <p:nvPr/>
        </p:nvSpPr>
        <p:spPr>
          <a:xfrm>
            <a:off x="1243584" y="2715768"/>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5C6674"/>
                </a:solidFill>
                <a:latin typeface="Poppins" pitchFamily="34" charset="0"/>
                <a:ea typeface="Poppins" pitchFamily="34" charset="-122"/>
                <a:cs typeface="Poppins" pitchFamily="34" charset="-120"/>
              </a:rPr>
              <a:t>Agribusiness &amp; food ingredients</a:t>
            </a:r>
            <a:endParaRPr lang="en-US" sz="750" dirty="0"/>
          </a:p>
        </p:txBody>
      </p:sp>
      <p:sp>
        <p:nvSpPr>
          <p:cNvPr id="13" name="Shape 10"/>
          <p:cNvSpPr/>
          <p:nvPr/>
        </p:nvSpPr>
        <p:spPr>
          <a:xfrm rot="5400000">
            <a:off x="1005840" y="3511296"/>
            <a:ext cx="137160" cy="137160"/>
          </a:xfrm>
          <a:prstGeom prst="triangle">
            <a:avLst/>
          </a:prstGeom>
          <a:solidFill>
            <a:srgbClr val="4A5563"/>
          </a:solidFill>
          <a:ln/>
        </p:spPr>
      </p:sp>
      <p:sp>
        <p:nvSpPr>
          <p:cNvPr id="14" name="Text 11"/>
          <p:cNvSpPr/>
          <p:nvPr/>
        </p:nvSpPr>
        <p:spPr>
          <a:xfrm>
            <a:off x="1243584" y="3300984"/>
            <a:ext cx="1572768" cy="274320"/>
          </a:xfrm>
          <a:prstGeom prst="rect">
            <a:avLst/>
          </a:prstGeom>
          <a:noFill/>
          <a:ln/>
        </p:spPr>
        <p:txBody>
          <a:bodyPr wrap="square" lIns="0" tIns="0" rIns="0" bIns="0" rtlCol="0" anchor="ctr"/>
          <a:lstStyle/>
          <a:p>
            <a:pPr indent="0" marL="0">
              <a:buNone/>
            </a:pPr>
            <a:r>
              <a:rPr lang="en-US" sz="1000" dirty="0">
                <a:solidFill>
                  <a:srgbClr val="8B95A5"/>
                </a:solidFill>
                <a:latin typeface="Poppins Medium" pitchFamily="34" charset="0"/>
                <a:ea typeface="Poppins Medium" pitchFamily="34" charset="-122"/>
                <a:cs typeface="Poppins Medium" pitchFamily="34" charset="-120"/>
              </a:rPr>
              <a:t>JBS</a:t>
            </a:r>
            <a:endParaRPr lang="en-US" sz="1000" dirty="0"/>
          </a:p>
        </p:txBody>
      </p:sp>
      <p:sp>
        <p:nvSpPr>
          <p:cNvPr id="15" name="Text 12"/>
          <p:cNvSpPr/>
          <p:nvPr/>
        </p:nvSpPr>
        <p:spPr>
          <a:xfrm>
            <a:off x="1243584" y="3557016"/>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5C6674"/>
                </a:solidFill>
                <a:latin typeface="Poppins" pitchFamily="34" charset="0"/>
                <a:ea typeface="Poppins" pitchFamily="34" charset="-122"/>
                <a:cs typeface="Poppins" pitchFamily="34" charset="-120"/>
              </a:rPr>
              <a:t>Protein &amp; food processing</a:t>
            </a:r>
            <a:endParaRPr lang="en-US" sz="750" dirty="0"/>
          </a:p>
        </p:txBody>
      </p:sp>
      <p:sp>
        <p:nvSpPr>
          <p:cNvPr id="16" name="Shape 13"/>
          <p:cNvSpPr/>
          <p:nvPr/>
        </p:nvSpPr>
        <p:spPr>
          <a:xfrm>
            <a:off x="877824" y="4069080"/>
            <a:ext cx="1993392" cy="713232"/>
          </a:xfrm>
          <a:prstGeom prst="roundRect">
            <a:avLst>
              <a:gd name="adj" fmla="val 8974"/>
            </a:avLst>
          </a:prstGeom>
          <a:solidFill>
            <a:srgbClr val="F35B1A"/>
          </a:solidFill>
          <a:ln/>
        </p:spPr>
      </p:sp>
      <p:sp>
        <p:nvSpPr>
          <p:cNvPr id="17" name="Shape 14"/>
          <p:cNvSpPr/>
          <p:nvPr/>
        </p:nvSpPr>
        <p:spPr>
          <a:xfrm rot="5400000">
            <a:off x="1005840" y="4352544"/>
            <a:ext cx="137160" cy="137160"/>
          </a:xfrm>
          <a:prstGeom prst="triangle">
            <a:avLst/>
          </a:prstGeom>
          <a:solidFill>
            <a:srgbClr val="FFFFFF"/>
          </a:solidFill>
          <a:ln/>
        </p:spPr>
      </p:sp>
      <p:sp>
        <p:nvSpPr>
          <p:cNvPr id="18" name="Text 15"/>
          <p:cNvSpPr/>
          <p:nvPr/>
        </p:nvSpPr>
        <p:spPr>
          <a:xfrm>
            <a:off x="1243584" y="4142232"/>
            <a:ext cx="1572768" cy="274320"/>
          </a:xfrm>
          <a:prstGeom prst="rect">
            <a:avLst/>
          </a:prstGeom>
          <a:noFill/>
          <a:ln/>
        </p:spPr>
        <p:txBody>
          <a:bodyPr wrap="square" lIns="0" tIns="0" rIns="0" bIns="0" rtlCol="0" anchor="ctr"/>
          <a:lstStyle/>
          <a:p>
            <a:pPr indent="0" marL="0">
              <a:buNone/>
            </a:pPr>
            <a:r>
              <a:rPr lang="en-US" sz="1000" dirty="0">
                <a:solidFill>
                  <a:srgbClr val="FFFFFF"/>
                </a:solidFill>
                <a:latin typeface="Poppins SemiBold" pitchFamily="34" charset="0"/>
                <a:ea typeface="Poppins SemiBold" pitchFamily="34" charset="-122"/>
                <a:cs typeface="Poppins SemiBold" pitchFamily="34" charset="-120"/>
              </a:rPr>
              <a:t>Votorantim Cimentos</a:t>
            </a:r>
            <a:endParaRPr lang="en-US" sz="1000" dirty="0"/>
          </a:p>
        </p:txBody>
      </p:sp>
      <p:sp>
        <p:nvSpPr>
          <p:cNvPr id="19" name="Text 16"/>
          <p:cNvSpPr/>
          <p:nvPr/>
        </p:nvSpPr>
        <p:spPr>
          <a:xfrm>
            <a:off x="1243584" y="4398264"/>
            <a:ext cx="1572768" cy="292608"/>
          </a:xfrm>
          <a:prstGeom prst="rect">
            <a:avLst/>
          </a:prstGeom>
          <a:noFill/>
          <a:ln/>
        </p:spPr>
        <p:txBody>
          <a:bodyPr wrap="square" lIns="0" tIns="0" rIns="0" bIns="0" rtlCol="0" anchor="t"/>
          <a:lstStyle/>
          <a:p>
            <a:pPr indent="0" marL="0">
              <a:lnSpc>
                <a:spcPct val="110000"/>
              </a:lnSpc>
              <a:buNone/>
            </a:pPr>
            <a:r>
              <a:rPr lang="en-US" sz="750" dirty="0">
                <a:solidFill>
                  <a:srgbClr val="FBD9C6"/>
                </a:solidFill>
                <a:latin typeface="Poppins" pitchFamily="34" charset="0"/>
                <a:ea typeface="Poppins" pitchFamily="34" charset="-122"/>
                <a:cs typeface="Poppins" pitchFamily="34" charset="-120"/>
              </a:rPr>
              <a:t>Cement &amp; building materials</a:t>
            </a:r>
            <a:endParaRPr lang="en-US" sz="750" dirty="0"/>
          </a:p>
        </p:txBody>
      </p:sp>
      <p:sp>
        <p:nvSpPr>
          <p:cNvPr id="20" name="Shape 17"/>
          <p:cNvSpPr/>
          <p:nvPr/>
        </p:nvSpPr>
        <p:spPr>
          <a:xfrm>
            <a:off x="969264" y="4782312"/>
            <a:ext cx="1810512" cy="676656"/>
          </a:xfrm>
          <a:prstGeom prst="roundRect">
            <a:avLst>
              <a:gd name="adj" fmla="val 9459"/>
            </a:avLst>
          </a:prstGeom>
          <a:solidFill>
            <a:srgbClr val="FFFFFF"/>
          </a:solidFill>
          <a:ln/>
        </p:spPr>
      </p:sp>
      <p:pic>
        <p:nvPicPr>
          <p:cNvPr id="21" name="Image 1" descr="assets/cli_votorantim.png">    </p:cNvPr>
          <p:cNvPicPr>
            <a:picLocks noChangeAspect="1"/>
          </p:cNvPicPr>
          <p:nvPr/>
        </p:nvPicPr>
        <p:blipFill>
          <a:blip r:embed="rId2"/>
          <a:stretch>
            <a:fillRect/>
          </a:stretch>
        </p:blipFill>
        <p:spPr>
          <a:xfrm>
            <a:off x="1078992" y="4911977"/>
            <a:ext cx="1591056" cy="417326"/>
          </a:xfrm>
          <a:prstGeom prst="rect">
            <a:avLst/>
          </a:prstGeom>
        </p:spPr>
      </p:pic>
      <p:sp>
        <p:nvSpPr>
          <p:cNvPr id="22" name="Shape 18"/>
          <p:cNvSpPr/>
          <p:nvPr/>
        </p:nvSpPr>
        <p:spPr>
          <a:xfrm>
            <a:off x="3383280" y="1783080"/>
            <a:ext cx="3910432" cy="1572768"/>
          </a:xfrm>
          <a:prstGeom prst="roundRect">
            <a:avLst>
              <a:gd name="adj" fmla="val 5233"/>
            </a:avLst>
          </a:prstGeom>
          <a:solidFill>
            <a:srgbClr val="F4F6F8"/>
          </a:solidFill>
          <a:ln w="12700">
            <a:solidFill>
              <a:srgbClr val="E2E6EB"/>
            </a:solidFill>
            <a:prstDash val="solid"/>
          </a:ln>
        </p:spPr>
      </p:sp>
      <p:sp>
        <p:nvSpPr>
          <p:cNvPr id="23" name="Text 19"/>
          <p:cNvSpPr/>
          <p:nvPr/>
        </p:nvSpPr>
        <p:spPr>
          <a:xfrm>
            <a:off x="3621024" y="1965960"/>
            <a:ext cx="3434944" cy="219456"/>
          </a:xfrm>
          <a:prstGeom prst="rect">
            <a:avLst/>
          </a:prstGeom>
          <a:noFill/>
          <a:ln/>
        </p:spPr>
        <p:txBody>
          <a:bodyPr wrap="square" lIns="0" tIns="0" rIns="0" bIns="0" rtlCol="0" anchor="ctr"/>
          <a:lstStyle/>
          <a:p>
            <a:pPr indent="0" marL="0">
              <a:buNone/>
            </a:pPr>
            <a:r>
              <a:rPr lang="en-US" sz="800" spc="130" kern="0" dirty="0">
                <a:solidFill>
                  <a:srgbClr val="6C7683"/>
                </a:solidFill>
                <a:latin typeface="Poppins SemiBold" pitchFamily="34" charset="0"/>
                <a:ea typeface="Poppins SemiBold" pitchFamily="34" charset="-122"/>
                <a:cs typeface="Poppins SemiBold" pitchFamily="34" charset="-120"/>
              </a:rPr>
              <a:t>START OF CONTRACT</a:t>
            </a:r>
            <a:endParaRPr lang="en-US" sz="800" dirty="0"/>
          </a:p>
        </p:txBody>
      </p:sp>
      <p:sp>
        <p:nvSpPr>
          <p:cNvPr id="24" name="Text 20"/>
          <p:cNvSpPr/>
          <p:nvPr/>
        </p:nvSpPr>
        <p:spPr>
          <a:xfrm>
            <a:off x="3621024" y="2240280"/>
            <a:ext cx="3434944" cy="365760"/>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BRL [XXX]k</a:t>
            </a:r>
            <a:endParaRPr lang="en-US" sz="1600" dirty="0"/>
          </a:p>
        </p:txBody>
      </p:sp>
      <p:sp>
        <p:nvSpPr>
          <p:cNvPr id="25" name="Text 21"/>
          <p:cNvSpPr/>
          <p:nvPr/>
        </p:nvSpPr>
        <p:spPr>
          <a:xfrm>
            <a:off x="3621024" y="2587752"/>
            <a:ext cx="3434944" cy="20116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value</a:t>
            </a:r>
            <a:endParaRPr lang="en-US" sz="800" dirty="0"/>
          </a:p>
        </p:txBody>
      </p:sp>
      <p:sp>
        <p:nvSpPr>
          <p:cNvPr id="26" name="Text 22"/>
          <p:cNvSpPr/>
          <p:nvPr/>
        </p:nvSpPr>
        <p:spPr>
          <a:xfrm>
            <a:off x="3621024" y="2825496"/>
            <a:ext cx="3434944" cy="274320"/>
          </a:xfrm>
          <a:prstGeom prst="rect">
            <a:avLst/>
          </a:prstGeom>
          <a:noFill/>
          <a:ln/>
        </p:spPr>
        <p:txBody>
          <a:bodyPr wrap="square" lIns="0" tIns="0" rIns="0" bIns="0" rtlCol="0" anchor="ctr"/>
          <a:lstStyle/>
          <a:p>
            <a:pPr indent="0" marL="0">
              <a:buNone/>
            </a:pPr>
            <a:r>
              <a:rPr lang="en-US" sz="1200" dirty="0">
                <a:solidFill>
                  <a:srgbClr val="C6470F"/>
                </a:solidFill>
                <a:latin typeface="Poppins SemiBold" pitchFamily="34" charset="0"/>
                <a:ea typeface="Poppins SemiBold" pitchFamily="34" charset="-122"/>
                <a:cs typeface="Poppins SemiBold" pitchFamily="34" charset="-120"/>
              </a:rPr>
              <a:t>[X] months</a:t>
            </a:r>
            <a:endParaRPr lang="en-US" sz="1200" dirty="0"/>
          </a:p>
        </p:txBody>
      </p:sp>
      <p:sp>
        <p:nvSpPr>
          <p:cNvPr id="27" name="Text 23"/>
          <p:cNvSpPr/>
          <p:nvPr/>
        </p:nvSpPr>
        <p:spPr>
          <a:xfrm>
            <a:off x="4754880" y="2825496"/>
            <a:ext cx="235595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term</a:t>
            </a:r>
            <a:endParaRPr lang="en-US" sz="800" dirty="0"/>
          </a:p>
        </p:txBody>
      </p:sp>
      <p:sp>
        <p:nvSpPr>
          <p:cNvPr id="28" name="Shape 24"/>
          <p:cNvSpPr/>
          <p:nvPr/>
        </p:nvSpPr>
        <p:spPr>
          <a:xfrm>
            <a:off x="7549744" y="1783080"/>
            <a:ext cx="3910432" cy="1572768"/>
          </a:xfrm>
          <a:prstGeom prst="roundRect">
            <a:avLst>
              <a:gd name="adj" fmla="val 5233"/>
            </a:avLst>
          </a:prstGeom>
          <a:solidFill>
            <a:srgbClr val="FDE9DE"/>
          </a:solidFill>
          <a:ln/>
        </p:spPr>
      </p:sp>
      <p:sp>
        <p:nvSpPr>
          <p:cNvPr id="29" name="Text 25"/>
          <p:cNvSpPr/>
          <p:nvPr/>
        </p:nvSpPr>
        <p:spPr>
          <a:xfrm>
            <a:off x="7787488" y="1965960"/>
            <a:ext cx="3434944" cy="219456"/>
          </a:xfrm>
          <a:prstGeom prst="rect">
            <a:avLst/>
          </a:prstGeom>
          <a:noFill/>
          <a:ln/>
        </p:spPr>
        <p:txBody>
          <a:bodyPr wrap="square" lIns="0" tIns="0" rIns="0" bIns="0" rtlCol="0" anchor="ctr"/>
          <a:lstStyle/>
          <a:p>
            <a:pPr indent="0" marL="0">
              <a:buNone/>
            </a:pPr>
            <a:r>
              <a:rPr lang="en-US" sz="800" spc="130" kern="0" dirty="0">
                <a:solidFill>
                  <a:srgbClr val="C6470F"/>
                </a:solidFill>
                <a:latin typeface="Poppins SemiBold" pitchFamily="34" charset="0"/>
                <a:ea typeface="Poppins SemiBold" pitchFamily="34" charset="-122"/>
                <a:cs typeface="Poppins SemiBold" pitchFamily="34" charset="-120"/>
              </a:rPr>
              <a:t>CURRENT CONTRACT</a:t>
            </a:r>
            <a:endParaRPr lang="en-US" sz="800" dirty="0"/>
          </a:p>
        </p:txBody>
      </p:sp>
      <p:sp>
        <p:nvSpPr>
          <p:cNvPr id="30" name="Text 26"/>
          <p:cNvSpPr/>
          <p:nvPr/>
        </p:nvSpPr>
        <p:spPr>
          <a:xfrm>
            <a:off x="7787488" y="2240280"/>
            <a:ext cx="3434944" cy="365760"/>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BRL [XXX] Mn</a:t>
            </a:r>
            <a:endParaRPr lang="en-US" sz="1600" dirty="0"/>
          </a:p>
        </p:txBody>
      </p:sp>
      <p:sp>
        <p:nvSpPr>
          <p:cNvPr id="31" name="Text 27"/>
          <p:cNvSpPr/>
          <p:nvPr/>
        </p:nvSpPr>
        <p:spPr>
          <a:xfrm>
            <a:off x="7787488" y="2587752"/>
            <a:ext cx="3434944" cy="201168"/>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value</a:t>
            </a:r>
            <a:endParaRPr lang="en-US" sz="800" dirty="0"/>
          </a:p>
        </p:txBody>
      </p:sp>
      <p:sp>
        <p:nvSpPr>
          <p:cNvPr id="32" name="Text 28"/>
          <p:cNvSpPr/>
          <p:nvPr/>
        </p:nvSpPr>
        <p:spPr>
          <a:xfrm>
            <a:off x="7787488" y="2825496"/>
            <a:ext cx="3434944" cy="274320"/>
          </a:xfrm>
          <a:prstGeom prst="rect">
            <a:avLst/>
          </a:prstGeom>
          <a:noFill/>
          <a:ln/>
        </p:spPr>
        <p:txBody>
          <a:bodyPr wrap="square" lIns="0" tIns="0" rIns="0" bIns="0" rtlCol="0" anchor="ctr"/>
          <a:lstStyle/>
          <a:p>
            <a:pPr indent="0" marL="0">
              <a:buNone/>
            </a:pPr>
            <a:r>
              <a:rPr lang="en-US" sz="1200" dirty="0">
                <a:solidFill>
                  <a:srgbClr val="C6470F"/>
                </a:solidFill>
                <a:latin typeface="Poppins SemiBold" pitchFamily="34" charset="0"/>
                <a:ea typeface="Poppins SemiBold" pitchFamily="34" charset="-122"/>
                <a:cs typeface="Poppins SemiBold" pitchFamily="34" charset="-120"/>
              </a:rPr>
              <a:t>[X] years</a:t>
            </a:r>
            <a:endParaRPr lang="en-US" sz="1200" dirty="0"/>
          </a:p>
        </p:txBody>
      </p:sp>
      <p:sp>
        <p:nvSpPr>
          <p:cNvPr id="33" name="Text 29"/>
          <p:cNvSpPr/>
          <p:nvPr/>
        </p:nvSpPr>
        <p:spPr>
          <a:xfrm>
            <a:off x="8921344" y="2825496"/>
            <a:ext cx="2355952"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of total term</a:t>
            </a:r>
            <a:endParaRPr lang="en-US" sz="800" dirty="0"/>
          </a:p>
        </p:txBody>
      </p:sp>
      <p:sp>
        <p:nvSpPr>
          <p:cNvPr id="34" name="Text 30"/>
          <p:cNvSpPr/>
          <p:nvPr/>
        </p:nvSpPr>
        <p:spPr>
          <a:xfrm>
            <a:off x="3383280" y="3575304"/>
            <a:ext cx="8076895"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RELATIONSHIP TIMELINE</a:t>
            </a:r>
            <a:endParaRPr lang="en-US" sz="800" dirty="0"/>
          </a:p>
        </p:txBody>
      </p:sp>
      <p:sp>
        <p:nvSpPr>
          <p:cNvPr id="35" name="Shape 31"/>
          <p:cNvSpPr/>
          <p:nvPr/>
        </p:nvSpPr>
        <p:spPr>
          <a:xfrm>
            <a:off x="3474720" y="4178808"/>
            <a:ext cx="7711135" cy="22860"/>
          </a:xfrm>
          <a:prstGeom prst="rect">
            <a:avLst/>
          </a:prstGeom>
          <a:solidFill>
            <a:srgbClr val="E2E6EB"/>
          </a:solidFill>
          <a:ln/>
        </p:spPr>
      </p:sp>
      <p:sp>
        <p:nvSpPr>
          <p:cNvPr id="36" name="Shape 32"/>
          <p:cNvSpPr/>
          <p:nvPr/>
        </p:nvSpPr>
        <p:spPr>
          <a:xfrm>
            <a:off x="3406140" y="4114800"/>
            <a:ext cx="137160" cy="137160"/>
          </a:xfrm>
          <a:prstGeom prst="ellipse">
            <a:avLst/>
          </a:prstGeom>
          <a:solidFill>
            <a:srgbClr val="F35B1A"/>
          </a:solidFill>
          <a:ln/>
        </p:spPr>
      </p:sp>
      <p:sp>
        <p:nvSpPr>
          <p:cNvPr id="37" name="Text 33"/>
          <p:cNvSpPr/>
          <p:nvPr/>
        </p:nvSpPr>
        <p:spPr>
          <a:xfrm>
            <a:off x="3017520"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38" name="Text 34"/>
          <p:cNvSpPr/>
          <p:nvPr/>
        </p:nvSpPr>
        <p:spPr>
          <a:xfrm>
            <a:off x="2907792"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39" name="Shape 35"/>
          <p:cNvSpPr/>
          <p:nvPr/>
        </p:nvSpPr>
        <p:spPr>
          <a:xfrm>
            <a:off x="5707971" y="4114800"/>
            <a:ext cx="137160" cy="137160"/>
          </a:xfrm>
          <a:prstGeom prst="ellipse">
            <a:avLst/>
          </a:prstGeom>
          <a:solidFill>
            <a:srgbClr val="F35B1A"/>
          </a:solidFill>
          <a:ln/>
        </p:spPr>
      </p:sp>
      <p:sp>
        <p:nvSpPr>
          <p:cNvPr id="40" name="Text 36"/>
          <p:cNvSpPr/>
          <p:nvPr/>
        </p:nvSpPr>
        <p:spPr>
          <a:xfrm>
            <a:off x="5319351"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1" name="Text 37"/>
          <p:cNvSpPr/>
          <p:nvPr/>
        </p:nvSpPr>
        <p:spPr>
          <a:xfrm>
            <a:off x="5209623"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2" name="Shape 38"/>
          <p:cNvSpPr/>
          <p:nvPr/>
        </p:nvSpPr>
        <p:spPr>
          <a:xfrm>
            <a:off x="8009803" y="4114800"/>
            <a:ext cx="137160" cy="137160"/>
          </a:xfrm>
          <a:prstGeom prst="ellipse">
            <a:avLst/>
          </a:prstGeom>
          <a:solidFill>
            <a:srgbClr val="F35B1A"/>
          </a:solidFill>
          <a:ln/>
        </p:spPr>
      </p:sp>
      <p:sp>
        <p:nvSpPr>
          <p:cNvPr id="43" name="Text 39"/>
          <p:cNvSpPr/>
          <p:nvPr/>
        </p:nvSpPr>
        <p:spPr>
          <a:xfrm>
            <a:off x="7621183"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4" name="Text 40"/>
          <p:cNvSpPr/>
          <p:nvPr/>
        </p:nvSpPr>
        <p:spPr>
          <a:xfrm>
            <a:off x="7511455"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5" name="Shape 41"/>
          <p:cNvSpPr/>
          <p:nvPr/>
        </p:nvSpPr>
        <p:spPr>
          <a:xfrm>
            <a:off x="10311634" y="4114800"/>
            <a:ext cx="137160" cy="137160"/>
          </a:xfrm>
          <a:prstGeom prst="ellipse">
            <a:avLst/>
          </a:prstGeom>
          <a:solidFill>
            <a:srgbClr val="F35B1A"/>
          </a:solidFill>
          <a:ln/>
        </p:spPr>
      </p:sp>
      <p:sp>
        <p:nvSpPr>
          <p:cNvPr id="46" name="Text 42"/>
          <p:cNvSpPr/>
          <p:nvPr/>
        </p:nvSpPr>
        <p:spPr>
          <a:xfrm>
            <a:off x="9923014" y="3867912"/>
            <a:ext cx="914400" cy="201168"/>
          </a:xfrm>
          <a:prstGeom prst="rect">
            <a:avLst/>
          </a:prstGeom>
          <a:noFill/>
          <a:ln/>
        </p:spPr>
        <p:txBody>
          <a:bodyPr wrap="square" lIns="0" tIns="0" rIns="0" bIns="0" rtlCol="0" anchor="ctr"/>
          <a:lstStyle/>
          <a:p>
            <a:pPr algn="ctr" indent="0" marL="0">
              <a:buNone/>
            </a:pPr>
            <a:r>
              <a:rPr lang="en-US" sz="800" dirty="0">
                <a:solidFill>
                  <a:srgbClr val="141A24"/>
                </a:solidFill>
                <a:latin typeface="Poppins Medium" pitchFamily="34" charset="0"/>
                <a:ea typeface="Poppins Medium" pitchFamily="34" charset="-122"/>
                <a:cs typeface="Poppins Medium" pitchFamily="34" charset="-120"/>
              </a:rPr>
              <a:t>[Mon-YY]</a:t>
            </a:r>
            <a:endParaRPr lang="en-US" sz="800" dirty="0"/>
          </a:p>
        </p:txBody>
      </p:sp>
      <p:sp>
        <p:nvSpPr>
          <p:cNvPr id="47" name="Text 43"/>
          <p:cNvSpPr/>
          <p:nvPr/>
        </p:nvSpPr>
        <p:spPr>
          <a:xfrm>
            <a:off x="9813286" y="4325112"/>
            <a:ext cx="1133856" cy="402336"/>
          </a:xfrm>
          <a:prstGeom prst="rect">
            <a:avLst/>
          </a:prstGeom>
          <a:noFill/>
          <a:ln/>
        </p:spPr>
        <p:txBody>
          <a:bodyPr wrap="square" lIns="0" tIns="0" rIns="0" bIns="0" rtlCol="0" anchor="t"/>
          <a:lstStyle/>
          <a:p>
            <a:pPr algn="ctr" indent="0" marL="0">
              <a:lnSpc>
                <a:spcPct val="110000"/>
              </a:lnSpc>
              <a:buNone/>
            </a:pPr>
            <a:r>
              <a:rPr lang="en-US" sz="750" dirty="0">
                <a:solidFill>
                  <a:srgbClr val="6C7683"/>
                </a:solidFill>
                <a:latin typeface="Poppins" pitchFamily="34" charset="0"/>
                <a:ea typeface="Poppins" pitchFamily="34" charset="-122"/>
                <a:cs typeface="Poppins" pitchFamily="34" charset="-120"/>
              </a:rPr>
              <a:t>[Milestone — TBC]</a:t>
            </a:r>
            <a:endParaRPr lang="en-US" sz="750" dirty="0"/>
          </a:p>
        </p:txBody>
      </p:sp>
      <p:sp>
        <p:nvSpPr>
          <p:cNvPr id="48" name="Shape 44"/>
          <p:cNvSpPr/>
          <p:nvPr/>
        </p:nvSpPr>
        <p:spPr>
          <a:xfrm>
            <a:off x="3383280" y="4928616"/>
            <a:ext cx="8076895" cy="731520"/>
          </a:xfrm>
          <a:prstGeom prst="roundRect">
            <a:avLst>
              <a:gd name="adj" fmla="val 10000"/>
            </a:avLst>
          </a:prstGeom>
          <a:solidFill>
            <a:srgbClr val="F4F6F8"/>
          </a:solidFill>
          <a:ln w="12700">
            <a:solidFill>
              <a:srgbClr val="E2E6EB"/>
            </a:solidFill>
            <a:prstDash val="solid"/>
          </a:ln>
        </p:spPr>
      </p:sp>
      <p:sp>
        <p:nvSpPr>
          <p:cNvPr id="49" name="Text 45"/>
          <p:cNvSpPr/>
          <p:nvPr/>
        </p:nvSpPr>
        <p:spPr>
          <a:xfrm>
            <a:off x="3621024" y="5038344"/>
            <a:ext cx="7601407" cy="237744"/>
          </a:xfrm>
          <a:prstGeom prst="rect">
            <a:avLst/>
          </a:prstGeom>
          <a:noFill/>
          <a:ln/>
        </p:spPr>
        <p:txBody>
          <a:bodyPr wrap="square" lIns="0" tIns="0" rIns="0" bIns="0" rtlCol="0" anchor="ctr"/>
          <a:lstStyle/>
          <a:p>
            <a:pPr indent="0" marL="0">
              <a:buNone/>
            </a:pPr>
            <a:r>
              <a:rPr lang="en-US" sz="900" dirty="0">
                <a:solidFill>
                  <a:srgbClr val="C6470F"/>
                </a:solidFill>
                <a:latin typeface="Poppins Medium" pitchFamily="34" charset="0"/>
                <a:ea typeface="Poppins Medium" pitchFamily="34" charset="-122"/>
                <a:cs typeface="Poppins Medium" pitchFamily="34" charset="-120"/>
              </a:rPr>
              <a:t>[Service scope — to be confirmed with the Company]</a:t>
            </a:r>
            <a:endParaRPr lang="en-US" sz="900" dirty="0"/>
          </a:p>
        </p:txBody>
      </p:sp>
      <p:sp>
        <p:nvSpPr>
          <p:cNvPr id="50" name="Text 46"/>
          <p:cNvSpPr/>
          <p:nvPr/>
        </p:nvSpPr>
        <p:spPr>
          <a:xfrm>
            <a:off x="3621024" y="5276088"/>
            <a:ext cx="7601407" cy="274320"/>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[Relationship highlights, contracted routes and headcount served to be confirmed]</a:t>
            </a:r>
            <a:endParaRPr lang="en-US" sz="800" dirty="0"/>
          </a:p>
        </p:txBody>
      </p:sp>
      <p:sp>
        <p:nvSpPr>
          <p:cNvPr id="51" name="Shape 47"/>
          <p:cNvSpPr/>
          <p:nvPr/>
        </p:nvSpPr>
        <p:spPr>
          <a:xfrm>
            <a:off x="0" y="6172200"/>
            <a:ext cx="12191695" cy="685800"/>
          </a:xfrm>
          <a:prstGeom prst="rect">
            <a:avLst/>
          </a:prstGeom>
          <a:solidFill>
            <a:srgbClr val="141A24"/>
          </a:solidFill>
          <a:ln/>
        </p:spPr>
      </p:sp>
      <p:sp>
        <p:nvSpPr>
          <p:cNvPr id="52" name="Shape 48"/>
          <p:cNvSpPr/>
          <p:nvPr/>
        </p:nvSpPr>
        <p:spPr>
          <a:xfrm>
            <a:off x="0" y="6172200"/>
            <a:ext cx="118872" cy="685800"/>
          </a:xfrm>
          <a:prstGeom prst="rect">
            <a:avLst/>
          </a:prstGeom>
          <a:solidFill>
            <a:srgbClr val="F35B1A"/>
          </a:solidFill>
          <a:ln/>
        </p:spPr>
      </p:sp>
      <p:sp>
        <p:nvSpPr>
          <p:cNvPr id="53" name="Text 49"/>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A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long-standing relationship</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with Votorantim Cimentos — details to be confirmed with the Company</a:t>
            </a:r>
            <a:endParaRPr lang="en-US" sz="1200" dirty="0"/>
          </a:p>
        </p:txBody>
      </p:sp>
      <p:pic>
        <p:nvPicPr>
          <p:cNvPr id="54" name="Image 2" descr="assets/igc_white.png">    </p:cNvPr>
          <p:cNvPicPr>
            <a:picLocks noChangeAspect="1"/>
          </p:cNvPicPr>
          <p:nvPr/>
        </p:nvPicPr>
        <p:blipFill>
          <a:blip r:embed="rId3"/>
          <a:stretch>
            <a:fillRect/>
          </a:stretch>
        </p:blipFill>
        <p:spPr>
          <a:xfrm>
            <a:off x="731520" y="6387084"/>
            <a:ext cx="274320" cy="237134"/>
          </a:xfrm>
          <a:prstGeom prst="rect">
            <a:avLst/>
          </a:prstGeom>
        </p:spPr>
      </p:pic>
      <p:sp>
        <p:nvSpPr>
          <p:cNvPr id="55" name="Text 50"/>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22</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An experienced and committed management team</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Management team overview — names, roles and backgrounds to be confirmed with the Company</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Roles and backgrounds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23</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920240"/>
            <a:ext cx="1940905" cy="3840480"/>
          </a:xfrm>
          <a:prstGeom prst="roundRect">
            <a:avLst>
              <a:gd name="adj" fmla="val 4711"/>
            </a:avLst>
          </a:prstGeom>
          <a:solidFill>
            <a:srgbClr val="F4F6F8"/>
          </a:solidFill>
          <a:ln w="12700">
            <a:solidFill>
              <a:srgbClr val="E2E6EB"/>
            </a:solidFill>
            <a:prstDash val="solid"/>
          </a:ln>
        </p:spPr>
      </p:sp>
      <p:sp>
        <p:nvSpPr>
          <p:cNvPr id="11" name="Shape 7"/>
          <p:cNvSpPr/>
          <p:nvPr/>
        </p:nvSpPr>
        <p:spPr>
          <a:xfrm>
            <a:off x="1135045" y="2212848"/>
            <a:ext cx="1133856" cy="1133856"/>
          </a:xfrm>
          <a:prstGeom prst="ellipse">
            <a:avLst/>
          </a:prstGeom>
          <a:solidFill>
            <a:srgbClr val="141A24"/>
          </a:solidFill>
          <a:ln/>
        </p:spPr>
      </p:sp>
      <p:sp>
        <p:nvSpPr>
          <p:cNvPr id="12" name="Text 8"/>
          <p:cNvSpPr/>
          <p:nvPr/>
        </p:nvSpPr>
        <p:spPr>
          <a:xfrm>
            <a:off x="1135045" y="2212848"/>
            <a:ext cx="1133856" cy="1133856"/>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AG</a:t>
            </a:r>
            <a:endParaRPr lang="en-US" sz="2800" dirty="0"/>
          </a:p>
        </p:txBody>
      </p:sp>
      <p:sp>
        <p:nvSpPr>
          <p:cNvPr id="13" name="Text 9"/>
          <p:cNvSpPr/>
          <p:nvPr/>
        </p:nvSpPr>
        <p:spPr>
          <a:xfrm>
            <a:off x="841248" y="3493008"/>
            <a:ext cx="1721449"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Antônio Gabriel</a:t>
            </a:r>
            <a:endParaRPr lang="en-US" sz="1050" dirty="0"/>
          </a:p>
        </p:txBody>
      </p:sp>
      <p:sp>
        <p:nvSpPr>
          <p:cNvPr id="14" name="Text 10"/>
          <p:cNvSpPr/>
          <p:nvPr/>
        </p:nvSpPr>
        <p:spPr>
          <a:xfrm>
            <a:off x="841248" y="3767328"/>
            <a:ext cx="1721449" cy="237744"/>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15" name="Shape 11"/>
          <p:cNvSpPr/>
          <p:nvPr/>
        </p:nvSpPr>
        <p:spPr>
          <a:xfrm>
            <a:off x="1336213" y="4078224"/>
            <a:ext cx="731520" cy="18288"/>
          </a:xfrm>
          <a:prstGeom prst="rect">
            <a:avLst/>
          </a:prstGeom>
          <a:solidFill>
            <a:srgbClr val="E2E6EB"/>
          </a:solidFill>
          <a:ln/>
        </p:spPr>
      </p:sp>
      <p:sp>
        <p:nvSpPr>
          <p:cNvPr id="16" name="Text 12"/>
          <p:cNvSpPr/>
          <p:nvPr/>
        </p:nvSpPr>
        <p:spPr>
          <a:xfrm>
            <a:off x="877824" y="4261104"/>
            <a:ext cx="1648297" cy="1280160"/>
          </a:xfrm>
          <a:prstGeom prst="rect">
            <a:avLst/>
          </a:prstGeom>
          <a:noFill/>
          <a:ln/>
        </p:spPr>
        <p:txBody>
          <a:bodyPr wrap="square" lIns="0" tIns="0" rIns="0" bIns="0" rtlCol="0" anchor="t"/>
          <a:lstStyle/>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17" name="Shape 13"/>
          <p:cNvSpPr/>
          <p:nvPr/>
        </p:nvSpPr>
        <p:spPr>
          <a:xfrm>
            <a:off x="2928457" y="1920240"/>
            <a:ext cx="1940905" cy="3840480"/>
          </a:xfrm>
          <a:prstGeom prst="roundRect">
            <a:avLst>
              <a:gd name="adj" fmla="val 4711"/>
            </a:avLst>
          </a:prstGeom>
          <a:solidFill>
            <a:srgbClr val="F4F6F8"/>
          </a:solidFill>
          <a:ln w="12700">
            <a:solidFill>
              <a:srgbClr val="E2E6EB"/>
            </a:solidFill>
            <a:prstDash val="solid"/>
          </a:ln>
        </p:spPr>
      </p:sp>
      <p:sp>
        <p:nvSpPr>
          <p:cNvPr id="18" name="Shape 14"/>
          <p:cNvSpPr/>
          <p:nvPr/>
        </p:nvSpPr>
        <p:spPr>
          <a:xfrm>
            <a:off x="3331982" y="2212848"/>
            <a:ext cx="1133856" cy="1133856"/>
          </a:xfrm>
          <a:prstGeom prst="ellipse">
            <a:avLst/>
          </a:prstGeom>
          <a:solidFill>
            <a:srgbClr val="F35B1A"/>
          </a:solidFill>
          <a:ln/>
        </p:spPr>
      </p:sp>
      <p:sp>
        <p:nvSpPr>
          <p:cNvPr id="19" name="Text 15"/>
          <p:cNvSpPr/>
          <p:nvPr/>
        </p:nvSpPr>
        <p:spPr>
          <a:xfrm>
            <a:off x="3331982" y="2212848"/>
            <a:ext cx="1133856" cy="1133856"/>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M</a:t>
            </a:r>
            <a:endParaRPr lang="en-US" sz="2800" dirty="0"/>
          </a:p>
        </p:txBody>
      </p:sp>
      <p:sp>
        <p:nvSpPr>
          <p:cNvPr id="20" name="Text 16"/>
          <p:cNvSpPr/>
          <p:nvPr/>
        </p:nvSpPr>
        <p:spPr>
          <a:xfrm>
            <a:off x="3038185" y="3493008"/>
            <a:ext cx="1721449"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Morgana</a:t>
            </a:r>
            <a:endParaRPr lang="en-US" sz="1050" dirty="0"/>
          </a:p>
        </p:txBody>
      </p:sp>
      <p:sp>
        <p:nvSpPr>
          <p:cNvPr id="21" name="Text 17"/>
          <p:cNvSpPr/>
          <p:nvPr/>
        </p:nvSpPr>
        <p:spPr>
          <a:xfrm>
            <a:off x="3038185" y="3767328"/>
            <a:ext cx="1721449" cy="237744"/>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22" name="Shape 18"/>
          <p:cNvSpPr/>
          <p:nvPr/>
        </p:nvSpPr>
        <p:spPr>
          <a:xfrm>
            <a:off x="3533150" y="4078224"/>
            <a:ext cx="731520" cy="18288"/>
          </a:xfrm>
          <a:prstGeom prst="rect">
            <a:avLst/>
          </a:prstGeom>
          <a:solidFill>
            <a:srgbClr val="E2E6EB"/>
          </a:solidFill>
          <a:ln/>
        </p:spPr>
      </p:sp>
      <p:sp>
        <p:nvSpPr>
          <p:cNvPr id="23" name="Text 19"/>
          <p:cNvSpPr/>
          <p:nvPr/>
        </p:nvSpPr>
        <p:spPr>
          <a:xfrm>
            <a:off x="3074761" y="4261104"/>
            <a:ext cx="1648297" cy="1280160"/>
          </a:xfrm>
          <a:prstGeom prst="rect">
            <a:avLst/>
          </a:prstGeom>
          <a:noFill/>
          <a:ln/>
        </p:spPr>
        <p:txBody>
          <a:bodyPr wrap="square" lIns="0" tIns="0" rIns="0" bIns="0" rtlCol="0" anchor="t"/>
          <a:lstStyle/>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24" name="Shape 20"/>
          <p:cNvSpPr/>
          <p:nvPr/>
        </p:nvSpPr>
        <p:spPr>
          <a:xfrm>
            <a:off x="5125395" y="1920240"/>
            <a:ext cx="1940905" cy="3840480"/>
          </a:xfrm>
          <a:prstGeom prst="roundRect">
            <a:avLst>
              <a:gd name="adj" fmla="val 4711"/>
            </a:avLst>
          </a:prstGeom>
          <a:solidFill>
            <a:srgbClr val="F4F6F8"/>
          </a:solidFill>
          <a:ln w="12700">
            <a:solidFill>
              <a:srgbClr val="E2E6EB"/>
            </a:solidFill>
            <a:prstDash val="solid"/>
          </a:ln>
        </p:spPr>
      </p:sp>
      <p:sp>
        <p:nvSpPr>
          <p:cNvPr id="25" name="Shape 21"/>
          <p:cNvSpPr/>
          <p:nvPr/>
        </p:nvSpPr>
        <p:spPr>
          <a:xfrm>
            <a:off x="5528920" y="2212848"/>
            <a:ext cx="1133856" cy="1133856"/>
          </a:xfrm>
          <a:prstGeom prst="ellipse">
            <a:avLst/>
          </a:prstGeom>
          <a:solidFill>
            <a:srgbClr val="141A24"/>
          </a:solidFill>
          <a:ln/>
        </p:spPr>
      </p:sp>
      <p:sp>
        <p:nvSpPr>
          <p:cNvPr id="26" name="Text 22"/>
          <p:cNvSpPr/>
          <p:nvPr/>
        </p:nvSpPr>
        <p:spPr>
          <a:xfrm>
            <a:off x="5528920" y="2212848"/>
            <a:ext cx="1133856" cy="1133856"/>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P</a:t>
            </a:r>
            <a:endParaRPr lang="en-US" sz="2800" dirty="0"/>
          </a:p>
        </p:txBody>
      </p:sp>
      <p:sp>
        <p:nvSpPr>
          <p:cNvPr id="27" name="Text 23"/>
          <p:cNvSpPr/>
          <p:nvPr/>
        </p:nvSpPr>
        <p:spPr>
          <a:xfrm>
            <a:off x="5235123" y="3493008"/>
            <a:ext cx="1721449"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Pedro</a:t>
            </a:r>
            <a:endParaRPr lang="en-US" sz="1050" dirty="0"/>
          </a:p>
        </p:txBody>
      </p:sp>
      <p:sp>
        <p:nvSpPr>
          <p:cNvPr id="28" name="Text 24"/>
          <p:cNvSpPr/>
          <p:nvPr/>
        </p:nvSpPr>
        <p:spPr>
          <a:xfrm>
            <a:off x="5235123" y="3767328"/>
            <a:ext cx="1721449" cy="237744"/>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29" name="Shape 25"/>
          <p:cNvSpPr/>
          <p:nvPr/>
        </p:nvSpPr>
        <p:spPr>
          <a:xfrm>
            <a:off x="5730088" y="4078224"/>
            <a:ext cx="731520" cy="18288"/>
          </a:xfrm>
          <a:prstGeom prst="rect">
            <a:avLst/>
          </a:prstGeom>
          <a:solidFill>
            <a:srgbClr val="E2E6EB"/>
          </a:solidFill>
          <a:ln/>
        </p:spPr>
      </p:sp>
      <p:sp>
        <p:nvSpPr>
          <p:cNvPr id="30" name="Text 26"/>
          <p:cNvSpPr/>
          <p:nvPr/>
        </p:nvSpPr>
        <p:spPr>
          <a:xfrm>
            <a:off x="5271699" y="4261104"/>
            <a:ext cx="1648297" cy="1280160"/>
          </a:xfrm>
          <a:prstGeom prst="rect">
            <a:avLst/>
          </a:prstGeom>
          <a:noFill/>
          <a:ln/>
        </p:spPr>
        <p:txBody>
          <a:bodyPr wrap="square" lIns="0" tIns="0" rIns="0" bIns="0" rtlCol="0" anchor="t"/>
          <a:lstStyle/>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31" name="Shape 27"/>
          <p:cNvSpPr/>
          <p:nvPr/>
        </p:nvSpPr>
        <p:spPr>
          <a:xfrm>
            <a:off x="7322332" y="1920240"/>
            <a:ext cx="1940905" cy="3840480"/>
          </a:xfrm>
          <a:prstGeom prst="roundRect">
            <a:avLst>
              <a:gd name="adj" fmla="val 4711"/>
            </a:avLst>
          </a:prstGeom>
          <a:solidFill>
            <a:srgbClr val="F4F6F8"/>
          </a:solidFill>
          <a:ln w="12700">
            <a:solidFill>
              <a:srgbClr val="E2E6EB"/>
            </a:solidFill>
            <a:prstDash val="solid"/>
          </a:ln>
        </p:spPr>
      </p:sp>
      <p:sp>
        <p:nvSpPr>
          <p:cNvPr id="32" name="Shape 28"/>
          <p:cNvSpPr/>
          <p:nvPr/>
        </p:nvSpPr>
        <p:spPr>
          <a:xfrm>
            <a:off x="7725857" y="2212848"/>
            <a:ext cx="1133856" cy="1133856"/>
          </a:xfrm>
          <a:prstGeom prst="ellipse">
            <a:avLst/>
          </a:prstGeom>
          <a:solidFill>
            <a:srgbClr val="F35B1A"/>
          </a:solidFill>
          <a:ln/>
        </p:spPr>
      </p:sp>
      <p:sp>
        <p:nvSpPr>
          <p:cNvPr id="33" name="Text 29"/>
          <p:cNvSpPr/>
          <p:nvPr/>
        </p:nvSpPr>
        <p:spPr>
          <a:xfrm>
            <a:off x="7725857" y="2212848"/>
            <a:ext cx="1133856" cy="1133856"/>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G</a:t>
            </a:r>
            <a:endParaRPr lang="en-US" sz="2800" dirty="0"/>
          </a:p>
        </p:txBody>
      </p:sp>
      <p:sp>
        <p:nvSpPr>
          <p:cNvPr id="34" name="Text 30"/>
          <p:cNvSpPr/>
          <p:nvPr/>
        </p:nvSpPr>
        <p:spPr>
          <a:xfrm>
            <a:off x="7432060" y="3493008"/>
            <a:ext cx="1721449"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Gabriela</a:t>
            </a:r>
            <a:endParaRPr lang="en-US" sz="1050" dirty="0"/>
          </a:p>
        </p:txBody>
      </p:sp>
      <p:sp>
        <p:nvSpPr>
          <p:cNvPr id="35" name="Text 31"/>
          <p:cNvSpPr/>
          <p:nvPr/>
        </p:nvSpPr>
        <p:spPr>
          <a:xfrm>
            <a:off x="7432060" y="3767328"/>
            <a:ext cx="1721449" cy="237744"/>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36" name="Shape 32"/>
          <p:cNvSpPr/>
          <p:nvPr/>
        </p:nvSpPr>
        <p:spPr>
          <a:xfrm>
            <a:off x="7927025" y="4078224"/>
            <a:ext cx="731520" cy="18288"/>
          </a:xfrm>
          <a:prstGeom prst="rect">
            <a:avLst/>
          </a:prstGeom>
          <a:solidFill>
            <a:srgbClr val="E2E6EB"/>
          </a:solidFill>
          <a:ln/>
        </p:spPr>
      </p:sp>
      <p:sp>
        <p:nvSpPr>
          <p:cNvPr id="37" name="Text 33"/>
          <p:cNvSpPr/>
          <p:nvPr/>
        </p:nvSpPr>
        <p:spPr>
          <a:xfrm>
            <a:off x="7468636" y="4261104"/>
            <a:ext cx="1648297" cy="1280160"/>
          </a:xfrm>
          <a:prstGeom prst="rect">
            <a:avLst/>
          </a:prstGeom>
          <a:noFill/>
          <a:ln/>
        </p:spPr>
        <p:txBody>
          <a:bodyPr wrap="square" lIns="0" tIns="0" rIns="0" bIns="0" rtlCol="0" anchor="t"/>
          <a:lstStyle/>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38" name="Shape 34"/>
          <p:cNvSpPr/>
          <p:nvPr/>
        </p:nvSpPr>
        <p:spPr>
          <a:xfrm>
            <a:off x="9519270" y="1920240"/>
            <a:ext cx="1940905" cy="3840480"/>
          </a:xfrm>
          <a:prstGeom prst="roundRect">
            <a:avLst>
              <a:gd name="adj" fmla="val 4711"/>
            </a:avLst>
          </a:prstGeom>
          <a:solidFill>
            <a:srgbClr val="F4F6F8"/>
          </a:solidFill>
          <a:ln w="12700">
            <a:solidFill>
              <a:srgbClr val="E2E6EB"/>
            </a:solidFill>
            <a:prstDash val="solid"/>
          </a:ln>
        </p:spPr>
      </p:sp>
      <p:sp>
        <p:nvSpPr>
          <p:cNvPr id="39" name="Shape 35"/>
          <p:cNvSpPr/>
          <p:nvPr/>
        </p:nvSpPr>
        <p:spPr>
          <a:xfrm>
            <a:off x="9922794" y="2212848"/>
            <a:ext cx="1133856" cy="1133856"/>
          </a:xfrm>
          <a:prstGeom prst="ellipse">
            <a:avLst/>
          </a:prstGeom>
          <a:solidFill>
            <a:srgbClr val="141A24"/>
          </a:solidFill>
          <a:ln/>
        </p:spPr>
      </p:sp>
      <p:sp>
        <p:nvSpPr>
          <p:cNvPr id="40" name="Text 36"/>
          <p:cNvSpPr/>
          <p:nvPr/>
        </p:nvSpPr>
        <p:spPr>
          <a:xfrm>
            <a:off x="9922794" y="2212848"/>
            <a:ext cx="1133856" cy="1133856"/>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a:t>
            </a:r>
            <a:endParaRPr lang="en-US" sz="2800" dirty="0"/>
          </a:p>
        </p:txBody>
      </p:sp>
      <p:sp>
        <p:nvSpPr>
          <p:cNvPr id="41" name="Text 37"/>
          <p:cNvSpPr/>
          <p:nvPr/>
        </p:nvSpPr>
        <p:spPr>
          <a:xfrm>
            <a:off x="9628998" y="3493008"/>
            <a:ext cx="1721449" cy="274320"/>
          </a:xfrm>
          <a:prstGeom prst="rect">
            <a:avLst/>
          </a:prstGeom>
          <a:noFill/>
          <a:ln/>
        </p:spPr>
        <p:txBody>
          <a:bodyPr wrap="square" lIns="0" tIns="0" rIns="0" bIns="0" rtlCol="0" anchor="ctr"/>
          <a:lstStyle/>
          <a:p>
            <a:pPr algn="ctr" indent="0" marL="0">
              <a:buNone/>
            </a:pPr>
            <a:r>
              <a:rPr lang="en-US" sz="1050" dirty="0">
                <a:solidFill>
                  <a:srgbClr val="141A24"/>
                </a:solidFill>
                <a:latin typeface="Poppins SemiBold" pitchFamily="34" charset="0"/>
                <a:ea typeface="Poppins SemiBold" pitchFamily="34" charset="-122"/>
                <a:cs typeface="Poppins SemiBold" pitchFamily="34" charset="-120"/>
              </a:rPr>
              <a:t>[Name TBC]</a:t>
            </a:r>
            <a:endParaRPr lang="en-US" sz="1050" dirty="0"/>
          </a:p>
        </p:txBody>
      </p:sp>
      <p:sp>
        <p:nvSpPr>
          <p:cNvPr id="42" name="Text 38"/>
          <p:cNvSpPr/>
          <p:nvPr/>
        </p:nvSpPr>
        <p:spPr>
          <a:xfrm>
            <a:off x="9628998" y="3767328"/>
            <a:ext cx="1721449" cy="237744"/>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43" name="Shape 39"/>
          <p:cNvSpPr/>
          <p:nvPr/>
        </p:nvSpPr>
        <p:spPr>
          <a:xfrm>
            <a:off x="10123962" y="4078224"/>
            <a:ext cx="731520" cy="18288"/>
          </a:xfrm>
          <a:prstGeom prst="rect">
            <a:avLst/>
          </a:prstGeom>
          <a:solidFill>
            <a:srgbClr val="E2E6EB"/>
          </a:solidFill>
          <a:ln/>
        </p:spPr>
      </p:sp>
      <p:sp>
        <p:nvSpPr>
          <p:cNvPr id="44" name="Text 40"/>
          <p:cNvSpPr/>
          <p:nvPr/>
        </p:nvSpPr>
        <p:spPr>
          <a:xfrm>
            <a:off x="9665574" y="4261104"/>
            <a:ext cx="1648297" cy="1280160"/>
          </a:xfrm>
          <a:prstGeom prst="rect">
            <a:avLst/>
          </a:prstGeom>
          <a:noFill/>
          <a:ln/>
        </p:spPr>
        <p:txBody>
          <a:bodyPr wrap="square" lIns="0" tIns="0" rIns="0" bIns="0" rtlCol="0" anchor="t"/>
          <a:lstStyle/>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2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474013" cy="310896"/>
          </a:xfrm>
          <a:prstGeom prst="roundRect">
            <a:avLst>
              <a:gd name="adj" fmla="val 25000"/>
            </a:avLst>
          </a:prstGeom>
          <a:solidFill>
            <a:srgbClr val="FDE9DE"/>
          </a:solidFill>
          <a:ln/>
        </p:spPr>
      </p:sp>
      <p:sp>
        <p:nvSpPr>
          <p:cNvPr id="4" name="Text 1"/>
          <p:cNvSpPr/>
          <p:nvPr/>
        </p:nvSpPr>
        <p:spPr>
          <a:xfrm>
            <a:off x="731520" y="310896"/>
            <a:ext cx="1474013"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Organization &amp; corporate structure</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Multi-entity structure (Grupo AGM Caetano / AGM Alpha) — simplified representation, to be confirmed</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Simplified representation; entities and ownership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24</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4678528" y="1783080"/>
            <a:ext cx="2834640" cy="457200"/>
          </a:xfrm>
          <a:prstGeom prst="roundRect">
            <a:avLst>
              <a:gd name="adj" fmla="val 14000"/>
            </a:avLst>
          </a:prstGeom>
          <a:solidFill>
            <a:srgbClr val="F35B1A"/>
          </a:solidFill>
          <a:ln/>
        </p:spPr>
      </p:sp>
      <p:sp>
        <p:nvSpPr>
          <p:cNvPr id="11" name="Text 7"/>
          <p:cNvSpPr/>
          <p:nvPr/>
        </p:nvSpPr>
        <p:spPr>
          <a:xfrm>
            <a:off x="4678528" y="1783080"/>
            <a:ext cx="283464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Family Shareholders</a:t>
            </a:r>
            <a:endParaRPr lang="en-US" sz="1000" dirty="0"/>
          </a:p>
        </p:txBody>
      </p:sp>
      <p:sp>
        <p:nvSpPr>
          <p:cNvPr id="12" name="Shape 8"/>
          <p:cNvSpPr/>
          <p:nvPr/>
        </p:nvSpPr>
        <p:spPr>
          <a:xfrm>
            <a:off x="6086704" y="2240280"/>
            <a:ext cx="20117" cy="310896"/>
          </a:xfrm>
          <a:prstGeom prst="rect">
            <a:avLst/>
          </a:prstGeom>
          <a:solidFill>
            <a:srgbClr val="C3CAD3"/>
          </a:solidFill>
          <a:ln/>
        </p:spPr>
      </p:sp>
      <p:sp>
        <p:nvSpPr>
          <p:cNvPr id="13" name="Shape 9"/>
          <p:cNvSpPr/>
          <p:nvPr/>
        </p:nvSpPr>
        <p:spPr>
          <a:xfrm>
            <a:off x="4358488" y="2551176"/>
            <a:ext cx="3474720" cy="621792"/>
          </a:xfrm>
          <a:prstGeom prst="roundRect">
            <a:avLst>
              <a:gd name="adj" fmla="val 11765"/>
            </a:avLst>
          </a:prstGeom>
          <a:solidFill>
            <a:srgbClr val="141A24"/>
          </a:solidFill>
          <a:ln/>
        </p:spPr>
      </p:sp>
      <p:sp>
        <p:nvSpPr>
          <p:cNvPr id="14" name="Text 10"/>
          <p:cNvSpPr/>
          <p:nvPr/>
        </p:nvSpPr>
        <p:spPr>
          <a:xfrm>
            <a:off x="4358488" y="2615184"/>
            <a:ext cx="3474720" cy="274320"/>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AGM Caetano Participações</a:t>
            </a:r>
            <a:endParaRPr lang="en-US" sz="1050" dirty="0"/>
          </a:p>
        </p:txBody>
      </p:sp>
      <p:sp>
        <p:nvSpPr>
          <p:cNvPr id="15" name="Text 11"/>
          <p:cNvSpPr/>
          <p:nvPr/>
        </p:nvSpPr>
        <p:spPr>
          <a:xfrm>
            <a:off x="4358488" y="2871216"/>
            <a:ext cx="3474720" cy="219456"/>
          </a:xfrm>
          <a:prstGeom prst="rect">
            <a:avLst/>
          </a:prstGeom>
          <a:noFill/>
          <a:ln/>
        </p:spPr>
        <p:txBody>
          <a:bodyPr wrap="square" lIns="0" tIns="0" rIns="0" bIns="0" rtlCol="0" anchor="ctr"/>
          <a:lstStyle/>
          <a:p>
            <a:pPr algn="ctr" indent="0" marL="0">
              <a:buNone/>
            </a:pPr>
            <a:r>
              <a:rPr lang="en-US" sz="800" dirty="0">
                <a:solidFill>
                  <a:srgbClr val="8B95A5"/>
                </a:solidFill>
                <a:latin typeface="Poppins" pitchFamily="34" charset="0"/>
                <a:ea typeface="Poppins" pitchFamily="34" charset="-122"/>
                <a:cs typeface="Poppins" pitchFamily="34" charset="-120"/>
              </a:rPr>
              <a:t>Holding company</a:t>
            </a:r>
            <a:endParaRPr lang="en-US" sz="800" dirty="0"/>
          </a:p>
        </p:txBody>
      </p:sp>
      <p:sp>
        <p:nvSpPr>
          <p:cNvPr id="16" name="Shape 12"/>
          <p:cNvSpPr/>
          <p:nvPr/>
        </p:nvSpPr>
        <p:spPr>
          <a:xfrm>
            <a:off x="6086704" y="3172968"/>
            <a:ext cx="20117" cy="329184"/>
          </a:xfrm>
          <a:prstGeom prst="rect">
            <a:avLst/>
          </a:prstGeom>
          <a:solidFill>
            <a:srgbClr val="C3CAD3"/>
          </a:solidFill>
          <a:ln/>
        </p:spPr>
      </p:sp>
      <p:sp>
        <p:nvSpPr>
          <p:cNvPr id="17" name="Shape 13"/>
          <p:cNvSpPr/>
          <p:nvPr/>
        </p:nvSpPr>
        <p:spPr>
          <a:xfrm>
            <a:off x="2584552" y="3502152"/>
            <a:ext cx="7022592" cy="20117"/>
          </a:xfrm>
          <a:prstGeom prst="rect">
            <a:avLst/>
          </a:prstGeom>
          <a:solidFill>
            <a:srgbClr val="C3CAD3"/>
          </a:solidFill>
          <a:ln/>
        </p:spPr>
      </p:sp>
      <p:sp>
        <p:nvSpPr>
          <p:cNvPr id="18" name="Shape 14"/>
          <p:cNvSpPr/>
          <p:nvPr/>
        </p:nvSpPr>
        <p:spPr>
          <a:xfrm>
            <a:off x="2574493" y="3502152"/>
            <a:ext cx="20117" cy="237744"/>
          </a:xfrm>
          <a:prstGeom prst="rect">
            <a:avLst/>
          </a:prstGeom>
          <a:solidFill>
            <a:srgbClr val="C3CAD3"/>
          </a:solidFill>
          <a:ln/>
        </p:spPr>
      </p:sp>
      <p:sp>
        <p:nvSpPr>
          <p:cNvPr id="19" name="Shape 15"/>
          <p:cNvSpPr/>
          <p:nvPr/>
        </p:nvSpPr>
        <p:spPr>
          <a:xfrm>
            <a:off x="984352" y="3739896"/>
            <a:ext cx="3200400" cy="694944"/>
          </a:xfrm>
          <a:prstGeom prst="roundRect">
            <a:avLst>
              <a:gd name="adj" fmla="val 10526"/>
            </a:avLst>
          </a:prstGeom>
          <a:solidFill>
            <a:srgbClr val="FFFFFF"/>
          </a:solidFill>
          <a:ln w="12700">
            <a:solidFill>
              <a:srgbClr val="E2E6EB"/>
            </a:solidFill>
            <a:prstDash val="solid"/>
          </a:ln>
        </p:spPr>
      </p:sp>
      <p:sp>
        <p:nvSpPr>
          <p:cNvPr id="20" name="Shape 16"/>
          <p:cNvSpPr/>
          <p:nvPr/>
        </p:nvSpPr>
        <p:spPr>
          <a:xfrm>
            <a:off x="984352" y="3739896"/>
            <a:ext cx="3200400" cy="36576"/>
          </a:xfrm>
          <a:prstGeom prst="rect">
            <a:avLst/>
          </a:prstGeom>
          <a:solidFill>
            <a:srgbClr val="F35B1A"/>
          </a:solidFill>
          <a:ln/>
        </p:spPr>
      </p:sp>
      <p:sp>
        <p:nvSpPr>
          <p:cNvPr id="21" name="Text 17"/>
          <p:cNvSpPr/>
          <p:nvPr/>
        </p:nvSpPr>
        <p:spPr>
          <a:xfrm>
            <a:off x="1130656" y="3840480"/>
            <a:ext cx="2907792" cy="274320"/>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AGM Caetano LTDA</a:t>
            </a:r>
            <a:endParaRPr lang="en-US" sz="1000" dirty="0"/>
          </a:p>
        </p:txBody>
      </p:sp>
      <p:sp>
        <p:nvSpPr>
          <p:cNvPr id="22" name="Text 18"/>
          <p:cNvSpPr/>
          <p:nvPr/>
        </p:nvSpPr>
        <p:spPr>
          <a:xfrm>
            <a:off x="1130656" y="4114800"/>
            <a:ext cx="2907792" cy="219456"/>
          </a:xfrm>
          <a:prstGeom prst="rect">
            <a:avLst/>
          </a:prstGeom>
          <a:noFill/>
          <a:ln/>
        </p:spPr>
        <p:txBody>
          <a:bodyPr wrap="square" lIns="0" tIns="0" rIns="0" bIns="0" rtlCol="0" anchor="ctr"/>
          <a:lstStyle/>
          <a:p>
            <a:pPr algn="ctr" indent="0" marL="0">
              <a:buNone/>
            </a:pPr>
            <a:r>
              <a:rPr lang="en-US" sz="800" dirty="0">
                <a:solidFill>
                  <a:srgbClr val="6C7683"/>
                </a:solidFill>
                <a:latin typeface="Poppins" pitchFamily="34" charset="0"/>
                <a:ea typeface="Poppins" pitchFamily="34" charset="-122"/>
                <a:cs typeface="Poppins" pitchFamily="34" charset="-120"/>
              </a:rPr>
              <a:t>Operating entity</a:t>
            </a:r>
            <a:endParaRPr lang="en-US" sz="800" dirty="0"/>
          </a:p>
        </p:txBody>
      </p:sp>
      <p:sp>
        <p:nvSpPr>
          <p:cNvPr id="23" name="Shape 19"/>
          <p:cNvSpPr/>
          <p:nvPr/>
        </p:nvSpPr>
        <p:spPr>
          <a:xfrm>
            <a:off x="6085789" y="3502152"/>
            <a:ext cx="20117" cy="237744"/>
          </a:xfrm>
          <a:prstGeom prst="rect">
            <a:avLst/>
          </a:prstGeom>
          <a:solidFill>
            <a:srgbClr val="C3CAD3"/>
          </a:solidFill>
          <a:ln/>
        </p:spPr>
      </p:sp>
      <p:sp>
        <p:nvSpPr>
          <p:cNvPr id="24" name="Shape 20"/>
          <p:cNvSpPr/>
          <p:nvPr/>
        </p:nvSpPr>
        <p:spPr>
          <a:xfrm>
            <a:off x="4495648" y="3739896"/>
            <a:ext cx="3200400" cy="694944"/>
          </a:xfrm>
          <a:prstGeom prst="roundRect">
            <a:avLst>
              <a:gd name="adj" fmla="val 10526"/>
            </a:avLst>
          </a:prstGeom>
          <a:solidFill>
            <a:srgbClr val="FFFFFF"/>
          </a:solidFill>
          <a:ln w="12700">
            <a:solidFill>
              <a:srgbClr val="E2E6EB"/>
            </a:solidFill>
            <a:prstDash val="solid"/>
          </a:ln>
        </p:spPr>
      </p:sp>
      <p:sp>
        <p:nvSpPr>
          <p:cNvPr id="25" name="Shape 21"/>
          <p:cNvSpPr/>
          <p:nvPr/>
        </p:nvSpPr>
        <p:spPr>
          <a:xfrm>
            <a:off x="4495648" y="3739896"/>
            <a:ext cx="3200400" cy="36576"/>
          </a:xfrm>
          <a:prstGeom prst="rect">
            <a:avLst/>
          </a:prstGeom>
          <a:solidFill>
            <a:srgbClr val="F35B1A"/>
          </a:solidFill>
          <a:ln/>
        </p:spPr>
      </p:sp>
      <p:sp>
        <p:nvSpPr>
          <p:cNvPr id="26" name="Text 22"/>
          <p:cNvSpPr/>
          <p:nvPr/>
        </p:nvSpPr>
        <p:spPr>
          <a:xfrm>
            <a:off x="4641952" y="3840480"/>
            <a:ext cx="2907792" cy="274320"/>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MOBI Alpha</a:t>
            </a:r>
            <a:endParaRPr lang="en-US" sz="1000" dirty="0"/>
          </a:p>
        </p:txBody>
      </p:sp>
      <p:sp>
        <p:nvSpPr>
          <p:cNvPr id="27" name="Text 23"/>
          <p:cNvSpPr/>
          <p:nvPr/>
        </p:nvSpPr>
        <p:spPr>
          <a:xfrm>
            <a:off x="4641952" y="4114800"/>
            <a:ext cx="2907792" cy="219456"/>
          </a:xfrm>
          <a:prstGeom prst="rect">
            <a:avLst/>
          </a:prstGeom>
          <a:noFill/>
          <a:ln/>
        </p:spPr>
        <p:txBody>
          <a:bodyPr wrap="square" lIns="0" tIns="0" rIns="0" bIns="0" rtlCol="0" anchor="ctr"/>
          <a:lstStyle/>
          <a:p>
            <a:pPr algn="ctr" indent="0" marL="0">
              <a:buNone/>
            </a:pPr>
            <a:r>
              <a:rPr lang="en-US" sz="800" dirty="0">
                <a:solidFill>
                  <a:srgbClr val="6C7683"/>
                </a:solidFill>
                <a:latin typeface="Poppins" pitchFamily="34" charset="0"/>
                <a:ea typeface="Poppins" pitchFamily="34" charset="-122"/>
                <a:cs typeface="Poppins" pitchFamily="34" charset="-120"/>
              </a:rPr>
              <a:t>Matriz Brasília</a:t>
            </a:r>
            <a:endParaRPr lang="en-US" sz="800" dirty="0"/>
          </a:p>
        </p:txBody>
      </p:sp>
      <p:sp>
        <p:nvSpPr>
          <p:cNvPr id="28" name="Shape 24"/>
          <p:cNvSpPr/>
          <p:nvPr/>
        </p:nvSpPr>
        <p:spPr>
          <a:xfrm>
            <a:off x="9597085" y="3502152"/>
            <a:ext cx="20117" cy="237744"/>
          </a:xfrm>
          <a:prstGeom prst="rect">
            <a:avLst/>
          </a:prstGeom>
          <a:solidFill>
            <a:srgbClr val="C3CAD3"/>
          </a:solidFill>
          <a:ln/>
        </p:spPr>
      </p:sp>
      <p:sp>
        <p:nvSpPr>
          <p:cNvPr id="29" name="Shape 25"/>
          <p:cNvSpPr/>
          <p:nvPr/>
        </p:nvSpPr>
        <p:spPr>
          <a:xfrm>
            <a:off x="8006944" y="3739896"/>
            <a:ext cx="3200400" cy="694944"/>
          </a:xfrm>
          <a:prstGeom prst="roundRect">
            <a:avLst>
              <a:gd name="adj" fmla="val 10526"/>
            </a:avLst>
          </a:prstGeom>
          <a:solidFill>
            <a:srgbClr val="FFFFFF"/>
          </a:solidFill>
          <a:ln w="12700">
            <a:solidFill>
              <a:srgbClr val="E2E6EB"/>
            </a:solidFill>
            <a:prstDash val="solid"/>
          </a:ln>
        </p:spPr>
      </p:sp>
      <p:sp>
        <p:nvSpPr>
          <p:cNvPr id="30" name="Shape 26"/>
          <p:cNvSpPr/>
          <p:nvPr/>
        </p:nvSpPr>
        <p:spPr>
          <a:xfrm>
            <a:off x="8006944" y="3739896"/>
            <a:ext cx="3200400" cy="36576"/>
          </a:xfrm>
          <a:prstGeom prst="rect">
            <a:avLst/>
          </a:prstGeom>
          <a:solidFill>
            <a:srgbClr val="C3CAD3"/>
          </a:solidFill>
          <a:ln/>
        </p:spPr>
      </p:sp>
      <p:sp>
        <p:nvSpPr>
          <p:cNvPr id="31" name="Text 27"/>
          <p:cNvSpPr/>
          <p:nvPr/>
        </p:nvSpPr>
        <p:spPr>
          <a:xfrm>
            <a:off x="8153248" y="3840480"/>
            <a:ext cx="2907792" cy="274320"/>
          </a:xfrm>
          <a:prstGeom prst="rect">
            <a:avLst/>
          </a:prstGeom>
          <a:noFill/>
          <a:ln/>
        </p:spPr>
        <p:txBody>
          <a:bodyPr wrap="square" lIns="0" tIns="0" rIns="0" bIns="0" rtlCol="0" anchor="ctr"/>
          <a:lstStyle/>
          <a:p>
            <a:pPr algn="ctr" indent="0" marL="0">
              <a:buNone/>
            </a:pPr>
            <a:r>
              <a:rPr lang="en-US" sz="1000" dirty="0">
                <a:solidFill>
                  <a:srgbClr val="141A24"/>
                </a:solidFill>
                <a:latin typeface="Poppins SemiBold" pitchFamily="34" charset="0"/>
                <a:ea typeface="Poppins SemiBold" pitchFamily="34" charset="-122"/>
                <a:cs typeface="Poppins SemiBold" pitchFamily="34" charset="-120"/>
              </a:rPr>
              <a:t>Moura e Carrilho Part.</a:t>
            </a:r>
            <a:endParaRPr lang="en-US" sz="1000" dirty="0"/>
          </a:p>
        </p:txBody>
      </p:sp>
      <p:sp>
        <p:nvSpPr>
          <p:cNvPr id="32" name="Text 28"/>
          <p:cNvSpPr/>
          <p:nvPr/>
        </p:nvSpPr>
        <p:spPr>
          <a:xfrm>
            <a:off x="8153248" y="4114800"/>
            <a:ext cx="2907792" cy="219456"/>
          </a:xfrm>
          <a:prstGeom prst="rect">
            <a:avLst/>
          </a:prstGeom>
          <a:noFill/>
          <a:ln/>
        </p:spPr>
        <p:txBody>
          <a:bodyPr wrap="square" lIns="0" tIns="0" rIns="0" bIns="0" rtlCol="0" anchor="ctr"/>
          <a:lstStyle/>
          <a:p>
            <a:pPr algn="ctr" indent="0" marL="0">
              <a:buNone/>
            </a:pPr>
            <a:r>
              <a:rPr lang="en-US" sz="800" dirty="0">
                <a:solidFill>
                  <a:srgbClr val="6C7683"/>
                </a:solidFill>
                <a:latin typeface="Poppins" pitchFamily="34" charset="0"/>
                <a:ea typeface="Poppins" pitchFamily="34" charset="-122"/>
                <a:cs typeface="Poppins" pitchFamily="34" charset="-120"/>
              </a:rPr>
              <a:t>[Related party]</a:t>
            </a:r>
            <a:endParaRPr lang="en-US" sz="800" dirty="0"/>
          </a:p>
        </p:txBody>
      </p:sp>
      <p:sp>
        <p:nvSpPr>
          <p:cNvPr id="33" name="Shape 29"/>
          <p:cNvSpPr/>
          <p:nvPr/>
        </p:nvSpPr>
        <p:spPr>
          <a:xfrm>
            <a:off x="9174175" y="1783080"/>
            <a:ext cx="2286000" cy="566928"/>
          </a:xfrm>
          <a:prstGeom prst="roundRect">
            <a:avLst>
              <a:gd name="adj" fmla="val 12903"/>
            </a:avLst>
          </a:prstGeom>
          <a:solidFill>
            <a:srgbClr val="141A24"/>
          </a:solidFill>
          <a:ln/>
        </p:spPr>
      </p:sp>
      <p:sp>
        <p:nvSpPr>
          <p:cNvPr id="34" name="Text 30"/>
          <p:cNvSpPr/>
          <p:nvPr/>
        </p:nvSpPr>
        <p:spPr>
          <a:xfrm>
            <a:off x="9174175" y="1783080"/>
            <a:ext cx="2286000" cy="566928"/>
          </a:xfrm>
          <a:prstGeom prst="rect">
            <a:avLst/>
          </a:prstGeom>
          <a:noFill/>
          <a:ln/>
        </p:spPr>
        <p:txBody>
          <a:bodyPr wrap="square" lIns="0" tIns="0" rIns="0" bIns="0" rtlCol="0" anchor="ctr"/>
          <a:lstStyle/>
          <a:p>
            <a:pPr algn="ctr" indent="0" marL="0">
              <a:buNone/>
            </a:pPr>
            <a:r>
              <a:rPr lang="en-US" sz="900" dirty="0">
                <a:solidFill>
                  <a:srgbClr val="8B95A5"/>
                </a:solidFill>
                <a:latin typeface="Poppins" pitchFamily="34" charset="0"/>
                <a:ea typeface="Poppins" pitchFamily="34" charset="-122"/>
                <a:cs typeface="Poppins" pitchFamily="34" charset="-120"/>
              </a:rPr>
              <a:t>Fleet   </a:t>
            </a:r>
            <a:pPr algn="ctr" indent="0" marL="0">
              <a:buNone/>
            </a:pPr>
            <a:r>
              <a:rPr lang="en-US" sz="1100" dirty="0">
                <a:solidFill>
                  <a:srgbClr val="F35B1A"/>
                </a:solidFill>
                <a:latin typeface="Poppins SemiBold" pitchFamily="34" charset="0"/>
                <a:ea typeface="Poppins SemiBold" pitchFamily="34" charset="-122"/>
                <a:cs typeface="Poppins SemiBold" pitchFamily="34" charset="-120"/>
              </a:rPr>
              <a:t>373 vehicles</a:t>
            </a:r>
            <a:endParaRPr lang="en-US" sz="900" dirty="0"/>
          </a:p>
        </p:txBody>
      </p:sp>
      <p:sp>
        <p:nvSpPr>
          <p:cNvPr id="35" name="Text 31"/>
          <p:cNvSpPr/>
          <p:nvPr/>
        </p:nvSpPr>
        <p:spPr>
          <a:xfrm>
            <a:off x="731520" y="4709160"/>
            <a:ext cx="5486400" cy="219456"/>
          </a:xfrm>
          <a:prstGeom prst="rect">
            <a:avLst/>
          </a:prstGeom>
          <a:noFill/>
          <a:ln/>
        </p:spPr>
        <p:txBody>
          <a:bodyPr wrap="square" lIns="0" tIns="0" rIns="0" bIns="0" rtlCol="0" anchor="ctr"/>
          <a:lstStyle/>
          <a:p>
            <a:pPr indent="0" marL="0">
              <a:buNone/>
            </a:pPr>
            <a:r>
              <a:rPr lang="en-US" sz="800" spc="140" kern="0" dirty="0">
                <a:solidFill>
                  <a:srgbClr val="F35B1A"/>
                </a:solidFill>
                <a:latin typeface="Poppins SemiBold" pitchFamily="34" charset="0"/>
                <a:ea typeface="Poppins SemiBold" pitchFamily="34" charset="-122"/>
                <a:cs typeface="Poppins SemiBold" pitchFamily="34" charset="-120"/>
              </a:rPr>
              <a:t>OPERATIONAL BRANCHES (FILIAIS)</a:t>
            </a:r>
            <a:endParaRPr lang="en-US" sz="800" dirty="0"/>
          </a:p>
        </p:txBody>
      </p:sp>
      <p:sp>
        <p:nvSpPr>
          <p:cNvPr id="36" name="Shape 32"/>
          <p:cNvSpPr/>
          <p:nvPr/>
        </p:nvSpPr>
        <p:spPr>
          <a:xfrm>
            <a:off x="731520" y="5001768"/>
            <a:ext cx="1999427" cy="365760"/>
          </a:xfrm>
          <a:prstGeom prst="roundRect">
            <a:avLst>
              <a:gd name="adj" fmla="val 15000"/>
            </a:avLst>
          </a:prstGeom>
          <a:solidFill>
            <a:srgbClr val="F4F6F8"/>
          </a:solidFill>
          <a:ln w="12700">
            <a:solidFill>
              <a:srgbClr val="E2E6EB"/>
            </a:solidFill>
            <a:prstDash val="solid"/>
          </a:ln>
        </p:spPr>
      </p:sp>
      <p:sp>
        <p:nvSpPr>
          <p:cNvPr id="37" name="Text 33"/>
          <p:cNvSpPr/>
          <p:nvPr/>
        </p:nvSpPr>
        <p:spPr>
          <a:xfrm>
            <a:off x="804672" y="50017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Goiânia</a:t>
            </a:r>
            <a:endParaRPr lang="en-US" sz="850" dirty="0"/>
          </a:p>
        </p:txBody>
      </p:sp>
      <p:sp>
        <p:nvSpPr>
          <p:cNvPr id="38" name="Shape 34"/>
          <p:cNvSpPr/>
          <p:nvPr/>
        </p:nvSpPr>
        <p:spPr>
          <a:xfrm>
            <a:off x="2913827" y="5001768"/>
            <a:ext cx="1999427" cy="365760"/>
          </a:xfrm>
          <a:prstGeom prst="roundRect">
            <a:avLst>
              <a:gd name="adj" fmla="val 15000"/>
            </a:avLst>
          </a:prstGeom>
          <a:solidFill>
            <a:srgbClr val="F4F6F8"/>
          </a:solidFill>
          <a:ln w="12700">
            <a:solidFill>
              <a:srgbClr val="E2E6EB"/>
            </a:solidFill>
            <a:prstDash val="solid"/>
          </a:ln>
        </p:spPr>
      </p:sp>
      <p:sp>
        <p:nvSpPr>
          <p:cNvPr id="39" name="Text 35"/>
          <p:cNvSpPr/>
          <p:nvPr/>
        </p:nvSpPr>
        <p:spPr>
          <a:xfrm>
            <a:off x="2986979" y="50017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Anápolis</a:t>
            </a:r>
            <a:endParaRPr lang="en-US" sz="850" dirty="0"/>
          </a:p>
        </p:txBody>
      </p:sp>
      <p:sp>
        <p:nvSpPr>
          <p:cNvPr id="40" name="Shape 36"/>
          <p:cNvSpPr/>
          <p:nvPr/>
        </p:nvSpPr>
        <p:spPr>
          <a:xfrm>
            <a:off x="5096134" y="5001768"/>
            <a:ext cx="1999427" cy="365760"/>
          </a:xfrm>
          <a:prstGeom prst="roundRect">
            <a:avLst>
              <a:gd name="adj" fmla="val 15000"/>
            </a:avLst>
          </a:prstGeom>
          <a:solidFill>
            <a:srgbClr val="F4F6F8"/>
          </a:solidFill>
          <a:ln w="12700">
            <a:solidFill>
              <a:srgbClr val="E2E6EB"/>
            </a:solidFill>
            <a:prstDash val="solid"/>
          </a:ln>
        </p:spPr>
      </p:sp>
      <p:sp>
        <p:nvSpPr>
          <p:cNvPr id="41" name="Text 37"/>
          <p:cNvSpPr/>
          <p:nvPr/>
        </p:nvSpPr>
        <p:spPr>
          <a:xfrm>
            <a:off x="5169286" y="50017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Nerópolis</a:t>
            </a:r>
            <a:endParaRPr lang="en-US" sz="850" dirty="0"/>
          </a:p>
        </p:txBody>
      </p:sp>
      <p:sp>
        <p:nvSpPr>
          <p:cNvPr id="42" name="Shape 38"/>
          <p:cNvSpPr/>
          <p:nvPr/>
        </p:nvSpPr>
        <p:spPr>
          <a:xfrm>
            <a:off x="7278441" y="5001768"/>
            <a:ext cx="1999427" cy="365760"/>
          </a:xfrm>
          <a:prstGeom prst="roundRect">
            <a:avLst>
              <a:gd name="adj" fmla="val 15000"/>
            </a:avLst>
          </a:prstGeom>
          <a:solidFill>
            <a:srgbClr val="F4F6F8"/>
          </a:solidFill>
          <a:ln w="12700">
            <a:solidFill>
              <a:srgbClr val="E2E6EB"/>
            </a:solidFill>
            <a:prstDash val="solid"/>
          </a:ln>
        </p:spPr>
      </p:sp>
      <p:sp>
        <p:nvSpPr>
          <p:cNvPr id="43" name="Text 39"/>
          <p:cNvSpPr/>
          <p:nvPr/>
        </p:nvSpPr>
        <p:spPr>
          <a:xfrm>
            <a:off x="7351593" y="50017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Senador Canedo</a:t>
            </a:r>
            <a:endParaRPr lang="en-US" sz="850" dirty="0"/>
          </a:p>
        </p:txBody>
      </p:sp>
      <p:sp>
        <p:nvSpPr>
          <p:cNvPr id="44" name="Shape 40"/>
          <p:cNvSpPr/>
          <p:nvPr/>
        </p:nvSpPr>
        <p:spPr>
          <a:xfrm>
            <a:off x="9460748" y="5001768"/>
            <a:ext cx="1999427" cy="365760"/>
          </a:xfrm>
          <a:prstGeom prst="roundRect">
            <a:avLst>
              <a:gd name="adj" fmla="val 15000"/>
            </a:avLst>
          </a:prstGeom>
          <a:solidFill>
            <a:srgbClr val="F4F6F8"/>
          </a:solidFill>
          <a:ln w="12700">
            <a:solidFill>
              <a:srgbClr val="E2E6EB"/>
            </a:solidFill>
            <a:prstDash val="solid"/>
          </a:ln>
        </p:spPr>
      </p:sp>
      <p:sp>
        <p:nvSpPr>
          <p:cNvPr id="45" name="Text 41"/>
          <p:cNvSpPr/>
          <p:nvPr/>
        </p:nvSpPr>
        <p:spPr>
          <a:xfrm>
            <a:off x="9533900" y="50017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Itumbiara</a:t>
            </a:r>
            <a:endParaRPr lang="en-US" sz="850" dirty="0"/>
          </a:p>
        </p:txBody>
      </p:sp>
      <p:sp>
        <p:nvSpPr>
          <p:cNvPr id="46" name="Shape 42"/>
          <p:cNvSpPr/>
          <p:nvPr/>
        </p:nvSpPr>
        <p:spPr>
          <a:xfrm>
            <a:off x="731520" y="5458968"/>
            <a:ext cx="1999427" cy="365760"/>
          </a:xfrm>
          <a:prstGeom prst="roundRect">
            <a:avLst>
              <a:gd name="adj" fmla="val 15000"/>
            </a:avLst>
          </a:prstGeom>
          <a:solidFill>
            <a:srgbClr val="F4F6F8"/>
          </a:solidFill>
          <a:ln w="12700">
            <a:solidFill>
              <a:srgbClr val="E2E6EB"/>
            </a:solidFill>
            <a:prstDash val="solid"/>
          </a:ln>
        </p:spPr>
      </p:sp>
      <p:sp>
        <p:nvSpPr>
          <p:cNvPr id="47" name="Text 43"/>
          <p:cNvSpPr/>
          <p:nvPr/>
        </p:nvSpPr>
        <p:spPr>
          <a:xfrm>
            <a:off x="804672" y="54589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Alexânia</a:t>
            </a:r>
            <a:endParaRPr lang="en-US" sz="850" dirty="0"/>
          </a:p>
        </p:txBody>
      </p:sp>
      <p:sp>
        <p:nvSpPr>
          <p:cNvPr id="48" name="Shape 44"/>
          <p:cNvSpPr/>
          <p:nvPr/>
        </p:nvSpPr>
        <p:spPr>
          <a:xfrm>
            <a:off x="2913827" y="5458968"/>
            <a:ext cx="1999427" cy="365760"/>
          </a:xfrm>
          <a:prstGeom prst="roundRect">
            <a:avLst>
              <a:gd name="adj" fmla="val 15000"/>
            </a:avLst>
          </a:prstGeom>
          <a:solidFill>
            <a:srgbClr val="F4F6F8"/>
          </a:solidFill>
          <a:ln w="12700">
            <a:solidFill>
              <a:srgbClr val="E2E6EB"/>
            </a:solidFill>
            <a:prstDash val="solid"/>
          </a:ln>
        </p:spPr>
      </p:sp>
      <p:sp>
        <p:nvSpPr>
          <p:cNvPr id="49" name="Text 45"/>
          <p:cNvSpPr/>
          <p:nvPr/>
        </p:nvSpPr>
        <p:spPr>
          <a:xfrm>
            <a:off x="2986979" y="54589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Uberlândia</a:t>
            </a:r>
            <a:endParaRPr lang="en-US" sz="850" dirty="0"/>
          </a:p>
        </p:txBody>
      </p:sp>
      <p:sp>
        <p:nvSpPr>
          <p:cNvPr id="50" name="Shape 46"/>
          <p:cNvSpPr/>
          <p:nvPr/>
        </p:nvSpPr>
        <p:spPr>
          <a:xfrm>
            <a:off x="5096134" y="5458968"/>
            <a:ext cx="1999427" cy="365760"/>
          </a:xfrm>
          <a:prstGeom prst="roundRect">
            <a:avLst>
              <a:gd name="adj" fmla="val 15000"/>
            </a:avLst>
          </a:prstGeom>
          <a:solidFill>
            <a:srgbClr val="F4F6F8"/>
          </a:solidFill>
          <a:ln w="12700">
            <a:solidFill>
              <a:srgbClr val="E2E6EB"/>
            </a:solidFill>
            <a:prstDash val="solid"/>
          </a:ln>
        </p:spPr>
      </p:sp>
      <p:sp>
        <p:nvSpPr>
          <p:cNvPr id="51" name="Text 47"/>
          <p:cNvSpPr/>
          <p:nvPr/>
        </p:nvSpPr>
        <p:spPr>
          <a:xfrm>
            <a:off x="5169286" y="54589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Rio Verde</a:t>
            </a:r>
            <a:endParaRPr lang="en-US" sz="850" dirty="0"/>
          </a:p>
        </p:txBody>
      </p:sp>
      <p:sp>
        <p:nvSpPr>
          <p:cNvPr id="52" name="Shape 48"/>
          <p:cNvSpPr/>
          <p:nvPr/>
        </p:nvSpPr>
        <p:spPr>
          <a:xfrm>
            <a:off x="7278441" y="5458968"/>
            <a:ext cx="1999427" cy="365760"/>
          </a:xfrm>
          <a:prstGeom prst="roundRect">
            <a:avLst>
              <a:gd name="adj" fmla="val 15000"/>
            </a:avLst>
          </a:prstGeom>
          <a:solidFill>
            <a:srgbClr val="F4F6F8"/>
          </a:solidFill>
          <a:ln w="12700">
            <a:solidFill>
              <a:srgbClr val="E2E6EB"/>
            </a:solidFill>
            <a:prstDash val="solid"/>
          </a:ln>
        </p:spPr>
      </p:sp>
      <p:sp>
        <p:nvSpPr>
          <p:cNvPr id="53" name="Text 49"/>
          <p:cNvSpPr/>
          <p:nvPr/>
        </p:nvSpPr>
        <p:spPr>
          <a:xfrm>
            <a:off x="7351593" y="5458968"/>
            <a:ext cx="1853123" cy="365760"/>
          </a:xfrm>
          <a:prstGeom prst="rect">
            <a:avLst/>
          </a:prstGeom>
          <a:noFill/>
          <a:ln/>
        </p:spPr>
        <p:txBody>
          <a:bodyPr wrap="square" lIns="0" tIns="0" rIns="0" bIns="0" rtlCol="0" anchor="ctr"/>
          <a:lstStyle/>
          <a:p>
            <a:pPr algn="ctr" indent="0" marL="0">
              <a:buNone/>
            </a:pPr>
            <a:r>
              <a:rPr lang="en-US" sz="850" dirty="0">
                <a:solidFill>
                  <a:srgbClr val="2B333E"/>
                </a:solidFill>
                <a:latin typeface="Poppins" pitchFamily="34" charset="0"/>
                <a:ea typeface="Poppins" pitchFamily="34" charset="-122"/>
                <a:cs typeface="Poppins" pitchFamily="34" charset="-120"/>
              </a:rPr>
              <a:t>Filial Pires do Rio</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A24"/>
        </a:solidFill>
      </p:bgPr>
    </p:bg>
    <p:spTree>
      <p:nvGrpSpPr>
        <p:cNvPr id="1" name=""/>
        <p:cNvGrpSpPr/>
        <p:nvPr/>
      </p:nvGrpSpPr>
      <p:grpSpPr>
        <a:xfrm>
          <a:off x="0" y="0"/>
          <a:ext cx="0" cy="0"/>
          <a:chOff x="0" y="0"/>
          <a:chExt cx="0" cy="0"/>
        </a:xfrm>
      </p:grpSpPr>
      <p:pic>
        <p:nvPicPr>
          <p:cNvPr id="2" name="Image 0" descr="assets/stripes_orange.png">    </p:cNvPr>
          <p:cNvPicPr>
            <a:picLocks noChangeAspect="1"/>
          </p:cNvPicPr>
          <p:nvPr/>
        </p:nvPicPr>
        <p:blipFill>
          <a:blip r:embed="rId1">
            <a:alphaModFix amt="38000"/>
          </a:blip>
          <a:stretch>
            <a:fillRect/>
          </a:stretch>
        </p:blipFill>
        <p:spPr>
          <a:xfrm>
            <a:off x="-640080" y="4572000"/>
            <a:ext cx="2286000" cy="2286000"/>
          </a:xfrm>
          <a:prstGeom prst="rect">
            <a:avLst/>
          </a:prstGeom>
        </p:spPr>
      </p:pic>
      <p:pic>
        <p:nvPicPr>
          <p:cNvPr id="3" name="Image 1" descr="assets/mobi_fleet2.png">    </p:cNvPr>
          <p:cNvPicPr>
            <a:picLocks noChangeAspect="1"/>
          </p:cNvPicPr>
          <p:nvPr/>
        </p:nvPicPr>
        <p:blipFill>
          <a:blip r:embed="rId2"/>
          <a:srcRect l="0" r="0" t="0" b="0"/>
          <a:stretch/>
        </p:blipFill>
        <p:spPr>
          <a:xfrm>
            <a:off x="6858000" y="0"/>
            <a:ext cx="5333695" cy="6858000"/>
          </a:xfrm>
          <a:prstGeom prst="rect">
            <a:avLst/>
          </a:prstGeom>
        </p:spPr>
      </p:pic>
      <p:sp>
        <p:nvSpPr>
          <p:cNvPr id="4" name="Shape 0"/>
          <p:cNvSpPr/>
          <p:nvPr/>
        </p:nvSpPr>
        <p:spPr>
          <a:xfrm>
            <a:off x="6858000" y="0"/>
            <a:ext cx="5333695" cy="6858000"/>
          </a:xfrm>
          <a:prstGeom prst="rect">
            <a:avLst/>
          </a:prstGeom>
          <a:solidFill>
            <a:srgbClr val="141A24">
              <a:alpha val="42000"/>
            </a:srgbClr>
          </a:solidFill>
          <a:ln/>
        </p:spPr>
      </p:sp>
      <p:sp>
        <p:nvSpPr>
          <p:cNvPr id="5" name="Shape 1"/>
          <p:cNvSpPr/>
          <p:nvPr/>
        </p:nvSpPr>
        <p:spPr>
          <a:xfrm>
            <a:off x="6858000" y="0"/>
            <a:ext cx="41148" cy="6858000"/>
          </a:xfrm>
          <a:prstGeom prst="rect">
            <a:avLst/>
          </a:prstGeom>
          <a:solidFill>
            <a:srgbClr val="F35B1A"/>
          </a:solidFill>
          <a:ln/>
        </p:spPr>
      </p:sp>
      <p:sp>
        <p:nvSpPr>
          <p:cNvPr id="6" name="Text 2"/>
          <p:cNvSpPr/>
          <p:nvPr/>
        </p:nvSpPr>
        <p:spPr>
          <a:xfrm>
            <a:off x="731520" y="868680"/>
            <a:ext cx="5486400" cy="658368"/>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08760"/>
            <a:ext cx="5486400" cy="658368"/>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a:off x="731520" y="2395728"/>
            <a:ext cx="1371600" cy="32004"/>
          </a:xfrm>
          <a:prstGeom prst="rect">
            <a:avLst/>
          </a:prstGeom>
          <a:solidFill>
            <a:srgbClr val="F35B1A"/>
          </a:solidFill>
          <a:ln/>
        </p:spPr>
      </p:sp>
      <p:sp>
        <p:nvSpPr>
          <p:cNvPr id="9" name="Shape 5"/>
          <p:cNvSpPr/>
          <p:nvPr/>
        </p:nvSpPr>
        <p:spPr>
          <a:xfrm rot="5400000">
            <a:off x="749808" y="2871216"/>
            <a:ext cx="173736" cy="173736"/>
          </a:xfrm>
          <a:prstGeom prst="triangle">
            <a:avLst/>
          </a:prstGeom>
          <a:solidFill>
            <a:srgbClr val="4A5563"/>
          </a:solidFill>
          <a:ln/>
        </p:spPr>
      </p:sp>
      <p:sp>
        <p:nvSpPr>
          <p:cNvPr id="10" name="Text 6"/>
          <p:cNvSpPr/>
          <p:nvPr/>
        </p:nvSpPr>
        <p:spPr>
          <a:xfrm>
            <a:off x="1115568" y="2788920"/>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INTRODUCTION</a:t>
            </a:r>
            <a:endParaRPr lang="en-US" sz="1100" dirty="0"/>
          </a:p>
        </p:txBody>
      </p:sp>
      <p:sp>
        <p:nvSpPr>
          <p:cNvPr id="11" name="Text 7"/>
          <p:cNvSpPr/>
          <p:nvPr/>
        </p:nvSpPr>
        <p:spPr>
          <a:xfrm>
            <a:off x="5349240" y="2788920"/>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04</a:t>
            </a:r>
            <a:endParaRPr lang="en-US" sz="1200" dirty="0"/>
          </a:p>
        </p:txBody>
      </p:sp>
      <p:sp>
        <p:nvSpPr>
          <p:cNvPr id="12" name="Shape 8"/>
          <p:cNvSpPr/>
          <p:nvPr/>
        </p:nvSpPr>
        <p:spPr>
          <a:xfrm rot="5400000">
            <a:off x="749808" y="3593592"/>
            <a:ext cx="173736" cy="173736"/>
          </a:xfrm>
          <a:prstGeom prst="triangle">
            <a:avLst/>
          </a:prstGeom>
          <a:solidFill>
            <a:srgbClr val="4A5563"/>
          </a:solidFill>
          <a:ln/>
        </p:spPr>
      </p:sp>
      <p:sp>
        <p:nvSpPr>
          <p:cNvPr id="13" name="Text 9"/>
          <p:cNvSpPr/>
          <p:nvPr/>
        </p:nvSpPr>
        <p:spPr>
          <a:xfrm>
            <a:off x="1115568" y="3511296"/>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INVESTMENT THESIS</a:t>
            </a:r>
            <a:endParaRPr lang="en-US" sz="1100" dirty="0"/>
          </a:p>
        </p:txBody>
      </p:sp>
      <p:sp>
        <p:nvSpPr>
          <p:cNvPr id="14" name="Text 10"/>
          <p:cNvSpPr/>
          <p:nvPr/>
        </p:nvSpPr>
        <p:spPr>
          <a:xfrm>
            <a:off x="5349240" y="3511296"/>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10</a:t>
            </a:r>
            <a:endParaRPr lang="en-US" sz="1200" dirty="0"/>
          </a:p>
        </p:txBody>
      </p:sp>
      <p:sp>
        <p:nvSpPr>
          <p:cNvPr id="15" name="Shape 11"/>
          <p:cNvSpPr/>
          <p:nvPr/>
        </p:nvSpPr>
        <p:spPr>
          <a:xfrm rot="5400000">
            <a:off x="749808" y="4315968"/>
            <a:ext cx="173736" cy="173736"/>
          </a:xfrm>
          <a:prstGeom prst="triangle">
            <a:avLst/>
          </a:prstGeom>
          <a:solidFill>
            <a:srgbClr val="4A5563"/>
          </a:solidFill>
          <a:ln/>
        </p:spPr>
      </p:sp>
      <p:sp>
        <p:nvSpPr>
          <p:cNvPr id="16" name="Text 12"/>
          <p:cNvSpPr/>
          <p:nvPr/>
        </p:nvSpPr>
        <p:spPr>
          <a:xfrm>
            <a:off x="1115568" y="4233672"/>
            <a:ext cx="4206240" cy="347472"/>
          </a:xfrm>
          <a:prstGeom prst="rect">
            <a:avLst/>
          </a:prstGeom>
          <a:noFill/>
          <a:ln/>
        </p:spPr>
        <p:txBody>
          <a:bodyPr wrap="square" lIns="0" tIns="0" rIns="0" bIns="0" rtlCol="0" anchor="ctr"/>
          <a:lstStyle/>
          <a:p>
            <a:pPr indent="0" marL="0">
              <a:buNone/>
            </a:pPr>
            <a:r>
              <a:rPr lang="en-US" sz="1100" spc="140" kern="0" dirty="0">
                <a:solidFill>
                  <a:srgbClr val="7E8794"/>
                </a:solidFill>
                <a:latin typeface="Poppins Medium" pitchFamily="34" charset="0"/>
                <a:ea typeface="Poppins Medium" pitchFamily="34" charset="-122"/>
                <a:cs typeface="Poppins Medium" pitchFamily="34" charset="-120"/>
              </a:rPr>
              <a:t>COMPANY OVERVIEW</a:t>
            </a:r>
            <a:endParaRPr lang="en-US" sz="1100" dirty="0"/>
          </a:p>
        </p:txBody>
      </p:sp>
      <p:sp>
        <p:nvSpPr>
          <p:cNvPr id="17" name="Text 13"/>
          <p:cNvSpPr/>
          <p:nvPr/>
        </p:nvSpPr>
        <p:spPr>
          <a:xfrm>
            <a:off x="5349240" y="4233672"/>
            <a:ext cx="640080" cy="347472"/>
          </a:xfrm>
          <a:prstGeom prst="rect">
            <a:avLst/>
          </a:prstGeom>
          <a:noFill/>
          <a:ln/>
        </p:spPr>
        <p:txBody>
          <a:bodyPr wrap="square" lIns="0" tIns="0" rIns="0" bIns="0" rtlCol="0" anchor="ctr"/>
          <a:lstStyle/>
          <a:p>
            <a:pPr algn="r" indent="0" marL="0">
              <a:buNone/>
            </a:pPr>
            <a:r>
              <a:rPr lang="en-US" sz="1200" dirty="0">
                <a:solidFill>
                  <a:srgbClr val="5C6674"/>
                </a:solidFill>
                <a:latin typeface="Poppins Medium" pitchFamily="34" charset="0"/>
                <a:ea typeface="Poppins Medium" pitchFamily="34" charset="-122"/>
                <a:cs typeface="Poppins Medium" pitchFamily="34" charset="-120"/>
              </a:rPr>
              <a:t>17</a:t>
            </a:r>
            <a:endParaRPr lang="en-US" sz="1200" dirty="0"/>
          </a:p>
        </p:txBody>
      </p:sp>
      <p:sp>
        <p:nvSpPr>
          <p:cNvPr id="18" name="Shape 14"/>
          <p:cNvSpPr/>
          <p:nvPr/>
        </p:nvSpPr>
        <p:spPr>
          <a:xfrm rot="5400000">
            <a:off x="749808" y="5038344"/>
            <a:ext cx="173736" cy="173736"/>
          </a:xfrm>
          <a:prstGeom prst="triangle">
            <a:avLst/>
          </a:prstGeom>
          <a:solidFill>
            <a:srgbClr val="F35B1A"/>
          </a:solidFill>
          <a:ln/>
        </p:spPr>
      </p:sp>
      <p:sp>
        <p:nvSpPr>
          <p:cNvPr id="19" name="Text 15"/>
          <p:cNvSpPr/>
          <p:nvPr/>
        </p:nvSpPr>
        <p:spPr>
          <a:xfrm>
            <a:off x="1115568" y="4956048"/>
            <a:ext cx="4206240" cy="347472"/>
          </a:xfrm>
          <a:prstGeom prst="rect">
            <a:avLst/>
          </a:prstGeom>
          <a:noFill/>
          <a:ln/>
        </p:spPr>
        <p:txBody>
          <a:bodyPr wrap="square" lIns="0" tIns="0" rIns="0" bIns="0" rtlCol="0" anchor="ctr"/>
          <a:lstStyle/>
          <a:p>
            <a:pPr indent="0" marL="0">
              <a:buNone/>
            </a:pPr>
            <a:r>
              <a:rPr lang="en-US" sz="1100" spc="140" kern="0" dirty="0">
                <a:solidFill>
                  <a:srgbClr val="FFFFFF"/>
                </a:solidFill>
                <a:latin typeface="Poppins SemiBold" pitchFamily="34" charset="0"/>
                <a:ea typeface="Poppins SemiBold" pitchFamily="34" charset="-122"/>
                <a:cs typeface="Poppins SemiBold" pitchFamily="34" charset="-120"/>
              </a:rPr>
              <a:t>FINANCIAL HIGHLIGHTS</a:t>
            </a:r>
            <a:endParaRPr lang="en-US" sz="1100" dirty="0"/>
          </a:p>
        </p:txBody>
      </p:sp>
      <p:sp>
        <p:nvSpPr>
          <p:cNvPr id="20" name="Text 16"/>
          <p:cNvSpPr/>
          <p:nvPr/>
        </p:nvSpPr>
        <p:spPr>
          <a:xfrm>
            <a:off x="5349240" y="4956048"/>
            <a:ext cx="640080" cy="347472"/>
          </a:xfrm>
          <a:prstGeom prst="rect">
            <a:avLst/>
          </a:prstGeom>
          <a:noFill/>
          <a:ln/>
        </p:spPr>
        <p:txBody>
          <a:bodyPr wrap="square" lIns="0" tIns="0" rIns="0" bIns="0" rtlCol="0" anchor="ctr"/>
          <a:lstStyle/>
          <a:p>
            <a:pPr algn="r" indent="0" marL="0">
              <a:buNone/>
            </a:pPr>
            <a:r>
              <a:rPr lang="en-US" sz="1200" dirty="0">
                <a:solidFill>
                  <a:srgbClr val="F35B1A"/>
                </a:solidFill>
                <a:latin typeface="Poppins Medium" pitchFamily="34" charset="0"/>
                <a:ea typeface="Poppins Medium" pitchFamily="34" charset="-122"/>
                <a:cs typeface="Poppins Medium" pitchFamily="34" charset="-120"/>
              </a:rPr>
              <a:t>25</a:t>
            </a:r>
            <a:endParaRPr lang="en-US" sz="1200" dirty="0"/>
          </a:p>
        </p:txBody>
      </p:sp>
      <p:pic>
        <p:nvPicPr>
          <p:cNvPr id="21" name="Image 2" descr="assets/igc_white.png">    </p:cNvPr>
          <p:cNvPicPr>
            <a:picLocks noChangeAspect="1"/>
          </p:cNvPicPr>
          <p:nvPr/>
        </p:nvPicPr>
        <p:blipFill>
          <a:blip r:embed="rId3"/>
          <a:stretch>
            <a:fillRect/>
          </a:stretch>
        </p:blipFill>
        <p:spPr>
          <a:xfrm>
            <a:off x="10957255" y="384048"/>
            <a:ext cx="502920" cy="434746"/>
          </a:xfrm>
          <a:prstGeom prst="rect">
            <a:avLst/>
          </a:prstGeom>
        </p:spPr>
      </p:pic>
      <p:pic>
        <p:nvPicPr>
          <p:cNvPr id="22" name="Image 3" descr="assets/mobi_logo_black.png">    </p:cNvPr>
          <p:cNvPicPr>
            <a:picLocks noChangeAspect="1"/>
          </p:cNvPicPr>
          <p:nvPr/>
        </p:nvPicPr>
        <p:blipFill>
          <a:blip r:embed="rId4"/>
          <a:stretch>
            <a:fillRect/>
          </a:stretch>
        </p:blipFill>
        <p:spPr>
          <a:xfrm>
            <a:off x="731520" y="5897880"/>
            <a:ext cx="1234440" cy="395407"/>
          </a:xfrm>
          <a:prstGeom prst="rect">
            <a:avLst/>
          </a:prstGeom>
        </p:spPr>
      </p:pic>
      <p:sp>
        <p:nvSpPr>
          <p:cNvPr id="23" name="Text 17"/>
          <p:cNvSpPr/>
          <p:nvPr/>
        </p:nvSpPr>
        <p:spPr>
          <a:xfrm>
            <a:off x="5943600" y="6309360"/>
            <a:ext cx="640080" cy="274320"/>
          </a:xfrm>
          <a:prstGeom prst="rect">
            <a:avLst/>
          </a:prstGeom>
          <a:noFill/>
          <a:ln/>
        </p:spPr>
        <p:txBody>
          <a:bodyPr wrap="square" lIns="0" tIns="0" rIns="0" bIns="0" rtlCol="0" anchor="ctr"/>
          <a:lstStyle/>
          <a:p>
            <a:pPr algn="r" indent="0" marL="0">
              <a:buNone/>
            </a:pPr>
            <a:r>
              <a:rPr lang="en-US" sz="900" dirty="0">
                <a:solidFill>
                  <a:srgbClr val="8B95A5"/>
                </a:solidFill>
                <a:latin typeface="Poppins Medium" pitchFamily="34" charset="0"/>
                <a:ea typeface="Poppins Medium" pitchFamily="34" charset="-122"/>
                <a:cs typeface="Poppins Medium"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773936" cy="310896"/>
          </a:xfrm>
          <a:prstGeom prst="roundRect">
            <a:avLst>
              <a:gd name="adj" fmla="val 25000"/>
            </a:avLst>
          </a:prstGeom>
          <a:solidFill>
            <a:srgbClr val="FDE9DE"/>
          </a:solidFill>
          <a:ln/>
        </p:spPr>
      </p:sp>
      <p:sp>
        <p:nvSpPr>
          <p:cNvPr id="4" name="Text 1"/>
          <p:cNvSpPr/>
          <p:nvPr/>
        </p:nvSpPr>
        <p:spPr>
          <a:xfrm>
            <a:off x="731520" y="310896"/>
            <a:ext cx="1773936"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Financial Highlights</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Financial highlights</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Solid profitability in 2025; the full historical series and projections are pending Company data</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2025 figures are preliminary; historical series and projections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26</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783080"/>
            <a:ext cx="2490140" cy="841248"/>
          </a:xfrm>
          <a:prstGeom prst="roundRect">
            <a:avLst>
              <a:gd name="adj" fmla="val 7609"/>
            </a:avLst>
          </a:prstGeom>
          <a:solidFill>
            <a:srgbClr val="F4F6F8"/>
          </a:solidFill>
          <a:ln w="12700">
            <a:solidFill>
              <a:srgbClr val="E2E6EB"/>
            </a:solidFill>
            <a:prstDash val="solid"/>
          </a:ln>
        </p:spPr>
      </p:sp>
      <p:sp>
        <p:nvSpPr>
          <p:cNvPr id="11" name="Shape 7"/>
          <p:cNvSpPr/>
          <p:nvPr/>
        </p:nvSpPr>
        <p:spPr>
          <a:xfrm>
            <a:off x="731520" y="1984980"/>
            <a:ext cx="50292" cy="437449"/>
          </a:xfrm>
          <a:prstGeom prst="rect">
            <a:avLst/>
          </a:prstGeom>
          <a:solidFill>
            <a:srgbClr val="F35B1A"/>
          </a:solidFill>
          <a:ln/>
        </p:spPr>
      </p:sp>
      <p:sp>
        <p:nvSpPr>
          <p:cNvPr id="12" name="Text 8"/>
          <p:cNvSpPr/>
          <p:nvPr/>
        </p:nvSpPr>
        <p:spPr>
          <a:xfrm>
            <a:off x="950976" y="1917680"/>
            <a:ext cx="2124380" cy="353324"/>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BRL 140 Mn</a:t>
            </a:r>
            <a:endParaRPr lang="en-US" sz="1800" dirty="0"/>
          </a:p>
        </p:txBody>
      </p:sp>
      <p:sp>
        <p:nvSpPr>
          <p:cNvPr id="13" name="Text 9"/>
          <p:cNvSpPr/>
          <p:nvPr/>
        </p:nvSpPr>
        <p:spPr>
          <a:xfrm>
            <a:off x="950976" y="2254179"/>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Net revenues 2025</a:t>
            </a:r>
            <a:endParaRPr lang="en-US" sz="800" dirty="0"/>
          </a:p>
        </p:txBody>
      </p:sp>
      <p:sp>
        <p:nvSpPr>
          <p:cNvPr id="14" name="Shape 10"/>
          <p:cNvSpPr/>
          <p:nvPr/>
        </p:nvSpPr>
        <p:spPr>
          <a:xfrm>
            <a:off x="3477692" y="1783080"/>
            <a:ext cx="2490140" cy="841248"/>
          </a:xfrm>
          <a:prstGeom prst="roundRect">
            <a:avLst>
              <a:gd name="adj" fmla="val 7609"/>
            </a:avLst>
          </a:prstGeom>
          <a:solidFill>
            <a:srgbClr val="F4F6F8"/>
          </a:solidFill>
          <a:ln w="12700">
            <a:solidFill>
              <a:srgbClr val="E2E6EB"/>
            </a:solidFill>
            <a:prstDash val="solid"/>
          </a:ln>
        </p:spPr>
      </p:sp>
      <p:sp>
        <p:nvSpPr>
          <p:cNvPr id="15" name="Shape 11"/>
          <p:cNvSpPr/>
          <p:nvPr/>
        </p:nvSpPr>
        <p:spPr>
          <a:xfrm>
            <a:off x="3477692" y="1984980"/>
            <a:ext cx="50292" cy="437449"/>
          </a:xfrm>
          <a:prstGeom prst="rect">
            <a:avLst/>
          </a:prstGeom>
          <a:solidFill>
            <a:srgbClr val="F35B1A"/>
          </a:solidFill>
          <a:ln/>
        </p:spPr>
      </p:sp>
      <p:sp>
        <p:nvSpPr>
          <p:cNvPr id="16" name="Text 12"/>
          <p:cNvSpPr/>
          <p:nvPr/>
        </p:nvSpPr>
        <p:spPr>
          <a:xfrm>
            <a:off x="3697148" y="1917680"/>
            <a:ext cx="2124380" cy="353324"/>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BRL 36 Mn</a:t>
            </a:r>
            <a:endParaRPr lang="en-US" sz="1800" dirty="0"/>
          </a:p>
        </p:txBody>
      </p:sp>
      <p:sp>
        <p:nvSpPr>
          <p:cNvPr id="17" name="Text 13"/>
          <p:cNvSpPr/>
          <p:nvPr/>
        </p:nvSpPr>
        <p:spPr>
          <a:xfrm>
            <a:off x="3697148" y="2254179"/>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EBITDA 2025</a:t>
            </a:r>
            <a:endParaRPr lang="en-US" sz="800" dirty="0"/>
          </a:p>
        </p:txBody>
      </p:sp>
      <p:sp>
        <p:nvSpPr>
          <p:cNvPr id="18" name="Shape 14"/>
          <p:cNvSpPr/>
          <p:nvPr/>
        </p:nvSpPr>
        <p:spPr>
          <a:xfrm>
            <a:off x="6223864" y="1783080"/>
            <a:ext cx="2490140" cy="841248"/>
          </a:xfrm>
          <a:prstGeom prst="roundRect">
            <a:avLst>
              <a:gd name="adj" fmla="val 7609"/>
            </a:avLst>
          </a:prstGeom>
          <a:solidFill>
            <a:srgbClr val="F4F6F8"/>
          </a:solidFill>
          <a:ln w="12700">
            <a:solidFill>
              <a:srgbClr val="E2E6EB"/>
            </a:solidFill>
            <a:prstDash val="solid"/>
          </a:ln>
        </p:spPr>
      </p:sp>
      <p:sp>
        <p:nvSpPr>
          <p:cNvPr id="19" name="Shape 15"/>
          <p:cNvSpPr/>
          <p:nvPr/>
        </p:nvSpPr>
        <p:spPr>
          <a:xfrm>
            <a:off x="6223864" y="1984980"/>
            <a:ext cx="50292" cy="437449"/>
          </a:xfrm>
          <a:prstGeom prst="rect">
            <a:avLst/>
          </a:prstGeom>
          <a:solidFill>
            <a:srgbClr val="F35B1A"/>
          </a:solidFill>
          <a:ln/>
        </p:spPr>
      </p:sp>
      <p:sp>
        <p:nvSpPr>
          <p:cNvPr id="20" name="Text 16"/>
          <p:cNvSpPr/>
          <p:nvPr/>
        </p:nvSpPr>
        <p:spPr>
          <a:xfrm>
            <a:off x="6443320" y="1917680"/>
            <a:ext cx="2124380" cy="353324"/>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~26%</a:t>
            </a:r>
            <a:endParaRPr lang="en-US" sz="1800" dirty="0"/>
          </a:p>
        </p:txBody>
      </p:sp>
      <p:sp>
        <p:nvSpPr>
          <p:cNvPr id="21" name="Text 17"/>
          <p:cNvSpPr/>
          <p:nvPr/>
        </p:nvSpPr>
        <p:spPr>
          <a:xfrm>
            <a:off x="6443320" y="2254179"/>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EBITDA margin 2025</a:t>
            </a:r>
            <a:endParaRPr lang="en-US" sz="800" dirty="0"/>
          </a:p>
        </p:txBody>
      </p:sp>
      <p:sp>
        <p:nvSpPr>
          <p:cNvPr id="22" name="Shape 18"/>
          <p:cNvSpPr/>
          <p:nvPr/>
        </p:nvSpPr>
        <p:spPr>
          <a:xfrm>
            <a:off x="8970035" y="1783080"/>
            <a:ext cx="2490140" cy="841248"/>
          </a:xfrm>
          <a:prstGeom prst="roundRect">
            <a:avLst>
              <a:gd name="adj" fmla="val 7609"/>
            </a:avLst>
          </a:prstGeom>
          <a:solidFill>
            <a:srgbClr val="F4F6F8"/>
          </a:solidFill>
          <a:ln w="12700">
            <a:solidFill>
              <a:srgbClr val="E2E6EB"/>
            </a:solidFill>
            <a:prstDash val="solid"/>
          </a:ln>
        </p:spPr>
      </p:sp>
      <p:sp>
        <p:nvSpPr>
          <p:cNvPr id="23" name="Shape 19"/>
          <p:cNvSpPr/>
          <p:nvPr/>
        </p:nvSpPr>
        <p:spPr>
          <a:xfrm>
            <a:off x="8970035" y="1984980"/>
            <a:ext cx="50292" cy="437449"/>
          </a:xfrm>
          <a:prstGeom prst="rect">
            <a:avLst/>
          </a:prstGeom>
          <a:solidFill>
            <a:srgbClr val="F35B1A"/>
          </a:solidFill>
          <a:ln/>
        </p:spPr>
      </p:sp>
      <p:sp>
        <p:nvSpPr>
          <p:cNvPr id="24" name="Text 20"/>
          <p:cNvSpPr/>
          <p:nvPr/>
        </p:nvSpPr>
        <p:spPr>
          <a:xfrm>
            <a:off x="9189491" y="1917680"/>
            <a:ext cx="2124380" cy="353324"/>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+41.3%</a:t>
            </a:r>
            <a:endParaRPr lang="en-US" sz="1800" dirty="0"/>
          </a:p>
        </p:txBody>
      </p:sp>
      <p:sp>
        <p:nvSpPr>
          <p:cNvPr id="25" name="Text 21"/>
          <p:cNvSpPr/>
          <p:nvPr/>
        </p:nvSpPr>
        <p:spPr>
          <a:xfrm>
            <a:off x="9189491" y="2254179"/>
            <a:ext cx="2124380" cy="269199"/>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1Q gross revenue YoY</a:t>
            </a:r>
            <a:endParaRPr lang="en-US" sz="800" dirty="0"/>
          </a:p>
        </p:txBody>
      </p:sp>
      <p:sp>
        <p:nvSpPr>
          <p:cNvPr id="26" name="Shape 22"/>
          <p:cNvSpPr/>
          <p:nvPr/>
        </p:nvSpPr>
        <p:spPr>
          <a:xfrm>
            <a:off x="731520" y="2798064"/>
            <a:ext cx="10728655" cy="2999232"/>
          </a:xfrm>
          <a:prstGeom prst="roundRect">
            <a:avLst>
              <a:gd name="adj" fmla="val 2744"/>
            </a:avLst>
          </a:prstGeom>
          <a:solidFill>
            <a:srgbClr val="F4F6F8"/>
          </a:solidFill>
          <a:ln w="12700">
            <a:solidFill>
              <a:srgbClr val="E2E6EB"/>
            </a:solidFill>
            <a:prstDash val="solid"/>
          </a:ln>
        </p:spPr>
      </p:sp>
      <p:sp>
        <p:nvSpPr>
          <p:cNvPr id="27" name="Text 23"/>
          <p:cNvSpPr/>
          <p:nvPr/>
        </p:nvSpPr>
        <p:spPr>
          <a:xfrm>
            <a:off x="1024128" y="2980944"/>
            <a:ext cx="5486400" cy="274320"/>
          </a:xfrm>
          <a:prstGeom prst="rect">
            <a:avLst/>
          </a:prstGeom>
          <a:noFill/>
          <a:ln/>
        </p:spPr>
        <p:txBody>
          <a:bodyPr wrap="square" lIns="0" tIns="0" rIns="0" bIns="0" rtlCol="0" anchor="ctr"/>
          <a:lstStyle/>
          <a:p>
            <a:pPr indent="0" marL="0">
              <a:buNone/>
            </a:pPr>
            <a:r>
              <a:rPr lang="en-US" sz="1000" dirty="0">
                <a:solidFill>
                  <a:srgbClr val="141A24"/>
                </a:solidFill>
                <a:latin typeface="Poppins SemiBold" pitchFamily="34" charset="0"/>
                <a:ea typeface="Poppins SemiBold" pitchFamily="34" charset="-122"/>
                <a:cs typeface="Poppins SemiBold" pitchFamily="34" charset="-120"/>
              </a:rPr>
              <a:t>Net revenues &amp; EBITDA evolution — BRL Mn</a:t>
            </a:r>
            <a:endParaRPr lang="en-US" sz="1000" dirty="0"/>
          </a:p>
        </p:txBody>
      </p:sp>
      <p:graphicFrame>
        <p:nvGraphicFramePr>
          <p:cNvPr id="28" name="Chart 0" descr=""/>
          <p:cNvGraphicFramePr/>
          <p:nvPr/>
        </p:nvGraphicFramePr>
        <p:xfrm>
          <a:off x="1005840" y="3310128"/>
          <a:ext cx="10180015" cy="2286000"/>
        </p:xfrm>
        <a:graphic xmlns:a="http://schemas.openxmlformats.org/drawingml/2006/main">
          <a:graphicData uri="http://schemas.openxmlformats.org/drawingml/2006/chart">
            <c:chart xmlns:c="http://schemas.openxmlformats.org/drawingml/2006/chart" r:id="rId3"/>
          </a:graphicData>
        </a:graphic>
      </p:graphicFrame>
      <p:sp>
        <p:nvSpPr>
          <p:cNvPr id="29" name="Text 24"/>
          <p:cNvSpPr/>
          <p:nvPr/>
        </p:nvSpPr>
        <p:spPr>
          <a:xfrm>
            <a:off x="1234440" y="4114800"/>
            <a:ext cx="2834640" cy="457200"/>
          </a:xfrm>
          <a:prstGeom prst="rect">
            <a:avLst/>
          </a:prstGeom>
          <a:noFill/>
          <a:ln/>
        </p:spPr>
        <p:txBody>
          <a:bodyPr wrap="square" lIns="0" tIns="0" rIns="0" bIns="0" rtlCol="0" anchor="ctr"/>
          <a:lstStyle/>
          <a:p>
            <a:pPr indent="0" marL="0">
              <a:lnSpc>
                <a:spcPct val="114000"/>
              </a:lnSpc>
              <a:buNone/>
            </a:pPr>
            <a:r>
              <a:rPr lang="en-US" sz="900" i="1" dirty="0">
                <a:solidFill>
                  <a:srgbClr val="9AA3AD"/>
                </a:solidFill>
                <a:latin typeface="Poppins" pitchFamily="34" charset="0"/>
                <a:ea typeface="Poppins" pitchFamily="34" charset="-122"/>
                <a:cs typeface="Poppins" pitchFamily="34" charset="-120"/>
              </a:rPr>
              <a:t>2022–2024 and 2026E figures pending Company data</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773936" cy="310896"/>
          </a:xfrm>
          <a:prstGeom prst="roundRect">
            <a:avLst>
              <a:gd name="adj" fmla="val 25000"/>
            </a:avLst>
          </a:prstGeom>
          <a:solidFill>
            <a:srgbClr val="FDE9DE"/>
          </a:solidFill>
          <a:ln/>
        </p:spPr>
      </p:sp>
      <p:sp>
        <p:nvSpPr>
          <p:cNvPr id="4" name="Text 1"/>
          <p:cNvSpPr/>
          <p:nvPr/>
        </p:nvSpPr>
        <p:spPr>
          <a:xfrm>
            <a:off x="731520" y="310896"/>
            <a:ext cx="1773936"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Financial Highlights</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Revenue momentum</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First-quarter gross revenue grew +41.3% year-on-year, with growth in both operating entities</a:t>
            </a:r>
            <a:endParaRPr lang="en-US" sz="1050" dirty="0"/>
          </a:p>
        </p:txBody>
      </p:sp>
      <p:sp>
        <p:nvSpPr>
          <p:cNvPr id="7" name="Text 4"/>
          <p:cNvSpPr/>
          <p:nvPr/>
        </p:nvSpPr>
        <p:spPr>
          <a:xfrm>
            <a:off x="731520" y="5888736"/>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1Q gross revenue by operating entity; figures are preliminary and to be confirmed with management.</a:t>
            </a:r>
            <a:endParaRPr lang="en-US" sz="700" dirty="0"/>
          </a:p>
        </p:txBody>
      </p:sp>
      <p:sp>
        <p:nvSpPr>
          <p:cNvPr id="8" name="Shape 5"/>
          <p:cNvSpPr/>
          <p:nvPr/>
        </p:nvSpPr>
        <p:spPr>
          <a:xfrm>
            <a:off x="731520" y="1783080"/>
            <a:ext cx="5943600" cy="3566160"/>
          </a:xfrm>
          <a:prstGeom prst="roundRect">
            <a:avLst>
              <a:gd name="adj" fmla="val 2308"/>
            </a:avLst>
          </a:prstGeom>
          <a:solidFill>
            <a:srgbClr val="F4F6F8"/>
          </a:solidFill>
          <a:ln w="12700">
            <a:solidFill>
              <a:srgbClr val="E2E6EB"/>
            </a:solidFill>
            <a:prstDash val="solid"/>
          </a:ln>
        </p:spPr>
      </p:sp>
      <p:sp>
        <p:nvSpPr>
          <p:cNvPr id="9" name="Text 6"/>
          <p:cNvSpPr/>
          <p:nvPr/>
        </p:nvSpPr>
        <p:spPr>
          <a:xfrm>
            <a:off x="1024128" y="1938528"/>
            <a:ext cx="5029200" cy="274320"/>
          </a:xfrm>
          <a:prstGeom prst="rect">
            <a:avLst/>
          </a:prstGeom>
          <a:noFill/>
          <a:ln/>
        </p:spPr>
        <p:txBody>
          <a:bodyPr wrap="square" lIns="0" tIns="0" rIns="0" bIns="0" rtlCol="0" anchor="ctr"/>
          <a:lstStyle/>
          <a:p>
            <a:pPr indent="0" marL="0">
              <a:buNone/>
            </a:pPr>
            <a:r>
              <a:rPr lang="en-US" sz="1000" dirty="0">
                <a:solidFill>
                  <a:srgbClr val="141A24"/>
                </a:solidFill>
                <a:latin typeface="Poppins SemiBold" pitchFamily="34" charset="0"/>
                <a:ea typeface="Poppins SemiBold" pitchFamily="34" charset="-122"/>
                <a:cs typeface="Poppins SemiBold" pitchFamily="34" charset="-120"/>
              </a:rPr>
              <a:t>Gross revenue — 1Q25 vs. 1Q26 (BRL Mn)</a:t>
            </a:r>
            <a:endParaRPr lang="en-US" sz="1000" dirty="0"/>
          </a:p>
        </p:txBody>
      </p:sp>
      <p:graphicFrame>
        <p:nvGraphicFramePr>
          <p:cNvPr id="10" name="Chart 0" descr=""/>
          <p:cNvGraphicFramePr/>
          <p:nvPr/>
        </p:nvGraphicFramePr>
        <p:xfrm>
          <a:off x="1005840" y="2286000"/>
          <a:ext cx="5394960" cy="274320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949440" y="1783080"/>
            <a:ext cx="4510735" cy="402336"/>
          </a:xfrm>
          <a:prstGeom prst="roundRect">
            <a:avLst>
              <a:gd name="adj" fmla="val 13636"/>
            </a:avLst>
          </a:prstGeom>
          <a:solidFill>
            <a:srgbClr val="141A24"/>
          </a:solidFill>
          <a:ln/>
        </p:spPr>
      </p:sp>
      <p:sp>
        <p:nvSpPr>
          <p:cNvPr id="12" name="Text 8"/>
          <p:cNvSpPr/>
          <p:nvPr/>
        </p:nvSpPr>
        <p:spPr>
          <a:xfrm>
            <a:off x="7114032" y="1783080"/>
            <a:ext cx="1828800" cy="402336"/>
          </a:xfrm>
          <a:prstGeom prst="rect">
            <a:avLst/>
          </a:prstGeom>
          <a:noFill/>
          <a:ln/>
        </p:spPr>
        <p:txBody>
          <a:bodyPr wrap="square" lIns="0" tIns="0" rIns="0" bIns="0" rtlCol="0" anchor="ctr"/>
          <a:lstStyle/>
          <a:p>
            <a:pPr algn="l" indent="0" marL="0">
              <a:buNone/>
            </a:pPr>
            <a:endParaRPr lang="en-US" sz="850" dirty="0"/>
          </a:p>
        </p:txBody>
      </p:sp>
      <p:sp>
        <p:nvSpPr>
          <p:cNvPr id="13" name="Text 9"/>
          <p:cNvSpPr/>
          <p:nvPr/>
        </p:nvSpPr>
        <p:spPr>
          <a:xfrm>
            <a:off x="8942832" y="1783080"/>
            <a:ext cx="1051560" cy="402336"/>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1Q25</a:t>
            </a:r>
            <a:endParaRPr lang="en-US" sz="850" dirty="0"/>
          </a:p>
        </p:txBody>
      </p:sp>
      <p:sp>
        <p:nvSpPr>
          <p:cNvPr id="14" name="Text 10"/>
          <p:cNvSpPr/>
          <p:nvPr/>
        </p:nvSpPr>
        <p:spPr>
          <a:xfrm>
            <a:off x="9994392" y="1783080"/>
            <a:ext cx="1051560" cy="402336"/>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1Q26</a:t>
            </a:r>
            <a:endParaRPr lang="en-US" sz="850" dirty="0"/>
          </a:p>
        </p:txBody>
      </p:sp>
      <p:sp>
        <p:nvSpPr>
          <p:cNvPr id="15" name="Text 11"/>
          <p:cNvSpPr/>
          <p:nvPr/>
        </p:nvSpPr>
        <p:spPr>
          <a:xfrm>
            <a:off x="11045952" y="1783080"/>
            <a:ext cx="868680" cy="402336"/>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YoY</a:t>
            </a:r>
            <a:endParaRPr lang="en-US" sz="850" dirty="0"/>
          </a:p>
        </p:txBody>
      </p:sp>
      <p:sp>
        <p:nvSpPr>
          <p:cNvPr id="16" name="Shape 12"/>
          <p:cNvSpPr/>
          <p:nvPr/>
        </p:nvSpPr>
        <p:spPr>
          <a:xfrm>
            <a:off x="6949440" y="2185416"/>
            <a:ext cx="4510735" cy="512064"/>
          </a:xfrm>
          <a:prstGeom prst="rect">
            <a:avLst/>
          </a:prstGeom>
          <a:solidFill>
            <a:srgbClr val="FDE9DE"/>
          </a:solidFill>
          <a:ln/>
        </p:spPr>
      </p:sp>
      <p:sp>
        <p:nvSpPr>
          <p:cNvPr id="17" name="Text 13"/>
          <p:cNvSpPr/>
          <p:nvPr/>
        </p:nvSpPr>
        <p:spPr>
          <a:xfrm>
            <a:off x="7114032" y="2185416"/>
            <a:ext cx="1828800" cy="512064"/>
          </a:xfrm>
          <a:prstGeom prst="rect">
            <a:avLst/>
          </a:prstGeom>
          <a:noFill/>
          <a:ln/>
        </p:spPr>
        <p:txBody>
          <a:bodyPr wrap="square" lIns="0" tIns="0" rIns="0" bIns="0" rtlCol="0" anchor="ctr"/>
          <a:lstStyle/>
          <a:p>
            <a:pPr algn="l" indent="0" marL="0">
              <a:buNone/>
            </a:pPr>
            <a:r>
              <a:rPr lang="en-US" sz="850" dirty="0">
                <a:solidFill>
                  <a:srgbClr val="141A24"/>
                </a:solidFill>
                <a:latin typeface="Poppins SemiBold" pitchFamily="34" charset="0"/>
                <a:ea typeface="Poppins SemiBold" pitchFamily="34" charset="-122"/>
                <a:cs typeface="Poppins SemiBold" pitchFamily="34" charset="-120"/>
              </a:rPr>
              <a:t>Total 1Q gross revenue</a:t>
            </a:r>
            <a:endParaRPr lang="en-US" sz="850" dirty="0"/>
          </a:p>
        </p:txBody>
      </p:sp>
      <p:sp>
        <p:nvSpPr>
          <p:cNvPr id="18" name="Text 14"/>
          <p:cNvSpPr/>
          <p:nvPr/>
        </p:nvSpPr>
        <p:spPr>
          <a:xfrm>
            <a:off x="8942832" y="2185416"/>
            <a:ext cx="1051560" cy="512064"/>
          </a:xfrm>
          <a:prstGeom prst="rect">
            <a:avLst/>
          </a:prstGeom>
          <a:noFill/>
          <a:ln/>
        </p:spPr>
        <p:txBody>
          <a:bodyPr wrap="square" lIns="0" tIns="0" rIns="0" bIns="0" rtlCol="0" anchor="ctr"/>
          <a:lstStyle/>
          <a:p>
            <a:pPr algn="r" indent="0" marL="0">
              <a:buNone/>
            </a:pPr>
            <a:r>
              <a:rPr lang="en-US" sz="850" dirty="0">
                <a:solidFill>
                  <a:srgbClr val="141A24"/>
                </a:solidFill>
                <a:latin typeface="Poppins" pitchFamily="34" charset="0"/>
                <a:ea typeface="Poppins" pitchFamily="34" charset="-122"/>
                <a:cs typeface="Poppins" pitchFamily="34" charset="-120"/>
              </a:rPr>
              <a:t>BRL 30.8 Mn</a:t>
            </a:r>
            <a:endParaRPr lang="en-US" sz="850" dirty="0"/>
          </a:p>
        </p:txBody>
      </p:sp>
      <p:sp>
        <p:nvSpPr>
          <p:cNvPr id="19" name="Text 15"/>
          <p:cNvSpPr/>
          <p:nvPr/>
        </p:nvSpPr>
        <p:spPr>
          <a:xfrm>
            <a:off x="9994392" y="2185416"/>
            <a:ext cx="1051560" cy="512064"/>
          </a:xfrm>
          <a:prstGeom prst="rect">
            <a:avLst/>
          </a:prstGeom>
          <a:noFill/>
          <a:ln/>
        </p:spPr>
        <p:txBody>
          <a:bodyPr wrap="square" lIns="0" tIns="0" rIns="0" bIns="0" rtlCol="0" anchor="ctr"/>
          <a:lstStyle/>
          <a:p>
            <a:pPr algn="r" indent="0" marL="0">
              <a:buNone/>
            </a:pPr>
            <a:r>
              <a:rPr lang="en-US" sz="850" dirty="0">
                <a:solidFill>
                  <a:srgbClr val="141A24"/>
                </a:solidFill>
                <a:latin typeface="Poppins" pitchFamily="34" charset="0"/>
                <a:ea typeface="Poppins" pitchFamily="34" charset="-122"/>
                <a:cs typeface="Poppins" pitchFamily="34" charset="-120"/>
              </a:rPr>
              <a:t>BRL 43.5 Mn</a:t>
            </a:r>
            <a:endParaRPr lang="en-US" sz="850" dirty="0"/>
          </a:p>
        </p:txBody>
      </p:sp>
      <p:sp>
        <p:nvSpPr>
          <p:cNvPr id="20" name="Text 16"/>
          <p:cNvSpPr/>
          <p:nvPr/>
        </p:nvSpPr>
        <p:spPr>
          <a:xfrm>
            <a:off x="11045952" y="2185416"/>
            <a:ext cx="868680" cy="512064"/>
          </a:xfrm>
          <a:prstGeom prst="rect">
            <a:avLst/>
          </a:prstGeom>
          <a:noFill/>
          <a:ln/>
        </p:spPr>
        <p:txBody>
          <a:bodyPr wrap="square" lIns="0" tIns="0" rIns="0" bIns="0" rtlCol="0" anchor="ctr"/>
          <a:lstStyle/>
          <a:p>
            <a:pPr algn="r" indent="0" marL="0">
              <a:buNone/>
            </a:pPr>
            <a:r>
              <a:rPr lang="en-US" sz="850" dirty="0">
                <a:solidFill>
                  <a:srgbClr val="C6470F"/>
                </a:solidFill>
                <a:latin typeface="Poppins SemiBold" pitchFamily="34" charset="0"/>
                <a:ea typeface="Poppins SemiBold" pitchFamily="34" charset="-122"/>
                <a:cs typeface="Poppins SemiBold" pitchFamily="34" charset="-120"/>
              </a:rPr>
              <a:t>+41.3%</a:t>
            </a:r>
            <a:endParaRPr lang="en-US" sz="850" dirty="0"/>
          </a:p>
        </p:txBody>
      </p:sp>
      <p:sp>
        <p:nvSpPr>
          <p:cNvPr id="21" name="Text 17"/>
          <p:cNvSpPr/>
          <p:nvPr/>
        </p:nvSpPr>
        <p:spPr>
          <a:xfrm>
            <a:off x="7114032" y="2697480"/>
            <a:ext cx="1828800" cy="512064"/>
          </a:xfrm>
          <a:prstGeom prst="rect">
            <a:avLst/>
          </a:prstGeom>
          <a:noFill/>
          <a:ln/>
        </p:spPr>
        <p:txBody>
          <a:bodyPr wrap="square" lIns="0" tIns="0" rIns="0" bIns="0" rtlCol="0" anchor="ctr"/>
          <a:lstStyle/>
          <a:p>
            <a:pPr algn="l" indent="0" marL="0">
              <a:buNone/>
            </a:pPr>
            <a:r>
              <a:rPr lang="en-US" sz="850" dirty="0">
                <a:solidFill>
                  <a:srgbClr val="2B333E"/>
                </a:solidFill>
                <a:latin typeface="Poppins SemiBold" pitchFamily="34" charset="0"/>
                <a:ea typeface="Poppins SemiBold" pitchFamily="34" charset="-122"/>
                <a:cs typeface="Poppins SemiBold" pitchFamily="34" charset="-120"/>
              </a:rPr>
              <a:t>AGM Caetano</a:t>
            </a:r>
            <a:endParaRPr lang="en-US" sz="850" dirty="0"/>
          </a:p>
        </p:txBody>
      </p:sp>
      <p:sp>
        <p:nvSpPr>
          <p:cNvPr id="22" name="Text 18"/>
          <p:cNvSpPr/>
          <p:nvPr/>
        </p:nvSpPr>
        <p:spPr>
          <a:xfrm>
            <a:off x="8942832" y="2697480"/>
            <a:ext cx="1051560" cy="512064"/>
          </a:xfrm>
          <a:prstGeom prst="rect">
            <a:avLst/>
          </a:prstGeom>
          <a:noFill/>
          <a:ln/>
        </p:spPr>
        <p:txBody>
          <a:bodyPr wrap="square" lIns="0" tIns="0" rIns="0" bIns="0" rtlCol="0" anchor="ctr"/>
          <a:lstStyle/>
          <a:p>
            <a:pPr algn="r" indent="0" marL="0">
              <a:buNone/>
            </a:pPr>
            <a:r>
              <a:rPr lang="en-US" sz="850" dirty="0">
                <a:solidFill>
                  <a:srgbClr val="2B333E"/>
                </a:solidFill>
                <a:latin typeface="Poppins" pitchFamily="34" charset="0"/>
                <a:ea typeface="Poppins" pitchFamily="34" charset="-122"/>
                <a:cs typeface="Poppins" pitchFamily="34" charset="-120"/>
              </a:rPr>
              <a:t>BRL 26.6 Mn</a:t>
            </a:r>
            <a:endParaRPr lang="en-US" sz="850" dirty="0"/>
          </a:p>
        </p:txBody>
      </p:sp>
      <p:sp>
        <p:nvSpPr>
          <p:cNvPr id="23" name="Text 19"/>
          <p:cNvSpPr/>
          <p:nvPr/>
        </p:nvSpPr>
        <p:spPr>
          <a:xfrm>
            <a:off x="9994392" y="2697480"/>
            <a:ext cx="1051560" cy="512064"/>
          </a:xfrm>
          <a:prstGeom prst="rect">
            <a:avLst/>
          </a:prstGeom>
          <a:noFill/>
          <a:ln/>
        </p:spPr>
        <p:txBody>
          <a:bodyPr wrap="square" lIns="0" tIns="0" rIns="0" bIns="0" rtlCol="0" anchor="ctr"/>
          <a:lstStyle/>
          <a:p>
            <a:pPr algn="r" indent="0" marL="0">
              <a:buNone/>
            </a:pPr>
            <a:r>
              <a:rPr lang="en-US" sz="850" dirty="0">
                <a:solidFill>
                  <a:srgbClr val="2B333E"/>
                </a:solidFill>
                <a:latin typeface="Poppins" pitchFamily="34" charset="0"/>
                <a:ea typeface="Poppins" pitchFamily="34" charset="-122"/>
                <a:cs typeface="Poppins" pitchFamily="34" charset="-120"/>
              </a:rPr>
              <a:t>BRL 36.2 Mn</a:t>
            </a:r>
            <a:endParaRPr lang="en-US" sz="850" dirty="0"/>
          </a:p>
        </p:txBody>
      </p:sp>
      <p:sp>
        <p:nvSpPr>
          <p:cNvPr id="24" name="Text 20"/>
          <p:cNvSpPr/>
          <p:nvPr/>
        </p:nvSpPr>
        <p:spPr>
          <a:xfrm>
            <a:off x="11045952" y="2697480"/>
            <a:ext cx="868680" cy="512064"/>
          </a:xfrm>
          <a:prstGeom prst="rect">
            <a:avLst/>
          </a:prstGeom>
          <a:noFill/>
          <a:ln/>
        </p:spPr>
        <p:txBody>
          <a:bodyPr wrap="square" lIns="0" tIns="0" rIns="0" bIns="0" rtlCol="0" anchor="ctr"/>
          <a:lstStyle/>
          <a:p>
            <a:pPr algn="r" indent="0" marL="0">
              <a:buNone/>
            </a:pPr>
            <a:r>
              <a:rPr lang="en-US" sz="850" dirty="0">
                <a:solidFill>
                  <a:srgbClr val="C6470F"/>
                </a:solidFill>
                <a:latin typeface="Poppins SemiBold" pitchFamily="34" charset="0"/>
                <a:ea typeface="Poppins SemiBold" pitchFamily="34" charset="-122"/>
                <a:cs typeface="Poppins SemiBold" pitchFamily="34" charset="-120"/>
              </a:rPr>
              <a:t>+36.1%</a:t>
            </a:r>
            <a:endParaRPr lang="en-US" sz="850" dirty="0"/>
          </a:p>
        </p:txBody>
      </p:sp>
      <p:sp>
        <p:nvSpPr>
          <p:cNvPr id="25" name="Shape 21"/>
          <p:cNvSpPr/>
          <p:nvPr/>
        </p:nvSpPr>
        <p:spPr>
          <a:xfrm>
            <a:off x="6949440" y="3209544"/>
            <a:ext cx="4510735" cy="512064"/>
          </a:xfrm>
          <a:prstGeom prst="rect">
            <a:avLst/>
          </a:prstGeom>
          <a:solidFill>
            <a:srgbClr val="F4F6F8"/>
          </a:solidFill>
          <a:ln/>
        </p:spPr>
      </p:sp>
      <p:sp>
        <p:nvSpPr>
          <p:cNvPr id="26" name="Text 22"/>
          <p:cNvSpPr/>
          <p:nvPr/>
        </p:nvSpPr>
        <p:spPr>
          <a:xfrm>
            <a:off x="7114032" y="3209544"/>
            <a:ext cx="1828800" cy="512064"/>
          </a:xfrm>
          <a:prstGeom prst="rect">
            <a:avLst/>
          </a:prstGeom>
          <a:noFill/>
          <a:ln/>
        </p:spPr>
        <p:txBody>
          <a:bodyPr wrap="square" lIns="0" tIns="0" rIns="0" bIns="0" rtlCol="0" anchor="ctr"/>
          <a:lstStyle/>
          <a:p>
            <a:pPr algn="l" indent="0" marL="0">
              <a:buNone/>
            </a:pPr>
            <a:r>
              <a:rPr lang="en-US" sz="850" dirty="0">
                <a:solidFill>
                  <a:srgbClr val="2B333E"/>
                </a:solidFill>
                <a:latin typeface="Poppins SemiBold" pitchFamily="34" charset="0"/>
                <a:ea typeface="Poppins SemiBold" pitchFamily="34" charset="-122"/>
                <a:cs typeface="Poppins SemiBold" pitchFamily="34" charset="-120"/>
              </a:rPr>
              <a:t>AGM Alpha</a:t>
            </a:r>
            <a:endParaRPr lang="en-US" sz="850" dirty="0"/>
          </a:p>
        </p:txBody>
      </p:sp>
      <p:sp>
        <p:nvSpPr>
          <p:cNvPr id="27" name="Text 23"/>
          <p:cNvSpPr/>
          <p:nvPr/>
        </p:nvSpPr>
        <p:spPr>
          <a:xfrm>
            <a:off x="8942832" y="3209544"/>
            <a:ext cx="1051560" cy="512064"/>
          </a:xfrm>
          <a:prstGeom prst="rect">
            <a:avLst/>
          </a:prstGeom>
          <a:noFill/>
          <a:ln/>
        </p:spPr>
        <p:txBody>
          <a:bodyPr wrap="square" lIns="0" tIns="0" rIns="0" bIns="0" rtlCol="0" anchor="ctr"/>
          <a:lstStyle/>
          <a:p>
            <a:pPr algn="r" indent="0" marL="0">
              <a:buNone/>
            </a:pPr>
            <a:r>
              <a:rPr lang="en-US" sz="850" dirty="0">
                <a:solidFill>
                  <a:srgbClr val="2B333E"/>
                </a:solidFill>
                <a:latin typeface="Poppins" pitchFamily="34" charset="0"/>
                <a:ea typeface="Poppins" pitchFamily="34" charset="-122"/>
                <a:cs typeface="Poppins" pitchFamily="34" charset="-120"/>
              </a:rPr>
              <a:t>BRL 4.2 Mn</a:t>
            </a:r>
            <a:endParaRPr lang="en-US" sz="850" dirty="0"/>
          </a:p>
        </p:txBody>
      </p:sp>
      <p:sp>
        <p:nvSpPr>
          <p:cNvPr id="28" name="Text 24"/>
          <p:cNvSpPr/>
          <p:nvPr/>
        </p:nvSpPr>
        <p:spPr>
          <a:xfrm>
            <a:off x="9994392" y="3209544"/>
            <a:ext cx="1051560" cy="512064"/>
          </a:xfrm>
          <a:prstGeom prst="rect">
            <a:avLst/>
          </a:prstGeom>
          <a:noFill/>
          <a:ln/>
        </p:spPr>
        <p:txBody>
          <a:bodyPr wrap="square" lIns="0" tIns="0" rIns="0" bIns="0" rtlCol="0" anchor="ctr"/>
          <a:lstStyle/>
          <a:p>
            <a:pPr algn="r" indent="0" marL="0">
              <a:buNone/>
            </a:pPr>
            <a:r>
              <a:rPr lang="en-US" sz="850" dirty="0">
                <a:solidFill>
                  <a:srgbClr val="2B333E"/>
                </a:solidFill>
                <a:latin typeface="Poppins" pitchFamily="34" charset="0"/>
                <a:ea typeface="Poppins" pitchFamily="34" charset="-122"/>
                <a:cs typeface="Poppins" pitchFamily="34" charset="-120"/>
              </a:rPr>
              <a:t>BRL 7.3 Mn</a:t>
            </a:r>
            <a:endParaRPr lang="en-US" sz="850" dirty="0"/>
          </a:p>
        </p:txBody>
      </p:sp>
      <p:sp>
        <p:nvSpPr>
          <p:cNvPr id="29" name="Text 25"/>
          <p:cNvSpPr/>
          <p:nvPr/>
        </p:nvSpPr>
        <p:spPr>
          <a:xfrm>
            <a:off x="11045952" y="3209544"/>
            <a:ext cx="868680" cy="512064"/>
          </a:xfrm>
          <a:prstGeom prst="rect">
            <a:avLst/>
          </a:prstGeom>
          <a:noFill/>
          <a:ln/>
        </p:spPr>
        <p:txBody>
          <a:bodyPr wrap="square" lIns="0" tIns="0" rIns="0" bIns="0" rtlCol="0" anchor="ctr"/>
          <a:lstStyle/>
          <a:p>
            <a:pPr algn="r" indent="0" marL="0">
              <a:buNone/>
            </a:pPr>
            <a:r>
              <a:rPr lang="en-US" sz="850" dirty="0">
                <a:solidFill>
                  <a:srgbClr val="C6470F"/>
                </a:solidFill>
                <a:latin typeface="Poppins SemiBold" pitchFamily="34" charset="0"/>
                <a:ea typeface="Poppins SemiBold" pitchFamily="34" charset="-122"/>
                <a:cs typeface="Poppins SemiBold" pitchFamily="34" charset="-120"/>
              </a:rPr>
              <a:t>+74.3%</a:t>
            </a:r>
            <a:endParaRPr lang="en-US" sz="850" dirty="0"/>
          </a:p>
        </p:txBody>
      </p:sp>
      <p:sp>
        <p:nvSpPr>
          <p:cNvPr id="30" name="Shape 26"/>
          <p:cNvSpPr/>
          <p:nvPr/>
        </p:nvSpPr>
        <p:spPr>
          <a:xfrm>
            <a:off x="6949440" y="3886200"/>
            <a:ext cx="4510735" cy="822960"/>
          </a:xfrm>
          <a:prstGeom prst="roundRect">
            <a:avLst>
              <a:gd name="adj" fmla="val 7778"/>
            </a:avLst>
          </a:prstGeom>
          <a:solidFill>
            <a:srgbClr val="F4F6F8"/>
          </a:solidFill>
          <a:ln w="12700">
            <a:solidFill>
              <a:srgbClr val="E2E6EB"/>
            </a:solidFill>
            <a:prstDash val="solid"/>
          </a:ln>
        </p:spPr>
      </p:sp>
      <p:sp>
        <p:nvSpPr>
          <p:cNvPr id="31" name="Shape 27"/>
          <p:cNvSpPr/>
          <p:nvPr/>
        </p:nvSpPr>
        <p:spPr>
          <a:xfrm>
            <a:off x="6949440" y="4083710"/>
            <a:ext cx="50292" cy="427939"/>
          </a:xfrm>
          <a:prstGeom prst="rect">
            <a:avLst/>
          </a:prstGeom>
          <a:solidFill>
            <a:srgbClr val="F35B1A"/>
          </a:solidFill>
          <a:ln/>
        </p:spPr>
      </p:sp>
      <p:sp>
        <p:nvSpPr>
          <p:cNvPr id="32" name="Text 28"/>
          <p:cNvSpPr/>
          <p:nvPr/>
        </p:nvSpPr>
        <p:spPr>
          <a:xfrm>
            <a:off x="7168896" y="4017874"/>
            <a:ext cx="4144975" cy="345643"/>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+41.3%</a:t>
            </a:r>
            <a:endParaRPr lang="en-US" sz="1800" dirty="0"/>
          </a:p>
        </p:txBody>
      </p:sp>
      <p:sp>
        <p:nvSpPr>
          <p:cNvPr id="33" name="Text 29"/>
          <p:cNvSpPr/>
          <p:nvPr/>
        </p:nvSpPr>
        <p:spPr>
          <a:xfrm>
            <a:off x="7168896" y="4347058"/>
            <a:ext cx="4144975" cy="263347"/>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Combined 1Q gross revenue growth (YoY)</a:t>
            </a:r>
            <a:endParaRPr lang="en-US" sz="800" dirty="0"/>
          </a:p>
        </p:txBody>
      </p:sp>
      <p:sp>
        <p:nvSpPr>
          <p:cNvPr id="34" name="Shape 30"/>
          <p:cNvSpPr/>
          <p:nvPr/>
        </p:nvSpPr>
        <p:spPr>
          <a:xfrm>
            <a:off x="6949440" y="4846320"/>
            <a:ext cx="4510735" cy="502920"/>
          </a:xfrm>
          <a:prstGeom prst="roundRect">
            <a:avLst>
              <a:gd name="adj" fmla="val 12727"/>
            </a:avLst>
          </a:prstGeom>
          <a:solidFill>
            <a:srgbClr val="141A24"/>
          </a:solidFill>
          <a:ln/>
        </p:spPr>
      </p:sp>
      <p:sp>
        <p:nvSpPr>
          <p:cNvPr id="35" name="Text 31"/>
          <p:cNvSpPr/>
          <p:nvPr/>
        </p:nvSpPr>
        <p:spPr>
          <a:xfrm>
            <a:off x="7132320" y="4846320"/>
            <a:ext cx="4144975" cy="502920"/>
          </a:xfrm>
          <a:prstGeom prst="rect">
            <a:avLst/>
          </a:prstGeom>
          <a:noFill/>
          <a:ln/>
        </p:spPr>
        <p:txBody>
          <a:bodyPr wrap="square" lIns="0" tIns="0" rIns="0" bIns="0" rtlCol="0" anchor="ctr"/>
          <a:lstStyle/>
          <a:p>
            <a:pPr algn="ctr" indent="0" marL="0">
              <a:buNone/>
            </a:pPr>
            <a:r>
              <a:rPr lang="en-US" sz="900" dirty="0">
                <a:solidFill>
                  <a:srgbClr val="FFFFFF"/>
                </a:solidFill>
                <a:latin typeface="Poppins Medium" pitchFamily="34" charset="0"/>
                <a:ea typeface="Poppins Medium" pitchFamily="34" charset="-122"/>
                <a:cs typeface="Poppins Medium" pitchFamily="34" charset="-120"/>
              </a:rPr>
              <a:t>Both entities contributed to growth</a:t>
            </a:r>
            <a:endParaRPr lang="en-US" sz="900" dirty="0"/>
          </a:p>
        </p:txBody>
      </p:sp>
      <p:sp>
        <p:nvSpPr>
          <p:cNvPr id="36" name="Shape 32"/>
          <p:cNvSpPr/>
          <p:nvPr/>
        </p:nvSpPr>
        <p:spPr>
          <a:xfrm>
            <a:off x="0" y="6172200"/>
            <a:ext cx="12191695" cy="685800"/>
          </a:xfrm>
          <a:prstGeom prst="rect">
            <a:avLst/>
          </a:prstGeom>
          <a:solidFill>
            <a:srgbClr val="141A24"/>
          </a:solidFill>
          <a:ln/>
        </p:spPr>
      </p:sp>
      <p:sp>
        <p:nvSpPr>
          <p:cNvPr id="37" name="Shape 33"/>
          <p:cNvSpPr/>
          <p:nvPr/>
        </p:nvSpPr>
        <p:spPr>
          <a:xfrm>
            <a:off x="0" y="6172200"/>
            <a:ext cx="118872" cy="685800"/>
          </a:xfrm>
          <a:prstGeom prst="rect">
            <a:avLst/>
          </a:prstGeom>
          <a:solidFill>
            <a:srgbClr val="F35B1A"/>
          </a:solidFill>
          <a:ln/>
        </p:spPr>
      </p:sp>
      <p:sp>
        <p:nvSpPr>
          <p:cNvPr id="38" name="Text 34"/>
          <p:cNvSpPr/>
          <p:nvPr/>
        </p:nvSpPr>
        <p:spPr>
          <a:xfrm>
            <a:off x="1920240" y="6172200"/>
            <a:ext cx="8351215" cy="685800"/>
          </a:xfrm>
          <a:prstGeom prst="rect">
            <a:avLst/>
          </a:prstGeom>
          <a:noFill/>
          <a:ln/>
        </p:spPr>
        <p:txBody>
          <a:bodyPr wrap="square" lIns="0" tIns="0" rIns="0" bIns="0" rtlCol="0" anchor="ctr"/>
          <a:lstStyle/>
          <a:p>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1Q gross revenue up </a:t>
            </a:r>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+41.3% year-on-year</a:t>
            </a:r>
            <a:pPr algn="ctr" indent="0" marL="0">
              <a:buNone/>
            </a:pPr>
            <a:r>
              <a:rPr lang="en-US" sz="1200" dirty="0">
                <a:solidFill>
                  <a:srgbClr val="E8ECF1"/>
                </a:solidFill>
                <a:latin typeface="Poppins SemiBold" pitchFamily="34" charset="0"/>
                <a:ea typeface="Poppins SemiBold" pitchFamily="34" charset="-122"/>
                <a:cs typeface="Poppins SemiBold" pitchFamily="34" charset="-120"/>
              </a:rPr>
              <a:t> across both operating entities</a:t>
            </a:r>
            <a:endParaRPr lang="en-US" sz="1200" dirty="0"/>
          </a:p>
        </p:txBody>
      </p:sp>
      <p:pic>
        <p:nvPicPr>
          <p:cNvPr id="39" name="Image 1" descr="assets/igc_white.png">    </p:cNvPr>
          <p:cNvPicPr>
            <a:picLocks noChangeAspect="1"/>
          </p:cNvPicPr>
          <p:nvPr/>
        </p:nvPicPr>
        <p:blipFill>
          <a:blip r:embed="rId3"/>
          <a:stretch>
            <a:fillRect/>
          </a:stretch>
        </p:blipFill>
        <p:spPr>
          <a:xfrm>
            <a:off x="731520" y="6387084"/>
            <a:ext cx="274320" cy="237134"/>
          </a:xfrm>
          <a:prstGeom prst="rect">
            <a:avLst/>
          </a:prstGeom>
        </p:spPr>
      </p:pic>
      <p:sp>
        <p:nvSpPr>
          <p:cNvPr id="40" name="Text 35"/>
          <p:cNvSpPr/>
          <p:nvPr/>
        </p:nvSpPr>
        <p:spPr>
          <a:xfrm>
            <a:off x="1097280"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27</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91495" y="310896"/>
            <a:ext cx="868680" cy="278249"/>
          </a:xfrm>
          <a:prstGeom prst="rect">
            <a:avLst/>
          </a:prstGeom>
        </p:spPr>
      </p:pic>
      <p:sp>
        <p:nvSpPr>
          <p:cNvPr id="3" name="Shape 0"/>
          <p:cNvSpPr/>
          <p:nvPr/>
        </p:nvSpPr>
        <p:spPr>
          <a:xfrm>
            <a:off x="731520" y="310896"/>
            <a:ext cx="1773936" cy="310896"/>
          </a:xfrm>
          <a:prstGeom prst="roundRect">
            <a:avLst>
              <a:gd name="adj" fmla="val 25000"/>
            </a:avLst>
          </a:prstGeom>
          <a:solidFill>
            <a:srgbClr val="FDE9DE"/>
          </a:solidFill>
          <a:ln/>
        </p:spPr>
      </p:sp>
      <p:sp>
        <p:nvSpPr>
          <p:cNvPr id="4" name="Text 1"/>
          <p:cNvSpPr/>
          <p:nvPr/>
        </p:nvSpPr>
        <p:spPr>
          <a:xfrm>
            <a:off x="731520" y="310896"/>
            <a:ext cx="1773936" cy="310896"/>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Financial Highlights</a:t>
            </a:r>
            <a:endParaRPr lang="en-US" sz="900" dirty="0"/>
          </a:p>
        </p:txBody>
      </p:sp>
      <p:sp>
        <p:nvSpPr>
          <p:cNvPr id="5" name="Text 2"/>
          <p:cNvSpPr/>
          <p:nvPr/>
        </p:nvSpPr>
        <p:spPr>
          <a:xfrm>
            <a:off x="731520" y="722376"/>
            <a:ext cx="10225735" cy="493776"/>
          </a:xfrm>
          <a:prstGeom prst="rect">
            <a:avLst/>
          </a:prstGeom>
          <a:noFill/>
          <a:ln/>
        </p:spPr>
        <p:txBody>
          <a:bodyPr wrap="square" lIns="0" tIns="0" rIns="0" bIns="0" rtlCol="0" anchor="ctr"/>
          <a:lstStyle/>
          <a:p>
            <a:pPr indent="0" marL="0">
              <a:buNone/>
            </a:pPr>
            <a:r>
              <a:rPr lang="en-US" sz="1800" dirty="0">
                <a:solidFill>
                  <a:srgbClr val="141A24"/>
                </a:solidFill>
                <a:latin typeface="Poppins SemiBold" pitchFamily="34" charset="0"/>
                <a:ea typeface="Poppins SemiBold" pitchFamily="34" charset="-122"/>
                <a:cs typeface="Poppins SemiBold" pitchFamily="34" charset="-120"/>
              </a:rPr>
              <a:t>Consolidated income statement</a:t>
            </a:r>
            <a:endParaRPr lang="en-US" sz="1800" dirty="0"/>
          </a:p>
        </p:txBody>
      </p:sp>
      <p:sp>
        <p:nvSpPr>
          <p:cNvPr id="6" name="Text 3"/>
          <p:cNvSpPr/>
          <p:nvPr/>
        </p:nvSpPr>
        <p:spPr>
          <a:xfrm>
            <a:off x="731520" y="1225296"/>
            <a:ext cx="10225735" cy="402336"/>
          </a:xfrm>
          <a:prstGeom prst="rect">
            <a:avLst/>
          </a:prstGeom>
          <a:noFill/>
          <a:ln/>
        </p:spPr>
        <p:txBody>
          <a:bodyPr wrap="square" lIns="0" tIns="0" rIns="0" bIns="0" rtlCol="0" anchor="t"/>
          <a:lstStyle/>
          <a:p>
            <a:pPr indent="0" marL="0">
              <a:lnSpc>
                <a:spcPct val="104000"/>
              </a:lnSpc>
              <a:buNone/>
            </a:pPr>
            <a:r>
              <a:rPr lang="en-US" sz="1050" dirty="0">
                <a:solidFill>
                  <a:srgbClr val="6C7683"/>
                </a:solidFill>
                <a:latin typeface="Poppins" pitchFamily="34" charset="0"/>
                <a:ea typeface="Poppins" pitchFamily="34" charset="-122"/>
                <a:cs typeface="Poppins" pitchFamily="34" charset="-120"/>
              </a:rPr>
              <a:t>Combined figures for AGM Caetano and AGM Alpha — full series to be confirmed with the Company</a:t>
            </a:r>
            <a:endParaRPr lang="en-US" sz="1050" dirty="0"/>
          </a:p>
        </p:txBody>
      </p:sp>
      <p:sp>
        <p:nvSpPr>
          <p:cNvPr id="7" name="Text 4"/>
          <p:cNvSpPr/>
          <p:nvPr/>
        </p:nvSpPr>
        <p:spPr>
          <a:xfrm>
            <a:off x="731520" y="6309360"/>
            <a:ext cx="10728655" cy="219456"/>
          </a:xfrm>
          <a:prstGeom prst="rect">
            <a:avLst/>
          </a:prstGeom>
          <a:noFill/>
          <a:ln/>
        </p:spPr>
        <p:txBody>
          <a:bodyPr wrap="square" lIns="0" tIns="0" rIns="0" bIns="0" rtlCol="0" anchor="ctr"/>
          <a:lstStyle/>
          <a:p>
            <a:pPr indent="0" marL="0">
              <a:buNone/>
            </a:pPr>
            <a:r>
              <a:rPr lang="en-US" sz="700" dirty="0">
                <a:solidFill>
                  <a:srgbClr val="9AA3AD"/>
                </a:solidFill>
                <a:latin typeface="Poppins" pitchFamily="34" charset="0"/>
                <a:ea typeface="Poppins" pitchFamily="34" charset="-122"/>
                <a:cs typeface="Poppins" pitchFamily="34" charset="-120"/>
              </a:rPr>
              <a:t>Source: Company. Illustrative structure; all figures to be confirmed with management. Net revenues and EBITDA for 2025 are preliminary.</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74320" cy="237134"/>
          </a:xfrm>
          <a:prstGeom prst="rect">
            <a:avLst/>
          </a:prstGeom>
        </p:spPr>
      </p:pic>
      <p:sp>
        <p:nvSpPr>
          <p:cNvPr id="9" name="Text 5"/>
          <p:cNvSpPr/>
          <p:nvPr/>
        </p:nvSpPr>
        <p:spPr>
          <a:xfrm>
            <a:off x="1097280"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28</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783080"/>
            <a:ext cx="10728655" cy="384048"/>
          </a:xfrm>
          <a:prstGeom prst="roundRect">
            <a:avLst>
              <a:gd name="adj" fmla="val 11905"/>
            </a:avLst>
          </a:prstGeom>
          <a:solidFill>
            <a:srgbClr val="141A24"/>
          </a:solidFill>
          <a:ln/>
        </p:spPr>
      </p:sp>
      <p:sp>
        <p:nvSpPr>
          <p:cNvPr id="11" name="Text 7"/>
          <p:cNvSpPr/>
          <p:nvPr/>
        </p:nvSpPr>
        <p:spPr>
          <a:xfrm>
            <a:off x="914400" y="1783080"/>
            <a:ext cx="3657600" cy="384048"/>
          </a:xfrm>
          <a:prstGeom prst="rect">
            <a:avLst/>
          </a:prstGeom>
          <a:noFill/>
          <a:ln/>
        </p:spPr>
        <p:txBody>
          <a:bodyPr wrap="square" lIns="0" tIns="0" rIns="0" bIns="0" rtlCol="0" anchor="ctr"/>
          <a:lstStyle/>
          <a:p>
            <a:pPr indent="0" marL="0">
              <a:buNone/>
            </a:pPr>
            <a:r>
              <a:rPr lang="en-US" sz="850" dirty="0">
                <a:solidFill>
                  <a:srgbClr val="FFFFFF"/>
                </a:solidFill>
                <a:latin typeface="Poppins SemiBold" pitchFamily="34" charset="0"/>
                <a:ea typeface="Poppins SemiBold" pitchFamily="34" charset="-122"/>
                <a:cs typeface="Poppins SemiBold" pitchFamily="34" charset="-120"/>
              </a:rPr>
              <a:t>BRL Mn</a:t>
            </a:r>
            <a:endParaRPr lang="en-US" sz="850" dirty="0"/>
          </a:p>
        </p:txBody>
      </p:sp>
      <p:sp>
        <p:nvSpPr>
          <p:cNvPr id="12" name="Text 8"/>
          <p:cNvSpPr/>
          <p:nvPr/>
        </p:nvSpPr>
        <p:spPr>
          <a:xfrm>
            <a:off x="4389120"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2022</a:t>
            </a:r>
            <a:endParaRPr lang="en-US" sz="850" dirty="0"/>
          </a:p>
        </p:txBody>
      </p:sp>
      <p:sp>
        <p:nvSpPr>
          <p:cNvPr id="13" name="Text 9"/>
          <p:cNvSpPr/>
          <p:nvPr/>
        </p:nvSpPr>
        <p:spPr>
          <a:xfrm>
            <a:off x="5803331"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2023</a:t>
            </a:r>
            <a:endParaRPr lang="en-US" sz="850" dirty="0"/>
          </a:p>
        </p:txBody>
      </p:sp>
      <p:sp>
        <p:nvSpPr>
          <p:cNvPr id="14" name="Text 10"/>
          <p:cNvSpPr/>
          <p:nvPr/>
        </p:nvSpPr>
        <p:spPr>
          <a:xfrm>
            <a:off x="7217542"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2024</a:t>
            </a:r>
            <a:endParaRPr lang="en-US" sz="850" dirty="0"/>
          </a:p>
        </p:txBody>
      </p:sp>
      <p:sp>
        <p:nvSpPr>
          <p:cNvPr id="15" name="Text 11"/>
          <p:cNvSpPr/>
          <p:nvPr/>
        </p:nvSpPr>
        <p:spPr>
          <a:xfrm>
            <a:off x="8631753"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2025</a:t>
            </a:r>
            <a:endParaRPr lang="en-US" sz="850" dirty="0"/>
          </a:p>
        </p:txBody>
      </p:sp>
      <p:sp>
        <p:nvSpPr>
          <p:cNvPr id="16" name="Text 12"/>
          <p:cNvSpPr/>
          <p:nvPr/>
        </p:nvSpPr>
        <p:spPr>
          <a:xfrm>
            <a:off x="10045964" y="1783080"/>
            <a:ext cx="1267907" cy="384048"/>
          </a:xfrm>
          <a:prstGeom prst="rect">
            <a:avLst/>
          </a:prstGeom>
          <a:noFill/>
          <a:ln/>
        </p:spPr>
        <p:txBody>
          <a:bodyPr wrap="square" lIns="0" tIns="0" rIns="0" bIns="0" rtlCol="0" anchor="ctr"/>
          <a:lstStyle/>
          <a:p>
            <a:pPr algn="r" indent="0" marL="0">
              <a:buNone/>
            </a:pPr>
            <a:r>
              <a:rPr lang="en-US" sz="850" dirty="0">
                <a:solidFill>
                  <a:srgbClr val="FFFFFF"/>
                </a:solidFill>
                <a:latin typeface="Poppins SemiBold" pitchFamily="34" charset="0"/>
                <a:ea typeface="Poppins SemiBold" pitchFamily="34" charset="-122"/>
                <a:cs typeface="Poppins SemiBold" pitchFamily="34" charset="-120"/>
              </a:rPr>
              <a:t>2026E</a:t>
            </a:r>
            <a:endParaRPr lang="en-US" sz="850" dirty="0"/>
          </a:p>
        </p:txBody>
      </p:sp>
      <p:sp>
        <p:nvSpPr>
          <p:cNvPr id="17" name="Text 13"/>
          <p:cNvSpPr/>
          <p:nvPr/>
        </p:nvSpPr>
        <p:spPr>
          <a:xfrm>
            <a:off x="914400" y="216712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Gross revenue</a:t>
            </a:r>
            <a:endParaRPr lang="en-US" sz="800" dirty="0"/>
          </a:p>
        </p:txBody>
      </p:sp>
      <p:sp>
        <p:nvSpPr>
          <p:cNvPr id="18" name="Text 14"/>
          <p:cNvSpPr/>
          <p:nvPr/>
        </p:nvSpPr>
        <p:spPr>
          <a:xfrm>
            <a:off x="4389120"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9" name="Text 15"/>
          <p:cNvSpPr/>
          <p:nvPr/>
        </p:nvSpPr>
        <p:spPr>
          <a:xfrm>
            <a:off x="5803331"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0" name="Text 16"/>
          <p:cNvSpPr/>
          <p:nvPr/>
        </p:nvSpPr>
        <p:spPr>
          <a:xfrm>
            <a:off x="7217542"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1" name="Text 17"/>
          <p:cNvSpPr/>
          <p:nvPr/>
        </p:nvSpPr>
        <p:spPr>
          <a:xfrm>
            <a:off x="8631753"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2" name="Text 18"/>
          <p:cNvSpPr/>
          <p:nvPr/>
        </p:nvSpPr>
        <p:spPr>
          <a:xfrm>
            <a:off x="10045964" y="216712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3" name="Shape 19"/>
          <p:cNvSpPr/>
          <p:nvPr/>
        </p:nvSpPr>
        <p:spPr>
          <a:xfrm>
            <a:off x="731520" y="2423160"/>
            <a:ext cx="10728655" cy="256032"/>
          </a:xfrm>
          <a:prstGeom prst="rect">
            <a:avLst/>
          </a:prstGeom>
          <a:solidFill>
            <a:srgbClr val="F4F6F8"/>
          </a:solidFill>
          <a:ln/>
        </p:spPr>
      </p:sp>
      <p:sp>
        <p:nvSpPr>
          <p:cNvPr id="24" name="Text 20"/>
          <p:cNvSpPr/>
          <p:nvPr/>
        </p:nvSpPr>
        <p:spPr>
          <a:xfrm>
            <a:off x="914400" y="2423160"/>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Taxes</a:t>
            </a:r>
            <a:endParaRPr lang="en-US" sz="800" dirty="0"/>
          </a:p>
        </p:txBody>
      </p:sp>
      <p:sp>
        <p:nvSpPr>
          <p:cNvPr id="25" name="Text 21"/>
          <p:cNvSpPr/>
          <p:nvPr/>
        </p:nvSpPr>
        <p:spPr>
          <a:xfrm>
            <a:off x="4389120"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6" name="Text 22"/>
          <p:cNvSpPr/>
          <p:nvPr/>
        </p:nvSpPr>
        <p:spPr>
          <a:xfrm>
            <a:off x="5803331"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7" name="Text 23"/>
          <p:cNvSpPr/>
          <p:nvPr/>
        </p:nvSpPr>
        <p:spPr>
          <a:xfrm>
            <a:off x="7217542"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8" name="Text 24"/>
          <p:cNvSpPr/>
          <p:nvPr/>
        </p:nvSpPr>
        <p:spPr>
          <a:xfrm>
            <a:off x="8631753"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29" name="Text 25"/>
          <p:cNvSpPr/>
          <p:nvPr/>
        </p:nvSpPr>
        <p:spPr>
          <a:xfrm>
            <a:off x="10045964" y="2423160"/>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30" name="Shape 26"/>
          <p:cNvSpPr/>
          <p:nvPr/>
        </p:nvSpPr>
        <p:spPr>
          <a:xfrm>
            <a:off x="731520" y="2679192"/>
            <a:ext cx="10728655" cy="256032"/>
          </a:xfrm>
          <a:prstGeom prst="rect">
            <a:avLst/>
          </a:prstGeom>
          <a:solidFill>
            <a:srgbClr val="FDE9DE"/>
          </a:solidFill>
          <a:ln/>
        </p:spPr>
      </p:sp>
      <p:sp>
        <p:nvSpPr>
          <p:cNvPr id="31" name="Text 27"/>
          <p:cNvSpPr/>
          <p:nvPr/>
        </p:nvSpPr>
        <p:spPr>
          <a:xfrm>
            <a:off x="914400" y="2679192"/>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Net revenues</a:t>
            </a:r>
            <a:endParaRPr lang="en-US" sz="800" dirty="0"/>
          </a:p>
        </p:txBody>
      </p:sp>
      <p:sp>
        <p:nvSpPr>
          <p:cNvPr id="32" name="Text 28"/>
          <p:cNvSpPr/>
          <p:nvPr/>
        </p:nvSpPr>
        <p:spPr>
          <a:xfrm>
            <a:off x="4389120"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3" name="Text 29"/>
          <p:cNvSpPr/>
          <p:nvPr/>
        </p:nvSpPr>
        <p:spPr>
          <a:xfrm>
            <a:off x="5803331"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4" name="Text 30"/>
          <p:cNvSpPr/>
          <p:nvPr/>
        </p:nvSpPr>
        <p:spPr>
          <a:xfrm>
            <a:off x="7217542"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5" name="Text 31"/>
          <p:cNvSpPr/>
          <p:nvPr/>
        </p:nvSpPr>
        <p:spPr>
          <a:xfrm>
            <a:off x="8631753" y="2679192"/>
            <a:ext cx="1267907" cy="256032"/>
          </a:xfrm>
          <a:prstGeom prst="rect">
            <a:avLst/>
          </a:prstGeom>
          <a:noFill/>
          <a:ln/>
        </p:spPr>
        <p:txBody>
          <a:bodyPr wrap="square" lIns="0" tIns="0" rIns="0" bIns="0" rtlCol="0" anchor="ctr"/>
          <a:lstStyle/>
          <a:p>
            <a:pPr algn="r" indent="0" marL="0">
              <a:buNone/>
            </a:pPr>
            <a:r>
              <a:rPr lang="en-US" sz="800" dirty="0">
                <a:solidFill>
                  <a:srgbClr val="2B333E"/>
                </a:solidFill>
                <a:latin typeface="Poppins SemiBold" pitchFamily="34" charset="0"/>
                <a:ea typeface="Poppins SemiBold" pitchFamily="34" charset="-122"/>
                <a:cs typeface="Poppins SemiBold" pitchFamily="34" charset="-120"/>
              </a:rPr>
              <a:t>~140</a:t>
            </a:r>
            <a:endParaRPr lang="en-US" sz="800" dirty="0"/>
          </a:p>
        </p:txBody>
      </p:sp>
      <p:sp>
        <p:nvSpPr>
          <p:cNvPr id="36" name="Text 32"/>
          <p:cNvSpPr/>
          <p:nvPr/>
        </p:nvSpPr>
        <p:spPr>
          <a:xfrm>
            <a:off x="10045964" y="267919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37" name="Shape 33"/>
          <p:cNvSpPr/>
          <p:nvPr/>
        </p:nvSpPr>
        <p:spPr>
          <a:xfrm>
            <a:off x="731520" y="2935224"/>
            <a:ext cx="10728655" cy="256032"/>
          </a:xfrm>
          <a:prstGeom prst="rect">
            <a:avLst/>
          </a:prstGeom>
          <a:solidFill>
            <a:srgbClr val="F4F6F8"/>
          </a:solidFill>
          <a:ln/>
        </p:spPr>
      </p:sp>
      <p:sp>
        <p:nvSpPr>
          <p:cNvPr id="38" name="Text 34"/>
          <p:cNvSpPr/>
          <p:nvPr/>
        </p:nvSpPr>
        <p:spPr>
          <a:xfrm>
            <a:off x="914400" y="2935224"/>
            <a:ext cx="3474720" cy="256032"/>
          </a:xfrm>
          <a:prstGeom prst="rect">
            <a:avLst/>
          </a:prstGeom>
          <a:noFill/>
          <a:ln/>
        </p:spPr>
        <p:txBody>
          <a:bodyPr wrap="square" lIns="0" tIns="0" rIns="0" bIns="0" rtlCol="0" anchor="ctr"/>
          <a:lstStyle/>
          <a:p>
            <a:pPr indent="0" marL="0">
              <a:buNone/>
            </a:pPr>
            <a:r>
              <a:rPr lang="en-US" sz="800" i="1" dirty="0">
                <a:solidFill>
                  <a:srgbClr val="6C7683"/>
                </a:solidFill>
                <a:latin typeface="Poppins" pitchFamily="34" charset="0"/>
                <a:ea typeface="Poppins" pitchFamily="34" charset="-122"/>
                <a:cs typeface="Poppins" pitchFamily="34" charset="-120"/>
              </a:rPr>
              <a:t>growth %</a:t>
            </a:r>
            <a:endParaRPr lang="en-US" sz="800" dirty="0"/>
          </a:p>
        </p:txBody>
      </p:sp>
      <p:sp>
        <p:nvSpPr>
          <p:cNvPr id="39" name="Text 35"/>
          <p:cNvSpPr/>
          <p:nvPr/>
        </p:nvSpPr>
        <p:spPr>
          <a:xfrm>
            <a:off x="4389120"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0" name="Text 36"/>
          <p:cNvSpPr/>
          <p:nvPr/>
        </p:nvSpPr>
        <p:spPr>
          <a:xfrm>
            <a:off x="5803331"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1" name="Text 37"/>
          <p:cNvSpPr/>
          <p:nvPr/>
        </p:nvSpPr>
        <p:spPr>
          <a:xfrm>
            <a:off x="7217542"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2" name="Text 38"/>
          <p:cNvSpPr/>
          <p:nvPr/>
        </p:nvSpPr>
        <p:spPr>
          <a:xfrm>
            <a:off x="8631753"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3" name="Text 39"/>
          <p:cNvSpPr/>
          <p:nvPr/>
        </p:nvSpPr>
        <p:spPr>
          <a:xfrm>
            <a:off x="10045964" y="2935224"/>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44" name="Text 40"/>
          <p:cNvSpPr/>
          <p:nvPr/>
        </p:nvSpPr>
        <p:spPr>
          <a:xfrm>
            <a:off x="914400" y="3191256"/>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COGS</a:t>
            </a:r>
            <a:endParaRPr lang="en-US" sz="800" dirty="0"/>
          </a:p>
        </p:txBody>
      </p:sp>
      <p:sp>
        <p:nvSpPr>
          <p:cNvPr id="45" name="Text 41"/>
          <p:cNvSpPr/>
          <p:nvPr/>
        </p:nvSpPr>
        <p:spPr>
          <a:xfrm>
            <a:off x="4389120"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6" name="Text 42"/>
          <p:cNvSpPr/>
          <p:nvPr/>
        </p:nvSpPr>
        <p:spPr>
          <a:xfrm>
            <a:off x="5803331"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7" name="Text 43"/>
          <p:cNvSpPr/>
          <p:nvPr/>
        </p:nvSpPr>
        <p:spPr>
          <a:xfrm>
            <a:off x="7217542"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8" name="Text 44"/>
          <p:cNvSpPr/>
          <p:nvPr/>
        </p:nvSpPr>
        <p:spPr>
          <a:xfrm>
            <a:off x="8631753"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49" name="Text 45"/>
          <p:cNvSpPr/>
          <p:nvPr/>
        </p:nvSpPr>
        <p:spPr>
          <a:xfrm>
            <a:off x="10045964" y="319125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50" name="Shape 46"/>
          <p:cNvSpPr/>
          <p:nvPr/>
        </p:nvSpPr>
        <p:spPr>
          <a:xfrm>
            <a:off x="731520" y="3447288"/>
            <a:ext cx="10728655" cy="256032"/>
          </a:xfrm>
          <a:prstGeom prst="rect">
            <a:avLst/>
          </a:prstGeom>
          <a:solidFill>
            <a:srgbClr val="FDE9DE"/>
          </a:solidFill>
          <a:ln/>
        </p:spPr>
      </p:sp>
      <p:sp>
        <p:nvSpPr>
          <p:cNvPr id="51" name="Text 47"/>
          <p:cNvSpPr/>
          <p:nvPr/>
        </p:nvSpPr>
        <p:spPr>
          <a:xfrm>
            <a:off x="914400" y="344728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Gross profit</a:t>
            </a:r>
            <a:endParaRPr lang="en-US" sz="800" dirty="0"/>
          </a:p>
        </p:txBody>
      </p:sp>
      <p:sp>
        <p:nvSpPr>
          <p:cNvPr id="52" name="Text 48"/>
          <p:cNvSpPr/>
          <p:nvPr/>
        </p:nvSpPr>
        <p:spPr>
          <a:xfrm>
            <a:off x="4389120"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3" name="Text 49"/>
          <p:cNvSpPr/>
          <p:nvPr/>
        </p:nvSpPr>
        <p:spPr>
          <a:xfrm>
            <a:off x="5803331"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4" name="Text 50"/>
          <p:cNvSpPr/>
          <p:nvPr/>
        </p:nvSpPr>
        <p:spPr>
          <a:xfrm>
            <a:off x="7217542"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5" name="Text 51"/>
          <p:cNvSpPr/>
          <p:nvPr/>
        </p:nvSpPr>
        <p:spPr>
          <a:xfrm>
            <a:off x="8631753"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6" name="Text 52"/>
          <p:cNvSpPr/>
          <p:nvPr/>
        </p:nvSpPr>
        <p:spPr>
          <a:xfrm>
            <a:off x="10045964" y="344728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57" name="Text 53"/>
          <p:cNvSpPr/>
          <p:nvPr/>
        </p:nvSpPr>
        <p:spPr>
          <a:xfrm>
            <a:off x="914400" y="3703320"/>
            <a:ext cx="3474720" cy="256032"/>
          </a:xfrm>
          <a:prstGeom prst="rect">
            <a:avLst/>
          </a:prstGeom>
          <a:noFill/>
          <a:ln/>
        </p:spPr>
        <p:txBody>
          <a:bodyPr wrap="square" lIns="0" tIns="0" rIns="0" bIns="0" rtlCol="0" anchor="ctr"/>
          <a:lstStyle/>
          <a:p>
            <a:pPr indent="0" marL="0">
              <a:buNone/>
            </a:pPr>
            <a:r>
              <a:rPr lang="en-US" sz="800" i="1" dirty="0">
                <a:solidFill>
                  <a:srgbClr val="6C7683"/>
                </a:solidFill>
                <a:latin typeface="Poppins" pitchFamily="34" charset="0"/>
                <a:ea typeface="Poppins" pitchFamily="34" charset="-122"/>
                <a:cs typeface="Poppins" pitchFamily="34" charset="-120"/>
              </a:rPr>
              <a:t>gross margin %</a:t>
            </a:r>
            <a:endParaRPr lang="en-US" sz="800" dirty="0"/>
          </a:p>
        </p:txBody>
      </p:sp>
      <p:sp>
        <p:nvSpPr>
          <p:cNvPr id="58" name="Text 54"/>
          <p:cNvSpPr/>
          <p:nvPr/>
        </p:nvSpPr>
        <p:spPr>
          <a:xfrm>
            <a:off x="4389120"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59" name="Text 55"/>
          <p:cNvSpPr/>
          <p:nvPr/>
        </p:nvSpPr>
        <p:spPr>
          <a:xfrm>
            <a:off x="5803331"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0" name="Text 56"/>
          <p:cNvSpPr/>
          <p:nvPr/>
        </p:nvSpPr>
        <p:spPr>
          <a:xfrm>
            <a:off x="7217542"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1" name="Text 57"/>
          <p:cNvSpPr/>
          <p:nvPr/>
        </p:nvSpPr>
        <p:spPr>
          <a:xfrm>
            <a:off x="8631753"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2" name="Text 58"/>
          <p:cNvSpPr/>
          <p:nvPr/>
        </p:nvSpPr>
        <p:spPr>
          <a:xfrm>
            <a:off x="10045964" y="370332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63" name="Shape 59"/>
          <p:cNvSpPr/>
          <p:nvPr/>
        </p:nvSpPr>
        <p:spPr>
          <a:xfrm>
            <a:off x="731520" y="3959352"/>
            <a:ext cx="10728655" cy="256032"/>
          </a:xfrm>
          <a:prstGeom prst="rect">
            <a:avLst/>
          </a:prstGeom>
          <a:solidFill>
            <a:srgbClr val="F4F6F8"/>
          </a:solidFill>
          <a:ln/>
        </p:spPr>
      </p:sp>
      <p:sp>
        <p:nvSpPr>
          <p:cNvPr id="64" name="Text 60"/>
          <p:cNvSpPr/>
          <p:nvPr/>
        </p:nvSpPr>
        <p:spPr>
          <a:xfrm>
            <a:off x="914400" y="3959352"/>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Personnel expenses</a:t>
            </a:r>
            <a:endParaRPr lang="en-US" sz="800" dirty="0"/>
          </a:p>
        </p:txBody>
      </p:sp>
      <p:sp>
        <p:nvSpPr>
          <p:cNvPr id="65" name="Text 61"/>
          <p:cNvSpPr/>
          <p:nvPr/>
        </p:nvSpPr>
        <p:spPr>
          <a:xfrm>
            <a:off x="4389120"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6" name="Text 62"/>
          <p:cNvSpPr/>
          <p:nvPr/>
        </p:nvSpPr>
        <p:spPr>
          <a:xfrm>
            <a:off x="5803331"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7" name="Text 63"/>
          <p:cNvSpPr/>
          <p:nvPr/>
        </p:nvSpPr>
        <p:spPr>
          <a:xfrm>
            <a:off x="7217542"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8" name="Text 64"/>
          <p:cNvSpPr/>
          <p:nvPr/>
        </p:nvSpPr>
        <p:spPr>
          <a:xfrm>
            <a:off x="8631753"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69" name="Text 65"/>
          <p:cNvSpPr/>
          <p:nvPr/>
        </p:nvSpPr>
        <p:spPr>
          <a:xfrm>
            <a:off x="10045964" y="395935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0" name="Text 66"/>
          <p:cNvSpPr/>
          <p:nvPr/>
        </p:nvSpPr>
        <p:spPr>
          <a:xfrm>
            <a:off x="914400" y="4215384"/>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General &amp; administrative</a:t>
            </a:r>
            <a:endParaRPr lang="en-US" sz="800" dirty="0"/>
          </a:p>
        </p:txBody>
      </p:sp>
      <p:sp>
        <p:nvSpPr>
          <p:cNvPr id="71" name="Text 67"/>
          <p:cNvSpPr/>
          <p:nvPr/>
        </p:nvSpPr>
        <p:spPr>
          <a:xfrm>
            <a:off x="4389120"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2" name="Text 68"/>
          <p:cNvSpPr/>
          <p:nvPr/>
        </p:nvSpPr>
        <p:spPr>
          <a:xfrm>
            <a:off x="5803331"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3" name="Text 69"/>
          <p:cNvSpPr/>
          <p:nvPr/>
        </p:nvSpPr>
        <p:spPr>
          <a:xfrm>
            <a:off x="7217542"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4" name="Text 70"/>
          <p:cNvSpPr/>
          <p:nvPr/>
        </p:nvSpPr>
        <p:spPr>
          <a:xfrm>
            <a:off x="8631753"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5" name="Text 71"/>
          <p:cNvSpPr/>
          <p:nvPr/>
        </p:nvSpPr>
        <p:spPr>
          <a:xfrm>
            <a:off x="10045964" y="421538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6" name="Shape 72"/>
          <p:cNvSpPr/>
          <p:nvPr/>
        </p:nvSpPr>
        <p:spPr>
          <a:xfrm>
            <a:off x="731520" y="4471416"/>
            <a:ext cx="10728655" cy="256032"/>
          </a:xfrm>
          <a:prstGeom prst="rect">
            <a:avLst/>
          </a:prstGeom>
          <a:solidFill>
            <a:srgbClr val="F4F6F8"/>
          </a:solidFill>
          <a:ln/>
        </p:spPr>
      </p:sp>
      <p:sp>
        <p:nvSpPr>
          <p:cNvPr id="77" name="Text 73"/>
          <p:cNvSpPr/>
          <p:nvPr/>
        </p:nvSpPr>
        <p:spPr>
          <a:xfrm>
            <a:off x="914400" y="4471416"/>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Selling expenses</a:t>
            </a:r>
            <a:endParaRPr lang="en-US" sz="800" dirty="0"/>
          </a:p>
        </p:txBody>
      </p:sp>
      <p:sp>
        <p:nvSpPr>
          <p:cNvPr id="78" name="Text 74"/>
          <p:cNvSpPr/>
          <p:nvPr/>
        </p:nvSpPr>
        <p:spPr>
          <a:xfrm>
            <a:off x="4389120"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79" name="Text 75"/>
          <p:cNvSpPr/>
          <p:nvPr/>
        </p:nvSpPr>
        <p:spPr>
          <a:xfrm>
            <a:off x="5803331"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0" name="Text 76"/>
          <p:cNvSpPr/>
          <p:nvPr/>
        </p:nvSpPr>
        <p:spPr>
          <a:xfrm>
            <a:off x="7217542"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1" name="Text 77"/>
          <p:cNvSpPr/>
          <p:nvPr/>
        </p:nvSpPr>
        <p:spPr>
          <a:xfrm>
            <a:off x="8631753"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2" name="Text 78"/>
          <p:cNvSpPr/>
          <p:nvPr/>
        </p:nvSpPr>
        <p:spPr>
          <a:xfrm>
            <a:off x="10045964" y="447141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83" name="Shape 79"/>
          <p:cNvSpPr/>
          <p:nvPr/>
        </p:nvSpPr>
        <p:spPr>
          <a:xfrm>
            <a:off x="731520" y="4727448"/>
            <a:ext cx="10728655" cy="256032"/>
          </a:xfrm>
          <a:prstGeom prst="rect">
            <a:avLst/>
          </a:prstGeom>
          <a:solidFill>
            <a:srgbClr val="FDE9DE"/>
          </a:solidFill>
          <a:ln/>
        </p:spPr>
      </p:sp>
      <p:sp>
        <p:nvSpPr>
          <p:cNvPr id="84" name="Text 80"/>
          <p:cNvSpPr/>
          <p:nvPr/>
        </p:nvSpPr>
        <p:spPr>
          <a:xfrm>
            <a:off x="914400" y="472744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EBITDA</a:t>
            </a:r>
            <a:endParaRPr lang="en-US" sz="800" dirty="0"/>
          </a:p>
        </p:txBody>
      </p:sp>
      <p:sp>
        <p:nvSpPr>
          <p:cNvPr id="85" name="Text 81"/>
          <p:cNvSpPr/>
          <p:nvPr/>
        </p:nvSpPr>
        <p:spPr>
          <a:xfrm>
            <a:off x="4389120"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86" name="Text 82"/>
          <p:cNvSpPr/>
          <p:nvPr/>
        </p:nvSpPr>
        <p:spPr>
          <a:xfrm>
            <a:off x="5803331"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87" name="Text 83"/>
          <p:cNvSpPr/>
          <p:nvPr/>
        </p:nvSpPr>
        <p:spPr>
          <a:xfrm>
            <a:off x="7217542"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88" name="Text 84"/>
          <p:cNvSpPr/>
          <p:nvPr/>
        </p:nvSpPr>
        <p:spPr>
          <a:xfrm>
            <a:off x="8631753" y="4727448"/>
            <a:ext cx="1267907" cy="256032"/>
          </a:xfrm>
          <a:prstGeom prst="rect">
            <a:avLst/>
          </a:prstGeom>
          <a:noFill/>
          <a:ln/>
        </p:spPr>
        <p:txBody>
          <a:bodyPr wrap="square" lIns="0" tIns="0" rIns="0" bIns="0" rtlCol="0" anchor="ctr"/>
          <a:lstStyle/>
          <a:p>
            <a:pPr algn="r" indent="0" marL="0">
              <a:buNone/>
            </a:pPr>
            <a:r>
              <a:rPr lang="en-US" sz="800" dirty="0">
                <a:solidFill>
                  <a:srgbClr val="2B333E"/>
                </a:solidFill>
                <a:latin typeface="Poppins SemiBold" pitchFamily="34" charset="0"/>
                <a:ea typeface="Poppins SemiBold" pitchFamily="34" charset="-122"/>
                <a:cs typeface="Poppins SemiBold" pitchFamily="34" charset="-120"/>
              </a:rPr>
              <a:t>~36</a:t>
            </a:r>
            <a:endParaRPr lang="en-US" sz="800" dirty="0"/>
          </a:p>
        </p:txBody>
      </p:sp>
      <p:sp>
        <p:nvSpPr>
          <p:cNvPr id="89" name="Text 85"/>
          <p:cNvSpPr/>
          <p:nvPr/>
        </p:nvSpPr>
        <p:spPr>
          <a:xfrm>
            <a:off x="10045964" y="472744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90" name="Shape 86"/>
          <p:cNvSpPr/>
          <p:nvPr/>
        </p:nvSpPr>
        <p:spPr>
          <a:xfrm>
            <a:off x="731520" y="4983480"/>
            <a:ext cx="10728655" cy="256032"/>
          </a:xfrm>
          <a:prstGeom prst="rect">
            <a:avLst/>
          </a:prstGeom>
          <a:solidFill>
            <a:srgbClr val="F4F6F8"/>
          </a:solidFill>
          <a:ln/>
        </p:spPr>
      </p:sp>
      <p:sp>
        <p:nvSpPr>
          <p:cNvPr id="91" name="Text 87"/>
          <p:cNvSpPr/>
          <p:nvPr/>
        </p:nvSpPr>
        <p:spPr>
          <a:xfrm>
            <a:off x="914400" y="4983480"/>
            <a:ext cx="3474720" cy="256032"/>
          </a:xfrm>
          <a:prstGeom prst="rect">
            <a:avLst/>
          </a:prstGeom>
          <a:noFill/>
          <a:ln/>
        </p:spPr>
        <p:txBody>
          <a:bodyPr wrap="square" lIns="0" tIns="0" rIns="0" bIns="0" rtlCol="0" anchor="ctr"/>
          <a:lstStyle/>
          <a:p>
            <a:pPr indent="0" marL="0">
              <a:buNone/>
            </a:pPr>
            <a:r>
              <a:rPr lang="en-US" sz="800" i="1" dirty="0">
                <a:solidFill>
                  <a:srgbClr val="6C7683"/>
                </a:solidFill>
                <a:latin typeface="Poppins" pitchFamily="34" charset="0"/>
                <a:ea typeface="Poppins" pitchFamily="34" charset="-122"/>
                <a:cs typeface="Poppins" pitchFamily="34" charset="-120"/>
              </a:rPr>
              <a:t>EBITDA margin %</a:t>
            </a:r>
            <a:endParaRPr lang="en-US" sz="800" dirty="0"/>
          </a:p>
        </p:txBody>
      </p:sp>
      <p:sp>
        <p:nvSpPr>
          <p:cNvPr id="92" name="Text 88"/>
          <p:cNvSpPr/>
          <p:nvPr/>
        </p:nvSpPr>
        <p:spPr>
          <a:xfrm>
            <a:off x="4389120"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3" name="Text 89"/>
          <p:cNvSpPr/>
          <p:nvPr/>
        </p:nvSpPr>
        <p:spPr>
          <a:xfrm>
            <a:off x="5803331"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4" name="Text 90"/>
          <p:cNvSpPr/>
          <p:nvPr/>
        </p:nvSpPr>
        <p:spPr>
          <a:xfrm>
            <a:off x="7217542"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5" name="Text 91"/>
          <p:cNvSpPr/>
          <p:nvPr/>
        </p:nvSpPr>
        <p:spPr>
          <a:xfrm>
            <a:off x="8631753"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~26%</a:t>
            </a:r>
            <a:endParaRPr lang="en-US" sz="800" dirty="0"/>
          </a:p>
        </p:txBody>
      </p:sp>
      <p:sp>
        <p:nvSpPr>
          <p:cNvPr id="96" name="Text 92"/>
          <p:cNvSpPr/>
          <p:nvPr/>
        </p:nvSpPr>
        <p:spPr>
          <a:xfrm>
            <a:off x="10045964" y="4983480"/>
            <a:ext cx="1267907" cy="256032"/>
          </a:xfrm>
          <a:prstGeom prst="rect">
            <a:avLst/>
          </a:prstGeom>
          <a:noFill/>
          <a:ln/>
        </p:spPr>
        <p:txBody>
          <a:bodyPr wrap="square" lIns="0" tIns="0" rIns="0" bIns="0" rtlCol="0" anchor="ctr"/>
          <a:lstStyle/>
          <a:p>
            <a:pPr algn="r" indent="0" marL="0">
              <a:buNone/>
            </a:pPr>
            <a:r>
              <a:rPr lang="en-US" sz="800" i="1" dirty="0">
                <a:solidFill>
                  <a:srgbClr val="6C7683"/>
                </a:solidFill>
                <a:latin typeface="Poppins" pitchFamily="34" charset="0"/>
                <a:ea typeface="Poppins" pitchFamily="34" charset="-122"/>
                <a:cs typeface="Poppins" pitchFamily="34" charset="-120"/>
              </a:rPr>
              <a:t>–</a:t>
            </a:r>
            <a:endParaRPr lang="en-US" sz="800" dirty="0"/>
          </a:p>
        </p:txBody>
      </p:sp>
      <p:sp>
        <p:nvSpPr>
          <p:cNvPr id="97" name="Text 93"/>
          <p:cNvSpPr/>
          <p:nvPr/>
        </p:nvSpPr>
        <p:spPr>
          <a:xfrm>
            <a:off x="914400" y="5239512"/>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D&amp;A</a:t>
            </a:r>
            <a:endParaRPr lang="en-US" sz="800" dirty="0"/>
          </a:p>
        </p:txBody>
      </p:sp>
      <p:sp>
        <p:nvSpPr>
          <p:cNvPr id="98" name="Text 94"/>
          <p:cNvSpPr/>
          <p:nvPr/>
        </p:nvSpPr>
        <p:spPr>
          <a:xfrm>
            <a:off x="4389120"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99" name="Text 95"/>
          <p:cNvSpPr/>
          <p:nvPr/>
        </p:nvSpPr>
        <p:spPr>
          <a:xfrm>
            <a:off x="5803331"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0" name="Text 96"/>
          <p:cNvSpPr/>
          <p:nvPr/>
        </p:nvSpPr>
        <p:spPr>
          <a:xfrm>
            <a:off x="7217542"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1" name="Text 97"/>
          <p:cNvSpPr/>
          <p:nvPr/>
        </p:nvSpPr>
        <p:spPr>
          <a:xfrm>
            <a:off x="8631753"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2" name="Text 98"/>
          <p:cNvSpPr/>
          <p:nvPr/>
        </p:nvSpPr>
        <p:spPr>
          <a:xfrm>
            <a:off x="10045964" y="5239512"/>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3" name="Shape 99"/>
          <p:cNvSpPr/>
          <p:nvPr/>
        </p:nvSpPr>
        <p:spPr>
          <a:xfrm>
            <a:off x="731520" y="5495544"/>
            <a:ext cx="10728655" cy="256032"/>
          </a:xfrm>
          <a:prstGeom prst="rect">
            <a:avLst/>
          </a:prstGeom>
          <a:solidFill>
            <a:srgbClr val="F4F6F8"/>
          </a:solidFill>
          <a:ln/>
        </p:spPr>
      </p:sp>
      <p:sp>
        <p:nvSpPr>
          <p:cNvPr id="104" name="Text 100"/>
          <p:cNvSpPr/>
          <p:nvPr/>
        </p:nvSpPr>
        <p:spPr>
          <a:xfrm>
            <a:off x="914400" y="5495544"/>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pitchFamily="34" charset="0"/>
                <a:ea typeface="Poppins" pitchFamily="34" charset="-122"/>
                <a:cs typeface="Poppins" pitchFamily="34" charset="-120"/>
              </a:rPr>
              <a:t>Financial result</a:t>
            </a:r>
            <a:endParaRPr lang="en-US" sz="800" dirty="0"/>
          </a:p>
        </p:txBody>
      </p:sp>
      <p:sp>
        <p:nvSpPr>
          <p:cNvPr id="105" name="Text 101"/>
          <p:cNvSpPr/>
          <p:nvPr/>
        </p:nvSpPr>
        <p:spPr>
          <a:xfrm>
            <a:off x="4389120"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6" name="Text 102"/>
          <p:cNvSpPr/>
          <p:nvPr/>
        </p:nvSpPr>
        <p:spPr>
          <a:xfrm>
            <a:off x="5803331"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7" name="Text 103"/>
          <p:cNvSpPr/>
          <p:nvPr/>
        </p:nvSpPr>
        <p:spPr>
          <a:xfrm>
            <a:off x="7217542"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8" name="Text 104"/>
          <p:cNvSpPr/>
          <p:nvPr/>
        </p:nvSpPr>
        <p:spPr>
          <a:xfrm>
            <a:off x="8631753"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09" name="Text 105"/>
          <p:cNvSpPr/>
          <p:nvPr/>
        </p:nvSpPr>
        <p:spPr>
          <a:xfrm>
            <a:off x="10045964" y="5495544"/>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pitchFamily="34" charset="0"/>
                <a:ea typeface="Poppins" pitchFamily="34" charset="-122"/>
                <a:cs typeface="Poppins" pitchFamily="34" charset="-120"/>
              </a:rPr>
              <a:t>–</a:t>
            </a:r>
            <a:endParaRPr lang="en-US" sz="800" dirty="0"/>
          </a:p>
        </p:txBody>
      </p:sp>
      <p:sp>
        <p:nvSpPr>
          <p:cNvPr id="110" name="Shape 106"/>
          <p:cNvSpPr/>
          <p:nvPr/>
        </p:nvSpPr>
        <p:spPr>
          <a:xfrm>
            <a:off x="731520" y="5751576"/>
            <a:ext cx="10728655" cy="256032"/>
          </a:xfrm>
          <a:prstGeom prst="rect">
            <a:avLst/>
          </a:prstGeom>
          <a:solidFill>
            <a:srgbClr val="FDE9DE"/>
          </a:solidFill>
          <a:ln/>
        </p:spPr>
      </p:sp>
      <p:sp>
        <p:nvSpPr>
          <p:cNvPr id="111" name="Text 107"/>
          <p:cNvSpPr/>
          <p:nvPr/>
        </p:nvSpPr>
        <p:spPr>
          <a:xfrm>
            <a:off x="914400" y="5751576"/>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EBT</a:t>
            </a:r>
            <a:endParaRPr lang="en-US" sz="800" dirty="0"/>
          </a:p>
        </p:txBody>
      </p:sp>
      <p:sp>
        <p:nvSpPr>
          <p:cNvPr id="112" name="Text 108"/>
          <p:cNvSpPr/>
          <p:nvPr/>
        </p:nvSpPr>
        <p:spPr>
          <a:xfrm>
            <a:off x="4389120"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3" name="Text 109"/>
          <p:cNvSpPr/>
          <p:nvPr/>
        </p:nvSpPr>
        <p:spPr>
          <a:xfrm>
            <a:off x="5803331"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4" name="Text 110"/>
          <p:cNvSpPr/>
          <p:nvPr/>
        </p:nvSpPr>
        <p:spPr>
          <a:xfrm>
            <a:off x="7217542"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5" name="Text 111"/>
          <p:cNvSpPr/>
          <p:nvPr/>
        </p:nvSpPr>
        <p:spPr>
          <a:xfrm>
            <a:off x="8631753"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6" name="Text 112"/>
          <p:cNvSpPr/>
          <p:nvPr/>
        </p:nvSpPr>
        <p:spPr>
          <a:xfrm>
            <a:off x="10045964" y="5751576"/>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17" name="Shape 113"/>
          <p:cNvSpPr/>
          <p:nvPr/>
        </p:nvSpPr>
        <p:spPr>
          <a:xfrm>
            <a:off x="731520" y="6007608"/>
            <a:ext cx="10728655" cy="256032"/>
          </a:xfrm>
          <a:prstGeom prst="rect">
            <a:avLst/>
          </a:prstGeom>
          <a:solidFill>
            <a:srgbClr val="FDE9DE"/>
          </a:solidFill>
          <a:ln/>
        </p:spPr>
      </p:sp>
      <p:sp>
        <p:nvSpPr>
          <p:cNvPr id="118" name="Text 114"/>
          <p:cNvSpPr/>
          <p:nvPr/>
        </p:nvSpPr>
        <p:spPr>
          <a:xfrm>
            <a:off x="914400" y="6007608"/>
            <a:ext cx="3474720" cy="256032"/>
          </a:xfrm>
          <a:prstGeom prst="rect">
            <a:avLst/>
          </a:prstGeom>
          <a:noFill/>
          <a:ln/>
        </p:spPr>
        <p:txBody>
          <a:bodyPr wrap="square" lIns="0" tIns="0" rIns="0" bIns="0" rtlCol="0" anchor="ctr"/>
          <a:lstStyle/>
          <a:p>
            <a:pPr indent="0" marL="0">
              <a:buNone/>
            </a:pPr>
            <a:r>
              <a:rPr lang="en-US" sz="800" dirty="0">
                <a:solidFill>
                  <a:srgbClr val="2B333E"/>
                </a:solidFill>
                <a:latin typeface="Poppins SemiBold" pitchFamily="34" charset="0"/>
                <a:ea typeface="Poppins SemiBold" pitchFamily="34" charset="-122"/>
                <a:cs typeface="Poppins SemiBold" pitchFamily="34" charset="-120"/>
              </a:rPr>
              <a:t>Net income</a:t>
            </a:r>
            <a:endParaRPr lang="en-US" sz="800" dirty="0"/>
          </a:p>
        </p:txBody>
      </p:sp>
      <p:sp>
        <p:nvSpPr>
          <p:cNvPr id="119" name="Text 115"/>
          <p:cNvSpPr/>
          <p:nvPr/>
        </p:nvSpPr>
        <p:spPr>
          <a:xfrm>
            <a:off x="4389120"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0" name="Text 116"/>
          <p:cNvSpPr/>
          <p:nvPr/>
        </p:nvSpPr>
        <p:spPr>
          <a:xfrm>
            <a:off x="5803331"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1" name="Text 117"/>
          <p:cNvSpPr/>
          <p:nvPr/>
        </p:nvSpPr>
        <p:spPr>
          <a:xfrm>
            <a:off x="7217542"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2" name="Text 118"/>
          <p:cNvSpPr/>
          <p:nvPr/>
        </p:nvSpPr>
        <p:spPr>
          <a:xfrm>
            <a:off x="8631753"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
        <p:nvSpPr>
          <p:cNvPr id="123" name="Text 119"/>
          <p:cNvSpPr/>
          <p:nvPr/>
        </p:nvSpPr>
        <p:spPr>
          <a:xfrm>
            <a:off x="10045964" y="6007608"/>
            <a:ext cx="1267907" cy="256032"/>
          </a:xfrm>
          <a:prstGeom prst="rect">
            <a:avLst/>
          </a:prstGeom>
          <a:noFill/>
          <a:ln/>
        </p:spPr>
        <p:txBody>
          <a:bodyPr wrap="square" lIns="0" tIns="0" rIns="0" bIns="0" rtlCol="0" anchor="ctr"/>
          <a:lstStyle/>
          <a:p>
            <a:pPr algn="r" indent="0" marL="0">
              <a:buNone/>
            </a:pPr>
            <a:r>
              <a:rPr lang="en-US" sz="800" dirty="0">
                <a:solidFill>
                  <a:srgbClr val="9AA3AD"/>
                </a:solidFill>
                <a:latin typeface="Poppins SemiBold" pitchFamily="34" charset="0"/>
                <a:ea typeface="Poppins SemiBold" pitchFamily="34" charset="-122"/>
                <a:cs typeface="Poppins SemiBold" pitchFamily="34" charset="-120"/>
              </a:rPr>
              <a:t>–</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A24"/>
        </a:solidFill>
      </p:bgPr>
    </p:bg>
    <p:spTree>
      <p:nvGrpSpPr>
        <p:cNvPr id="1" name=""/>
        <p:cNvGrpSpPr/>
        <p:nvPr/>
      </p:nvGrpSpPr>
      <p:grpSpPr>
        <a:xfrm>
          <a:off x="0" y="0"/>
          <a:ext cx="0" cy="0"/>
          <a:chOff x="0" y="0"/>
          <a:chExt cx="0" cy="0"/>
        </a:xfrm>
      </p:grpSpPr>
      <p:pic>
        <p:nvPicPr>
          <p:cNvPr id="2" name="Image 0" descr="assets/cover_buses.jpeg">    </p:cNvPr>
          <p:cNvPicPr>
            <a:picLocks noChangeAspect="1"/>
          </p:cNvPicPr>
          <p:nvPr/>
        </p:nvPicPr>
        <p:blipFill>
          <a:blip r:embed="rId1"/>
          <a:srcRect l="0" r="0" t="0" b="0"/>
          <a:stretch/>
        </p:blipFill>
        <p:spPr>
          <a:xfrm>
            <a:off x="0" y="0"/>
            <a:ext cx="5486400" cy="6858000"/>
          </a:xfrm>
          <a:prstGeom prst="rect">
            <a:avLst/>
          </a:prstGeom>
        </p:spPr>
      </p:pic>
      <p:sp>
        <p:nvSpPr>
          <p:cNvPr id="3" name="Shape 0"/>
          <p:cNvSpPr/>
          <p:nvPr/>
        </p:nvSpPr>
        <p:spPr>
          <a:xfrm>
            <a:off x="0" y="0"/>
            <a:ext cx="5486400" cy="6858000"/>
          </a:xfrm>
          <a:prstGeom prst="rect">
            <a:avLst/>
          </a:prstGeom>
          <a:solidFill>
            <a:srgbClr val="141A24">
              <a:alpha val="32000"/>
            </a:srgbClr>
          </a:solidFill>
          <a:ln/>
        </p:spPr>
      </p:sp>
      <p:sp>
        <p:nvSpPr>
          <p:cNvPr id="4" name="Shape 1"/>
          <p:cNvSpPr/>
          <p:nvPr/>
        </p:nvSpPr>
        <p:spPr>
          <a:xfrm>
            <a:off x="5486400" y="0"/>
            <a:ext cx="6705295" cy="6858000"/>
          </a:xfrm>
          <a:prstGeom prst="rect">
            <a:avLst/>
          </a:prstGeom>
          <a:solidFill>
            <a:srgbClr val="141A24"/>
          </a:solidFill>
          <a:ln/>
        </p:spPr>
      </p:sp>
      <p:sp>
        <p:nvSpPr>
          <p:cNvPr id="5" name="Shape 2"/>
          <p:cNvSpPr/>
          <p:nvPr/>
        </p:nvSpPr>
        <p:spPr>
          <a:xfrm>
            <a:off x="5486400" y="0"/>
            <a:ext cx="45720" cy="6858000"/>
          </a:xfrm>
          <a:prstGeom prst="rect">
            <a:avLst/>
          </a:prstGeom>
          <a:solidFill>
            <a:srgbClr val="F35B1A"/>
          </a:solidFill>
          <a:ln/>
        </p:spPr>
      </p:sp>
      <p:pic>
        <p:nvPicPr>
          <p:cNvPr id="6" name="Image 1" descr="assets/stripes_orange.png">    </p:cNvPr>
          <p:cNvPicPr>
            <a:picLocks noChangeAspect="1"/>
          </p:cNvPicPr>
          <p:nvPr/>
        </p:nvPicPr>
        <p:blipFill>
          <a:blip r:embed="rId2">
            <a:alphaModFix amt="30000"/>
          </a:blip>
          <a:stretch>
            <a:fillRect/>
          </a:stretch>
        </p:blipFill>
        <p:spPr>
          <a:xfrm>
            <a:off x="10271455" y="274320"/>
            <a:ext cx="1828800" cy="1828800"/>
          </a:xfrm>
          <a:prstGeom prst="rect">
            <a:avLst/>
          </a:prstGeom>
        </p:spPr>
      </p:pic>
      <p:pic>
        <p:nvPicPr>
          <p:cNvPr id="7" name="Image 2" descr="assets/mobi_logo_black.png">    </p:cNvPr>
          <p:cNvPicPr>
            <a:picLocks noChangeAspect="1"/>
          </p:cNvPicPr>
          <p:nvPr/>
        </p:nvPicPr>
        <p:blipFill>
          <a:blip r:embed="rId3"/>
          <a:stretch>
            <a:fillRect/>
          </a:stretch>
        </p:blipFill>
        <p:spPr>
          <a:xfrm>
            <a:off x="6217920" y="1371600"/>
            <a:ext cx="2468880" cy="790813"/>
          </a:xfrm>
          <a:prstGeom prst="rect">
            <a:avLst/>
          </a:prstGeom>
        </p:spPr>
      </p:pic>
      <p:sp>
        <p:nvSpPr>
          <p:cNvPr id="8" name="Text 3"/>
          <p:cNvSpPr/>
          <p:nvPr/>
        </p:nvSpPr>
        <p:spPr>
          <a:xfrm>
            <a:off x="6217920" y="2359152"/>
            <a:ext cx="4114800" cy="457200"/>
          </a:xfrm>
          <a:prstGeom prst="rect">
            <a:avLst/>
          </a:prstGeom>
          <a:noFill/>
          <a:ln/>
        </p:spPr>
        <p:txBody>
          <a:bodyPr wrap="square" lIns="0" tIns="0" rIns="0" bIns="0" rtlCol="0" anchor="ctr"/>
          <a:lstStyle/>
          <a:p>
            <a:pPr indent="0" marL="0">
              <a:buNone/>
            </a:pPr>
            <a:r>
              <a:rPr lang="en-US" sz="2400" dirty="0">
                <a:solidFill>
                  <a:srgbClr val="FFFFFF"/>
                </a:solidFill>
                <a:latin typeface="Poppins SemiBold" pitchFamily="34" charset="0"/>
                <a:ea typeface="Poppins SemiBold" pitchFamily="34" charset="-122"/>
                <a:cs typeface="Poppins SemiBold" pitchFamily="34" charset="-120"/>
              </a:rPr>
              <a:t>Deal team</a:t>
            </a:r>
            <a:endParaRPr lang="en-US" sz="2400" dirty="0"/>
          </a:p>
        </p:txBody>
      </p:sp>
      <p:sp>
        <p:nvSpPr>
          <p:cNvPr id="9" name="Shape 4"/>
          <p:cNvSpPr/>
          <p:nvPr/>
        </p:nvSpPr>
        <p:spPr>
          <a:xfrm>
            <a:off x="6236208" y="2907792"/>
            <a:ext cx="914400" cy="32004"/>
          </a:xfrm>
          <a:prstGeom prst="rect">
            <a:avLst/>
          </a:prstGeom>
          <a:solidFill>
            <a:srgbClr val="F35B1A"/>
          </a:solidFill>
          <a:ln/>
        </p:spPr>
      </p:sp>
      <p:sp>
        <p:nvSpPr>
          <p:cNvPr id="10" name="Shape 5"/>
          <p:cNvSpPr/>
          <p:nvPr/>
        </p:nvSpPr>
        <p:spPr>
          <a:xfrm rot="5400000">
            <a:off x="6236208" y="3328416"/>
            <a:ext cx="137160" cy="137160"/>
          </a:xfrm>
          <a:prstGeom prst="triangle">
            <a:avLst/>
          </a:prstGeom>
          <a:solidFill>
            <a:srgbClr val="F35B1A"/>
          </a:solidFill>
          <a:ln/>
        </p:spPr>
      </p:sp>
      <p:sp>
        <p:nvSpPr>
          <p:cNvPr id="11" name="Text 6"/>
          <p:cNvSpPr/>
          <p:nvPr/>
        </p:nvSpPr>
        <p:spPr>
          <a:xfrm>
            <a:off x="6492240" y="3255264"/>
            <a:ext cx="3840480" cy="256032"/>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Bruno Iervolino</a:t>
            </a:r>
            <a:endParaRPr lang="en-US" sz="1100" dirty="0"/>
          </a:p>
        </p:txBody>
      </p:sp>
      <p:sp>
        <p:nvSpPr>
          <p:cNvPr id="12" name="Text 7"/>
          <p:cNvSpPr/>
          <p:nvPr/>
        </p:nvSpPr>
        <p:spPr>
          <a:xfrm>
            <a:off x="6492240" y="3511296"/>
            <a:ext cx="3840480" cy="219456"/>
          </a:xfrm>
          <a:prstGeom prst="rect">
            <a:avLst/>
          </a:prstGeom>
          <a:noFill/>
          <a:ln/>
        </p:spPr>
        <p:txBody>
          <a:bodyPr wrap="square" lIns="0" tIns="0" rIns="0" bIns="0" rtlCol="0" anchor="ctr"/>
          <a:lstStyle/>
          <a:p>
            <a:pPr indent="0" marL="0">
              <a:buNone/>
            </a:pPr>
            <a:r>
              <a:rPr lang="en-US" sz="900" dirty="0">
                <a:solidFill>
                  <a:srgbClr val="F35B1A"/>
                </a:solidFill>
                <a:latin typeface="Poppins Medium" pitchFamily="34" charset="0"/>
                <a:ea typeface="Poppins Medium" pitchFamily="34" charset="-122"/>
                <a:cs typeface="Poppins Medium" pitchFamily="34" charset="-120"/>
              </a:rPr>
              <a:t>bruno.iervolino@igcp.com.br</a:t>
            </a:r>
            <a:endParaRPr lang="en-US" sz="900" dirty="0"/>
          </a:p>
        </p:txBody>
      </p:sp>
      <p:sp>
        <p:nvSpPr>
          <p:cNvPr id="13" name="Text 8"/>
          <p:cNvSpPr/>
          <p:nvPr/>
        </p:nvSpPr>
        <p:spPr>
          <a:xfrm>
            <a:off x="6492240" y="3712464"/>
            <a:ext cx="3840480" cy="219456"/>
          </a:xfrm>
          <a:prstGeom prst="rect">
            <a:avLst/>
          </a:prstGeom>
          <a:noFill/>
          <a:ln/>
        </p:spPr>
        <p:txBody>
          <a:bodyPr wrap="square" lIns="0" tIns="0" rIns="0" bIns="0" rtlCol="0" anchor="ctr"/>
          <a:lstStyle/>
          <a:p>
            <a:pPr indent="0" marL="0">
              <a:buNone/>
            </a:pPr>
            <a:r>
              <a:rPr lang="en-US" sz="850" dirty="0">
                <a:solidFill>
                  <a:srgbClr val="8B95A5"/>
                </a:solidFill>
                <a:latin typeface="Poppins" pitchFamily="34" charset="0"/>
                <a:ea typeface="Poppins" pitchFamily="34" charset="-122"/>
                <a:cs typeface="Poppins" pitchFamily="34" charset="-120"/>
              </a:rPr>
              <a:t>+55 11 3815-3533</a:t>
            </a:r>
            <a:endParaRPr lang="en-US" sz="850" dirty="0"/>
          </a:p>
        </p:txBody>
      </p:sp>
      <p:sp>
        <p:nvSpPr>
          <p:cNvPr id="14" name="Shape 9"/>
          <p:cNvSpPr/>
          <p:nvPr/>
        </p:nvSpPr>
        <p:spPr>
          <a:xfrm rot="5400000">
            <a:off x="6236208" y="4114800"/>
            <a:ext cx="137160" cy="137160"/>
          </a:xfrm>
          <a:prstGeom prst="triangle">
            <a:avLst/>
          </a:prstGeom>
          <a:solidFill>
            <a:srgbClr val="F35B1A"/>
          </a:solidFill>
          <a:ln/>
        </p:spPr>
      </p:sp>
      <p:sp>
        <p:nvSpPr>
          <p:cNvPr id="15" name="Text 10"/>
          <p:cNvSpPr/>
          <p:nvPr/>
        </p:nvSpPr>
        <p:spPr>
          <a:xfrm>
            <a:off x="6492240" y="4041648"/>
            <a:ext cx="3840480" cy="256032"/>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Gabriel Brito</a:t>
            </a:r>
            <a:endParaRPr lang="en-US" sz="1100" dirty="0"/>
          </a:p>
        </p:txBody>
      </p:sp>
      <p:sp>
        <p:nvSpPr>
          <p:cNvPr id="16" name="Text 11"/>
          <p:cNvSpPr/>
          <p:nvPr/>
        </p:nvSpPr>
        <p:spPr>
          <a:xfrm>
            <a:off x="6492240" y="4297680"/>
            <a:ext cx="3840480" cy="219456"/>
          </a:xfrm>
          <a:prstGeom prst="rect">
            <a:avLst/>
          </a:prstGeom>
          <a:noFill/>
          <a:ln/>
        </p:spPr>
        <p:txBody>
          <a:bodyPr wrap="square" lIns="0" tIns="0" rIns="0" bIns="0" rtlCol="0" anchor="ctr"/>
          <a:lstStyle/>
          <a:p>
            <a:pPr indent="0" marL="0">
              <a:buNone/>
            </a:pPr>
            <a:r>
              <a:rPr lang="en-US" sz="900" dirty="0">
                <a:solidFill>
                  <a:srgbClr val="F35B1A"/>
                </a:solidFill>
                <a:latin typeface="Poppins Medium" pitchFamily="34" charset="0"/>
                <a:ea typeface="Poppins Medium" pitchFamily="34" charset="-122"/>
                <a:cs typeface="Poppins Medium" pitchFamily="34" charset="-120"/>
              </a:rPr>
              <a:t>gabriel.brito@igcp.com.br</a:t>
            </a:r>
            <a:endParaRPr lang="en-US" sz="900" dirty="0"/>
          </a:p>
        </p:txBody>
      </p:sp>
      <p:sp>
        <p:nvSpPr>
          <p:cNvPr id="17" name="Text 12"/>
          <p:cNvSpPr/>
          <p:nvPr/>
        </p:nvSpPr>
        <p:spPr>
          <a:xfrm>
            <a:off x="6492240" y="4498848"/>
            <a:ext cx="3840480" cy="219456"/>
          </a:xfrm>
          <a:prstGeom prst="rect">
            <a:avLst/>
          </a:prstGeom>
          <a:noFill/>
          <a:ln/>
        </p:spPr>
        <p:txBody>
          <a:bodyPr wrap="square" lIns="0" tIns="0" rIns="0" bIns="0" rtlCol="0" anchor="ctr"/>
          <a:lstStyle/>
          <a:p>
            <a:pPr indent="0" marL="0">
              <a:buNone/>
            </a:pPr>
            <a:r>
              <a:rPr lang="en-US" sz="850" dirty="0">
                <a:solidFill>
                  <a:srgbClr val="8B95A5"/>
                </a:solidFill>
                <a:latin typeface="Poppins" pitchFamily="34" charset="0"/>
                <a:ea typeface="Poppins" pitchFamily="34" charset="-122"/>
                <a:cs typeface="Poppins" pitchFamily="34" charset="-120"/>
              </a:rPr>
              <a:t>+55 11 3815-3533</a:t>
            </a:r>
            <a:endParaRPr lang="en-US" sz="850" dirty="0"/>
          </a:p>
        </p:txBody>
      </p:sp>
      <p:sp>
        <p:nvSpPr>
          <p:cNvPr id="18" name="Shape 13"/>
          <p:cNvSpPr/>
          <p:nvPr/>
        </p:nvSpPr>
        <p:spPr>
          <a:xfrm>
            <a:off x="6236208" y="4846320"/>
            <a:ext cx="3931920" cy="13716"/>
          </a:xfrm>
          <a:prstGeom prst="rect">
            <a:avLst/>
          </a:prstGeom>
          <a:solidFill>
            <a:srgbClr val="323E50"/>
          </a:solidFill>
          <a:ln/>
        </p:spPr>
      </p:sp>
      <p:sp>
        <p:nvSpPr>
          <p:cNvPr id="19" name="Text 14"/>
          <p:cNvSpPr/>
          <p:nvPr/>
        </p:nvSpPr>
        <p:spPr>
          <a:xfrm>
            <a:off x="6236208" y="5010912"/>
            <a:ext cx="4206240" cy="731520"/>
          </a:xfrm>
          <a:prstGeom prst="rect">
            <a:avLst/>
          </a:prstGeom>
          <a:noFill/>
          <a:ln/>
        </p:spPr>
        <p:txBody>
          <a:bodyPr wrap="square" lIns="0" tIns="0" rIns="0" bIns="0" rtlCol="0" anchor="t"/>
          <a:lstStyle/>
          <a:p>
            <a:pPr indent="0" marL="0">
              <a:lnSpc>
                <a:spcPct val="124000"/>
              </a:lnSpc>
              <a:buNone/>
            </a:pPr>
            <a:r>
              <a:rPr lang="en-US" sz="850" dirty="0">
                <a:solidFill>
                  <a:srgbClr val="C7CDD6"/>
                </a:solidFill>
                <a:latin typeface="Poppins" pitchFamily="34" charset="0"/>
                <a:ea typeface="Poppins" pitchFamily="34" charset="-122"/>
                <a:cs typeface="Poppins" pitchFamily="34" charset="-120"/>
              </a:rPr>
              <a:t>Av. Brigadeiro Faria Lima, 2277 — 6th floor</a:t>
            </a:r>
            <a:endParaRPr lang="en-US" sz="850" dirty="0"/>
          </a:p>
          <a:p>
            <a:pPr indent="0" marL="0">
              <a:lnSpc>
                <a:spcPct val="124000"/>
              </a:lnSpc>
              <a:buNone/>
            </a:pPr>
            <a:r>
              <a:rPr lang="en-US" sz="850" dirty="0">
                <a:solidFill>
                  <a:srgbClr val="C7CDD6"/>
                </a:solidFill>
                <a:latin typeface="Poppins" pitchFamily="34" charset="0"/>
                <a:ea typeface="Poppins" pitchFamily="34" charset="-122"/>
                <a:cs typeface="Poppins" pitchFamily="34" charset="-120"/>
              </a:rPr>
              <a:t>01452-000  Jardim Paulistano, São Paulo – SP</a:t>
            </a:r>
            <a:endParaRPr lang="en-US" sz="850" dirty="0"/>
          </a:p>
          <a:p>
            <a:pPr indent="0" marL="0">
              <a:lnSpc>
                <a:spcPct val="124000"/>
              </a:lnSpc>
              <a:buNone/>
            </a:pPr>
            <a:r>
              <a:rPr lang="en-US" sz="850" dirty="0">
                <a:solidFill>
                  <a:srgbClr val="C7CDD6"/>
                </a:solidFill>
                <a:latin typeface="Poppins" pitchFamily="34" charset="0"/>
                <a:ea typeface="Poppins" pitchFamily="34" charset="-122"/>
                <a:cs typeface="Poppins" pitchFamily="34" charset="-120"/>
              </a:rPr>
              <a:t>+55 11 3815-3533</a:t>
            </a:r>
            <a:endParaRPr lang="en-US" sz="850" dirty="0"/>
          </a:p>
        </p:txBody>
      </p:sp>
      <p:pic>
        <p:nvPicPr>
          <p:cNvPr id="20" name="Image 3" descr="assets/igc_white.png">    </p:cNvPr>
          <p:cNvPicPr>
            <a:picLocks noChangeAspect="1"/>
          </p:cNvPicPr>
          <p:nvPr/>
        </p:nvPicPr>
        <p:blipFill>
          <a:blip r:embed="rId4"/>
          <a:stretch>
            <a:fillRect/>
          </a:stretch>
        </p:blipFill>
        <p:spPr>
          <a:xfrm>
            <a:off x="6217920" y="5852160"/>
            <a:ext cx="566928" cy="490078"/>
          </a:xfrm>
          <a:prstGeom prst="rect">
            <a:avLst/>
          </a:prstGeom>
        </p:spPr>
      </p:pic>
      <p:sp>
        <p:nvSpPr>
          <p:cNvPr id="21" name="Text 15"/>
          <p:cNvSpPr/>
          <p:nvPr/>
        </p:nvSpPr>
        <p:spPr>
          <a:xfrm>
            <a:off x="731520" y="6291072"/>
            <a:ext cx="4572000" cy="274320"/>
          </a:xfrm>
          <a:prstGeom prst="rect">
            <a:avLst/>
          </a:prstGeom>
          <a:noFill/>
          <a:ln/>
        </p:spPr>
        <p:txBody>
          <a:bodyPr wrap="square" lIns="0" tIns="0" rIns="0" bIns="0" rtlCol="0" anchor="ctr"/>
          <a:lstStyle/>
          <a:p>
            <a:pPr indent="0" marL="0">
              <a:buNone/>
            </a:pPr>
            <a:r>
              <a:rPr lang="en-US" sz="900" dirty="0">
                <a:solidFill>
                  <a:srgbClr val="E8ECF1"/>
                </a:solidFill>
                <a:latin typeface="Poppins Medium" pitchFamily="34" charset="0"/>
                <a:ea typeface="Poppins Medium" pitchFamily="34" charset="-122"/>
                <a:cs typeface="Poppins Medium" pitchFamily="34" charset="-120"/>
              </a:rPr>
              <a:t>Confidential Information Memorandum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IGC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Compass — Confidential Information Memorandum</dc:title>
  <dc:subject>PptxGenJS Presentation</dc:subject>
  <dc:creator>IGC Partners</dc:creator>
  <cp:lastModifiedBy>IGC Partners</cp:lastModifiedBy>
  <cp:revision>1</cp:revision>
  <dcterms:created xsi:type="dcterms:W3CDTF">2026-08-11T18:14:14Z</dcterms:created>
  <dcterms:modified xsi:type="dcterms:W3CDTF">2026-08-11T18:14:14Z</dcterms:modified>
</cp:coreProperties>
</file>
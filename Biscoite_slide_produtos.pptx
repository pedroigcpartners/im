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580A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PORTFÓLIO DE PRODUTOS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93776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F4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Cinco famílias que cobrem ocasiões, canais e meses diferentes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+120 SKUs e ~200 lançamentos por ano — amplitude ancorada numa linha core de recompra</a:t>
            </a:r>
            <a:endParaRPr lang="en-US" sz="1050" dirty="0"/>
          </a:p>
        </p:txBody>
      </p:sp>
      <p:pic>
        <p:nvPicPr>
          <p:cNvPr id="5" name="Image 0" descr="assets/bluebird/bisco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329184"/>
            <a:ext cx="822960" cy="3072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170432"/>
            <a:ext cx="10728655" cy="384048"/>
          </a:xfrm>
          <a:prstGeom prst="roundRect">
            <a:avLst>
              <a:gd name="adj" fmla="val 9524"/>
            </a:avLst>
          </a:prstGeom>
          <a:solidFill>
            <a:srgbClr val="E0E8F0"/>
          </a:solidFill>
          <a:ln/>
        </p:spPr>
      </p:sp>
      <p:sp>
        <p:nvSpPr>
          <p:cNvPr id="7" name="Text 4"/>
          <p:cNvSpPr/>
          <p:nvPr/>
        </p:nvSpPr>
        <p:spPr>
          <a:xfrm>
            <a:off x="932688" y="1170432"/>
            <a:ext cx="18714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F4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  </a:t>
            </a:r>
            <a:pPr indent="0" marL="0">
              <a:buNone/>
            </a:pPr>
            <a:r>
              <a:rPr lang="en-US" sz="80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famílias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877251" y="1243584"/>
            <a:ext cx="9144" cy="237744"/>
          </a:xfrm>
          <a:prstGeom prst="rect">
            <a:avLst/>
          </a:prstGeom>
          <a:solidFill>
            <a:srgbClr val="6580A2">
              <a:alpha val="4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078419" y="1170432"/>
            <a:ext cx="18714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F4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+120  </a:t>
            </a:r>
            <a:pPr indent="0" marL="0">
              <a:buNone/>
            </a:pPr>
            <a:r>
              <a:rPr lang="en-US" sz="80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SKUs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2982" y="1243584"/>
            <a:ext cx="9144" cy="237744"/>
          </a:xfrm>
          <a:prstGeom prst="rect">
            <a:avLst/>
          </a:prstGeom>
          <a:solidFill>
            <a:srgbClr val="6580A2">
              <a:alpha val="4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224150" y="1170432"/>
            <a:ext cx="18714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F4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~200  </a:t>
            </a:r>
            <a:pPr indent="0" marL="0">
              <a:buNone/>
            </a:pPr>
            <a:r>
              <a:rPr lang="en-US" sz="80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lançamentos/ano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68713" y="1243584"/>
            <a:ext cx="9144" cy="237744"/>
          </a:xfrm>
          <a:prstGeom prst="rect">
            <a:avLst/>
          </a:prstGeom>
          <a:solidFill>
            <a:srgbClr val="6580A2">
              <a:alpha val="4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369881" y="1170432"/>
            <a:ext cx="18714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F4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+380  </a:t>
            </a:r>
            <a:pPr indent="0" marL="0">
              <a:buNone/>
            </a:pPr>
            <a:r>
              <a:rPr lang="en-US" sz="80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pipeline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314444" y="1243584"/>
            <a:ext cx="9144" cy="237744"/>
          </a:xfrm>
          <a:prstGeom prst="rect">
            <a:avLst/>
          </a:prstGeom>
          <a:solidFill>
            <a:srgbClr val="6580A2">
              <a:alpha val="4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9515612" y="1170432"/>
            <a:ext cx="18714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F4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30–45  </a:t>
            </a:r>
            <a:pPr indent="0" marL="0">
              <a:buNone/>
            </a:pPr>
            <a:r>
              <a:rPr lang="en-US" sz="80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dias até a prateleira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" y="17190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22F4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família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0" y="171907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22F4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papel no portfólio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355080" y="17190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22F4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canal de maior tração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503920" y="1719072"/>
            <a:ext cx="29562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22F4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calendário (indicativo)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503920" y="1901952"/>
            <a:ext cx="218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8750275" y="1901952"/>
            <a:ext cx="218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8996629" y="1901952"/>
            <a:ext cx="218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9242984" y="1901952"/>
            <a:ext cx="218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9489338" y="1901952"/>
            <a:ext cx="218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9735693" y="1901952"/>
            <a:ext cx="218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9982048" y="1901952"/>
            <a:ext cx="218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0228402" y="1901952"/>
            <a:ext cx="218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10474757" y="1901952"/>
            <a:ext cx="218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10721111" y="1901952"/>
            <a:ext cx="218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67466" y="1901952"/>
            <a:ext cx="218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11213821" y="1901952"/>
            <a:ext cx="218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731520" y="2066544"/>
            <a:ext cx="10728655" cy="9144"/>
          </a:xfrm>
          <a:prstGeom prst="rect">
            <a:avLst/>
          </a:prstGeom>
          <a:solidFill>
            <a:srgbClr val="6580A2"/>
          </a:solidFill>
          <a:ln/>
        </p:spPr>
      </p:sp>
      <p:sp>
        <p:nvSpPr>
          <p:cNvPr id="33" name="Shape 30"/>
          <p:cNvSpPr/>
          <p:nvPr/>
        </p:nvSpPr>
        <p:spPr>
          <a:xfrm>
            <a:off x="8366760" y="2066544"/>
            <a:ext cx="7315" cy="3904488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34" name="Shape 31"/>
          <p:cNvSpPr/>
          <p:nvPr/>
        </p:nvSpPr>
        <p:spPr>
          <a:xfrm>
            <a:off x="731520" y="2103120"/>
            <a:ext cx="10728655" cy="941832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35" name="Shape 32"/>
          <p:cNvSpPr/>
          <p:nvPr/>
        </p:nvSpPr>
        <p:spPr>
          <a:xfrm>
            <a:off x="731520" y="2103120"/>
            <a:ext cx="54864" cy="941832"/>
          </a:xfrm>
          <a:prstGeom prst="rect">
            <a:avLst/>
          </a:prstGeom>
          <a:solidFill>
            <a:srgbClr val="222F44"/>
          </a:solidFill>
          <a:ln/>
        </p:spPr>
      </p:sp>
      <p:sp>
        <p:nvSpPr>
          <p:cNvPr id="36" name="Text 33"/>
          <p:cNvSpPr/>
          <p:nvPr/>
        </p:nvSpPr>
        <p:spPr>
          <a:xfrm>
            <a:off x="786384" y="2231136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F44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1</a:t>
            </a:r>
            <a:endParaRPr lang="en-US" sz="1400" dirty="0"/>
          </a:p>
        </p:txBody>
      </p:sp>
      <p:pic>
        <p:nvPicPr>
          <p:cNvPr id="37" name="Image 1" descr="assets/biscoite/biscoite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97280" y="2176272"/>
            <a:ext cx="804672" cy="804672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1097280" y="2176272"/>
            <a:ext cx="804672" cy="804672"/>
          </a:xfrm>
          <a:prstGeom prst="roundRect">
            <a:avLst>
              <a:gd name="adj" fmla="val 3409"/>
            </a:avLst>
          </a:prstGeom>
          <a:ln w="9525">
            <a:solidFill>
              <a:srgbClr val="E0E8F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2011680" y="22494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F4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Biscoitês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2944368" y="2276856"/>
            <a:ext cx="548640" cy="164592"/>
          </a:xfrm>
          <a:prstGeom prst="roundRect">
            <a:avLst>
              <a:gd name="adj" fmla="val 50000"/>
            </a:avLst>
          </a:prstGeom>
          <a:solidFill>
            <a:srgbClr val="222F44"/>
          </a:solidFill>
          <a:ln/>
        </p:spPr>
      </p:sp>
      <p:sp>
        <p:nvSpPr>
          <p:cNvPr id="41" name="Text 37"/>
          <p:cNvSpPr/>
          <p:nvPr/>
        </p:nvSpPr>
        <p:spPr>
          <a:xfrm>
            <a:off x="2944368" y="227685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core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2011680" y="250545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A46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Cookies, amanteigados e di limone — o produto que traz o cliente de volta.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4572000" y="241401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6580A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recompra e frequência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6355080" y="24140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222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Lojas próprias e franquias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8503920" y="2414016"/>
            <a:ext cx="218008" cy="237744"/>
          </a:xfrm>
          <a:prstGeom prst="rect">
            <a:avLst/>
          </a:prstGeom>
          <a:solidFill>
            <a:srgbClr val="6580A2"/>
          </a:solidFill>
          <a:ln/>
        </p:spPr>
      </p:sp>
      <p:sp>
        <p:nvSpPr>
          <p:cNvPr id="46" name="Shape 42"/>
          <p:cNvSpPr/>
          <p:nvPr/>
        </p:nvSpPr>
        <p:spPr>
          <a:xfrm>
            <a:off x="8750275" y="2414016"/>
            <a:ext cx="218008" cy="237744"/>
          </a:xfrm>
          <a:prstGeom prst="rect">
            <a:avLst/>
          </a:prstGeom>
          <a:solidFill>
            <a:srgbClr val="6580A2"/>
          </a:solidFill>
          <a:ln/>
        </p:spPr>
      </p:sp>
      <p:sp>
        <p:nvSpPr>
          <p:cNvPr id="47" name="Shape 43"/>
          <p:cNvSpPr/>
          <p:nvPr/>
        </p:nvSpPr>
        <p:spPr>
          <a:xfrm>
            <a:off x="8996629" y="2414016"/>
            <a:ext cx="218008" cy="237744"/>
          </a:xfrm>
          <a:prstGeom prst="rect">
            <a:avLst/>
          </a:prstGeom>
          <a:solidFill>
            <a:srgbClr val="6580A2"/>
          </a:solidFill>
          <a:ln/>
        </p:spPr>
      </p:sp>
      <p:sp>
        <p:nvSpPr>
          <p:cNvPr id="48" name="Shape 44"/>
          <p:cNvSpPr/>
          <p:nvPr/>
        </p:nvSpPr>
        <p:spPr>
          <a:xfrm>
            <a:off x="9242984" y="2414016"/>
            <a:ext cx="218008" cy="237744"/>
          </a:xfrm>
          <a:prstGeom prst="rect">
            <a:avLst/>
          </a:prstGeom>
          <a:solidFill>
            <a:srgbClr val="6580A2"/>
          </a:solidFill>
          <a:ln/>
        </p:spPr>
      </p:sp>
      <p:sp>
        <p:nvSpPr>
          <p:cNvPr id="49" name="Shape 45"/>
          <p:cNvSpPr/>
          <p:nvPr/>
        </p:nvSpPr>
        <p:spPr>
          <a:xfrm>
            <a:off x="9489338" y="2414016"/>
            <a:ext cx="218008" cy="237744"/>
          </a:xfrm>
          <a:prstGeom prst="rect">
            <a:avLst/>
          </a:prstGeom>
          <a:solidFill>
            <a:srgbClr val="6580A2"/>
          </a:solidFill>
          <a:ln/>
        </p:spPr>
      </p:sp>
      <p:sp>
        <p:nvSpPr>
          <p:cNvPr id="50" name="Shape 46"/>
          <p:cNvSpPr/>
          <p:nvPr/>
        </p:nvSpPr>
        <p:spPr>
          <a:xfrm>
            <a:off x="9735693" y="2414016"/>
            <a:ext cx="218008" cy="237744"/>
          </a:xfrm>
          <a:prstGeom prst="rect">
            <a:avLst/>
          </a:prstGeom>
          <a:solidFill>
            <a:srgbClr val="6580A2"/>
          </a:solidFill>
          <a:ln/>
        </p:spPr>
      </p:sp>
      <p:sp>
        <p:nvSpPr>
          <p:cNvPr id="51" name="Shape 47"/>
          <p:cNvSpPr/>
          <p:nvPr/>
        </p:nvSpPr>
        <p:spPr>
          <a:xfrm>
            <a:off x="9982048" y="2414016"/>
            <a:ext cx="218008" cy="237744"/>
          </a:xfrm>
          <a:prstGeom prst="rect">
            <a:avLst/>
          </a:prstGeom>
          <a:solidFill>
            <a:srgbClr val="6580A2"/>
          </a:solidFill>
          <a:ln/>
        </p:spPr>
      </p:sp>
      <p:sp>
        <p:nvSpPr>
          <p:cNvPr id="52" name="Shape 48"/>
          <p:cNvSpPr/>
          <p:nvPr/>
        </p:nvSpPr>
        <p:spPr>
          <a:xfrm>
            <a:off x="10228402" y="2414016"/>
            <a:ext cx="218008" cy="237744"/>
          </a:xfrm>
          <a:prstGeom prst="rect">
            <a:avLst/>
          </a:prstGeom>
          <a:solidFill>
            <a:srgbClr val="6580A2"/>
          </a:solidFill>
          <a:ln/>
        </p:spPr>
      </p:sp>
      <p:sp>
        <p:nvSpPr>
          <p:cNvPr id="53" name="Shape 49"/>
          <p:cNvSpPr/>
          <p:nvPr/>
        </p:nvSpPr>
        <p:spPr>
          <a:xfrm>
            <a:off x="10474757" y="2414016"/>
            <a:ext cx="218008" cy="237744"/>
          </a:xfrm>
          <a:prstGeom prst="rect">
            <a:avLst/>
          </a:prstGeom>
          <a:solidFill>
            <a:srgbClr val="6580A2"/>
          </a:solidFill>
          <a:ln/>
        </p:spPr>
      </p:sp>
      <p:sp>
        <p:nvSpPr>
          <p:cNvPr id="54" name="Shape 50"/>
          <p:cNvSpPr/>
          <p:nvPr/>
        </p:nvSpPr>
        <p:spPr>
          <a:xfrm>
            <a:off x="10721111" y="2414016"/>
            <a:ext cx="218008" cy="237744"/>
          </a:xfrm>
          <a:prstGeom prst="rect">
            <a:avLst/>
          </a:prstGeom>
          <a:solidFill>
            <a:srgbClr val="6580A2"/>
          </a:solidFill>
          <a:ln/>
        </p:spPr>
      </p:sp>
      <p:sp>
        <p:nvSpPr>
          <p:cNvPr id="55" name="Shape 51"/>
          <p:cNvSpPr/>
          <p:nvPr/>
        </p:nvSpPr>
        <p:spPr>
          <a:xfrm>
            <a:off x="10967466" y="2414016"/>
            <a:ext cx="218008" cy="237744"/>
          </a:xfrm>
          <a:prstGeom prst="rect">
            <a:avLst/>
          </a:prstGeom>
          <a:solidFill>
            <a:srgbClr val="6580A2"/>
          </a:solidFill>
          <a:ln/>
        </p:spPr>
      </p:sp>
      <p:sp>
        <p:nvSpPr>
          <p:cNvPr id="56" name="Shape 52"/>
          <p:cNvSpPr/>
          <p:nvPr/>
        </p:nvSpPr>
        <p:spPr>
          <a:xfrm>
            <a:off x="11213821" y="2414016"/>
            <a:ext cx="218008" cy="237744"/>
          </a:xfrm>
          <a:prstGeom prst="rect">
            <a:avLst/>
          </a:prstGeom>
          <a:solidFill>
            <a:srgbClr val="6580A2"/>
          </a:solidFill>
          <a:ln/>
        </p:spPr>
      </p:sp>
      <p:sp>
        <p:nvSpPr>
          <p:cNvPr id="57" name="Shape 53"/>
          <p:cNvSpPr/>
          <p:nvPr/>
        </p:nvSpPr>
        <p:spPr>
          <a:xfrm>
            <a:off x="731520" y="3044952"/>
            <a:ext cx="10728655" cy="7315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58" name="Text 54"/>
          <p:cNvSpPr/>
          <p:nvPr/>
        </p:nvSpPr>
        <p:spPr>
          <a:xfrm>
            <a:off x="786384" y="313639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80A2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2</a:t>
            </a:r>
            <a:endParaRPr lang="en-US" sz="1200" dirty="0"/>
          </a:p>
        </p:txBody>
      </p:sp>
      <p:pic>
        <p:nvPicPr>
          <p:cNvPr id="59" name="Image 2" descr="assets/biscoite/colecionavei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70432" y="3081528"/>
            <a:ext cx="658368" cy="65836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1170432" y="3081528"/>
            <a:ext cx="658368" cy="658368"/>
          </a:xfrm>
          <a:prstGeom prst="roundRect">
            <a:avLst>
              <a:gd name="adj" fmla="val 4167"/>
            </a:avLst>
          </a:prstGeom>
          <a:ln w="9525">
            <a:solidFill>
              <a:srgbClr val="E0E8F0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011680" y="31181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F4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Colecionáveis</a:t>
            </a:r>
            <a:endParaRPr lang="en-US" sz="1100" dirty="0"/>
          </a:p>
        </p:txBody>
      </p:sp>
      <p:sp>
        <p:nvSpPr>
          <p:cNvPr id="62" name="Text 57"/>
          <p:cNvSpPr/>
          <p:nvPr/>
        </p:nvSpPr>
        <p:spPr>
          <a:xfrm>
            <a:off x="2011680" y="33375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A46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Latas e edições limitadas: a embalagem é o produto.</a:t>
            </a:r>
            <a:endParaRPr lang="en-US" sz="900" dirty="0"/>
          </a:p>
        </p:txBody>
      </p:sp>
      <p:sp>
        <p:nvSpPr>
          <p:cNvPr id="63" name="Text 58"/>
          <p:cNvSpPr/>
          <p:nvPr/>
        </p:nvSpPr>
        <p:spPr>
          <a:xfrm>
            <a:off x="4572000" y="32461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6580A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ticket e recompra por coleção</a:t>
            </a:r>
            <a:endParaRPr lang="en-US" sz="900" dirty="0"/>
          </a:p>
        </p:txBody>
      </p:sp>
      <p:sp>
        <p:nvSpPr>
          <p:cNvPr id="64" name="Text 59"/>
          <p:cNvSpPr/>
          <p:nvPr/>
        </p:nvSpPr>
        <p:spPr>
          <a:xfrm>
            <a:off x="6355080" y="32461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222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Colabs, edições limitadas, store-in-store</a:t>
            </a:r>
            <a:endParaRPr lang="en-US" sz="900" dirty="0"/>
          </a:p>
        </p:txBody>
      </p:sp>
      <p:sp>
        <p:nvSpPr>
          <p:cNvPr id="65" name="Shape 60"/>
          <p:cNvSpPr/>
          <p:nvPr/>
        </p:nvSpPr>
        <p:spPr>
          <a:xfrm>
            <a:off x="8503920" y="324612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66" name="Shape 61"/>
          <p:cNvSpPr/>
          <p:nvPr/>
        </p:nvSpPr>
        <p:spPr>
          <a:xfrm>
            <a:off x="8750275" y="324612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67" name="Shape 62"/>
          <p:cNvSpPr/>
          <p:nvPr/>
        </p:nvSpPr>
        <p:spPr>
          <a:xfrm>
            <a:off x="8996629" y="3246120"/>
            <a:ext cx="218008" cy="219456"/>
          </a:xfrm>
          <a:prstGeom prst="rect">
            <a:avLst/>
          </a:prstGeom>
          <a:solidFill>
            <a:srgbClr val="222F44"/>
          </a:solidFill>
          <a:ln/>
        </p:spPr>
      </p:sp>
      <p:sp>
        <p:nvSpPr>
          <p:cNvPr id="68" name="Shape 63"/>
          <p:cNvSpPr/>
          <p:nvPr/>
        </p:nvSpPr>
        <p:spPr>
          <a:xfrm>
            <a:off x="9242984" y="3246120"/>
            <a:ext cx="218008" cy="219456"/>
          </a:xfrm>
          <a:prstGeom prst="rect">
            <a:avLst/>
          </a:prstGeom>
          <a:solidFill>
            <a:srgbClr val="222F44"/>
          </a:solidFill>
          <a:ln/>
        </p:spPr>
      </p:sp>
      <p:sp>
        <p:nvSpPr>
          <p:cNvPr id="69" name="Shape 64"/>
          <p:cNvSpPr/>
          <p:nvPr/>
        </p:nvSpPr>
        <p:spPr>
          <a:xfrm>
            <a:off x="9489338" y="324612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70" name="Shape 65"/>
          <p:cNvSpPr/>
          <p:nvPr/>
        </p:nvSpPr>
        <p:spPr>
          <a:xfrm>
            <a:off x="9735693" y="324612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71" name="Shape 66"/>
          <p:cNvSpPr/>
          <p:nvPr/>
        </p:nvSpPr>
        <p:spPr>
          <a:xfrm>
            <a:off x="9982048" y="324612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72" name="Shape 67"/>
          <p:cNvSpPr/>
          <p:nvPr/>
        </p:nvSpPr>
        <p:spPr>
          <a:xfrm>
            <a:off x="10228402" y="324612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73" name="Shape 68"/>
          <p:cNvSpPr/>
          <p:nvPr/>
        </p:nvSpPr>
        <p:spPr>
          <a:xfrm>
            <a:off x="10474757" y="324612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74" name="Shape 69"/>
          <p:cNvSpPr/>
          <p:nvPr/>
        </p:nvSpPr>
        <p:spPr>
          <a:xfrm>
            <a:off x="10721111" y="324612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75" name="Shape 70"/>
          <p:cNvSpPr/>
          <p:nvPr/>
        </p:nvSpPr>
        <p:spPr>
          <a:xfrm>
            <a:off x="10967466" y="3246120"/>
            <a:ext cx="218008" cy="219456"/>
          </a:xfrm>
          <a:prstGeom prst="rect">
            <a:avLst/>
          </a:prstGeom>
          <a:solidFill>
            <a:srgbClr val="222F44"/>
          </a:solidFill>
          <a:ln/>
        </p:spPr>
      </p:sp>
      <p:sp>
        <p:nvSpPr>
          <p:cNvPr id="76" name="Shape 71"/>
          <p:cNvSpPr/>
          <p:nvPr/>
        </p:nvSpPr>
        <p:spPr>
          <a:xfrm>
            <a:off x="11213821" y="3246120"/>
            <a:ext cx="218008" cy="219456"/>
          </a:xfrm>
          <a:prstGeom prst="rect">
            <a:avLst/>
          </a:prstGeom>
          <a:solidFill>
            <a:srgbClr val="222F44"/>
          </a:solidFill>
          <a:ln/>
        </p:spPr>
      </p:sp>
      <p:sp>
        <p:nvSpPr>
          <p:cNvPr id="77" name="Shape 72"/>
          <p:cNvSpPr/>
          <p:nvPr/>
        </p:nvSpPr>
        <p:spPr>
          <a:xfrm>
            <a:off x="731520" y="3776472"/>
            <a:ext cx="10728655" cy="7315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78" name="Text 73"/>
          <p:cNvSpPr/>
          <p:nvPr/>
        </p:nvSpPr>
        <p:spPr>
          <a:xfrm>
            <a:off x="786384" y="386791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80A2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3</a:t>
            </a:r>
            <a:endParaRPr lang="en-US" sz="1200" dirty="0"/>
          </a:p>
        </p:txBody>
      </p:sp>
      <p:pic>
        <p:nvPicPr>
          <p:cNvPr id="79" name="Image 3" descr="assets/biscoite/cestas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70432" y="3813048"/>
            <a:ext cx="658368" cy="658368"/>
          </a:xfrm>
          <a:prstGeom prst="rect">
            <a:avLst/>
          </a:prstGeom>
        </p:spPr>
      </p:pic>
      <p:sp>
        <p:nvSpPr>
          <p:cNvPr id="80" name="Shape 74"/>
          <p:cNvSpPr/>
          <p:nvPr/>
        </p:nvSpPr>
        <p:spPr>
          <a:xfrm>
            <a:off x="1170432" y="3813048"/>
            <a:ext cx="658368" cy="658368"/>
          </a:xfrm>
          <a:prstGeom prst="roundRect">
            <a:avLst>
              <a:gd name="adj" fmla="val 4167"/>
            </a:avLst>
          </a:prstGeom>
          <a:ln w="9525">
            <a:solidFill>
              <a:srgbClr val="E0E8F0"/>
            </a:solidFill>
            <a:prstDash val="solid"/>
          </a:ln>
        </p:spPr>
      </p:sp>
      <p:sp>
        <p:nvSpPr>
          <p:cNvPr id="81" name="Text 75"/>
          <p:cNvSpPr/>
          <p:nvPr/>
        </p:nvSpPr>
        <p:spPr>
          <a:xfrm>
            <a:off x="2011680" y="3849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F4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Cestas</a:t>
            </a:r>
            <a:endParaRPr lang="en-US" sz="1100" dirty="0"/>
          </a:p>
        </p:txBody>
      </p:sp>
      <p:sp>
        <p:nvSpPr>
          <p:cNvPr id="82" name="Text 76"/>
          <p:cNvSpPr/>
          <p:nvPr/>
        </p:nvSpPr>
        <p:spPr>
          <a:xfrm>
            <a:off x="2011680" y="40690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A46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Kits que reúnem as outras quatro famílias num único ticket.</a:t>
            </a:r>
            <a:endParaRPr lang="en-US" sz="900" dirty="0"/>
          </a:p>
        </p:txBody>
      </p:sp>
      <p:sp>
        <p:nvSpPr>
          <p:cNvPr id="83" name="Text 77"/>
          <p:cNvSpPr/>
          <p:nvPr/>
        </p:nvSpPr>
        <p:spPr>
          <a:xfrm>
            <a:off x="4572000" y="39776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6580A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cross-sell entre famílias</a:t>
            </a:r>
            <a:endParaRPr lang="en-US" sz="900" dirty="0"/>
          </a:p>
        </p:txBody>
      </p:sp>
      <p:sp>
        <p:nvSpPr>
          <p:cNvPr id="84" name="Text 78"/>
          <p:cNvSpPr/>
          <p:nvPr/>
        </p:nvSpPr>
        <p:spPr>
          <a:xfrm>
            <a:off x="6355080" y="39776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222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E-commerce, marketplaces e B2B</a:t>
            </a:r>
            <a:endParaRPr lang="en-US" sz="900" dirty="0"/>
          </a:p>
        </p:txBody>
      </p:sp>
      <p:sp>
        <p:nvSpPr>
          <p:cNvPr id="85" name="Shape 79"/>
          <p:cNvSpPr/>
          <p:nvPr/>
        </p:nvSpPr>
        <p:spPr>
          <a:xfrm>
            <a:off x="8503920" y="397764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86" name="Shape 80"/>
          <p:cNvSpPr/>
          <p:nvPr/>
        </p:nvSpPr>
        <p:spPr>
          <a:xfrm>
            <a:off x="8750275" y="397764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87" name="Shape 81"/>
          <p:cNvSpPr/>
          <p:nvPr/>
        </p:nvSpPr>
        <p:spPr>
          <a:xfrm>
            <a:off x="8996629" y="397764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88" name="Shape 82"/>
          <p:cNvSpPr/>
          <p:nvPr/>
        </p:nvSpPr>
        <p:spPr>
          <a:xfrm>
            <a:off x="9242984" y="397764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89" name="Shape 83"/>
          <p:cNvSpPr/>
          <p:nvPr/>
        </p:nvSpPr>
        <p:spPr>
          <a:xfrm>
            <a:off x="9489338" y="3977640"/>
            <a:ext cx="218008" cy="219456"/>
          </a:xfrm>
          <a:prstGeom prst="rect">
            <a:avLst/>
          </a:prstGeom>
          <a:solidFill>
            <a:srgbClr val="222F44"/>
          </a:solidFill>
          <a:ln/>
        </p:spPr>
      </p:sp>
      <p:sp>
        <p:nvSpPr>
          <p:cNvPr id="90" name="Shape 84"/>
          <p:cNvSpPr/>
          <p:nvPr/>
        </p:nvSpPr>
        <p:spPr>
          <a:xfrm>
            <a:off x="9735693" y="3977640"/>
            <a:ext cx="218008" cy="219456"/>
          </a:xfrm>
          <a:prstGeom prst="rect">
            <a:avLst/>
          </a:prstGeom>
          <a:solidFill>
            <a:srgbClr val="6580A2"/>
          </a:solidFill>
          <a:ln/>
        </p:spPr>
      </p:sp>
      <p:sp>
        <p:nvSpPr>
          <p:cNvPr id="91" name="Shape 85"/>
          <p:cNvSpPr/>
          <p:nvPr/>
        </p:nvSpPr>
        <p:spPr>
          <a:xfrm>
            <a:off x="9982048" y="397764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92" name="Shape 86"/>
          <p:cNvSpPr/>
          <p:nvPr/>
        </p:nvSpPr>
        <p:spPr>
          <a:xfrm>
            <a:off x="10228402" y="3977640"/>
            <a:ext cx="218008" cy="219456"/>
          </a:xfrm>
          <a:prstGeom prst="rect">
            <a:avLst/>
          </a:prstGeom>
          <a:solidFill>
            <a:srgbClr val="222F44"/>
          </a:solidFill>
          <a:ln/>
        </p:spPr>
      </p:sp>
      <p:sp>
        <p:nvSpPr>
          <p:cNvPr id="93" name="Shape 87"/>
          <p:cNvSpPr/>
          <p:nvPr/>
        </p:nvSpPr>
        <p:spPr>
          <a:xfrm>
            <a:off x="10474757" y="397764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94" name="Shape 88"/>
          <p:cNvSpPr/>
          <p:nvPr/>
        </p:nvSpPr>
        <p:spPr>
          <a:xfrm>
            <a:off x="10721111" y="397764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95" name="Shape 89"/>
          <p:cNvSpPr/>
          <p:nvPr/>
        </p:nvSpPr>
        <p:spPr>
          <a:xfrm>
            <a:off x="10967466" y="397764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96" name="Shape 90"/>
          <p:cNvSpPr/>
          <p:nvPr/>
        </p:nvSpPr>
        <p:spPr>
          <a:xfrm>
            <a:off x="11213821" y="3977640"/>
            <a:ext cx="218008" cy="219456"/>
          </a:xfrm>
          <a:prstGeom prst="rect">
            <a:avLst/>
          </a:prstGeom>
          <a:solidFill>
            <a:srgbClr val="222F44"/>
          </a:solidFill>
          <a:ln/>
        </p:spPr>
      </p:sp>
      <p:sp>
        <p:nvSpPr>
          <p:cNvPr id="97" name="Shape 91"/>
          <p:cNvSpPr/>
          <p:nvPr/>
        </p:nvSpPr>
        <p:spPr>
          <a:xfrm>
            <a:off x="731520" y="4507992"/>
            <a:ext cx="10728655" cy="7315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98" name="Text 92"/>
          <p:cNvSpPr/>
          <p:nvPr/>
        </p:nvSpPr>
        <p:spPr>
          <a:xfrm>
            <a:off x="786384" y="459943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80A2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4</a:t>
            </a:r>
            <a:endParaRPr lang="en-US" sz="1200" dirty="0"/>
          </a:p>
        </p:txBody>
      </p:sp>
      <p:pic>
        <p:nvPicPr>
          <p:cNvPr id="99" name="Image 4" descr="assets/biscoite/salgados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70432" y="4544568"/>
            <a:ext cx="658368" cy="658368"/>
          </a:xfrm>
          <a:prstGeom prst="rect">
            <a:avLst/>
          </a:prstGeom>
        </p:spPr>
      </p:pic>
      <p:sp>
        <p:nvSpPr>
          <p:cNvPr id="100" name="Shape 93"/>
          <p:cNvSpPr/>
          <p:nvPr/>
        </p:nvSpPr>
        <p:spPr>
          <a:xfrm>
            <a:off x="1170432" y="4544568"/>
            <a:ext cx="658368" cy="658368"/>
          </a:xfrm>
          <a:prstGeom prst="roundRect">
            <a:avLst>
              <a:gd name="adj" fmla="val 4167"/>
            </a:avLst>
          </a:prstGeom>
          <a:ln w="9525">
            <a:solidFill>
              <a:srgbClr val="E0E8F0"/>
            </a:solidFill>
            <a:prstDash val="solid"/>
          </a:ln>
        </p:spPr>
      </p:sp>
      <p:sp>
        <p:nvSpPr>
          <p:cNvPr id="101" name="Text 94"/>
          <p:cNvSpPr/>
          <p:nvPr/>
        </p:nvSpPr>
        <p:spPr>
          <a:xfrm>
            <a:off x="2011680" y="45811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F4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Salgados</a:t>
            </a:r>
            <a:endParaRPr lang="en-US" sz="1100" dirty="0"/>
          </a:p>
        </p:txBody>
      </p:sp>
      <p:sp>
        <p:nvSpPr>
          <p:cNvPr id="102" name="Text 95"/>
          <p:cNvSpPr/>
          <p:nvPr/>
        </p:nvSpPr>
        <p:spPr>
          <a:xfrm>
            <a:off x="2011680" y="480060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A46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Biscoito de queijo, Azeitê, Olivê e geleias.</a:t>
            </a:r>
            <a:endParaRPr lang="en-US" sz="900" dirty="0"/>
          </a:p>
        </p:txBody>
      </p:sp>
      <p:sp>
        <p:nvSpPr>
          <p:cNvPr id="103" name="Text 96"/>
          <p:cNvSpPr/>
          <p:nvPr/>
        </p:nvSpPr>
        <p:spPr>
          <a:xfrm>
            <a:off x="4572000" y="470916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6580A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ocasião não-doce</a:t>
            </a:r>
            <a:endParaRPr lang="en-US" sz="900" dirty="0"/>
          </a:p>
        </p:txBody>
      </p:sp>
      <p:sp>
        <p:nvSpPr>
          <p:cNvPr id="104" name="Text 97"/>
          <p:cNvSpPr/>
          <p:nvPr/>
        </p:nvSpPr>
        <p:spPr>
          <a:xfrm>
            <a:off x="6355080" y="47091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222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Lojas próprias e e-commerce</a:t>
            </a:r>
            <a:endParaRPr lang="en-US" sz="900" dirty="0"/>
          </a:p>
        </p:txBody>
      </p:sp>
      <p:sp>
        <p:nvSpPr>
          <p:cNvPr id="105" name="Shape 98"/>
          <p:cNvSpPr/>
          <p:nvPr/>
        </p:nvSpPr>
        <p:spPr>
          <a:xfrm>
            <a:off x="8503920" y="470916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06" name="Shape 99"/>
          <p:cNvSpPr/>
          <p:nvPr/>
        </p:nvSpPr>
        <p:spPr>
          <a:xfrm>
            <a:off x="8750275" y="470916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07" name="Shape 100"/>
          <p:cNvSpPr/>
          <p:nvPr/>
        </p:nvSpPr>
        <p:spPr>
          <a:xfrm>
            <a:off x="8996629" y="470916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08" name="Shape 101"/>
          <p:cNvSpPr/>
          <p:nvPr/>
        </p:nvSpPr>
        <p:spPr>
          <a:xfrm>
            <a:off x="9242984" y="470916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09" name="Shape 102"/>
          <p:cNvSpPr/>
          <p:nvPr/>
        </p:nvSpPr>
        <p:spPr>
          <a:xfrm>
            <a:off x="9489338" y="470916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10" name="Shape 103"/>
          <p:cNvSpPr/>
          <p:nvPr/>
        </p:nvSpPr>
        <p:spPr>
          <a:xfrm>
            <a:off x="9735693" y="470916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11" name="Shape 104"/>
          <p:cNvSpPr/>
          <p:nvPr/>
        </p:nvSpPr>
        <p:spPr>
          <a:xfrm>
            <a:off x="9982048" y="470916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12" name="Shape 105"/>
          <p:cNvSpPr/>
          <p:nvPr/>
        </p:nvSpPr>
        <p:spPr>
          <a:xfrm>
            <a:off x="10228402" y="470916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13" name="Shape 106"/>
          <p:cNvSpPr/>
          <p:nvPr/>
        </p:nvSpPr>
        <p:spPr>
          <a:xfrm>
            <a:off x="10474757" y="470916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14" name="Shape 107"/>
          <p:cNvSpPr/>
          <p:nvPr/>
        </p:nvSpPr>
        <p:spPr>
          <a:xfrm>
            <a:off x="10721111" y="470916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15" name="Shape 108"/>
          <p:cNvSpPr/>
          <p:nvPr/>
        </p:nvSpPr>
        <p:spPr>
          <a:xfrm>
            <a:off x="10967466" y="4709160"/>
            <a:ext cx="218008" cy="219456"/>
          </a:xfrm>
          <a:prstGeom prst="rect">
            <a:avLst/>
          </a:prstGeom>
          <a:solidFill>
            <a:srgbClr val="6580A2"/>
          </a:solidFill>
          <a:ln/>
        </p:spPr>
      </p:sp>
      <p:sp>
        <p:nvSpPr>
          <p:cNvPr id="116" name="Shape 109"/>
          <p:cNvSpPr/>
          <p:nvPr/>
        </p:nvSpPr>
        <p:spPr>
          <a:xfrm>
            <a:off x="11213821" y="4709160"/>
            <a:ext cx="218008" cy="219456"/>
          </a:xfrm>
          <a:prstGeom prst="rect">
            <a:avLst/>
          </a:prstGeom>
          <a:solidFill>
            <a:srgbClr val="6580A2"/>
          </a:solidFill>
          <a:ln/>
        </p:spPr>
      </p:sp>
      <p:sp>
        <p:nvSpPr>
          <p:cNvPr id="117" name="Shape 110"/>
          <p:cNvSpPr/>
          <p:nvPr/>
        </p:nvSpPr>
        <p:spPr>
          <a:xfrm>
            <a:off x="731520" y="5239512"/>
            <a:ext cx="10728655" cy="7315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18" name="Text 111"/>
          <p:cNvSpPr/>
          <p:nvPr/>
        </p:nvSpPr>
        <p:spPr>
          <a:xfrm>
            <a:off x="786384" y="533095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80A2"/>
                </a:solidFill>
                <a:latin typeface="Source Serif Pro Black" pitchFamily="34" charset="0"/>
                <a:ea typeface="Source Serif Pro Black" pitchFamily="34" charset="-122"/>
                <a:cs typeface="Source Serif Pro Black" pitchFamily="34" charset="-120"/>
              </a:rPr>
              <a:t>5</a:t>
            </a:r>
            <a:endParaRPr lang="en-US" sz="1200" dirty="0"/>
          </a:p>
        </p:txBody>
      </p:sp>
      <p:pic>
        <p:nvPicPr>
          <p:cNvPr id="119" name="Image 5" descr="assets/biscoite/infantil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70432" y="5276088"/>
            <a:ext cx="658368" cy="658368"/>
          </a:xfrm>
          <a:prstGeom prst="rect">
            <a:avLst/>
          </a:prstGeom>
        </p:spPr>
      </p:pic>
      <p:sp>
        <p:nvSpPr>
          <p:cNvPr id="120" name="Shape 112"/>
          <p:cNvSpPr/>
          <p:nvPr/>
        </p:nvSpPr>
        <p:spPr>
          <a:xfrm>
            <a:off x="1170432" y="5276088"/>
            <a:ext cx="658368" cy="658368"/>
          </a:xfrm>
          <a:prstGeom prst="roundRect">
            <a:avLst>
              <a:gd name="adj" fmla="val 4167"/>
            </a:avLst>
          </a:prstGeom>
          <a:ln w="9525">
            <a:solidFill>
              <a:srgbClr val="E0E8F0"/>
            </a:solidFill>
            <a:prstDash val="solid"/>
          </a:ln>
        </p:spPr>
      </p:sp>
      <p:sp>
        <p:nvSpPr>
          <p:cNvPr id="121" name="Text 113"/>
          <p:cNvSpPr/>
          <p:nvPr/>
        </p:nvSpPr>
        <p:spPr>
          <a:xfrm>
            <a:off x="2011680" y="5312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F4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Infantil</a:t>
            </a:r>
            <a:endParaRPr lang="en-US" sz="1100" dirty="0"/>
          </a:p>
        </p:txBody>
      </p:sp>
      <p:sp>
        <p:nvSpPr>
          <p:cNvPr id="122" name="Text 114"/>
          <p:cNvSpPr/>
          <p:nvPr/>
        </p:nvSpPr>
        <p:spPr>
          <a:xfrm>
            <a:off x="2011680" y="5532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A46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Biscoitos decorados e latas-personagem.</a:t>
            </a:r>
            <a:endParaRPr lang="en-US" sz="900" dirty="0"/>
          </a:p>
        </p:txBody>
      </p:sp>
      <p:sp>
        <p:nvSpPr>
          <p:cNvPr id="123" name="Text 115"/>
          <p:cNvSpPr/>
          <p:nvPr/>
        </p:nvSpPr>
        <p:spPr>
          <a:xfrm>
            <a:off x="4572000" y="54406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6580A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novo público</a:t>
            </a:r>
            <a:endParaRPr lang="en-US" sz="900" dirty="0"/>
          </a:p>
        </p:txBody>
      </p:sp>
      <p:sp>
        <p:nvSpPr>
          <p:cNvPr id="124" name="Text 116"/>
          <p:cNvSpPr/>
          <p:nvPr/>
        </p:nvSpPr>
        <p:spPr>
          <a:xfrm>
            <a:off x="6355080" y="54406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222F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Quiosques, shoppings e licenças</a:t>
            </a:r>
            <a:endParaRPr lang="en-US" sz="900" dirty="0"/>
          </a:p>
        </p:txBody>
      </p:sp>
      <p:sp>
        <p:nvSpPr>
          <p:cNvPr id="125" name="Shape 117"/>
          <p:cNvSpPr/>
          <p:nvPr/>
        </p:nvSpPr>
        <p:spPr>
          <a:xfrm>
            <a:off x="8503920" y="544068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26" name="Shape 118"/>
          <p:cNvSpPr/>
          <p:nvPr/>
        </p:nvSpPr>
        <p:spPr>
          <a:xfrm>
            <a:off x="8750275" y="544068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27" name="Shape 119"/>
          <p:cNvSpPr/>
          <p:nvPr/>
        </p:nvSpPr>
        <p:spPr>
          <a:xfrm>
            <a:off x="8996629" y="544068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28" name="Shape 120"/>
          <p:cNvSpPr/>
          <p:nvPr/>
        </p:nvSpPr>
        <p:spPr>
          <a:xfrm>
            <a:off x="9242984" y="544068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29" name="Shape 121"/>
          <p:cNvSpPr/>
          <p:nvPr/>
        </p:nvSpPr>
        <p:spPr>
          <a:xfrm>
            <a:off x="9489338" y="544068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30" name="Shape 122"/>
          <p:cNvSpPr/>
          <p:nvPr/>
        </p:nvSpPr>
        <p:spPr>
          <a:xfrm>
            <a:off x="9735693" y="544068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31" name="Shape 123"/>
          <p:cNvSpPr/>
          <p:nvPr/>
        </p:nvSpPr>
        <p:spPr>
          <a:xfrm>
            <a:off x="9982048" y="5440680"/>
            <a:ext cx="218008" cy="219456"/>
          </a:xfrm>
          <a:prstGeom prst="rect">
            <a:avLst/>
          </a:prstGeom>
          <a:solidFill>
            <a:srgbClr val="6580A2"/>
          </a:solidFill>
          <a:ln/>
        </p:spPr>
      </p:sp>
      <p:sp>
        <p:nvSpPr>
          <p:cNvPr id="132" name="Shape 124"/>
          <p:cNvSpPr/>
          <p:nvPr/>
        </p:nvSpPr>
        <p:spPr>
          <a:xfrm>
            <a:off x="10228402" y="544068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33" name="Shape 125"/>
          <p:cNvSpPr/>
          <p:nvPr/>
        </p:nvSpPr>
        <p:spPr>
          <a:xfrm>
            <a:off x="10474757" y="544068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34" name="Shape 126"/>
          <p:cNvSpPr/>
          <p:nvPr/>
        </p:nvSpPr>
        <p:spPr>
          <a:xfrm>
            <a:off x="10721111" y="5440680"/>
            <a:ext cx="218008" cy="219456"/>
          </a:xfrm>
          <a:prstGeom prst="rect">
            <a:avLst/>
          </a:prstGeom>
          <a:solidFill>
            <a:srgbClr val="222F44"/>
          </a:solidFill>
          <a:ln/>
        </p:spPr>
      </p:sp>
      <p:sp>
        <p:nvSpPr>
          <p:cNvPr id="135" name="Shape 127"/>
          <p:cNvSpPr/>
          <p:nvPr/>
        </p:nvSpPr>
        <p:spPr>
          <a:xfrm>
            <a:off x="10967466" y="5440680"/>
            <a:ext cx="218008" cy="219456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36" name="Shape 128"/>
          <p:cNvSpPr/>
          <p:nvPr/>
        </p:nvSpPr>
        <p:spPr>
          <a:xfrm>
            <a:off x="11213821" y="5440680"/>
            <a:ext cx="218008" cy="219456"/>
          </a:xfrm>
          <a:prstGeom prst="rect">
            <a:avLst/>
          </a:prstGeom>
          <a:solidFill>
            <a:srgbClr val="222F44"/>
          </a:solidFill>
          <a:ln/>
        </p:spPr>
      </p:sp>
      <p:sp>
        <p:nvSpPr>
          <p:cNvPr id="137" name="Shape 129"/>
          <p:cNvSpPr/>
          <p:nvPr/>
        </p:nvSpPr>
        <p:spPr>
          <a:xfrm>
            <a:off x="731520" y="5971032"/>
            <a:ext cx="10728655" cy="9144"/>
          </a:xfrm>
          <a:prstGeom prst="rect">
            <a:avLst/>
          </a:prstGeom>
          <a:solidFill>
            <a:srgbClr val="6580A2"/>
          </a:solidFill>
          <a:ln/>
        </p:spPr>
      </p:sp>
      <p:sp>
        <p:nvSpPr>
          <p:cNvPr id="138" name="Shape 130"/>
          <p:cNvSpPr/>
          <p:nvPr/>
        </p:nvSpPr>
        <p:spPr>
          <a:xfrm>
            <a:off x="8503920" y="6071616"/>
            <a:ext cx="91440" cy="91440"/>
          </a:xfrm>
          <a:prstGeom prst="rect">
            <a:avLst/>
          </a:prstGeom>
          <a:solidFill>
            <a:srgbClr val="222F44"/>
          </a:solidFill>
          <a:ln/>
        </p:spPr>
      </p:sp>
      <p:sp>
        <p:nvSpPr>
          <p:cNvPr id="139" name="Text 131"/>
          <p:cNvSpPr/>
          <p:nvPr/>
        </p:nvSpPr>
        <p:spPr>
          <a:xfrm>
            <a:off x="8631936" y="602589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pico</a:t>
            </a:r>
            <a:endParaRPr lang="en-US" sz="700" dirty="0"/>
          </a:p>
        </p:txBody>
      </p:sp>
      <p:sp>
        <p:nvSpPr>
          <p:cNvPr id="140" name="Shape 132"/>
          <p:cNvSpPr/>
          <p:nvPr/>
        </p:nvSpPr>
        <p:spPr>
          <a:xfrm>
            <a:off x="9290304" y="6071616"/>
            <a:ext cx="91440" cy="91440"/>
          </a:xfrm>
          <a:prstGeom prst="rect">
            <a:avLst/>
          </a:prstGeom>
          <a:solidFill>
            <a:srgbClr val="6580A2"/>
          </a:solidFill>
          <a:ln/>
        </p:spPr>
      </p:sp>
      <p:sp>
        <p:nvSpPr>
          <p:cNvPr id="141" name="Text 133"/>
          <p:cNvSpPr/>
          <p:nvPr/>
        </p:nvSpPr>
        <p:spPr>
          <a:xfrm>
            <a:off x="9418320" y="602589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elevada</a:t>
            </a:r>
            <a:endParaRPr lang="en-US" sz="700" dirty="0"/>
          </a:p>
        </p:txBody>
      </p:sp>
      <p:sp>
        <p:nvSpPr>
          <p:cNvPr id="142" name="Shape 134"/>
          <p:cNvSpPr/>
          <p:nvPr/>
        </p:nvSpPr>
        <p:spPr>
          <a:xfrm>
            <a:off x="10076688" y="6071616"/>
            <a:ext cx="91440" cy="91440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43" name="Text 135"/>
          <p:cNvSpPr/>
          <p:nvPr/>
        </p:nvSpPr>
        <p:spPr>
          <a:xfrm>
            <a:off x="10204704" y="602589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580A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</a:t>
            </a:r>
            <a:endParaRPr lang="en-US" sz="700" dirty="0"/>
          </a:p>
        </p:txBody>
      </p:sp>
      <p:sp>
        <p:nvSpPr>
          <p:cNvPr id="144" name="Text 136"/>
          <p:cNvSpPr/>
          <p:nvPr/>
        </p:nvSpPr>
        <p:spPr>
          <a:xfrm>
            <a:off x="731520" y="60167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700" dirty="0">
                <a:solidFill>
                  <a:srgbClr val="9AA3A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Fonte: Companhia. Famílias e fotos são material da própria Companhia; o CIM não traz quebra de receita nem de SKU por família. Papel, canal e calendário são leitura da IGC — os picos são indicativos, a confirmar com a Companhia.</a:t>
            </a:r>
            <a:endParaRPr lang="en-US" sz="700" dirty="0"/>
          </a:p>
        </p:txBody>
      </p:sp>
      <p:sp>
        <p:nvSpPr>
          <p:cNvPr id="145" name="Shape 137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222F44"/>
          </a:solidFill>
          <a:ln/>
        </p:spPr>
      </p:sp>
      <p:sp>
        <p:nvSpPr>
          <p:cNvPr id="146" name="Shape 138"/>
          <p:cNvSpPr/>
          <p:nvPr/>
        </p:nvSpPr>
        <p:spPr>
          <a:xfrm>
            <a:off x="0" y="6291072"/>
            <a:ext cx="118872" cy="566928"/>
          </a:xfrm>
          <a:prstGeom prst="rect">
            <a:avLst/>
          </a:prstGeom>
          <a:solidFill>
            <a:srgbClr val="B8D0E0"/>
          </a:solidFill>
          <a:ln/>
        </p:spPr>
      </p:sp>
      <p:sp>
        <p:nvSpPr>
          <p:cNvPr id="147" name="Text 139"/>
          <p:cNvSpPr/>
          <p:nvPr/>
        </p:nvSpPr>
        <p:spPr>
          <a:xfrm>
            <a:off x="1920240" y="6291072"/>
            <a:ext cx="8351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Uma linha core sustenta a recompra; quatro famílias ampliam </a:t>
            </a:r>
            <a:pPr algn="ctr" indent="0" marL="0">
              <a:buNone/>
            </a:pPr>
            <a:r>
              <a:rPr lang="en-US" sz="1200" dirty="0">
                <a:solidFill>
                  <a:srgbClr val="B8D0E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ocasião, ticket e calendário</a:t>
            </a:r>
            <a:endParaRPr lang="en-US" sz="1200" dirty="0"/>
          </a:p>
        </p:txBody>
      </p:sp>
      <p:pic>
        <p:nvPicPr>
          <p:cNvPr id="148" name="Image 6" descr="assets/igc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6446520"/>
            <a:ext cx="274320" cy="237134"/>
          </a:xfrm>
          <a:prstGeom prst="rect">
            <a:avLst/>
          </a:prstGeom>
        </p:spPr>
      </p:pic>
      <p:sp>
        <p:nvSpPr>
          <p:cNvPr id="149" name="Text 140"/>
          <p:cNvSpPr/>
          <p:nvPr/>
        </p:nvSpPr>
        <p:spPr>
          <a:xfrm>
            <a:off x="1097280" y="64648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12</a:t>
            </a:r>
            <a:pPr algn="l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Biscoitê — Portfólio de produtos</dc:title>
  <dc:subject>PptxGenJS Presentation</dc:subject>
  <dc:creator>IGC Partners</dc:creator>
  <cp:lastModifiedBy>IGC Partners</cp:lastModifiedBy>
  <cp:revision>1</cp:revision>
  <dcterms:created xsi:type="dcterms:W3CDTF">2026-08-28T16:56:05Z</dcterms:created>
  <dcterms:modified xsi:type="dcterms:W3CDTF">2026-08-28T16:56:05Z</dcterms:modified>
</cp:coreProperties>
</file>